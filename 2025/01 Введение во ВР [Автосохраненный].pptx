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5"/>
  </p:notesMasterIdLst>
  <p:sldIdLst>
    <p:sldId id="256" r:id="rId2"/>
    <p:sldId id="396" r:id="rId3"/>
    <p:sldId id="302" r:id="rId4"/>
    <p:sldId id="423" r:id="rId5"/>
    <p:sldId id="421" r:id="rId6"/>
    <p:sldId id="424" r:id="rId7"/>
    <p:sldId id="422" r:id="rId8"/>
    <p:sldId id="403" r:id="rId9"/>
    <p:sldId id="408" r:id="rId10"/>
    <p:sldId id="409" r:id="rId11"/>
    <p:sldId id="410" r:id="rId12"/>
    <p:sldId id="411" r:id="rId13"/>
    <p:sldId id="397" r:id="rId14"/>
    <p:sldId id="322" r:id="rId15"/>
    <p:sldId id="375" r:id="rId16"/>
    <p:sldId id="382" r:id="rId17"/>
    <p:sldId id="385" r:id="rId18"/>
    <p:sldId id="387" r:id="rId19"/>
    <p:sldId id="366" r:id="rId20"/>
    <p:sldId id="386" r:id="rId21"/>
    <p:sldId id="392" r:id="rId22"/>
    <p:sldId id="389" r:id="rId23"/>
    <p:sldId id="383" r:id="rId24"/>
    <p:sldId id="377" r:id="rId25"/>
    <p:sldId id="391" r:id="rId26"/>
    <p:sldId id="431" r:id="rId27"/>
    <p:sldId id="412" r:id="rId28"/>
    <p:sldId id="428" r:id="rId29"/>
    <p:sldId id="376" r:id="rId30"/>
    <p:sldId id="394" r:id="rId31"/>
    <p:sldId id="381" r:id="rId32"/>
    <p:sldId id="395" r:id="rId33"/>
    <p:sldId id="388" r:id="rId34"/>
    <p:sldId id="432" r:id="rId35"/>
    <p:sldId id="414" r:id="rId36"/>
    <p:sldId id="413" r:id="rId37"/>
    <p:sldId id="415" r:id="rId38"/>
    <p:sldId id="430" r:id="rId39"/>
    <p:sldId id="416" r:id="rId40"/>
    <p:sldId id="418" r:id="rId41"/>
    <p:sldId id="417" r:id="rId42"/>
    <p:sldId id="433" r:id="rId43"/>
    <p:sldId id="434" r:id="rId44"/>
    <p:sldId id="435" r:id="rId45"/>
    <p:sldId id="436" r:id="rId46"/>
    <p:sldId id="425" r:id="rId47"/>
    <p:sldId id="426" r:id="rId48"/>
    <p:sldId id="370" r:id="rId49"/>
    <p:sldId id="427" r:id="rId50"/>
    <p:sldId id="401" r:id="rId51"/>
    <p:sldId id="437" r:id="rId52"/>
    <p:sldId id="438" r:id="rId53"/>
    <p:sldId id="439"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795"/>
  </p:normalViewPr>
  <p:slideViewPr>
    <p:cSldViewPr snapToGrid="0">
      <p:cViewPr varScale="1">
        <p:scale>
          <a:sx n="116" d="100"/>
          <a:sy n="116" d="100"/>
        </p:scale>
        <p:origin x="152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96C9A-3213-B245-BC64-7E419D14BD9D}" type="datetimeFigureOut">
              <a:rPr lang="ru-RU" smtClean="0"/>
              <a:t>13.07.2025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1EE30-E435-D745-B23A-FF31C831763F}" type="slidenum">
              <a:rPr lang="ru-RU" smtClean="0"/>
              <a:t>‹#›</a:t>
            </a:fld>
            <a:endParaRPr lang="ru-RU"/>
          </a:p>
        </p:txBody>
      </p:sp>
    </p:spTree>
    <p:extLst>
      <p:ext uri="{BB962C8B-B14F-4D97-AF65-F5344CB8AC3E}">
        <p14:creationId xmlns:p14="http://schemas.microsoft.com/office/powerpoint/2010/main" val="393119518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a:t>
            </a:fld>
            <a:endParaRPr lang="ru-RU"/>
          </a:p>
        </p:txBody>
      </p:sp>
    </p:spTree>
    <p:extLst>
      <p:ext uri="{BB962C8B-B14F-4D97-AF65-F5344CB8AC3E}">
        <p14:creationId xmlns:p14="http://schemas.microsoft.com/office/powerpoint/2010/main" val="2268776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7</a:t>
            </a:fld>
            <a:endParaRPr lang="ru-RU"/>
          </a:p>
        </p:txBody>
      </p:sp>
    </p:spTree>
    <p:extLst>
      <p:ext uri="{BB962C8B-B14F-4D97-AF65-F5344CB8AC3E}">
        <p14:creationId xmlns:p14="http://schemas.microsoft.com/office/powerpoint/2010/main" val="1600334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10</a:t>
            </a:fld>
            <a:endParaRPr lang="ru-RU"/>
          </a:p>
        </p:txBody>
      </p:sp>
    </p:spTree>
    <p:extLst>
      <p:ext uri="{BB962C8B-B14F-4D97-AF65-F5344CB8AC3E}">
        <p14:creationId xmlns:p14="http://schemas.microsoft.com/office/powerpoint/2010/main" val="3406873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11</a:t>
            </a:fld>
            <a:endParaRPr lang="ru-RU"/>
          </a:p>
        </p:txBody>
      </p:sp>
    </p:spTree>
    <p:extLst>
      <p:ext uri="{BB962C8B-B14F-4D97-AF65-F5344CB8AC3E}">
        <p14:creationId xmlns:p14="http://schemas.microsoft.com/office/powerpoint/2010/main" val="3203707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12</a:t>
            </a:fld>
            <a:endParaRPr lang="ru-RU"/>
          </a:p>
        </p:txBody>
      </p:sp>
    </p:spTree>
    <p:extLst>
      <p:ext uri="{BB962C8B-B14F-4D97-AF65-F5344CB8AC3E}">
        <p14:creationId xmlns:p14="http://schemas.microsoft.com/office/powerpoint/2010/main" val="3400433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17</a:t>
            </a:fld>
            <a:endParaRPr lang="ru-RU"/>
          </a:p>
        </p:txBody>
      </p:sp>
    </p:spTree>
    <p:extLst>
      <p:ext uri="{BB962C8B-B14F-4D97-AF65-F5344CB8AC3E}">
        <p14:creationId xmlns:p14="http://schemas.microsoft.com/office/powerpoint/2010/main" val="449041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29</a:t>
            </a:fld>
            <a:endParaRPr lang="ru-RU"/>
          </a:p>
        </p:txBody>
      </p:sp>
    </p:spTree>
    <p:extLst>
      <p:ext uri="{BB962C8B-B14F-4D97-AF65-F5344CB8AC3E}">
        <p14:creationId xmlns:p14="http://schemas.microsoft.com/office/powerpoint/2010/main" val="4125780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31</a:t>
            </a:fld>
            <a:endParaRPr lang="ru-RU"/>
          </a:p>
        </p:txBody>
      </p:sp>
    </p:spTree>
    <p:extLst>
      <p:ext uri="{BB962C8B-B14F-4D97-AF65-F5344CB8AC3E}">
        <p14:creationId xmlns:p14="http://schemas.microsoft.com/office/powerpoint/2010/main" val="2832973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32</a:t>
            </a:fld>
            <a:endParaRPr lang="ru-RU"/>
          </a:p>
        </p:txBody>
      </p:sp>
    </p:spTree>
    <p:extLst>
      <p:ext uri="{BB962C8B-B14F-4D97-AF65-F5344CB8AC3E}">
        <p14:creationId xmlns:p14="http://schemas.microsoft.com/office/powerpoint/2010/main" val="1056181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34</a:t>
            </a:fld>
            <a:endParaRPr lang="ru-RU"/>
          </a:p>
        </p:txBody>
      </p:sp>
    </p:spTree>
    <p:extLst>
      <p:ext uri="{BB962C8B-B14F-4D97-AF65-F5344CB8AC3E}">
        <p14:creationId xmlns:p14="http://schemas.microsoft.com/office/powerpoint/2010/main" val="2642675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37</a:t>
            </a:fld>
            <a:endParaRPr lang="ru-RU"/>
          </a:p>
        </p:txBody>
      </p:sp>
    </p:spTree>
    <p:extLst>
      <p:ext uri="{BB962C8B-B14F-4D97-AF65-F5344CB8AC3E}">
        <p14:creationId xmlns:p14="http://schemas.microsoft.com/office/powerpoint/2010/main" val="4109444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38</a:t>
            </a:fld>
            <a:endParaRPr lang="ru-RU"/>
          </a:p>
        </p:txBody>
      </p:sp>
    </p:spTree>
    <p:extLst>
      <p:ext uri="{BB962C8B-B14F-4D97-AF65-F5344CB8AC3E}">
        <p14:creationId xmlns:p14="http://schemas.microsoft.com/office/powerpoint/2010/main" val="1948067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50</a:t>
            </a:fld>
            <a:endParaRPr lang="ru-RU"/>
          </a:p>
        </p:txBody>
      </p:sp>
    </p:spTree>
    <p:extLst>
      <p:ext uri="{BB962C8B-B14F-4D97-AF65-F5344CB8AC3E}">
        <p14:creationId xmlns:p14="http://schemas.microsoft.com/office/powerpoint/2010/main" val="1071366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EE214BE-636D-8A45-BCA6-8B7ED77AA124}" type="datetime1">
              <a:rPr lang="ru-RU" smtClean="0"/>
              <a:t>13.07.2025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4301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233A339-F8AE-5C45-BEAE-07EF9DC78B60}" type="datetime1">
              <a:rPr lang="ru-RU" smtClean="0"/>
              <a:t>13.07.2025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312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586FDE4-97E0-CE4A-988C-F30B221290A7}" type="datetime1">
              <a:rPr lang="ru-RU" smtClean="0"/>
              <a:t>13.07.2025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178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6ECE8B-8DEC-154E-9F03-047C8DDA20DC}" type="datetime1">
              <a:rPr lang="ru-RU" smtClean="0"/>
              <a:t>13.07.2025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02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40816D5-BDB8-B34B-8ACA-ECBDD12E7321}" type="datetime1">
              <a:rPr lang="ru-RU" smtClean="0"/>
              <a:t>13.07.2025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19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A8C589A-5627-764C-AF96-C1E2F9A00A4D}" type="datetime1">
              <a:rPr lang="ru-RU" smtClean="0"/>
              <a:t>13.07.2025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329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EE0D0-1696-6D4F-B917-4AFB24A74E8B}" type="datetime1">
              <a:rPr lang="ru-RU" smtClean="0"/>
              <a:t>13.07.2025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86411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13C8A91E-B09B-2240-9AA3-B1D4BCC6296E}" type="datetime1">
              <a:rPr lang="ru-RU" smtClean="0"/>
              <a:t>13.07.2025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27792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BE9760E-DA8D-6747-B31E-62858C8727B8}" type="datetime1">
              <a:rPr lang="ru-RU" smtClean="0"/>
              <a:t>13.07.2025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29594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55274A-4ED4-0146-A3E9-88EF200B5196}" type="datetime1">
              <a:rPr lang="ru-RU" smtClean="0"/>
              <a:t>13.07.2025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16651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A78DFF1-9FDC-144B-973E-B4B4609709DF}" type="datetime1">
              <a:rPr lang="ru-RU" smtClean="0"/>
              <a:t>13.07.2025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94932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305DF-F750-CC43-967D-51A20925EE94}" type="datetime1">
              <a:rPr lang="ru-RU" smtClean="0"/>
              <a:t>13.07.2025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10115638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6.gif"/></Relationships>
</file>

<file path=ppt/slides/_rels/slide20.xml.rels><?xml version="1.0" encoding="UTF-8" standalone="yes"?>
<Relationships xmlns="http://schemas.openxmlformats.org/package/2006/relationships"><Relationship Id="rId3" Type="http://schemas.openxmlformats.org/officeDocument/2006/relationships/hyperlink" Target="https://people.duke.edu/~rnau/411rand.htrandom" TargetMode="External"/><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80.png"/></Relationships>
</file>

<file path=ppt/slides/_rels/slide21.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emf"/><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1.png"/><Relationship Id="rId1" Type="http://schemas.openxmlformats.org/officeDocument/2006/relationships/slideLayout" Target="../slideLayouts/slideLayout2.xml"/><Relationship Id="rId4" Type="http://schemas.openxmlformats.org/officeDocument/2006/relationships/image" Target="../media/image341.png"/></Relationships>
</file>

<file path=ppt/slides/_rels/slide26.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20.png"/><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70.png"/></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hyperlink" Target="https://github.com/qingsongedu/awesome-AI-for-time-series-papers" TargetMode="External"/><Relationship Id="rId3" Type="http://schemas.openxmlformats.org/officeDocument/2006/relationships/hyperlink" Target="https://otexts.com/fpp3/" TargetMode="External"/><Relationship Id="rId7" Type="http://schemas.openxmlformats.org/officeDocument/2006/relationships/hyperlink" Target="https://github.com/Ian729/AI6123-TIME-SERIES-ANALYSIS" TargetMode="External"/><Relationship Id="rId2" Type="http://schemas.openxmlformats.org/officeDocument/2006/relationships/hyperlink" Target="https://otexts.com/fpppy/" TargetMode="External"/><Relationship Id="rId1" Type="http://schemas.openxmlformats.org/officeDocument/2006/relationships/slideLayout" Target="../slideLayouts/slideLayout2.xml"/><Relationship Id="rId6" Type="http://schemas.openxmlformats.org/officeDocument/2006/relationships/hyperlink" Target="https://github.com/Beliavsky/TimeSeriesAnalysisBooks" TargetMode="External"/><Relationship Id="rId5" Type="http://schemas.openxmlformats.org/officeDocument/2006/relationships/hyperlink" Target="https://f0nzie.github.io/hyndman-bookdown-rsuite/" TargetMode="External"/><Relationship Id="rId4" Type="http://schemas.openxmlformats.org/officeDocument/2006/relationships/hyperlink" Target="https://github.com/zgana/fpp3-python-readalong/tree/master" TargetMode="External"/><Relationship Id="rId9" Type="http://schemas.openxmlformats.org/officeDocument/2006/relationships/hyperlink" Target="https://github.com/thuml/Time-Series-Library" TargetMode="External"/></Relationships>
</file>

<file path=ppt/slides/_rels/slide43.xml.rels><?xml version="1.0" encoding="UTF-8" standalone="yes"?>
<Relationships xmlns="http://schemas.openxmlformats.org/package/2006/relationships"><Relationship Id="rId8" Type="http://schemas.openxmlformats.org/officeDocument/2006/relationships/hyperlink" Target="https://education.yandex.ru/handbook/ml/article/vremennye-ryady" TargetMode="External"/><Relationship Id="rId3" Type="http://schemas.openxmlformats.org/officeDocument/2006/relationships/hyperlink" Target="https://darrenjw.github.io/time-series/intro.html" TargetMode="External"/><Relationship Id="rId7" Type="http://schemas.openxmlformats.org/officeDocument/2006/relationships/hyperlink" Target="https://ranalytics.github.io/tsa-with-r/" TargetMode="External"/><Relationship Id="rId2" Type="http://schemas.openxmlformats.org/officeDocument/2006/relationships/hyperlink" Target="https://cienciadedatos.net/en/forecasting-python" TargetMode="External"/><Relationship Id="rId1" Type="http://schemas.openxmlformats.org/officeDocument/2006/relationships/slideLayout" Target="../slideLayouts/slideLayout2.xml"/><Relationship Id="rId6" Type="http://schemas.openxmlformats.org/officeDocument/2006/relationships/hyperlink" Target="https://medium.com/zillow-tech-hub/automatic-and-self-aware-anomaly-detection-at-zillow-using-luminaire" TargetMode="External"/><Relationship Id="rId5" Type="http://schemas.openxmlformats.org/officeDocument/2006/relationships/hyperlink" Target="https://zillow.github.io/luminaire/tutorial/dataprofiling.html" TargetMode="External"/><Relationship Id="rId4" Type="http://schemas.openxmlformats.org/officeDocument/2006/relationships/hyperlink" Target="https://zillow.github.io/luminaire/index.html" TargetMode="External"/></Relationships>
</file>

<file path=ppt/slides/_rels/slide44.xml.rels><?xml version="1.0" encoding="UTF-8" standalone="yes"?>
<Relationships xmlns="http://schemas.openxmlformats.org/package/2006/relationships"><Relationship Id="rId8" Type="http://schemas.openxmlformats.org/officeDocument/2006/relationships/hyperlink" Target="https://github.com/qingsongedu/awesome-AI-for-time-series-papers" TargetMode="External"/><Relationship Id="rId3" Type="http://schemas.openxmlformats.org/officeDocument/2006/relationships/hyperlink" Target="https://skforecast.org/0.16.0/" TargetMode="External"/><Relationship Id="rId7" Type="http://schemas.openxmlformats.org/officeDocument/2006/relationships/hyperlink" Target="https://openforecast.org/adam/" TargetMode="External"/><Relationship Id="rId2" Type="http://schemas.openxmlformats.org/officeDocument/2006/relationships/hyperlink" Target="https://github.com/unit8co/darts" TargetMode="External"/><Relationship Id="rId1" Type="http://schemas.openxmlformats.org/officeDocument/2006/relationships/slideLayout" Target="../slideLayouts/slideLayout2.xml"/><Relationship Id="rId6" Type="http://schemas.openxmlformats.org/officeDocument/2006/relationships/hyperlink" Target="https://robjhyndman.com/hyndsight/python_time_series.html" TargetMode="External"/><Relationship Id="rId5" Type="http://schemas.openxmlformats.org/officeDocument/2006/relationships/hyperlink" Target="https://github.com/linhhlp/Scalable-Machine-Learning-for-Small-Teams/" TargetMode="External"/><Relationship Id="rId10" Type="http://schemas.openxmlformats.org/officeDocument/2006/relationships/hyperlink" Target="http://repo.darmajaya.ac.id/4781/1/Time%20Series%20Analysis_%20Forecasting%20and%20Control%20(%20PDFDrive%20).pdf" TargetMode="External"/><Relationship Id="rId4" Type="http://schemas.openxmlformats.org/officeDocument/2006/relationships/hyperlink" Target="https://cienciadedatos.net/en/forecasting-python" TargetMode="External"/><Relationship Id="rId9" Type="http://schemas.openxmlformats.org/officeDocument/2006/relationships/hyperlink" Target="https://www.sciencedirect.com/science/article/pii/S0169207021001758" TargetMode="External"/></Relationships>
</file>

<file path=ppt/slides/_rels/slide45.xml.rels><?xml version="1.0" encoding="UTF-8" standalone="yes"?>
<Relationships xmlns="http://schemas.openxmlformats.org/package/2006/relationships"><Relationship Id="rId8" Type="http://schemas.openxmlformats.org/officeDocument/2006/relationships/hyperlink" Target="https://dl.leima.is/time-series/" TargetMode="External"/><Relationship Id="rId13" Type="http://schemas.openxmlformats.org/officeDocument/2006/relationships/hyperlink" Target="https://ranalytics.github.io/tsa-with-r/" TargetMode="External"/><Relationship Id="rId18" Type="http://schemas.openxmlformats.org/officeDocument/2006/relationships/hyperlink" Target="https://fish-forecast.github.io/Fish-Forecast-Bookdown/" TargetMode="External"/><Relationship Id="rId3" Type="http://schemas.openxmlformats.org/officeDocument/2006/relationships/hyperlink" Target="https://s-ai-f.github.io/Time-Series/time-series-basics.html#what-is-a-time-series" TargetMode="External"/><Relationship Id="rId7" Type="http://schemas.openxmlformats.org/officeDocument/2006/relationships/hyperlink" Target="https://mse.msu.ru/wp-content/uploads/2021/03/%D0%92%D0%B2%D0%B5%D0%B4%D0%B5%D0%BD%D0%B8%D0%B5-%D0%B2-%D0%B0%D0%BD%D0%B0%D0%BB%D0%B8%D0%B7-%D0%B2%D1%80%D0%B5%D0%BC%D0%B5%D0%BD%D0%BD%D1%8B%D1%85-%D1%80%D1%8F%D0%B4%D0%BE%D0%B2-1.pdf" TargetMode="External"/><Relationship Id="rId12" Type="http://schemas.openxmlformats.org/officeDocument/2006/relationships/hyperlink" Target="https://livebook.manning.com/book/modern-time-series-analysis-in-python/c" TargetMode="External"/><Relationship Id="rId17" Type="http://schemas.openxmlformats.org/officeDocument/2006/relationships/hyperlink" Target="https://stat153.berkeley.edu/spring-2025/lab5" TargetMode="External"/><Relationship Id="rId2" Type="http://schemas.openxmlformats.org/officeDocument/2006/relationships/hyperlink" Target="https://www.statslab.cam.ac.uk/~rrw1/timeseries/t.pdf" TargetMode="External"/><Relationship Id="rId16" Type="http://schemas.openxmlformats.org/officeDocument/2006/relationships/hyperlink" Target="https://www.stat.berkeley.edu/~ryantibs/timeseries-f23/" TargetMode="External"/><Relationship Id="rId1" Type="http://schemas.openxmlformats.org/officeDocument/2006/relationships/slideLayout" Target="../slideLayouts/slideLayout2.xml"/><Relationship Id="rId6" Type="http://schemas.openxmlformats.org/officeDocument/2006/relationships/hyperlink" Target="https://civil.colorado.edu/~balajir/CVEN6833/lectures/wwts-book.pdf" TargetMode="External"/><Relationship Id="rId11" Type="http://schemas.openxmlformats.org/officeDocument/2006/relationships/hyperlink" Target="https://www.openforecast.org/adam/state-space-form-of-ets.html" TargetMode="External"/><Relationship Id="rId5" Type="http://schemas.openxmlformats.org/officeDocument/2006/relationships/hyperlink" Target="https://smac-group.github.io/ts/fundtimeseries.html" TargetMode="External"/><Relationship Id="rId15" Type="http://schemas.openxmlformats.org/officeDocument/2006/relationships/hyperlink" Target="https://www.stat.berkeley.edu/~aditya/resources/FullNotes248Spring2022TimeSeries.pdf" TargetMode="External"/><Relationship Id="rId10" Type="http://schemas.openxmlformats.org/officeDocument/2006/relationships/hyperlink" Target="https://medium.com/data-science-at-microsoft/time-series-forecasting-part-3-of-3-introducing-auts-adaptive-univariate-time-series-dfd7555ca8d4" TargetMode="External"/><Relationship Id="rId4" Type="http://schemas.openxmlformats.org/officeDocument/2006/relationships/hyperlink" Target="https://bookdown.org/JakeEsprabens/431-Time-Series/forecasting.html" TargetMode="External"/><Relationship Id="rId9" Type="http://schemas.openxmlformats.org/officeDocument/2006/relationships/hyperlink" Target="https://www.kaggle.com/code/prashant111/complete-guide-on-time-series-analysis-in-python" TargetMode="External"/><Relationship Id="rId14" Type="http://schemas.openxmlformats.org/officeDocument/2006/relationships/hyperlink" Target="https://towardsdatascience.com/forecast-multiple-time-series-like-a-master-1579a2b6f18d/"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otexts-com.translate.goog/fpppy/nbs/06-judgmental.html?_x_tr_sl=en&amp;_x_tr_tl=ru&amp;_x_tr_hl=ru&amp;_x_tr_pto=wapp"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otexts-com.translate.goog/fpppy/nbs/06-judgmental.html?_x_tr_sl=en&amp;_x_tr_tl=ru&amp;_x_tr_hl=ru&amp;_x_tr_pto=wapp"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8"/>
            <a:ext cx="10932920" cy="4871531"/>
          </a:xfrm>
        </p:spPr>
        <p:txBody>
          <a:bodyPr>
            <a:normAutofit/>
          </a:bodyPr>
          <a:lstStyle/>
          <a:p>
            <a:r>
              <a:rPr lang="ru-RU" sz="8000" dirty="0"/>
              <a:t>Введение в анализ </a:t>
            </a:r>
            <a:br>
              <a:rPr lang="ru-RU" sz="8000" dirty="0"/>
            </a:br>
            <a:r>
              <a:rPr lang="ru-RU" sz="8000" dirty="0"/>
              <a:t>временных рядов. Постановка задач предсказания ВР</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a:t>
            </a:fld>
            <a:endParaRPr lang="en-US"/>
          </a:p>
        </p:txBody>
      </p:sp>
    </p:spTree>
    <p:extLst>
      <p:ext uri="{BB962C8B-B14F-4D97-AF65-F5344CB8AC3E}">
        <p14:creationId xmlns:p14="http://schemas.microsoft.com/office/powerpoint/2010/main" val="2643101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128E7-156C-658E-5294-7CDC01FB5D2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22060B-FE31-5220-3073-E62F28CD4209}"/>
              </a:ext>
            </a:extLst>
          </p:cNvPr>
          <p:cNvSpPr>
            <a:spLocks noGrp="1"/>
          </p:cNvSpPr>
          <p:nvPr>
            <p:ph type="ctrTitle"/>
          </p:nvPr>
        </p:nvSpPr>
        <p:spPr>
          <a:xfrm>
            <a:off x="743483" y="934358"/>
            <a:ext cx="10932920" cy="3760935"/>
          </a:xfrm>
        </p:spPr>
        <p:txBody>
          <a:bodyPr>
            <a:normAutofit/>
          </a:bodyPr>
          <a:lstStyle/>
          <a:p>
            <a:r>
              <a:rPr lang="ru-RU" sz="8000" dirty="0"/>
              <a:t>Понятие ВР</a:t>
            </a:r>
            <a:endParaRPr lang="en-US" sz="8000" dirty="0"/>
          </a:p>
        </p:txBody>
      </p:sp>
      <p:sp>
        <p:nvSpPr>
          <p:cNvPr id="3" name="Номер слайда 2">
            <a:extLst>
              <a:ext uri="{FF2B5EF4-FFF2-40B4-BE49-F238E27FC236}">
                <a16:creationId xmlns:a16="http://schemas.microsoft.com/office/drawing/2014/main" id="{E4D99FC6-ECF0-E5E8-9206-34C239763907}"/>
              </a:ext>
            </a:extLst>
          </p:cNvPr>
          <p:cNvSpPr>
            <a:spLocks noGrp="1"/>
          </p:cNvSpPr>
          <p:nvPr>
            <p:ph type="sldNum" sz="quarter" idx="12"/>
          </p:nvPr>
        </p:nvSpPr>
        <p:spPr/>
        <p:txBody>
          <a:bodyPr/>
          <a:lstStyle/>
          <a:p>
            <a:fld id="{45C3B737-A709-4ABC-AFE0-A6B067850C48}" type="slidenum">
              <a:rPr lang="en-US" smtClean="0"/>
              <a:t>2</a:t>
            </a:fld>
            <a:endParaRPr lang="en-US"/>
          </a:p>
        </p:txBody>
      </p:sp>
    </p:spTree>
    <p:extLst>
      <p:ext uri="{BB962C8B-B14F-4D97-AF65-F5344CB8AC3E}">
        <p14:creationId xmlns:p14="http://schemas.microsoft.com/office/powerpoint/2010/main" val="570820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628651" y="74967"/>
            <a:ext cx="10515600" cy="993418"/>
          </a:xfrm>
        </p:spPr>
        <p:txBody>
          <a:bodyPr>
            <a:normAutofit/>
          </a:bodyPr>
          <a:lstStyle/>
          <a:p>
            <a:pPr algn="ctr"/>
            <a:r>
              <a:rPr lang="ru-RU" b="1" dirty="0">
                <a:latin typeface="+mn-lt"/>
                <a:ea typeface="Calibri" panose="020F0502020204030204" pitchFamily="34" charset="0"/>
                <a:cs typeface="Times New Roman" panose="02020603050405020304" pitchFamily="18" charset="0"/>
              </a:rPr>
              <a:t>Анализ временных рядов</a:t>
            </a:r>
            <a:endParaRPr lang="en-US" dirty="0">
              <a:latin typeface="+mn-lt"/>
            </a:endParaRPr>
          </a:p>
        </p:txBody>
      </p:sp>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106137" y="909419"/>
            <a:ext cx="11560628" cy="5470528"/>
          </a:xfrm>
        </p:spPr>
        <p:txBody>
          <a:bodyPr>
            <a:normAutofit/>
          </a:bodyPr>
          <a:lstStyle/>
          <a:p>
            <a:pPr marL="0" indent="0">
              <a:lnSpc>
                <a:spcPct val="107000"/>
              </a:lnSpc>
              <a:buNone/>
            </a:pPr>
            <a:r>
              <a:rPr lang="ru-RU" sz="2400" b="1" dirty="0">
                <a:ea typeface="Calibri" panose="020F0502020204030204" pitchFamily="34" charset="0"/>
                <a:cs typeface="Times New Roman" panose="02020603050405020304" pitchFamily="18" charset="0"/>
              </a:rPr>
              <a:t>Временные ряды (ВР) :</a:t>
            </a:r>
            <a:endParaRPr lang="ru-RU" sz="2400" dirty="0">
              <a:ea typeface="Calibri" panose="020F0502020204030204" pitchFamily="34" charset="0"/>
              <a:cs typeface="Times New Roman" panose="02020603050405020304" pitchFamily="18" charset="0"/>
            </a:endParaRPr>
          </a:p>
          <a:p>
            <a:pPr>
              <a:lnSpc>
                <a:spcPct val="107000"/>
              </a:lnSpc>
            </a:pPr>
            <a:r>
              <a:rPr lang="ru-RU" sz="2200" dirty="0">
                <a:ea typeface="Calibri" panose="020F0502020204030204" pitchFamily="34" charset="0"/>
                <a:cs typeface="Times New Roman" panose="02020603050405020304" pitchFamily="18" charset="0"/>
              </a:rPr>
              <a:t>набор оцифрованных проиндексированных однотипных значений</a:t>
            </a:r>
          </a:p>
          <a:p>
            <a:pPr lvl="1">
              <a:lnSpc>
                <a:spcPct val="107000"/>
              </a:lnSpc>
            </a:pPr>
            <a:r>
              <a:rPr lang="ru-RU" sz="2200" dirty="0">
                <a:ea typeface="Calibri" panose="020F0502020204030204" pitchFamily="34" charset="0"/>
                <a:cs typeface="Times New Roman" panose="02020603050405020304" pitchFamily="18" charset="0"/>
              </a:rPr>
              <a:t>(часто полученных последовательно во времени с равномерным шагом)</a:t>
            </a:r>
          </a:p>
          <a:p>
            <a:pPr>
              <a:lnSpc>
                <a:spcPct val="107000"/>
              </a:lnSpc>
            </a:pPr>
            <a:r>
              <a:rPr lang="ru-RU" sz="2200" dirty="0">
                <a:ea typeface="Calibri" panose="020F0502020204030204" pitchFamily="34" charset="0"/>
                <a:cs typeface="Times New Roman" panose="02020603050405020304" pitchFamily="18" charset="0"/>
              </a:rPr>
              <a:t>каждый отсчет связан с предыдущими некоторой зависимостью (последовательностью). </a:t>
            </a:r>
          </a:p>
          <a:p>
            <a:pPr lvl="1"/>
            <a:r>
              <a:rPr lang="ru-RU" sz="2200" dirty="0"/>
              <a:t>Могут быть и другие варианты индексации или условно непрерывный ВР</a:t>
            </a:r>
          </a:p>
          <a:p>
            <a:r>
              <a:rPr lang="ru-RU" sz="2200" dirty="0"/>
              <a:t>например, показания датчиков, логи оборудования, цены на акции, отсчеты ЭКГ.</a:t>
            </a:r>
            <a:endParaRPr lang="en-US" sz="2200" dirty="0"/>
          </a:p>
        </p:txBody>
      </p:sp>
      <p:sp>
        <p:nvSpPr>
          <p:cNvPr id="4" name="Номер слайда 3">
            <a:extLst>
              <a:ext uri="{FF2B5EF4-FFF2-40B4-BE49-F238E27FC236}">
                <a16:creationId xmlns:a16="http://schemas.microsoft.com/office/drawing/2014/main" id="{DBA1FA70-A553-4CD1-E184-41BACC8EC5AE}"/>
              </a:ext>
            </a:extLst>
          </p:cNvPr>
          <p:cNvSpPr>
            <a:spLocks noGrp="1"/>
          </p:cNvSpPr>
          <p:nvPr>
            <p:ph type="sldNum" sz="quarter" idx="12"/>
          </p:nvPr>
        </p:nvSpPr>
        <p:spPr/>
        <p:txBody>
          <a:bodyPr/>
          <a:lstStyle/>
          <a:p>
            <a:fld id="{45C3B737-A709-4ABC-AFE0-A6B067850C48}" type="slidenum">
              <a:rPr lang="en-US" smtClean="0"/>
              <a:t>3</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pic>
        <p:nvPicPr>
          <p:cNvPr id="1026" name="Picture 2">
            <a:extLst>
              <a:ext uri="{FF2B5EF4-FFF2-40B4-BE49-F238E27FC236}">
                <a16:creationId xmlns:a16="http://schemas.microsoft.com/office/drawing/2014/main" id="{85287125-F823-0936-51D8-E03E1A9271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1692" y="3780052"/>
            <a:ext cx="4117992" cy="29414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0B1BD91-25FA-7E4C-22C5-89FFB831108B}"/>
              </a:ext>
            </a:extLst>
          </p:cNvPr>
          <p:cNvSpPr txBox="1"/>
          <p:nvPr/>
        </p:nvSpPr>
        <p:spPr>
          <a:xfrm>
            <a:off x="354336" y="4161595"/>
            <a:ext cx="6858000" cy="2208297"/>
          </a:xfrm>
          <a:prstGeom prst="rect">
            <a:avLst/>
          </a:prstGeom>
          <a:noFill/>
        </p:spPr>
        <p:txBody>
          <a:bodyPr wrap="square">
            <a:spAutoFit/>
          </a:bodyPr>
          <a:lstStyle/>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Эконометрические данные</a:t>
            </a:r>
          </a:p>
          <a:p>
            <a:pPr algn="l">
              <a:lnSpc>
                <a:spcPts val="2143"/>
              </a:lnSpc>
              <a:spcBef>
                <a:spcPts val="300"/>
              </a:spcBef>
              <a:buFont typeface="Arial" panose="020B0604020202020204" pitchFamily="34" charset="0"/>
              <a:buChar char="•"/>
            </a:pPr>
            <a:r>
              <a:rPr lang="ru-RU" dirty="0" err="1">
                <a:solidFill>
                  <a:srgbClr val="404040"/>
                </a:solidFill>
                <a:latin typeface="quote-cjk-patch"/>
              </a:rPr>
              <a:t>Бизнесс</a:t>
            </a:r>
            <a:r>
              <a:rPr lang="ru-RU" dirty="0">
                <a:solidFill>
                  <a:srgbClr val="404040"/>
                </a:solidFill>
                <a:latin typeface="quote-cjk-patch"/>
              </a:rPr>
              <a:t>-данные</a:t>
            </a:r>
            <a:endParaRPr lang="ru-RU" b="0" i="0" dirty="0">
              <a:solidFill>
                <a:srgbClr val="404040"/>
              </a:solidFill>
              <a:effectLst/>
              <a:latin typeface="quote-cjk-patch"/>
            </a:endParaRP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Температура и давление в системах отопления.</a:t>
            </a: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Вибрация подшипников (</a:t>
            </a:r>
            <a:r>
              <a:rPr lang="en" b="0" i="0" dirty="0">
                <a:solidFill>
                  <a:srgbClr val="404040"/>
                </a:solidFill>
                <a:effectLst/>
                <a:latin typeface="quote-cjk-patch"/>
              </a:rPr>
              <a:t>NASA Bearing Dataset).</a:t>
            </a: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Энергопотребление производственных линий.</a:t>
            </a:r>
          </a:p>
          <a:p>
            <a:pPr algn="l">
              <a:lnSpc>
                <a:spcPts val="2143"/>
              </a:lnSpc>
              <a:spcBef>
                <a:spcPts val="300"/>
              </a:spcBef>
              <a:buFont typeface="Arial" panose="020B0604020202020204" pitchFamily="34" charset="0"/>
              <a:buChar char="•"/>
            </a:pPr>
            <a:r>
              <a:rPr lang="ru-RU" dirty="0">
                <a:solidFill>
                  <a:srgbClr val="404040"/>
                </a:solidFill>
                <a:latin typeface="quote-cjk-patch"/>
              </a:rPr>
              <a:t>Погодные данные</a:t>
            </a: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Поведение человека на </a:t>
            </a:r>
            <a:r>
              <a:rPr lang="ru-RU" dirty="0">
                <a:solidFill>
                  <a:srgbClr val="404040"/>
                </a:solidFill>
                <a:latin typeface="quote-cjk-patch"/>
              </a:rPr>
              <a:t>видеопоследовательности</a:t>
            </a:r>
            <a:endParaRPr lang="ru-RU" b="0" i="0" dirty="0">
              <a:solidFill>
                <a:srgbClr val="404040"/>
              </a:solidFill>
              <a:effectLst/>
              <a:latin typeface="quote-cjk-patch"/>
            </a:endParaRPr>
          </a:p>
        </p:txBody>
      </p:sp>
      <p:sp>
        <p:nvSpPr>
          <p:cNvPr id="7" name="Прямоугольник 6"/>
          <p:cNvSpPr/>
          <p:nvPr/>
        </p:nvSpPr>
        <p:spPr>
          <a:xfrm>
            <a:off x="53593" y="6430092"/>
            <a:ext cx="4322915" cy="369332"/>
          </a:xfrm>
          <a:prstGeom prst="rect">
            <a:avLst/>
          </a:prstGeom>
        </p:spPr>
        <p:txBody>
          <a:bodyPr wrap="none">
            <a:spAutoFit/>
          </a:bodyPr>
          <a:lstStyle/>
          <a:p>
            <a:r>
              <a:rPr lang="en-US" dirty="0"/>
              <a:t>https://otexts.com/fpppy/nbs/01-intro.html</a:t>
            </a:r>
            <a:endParaRPr lang="ru-RU" dirty="0"/>
          </a:p>
        </p:txBody>
      </p:sp>
    </p:spTree>
    <p:extLst>
      <p:ext uri="{BB962C8B-B14F-4D97-AF65-F5344CB8AC3E}">
        <p14:creationId xmlns:p14="http://schemas.microsoft.com/office/powerpoint/2010/main" val="626076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78DC2-D333-C7E2-D649-68C22A7D9BC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BDDB2A-4FB0-3E02-DEB3-474E8FA4F46C}"/>
              </a:ext>
            </a:extLst>
          </p:cNvPr>
          <p:cNvSpPr>
            <a:spLocks noGrp="1"/>
          </p:cNvSpPr>
          <p:nvPr>
            <p:ph type="title"/>
          </p:nvPr>
        </p:nvSpPr>
        <p:spPr>
          <a:xfrm>
            <a:off x="264405" y="365126"/>
            <a:ext cx="11089395" cy="406056"/>
          </a:xfrm>
        </p:spPr>
        <p:txBody>
          <a:bodyPr>
            <a:normAutofit fontScale="90000"/>
          </a:bodyPr>
          <a:lstStyle/>
          <a:p>
            <a:r>
              <a:rPr lang="en-US" dirty="0" err="1"/>
              <a:t>Задач</a:t>
            </a:r>
            <a:r>
              <a:rPr lang="ru-RU" dirty="0"/>
              <a:t>и анализа временных рядов</a:t>
            </a:r>
          </a:p>
        </p:txBody>
      </p:sp>
      <p:sp>
        <p:nvSpPr>
          <p:cNvPr id="3" name="Объект 2">
            <a:extLst>
              <a:ext uri="{FF2B5EF4-FFF2-40B4-BE49-F238E27FC236}">
                <a16:creationId xmlns:a16="http://schemas.microsoft.com/office/drawing/2014/main" id="{4F695E7F-9513-7F32-B5E4-12AF62AE9CB7}"/>
              </a:ext>
            </a:extLst>
          </p:cNvPr>
          <p:cNvSpPr>
            <a:spLocks noGrp="1"/>
          </p:cNvSpPr>
          <p:nvPr>
            <p:ph idx="1"/>
          </p:nvPr>
        </p:nvSpPr>
        <p:spPr>
          <a:xfrm>
            <a:off x="152401" y="870858"/>
            <a:ext cx="11089395" cy="3762558"/>
          </a:xfrm>
        </p:spPr>
        <p:txBody>
          <a:bodyPr>
            <a:normAutofit/>
          </a:bodyPr>
          <a:lstStyle/>
          <a:p>
            <a:pPr marL="0" indent="0">
              <a:buNone/>
            </a:pPr>
            <a:r>
              <a:rPr lang="ru-RU" sz="2200" b="1" dirty="0"/>
              <a:t>Прогнозирование</a:t>
            </a:r>
            <a:r>
              <a:rPr lang="ru-RU" sz="2200" dirty="0"/>
              <a:t> : </a:t>
            </a:r>
            <a:endParaRPr lang="en-US" sz="2200" dirty="0"/>
          </a:p>
          <a:p>
            <a:pPr lvl="1"/>
            <a:r>
              <a:rPr lang="ru-RU" sz="2200" dirty="0"/>
              <a:t>принятие решения о строительстве еще одной электростанции в течение следующих пяти лет требует прогнозов будущего спроса;</a:t>
            </a:r>
            <a:endParaRPr lang="en-US" sz="2200" dirty="0"/>
          </a:p>
          <a:p>
            <a:pPr lvl="1"/>
            <a:r>
              <a:rPr lang="ru-RU" sz="2200" dirty="0"/>
              <a:t> планирование персонала в </a:t>
            </a:r>
            <a:r>
              <a:rPr lang="ru-RU" sz="2200" dirty="0" err="1"/>
              <a:t>колл</a:t>
            </a:r>
            <a:r>
              <a:rPr lang="ru-RU" sz="2200" dirty="0"/>
              <a:t>-центре на следующую неделю требует прогнозов объемов звонков; </a:t>
            </a:r>
            <a:endParaRPr lang="en-US" sz="2200" dirty="0"/>
          </a:p>
          <a:p>
            <a:pPr lvl="1"/>
            <a:r>
              <a:rPr lang="ru-RU" sz="2200" dirty="0"/>
              <a:t>пополнение запасов требует прогнозов потребностей в запасах. </a:t>
            </a:r>
            <a:endParaRPr lang="en-US" sz="2200" dirty="0"/>
          </a:p>
          <a:p>
            <a:r>
              <a:rPr lang="ru-RU" sz="2200" dirty="0"/>
              <a:t>Прогнозы могут потребоваться на несколько лет вперед (в случае капиталовложений) или всего за несколько минут (для маршрутизации телекоммуникаций). </a:t>
            </a:r>
            <a:endParaRPr lang="en-US" sz="2200" dirty="0"/>
          </a:p>
          <a:p>
            <a:r>
              <a:rPr lang="ru-RU" sz="2200" dirty="0"/>
              <a:t>Независимо от обстоятельств или временных горизонтов прогнозирование является важным средством эффективного и действенного планирования.</a:t>
            </a:r>
          </a:p>
        </p:txBody>
      </p:sp>
      <p:sp>
        <p:nvSpPr>
          <p:cNvPr id="4" name="Номер слайда 3">
            <a:extLst>
              <a:ext uri="{FF2B5EF4-FFF2-40B4-BE49-F238E27FC236}">
                <a16:creationId xmlns:a16="http://schemas.microsoft.com/office/drawing/2014/main" id="{F963CD86-6C5A-B8D3-D0A5-67DF24A8CD73}"/>
              </a:ext>
            </a:extLst>
          </p:cNvPr>
          <p:cNvSpPr>
            <a:spLocks noGrp="1"/>
          </p:cNvSpPr>
          <p:nvPr>
            <p:ph type="sldNum" sz="quarter" idx="12"/>
          </p:nvPr>
        </p:nvSpPr>
        <p:spPr/>
        <p:txBody>
          <a:bodyPr/>
          <a:lstStyle/>
          <a:p>
            <a:fld id="{45C3B737-A709-4ABC-AFE0-A6B067850C48}" type="slidenum">
              <a:rPr lang="en-US" smtClean="0"/>
              <a:t>4</a:t>
            </a:fld>
            <a:endParaRPr lang="en-US" dirty="0"/>
          </a:p>
        </p:txBody>
      </p:sp>
      <p:pic>
        <p:nvPicPr>
          <p:cNvPr id="1028" name="Picture 4">
            <a:extLst>
              <a:ext uri="{FF2B5EF4-FFF2-40B4-BE49-F238E27FC236}">
                <a16:creationId xmlns:a16="http://schemas.microsoft.com/office/drawing/2014/main" id="{9F203E61-EFA5-0D64-7DEC-DB928CAB24EE}"/>
              </a:ext>
            </a:extLst>
          </p:cNvPr>
          <p:cNvPicPr>
            <a:picLocks noChangeAspect="1" noChangeArrowheads="1"/>
          </p:cNvPicPr>
          <p:nvPr/>
        </p:nvPicPr>
        <p:blipFill rotWithShape="1">
          <a:blip r:embed="rId2" cstate="hqprint">
            <a:extLst>
              <a:ext uri="{28A0092B-C50C-407E-A947-70E740481C1C}">
                <a14:useLocalDpi xmlns:a14="http://schemas.microsoft.com/office/drawing/2010/main" val="0"/>
              </a:ext>
            </a:extLst>
          </a:blip>
          <a:srcRect b="52438"/>
          <a:stretch>
            <a:fillRect/>
          </a:stretch>
        </p:blipFill>
        <p:spPr bwMode="auto">
          <a:xfrm>
            <a:off x="264405" y="4733092"/>
            <a:ext cx="6205279" cy="173326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70752DD-73A9-5A7B-B8CB-6A0B5EB62FB7}"/>
              </a:ext>
            </a:extLst>
          </p:cNvPr>
          <p:cNvSpPr txBox="1"/>
          <p:nvPr/>
        </p:nvSpPr>
        <p:spPr>
          <a:xfrm>
            <a:off x="534539" y="6381368"/>
            <a:ext cx="6093724" cy="369332"/>
          </a:xfrm>
          <a:prstGeom prst="rect">
            <a:avLst/>
          </a:prstGeom>
          <a:noFill/>
        </p:spPr>
        <p:txBody>
          <a:bodyPr wrap="square">
            <a:spAutoFit/>
          </a:bodyPr>
          <a:lstStyle/>
          <a:p>
            <a:r>
              <a:rPr lang="ru-RU" dirty="0" err="1"/>
              <a:t>https</a:t>
            </a:r>
            <a:r>
              <a:rPr lang="ru-RU" dirty="0"/>
              <a:t>://</a:t>
            </a:r>
            <a:r>
              <a:rPr lang="ru-RU" dirty="0" err="1"/>
              <a:t>juanitorduz.github.io</a:t>
            </a:r>
            <a:r>
              <a:rPr lang="ru-RU" dirty="0"/>
              <a:t>/</a:t>
            </a:r>
            <a:r>
              <a:rPr lang="ru-RU" dirty="0" err="1"/>
              <a:t>electricity_forecast</a:t>
            </a:r>
            <a:r>
              <a:rPr lang="ru-RU" dirty="0"/>
              <a:t>/</a:t>
            </a:r>
          </a:p>
        </p:txBody>
      </p:sp>
      <p:pic>
        <p:nvPicPr>
          <p:cNvPr id="1030" name="Picture 6" descr="Dataset image">
            <a:extLst>
              <a:ext uri="{FF2B5EF4-FFF2-40B4-BE49-F238E27FC236}">
                <a16:creationId xmlns:a16="http://schemas.microsoft.com/office/drawing/2014/main" id="{5647C96F-5494-1E1F-EA63-79D0D042F2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597" b="23235"/>
          <a:stretch>
            <a:fillRect/>
          </a:stretch>
        </p:blipFill>
        <p:spPr bwMode="auto">
          <a:xfrm>
            <a:off x="6898397" y="4633666"/>
            <a:ext cx="3872932" cy="174770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5F1E524-3A05-F082-03B6-204354A5DF09}"/>
              </a:ext>
            </a:extLst>
          </p:cNvPr>
          <p:cNvSpPr txBox="1"/>
          <p:nvPr/>
        </p:nvSpPr>
        <p:spPr>
          <a:xfrm>
            <a:off x="6469684" y="6467559"/>
            <a:ext cx="5819222" cy="253916"/>
          </a:xfrm>
          <a:prstGeom prst="rect">
            <a:avLst/>
          </a:prstGeom>
          <a:noFill/>
        </p:spPr>
        <p:txBody>
          <a:bodyPr wrap="none" rtlCol="0">
            <a:spAutoFit/>
          </a:bodyPr>
          <a:lstStyle/>
          <a:p>
            <a:r>
              <a:rPr lang="en" sz="1050" dirty="0"/>
              <a:t>https://</a:t>
            </a:r>
            <a:r>
              <a:rPr lang="en" sz="1050" dirty="0" err="1"/>
              <a:t>ieee-dataport.org</a:t>
            </a:r>
            <a:r>
              <a:rPr lang="en" sz="1050" dirty="0"/>
              <a:t>/documents/iot-time-series-traffic-data-smart-city-ehealth-and-smart-factory</a:t>
            </a:r>
            <a:endParaRPr lang="ru-RU" sz="1050" dirty="0"/>
          </a:p>
        </p:txBody>
      </p:sp>
      <p:sp>
        <p:nvSpPr>
          <p:cNvPr id="10" name="TextBox 9">
            <a:extLst>
              <a:ext uri="{FF2B5EF4-FFF2-40B4-BE49-F238E27FC236}">
                <a16:creationId xmlns:a16="http://schemas.microsoft.com/office/drawing/2014/main" id="{1611DA53-2FA6-3AE6-270F-8AEB3A671266}"/>
              </a:ext>
            </a:extLst>
          </p:cNvPr>
          <p:cNvSpPr txBox="1"/>
          <p:nvPr/>
        </p:nvSpPr>
        <p:spPr>
          <a:xfrm>
            <a:off x="7342496" y="4393396"/>
            <a:ext cx="3857546" cy="369332"/>
          </a:xfrm>
          <a:prstGeom prst="rect">
            <a:avLst/>
          </a:prstGeom>
          <a:noFill/>
        </p:spPr>
        <p:txBody>
          <a:bodyPr wrap="square">
            <a:spAutoFit/>
          </a:bodyPr>
          <a:lstStyle/>
          <a:p>
            <a:pPr algn="l"/>
            <a:r>
              <a:rPr lang="en" b="0" i="0" dirty="0">
                <a:solidFill>
                  <a:srgbClr val="E37222"/>
                </a:solidFill>
                <a:effectLst/>
                <a:latin typeface="Open Sans" panose="020B0606030504020204" pitchFamily="34" charset="0"/>
              </a:rPr>
              <a:t>Traffic Data: Smart City</a:t>
            </a:r>
          </a:p>
        </p:txBody>
      </p:sp>
      <p:sp>
        <p:nvSpPr>
          <p:cNvPr id="11" name="TextBox 10">
            <a:extLst>
              <a:ext uri="{FF2B5EF4-FFF2-40B4-BE49-F238E27FC236}">
                <a16:creationId xmlns:a16="http://schemas.microsoft.com/office/drawing/2014/main" id="{F833267B-C094-BAAF-BDB1-141562DD1815}"/>
              </a:ext>
            </a:extLst>
          </p:cNvPr>
          <p:cNvSpPr txBox="1"/>
          <p:nvPr/>
        </p:nvSpPr>
        <p:spPr>
          <a:xfrm>
            <a:off x="2238454" y="4423975"/>
            <a:ext cx="3857546" cy="369332"/>
          </a:xfrm>
          <a:prstGeom prst="rect">
            <a:avLst/>
          </a:prstGeom>
          <a:noFill/>
        </p:spPr>
        <p:txBody>
          <a:bodyPr wrap="square">
            <a:spAutoFit/>
          </a:bodyPr>
          <a:lstStyle/>
          <a:p>
            <a:pPr algn="l"/>
            <a:r>
              <a:rPr lang="en" b="0" i="0" dirty="0">
                <a:solidFill>
                  <a:srgbClr val="E37222"/>
                </a:solidFill>
                <a:effectLst/>
                <a:latin typeface="Open Sans" panose="020B0606030504020204" pitchFamily="34" charset="0"/>
              </a:rPr>
              <a:t>Australia Electricity demand</a:t>
            </a:r>
          </a:p>
        </p:txBody>
      </p:sp>
    </p:spTree>
    <p:extLst>
      <p:ext uri="{BB962C8B-B14F-4D97-AF65-F5344CB8AC3E}">
        <p14:creationId xmlns:p14="http://schemas.microsoft.com/office/powerpoint/2010/main" val="407681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72818F-8031-6E84-DC23-A3A3B1BB8516}"/>
              </a:ext>
            </a:extLst>
          </p:cNvPr>
          <p:cNvSpPr>
            <a:spLocks noGrp="1"/>
          </p:cNvSpPr>
          <p:nvPr>
            <p:ph type="title"/>
          </p:nvPr>
        </p:nvSpPr>
        <p:spPr>
          <a:xfrm>
            <a:off x="264405" y="365126"/>
            <a:ext cx="11089395" cy="406056"/>
          </a:xfrm>
        </p:spPr>
        <p:txBody>
          <a:bodyPr>
            <a:normAutofit fontScale="90000"/>
          </a:bodyPr>
          <a:lstStyle/>
          <a:p>
            <a:r>
              <a:rPr lang="ru-RU" dirty="0"/>
              <a:t>Особенности з</a:t>
            </a:r>
            <a:r>
              <a:rPr lang="en-US" dirty="0" err="1"/>
              <a:t>адач</a:t>
            </a:r>
            <a:r>
              <a:rPr lang="ru-RU" dirty="0"/>
              <a:t>и анализа временных рядов</a:t>
            </a:r>
          </a:p>
        </p:txBody>
      </p:sp>
      <p:sp>
        <p:nvSpPr>
          <p:cNvPr id="3" name="Объект 2">
            <a:extLst>
              <a:ext uri="{FF2B5EF4-FFF2-40B4-BE49-F238E27FC236}">
                <a16:creationId xmlns:a16="http://schemas.microsoft.com/office/drawing/2014/main" id="{DFF36E35-2AFB-9EA9-8E81-FF42509ECF39}"/>
              </a:ext>
            </a:extLst>
          </p:cNvPr>
          <p:cNvSpPr>
            <a:spLocks noGrp="1"/>
          </p:cNvSpPr>
          <p:nvPr>
            <p:ph idx="1"/>
          </p:nvPr>
        </p:nvSpPr>
        <p:spPr>
          <a:xfrm>
            <a:off x="165253" y="980502"/>
            <a:ext cx="11612765" cy="5618602"/>
          </a:xfrm>
        </p:spPr>
        <p:txBody>
          <a:bodyPr>
            <a:noAutofit/>
          </a:bodyPr>
          <a:lstStyle/>
          <a:p>
            <a:pPr marL="0" indent="0" fontAlgn="base">
              <a:buNone/>
            </a:pPr>
            <a:r>
              <a:rPr lang="ru-RU" sz="2200" b="1" dirty="0"/>
              <a:t>Особенности временных рядов:</a:t>
            </a:r>
            <a:endParaRPr lang="ru-RU" sz="2200" dirty="0"/>
          </a:p>
          <a:p>
            <a:pPr lvl="1" fontAlgn="base"/>
            <a:r>
              <a:rPr lang="ru-RU" sz="2200" dirty="0"/>
              <a:t>упорядоченность во времени (хронологический порядок);</a:t>
            </a:r>
          </a:p>
          <a:p>
            <a:pPr lvl="1" fontAlgn="base"/>
            <a:r>
              <a:rPr lang="ru-RU" sz="2200" dirty="0"/>
              <a:t>зависимость от прошлого (“память”, серийная или автокорреляция);</a:t>
            </a:r>
          </a:p>
          <a:p>
            <a:pPr lvl="1" fontAlgn="base"/>
            <a:r>
              <a:rPr lang="ru-RU" sz="2200" dirty="0"/>
              <a:t>различаются краткосрочные и долгосрочные зависимости и модели;</a:t>
            </a:r>
          </a:p>
          <a:p>
            <a:pPr lvl="1" fontAlgn="base"/>
            <a:r>
              <a:rPr lang="ru-RU" sz="2200" dirty="0"/>
              <a:t>часто встречается феномен “ложной регрессии”;</a:t>
            </a:r>
          </a:p>
          <a:p>
            <a:pPr lvl="1" fontAlgn="base"/>
            <a:r>
              <a:rPr lang="ru-RU" sz="2200" dirty="0"/>
              <a:t>бывает небольшое число наблюдений (как правило при работе с </a:t>
            </a:r>
            <a:r>
              <a:rPr lang="ru-RU" sz="2200" dirty="0" err="1"/>
              <a:t>макроданными</a:t>
            </a:r>
            <a:r>
              <a:rPr lang="ru-RU" sz="2200" dirty="0"/>
              <a:t>), которое невозможно увеличить (т.к. изменяется вид или структура зависимости).</a:t>
            </a:r>
          </a:p>
          <a:p>
            <a:pPr marL="0" indent="0">
              <a:buNone/>
            </a:pPr>
            <a:r>
              <a:rPr lang="ru-RU" sz="2200" b="1" dirty="0"/>
              <a:t>Предсказуемость события или их количества зависит от нескольких факторов, включая</a:t>
            </a:r>
            <a:r>
              <a:rPr lang="ru-RU" sz="2200" dirty="0"/>
              <a:t>:</a:t>
            </a:r>
          </a:p>
          <a:p>
            <a:pPr lvl="1"/>
            <a:r>
              <a:rPr lang="ru-RU" sz="2200" dirty="0"/>
              <a:t>насколько хорошо мы понимаем факторы, способствующие этому;</a:t>
            </a:r>
          </a:p>
          <a:p>
            <a:pPr lvl="1"/>
            <a:r>
              <a:rPr lang="ru-RU" sz="2200" dirty="0"/>
              <a:t>какой объем данных доступен;</a:t>
            </a:r>
          </a:p>
          <a:p>
            <a:pPr lvl="1"/>
            <a:r>
              <a:rPr lang="ru-RU" sz="2200" dirty="0"/>
              <a:t>насколько будущее похоже на прошлое;</a:t>
            </a:r>
          </a:p>
          <a:p>
            <a:pPr lvl="1"/>
            <a:r>
              <a:rPr lang="ru-RU" sz="2200" dirty="0"/>
              <a:t>могут ли прогнозы повлиять на то, что мы пытаемся прогнозировать.</a:t>
            </a:r>
          </a:p>
        </p:txBody>
      </p:sp>
      <p:sp>
        <p:nvSpPr>
          <p:cNvPr id="4" name="Номер слайда 3">
            <a:extLst>
              <a:ext uri="{FF2B5EF4-FFF2-40B4-BE49-F238E27FC236}">
                <a16:creationId xmlns:a16="http://schemas.microsoft.com/office/drawing/2014/main" id="{E84D282F-C4E3-E1C3-30C2-35BB0919C439}"/>
              </a:ext>
            </a:extLst>
          </p:cNvPr>
          <p:cNvSpPr>
            <a:spLocks noGrp="1"/>
          </p:cNvSpPr>
          <p:nvPr>
            <p:ph type="sldNum" sz="quarter" idx="12"/>
          </p:nvPr>
        </p:nvSpPr>
        <p:spPr/>
        <p:txBody>
          <a:bodyPr/>
          <a:lstStyle/>
          <a:p>
            <a:fld id="{45C3B737-A709-4ABC-AFE0-A6B067850C48}" type="slidenum">
              <a:rPr lang="en-US" smtClean="0"/>
              <a:t>5</a:t>
            </a:fld>
            <a:endParaRPr lang="en-US"/>
          </a:p>
        </p:txBody>
      </p:sp>
      <p:sp>
        <p:nvSpPr>
          <p:cNvPr id="6" name="TextBox 5">
            <a:extLst>
              <a:ext uri="{FF2B5EF4-FFF2-40B4-BE49-F238E27FC236}">
                <a16:creationId xmlns:a16="http://schemas.microsoft.com/office/drawing/2014/main" id="{658E892B-9047-E565-4C62-BC1837F832C2}"/>
              </a:ext>
            </a:extLst>
          </p:cNvPr>
          <p:cNvSpPr txBox="1"/>
          <p:nvPr/>
        </p:nvSpPr>
        <p:spPr>
          <a:xfrm>
            <a:off x="0" y="6308208"/>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
        <p:nvSpPr>
          <p:cNvPr id="5" name="Прямоугольник 4"/>
          <p:cNvSpPr/>
          <p:nvPr/>
        </p:nvSpPr>
        <p:spPr>
          <a:xfrm>
            <a:off x="4823012" y="6075144"/>
            <a:ext cx="6096000" cy="646331"/>
          </a:xfrm>
          <a:prstGeom prst="rect">
            <a:avLst/>
          </a:prstGeom>
        </p:spPr>
        <p:txBody>
          <a:bodyPr>
            <a:spAutoFit/>
          </a:bodyPr>
          <a:lstStyle/>
          <a:p>
            <a:r>
              <a:rPr lang="ru-RU" dirty="0"/>
              <a:t>https://ivan-shamaev.ru/time-series-analysis-forecasting-and-models-python-libraries/?ysclid=mckto9evgd241570139</a:t>
            </a:r>
          </a:p>
        </p:txBody>
      </p:sp>
    </p:spTree>
    <p:extLst>
      <p:ext uri="{BB962C8B-B14F-4D97-AF65-F5344CB8AC3E}">
        <p14:creationId xmlns:p14="http://schemas.microsoft.com/office/powerpoint/2010/main" val="3917883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929C9-3647-ECCA-37A5-642C4DE17C7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96F970-810F-6AA9-4929-311EC9A96B7C}"/>
              </a:ext>
            </a:extLst>
          </p:cNvPr>
          <p:cNvSpPr>
            <a:spLocks noGrp="1"/>
          </p:cNvSpPr>
          <p:nvPr>
            <p:ph type="title"/>
          </p:nvPr>
        </p:nvSpPr>
        <p:spPr>
          <a:xfrm>
            <a:off x="356613" y="288285"/>
            <a:ext cx="11089395" cy="1054241"/>
          </a:xfrm>
        </p:spPr>
        <p:txBody>
          <a:bodyPr>
            <a:normAutofit fontScale="90000"/>
          </a:bodyPr>
          <a:lstStyle/>
          <a:p>
            <a:pPr algn="ctr"/>
            <a:r>
              <a:rPr lang="ru-RU" dirty="0"/>
              <a:t>краткосрочные прогнозы спроса на электроэнергию в жилых домах</a:t>
            </a:r>
          </a:p>
        </p:txBody>
      </p:sp>
      <p:sp>
        <p:nvSpPr>
          <p:cNvPr id="3" name="Объект 2">
            <a:extLst>
              <a:ext uri="{FF2B5EF4-FFF2-40B4-BE49-F238E27FC236}">
                <a16:creationId xmlns:a16="http://schemas.microsoft.com/office/drawing/2014/main" id="{078540B2-B500-9CBE-3471-185DD8ADA241}"/>
              </a:ext>
            </a:extLst>
          </p:cNvPr>
          <p:cNvSpPr>
            <a:spLocks noGrp="1"/>
          </p:cNvSpPr>
          <p:nvPr>
            <p:ph idx="1"/>
          </p:nvPr>
        </p:nvSpPr>
        <p:spPr>
          <a:xfrm>
            <a:off x="94927" y="1438211"/>
            <a:ext cx="11612765" cy="5618602"/>
          </a:xfrm>
        </p:spPr>
        <p:txBody>
          <a:bodyPr>
            <a:noAutofit/>
          </a:bodyPr>
          <a:lstStyle/>
          <a:p>
            <a:pPr marL="92075" lvl="1" indent="0">
              <a:lnSpc>
                <a:spcPct val="100000"/>
              </a:lnSpc>
              <a:spcBef>
                <a:spcPts val="200"/>
              </a:spcBef>
              <a:buNone/>
            </a:pPr>
            <a:r>
              <a:rPr lang="ru-RU" sz="2200" dirty="0"/>
              <a:t>Особенности</a:t>
            </a:r>
          </a:p>
          <a:p>
            <a:pPr marL="446088" lvl="1">
              <a:lnSpc>
                <a:spcPct val="100000"/>
              </a:lnSpc>
              <a:spcBef>
                <a:spcPts val="200"/>
              </a:spcBef>
            </a:pPr>
            <a:r>
              <a:rPr lang="ru-RU" sz="2200" dirty="0"/>
              <a:t>Имеются монолитнее данные на спроса на электроэнергию, </a:t>
            </a:r>
          </a:p>
          <a:p>
            <a:pPr marL="446088" lvl="1">
              <a:lnSpc>
                <a:spcPct val="100000"/>
              </a:lnSpc>
              <a:spcBef>
                <a:spcPts val="200"/>
              </a:spcBef>
            </a:pPr>
            <a:r>
              <a:rPr lang="ru-RU" sz="2200" dirty="0"/>
              <a:t>известно, что  спрос на электроэнергию в основном определяется температурой.</a:t>
            </a:r>
          </a:p>
          <a:p>
            <a:pPr marL="446088" lvl="1">
              <a:lnSpc>
                <a:spcPct val="100000"/>
              </a:lnSpc>
              <a:spcBef>
                <a:spcPts val="200"/>
              </a:spcBef>
            </a:pPr>
            <a:r>
              <a:rPr lang="ru-RU" sz="2200" dirty="0"/>
              <a:t>При краткосрочном прогнозировании (до нескольких недель) можно с уверенностью предположить, что динамика спроса будет аналогична той, что наблюдалась в прошлом.</a:t>
            </a:r>
          </a:p>
          <a:p>
            <a:pPr marL="446088" lvl="1">
              <a:lnSpc>
                <a:spcPct val="100000"/>
              </a:lnSpc>
              <a:spcBef>
                <a:spcPts val="200"/>
              </a:spcBef>
            </a:pPr>
            <a:r>
              <a:rPr lang="ru-RU" sz="2200" dirty="0"/>
              <a:t>Для большинства бытовых потребителей цена</a:t>
            </a:r>
            <a:br>
              <a:rPr lang="ru-RU" sz="2200" dirty="0"/>
            </a:br>
            <a:r>
              <a:rPr lang="ru-RU" sz="2200" dirty="0"/>
              <a:t> на электроэнергию не зависит от спроса, </a:t>
            </a:r>
            <a:br>
              <a:rPr lang="ru-RU" sz="2200" dirty="0"/>
            </a:br>
            <a:r>
              <a:rPr lang="ru-RU" sz="2200" dirty="0"/>
              <a:t>поэтому допустимы ошибки оценки и </a:t>
            </a:r>
            <a:br>
              <a:rPr lang="ru-RU" sz="2200" dirty="0"/>
            </a:br>
            <a:r>
              <a:rPr lang="ru-RU" sz="2200" dirty="0"/>
              <a:t>они будут не критичны.</a:t>
            </a:r>
          </a:p>
        </p:txBody>
      </p:sp>
      <p:sp>
        <p:nvSpPr>
          <p:cNvPr id="4" name="Номер слайда 3">
            <a:extLst>
              <a:ext uri="{FF2B5EF4-FFF2-40B4-BE49-F238E27FC236}">
                <a16:creationId xmlns:a16="http://schemas.microsoft.com/office/drawing/2014/main" id="{3BB4D098-5A41-1C13-12BA-50D0174A6D2B}"/>
              </a:ext>
            </a:extLst>
          </p:cNvPr>
          <p:cNvSpPr>
            <a:spLocks noGrp="1"/>
          </p:cNvSpPr>
          <p:nvPr>
            <p:ph type="sldNum" sz="quarter" idx="12"/>
          </p:nvPr>
        </p:nvSpPr>
        <p:spPr/>
        <p:txBody>
          <a:bodyPr/>
          <a:lstStyle/>
          <a:p>
            <a:fld id="{45C3B737-A709-4ABC-AFE0-A6B067850C48}" type="slidenum">
              <a:rPr lang="en-US" smtClean="0"/>
              <a:t>6</a:t>
            </a:fld>
            <a:endParaRPr lang="en-US"/>
          </a:p>
        </p:txBody>
      </p:sp>
      <p:pic>
        <p:nvPicPr>
          <p:cNvPr id="5" name="Рисунок 4">
            <a:extLst>
              <a:ext uri="{FF2B5EF4-FFF2-40B4-BE49-F238E27FC236}">
                <a16:creationId xmlns:a16="http://schemas.microsoft.com/office/drawing/2014/main" id="{565D7273-3DEB-F512-3362-9FA5647D37E9}"/>
              </a:ext>
            </a:extLst>
          </p:cNvPr>
          <p:cNvPicPr>
            <a:picLocks noChangeAspect="1"/>
          </p:cNvPicPr>
          <p:nvPr/>
        </p:nvPicPr>
        <p:blipFill>
          <a:blip r:embed="rId2"/>
          <a:stretch>
            <a:fillRect/>
          </a:stretch>
        </p:blipFill>
        <p:spPr>
          <a:xfrm>
            <a:off x="6258977" y="3281807"/>
            <a:ext cx="5577003" cy="3333945"/>
          </a:xfrm>
          <a:prstGeom prst="rect">
            <a:avLst/>
          </a:prstGeom>
        </p:spPr>
      </p:pic>
      <p:sp>
        <p:nvSpPr>
          <p:cNvPr id="7" name="TextBox 6">
            <a:extLst>
              <a:ext uri="{FF2B5EF4-FFF2-40B4-BE49-F238E27FC236}">
                <a16:creationId xmlns:a16="http://schemas.microsoft.com/office/drawing/2014/main" id="{54586ED7-6D7D-151D-3200-3883E9CA5561}"/>
              </a:ext>
            </a:extLst>
          </p:cNvPr>
          <p:cNvSpPr txBox="1"/>
          <p:nvPr/>
        </p:nvSpPr>
        <p:spPr>
          <a:xfrm>
            <a:off x="165253" y="6354247"/>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3140890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5DD00-4162-72E8-6D4D-6DD1FE435D2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572871-B133-4717-74BB-D0D92CEE91BA}"/>
              </a:ext>
            </a:extLst>
          </p:cNvPr>
          <p:cNvSpPr>
            <a:spLocks noGrp="1"/>
          </p:cNvSpPr>
          <p:nvPr>
            <p:ph type="title"/>
          </p:nvPr>
        </p:nvSpPr>
        <p:spPr>
          <a:xfrm>
            <a:off x="264405" y="365126"/>
            <a:ext cx="11089395" cy="406056"/>
          </a:xfrm>
        </p:spPr>
        <p:txBody>
          <a:bodyPr>
            <a:normAutofit fontScale="90000"/>
          </a:bodyPr>
          <a:lstStyle/>
          <a:p>
            <a:r>
              <a:rPr lang="ru-RU" dirty="0"/>
              <a:t>Прогнозирование курсов валют</a:t>
            </a:r>
          </a:p>
        </p:txBody>
      </p:sp>
      <p:sp>
        <p:nvSpPr>
          <p:cNvPr id="3" name="Объект 2">
            <a:extLst>
              <a:ext uri="{FF2B5EF4-FFF2-40B4-BE49-F238E27FC236}">
                <a16:creationId xmlns:a16="http://schemas.microsoft.com/office/drawing/2014/main" id="{ACAEA3E3-D6F7-908A-9B35-EF11148B10C4}"/>
              </a:ext>
            </a:extLst>
          </p:cNvPr>
          <p:cNvSpPr>
            <a:spLocks noGrp="1"/>
          </p:cNvSpPr>
          <p:nvPr>
            <p:ph idx="1"/>
          </p:nvPr>
        </p:nvSpPr>
        <p:spPr>
          <a:xfrm>
            <a:off x="165253" y="980502"/>
            <a:ext cx="11188547" cy="5618602"/>
          </a:xfrm>
        </p:spPr>
        <p:txBody>
          <a:bodyPr>
            <a:normAutofit/>
          </a:bodyPr>
          <a:lstStyle/>
          <a:p>
            <a:pPr marL="0" indent="0">
              <a:buNone/>
            </a:pPr>
            <a:r>
              <a:rPr lang="ru-RU" sz="2200" dirty="0"/>
              <a:t>выполняется только одно из условий: имеется множество доступных данных. </a:t>
            </a:r>
          </a:p>
          <a:p>
            <a:pPr marL="0" indent="0">
              <a:buNone/>
            </a:pPr>
            <a:r>
              <a:rPr lang="ru-RU" sz="2200" dirty="0"/>
              <a:t>Однако </a:t>
            </a:r>
          </a:p>
          <a:p>
            <a:r>
              <a:rPr lang="ru-RU" sz="2200" dirty="0"/>
              <a:t>ограниченное понимание факторов, влияющих на курсы валют, </a:t>
            </a:r>
          </a:p>
          <a:p>
            <a:r>
              <a:rPr lang="ru-RU" sz="2200" dirty="0"/>
              <a:t>будущее может отличаться от прошлого (напр. Природная катастрофа) </a:t>
            </a:r>
          </a:p>
          <a:p>
            <a:r>
              <a:rPr lang="ru-RU" sz="2200" dirty="0"/>
              <a:t>прогнозы курса валют оказывают прямое влияние на сами курсы. Если известно, что курс валют вырастет, все будут покупать валюту и она стабилизируется. В некотором смысле курсы валют становятся их собственными прогнозами. Это пример «гипотезы эффективного рынка».  </a:t>
            </a:r>
          </a:p>
        </p:txBody>
      </p:sp>
      <p:sp>
        <p:nvSpPr>
          <p:cNvPr id="4" name="Номер слайда 3">
            <a:extLst>
              <a:ext uri="{FF2B5EF4-FFF2-40B4-BE49-F238E27FC236}">
                <a16:creationId xmlns:a16="http://schemas.microsoft.com/office/drawing/2014/main" id="{5A76733A-AE85-7115-ED56-57F98A97AED0}"/>
              </a:ext>
            </a:extLst>
          </p:cNvPr>
          <p:cNvSpPr>
            <a:spLocks noGrp="1"/>
          </p:cNvSpPr>
          <p:nvPr>
            <p:ph type="sldNum" sz="quarter" idx="12"/>
          </p:nvPr>
        </p:nvSpPr>
        <p:spPr/>
        <p:txBody>
          <a:bodyPr/>
          <a:lstStyle/>
          <a:p>
            <a:fld id="{45C3B737-A709-4ABC-AFE0-A6B067850C48}" type="slidenum">
              <a:rPr lang="en-US" smtClean="0"/>
              <a:t>7</a:t>
            </a:fld>
            <a:endParaRPr lang="en-US"/>
          </a:p>
        </p:txBody>
      </p:sp>
      <p:sp>
        <p:nvSpPr>
          <p:cNvPr id="5" name="AutoShape 2">
            <a:extLst>
              <a:ext uri="{FF2B5EF4-FFF2-40B4-BE49-F238E27FC236}">
                <a16:creationId xmlns:a16="http://schemas.microsoft.com/office/drawing/2014/main" id="{A3D96E57-DDB7-1CA5-182E-CFBCDD12A7F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6" name="AutoShape 4">
            <a:extLst>
              <a:ext uri="{FF2B5EF4-FFF2-40B4-BE49-F238E27FC236}">
                <a16:creationId xmlns:a16="http://schemas.microsoft.com/office/drawing/2014/main" id="{E99C0464-1479-106F-B240-07FBE61F9D9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6">
            <a:extLst>
              <a:ext uri="{FF2B5EF4-FFF2-40B4-BE49-F238E27FC236}">
                <a16:creationId xmlns:a16="http://schemas.microsoft.com/office/drawing/2014/main" id="{690B2A94-FA6A-5A54-E359-1E4F2B921AE1}"/>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8" name="Рисунок 7">
            <a:extLst>
              <a:ext uri="{FF2B5EF4-FFF2-40B4-BE49-F238E27FC236}">
                <a16:creationId xmlns:a16="http://schemas.microsoft.com/office/drawing/2014/main" id="{8A80686E-36B9-9F99-7F63-A4453130BA19}"/>
              </a:ext>
            </a:extLst>
          </p:cNvPr>
          <p:cNvPicPr>
            <a:picLocks noChangeAspect="1"/>
          </p:cNvPicPr>
          <p:nvPr/>
        </p:nvPicPr>
        <p:blipFill>
          <a:blip r:embed="rId3"/>
          <a:stretch>
            <a:fillRect/>
          </a:stretch>
        </p:blipFill>
        <p:spPr>
          <a:xfrm>
            <a:off x="542670" y="4207043"/>
            <a:ext cx="5021722" cy="2514432"/>
          </a:xfrm>
          <a:prstGeom prst="rect">
            <a:avLst/>
          </a:prstGeom>
        </p:spPr>
      </p:pic>
      <p:pic>
        <p:nvPicPr>
          <p:cNvPr id="10" name="Рисунок 9">
            <a:extLst>
              <a:ext uri="{FF2B5EF4-FFF2-40B4-BE49-F238E27FC236}">
                <a16:creationId xmlns:a16="http://schemas.microsoft.com/office/drawing/2014/main" id="{428FA815-37BB-E70B-E267-899F6B6DCDC0}"/>
              </a:ext>
            </a:extLst>
          </p:cNvPr>
          <p:cNvPicPr>
            <a:picLocks noChangeAspect="1"/>
          </p:cNvPicPr>
          <p:nvPr/>
        </p:nvPicPr>
        <p:blipFill>
          <a:blip r:embed="rId4"/>
          <a:stretch>
            <a:fillRect/>
          </a:stretch>
        </p:blipFill>
        <p:spPr>
          <a:xfrm>
            <a:off x="5941809" y="4258857"/>
            <a:ext cx="4880866" cy="2462158"/>
          </a:xfrm>
          <a:prstGeom prst="rect">
            <a:avLst/>
          </a:prstGeom>
        </p:spPr>
      </p:pic>
      <p:sp>
        <p:nvSpPr>
          <p:cNvPr id="12" name="TextBox 11">
            <a:extLst>
              <a:ext uri="{FF2B5EF4-FFF2-40B4-BE49-F238E27FC236}">
                <a16:creationId xmlns:a16="http://schemas.microsoft.com/office/drawing/2014/main" id="{5D81EF11-DE95-FA84-6784-821F22F1F524}"/>
              </a:ext>
            </a:extLst>
          </p:cNvPr>
          <p:cNvSpPr txBox="1"/>
          <p:nvPr/>
        </p:nvSpPr>
        <p:spPr>
          <a:xfrm>
            <a:off x="459476" y="6492300"/>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3021764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E500F2-C550-ECDE-88F7-3A865A85EE24}"/>
              </a:ext>
            </a:extLst>
          </p:cNvPr>
          <p:cNvSpPr>
            <a:spLocks noGrp="1"/>
          </p:cNvSpPr>
          <p:nvPr>
            <p:ph type="title"/>
          </p:nvPr>
        </p:nvSpPr>
        <p:spPr>
          <a:xfrm>
            <a:off x="419100" y="365126"/>
            <a:ext cx="10934700" cy="692150"/>
          </a:xfrm>
        </p:spPr>
        <p:txBody>
          <a:bodyPr>
            <a:normAutofit fontScale="90000"/>
          </a:bodyPr>
          <a:lstStyle/>
          <a:p>
            <a:r>
              <a:rPr lang="ru-RU" dirty="0"/>
              <a:t>Применения ВР</a:t>
            </a:r>
          </a:p>
        </p:txBody>
      </p:sp>
      <p:sp>
        <p:nvSpPr>
          <p:cNvPr id="3" name="Объект 2">
            <a:extLst>
              <a:ext uri="{FF2B5EF4-FFF2-40B4-BE49-F238E27FC236}">
                <a16:creationId xmlns:a16="http://schemas.microsoft.com/office/drawing/2014/main" id="{1A4BF18D-4A68-07A0-A9F7-B3CF16882563}"/>
              </a:ext>
            </a:extLst>
          </p:cNvPr>
          <p:cNvSpPr>
            <a:spLocks noGrp="1"/>
          </p:cNvSpPr>
          <p:nvPr>
            <p:ph idx="1"/>
          </p:nvPr>
        </p:nvSpPr>
        <p:spPr>
          <a:xfrm>
            <a:off x="914400" y="1197662"/>
            <a:ext cx="10515600" cy="4255686"/>
          </a:xfrm>
        </p:spPr>
        <p:txBody>
          <a:bodyPr>
            <a:normAutofit fontScale="70000" lnSpcReduction="20000"/>
          </a:bodyPr>
          <a:lstStyle/>
          <a:p>
            <a:pPr>
              <a:lnSpc>
                <a:spcPct val="120000"/>
              </a:lnSpc>
            </a:pPr>
            <a:r>
              <a:rPr lang="ru-RU" b="1" dirty="0"/>
              <a:t>Экономический и финансовый анализ</a:t>
            </a:r>
            <a:r>
              <a:rPr lang="ru-RU" dirty="0"/>
              <a:t>: понимание экономических показателей и финансовых рынков, что позволяет получить представление об управлении рисками и стратегическом планировании. </a:t>
            </a:r>
            <a:endParaRPr lang="en-US" dirty="0"/>
          </a:p>
          <a:p>
            <a:pPr>
              <a:lnSpc>
                <a:spcPct val="120000"/>
              </a:lnSpc>
            </a:pPr>
            <a:r>
              <a:rPr lang="ru-RU" b="1" dirty="0"/>
              <a:t>Исследовательский естественно-научный (физические эксперименты, метеонаблюдения, экология и </a:t>
            </a:r>
            <a:r>
              <a:rPr lang="ru-RU" b="1" dirty="0" err="1"/>
              <a:t>тд</a:t>
            </a:r>
            <a:r>
              <a:rPr lang="ru-RU" b="1" dirty="0"/>
              <a:t>)</a:t>
            </a:r>
            <a:r>
              <a:rPr lang="ru-RU" dirty="0"/>
              <a:t>: Проводите непрерывный мониторинг окружающей среды и оценивайте климатические риски, что помогает понять долгосрочные тенденции и риски.</a:t>
            </a:r>
            <a:endParaRPr lang="en-US" dirty="0"/>
          </a:p>
          <a:p>
            <a:pPr>
              <a:lnSpc>
                <a:spcPct val="120000"/>
              </a:lnSpc>
            </a:pPr>
            <a:r>
              <a:rPr lang="en-US" b="1" dirty="0" err="1"/>
              <a:t>Диаг</a:t>
            </a:r>
            <a:r>
              <a:rPr lang="ru-RU" b="1" dirty="0" err="1"/>
              <a:t>ностика</a:t>
            </a:r>
            <a:r>
              <a:rPr lang="ru-RU" b="1" dirty="0"/>
              <a:t> в производстве</a:t>
            </a:r>
            <a:r>
              <a:rPr lang="ru-RU" dirty="0"/>
              <a:t>: прогнозируйте сбои оборудования и оптимизируйте графики технического обслуживания, сокращая время простоя и эксплуатационные расходы. </a:t>
            </a:r>
          </a:p>
          <a:p>
            <a:pPr>
              <a:lnSpc>
                <a:spcPct val="120000"/>
              </a:lnSpc>
            </a:pPr>
            <a:r>
              <a:rPr lang="ru-RU" b="1" dirty="0"/>
              <a:t>Обработка сигналов (медицина, геология, локация)</a:t>
            </a:r>
            <a:r>
              <a:rPr lang="ru-RU" dirty="0"/>
              <a:t>: Интерпретируйте сигналы от устройств связи, Интернета вещей, датчиков и систем технического обслуживания для повышения производительности, обнаружения аномалий и повышения надежности.</a:t>
            </a:r>
          </a:p>
        </p:txBody>
      </p:sp>
      <p:sp>
        <p:nvSpPr>
          <p:cNvPr id="4" name="Номер слайда 3">
            <a:extLst>
              <a:ext uri="{FF2B5EF4-FFF2-40B4-BE49-F238E27FC236}">
                <a16:creationId xmlns:a16="http://schemas.microsoft.com/office/drawing/2014/main" id="{950C2AE1-D20B-8334-CD40-34225DB1C550}"/>
              </a:ext>
            </a:extLst>
          </p:cNvPr>
          <p:cNvSpPr>
            <a:spLocks noGrp="1"/>
          </p:cNvSpPr>
          <p:nvPr>
            <p:ph type="sldNum" sz="quarter" idx="12"/>
          </p:nvPr>
        </p:nvSpPr>
        <p:spPr/>
        <p:txBody>
          <a:bodyPr/>
          <a:lstStyle/>
          <a:p>
            <a:fld id="{45C3B737-A709-4ABC-AFE0-A6B067850C48}" type="slidenum">
              <a:rPr lang="en-US" smtClean="0"/>
              <a:t>8</a:t>
            </a:fld>
            <a:endParaRPr lang="en-US"/>
          </a:p>
        </p:txBody>
      </p:sp>
      <p:pic>
        <p:nvPicPr>
          <p:cNvPr id="10" name="Рисунок 9">
            <a:extLst>
              <a:ext uri="{FF2B5EF4-FFF2-40B4-BE49-F238E27FC236}">
                <a16:creationId xmlns:a16="http://schemas.microsoft.com/office/drawing/2014/main" id="{D261180A-3B0C-D7C0-E9DC-BA4A6940867F}"/>
              </a:ext>
            </a:extLst>
          </p:cNvPr>
          <p:cNvPicPr>
            <a:picLocks noChangeAspect="1"/>
          </p:cNvPicPr>
          <p:nvPr/>
        </p:nvPicPr>
        <p:blipFill>
          <a:blip r:embed="rId2"/>
          <a:stretch>
            <a:fillRect/>
          </a:stretch>
        </p:blipFill>
        <p:spPr>
          <a:xfrm>
            <a:off x="-9525" y="1197662"/>
            <a:ext cx="912125" cy="3534483"/>
          </a:xfrm>
          <a:prstGeom prst="rect">
            <a:avLst/>
          </a:prstGeom>
        </p:spPr>
      </p:pic>
      <p:sp>
        <p:nvSpPr>
          <p:cNvPr id="12" name="TextBox 11">
            <a:extLst>
              <a:ext uri="{FF2B5EF4-FFF2-40B4-BE49-F238E27FC236}">
                <a16:creationId xmlns:a16="http://schemas.microsoft.com/office/drawing/2014/main" id="{9E4C9845-9193-FFFA-E436-2F5E41EFC2C1}"/>
              </a:ext>
            </a:extLst>
          </p:cNvPr>
          <p:cNvSpPr txBox="1"/>
          <p:nvPr/>
        </p:nvSpPr>
        <p:spPr>
          <a:xfrm>
            <a:off x="735376" y="6398309"/>
            <a:ext cx="7593376" cy="369332"/>
          </a:xfrm>
          <a:prstGeom prst="rect">
            <a:avLst/>
          </a:prstGeom>
          <a:noFill/>
        </p:spPr>
        <p:txBody>
          <a:bodyPr wrap="square">
            <a:spAutoFit/>
          </a:bodyPr>
          <a:lstStyle/>
          <a:p>
            <a:r>
              <a:rPr lang="ru-RU" dirty="0" err="1"/>
              <a:t>https</a:t>
            </a:r>
            <a:r>
              <a:rPr lang="ru-RU" dirty="0"/>
              <a:t>://</a:t>
            </a:r>
            <a:r>
              <a:rPr lang="ru-RU" dirty="0" err="1"/>
              <a:t>www.mathworks.com</a:t>
            </a:r>
            <a:r>
              <a:rPr lang="ru-RU" dirty="0"/>
              <a:t>/</a:t>
            </a:r>
            <a:r>
              <a:rPr lang="ru-RU" dirty="0" err="1"/>
              <a:t>discovery</a:t>
            </a:r>
            <a:r>
              <a:rPr lang="ru-RU" dirty="0"/>
              <a:t>/</a:t>
            </a:r>
            <a:r>
              <a:rPr lang="ru-RU" dirty="0" err="1"/>
              <a:t>time-series-analysis.html</a:t>
            </a:r>
            <a:endParaRPr lang="ru-RU" dirty="0"/>
          </a:p>
        </p:txBody>
      </p:sp>
    </p:spTree>
    <p:extLst>
      <p:ext uri="{BB962C8B-B14F-4D97-AF65-F5344CB8AC3E}">
        <p14:creationId xmlns:p14="http://schemas.microsoft.com/office/powerpoint/2010/main" val="2318683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BA1F3E-CEB0-CC7C-D712-4E57B92A1BAD}"/>
              </a:ext>
            </a:extLst>
          </p:cNvPr>
          <p:cNvSpPr>
            <a:spLocks noGrp="1"/>
          </p:cNvSpPr>
          <p:nvPr>
            <p:ph type="title"/>
          </p:nvPr>
        </p:nvSpPr>
        <p:spPr>
          <a:xfrm>
            <a:off x="370863" y="247927"/>
            <a:ext cx="10515600" cy="1325563"/>
          </a:xfrm>
        </p:spPr>
        <p:txBody>
          <a:bodyPr/>
          <a:lstStyle/>
          <a:p>
            <a:r>
              <a:rPr lang="ru-RU" b="1" dirty="0"/>
              <a:t>Примеры</a:t>
            </a:r>
            <a:endParaRPr lang="ru-RU" dirty="0"/>
          </a:p>
        </p:txBody>
      </p:sp>
      <p:sp>
        <p:nvSpPr>
          <p:cNvPr id="3" name="Объект 2">
            <a:extLst>
              <a:ext uri="{FF2B5EF4-FFF2-40B4-BE49-F238E27FC236}">
                <a16:creationId xmlns:a16="http://schemas.microsoft.com/office/drawing/2014/main" id="{09F00124-A180-84AC-986F-7027F931180B}"/>
              </a:ext>
            </a:extLst>
          </p:cNvPr>
          <p:cNvSpPr>
            <a:spLocks noGrp="1"/>
          </p:cNvSpPr>
          <p:nvPr>
            <p:ph idx="1"/>
          </p:nvPr>
        </p:nvSpPr>
        <p:spPr/>
        <p:txBody>
          <a:bodyPr/>
          <a:lstStyle/>
          <a:p>
            <a:r>
              <a:rPr lang="ru-RU" dirty="0"/>
              <a:t>01 Введение во ВР.</a:t>
            </a:r>
            <a:r>
              <a:rPr lang="en" dirty="0"/>
              <a:t>pptx</a:t>
            </a:r>
            <a:endParaRPr lang="ru-RU" dirty="0"/>
          </a:p>
        </p:txBody>
      </p:sp>
      <p:sp>
        <p:nvSpPr>
          <p:cNvPr id="4" name="Номер слайда 3">
            <a:extLst>
              <a:ext uri="{FF2B5EF4-FFF2-40B4-BE49-F238E27FC236}">
                <a16:creationId xmlns:a16="http://schemas.microsoft.com/office/drawing/2014/main" id="{A222A1EF-CF12-1044-A445-B4D73994535E}"/>
              </a:ext>
            </a:extLst>
          </p:cNvPr>
          <p:cNvSpPr>
            <a:spLocks noGrp="1"/>
          </p:cNvSpPr>
          <p:nvPr>
            <p:ph type="sldNum" sz="quarter" idx="12"/>
          </p:nvPr>
        </p:nvSpPr>
        <p:spPr/>
        <p:txBody>
          <a:bodyPr/>
          <a:lstStyle/>
          <a:p>
            <a:fld id="{45C3B737-A709-4ABC-AFE0-A6B067850C48}" type="slidenum">
              <a:rPr lang="en-US" smtClean="0"/>
              <a:t>9</a:t>
            </a:fld>
            <a:endParaRPr lang="en-US"/>
          </a:p>
        </p:txBody>
      </p:sp>
      <p:pic>
        <p:nvPicPr>
          <p:cNvPr id="5122" name="Picture 2">
            <a:extLst>
              <a:ext uri="{FF2B5EF4-FFF2-40B4-BE49-F238E27FC236}">
                <a16:creationId xmlns:a16="http://schemas.microsoft.com/office/drawing/2014/main" id="{91E5E0C5-FD0A-5554-03F3-B02B5CF913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9674" y="974892"/>
            <a:ext cx="6381852" cy="195942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396E60-A3E8-2964-2BA6-0EE308E55D30}"/>
              </a:ext>
            </a:extLst>
          </p:cNvPr>
          <p:cNvSpPr txBox="1"/>
          <p:nvPr/>
        </p:nvSpPr>
        <p:spPr>
          <a:xfrm>
            <a:off x="742950" y="6441526"/>
            <a:ext cx="10706100" cy="369332"/>
          </a:xfrm>
          <a:prstGeom prst="rect">
            <a:avLst/>
          </a:prstGeom>
          <a:noFill/>
        </p:spPr>
        <p:txBody>
          <a:bodyPr wrap="square">
            <a:spAutoFit/>
          </a:bodyPr>
          <a:lstStyle/>
          <a:p>
            <a:r>
              <a:rPr lang="ru-RU" dirty="0" err="1"/>
              <a:t>https</a:t>
            </a:r>
            <a:r>
              <a:rPr lang="ru-RU" dirty="0"/>
              <a:t>://</a:t>
            </a:r>
            <a:r>
              <a:rPr lang="ru-RU" dirty="0" err="1"/>
              <a:t>www.kaggle.com</a:t>
            </a:r>
            <a:r>
              <a:rPr lang="ru-RU" dirty="0"/>
              <a:t>/</a:t>
            </a:r>
            <a:r>
              <a:rPr lang="ru-RU" dirty="0" err="1"/>
              <a:t>code</a:t>
            </a:r>
            <a:r>
              <a:rPr lang="ru-RU" dirty="0"/>
              <a:t>/prashant111/</a:t>
            </a:r>
            <a:r>
              <a:rPr lang="ru-RU" dirty="0" err="1"/>
              <a:t>complete-guide-on-time-series-analysis-in-python</a:t>
            </a:r>
            <a:endParaRPr lang="ru-RU" dirty="0"/>
          </a:p>
        </p:txBody>
      </p:sp>
      <p:sp>
        <p:nvSpPr>
          <p:cNvPr id="7" name="TextBox 6">
            <a:extLst>
              <a:ext uri="{FF2B5EF4-FFF2-40B4-BE49-F238E27FC236}">
                <a16:creationId xmlns:a16="http://schemas.microsoft.com/office/drawing/2014/main" id="{09A1AD9E-E6EB-CB37-9D3A-4358B55FE22D}"/>
              </a:ext>
            </a:extLst>
          </p:cNvPr>
          <p:cNvSpPr txBox="1"/>
          <p:nvPr/>
        </p:nvSpPr>
        <p:spPr>
          <a:xfrm>
            <a:off x="5562600" y="3080914"/>
            <a:ext cx="6096000" cy="369332"/>
          </a:xfrm>
          <a:prstGeom prst="rect">
            <a:avLst/>
          </a:prstGeom>
          <a:noFill/>
        </p:spPr>
        <p:txBody>
          <a:bodyPr wrap="square">
            <a:spAutoFit/>
          </a:bodyPr>
          <a:lstStyle/>
          <a:p>
            <a:r>
              <a:rPr lang="en" dirty="0"/>
              <a:t>https://</a:t>
            </a:r>
            <a:r>
              <a:rPr lang="en" dirty="0" err="1"/>
              <a:t>www.kaggle.com</a:t>
            </a:r>
            <a:r>
              <a:rPr lang="en" dirty="0"/>
              <a:t>/datasets/</a:t>
            </a:r>
            <a:r>
              <a:rPr lang="en" dirty="0" err="1"/>
              <a:t>ucsandiego</a:t>
            </a:r>
            <a:r>
              <a:rPr lang="en" dirty="0"/>
              <a:t>/carbon-dioxide</a:t>
            </a:r>
            <a:endParaRPr lang="ru-RU" dirty="0"/>
          </a:p>
        </p:txBody>
      </p:sp>
      <p:pic>
        <p:nvPicPr>
          <p:cNvPr id="8" name="Рисунок 7">
            <a:extLst>
              <a:ext uri="{FF2B5EF4-FFF2-40B4-BE49-F238E27FC236}">
                <a16:creationId xmlns:a16="http://schemas.microsoft.com/office/drawing/2014/main" id="{A537716A-DC21-6FBC-49C9-DE2564608892}"/>
              </a:ext>
            </a:extLst>
          </p:cNvPr>
          <p:cNvPicPr>
            <a:picLocks noChangeAspect="1"/>
          </p:cNvPicPr>
          <p:nvPr/>
        </p:nvPicPr>
        <p:blipFill>
          <a:blip r:embed="rId3"/>
          <a:stretch>
            <a:fillRect/>
          </a:stretch>
        </p:blipFill>
        <p:spPr>
          <a:xfrm>
            <a:off x="117240" y="1872960"/>
            <a:ext cx="5251627" cy="4186806"/>
          </a:xfrm>
          <a:prstGeom prst="rect">
            <a:avLst/>
          </a:prstGeom>
        </p:spPr>
      </p:pic>
      <p:sp>
        <p:nvSpPr>
          <p:cNvPr id="10" name="TextBox 9">
            <a:extLst>
              <a:ext uri="{FF2B5EF4-FFF2-40B4-BE49-F238E27FC236}">
                <a16:creationId xmlns:a16="http://schemas.microsoft.com/office/drawing/2014/main" id="{5DBD4975-5C78-FD5A-5332-D30496F71523}"/>
              </a:ext>
            </a:extLst>
          </p:cNvPr>
          <p:cNvSpPr txBox="1"/>
          <p:nvPr/>
        </p:nvSpPr>
        <p:spPr>
          <a:xfrm>
            <a:off x="370863" y="6059766"/>
            <a:ext cx="8828315" cy="369332"/>
          </a:xfrm>
          <a:prstGeom prst="rect">
            <a:avLst/>
          </a:prstGeom>
          <a:noFill/>
        </p:spPr>
        <p:txBody>
          <a:bodyPr wrap="square">
            <a:spAutoFit/>
          </a:bodyPr>
          <a:lstStyle/>
          <a:p>
            <a:r>
              <a:rPr lang="ru-RU" dirty="0" err="1"/>
              <a:t>https</a:t>
            </a:r>
            <a:r>
              <a:rPr lang="ru-RU" dirty="0"/>
              <a:t>://</a:t>
            </a:r>
            <a:r>
              <a:rPr lang="ru-RU" dirty="0" err="1"/>
              <a:t>www.kaggle.com</a:t>
            </a:r>
            <a:r>
              <a:rPr lang="ru-RU" dirty="0"/>
              <a:t>/</a:t>
            </a:r>
            <a:r>
              <a:rPr lang="ru-RU" dirty="0" err="1"/>
              <a:t>code</a:t>
            </a:r>
            <a:r>
              <a:rPr lang="ru-RU" dirty="0"/>
              <a:t>/</a:t>
            </a:r>
            <a:r>
              <a:rPr lang="ru-RU" dirty="0" err="1"/>
              <a:t>akhiljethwa</a:t>
            </a:r>
            <a:r>
              <a:rPr lang="ru-RU" dirty="0"/>
              <a:t>/</a:t>
            </a:r>
            <a:r>
              <a:rPr lang="ru-RU" dirty="0" err="1"/>
              <a:t>eda-on-global-energy-data</a:t>
            </a:r>
            <a:r>
              <a:rPr lang="ru-RU" dirty="0"/>
              <a:t>/</a:t>
            </a:r>
            <a:r>
              <a:rPr lang="ru-RU" dirty="0" err="1"/>
              <a:t>notebook</a:t>
            </a:r>
            <a:endParaRPr lang="ru-RU" dirty="0"/>
          </a:p>
        </p:txBody>
      </p:sp>
      <p:pic>
        <p:nvPicPr>
          <p:cNvPr id="5124" name="Picture 4">
            <a:extLst>
              <a:ext uri="{FF2B5EF4-FFF2-40B4-BE49-F238E27FC236}">
                <a16:creationId xmlns:a16="http://schemas.microsoft.com/office/drawing/2014/main" id="{B0F90CE2-1D55-617F-2695-0C6812D396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1569" y="3517150"/>
            <a:ext cx="5534362" cy="21431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CDE78A4-2324-0944-D42B-539C26D3EB7D}"/>
              </a:ext>
            </a:extLst>
          </p:cNvPr>
          <p:cNvSpPr txBox="1"/>
          <p:nvPr/>
        </p:nvSpPr>
        <p:spPr>
          <a:xfrm>
            <a:off x="4155911" y="5702862"/>
            <a:ext cx="8036089" cy="369332"/>
          </a:xfrm>
          <a:prstGeom prst="rect">
            <a:avLst/>
          </a:prstGeom>
          <a:noFill/>
        </p:spPr>
        <p:txBody>
          <a:bodyPr wrap="square">
            <a:spAutoFit/>
          </a:bodyPr>
          <a:lstStyle/>
          <a:p>
            <a:r>
              <a:rPr lang="ru-RU" dirty="0" err="1"/>
              <a:t>https</a:t>
            </a:r>
            <a:r>
              <a:rPr lang="ru-RU" dirty="0"/>
              <a:t>://</a:t>
            </a:r>
            <a:r>
              <a:rPr lang="ru-RU" dirty="0" err="1"/>
              <a:t>www.kaggle.com</a:t>
            </a:r>
            <a:r>
              <a:rPr lang="ru-RU" dirty="0"/>
              <a:t>/</a:t>
            </a:r>
            <a:r>
              <a:rPr lang="ru-RU" dirty="0" err="1"/>
              <a:t>code</a:t>
            </a:r>
            <a:r>
              <a:rPr lang="ru-RU" dirty="0"/>
              <a:t>/</a:t>
            </a:r>
            <a:r>
              <a:rPr lang="ru-RU" dirty="0" err="1"/>
              <a:t>yasinsametkaraca</a:t>
            </a:r>
            <a:r>
              <a:rPr lang="ru-RU" dirty="0"/>
              <a:t>/</a:t>
            </a:r>
            <a:r>
              <a:rPr lang="ru-RU" dirty="0" err="1"/>
              <a:t>time-series-forecasting-xgboost</a:t>
            </a:r>
            <a:endParaRPr lang="ru-RU" dirty="0"/>
          </a:p>
        </p:txBody>
      </p:sp>
      <p:sp>
        <p:nvSpPr>
          <p:cNvPr id="13" name="Заголовок 1">
            <a:extLst>
              <a:ext uri="{FF2B5EF4-FFF2-40B4-BE49-F238E27FC236}">
                <a16:creationId xmlns:a16="http://schemas.microsoft.com/office/drawing/2014/main" id="{C8BA1F3E-CEB0-CC7C-D712-4E57B92A1BAD}"/>
              </a:ext>
            </a:extLst>
          </p:cNvPr>
          <p:cNvSpPr txBox="1">
            <a:spLocks/>
          </p:cNvSpPr>
          <p:nvPr/>
        </p:nvSpPr>
        <p:spPr>
          <a:xfrm>
            <a:off x="4871544" y="528635"/>
            <a:ext cx="5257801" cy="440043"/>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b="1" dirty="0"/>
              <a:t>Эконометрические показатели</a:t>
            </a:r>
            <a:endParaRPr lang="ru-RU" dirty="0"/>
          </a:p>
        </p:txBody>
      </p:sp>
    </p:spTree>
    <p:extLst>
      <p:ext uri="{BB962C8B-B14F-4D97-AF65-F5344CB8AC3E}">
        <p14:creationId xmlns:p14="http://schemas.microsoft.com/office/powerpoint/2010/main" val="1573176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24000" y="81185"/>
            <a:ext cx="9144000" cy="1319344"/>
          </a:xfrm>
        </p:spPr>
        <p:txBody>
          <a:bodyPr>
            <a:normAutofit/>
          </a:bodyPr>
          <a:lstStyle/>
          <a:p>
            <a:r>
              <a:rPr lang="ru-RU" sz="3200" b="1" dirty="0"/>
              <a:t>Примеры приложений анализа временных рядов</a:t>
            </a:r>
            <a:endParaRPr lang="ru-RU" sz="3200" dirty="0"/>
          </a:p>
        </p:txBody>
      </p:sp>
      <p:sp>
        <p:nvSpPr>
          <p:cNvPr id="4" name="Номер слайда 3">
            <a:extLst>
              <a:ext uri="{FF2B5EF4-FFF2-40B4-BE49-F238E27FC236}">
                <a16:creationId xmlns:a16="http://schemas.microsoft.com/office/drawing/2014/main" id="{B71B9812-C3DD-F3D1-E3DB-C6DBDB2D7369}"/>
              </a:ext>
            </a:extLst>
          </p:cNvPr>
          <p:cNvSpPr>
            <a:spLocks noGrp="1"/>
          </p:cNvSpPr>
          <p:nvPr>
            <p:ph type="sldNum" sz="quarter" idx="12"/>
          </p:nvPr>
        </p:nvSpPr>
        <p:spPr/>
        <p:txBody>
          <a:bodyPr/>
          <a:lstStyle/>
          <a:p>
            <a:fld id="{45C3B737-A709-4ABC-AFE0-A6B067850C48}" type="slidenum">
              <a:rPr lang="en-US" smtClean="0"/>
              <a:t>10</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pic>
        <p:nvPicPr>
          <p:cNvPr id="2050" name="Picture 2">
            <a:extLst>
              <a:ext uri="{FF2B5EF4-FFF2-40B4-BE49-F238E27FC236}">
                <a16:creationId xmlns:a16="http://schemas.microsoft.com/office/drawing/2014/main" id="{F0FE80FE-BB9D-9DC1-C5CA-E7B33EE048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453" y="1063106"/>
            <a:ext cx="5271284" cy="512997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B738D70-C732-8A4B-1DFB-40475542C687}"/>
              </a:ext>
            </a:extLst>
          </p:cNvPr>
          <p:cNvSpPr txBox="1"/>
          <p:nvPr/>
        </p:nvSpPr>
        <p:spPr>
          <a:xfrm>
            <a:off x="324350" y="6130484"/>
            <a:ext cx="5260021" cy="461665"/>
          </a:xfrm>
          <a:prstGeom prst="rect">
            <a:avLst/>
          </a:prstGeom>
          <a:noFill/>
        </p:spPr>
        <p:txBody>
          <a:bodyPr wrap="square">
            <a:spAutoFit/>
          </a:bodyPr>
          <a:lstStyle/>
          <a:p>
            <a:r>
              <a:rPr lang="ru-RU" sz="1200" dirty="0" err="1"/>
              <a:t>https</a:t>
            </a:r>
            <a:r>
              <a:rPr lang="ru-RU" sz="1200" dirty="0"/>
              <a:t>://</a:t>
            </a:r>
            <a:r>
              <a:rPr lang="ru-RU" sz="1200" dirty="0" err="1"/>
              <a:t>www.kaggle.com</a:t>
            </a:r>
            <a:r>
              <a:rPr lang="ru-RU" sz="1200" dirty="0"/>
              <a:t>/</a:t>
            </a:r>
            <a:r>
              <a:rPr lang="ru-RU" sz="1200" dirty="0" err="1"/>
              <a:t>code</a:t>
            </a:r>
            <a:r>
              <a:rPr lang="ru-RU" sz="1200" dirty="0"/>
              <a:t>/eslammohamed100/</a:t>
            </a:r>
            <a:r>
              <a:rPr lang="ru-RU" sz="1200" dirty="0" err="1"/>
              <a:t>microsoft-stock-time-series-analysis</a:t>
            </a:r>
            <a:endParaRPr lang="ru-RU" sz="1200" dirty="0"/>
          </a:p>
        </p:txBody>
      </p:sp>
      <p:sp>
        <p:nvSpPr>
          <p:cNvPr id="10" name="TextBox 9">
            <a:extLst>
              <a:ext uri="{FF2B5EF4-FFF2-40B4-BE49-F238E27FC236}">
                <a16:creationId xmlns:a16="http://schemas.microsoft.com/office/drawing/2014/main" id="{5468F3ED-FD40-E891-1E96-DCAA6441C0C4}"/>
              </a:ext>
            </a:extLst>
          </p:cNvPr>
          <p:cNvSpPr txBox="1"/>
          <p:nvPr/>
        </p:nvSpPr>
        <p:spPr>
          <a:xfrm>
            <a:off x="930729" y="1147044"/>
            <a:ext cx="3891642" cy="384080"/>
          </a:xfrm>
          <a:prstGeom prst="rect">
            <a:avLst/>
          </a:prstGeom>
          <a:noFill/>
        </p:spPr>
        <p:txBody>
          <a:bodyPr wrap="square">
            <a:spAutoFit/>
          </a:bodyPr>
          <a:lstStyle/>
          <a:p>
            <a:pPr algn="l" fontAlgn="base">
              <a:lnSpc>
                <a:spcPts val="2400"/>
              </a:lnSpc>
            </a:pPr>
            <a:r>
              <a:rPr lang="en" b="1" i="0" dirty="0">
                <a:solidFill>
                  <a:srgbClr val="202124"/>
                </a:solidFill>
                <a:effectLst/>
                <a:latin typeface="Inter"/>
              </a:rPr>
              <a:t>Microsoft Stock- Time Series Analysis</a:t>
            </a:r>
          </a:p>
        </p:txBody>
      </p:sp>
      <p:pic>
        <p:nvPicPr>
          <p:cNvPr id="2052" name="Picture 4">
            <a:extLst>
              <a:ext uri="{FF2B5EF4-FFF2-40B4-BE49-F238E27FC236}">
                <a16:creationId xmlns:a16="http://schemas.microsoft.com/office/drawing/2014/main" id="{678FF871-C076-5BAC-716B-9CE0163834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2008" y="944193"/>
            <a:ext cx="5271285" cy="248711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35762B8-B744-1173-BAF3-A36591CC3312}"/>
              </a:ext>
            </a:extLst>
          </p:cNvPr>
          <p:cNvSpPr txBox="1"/>
          <p:nvPr/>
        </p:nvSpPr>
        <p:spPr>
          <a:xfrm>
            <a:off x="6426506" y="1215863"/>
            <a:ext cx="4241494" cy="369332"/>
          </a:xfrm>
          <a:prstGeom prst="rect">
            <a:avLst/>
          </a:prstGeom>
          <a:noFill/>
        </p:spPr>
        <p:txBody>
          <a:bodyPr wrap="square">
            <a:spAutoFit/>
          </a:bodyPr>
          <a:lstStyle/>
          <a:p>
            <a:r>
              <a:rPr lang="en" dirty="0">
                <a:solidFill>
                  <a:srgbClr val="BB2323"/>
                </a:solidFill>
                <a:effectLst/>
                <a:latin typeface="inherit"/>
              </a:rPr>
              <a:t>In-game currency spent (daily data)</a:t>
            </a:r>
            <a:endParaRPr lang="ru-RU" dirty="0"/>
          </a:p>
        </p:txBody>
      </p:sp>
      <p:sp>
        <p:nvSpPr>
          <p:cNvPr id="15" name="TextBox 14">
            <a:extLst>
              <a:ext uri="{FF2B5EF4-FFF2-40B4-BE49-F238E27FC236}">
                <a16:creationId xmlns:a16="http://schemas.microsoft.com/office/drawing/2014/main" id="{66E4C8F2-85B6-2D7A-A59F-FD4A05E5A22B}"/>
              </a:ext>
            </a:extLst>
          </p:cNvPr>
          <p:cNvSpPr txBox="1"/>
          <p:nvPr/>
        </p:nvSpPr>
        <p:spPr>
          <a:xfrm>
            <a:off x="5398737" y="3395201"/>
            <a:ext cx="7239000" cy="307777"/>
          </a:xfrm>
          <a:prstGeom prst="rect">
            <a:avLst/>
          </a:prstGeom>
          <a:noFill/>
        </p:spPr>
        <p:txBody>
          <a:bodyPr wrap="square">
            <a:spAutoFit/>
          </a:bodyPr>
          <a:lstStyle/>
          <a:p>
            <a:r>
              <a:rPr lang="ru-RU" sz="1400" dirty="0" err="1"/>
              <a:t>https</a:t>
            </a:r>
            <a:r>
              <a:rPr lang="ru-RU" sz="1400" dirty="0"/>
              <a:t>://</a:t>
            </a:r>
            <a:r>
              <a:rPr lang="ru-RU" sz="1400" dirty="0" err="1"/>
              <a:t>www.kaggle.com</a:t>
            </a:r>
            <a:r>
              <a:rPr lang="ru-RU" sz="1400" dirty="0"/>
              <a:t>/</a:t>
            </a:r>
            <a:r>
              <a:rPr lang="ru-RU" sz="1400" dirty="0" err="1"/>
              <a:t>code</a:t>
            </a:r>
            <a:r>
              <a:rPr lang="ru-RU" sz="1400" dirty="0"/>
              <a:t>/</a:t>
            </a:r>
            <a:r>
              <a:rPr lang="ru-RU" sz="1400" dirty="0" err="1"/>
              <a:t>kashnitsky</a:t>
            </a:r>
            <a:r>
              <a:rPr lang="ru-RU" sz="1400" dirty="0"/>
              <a:t>/topic-9-part-1-time-series-analysis-in-python</a:t>
            </a:r>
          </a:p>
        </p:txBody>
      </p:sp>
      <p:pic>
        <p:nvPicPr>
          <p:cNvPr id="20" name="Рисунок 19">
            <a:extLst>
              <a:ext uri="{FF2B5EF4-FFF2-40B4-BE49-F238E27FC236}">
                <a16:creationId xmlns:a16="http://schemas.microsoft.com/office/drawing/2014/main" id="{29C2FAFE-E52F-D4AF-ADC8-EB00476296BC}"/>
              </a:ext>
            </a:extLst>
          </p:cNvPr>
          <p:cNvPicPr>
            <a:picLocks noChangeAspect="1"/>
          </p:cNvPicPr>
          <p:nvPr/>
        </p:nvPicPr>
        <p:blipFill>
          <a:blip r:embed="rId5"/>
          <a:stretch>
            <a:fillRect/>
          </a:stretch>
        </p:blipFill>
        <p:spPr>
          <a:xfrm>
            <a:off x="6575828" y="3699390"/>
            <a:ext cx="3482572" cy="2901246"/>
          </a:xfrm>
          <a:prstGeom prst="rect">
            <a:avLst/>
          </a:prstGeom>
        </p:spPr>
      </p:pic>
      <p:sp>
        <p:nvSpPr>
          <p:cNvPr id="23" name="TextBox 22">
            <a:extLst>
              <a:ext uri="{FF2B5EF4-FFF2-40B4-BE49-F238E27FC236}">
                <a16:creationId xmlns:a16="http://schemas.microsoft.com/office/drawing/2014/main" id="{170919F9-6324-6F9C-8BC9-302F7FF0D7A8}"/>
              </a:ext>
            </a:extLst>
          </p:cNvPr>
          <p:cNvSpPr txBox="1"/>
          <p:nvPr/>
        </p:nvSpPr>
        <p:spPr>
          <a:xfrm>
            <a:off x="4279534" y="6413698"/>
            <a:ext cx="7428212" cy="307777"/>
          </a:xfrm>
          <a:prstGeom prst="rect">
            <a:avLst/>
          </a:prstGeom>
          <a:noFill/>
        </p:spPr>
        <p:txBody>
          <a:bodyPr wrap="square">
            <a:spAutoFit/>
          </a:bodyPr>
          <a:lstStyle/>
          <a:p>
            <a:r>
              <a:rPr lang="ru-RU" sz="1400" dirty="0" err="1"/>
              <a:t>https</a:t>
            </a:r>
            <a:r>
              <a:rPr lang="ru-RU" sz="1400" dirty="0"/>
              <a:t>://</a:t>
            </a:r>
            <a:r>
              <a:rPr lang="ru-RU" sz="1400" dirty="0" err="1"/>
              <a:t>www.kaggle.com</a:t>
            </a:r>
            <a:r>
              <a:rPr lang="ru-RU" sz="1400" dirty="0"/>
              <a:t>/</a:t>
            </a:r>
            <a:r>
              <a:rPr lang="ru-RU" sz="1400" dirty="0" err="1"/>
              <a:t>code</a:t>
            </a:r>
            <a:r>
              <a:rPr lang="ru-RU" sz="1400" dirty="0"/>
              <a:t>/</a:t>
            </a:r>
            <a:r>
              <a:rPr lang="ru-RU" sz="1400" dirty="0" err="1"/>
              <a:t>atulkgoyl</a:t>
            </a:r>
            <a:r>
              <a:rPr lang="ru-RU" sz="1400" dirty="0"/>
              <a:t>/</a:t>
            </a:r>
            <a:r>
              <a:rPr lang="ru-RU" sz="1400" dirty="0" err="1"/>
              <a:t>store-sales-time-series-forecasting-regression</a:t>
            </a:r>
            <a:endParaRPr lang="ru-RU" sz="1400" dirty="0"/>
          </a:p>
        </p:txBody>
      </p:sp>
    </p:spTree>
    <p:extLst>
      <p:ext uri="{BB962C8B-B14F-4D97-AF65-F5344CB8AC3E}">
        <p14:creationId xmlns:p14="http://schemas.microsoft.com/office/powerpoint/2010/main" val="482302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26327D-5961-A930-BB15-F0F13A71B102}"/>
              </a:ext>
            </a:extLst>
          </p:cNvPr>
          <p:cNvSpPr>
            <a:spLocks noGrp="1"/>
          </p:cNvSpPr>
          <p:nvPr>
            <p:ph type="title"/>
          </p:nvPr>
        </p:nvSpPr>
        <p:spPr>
          <a:xfrm>
            <a:off x="626408" y="484862"/>
            <a:ext cx="5738101" cy="852948"/>
          </a:xfrm>
        </p:spPr>
        <p:txBody>
          <a:bodyPr>
            <a:normAutofit/>
          </a:bodyPr>
          <a:lstStyle/>
          <a:p>
            <a:r>
              <a:rPr lang="ru-RU" b="1" dirty="0"/>
              <a:t>Примеры</a:t>
            </a:r>
            <a:endParaRPr lang="ru-RU" dirty="0"/>
          </a:p>
        </p:txBody>
      </p:sp>
      <p:sp>
        <p:nvSpPr>
          <p:cNvPr id="3" name="Объект 2">
            <a:extLst>
              <a:ext uri="{FF2B5EF4-FFF2-40B4-BE49-F238E27FC236}">
                <a16:creationId xmlns:a16="http://schemas.microsoft.com/office/drawing/2014/main" id="{20862C52-6499-4A2A-486C-9A5DCD8AF5FD}"/>
              </a:ext>
            </a:extLst>
          </p:cNvPr>
          <p:cNvSpPr>
            <a:spLocks noGrp="1"/>
          </p:cNvSpPr>
          <p:nvPr>
            <p:ph idx="1"/>
          </p:nvPr>
        </p:nvSpPr>
        <p:spPr>
          <a:xfrm>
            <a:off x="838200" y="1825625"/>
            <a:ext cx="1818290" cy="4351338"/>
          </a:xfrm>
        </p:spPr>
        <p:txBody>
          <a:bodyPr/>
          <a:lstStyle/>
          <a:p>
            <a:endParaRPr lang="ru-RU" dirty="0"/>
          </a:p>
        </p:txBody>
      </p:sp>
      <p:sp>
        <p:nvSpPr>
          <p:cNvPr id="4" name="Номер слайда 3">
            <a:extLst>
              <a:ext uri="{FF2B5EF4-FFF2-40B4-BE49-F238E27FC236}">
                <a16:creationId xmlns:a16="http://schemas.microsoft.com/office/drawing/2014/main" id="{F74871B7-53EE-D2D3-8995-9DE6D5DAE47B}"/>
              </a:ext>
            </a:extLst>
          </p:cNvPr>
          <p:cNvSpPr>
            <a:spLocks noGrp="1"/>
          </p:cNvSpPr>
          <p:nvPr>
            <p:ph type="sldNum" sz="quarter" idx="12"/>
          </p:nvPr>
        </p:nvSpPr>
        <p:spPr/>
        <p:txBody>
          <a:bodyPr/>
          <a:lstStyle/>
          <a:p>
            <a:fld id="{45C3B737-A709-4ABC-AFE0-A6B067850C48}" type="slidenum">
              <a:rPr lang="en-US" smtClean="0"/>
              <a:t>11</a:t>
            </a:fld>
            <a:endParaRPr lang="en-US"/>
          </a:p>
        </p:txBody>
      </p:sp>
      <p:pic>
        <p:nvPicPr>
          <p:cNvPr id="4102" name="Picture 6">
            <a:extLst>
              <a:ext uri="{FF2B5EF4-FFF2-40B4-BE49-F238E27FC236}">
                <a16:creationId xmlns:a16="http://schemas.microsoft.com/office/drawing/2014/main" id="{021E3379-966F-EFF6-710F-880204762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1533" y="689267"/>
            <a:ext cx="3604175" cy="257573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CE58BD9D-01FD-408F-5D3E-8DA3166C19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9501" y="809582"/>
            <a:ext cx="3767388" cy="253741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B951A9-E548-2987-1FF2-FFC2E7BB02DF}"/>
              </a:ext>
            </a:extLst>
          </p:cNvPr>
          <p:cNvSpPr txBox="1"/>
          <p:nvPr/>
        </p:nvSpPr>
        <p:spPr>
          <a:xfrm>
            <a:off x="4196043" y="3333095"/>
            <a:ext cx="7701730" cy="338554"/>
          </a:xfrm>
          <a:prstGeom prst="rect">
            <a:avLst/>
          </a:prstGeom>
          <a:noFill/>
        </p:spPr>
        <p:txBody>
          <a:bodyPr wrap="square">
            <a:spAutoFit/>
          </a:bodyPr>
          <a:lstStyle/>
          <a:p>
            <a:pPr algn="ctr"/>
            <a:r>
              <a:rPr lang="ru-RU" sz="1600" dirty="0" err="1"/>
              <a:t>https</a:t>
            </a:r>
            <a:r>
              <a:rPr lang="ru-RU" sz="1600" dirty="0"/>
              <a:t>://</a:t>
            </a:r>
            <a:r>
              <a:rPr lang="ru-RU" sz="1600" dirty="0" err="1"/>
              <a:t>www.kaggle.com</a:t>
            </a:r>
            <a:r>
              <a:rPr lang="ru-RU" sz="1600" dirty="0"/>
              <a:t>/</a:t>
            </a:r>
            <a:r>
              <a:rPr lang="ru-RU" sz="1600" dirty="0" err="1"/>
              <a:t>code</a:t>
            </a:r>
            <a:r>
              <a:rPr lang="ru-RU" sz="1600" dirty="0"/>
              <a:t>/jegun19/</a:t>
            </a:r>
            <a:r>
              <a:rPr lang="ru-RU" sz="1600" dirty="0" err="1"/>
              <a:t>predictive-maintenance-time-series-forecasting</a:t>
            </a:r>
            <a:endParaRPr lang="ru-RU" sz="1600" dirty="0"/>
          </a:p>
        </p:txBody>
      </p:sp>
      <p:pic>
        <p:nvPicPr>
          <p:cNvPr id="4106" name="Picture 10">
            <a:extLst>
              <a:ext uri="{FF2B5EF4-FFF2-40B4-BE49-F238E27FC236}">
                <a16:creationId xmlns:a16="http://schemas.microsoft.com/office/drawing/2014/main" id="{46A5D6CA-CABB-3F75-8643-E90D753594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45875" y="3751889"/>
            <a:ext cx="5841014" cy="290149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A9D21E6-5CA5-22F1-6A98-DA6FD3D50335}"/>
              </a:ext>
            </a:extLst>
          </p:cNvPr>
          <p:cNvSpPr txBox="1"/>
          <p:nvPr/>
        </p:nvSpPr>
        <p:spPr>
          <a:xfrm>
            <a:off x="3515710" y="6527032"/>
            <a:ext cx="8460828" cy="338554"/>
          </a:xfrm>
          <a:prstGeom prst="rect">
            <a:avLst/>
          </a:prstGeom>
          <a:noFill/>
        </p:spPr>
        <p:txBody>
          <a:bodyPr wrap="square" rtlCol="0">
            <a:spAutoFit/>
          </a:bodyPr>
          <a:lstStyle/>
          <a:p>
            <a:r>
              <a:rPr lang="en" sz="1600" dirty="0"/>
              <a:t>https://</a:t>
            </a:r>
            <a:r>
              <a:rPr lang="en" sz="1600" dirty="0" err="1"/>
              <a:t>www.kaggle.com</a:t>
            </a:r>
            <a:r>
              <a:rPr lang="en" sz="1600" dirty="0"/>
              <a:t>/code/marianadeem755/forecasting-electricity-by-hour-</a:t>
            </a:r>
            <a:r>
              <a:rPr lang="en" sz="1600" dirty="0" err="1"/>
              <a:t>rnn</a:t>
            </a:r>
            <a:r>
              <a:rPr lang="en" sz="1600" dirty="0"/>
              <a:t>-vs-</a:t>
            </a:r>
            <a:r>
              <a:rPr lang="en" sz="1600" dirty="0" err="1"/>
              <a:t>lstm</a:t>
            </a:r>
            <a:endParaRPr lang="ru-RU" sz="1600" dirty="0"/>
          </a:p>
        </p:txBody>
      </p:sp>
      <p:sp>
        <p:nvSpPr>
          <p:cNvPr id="14" name="TextBox 13">
            <a:extLst>
              <a:ext uri="{FF2B5EF4-FFF2-40B4-BE49-F238E27FC236}">
                <a16:creationId xmlns:a16="http://schemas.microsoft.com/office/drawing/2014/main" id="{15B951A9-E548-2987-1FF2-FFC2E7BB02DF}"/>
              </a:ext>
            </a:extLst>
          </p:cNvPr>
          <p:cNvSpPr txBox="1"/>
          <p:nvPr/>
        </p:nvSpPr>
        <p:spPr>
          <a:xfrm>
            <a:off x="4196042" y="177235"/>
            <a:ext cx="7701730" cy="461665"/>
          </a:xfrm>
          <a:prstGeom prst="rect">
            <a:avLst/>
          </a:prstGeom>
          <a:noFill/>
        </p:spPr>
        <p:txBody>
          <a:bodyPr wrap="square">
            <a:spAutoFit/>
          </a:bodyPr>
          <a:lstStyle/>
          <a:p>
            <a:pPr algn="ctr"/>
            <a:r>
              <a:rPr lang="ru-RU" sz="2400" dirty="0"/>
              <a:t>Анализ состояния агрегатов</a:t>
            </a:r>
          </a:p>
        </p:txBody>
      </p:sp>
      <p:sp>
        <p:nvSpPr>
          <p:cNvPr id="15" name="TextBox 14">
            <a:extLst>
              <a:ext uri="{FF2B5EF4-FFF2-40B4-BE49-F238E27FC236}">
                <a16:creationId xmlns:a16="http://schemas.microsoft.com/office/drawing/2014/main" id="{15B951A9-E548-2987-1FF2-FFC2E7BB02DF}"/>
              </a:ext>
            </a:extLst>
          </p:cNvPr>
          <p:cNvSpPr txBox="1"/>
          <p:nvPr/>
        </p:nvSpPr>
        <p:spPr>
          <a:xfrm>
            <a:off x="3264758" y="4519191"/>
            <a:ext cx="2291468" cy="830997"/>
          </a:xfrm>
          <a:prstGeom prst="rect">
            <a:avLst/>
          </a:prstGeom>
          <a:noFill/>
        </p:spPr>
        <p:txBody>
          <a:bodyPr wrap="square">
            <a:spAutoFit/>
          </a:bodyPr>
          <a:lstStyle/>
          <a:p>
            <a:pPr algn="ctr"/>
            <a:r>
              <a:rPr lang="ru-RU" sz="2400" dirty="0"/>
              <a:t>Потребление электроэнергии</a:t>
            </a:r>
          </a:p>
        </p:txBody>
      </p:sp>
    </p:spTree>
    <p:extLst>
      <p:ext uri="{BB962C8B-B14F-4D97-AF65-F5344CB8AC3E}">
        <p14:creationId xmlns:p14="http://schemas.microsoft.com/office/powerpoint/2010/main" val="1658279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26327D-5961-A930-BB15-F0F13A71B102}"/>
              </a:ext>
            </a:extLst>
          </p:cNvPr>
          <p:cNvSpPr>
            <a:spLocks noGrp="1"/>
          </p:cNvSpPr>
          <p:nvPr>
            <p:ph type="title"/>
          </p:nvPr>
        </p:nvSpPr>
        <p:spPr>
          <a:xfrm>
            <a:off x="626408" y="484862"/>
            <a:ext cx="5738101" cy="852948"/>
          </a:xfrm>
        </p:spPr>
        <p:txBody>
          <a:bodyPr>
            <a:normAutofit/>
          </a:bodyPr>
          <a:lstStyle/>
          <a:p>
            <a:r>
              <a:rPr lang="ru-RU" b="1" dirty="0"/>
              <a:t>Примеры</a:t>
            </a:r>
            <a:endParaRPr lang="ru-RU" dirty="0"/>
          </a:p>
        </p:txBody>
      </p:sp>
      <p:sp>
        <p:nvSpPr>
          <p:cNvPr id="4" name="Номер слайда 3">
            <a:extLst>
              <a:ext uri="{FF2B5EF4-FFF2-40B4-BE49-F238E27FC236}">
                <a16:creationId xmlns:a16="http://schemas.microsoft.com/office/drawing/2014/main" id="{F74871B7-53EE-D2D3-8995-9DE6D5DAE47B}"/>
              </a:ext>
            </a:extLst>
          </p:cNvPr>
          <p:cNvSpPr>
            <a:spLocks noGrp="1"/>
          </p:cNvSpPr>
          <p:nvPr>
            <p:ph type="sldNum" sz="quarter" idx="12"/>
          </p:nvPr>
        </p:nvSpPr>
        <p:spPr/>
        <p:txBody>
          <a:bodyPr/>
          <a:lstStyle/>
          <a:p>
            <a:fld id="{45C3B737-A709-4ABC-AFE0-A6B067850C48}" type="slidenum">
              <a:rPr lang="en-US" smtClean="0"/>
              <a:t>12</a:t>
            </a:fld>
            <a:endParaRPr lang="en-US"/>
          </a:p>
        </p:txBody>
      </p:sp>
      <p:pic>
        <p:nvPicPr>
          <p:cNvPr id="4098" name="Picture 2">
            <a:extLst>
              <a:ext uri="{FF2B5EF4-FFF2-40B4-BE49-F238E27FC236}">
                <a16:creationId xmlns:a16="http://schemas.microsoft.com/office/drawing/2014/main" id="{D5715FC2-9877-6BB3-A1A3-B73F7713ED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6588" y="2004933"/>
            <a:ext cx="4979734" cy="280219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9E9EACB2-D25F-007F-194C-1A1637804B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959" y="2004933"/>
            <a:ext cx="5922345" cy="289871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F647F85-34C2-9508-2668-1A2E2A0756A1}"/>
              </a:ext>
            </a:extLst>
          </p:cNvPr>
          <p:cNvSpPr txBox="1"/>
          <p:nvPr/>
        </p:nvSpPr>
        <p:spPr>
          <a:xfrm>
            <a:off x="2088932" y="5073908"/>
            <a:ext cx="8668902" cy="338554"/>
          </a:xfrm>
          <a:prstGeom prst="rect">
            <a:avLst/>
          </a:prstGeom>
          <a:noFill/>
        </p:spPr>
        <p:txBody>
          <a:bodyPr wrap="square">
            <a:spAutoFit/>
          </a:bodyPr>
          <a:lstStyle/>
          <a:p>
            <a:r>
              <a:rPr lang="ru-RU" sz="1600" dirty="0" err="1"/>
              <a:t>https</a:t>
            </a:r>
            <a:r>
              <a:rPr lang="ru-RU" sz="1600" dirty="0"/>
              <a:t>://</a:t>
            </a:r>
            <a:r>
              <a:rPr lang="ru-RU" sz="1600" dirty="0" err="1"/>
              <a:t>www.kaggle.com</a:t>
            </a:r>
            <a:r>
              <a:rPr lang="ru-RU" sz="1600" dirty="0"/>
              <a:t>/</a:t>
            </a:r>
            <a:r>
              <a:rPr lang="ru-RU" sz="1600" dirty="0" err="1"/>
              <a:t>datasets</a:t>
            </a:r>
            <a:r>
              <a:rPr lang="ru-RU" sz="1600" dirty="0"/>
              <a:t>/vinayak123tyagi/</a:t>
            </a:r>
            <a:r>
              <a:rPr lang="ru-RU" sz="1600" dirty="0" err="1"/>
              <a:t>bearing-dataset</a:t>
            </a:r>
            <a:r>
              <a:rPr lang="ru-RU" sz="1600" dirty="0"/>
              <a:t>/</a:t>
            </a:r>
            <a:r>
              <a:rPr lang="ru-RU" sz="1600" dirty="0" err="1"/>
              <a:t>code</a:t>
            </a:r>
            <a:endParaRPr lang="ru-RU" sz="1600" dirty="0"/>
          </a:p>
        </p:txBody>
      </p:sp>
      <p:sp>
        <p:nvSpPr>
          <p:cNvPr id="8" name="TextBox 7">
            <a:extLst>
              <a:ext uri="{FF2B5EF4-FFF2-40B4-BE49-F238E27FC236}">
                <a16:creationId xmlns:a16="http://schemas.microsoft.com/office/drawing/2014/main" id="{E78FE65A-3F4E-BBB6-C8ED-B386A57B1A89}"/>
              </a:ext>
            </a:extLst>
          </p:cNvPr>
          <p:cNvSpPr txBox="1"/>
          <p:nvPr/>
        </p:nvSpPr>
        <p:spPr>
          <a:xfrm>
            <a:off x="4556235" y="1719746"/>
            <a:ext cx="6320095" cy="400110"/>
          </a:xfrm>
          <a:prstGeom prst="rect">
            <a:avLst/>
          </a:prstGeom>
          <a:noFill/>
        </p:spPr>
        <p:txBody>
          <a:bodyPr wrap="square">
            <a:spAutoFit/>
          </a:bodyPr>
          <a:lstStyle/>
          <a:p>
            <a:pPr algn="l" fontAlgn="base">
              <a:lnSpc>
                <a:spcPts val="2400"/>
              </a:lnSpc>
            </a:pPr>
            <a:r>
              <a:rPr lang="en" b="1" i="0" dirty="0">
                <a:solidFill>
                  <a:srgbClr val="202124"/>
                </a:solidFill>
                <a:effectLst/>
                <a:latin typeface="Inter"/>
              </a:rPr>
              <a:t>NASA Bearing Dataset</a:t>
            </a:r>
          </a:p>
        </p:txBody>
      </p:sp>
      <p:sp>
        <p:nvSpPr>
          <p:cNvPr id="14" name="TextBox 13">
            <a:extLst>
              <a:ext uri="{FF2B5EF4-FFF2-40B4-BE49-F238E27FC236}">
                <a16:creationId xmlns:a16="http://schemas.microsoft.com/office/drawing/2014/main" id="{E78FE65A-3F4E-BBB6-C8ED-B386A57B1A89}"/>
              </a:ext>
            </a:extLst>
          </p:cNvPr>
          <p:cNvSpPr txBox="1"/>
          <p:nvPr/>
        </p:nvSpPr>
        <p:spPr>
          <a:xfrm>
            <a:off x="4909057" y="1386301"/>
            <a:ext cx="6927429" cy="400110"/>
          </a:xfrm>
          <a:prstGeom prst="rect">
            <a:avLst/>
          </a:prstGeom>
          <a:noFill/>
        </p:spPr>
        <p:txBody>
          <a:bodyPr wrap="square">
            <a:spAutoFit/>
          </a:bodyPr>
          <a:lstStyle/>
          <a:p>
            <a:pPr algn="l" fontAlgn="base">
              <a:lnSpc>
                <a:spcPts val="2400"/>
              </a:lnSpc>
            </a:pPr>
            <a:r>
              <a:rPr lang="ru-RU" b="1" i="0" dirty="0">
                <a:solidFill>
                  <a:srgbClr val="202124"/>
                </a:solidFill>
                <a:effectLst/>
                <a:latin typeface="Inter"/>
              </a:rPr>
              <a:t>Анализ нештатных ситуаций</a:t>
            </a:r>
            <a:endParaRPr lang="en" b="1" i="0" dirty="0">
              <a:solidFill>
                <a:srgbClr val="202124"/>
              </a:solidFill>
              <a:effectLst/>
              <a:latin typeface="Inter"/>
            </a:endParaRPr>
          </a:p>
        </p:txBody>
      </p:sp>
    </p:spTree>
    <p:extLst>
      <p:ext uri="{BB962C8B-B14F-4D97-AF65-F5344CB8AC3E}">
        <p14:creationId xmlns:p14="http://schemas.microsoft.com/office/powerpoint/2010/main" val="2092595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8D3AA-6B55-2453-C8F3-2B54669D829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B227295-71D9-3F8E-0259-D849AB645564}"/>
              </a:ext>
            </a:extLst>
          </p:cNvPr>
          <p:cNvSpPr>
            <a:spLocks noGrp="1"/>
          </p:cNvSpPr>
          <p:nvPr>
            <p:ph type="ctrTitle"/>
          </p:nvPr>
        </p:nvSpPr>
        <p:spPr>
          <a:xfrm>
            <a:off x="743483" y="934358"/>
            <a:ext cx="10932920" cy="3760935"/>
          </a:xfrm>
        </p:spPr>
        <p:txBody>
          <a:bodyPr>
            <a:normAutofit/>
          </a:bodyPr>
          <a:lstStyle/>
          <a:p>
            <a:r>
              <a:rPr lang="ru-RU" sz="8000" dirty="0"/>
              <a:t>Модель ВР</a:t>
            </a:r>
            <a:endParaRPr lang="en-US" sz="8000" dirty="0"/>
          </a:p>
        </p:txBody>
      </p:sp>
      <p:sp>
        <p:nvSpPr>
          <p:cNvPr id="3" name="Номер слайда 2">
            <a:extLst>
              <a:ext uri="{FF2B5EF4-FFF2-40B4-BE49-F238E27FC236}">
                <a16:creationId xmlns:a16="http://schemas.microsoft.com/office/drawing/2014/main" id="{B56F8058-297C-0037-418E-8CA059D0BE34}"/>
              </a:ext>
            </a:extLst>
          </p:cNvPr>
          <p:cNvSpPr>
            <a:spLocks noGrp="1"/>
          </p:cNvSpPr>
          <p:nvPr>
            <p:ph type="sldNum" sz="quarter" idx="12"/>
          </p:nvPr>
        </p:nvSpPr>
        <p:spPr/>
        <p:txBody>
          <a:bodyPr/>
          <a:lstStyle/>
          <a:p>
            <a:fld id="{45C3B737-A709-4ABC-AFE0-A6B067850C48}" type="slidenum">
              <a:rPr lang="en-US" smtClean="0"/>
              <a:t>13</a:t>
            </a:fld>
            <a:endParaRPr lang="en-US"/>
          </a:p>
        </p:txBody>
      </p:sp>
    </p:spTree>
    <p:extLst>
      <p:ext uri="{BB962C8B-B14F-4D97-AF65-F5344CB8AC3E}">
        <p14:creationId xmlns:p14="http://schemas.microsoft.com/office/powerpoint/2010/main" val="1453482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97971" y="914401"/>
                <a:ext cx="11386458" cy="5807074"/>
              </a:xfrm>
            </p:spPr>
            <p:txBody>
              <a:bodyPr>
                <a:normAutofit/>
              </a:bodyPr>
              <a:lstStyle/>
              <a:p>
                <a:r>
                  <a:rPr lang="ru-RU" sz="2400" b="1" dirty="0"/>
                  <a:t>Модель временного ряда</a:t>
                </a:r>
                <a:r>
                  <a:rPr lang="ru-RU" sz="2400" dirty="0"/>
                  <a:t> </a:t>
                </a:r>
                <a14:m>
                  <m:oMath xmlns:m="http://schemas.openxmlformats.org/officeDocument/2006/math">
                    <m:r>
                      <a:rPr lang="en-US" sz="2400" i="1">
                        <a:latin typeface="Cambria Math" panose="02040503050406030204" pitchFamily="18" charset="0"/>
                      </a:rPr>
                      <m:t>𝑦</m:t>
                    </m:r>
                  </m:oMath>
                </a14:m>
                <a:r>
                  <a:rPr lang="en-US" sz="2400" dirty="0"/>
                  <a:t> </a:t>
                </a:r>
                <a:r>
                  <a:rPr lang="ru-RU" sz="2400" dirty="0"/>
                  <a:t>- это формализованная зависимость совместного распределения вероятностей значений модели </a:t>
                </a:r>
                <a14:m>
                  <m:oMath xmlns:m="http://schemas.openxmlformats.org/officeDocument/2006/math">
                    <m:r>
                      <a:rPr lang="en-US" sz="2400" i="1">
                        <a:latin typeface="Cambria Math" panose="02040503050406030204" pitchFamily="18" charset="0"/>
                      </a:rPr>
                      <m:t>𝑦</m:t>
                    </m:r>
                  </m:oMath>
                </a14:m>
                <a:r>
                  <a:rPr lang="ru-RU" sz="2400" dirty="0"/>
                  <a:t> по временным шагам </a:t>
                </a:r>
                <a14:m>
                  <m:oMath xmlns:m="http://schemas.openxmlformats.org/officeDocument/2006/math">
                    <m:r>
                      <a:rPr lang="en-US" sz="2400" i="1">
                        <a:latin typeface="Cambria Math" panose="02040503050406030204" pitchFamily="18" charset="0"/>
                      </a:rPr>
                      <m:t>𝑛</m:t>
                    </m:r>
                  </m:oMath>
                </a14:m>
                <a:r>
                  <a:rPr lang="ru-RU" sz="2400" dirty="0"/>
                  <a:t>. </a:t>
                </a:r>
              </a:p>
              <a:p>
                <a:endParaRPr lang="ru-RU"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97971" y="914401"/>
                <a:ext cx="11386458" cy="5807074"/>
              </a:xfrm>
              <a:blipFill>
                <a:blip r:embed="rId2"/>
                <a:stretch>
                  <a:fillRect l="-696" t="-146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48B3CEE1-A962-8910-6AEB-486FD3DA0285}"/>
              </a:ext>
            </a:extLst>
          </p:cNvPr>
          <p:cNvSpPr>
            <a:spLocks noGrp="1"/>
          </p:cNvSpPr>
          <p:nvPr>
            <p:ph type="sldNum" sz="quarter" idx="12"/>
          </p:nvPr>
        </p:nvSpPr>
        <p:spPr/>
        <p:txBody>
          <a:bodyPr/>
          <a:lstStyle/>
          <a:p>
            <a:fld id="{45C3B737-A709-4ABC-AFE0-A6B067850C48}" type="slidenum">
              <a:rPr lang="en-US" smtClean="0"/>
              <a:t>14</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7170" name="Picture 2" descr="Seasonal decomposition of your time-series — pmdarima 2.0.4 documentation">
            <a:extLst>
              <a:ext uri="{FF2B5EF4-FFF2-40B4-BE49-F238E27FC236}">
                <a16:creationId xmlns:a16="http://schemas.microsoft.com/office/drawing/2014/main" id="{DE7A8E46-9656-E0B6-D253-50B8EF0313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19"/>
          <a:stretch>
            <a:fillRect/>
          </a:stretch>
        </p:blipFill>
        <p:spPr bwMode="auto">
          <a:xfrm>
            <a:off x="166006" y="1741290"/>
            <a:ext cx="5007429" cy="461085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The electrical equipment orders (top) and its three additive components.">
            <a:extLst>
              <a:ext uri="{FF2B5EF4-FFF2-40B4-BE49-F238E27FC236}">
                <a16:creationId xmlns:a16="http://schemas.microsoft.com/office/drawing/2014/main" id="{9B2C5190-5F42-9F10-9257-E3E62F8754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1034" y="1819183"/>
            <a:ext cx="4802188" cy="432016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2DF9B92-7B2B-4FC3-AEBE-974BAE8F6907}"/>
              </a:ext>
            </a:extLst>
          </p:cNvPr>
          <p:cNvSpPr txBox="1"/>
          <p:nvPr/>
        </p:nvSpPr>
        <p:spPr>
          <a:xfrm>
            <a:off x="5475514" y="6151211"/>
            <a:ext cx="4955358" cy="369332"/>
          </a:xfrm>
          <a:prstGeom prst="rect">
            <a:avLst/>
          </a:prstGeom>
          <a:noFill/>
        </p:spPr>
        <p:txBody>
          <a:bodyPr wrap="square">
            <a:spAutoFit/>
          </a:bodyPr>
          <a:lstStyle/>
          <a:p>
            <a:r>
              <a:rPr lang="ru-RU" dirty="0" err="1"/>
              <a:t>https</a:t>
            </a:r>
            <a:r>
              <a:rPr lang="ru-RU" dirty="0"/>
              <a:t>://</a:t>
            </a:r>
            <a:r>
              <a:rPr lang="ru-RU" dirty="0" err="1"/>
              <a:t>otexts.com</a:t>
            </a:r>
            <a:r>
              <a:rPr lang="ru-RU" dirty="0"/>
              <a:t>/fpp2/</a:t>
            </a:r>
            <a:r>
              <a:rPr lang="ru-RU" dirty="0" err="1"/>
              <a:t>components.html</a:t>
            </a:r>
            <a:endParaRPr lang="ru-RU" dirty="0"/>
          </a:p>
        </p:txBody>
      </p:sp>
      <p:sp>
        <p:nvSpPr>
          <p:cNvPr id="12" name="TextBox 11">
            <a:extLst>
              <a:ext uri="{FF2B5EF4-FFF2-40B4-BE49-F238E27FC236}">
                <a16:creationId xmlns:a16="http://schemas.microsoft.com/office/drawing/2014/main" id="{5084A1D0-4555-97F9-61AA-E2380116A9C4}"/>
              </a:ext>
            </a:extLst>
          </p:cNvPr>
          <p:cNvSpPr txBox="1"/>
          <p:nvPr/>
        </p:nvSpPr>
        <p:spPr>
          <a:xfrm>
            <a:off x="5105400" y="6506179"/>
            <a:ext cx="6858000" cy="369332"/>
          </a:xfrm>
          <a:prstGeom prst="rect">
            <a:avLst/>
          </a:prstGeom>
          <a:noFill/>
        </p:spPr>
        <p:txBody>
          <a:bodyPr wrap="square">
            <a:spAutoFit/>
          </a:bodyPr>
          <a:lstStyle/>
          <a:p>
            <a:r>
              <a:rPr lang="ru-RU" dirty="0" err="1"/>
              <a:t>https</a:t>
            </a:r>
            <a:r>
              <a:rPr lang="ru-RU" dirty="0"/>
              <a:t>://</a:t>
            </a:r>
            <a:r>
              <a:rPr lang="ru-RU" dirty="0" err="1"/>
              <a:t>sthalles.github.io</a:t>
            </a:r>
            <a:r>
              <a:rPr lang="ru-RU" dirty="0"/>
              <a:t>/</a:t>
            </a:r>
            <a:r>
              <a:rPr lang="ru-RU" dirty="0" err="1"/>
              <a:t>a-visual-guide-to-time-series-decomposition</a:t>
            </a:r>
            <a:r>
              <a:rPr lang="ru-RU" dirty="0"/>
              <a:t>/</a:t>
            </a:r>
          </a:p>
        </p:txBody>
      </p:sp>
      <p:sp>
        <p:nvSpPr>
          <p:cNvPr id="14" name="TextBox 13">
            <a:extLst>
              <a:ext uri="{FF2B5EF4-FFF2-40B4-BE49-F238E27FC236}">
                <a16:creationId xmlns:a16="http://schemas.microsoft.com/office/drawing/2014/main" id="{4ABAA9D3-5D43-30C2-7329-C9933D59EDCE}"/>
              </a:ext>
            </a:extLst>
          </p:cNvPr>
          <p:cNvSpPr txBox="1"/>
          <p:nvPr/>
        </p:nvSpPr>
        <p:spPr>
          <a:xfrm>
            <a:off x="179613" y="6172251"/>
            <a:ext cx="4691743" cy="646331"/>
          </a:xfrm>
          <a:prstGeom prst="rect">
            <a:avLst/>
          </a:prstGeom>
          <a:noFill/>
        </p:spPr>
        <p:txBody>
          <a:bodyPr wrap="square">
            <a:spAutoFit/>
          </a:bodyPr>
          <a:lstStyle/>
          <a:p>
            <a:r>
              <a:rPr lang="ru-RU" sz="1200" dirty="0" err="1"/>
              <a:t>https</a:t>
            </a:r>
            <a:r>
              <a:rPr lang="ru-RU" sz="1200" dirty="0"/>
              <a:t>://</a:t>
            </a:r>
            <a:r>
              <a:rPr lang="ru-RU" sz="1200" dirty="0" err="1"/>
              <a:t>alkaline-ml.com</a:t>
            </a:r>
            <a:r>
              <a:rPr lang="ru-RU" sz="1200" dirty="0"/>
              <a:t>/</a:t>
            </a:r>
            <a:r>
              <a:rPr lang="ru-RU" sz="1200" dirty="0" err="1"/>
              <a:t>pmdarima</a:t>
            </a:r>
            <a:r>
              <a:rPr lang="ru-RU" sz="1200" dirty="0"/>
              <a:t>/</a:t>
            </a:r>
            <a:r>
              <a:rPr lang="ru-RU" sz="1200" dirty="0" err="1"/>
              <a:t>auto_examples</a:t>
            </a:r>
            <a:r>
              <a:rPr lang="ru-RU" sz="1200" dirty="0"/>
              <a:t>/</a:t>
            </a:r>
            <a:r>
              <a:rPr lang="ru-RU" sz="1200" dirty="0" err="1"/>
              <a:t>arima</a:t>
            </a:r>
            <a:r>
              <a:rPr lang="ru-RU" sz="1200" dirty="0"/>
              <a:t>/</a:t>
            </a:r>
            <a:r>
              <a:rPr lang="ru-RU" sz="1200" dirty="0" err="1"/>
              <a:t>example_seasonal_decomposition.html</a:t>
            </a:r>
            <a:endParaRPr lang="ru-RU" sz="1200" dirty="0"/>
          </a:p>
        </p:txBody>
      </p:sp>
    </p:spTree>
    <p:extLst>
      <p:ext uri="{BB962C8B-B14F-4D97-AF65-F5344CB8AC3E}">
        <p14:creationId xmlns:p14="http://schemas.microsoft.com/office/powerpoint/2010/main" val="3963895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213988" y="2314354"/>
            <a:ext cx="4072008" cy="1146856"/>
          </a:xfrm>
        </p:spPr>
        <p:txBody>
          <a:bodyPr>
            <a:normAutofit/>
          </a:bodyPr>
          <a:lstStyle/>
          <a:p>
            <a:pPr marL="0" lvl="1" indent="0">
              <a:buNone/>
            </a:pPr>
            <a:r>
              <a:rPr lang="ru-RU" sz="2100" b="1" dirty="0"/>
              <a:t>Тренд</a:t>
            </a:r>
            <a:r>
              <a:rPr lang="ru-RU" sz="2100" dirty="0"/>
              <a:t> - медленно меняющаяся часть зависимости временного ряда.</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15</a:t>
            </a:fld>
            <a:endParaRPr lang="en-US"/>
          </a:p>
        </p:txBody>
      </p:sp>
      <p:sp>
        <p:nvSpPr>
          <p:cNvPr id="5" name="Rectangle 231">
            <a:extLst>
              <a:ext uri="{FF2B5EF4-FFF2-40B4-BE49-F238E27FC236}">
                <a16:creationId xmlns:a16="http://schemas.microsoft.com/office/drawing/2014/main" id="{F7CC2846-5CEF-F298-0972-0D87F72FD6C3}"/>
              </a:ext>
            </a:extLst>
          </p:cNvPr>
          <p:cNvSpPr>
            <a:spLocks noChangeArrowheads="1"/>
          </p:cNvSpPr>
          <p:nvPr/>
        </p:nvSpPr>
        <p:spPr bwMode="auto">
          <a:xfrm>
            <a:off x="6186806" y="4559595"/>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62650" y="3358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115050" y="35112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4836"/>
          <a:stretch/>
        </p:blipFill>
        <p:spPr bwMode="auto">
          <a:xfrm>
            <a:off x="1990725" y="899529"/>
            <a:ext cx="9001125" cy="128818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129148" y="5153917"/>
            <a:ext cx="4235857" cy="1384995"/>
          </a:xfrm>
          <a:prstGeom prst="rect">
            <a:avLst/>
          </a:prstGeom>
          <a:noFill/>
        </p:spPr>
        <p:txBody>
          <a:bodyPr wrap="square">
            <a:spAutoFit/>
          </a:bodyPr>
          <a:lstStyle/>
          <a:p>
            <a:pPr marL="87313" lvl="1"/>
            <a:r>
              <a:rPr lang="ru-RU" sz="2100" b="1" dirty="0"/>
              <a:t>Остаточная часть -  </a:t>
            </a:r>
            <a:r>
              <a:rPr lang="ru-RU" sz="2100" dirty="0"/>
              <a:t>неформализованная моделью часть ВР. В </a:t>
            </a:r>
            <a:r>
              <a:rPr lang="ru-RU" sz="2100" dirty="0" err="1"/>
              <a:t>иделае</a:t>
            </a:r>
            <a:r>
              <a:rPr lang="ru-RU" sz="2100" dirty="0"/>
              <a:t> случайная и неинформативная (шум). </a:t>
            </a:r>
          </a:p>
        </p:txBody>
      </p:sp>
      <p:sp>
        <p:nvSpPr>
          <p:cNvPr id="13" name="Объект 2">
            <a:extLst>
              <a:ext uri="{FF2B5EF4-FFF2-40B4-BE49-F238E27FC236}">
                <a16:creationId xmlns:a16="http://schemas.microsoft.com/office/drawing/2014/main" id="{58BAE69D-36D8-D04E-E425-5890F7443BA6}"/>
              </a:ext>
            </a:extLst>
          </p:cNvPr>
          <p:cNvSpPr txBox="1">
            <a:spLocks/>
          </p:cNvSpPr>
          <p:nvPr/>
        </p:nvSpPr>
        <p:spPr>
          <a:xfrm>
            <a:off x="170254" y="3188322"/>
            <a:ext cx="4074636" cy="21080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Arial" panose="020B0604020202020204" pitchFamily="34" charset="0"/>
              <a:buNone/>
            </a:pPr>
            <a:r>
              <a:rPr lang="ru-RU" sz="2100" b="1" dirty="0"/>
              <a:t>Сезонность</a:t>
            </a:r>
            <a:r>
              <a:rPr lang="ru-RU" sz="2100" dirty="0"/>
              <a:t> - некоторые «относительно быстро и регулярно меняющиеся» периодические составляющие, как правило тут речь идет о регулярном периоде.</a:t>
            </a:r>
          </a:p>
        </p:txBody>
      </p:sp>
      <p:pic>
        <p:nvPicPr>
          <p:cNvPr id="14"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5" t="24649" r="605" b="49953"/>
          <a:stretch/>
        </p:blipFill>
        <p:spPr bwMode="auto">
          <a:xfrm>
            <a:off x="3935976" y="2357321"/>
            <a:ext cx="7988222" cy="115388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3" t="50007" r="403" b="24595"/>
          <a:stretch/>
        </p:blipFill>
        <p:spPr bwMode="auto">
          <a:xfrm>
            <a:off x="4012980" y="3757371"/>
            <a:ext cx="7911217" cy="114276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7" t="74479" r="907" b="123"/>
          <a:stretch/>
        </p:blipFill>
        <p:spPr bwMode="auto">
          <a:xfrm>
            <a:off x="4012980" y="5296323"/>
            <a:ext cx="7815967" cy="1129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7986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068636" y="197786"/>
            <a:ext cx="9477263" cy="880808"/>
          </a:xfrm>
        </p:spPr>
        <p:txBody>
          <a:bodyPr>
            <a:normAutofit fontScale="90000"/>
          </a:bodyPr>
          <a:lstStyle/>
          <a:p>
            <a:pPr algn="ctr"/>
            <a:r>
              <a:rPr lang="ru-RU" b="1" dirty="0"/>
              <a:t>Особенности 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120740" y="1078594"/>
            <a:ext cx="11386458" cy="5460318"/>
          </a:xfrm>
        </p:spPr>
        <p:txBody>
          <a:bodyPr>
            <a:normAutofit/>
          </a:bodyPr>
          <a:lstStyle/>
          <a:p>
            <a:pPr lvl="0"/>
            <a:r>
              <a:rPr lang="ru-RU" sz="2100" b="1" dirty="0"/>
              <a:t>Остаточная часть. В идеале необъяснимая часть – не содержащая информации, которую мы можем объяснить моделью ВР</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16</a:t>
            </a:fld>
            <a:endParaRPr lang="en-US"/>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238"/>
          <a:stretch>
            <a:fillRect/>
          </a:stretch>
        </p:blipFill>
        <p:spPr bwMode="auto">
          <a:xfrm>
            <a:off x="4184762" y="3261040"/>
            <a:ext cx="7322436" cy="111446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0" y="1660493"/>
            <a:ext cx="11760427" cy="738664"/>
          </a:xfrm>
          <a:prstGeom prst="rect">
            <a:avLst/>
          </a:prstGeom>
          <a:noFill/>
        </p:spPr>
        <p:txBody>
          <a:bodyPr wrap="square">
            <a:spAutoFit/>
          </a:bodyPr>
          <a:lstStyle/>
          <a:p>
            <a:pPr marL="628650" lvl="2" indent="-342900">
              <a:buFont typeface="Arial" panose="020B0604020202020204" pitchFamily="34" charset="0"/>
              <a:buChar char="•"/>
            </a:pPr>
            <a:r>
              <a:rPr lang="ru-RU" sz="2100" b="1" dirty="0"/>
              <a:t>шум</a:t>
            </a:r>
            <a:r>
              <a:rPr lang="ru-RU" sz="2100" dirty="0"/>
              <a:t> - это некоторое случайное (стохастическое) искажение выходных значений - нерегулярные или случайные колебания (вариации).</a:t>
            </a:r>
          </a:p>
        </p:txBody>
      </p:sp>
      <p:pic>
        <p:nvPicPr>
          <p:cNvPr id="9" name="Picture 10" descr="fisher-ld generator network">
            <a:extLst>
              <a:ext uri="{FF2B5EF4-FFF2-40B4-BE49-F238E27FC236}">
                <a16:creationId xmlns:a16="http://schemas.microsoft.com/office/drawing/2014/main" id="{094FD0F3-3C45-1831-7A8D-5AD1DF9523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3238"/>
          <a:stretch>
            <a:fillRect/>
          </a:stretch>
        </p:blipFill>
        <p:spPr bwMode="auto">
          <a:xfrm>
            <a:off x="5186743" y="2473132"/>
            <a:ext cx="6320455" cy="96196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recasting 05 00037 g002">
            <a:extLst>
              <a:ext uri="{FF2B5EF4-FFF2-40B4-BE49-F238E27FC236}">
                <a16:creationId xmlns:a16="http://schemas.microsoft.com/office/drawing/2014/main" id="{8A8EFD81-5807-BED2-93C4-70EFE43831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5256" b="4331"/>
          <a:stretch>
            <a:fillRect/>
          </a:stretch>
        </p:blipFill>
        <p:spPr bwMode="auto">
          <a:xfrm>
            <a:off x="2407669" y="4416913"/>
            <a:ext cx="9099529" cy="91593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CAD22B5-69D6-B86B-8A88-593EC56D043C}"/>
              </a:ext>
            </a:extLst>
          </p:cNvPr>
          <p:cNvSpPr txBox="1"/>
          <p:nvPr/>
        </p:nvSpPr>
        <p:spPr>
          <a:xfrm>
            <a:off x="6248400" y="6414666"/>
            <a:ext cx="4577561" cy="369332"/>
          </a:xfrm>
          <a:prstGeom prst="rect">
            <a:avLst/>
          </a:prstGeom>
          <a:noFill/>
        </p:spPr>
        <p:txBody>
          <a:bodyPr wrap="square">
            <a:spAutoFit/>
          </a:bodyPr>
          <a:lstStyle/>
          <a:p>
            <a:r>
              <a:rPr lang="ru-RU" dirty="0" err="1"/>
              <a:t>https</a:t>
            </a:r>
            <a:r>
              <a:rPr lang="ru-RU" dirty="0"/>
              <a:t>://</a:t>
            </a:r>
            <a:r>
              <a:rPr lang="ru-RU" dirty="0" err="1"/>
              <a:t>www.mdpi.com</a:t>
            </a:r>
            <a:r>
              <a:rPr lang="ru-RU" dirty="0"/>
              <a:t>/2571-9394/5/4/37</a:t>
            </a:r>
          </a:p>
        </p:txBody>
      </p:sp>
      <p:pic>
        <p:nvPicPr>
          <p:cNvPr id="2052" name="Picture 4" descr="Forecasting 05 00037 g004">
            <a:extLst>
              <a:ext uri="{FF2B5EF4-FFF2-40B4-BE49-F238E27FC236}">
                <a16:creationId xmlns:a16="http://schemas.microsoft.com/office/drawing/2014/main" id="{BA41271C-0AFA-C211-2BE4-34C7CC0477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8171" b="23521"/>
          <a:stretch>
            <a:fillRect/>
          </a:stretch>
        </p:blipFill>
        <p:spPr bwMode="auto">
          <a:xfrm>
            <a:off x="2413585" y="5391163"/>
            <a:ext cx="9093613" cy="82526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869C0B-7131-A294-EB92-B57B16945595}"/>
              </a:ext>
            </a:extLst>
          </p:cNvPr>
          <p:cNvSpPr txBox="1"/>
          <p:nvPr/>
        </p:nvSpPr>
        <p:spPr>
          <a:xfrm>
            <a:off x="-15830" y="6084647"/>
            <a:ext cx="6400801" cy="738664"/>
          </a:xfrm>
          <a:prstGeom prst="rect">
            <a:avLst/>
          </a:prstGeom>
          <a:noFill/>
        </p:spPr>
        <p:txBody>
          <a:bodyPr wrap="square">
            <a:spAutoFit/>
          </a:bodyPr>
          <a:lstStyle/>
          <a:p>
            <a:pPr marL="285750" lvl="2"/>
            <a:r>
              <a:rPr lang="ru-RU" sz="2100" b="1" dirty="0"/>
              <a:t>Остаточная часть может содержать информацию, необъясненную моделью!</a:t>
            </a:r>
            <a:endParaRPr lang="ru-RU" sz="2100" dirty="0"/>
          </a:p>
        </p:txBody>
      </p:sp>
    </p:spTree>
    <p:extLst>
      <p:ext uri="{BB962C8B-B14F-4D97-AF65-F5344CB8AC3E}">
        <p14:creationId xmlns:p14="http://schemas.microsoft.com/office/powerpoint/2010/main" val="537850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Разница цикличности и сезонности</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17</a:t>
            </a:fld>
            <a:endParaRPr lang="en-US"/>
          </a:p>
        </p:txBody>
      </p:sp>
      <p:sp>
        <p:nvSpPr>
          <p:cNvPr id="3" name="Прямоугольник 2"/>
          <p:cNvSpPr/>
          <p:nvPr/>
        </p:nvSpPr>
        <p:spPr>
          <a:xfrm>
            <a:off x="290715" y="1014068"/>
            <a:ext cx="6505574" cy="2554545"/>
          </a:xfrm>
          <a:prstGeom prst="rect">
            <a:avLst/>
          </a:prstGeom>
        </p:spPr>
        <p:txBody>
          <a:bodyPr wrap="square">
            <a:spAutoFit/>
          </a:bodyPr>
          <a:lstStyle/>
          <a:p>
            <a:r>
              <a:rPr lang="ru-RU" sz="2000" b="1" dirty="0"/>
              <a:t>Цикличный тренд </a:t>
            </a:r>
            <a:r>
              <a:rPr lang="ru-RU" sz="2000" dirty="0"/>
              <a:t>(цикличность) возникает, когда данные демонстрируют подъемы и спады, которые не имеют фиксированной частоты. </a:t>
            </a:r>
          </a:p>
          <a:p>
            <a:pPr lvl="1"/>
            <a:r>
              <a:rPr lang="ru-RU" sz="2000" dirty="0"/>
              <a:t>Например колебания обусловленные экономическими факторами (часто связаны с “деловым циклом”). Продолжительность этих колебаний обычно составляет не менее 2 лет, но период цикличность обычно неопределенный</a:t>
            </a:r>
          </a:p>
        </p:txBody>
      </p:sp>
      <p:sp>
        <p:nvSpPr>
          <p:cNvPr id="5" name="Прямоугольник 4"/>
          <p:cNvSpPr/>
          <p:nvPr/>
        </p:nvSpPr>
        <p:spPr>
          <a:xfrm>
            <a:off x="6467475" y="6266799"/>
            <a:ext cx="4469942" cy="369332"/>
          </a:xfrm>
          <a:prstGeom prst="rect">
            <a:avLst/>
          </a:prstGeom>
        </p:spPr>
        <p:txBody>
          <a:bodyPr wrap="none">
            <a:spAutoFit/>
          </a:bodyPr>
          <a:lstStyle/>
          <a:p>
            <a:r>
              <a:rPr lang="ru-RU" dirty="0"/>
              <a:t>https://robjhyndman.com/hyndsight/cyclicts/</a:t>
            </a:r>
          </a:p>
        </p:txBody>
      </p:sp>
      <p:pic>
        <p:nvPicPr>
          <p:cNvPr id="2050" name="Picture 2" descr="Four examples of time series showing different patterns."/>
          <p:cNvPicPr>
            <a:picLocks noChangeAspect="1" noChangeArrowheads="1"/>
          </p:cNvPicPr>
          <p:nvPr/>
        </p:nvPicPr>
        <p:blipFill rotWithShape="1">
          <a:blip r:embed="rId3">
            <a:extLst>
              <a:ext uri="{28A0092B-C50C-407E-A947-70E740481C1C}">
                <a14:useLocalDpi xmlns:a14="http://schemas.microsoft.com/office/drawing/2010/main" val="0"/>
              </a:ext>
            </a:extLst>
          </a:blip>
          <a:srcRect l="1" r="49280" b="49960"/>
          <a:stretch/>
        </p:blipFill>
        <p:spPr bwMode="auto">
          <a:xfrm>
            <a:off x="6631191" y="864534"/>
            <a:ext cx="5259183" cy="3204373"/>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026722" y="6359134"/>
            <a:ext cx="3992953" cy="369332"/>
          </a:xfrm>
          <a:prstGeom prst="rect">
            <a:avLst/>
          </a:prstGeom>
        </p:spPr>
        <p:txBody>
          <a:bodyPr wrap="none">
            <a:spAutoFit/>
          </a:bodyPr>
          <a:lstStyle/>
          <a:p>
            <a:r>
              <a:rPr lang="ru-RU" dirty="0"/>
              <a:t>https://otexts.com/fpp2/tspatterns.html</a:t>
            </a:r>
          </a:p>
        </p:txBody>
      </p:sp>
      <p:graphicFrame>
        <p:nvGraphicFramePr>
          <p:cNvPr id="9" name="Таблица 8"/>
          <p:cNvGraphicFramePr>
            <a:graphicFrameLocks noGrp="1"/>
          </p:cNvGraphicFramePr>
          <p:nvPr/>
        </p:nvGraphicFramePr>
        <p:xfrm>
          <a:off x="293890" y="4006257"/>
          <a:ext cx="11596484" cy="2286000"/>
        </p:xfrm>
        <a:graphic>
          <a:graphicData uri="http://schemas.openxmlformats.org/drawingml/2006/table">
            <a:tbl>
              <a:tblPr firstRow="1" bandRow="1">
                <a:tableStyleId>{5C22544A-7EE6-4342-B048-85BDC9FD1C3A}</a:tableStyleId>
              </a:tblPr>
              <a:tblGrid>
                <a:gridCol w="5798242">
                  <a:extLst>
                    <a:ext uri="{9D8B030D-6E8A-4147-A177-3AD203B41FA5}">
                      <a16:colId xmlns:a16="http://schemas.microsoft.com/office/drawing/2014/main" val="2273419602"/>
                    </a:ext>
                  </a:extLst>
                </a:gridCol>
                <a:gridCol w="5798242">
                  <a:extLst>
                    <a:ext uri="{9D8B030D-6E8A-4147-A177-3AD203B41FA5}">
                      <a16:colId xmlns:a16="http://schemas.microsoft.com/office/drawing/2014/main" val="2334267867"/>
                    </a:ext>
                  </a:extLst>
                </a:gridCol>
              </a:tblGrid>
              <a:tr h="0">
                <a:tc>
                  <a:txBody>
                    <a:bodyPr/>
                    <a:lstStyle/>
                    <a:p>
                      <a:r>
                        <a:rPr lang="ru-RU" dirty="0"/>
                        <a:t>Цикличность</a:t>
                      </a:r>
                    </a:p>
                  </a:txBody>
                  <a:tcPr/>
                </a:tc>
                <a:tc>
                  <a:txBody>
                    <a:bodyPr/>
                    <a:lstStyle/>
                    <a:p>
                      <a:r>
                        <a:rPr lang="ru-RU" dirty="0"/>
                        <a:t>Сезонность</a:t>
                      </a:r>
                    </a:p>
                  </a:txBody>
                  <a:tcPr/>
                </a:tc>
                <a:extLst>
                  <a:ext uri="{0D108BD9-81ED-4DB2-BD59-A6C34878D82A}">
                    <a16:rowId xmlns:a16="http://schemas.microsoft.com/office/drawing/2014/main" val="4253523727"/>
                  </a:ext>
                </a:extLst>
              </a:tr>
              <a:tr h="0">
                <a:tc>
                  <a:txBody>
                    <a:bodyPr/>
                    <a:lstStyle/>
                    <a:p>
                      <a:pPr marL="285750" indent="-285750">
                        <a:buFont typeface="Arial" panose="020B0604020202020204" pitchFamily="34" charset="0"/>
                        <a:buChar char="•"/>
                      </a:pPr>
                      <a:r>
                        <a:rPr lang="ru-RU" dirty="0"/>
                        <a:t>Период колебаний случайный (нерегулярный)</a:t>
                      </a:r>
                    </a:p>
                    <a:p>
                      <a:pPr marL="285750" indent="-285750">
                        <a:buFont typeface="Arial" panose="020B0604020202020204" pitchFamily="34" charset="0"/>
                        <a:buChar char="•"/>
                      </a:pPr>
                      <a:r>
                        <a:rPr lang="ru-RU" dirty="0"/>
                        <a:t>Период колебаний продолжительный</a:t>
                      </a:r>
                    </a:p>
                    <a:p>
                      <a:pPr marL="285750" indent="-285750">
                        <a:buFont typeface="Arial" panose="020B0604020202020204" pitchFamily="34" charset="0"/>
                        <a:buChar char="•"/>
                      </a:pPr>
                      <a:r>
                        <a:rPr lang="ru-RU" dirty="0"/>
                        <a:t>Интенсивность</a:t>
                      </a:r>
                      <a:r>
                        <a:rPr lang="ru-RU" baseline="0" dirty="0"/>
                        <a:t> колебаний нерегулярная</a:t>
                      </a:r>
                    </a:p>
                    <a:p>
                      <a:pPr marL="285750" indent="-285750">
                        <a:buFont typeface="Arial" panose="020B0604020202020204" pitchFamily="34" charset="0"/>
                        <a:buChar char="•"/>
                      </a:pPr>
                      <a:r>
                        <a:rPr lang="ru-RU" baseline="0" dirty="0"/>
                        <a:t>Поведение позволяет выделить тренд</a:t>
                      </a:r>
                      <a:endParaRPr lang="ru-RU" dirty="0"/>
                    </a:p>
                  </a:txBody>
                  <a:tcPr/>
                </a:tc>
                <a:tc>
                  <a:txBody>
                    <a:bodyPr/>
                    <a:lstStyle/>
                    <a:p>
                      <a:pPr marL="285750" indent="-285750">
                        <a:buFont typeface="Arial" panose="020B0604020202020204" pitchFamily="34" charset="0"/>
                        <a:buChar char="•"/>
                      </a:pPr>
                      <a:r>
                        <a:rPr lang="ru-RU" dirty="0"/>
                        <a:t>Период колебаний</a:t>
                      </a:r>
                      <a:r>
                        <a:rPr lang="ru-RU" baseline="0" dirty="0"/>
                        <a:t> постоянный или закономерный</a:t>
                      </a:r>
                    </a:p>
                    <a:p>
                      <a:pPr marL="285750" indent="-285750">
                        <a:buFont typeface="Arial" panose="020B0604020202020204" pitchFamily="34" charset="0"/>
                        <a:buChar char="•"/>
                      </a:pPr>
                      <a:r>
                        <a:rPr lang="ru-RU" baseline="0" dirty="0"/>
                        <a:t>Колебания сравнительно часты</a:t>
                      </a:r>
                    </a:p>
                    <a:p>
                      <a:pPr marL="285750" indent="-285750">
                        <a:buFont typeface="Arial" panose="020B0604020202020204" pitchFamily="34" charset="0"/>
                        <a:buChar char="•"/>
                      </a:pPr>
                      <a:r>
                        <a:rPr lang="ru-RU" baseline="0" dirty="0"/>
                        <a:t>Интенсивность регулярная и предсказуемая</a:t>
                      </a:r>
                    </a:p>
                    <a:p>
                      <a:pPr marL="285750" indent="-285750">
                        <a:buFont typeface="Arial" panose="020B0604020202020204" pitchFamily="34" charset="0"/>
                        <a:buChar char="•"/>
                      </a:pPr>
                      <a:r>
                        <a:rPr lang="ru-RU" baseline="0" dirty="0"/>
                        <a:t>Сезонность независима от тренда</a:t>
                      </a:r>
                      <a:endParaRPr lang="ru-RU" dirty="0"/>
                    </a:p>
                  </a:txBody>
                  <a:tcPr/>
                </a:tc>
                <a:extLst>
                  <a:ext uri="{0D108BD9-81ED-4DB2-BD59-A6C34878D82A}">
                    <a16:rowId xmlns:a16="http://schemas.microsoft.com/office/drawing/2014/main" val="4144287985"/>
                  </a:ext>
                </a:extLst>
              </a:tr>
              <a:tr h="0">
                <a:tc>
                  <a:txBody>
                    <a:bodyPr/>
                    <a:lstStyle/>
                    <a:p>
                      <a:pPr marL="0" indent="0">
                        <a:buFont typeface="Arial" panose="020B0604020202020204" pitchFamily="34" charset="0"/>
                        <a:buNone/>
                      </a:pPr>
                      <a:r>
                        <a:rPr lang="ru-RU" dirty="0"/>
                        <a:t>Примеры</a:t>
                      </a:r>
                    </a:p>
                  </a:txBody>
                  <a:tcPr/>
                </a:tc>
                <a:tc>
                  <a:txBody>
                    <a:bodyPr/>
                    <a:lstStyle/>
                    <a:p>
                      <a:pPr marL="285750" indent="-285750">
                        <a:buFont typeface="Arial" panose="020B0604020202020204" pitchFamily="34" charset="0"/>
                        <a:buChar char="•"/>
                      </a:pPr>
                      <a:r>
                        <a:rPr lang="ru-RU" dirty="0"/>
                        <a:t>Примеры</a:t>
                      </a:r>
                    </a:p>
                  </a:txBody>
                  <a:tcPr/>
                </a:tc>
                <a:extLst>
                  <a:ext uri="{0D108BD9-81ED-4DB2-BD59-A6C34878D82A}">
                    <a16:rowId xmlns:a16="http://schemas.microsoft.com/office/drawing/2014/main" val="1483152105"/>
                  </a:ext>
                </a:extLst>
              </a:tr>
              <a:tr h="0">
                <a:tc>
                  <a:txBody>
                    <a:bodyPr/>
                    <a:lstStyle/>
                    <a:p>
                      <a:pPr marL="0" indent="0">
                        <a:buFont typeface="Arial" panose="020B0604020202020204" pitchFamily="34" charset="0"/>
                        <a:buNone/>
                      </a:pPr>
                      <a:r>
                        <a:rPr lang="ru-RU" dirty="0"/>
                        <a:t>Многолетний</a:t>
                      </a:r>
                      <a:r>
                        <a:rPr lang="ru-RU" baseline="0" dirty="0"/>
                        <a:t> период, </a:t>
                      </a:r>
                      <a:endParaRPr lang="ru-RU" dirty="0"/>
                    </a:p>
                  </a:txBody>
                  <a:tcPr/>
                </a:tc>
                <a:tc>
                  <a:txBody>
                    <a:bodyPr/>
                    <a:lstStyle/>
                    <a:p>
                      <a:pPr marL="285750" indent="-285750">
                        <a:buFont typeface="Arial" panose="020B0604020202020204" pitchFamily="34" charset="0"/>
                        <a:buChar char="•"/>
                      </a:pPr>
                      <a:r>
                        <a:rPr lang="ru-RU" dirty="0"/>
                        <a:t>День, месяц, квартал, год</a:t>
                      </a:r>
                    </a:p>
                  </a:txBody>
                  <a:tcPr/>
                </a:tc>
                <a:extLst>
                  <a:ext uri="{0D108BD9-81ED-4DB2-BD59-A6C34878D82A}">
                    <a16:rowId xmlns:a16="http://schemas.microsoft.com/office/drawing/2014/main" val="205172833"/>
                  </a:ext>
                </a:extLst>
              </a:tr>
            </a:tbl>
          </a:graphicData>
        </a:graphic>
      </p:graphicFrame>
      <p:sp>
        <p:nvSpPr>
          <p:cNvPr id="14" name="Прямоугольник 13"/>
          <p:cNvSpPr/>
          <p:nvPr/>
        </p:nvSpPr>
        <p:spPr>
          <a:xfrm>
            <a:off x="246168" y="3631605"/>
            <a:ext cx="7582888" cy="400110"/>
          </a:xfrm>
          <a:prstGeom prst="rect">
            <a:avLst/>
          </a:prstGeom>
        </p:spPr>
        <p:txBody>
          <a:bodyPr wrap="square">
            <a:spAutoFit/>
          </a:bodyPr>
          <a:lstStyle/>
          <a:p>
            <a:r>
              <a:rPr lang="ru-RU" sz="2000" b="1" dirty="0"/>
              <a:t>В ряде случаев цикличность рассматривают отдельно от тренда</a:t>
            </a:r>
            <a:endParaRPr lang="ru-RU" sz="2000" dirty="0"/>
          </a:p>
        </p:txBody>
      </p:sp>
    </p:spTree>
    <p:extLst>
      <p:ext uri="{BB962C8B-B14F-4D97-AF65-F5344CB8AC3E}">
        <p14:creationId xmlns:p14="http://schemas.microsoft.com/office/powerpoint/2010/main" val="1559239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r>
                  <a:rPr lang="ru-RU" altLang="en-US" sz="2400" dirty="0"/>
                  <a:t>Часто  вводится аддитивная модель ВР</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trend</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latin typeface="Cambria Math" panose="02040503050406030204" pitchFamily="18" charset="0"/>
                  </a:rPr>
                  <a:t> - тренд ВР, </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r>
                      <a:rPr lang="ru-RU" altLang="en-US" sz="2000" b="0" i="0" dirty="0" smtClean="0">
                        <a:latin typeface="Cambria Math" panose="02040503050406030204" pitchFamily="18" charset="0"/>
                      </a:rPr>
                      <m:t> −сезонность ВР</m:t>
                    </m:r>
                  </m:oMath>
                </a14:m>
                <a:r>
                  <a:rPr lang="ru-RU" altLang="en-US" sz="2000" dirty="0">
                    <a:latin typeface="Cambria Math" panose="02040503050406030204" pitchFamily="18" charset="0"/>
                  </a:rPr>
                  <a:t>, </a:t>
                </a:r>
                <a14:m>
                  <m:oMath xmlns:m="http://schemas.openxmlformats.org/officeDocument/2006/math">
                    <m:r>
                      <m:rPr>
                        <m:sty m:val="p"/>
                      </m:rPr>
                      <a:rPr lang="en-US" altLang="en-US" sz="2000" i="0" dirty="0" smtClean="0">
                        <a:latin typeface="Cambria Math" panose="02040503050406030204" pitchFamily="18" charset="0"/>
                      </a:rPr>
                      <m:t>noise</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oMath>
                </a14:m>
                <a:r>
                  <a:rPr lang="en-US" altLang="en-US" sz="2000" dirty="0"/>
                  <a:t>)</a:t>
                </a:r>
                <a:r>
                  <a:rPr lang="ru-RU" altLang="en-US" sz="2000" dirty="0"/>
                  <a:t> – остаточная часть ВР</a:t>
                </a:r>
              </a:p>
              <a:p>
                <a:pPr marL="0" indent="0" eaLnBrk="0" fontAlgn="base" hangingPunct="0">
                  <a:lnSpc>
                    <a:spcPct val="100000"/>
                  </a:lnSpc>
                  <a:spcBef>
                    <a:spcPct val="0"/>
                  </a:spcBef>
                  <a:spcAft>
                    <a:spcPct val="0"/>
                  </a:spcAft>
                  <a:buNone/>
                </a:pPr>
                <a:endParaRPr lang="en-US" altLang="en-US" sz="2400" dirty="0"/>
              </a:p>
              <a:p>
                <a:pPr marL="0" indent="0" eaLnBrk="0" fontAlgn="base" hangingPunct="0">
                  <a:lnSpc>
                    <a:spcPct val="100000"/>
                  </a:lnSpc>
                  <a:spcBef>
                    <a:spcPct val="0"/>
                  </a:spcBef>
                  <a:spcAft>
                    <a:spcPct val="0"/>
                  </a:spcAft>
                  <a:buNone/>
                </a:pPr>
                <a:r>
                  <a:rPr lang="ru-RU" altLang="en-US" sz="2400" dirty="0"/>
                  <a:t>Иногда также разделяют тренд на уровень, тренд и цикличность: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m:t>
                    </m:r>
                    <m:sSub>
                      <m:sSubPr>
                        <m:ctrlPr>
                          <a:rPr lang="en-US" altLang="en-US" sz="2400" b="0" i="1" dirty="0" smtClean="0">
                            <a:latin typeface="Cambria Math" panose="02040503050406030204" pitchFamily="18" charset="0"/>
                          </a:rPr>
                        </m:ctrlPr>
                      </m:sSubPr>
                      <m:e>
                        <m:r>
                          <m:rPr>
                            <m:sty m:val="p"/>
                          </m:rPr>
                          <a:rPr lang="en-US" altLang="en-US" sz="2400" b="0" i="0" dirty="0" smtClean="0">
                            <a:latin typeface="Cambria Math" panose="02040503050406030204" pitchFamily="18" charset="0"/>
                          </a:rPr>
                          <m:t>a</m:t>
                        </m:r>
                      </m:e>
                      <m:sub>
                        <m:r>
                          <a:rPr lang="en-US" altLang="en-US" sz="2400" b="0" i="0" dirty="0" smtClean="0">
                            <a:latin typeface="Cambria Math" panose="02040503050406030204" pitchFamily="18" charset="0"/>
                          </a:rPr>
                          <m:t>0</m:t>
                        </m:r>
                      </m:sub>
                    </m:sSub>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tren</m:t>
                    </m:r>
                    <m:sSup>
                      <m:sSupPr>
                        <m:ctrlPr>
                          <a:rPr lang="en-US" altLang="en-US" sz="2400" b="0" i="1" dirty="0" smtClean="0">
                            <a:latin typeface="Cambria Math" panose="02040503050406030204" pitchFamily="18" charset="0"/>
                          </a:rPr>
                        </m:ctrlPr>
                      </m:sSupPr>
                      <m:e>
                        <m:r>
                          <m:rPr>
                            <m:sty m:val="p"/>
                          </m:rPr>
                          <a:rPr lang="en-US" altLang="en-US" sz="2400" i="0" dirty="0" smtClean="0">
                            <a:latin typeface="Cambria Math" panose="02040503050406030204" pitchFamily="18" charset="0"/>
                          </a:rPr>
                          <m:t>d</m:t>
                        </m:r>
                      </m:e>
                      <m:sup>
                        <m:r>
                          <a:rPr lang="en-US" altLang="en-US" sz="2400" b="0" i="0" dirty="0" smtClean="0">
                            <a:latin typeface="Cambria Math" panose="02040503050406030204" pitchFamily="18" charset="0"/>
                          </a:rPr>
                          <m:t>′</m:t>
                        </m:r>
                      </m:sup>
                    </m:sSup>
                    <m:d>
                      <m:dPr>
                        <m:ctrlPr>
                          <a:rPr lang="en-US" altLang="en-US" sz="2400" b="0" i="1" dirty="0" smtClean="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cyclic</m:t>
                    </m:r>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t</m:t>
                    </m:r>
                    <m:r>
                      <a:rPr lang="en-US" altLang="en-US" sz="2400" b="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постоянная составляющая, </a:t>
                </a:r>
                <a14:m>
                  <m:oMath xmlns:m="http://schemas.openxmlformats.org/officeDocument/2006/math">
                    <m:r>
                      <m:rPr>
                        <m:sty m:val="p"/>
                      </m:rPr>
                      <a:rPr lang="en-US" altLang="en-US" sz="2000" i="0" dirty="0" smtClean="0">
                        <a:latin typeface="Cambria Math" panose="02040503050406030204" pitchFamily="18" charset="0"/>
                      </a:rPr>
                      <m:t>cyclic</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r>
                      <a:rPr lang="en-US" altLang="en-US" sz="2000" i="0" dirty="0" smtClean="0">
                        <a:latin typeface="Cambria Math" panose="02040503050406030204" pitchFamily="18" charset="0"/>
                      </a:rPr>
                      <m:t>)</m:t>
                    </m:r>
                  </m:oMath>
                </a14:m>
                <a:r>
                  <a:rPr lang="ru-RU" altLang="en-US" sz="2000" dirty="0"/>
                  <a:t> – цикличность ВР, </a:t>
                </a:r>
                <a14:m>
                  <m:oMath xmlns:m="http://schemas.openxmlformats.org/officeDocument/2006/math">
                    <m:r>
                      <m:rPr>
                        <m:sty m:val="p"/>
                      </m:rPr>
                      <a:rPr lang="en-US" altLang="en-US" sz="2000" i="0" dirty="0" smtClean="0">
                        <a:latin typeface="Cambria Math" panose="02040503050406030204" pitchFamily="18" charset="0"/>
                      </a:rPr>
                      <m:t>tren</m:t>
                    </m:r>
                    <m:sSup>
                      <m:sSupPr>
                        <m:ctrlPr>
                          <a:rPr lang="en-US" altLang="en-US" sz="2000" i="1" dirty="0">
                            <a:latin typeface="Cambria Math" panose="02040503050406030204" pitchFamily="18" charset="0"/>
                          </a:rPr>
                        </m:ctrlPr>
                      </m:sSupPr>
                      <m:e>
                        <m:r>
                          <m:rPr>
                            <m:sty m:val="p"/>
                          </m:rPr>
                          <a:rPr lang="en-US" altLang="en-US" sz="2000" i="0" dirty="0" smtClean="0">
                            <a:latin typeface="Cambria Math" panose="02040503050406030204" pitchFamily="18" charset="0"/>
                          </a:rPr>
                          <m:t>d</m:t>
                        </m:r>
                      </m:e>
                      <m:sup>
                        <m:r>
                          <a:rPr lang="en-US" altLang="en-US" sz="2000" i="0" dirty="0" smtClean="0">
                            <a:latin typeface="Cambria Math" panose="02040503050406030204" pitchFamily="18" charset="0"/>
                          </a:rPr>
                          <m:t>′</m:t>
                        </m:r>
                      </m:sup>
                    </m:sSup>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t>-остальной тренд</a:t>
                </a:r>
                <a:endParaRPr lang="ru-RU" altLang="en-US" sz="2400" dirty="0"/>
              </a:p>
              <a:p>
                <a:pPr marL="0" indent="0" eaLnBrk="0" fontAlgn="base" hangingPunct="0">
                  <a:lnSpc>
                    <a:spcPct val="100000"/>
                  </a:lnSpc>
                  <a:spcBef>
                    <a:spcPct val="0"/>
                  </a:spcBef>
                  <a:spcAft>
                    <a:spcPct val="0"/>
                  </a:spcAft>
                  <a:buNone/>
                </a:pPr>
                <a:r>
                  <a:rPr lang="ru-RU" altLang="en-US" sz="2400" dirty="0"/>
                  <a:t>	</a:t>
                </a:r>
                <a:r>
                  <a:rPr lang="ru-RU" altLang="en-US" sz="2000" dirty="0"/>
                  <a:t>напр. если выделяют уровень экономики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цикличность кризисов, тренд 	экономики и 	сезонные факторы ( год, неделя и </a:t>
                </a:r>
                <a:r>
                  <a:rPr lang="ru-RU" altLang="en-US" sz="2000" dirty="0" err="1"/>
                  <a:t>тд</a:t>
                </a:r>
                <a:r>
                  <a:rPr lang="ru-RU" altLang="en-US" sz="2000" dirty="0"/>
                  <a:t>)</a:t>
                </a:r>
              </a:p>
              <a:p>
                <a:pPr marL="0" indent="0" eaLnBrk="0" fontAlgn="base" hangingPunct="0">
                  <a:lnSpc>
                    <a:spcPct val="100000"/>
                  </a:lnSpc>
                  <a:spcBef>
                    <a:spcPct val="0"/>
                  </a:spcBef>
                  <a:spcAft>
                    <a:spcPct val="0"/>
                  </a:spcAft>
                  <a:buNone/>
                </a:pPr>
                <a:endParaRPr lang="ru-RU" altLang="en-US" sz="2000" dirty="0"/>
              </a:p>
              <a:p>
                <a:pPr marL="0" indent="0" eaLnBrk="0" fontAlgn="base" hangingPunct="0">
                  <a:lnSpc>
                    <a:spcPct val="100000"/>
                  </a:lnSpc>
                  <a:spcBef>
                    <a:spcPct val="0"/>
                  </a:spcBef>
                  <a:spcAft>
                    <a:spcPct val="0"/>
                  </a:spcAft>
                  <a:buNone/>
                </a:pPr>
                <a:r>
                  <a:rPr lang="ru-RU" altLang="en-US" sz="2400" dirty="0"/>
                  <a:t>Иногда может быть рассмотрена мультипликативная модель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trend</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noise</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oMath>
                </a14:m>
                <a:r>
                  <a:rPr lang="en-US" altLang="en-US" sz="2400" dirty="0"/>
                  <a:t> </a:t>
                </a:r>
              </a:p>
              <a:p>
                <a:pPr marL="0" indent="0" eaLnBrk="0" fontAlgn="base" hangingPunct="0">
                  <a:lnSpc>
                    <a:spcPct val="100000"/>
                  </a:lnSpc>
                  <a:spcBef>
                    <a:spcPct val="0"/>
                  </a:spcBef>
                  <a:spcAft>
                    <a:spcPct val="0"/>
                  </a:spcAft>
                  <a:buNone/>
                </a:pPr>
                <a:endParaRPr lang="ru-RU" altLang="en-US" sz="22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770" t="-685"/>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18</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209550" y="6475550"/>
            <a:ext cx="4205831" cy="369332"/>
          </a:xfrm>
          <a:prstGeom prst="rect">
            <a:avLst/>
          </a:prstGeom>
        </p:spPr>
        <p:txBody>
          <a:bodyPr wrap="none">
            <a:spAutoFit/>
          </a:bodyPr>
          <a:lstStyle/>
          <a:p>
            <a:r>
              <a:rPr lang="ru-RU" dirty="0"/>
              <a:t>https://otexts.com/fpp2/components.html</a:t>
            </a:r>
          </a:p>
        </p:txBody>
      </p:sp>
    </p:spTree>
    <p:extLst>
      <p:ext uri="{BB962C8B-B14F-4D97-AF65-F5344CB8AC3E}">
        <p14:creationId xmlns:p14="http://schemas.microsoft.com/office/powerpoint/2010/main" val="2576712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1AD7-BB33-7CC2-68FB-590F16FEF6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777E61-0FF9-5C6C-5474-1D8DF336861B}"/>
              </a:ext>
            </a:extLst>
          </p:cNvPr>
          <p:cNvSpPr>
            <a:spLocks noGrp="1"/>
          </p:cNvSpPr>
          <p:nvPr>
            <p:ph type="title"/>
          </p:nvPr>
        </p:nvSpPr>
        <p:spPr>
          <a:xfrm>
            <a:off x="1723209" y="204681"/>
            <a:ext cx="9829800" cy="911225"/>
          </a:xfrm>
        </p:spPr>
        <p:txBody>
          <a:bodyPr/>
          <a:lstStyle/>
          <a:p>
            <a:r>
              <a:rPr lang="ru-RU" dirty="0">
                <a:solidFill>
                  <a:srgbClr val="333333"/>
                </a:solidFill>
                <a:latin typeface="Open Sans"/>
              </a:rPr>
              <a:t>Популярные виды тренда</a:t>
            </a:r>
            <a:endParaRPr lang="en-US"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E928F5E-9353-4EF2-99DF-539F6AAC8111}"/>
                  </a:ext>
                </a:extLst>
              </p:cNvPr>
              <p:cNvSpPr>
                <a:spLocks noGrp="1"/>
              </p:cNvSpPr>
              <p:nvPr>
                <p:ph idx="1"/>
              </p:nvPr>
            </p:nvSpPr>
            <p:spPr>
              <a:xfrm>
                <a:off x="341194" y="990601"/>
                <a:ext cx="10715426" cy="5732930"/>
              </a:xfrm>
            </p:spPr>
            <p:txBody>
              <a:bodyPr>
                <a:normAutofit/>
              </a:bodyPr>
              <a:lstStyle/>
              <a:p>
                <a:pPr>
                  <a:lnSpc>
                    <a:spcPct val="110000"/>
                  </a:lnSpc>
                </a:pPr>
                <a:r>
                  <a:rPr lang="ru-RU" sz="2000" dirty="0">
                    <a:latin typeface="Arial" panose="020B0604020202020204" pitchFamily="34" charset="0"/>
                    <a:cs typeface="Arial" panose="020B0604020202020204" pitchFamily="34" charset="0"/>
                  </a:rPr>
                  <a:t>Отсутствие тренда</a:t>
                </a:r>
                <a:r>
                  <a:rPr lang="en-US" sz="2000" dirty="0">
                    <a:latin typeface="Arial" panose="020B0604020202020204" pitchFamily="34" charset="0"/>
                    <a:cs typeface="Arial" panose="020B0604020202020204" pitchFamily="34" charset="0"/>
                  </a:rPr>
                  <a:t>.     </a:t>
                </a:r>
              </a:p>
              <a:p>
                <a:pPr>
                  <a:lnSpc>
                    <a:spcPct val="110000"/>
                  </a:lnSpc>
                </a:pPr>
                <a:r>
                  <a:rPr lang="ru-RU" sz="2000" dirty="0">
                    <a:latin typeface="Arial" panose="020B0604020202020204" pitchFamily="34" charset="0"/>
                    <a:cs typeface="Arial" panose="020B0604020202020204" pitchFamily="34" charset="0"/>
                  </a:rPr>
                  <a:t>Случайный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или</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стохастический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например случайное блуждание</a:t>
                </a:r>
                <a:r>
                  <a:rPr lang="en-US" sz="2000" dirty="0">
                    <a:latin typeface="Arial" panose="020B0604020202020204" pitchFamily="34" charset="0"/>
                    <a:cs typeface="Arial" panose="020B0604020202020204" pitchFamily="34" charset="0"/>
                  </a:rPr>
                  <a:t>).       </a:t>
                </a:r>
              </a:p>
              <a:p>
                <a:pPr>
                  <a:lnSpc>
                    <a:spcPct val="110000"/>
                  </a:lnSpc>
                </a:pPr>
                <a14:m>
                  <m:oMath xmlns:m="http://schemas.openxmlformats.org/officeDocument/2006/math">
                    <m:r>
                      <a:rPr lang="ru-RU" sz="2000" i="1" dirty="0">
                        <a:latin typeface="Cambria Math" panose="02040503050406030204" pitchFamily="18" charset="0"/>
                        <a:cs typeface="Arial" panose="020B0604020202020204" pitchFamily="34" charset="0"/>
                      </a:rPr>
                      <m:t>Л</m:t>
                    </m:r>
                    <m:r>
                      <a:rPr lang="ru-RU" sz="2000" dirty="0">
                        <a:latin typeface="Cambria Math" panose="02040503050406030204" pitchFamily="18" charset="0"/>
                        <a:cs typeface="Arial" panose="020B0604020202020204" pitchFamily="34" charset="0"/>
                      </a:rPr>
                      <m:t>инейный тренд </m:t>
                    </m:r>
                    <m:r>
                      <a:rPr lang="en-US" sz="2000"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dirty="0">
                            <a:latin typeface="Cambria Math" panose="02040503050406030204" pitchFamily="18" charset="0"/>
                            <a:cs typeface="Arial" panose="020B0604020202020204" pitchFamily="34" charset="0"/>
                          </a:rPr>
                          <m:t>𝑡</m:t>
                        </m:r>
                      </m:e>
                    </m:d>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𝑎</m:t>
                    </m:r>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𝑡</m:t>
                    </m:r>
                    <m:r>
                      <a:rPr lang="en-US" sz="2000" dirty="0">
                        <a:latin typeface="Cambria Math" panose="02040503050406030204" pitchFamily="18" charset="0"/>
                        <a:cs typeface="Arial" panose="020B0604020202020204" pitchFamily="34" charset="0"/>
                      </a:rPr>
                      <m:t> + </m:t>
                    </m:r>
                    <m:r>
                      <a:rPr lang="en-US" sz="2000" dirty="0">
                        <a:latin typeface="Cambria Math" panose="02040503050406030204" pitchFamily="18" charset="0"/>
                        <a:cs typeface="Arial" panose="020B0604020202020204" pitchFamily="34" charset="0"/>
                      </a:rPr>
                      <m:t>𝑏</m:t>
                    </m:r>
                    <m:r>
                      <a:rPr lang="en-US" sz="2000"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Экспоненциальный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i="1" dirty="0">
                            <a:latin typeface="Cambria Math" panose="02040503050406030204" pitchFamily="18" charset="0"/>
                            <a:cs typeface="Arial" panose="020B0604020202020204" pitchFamily="34" charset="0"/>
                          </a:rPr>
                          <m:t>𝑡</m:t>
                        </m:r>
                      </m:e>
                    </m:d>
                    <m:r>
                      <a:rPr lang="en-US" sz="2000" i="1" dirty="0">
                        <a:latin typeface="Cambria Math" panose="02040503050406030204" pitchFamily="18" charset="0"/>
                        <a:cs typeface="Arial" panose="020B0604020202020204" pitchFamily="34" charset="0"/>
                      </a:rPr>
                      <m:t>= </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𝑎</m:t>
                    </m:r>
                    <m:r>
                      <a:rPr lang="en-US" sz="2000" i="1" dirty="0">
                        <a:latin typeface="Cambria Math" panose="02040503050406030204" pitchFamily="18" charset="0"/>
                        <a:cs typeface="Arial" panose="020B0604020202020204" pitchFamily="34" charset="0"/>
                      </a:rPr>
                      <m:t>⋅ </m:t>
                    </m:r>
                    <m:r>
                      <a:rPr lang="en-US" sz="2000" i="1" dirty="0" err="1">
                        <a:latin typeface="Cambria Math" panose="02040503050406030204" pitchFamily="18" charset="0"/>
                        <a:cs typeface="Arial" panose="020B0604020202020204" pitchFamily="34" charset="0"/>
                      </a:rPr>
                      <m:t>𝑡</m:t>
                    </m:r>
                    <m:r>
                      <a:rPr lang="en-US" sz="2000" i="1" dirty="0" err="1">
                        <a:latin typeface="Cambria Math" panose="02040503050406030204" pitchFamily="18" charset="0"/>
                        <a:cs typeface="Arial" panose="020B0604020202020204" pitchFamily="34" charset="0"/>
                      </a:rPr>
                      <m:t>+</m:t>
                    </m:r>
                    <m:r>
                      <a:rPr lang="en-US" sz="2000" i="1" dirty="0" err="1">
                        <a:latin typeface="Cambria Math" panose="02040503050406030204" pitchFamily="18" charset="0"/>
                        <a:cs typeface="Arial" panose="020B0604020202020204" pitchFamily="34" charset="0"/>
                      </a:rPr>
                      <m:t>𝑏</m:t>
                    </m:r>
                    <m:r>
                      <a:rPr lang="en-US" sz="2000" i="1"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Насыщение</a:t>
                </a:r>
                <a:r>
                  <a:rPr lang="en-US" sz="2000" dirty="0">
                    <a:latin typeface="Arial" panose="020B0604020202020204" pitchFamily="34" charset="0"/>
                    <a:cs typeface="Arial" panose="020B0604020202020204" pitchFamily="34" charset="0"/>
                  </a:rPr>
                  <a:t>(</a:t>
                </a:r>
                <a:r>
                  <a:rPr lang="ru-RU" sz="2000" dirty="0">
                    <a:latin typeface="Arial" panose="020B0604020202020204" pitchFamily="34" charset="0"/>
                    <a:cs typeface="Arial" panose="020B0604020202020204" pitchFamily="34" charset="0"/>
                  </a:rPr>
                  <a:t>логистический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 =</m:t>
                    </m:r>
                    <m:f>
                      <m:fPr>
                        <m:ctrlPr>
                          <a:rPr lang="en-US" sz="2000" i="1" dirty="0">
                            <a:latin typeface="Cambria Math" panose="02040503050406030204" pitchFamily="18" charset="0"/>
                            <a:cs typeface="Arial" panose="020B0604020202020204" pitchFamily="34" charset="0"/>
                          </a:rPr>
                        </m:ctrlPr>
                      </m:fPr>
                      <m:num>
                        <m:r>
                          <a:rPr lang="en-US" sz="2000" i="1" dirty="0">
                            <a:latin typeface="Cambria Math" panose="02040503050406030204" pitchFamily="18" charset="0"/>
                            <a:cs typeface="Arial" panose="020B0604020202020204" pitchFamily="34" charset="0"/>
                          </a:rPr>
                          <m:t>𝑐</m:t>
                        </m:r>
                      </m:num>
                      <m:den>
                        <m:r>
                          <a:rPr lang="en-US" sz="2000" i="1" dirty="0">
                            <a:latin typeface="Cambria Math" panose="02040503050406030204" pitchFamily="18" charset="0"/>
                            <a:cs typeface="Arial" panose="020B0604020202020204" pitchFamily="34" charset="0"/>
                          </a:rPr>
                          <m:t>1+</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𝑘</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𝑚</m:t>
                        </m:r>
                        <m:r>
                          <a:rPr lang="en-US" sz="2000" i="1" dirty="0">
                            <a:latin typeface="Cambria Math" panose="02040503050406030204" pitchFamily="18" charset="0"/>
                            <a:cs typeface="Arial" panose="020B0604020202020204" pitchFamily="34" charset="0"/>
                          </a:rPr>
                          <m:t>))</m:t>
                        </m:r>
                      </m:den>
                    </m:f>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Модель огибающей </a:t>
                </a:r>
                <a:r>
                  <a:rPr lang="en-US" sz="2000" dirty="0">
                    <a:latin typeface="Arial" panose="020B0604020202020204" pitchFamily="34" charset="0"/>
                    <a:cs typeface="Arial" panose="020B0604020202020204" pitchFamily="34" charset="0"/>
                  </a:rPr>
                  <a:t>(envelope) – </a:t>
                </a:r>
                <a:r>
                  <a:rPr lang="ru-RU" sz="2000" dirty="0">
                    <a:latin typeface="Arial" panose="020B0604020202020204" pitchFamily="34" charset="0"/>
                    <a:cs typeface="Arial" panose="020B0604020202020204" pitchFamily="34" charset="0"/>
                  </a:rPr>
                  <a:t>медленный циклический процесс</a:t>
                </a:r>
                <a:endParaRPr lang="en-US" sz="2000" dirty="0">
                  <a:latin typeface="Arial" panose="020B06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E928F5E-9353-4EF2-99DF-539F6AAC8111}"/>
                  </a:ext>
                </a:extLst>
              </p:cNvPr>
              <p:cNvSpPr>
                <a:spLocks noGrp="1" noRot="1" noChangeAspect="1" noMove="1" noResize="1" noEditPoints="1" noAdjustHandles="1" noChangeArrowheads="1" noChangeShapeType="1" noTextEdit="1"/>
              </p:cNvSpPr>
              <p:nvPr>
                <p:ph idx="1"/>
              </p:nvPr>
            </p:nvSpPr>
            <p:spPr>
              <a:xfrm>
                <a:off x="341194" y="990601"/>
                <a:ext cx="10715426" cy="5732930"/>
              </a:xfrm>
              <a:blipFill>
                <a:blip r:embed="rId2"/>
                <a:stretch>
                  <a:fillRect l="-355" t="-442"/>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6D2D414B-DC90-4E2C-F7A1-99473ECCCC65}"/>
              </a:ext>
            </a:extLst>
          </p:cNvPr>
          <p:cNvSpPr>
            <a:spLocks noGrp="1"/>
          </p:cNvSpPr>
          <p:nvPr>
            <p:ph type="sldNum" sz="quarter" idx="12"/>
          </p:nvPr>
        </p:nvSpPr>
        <p:spPr/>
        <p:txBody>
          <a:bodyPr/>
          <a:lstStyle/>
          <a:p>
            <a:fld id="{45C3B737-A709-4ABC-AFE0-A6B067850C48}" type="slidenum">
              <a:rPr lang="en-US" smtClean="0"/>
              <a:t>19</a:t>
            </a:fld>
            <a:endParaRPr lang="en-US"/>
          </a:p>
        </p:txBody>
      </p:sp>
      <p:pic>
        <p:nvPicPr>
          <p:cNvPr id="1026" name="Picture 2" descr="5.4.3. Логистическое уравнение тренда">
            <a:extLst>
              <a:ext uri="{FF2B5EF4-FFF2-40B4-BE49-F238E27FC236}">
                <a16:creationId xmlns:a16="http://schemas.microsoft.com/office/drawing/2014/main" id="{E9A1594A-EA25-AB98-CBA2-0E4FD630E763}"/>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24533" y="4076808"/>
            <a:ext cx="5971467" cy="22774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ving Average Envelopes: Learn How Clever Traders Use Them - Commodity.com">
            <a:extLst>
              <a:ext uri="{FF2B5EF4-FFF2-40B4-BE49-F238E27FC236}">
                <a16:creationId xmlns:a16="http://schemas.microsoft.com/office/drawing/2014/main" id="{95B8019D-07C7-24CA-E023-876053030A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2968" y="3918712"/>
            <a:ext cx="4164103" cy="2802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394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381000" y="-34869"/>
            <a:ext cx="11344275" cy="1325563"/>
          </a:xfrm>
        </p:spPr>
        <p:txBody>
          <a:bodyPr/>
          <a:lstStyle/>
          <a:p>
            <a:r>
              <a:rPr lang="ru-RU" b="1" dirty="0"/>
              <a:t>Модели временных рядов. Случайный тренд</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20</a:t>
            </a:fld>
            <a:endParaRPr lang="en-US"/>
          </a:p>
        </p:txBody>
      </p:sp>
      <p:pic>
        <p:nvPicPr>
          <p:cNvPr id="9222" name="Picture 6" descr="Random Walk Model">
            <a:extLst>
              <a:ext uri="{FF2B5EF4-FFF2-40B4-BE49-F238E27FC236}">
                <a16:creationId xmlns:a16="http://schemas.microsoft.com/office/drawing/2014/main" id="{920890C2-9E02-A843-DB04-2D84A50E8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2284" y="2687052"/>
            <a:ext cx="7076631" cy="313004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15B885D-9506-4C0D-A25E-CFF9E20AF593}"/>
              </a:ext>
            </a:extLst>
          </p:cNvPr>
          <p:cNvSpPr txBox="1"/>
          <p:nvPr/>
        </p:nvSpPr>
        <p:spPr>
          <a:xfrm>
            <a:off x="6619875" y="6356350"/>
            <a:ext cx="5572125" cy="307777"/>
          </a:xfrm>
          <a:prstGeom prst="rect">
            <a:avLst/>
          </a:prstGeom>
          <a:noFill/>
        </p:spPr>
        <p:txBody>
          <a:bodyPr wrap="square">
            <a:spAutoFit/>
          </a:bodyPr>
          <a:lstStyle/>
          <a:p>
            <a:r>
              <a:rPr lang="ru-RU" sz="1400" dirty="0">
                <a:hlinkClick r:id="rId3"/>
              </a:rPr>
              <a:t>https://people.duke.edu/~rnau/411rand.ht</a:t>
            </a:r>
            <a:r>
              <a:rPr lang="en-US" sz="1400" dirty="0">
                <a:hlinkClick r:id="rId3"/>
              </a:rPr>
              <a:t>random</a:t>
            </a:r>
            <a:endParaRPr lang="ru-RU" sz="1400" dirty="0"/>
          </a:p>
        </p:txBody>
      </p:sp>
      <p:sp>
        <p:nvSpPr>
          <p:cNvPr id="3" name="Прямоугольник 2"/>
          <p:cNvSpPr/>
          <p:nvPr/>
        </p:nvSpPr>
        <p:spPr>
          <a:xfrm>
            <a:off x="381000" y="947474"/>
            <a:ext cx="11449050" cy="1938992"/>
          </a:xfrm>
          <a:prstGeom prst="rect">
            <a:avLst/>
          </a:prstGeom>
        </p:spPr>
        <p:txBody>
          <a:bodyPr wrap="square">
            <a:spAutoFit/>
          </a:bodyPr>
          <a:lstStyle/>
          <a:p>
            <a:r>
              <a:rPr lang="ru-RU" sz="2400" dirty="0"/>
              <a:t>Модели случайных блужданий широко используются для обработки нестационарных данных, в частности финансовых и экономических данных. </a:t>
            </a:r>
            <a:endParaRPr lang="en-US" sz="2400" dirty="0"/>
          </a:p>
          <a:p>
            <a:r>
              <a:rPr lang="ru-RU" sz="2400" dirty="0"/>
              <a:t>Случайные блуждания обычно имеют: </a:t>
            </a:r>
            <a:endParaRPr lang="en-US" sz="2400" dirty="0"/>
          </a:p>
          <a:p>
            <a:pPr marL="342900" indent="-342900">
              <a:buFont typeface="Arial" panose="020B0604020202020204" pitchFamily="34" charset="0"/>
              <a:buChar char="•"/>
            </a:pPr>
            <a:r>
              <a:rPr lang="ru-RU" sz="2400" dirty="0"/>
              <a:t>длительные периоды очевидных тенденций к повышению или снижению </a:t>
            </a:r>
            <a:endParaRPr lang="en-US" sz="2400" dirty="0"/>
          </a:p>
          <a:p>
            <a:pPr marL="342900" indent="-342900">
              <a:buFont typeface="Arial" panose="020B0604020202020204" pitchFamily="34" charset="0"/>
              <a:buChar char="•"/>
            </a:pPr>
            <a:r>
              <a:rPr lang="ru-RU" sz="2400" dirty="0"/>
              <a:t>внезапные и непредсказуемые изменения направления.</a:t>
            </a:r>
          </a:p>
        </p:txBody>
      </p:sp>
      <p:sp>
        <p:nvSpPr>
          <p:cNvPr id="5" name="Прямоугольник 4"/>
          <p:cNvSpPr/>
          <p:nvPr/>
        </p:nvSpPr>
        <p:spPr>
          <a:xfrm>
            <a:off x="5584958" y="5987018"/>
            <a:ext cx="4089133" cy="369332"/>
          </a:xfrm>
          <a:prstGeom prst="rect">
            <a:avLst/>
          </a:prstGeom>
        </p:spPr>
        <p:txBody>
          <a:bodyPr wrap="none">
            <a:spAutoFit/>
          </a:bodyPr>
          <a:lstStyle/>
          <a:p>
            <a:r>
              <a:rPr lang="ru-RU" dirty="0"/>
              <a:t>https://otexts.com/fpp2/stationarity.html</a:t>
            </a:r>
          </a:p>
        </p:txBody>
      </p:sp>
      <mc:AlternateContent xmlns:mc="http://schemas.openxmlformats.org/markup-compatibility/2006" xmlns:a14="http://schemas.microsoft.com/office/drawing/2010/main">
        <mc:Choice Requires="a14">
          <p:sp>
            <p:nvSpPr>
              <p:cNvPr id="6" name="Прямоугольник 5"/>
              <p:cNvSpPr/>
              <p:nvPr/>
            </p:nvSpPr>
            <p:spPr>
              <a:xfrm>
                <a:off x="381000" y="2974521"/>
                <a:ext cx="4933950" cy="2031325"/>
              </a:xfrm>
              <a:prstGeom prst="rect">
                <a:avLst/>
              </a:prstGeom>
            </p:spPr>
            <p:txBody>
              <a:bodyPr wrap="square">
                <a:spAutoFit/>
              </a:bodyPr>
              <a:lstStyle/>
              <a:p>
                <a:r>
                  <a:rPr lang="ru-RU" i="1" dirty="0">
                    <a:latin typeface="Cambria Math" panose="02040503050406030204" pitchFamily="18" charset="0"/>
                    <a:cs typeface="Arial" panose="020B0604020202020204" pitchFamily="34" charset="0"/>
                  </a:rPr>
                  <a:t>Модель ВР </a:t>
                </a:r>
                <a:r>
                  <a:rPr lang="en-US" i="1" dirty="0">
                    <a:latin typeface="Cambria Math" panose="02040503050406030204" pitchFamily="18" charset="0"/>
                    <a:cs typeface="Arial" panose="020B0604020202020204" pitchFamily="34" charset="0"/>
                  </a:rPr>
                  <a:t>random walk</a:t>
                </a:r>
                <a:endParaRPr lang="ru-RU"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Где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r>
                      <a:rPr lang="ru-RU" b="0" i="1" dirty="0" smtClean="0">
                        <a:latin typeface="Cambria Math" panose="02040503050406030204" pitchFamily="18" charset="0"/>
                        <a:cs typeface="Arial" panose="020B0604020202020204" pitchFamily="34" charset="0"/>
                      </a:rPr>
                      <m:t>,</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oMath>
                </a14:m>
                <a:r>
                  <a:rPr lang="ru-RU" dirty="0">
                    <a:latin typeface="Arial" panose="020B0604020202020204" pitchFamily="34" charset="0"/>
                    <a:cs typeface="Arial" panose="020B0604020202020204" pitchFamily="34" charset="0"/>
                  </a:rPr>
                  <a:t> - последовательные значения ВР.</a:t>
                </a:r>
              </a:p>
              <a:p>
                <a:r>
                  <a:rPr lang="ru-RU" dirty="0">
                    <a:latin typeface="Arial" panose="020B0604020202020204" pitchFamily="34" charset="0"/>
                    <a:cs typeface="Arial" panose="020B0604020202020204" pitchFamily="34" charset="0"/>
                  </a:rPr>
                  <a:t>Если</a:t>
                </a:r>
                <a:r>
                  <a:rPr lang="en-US" dirty="0">
                    <a:latin typeface="Arial" panose="020B0604020202020204" pitchFamily="34" charset="0"/>
                    <a:cs typeface="Arial" panose="020B0604020202020204" pitchFamily="34" charset="0"/>
                  </a:rPr>
                  <a:t>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имеет постоянную составляющую</a:t>
                </a:r>
                <a:r>
                  <a:rPr lang="en-US" dirty="0">
                    <a:latin typeface="Arial" panose="020B0604020202020204" pitchFamily="34" charset="0"/>
                    <a:cs typeface="Arial" panose="020B0604020202020204" pitchFamily="34" charset="0"/>
                  </a:rPr>
                  <a:t> </a:t>
                </a:r>
                <a14:m>
                  <m:oMath xmlns:m="http://schemas.openxmlformats.org/officeDocument/2006/math">
                    <m:r>
                      <a:rPr lang="en-US" i="1" dirty="0">
                        <a:latin typeface="Cambria Math" panose="02040503050406030204" pitchFamily="18" charset="0"/>
                        <a:cs typeface="Arial" panose="020B0604020202020204" pitchFamily="34" charset="0"/>
                      </a:rPr>
                      <m:t>𝜇</m:t>
                    </m:r>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то эта часть называется дрифт</a:t>
                </a:r>
                <a:r>
                  <a:rPr lang="en-US" dirty="0">
                    <a:latin typeface="Arial" panose="020B0604020202020204" pitchFamily="34" charset="0"/>
                    <a:cs typeface="Arial" panose="020B0604020202020204" pitchFamily="34" charset="0"/>
                  </a:rPr>
                  <a:t>.</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r>
                        <a:rPr lang="en-US" i="1" dirty="0">
                          <a:latin typeface="Cambria Math" panose="02040503050406030204" pitchFamily="18" charset="0"/>
                          <a:cs typeface="Arial" panose="020B0604020202020204" pitchFamily="34" charset="0"/>
                        </a:rPr>
                        <m:t>𝜇</m:t>
                      </m:r>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81000" y="2974521"/>
                <a:ext cx="4933950" cy="2031325"/>
              </a:xfrm>
              <a:prstGeom prst="rect">
                <a:avLst/>
              </a:prstGeom>
              <a:blipFill>
                <a:blip r:embed="rId4"/>
                <a:stretch>
                  <a:fillRect l="-1112" t="-2102" b="-601"/>
                </a:stretch>
              </a:blipFill>
            </p:spPr>
            <p:txBody>
              <a:bodyPr/>
              <a:lstStyle/>
              <a:p>
                <a:r>
                  <a:rPr lang="ru-RU">
                    <a:noFill/>
                  </a:rPr>
                  <a:t> </a:t>
                </a:r>
              </a:p>
            </p:txBody>
          </p:sp>
        </mc:Fallback>
      </mc:AlternateContent>
    </p:spTree>
    <p:extLst>
      <p:ext uri="{BB962C8B-B14F-4D97-AF65-F5344CB8AC3E}">
        <p14:creationId xmlns:p14="http://schemas.microsoft.com/office/powerpoint/2010/main" val="1433316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endParaRPr lang="ru-RU" altLang="en-US" sz="2200" i="1" dirty="0"/>
              </a:p>
              <a:p>
                <a:pPr marL="0" indent="0" eaLnBrk="0" fontAlgn="base" hangingPunct="0">
                  <a:lnSpc>
                    <a:spcPct val="100000"/>
                  </a:lnSpc>
                  <a:spcBef>
                    <a:spcPct val="0"/>
                  </a:spcBef>
                  <a:spcAft>
                    <a:spcPct val="0"/>
                  </a:spcAft>
                  <a:buNone/>
                </a:pPr>
                <a:r>
                  <a:rPr lang="ru-RU" altLang="en-US" sz="2200" i="1" dirty="0"/>
                  <a:t>Модель может описываться более чем одной линейно-независимой составляющей каждой компоненты</a:t>
                </a:r>
              </a:p>
              <a:p>
                <a:pPr marL="0" indent="0" algn="ctr"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m:rPr>
                          <m:sty m:val="p"/>
                        </m:rPr>
                        <a:rPr lang="en-US" altLang="en-US" sz="2400" i="1" dirty="0">
                          <a:latin typeface="Cambria Math" panose="02040503050406030204" pitchFamily="18" charset="0"/>
                        </a:rPr>
                        <m:t>y</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 = </m:t>
                      </m:r>
                      <m:r>
                        <a:rPr lang="en-US" altLang="en-US" sz="2400" i="1" dirty="0">
                          <a:latin typeface="Cambria Math" panose="02040503050406030204" pitchFamily="18" charset="0"/>
                        </a:rPr>
                        <m:t>𝑡𝑟𝑒𝑛</m:t>
                      </m:r>
                      <m:sSub>
                        <m:sSubPr>
                          <m:ctrlPr>
                            <a:rPr lang="en-US" altLang="en-US" sz="2400" b="0" i="1" dirty="0" smtClean="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1</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r>
                        <a:rPr lang="en-US" altLang="en-US" sz="2400" i="1" dirty="0">
                          <a:latin typeface="Cambria Math" panose="02040503050406030204" pitchFamily="18" charset="0"/>
                        </a:rPr>
                        <m:t>𝑡𝑟𝑒𝑛</m:t>
                      </m:r>
                      <m:sSub>
                        <m:sSubPr>
                          <m:ctrlPr>
                            <a:rPr lang="en-US" altLang="en-US" sz="2400" i="1" dirty="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2</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nary>
                        <m:naryPr>
                          <m:chr m:val="∑"/>
                          <m:ctrlPr>
                            <a:rPr lang="en-US" altLang="en-US" sz="2400" i="1" dirty="0">
                              <a:latin typeface="Cambria Math" panose="02040503050406030204" pitchFamily="18" charset="0"/>
                            </a:rPr>
                          </m:ctrlPr>
                        </m:naryPr>
                        <m:sub>
                          <m:r>
                            <a:rPr lang="en-US" altLang="en-US" sz="2400" i="1" dirty="0" err="1">
                              <a:latin typeface="Cambria Math" panose="02040503050406030204" pitchFamily="18" charset="0"/>
                            </a:rPr>
                            <m:t>𝑖</m:t>
                          </m:r>
                          <m:r>
                            <a:rPr lang="en-US" altLang="en-US" sz="2400" i="1" dirty="0">
                              <a:latin typeface="Cambria Math" panose="02040503050406030204" pitchFamily="18" charset="0"/>
                            </a:rPr>
                            <m:t>=0</m:t>
                          </m:r>
                        </m:sub>
                        <m:sup>
                          <m:r>
                            <a:rPr lang="en-US" altLang="en-US" sz="2400" i="1" dirty="0">
                              <a:latin typeface="Cambria Math" panose="02040503050406030204" pitchFamily="18" charset="0"/>
                            </a:rPr>
                            <m:t>𝑀</m:t>
                          </m:r>
                        </m:sup>
                        <m:e>
                          <m:r>
                            <a:rPr lang="en-US" altLang="en-US" sz="2400" i="1" dirty="0">
                              <a:latin typeface="Cambria Math" panose="02040503050406030204" pitchFamily="18" charset="0"/>
                            </a:rPr>
                            <m:t>𝑠𝑒𝑎𝑠𝑜𝑛𝑎𝑙</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e>
                      </m:nary>
                      <m:r>
                        <a:rPr lang="en-US" altLang="en-US" sz="2400" i="1" dirty="0">
                          <a:latin typeface="Cambria Math" panose="02040503050406030204" pitchFamily="18" charset="0"/>
                        </a:rPr>
                        <m:t> + </m:t>
                      </m:r>
                      <m:r>
                        <a:rPr lang="en-US" altLang="en-US" sz="2400" i="1" dirty="0">
                          <a:latin typeface="Cambria Math" panose="02040503050406030204" pitchFamily="18" charset="0"/>
                        </a:rPr>
                        <m:t>𝑛𝑜𝑖𝑠𝑒</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oMath>
                  </m:oMathPara>
                </a14:m>
                <a:endParaRPr lang="ru-RU" altLang="en-US" sz="2000" dirty="0">
                  <a:latin typeface="Open Sans"/>
                </a:endParaRPr>
              </a:p>
              <a:p>
                <a:pPr marL="0" indent="0" eaLnBrk="0" fontAlgn="base" hangingPunct="0">
                  <a:lnSpc>
                    <a:spcPct val="100000"/>
                  </a:lnSpc>
                  <a:spcBef>
                    <a:spcPct val="0"/>
                  </a:spcBef>
                  <a:spcAft>
                    <a:spcPct val="0"/>
                  </a:spcAft>
                  <a:buNone/>
                </a:pPr>
                <a:r>
                  <a:rPr lang="ru-RU" altLang="en-US" sz="2000" dirty="0">
                    <a:latin typeface="Open Sans"/>
                  </a:rPr>
                  <a:t>Или в более сложных отношения</a:t>
                </a:r>
              </a:p>
              <a:p>
                <a:pPr marL="0" indent="0" algn="ctr" eaLnBrk="0" fontAlgn="base" hangingPunct="0">
                  <a:lnSpc>
                    <a:spcPct val="100000"/>
                  </a:lnSpc>
                  <a:spcBef>
                    <a:spcPct val="0"/>
                  </a:spcBef>
                  <a:spcAft>
                    <a:spcPct val="0"/>
                  </a:spcAft>
                  <a:buNone/>
                </a:pPr>
                <a14:m>
                  <m:oMath xmlns:m="http://schemas.openxmlformats.org/officeDocument/2006/math">
                    <m:r>
                      <a:rPr lang="en-US" altLang="en-US" sz="2000" i="1" dirty="0">
                        <a:latin typeface="Cambria Math" panose="02040503050406030204" pitchFamily="18" charset="0"/>
                      </a:rPr>
                      <m:t>𝑦</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 </m:t>
                    </m:r>
                    <m:r>
                      <a:rPr lang="en-US" altLang="en-US" sz="2000" i="1" dirty="0">
                        <a:latin typeface="Cambria Math" panose="02040503050406030204" pitchFamily="18" charset="0"/>
                      </a:rPr>
                      <m:t>𝑡𝑟𝑒𝑛𝑑</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d>
                      <m:dPr>
                        <m:ctrlPr>
                          <a:rPr lang="ru-RU" altLang="en-US" sz="2000" b="0" i="1" dirty="0" smtClean="0">
                            <a:latin typeface="Cambria Math" panose="02040503050406030204" pitchFamily="18" charset="0"/>
                          </a:rPr>
                        </m:ctrlPr>
                      </m:dPr>
                      <m:e>
                        <m:r>
                          <a:rPr lang="en-US" altLang="en-US" sz="2000" i="1" dirty="0">
                            <a:latin typeface="Cambria Math" panose="02040503050406030204" pitchFamily="18" charset="0"/>
                          </a:rPr>
                          <m:t>𝑡𝑟𝑒𝑛</m:t>
                        </m:r>
                        <m:sSub>
                          <m:sSubPr>
                            <m:ctrlPr>
                              <a:rPr lang="en-US"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en-US" altLang="en-US" sz="2000" i="1" dirty="0">
                                <a:latin typeface="Cambria Math" panose="02040503050406030204" pitchFamily="18" charset="0"/>
                              </a:rPr>
                              <m:t>2</m:t>
                            </m:r>
                          </m:sub>
                        </m:sSub>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e>
                        </m:nary>
                      </m:e>
                    </m:d>
                    <m:r>
                      <a:rPr lang="ru-RU" altLang="en-US" sz="2000" b="0" i="1" dirty="0" smtClean="0">
                        <a:latin typeface="Cambria Math" panose="02040503050406030204" pitchFamily="18" charset="0"/>
                      </a:rPr>
                      <m:t>+</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oMath>
                </a14:m>
                <a:r>
                  <a:rPr lang="en-US" altLang="en-US" sz="2000" i="1" dirty="0"/>
                  <a:t>). </a:t>
                </a:r>
              </a:p>
              <a:p>
                <a:pPr eaLnBrk="0" fontAlgn="base" hangingPunct="0">
                  <a:lnSpc>
                    <a:spcPct val="100000"/>
                  </a:lnSpc>
                  <a:spcBef>
                    <a:spcPct val="0"/>
                  </a:spcBef>
                  <a:spcAft>
                    <a:spcPct val="0"/>
                  </a:spcAft>
                </a:pPr>
                <a:endParaRPr lang="en-US" altLang="en-US" sz="2000" dirty="0">
                  <a:latin typeface="Open Sans"/>
                </a:endParaRPr>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687" r="-1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21</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326071" y="4477386"/>
            <a:ext cx="11099483" cy="1277273"/>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Чем более подробно описана модель, тем выше качество ее работы. </a:t>
            </a:r>
          </a:p>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Однако, подробное описание модели может привести к переобучению!</a:t>
            </a:r>
            <a:endParaRPr lang="en-US" altLang="en-US" sz="2400" dirty="0">
              <a:latin typeface="Open Sans"/>
            </a:endParaRPr>
          </a:p>
        </p:txBody>
      </p:sp>
      <p:sp>
        <p:nvSpPr>
          <p:cNvPr id="9" name="Прямоугольник 8"/>
          <p:cNvSpPr/>
          <p:nvPr/>
        </p:nvSpPr>
        <p:spPr>
          <a:xfrm>
            <a:off x="209550" y="6290884"/>
            <a:ext cx="5065489" cy="369332"/>
          </a:xfrm>
          <a:prstGeom prst="rect">
            <a:avLst/>
          </a:prstGeom>
        </p:spPr>
        <p:txBody>
          <a:bodyPr wrap="none">
            <a:spAutoFit/>
          </a:bodyPr>
          <a:lstStyle/>
          <a:p>
            <a:r>
              <a:rPr lang="ru-RU" dirty="0"/>
              <a:t>https://openforecast.org/adam/tsComponents.html</a:t>
            </a:r>
          </a:p>
        </p:txBody>
      </p:sp>
    </p:spTree>
    <p:extLst>
      <p:ext uri="{BB962C8B-B14F-4D97-AF65-F5344CB8AC3E}">
        <p14:creationId xmlns:p14="http://schemas.microsoft.com/office/powerpoint/2010/main" val="569580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В модель могут включаться редкие, но регулярные события </a:t>
                </a:r>
                <a:r>
                  <a:rPr lang="ru-RU" altLang="en-US" sz="2000" dirty="0" err="1">
                    <a:latin typeface="Open Sans"/>
                  </a:rPr>
                  <a:t>напр</a:t>
                </a:r>
                <a:r>
                  <a:rPr lang="ru-RU" altLang="en-US" sz="2000" dirty="0">
                    <a:latin typeface="Open Sans"/>
                  </a:rPr>
                  <a:t> праздничные дни</a:t>
                </a: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𝑡𝑟𝑒𝑛𝑑</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Open Sans"/>
                </a:endParaRPr>
              </a:p>
              <a:p>
                <a14:m>
                  <m:oMath xmlns:m="http://schemas.openxmlformats.org/officeDocument/2006/math">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oMath>
                </a14:m>
                <a:r>
                  <a:rPr lang="ru-RU" sz="2000" dirty="0"/>
                  <a:t> - значения редких, но регулярных событий (напр. праздничные дни)</a:t>
                </a:r>
              </a:p>
              <a:p>
                <a14:m>
                  <m:oMath xmlns:m="http://schemas.openxmlformats.org/officeDocument/2006/math">
                    <m:r>
                      <a:rPr lang="en-US" altLang="en-US" sz="2000" i="1" dirty="0">
                        <a:latin typeface="Cambria Math" panose="02040503050406030204" pitchFamily="18" charset="0"/>
                      </a:rPr>
                      <m:t>𝐻</m:t>
                    </m:r>
                  </m:oMath>
                </a14:m>
                <a:r>
                  <a:rPr lang="ru-RU" sz="2000" dirty="0"/>
                  <a:t> – число событий</a:t>
                </a:r>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1210" t="-11644"/>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22</a:t>
            </a:fld>
            <a:endParaRPr lang="en-US"/>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9" name="Прямоугольник 8"/>
          <p:cNvSpPr/>
          <p:nvPr/>
        </p:nvSpPr>
        <p:spPr>
          <a:xfrm>
            <a:off x="447674" y="6414898"/>
            <a:ext cx="10506075" cy="369332"/>
          </a:xfrm>
          <a:prstGeom prst="rect">
            <a:avLst/>
          </a:prstGeom>
        </p:spPr>
        <p:txBody>
          <a:bodyPr wrap="square">
            <a:spAutoFit/>
          </a:bodyPr>
          <a:lstStyle/>
          <a:p>
            <a:r>
              <a:rPr lang="ru-RU" dirty="0"/>
              <a:t>https://exploratory.io/note/exploratory/Time-Series-Forecasting-with-Effects-of-National-Holidays-lBP9Lpc5vT</a:t>
            </a:r>
          </a:p>
        </p:txBody>
      </p:sp>
      <p:pic>
        <p:nvPicPr>
          <p:cNvPr id="10" name="Рисунок 9"/>
          <p:cNvPicPr>
            <a:picLocks noChangeAspect="1"/>
          </p:cNvPicPr>
          <p:nvPr/>
        </p:nvPicPr>
        <p:blipFill rotWithShape="1">
          <a:blip r:embed="rId3"/>
          <a:srcRect l="6623" r="27020" b="52170"/>
          <a:stretch/>
        </p:blipFill>
        <p:spPr>
          <a:xfrm>
            <a:off x="290570" y="3130293"/>
            <a:ext cx="5500515" cy="2063415"/>
          </a:xfrm>
          <a:prstGeom prst="rect">
            <a:avLst/>
          </a:prstGeom>
        </p:spPr>
      </p:pic>
      <p:pic>
        <p:nvPicPr>
          <p:cNvPr id="11" name="Рисунок 10"/>
          <p:cNvPicPr>
            <a:picLocks noChangeAspect="1"/>
          </p:cNvPicPr>
          <p:nvPr/>
        </p:nvPicPr>
        <p:blipFill rotWithShape="1">
          <a:blip r:embed="rId3"/>
          <a:srcRect l="5893" t="45809" r="26490" b="6361"/>
          <a:stretch/>
        </p:blipFill>
        <p:spPr>
          <a:xfrm>
            <a:off x="6234284" y="3326291"/>
            <a:ext cx="5500515" cy="2025017"/>
          </a:xfrm>
          <a:prstGeom prst="rect">
            <a:avLst/>
          </a:prstGeom>
        </p:spPr>
      </p:pic>
      <p:pic>
        <p:nvPicPr>
          <p:cNvPr id="12" name="Рисунок 11"/>
          <p:cNvPicPr>
            <a:picLocks noChangeAspect="1"/>
          </p:cNvPicPr>
          <p:nvPr/>
        </p:nvPicPr>
        <p:blipFill rotWithShape="1">
          <a:blip r:embed="rId3"/>
          <a:srcRect l="72914" t="2577" r="5960" b="72276"/>
          <a:stretch>
            <a:fillRect/>
          </a:stretch>
        </p:blipFill>
        <p:spPr>
          <a:xfrm>
            <a:off x="10359930" y="2245804"/>
            <a:ext cx="1709736" cy="1059182"/>
          </a:xfrm>
          <a:prstGeom prst="rect">
            <a:avLst/>
          </a:prstGeom>
        </p:spPr>
      </p:pic>
      <p:sp>
        <p:nvSpPr>
          <p:cNvPr id="13" name="Прямоугольник 12"/>
          <p:cNvSpPr/>
          <p:nvPr/>
        </p:nvSpPr>
        <p:spPr>
          <a:xfrm>
            <a:off x="209550" y="5409856"/>
            <a:ext cx="11772900" cy="707886"/>
          </a:xfrm>
          <a:prstGeom prst="rect">
            <a:avLst/>
          </a:prstGeom>
        </p:spPr>
        <p:txBody>
          <a:bodyPr wrap="square">
            <a:spAutoFit/>
          </a:bodyPr>
          <a:lstStyle/>
          <a:p>
            <a:pPr eaLnBrk="0" fontAlgn="base" hangingPunct="0">
              <a:lnSpc>
                <a:spcPct val="100000"/>
              </a:lnSpc>
              <a:spcBef>
                <a:spcPct val="0"/>
              </a:spcBef>
              <a:spcAft>
                <a:spcPct val="0"/>
              </a:spcAft>
            </a:pPr>
            <a:r>
              <a:rPr lang="ru-RU" altLang="en-US" sz="2000" b="1" dirty="0">
                <a:latin typeface="Open Sans"/>
              </a:rPr>
              <a:t>Редкие события отличаются от аномалий тем, что их даты известны и ожидается их повторение!</a:t>
            </a:r>
          </a:p>
        </p:txBody>
      </p:sp>
    </p:spTree>
    <p:extLst>
      <p:ext uri="{BB962C8B-B14F-4D97-AF65-F5344CB8AC3E}">
        <p14:creationId xmlns:p14="http://schemas.microsoft.com/office/powerpoint/2010/main" val="117760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О</a:t>
            </a:r>
            <a:r>
              <a:rPr lang="en-US" dirty="0" err="1"/>
              <a:t>соб</a:t>
            </a:r>
            <a:r>
              <a:rPr lang="ru-RU" dirty="0" err="1"/>
              <a:t>енности</a:t>
            </a:r>
            <a:r>
              <a:rPr lang="en-US" dirty="0"/>
              <a:t> </a:t>
            </a:r>
            <a:r>
              <a:rPr lang="en-US" dirty="0" err="1"/>
              <a:t>и</a:t>
            </a:r>
            <a:r>
              <a:rPr lang="ru-RU" dirty="0"/>
              <a:t> варианты модели ВР</a:t>
            </a:r>
          </a:p>
        </p:txBody>
      </p:sp>
      <p:sp>
        <p:nvSpPr>
          <p:cNvPr id="3" name="Объект 2">
            <a:extLst>
              <a:ext uri="{FF2B5EF4-FFF2-40B4-BE49-F238E27FC236}">
                <a16:creationId xmlns:a16="http://schemas.microsoft.com/office/drawing/2014/main" id="{F71775E9-3CBC-DA68-FB1D-19750435AD5D}"/>
              </a:ext>
            </a:extLst>
          </p:cNvPr>
          <p:cNvSpPr>
            <a:spLocks noGrp="1"/>
          </p:cNvSpPr>
          <p:nvPr>
            <p:ph idx="1"/>
          </p:nvPr>
        </p:nvSpPr>
        <p:spPr>
          <a:xfrm>
            <a:off x="181830" y="824207"/>
            <a:ext cx="11820525" cy="4516498"/>
          </a:xfrm>
        </p:spPr>
        <p:txBody>
          <a:bodyPr>
            <a:normAutofit/>
          </a:bodyPr>
          <a:lstStyle/>
          <a:p>
            <a:r>
              <a:rPr lang="ru-RU" sz="2200" dirty="0" err="1"/>
              <a:t>Многосезонные</a:t>
            </a:r>
            <a:r>
              <a:rPr lang="ru-RU" sz="2200" dirty="0"/>
              <a:t> ВР - имеют значимое влияние нескольких компонент (напр. неделя и квартал).</a:t>
            </a:r>
          </a:p>
          <a:p>
            <a:r>
              <a:rPr lang="ru-RU" sz="2200" dirty="0"/>
              <a:t>Почасовые данные обычно имеют три типа сезонности: дневную, недельную и годовую.</a:t>
            </a:r>
          </a:p>
          <a:p>
            <a:r>
              <a:rPr lang="ru-RU" sz="2200" dirty="0"/>
              <a:t>Также сезонность может зависеть от </a:t>
            </a:r>
            <a:r>
              <a:rPr lang="en-US" sz="2200" dirty="0" err="1"/>
              <a:t>эк</a:t>
            </a:r>
            <a:r>
              <a:rPr lang="ru-RU" sz="2200" dirty="0" err="1"/>
              <a:t>зогенных</a:t>
            </a:r>
            <a:r>
              <a:rPr lang="ru-RU" sz="2200" dirty="0"/>
              <a:t> (внешних факторов)</a:t>
            </a:r>
          </a:p>
          <a:p>
            <a:pPr lvl="1"/>
            <a:r>
              <a:rPr lang="ru-RU" sz="2200" dirty="0"/>
              <a:t>Напр. потребление электричества от температуры </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z="900" smtClean="0"/>
              <a:t>23</a:t>
            </a:fld>
            <a:endParaRPr lang="en-US" sz="900"/>
          </a:p>
        </p:txBody>
      </p:sp>
      <p:pic>
        <p:nvPicPr>
          <p:cNvPr id="9218" name="Picture 2" descr="A time series and its basic parts including two seasonal components. Image by author.">
            <a:extLst>
              <a:ext uri="{FF2B5EF4-FFF2-40B4-BE49-F238E27FC236}">
                <a16:creationId xmlns:a16="http://schemas.microsoft.com/office/drawing/2014/main" id="{70918C6B-820F-8FD6-07E9-76787760A0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64"/>
          <a:stretch>
            <a:fillRect/>
          </a:stretch>
        </p:blipFill>
        <p:spPr bwMode="auto">
          <a:xfrm>
            <a:off x="7011411" y="2200406"/>
            <a:ext cx="5037301" cy="37221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47E07CD-1B72-9AF9-9BDC-E53B3B1971D3}"/>
              </a:ext>
            </a:extLst>
          </p:cNvPr>
          <p:cNvSpPr txBox="1"/>
          <p:nvPr/>
        </p:nvSpPr>
        <p:spPr>
          <a:xfrm>
            <a:off x="6114668" y="6324781"/>
            <a:ext cx="6096000" cy="261610"/>
          </a:xfrm>
          <a:prstGeom prst="rect">
            <a:avLst/>
          </a:prstGeom>
          <a:noFill/>
        </p:spPr>
        <p:txBody>
          <a:bodyPr wrap="square">
            <a:spAutoFit/>
          </a:bodyPr>
          <a:lstStyle/>
          <a:p>
            <a:r>
              <a:rPr lang="ru-RU" sz="1100" dirty="0" err="1"/>
              <a:t>https</a:t>
            </a:r>
            <a:r>
              <a:rPr lang="ru-RU" sz="1100" dirty="0"/>
              <a:t>://</a:t>
            </a:r>
            <a:r>
              <a:rPr lang="ru-RU" sz="1100" dirty="0" err="1"/>
              <a:t>towardsdatascience.com</a:t>
            </a:r>
            <a:r>
              <a:rPr lang="ru-RU" sz="1100" dirty="0"/>
              <a:t>/how-to-model-multiple-seasonality-in-time-series-2a3488f8e7f5/</a:t>
            </a:r>
          </a:p>
        </p:txBody>
      </p:sp>
      <p:sp>
        <p:nvSpPr>
          <p:cNvPr id="11" name="TextBox 10">
            <a:extLst>
              <a:ext uri="{FF2B5EF4-FFF2-40B4-BE49-F238E27FC236}">
                <a16:creationId xmlns:a16="http://schemas.microsoft.com/office/drawing/2014/main" id="{D69875C4-B190-3888-E24C-94FDD953A44C}"/>
              </a:ext>
            </a:extLst>
          </p:cNvPr>
          <p:cNvSpPr txBox="1"/>
          <p:nvPr/>
        </p:nvSpPr>
        <p:spPr>
          <a:xfrm>
            <a:off x="8610600" y="2041365"/>
            <a:ext cx="2081660" cy="369332"/>
          </a:xfrm>
          <a:prstGeom prst="rect">
            <a:avLst/>
          </a:prstGeom>
          <a:noFill/>
        </p:spPr>
        <p:txBody>
          <a:bodyPr wrap="none" rtlCol="0">
            <a:spAutoFit/>
          </a:bodyPr>
          <a:lstStyle/>
          <a:p>
            <a:r>
              <a:rPr lang="ru-RU" dirty="0" err="1"/>
              <a:t>Многосезонный</a:t>
            </a:r>
            <a:r>
              <a:rPr lang="ru-RU" dirty="0"/>
              <a:t> ВР</a:t>
            </a:r>
          </a:p>
        </p:txBody>
      </p:sp>
      <p:sp>
        <p:nvSpPr>
          <p:cNvPr id="5" name="Прямоугольник 4"/>
          <p:cNvSpPr/>
          <p:nvPr/>
        </p:nvSpPr>
        <p:spPr>
          <a:xfrm>
            <a:off x="6236745" y="6596914"/>
            <a:ext cx="6096000" cy="261610"/>
          </a:xfrm>
          <a:prstGeom prst="rect">
            <a:avLst/>
          </a:prstGeom>
        </p:spPr>
        <p:txBody>
          <a:bodyPr>
            <a:spAutoFit/>
          </a:bodyPr>
          <a:lstStyle/>
          <a:p>
            <a:r>
              <a:rPr lang="ru-RU" sz="1100" dirty="0"/>
              <a:t>https://towardsdatascience.com/8-techniques-to-model-seasonality-2f81d739710/</a:t>
            </a:r>
          </a:p>
        </p:txBody>
      </p:sp>
      <p:sp>
        <p:nvSpPr>
          <p:cNvPr id="7" name="Прямоугольник 6"/>
          <p:cNvSpPr/>
          <p:nvPr/>
        </p:nvSpPr>
        <p:spPr>
          <a:xfrm>
            <a:off x="3059272" y="6356350"/>
            <a:ext cx="3177473" cy="261610"/>
          </a:xfrm>
          <a:prstGeom prst="rect">
            <a:avLst/>
          </a:prstGeom>
        </p:spPr>
        <p:txBody>
          <a:bodyPr wrap="none">
            <a:spAutoFit/>
          </a:bodyPr>
          <a:lstStyle/>
          <a:p>
            <a:r>
              <a:rPr lang="ru-RU" sz="1100" dirty="0"/>
              <a:t>https://robjhyndman.com/seminars/compstat2022/</a:t>
            </a:r>
          </a:p>
        </p:txBody>
      </p:sp>
      <p:sp>
        <p:nvSpPr>
          <p:cNvPr id="9" name="Прямоугольник 8"/>
          <p:cNvSpPr/>
          <p:nvPr/>
        </p:nvSpPr>
        <p:spPr>
          <a:xfrm>
            <a:off x="197041" y="6575867"/>
            <a:ext cx="6096000" cy="261610"/>
          </a:xfrm>
          <a:prstGeom prst="rect">
            <a:avLst/>
          </a:prstGeom>
        </p:spPr>
        <p:txBody>
          <a:bodyPr>
            <a:spAutoFit/>
          </a:bodyPr>
          <a:lstStyle/>
          <a:p>
            <a:r>
              <a:rPr lang="ru-RU" sz="1100" dirty="0"/>
              <a:t>https://www.business-science.io/code-tools/2020/08/26/five-minute-time-series-seasonality.html#</a:t>
            </a:r>
          </a:p>
        </p:txBody>
      </p:sp>
      <p:sp>
        <p:nvSpPr>
          <p:cNvPr id="14" name="Прямоугольник 13"/>
          <p:cNvSpPr/>
          <p:nvPr/>
        </p:nvSpPr>
        <p:spPr>
          <a:xfrm>
            <a:off x="189645" y="6356350"/>
            <a:ext cx="3050835" cy="261610"/>
          </a:xfrm>
          <a:prstGeom prst="rect">
            <a:avLst/>
          </a:prstGeom>
        </p:spPr>
        <p:txBody>
          <a:bodyPr wrap="none">
            <a:spAutoFit/>
          </a:bodyPr>
          <a:lstStyle/>
          <a:p>
            <a:r>
              <a:rPr lang="ru-RU" sz="1100" dirty="0"/>
              <a:t>https://otexts.com/fpp2/complexseasonality.html</a:t>
            </a:r>
          </a:p>
        </p:txBody>
      </p:sp>
      <p:pic>
        <p:nvPicPr>
          <p:cNvPr id="3074" name="Picture 2" descr="Half-hourly electricity demand and corresponding temperatures in 2014, Victoria, Australia.">
            <a:extLst>
              <a:ext uri="{FF2B5EF4-FFF2-40B4-BE49-F238E27FC236}">
                <a16:creationId xmlns:a16="http://schemas.microsoft.com/office/drawing/2014/main" id="{29FD4B76-8903-9969-0975-D4974A2DCF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90"/>
          <a:stretch>
            <a:fillRect/>
          </a:stretch>
        </p:blipFill>
        <p:spPr bwMode="auto">
          <a:xfrm>
            <a:off x="181830" y="2545638"/>
            <a:ext cx="5906355" cy="340729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9B64489-2641-BCD7-A7E9-55851490B6EA}"/>
              </a:ext>
            </a:extLst>
          </p:cNvPr>
          <p:cNvSpPr txBox="1"/>
          <p:nvPr/>
        </p:nvSpPr>
        <p:spPr>
          <a:xfrm>
            <a:off x="197348" y="6081592"/>
            <a:ext cx="7166588" cy="307777"/>
          </a:xfrm>
          <a:prstGeom prst="rect">
            <a:avLst/>
          </a:prstGeom>
          <a:noFill/>
        </p:spPr>
        <p:txBody>
          <a:bodyPr wrap="square">
            <a:spAutoFit/>
          </a:bodyPr>
          <a:lstStyle/>
          <a:p>
            <a:r>
              <a:rPr lang="en" sz="1400" b="0" i="0" dirty="0">
                <a:solidFill>
                  <a:srgbClr val="222222"/>
                </a:solidFill>
                <a:effectLst/>
              </a:rPr>
              <a:t>Half-hourly electricity demand and corresponding temperatures in 2014, Victoria, Australia</a:t>
            </a:r>
            <a:endParaRPr lang="ru-RU" sz="1400" dirty="0"/>
          </a:p>
        </p:txBody>
      </p:sp>
    </p:spTree>
    <p:extLst>
      <p:ext uri="{BB962C8B-B14F-4D97-AF65-F5344CB8AC3E}">
        <p14:creationId xmlns:p14="http://schemas.microsoft.com/office/powerpoint/2010/main" val="3254649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Точки перегиба и новизна в тренде</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24</a:t>
            </a:fld>
            <a:endParaRPr lang="en-US"/>
          </a:p>
        </p:txBody>
      </p:sp>
      <p:sp>
        <p:nvSpPr>
          <p:cNvPr id="8" name="TextBox 7">
            <a:extLst>
              <a:ext uri="{FF2B5EF4-FFF2-40B4-BE49-F238E27FC236}">
                <a16:creationId xmlns:a16="http://schemas.microsoft.com/office/drawing/2014/main" id="{F436175C-6A4B-E1A6-C9FD-91D471755FAD}"/>
              </a:ext>
            </a:extLst>
          </p:cNvPr>
          <p:cNvSpPr txBox="1"/>
          <p:nvPr/>
        </p:nvSpPr>
        <p:spPr>
          <a:xfrm>
            <a:off x="5562600" y="6459865"/>
            <a:ext cx="6096000" cy="261610"/>
          </a:xfrm>
          <a:prstGeom prst="rect">
            <a:avLst/>
          </a:prstGeom>
          <a:noFill/>
        </p:spPr>
        <p:txBody>
          <a:bodyPr wrap="square">
            <a:spAutoFit/>
          </a:bodyPr>
          <a:lstStyle/>
          <a:p>
            <a:r>
              <a:rPr lang="ru-RU" sz="1050" dirty="0" err="1"/>
              <a:t>https</a:t>
            </a:r>
            <a:r>
              <a:rPr lang="ru-RU" sz="1050" dirty="0"/>
              <a:t>://</a:t>
            </a:r>
            <a:r>
              <a:rPr lang="ru-RU" sz="1050" dirty="0" err="1"/>
              <a:t>stackoverflow.com</a:t>
            </a:r>
            <a:r>
              <a:rPr lang="ru-RU" sz="1050" dirty="0"/>
              <a:t>/</a:t>
            </a:r>
            <a:r>
              <a:rPr lang="ru-RU" sz="1050" dirty="0" err="1"/>
              <a:t>questions</a:t>
            </a:r>
            <a:r>
              <a:rPr lang="ru-RU" sz="1050" dirty="0"/>
              <a:t>/63699471/</a:t>
            </a:r>
            <a:r>
              <a:rPr lang="ru-RU" sz="1050" dirty="0" err="1"/>
              <a:t>time-series-data-change-point-detection</a:t>
            </a:r>
            <a:endParaRPr lang="ru-RU" sz="1050" dirty="0"/>
          </a:p>
        </p:txBody>
      </p:sp>
      <p:pic>
        <p:nvPicPr>
          <p:cNvPr id="9" name="Рисунок 8"/>
          <p:cNvPicPr>
            <a:picLocks noChangeAspect="1"/>
          </p:cNvPicPr>
          <p:nvPr/>
        </p:nvPicPr>
        <p:blipFill rotWithShape="1">
          <a:blip r:embed="rId2"/>
          <a:srcRect r="18712"/>
          <a:stretch/>
        </p:blipFill>
        <p:spPr>
          <a:xfrm>
            <a:off x="7816850" y="3831221"/>
            <a:ext cx="4220560" cy="2601921"/>
          </a:xfrm>
          <a:prstGeom prst="rect">
            <a:avLst/>
          </a:prstGeom>
        </p:spPr>
      </p:pic>
      <p:pic>
        <p:nvPicPr>
          <p:cNvPr id="3078"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7" y="4205615"/>
            <a:ext cx="3832225" cy="2254250"/>
          </a:xfrm>
          <a:prstGeom prst="rect">
            <a:avLst/>
          </a:prstGeom>
          <a:noFill/>
          <a:extLst>
            <a:ext uri="{909E8E84-426E-40DD-AFC4-6F175D3DCCD1}">
              <a14:hiddenFill xmlns:a14="http://schemas.microsoft.com/office/drawing/2010/main">
                <a:solidFill>
                  <a:srgbClr val="FFFFFF"/>
                </a:solidFill>
              </a14:hiddenFill>
            </a:ext>
          </a:extLst>
        </p:spPr>
      </p:pic>
      <p:sp>
        <p:nvSpPr>
          <p:cNvPr id="14" name="Прямоугольник 13"/>
          <p:cNvSpPr/>
          <p:nvPr/>
        </p:nvSpPr>
        <p:spPr>
          <a:xfrm>
            <a:off x="4697411" y="6208122"/>
            <a:ext cx="7150099" cy="307777"/>
          </a:xfrm>
          <a:prstGeom prst="rect">
            <a:avLst/>
          </a:prstGeom>
        </p:spPr>
        <p:txBody>
          <a:bodyPr wrap="square">
            <a:spAutoFit/>
          </a:bodyPr>
          <a:lstStyle/>
          <a:p>
            <a:r>
              <a:rPr lang="ru-RU" sz="1400" dirty="0"/>
              <a:t>victoriametrics.com/</a:t>
            </a:r>
            <a:r>
              <a:rPr lang="ru-RU" sz="1400" dirty="0" err="1"/>
              <a:t>blog</a:t>
            </a:r>
            <a:r>
              <a:rPr lang="ru-RU" sz="1400" dirty="0"/>
              <a:t>/victoriametrics-anomaly-detection-handbook-chapter-2/</a:t>
            </a:r>
          </a:p>
        </p:txBody>
      </p:sp>
      <p:pic>
        <p:nvPicPr>
          <p:cNvPr id="3080" name="Picture 8" descr="A Brief Introduction to Change Point Detection using Python - Tech Rand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1962" y="4114557"/>
            <a:ext cx="3311525" cy="2048366"/>
          </a:xfrm>
          <a:prstGeom prst="rect">
            <a:avLst/>
          </a:prstGeom>
          <a:noFill/>
          <a:extLst>
            <a:ext uri="{909E8E84-426E-40DD-AFC4-6F175D3DCCD1}">
              <a14:hiddenFill xmlns:a14="http://schemas.microsoft.com/office/drawing/2010/main">
                <a:solidFill>
                  <a:srgbClr val="FFFFFF"/>
                </a:solidFill>
              </a14:hiddenFill>
            </a:ext>
          </a:extLst>
        </p:spPr>
      </p:pic>
      <p:sp>
        <p:nvSpPr>
          <p:cNvPr id="15" name="Прямоугольник 14"/>
          <p:cNvSpPr/>
          <p:nvPr/>
        </p:nvSpPr>
        <p:spPr>
          <a:xfrm>
            <a:off x="4529137" y="6606880"/>
            <a:ext cx="7324725" cy="276999"/>
          </a:xfrm>
          <a:prstGeom prst="rect">
            <a:avLst/>
          </a:prstGeom>
        </p:spPr>
        <p:txBody>
          <a:bodyPr wrap="square">
            <a:spAutoFit/>
          </a:bodyPr>
          <a:lstStyle/>
          <a:p>
            <a:r>
              <a:rPr lang="ru-RU" sz="1200" dirty="0"/>
              <a:t>https://techrando.com/2019/08/14/a-brief-introduction-to-change-point-detection-using-python/</a:t>
            </a:r>
          </a:p>
        </p:txBody>
      </p:sp>
      <p:sp>
        <p:nvSpPr>
          <p:cNvPr id="16" name="Прямоугольник 15"/>
          <p:cNvSpPr/>
          <p:nvPr/>
        </p:nvSpPr>
        <p:spPr>
          <a:xfrm>
            <a:off x="81756" y="924464"/>
            <a:ext cx="11815762" cy="2246769"/>
          </a:xfrm>
          <a:prstGeom prst="rect">
            <a:avLst/>
          </a:prstGeom>
        </p:spPr>
        <p:txBody>
          <a:bodyPr wrap="square">
            <a:spAutoFit/>
          </a:bodyPr>
          <a:lstStyle/>
          <a:p>
            <a:r>
              <a:rPr lang="ru-RU" sz="2000" b="1" dirty="0"/>
              <a:t>Точки перегиба  (</a:t>
            </a:r>
            <a:r>
              <a:rPr lang="en-US" sz="2000" b="1" dirty="0"/>
              <a:t>change points</a:t>
            </a:r>
            <a:r>
              <a:rPr lang="ru-RU" sz="2000" b="1" dirty="0"/>
              <a:t>) </a:t>
            </a:r>
            <a:r>
              <a:rPr lang="en-US" sz="2000" dirty="0"/>
              <a:t>- </a:t>
            </a:r>
            <a:r>
              <a:rPr lang="ru-RU" sz="2000" dirty="0"/>
              <a:t> резкие сдвиги в поведении временных рядов (напр. изменения в мгновенной скорости тренда временного ряда), которые могут быть легко идентифицированы человеческим глазом, но которые труднее определить с помощью традиционных статистических подходов.</a:t>
            </a:r>
          </a:p>
          <a:p>
            <a:pPr lvl="1"/>
            <a:r>
              <a:rPr lang="ru-RU" sz="2000" dirty="0"/>
              <a:t>Новизна ВР </a:t>
            </a:r>
            <a:r>
              <a:rPr lang="en-US" sz="2000" b="1" dirty="0"/>
              <a:t>(novelty)</a:t>
            </a:r>
            <a:r>
              <a:rPr lang="ru-RU" sz="2000" dirty="0"/>
              <a:t> – появление в поведении ВР нового паттерна. В отличии от выбросов вызванного новыми процессами в системе, порождающей ВР.</a:t>
            </a:r>
          </a:p>
          <a:p>
            <a:pPr lvl="1"/>
            <a:endParaRPr lang="ru-RU" sz="2000" dirty="0"/>
          </a:p>
        </p:txBody>
      </p:sp>
      <p:sp>
        <p:nvSpPr>
          <p:cNvPr id="17" name="Прямоугольник 16"/>
          <p:cNvSpPr/>
          <p:nvPr/>
        </p:nvSpPr>
        <p:spPr>
          <a:xfrm>
            <a:off x="1129698" y="2869030"/>
            <a:ext cx="10907712" cy="1200329"/>
          </a:xfrm>
          <a:prstGeom prst="rect">
            <a:avLst/>
          </a:prstGeom>
        </p:spPr>
        <p:txBody>
          <a:bodyPr wrap="square">
            <a:spAutoFit/>
          </a:bodyPr>
          <a:lstStyle/>
          <a:p>
            <a:r>
              <a:rPr lang="ru-RU" dirty="0"/>
              <a:t>Точки перегиба часто указывают на структурные нарушения, сдвиги в среднем значении, дисперсию или другие свойства ряда. Ключевым аспектом новизны является то, что она представляет собой ранее не наблюдавшееся состояние или поведение системы, даже если само это состояние или поведение находится в пределах нормы. </a:t>
            </a:r>
          </a:p>
        </p:txBody>
      </p:sp>
    </p:spTree>
    <p:extLst>
      <p:ext uri="{BB962C8B-B14F-4D97-AF65-F5344CB8AC3E}">
        <p14:creationId xmlns:p14="http://schemas.microsoft.com/office/powerpoint/2010/main" val="3160071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 Аномалии</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Также иногда следует включать в модель аномалии</a:t>
                </a:r>
                <a:r>
                  <a:rPr lang="en-US" altLang="en-US" sz="2000" dirty="0">
                    <a:latin typeface="Open Sans"/>
                  </a:rPr>
                  <a:t>, </a:t>
                </a:r>
                <a:r>
                  <a:rPr lang="ru-RU" altLang="en-US" sz="2000" dirty="0">
                    <a:latin typeface="Open Sans"/>
                  </a:rPr>
                  <a:t>точки перегиба, новизну или другие факторы, описывающие модель</a:t>
                </a:r>
                <a:endParaRPr lang="en-US" altLang="en-US" sz="2000" dirty="0">
                  <a:latin typeface="Open Sans"/>
                </a:endParaRP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m:t>
                      </m:r>
                      <m:sSub>
                        <m:sSubPr>
                          <m:ctrlPr>
                            <a:rPr lang="ru-RU" altLang="en-US" sz="2000" b="0" i="1" dirty="0" smtClean="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1</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𝑡𝑟𝑒𝑛</m:t>
                      </m:r>
                      <m:sSub>
                        <m:sSubPr>
                          <m:ctrlPr>
                            <a:rPr lang="ru-RU"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2</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𝑎𝑛𝑜𝑚𝑎𝑙𝑦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Arial" panose="020B0604020202020204" pitchFamily="34" charset="0"/>
                </a:endParaRPr>
              </a:p>
              <a:p>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476" t="-6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25</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13"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850" y="2751269"/>
            <a:ext cx="6268083" cy="3687107"/>
          </a:xfrm>
          <a:prstGeom prst="rect">
            <a:avLst/>
          </a:prstGeom>
          <a:noFill/>
          <a:extLst>
            <a:ext uri="{909E8E84-426E-40DD-AFC4-6F175D3DCCD1}">
              <a14:hiddenFill xmlns:a14="http://schemas.microsoft.com/office/drawing/2010/main">
                <a:solidFill>
                  <a:srgbClr val="FFFFFF"/>
                </a:solidFill>
              </a14:hiddenFill>
            </a:ext>
          </a:extLst>
        </p:spPr>
      </p:pic>
      <p:sp>
        <p:nvSpPr>
          <p:cNvPr id="14" name="Овал 13"/>
          <p:cNvSpPr/>
          <p:nvPr/>
        </p:nvSpPr>
        <p:spPr>
          <a:xfrm>
            <a:off x="9458325" y="3819525"/>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5" name="Овал 14"/>
          <p:cNvSpPr/>
          <p:nvPr/>
        </p:nvSpPr>
        <p:spPr>
          <a:xfrm>
            <a:off x="10001449" y="3301470"/>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6" name="TextBox 15"/>
          <p:cNvSpPr txBox="1"/>
          <p:nvPr/>
        </p:nvSpPr>
        <p:spPr>
          <a:xfrm>
            <a:off x="10239574" y="3244334"/>
            <a:ext cx="1686359" cy="369332"/>
          </a:xfrm>
          <a:prstGeom prst="rect">
            <a:avLst/>
          </a:prstGeom>
          <a:noFill/>
        </p:spPr>
        <p:txBody>
          <a:bodyPr wrap="none" rtlCol="0">
            <a:spAutoFit/>
          </a:bodyPr>
          <a:lstStyle/>
          <a:p>
            <a:r>
              <a:rPr lang="ru-RU" dirty="0"/>
              <a:t>Точка перегиба</a:t>
            </a:r>
          </a:p>
        </p:txBody>
      </p:sp>
      <mc:AlternateContent xmlns:mc="http://schemas.openxmlformats.org/markup-compatibility/2006" xmlns:a14="http://schemas.microsoft.com/office/drawing/2010/main">
        <mc:Choice Requires="a14">
          <p:sp>
            <p:nvSpPr>
              <p:cNvPr id="17" name="Прямоугольник 16"/>
              <p:cNvSpPr/>
              <p:nvPr/>
            </p:nvSpPr>
            <p:spPr>
              <a:xfrm>
                <a:off x="209550" y="2824629"/>
                <a:ext cx="5153025" cy="1024704"/>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smtClean="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1</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en-US" altLang="en-US" i="1" dirty="0">
                        <a:latin typeface="Cambria Math" panose="02040503050406030204" pitchFamily="18" charset="0"/>
                      </a:rPr>
                      <m:t>+</m:t>
                    </m:r>
                    <m:r>
                      <a:rPr lang="en-US" altLang="en-US" i="1" dirty="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2</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ru-RU" altLang="en-US" b="0" i="1" dirty="0" smtClean="0">
                        <a:latin typeface="Cambria Math" panose="02040503050406030204" pitchFamily="18" charset="0"/>
                      </a:rPr>
                      <m:t>−значения тренда до и после точки перегиба</m:t>
                    </m:r>
                  </m:oMath>
                </a14:m>
                <a:endParaRPr lang="ru-RU" altLang="en-US" b="0" dirty="0">
                  <a:latin typeface="Open Sans"/>
                </a:endParaRPr>
              </a:p>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a:latin typeface="Cambria Math" panose="02040503050406030204" pitchFamily="18" charset="0"/>
                      </a:rPr>
                      <m:t>𝑎𝑛𝑜𝑚𝑎𝑙𝑦</m:t>
                    </m:r>
                    <m:r>
                      <a:rPr lang="en-US" altLang="en-US" i="1" dirty="0">
                        <a:latin typeface="Cambria Math" panose="02040503050406030204" pitchFamily="18" charset="0"/>
                      </a:rPr>
                      <m:t>(</m:t>
                    </m:r>
                    <m:r>
                      <a:rPr lang="en-US" altLang="en-US" i="1" dirty="0">
                        <a:latin typeface="Cambria Math" panose="02040503050406030204" pitchFamily="18" charset="0"/>
                      </a:rPr>
                      <m:t>𝑡</m:t>
                    </m:r>
                    <m:r>
                      <a:rPr lang="en-US" altLang="en-US" i="1" dirty="0">
                        <a:latin typeface="Cambria Math" panose="02040503050406030204" pitchFamily="18" charset="0"/>
                      </a:rPr>
                      <m:t>)</m:t>
                    </m:r>
                  </m:oMath>
                </a14:m>
                <a:r>
                  <a:rPr lang="ru-RU" altLang="en-US" dirty="0">
                    <a:latin typeface="Open Sans"/>
                  </a:rPr>
                  <a:t> – значения в точках аномалий</a:t>
                </a:r>
                <a:endParaRPr lang="en-US" altLang="en-US" dirty="0">
                  <a:latin typeface="Open Sans"/>
                </a:endParaRPr>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209550" y="2824629"/>
                <a:ext cx="5153025" cy="1024704"/>
              </a:xfrm>
              <a:prstGeom prst="rect">
                <a:avLst/>
              </a:prstGeom>
              <a:blipFill>
                <a:blip r:embed="rId4"/>
                <a:stretch>
                  <a:fillRect l="-709" t="-595" r="-827" b="-5952"/>
                </a:stretch>
              </a:blipFill>
            </p:spPr>
            <p:txBody>
              <a:bodyPr/>
              <a:lstStyle/>
              <a:p>
                <a:r>
                  <a:rPr lang="ru-RU">
                    <a:noFill/>
                  </a:rPr>
                  <a:t> </a:t>
                </a:r>
              </a:p>
            </p:txBody>
          </p:sp>
        </mc:Fallback>
      </mc:AlternateContent>
      <p:sp>
        <p:nvSpPr>
          <p:cNvPr id="18" name="Прямоугольник 17"/>
          <p:cNvSpPr/>
          <p:nvPr/>
        </p:nvSpPr>
        <p:spPr>
          <a:xfrm>
            <a:off x="404812" y="4488181"/>
            <a:ext cx="5420143" cy="923330"/>
          </a:xfrm>
          <a:prstGeom prst="rect">
            <a:avLst/>
          </a:prstGeom>
        </p:spPr>
        <p:txBody>
          <a:bodyPr wrap="square">
            <a:spAutoFit/>
          </a:bodyPr>
          <a:lstStyle/>
          <a:p>
            <a:pPr eaLnBrk="0" fontAlgn="base" hangingPunct="0">
              <a:lnSpc>
                <a:spcPct val="100000"/>
              </a:lnSpc>
              <a:spcBef>
                <a:spcPct val="0"/>
              </a:spcBef>
              <a:spcAft>
                <a:spcPct val="0"/>
              </a:spcAft>
            </a:pPr>
            <a:r>
              <a:rPr lang="ru-RU" altLang="en-US" b="1" dirty="0">
                <a:latin typeface="Open Sans"/>
              </a:rPr>
              <a:t>Аномалии представляют собой непрогнозируемые, кратковременные события.</a:t>
            </a:r>
          </a:p>
        </p:txBody>
      </p:sp>
    </p:spTree>
    <p:extLst>
      <p:ext uri="{BB962C8B-B14F-4D97-AF65-F5344CB8AC3E}">
        <p14:creationId xmlns:p14="http://schemas.microsoft.com/office/powerpoint/2010/main" val="1847706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4722" y="231629"/>
            <a:ext cx="10739077" cy="698140"/>
          </a:xfrm>
        </p:spPr>
        <p:txBody>
          <a:bodyPr>
            <a:normAutofit/>
          </a:bodyPr>
          <a:lstStyle/>
          <a:p>
            <a:pPr algn="ctr"/>
            <a:r>
              <a:rPr lang="ru-RU" dirty="0"/>
              <a:t>Примеры ВР</a:t>
            </a:r>
          </a:p>
        </p:txBody>
      </p:sp>
      <p:sp>
        <p:nvSpPr>
          <p:cNvPr id="3" name="Объект 2"/>
          <p:cNvSpPr>
            <a:spLocks noGrp="1"/>
          </p:cNvSpPr>
          <p:nvPr>
            <p:ph idx="1"/>
          </p:nvPr>
        </p:nvSpPr>
        <p:spPr>
          <a:xfrm>
            <a:off x="6096000" y="960197"/>
            <a:ext cx="5807854" cy="3882568"/>
          </a:xfrm>
        </p:spPr>
        <p:txBody>
          <a:bodyPr>
            <a:normAutofit/>
          </a:bodyPr>
          <a:lstStyle/>
          <a:p>
            <a:pPr marL="0" indent="0">
              <a:buNone/>
            </a:pPr>
            <a:r>
              <a:rPr lang="ru-RU" sz="2200" dirty="0"/>
              <a:t>Ежемесячные продажи антидиабетических лекарств в Австралии с июля 1991 по июнь 2008. </a:t>
            </a:r>
          </a:p>
          <a:p>
            <a:pPr lvl="1"/>
            <a:r>
              <a:rPr lang="ru-RU" sz="2200" dirty="0"/>
              <a:t>На этом графике мы можем видеть возрастающий тренд, возможно, даже нелинейный, и кроме этого есть периодичность (сезонность) значений по годам.</a:t>
            </a:r>
          </a:p>
        </p:txBody>
      </p:sp>
      <p:sp>
        <p:nvSpPr>
          <p:cNvPr id="4" name="Номер слайда 3"/>
          <p:cNvSpPr>
            <a:spLocks noGrp="1"/>
          </p:cNvSpPr>
          <p:nvPr>
            <p:ph type="sldNum" sz="quarter" idx="12"/>
          </p:nvPr>
        </p:nvSpPr>
        <p:spPr/>
        <p:txBody>
          <a:bodyPr/>
          <a:lstStyle/>
          <a:p>
            <a:fld id="{45C3B737-A709-4ABC-AFE0-A6B067850C48}" type="slidenum">
              <a:rPr lang="en-US" smtClean="0"/>
              <a:t>26</a:t>
            </a:fld>
            <a:endParaRPr lang="en-US"/>
          </a:p>
        </p:txBody>
      </p:sp>
      <p:sp>
        <p:nvSpPr>
          <p:cNvPr id="5" name="AutoShape 2" descr="e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p:cNvPicPr>
            <a:picLocks noChangeAspect="1"/>
          </p:cNvPicPr>
          <p:nvPr/>
        </p:nvPicPr>
        <p:blipFill>
          <a:blip r:embed="rId2"/>
          <a:stretch>
            <a:fillRect/>
          </a:stretch>
        </p:blipFill>
        <p:spPr>
          <a:xfrm>
            <a:off x="6431162" y="3917343"/>
            <a:ext cx="5665777" cy="2452897"/>
          </a:xfrm>
          <a:prstGeom prst="rect">
            <a:avLst/>
          </a:prstGeom>
        </p:spPr>
      </p:pic>
      <p:pic>
        <p:nvPicPr>
          <p:cNvPr id="8" name="Рисунок 7"/>
          <p:cNvPicPr>
            <a:picLocks noChangeAspect="1"/>
          </p:cNvPicPr>
          <p:nvPr/>
        </p:nvPicPr>
        <p:blipFill>
          <a:blip r:embed="rId3"/>
          <a:stretch>
            <a:fillRect/>
          </a:stretch>
        </p:blipFill>
        <p:spPr>
          <a:xfrm>
            <a:off x="128184" y="4297715"/>
            <a:ext cx="5833065" cy="2423760"/>
          </a:xfrm>
          <a:prstGeom prst="rect">
            <a:avLst/>
          </a:prstGeom>
        </p:spPr>
      </p:pic>
      <p:sp>
        <p:nvSpPr>
          <p:cNvPr id="9" name="Прямоугольник 8"/>
          <p:cNvSpPr/>
          <p:nvPr/>
        </p:nvSpPr>
        <p:spPr>
          <a:xfrm>
            <a:off x="128183" y="870977"/>
            <a:ext cx="6302979" cy="4031873"/>
          </a:xfrm>
          <a:prstGeom prst="rect">
            <a:avLst/>
          </a:prstGeom>
        </p:spPr>
        <p:txBody>
          <a:bodyPr wrap="square">
            <a:spAutoFit/>
          </a:bodyPr>
          <a:lstStyle/>
          <a:p>
            <a:r>
              <a:rPr lang="ru-RU" sz="2000" dirty="0"/>
              <a:t>Максимальный спрос на электричество в штате Виктория (Австралия) за 30-минутные интервалы с 10 января 2000 в течении 115 дней.</a:t>
            </a:r>
          </a:p>
          <a:p>
            <a:r>
              <a:rPr lang="ru-RU" sz="2000" dirty="0"/>
              <a:t>2 сезонности </a:t>
            </a:r>
          </a:p>
          <a:p>
            <a:pPr marL="285750" indent="-285750">
              <a:buFont typeface="Arial" panose="020B0604020202020204" pitchFamily="34" charset="0"/>
              <a:buChar char="•"/>
            </a:pPr>
            <a:r>
              <a:rPr lang="ru-RU" sz="2000" dirty="0"/>
              <a:t>суточная (люди обычно больше потребляют электричество днем, чем ночью) </a:t>
            </a:r>
          </a:p>
          <a:p>
            <a:pPr marL="285750" indent="-285750">
              <a:buFont typeface="Arial" panose="020B0604020202020204" pitchFamily="34" charset="0"/>
              <a:buChar char="•"/>
            </a:pPr>
            <a:r>
              <a:rPr lang="ru-RU" sz="2000" dirty="0"/>
              <a:t>недельную (более высокое потребление электричества по будням). </a:t>
            </a:r>
          </a:p>
          <a:p>
            <a:pPr marL="285750" indent="-285750">
              <a:buFont typeface="Arial" panose="020B0604020202020204" pitchFamily="34" charset="0"/>
              <a:buChar char="•"/>
            </a:pPr>
            <a:r>
              <a:rPr lang="ru-RU" sz="2000" dirty="0"/>
              <a:t>Если посмотреть данные за несколько лет, еще годовая, (теплое время года работает больше кондиционеров).</a:t>
            </a:r>
          </a:p>
          <a:p>
            <a:br>
              <a:rPr lang="ru-RU" dirty="0"/>
            </a:br>
            <a:endParaRPr lang="ru-RU" dirty="0"/>
          </a:p>
        </p:txBody>
      </p:sp>
      <p:sp>
        <p:nvSpPr>
          <p:cNvPr id="10" name="Прямоугольник 9"/>
          <p:cNvSpPr/>
          <p:nvPr/>
        </p:nvSpPr>
        <p:spPr>
          <a:xfrm>
            <a:off x="6214463" y="6382921"/>
            <a:ext cx="7086600" cy="338554"/>
          </a:xfrm>
          <a:prstGeom prst="rect">
            <a:avLst/>
          </a:prstGeom>
        </p:spPr>
        <p:txBody>
          <a:bodyPr wrap="square">
            <a:spAutoFit/>
          </a:bodyPr>
          <a:lstStyle/>
          <a:p>
            <a:r>
              <a:rPr lang="ru-RU" sz="1600" dirty="0"/>
              <a:t>https://education.yandex.ru/handbook/ml/article/vremennye-ryady</a:t>
            </a:r>
          </a:p>
        </p:txBody>
      </p:sp>
    </p:spTree>
    <p:extLst>
      <p:ext uri="{BB962C8B-B14F-4D97-AF65-F5344CB8AC3E}">
        <p14:creationId xmlns:p14="http://schemas.microsoft.com/office/powerpoint/2010/main" val="6957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9"/>
            <a:ext cx="10932920" cy="3523342"/>
          </a:xfrm>
        </p:spPr>
        <p:txBody>
          <a:bodyPr>
            <a:normAutofit/>
          </a:bodyPr>
          <a:lstStyle/>
          <a:p>
            <a:r>
              <a:rPr lang="ru-RU" sz="8000" dirty="0"/>
              <a:t>Постановка задачи предсказания ВР</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27</a:t>
            </a:fld>
            <a:endParaRPr lang="en-US"/>
          </a:p>
        </p:txBody>
      </p:sp>
    </p:spTree>
    <p:extLst>
      <p:ext uri="{BB962C8B-B14F-4D97-AF65-F5344CB8AC3E}">
        <p14:creationId xmlns:p14="http://schemas.microsoft.com/office/powerpoint/2010/main" val="9118097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28D024-4605-8CBD-DFD0-F3F657EDAA48}"/>
              </a:ext>
            </a:extLst>
          </p:cNvPr>
          <p:cNvSpPr>
            <a:spLocks noGrp="1"/>
          </p:cNvSpPr>
          <p:nvPr>
            <p:ph type="title"/>
          </p:nvPr>
        </p:nvSpPr>
        <p:spPr>
          <a:xfrm>
            <a:off x="191069" y="365126"/>
            <a:ext cx="11162731" cy="603866"/>
          </a:xfrm>
        </p:spPr>
        <p:txBody>
          <a:bodyPr>
            <a:normAutofit fontScale="90000"/>
          </a:bodyPr>
          <a:lstStyle/>
          <a:p>
            <a:r>
              <a:rPr lang="ru-RU" dirty="0"/>
              <a:t>Представление ВР</a:t>
            </a:r>
          </a:p>
        </p:txBody>
      </p:sp>
      <p:sp>
        <p:nvSpPr>
          <p:cNvPr id="3" name="Объект 2">
            <a:extLst>
              <a:ext uri="{FF2B5EF4-FFF2-40B4-BE49-F238E27FC236}">
                <a16:creationId xmlns:a16="http://schemas.microsoft.com/office/drawing/2014/main" id="{D1A626E8-756A-B6C0-CE0D-154ECACBDE64}"/>
              </a:ext>
            </a:extLst>
          </p:cNvPr>
          <p:cNvSpPr>
            <a:spLocks noGrp="1"/>
          </p:cNvSpPr>
          <p:nvPr>
            <p:ph idx="1"/>
          </p:nvPr>
        </p:nvSpPr>
        <p:spPr>
          <a:xfrm>
            <a:off x="514633" y="1115941"/>
            <a:ext cx="11162731" cy="4670709"/>
          </a:xfrm>
        </p:spPr>
        <p:txBody>
          <a:bodyPr>
            <a:normAutofit/>
          </a:bodyPr>
          <a:lstStyle/>
          <a:p>
            <a:pPr marL="0" indent="0">
              <a:buNone/>
            </a:pPr>
            <a:r>
              <a:rPr lang="ru-RU" sz="2400" dirty="0"/>
              <a:t>Временной ряд — это список чисел (наблюдений) с информацией о том, когда эти числа были записаны (индекс). Числа могут быть в одном столбце (</a:t>
            </a:r>
            <a:r>
              <a:rPr lang="ru-RU" sz="2400" dirty="0" err="1"/>
              <a:t>однопеременный</a:t>
            </a:r>
            <a:r>
              <a:rPr lang="ru-RU" sz="2400" dirty="0"/>
              <a:t> ВР) или в нескольких (</a:t>
            </a:r>
            <a:r>
              <a:rPr lang="ru-RU" sz="2400" dirty="0" err="1"/>
              <a:t>многопеременный</a:t>
            </a:r>
            <a:r>
              <a:rPr lang="ru-RU" sz="2400" dirty="0"/>
              <a:t> ВР). Иногда существуют дополнительные столбцы с более подробной информацией о наблюдениях, известные как </a:t>
            </a:r>
            <a:r>
              <a:rPr lang="ru-RU" sz="2400" dirty="0" err="1"/>
              <a:t>ковариаты</a:t>
            </a:r>
            <a:r>
              <a:rPr lang="ru-RU" sz="2400" dirty="0"/>
              <a:t> или экзогенные переменные. </a:t>
            </a:r>
          </a:p>
        </p:txBody>
      </p:sp>
      <p:sp>
        <p:nvSpPr>
          <p:cNvPr id="4" name="Номер слайда 3">
            <a:extLst>
              <a:ext uri="{FF2B5EF4-FFF2-40B4-BE49-F238E27FC236}">
                <a16:creationId xmlns:a16="http://schemas.microsoft.com/office/drawing/2014/main" id="{20E8FDC8-D1FC-8C9E-7294-0DEA211E186F}"/>
              </a:ext>
            </a:extLst>
          </p:cNvPr>
          <p:cNvSpPr>
            <a:spLocks noGrp="1"/>
          </p:cNvSpPr>
          <p:nvPr>
            <p:ph type="sldNum" sz="quarter" idx="12"/>
          </p:nvPr>
        </p:nvSpPr>
        <p:spPr/>
        <p:txBody>
          <a:bodyPr/>
          <a:lstStyle/>
          <a:p>
            <a:fld id="{45C3B737-A709-4ABC-AFE0-A6B067850C48}" type="slidenum">
              <a:rPr lang="en-US" smtClean="0"/>
              <a:t>28</a:t>
            </a:fld>
            <a:endParaRPr lang="en-US"/>
          </a:p>
        </p:txBody>
      </p:sp>
      <p:pic>
        <p:nvPicPr>
          <p:cNvPr id="25" name="Рисунок 24">
            <a:extLst>
              <a:ext uri="{FF2B5EF4-FFF2-40B4-BE49-F238E27FC236}">
                <a16:creationId xmlns:a16="http://schemas.microsoft.com/office/drawing/2014/main" id="{B76FF666-AB25-69EA-BF0F-FD8B4CE55525}"/>
              </a:ext>
            </a:extLst>
          </p:cNvPr>
          <p:cNvPicPr>
            <a:picLocks noChangeAspect="1"/>
          </p:cNvPicPr>
          <p:nvPr/>
        </p:nvPicPr>
        <p:blipFill>
          <a:blip r:embed="rId2"/>
          <a:stretch>
            <a:fillRect/>
          </a:stretch>
        </p:blipFill>
        <p:spPr>
          <a:xfrm>
            <a:off x="391688" y="3028213"/>
            <a:ext cx="5940115" cy="2542711"/>
          </a:xfrm>
          <a:prstGeom prst="rect">
            <a:avLst/>
          </a:prstGeom>
        </p:spPr>
      </p:pic>
    </p:spTree>
    <p:extLst>
      <p:ext uri="{BB962C8B-B14F-4D97-AF65-F5344CB8AC3E}">
        <p14:creationId xmlns:p14="http://schemas.microsoft.com/office/powerpoint/2010/main" val="21430364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CE5FD9-3051-629C-2F97-C85F3C7261F0}"/>
              </a:ext>
            </a:extLst>
          </p:cNvPr>
          <p:cNvSpPr>
            <a:spLocks noGrp="1"/>
          </p:cNvSpPr>
          <p:nvPr>
            <p:ph type="title"/>
          </p:nvPr>
        </p:nvSpPr>
        <p:spPr>
          <a:xfrm>
            <a:off x="838200" y="365125"/>
            <a:ext cx="10515600" cy="651751"/>
          </a:xfrm>
        </p:spPr>
        <p:txBody>
          <a:bodyPr>
            <a:normAutofit fontScale="90000"/>
          </a:bodyPr>
          <a:lstStyle/>
          <a:p>
            <a:r>
              <a:rPr lang="ru-RU" dirty="0"/>
              <a:t>Т</a:t>
            </a:r>
            <a:r>
              <a:rPr lang="en-US" dirty="0" err="1"/>
              <a:t>ип</a:t>
            </a:r>
            <a:r>
              <a:rPr lang="ru-RU" dirty="0"/>
              <a:t>ы ВР</a:t>
            </a:r>
            <a:br>
              <a:rPr lang="ru-RU" dirty="0"/>
            </a:br>
            <a:endParaRPr lang="ru-RU" dirty="0"/>
          </a:p>
        </p:txBody>
      </p:sp>
      <p:pic>
        <p:nvPicPr>
          <p:cNvPr id="10246" name="Picture 6">
            <a:extLst>
              <a:ext uri="{FF2B5EF4-FFF2-40B4-BE49-F238E27FC236}">
                <a16:creationId xmlns:a16="http://schemas.microsoft.com/office/drawing/2014/main" id="{C02F706D-4556-CD59-5DD6-64AD296BC17F}"/>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7478973" y="1132763"/>
            <a:ext cx="4212616" cy="350240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DD180F2-529F-8133-D6ED-F9CAB89D8902}"/>
              </a:ext>
            </a:extLst>
          </p:cNvPr>
          <p:cNvSpPr txBox="1"/>
          <p:nvPr/>
        </p:nvSpPr>
        <p:spPr>
          <a:xfrm>
            <a:off x="7314092" y="632673"/>
            <a:ext cx="3558346" cy="584775"/>
          </a:xfrm>
          <a:prstGeom prst="rect">
            <a:avLst/>
          </a:prstGeom>
          <a:noFill/>
        </p:spPr>
        <p:txBody>
          <a:bodyPr wrap="none" rtlCol="0">
            <a:spAutoFit/>
          </a:bodyPr>
          <a:lstStyle/>
          <a:p>
            <a:r>
              <a:rPr lang="ru-RU" sz="3200" dirty="0" err="1"/>
              <a:t>Многопеременные</a:t>
            </a:r>
            <a:endParaRPr lang="ru-RU" sz="3200" dirty="0"/>
          </a:p>
        </p:txBody>
      </p:sp>
      <p:pic>
        <p:nvPicPr>
          <p:cNvPr id="17" name="Picture 2">
            <a:extLst>
              <a:ext uri="{FF2B5EF4-FFF2-40B4-BE49-F238E27FC236}">
                <a16:creationId xmlns:a16="http://schemas.microsoft.com/office/drawing/2014/main" id="{F0FE80FE-BB9D-9DC1-C5CA-E7B33EE048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17448"/>
            <a:ext cx="3194531" cy="31088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9DD180F2-529F-8133-D6ED-F9CAB89D8902}"/>
              </a:ext>
            </a:extLst>
          </p:cNvPr>
          <p:cNvSpPr txBox="1"/>
          <p:nvPr/>
        </p:nvSpPr>
        <p:spPr>
          <a:xfrm>
            <a:off x="344748" y="595148"/>
            <a:ext cx="3345147" cy="584775"/>
          </a:xfrm>
          <a:prstGeom prst="rect">
            <a:avLst/>
          </a:prstGeom>
          <a:noFill/>
        </p:spPr>
        <p:txBody>
          <a:bodyPr wrap="none" rtlCol="0">
            <a:spAutoFit/>
          </a:bodyPr>
          <a:lstStyle/>
          <a:p>
            <a:r>
              <a:rPr lang="ru-RU" sz="3200" dirty="0" err="1"/>
              <a:t>Однопеременные</a:t>
            </a:r>
            <a:endParaRPr lang="ru-RU" sz="3200" dirty="0"/>
          </a:p>
        </p:txBody>
      </p:sp>
      <p:pic>
        <p:nvPicPr>
          <p:cNvPr id="3" name="Рисунок 2">
            <a:extLst>
              <a:ext uri="{FF2B5EF4-FFF2-40B4-BE49-F238E27FC236}">
                <a16:creationId xmlns:a16="http://schemas.microsoft.com/office/drawing/2014/main" id="{5168CFFE-8428-D4A6-71E0-8396480A6443}"/>
              </a:ext>
            </a:extLst>
          </p:cNvPr>
          <p:cNvPicPr>
            <a:picLocks noChangeAspect="1"/>
          </p:cNvPicPr>
          <p:nvPr/>
        </p:nvPicPr>
        <p:blipFill>
          <a:blip r:embed="rId5"/>
          <a:srcRect b="56643"/>
          <a:stretch>
            <a:fillRect/>
          </a:stretch>
        </p:blipFill>
        <p:spPr>
          <a:xfrm>
            <a:off x="1630247" y="4711699"/>
            <a:ext cx="7741822" cy="1857706"/>
          </a:xfrm>
          <a:prstGeom prst="rect">
            <a:avLst/>
          </a:prstGeom>
        </p:spPr>
      </p:pic>
    </p:spTree>
    <p:extLst>
      <p:ext uri="{BB962C8B-B14F-4D97-AF65-F5344CB8AC3E}">
        <p14:creationId xmlns:p14="http://schemas.microsoft.com/office/powerpoint/2010/main" val="249945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8BEFC-227C-F3A5-6BF7-0EDC5199E14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73508C-9B06-9D83-FA2F-0D3110DF0AFA}"/>
              </a:ext>
            </a:extLst>
          </p:cNvPr>
          <p:cNvSpPr>
            <a:spLocks noGrp="1"/>
          </p:cNvSpPr>
          <p:nvPr>
            <p:ph type="title"/>
          </p:nvPr>
        </p:nvSpPr>
        <p:spPr>
          <a:xfrm>
            <a:off x="285750" y="365125"/>
            <a:ext cx="11068050" cy="864631"/>
          </a:xfrm>
        </p:spPr>
        <p:txBody>
          <a:bodyPr/>
          <a:lstStyle/>
          <a:p>
            <a:r>
              <a:rPr lang="ru-RU" dirty="0"/>
              <a:t>Экзогенные и </a:t>
            </a:r>
            <a:r>
              <a:rPr lang="ru-RU" dirty="0" err="1"/>
              <a:t>многопеременные</a:t>
            </a:r>
            <a:r>
              <a:rPr lang="ru-RU" dirty="0"/>
              <a:t> ВР</a:t>
            </a:r>
          </a:p>
        </p:txBody>
      </p:sp>
      <p:sp>
        <p:nvSpPr>
          <p:cNvPr id="3" name="Объект 2">
            <a:extLst>
              <a:ext uri="{FF2B5EF4-FFF2-40B4-BE49-F238E27FC236}">
                <a16:creationId xmlns:a16="http://schemas.microsoft.com/office/drawing/2014/main" id="{D7CEC062-D60A-AFC8-0F6D-C2BF7E437867}"/>
              </a:ext>
            </a:extLst>
          </p:cNvPr>
          <p:cNvSpPr>
            <a:spLocks noGrp="1"/>
          </p:cNvSpPr>
          <p:nvPr>
            <p:ph idx="1"/>
          </p:nvPr>
        </p:nvSpPr>
        <p:spPr>
          <a:xfrm>
            <a:off x="285749" y="1277897"/>
            <a:ext cx="11634501" cy="4351338"/>
          </a:xfrm>
        </p:spPr>
        <p:txBody>
          <a:bodyPr>
            <a:normAutofit/>
          </a:bodyPr>
          <a:lstStyle/>
          <a:p>
            <a:r>
              <a:rPr lang="ru-RU" sz="2200" b="1" dirty="0"/>
              <a:t>Экзогенные факторы </a:t>
            </a:r>
            <a:r>
              <a:rPr lang="ru-RU" sz="2200" dirty="0"/>
              <a:t>— это переменные, которые влияют на исследуемый ВР , но не зависят от него. Эти факторы могут быть использованы для объяснения изменений в зависимой переменной. Напр. Влияние природных катастроф на прогноз урожайности зерна</a:t>
            </a:r>
          </a:p>
          <a:p>
            <a:r>
              <a:rPr lang="ru-RU" sz="2200" b="1" dirty="0" err="1"/>
              <a:t>Многопеременные</a:t>
            </a:r>
            <a:r>
              <a:rPr lang="ru-RU" sz="2200" b="1" dirty="0"/>
              <a:t> временные ряды </a:t>
            </a:r>
            <a:r>
              <a:rPr lang="ru-RU" sz="2200" dirty="0"/>
              <a:t>представляют собой набор ВР, собранных в течение времени, где несколько переменных наблюдаются одновременно и все важны. ВР могут быть как эндогенными (зависимыми), так и экзогенными!</a:t>
            </a:r>
          </a:p>
        </p:txBody>
      </p:sp>
      <p:sp>
        <p:nvSpPr>
          <p:cNvPr id="4" name="Номер слайда 3">
            <a:extLst>
              <a:ext uri="{FF2B5EF4-FFF2-40B4-BE49-F238E27FC236}">
                <a16:creationId xmlns:a16="http://schemas.microsoft.com/office/drawing/2014/main" id="{13EE6F89-EBA7-EB60-3D8B-BA18FD66840D}"/>
              </a:ext>
            </a:extLst>
          </p:cNvPr>
          <p:cNvSpPr>
            <a:spLocks noGrp="1"/>
          </p:cNvSpPr>
          <p:nvPr>
            <p:ph type="sldNum" sz="quarter" idx="12"/>
          </p:nvPr>
        </p:nvSpPr>
        <p:spPr/>
        <p:txBody>
          <a:bodyPr/>
          <a:lstStyle/>
          <a:p>
            <a:fld id="{45C3B737-A709-4ABC-AFE0-A6B067850C48}" type="slidenum">
              <a:rPr lang="en-US" smtClean="0"/>
              <a:t>30</a:t>
            </a:fld>
            <a:endParaRPr lang="en-US"/>
          </a:p>
        </p:txBody>
      </p:sp>
      <p:sp>
        <p:nvSpPr>
          <p:cNvPr id="7" name="TextBox 6">
            <a:extLst>
              <a:ext uri="{FF2B5EF4-FFF2-40B4-BE49-F238E27FC236}">
                <a16:creationId xmlns:a16="http://schemas.microsoft.com/office/drawing/2014/main" id="{F675B6E4-D643-B929-7BB1-F8890A822031}"/>
              </a:ext>
            </a:extLst>
          </p:cNvPr>
          <p:cNvSpPr txBox="1"/>
          <p:nvPr/>
        </p:nvSpPr>
        <p:spPr>
          <a:xfrm>
            <a:off x="6096000" y="6377467"/>
            <a:ext cx="6096000" cy="369332"/>
          </a:xfrm>
          <a:prstGeom prst="rect">
            <a:avLst/>
          </a:prstGeom>
          <a:noFill/>
        </p:spPr>
        <p:txBody>
          <a:bodyPr wrap="square">
            <a:spAutoFit/>
          </a:bodyPr>
          <a:lstStyle/>
          <a:p>
            <a:r>
              <a:rPr lang="ru-RU" dirty="0" err="1"/>
              <a:t>https</a:t>
            </a:r>
            <a:r>
              <a:rPr lang="ru-RU" dirty="0"/>
              <a:t>://</a:t>
            </a:r>
            <a:r>
              <a:rPr lang="ru-RU" dirty="0" err="1"/>
              <a:t>goldinlocks.github.io</a:t>
            </a:r>
            <a:r>
              <a:rPr lang="ru-RU" dirty="0"/>
              <a:t>/</a:t>
            </a:r>
            <a:r>
              <a:rPr lang="ru-RU" dirty="0" err="1"/>
              <a:t>Multivariate-time-series-models</a:t>
            </a:r>
            <a:r>
              <a:rPr lang="ru-RU" dirty="0"/>
              <a:t>/</a:t>
            </a:r>
          </a:p>
        </p:txBody>
      </p:sp>
      <p:sp>
        <p:nvSpPr>
          <p:cNvPr id="6" name="TextBox 5">
            <a:extLst>
              <a:ext uri="{FF2B5EF4-FFF2-40B4-BE49-F238E27FC236}">
                <a16:creationId xmlns:a16="http://schemas.microsoft.com/office/drawing/2014/main" id="{7FF5DD3F-6A24-7192-B5D7-62856EC6C547}"/>
              </a:ext>
            </a:extLst>
          </p:cNvPr>
          <p:cNvSpPr txBox="1"/>
          <p:nvPr/>
        </p:nvSpPr>
        <p:spPr>
          <a:xfrm>
            <a:off x="285749" y="3303885"/>
            <a:ext cx="11118773" cy="923330"/>
          </a:xfrm>
          <a:prstGeom prst="rect">
            <a:avLst/>
          </a:prstGeom>
          <a:noFill/>
        </p:spPr>
        <p:txBody>
          <a:bodyPr wrap="square">
            <a:spAutoFit/>
          </a:bodyPr>
          <a:lstStyle/>
          <a:p>
            <a:pPr algn="l" fontAlgn="base">
              <a:buFont typeface="Arial" panose="020B0604020202020204" pitchFamily="34" charset="0"/>
              <a:buChar char="•"/>
            </a:pPr>
            <a:r>
              <a:rPr lang="ru-RU" b="0" i="0" u="none" strike="noStrike" dirty="0">
                <a:solidFill>
                  <a:srgbClr val="222222"/>
                </a:solidFill>
                <a:effectLst/>
                <a:latin typeface="var(--sds-font-family-01)"/>
              </a:rPr>
              <a:t>Экзогенные факторы используются для объяснения изменений в зависимой переменной.</a:t>
            </a:r>
          </a:p>
          <a:p>
            <a:pPr algn="l" fontAlgn="base">
              <a:buFont typeface="Arial" panose="020B0604020202020204" pitchFamily="34" charset="0"/>
              <a:buChar char="•"/>
            </a:pPr>
            <a:r>
              <a:rPr lang="ru-RU" b="0" i="0" u="none" strike="noStrike" dirty="0" err="1">
                <a:solidFill>
                  <a:srgbClr val="222222"/>
                </a:solidFill>
                <a:effectLst/>
                <a:latin typeface="var(--sds-font-family-01)"/>
              </a:rPr>
              <a:t>Многопеременные</a:t>
            </a:r>
            <a:r>
              <a:rPr lang="ru-RU" b="0" i="0" u="none" strike="noStrike" dirty="0">
                <a:solidFill>
                  <a:srgbClr val="222222"/>
                </a:solidFill>
                <a:effectLst/>
                <a:latin typeface="var(--sds-font-family-01)"/>
              </a:rPr>
              <a:t> временные ряды используются для анализа взаимосвязей между несколькими переменными во времени.</a:t>
            </a:r>
          </a:p>
        </p:txBody>
      </p:sp>
      <p:pic>
        <p:nvPicPr>
          <p:cNvPr id="5" name="Рисунок 4">
            <a:extLst>
              <a:ext uri="{FF2B5EF4-FFF2-40B4-BE49-F238E27FC236}">
                <a16:creationId xmlns:a16="http://schemas.microsoft.com/office/drawing/2014/main" id="{D93BA4B2-C05F-1DD9-686F-3807EB25E42F}"/>
              </a:ext>
            </a:extLst>
          </p:cNvPr>
          <p:cNvPicPr>
            <a:picLocks noChangeAspect="1"/>
          </p:cNvPicPr>
          <p:nvPr/>
        </p:nvPicPr>
        <p:blipFill>
          <a:blip r:embed="rId2"/>
          <a:srcRect r="57807" b="56643"/>
          <a:stretch>
            <a:fillRect/>
          </a:stretch>
        </p:blipFill>
        <p:spPr>
          <a:xfrm>
            <a:off x="776656" y="4227215"/>
            <a:ext cx="4481144" cy="2548496"/>
          </a:xfrm>
          <a:prstGeom prst="rect">
            <a:avLst/>
          </a:prstGeom>
        </p:spPr>
      </p:pic>
      <p:pic>
        <p:nvPicPr>
          <p:cNvPr id="8" name="Рисунок 7">
            <a:extLst>
              <a:ext uri="{FF2B5EF4-FFF2-40B4-BE49-F238E27FC236}">
                <a16:creationId xmlns:a16="http://schemas.microsoft.com/office/drawing/2014/main" id="{13BCEB44-5DE6-9EEE-6D21-7B224F0F9F63}"/>
              </a:ext>
            </a:extLst>
          </p:cNvPr>
          <p:cNvPicPr>
            <a:picLocks noChangeAspect="1"/>
          </p:cNvPicPr>
          <p:nvPr/>
        </p:nvPicPr>
        <p:blipFill>
          <a:blip r:embed="rId2"/>
          <a:srcRect l="40745" b="56643"/>
          <a:stretch>
            <a:fillRect/>
          </a:stretch>
        </p:blipFill>
        <p:spPr>
          <a:xfrm>
            <a:off x="6731914" y="3953357"/>
            <a:ext cx="5679243" cy="2299846"/>
          </a:xfrm>
          <a:prstGeom prst="rect">
            <a:avLst/>
          </a:prstGeom>
        </p:spPr>
      </p:pic>
    </p:spTree>
    <p:extLst>
      <p:ext uri="{BB962C8B-B14F-4D97-AF65-F5344CB8AC3E}">
        <p14:creationId xmlns:p14="http://schemas.microsoft.com/office/powerpoint/2010/main" val="2083683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CE5FD9-3051-629C-2F97-C85F3C7261F0}"/>
              </a:ext>
            </a:extLst>
          </p:cNvPr>
          <p:cNvSpPr>
            <a:spLocks noGrp="1"/>
          </p:cNvSpPr>
          <p:nvPr>
            <p:ph type="title"/>
          </p:nvPr>
        </p:nvSpPr>
        <p:spPr>
          <a:xfrm>
            <a:off x="838200" y="365125"/>
            <a:ext cx="10515600" cy="635985"/>
          </a:xfrm>
        </p:spPr>
        <p:txBody>
          <a:bodyPr>
            <a:normAutofit fontScale="90000"/>
          </a:bodyPr>
          <a:lstStyle/>
          <a:p>
            <a:r>
              <a:rPr lang="ru-RU" dirty="0"/>
              <a:t>Т</a:t>
            </a:r>
            <a:r>
              <a:rPr lang="en-US" dirty="0" err="1"/>
              <a:t>ип</a:t>
            </a:r>
            <a:r>
              <a:rPr lang="ru-RU" dirty="0"/>
              <a:t>ы ВР</a:t>
            </a:r>
          </a:p>
        </p:txBody>
      </p:sp>
      <p:sp>
        <p:nvSpPr>
          <p:cNvPr id="4" name="Номер слайда 3">
            <a:extLst>
              <a:ext uri="{FF2B5EF4-FFF2-40B4-BE49-F238E27FC236}">
                <a16:creationId xmlns:a16="http://schemas.microsoft.com/office/drawing/2014/main" id="{A897C984-0204-5E9E-457A-DB6BF60E8DBB}"/>
              </a:ext>
            </a:extLst>
          </p:cNvPr>
          <p:cNvSpPr>
            <a:spLocks noGrp="1"/>
          </p:cNvSpPr>
          <p:nvPr>
            <p:ph type="sldNum" sz="quarter" idx="12"/>
          </p:nvPr>
        </p:nvSpPr>
        <p:spPr/>
        <p:txBody>
          <a:bodyPr/>
          <a:lstStyle/>
          <a:p>
            <a:fld id="{45C3B737-A709-4ABC-AFE0-A6B067850C48}" type="slidenum">
              <a:rPr lang="en-US" smtClean="0"/>
              <a:t>31</a:t>
            </a:fld>
            <a:endParaRPr lang="en-US"/>
          </a:p>
        </p:txBody>
      </p:sp>
      <p:pic>
        <p:nvPicPr>
          <p:cNvPr id="10242" name="Picture 2" descr="Total Australian quarterly adult prison population, disaggregated by state, by legal status, and by gender.">
            <a:extLst>
              <a:ext uri="{FF2B5EF4-FFF2-40B4-BE49-F238E27FC236}">
                <a16:creationId xmlns:a16="http://schemas.microsoft.com/office/drawing/2014/main" id="{45E23826-E9BC-3ACE-5161-1DD78936D5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2438"/>
          <a:stretch/>
        </p:blipFill>
        <p:spPr bwMode="auto">
          <a:xfrm>
            <a:off x="220957" y="4225111"/>
            <a:ext cx="5723919" cy="1904864"/>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Domestic overnight trips from 1998 Q1 to 2017 Q4 aggregated by state.">
            <a:extLst>
              <a:ext uri="{FF2B5EF4-FFF2-40B4-BE49-F238E27FC236}">
                <a16:creationId xmlns:a16="http://schemas.microsoft.com/office/drawing/2014/main" id="{8752192F-3E0C-4DA2-D03D-FBEC53D83EFC}"/>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7407104" y="733478"/>
            <a:ext cx="4543425" cy="3179073"/>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a:extLst>
              <a:ext uri="{FF2B5EF4-FFF2-40B4-BE49-F238E27FC236}">
                <a16:creationId xmlns:a16="http://schemas.microsoft.com/office/drawing/2014/main" id="{10511C68-A550-B13E-2B5E-F7BFF87619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287" y="1196087"/>
            <a:ext cx="5337258" cy="24242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E9B5CB3-C5D8-FC49-493B-E9A614063352}"/>
              </a:ext>
            </a:extLst>
          </p:cNvPr>
          <p:cNvSpPr txBox="1"/>
          <p:nvPr/>
        </p:nvSpPr>
        <p:spPr>
          <a:xfrm>
            <a:off x="314395" y="6416642"/>
            <a:ext cx="6096000" cy="369332"/>
          </a:xfrm>
          <a:prstGeom prst="rect">
            <a:avLst/>
          </a:prstGeom>
          <a:noFill/>
        </p:spPr>
        <p:txBody>
          <a:bodyPr wrap="square">
            <a:spAutoFit/>
          </a:bodyPr>
          <a:lstStyle/>
          <a:p>
            <a:r>
              <a:rPr lang="ru-RU" dirty="0" err="1"/>
              <a:t>https</a:t>
            </a:r>
            <a:r>
              <a:rPr lang="ru-RU" dirty="0"/>
              <a:t>://</a:t>
            </a:r>
            <a:r>
              <a:rPr lang="ru-RU" dirty="0" err="1"/>
              <a:t>skforecast.org</a:t>
            </a:r>
            <a:r>
              <a:rPr lang="ru-RU" dirty="0"/>
              <a:t>/0.9.1/</a:t>
            </a:r>
            <a:r>
              <a:rPr lang="ru-RU" dirty="0" err="1"/>
              <a:t>user_guides</a:t>
            </a:r>
            <a:r>
              <a:rPr lang="ru-RU" dirty="0"/>
              <a:t>/</a:t>
            </a:r>
            <a:r>
              <a:rPr lang="ru-RU" dirty="0" err="1"/>
              <a:t>exogenous-variables</a:t>
            </a:r>
            <a:endParaRPr lang="ru-RU" dirty="0"/>
          </a:p>
        </p:txBody>
      </p:sp>
      <p:sp>
        <p:nvSpPr>
          <p:cNvPr id="9" name="TextBox 8">
            <a:extLst>
              <a:ext uri="{FF2B5EF4-FFF2-40B4-BE49-F238E27FC236}">
                <a16:creationId xmlns:a16="http://schemas.microsoft.com/office/drawing/2014/main" id="{9DB15D93-B070-B175-224E-D9C630C8F652}"/>
              </a:ext>
            </a:extLst>
          </p:cNvPr>
          <p:cNvSpPr txBox="1"/>
          <p:nvPr/>
        </p:nvSpPr>
        <p:spPr>
          <a:xfrm>
            <a:off x="360278" y="3552040"/>
            <a:ext cx="4361957" cy="461665"/>
          </a:xfrm>
          <a:prstGeom prst="rect">
            <a:avLst/>
          </a:prstGeom>
          <a:noFill/>
        </p:spPr>
        <p:txBody>
          <a:bodyPr wrap="square">
            <a:spAutoFit/>
          </a:bodyPr>
          <a:lstStyle/>
          <a:p>
            <a:r>
              <a:rPr lang="ru-RU" sz="1200" dirty="0" err="1"/>
              <a:t>https</a:t>
            </a:r>
            <a:r>
              <a:rPr lang="ru-RU" sz="1200" dirty="0"/>
              <a:t>://</a:t>
            </a:r>
            <a:r>
              <a:rPr lang="ru-RU" sz="1200" dirty="0" err="1"/>
              <a:t>nixtlaverse.nixtla.io</a:t>
            </a:r>
            <a:r>
              <a:rPr lang="ru-RU" sz="1200" dirty="0"/>
              <a:t>/</a:t>
            </a:r>
            <a:r>
              <a:rPr lang="ru-RU" sz="1200" dirty="0" err="1"/>
              <a:t>statsforecast</a:t>
            </a:r>
            <a:r>
              <a:rPr lang="ru-RU" sz="1200" dirty="0"/>
              <a:t>/</a:t>
            </a:r>
            <a:r>
              <a:rPr lang="ru-RU" sz="1200" dirty="0" err="1"/>
              <a:t>docs</a:t>
            </a:r>
            <a:r>
              <a:rPr lang="ru-RU" sz="1200" dirty="0"/>
              <a:t>/</a:t>
            </a:r>
            <a:r>
              <a:rPr lang="ru-RU" sz="1200" dirty="0" err="1"/>
              <a:t>getting-started</a:t>
            </a:r>
            <a:r>
              <a:rPr lang="ru-RU" sz="1200" dirty="0"/>
              <a:t>/</a:t>
            </a:r>
            <a:r>
              <a:rPr lang="ru-RU" sz="1200" dirty="0" err="1"/>
              <a:t>getting_started_complete.html</a:t>
            </a:r>
            <a:endParaRPr lang="ru-RU" sz="1200" dirty="0"/>
          </a:p>
        </p:txBody>
      </p:sp>
      <p:sp>
        <p:nvSpPr>
          <p:cNvPr id="11" name="TextBox 10">
            <a:extLst>
              <a:ext uri="{FF2B5EF4-FFF2-40B4-BE49-F238E27FC236}">
                <a16:creationId xmlns:a16="http://schemas.microsoft.com/office/drawing/2014/main" id="{F47B8200-609C-D942-9532-F2B9131EA38B}"/>
              </a:ext>
            </a:extLst>
          </p:cNvPr>
          <p:cNvSpPr txBox="1"/>
          <p:nvPr/>
        </p:nvSpPr>
        <p:spPr>
          <a:xfrm>
            <a:off x="7729983" y="6471885"/>
            <a:ext cx="4504434" cy="369332"/>
          </a:xfrm>
          <a:prstGeom prst="rect">
            <a:avLst/>
          </a:prstGeom>
          <a:noFill/>
        </p:spPr>
        <p:txBody>
          <a:bodyPr wrap="square">
            <a:spAutoFit/>
          </a:bodyPr>
          <a:lstStyle/>
          <a:p>
            <a:r>
              <a:rPr lang="ru-RU" dirty="0" err="1"/>
              <a:t>https</a:t>
            </a:r>
            <a:r>
              <a:rPr lang="ru-RU" dirty="0"/>
              <a:t>://</a:t>
            </a:r>
            <a:r>
              <a:rPr lang="ru-RU" dirty="0" err="1"/>
              <a:t>otexts.com</a:t>
            </a:r>
            <a:r>
              <a:rPr lang="ru-RU" dirty="0"/>
              <a:t>/fpp3/</a:t>
            </a:r>
            <a:r>
              <a:rPr lang="ru-RU" dirty="0" err="1"/>
              <a:t>hierarchical.html</a:t>
            </a:r>
            <a:endParaRPr lang="ru-RU" dirty="0"/>
          </a:p>
        </p:txBody>
      </p:sp>
      <p:sp>
        <p:nvSpPr>
          <p:cNvPr id="15" name="TextBox 14">
            <a:extLst>
              <a:ext uri="{FF2B5EF4-FFF2-40B4-BE49-F238E27FC236}">
                <a16:creationId xmlns:a16="http://schemas.microsoft.com/office/drawing/2014/main" id="{E2C46EB7-BE7A-D002-B7F0-4807AD04A4E7}"/>
              </a:ext>
            </a:extLst>
          </p:cNvPr>
          <p:cNvSpPr txBox="1"/>
          <p:nvPr/>
        </p:nvSpPr>
        <p:spPr>
          <a:xfrm>
            <a:off x="1067674" y="939054"/>
            <a:ext cx="2802242" cy="369332"/>
          </a:xfrm>
          <a:prstGeom prst="rect">
            <a:avLst/>
          </a:prstGeom>
          <a:noFill/>
        </p:spPr>
        <p:txBody>
          <a:bodyPr wrap="none" rtlCol="0">
            <a:spAutoFit/>
          </a:bodyPr>
          <a:lstStyle/>
          <a:p>
            <a:r>
              <a:rPr lang="ru-RU" dirty="0"/>
              <a:t>С экзогенными факторами</a:t>
            </a:r>
          </a:p>
        </p:txBody>
      </p:sp>
      <p:sp>
        <p:nvSpPr>
          <p:cNvPr id="16" name="TextBox 15">
            <a:extLst>
              <a:ext uri="{FF2B5EF4-FFF2-40B4-BE49-F238E27FC236}">
                <a16:creationId xmlns:a16="http://schemas.microsoft.com/office/drawing/2014/main" id="{A5A3A064-722F-1173-7178-CC7ABCFEE11E}"/>
              </a:ext>
            </a:extLst>
          </p:cNvPr>
          <p:cNvSpPr txBox="1"/>
          <p:nvPr/>
        </p:nvSpPr>
        <p:spPr>
          <a:xfrm>
            <a:off x="8680581" y="401771"/>
            <a:ext cx="1694053" cy="369332"/>
          </a:xfrm>
          <a:prstGeom prst="rect">
            <a:avLst/>
          </a:prstGeom>
          <a:noFill/>
        </p:spPr>
        <p:txBody>
          <a:bodyPr wrap="none" rtlCol="0">
            <a:spAutoFit/>
          </a:bodyPr>
          <a:lstStyle/>
          <a:p>
            <a:r>
              <a:rPr lang="ru-RU" dirty="0"/>
              <a:t>Иерархические</a:t>
            </a:r>
          </a:p>
        </p:txBody>
      </p:sp>
      <p:pic>
        <p:nvPicPr>
          <p:cNvPr id="17" name="Picture 2" descr="Total Australian quarterly adult prison population, disaggregated by state, by legal status, and by gender.">
            <a:extLst>
              <a:ext uri="{FF2B5EF4-FFF2-40B4-BE49-F238E27FC236}">
                <a16:creationId xmlns:a16="http://schemas.microsoft.com/office/drawing/2014/main" id="{45E23826-E9BC-3ACE-5161-1DD78936D5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7" t="47981" r="-317" b="373"/>
          <a:stretch/>
        </p:blipFill>
        <p:spPr bwMode="auto">
          <a:xfrm>
            <a:off x="6132889" y="4171031"/>
            <a:ext cx="5817640" cy="2102278"/>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A5A3A064-722F-1173-7178-CC7ABCFEE11E}"/>
              </a:ext>
            </a:extLst>
          </p:cNvPr>
          <p:cNvSpPr txBox="1"/>
          <p:nvPr/>
        </p:nvSpPr>
        <p:spPr>
          <a:xfrm>
            <a:off x="3827655" y="3815303"/>
            <a:ext cx="1234505" cy="369332"/>
          </a:xfrm>
          <a:prstGeom prst="rect">
            <a:avLst/>
          </a:prstGeom>
          <a:noFill/>
        </p:spPr>
        <p:txBody>
          <a:bodyPr wrap="none" rtlCol="0">
            <a:spAutoFit/>
          </a:bodyPr>
          <a:lstStyle/>
          <a:p>
            <a:r>
              <a:rPr lang="ru-RU" dirty="0"/>
              <a:t>Групповые</a:t>
            </a:r>
          </a:p>
        </p:txBody>
      </p:sp>
      <p:cxnSp>
        <p:nvCxnSpPr>
          <p:cNvPr id="5" name="Прямая со стрелкой 4">
            <a:extLst>
              <a:ext uri="{FF2B5EF4-FFF2-40B4-BE49-F238E27FC236}">
                <a16:creationId xmlns:a16="http://schemas.microsoft.com/office/drawing/2014/main" id="{5B24DFDA-344A-4643-1C06-E6CA58470153}"/>
              </a:ext>
            </a:extLst>
          </p:cNvPr>
          <p:cNvCxnSpPr>
            <a:endCxn id="10242" idx="3"/>
          </p:cNvCxnSpPr>
          <p:nvPr/>
        </p:nvCxnSpPr>
        <p:spPr>
          <a:xfrm>
            <a:off x="5062160" y="5177543"/>
            <a:ext cx="8827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0281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BAF81-22EA-22EF-A294-14B499CC3F0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B5D777-43A0-916E-A65E-D500F8D94404}"/>
              </a:ext>
            </a:extLst>
          </p:cNvPr>
          <p:cNvSpPr>
            <a:spLocks noGrp="1"/>
          </p:cNvSpPr>
          <p:nvPr>
            <p:ph type="title"/>
          </p:nvPr>
        </p:nvSpPr>
        <p:spPr>
          <a:xfrm>
            <a:off x="285750" y="181911"/>
            <a:ext cx="11068050" cy="864631"/>
          </a:xfrm>
        </p:spPr>
        <p:txBody>
          <a:bodyPr/>
          <a:lstStyle/>
          <a:p>
            <a:r>
              <a:rPr lang="ru-RU" dirty="0"/>
              <a:t>Некоторые типы ВР</a:t>
            </a:r>
          </a:p>
        </p:txBody>
      </p:sp>
      <p:sp>
        <p:nvSpPr>
          <p:cNvPr id="3" name="Объект 2">
            <a:extLst>
              <a:ext uri="{FF2B5EF4-FFF2-40B4-BE49-F238E27FC236}">
                <a16:creationId xmlns:a16="http://schemas.microsoft.com/office/drawing/2014/main" id="{1E05B2E4-704A-4B04-3172-D5182EE9D708}"/>
              </a:ext>
            </a:extLst>
          </p:cNvPr>
          <p:cNvSpPr>
            <a:spLocks noGrp="1"/>
          </p:cNvSpPr>
          <p:nvPr>
            <p:ph idx="1"/>
          </p:nvPr>
        </p:nvSpPr>
        <p:spPr>
          <a:xfrm>
            <a:off x="271749" y="870271"/>
            <a:ext cx="11634501" cy="5507195"/>
          </a:xfrm>
        </p:spPr>
        <p:txBody>
          <a:bodyPr>
            <a:noAutofit/>
          </a:bodyPr>
          <a:lstStyle/>
          <a:p>
            <a:r>
              <a:rPr lang="ru-RU" sz="2200" b="1" dirty="0" err="1"/>
              <a:t>Однопеременные</a:t>
            </a:r>
            <a:r>
              <a:rPr lang="ru-RU" sz="2200" b="1" dirty="0"/>
              <a:t> временные ряды (ВР) </a:t>
            </a:r>
            <a:r>
              <a:rPr lang="ru-RU" sz="2200" dirty="0"/>
              <a:t>— это последовательности значений одной переменной, зафиксированных в различные моменты времени. </a:t>
            </a:r>
            <a:r>
              <a:rPr lang="ru-RU" sz="2200" b="1" dirty="0"/>
              <a:t>Цель</a:t>
            </a:r>
            <a:r>
              <a:rPr lang="ru-RU" sz="2200" dirty="0"/>
              <a:t>, напр. Предсказать </a:t>
            </a:r>
            <a:r>
              <a:rPr lang="ru-RU" sz="2200" dirty="0" err="1"/>
              <a:t>следущее</a:t>
            </a:r>
            <a:r>
              <a:rPr lang="ru-RU" sz="2200" dirty="0"/>
              <a:t> значение переменной</a:t>
            </a:r>
          </a:p>
          <a:p>
            <a:r>
              <a:rPr lang="ru-RU" sz="2200" b="1" dirty="0"/>
              <a:t>Экзогенные факторы </a:t>
            </a:r>
            <a:r>
              <a:rPr lang="ru-RU" sz="2200" dirty="0"/>
              <a:t>— это внешние переменные, влияющие на исследуемый ВР, но не зависящие от него. </a:t>
            </a:r>
            <a:r>
              <a:rPr lang="ru-RU" sz="2200" b="1" dirty="0"/>
              <a:t>Цель -</a:t>
            </a:r>
            <a:r>
              <a:rPr lang="ru-RU" sz="2200" dirty="0"/>
              <a:t> объяснение изменений в зависимой переменной (доп. внешняя информация).</a:t>
            </a:r>
          </a:p>
          <a:p>
            <a:r>
              <a:rPr lang="ru-RU" sz="2200" b="1" dirty="0" err="1"/>
              <a:t>Многопеременные</a:t>
            </a:r>
            <a:r>
              <a:rPr lang="ru-RU" sz="2200" b="1" dirty="0"/>
              <a:t> временные ряды </a:t>
            </a:r>
            <a:r>
              <a:rPr lang="ru-RU" sz="2200" dirty="0"/>
              <a:t>- совокупность нескольких переменных, наблюдаемых одновременно во времени. В их состав могут входить как эндогенные (зависимые), так и экзогенные (независимые) переменные. </a:t>
            </a:r>
            <a:r>
              <a:rPr lang="ru-RU" sz="2200" b="1" dirty="0"/>
              <a:t>Цель</a:t>
            </a:r>
            <a:r>
              <a:rPr lang="ru-RU" sz="2200" dirty="0"/>
              <a:t> – учет взаимного влияния ВР при анализе.</a:t>
            </a:r>
          </a:p>
          <a:p>
            <a:r>
              <a:rPr lang="ru-RU" sz="2200" b="1" dirty="0"/>
              <a:t>Иерархические временные ряды </a:t>
            </a:r>
            <a:r>
              <a:rPr lang="ru-RU" sz="2200" dirty="0"/>
              <a:t>— это структуры данных, в которых временные ряды организованы по уровням агрегации (например, по регионам, странам, континентам). Анализ может проводиться как на уровне отдельных элементов, так и на уровне всей иерархии. </a:t>
            </a:r>
            <a:r>
              <a:rPr lang="ru-RU" sz="2200" b="1" dirty="0"/>
              <a:t>Цель –</a:t>
            </a:r>
            <a:r>
              <a:rPr lang="ru-RU" sz="2200" dirty="0"/>
              <a:t> анализ на разных уровнях агрегации</a:t>
            </a:r>
          </a:p>
          <a:p>
            <a:r>
              <a:rPr lang="ru-RU" sz="2200" b="1" dirty="0"/>
              <a:t>Групповые временные ряды </a:t>
            </a:r>
            <a:r>
              <a:rPr lang="ru-RU" sz="2200" dirty="0"/>
              <a:t>— это наборы временных рядов, объединённых по определённому критерию (например, продажи товаров в одной категории), без строго иерархической зависимости. </a:t>
            </a:r>
            <a:r>
              <a:rPr lang="ru-RU" sz="2200" b="1" dirty="0"/>
              <a:t>Цель - </a:t>
            </a:r>
            <a:r>
              <a:rPr lang="ru-RU" sz="2200" dirty="0"/>
              <a:t>анализа общих тенденций в группе.</a:t>
            </a:r>
          </a:p>
        </p:txBody>
      </p:sp>
      <p:sp>
        <p:nvSpPr>
          <p:cNvPr id="4" name="Номер слайда 3">
            <a:extLst>
              <a:ext uri="{FF2B5EF4-FFF2-40B4-BE49-F238E27FC236}">
                <a16:creationId xmlns:a16="http://schemas.microsoft.com/office/drawing/2014/main" id="{52356ACC-386C-A7B5-DEC6-CF80F2F623FC}"/>
              </a:ext>
            </a:extLst>
          </p:cNvPr>
          <p:cNvSpPr>
            <a:spLocks noGrp="1"/>
          </p:cNvSpPr>
          <p:nvPr>
            <p:ph type="sldNum" sz="quarter" idx="12"/>
          </p:nvPr>
        </p:nvSpPr>
        <p:spPr/>
        <p:txBody>
          <a:bodyPr/>
          <a:lstStyle/>
          <a:p>
            <a:fld id="{45C3B737-A709-4ABC-AFE0-A6B067850C48}" type="slidenum">
              <a:rPr lang="en-US" smtClean="0"/>
              <a:t>32</a:t>
            </a:fld>
            <a:endParaRPr lang="en-US"/>
          </a:p>
        </p:txBody>
      </p:sp>
      <p:sp>
        <p:nvSpPr>
          <p:cNvPr id="7" name="TextBox 6">
            <a:extLst>
              <a:ext uri="{FF2B5EF4-FFF2-40B4-BE49-F238E27FC236}">
                <a16:creationId xmlns:a16="http://schemas.microsoft.com/office/drawing/2014/main" id="{2AAC224D-2950-867C-AE6C-3A69408E1DF7}"/>
              </a:ext>
            </a:extLst>
          </p:cNvPr>
          <p:cNvSpPr txBox="1"/>
          <p:nvPr/>
        </p:nvSpPr>
        <p:spPr>
          <a:xfrm>
            <a:off x="6096000" y="6377467"/>
            <a:ext cx="6096000" cy="369332"/>
          </a:xfrm>
          <a:prstGeom prst="rect">
            <a:avLst/>
          </a:prstGeom>
          <a:noFill/>
        </p:spPr>
        <p:txBody>
          <a:bodyPr wrap="square">
            <a:spAutoFit/>
          </a:bodyPr>
          <a:lstStyle/>
          <a:p>
            <a:r>
              <a:rPr lang="ru-RU" dirty="0" err="1"/>
              <a:t>https</a:t>
            </a:r>
            <a:r>
              <a:rPr lang="ru-RU" dirty="0"/>
              <a:t>://</a:t>
            </a:r>
            <a:r>
              <a:rPr lang="ru-RU" dirty="0" err="1"/>
              <a:t>goldinlocks.github.io</a:t>
            </a:r>
            <a:r>
              <a:rPr lang="ru-RU" dirty="0"/>
              <a:t>/</a:t>
            </a:r>
            <a:r>
              <a:rPr lang="ru-RU" dirty="0" err="1"/>
              <a:t>Multivariate-time-series-models</a:t>
            </a:r>
            <a:r>
              <a:rPr lang="ru-RU" dirty="0"/>
              <a:t>/</a:t>
            </a:r>
          </a:p>
        </p:txBody>
      </p:sp>
    </p:spTree>
    <p:extLst>
      <p:ext uri="{BB962C8B-B14F-4D97-AF65-F5344CB8AC3E}">
        <p14:creationId xmlns:p14="http://schemas.microsoft.com/office/powerpoint/2010/main" val="4738610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863240-7081-E76A-ACCD-B5BA5DC066E0}"/>
              </a:ext>
            </a:extLst>
          </p:cNvPr>
          <p:cNvSpPr>
            <a:spLocks noGrp="1"/>
          </p:cNvSpPr>
          <p:nvPr>
            <p:ph type="title"/>
          </p:nvPr>
        </p:nvSpPr>
        <p:spPr>
          <a:xfrm>
            <a:off x="285750" y="365125"/>
            <a:ext cx="11068050" cy="864631"/>
          </a:xfrm>
        </p:spPr>
        <p:txBody>
          <a:bodyPr/>
          <a:lstStyle/>
          <a:p>
            <a:r>
              <a:rPr lang="ru-RU" dirty="0"/>
              <a:t>Экзогенные и </a:t>
            </a:r>
            <a:r>
              <a:rPr lang="ru-RU" dirty="0" err="1"/>
              <a:t>многопеременные</a:t>
            </a:r>
            <a:r>
              <a:rPr lang="ru-RU" dirty="0"/>
              <a:t> ВР</a:t>
            </a:r>
          </a:p>
        </p:txBody>
      </p:sp>
      <p:sp>
        <p:nvSpPr>
          <p:cNvPr id="4" name="Номер слайда 3">
            <a:extLst>
              <a:ext uri="{FF2B5EF4-FFF2-40B4-BE49-F238E27FC236}">
                <a16:creationId xmlns:a16="http://schemas.microsoft.com/office/drawing/2014/main" id="{6601DB23-2F3F-9FA2-A9CF-B17E2699F010}"/>
              </a:ext>
            </a:extLst>
          </p:cNvPr>
          <p:cNvSpPr>
            <a:spLocks noGrp="1"/>
          </p:cNvSpPr>
          <p:nvPr>
            <p:ph type="sldNum" sz="quarter" idx="12"/>
          </p:nvPr>
        </p:nvSpPr>
        <p:spPr/>
        <p:txBody>
          <a:bodyPr/>
          <a:lstStyle/>
          <a:p>
            <a:fld id="{45C3B737-A709-4ABC-AFE0-A6B067850C48}" type="slidenum">
              <a:rPr lang="en-US" smtClean="0"/>
              <a:t>33</a:t>
            </a:fld>
            <a:endParaRPr lang="en-US"/>
          </a:p>
        </p:txBody>
      </p:sp>
      <p:sp>
        <p:nvSpPr>
          <p:cNvPr id="7" name="TextBox 6">
            <a:extLst>
              <a:ext uri="{FF2B5EF4-FFF2-40B4-BE49-F238E27FC236}">
                <a16:creationId xmlns:a16="http://schemas.microsoft.com/office/drawing/2014/main" id="{B4C891B2-62E7-871D-CF4F-05D6CA6E0463}"/>
              </a:ext>
            </a:extLst>
          </p:cNvPr>
          <p:cNvSpPr txBox="1"/>
          <p:nvPr/>
        </p:nvSpPr>
        <p:spPr>
          <a:xfrm>
            <a:off x="6096000" y="6377467"/>
            <a:ext cx="6096000" cy="369332"/>
          </a:xfrm>
          <a:prstGeom prst="rect">
            <a:avLst/>
          </a:prstGeom>
          <a:noFill/>
        </p:spPr>
        <p:txBody>
          <a:bodyPr wrap="square">
            <a:spAutoFit/>
          </a:bodyPr>
          <a:lstStyle/>
          <a:p>
            <a:r>
              <a:rPr lang="ru-RU" dirty="0" err="1"/>
              <a:t>https</a:t>
            </a:r>
            <a:r>
              <a:rPr lang="ru-RU" dirty="0"/>
              <a:t>://</a:t>
            </a:r>
            <a:r>
              <a:rPr lang="ru-RU" dirty="0" err="1"/>
              <a:t>goldinlocks.github.io</a:t>
            </a:r>
            <a:r>
              <a:rPr lang="ru-RU" dirty="0"/>
              <a:t>/</a:t>
            </a:r>
            <a:r>
              <a:rPr lang="ru-RU" dirty="0" err="1"/>
              <a:t>Multivariate-time-series-models</a:t>
            </a:r>
            <a:r>
              <a:rPr lang="ru-RU" dirty="0"/>
              <a:t>/</a:t>
            </a:r>
          </a:p>
        </p:txBody>
      </p:sp>
      <p:sp>
        <p:nvSpPr>
          <p:cNvPr id="6" name="TextBox 5">
            <a:extLst>
              <a:ext uri="{FF2B5EF4-FFF2-40B4-BE49-F238E27FC236}">
                <a16:creationId xmlns:a16="http://schemas.microsoft.com/office/drawing/2014/main" id="{2F93277A-2E85-0A4A-28D8-2C1C6CDC5441}"/>
              </a:ext>
            </a:extLst>
          </p:cNvPr>
          <p:cNvSpPr txBox="1"/>
          <p:nvPr/>
        </p:nvSpPr>
        <p:spPr>
          <a:xfrm>
            <a:off x="0" y="1033541"/>
            <a:ext cx="11118773" cy="923330"/>
          </a:xfrm>
          <a:prstGeom prst="rect">
            <a:avLst/>
          </a:prstGeom>
          <a:noFill/>
        </p:spPr>
        <p:txBody>
          <a:bodyPr wrap="square">
            <a:spAutoFit/>
          </a:bodyPr>
          <a:lstStyle/>
          <a:p>
            <a:pPr algn="l" fontAlgn="base">
              <a:buFont typeface="Arial" panose="020B0604020202020204" pitchFamily="34" charset="0"/>
              <a:buChar char="•"/>
            </a:pPr>
            <a:r>
              <a:rPr lang="ru-RU" b="0" i="0" u="none" strike="noStrike" dirty="0">
                <a:solidFill>
                  <a:srgbClr val="222222"/>
                </a:solidFill>
                <a:effectLst/>
                <a:latin typeface="var(--sds-font-family-01)"/>
              </a:rPr>
              <a:t>Экзогенные факторы используются для объяснения изменений в зависимой переменной.</a:t>
            </a:r>
          </a:p>
          <a:p>
            <a:pPr algn="l" fontAlgn="base">
              <a:buFont typeface="Arial" panose="020B0604020202020204" pitchFamily="34" charset="0"/>
              <a:buChar char="•"/>
            </a:pPr>
            <a:r>
              <a:rPr lang="ru-RU" b="0" i="0" u="none" strike="noStrike" dirty="0" err="1">
                <a:solidFill>
                  <a:srgbClr val="222222"/>
                </a:solidFill>
                <a:effectLst/>
                <a:latin typeface="var(--sds-font-family-01)"/>
              </a:rPr>
              <a:t>Многопеременные</a:t>
            </a:r>
            <a:r>
              <a:rPr lang="ru-RU" b="0" i="0" u="none" strike="noStrike" dirty="0">
                <a:solidFill>
                  <a:srgbClr val="222222"/>
                </a:solidFill>
                <a:effectLst/>
                <a:latin typeface="var(--sds-font-family-01)"/>
              </a:rPr>
              <a:t> временные ряды используются для анализа взаимосвязей между несколькими переменными во времени.</a:t>
            </a:r>
          </a:p>
        </p:txBody>
      </p:sp>
      <p:pic>
        <p:nvPicPr>
          <p:cNvPr id="5" name="Рисунок 4"/>
          <p:cNvPicPr>
            <a:picLocks noChangeAspect="1"/>
          </p:cNvPicPr>
          <p:nvPr/>
        </p:nvPicPr>
        <p:blipFill>
          <a:blip r:embed="rId2"/>
          <a:stretch>
            <a:fillRect/>
          </a:stretch>
        </p:blipFill>
        <p:spPr>
          <a:xfrm>
            <a:off x="2408018" y="2046335"/>
            <a:ext cx="7741822" cy="4284691"/>
          </a:xfrm>
          <a:prstGeom prst="rect">
            <a:avLst/>
          </a:prstGeom>
        </p:spPr>
      </p:pic>
    </p:spTree>
    <p:extLst>
      <p:ext uri="{BB962C8B-B14F-4D97-AF65-F5344CB8AC3E}">
        <p14:creationId xmlns:p14="http://schemas.microsoft.com/office/powerpoint/2010/main" val="34217304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3825" y="365126"/>
            <a:ext cx="11229975" cy="146800"/>
          </a:xfrm>
        </p:spPr>
        <p:txBody>
          <a:bodyPr>
            <a:normAutofit fontScale="90000"/>
          </a:bodyPr>
          <a:lstStyle/>
          <a:p>
            <a:r>
              <a:rPr lang="ru-RU" dirty="0"/>
              <a:t>Представление Временных рядов</a:t>
            </a:r>
          </a:p>
        </p:txBody>
      </p:sp>
      <p:sp>
        <p:nvSpPr>
          <p:cNvPr id="3" name="Объект 2"/>
          <p:cNvSpPr>
            <a:spLocks noGrp="1"/>
          </p:cNvSpPr>
          <p:nvPr>
            <p:ph idx="1"/>
          </p:nvPr>
        </p:nvSpPr>
        <p:spPr>
          <a:xfrm>
            <a:off x="91250" y="964242"/>
            <a:ext cx="10515600" cy="4351338"/>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34</a:t>
            </a:fld>
            <a:endParaRPr lang="en-US"/>
          </a:p>
        </p:txBody>
      </p:sp>
      <p:pic>
        <p:nvPicPr>
          <p:cNvPr id="102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5114" t="41497" r="48992" b="17002"/>
          <a:stretch/>
        </p:blipFill>
        <p:spPr bwMode="auto">
          <a:xfrm>
            <a:off x="461042" y="4507212"/>
            <a:ext cx="4377658" cy="22142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4807" t="9446" r="60411" b="80213"/>
          <a:stretch/>
        </p:blipFill>
        <p:spPr bwMode="auto">
          <a:xfrm>
            <a:off x="1644385" y="3738013"/>
            <a:ext cx="3488550" cy="5801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88" t="34512" r="43940" b="11661"/>
          <a:stretch/>
        </p:blipFill>
        <p:spPr bwMode="auto">
          <a:xfrm>
            <a:off x="8337177" y="4507212"/>
            <a:ext cx="3609896" cy="223768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Группа 6"/>
          <p:cNvGrpSpPr/>
          <p:nvPr/>
        </p:nvGrpSpPr>
        <p:grpSpPr>
          <a:xfrm>
            <a:off x="4811038" y="4216622"/>
            <a:ext cx="2225040" cy="2282132"/>
            <a:chOff x="4838700" y="4439343"/>
            <a:chExt cx="2225040" cy="2282132"/>
          </a:xfrm>
        </p:grpSpPr>
        <p:pic>
          <p:nvPicPr>
            <p:cNvPr id="10"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50" t="34512" r="70762" b="10592"/>
            <a:stretch/>
          </p:blipFill>
          <p:spPr bwMode="auto">
            <a:xfrm>
              <a:off x="4838700" y="4439344"/>
              <a:ext cx="1619249" cy="228213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37019" t="34512" r="54162" b="10592"/>
            <a:stretch/>
          </p:blipFill>
          <p:spPr bwMode="auto">
            <a:xfrm>
              <a:off x="6408365" y="4439343"/>
              <a:ext cx="655375" cy="2282131"/>
            </a:xfrm>
            <a:prstGeom prst="rect">
              <a:avLst/>
            </a:prstGeom>
            <a:noFill/>
            <a:extLst>
              <a:ext uri="{909E8E84-426E-40DD-AFC4-6F175D3DCCD1}">
                <a14:hiddenFill xmlns:a14="http://schemas.microsoft.com/office/drawing/2010/main">
                  <a:solidFill>
                    <a:srgbClr val="FFFFFF"/>
                  </a:solidFill>
                </a14:hiddenFill>
              </a:ext>
            </a:extLst>
          </p:spPr>
        </p:pic>
      </p:grpSp>
      <p:pic>
        <p:nvPicPr>
          <p:cNvPr id="103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7490" t="29870" r="13574" b="6701"/>
          <a:stretch/>
        </p:blipFill>
        <p:spPr bwMode="auto">
          <a:xfrm>
            <a:off x="5349050" y="1215063"/>
            <a:ext cx="6598023" cy="29656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4755" t="8683" r="57372" b="79750"/>
          <a:stretch/>
        </p:blipFill>
        <p:spPr bwMode="auto">
          <a:xfrm>
            <a:off x="5648324" y="988056"/>
            <a:ext cx="3165662" cy="540825"/>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1419225" y="6565660"/>
            <a:ext cx="6838950" cy="276999"/>
          </a:xfrm>
          <a:prstGeom prst="rect">
            <a:avLst/>
          </a:prstGeom>
        </p:spPr>
        <p:txBody>
          <a:bodyPr wrap="square">
            <a:spAutoFit/>
          </a:bodyPr>
          <a:lstStyle/>
          <a:p>
            <a:r>
              <a:rPr lang="ru-RU" sz="1200" dirty="0"/>
              <a:t>https://knowledge.dataiku.com/latest/ml-analytics/time-series/concept-data-types-formats.html</a:t>
            </a:r>
          </a:p>
        </p:txBody>
      </p:sp>
    </p:spTree>
    <p:extLst>
      <p:ext uri="{BB962C8B-B14F-4D97-AF65-F5344CB8AC3E}">
        <p14:creationId xmlns:p14="http://schemas.microsoft.com/office/powerpoint/2010/main" val="41132407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EE2B06-B173-C52C-7F74-302136EB4528}"/>
              </a:ext>
            </a:extLst>
          </p:cNvPr>
          <p:cNvSpPr>
            <a:spLocks noGrp="1"/>
          </p:cNvSpPr>
          <p:nvPr>
            <p:ph type="title"/>
          </p:nvPr>
        </p:nvSpPr>
        <p:spPr>
          <a:xfrm>
            <a:off x="566057" y="365125"/>
            <a:ext cx="10787743" cy="1047641"/>
          </a:xfrm>
        </p:spPr>
        <p:txBody>
          <a:bodyPr/>
          <a:lstStyle/>
          <a:p>
            <a:r>
              <a:rPr lang="ru-RU" b="1" dirty="0"/>
              <a:t>Задачи анализа временных рядов</a:t>
            </a:r>
            <a:endParaRPr lang="ru-RU" dirty="0"/>
          </a:p>
        </p:txBody>
      </p:sp>
      <p:sp>
        <p:nvSpPr>
          <p:cNvPr id="3" name="Объект 2">
            <a:extLst>
              <a:ext uri="{FF2B5EF4-FFF2-40B4-BE49-F238E27FC236}">
                <a16:creationId xmlns:a16="http://schemas.microsoft.com/office/drawing/2014/main" id="{EE1CFB72-A2ED-B011-6D8A-BC8972130B60}"/>
              </a:ext>
            </a:extLst>
          </p:cNvPr>
          <p:cNvSpPr>
            <a:spLocks noGrp="1"/>
          </p:cNvSpPr>
          <p:nvPr>
            <p:ph idx="1"/>
          </p:nvPr>
        </p:nvSpPr>
        <p:spPr>
          <a:xfrm>
            <a:off x="293914" y="1412766"/>
            <a:ext cx="11417016" cy="4351338"/>
          </a:xfrm>
        </p:spPr>
        <p:txBody>
          <a:bodyPr>
            <a:normAutofit/>
          </a:bodyPr>
          <a:lstStyle/>
          <a:p>
            <a:pPr marL="0" indent="0">
              <a:buNone/>
            </a:pPr>
            <a:r>
              <a:rPr lang="ru-RU" sz="2400" b="1" dirty="0"/>
              <a:t>Последовательной ВР(</a:t>
            </a:r>
            <a:r>
              <a:rPr lang="ru-RU" sz="2400" b="1" dirty="0" err="1"/>
              <a:t>неприрывный</a:t>
            </a:r>
            <a:r>
              <a:rPr lang="ru-RU" sz="2400" b="1" dirty="0"/>
              <a:t>)</a:t>
            </a:r>
          </a:p>
          <a:p>
            <a:r>
              <a:rPr lang="ru-RU" sz="2400" dirty="0"/>
              <a:t>Предсказание будущих значений ВР (прогнозирование, T</a:t>
            </a:r>
            <a:r>
              <a:rPr lang="en-US" sz="2400" dirty="0" err="1"/>
              <a:t>ime</a:t>
            </a:r>
            <a:r>
              <a:rPr lang="en-US" sz="2400" dirty="0"/>
              <a:t> series forecasting)</a:t>
            </a:r>
            <a:endParaRPr lang="ru-RU" sz="2400" dirty="0"/>
          </a:p>
          <a:p>
            <a:r>
              <a:rPr lang="en-US" sz="2400" dirty="0" err="1"/>
              <a:t>По</a:t>
            </a:r>
            <a:r>
              <a:rPr lang="ru-RU" sz="2400" dirty="0"/>
              <a:t>иск аномалий/выбросов</a:t>
            </a:r>
            <a:r>
              <a:rPr lang="en-US" sz="2400" dirty="0"/>
              <a:t> (</a:t>
            </a:r>
            <a:r>
              <a:rPr lang="ru-RU" sz="2400" dirty="0" err="1"/>
              <a:t>T</a:t>
            </a:r>
            <a:r>
              <a:rPr lang="en-US" sz="2400" dirty="0" err="1"/>
              <a:t>ime</a:t>
            </a:r>
            <a:r>
              <a:rPr lang="en-US" sz="2400" dirty="0"/>
              <a:t> series  anomaly detection)</a:t>
            </a:r>
            <a:endParaRPr lang="ru-RU" sz="2400" dirty="0"/>
          </a:p>
          <a:p>
            <a:r>
              <a:rPr lang="en-US" sz="2400" dirty="0" err="1"/>
              <a:t>По</a:t>
            </a:r>
            <a:r>
              <a:rPr lang="ru-RU" sz="2400" dirty="0"/>
              <a:t>иск точек новизны (изменений), сегментов ВР – новых паттернов поведения</a:t>
            </a:r>
          </a:p>
          <a:p>
            <a:pPr marL="0" indent="0">
              <a:buNone/>
            </a:pPr>
            <a:r>
              <a:rPr lang="ru-RU" sz="2400" b="1" dirty="0"/>
              <a:t>Сегменты ВР (сигналы)</a:t>
            </a:r>
          </a:p>
          <a:p>
            <a:r>
              <a:rPr lang="ru-RU" sz="2400" dirty="0"/>
              <a:t>Классификация сегментов/шаблонов поведения</a:t>
            </a:r>
            <a:r>
              <a:rPr lang="en-US" sz="2400" dirty="0"/>
              <a:t>  </a:t>
            </a:r>
            <a:r>
              <a:rPr lang="ru-RU" sz="2400" dirty="0"/>
              <a:t>(T</a:t>
            </a:r>
            <a:r>
              <a:rPr lang="en-US" sz="2400" dirty="0" err="1"/>
              <a:t>ime</a:t>
            </a:r>
            <a:r>
              <a:rPr lang="en-US" sz="2400" dirty="0"/>
              <a:t> series classification)</a:t>
            </a:r>
            <a:endParaRPr lang="ru-RU" sz="2400" dirty="0"/>
          </a:p>
          <a:p>
            <a:r>
              <a:rPr lang="ru-RU" sz="2400" dirty="0"/>
              <a:t>Признаковое описание ВР/Регрессия ВР</a:t>
            </a:r>
            <a:r>
              <a:rPr lang="en-US" sz="2400" dirty="0"/>
              <a:t>/</a:t>
            </a:r>
            <a:r>
              <a:rPr lang="ru-RU" sz="2400" dirty="0"/>
              <a:t>Казуальный анализ (влияние внешних факторов на поведение ВР)</a:t>
            </a:r>
            <a:r>
              <a:rPr lang="en-US" sz="2400" dirty="0"/>
              <a:t> </a:t>
            </a:r>
            <a:r>
              <a:rPr lang="ru-RU" sz="2400" dirty="0"/>
              <a:t>(T</a:t>
            </a:r>
            <a:r>
              <a:rPr lang="en-US" sz="2400" dirty="0" err="1"/>
              <a:t>ime</a:t>
            </a:r>
            <a:r>
              <a:rPr lang="en-US" sz="2400" dirty="0"/>
              <a:t> series regression)</a:t>
            </a:r>
            <a:endParaRPr lang="ru-RU" sz="2400" dirty="0"/>
          </a:p>
          <a:p>
            <a:endParaRPr lang="en-US" sz="2400" dirty="0"/>
          </a:p>
          <a:p>
            <a:endParaRPr lang="ru-RU" sz="2400" dirty="0"/>
          </a:p>
          <a:p>
            <a:endParaRPr lang="ru-RU" sz="2400" dirty="0"/>
          </a:p>
          <a:p>
            <a:endParaRPr lang="ru-RU" sz="2400" dirty="0"/>
          </a:p>
        </p:txBody>
      </p:sp>
      <p:sp>
        <p:nvSpPr>
          <p:cNvPr id="4" name="Номер слайда 3">
            <a:extLst>
              <a:ext uri="{FF2B5EF4-FFF2-40B4-BE49-F238E27FC236}">
                <a16:creationId xmlns:a16="http://schemas.microsoft.com/office/drawing/2014/main" id="{10C4D2CE-024B-092F-F40E-1C67E2809A36}"/>
              </a:ext>
            </a:extLst>
          </p:cNvPr>
          <p:cNvSpPr>
            <a:spLocks noGrp="1"/>
          </p:cNvSpPr>
          <p:nvPr>
            <p:ph type="sldNum" sz="quarter" idx="12"/>
          </p:nvPr>
        </p:nvSpPr>
        <p:spPr/>
        <p:txBody>
          <a:bodyPr/>
          <a:lstStyle/>
          <a:p>
            <a:fld id="{45C3B737-A709-4ABC-AFE0-A6B067850C48}" type="slidenum">
              <a:rPr lang="en-US" smtClean="0"/>
              <a:t>35</a:t>
            </a:fld>
            <a:endParaRPr lang="en-US"/>
          </a:p>
        </p:txBody>
      </p:sp>
      <p:sp>
        <p:nvSpPr>
          <p:cNvPr id="6" name="TextBox 5">
            <a:extLst>
              <a:ext uri="{FF2B5EF4-FFF2-40B4-BE49-F238E27FC236}">
                <a16:creationId xmlns:a16="http://schemas.microsoft.com/office/drawing/2014/main" id="{A2C06033-2C39-FC3F-9249-C4FF81811A81}"/>
              </a:ext>
            </a:extLst>
          </p:cNvPr>
          <p:cNvSpPr txBox="1"/>
          <p:nvPr/>
        </p:nvSpPr>
        <p:spPr>
          <a:xfrm>
            <a:off x="97971" y="5943491"/>
            <a:ext cx="6096000" cy="646331"/>
          </a:xfrm>
          <a:prstGeom prst="rect">
            <a:avLst/>
          </a:prstGeom>
          <a:noFill/>
        </p:spPr>
        <p:txBody>
          <a:bodyPr wrap="square">
            <a:spAutoFit/>
          </a:bodyPr>
          <a:lstStyle/>
          <a:p>
            <a:r>
              <a:rPr lang="ru-RU" dirty="0" err="1"/>
              <a:t>https</a:t>
            </a:r>
            <a:r>
              <a:rPr lang="ru-RU" dirty="0"/>
              <a:t>://</a:t>
            </a:r>
            <a:r>
              <a:rPr lang="ru-RU" dirty="0" err="1"/>
              <a:t>medium.com</a:t>
            </a:r>
            <a:r>
              <a:rPr lang="ru-RU" dirty="0"/>
              <a:t>/@</a:t>
            </a:r>
            <a:r>
              <a:rPr lang="ru-RU" dirty="0" err="1"/>
              <a:t>datasciencewizards</a:t>
            </a:r>
            <a:r>
              <a:rPr lang="ru-RU" dirty="0"/>
              <a:t>/introduction-to-time-series-analysis-ii-c312e85d51bc</a:t>
            </a:r>
          </a:p>
        </p:txBody>
      </p:sp>
      <p:sp>
        <p:nvSpPr>
          <p:cNvPr id="5" name="Прямоугольник 4"/>
          <p:cNvSpPr/>
          <p:nvPr/>
        </p:nvSpPr>
        <p:spPr>
          <a:xfrm>
            <a:off x="4731785" y="6266656"/>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35672334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72877" y="365126"/>
            <a:ext cx="10780923" cy="637410"/>
          </a:xfrm>
        </p:spPr>
        <p:txBody>
          <a:bodyPr>
            <a:normAutofit fontScale="90000"/>
          </a:bodyPr>
          <a:lstStyle/>
          <a:p>
            <a:r>
              <a:rPr lang="ru-RU" b="1" dirty="0">
                <a:ea typeface="Calibri" panose="020F0502020204030204" pitchFamily="34" charset="0"/>
                <a:cs typeface="Times New Roman" panose="02020603050405020304" pitchFamily="18" charset="0"/>
              </a:rPr>
              <a:t>Анализ временных рядов</a:t>
            </a:r>
            <a:endParaRPr lang="ru-RU" dirty="0"/>
          </a:p>
        </p:txBody>
      </p:sp>
      <p:sp>
        <p:nvSpPr>
          <p:cNvPr id="3" name="Объект 2"/>
          <p:cNvSpPr>
            <a:spLocks noGrp="1"/>
          </p:cNvSpPr>
          <p:nvPr>
            <p:ph idx="1"/>
          </p:nvPr>
        </p:nvSpPr>
        <p:spPr>
          <a:xfrm>
            <a:off x="309389" y="1528170"/>
            <a:ext cx="3028721" cy="4351338"/>
          </a:xfrm>
        </p:spPr>
        <p:txBody>
          <a:bodyPr>
            <a:normAutofit/>
          </a:bodyPr>
          <a:lstStyle/>
          <a:p>
            <a:pPr marL="0" indent="0">
              <a:buNone/>
            </a:pPr>
            <a:r>
              <a:rPr lang="ru-RU" sz="2400" dirty="0"/>
              <a:t>Строгая последовательность данных – это всегда дополнительная информация и часто важная!</a:t>
            </a:r>
          </a:p>
          <a:p>
            <a:pPr marL="0" indent="0">
              <a:buNone/>
            </a:pPr>
            <a:endParaRPr lang="ru-RU" sz="2400" dirty="0"/>
          </a:p>
          <a:p>
            <a:pPr marL="0" indent="0">
              <a:buNone/>
            </a:pPr>
            <a:r>
              <a:rPr lang="ru-RU" sz="2400" dirty="0"/>
              <a:t>Последовательность данных нарушать нельзя!</a:t>
            </a:r>
          </a:p>
        </p:txBody>
      </p:sp>
      <p:sp>
        <p:nvSpPr>
          <p:cNvPr id="4" name="Номер слайда 3"/>
          <p:cNvSpPr>
            <a:spLocks noGrp="1"/>
          </p:cNvSpPr>
          <p:nvPr>
            <p:ph type="sldNum" sz="quarter" idx="12"/>
          </p:nvPr>
        </p:nvSpPr>
        <p:spPr/>
        <p:txBody>
          <a:bodyPr/>
          <a:lstStyle/>
          <a:p>
            <a:fld id="{45C3B737-A709-4ABC-AFE0-A6B067850C48}" type="slidenum">
              <a:rPr lang="en-US" smtClean="0"/>
              <a:t>36</a:t>
            </a:fld>
            <a:endParaRPr lang="en-US"/>
          </a:p>
        </p:txBody>
      </p:sp>
      <p:pic>
        <p:nvPicPr>
          <p:cNvPr id="1026" name="Picture 2" descr="Evaluation of statistical and machine learning models for time series  prediction: Identifying the state-of-the-art and the best conditions for  the use of each model - ScienceDirect">
            <a:extLst>
              <a:ext uri="{FF2B5EF4-FFF2-40B4-BE49-F238E27FC236}">
                <a16:creationId xmlns:a16="http://schemas.microsoft.com/office/drawing/2014/main" id="{CF0134DE-2972-2DC6-F324-4B473D1A8F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6020" y="1460179"/>
            <a:ext cx="8386590" cy="455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6B87D2F-F4DD-DA49-1AAC-60C600287B1E}"/>
              </a:ext>
            </a:extLst>
          </p:cNvPr>
          <p:cNvSpPr txBox="1"/>
          <p:nvPr/>
        </p:nvSpPr>
        <p:spPr>
          <a:xfrm>
            <a:off x="4527933" y="6270587"/>
            <a:ext cx="8386590" cy="369332"/>
          </a:xfrm>
          <a:prstGeom prst="rect">
            <a:avLst/>
          </a:prstGeom>
          <a:noFill/>
        </p:spPr>
        <p:txBody>
          <a:bodyPr wrap="square">
            <a:spAutoFit/>
          </a:bodyPr>
          <a:lstStyle/>
          <a:p>
            <a:r>
              <a:rPr lang="ru-RU" dirty="0" err="1"/>
              <a:t>https</a:t>
            </a:r>
            <a:r>
              <a:rPr lang="ru-RU" dirty="0"/>
              <a:t>://</a:t>
            </a:r>
            <a:r>
              <a:rPr lang="ru-RU" dirty="0" err="1"/>
              <a:t>www.sciencedirect.com</a:t>
            </a:r>
            <a:r>
              <a:rPr lang="ru-RU" dirty="0"/>
              <a:t>/</a:t>
            </a:r>
            <a:r>
              <a:rPr lang="ru-RU" dirty="0" err="1"/>
              <a:t>science</a:t>
            </a:r>
            <a:r>
              <a:rPr lang="ru-RU" dirty="0"/>
              <a:t>/</a:t>
            </a:r>
            <a:r>
              <a:rPr lang="ru-RU" dirty="0" err="1"/>
              <a:t>article</a:t>
            </a:r>
            <a:r>
              <a:rPr lang="ru-RU" dirty="0"/>
              <a:t>/</a:t>
            </a:r>
            <a:r>
              <a:rPr lang="ru-RU" dirty="0" err="1"/>
              <a:t>abs</a:t>
            </a:r>
            <a:r>
              <a:rPr lang="ru-RU" dirty="0"/>
              <a:t>/</a:t>
            </a:r>
            <a:r>
              <a:rPr lang="ru-RU" dirty="0" err="1"/>
              <a:t>pii</a:t>
            </a:r>
            <a:r>
              <a:rPr lang="ru-RU" dirty="0"/>
              <a:t>/S0020025519300945</a:t>
            </a:r>
          </a:p>
        </p:txBody>
      </p:sp>
    </p:spTree>
    <p:extLst>
      <p:ext uri="{BB962C8B-B14F-4D97-AF65-F5344CB8AC3E}">
        <p14:creationId xmlns:p14="http://schemas.microsoft.com/office/powerpoint/2010/main" val="1649520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85149" y="3720759"/>
                <a:ext cx="6826743" cy="2085717"/>
              </a:xfrm>
            </p:spPr>
            <p:txBody>
              <a:bodyPr>
                <a:normAutofit fontScale="92500" lnSpcReduction="20000"/>
              </a:bodyPr>
              <a:lstStyle/>
              <a:p>
                <a:pPr>
                  <a:lnSpc>
                    <a:spcPct val="120000"/>
                  </a:lnSpc>
                  <a:spcBef>
                    <a:spcPts val="600"/>
                  </a:spcBef>
                </a:pPr>
                <a:r>
                  <a:rPr lang="ru-RU" sz="2000" dirty="0"/>
                  <a:t>Предсказание будет осуществляться по набору предыдущий значений. Такие значения будем обозначать как значения лагов.</a:t>
                </a:r>
              </a:p>
              <a:p>
                <a:pPr>
                  <a:lnSpc>
                    <a:spcPct val="120000"/>
                  </a:lnSpc>
                  <a:spcBef>
                    <a:spcPts val="600"/>
                  </a:spcBef>
                </a:pPr>
                <a:r>
                  <a:rPr lang="ru-RU" sz="2000" b="1" dirty="0"/>
                  <a:t>Лаг</a:t>
                </a:r>
                <a:r>
                  <a:rPr lang="ru-RU" sz="2000" dirty="0"/>
                  <a:t> — это задержка во времени. </a:t>
                </a:r>
                <a:r>
                  <a:rPr lang="ru-RU" sz="2000" b="1" dirty="0"/>
                  <a:t>Лаг показывает, как прошлые данные влияют на текущее или будущее</a:t>
                </a:r>
                <a:r>
                  <a:rPr lang="ru-RU" sz="2000" dirty="0"/>
                  <a:t>.</a:t>
                </a:r>
              </a:p>
              <a:p>
                <a:pPr>
                  <a:lnSpc>
                    <a:spcPct val="120000"/>
                  </a:lnSpc>
                  <a:spcBef>
                    <a:spcPts val="600"/>
                  </a:spcBef>
                </a:pPr>
                <a:r>
                  <a:rPr lang="ru-RU" sz="2000" dirty="0"/>
                  <a:t>Лаг обозначается как  </a:t>
                </a:r>
                <a14:m>
                  <m:oMath xmlns:m="http://schemas.openxmlformats.org/officeDocument/2006/math">
                    <m:r>
                      <a:rPr lang="ru-RU" sz="2000" i="1" dirty="0">
                        <a:latin typeface="Cambria Math" panose="02040503050406030204" pitchFamily="18" charset="0"/>
                      </a:rPr>
                      <m:t>𝑦</m:t>
                    </m:r>
                  </m:oMath>
                </a14:m>
                <a:r>
                  <a:rPr lang="ru-RU" sz="2000" baseline="-25000" dirty="0"/>
                  <a:t>t−</a:t>
                </a:r>
                <a:r>
                  <a:rPr lang="en-US" sz="2000" baseline="-25000" dirty="0"/>
                  <a:t>p</a:t>
                </a:r>
                <a:r>
                  <a:rPr lang="ru-RU" sz="2000" baseline="-25000" dirty="0"/>
                  <a:t> </a:t>
                </a:r>
                <a:r>
                  <a:rPr lang="en-US" sz="2000" baseline="-25000" dirty="0"/>
                  <a:t>,</a:t>
                </a:r>
                <a:r>
                  <a:rPr lang="en-US" sz="2000" dirty="0"/>
                  <a:t> </a:t>
                </a:r>
                <a:r>
                  <a:rPr lang="ru-RU" sz="2000" dirty="0"/>
                  <a:t>где </a:t>
                </a:r>
                <a:r>
                  <a:rPr lang="en-US" sz="2000" dirty="0"/>
                  <a:t>p</a:t>
                </a:r>
                <a:r>
                  <a:rPr lang="ru-RU" sz="2000" dirty="0"/>
                  <a:t> — это число шагов назад.</a:t>
                </a:r>
                <a:endParaRPr lang="ru-RU" sz="18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85149" y="3720759"/>
                <a:ext cx="6826743" cy="2085717"/>
              </a:xfrm>
              <a:blipFill>
                <a:blip r:embed="rId3"/>
                <a:stretch>
                  <a:fillRect l="-714" t="-1458"/>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fld id="{45C3B737-A709-4ABC-AFE0-A6B067850C48}" type="slidenum">
              <a:rPr lang="en-US" smtClean="0"/>
              <a:t>37</a:t>
            </a:fld>
            <a:endParaRPr lang="en-US" dirty="0"/>
          </a:p>
        </p:txBody>
      </p:sp>
      <p:sp>
        <p:nvSpPr>
          <p:cNvPr id="14" name="Прямоугольник 13"/>
          <p:cNvSpPr/>
          <p:nvPr/>
        </p:nvSpPr>
        <p:spPr>
          <a:xfrm>
            <a:off x="163002" y="6447950"/>
            <a:ext cx="4746620" cy="307777"/>
          </a:xfrm>
          <a:prstGeom prst="rect">
            <a:avLst/>
          </a:prstGeom>
        </p:spPr>
        <p:txBody>
          <a:bodyPr wrap="none">
            <a:spAutoFit/>
          </a:bodyPr>
          <a:lstStyle/>
          <a:p>
            <a:r>
              <a:rPr lang="ru-RU" sz="1400" dirty="0"/>
              <a:t>https://shakhbanov.org/vvedenie-v-analiz-vremennyh-ryadov/</a:t>
            </a:r>
          </a:p>
        </p:txBody>
      </p:sp>
      <p:grpSp>
        <p:nvGrpSpPr>
          <p:cNvPr id="30" name="Группа 29"/>
          <p:cNvGrpSpPr/>
          <p:nvPr/>
        </p:nvGrpSpPr>
        <p:grpSpPr>
          <a:xfrm>
            <a:off x="6889334" y="3623058"/>
            <a:ext cx="5074706" cy="2758117"/>
            <a:chOff x="7350376" y="3922463"/>
            <a:chExt cx="4072158" cy="2691644"/>
          </a:xfrm>
        </p:grpSpPr>
        <p:pic>
          <p:nvPicPr>
            <p:cNvPr id="19" name="Picture 2">
              <a:extLst>
                <a:ext uri="{FF2B5EF4-FFF2-40B4-BE49-F238E27FC236}">
                  <a16:creationId xmlns:a16="http://schemas.microsoft.com/office/drawing/2014/main" id="{01CFA530-140F-8B29-4421-F07E4B98F3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376" y="3922463"/>
              <a:ext cx="4072158" cy="251146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Прямая соединительная линия 15"/>
            <p:cNvCxnSpPr/>
            <p:nvPr/>
          </p:nvCxnSpPr>
          <p:spPr>
            <a:xfrm>
              <a:off x="7886701" y="5143567"/>
              <a:ext cx="0" cy="10762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a:off x="7886701" y="5995988"/>
              <a:ext cx="771524" cy="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993123" y="5929313"/>
              <a:ext cx="617477" cy="369332"/>
            </a:xfrm>
            <a:prstGeom prst="rect">
              <a:avLst/>
            </a:prstGeom>
            <a:noFill/>
          </p:spPr>
          <p:txBody>
            <a:bodyPr wrap="none" rtlCol="0">
              <a:spAutoFit/>
            </a:bodyPr>
            <a:lstStyle/>
            <a:p>
              <a:r>
                <a:rPr lang="ru-RU" dirty="0"/>
                <a:t>лаги</a:t>
              </a:r>
            </a:p>
          </p:txBody>
        </p:sp>
        <p:sp>
          <p:nvSpPr>
            <p:cNvPr id="21" name="TextBox 20"/>
            <p:cNvSpPr txBox="1"/>
            <p:nvPr/>
          </p:nvSpPr>
          <p:spPr>
            <a:xfrm>
              <a:off x="8610600" y="6244775"/>
              <a:ext cx="341312" cy="369332"/>
            </a:xfrm>
            <a:prstGeom prst="rect">
              <a:avLst/>
            </a:prstGeom>
            <a:noFill/>
          </p:spPr>
          <p:txBody>
            <a:bodyPr wrap="none" rtlCol="0">
              <a:spAutoFit/>
            </a:bodyPr>
            <a:lstStyle/>
            <a:p>
              <a:r>
                <a:rPr lang="en-US" dirty="0" err="1"/>
                <a:t>y</a:t>
              </a:r>
              <a:r>
                <a:rPr lang="en-US" baseline="-25000" dirty="0" err="1"/>
                <a:t>t</a:t>
              </a:r>
              <a:endParaRPr lang="ru-RU" baseline="-25000" dirty="0"/>
            </a:p>
          </p:txBody>
        </p:sp>
        <p:sp>
          <p:nvSpPr>
            <p:cNvPr id="26" name="TextBox 25"/>
            <p:cNvSpPr txBox="1"/>
            <p:nvPr/>
          </p:nvSpPr>
          <p:spPr>
            <a:xfrm>
              <a:off x="7745612" y="6238373"/>
              <a:ext cx="495022" cy="369332"/>
            </a:xfrm>
            <a:prstGeom prst="rect">
              <a:avLst/>
            </a:prstGeom>
            <a:noFill/>
          </p:spPr>
          <p:txBody>
            <a:bodyPr wrap="square" rtlCol="0">
              <a:spAutoFit/>
            </a:bodyPr>
            <a:lstStyle/>
            <a:p>
              <a:r>
                <a:rPr lang="en-US" dirty="0" err="1"/>
                <a:t>y</a:t>
              </a:r>
              <a:r>
                <a:rPr lang="en-US" baseline="-25000" dirty="0" err="1"/>
                <a:t>t</a:t>
              </a:r>
              <a:r>
                <a:rPr lang="en-US" baseline="-25000" dirty="0"/>
                <a:t>-p</a:t>
              </a:r>
              <a:endParaRPr lang="ru-RU" baseline="-25000" dirty="0"/>
            </a:p>
          </p:txBody>
        </p:sp>
        <p:sp>
          <p:nvSpPr>
            <p:cNvPr id="27" name="TextBox 26"/>
            <p:cNvSpPr txBox="1"/>
            <p:nvPr/>
          </p:nvSpPr>
          <p:spPr>
            <a:xfrm>
              <a:off x="10862540" y="6220547"/>
              <a:ext cx="498406" cy="369332"/>
            </a:xfrm>
            <a:prstGeom prst="rect">
              <a:avLst/>
            </a:prstGeom>
            <a:noFill/>
          </p:spPr>
          <p:txBody>
            <a:bodyPr wrap="none" rtlCol="0">
              <a:spAutoFit/>
            </a:bodyPr>
            <a:lstStyle/>
            <a:p>
              <a:r>
                <a:rPr lang="en-US" dirty="0" err="1"/>
                <a:t>y</a:t>
              </a:r>
              <a:r>
                <a:rPr lang="en-US" baseline="-25000" dirty="0" err="1"/>
                <a:t>t+h</a:t>
              </a:r>
              <a:endParaRPr lang="ru-RU" baseline="-25000" dirty="0"/>
            </a:p>
          </p:txBody>
        </p:sp>
        <p:sp>
          <p:nvSpPr>
            <p:cNvPr id="28" name="TextBox 27"/>
            <p:cNvSpPr txBox="1"/>
            <p:nvPr/>
          </p:nvSpPr>
          <p:spPr>
            <a:xfrm>
              <a:off x="8632478" y="5687378"/>
              <a:ext cx="2457468" cy="646331"/>
            </a:xfrm>
            <a:prstGeom prst="rect">
              <a:avLst/>
            </a:prstGeom>
            <a:noFill/>
          </p:spPr>
          <p:txBody>
            <a:bodyPr wrap="square" rtlCol="0">
              <a:spAutoFit/>
            </a:bodyPr>
            <a:lstStyle/>
            <a:p>
              <a:pPr algn="r"/>
              <a:r>
                <a:rPr lang="ru-RU" dirty="0"/>
                <a:t>Горизонт прогнозирования</a:t>
              </a:r>
            </a:p>
          </p:txBody>
        </p:sp>
        <p:cxnSp>
          <p:nvCxnSpPr>
            <p:cNvPr id="29" name="Прямая со стрелкой 28"/>
            <p:cNvCxnSpPr>
              <a:endCxn id="28" idx="3"/>
            </p:cNvCxnSpPr>
            <p:nvPr/>
          </p:nvCxnSpPr>
          <p:spPr>
            <a:xfrm>
              <a:off x="8670926" y="5999163"/>
              <a:ext cx="2419020" cy="1138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a:off x="11089946" y="5092079"/>
              <a:ext cx="0" cy="11526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7764409" y="5143567"/>
              <a:ext cx="0" cy="1110669"/>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7594656" y="4798615"/>
              <a:ext cx="782798" cy="360431"/>
            </a:xfrm>
            <a:prstGeom prst="rect">
              <a:avLst/>
            </a:prstGeom>
            <a:noFill/>
          </p:spPr>
          <p:txBody>
            <a:bodyPr wrap="square" rtlCol="0">
              <a:spAutoFit/>
            </a:bodyPr>
            <a:lstStyle/>
            <a:p>
              <a:r>
                <a:rPr lang="ru-RU" dirty="0"/>
                <a:t>Шаг ВР</a:t>
              </a:r>
              <a:endParaRPr lang="ru-RU" baseline="-25000" dirty="0"/>
            </a:p>
          </p:txBody>
        </p:sp>
      </p:grpSp>
      <mc:AlternateContent xmlns:mc="http://schemas.openxmlformats.org/markup-compatibility/2006" xmlns:a14="http://schemas.microsoft.com/office/drawing/2010/main">
        <mc:Choice Requires="a14">
          <p:sp>
            <p:nvSpPr>
              <p:cNvPr id="25" name="Прямоугольник 24"/>
              <p:cNvSpPr/>
              <p:nvPr/>
            </p:nvSpPr>
            <p:spPr>
              <a:xfrm>
                <a:off x="285149" y="964689"/>
                <a:ext cx="11497875" cy="2329036"/>
              </a:xfrm>
              <a:prstGeom prst="rect">
                <a:avLst/>
              </a:prstGeom>
            </p:spPr>
            <p:txBody>
              <a:bodyPr wrap="square">
                <a:spAutoFit/>
              </a:bodyPr>
              <a:lstStyle/>
              <a:p>
                <a:pPr marL="285750" indent="-285750">
                  <a:spcBef>
                    <a:spcPts val="600"/>
                  </a:spcBef>
                  <a:buFont typeface="Arial" panose="020B0604020202020204" pitchFamily="34" charset="0"/>
                  <a:buChar char="•"/>
                </a:pPr>
                <a:r>
                  <a:rPr lang="ru-RU" sz="2000" dirty="0"/>
                  <a:t>Значение в момент времени </a:t>
                </a:r>
                <a14:m>
                  <m:oMath xmlns:m="http://schemas.openxmlformats.org/officeDocument/2006/math">
                    <m:r>
                      <a:rPr lang="ru-RU" sz="2000" b="1" i="1" dirty="0">
                        <a:latin typeface="Cambria Math" panose="02040503050406030204" pitchFamily="18" charset="0"/>
                      </a:rPr>
                      <m:t>𝒕</m:t>
                    </m:r>
                  </m:oMath>
                </a14:m>
                <a:r>
                  <a:rPr lang="ru-RU" sz="2000" dirty="0"/>
                  <a:t> — это </a:t>
                </a:r>
                <a14:m>
                  <m:oMath xmlns:m="http://schemas.openxmlformats.org/officeDocument/2006/math">
                    <m:r>
                      <a:rPr lang="ru-RU" sz="2000" b="1" i="1" dirty="0">
                        <a:latin typeface="Cambria Math" panose="02040503050406030204" pitchFamily="18" charset="0"/>
                      </a:rPr>
                      <m:t>𝒚</m:t>
                    </m:r>
                    <m:r>
                      <a:rPr lang="ru-RU" sz="2000" b="1" i="1" baseline="-25000" dirty="0" err="1">
                        <a:latin typeface="Cambria Math" panose="02040503050406030204" pitchFamily="18" charset="0"/>
                      </a:rPr>
                      <m:t>𝒕</m:t>
                    </m:r>
                  </m:oMath>
                </a14:m>
                <a:r>
                  <a:rPr lang="ru-RU" sz="2000" dirty="0"/>
                  <a:t>. </a:t>
                </a:r>
              </a:p>
              <a:p>
                <a:pPr marL="285750" indent="-285750">
                  <a:spcBef>
                    <a:spcPts val="600"/>
                  </a:spcBef>
                  <a:buFont typeface="Arial" panose="020B0604020202020204" pitchFamily="34" charset="0"/>
                  <a:buChar char="•"/>
                </a:pPr>
                <a:r>
                  <a:rPr lang="ru-RU" sz="2000" dirty="0"/>
                  <a:t>Прошлое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температура вчера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Будущее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прогноз температуры на завтра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Прогнозы на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шагов вперед – </a:t>
                </a:r>
                <a:r>
                  <a:rPr lang="ru-RU" sz="2000" b="1" dirty="0"/>
                  <a:t>горизонт прогнозирования </a:t>
                </a:r>
                <a:endParaRPr lang="en-US" sz="2000" b="1" dirty="0"/>
              </a:p>
              <a:p>
                <a:pPr marL="285750" indent="-285750">
                  <a:spcBef>
                    <a:spcPts val="600"/>
                  </a:spcBef>
                  <a:buFont typeface="Arial" panose="020B0604020202020204" pitchFamily="34" charset="0"/>
                  <a:buChar char="•"/>
                </a:pPr>
                <a:r>
                  <a:rPr lang="ru-RU" sz="2000" dirty="0"/>
                  <a:t>Предсказанное значение на шаге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обозначим как </a:t>
                </a:r>
                <a14:m>
                  <m:oMath xmlns:m="http://schemas.openxmlformats.org/officeDocument/2006/math">
                    <m:acc>
                      <m:accPr>
                        <m:chr m:val="̂"/>
                        <m:ctrlPr>
                          <a:rPr lang="en-US" sz="2000" b="1" i="1" dirty="0">
                            <a:latin typeface="Cambria Math" panose="02040503050406030204" pitchFamily="18" charset="0"/>
                          </a:rPr>
                        </m:ctrlPr>
                      </m:accPr>
                      <m:e>
                        <m:r>
                          <a:rPr lang="en-US" sz="2000" b="1" i="1" dirty="0">
                            <a:latin typeface="Cambria Math" panose="02040503050406030204" pitchFamily="18" charset="0"/>
                          </a:rPr>
                          <m:t>𝒚</m:t>
                        </m:r>
                      </m:e>
                    </m:acc>
                    <m:r>
                      <m:rPr>
                        <m:nor/>
                      </m:rPr>
                      <a:rPr lang="ru-RU" sz="2000" b="1" baseline="-25000" dirty="0"/>
                      <m:t>t</m:t>
                    </m:r>
                    <m:r>
                      <m:rPr>
                        <m:nor/>
                      </m:rPr>
                      <a:rPr lang="ru-RU" sz="2000" b="1" baseline="-25000" dirty="0"/>
                      <m:t>+</m:t>
                    </m:r>
                    <m:r>
                      <m:rPr>
                        <m:nor/>
                      </m:rPr>
                      <a:rPr lang="en-US" sz="2000" b="1" baseline="-25000" dirty="0"/>
                      <m:t>h</m:t>
                    </m:r>
                  </m:oMath>
                </a14:m>
                <a:endParaRPr lang="ru-RU" sz="2000" b="1" dirty="0"/>
              </a:p>
              <a:p>
                <a:pPr marL="285750" indent="-285750">
                  <a:spcBef>
                    <a:spcPts val="600"/>
                  </a:spcBef>
                  <a:buFont typeface="Arial" panose="020B0604020202020204" pitchFamily="34" charset="0"/>
                  <a:buChar char="•"/>
                </a:pPr>
                <a:r>
                  <a:rPr lang="ru-RU" sz="2000" b="1" dirty="0"/>
                  <a:t>Задача прогнозирования</a:t>
                </a:r>
                <a14:m>
                  <m:oMath xmlns:m="http://schemas.openxmlformats.org/officeDocument/2006/math">
                    <m:r>
                      <a:rPr lang="en-US" sz="2000" b="1" i="0" dirty="0" smtClean="0">
                        <a:latin typeface="Cambria Math" panose="02040503050406030204" pitchFamily="18" charset="0"/>
                      </a:rPr>
                      <m:t> </m:t>
                    </m:r>
                    <m:r>
                      <a:rPr lang="fr-FR" sz="2000" i="1" dirty="0">
                        <a:latin typeface="Cambria Math" panose="02040503050406030204" pitchFamily="18" charset="0"/>
                      </a:rPr>
                      <m:t>𝐸</m:t>
                    </m:r>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𝑦</m:t>
                                </m:r>
                              </m:e>
                            </m:acc>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e>
                    </m:d>
                    <m:r>
                      <a:rPr lang="en-US" sz="2000" b="0" i="1" dirty="0" smtClean="0">
                        <a:latin typeface="Cambria Math" panose="02040503050406030204" pitchFamily="18" charset="0"/>
                      </a:rPr>
                      <m:t>→</m:t>
                    </m:r>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oMath>
                </a14:m>
                <a:endParaRPr lang="en-US" sz="2000" dirty="0"/>
              </a:p>
            </p:txBody>
          </p:sp>
        </mc:Choice>
        <mc:Fallback xmlns="">
          <p:sp>
            <p:nvSpPr>
              <p:cNvPr id="25" name="Прямоугольник 24"/>
              <p:cNvSpPr>
                <a:spLocks noRot="1" noChangeAspect="1" noMove="1" noResize="1" noEditPoints="1" noAdjustHandles="1" noChangeArrowheads="1" noChangeShapeType="1" noTextEdit="1"/>
              </p:cNvSpPr>
              <p:nvPr/>
            </p:nvSpPr>
            <p:spPr>
              <a:xfrm>
                <a:off x="285149" y="964689"/>
                <a:ext cx="11497875" cy="2329036"/>
              </a:xfrm>
              <a:prstGeom prst="rect">
                <a:avLst/>
              </a:prstGeom>
              <a:blipFill>
                <a:blip r:embed="rId5"/>
                <a:stretch>
                  <a:fillRect l="-477" t="-1309" b="-3927"/>
                </a:stretch>
              </a:blipFill>
            </p:spPr>
            <p:txBody>
              <a:bodyPr/>
              <a:lstStyle/>
              <a:p>
                <a:r>
                  <a:rPr lang="ru-RU">
                    <a:noFill/>
                  </a:rPr>
                  <a:t> </a:t>
                </a:r>
              </a:p>
            </p:txBody>
          </p:sp>
        </mc:Fallback>
      </mc:AlternateContent>
      <p:sp>
        <p:nvSpPr>
          <p:cNvPr id="37" name="TextBox 36">
            <a:extLst>
              <a:ext uri="{FF2B5EF4-FFF2-40B4-BE49-F238E27FC236}">
                <a16:creationId xmlns:a16="http://schemas.microsoft.com/office/drawing/2014/main" id="{E58F1B07-EE24-C7CD-1951-723D0C1BF829}"/>
              </a:ext>
            </a:extLst>
          </p:cNvPr>
          <p:cNvSpPr txBox="1"/>
          <p:nvPr/>
        </p:nvSpPr>
        <p:spPr>
          <a:xfrm>
            <a:off x="4795818" y="6478728"/>
            <a:ext cx="6746913" cy="276999"/>
          </a:xfrm>
          <a:prstGeom prst="rect">
            <a:avLst/>
          </a:prstGeom>
          <a:noFill/>
        </p:spPr>
        <p:txBody>
          <a:bodyPr wrap="square">
            <a:spAutoFit/>
          </a:bodyPr>
          <a:lstStyle/>
          <a:p>
            <a:r>
              <a:rPr lang="ru-RU" sz="1200" dirty="0" err="1"/>
              <a:t>https</a:t>
            </a:r>
            <a:r>
              <a:rPr lang="ru-RU" sz="1200" dirty="0"/>
              <a:t>://</a:t>
            </a:r>
            <a:r>
              <a:rPr lang="ru-RU" sz="1200" dirty="0" err="1"/>
              <a:t>colab.research.google.com</a:t>
            </a:r>
            <a:r>
              <a:rPr lang="ru-RU" sz="1200" dirty="0"/>
              <a:t>/</a:t>
            </a:r>
            <a:r>
              <a:rPr lang="ru-RU" sz="1200" dirty="0" err="1"/>
              <a:t>drive</a:t>
            </a:r>
            <a:r>
              <a:rPr lang="ru-RU" sz="1200" dirty="0"/>
              <a:t>/1EnMNj9cTV1JhMQBvx2VvXaahxBPoCDML?usp=</a:t>
            </a:r>
            <a:r>
              <a:rPr lang="ru-RU" sz="1200" dirty="0" err="1"/>
              <a:t>sharing</a:t>
            </a:r>
            <a:endParaRPr lang="ru-RU" sz="1200" dirty="0"/>
          </a:p>
        </p:txBody>
      </p:sp>
      <p:cxnSp>
        <p:nvCxnSpPr>
          <p:cNvPr id="39" name="Прямая со стрелкой 38"/>
          <p:cNvCxnSpPr/>
          <p:nvPr/>
        </p:nvCxnSpPr>
        <p:spPr>
          <a:xfrm flipH="1">
            <a:off x="7557700" y="5007216"/>
            <a:ext cx="2861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flipH="1">
            <a:off x="7405300" y="5003006"/>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p:nvPr/>
        </p:nvCxnSpPr>
        <p:spPr>
          <a:xfrm>
            <a:off x="7193756" y="5003006"/>
            <a:ext cx="2115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1630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38</a:t>
            </a:fld>
            <a:endParaRPr lang="en-US" dirty="0"/>
          </a:p>
        </p:txBody>
      </p:sp>
      <p:pic>
        <p:nvPicPr>
          <p:cNvPr id="1026" name="Picture 2" descr="Data can be further categorized as Observed, Known, or Static.  Observed data is only known in the past, some examples are the target, stock price, or population.  Known data is available in the past and future, some examples are the day of the week, time until a certain holiday, or month.  Static data is also available in the past and future, but in contrast with Known data is constant in the time series the sliding window is drawn from, some examples are the User ID or Item 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8805" y="915524"/>
            <a:ext cx="7068820" cy="5440164"/>
          </a:xfrm>
          <a:prstGeom prst="rect">
            <a:avLst/>
          </a:prstGeom>
          <a:noFill/>
          <a:extLst>
            <a:ext uri="{909E8E84-426E-40DD-AFC4-6F175D3DCCD1}">
              <a14:hiddenFill xmlns:a14="http://schemas.microsoft.com/office/drawing/2010/main">
                <a:solidFill>
                  <a:srgbClr val="FFFFFF"/>
                </a:solidFill>
              </a14:hiddenFill>
            </a:ext>
          </a:extLst>
        </p:spPr>
      </p:pic>
      <p:sp>
        <p:nvSpPr>
          <p:cNvPr id="8" name="Прямоугольник 7"/>
          <p:cNvSpPr/>
          <p:nvPr/>
        </p:nvSpPr>
        <p:spPr>
          <a:xfrm>
            <a:off x="1447800" y="6468159"/>
            <a:ext cx="8961120" cy="276999"/>
          </a:xfrm>
          <a:prstGeom prst="rect">
            <a:avLst/>
          </a:prstGeom>
        </p:spPr>
        <p:txBody>
          <a:bodyPr wrap="square">
            <a:spAutoFit/>
          </a:bodyPr>
          <a:lstStyle/>
          <a:p>
            <a:r>
              <a:rPr lang="ru-RU" sz="1200" dirty="0"/>
              <a:t>https://developer.nvidia.com/blog/time-series-forecasting-with-the-nvidia-time-series-prediction-platform-and-triton-inference-server/</a:t>
            </a:r>
          </a:p>
        </p:txBody>
      </p:sp>
    </p:spTree>
    <p:extLst>
      <p:ext uri="{BB962C8B-B14F-4D97-AF65-F5344CB8AC3E}">
        <p14:creationId xmlns:p14="http://schemas.microsoft.com/office/powerpoint/2010/main" val="24317761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2D15B-1A1A-60FB-41FC-8A61BF199C2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2D8DF6-C216-E34E-7D7B-11C6D5207211}"/>
              </a:ext>
            </a:extLst>
          </p:cNvPr>
          <p:cNvSpPr>
            <a:spLocks noGrp="1"/>
          </p:cNvSpPr>
          <p:nvPr>
            <p:ph type="title"/>
          </p:nvPr>
        </p:nvSpPr>
        <p:spPr>
          <a:xfrm>
            <a:off x="566057" y="365125"/>
            <a:ext cx="10787743" cy="1047641"/>
          </a:xfrm>
        </p:spPr>
        <p:txBody>
          <a:bodyPr/>
          <a:lstStyle/>
          <a:p>
            <a:r>
              <a:rPr lang="ru-RU" b="1" dirty="0"/>
              <a:t>Задачи предсказания временных рядов</a:t>
            </a:r>
            <a:r>
              <a:rPr lang="en-US" b="1" dirty="0" err="1"/>
              <a:t>aq</a:t>
            </a:r>
            <a:endParaRPr lang="ru-RU" dirty="0"/>
          </a:p>
        </p:txBody>
      </p:sp>
      <p:sp>
        <p:nvSpPr>
          <p:cNvPr id="4" name="Номер слайда 3">
            <a:extLst>
              <a:ext uri="{FF2B5EF4-FFF2-40B4-BE49-F238E27FC236}">
                <a16:creationId xmlns:a16="http://schemas.microsoft.com/office/drawing/2014/main" id="{BED6B87D-2FAF-84DA-E08B-87EB655C2909}"/>
              </a:ext>
            </a:extLst>
          </p:cNvPr>
          <p:cNvSpPr>
            <a:spLocks noGrp="1"/>
          </p:cNvSpPr>
          <p:nvPr>
            <p:ph type="sldNum" sz="quarter" idx="12"/>
          </p:nvPr>
        </p:nvSpPr>
        <p:spPr/>
        <p:txBody>
          <a:bodyPr/>
          <a:lstStyle/>
          <a:p>
            <a:fld id="{45C3B737-A709-4ABC-AFE0-A6B067850C48}" type="slidenum">
              <a:rPr lang="en-US" smtClean="0"/>
              <a:t>39</a:t>
            </a:fld>
            <a:endParaRPr lang="en-US"/>
          </a:p>
        </p:txBody>
      </p:sp>
      <p:sp>
        <p:nvSpPr>
          <p:cNvPr id="12" name="Объект 11">
            <a:extLst>
              <a:ext uri="{FF2B5EF4-FFF2-40B4-BE49-F238E27FC236}">
                <a16:creationId xmlns:a16="http://schemas.microsoft.com/office/drawing/2014/main" id="{1BB278FD-3BA0-E784-DDDA-9236766B2533}"/>
              </a:ext>
            </a:extLst>
          </p:cNvPr>
          <p:cNvSpPr txBox="1">
            <a:spLocks noGrp="1"/>
          </p:cNvSpPr>
          <p:nvPr>
            <p:ph idx="1"/>
          </p:nvPr>
        </p:nvSpPr>
        <p:spPr>
          <a:xfrm>
            <a:off x="354110" y="1404519"/>
            <a:ext cx="7271294" cy="923330"/>
          </a:xfrm>
          <a:prstGeom prst="rect">
            <a:avLst/>
          </a:prstGeom>
          <a:noFill/>
        </p:spPr>
        <p:txBody>
          <a:bodyPr wrap="square" rtlCol="0">
            <a:spAutoFit/>
          </a:bodyPr>
          <a:lstStyle/>
          <a:p>
            <a:pPr marL="0" indent="0">
              <a:buNone/>
            </a:pPr>
            <a:r>
              <a:rPr lang="ru-RU" sz="2000" b="1" dirty="0"/>
              <a:t>Точечный прогноз </a:t>
            </a:r>
            <a:r>
              <a:rPr lang="ru-RU" sz="2000" dirty="0"/>
              <a:t>- Самый простой случай, когда требуется узнать конкретное значение показателя в зависимости от периода. </a:t>
            </a:r>
          </a:p>
        </p:txBody>
      </p:sp>
      <p:pic>
        <p:nvPicPr>
          <p:cNvPr id="11" name="Рисунок 10" descr="https://shakhbanov.org/wp-content/uploads/2024/10/%D1%82%D0%BE%D1%87%D0%B5%D1%87%D0%BD%D1%8B%D0%B9_%D0%BF%D1%80%D0%BE%D0%B3%D0%BD%D0%BE%D0%B7.png"/>
          <p:cNvPicPr/>
          <p:nvPr/>
        </p:nvPicPr>
        <p:blipFill>
          <a:blip r:embed="rId2">
            <a:extLst>
              <a:ext uri="{28A0092B-C50C-407E-A947-70E740481C1C}">
                <a14:useLocalDpi xmlns:a14="http://schemas.microsoft.com/office/drawing/2010/main" val="0"/>
              </a:ext>
            </a:extLst>
          </a:blip>
          <a:srcRect/>
          <a:stretch>
            <a:fillRect/>
          </a:stretch>
        </p:blipFill>
        <p:spPr bwMode="auto">
          <a:xfrm>
            <a:off x="8250244" y="1082830"/>
            <a:ext cx="3276600" cy="1591419"/>
          </a:xfrm>
          <a:prstGeom prst="rect">
            <a:avLst/>
          </a:prstGeom>
          <a:noFill/>
          <a:ln>
            <a:noFill/>
          </a:ln>
        </p:spPr>
      </p:pic>
      <p:sp>
        <p:nvSpPr>
          <p:cNvPr id="5" name="Прямоугольник 4"/>
          <p:cNvSpPr/>
          <p:nvPr/>
        </p:nvSpPr>
        <p:spPr>
          <a:xfrm>
            <a:off x="354110" y="2489431"/>
            <a:ext cx="7589740" cy="1631216"/>
          </a:xfrm>
          <a:prstGeom prst="rect">
            <a:avLst/>
          </a:prstGeom>
        </p:spPr>
        <p:txBody>
          <a:bodyPr wrap="square">
            <a:spAutoFit/>
          </a:bodyPr>
          <a:lstStyle/>
          <a:p>
            <a:r>
              <a:rPr lang="ru-RU" sz="2000" b="1" dirty="0"/>
              <a:t>Прогноз изменчивости</a:t>
            </a:r>
            <a:r>
              <a:rPr lang="en-US" sz="2000" b="1" dirty="0"/>
              <a:t> - </a:t>
            </a:r>
            <a:r>
              <a:rPr lang="ru-RU" sz="2000" dirty="0"/>
              <a:t>обычно подразумевают прогноз дисперсии и производных от неё показателей. Примером может служить прогнозирование волатильности на фондовом рынке. Волатильность отражает степень колебаний цен на активы и является важным показателем риска для инвесторов.</a:t>
            </a:r>
          </a:p>
        </p:txBody>
      </p:sp>
      <p:pic>
        <p:nvPicPr>
          <p:cNvPr id="14" name="Рисунок 13" descr="https://shakhbanov.org/wp-content/uploads/2024/10/%D0%BF%D1%80%D0%BE%D0%B3%D0%BD%D0%BE%D0%B7_%D0%B8%D0%B7%D0%BC%D0%B5%D0%BD%D1%87%D0%B8%D0%B2%D0%BE%D1%81%D1%82%D0%B8.png"/>
          <p:cNvPicPr/>
          <p:nvPr/>
        </p:nvPicPr>
        <p:blipFill>
          <a:blip r:embed="rId3">
            <a:extLst>
              <a:ext uri="{28A0092B-C50C-407E-A947-70E740481C1C}">
                <a14:useLocalDpi xmlns:a14="http://schemas.microsoft.com/office/drawing/2010/main" val="0"/>
              </a:ext>
            </a:extLst>
          </a:blip>
          <a:srcRect/>
          <a:stretch>
            <a:fillRect/>
          </a:stretch>
        </p:blipFill>
        <p:spPr bwMode="auto">
          <a:xfrm>
            <a:off x="8250244" y="2848662"/>
            <a:ext cx="3200400" cy="1485900"/>
          </a:xfrm>
          <a:prstGeom prst="rect">
            <a:avLst/>
          </a:prstGeom>
          <a:noFill/>
          <a:ln>
            <a:noFill/>
          </a:ln>
        </p:spPr>
      </p:pic>
      <mc:AlternateContent xmlns:mc="http://schemas.openxmlformats.org/markup-compatibility/2006" xmlns:a14="http://schemas.microsoft.com/office/drawing/2010/main">
        <mc:Choice Requires="a14">
          <p:sp>
            <p:nvSpPr>
              <p:cNvPr id="6" name="Прямоугольник 5"/>
              <p:cNvSpPr/>
              <p:nvPr/>
            </p:nvSpPr>
            <p:spPr>
              <a:xfrm>
                <a:off x="354110" y="4331961"/>
                <a:ext cx="7934234" cy="1415324"/>
              </a:xfrm>
              <a:prstGeom prst="rect">
                <a:avLst/>
              </a:prstGeom>
            </p:spPr>
            <p:txBody>
              <a:bodyPr wrap="square">
                <a:spAutoFit/>
              </a:bodyPr>
              <a:lstStyle/>
              <a:p>
                <a:pPr>
                  <a:lnSpc>
                    <a:spcPct val="107000"/>
                  </a:lnSpc>
                  <a:spcAft>
                    <a:spcPts val="0"/>
                  </a:spcAft>
                </a:pPr>
                <a:r>
                  <a:rPr lang="ru-RU" sz="2000" b="1" dirty="0"/>
                  <a:t>Интервальный прогноз</a:t>
                </a:r>
                <a:r>
                  <a:rPr lang="en-US" sz="2000" b="1" dirty="0"/>
                  <a:t> </a:t>
                </a:r>
                <a:r>
                  <a:rPr lang="ru-RU" sz="2000" dirty="0"/>
                  <a:t>- комбинация двух предыдущих. Задача заключается в предсказании интервала, в который попадёт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oMath>
                </a14:m>
                <a:r>
                  <a:rPr lang="ru-RU" sz="2000" dirty="0"/>
                  <a:t> с заданной вероятностью (например, 95%). Для этого требуется либо знать закон распределения</a:t>
                </a:r>
                <a:r>
                  <a:rPr lang="en-US" sz="2000" dirty="0"/>
                  <a:t>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oMath>
                </a14:m>
                <a:r>
                  <a:rPr lang="ru-RU" sz="2000" dirty="0"/>
                  <a:t> , либо рассчитать квантиль.</a:t>
                </a: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54110" y="4331961"/>
                <a:ext cx="7934234" cy="1415324"/>
              </a:xfrm>
              <a:prstGeom prst="rect">
                <a:avLst/>
              </a:prstGeom>
              <a:blipFill>
                <a:blip r:embed="rId4"/>
                <a:stretch>
                  <a:fillRect l="-768" t="-2155" b="-5603"/>
                </a:stretch>
              </a:blipFill>
            </p:spPr>
            <p:txBody>
              <a:bodyPr/>
              <a:lstStyle/>
              <a:p>
                <a:r>
                  <a:rPr lang="ru-RU">
                    <a:noFill/>
                  </a:rPr>
                  <a:t> </a:t>
                </a:r>
              </a:p>
            </p:txBody>
          </p:sp>
        </mc:Fallback>
      </mc:AlternateContent>
      <p:pic>
        <p:nvPicPr>
          <p:cNvPr id="15" name="Рисунок 14" descr="https://shakhbanov.org/wp-content/uploads/2024/10/%D0%B8%D0%BD%D1%82%D0%B5%D1%80%D0%B2%D0%B0%D0%BB%D1%8C%D0%BD%D1%8B%D0%B9_%D0%BF%D1%80%D0%BE%D0%B3%D0%BD%D0%BE%D0%B7.png"/>
          <p:cNvPicPr/>
          <p:nvPr/>
        </p:nvPicPr>
        <p:blipFill>
          <a:blip r:embed="rId5">
            <a:extLst>
              <a:ext uri="{28A0092B-C50C-407E-A947-70E740481C1C}">
                <a14:useLocalDpi xmlns:a14="http://schemas.microsoft.com/office/drawing/2010/main" val="0"/>
              </a:ext>
            </a:extLst>
          </a:blip>
          <a:srcRect/>
          <a:stretch>
            <a:fillRect/>
          </a:stretch>
        </p:blipFill>
        <p:spPr bwMode="auto">
          <a:xfrm>
            <a:off x="8288344" y="4606792"/>
            <a:ext cx="3200400" cy="1477328"/>
          </a:xfrm>
          <a:prstGeom prst="rect">
            <a:avLst/>
          </a:prstGeom>
          <a:noFill/>
          <a:ln>
            <a:noFill/>
          </a:ln>
        </p:spPr>
      </p:pic>
      <p:sp>
        <p:nvSpPr>
          <p:cNvPr id="3" name="TextBox 2"/>
          <p:cNvSpPr txBox="1"/>
          <p:nvPr/>
        </p:nvSpPr>
        <p:spPr>
          <a:xfrm>
            <a:off x="354110" y="6084120"/>
            <a:ext cx="10748230" cy="646331"/>
          </a:xfrm>
          <a:prstGeom prst="rect">
            <a:avLst/>
          </a:prstGeom>
          <a:noFill/>
        </p:spPr>
        <p:txBody>
          <a:bodyPr wrap="square" rtlCol="0">
            <a:spAutoFit/>
          </a:bodyPr>
          <a:lstStyle/>
          <a:p>
            <a:r>
              <a:rPr lang="ru-RU" dirty="0"/>
              <a:t>В дополнение к этому также могут быть поставлены задачи поиска аномалий, заполнения пропусков, обнаружение изменений (новизны) и другие задачи</a:t>
            </a:r>
          </a:p>
        </p:txBody>
      </p:sp>
      <p:sp>
        <p:nvSpPr>
          <p:cNvPr id="7" name="Прямоугольник 6"/>
          <p:cNvSpPr/>
          <p:nvPr/>
        </p:nvSpPr>
        <p:spPr>
          <a:xfrm>
            <a:off x="5827160" y="6407285"/>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29478900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7C0DF5D5-7D67-E283-56B4-5F90AB037BF6}"/>
              </a:ext>
            </a:extLst>
          </p:cNvPr>
          <p:cNvPicPr>
            <a:picLocks noChangeAspect="1"/>
          </p:cNvPicPr>
          <p:nvPr/>
        </p:nvPicPr>
        <p:blipFill>
          <a:blip r:embed="rId2"/>
          <a:stretch>
            <a:fillRect/>
          </a:stretch>
        </p:blipFill>
        <p:spPr>
          <a:xfrm>
            <a:off x="6855788" y="1036503"/>
            <a:ext cx="5002837" cy="4793379"/>
          </a:xfrm>
          <a:prstGeom prst="rect">
            <a:avLst/>
          </a:prstGeom>
        </p:spPr>
      </p:pic>
      <p:sp>
        <p:nvSpPr>
          <p:cNvPr id="2" name="Заголовок 1">
            <a:extLst>
              <a:ext uri="{FF2B5EF4-FFF2-40B4-BE49-F238E27FC236}">
                <a16:creationId xmlns:a16="http://schemas.microsoft.com/office/drawing/2014/main" id="{902D1D9A-7D65-F70A-BCFB-4AAC3B1AC39B}"/>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075001AD-C988-EFE6-BAB1-1D06788E8D18}"/>
              </a:ext>
            </a:extLst>
          </p:cNvPr>
          <p:cNvSpPr>
            <a:spLocks noGrp="1"/>
          </p:cNvSpPr>
          <p:nvPr>
            <p:ph idx="1"/>
          </p:nvPr>
        </p:nvSpPr>
        <p:spPr>
          <a:xfrm>
            <a:off x="126236" y="1036503"/>
            <a:ext cx="7312789" cy="5611947"/>
          </a:xfrm>
        </p:spPr>
        <p:txBody>
          <a:bodyPr>
            <a:normAutofit fontScale="77500" lnSpcReduction="20000"/>
          </a:bodyPr>
          <a:lstStyle/>
          <a:p>
            <a:r>
              <a:rPr lang="ru-RU" sz="2400" dirty="0"/>
              <a:t>Как устроен ВР </a:t>
            </a:r>
          </a:p>
          <a:p>
            <a:pPr lvl="1"/>
            <a:r>
              <a:rPr lang="ru-RU" sz="2000" b="1" dirty="0"/>
              <a:t>От куда берутся значения ВР</a:t>
            </a:r>
            <a:r>
              <a:rPr lang="ru-RU" sz="2000" dirty="0"/>
              <a:t>, типы данных и однотипность, количество</a:t>
            </a:r>
          </a:p>
          <a:p>
            <a:pPr lvl="1"/>
            <a:r>
              <a:rPr lang="ru-RU" b="1" dirty="0"/>
              <a:t>структура</a:t>
            </a:r>
            <a:r>
              <a:rPr lang="en-US" b="1" dirty="0"/>
              <a:t> </a:t>
            </a:r>
            <a:r>
              <a:rPr lang="ru-RU" b="1" dirty="0"/>
              <a:t>ВР </a:t>
            </a:r>
            <a:r>
              <a:rPr lang="ru-RU" dirty="0"/>
              <a:t>(переменные, экзогенные факторы, регулярность паттернов, стат. характеристики)</a:t>
            </a:r>
          </a:p>
          <a:p>
            <a:pPr lvl="1"/>
            <a:r>
              <a:rPr lang="ru-RU" dirty="0"/>
              <a:t>шаг, равномерность, пропуск и </a:t>
            </a:r>
            <a:r>
              <a:rPr lang="ru-RU" dirty="0" err="1"/>
              <a:t>тд</a:t>
            </a:r>
            <a:r>
              <a:rPr lang="ru-RU" dirty="0"/>
              <a:t> , как заполнять?</a:t>
            </a:r>
          </a:p>
          <a:p>
            <a:r>
              <a:rPr lang="ru-RU" sz="2400" b="1" dirty="0"/>
              <a:t>Преобразование данных </a:t>
            </a:r>
          </a:p>
          <a:p>
            <a:pPr lvl="1"/>
            <a:r>
              <a:rPr lang="ru-RU" dirty="0"/>
              <a:t>численные данные? </a:t>
            </a:r>
          </a:p>
          <a:p>
            <a:pPr lvl="1"/>
            <a:r>
              <a:rPr lang="ru-RU" dirty="0"/>
              <a:t>Экзогенные факторы? </a:t>
            </a:r>
          </a:p>
          <a:p>
            <a:pPr lvl="1"/>
            <a:r>
              <a:rPr lang="ru-RU" dirty="0"/>
              <a:t>Разложение?</a:t>
            </a:r>
            <a:r>
              <a:rPr lang="en-US" dirty="0"/>
              <a:t> </a:t>
            </a:r>
            <a:endParaRPr lang="ru-RU" dirty="0"/>
          </a:p>
          <a:p>
            <a:r>
              <a:rPr lang="ru-RU" sz="2400" b="1" dirty="0"/>
              <a:t>Переменная для предсказания  </a:t>
            </a:r>
          </a:p>
          <a:p>
            <a:pPr lvl="1"/>
            <a:r>
              <a:rPr lang="ru-RU" dirty="0"/>
              <a:t>горизонт, регулярность, </a:t>
            </a:r>
          </a:p>
          <a:p>
            <a:pPr lvl="1"/>
            <a:r>
              <a:rPr lang="ru-RU" dirty="0"/>
              <a:t>Время предсказания, </a:t>
            </a:r>
          </a:p>
          <a:p>
            <a:pPr lvl="1"/>
            <a:r>
              <a:rPr lang="ru-RU" dirty="0"/>
              <a:t>М</a:t>
            </a:r>
            <a:r>
              <a:rPr lang="en-US" dirty="0" err="1"/>
              <a:t>етр</a:t>
            </a:r>
            <a:r>
              <a:rPr lang="ru-RU" dirty="0" err="1"/>
              <a:t>ики</a:t>
            </a:r>
            <a:r>
              <a:rPr lang="ru-RU" dirty="0"/>
              <a:t> и их значение и разброс, </a:t>
            </a:r>
            <a:r>
              <a:rPr lang="ru-RU" dirty="0" err="1"/>
              <a:t>bas</a:t>
            </a:r>
            <a:r>
              <a:rPr lang="en-US" dirty="0" err="1"/>
              <a:t>eline</a:t>
            </a:r>
            <a:r>
              <a:rPr lang="ru-RU" dirty="0"/>
              <a:t> </a:t>
            </a:r>
            <a:endParaRPr lang="en-US" dirty="0"/>
          </a:p>
          <a:p>
            <a:pPr lvl="1"/>
            <a:r>
              <a:rPr lang="ru-RU" dirty="0"/>
              <a:t>Чувствительность к выбросам и пропускам</a:t>
            </a:r>
          </a:p>
          <a:p>
            <a:pPr lvl="1"/>
            <a:r>
              <a:rPr lang="ru-RU" dirty="0"/>
              <a:t>Интерпретация или модель данных</a:t>
            </a:r>
          </a:p>
          <a:p>
            <a:r>
              <a:rPr lang="ru-RU" sz="2400" b="1" dirty="0"/>
              <a:t>Мониторинг</a:t>
            </a:r>
          </a:p>
          <a:p>
            <a:pPr lvl="1"/>
            <a:r>
              <a:rPr lang="ru-RU" dirty="0"/>
              <a:t>Контроль дрейфа и новизны</a:t>
            </a:r>
          </a:p>
          <a:p>
            <a:pPr lvl="1"/>
            <a:r>
              <a:rPr lang="ru-RU" dirty="0"/>
              <a:t>Критерии дообучения</a:t>
            </a:r>
          </a:p>
          <a:p>
            <a:pPr lvl="1"/>
            <a:r>
              <a:rPr lang="ru-RU" dirty="0"/>
              <a:t>Критерии </a:t>
            </a:r>
            <a:r>
              <a:rPr lang="ru-RU" dirty="0" err="1"/>
              <a:t>досбора</a:t>
            </a:r>
            <a:r>
              <a:rPr lang="ru-RU" dirty="0"/>
              <a:t> данных</a:t>
            </a:r>
          </a:p>
          <a:p>
            <a:pPr lvl="1"/>
            <a:r>
              <a:rPr lang="ru-RU" dirty="0"/>
              <a:t>Время </a:t>
            </a:r>
            <a:r>
              <a:rPr lang="ru-RU" dirty="0" err="1"/>
              <a:t>дообучение</a:t>
            </a:r>
            <a:r>
              <a:rPr lang="ru-RU" dirty="0"/>
              <a:t> на новых данных</a:t>
            </a:r>
            <a:endParaRPr lang="en-US" dirty="0"/>
          </a:p>
          <a:p>
            <a:endParaRPr lang="ru-RU" sz="2400" dirty="0"/>
          </a:p>
          <a:p>
            <a:endParaRPr lang="ru-RU" dirty="0"/>
          </a:p>
        </p:txBody>
      </p:sp>
      <p:sp>
        <p:nvSpPr>
          <p:cNvPr id="4" name="Номер слайда 3">
            <a:extLst>
              <a:ext uri="{FF2B5EF4-FFF2-40B4-BE49-F238E27FC236}">
                <a16:creationId xmlns:a16="http://schemas.microsoft.com/office/drawing/2014/main" id="{A23ABF32-A19D-3F0F-1034-BFC9C1750C3A}"/>
              </a:ext>
            </a:extLst>
          </p:cNvPr>
          <p:cNvSpPr>
            <a:spLocks noGrp="1"/>
          </p:cNvSpPr>
          <p:nvPr>
            <p:ph type="sldNum" sz="quarter" idx="12"/>
          </p:nvPr>
        </p:nvSpPr>
        <p:spPr/>
        <p:txBody>
          <a:bodyPr/>
          <a:lstStyle/>
          <a:p>
            <a:fld id="{45C3B737-A709-4ABC-AFE0-A6B067850C48}" type="slidenum">
              <a:rPr lang="en-US" smtClean="0"/>
              <a:t>40</a:t>
            </a:fld>
            <a:endParaRPr lang="en-US"/>
          </a:p>
        </p:txBody>
      </p:sp>
      <p:sp>
        <p:nvSpPr>
          <p:cNvPr id="6" name="TextBox 5">
            <a:extLst>
              <a:ext uri="{FF2B5EF4-FFF2-40B4-BE49-F238E27FC236}">
                <a16:creationId xmlns:a16="http://schemas.microsoft.com/office/drawing/2014/main" id="{ACC32247-5361-DC33-A872-0AB9D0D7E697}"/>
              </a:ext>
            </a:extLst>
          </p:cNvPr>
          <p:cNvSpPr txBox="1"/>
          <p:nvPr/>
        </p:nvSpPr>
        <p:spPr>
          <a:xfrm>
            <a:off x="5536436" y="6512691"/>
            <a:ext cx="4998214" cy="307777"/>
          </a:xfrm>
          <a:prstGeom prst="rect">
            <a:avLst/>
          </a:prstGeom>
          <a:noFill/>
        </p:spPr>
        <p:txBody>
          <a:bodyPr wrap="square">
            <a:spAutoFit/>
          </a:bodyPr>
          <a:lstStyle/>
          <a:p>
            <a:r>
              <a:rPr lang="ru-RU" sz="1400" dirty="0" err="1"/>
              <a:t>https</a:t>
            </a:r>
            <a:r>
              <a:rPr lang="ru-RU" sz="1400" dirty="0"/>
              <a:t>://</a:t>
            </a:r>
            <a:r>
              <a:rPr lang="ru-RU" sz="1400" dirty="0" err="1"/>
              <a:t>rutube.ru</a:t>
            </a:r>
            <a:r>
              <a:rPr lang="ru-RU" sz="1400" dirty="0"/>
              <a:t>/</a:t>
            </a:r>
            <a:r>
              <a:rPr lang="ru-RU" sz="1400" dirty="0" err="1"/>
              <a:t>video</a:t>
            </a:r>
            <a:r>
              <a:rPr lang="ru-RU" sz="1400" dirty="0"/>
              <a:t>/c4116f5e24238a778e458a56a16015f3/</a:t>
            </a:r>
          </a:p>
        </p:txBody>
      </p:sp>
      <p:sp>
        <p:nvSpPr>
          <p:cNvPr id="11" name="TextBox 10">
            <a:extLst>
              <a:ext uri="{FF2B5EF4-FFF2-40B4-BE49-F238E27FC236}">
                <a16:creationId xmlns:a16="http://schemas.microsoft.com/office/drawing/2014/main" id="{F1FEAAF5-6255-E2ED-6CC9-BD7DA86F4315}"/>
              </a:ext>
            </a:extLst>
          </p:cNvPr>
          <p:cNvSpPr txBox="1"/>
          <p:nvPr/>
        </p:nvSpPr>
        <p:spPr>
          <a:xfrm>
            <a:off x="5655441" y="6048703"/>
            <a:ext cx="4170750" cy="523220"/>
          </a:xfrm>
          <a:prstGeom prst="rect">
            <a:avLst/>
          </a:prstGeom>
          <a:noFill/>
        </p:spPr>
        <p:txBody>
          <a:bodyPr wrap="square">
            <a:spAutoFit/>
          </a:bodyPr>
          <a:lstStyle/>
          <a:p>
            <a:r>
              <a:rPr lang="ru-RU" sz="1400" dirty="0" err="1"/>
              <a:t>https</a:t>
            </a:r>
            <a:r>
              <a:rPr lang="ru-RU" sz="1400" dirty="0"/>
              <a:t>://</a:t>
            </a:r>
            <a:r>
              <a:rPr lang="ru-RU" sz="1400" dirty="0" err="1"/>
              <a:t>www.springboard.com</a:t>
            </a:r>
            <a:r>
              <a:rPr lang="ru-RU" sz="1400" dirty="0"/>
              <a:t>/</a:t>
            </a:r>
            <a:r>
              <a:rPr lang="ru-RU" sz="1400" dirty="0" err="1"/>
              <a:t>blog</a:t>
            </a:r>
            <a:r>
              <a:rPr lang="ru-RU" sz="1400" dirty="0"/>
              <a:t>/</a:t>
            </a:r>
            <a:r>
              <a:rPr lang="ru-RU" sz="1400" dirty="0" err="1"/>
              <a:t>data-science</a:t>
            </a:r>
            <a:r>
              <a:rPr lang="ru-RU" sz="1400" dirty="0"/>
              <a:t>/</a:t>
            </a:r>
            <a:r>
              <a:rPr lang="ru-RU" sz="1400" dirty="0" err="1"/>
              <a:t>time-series-forecasting</a:t>
            </a:r>
            <a:r>
              <a:rPr lang="ru-RU" sz="1400" dirty="0"/>
              <a:t>/</a:t>
            </a:r>
          </a:p>
        </p:txBody>
      </p:sp>
    </p:spTree>
    <p:extLst>
      <p:ext uri="{BB962C8B-B14F-4D97-AF65-F5344CB8AC3E}">
        <p14:creationId xmlns:p14="http://schemas.microsoft.com/office/powerpoint/2010/main" val="20247770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15E440-596D-530D-55C2-E81E915DDDB4}"/>
              </a:ext>
            </a:extLst>
          </p:cNvPr>
          <p:cNvSpPr>
            <a:spLocks noGrp="1"/>
          </p:cNvSpPr>
          <p:nvPr>
            <p:ph type="title"/>
          </p:nvPr>
        </p:nvSpPr>
        <p:spPr>
          <a:xfrm>
            <a:off x="797070" y="469109"/>
            <a:ext cx="10968210" cy="637410"/>
          </a:xfrm>
        </p:spPr>
        <p:txBody>
          <a:bodyPr>
            <a:normAutofit fontScale="90000"/>
          </a:bodyPr>
          <a:lstStyle/>
          <a:p>
            <a:r>
              <a:rPr lang="ru-RU" dirty="0"/>
              <a:t>Пример TS</a:t>
            </a:r>
            <a:r>
              <a:rPr lang="en-US" dirty="0"/>
              <a:t>F System Design</a:t>
            </a:r>
            <a:endParaRPr lang="ru-RU" dirty="0"/>
          </a:p>
        </p:txBody>
      </p:sp>
      <p:sp>
        <p:nvSpPr>
          <p:cNvPr id="3" name="Объект 2">
            <a:extLst>
              <a:ext uri="{FF2B5EF4-FFF2-40B4-BE49-F238E27FC236}">
                <a16:creationId xmlns:a16="http://schemas.microsoft.com/office/drawing/2014/main" id="{461BD177-89A3-8B6F-DC87-8D67F7A128B7}"/>
              </a:ext>
            </a:extLst>
          </p:cNvPr>
          <p:cNvSpPr>
            <a:spLocks noGrp="1"/>
          </p:cNvSpPr>
          <p:nvPr>
            <p:ph idx="1"/>
          </p:nvPr>
        </p:nvSpPr>
        <p:spPr>
          <a:xfrm>
            <a:off x="253388" y="1366595"/>
            <a:ext cx="4362679" cy="4715396"/>
          </a:xfrm>
        </p:spPr>
        <p:txBody>
          <a:bodyPr/>
          <a:lstStyle/>
          <a:p>
            <a:endParaRPr lang="ru-RU" dirty="0"/>
          </a:p>
        </p:txBody>
      </p:sp>
      <p:sp>
        <p:nvSpPr>
          <p:cNvPr id="4" name="Номер слайда 3">
            <a:extLst>
              <a:ext uri="{FF2B5EF4-FFF2-40B4-BE49-F238E27FC236}">
                <a16:creationId xmlns:a16="http://schemas.microsoft.com/office/drawing/2014/main" id="{6453CD57-6E37-BACE-D458-4149304B4BCD}"/>
              </a:ext>
            </a:extLst>
          </p:cNvPr>
          <p:cNvSpPr>
            <a:spLocks noGrp="1"/>
          </p:cNvSpPr>
          <p:nvPr>
            <p:ph type="sldNum" sz="quarter" idx="12"/>
          </p:nvPr>
        </p:nvSpPr>
        <p:spPr/>
        <p:txBody>
          <a:bodyPr/>
          <a:lstStyle/>
          <a:p>
            <a:fld id="{45C3B737-A709-4ABC-AFE0-A6B067850C48}" type="slidenum">
              <a:rPr lang="en-US" smtClean="0"/>
              <a:t>41</a:t>
            </a:fld>
            <a:endParaRPr lang="en-US"/>
          </a:p>
        </p:txBody>
      </p:sp>
      <p:pic>
        <p:nvPicPr>
          <p:cNvPr id="5122" name="Picture 2">
            <a:extLst>
              <a:ext uri="{FF2B5EF4-FFF2-40B4-BE49-F238E27FC236}">
                <a16:creationId xmlns:a16="http://schemas.microsoft.com/office/drawing/2014/main" id="{F40F0D74-1E7D-8A20-9B0A-70E358FC3D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14" r="6732" b="9928"/>
          <a:stretch/>
        </p:blipFill>
        <p:spPr bwMode="auto">
          <a:xfrm>
            <a:off x="0" y="1135765"/>
            <a:ext cx="9677400" cy="51038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45FE49-3FA2-09A2-CA28-89E49D313113}"/>
              </a:ext>
            </a:extLst>
          </p:cNvPr>
          <p:cNvSpPr txBox="1"/>
          <p:nvPr/>
        </p:nvSpPr>
        <p:spPr>
          <a:xfrm>
            <a:off x="1567149" y="6111237"/>
            <a:ext cx="6097836" cy="369332"/>
          </a:xfrm>
          <a:prstGeom prst="rect">
            <a:avLst/>
          </a:prstGeom>
          <a:noFill/>
        </p:spPr>
        <p:txBody>
          <a:bodyPr wrap="square">
            <a:spAutoFit/>
          </a:bodyPr>
          <a:lstStyle/>
          <a:p>
            <a:r>
              <a:rPr lang="ru-RU" dirty="0" err="1"/>
              <a:t>https</a:t>
            </a:r>
            <a:r>
              <a:rPr lang="ru-RU" dirty="0"/>
              <a:t>://</a:t>
            </a:r>
            <a:r>
              <a:rPr lang="ru-RU" dirty="0" err="1"/>
              <a:t>www.ijcai.org</a:t>
            </a:r>
            <a:r>
              <a:rPr lang="ru-RU" dirty="0"/>
              <a:t>/</a:t>
            </a:r>
            <a:r>
              <a:rPr lang="ru-RU" dirty="0" err="1"/>
              <a:t>proceedings</a:t>
            </a:r>
            <a:r>
              <a:rPr lang="ru-RU" dirty="0"/>
              <a:t>/2019/441</a:t>
            </a:r>
          </a:p>
        </p:txBody>
      </p:sp>
    </p:spTree>
    <p:extLst>
      <p:ext uri="{BB962C8B-B14F-4D97-AF65-F5344CB8AC3E}">
        <p14:creationId xmlns:p14="http://schemas.microsoft.com/office/powerpoint/2010/main" val="3503992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4366" y="365125"/>
            <a:ext cx="11109434" cy="628103"/>
          </a:xfrm>
        </p:spPr>
        <p:txBody>
          <a:bodyPr>
            <a:normAutofit fontScale="90000"/>
          </a:bodyPr>
          <a:lstStyle/>
          <a:p>
            <a:r>
              <a:rPr lang="ru-RU" dirty="0"/>
              <a:t>Литература</a:t>
            </a:r>
          </a:p>
        </p:txBody>
      </p:sp>
      <p:sp>
        <p:nvSpPr>
          <p:cNvPr id="3" name="Объект 2"/>
          <p:cNvSpPr>
            <a:spLocks noGrp="1"/>
          </p:cNvSpPr>
          <p:nvPr>
            <p:ph idx="1"/>
          </p:nvPr>
        </p:nvSpPr>
        <p:spPr>
          <a:xfrm>
            <a:off x="165538" y="993228"/>
            <a:ext cx="11737428" cy="5363122"/>
          </a:xfrm>
        </p:spPr>
        <p:txBody>
          <a:bodyPr/>
          <a:lstStyle/>
          <a:p>
            <a:r>
              <a:rPr lang="en-US" b="1" dirty="0"/>
              <a:t>Forecasting: Principles and Practice, the </a:t>
            </a:r>
            <a:r>
              <a:rPr lang="en-US" b="1" dirty="0" err="1"/>
              <a:t>Pythonic</a:t>
            </a:r>
            <a:r>
              <a:rPr lang="en-US" b="1" dirty="0"/>
              <a:t> Way - </a:t>
            </a:r>
            <a:r>
              <a:rPr lang="en-US" dirty="0">
                <a:hlinkClick r:id="rId2"/>
              </a:rPr>
              <a:t>https://otexts.com/fpppy/</a:t>
            </a:r>
            <a:r>
              <a:rPr lang="en-US" dirty="0"/>
              <a:t> (2025 </a:t>
            </a:r>
            <a:r>
              <a:rPr lang="ru-RU" dirty="0"/>
              <a:t>год)</a:t>
            </a:r>
          </a:p>
          <a:p>
            <a:r>
              <a:rPr lang="ru-RU" dirty="0"/>
              <a:t>Переработка </a:t>
            </a:r>
            <a:r>
              <a:rPr lang="ru-RU" dirty="0" err="1"/>
              <a:t>fpp</a:t>
            </a:r>
            <a:r>
              <a:rPr lang="en-US" dirty="0"/>
              <a:t>3</a:t>
            </a:r>
            <a:r>
              <a:rPr lang="ru-RU" dirty="0"/>
              <a:t> (</a:t>
            </a:r>
            <a:r>
              <a:rPr lang="en" u="sng" dirty="0">
                <a:hlinkClick r:id="rId3"/>
              </a:rPr>
              <a:t>https://otexts.com/fpp3/</a:t>
            </a:r>
            <a:r>
              <a:rPr lang="ru-RU" dirty="0"/>
              <a:t>)</a:t>
            </a:r>
            <a:r>
              <a:rPr lang="en-US" dirty="0"/>
              <a:t> </a:t>
            </a:r>
            <a:r>
              <a:rPr lang="ru-RU" dirty="0"/>
              <a:t>на </a:t>
            </a:r>
            <a:r>
              <a:rPr lang="en-US" dirty="0"/>
              <a:t>python </a:t>
            </a:r>
            <a:r>
              <a:rPr lang="en-US" dirty="0">
                <a:hlinkClick r:id="rId4"/>
              </a:rPr>
              <a:t>https://github.com/zgana/fpp3-python-readalong/tree/master</a:t>
            </a:r>
            <a:r>
              <a:rPr lang="en-US" dirty="0"/>
              <a:t>  </a:t>
            </a:r>
            <a:r>
              <a:rPr lang="ru-RU" dirty="0"/>
              <a:t>и тут </a:t>
            </a:r>
            <a:r>
              <a:rPr lang="en" dirty="0">
                <a:hlinkClick r:id="rId5"/>
              </a:rPr>
              <a:t>https://f0nzie.github.io/hyndman-bookdown-rsuite/</a:t>
            </a:r>
            <a:r>
              <a:rPr lang="ru-RU" dirty="0"/>
              <a:t> </a:t>
            </a:r>
          </a:p>
          <a:p>
            <a:r>
              <a:rPr lang="en" dirty="0">
                <a:hlinkClick r:id="rId6"/>
              </a:rPr>
              <a:t>https://github.com/Beliavsky/TimeSeriesAnalysisBooks</a:t>
            </a:r>
            <a:r>
              <a:rPr lang="ru-RU" dirty="0"/>
              <a:t> - книги по анализу ВР</a:t>
            </a:r>
          </a:p>
          <a:p>
            <a:r>
              <a:rPr lang="en" dirty="0">
                <a:hlinkClick r:id="rId7"/>
              </a:rPr>
              <a:t>https://github.com/Ian729/AI6123-TIME-SERIES-ANALYSIS</a:t>
            </a:r>
            <a:r>
              <a:rPr lang="ru-RU" dirty="0"/>
              <a:t> - книга по анализу ВР на </a:t>
            </a:r>
            <a:r>
              <a:rPr lang="ru-RU" dirty="0" err="1"/>
              <a:t>R</a:t>
            </a:r>
            <a:r>
              <a:rPr lang="en-US" dirty="0"/>
              <a:t> 2015</a:t>
            </a:r>
          </a:p>
          <a:p>
            <a:r>
              <a:rPr lang="en" dirty="0">
                <a:hlinkClick r:id="rId8"/>
              </a:rPr>
              <a:t>https://github.com/qingsongedu/awesome-AI-for-time-series-papers</a:t>
            </a:r>
            <a:r>
              <a:rPr lang="en" dirty="0"/>
              <a:t> - </a:t>
            </a:r>
            <a:r>
              <a:rPr lang="en" dirty="0" err="1"/>
              <a:t>стат</a:t>
            </a:r>
            <a:r>
              <a:rPr lang="ru-RU" dirty="0" err="1"/>
              <a:t>ьи</a:t>
            </a:r>
            <a:r>
              <a:rPr lang="ru-RU" dirty="0"/>
              <a:t> по анализу ВР до 2024</a:t>
            </a:r>
          </a:p>
          <a:p>
            <a:r>
              <a:rPr lang="en" dirty="0">
                <a:hlinkClick r:id="rId9"/>
              </a:rPr>
              <a:t>https://github.com/thuml/Time-Series-Library</a:t>
            </a:r>
            <a:r>
              <a:rPr lang="ru-RU" dirty="0"/>
              <a:t> - Библиотека анализа ВР</a:t>
            </a:r>
          </a:p>
        </p:txBody>
      </p:sp>
      <p:sp>
        <p:nvSpPr>
          <p:cNvPr id="4" name="Номер слайда 3"/>
          <p:cNvSpPr>
            <a:spLocks noGrp="1"/>
          </p:cNvSpPr>
          <p:nvPr>
            <p:ph type="sldNum" sz="quarter" idx="12"/>
          </p:nvPr>
        </p:nvSpPr>
        <p:spPr/>
        <p:txBody>
          <a:bodyPr/>
          <a:lstStyle/>
          <a:p>
            <a:fld id="{45C3B737-A709-4ABC-AFE0-A6B067850C48}" type="slidenum">
              <a:rPr lang="en-US" smtClean="0"/>
              <a:t>42</a:t>
            </a:fld>
            <a:endParaRPr lang="en-US"/>
          </a:p>
        </p:txBody>
      </p:sp>
    </p:spTree>
    <p:extLst>
      <p:ext uri="{BB962C8B-B14F-4D97-AF65-F5344CB8AC3E}">
        <p14:creationId xmlns:p14="http://schemas.microsoft.com/office/powerpoint/2010/main" val="37030617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7FD7E-F0AA-12A9-DFB6-74F2303BEEA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556E89-79CA-50D4-E9BC-0B7C9ACD48D0}"/>
              </a:ext>
            </a:extLst>
          </p:cNvPr>
          <p:cNvSpPr>
            <a:spLocks noGrp="1"/>
          </p:cNvSpPr>
          <p:nvPr>
            <p:ph type="title"/>
          </p:nvPr>
        </p:nvSpPr>
        <p:spPr>
          <a:xfrm>
            <a:off x="244366" y="365125"/>
            <a:ext cx="11109434" cy="628103"/>
          </a:xfrm>
        </p:spPr>
        <p:txBody>
          <a:bodyPr>
            <a:normAutofit fontScale="90000"/>
          </a:bodyPr>
          <a:lstStyle/>
          <a:p>
            <a:r>
              <a:rPr lang="ru-RU" dirty="0"/>
              <a:t>Литература</a:t>
            </a:r>
          </a:p>
        </p:txBody>
      </p:sp>
      <p:sp>
        <p:nvSpPr>
          <p:cNvPr id="3" name="Объект 2">
            <a:extLst>
              <a:ext uri="{FF2B5EF4-FFF2-40B4-BE49-F238E27FC236}">
                <a16:creationId xmlns:a16="http://schemas.microsoft.com/office/drawing/2014/main" id="{3FE914B0-07ED-F2EF-0FB4-D73160226B98}"/>
              </a:ext>
            </a:extLst>
          </p:cNvPr>
          <p:cNvSpPr>
            <a:spLocks noGrp="1"/>
          </p:cNvSpPr>
          <p:nvPr>
            <p:ph idx="1"/>
          </p:nvPr>
        </p:nvSpPr>
        <p:spPr>
          <a:xfrm>
            <a:off x="165538" y="993228"/>
            <a:ext cx="11737428" cy="5363122"/>
          </a:xfrm>
        </p:spPr>
        <p:txBody>
          <a:bodyPr/>
          <a:lstStyle/>
          <a:p>
            <a:r>
              <a:rPr lang="en" b="1" dirty="0"/>
              <a:t>Forecasting with Python </a:t>
            </a:r>
            <a:r>
              <a:rPr lang="en-US" b="1" dirty="0"/>
              <a:t>Tutorials </a:t>
            </a:r>
            <a:r>
              <a:rPr lang="en-US" b="1" dirty="0">
                <a:hlinkClick r:id="rId2"/>
              </a:rPr>
              <a:t>https://cienciadedatos.net/en/forecasting-python</a:t>
            </a:r>
            <a:endParaRPr lang="ru-RU" b="1" dirty="0"/>
          </a:p>
          <a:p>
            <a:r>
              <a:rPr lang="en" dirty="0">
                <a:hlinkClick r:id="rId3"/>
              </a:rPr>
              <a:t>https://darrenjw.github.io/time-series/intro.html</a:t>
            </a:r>
            <a:endParaRPr lang="en-US" dirty="0"/>
          </a:p>
          <a:p>
            <a:r>
              <a:rPr lang="en" b="1" dirty="0">
                <a:hlinkClick r:id="rId4" tooltip="Luminaire"/>
              </a:rPr>
              <a:t>Luminaire</a:t>
            </a:r>
            <a:r>
              <a:rPr lang="en" b="1" dirty="0"/>
              <a:t> </a:t>
            </a:r>
            <a:r>
              <a:rPr lang="en" b="1" dirty="0">
                <a:hlinkClick r:id="rId5"/>
              </a:rPr>
              <a:t>https://zillow.github.io/luminaire/tutorial/dataprofiling.html</a:t>
            </a:r>
            <a:r>
              <a:rPr lang="en" b="1" dirty="0"/>
              <a:t> </a:t>
            </a:r>
            <a:r>
              <a:rPr lang="en" b="1" dirty="0">
                <a:hlinkClick r:id="rId6"/>
              </a:rPr>
              <a:t>https://medium.com/zillow-tech-hub/automatic-and-self-aware-anomaly-detection-at-zillow-using-luminaire</a:t>
            </a:r>
            <a:r>
              <a:rPr lang="en" b="1" dirty="0"/>
              <a:t> </a:t>
            </a:r>
          </a:p>
          <a:p>
            <a:r>
              <a:rPr lang="en-US" dirty="0">
                <a:hlinkClick r:id="rId7"/>
              </a:rPr>
              <a:t>https://ranalytics.github.io/tsa-with-r/</a:t>
            </a:r>
            <a:r>
              <a:rPr lang="ru-RU" dirty="0"/>
              <a:t> - </a:t>
            </a:r>
            <a:r>
              <a:rPr lang="ru-RU" dirty="0" err="1"/>
              <a:t>Аанализ</a:t>
            </a:r>
            <a:r>
              <a:rPr lang="ru-RU" dirty="0"/>
              <a:t> ВР при помощи </a:t>
            </a:r>
            <a:r>
              <a:rPr lang="en-US" dirty="0"/>
              <a:t>R</a:t>
            </a:r>
            <a:endParaRPr lang="ru-RU" dirty="0"/>
          </a:p>
          <a:p>
            <a:r>
              <a:rPr lang="en-US" dirty="0">
                <a:hlinkClick r:id="rId8"/>
              </a:rPr>
              <a:t>https://education.yandex.ru/handbook/ml/article/vremennye-ryady</a:t>
            </a:r>
            <a:endParaRPr lang="en-US" dirty="0"/>
          </a:p>
          <a:p>
            <a:r>
              <a:rPr lang="en-US" dirty="0"/>
              <a:t>https://mrtunguyen.github.io/posts/time-series/time-series.html</a:t>
            </a:r>
            <a:r>
              <a:rPr lang="ru-RU" dirty="0"/>
              <a:t> </a:t>
            </a:r>
            <a:endParaRPr lang="en-US" dirty="0"/>
          </a:p>
          <a:p>
            <a:r>
              <a:rPr lang="en-US" dirty="0"/>
              <a:t>https://dev.mrdbourke.com/tensorflow-deep-learning/10_time_series_forecasting_in_tensorflow/</a:t>
            </a:r>
            <a:endParaRPr lang="ru-RU" dirty="0"/>
          </a:p>
        </p:txBody>
      </p:sp>
      <p:sp>
        <p:nvSpPr>
          <p:cNvPr id="4" name="Номер слайда 3">
            <a:extLst>
              <a:ext uri="{FF2B5EF4-FFF2-40B4-BE49-F238E27FC236}">
                <a16:creationId xmlns:a16="http://schemas.microsoft.com/office/drawing/2014/main" id="{FD8E627C-3E57-8991-44CD-2D8C81307B55}"/>
              </a:ext>
            </a:extLst>
          </p:cNvPr>
          <p:cNvSpPr>
            <a:spLocks noGrp="1"/>
          </p:cNvSpPr>
          <p:nvPr>
            <p:ph type="sldNum" sz="quarter" idx="12"/>
          </p:nvPr>
        </p:nvSpPr>
        <p:spPr/>
        <p:txBody>
          <a:bodyPr/>
          <a:lstStyle/>
          <a:p>
            <a:fld id="{45C3B737-A709-4ABC-AFE0-A6B067850C48}" type="slidenum">
              <a:rPr lang="en-US" smtClean="0"/>
              <a:t>43</a:t>
            </a:fld>
            <a:endParaRPr lang="en-US"/>
          </a:p>
        </p:txBody>
      </p:sp>
    </p:spTree>
    <p:extLst>
      <p:ext uri="{BB962C8B-B14F-4D97-AF65-F5344CB8AC3E}">
        <p14:creationId xmlns:p14="http://schemas.microsoft.com/office/powerpoint/2010/main" val="19980225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318AB3-6E97-3C2A-02C0-D8613E9CEC41}"/>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FFF0A1DB-D463-436A-1DC0-D039706631DE}"/>
              </a:ext>
            </a:extLst>
          </p:cNvPr>
          <p:cNvSpPr>
            <a:spLocks noGrp="1"/>
          </p:cNvSpPr>
          <p:nvPr>
            <p:ph idx="1"/>
          </p:nvPr>
        </p:nvSpPr>
        <p:spPr>
          <a:xfrm>
            <a:off x="838200" y="1825624"/>
            <a:ext cx="11118156" cy="4530725"/>
          </a:xfrm>
        </p:spPr>
        <p:txBody>
          <a:bodyPr>
            <a:normAutofit fontScale="92500" lnSpcReduction="10000"/>
          </a:bodyPr>
          <a:lstStyle/>
          <a:p>
            <a:r>
              <a:rPr lang="en" dirty="0">
                <a:hlinkClick r:id="rId2"/>
              </a:rPr>
              <a:t>https://github.com/unit8co/darts</a:t>
            </a:r>
            <a:endParaRPr lang="en" dirty="0"/>
          </a:p>
          <a:p>
            <a:r>
              <a:rPr lang="en" dirty="0" err="1"/>
              <a:t>Skforecast</a:t>
            </a:r>
            <a:r>
              <a:rPr lang="en" dirty="0"/>
              <a:t> </a:t>
            </a:r>
            <a:r>
              <a:rPr lang="en" dirty="0">
                <a:hlinkClick r:id="rId3"/>
              </a:rPr>
              <a:t>https://skforecast.org/0.16.0/</a:t>
            </a:r>
            <a:r>
              <a:rPr lang="en" dirty="0"/>
              <a:t>  </a:t>
            </a:r>
            <a:r>
              <a:rPr lang="en" dirty="0">
                <a:hlinkClick r:id="rId4"/>
              </a:rPr>
              <a:t>https://cienciadedatos.net/en/forecasting-python</a:t>
            </a:r>
            <a:r>
              <a:rPr lang="en" dirty="0"/>
              <a:t> </a:t>
            </a:r>
          </a:p>
          <a:p>
            <a:r>
              <a:rPr lang="en" dirty="0">
                <a:hlinkClick r:id="rId5"/>
              </a:rPr>
              <a:t>https://github.com/linhhlp/Scalable-Machine-Learning-for-Small-Teams/</a:t>
            </a:r>
            <a:r>
              <a:rPr lang="ru-RU" dirty="0"/>
              <a:t> </a:t>
            </a:r>
            <a:endParaRPr lang="en-US" dirty="0"/>
          </a:p>
          <a:p>
            <a:r>
              <a:rPr lang="en" dirty="0">
                <a:hlinkClick r:id="rId6"/>
              </a:rPr>
              <a:t>https://robjhyndman.com/hyndsight/python_time_series.html</a:t>
            </a:r>
            <a:r>
              <a:rPr lang="en" dirty="0"/>
              <a:t> - </a:t>
            </a:r>
            <a:r>
              <a:rPr lang="ru-RU" dirty="0"/>
              <a:t>обзор реализаций методов на </a:t>
            </a:r>
            <a:r>
              <a:rPr lang="en-US" dirty="0"/>
              <a:t>python</a:t>
            </a:r>
          </a:p>
          <a:p>
            <a:r>
              <a:rPr lang="en-US" dirty="0">
                <a:hlinkClick r:id="rId7"/>
              </a:rPr>
              <a:t>https://openforecast.org/adam/</a:t>
            </a:r>
            <a:endParaRPr lang="en-US" dirty="0"/>
          </a:p>
          <a:p>
            <a:r>
              <a:rPr lang="en-US" dirty="0">
                <a:hlinkClick r:id="rId8"/>
              </a:rPr>
              <a:t>https://github.com/qingsongedu/awesome-AI-for-time-series-papers</a:t>
            </a:r>
            <a:endParaRPr lang="en-US" dirty="0"/>
          </a:p>
          <a:p>
            <a:r>
              <a:rPr lang="en-US" dirty="0">
                <a:hlinkClick r:id="rId9"/>
              </a:rPr>
              <a:t>https://www.sciencedirect.com/science/article/pii/S0169207021001758</a:t>
            </a:r>
            <a:r>
              <a:rPr lang="en-US" dirty="0"/>
              <a:t> </a:t>
            </a:r>
            <a:endParaRPr lang="ru-RU" dirty="0"/>
          </a:p>
          <a:p>
            <a:r>
              <a:rPr lang="en-US" dirty="0">
                <a:hlinkClick r:id="rId10"/>
              </a:rPr>
              <a:t>http://repo.darmajaya.ac.id/4781/1/Time%20Series%20Analysis_%20Forecasting%20and%20Control%20%28%20PDFDrive%20%29.pdf</a:t>
            </a:r>
            <a:r>
              <a:rPr lang="ru-RU"/>
              <a:t> </a:t>
            </a:r>
            <a:r>
              <a:rPr lang="en-US"/>
              <a:t> </a:t>
            </a:r>
            <a:endParaRPr lang="ru-RU" dirty="0"/>
          </a:p>
        </p:txBody>
      </p:sp>
      <p:sp>
        <p:nvSpPr>
          <p:cNvPr id="4" name="Номер слайда 3">
            <a:extLst>
              <a:ext uri="{FF2B5EF4-FFF2-40B4-BE49-F238E27FC236}">
                <a16:creationId xmlns:a16="http://schemas.microsoft.com/office/drawing/2014/main" id="{1771163D-FA5C-9021-4321-63063D1A5F40}"/>
              </a:ext>
            </a:extLst>
          </p:cNvPr>
          <p:cNvSpPr>
            <a:spLocks noGrp="1"/>
          </p:cNvSpPr>
          <p:nvPr>
            <p:ph type="sldNum" sz="quarter" idx="12"/>
          </p:nvPr>
        </p:nvSpPr>
        <p:spPr/>
        <p:txBody>
          <a:bodyPr/>
          <a:lstStyle/>
          <a:p>
            <a:fld id="{45C3B737-A709-4ABC-AFE0-A6B067850C48}" type="slidenum">
              <a:rPr lang="en-US" smtClean="0"/>
              <a:t>44</a:t>
            </a:fld>
            <a:endParaRPr lang="en-US"/>
          </a:p>
        </p:txBody>
      </p:sp>
    </p:spTree>
    <p:extLst>
      <p:ext uri="{BB962C8B-B14F-4D97-AF65-F5344CB8AC3E}">
        <p14:creationId xmlns:p14="http://schemas.microsoft.com/office/powerpoint/2010/main" val="41985587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7A2F7-0290-7993-222E-F9163CC02F7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94F084-846D-1E20-6379-EEC305C89778}"/>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CD16A171-2167-F8EC-A7E3-1183CFD0AF9A}"/>
              </a:ext>
            </a:extLst>
          </p:cNvPr>
          <p:cNvSpPr>
            <a:spLocks noGrp="1"/>
          </p:cNvSpPr>
          <p:nvPr>
            <p:ph idx="1"/>
          </p:nvPr>
        </p:nvSpPr>
        <p:spPr>
          <a:xfrm>
            <a:off x="695325" y="1847849"/>
            <a:ext cx="10515600" cy="4873625"/>
          </a:xfrm>
        </p:spPr>
        <p:txBody>
          <a:bodyPr>
            <a:normAutofit fontScale="47500" lnSpcReduction="20000"/>
          </a:bodyPr>
          <a:lstStyle/>
          <a:p>
            <a:r>
              <a:rPr lang="en" dirty="0">
                <a:hlinkClick r:id="rId2"/>
              </a:rPr>
              <a:t>https://www.statslab.cam.ac.uk/~rrw1/timeseries/t.pdf</a:t>
            </a:r>
            <a:r>
              <a:rPr lang="en" dirty="0"/>
              <a:t> </a:t>
            </a:r>
          </a:p>
          <a:p>
            <a:r>
              <a:rPr lang="en" dirty="0">
                <a:hlinkClick r:id="rId3"/>
              </a:rPr>
              <a:t>https://s-ai-f.github.io/Time-Series/time-series-basics.html#what-is-a-time-series</a:t>
            </a:r>
            <a:r>
              <a:rPr lang="en" dirty="0"/>
              <a:t> </a:t>
            </a:r>
          </a:p>
          <a:p>
            <a:r>
              <a:rPr lang="en" dirty="0">
                <a:hlinkClick r:id="rId4"/>
              </a:rPr>
              <a:t>https://bookdown.org/JakeEsprabens/431-Time-Series/forecasting.html</a:t>
            </a:r>
            <a:r>
              <a:rPr lang="en" dirty="0"/>
              <a:t> </a:t>
            </a:r>
          </a:p>
          <a:p>
            <a:r>
              <a:rPr lang="en" dirty="0">
                <a:hlinkClick r:id="rId5"/>
              </a:rPr>
              <a:t>https://smac-group.github.io/ts/fundtimeseries.html</a:t>
            </a:r>
            <a:r>
              <a:rPr lang="en" dirty="0"/>
              <a:t> </a:t>
            </a:r>
          </a:p>
          <a:p>
            <a:r>
              <a:rPr lang="en" dirty="0">
                <a:hlinkClick r:id="rId6"/>
              </a:rPr>
              <a:t>https://civil.colorado.edu/~balajir/CVEN6833/lectures/wwts-book.pdf</a:t>
            </a:r>
            <a:r>
              <a:rPr lang="en" dirty="0"/>
              <a:t> </a:t>
            </a:r>
            <a:endParaRPr lang="ru-RU" dirty="0"/>
          </a:p>
          <a:p>
            <a:r>
              <a:rPr lang="en" dirty="0">
                <a:hlinkClick r:id="rId7"/>
              </a:rPr>
              <a:t>https://mse.msu.ru/wp-content/uploads/2021/03/%D0%92%D0%B2%D0%B5%D0%B4%D0%B5%D0%BD%D0%B8%D0%B5-%D0%B2-%D0%B0%D0%BD%D0%B0%D0%BB%D0%B8%D0%B7-%D0%B2%D1%80%D0%B5%D0%BC%D0%B5%D0%BD%D0%BD%D1%8B%D1%85-%D1%80%D1%8F%D0%B4%D0%BE%D0%B2-1.pdf</a:t>
            </a:r>
            <a:r>
              <a:rPr lang="ru-RU" dirty="0"/>
              <a:t> </a:t>
            </a:r>
          </a:p>
          <a:p>
            <a:r>
              <a:rPr lang="en" dirty="0">
                <a:hlinkClick r:id="rId8"/>
              </a:rPr>
              <a:t>https://dl.leima.is/time-series/</a:t>
            </a:r>
            <a:endParaRPr lang="en" dirty="0"/>
          </a:p>
          <a:p>
            <a:r>
              <a:rPr lang="en-US" dirty="0">
                <a:hlinkClick r:id="rId9"/>
              </a:rPr>
              <a:t>https://www.kaggle.com/code/prashant111/complete-guide-on-time-series-analysis-in-python</a:t>
            </a:r>
            <a:r>
              <a:rPr lang="en-US" dirty="0"/>
              <a:t> </a:t>
            </a:r>
            <a:endParaRPr lang="ru-RU" dirty="0"/>
          </a:p>
          <a:p>
            <a:r>
              <a:rPr lang="en-US" dirty="0">
                <a:hlinkClick r:id="rId10"/>
              </a:rPr>
              <a:t>https://medium.com/data-science-at-microsoft/time-series-forecasting-part-3-of-3-introducing-auts-adaptive-univariate-time-series-dfd7555ca8d4</a:t>
            </a:r>
            <a:endParaRPr lang="ru-RU" dirty="0"/>
          </a:p>
          <a:p>
            <a:r>
              <a:rPr lang="en-US" dirty="0">
                <a:hlinkClick r:id="rId11"/>
              </a:rPr>
              <a:t>https://www.openforecast.org/adam/state-space-form-of-ets.html</a:t>
            </a:r>
            <a:endParaRPr lang="ru-RU" dirty="0"/>
          </a:p>
          <a:p>
            <a:r>
              <a:rPr lang="en-US" dirty="0">
                <a:hlinkClick r:id="rId12"/>
              </a:rPr>
              <a:t>https://livebook.manning.com/book/modern-time-series-analysis-in-python/c</a:t>
            </a:r>
            <a:r>
              <a:rPr lang="ru-RU" dirty="0"/>
              <a:t> </a:t>
            </a:r>
          </a:p>
          <a:p>
            <a:r>
              <a:rPr lang="en-US" dirty="0">
                <a:hlinkClick r:id="rId13"/>
              </a:rPr>
              <a:t>https://ranalytics.github.io/tsa-with-r/</a:t>
            </a:r>
            <a:r>
              <a:rPr lang="ru-RU" dirty="0"/>
              <a:t> </a:t>
            </a:r>
            <a:endParaRPr lang="en-US" dirty="0"/>
          </a:p>
          <a:p>
            <a:r>
              <a:rPr lang="en-US" dirty="0">
                <a:hlinkClick r:id="rId14"/>
              </a:rPr>
              <a:t>https://towardsdatascience.com/forecast-multiple-time-series-like-a-master-1579a2b6f18d/</a:t>
            </a:r>
            <a:r>
              <a:rPr lang="en-US" dirty="0"/>
              <a:t> </a:t>
            </a:r>
          </a:p>
          <a:p>
            <a:r>
              <a:rPr lang="en-US" dirty="0">
                <a:hlinkClick r:id="rId15"/>
              </a:rPr>
              <a:t>https://www.stat.berkeley.edu/~aditya/resources/FullNotes248Spring2022TimeSeries.pdf</a:t>
            </a:r>
            <a:endParaRPr lang="en-US" dirty="0"/>
          </a:p>
          <a:p>
            <a:r>
              <a:rPr lang="en-US" dirty="0">
                <a:hlinkClick r:id="rId16"/>
              </a:rPr>
              <a:t>https://www.stat.berkeley.edu/~ryantibs/timeseries-f23/</a:t>
            </a:r>
            <a:endParaRPr lang="ru-RU" dirty="0"/>
          </a:p>
          <a:p>
            <a:r>
              <a:rPr lang="en-US" dirty="0">
                <a:hlinkClick r:id="rId17"/>
              </a:rPr>
              <a:t>https://stat153.berkeley.edu/spring-2025/lab5</a:t>
            </a:r>
            <a:r>
              <a:rPr lang="ru-RU" dirty="0"/>
              <a:t> - интерактивно</a:t>
            </a:r>
            <a:endParaRPr lang="en-US" dirty="0"/>
          </a:p>
          <a:p>
            <a:r>
              <a:rPr lang="en" dirty="0">
                <a:hlinkClick r:id="rId18"/>
              </a:rPr>
              <a:t>https://fish-forecast.github.io/Fish-Forecast-Bookdown/</a:t>
            </a:r>
            <a:r>
              <a:rPr lang="en" dirty="0"/>
              <a:t> </a:t>
            </a:r>
            <a:endParaRPr lang="ru-RU" dirty="0"/>
          </a:p>
        </p:txBody>
      </p:sp>
      <p:sp>
        <p:nvSpPr>
          <p:cNvPr id="4" name="Номер слайда 3">
            <a:extLst>
              <a:ext uri="{FF2B5EF4-FFF2-40B4-BE49-F238E27FC236}">
                <a16:creationId xmlns:a16="http://schemas.microsoft.com/office/drawing/2014/main" id="{601C3A2C-73D2-5BF6-4450-5C867B5B8439}"/>
              </a:ext>
            </a:extLst>
          </p:cNvPr>
          <p:cNvSpPr>
            <a:spLocks noGrp="1"/>
          </p:cNvSpPr>
          <p:nvPr>
            <p:ph type="sldNum" sz="quarter" idx="12"/>
          </p:nvPr>
        </p:nvSpPr>
        <p:spPr/>
        <p:txBody>
          <a:bodyPr/>
          <a:lstStyle/>
          <a:p>
            <a:fld id="{45C3B737-A709-4ABC-AFE0-A6B067850C48}" type="slidenum">
              <a:rPr lang="en-US" smtClean="0"/>
              <a:t>45</a:t>
            </a:fld>
            <a:endParaRPr lang="en-US"/>
          </a:p>
        </p:txBody>
      </p:sp>
    </p:spTree>
    <p:extLst>
      <p:ext uri="{BB962C8B-B14F-4D97-AF65-F5344CB8AC3E}">
        <p14:creationId xmlns:p14="http://schemas.microsoft.com/office/powerpoint/2010/main" val="5353738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534382E-A94A-DB3A-0399-E241DFCA3F0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934480-E7A3-A917-925C-3497355BFEAA}"/>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00D8AFB6-32EE-D6A4-20AA-7B33DFC685B0}"/>
              </a:ext>
            </a:extLst>
          </p:cNvPr>
          <p:cNvSpPr>
            <a:spLocks noGrp="1"/>
          </p:cNvSpPr>
          <p:nvPr>
            <p:ph idx="1"/>
          </p:nvPr>
        </p:nvSpPr>
        <p:spPr>
          <a:xfrm>
            <a:off x="126235" y="1112703"/>
            <a:ext cx="11801908" cy="5380172"/>
          </a:xfrm>
        </p:spPr>
        <p:txBody>
          <a:bodyPr>
            <a:normAutofit lnSpcReduction="10000"/>
          </a:bodyPr>
          <a:lstStyle/>
          <a:p>
            <a:r>
              <a:rPr lang="ru-RU" sz="2400" dirty="0"/>
              <a:t>Цели </a:t>
            </a:r>
            <a:r>
              <a:rPr lang="en-US" sz="2400" dirty="0" err="1"/>
              <a:t>про</a:t>
            </a:r>
            <a:r>
              <a:rPr lang="ru-RU" sz="2400" dirty="0" err="1"/>
              <a:t>гнозирования</a:t>
            </a:r>
            <a:r>
              <a:rPr lang="ru-RU" sz="2400" dirty="0"/>
              <a:t> ВР должны быть связаны с прогнозами и планами, но это не всегда происходит. Слишком часто цели ставятся без какого-либо плана их достижения и без прогнозов относительно того, реалистичны ли они.</a:t>
            </a:r>
          </a:p>
          <a:p>
            <a:pPr lvl="1"/>
            <a:r>
              <a:rPr lang="ru-RU" sz="2000" dirty="0" err="1"/>
              <a:t>Планированиеявляется</a:t>
            </a:r>
            <a:r>
              <a:rPr lang="ru-RU" sz="2000" dirty="0"/>
              <a:t> ответом на прогнозы и цели. Планирование включает определение соответствующих действий, которые необходимы для того, чтобы ваши прогнозы соответствовали вашим целям</a:t>
            </a:r>
          </a:p>
          <a:p>
            <a:pPr lvl="1"/>
            <a:r>
              <a:rPr lang="ru-RU" dirty="0"/>
              <a:t>Краткосрочные </a:t>
            </a:r>
            <a:r>
              <a:rPr lang="ru-RU" dirty="0" err="1"/>
              <a:t>прогнозынеобходимы</a:t>
            </a:r>
            <a:r>
              <a:rPr lang="ru-RU" dirty="0"/>
              <a:t> для планирования персонала, производства и транспортировки. В рамках процесса планирования часто также требуются прогнозы спроса.</a:t>
            </a:r>
          </a:p>
          <a:p>
            <a:pPr lvl="1"/>
            <a:r>
              <a:rPr lang="ru-RU" dirty="0"/>
              <a:t>Среднесрочные </a:t>
            </a:r>
            <a:r>
              <a:rPr lang="ru-RU" dirty="0" err="1"/>
              <a:t>прогнозынеобходимы</a:t>
            </a:r>
            <a:r>
              <a:rPr lang="ru-RU" dirty="0"/>
              <a:t> для определения будущих потребностей в ресурсах с целью закупки сырья, найма персонала или покупки машин и оборудования.</a:t>
            </a:r>
          </a:p>
          <a:p>
            <a:pPr lvl="1"/>
            <a:r>
              <a:rPr lang="ru-RU" dirty="0"/>
              <a:t>Долгосрочные </a:t>
            </a:r>
            <a:r>
              <a:rPr lang="ru-RU" dirty="0" err="1"/>
              <a:t>прогнозыиспользуются</a:t>
            </a:r>
            <a:r>
              <a:rPr lang="ru-RU" dirty="0"/>
              <a:t> в стратегическом планировании. Такие решения должны учитывать рыночные возможности, факторы внешней среды и внутренние ресурсы.</a:t>
            </a:r>
            <a:br>
              <a:rPr lang="ru-RU" dirty="0"/>
            </a:br>
            <a:endParaRPr lang="ru-RU" dirty="0"/>
          </a:p>
        </p:txBody>
      </p:sp>
      <p:sp>
        <p:nvSpPr>
          <p:cNvPr id="4" name="Номер слайда 3">
            <a:extLst>
              <a:ext uri="{FF2B5EF4-FFF2-40B4-BE49-F238E27FC236}">
                <a16:creationId xmlns:a16="http://schemas.microsoft.com/office/drawing/2014/main" id="{3275B66E-472E-63C3-115A-C46FCC3D01BE}"/>
              </a:ext>
            </a:extLst>
          </p:cNvPr>
          <p:cNvSpPr>
            <a:spLocks noGrp="1"/>
          </p:cNvSpPr>
          <p:nvPr>
            <p:ph type="sldNum" sz="quarter" idx="12"/>
          </p:nvPr>
        </p:nvSpPr>
        <p:spPr/>
        <p:txBody>
          <a:bodyPr/>
          <a:lstStyle/>
          <a:p>
            <a:fld id="{45C3B737-A709-4ABC-AFE0-A6B067850C48}" type="slidenum">
              <a:rPr lang="en-US" smtClean="0"/>
              <a:t>46</a:t>
            </a:fld>
            <a:endParaRPr lang="en-US"/>
          </a:p>
        </p:txBody>
      </p:sp>
      <p:sp>
        <p:nvSpPr>
          <p:cNvPr id="7" name="TextBox 6">
            <a:extLst>
              <a:ext uri="{FF2B5EF4-FFF2-40B4-BE49-F238E27FC236}">
                <a16:creationId xmlns:a16="http://schemas.microsoft.com/office/drawing/2014/main" id="{6B5E2EB3-CD13-CEB6-4679-065A48B9E20F}"/>
              </a:ext>
            </a:extLst>
          </p:cNvPr>
          <p:cNvSpPr txBox="1"/>
          <p:nvPr/>
        </p:nvSpPr>
        <p:spPr>
          <a:xfrm>
            <a:off x="534539" y="6237843"/>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12808380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DB7BF9D-A85C-155E-2A91-DFE933CBD00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6946FF-5ABA-C548-09CC-CFE27E3E7475}"/>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8CF30725-E50E-3258-0292-891E98EC79E6}"/>
              </a:ext>
            </a:extLst>
          </p:cNvPr>
          <p:cNvSpPr>
            <a:spLocks noGrp="1"/>
          </p:cNvSpPr>
          <p:nvPr>
            <p:ph idx="1"/>
          </p:nvPr>
        </p:nvSpPr>
        <p:spPr>
          <a:xfrm>
            <a:off x="126235" y="1112703"/>
            <a:ext cx="11801908" cy="5380172"/>
          </a:xfrm>
        </p:spPr>
        <p:txBody>
          <a:bodyPr>
            <a:normAutofit fontScale="85000" lnSpcReduction="20000"/>
          </a:bodyPr>
          <a:lstStyle/>
          <a:p>
            <a:r>
              <a:rPr lang="ru-RU" dirty="0"/>
              <a:t>На ранних стадиях проекта прогнозирования необходимо принять решение о том, что следует прогнозировать. Например, если прогнозы требуются для элементов в производственной среде, необходимо спросить, нужны ли прогнозы для:</a:t>
            </a:r>
          </a:p>
          <a:p>
            <a:r>
              <a:rPr lang="ru-RU" dirty="0"/>
              <a:t>для каждой линейки продуктов или для групп продуктов?</a:t>
            </a:r>
          </a:p>
          <a:p>
            <a:r>
              <a:rPr lang="ru-RU" dirty="0"/>
              <a:t>для каждой торговой точки, или для торговых точек, сгруппированных по регионам, или только для общего объема продаж?</a:t>
            </a:r>
          </a:p>
          <a:p>
            <a:r>
              <a:rPr lang="ru-RU" dirty="0"/>
              <a:t>еженедельные данные, ежемесячные данные или годовые данные?</a:t>
            </a:r>
          </a:p>
          <a:p>
            <a:r>
              <a:rPr lang="ru-RU" dirty="0"/>
              <a:t>Также необходимо учитывать горизонт прогнозирования. Будут ли потребуются прогнозы на месяц вперед, на 6 месяцев или на десять лет? Потребуются различные типы моделей в зависимости от того, какой горизонт прогнозирования наиболее важен.</a:t>
            </a:r>
          </a:p>
          <a:p>
            <a:r>
              <a:rPr lang="ru-RU" dirty="0"/>
              <a:t>Как часто требуются прогнозы? Прогнозы, которые необходимо составлять часто, лучше делать с помощью автоматизированной системы, чем методами, требующими тщательной ручной работы.</a:t>
            </a:r>
          </a:p>
          <a:p>
            <a:br>
              <a:rPr lang="ru-RU" sz="2400" dirty="0"/>
            </a:br>
            <a:endParaRPr lang="ru-RU" dirty="0"/>
          </a:p>
        </p:txBody>
      </p:sp>
      <p:sp>
        <p:nvSpPr>
          <p:cNvPr id="4" name="Номер слайда 3">
            <a:extLst>
              <a:ext uri="{FF2B5EF4-FFF2-40B4-BE49-F238E27FC236}">
                <a16:creationId xmlns:a16="http://schemas.microsoft.com/office/drawing/2014/main" id="{61DB4198-58AE-A700-FBAB-A9E918D8D782}"/>
              </a:ext>
            </a:extLst>
          </p:cNvPr>
          <p:cNvSpPr>
            <a:spLocks noGrp="1"/>
          </p:cNvSpPr>
          <p:nvPr>
            <p:ph type="sldNum" sz="quarter" idx="12"/>
          </p:nvPr>
        </p:nvSpPr>
        <p:spPr/>
        <p:txBody>
          <a:bodyPr/>
          <a:lstStyle/>
          <a:p>
            <a:fld id="{45C3B737-A709-4ABC-AFE0-A6B067850C48}" type="slidenum">
              <a:rPr lang="en-US" smtClean="0"/>
              <a:t>47</a:t>
            </a:fld>
            <a:endParaRPr lang="en-US"/>
          </a:p>
        </p:txBody>
      </p:sp>
      <p:sp>
        <p:nvSpPr>
          <p:cNvPr id="7" name="TextBox 6">
            <a:extLst>
              <a:ext uri="{FF2B5EF4-FFF2-40B4-BE49-F238E27FC236}">
                <a16:creationId xmlns:a16="http://schemas.microsoft.com/office/drawing/2014/main" id="{01E0C8C8-5364-FD0C-AFFC-4B4052FE502D}"/>
              </a:ext>
            </a:extLst>
          </p:cNvPr>
          <p:cNvSpPr txBox="1"/>
          <p:nvPr/>
        </p:nvSpPr>
        <p:spPr>
          <a:xfrm>
            <a:off x="534539" y="6237843"/>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15319983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6CD5EA-2C7F-27DB-D421-4243248E6C3F}"/>
              </a:ext>
            </a:extLst>
          </p:cNvPr>
          <p:cNvSpPr>
            <a:spLocks noGrp="1"/>
          </p:cNvSpPr>
          <p:nvPr>
            <p:ph type="title"/>
          </p:nvPr>
        </p:nvSpPr>
        <p:spPr>
          <a:xfrm>
            <a:off x="231354" y="136525"/>
            <a:ext cx="10891092" cy="659444"/>
          </a:xfrm>
        </p:spPr>
        <p:txBody>
          <a:bodyPr>
            <a:normAutofit fontScale="90000"/>
          </a:bodyPr>
          <a:lstStyle/>
          <a:p>
            <a:r>
              <a:rPr lang="ru-RU" dirty="0"/>
              <a:t>Задача прогнозирования</a:t>
            </a:r>
          </a:p>
        </p:txBody>
      </p:sp>
      <p:sp>
        <p:nvSpPr>
          <p:cNvPr id="3" name="Объект 2">
            <a:extLst>
              <a:ext uri="{FF2B5EF4-FFF2-40B4-BE49-F238E27FC236}">
                <a16:creationId xmlns:a16="http://schemas.microsoft.com/office/drawing/2014/main" id="{9B5777DA-5518-5873-9F32-26129A3C3E2F}"/>
              </a:ext>
            </a:extLst>
          </p:cNvPr>
          <p:cNvSpPr>
            <a:spLocks noGrp="1"/>
          </p:cNvSpPr>
          <p:nvPr>
            <p:ph idx="1"/>
          </p:nvPr>
        </p:nvSpPr>
        <p:spPr>
          <a:xfrm>
            <a:off x="231354" y="795970"/>
            <a:ext cx="11122446" cy="5925506"/>
          </a:xfrm>
        </p:spPr>
        <p:txBody>
          <a:bodyPr>
            <a:normAutofit fontScale="92500" lnSpcReduction="20000"/>
          </a:bodyPr>
          <a:lstStyle/>
          <a:p>
            <a:r>
              <a:rPr lang="ru-RU" sz="1800" dirty="0"/>
              <a:t>Шаг 1: Определение проблемы. Часто это самая сложная часть прогнозирования. Понимание того, как будут использоваться прогнозы, кому нужны прогнозы и как функция прогнозирования вписывается в организацию, которой нужны прогнозы</a:t>
            </a:r>
          </a:p>
          <a:p>
            <a:r>
              <a:rPr lang="ru-RU" sz="1800" dirty="0"/>
              <a:t>Шаг 2: Сбор информации. Всегда требуется как минимум два вида информации: (</a:t>
            </a:r>
            <a:r>
              <a:rPr lang="en" sz="1800" dirty="0"/>
              <a:t>a) </a:t>
            </a:r>
            <a:r>
              <a:rPr lang="ru-RU" sz="1800" dirty="0"/>
              <a:t>статистические данные и (</a:t>
            </a:r>
            <a:r>
              <a:rPr lang="en" sz="1800" dirty="0"/>
              <a:t>b) </a:t>
            </a:r>
            <a:r>
              <a:rPr lang="ru-RU" sz="1800" dirty="0"/>
              <a:t>накопленный опыт людей, которые собирают данные и используют прогнозы. Часто бывает сложно получить достаточно исторических данных, чтобы иметь возможность подогнать хорошую статистическую модель. В этом случае можно использовать методы оценочного прогнозирования</a:t>
            </a:r>
            <a:r>
              <a:rPr lang="ru-RU" sz="1800" dirty="0">
                <a:hlinkClick r:id="rId2"/>
              </a:rPr>
              <a:t>.</a:t>
            </a:r>
            <a:r>
              <a:rPr lang="ru-RU" sz="1800" dirty="0"/>
              <a:t> ​​Иногда старые данные будут менее полезны из-за структурных изменений в прогнозируемой системе; тогда мы можем выбрать использование только самых последних данных. Однако помните, что хорошие статистические модели будут обрабатывать эволюционные изменения в системе; не выбрасывайте хорошие данные без необходимости.</a:t>
            </a:r>
          </a:p>
          <a:p>
            <a:r>
              <a:rPr lang="ru-RU" sz="1800" dirty="0"/>
              <a:t>Шаг 3: Предварительный (исследовательский) анализ. Всегда начинайте с графического представления данных. Существуют ли последовательные закономерности? Есть ли значимая тенденция? Важна ли сезонность? Есть ли доказательства наличия деловых циклов? Есть ли какие-либо выбросы в данных, которые должны быть объяснены теми, кто обладает экспертными знаниями? Насколько сильны связи между переменными, доступными для анализа? .</a:t>
            </a:r>
          </a:p>
          <a:p>
            <a:r>
              <a:rPr lang="ru-RU" sz="1800" dirty="0"/>
              <a:t>Шаг 4: Выбор и подгонка моделей. Лучшая модель для использования зависит от доступности исторических данных, силы взаимосвязей между прогнозируемой переменной и любыми объясняющими переменными, а также от способа использования прогнозов. Обычно сравнивают две или три потенциальные модели. Каждая модель сама по себе является искусственной конструкцией, которая основана на наборе предположений (явных и неявных) и обычно включает один или несколько параметров, которые должны быть оценены с использованием известных исторических данных. </a:t>
            </a:r>
          </a:p>
          <a:p>
            <a:r>
              <a:rPr lang="ru-RU" sz="1800" dirty="0"/>
              <a:t>Шаг 5: Использование и оценка модели прогнозирования. После выбора модели и оценки ее параметров модель используется для составления прогнозов. Эффективность модели может быть должным образом оценена только после того, как станут доступны данные за прогнозируемый период. Разработан ряд методов, помогающих оценить точность прогнозов. Существуют также организационные вопросы использования и действия по прогнозам.  При использовании модели прогнозирования на практике возникает множество практических вопросов, таких как то, как обрабатывать пропущенные значения и выбросы или как работать с короткими временными рядами</a:t>
            </a:r>
          </a:p>
        </p:txBody>
      </p:sp>
      <p:sp>
        <p:nvSpPr>
          <p:cNvPr id="4" name="Номер слайда 3">
            <a:extLst>
              <a:ext uri="{FF2B5EF4-FFF2-40B4-BE49-F238E27FC236}">
                <a16:creationId xmlns:a16="http://schemas.microsoft.com/office/drawing/2014/main" id="{D60A5A74-48B3-A712-C833-DB669A943DF4}"/>
              </a:ext>
            </a:extLst>
          </p:cNvPr>
          <p:cNvSpPr>
            <a:spLocks noGrp="1"/>
          </p:cNvSpPr>
          <p:nvPr>
            <p:ph type="sldNum" sz="quarter" idx="12"/>
          </p:nvPr>
        </p:nvSpPr>
        <p:spPr/>
        <p:txBody>
          <a:bodyPr/>
          <a:lstStyle/>
          <a:p>
            <a:fld id="{45C3B737-A709-4ABC-AFE0-A6B067850C48}" type="slidenum">
              <a:rPr lang="en-US" smtClean="0"/>
              <a:t>48</a:t>
            </a:fld>
            <a:endParaRPr lang="en-US"/>
          </a:p>
        </p:txBody>
      </p:sp>
    </p:spTree>
    <p:extLst>
      <p:ext uri="{BB962C8B-B14F-4D97-AF65-F5344CB8AC3E}">
        <p14:creationId xmlns:p14="http://schemas.microsoft.com/office/powerpoint/2010/main" val="38893479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6CD5EA-2C7F-27DB-D421-4243248E6C3F}"/>
              </a:ext>
            </a:extLst>
          </p:cNvPr>
          <p:cNvSpPr>
            <a:spLocks noGrp="1"/>
          </p:cNvSpPr>
          <p:nvPr>
            <p:ph type="title"/>
          </p:nvPr>
        </p:nvSpPr>
        <p:spPr>
          <a:xfrm>
            <a:off x="231354" y="136525"/>
            <a:ext cx="10891092" cy="659444"/>
          </a:xfrm>
        </p:spPr>
        <p:txBody>
          <a:bodyPr>
            <a:normAutofit fontScale="90000"/>
          </a:bodyPr>
          <a:lstStyle/>
          <a:p>
            <a:r>
              <a:rPr lang="ru-RU" dirty="0"/>
              <a:t>Задача прогнозирования</a:t>
            </a:r>
          </a:p>
        </p:txBody>
      </p:sp>
      <p:sp>
        <p:nvSpPr>
          <p:cNvPr id="3" name="Объект 2">
            <a:extLst>
              <a:ext uri="{FF2B5EF4-FFF2-40B4-BE49-F238E27FC236}">
                <a16:creationId xmlns:a16="http://schemas.microsoft.com/office/drawing/2014/main" id="{9B5777DA-5518-5873-9F32-26129A3C3E2F}"/>
              </a:ext>
            </a:extLst>
          </p:cNvPr>
          <p:cNvSpPr>
            <a:spLocks noGrp="1"/>
          </p:cNvSpPr>
          <p:nvPr>
            <p:ph idx="1"/>
          </p:nvPr>
        </p:nvSpPr>
        <p:spPr>
          <a:xfrm>
            <a:off x="231354" y="795970"/>
            <a:ext cx="11122446" cy="5925506"/>
          </a:xfrm>
        </p:spPr>
        <p:txBody>
          <a:bodyPr>
            <a:normAutofit fontScale="92500" lnSpcReduction="20000"/>
          </a:bodyPr>
          <a:lstStyle/>
          <a:p>
            <a:r>
              <a:rPr lang="ru-RU" sz="1800" dirty="0"/>
              <a:t>Шаг 1: Определение проблемы. Часто это самая сложная часть прогнозирования. Понимание того, как будут использоваться прогнозы, кому нужны прогнозы и как функция прогнозирования вписывается в организацию, которой нужны прогнозы</a:t>
            </a:r>
          </a:p>
          <a:p>
            <a:r>
              <a:rPr lang="ru-RU" sz="1800" dirty="0"/>
              <a:t>Шаг 2: Сбор информации. Всегда требуется как минимум два вида информации: (</a:t>
            </a:r>
            <a:r>
              <a:rPr lang="en" sz="1800" dirty="0"/>
              <a:t>a) </a:t>
            </a:r>
            <a:r>
              <a:rPr lang="ru-RU" sz="1800" dirty="0"/>
              <a:t>статистические данные и (</a:t>
            </a:r>
            <a:r>
              <a:rPr lang="en" sz="1800" dirty="0"/>
              <a:t>b) </a:t>
            </a:r>
            <a:r>
              <a:rPr lang="ru-RU" sz="1800" dirty="0"/>
              <a:t>накопленный опыт людей, которые собирают данные и используют прогнозы. Часто бывает сложно получить достаточно исторических данных, чтобы иметь возможность подогнать хорошую статистическую модель. В этом случае можно использовать методы оценочного прогнозирования</a:t>
            </a:r>
            <a:r>
              <a:rPr lang="ru-RU" sz="1800" dirty="0">
                <a:hlinkClick r:id="rId2"/>
              </a:rPr>
              <a:t>.</a:t>
            </a:r>
            <a:r>
              <a:rPr lang="ru-RU" sz="1800" dirty="0"/>
              <a:t> ​​Иногда старые данные будут менее полезны из-за структурных изменений в прогнозируемой системе; тогда мы можем выбрать использование только самых последних данных. Однако помните, что хорошие статистические модели будут обрабатывать эволюционные изменения в системе; не выбрасывайте хорошие данные без необходимости.</a:t>
            </a:r>
          </a:p>
          <a:p>
            <a:r>
              <a:rPr lang="ru-RU" sz="1800" dirty="0"/>
              <a:t>Шаг 3: Предварительный (исследовательский) анализ. Всегда начинайте с графического представления данных. Существуют ли последовательные закономерности? Есть ли значимая тенденция? Важна ли сезонность? Есть ли доказательства наличия деловых циклов? Есть ли какие-либо выбросы в данных, которые должны быть объяснены теми, кто обладает экспертными знаниями? Насколько сильны связи между переменными, доступными для анализа? .</a:t>
            </a:r>
          </a:p>
          <a:p>
            <a:r>
              <a:rPr lang="ru-RU" sz="1800" dirty="0"/>
              <a:t>Шаг 4: Выбор и подгонка моделей. Лучшая модель для использования зависит от доступности исторических данных, силы взаимосвязей между прогнозируемой переменной и любыми объясняющими переменными, а также от способа использования прогнозов. Обычно сравнивают две или три потенциальные модели. Каждая модель сама по себе является искусственной конструкцией, которая основана на наборе предположений (явных и неявных) и обычно включает один или несколько параметров, которые должны быть оценены с использованием известных исторических данных. </a:t>
            </a:r>
          </a:p>
          <a:p>
            <a:r>
              <a:rPr lang="ru-RU" sz="1800" dirty="0"/>
              <a:t>Шаг 5: Использование и оценка модели прогнозирования. После выбора модели и оценки ее параметров модель используется для составления прогнозов. Эффективность модели может быть должным образом оценена только после того, как станут доступны данные за прогнозируемый период. Разработан ряд методов, помогающих оценить точность прогнозов. Существуют также организационные вопросы использования и действия по прогнозам.  При использовании модели прогнозирования на практике возникает множество практических вопросов, таких как то, как обрабатывать пропущенные значения и выбросы или как работать с короткими временными рядами</a:t>
            </a:r>
          </a:p>
        </p:txBody>
      </p:sp>
      <p:sp>
        <p:nvSpPr>
          <p:cNvPr id="4" name="Номер слайда 3">
            <a:extLst>
              <a:ext uri="{FF2B5EF4-FFF2-40B4-BE49-F238E27FC236}">
                <a16:creationId xmlns:a16="http://schemas.microsoft.com/office/drawing/2014/main" id="{D60A5A74-48B3-A712-C833-DB669A943DF4}"/>
              </a:ext>
            </a:extLst>
          </p:cNvPr>
          <p:cNvSpPr>
            <a:spLocks noGrp="1"/>
          </p:cNvSpPr>
          <p:nvPr>
            <p:ph type="sldNum" sz="quarter" idx="12"/>
          </p:nvPr>
        </p:nvSpPr>
        <p:spPr/>
        <p:txBody>
          <a:bodyPr/>
          <a:lstStyle/>
          <a:p>
            <a:fld id="{45C3B737-A709-4ABC-AFE0-A6B067850C48}" type="slidenum">
              <a:rPr lang="en-US" smtClean="0"/>
              <a:t>49</a:t>
            </a:fld>
            <a:endParaRPr lang="en-US"/>
          </a:p>
        </p:txBody>
      </p:sp>
    </p:spTree>
    <p:extLst>
      <p:ext uri="{BB962C8B-B14F-4D97-AF65-F5344CB8AC3E}">
        <p14:creationId xmlns:p14="http://schemas.microsoft.com/office/powerpoint/2010/main" val="35775078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6D39BB-EA0D-1D64-F03C-4B528B679C4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1F4B61-958D-228E-2056-95BB3AA8EC9D}"/>
              </a:ext>
            </a:extLst>
          </p:cNvPr>
          <p:cNvSpPr>
            <a:spLocks noGrp="1"/>
          </p:cNvSpPr>
          <p:nvPr>
            <p:ph type="ctrTitle"/>
          </p:nvPr>
        </p:nvSpPr>
        <p:spPr>
          <a:xfrm>
            <a:off x="743483" y="934358"/>
            <a:ext cx="10932920" cy="3760935"/>
          </a:xfrm>
        </p:spPr>
        <p:txBody>
          <a:bodyPr>
            <a:normAutofit/>
          </a:bodyPr>
          <a:lstStyle/>
          <a:p>
            <a:r>
              <a:rPr lang="en-US" sz="8000" dirty="0" err="1"/>
              <a:t>Типы</a:t>
            </a:r>
            <a:r>
              <a:rPr lang="ru-RU" sz="8000" dirty="0"/>
              <a:t> ВР</a:t>
            </a:r>
            <a:endParaRPr lang="en-US" sz="8000" dirty="0"/>
          </a:p>
        </p:txBody>
      </p:sp>
      <p:sp>
        <p:nvSpPr>
          <p:cNvPr id="3" name="Номер слайда 2">
            <a:extLst>
              <a:ext uri="{FF2B5EF4-FFF2-40B4-BE49-F238E27FC236}">
                <a16:creationId xmlns:a16="http://schemas.microsoft.com/office/drawing/2014/main" id="{99030700-4B66-545B-2D1C-C6C28B04637B}"/>
              </a:ext>
            </a:extLst>
          </p:cNvPr>
          <p:cNvSpPr>
            <a:spLocks noGrp="1"/>
          </p:cNvSpPr>
          <p:nvPr>
            <p:ph type="sldNum" sz="quarter" idx="12"/>
          </p:nvPr>
        </p:nvSpPr>
        <p:spPr/>
        <p:txBody>
          <a:bodyPr/>
          <a:lstStyle/>
          <a:p>
            <a:fld id="{45C3B737-A709-4ABC-AFE0-A6B067850C48}" type="slidenum">
              <a:rPr lang="en-US" smtClean="0"/>
              <a:t>50</a:t>
            </a:fld>
            <a:endParaRPr lang="en-US"/>
          </a:p>
        </p:txBody>
      </p:sp>
    </p:spTree>
    <p:extLst>
      <p:ext uri="{BB962C8B-B14F-4D97-AF65-F5344CB8AC3E}">
        <p14:creationId xmlns:p14="http://schemas.microsoft.com/office/powerpoint/2010/main" val="19416798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51</a:t>
            </a:fld>
            <a:endParaRPr lang="en-US"/>
          </a:p>
        </p:txBody>
      </p:sp>
      <p:pic>
        <p:nvPicPr>
          <p:cNvPr id="1026" name="Picture 2" descr="https://unit8.com/wp-content/uploads/2021/07/1_yaHh5V0AgxEYxJYrv9VQm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14" y="1535970"/>
            <a:ext cx="10376354" cy="493064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275771" y="6466617"/>
            <a:ext cx="8708571" cy="369332"/>
          </a:xfrm>
          <a:prstGeom prst="rect">
            <a:avLst/>
          </a:prstGeom>
        </p:spPr>
        <p:txBody>
          <a:bodyPr wrap="square">
            <a:spAutoFit/>
          </a:bodyPr>
          <a:lstStyle/>
          <a:p>
            <a:r>
              <a:rPr lang="ru-RU" dirty="0"/>
              <a:t>https://unit8.com/wp-content/uploads/2021/07/1_yaHh5V0AgxEYxJYrv9VQmA.png</a:t>
            </a:r>
          </a:p>
        </p:txBody>
      </p:sp>
    </p:spTree>
    <p:extLst>
      <p:ext uri="{BB962C8B-B14F-4D97-AF65-F5344CB8AC3E}">
        <p14:creationId xmlns:p14="http://schemas.microsoft.com/office/powerpoint/2010/main" val="8010734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45674" y="261418"/>
            <a:ext cx="10692973" cy="726008"/>
          </a:xfrm>
        </p:spPr>
        <p:txBody>
          <a:bodyPr/>
          <a:lstStyle/>
          <a:p>
            <a:endParaRPr lang="ru-RU" dirty="0"/>
          </a:p>
        </p:txBody>
      </p:sp>
      <p:sp>
        <p:nvSpPr>
          <p:cNvPr id="3" name="Объект 2"/>
          <p:cNvSpPr>
            <a:spLocks noGrp="1"/>
          </p:cNvSpPr>
          <p:nvPr>
            <p:ph idx="1"/>
          </p:nvPr>
        </p:nvSpPr>
        <p:spPr>
          <a:xfrm>
            <a:off x="388044" y="1241637"/>
            <a:ext cx="4122484" cy="4935325"/>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52</a:t>
            </a:fld>
            <a:endParaRPr lang="en-US"/>
          </a:p>
        </p:txBody>
      </p:sp>
      <p:sp>
        <p:nvSpPr>
          <p:cNvPr id="5" name="Прямоугольник 4"/>
          <p:cNvSpPr/>
          <p:nvPr/>
        </p:nvSpPr>
        <p:spPr>
          <a:xfrm>
            <a:off x="4807644" y="6334780"/>
            <a:ext cx="6096000" cy="523220"/>
          </a:xfrm>
          <a:prstGeom prst="rect">
            <a:avLst/>
          </a:prstGeom>
        </p:spPr>
        <p:txBody>
          <a:bodyPr>
            <a:spAutoFit/>
          </a:bodyPr>
          <a:lstStyle/>
          <a:p>
            <a:r>
              <a:rPr lang="ru-RU" sz="1400" dirty="0"/>
              <a:t>https://developer.nvidia.com/blog/time-series-forecasting-with-the-nvidia-time-series-prediction-platform-and-triton-inference-server/</a:t>
            </a:r>
          </a:p>
        </p:txBody>
      </p:sp>
      <p:pic>
        <p:nvPicPr>
          <p:cNvPr id="1028" name="Picture 4" descr="Time-Series-Forecast_Pic2.png (936×526)"/>
          <p:cNvPicPr>
            <a:picLocks noChangeAspect="1" noChangeArrowheads="1"/>
          </p:cNvPicPr>
          <p:nvPr/>
        </p:nvPicPr>
        <p:blipFill rotWithShape="1">
          <a:blip r:embed="rId2">
            <a:extLst>
              <a:ext uri="{28A0092B-C50C-407E-A947-70E740481C1C}">
                <a14:useLocalDpi xmlns:a14="http://schemas.microsoft.com/office/drawing/2010/main" val="0"/>
              </a:ext>
            </a:extLst>
          </a:blip>
          <a:srcRect l="23250"/>
          <a:stretch/>
        </p:blipFill>
        <p:spPr bwMode="auto">
          <a:xfrm>
            <a:off x="4733365" y="1166813"/>
            <a:ext cx="6842604" cy="501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3053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53</a:t>
            </a:fld>
            <a:endParaRPr lang="en-US"/>
          </a:p>
        </p:txBody>
      </p:sp>
      <p:pic>
        <p:nvPicPr>
          <p:cNvPr id="1026" name="Picture 2" descr="https://www.salesforce.com/blog/wp-content/uploads/sites/2/2024/11/imag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1975" y="754062"/>
            <a:ext cx="9620250" cy="4943476"/>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4772025" y="5767973"/>
            <a:ext cx="6096000" cy="338554"/>
          </a:xfrm>
          <a:prstGeom prst="rect">
            <a:avLst/>
          </a:prstGeom>
        </p:spPr>
        <p:txBody>
          <a:bodyPr>
            <a:spAutoFit/>
          </a:bodyPr>
          <a:lstStyle/>
          <a:p>
            <a:r>
              <a:rPr lang="ru-RU" sz="1600" dirty="0"/>
              <a:t>https://www.salesforce.com/blog/gift-eval-time-series-benchmark/</a:t>
            </a:r>
          </a:p>
        </p:txBody>
      </p:sp>
      <p:sp>
        <p:nvSpPr>
          <p:cNvPr id="6" name="Прямоугольник 5"/>
          <p:cNvSpPr/>
          <p:nvPr/>
        </p:nvSpPr>
        <p:spPr>
          <a:xfrm>
            <a:off x="5501209" y="6062732"/>
            <a:ext cx="4980531" cy="369332"/>
          </a:xfrm>
          <a:prstGeom prst="rect">
            <a:avLst/>
          </a:prstGeom>
        </p:spPr>
        <p:txBody>
          <a:bodyPr wrap="none">
            <a:spAutoFit/>
          </a:bodyPr>
          <a:lstStyle/>
          <a:p>
            <a:r>
              <a:rPr lang="ru-RU" dirty="0"/>
              <a:t>https://github.com/SalesforceAIResearch/gift-eval/</a:t>
            </a:r>
          </a:p>
        </p:txBody>
      </p:sp>
    </p:spTree>
    <p:extLst>
      <p:ext uri="{BB962C8B-B14F-4D97-AF65-F5344CB8AC3E}">
        <p14:creationId xmlns:p14="http://schemas.microsoft.com/office/powerpoint/2010/main" val="875773777"/>
      </p:ext>
    </p:extLst>
  </p:cSld>
  <p:clrMapOvr>
    <a:masterClrMapping/>
  </p:clrMapOvr>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9207</TotalTime>
  <Words>5048</Words>
  <Application>Microsoft Macintosh PowerPoint</Application>
  <PresentationFormat>Широкоэкранный</PresentationFormat>
  <Paragraphs>449</Paragraphs>
  <Slides>53</Slides>
  <Notes>13</Notes>
  <HiddenSlides>5</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53</vt:i4>
      </vt:variant>
    </vt:vector>
  </HeadingPairs>
  <TitlesOfParts>
    <vt:vector size="63" baseType="lpstr">
      <vt:lpstr>Arial</vt:lpstr>
      <vt:lpstr>Calibri</vt:lpstr>
      <vt:lpstr>Calibri Light</vt:lpstr>
      <vt:lpstr>Cambria Math</vt:lpstr>
      <vt:lpstr>inherit</vt:lpstr>
      <vt:lpstr>Inter</vt:lpstr>
      <vt:lpstr>Open Sans</vt:lpstr>
      <vt:lpstr>quote-cjk-patch</vt:lpstr>
      <vt:lpstr>var(--sds-font-family-01)</vt:lpstr>
      <vt:lpstr>Тема Office 2013–2022</vt:lpstr>
      <vt:lpstr>Введение в анализ  временных рядов. Постановка задач предсказания ВР</vt:lpstr>
      <vt:lpstr>Понятие ВР</vt:lpstr>
      <vt:lpstr>Анализ временных рядов</vt:lpstr>
      <vt:lpstr>Задачи анализа временных рядов</vt:lpstr>
      <vt:lpstr>Особенности задачи анализа временных рядов</vt:lpstr>
      <vt:lpstr>краткосрочные прогнозы спроса на электроэнергию в жилых домах</vt:lpstr>
      <vt:lpstr>Прогнозирование курсов валют</vt:lpstr>
      <vt:lpstr>Применения ВР</vt:lpstr>
      <vt:lpstr>Примеры</vt:lpstr>
      <vt:lpstr>Примеры приложений анализа временных рядов</vt:lpstr>
      <vt:lpstr>Примеры</vt:lpstr>
      <vt:lpstr>Примеры</vt:lpstr>
      <vt:lpstr>Модель ВР</vt:lpstr>
      <vt:lpstr>Модели временных рядов</vt:lpstr>
      <vt:lpstr>Модели временных рядов</vt:lpstr>
      <vt:lpstr>Особенности модели временных рядов</vt:lpstr>
      <vt:lpstr>Разница цикличности и сезонности</vt:lpstr>
      <vt:lpstr>Модели временных рядов</vt:lpstr>
      <vt:lpstr>Популярные виды тренда</vt:lpstr>
      <vt:lpstr>Модели временных рядов. Случайный тренд</vt:lpstr>
      <vt:lpstr>Модели временных рядов</vt:lpstr>
      <vt:lpstr>Модели временных рядов</vt:lpstr>
      <vt:lpstr>Особенности и варианты модели ВР</vt:lpstr>
      <vt:lpstr>Точки перегиба и новизна в тренде</vt:lpstr>
      <vt:lpstr>Модели временных рядов. Аномалии</vt:lpstr>
      <vt:lpstr>Примеры ВР</vt:lpstr>
      <vt:lpstr>Постановка задачи предсказания ВР</vt:lpstr>
      <vt:lpstr>Представление ВР</vt:lpstr>
      <vt:lpstr>Типы ВР </vt:lpstr>
      <vt:lpstr>Экзогенные и многопеременные ВР</vt:lpstr>
      <vt:lpstr>Типы ВР</vt:lpstr>
      <vt:lpstr>Некоторые типы ВР</vt:lpstr>
      <vt:lpstr>Экзогенные и многопеременные ВР</vt:lpstr>
      <vt:lpstr>Представление Временных рядов</vt:lpstr>
      <vt:lpstr>Задачи анализа временных рядов</vt:lpstr>
      <vt:lpstr>Анализ временных рядов</vt:lpstr>
      <vt:lpstr>Задачи прогнозирования временных рядов</vt:lpstr>
      <vt:lpstr>Задачи прогнозирования временных рядов</vt:lpstr>
      <vt:lpstr>Задачи предсказания временных рядовaq</vt:lpstr>
      <vt:lpstr>Постановка задачи анализа ВР</vt:lpstr>
      <vt:lpstr>Пример TSF System Design</vt:lpstr>
      <vt:lpstr>Литература</vt:lpstr>
      <vt:lpstr>Литература</vt:lpstr>
      <vt:lpstr>Презентация PowerPoint</vt:lpstr>
      <vt:lpstr>Презентация PowerPoint</vt:lpstr>
      <vt:lpstr>Постановка задачи анализа ВР</vt:lpstr>
      <vt:lpstr>Постановка задачи анализа ВР</vt:lpstr>
      <vt:lpstr>Задача прогнозирования</vt:lpstr>
      <vt:lpstr>Задача прогнозирования</vt:lpstr>
      <vt:lpstr>Типы ВР</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179</cp:revision>
  <dcterms:created xsi:type="dcterms:W3CDTF">2021-10-31T10:57:36Z</dcterms:created>
  <dcterms:modified xsi:type="dcterms:W3CDTF">2025-07-13T14:50:46Z</dcterms:modified>
</cp:coreProperties>
</file>