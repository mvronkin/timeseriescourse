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461" r:id="rId2"/>
    <p:sldId id="46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6301"/>
  </p:normalViewPr>
  <p:slideViewPr>
    <p:cSldViewPr snapToGrid="0">
      <p:cViewPr varScale="1">
        <p:scale>
          <a:sx n="126" d="100"/>
          <a:sy n="126" d="100"/>
        </p:scale>
        <p:origin x="26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15.07.2025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7/15/2025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mydata.ch/backtesting-in-time-series-forecasting-for-maximum-performance/" TargetMode="External"/><Relationship Id="rId2" Type="http://schemas.openxmlformats.org/officeDocument/2006/relationships/hyperlink" Target="https://docs.aws.amazon.com/whitepapers/latest/time-series-forecasting-principles-with-amazon-forecast/step-4-evaluate-predictors.html#prediction-quantiles-and-accuracy-metri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achinelearningmastery.com/backtest-machine-learning-models-time-series-forecasting/" TargetMode="External"/><Relationship Id="rId5" Type="http://schemas.openxmlformats.org/officeDocument/2006/relationships/hyperlink" Target="https://www.sktime.net/en/stable/examples/forecasting/window_splitters.html" TargetMode="External"/><Relationship Id="rId4" Type="http://schemas.openxmlformats.org/officeDocument/2006/relationships/hyperlink" Target="https://joaquinamatrodrigo.github.io/skforecast/0.11.0/user_guides/backtesting.html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3B1A5-BEEC-B3CA-D0EB-A7DFC318C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A9E8C0-6911-F041-2725-769B2E412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" y="1690688"/>
            <a:ext cx="11255829" cy="5080226"/>
          </a:xfrm>
        </p:spPr>
        <p:txBody>
          <a:bodyPr>
            <a:normAutofit fontScale="55000" lnSpcReduction="20000"/>
          </a:bodyPr>
          <a:lstStyle/>
          <a:p>
            <a:r>
              <a:rPr lang="ru-RU" dirty="0"/>
              <a:t>В случае временного ряда кросс валидация может быть выполнена в скользящем окне по данным </a:t>
            </a:r>
            <a:r>
              <a:rPr lang="en" dirty="0">
                <a:hlinkClick r:id="rId2"/>
              </a:rPr>
              <a:t>rolling backtest evaluation</a:t>
            </a:r>
            <a:r>
              <a:rPr lang="en" dirty="0"/>
              <a:t>.</a:t>
            </a:r>
          </a:p>
          <a:p>
            <a:r>
              <a:rPr lang="ru-RU" dirty="0">
                <a:hlinkClick r:id="rId3"/>
              </a:rPr>
              <a:t>Приемущественно метода</a:t>
            </a:r>
            <a:r>
              <a:rPr lang="ru-RU" dirty="0"/>
              <a:t> </a:t>
            </a:r>
            <a:r>
              <a:rPr lang="ru-RU" dirty="0" err="1"/>
              <a:t>бектеста</a:t>
            </a:r>
            <a:r>
              <a:rPr lang="ru-RU" dirty="0"/>
              <a:t> скользящим окном следующие:</a:t>
            </a:r>
          </a:p>
          <a:p>
            <a:r>
              <a:rPr lang="ru-RU" dirty="0"/>
              <a:t>позволяет быть уверенным, что прогнозы точны и последовательны в течение длительного периода времени.</a:t>
            </a:r>
          </a:p>
          <a:p>
            <a:r>
              <a:rPr lang="ru-RU" dirty="0"/>
              <a:t>может помочь найти и исправить "</a:t>
            </a:r>
            <a:r>
              <a:rPr lang="ru-RU" dirty="0" err="1"/>
              <a:t>плавоющие</a:t>
            </a:r>
            <a:r>
              <a:rPr lang="ru-RU" dirty="0"/>
              <a:t>" ошибки в модели данных. То есть редкие, но достаточно регулярные ошибки (неучтенную </a:t>
            </a:r>
            <a:r>
              <a:rPr lang="ru-RU" dirty="0" err="1"/>
              <a:t>информоацию</a:t>
            </a:r>
            <a:r>
              <a:rPr lang="ru-RU" dirty="0"/>
              <a:t>), которые можно участь в модели.</a:t>
            </a:r>
          </a:p>
          <a:p>
            <a:r>
              <a:rPr lang="ru-RU" dirty="0"/>
              <a:t>может помочь выявить недостающие внешние факторы в данных, которые помогут модели делать более точные прогнозы.</a:t>
            </a:r>
          </a:p>
          <a:p>
            <a:r>
              <a:rPr lang="ru-RU" dirty="0"/>
              <a:t>Напомним, что в прогнозировании временных рядов под </a:t>
            </a:r>
            <a:r>
              <a:rPr lang="ru-RU" dirty="0" err="1"/>
              <a:t>бэктестингом</a:t>
            </a:r>
            <a:r>
              <a:rPr lang="ru-RU" dirty="0"/>
              <a:t> понимается процесс проверки модели прогноза на исторических данных. Этот метод предполагает пошаговое движение назад во времени, чтобы оценить, насколько хорошо показала бы себя модель, если бы она использовалась для прогнозирования в этот период времени.</a:t>
            </a:r>
          </a:p>
          <a:p>
            <a:r>
              <a:rPr lang="ru-RU" dirty="0"/>
              <a:t>С технической точки зрения идея тут </a:t>
            </a:r>
            <a:r>
              <a:rPr lang="ru-RU" dirty="0">
                <a:hlinkClick r:id="rId4"/>
              </a:rPr>
              <a:t>заключается следующем</a:t>
            </a:r>
            <a:r>
              <a:rPr lang="ru-RU" dirty="0"/>
              <a:t>. Задается </a:t>
            </a:r>
            <a:r>
              <a:rPr lang="ru-RU" dirty="0" err="1"/>
              <a:t>некторая</a:t>
            </a:r>
            <a:r>
              <a:rPr lang="ru-RU" dirty="0"/>
              <a:t> ширина окна временного ряда. Заданное окно скользит по временному ряду с начального положения, например, таким образом, что все данные перед ним являются тренировочными, а после тестовыми. Могут быть и </a:t>
            </a:r>
            <a:r>
              <a:rPr lang="ru-RU" dirty="0">
                <a:hlinkClick r:id="rId5"/>
              </a:rPr>
              <a:t>другие стратегии</a:t>
            </a:r>
            <a:r>
              <a:rPr lang="ru-RU" dirty="0"/>
              <a:t>, например, что только лишь выборка заданного размера перед окном является тренировочной. Такие стратегии называются </a:t>
            </a:r>
            <a:r>
              <a:rPr lang="en" dirty="0" err="1"/>
              <a:t>ExpandingWindowSplitter</a:t>
            </a:r>
            <a:r>
              <a:rPr lang="en" dirty="0"/>
              <a:t> </a:t>
            </a:r>
            <a:r>
              <a:rPr lang="ru-RU" dirty="0"/>
              <a:t>и </a:t>
            </a:r>
            <a:r>
              <a:rPr lang="en" dirty="0" err="1"/>
              <a:t>SlidingWindowSplitter</a:t>
            </a:r>
            <a:r>
              <a:rPr lang="en" dirty="0"/>
              <a:t> </a:t>
            </a:r>
            <a:r>
              <a:rPr lang="ru-RU" dirty="0"/>
              <a:t>соответственно.</a:t>
            </a:r>
          </a:p>
          <a:p>
            <a:r>
              <a:rPr lang="ru-RU" dirty="0"/>
              <a:t>Для использования данных стратегий рекомендуем задавать </a:t>
            </a:r>
            <a:r>
              <a:rPr lang="ru-RU" dirty="0" err="1"/>
              <a:t>оконо</a:t>
            </a:r>
            <a:r>
              <a:rPr lang="ru-RU" dirty="0"/>
              <a:t> списком чисел вместо дат. Попробуем для начала визуализировать </a:t>
            </a:r>
            <a:r>
              <a:rPr lang="en" dirty="0" err="1"/>
              <a:t>ExpandingWindowSplitter</a:t>
            </a:r>
            <a:endParaRPr lang="en" dirty="0"/>
          </a:p>
          <a:p>
            <a:r>
              <a:rPr lang="ru-RU" dirty="0"/>
              <a:t>Отметим что по своей </a:t>
            </a:r>
            <a:r>
              <a:rPr lang="ru-RU" dirty="0" err="1"/>
              <a:t>идеалогии</a:t>
            </a:r>
            <a:r>
              <a:rPr lang="ru-RU" dirty="0"/>
              <a:t> данная процедура аналогична тому, что модель бы тестировалась на поступающих данных в соответствующих рабочих </a:t>
            </a:r>
            <a:r>
              <a:rPr lang="ru-RU" dirty="0" err="1"/>
              <a:t>режмах</a:t>
            </a:r>
            <a:r>
              <a:rPr lang="ru-RU" dirty="0"/>
              <a:t>. При этом целью такого тестирования бы была оценка работоспособности модели. Другими словами тестирование гипотезы о необходимости сменить модель (например переобучить). Такая процедура называется </a:t>
            </a:r>
            <a:r>
              <a:rPr lang="en" dirty="0">
                <a:hlinkClick r:id="rId6"/>
              </a:rPr>
              <a:t>walk-forward validation</a:t>
            </a:r>
            <a:r>
              <a:rPr lang="en" dirty="0"/>
              <a:t>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45620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" y="136525"/>
            <a:ext cx="11719560" cy="671195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Пути оценки качества работы модели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" y="807720"/>
            <a:ext cx="11849100" cy="5661660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Пути оценки качества предсказаний значений ВР</a:t>
            </a:r>
          </a:p>
          <a:p>
            <a:pPr marL="0" indent="0">
              <a:buNone/>
            </a:pPr>
            <a:r>
              <a:rPr lang="ru-RU" b="1" dirty="0" smtClean="0"/>
              <a:t>На </a:t>
            </a:r>
            <a:r>
              <a:rPr lang="ru-RU" b="1" dirty="0"/>
              <a:t>тренировочной выборке</a:t>
            </a:r>
          </a:p>
          <a:p>
            <a:r>
              <a:rPr lang="ru-RU" dirty="0" smtClean="0"/>
              <a:t>Оценка сложности модели </a:t>
            </a:r>
          </a:p>
          <a:p>
            <a:pPr lvl="1"/>
            <a:r>
              <a:rPr lang="ru-RU" dirty="0" smtClean="0"/>
              <a:t>инф. критерий</a:t>
            </a:r>
          </a:p>
          <a:p>
            <a:r>
              <a:rPr lang="ru-RU" dirty="0" smtClean="0"/>
              <a:t>Оценка распределения остаточной части на тренировочной выборке</a:t>
            </a:r>
          </a:p>
          <a:p>
            <a:pPr lvl="1"/>
            <a:r>
              <a:rPr lang="ru-RU" dirty="0" smtClean="0"/>
              <a:t>Наличие информации, выбросов, </a:t>
            </a:r>
            <a:r>
              <a:rPr lang="ru-RU" dirty="0" err="1" smtClean="0"/>
              <a:t>гомосекдостичность</a:t>
            </a:r>
            <a:r>
              <a:rPr lang="ru-RU" dirty="0" smtClean="0"/>
              <a:t> и т.д.</a:t>
            </a:r>
          </a:p>
          <a:p>
            <a:pPr marL="0" indent="0">
              <a:buNone/>
            </a:pPr>
            <a:r>
              <a:rPr lang="ru-RU" b="1" dirty="0" smtClean="0"/>
              <a:t>На тестовой выборке</a:t>
            </a:r>
          </a:p>
          <a:p>
            <a:r>
              <a:rPr lang="ru-RU" dirty="0" smtClean="0"/>
              <a:t>Оценка средних по тесту значений точечных метрик</a:t>
            </a:r>
          </a:p>
          <a:p>
            <a:pPr lvl="1"/>
            <a:r>
              <a:rPr lang="en-US" dirty="0" smtClean="0"/>
              <a:t>MSSE, MAE, </a:t>
            </a:r>
            <a:endParaRPr lang="ru-RU" dirty="0" smtClean="0"/>
          </a:p>
          <a:p>
            <a:r>
              <a:rPr lang="ru-RU" dirty="0" smtClean="0"/>
              <a:t>Оценка средних </a:t>
            </a:r>
            <a:r>
              <a:rPr lang="ru-RU" dirty="0"/>
              <a:t>по тесту вероятностных </a:t>
            </a:r>
            <a:r>
              <a:rPr lang="ru-RU" dirty="0" smtClean="0"/>
              <a:t>значений метрик</a:t>
            </a:r>
          </a:p>
          <a:p>
            <a:pPr lvl="1"/>
            <a:r>
              <a:rPr lang="ru-RU" dirty="0"/>
              <a:t>интервалов/квантилей/дисперсии/распределений</a:t>
            </a:r>
          </a:p>
          <a:p>
            <a:pPr marL="0" indent="0">
              <a:buNone/>
            </a:pPr>
            <a:r>
              <a:rPr lang="ru-RU" b="1" dirty="0" smtClean="0"/>
              <a:t>На </a:t>
            </a:r>
            <a:r>
              <a:rPr lang="ru-RU" b="1" dirty="0" err="1" smtClean="0"/>
              <a:t>валидационной</a:t>
            </a:r>
            <a:r>
              <a:rPr lang="ru-RU" b="1" dirty="0" smtClean="0"/>
              <a:t> выборке?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3994555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3969</TotalTime>
  <Words>76</Words>
  <Application>Microsoft Office PowerPoint</Application>
  <PresentationFormat>Широкоэкранный</PresentationFormat>
  <Paragraphs>22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Пути оценки качества работы модели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217</cp:revision>
  <dcterms:created xsi:type="dcterms:W3CDTF">2021-10-31T10:57:36Z</dcterms:created>
  <dcterms:modified xsi:type="dcterms:W3CDTF">2025-07-15T13:56:44Z</dcterms:modified>
</cp:coreProperties>
</file>