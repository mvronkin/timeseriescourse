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461" r:id="rId2"/>
    <p:sldId id="462" r:id="rId3"/>
    <p:sldId id="465" r:id="rId4"/>
    <p:sldId id="463" r:id="rId5"/>
    <p:sldId id="464" r:id="rId6"/>
    <p:sldId id="469" r:id="rId7"/>
    <p:sldId id="466" r:id="rId8"/>
    <p:sldId id="467" r:id="rId9"/>
    <p:sldId id="470" r:id="rId10"/>
    <p:sldId id="471" r:id="rId11"/>
    <p:sldId id="472" r:id="rId12"/>
    <p:sldId id="4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6301"/>
  </p:normalViewPr>
  <p:slideViewPr>
    <p:cSldViewPr snapToGrid="0">
      <p:cViewPr>
        <p:scale>
          <a:sx n="125" d="100"/>
          <a:sy n="125" d="100"/>
        </p:scale>
        <p:origin x="264"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246F-5962-E14A-AAF2-985CCFDAC345}" type="datetimeFigureOut">
              <a:rPr lang="ru-RU" smtClean="0"/>
              <a:t>17.07.2025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4F326-5F8D-6A4F-9B75-A3402553DF5F}" type="slidenum">
              <a:rPr lang="ru-RU" smtClean="0"/>
              <a:t>‹#›</a:t>
            </a:fld>
            <a:endParaRPr lang="ru-RU"/>
          </a:p>
        </p:txBody>
      </p:sp>
    </p:spTree>
    <p:extLst>
      <p:ext uri="{BB962C8B-B14F-4D97-AF65-F5344CB8AC3E}">
        <p14:creationId xmlns:p14="http://schemas.microsoft.com/office/powerpoint/2010/main" val="1450765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CFB4BA-4847-4950-9046-35C57469617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7C50F236-05DE-4EA6-B24B-C0FEBD729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F412F55E-4C2C-4815-9251-414FB0B405B3}"/>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5" name="Нижний колонтитул 4">
            <a:extLst>
              <a:ext uri="{FF2B5EF4-FFF2-40B4-BE49-F238E27FC236}">
                <a16:creationId xmlns:a16="http://schemas.microsoft.com/office/drawing/2014/main" id="{907044F1-1BCB-437D-94B7-748CD73BDC09}"/>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8FE5FCA-3381-4AA7-97BE-E08360D07EF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4773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2078B4-C8B8-4494-8D96-3C27E8336B9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DFB14A32-4487-4DEA-8E16-BCEFD680538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CAA63F3-81BF-4E33-9692-6778B8E19DA6}"/>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5" name="Нижний колонтитул 4">
            <a:extLst>
              <a:ext uri="{FF2B5EF4-FFF2-40B4-BE49-F238E27FC236}">
                <a16:creationId xmlns:a16="http://schemas.microsoft.com/office/drawing/2014/main" id="{DDE3BEBD-8CC4-4081-9FDB-95EB8C3FA1B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28FB63A-262B-4B36-853D-8FD6AE113C36}"/>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47961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C43E4F-3035-403A-BF75-75C94FBBF44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903DCB50-56CC-4CB7-B0E9-C49EE413D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48699E2-26D2-4F29-BECB-D95064481951}"/>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5" name="Нижний колонтитул 4">
            <a:extLst>
              <a:ext uri="{FF2B5EF4-FFF2-40B4-BE49-F238E27FC236}">
                <a16:creationId xmlns:a16="http://schemas.microsoft.com/office/drawing/2014/main" id="{78572401-E422-4507-AF7F-D7097CB4EF97}"/>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DC6EC42-24E3-47D8-9888-D943C92725E4}"/>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5272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D8482-B2D7-40A8-802B-023F79090511}"/>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7C7A474-D83F-4629-BFC3-2F4B70530FC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CBDD1A05-87B9-4B2D-8E14-4A30D386B2C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CBBC8B2B-8080-4609-A242-EA6E91AF7965}"/>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6" name="Нижний колонтитул 5">
            <a:extLst>
              <a:ext uri="{FF2B5EF4-FFF2-40B4-BE49-F238E27FC236}">
                <a16:creationId xmlns:a16="http://schemas.microsoft.com/office/drawing/2014/main" id="{37E48783-5AEF-42A6-9B25-9575CD40931F}"/>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5E1D6438-4412-440C-9295-08502F801321}"/>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400323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A02B6-9656-414C-BE0E-10520656D63D}"/>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20224BE-5E0C-4E18-BFEF-DD7D38630D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F82B3EE-40C5-4C9D-A53F-B840D95C583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CE08FC7-9C8F-40C5-A36C-57D977012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DA3F2C0-DF9F-4B0C-8FF7-87FA6D0C982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4670B12D-A9FE-4003-AD82-C945E4650199}"/>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8" name="Нижний колонтитул 7">
            <a:extLst>
              <a:ext uri="{FF2B5EF4-FFF2-40B4-BE49-F238E27FC236}">
                <a16:creationId xmlns:a16="http://schemas.microsoft.com/office/drawing/2014/main" id="{01D85015-23A3-46A2-835F-65D23A8CC63E}"/>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3ECA17E4-0196-4A48-A9E8-2CDD648161B2}"/>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57050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33BF47-6BDB-4118-A251-A1E8A5BAC7A7}"/>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77ED7011-686E-45C2-8968-A0B2E5D91B3B}"/>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4" name="Нижний колонтитул 3">
            <a:extLst>
              <a:ext uri="{FF2B5EF4-FFF2-40B4-BE49-F238E27FC236}">
                <a16:creationId xmlns:a16="http://schemas.microsoft.com/office/drawing/2014/main" id="{84ACE154-94EF-4E83-9D3F-7EE19302267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E255E03A-D16A-4D69-90DC-E58F3F32ED5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463708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4E9CB4-2963-43D8-8D7F-D3C9C5A63602}"/>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3" name="Нижний колонтитул 2">
            <a:extLst>
              <a:ext uri="{FF2B5EF4-FFF2-40B4-BE49-F238E27FC236}">
                <a16:creationId xmlns:a16="http://schemas.microsoft.com/office/drawing/2014/main" id="{C54DA748-DD83-4645-AFEB-64F92704904C}"/>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2D3C6B88-BC8D-458D-A522-282B466F8CB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7851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76CF2-7597-4002-8ABA-F1D3B86D939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A3F4F31-CC84-417F-B967-C992A4599C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61EC5051-C614-4B70-A698-B21DE6B2C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9C3610-5D28-44EB-9587-C384AEC28954}"/>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6" name="Нижний колонтитул 5">
            <a:extLst>
              <a:ext uri="{FF2B5EF4-FFF2-40B4-BE49-F238E27FC236}">
                <a16:creationId xmlns:a16="http://schemas.microsoft.com/office/drawing/2014/main" id="{D53EF8BB-8CBF-4362-9146-DEF1DEC21B3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11AA93E-098B-4DBE-A044-721E37D6D1A3}"/>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69456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CC3971-FAC8-4F52-B15E-7F9CCA65EA8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62583E30-D6F9-47C1-B0FD-3070A90D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2133E1C3-FED5-47C3-8D75-D0E1CE87A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7B8DF28-82CD-4556-9610-6627C6C1E281}"/>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6" name="Нижний колонтитул 5">
            <a:extLst>
              <a:ext uri="{FF2B5EF4-FFF2-40B4-BE49-F238E27FC236}">
                <a16:creationId xmlns:a16="http://schemas.microsoft.com/office/drawing/2014/main" id="{1C754358-7942-4E40-AF93-18EF33D32044}"/>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0356B49-2C0E-451A-8A9A-74FDF9A8C03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868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FE3F53-D493-48AC-971D-7454A8D783D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4A05121-2968-48C3-BB49-AF0AC43AD13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8A79E25-1AB6-488D-AFD4-754FABB44191}"/>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5" name="Нижний колонтитул 4">
            <a:extLst>
              <a:ext uri="{FF2B5EF4-FFF2-40B4-BE49-F238E27FC236}">
                <a16:creationId xmlns:a16="http://schemas.microsoft.com/office/drawing/2014/main" id="{CF133EB6-0DE0-4289-8048-2D6D72BA672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8889C22-9049-4BFC-8501-808125020B1E}"/>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82213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A0A8197-99AF-4047-BB35-1E28D8D181D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32B8222B-3624-4C62-9AC8-0C9ACA87107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9B1FCEF-30E5-4242-9E96-510141165CCB}"/>
              </a:ext>
            </a:extLst>
          </p:cNvPr>
          <p:cNvSpPr>
            <a:spLocks noGrp="1"/>
          </p:cNvSpPr>
          <p:nvPr>
            <p:ph type="dt" sz="half" idx="10"/>
          </p:nvPr>
        </p:nvSpPr>
        <p:spPr/>
        <p:txBody>
          <a:bodyPr/>
          <a:lstStyle/>
          <a:p>
            <a:fld id="{44343DC6-30E4-4569-999A-C703F926F2AF}" type="datetimeFigureOut">
              <a:rPr lang="en-US" smtClean="0"/>
              <a:t>7/17/2025</a:t>
            </a:fld>
            <a:endParaRPr lang="en-US"/>
          </a:p>
        </p:txBody>
      </p:sp>
      <p:sp>
        <p:nvSpPr>
          <p:cNvPr id="5" name="Нижний колонтитул 4">
            <a:extLst>
              <a:ext uri="{FF2B5EF4-FFF2-40B4-BE49-F238E27FC236}">
                <a16:creationId xmlns:a16="http://schemas.microsoft.com/office/drawing/2014/main" id="{E83953CE-A629-44C1-8C47-D85C4C211FDD}"/>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4200CE6-DA51-4537-A51E-3A38FB76B5F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75040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55DBB2-2936-4C5B-A898-17ABF819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77DD482A-BA7D-4219-92B7-5B66F76D4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6365484-7FD2-4223-ACAC-F0B65AFF5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43DC6-30E4-4569-999A-C703F926F2AF}" type="datetimeFigureOut">
              <a:rPr lang="en-US" smtClean="0"/>
              <a:t>7/17/2025</a:t>
            </a:fld>
            <a:endParaRPr lang="en-US"/>
          </a:p>
        </p:txBody>
      </p:sp>
      <p:sp>
        <p:nvSpPr>
          <p:cNvPr id="5" name="Нижний колонтитул 4">
            <a:extLst>
              <a:ext uri="{FF2B5EF4-FFF2-40B4-BE49-F238E27FC236}">
                <a16:creationId xmlns:a16="http://schemas.microsoft.com/office/drawing/2014/main" id="{3E91DAA7-F8E0-4BCD-8D26-540FF2A6E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B4E25FF6-6DD2-4839-9908-5D121329B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308112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mydata.ch/backtesting-in-time-series-forecasting-for-maximum-performance/" TargetMode="External"/><Relationship Id="rId2" Type="http://schemas.openxmlformats.org/officeDocument/2006/relationships/hyperlink" Target="https://docs.aws.amazon.com/whitepapers/latest/time-series-forecasting-principles-with-amazon-forecast/step-4-evaluate-predictors.html#prediction-quantiles-and-accuracy-metrics" TargetMode="External"/><Relationship Id="rId1" Type="http://schemas.openxmlformats.org/officeDocument/2006/relationships/slideLayout" Target="../slideLayouts/slideLayout2.xml"/><Relationship Id="rId6" Type="http://schemas.openxmlformats.org/officeDocument/2006/relationships/hyperlink" Target="https://machinelearningmastery.com/backtest-machine-learning-models-time-series-forecasting/" TargetMode="External"/><Relationship Id="rId5" Type="http://schemas.openxmlformats.org/officeDocument/2006/relationships/hyperlink" Target="https://www.sktime.net/en/stable/examples/forecasting/window_splitters.html" TargetMode="External"/><Relationship Id="rId4" Type="http://schemas.openxmlformats.org/officeDocument/2006/relationships/hyperlink" Target="https://joaquinamatrodrigo.github.io/skforecast/0.11.0/user_guides/backtesting.html"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A3B1A5-BEEC-B3CA-D0EB-A7DFC318C6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3A9E8C0-6911-F041-2725-769B2E4125BF}"/>
              </a:ext>
            </a:extLst>
          </p:cNvPr>
          <p:cNvSpPr>
            <a:spLocks noGrp="1"/>
          </p:cNvSpPr>
          <p:nvPr>
            <p:ph idx="1"/>
          </p:nvPr>
        </p:nvSpPr>
        <p:spPr>
          <a:xfrm>
            <a:off x="97971" y="1690688"/>
            <a:ext cx="11255829" cy="5080226"/>
          </a:xfrm>
        </p:spPr>
        <p:txBody>
          <a:bodyPr>
            <a:normAutofit fontScale="55000" lnSpcReduction="20000"/>
          </a:bodyPr>
          <a:lstStyle/>
          <a:p>
            <a:r>
              <a:rPr lang="ru-RU" dirty="0"/>
              <a:t>В случае временного ряда кросс валидация может быть выполнена в скользящем окне по данным </a:t>
            </a:r>
            <a:r>
              <a:rPr lang="en" dirty="0">
                <a:hlinkClick r:id="rId2"/>
              </a:rPr>
              <a:t>rolling backtest evaluation</a:t>
            </a:r>
            <a:r>
              <a:rPr lang="en" dirty="0"/>
              <a:t>.</a:t>
            </a:r>
          </a:p>
          <a:p>
            <a:r>
              <a:rPr lang="ru-RU" dirty="0">
                <a:hlinkClick r:id="rId3"/>
              </a:rPr>
              <a:t>Приемущественно метода</a:t>
            </a:r>
            <a:r>
              <a:rPr lang="ru-RU" dirty="0"/>
              <a:t> </a:t>
            </a:r>
            <a:r>
              <a:rPr lang="ru-RU" dirty="0" err="1"/>
              <a:t>бектеста</a:t>
            </a:r>
            <a:r>
              <a:rPr lang="ru-RU" dirty="0"/>
              <a:t> скользящим окном следующие:</a:t>
            </a:r>
          </a:p>
          <a:p>
            <a:r>
              <a:rPr lang="ru-RU" dirty="0"/>
              <a:t>позволяет быть уверенным, что прогнозы точны и последовательны в течение длительного периода времени.</a:t>
            </a:r>
          </a:p>
          <a:p>
            <a:r>
              <a:rPr lang="ru-RU" dirty="0"/>
              <a:t>может помочь найти и исправить "</a:t>
            </a:r>
            <a:r>
              <a:rPr lang="ru-RU" dirty="0" err="1"/>
              <a:t>плавоющие</a:t>
            </a:r>
            <a:r>
              <a:rPr lang="ru-RU" dirty="0"/>
              <a:t>" ошибки в модели данных. То есть редкие, но достаточно регулярные ошибки (неучтенную </a:t>
            </a:r>
            <a:r>
              <a:rPr lang="ru-RU" dirty="0" err="1"/>
              <a:t>информоацию</a:t>
            </a:r>
            <a:r>
              <a:rPr lang="ru-RU" dirty="0"/>
              <a:t>), которые можно участь в модели.</a:t>
            </a:r>
          </a:p>
          <a:p>
            <a:r>
              <a:rPr lang="ru-RU" dirty="0"/>
              <a:t>может помочь выявить недостающие внешние факторы в данных, которые помогут модели делать более точные прогнозы.</a:t>
            </a:r>
          </a:p>
          <a:p>
            <a:r>
              <a:rPr lang="ru-RU" dirty="0"/>
              <a:t>Напомним, что в прогнозировании временных рядов под </a:t>
            </a:r>
            <a:r>
              <a:rPr lang="ru-RU" dirty="0" err="1"/>
              <a:t>бэктестингом</a:t>
            </a:r>
            <a:r>
              <a:rPr lang="ru-RU" dirty="0"/>
              <a:t> понимается процесс проверки модели прогноза на исторических данных. Этот метод предполагает пошаговое движение назад во времени, чтобы оценить, насколько хорошо показала бы себя модель, если бы она использовалась для прогнозирования в этот период времени.</a:t>
            </a:r>
          </a:p>
          <a:p>
            <a:r>
              <a:rPr lang="ru-RU" dirty="0"/>
              <a:t>С технической точки зрения идея тут </a:t>
            </a:r>
            <a:r>
              <a:rPr lang="ru-RU" dirty="0">
                <a:hlinkClick r:id="rId4"/>
              </a:rPr>
              <a:t>заключается следующем</a:t>
            </a:r>
            <a:r>
              <a:rPr lang="ru-RU" dirty="0"/>
              <a:t>. Задается </a:t>
            </a:r>
            <a:r>
              <a:rPr lang="ru-RU" dirty="0" err="1"/>
              <a:t>некторая</a:t>
            </a:r>
            <a:r>
              <a:rPr lang="ru-RU" dirty="0"/>
              <a:t> ширина окна временного ряда. Заданное окно скользит по временному ряду с начального положения, например, таким образом, что все данные перед ним являются тренировочными, а после тестовыми. Могут быть и </a:t>
            </a:r>
            <a:r>
              <a:rPr lang="ru-RU" dirty="0">
                <a:hlinkClick r:id="rId5"/>
              </a:rPr>
              <a:t>другие стратегии</a:t>
            </a:r>
            <a:r>
              <a:rPr lang="ru-RU" dirty="0"/>
              <a:t>, например, что только лишь выборка заданного размера перед окном является тренировочной. Такие стратегии называются </a:t>
            </a:r>
            <a:r>
              <a:rPr lang="en" dirty="0" err="1"/>
              <a:t>ExpandingWindowSplitter</a:t>
            </a:r>
            <a:r>
              <a:rPr lang="en" dirty="0"/>
              <a:t> </a:t>
            </a:r>
            <a:r>
              <a:rPr lang="ru-RU" dirty="0"/>
              <a:t>и </a:t>
            </a:r>
            <a:r>
              <a:rPr lang="en" dirty="0" err="1"/>
              <a:t>SlidingWindowSplitter</a:t>
            </a:r>
            <a:r>
              <a:rPr lang="en" dirty="0"/>
              <a:t> </a:t>
            </a:r>
            <a:r>
              <a:rPr lang="ru-RU" dirty="0"/>
              <a:t>соответственно.</a:t>
            </a:r>
          </a:p>
          <a:p>
            <a:r>
              <a:rPr lang="ru-RU" dirty="0"/>
              <a:t>Для использования данных стратегий рекомендуем задавать </a:t>
            </a:r>
            <a:r>
              <a:rPr lang="ru-RU" dirty="0" err="1"/>
              <a:t>оконо</a:t>
            </a:r>
            <a:r>
              <a:rPr lang="ru-RU" dirty="0"/>
              <a:t> списком чисел вместо дат. Попробуем для начала визуализировать </a:t>
            </a:r>
            <a:r>
              <a:rPr lang="en" dirty="0" err="1"/>
              <a:t>ExpandingWindowSplitter</a:t>
            </a:r>
            <a:endParaRPr lang="en" dirty="0"/>
          </a:p>
          <a:p>
            <a:r>
              <a:rPr lang="ru-RU" dirty="0"/>
              <a:t>Отметим что по своей </a:t>
            </a:r>
            <a:r>
              <a:rPr lang="ru-RU" dirty="0" err="1"/>
              <a:t>идеалогии</a:t>
            </a:r>
            <a:r>
              <a:rPr lang="ru-RU" dirty="0"/>
              <a:t> данная процедура аналогична тому, что модель бы тестировалась на поступающих данных в соответствующих рабочих </a:t>
            </a:r>
            <a:r>
              <a:rPr lang="ru-RU" dirty="0" err="1"/>
              <a:t>режмах</a:t>
            </a:r>
            <a:r>
              <a:rPr lang="ru-RU" dirty="0"/>
              <a:t>. При этом целью такого тестирования бы была оценка работоспособности модели. Другими словами тестирование гипотезы о необходимости сменить модель (например переобучить). Такая процедура называется </a:t>
            </a:r>
            <a:r>
              <a:rPr lang="en" dirty="0">
                <a:hlinkClick r:id="rId6"/>
              </a:rPr>
              <a:t>walk-forward validation</a:t>
            </a:r>
            <a:r>
              <a:rPr lang="en" dirty="0"/>
              <a:t>.</a:t>
            </a:r>
          </a:p>
          <a:p>
            <a:endParaRPr lang="ru-RU" dirty="0"/>
          </a:p>
        </p:txBody>
      </p:sp>
    </p:spTree>
    <p:extLst>
      <p:ext uri="{BB962C8B-B14F-4D97-AF65-F5344CB8AC3E}">
        <p14:creationId xmlns:p14="http://schemas.microsoft.com/office/powerpoint/2010/main" val="24456206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 y="136525"/>
            <a:ext cx="11719560" cy="671195"/>
          </a:xfrm>
        </p:spPr>
        <p:txBody>
          <a:bodyPr>
            <a:normAutofit fontScale="90000"/>
          </a:bodyPr>
          <a:lstStyle/>
          <a:p>
            <a:pPr algn="ctr"/>
            <a:r>
              <a:rPr lang="ru-RU" dirty="0" smtClean="0"/>
              <a:t>Пути оценки качества работы модели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a:xfrm>
                <a:off x="83820" y="807719"/>
                <a:ext cx="11849100" cy="5888356"/>
              </a:xfrm>
            </p:spPr>
            <p:txBody>
              <a:bodyPr>
                <a:normAutofit fontScale="92500" lnSpcReduction="10000"/>
              </a:bodyPr>
              <a:lstStyle/>
              <a:p>
                <a:pPr marL="0" indent="0">
                  <a:buNone/>
                </a:pPr>
                <a:r>
                  <a:rPr lang="ru-RU" sz="2200" b="1" dirty="0" smtClean="0"/>
                  <a:t>На </a:t>
                </a:r>
                <a:r>
                  <a:rPr lang="ru-RU" sz="2200" b="1" dirty="0"/>
                  <a:t>тренировочной выборке</a:t>
                </a:r>
              </a:p>
              <a:p>
                <a:pPr lvl="1"/>
                <a:r>
                  <a:rPr lang="ru-RU" sz="2000" b="1" dirty="0" smtClean="0"/>
                  <a:t>Оценка сложности модели</a:t>
                </a:r>
                <a:r>
                  <a:rPr lang="ru-RU" sz="2000" b="1" dirty="0"/>
                  <a:t> </a:t>
                </a:r>
                <a14:m>
                  <m:oMath xmlns:m="http://schemas.openxmlformats.org/officeDocument/2006/math">
                    <m:r>
                      <a:rPr lang="ru-RU" sz="2000" i="1">
                        <a:latin typeface="Cambria Math" panose="02040503050406030204" pitchFamily="18" charset="0"/>
                      </a:rPr>
                      <m:t>→</m:t>
                    </m:r>
                  </m:oMath>
                </a14:m>
                <a:r>
                  <a:rPr lang="ru-RU" sz="2000" dirty="0"/>
                  <a:t>сравнение с </a:t>
                </a:r>
                <a:r>
                  <a:rPr lang="ru-RU" sz="2000" dirty="0" err="1" smtClean="0"/>
                  <a:t>бейзлайн</a:t>
                </a:r>
                <a:r>
                  <a:rPr lang="ru-RU" sz="2000" dirty="0" smtClean="0"/>
                  <a:t> и моделей </a:t>
                </a:r>
              </a:p>
              <a:p>
                <a:pPr lvl="2"/>
                <a:r>
                  <a:rPr lang="ru-RU" dirty="0" smtClean="0"/>
                  <a:t>информационные критерии </a:t>
                </a:r>
                <a:r>
                  <a:rPr lang="ru-RU" dirty="0" err="1" smtClean="0"/>
                  <a:t>Акайке</a:t>
                </a:r>
                <a:r>
                  <a:rPr lang="en-US" dirty="0" smtClean="0"/>
                  <a:t> (AIC, </a:t>
                </a:r>
                <a:r>
                  <a:rPr lang="en-US" dirty="0" err="1" smtClean="0"/>
                  <a:t>AICc</a:t>
                </a:r>
                <a:r>
                  <a:rPr lang="en-US" dirty="0" smtClean="0"/>
                  <a:t>)</a:t>
                </a:r>
                <a:r>
                  <a:rPr lang="ru-RU" dirty="0" smtClean="0"/>
                  <a:t>, Шварца </a:t>
                </a:r>
                <a:r>
                  <a:rPr lang="en-US" dirty="0" smtClean="0"/>
                  <a:t>(BIC) </a:t>
                </a:r>
                <a:r>
                  <a:rPr lang="ru-RU" dirty="0" smtClean="0"/>
                  <a:t>и </a:t>
                </a:r>
                <a:r>
                  <a:rPr lang="ru-RU" dirty="0" err="1" smtClean="0"/>
                  <a:t>тд</a:t>
                </a:r>
                <a:r>
                  <a:rPr lang="ru-RU" dirty="0" smtClean="0"/>
                  <a:t> </a:t>
                </a:r>
              </a:p>
              <a:p>
                <a:pPr lvl="1"/>
                <a:r>
                  <a:rPr lang="ru-RU" sz="2000" b="1" dirty="0" smtClean="0"/>
                  <a:t>Анализ невязок </a:t>
                </a:r>
                <a:r>
                  <a:rPr lang="ru-RU" sz="2000" dirty="0" smtClean="0"/>
                  <a:t>(остатков, на тренировочной выборке!)</a:t>
                </a:r>
              </a:p>
              <a:p>
                <a:pPr lvl="2"/>
                <a:r>
                  <a:rPr lang="ru-RU" dirty="0" smtClean="0"/>
                  <a:t>Наличие информации, выбросов, распределение, </a:t>
                </a:r>
                <a:r>
                  <a:rPr lang="ru-RU" dirty="0" err="1" smtClean="0"/>
                  <a:t>гомосекдостичность</a:t>
                </a:r>
                <a:r>
                  <a:rPr lang="ru-RU" dirty="0" smtClean="0"/>
                  <a:t> и т.д.</a:t>
                </a:r>
              </a:p>
              <a:p>
                <a:pPr marL="0" indent="0">
                  <a:buNone/>
                </a:pPr>
                <a:r>
                  <a:rPr lang="ru-RU" sz="2200" b="1" dirty="0" smtClean="0"/>
                  <a:t>На тестовой </a:t>
                </a:r>
                <a:r>
                  <a:rPr lang="en-US" sz="2200" b="1" dirty="0" smtClean="0"/>
                  <a:t>vs </a:t>
                </a:r>
                <a:r>
                  <a:rPr lang="ru-RU" sz="2200" b="1" dirty="0" smtClean="0"/>
                  <a:t>тренировочной выборке</a:t>
                </a:r>
              </a:p>
              <a:p>
                <a:pPr lvl="1"/>
                <a:r>
                  <a:rPr lang="ru-RU" sz="2000" b="1" dirty="0" smtClean="0"/>
                  <a:t>Оценка средней точности </a:t>
                </a:r>
                <a:r>
                  <a:rPr lang="ru-RU" sz="2000" dirty="0" smtClean="0"/>
                  <a:t>(точечные метрики</a:t>
                </a:r>
                <a14:m>
                  <m:oMath xmlns:m="http://schemas.openxmlformats.org/officeDocument/2006/math">
                    <m:r>
                      <a:rPr lang="ru-RU" sz="2000" b="0" i="1" smtClean="0">
                        <a:latin typeface="Cambria Math" panose="02040503050406030204" pitchFamily="18" charset="0"/>
                      </a:rPr>
                      <m:t>→</m:t>
                    </m:r>
                  </m:oMath>
                </a14:m>
                <a:r>
                  <a:rPr lang="ru-RU" sz="2000" dirty="0" smtClean="0"/>
                  <a:t>сравнение с </a:t>
                </a:r>
                <a:r>
                  <a:rPr lang="ru-RU" sz="2000" dirty="0" err="1" smtClean="0"/>
                  <a:t>бейзлайн</a:t>
                </a:r>
                <a:r>
                  <a:rPr lang="ru-RU" sz="2000" dirty="0" smtClean="0"/>
                  <a:t>, </a:t>
                </a:r>
                <a:r>
                  <a:rPr lang="ru-RU" sz="2000" dirty="0" err="1" smtClean="0"/>
                  <a:t>переобученность</a:t>
                </a:r>
                <a:r>
                  <a:rPr lang="ru-RU" sz="2000" dirty="0" smtClean="0"/>
                  <a:t>)</a:t>
                </a:r>
              </a:p>
              <a:p>
                <a:pPr lvl="2"/>
                <a:r>
                  <a:rPr lang="en-US" dirty="0"/>
                  <a:t>RMSE</a:t>
                </a:r>
                <a:r>
                  <a:rPr lang="en-US" dirty="0" smtClean="0"/>
                  <a:t>, MAE, MASE</a:t>
                </a:r>
                <a:r>
                  <a:rPr lang="ru-RU" dirty="0" smtClean="0"/>
                  <a:t>, </a:t>
                </a:r>
                <a:r>
                  <a:rPr lang="en-US" dirty="0" err="1" smtClean="0"/>
                  <a:t>sMAPE</a:t>
                </a:r>
                <a:r>
                  <a:rPr lang="ru-RU" dirty="0" smtClean="0"/>
                  <a:t> </a:t>
                </a:r>
                <a14:m>
                  <m:oMath xmlns:m="http://schemas.openxmlformats.org/officeDocument/2006/math">
                    <m:r>
                      <a:rPr lang="en-US" b="0" i="1" smtClean="0">
                        <a:latin typeface="Cambria Math" panose="02040503050406030204" pitchFamily="18" charset="0"/>
                      </a:rPr>
                      <m:t> </m:t>
                    </m:r>
                  </m:oMath>
                </a14:m>
                <a:endParaRPr lang="ru-RU" dirty="0" smtClean="0"/>
              </a:p>
              <a:p>
                <a:pPr lvl="1"/>
                <a:r>
                  <a:rPr lang="ru-RU" sz="2000" b="1" dirty="0" smtClean="0"/>
                  <a:t>Оценка вероятностных метрик</a:t>
                </a:r>
              </a:p>
              <a:p>
                <a:pPr lvl="2"/>
                <a:r>
                  <a:rPr lang="ru-RU" dirty="0" smtClean="0"/>
                  <a:t>интервалов/квантилей/дисперсии/распределений</a:t>
                </a:r>
              </a:p>
              <a:p>
                <a:pPr marL="0" indent="0">
                  <a:buNone/>
                </a:pPr>
                <a:r>
                  <a:rPr lang="ru-RU" sz="2200" b="1" dirty="0" smtClean="0"/>
                  <a:t>На </a:t>
                </a:r>
                <a:r>
                  <a:rPr lang="ru-RU" sz="2200" b="1" dirty="0" err="1" smtClean="0"/>
                  <a:t>валидационной</a:t>
                </a:r>
                <a:r>
                  <a:rPr lang="ru-RU" sz="2200" b="1" dirty="0" smtClean="0"/>
                  <a:t> выборке </a:t>
                </a:r>
              </a:p>
              <a:p>
                <a:pPr lvl="1"/>
                <a:r>
                  <a:rPr lang="en-US" dirty="0" smtClean="0"/>
                  <a:t>walk </a:t>
                </a:r>
                <a:r>
                  <a:rPr lang="en-US" dirty="0"/>
                  <a:t>forward </a:t>
                </a:r>
                <a:r>
                  <a:rPr lang="en-US" dirty="0" smtClean="0"/>
                  <a:t> </a:t>
                </a:r>
                <a:r>
                  <a:rPr lang="ru-RU" dirty="0" smtClean="0"/>
                  <a:t>кросс-</a:t>
                </a:r>
                <a:r>
                  <a:rPr lang="ru-RU" dirty="0" err="1" smtClean="0"/>
                  <a:t>валидация</a:t>
                </a:r>
                <a:r>
                  <a:rPr lang="en-US" dirty="0" smtClean="0"/>
                  <a:t>  </a:t>
                </a:r>
                <a:endParaRPr lang="ru-RU" dirty="0" smtClean="0"/>
              </a:p>
              <a:p>
                <a:pPr lvl="1"/>
                <a:r>
                  <a:rPr lang="en-US" dirty="0" err="1" smtClean="0"/>
                  <a:t>backtesting</a:t>
                </a:r>
                <a:r>
                  <a:rPr lang="en-US" dirty="0" smtClean="0"/>
                  <a:t> </a:t>
                </a:r>
                <a:r>
                  <a:rPr lang="ru-RU" dirty="0" err="1" smtClean="0"/>
                  <a:t>валидация</a:t>
                </a:r>
                <a:endParaRPr lang="en-US" dirty="0" smtClean="0"/>
              </a:p>
              <a:p>
                <a:pPr lvl="1"/>
                <a:r>
                  <a:rPr lang="ru-RU" dirty="0" smtClean="0"/>
                  <a:t>стресс-тесты (сценарный анализ)</a:t>
                </a:r>
                <a:endParaRPr lang="ru-RU" dirty="0" smtClean="0"/>
              </a:p>
              <a:p>
                <a:pPr marL="0" indent="0">
                  <a:buNone/>
                </a:pPr>
                <a:r>
                  <a:rPr lang="ru-RU" b="1" i="1" dirty="0" smtClean="0"/>
                  <a:t>Мониторинг</a:t>
                </a:r>
              </a:p>
              <a:p>
                <a:pPr lvl="1"/>
                <a:r>
                  <a:rPr lang="ru-RU" sz="1800" i="1" dirty="0" smtClean="0"/>
                  <a:t>Анализ невязок, </a:t>
                </a:r>
              </a:p>
              <a:p>
                <a:pPr lvl="1"/>
                <a:r>
                  <a:rPr lang="ru-RU" sz="1800" i="1" dirty="0" smtClean="0"/>
                  <a:t>Тесты на </a:t>
                </a:r>
                <a:r>
                  <a:rPr lang="ru-RU" sz="1800" i="1" dirty="0" err="1" smtClean="0"/>
                  <a:t>дреф</a:t>
                </a:r>
                <a:r>
                  <a:rPr lang="ru-RU" sz="1800" i="1" dirty="0" smtClean="0"/>
                  <a:t> данных</a:t>
                </a:r>
                <a:r>
                  <a:rPr lang="en-US" sz="1800" i="1" dirty="0" smtClean="0"/>
                  <a:t>/</a:t>
                </a:r>
                <a:r>
                  <a:rPr lang="ru-RU" sz="1800" i="1" dirty="0" smtClean="0"/>
                  <a:t>концепта (уход среднего, изменение распределения ошибок, декомпозиция ВР)</a:t>
                </a:r>
              </a:p>
              <a:p>
                <a:pPr lvl="1"/>
                <a:r>
                  <a:rPr lang="ru-RU" sz="1800" i="1" dirty="0" smtClean="0"/>
                  <a:t>Контроль аномалий</a:t>
                </a:r>
                <a:endParaRPr lang="ru-RU" i="1" dirty="0"/>
              </a:p>
            </p:txBody>
          </p:sp>
        </mc:Choice>
        <mc:Fallback>
          <p:sp>
            <p:nvSpPr>
              <p:cNvPr id="3" name="Объект 2"/>
              <p:cNvSpPr>
                <a:spLocks noGrp="1" noRot="1" noChangeAspect="1" noMove="1" noResize="1" noEditPoints="1" noAdjustHandles="1" noChangeArrowheads="1" noChangeShapeType="1" noTextEdit="1"/>
              </p:cNvSpPr>
              <p:nvPr>
                <p:ph idx="1"/>
              </p:nvPr>
            </p:nvSpPr>
            <p:spPr>
              <a:xfrm>
                <a:off x="83820" y="807719"/>
                <a:ext cx="11849100" cy="5888356"/>
              </a:xfrm>
              <a:blipFill>
                <a:blip r:embed="rId2"/>
                <a:stretch>
                  <a:fillRect l="-926" t="-1449"/>
                </a:stretch>
              </a:blipFill>
            </p:spPr>
            <p:txBody>
              <a:bodyPr/>
              <a:lstStyle/>
              <a:p>
                <a:r>
                  <a:rPr lang="ru-RU">
                    <a:noFill/>
                  </a:rPr>
                  <a:t> </a:t>
                </a:r>
              </a:p>
            </p:txBody>
          </p:sp>
        </mc:Fallback>
      </mc:AlternateContent>
      <p:cxnSp>
        <p:nvCxnSpPr>
          <p:cNvPr id="5" name="Прямая соединительная линия 4"/>
          <p:cNvCxnSpPr/>
          <p:nvPr/>
        </p:nvCxnSpPr>
        <p:spPr>
          <a:xfrm>
            <a:off x="0" y="3854997"/>
            <a:ext cx="1060231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5552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3420" y="86574"/>
            <a:ext cx="11180379" cy="620220"/>
          </a:xfrm>
        </p:spPr>
        <p:txBody>
          <a:bodyPr>
            <a:normAutofit fontScale="90000"/>
          </a:bodyPr>
          <a:lstStyle/>
          <a:p>
            <a:pPr algn="ctr"/>
            <a:r>
              <a:rPr lang="en-US" b="1" dirty="0" smtClean="0"/>
              <a:t>Temporal split</a:t>
            </a:r>
            <a:endParaRPr lang="ru-RU" b="1" dirty="0"/>
          </a:p>
        </p:txBody>
      </p:sp>
      <p:sp>
        <p:nvSpPr>
          <p:cNvPr id="3" name="Объект 2"/>
          <p:cNvSpPr>
            <a:spLocks noGrp="1"/>
          </p:cNvSpPr>
          <p:nvPr>
            <p:ph idx="1"/>
          </p:nvPr>
        </p:nvSpPr>
        <p:spPr>
          <a:xfrm>
            <a:off x="307428" y="595072"/>
            <a:ext cx="11351172" cy="5191617"/>
          </a:xfrm>
        </p:spPr>
        <p:txBody>
          <a:bodyPr>
            <a:normAutofit/>
          </a:bodyPr>
          <a:lstStyle/>
          <a:p>
            <a:pPr marL="0" indent="0">
              <a:buNone/>
            </a:pPr>
            <a:r>
              <a:rPr lang="ru-RU" sz="2400" dirty="0" smtClean="0"/>
              <a:t>Очень важно понимать, что во временных рядах невозможна  классическая кросс-</a:t>
            </a:r>
            <a:r>
              <a:rPr lang="ru-RU" sz="2400" dirty="0" err="1" smtClean="0"/>
              <a:t>валидация</a:t>
            </a:r>
            <a:r>
              <a:rPr lang="ru-RU" sz="2400" dirty="0" smtClean="0"/>
              <a:t>. </a:t>
            </a:r>
            <a:endParaRPr lang="en-US" sz="2400" dirty="0" smtClean="0"/>
          </a:p>
          <a:p>
            <a:pPr marL="0" indent="0">
              <a:buNone/>
            </a:pPr>
            <a:r>
              <a:rPr lang="en-US" sz="2400" dirty="0"/>
              <a:t>	</a:t>
            </a:r>
            <a:r>
              <a:rPr lang="ru-RU" sz="2000" dirty="0" smtClean="0"/>
              <a:t>это приведет к потери паттернов и утечке данных</a:t>
            </a:r>
            <a:r>
              <a:rPr lang="en-US" sz="2000" dirty="0" smtClean="0"/>
              <a:t> </a:t>
            </a:r>
            <a:r>
              <a:rPr lang="ru-RU" sz="2000" dirty="0" smtClean="0"/>
              <a:t>их будущего (нарушение казуальности)</a:t>
            </a:r>
          </a:p>
          <a:p>
            <a:pPr marL="0" indent="0">
              <a:buNone/>
            </a:pPr>
            <a:r>
              <a:rPr lang="ru-RU" sz="2000" dirty="0"/>
              <a:t>	</a:t>
            </a:r>
            <a:r>
              <a:rPr lang="ru-RU" sz="2000" dirty="0" smtClean="0"/>
              <a:t>другими словами такая оценка метрик будет завышена (вероятность переобучения)</a:t>
            </a:r>
            <a:endParaRPr lang="ru-RU" sz="2000" dirty="0"/>
          </a:p>
          <a:p>
            <a:pPr marL="0" indent="0">
              <a:buNone/>
            </a:pPr>
            <a:r>
              <a:rPr lang="en-US" sz="2000" dirty="0"/>
              <a:t>Temporal </a:t>
            </a:r>
            <a:r>
              <a:rPr lang="en-US" sz="2000" dirty="0" smtClean="0"/>
              <a:t>Cross-Validation </a:t>
            </a:r>
            <a:r>
              <a:rPr lang="ru-RU" sz="2000" dirty="0" smtClean="0"/>
              <a:t>предполагает:</a:t>
            </a:r>
          </a:p>
          <a:p>
            <a:r>
              <a:rPr lang="ru-RU" sz="2000" dirty="0" err="1" smtClean="0"/>
              <a:t>Валидационная</a:t>
            </a:r>
            <a:r>
              <a:rPr lang="ru-RU" sz="2000" dirty="0" smtClean="0"/>
              <a:t> выборка идет после тренировочной.</a:t>
            </a:r>
          </a:p>
          <a:p>
            <a:pPr lvl="1"/>
            <a:r>
              <a:rPr lang="ru-RU" sz="1800" dirty="0" smtClean="0"/>
              <a:t>Тестовая выборка идет после </a:t>
            </a:r>
            <a:r>
              <a:rPr lang="ru-RU" sz="1800" dirty="0" err="1" smtClean="0"/>
              <a:t>валидационной</a:t>
            </a:r>
            <a:r>
              <a:rPr lang="ru-RU" sz="1800" dirty="0" smtClean="0"/>
              <a:t>.</a:t>
            </a:r>
          </a:p>
        </p:txBody>
      </p:sp>
      <p:sp>
        <p:nvSpPr>
          <p:cNvPr id="4" name="Прямоугольник 3"/>
          <p:cNvSpPr/>
          <p:nvPr/>
        </p:nvSpPr>
        <p:spPr>
          <a:xfrm>
            <a:off x="173420" y="6472812"/>
            <a:ext cx="2680798" cy="307777"/>
          </a:xfrm>
          <a:prstGeom prst="rect">
            <a:avLst/>
          </a:prstGeom>
        </p:spPr>
        <p:txBody>
          <a:bodyPr wrap="none">
            <a:spAutoFit/>
          </a:bodyPr>
          <a:lstStyle/>
          <a:p>
            <a:r>
              <a:rPr lang="ru-RU" sz="1400" dirty="0" smtClean="0"/>
              <a:t>https://otexts.com/fpp3/tscv.html</a:t>
            </a:r>
            <a:endParaRPr lang="ru-RU" sz="1400" dirty="0"/>
          </a:p>
        </p:txBody>
      </p:sp>
      <p:pic>
        <p:nvPicPr>
          <p:cNvPr id="2050" name="Picture 2" descr="machine learning - Temporal train-test split for forecasting - Stack  Over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161" y="3255735"/>
            <a:ext cx="5306447" cy="321707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486161" y="6462180"/>
            <a:ext cx="5705839" cy="276999"/>
          </a:xfrm>
          <a:prstGeom prst="rect">
            <a:avLst/>
          </a:prstGeom>
        </p:spPr>
        <p:txBody>
          <a:bodyPr wrap="square">
            <a:spAutoFit/>
          </a:bodyPr>
          <a:lstStyle/>
          <a:p>
            <a:r>
              <a:rPr lang="ru-RU" sz="1200" dirty="0"/>
              <a:t>https://stackoverflow.com/questions/62332528/temporal-train-test-split-for-forecasting</a:t>
            </a:r>
          </a:p>
        </p:txBody>
      </p:sp>
      <p:sp>
        <p:nvSpPr>
          <p:cNvPr id="6" name="Прямоугольник 5"/>
          <p:cNvSpPr/>
          <p:nvPr/>
        </p:nvSpPr>
        <p:spPr>
          <a:xfrm>
            <a:off x="2771775" y="6488200"/>
            <a:ext cx="4124857" cy="307777"/>
          </a:xfrm>
          <a:prstGeom prst="rect">
            <a:avLst/>
          </a:prstGeom>
        </p:spPr>
        <p:txBody>
          <a:bodyPr wrap="square">
            <a:spAutoFit/>
          </a:bodyPr>
          <a:lstStyle/>
          <a:p>
            <a:r>
              <a:rPr lang="ru-RU" sz="1400" dirty="0"/>
              <a:t>https://algotrading101.com/learn/train-test-split/</a:t>
            </a:r>
          </a:p>
        </p:txBody>
      </p:sp>
      <p:pic>
        <p:nvPicPr>
          <p:cNvPr id="2052" name="Picture 4" descr="https://cdn.shortpixel.ai/spai/q_lossy+w_730+to_webp+ret_img/algotrading101.com/learn/wp-content/uploads/2020/06/training-validation-test-data-s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025" y="3318602"/>
            <a:ext cx="4620609" cy="2487534"/>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631846" y="5825583"/>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12835389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en-US" dirty="0" smtClean="0"/>
              <a:t>Walk-forward </a:t>
            </a:r>
            <a:r>
              <a:rPr lang="ru-RU" dirty="0" smtClean="0"/>
              <a:t>кросс-</a:t>
            </a:r>
            <a:r>
              <a:rPr lang="ru-RU" dirty="0" err="1" smtClean="0"/>
              <a:t>валидация</a:t>
            </a:r>
            <a:r>
              <a:rPr lang="ru-RU" dirty="0" smtClean="0"/>
              <a:t> </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smtClean="0"/>
              <a:t>Особенность </a:t>
            </a:r>
            <a:r>
              <a:rPr lang="en-US" sz="2400" b="1" dirty="0" smtClean="0"/>
              <a:t>Temporal</a:t>
            </a:r>
            <a:r>
              <a:rPr lang="ru-RU" sz="2400" b="1" dirty="0" smtClean="0"/>
              <a:t> </a:t>
            </a:r>
            <a:r>
              <a:rPr lang="en-US" sz="2400" b="1" dirty="0" smtClean="0"/>
              <a:t>split – </a:t>
            </a:r>
            <a:r>
              <a:rPr lang="ru-RU" sz="2400" b="1" dirty="0" smtClean="0"/>
              <a:t>для нестационарных данных тест и </a:t>
            </a:r>
            <a:r>
              <a:rPr lang="ru-RU" sz="2400" b="1" dirty="0" err="1" smtClean="0"/>
              <a:t>трейн</a:t>
            </a:r>
            <a:r>
              <a:rPr lang="ru-RU" sz="2400" b="1" dirty="0" smtClean="0"/>
              <a:t> будут различаться.</a:t>
            </a:r>
          </a:p>
          <a:p>
            <a:pPr lvl="1"/>
            <a:r>
              <a:rPr lang="ru-RU" sz="2000" dirty="0" smtClean="0"/>
              <a:t>Вопросы: все ли паттерны </a:t>
            </a:r>
            <a:r>
              <a:rPr lang="ru-RU" sz="2000" dirty="0" err="1" smtClean="0"/>
              <a:t>трейн</a:t>
            </a:r>
            <a:r>
              <a:rPr lang="ru-RU" sz="2000" dirty="0" smtClean="0"/>
              <a:t> есть в тесте? </a:t>
            </a:r>
          </a:p>
          <a:p>
            <a:pPr lvl="1"/>
            <a:r>
              <a:rPr lang="ru-RU" sz="2000" dirty="0" smtClean="0"/>
              <a:t>Справедливы ли преобразования </a:t>
            </a:r>
            <a:r>
              <a:rPr lang="ru-RU" sz="2000" dirty="0" err="1" smtClean="0"/>
              <a:t>трейн</a:t>
            </a:r>
            <a:r>
              <a:rPr lang="ru-RU" sz="2000" dirty="0" smtClean="0"/>
              <a:t> к тесту.</a:t>
            </a:r>
          </a:p>
          <a:p>
            <a:pPr lvl="1"/>
            <a:r>
              <a:rPr lang="ru-RU" sz="2000" dirty="0" smtClean="0"/>
              <a:t>Весь ли тест соответствует </a:t>
            </a:r>
            <a:r>
              <a:rPr lang="ru-RU" sz="2000" dirty="0" err="1" smtClean="0"/>
              <a:t>трейну</a:t>
            </a:r>
            <a:r>
              <a:rPr lang="ru-RU" sz="2000" dirty="0" smtClean="0"/>
              <a:t> и насколько допустимо отклонение?</a:t>
            </a:r>
          </a:p>
          <a:p>
            <a:r>
              <a:rPr lang="ru-RU" sz="2000" dirty="0" smtClean="0"/>
              <a:t>Для повышения надежности возможны несколько типов кросс </a:t>
            </a:r>
            <a:r>
              <a:rPr lang="ru-RU" sz="2000" dirty="0" err="1" smtClean="0"/>
              <a:t>валидации</a:t>
            </a:r>
            <a:r>
              <a:rPr lang="en-US" sz="2000" dirty="0" smtClean="0"/>
              <a:t> c </a:t>
            </a:r>
            <a:r>
              <a:rPr lang="ru-RU" sz="2000" dirty="0" smtClean="0"/>
              <a:t>симуляцией проявления различных эффектов в </a:t>
            </a:r>
            <a:r>
              <a:rPr lang="ru-RU" sz="2000" dirty="0" err="1" smtClean="0"/>
              <a:t>валидационной</a:t>
            </a:r>
            <a:r>
              <a:rPr lang="ru-RU" sz="2000" dirty="0" smtClean="0"/>
              <a:t> выборке </a:t>
            </a:r>
            <a:endParaRPr lang="ru-RU" sz="2000" dirty="0"/>
          </a:p>
        </p:txBody>
      </p:sp>
      <p:sp>
        <p:nvSpPr>
          <p:cNvPr id="4" name="Прямоугольник 3"/>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21" y="3449711"/>
            <a:ext cx="5283950" cy="29996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14" y="3449711"/>
            <a:ext cx="5211082" cy="3043272"/>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530155" y="6234897"/>
            <a:ext cx="4420184" cy="369332"/>
          </a:xfrm>
          <a:prstGeom prst="rect">
            <a:avLst/>
          </a:prstGeom>
        </p:spPr>
        <p:txBody>
          <a:bodyPr wrap="none">
            <a:spAutoFit/>
          </a:bodyPr>
          <a:lstStyle/>
          <a:p>
            <a:r>
              <a:rPr lang="ru-RU" dirty="0" smtClean="0"/>
              <a:t>Кросс-</a:t>
            </a:r>
            <a:r>
              <a:rPr lang="ru-RU" dirty="0" err="1" smtClean="0"/>
              <a:t>валидация</a:t>
            </a:r>
            <a:r>
              <a:rPr lang="ru-RU" dirty="0" smtClean="0"/>
              <a:t> </a:t>
            </a:r>
            <a:r>
              <a:rPr lang="ru-RU" dirty="0" smtClean="0"/>
              <a:t>со </a:t>
            </a:r>
            <a:r>
              <a:rPr lang="ru-RU" dirty="0" smtClean="0"/>
              <a:t>смещающимся окном </a:t>
            </a:r>
            <a:endParaRPr lang="ru-RU" dirty="0"/>
          </a:p>
        </p:txBody>
      </p:sp>
      <p:sp>
        <p:nvSpPr>
          <p:cNvPr id="8" name="Прямоугольник 7"/>
          <p:cNvSpPr/>
          <p:nvPr/>
        </p:nvSpPr>
        <p:spPr>
          <a:xfrm>
            <a:off x="6820377" y="6182973"/>
            <a:ext cx="4500335" cy="369332"/>
          </a:xfrm>
          <a:prstGeom prst="rect">
            <a:avLst/>
          </a:prstGeom>
        </p:spPr>
        <p:txBody>
          <a:bodyPr wrap="none">
            <a:spAutoFit/>
          </a:bodyPr>
          <a:lstStyle/>
          <a:p>
            <a:r>
              <a:rPr lang="ru-RU" dirty="0" smtClean="0"/>
              <a:t>Кросс-</a:t>
            </a:r>
            <a:r>
              <a:rPr lang="ru-RU" dirty="0" err="1" smtClean="0"/>
              <a:t>валидация</a:t>
            </a:r>
            <a:r>
              <a:rPr lang="ru-RU" dirty="0" smtClean="0"/>
              <a:t> с расширяющимся окном </a:t>
            </a:r>
            <a:endParaRPr lang="ru-RU" dirty="0"/>
          </a:p>
        </p:txBody>
      </p:sp>
      <p:sp>
        <p:nvSpPr>
          <p:cNvPr id="5" name="Прямоугольник 4"/>
          <p:cNvSpPr/>
          <p:nvPr/>
        </p:nvSpPr>
        <p:spPr>
          <a:xfrm>
            <a:off x="3129038" y="3286179"/>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26881639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sp>
        <p:nvSpPr>
          <p:cNvPr id="3" name="Объект 2"/>
          <p:cNvSpPr>
            <a:spLocks noGrp="1"/>
          </p:cNvSpPr>
          <p:nvPr>
            <p:ph idx="1"/>
          </p:nvPr>
        </p:nvSpPr>
        <p:spPr>
          <a:xfrm>
            <a:off x="307428" y="623394"/>
            <a:ext cx="11351172" cy="5191617"/>
          </a:xfrm>
        </p:spPr>
        <p:txBody>
          <a:bodyPr/>
          <a:lstStyle/>
          <a:p>
            <a:pPr>
              <a:lnSpc>
                <a:spcPct val="100000"/>
              </a:lnSpc>
              <a:spcBef>
                <a:spcPts val="0"/>
              </a:spcBef>
            </a:pPr>
            <a:r>
              <a:rPr lang="ru-RU" sz="2400" b="1" dirty="0" smtClean="0"/>
              <a:t>кросс-</a:t>
            </a:r>
            <a:r>
              <a:rPr lang="ru-RU" sz="2400" b="1" dirty="0" err="1" smtClean="0"/>
              <a:t>валидация</a:t>
            </a:r>
            <a:r>
              <a:rPr lang="ru-RU" sz="2400" dirty="0" smtClean="0"/>
              <a:t> — оценка обобщающей способности модели и настройка </a:t>
            </a:r>
            <a:r>
              <a:rPr lang="ru-RU" sz="2400" dirty="0" err="1" smtClean="0"/>
              <a:t>гиперпараметров</a:t>
            </a:r>
            <a:endParaRPr lang="ru-RU" sz="2400" dirty="0" smtClean="0"/>
          </a:p>
          <a:p>
            <a:pPr lvl="1">
              <a:lnSpc>
                <a:spcPct val="100000"/>
              </a:lnSpc>
              <a:spcBef>
                <a:spcPts val="0"/>
              </a:spcBef>
            </a:pPr>
            <a:r>
              <a:rPr lang="ru-RU" sz="2200" dirty="0" smtClean="0"/>
              <a:t>многократная итерация на последовательных обучающих и </a:t>
            </a:r>
            <a:r>
              <a:rPr lang="ru-RU" sz="2200" dirty="0" err="1" smtClean="0"/>
              <a:t>валидационных</a:t>
            </a:r>
            <a:r>
              <a:rPr lang="ru-RU" sz="2200" dirty="0" smtClean="0"/>
              <a:t> </a:t>
            </a:r>
            <a:r>
              <a:rPr lang="ru-RU" sz="2200" dirty="0" err="1" smtClean="0"/>
              <a:t>подвыборках</a:t>
            </a:r>
            <a:r>
              <a:rPr lang="ru-RU" sz="2200" dirty="0" smtClean="0"/>
              <a:t>.</a:t>
            </a:r>
          </a:p>
          <a:p>
            <a:pPr lvl="1">
              <a:lnSpc>
                <a:spcPct val="100000"/>
              </a:lnSpc>
              <a:spcBef>
                <a:spcPts val="0"/>
              </a:spcBef>
            </a:pPr>
            <a:r>
              <a:rPr lang="ru-RU" sz="2200" dirty="0" smtClean="0"/>
              <a:t>Цель – разработка модели (усредненная оценка, аналог </a:t>
            </a:r>
            <a:r>
              <a:rPr lang="en-US" sz="2200" dirty="0" smtClean="0"/>
              <a:t>k-folds)</a:t>
            </a:r>
            <a:r>
              <a:rPr lang="ru-RU" sz="2200" dirty="0" smtClean="0"/>
              <a:t>. </a:t>
            </a:r>
          </a:p>
          <a:p>
            <a:pPr lvl="2">
              <a:lnSpc>
                <a:spcPct val="100000"/>
              </a:lnSpc>
              <a:spcBef>
                <a:spcPts val="0"/>
              </a:spcBef>
            </a:pPr>
            <a:r>
              <a:rPr lang="ru-RU" sz="1800" dirty="0" smtClean="0"/>
              <a:t>Модель переобучают.</a:t>
            </a:r>
          </a:p>
          <a:p>
            <a:pPr>
              <a:lnSpc>
                <a:spcPct val="100000"/>
              </a:lnSpc>
              <a:spcBef>
                <a:spcPts val="0"/>
              </a:spcBef>
            </a:pPr>
            <a:r>
              <a:rPr lang="ru-RU" sz="2400" b="1" dirty="0" err="1" smtClean="0"/>
              <a:t>Backtesting</a:t>
            </a:r>
            <a:r>
              <a:rPr lang="ru-RU" sz="2400" dirty="0" smtClean="0"/>
              <a:t> — проверка конкретной модели на исторических данных (как будто результаты прогона)</a:t>
            </a:r>
          </a:p>
          <a:p>
            <a:pPr lvl="1">
              <a:lnSpc>
                <a:spcPct val="100000"/>
              </a:lnSpc>
              <a:spcBef>
                <a:spcPts val="0"/>
              </a:spcBef>
            </a:pPr>
            <a:r>
              <a:rPr lang="ru-RU" sz="2200" dirty="0" smtClean="0"/>
              <a:t>однократное обучение и проверка на всей доступной истории (разделенных на </a:t>
            </a:r>
            <a:r>
              <a:rPr lang="ru-RU" sz="2200" dirty="0" err="1" smtClean="0"/>
              <a:t>подвыборки</a:t>
            </a:r>
            <a:r>
              <a:rPr lang="ru-RU" sz="2200" dirty="0" smtClean="0"/>
              <a:t>)</a:t>
            </a:r>
          </a:p>
          <a:p>
            <a:pPr lvl="1">
              <a:lnSpc>
                <a:spcPct val="100000"/>
              </a:lnSpc>
              <a:spcBef>
                <a:spcPts val="0"/>
              </a:spcBef>
            </a:pPr>
            <a:r>
              <a:rPr lang="ru-RU" sz="2200" dirty="0" smtClean="0"/>
              <a:t>Цель – проверка готовой модели на разных типах данных (в различных условиях).</a:t>
            </a:r>
          </a:p>
          <a:p>
            <a:pPr lvl="2">
              <a:lnSpc>
                <a:spcPct val="100000"/>
              </a:lnSpc>
              <a:spcBef>
                <a:spcPts val="0"/>
              </a:spcBef>
            </a:pPr>
            <a:r>
              <a:rPr lang="ru-RU" sz="1800" dirty="0" smtClean="0"/>
              <a:t>Модель не переобучают</a:t>
            </a:r>
          </a:p>
          <a:p>
            <a:pPr marL="0" indent="0">
              <a:lnSpc>
                <a:spcPct val="100000"/>
              </a:lnSpc>
              <a:spcBef>
                <a:spcPts val="0"/>
              </a:spcBef>
              <a:buNone/>
            </a:pPr>
            <a:r>
              <a:rPr lang="ru-RU" sz="2400" u="sng" dirty="0" smtClean="0"/>
              <a:t>Сегодня часто эти термины перемешивают </a:t>
            </a:r>
            <a:r>
              <a:rPr lang="en-US" sz="2400" u="sng" dirty="0" smtClean="0"/>
              <a:t>!</a:t>
            </a:r>
            <a:r>
              <a:rPr lang="ru-RU" sz="2600" dirty="0"/>
              <a:t/>
            </a:r>
            <a:br>
              <a:rPr lang="ru-RU" sz="2600" dirty="0"/>
            </a:br>
            <a:endParaRPr lang="ru-RU" sz="2600"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05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7" y="5107684"/>
            <a:ext cx="5192929" cy="1541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449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05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7" y="5107684"/>
            <a:ext cx="5192929" cy="15419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Объект 5"/>
          <p:cNvGraphicFramePr>
            <a:graphicFrameLocks noGrp="1"/>
          </p:cNvGraphicFramePr>
          <p:nvPr>
            <p:ph idx="1"/>
            <p:extLst>
              <p:ext uri="{D42A27DB-BD31-4B8C-83A1-F6EECF244321}">
                <p14:modId xmlns:p14="http://schemas.microsoft.com/office/powerpoint/2010/main" val="2921030741"/>
              </p:ext>
            </p:extLst>
          </p:nvPr>
        </p:nvGraphicFramePr>
        <p:xfrm>
          <a:off x="402020" y="832905"/>
          <a:ext cx="11454699" cy="4236720"/>
        </p:xfrm>
        <a:graphic>
          <a:graphicData uri="http://schemas.openxmlformats.org/drawingml/2006/table">
            <a:tbl>
              <a:tblPr firstRow="1" bandRow="1">
                <a:tableStyleId>{5C22544A-7EE6-4342-B048-85BDC9FD1C3A}</a:tableStyleId>
              </a:tblPr>
              <a:tblGrid>
                <a:gridCol w="2546920">
                  <a:extLst>
                    <a:ext uri="{9D8B030D-6E8A-4147-A177-3AD203B41FA5}">
                      <a16:colId xmlns:a16="http://schemas.microsoft.com/office/drawing/2014/main" val="4132279073"/>
                    </a:ext>
                  </a:extLst>
                </a:gridCol>
                <a:gridCol w="4373880">
                  <a:extLst>
                    <a:ext uri="{9D8B030D-6E8A-4147-A177-3AD203B41FA5}">
                      <a16:colId xmlns:a16="http://schemas.microsoft.com/office/drawing/2014/main" val="2543135473"/>
                    </a:ext>
                  </a:extLst>
                </a:gridCol>
                <a:gridCol w="4533899">
                  <a:extLst>
                    <a:ext uri="{9D8B030D-6E8A-4147-A177-3AD203B41FA5}">
                      <a16:colId xmlns:a16="http://schemas.microsoft.com/office/drawing/2014/main" val="1605401998"/>
                    </a:ext>
                  </a:extLst>
                </a:gridCol>
              </a:tblGrid>
              <a:tr h="374643">
                <a:tc>
                  <a:txBody>
                    <a:bodyPr/>
                    <a:lstStyle/>
                    <a:p>
                      <a:r>
                        <a:rPr lang="ru-RU" sz="2200" dirty="0" err="1" smtClean="0"/>
                        <a:t>Backtesting</a:t>
                      </a:r>
                      <a:endParaRPr lang="ru-RU" sz="2200" dirty="0"/>
                    </a:p>
                  </a:txBody>
                  <a:tcPr/>
                </a:tc>
                <a:tc>
                  <a:txBody>
                    <a:bodyPr/>
                    <a:lstStyle/>
                    <a:p>
                      <a:r>
                        <a:rPr lang="en-US" sz="2200" b="0" i="0" kern="1200" dirty="0" smtClean="0">
                          <a:solidFill>
                            <a:schemeClr val="lt1"/>
                          </a:solidFill>
                          <a:effectLst/>
                          <a:latin typeface="+mn-lt"/>
                          <a:ea typeface="+mn-ea"/>
                          <a:cs typeface="+mn-cs"/>
                        </a:rPr>
                        <a:t>Walk-forward </a:t>
                      </a:r>
                      <a:r>
                        <a:rPr lang="en-US" sz="2200" dirty="0" smtClean="0"/>
                        <a:t>Cross-validation</a:t>
                      </a:r>
                      <a:endParaRPr lang="ru-RU" sz="2200" dirty="0"/>
                    </a:p>
                  </a:txBody>
                  <a:tcPr/>
                </a:tc>
                <a:tc>
                  <a:txBody>
                    <a:bodyPr/>
                    <a:lstStyle/>
                    <a:p>
                      <a:r>
                        <a:rPr lang="ru-RU" sz="2200" dirty="0" err="1" smtClean="0"/>
                        <a:t>Backtesting</a:t>
                      </a:r>
                      <a:endParaRPr lang="ru-RU" sz="2200" dirty="0"/>
                    </a:p>
                  </a:txBody>
                  <a:tcPr/>
                </a:tc>
                <a:extLst>
                  <a:ext uri="{0D108BD9-81ED-4DB2-BD59-A6C34878D82A}">
                    <a16:rowId xmlns:a16="http://schemas.microsoft.com/office/drawing/2014/main" val="1764855998"/>
                  </a:ext>
                </a:extLst>
              </a:tr>
              <a:tr h="370840">
                <a:tc>
                  <a:txBody>
                    <a:bodyPr/>
                    <a:lstStyle/>
                    <a:p>
                      <a:r>
                        <a:rPr lang="ru-RU" sz="2200" dirty="0" smtClean="0"/>
                        <a:t>аналогия</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Аналог</a:t>
                      </a:r>
                      <a:r>
                        <a:rPr lang="ru-RU" sz="2200" baseline="0" dirty="0" smtClean="0"/>
                        <a:t> </a:t>
                      </a:r>
                      <a:r>
                        <a:rPr lang="en-US" sz="2200" baseline="0" dirty="0" smtClean="0"/>
                        <a:t>k-folds</a:t>
                      </a:r>
                      <a:endParaRPr lang="ru-RU" sz="2200" dirty="0"/>
                    </a:p>
                  </a:txBody>
                  <a:tcPr/>
                </a:tc>
                <a:tc>
                  <a:txBody>
                    <a:bodyPr/>
                    <a:lstStyle/>
                    <a:p>
                      <a:r>
                        <a:rPr lang="ru-RU" sz="2200" dirty="0" smtClean="0"/>
                        <a:t>Аналог</a:t>
                      </a:r>
                      <a:r>
                        <a:rPr lang="ru-RU" sz="2200" baseline="0" dirty="0" smtClean="0"/>
                        <a:t> тестирования модели</a:t>
                      </a:r>
                      <a:endParaRPr lang="ru-RU" sz="2200" dirty="0"/>
                    </a:p>
                  </a:txBody>
                  <a:tcPr/>
                </a:tc>
                <a:extLst>
                  <a:ext uri="{0D108BD9-81ED-4DB2-BD59-A6C34878D82A}">
                    <a16:rowId xmlns:a16="http://schemas.microsoft.com/office/drawing/2014/main" val="4058516520"/>
                  </a:ext>
                </a:extLst>
              </a:tr>
              <a:tr h="370840">
                <a:tc>
                  <a:txBody>
                    <a:bodyPr/>
                    <a:lstStyle/>
                    <a:p>
                      <a:r>
                        <a:rPr lang="ru-RU" sz="2200" dirty="0" smtClean="0"/>
                        <a:t>цели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Оценка реальной точности,</a:t>
                      </a:r>
                      <a:r>
                        <a:rPr lang="ru-RU" sz="2200" baseline="0" dirty="0" smtClean="0"/>
                        <a:t> выбор </a:t>
                      </a:r>
                      <a:r>
                        <a:rPr lang="ru-RU" sz="2200" baseline="0" dirty="0" err="1" smtClean="0"/>
                        <a:t>гиперпараметров</a:t>
                      </a:r>
                      <a:endParaRPr lang="ru-RU" sz="2200" dirty="0"/>
                    </a:p>
                  </a:txBody>
                  <a:tcPr/>
                </a:tc>
                <a:tc>
                  <a:txBody>
                    <a:bodyPr/>
                    <a:lstStyle/>
                    <a:p>
                      <a:r>
                        <a:rPr lang="ru-RU" sz="2200" dirty="0" smtClean="0"/>
                        <a:t>Выявление особенностей работы готовой модели на «будущих данных»</a:t>
                      </a:r>
                      <a:endParaRPr lang="ru-RU" sz="2200" dirty="0"/>
                    </a:p>
                  </a:txBody>
                  <a:tcPr/>
                </a:tc>
                <a:extLst>
                  <a:ext uri="{0D108BD9-81ED-4DB2-BD59-A6C34878D82A}">
                    <a16:rowId xmlns:a16="http://schemas.microsoft.com/office/drawing/2014/main" val="3399391555"/>
                  </a:ext>
                </a:extLst>
              </a:tr>
              <a:tr h="370840">
                <a:tc>
                  <a:txBody>
                    <a:bodyPr/>
                    <a:lstStyle/>
                    <a:p>
                      <a:r>
                        <a:rPr lang="ru-RU" sz="2200" dirty="0" smtClean="0"/>
                        <a:t>Обучение</a:t>
                      </a:r>
                      <a:r>
                        <a:rPr lang="ru-RU" sz="2200" baseline="0" dirty="0" smtClean="0"/>
                        <a:t> модели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обучение</a:t>
                      </a:r>
                      <a:r>
                        <a:rPr lang="ru-RU" sz="2200" baseline="0" dirty="0" smtClean="0"/>
                        <a:t> на </a:t>
                      </a:r>
                      <a:r>
                        <a:rPr lang="ru-RU" sz="2200" baseline="0" dirty="0" err="1" smtClean="0"/>
                        <a:t>фолдах</a:t>
                      </a:r>
                      <a:endParaRPr lang="ru-RU" sz="2200" dirty="0"/>
                    </a:p>
                  </a:txBody>
                  <a:tcPr/>
                </a:tc>
                <a:tc>
                  <a:txBody>
                    <a:bodyPr/>
                    <a:lstStyle/>
                    <a:p>
                      <a:r>
                        <a:rPr lang="ru-RU" sz="2200" dirty="0" smtClean="0"/>
                        <a:t>Не предполагает </a:t>
                      </a:r>
                      <a:r>
                        <a:rPr lang="ru-RU" sz="2200" dirty="0" smtClean="0"/>
                        <a:t>обучения на </a:t>
                      </a:r>
                      <a:r>
                        <a:rPr lang="ru-RU" sz="2200" dirty="0" err="1" smtClean="0"/>
                        <a:t>фолдах</a:t>
                      </a:r>
                      <a:endParaRPr lang="ru-RU" sz="2200" dirty="0"/>
                    </a:p>
                  </a:txBody>
                  <a:tcPr/>
                </a:tc>
                <a:extLst>
                  <a:ext uri="{0D108BD9-81ED-4DB2-BD59-A6C34878D82A}">
                    <a16:rowId xmlns:a16="http://schemas.microsoft.com/office/drawing/2014/main" val="1203778377"/>
                  </a:ext>
                </a:extLst>
              </a:tr>
              <a:tr h="370840">
                <a:tc>
                  <a:txBody>
                    <a:bodyPr/>
                    <a:lstStyle/>
                    <a:p>
                      <a:r>
                        <a:rPr lang="ru-RU" sz="2200" b="0" i="0" kern="1200" dirty="0" smtClean="0">
                          <a:solidFill>
                            <a:schemeClr val="dk1"/>
                          </a:solidFill>
                          <a:effectLst/>
                          <a:latin typeface="+mn-lt"/>
                          <a:ea typeface="+mn-ea"/>
                          <a:cs typeface="+mn-cs"/>
                        </a:rPr>
                        <a:t>Примеры</a:t>
                      </a:r>
                      <a:r>
                        <a:rPr lang="ru-RU" sz="2200" b="0" i="0" kern="1200" baseline="0" dirty="0" smtClean="0">
                          <a:solidFill>
                            <a:schemeClr val="dk1"/>
                          </a:solidFill>
                          <a:effectLst/>
                          <a:latin typeface="+mn-lt"/>
                          <a:ea typeface="+mn-ea"/>
                          <a:cs typeface="+mn-cs"/>
                        </a:rPr>
                        <a:t> </a:t>
                      </a:r>
                      <a:r>
                        <a:rPr lang="ru-RU" sz="2200" b="0" i="0" kern="1200" dirty="0" smtClean="0">
                          <a:solidFill>
                            <a:schemeClr val="dk1"/>
                          </a:solidFill>
                          <a:effectLst/>
                          <a:latin typeface="+mn-lt"/>
                          <a:ea typeface="+mn-ea"/>
                          <a:cs typeface="+mn-cs"/>
                        </a:rPr>
                        <a:t>методов</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sliding window validation</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Expanding window validation</a:t>
                      </a:r>
                      <a:endParaRPr lang="ru-RU" sz="2200" dirty="0"/>
                    </a:p>
                  </a:txBody>
                  <a:tcPr/>
                </a:tc>
                <a:tc>
                  <a:txBody>
                    <a:bodyPr/>
                    <a:lstStyle/>
                    <a:p>
                      <a:r>
                        <a:rPr lang="en-US" sz="2200" b="0" i="0" kern="1200" dirty="0" smtClean="0">
                          <a:solidFill>
                            <a:schemeClr val="dk1"/>
                          </a:solidFill>
                          <a:effectLst/>
                          <a:latin typeface="+mn-lt"/>
                          <a:ea typeface="+mn-ea"/>
                          <a:cs typeface="+mn-cs"/>
                        </a:rPr>
                        <a:t>Multiple horizon </a:t>
                      </a:r>
                      <a:r>
                        <a:rPr lang="en-US" sz="2200" b="0" i="0" kern="1200" dirty="0" smtClean="0">
                          <a:solidFill>
                            <a:schemeClr val="dk1"/>
                          </a:solidFill>
                          <a:effectLst/>
                          <a:latin typeface="+mn-lt"/>
                          <a:ea typeface="+mn-ea"/>
                          <a:cs typeface="+mn-cs"/>
                        </a:rPr>
                        <a:t>evaluation</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Stress/Scenario-based testing</a:t>
                      </a:r>
                      <a:endParaRPr lang="ru-RU" sz="2200" dirty="0"/>
                    </a:p>
                  </a:txBody>
                  <a:tcPr/>
                </a:tc>
                <a:extLst>
                  <a:ext uri="{0D108BD9-81ED-4DB2-BD59-A6C34878D82A}">
                    <a16:rowId xmlns:a16="http://schemas.microsoft.com/office/drawing/2014/main" val="1616899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Примеры статистик</a:t>
                      </a:r>
                      <a:endParaRPr lang="ru-RU" sz="2200" dirty="0"/>
                    </a:p>
                  </a:txBody>
                  <a:tcPr/>
                </a:tc>
                <a:tc>
                  <a:txBody>
                    <a:bodyPr/>
                    <a:lstStyle/>
                    <a:p>
                      <a:r>
                        <a:rPr lang="ru-RU" sz="2200" dirty="0" smtClean="0"/>
                        <a:t>Разброс</a:t>
                      </a:r>
                      <a:r>
                        <a:rPr lang="ru-RU" sz="2200" baseline="0" dirty="0" smtClean="0"/>
                        <a:t> и среднее ошибки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Cumulative error analysis</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2200" b="0" i="0" kern="1200" dirty="0" smtClean="0">
                          <a:solidFill>
                            <a:schemeClr val="dk1"/>
                          </a:solidFill>
                          <a:effectLst/>
                          <a:latin typeface="+mn-lt"/>
                          <a:ea typeface="+mn-ea"/>
                          <a:cs typeface="+mn-cs"/>
                        </a:rPr>
                        <a:t>Устойчивость к выбросам и дрейфу</a:t>
                      </a:r>
                      <a:endParaRPr lang="ru-RU" sz="2200" dirty="0"/>
                    </a:p>
                  </a:txBody>
                  <a:tcPr/>
                </a:tc>
                <a:extLst>
                  <a:ext uri="{0D108BD9-81ED-4DB2-BD59-A6C34878D82A}">
                    <a16:rowId xmlns:a16="http://schemas.microsoft.com/office/drawing/2014/main" val="2178355885"/>
                  </a:ext>
                </a:extLst>
              </a:tr>
            </a:tbl>
          </a:graphicData>
        </a:graphic>
      </p:graphicFrame>
    </p:spTree>
    <p:extLst>
      <p:ext uri="{BB962C8B-B14F-4D97-AF65-F5344CB8AC3E}">
        <p14:creationId xmlns:p14="http://schemas.microsoft.com/office/powerpoint/2010/main" val="34161334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ru-RU" dirty="0" smtClean="0"/>
              <a:t>Преимущества</a:t>
            </a:r>
            <a:r>
              <a:rPr lang="en-US" dirty="0"/>
              <a:t> Walk-forward</a:t>
            </a:r>
            <a:r>
              <a:rPr lang="ru-RU" dirty="0" smtClean="0"/>
              <a:t> </a:t>
            </a:r>
            <a:r>
              <a:rPr lang="en-US" dirty="0" smtClean="0"/>
              <a:t>cross validation</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smtClean="0"/>
              <a:t> </a:t>
            </a:r>
            <a:endParaRPr lang="ru-RU" sz="2400" dirty="0"/>
          </a:p>
        </p:txBody>
      </p:sp>
      <p:sp>
        <p:nvSpPr>
          <p:cNvPr id="4" name="Прямоугольник 3"/>
          <p:cNvSpPr/>
          <p:nvPr/>
        </p:nvSpPr>
        <p:spPr>
          <a:xfrm>
            <a:off x="6386813" y="6437836"/>
            <a:ext cx="5732338" cy="307777"/>
          </a:xfrm>
          <a:prstGeom prst="rect">
            <a:avLst/>
          </a:prstGeom>
        </p:spPr>
        <p:txBody>
          <a:bodyPr wrap="none">
            <a:spAutoFit/>
          </a:bodyPr>
          <a:lstStyle/>
          <a:p>
            <a:r>
              <a:rPr lang="en-US" sz="1400" b="1" dirty="0"/>
              <a:t>https://github.com/tinkoff-ai/etna/blob/master/examples/backtest.ipynb</a:t>
            </a:r>
            <a:endParaRPr lang="ru-RU" sz="1400" b="1" dirty="0"/>
          </a:p>
        </p:txBody>
      </p:sp>
      <p:sp>
        <p:nvSpPr>
          <p:cNvPr id="7" name="Прямоугольник 6"/>
          <p:cNvSpPr/>
          <p:nvPr/>
        </p:nvSpPr>
        <p:spPr>
          <a:xfrm>
            <a:off x="473220" y="5268286"/>
            <a:ext cx="6016383" cy="1323439"/>
          </a:xfrm>
          <a:prstGeom prst="rect">
            <a:avLst/>
          </a:prstGeom>
        </p:spPr>
        <p:txBody>
          <a:bodyPr wrap="square">
            <a:spAutoFit/>
          </a:bodyPr>
          <a:lstStyle/>
          <a:p>
            <a:r>
              <a:rPr lang="ru-RU" sz="2000" i="1" u="sng" dirty="0" smtClean="0"/>
              <a:t>Иногда модель дополнительно тестируют на перевернутом</a:t>
            </a:r>
          </a:p>
          <a:p>
            <a:r>
              <a:rPr lang="ru-RU" sz="2000" i="1" u="sng" dirty="0" smtClean="0"/>
              <a:t> временном ряду для повышения надежности выводов  </a:t>
            </a:r>
            <a:endParaRPr lang="ru-RU" sz="2000" i="1" u="sng" dirty="0"/>
          </a:p>
        </p:txBody>
      </p:sp>
      <p:pic>
        <p:nvPicPr>
          <p:cNvPr id="6" name="Рисунок 5"/>
          <p:cNvPicPr>
            <a:picLocks noChangeAspect="1"/>
          </p:cNvPicPr>
          <p:nvPr/>
        </p:nvPicPr>
        <p:blipFill>
          <a:blip r:embed="rId2"/>
          <a:stretch>
            <a:fillRect/>
          </a:stretch>
        </p:blipFill>
        <p:spPr>
          <a:xfrm>
            <a:off x="6579501" y="3266272"/>
            <a:ext cx="5257980" cy="2926270"/>
          </a:xfrm>
          <a:prstGeom prst="rect">
            <a:avLst/>
          </a:prstGeom>
        </p:spPr>
      </p:pic>
      <p:sp>
        <p:nvSpPr>
          <p:cNvPr id="12" name="Объект 2"/>
          <p:cNvSpPr txBox="1">
            <a:spLocks/>
          </p:cNvSpPr>
          <p:nvPr/>
        </p:nvSpPr>
        <p:spPr>
          <a:xfrm>
            <a:off x="310136" y="753168"/>
            <a:ext cx="11706225" cy="5176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smtClean="0"/>
              <a:t>Снижение смещения оценки </a:t>
            </a:r>
            <a:r>
              <a:rPr lang="ru-RU" sz="2400" dirty="0"/>
              <a:t>метрик</a:t>
            </a:r>
            <a:r>
              <a:rPr lang="ru-RU" sz="2400" dirty="0" smtClean="0"/>
              <a:t> по сравнению с одноразовой разбивкой. </a:t>
            </a:r>
            <a:endParaRPr lang="en-US" sz="2400" dirty="0" smtClean="0"/>
          </a:p>
          <a:p>
            <a:r>
              <a:rPr lang="ru-RU" sz="2400" dirty="0" smtClean="0"/>
              <a:t>Оценка </a:t>
            </a:r>
            <a:r>
              <a:rPr lang="ru-RU" sz="2400" dirty="0" smtClean="0"/>
              <a:t>дисперсии </a:t>
            </a:r>
            <a:r>
              <a:rPr lang="ru-RU" sz="2400" dirty="0" smtClean="0"/>
              <a:t>метрик</a:t>
            </a:r>
            <a:endParaRPr lang="ru-RU" sz="2400" dirty="0" smtClean="0"/>
          </a:p>
          <a:p>
            <a:r>
              <a:rPr lang="ru-RU" sz="2400" dirty="0" smtClean="0"/>
              <a:t>Поиск "плавающих" ошибок </a:t>
            </a:r>
            <a:r>
              <a:rPr lang="ru-RU" sz="2400" dirty="0"/>
              <a:t>в модели данных. </a:t>
            </a:r>
            <a:endParaRPr lang="ru-RU" sz="2400" dirty="0" smtClean="0"/>
          </a:p>
          <a:p>
            <a:pPr lvl="1"/>
            <a:r>
              <a:rPr lang="ru-RU" sz="2000" dirty="0" smtClean="0"/>
              <a:t>То </a:t>
            </a:r>
            <a:r>
              <a:rPr lang="ru-RU" sz="2000" dirty="0"/>
              <a:t>есть редкие, но достаточно регулярные ошибки (неучтенную </a:t>
            </a:r>
            <a:r>
              <a:rPr lang="ru-RU" sz="2000" dirty="0" err="1"/>
              <a:t>информоацию</a:t>
            </a:r>
            <a:r>
              <a:rPr lang="ru-RU" sz="2000" dirty="0"/>
              <a:t>), которые можно участь в модели.</a:t>
            </a:r>
          </a:p>
          <a:p>
            <a:r>
              <a:rPr lang="ru-RU" sz="2400" dirty="0" smtClean="0"/>
              <a:t>Оценка важности факторов в модели.</a:t>
            </a:r>
          </a:p>
          <a:p>
            <a:endParaRPr lang="ru-RU" sz="2400" dirty="0"/>
          </a:p>
        </p:txBody>
      </p:sp>
    </p:spTree>
    <p:extLst>
      <p:ext uri="{BB962C8B-B14F-4D97-AF65-F5344CB8AC3E}">
        <p14:creationId xmlns:p14="http://schemas.microsoft.com/office/powerpoint/2010/main" val="38732555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r>
              <a:rPr lang="ru-RU" dirty="0" smtClean="0"/>
              <a:t>Особенности кросс-</a:t>
            </a:r>
            <a:r>
              <a:rPr lang="ru-RU" dirty="0" err="1" smtClean="0"/>
              <a:t>валидации</a:t>
            </a:r>
            <a:endParaRPr lang="ru-RU" dirty="0"/>
          </a:p>
        </p:txBody>
      </p:sp>
      <p:sp>
        <p:nvSpPr>
          <p:cNvPr id="3" name="Объект 2"/>
          <p:cNvSpPr>
            <a:spLocks noGrp="1"/>
          </p:cNvSpPr>
          <p:nvPr>
            <p:ph idx="1"/>
          </p:nvPr>
        </p:nvSpPr>
        <p:spPr>
          <a:xfrm>
            <a:off x="310136" y="753168"/>
            <a:ext cx="11706225" cy="5176838"/>
          </a:xfrm>
        </p:spPr>
        <p:txBody>
          <a:bodyPr>
            <a:normAutofit/>
          </a:bodyPr>
          <a:lstStyle/>
          <a:p>
            <a:r>
              <a:rPr lang="ru-RU" sz="2400" dirty="0" smtClean="0"/>
              <a:t>Стратегию кросс-</a:t>
            </a:r>
            <a:r>
              <a:rPr lang="ru-RU" sz="2400" dirty="0" err="1" smtClean="0"/>
              <a:t>валидации</a:t>
            </a:r>
            <a:r>
              <a:rPr lang="ru-RU" sz="2400" dirty="0" smtClean="0"/>
              <a:t> надо выбирать сообразно задаче</a:t>
            </a:r>
          </a:p>
          <a:p>
            <a:pPr lvl="1"/>
            <a:r>
              <a:rPr lang="ru-RU" sz="2000" dirty="0" smtClean="0"/>
              <a:t>Если предполагается </a:t>
            </a:r>
            <a:r>
              <a:rPr lang="ru-RU" sz="2000" dirty="0" err="1" smtClean="0"/>
              <a:t>дообучение</a:t>
            </a:r>
            <a:r>
              <a:rPr lang="ru-RU" sz="2000" dirty="0" smtClean="0"/>
              <a:t> модели можно взять расширяющееся </a:t>
            </a:r>
            <a:r>
              <a:rPr lang="ru-RU" sz="2000" dirty="0" smtClean="0"/>
              <a:t>окно, </a:t>
            </a:r>
          </a:p>
          <a:p>
            <a:pPr lvl="1"/>
            <a:r>
              <a:rPr lang="ru-RU" sz="2000" dirty="0" smtClean="0"/>
              <a:t>если данные устаревают, то скользящее окно. </a:t>
            </a:r>
          </a:p>
          <a:p>
            <a:pPr lvl="1"/>
            <a:r>
              <a:rPr lang="ru-RU" sz="2000" dirty="0" smtClean="0"/>
              <a:t>Возможны также комбинации, напр. смещения окна 1 раз в год при горизонте в 1 месяц.</a:t>
            </a:r>
            <a:endParaRPr lang="ru-RU" sz="2000" dirty="0" smtClean="0"/>
          </a:p>
          <a:p>
            <a:r>
              <a:rPr lang="ru-RU" sz="2400" dirty="0" smtClean="0"/>
              <a:t>Важно выбирать окно обучения и тестирования из требований к реальным данным</a:t>
            </a:r>
          </a:p>
          <a:p>
            <a:pPr lvl="1"/>
            <a:r>
              <a:rPr lang="ru-RU" sz="2000" dirty="0" smtClean="0"/>
              <a:t>Частое окно не репрезентативно, может пропустить паттерн, приведет к смещению оценки – так как шумы не достаточно интегрированы, </a:t>
            </a:r>
          </a:p>
          <a:p>
            <a:pPr lvl="1"/>
            <a:r>
              <a:rPr lang="ru-RU" sz="2000" dirty="0" smtClean="0"/>
              <a:t>длинное окно не даст корректную оценку разброс показаний.</a:t>
            </a:r>
            <a:endParaRPr lang="ru-RU" sz="2000" dirty="0" smtClean="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p:cNvPicPr>
            <a:picLocks noChangeAspect="1"/>
          </p:cNvPicPr>
          <p:nvPr/>
        </p:nvPicPr>
        <p:blipFill>
          <a:blip r:embed="rId2"/>
          <a:stretch>
            <a:fillRect/>
          </a:stretch>
        </p:blipFill>
        <p:spPr>
          <a:xfrm>
            <a:off x="5889445" y="3596566"/>
            <a:ext cx="5257980" cy="2926270"/>
          </a:xfrm>
          <a:prstGeom prst="rect">
            <a:avLst/>
          </a:prstGeom>
        </p:spPr>
      </p:pic>
    </p:spTree>
    <p:extLst>
      <p:ext uri="{BB962C8B-B14F-4D97-AF65-F5344CB8AC3E}">
        <p14:creationId xmlns:p14="http://schemas.microsoft.com/office/powerpoint/2010/main" val="27703022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6152" y="120038"/>
            <a:ext cx="10991850" cy="635000"/>
          </a:xfrm>
        </p:spPr>
        <p:txBody>
          <a:bodyPr>
            <a:normAutofit fontScale="90000"/>
          </a:bodyPr>
          <a:lstStyle/>
          <a:p>
            <a:pPr algn="ctr"/>
            <a:r>
              <a:rPr lang="ru-RU" dirty="0" smtClean="0"/>
              <a:t>Многошаговые особенности оценки точности</a:t>
            </a:r>
            <a:endParaRPr lang="ru-RU" dirty="0"/>
          </a:p>
        </p:txBody>
      </p:sp>
      <p:sp>
        <p:nvSpPr>
          <p:cNvPr id="3" name="Объект 2"/>
          <p:cNvSpPr>
            <a:spLocks noGrp="1"/>
          </p:cNvSpPr>
          <p:nvPr>
            <p:ph idx="1"/>
          </p:nvPr>
        </p:nvSpPr>
        <p:spPr>
          <a:xfrm>
            <a:off x="138193" y="574206"/>
            <a:ext cx="11706225" cy="5176838"/>
          </a:xfrm>
        </p:spPr>
        <p:txBody>
          <a:bodyPr>
            <a:normAutofit/>
          </a:bodyPr>
          <a:lstStyle/>
          <a:p>
            <a:r>
              <a:rPr lang="ru-RU" sz="2400" dirty="0" smtClean="0"/>
              <a:t>Статические (оценка на следующем шаге опирается на истинные значения предыдущих шагов)</a:t>
            </a:r>
            <a:endParaRPr lang="ru-RU" sz="2400" dirty="0"/>
          </a:p>
          <a:p>
            <a:r>
              <a:rPr lang="ru-RU" sz="2400" dirty="0" smtClean="0"/>
              <a:t>Динамическими </a:t>
            </a:r>
            <a:r>
              <a:rPr lang="ru-RU" sz="2400" dirty="0" smtClean="0"/>
              <a:t>(</a:t>
            </a:r>
            <a:r>
              <a:rPr lang="ru-RU" sz="2400" dirty="0" smtClean="0"/>
              <a:t>рекурсивным, оценка на следующем шаге опирается на оценки на предыдущих шагах ) </a:t>
            </a:r>
          </a:p>
          <a:p>
            <a:pPr lvl="1"/>
            <a:r>
              <a:rPr lang="ru-RU" sz="2000" dirty="0" smtClean="0"/>
              <a:t>Могут быть более сложные варианты, напр. оценка опирается  на моды распределений оценок на предыдущих шагах</a:t>
            </a:r>
            <a:endParaRPr lang="ru-RU" sz="20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5124" name="Picture 4" descr="https://www.researchgate.net/publication/381324371/figure/fig1/AS:11431281259462026@1720491044356/Demonstration-of-iterative-autoregressive-forecasting_W6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3702444"/>
            <a:ext cx="5644598" cy="2716464"/>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216152" y="2687617"/>
            <a:ext cx="6194425" cy="923330"/>
          </a:xfrm>
          <a:prstGeom prst="rect">
            <a:avLst/>
          </a:prstGeom>
        </p:spPr>
        <p:txBody>
          <a:bodyPr wrap="square">
            <a:spAutoFit/>
          </a:bodyPr>
          <a:lstStyle/>
          <a:p>
            <a:r>
              <a:rPr lang="ru-RU" dirty="0" smtClean="0"/>
              <a:t>Динамическая оценка  </a:t>
            </a:r>
            <a:r>
              <a:rPr lang="ru-RU" dirty="0" smtClean="0"/>
              <a:t>предполагает использование предсказанных данных вместо </a:t>
            </a:r>
            <a:r>
              <a:rPr lang="ru-RU" dirty="0" smtClean="0"/>
              <a:t>истинных </a:t>
            </a:r>
            <a:r>
              <a:rPr lang="ru-RU" dirty="0" smtClean="0"/>
              <a:t>в окне предсказания</a:t>
            </a:r>
            <a:endParaRPr lang="ru-RU" dirty="0"/>
          </a:p>
        </p:txBody>
      </p:sp>
      <p:pic>
        <p:nvPicPr>
          <p:cNvPr id="5126" name="Picture 6" descr="https://skforecast.org/0.7.0/img/diagram-single-step-forecast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7605" y="3528275"/>
            <a:ext cx="5374772" cy="2890633"/>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p:cNvSpPr/>
          <p:nvPr/>
        </p:nvSpPr>
        <p:spPr>
          <a:xfrm>
            <a:off x="6364899" y="2826117"/>
            <a:ext cx="5506601" cy="646331"/>
          </a:xfrm>
          <a:prstGeom prst="rect">
            <a:avLst/>
          </a:prstGeom>
        </p:spPr>
        <p:txBody>
          <a:bodyPr wrap="square">
            <a:spAutoFit/>
          </a:bodyPr>
          <a:lstStyle/>
          <a:p>
            <a:r>
              <a:rPr lang="ru-RU" dirty="0" smtClean="0"/>
              <a:t>Статическая </a:t>
            </a:r>
            <a:r>
              <a:rPr lang="ru-RU" dirty="0" smtClean="0"/>
              <a:t>оценка </a:t>
            </a:r>
            <a:r>
              <a:rPr lang="ru-RU" dirty="0" smtClean="0"/>
              <a:t>предполагает использование известных данных в исторических данных </a:t>
            </a:r>
            <a:endParaRPr lang="ru-RU" dirty="0"/>
          </a:p>
        </p:txBody>
      </p:sp>
      <p:sp>
        <p:nvSpPr>
          <p:cNvPr id="7" name="Прямоугольник 6"/>
          <p:cNvSpPr/>
          <p:nvPr/>
        </p:nvSpPr>
        <p:spPr>
          <a:xfrm>
            <a:off x="5991306" y="6474735"/>
            <a:ext cx="6096000" cy="276999"/>
          </a:xfrm>
          <a:prstGeom prst="rect">
            <a:avLst/>
          </a:prstGeom>
        </p:spPr>
        <p:txBody>
          <a:bodyPr>
            <a:spAutoFit/>
          </a:bodyPr>
          <a:lstStyle/>
          <a:p>
            <a:r>
              <a:rPr lang="ru-RU" sz="1200" dirty="0" smtClean="0"/>
              <a:t>https://skforecast.org/0.7.0/introduction-forecasting/introduction-forecasting</a:t>
            </a:r>
            <a:endParaRPr lang="ru-RU" sz="1200" dirty="0"/>
          </a:p>
        </p:txBody>
      </p:sp>
      <p:sp>
        <p:nvSpPr>
          <p:cNvPr id="8" name="Прямоугольник 7"/>
          <p:cNvSpPr/>
          <p:nvPr/>
        </p:nvSpPr>
        <p:spPr>
          <a:xfrm>
            <a:off x="60433" y="6474735"/>
            <a:ext cx="6561083" cy="276999"/>
          </a:xfrm>
          <a:prstGeom prst="rect">
            <a:avLst/>
          </a:prstGeom>
        </p:spPr>
        <p:txBody>
          <a:bodyPr wrap="square">
            <a:spAutoFit/>
          </a:bodyPr>
          <a:lstStyle/>
          <a:p>
            <a:r>
              <a:rPr lang="ru-RU" sz="1200" dirty="0"/>
              <a:t>https://timeweb.cloud/tutorials/python/prognozirovanie-vremennyh-ryadov-python-3</a:t>
            </a:r>
          </a:p>
        </p:txBody>
      </p:sp>
    </p:spTree>
    <p:extLst>
      <p:ext uri="{BB962C8B-B14F-4D97-AF65-F5344CB8AC3E}">
        <p14:creationId xmlns:p14="http://schemas.microsoft.com/office/powerpoint/2010/main" val="3307745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smtClean="0"/>
              <a:t>Источники ошибки предсказаний</a:t>
            </a:r>
          </a:p>
          <a:p>
            <a:pPr lvl="1"/>
            <a:r>
              <a:rPr lang="ru-RU" sz="2000" dirty="0"/>
              <a:t>Случайная ошибка </a:t>
            </a:r>
            <a:r>
              <a:rPr lang="ru-RU" sz="2000" dirty="0" smtClean="0"/>
              <a:t>(флуктуации, шум)</a:t>
            </a:r>
          </a:p>
          <a:p>
            <a:pPr lvl="1"/>
            <a:r>
              <a:rPr lang="ru-RU" sz="2000" dirty="0" smtClean="0"/>
              <a:t>Смещенные оценки </a:t>
            </a:r>
            <a:r>
              <a:rPr lang="ru-RU" sz="2000" dirty="0"/>
              <a:t>параметров </a:t>
            </a:r>
            <a:endParaRPr lang="ru-RU" sz="2000" dirty="0" smtClean="0"/>
          </a:p>
          <a:p>
            <a:pPr lvl="1"/>
            <a:r>
              <a:rPr lang="ru-RU" sz="2000" dirty="0" smtClean="0"/>
              <a:t>Дрейф данных (из за ограниченности выборки не все паттерны теста учтены в </a:t>
            </a:r>
            <a:r>
              <a:rPr lang="ru-RU" sz="2000" dirty="0" err="1" smtClean="0"/>
              <a:t>трейне</a:t>
            </a:r>
            <a:r>
              <a:rPr lang="ru-RU" sz="2000" dirty="0" smtClean="0"/>
              <a:t>)</a:t>
            </a:r>
          </a:p>
          <a:p>
            <a:pPr lvl="1"/>
            <a:r>
              <a:rPr lang="ru-RU" sz="2000" dirty="0" smtClean="0"/>
              <a:t>Дрейф концепции (появление истинно новых </a:t>
            </a:r>
            <a:r>
              <a:rPr lang="ru-RU" sz="2000" dirty="0" err="1" smtClean="0"/>
              <a:t>патетрнов</a:t>
            </a:r>
            <a:r>
              <a:rPr lang="ru-RU" sz="2000" dirty="0" smtClean="0"/>
              <a:t> в </a:t>
            </a:r>
            <a:r>
              <a:rPr lang="ru-RU" sz="2000" dirty="0" err="1" smtClean="0"/>
              <a:t>трейне</a:t>
            </a:r>
            <a:r>
              <a:rPr lang="ru-RU" sz="2000" dirty="0"/>
              <a:t>)</a:t>
            </a:r>
            <a:endParaRPr lang="ru-RU" sz="2000" dirty="0" smtClean="0"/>
          </a:p>
          <a:p>
            <a:pPr marL="0" indent="0">
              <a:buNone/>
            </a:pPr>
            <a:r>
              <a:rPr lang="ru-RU" sz="2100" b="1" dirty="0" smtClean="0"/>
              <a:t>Неопределённость может быть оценена, </a:t>
            </a:r>
          </a:p>
          <a:p>
            <a:pPr lvl="1"/>
            <a:r>
              <a:rPr lang="ru-RU" sz="2100" b="1" dirty="0" err="1" smtClean="0"/>
              <a:t>Нативно</a:t>
            </a:r>
            <a:r>
              <a:rPr lang="ru-RU" sz="2100" dirty="0" smtClean="0"/>
              <a:t>: </a:t>
            </a:r>
            <a:r>
              <a:rPr lang="ru-RU" sz="2100" dirty="0"/>
              <a:t>Например </a:t>
            </a:r>
            <a:r>
              <a:rPr lang="en-US" sz="2100" dirty="0"/>
              <a:t>Naïve, ETS, Prophet </a:t>
            </a:r>
            <a:r>
              <a:rPr lang="ru-RU" sz="2100" dirty="0"/>
              <a:t>или </a:t>
            </a:r>
            <a:r>
              <a:rPr lang="en-US" sz="2100" dirty="0" smtClean="0"/>
              <a:t>ARIMA</a:t>
            </a:r>
            <a:r>
              <a:rPr lang="ru-RU" sz="2100" dirty="0" smtClean="0"/>
              <a:t> дают оценки СКО при предсказании</a:t>
            </a:r>
            <a:r>
              <a:rPr lang="en-US" sz="2100" dirty="0" smtClean="0"/>
              <a:t>.</a:t>
            </a:r>
            <a:endParaRPr lang="en-US" sz="2100" dirty="0"/>
          </a:p>
          <a:p>
            <a:pPr lvl="2"/>
            <a:r>
              <a:rPr lang="ru-RU" sz="2100" dirty="0" smtClean="0"/>
              <a:t>такие </a:t>
            </a:r>
            <a:r>
              <a:rPr lang="ru-RU" sz="2100" dirty="0"/>
              <a:t>оценки предполагают, что остатки имеют заданное распределение, напр. нормальное.</a:t>
            </a:r>
            <a:endParaRPr lang="en-US" sz="2100" dirty="0"/>
          </a:p>
          <a:p>
            <a:pPr lvl="1"/>
            <a:r>
              <a:rPr lang="ru-RU" sz="2100" dirty="0" smtClean="0"/>
              <a:t>Путем ассиметричной регрессии (</a:t>
            </a:r>
            <a:r>
              <a:rPr lang="ru-RU" sz="2100" b="1" dirty="0" err="1" smtClean="0"/>
              <a:t>квантильные</a:t>
            </a:r>
            <a:r>
              <a:rPr lang="ru-RU" sz="2100" b="1" dirty="0" smtClean="0"/>
              <a:t> оценки</a:t>
            </a:r>
            <a:r>
              <a:rPr lang="ru-RU" sz="2100" dirty="0" smtClean="0"/>
              <a:t>), байесовские оценки </a:t>
            </a:r>
          </a:p>
          <a:p>
            <a:pPr lvl="1"/>
            <a:r>
              <a:rPr lang="ru-RU" sz="2100" dirty="0" smtClean="0"/>
              <a:t>При помощи эвристических – устойчивых техник:</a:t>
            </a:r>
          </a:p>
          <a:p>
            <a:pPr lvl="2"/>
            <a:r>
              <a:rPr lang="ru-RU" sz="2100" b="1" dirty="0" smtClean="0"/>
              <a:t>Бут-</a:t>
            </a:r>
            <a:r>
              <a:rPr lang="ru-RU" sz="2100" b="1" dirty="0" err="1" smtClean="0"/>
              <a:t>стреп</a:t>
            </a:r>
            <a:r>
              <a:rPr lang="ru-RU" sz="2100" b="1" dirty="0" smtClean="0"/>
              <a:t> и </a:t>
            </a:r>
            <a:r>
              <a:rPr lang="ru-RU" sz="2100" b="1" dirty="0" err="1"/>
              <a:t>Комформные</a:t>
            </a:r>
            <a:r>
              <a:rPr lang="ru-RU" sz="2100" b="1" dirty="0"/>
              <a:t> </a:t>
            </a:r>
            <a:r>
              <a:rPr lang="ru-RU" sz="2100" b="1" dirty="0" smtClean="0"/>
              <a:t>предсказания</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ru-RU" sz="1200" dirty="0"/>
              <a:t>https://timeweb.cloud/tutorials/python/prognozirovanie-vremennyh-ryadov-python-3</a:t>
            </a:r>
          </a:p>
        </p:txBody>
      </p:sp>
      <p:sp>
        <p:nvSpPr>
          <p:cNvPr id="5" name="Прямоугольник 4"/>
          <p:cNvSpPr/>
          <p:nvPr/>
        </p:nvSpPr>
        <p:spPr>
          <a:xfrm>
            <a:off x="7835300" y="6396943"/>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5651500" y="6551942"/>
            <a:ext cx="6096000" cy="276999"/>
          </a:xfrm>
          <a:prstGeom prst="rect">
            <a:avLst/>
          </a:prstGeom>
        </p:spPr>
        <p:txBody>
          <a:bodyPr>
            <a:spAutoFit/>
          </a:bodyPr>
          <a:lstStyle/>
          <a:p>
            <a:r>
              <a:rPr lang="ru-RU" sz="1200" dirty="0"/>
              <a:t>https://skforecast.org/0.16.0/user_guides/probabilistic-forecasting-overview</a:t>
            </a:r>
          </a:p>
        </p:txBody>
      </p:sp>
      <p:sp>
        <p:nvSpPr>
          <p:cNvPr id="11" name="Прямоугольник 10"/>
          <p:cNvSpPr/>
          <p:nvPr/>
        </p:nvSpPr>
        <p:spPr>
          <a:xfrm>
            <a:off x="155575" y="5002423"/>
            <a:ext cx="11815828" cy="1323439"/>
          </a:xfrm>
          <a:prstGeom prst="rect">
            <a:avLst/>
          </a:prstGeom>
        </p:spPr>
        <p:txBody>
          <a:bodyPr wrap="square">
            <a:spAutoFit/>
          </a:bodyPr>
          <a:lstStyle/>
          <a:p>
            <a:r>
              <a:rPr lang="ru-RU" sz="2000" i="1" dirty="0" smtClean="0"/>
              <a:t>Часто </a:t>
            </a:r>
            <a:r>
              <a:rPr lang="ru-RU" sz="2000" i="1" dirty="0"/>
              <a:t>все </a:t>
            </a:r>
            <a:r>
              <a:rPr lang="ru-RU" sz="2000" i="1" dirty="0" smtClean="0"/>
              <a:t>оценки интервалов на </a:t>
            </a:r>
            <a:r>
              <a:rPr lang="ru-RU" sz="2000" i="1" dirty="0" err="1" smtClean="0"/>
              <a:t>валидации</a:t>
            </a:r>
            <a:r>
              <a:rPr lang="ru-RU" sz="2000" i="1" dirty="0" smtClean="0"/>
              <a:t> занижены. </a:t>
            </a:r>
          </a:p>
          <a:p>
            <a:r>
              <a:rPr lang="ru-RU" sz="2000" i="1" dirty="0" smtClean="0"/>
              <a:t>Например</a:t>
            </a:r>
            <a:r>
              <a:rPr lang="ru-RU" sz="2000" i="1" dirty="0"/>
              <a:t>, номинальные интервалы в 95% могут обеспечить охват только от 71% до 87%. </a:t>
            </a:r>
            <a:endParaRPr lang="ru-RU" sz="2000" i="1" dirty="0" smtClean="0"/>
          </a:p>
          <a:p>
            <a:r>
              <a:rPr lang="ru-RU" sz="2000" i="1" dirty="0" smtClean="0"/>
              <a:t>В </a:t>
            </a:r>
            <a:r>
              <a:rPr lang="ru-RU" sz="2000" i="1" dirty="0" err="1" smtClean="0"/>
              <a:t>валидационной</a:t>
            </a:r>
            <a:r>
              <a:rPr lang="ru-RU" sz="2000" i="1" dirty="0" smtClean="0"/>
              <a:t> выборке не </a:t>
            </a:r>
            <a:r>
              <a:rPr lang="ru-RU" sz="2000" i="1" dirty="0"/>
              <a:t>учитывают все источники неопределенности. </a:t>
            </a:r>
            <a:endParaRPr lang="ru-RU" sz="2000" i="1" dirty="0" smtClean="0"/>
          </a:p>
          <a:p>
            <a:r>
              <a:rPr lang="ru-RU" sz="2000" i="1" dirty="0" smtClean="0"/>
              <a:t>Правильно оценивать интервалы в мониторинге или на тесте </a:t>
            </a:r>
            <a:r>
              <a:rPr lang="en-US" sz="1200" i="1" dirty="0" smtClean="0"/>
              <a:t>https://robjhyndman.com/hyndsight/narrow-pi/</a:t>
            </a:r>
            <a:endParaRPr lang="ru-RU" sz="1200" i="1" dirty="0"/>
          </a:p>
        </p:txBody>
      </p:sp>
    </p:spTree>
    <p:extLst>
      <p:ext uri="{BB962C8B-B14F-4D97-AF65-F5344CB8AC3E}">
        <p14:creationId xmlns:p14="http://schemas.microsoft.com/office/powerpoint/2010/main" val="5230914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p:sp>
        <p:nvSpPr>
          <p:cNvPr id="3" name="Объект 2"/>
          <p:cNvSpPr>
            <a:spLocks noGrp="1"/>
          </p:cNvSpPr>
          <p:nvPr>
            <p:ph idx="1"/>
          </p:nvPr>
        </p:nvSpPr>
        <p:spPr>
          <a:xfrm>
            <a:off x="155575" y="654681"/>
            <a:ext cx="5810885" cy="2774695"/>
          </a:xfrm>
        </p:spPr>
        <p:txBody>
          <a:bodyPr>
            <a:normAutofit fontScale="25000" lnSpcReduction="20000"/>
          </a:bodyPr>
          <a:lstStyle/>
          <a:p>
            <a:r>
              <a:rPr lang="ru-RU" dirty="0" err="1"/>
              <a:t>Бутстреп</a:t>
            </a:r>
            <a:r>
              <a:rPr lang="ru-RU" dirty="0"/>
              <a:t> — это метод статистического моделирования, при котором неопределенность прогноза оценивается путем многократной генерации прогнозов с использованием случайных остатков .</a:t>
            </a:r>
          </a:p>
          <a:p>
            <a:r>
              <a:rPr lang="ru-RU" dirty="0"/>
              <a:t>Зачем нужен:</a:t>
            </a:r>
            <a:endParaRPr lang="ru-RU" b="1" dirty="0"/>
          </a:p>
          <a:p>
            <a:r>
              <a:rPr lang="ru-RU" dirty="0"/>
              <a:t>Когда невозможно аналитически вычислить доверительные или предиктивные интервалы</a:t>
            </a:r>
          </a:p>
          <a:p>
            <a:r>
              <a:rPr lang="ru-RU" dirty="0"/>
              <a:t>Когда данные не соответствуют предположениям о нормальности</a:t>
            </a:r>
          </a:p>
          <a:p>
            <a:r>
              <a:rPr lang="ru-RU" dirty="0"/>
              <a:t>Для моделей машинного обучения (например, </a:t>
            </a:r>
            <a:r>
              <a:rPr lang="ru-RU" dirty="0" err="1"/>
              <a:t>Random</a:t>
            </a:r>
            <a:r>
              <a:rPr lang="ru-RU" dirty="0"/>
              <a:t> </a:t>
            </a:r>
            <a:r>
              <a:rPr lang="ru-RU" dirty="0" err="1"/>
              <a:t>Forest</a:t>
            </a:r>
            <a:r>
              <a:rPr lang="ru-RU" dirty="0"/>
              <a:t>, </a:t>
            </a:r>
            <a:r>
              <a:rPr lang="ru-RU" dirty="0" err="1"/>
              <a:t>XGBoost</a:t>
            </a:r>
            <a:r>
              <a:rPr lang="ru-RU" dirty="0"/>
              <a:t>)</a:t>
            </a:r>
          </a:p>
          <a:p>
            <a:r>
              <a:rPr lang="ru-RU" dirty="0"/>
              <a:t>Этапы </a:t>
            </a:r>
            <a:r>
              <a:rPr lang="ru-RU" dirty="0" err="1"/>
              <a:t>бутстрепа</a:t>
            </a:r>
            <a:r>
              <a:rPr lang="ru-RU" dirty="0"/>
              <a:t> в прогнозировании временных рядов:</a:t>
            </a:r>
            <a:endParaRPr lang="ru-RU" b="1" dirty="0"/>
          </a:p>
          <a:p>
            <a:r>
              <a:rPr lang="ru-RU" dirty="0"/>
              <a:t>Шаг 1: Обучение модели</a:t>
            </a:r>
            <a:endParaRPr lang="ru-RU" b="1" dirty="0"/>
          </a:p>
          <a:p>
            <a:r>
              <a:rPr lang="ru-RU" dirty="0"/>
              <a:t>Модель обучается на обучающей выборке</a:t>
            </a:r>
          </a:p>
          <a:p>
            <a:r>
              <a:rPr lang="ru-RU" dirty="0"/>
              <a:t>Получаются прогнозы и остатки (реальные значения минус прогнозы)</a:t>
            </a:r>
          </a:p>
          <a:p>
            <a:r>
              <a:rPr lang="ru-RU" dirty="0"/>
              <a:t>Шаг 2: Извлечение остатков</a:t>
            </a:r>
            <a:endParaRPr lang="ru-RU" b="1" dirty="0"/>
          </a:p>
          <a:p>
            <a:r>
              <a:rPr lang="ru-RU" dirty="0"/>
              <a:t>Остатки сохраняются и используются для моделирования неопределенности</a:t>
            </a:r>
          </a:p>
          <a:p>
            <a:r>
              <a:rPr lang="ru-RU" dirty="0"/>
              <a:t>Шаг 3: Генерация сценариев</a:t>
            </a:r>
            <a:endParaRPr lang="ru-RU" b="1" dirty="0"/>
          </a:p>
          <a:p>
            <a:r>
              <a:rPr lang="ru-RU" dirty="0"/>
              <a:t>Для каждого шага прогнозирования случайно выбирается остаток (с возвратом)</a:t>
            </a:r>
          </a:p>
          <a:p>
            <a:r>
              <a:rPr lang="ru-RU" dirty="0"/>
              <a:t>Добавляется к точечному прогнозу</a:t>
            </a:r>
          </a:p>
          <a:p>
            <a:r>
              <a:rPr lang="ru-RU" dirty="0"/>
              <a:t>Шаг 4: Повторение</a:t>
            </a:r>
            <a:endParaRPr lang="ru-RU" b="1" dirty="0"/>
          </a:p>
          <a:p>
            <a:r>
              <a:rPr lang="ru-RU" dirty="0"/>
              <a:t>Процесс повторяется много раз (например, 1000 раз), создавая распределение возможных прогнозов</a:t>
            </a:r>
          </a:p>
          <a:p>
            <a:r>
              <a:rPr lang="ru-RU" dirty="0"/>
              <a:t>Шаг 5: Построение интервалов</a:t>
            </a:r>
            <a:endParaRPr lang="ru-RU" b="1" dirty="0"/>
          </a:p>
          <a:p>
            <a:r>
              <a:rPr lang="ru-RU" dirty="0"/>
              <a:t>На основе полученного распределения рассчитываются квантили (например, 2.5% и 97.5% для 95% интервала)</a:t>
            </a:r>
          </a:p>
          <a:p>
            <a:r>
              <a:rPr lang="ru-RU" dirty="0"/>
              <a:t>Преимущества:</a:t>
            </a:r>
            <a:endParaRPr lang="ru-RU" b="1" dirty="0"/>
          </a:p>
          <a:p>
            <a:r>
              <a:rPr lang="ru-RU" dirty="0"/>
              <a:t>Не требует предположений о распределении</a:t>
            </a:r>
          </a:p>
          <a:p>
            <a:r>
              <a:rPr lang="ru-RU" dirty="0"/>
              <a:t>Применим к любым моделям (линейным и нелинейным)</a:t>
            </a:r>
          </a:p>
          <a:p>
            <a:r>
              <a:rPr lang="ru-RU" dirty="0"/>
              <a:t>Хорошо работает с нестационарными и шумными данными</a:t>
            </a:r>
          </a:p>
          <a:p>
            <a:r>
              <a:rPr lang="ru-RU" dirty="0"/>
              <a:t>Недостатки:</a:t>
            </a:r>
            <a:endParaRPr lang="ru-RU" b="1" dirty="0"/>
          </a:p>
          <a:p>
            <a:r>
              <a:rPr lang="ru-RU" dirty="0"/>
              <a:t>Высокие вычислительные затраты</a:t>
            </a:r>
          </a:p>
          <a:p>
            <a:r>
              <a:rPr lang="ru-RU" dirty="0"/>
              <a:t>Может давать неточные результаты при малом количестве остатков</a:t>
            </a:r>
          </a:p>
          <a:p>
            <a:r>
              <a:rPr lang="ru-RU" dirty="0"/>
              <a:t>Не учитывает структуру временных рядов (если не модифицировать метод)</a:t>
            </a:r>
          </a:p>
          <a:p>
            <a:pPr marL="0" indent="0">
              <a:buNone/>
            </a:pPr>
            <a:endParaRPr lang="ru-RU" sz="2100" b="1" dirty="0" smtClean="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en-US" sz="1200" dirty="0"/>
              <a:t>https://mapie.readthedocs.io/en/stable/theoretical_description_regression.html#the-split-method</a:t>
            </a:r>
            <a:endParaRPr lang="ru-RU" sz="1200" dirty="0"/>
          </a:p>
        </p:txBody>
      </p:sp>
      <p:sp>
        <p:nvSpPr>
          <p:cNvPr id="10" name="Прямоугольник 9"/>
          <p:cNvSpPr/>
          <p:nvPr/>
        </p:nvSpPr>
        <p:spPr>
          <a:xfrm>
            <a:off x="6268720" y="6543066"/>
            <a:ext cx="6096000" cy="276999"/>
          </a:xfrm>
          <a:prstGeom prst="rect">
            <a:avLst/>
          </a:prstGeom>
        </p:spPr>
        <p:txBody>
          <a:bodyPr>
            <a:spAutoFit/>
          </a:bodyPr>
          <a:lstStyle/>
          <a:p>
            <a:r>
              <a:rPr lang="ru-RU" sz="1200" dirty="0"/>
              <a:t>https://skforecast.org/0.16.0/user_guides/probabilistic-forecasting-overview</a:t>
            </a:r>
          </a:p>
        </p:txBody>
      </p:sp>
      <p:pic>
        <p:nvPicPr>
          <p:cNvPr id="1026" name="Picture 2" descr="No description has been provided for this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915" y="3429376"/>
            <a:ext cx="5516064" cy="3122567"/>
          </a:xfrm>
          <a:prstGeom prst="rect">
            <a:avLst/>
          </a:prstGeom>
          <a:noFill/>
          <a:extLst>
            <a:ext uri="{909E8E84-426E-40DD-AFC4-6F175D3DCCD1}">
              <a14:hiddenFill xmlns:a14="http://schemas.microsoft.com/office/drawing/2010/main">
                <a:solidFill>
                  <a:srgbClr val="FFFFFF"/>
                </a:solidFill>
              </a14:hiddenFill>
            </a:ext>
          </a:extLst>
        </p:spPr>
      </p:pic>
      <p:sp>
        <p:nvSpPr>
          <p:cNvPr id="12" name="Объект 2"/>
          <p:cNvSpPr txBox="1">
            <a:spLocks/>
          </p:cNvSpPr>
          <p:nvPr/>
        </p:nvSpPr>
        <p:spPr>
          <a:xfrm>
            <a:off x="6268720" y="795072"/>
            <a:ext cx="5810885" cy="277469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1. Конформное предсказание (</a:t>
            </a:r>
            <a:r>
              <a:rPr lang="ru-RU" dirty="0" err="1"/>
              <a:t>Conformal</a:t>
            </a:r>
            <a:r>
              <a:rPr lang="ru-RU" dirty="0"/>
              <a:t> </a:t>
            </a:r>
            <a:r>
              <a:rPr lang="ru-RU" dirty="0" err="1"/>
              <a:t>Prediction</a:t>
            </a:r>
            <a:r>
              <a:rPr lang="ru-RU" dirty="0"/>
              <a:t>)</a:t>
            </a:r>
            <a:endParaRPr lang="ru-RU" b="1" dirty="0"/>
          </a:p>
          <a:p>
            <a:r>
              <a:rPr lang="ru-RU" dirty="0"/>
              <a:t>Что это?</a:t>
            </a:r>
            <a:endParaRPr lang="ru-RU" b="1" dirty="0"/>
          </a:p>
          <a:p>
            <a:r>
              <a:rPr lang="ru-RU" dirty="0"/>
              <a:t>Конформное предсказание — это непараметрический метод , который позволяет строить доверительные интервалы для прогнозов без предположений о распределении данных. Он гарантирует, что интервалы будут покрывать истинные значения с заданной вероятностью (например, 95%).</a:t>
            </a:r>
          </a:p>
          <a:p>
            <a:r>
              <a:rPr lang="ru-RU" dirty="0"/>
              <a:t>Как работает?</a:t>
            </a:r>
            <a:endParaRPr lang="ru-RU" b="1" dirty="0"/>
          </a:p>
          <a:p>
            <a:r>
              <a:rPr lang="ru-RU" dirty="0"/>
              <a:t>Разделение данных:</a:t>
            </a:r>
          </a:p>
          <a:p>
            <a:pPr lvl="1"/>
            <a:r>
              <a:rPr lang="ru-RU" dirty="0"/>
              <a:t>Обучающая выборка: используется для обучения модели</a:t>
            </a:r>
          </a:p>
          <a:p>
            <a:pPr lvl="1"/>
            <a:r>
              <a:rPr lang="ru-RU" dirty="0"/>
              <a:t>Калибровочная выборка: используется для настройки интервалов</a:t>
            </a:r>
          </a:p>
          <a:p>
            <a:r>
              <a:rPr lang="ru-RU" dirty="0"/>
              <a:t>Обучение модели:</a:t>
            </a:r>
          </a:p>
          <a:p>
            <a:pPr lvl="1"/>
            <a:r>
              <a:rPr lang="ru-RU" dirty="0"/>
              <a:t>Обучается любая модель (линейная, дерево, </a:t>
            </a:r>
            <a:r>
              <a:rPr lang="ru-RU" dirty="0" err="1"/>
              <a:t>нейросеть</a:t>
            </a:r>
            <a:r>
              <a:rPr lang="ru-RU" dirty="0"/>
              <a:t> и т.д.)</a:t>
            </a:r>
          </a:p>
          <a:p>
            <a:r>
              <a:rPr lang="ru-RU" dirty="0"/>
              <a:t>Вычисление функции непредсказуемости (</a:t>
            </a:r>
            <a:r>
              <a:rPr lang="ru-RU" dirty="0" err="1"/>
              <a:t>nonconformity</a:t>
            </a:r>
            <a:r>
              <a:rPr lang="ru-RU" dirty="0"/>
              <a:t> </a:t>
            </a:r>
            <a:r>
              <a:rPr lang="ru-RU" dirty="0" err="1"/>
              <a:t>score</a:t>
            </a:r>
            <a:r>
              <a:rPr lang="ru-RU" dirty="0"/>
              <a:t>):</a:t>
            </a:r>
          </a:p>
          <a:p>
            <a:pPr lvl="1"/>
            <a:r>
              <a:rPr lang="ru-RU" dirty="0"/>
              <a:t>Например, абсолютная ошибка: ∣</a:t>
            </a:r>
            <a:r>
              <a:rPr lang="ru-RU" i="1" dirty="0" err="1"/>
              <a:t>yi</a:t>
            </a:r>
            <a:r>
              <a:rPr lang="ru-RU" dirty="0"/>
              <a:t>​−</a:t>
            </a:r>
            <a:r>
              <a:rPr lang="ru-RU" i="1" dirty="0"/>
              <a:t>y</a:t>
            </a:r>
            <a:r>
              <a:rPr lang="ru-RU" dirty="0"/>
              <a:t>^​</a:t>
            </a:r>
            <a:r>
              <a:rPr lang="ru-RU" i="1" dirty="0"/>
              <a:t>i</a:t>
            </a:r>
            <a:r>
              <a:rPr lang="ru-RU" dirty="0"/>
              <a:t>​∣</a:t>
            </a:r>
          </a:p>
          <a:p>
            <a:pPr lvl="1"/>
            <a:r>
              <a:rPr lang="ru-RU" dirty="0"/>
              <a:t>Вычисляется для калибровочной выборки</a:t>
            </a:r>
          </a:p>
          <a:p>
            <a:r>
              <a:rPr lang="ru-RU" dirty="0"/>
              <a:t>Определение квантиля:</a:t>
            </a:r>
          </a:p>
          <a:p>
            <a:pPr lvl="1"/>
            <a:r>
              <a:rPr lang="ru-RU" dirty="0"/>
              <a:t>Вычисляется квантиль функции непредсказуемости, соответствующий заданному уровню доверия (например, 95%)</a:t>
            </a:r>
          </a:p>
          <a:p>
            <a:r>
              <a:rPr lang="ru-RU" dirty="0"/>
              <a:t>Прогноз с интервалом:</a:t>
            </a:r>
          </a:p>
          <a:p>
            <a:pPr lvl="1"/>
            <a:r>
              <a:rPr lang="ru-RU" dirty="0"/>
              <a:t>Для нового прогноза </a:t>
            </a:r>
            <a:r>
              <a:rPr lang="ru-RU" i="1" dirty="0"/>
              <a:t>y</a:t>
            </a:r>
            <a:r>
              <a:rPr lang="ru-RU" dirty="0"/>
              <a:t>^​</a:t>
            </a:r>
            <a:r>
              <a:rPr lang="ru-RU" i="1" dirty="0" err="1"/>
              <a:t>t</a:t>
            </a:r>
            <a:r>
              <a:rPr lang="ru-RU" dirty="0" err="1"/>
              <a:t>+</a:t>
            </a:r>
            <a:r>
              <a:rPr lang="ru-RU" i="1" dirty="0" err="1"/>
              <a:t>h</a:t>
            </a:r>
            <a:r>
              <a:rPr lang="ru-RU" dirty="0"/>
              <a:t>​ строится интервал:[</a:t>
            </a:r>
            <a:r>
              <a:rPr lang="ru-RU" i="1" dirty="0"/>
              <a:t>y</a:t>
            </a:r>
            <a:r>
              <a:rPr lang="ru-RU" dirty="0"/>
              <a:t>^​</a:t>
            </a:r>
            <a:r>
              <a:rPr lang="ru-RU" i="1" dirty="0" err="1"/>
              <a:t>t</a:t>
            </a:r>
            <a:r>
              <a:rPr lang="ru-RU" dirty="0" err="1"/>
              <a:t>+</a:t>
            </a:r>
            <a:r>
              <a:rPr lang="ru-RU" i="1" dirty="0" err="1"/>
              <a:t>h</a:t>
            </a:r>
            <a:r>
              <a:rPr lang="ru-RU" dirty="0"/>
              <a:t>​−</a:t>
            </a:r>
            <a:r>
              <a:rPr lang="ru-RU" i="1" dirty="0" err="1"/>
              <a:t>q</a:t>
            </a:r>
            <a:r>
              <a:rPr lang="ru-RU" dirty="0" err="1"/>
              <a:t>,</a:t>
            </a:r>
            <a:r>
              <a:rPr lang="ru-RU" i="1" dirty="0" err="1"/>
              <a:t>y</a:t>
            </a:r>
            <a:r>
              <a:rPr lang="ru-RU" dirty="0"/>
              <a:t>^​</a:t>
            </a:r>
            <a:r>
              <a:rPr lang="ru-RU" i="1" dirty="0" err="1"/>
              <a:t>t</a:t>
            </a:r>
            <a:r>
              <a:rPr lang="ru-RU" dirty="0" err="1"/>
              <a:t>+</a:t>
            </a:r>
            <a:r>
              <a:rPr lang="ru-RU" i="1" dirty="0" err="1"/>
              <a:t>h</a:t>
            </a:r>
            <a:r>
              <a:rPr lang="ru-RU" dirty="0"/>
              <a:t>​+</a:t>
            </a:r>
            <a:r>
              <a:rPr lang="ru-RU" i="1" dirty="0"/>
              <a:t>q</a:t>
            </a:r>
            <a:r>
              <a:rPr lang="ru-RU" dirty="0"/>
              <a:t>]</a:t>
            </a:r>
          </a:p>
          <a:p>
            <a:r>
              <a:rPr lang="ru-RU" dirty="0"/>
              <a:t>Преимущества:</a:t>
            </a:r>
            <a:endParaRPr lang="ru-RU" b="1" dirty="0"/>
          </a:p>
          <a:p>
            <a:r>
              <a:rPr lang="ru-RU" dirty="0"/>
              <a:t>Гарантированное покрытие (например, 95% интервал действительно покроет 95% реальных значений)</a:t>
            </a:r>
          </a:p>
          <a:p>
            <a:r>
              <a:rPr lang="ru-RU" dirty="0"/>
              <a:t>Не требует предположений о распределении</a:t>
            </a:r>
          </a:p>
          <a:p>
            <a:r>
              <a:rPr lang="ru-RU" dirty="0"/>
              <a:t>Применим к любым моделям, включая машинное обучение</a:t>
            </a:r>
          </a:p>
          <a:p>
            <a:r>
              <a:rPr lang="ru-RU" dirty="0"/>
              <a:t>Недостатки:</a:t>
            </a:r>
            <a:endParaRPr lang="ru-RU" b="1" dirty="0"/>
          </a:p>
          <a:p>
            <a:r>
              <a:rPr lang="ru-RU" dirty="0"/>
              <a:t>Требуется калибровочная выборка</a:t>
            </a:r>
          </a:p>
          <a:p>
            <a:r>
              <a:rPr lang="ru-RU" dirty="0"/>
              <a:t>Интервалы могут быть слишком широкими , если ошибка модели высока</a:t>
            </a:r>
          </a:p>
          <a:p>
            <a:r>
              <a:rPr lang="ru-RU" dirty="0"/>
              <a:t>Не учитывает временную структуру временных рядов (если не адаптировать)</a:t>
            </a:r>
          </a:p>
        </p:txBody>
      </p:sp>
    </p:spTree>
    <p:extLst>
      <p:ext uri="{BB962C8B-B14F-4D97-AF65-F5344CB8AC3E}">
        <p14:creationId xmlns:p14="http://schemas.microsoft.com/office/powerpoint/2010/main" val="25740239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Прямоугольник 3"/>
          <p:cNvSpPr/>
          <p:nvPr/>
        </p:nvSpPr>
        <p:spPr>
          <a:xfrm>
            <a:off x="5623560" y="365125"/>
            <a:ext cx="6096000" cy="8125301"/>
          </a:xfrm>
          <a:prstGeom prst="rect">
            <a:avLst/>
          </a:prstGeom>
        </p:spPr>
        <p:txBody>
          <a:bodyPr>
            <a:spAutoFit/>
          </a:bodyPr>
          <a:lstStyle/>
          <a:p>
            <a:r>
              <a:rPr lang="en-US" b="1" dirty="0" smtClean="0">
                <a:solidFill>
                  <a:srgbClr val="F3F3F3"/>
                </a:solidFill>
                <a:latin typeface="Inter"/>
              </a:rPr>
              <a:t/>
            </a:r>
            <a:br>
              <a:rPr lang="en-US" b="1" dirty="0" smtClean="0">
                <a:solidFill>
                  <a:srgbClr val="F3F3F3"/>
                </a:solidFill>
                <a:latin typeface="Inter"/>
              </a:rPr>
            </a:br>
            <a:r>
              <a:rPr lang="en-US" b="1" dirty="0" smtClean="0">
                <a:solidFill>
                  <a:srgbClr val="F3F3F3"/>
                </a:solidFill>
                <a:latin typeface="Inter"/>
              </a:rPr>
              <a:t>Importance of Confidence Interval Prediction in Time Series:</a:t>
            </a:r>
          </a:p>
          <a:p>
            <a:pPr>
              <a:buFont typeface="+mj-lt"/>
              <a:buAutoNum type="arabicPeriod"/>
            </a:pPr>
            <a:r>
              <a:rPr lang="en-US" dirty="0" smtClean="0">
                <a:solidFill>
                  <a:srgbClr val="9E9E9E"/>
                </a:solidFill>
                <a:latin typeface="Inter"/>
              </a:rPr>
              <a:t>Uncertainty Estimation: The confidence interval provides a measure of the uncertainty associated with time series predictions. It enables variability and the range of possible future values to be quantified, which is essential for making informed decisions.</a:t>
            </a:r>
          </a:p>
          <a:p>
            <a:pPr>
              <a:buFont typeface="+mj-lt"/>
              <a:buAutoNum type="arabicPeriod"/>
            </a:pPr>
            <a:r>
              <a:rPr lang="en-US" dirty="0" smtClean="0">
                <a:solidFill>
                  <a:srgbClr val="9E9E9E"/>
                </a:solidFill>
                <a:latin typeface="Inter"/>
              </a:rPr>
              <a:t>Precision evaluation: By having a confidence interval, the precision of the predictions can be evaluated. If the interval is narrow, it indicates that the forecast is more accurate and reliable. On the other hand, if the interval is wide, it indicates greater uncertainty and less precision in the predictions.</a:t>
            </a:r>
          </a:p>
          <a:p>
            <a:pPr>
              <a:buFont typeface="+mj-lt"/>
              <a:buAutoNum type="arabicPeriod"/>
            </a:pPr>
            <a:r>
              <a:rPr lang="en-US" dirty="0" smtClean="0">
                <a:solidFill>
                  <a:srgbClr val="9E9E9E"/>
                </a:solidFill>
                <a:latin typeface="Inter"/>
              </a:rPr>
              <a:t>Risk management: The confidence interval helps in risk management by providing information about possible future scenarios. It allows identifying the ranges in which the real values could be located and making decisions based on those possible scenarios.</a:t>
            </a:r>
          </a:p>
          <a:p>
            <a:pPr>
              <a:buFont typeface="+mj-lt"/>
              <a:buAutoNum type="arabicPeriod"/>
            </a:pPr>
            <a:r>
              <a:rPr lang="en-US" dirty="0" smtClean="0">
                <a:solidFill>
                  <a:srgbClr val="9E9E9E"/>
                </a:solidFill>
                <a:latin typeface="Inter"/>
              </a:rPr>
              <a:t>Effective communication: The confidence interval is a useful tool for communicating predictions clearly and accurately. It allows the variability and uncertainty associated with the predictions to be conveyed to the stakeholders, avoiding a wrong or overly optimistic interpretation of the results.</a:t>
            </a:r>
          </a:p>
          <a:p>
            <a:r>
              <a:rPr lang="en-US" dirty="0" smtClean="0">
                <a:solidFill>
                  <a:srgbClr val="9E9E9E"/>
                </a:solidFill>
                <a:latin typeface="Inter"/>
              </a:rPr>
              <a:t>Therefore, confidence interval prediction in time series is essential to understand and manage uncertainty, assess the accuracy of predictions, and make informed decisions based on possible future scenarios.</a:t>
            </a:r>
            <a:endParaRPr lang="en-US" b="0" i="0" dirty="0">
              <a:solidFill>
                <a:srgbClr val="9E9E9E"/>
              </a:solidFill>
              <a:effectLst/>
              <a:latin typeface="Inter"/>
            </a:endParaRPr>
          </a:p>
        </p:txBody>
      </p:sp>
      <p:sp>
        <p:nvSpPr>
          <p:cNvPr id="5" name="Прямоугольник 4"/>
          <p:cNvSpPr/>
          <p:nvPr/>
        </p:nvSpPr>
        <p:spPr>
          <a:xfrm>
            <a:off x="3048000" y="2967335"/>
            <a:ext cx="6096000" cy="923330"/>
          </a:xfrm>
          <a:prstGeom prst="rect">
            <a:avLst/>
          </a:prstGeom>
        </p:spPr>
        <p:txBody>
          <a:bodyPr>
            <a:spAutoFit/>
          </a:bodyPr>
          <a:lstStyle/>
          <a:p>
            <a:r>
              <a:rPr lang="ru-RU"/>
              <a:t>https://nixtlaverse.nixtla.io/mlforecast/docs/tutorials/prediction_intervals_in_forecasting_models.html#importance-of-confidence-interval-prediction-in-time-series</a:t>
            </a:r>
          </a:p>
        </p:txBody>
      </p:sp>
    </p:spTree>
    <p:extLst>
      <p:ext uri="{BB962C8B-B14F-4D97-AF65-F5344CB8AC3E}">
        <p14:creationId xmlns:p14="http://schemas.microsoft.com/office/powerpoint/2010/main" val="4025077323"/>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4720</TotalTime>
  <Words>1182</Words>
  <Application>Microsoft Office PowerPoint</Application>
  <PresentationFormat>Широкоэкранный</PresentationFormat>
  <Paragraphs>186</Paragraphs>
  <Slides>12</Slides>
  <Notes>0</Notes>
  <HiddenSlides>1</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12</vt:i4>
      </vt:variant>
    </vt:vector>
  </HeadingPairs>
  <TitlesOfParts>
    <vt:vector size="18" baseType="lpstr">
      <vt:lpstr>Arial</vt:lpstr>
      <vt:lpstr>Calibri</vt:lpstr>
      <vt:lpstr>Calibri Light</vt:lpstr>
      <vt:lpstr>Cambria Math</vt:lpstr>
      <vt:lpstr>Inter</vt:lpstr>
      <vt:lpstr>Тема Office</vt:lpstr>
      <vt:lpstr>Презентация PowerPoint</vt:lpstr>
      <vt:lpstr>Пути оценки качества работы модели</vt:lpstr>
      <vt:lpstr>Temporal split</vt:lpstr>
      <vt:lpstr>Walk-forward кросс-валидация </vt:lpstr>
      <vt:lpstr>Backtesting</vt:lpstr>
      <vt:lpstr>Backtesting</vt:lpstr>
      <vt:lpstr>Преимущества Walk-forward cross validation</vt:lpstr>
      <vt:lpstr>Особенности кросс-валидации</vt:lpstr>
      <vt:lpstr>Многошаговые особенности оценки точности</vt:lpstr>
      <vt:lpstr>Особенности оценки неопределенности </vt:lpstr>
      <vt:lpstr>Особенности оценки неопределенности </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242</cp:revision>
  <dcterms:created xsi:type="dcterms:W3CDTF">2021-10-31T10:57:36Z</dcterms:created>
  <dcterms:modified xsi:type="dcterms:W3CDTF">2025-07-17T14:53:40Z</dcterms:modified>
</cp:coreProperties>
</file>