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461" r:id="rId2"/>
    <p:sldId id="462" r:id="rId3"/>
    <p:sldId id="465" r:id="rId4"/>
    <p:sldId id="463" r:id="rId5"/>
    <p:sldId id="464" r:id="rId6"/>
    <p:sldId id="467" r:id="rId7"/>
    <p:sldId id="466" r:id="rId8"/>
    <p:sldId id="468"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Нет стиля, сетка таблиц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Средний стиль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autoAdjust="0"/>
    <p:restoredTop sz="96301"/>
  </p:normalViewPr>
  <p:slideViewPr>
    <p:cSldViewPr snapToGrid="0">
      <p:cViewPr varScale="1">
        <p:scale>
          <a:sx n="121" d="100"/>
          <a:sy n="121" d="100"/>
        </p:scale>
        <p:origin x="96" y="83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30246F-5962-E14A-AAF2-985CCFDAC345}" type="datetimeFigureOut">
              <a:rPr lang="ru-RU" smtClean="0"/>
              <a:t>16.07.2025</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A4F326-5F8D-6A4F-9B75-A3402553DF5F}" type="slidenum">
              <a:rPr lang="ru-RU" smtClean="0"/>
              <a:t>‹#›</a:t>
            </a:fld>
            <a:endParaRPr lang="ru-RU"/>
          </a:p>
        </p:txBody>
      </p:sp>
    </p:spTree>
    <p:extLst>
      <p:ext uri="{BB962C8B-B14F-4D97-AF65-F5344CB8AC3E}">
        <p14:creationId xmlns:p14="http://schemas.microsoft.com/office/powerpoint/2010/main" val="14507655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8CFB4BA-4847-4950-9046-35C57469617A}"/>
              </a:ext>
            </a:extLst>
          </p:cNvPr>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endParaRPr lang="en-US"/>
          </a:p>
        </p:txBody>
      </p:sp>
      <p:sp>
        <p:nvSpPr>
          <p:cNvPr id="3" name="Подзаголовок 2">
            <a:extLst>
              <a:ext uri="{FF2B5EF4-FFF2-40B4-BE49-F238E27FC236}">
                <a16:creationId xmlns:a16="http://schemas.microsoft.com/office/drawing/2014/main" id="{7C50F236-05DE-4EA6-B24B-C0FEBD729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endParaRPr lang="en-US"/>
          </a:p>
        </p:txBody>
      </p:sp>
      <p:sp>
        <p:nvSpPr>
          <p:cNvPr id="4" name="Дата 3">
            <a:extLst>
              <a:ext uri="{FF2B5EF4-FFF2-40B4-BE49-F238E27FC236}">
                <a16:creationId xmlns:a16="http://schemas.microsoft.com/office/drawing/2014/main" id="{F412F55E-4C2C-4815-9251-414FB0B405B3}"/>
              </a:ext>
            </a:extLst>
          </p:cNvPr>
          <p:cNvSpPr>
            <a:spLocks noGrp="1"/>
          </p:cNvSpPr>
          <p:nvPr>
            <p:ph type="dt" sz="half" idx="10"/>
          </p:nvPr>
        </p:nvSpPr>
        <p:spPr/>
        <p:txBody>
          <a:bodyPr/>
          <a:lstStyle/>
          <a:p>
            <a:fld id="{44343DC6-30E4-4569-999A-C703F926F2AF}" type="datetimeFigureOut">
              <a:rPr lang="en-US" smtClean="0"/>
              <a:t>7/16/2025</a:t>
            </a:fld>
            <a:endParaRPr lang="en-US"/>
          </a:p>
        </p:txBody>
      </p:sp>
      <p:sp>
        <p:nvSpPr>
          <p:cNvPr id="5" name="Нижний колонтитул 4">
            <a:extLst>
              <a:ext uri="{FF2B5EF4-FFF2-40B4-BE49-F238E27FC236}">
                <a16:creationId xmlns:a16="http://schemas.microsoft.com/office/drawing/2014/main" id="{907044F1-1BCB-437D-94B7-748CD73BDC09}"/>
              </a:ext>
            </a:extLst>
          </p:cNvPr>
          <p:cNvSpPr>
            <a:spLocks noGrp="1"/>
          </p:cNvSpPr>
          <p:nvPr>
            <p:ph type="ftr" sz="quarter" idx="11"/>
          </p:nvPr>
        </p:nvSpPr>
        <p:spPr/>
        <p:txBody>
          <a:bodyPr/>
          <a:lstStyle/>
          <a:p>
            <a:endParaRPr lang="en-US"/>
          </a:p>
        </p:txBody>
      </p:sp>
      <p:sp>
        <p:nvSpPr>
          <p:cNvPr id="6" name="Номер слайда 5">
            <a:extLst>
              <a:ext uri="{FF2B5EF4-FFF2-40B4-BE49-F238E27FC236}">
                <a16:creationId xmlns:a16="http://schemas.microsoft.com/office/drawing/2014/main" id="{F8FE5FCA-3381-4AA7-97BE-E08360D07EF5}"/>
              </a:ext>
            </a:extLst>
          </p:cNvPr>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2477374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42078B4-C8B8-4494-8D96-3C27E8336B95}"/>
              </a:ext>
            </a:extLst>
          </p:cNvPr>
          <p:cNvSpPr>
            <a:spLocks noGrp="1"/>
          </p:cNvSpPr>
          <p:nvPr>
            <p:ph type="title"/>
          </p:nvPr>
        </p:nvSpPr>
        <p:spPr/>
        <p:txBody>
          <a:bodyPr/>
          <a:lstStyle/>
          <a:p>
            <a:r>
              <a:rPr lang="ru-RU"/>
              <a:t>Образец заголовка</a:t>
            </a:r>
            <a:endParaRPr lang="en-US"/>
          </a:p>
        </p:txBody>
      </p:sp>
      <p:sp>
        <p:nvSpPr>
          <p:cNvPr id="3" name="Объект 2">
            <a:extLst>
              <a:ext uri="{FF2B5EF4-FFF2-40B4-BE49-F238E27FC236}">
                <a16:creationId xmlns:a16="http://schemas.microsoft.com/office/drawing/2014/main" id="{DFB14A32-4487-4DEA-8E16-BCEFD6805387}"/>
              </a:ext>
            </a:extLst>
          </p:cNvPr>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4" name="Дата 3">
            <a:extLst>
              <a:ext uri="{FF2B5EF4-FFF2-40B4-BE49-F238E27FC236}">
                <a16:creationId xmlns:a16="http://schemas.microsoft.com/office/drawing/2014/main" id="{1CAA63F3-81BF-4E33-9692-6778B8E19DA6}"/>
              </a:ext>
            </a:extLst>
          </p:cNvPr>
          <p:cNvSpPr>
            <a:spLocks noGrp="1"/>
          </p:cNvSpPr>
          <p:nvPr>
            <p:ph type="dt" sz="half" idx="10"/>
          </p:nvPr>
        </p:nvSpPr>
        <p:spPr/>
        <p:txBody>
          <a:bodyPr/>
          <a:lstStyle/>
          <a:p>
            <a:fld id="{44343DC6-30E4-4569-999A-C703F926F2AF}" type="datetimeFigureOut">
              <a:rPr lang="en-US" smtClean="0"/>
              <a:t>7/16/2025</a:t>
            </a:fld>
            <a:endParaRPr lang="en-US"/>
          </a:p>
        </p:txBody>
      </p:sp>
      <p:sp>
        <p:nvSpPr>
          <p:cNvPr id="5" name="Нижний колонтитул 4">
            <a:extLst>
              <a:ext uri="{FF2B5EF4-FFF2-40B4-BE49-F238E27FC236}">
                <a16:creationId xmlns:a16="http://schemas.microsoft.com/office/drawing/2014/main" id="{DDE3BEBD-8CC4-4081-9FDB-95EB8C3FA1B6}"/>
              </a:ext>
            </a:extLst>
          </p:cNvPr>
          <p:cNvSpPr>
            <a:spLocks noGrp="1"/>
          </p:cNvSpPr>
          <p:nvPr>
            <p:ph type="ftr" sz="quarter" idx="11"/>
          </p:nvPr>
        </p:nvSpPr>
        <p:spPr/>
        <p:txBody>
          <a:bodyPr/>
          <a:lstStyle/>
          <a:p>
            <a:endParaRPr lang="en-US"/>
          </a:p>
        </p:txBody>
      </p:sp>
      <p:sp>
        <p:nvSpPr>
          <p:cNvPr id="6" name="Номер слайда 5">
            <a:extLst>
              <a:ext uri="{FF2B5EF4-FFF2-40B4-BE49-F238E27FC236}">
                <a16:creationId xmlns:a16="http://schemas.microsoft.com/office/drawing/2014/main" id="{528FB63A-262B-4B36-853D-8FD6AE113C36}"/>
              </a:ext>
            </a:extLst>
          </p:cNvPr>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3479614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CC43E4F-3035-403A-BF75-75C94FBBF449}"/>
              </a:ext>
            </a:extLst>
          </p:cNvPr>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endParaRPr lang="en-US"/>
          </a:p>
        </p:txBody>
      </p:sp>
      <p:sp>
        <p:nvSpPr>
          <p:cNvPr id="3" name="Текст 2">
            <a:extLst>
              <a:ext uri="{FF2B5EF4-FFF2-40B4-BE49-F238E27FC236}">
                <a16:creationId xmlns:a16="http://schemas.microsoft.com/office/drawing/2014/main" id="{903DCB50-56CC-4CB7-B0E9-C49EE413D05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Дата 3">
            <a:extLst>
              <a:ext uri="{FF2B5EF4-FFF2-40B4-BE49-F238E27FC236}">
                <a16:creationId xmlns:a16="http://schemas.microsoft.com/office/drawing/2014/main" id="{448699E2-26D2-4F29-BECB-D95064481951}"/>
              </a:ext>
            </a:extLst>
          </p:cNvPr>
          <p:cNvSpPr>
            <a:spLocks noGrp="1"/>
          </p:cNvSpPr>
          <p:nvPr>
            <p:ph type="dt" sz="half" idx="10"/>
          </p:nvPr>
        </p:nvSpPr>
        <p:spPr/>
        <p:txBody>
          <a:bodyPr/>
          <a:lstStyle/>
          <a:p>
            <a:fld id="{44343DC6-30E4-4569-999A-C703F926F2AF}" type="datetimeFigureOut">
              <a:rPr lang="en-US" smtClean="0"/>
              <a:t>7/16/2025</a:t>
            </a:fld>
            <a:endParaRPr lang="en-US"/>
          </a:p>
        </p:txBody>
      </p:sp>
      <p:sp>
        <p:nvSpPr>
          <p:cNvPr id="5" name="Нижний колонтитул 4">
            <a:extLst>
              <a:ext uri="{FF2B5EF4-FFF2-40B4-BE49-F238E27FC236}">
                <a16:creationId xmlns:a16="http://schemas.microsoft.com/office/drawing/2014/main" id="{78572401-E422-4507-AF7F-D7097CB4EF97}"/>
              </a:ext>
            </a:extLst>
          </p:cNvPr>
          <p:cNvSpPr>
            <a:spLocks noGrp="1"/>
          </p:cNvSpPr>
          <p:nvPr>
            <p:ph type="ftr" sz="quarter" idx="11"/>
          </p:nvPr>
        </p:nvSpPr>
        <p:spPr/>
        <p:txBody>
          <a:bodyPr/>
          <a:lstStyle/>
          <a:p>
            <a:endParaRPr lang="en-US"/>
          </a:p>
        </p:txBody>
      </p:sp>
      <p:sp>
        <p:nvSpPr>
          <p:cNvPr id="6" name="Номер слайда 5">
            <a:extLst>
              <a:ext uri="{FF2B5EF4-FFF2-40B4-BE49-F238E27FC236}">
                <a16:creationId xmlns:a16="http://schemas.microsoft.com/office/drawing/2014/main" id="{FDC6EC42-24E3-47D8-9888-D943C92725E4}"/>
              </a:ext>
            </a:extLst>
          </p:cNvPr>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27952724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CED8482-B2D7-40A8-802B-023F79090511}"/>
              </a:ext>
            </a:extLst>
          </p:cNvPr>
          <p:cNvSpPr>
            <a:spLocks noGrp="1"/>
          </p:cNvSpPr>
          <p:nvPr>
            <p:ph type="title"/>
          </p:nvPr>
        </p:nvSpPr>
        <p:spPr/>
        <p:txBody>
          <a:bodyPr/>
          <a:lstStyle/>
          <a:p>
            <a:r>
              <a:rPr lang="ru-RU"/>
              <a:t>Образец заголовка</a:t>
            </a:r>
            <a:endParaRPr lang="en-US"/>
          </a:p>
        </p:txBody>
      </p:sp>
      <p:sp>
        <p:nvSpPr>
          <p:cNvPr id="3" name="Объект 2">
            <a:extLst>
              <a:ext uri="{FF2B5EF4-FFF2-40B4-BE49-F238E27FC236}">
                <a16:creationId xmlns:a16="http://schemas.microsoft.com/office/drawing/2014/main" id="{87C7A474-D83F-4629-BFC3-2F4B70530FC1}"/>
              </a:ext>
            </a:extLst>
          </p:cNvPr>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4" name="Объект 3">
            <a:extLst>
              <a:ext uri="{FF2B5EF4-FFF2-40B4-BE49-F238E27FC236}">
                <a16:creationId xmlns:a16="http://schemas.microsoft.com/office/drawing/2014/main" id="{CBDD1A05-87B9-4B2D-8E14-4A30D386B2C2}"/>
              </a:ext>
            </a:extLst>
          </p:cNvPr>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5" name="Дата 4">
            <a:extLst>
              <a:ext uri="{FF2B5EF4-FFF2-40B4-BE49-F238E27FC236}">
                <a16:creationId xmlns:a16="http://schemas.microsoft.com/office/drawing/2014/main" id="{CBBC8B2B-8080-4609-A242-EA6E91AF7965}"/>
              </a:ext>
            </a:extLst>
          </p:cNvPr>
          <p:cNvSpPr>
            <a:spLocks noGrp="1"/>
          </p:cNvSpPr>
          <p:nvPr>
            <p:ph type="dt" sz="half" idx="10"/>
          </p:nvPr>
        </p:nvSpPr>
        <p:spPr/>
        <p:txBody>
          <a:bodyPr/>
          <a:lstStyle/>
          <a:p>
            <a:fld id="{44343DC6-30E4-4569-999A-C703F926F2AF}" type="datetimeFigureOut">
              <a:rPr lang="en-US" smtClean="0"/>
              <a:t>7/16/2025</a:t>
            </a:fld>
            <a:endParaRPr lang="en-US"/>
          </a:p>
        </p:txBody>
      </p:sp>
      <p:sp>
        <p:nvSpPr>
          <p:cNvPr id="6" name="Нижний колонтитул 5">
            <a:extLst>
              <a:ext uri="{FF2B5EF4-FFF2-40B4-BE49-F238E27FC236}">
                <a16:creationId xmlns:a16="http://schemas.microsoft.com/office/drawing/2014/main" id="{37E48783-5AEF-42A6-9B25-9575CD40931F}"/>
              </a:ext>
            </a:extLst>
          </p:cNvPr>
          <p:cNvSpPr>
            <a:spLocks noGrp="1"/>
          </p:cNvSpPr>
          <p:nvPr>
            <p:ph type="ftr" sz="quarter" idx="11"/>
          </p:nvPr>
        </p:nvSpPr>
        <p:spPr/>
        <p:txBody>
          <a:bodyPr/>
          <a:lstStyle/>
          <a:p>
            <a:endParaRPr lang="en-US"/>
          </a:p>
        </p:txBody>
      </p:sp>
      <p:sp>
        <p:nvSpPr>
          <p:cNvPr id="7" name="Номер слайда 6">
            <a:extLst>
              <a:ext uri="{FF2B5EF4-FFF2-40B4-BE49-F238E27FC236}">
                <a16:creationId xmlns:a16="http://schemas.microsoft.com/office/drawing/2014/main" id="{5E1D6438-4412-440C-9295-08502F801321}"/>
              </a:ext>
            </a:extLst>
          </p:cNvPr>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4003232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D3A02B6-9656-414C-BE0E-10520656D63D}"/>
              </a:ext>
            </a:extLst>
          </p:cNvPr>
          <p:cNvSpPr>
            <a:spLocks noGrp="1"/>
          </p:cNvSpPr>
          <p:nvPr>
            <p:ph type="title"/>
          </p:nvPr>
        </p:nvSpPr>
        <p:spPr>
          <a:xfrm>
            <a:off x="839788" y="365125"/>
            <a:ext cx="10515600" cy="1325563"/>
          </a:xfrm>
        </p:spPr>
        <p:txBody>
          <a:bodyPr/>
          <a:lstStyle/>
          <a:p>
            <a:r>
              <a:rPr lang="ru-RU"/>
              <a:t>Образец заголовка</a:t>
            </a:r>
            <a:endParaRPr lang="en-US"/>
          </a:p>
        </p:txBody>
      </p:sp>
      <p:sp>
        <p:nvSpPr>
          <p:cNvPr id="3" name="Текст 2">
            <a:extLst>
              <a:ext uri="{FF2B5EF4-FFF2-40B4-BE49-F238E27FC236}">
                <a16:creationId xmlns:a16="http://schemas.microsoft.com/office/drawing/2014/main" id="{920224BE-5E0C-4E18-BFEF-DD7D38630D8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a:extLst>
              <a:ext uri="{FF2B5EF4-FFF2-40B4-BE49-F238E27FC236}">
                <a16:creationId xmlns:a16="http://schemas.microsoft.com/office/drawing/2014/main" id="{2F82B3EE-40C5-4C9D-A53F-B840D95C583F}"/>
              </a:ext>
            </a:extLst>
          </p:cNvPr>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5" name="Текст 4">
            <a:extLst>
              <a:ext uri="{FF2B5EF4-FFF2-40B4-BE49-F238E27FC236}">
                <a16:creationId xmlns:a16="http://schemas.microsoft.com/office/drawing/2014/main" id="{6CE08FC7-9C8F-40C5-A36C-57D977012B8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a:extLst>
              <a:ext uri="{FF2B5EF4-FFF2-40B4-BE49-F238E27FC236}">
                <a16:creationId xmlns:a16="http://schemas.microsoft.com/office/drawing/2014/main" id="{CDA3F2C0-DF9F-4B0C-8FF7-87FA6D0C982B}"/>
              </a:ext>
            </a:extLst>
          </p:cNvPr>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7" name="Дата 6">
            <a:extLst>
              <a:ext uri="{FF2B5EF4-FFF2-40B4-BE49-F238E27FC236}">
                <a16:creationId xmlns:a16="http://schemas.microsoft.com/office/drawing/2014/main" id="{4670B12D-A9FE-4003-AD82-C945E4650199}"/>
              </a:ext>
            </a:extLst>
          </p:cNvPr>
          <p:cNvSpPr>
            <a:spLocks noGrp="1"/>
          </p:cNvSpPr>
          <p:nvPr>
            <p:ph type="dt" sz="half" idx="10"/>
          </p:nvPr>
        </p:nvSpPr>
        <p:spPr/>
        <p:txBody>
          <a:bodyPr/>
          <a:lstStyle/>
          <a:p>
            <a:fld id="{44343DC6-30E4-4569-999A-C703F926F2AF}" type="datetimeFigureOut">
              <a:rPr lang="en-US" smtClean="0"/>
              <a:t>7/16/2025</a:t>
            </a:fld>
            <a:endParaRPr lang="en-US"/>
          </a:p>
        </p:txBody>
      </p:sp>
      <p:sp>
        <p:nvSpPr>
          <p:cNvPr id="8" name="Нижний колонтитул 7">
            <a:extLst>
              <a:ext uri="{FF2B5EF4-FFF2-40B4-BE49-F238E27FC236}">
                <a16:creationId xmlns:a16="http://schemas.microsoft.com/office/drawing/2014/main" id="{01D85015-23A3-46A2-835F-65D23A8CC63E}"/>
              </a:ext>
            </a:extLst>
          </p:cNvPr>
          <p:cNvSpPr>
            <a:spLocks noGrp="1"/>
          </p:cNvSpPr>
          <p:nvPr>
            <p:ph type="ftr" sz="quarter" idx="11"/>
          </p:nvPr>
        </p:nvSpPr>
        <p:spPr/>
        <p:txBody>
          <a:bodyPr/>
          <a:lstStyle/>
          <a:p>
            <a:endParaRPr lang="en-US"/>
          </a:p>
        </p:txBody>
      </p:sp>
      <p:sp>
        <p:nvSpPr>
          <p:cNvPr id="9" name="Номер слайда 8">
            <a:extLst>
              <a:ext uri="{FF2B5EF4-FFF2-40B4-BE49-F238E27FC236}">
                <a16:creationId xmlns:a16="http://schemas.microsoft.com/office/drawing/2014/main" id="{3ECA17E4-0196-4A48-A9E8-2CDD648161B2}"/>
              </a:ext>
            </a:extLst>
          </p:cNvPr>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3570506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333BF47-6BDB-4118-A251-A1E8A5BAC7A7}"/>
              </a:ext>
            </a:extLst>
          </p:cNvPr>
          <p:cNvSpPr>
            <a:spLocks noGrp="1"/>
          </p:cNvSpPr>
          <p:nvPr>
            <p:ph type="title"/>
          </p:nvPr>
        </p:nvSpPr>
        <p:spPr/>
        <p:txBody>
          <a:bodyPr/>
          <a:lstStyle/>
          <a:p>
            <a:r>
              <a:rPr lang="ru-RU"/>
              <a:t>Образец заголовка</a:t>
            </a:r>
            <a:endParaRPr lang="en-US"/>
          </a:p>
        </p:txBody>
      </p:sp>
      <p:sp>
        <p:nvSpPr>
          <p:cNvPr id="3" name="Дата 2">
            <a:extLst>
              <a:ext uri="{FF2B5EF4-FFF2-40B4-BE49-F238E27FC236}">
                <a16:creationId xmlns:a16="http://schemas.microsoft.com/office/drawing/2014/main" id="{77ED7011-686E-45C2-8968-A0B2E5D91B3B}"/>
              </a:ext>
            </a:extLst>
          </p:cNvPr>
          <p:cNvSpPr>
            <a:spLocks noGrp="1"/>
          </p:cNvSpPr>
          <p:nvPr>
            <p:ph type="dt" sz="half" idx="10"/>
          </p:nvPr>
        </p:nvSpPr>
        <p:spPr/>
        <p:txBody>
          <a:bodyPr/>
          <a:lstStyle/>
          <a:p>
            <a:fld id="{44343DC6-30E4-4569-999A-C703F926F2AF}" type="datetimeFigureOut">
              <a:rPr lang="en-US" smtClean="0"/>
              <a:t>7/16/2025</a:t>
            </a:fld>
            <a:endParaRPr lang="en-US"/>
          </a:p>
        </p:txBody>
      </p:sp>
      <p:sp>
        <p:nvSpPr>
          <p:cNvPr id="4" name="Нижний колонтитул 3">
            <a:extLst>
              <a:ext uri="{FF2B5EF4-FFF2-40B4-BE49-F238E27FC236}">
                <a16:creationId xmlns:a16="http://schemas.microsoft.com/office/drawing/2014/main" id="{84ACE154-94EF-4E83-9D3F-7EE19302267A}"/>
              </a:ext>
            </a:extLst>
          </p:cNvPr>
          <p:cNvSpPr>
            <a:spLocks noGrp="1"/>
          </p:cNvSpPr>
          <p:nvPr>
            <p:ph type="ftr" sz="quarter" idx="11"/>
          </p:nvPr>
        </p:nvSpPr>
        <p:spPr/>
        <p:txBody>
          <a:bodyPr/>
          <a:lstStyle/>
          <a:p>
            <a:endParaRPr lang="en-US"/>
          </a:p>
        </p:txBody>
      </p:sp>
      <p:sp>
        <p:nvSpPr>
          <p:cNvPr id="5" name="Номер слайда 4">
            <a:extLst>
              <a:ext uri="{FF2B5EF4-FFF2-40B4-BE49-F238E27FC236}">
                <a16:creationId xmlns:a16="http://schemas.microsoft.com/office/drawing/2014/main" id="{E255E03A-D16A-4D69-90DC-E58F3F32ED55}"/>
              </a:ext>
            </a:extLst>
          </p:cNvPr>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14637088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a:extLst>
              <a:ext uri="{FF2B5EF4-FFF2-40B4-BE49-F238E27FC236}">
                <a16:creationId xmlns:a16="http://schemas.microsoft.com/office/drawing/2014/main" id="{774E9CB4-2963-43D8-8D7F-D3C9C5A63602}"/>
              </a:ext>
            </a:extLst>
          </p:cNvPr>
          <p:cNvSpPr>
            <a:spLocks noGrp="1"/>
          </p:cNvSpPr>
          <p:nvPr>
            <p:ph type="dt" sz="half" idx="10"/>
          </p:nvPr>
        </p:nvSpPr>
        <p:spPr/>
        <p:txBody>
          <a:bodyPr/>
          <a:lstStyle/>
          <a:p>
            <a:fld id="{44343DC6-30E4-4569-999A-C703F926F2AF}" type="datetimeFigureOut">
              <a:rPr lang="en-US" smtClean="0"/>
              <a:t>7/16/2025</a:t>
            </a:fld>
            <a:endParaRPr lang="en-US"/>
          </a:p>
        </p:txBody>
      </p:sp>
      <p:sp>
        <p:nvSpPr>
          <p:cNvPr id="3" name="Нижний колонтитул 2">
            <a:extLst>
              <a:ext uri="{FF2B5EF4-FFF2-40B4-BE49-F238E27FC236}">
                <a16:creationId xmlns:a16="http://schemas.microsoft.com/office/drawing/2014/main" id="{C54DA748-DD83-4645-AFEB-64F92704904C}"/>
              </a:ext>
            </a:extLst>
          </p:cNvPr>
          <p:cNvSpPr>
            <a:spLocks noGrp="1"/>
          </p:cNvSpPr>
          <p:nvPr>
            <p:ph type="ftr" sz="quarter" idx="11"/>
          </p:nvPr>
        </p:nvSpPr>
        <p:spPr/>
        <p:txBody>
          <a:bodyPr/>
          <a:lstStyle/>
          <a:p>
            <a:endParaRPr lang="en-US"/>
          </a:p>
        </p:txBody>
      </p:sp>
      <p:sp>
        <p:nvSpPr>
          <p:cNvPr id="4" name="Номер слайда 3">
            <a:extLst>
              <a:ext uri="{FF2B5EF4-FFF2-40B4-BE49-F238E27FC236}">
                <a16:creationId xmlns:a16="http://schemas.microsoft.com/office/drawing/2014/main" id="{2D3C6B88-BC8D-458D-A522-282B466F8CB9}"/>
              </a:ext>
            </a:extLst>
          </p:cNvPr>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17851700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9876CF2-7597-4002-8ABA-F1D3B86D9390}"/>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endParaRPr lang="en-US"/>
          </a:p>
        </p:txBody>
      </p:sp>
      <p:sp>
        <p:nvSpPr>
          <p:cNvPr id="3" name="Объект 2">
            <a:extLst>
              <a:ext uri="{FF2B5EF4-FFF2-40B4-BE49-F238E27FC236}">
                <a16:creationId xmlns:a16="http://schemas.microsoft.com/office/drawing/2014/main" id="{6A3F4F31-CC84-417F-B967-C992A4599C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4" name="Текст 3">
            <a:extLst>
              <a:ext uri="{FF2B5EF4-FFF2-40B4-BE49-F238E27FC236}">
                <a16:creationId xmlns:a16="http://schemas.microsoft.com/office/drawing/2014/main" id="{61EC5051-C614-4B70-A698-B21DE6B2C34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AB9C3610-5D28-44EB-9587-C384AEC28954}"/>
              </a:ext>
            </a:extLst>
          </p:cNvPr>
          <p:cNvSpPr>
            <a:spLocks noGrp="1"/>
          </p:cNvSpPr>
          <p:nvPr>
            <p:ph type="dt" sz="half" idx="10"/>
          </p:nvPr>
        </p:nvSpPr>
        <p:spPr/>
        <p:txBody>
          <a:bodyPr/>
          <a:lstStyle/>
          <a:p>
            <a:fld id="{44343DC6-30E4-4569-999A-C703F926F2AF}" type="datetimeFigureOut">
              <a:rPr lang="en-US" smtClean="0"/>
              <a:t>7/16/2025</a:t>
            </a:fld>
            <a:endParaRPr lang="en-US"/>
          </a:p>
        </p:txBody>
      </p:sp>
      <p:sp>
        <p:nvSpPr>
          <p:cNvPr id="6" name="Нижний колонтитул 5">
            <a:extLst>
              <a:ext uri="{FF2B5EF4-FFF2-40B4-BE49-F238E27FC236}">
                <a16:creationId xmlns:a16="http://schemas.microsoft.com/office/drawing/2014/main" id="{D53EF8BB-8CBF-4362-9146-DEF1DEC21B36}"/>
              </a:ext>
            </a:extLst>
          </p:cNvPr>
          <p:cNvSpPr>
            <a:spLocks noGrp="1"/>
          </p:cNvSpPr>
          <p:nvPr>
            <p:ph type="ftr" sz="quarter" idx="11"/>
          </p:nvPr>
        </p:nvSpPr>
        <p:spPr/>
        <p:txBody>
          <a:bodyPr/>
          <a:lstStyle/>
          <a:p>
            <a:endParaRPr lang="en-US"/>
          </a:p>
        </p:txBody>
      </p:sp>
      <p:sp>
        <p:nvSpPr>
          <p:cNvPr id="7" name="Номер слайда 6">
            <a:extLst>
              <a:ext uri="{FF2B5EF4-FFF2-40B4-BE49-F238E27FC236}">
                <a16:creationId xmlns:a16="http://schemas.microsoft.com/office/drawing/2014/main" id="{211AA93E-098B-4DBE-A044-721E37D6D1A3}"/>
              </a:ext>
            </a:extLst>
          </p:cNvPr>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26945639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3CC3971-FAC8-4F52-B15E-7F9CCA65EA8D}"/>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endParaRPr lang="en-US"/>
          </a:p>
        </p:txBody>
      </p:sp>
      <p:sp>
        <p:nvSpPr>
          <p:cNvPr id="3" name="Рисунок 2">
            <a:extLst>
              <a:ext uri="{FF2B5EF4-FFF2-40B4-BE49-F238E27FC236}">
                <a16:creationId xmlns:a16="http://schemas.microsoft.com/office/drawing/2014/main" id="{62583E30-D6F9-47C1-B0FD-3070A90D9CE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Текст 3">
            <a:extLst>
              <a:ext uri="{FF2B5EF4-FFF2-40B4-BE49-F238E27FC236}">
                <a16:creationId xmlns:a16="http://schemas.microsoft.com/office/drawing/2014/main" id="{2133E1C3-FED5-47C3-8D75-D0E1CE87A2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C7B8DF28-82CD-4556-9610-6627C6C1E281}"/>
              </a:ext>
            </a:extLst>
          </p:cNvPr>
          <p:cNvSpPr>
            <a:spLocks noGrp="1"/>
          </p:cNvSpPr>
          <p:nvPr>
            <p:ph type="dt" sz="half" idx="10"/>
          </p:nvPr>
        </p:nvSpPr>
        <p:spPr/>
        <p:txBody>
          <a:bodyPr/>
          <a:lstStyle/>
          <a:p>
            <a:fld id="{44343DC6-30E4-4569-999A-C703F926F2AF}" type="datetimeFigureOut">
              <a:rPr lang="en-US" smtClean="0"/>
              <a:t>7/16/2025</a:t>
            </a:fld>
            <a:endParaRPr lang="en-US"/>
          </a:p>
        </p:txBody>
      </p:sp>
      <p:sp>
        <p:nvSpPr>
          <p:cNvPr id="6" name="Нижний колонтитул 5">
            <a:extLst>
              <a:ext uri="{FF2B5EF4-FFF2-40B4-BE49-F238E27FC236}">
                <a16:creationId xmlns:a16="http://schemas.microsoft.com/office/drawing/2014/main" id="{1C754358-7942-4E40-AF93-18EF33D32044}"/>
              </a:ext>
            </a:extLst>
          </p:cNvPr>
          <p:cNvSpPr>
            <a:spLocks noGrp="1"/>
          </p:cNvSpPr>
          <p:nvPr>
            <p:ph type="ftr" sz="quarter" idx="11"/>
          </p:nvPr>
        </p:nvSpPr>
        <p:spPr/>
        <p:txBody>
          <a:bodyPr/>
          <a:lstStyle/>
          <a:p>
            <a:endParaRPr lang="en-US"/>
          </a:p>
        </p:txBody>
      </p:sp>
      <p:sp>
        <p:nvSpPr>
          <p:cNvPr id="7" name="Номер слайда 6">
            <a:extLst>
              <a:ext uri="{FF2B5EF4-FFF2-40B4-BE49-F238E27FC236}">
                <a16:creationId xmlns:a16="http://schemas.microsoft.com/office/drawing/2014/main" id="{70356B49-2C0E-451A-8A9A-74FDF9A8C039}"/>
              </a:ext>
            </a:extLst>
          </p:cNvPr>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27986816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2FE3F53-D493-48AC-971D-7454A8D783D9}"/>
              </a:ext>
            </a:extLst>
          </p:cNvPr>
          <p:cNvSpPr>
            <a:spLocks noGrp="1"/>
          </p:cNvSpPr>
          <p:nvPr>
            <p:ph type="title"/>
          </p:nvPr>
        </p:nvSpPr>
        <p:spPr/>
        <p:txBody>
          <a:bodyPr/>
          <a:lstStyle/>
          <a:p>
            <a:r>
              <a:rPr lang="ru-RU"/>
              <a:t>Образец заголовка</a:t>
            </a:r>
            <a:endParaRPr lang="en-US"/>
          </a:p>
        </p:txBody>
      </p:sp>
      <p:sp>
        <p:nvSpPr>
          <p:cNvPr id="3" name="Вертикальный текст 2">
            <a:extLst>
              <a:ext uri="{FF2B5EF4-FFF2-40B4-BE49-F238E27FC236}">
                <a16:creationId xmlns:a16="http://schemas.microsoft.com/office/drawing/2014/main" id="{E4A05121-2968-48C3-BB49-AF0AC43AD131}"/>
              </a:ext>
            </a:extLst>
          </p:cNvPr>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4" name="Дата 3">
            <a:extLst>
              <a:ext uri="{FF2B5EF4-FFF2-40B4-BE49-F238E27FC236}">
                <a16:creationId xmlns:a16="http://schemas.microsoft.com/office/drawing/2014/main" id="{18A79E25-1AB6-488D-AFD4-754FABB44191}"/>
              </a:ext>
            </a:extLst>
          </p:cNvPr>
          <p:cNvSpPr>
            <a:spLocks noGrp="1"/>
          </p:cNvSpPr>
          <p:nvPr>
            <p:ph type="dt" sz="half" idx="10"/>
          </p:nvPr>
        </p:nvSpPr>
        <p:spPr/>
        <p:txBody>
          <a:bodyPr/>
          <a:lstStyle/>
          <a:p>
            <a:fld id="{44343DC6-30E4-4569-999A-C703F926F2AF}" type="datetimeFigureOut">
              <a:rPr lang="en-US" smtClean="0"/>
              <a:t>7/16/2025</a:t>
            </a:fld>
            <a:endParaRPr lang="en-US"/>
          </a:p>
        </p:txBody>
      </p:sp>
      <p:sp>
        <p:nvSpPr>
          <p:cNvPr id="5" name="Нижний колонтитул 4">
            <a:extLst>
              <a:ext uri="{FF2B5EF4-FFF2-40B4-BE49-F238E27FC236}">
                <a16:creationId xmlns:a16="http://schemas.microsoft.com/office/drawing/2014/main" id="{CF133EB6-0DE0-4289-8048-2D6D72BA6721}"/>
              </a:ext>
            </a:extLst>
          </p:cNvPr>
          <p:cNvSpPr>
            <a:spLocks noGrp="1"/>
          </p:cNvSpPr>
          <p:nvPr>
            <p:ph type="ftr" sz="quarter" idx="11"/>
          </p:nvPr>
        </p:nvSpPr>
        <p:spPr/>
        <p:txBody>
          <a:bodyPr/>
          <a:lstStyle/>
          <a:p>
            <a:endParaRPr lang="en-US"/>
          </a:p>
        </p:txBody>
      </p:sp>
      <p:sp>
        <p:nvSpPr>
          <p:cNvPr id="6" name="Номер слайда 5">
            <a:extLst>
              <a:ext uri="{FF2B5EF4-FFF2-40B4-BE49-F238E27FC236}">
                <a16:creationId xmlns:a16="http://schemas.microsoft.com/office/drawing/2014/main" id="{88889C22-9049-4BFC-8501-808125020B1E}"/>
              </a:ext>
            </a:extLst>
          </p:cNvPr>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8822138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a:extLst>
              <a:ext uri="{FF2B5EF4-FFF2-40B4-BE49-F238E27FC236}">
                <a16:creationId xmlns:a16="http://schemas.microsoft.com/office/drawing/2014/main" id="{BA0A8197-99AF-4047-BB35-1E28D8D181D9}"/>
              </a:ext>
            </a:extLst>
          </p:cNvPr>
          <p:cNvSpPr>
            <a:spLocks noGrp="1"/>
          </p:cNvSpPr>
          <p:nvPr>
            <p:ph type="title" orient="vert"/>
          </p:nvPr>
        </p:nvSpPr>
        <p:spPr>
          <a:xfrm>
            <a:off x="8724900" y="365125"/>
            <a:ext cx="2628900" cy="5811838"/>
          </a:xfrm>
        </p:spPr>
        <p:txBody>
          <a:bodyPr vert="eaVert"/>
          <a:lstStyle/>
          <a:p>
            <a:r>
              <a:rPr lang="ru-RU"/>
              <a:t>Образец заголовка</a:t>
            </a:r>
            <a:endParaRPr lang="en-US"/>
          </a:p>
        </p:txBody>
      </p:sp>
      <p:sp>
        <p:nvSpPr>
          <p:cNvPr id="3" name="Вертикальный текст 2">
            <a:extLst>
              <a:ext uri="{FF2B5EF4-FFF2-40B4-BE49-F238E27FC236}">
                <a16:creationId xmlns:a16="http://schemas.microsoft.com/office/drawing/2014/main" id="{32B8222B-3624-4C62-9AC8-0C9ACA871076}"/>
              </a:ext>
            </a:extLst>
          </p:cNvPr>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4" name="Дата 3">
            <a:extLst>
              <a:ext uri="{FF2B5EF4-FFF2-40B4-BE49-F238E27FC236}">
                <a16:creationId xmlns:a16="http://schemas.microsoft.com/office/drawing/2014/main" id="{69B1FCEF-30E5-4242-9E96-510141165CCB}"/>
              </a:ext>
            </a:extLst>
          </p:cNvPr>
          <p:cNvSpPr>
            <a:spLocks noGrp="1"/>
          </p:cNvSpPr>
          <p:nvPr>
            <p:ph type="dt" sz="half" idx="10"/>
          </p:nvPr>
        </p:nvSpPr>
        <p:spPr/>
        <p:txBody>
          <a:bodyPr/>
          <a:lstStyle/>
          <a:p>
            <a:fld id="{44343DC6-30E4-4569-999A-C703F926F2AF}" type="datetimeFigureOut">
              <a:rPr lang="en-US" smtClean="0"/>
              <a:t>7/16/2025</a:t>
            </a:fld>
            <a:endParaRPr lang="en-US"/>
          </a:p>
        </p:txBody>
      </p:sp>
      <p:sp>
        <p:nvSpPr>
          <p:cNvPr id="5" name="Нижний колонтитул 4">
            <a:extLst>
              <a:ext uri="{FF2B5EF4-FFF2-40B4-BE49-F238E27FC236}">
                <a16:creationId xmlns:a16="http://schemas.microsoft.com/office/drawing/2014/main" id="{E83953CE-A629-44C1-8C47-D85C4C211FDD}"/>
              </a:ext>
            </a:extLst>
          </p:cNvPr>
          <p:cNvSpPr>
            <a:spLocks noGrp="1"/>
          </p:cNvSpPr>
          <p:nvPr>
            <p:ph type="ftr" sz="quarter" idx="11"/>
          </p:nvPr>
        </p:nvSpPr>
        <p:spPr/>
        <p:txBody>
          <a:bodyPr/>
          <a:lstStyle/>
          <a:p>
            <a:endParaRPr lang="en-US"/>
          </a:p>
        </p:txBody>
      </p:sp>
      <p:sp>
        <p:nvSpPr>
          <p:cNvPr id="6" name="Номер слайда 5">
            <a:extLst>
              <a:ext uri="{FF2B5EF4-FFF2-40B4-BE49-F238E27FC236}">
                <a16:creationId xmlns:a16="http://schemas.microsoft.com/office/drawing/2014/main" id="{D4200CE6-DA51-4537-A51E-3A38FB76B5F9}"/>
              </a:ext>
            </a:extLst>
          </p:cNvPr>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37504018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B55DBB2-2936-4C5B-A898-17ABF8192B1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endParaRPr lang="en-US"/>
          </a:p>
        </p:txBody>
      </p:sp>
      <p:sp>
        <p:nvSpPr>
          <p:cNvPr id="3" name="Текст 2">
            <a:extLst>
              <a:ext uri="{FF2B5EF4-FFF2-40B4-BE49-F238E27FC236}">
                <a16:creationId xmlns:a16="http://schemas.microsoft.com/office/drawing/2014/main" id="{77DD482A-BA7D-4219-92B7-5B66F76D4E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4" name="Дата 3">
            <a:extLst>
              <a:ext uri="{FF2B5EF4-FFF2-40B4-BE49-F238E27FC236}">
                <a16:creationId xmlns:a16="http://schemas.microsoft.com/office/drawing/2014/main" id="{E6365484-7FD2-4223-ACAC-F0B65AFF5E2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4343DC6-30E4-4569-999A-C703F926F2AF}" type="datetimeFigureOut">
              <a:rPr lang="en-US" smtClean="0"/>
              <a:t>7/16/2025</a:t>
            </a:fld>
            <a:endParaRPr lang="en-US"/>
          </a:p>
        </p:txBody>
      </p:sp>
      <p:sp>
        <p:nvSpPr>
          <p:cNvPr id="5" name="Нижний колонтитул 4">
            <a:extLst>
              <a:ext uri="{FF2B5EF4-FFF2-40B4-BE49-F238E27FC236}">
                <a16:creationId xmlns:a16="http://schemas.microsoft.com/office/drawing/2014/main" id="{3E91DAA7-F8E0-4BCD-8D26-540FF2A6E1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Номер слайда 5">
            <a:extLst>
              <a:ext uri="{FF2B5EF4-FFF2-40B4-BE49-F238E27FC236}">
                <a16:creationId xmlns:a16="http://schemas.microsoft.com/office/drawing/2014/main" id="{B4E25FF6-6DD2-4839-9908-5D121329B47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5C3B737-A709-4ABC-AFE0-A6B067850C48}" type="slidenum">
              <a:rPr lang="en-US" smtClean="0"/>
              <a:t>‹#›</a:t>
            </a:fld>
            <a:endParaRPr lang="en-US"/>
          </a:p>
        </p:txBody>
      </p:sp>
    </p:spTree>
    <p:extLst>
      <p:ext uri="{BB962C8B-B14F-4D97-AF65-F5344CB8AC3E}">
        <p14:creationId xmlns:p14="http://schemas.microsoft.com/office/powerpoint/2010/main" val="30811267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mydata.ch/backtesting-in-time-series-forecasting-for-maximum-performance/" TargetMode="External"/><Relationship Id="rId2" Type="http://schemas.openxmlformats.org/officeDocument/2006/relationships/hyperlink" Target="https://docs.aws.amazon.com/whitepapers/latest/time-series-forecasting-principles-with-amazon-forecast/step-4-evaluate-predictors.html#prediction-quantiles-and-accuracy-metrics" TargetMode="External"/><Relationship Id="rId1" Type="http://schemas.openxmlformats.org/officeDocument/2006/relationships/slideLayout" Target="../slideLayouts/slideLayout2.xml"/><Relationship Id="rId6" Type="http://schemas.openxmlformats.org/officeDocument/2006/relationships/hyperlink" Target="https://machinelearningmastery.com/backtest-machine-learning-models-time-series-forecasting/" TargetMode="External"/><Relationship Id="rId5" Type="http://schemas.openxmlformats.org/officeDocument/2006/relationships/hyperlink" Target="https://www.sktime.net/en/stable/examples/forecasting/window_splitters.html" TargetMode="External"/><Relationship Id="rId4" Type="http://schemas.openxmlformats.org/officeDocument/2006/relationships/hyperlink" Target="https://joaquinamatrodrigo.github.io/skforecast/0.11.0/user_guides/backtesting.html" TargetMode="Externa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0A3B1A5-BEEC-B3CA-D0EB-A7DFC318C66A}"/>
              </a:ext>
            </a:extLst>
          </p:cNvPr>
          <p:cNvSpPr>
            <a:spLocks noGrp="1"/>
          </p:cNvSpPr>
          <p:nvPr>
            <p:ph type="title"/>
          </p:nvPr>
        </p:nvSpPr>
        <p:spPr/>
        <p:txBody>
          <a:bodyPr/>
          <a:lstStyle/>
          <a:p>
            <a:endParaRPr lang="ru-RU"/>
          </a:p>
        </p:txBody>
      </p:sp>
      <p:sp>
        <p:nvSpPr>
          <p:cNvPr id="3" name="Объект 2">
            <a:extLst>
              <a:ext uri="{FF2B5EF4-FFF2-40B4-BE49-F238E27FC236}">
                <a16:creationId xmlns:a16="http://schemas.microsoft.com/office/drawing/2014/main" id="{03A9E8C0-6911-F041-2725-769B2E4125BF}"/>
              </a:ext>
            </a:extLst>
          </p:cNvPr>
          <p:cNvSpPr>
            <a:spLocks noGrp="1"/>
          </p:cNvSpPr>
          <p:nvPr>
            <p:ph idx="1"/>
          </p:nvPr>
        </p:nvSpPr>
        <p:spPr>
          <a:xfrm>
            <a:off x="97971" y="1690688"/>
            <a:ext cx="11255829" cy="5080226"/>
          </a:xfrm>
        </p:spPr>
        <p:txBody>
          <a:bodyPr>
            <a:normAutofit fontScale="55000" lnSpcReduction="20000"/>
          </a:bodyPr>
          <a:lstStyle/>
          <a:p>
            <a:r>
              <a:rPr lang="ru-RU" dirty="0"/>
              <a:t>В случае временного ряда кросс валидация может быть выполнена в скользящем окне по данным </a:t>
            </a:r>
            <a:r>
              <a:rPr lang="en" dirty="0">
                <a:hlinkClick r:id="rId2"/>
              </a:rPr>
              <a:t>rolling backtest evaluation</a:t>
            </a:r>
            <a:r>
              <a:rPr lang="en" dirty="0"/>
              <a:t>.</a:t>
            </a:r>
          </a:p>
          <a:p>
            <a:r>
              <a:rPr lang="ru-RU" dirty="0">
                <a:hlinkClick r:id="rId3"/>
              </a:rPr>
              <a:t>Приемущественно метода</a:t>
            </a:r>
            <a:r>
              <a:rPr lang="ru-RU" dirty="0"/>
              <a:t> </a:t>
            </a:r>
            <a:r>
              <a:rPr lang="ru-RU" dirty="0" err="1"/>
              <a:t>бектеста</a:t>
            </a:r>
            <a:r>
              <a:rPr lang="ru-RU" dirty="0"/>
              <a:t> скользящим окном следующие:</a:t>
            </a:r>
          </a:p>
          <a:p>
            <a:r>
              <a:rPr lang="ru-RU" dirty="0"/>
              <a:t>позволяет быть уверенным, что прогнозы точны и последовательны в течение длительного периода времени.</a:t>
            </a:r>
          </a:p>
          <a:p>
            <a:r>
              <a:rPr lang="ru-RU" dirty="0"/>
              <a:t>может помочь найти и исправить "</a:t>
            </a:r>
            <a:r>
              <a:rPr lang="ru-RU" dirty="0" err="1"/>
              <a:t>плавоющие</a:t>
            </a:r>
            <a:r>
              <a:rPr lang="ru-RU" dirty="0"/>
              <a:t>" ошибки в модели данных. То есть редкие, но достаточно регулярные ошибки (неучтенную </a:t>
            </a:r>
            <a:r>
              <a:rPr lang="ru-RU" dirty="0" err="1"/>
              <a:t>информоацию</a:t>
            </a:r>
            <a:r>
              <a:rPr lang="ru-RU" dirty="0"/>
              <a:t>), которые можно участь в модели.</a:t>
            </a:r>
          </a:p>
          <a:p>
            <a:r>
              <a:rPr lang="ru-RU" dirty="0"/>
              <a:t>может помочь выявить недостающие внешние факторы в данных, которые помогут модели делать более точные прогнозы.</a:t>
            </a:r>
          </a:p>
          <a:p>
            <a:r>
              <a:rPr lang="ru-RU" dirty="0"/>
              <a:t>Напомним, что в прогнозировании временных рядов под </a:t>
            </a:r>
            <a:r>
              <a:rPr lang="ru-RU" dirty="0" err="1"/>
              <a:t>бэктестингом</a:t>
            </a:r>
            <a:r>
              <a:rPr lang="ru-RU" dirty="0"/>
              <a:t> понимается процесс проверки модели прогноза на исторических данных. Этот метод предполагает пошаговое движение назад во времени, чтобы оценить, насколько хорошо показала бы себя модель, если бы она использовалась для прогнозирования в этот период времени.</a:t>
            </a:r>
          </a:p>
          <a:p>
            <a:r>
              <a:rPr lang="ru-RU" dirty="0"/>
              <a:t>С технической точки зрения идея тут </a:t>
            </a:r>
            <a:r>
              <a:rPr lang="ru-RU" dirty="0">
                <a:hlinkClick r:id="rId4"/>
              </a:rPr>
              <a:t>заключается следующем</a:t>
            </a:r>
            <a:r>
              <a:rPr lang="ru-RU" dirty="0"/>
              <a:t>. Задается </a:t>
            </a:r>
            <a:r>
              <a:rPr lang="ru-RU" dirty="0" err="1"/>
              <a:t>некторая</a:t>
            </a:r>
            <a:r>
              <a:rPr lang="ru-RU" dirty="0"/>
              <a:t> ширина окна временного ряда. Заданное окно скользит по временному ряду с начального положения, например, таким образом, что все данные перед ним являются тренировочными, а после тестовыми. Могут быть и </a:t>
            </a:r>
            <a:r>
              <a:rPr lang="ru-RU" dirty="0">
                <a:hlinkClick r:id="rId5"/>
              </a:rPr>
              <a:t>другие стратегии</a:t>
            </a:r>
            <a:r>
              <a:rPr lang="ru-RU" dirty="0"/>
              <a:t>, например, что только лишь выборка заданного размера перед окном является тренировочной. Такие стратегии называются </a:t>
            </a:r>
            <a:r>
              <a:rPr lang="en" dirty="0" err="1"/>
              <a:t>ExpandingWindowSplitter</a:t>
            </a:r>
            <a:r>
              <a:rPr lang="en" dirty="0"/>
              <a:t> </a:t>
            </a:r>
            <a:r>
              <a:rPr lang="ru-RU" dirty="0"/>
              <a:t>и </a:t>
            </a:r>
            <a:r>
              <a:rPr lang="en" dirty="0" err="1"/>
              <a:t>SlidingWindowSplitter</a:t>
            </a:r>
            <a:r>
              <a:rPr lang="en" dirty="0"/>
              <a:t> </a:t>
            </a:r>
            <a:r>
              <a:rPr lang="ru-RU" dirty="0"/>
              <a:t>соответственно.</a:t>
            </a:r>
          </a:p>
          <a:p>
            <a:r>
              <a:rPr lang="ru-RU" dirty="0"/>
              <a:t>Для использования данных стратегий рекомендуем задавать </a:t>
            </a:r>
            <a:r>
              <a:rPr lang="ru-RU" dirty="0" err="1"/>
              <a:t>оконо</a:t>
            </a:r>
            <a:r>
              <a:rPr lang="ru-RU" dirty="0"/>
              <a:t> списком чисел вместо дат. Попробуем для начала визуализировать </a:t>
            </a:r>
            <a:r>
              <a:rPr lang="en" dirty="0" err="1"/>
              <a:t>ExpandingWindowSplitter</a:t>
            </a:r>
            <a:endParaRPr lang="en" dirty="0"/>
          </a:p>
          <a:p>
            <a:r>
              <a:rPr lang="ru-RU" dirty="0"/>
              <a:t>Отметим что по своей </a:t>
            </a:r>
            <a:r>
              <a:rPr lang="ru-RU" dirty="0" err="1"/>
              <a:t>идеалогии</a:t>
            </a:r>
            <a:r>
              <a:rPr lang="ru-RU" dirty="0"/>
              <a:t> данная процедура аналогична тому, что модель бы тестировалась на поступающих данных в соответствующих рабочих </a:t>
            </a:r>
            <a:r>
              <a:rPr lang="ru-RU" dirty="0" err="1"/>
              <a:t>режмах</a:t>
            </a:r>
            <a:r>
              <a:rPr lang="ru-RU" dirty="0"/>
              <a:t>. При этом целью такого тестирования бы была оценка работоспособности модели. Другими словами тестирование гипотезы о необходимости сменить модель (например переобучить). Такая процедура называется </a:t>
            </a:r>
            <a:r>
              <a:rPr lang="en" dirty="0">
                <a:hlinkClick r:id="rId6"/>
              </a:rPr>
              <a:t>walk-forward validation</a:t>
            </a:r>
            <a:r>
              <a:rPr lang="en" dirty="0"/>
              <a:t>.</a:t>
            </a:r>
          </a:p>
          <a:p>
            <a:endParaRPr lang="ru-RU" dirty="0"/>
          </a:p>
        </p:txBody>
      </p:sp>
    </p:spTree>
    <p:extLst>
      <p:ext uri="{BB962C8B-B14F-4D97-AF65-F5344CB8AC3E}">
        <p14:creationId xmlns:p14="http://schemas.microsoft.com/office/powerpoint/2010/main" val="2445620673"/>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 y="136525"/>
            <a:ext cx="11719560" cy="671195"/>
          </a:xfrm>
        </p:spPr>
        <p:txBody>
          <a:bodyPr>
            <a:normAutofit fontScale="90000"/>
          </a:bodyPr>
          <a:lstStyle/>
          <a:p>
            <a:pPr algn="ctr"/>
            <a:r>
              <a:rPr lang="ru-RU" dirty="0" smtClean="0"/>
              <a:t>Пути оценки качества работы модели</a:t>
            </a:r>
            <a:endParaRPr lang="ru-RU" dirty="0"/>
          </a:p>
        </p:txBody>
      </p:sp>
      <mc:AlternateContent xmlns:mc="http://schemas.openxmlformats.org/markup-compatibility/2006">
        <mc:Choice xmlns:a14="http://schemas.microsoft.com/office/drawing/2010/main" Requires="a14">
          <p:sp>
            <p:nvSpPr>
              <p:cNvPr id="3" name="Объект 2"/>
              <p:cNvSpPr>
                <a:spLocks noGrp="1"/>
              </p:cNvSpPr>
              <p:nvPr>
                <p:ph idx="1"/>
              </p:nvPr>
            </p:nvSpPr>
            <p:spPr>
              <a:xfrm>
                <a:off x="83820" y="807719"/>
                <a:ext cx="11849100" cy="5888356"/>
              </a:xfrm>
            </p:spPr>
            <p:txBody>
              <a:bodyPr>
                <a:normAutofit fontScale="92500" lnSpcReduction="10000"/>
              </a:bodyPr>
              <a:lstStyle/>
              <a:p>
                <a:pPr marL="0" indent="0">
                  <a:buNone/>
                </a:pPr>
                <a:r>
                  <a:rPr lang="ru-RU" sz="2200" b="1" dirty="0" smtClean="0"/>
                  <a:t>На </a:t>
                </a:r>
                <a:r>
                  <a:rPr lang="ru-RU" sz="2200" b="1" dirty="0"/>
                  <a:t>тренировочной выборке</a:t>
                </a:r>
              </a:p>
              <a:p>
                <a:pPr lvl="1"/>
                <a:r>
                  <a:rPr lang="ru-RU" sz="2000" b="1" dirty="0" smtClean="0"/>
                  <a:t>Оценка сложности модели</a:t>
                </a:r>
                <a:r>
                  <a:rPr lang="ru-RU" sz="2000" b="1" dirty="0"/>
                  <a:t> </a:t>
                </a:r>
                <a14:m>
                  <m:oMath xmlns:m="http://schemas.openxmlformats.org/officeDocument/2006/math">
                    <m:r>
                      <a:rPr lang="ru-RU" sz="2000" i="1">
                        <a:latin typeface="Cambria Math" panose="02040503050406030204" pitchFamily="18" charset="0"/>
                      </a:rPr>
                      <m:t>→</m:t>
                    </m:r>
                  </m:oMath>
                </a14:m>
                <a:r>
                  <a:rPr lang="ru-RU" sz="2000" dirty="0"/>
                  <a:t>сравнение с </a:t>
                </a:r>
                <a:r>
                  <a:rPr lang="ru-RU" sz="2000" dirty="0" err="1" smtClean="0"/>
                  <a:t>бейзлайн</a:t>
                </a:r>
                <a:r>
                  <a:rPr lang="ru-RU" sz="2000" dirty="0" smtClean="0"/>
                  <a:t> и моделей</a:t>
                </a:r>
                <a:r>
                  <a:rPr lang="ru-RU" sz="2000" dirty="0" smtClean="0"/>
                  <a:t> </a:t>
                </a:r>
                <a:endParaRPr lang="ru-RU" sz="2000" dirty="0" smtClean="0"/>
              </a:p>
              <a:p>
                <a:pPr lvl="2"/>
                <a:r>
                  <a:rPr lang="ru-RU" dirty="0" smtClean="0"/>
                  <a:t>информационные критерии </a:t>
                </a:r>
                <a:r>
                  <a:rPr lang="ru-RU" dirty="0" err="1" smtClean="0"/>
                  <a:t>Акайке</a:t>
                </a:r>
                <a:r>
                  <a:rPr lang="en-US" dirty="0" smtClean="0"/>
                  <a:t> (AIC, </a:t>
                </a:r>
                <a:r>
                  <a:rPr lang="en-US" dirty="0" err="1" smtClean="0"/>
                  <a:t>AICc</a:t>
                </a:r>
                <a:r>
                  <a:rPr lang="en-US" dirty="0" smtClean="0"/>
                  <a:t>)</a:t>
                </a:r>
                <a:r>
                  <a:rPr lang="ru-RU" dirty="0" smtClean="0"/>
                  <a:t>, Шварца </a:t>
                </a:r>
                <a:r>
                  <a:rPr lang="en-US" dirty="0" smtClean="0"/>
                  <a:t>(BIC) </a:t>
                </a:r>
                <a:r>
                  <a:rPr lang="ru-RU" dirty="0" smtClean="0"/>
                  <a:t>и </a:t>
                </a:r>
                <a:r>
                  <a:rPr lang="ru-RU" dirty="0" err="1" smtClean="0"/>
                  <a:t>тд</a:t>
                </a:r>
                <a:r>
                  <a:rPr lang="ru-RU" dirty="0" smtClean="0"/>
                  <a:t> </a:t>
                </a:r>
                <a:endParaRPr lang="ru-RU" dirty="0" smtClean="0"/>
              </a:p>
              <a:p>
                <a:pPr lvl="1"/>
                <a:r>
                  <a:rPr lang="ru-RU" sz="2000" b="1" dirty="0" smtClean="0"/>
                  <a:t>Анализ невязок </a:t>
                </a:r>
                <a:r>
                  <a:rPr lang="ru-RU" sz="2000" dirty="0" smtClean="0"/>
                  <a:t>(остатков,</a:t>
                </a:r>
                <a:r>
                  <a:rPr lang="ru-RU" sz="2000" dirty="0" smtClean="0"/>
                  <a:t> </a:t>
                </a:r>
                <a:r>
                  <a:rPr lang="ru-RU" sz="2000" dirty="0" smtClean="0"/>
                  <a:t>на тренировочной </a:t>
                </a:r>
                <a:r>
                  <a:rPr lang="ru-RU" sz="2000" dirty="0" smtClean="0"/>
                  <a:t>выборке!)</a:t>
                </a:r>
                <a:endParaRPr lang="ru-RU" sz="2000" dirty="0" smtClean="0"/>
              </a:p>
              <a:p>
                <a:pPr lvl="2"/>
                <a:r>
                  <a:rPr lang="ru-RU" dirty="0" smtClean="0"/>
                  <a:t>Наличие информации, выбросов</a:t>
                </a:r>
                <a:r>
                  <a:rPr lang="ru-RU" dirty="0" smtClean="0"/>
                  <a:t>, распределение, </a:t>
                </a:r>
                <a:r>
                  <a:rPr lang="ru-RU" dirty="0" err="1" smtClean="0"/>
                  <a:t>гомосекдостичность</a:t>
                </a:r>
                <a:r>
                  <a:rPr lang="ru-RU" dirty="0" smtClean="0"/>
                  <a:t> и т.д</a:t>
                </a:r>
                <a:r>
                  <a:rPr lang="ru-RU" dirty="0" smtClean="0"/>
                  <a:t>.</a:t>
                </a:r>
              </a:p>
              <a:p>
                <a:pPr marL="0" indent="0">
                  <a:buNone/>
                </a:pPr>
                <a:r>
                  <a:rPr lang="ru-RU" sz="2200" b="1" dirty="0" smtClean="0"/>
                  <a:t>На тестовой </a:t>
                </a:r>
                <a:r>
                  <a:rPr lang="en-US" sz="2200" b="1" dirty="0" smtClean="0"/>
                  <a:t>vs </a:t>
                </a:r>
                <a:r>
                  <a:rPr lang="ru-RU" sz="2200" b="1" dirty="0" smtClean="0"/>
                  <a:t>тренировочной </a:t>
                </a:r>
                <a:r>
                  <a:rPr lang="ru-RU" sz="2200" b="1" dirty="0" smtClean="0"/>
                  <a:t>выборке</a:t>
                </a:r>
              </a:p>
              <a:p>
                <a:pPr lvl="1"/>
                <a:r>
                  <a:rPr lang="ru-RU" sz="2000" b="1" dirty="0" smtClean="0"/>
                  <a:t>Оценка </a:t>
                </a:r>
                <a:r>
                  <a:rPr lang="ru-RU" sz="2000" b="1" dirty="0" smtClean="0"/>
                  <a:t>средн</a:t>
                </a:r>
                <a:r>
                  <a:rPr lang="ru-RU" sz="2000" b="1" dirty="0" smtClean="0"/>
                  <a:t>ей точности </a:t>
                </a:r>
                <a:r>
                  <a:rPr lang="ru-RU" sz="2000" dirty="0" smtClean="0"/>
                  <a:t>(точечные </a:t>
                </a:r>
                <a:r>
                  <a:rPr lang="ru-RU" sz="2000" dirty="0" smtClean="0"/>
                  <a:t>метрики</a:t>
                </a:r>
                <a14:m>
                  <m:oMath xmlns:m="http://schemas.openxmlformats.org/officeDocument/2006/math">
                    <m:r>
                      <a:rPr lang="ru-RU" sz="2000" b="0" i="1" smtClean="0">
                        <a:latin typeface="Cambria Math" panose="02040503050406030204" pitchFamily="18" charset="0"/>
                      </a:rPr>
                      <m:t>→</m:t>
                    </m:r>
                  </m:oMath>
                </a14:m>
                <a:r>
                  <a:rPr lang="ru-RU" sz="2000" dirty="0" smtClean="0"/>
                  <a:t>сравнение с </a:t>
                </a:r>
                <a:r>
                  <a:rPr lang="ru-RU" sz="2000" dirty="0" err="1" smtClean="0"/>
                  <a:t>бейзлайн</a:t>
                </a:r>
                <a:r>
                  <a:rPr lang="ru-RU" sz="2000" dirty="0" smtClean="0"/>
                  <a:t>, </a:t>
                </a:r>
                <a:r>
                  <a:rPr lang="ru-RU" sz="2000" dirty="0" err="1" smtClean="0"/>
                  <a:t>переобученность</a:t>
                </a:r>
                <a:r>
                  <a:rPr lang="ru-RU" sz="2000" dirty="0" smtClean="0"/>
                  <a:t>)</a:t>
                </a:r>
                <a:endParaRPr lang="ru-RU" sz="2000" dirty="0" smtClean="0"/>
              </a:p>
              <a:p>
                <a:pPr lvl="2"/>
                <a:r>
                  <a:rPr lang="en-US" dirty="0"/>
                  <a:t>RMSE</a:t>
                </a:r>
                <a:r>
                  <a:rPr lang="en-US" dirty="0" smtClean="0"/>
                  <a:t>, </a:t>
                </a:r>
                <a:r>
                  <a:rPr lang="en-US" dirty="0" smtClean="0"/>
                  <a:t>MAE, </a:t>
                </a:r>
                <a:r>
                  <a:rPr lang="en-US" dirty="0" smtClean="0"/>
                  <a:t>MASE</a:t>
                </a:r>
                <a:r>
                  <a:rPr lang="ru-RU" dirty="0" smtClean="0"/>
                  <a:t>, </a:t>
                </a:r>
                <a:r>
                  <a:rPr lang="en-US" dirty="0" err="1" smtClean="0"/>
                  <a:t>sMAPE</a:t>
                </a:r>
                <a:r>
                  <a:rPr lang="ru-RU" dirty="0" smtClean="0"/>
                  <a:t> </a:t>
                </a:r>
                <a14:m>
                  <m:oMath xmlns:m="http://schemas.openxmlformats.org/officeDocument/2006/math">
                    <m:r>
                      <a:rPr lang="en-US" b="0" i="1" smtClean="0">
                        <a:latin typeface="Cambria Math" panose="02040503050406030204" pitchFamily="18" charset="0"/>
                      </a:rPr>
                      <m:t> </m:t>
                    </m:r>
                  </m:oMath>
                </a14:m>
                <a:endParaRPr lang="ru-RU" dirty="0" smtClean="0"/>
              </a:p>
              <a:p>
                <a:pPr lvl="1"/>
                <a:r>
                  <a:rPr lang="ru-RU" sz="2000" b="1" dirty="0" smtClean="0"/>
                  <a:t>Оценка </a:t>
                </a:r>
                <a:r>
                  <a:rPr lang="ru-RU" sz="2000" b="1" dirty="0" smtClean="0"/>
                  <a:t>вероятностных метрик</a:t>
                </a:r>
                <a:endParaRPr lang="ru-RU" sz="2000" b="1" dirty="0" smtClean="0"/>
              </a:p>
              <a:p>
                <a:pPr lvl="2"/>
                <a:r>
                  <a:rPr lang="ru-RU" dirty="0" smtClean="0"/>
                  <a:t>интервалов/квантилей/дисперсии/распределений</a:t>
                </a:r>
              </a:p>
              <a:p>
                <a:pPr marL="0" indent="0">
                  <a:buNone/>
                </a:pPr>
                <a:r>
                  <a:rPr lang="ru-RU" sz="2200" b="1" dirty="0" smtClean="0"/>
                  <a:t>На </a:t>
                </a:r>
                <a:r>
                  <a:rPr lang="ru-RU" sz="2200" b="1" dirty="0" err="1" smtClean="0"/>
                  <a:t>валидационной</a:t>
                </a:r>
                <a:r>
                  <a:rPr lang="ru-RU" sz="2200" b="1" dirty="0" smtClean="0"/>
                  <a:t> выборке </a:t>
                </a:r>
              </a:p>
              <a:p>
                <a:pPr lvl="1"/>
                <a:r>
                  <a:rPr lang="en-US" dirty="0" smtClean="0"/>
                  <a:t>walk </a:t>
                </a:r>
                <a:r>
                  <a:rPr lang="en-US" dirty="0"/>
                  <a:t>forward </a:t>
                </a:r>
                <a:r>
                  <a:rPr lang="en-US" dirty="0" smtClean="0"/>
                  <a:t> </a:t>
                </a:r>
                <a:r>
                  <a:rPr lang="ru-RU" dirty="0" smtClean="0"/>
                  <a:t>кросс-</a:t>
                </a:r>
                <a:r>
                  <a:rPr lang="ru-RU" dirty="0" err="1" smtClean="0"/>
                  <a:t>валидация</a:t>
                </a:r>
                <a:r>
                  <a:rPr lang="en-US" dirty="0" smtClean="0"/>
                  <a:t>  </a:t>
                </a:r>
                <a:endParaRPr lang="ru-RU" dirty="0" smtClean="0"/>
              </a:p>
              <a:p>
                <a:pPr lvl="1"/>
                <a:r>
                  <a:rPr lang="en-US" dirty="0" err="1" smtClean="0"/>
                  <a:t>backtesting</a:t>
                </a:r>
                <a:r>
                  <a:rPr lang="en-US" dirty="0" smtClean="0"/>
                  <a:t> </a:t>
                </a:r>
                <a:r>
                  <a:rPr lang="ru-RU" dirty="0" err="1" smtClean="0"/>
                  <a:t>валидация</a:t>
                </a:r>
                <a:endParaRPr lang="en-US" dirty="0" smtClean="0"/>
              </a:p>
              <a:p>
                <a:pPr lvl="1"/>
                <a:r>
                  <a:rPr lang="ru-RU" dirty="0" smtClean="0"/>
                  <a:t>стресс-тесты</a:t>
                </a:r>
              </a:p>
              <a:p>
                <a:pPr marL="0" indent="0">
                  <a:buNone/>
                </a:pPr>
                <a:r>
                  <a:rPr lang="ru-RU" b="1" i="1" dirty="0" smtClean="0"/>
                  <a:t>Мониторинг</a:t>
                </a:r>
              </a:p>
              <a:p>
                <a:pPr lvl="1"/>
                <a:r>
                  <a:rPr lang="ru-RU" sz="1800" i="1" dirty="0" smtClean="0"/>
                  <a:t>Анализ невязок, </a:t>
                </a:r>
              </a:p>
              <a:p>
                <a:pPr lvl="1"/>
                <a:r>
                  <a:rPr lang="ru-RU" sz="1800" i="1" dirty="0" smtClean="0"/>
                  <a:t>Тесты на </a:t>
                </a:r>
                <a:r>
                  <a:rPr lang="ru-RU" sz="1800" i="1" dirty="0" err="1" smtClean="0"/>
                  <a:t>дреф</a:t>
                </a:r>
                <a:r>
                  <a:rPr lang="ru-RU" sz="1800" i="1" dirty="0" smtClean="0"/>
                  <a:t> данных</a:t>
                </a:r>
                <a:r>
                  <a:rPr lang="en-US" sz="1800" i="1" dirty="0" smtClean="0"/>
                  <a:t>/</a:t>
                </a:r>
                <a:r>
                  <a:rPr lang="ru-RU" sz="1800" i="1" dirty="0" smtClean="0"/>
                  <a:t>концепта (уход среднего, изменение распределения ошибок, декомпозиция ВР)</a:t>
                </a:r>
              </a:p>
              <a:p>
                <a:pPr lvl="1"/>
                <a:r>
                  <a:rPr lang="ru-RU" sz="1800" i="1" dirty="0" smtClean="0"/>
                  <a:t>Контроль аномалий</a:t>
                </a:r>
                <a:endParaRPr lang="ru-RU" i="1" dirty="0"/>
              </a:p>
            </p:txBody>
          </p:sp>
        </mc:Choice>
        <mc:Fallback>
          <p:sp>
            <p:nvSpPr>
              <p:cNvPr id="3" name="Объект 2"/>
              <p:cNvSpPr>
                <a:spLocks noGrp="1" noRot="1" noChangeAspect="1" noMove="1" noResize="1" noEditPoints="1" noAdjustHandles="1" noChangeArrowheads="1" noChangeShapeType="1" noTextEdit="1"/>
              </p:cNvSpPr>
              <p:nvPr>
                <p:ph idx="1"/>
              </p:nvPr>
            </p:nvSpPr>
            <p:spPr>
              <a:xfrm>
                <a:off x="83820" y="807719"/>
                <a:ext cx="11849100" cy="5888356"/>
              </a:xfrm>
              <a:blipFill>
                <a:blip r:embed="rId2"/>
                <a:stretch>
                  <a:fillRect l="-926" t="-1449"/>
                </a:stretch>
              </a:blipFill>
            </p:spPr>
            <p:txBody>
              <a:bodyPr/>
              <a:lstStyle/>
              <a:p>
                <a:r>
                  <a:rPr lang="ru-RU">
                    <a:noFill/>
                  </a:rPr>
                  <a:t> </a:t>
                </a:r>
              </a:p>
            </p:txBody>
          </p:sp>
        </mc:Fallback>
      </mc:AlternateContent>
      <p:cxnSp>
        <p:nvCxnSpPr>
          <p:cNvPr id="5" name="Прямая соединительная линия 4"/>
          <p:cNvCxnSpPr/>
          <p:nvPr/>
        </p:nvCxnSpPr>
        <p:spPr>
          <a:xfrm>
            <a:off x="0" y="3854997"/>
            <a:ext cx="106023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94555248"/>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173420" y="86574"/>
            <a:ext cx="11180379" cy="620220"/>
          </a:xfrm>
        </p:spPr>
        <p:txBody>
          <a:bodyPr>
            <a:normAutofit fontScale="90000"/>
          </a:bodyPr>
          <a:lstStyle/>
          <a:p>
            <a:pPr algn="ctr"/>
            <a:r>
              <a:rPr lang="en-US" b="1" dirty="0" smtClean="0"/>
              <a:t>Temporal split</a:t>
            </a:r>
            <a:endParaRPr lang="ru-RU" b="1" dirty="0"/>
          </a:p>
        </p:txBody>
      </p:sp>
      <p:sp>
        <p:nvSpPr>
          <p:cNvPr id="3" name="Объект 2"/>
          <p:cNvSpPr>
            <a:spLocks noGrp="1"/>
          </p:cNvSpPr>
          <p:nvPr>
            <p:ph idx="1"/>
          </p:nvPr>
        </p:nvSpPr>
        <p:spPr>
          <a:xfrm>
            <a:off x="307428" y="595072"/>
            <a:ext cx="11351172" cy="5191617"/>
          </a:xfrm>
        </p:spPr>
        <p:txBody>
          <a:bodyPr>
            <a:normAutofit/>
          </a:bodyPr>
          <a:lstStyle/>
          <a:p>
            <a:pPr marL="0" indent="0">
              <a:buNone/>
            </a:pPr>
            <a:r>
              <a:rPr lang="ru-RU" sz="2400" dirty="0" smtClean="0"/>
              <a:t>Очень важно понимать, что во временных рядах невозможна  классическая кросс-</a:t>
            </a:r>
            <a:r>
              <a:rPr lang="ru-RU" sz="2400" dirty="0" err="1" smtClean="0"/>
              <a:t>валидация</a:t>
            </a:r>
            <a:r>
              <a:rPr lang="ru-RU" sz="2400" dirty="0" smtClean="0"/>
              <a:t>. </a:t>
            </a:r>
            <a:endParaRPr lang="en-US" sz="2400" dirty="0" smtClean="0"/>
          </a:p>
          <a:p>
            <a:pPr marL="0" indent="0">
              <a:buNone/>
            </a:pPr>
            <a:r>
              <a:rPr lang="en-US" sz="2400" dirty="0"/>
              <a:t>	</a:t>
            </a:r>
            <a:r>
              <a:rPr lang="ru-RU" sz="2000" dirty="0" smtClean="0"/>
              <a:t>это приведет к потери паттернов и утечке данных</a:t>
            </a:r>
            <a:r>
              <a:rPr lang="en-US" sz="2000" dirty="0" smtClean="0"/>
              <a:t> </a:t>
            </a:r>
            <a:r>
              <a:rPr lang="ru-RU" sz="2000" dirty="0" smtClean="0"/>
              <a:t>их будущего (нарушение казуальности)</a:t>
            </a:r>
          </a:p>
          <a:p>
            <a:pPr marL="0" indent="0">
              <a:buNone/>
            </a:pPr>
            <a:r>
              <a:rPr lang="ru-RU" sz="2000" dirty="0"/>
              <a:t>	</a:t>
            </a:r>
            <a:r>
              <a:rPr lang="ru-RU" sz="2000" dirty="0" smtClean="0"/>
              <a:t>другими словами такая оценка метрик будет завышена (вероятность переобучения)</a:t>
            </a:r>
            <a:endParaRPr lang="ru-RU" sz="2000" dirty="0"/>
          </a:p>
          <a:p>
            <a:pPr marL="0" indent="0">
              <a:buNone/>
            </a:pPr>
            <a:r>
              <a:rPr lang="en-US" sz="2000" dirty="0"/>
              <a:t>Temporal </a:t>
            </a:r>
            <a:r>
              <a:rPr lang="en-US" sz="2000" dirty="0" smtClean="0"/>
              <a:t>Cross-Validation </a:t>
            </a:r>
            <a:r>
              <a:rPr lang="ru-RU" sz="2000" dirty="0" smtClean="0"/>
              <a:t>предполагает:</a:t>
            </a:r>
          </a:p>
          <a:p>
            <a:r>
              <a:rPr lang="ru-RU" sz="2000" dirty="0" err="1" smtClean="0"/>
              <a:t>Валидационная</a:t>
            </a:r>
            <a:r>
              <a:rPr lang="ru-RU" sz="2000" dirty="0" smtClean="0"/>
              <a:t> выборка идет после тренировочной.</a:t>
            </a:r>
          </a:p>
          <a:p>
            <a:pPr lvl="1"/>
            <a:r>
              <a:rPr lang="ru-RU" sz="1800" dirty="0" smtClean="0"/>
              <a:t>Тестовая выборка идет после </a:t>
            </a:r>
            <a:r>
              <a:rPr lang="ru-RU" sz="1800" dirty="0" err="1" smtClean="0"/>
              <a:t>валидационной</a:t>
            </a:r>
            <a:r>
              <a:rPr lang="ru-RU" sz="1800" dirty="0" smtClean="0"/>
              <a:t>.</a:t>
            </a:r>
          </a:p>
        </p:txBody>
      </p:sp>
      <p:sp>
        <p:nvSpPr>
          <p:cNvPr id="4" name="Прямоугольник 3"/>
          <p:cNvSpPr/>
          <p:nvPr/>
        </p:nvSpPr>
        <p:spPr>
          <a:xfrm>
            <a:off x="173420" y="6472812"/>
            <a:ext cx="2680798" cy="307777"/>
          </a:xfrm>
          <a:prstGeom prst="rect">
            <a:avLst/>
          </a:prstGeom>
        </p:spPr>
        <p:txBody>
          <a:bodyPr wrap="none">
            <a:spAutoFit/>
          </a:bodyPr>
          <a:lstStyle/>
          <a:p>
            <a:r>
              <a:rPr lang="ru-RU" sz="1400" dirty="0" smtClean="0"/>
              <a:t>https://otexts.com/fpp3/tscv.html</a:t>
            </a:r>
            <a:endParaRPr lang="ru-RU" sz="1400" dirty="0"/>
          </a:p>
        </p:txBody>
      </p:sp>
      <p:pic>
        <p:nvPicPr>
          <p:cNvPr id="2050" name="Picture 2" descr="machine learning - Temporal train-test split for forecasting - Stack  Overflow"/>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86161" y="3255735"/>
            <a:ext cx="5306447" cy="3217077"/>
          </a:xfrm>
          <a:prstGeom prst="rect">
            <a:avLst/>
          </a:prstGeom>
          <a:noFill/>
          <a:extLst>
            <a:ext uri="{909E8E84-426E-40DD-AFC4-6F175D3DCCD1}">
              <a14:hiddenFill xmlns:a14="http://schemas.microsoft.com/office/drawing/2010/main">
                <a:solidFill>
                  <a:srgbClr val="FFFFFF"/>
                </a:solidFill>
              </a14:hiddenFill>
            </a:ext>
          </a:extLst>
        </p:spPr>
      </p:pic>
      <p:sp>
        <p:nvSpPr>
          <p:cNvPr id="5" name="Прямоугольник 4"/>
          <p:cNvSpPr/>
          <p:nvPr/>
        </p:nvSpPr>
        <p:spPr>
          <a:xfrm>
            <a:off x="6486161" y="6462180"/>
            <a:ext cx="5705839" cy="276999"/>
          </a:xfrm>
          <a:prstGeom prst="rect">
            <a:avLst/>
          </a:prstGeom>
        </p:spPr>
        <p:txBody>
          <a:bodyPr wrap="square">
            <a:spAutoFit/>
          </a:bodyPr>
          <a:lstStyle/>
          <a:p>
            <a:r>
              <a:rPr lang="ru-RU" sz="1200" dirty="0"/>
              <a:t>https://stackoverflow.com/questions/62332528/temporal-train-test-split-for-forecasting</a:t>
            </a:r>
          </a:p>
        </p:txBody>
      </p:sp>
      <p:sp>
        <p:nvSpPr>
          <p:cNvPr id="6" name="Прямоугольник 5"/>
          <p:cNvSpPr/>
          <p:nvPr/>
        </p:nvSpPr>
        <p:spPr>
          <a:xfrm>
            <a:off x="2771775" y="6488200"/>
            <a:ext cx="4124857" cy="307777"/>
          </a:xfrm>
          <a:prstGeom prst="rect">
            <a:avLst/>
          </a:prstGeom>
        </p:spPr>
        <p:txBody>
          <a:bodyPr wrap="square">
            <a:spAutoFit/>
          </a:bodyPr>
          <a:lstStyle/>
          <a:p>
            <a:r>
              <a:rPr lang="ru-RU" sz="1400" dirty="0"/>
              <a:t>https://algotrading101.com/learn/train-test-split/</a:t>
            </a:r>
          </a:p>
        </p:txBody>
      </p:sp>
      <p:pic>
        <p:nvPicPr>
          <p:cNvPr id="2052" name="Picture 4" descr="https://cdn.shortpixel.ai/spai/q_lossy+w_730+to_webp+ret_img/algotrading101.com/learn/wp-content/uploads/2020/06/training-validation-test-data-set.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2025" y="3318602"/>
            <a:ext cx="4620609" cy="2487534"/>
          </a:xfrm>
          <a:prstGeom prst="rect">
            <a:avLst/>
          </a:prstGeom>
          <a:noFill/>
          <a:extLst>
            <a:ext uri="{909E8E84-426E-40DD-AFC4-6F175D3DCCD1}">
              <a14:hiddenFill xmlns:a14="http://schemas.microsoft.com/office/drawing/2010/main">
                <a:solidFill>
                  <a:srgbClr val="FFFFFF"/>
                </a:solidFill>
              </a14:hiddenFill>
            </a:ext>
          </a:extLst>
        </p:spPr>
      </p:pic>
      <p:sp>
        <p:nvSpPr>
          <p:cNvPr id="7" name="Прямоугольник 6"/>
          <p:cNvSpPr/>
          <p:nvPr/>
        </p:nvSpPr>
        <p:spPr>
          <a:xfrm>
            <a:off x="631846" y="5825583"/>
            <a:ext cx="5537157" cy="369332"/>
          </a:xfrm>
          <a:prstGeom prst="rect">
            <a:avLst/>
          </a:prstGeom>
        </p:spPr>
        <p:txBody>
          <a:bodyPr wrap="none">
            <a:spAutoFit/>
          </a:bodyPr>
          <a:lstStyle/>
          <a:p>
            <a:r>
              <a:rPr lang="ru-RU" dirty="0"/>
              <a:t>Деление важно производить без пересечения данных</a:t>
            </a:r>
            <a:endParaRPr lang="ru-RU" dirty="0"/>
          </a:p>
        </p:txBody>
      </p:sp>
    </p:spTree>
    <p:extLst>
      <p:ext uri="{BB962C8B-B14F-4D97-AF65-F5344CB8AC3E}">
        <p14:creationId xmlns:p14="http://schemas.microsoft.com/office/powerpoint/2010/main" val="1283538913"/>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307428" y="129977"/>
            <a:ext cx="11180379" cy="620220"/>
          </a:xfrm>
        </p:spPr>
        <p:txBody>
          <a:bodyPr>
            <a:normAutofit fontScale="90000"/>
          </a:bodyPr>
          <a:lstStyle/>
          <a:p>
            <a:pPr algn="ctr"/>
            <a:r>
              <a:rPr lang="en-US" dirty="0" smtClean="0"/>
              <a:t>Walk-forward </a:t>
            </a:r>
            <a:r>
              <a:rPr lang="ru-RU" dirty="0" smtClean="0"/>
              <a:t>кросс-</a:t>
            </a:r>
            <a:r>
              <a:rPr lang="ru-RU" dirty="0" err="1" smtClean="0"/>
              <a:t>валидация</a:t>
            </a:r>
            <a:r>
              <a:rPr lang="ru-RU" dirty="0" smtClean="0"/>
              <a:t> </a:t>
            </a:r>
            <a:endParaRPr lang="ru-RU" b="1" dirty="0"/>
          </a:p>
        </p:txBody>
      </p:sp>
      <p:sp>
        <p:nvSpPr>
          <p:cNvPr id="3" name="Объект 2"/>
          <p:cNvSpPr>
            <a:spLocks noGrp="1"/>
          </p:cNvSpPr>
          <p:nvPr>
            <p:ph idx="1"/>
          </p:nvPr>
        </p:nvSpPr>
        <p:spPr>
          <a:xfrm>
            <a:off x="307428" y="875037"/>
            <a:ext cx="11351172" cy="5191617"/>
          </a:xfrm>
        </p:spPr>
        <p:txBody>
          <a:bodyPr>
            <a:normAutofit/>
          </a:bodyPr>
          <a:lstStyle/>
          <a:p>
            <a:pPr marL="0" indent="0">
              <a:buNone/>
            </a:pPr>
            <a:r>
              <a:rPr lang="ru-RU" sz="2400" dirty="0" smtClean="0"/>
              <a:t>Особенность </a:t>
            </a:r>
            <a:r>
              <a:rPr lang="en-US" sz="2400" b="1" dirty="0" smtClean="0"/>
              <a:t>Temporal</a:t>
            </a:r>
            <a:r>
              <a:rPr lang="ru-RU" sz="2400" b="1" dirty="0" smtClean="0"/>
              <a:t> </a:t>
            </a:r>
            <a:r>
              <a:rPr lang="en-US" sz="2400" b="1" dirty="0" smtClean="0"/>
              <a:t>split – </a:t>
            </a:r>
            <a:r>
              <a:rPr lang="ru-RU" sz="2400" b="1" dirty="0" smtClean="0"/>
              <a:t>для нестационарных данных тест и </a:t>
            </a:r>
            <a:r>
              <a:rPr lang="ru-RU" sz="2400" b="1" dirty="0" err="1" smtClean="0"/>
              <a:t>трейн</a:t>
            </a:r>
            <a:r>
              <a:rPr lang="ru-RU" sz="2400" b="1" dirty="0" smtClean="0"/>
              <a:t> будут различаться.</a:t>
            </a:r>
          </a:p>
          <a:p>
            <a:pPr lvl="1"/>
            <a:r>
              <a:rPr lang="ru-RU" sz="2000" dirty="0" smtClean="0"/>
              <a:t>Вопросы: все ли паттерны </a:t>
            </a:r>
            <a:r>
              <a:rPr lang="ru-RU" sz="2000" dirty="0" err="1" smtClean="0"/>
              <a:t>трейн</a:t>
            </a:r>
            <a:r>
              <a:rPr lang="ru-RU" sz="2000" dirty="0" smtClean="0"/>
              <a:t> есть в тесте? </a:t>
            </a:r>
          </a:p>
          <a:p>
            <a:pPr lvl="1"/>
            <a:r>
              <a:rPr lang="ru-RU" sz="2000" dirty="0" smtClean="0"/>
              <a:t>Справедливы ли преобразования </a:t>
            </a:r>
            <a:r>
              <a:rPr lang="ru-RU" sz="2000" dirty="0" err="1" smtClean="0"/>
              <a:t>трейн</a:t>
            </a:r>
            <a:r>
              <a:rPr lang="ru-RU" sz="2000" dirty="0" smtClean="0"/>
              <a:t> к тесту.</a:t>
            </a:r>
          </a:p>
          <a:p>
            <a:pPr lvl="1"/>
            <a:r>
              <a:rPr lang="ru-RU" sz="2000" dirty="0" smtClean="0"/>
              <a:t>Весь ли тест соответствует </a:t>
            </a:r>
            <a:r>
              <a:rPr lang="ru-RU" sz="2000" dirty="0" err="1" smtClean="0"/>
              <a:t>трейну</a:t>
            </a:r>
            <a:r>
              <a:rPr lang="ru-RU" sz="2000" dirty="0" smtClean="0"/>
              <a:t> и насколько допустимо отклонение?</a:t>
            </a:r>
          </a:p>
          <a:p>
            <a:r>
              <a:rPr lang="ru-RU" sz="2400" dirty="0" smtClean="0"/>
              <a:t>Для повышения надежности возможны несколько типов кросс </a:t>
            </a:r>
            <a:r>
              <a:rPr lang="ru-RU" sz="2400" dirty="0" err="1" smtClean="0"/>
              <a:t>валидации</a:t>
            </a:r>
            <a:r>
              <a:rPr lang="en-US" sz="2400" dirty="0" smtClean="0"/>
              <a:t> c </a:t>
            </a:r>
            <a:r>
              <a:rPr lang="ru-RU" sz="2400" dirty="0" smtClean="0"/>
              <a:t>симуляцией проявления различных эффектов в </a:t>
            </a:r>
            <a:r>
              <a:rPr lang="ru-RU" sz="2400" dirty="0" err="1" smtClean="0"/>
              <a:t>валидационной</a:t>
            </a:r>
            <a:r>
              <a:rPr lang="ru-RU" sz="2400" dirty="0" smtClean="0"/>
              <a:t> выборке </a:t>
            </a:r>
            <a:endParaRPr lang="ru-RU" sz="2400" dirty="0"/>
          </a:p>
        </p:txBody>
      </p:sp>
      <p:sp>
        <p:nvSpPr>
          <p:cNvPr id="4" name="Прямоугольник 3"/>
          <p:cNvSpPr/>
          <p:nvPr/>
        </p:nvSpPr>
        <p:spPr>
          <a:xfrm>
            <a:off x="8725385" y="6492983"/>
            <a:ext cx="3390415" cy="369332"/>
          </a:xfrm>
          <a:prstGeom prst="rect">
            <a:avLst/>
          </a:prstGeom>
        </p:spPr>
        <p:txBody>
          <a:bodyPr wrap="none">
            <a:spAutoFit/>
          </a:bodyPr>
          <a:lstStyle/>
          <a:p>
            <a:r>
              <a:rPr lang="ru-RU" dirty="0"/>
              <a:t>https://otexts.com/fpp3/tscv.html</a:t>
            </a:r>
          </a:p>
        </p:txBody>
      </p:sp>
      <p:pic>
        <p:nvPicPr>
          <p:cNvPr id="1026" name="Picture 2" descr="image-title-her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3421" y="3449711"/>
            <a:ext cx="5283950" cy="299969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title-her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64014" y="3449711"/>
            <a:ext cx="5211082" cy="3043272"/>
          </a:xfrm>
          <a:prstGeom prst="rect">
            <a:avLst/>
          </a:prstGeom>
          <a:noFill/>
          <a:extLst>
            <a:ext uri="{909E8E84-426E-40DD-AFC4-6F175D3DCCD1}">
              <a14:hiddenFill xmlns:a14="http://schemas.microsoft.com/office/drawing/2010/main">
                <a:solidFill>
                  <a:srgbClr val="FFFFFF"/>
                </a:solidFill>
              </a14:hiddenFill>
            </a:ext>
          </a:extLst>
        </p:spPr>
      </p:pic>
      <p:sp>
        <p:nvSpPr>
          <p:cNvPr id="7" name="Прямоугольник 6"/>
          <p:cNvSpPr/>
          <p:nvPr/>
        </p:nvSpPr>
        <p:spPr>
          <a:xfrm>
            <a:off x="530155" y="6234897"/>
            <a:ext cx="4298356" cy="369332"/>
          </a:xfrm>
          <a:prstGeom prst="rect">
            <a:avLst/>
          </a:prstGeom>
        </p:spPr>
        <p:txBody>
          <a:bodyPr wrap="none">
            <a:spAutoFit/>
          </a:bodyPr>
          <a:lstStyle/>
          <a:p>
            <a:r>
              <a:rPr lang="ru-RU" dirty="0" smtClean="0"/>
              <a:t>Кросс-</a:t>
            </a:r>
            <a:r>
              <a:rPr lang="ru-RU" dirty="0" err="1" smtClean="0"/>
              <a:t>валидация</a:t>
            </a:r>
            <a:r>
              <a:rPr lang="ru-RU" dirty="0" smtClean="0"/>
              <a:t> с смещающимся окном </a:t>
            </a:r>
            <a:endParaRPr lang="ru-RU" dirty="0"/>
          </a:p>
        </p:txBody>
      </p:sp>
      <p:sp>
        <p:nvSpPr>
          <p:cNvPr id="8" name="Прямоугольник 7"/>
          <p:cNvSpPr/>
          <p:nvPr/>
        </p:nvSpPr>
        <p:spPr>
          <a:xfrm>
            <a:off x="6820377" y="6182973"/>
            <a:ext cx="4500335" cy="369332"/>
          </a:xfrm>
          <a:prstGeom prst="rect">
            <a:avLst/>
          </a:prstGeom>
        </p:spPr>
        <p:txBody>
          <a:bodyPr wrap="none">
            <a:spAutoFit/>
          </a:bodyPr>
          <a:lstStyle/>
          <a:p>
            <a:r>
              <a:rPr lang="ru-RU" dirty="0" smtClean="0"/>
              <a:t>Кросс-</a:t>
            </a:r>
            <a:r>
              <a:rPr lang="ru-RU" dirty="0" err="1" smtClean="0"/>
              <a:t>валидация</a:t>
            </a:r>
            <a:r>
              <a:rPr lang="ru-RU" dirty="0" smtClean="0"/>
              <a:t> с расширяющимся окном </a:t>
            </a:r>
            <a:endParaRPr lang="ru-RU" dirty="0"/>
          </a:p>
        </p:txBody>
      </p:sp>
      <p:sp>
        <p:nvSpPr>
          <p:cNvPr id="5" name="Прямоугольник 4"/>
          <p:cNvSpPr/>
          <p:nvPr/>
        </p:nvSpPr>
        <p:spPr>
          <a:xfrm>
            <a:off x="3327421" y="3244334"/>
            <a:ext cx="5537157" cy="369332"/>
          </a:xfrm>
          <a:prstGeom prst="rect">
            <a:avLst/>
          </a:prstGeom>
        </p:spPr>
        <p:txBody>
          <a:bodyPr wrap="none">
            <a:spAutoFit/>
          </a:bodyPr>
          <a:lstStyle/>
          <a:p>
            <a:r>
              <a:rPr lang="ru-RU" dirty="0"/>
              <a:t>Деление важно производить без пересечения данных</a:t>
            </a:r>
            <a:endParaRPr lang="ru-RU" dirty="0"/>
          </a:p>
        </p:txBody>
      </p:sp>
    </p:spTree>
    <p:extLst>
      <p:ext uri="{BB962C8B-B14F-4D97-AF65-F5344CB8AC3E}">
        <p14:creationId xmlns:p14="http://schemas.microsoft.com/office/powerpoint/2010/main" val="268816393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78221" y="174626"/>
            <a:ext cx="11180379" cy="620220"/>
          </a:xfrm>
        </p:spPr>
        <p:txBody>
          <a:bodyPr>
            <a:normAutofit fontScale="90000"/>
          </a:bodyPr>
          <a:lstStyle/>
          <a:p>
            <a:r>
              <a:rPr lang="ru-RU" dirty="0" err="1"/>
              <a:t>Backtesting</a:t>
            </a:r>
            <a:endParaRPr lang="ru-RU" dirty="0"/>
          </a:p>
        </p:txBody>
      </p:sp>
      <p:sp>
        <p:nvSpPr>
          <p:cNvPr id="3" name="Объект 2"/>
          <p:cNvSpPr>
            <a:spLocks noGrp="1"/>
          </p:cNvSpPr>
          <p:nvPr>
            <p:ph idx="1"/>
          </p:nvPr>
        </p:nvSpPr>
        <p:spPr>
          <a:xfrm>
            <a:off x="307428" y="623394"/>
            <a:ext cx="11351172" cy="5191617"/>
          </a:xfrm>
        </p:spPr>
        <p:txBody>
          <a:bodyPr/>
          <a:lstStyle/>
          <a:p>
            <a:pPr>
              <a:lnSpc>
                <a:spcPct val="100000"/>
              </a:lnSpc>
              <a:spcBef>
                <a:spcPts val="0"/>
              </a:spcBef>
            </a:pPr>
            <a:r>
              <a:rPr lang="ru-RU" sz="2400" b="1" dirty="0" smtClean="0"/>
              <a:t>кросс-</a:t>
            </a:r>
            <a:r>
              <a:rPr lang="ru-RU" sz="2400" b="1" dirty="0" err="1" smtClean="0"/>
              <a:t>валидация</a:t>
            </a:r>
            <a:r>
              <a:rPr lang="ru-RU" sz="2400" dirty="0" smtClean="0"/>
              <a:t> — оценка обобщающей способности модели и настройка </a:t>
            </a:r>
            <a:r>
              <a:rPr lang="ru-RU" sz="2400" dirty="0" err="1" smtClean="0"/>
              <a:t>гиперпараметров</a:t>
            </a:r>
            <a:endParaRPr lang="ru-RU" sz="2400" dirty="0" smtClean="0"/>
          </a:p>
          <a:p>
            <a:pPr lvl="1">
              <a:lnSpc>
                <a:spcPct val="100000"/>
              </a:lnSpc>
              <a:spcBef>
                <a:spcPts val="0"/>
              </a:spcBef>
            </a:pPr>
            <a:r>
              <a:rPr lang="ru-RU" sz="2200" dirty="0" smtClean="0"/>
              <a:t>многократная итерация на последовательных обучающих и </a:t>
            </a:r>
            <a:r>
              <a:rPr lang="ru-RU" sz="2200" dirty="0" err="1" smtClean="0"/>
              <a:t>валидационных</a:t>
            </a:r>
            <a:r>
              <a:rPr lang="ru-RU" sz="2200" dirty="0" smtClean="0"/>
              <a:t> </a:t>
            </a:r>
            <a:r>
              <a:rPr lang="ru-RU" sz="2200" dirty="0" err="1" smtClean="0"/>
              <a:t>подвыборках</a:t>
            </a:r>
            <a:r>
              <a:rPr lang="ru-RU" sz="2200" dirty="0" smtClean="0"/>
              <a:t>.</a:t>
            </a:r>
          </a:p>
          <a:p>
            <a:pPr lvl="1">
              <a:lnSpc>
                <a:spcPct val="100000"/>
              </a:lnSpc>
              <a:spcBef>
                <a:spcPts val="0"/>
              </a:spcBef>
            </a:pPr>
            <a:r>
              <a:rPr lang="ru-RU" sz="2200" dirty="0" smtClean="0"/>
              <a:t>Цель – разработка модели (усредненная оценка, аналог </a:t>
            </a:r>
            <a:r>
              <a:rPr lang="en-US" sz="2200" dirty="0" smtClean="0"/>
              <a:t>k-folds)</a:t>
            </a:r>
            <a:r>
              <a:rPr lang="ru-RU" sz="2200" dirty="0" smtClean="0"/>
              <a:t>. </a:t>
            </a:r>
          </a:p>
          <a:p>
            <a:pPr lvl="2">
              <a:lnSpc>
                <a:spcPct val="100000"/>
              </a:lnSpc>
              <a:spcBef>
                <a:spcPts val="0"/>
              </a:spcBef>
            </a:pPr>
            <a:r>
              <a:rPr lang="ru-RU" sz="1800" dirty="0" smtClean="0"/>
              <a:t>Модель переобучают.</a:t>
            </a:r>
          </a:p>
          <a:p>
            <a:pPr>
              <a:lnSpc>
                <a:spcPct val="100000"/>
              </a:lnSpc>
              <a:spcBef>
                <a:spcPts val="0"/>
              </a:spcBef>
            </a:pPr>
            <a:r>
              <a:rPr lang="ru-RU" sz="2400" b="1" dirty="0" err="1" smtClean="0"/>
              <a:t>Backtesting</a:t>
            </a:r>
            <a:r>
              <a:rPr lang="ru-RU" sz="2400" dirty="0" smtClean="0"/>
              <a:t> — проверка конкретной модели на исторических данных (как будто результаты прогона)</a:t>
            </a:r>
          </a:p>
          <a:p>
            <a:pPr lvl="1">
              <a:lnSpc>
                <a:spcPct val="100000"/>
              </a:lnSpc>
              <a:spcBef>
                <a:spcPts val="0"/>
              </a:spcBef>
            </a:pPr>
            <a:r>
              <a:rPr lang="ru-RU" sz="2200" dirty="0" smtClean="0"/>
              <a:t>однократное обучение и проверка на всей доступной истории (разделенных на </a:t>
            </a:r>
            <a:r>
              <a:rPr lang="ru-RU" sz="2200" dirty="0" err="1" smtClean="0"/>
              <a:t>подвыборки</a:t>
            </a:r>
            <a:r>
              <a:rPr lang="ru-RU" sz="2200" dirty="0" smtClean="0"/>
              <a:t>)</a:t>
            </a:r>
          </a:p>
          <a:p>
            <a:pPr lvl="1">
              <a:lnSpc>
                <a:spcPct val="100000"/>
              </a:lnSpc>
              <a:spcBef>
                <a:spcPts val="0"/>
              </a:spcBef>
            </a:pPr>
            <a:r>
              <a:rPr lang="ru-RU" sz="2200" dirty="0" smtClean="0"/>
              <a:t>Цель – проверка готовой модели на разных типах данных (в различных условиях).</a:t>
            </a:r>
          </a:p>
          <a:p>
            <a:pPr lvl="2">
              <a:lnSpc>
                <a:spcPct val="100000"/>
              </a:lnSpc>
              <a:spcBef>
                <a:spcPts val="0"/>
              </a:spcBef>
            </a:pPr>
            <a:r>
              <a:rPr lang="ru-RU" sz="1800" dirty="0" smtClean="0"/>
              <a:t>Модель не переобучают</a:t>
            </a:r>
          </a:p>
          <a:p>
            <a:pPr marL="0" indent="0">
              <a:lnSpc>
                <a:spcPct val="100000"/>
              </a:lnSpc>
              <a:spcBef>
                <a:spcPts val="0"/>
              </a:spcBef>
              <a:buNone/>
            </a:pPr>
            <a:r>
              <a:rPr lang="ru-RU" sz="2400" u="sng" dirty="0" smtClean="0"/>
              <a:t>Сегодня часто эти термины перемешивают </a:t>
            </a:r>
            <a:r>
              <a:rPr lang="en-US" sz="2400" u="sng" dirty="0" smtClean="0"/>
              <a:t>!</a:t>
            </a:r>
            <a:r>
              <a:rPr lang="ru-RU" sz="2600" dirty="0"/>
              <a:t/>
            </a:r>
            <a:br>
              <a:rPr lang="ru-RU" sz="2600" dirty="0"/>
            </a:br>
            <a:endParaRPr lang="ru-RU" sz="2600" dirty="0"/>
          </a:p>
        </p:txBody>
      </p:sp>
      <p:pic>
        <p:nvPicPr>
          <p:cNvPr id="3074" name="Picture 2" descr="Cross validation and Backtest - Skforecast Doc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88050" y="5045676"/>
            <a:ext cx="5670550" cy="1647906"/>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Backtesting forecaster - Skforecast Doc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7427" y="5107684"/>
            <a:ext cx="5192929" cy="15419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3404493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155575" y="160072"/>
            <a:ext cx="10991850" cy="635000"/>
          </a:xfrm>
        </p:spPr>
        <p:txBody>
          <a:bodyPr>
            <a:normAutofit fontScale="90000"/>
          </a:bodyPr>
          <a:lstStyle/>
          <a:p>
            <a:r>
              <a:rPr lang="ru-RU" dirty="0" smtClean="0"/>
              <a:t>Особенности кросс-</a:t>
            </a:r>
            <a:r>
              <a:rPr lang="ru-RU" dirty="0" err="1" smtClean="0"/>
              <a:t>валидации</a:t>
            </a:r>
            <a:endParaRPr lang="ru-RU" dirty="0"/>
          </a:p>
        </p:txBody>
      </p:sp>
      <p:sp>
        <p:nvSpPr>
          <p:cNvPr id="3" name="Объект 2"/>
          <p:cNvSpPr>
            <a:spLocks noGrp="1"/>
          </p:cNvSpPr>
          <p:nvPr>
            <p:ph idx="1"/>
          </p:nvPr>
        </p:nvSpPr>
        <p:spPr>
          <a:xfrm>
            <a:off x="310136" y="753168"/>
            <a:ext cx="11706225" cy="5176838"/>
          </a:xfrm>
        </p:spPr>
        <p:txBody>
          <a:bodyPr>
            <a:normAutofit/>
          </a:bodyPr>
          <a:lstStyle/>
          <a:p>
            <a:r>
              <a:rPr lang="ru-RU" sz="2400" dirty="0" smtClean="0"/>
              <a:t>Стратегию кросс-</a:t>
            </a:r>
            <a:r>
              <a:rPr lang="ru-RU" sz="2400" dirty="0" err="1" smtClean="0"/>
              <a:t>валидации</a:t>
            </a:r>
            <a:r>
              <a:rPr lang="ru-RU" sz="2400" dirty="0" smtClean="0"/>
              <a:t> надо выбирать сообразно задаче</a:t>
            </a:r>
          </a:p>
          <a:p>
            <a:pPr lvl="1"/>
            <a:r>
              <a:rPr lang="ru-RU" sz="2000" dirty="0" smtClean="0"/>
              <a:t>Если предполагается </a:t>
            </a:r>
            <a:r>
              <a:rPr lang="ru-RU" sz="2000" dirty="0" err="1" smtClean="0"/>
              <a:t>дообучение</a:t>
            </a:r>
            <a:r>
              <a:rPr lang="ru-RU" sz="2000" dirty="0" smtClean="0"/>
              <a:t> модели можно взять расширяющееся окно</a:t>
            </a:r>
          </a:p>
          <a:p>
            <a:r>
              <a:rPr lang="ru-RU" sz="2400" dirty="0" smtClean="0"/>
              <a:t>Важно выбирать окно обучения и тестирования из требований к реальным данным</a:t>
            </a:r>
          </a:p>
          <a:p>
            <a:pPr lvl="1"/>
            <a:r>
              <a:rPr lang="ru-RU" sz="2000" dirty="0" smtClean="0"/>
              <a:t>Напр. если горизонт предсказания год  - окно размером с 1 год.</a:t>
            </a:r>
          </a:p>
          <a:p>
            <a:r>
              <a:rPr lang="ru-RU" sz="2400" dirty="0" smtClean="0"/>
              <a:t>Стратегии могут быть динамическими (рекурсивным) или статическими</a:t>
            </a:r>
            <a:endParaRPr lang="ru-RU" sz="2400" dirty="0"/>
          </a:p>
        </p:txBody>
      </p:sp>
      <p:sp>
        <p:nvSpPr>
          <p:cNvPr id="4" name="AutoShape 2" descr="Demonstration of iterative, autoregressive forecasting | Download  Scientific Diagram"/>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pic>
        <p:nvPicPr>
          <p:cNvPr id="5124" name="Picture 4" descr="https://www.researchgate.net/publication/381324371/figure/fig1/AS:11431281259462026@1720491044356/Demonstration-of-iterative-autoregressive-forecasting_W640.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1161" y="3039289"/>
            <a:ext cx="5029200" cy="2420303"/>
          </a:xfrm>
          <a:prstGeom prst="rect">
            <a:avLst/>
          </a:prstGeom>
          <a:noFill/>
          <a:extLst>
            <a:ext uri="{909E8E84-426E-40DD-AFC4-6F175D3DCCD1}">
              <a14:hiddenFill xmlns:a14="http://schemas.microsoft.com/office/drawing/2010/main">
                <a:solidFill>
                  <a:srgbClr val="FFFFFF"/>
                </a:solidFill>
              </a14:hiddenFill>
            </a:ext>
          </a:extLst>
        </p:spPr>
      </p:pic>
      <p:sp>
        <p:nvSpPr>
          <p:cNvPr id="6" name="Прямоугольник 5"/>
          <p:cNvSpPr/>
          <p:nvPr/>
        </p:nvSpPr>
        <p:spPr>
          <a:xfrm>
            <a:off x="155575" y="5397517"/>
            <a:ext cx="6194425" cy="923330"/>
          </a:xfrm>
          <a:prstGeom prst="rect">
            <a:avLst/>
          </a:prstGeom>
        </p:spPr>
        <p:txBody>
          <a:bodyPr wrap="square">
            <a:spAutoFit/>
          </a:bodyPr>
          <a:lstStyle/>
          <a:p>
            <a:r>
              <a:rPr lang="ru-RU" dirty="0" smtClean="0"/>
              <a:t>Динамическая </a:t>
            </a:r>
            <a:r>
              <a:rPr lang="ru-RU" dirty="0" err="1" smtClean="0"/>
              <a:t>валидация</a:t>
            </a:r>
            <a:r>
              <a:rPr lang="ru-RU" dirty="0" smtClean="0"/>
              <a:t>  предполагает использование предсказанных данных вместо </a:t>
            </a:r>
            <a:r>
              <a:rPr lang="ru-RU" dirty="0" err="1" smtClean="0"/>
              <a:t>иситинных</a:t>
            </a:r>
            <a:r>
              <a:rPr lang="ru-RU" dirty="0" smtClean="0"/>
              <a:t> в окне предсказания</a:t>
            </a:r>
            <a:endParaRPr lang="ru-RU" dirty="0"/>
          </a:p>
        </p:txBody>
      </p:sp>
      <p:pic>
        <p:nvPicPr>
          <p:cNvPr id="5126" name="Picture 6" descr="https://skforecast.org/0.7.0/img/diagram-single-step-forecasting.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36373" y="3039289"/>
            <a:ext cx="4448175" cy="2392295"/>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p:cNvSpPr/>
          <p:nvPr/>
        </p:nvSpPr>
        <p:spPr>
          <a:xfrm>
            <a:off x="6215060" y="5428295"/>
            <a:ext cx="5506601" cy="646331"/>
          </a:xfrm>
          <a:prstGeom prst="rect">
            <a:avLst/>
          </a:prstGeom>
        </p:spPr>
        <p:txBody>
          <a:bodyPr wrap="square">
            <a:spAutoFit/>
          </a:bodyPr>
          <a:lstStyle/>
          <a:p>
            <a:r>
              <a:rPr lang="ru-RU" dirty="0" smtClean="0"/>
              <a:t>Статическая стратегия предполагает использование известных данных в исторических данных </a:t>
            </a:r>
            <a:endParaRPr lang="ru-RU" dirty="0"/>
          </a:p>
        </p:txBody>
      </p:sp>
      <p:sp>
        <p:nvSpPr>
          <p:cNvPr id="7" name="Прямоугольник 6"/>
          <p:cNvSpPr/>
          <p:nvPr/>
        </p:nvSpPr>
        <p:spPr>
          <a:xfrm>
            <a:off x="5991306" y="6474735"/>
            <a:ext cx="6096000" cy="276999"/>
          </a:xfrm>
          <a:prstGeom prst="rect">
            <a:avLst/>
          </a:prstGeom>
        </p:spPr>
        <p:txBody>
          <a:bodyPr>
            <a:spAutoFit/>
          </a:bodyPr>
          <a:lstStyle/>
          <a:p>
            <a:r>
              <a:rPr lang="ru-RU" sz="1200" dirty="0"/>
              <a:t>https://</a:t>
            </a:r>
            <a:r>
              <a:rPr lang="ru-RU" sz="1200" dirty="0" smtClean="0"/>
              <a:t>skforecast.org/0.7.0/introduction-forecasting/introduction-forecasting</a:t>
            </a:r>
            <a:endParaRPr lang="ru-RU" sz="1200" dirty="0"/>
          </a:p>
        </p:txBody>
      </p:sp>
      <p:sp>
        <p:nvSpPr>
          <p:cNvPr id="8" name="Прямоугольник 7"/>
          <p:cNvSpPr/>
          <p:nvPr/>
        </p:nvSpPr>
        <p:spPr>
          <a:xfrm>
            <a:off x="60433" y="6474735"/>
            <a:ext cx="6561083" cy="276999"/>
          </a:xfrm>
          <a:prstGeom prst="rect">
            <a:avLst/>
          </a:prstGeom>
        </p:spPr>
        <p:txBody>
          <a:bodyPr wrap="square">
            <a:spAutoFit/>
          </a:bodyPr>
          <a:lstStyle/>
          <a:p>
            <a:r>
              <a:rPr lang="ru-RU" sz="1200" dirty="0"/>
              <a:t>https://timeweb.cloud/tutorials/python/prognozirovanie-vremennyh-ryadov-python-3</a:t>
            </a:r>
          </a:p>
        </p:txBody>
      </p:sp>
    </p:spTree>
    <p:extLst>
      <p:ext uri="{BB962C8B-B14F-4D97-AF65-F5344CB8AC3E}">
        <p14:creationId xmlns:p14="http://schemas.microsoft.com/office/powerpoint/2010/main" val="277030221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307428" y="129977"/>
            <a:ext cx="11180379" cy="620220"/>
          </a:xfrm>
        </p:spPr>
        <p:txBody>
          <a:bodyPr>
            <a:normAutofit fontScale="90000"/>
          </a:bodyPr>
          <a:lstStyle/>
          <a:p>
            <a:pPr algn="ctr"/>
            <a:r>
              <a:rPr lang="ru-RU" dirty="0" smtClean="0"/>
              <a:t>Преимущества </a:t>
            </a:r>
            <a:r>
              <a:rPr lang="en-US" dirty="0" smtClean="0"/>
              <a:t>cross validation</a:t>
            </a:r>
            <a:endParaRPr lang="ru-RU" b="1" dirty="0"/>
          </a:p>
        </p:txBody>
      </p:sp>
      <p:sp>
        <p:nvSpPr>
          <p:cNvPr id="3" name="Объект 2"/>
          <p:cNvSpPr>
            <a:spLocks noGrp="1"/>
          </p:cNvSpPr>
          <p:nvPr>
            <p:ph idx="1"/>
          </p:nvPr>
        </p:nvSpPr>
        <p:spPr>
          <a:xfrm>
            <a:off x="307428" y="875037"/>
            <a:ext cx="11351172" cy="5191617"/>
          </a:xfrm>
        </p:spPr>
        <p:txBody>
          <a:bodyPr>
            <a:normAutofit/>
          </a:bodyPr>
          <a:lstStyle/>
          <a:p>
            <a:pPr marL="0" indent="0">
              <a:buNone/>
            </a:pPr>
            <a:r>
              <a:rPr lang="ru-RU" sz="2400" dirty="0" smtClean="0"/>
              <a:t> </a:t>
            </a:r>
            <a:endParaRPr lang="ru-RU" sz="2400" dirty="0"/>
          </a:p>
        </p:txBody>
      </p:sp>
      <p:sp>
        <p:nvSpPr>
          <p:cNvPr id="4" name="Прямоугольник 3"/>
          <p:cNvSpPr/>
          <p:nvPr/>
        </p:nvSpPr>
        <p:spPr>
          <a:xfrm>
            <a:off x="6386813" y="6437836"/>
            <a:ext cx="5732338" cy="307777"/>
          </a:xfrm>
          <a:prstGeom prst="rect">
            <a:avLst/>
          </a:prstGeom>
        </p:spPr>
        <p:txBody>
          <a:bodyPr wrap="none">
            <a:spAutoFit/>
          </a:bodyPr>
          <a:lstStyle/>
          <a:p>
            <a:r>
              <a:rPr lang="en-US" sz="1400" b="1" dirty="0"/>
              <a:t>https://github.com/tinkoff-ai/etna/blob/master/examples/backtest.ipynb</a:t>
            </a:r>
            <a:endParaRPr lang="ru-RU" sz="1400" b="1" dirty="0"/>
          </a:p>
        </p:txBody>
      </p:sp>
      <p:sp>
        <p:nvSpPr>
          <p:cNvPr id="7" name="Прямоугольник 6"/>
          <p:cNvSpPr/>
          <p:nvPr/>
        </p:nvSpPr>
        <p:spPr>
          <a:xfrm>
            <a:off x="473220" y="5268286"/>
            <a:ext cx="6016383" cy="1323439"/>
          </a:xfrm>
          <a:prstGeom prst="rect">
            <a:avLst/>
          </a:prstGeom>
        </p:spPr>
        <p:txBody>
          <a:bodyPr wrap="square">
            <a:spAutoFit/>
          </a:bodyPr>
          <a:lstStyle/>
          <a:p>
            <a:r>
              <a:rPr lang="ru-RU" sz="2000" i="1" u="sng" dirty="0" smtClean="0"/>
              <a:t>Иногда модель дополнительно тестируют на перевернутом</a:t>
            </a:r>
          </a:p>
          <a:p>
            <a:r>
              <a:rPr lang="ru-RU" sz="2000" i="1" u="sng" dirty="0" smtClean="0"/>
              <a:t> временном ряду для повышения надежности выводов  </a:t>
            </a:r>
            <a:endParaRPr lang="ru-RU" sz="2000" i="1" u="sng" dirty="0"/>
          </a:p>
        </p:txBody>
      </p:sp>
      <p:pic>
        <p:nvPicPr>
          <p:cNvPr id="6" name="Рисунок 5"/>
          <p:cNvPicPr>
            <a:picLocks noChangeAspect="1"/>
          </p:cNvPicPr>
          <p:nvPr/>
        </p:nvPicPr>
        <p:blipFill>
          <a:blip r:embed="rId2"/>
          <a:stretch>
            <a:fillRect/>
          </a:stretch>
        </p:blipFill>
        <p:spPr>
          <a:xfrm>
            <a:off x="6579501" y="3266272"/>
            <a:ext cx="5257980" cy="2926270"/>
          </a:xfrm>
          <a:prstGeom prst="rect">
            <a:avLst/>
          </a:prstGeom>
        </p:spPr>
      </p:pic>
      <p:sp>
        <p:nvSpPr>
          <p:cNvPr id="12" name="Объект 2"/>
          <p:cNvSpPr txBox="1">
            <a:spLocks/>
          </p:cNvSpPr>
          <p:nvPr/>
        </p:nvSpPr>
        <p:spPr>
          <a:xfrm>
            <a:off x="310136" y="753168"/>
            <a:ext cx="11706225" cy="51768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sz="2400" dirty="0" smtClean="0">
                <a:latin typeface="system-ui"/>
              </a:rPr>
              <a:t>Снижение смещения оценки </a:t>
            </a:r>
            <a:r>
              <a:rPr lang="ru-RU" sz="2400" dirty="0">
                <a:latin typeface="system-ui"/>
              </a:rPr>
              <a:t>метрик</a:t>
            </a:r>
            <a:r>
              <a:rPr lang="ru-RU" sz="2400" dirty="0" smtClean="0">
                <a:latin typeface="system-ui"/>
              </a:rPr>
              <a:t> по сравнению с одноразовой разбивкой. </a:t>
            </a:r>
            <a:endParaRPr lang="en-US" sz="2400" dirty="0" smtClean="0">
              <a:latin typeface="system-ui"/>
            </a:endParaRPr>
          </a:p>
          <a:p>
            <a:r>
              <a:rPr lang="ru-RU" sz="2400" dirty="0" smtClean="0">
                <a:latin typeface="system-ui"/>
              </a:rPr>
              <a:t>А также оценка дисперсии метрик</a:t>
            </a:r>
          </a:p>
          <a:p>
            <a:r>
              <a:rPr lang="ru-RU" sz="2400" dirty="0" smtClean="0">
                <a:latin typeface="system-ui"/>
              </a:rPr>
              <a:t>Поиск "плавающих" ошибок </a:t>
            </a:r>
            <a:r>
              <a:rPr lang="ru-RU" sz="2400" dirty="0">
                <a:latin typeface="system-ui"/>
              </a:rPr>
              <a:t>в модели данных. </a:t>
            </a:r>
            <a:endParaRPr lang="ru-RU" sz="2400" dirty="0" smtClean="0">
              <a:latin typeface="system-ui"/>
            </a:endParaRPr>
          </a:p>
          <a:p>
            <a:pPr lvl="1"/>
            <a:r>
              <a:rPr lang="ru-RU" sz="2000" dirty="0" smtClean="0">
                <a:latin typeface="system-ui"/>
              </a:rPr>
              <a:t>То </a:t>
            </a:r>
            <a:r>
              <a:rPr lang="ru-RU" sz="2000" dirty="0">
                <a:latin typeface="system-ui"/>
              </a:rPr>
              <a:t>есть редкие, но достаточно регулярные ошибки (неучтенную </a:t>
            </a:r>
            <a:r>
              <a:rPr lang="ru-RU" sz="2000" dirty="0" err="1">
                <a:latin typeface="system-ui"/>
              </a:rPr>
              <a:t>информоацию</a:t>
            </a:r>
            <a:r>
              <a:rPr lang="ru-RU" sz="2000" dirty="0">
                <a:latin typeface="system-ui"/>
              </a:rPr>
              <a:t>), которые можно участь в модели.</a:t>
            </a:r>
          </a:p>
          <a:p>
            <a:r>
              <a:rPr lang="ru-RU" sz="2400" dirty="0" smtClean="0">
                <a:latin typeface="system-ui"/>
              </a:rPr>
              <a:t>Оценка важности факторов в модели.</a:t>
            </a:r>
          </a:p>
          <a:p>
            <a:endParaRPr lang="ru-RU" sz="2400" dirty="0">
              <a:latin typeface="system-ui"/>
            </a:endParaRPr>
          </a:p>
        </p:txBody>
      </p:sp>
    </p:spTree>
    <p:extLst>
      <p:ext uri="{BB962C8B-B14F-4D97-AF65-F5344CB8AC3E}">
        <p14:creationId xmlns:p14="http://schemas.microsoft.com/office/powerpoint/2010/main" val="3873255510"/>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endParaRPr lang="ru-RU"/>
          </a:p>
        </p:txBody>
      </p:sp>
      <p:sp>
        <p:nvSpPr>
          <p:cNvPr id="3" name="Объект 2"/>
          <p:cNvSpPr>
            <a:spLocks noGrp="1"/>
          </p:cNvSpPr>
          <p:nvPr>
            <p:ph idx="1"/>
          </p:nvPr>
        </p:nvSpPr>
        <p:spPr/>
        <p:txBody>
          <a:bodyPr/>
          <a:lstStyle/>
          <a:p>
            <a:endParaRPr lang="ru-RU"/>
          </a:p>
        </p:txBody>
      </p:sp>
      <p:sp>
        <p:nvSpPr>
          <p:cNvPr id="4" name="Прямоугольник 3"/>
          <p:cNvSpPr/>
          <p:nvPr/>
        </p:nvSpPr>
        <p:spPr>
          <a:xfrm>
            <a:off x="3048000" y="-633650"/>
            <a:ext cx="6096000" cy="8125301"/>
          </a:xfrm>
          <a:prstGeom prst="rect">
            <a:avLst/>
          </a:prstGeom>
        </p:spPr>
        <p:txBody>
          <a:bodyPr>
            <a:spAutoFit/>
          </a:bodyPr>
          <a:lstStyle/>
          <a:p>
            <a:r>
              <a:rPr lang="en-US" b="1" smtClean="0">
                <a:solidFill>
                  <a:srgbClr val="F3F3F3"/>
                </a:solidFill>
                <a:latin typeface="Inter"/>
              </a:rPr>
              <a:t/>
            </a:r>
            <a:br>
              <a:rPr lang="en-US" b="1" smtClean="0">
                <a:solidFill>
                  <a:srgbClr val="F3F3F3"/>
                </a:solidFill>
                <a:latin typeface="Inter"/>
              </a:rPr>
            </a:br>
            <a:r>
              <a:rPr lang="en-US" b="1" smtClean="0">
                <a:solidFill>
                  <a:srgbClr val="F3F3F3"/>
                </a:solidFill>
                <a:latin typeface="Inter"/>
              </a:rPr>
              <a:t>Importance of Confidence Interval Prediction in Time Series:</a:t>
            </a:r>
          </a:p>
          <a:p>
            <a:pPr>
              <a:buFont typeface="+mj-lt"/>
              <a:buAutoNum type="arabicPeriod"/>
            </a:pPr>
            <a:r>
              <a:rPr lang="en-US" smtClean="0">
                <a:solidFill>
                  <a:srgbClr val="9E9E9E"/>
                </a:solidFill>
                <a:latin typeface="Inter"/>
              </a:rPr>
              <a:t>Uncertainty Estimation: The confidence interval provides a measure of the uncertainty associated with time series predictions. It enables variability and the range of possible future values to be quantified, which is essential for making informed decisions.</a:t>
            </a:r>
          </a:p>
          <a:p>
            <a:pPr>
              <a:buFont typeface="+mj-lt"/>
              <a:buAutoNum type="arabicPeriod"/>
            </a:pPr>
            <a:r>
              <a:rPr lang="en-US" smtClean="0">
                <a:solidFill>
                  <a:srgbClr val="9E9E9E"/>
                </a:solidFill>
                <a:latin typeface="Inter"/>
              </a:rPr>
              <a:t>Precision evaluation: By having a confidence interval, the precision of the predictions can be evaluated. If the interval is narrow, it indicates that the forecast is more accurate and reliable. On the other hand, if the interval is wide, it indicates greater uncertainty and less precision in the predictions.</a:t>
            </a:r>
          </a:p>
          <a:p>
            <a:pPr>
              <a:buFont typeface="+mj-lt"/>
              <a:buAutoNum type="arabicPeriod"/>
            </a:pPr>
            <a:r>
              <a:rPr lang="en-US" smtClean="0">
                <a:solidFill>
                  <a:srgbClr val="9E9E9E"/>
                </a:solidFill>
                <a:latin typeface="Inter"/>
              </a:rPr>
              <a:t>Risk management: The confidence interval helps in risk management by providing information about possible future scenarios. It allows identifying the ranges in which the real values could be located and making decisions based on those possible scenarios.</a:t>
            </a:r>
          </a:p>
          <a:p>
            <a:pPr>
              <a:buFont typeface="+mj-lt"/>
              <a:buAutoNum type="arabicPeriod"/>
            </a:pPr>
            <a:r>
              <a:rPr lang="en-US" smtClean="0">
                <a:solidFill>
                  <a:srgbClr val="9E9E9E"/>
                </a:solidFill>
                <a:latin typeface="Inter"/>
              </a:rPr>
              <a:t>Effective communication: The confidence interval is a useful tool for communicating predictions clearly and accurately. It allows the variability and uncertainty associated with the predictions to be conveyed to the stakeholders, avoiding a wrong or overly optimistic interpretation of the results.</a:t>
            </a:r>
          </a:p>
          <a:p>
            <a:r>
              <a:rPr lang="en-US" smtClean="0">
                <a:solidFill>
                  <a:srgbClr val="9E9E9E"/>
                </a:solidFill>
                <a:latin typeface="Inter"/>
              </a:rPr>
              <a:t>Therefore, confidence interval prediction in time series is essential to understand and manage uncertainty, assess the accuracy of predictions, and make informed decisions based on possible future scenarios.</a:t>
            </a:r>
            <a:endParaRPr lang="en-US" b="0" i="0" dirty="0">
              <a:solidFill>
                <a:srgbClr val="9E9E9E"/>
              </a:solidFill>
              <a:effectLst/>
              <a:latin typeface="Inter"/>
            </a:endParaRPr>
          </a:p>
        </p:txBody>
      </p:sp>
      <p:sp>
        <p:nvSpPr>
          <p:cNvPr id="5" name="Прямоугольник 4"/>
          <p:cNvSpPr/>
          <p:nvPr/>
        </p:nvSpPr>
        <p:spPr>
          <a:xfrm>
            <a:off x="3048000" y="2967335"/>
            <a:ext cx="6096000" cy="923330"/>
          </a:xfrm>
          <a:prstGeom prst="rect">
            <a:avLst/>
          </a:prstGeom>
        </p:spPr>
        <p:txBody>
          <a:bodyPr>
            <a:spAutoFit/>
          </a:bodyPr>
          <a:lstStyle/>
          <a:p>
            <a:r>
              <a:rPr lang="ru-RU"/>
              <a:t>https://nixtlaverse.nixtla.io/mlforecast/docs/tutorials/prediction_intervals_in_forecasting_models.html#importance-of-confidence-interval-prediction-in-time-series</a:t>
            </a:r>
          </a:p>
        </p:txBody>
      </p:sp>
    </p:spTree>
    <p:extLst>
      <p:ext uri="{BB962C8B-B14F-4D97-AF65-F5344CB8AC3E}">
        <p14:creationId xmlns:p14="http://schemas.microsoft.com/office/powerpoint/2010/main" val="4025077323"/>
      </p:ext>
    </p:extLst>
  </p:cSld>
  <p:clrMapOvr>
    <a:masterClrMapping/>
  </p:clrMapOvr>
  <p:timing>
    <p:tnLst>
      <p:par>
        <p:cTn id="1" dur="indefinite" restart="never" nodeType="tmRoot"/>
      </p:par>
    </p:tnLst>
  </p:timing>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4092</TotalTime>
  <Words>462</Words>
  <Application>Microsoft Office PowerPoint</Application>
  <PresentationFormat>Широкоэкранный</PresentationFormat>
  <Paragraphs>86</Paragraphs>
  <Slides>8</Slides>
  <Notes>0</Notes>
  <HiddenSlides>0</HiddenSlides>
  <MMClips>0</MMClips>
  <ScaleCrop>false</ScaleCrop>
  <HeadingPairs>
    <vt:vector size="6" baseType="variant">
      <vt:variant>
        <vt:lpstr>Использованные шрифты</vt:lpstr>
      </vt:variant>
      <vt:variant>
        <vt:i4>6</vt:i4>
      </vt:variant>
      <vt:variant>
        <vt:lpstr>Тема</vt:lpstr>
      </vt:variant>
      <vt:variant>
        <vt:i4>1</vt:i4>
      </vt:variant>
      <vt:variant>
        <vt:lpstr>Заголовки слайдов</vt:lpstr>
      </vt:variant>
      <vt:variant>
        <vt:i4>8</vt:i4>
      </vt:variant>
    </vt:vector>
  </HeadingPairs>
  <TitlesOfParts>
    <vt:vector size="15" baseType="lpstr">
      <vt:lpstr>Arial</vt:lpstr>
      <vt:lpstr>Calibri</vt:lpstr>
      <vt:lpstr>Calibri Light</vt:lpstr>
      <vt:lpstr>Cambria Math</vt:lpstr>
      <vt:lpstr>Inter</vt:lpstr>
      <vt:lpstr>system-ui</vt:lpstr>
      <vt:lpstr>Тема Office</vt:lpstr>
      <vt:lpstr>Презентация PowerPoint</vt:lpstr>
      <vt:lpstr>Пути оценки качества работы модели</vt:lpstr>
      <vt:lpstr>Temporal split</vt:lpstr>
      <vt:lpstr>Walk-forward кросс-валидация </vt:lpstr>
      <vt:lpstr>Backtesting</vt:lpstr>
      <vt:lpstr>Особенности кросс-валидации</vt:lpstr>
      <vt:lpstr>Преимущества cross validation</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Time Series Analysis</dc:title>
  <dc:creator>Ронкин Михаил Владимирович</dc:creator>
  <cp:lastModifiedBy>Ронкин Михаил Владимирович</cp:lastModifiedBy>
  <cp:revision>233</cp:revision>
  <dcterms:created xsi:type="dcterms:W3CDTF">2021-10-31T10:57:36Z</dcterms:created>
  <dcterms:modified xsi:type="dcterms:W3CDTF">2025-07-16T14:59:44Z</dcterms:modified>
</cp:coreProperties>
</file>