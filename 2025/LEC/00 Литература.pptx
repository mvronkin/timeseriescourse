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433" r:id="rId2"/>
    <p:sldId id="434" r:id="rId3"/>
    <p:sldId id="435" r:id="rId4"/>
    <p:sldId id="436" r:id="rId5"/>
    <p:sldId id="43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61" autoAdjust="0"/>
    <p:restoredTop sz="94795"/>
  </p:normalViewPr>
  <p:slideViewPr>
    <p:cSldViewPr snapToGrid="0">
      <p:cViewPr varScale="1">
        <p:scale>
          <a:sx n="85" d="100"/>
          <a:sy n="85" d="100"/>
        </p:scale>
        <p:origin x="12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07.08.2025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07.08.2025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07.08.2025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07.08.2025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07.08.2025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07.08.2025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07.08.2025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07.08.2025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otexts.com/fpp3/" TargetMode="External"/><Relationship Id="rId7" Type="http://schemas.openxmlformats.org/officeDocument/2006/relationships/hyperlink" Target="https://github.com/Ian729/AI6123-TIME-SERIES-ANALYSIS" TargetMode="External"/><Relationship Id="rId2" Type="http://schemas.openxmlformats.org/officeDocument/2006/relationships/hyperlink" Target="https://otexts.com/fppp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eliavsky/TimeSeriesAnalysisBooks" TargetMode="External"/><Relationship Id="rId5" Type="http://schemas.openxmlformats.org/officeDocument/2006/relationships/hyperlink" Target="https://f0nzie.github.io/hyndman-bookdown-rsuite/" TargetMode="External"/><Relationship Id="rId10" Type="http://schemas.openxmlformats.org/officeDocument/2006/relationships/hyperlink" Target="https://ej.hse.ru/data/2010/12/31/1208182168/06_02_07.pdf" TargetMode="External"/><Relationship Id="rId4" Type="http://schemas.openxmlformats.org/officeDocument/2006/relationships/hyperlink" Target="https://github.com/zgana/fpp3-python-readalong/tree/master" TargetMode="External"/><Relationship Id="rId9" Type="http://schemas.openxmlformats.org/officeDocument/2006/relationships/hyperlink" Target="https://github.com/thuml/Time-Series-Library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ducation.yandex.ru/handbook/ml/article/vremennye-ryady" TargetMode="External"/><Relationship Id="rId3" Type="http://schemas.openxmlformats.org/officeDocument/2006/relationships/hyperlink" Target="https://darrenjw.github.io/time-series/intro.html" TargetMode="External"/><Relationship Id="rId7" Type="http://schemas.openxmlformats.org/officeDocument/2006/relationships/hyperlink" Target="https://ranalytics.github.io/tsa-with-r/" TargetMode="External"/><Relationship Id="rId2" Type="http://schemas.openxmlformats.org/officeDocument/2006/relationships/hyperlink" Target="https://cienciadedatos.net/en/forecasting-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zillow-tech-hub/automatic-and-self-aware-anomaly-detection-at-zillow-using-luminaire" TargetMode="External"/><Relationship Id="rId5" Type="http://schemas.openxmlformats.org/officeDocument/2006/relationships/hyperlink" Target="https://zillow.github.io/luminaire/tutorial/dataprofiling.html" TargetMode="External"/><Relationship Id="rId4" Type="http://schemas.openxmlformats.org/officeDocument/2006/relationships/hyperlink" Target="https://zillow.github.io/luminaire/index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qingsongedu/awesome-AI-for-time-series-papers" TargetMode="External"/><Relationship Id="rId3" Type="http://schemas.openxmlformats.org/officeDocument/2006/relationships/hyperlink" Target="https://skforecast.org/0.16.0/" TargetMode="External"/><Relationship Id="rId7" Type="http://schemas.openxmlformats.org/officeDocument/2006/relationships/hyperlink" Target="https://openforecast.org/adam/" TargetMode="External"/><Relationship Id="rId2" Type="http://schemas.openxmlformats.org/officeDocument/2006/relationships/hyperlink" Target="https://github.com/unit8co/dar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bjhyndman.com/hyndsight/python_time_series.html" TargetMode="External"/><Relationship Id="rId5" Type="http://schemas.openxmlformats.org/officeDocument/2006/relationships/hyperlink" Target="https://github.com/linhhlp/Scalable-Machine-Learning-for-Small-Teams/" TargetMode="External"/><Relationship Id="rId10" Type="http://schemas.openxmlformats.org/officeDocument/2006/relationships/hyperlink" Target="http://repo.darmajaya.ac.id/4781/1/Time%20Series%20Analysis_%20Forecasting%20and%20Control%20(%20PDFDrive%20).pdf" TargetMode="External"/><Relationship Id="rId4" Type="http://schemas.openxmlformats.org/officeDocument/2006/relationships/hyperlink" Target="https://cienciadedatos.net/en/forecasting-python" TargetMode="External"/><Relationship Id="rId9" Type="http://schemas.openxmlformats.org/officeDocument/2006/relationships/hyperlink" Target="https://www.sciencedirect.com/science/article/pii/S0169207021001758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l.leima.is/time-series/" TargetMode="External"/><Relationship Id="rId13" Type="http://schemas.openxmlformats.org/officeDocument/2006/relationships/hyperlink" Target="https://ranalytics.github.io/tsa-with-r/" TargetMode="External"/><Relationship Id="rId18" Type="http://schemas.openxmlformats.org/officeDocument/2006/relationships/hyperlink" Target="https://fish-forecast.github.io/Fish-Forecast-Bookdown/" TargetMode="External"/><Relationship Id="rId3" Type="http://schemas.openxmlformats.org/officeDocument/2006/relationships/hyperlink" Target="https://s-ai-f.github.io/Time-Series/time-series-basics.html#what-is-a-time-series" TargetMode="External"/><Relationship Id="rId7" Type="http://schemas.openxmlformats.org/officeDocument/2006/relationships/hyperlink" Target="https://mse.msu.ru/wp-content/uploads/2021/03/%D0%92%D0%B2%D0%B5%D0%B4%D0%B5%D0%BD%D0%B8%D0%B5-%D0%B2-%D0%B0%D0%BD%D0%B0%D0%BB%D0%B8%D0%B7-%D0%B2%D1%80%D0%B5%D0%BC%D0%B5%D0%BD%D0%BD%D1%8B%D1%85-%D1%80%D1%8F%D0%B4%D0%BE%D0%B2-1.pdf" TargetMode="External"/><Relationship Id="rId12" Type="http://schemas.openxmlformats.org/officeDocument/2006/relationships/hyperlink" Target="https://livebook.manning.com/book/modern-time-series-analysis-in-python/c" TargetMode="External"/><Relationship Id="rId17" Type="http://schemas.openxmlformats.org/officeDocument/2006/relationships/hyperlink" Target="https://stat153.berkeley.edu/spring-2025/lab5" TargetMode="External"/><Relationship Id="rId2" Type="http://schemas.openxmlformats.org/officeDocument/2006/relationships/hyperlink" Target="https://www.statslab.cam.ac.uk/~rrw1/timeseries/t.pdf" TargetMode="External"/><Relationship Id="rId16" Type="http://schemas.openxmlformats.org/officeDocument/2006/relationships/hyperlink" Target="https://www.stat.berkeley.edu/~ryantibs/timeseries-f23/" TargetMode="External"/><Relationship Id="rId20" Type="http://schemas.openxmlformats.org/officeDocument/2006/relationships/hyperlink" Target="https://www.econometrics-with-r.org/16.1-vector-autoregression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ivil.colorado.edu/~balajir/CVEN6833/lectures/wwts-book.pdf" TargetMode="External"/><Relationship Id="rId11" Type="http://schemas.openxmlformats.org/officeDocument/2006/relationships/hyperlink" Target="https://www.openforecast.org/adam/state-space-form-of-ets.html" TargetMode="External"/><Relationship Id="rId5" Type="http://schemas.openxmlformats.org/officeDocument/2006/relationships/hyperlink" Target="https://smac-group.github.io/ts/fundtimeseries.html" TargetMode="External"/><Relationship Id="rId15" Type="http://schemas.openxmlformats.org/officeDocument/2006/relationships/hyperlink" Target="https://www.stat.berkeley.edu/~aditya/resources/FullNotes248Spring2022TimeSeries.pdf" TargetMode="External"/><Relationship Id="rId10" Type="http://schemas.openxmlformats.org/officeDocument/2006/relationships/hyperlink" Target="https://medium.com/data-science-at-microsoft/time-series-forecasting-part-3-of-3-introducing-auts-adaptive-univariate-time-series-dfd7555ca8d4" TargetMode="External"/><Relationship Id="rId19" Type="http://schemas.openxmlformats.org/officeDocument/2006/relationships/hyperlink" Target="https://xiaorui.site/Forecasting-and-Time-Series-Methods/" TargetMode="External"/><Relationship Id="rId4" Type="http://schemas.openxmlformats.org/officeDocument/2006/relationships/hyperlink" Target="https://bookdown.org/JakeEsprabens/431-Time-Series/forecasting.html" TargetMode="External"/><Relationship Id="rId9" Type="http://schemas.openxmlformats.org/officeDocument/2006/relationships/hyperlink" Target="https://www.kaggle.com/code/prashant111/complete-guide-on-time-series-analysis-in-python" TargetMode="External"/><Relationship Id="rId14" Type="http://schemas.openxmlformats.org/officeDocument/2006/relationships/hyperlink" Target="https://towardsdatascience.com/forecast-multiple-time-series-like-a-master-1579a2b6f18d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objhyndman.com/hyndsight/python_time_series.html" TargetMode="External"/><Relationship Id="rId3" Type="http://schemas.openxmlformats.org/officeDocument/2006/relationships/hyperlink" Target="https://nixtlaverse.nixtla.io/mlforecast/index.html" TargetMode="External"/><Relationship Id="rId7" Type="http://schemas.openxmlformats.org/officeDocument/2006/relationships/hyperlink" Target="https://www.sktime.net/en/stable/" TargetMode="External"/><Relationship Id="rId2" Type="http://schemas.openxmlformats.org/officeDocument/2006/relationships/hyperlink" Target="https://nixtlaverse.nixtla.io/statsforeca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t8co.github.io/darts/" TargetMode="External"/><Relationship Id="rId5" Type="http://schemas.openxmlformats.org/officeDocument/2006/relationships/hyperlink" Target="https://skforecast.org/0.16.0/index.html" TargetMode="External"/><Relationship Id="rId4" Type="http://schemas.openxmlformats.org/officeDocument/2006/relationships/hyperlink" Target="https://nixtlaverse.nixtla.io/neuralforecast/docs/getting-started/introduc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Forecasting: Principles and Practice, the </a:t>
            </a:r>
            <a:r>
              <a:rPr lang="en-US" b="1" dirty="0" err="1"/>
              <a:t>Pythonic</a:t>
            </a:r>
            <a:r>
              <a:rPr lang="en-US" b="1" dirty="0"/>
              <a:t> Way - </a:t>
            </a:r>
            <a:r>
              <a:rPr lang="en-US" dirty="0">
                <a:hlinkClick r:id="rId2"/>
              </a:rPr>
              <a:t>https://otexts.com/fpppy/</a:t>
            </a:r>
            <a:r>
              <a:rPr lang="en-US" dirty="0"/>
              <a:t> (2025 </a:t>
            </a:r>
            <a:r>
              <a:rPr lang="ru-RU" dirty="0"/>
              <a:t>год)</a:t>
            </a:r>
          </a:p>
          <a:p>
            <a:r>
              <a:rPr lang="ru-RU" dirty="0"/>
              <a:t>Переработка </a:t>
            </a:r>
            <a:r>
              <a:rPr lang="ru-RU" dirty="0" err="1"/>
              <a:t>fpp</a:t>
            </a:r>
            <a:r>
              <a:rPr lang="en-US" dirty="0"/>
              <a:t>3</a:t>
            </a:r>
            <a:r>
              <a:rPr lang="ru-RU" dirty="0"/>
              <a:t> (</a:t>
            </a:r>
            <a:r>
              <a:rPr lang="en" u="sng" dirty="0">
                <a:hlinkClick r:id="rId3"/>
              </a:rPr>
              <a:t>https://otexts.com/fpp3/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python </a:t>
            </a:r>
            <a:r>
              <a:rPr lang="en-US" dirty="0">
                <a:hlinkClick r:id="rId4"/>
              </a:rPr>
              <a:t>https://github.com/zgana/fpp3-python-readalong/tree/master</a:t>
            </a:r>
            <a:r>
              <a:rPr lang="en-US" dirty="0"/>
              <a:t>  </a:t>
            </a:r>
            <a:r>
              <a:rPr lang="ru-RU" dirty="0"/>
              <a:t>и тут </a:t>
            </a:r>
            <a:r>
              <a:rPr lang="en" dirty="0">
                <a:hlinkClick r:id="rId5"/>
              </a:rPr>
              <a:t>https://f0nzie.github.io/hyndman-bookdown-rsuite/</a:t>
            </a:r>
            <a:r>
              <a:rPr lang="ru-RU" dirty="0"/>
              <a:t> </a:t>
            </a:r>
          </a:p>
          <a:p>
            <a:r>
              <a:rPr lang="en" dirty="0">
                <a:hlinkClick r:id="rId6"/>
              </a:rPr>
              <a:t>https://github.com/Beliavsky/TimeSeriesAnalysisBooks</a:t>
            </a:r>
            <a:r>
              <a:rPr lang="ru-RU" dirty="0"/>
              <a:t> - книги по анализу ВР</a:t>
            </a:r>
          </a:p>
          <a:p>
            <a:r>
              <a:rPr lang="en" dirty="0">
                <a:hlinkClick r:id="rId7"/>
              </a:rPr>
              <a:t>https://github.com/Ian729/AI6123-TIME-SERIES-ANALYSIS</a:t>
            </a:r>
            <a:r>
              <a:rPr lang="ru-RU" dirty="0"/>
              <a:t> - книга по анализу ВР на </a:t>
            </a:r>
            <a:r>
              <a:rPr lang="ru-RU" dirty="0" err="1"/>
              <a:t>R</a:t>
            </a:r>
            <a:r>
              <a:rPr lang="en-US" dirty="0"/>
              <a:t> 2015</a:t>
            </a:r>
          </a:p>
          <a:p>
            <a:r>
              <a:rPr lang="en" dirty="0">
                <a:hlinkClick r:id="rId8"/>
              </a:rPr>
              <a:t>https://github.com/qingsongedu/awesome-AI-for-time-series-papers</a:t>
            </a:r>
            <a:r>
              <a:rPr lang="en" dirty="0"/>
              <a:t> - </a:t>
            </a:r>
            <a:r>
              <a:rPr lang="en" dirty="0" err="1"/>
              <a:t>стат</a:t>
            </a:r>
            <a:r>
              <a:rPr lang="ru-RU" dirty="0" err="1"/>
              <a:t>ьи</a:t>
            </a:r>
            <a:r>
              <a:rPr lang="ru-RU" dirty="0"/>
              <a:t> по анализу ВР до 2024</a:t>
            </a:r>
          </a:p>
          <a:p>
            <a:r>
              <a:rPr lang="en" dirty="0">
                <a:hlinkClick r:id="rId9"/>
              </a:rPr>
              <a:t>https://</a:t>
            </a:r>
            <a:r>
              <a:rPr lang="en" dirty="0" smtClean="0">
                <a:hlinkClick r:id="rId9"/>
              </a:rPr>
              <a:t>github.com/thuml/Time-Series-Library</a:t>
            </a:r>
            <a:r>
              <a:rPr lang="ru-RU" dirty="0" smtClean="0"/>
              <a:t> </a:t>
            </a:r>
            <a:r>
              <a:rPr lang="ru-RU" dirty="0"/>
              <a:t>- Библиотека анализа </a:t>
            </a:r>
            <a:r>
              <a:rPr lang="ru-RU" dirty="0" smtClean="0"/>
              <a:t>ВР</a:t>
            </a:r>
          </a:p>
          <a:p>
            <a:r>
              <a:rPr lang="en-US" dirty="0">
                <a:hlinkClick r:id="rId10"/>
              </a:rPr>
              <a:t>https://</a:t>
            </a:r>
            <a:r>
              <a:rPr lang="en-US" dirty="0" smtClean="0">
                <a:hlinkClick r:id="rId10"/>
              </a:rPr>
              <a:t>ej.hse.ru/data/2010/12/31/1208182168/06_02_07.pdf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61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FD7E-F0AA-12A9-DFB6-74F2303B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56E89-79CA-50D4-E9BC-0B7C9ACD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66" y="365125"/>
            <a:ext cx="11109434" cy="628103"/>
          </a:xfrm>
        </p:spPr>
        <p:txBody>
          <a:bodyPr>
            <a:normAutofit fontScale="90000"/>
          </a:bodyPr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E914B0-07ED-F2EF-0FB4-D7316022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38" y="993228"/>
            <a:ext cx="11737428" cy="5363122"/>
          </a:xfrm>
        </p:spPr>
        <p:txBody>
          <a:bodyPr/>
          <a:lstStyle/>
          <a:p>
            <a:r>
              <a:rPr lang="en" b="1" dirty="0"/>
              <a:t>Forecasting with Python </a:t>
            </a:r>
            <a:r>
              <a:rPr lang="en-US" b="1" dirty="0"/>
              <a:t>Tutorials </a:t>
            </a:r>
            <a:r>
              <a:rPr lang="en-US" b="1" dirty="0">
                <a:hlinkClick r:id="rId2"/>
              </a:rPr>
              <a:t>https://cienciadedatos.net/en/forecasting-python</a:t>
            </a:r>
            <a:endParaRPr lang="ru-RU" b="1" dirty="0"/>
          </a:p>
          <a:p>
            <a:r>
              <a:rPr lang="en" dirty="0">
                <a:hlinkClick r:id="rId3"/>
              </a:rPr>
              <a:t>https://darrenjw.github.io/time-series/intro.html</a:t>
            </a:r>
            <a:endParaRPr lang="en-US" dirty="0"/>
          </a:p>
          <a:p>
            <a:r>
              <a:rPr lang="en" b="1" dirty="0">
                <a:hlinkClick r:id="rId4" tooltip="Luminaire"/>
              </a:rPr>
              <a:t>Luminaire</a:t>
            </a:r>
            <a:r>
              <a:rPr lang="en" b="1" dirty="0"/>
              <a:t> </a:t>
            </a:r>
            <a:r>
              <a:rPr lang="en" b="1" dirty="0">
                <a:hlinkClick r:id="rId5"/>
              </a:rPr>
              <a:t>https://zillow.github.io/luminaire/tutorial/dataprofiling.html</a:t>
            </a:r>
            <a:r>
              <a:rPr lang="en" b="1" dirty="0"/>
              <a:t> </a:t>
            </a:r>
            <a:r>
              <a:rPr lang="en" b="1" dirty="0">
                <a:hlinkClick r:id="rId6"/>
              </a:rPr>
              <a:t>https://medium.com/zillow-tech-hub/automatic-and-self-aware-anomaly-detection-at-zillow-using-luminaire</a:t>
            </a:r>
            <a:r>
              <a:rPr lang="en" b="1" dirty="0"/>
              <a:t> </a:t>
            </a:r>
          </a:p>
          <a:p>
            <a:r>
              <a:rPr lang="en-US" dirty="0">
                <a:hlinkClick r:id="rId7"/>
              </a:rPr>
              <a:t>https://ranalytics.github.io/tsa-with-r/</a:t>
            </a:r>
            <a:r>
              <a:rPr lang="ru-RU" dirty="0"/>
              <a:t> - </a:t>
            </a:r>
            <a:r>
              <a:rPr lang="ru-RU" dirty="0" err="1"/>
              <a:t>Аанализ</a:t>
            </a:r>
            <a:r>
              <a:rPr lang="ru-RU" dirty="0"/>
              <a:t> ВР при помощи </a:t>
            </a:r>
            <a:r>
              <a:rPr lang="en-US" dirty="0"/>
              <a:t>R</a:t>
            </a:r>
            <a:endParaRPr lang="ru-RU" dirty="0"/>
          </a:p>
          <a:p>
            <a:r>
              <a:rPr lang="en-US" dirty="0">
                <a:hlinkClick r:id="rId8"/>
              </a:rPr>
              <a:t>https://education.yandex.ru/handbook/ml/article/vremennye-ryady</a:t>
            </a:r>
            <a:endParaRPr lang="en-US" dirty="0"/>
          </a:p>
          <a:p>
            <a:r>
              <a:rPr lang="en-US" dirty="0"/>
              <a:t>https://mrtunguyen.github.io/posts/time-series/time-series.html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/>
              <a:t>https://dev.mrdbourke.com/tensorflow-deep-learning/10_time_series_forecasting_in_tensorflow/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8E627C-3E57-8991-44CD-2D8C813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2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18AB3-6E97-3C2A-02C0-D8613E9C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0A1DB-D463-436A-1DC0-D03970663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18156" cy="4530725"/>
          </a:xfrm>
        </p:spPr>
        <p:txBody>
          <a:bodyPr>
            <a:normAutofit fontScale="92500" lnSpcReduction="10000"/>
          </a:bodyPr>
          <a:lstStyle/>
          <a:p>
            <a:r>
              <a:rPr lang="en" dirty="0">
                <a:hlinkClick r:id="rId2"/>
              </a:rPr>
              <a:t>https://github.com/unit8co/darts</a:t>
            </a:r>
            <a:endParaRPr lang="en" dirty="0"/>
          </a:p>
          <a:p>
            <a:r>
              <a:rPr lang="en" dirty="0" err="1"/>
              <a:t>Skforecast</a:t>
            </a:r>
            <a:r>
              <a:rPr lang="en" dirty="0"/>
              <a:t> </a:t>
            </a:r>
            <a:r>
              <a:rPr lang="en" dirty="0">
                <a:hlinkClick r:id="rId3"/>
              </a:rPr>
              <a:t>https://skforecast.org/0.16.0/</a:t>
            </a:r>
            <a:r>
              <a:rPr lang="en" dirty="0"/>
              <a:t>  </a:t>
            </a:r>
            <a:r>
              <a:rPr lang="en" dirty="0">
                <a:hlinkClick r:id="rId4"/>
              </a:rPr>
              <a:t>https://cienciadedatos.net/en/forecasting-python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https://github.com/linhhlp/Scalable-Machine-Learning-for-Small-Teams/</a:t>
            </a:r>
            <a:r>
              <a:rPr lang="ru-RU" dirty="0"/>
              <a:t> </a:t>
            </a:r>
            <a:endParaRPr lang="en-US" dirty="0"/>
          </a:p>
          <a:p>
            <a:r>
              <a:rPr lang="en" dirty="0">
                <a:hlinkClick r:id="rId6"/>
              </a:rPr>
              <a:t>https://robjhyndman.com/hyndsight/python_time_series.html</a:t>
            </a:r>
            <a:r>
              <a:rPr lang="en" dirty="0"/>
              <a:t> - </a:t>
            </a:r>
            <a:r>
              <a:rPr lang="ru-RU" dirty="0"/>
              <a:t>обзор реализаций методов на </a:t>
            </a:r>
            <a:r>
              <a:rPr lang="en-US" dirty="0"/>
              <a:t>python</a:t>
            </a:r>
          </a:p>
          <a:p>
            <a:r>
              <a:rPr lang="en-US" dirty="0">
                <a:hlinkClick r:id="rId7"/>
              </a:rPr>
              <a:t>https://openforecast.org/adam/</a:t>
            </a:r>
            <a:endParaRPr lang="en-US" dirty="0"/>
          </a:p>
          <a:p>
            <a:r>
              <a:rPr lang="en-US" dirty="0">
                <a:hlinkClick r:id="rId8"/>
              </a:rPr>
              <a:t>https://github.com/qingsongedu/awesome-AI-for-time-series-papers</a:t>
            </a:r>
            <a:endParaRPr lang="en-US" dirty="0"/>
          </a:p>
          <a:p>
            <a:r>
              <a:rPr lang="en-US" dirty="0">
                <a:hlinkClick r:id="rId9"/>
              </a:rPr>
              <a:t>https://www.sciencedirect.com/science/article/pii/S0169207021001758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http://repo.darmajaya.ac.id/4781/1/Time%20Series%20Analysis_%20Forecasting%20and%20Control%20%28%20PDFDrive%20%29.pdf</a:t>
            </a:r>
            <a:r>
              <a:rPr lang="ru-RU" dirty="0"/>
              <a:t> 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71163D-FA5C-9021-4321-63063D1A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A2F7-0290-7993-222E-F9163CC0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4F084-846D-1E20-6379-EEC305C8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16A171-2167-F8EC-A7E3-1183CFD0A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47849"/>
            <a:ext cx="10515600" cy="4873625"/>
          </a:xfrm>
        </p:spPr>
        <p:txBody>
          <a:bodyPr>
            <a:normAutofit fontScale="40000" lnSpcReduction="20000"/>
          </a:bodyPr>
          <a:lstStyle/>
          <a:p>
            <a:r>
              <a:rPr lang="en" dirty="0">
                <a:hlinkClick r:id="rId2"/>
              </a:rPr>
              <a:t>https://www.statslab.cam.ac.uk/~rrw1/timeseries/t.pdf</a:t>
            </a:r>
            <a:r>
              <a:rPr lang="en" dirty="0"/>
              <a:t> </a:t>
            </a:r>
          </a:p>
          <a:p>
            <a:r>
              <a:rPr lang="en" dirty="0">
                <a:hlinkClick r:id="rId3"/>
              </a:rPr>
              <a:t>https://s-ai-f.github.io/Time-Series/time-series-basics.html#what-is-a-time-series</a:t>
            </a:r>
            <a:r>
              <a:rPr lang="en" dirty="0"/>
              <a:t> </a:t>
            </a:r>
          </a:p>
          <a:p>
            <a:r>
              <a:rPr lang="en" dirty="0">
                <a:hlinkClick r:id="rId4"/>
              </a:rPr>
              <a:t>https://bookdown.org/JakeEsprabens/431-Time-Series/forecasting.html</a:t>
            </a:r>
            <a:r>
              <a:rPr lang="en" dirty="0"/>
              <a:t> </a:t>
            </a:r>
          </a:p>
          <a:p>
            <a:r>
              <a:rPr lang="en" dirty="0">
                <a:hlinkClick r:id="rId5"/>
              </a:rPr>
              <a:t>https://smac-group.github.io/ts/fundtimeseries.html</a:t>
            </a:r>
            <a:r>
              <a:rPr lang="en" dirty="0"/>
              <a:t> </a:t>
            </a:r>
          </a:p>
          <a:p>
            <a:r>
              <a:rPr lang="en" dirty="0">
                <a:hlinkClick r:id="rId6"/>
              </a:rPr>
              <a:t>https://civil.colorado.edu/~balajir/CVEN6833/lectures/wwts-book.pdf</a:t>
            </a:r>
            <a:r>
              <a:rPr lang="en" dirty="0"/>
              <a:t> </a:t>
            </a:r>
            <a:endParaRPr lang="ru-RU" dirty="0"/>
          </a:p>
          <a:p>
            <a:r>
              <a:rPr lang="en" dirty="0">
                <a:hlinkClick r:id="rId7"/>
              </a:rPr>
              <a:t>https://mse.msu.ru/wp-content/uploads/2021/03/%D0%92%D0%B2%D0%B5%D0%B4%D0%B5%D0%BD%D0%B8%D0%B5-%D0%B2-%D0%B0%D0%BD%D0%B0%D0%BB%D0%B8%D0%B7-%D0%B2%D1%80%D0%B5%D0%BC%D0%B5%D0%BD%D0%BD%D1%8B%D1%85-%D1%80%D1%8F%D0%B4%D0%BE%D0%B2-1.pdf</a:t>
            </a:r>
            <a:r>
              <a:rPr lang="ru-RU" dirty="0"/>
              <a:t> </a:t>
            </a:r>
          </a:p>
          <a:p>
            <a:r>
              <a:rPr lang="en" dirty="0">
                <a:hlinkClick r:id="rId8"/>
              </a:rPr>
              <a:t>https://dl.leima.is/time-series/</a:t>
            </a:r>
            <a:endParaRPr lang="en" dirty="0"/>
          </a:p>
          <a:p>
            <a:r>
              <a:rPr lang="en-US" dirty="0">
                <a:hlinkClick r:id="rId9"/>
              </a:rPr>
              <a:t>https://www.kaggle.com/code/prashant111/complete-guide-on-time-series-analysis-in-python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>
                <a:hlinkClick r:id="rId10"/>
              </a:rPr>
              <a:t>https://medium.com/data-science-at-microsoft/time-series-forecasting-part-3-of-3-introducing-auts-adaptive-univariate-time-series-dfd7555ca8d4</a:t>
            </a:r>
            <a:endParaRPr lang="ru-RU" dirty="0"/>
          </a:p>
          <a:p>
            <a:r>
              <a:rPr lang="en-US" dirty="0">
                <a:hlinkClick r:id="rId11"/>
              </a:rPr>
              <a:t>https://www.openforecast.org/adam/state-space-form-of-ets.html</a:t>
            </a:r>
            <a:endParaRPr lang="ru-RU" dirty="0"/>
          </a:p>
          <a:p>
            <a:r>
              <a:rPr lang="en-US" dirty="0">
                <a:hlinkClick r:id="rId12"/>
              </a:rPr>
              <a:t>https://livebook.manning.com/book/modern-time-series-analysis-in-python/c</a:t>
            </a:r>
            <a:r>
              <a:rPr lang="ru-RU" dirty="0"/>
              <a:t> </a:t>
            </a:r>
          </a:p>
          <a:p>
            <a:r>
              <a:rPr lang="en-US" dirty="0">
                <a:hlinkClick r:id="rId13"/>
              </a:rPr>
              <a:t>https://ranalytics.github.io/tsa-with-r/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hlinkClick r:id="rId14"/>
              </a:rPr>
              <a:t>https://towardsdatascience.com/forecast-multiple-time-series-like-a-master-1579a2b6f18d/</a:t>
            </a:r>
            <a:r>
              <a:rPr lang="en-US" dirty="0"/>
              <a:t> </a:t>
            </a:r>
          </a:p>
          <a:p>
            <a:r>
              <a:rPr lang="en-US" dirty="0">
                <a:hlinkClick r:id="rId15"/>
              </a:rPr>
              <a:t>https://www.stat.berkeley.edu/~aditya/resources/FullNotes248Spring2022TimeSeries.pdf</a:t>
            </a:r>
            <a:endParaRPr lang="en-US" dirty="0"/>
          </a:p>
          <a:p>
            <a:r>
              <a:rPr lang="en-US" dirty="0">
                <a:hlinkClick r:id="rId16"/>
              </a:rPr>
              <a:t>https://www.stat.berkeley.edu/~ryantibs/timeseries-f23/</a:t>
            </a:r>
            <a:endParaRPr lang="ru-RU" dirty="0"/>
          </a:p>
          <a:p>
            <a:r>
              <a:rPr lang="en-US" dirty="0">
                <a:hlinkClick r:id="rId17"/>
              </a:rPr>
              <a:t>https://stat153.berkeley.edu/spring-2025/lab5</a:t>
            </a:r>
            <a:r>
              <a:rPr lang="ru-RU" dirty="0"/>
              <a:t> - интерактивно</a:t>
            </a:r>
            <a:endParaRPr lang="en-US" dirty="0"/>
          </a:p>
          <a:p>
            <a:r>
              <a:rPr lang="en" dirty="0">
                <a:hlinkClick r:id="rId18"/>
              </a:rPr>
              <a:t>https://fish-forecast.github.io/Fish-Forecast-Bookdown/</a:t>
            </a:r>
            <a:r>
              <a:rPr lang="en" dirty="0"/>
              <a:t> </a:t>
            </a:r>
            <a:endParaRPr lang="en" dirty="0" smtClean="0"/>
          </a:p>
          <a:p>
            <a:r>
              <a:rPr lang="en-US" dirty="0">
                <a:hlinkClick r:id="rId19"/>
              </a:rPr>
              <a:t>https://xiaorui.site/Forecasting-and-Time-Series-Methods</a:t>
            </a:r>
            <a:r>
              <a:rPr lang="en-US" dirty="0" smtClean="0">
                <a:hlinkClick r:id="rId19"/>
              </a:rPr>
              <a:t>/</a:t>
            </a:r>
            <a:endParaRPr lang="ru-RU" dirty="0" smtClean="0"/>
          </a:p>
          <a:p>
            <a:r>
              <a:rPr lang="en-US" dirty="0">
                <a:hlinkClick r:id="rId20"/>
              </a:rPr>
              <a:t>https://</a:t>
            </a:r>
            <a:r>
              <a:rPr lang="en-US" dirty="0" smtClean="0">
                <a:hlinkClick r:id="rId20"/>
              </a:rPr>
              <a:t>www.econometrics-with-r.org/16.1-vector-autoregressions.html</a:t>
            </a:r>
            <a:r>
              <a:rPr lang="ru-RU" smtClean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1C3A2C-73D2-5BF6-4450-5C867B5B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7022" y="185738"/>
            <a:ext cx="10969978" cy="752475"/>
          </a:xfrm>
        </p:spPr>
        <p:txBody>
          <a:bodyPr/>
          <a:lstStyle/>
          <a:p>
            <a:r>
              <a:rPr lang="ru-RU" dirty="0" smtClean="0"/>
              <a:t>Фреймворки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822" y="938213"/>
            <a:ext cx="10969978" cy="505936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github.com/ddz16/TSFpaper</a:t>
            </a:r>
            <a:r>
              <a:rPr lang="ru-RU" dirty="0" smtClean="0">
                <a:hlinkClick r:id="rId2"/>
              </a:rPr>
              <a:t> - статьи по ВР до 2025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github.com/lmmentel/awesome-time-series</a:t>
            </a:r>
            <a:r>
              <a:rPr lang="ru-RU" dirty="0" smtClean="0">
                <a:hlinkClick r:id="rId2"/>
              </a:rPr>
              <a:t> – подборка большого количества всего по ВР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nixtlaverse.nixtla.io/statsforecast/index.html</a:t>
            </a:r>
            <a:r>
              <a:rPr lang="en-US" dirty="0" smtClean="0"/>
              <a:t> - </a:t>
            </a:r>
            <a:r>
              <a:rPr lang="ru-RU" dirty="0" smtClean="0"/>
              <a:t>статистические методы, включая авто- </a:t>
            </a:r>
            <a:r>
              <a:rPr lang="en-US" dirty="0" smtClean="0"/>
              <a:t>ETS, </a:t>
            </a:r>
            <a:r>
              <a:rPr lang="en-US" dirty="0" err="1" smtClean="0"/>
              <a:t>atuoARIMA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ru-RU" dirty="0" err="1" smtClean="0"/>
              <a:t>итд</a:t>
            </a:r>
            <a:r>
              <a:rPr lang="ru-RU" dirty="0" smtClean="0"/>
              <a:t>.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nixtlaverse.nixtla.io/mlforecast/index.html</a:t>
            </a:r>
            <a:r>
              <a:rPr lang="ru-RU" dirty="0" smtClean="0"/>
              <a:t> - машинное обучение</a:t>
            </a:r>
          </a:p>
          <a:p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nixtlaverse.nixtla.io/neuralforecast/docs/getting-started/introduction.html</a:t>
            </a:r>
            <a:r>
              <a:rPr lang="ru-RU" dirty="0" smtClean="0"/>
              <a:t> - предсказание при помощи нейронных сетей</a:t>
            </a:r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skforecast.org/0.16.0/index.html</a:t>
            </a:r>
            <a:r>
              <a:rPr lang="ru-RU" dirty="0" smtClean="0"/>
              <a:t> - отличный оригинальный </a:t>
            </a:r>
            <a:r>
              <a:rPr lang="ru-RU" dirty="0" err="1" smtClean="0"/>
              <a:t>фреймворк</a:t>
            </a:r>
            <a:r>
              <a:rPr lang="ru-RU" dirty="0" smtClean="0"/>
              <a:t> для предсказания ВР с машинным обучением</a:t>
            </a:r>
          </a:p>
          <a:p>
            <a:r>
              <a:rPr lang="en-US" dirty="0">
                <a:hlinkClick r:id="rId6"/>
              </a:rPr>
              <a:t>https://unit8co.github.io/darts</a:t>
            </a:r>
            <a:r>
              <a:rPr lang="en-US" dirty="0" smtClean="0">
                <a:hlinkClick r:id="rId6"/>
              </a:rPr>
              <a:t>/</a:t>
            </a:r>
            <a:r>
              <a:rPr lang="en-US" dirty="0" smtClean="0"/>
              <a:t> - </a:t>
            </a:r>
            <a:r>
              <a:rPr lang="ru-RU" dirty="0" smtClean="0"/>
              <a:t>очень объемный </a:t>
            </a:r>
            <a:r>
              <a:rPr lang="ru-RU" dirty="0" err="1" smtClean="0"/>
              <a:t>фреймворк</a:t>
            </a:r>
            <a:r>
              <a:rPr lang="ru-RU" dirty="0" smtClean="0"/>
              <a:t> – почти все типичные задачи ВР</a:t>
            </a:r>
            <a:endParaRPr lang="en-US" dirty="0" smtClean="0"/>
          </a:p>
          <a:p>
            <a:r>
              <a:rPr lang="en-US" dirty="0">
                <a:hlinkClick r:id="rId7"/>
              </a:rPr>
              <a:t>https://www.sktime.net/en/stable</a:t>
            </a:r>
            <a:r>
              <a:rPr lang="en-US" dirty="0" smtClean="0">
                <a:hlinkClick r:id="rId7"/>
              </a:rPr>
              <a:t>/</a:t>
            </a:r>
            <a:r>
              <a:rPr lang="en-US" dirty="0" smtClean="0"/>
              <a:t> - </a:t>
            </a:r>
            <a:r>
              <a:rPr lang="ru-RU" dirty="0" smtClean="0"/>
              <a:t>большая подборка методов в формате </a:t>
            </a:r>
            <a:r>
              <a:rPr lang="en-US" dirty="0" err="1" smtClean="0"/>
              <a:t>sklearn</a:t>
            </a:r>
            <a:r>
              <a:rPr lang="en-US" dirty="0" smtClean="0"/>
              <a:t>-like</a:t>
            </a:r>
          </a:p>
          <a:p>
            <a:r>
              <a:rPr lang="en-US" dirty="0">
                <a:hlinkClick r:id="rId8"/>
              </a:rPr>
              <a:t>https://</a:t>
            </a:r>
            <a:r>
              <a:rPr lang="en-US" dirty="0" smtClean="0">
                <a:hlinkClick r:id="rId8"/>
              </a:rPr>
              <a:t>robjhyndman.com/hyndsight/python_time_series.html</a:t>
            </a:r>
            <a:r>
              <a:rPr lang="en-US" dirty="0" smtClean="0"/>
              <a:t> - </a:t>
            </a:r>
            <a:r>
              <a:rPr lang="ru-RU" dirty="0" smtClean="0"/>
              <a:t>список фреймворков от </a:t>
            </a:r>
            <a:r>
              <a:rPr lang="en-US" dirty="0" err="1" smtClean="0"/>
              <a:t>Robj</a:t>
            </a:r>
            <a:r>
              <a:rPr lang="ru-RU" dirty="0" smtClean="0"/>
              <a:t> </a:t>
            </a:r>
            <a:r>
              <a:rPr lang="en-US" dirty="0" smtClean="0"/>
              <a:t>Hyndman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34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9500</TotalTime>
  <Words>341</Words>
  <Application>Microsoft Office PowerPoint</Application>
  <PresentationFormat>Широкоэкранный</PresentationFormat>
  <Paragraphs>58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 2013–2022</vt:lpstr>
      <vt:lpstr>Литература</vt:lpstr>
      <vt:lpstr>Литература</vt:lpstr>
      <vt:lpstr>Презентация PowerPoint</vt:lpstr>
      <vt:lpstr>Презентация PowerPoint</vt:lpstr>
      <vt:lpstr>Фреймворки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192</cp:revision>
  <dcterms:created xsi:type="dcterms:W3CDTF">2021-10-31T10:57:36Z</dcterms:created>
  <dcterms:modified xsi:type="dcterms:W3CDTF">2025-08-07T05:36:47Z</dcterms:modified>
</cp:coreProperties>
</file>