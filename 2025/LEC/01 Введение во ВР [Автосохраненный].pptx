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256" r:id="rId2"/>
    <p:sldId id="396" r:id="rId3"/>
    <p:sldId id="302" r:id="rId4"/>
    <p:sldId id="423" r:id="rId5"/>
    <p:sldId id="421" r:id="rId6"/>
    <p:sldId id="424" r:id="rId7"/>
    <p:sldId id="422" r:id="rId8"/>
    <p:sldId id="403" r:id="rId9"/>
    <p:sldId id="408" r:id="rId10"/>
    <p:sldId id="409" r:id="rId11"/>
    <p:sldId id="410" r:id="rId12"/>
    <p:sldId id="411" r:id="rId13"/>
    <p:sldId id="397" r:id="rId14"/>
    <p:sldId id="322" r:id="rId15"/>
    <p:sldId id="375" r:id="rId16"/>
    <p:sldId id="382" r:id="rId17"/>
    <p:sldId id="385" r:id="rId18"/>
    <p:sldId id="387" r:id="rId19"/>
    <p:sldId id="366" r:id="rId20"/>
    <p:sldId id="386" r:id="rId21"/>
    <p:sldId id="392" r:id="rId22"/>
    <p:sldId id="389" r:id="rId23"/>
    <p:sldId id="383" r:id="rId24"/>
    <p:sldId id="377" r:id="rId25"/>
    <p:sldId id="391" r:id="rId26"/>
    <p:sldId id="431" r:id="rId27"/>
    <p:sldId id="412" r:id="rId28"/>
    <p:sldId id="428" r:id="rId29"/>
    <p:sldId id="376" r:id="rId30"/>
    <p:sldId id="394" r:id="rId31"/>
    <p:sldId id="381" r:id="rId32"/>
    <p:sldId id="395" r:id="rId33"/>
    <p:sldId id="388" r:id="rId34"/>
    <p:sldId id="432" r:id="rId35"/>
    <p:sldId id="414" r:id="rId36"/>
    <p:sldId id="413" r:id="rId37"/>
    <p:sldId id="415" r:id="rId38"/>
    <p:sldId id="430" r:id="rId39"/>
    <p:sldId id="416" r:id="rId40"/>
    <p:sldId id="418" r:id="rId41"/>
    <p:sldId id="417" r:id="rId42"/>
    <p:sldId id="433" r:id="rId43"/>
    <p:sldId id="434" r:id="rId44"/>
    <p:sldId id="435" r:id="rId45"/>
    <p:sldId id="436" r:id="rId46"/>
    <p:sldId id="425" r:id="rId47"/>
    <p:sldId id="426" r:id="rId48"/>
    <p:sldId id="370" r:id="rId49"/>
    <p:sldId id="427" r:id="rId50"/>
    <p:sldId id="401" r:id="rId51"/>
    <p:sldId id="437" r:id="rId52"/>
    <p:sldId id="438" r:id="rId53"/>
    <p:sldId id="439"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95"/>
  </p:normalViewPr>
  <p:slideViewPr>
    <p:cSldViewPr snapToGrid="0">
      <p:cViewPr>
        <p:scale>
          <a:sx n="100" d="100"/>
          <a:sy n="100" d="100"/>
        </p:scale>
        <p:origin x="1224"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11.07.2025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26877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7</a:t>
            </a:fld>
            <a:endParaRPr lang="ru-RU"/>
          </a:p>
        </p:txBody>
      </p:sp>
    </p:spTree>
    <p:extLst>
      <p:ext uri="{BB962C8B-B14F-4D97-AF65-F5344CB8AC3E}">
        <p14:creationId xmlns:p14="http://schemas.microsoft.com/office/powerpoint/2010/main" val="160033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10</a:t>
            </a:fld>
            <a:endParaRPr lang="ru-RU"/>
          </a:p>
        </p:txBody>
      </p:sp>
    </p:spTree>
    <p:extLst>
      <p:ext uri="{BB962C8B-B14F-4D97-AF65-F5344CB8AC3E}">
        <p14:creationId xmlns:p14="http://schemas.microsoft.com/office/powerpoint/2010/main" val="3406873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320370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340043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29</a:t>
            </a:fld>
            <a:endParaRPr lang="ru-RU"/>
          </a:p>
        </p:txBody>
      </p:sp>
    </p:spTree>
    <p:extLst>
      <p:ext uri="{BB962C8B-B14F-4D97-AF65-F5344CB8AC3E}">
        <p14:creationId xmlns:p14="http://schemas.microsoft.com/office/powerpoint/2010/main" val="4125780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31</a:t>
            </a:fld>
            <a:endParaRPr lang="ru-RU"/>
          </a:p>
        </p:txBody>
      </p:sp>
    </p:spTree>
    <p:extLst>
      <p:ext uri="{BB962C8B-B14F-4D97-AF65-F5344CB8AC3E}">
        <p14:creationId xmlns:p14="http://schemas.microsoft.com/office/powerpoint/2010/main" val="2832973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32</a:t>
            </a:fld>
            <a:endParaRPr lang="ru-RU"/>
          </a:p>
        </p:txBody>
      </p:sp>
    </p:spTree>
    <p:extLst>
      <p:ext uri="{BB962C8B-B14F-4D97-AF65-F5344CB8AC3E}">
        <p14:creationId xmlns:p14="http://schemas.microsoft.com/office/powerpoint/2010/main" val="105618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34</a:t>
            </a:fld>
            <a:endParaRPr lang="ru-RU"/>
          </a:p>
        </p:txBody>
      </p:sp>
    </p:spTree>
    <p:extLst>
      <p:ext uri="{BB962C8B-B14F-4D97-AF65-F5344CB8AC3E}">
        <p14:creationId xmlns:p14="http://schemas.microsoft.com/office/powerpoint/2010/main" val="2642675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37</a:t>
            </a:fld>
            <a:endParaRPr lang="ru-RU"/>
          </a:p>
        </p:txBody>
      </p:sp>
    </p:spTree>
    <p:extLst>
      <p:ext uri="{BB962C8B-B14F-4D97-AF65-F5344CB8AC3E}">
        <p14:creationId xmlns:p14="http://schemas.microsoft.com/office/powerpoint/2010/main" val="4109444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38</a:t>
            </a:fld>
            <a:endParaRPr lang="ru-RU"/>
          </a:p>
        </p:txBody>
      </p:sp>
    </p:spTree>
    <p:extLst>
      <p:ext uri="{BB962C8B-B14F-4D97-AF65-F5344CB8AC3E}">
        <p14:creationId xmlns:p14="http://schemas.microsoft.com/office/powerpoint/2010/main" val="1948067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50</a:t>
            </a:fld>
            <a:endParaRPr lang="ru-RU"/>
          </a:p>
        </p:txBody>
      </p:sp>
    </p:spTree>
    <p:extLst>
      <p:ext uri="{BB962C8B-B14F-4D97-AF65-F5344CB8AC3E}">
        <p14:creationId xmlns:p14="http://schemas.microsoft.com/office/powerpoint/2010/main" val="1071366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gif"/></Relationships>
</file>

<file path=ppt/slides/_rels/slide20.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2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70.png"/></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a:t>Введение в анализ </a:t>
            </a:r>
            <a:br>
              <a:rPr lang="ru-RU" sz="8000" dirty="0"/>
            </a:br>
            <a:r>
              <a:rPr lang="ru-RU" sz="8000" dirty="0"/>
              <a:t>временных рядов. Постановка задач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128E7-156C-658E-5294-7CDC01FB5D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22060B-FE31-5220-3073-E62F28CD4209}"/>
              </a:ext>
            </a:extLst>
          </p:cNvPr>
          <p:cNvSpPr>
            <a:spLocks noGrp="1"/>
          </p:cNvSpPr>
          <p:nvPr>
            <p:ph type="ctrTitle"/>
          </p:nvPr>
        </p:nvSpPr>
        <p:spPr>
          <a:xfrm>
            <a:off x="743483" y="934358"/>
            <a:ext cx="10932920" cy="3760935"/>
          </a:xfrm>
        </p:spPr>
        <p:txBody>
          <a:bodyPr>
            <a:normAutofit/>
          </a:bodyPr>
          <a:lstStyle/>
          <a:p>
            <a:r>
              <a:rPr lang="ru-RU" sz="8000" dirty="0"/>
              <a:t>Понятие ВР</a:t>
            </a:r>
            <a:endParaRPr lang="en-US" sz="8000" dirty="0"/>
          </a:p>
        </p:txBody>
      </p:sp>
      <p:sp>
        <p:nvSpPr>
          <p:cNvPr id="3" name="Номер слайда 2">
            <a:extLst>
              <a:ext uri="{FF2B5EF4-FFF2-40B4-BE49-F238E27FC236}">
                <a16:creationId xmlns:a16="http://schemas.microsoft.com/office/drawing/2014/main" id="{E4D99FC6-ECF0-E5E8-9206-34C239763907}"/>
              </a:ext>
            </a:extLst>
          </p:cNvPr>
          <p:cNvSpPr>
            <a:spLocks noGrp="1"/>
          </p:cNvSpPr>
          <p:nvPr>
            <p:ph type="sldNum" sz="quarter" idx="12"/>
          </p:nvPr>
        </p:nvSpPr>
        <p:spPr/>
        <p:txBody>
          <a:bodyPr/>
          <a:lstStyle/>
          <a:p>
            <a:fld id="{45C3B737-A709-4ABC-AFE0-A6B067850C48}" type="slidenum">
              <a:rPr lang="en-US" smtClean="0"/>
              <a:t>2</a:t>
            </a:fld>
            <a:endParaRPr lang="en-US"/>
          </a:p>
        </p:txBody>
      </p:sp>
    </p:spTree>
    <p:extLst>
      <p:ext uri="{BB962C8B-B14F-4D97-AF65-F5344CB8AC3E}">
        <p14:creationId xmlns:p14="http://schemas.microsoft.com/office/powerpoint/2010/main" val="5708203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628651" y="74967"/>
            <a:ext cx="10515600" cy="993418"/>
          </a:xfrm>
        </p:spPr>
        <p:txBody>
          <a:bodyPr>
            <a:normAutofit/>
          </a:bodyPr>
          <a:lstStyle/>
          <a:p>
            <a:pPr algn="ctr"/>
            <a:r>
              <a:rPr lang="ru-RU" b="1" dirty="0">
                <a:latin typeface="+mn-lt"/>
                <a:ea typeface="Calibri" panose="020F0502020204030204" pitchFamily="34" charset="0"/>
                <a:cs typeface="Times New Roman" panose="02020603050405020304" pitchFamily="18" charset="0"/>
              </a:rPr>
              <a:t>Анализ временных рядов</a:t>
            </a:r>
            <a:endParaRPr lang="en-US" dirty="0">
              <a:latin typeface="+mn-lt"/>
            </a:endParaRPr>
          </a:p>
        </p:txBody>
      </p:sp>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06137" y="909419"/>
            <a:ext cx="11560628" cy="5470528"/>
          </a:xfrm>
        </p:spPr>
        <p:txBody>
          <a:bodyPr>
            <a:normAutofit/>
          </a:bodyPr>
          <a:lstStyle/>
          <a:p>
            <a:pPr marL="0" indent="0">
              <a:lnSpc>
                <a:spcPct val="107000"/>
              </a:lnSpc>
              <a:buNone/>
            </a:pPr>
            <a:r>
              <a:rPr lang="ru-RU" sz="2400" b="1" dirty="0">
                <a:ea typeface="Calibri" panose="020F0502020204030204" pitchFamily="34" charset="0"/>
                <a:cs typeface="Times New Roman" panose="02020603050405020304" pitchFamily="18" charset="0"/>
              </a:rPr>
              <a:t>Временные ряды (ВР) :</a:t>
            </a:r>
            <a:endParaRPr lang="ru-RU" sz="2400" dirty="0">
              <a:ea typeface="Calibri" panose="020F0502020204030204" pitchFamily="34" charset="0"/>
              <a:cs typeface="Times New Roman" panose="02020603050405020304" pitchFamily="18" charset="0"/>
            </a:endParaRPr>
          </a:p>
          <a:p>
            <a:pPr>
              <a:lnSpc>
                <a:spcPct val="107000"/>
              </a:lnSpc>
            </a:pPr>
            <a:r>
              <a:rPr lang="ru-RU" sz="2200" dirty="0">
                <a:ea typeface="Calibri" panose="020F0502020204030204" pitchFamily="34" charset="0"/>
                <a:cs typeface="Times New Roman" panose="02020603050405020304" pitchFamily="18" charset="0"/>
              </a:rPr>
              <a:t>набор оцифрованных проиндексированных однотипных значений</a:t>
            </a:r>
          </a:p>
          <a:p>
            <a:pPr lvl="1">
              <a:lnSpc>
                <a:spcPct val="107000"/>
              </a:lnSpc>
            </a:pPr>
            <a:r>
              <a:rPr lang="ru-RU" sz="2200" dirty="0">
                <a:ea typeface="Calibri" panose="020F0502020204030204" pitchFamily="34" charset="0"/>
                <a:cs typeface="Times New Roman" panose="02020603050405020304" pitchFamily="18" charset="0"/>
              </a:rPr>
              <a:t>(часто полученных последовательно во времени с равномерным шагом)</a:t>
            </a:r>
          </a:p>
          <a:p>
            <a:pPr>
              <a:lnSpc>
                <a:spcPct val="107000"/>
              </a:lnSpc>
            </a:pPr>
            <a:r>
              <a:rPr lang="ru-RU" sz="2200" dirty="0">
                <a:ea typeface="Calibri" panose="020F0502020204030204" pitchFamily="34" charset="0"/>
                <a:cs typeface="Times New Roman" panose="02020603050405020304" pitchFamily="18" charset="0"/>
              </a:rPr>
              <a:t>каждый отсчет связан с предыдущими некоторой зависимостью (последовательностью). </a:t>
            </a:r>
          </a:p>
          <a:p>
            <a:pPr lvl="1"/>
            <a:r>
              <a:rPr lang="ru-RU" sz="2200" dirty="0"/>
              <a:t>Могут быть и другие варианты индексации или условно непрерывный ВР</a:t>
            </a:r>
          </a:p>
          <a:p>
            <a:r>
              <a:rPr lang="ru-RU" sz="2200" dirty="0"/>
              <a:t>например, показания датчиков, логи оборудования, цены на акции, отсчеты ЭКГ.</a:t>
            </a:r>
            <a:endParaRPr lang="en-US" sz="2200" dirty="0"/>
          </a:p>
        </p:txBody>
      </p:sp>
      <p:sp>
        <p:nvSpPr>
          <p:cNvPr id="4" name="Номер слайда 3">
            <a:extLst>
              <a:ext uri="{FF2B5EF4-FFF2-40B4-BE49-F238E27FC236}">
                <a16:creationId xmlns:a16="http://schemas.microsoft.com/office/drawing/2014/main" id="{DBA1FA70-A553-4CD1-E184-41BACC8EC5AE}"/>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1026" name="Picture 2">
            <a:extLst>
              <a:ext uri="{FF2B5EF4-FFF2-40B4-BE49-F238E27FC236}">
                <a16:creationId xmlns:a16="http://schemas.microsoft.com/office/drawing/2014/main" id="{85287125-F823-0936-51D8-E03E1A927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692" y="3780052"/>
            <a:ext cx="4117992" cy="2941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0B1BD91-25FA-7E4C-22C5-89FFB831108B}"/>
              </a:ext>
            </a:extLst>
          </p:cNvPr>
          <p:cNvSpPr txBox="1"/>
          <p:nvPr/>
        </p:nvSpPr>
        <p:spPr>
          <a:xfrm>
            <a:off x="354336" y="4161595"/>
            <a:ext cx="6858000" cy="2208297"/>
          </a:xfrm>
          <a:prstGeom prst="rect">
            <a:avLst/>
          </a:prstGeom>
          <a:noFill/>
        </p:spPr>
        <p:txBody>
          <a:bodyPr wrap="square">
            <a:spAutoFit/>
          </a:bodyPr>
          <a:lstStyle/>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Эконометрические данные</a:t>
            </a:r>
          </a:p>
          <a:p>
            <a:pPr algn="l">
              <a:lnSpc>
                <a:spcPts val="2143"/>
              </a:lnSpc>
              <a:spcBef>
                <a:spcPts val="300"/>
              </a:spcBef>
              <a:buFont typeface="Arial" panose="020B0604020202020204" pitchFamily="34" charset="0"/>
              <a:buChar char="•"/>
            </a:pPr>
            <a:r>
              <a:rPr lang="ru-RU" dirty="0" err="1">
                <a:solidFill>
                  <a:srgbClr val="404040"/>
                </a:solidFill>
                <a:latin typeface="quote-cjk-patch"/>
              </a:rPr>
              <a:t>Бизнесс</a:t>
            </a:r>
            <a:r>
              <a:rPr lang="ru-RU" dirty="0">
                <a:solidFill>
                  <a:srgbClr val="404040"/>
                </a:solidFill>
                <a:latin typeface="quote-cjk-patch"/>
              </a:rPr>
              <a:t>-данные</a:t>
            </a:r>
            <a:endParaRPr lang="ru-RU" b="0" i="0" dirty="0">
              <a:solidFill>
                <a:srgbClr val="404040"/>
              </a:solidFill>
              <a:effectLst/>
              <a:latin typeface="quote-cjk-patch"/>
            </a:endParaRP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Температура и давление в системах отопления.</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Вибрация подшипников (</a:t>
            </a:r>
            <a:r>
              <a:rPr lang="en" b="0" i="0" dirty="0">
                <a:solidFill>
                  <a:srgbClr val="404040"/>
                </a:solidFill>
                <a:effectLst/>
                <a:latin typeface="quote-cjk-patch"/>
              </a:rPr>
              <a:t>NASA Bearing Dataset).</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Энергопотребление производственных линий.</a:t>
            </a:r>
          </a:p>
          <a:p>
            <a:pPr algn="l">
              <a:lnSpc>
                <a:spcPts val="2143"/>
              </a:lnSpc>
              <a:spcBef>
                <a:spcPts val="300"/>
              </a:spcBef>
              <a:buFont typeface="Arial" panose="020B0604020202020204" pitchFamily="34" charset="0"/>
              <a:buChar char="•"/>
            </a:pPr>
            <a:r>
              <a:rPr lang="ru-RU" dirty="0">
                <a:solidFill>
                  <a:srgbClr val="404040"/>
                </a:solidFill>
                <a:latin typeface="quote-cjk-patch"/>
              </a:rPr>
              <a:t>Погодные данные</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Поведение человека на </a:t>
            </a:r>
            <a:r>
              <a:rPr lang="ru-RU" dirty="0">
                <a:solidFill>
                  <a:srgbClr val="404040"/>
                </a:solidFill>
                <a:latin typeface="quote-cjk-patch"/>
              </a:rPr>
              <a:t>видеопоследовательности</a:t>
            </a:r>
            <a:endParaRPr lang="ru-RU" b="0" i="0" dirty="0">
              <a:solidFill>
                <a:srgbClr val="404040"/>
              </a:solidFill>
              <a:effectLst/>
              <a:latin typeface="quote-cjk-patch"/>
            </a:endParaRPr>
          </a:p>
        </p:txBody>
      </p:sp>
      <p:sp>
        <p:nvSpPr>
          <p:cNvPr id="7" name="Прямоугольник 6"/>
          <p:cNvSpPr/>
          <p:nvPr/>
        </p:nvSpPr>
        <p:spPr>
          <a:xfrm>
            <a:off x="53593" y="6430092"/>
            <a:ext cx="4322915" cy="369332"/>
          </a:xfrm>
          <a:prstGeom prst="rect">
            <a:avLst/>
          </a:prstGeom>
        </p:spPr>
        <p:txBody>
          <a:bodyPr wrap="none">
            <a:spAutoFit/>
          </a:bodyPr>
          <a:lstStyle/>
          <a:p>
            <a:r>
              <a:rPr lang="en-US" dirty="0"/>
              <a:t>https://otexts.com/fpppy/nbs/01-intro.html</a:t>
            </a:r>
            <a:endParaRPr lang="ru-RU" dirty="0"/>
          </a:p>
        </p:txBody>
      </p:sp>
    </p:spTree>
    <p:extLst>
      <p:ext uri="{BB962C8B-B14F-4D97-AF65-F5344CB8AC3E}">
        <p14:creationId xmlns:p14="http://schemas.microsoft.com/office/powerpoint/2010/main" val="6260763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8DC2-D333-C7E2-D649-68C22A7D9B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BDDB2A-4FB0-3E02-DEB3-474E8FA4F46C}"/>
              </a:ext>
            </a:extLst>
          </p:cNvPr>
          <p:cNvSpPr>
            <a:spLocks noGrp="1"/>
          </p:cNvSpPr>
          <p:nvPr>
            <p:ph type="title"/>
          </p:nvPr>
        </p:nvSpPr>
        <p:spPr>
          <a:xfrm>
            <a:off x="264405" y="365126"/>
            <a:ext cx="11089395" cy="406056"/>
          </a:xfrm>
        </p:spPr>
        <p:txBody>
          <a:bodyPr>
            <a:normAutofit fontScale="90000"/>
          </a:bodyPr>
          <a:lstStyle/>
          <a:p>
            <a:r>
              <a:rPr lang="en-US" dirty="0" err="1"/>
              <a:t>Задач</a:t>
            </a:r>
            <a:r>
              <a:rPr lang="ru-RU" dirty="0"/>
              <a:t>и анализа временных рядов</a:t>
            </a:r>
          </a:p>
        </p:txBody>
      </p:sp>
      <p:sp>
        <p:nvSpPr>
          <p:cNvPr id="3" name="Объект 2">
            <a:extLst>
              <a:ext uri="{FF2B5EF4-FFF2-40B4-BE49-F238E27FC236}">
                <a16:creationId xmlns:a16="http://schemas.microsoft.com/office/drawing/2014/main" id="{4F695E7F-9513-7F32-B5E4-12AF62AE9CB7}"/>
              </a:ext>
            </a:extLst>
          </p:cNvPr>
          <p:cNvSpPr>
            <a:spLocks noGrp="1"/>
          </p:cNvSpPr>
          <p:nvPr>
            <p:ph idx="1"/>
          </p:nvPr>
        </p:nvSpPr>
        <p:spPr>
          <a:xfrm>
            <a:off x="152401" y="870858"/>
            <a:ext cx="11089395" cy="3762558"/>
          </a:xfrm>
        </p:spPr>
        <p:txBody>
          <a:bodyPr>
            <a:normAutofit/>
          </a:bodyPr>
          <a:lstStyle/>
          <a:p>
            <a:pPr marL="0" indent="0">
              <a:buNone/>
            </a:pPr>
            <a:r>
              <a:rPr lang="ru-RU" sz="2200" b="1" dirty="0"/>
              <a:t>Прогнозирование</a:t>
            </a:r>
            <a:r>
              <a:rPr lang="ru-RU" sz="2200" dirty="0"/>
              <a:t> : </a:t>
            </a:r>
            <a:endParaRPr lang="en-US" sz="2200" dirty="0"/>
          </a:p>
          <a:p>
            <a:pPr lvl="1"/>
            <a:r>
              <a:rPr lang="ru-RU" sz="2200" dirty="0"/>
              <a:t>принятие решения о строительстве еще одной электростанции в течение следующих пяти лет требует прогнозов будущего спроса;</a:t>
            </a:r>
            <a:endParaRPr lang="en-US" sz="2200" dirty="0"/>
          </a:p>
          <a:p>
            <a:pPr lvl="1"/>
            <a:r>
              <a:rPr lang="ru-RU" sz="2200" dirty="0"/>
              <a:t> планирование персонала в </a:t>
            </a:r>
            <a:r>
              <a:rPr lang="ru-RU" sz="2200" dirty="0" err="1"/>
              <a:t>колл</a:t>
            </a:r>
            <a:r>
              <a:rPr lang="ru-RU" sz="2200" dirty="0"/>
              <a:t>-центре на следующую неделю требует прогнозов объемов звонков; </a:t>
            </a:r>
            <a:endParaRPr lang="en-US" sz="2200" dirty="0"/>
          </a:p>
          <a:p>
            <a:pPr lvl="1"/>
            <a:r>
              <a:rPr lang="ru-RU" sz="2200" dirty="0"/>
              <a:t>пополнение запасов требует прогнозов потребностей в запасах. </a:t>
            </a:r>
            <a:endParaRPr lang="en-US" sz="2200" dirty="0"/>
          </a:p>
          <a:p>
            <a:r>
              <a:rPr lang="ru-RU" sz="2200" dirty="0"/>
              <a:t>Прогнозы могут потребоваться на несколько лет вперед (в случае капиталовложений) или всего за несколько минут (для маршрутизации телекоммуникаций). </a:t>
            </a:r>
            <a:endParaRPr lang="en-US" sz="2200" dirty="0"/>
          </a:p>
          <a:p>
            <a:r>
              <a:rPr lang="ru-RU" sz="2200" dirty="0"/>
              <a:t>Независимо от обстоятельств или временных горизонтов прогнозирование является важным средством эффективного и действенного планирования.</a:t>
            </a:r>
          </a:p>
        </p:txBody>
      </p:sp>
      <p:sp>
        <p:nvSpPr>
          <p:cNvPr id="4" name="Номер слайда 3">
            <a:extLst>
              <a:ext uri="{FF2B5EF4-FFF2-40B4-BE49-F238E27FC236}">
                <a16:creationId xmlns:a16="http://schemas.microsoft.com/office/drawing/2014/main" id="{F963CD86-6C5A-B8D3-D0A5-67DF24A8CD73}"/>
              </a:ext>
            </a:extLst>
          </p:cNvPr>
          <p:cNvSpPr>
            <a:spLocks noGrp="1"/>
          </p:cNvSpPr>
          <p:nvPr>
            <p:ph type="sldNum" sz="quarter" idx="12"/>
          </p:nvPr>
        </p:nvSpPr>
        <p:spPr/>
        <p:txBody>
          <a:bodyPr/>
          <a:lstStyle/>
          <a:p>
            <a:fld id="{45C3B737-A709-4ABC-AFE0-A6B067850C48}" type="slidenum">
              <a:rPr lang="en-US" smtClean="0"/>
              <a:t>4</a:t>
            </a:fld>
            <a:endParaRPr lang="en-US" dirty="0"/>
          </a:p>
        </p:txBody>
      </p:sp>
      <p:pic>
        <p:nvPicPr>
          <p:cNvPr id="1028" name="Picture 4">
            <a:extLst>
              <a:ext uri="{FF2B5EF4-FFF2-40B4-BE49-F238E27FC236}">
                <a16:creationId xmlns:a16="http://schemas.microsoft.com/office/drawing/2014/main" id="{9F203E61-EFA5-0D64-7DEC-DB928CAB24EE}"/>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52438"/>
          <a:stretch>
            <a:fillRect/>
          </a:stretch>
        </p:blipFill>
        <p:spPr bwMode="auto">
          <a:xfrm>
            <a:off x="264405" y="4733092"/>
            <a:ext cx="6205279" cy="173326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70752DD-73A9-5A7B-B8CB-6A0B5EB62FB7}"/>
              </a:ext>
            </a:extLst>
          </p:cNvPr>
          <p:cNvSpPr txBox="1"/>
          <p:nvPr/>
        </p:nvSpPr>
        <p:spPr>
          <a:xfrm>
            <a:off x="534539" y="6381368"/>
            <a:ext cx="6093724" cy="369332"/>
          </a:xfrm>
          <a:prstGeom prst="rect">
            <a:avLst/>
          </a:prstGeom>
          <a:noFill/>
        </p:spPr>
        <p:txBody>
          <a:bodyPr wrap="square">
            <a:spAutoFit/>
          </a:bodyPr>
          <a:lstStyle/>
          <a:p>
            <a:r>
              <a:rPr lang="ru-RU" dirty="0" err="1"/>
              <a:t>https</a:t>
            </a:r>
            <a:r>
              <a:rPr lang="ru-RU" dirty="0"/>
              <a:t>://</a:t>
            </a:r>
            <a:r>
              <a:rPr lang="ru-RU" dirty="0" err="1"/>
              <a:t>juanitorduz.github.io</a:t>
            </a:r>
            <a:r>
              <a:rPr lang="ru-RU" dirty="0"/>
              <a:t>/</a:t>
            </a:r>
            <a:r>
              <a:rPr lang="ru-RU" dirty="0" err="1"/>
              <a:t>electricity_forecast</a:t>
            </a:r>
            <a:r>
              <a:rPr lang="ru-RU" dirty="0"/>
              <a:t>/</a:t>
            </a:r>
          </a:p>
        </p:txBody>
      </p:sp>
      <p:pic>
        <p:nvPicPr>
          <p:cNvPr id="1030" name="Picture 6" descr="Dataset image">
            <a:extLst>
              <a:ext uri="{FF2B5EF4-FFF2-40B4-BE49-F238E27FC236}">
                <a16:creationId xmlns:a16="http://schemas.microsoft.com/office/drawing/2014/main" id="{5647C96F-5494-1E1F-EA63-79D0D042F2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97" b="23235"/>
          <a:stretch>
            <a:fillRect/>
          </a:stretch>
        </p:blipFill>
        <p:spPr bwMode="auto">
          <a:xfrm>
            <a:off x="6898397" y="4633666"/>
            <a:ext cx="3872932" cy="17477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5F1E524-3A05-F082-03B6-204354A5DF09}"/>
              </a:ext>
            </a:extLst>
          </p:cNvPr>
          <p:cNvSpPr txBox="1"/>
          <p:nvPr/>
        </p:nvSpPr>
        <p:spPr>
          <a:xfrm>
            <a:off x="6469684" y="6467559"/>
            <a:ext cx="5819222" cy="253916"/>
          </a:xfrm>
          <a:prstGeom prst="rect">
            <a:avLst/>
          </a:prstGeom>
          <a:noFill/>
        </p:spPr>
        <p:txBody>
          <a:bodyPr wrap="none" rtlCol="0">
            <a:spAutoFit/>
          </a:bodyPr>
          <a:lstStyle/>
          <a:p>
            <a:r>
              <a:rPr lang="en" sz="1050" dirty="0"/>
              <a:t>https://</a:t>
            </a:r>
            <a:r>
              <a:rPr lang="en" sz="1050" dirty="0" err="1"/>
              <a:t>ieee-dataport.org</a:t>
            </a:r>
            <a:r>
              <a:rPr lang="en" sz="1050" dirty="0"/>
              <a:t>/documents/iot-time-series-traffic-data-smart-city-ehealth-and-smart-factory</a:t>
            </a:r>
            <a:endParaRPr lang="ru-RU" sz="1050" dirty="0"/>
          </a:p>
        </p:txBody>
      </p:sp>
      <p:sp>
        <p:nvSpPr>
          <p:cNvPr id="10" name="TextBox 9">
            <a:extLst>
              <a:ext uri="{FF2B5EF4-FFF2-40B4-BE49-F238E27FC236}">
                <a16:creationId xmlns:a16="http://schemas.microsoft.com/office/drawing/2014/main" id="{1611DA53-2FA6-3AE6-270F-8AEB3A671266}"/>
              </a:ext>
            </a:extLst>
          </p:cNvPr>
          <p:cNvSpPr txBox="1"/>
          <p:nvPr/>
        </p:nvSpPr>
        <p:spPr>
          <a:xfrm>
            <a:off x="7342496" y="4393396"/>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Traffic Data: Smart City</a:t>
            </a:r>
          </a:p>
        </p:txBody>
      </p:sp>
      <p:sp>
        <p:nvSpPr>
          <p:cNvPr id="11" name="TextBox 10">
            <a:extLst>
              <a:ext uri="{FF2B5EF4-FFF2-40B4-BE49-F238E27FC236}">
                <a16:creationId xmlns:a16="http://schemas.microsoft.com/office/drawing/2014/main" id="{F833267B-C094-BAAF-BDB1-141562DD1815}"/>
              </a:ext>
            </a:extLst>
          </p:cNvPr>
          <p:cNvSpPr txBox="1"/>
          <p:nvPr/>
        </p:nvSpPr>
        <p:spPr>
          <a:xfrm>
            <a:off x="2238454" y="4423975"/>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Australia Electricity demand</a:t>
            </a:r>
          </a:p>
        </p:txBody>
      </p:sp>
    </p:spTree>
    <p:extLst>
      <p:ext uri="{BB962C8B-B14F-4D97-AF65-F5344CB8AC3E}">
        <p14:creationId xmlns:p14="http://schemas.microsoft.com/office/powerpoint/2010/main" val="407681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72818F-8031-6E84-DC23-A3A3B1BB8516}"/>
              </a:ext>
            </a:extLst>
          </p:cNvPr>
          <p:cNvSpPr>
            <a:spLocks noGrp="1"/>
          </p:cNvSpPr>
          <p:nvPr>
            <p:ph type="title"/>
          </p:nvPr>
        </p:nvSpPr>
        <p:spPr>
          <a:xfrm>
            <a:off x="264405" y="365126"/>
            <a:ext cx="11089395" cy="406056"/>
          </a:xfrm>
        </p:spPr>
        <p:txBody>
          <a:bodyPr>
            <a:normAutofit fontScale="90000"/>
          </a:bodyPr>
          <a:lstStyle/>
          <a:p>
            <a:r>
              <a:rPr lang="ru-RU" dirty="0" smtClean="0"/>
              <a:t>Особенности з</a:t>
            </a:r>
            <a:r>
              <a:rPr lang="en-US" dirty="0" err="1" smtClean="0"/>
              <a:t>адач</a:t>
            </a:r>
            <a:r>
              <a:rPr lang="ru-RU" dirty="0"/>
              <a:t>и анализа временных рядов</a:t>
            </a:r>
          </a:p>
        </p:txBody>
      </p:sp>
      <p:sp>
        <p:nvSpPr>
          <p:cNvPr id="3" name="Объект 2">
            <a:extLst>
              <a:ext uri="{FF2B5EF4-FFF2-40B4-BE49-F238E27FC236}">
                <a16:creationId xmlns:a16="http://schemas.microsoft.com/office/drawing/2014/main" id="{DFF36E35-2AFB-9EA9-8E81-FF42509ECF39}"/>
              </a:ext>
            </a:extLst>
          </p:cNvPr>
          <p:cNvSpPr>
            <a:spLocks noGrp="1"/>
          </p:cNvSpPr>
          <p:nvPr>
            <p:ph idx="1"/>
          </p:nvPr>
        </p:nvSpPr>
        <p:spPr>
          <a:xfrm>
            <a:off x="165253" y="980502"/>
            <a:ext cx="11612765" cy="5618602"/>
          </a:xfrm>
        </p:spPr>
        <p:txBody>
          <a:bodyPr>
            <a:noAutofit/>
          </a:bodyPr>
          <a:lstStyle/>
          <a:p>
            <a:pPr marL="0" indent="0" fontAlgn="base">
              <a:buNone/>
            </a:pPr>
            <a:r>
              <a:rPr lang="ru-RU" sz="2200" b="1" dirty="0" smtClean="0"/>
              <a:t>Особенности </a:t>
            </a:r>
            <a:r>
              <a:rPr lang="ru-RU" sz="2200" b="1" dirty="0"/>
              <a:t>временных рядов:</a:t>
            </a:r>
            <a:endParaRPr lang="ru-RU" sz="2200" dirty="0"/>
          </a:p>
          <a:p>
            <a:pPr lvl="1" fontAlgn="base"/>
            <a:r>
              <a:rPr lang="ru-RU" sz="2200" dirty="0"/>
              <a:t>упорядоченность во времени (хронологический порядок);</a:t>
            </a:r>
          </a:p>
          <a:p>
            <a:pPr lvl="1" fontAlgn="base"/>
            <a:r>
              <a:rPr lang="ru-RU" sz="2200" dirty="0"/>
              <a:t>зависимость от прошлого (“память”, серийная или автокорреляция);</a:t>
            </a:r>
          </a:p>
          <a:p>
            <a:pPr lvl="1" fontAlgn="base"/>
            <a:r>
              <a:rPr lang="ru-RU" sz="2200" dirty="0"/>
              <a:t>различаются краткосрочные и долгосрочные зависимости и модели;</a:t>
            </a:r>
          </a:p>
          <a:p>
            <a:pPr lvl="1" fontAlgn="base"/>
            <a:r>
              <a:rPr lang="ru-RU" sz="2200" dirty="0"/>
              <a:t>часто встречается феномен “ложной регрессии”;</a:t>
            </a:r>
          </a:p>
          <a:p>
            <a:pPr lvl="1" fontAlgn="base"/>
            <a:r>
              <a:rPr lang="ru-RU" sz="2200" dirty="0"/>
              <a:t>бывает небольшое число наблюдений (как правило при работе с </a:t>
            </a:r>
            <a:r>
              <a:rPr lang="ru-RU" sz="2200" dirty="0" err="1"/>
              <a:t>макроданными</a:t>
            </a:r>
            <a:r>
              <a:rPr lang="ru-RU" sz="2200" dirty="0"/>
              <a:t>), которое невозможно увеличить (т.к. изменяется вид или структура зависимости).</a:t>
            </a:r>
          </a:p>
          <a:p>
            <a:pPr marL="0" indent="0">
              <a:buNone/>
            </a:pPr>
            <a:r>
              <a:rPr lang="ru-RU" sz="2200" b="1" dirty="0" smtClean="0"/>
              <a:t>Предсказуемость </a:t>
            </a:r>
            <a:r>
              <a:rPr lang="ru-RU" sz="2200" b="1" dirty="0"/>
              <a:t>события </a:t>
            </a:r>
            <a:r>
              <a:rPr lang="ru-RU" sz="2200" b="1" dirty="0" smtClean="0"/>
              <a:t>или их </a:t>
            </a:r>
            <a:r>
              <a:rPr lang="ru-RU" sz="2200" b="1" dirty="0"/>
              <a:t>количества зависит от нескольких факторов, включая</a:t>
            </a:r>
            <a:r>
              <a:rPr lang="ru-RU" sz="2200" dirty="0"/>
              <a:t>:</a:t>
            </a:r>
          </a:p>
          <a:p>
            <a:pPr lvl="1"/>
            <a:r>
              <a:rPr lang="ru-RU" sz="2200" dirty="0"/>
              <a:t>насколько хорошо мы понимаем факторы, способствующие этому;</a:t>
            </a:r>
          </a:p>
          <a:p>
            <a:pPr lvl="1"/>
            <a:r>
              <a:rPr lang="ru-RU" sz="2200" dirty="0"/>
              <a:t>какой объем данных доступен;</a:t>
            </a:r>
          </a:p>
          <a:p>
            <a:pPr lvl="1"/>
            <a:r>
              <a:rPr lang="ru-RU" sz="2200" dirty="0"/>
              <a:t>насколько будущее похоже на прошлое;</a:t>
            </a:r>
          </a:p>
          <a:p>
            <a:pPr lvl="1"/>
            <a:r>
              <a:rPr lang="ru-RU" sz="2200" dirty="0"/>
              <a:t>могут ли прогнозы повлиять на то, что мы пытаемся прогнозировать.</a:t>
            </a:r>
          </a:p>
        </p:txBody>
      </p:sp>
      <p:sp>
        <p:nvSpPr>
          <p:cNvPr id="4" name="Номер слайда 3">
            <a:extLst>
              <a:ext uri="{FF2B5EF4-FFF2-40B4-BE49-F238E27FC236}">
                <a16:creationId xmlns:a16="http://schemas.microsoft.com/office/drawing/2014/main" id="{E84D282F-C4E3-E1C3-30C2-35BB0919C439}"/>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6" name="TextBox 5">
            <a:extLst>
              <a:ext uri="{FF2B5EF4-FFF2-40B4-BE49-F238E27FC236}">
                <a16:creationId xmlns:a16="http://schemas.microsoft.com/office/drawing/2014/main" id="{658E892B-9047-E565-4C62-BC1837F832C2}"/>
              </a:ext>
            </a:extLst>
          </p:cNvPr>
          <p:cNvSpPr txBox="1"/>
          <p:nvPr/>
        </p:nvSpPr>
        <p:spPr>
          <a:xfrm>
            <a:off x="0" y="6308208"/>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
        <p:nvSpPr>
          <p:cNvPr id="5" name="Прямоугольник 4"/>
          <p:cNvSpPr/>
          <p:nvPr/>
        </p:nvSpPr>
        <p:spPr>
          <a:xfrm>
            <a:off x="4823012" y="6075144"/>
            <a:ext cx="6096000" cy="646331"/>
          </a:xfrm>
          <a:prstGeom prst="rect">
            <a:avLst/>
          </a:prstGeom>
        </p:spPr>
        <p:txBody>
          <a:bodyPr>
            <a:spAutoFit/>
          </a:bodyPr>
          <a:lstStyle/>
          <a:p>
            <a:r>
              <a:rPr lang="ru-RU" dirty="0"/>
              <a:t>https://ivan-shamaev.ru/time-series-analysis-forecasting-and-models-python-libraries/?ysclid=mckto9evgd241570139</a:t>
            </a:r>
          </a:p>
        </p:txBody>
      </p:sp>
    </p:spTree>
    <p:extLst>
      <p:ext uri="{BB962C8B-B14F-4D97-AF65-F5344CB8AC3E}">
        <p14:creationId xmlns:p14="http://schemas.microsoft.com/office/powerpoint/2010/main" val="3917883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929C9-3647-ECCA-37A5-642C4DE17C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96F970-810F-6AA9-4929-311EC9A96B7C}"/>
              </a:ext>
            </a:extLst>
          </p:cNvPr>
          <p:cNvSpPr>
            <a:spLocks noGrp="1"/>
          </p:cNvSpPr>
          <p:nvPr>
            <p:ph type="title"/>
          </p:nvPr>
        </p:nvSpPr>
        <p:spPr>
          <a:xfrm>
            <a:off x="356613" y="288285"/>
            <a:ext cx="11089395" cy="1054241"/>
          </a:xfrm>
        </p:spPr>
        <p:txBody>
          <a:bodyPr>
            <a:normAutofit fontScale="90000"/>
          </a:bodyPr>
          <a:lstStyle/>
          <a:p>
            <a:pPr algn="ctr"/>
            <a:r>
              <a:rPr lang="ru-RU" dirty="0"/>
              <a:t>краткосрочные прогнозы спроса на электроэнергию в жилых домах</a:t>
            </a:r>
          </a:p>
        </p:txBody>
      </p:sp>
      <p:sp>
        <p:nvSpPr>
          <p:cNvPr id="3" name="Объект 2">
            <a:extLst>
              <a:ext uri="{FF2B5EF4-FFF2-40B4-BE49-F238E27FC236}">
                <a16:creationId xmlns:a16="http://schemas.microsoft.com/office/drawing/2014/main" id="{078540B2-B500-9CBE-3471-185DD8ADA241}"/>
              </a:ext>
            </a:extLst>
          </p:cNvPr>
          <p:cNvSpPr>
            <a:spLocks noGrp="1"/>
          </p:cNvSpPr>
          <p:nvPr>
            <p:ph idx="1"/>
          </p:nvPr>
        </p:nvSpPr>
        <p:spPr>
          <a:xfrm>
            <a:off x="94927" y="1438211"/>
            <a:ext cx="11612765" cy="5618602"/>
          </a:xfrm>
        </p:spPr>
        <p:txBody>
          <a:bodyPr>
            <a:noAutofit/>
          </a:bodyPr>
          <a:lstStyle/>
          <a:p>
            <a:pPr marL="92075" lvl="1" indent="0">
              <a:lnSpc>
                <a:spcPct val="100000"/>
              </a:lnSpc>
              <a:spcBef>
                <a:spcPts val="200"/>
              </a:spcBef>
              <a:buNone/>
            </a:pPr>
            <a:r>
              <a:rPr lang="ru-RU" sz="2200" dirty="0" smtClean="0"/>
              <a:t>Особенности</a:t>
            </a:r>
          </a:p>
          <a:p>
            <a:pPr marL="446088" lvl="1">
              <a:lnSpc>
                <a:spcPct val="100000"/>
              </a:lnSpc>
              <a:spcBef>
                <a:spcPts val="200"/>
              </a:spcBef>
            </a:pPr>
            <a:r>
              <a:rPr lang="ru-RU" sz="2200" dirty="0" smtClean="0"/>
              <a:t>Имеются </a:t>
            </a:r>
            <a:r>
              <a:rPr lang="ru-RU" sz="2200" dirty="0"/>
              <a:t>монолитнее данные на спроса на электроэнергию, </a:t>
            </a:r>
            <a:endParaRPr lang="ru-RU" sz="2200" dirty="0" smtClean="0"/>
          </a:p>
          <a:p>
            <a:pPr marL="446088" lvl="1">
              <a:lnSpc>
                <a:spcPct val="100000"/>
              </a:lnSpc>
              <a:spcBef>
                <a:spcPts val="200"/>
              </a:spcBef>
            </a:pPr>
            <a:r>
              <a:rPr lang="ru-RU" sz="2200" dirty="0" smtClean="0"/>
              <a:t>известно</a:t>
            </a:r>
            <a:r>
              <a:rPr lang="ru-RU" sz="2200" dirty="0"/>
              <a:t>, что  спрос на электроэнергию в основном определяется температурой.</a:t>
            </a:r>
          </a:p>
          <a:p>
            <a:pPr marL="446088" lvl="1">
              <a:lnSpc>
                <a:spcPct val="100000"/>
              </a:lnSpc>
              <a:spcBef>
                <a:spcPts val="200"/>
              </a:spcBef>
            </a:pPr>
            <a:r>
              <a:rPr lang="ru-RU" sz="2200" dirty="0"/>
              <a:t>При краткосрочном прогнозировании (до нескольких недель) можно с уверенностью предположить, что динамика спроса будет аналогична той, что наблюдалась в </a:t>
            </a:r>
            <a:r>
              <a:rPr lang="ru-RU" sz="2200" dirty="0" smtClean="0"/>
              <a:t>прошлом.</a:t>
            </a:r>
          </a:p>
          <a:p>
            <a:pPr marL="446088" lvl="1">
              <a:lnSpc>
                <a:spcPct val="100000"/>
              </a:lnSpc>
              <a:spcBef>
                <a:spcPts val="200"/>
              </a:spcBef>
            </a:pPr>
            <a:r>
              <a:rPr lang="ru-RU" sz="2200" dirty="0" smtClean="0"/>
              <a:t>Для </a:t>
            </a:r>
            <a:r>
              <a:rPr lang="ru-RU" sz="2200" dirty="0"/>
              <a:t>большинства бытовых потребителей цена</a:t>
            </a:r>
            <a:br>
              <a:rPr lang="ru-RU" sz="2200" dirty="0"/>
            </a:br>
            <a:r>
              <a:rPr lang="ru-RU" sz="2200" dirty="0"/>
              <a:t> на электроэнергию не зависит от спроса, </a:t>
            </a:r>
            <a:br>
              <a:rPr lang="ru-RU" sz="2200" dirty="0"/>
            </a:br>
            <a:r>
              <a:rPr lang="ru-RU" sz="2200" dirty="0"/>
              <a:t>поэтому допустимы ошибки оценки и </a:t>
            </a:r>
            <a:br>
              <a:rPr lang="ru-RU" sz="2200" dirty="0"/>
            </a:br>
            <a:r>
              <a:rPr lang="ru-RU" sz="2200" dirty="0"/>
              <a:t>они будут не критичны.</a:t>
            </a:r>
          </a:p>
        </p:txBody>
      </p:sp>
      <p:sp>
        <p:nvSpPr>
          <p:cNvPr id="4" name="Номер слайда 3">
            <a:extLst>
              <a:ext uri="{FF2B5EF4-FFF2-40B4-BE49-F238E27FC236}">
                <a16:creationId xmlns:a16="http://schemas.microsoft.com/office/drawing/2014/main" id="{3BB4D098-5A41-1C13-12BA-50D0174A6D2B}"/>
              </a:ext>
            </a:extLst>
          </p:cNvPr>
          <p:cNvSpPr>
            <a:spLocks noGrp="1"/>
          </p:cNvSpPr>
          <p:nvPr>
            <p:ph type="sldNum" sz="quarter" idx="12"/>
          </p:nvPr>
        </p:nvSpPr>
        <p:spPr/>
        <p:txBody>
          <a:bodyPr/>
          <a:lstStyle/>
          <a:p>
            <a:fld id="{45C3B737-A709-4ABC-AFE0-A6B067850C48}" type="slidenum">
              <a:rPr lang="en-US" smtClean="0"/>
              <a:t>6</a:t>
            </a:fld>
            <a:endParaRPr lang="en-US"/>
          </a:p>
        </p:txBody>
      </p:sp>
      <p:pic>
        <p:nvPicPr>
          <p:cNvPr id="5" name="Рисунок 4">
            <a:extLst>
              <a:ext uri="{FF2B5EF4-FFF2-40B4-BE49-F238E27FC236}">
                <a16:creationId xmlns:a16="http://schemas.microsoft.com/office/drawing/2014/main" id="{565D7273-3DEB-F512-3362-9FA5647D37E9}"/>
              </a:ext>
            </a:extLst>
          </p:cNvPr>
          <p:cNvPicPr>
            <a:picLocks noChangeAspect="1"/>
          </p:cNvPicPr>
          <p:nvPr/>
        </p:nvPicPr>
        <p:blipFill>
          <a:blip r:embed="rId2"/>
          <a:stretch>
            <a:fillRect/>
          </a:stretch>
        </p:blipFill>
        <p:spPr>
          <a:xfrm>
            <a:off x="6258977" y="3281807"/>
            <a:ext cx="5577003" cy="3333945"/>
          </a:xfrm>
          <a:prstGeom prst="rect">
            <a:avLst/>
          </a:prstGeom>
        </p:spPr>
      </p:pic>
      <p:sp>
        <p:nvSpPr>
          <p:cNvPr id="7" name="TextBox 6">
            <a:extLst>
              <a:ext uri="{FF2B5EF4-FFF2-40B4-BE49-F238E27FC236}">
                <a16:creationId xmlns:a16="http://schemas.microsoft.com/office/drawing/2014/main" id="{54586ED7-6D7D-151D-3200-3883E9CA5561}"/>
              </a:ext>
            </a:extLst>
          </p:cNvPr>
          <p:cNvSpPr txBox="1"/>
          <p:nvPr/>
        </p:nvSpPr>
        <p:spPr>
          <a:xfrm>
            <a:off x="165253" y="6354247"/>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1408904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DD00-4162-72E8-6D4D-6DD1FE435D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72871-B133-4717-74BB-D0D92CEE91BA}"/>
              </a:ext>
            </a:extLst>
          </p:cNvPr>
          <p:cNvSpPr>
            <a:spLocks noGrp="1"/>
          </p:cNvSpPr>
          <p:nvPr>
            <p:ph type="title"/>
          </p:nvPr>
        </p:nvSpPr>
        <p:spPr>
          <a:xfrm>
            <a:off x="264405" y="365126"/>
            <a:ext cx="11089395" cy="406056"/>
          </a:xfrm>
        </p:spPr>
        <p:txBody>
          <a:bodyPr>
            <a:normAutofit fontScale="90000"/>
          </a:bodyPr>
          <a:lstStyle/>
          <a:p>
            <a:r>
              <a:rPr lang="ru-RU" dirty="0" smtClean="0"/>
              <a:t>Прогнозирование </a:t>
            </a:r>
            <a:r>
              <a:rPr lang="ru-RU" dirty="0"/>
              <a:t>курсов валют</a:t>
            </a:r>
          </a:p>
        </p:txBody>
      </p:sp>
      <p:sp>
        <p:nvSpPr>
          <p:cNvPr id="3" name="Объект 2">
            <a:extLst>
              <a:ext uri="{FF2B5EF4-FFF2-40B4-BE49-F238E27FC236}">
                <a16:creationId xmlns:a16="http://schemas.microsoft.com/office/drawing/2014/main" id="{ACAEA3E3-D6F7-908A-9B35-EF11148B10C4}"/>
              </a:ext>
            </a:extLst>
          </p:cNvPr>
          <p:cNvSpPr>
            <a:spLocks noGrp="1"/>
          </p:cNvSpPr>
          <p:nvPr>
            <p:ph idx="1"/>
          </p:nvPr>
        </p:nvSpPr>
        <p:spPr>
          <a:xfrm>
            <a:off x="165253" y="980502"/>
            <a:ext cx="11188547" cy="5618602"/>
          </a:xfrm>
        </p:spPr>
        <p:txBody>
          <a:bodyPr>
            <a:normAutofit/>
          </a:bodyPr>
          <a:lstStyle/>
          <a:p>
            <a:pPr marL="0" indent="0">
              <a:buNone/>
            </a:pPr>
            <a:r>
              <a:rPr lang="ru-RU" sz="2200" dirty="0" smtClean="0"/>
              <a:t>выполняется </a:t>
            </a:r>
            <a:r>
              <a:rPr lang="ru-RU" sz="2200" dirty="0"/>
              <a:t>только одно из условий: имеется множество доступных данных. </a:t>
            </a:r>
          </a:p>
          <a:p>
            <a:pPr marL="0" indent="0">
              <a:buNone/>
            </a:pPr>
            <a:r>
              <a:rPr lang="ru-RU" sz="2200" dirty="0"/>
              <a:t>Однако </a:t>
            </a:r>
          </a:p>
          <a:p>
            <a:r>
              <a:rPr lang="ru-RU" sz="2200" dirty="0"/>
              <a:t>ограниченное понимание факторов, влияющих на курсы валют, </a:t>
            </a:r>
          </a:p>
          <a:p>
            <a:r>
              <a:rPr lang="ru-RU" sz="2200" dirty="0"/>
              <a:t>будущее может отличаться от прошлого (напр. Природная катастрофа) </a:t>
            </a:r>
          </a:p>
          <a:p>
            <a:r>
              <a:rPr lang="ru-RU" sz="2200" dirty="0"/>
              <a:t>прогнозы курса валют оказывают прямое влияние на сами курсы. Если известно, что курс валют вырастет, все будут покупать валюту и она стабилизируется. В некотором смысле курсы валют становятся их собственными прогнозами. Это пример «гипотезы эффективного рынка».  </a:t>
            </a:r>
          </a:p>
        </p:txBody>
      </p:sp>
      <p:sp>
        <p:nvSpPr>
          <p:cNvPr id="4" name="Номер слайда 3">
            <a:extLst>
              <a:ext uri="{FF2B5EF4-FFF2-40B4-BE49-F238E27FC236}">
                <a16:creationId xmlns:a16="http://schemas.microsoft.com/office/drawing/2014/main" id="{5A76733A-AE85-7115-ED56-57F98A97AED0}"/>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5" name="AutoShape 2">
            <a:extLst>
              <a:ext uri="{FF2B5EF4-FFF2-40B4-BE49-F238E27FC236}">
                <a16:creationId xmlns:a16="http://schemas.microsoft.com/office/drawing/2014/main" id="{A3D96E57-DDB7-1CA5-182E-CFBCDD12A7F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4">
            <a:extLst>
              <a:ext uri="{FF2B5EF4-FFF2-40B4-BE49-F238E27FC236}">
                <a16:creationId xmlns:a16="http://schemas.microsoft.com/office/drawing/2014/main" id="{E99C0464-1479-106F-B240-07FBE61F9D9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690B2A94-FA6A-5A54-E359-1E4F2B921AE1}"/>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Рисунок 7">
            <a:extLst>
              <a:ext uri="{FF2B5EF4-FFF2-40B4-BE49-F238E27FC236}">
                <a16:creationId xmlns:a16="http://schemas.microsoft.com/office/drawing/2014/main" id="{8A80686E-36B9-9F99-7F63-A4453130BA19}"/>
              </a:ext>
            </a:extLst>
          </p:cNvPr>
          <p:cNvPicPr>
            <a:picLocks noChangeAspect="1"/>
          </p:cNvPicPr>
          <p:nvPr/>
        </p:nvPicPr>
        <p:blipFill>
          <a:blip r:embed="rId3"/>
          <a:stretch>
            <a:fillRect/>
          </a:stretch>
        </p:blipFill>
        <p:spPr>
          <a:xfrm>
            <a:off x="542670" y="4207043"/>
            <a:ext cx="5021722" cy="2514432"/>
          </a:xfrm>
          <a:prstGeom prst="rect">
            <a:avLst/>
          </a:prstGeom>
        </p:spPr>
      </p:pic>
      <p:pic>
        <p:nvPicPr>
          <p:cNvPr id="10" name="Рисунок 9">
            <a:extLst>
              <a:ext uri="{FF2B5EF4-FFF2-40B4-BE49-F238E27FC236}">
                <a16:creationId xmlns:a16="http://schemas.microsoft.com/office/drawing/2014/main" id="{428FA815-37BB-E70B-E267-899F6B6DCDC0}"/>
              </a:ext>
            </a:extLst>
          </p:cNvPr>
          <p:cNvPicPr>
            <a:picLocks noChangeAspect="1"/>
          </p:cNvPicPr>
          <p:nvPr/>
        </p:nvPicPr>
        <p:blipFill>
          <a:blip r:embed="rId4"/>
          <a:stretch>
            <a:fillRect/>
          </a:stretch>
        </p:blipFill>
        <p:spPr>
          <a:xfrm>
            <a:off x="5941809" y="4258857"/>
            <a:ext cx="4880866" cy="2462158"/>
          </a:xfrm>
          <a:prstGeom prst="rect">
            <a:avLst/>
          </a:prstGeom>
        </p:spPr>
      </p:pic>
      <p:sp>
        <p:nvSpPr>
          <p:cNvPr id="12" name="TextBox 11">
            <a:extLst>
              <a:ext uri="{FF2B5EF4-FFF2-40B4-BE49-F238E27FC236}">
                <a16:creationId xmlns:a16="http://schemas.microsoft.com/office/drawing/2014/main" id="{5D81EF11-DE95-FA84-6784-821F22F1F524}"/>
              </a:ext>
            </a:extLst>
          </p:cNvPr>
          <p:cNvSpPr txBox="1"/>
          <p:nvPr/>
        </p:nvSpPr>
        <p:spPr>
          <a:xfrm>
            <a:off x="459476" y="6492300"/>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0217643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E500F2-C550-ECDE-88F7-3A865A85EE24}"/>
              </a:ext>
            </a:extLst>
          </p:cNvPr>
          <p:cNvSpPr>
            <a:spLocks noGrp="1"/>
          </p:cNvSpPr>
          <p:nvPr>
            <p:ph type="title"/>
          </p:nvPr>
        </p:nvSpPr>
        <p:spPr>
          <a:xfrm>
            <a:off x="419100" y="365126"/>
            <a:ext cx="10934700" cy="692150"/>
          </a:xfrm>
        </p:spPr>
        <p:txBody>
          <a:bodyPr>
            <a:normAutofit fontScale="90000"/>
          </a:bodyPr>
          <a:lstStyle/>
          <a:p>
            <a:r>
              <a:rPr lang="ru-RU" dirty="0"/>
              <a:t>Применения ВР</a:t>
            </a:r>
          </a:p>
        </p:txBody>
      </p:sp>
      <p:sp>
        <p:nvSpPr>
          <p:cNvPr id="3" name="Объект 2">
            <a:extLst>
              <a:ext uri="{FF2B5EF4-FFF2-40B4-BE49-F238E27FC236}">
                <a16:creationId xmlns:a16="http://schemas.microsoft.com/office/drawing/2014/main" id="{1A4BF18D-4A68-07A0-A9F7-B3CF16882563}"/>
              </a:ext>
            </a:extLst>
          </p:cNvPr>
          <p:cNvSpPr>
            <a:spLocks noGrp="1"/>
          </p:cNvSpPr>
          <p:nvPr>
            <p:ph idx="1"/>
          </p:nvPr>
        </p:nvSpPr>
        <p:spPr>
          <a:xfrm>
            <a:off x="914400" y="1197662"/>
            <a:ext cx="10515600" cy="4255686"/>
          </a:xfrm>
        </p:spPr>
        <p:txBody>
          <a:bodyPr>
            <a:normAutofit fontScale="70000" lnSpcReduction="20000"/>
          </a:bodyPr>
          <a:lstStyle/>
          <a:p>
            <a:pPr>
              <a:lnSpc>
                <a:spcPct val="120000"/>
              </a:lnSpc>
            </a:pPr>
            <a:r>
              <a:rPr lang="ru-RU" b="1" dirty="0"/>
              <a:t>Экономический и финансовый анализ</a:t>
            </a:r>
            <a:r>
              <a:rPr lang="ru-RU" dirty="0"/>
              <a:t>: понимание экономических показателей и финансовых рынков, что позволяет получить представление об управлении рисками и стратегическом планировании. </a:t>
            </a:r>
            <a:endParaRPr lang="en-US" dirty="0"/>
          </a:p>
          <a:p>
            <a:pPr>
              <a:lnSpc>
                <a:spcPct val="120000"/>
              </a:lnSpc>
            </a:pPr>
            <a:r>
              <a:rPr lang="ru-RU" b="1" dirty="0"/>
              <a:t>Исследовательский естественно-научный (физические эксперименты, метеонаблюдения, экология и </a:t>
            </a:r>
            <a:r>
              <a:rPr lang="ru-RU" b="1" dirty="0" err="1"/>
              <a:t>тд</a:t>
            </a:r>
            <a:r>
              <a:rPr lang="ru-RU" b="1" dirty="0"/>
              <a:t>)</a:t>
            </a:r>
            <a:r>
              <a:rPr lang="ru-RU" dirty="0"/>
              <a:t>: Проводите непрерывный мониторинг окружающей среды и оценивайте климатические риски, что помогает понять долгосрочные тенденции и риски.</a:t>
            </a:r>
            <a:endParaRPr lang="en-US" dirty="0"/>
          </a:p>
          <a:p>
            <a:pPr>
              <a:lnSpc>
                <a:spcPct val="120000"/>
              </a:lnSpc>
            </a:pPr>
            <a:r>
              <a:rPr lang="en-US" b="1" dirty="0" err="1"/>
              <a:t>Диаг</a:t>
            </a:r>
            <a:r>
              <a:rPr lang="ru-RU" b="1" dirty="0" err="1"/>
              <a:t>ностика</a:t>
            </a:r>
            <a:r>
              <a:rPr lang="ru-RU" b="1" dirty="0"/>
              <a:t> в производстве</a:t>
            </a:r>
            <a:r>
              <a:rPr lang="ru-RU" dirty="0"/>
              <a:t>: прогнозируйте сбои оборудования и оптимизируйте графики технического обслуживания, сокращая время простоя и эксплуатационные расходы. </a:t>
            </a:r>
          </a:p>
          <a:p>
            <a:pPr>
              <a:lnSpc>
                <a:spcPct val="120000"/>
              </a:lnSpc>
            </a:pPr>
            <a:r>
              <a:rPr lang="ru-RU" b="1" dirty="0"/>
              <a:t>Обработка сигналов (медицина, геология, локация)</a:t>
            </a:r>
            <a:r>
              <a:rPr lang="ru-RU" dirty="0"/>
              <a:t>: Интерпретируйте сигналы от устройств связи, Интернета вещей, датчиков и систем технического обслуживания для повышения производительности, обнаружения аномалий и повышения надежности.</a:t>
            </a:r>
          </a:p>
        </p:txBody>
      </p:sp>
      <p:sp>
        <p:nvSpPr>
          <p:cNvPr id="4" name="Номер слайда 3">
            <a:extLst>
              <a:ext uri="{FF2B5EF4-FFF2-40B4-BE49-F238E27FC236}">
                <a16:creationId xmlns:a16="http://schemas.microsoft.com/office/drawing/2014/main" id="{950C2AE1-D20B-8334-CD40-34225DB1C550}"/>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10" name="Рисунок 9">
            <a:extLst>
              <a:ext uri="{FF2B5EF4-FFF2-40B4-BE49-F238E27FC236}">
                <a16:creationId xmlns:a16="http://schemas.microsoft.com/office/drawing/2014/main" id="{D261180A-3B0C-D7C0-E9DC-BA4A6940867F}"/>
              </a:ext>
            </a:extLst>
          </p:cNvPr>
          <p:cNvPicPr>
            <a:picLocks noChangeAspect="1"/>
          </p:cNvPicPr>
          <p:nvPr/>
        </p:nvPicPr>
        <p:blipFill>
          <a:blip r:embed="rId2"/>
          <a:stretch>
            <a:fillRect/>
          </a:stretch>
        </p:blipFill>
        <p:spPr>
          <a:xfrm>
            <a:off x="-9525" y="1197662"/>
            <a:ext cx="912125" cy="3534483"/>
          </a:xfrm>
          <a:prstGeom prst="rect">
            <a:avLst/>
          </a:prstGeom>
        </p:spPr>
      </p:pic>
      <p:sp>
        <p:nvSpPr>
          <p:cNvPr id="12" name="TextBox 11">
            <a:extLst>
              <a:ext uri="{FF2B5EF4-FFF2-40B4-BE49-F238E27FC236}">
                <a16:creationId xmlns:a16="http://schemas.microsoft.com/office/drawing/2014/main" id="{9E4C9845-9193-FFFA-E436-2F5E41EFC2C1}"/>
              </a:ext>
            </a:extLst>
          </p:cNvPr>
          <p:cNvSpPr txBox="1"/>
          <p:nvPr/>
        </p:nvSpPr>
        <p:spPr>
          <a:xfrm>
            <a:off x="735376" y="6398309"/>
            <a:ext cx="7593376" cy="369332"/>
          </a:xfrm>
          <a:prstGeom prst="rect">
            <a:avLst/>
          </a:prstGeom>
          <a:noFill/>
        </p:spPr>
        <p:txBody>
          <a:bodyPr wrap="square">
            <a:spAutoFit/>
          </a:bodyPr>
          <a:lstStyle/>
          <a:p>
            <a:r>
              <a:rPr lang="ru-RU" dirty="0" err="1"/>
              <a:t>https</a:t>
            </a:r>
            <a:r>
              <a:rPr lang="ru-RU" dirty="0"/>
              <a:t>://</a:t>
            </a:r>
            <a:r>
              <a:rPr lang="ru-RU" dirty="0" err="1"/>
              <a:t>www.mathworks.com</a:t>
            </a:r>
            <a:r>
              <a:rPr lang="ru-RU" dirty="0"/>
              <a:t>/</a:t>
            </a:r>
            <a:r>
              <a:rPr lang="ru-RU" dirty="0" err="1"/>
              <a:t>discovery</a:t>
            </a:r>
            <a:r>
              <a:rPr lang="ru-RU" dirty="0"/>
              <a:t>/</a:t>
            </a:r>
            <a:r>
              <a:rPr lang="ru-RU" dirty="0" err="1"/>
              <a:t>time-series-analysis.html</a:t>
            </a:r>
            <a:endParaRPr lang="ru-RU" dirty="0"/>
          </a:p>
        </p:txBody>
      </p:sp>
    </p:spTree>
    <p:extLst>
      <p:ext uri="{BB962C8B-B14F-4D97-AF65-F5344CB8AC3E}">
        <p14:creationId xmlns:p14="http://schemas.microsoft.com/office/powerpoint/2010/main" val="23186831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BA1F3E-CEB0-CC7C-D712-4E57B92A1BAD}"/>
              </a:ext>
            </a:extLst>
          </p:cNvPr>
          <p:cNvSpPr>
            <a:spLocks noGrp="1"/>
          </p:cNvSpPr>
          <p:nvPr>
            <p:ph type="title"/>
          </p:nvPr>
        </p:nvSpPr>
        <p:spPr>
          <a:xfrm>
            <a:off x="370863" y="247927"/>
            <a:ext cx="10515600" cy="1325563"/>
          </a:xfrm>
        </p:spPr>
        <p:txBody>
          <a:bodyPr/>
          <a:lstStyle/>
          <a:p>
            <a:r>
              <a:rPr lang="ru-RU" b="1" dirty="0"/>
              <a:t>Примеры</a:t>
            </a:r>
            <a:endParaRPr lang="ru-RU" dirty="0"/>
          </a:p>
        </p:txBody>
      </p:sp>
      <p:sp>
        <p:nvSpPr>
          <p:cNvPr id="3" name="Объект 2">
            <a:extLst>
              <a:ext uri="{FF2B5EF4-FFF2-40B4-BE49-F238E27FC236}">
                <a16:creationId xmlns:a16="http://schemas.microsoft.com/office/drawing/2014/main" id="{09F00124-A180-84AC-986F-7027F931180B}"/>
              </a:ext>
            </a:extLst>
          </p:cNvPr>
          <p:cNvSpPr>
            <a:spLocks noGrp="1"/>
          </p:cNvSpPr>
          <p:nvPr>
            <p:ph idx="1"/>
          </p:nvPr>
        </p:nvSpPr>
        <p:spPr/>
        <p:txBody>
          <a:bodyPr/>
          <a:lstStyle/>
          <a:p>
            <a:r>
              <a:rPr lang="ru-RU" dirty="0"/>
              <a:t>01 Введение во ВР.</a:t>
            </a:r>
            <a:r>
              <a:rPr lang="en" dirty="0"/>
              <a:t>pptx</a:t>
            </a:r>
            <a:endParaRPr lang="ru-RU" dirty="0"/>
          </a:p>
        </p:txBody>
      </p:sp>
      <p:sp>
        <p:nvSpPr>
          <p:cNvPr id="4" name="Номер слайда 3">
            <a:extLst>
              <a:ext uri="{FF2B5EF4-FFF2-40B4-BE49-F238E27FC236}">
                <a16:creationId xmlns:a16="http://schemas.microsoft.com/office/drawing/2014/main" id="{A222A1EF-CF12-1044-A445-B4D73994535E}"/>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5122" name="Picture 2">
            <a:extLst>
              <a:ext uri="{FF2B5EF4-FFF2-40B4-BE49-F238E27FC236}">
                <a16:creationId xmlns:a16="http://schemas.microsoft.com/office/drawing/2014/main" id="{91E5E0C5-FD0A-5554-03F3-B02B5CF91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674" y="974892"/>
            <a:ext cx="6381852" cy="19594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396E60-A3E8-2964-2BA6-0EE308E55D30}"/>
              </a:ext>
            </a:extLst>
          </p:cNvPr>
          <p:cNvSpPr txBox="1"/>
          <p:nvPr/>
        </p:nvSpPr>
        <p:spPr>
          <a:xfrm>
            <a:off x="742950" y="6441526"/>
            <a:ext cx="10706100"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/prashant111/</a:t>
            </a:r>
            <a:r>
              <a:rPr lang="ru-RU" dirty="0" err="1"/>
              <a:t>complete-guide-on-time-series-analysis-in-python</a:t>
            </a:r>
            <a:endParaRPr lang="ru-RU" dirty="0"/>
          </a:p>
        </p:txBody>
      </p:sp>
      <p:sp>
        <p:nvSpPr>
          <p:cNvPr id="7" name="TextBox 6">
            <a:extLst>
              <a:ext uri="{FF2B5EF4-FFF2-40B4-BE49-F238E27FC236}">
                <a16:creationId xmlns:a16="http://schemas.microsoft.com/office/drawing/2014/main" id="{09A1AD9E-E6EB-CB37-9D3A-4358B55FE22D}"/>
              </a:ext>
            </a:extLst>
          </p:cNvPr>
          <p:cNvSpPr txBox="1"/>
          <p:nvPr/>
        </p:nvSpPr>
        <p:spPr>
          <a:xfrm>
            <a:off x="5562600" y="3080914"/>
            <a:ext cx="6096000" cy="369332"/>
          </a:xfrm>
          <a:prstGeom prst="rect">
            <a:avLst/>
          </a:prstGeom>
          <a:noFill/>
        </p:spPr>
        <p:txBody>
          <a:bodyPr wrap="square">
            <a:spAutoFit/>
          </a:bodyPr>
          <a:lstStyle/>
          <a:p>
            <a:r>
              <a:rPr lang="en" dirty="0"/>
              <a:t>https://</a:t>
            </a:r>
            <a:r>
              <a:rPr lang="en" dirty="0" err="1"/>
              <a:t>www.kaggle.com</a:t>
            </a:r>
            <a:r>
              <a:rPr lang="en" dirty="0"/>
              <a:t>/datasets/</a:t>
            </a:r>
            <a:r>
              <a:rPr lang="en" dirty="0" err="1"/>
              <a:t>ucsandiego</a:t>
            </a:r>
            <a:r>
              <a:rPr lang="en" dirty="0"/>
              <a:t>/carbon-dioxide</a:t>
            </a:r>
            <a:endParaRPr lang="ru-RU" dirty="0"/>
          </a:p>
        </p:txBody>
      </p:sp>
      <p:pic>
        <p:nvPicPr>
          <p:cNvPr id="8" name="Рисунок 7">
            <a:extLst>
              <a:ext uri="{FF2B5EF4-FFF2-40B4-BE49-F238E27FC236}">
                <a16:creationId xmlns:a16="http://schemas.microsoft.com/office/drawing/2014/main" id="{A537716A-DC21-6FBC-49C9-DE2564608892}"/>
              </a:ext>
            </a:extLst>
          </p:cNvPr>
          <p:cNvPicPr>
            <a:picLocks noChangeAspect="1"/>
          </p:cNvPicPr>
          <p:nvPr/>
        </p:nvPicPr>
        <p:blipFill>
          <a:blip r:embed="rId3"/>
          <a:stretch>
            <a:fillRect/>
          </a:stretch>
        </p:blipFill>
        <p:spPr>
          <a:xfrm>
            <a:off x="117240" y="1872960"/>
            <a:ext cx="5251627" cy="4186806"/>
          </a:xfrm>
          <a:prstGeom prst="rect">
            <a:avLst/>
          </a:prstGeom>
        </p:spPr>
      </p:pic>
      <p:sp>
        <p:nvSpPr>
          <p:cNvPr id="10" name="TextBox 9">
            <a:extLst>
              <a:ext uri="{FF2B5EF4-FFF2-40B4-BE49-F238E27FC236}">
                <a16:creationId xmlns:a16="http://schemas.microsoft.com/office/drawing/2014/main" id="{5DBD4975-5C78-FD5A-5332-D30496F71523}"/>
              </a:ext>
            </a:extLst>
          </p:cNvPr>
          <p:cNvSpPr txBox="1"/>
          <p:nvPr/>
        </p:nvSpPr>
        <p:spPr>
          <a:xfrm>
            <a:off x="370863" y="6059766"/>
            <a:ext cx="8828315"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akhiljethwa</a:t>
            </a:r>
            <a:r>
              <a:rPr lang="ru-RU" dirty="0"/>
              <a:t>/</a:t>
            </a:r>
            <a:r>
              <a:rPr lang="ru-RU" dirty="0" err="1"/>
              <a:t>eda-on-global-energy-data</a:t>
            </a:r>
            <a:r>
              <a:rPr lang="ru-RU" dirty="0"/>
              <a:t>/</a:t>
            </a:r>
            <a:r>
              <a:rPr lang="ru-RU" dirty="0" err="1"/>
              <a:t>notebook</a:t>
            </a:r>
            <a:endParaRPr lang="ru-RU" dirty="0"/>
          </a:p>
        </p:txBody>
      </p:sp>
      <p:pic>
        <p:nvPicPr>
          <p:cNvPr id="5124" name="Picture 4">
            <a:extLst>
              <a:ext uri="{FF2B5EF4-FFF2-40B4-BE49-F238E27FC236}">
                <a16:creationId xmlns:a16="http://schemas.microsoft.com/office/drawing/2014/main" id="{B0F90CE2-1D55-617F-2695-0C6812D39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1569" y="3517150"/>
            <a:ext cx="5534362" cy="21431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CDE78A4-2324-0944-D42B-539C26D3EB7D}"/>
              </a:ext>
            </a:extLst>
          </p:cNvPr>
          <p:cNvSpPr txBox="1"/>
          <p:nvPr/>
        </p:nvSpPr>
        <p:spPr>
          <a:xfrm>
            <a:off x="4155911" y="5702862"/>
            <a:ext cx="8036089"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yasinsametkaraca</a:t>
            </a:r>
            <a:r>
              <a:rPr lang="ru-RU" dirty="0"/>
              <a:t>/</a:t>
            </a:r>
            <a:r>
              <a:rPr lang="ru-RU" dirty="0" err="1"/>
              <a:t>time-series-forecasting-xgboost</a:t>
            </a:r>
            <a:endParaRPr lang="ru-RU" dirty="0"/>
          </a:p>
        </p:txBody>
      </p:sp>
      <p:sp>
        <p:nvSpPr>
          <p:cNvPr id="13" name="Заголовок 1">
            <a:extLst>
              <a:ext uri="{FF2B5EF4-FFF2-40B4-BE49-F238E27FC236}">
                <a16:creationId xmlns:a16="http://schemas.microsoft.com/office/drawing/2014/main" id="{C8BA1F3E-CEB0-CC7C-D712-4E57B92A1BAD}"/>
              </a:ext>
            </a:extLst>
          </p:cNvPr>
          <p:cNvSpPr txBox="1">
            <a:spLocks/>
          </p:cNvSpPr>
          <p:nvPr/>
        </p:nvSpPr>
        <p:spPr>
          <a:xfrm>
            <a:off x="4871544" y="528635"/>
            <a:ext cx="5257801" cy="44004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b="1" dirty="0"/>
              <a:t>Эконометрические показатели</a:t>
            </a:r>
            <a:endParaRPr lang="ru-RU" dirty="0"/>
          </a:p>
        </p:txBody>
      </p:sp>
    </p:spTree>
    <p:extLst>
      <p:ext uri="{BB962C8B-B14F-4D97-AF65-F5344CB8AC3E}">
        <p14:creationId xmlns:p14="http://schemas.microsoft.com/office/powerpoint/2010/main" val="15731760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24000" y="81185"/>
            <a:ext cx="9144000" cy="1319344"/>
          </a:xfrm>
        </p:spPr>
        <p:txBody>
          <a:bodyPr>
            <a:normAutofit/>
          </a:bodyPr>
          <a:lstStyle/>
          <a:p>
            <a:r>
              <a:rPr lang="ru-RU" sz="3200" b="1" dirty="0"/>
              <a:t>Примеры приложений анализа временных рядов</a:t>
            </a:r>
            <a:endParaRPr lang="ru-RU" sz="3200" dirty="0"/>
          </a:p>
        </p:txBody>
      </p:sp>
      <p:sp>
        <p:nvSpPr>
          <p:cNvPr id="4" name="Номер слайда 3">
            <a:extLst>
              <a:ext uri="{FF2B5EF4-FFF2-40B4-BE49-F238E27FC236}">
                <a16:creationId xmlns:a16="http://schemas.microsoft.com/office/drawing/2014/main" id="{B71B9812-C3DD-F3D1-E3DB-C6DBDB2D7369}"/>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2050"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3" y="1063106"/>
            <a:ext cx="5271284" cy="512997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738D70-C732-8A4B-1DFB-40475542C687}"/>
              </a:ext>
            </a:extLst>
          </p:cNvPr>
          <p:cNvSpPr txBox="1"/>
          <p:nvPr/>
        </p:nvSpPr>
        <p:spPr>
          <a:xfrm>
            <a:off x="324350" y="6130484"/>
            <a:ext cx="5260021" cy="461665"/>
          </a:xfrm>
          <a:prstGeom prst="rect">
            <a:avLst/>
          </a:prstGeom>
          <a:noFill/>
        </p:spPr>
        <p:txBody>
          <a:bodyPr wrap="square">
            <a:spAutoFit/>
          </a:bodyPr>
          <a:lstStyle/>
          <a:p>
            <a:r>
              <a:rPr lang="ru-RU" sz="1200" dirty="0" err="1"/>
              <a:t>https</a:t>
            </a:r>
            <a:r>
              <a:rPr lang="ru-RU" sz="1200" dirty="0"/>
              <a:t>://</a:t>
            </a:r>
            <a:r>
              <a:rPr lang="ru-RU" sz="1200" dirty="0" err="1"/>
              <a:t>www.kaggle.com</a:t>
            </a:r>
            <a:r>
              <a:rPr lang="ru-RU" sz="1200" dirty="0"/>
              <a:t>/</a:t>
            </a:r>
            <a:r>
              <a:rPr lang="ru-RU" sz="1200" dirty="0" err="1"/>
              <a:t>code</a:t>
            </a:r>
            <a:r>
              <a:rPr lang="ru-RU" sz="1200" dirty="0"/>
              <a:t>/eslammohamed100/</a:t>
            </a:r>
            <a:r>
              <a:rPr lang="ru-RU" sz="1200" dirty="0" err="1"/>
              <a:t>microsoft-stock-time-series-analysis</a:t>
            </a:r>
            <a:endParaRPr lang="ru-RU" sz="1200" dirty="0"/>
          </a:p>
        </p:txBody>
      </p:sp>
      <p:sp>
        <p:nvSpPr>
          <p:cNvPr id="10" name="TextBox 9">
            <a:extLst>
              <a:ext uri="{FF2B5EF4-FFF2-40B4-BE49-F238E27FC236}">
                <a16:creationId xmlns:a16="http://schemas.microsoft.com/office/drawing/2014/main" id="{5468F3ED-FD40-E891-1E96-DCAA6441C0C4}"/>
              </a:ext>
            </a:extLst>
          </p:cNvPr>
          <p:cNvSpPr txBox="1"/>
          <p:nvPr/>
        </p:nvSpPr>
        <p:spPr>
          <a:xfrm>
            <a:off x="930729" y="1147044"/>
            <a:ext cx="3891642" cy="38408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Microsoft Stock- Time Series Analysis</a:t>
            </a:r>
          </a:p>
        </p:txBody>
      </p:sp>
      <p:pic>
        <p:nvPicPr>
          <p:cNvPr id="2052" name="Picture 4">
            <a:extLst>
              <a:ext uri="{FF2B5EF4-FFF2-40B4-BE49-F238E27FC236}">
                <a16:creationId xmlns:a16="http://schemas.microsoft.com/office/drawing/2014/main" id="{678FF871-C076-5BAC-716B-9CE0163834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2008" y="944193"/>
            <a:ext cx="5271285" cy="248711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35762B8-B744-1173-BAF3-A36591CC3312}"/>
              </a:ext>
            </a:extLst>
          </p:cNvPr>
          <p:cNvSpPr txBox="1"/>
          <p:nvPr/>
        </p:nvSpPr>
        <p:spPr>
          <a:xfrm>
            <a:off x="6426506" y="1215863"/>
            <a:ext cx="4241494" cy="369332"/>
          </a:xfrm>
          <a:prstGeom prst="rect">
            <a:avLst/>
          </a:prstGeom>
          <a:noFill/>
        </p:spPr>
        <p:txBody>
          <a:bodyPr wrap="square">
            <a:spAutoFit/>
          </a:bodyPr>
          <a:lstStyle/>
          <a:p>
            <a:r>
              <a:rPr lang="en" dirty="0">
                <a:solidFill>
                  <a:srgbClr val="BB2323"/>
                </a:solidFill>
                <a:effectLst/>
                <a:latin typeface="inherit"/>
              </a:rPr>
              <a:t>In-game currency spent (daily data)</a:t>
            </a:r>
            <a:endParaRPr lang="ru-RU" dirty="0"/>
          </a:p>
        </p:txBody>
      </p:sp>
      <p:sp>
        <p:nvSpPr>
          <p:cNvPr id="15" name="TextBox 14">
            <a:extLst>
              <a:ext uri="{FF2B5EF4-FFF2-40B4-BE49-F238E27FC236}">
                <a16:creationId xmlns:a16="http://schemas.microsoft.com/office/drawing/2014/main" id="{66E4C8F2-85B6-2D7A-A59F-FD4A05E5A22B}"/>
              </a:ext>
            </a:extLst>
          </p:cNvPr>
          <p:cNvSpPr txBox="1"/>
          <p:nvPr/>
        </p:nvSpPr>
        <p:spPr>
          <a:xfrm>
            <a:off x="5398737" y="3395201"/>
            <a:ext cx="7239000"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kashnitsky</a:t>
            </a:r>
            <a:r>
              <a:rPr lang="ru-RU" sz="1400" dirty="0"/>
              <a:t>/topic-9-part-1-time-series-analysis-in-python</a:t>
            </a:r>
          </a:p>
        </p:txBody>
      </p:sp>
      <p:pic>
        <p:nvPicPr>
          <p:cNvPr id="20" name="Рисунок 19">
            <a:extLst>
              <a:ext uri="{FF2B5EF4-FFF2-40B4-BE49-F238E27FC236}">
                <a16:creationId xmlns:a16="http://schemas.microsoft.com/office/drawing/2014/main" id="{29C2FAFE-E52F-D4AF-ADC8-EB00476296BC}"/>
              </a:ext>
            </a:extLst>
          </p:cNvPr>
          <p:cNvPicPr>
            <a:picLocks noChangeAspect="1"/>
          </p:cNvPicPr>
          <p:nvPr/>
        </p:nvPicPr>
        <p:blipFill>
          <a:blip r:embed="rId5"/>
          <a:stretch>
            <a:fillRect/>
          </a:stretch>
        </p:blipFill>
        <p:spPr>
          <a:xfrm>
            <a:off x="6575828" y="3699390"/>
            <a:ext cx="3482572" cy="2901246"/>
          </a:xfrm>
          <a:prstGeom prst="rect">
            <a:avLst/>
          </a:prstGeom>
        </p:spPr>
      </p:pic>
      <p:sp>
        <p:nvSpPr>
          <p:cNvPr id="23" name="TextBox 22">
            <a:extLst>
              <a:ext uri="{FF2B5EF4-FFF2-40B4-BE49-F238E27FC236}">
                <a16:creationId xmlns:a16="http://schemas.microsoft.com/office/drawing/2014/main" id="{170919F9-6324-6F9C-8BC9-302F7FF0D7A8}"/>
              </a:ext>
            </a:extLst>
          </p:cNvPr>
          <p:cNvSpPr txBox="1"/>
          <p:nvPr/>
        </p:nvSpPr>
        <p:spPr>
          <a:xfrm>
            <a:off x="4279534" y="6413698"/>
            <a:ext cx="7428212"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atulkgoyl</a:t>
            </a:r>
            <a:r>
              <a:rPr lang="ru-RU" sz="1400" dirty="0"/>
              <a:t>/</a:t>
            </a:r>
            <a:r>
              <a:rPr lang="ru-RU" sz="1400" dirty="0" err="1"/>
              <a:t>store-sales-time-series-forecasting-regression</a:t>
            </a:r>
            <a:endParaRPr lang="ru-RU" sz="1400" dirty="0"/>
          </a:p>
        </p:txBody>
      </p:sp>
    </p:spTree>
    <p:extLst>
      <p:ext uri="{BB962C8B-B14F-4D97-AF65-F5344CB8AC3E}">
        <p14:creationId xmlns:p14="http://schemas.microsoft.com/office/powerpoint/2010/main" val="482302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3" name="Объект 2">
            <a:extLst>
              <a:ext uri="{FF2B5EF4-FFF2-40B4-BE49-F238E27FC236}">
                <a16:creationId xmlns:a16="http://schemas.microsoft.com/office/drawing/2014/main" id="{20862C52-6499-4A2A-486C-9A5DCD8AF5FD}"/>
              </a:ext>
            </a:extLst>
          </p:cNvPr>
          <p:cNvSpPr>
            <a:spLocks noGrp="1"/>
          </p:cNvSpPr>
          <p:nvPr>
            <p:ph idx="1"/>
          </p:nvPr>
        </p:nvSpPr>
        <p:spPr>
          <a:xfrm>
            <a:off x="838200" y="1825625"/>
            <a:ext cx="1818290" cy="4351338"/>
          </a:xfrm>
        </p:spPr>
        <p:txBody>
          <a:bodyPr/>
          <a:lstStyle/>
          <a:p>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4102" name="Picture 6">
            <a:extLst>
              <a:ext uri="{FF2B5EF4-FFF2-40B4-BE49-F238E27FC236}">
                <a16:creationId xmlns:a16="http://schemas.microsoft.com/office/drawing/2014/main" id="{021E3379-966F-EFF6-710F-880204762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533" y="689267"/>
            <a:ext cx="3604175" cy="257573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CE58BD9D-01FD-408F-5D3E-8DA3166C1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9501" y="809582"/>
            <a:ext cx="3767388" cy="25374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B951A9-E548-2987-1FF2-FFC2E7BB02DF}"/>
              </a:ext>
            </a:extLst>
          </p:cNvPr>
          <p:cNvSpPr txBox="1"/>
          <p:nvPr/>
        </p:nvSpPr>
        <p:spPr>
          <a:xfrm>
            <a:off x="4196043" y="3333095"/>
            <a:ext cx="7701730" cy="338554"/>
          </a:xfrm>
          <a:prstGeom prst="rect">
            <a:avLst/>
          </a:prstGeom>
          <a:noFill/>
        </p:spPr>
        <p:txBody>
          <a:bodyPr wrap="square">
            <a:spAutoFit/>
          </a:bodyPr>
          <a:lstStyle/>
          <a:p>
            <a:pPr algn="ctr"/>
            <a:r>
              <a:rPr lang="ru-RU" sz="1600" dirty="0" err="1"/>
              <a:t>https</a:t>
            </a:r>
            <a:r>
              <a:rPr lang="ru-RU" sz="1600" dirty="0"/>
              <a:t>://</a:t>
            </a:r>
            <a:r>
              <a:rPr lang="ru-RU" sz="1600" dirty="0" err="1"/>
              <a:t>www.kaggle.com</a:t>
            </a:r>
            <a:r>
              <a:rPr lang="ru-RU" sz="1600" dirty="0"/>
              <a:t>/</a:t>
            </a:r>
            <a:r>
              <a:rPr lang="ru-RU" sz="1600" dirty="0" err="1"/>
              <a:t>code</a:t>
            </a:r>
            <a:r>
              <a:rPr lang="ru-RU" sz="1600" dirty="0"/>
              <a:t>/jegun19/</a:t>
            </a:r>
            <a:r>
              <a:rPr lang="ru-RU" sz="1600" dirty="0" err="1"/>
              <a:t>predictive-maintenance-time-series-forecasting</a:t>
            </a:r>
            <a:endParaRPr lang="ru-RU" sz="1600" dirty="0"/>
          </a:p>
        </p:txBody>
      </p:sp>
      <p:pic>
        <p:nvPicPr>
          <p:cNvPr id="4106" name="Picture 10">
            <a:extLst>
              <a:ext uri="{FF2B5EF4-FFF2-40B4-BE49-F238E27FC236}">
                <a16:creationId xmlns:a16="http://schemas.microsoft.com/office/drawing/2014/main" id="{46A5D6CA-CABB-3F75-8643-E90D753594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5875" y="3751889"/>
            <a:ext cx="5841014" cy="290149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9D21E6-5CA5-22F1-6A98-DA6FD3D50335}"/>
              </a:ext>
            </a:extLst>
          </p:cNvPr>
          <p:cNvSpPr txBox="1"/>
          <p:nvPr/>
        </p:nvSpPr>
        <p:spPr>
          <a:xfrm>
            <a:off x="3515710" y="6527032"/>
            <a:ext cx="8460828" cy="338554"/>
          </a:xfrm>
          <a:prstGeom prst="rect">
            <a:avLst/>
          </a:prstGeom>
          <a:noFill/>
        </p:spPr>
        <p:txBody>
          <a:bodyPr wrap="square" rtlCol="0">
            <a:spAutoFit/>
          </a:bodyPr>
          <a:lstStyle/>
          <a:p>
            <a:r>
              <a:rPr lang="en" sz="1600" dirty="0"/>
              <a:t>https://</a:t>
            </a:r>
            <a:r>
              <a:rPr lang="en" sz="1600" dirty="0" err="1"/>
              <a:t>www.kaggle.com</a:t>
            </a:r>
            <a:r>
              <a:rPr lang="en" sz="1600" dirty="0"/>
              <a:t>/code/marianadeem755/forecasting-electricity-by-hour-</a:t>
            </a:r>
            <a:r>
              <a:rPr lang="en" sz="1600" dirty="0" err="1"/>
              <a:t>rnn</a:t>
            </a:r>
            <a:r>
              <a:rPr lang="en" sz="1600" dirty="0"/>
              <a:t>-vs-</a:t>
            </a:r>
            <a:r>
              <a:rPr lang="en" sz="1600" dirty="0" err="1"/>
              <a:t>lstm</a:t>
            </a:r>
            <a:endParaRPr lang="ru-RU" sz="1600" dirty="0"/>
          </a:p>
        </p:txBody>
      </p:sp>
      <p:sp>
        <p:nvSpPr>
          <p:cNvPr id="14" name="TextBox 13">
            <a:extLst>
              <a:ext uri="{FF2B5EF4-FFF2-40B4-BE49-F238E27FC236}">
                <a16:creationId xmlns:a16="http://schemas.microsoft.com/office/drawing/2014/main" id="{15B951A9-E548-2987-1FF2-FFC2E7BB02DF}"/>
              </a:ext>
            </a:extLst>
          </p:cNvPr>
          <p:cNvSpPr txBox="1"/>
          <p:nvPr/>
        </p:nvSpPr>
        <p:spPr>
          <a:xfrm>
            <a:off x="4196042" y="177235"/>
            <a:ext cx="7701730" cy="461665"/>
          </a:xfrm>
          <a:prstGeom prst="rect">
            <a:avLst/>
          </a:prstGeom>
          <a:noFill/>
        </p:spPr>
        <p:txBody>
          <a:bodyPr wrap="square">
            <a:spAutoFit/>
          </a:bodyPr>
          <a:lstStyle/>
          <a:p>
            <a:pPr algn="ctr"/>
            <a:r>
              <a:rPr lang="ru-RU" sz="2400" dirty="0"/>
              <a:t>Анализ состояния агрегатов</a:t>
            </a:r>
          </a:p>
        </p:txBody>
      </p:sp>
      <p:sp>
        <p:nvSpPr>
          <p:cNvPr id="15" name="TextBox 14">
            <a:extLst>
              <a:ext uri="{FF2B5EF4-FFF2-40B4-BE49-F238E27FC236}">
                <a16:creationId xmlns:a16="http://schemas.microsoft.com/office/drawing/2014/main" id="{15B951A9-E548-2987-1FF2-FFC2E7BB02DF}"/>
              </a:ext>
            </a:extLst>
          </p:cNvPr>
          <p:cNvSpPr txBox="1"/>
          <p:nvPr/>
        </p:nvSpPr>
        <p:spPr>
          <a:xfrm>
            <a:off x="3264758" y="4519191"/>
            <a:ext cx="2291468" cy="830997"/>
          </a:xfrm>
          <a:prstGeom prst="rect">
            <a:avLst/>
          </a:prstGeom>
          <a:noFill/>
        </p:spPr>
        <p:txBody>
          <a:bodyPr wrap="square">
            <a:spAutoFit/>
          </a:bodyPr>
          <a:lstStyle/>
          <a:p>
            <a:pPr algn="ctr"/>
            <a:r>
              <a:rPr lang="ru-RU" sz="2400" dirty="0"/>
              <a:t>Потребление электроэнергии</a:t>
            </a:r>
          </a:p>
        </p:txBody>
      </p:sp>
    </p:spTree>
    <p:extLst>
      <p:ext uri="{BB962C8B-B14F-4D97-AF65-F5344CB8AC3E}">
        <p14:creationId xmlns:p14="http://schemas.microsoft.com/office/powerpoint/2010/main" val="16582799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12</a:t>
            </a:fld>
            <a:endParaRPr lang="en-US"/>
          </a:p>
        </p:txBody>
      </p:sp>
      <p:pic>
        <p:nvPicPr>
          <p:cNvPr id="4098" name="Picture 2">
            <a:extLst>
              <a:ext uri="{FF2B5EF4-FFF2-40B4-BE49-F238E27FC236}">
                <a16:creationId xmlns:a16="http://schemas.microsoft.com/office/drawing/2014/main" id="{D5715FC2-9877-6BB3-A1A3-B73F7713E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588" y="2004933"/>
            <a:ext cx="4979734" cy="28021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E9EACB2-D25F-007F-194C-1A1637804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59" y="2004933"/>
            <a:ext cx="5922345" cy="28987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647F85-34C2-9508-2668-1A2E2A0756A1}"/>
              </a:ext>
            </a:extLst>
          </p:cNvPr>
          <p:cNvSpPr txBox="1"/>
          <p:nvPr/>
        </p:nvSpPr>
        <p:spPr>
          <a:xfrm>
            <a:off x="2088932" y="5073908"/>
            <a:ext cx="8668902" cy="338554"/>
          </a:xfrm>
          <a:prstGeom prst="rect">
            <a:avLst/>
          </a:prstGeom>
          <a:noFill/>
        </p:spPr>
        <p:txBody>
          <a:bodyPr wrap="square">
            <a:spAutoFit/>
          </a:bodyPr>
          <a:lstStyle/>
          <a:p>
            <a:r>
              <a:rPr lang="ru-RU" sz="1600" dirty="0" err="1"/>
              <a:t>https</a:t>
            </a:r>
            <a:r>
              <a:rPr lang="ru-RU" sz="1600" dirty="0"/>
              <a:t>://</a:t>
            </a:r>
            <a:r>
              <a:rPr lang="ru-RU" sz="1600" dirty="0" err="1"/>
              <a:t>www.kaggle.com</a:t>
            </a:r>
            <a:r>
              <a:rPr lang="ru-RU" sz="1600" dirty="0"/>
              <a:t>/</a:t>
            </a:r>
            <a:r>
              <a:rPr lang="ru-RU" sz="1600" dirty="0" err="1"/>
              <a:t>datasets</a:t>
            </a:r>
            <a:r>
              <a:rPr lang="ru-RU" sz="1600" dirty="0"/>
              <a:t>/vinayak123tyagi/</a:t>
            </a:r>
            <a:r>
              <a:rPr lang="ru-RU" sz="1600" dirty="0" err="1"/>
              <a:t>bearing-dataset</a:t>
            </a:r>
            <a:r>
              <a:rPr lang="ru-RU" sz="1600" dirty="0"/>
              <a:t>/</a:t>
            </a:r>
            <a:r>
              <a:rPr lang="ru-RU" sz="1600" dirty="0" err="1"/>
              <a:t>code</a:t>
            </a:r>
            <a:endParaRPr lang="ru-RU" sz="1600" dirty="0"/>
          </a:p>
        </p:txBody>
      </p:sp>
      <p:sp>
        <p:nvSpPr>
          <p:cNvPr id="8" name="TextBox 7">
            <a:extLst>
              <a:ext uri="{FF2B5EF4-FFF2-40B4-BE49-F238E27FC236}">
                <a16:creationId xmlns:a16="http://schemas.microsoft.com/office/drawing/2014/main" id="{E78FE65A-3F4E-BBB6-C8ED-B386A57B1A89}"/>
              </a:ext>
            </a:extLst>
          </p:cNvPr>
          <p:cNvSpPr txBox="1"/>
          <p:nvPr/>
        </p:nvSpPr>
        <p:spPr>
          <a:xfrm>
            <a:off x="4556235" y="1719746"/>
            <a:ext cx="6320095" cy="40011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NASA Bearing Dataset</a:t>
            </a:r>
          </a:p>
        </p:txBody>
      </p:sp>
      <p:sp>
        <p:nvSpPr>
          <p:cNvPr id="14" name="TextBox 13">
            <a:extLst>
              <a:ext uri="{FF2B5EF4-FFF2-40B4-BE49-F238E27FC236}">
                <a16:creationId xmlns:a16="http://schemas.microsoft.com/office/drawing/2014/main" id="{E78FE65A-3F4E-BBB6-C8ED-B386A57B1A89}"/>
              </a:ext>
            </a:extLst>
          </p:cNvPr>
          <p:cNvSpPr txBox="1"/>
          <p:nvPr/>
        </p:nvSpPr>
        <p:spPr>
          <a:xfrm>
            <a:off x="4909057" y="1386301"/>
            <a:ext cx="6927429" cy="400110"/>
          </a:xfrm>
          <a:prstGeom prst="rect">
            <a:avLst/>
          </a:prstGeom>
          <a:noFill/>
        </p:spPr>
        <p:txBody>
          <a:bodyPr wrap="square">
            <a:spAutoFit/>
          </a:bodyPr>
          <a:lstStyle/>
          <a:p>
            <a:pPr algn="l" fontAlgn="base">
              <a:lnSpc>
                <a:spcPts val="2400"/>
              </a:lnSpc>
            </a:pPr>
            <a:r>
              <a:rPr lang="ru-RU" b="1" i="0" dirty="0">
                <a:solidFill>
                  <a:srgbClr val="202124"/>
                </a:solidFill>
                <a:effectLst/>
                <a:latin typeface="Inter"/>
              </a:rPr>
              <a:t>Анализ нештатных ситуаций</a:t>
            </a:r>
            <a:endParaRPr lang="en" b="1" i="0" dirty="0">
              <a:solidFill>
                <a:srgbClr val="202124"/>
              </a:solidFill>
              <a:effectLst/>
              <a:latin typeface="Inter"/>
            </a:endParaRPr>
          </a:p>
        </p:txBody>
      </p:sp>
    </p:spTree>
    <p:extLst>
      <p:ext uri="{BB962C8B-B14F-4D97-AF65-F5344CB8AC3E}">
        <p14:creationId xmlns:p14="http://schemas.microsoft.com/office/powerpoint/2010/main" val="2092595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D3AA-6B55-2453-C8F3-2B54669D829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227295-71D9-3F8E-0259-D849AB645564}"/>
              </a:ext>
            </a:extLst>
          </p:cNvPr>
          <p:cNvSpPr>
            <a:spLocks noGrp="1"/>
          </p:cNvSpPr>
          <p:nvPr>
            <p:ph type="ctrTitle"/>
          </p:nvPr>
        </p:nvSpPr>
        <p:spPr>
          <a:xfrm>
            <a:off x="743483" y="934358"/>
            <a:ext cx="10932920" cy="3760935"/>
          </a:xfrm>
        </p:spPr>
        <p:txBody>
          <a:bodyPr>
            <a:normAutofit/>
          </a:bodyPr>
          <a:lstStyle/>
          <a:p>
            <a:r>
              <a:rPr lang="ru-RU" sz="8000" dirty="0"/>
              <a:t>Модель ВР</a:t>
            </a:r>
            <a:endParaRPr lang="en-US" sz="8000" dirty="0"/>
          </a:p>
        </p:txBody>
      </p:sp>
      <p:sp>
        <p:nvSpPr>
          <p:cNvPr id="3" name="Номер слайда 2">
            <a:extLst>
              <a:ext uri="{FF2B5EF4-FFF2-40B4-BE49-F238E27FC236}">
                <a16:creationId xmlns:a16="http://schemas.microsoft.com/office/drawing/2014/main" id="{B56F8058-297C-0037-418E-8CA059D0BE34}"/>
              </a:ext>
            </a:extLst>
          </p:cNvPr>
          <p:cNvSpPr>
            <a:spLocks noGrp="1"/>
          </p:cNvSpPr>
          <p:nvPr>
            <p:ph type="sldNum" sz="quarter" idx="12"/>
          </p:nvPr>
        </p:nvSpPr>
        <p:spPr/>
        <p:txBody>
          <a:bodyPr/>
          <a:lstStyle/>
          <a:p>
            <a:fld id="{45C3B737-A709-4ABC-AFE0-A6B067850C48}" type="slidenum">
              <a:rPr lang="en-US" smtClean="0"/>
              <a:t>13</a:t>
            </a:fld>
            <a:endParaRPr lang="en-US"/>
          </a:p>
        </p:txBody>
      </p:sp>
    </p:spTree>
    <p:extLst>
      <p:ext uri="{BB962C8B-B14F-4D97-AF65-F5344CB8AC3E}">
        <p14:creationId xmlns:p14="http://schemas.microsoft.com/office/powerpoint/2010/main" val="14534820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14</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15</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2">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18</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21</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22</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23</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25</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3523342"/>
          </a:xfrm>
        </p:spPr>
        <p:txBody>
          <a:bodyPr>
            <a:normAutofit/>
          </a:bodyPr>
          <a:lstStyle/>
          <a:p>
            <a:r>
              <a:rPr lang="ru-RU" sz="8000" dirty="0"/>
              <a:t>Постановка задачи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9118097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28D024-4605-8CBD-DFD0-F3F657EDAA48}"/>
              </a:ext>
            </a:extLst>
          </p:cNvPr>
          <p:cNvSpPr>
            <a:spLocks noGrp="1"/>
          </p:cNvSpPr>
          <p:nvPr>
            <p:ph type="title"/>
          </p:nvPr>
        </p:nvSpPr>
        <p:spPr>
          <a:xfrm>
            <a:off x="191069" y="365126"/>
            <a:ext cx="11162731" cy="603866"/>
          </a:xfrm>
        </p:spPr>
        <p:txBody>
          <a:bodyPr>
            <a:normAutofit fontScale="90000"/>
          </a:bodyPr>
          <a:lstStyle/>
          <a:p>
            <a:r>
              <a:rPr lang="ru-RU" dirty="0"/>
              <a:t>Представление ВР</a:t>
            </a:r>
          </a:p>
        </p:txBody>
      </p:sp>
      <p:sp>
        <p:nvSpPr>
          <p:cNvPr id="3" name="Объект 2">
            <a:extLst>
              <a:ext uri="{FF2B5EF4-FFF2-40B4-BE49-F238E27FC236}">
                <a16:creationId xmlns:a16="http://schemas.microsoft.com/office/drawing/2014/main" id="{D1A626E8-756A-B6C0-CE0D-154ECACBDE64}"/>
              </a:ext>
            </a:extLst>
          </p:cNvPr>
          <p:cNvSpPr>
            <a:spLocks noGrp="1"/>
          </p:cNvSpPr>
          <p:nvPr>
            <p:ph idx="1"/>
          </p:nvPr>
        </p:nvSpPr>
        <p:spPr>
          <a:xfrm>
            <a:off x="514633" y="1115941"/>
            <a:ext cx="11162731" cy="4670709"/>
          </a:xfrm>
        </p:spPr>
        <p:txBody>
          <a:bodyPr>
            <a:normAutofit/>
          </a:bodyPr>
          <a:lstStyle/>
          <a:p>
            <a:pPr marL="0" indent="0">
              <a:buNone/>
            </a:pPr>
            <a:r>
              <a:rPr lang="ru-RU" sz="2400" dirty="0"/>
              <a:t>Временной ряд — это список чисел (наблюдений) с информацией о том, когда эти числа были записаны (индекс). Числа могут быть в одном столбце (</a:t>
            </a:r>
            <a:r>
              <a:rPr lang="ru-RU" sz="2400" dirty="0" err="1"/>
              <a:t>однопеременный</a:t>
            </a:r>
            <a:r>
              <a:rPr lang="ru-RU" sz="2400" dirty="0"/>
              <a:t> ВР) или в нескольких (</a:t>
            </a:r>
            <a:r>
              <a:rPr lang="ru-RU" sz="2400" dirty="0" err="1"/>
              <a:t>многопеременный</a:t>
            </a:r>
            <a:r>
              <a:rPr lang="ru-RU" sz="2400" dirty="0"/>
              <a:t> ВР). Иногда существуют дополнительные столбцы с более подробной информацией о наблюдениях, известные как </a:t>
            </a:r>
            <a:r>
              <a:rPr lang="ru-RU" sz="2400" dirty="0" err="1"/>
              <a:t>ковариаты</a:t>
            </a:r>
            <a:r>
              <a:rPr lang="ru-RU" sz="2400" dirty="0"/>
              <a:t> или экзогенные переменные. </a:t>
            </a:r>
          </a:p>
        </p:txBody>
      </p:sp>
      <p:sp>
        <p:nvSpPr>
          <p:cNvPr id="4" name="Номер слайда 3">
            <a:extLst>
              <a:ext uri="{FF2B5EF4-FFF2-40B4-BE49-F238E27FC236}">
                <a16:creationId xmlns:a16="http://schemas.microsoft.com/office/drawing/2014/main" id="{20E8FDC8-D1FC-8C9E-7294-0DEA211E186F}"/>
              </a:ext>
            </a:extLst>
          </p:cNvPr>
          <p:cNvSpPr>
            <a:spLocks noGrp="1"/>
          </p:cNvSpPr>
          <p:nvPr>
            <p:ph type="sldNum" sz="quarter" idx="12"/>
          </p:nvPr>
        </p:nvSpPr>
        <p:spPr/>
        <p:txBody>
          <a:bodyPr/>
          <a:lstStyle/>
          <a:p>
            <a:fld id="{45C3B737-A709-4ABC-AFE0-A6B067850C48}" type="slidenum">
              <a:rPr lang="en-US" smtClean="0"/>
              <a:t>28</a:t>
            </a:fld>
            <a:endParaRPr lang="en-US"/>
          </a:p>
        </p:txBody>
      </p:sp>
      <p:pic>
        <p:nvPicPr>
          <p:cNvPr id="25" name="Рисунок 24">
            <a:extLst>
              <a:ext uri="{FF2B5EF4-FFF2-40B4-BE49-F238E27FC236}">
                <a16:creationId xmlns:a16="http://schemas.microsoft.com/office/drawing/2014/main" id="{B76FF666-AB25-69EA-BF0F-FD8B4CE55525}"/>
              </a:ext>
            </a:extLst>
          </p:cNvPr>
          <p:cNvPicPr>
            <a:picLocks noChangeAspect="1"/>
          </p:cNvPicPr>
          <p:nvPr/>
        </p:nvPicPr>
        <p:blipFill>
          <a:blip r:embed="rId2"/>
          <a:stretch>
            <a:fillRect/>
          </a:stretch>
        </p:blipFill>
        <p:spPr>
          <a:xfrm>
            <a:off x="391688" y="3028213"/>
            <a:ext cx="5940115" cy="2542711"/>
          </a:xfrm>
          <a:prstGeom prst="rect">
            <a:avLst/>
          </a:prstGeom>
        </p:spPr>
      </p:pic>
    </p:spTree>
    <p:extLst>
      <p:ext uri="{BB962C8B-B14F-4D97-AF65-F5344CB8AC3E}">
        <p14:creationId xmlns:p14="http://schemas.microsoft.com/office/powerpoint/2010/main" val="21430364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51751"/>
          </a:xfrm>
        </p:spPr>
        <p:txBody>
          <a:bodyPr>
            <a:normAutofit fontScale="90000"/>
          </a:bodyPr>
          <a:lstStyle/>
          <a:p>
            <a:r>
              <a:rPr lang="ru-RU" dirty="0"/>
              <a:t>Т</a:t>
            </a:r>
            <a:r>
              <a:rPr lang="en-US" dirty="0" err="1"/>
              <a:t>ип</a:t>
            </a:r>
            <a:r>
              <a:rPr lang="ru-RU" dirty="0"/>
              <a:t>ы ВР</a:t>
            </a:r>
            <a:br>
              <a:rPr lang="ru-RU" dirty="0"/>
            </a:br>
            <a:endParaRPr lang="ru-RU" dirty="0"/>
          </a:p>
        </p:txBody>
      </p:sp>
      <p:pic>
        <p:nvPicPr>
          <p:cNvPr id="10246" name="Picture 6">
            <a:extLst>
              <a:ext uri="{FF2B5EF4-FFF2-40B4-BE49-F238E27FC236}">
                <a16:creationId xmlns:a16="http://schemas.microsoft.com/office/drawing/2014/main" id="{C02F706D-4556-CD59-5DD6-64AD296BC17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478973" y="1132763"/>
            <a:ext cx="4212616" cy="35024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DD180F2-529F-8133-D6ED-F9CAB89D8902}"/>
              </a:ext>
            </a:extLst>
          </p:cNvPr>
          <p:cNvSpPr txBox="1"/>
          <p:nvPr/>
        </p:nvSpPr>
        <p:spPr>
          <a:xfrm>
            <a:off x="7314092" y="632673"/>
            <a:ext cx="3558346" cy="584775"/>
          </a:xfrm>
          <a:prstGeom prst="rect">
            <a:avLst/>
          </a:prstGeom>
          <a:noFill/>
        </p:spPr>
        <p:txBody>
          <a:bodyPr wrap="none" rtlCol="0">
            <a:spAutoFit/>
          </a:bodyPr>
          <a:lstStyle/>
          <a:p>
            <a:r>
              <a:rPr lang="ru-RU" sz="3200" dirty="0" err="1"/>
              <a:t>Многопеременные</a:t>
            </a:r>
            <a:endParaRPr lang="ru-RU" sz="3200" dirty="0"/>
          </a:p>
        </p:txBody>
      </p:sp>
      <p:pic>
        <p:nvPicPr>
          <p:cNvPr id="17"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7448"/>
            <a:ext cx="3194531" cy="31088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DD180F2-529F-8133-D6ED-F9CAB89D8902}"/>
              </a:ext>
            </a:extLst>
          </p:cNvPr>
          <p:cNvSpPr txBox="1"/>
          <p:nvPr/>
        </p:nvSpPr>
        <p:spPr>
          <a:xfrm>
            <a:off x="344748" y="595148"/>
            <a:ext cx="3345147" cy="584775"/>
          </a:xfrm>
          <a:prstGeom prst="rect">
            <a:avLst/>
          </a:prstGeom>
          <a:noFill/>
        </p:spPr>
        <p:txBody>
          <a:bodyPr wrap="none" rtlCol="0">
            <a:spAutoFit/>
          </a:bodyPr>
          <a:lstStyle/>
          <a:p>
            <a:r>
              <a:rPr lang="ru-RU" sz="3200" dirty="0" err="1"/>
              <a:t>Однопеременные</a:t>
            </a:r>
            <a:endParaRPr lang="ru-RU" sz="3200" dirty="0"/>
          </a:p>
        </p:txBody>
      </p:sp>
      <p:pic>
        <p:nvPicPr>
          <p:cNvPr id="3" name="Рисунок 2">
            <a:extLst>
              <a:ext uri="{FF2B5EF4-FFF2-40B4-BE49-F238E27FC236}">
                <a16:creationId xmlns:a16="http://schemas.microsoft.com/office/drawing/2014/main" id="{5168CFFE-8428-D4A6-71E0-8396480A6443}"/>
              </a:ext>
            </a:extLst>
          </p:cNvPr>
          <p:cNvPicPr>
            <a:picLocks noChangeAspect="1"/>
          </p:cNvPicPr>
          <p:nvPr/>
        </p:nvPicPr>
        <p:blipFill>
          <a:blip r:embed="rId5"/>
          <a:srcRect b="56643"/>
          <a:stretch>
            <a:fillRect/>
          </a:stretch>
        </p:blipFill>
        <p:spPr>
          <a:xfrm>
            <a:off x="1630247" y="4711699"/>
            <a:ext cx="7741822" cy="1857706"/>
          </a:xfrm>
          <a:prstGeom prst="rect">
            <a:avLst/>
          </a:prstGeom>
        </p:spPr>
      </p:pic>
    </p:spTree>
    <p:extLst>
      <p:ext uri="{BB962C8B-B14F-4D97-AF65-F5344CB8AC3E}">
        <p14:creationId xmlns:p14="http://schemas.microsoft.com/office/powerpoint/2010/main" val="2499459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BEFC-227C-F3A5-6BF7-0EDC5199E1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73508C-9B06-9D83-FA2F-0D3110DF0AFA}"/>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3" name="Объект 2">
            <a:extLst>
              <a:ext uri="{FF2B5EF4-FFF2-40B4-BE49-F238E27FC236}">
                <a16:creationId xmlns:a16="http://schemas.microsoft.com/office/drawing/2014/main" id="{D7CEC062-D60A-AFC8-0F6D-C2BF7E437867}"/>
              </a:ext>
            </a:extLst>
          </p:cNvPr>
          <p:cNvSpPr>
            <a:spLocks noGrp="1"/>
          </p:cNvSpPr>
          <p:nvPr>
            <p:ph idx="1"/>
          </p:nvPr>
        </p:nvSpPr>
        <p:spPr>
          <a:xfrm>
            <a:off x="285749" y="1277897"/>
            <a:ext cx="11634501" cy="4351338"/>
          </a:xfrm>
        </p:spPr>
        <p:txBody>
          <a:bodyPr>
            <a:normAutofit/>
          </a:bodyPr>
          <a:lstStyle/>
          <a:p>
            <a:r>
              <a:rPr lang="ru-RU" sz="2200" b="1" dirty="0"/>
              <a:t>Экзогенные факторы </a:t>
            </a:r>
            <a:r>
              <a:rPr lang="ru-RU" sz="2200" dirty="0"/>
              <a:t>— это переменные, которые влияют на исследуемый ВР , но не зависят от него. Эти факторы могут быть использованы для объяснения изменений в зависимой переменной. Напр. Влияние природных катастроф на прогноз урожайности зерна</a:t>
            </a:r>
          </a:p>
          <a:p>
            <a:r>
              <a:rPr lang="ru-RU" sz="2200" b="1" dirty="0" err="1"/>
              <a:t>Многопеременные</a:t>
            </a:r>
            <a:r>
              <a:rPr lang="ru-RU" sz="2200" b="1" dirty="0"/>
              <a:t> временные ряды </a:t>
            </a:r>
            <a:r>
              <a:rPr lang="ru-RU" sz="2200" dirty="0"/>
              <a:t>представляют собой набор ВР, собранных в течение времени, где несколько переменных наблюдаются одновременно и все важны. ВР могут быть как эндогенными (зависимыми), так и экзогенными!</a:t>
            </a:r>
          </a:p>
        </p:txBody>
      </p:sp>
      <p:sp>
        <p:nvSpPr>
          <p:cNvPr id="4" name="Номер слайда 3">
            <a:extLst>
              <a:ext uri="{FF2B5EF4-FFF2-40B4-BE49-F238E27FC236}">
                <a16:creationId xmlns:a16="http://schemas.microsoft.com/office/drawing/2014/main" id="{13EE6F89-EBA7-EB60-3D8B-BA18FD66840D}"/>
              </a:ext>
            </a:extLst>
          </p:cNvPr>
          <p:cNvSpPr>
            <a:spLocks noGrp="1"/>
          </p:cNvSpPr>
          <p:nvPr>
            <p:ph type="sldNum" sz="quarter" idx="12"/>
          </p:nvPr>
        </p:nvSpPr>
        <p:spPr/>
        <p:txBody>
          <a:bodyPr/>
          <a:lstStyle/>
          <a:p>
            <a:fld id="{45C3B737-A709-4ABC-AFE0-A6B067850C48}" type="slidenum">
              <a:rPr lang="en-US" smtClean="0"/>
              <a:t>30</a:t>
            </a:fld>
            <a:endParaRPr lang="en-US"/>
          </a:p>
        </p:txBody>
      </p:sp>
      <p:sp>
        <p:nvSpPr>
          <p:cNvPr id="7" name="TextBox 6">
            <a:extLst>
              <a:ext uri="{FF2B5EF4-FFF2-40B4-BE49-F238E27FC236}">
                <a16:creationId xmlns:a16="http://schemas.microsoft.com/office/drawing/2014/main" id="{F675B6E4-D643-B929-7BB1-F8890A822031}"/>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7FF5DD3F-6A24-7192-B5D7-62856EC6C547}"/>
              </a:ext>
            </a:extLst>
          </p:cNvPr>
          <p:cNvSpPr txBox="1"/>
          <p:nvPr/>
        </p:nvSpPr>
        <p:spPr>
          <a:xfrm>
            <a:off x="285749" y="3303885"/>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a:extLst>
              <a:ext uri="{FF2B5EF4-FFF2-40B4-BE49-F238E27FC236}">
                <a16:creationId xmlns:a16="http://schemas.microsoft.com/office/drawing/2014/main" id="{D93BA4B2-C05F-1DD9-686F-3807EB25E42F}"/>
              </a:ext>
            </a:extLst>
          </p:cNvPr>
          <p:cNvPicPr>
            <a:picLocks noChangeAspect="1"/>
          </p:cNvPicPr>
          <p:nvPr/>
        </p:nvPicPr>
        <p:blipFill>
          <a:blip r:embed="rId2"/>
          <a:srcRect r="57807" b="56643"/>
          <a:stretch>
            <a:fillRect/>
          </a:stretch>
        </p:blipFill>
        <p:spPr>
          <a:xfrm>
            <a:off x="776656" y="4227215"/>
            <a:ext cx="4481144" cy="2548496"/>
          </a:xfrm>
          <a:prstGeom prst="rect">
            <a:avLst/>
          </a:prstGeom>
        </p:spPr>
      </p:pic>
      <p:pic>
        <p:nvPicPr>
          <p:cNvPr id="8" name="Рисунок 7">
            <a:extLst>
              <a:ext uri="{FF2B5EF4-FFF2-40B4-BE49-F238E27FC236}">
                <a16:creationId xmlns:a16="http://schemas.microsoft.com/office/drawing/2014/main" id="{13BCEB44-5DE6-9EEE-6D21-7B224F0F9F63}"/>
              </a:ext>
            </a:extLst>
          </p:cNvPr>
          <p:cNvPicPr>
            <a:picLocks noChangeAspect="1"/>
          </p:cNvPicPr>
          <p:nvPr/>
        </p:nvPicPr>
        <p:blipFill>
          <a:blip r:embed="rId2"/>
          <a:srcRect l="40745" b="56643"/>
          <a:stretch>
            <a:fillRect/>
          </a:stretch>
        </p:blipFill>
        <p:spPr>
          <a:xfrm>
            <a:off x="6731914" y="3953357"/>
            <a:ext cx="5679243" cy="2299846"/>
          </a:xfrm>
          <a:prstGeom prst="rect">
            <a:avLst/>
          </a:prstGeom>
        </p:spPr>
      </p:pic>
    </p:spTree>
    <p:extLst>
      <p:ext uri="{BB962C8B-B14F-4D97-AF65-F5344CB8AC3E}">
        <p14:creationId xmlns:p14="http://schemas.microsoft.com/office/powerpoint/2010/main" val="20836837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35985"/>
          </a:xfrm>
        </p:spPr>
        <p:txBody>
          <a:bodyPr>
            <a:normAutofit fontScale="90000"/>
          </a:bodyPr>
          <a:lstStyle/>
          <a:p>
            <a:r>
              <a:rPr lang="ru-RU" dirty="0"/>
              <a:t>Т</a:t>
            </a:r>
            <a:r>
              <a:rPr lang="en-US" dirty="0" err="1"/>
              <a:t>ип</a:t>
            </a:r>
            <a:r>
              <a:rPr lang="ru-RU" dirty="0"/>
              <a:t>ы ВР</a:t>
            </a:r>
          </a:p>
        </p:txBody>
      </p:sp>
      <p:sp>
        <p:nvSpPr>
          <p:cNvPr id="4" name="Номер слайда 3">
            <a:extLst>
              <a:ext uri="{FF2B5EF4-FFF2-40B4-BE49-F238E27FC236}">
                <a16:creationId xmlns:a16="http://schemas.microsoft.com/office/drawing/2014/main" id="{A897C984-0204-5E9E-457A-DB6BF60E8DBB}"/>
              </a:ext>
            </a:extLst>
          </p:cNvPr>
          <p:cNvSpPr>
            <a:spLocks noGrp="1"/>
          </p:cNvSpPr>
          <p:nvPr>
            <p:ph type="sldNum" sz="quarter" idx="12"/>
          </p:nvPr>
        </p:nvSpPr>
        <p:spPr/>
        <p:txBody>
          <a:bodyPr/>
          <a:lstStyle/>
          <a:p>
            <a:fld id="{45C3B737-A709-4ABC-AFE0-A6B067850C48}" type="slidenum">
              <a:rPr lang="en-US" smtClean="0"/>
              <a:t>31</a:t>
            </a:fld>
            <a:endParaRPr lang="en-US"/>
          </a:p>
        </p:txBody>
      </p:sp>
      <p:pic>
        <p:nvPicPr>
          <p:cNvPr id="10242"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2438"/>
          <a:stretch/>
        </p:blipFill>
        <p:spPr bwMode="auto">
          <a:xfrm>
            <a:off x="220957" y="4225111"/>
            <a:ext cx="5723919" cy="19048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omestic overnight trips from 1998 Q1 to 2017 Q4 aggregated by state.">
            <a:extLst>
              <a:ext uri="{FF2B5EF4-FFF2-40B4-BE49-F238E27FC236}">
                <a16:creationId xmlns:a16="http://schemas.microsoft.com/office/drawing/2014/main" id="{8752192F-3E0C-4DA2-D03D-FBEC53D83EFC}"/>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7407104" y="733478"/>
            <a:ext cx="4543425" cy="3179073"/>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10511C68-A550-B13E-2B5E-F7BFF87619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287" y="1196087"/>
            <a:ext cx="5337258" cy="2424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9B5CB3-C5D8-FC49-493B-E9A614063352}"/>
              </a:ext>
            </a:extLst>
          </p:cNvPr>
          <p:cNvSpPr txBox="1"/>
          <p:nvPr/>
        </p:nvSpPr>
        <p:spPr>
          <a:xfrm>
            <a:off x="314395" y="6416642"/>
            <a:ext cx="6096000" cy="369332"/>
          </a:xfrm>
          <a:prstGeom prst="rect">
            <a:avLst/>
          </a:prstGeom>
          <a:noFill/>
        </p:spPr>
        <p:txBody>
          <a:bodyPr wrap="square">
            <a:spAutoFit/>
          </a:bodyPr>
          <a:lstStyle/>
          <a:p>
            <a:r>
              <a:rPr lang="ru-RU" dirty="0" err="1"/>
              <a:t>https</a:t>
            </a:r>
            <a:r>
              <a:rPr lang="ru-RU" dirty="0"/>
              <a:t>://</a:t>
            </a:r>
            <a:r>
              <a:rPr lang="ru-RU" dirty="0" err="1"/>
              <a:t>skforecast.org</a:t>
            </a:r>
            <a:r>
              <a:rPr lang="ru-RU" dirty="0"/>
              <a:t>/0.9.1/</a:t>
            </a:r>
            <a:r>
              <a:rPr lang="ru-RU" dirty="0" err="1"/>
              <a:t>user_guides</a:t>
            </a:r>
            <a:r>
              <a:rPr lang="ru-RU" dirty="0"/>
              <a:t>/</a:t>
            </a:r>
            <a:r>
              <a:rPr lang="ru-RU" dirty="0" err="1"/>
              <a:t>exogenous-variables</a:t>
            </a:r>
            <a:endParaRPr lang="ru-RU" dirty="0"/>
          </a:p>
        </p:txBody>
      </p:sp>
      <p:sp>
        <p:nvSpPr>
          <p:cNvPr id="9" name="TextBox 8">
            <a:extLst>
              <a:ext uri="{FF2B5EF4-FFF2-40B4-BE49-F238E27FC236}">
                <a16:creationId xmlns:a16="http://schemas.microsoft.com/office/drawing/2014/main" id="{9DB15D93-B070-B175-224E-D9C630C8F652}"/>
              </a:ext>
            </a:extLst>
          </p:cNvPr>
          <p:cNvSpPr txBox="1"/>
          <p:nvPr/>
        </p:nvSpPr>
        <p:spPr>
          <a:xfrm>
            <a:off x="360278" y="3552040"/>
            <a:ext cx="4361957" cy="461665"/>
          </a:xfrm>
          <a:prstGeom prst="rect">
            <a:avLst/>
          </a:prstGeom>
          <a:noFill/>
        </p:spPr>
        <p:txBody>
          <a:bodyPr wrap="square">
            <a:spAutoFit/>
          </a:bodyPr>
          <a:lstStyle/>
          <a:p>
            <a:r>
              <a:rPr lang="ru-RU" sz="1200" dirty="0" err="1"/>
              <a:t>https</a:t>
            </a:r>
            <a:r>
              <a:rPr lang="ru-RU" sz="1200" dirty="0"/>
              <a:t>://</a:t>
            </a:r>
            <a:r>
              <a:rPr lang="ru-RU" sz="1200" dirty="0" err="1"/>
              <a:t>nixtlaverse.nixtla.io</a:t>
            </a:r>
            <a:r>
              <a:rPr lang="ru-RU" sz="1200" dirty="0"/>
              <a:t>/</a:t>
            </a:r>
            <a:r>
              <a:rPr lang="ru-RU" sz="1200" dirty="0" err="1"/>
              <a:t>statsforecast</a:t>
            </a:r>
            <a:r>
              <a:rPr lang="ru-RU" sz="1200" dirty="0"/>
              <a:t>/</a:t>
            </a:r>
            <a:r>
              <a:rPr lang="ru-RU" sz="1200" dirty="0" err="1"/>
              <a:t>docs</a:t>
            </a:r>
            <a:r>
              <a:rPr lang="ru-RU" sz="1200" dirty="0"/>
              <a:t>/</a:t>
            </a:r>
            <a:r>
              <a:rPr lang="ru-RU" sz="1200" dirty="0" err="1"/>
              <a:t>getting-started</a:t>
            </a:r>
            <a:r>
              <a:rPr lang="ru-RU" sz="1200" dirty="0"/>
              <a:t>/</a:t>
            </a:r>
            <a:r>
              <a:rPr lang="ru-RU" sz="1200" dirty="0" err="1"/>
              <a:t>getting_started_complete.html</a:t>
            </a:r>
            <a:endParaRPr lang="ru-RU" sz="1200" dirty="0"/>
          </a:p>
        </p:txBody>
      </p:sp>
      <p:sp>
        <p:nvSpPr>
          <p:cNvPr id="11" name="TextBox 10">
            <a:extLst>
              <a:ext uri="{FF2B5EF4-FFF2-40B4-BE49-F238E27FC236}">
                <a16:creationId xmlns:a16="http://schemas.microsoft.com/office/drawing/2014/main" id="{F47B8200-609C-D942-9532-F2B9131EA38B}"/>
              </a:ext>
            </a:extLst>
          </p:cNvPr>
          <p:cNvSpPr txBox="1"/>
          <p:nvPr/>
        </p:nvSpPr>
        <p:spPr>
          <a:xfrm>
            <a:off x="7729983" y="6471885"/>
            <a:ext cx="4504434"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hierarchical.html</a:t>
            </a:r>
            <a:endParaRPr lang="ru-RU" dirty="0"/>
          </a:p>
        </p:txBody>
      </p:sp>
      <p:sp>
        <p:nvSpPr>
          <p:cNvPr id="15" name="TextBox 14">
            <a:extLst>
              <a:ext uri="{FF2B5EF4-FFF2-40B4-BE49-F238E27FC236}">
                <a16:creationId xmlns:a16="http://schemas.microsoft.com/office/drawing/2014/main" id="{E2C46EB7-BE7A-D002-B7F0-4807AD04A4E7}"/>
              </a:ext>
            </a:extLst>
          </p:cNvPr>
          <p:cNvSpPr txBox="1"/>
          <p:nvPr/>
        </p:nvSpPr>
        <p:spPr>
          <a:xfrm>
            <a:off x="1067674" y="939054"/>
            <a:ext cx="2802242" cy="369332"/>
          </a:xfrm>
          <a:prstGeom prst="rect">
            <a:avLst/>
          </a:prstGeom>
          <a:noFill/>
        </p:spPr>
        <p:txBody>
          <a:bodyPr wrap="none" rtlCol="0">
            <a:spAutoFit/>
          </a:bodyPr>
          <a:lstStyle/>
          <a:p>
            <a:r>
              <a:rPr lang="ru-RU" dirty="0"/>
              <a:t>С экзогенными факторами</a:t>
            </a:r>
          </a:p>
        </p:txBody>
      </p:sp>
      <p:sp>
        <p:nvSpPr>
          <p:cNvPr id="16" name="TextBox 15">
            <a:extLst>
              <a:ext uri="{FF2B5EF4-FFF2-40B4-BE49-F238E27FC236}">
                <a16:creationId xmlns:a16="http://schemas.microsoft.com/office/drawing/2014/main" id="{A5A3A064-722F-1173-7178-CC7ABCFEE11E}"/>
              </a:ext>
            </a:extLst>
          </p:cNvPr>
          <p:cNvSpPr txBox="1"/>
          <p:nvPr/>
        </p:nvSpPr>
        <p:spPr>
          <a:xfrm>
            <a:off x="8680581" y="401771"/>
            <a:ext cx="1694053" cy="369332"/>
          </a:xfrm>
          <a:prstGeom prst="rect">
            <a:avLst/>
          </a:prstGeom>
          <a:noFill/>
        </p:spPr>
        <p:txBody>
          <a:bodyPr wrap="none" rtlCol="0">
            <a:spAutoFit/>
          </a:bodyPr>
          <a:lstStyle/>
          <a:p>
            <a:r>
              <a:rPr lang="ru-RU" dirty="0"/>
              <a:t>Иерархические</a:t>
            </a:r>
          </a:p>
        </p:txBody>
      </p:sp>
      <p:pic>
        <p:nvPicPr>
          <p:cNvPr id="17"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7" t="47981" r="-317" b="373"/>
          <a:stretch/>
        </p:blipFill>
        <p:spPr bwMode="auto">
          <a:xfrm>
            <a:off x="6132889" y="4171031"/>
            <a:ext cx="5817640" cy="210227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5A3A064-722F-1173-7178-CC7ABCFEE11E}"/>
              </a:ext>
            </a:extLst>
          </p:cNvPr>
          <p:cNvSpPr txBox="1"/>
          <p:nvPr/>
        </p:nvSpPr>
        <p:spPr>
          <a:xfrm>
            <a:off x="3827655" y="3815303"/>
            <a:ext cx="1234505" cy="369332"/>
          </a:xfrm>
          <a:prstGeom prst="rect">
            <a:avLst/>
          </a:prstGeom>
          <a:noFill/>
        </p:spPr>
        <p:txBody>
          <a:bodyPr wrap="none" rtlCol="0">
            <a:spAutoFit/>
          </a:bodyPr>
          <a:lstStyle/>
          <a:p>
            <a:r>
              <a:rPr lang="ru-RU" dirty="0"/>
              <a:t>Групповые</a:t>
            </a:r>
          </a:p>
        </p:txBody>
      </p:sp>
      <p:cxnSp>
        <p:nvCxnSpPr>
          <p:cNvPr id="5" name="Прямая со стрелкой 4">
            <a:extLst>
              <a:ext uri="{FF2B5EF4-FFF2-40B4-BE49-F238E27FC236}">
                <a16:creationId xmlns:a16="http://schemas.microsoft.com/office/drawing/2014/main" id="{5B24DFDA-344A-4643-1C06-E6CA58470153}"/>
              </a:ext>
            </a:extLst>
          </p:cNvPr>
          <p:cNvCxnSpPr>
            <a:endCxn id="10242" idx="3"/>
          </p:cNvCxnSpPr>
          <p:nvPr/>
        </p:nvCxnSpPr>
        <p:spPr>
          <a:xfrm>
            <a:off x="5062160" y="5177543"/>
            <a:ext cx="882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281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AF81-22EA-22EF-A294-14B499CC3F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B5D777-43A0-916E-A65E-D500F8D94404}"/>
              </a:ext>
            </a:extLst>
          </p:cNvPr>
          <p:cNvSpPr>
            <a:spLocks noGrp="1"/>
          </p:cNvSpPr>
          <p:nvPr>
            <p:ph type="title"/>
          </p:nvPr>
        </p:nvSpPr>
        <p:spPr>
          <a:xfrm>
            <a:off x="285750" y="181911"/>
            <a:ext cx="11068050" cy="864631"/>
          </a:xfrm>
        </p:spPr>
        <p:txBody>
          <a:bodyPr/>
          <a:lstStyle/>
          <a:p>
            <a:r>
              <a:rPr lang="ru-RU" dirty="0"/>
              <a:t>Некоторые типы ВР</a:t>
            </a:r>
          </a:p>
        </p:txBody>
      </p:sp>
      <p:sp>
        <p:nvSpPr>
          <p:cNvPr id="3" name="Объект 2">
            <a:extLst>
              <a:ext uri="{FF2B5EF4-FFF2-40B4-BE49-F238E27FC236}">
                <a16:creationId xmlns:a16="http://schemas.microsoft.com/office/drawing/2014/main" id="{1E05B2E4-704A-4B04-3172-D5182EE9D708}"/>
              </a:ext>
            </a:extLst>
          </p:cNvPr>
          <p:cNvSpPr>
            <a:spLocks noGrp="1"/>
          </p:cNvSpPr>
          <p:nvPr>
            <p:ph idx="1"/>
          </p:nvPr>
        </p:nvSpPr>
        <p:spPr>
          <a:xfrm>
            <a:off x="271749" y="870271"/>
            <a:ext cx="11634501" cy="5507195"/>
          </a:xfrm>
        </p:spPr>
        <p:txBody>
          <a:bodyPr>
            <a:noAutofit/>
          </a:bodyPr>
          <a:lstStyle/>
          <a:p>
            <a:r>
              <a:rPr lang="ru-RU" sz="2200" b="1" dirty="0" err="1"/>
              <a:t>Однопеременные</a:t>
            </a:r>
            <a:r>
              <a:rPr lang="ru-RU" sz="2200" b="1" dirty="0"/>
              <a:t> временные ряды (ВР) </a:t>
            </a:r>
            <a:r>
              <a:rPr lang="ru-RU" sz="2200" dirty="0"/>
              <a:t>— это последовательности значений одной переменной, зафиксированных в различные моменты времени. </a:t>
            </a:r>
            <a:r>
              <a:rPr lang="ru-RU" sz="2200" b="1" dirty="0"/>
              <a:t>Цель</a:t>
            </a:r>
            <a:r>
              <a:rPr lang="ru-RU" sz="2200" dirty="0"/>
              <a:t>, напр. Предсказать </a:t>
            </a:r>
            <a:r>
              <a:rPr lang="ru-RU" sz="2200" dirty="0" err="1"/>
              <a:t>следущее</a:t>
            </a:r>
            <a:r>
              <a:rPr lang="ru-RU" sz="2200" dirty="0"/>
              <a:t> значение переменной</a:t>
            </a:r>
          </a:p>
          <a:p>
            <a:r>
              <a:rPr lang="ru-RU" sz="2200" b="1" dirty="0"/>
              <a:t>Экзогенные факторы </a:t>
            </a:r>
            <a:r>
              <a:rPr lang="ru-RU" sz="2200" dirty="0"/>
              <a:t>— это внешние переменные, влияющие на исследуемый ВР, но не зависящие от него. </a:t>
            </a:r>
            <a:r>
              <a:rPr lang="ru-RU" sz="2200" b="1" dirty="0"/>
              <a:t>Цель -</a:t>
            </a:r>
            <a:r>
              <a:rPr lang="ru-RU" sz="2200" dirty="0"/>
              <a:t> объяснение изменений в зависимой переменной (доп. внешняя информация).</a:t>
            </a:r>
          </a:p>
          <a:p>
            <a:r>
              <a:rPr lang="ru-RU" sz="2200" b="1" dirty="0" err="1"/>
              <a:t>Многопеременные</a:t>
            </a:r>
            <a:r>
              <a:rPr lang="ru-RU" sz="2200" b="1" dirty="0"/>
              <a:t> временные ряды </a:t>
            </a:r>
            <a:r>
              <a:rPr lang="ru-RU" sz="2200" dirty="0"/>
              <a:t>- совокупность нескольких переменных, наблюдаемых одновременно во времени. В их состав могут входить как эндогенные (зависимые), так и экзогенные (независимые) переменные. </a:t>
            </a:r>
            <a:r>
              <a:rPr lang="ru-RU" sz="2200" b="1" dirty="0"/>
              <a:t>Цель</a:t>
            </a:r>
            <a:r>
              <a:rPr lang="ru-RU" sz="2200" dirty="0"/>
              <a:t> – учет взаимного влияния ВР при анализе.</a:t>
            </a:r>
          </a:p>
          <a:p>
            <a:r>
              <a:rPr lang="ru-RU" sz="2200" b="1" dirty="0"/>
              <a:t>Иерархические временные ряды </a:t>
            </a:r>
            <a:r>
              <a:rPr lang="ru-RU" sz="2200" dirty="0"/>
              <a:t>— это структуры данных, в которых временные ряды организованы по уровням агрегации (например, по регионам, странам, континентам). Анализ может проводиться как на уровне отдельных элементов, так и на уровне всей иерархии. </a:t>
            </a:r>
            <a:r>
              <a:rPr lang="ru-RU" sz="2200" b="1" dirty="0"/>
              <a:t>Цель –</a:t>
            </a:r>
            <a:r>
              <a:rPr lang="ru-RU" sz="2200" dirty="0"/>
              <a:t> анализ на разных уровнях агрегации</a:t>
            </a:r>
          </a:p>
          <a:p>
            <a:r>
              <a:rPr lang="ru-RU" sz="2200" b="1" dirty="0"/>
              <a:t>Групповые временные ряды </a:t>
            </a:r>
            <a:r>
              <a:rPr lang="ru-RU" sz="2200" dirty="0"/>
              <a:t>— это наборы временных рядов, объединённых по определённому критерию (например, продажи товаров в одной категории), без строго иерархической зависимости. </a:t>
            </a:r>
            <a:r>
              <a:rPr lang="ru-RU" sz="2200" b="1" dirty="0"/>
              <a:t>Цель - </a:t>
            </a:r>
            <a:r>
              <a:rPr lang="ru-RU" sz="2200" dirty="0"/>
              <a:t>анализа общих тенденций в группе.</a:t>
            </a:r>
          </a:p>
        </p:txBody>
      </p:sp>
      <p:sp>
        <p:nvSpPr>
          <p:cNvPr id="4" name="Номер слайда 3">
            <a:extLst>
              <a:ext uri="{FF2B5EF4-FFF2-40B4-BE49-F238E27FC236}">
                <a16:creationId xmlns:a16="http://schemas.microsoft.com/office/drawing/2014/main" id="{52356ACC-386C-A7B5-DEC6-CF80F2F623FC}"/>
              </a:ext>
            </a:extLst>
          </p:cNvPr>
          <p:cNvSpPr>
            <a:spLocks noGrp="1"/>
          </p:cNvSpPr>
          <p:nvPr>
            <p:ph type="sldNum" sz="quarter" idx="12"/>
          </p:nvPr>
        </p:nvSpPr>
        <p:spPr/>
        <p:txBody>
          <a:bodyPr/>
          <a:lstStyle/>
          <a:p>
            <a:fld id="{45C3B737-A709-4ABC-AFE0-A6B067850C48}" type="slidenum">
              <a:rPr lang="en-US" smtClean="0"/>
              <a:t>32</a:t>
            </a:fld>
            <a:endParaRPr lang="en-US"/>
          </a:p>
        </p:txBody>
      </p:sp>
      <p:sp>
        <p:nvSpPr>
          <p:cNvPr id="7" name="TextBox 6">
            <a:extLst>
              <a:ext uri="{FF2B5EF4-FFF2-40B4-BE49-F238E27FC236}">
                <a16:creationId xmlns:a16="http://schemas.microsoft.com/office/drawing/2014/main" id="{2AAC224D-2950-867C-AE6C-3A69408E1DF7}"/>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Tree>
    <p:extLst>
      <p:ext uri="{BB962C8B-B14F-4D97-AF65-F5344CB8AC3E}">
        <p14:creationId xmlns:p14="http://schemas.microsoft.com/office/powerpoint/2010/main" val="4738610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863240-7081-E76A-ACCD-B5BA5DC066E0}"/>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4" name="Номер слайда 3">
            <a:extLst>
              <a:ext uri="{FF2B5EF4-FFF2-40B4-BE49-F238E27FC236}">
                <a16:creationId xmlns:a16="http://schemas.microsoft.com/office/drawing/2014/main" id="{6601DB23-2F3F-9FA2-A9CF-B17E2699F010}"/>
              </a:ext>
            </a:extLst>
          </p:cNvPr>
          <p:cNvSpPr>
            <a:spLocks noGrp="1"/>
          </p:cNvSpPr>
          <p:nvPr>
            <p:ph type="sldNum" sz="quarter" idx="12"/>
          </p:nvPr>
        </p:nvSpPr>
        <p:spPr/>
        <p:txBody>
          <a:bodyPr/>
          <a:lstStyle/>
          <a:p>
            <a:fld id="{45C3B737-A709-4ABC-AFE0-A6B067850C48}" type="slidenum">
              <a:rPr lang="en-US" smtClean="0"/>
              <a:t>33</a:t>
            </a:fld>
            <a:endParaRPr lang="en-US"/>
          </a:p>
        </p:txBody>
      </p:sp>
      <p:sp>
        <p:nvSpPr>
          <p:cNvPr id="7" name="TextBox 6">
            <a:extLst>
              <a:ext uri="{FF2B5EF4-FFF2-40B4-BE49-F238E27FC236}">
                <a16:creationId xmlns:a16="http://schemas.microsoft.com/office/drawing/2014/main" id="{B4C891B2-62E7-871D-CF4F-05D6CA6E0463}"/>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2F93277A-2E85-0A4A-28D8-2C1C6CDC5441}"/>
              </a:ext>
            </a:extLst>
          </p:cNvPr>
          <p:cNvSpPr txBox="1"/>
          <p:nvPr/>
        </p:nvSpPr>
        <p:spPr>
          <a:xfrm>
            <a:off x="0" y="1033541"/>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p:cNvPicPr>
            <a:picLocks noChangeAspect="1"/>
          </p:cNvPicPr>
          <p:nvPr/>
        </p:nvPicPr>
        <p:blipFill>
          <a:blip r:embed="rId2"/>
          <a:stretch>
            <a:fillRect/>
          </a:stretch>
        </p:blipFill>
        <p:spPr>
          <a:xfrm>
            <a:off x="2408018" y="2046335"/>
            <a:ext cx="7741822" cy="4284691"/>
          </a:xfrm>
          <a:prstGeom prst="rect">
            <a:avLst/>
          </a:prstGeom>
        </p:spPr>
      </p:pic>
    </p:spTree>
    <p:extLst>
      <p:ext uri="{BB962C8B-B14F-4D97-AF65-F5344CB8AC3E}">
        <p14:creationId xmlns:p14="http://schemas.microsoft.com/office/powerpoint/2010/main" val="34217304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smtClean="0"/>
              <a:t>Представление Временных рядов</a:t>
            </a:r>
            <a:endParaRPr lang="ru-RU" dirty="0"/>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34</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41132407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a:t>
            </a:r>
            <a:r>
              <a:rPr lang="ru-RU" sz="2400" dirty="0" smtClean="0"/>
              <a:t>ВР</a:t>
            </a:r>
            <a:r>
              <a:rPr lang="en-US" sz="2400" dirty="0" smtClean="0"/>
              <a:t>/</a:t>
            </a:r>
            <a:r>
              <a:rPr lang="ru-RU" sz="2400" dirty="0" smtClean="0"/>
              <a:t>Казуальный </a:t>
            </a:r>
            <a:r>
              <a:rPr lang="ru-RU" sz="2400" dirty="0"/>
              <a:t>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35</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35672334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36</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1649520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37</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301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38</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24317761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smtClean="0"/>
              <a:t>Задачи предсказания временных рядов</a:t>
            </a:r>
            <a:r>
              <a:rPr lang="en-US" b="1" dirty="0" err="1" smtClean="0"/>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39</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smtClean="0"/>
              <a:t>Точечный прогноз </a:t>
            </a:r>
            <a:r>
              <a:rPr lang="ru-RU" sz="2000" dirty="0" smtClean="0"/>
              <a:t>- Самый простой случай, когда требуется узнать конкретное значение показателя в зависимости от периода. </a:t>
            </a:r>
            <a:endParaRPr lang="ru-RU" sz="2000" dirty="0"/>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a:t>
                </a:r>
                <a:r>
                  <a:rPr lang="ru-RU" sz="2000" dirty="0" smtClean="0"/>
                  <a:t>распределения</a:t>
                </a:r>
                <a:r>
                  <a:rPr lang="en-US" sz="2000" dirty="0" smtClean="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9478900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endParaRPr lang="ru-RU" sz="2400" dirty="0" smtClean="0"/>
          </a:p>
          <a:p>
            <a:pPr lvl="1"/>
            <a:r>
              <a:rPr lang="ru-RU" sz="2000" b="1" dirty="0" smtClean="0"/>
              <a:t>От </a:t>
            </a:r>
            <a:r>
              <a:rPr lang="ru-RU" sz="2000" b="1" dirty="0"/>
              <a:t>куда берутся значения ВР</a:t>
            </a:r>
            <a:r>
              <a:rPr lang="ru-RU" sz="2000" dirty="0"/>
              <a:t>, типы </a:t>
            </a:r>
            <a:r>
              <a:rPr lang="ru-RU" sz="2000" dirty="0" smtClean="0"/>
              <a:t>данных и однотипность, количество</a:t>
            </a:r>
            <a:endParaRPr lang="ru-RU" sz="2000" dirty="0"/>
          </a:p>
          <a:p>
            <a:pPr lvl="1"/>
            <a:r>
              <a:rPr lang="ru-RU" b="1" dirty="0"/>
              <a:t>структура</a:t>
            </a:r>
            <a:r>
              <a:rPr lang="en-US" b="1" dirty="0"/>
              <a:t> </a:t>
            </a:r>
            <a:r>
              <a:rPr lang="ru-RU" b="1" dirty="0"/>
              <a:t>ВР </a:t>
            </a:r>
            <a:r>
              <a:rPr lang="ru-RU" dirty="0"/>
              <a:t>(переменные, экзогенные </a:t>
            </a:r>
            <a:r>
              <a:rPr lang="ru-RU" dirty="0" smtClean="0"/>
              <a:t>факторы, регулярность паттернов, стат. характеристики)</a:t>
            </a:r>
            <a:endParaRPr lang="ru-RU" dirty="0"/>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endParaRPr lang="ru-RU" sz="2400" b="1" dirty="0" smtClean="0"/>
          </a:p>
          <a:p>
            <a:pPr lvl="1"/>
            <a:r>
              <a:rPr lang="ru-RU" dirty="0" smtClean="0"/>
              <a:t>численные </a:t>
            </a:r>
            <a:r>
              <a:rPr lang="ru-RU" dirty="0"/>
              <a:t>данные? </a:t>
            </a:r>
            <a:endParaRPr lang="ru-RU" dirty="0" smtClean="0"/>
          </a:p>
          <a:p>
            <a:pPr lvl="1"/>
            <a:r>
              <a:rPr lang="ru-RU" dirty="0" smtClean="0"/>
              <a:t>Экзогенные </a:t>
            </a:r>
            <a:r>
              <a:rPr lang="ru-RU" dirty="0"/>
              <a:t>факторы? </a:t>
            </a:r>
            <a:endParaRPr lang="ru-RU" dirty="0" smtClean="0"/>
          </a:p>
          <a:p>
            <a:pPr lvl="1"/>
            <a:r>
              <a:rPr lang="ru-RU" dirty="0" smtClean="0"/>
              <a:t>Разложение</a:t>
            </a:r>
            <a:r>
              <a:rPr lang="ru-RU" dirty="0"/>
              <a:t>?</a:t>
            </a:r>
            <a:r>
              <a:rPr lang="en-US" dirty="0"/>
              <a:t> </a:t>
            </a:r>
            <a:endParaRPr lang="ru-RU" dirty="0" smtClean="0"/>
          </a:p>
          <a:p>
            <a:r>
              <a:rPr lang="ru-RU" sz="2400" b="1" dirty="0" smtClean="0"/>
              <a:t>Переменная </a:t>
            </a:r>
            <a:r>
              <a:rPr lang="ru-RU" sz="2400" b="1" dirty="0"/>
              <a:t>для предсказания </a:t>
            </a:r>
            <a:r>
              <a:rPr lang="ru-RU" sz="2400" b="1" dirty="0" smtClean="0"/>
              <a:t> </a:t>
            </a:r>
            <a:endParaRPr lang="ru-RU" sz="2400" b="1" dirty="0"/>
          </a:p>
          <a:p>
            <a:pPr lvl="1"/>
            <a:r>
              <a:rPr lang="ru-RU" dirty="0" smtClean="0"/>
              <a:t>горизонт</a:t>
            </a:r>
            <a:r>
              <a:rPr lang="ru-RU" dirty="0"/>
              <a:t>, </a:t>
            </a:r>
            <a:r>
              <a:rPr lang="ru-RU" dirty="0" smtClean="0"/>
              <a:t>регулярность, </a:t>
            </a:r>
          </a:p>
          <a:p>
            <a:pPr lvl="1"/>
            <a:r>
              <a:rPr lang="ru-RU" dirty="0" smtClean="0"/>
              <a:t>Время предсказания, </a:t>
            </a:r>
          </a:p>
          <a:p>
            <a:pPr lvl="1"/>
            <a:r>
              <a:rPr lang="ru-RU" dirty="0" smtClean="0"/>
              <a:t>М</a:t>
            </a:r>
            <a:r>
              <a:rPr lang="en-US" dirty="0" err="1" smtClean="0"/>
              <a:t>етр</a:t>
            </a:r>
            <a:r>
              <a:rPr lang="ru-RU" dirty="0" err="1" smtClean="0"/>
              <a:t>ики</a:t>
            </a:r>
            <a:r>
              <a:rPr lang="ru-RU" dirty="0" smtClean="0"/>
              <a:t> и их значение и разброс, </a:t>
            </a:r>
            <a:r>
              <a:rPr lang="ru-RU" dirty="0" err="1" smtClean="0"/>
              <a:t>bas</a:t>
            </a:r>
            <a:r>
              <a:rPr lang="en-US" dirty="0" err="1" smtClean="0"/>
              <a:t>eline</a:t>
            </a:r>
            <a:r>
              <a:rPr lang="ru-RU" dirty="0" smtClean="0"/>
              <a:t> </a:t>
            </a:r>
            <a:endParaRPr lang="en-US" dirty="0" smtClean="0"/>
          </a:p>
          <a:p>
            <a:pPr lvl="1"/>
            <a:r>
              <a:rPr lang="ru-RU" dirty="0" smtClean="0"/>
              <a:t>Чувствительность </a:t>
            </a:r>
            <a:r>
              <a:rPr lang="ru-RU" dirty="0"/>
              <a:t>к выбросам и </a:t>
            </a:r>
            <a:r>
              <a:rPr lang="ru-RU" dirty="0" smtClean="0"/>
              <a:t>пропускам</a:t>
            </a:r>
          </a:p>
          <a:p>
            <a:pPr lvl="1"/>
            <a:r>
              <a:rPr lang="ru-RU" dirty="0" smtClean="0"/>
              <a:t>Интерпретация </a:t>
            </a:r>
            <a:r>
              <a:rPr lang="ru-RU" dirty="0"/>
              <a:t>или модель данных</a:t>
            </a:r>
          </a:p>
          <a:p>
            <a:r>
              <a:rPr lang="ru-RU" sz="2400" b="1" dirty="0" smtClean="0"/>
              <a:t>Мониторинг</a:t>
            </a:r>
          </a:p>
          <a:p>
            <a:pPr lvl="1"/>
            <a:r>
              <a:rPr lang="ru-RU" dirty="0"/>
              <a:t>Контроль дрейфа и новизны</a:t>
            </a:r>
          </a:p>
          <a:p>
            <a:pPr lvl="1"/>
            <a:r>
              <a:rPr lang="ru-RU" dirty="0" smtClean="0"/>
              <a:t>Критерии дообучения</a:t>
            </a:r>
          </a:p>
          <a:p>
            <a:pPr lvl="1"/>
            <a:r>
              <a:rPr lang="ru-RU" dirty="0" smtClean="0"/>
              <a:t>Критерии </a:t>
            </a:r>
            <a:r>
              <a:rPr lang="ru-RU" dirty="0" err="1" smtClean="0"/>
              <a:t>досбора</a:t>
            </a:r>
            <a:r>
              <a:rPr lang="ru-RU" dirty="0" smtClean="0"/>
              <a:t> данных</a:t>
            </a:r>
          </a:p>
          <a:p>
            <a:pPr lvl="1"/>
            <a:r>
              <a:rPr lang="ru-RU" dirty="0" smtClean="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40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0247770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41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3503992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42</a:t>
            </a:fld>
            <a:endParaRPr lang="en-US"/>
          </a:p>
        </p:txBody>
      </p:sp>
    </p:spTree>
    <p:extLst>
      <p:ext uri="{BB962C8B-B14F-4D97-AF65-F5344CB8AC3E}">
        <p14:creationId xmlns:p14="http://schemas.microsoft.com/office/powerpoint/2010/main" val="37030617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a:t>
            </a:r>
            <a:r>
              <a:rPr lang="en-US" dirty="0" smtClean="0">
                <a:hlinkClick r:id="rId8"/>
              </a:rPr>
              <a:t>education.yandex.ru/handbook/ml/article/vremennye-ryady</a:t>
            </a:r>
            <a:endParaRPr lang="en-US" dirty="0" smtClean="0"/>
          </a:p>
          <a:p>
            <a:r>
              <a:rPr lang="en-US" dirty="0"/>
              <a:t>https://mrtunguyen.github.io/posts/time-series/time-series.html</a:t>
            </a:r>
            <a:r>
              <a:rPr lang="ru-RU" dirty="0" smtClean="0"/>
              <a:t> </a:t>
            </a:r>
            <a:endParaRPr lang="en-US" dirty="0" smtClean="0"/>
          </a:p>
          <a:p>
            <a:r>
              <a:rPr lang="en-US" dirty="0"/>
              <a:t>https://dev.mrdbourke.com/tensorflow-deep-learning/10_time_series_forecasting_in_tensorflow/</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43</a:t>
            </a:fld>
            <a:endParaRPr lang="en-US"/>
          </a:p>
        </p:txBody>
      </p:sp>
    </p:spTree>
    <p:extLst>
      <p:ext uri="{BB962C8B-B14F-4D97-AF65-F5344CB8AC3E}">
        <p14:creationId xmlns:p14="http://schemas.microsoft.com/office/powerpoint/2010/main" val="199802251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smtClean="0"/>
              <a:t>python</a:t>
            </a:r>
          </a:p>
          <a:p>
            <a:r>
              <a:rPr lang="en-US" dirty="0">
                <a:hlinkClick r:id="rId7"/>
              </a:rPr>
              <a:t>https://openforecast.org/adam</a:t>
            </a:r>
            <a:r>
              <a:rPr lang="en-US" dirty="0" smtClean="0">
                <a:hlinkClick r:id="rId7"/>
              </a:rPr>
              <a:t>/</a:t>
            </a:r>
            <a:endParaRPr lang="en-US" dirty="0" smtClean="0"/>
          </a:p>
          <a:p>
            <a:r>
              <a:rPr lang="en-US" dirty="0">
                <a:hlinkClick r:id="rId8"/>
              </a:rPr>
              <a:t>https://</a:t>
            </a:r>
            <a:r>
              <a:rPr lang="en-US" dirty="0" smtClean="0">
                <a:hlinkClick r:id="rId8"/>
              </a:rPr>
              <a:t>github.com/qingsongedu/awesome-AI-for-time-series-papers</a:t>
            </a:r>
            <a:endParaRPr lang="en-US" dirty="0" smtClean="0"/>
          </a:p>
          <a:p>
            <a:r>
              <a:rPr lang="en-US" dirty="0">
                <a:hlinkClick r:id="rId9"/>
              </a:rPr>
              <a:t>https://</a:t>
            </a:r>
            <a:r>
              <a:rPr lang="en-US" dirty="0" smtClean="0">
                <a:hlinkClick r:id="rId9"/>
              </a:rPr>
              <a:t>www.sciencedirect.com/science/article/pii/S0169207021001758</a:t>
            </a:r>
            <a:r>
              <a:rPr lang="en-US" dirty="0" smtClean="0"/>
              <a:t> </a:t>
            </a:r>
            <a:endParaRPr lang="ru-RU" dirty="0" smtClean="0"/>
          </a:p>
          <a:p>
            <a:r>
              <a:rPr lang="en-US" dirty="0">
                <a:hlinkClick r:id="rId10"/>
              </a:rPr>
              <a:t>http://repo.darmajaya.ac.id/4781/1/Time%20Series%20Analysis_%</a:t>
            </a:r>
            <a:r>
              <a:rPr lang="en-US" dirty="0" smtClean="0">
                <a:hlinkClick r:id="rId10"/>
              </a:rPr>
              <a:t>20Forecasting%20and%20Control%20%28%20PDFDrive%20%29.pdf</a:t>
            </a:r>
            <a:r>
              <a:rPr lang="ru-RU" smtClean="0"/>
              <a:t> </a:t>
            </a:r>
            <a:r>
              <a:rPr lang="en-US" smtClean="0"/>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44</a:t>
            </a:fld>
            <a:endParaRPr lang="en-US"/>
          </a:p>
        </p:txBody>
      </p:sp>
    </p:spTree>
    <p:extLst>
      <p:ext uri="{BB962C8B-B14F-4D97-AF65-F5344CB8AC3E}">
        <p14:creationId xmlns:p14="http://schemas.microsoft.com/office/powerpoint/2010/main" val="41985587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r>
              <a:rPr lang="en" dirty="0" smtClean="0">
                <a:hlinkClick r:id="rId8"/>
              </a:rPr>
              <a:t>/</a:t>
            </a:r>
            <a:endParaRPr lang="en" dirty="0" smtClean="0"/>
          </a:p>
          <a:p>
            <a:r>
              <a:rPr lang="en-US" dirty="0">
                <a:hlinkClick r:id="rId9"/>
              </a:rPr>
              <a:t>https://</a:t>
            </a:r>
            <a:r>
              <a:rPr lang="en-US" dirty="0" smtClean="0">
                <a:hlinkClick r:id="rId9"/>
              </a:rPr>
              <a:t>www.kaggle.com/code/prashant111/complete-guide-on-time-series-analysis-in-python</a:t>
            </a:r>
            <a:r>
              <a:rPr lang="en-US" dirty="0" smtClean="0"/>
              <a:t> </a:t>
            </a:r>
            <a:endParaRPr lang="ru-RU" dirty="0" smtClean="0"/>
          </a:p>
          <a:p>
            <a:r>
              <a:rPr lang="en-US" dirty="0">
                <a:hlinkClick r:id="rId10"/>
              </a:rPr>
              <a:t>https://</a:t>
            </a:r>
            <a:r>
              <a:rPr lang="en-US" dirty="0" smtClean="0">
                <a:hlinkClick r:id="rId10"/>
              </a:rPr>
              <a:t>medium.com/data-science-at-microsoft/time-series-forecasting-part-3-of-3-introducing-auts-adaptive-univariate-time-series-dfd7555ca8d4</a:t>
            </a:r>
            <a:endParaRPr lang="ru-RU" dirty="0" smtClean="0"/>
          </a:p>
          <a:p>
            <a:r>
              <a:rPr lang="en-US" dirty="0">
                <a:hlinkClick r:id="rId11"/>
              </a:rPr>
              <a:t>https://</a:t>
            </a:r>
            <a:r>
              <a:rPr lang="en-US" dirty="0" smtClean="0">
                <a:hlinkClick r:id="rId11"/>
              </a:rPr>
              <a:t>www.openforecast.org/adam/state-space-form-of-ets.html</a:t>
            </a:r>
            <a:endParaRPr lang="ru-RU" dirty="0" smtClean="0"/>
          </a:p>
          <a:p>
            <a:r>
              <a:rPr lang="en-US" dirty="0">
                <a:hlinkClick r:id="rId12"/>
              </a:rPr>
              <a:t>https://</a:t>
            </a:r>
            <a:r>
              <a:rPr lang="en-US" dirty="0" smtClean="0">
                <a:hlinkClick r:id="rId12"/>
              </a:rPr>
              <a:t>livebook.manning.com/book/modern-time-series-analysis-in-python/c</a:t>
            </a:r>
            <a:r>
              <a:rPr lang="ru-RU" dirty="0" smtClean="0"/>
              <a:t> </a:t>
            </a:r>
          </a:p>
          <a:p>
            <a:r>
              <a:rPr lang="en-US" dirty="0">
                <a:hlinkClick r:id="rId13"/>
              </a:rPr>
              <a:t>https://ranalytics.github.io/tsa-with-r</a:t>
            </a:r>
            <a:r>
              <a:rPr lang="en-US" dirty="0" smtClean="0">
                <a:hlinkClick r:id="rId13"/>
              </a:rPr>
              <a:t>/</a:t>
            </a:r>
            <a:r>
              <a:rPr lang="ru-RU" dirty="0" smtClean="0"/>
              <a:t> </a:t>
            </a:r>
            <a:endParaRPr lang="en-US" dirty="0" smtClean="0"/>
          </a:p>
          <a:p>
            <a:r>
              <a:rPr lang="en-US" dirty="0">
                <a:hlinkClick r:id="rId14"/>
              </a:rPr>
              <a:t>https://towardsdatascience.com/forecast-multiple-time-series-like-a-master-1579a2b6f18d</a:t>
            </a:r>
            <a:r>
              <a:rPr lang="en-US" dirty="0" smtClean="0">
                <a:hlinkClick r:id="rId14"/>
              </a:rPr>
              <a:t>/</a:t>
            </a:r>
            <a:r>
              <a:rPr lang="en-US" dirty="0" smtClean="0"/>
              <a:t> </a:t>
            </a:r>
            <a:endParaRPr lang="en-US" dirty="0"/>
          </a:p>
          <a:p>
            <a:r>
              <a:rPr lang="en-US" dirty="0">
                <a:hlinkClick r:id="rId15"/>
              </a:rPr>
              <a:t>https://www.stat.berkeley.edu/~</a:t>
            </a:r>
            <a:r>
              <a:rPr lang="en-US" dirty="0" smtClean="0">
                <a:hlinkClick r:id="rId15"/>
              </a:rPr>
              <a:t>aditya/resources/FullNotes248Spring2022TimeSeries.pdf</a:t>
            </a:r>
            <a:endParaRPr lang="en-US" dirty="0" smtClean="0"/>
          </a:p>
          <a:p>
            <a:r>
              <a:rPr lang="en-US" dirty="0">
                <a:hlinkClick r:id="rId16"/>
              </a:rPr>
              <a:t>https://www.stat.berkeley.edu/~ryantibs/timeseries-f23</a:t>
            </a:r>
            <a:r>
              <a:rPr lang="en-US" dirty="0" smtClean="0">
                <a:hlinkClick r:id="rId16"/>
              </a:rPr>
              <a:t>/</a:t>
            </a:r>
            <a:endParaRPr lang="ru-RU" dirty="0" smtClean="0"/>
          </a:p>
          <a:p>
            <a:r>
              <a:rPr lang="en-US" dirty="0">
                <a:hlinkClick r:id="rId17"/>
              </a:rPr>
              <a:t>https://</a:t>
            </a:r>
            <a:r>
              <a:rPr lang="en-US" dirty="0" smtClean="0">
                <a:hlinkClick r:id="rId17"/>
              </a:rPr>
              <a:t>stat153.berkeley.edu/spring-2025/lab5</a:t>
            </a:r>
            <a:r>
              <a:rPr lang="ru-RU" dirty="0" smtClean="0"/>
              <a:t> - интерактивно</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45</a:t>
            </a:fld>
            <a:endParaRPr lang="en-US"/>
          </a:p>
        </p:txBody>
      </p:sp>
    </p:spTree>
    <p:extLst>
      <p:ext uri="{BB962C8B-B14F-4D97-AF65-F5344CB8AC3E}">
        <p14:creationId xmlns:p14="http://schemas.microsoft.com/office/powerpoint/2010/main" val="5353738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34382E-A94A-DB3A-0399-E241DFCA3F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934480-E7A3-A917-925C-3497355BFEAA}"/>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0D8AFB6-32EE-D6A4-20AA-7B33DFC685B0}"/>
              </a:ext>
            </a:extLst>
          </p:cNvPr>
          <p:cNvSpPr>
            <a:spLocks noGrp="1"/>
          </p:cNvSpPr>
          <p:nvPr>
            <p:ph idx="1"/>
          </p:nvPr>
        </p:nvSpPr>
        <p:spPr>
          <a:xfrm>
            <a:off x="126235" y="1112703"/>
            <a:ext cx="11801908" cy="5380172"/>
          </a:xfrm>
        </p:spPr>
        <p:txBody>
          <a:bodyPr>
            <a:normAutofit lnSpcReduction="10000"/>
          </a:bodyPr>
          <a:lstStyle/>
          <a:p>
            <a:r>
              <a:rPr lang="ru-RU" sz="2400" dirty="0"/>
              <a:t>Цели </a:t>
            </a:r>
            <a:r>
              <a:rPr lang="en-US" sz="2400" dirty="0" err="1"/>
              <a:t>про</a:t>
            </a:r>
            <a:r>
              <a:rPr lang="ru-RU" sz="2400" dirty="0" err="1"/>
              <a:t>гнозирования</a:t>
            </a:r>
            <a:r>
              <a:rPr lang="ru-RU" sz="2400" dirty="0"/>
              <a:t> ВР должны быть связаны с прогнозами и планами, но это не всегда происходит. Слишком часто цели ставятся без какого-либо плана их достижения и без прогнозов относительно того, реалистичны ли они.</a:t>
            </a:r>
          </a:p>
          <a:p>
            <a:pPr lvl="1"/>
            <a:r>
              <a:rPr lang="ru-RU" sz="2000" dirty="0" err="1"/>
              <a:t>Планированиеявляется</a:t>
            </a:r>
            <a:r>
              <a:rPr lang="ru-RU" sz="2000" dirty="0"/>
              <a:t> ответом на прогнозы и цели. Планирование включает определение соответствующих действий, которые необходимы для того, чтобы ваши прогнозы соответствовали вашим целям</a:t>
            </a:r>
          </a:p>
          <a:p>
            <a:pPr lvl="1"/>
            <a:r>
              <a:rPr lang="ru-RU" dirty="0"/>
              <a:t>Краткосрочные </a:t>
            </a:r>
            <a:r>
              <a:rPr lang="ru-RU" dirty="0" err="1"/>
              <a:t>прогнозынеобходимы</a:t>
            </a:r>
            <a:r>
              <a:rPr lang="ru-RU" dirty="0"/>
              <a:t> для планирования персонала, производства и транспортировки. В рамках процесса планирования часто также требуются прогнозы спроса.</a:t>
            </a:r>
          </a:p>
          <a:p>
            <a:pPr lvl="1"/>
            <a:r>
              <a:rPr lang="ru-RU" dirty="0"/>
              <a:t>Среднесрочные </a:t>
            </a:r>
            <a:r>
              <a:rPr lang="ru-RU" dirty="0" err="1"/>
              <a:t>прогнозынеобходимы</a:t>
            </a:r>
            <a:r>
              <a:rPr lang="ru-RU" dirty="0"/>
              <a:t> для определения будущих потребностей в ресурсах с целью закупки сырья, найма персонала или покупки машин и оборудования.</a:t>
            </a:r>
          </a:p>
          <a:p>
            <a:pPr lvl="1"/>
            <a:r>
              <a:rPr lang="ru-RU" dirty="0"/>
              <a:t>Долгосрочные </a:t>
            </a:r>
            <a:r>
              <a:rPr lang="ru-RU" dirty="0" err="1"/>
              <a:t>прогнозыиспользуются</a:t>
            </a:r>
            <a:r>
              <a:rPr lang="ru-RU" dirty="0"/>
              <a:t> в стратегическом планировании. Такие решения должны учитывать рыночные возможности, факторы внешней среды и внутренние ресурсы.</a:t>
            </a:r>
            <a:br>
              <a:rPr lang="ru-RU" dirty="0"/>
            </a:br>
            <a:endParaRPr lang="ru-RU" dirty="0"/>
          </a:p>
        </p:txBody>
      </p:sp>
      <p:sp>
        <p:nvSpPr>
          <p:cNvPr id="4" name="Номер слайда 3">
            <a:extLst>
              <a:ext uri="{FF2B5EF4-FFF2-40B4-BE49-F238E27FC236}">
                <a16:creationId xmlns:a16="http://schemas.microsoft.com/office/drawing/2014/main" id="{3275B66E-472E-63C3-115A-C46FCC3D01BE}"/>
              </a:ext>
            </a:extLst>
          </p:cNvPr>
          <p:cNvSpPr>
            <a:spLocks noGrp="1"/>
          </p:cNvSpPr>
          <p:nvPr>
            <p:ph type="sldNum" sz="quarter" idx="12"/>
          </p:nvPr>
        </p:nvSpPr>
        <p:spPr/>
        <p:txBody>
          <a:bodyPr/>
          <a:lstStyle/>
          <a:p>
            <a:fld id="{45C3B737-A709-4ABC-AFE0-A6B067850C48}" type="slidenum">
              <a:rPr lang="en-US" smtClean="0"/>
              <a:t>46</a:t>
            </a:fld>
            <a:endParaRPr lang="en-US"/>
          </a:p>
        </p:txBody>
      </p:sp>
      <p:sp>
        <p:nvSpPr>
          <p:cNvPr id="7" name="TextBox 6">
            <a:extLst>
              <a:ext uri="{FF2B5EF4-FFF2-40B4-BE49-F238E27FC236}">
                <a16:creationId xmlns:a16="http://schemas.microsoft.com/office/drawing/2014/main" id="{6B5E2EB3-CD13-CEB6-4679-065A48B9E20F}"/>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280838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B7BF9D-A85C-155E-2A91-DFE933CBD0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946FF-5ABA-C548-09CC-CFE27E3E7475}"/>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8CF30725-E50E-3258-0292-891E98EC79E6}"/>
              </a:ext>
            </a:extLst>
          </p:cNvPr>
          <p:cNvSpPr>
            <a:spLocks noGrp="1"/>
          </p:cNvSpPr>
          <p:nvPr>
            <p:ph idx="1"/>
          </p:nvPr>
        </p:nvSpPr>
        <p:spPr>
          <a:xfrm>
            <a:off x="126235" y="1112703"/>
            <a:ext cx="11801908" cy="5380172"/>
          </a:xfrm>
        </p:spPr>
        <p:txBody>
          <a:bodyPr>
            <a:normAutofit fontScale="85000" lnSpcReduction="20000"/>
          </a:bodyPr>
          <a:lstStyle/>
          <a:p>
            <a:r>
              <a:rPr lang="ru-RU" dirty="0"/>
              <a:t>На ранних стадиях проекта прогнозирования необходимо принять решение о том, что следует прогнозировать. Например, если прогнозы требуются для элементов в производственной среде, необходимо спросить, нужны ли прогнозы для:</a:t>
            </a:r>
          </a:p>
          <a:p>
            <a:r>
              <a:rPr lang="ru-RU" dirty="0"/>
              <a:t>для каждой линейки продуктов или для групп продуктов?</a:t>
            </a:r>
          </a:p>
          <a:p>
            <a:r>
              <a:rPr lang="ru-RU" dirty="0"/>
              <a:t>для каждой торговой точки, или для торговых точек, сгруппированных по регионам, или только для общего объема продаж?</a:t>
            </a:r>
          </a:p>
          <a:p>
            <a:r>
              <a:rPr lang="ru-RU" dirty="0"/>
              <a:t>еженедельные данные, ежемесячные данные или годовые данные?</a:t>
            </a:r>
          </a:p>
          <a:p>
            <a:r>
              <a:rPr lang="ru-RU" dirty="0"/>
              <a:t>Также необходимо учитывать горизонт прогнозирования. Будут ли потребуются прогнозы на месяц вперед, на 6 месяцев или на десять лет? Потребуются различные типы моделей в зависимости от того, какой горизонт прогнозирования наиболее важен.</a:t>
            </a:r>
          </a:p>
          <a:p>
            <a:r>
              <a:rPr lang="ru-RU" dirty="0"/>
              <a:t>Как часто требуются прогнозы? Прогнозы, которые необходимо составлять часто, лучше делать с помощью автоматизированной системы, чем методами, требующими тщательной ручной работы.</a:t>
            </a:r>
          </a:p>
          <a:p>
            <a:r>
              <a:rPr lang="ru-RU" sz="2400" dirty="0"/>
              <a:t/>
            </a:r>
            <a:br>
              <a:rPr lang="ru-RU" sz="2400" dirty="0"/>
            </a:br>
            <a:endParaRPr lang="ru-RU" dirty="0"/>
          </a:p>
        </p:txBody>
      </p:sp>
      <p:sp>
        <p:nvSpPr>
          <p:cNvPr id="4" name="Номер слайда 3">
            <a:extLst>
              <a:ext uri="{FF2B5EF4-FFF2-40B4-BE49-F238E27FC236}">
                <a16:creationId xmlns:a16="http://schemas.microsoft.com/office/drawing/2014/main" id="{61DB4198-58AE-A700-FBAB-A9E918D8D782}"/>
              </a:ext>
            </a:extLst>
          </p:cNvPr>
          <p:cNvSpPr>
            <a:spLocks noGrp="1"/>
          </p:cNvSpPr>
          <p:nvPr>
            <p:ph type="sldNum" sz="quarter" idx="12"/>
          </p:nvPr>
        </p:nvSpPr>
        <p:spPr/>
        <p:txBody>
          <a:bodyPr/>
          <a:lstStyle/>
          <a:p>
            <a:fld id="{45C3B737-A709-4ABC-AFE0-A6B067850C48}" type="slidenum">
              <a:rPr lang="en-US" smtClean="0"/>
              <a:t>47</a:t>
            </a:fld>
            <a:endParaRPr lang="en-US"/>
          </a:p>
        </p:txBody>
      </p:sp>
      <p:sp>
        <p:nvSpPr>
          <p:cNvPr id="7" name="TextBox 6">
            <a:extLst>
              <a:ext uri="{FF2B5EF4-FFF2-40B4-BE49-F238E27FC236}">
                <a16:creationId xmlns:a16="http://schemas.microsoft.com/office/drawing/2014/main" id="{01E0C8C8-5364-FD0C-AFFC-4B4052FE502D}"/>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5319983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48</a:t>
            </a:fld>
            <a:endParaRPr lang="en-US"/>
          </a:p>
        </p:txBody>
      </p:sp>
    </p:spTree>
    <p:extLst>
      <p:ext uri="{BB962C8B-B14F-4D97-AF65-F5344CB8AC3E}">
        <p14:creationId xmlns:p14="http://schemas.microsoft.com/office/powerpoint/2010/main" val="38893479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49</a:t>
            </a:fld>
            <a:endParaRPr lang="en-US"/>
          </a:p>
        </p:txBody>
      </p:sp>
    </p:spTree>
    <p:extLst>
      <p:ext uri="{BB962C8B-B14F-4D97-AF65-F5344CB8AC3E}">
        <p14:creationId xmlns:p14="http://schemas.microsoft.com/office/powerpoint/2010/main" val="35775078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6D39BB-EA0D-1D64-F03C-4B528B679C4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1F4B61-958D-228E-2056-95BB3AA8EC9D}"/>
              </a:ext>
            </a:extLst>
          </p:cNvPr>
          <p:cNvSpPr>
            <a:spLocks noGrp="1"/>
          </p:cNvSpPr>
          <p:nvPr>
            <p:ph type="ctrTitle"/>
          </p:nvPr>
        </p:nvSpPr>
        <p:spPr>
          <a:xfrm>
            <a:off x="743483" y="934358"/>
            <a:ext cx="10932920" cy="3760935"/>
          </a:xfrm>
        </p:spPr>
        <p:txBody>
          <a:bodyPr>
            <a:normAutofit/>
          </a:bodyPr>
          <a:lstStyle/>
          <a:p>
            <a:r>
              <a:rPr lang="en-US" sz="8000" dirty="0" err="1"/>
              <a:t>Типы</a:t>
            </a:r>
            <a:r>
              <a:rPr lang="ru-RU" sz="8000" dirty="0"/>
              <a:t> ВР</a:t>
            </a:r>
            <a:endParaRPr lang="en-US" sz="8000" dirty="0"/>
          </a:p>
        </p:txBody>
      </p:sp>
      <p:sp>
        <p:nvSpPr>
          <p:cNvPr id="3" name="Номер слайда 2">
            <a:extLst>
              <a:ext uri="{FF2B5EF4-FFF2-40B4-BE49-F238E27FC236}">
                <a16:creationId xmlns:a16="http://schemas.microsoft.com/office/drawing/2014/main" id="{99030700-4B66-545B-2D1C-C6C28B04637B}"/>
              </a:ext>
            </a:extLst>
          </p:cNvPr>
          <p:cNvSpPr>
            <a:spLocks noGrp="1"/>
          </p:cNvSpPr>
          <p:nvPr>
            <p:ph type="sldNum" sz="quarter" idx="12"/>
          </p:nvPr>
        </p:nvSpPr>
        <p:spPr/>
        <p:txBody>
          <a:bodyPr/>
          <a:lstStyle/>
          <a:p>
            <a:fld id="{45C3B737-A709-4ABC-AFE0-A6B067850C48}" type="slidenum">
              <a:rPr lang="en-US" smtClean="0"/>
              <a:t>50</a:t>
            </a:fld>
            <a:endParaRPr lang="en-US"/>
          </a:p>
        </p:txBody>
      </p:sp>
    </p:spTree>
    <p:extLst>
      <p:ext uri="{BB962C8B-B14F-4D97-AF65-F5344CB8AC3E}">
        <p14:creationId xmlns:p14="http://schemas.microsoft.com/office/powerpoint/2010/main" val="1941679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51</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endParaRPr lang="ru-RU" dirty="0"/>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52</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53</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975" y="754062"/>
            <a:ext cx="9620250" cy="4943476"/>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9000</TotalTime>
  <Words>2978</Words>
  <Application>Microsoft Office PowerPoint</Application>
  <PresentationFormat>Широкоэкранный</PresentationFormat>
  <Paragraphs>447</Paragraphs>
  <Slides>53</Slides>
  <Notes>12</Notes>
  <HiddenSlides>5</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53</vt:i4>
      </vt:variant>
    </vt:vector>
  </HeadingPairs>
  <TitlesOfParts>
    <vt:vector size="64" baseType="lpstr">
      <vt:lpstr>Arial</vt:lpstr>
      <vt:lpstr>Calibri</vt:lpstr>
      <vt:lpstr>Calibri Light</vt:lpstr>
      <vt:lpstr>Cambria Math</vt:lpstr>
      <vt:lpstr>inherit</vt:lpstr>
      <vt:lpstr>Inter</vt:lpstr>
      <vt:lpstr>Open Sans</vt:lpstr>
      <vt:lpstr>quote-cjk-patch</vt:lpstr>
      <vt:lpstr>Times New Roman</vt:lpstr>
      <vt:lpstr>var(--sds-font-family-01)</vt:lpstr>
      <vt:lpstr>Тема Office 2013–2022</vt:lpstr>
      <vt:lpstr>Введение в анализ  временных рядов. Постановка задач предсказания ВР</vt:lpstr>
      <vt:lpstr>Понятие ВР</vt:lpstr>
      <vt:lpstr>Анализ временных рядов</vt:lpstr>
      <vt:lpstr>Задачи анализа временных рядов</vt:lpstr>
      <vt:lpstr>Особенности задачи анализа временных рядов</vt:lpstr>
      <vt:lpstr>краткосрочные прогнозы спроса на электроэнергию в жилых домах</vt:lpstr>
      <vt:lpstr>Прогнозирование курсов валют</vt:lpstr>
      <vt:lpstr>Применения ВР</vt:lpstr>
      <vt:lpstr>Примеры</vt:lpstr>
      <vt:lpstr>Примеры приложений анализа временных рядов</vt:lpstr>
      <vt:lpstr>Примеры</vt:lpstr>
      <vt:lpstr>Примеры</vt:lpstr>
      <vt:lpstr>Модель ВР</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задачи предсказания ВР</vt:lpstr>
      <vt:lpstr>Представление ВР</vt:lpstr>
      <vt:lpstr>Типы ВР </vt:lpstr>
      <vt:lpstr>Экзогенные и многопеременные ВР</vt:lpstr>
      <vt:lpstr>Типы ВР</vt:lpstr>
      <vt:lpstr>Некоторые типы ВР</vt:lpstr>
      <vt:lpstr>Экзогенные и многопеременные ВР</vt:lpstr>
      <vt:lpstr>Представление Временных рядов</vt:lpstr>
      <vt:lpstr>Задачи анализа временных рядов</vt:lpstr>
      <vt:lpstr>Анализ временных рядов</vt:lpstr>
      <vt:lpstr>Задачи прогнозирования временных рядов</vt:lpstr>
      <vt:lpstr>Задачи прогнозирования временных рядов</vt:lpstr>
      <vt:lpstr>Задачи предсказания временных рядовaq</vt:lpstr>
      <vt:lpstr>Постановка задачи анализа ВР</vt:lpstr>
      <vt:lpstr>Пример TSF System Design</vt:lpstr>
      <vt:lpstr>Литература</vt:lpstr>
      <vt:lpstr>Литература</vt:lpstr>
      <vt:lpstr>Презентация PowerPoint</vt:lpstr>
      <vt:lpstr>Презентация PowerPoint</vt:lpstr>
      <vt:lpstr>Постановка задачи анализа ВР</vt:lpstr>
      <vt:lpstr>Постановка задачи анализа ВР</vt:lpstr>
      <vt:lpstr>Задача прогнозирования</vt:lpstr>
      <vt:lpstr>Задача прогнозирования</vt:lpstr>
      <vt:lpstr>Типы ВР</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177</cp:revision>
  <dcterms:created xsi:type="dcterms:W3CDTF">2021-10-31T10:57:36Z</dcterms:created>
  <dcterms:modified xsi:type="dcterms:W3CDTF">2025-07-11T08:53:53Z</dcterms:modified>
</cp:coreProperties>
</file>