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8"/>
  </p:notesMasterIdLst>
  <p:sldIdLst>
    <p:sldId id="256" r:id="rId2"/>
    <p:sldId id="302" r:id="rId3"/>
    <p:sldId id="423" r:id="rId4"/>
    <p:sldId id="421" r:id="rId5"/>
    <p:sldId id="424" r:id="rId6"/>
    <p:sldId id="422" r:id="rId7"/>
    <p:sldId id="403" r:id="rId8"/>
    <p:sldId id="408" r:id="rId9"/>
    <p:sldId id="409" r:id="rId10"/>
    <p:sldId id="410" r:id="rId11"/>
    <p:sldId id="411" r:id="rId12"/>
    <p:sldId id="412" r:id="rId13"/>
    <p:sldId id="428" r:id="rId14"/>
    <p:sldId id="441" r:id="rId15"/>
    <p:sldId id="376" r:id="rId16"/>
    <p:sldId id="394" r:id="rId17"/>
    <p:sldId id="388" r:id="rId18"/>
    <p:sldId id="381" r:id="rId19"/>
    <p:sldId id="395" r:id="rId20"/>
    <p:sldId id="440" r:id="rId21"/>
    <p:sldId id="418" r:id="rId22"/>
    <p:sldId id="417" r:id="rId23"/>
    <p:sldId id="433" r:id="rId24"/>
    <p:sldId id="434" r:id="rId25"/>
    <p:sldId id="435" r:id="rId26"/>
    <p:sldId id="436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161" autoAdjust="0"/>
    <p:restoredTop sz="94795"/>
  </p:normalViewPr>
  <p:slideViewPr>
    <p:cSldViewPr snapToGrid="0">
      <p:cViewPr varScale="1">
        <p:scale>
          <a:sx n="98" d="100"/>
          <a:sy n="98" d="100"/>
        </p:scale>
        <p:origin x="10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A96C9A-3213-B245-BC64-7E419D14BD9D}" type="datetimeFigureOut">
              <a:rPr lang="ru-RU" smtClean="0"/>
              <a:t>21.07.2025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1EE30-E435-D745-B23A-FF31C83176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195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8776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334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8733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3707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04338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1019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57806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29734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6181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214BE-636D-8A45-BCA6-8B7ED77AA124}" type="datetime1">
              <a:rPr lang="ru-RU" smtClean="0"/>
              <a:t>21.07.2025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012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A339-F8AE-5C45-BEAE-07EF9DC78B60}" type="datetime1">
              <a:rPr lang="ru-RU" smtClean="0"/>
              <a:t>21.07.2025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26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6FDE4-97E0-CE4A-988C-F30B221290A7}" type="datetime1">
              <a:rPr lang="ru-RU" smtClean="0"/>
              <a:t>21.07.2025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83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ECE8B-8DEC-154E-9F03-047C8DDA20DC}" type="datetime1">
              <a:rPr lang="ru-RU" smtClean="0"/>
              <a:t>21.07.2025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9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816D5-BDB8-B34B-8ACA-ECBDD12E7321}" type="datetime1">
              <a:rPr lang="ru-RU" smtClean="0"/>
              <a:t>21.07.2025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99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589A-5627-764C-AF96-C1E2F9A00A4D}" type="datetime1">
              <a:rPr lang="ru-RU" smtClean="0"/>
              <a:t>21.07.2025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77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EE0D0-1696-6D4F-B917-4AFB24A74E8B}" type="datetime1">
              <a:rPr lang="ru-RU" smtClean="0"/>
              <a:t>21.07.2025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1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8A91E-B09B-2240-9AA3-B1D4BCC6296E}" type="datetime1">
              <a:rPr lang="ru-RU" smtClean="0"/>
              <a:t>21.07.2025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22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9760E-DA8D-6747-B31E-62858C8727B8}" type="datetime1">
              <a:rPr lang="ru-RU" smtClean="0"/>
              <a:t>21.07.2025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940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5274A-4ED4-0146-A3E9-88EF200B5196}" type="datetime1">
              <a:rPr lang="ru-RU" smtClean="0"/>
              <a:t>21.07.2025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1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8DFF1-9FDC-144B-973E-B4B4609709DF}" type="datetime1">
              <a:rPr lang="ru-RU" smtClean="0"/>
              <a:t>21.07.2025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24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305DF-F750-CC43-967D-51A20925EE94}" type="datetime1">
              <a:rPr lang="ru-RU" smtClean="0"/>
              <a:t>21.07.2025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56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emf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qingsongedu/awesome-AI-for-time-series-papers" TargetMode="External"/><Relationship Id="rId3" Type="http://schemas.openxmlformats.org/officeDocument/2006/relationships/hyperlink" Target="https://otexts.com/fpp3/" TargetMode="External"/><Relationship Id="rId7" Type="http://schemas.openxmlformats.org/officeDocument/2006/relationships/hyperlink" Target="https://github.com/Ian729/AI6123-TIME-SERIES-ANALYSIS" TargetMode="External"/><Relationship Id="rId2" Type="http://schemas.openxmlformats.org/officeDocument/2006/relationships/hyperlink" Target="https://otexts.com/fpppy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Beliavsky/TimeSeriesAnalysisBooks" TargetMode="External"/><Relationship Id="rId5" Type="http://schemas.openxmlformats.org/officeDocument/2006/relationships/hyperlink" Target="https://f0nzie.github.io/hyndman-bookdown-rsuite/" TargetMode="External"/><Relationship Id="rId4" Type="http://schemas.openxmlformats.org/officeDocument/2006/relationships/hyperlink" Target="https://github.com/zgana/fpp3-python-readalong/tree/master" TargetMode="External"/><Relationship Id="rId9" Type="http://schemas.openxmlformats.org/officeDocument/2006/relationships/hyperlink" Target="https://github.com/thuml/Time-Series-Library" TargetMode="Externa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education.yandex.ru/handbook/ml/article/vremennye-ryady" TargetMode="External"/><Relationship Id="rId3" Type="http://schemas.openxmlformats.org/officeDocument/2006/relationships/hyperlink" Target="https://darrenjw.github.io/time-series/intro.html" TargetMode="External"/><Relationship Id="rId7" Type="http://schemas.openxmlformats.org/officeDocument/2006/relationships/hyperlink" Target="https://ranalytics.github.io/tsa-with-r/" TargetMode="External"/><Relationship Id="rId2" Type="http://schemas.openxmlformats.org/officeDocument/2006/relationships/hyperlink" Target="https://cienciadedatos.net/en/forecasting-pyth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com/zillow-tech-hub/automatic-and-self-aware-anomaly-detection-at-zillow-using-luminaire" TargetMode="External"/><Relationship Id="rId5" Type="http://schemas.openxmlformats.org/officeDocument/2006/relationships/hyperlink" Target="https://zillow.github.io/luminaire/tutorial/dataprofiling.html" TargetMode="External"/><Relationship Id="rId4" Type="http://schemas.openxmlformats.org/officeDocument/2006/relationships/hyperlink" Target="https://zillow.github.io/luminaire/index.html" TargetMode="Externa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qingsongedu/awesome-AI-for-time-series-papers" TargetMode="External"/><Relationship Id="rId3" Type="http://schemas.openxmlformats.org/officeDocument/2006/relationships/hyperlink" Target="https://skforecast.org/0.16.0/" TargetMode="External"/><Relationship Id="rId7" Type="http://schemas.openxmlformats.org/officeDocument/2006/relationships/hyperlink" Target="https://openforecast.org/adam/" TargetMode="External"/><Relationship Id="rId2" Type="http://schemas.openxmlformats.org/officeDocument/2006/relationships/hyperlink" Target="https://github.com/unit8co/dart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objhyndman.com/hyndsight/python_time_series.html" TargetMode="External"/><Relationship Id="rId5" Type="http://schemas.openxmlformats.org/officeDocument/2006/relationships/hyperlink" Target="https://github.com/linhhlp/Scalable-Machine-Learning-for-Small-Teams/" TargetMode="External"/><Relationship Id="rId10" Type="http://schemas.openxmlformats.org/officeDocument/2006/relationships/hyperlink" Target="http://repo.darmajaya.ac.id/4781/1/Time%20Series%20Analysis_%20Forecasting%20and%20Control%20(%20PDFDrive%20).pdf" TargetMode="External"/><Relationship Id="rId4" Type="http://schemas.openxmlformats.org/officeDocument/2006/relationships/hyperlink" Target="https://cienciadedatos.net/en/forecasting-python" TargetMode="External"/><Relationship Id="rId9" Type="http://schemas.openxmlformats.org/officeDocument/2006/relationships/hyperlink" Target="https://www.sciencedirect.com/science/article/pii/S0169207021001758" TargetMode="Externa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dl.leima.is/time-series/" TargetMode="External"/><Relationship Id="rId13" Type="http://schemas.openxmlformats.org/officeDocument/2006/relationships/hyperlink" Target="https://ranalytics.github.io/tsa-with-r/" TargetMode="External"/><Relationship Id="rId18" Type="http://schemas.openxmlformats.org/officeDocument/2006/relationships/hyperlink" Target="https://fish-forecast.github.io/Fish-Forecast-Bookdown/" TargetMode="External"/><Relationship Id="rId3" Type="http://schemas.openxmlformats.org/officeDocument/2006/relationships/hyperlink" Target="https://s-ai-f.github.io/Time-Series/time-series-basics.html#what-is-a-time-series" TargetMode="External"/><Relationship Id="rId7" Type="http://schemas.openxmlformats.org/officeDocument/2006/relationships/hyperlink" Target="https://mse.msu.ru/wp-content/uploads/2021/03/%D0%92%D0%B2%D0%B5%D0%B4%D0%B5%D0%BD%D0%B8%D0%B5-%D0%B2-%D0%B0%D0%BD%D0%B0%D0%BB%D0%B8%D0%B7-%D0%B2%D1%80%D0%B5%D0%BC%D0%B5%D0%BD%D0%BD%D1%8B%D1%85-%D1%80%D1%8F%D0%B4%D0%BE%D0%B2-1.pdf" TargetMode="External"/><Relationship Id="rId12" Type="http://schemas.openxmlformats.org/officeDocument/2006/relationships/hyperlink" Target="https://livebook.manning.com/book/modern-time-series-analysis-in-python/c" TargetMode="External"/><Relationship Id="rId17" Type="http://schemas.openxmlformats.org/officeDocument/2006/relationships/hyperlink" Target="https://stat153.berkeley.edu/spring-2025/lab5" TargetMode="External"/><Relationship Id="rId2" Type="http://schemas.openxmlformats.org/officeDocument/2006/relationships/hyperlink" Target="https://www.statslab.cam.ac.uk/~rrw1/timeseries/t.pdf" TargetMode="External"/><Relationship Id="rId16" Type="http://schemas.openxmlformats.org/officeDocument/2006/relationships/hyperlink" Target="https://www.stat.berkeley.edu/~ryantibs/timeseries-f23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ivil.colorado.edu/~balajir/CVEN6833/lectures/wwts-book.pdf" TargetMode="External"/><Relationship Id="rId11" Type="http://schemas.openxmlformats.org/officeDocument/2006/relationships/hyperlink" Target="https://www.openforecast.org/adam/state-space-form-of-ets.html" TargetMode="External"/><Relationship Id="rId5" Type="http://schemas.openxmlformats.org/officeDocument/2006/relationships/hyperlink" Target="https://smac-group.github.io/ts/fundtimeseries.html" TargetMode="External"/><Relationship Id="rId15" Type="http://schemas.openxmlformats.org/officeDocument/2006/relationships/hyperlink" Target="https://www.stat.berkeley.edu/~aditya/resources/FullNotes248Spring2022TimeSeries.pdf" TargetMode="External"/><Relationship Id="rId10" Type="http://schemas.openxmlformats.org/officeDocument/2006/relationships/hyperlink" Target="https://medium.com/data-science-at-microsoft/time-series-forecasting-part-3-of-3-introducing-auts-adaptive-univariate-time-series-dfd7555ca8d4" TargetMode="External"/><Relationship Id="rId4" Type="http://schemas.openxmlformats.org/officeDocument/2006/relationships/hyperlink" Target="https://bookdown.org/JakeEsprabens/431-Time-Series/forecasting.html" TargetMode="External"/><Relationship Id="rId9" Type="http://schemas.openxmlformats.org/officeDocument/2006/relationships/hyperlink" Target="https://www.kaggle.com/code/prashant111/complete-guide-on-time-series-analysis-in-python" TargetMode="External"/><Relationship Id="rId14" Type="http://schemas.openxmlformats.org/officeDocument/2006/relationships/hyperlink" Target="https://towardsdatascience.com/forecast-multiple-time-series-like-a-master-1579a2b6f18d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483" y="934359"/>
            <a:ext cx="10932920" cy="2761662"/>
          </a:xfrm>
        </p:spPr>
        <p:txBody>
          <a:bodyPr>
            <a:normAutofit/>
          </a:bodyPr>
          <a:lstStyle/>
          <a:p>
            <a:r>
              <a:rPr lang="ru-RU" sz="8000" dirty="0" smtClean="0"/>
              <a:t>Введение </a:t>
            </a:r>
            <a:r>
              <a:rPr lang="ru-RU" sz="8000" dirty="0"/>
              <a:t>в анализ </a:t>
            </a:r>
            <a:br>
              <a:rPr lang="ru-RU" sz="8000" dirty="0"/>
            </a:br>
            <a:r>
              <a:rPr lang="ru-RU" sz="8000" dirty="0"/>
              <a:t>временных рядов. </a:t>
            </a:r>
            <a:endParaRPr lang="en-US" sz="80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46F77CB-BE50-557D-1B14-E047A35B2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101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B0BEDB-9774-4E17-9A6B-DBCF6A1F5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74967"/>
            <a:ext cx="10515600" cy="993418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Анализ временных рядов</a:t>
            </a:r>
            <a:endParaRPr lang="en-US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DB8E57-5CA8-497C-990E-C304F4FBE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137" y="909419"/>
            <a:ext cx="11560628" cy="5470528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ru-RU" sz="2400" b="1" dirty="0">
                <a:ea typeface="Calibri" panose="020F0502020204030204" pitchFamily="34" charset="0"/>
                <a:cs typeface="Times New Roman" panose="02020603050405020304" pitchFamily="18" charset="0"/>
              </a:rPr>
              <a:t>Временные ряды (ВР) :</a:t>
            </a:r>
            <a:endParaRPr lang="ru-RU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ru-RU" sz="2200" dirty="0">
                <a:ea typeface="Calibri" panose="020F0502020204030204" pitchFamily="34" charset="0"/>
                <a:cs typeface="Times New Roman" panose="02020603050405020304" pitchFamily="18" charset="0"/>
              </a:rPr>
              <a:t>набор оцифрованных проиндексированных однотипных значений</a:t>
            </a:r>
          </a:p>
          <a:p>
            <a:pPr lvl="1">
              <a:lnSpc>
                <a:spcPct val="107000"/>
              </a:lnSpc>
            </a:pPr>
            <a:r>
              <a:rPr lang="ru-RU" sz="2200" dirty="0">
                <a:ea typeface="Calibri" panose="020F0502020204030204" pitchFamily="34" charset="0"/>
                <a:cs typeface="Times New Roman" panose="02020603050405020304" pitchFamily="18" charset="0"/>
              </a:rPr>
              <a:t>(часто полученных последовательно во времени с равномерным шагом)</a:t>
            </a:r>
          </a:p>
          <a:p>
            <a:pPr>
              <a:lnSpc>
                <a:spcPct val="107000"/>
              </a:lnSpc>
            </a:pPr>
            <a:r>
              <a:rPr lang="ru-RU" sz="2200" dirty="0">
                <a:ea typeface="Calibri" panose="020F0502020204030204" pitchFamily="34" charset="0"/>
                <a:cs typeface="Times New Roman" panose="02020603050405020304" pitchFamily="18" charset="0"/>
              </a:rPr>
              <a:t>каждый отсчет связан с предыдущими некоторой зависимостью (последовательностью). </a:t>
            </a:r>
          </a:p>
          <a:p>
            <a:pPr lvl="1"/>
            <a:r>
              <a:rPr lang="ru-RU" sz="2200" dirty="0"/>
              <a:t>Могут быть и другие варианты индексации или условно непрерывный ВР</a:t>
            </a:r>
          </a:p>
          <a:p>
            <a:r>
              <a:rPr lang="ru-RU" sz="2200" dirty="0"/>
              <a:t>например, показания датчиков, логи оборудования, цены на акции, отсчеты ЭКГ.</a:t>
            </a:r>
            <a:endParaRPr lang="en-US" sz="22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A1FA70-A553-4CD1-E184-41BACC8EC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</a:t>
            </a:fld>
            <a:endParaRPr lang="en-US"/>
          </a:p>
        </p:txBody>
      </p:sp>
      <p:sp>
        <p:nvSpPr>
          <p:cNvPr id="5" name="Rectangle 231">
            <a:extLst>
              <a:ext uri="{FF2B5EF4-FFF2-40B4-BE49-F238E27FC236}">
                <a16:creationId xmlns:a16="http://schemas.microsoft.com/office/drawing/2014/main" id="{57F50B8E-A23A-4154-9A0C-994DE115A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756" y="4477386"/>
            <a:ext cx="52071" cy="1079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 sz="1351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6C52228-8C94-4CF2-AD63-BA9617333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3999" y="124999"/>
            <a:ext cx="18473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  <a:t/>
            </a:r>
            <a:b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lang="en-US" altLang="en-US" sz="2400">
              <a:latin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5287125-F823-0936-51D8-E03E1A927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1692" y="3780052"/>
            <a:ext cx="4117992" cy="294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B1BD91-25FA-7E4C-22C5-89FFB831108B}"/>
              </a:ext>
            </a:extLst>
          </p:cNvPr>
          <p:cNvSpPr txBox="1"/>
          <p:nvPr/>
        </p:nvSpPr>
        <p:spPr>
          <a:xfrm>
            <a:off x="500251" y="3976770"/>
            <a:ext cx="6858000" cy="2208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Эконометрические данные</a:t>
            </a:r>
          </a:p>
          <a:p>
            <a:pPr marL="285750" indent="-285750"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dirty="0" err="1"/>
              <a:t>Бизнесс</a:t>
            </a:r>
            <a:r>
              <a:rPr lang="ru-RU" dirty="0"/>
              <a:t>-данные</a:t>
            </a:r>
            <a:endParaRPr lang="ru-RU" b="0" i="0" dirty="0">
              <a:effectLst/>
            </a:endParaRPr>
          </a:p>
          <a:p>
            <a:pPr marL="285750" indent="-285750"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Температура и давление в системах отопления.</a:t>
            </a:r>
          </a:p>
          <a:p>
            <a:pPr marL="285750" indent="-285750"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Вибрация подшипников (</a:t>
            </a:r>
            <a:r>
              <a:rPr lang="en" b="0" i="0" dirty="0">
                <a:effectLst/>
              </a:rPr>
              <a:t>NASA Bearing Dataset).</a:t>
            </a:r>
          </a:p>
          <a:p>
            <a:pPr marL="285750" indent="-285750"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Энергопотребление производственных линий.</a:t>
            </a:r>
          </a:p>
          <a:p>
            <a:pPr marL="285750" indent="-285750"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dirty="0"/>
              <a:t>Погодные данные</a:t>
            </a:r>
          </a:p>
          <a:p>
            <a:pPr marL="285750" indent="-285750"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Поведение человека на </a:t>
            </a:r>
            <a:r>
              <a:rPr lang="ru-RU" dirty="0"/>
              <a:t>видеопоследовательности</a:t>
            </a:r>
            <a:endParaRPr lang="ru-RU" b="0" i="0" dirty="0">
              <a:effectLst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3593" y="6430092"/>
            <a:ext cx="4322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https://otexts.com/fpppy/nbs/01-intro.html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6076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78DC2-D333-C7E2-D649-68C22A7D9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BDDB2A-4FB0-3E02-DEB3-474E8FA4F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405" y="365126"/>
            <a:ext cx="11089395" cy="40605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Задач</a:t>
            </a:r>
            <a:r>
              <a:rPr lang="ru-RU" dirty="0"/>
              <a:t>и анализа временных рядов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695E7F-9513-7F32-B5E4-12AF62AE9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1" y="870858"/>
            <a:ext cx="11089395" cy="37625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1" dirty="0"/>
              <a:t>Прогнозирование</a:t>
            </a:r>
            <a:r>
              <a:rPr lang="ru-RU" sz="2200" dirty="0"/>
              <a:t> : </a:t>
            </a:r>
            <a:endParaRPr lang="en-US" sz="2200" dirty="0"/>
          </a:p>
          <a:p>
            <a:pPr lvl="1"/>
            <a:r>
              <a:rPr lang="ru-RU" sz="2200" dirty="0"/>
              <a:t>принятие решения о строительстве еще одной электростанции в течение следующих пяти лет требует прогнозов будущего спроса;</a:t>
            </a:r>
            <a:endParaRPr lang="en-US" sz="2200" dirty="0"/>
          </a:p>
          <a:p>
            <a:pPr lvl="1"/>
            <a:r>
              <a:rPr lang="ru-RU" sz="2200" dirty="0"/>
              <a:t> планирование персонала в </a:t>
            </a:r>
            <a:r>
              <a:rPr lang="ru-RU" sz="2200" dirty="0" err="1"/>
              <a:t>колл</a:t>
            </a:r>
            <a:r>
              <a:rPr lang="ru-RU" sz="2200" dirty="0"/>
              <a:t>-центре на следующую неделю требует прогнозов объемов звонков; </a:t>
            </a:r>
            <a:endParaRPr lang="en-US" sz="2200" dirty="0"/>
          </a:p>
          <a:p>
            <a:pPr lvl="1"/>
            <a:r>
              <a:rPr lang="ru-RU" sz="2200" dirty="0"/>
              <a:t>пополнение запасов требует прогнозов потребностей в запасах. </a:t>
            </a:r>
            <a:endParaRPr lang="en-US" sz="2200" dirty="0"/>
          </a:p>
          <a:p>
            <a:r>
              <a:rPr lang="ru-RU" sz="2200" dirty="0"/>
              <a:t>Прогнозы могут потребоваться на несколько лет вперед (в случае капиталовложений) или всего за несколько минут (для маршрутизации телекоммуникаций). </a:t>
            </a:r>
            <a:endParaRPr lang="en-US" sz="2200" dirty="0"/>
          </a:p>
          <a:p>
            <a:r>
              <a:rPr lang="ru-RU" sz="2200" dirty="0"/>
              <a:t>Независимо от обстоятельств или временных горизонтов прогнозирование является важным средством эффективного и действенного планирования.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63CD86-6C5A-B8D3-D0A5-67DF24A8C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</a:t>
            </a:fld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F203E61-EFA5-0D64-7DEC-DB928CAB24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438"/>
          <a:stretch>
            <a:fillRect/>
          </a:stretch>
        </p:blipFill>
        <p:spPr bwMode="auto">
          <a:xfrm>
            <a:off x="264405" y="4733092"/>
            <a:ext cx="6205279" cy="173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0752DD-73A9-5A7B-B8CB-6A0B5EB62FB7}"/>
              </a:ext>
            </a:extLst>
          </p:cNvPr>
          <p:cNvSpPr txBox="1"/>
          <p:nvPr/>
        </p:nvSpPr>
        <p:spPr>
          <a:xfrm>
            <a:off x="534539" y="6381368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juanitorduz.github.io</a:t>
            </a:r>
            <a:r>
              <a:rPr lang="ru-RU" dirty="0"/>
              <a:t>/</a:t>
            </a:r>
            <a:r>
              <a:rPr lang="ru-RU" dirty="0" err="1"/>
              <a:t>electricity_forecast</a:t>
            </a:r>
            <a:r>
              <a:rPr lang="ru-RU" dirty="0"/>
              <a:t>/</a:t>
            </a:r>
          </a:p>
        </p:txBody>
      </p:sp>
      <p:pic>
        <p:nvPicPr>
          <p:cNvPr id="1030" name="Picture 6" descr="Dataset image">
            <a:extLst>
              <a:ext uri="{FF2B5EF4-FFF2-40B4-BE49-F238E27FC236}">
                <a16:creationId xmlns:a16="http://schemas.microsoft.com/office/drawing/2014/main" id="{5647C96F-5494-1E1F-EA63-79D0D042F2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97" b="23235"/>
          <a:stretch>
            <a:fillRect/>
          </a:stretch>
        </p:blipFill>
        <p:spPr bwMode="auto">
          <a:xfrm>
            <a:off x="6898397" y="4633666"/>
            <a:ext cx="3872932" cy="1747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F1E524-3A05-F082-03B6-204354A5DF09}"/>
              </a:ext>
            </a:extLst>
          </p:cNvPr>
          <p:cNvSpPr txBox="1"/>
          <p:nvPr/>
        </p:nvSpPr>
        <p:spPr>
          <a:xfrm>
            <a:off x="6469684" y="6467559"/>
            <a:ext cx="581922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1050" dirty="0"/>
              <a:t>https://</a:t>
            </a:r>
            <a:r>
              <a:rPr lang="en" sz="1050" dirty="0" err="1"/>
              <a:t>ieee-dataport.org</a:t>
            </a:r>
            <a:r>
              <a:rPr lang="en" sz="1050" dirty="0"/>
              <a:t>/documents/iot-time-series-traffic-data-smart-city-ehealth-and-smart-factory</a:t>
            </a:r>
            <a:endParaRPr lang="ru-RU" sz="10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11DA53-2FA6-3AE6-270F-8AEB3A671266}"/>
              </a:ext>
            </a:extLst>
          </p:cNvPr>
          <p:cNvSpPr txBox="1"/>
          <p:nvPr/>
        </p:nvSpPr>
        <p:spPr>
          <a:xfrm>
            <a:off x="7342496" y="4393396"/>
            <a:ext cx="38575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b="0" i="0" dirty="0">
                <a:solidFill>
                  <a:srgbClr val="E37222"/>
                </a:solidFill>
                <a:effectLst/>
                <a:latin typeface="Open Sans" panose="020B0606030504020204" pitchFamily="34" charset="0"/>
              </a:rPr>
              <a:t>Traffic Data: Smart City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33267B-C094-BAAF-BDB1-141562DD1815}"/>
              </a:ext>
            </a:extLst>
          </p:cNvPr>
          <p:cNvSpPr txBox="1"/>
          <p:nvPr/>
        </p:nvSpPr>
        <p:spPr>
          <a:xfrm>
            <a:off x="2238454" y="4423975"/>
            <a:ext cx="38575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b="0" i="0" dirty="0">
                <a:solidFill>
                  <a:srgbClr val="E37222"/>
                </a:solidFill>
                <a:effectLst/>
                <a:latin typeface="Open Sans" panose="020B0606030504020204" pitchFamily="34" charset="0"/>
              </a:rPr>
              <a:t>Australia Electricity demand</a:t>
            </a:r>
          </a:p>
        </p:txBody>
      </p:sp>
    </p:spTree>
    <p:extLst>
      <p:ext uri="{BB962C8B-B14F-4D97-AF65-F5344CB8AC3E}">
        <p14:creationId xmlns:p14="http://schemas.microsoft.com/office/powerpoint/2010/main" val="407681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2818F-8031-6E84-DC23-A3A3B1BB8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405" y="365126"/>
            <a:ext cx="11089395" cy="406056"/>
          </a:xfrm>
        </p:spPr>
        <p:txBody>
          <a:bodyPr>
            <a:normAutofit fontScale="90000"/>
          </a:bodyPr>
          <a:lstStyle/>
          <a:p>
            <a:r>
              <a:rPr lang="ru-RU" dirty="0"/>
              <a:t>Особенности з</a:t>
            </a:r>
            <a:r>
              <a:rPr lang="en-US" dirty="0" err="1"/>
              <a:t>адач</a:t>
            </a:r>
            <a:r>
              <a:rPr lang="ru-RU" dirty="0"/>
              <a:t>и анализа временных рядов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F36E35-2AFB-9EA9-8E81-FF42509EC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253" y="980502"/>
            <a:ext cx="11612765" cy="5618602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ru-RU" sz="2200" b="1" dirty="0"/>
              <a:t>Особенности временных рядов:</a:t>
            </a:r>
            <a:endParaRPr lang="ru-RU" sz="2200" dirty="0"/>
          </a:p>
          <a:p>
            <a:pPr lvl="1" fontAlgn="base"/>
            <a:r>
              <a:rPr lang="ru-RU" sz="2200" dirty="0"/>
              <a:t>упорядоченность во времени (хронологический порядок);</a:t>
            </a:r>
          </a:p>
          <a:p>
            <a:pPr lvl="1" fontAlgn="base"/>
            <a:r>
              <a:rPr lang="ru-RU" sz="2200" dirty="0"/>
              <a:t>зависимость от прошлого (“память”, серийная или автокорреляция);</a:t>
            </a:r>
          </a:p>
          <a:p>
            <a:pPr lvl="1" fontAlgn="base"/>
            <a:r>
              <a:rPr lang="ru-RU" sz="2200" dirty="0"/>
              <a:t>различаются краткосрочные и долгосрочные зависимости и модели;</a:t>
            </a:r>
          </a:p>
          <a:p>
            <a:pPr lvl="1" fontAlgn="base"/>
            <a:r>
              <a:rPr lang="ru-RU" sz="2200" dirty="0"/>
              <a:t>часто встречается феномен “ложной регрессии”;</a:t>
            </a:r>
          </a:p>
          <a:p>
            <a:pPr lvl="1" fontAlgn="base"/>
            <a:r>
              <a:rPr lang="ru-RU" sz="2200" dirty="0"/>
              <a:t>бывает небольшое число наблюдений (как правило при работе с </a:t>
            </a:r>
            <a:r>
              <a:rPr lang="ru-RU" sz="2200" dirty="0" err="1"/>
              <a:t>макроданными</a:t>
            </a:r>
            <a:r>
              <a:rPr lang="ru-RU" sz="2200" dirty="0"/>
              <a:t>), которое невозможно увеличить (т.к. изменяется вид или структура зависимости).</a:t>
            </a:r>
          </a:p>
          <a:p>
            <a:pPr marL="0" indent="0">
              <a:buNone/>
            </a:pPr>
            <a:r>
              <a:rPr lang="ru-RU" sz="2200" b="1" dirty="0"/>
              <a:t>Предсказуемость события или их количества зависит от нескольких факторов, включая</a:t>
            </a:r>
            <a:r>
              <a:rPr lang="ru-RU" sz="2200" dirty="0"/>
              <a:t>:</a:t>
            </a:r>
          </a:p>
          <a:p>
            <a:pPr lvl="1"/>
            <a:r>
              <a:rPr lang="ru-RU" sz="2200" dirty="0"/>
              <a:t>насколько хорошо мы понимаем факторы, способствующие этому;</a:t>
            </a:r>
          </a:p>
          <a:p>
            <a:pPr lvl="1"/>
            <a:r>
              <a:rPr lang="ru-RU" sz="2200" dirty="0"/>
              <a:t>какой объем данных доступен;</a:t>
            </a:r>
          </a:p>
          <a:p>
            <a:pPr lvl="1"/>
            <a:r>
              <a:rPr lang="ru-RU" sz="2200" dirty="0"/>
              <a:t>насколько будущее похоже на прошлое;</a:t>
            </a:r>
          </a:p>
          <a:p>
            <a:pPr lvl="1"/>
            <a:r>
              <a:rPr lang="ru-RU" sz="2200" dirty="0"/>
              <a:t>могут ли прогнозы повлиять на то, что мы пытаемся прогнозировать.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84D282F-C4E3-E1C3-30C2-35BB0919C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8E892B-9047-E565-4C62-BC1837F832C2}"/>
              </a:ext>
            </a:extLst>
          </p:cNvPr>
          <p:cNvSpPr txBox="1"/>
          <p:nvPr/>
        </p:nvSpPr>
        <p:spPr>
          <a:xfrm>
            <a:off x="0" y="6308208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</a:t>
            </a:r>
            <a:r>
              <a:rPr lang="ru-RU" dirty="0" err="1"/>
              <a:t>fpppy</a:t>
            </a:r>
            <a:r>
              <a:rPr lang="ru-RU" dirty="0"/>
              <a:t>/</a:t>
            </a:r>
            <a:r>
              <a:rPr lang="ru-RU" dirty="0" err="1"/>
              <a:t>nbs</a:t>
            </a:r>
            <a:r>
              <a:rPr lang="ru-RU" dirty="0"/>
              <a:t>/01-intro.html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823012" y="607514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https://ivan-shamaev.ru/time-series-analysis-forecasting-and-models-python-libraries/?ysclid=mckto9evgd241570139</a:t>
            </a:r>
          </a:p>
        </p:txBody>
      </p:sp>
    </p:spTree>
    <p:extLst>
      <p:ext uri="{BB962C8B-B14F-4D97-AF65-F5344CB8AC3E}">
        <p14:creationId xmlns:p14="http://schemas.microsoft.com/office/powerpoint/2010/main" val="3917883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929C9-3647-ECCA-37A5-642C4DE17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96F970-810F-6AA9-4929-311EC9A96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613" y="288285"/>
            <a:ext cx="11089395" cy="1054241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Краткосрочные </a:t>
            </a:r>
            <a:r>
              <a:rPr lang="ru-RU" dirty="0"/>
              <a:t>прогнозы спроса на электроэнергию в жилых домах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8540B2-B500-9CBE-3471-185DD8ADA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27" y="1438211"/>
            <a:ext cx="11612765" cy="5618602"/>
          </a:xfrm>
        </p:spPr>
        <p:txBody>
          <a:bodyPr>
            <a:noAutofit/>
          </a:bodyPr>
          <a:lstStyle/>
          <a:p>
            <a:pPr marL="92075" lvl="1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2200" dirty="0"/>
              <a:t>Особенности</a:t>
            </a:r>
          </a:p>
          <a:p>
            <a:pPr marL="446088" lvl="1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Имеются монолитнее данные на спроса на электроэнергию, </a:t>
            </a:r>
          </a:p>
          <a:p>
            <a:pPr marL="446088" lvl="1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известно, что  спрос на электроэнергию в основном определяется температурой.</a:t>
            </a:r>
          </a:p>
          <a:p>
            <a:pPr marL="446088" lvl="1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При краткосрочном прогнозировании (до нескольких недель) можно с уверенностью предположить, что динамика спроса будет аналогична той, что наблюдалась в прошлом.</a:t>
            </a:r>
          </a:p>
          <a:p>
            <a:pPr marL="446088" lvl="1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Для большинства бытовых потребителей цена</a:t>
            </a:r>
            <a:br>
              <a:rPr lang="ru-RU" sz="2200" dirty="0"/>
            </a:br>
            <a:r>
              <a:rPr lang="ru-RU" sz="2200" dirty="0"/>
              <a:t> на электроэнергию не зависит от спроса, </a:t>
            </a:r>
            <a:br>
              <a:rPr lang="ru-RU" sz="2200" dirty="0"/>
            </a:br>
            <a:r>
              <a:rPr lang="ru-RU" sz="2200" dirty="0"/>
              <a:t>поэтому допустимы ошибки оценки и </a:t>
            </a:r>
            <a:br>
              <a:rPr lang="ru-RU" sz="2200" dirty="0"/>
            </a:br>
            <a:r>
              <a:rPr lang="ru-RU" sz="2200" dirty="0"/>
              <a:t>они будут не критичны.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B4D098-5A41-1C13-12BA-50D0174A6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5</a:t>
            </a:fld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65D7273-3DEB-F512-3362-9FA5647D3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8977" y="3387530"/>
            <a:ext cx="5577003" cy="33339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586ED7-6D7D-151D-3200-3883E9CA5561}"/>
              </a:ext>
            </a:extLst>
          </p:cNvPr>
          <p:cNvSpPr txBox="1"/>
          <p:nvPr/>
        </p:nvSpPr>
        <p:spPr>
          <a:xfrm>
            <a:off x="165253" y="6354247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</a:t>
            </a:r>
            <a:r>
              <a:rPr lang="ru-RU" dirty="0" err="1"/>
              <a:t>fpppy</a:t>
            </a:r>
            <a:r>
              <a:rPr lang="ru-RU" dirty="0"/>
              <a:t>/</a:t>
            </a:r>
            <a:r>
              <a:rPr lang="ru-RU" dirty="0" err="1"/>
              <a:t>nbs</a:t>
            </a:r>
            <a:r>
              <a:rPr lang="ru-RU" dirty="0"/>
              <a:t>/01-intro.html</a:t>
            </a:r>
          </a:p>
        </p:txBody>
      </p:sp>
    </p:spTree>
    <p:extLst>
      <p:ext uri="{BB962C8B-B14F-4D97-AF65-F5344CB8AC3E}">
        <p14:creationId xmlns:p14="http://schemas.microsoft.com/office/powerpoint/2010/main" val="3140890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5DD00-4162-72E8-6D4D-6DD1FE435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572871-B133-4717-74BB-D0D92CEE9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405" y="365126"/>
            <a:ext cx="11089395" cy="406056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Прогнозирование курсов валют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AEA3E3-D6F7-908A-9B35-EF11148B1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253" y="980502"/>
            <a:ext cx="11188547" cy="56186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/>
              <a:t>выполняется только одно из условий: имеется множество доступных данных. </a:t>
            </a:r>
          </a:p>
          <a:p>
            <a:pPr marL="0" indent="0">
              <a:buNone/>
            </a:pPr>
            <a:r>
              <a:rPr lang="ru-RU" sz="2200" dirty="0"/>
              <a:t>Однако </a:t>
            </a:r>
          </a:p>
          <a:p>
            <a:r>
              <a:rPr lang="ru-RU" sz="2200" dirty="0"/>
              <a:t>ограниченное понимание факторов, влияющих на курсы валют, </a:t>
            </a:r>
          </a:p>
          <a:p>
            <a:r>
              <a:rPr lang="ru-RU" sz="2200" dirty="0"/>
              <a:t>будущее может отличаться от прошлого (напр. Природная катастрофа) </a:t>
            </a:r>
          </a:p>
          <a:p>
            <a:r>
              <a:rPr lang="ru-RU" sz="2200" dirty="0"/>
              <a:t>прогнозы курса валют оказывают прямое влияние на сами курсы. Если известно, что курс валют вырастет, все будут покупать валюту и она стабилизируется. В некотором смысле курсы валют становятся их собственными прогнозами. Это пример «гипотезы эффективного рынка». 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76733A-AE85-7115-ED56-57F98A97A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6</a:t>
            </a:fld>
            <a:endParaRPr lang="en-US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A3D96E57-DDB7-1CA5-182E-CFBCDD12A7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E99C0464-1479-106F-B240-07FBE61F9D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690B2A94-FA6A-5A54-E359-1E4F2B921A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A80686E-36B9-9F99-7F63-A4453130B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70" y="4207043"/>
            <a:ext cx="5021722" cy="251443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8FA815-37BB-E70B-E267-899F6B6DCD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1809" y="4258857"/>
            <a:ext cx="4880866" cy="24621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D81EF11-DE95-FA84-6784-821F22F1F524}"/>
              </a:ext>
            </a:extLst>
          </p:cNvPr>
          <p:cNvSpPr txBox="1"/>
          <p:nvPr/>
        </p:nvSpPr>
        <p:spPr>
          <a:xfrm>
            <a:off x="459476" y="6492300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</a:t>
            </a:r>
            <a:r>
              <a:rPr lang="ru-RU" dirty="0" err="1"/>
              <a:t>fpppy</a:t>
            </a:r>
            <a:r>
              <a:rPr lang="ru-RU" dirty="0"/>
              <a:t>/</a:t>
            </a:r>
            <a:r>
              <a:rPr lang="ru-RU" dirty="0" err="1"/>
              <a:t>nbs</a:t>
            </a:r>
            <a:r>
              <a:rPr lang="ru-RU" dirty="0"/>
              <a:t>/01-intro.html</a:t>
            </a:r>
          </a:p>
        </p:txBody>
      </p:sp>
    </p:spTree>
    <p:extLst>
      <p:ext uri="{BB962C8B-B14F-4D97-AF65-F5344CB8AC3E}">
        <p14:creationId xmlns:p14="http://schemas.microsoft.com/office/powerpoint/2010/main" val="3021764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E500F2-C550-ECDE-88F7-3A865A85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126"/>
            <a:ext cx="10934700" cy="69215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Применения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4BF18D-4A68-07A0-A9F7-B3CF16882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197662"/>
            <a:ext cx="10515600" cy="4255686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ru-RU" b="1" dirty="0"/>
              <a:t>Экономический и финансовый анализ</a:t>
            </a:r>
            <a:r>
              <a:rPr lang="ru-RU" dirty="0"/>
              <a:t>: понимание экономических показателей и финансовых рынков, что позволяет получить представление об управлении рисками и стратегическом планировании. 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ru-RU" b="1" dirty="0"/>
              <a:t>Исследовательский естественно-научный (физические эксперименты, метеонаблюдения, экология и </a:t>
            </a:r>
            <a:r>
              <a:rPr lang="ru-RU" b="1" dirty="0" err="1"/>
              <a:t>тд</a:t>
            </a:r>
            <a:r>
              <a:rPr lang="ru-RU" b="1" dirty="0"/>
              <a:t>)</a:t>
            </a:r>
            <a:r>
              <a:rPr lang="ru-RU" dirty="0"/>
              <a:t>: Проводите непрерывный мониторинг окружающей среды и оценивайте климатические риски, что помогает понять долгосрочные тенденции и риски.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b="1" dirty="0" err="1"/>
              <a:t>Диаг</a:t>
            </a:r>
            <a:r>
              <a:rPr lang="ru-RU" b="1" dirty="0" err="1"/>
              <a:t>ностика</a:t>
            </a:r>
            <a:r>
              <a:rPr lang="ru-RU" b="1" dirty="0"/>
              <a:t> в производстве</a:t>
            </a:r>
            <a:r>
              <a:rPr lang="ru-RU" dirty="0"/>
              <a:t>: прогнозируйте сбои оборудования и оптимизируйте графики технического обслуживания, сокращая время простоя и эксплуатационные расходы. </a:t>
            </a:r>
          </a:p>
          <a:p>
            <a:pPr>
              <a:lnSpc>
                <a:spcPct val="120000"/>
              </a:lnSpc>
            </a:pPr>
            <a:r>
              <a:rPr lang="ru-RU" b="1" dirty="0"/>
              <a:t>Обработка сигналов (медицина, геология, локация)</a:t>
            </a:r>
            <a:r>
              <a:rPr lang="ru-RU" dirty="0"/>
              <a:t>: Интерпретируйте сигналы от устройств связи, Интернета вещей, датчиков и систем технического обслуживания для повышения производительности, обнаружения аномалий и повышения надежности.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0C2AE1-D20B-8334-CD40-34225DB1C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7</a:t>
            </a:fld>
            <a:endParaRPr lang="en-US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261180A-3B0C-D7C0-E9DC-BA4A69408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1197662"/>
            <a:ext cx="912125" cy="35344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E4C9845-9193-FFFA-E436-2F5E41EFC2C1}"/>
              </a:ext>
            </a:extLst>
          </p:cNvPr>
          <p:cNvSpPr txBox="1"/>
          <p:nvPr/>
        </p:nvSpPr>
        <p:spPr>
          <a:xfrm>
            <a:off x="735376" y="6398309"/>
            <a:ext cx="7593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www.mathworks.com</a:t>
            </a:r>
            <a:r>
              <a:rPr lang="ru-RU" dirty="0"/>
              <a:t>/</a:t>
            </a:r>
            <a:r>
              <a:rPr lang="ru-RU" dirty="0" err="1"/>
              <a:t>discovery</a:t>
            </a:r>
            <a:r>
              <a:rPr lang="ru-RU" dirty="0"/>
              <a:t>/</a:t>
            </a:r>
            <a:r>
              <a:rPr lang="ru-RU" dirty="0" err="1"/>
              <a:t>time-series-analysis.html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8683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BA1F3E-CEB0-CC7C-D712-4E57B92A1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63" y="247927"/>
            <a:ext cx="10515600" cy="1325563"/>
          </a:xfrm>
        </p:spPr>
        <p:txBody>
          <a:bodyPr/>
          <a:lstStyle/>
          <a:p>
            <a:r>
              <a:rPr lang="ru-RU" b="1" dirty="0"/>
              <a:t>Примеры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F00124-A180-84AC-986F-7027F9311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01 Введение во ВР.</a:t>
            </a:r>
            <a:r>
              <a:rPr lang="en" dirty="0"/>
              <a:t>pptx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222A1EF-CF12-1044-A445-B4D739945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8</a:t>
            </a:fld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1E5E0C5-FD0A-5554-03F3-B02B5CF91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674" y="974892"/>
            <a:ext cx="6381852" cy="1959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396E60-A3E8-2964-2BA6-0EE308E55D30}"/>
              </a:ext>
            </a:extLst>
          </p:cNvPr>
          <p:cNvSpPr txBox="1"/>
          <p:nvPr/>
        </p:nvSpPr>
        <p:spPr>
          <a:xfrm>
            <a:off x="742950" y="6441526"/>
            <a:ext cx="10706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www.kaggle.com</a:t>
            </a:r>
            <a:r>
              <a:rPr lang="ru-RU" dirty="0"/>
              <a:t>/</a:t>
            </a:r>
            <a:r>
              <a:rPr lang="ru-RU" dirty="0" err="1"/>
              <a:t>code</a:t>
            </a:r>
            <a:r>
              <a:rPr lang="ru-RU" dirty="0"/>
              <a:t>/prashant111/</a:t>
            </a:r>
            <a:r>
              <a:rPr lang="ru-RU" dirty="0" err="1"/>
              <a:t>complete-guide-on-time-series-analysis-in-python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A1AD9E-E6EB-CB37-9D3A-4358B55FE22D}"/>
              </a:ext>
            </a:extLst>
          </p:cNvPr>
          <p:cNvSpPr txBox="1"/>
          <p:nvPr/>
        </p:nvSpPr>
        <p:spPr>
          <a:xfrm>
            <a:off x="5562600" y="30809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/>
              <a:t>https://</a:t>
            </a:r>
            <a:r>
              <a:rPr lang="en" dirty="0" err="1"/>
              <a:t>www.kaggle.com</a:t>
            </a:r>
            <a:r>
              <a:rPr lang="en" dirty="0"/>
              <a:t>/datasets/</a:t>
            </a:r>
            <a:r>
              <a:rPr lang="en" dirty="0" err="1"/>
              <a:t>ucsandiego</a:t>
            </a:r>
            <a:r>
              <a:rPr lang="en" dirty="0"/>
              <a:t>/carbon-dioxide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537716A-DC21-6FBC-49C9-DE2564608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40" y="1872960"/>
            <a:ext cx="5251627" cy="41868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DBD4975-5C78-FD5A-5332-D30496F71523}"/>
              </a:ext>
            </a:extLst>
          </p:cNvPr>
          <p:cNvSpPr txBox="1"/>
          <p:nvPr/>
        </p:nvSpPr>
        <p:spPr>
          <a:xfrm>
            <a:off x="370863" y="6059766"/>
            <a:ext cx="88283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www.kaggle.com</a:t>
            </a:r>
            <a:r>
              <a:rPr lang="ru-RU" dirty="0"/>
              <a:t>/</a:t>
            </a:r>
            <a:r>
              <a:rPr lang="ru-RU" dirty="0" err="1"/>
              <a:t>code</a:t>
            </a:r>
            <a:r>
              <a:rPr lang="ru-RU" dirty="0"/>
              <a:t>/</a:t>
            </a:r>
            <a:r>
              <a:rPr lang="ru-RU" dirty="0" err="1"/>
              <a:t>akhiljethwa</a:t>
            </a:r>
            <a:r>
              <a:rPr lang="ru-RU" dirty="0"/>
              <a:t>/</a:t>
            </a:r>
            <a:r>
              <a:rPr lang="ru-RU" dirty="0" err="1"/>
              <a:t>eda-on-global-energy-data</a:t>
            </a:r>
            <a:r>
              <a:rPr lang="ru-RU" dirty="0"/>
              <a:t>/</a:t>
            </a:r>
            <a:r>
              <a:rPr lang="ru-RU" dirty="0" err="1"/>
              <a:t>notebook</a:t>
            </a:r>
            <a:endParaRPr lang="ru-RU" dirty="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B0F90CE2-1D55-617F-2695-0C6812D39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1569" y="3517150"/>
            <a:ext cx="5534362" cy="2143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CDE78A4-2324-0944-D42B-539C26D3EB7D}"/>
              </a:ext>
            </a:extLst>
          </p:cNvPr>
          <p:cNvSpPr txBox="1"/>
          <p:nvPr/>
        </p:nvSpPr>
        <p:spPr>
          <a:xfrm>
            <a:off x="4155911" y="5702862"/>
            <a:ext cx="8036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www.kaggle.com</a:t>
            </a:r>
            <a:r>
              <a:rPr lang="ru-RU" dirty="0"/>
              <a:t>/</a:t>
            </a:r>
            <a:r>
              <a:rPr lang="ru-RU" dirty="0" err="1"/>
              <a:t>code</a:t>
            </a:r>
            <a:r>
              <a:rPr lang="ru-RU" dirty="0"/>
              <a:t>/</a:t>
            </a:r>
            <a:r>
              <a:rPr lang="ru-RU" dirty="0" err="1"/>
              <a:t>yasinsametkaraca</a:t>
            </a:r>
            <a:r>
              <a:rPr lang="ru-RU" dirty="0"/>
              <a:t>/</a:t>
            </a:r>
            <a:r>
              <a:rPr lang="ru-RU" dirty="0" err="1"/>
              <a:t>time-series-forecasting-xgboost</a:t>
            </a:r>
            <a:endParaRPr lang="ru-RU" dirty="0"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C8BA1F3E-CEB0-CC7C-D712-4E57B92A1BAD}"/>
              </a:ext>
            </a:extLst>
          </p:cNvPr>
          <p:cNvSpPr txBox="1">
            <a:spLocks/>
          </p:cNvSpPr>
          <p:nvPr/>
        </p:nvSpPr>
        <p:spPr>
          <a:xfrm>
            <a:off x="4871544" y="528635"/>
            <a:ext cx="5257801" cy="4400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Эконометрические показатели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3176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B0BEDB-9774-4E17-9A6B-DBCF6A1F5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81185"/>
            <a:ext cx="9144000" cy="1319344"/>
          </a:xfrm>
        </p:spPr>
        <p:txBody>
          <a:bodyPr>
            <a:normAutofit/>
          </a:bodyPr>
          <a:lstStyle/>
          <a:p>
            <a:r>
              <a:rPr lang="ru-RU" sz="3200" b="1" dirty="0"/>
              <a:t>Примеры приложений анализа временных рядов</a:t>
            </a:r>
            <a:endParaRPr lang="ru-RU" sz="32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71B9812-C3DD-F3D1-E3DB-C6DBDB2D7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231">
            <a:extLst>
              <a:ext uri="{FF2B5EF4-FFF2-40B4-BE49-F238E27FC236}">
                <a16:creationId xmlns:a16="http://schemas.microsoft.com/office/drawing/2014/main" id="{57F50B8E-A23A-4154-9A0C-994DE115A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756" y="4477386"/>
            <a:ext cx="52071" cy="1079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 sz="1351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6C52228-8C94-4CF2-AD63-BA9617333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3999" y="124999"/>
            <a:ext cx="18473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  <a:t/>
            </a:r>
            <a:b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lang="en-US" altLang="en-US" sz="2400">
              <a:latin typeface="Arial" panose="020B06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0FE80FE-BB9D-9DC1-C5CA-E7B33EE04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53" y="1063106"/>
            <a:ext cx="5271284" cy="512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738D70-C732-8A4B-1DFB-40475542C687}"/>
              </a:ext>
            </a:extLst>
          </p:cNvPr>
          <p:cNvSpPr txBox="1"/>
          <p:nvPr/>
        </p:nvSpPr>
        <p:spPr>
          <a:xfrm>
            <a:off x="324350" y="6130484"/>
            <a:ext cx="52600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www.kaggle.com</a:t>
            </a:r>
            <a:r>
              <a:rPr lang="ru-RU" sz="1200" dirty="0"/>
              <a:t>/</a:t>
            </a:r>
            <a:r>
              <a:rPr lang="ru-RU" sz="1200" dirty="0" err="1"/>
              <a:t>code</a:t>
            </a:r>
            <a:r>
              <a:rPr lang="ru-RU" sz="1200" dirty="0"/>
              <a:t>/eslammohamed100/</a:t>
            </a:r>
            <a:r>
              <a:rPr lang="ru-RU" sz="1200" dirty="0" err="1"/>
              <a:t>microsoft-stock-time-series-analysis</a:t>
            </a:r>
            <a:endParaRPr lang="ru-RU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68F3ED-FD40-E891-1E96-DCAA6441C0C4}"/>
              </a:ext>
            </a:extLst>
          </p:cNvPr>
          <p:cNvSpPr txBox="1"/>
          <p:nvPr/>
        </p:nvSpPr>
        <p:spPr>
          <a:xfrm>
            <a:off x="930729" y="1147044"/>
            <a:ext cx="3891642" cy="38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400"/>
              </a:lnSpc>
            </a:pPr>
            <a:r>
              <a:rPr lang="en" b="1" i="0" dirty="0">
                <a:solidFill>
                  <a:srgbClr val="202124"/>
                </a:solidFill>
                <a:effectLst/>
                <a:latin typeface="Inter"/>
              </a:rPr>
              <a:t>Microsoft Stock- Time Series Analysis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678FF871-C076-5BAC-716B-9CE016383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2008" y="944193"/>
            <a:ext cx="5271285" cy="2487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35762B8-B744-1173-BAF3-A36591CC3312}"/>
              </a:ext>
            </a:extLst>
          </p:cNvPr>
          <p:cNvSpPr txBox="1"/>
          <p:nvPr/>
        </p:nvSpPr>
        <p:spPr>
          <a:xfrm>
            <a:off x="6426506" y="1215863"/>
            <a:ext cx="4241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>
                <a:solidFill>
                  <a:srgbClr val="BB2323"/>
                </a:solidFill>
                <a:effectLst/>
                <a:latin typeface="inherit"/>
              </a:rPr>
              <a:t>In-game currency spent (daily data)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E4C8F2-85B6-2D7A-A59F-FD4A05E5A22B}"/>
              </a:ext>
            </a:extLst>
          </p:cNvPr>
          <p:cNvSpPr txBox="1"/>
          <p:nvPr/>
        </p:nvSpPr>
        <p:spPr>
          <a:xfrm>
            <a:off x="5398737" y="3395201"/>
            <a:ext cx="723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www.kaggle.com</a:t>
            </a:r>
            <a:r>
              <a:rPr lang="ru-RU" sz="1400" dirty="0"/>
              <a:t>/</a:t>
            </a:r>
            <a:r>
              <a:rPr lang="ru-RU" sz="1400" dirty="0" err="1"/>
              <a:t>code</a:t>
            </a:r>
            <a:r>
              <a:rPr lang="ru-RU" sz="1400" dirty="0"/>
              <a:t>/</a:t>
            </a:r>
            <a:r>
              <a:rPr lang="ru-RU" sz="1400" dirty="0" err="1"/>
              <a:t>kashnitsky</a:t>
            </a:r>
            <a:r>
              <a:rPr lang="ru-RU" sz="1400" dirty="0"/>
              <a:t>/topic-9-part-1-time-series-analysis-in-python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9C2FAFE-E52F-D4AF-ADC8-EB00476296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5828" y="3699390"/>
            <a:ext cx="3482572" cy="290124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70919F9-6324-6F9C-8BC9-302F7FF0D7A8}"/>
              </a:ext>
            </a:extLst>
          </p:cNvPr>
          <p:cNvSpPr txBox="1"/>
          <p:nvPr/>
        </p:nvSpPr>
        <p:spPr>
          <a:xfrm>
            <a:off x="4279534" y="6413698"/>
            <a:ext cx="74282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www.kaggle.com</a:t>
            </a:r>
            <a:r>
              <a:rPr lang="ru-RU" sz="1400" dirty="0"/>
              <a:t>/</a:t>
            </a:r>
            <a:r>
              <a:rPr lang="ru-RU" sz="1400" dirty="0" err="1"/>
              <a:t>code</a:t>
            </a:r>
            <a:r>
              <a:rPr lang="ru-RU" sz="1400" dirty="0"/>
              <a:t>/</a:t>
            </a:r>
            <a:r>
              <a:rPr lang="ru-RU" sz="1400" dirty="0" err="1"/>
              <a:t>atulkgoyl</a:t>
            </a:r>
            <a:r>
              <a:rPr lang="ru-RU" sz="1400" dirty="0"/>
              <a:t>/</a:t>
            </a:r>
            <a:r>
              <a:rPr lang="ru-RU" sz="1400" dirty="0" err="1"/>
              <a:t>store-sales-time-series-forecasting-regression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482302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26327D-5961-A930-BB15-F0F13A71B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08" y="484862"/>
            <a:ext cx="5738101" cy="852948"/>
          </a:xfrm>
        </p:spPr>
        <p:txBody>
          <a:bodyPr>
            <a:normAutofit/>
          </a:bodyPr>
          <a:lstStyle/>
          <a:p>
            <a:r>
              <a:rPr lang="ru-RU" b="1" dirty="0"/>
              <a:t>Примеры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862C52-6499-4A2A-486C-9A5DCD8AF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818290" cy="43513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74871B7-53EE-D2D3-8995-9DE6D5DAE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10</a:t>
            </a:fld>
            <a:endParaRPr lang="en-US"/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021E3379-966F-EFF6-710F-880204762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1533" y="689267"/>
            <a:ext cx="3604175" cy="2575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CE58BD9D-01FD-408F-5D3E-8DA3166C1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9501" y="809582"/>
            <a:ext cx="3767388" cy="2537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B951A9-E548-2987-1FF2-FFC2E7BB02DF}"/>
              </a:ext>
            </a:extLst>
          </p:cNvPr>
          <p:cNvSpPr txBox="1"/>
          <p:nvPr/>
        </p:nvSpPr>
        <p:spPr>
          <a:xfrm>
            <a:off x="4196043" y="3333095"/>
            <a:ext cx="77017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 err="1"/>
              <a:t>https</a:t>
            </a:r>
            <a:r>
              <a:rPr lang="ru-RU" sz="1600" dirty="0"/>
              <a:t>://</a:t>
            </a:r>
            <a:r>
              <a:rPr lang="ru-RU" sz="1600" dirty="0" err="1"/>
              <a:t>www.kaggle.com</a:t>
            </a:r>
            <a:r>
              <a:rPr lang="ru-RU" sz="1600" dirty="0"/>
              <a:t>/</a:t>
            </a:r>
            <a:r>
              <a:rPr lang="ru-RU" sz="1600" dirty="0" err="1"/>
              <a:t>code</a:t>
            </a:r>
            <a:r>
              <a:rPr lang="ru-RU" sz="1600" dirty="0"/>
              <a:t>/jegun19/</a:t>
            </a:r>
            <a:r>
              <a:rPr lang="ru-RU" sz="1600" dirty="0" err="1"/>
              <a:t>predictive-maintenance-time-series-forecasting</a:t>
            </a:r>
            <a:endParaRPr lang="ru-RU" sz="1600" dirty="0"/>
          </a:p>
        </p:txBody>
      </p:sp>
      <p:pic>
        <p:nvPicPr>
          <p:cNvPr id="4106" name="Picture 10">
            <a:extLst>
              <a:ext uri="{FF2B5EF4-FFF2-40B4-BE49-F238E27FC236}">
                <a16:creationId xmlns:a16="http://schemas.microsoft.com/office/drawing/2014/main" id="{46A5D6CA-CABB-3F75-8643-E90D75359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875" y="3751889"/>
            <a:ext cx="5841014" cy="2901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A9D21E6-5CA5-22F1-6A98-DA6FD3D50335}"/>
              </a:ext>
            </a:extLst>
          </p:cNvPr>
          <p:cNvSpPr txBox="1"/>
          <p:nvPr/>
        </p:nvSpPr>
        <p:spPr>
          <a:xfrm>
            <a:off x="3515710" y="6527032"/>
            <a:ext cx="84608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1600" dirty="0"/>
              <a:t>https://</a:t>
            </a:r>
            <a:r>
              <a:rPr lang="en" sz="1600" dirty="0" err="1"/>
              <a:t>www.kaggle.com</a:t>
            </a:r>
            <a:r>
              <a:rPr lang="en" sz="1600" dirty="0"/>
              <a:t>/code/marianadeem755/forecasting-electricity-by-hour-</a:t>
            </a:r>
            <a:r>
              <a:rPr lang="en" sz="1600" dirty="0" err="1"/>
              <a:t>rnn</a:t>
            </a:r>
            <a:r>
              <a:rPr lang="en" sz="1600" dirty="0"/>
              <a:t>-vs-</a:t>
            </a:r>
            <a:r>
              <a:rPr lang="en" sz="1600" dirty="0" err="1"/>
              <a:t>lstm</a:t>
            </a:r>
            <a:endParaRPr lang="ru-RU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B951A9-E548-2987-1FF2-FFC2E7BB02DF}"/>
              </a:ext>
            </a:extLst>
          </p:cNvPr>
          <p:cNvSpPr txBox="1"/>
          <p:nvPr/>
        </p:nvSpPr>
        <p:spPr>
          <a:xfrm>
            <a:off x="4196042" y="177235"/>
            <a:ext cx="77017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Анализ состояния агрегатов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B951A9-E548-2987-1FF2-FFC2E7BB02DF}"/>
              </a:ext>
            </a:extLst>
          </p:cNvPr>
          <p:cNvSpPr txBox="1"/>
          <p:nvPr/>
        </p:nvSpPr>
        <p:spPr>
          <a:xfrm>
            <a:off x="3264758" y="4519191"/>
            <a:ext cx="22914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Потребление электроэнергии</a:t>
            </a:r>
          </a:p>
        </p:txBody>
      </p:sp>
    </p:spTree>
    <p:extLst>
      <p:ext uri="{BB962C8B-B14F-4D97-AF65-F5344CB8AC3E}">
        <p14:creationId xmlns:p14="http://schemas.microsoft.com/office/powerpoint/2010/main" val="1658279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26327D-5961-A930-BB15-F0F13A71B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08" y="484862"/>
            <a:ext cx="5738101" cy="852948"/>
          </a:xfrm>
        </p:spPr>
        <p:txBody>
          <a:bodyPr>
            <a:normAutofit/>
          </a:bodyPr>
          <a:lstStyle/>
          <a:p>
            <a:r>
              <a:rPr lang="ru-RU" b="1" dirty="0"/>
              <a:t>Примеры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74871B7-53EE-D2D3-8995-9DE6D5DAE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11</a:t>
            </a:fld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5715FC2-9877-6BB3-A1A3-B73F7713E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588" y="2004933"/>
            <a:ext cx="4979734" cy="2802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9E9EACB2-D25F-007F-194C-1A1637804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959" y="2004933"/>
            <a:ext cx="5922345" cy="289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647F85-34C2-9508-2668-1A2E2A0756A1}"/>
              </a:ext>
            </a:extLst>
          </p:cNvPr>
          <p:cNvSpPr txBox="1"/>
          <p:nvPr/>
        </p:nvSpPr>
        <p:spPr>
          <a:xfrm>
            <a:off x="2088932" y="5073908"/>
            <a:ext cx="86689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 err="1"/>
              <a:t>https</a:t>
            </a:r>
            <a:r>
              <a:rPr lang="ru-RU" sz="1600" dirty="0"/>
              <a:t>://</a:t>
            </a:r>
            <a:r>
              <a:rPr lang="ru-RU" sz="1600" dirty="0" err="1"/>
              <a:t>www.kaggle.com</a:t>
            </a:r>
            <a:r>
              <a:rPr lang="ru-RU" sz="1600" dirty="0"/>
              <a:t>/</a:t>
            </a:r>
            <a:r>
              <a:rPr lang="ru-RU" sz="1600" dirty="0" err="1"/>
              <a:t>datasets</a:t>
            </a:r>
            <a:r>
              <a:rPr lang="ru-RU" sz="1600" dirty="0"/>
              <a:t>/vinayak123tyagi/</a:t>
            </a:r>
            <a:r>
              <a:rPr lang="ru-RU" sz="1600" dirty="0" err="1"/>
              <a:t>bearing-dataset</a:t>
            </a:r>
            <a:r>
              <a:rPr lang="ru-RU" sz="1600" dirty="0"/>
              <a:t>/</a:t>
            </a:r>
            <a:r>
              <a:rPr lang="ru-RU" sz="1600" dirty="0" err="1"/>
              <a:t>code</a:t>
            </a:r>
            <a:endParaRPr lang="ru-RU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8FE65A-3F4E-BBB6-C8ED-B386A57B1A89}"/>
              </a:ext>
            </a:extLst>
          </p:cNvPr>
          <p:cNvSpPr txBox="1"/>
          <p:nvPr/>
        </p:nvSpPr>
        <p:spPr>
          <a:xfrm>
            <a:off x="4556235" y="1719746"/>
            <a:ext cx="63200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400"/>
              </a:lnSpc>
            </a:pPr>
            <a:r>
              <a:rPr lang="en" b="1" i="0" dirty="0">
                <a:solidFill>
                  <a:srgbClr val="202124"/>
                </a:solidFill>
                <a:effectLst/>
                <a:latin typeface="Inter"/>
              </a:rPr>
              <a:t>NASA Bearing Dataset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8FE65A-3F4E-BBB6-C8ED-B386A57B1A89}"/>
              </a:ext>
            </a:extLst>
          </p:cNvPr>
          <p:cNvSpPr txBox="1"/>
          <p:nvPr/>
        </p:nvSpPr>
        <p:spPr>
          <a:xfrm>
            <a:off x="4909057" y="1386301"/>
            <a:ext cx="6927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400"/>
              </a:lnSpc>
            </a:pPr>
            <a:r>
              <a:rPr lang="ru-RU" b="1" i="0" dirty="0">
                <a:solidFill>
                  <a:srgbClr val="202124"/>
                </a:solidFill>
                <a:effectLst/>
                <a:latin typeface="Inter"/>
              </a:rPr>
              <a:t>Анализ нештатных ситуаций</a:t>
            </a:r>
            <a:endParaRPr lang="en" b="1" i="0" dirty="0">
              <a:solidFill>
                <a:srgbClr val="202124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092595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483" y="934359"/>
            <a:ext cx="10932920" cy="3523342"/>
          </a:xfrm>
        </p:spPr>
        <p:txBody>
          <a:bodyPr>
            <a:normAutofit/>
          </a:bodyPr>
          <a:lstStyle/>
          <a:p>
            <a:r>
              <a:rPr lang="ru-RU" sz="8000" dirty="0" smtClean="0"/>
              <a:t>Типы временных рядов</a:t>
            </a:r>
            <a:endParaRPr lang="en-US" sz="80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46F77CB-BE50-557D-1B14-E047A35B2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809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28D024-4605-8CBD-DFD0-F3F657EDA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069" y="365126"/>
            <a:ext cx="11162731" cy="603866"/>
          </a:xfrm>
        </p:spPr>
        <p:txBody>
          <a:bodyPr>
            <a:normAutofit fontScale="90000"/>
          </a:bodyPr>
          <a:lstStyle/>
          <a:p>
            <a:r>
              <a:rPr lang="ru-RU" dirty="0"/>
              <a:t>Представление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A626E8-756A-B6C0-CE0D-154ECACBD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33" y="1115941"/>
            <a:ext cx="11162731" cy="46707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Временной ряд — это список чисел (наблюдений) с информацией о том, когда эти числа были записаны (индекс). Числа могут быть в одном столбце (</a:t>
            </a:r>
            <a:r>
              <a:rPr lang="ru-RU" sz="2400" dirty="0" err="1"/>
              <a:t>однопеременный</a:t>
            </a:r>
            <a:r>
              <a:rPr lang="ru-RU" sz="2400" dirty="0"/>
              <a:t> ВР) или в нескольких (</a:t>
            </a:r>
            <a:r>
              <a:rPr lang="ru-RU" sz="2400" dirty="0" err="1"/>
              <a:t>многопеременный</a:t>
            </a:r>
            <a:r>
              <a:rPr lang="ru-RU" sz="2400" dirty="0"/>
              <a:t> ВР). Иногда существуют дополнительные столбцы с более подробной информацией о наблюдениях, известные как </a:t>
            </a:r>
            <a:r>
              <a:rPr lang="ru-RU" sz="2400" dirty="0" err="1"/>
              <a:t>ковариаты</a:t>
            </a:r>
            <a:r>
              <a:rPr lang="ru-RU" sz="2400" dirty="0"/>
              <a:t> или экзогенные переменные. 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E8FDC8-D1FC-8C9E-7294-0DEA211E1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13</a:t>
            </a:fld>
            <a:endParaRPr lang="en-US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B76FF666-AB25-69EA-BF0F-FD8B4CE55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88" y="3028213"/>
            <a:ext cx="5940115" cy="254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036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5" y="365126"/>
            <a:ext cx="11229975" cy="14680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Представление Временных рядов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250" y="964242"/>
            <a:ext cx="10515600" cy="43513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14</a:t>
            </a:fld>
            <a:endParaRPr lang="en-US"/>
          </a:p>
        </p:txBody>
      </p:sp>
      <p:pic>
        <p:nvPicPr>
          <p:cNvPr id="1026" name="Picture 2" descr="Enlarged Imag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4" t="41497" r="48992" b="17002"/>
          <a:stretch/>
        </p:blipFill>
        <p:spPr bwMode="auto">
          <a:xfrm>
            <a:off x="461042" y="4507212"/>
            <a:ext cx="4377658" cy="2214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Enlarged Imag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7" t="9446" r="60411" b="80213"/>
          <a:stretch/>
        </p:blipFill>
        <p:spPr bwMode="auto">
          <a:xfrm>
            <a:off x="1644385" y="3738013"/>
            <a:ext cx="3488550" cy="580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Enlarged Image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8" t="34512" r="43940" b="11661"/>
          <a:stretch/>
        </p:blipFill>
        <p:spPr bwMode="auto">
          <a:xfrm>
            <a:off x="8337177" y="4507212"/>
            <a:ext cx="3609896" cy="223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Группа 6"/>
          <p:cNvGrpSpPr/>
          <p:nvPr/>
        </p:nvGrpSpPr>
        <p:grpSpPr>
          <a:xfrm>
            <a:off x="4811038" y="4216622"/>
            <a:ext cx="2225040" cy="2282132"/>
            <a:chOff x="4838700" y="4439343"/>
            <a:chExt cx="2225040" cy="2282132"/>
          </a:xfrm>
        </p:grpSpPr>
        <p:pic>
          <p:nvPicPr>
            <p:cNvPr id="10" name="Picture 8" descr="Enlarged Image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50" t="34512" r="70762" b="10592"/>
            <a:stretch/>
          </p:blipFill>
          <p:spPr bwMode="auto">
            <a:xfrm>
              <a:off x="4838700" y="4439344"/>
              <a:ext cx="1619249" cy="22821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8" descr="Enlarged Image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019" t="34512" r="54162" b="10592"/>
            <a:stretch/>
          </p:blipFill>
          <p:spPr bwMode="auto">
            <a:xfrm>
              <a:off x="6408365" y="4439343"/>
              <a:ext cx="655375" cy="22821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4" name="Picture 10" descr="Enlarged Image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0" t="29870" r="13574" b="6701"/>
          <a:stretch/>
        </p:blipFill>
        <p:spPr bwMode="auto">
          <a:xfrm>
            <a:off x="5349050" y="1215063"/>
            <a:ext cx="6598023" cy="2965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0" descr="Enlarged Image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5" t="8683" r="57372" b="79750"/>
          <a:stretch/>
        </p:blipFill>
        <p:spPr bwMode="auto">
          <a:xfrm>
            <a:off x="5648324" y="988056"/>
            <a:ext cx="3165662" cy="54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1419225" y="6565660"/>
            <a:ext cx="683895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https://knowledge.dataiku.com/latest/ml-analytics/time-series/concept-data-types-formats.html</a:t>
            </a:r>
          </a:p>
        </p:txBody>
      </p:sp>
    </p:spTree>
    <p:extLst>
      <p:ext uri="{BB962C8B-B14F-4D97-AF65-F5344CB8AC3E}">
        <p14:creationId xmlns:p14="http://schemas.microsoft.com/office/powerpoint/2010/main" val="3611368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E5FD9-3051-629C-2F97-C85F3C726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1751"/>
          </a:xfrm>
        </p:spPr>
        <p:txBody>
          <a:bodyPr>
            <a:normAutofit fontScale="90000"/>
          </a:bodyPr>
          <a:lstStyle/>
          <a:p>
            <a:r>
              <a:rPr lang="ru-RU" dirty="0"/>
              <a:t>Т</a:t>
            </a:r>
            <a:r>
              <a:rPr lang="en-US" dirty="0" err="1"/>
              <a:t>ип</a:t>
            </a:r>
            <a:r>
              <a:rPr lang="ru-RU" dirty="0"/>
              <a:t>ы ВР</a:t>
            </a:r>
            <a:br>
              <a:rPr lang="ru-RU" dirty="0"/>
            </a:br>
            <a:endParaRPr lang="ru-RU" dirty="0"/>
          </a:p>
        </p:txBody>
      </p:sp>
      <p:pic>
        <p:nvPicPr>
          <p:cNvPr id="10246" name="Picture 6">
            <a:extLst>
              <a:ext uri="{FF2B5EF4-FFF2-40B4-BE49-F238E27FC236}">
                <a16:creationId xmlns:a16="http://schemas.microsoft.com/office/drawing/2014/main" id="{C02F706D-4556-CD59-5DD6-64AD296BC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973" y="1132763"/>
            <a:ext cx="4212616" cy="3502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DD180F2-529F-8133-D6ED-F9CAB89D8902}"/>
              </a:ext>
            </a:extLst>
          </p:cNvPr>
          <p:cNvSpPr txBox="1"/>
          <p:nvPr/>
        </p:nvSpPr>
        <p:spPr>
          <a:xfrm>
            <a:off x="7314092" y="632673"/>
            <a:ext cx="35583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 err="1"/>
              <a:t>Многопеременные</a:t>
            </a:r>
            <a:endParaRPr lang="ru-RU" sz="3200" dirty="0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F0FE80FE-BB9D-9DC1-C5CA-E7B33EE04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17448"/>
            <a:ext cx="3194531" cy="3108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DD180F2-529F-8133-D6ED-F9CAB89D8902}"/>
              </a:ext>
            </a:extLst>
          </p:cNvPr>
          <p:cNvSpPr txBox="1"/>
          <p:nvPr/>
        </p:nvSpPr>
        <p:spPr>
          <a:xfrm>
            <a:off x="344748" y="595148"/>
            <a:ext cx="33451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 err="1"/>
              <a:t>Однопеременные</a:t>
            </a:r>
            <a:endParaRPr lang="ru-RU" sz="32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168CFFE-8428-D4A6-71E0-8396480A64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6643"/>
          <a:stretch>
            <a:fillRect/>
          </a:stretch>
        </p:blipFill>
        <p:spPr>
          <a:xfrm>
            <a:off x="1630247" y="4711699"/>
            <a:ext cx="7741822" cy="185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45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8BEFC-227C-F3A5-6BF7-0EDC5199E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73508C-9B06-9D83-FA2F-0D3110DF0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365125"/>
            <a:ext cx="11068050" cy="864631"/>
          </a:xfrm>
        </p:spPr>
        <p:txBody>
          <a:bodyPr/>
          <a:lstStyle/>
          <a:p>
            <a:r>
              <a:rPr lang="ru-RU" dirty="0"/>
              <a:t>Экзогенные и </a:t>
            </a:r>
            <a:r>
              <a:rPr lang="ru-RU" dirty="0" err="1"/>
              <a:t>многопеременные</a:t>
            </a:r>
            <a:r>
              <a:rPr lang="ru-RU" dirty="0"/>
              <a:t>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CEC062-D60A-AFC8-0F6D-C2BF7E437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49" y="1277897"/>
            <a:ext cx="11634501" cy="4351338"/>
          </a:xfrm>
        </p:spPr>
        <p:txBody>
          <a:bodyPr>
            <a:normAutofit/>
          </a:bodyPr>
          <a:lstStyle/>
          <a:p>
            <a:r>
              <a:rPr lang="ru-RU" sz="2200" b="1" dirty="0"/>
              <a:t>Экзогенные факторы </a:t>
            </a:r>
            <a:r>
              <a:rPr lang="ru-RU" sz="2200" dirty="0"/>
              <a:t>— это переменные, которые влияют на исследуемый ВР , но не зависят от него. Эти факторы могут быть использованы для объяснения изменений в зависимой переменной. Напр. Влияние природных катастроф на прогноз урожайности зерна</a:t>
            </a:r>
          </a:p>
          <a:p>
            <a:r>
              <a:rPr lang="ru-RU" sz="2200" b="1" dirty="0" err="1"/>
              <a:t>Многопеременные</a:t>
            </a:r>
            <a:r>
              <a:rPr lang="ru-RU" sz="2200" b="1" dirty="0"/>
              <a:t> временные ряды </a:t>
            </a:r>
            <a:r>
              <a:rPr lang="ru-RU" sz="2200" dirty="0"/>
              <a:t>представляют собой набор ВР, собранных в течение времени, где несколько переменных наблюдаются одновременно и все важны. ВР могут быть как эндогенными (зависимыми), так и экзогенными!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EE6F89-EBA7-EB60-3D8B-BA18FD668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75B6E4-D643-B929-7BB1-F8890A822031}"/>
              </a:ext>
            </a:extLst>
          </p:cNvPr>
          <p:cNvSpPr txBox="1"/>
          <p:nvPr/>
        </p:nvSpPr>
        <p:spPr>
          <a:xfrm>
            <a:off x="6096000" y="63774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goldinlocks.github.io</a:t>
            </a:r>
            <a:r>
              <a:rPr lang="ru-RU" dirty="0"/>
              <a:t>/</a:t>
            </a:r>
            <a:r>
              <a:rPr lang="ru-RU" dirty="0" err="1"/>
              <a:t>Multivariate-time-series-models</a:t>
            </a:r>
            <a:r>
              <a:rPr lang="ru-RU" dirty="0"/>
              <a:t>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F5DD3F-6A24-7192-B5D7-62856EC6C547}"/>
              </a:ext>
            </a:extLst>
          </p:cNvPr>
          <p:cNvSpPr txBox="1"/>
          <p:nvPr/>
        </p:nvSpPr>
        <p:spPr>
          <a:xfrm>
            <a:off x="285749" y="3303885"/>
            <a:ext cx="111187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222222"/>
                </a:solidFill>
                <a:effectLst/>
                <a:latin typeface="var(--sds-font-family-01)"/>
              </a:rPr>
              <a:t>Экзогенные факторы используются для объяснения изменений в зависимой переменной.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b="0" i="0" u="none" strike="noStrike" dirty="0" err="1">
                <a:solidFill>
                  <a:srgbClr val="222222"/>
                </a:solidFill>
                <a:effectLst/>
                <a:latin typeface="var(--sds-font-family-01)"/>
              </a:rPr>
              <a:t>Многопеременные</a:t>
            </a:r>
            <a:r>
              <a:rPr lang="ru-RU" b="0" i="0" u="none" strike="noStrike" dirty="0">
                <a:solidFill>
                  <a:srgbClr val="222222"/>
                </a:solidFill>
                <a:effectLst/>
                <a:latin typeface="var(--sds-font-family-01)"/>
              </a:rPr>
              <a:t> временные ряды используются для анализа взаимосвязей между несколькими переменными во времени.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93BA4B2-C05F-1DD9-686F-3807EB25E4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7807" b="56643"/>
          <a:stretch>
            <a:fillRect/>
          </a:stretch>
        </p:blipFill>
        <p:spPr>
          <a:xfrm>
            <a:off x="776656" y="4227215"/>
            <a:ext cx="4481144" cy="254849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3BCEB44-5DE6-9EEE-6D21-7B224F0F9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745" b="56643"/>
          <a:stretch>
            <a:fillRect/>
          </a:stretch>
        </p:blipFill>
        <p:spPr>
          <a:xfrm>
            <a:off x="6731914" y="3953357"/>
            <a:ext cx="5679243" cy="229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683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863240-7081-E76A-ACCD-B5BA5DC06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365125"/>
            <a:ext cx="11068050" cy="864631"/>
          </a:xfrm>
        </p:spPr>
        <p:txBody>
          <a:bodyPr/>
          <a:lstStyle/>
          <a:p>
            <a:r>
              <a:rPr lang="ru-RU" dirty="0"/>
              <a:t>Экзогенные и </a:t>
            </a:r>
            <a:r>
              <a:rPr lang="ru-RU" dirty="0" err="1"/>
              <a:t>многопеременные</a:t>
            </a:r>
            <a:r>
              <a:rPr lang="ru-RU" dirty="0"/>
              <a:t> ВР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601DB23-2F3F-9FA2-A9CF-B17E2699F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C891B2-62E7-871D-CF4F-05D6CA6E0463}"/>
              </a:ext>
            </a:extLst>
          </p:cNvPr>
          <p:cNvSpPr txBox="1"/>
          <p:nvPr/>
        </p:nvSpPr>
        <p:spPr>
          <a:xfrm>
            <a:off x="6096000" y="63774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goldinlocks.github.io</a:t>
            </a:r>
            <a:r>
              <a:rPr lang="ru-RU" dirty="0"/>
              <a:t>/</a:t>
            </a:r>
            <a:r>
              <a:rPr lang="ru-RU" dirty="0" err="1"/>
              <a:t>Multivariate-time-series-models</a:t>
            </a:r>
            <a:r>
              <a:rPr lang="ru-RU" dirty="0"/>
              <a:t>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93277A-2E85-0A4A-28D8-2C1C6CDC5441}"/>
              </a:ext>
            </a:extLst>
          </p:cNvPr>
          <p:cNvSpPr txBox="1"/>
          <p:nvPr/>
        </p:nvSpPr>
        <p:spPr>
          <a:xfrm>
            <a:off x="0" y="1033541"/>
            <a:ext cx="111187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222222"/>
                </a:solidFill>
                <a:effectLst/>
                <a:latin typeface="var(--sds-font-family-01)"/>
              </a:rPr>
              <a:t>Экзогенные факторы используются для объяснения изменений в зависимой переменной.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b="0" i="0" u="none" strike="noStrike" dirty="0" err="1">
                <a:solidFill>
                  <a:srgbClr val="222222"/>
                </a:solidFill>
                <a:effectLst/>
                <a:latin typeface="var(--sds-font-family-01)"/>
              </a:rPr>
              <a:t>Многопеременные</a:t>
            </a:r>
            <a:r>
              <a:rPr lang="ru-RU" b="0" i="0" u="none" strike="noStrike" dirty="0">
                <a:solidFill>
                  <a:srgbClr val="222222"/>
                </a:solidFill>
                <a:effectLst/>
                <a:latin typeface="var(--sds-font-family-01)"/>
              </a:rPr>
              <a:t> временные ряды используются для анализа взаимосвязей между несколькими переменными во времени.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018" y="2046335"/>
            <a:ext cx="7741822" cy="428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730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E5FD9-3051-629C-2F97-C85F3C726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5985"/>
          </a:xfrm>
        </p:spPr>
        <p:txBody>
          <a:bodyPr>
            <a:normAutofit fontScale="90000"/>
          </a:bodyPr>
          <a:lstStyle/>
          <a:p>
            <a:r>
              <a:rPr lang="ru-RU" dirty="0"/>
              <a:t>Т</a:t>
            </a:r>
            <a:r>
              <a:rPr lang="en-US" dirty="0" err="1"/>
              <a:t>ип</a:t>
            </a:r>
            <a:r>
              <a:rPr lang="ru-RU" dirty="0"/>
              <a:t>ы ВР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97C984-0204-5E9E-457A-DB6BF60E8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18</a:t>
            </a:fld>
            <a:endParaRPr lang="en-US"/>
          </a:p>
        </p:txBody>
      </p:sp>
      <p:pic>
        <p:nvPicPr>
          <p:cNvPr id="10242" name="Picture 2" descr="Total Australian quarterly adult prison population, disaggregated by state, by legal status, and by gender.">
            <a:extLst>
              <a:ext uri="{FF2B5EF4-FFF2-40B4-BE49-F238E27FC236}">
                <a16:creationId xmlns:a16="http://schemas.microsoft.com/office/drawing/2014/main" id="{45E23826-E9BC-3ACE-5161-1DD78936D5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438"/>
          <a:stretch/>
        </p:blipFill>
        <p:spPr bwMode="auto">
          <a:xfrm>
            <a:off x="220957" y="4225111"/>
            <a:ext cx="5723919" cy="1904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Domestic overnight trips from 1998 Q1 to 2017 Q4 aggregated by state.">
            <a:extLst>
              <a:ext uri="{FF2B5EF4-FFF2-40B4-BE49-F238E27FC236}">
                <a16:creationId xmlns:a16="http://schemas.microsoft.com/office/drawing/2014/main" id="{8752192F-3E0C-4DA2-D03D-FBEC53D83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104" y="733478"/>
            <a:ext cx="4543425" cy="3179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>
            <a:extLst>
              <a:ext uri="{FF2B5EF4-FFF2-40B4-BE49-F238E27FC236}">
                <a16:creationId xmlns:a16="http://schemas.microsoft.com/office/drawing/2014/main" id="{10511C68-A550-B13E-2B5E-F7BFF8761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287" y="1196087"/>
            <a:ext cx="5337258" cy="2424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9B5CB3-C5D8-FC49-493B-E9A614063352}"/>
              </a:ext>
            </a:extLst>
          </p:cNvPr>
          <p:cNvSpPr txBox="1"/>
          <p:nvPr/>
        </p:nvSpPr>
        <p:spPr>
          <a:xfrm>
            <a:off x="314395" y="64166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skforecast.org</a:t>
            </a:r>
            <a:r>
              <a:rPr lang="ru-RU" dirty="0"/>
              <a:t>/0.9.1/</a:t>
            </a:r>
            <a:r>
              <a:rPr lang="ru-RU" dirty="0" err="1"/>
              <a:t>user_guides</a:t>
            </a:r>
            <a:r>
              <a:rPr lang="ru-RU" dirty="0"/>
              <a:t>/</a:t>
            </a:r>
            <a:r>
              <a:rPr lang="ru-RU" dirty="0" err="1"/>
              <a:t>exogenous-variables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15D93-B070-B175-224E-D9C630C8F652}"/>
              </a:ext>
            </a:extLst>
          </p:cNvPr>
          <p:cNvSpPr txBox="1"/>
          <p:nvPr/>
        </p:nvSpPr>
        <p:spPr>
          <a:xfrm>
            <a:off x="360278" y="3552040"/>
            <a:ext cx="43619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nixtlaverse.nixtla.io</a:t>
            </a:r>
            <a:r>
              <a:rPr lang="ru-RU" sz="1200" dirty="0"/>
              <a:t>/</a:t>
            </a:r>
            <a:r>
              <a:rPr lang="ru-RU" sz="1200" dirty="0" err="1"/>
              <a:t>statsforecast</a:t>
            </a:r>
            <a:r>
              <a:rPr lang="ru-RU" sz="1200" dirty="0"/>
              <a:t>/</a:t>
            </a:r>
            <a:r>
              <a:rPr lang="ru-RU" sz="1200" dirty="0" err="1"/>
              <a:t>docs</a:t>
            </a:r>
            <a:r>
              <a:rPr lang="ru-RU" sz="1200" dirty="0"/>
              <a:t>/</a:t>
            </a:r>
            <a:r>
              <a:rPr lang="ru-RU" sz="1200" dirty="0" err="1"/>
              <a:t>getting-started</a:t>
            </a:r>
            <a:r>
              <a:rPr lang="ru-RU" sz="1200" dirty="0"/>
              <a:t>/</a:t>
            </a:r>
            <a:r>
              <a:rPr lang="ru-RU" sz="1200" dirty="0" err="1"/>
              <a:t>getting_started_complete.html</a:t>
            </a:r>
            <a:endParaRPr lang="ru-RU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7B8200-609C-D942-9532-F2B9131EA38B}"/>
              </a:ext>
            </a:extLst>
          </p:cNvPr>
          <p:cNvSpPr txBox="1"/>
          <p:nvPr/>
        </p:nvSpPr>
        <p:spPr>
          <a:xfrm>
            <a:off x="7729983" y="6471885"/>
            <a:ext cx="4504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/fpp3/</a:t>
            </a:r>
            <a:r>
              <a:rPr lang="ru-RU" dirty="0" err="1"/>
              <a:t>hierarchical.html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C46EB7-BE7A-D002-B7F0-4807AD04A4E7}"/>
              </a:ext>
            </a:extLst>
          </p:cNvPr>
          <p:cNvSpPr txBox="1"/>
          <p:nvPr/>
        </p:nvSpPr>
        <p:spPr>
          <a:xfrm>
            <a:off x="1067674" y="939054"/>
            <a:ext cx="2802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 экзогенными факторами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A3A064-722F-1173-7178-CC7ABCFEE11E}"/>
              </a:ext>
            </a:extLst>
          </p:cNvPr>
          <p:cNvSpPr txBox="1"/>
          <p:nvPr/>
        </p:nvSpPr>
        <p:spPr>
          <a:xfrm>
            <a:off x="8680581" y="401771"/>
            <a:ext cx="1694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Иерархические</a:t>
            </a:r>
          </a:p>
        </p:txBody>
      </p:sp>
      <p:pic>
        <p:nvPicPr>
          <p:cNvPr id="17" name="Picture 2" descr="Total Australian quarterly adult prison population, disaggregated by state, by legal status, and by gender.">
            <a:extLst>
              <a:ext uri="{FF2B5EF4-FFF2-40B4-BE49-F238E27FC236}">
                <a16:creationId xmlns:a16="http://schemas.microsoft.com/office/drawing/2014/main" id="{45E23826-E9BC-3ACE-5161-1DD78936D5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" t="47981" r="-317" b="373"/>
          <a:stretch/>
        </p:blipFill>
        <p:spPr bwMode="auto">
          <a:xfrm>
            <a:off x="6132889" y="4171031"/>
            <a:ext cx="5817640" cy="2102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5A3A064-722F-1173-7178-CC7ABCFEE11E}"/>
              </a:ext>
            </a:extLst>
          </p:cNvPr>
          <p:cNvSpPr txBox="1"/>
          <p:nvPr/>
        </p:nvSpPr>
        <p:spPr>
          <a:xfrm>
            <a:off x="3827655" y="3815303"/>
            <a:ext cx="1234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Групповые</a:t>
            </a:r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5B24DFDA-344A-4643-1C06-E6CA58470153}"/>
              </a:ext>
            </a:extLst>
          </p:cNvPr>
          <p:cNvCxnSpPr>
            <a:endCxn id="10242" idx="3"/>
          </p:cNvCxnSpPr>
          <p:nvPr/>
        </p:nvCxnSpPr>
        <p:spPr>
          <a:xfrm>
            <a:off x="5062160" y="5177543"/>
            <a:ext cx="8827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0281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BAF81-22EA-22EF-A294-14B499CC3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B5D777-43A0-916E-A65E-D500F8D94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181911"/>
            <a:ext cx="11068050" cy="864631"/>
          </a:xfrm>
        </p:spPr>
        <p:txBody>
          <a:bodyPr/>
          <a:lstStyle/>
          <a:p>
            <a:r>
              <a:rPr lang="ru-RU" dirty="0"/>
              <a:t>Некоторые типы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05B2E4-704A-4B04-3172-D5182EE9D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749" y="870271"/>
            <a:ext cx="11634501" cy="5507195"/>
          </a:xfrm>
        </p:spPr>
        <p:txBody>
          <a:bodyPr>
            <a:noAutofit/>
          </a:bodyPr>
          <a:lstStyle/>
          <a:p>
            <a:r>
              <a:rPr lang="ru-RU" sz="2200" b="1" dirty="0" err="1"/>
              <a:t>Однопеременные</a:t>
            </a:r>
            <a:r>
              <a:rPr lang="ru-RU" sz="2200" b="1" dirty="0"/>
              <a:t> временные ряды (ВР) </a:t>
            </a:r>
            <a:r>
              <a:rPr lang="ru-RU" sz="2200" dirty="0"/>
              <a:t>— это последовательности значений одной переменной, зафиксированных в различные моменты времени. </a:t>
            </a:r>
            <a:r>
              <a:rPr lang="ru-RU" sz="2200" b="1" dirty="0"/>
              <a:t>Цель</a:t>
            </a:r>
            <a:r>
              <a:rPr lang="ru-RU" sz="2200" dirty="0"/>
              <a:t>, напр. Предсказать </a:t>
            </a:r>
            <a:r>
              <a:rPr lang="ru-RU" sz="2200" dirty="0" err="1"/>
              <a:t>следущее</a:t>
            </a:r>
            <a:r>
              <a:rPr lang="ru-RU" sz="2200" dirty="0"/>
              <a:t> значение переменной</a:t>
            </a:r>
          </a:p>
          <a:p>
            <a:r>
              <a:rPr lang="ru-RU" sz="2200" b="1" dirty="0"/>
              <a:t>Экзогенные факторы </a:t>
            </a:r>
            <a:r>
              <a:rPr lang="ru-RU" sz="2200" dirty="0"/>
              <a:t>— это внешние переменные, влияющие на исследуемый ВР, но не зависящие от него. </a:t>
            </a:r>
            <a:r>
              <a:rPr lang="ru-RU" sz="2200" b="1" dirty="0"/>
              <a:t>Цель -</a:t>
            </a:r>
            <a:r>
              <a:rPr lang="ru-RU" sz="2200" dirty="0"/>
              <a:t> объяснение изменений в зависимой переменной (доп. внешняя информация).</a:t>
            </a:r>
          </a:p>
          <a:p>
            <a:r>
              <a:rPr lang="ru-RU" sz="2200" b="1" dirty="0" err="1"/>
              <a:t>Многопеременные</a:t>
            </a:r>
            <a:r>
              <a:rPr lang="ru-RU" sz="2200" b="1" dirty="0"/>
              <a:t> временные ряды </a:t>
            </a:r>
            <a:r>
              <a:rPr lang="ru-RU" sz="2200" dirty="0"/>
              <a:t>- совокупность нескольких переменных, наблюдаемых одновременно во времени. В их состав могут входить как эндогенные (зависимые), так и экзогенные (независимые) переменные. </a:t>
            </a:r>
            <a:r>
              <a:rPr lang="ru-RU" sz="2200" b="1" dirty="0"/>
              <a:t>Цель</a:t>
            </a:r>
            <a:r>
              <a:rPr lang="ru-RU" sz="2200" dirty="0"/>
              <a:t> – учет взаимного влияния ВР при анализе.</a:t>
            </a:r>
          </a:p>
          <a:p>
            <a:r>
              <a:rPr lang="ru-RU" sz="2200" b="1" dirty="0"/>
              <a:t>Иерархические временные ряды </a:t>
            </a:r>
            <a:r>
              <a:rPr lang="ru-RU" sz="2200" dirty="0"/>
              <a:t>— это структуры данных, в которых временные ряды организованы по уровням агрегации (например, по регионам, странам, континентам). Анализ может проводиться как на уровне отдельных элементов, так и на уровне всей иерархии. </a:t>
            </a:r>
            <a:r>
              <a:rPr lang="ru-RU" sz="2200" b="1" dirty="0"/>
              <a:t>Цель –</a:t>
            </a:r>
            <a:r>
              <a:rPr lang="ru-RU" sz="2200" dirty="0"/>
              <a:t> анализ на разных уровнях агрегации</a:t>
            </a:r>
          </a:p>
          <a:p>
            <a:r>
              <a:rPr lang="ru-RU" sz="2200" b="1" dirty="0"/>
              <a:t>Групповые временные ряды </a:t>
            </a:r>
            <a:r>
              <a:rPr lang="ru-RU" sz="2200" dirty="0"/>
              <a:t>— это наборы временных рядов, объединённых по определённому критерию (например, продажи товаров в одной категории), без строго иерархической зависимости. </a:t>
            </a:r>
            <a:r>
              <a:rPr lang="ru-RU" sz="2200" b="1" dirty="0"/>
              <a:t>Цель - </a:t>
            </a:r>
            <a:r>
              <a:rPr lang="ru-RU" sz="2200" dirty="0"/>
              <a:t>анализа общих тенденций в группе.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356ACC-386C-A7B5-DEC6-CF80F2F6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AC224D-2950-867C-AE6C-3A69408E1DF7}"/>
              </a:ext>
            </a:extLst>
          </p:cNvPr>
          <p:cNvSpPr txBox="1"/>
          <p:nvPr/>
        </p:nvSpPr>
        <p:spPr>
          <a:xfrm>
            <a:off x="6096000" y="63774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goldinlocks.github.io</a:t>
            </a:r>
            <a:r>
              <a:rPr lang="ru-RU" dirty="0"/>
              <a:t>/</a:t>
            </a:r>
            <a:r>
              <a:rPr lang="ru-RU" dirty="0" err="1"/>
              <a:t>Multivariate-time-series-models</a:t>
            </a:r>
            <a:r>
              <a:rPr lang="ru-RU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4738610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483" y="934359"/>
            <a:ext cx="10932920" cy="3523342"/>
          </a:xfrm>
        </p:spPr>
        <p:txBody>
          <a:bodyPr>
            <a:normAutofit/>
          </a:bodyPr>
          <a:lstStyle/>
          <a:p>
            <a:r>
              <a:rPr lang="ru-RU" sz="8000" dirty="0" smtClean="0"/>
              <a:t>Задачи анализа ВР</a:t>
            </a:r>
            <a:endParaRPr lang="en-US" sz="80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46F77CB-BE50-557D-1B14-E047A35B2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930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C0DF5D5-7D67-E283-56B4-5F90AB037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5788" y="1036503"/>
            <a:ext cx="5002837" cy="479337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2D1D9A-7D65-F70A-BCFB-4AAC3B1AC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557" y="365125"/>
            <a:ext cx="10990243" cy="747579"/>
          </a:xfrm>
        </p:spPr>
        <p:txBody>
          <a:bodyPr/>
          <a:lstStyle/>
          <a:p>
            <a:r>
              <a:rPr lang="en-US" dirty="0" err="1"/>
              <a:t>Пост</a:t>
            </a:r>
            <a:r>
              <a:rPr lang="ru-RU" dirty="0" err="1"/>
              <a:t>ановка</a:t>
            </a:r>
            <a:r>
              <a:rPr lang="ru-RU" dirty="0"/>
              <a:t> задачи анализа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5001AD-C988-EFE6-BAB1-1D06788E8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236" y="1036503"/>
            <a:ext cx="7312789" cy="5611947"/>
          </a:xfrm>
        </p:spPr>
        <p:txBody>
          <a:bodyPr>
            <a:normAutofit fontScale="77500" lnSpcReduction="20000"/>
          </a:bodyPr>
          <a:lstStyle/>
          <a:p>
            <a:r>
              <a:rPr lang="ru-RU" sz="2400" dirty="0"/>
              <a:t>Как устроен ВР </a:t>
            </a:r>
          </a:p>
          <a:p>
            <a:pPr lvl="1"/>
            <a:r>
              <a:rPr lang="ru-RU" sz="2000" b="1" dirty="0"/>
              <a:t>От куда берутся значения ВР</a:t>
            </a:r>
            <a:r>
              <a:rPr lang="ru-RU" sz="2000" dirty="0"/>
              <a:t>, типы данных и однотипность, количество</a:t>
            </a:r>
          </a:p>
          <a:p>
            <a:pPr lvl="1"/>
            <a:r>
              <a:rPr lang="ru-RU" b="1" dirty="0"/>
              <a:t>структура</a:t>
            </a:r>
            <a:r>
              <a:rPr lang="en-US" b="1" dirty="0"/>
              <a:t> </a:t>
            </a:r>
            <a:r>
              <a:rPr lang="ru-RU" b="1" dirty="0"/>
              <a:t>ВР </a:t>
            </a:r>
            <a:r>
              <a:rPr lang="ru-RU" dirty="0"/>
              <a:t>(переменные, экзогенные факторы, регулярность паттернов, стат. характеристики)</a:t>
            </a:r>
          </a:p>
          <a:p>
            <a:pPr lvl="1"/>
            <a:r>
              <a:rPr lang="ru-RU" dirty="0"/>
              <a:t>шаг, равномерность, пропуск и </a:t>
            </a:r>
            <a:r>
              <a:rPr lang="ru-RU" dirty="0" err="1"/>
              <a:t>тд</a:t>
            </a:r>
            <a:r>
              <a:rPr lang="ru-RU" dirty="0"/>
              <a:t> , как заполнять?</a:t>
            </a:r>
          </a:p>
          <a:p>
            <a:r>
              <a:rPr lang="ru-RU" sz="2400" b="1" dirty="0"/>
              <a:t>Преобразование данных </a:t>
            </a:r>
          </a:p>
          <a:p>
            <a:pPr lvl="1"/>
            <a:r>
              <a:rPr lang="ru-RU" dirty="0"/>
              <a:t>численные данные? </a:t>
            </a:r>
          </a:p>
          <a:p>
            <a:pPr lvl="1"/>
            <a:r>
              <a:rPr lang="ru-RU" dirty="0"/>
              <a:t>Экзогенные факторы? </a:t>
            </a:r>
          </a:p>
          <a:p>
            <a:pPr lvl="1"/>
            <a:r>
              <a:rPr lang="ru-RU" dirty="0"/>
              <a:t>Разложение?</a:t>
            </a:r>
            <a:r>
              <a:rPr lang="en-US" dirty="0"/>
              <a:t> </a:t>
            </a:r>
            <a:endParaRPr lang="ru-RU" dirty="0"/>
          </a:p>
          <a:p>
            <a:r>
              <a:rPr lang="ru-RU" sz="2400" b="1" dirty="0"/>
              <a:t>Переменная для предсказания  </a:t>
            </a:r>
          </a:p>
          <a:p>
            <a:pPr lvl="1"/>
            <a:r>
              <a:rPr lang="ru-RU" dirty="0"/>
              <a:t>горизонт, регулярность, </a:t>
            </a:r>
          </a:p>
          <a:p>
            <a:pPr lvl="1"/>
            <a:r>
              <a:rPr lang="ru-RU" dirty="0"/>
              <a:t>Время предсказания, </a:t>
            </a:r>
          </a:p>
          <a:p>
            <a:pPr lvl="1"/>
            <a:r>
              <a:rPr lang="ru-RU" dirty="0"/>
              <a:t>М</a:t>
            </a:r>
            <a:r>
              <a:rPr lang="en-US" dirty="0" err="1"/>
              <a:t>етр</a:t>
            </a:r>
            <a:r>
              <a:rPr lang="ru-RU" dirty="0" err="1"/>
              <a:t>ики</a:t>
            </a:r>
            <a:r>
              <a:rPr lang="ru-RU" dirty="0"/>
              <a:t> и их значение и разброс, </a:t>
            </a:r>
            <a:r>
              <a:rPr lang="ru-RU" dirty="0" err="1"/>
              <a:t>bas</a:t>
            </a:r>
            <a:r>
              <a:rPr lang="en-US" dirty="0" err="1"/>
              <a:t>eline</a:t>
            </a:r>
            <a:r>
              <a:rPr lang="ru-RU" dirty="0"/>
              <a:t> </a:t>
            </a:r>
            <a:endParaRPr lang="en-US" dirty="0"/>
          </a:p>
          <a:p>
            <a:pPr lvl="1"/>
            <a:r>
              <a:rPr lang="ru-RU" dirty="0"/>
              <a:t>Чувствительность к выбросам и пропускам</a:t>
            </a:r>
          </a:p>
          <a:p>
            <a:pPr lvl="1"/>
            <a:r>
              <a:rPr lang="ru-RU" dirty="0"/>
              <a:t>Интерпретация или модель данных</a:t>
            </a:r>
          </a:p>
          <a:p>
            <a:r>
              <a:rPr lang="ru-RU" sz="2400" b="1" dirty="0"/>
              <a:t>Мониторинг</a:t>
            </a:r>
          </a:p>
          <a:p>
            <a:pPr lvl="1"/>
            <a:r>
              <a:rPr lang="ru-RU" dirty="0"/>
              <a:t>Контроль дрейфа и новизны</a:t>
            </a:r>
          </a:p>
          <a:p>
            <a:pPr lvl="1"/>
            <a:r>
              <a:rPr lang="ru-RU" dirty="0"/>
              <a:t>Критерии дообучения</a:t>
            </a:r>
          </a:p>
          <a:p>
            <a:pPr lvl="1"/>
            <a:r>
              <a:rPr lang="ru-RU" dirty="0"/>
              <a:t>Критерии </a:t>
            </a:r>
            <a:r>
              <a:rPr lang="ru-RU" dirty="0" err="1"/>
              <a:t>досбора</a:t>
            </a:r>
            <a:r>
              <a:rPr lang="ru-RU" dirty="0"/>
              <a:t> данных</a:t>
            </a:r>
          </a:p>
          <a:p>
            <a:pPr lvl="1"/>
            <a:r>
              <a:rPr lang="ru-RU" dirty="0"/>
              <a:t>Время </a:t>
            </a:r>
            <a:r>
              <a:rPr lang="ru-RU" dirty="0" err="1"/>
              <a:t>дообучение</a:t>
            </a:r>
            <a:r>
              <a:rPr lang="ru-RU" dirty="0"/>
              <a:t> на новых данных</a:t>
            </a:r>
            <a:endParaRPr lang="en-US" dirty="0"/>
          </a:p>
          <a:p>
            <a:endParaRPr lang="ru-RU" sz="2400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23ABF32-A19D-3F0F-1034-BFC9C1750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C32247-5361-DC33-A872-0AB9D0D7E697}"/>
              </a:ext>
            </a:extLst>
          </p:cNvPr>
          <p:cNvSpPr txBox="1"/>
          <p:nvPr/>
        </p:nvSpPr>
        <p:spPr>
          <a:xfrm>
            <a:off x="5536436" y="6512691"/>
            <a:ext cx="49982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rutube.ru</a:t>
            </a:r>
            <a:r>
              <a:rPr lang="ru-RU" sz="1400" dirty="0"/>
              <a:t>/</a:t>
            </a:r>
            <a:r>
              <a:rPr lang="ru-RU" sz="1400" dirty="0" err="1"/>
              <a:t>video</a:t>
            </a:r>
            <a:r>
              <a:rPr lang="ru-RU" sz="1400" dirty="0"/>
              <a:t>/c4116f5e24238a778e458a56a16015f3/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FEAAF5-6255-E2ED-6CC9-BD7DA86F4315}"/>
              </a:ext>
            </a:extLst>
          </p:cNvPr>
          <p:cNvSpPr txBox="1"/>
          <p:nvPr/>
        </p:nvSpPr>
        <p:spPr>
          <a:xfrm>
            <a:off x="5655441" y="6048703"/>
            <a:ext cx="4170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www.springboard.com</a:t>
            </a:r>
            <a:r>
              <a:rPr lang="ru-RU" sz="1400" dirty="0"/>
              <a:t>/</a:t>
            </a:r>
            <a:r>
              <a:rPr lang="ru-RU" sz="1400" dirty="0" err="1"/>
              <a:t>blog</a:t>
            </a:r>
            <a:r>
              <a:rPr lang="ru-RU" sz="1400" dirty="0"/>
              <a:t>/</a:t>
            </a:r>
            <a:r>
              <a:rPr lang="ru-RU" sz="1400" dirty="0" err="1"/>
              <a:t>data-science</a:t>
            </a:r>
            <a:r>
              <a:rPr lang="ru-RU" sz="1400" dirty="0"/>
              <a:t>/</a:t>
            </a:r>
            <a:r>
              <a:rPr lang="ru-RU" sz="1400" dirty="0" err="1"/>
              <a:t>time-series-forecasting</a:t>
            </a:r>
            <a:r>
              <a:rPr lang="ru-RU" sz="14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02477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15E440-596D-530D-55C2-E81E915DD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070" y="469109"/>
            <a:ext cx="10968210" cy="63741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 TS</a:t>
            </a:r>
            <a:r>
              <a:rPr lang="en-US" dirty="0"/>
              <a:t>F System Design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1BD177-89A3-8B6F-DC87-8D67F7A12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388" y="1366595"/>
            <a:ext cx="4362679" cy="4715396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453CD57-6E37-BACE-D458-4149304B4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22</a:t>
            </a:fld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40F0D74-1E7D-8A20-9B0A-70E358FC3D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14" r="6732" b="9928"/>
          <a:stretch/>
        </p:blipFill>
        <p:spPr bwMode="auto">
          <a:xfrm>
            <a:off x="0" y="1135765"/>
            <a:ext cx="9677400" cy="5103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45FE49-3FA2-09A2-CA28-89E49D313113}"/>
              </a:ext>
            </a:extLst>
          </p:cNvPr>
          <p:cNvSpPr txBox="1"/>
          <p:nvPr/>
        </p:nvSpPr>
        <p:spPr>
          <a:xfrm>
            <a:off x="1567149" y="6111237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www.ijcai.org</a:t>
            </a:r>
            <a:r>
              <a:rPr lang="ru-RU" dirty="0"/>
              <a:t>/</a:t>
            </a:r>
            <a:r>
              <a:rPr lang="ru-RU" dirty="0" err="1"/>
              <a:t>proceedings</a:t>
            </a:r>
            <a:r>
              <a:rPr lang="ru-RU" dirty="0"/>
              <a:t>/2019/441</a:t>
            </a:r>
          </a:p>
        </p:txBody>
      </p:sp>
    </p:spTree>
    <p:extLst>
      <p:ext uri="{BB962C8B-B14F-4D97-AF65-F5344CB8AC3E}">
        <p14:creationId xmlns:p14="http://schemas.microsoft.com/office/powerpoint/2010/main" val="350399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4366" y="365125"/>
            <a:ext cx="11109434" cy="628103"/>
          </a:xfrm>
        </p:spPr>
        <p:txBody>
          <a:bodyPr>
            <a:normAutofit fontScale="90000"/>
          </a:bodyPr>
          <a:lstStyle/>
          <a:p>
            <a:r>
              <a:rPr lang="ru-RU" dirty="0"/>
              <a:t>Литература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5538" y="993228"/>
            <a:ext cx="11737428" cy="5363122"/>
          </a:xfrm>
        </p:spPr>
        <p:txBody>
          <a:bodyPr/>
          <a:lstStyle/>
          <a:p>
            <a:r>
              <a:rPr lang="en-US" b="1" dirty="0"/>
              <a:t>Forecasting: Principles and Practice, the </a:t>
            </a:r>
            <a:r>
              <a:rPr lang="en-US" b="1" dirty="0" err="1"/>
              <a:t>Pythonic</a:t>
            </a:r>
            <a:r>
              <a:rPr lang="en-US" b="1" dirty="0"/>
              <a:t> Way - </a:t>
            </a:r>
            <a:r>
              <a:rPr lang="en-US" dirty="0">
                <a:hlinkClick r:id="rId2"/>
              </a:rPr>
              <a:t>https://otexts.com/fpppy/</a:t>
            </a:r>
            <a:r>
              <a:rPr lang="en-US" dirty="0"/>
              <a:t> (2025 </a:t>
            </a:r>
            <a:r>
              <a:rPr lang="ru-RU" dirty="0"/>
              <a:t>год)</a:t>
            </a:r>
          </a:p>
          <a:p>
            <a:r>
              <a:rPr lang="ru-RU" dirty="0"/>
              <a:t>Переработка </a:t>
            </a:r>
            <a:r>
              <a:rPr lang="ru-RU" dirty="0" err="1"/>
              <a:t>fpp</a:t>
            </a:r>
            <a:r>
              <a:rPr lang="en-US" dirty="0"/>
              <a:t>3</a:t>
            </a:r>
            <a:r>
              <a:rPr lang="ru-RU" dirty="0"/>
              <a:t> (</a:t>
            </a:r>
            <a:r>
              <a:rPr lang="en" u="sng" dirty="0">
                <a:hlinkClick r:id="rId3"/>
              </a:rPr>
              <a:t>https://otexts.com/fpp3/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/>
              <a:t>на </a:t>
            </a:r>
            <a:r>
              <a:rPr lang="en-US" dirty="0"/>
              <a:t>python </a:t>
            </a:r>
            <a:r>
              <a:rPr lang="en-US" dirty="0">
                <a:hlinkClick r:id="rId4"/>
              </a:rPr>
              <a:t>https://github.com/zgana/fpp3-python-readalong/tree/master</a:t>
            </a:r>
            <a:r>
              <a:rPr lang="en-US" dirty="0"/>
              <a:t>  </a:t>
            </a:r>
            <a:r>
              <a:rPr lang="ru-RU" dirty="0"/>
              <a:t>и тут </a:t>
            </a:r>
            <a:r>
              <a:rPr lang="en" dirty="0">
                <a:hlinkClick r:id="rId5"/>
              </a:rPr>
              <a:t>https://f0nzie.github.io/hyndman-bookdown-rsuite/</a:t>
            </a:r>
            <a:r>
              <a:rPr lang="ru-RU" dirty="0"/>
              <a:t> </a:t>
            </a:r>
          </a:p>
          <a:p>
            <a:r>
              <a:rPr lang="en" dirty="0">
                <a:hlinkClick r:id="rId6"/>
              </a:rPr>
              <a:t>https://github.com/Beliavsky/TimeSeriesAnalysisBooks</a:t>
            </a:r>
            <a:r>
              <a:rPr lang="ru-RU" dirty="0"/>
              <a:t> - книги по анализу ВР</a:t>
            </a:r>
          </a:p>
          <a:p>
            <a:r>
              <a:rPr lang="en" dirty="0">
                <a:hlinkClick r:id="rId7"/>
              </a:rPr>
              <a:t>https://github.com/Ian729/AI6123-TIME-SERIES-ANALYSIS</a:t>
            </a:r>
            <a:r>
              <a:rPr lang="ru-RU" dirty="0"/>
              <a:t> - книга по анализу ВР на </a:t>
            </a:r>
            <a:r>
              <a:rPr lang="ru-RU" dirty="0" err="1"/>
              <a:t>R</a:t>
            </a:r>
            <a:r>
              <a:rPr lang="en-US" dirty="0"/>
              <a:t> 2015</a:t>
            </a:r>
          </a:p>
          <a:p>
            <a:r>
              <a:rPr lang="en" dirty="0">
                <a:hlinkClick r:id="rId8"/>
              </a:rPr>
              <a:t>https://github.com/qingsongedu/awesome-AI-for-time-series-papers</a:t>
            </a:r>
            <a:r>
              <a:rPr lang="en" dirty="0"/>
              <a:t> - </a:t>
            </a:r>
            <a:r>
              <a:rPr lang="en" dirty="0" err="1"/>
              <a:t>стат</a:t>
            </a:r>
            <a:r>
              <a:rPr lang="ru-RU" dirty="0" err="1"/>
              <a:t>ьи</a:t>
            </a:r>
            <a:r>
              <a:rPr lang="ru-RU" dirty="0"/>
              <a:t> по анализу ВР до 2024</a:t>
            </a:r>
          </a:p>
          <a:p>
            <a:r>
              <a:rPr lang="en" dirty="0">
                <a:hlinkClick r:id="rId9"/>
              </a:rPr>
              <a:t>https://github.com/thuml/Time-Series-Library</a:t>
            </a:r>
            <a:r>
              <a:rPr lang="ru-RU" dirty="0"/>
              <a:t> - Библиотека анализа ВР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061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877FD7E-F0AA-12A9-DFB6-74F2303BE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56E89-79CA-50D4-E9BC-0B7C9ACD4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66" y="365125"/>
            <a:ext cx="11109434" cy="628103"/>
          </a:xfrm>
        </p:spPr>
        <p:txBody>
          <a:bodyPr>
            <a:normAutofit fontScale="90000"/>
          </a:bodyPr>
          <a:lstStyle/>
          <a:p>
            <a:r>
              <a:rPr lang="ru-RU" dirty="0"/>
              <a:t>Литература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E914B0-07ED-F2EF-0FB4-D73160226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538" y="993228"/>
            <a:ext cx="11737428" cy="5363122"/>
          </a:xfrm>
        </p:spPr>
        <p:txBody>
          <a:bodyPr/>
          <a:lstStyle/>
          <a:p>
            <a:r>
              <a:rPr lang="en" b="1" dirty="0"/>
              <a:t>Forecasting with Python </a:t>
            </a:r>
            <a:r>
              <a:rPr lang="en-US" b="1" dirty="0"/>
              <a:t>Tutorials </a:t>
            </a:r>
            <a:r>
              <a:rPr lang="en-US" b="1" dirty="0">
                <a:hlinkClick r:id="rId2"/>
              </a:rPr>
              <a:t>https://cienciadedatos.net/en/forecasting-python</a:t>
            </a:r>
            <a:endParaRPr lang="ru-RU" b="1" dirty="0"/>
          </a:p>
          <a:p>
            <a:r>
              <a:rPr lang="en" dirty="0">
                <a:hlinkClick r:id="rId3"/>
              </a:rPr>
              <a:t>https://darrenjw.github.io/time-series/intro.html</a:t>
            </a:r>
            <a:endParaRPr lang="en-US" dirty="0"/>
          </a:p>
          <a:p>
            <a:r>
              <a:rPr lang="en" b="1" dirty="0">
                <a:hlinkClick r:id="rId4" tooltip="Luminaire"/>
              </a:rPr>
              <a:t>Luminaire</a:t>
            </a:r>
            <a:r>
              <a:rPr lang="en" b="1" dirty="0"/>
              <a:t> </a:t>
            </a:r>
            <a:r>
              <a:rPr lang="en" b="1" dirty="0">
                <a:hlinkClick r:id="rId5"/>
              </a:rPr>
              <a:t>https://zillow.github.io/luminaire/tutorial/dataprofiling.html</a:t>
            </a:r>
            <a:r>
              <a:rPr lang="en" b="1" dirty="0"/>
              <a:t> </a:t>
            </a:r>
            <a:r>
              <a:rPr lang="en" b="1" dirty="0">
                <a:hlinkClick r:id="rId6"/>
              </a:rPr>
              <a:t>https://medium.com/zillow-tech-hub/automatic-and-self-aware-anomaly-detection-at-zillow-using-luminaire</a:t>
            </a:r>
            <a:r>
              <a:rPr lang="en" b="1" dirty="0"/>
              <a:t> </a:t>
            </a:r>
          </a:p>
          <a:p>
            <a:r>
              <a:rPr lang="en-US" dirty="0">
                <a:hlinkClick r:id="rId7"/>
              </a:rPr>
              <a:t>https://ranalytics.github.io/tsa-with-r/</a:t>
            </a:r>
            <a:r>
              <a:rPr lang="ru-RU" dirty="0"/>
              <a:t> - </a:t>
            </a:r>
            <a:r>
              <a:rPr lang="ru-RU" dirty="0" err="1"/>
              <a:t>Аанализ</a:t>
            </a:r>
            <a:r>
              <a:rPr lang="ru-RU" dirty="0"/>
              <a:t> ВР при помощи </a:t>
            </a:r>
            <a:r>
              <a:rPr lang="en-US" dirty="0"/>
              <a:t>R</a:t>
            </a:r>
            <a:endParaRPr lang="ru-RU" dirty="0"/>
          </a:p>
          <a:p>
            <a:r>
              <a:rPr lang="en-US" dirty="0">
                <a:hlinkClick r:id="rId8"/>
              </a:rPr>
              <a:t>https://education.yandex.ru/handbook/ml/article/vremennye-ryady</a:t>
            </a:r>
            <a:endParaRPr lang="en-US" dirty="0"/>
          </a:p>
          <a:p>
            <a:r>
              <a:rPr lang="en-US" dirty="0"/>
              <a:t>https://mrtunguyen.github.io/posts/time-series/time-series.html</a:t>
            </a:r>
            <a:r>
              <a:rPr lang="ru-RU" dirty="0"/>
              <a:t> </a:t>
            </a:r>
            <a:endParaRPr lang="en-US" dirty="0"/>
          </a:p>
          <a:p>
            <a:r>
              <a:rPr lang="en-US" dirty="0"/>
              <a:t>https://dev.mrdbourke.com/tensorflow-deep-learning/10_time_series_forecasting_in_tensorflow/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8E627C-3E57-8991-44CD-2D8C81307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22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318AB3-6E97-3C2A-02C0-D8613E9CE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F0A1DB-D463-436A-1DC0-D03970663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18156" cy="4530725"/>
          </a:xfrm>
        </p:spPr>
        <p:txBody>
          <a:bodyPr>
            <a:normAutofit fontScale="92500" lnSpcReduction="10000"/>
          </a:bodyPr>
          <a:lstStyle/>
          <a:p>
            <a:r>
              <a:rPr lang="en" dirty="0">
                <a:hlinkClick r:id="rId2"/>
              </a:rPr>
              <a:t>https://github.com/unit8co/darts</a:t>
            </a:r>
            <a:endParaRPr lang="en" dirty="0"/>
          </a:p>
          <a:p>
            <a:r>
              <a:rPr lang="en" dirty="0" err="1"/>
              <a:t>Skforecast</a:t>
            </a:r>
            <a:r>
              <a:rPr lang="en" dirty="0"/>
              <a:t> </a:t>
            </a:r>
            <a:r>
              <a:rPr lang="en" dirty="0">
                <a:hlinkClick r:id="rId3"/>
              </a:rPr>
              <a:t>https://skforecast.org/0.16.0/</a:t>
            </a:r>
            <a:r>
              <a:rPr lang="en" dirty="0"/>
              <a:t>  </a:t>
            </a:r>
            <a:r>
              <a:rPr lang="en" dirty="0">
                <a:hlinkClick r:id="rId4"/>
              </a:rPr>
              <a:t>https://cienciadedatos.net/en/forecasting-python</a:t>
            </a:r>
            <a:r>
              <a:rPr lang="en" dirty="0"/>
              <a:t> </a:t>
            </a:r>
          </a:p>
          <a:p>
            <a:r>
              <a:rPr lang="en" dirty="0">
                <a:hlinkClick r:id="rId5"/>
              </a:rPr>
              <a:t>https://github.com/linhhlp/Scalable-Machine-Learning-for-Small-Teams/</a:t>
            </a:r>
            <a:r>
              <a:rPr lang="ru-RU" dirty="0"/>
              <a:t> </a:t>
            </a:r>
            <a:endParaRPr lang="en-US" dirty="0"/>
          </a:p>
          <a:p>
            <a:r>
              <a:rPr lang="en" dirty="0">
                <a:hlinkClick r:id="rId6"/>
              </a:rPr>
              <a:t>https://robjhyndman.com/hyndsight/python_time_series.html</a:t>
            </a:r>
            <a:r>
              <a:rPr lang="en" dirty="0"/>
              <a:t> - </a:t>
            </a:r>
            <a:r>
              <a:rPr lang="ru-RU" dirty="0"/>
              <a:t>обзор реализаций методов на </a:t>
            </a:r>
            <a:r>
              <a:rPr lang="en-US" dirty="0"/>
              <a:t>python</a:t>
            </a:r>
          </a:p>
          <a:p>
            <a:r>
              <a:rPr lang="en-US" dirty="0">
                <a:hlinkClick r:id="rId7"/>
              </a:rPr>
              <a:t>https://openforecast.org/adam/</a:t>
            </a:r>
            <a:endParaRPr lang="en-US" dirty="0"/>
          </a:p>
          <a:p>
            <a:r>
              <a:rPr lang="en-US" dirty="0">
                <a:hlinkClick r:id="rId8"/>
              </a:rPr>
              <a:t>https://github.com/qingsongedu/awesome-AI-for-time-series-papers</a:t>
            </a:r>
            <a:endParaRPr lang="en-US" dirty="0"/>
          </a:p>
          <a:p>
            <a:r>
              <a:rPr lang="en-US" dirty="0">
                <a:hlinkClick r:id="rId9"/>
              </a:rPr>
              <a:t>https://www.sciencedirect.com/science/article/pii/S0169207021001758</a:t>
            </a:r>
            <a:r>
              <a:rPr lang="en-US" dirty="0"/>
              <a:t> </a:t>
            </a:r>
            <a:endParaRPr lang="ru-RU" dirty="0"/>
          </a:p>
          <a:p>
            <a:r>
              <a:rPr lang="en-US" dirty="0">
                <a:hlinkClick r:id="rId10"/>
              </a:rPr>
              <a:t>http://repo.darmajaya.ac.id/4781/1/Time%20Series%20Analysis_%20Forecasting%20and%20Control%20%28%20PDFDrive%20%29.pdf</a:t>
            </a:r>
            <a:r>
              <a:rPr lang="ru-RU"/>
              <a:t> </a:t>
            </a:r>
            <a:r>
              <a:rPr lang="en-US"/>
              <a:t> 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771163D-FA5C-9021-4321-63063D1A5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558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4E7A2F7-0290-7993-222E-F9163CC02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94F084-846D-1E20-6379-EEC305C89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16A171-2167-F8EC-A7E3-1183CFD0A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847849"/>
            <a:ext cx="10515600" cy="4873625"/>
          </a:xfrm>
        </p:spPr>
        <p:txBody>
          <a:bodyPr>
            <a:normAutofit fontScale="47500" lnSpcReduction="20000"/>
          </a:bodyPr>
          <a:lstStyle/>
          <a:p>
            <a:r>
              <a:rPr lang="en" dirty="0">
                <a:hlinkClick r:id="rId2"/>
              </a:rPr>
              <a:t>https://www.statslab.cam.ac.uk/~rrw1/timeseries/t.pdf</a:t>
            </a:r>
            <a:r>
              <a:rPr lang="en" dirty="0"/>
              <a:t> </a:t>
            </a:r>
          </a:p>
          <a:p>
            <a:r>
              <a:rPr lang="en" dirty="0">
                <a:hlinkClick r:id="rId3"/>
              </a:rPr>
              <a:t>https://s-ai-f.github.io/Time-Series/time-series-basics.html#what-is-a-time-series</a:t>
            </a:r>
            <a:r>
              <a:rPr lang="en" dirty="0"/>
              <a:t> </a:t>
            </a:r>
          </a:p>
          <a:p>
            <a:r>
              <a:rPr lang="en" dirty="0">
                <a:hlinkClick r:id="rId4"/>
              </a:rPr>
              <a:t>https://bookdown.org/JakeEsprabens/431-Time-Series/forecasting.html</a:t>
            </a:r>
            <a:r>
              <a:rPr lang="en" dirty="0"/>
              <a:t> </a:t>
            </a:r>
          </a:p>
          <a:p>
            <a:r>
              <a:rPr lang="en" dirty="0">
                <a:hlinkClick r:id="rId5"/>
              </a:rPr>
              <a:t>https://smac-group.github.io/ts/fundtimeseries.html</a:t>
            </a:r>
            <a:r>
              <a:rPr lang="en" dirty="0"/>
              <a:t> </a:t>
            </a:r>
          </a:p>
          <a:p>
            <a:r>
              <a:rPr lang="en" dirty="0">
                <a:hlinkClick r:id="rId6"/>
              </a:rPr>
              <a:t>https://civil.colorado.edu/~balajir/CVEN6833/lectures/wwts-book.pdf</a:t>
            </a:r>
            <a:r>
              <a:rPr lang="en" dirty="0"/>
              <a:t> </a:t>
            </a:r>
            <a:endParaRPr lang="ru-RU" dirty="0"/>
          </a:p>
          <a:p>
            <a:r>
              <a:rPr lang="en" dirty="0">
                <a:hlinkClick r:id="rId7"/>
              </a:rPr>
              <a:t>https://mse.msu.ru/wp-content/uploads/2021/03/%D0%92%D0%B2%D0%B5%D0%B4%D0%B5%D0%BD%D0%B8%D0%B5-%D0%B2-%D0%B0%D0%BD%D0%B0%D0%BB%D0%B8%D0%B7-%D0%B2%D1%80%D0%B5%D0%BC%D0%B5%D0%BD%D0%BD%D1%8B%D1%85-%D1%80%D1%8F%D0%B4%D0%BE%D0%B2-1.pdf</a:t>
            </a:r>
            <a:r>
              <a:rPr lang="ru-RU" dirty="0"/>
              <a:t> </a:t>
            </a:r>
          </a:p>
          <a:p>
            <a:r>
              <a:rPr lang="en" dirty="0">
                <a:hlinkClick r:id="rId8"/>
              </a:rPr>
              <a:t>https://dl.leima.is/time-series/</a:t>
            </a:r>
            <a:endParaRPr lang="en" dirty="0"/>
          </a:p>
          <a:p>
            <a:r>
              <a:rPr lang="en-US" dirty="0">
                <a:hlinkClick r:id="rId9"/>
              </a:rPr>
              <a:t>https://www.kaggle.com/code/prashant111/complete-guide-on-time-series-analysis-in-python</a:t>
            </a:r>
            <a:r>
              <a:rPr lang="en-US" dirty="0"/>
              <a:t> </a:t>
            </a:r>
            <a:endParaRPr lang="ru-RU" dirty="0"/>
          </a:p>
          <a:p>
            <a:r>
              <a:rPr lang="en-US" dirty="0">
                <a:hlinkClick r:id="rId10"/>
              </a:rPr>
              <a:t>https://medium.com/data-science-at-microsoft/time-series-forecasting-part-3-of-3-introducing-auts-adaptive-univariate-time-series-dfd7555ca8d4</a:t>
            </a:r>
            <a:endParaRPr lang="ru-RU" dirty="0"/>
          </a:p>
          <a:p>
            <a:r>
              <a:rPr lang="en-US" dirty="0">
                <a:hlinkClick r:id="rId11"/>
              </a:rPr>
              <a:t>https://www.openforecast.org/adam/state-space-form-of-ets.html</a:t>
            </a:r>
            <a:endParaRPr lang="ru-RU" dirty="0"/>
          </a:p>
          <a:p>
            <a:r>
              <a:rPr lang="en-US" dirty="0">
                <a:hlinkClick r:id="rId12"/>
              </a:rPr>
              <a:t>https://livebook.manning.com/book/modern-time-series-analysis-in-python/c</a:t>
            </a:r>
            <a:r>
              <a:rPr lang="ru-RU" dirty="0"/>
              <a:t> </a:t>
            </a:r>
          </a:p>
          <a:p>
            <a:r>
              <a:rPr lang="en-US" dirty="0">
                <a:hlinkClick r:id="rId13"/>
              </a:rPr>
              <a:t>https://ranalytics.github.io/tsa-with-r/</a:t>
            </a:r>
            <a:r>
              <a:rPr lang="ru-RU" dirty="0"/>
              <a:t> </a:t>
            </a:r>
            <a:endParaRPr lang="en-US" dirty="0"/>
          </a:p>
          <a:p>
            <a:r>
              <a:rPr lang="en-US" dirty="0">
                <a:hlinkClick r:id="rId14"/>
              </a:rPr>
              <a:t>https://towardsdatascience.com/forecast-multiple-time-series-like-a-master-1579a2b6f18d/</a:t>
            </a:r>
            <a:r>
              <a:rPr lang="en-US" dirty="0"/>
              <a:t> </a:t>
            </a:r>
          </a:p>
          <a:p>
            <a:r>
              <a:rPr lang="en-US" dirty="0">
                <a:hlinkClick r:id="rId15"/>
              </a:rPr>
              <a:t>https://www.stat.berkeley.edu/~aditya/resources/FullNotes248Spring2022TimeSeries.pdf</a:t>
            </a:r>
            <a:endParaRPr lang="en-US" dirty="0"/>
          </a:p>
          <a:p>
            <a:r>
              <a:rPr lang="en-US" dirty="0">
                <a:hlinkClick r:id="rId16"/>
              </a:rPr>
              <a:t>https://www.stat.berkeley.edu/~ryantibs/timeseries-f23/</a:t>
            </a:r>
            <a:endParaRPr lang="ru-RU" dirty="0"/>
          </a:p>
          <a:p>
            <a:r>
              <a:rPr lang="en-US" dirty="0">
                <a:hlinkClick r:id="rId17"/>
              </a:rPr>
              <a:t>https://stat153.berkeley.edu/spring-2025/lab5</a:t>
            </a:r>
            <a:r>
              <a:rPr lang="ru-RU" dirty="0"/>
              <a:t> - интерактивно</a:t>
            </a:r>
            <a:endParaRPr lang="en-US" dirty="0"/>
          </a:p>
          <a:p>
            <a:r>
              <a:rPr lang="en" dirty="0">
                <a:hlinkClick r:id="rId18"/>
              </a:rPr>
              <a:t>https://fish-forecast.github.io/Fish-Forecast-Bookdown/</a:t>
            </a:r>
            <a:r>
              <a:rPr lang="en" dirty="0"/>
              <a:t> 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1C3A2C-73D2-5BF6-4450-5C867B5B8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73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Тема Office 2013–2022">
  <a:themeElements>
    <a:clrScheme name="Тема Office 2013–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9221</TotalTime>
  <Words>1429</Words>
  <Application>Microsoft Office PowerPoint</Application>
  <PresentationFormat>Широкоэкранный</PresentationFormat>
  <Paragraphs>216</Paragraphs>
  <Slides>26</Slides>
  <Notes>9</Notes>
  <HiddenSlides>7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5" baseType="lpstr">
      <vt:lpstr>Arial</vt:lpstr>
      <vt:lpstr>Calibri</vt:lpstr>
      <vt:lpstr>Calibri Light</vt:lpstr>
      <vt:lpstr>inherit</vt:lpstr>
      <vt:lpstr>Inter</vt:lpstr>
      <vt:lpstr>Open Sans</vt:lpstr>
      <vt:lpstr>Times New Roman</vt:lpstr>
      <vt:lpstr>var(--sds-font-family-01)</vt:lpstr>
      <vt:lpstr>Тема Office 2013–2022</vt:lpstr>
      <vt:lpstr>Введение в анализ  временных рядов. </vt:lpstr>
      <vt:lpstr>Анализ временных рядов</vt:lpstr>
      <vt:lpstr>Задачи анализа временных рядов</vt:lpstr>
      <vt:lpstr>Особенности задачи анализа временных рядов</vt:lpstr>
      <vt:lpstr>Краткосрочные прогнозы спроса на электроэнергию в жилых домах</vt:lpstr>
      <vt:lpstr>Прогнозирование курсов валют</vt:lpstr>
      <vt:lpstr>Применения ВР</vt:lpstr>
      <vt:lpstr>Примеры</vt:lpstr>
      <vt:lpstr>Примеры приложений анализа временных рядов</vt:lpstr>
      <vt:lpstr>Примеры</vt:lpstr>
      <vt:lpstr>Примеры</vt:lpstr>
      <vt:lpstr>Типы временных рядов</vt:lpstr>
      <vt:lpstr>Представление ВР</vt:lpstr>
      <vt:lpstr>Представление Временных рядов</vt:lpstr>
      <vt:lpstr>Типы ВР </vt:lpstr>
      <vt:lpstr>Экзогенные и многопеременные ВР</vt:lpstr>
      <vt:lpstr>Экзогенные и многопеременные ВР</vt:lpstr>
      <vt:lpstr>Типы ВР</vt:lpstr>
      <vt:lpstr>Некоторые типы ВР</vt:lpstr>
      <vt:lpstr>Задачи анализа ВР</vt:lpstr>
      <vt:lpstr>Постановка задачи анализа ВР</vt:lpstr>
      <vt:lpstr>Пример TSF System Design</vt:lpstr>
      <vt:lpstr>Литература</vt:lpstr>
      <vt:lpstr>Литература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186</cp:revision>
  <dcterms:created xsi:type="dcterms:W3CDTF">2021-10-31T10:57:36Z</dcterms:created>
  <dcterms:modified xsi:type="dcterms:W3CDTF">2025-07-21T11:08:48Z</dcterms:modified>
</cp:coreProperties>
</file>