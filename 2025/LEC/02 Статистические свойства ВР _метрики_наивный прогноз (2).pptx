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64"/>
  </p:notesMasterIdLst>
  <p:sldIdLst>
    <p:sldId id="338" r:id="rId2"/>
    <p:sldId id="387" r:id="rId3"/>
    <p:sldId id="382" r:id="rId4"/>
    <p:sldId id="390" r:id="rId5"/>
    <p:sldId id="393" r:id="rId6"/>
    <p:sldId id="388" r:id="rId7"/>
    <p:sldId id="391" r:id="rId8"/>
    <p:sldId id="392" r:id="rId9"/>
    <p:sldId id="395" r:id="rId10"/>
    <p:sldId id="401" r:id="rId11"/>
    <p:sldId id="348" r:id="rId12"/>
    <p:sldId id="394" r:id="rId13"/>
    <p:sldId id="351" r:id="rId14"/>
    <p:sldId id="396" r:id="rId15"/>
    <p:sldId id="350" r:id="rId16"/>
    <p:sldId id="352" r:id="rId17"/>
    <p:sldId id="353" r:id="rId18"/>
    <p:sldId id="409" r:id="rId19"/>
    <p:sldId id="397" r:id="rId20"/>
    <p:sldId id="399" r:id="rId21"/>
    <p:sldId id="406" r:id="rId22"/>
    <p:sldId id="425" r:id="rId23"/>
    <p:sldId id="405" r:id="rId24"/>
    <p:sldId id="417" r:id="rId25"/>
    <p:sldId id="437" r:id="rId26"/>
    <p:sldId id="412" r:id="rId27"/>
    <p:sldId id="438" r:id="rId28"/>
    <p:sldId id="411" r:id="rId29"/>
    <p:sldId id="413" r:id="rId30"/>
    <p:sldId id="419" r:id="rId31"/>
    <p:sldId id="440" r:id="rId32"/>
    <p:sldId id="439" r:id="rId33"/>
    <p:sldId id="414" r:id="rId34"/>
    <p:sldId id="427" r:id="rId35"/>
    <p:sldId id="433" r:id="rId36"/>
    <p:sldId id="430" r:id="rId37"/>
    <p:sldId id="431" r:id="rId38"/>
    <p:sldId id="432" r:id="rId39"/>
    <p:sldId id="428" r:id="rId40"/>
    <p:sldId id="434" r:id="rId41"/>
    <p:sldId id="424" r:id="rId42"/>
    <p:sldId id="435" r:id="rId43"/>
    <p:sldId id="426" r:id="rId44"/>
    <p:sldId id="444" r:id="rId45"/>
    <p:sldId id="446" r:id="rId46"/>
    <p:sldId id="445" r:id="rId47"/>
    <p:sldId id="443" r:id="rId48"/>
    <p:sldId id="441" r:id="rId49"/>
    <p:sldId id="420" r:id="rId50"/>
    <p:sldId id="421" r:id="rId51"/>
    <p:sldId id="423" r:id="rId52"/>
    <p:sldId id="422" r:id="rId53"/>
    <p:sldId id="416" r:id="rId54"/>
    <p:sldId id="415" r:id="rId55"/>
    <p:sldId id="407" r:id="rId56"/>
    <p:sldId id="418" r:id="rId57"/>
    <p:sldId id="410" r:id="rId58"/>
    <p:sldId id="403" r:id="rId59"/>
    <p:sldId id="404" r:id="rId60"/>
    <p:sldId id="354" r:id="rId61"/>
    <p:sldId id="408" r:id="rId62"/>
    <p:sldId id="402" r:id="rId6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270" autoAdjust="0"/>
    <p:restoredTop sz="84012" autoAdjust="0"/>
  </p:normalViewPr>
  <p:slideViewPr>
    <p:cSldViewPr snapToGrid="0">
      <p:cViewPr varScale="1">
        <p:scale>
          <a:sx n="110" d="100"/>
          <a:sy n="110" d="100"/>
        </p:scale>
        <p:origin x="86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viewProps" Target="view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DA96C9A-3213-B245-BC64-7E419D14BD9D}" type="datetimeFigureOut">
              <a:rPr lang="ru-RU" smtClean="0"/>
              <a:t>11.07.2025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DA1EE30-E435-D745-B23A-FF31C831763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311951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A1EE30-E435-D745-B23A-FF31C831763F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0466467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A1EE30-E435-D745-B23A-FF31C831763F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4614700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A1EE30-E435-D745-B23A-FF31C831763F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8170164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A1EE30-E435-D745-B23A-FF31C831763F}" type="slidenum">
              <a:rPr lang="ru-RU" smtClean="0"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9617889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156D06-6B42-419D-A61C-F7AD45031849}" type="slidenum">
              <a:rPr lang="ru-RU" smtClean="0"/>
              <a:t>11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4382811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A1EE30-E435-D745-B23A-FF31C831763F}" type="slidenum">
              <a:rPr lang="ru-RU" smtClean="0"/>
              <a:t>17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5013518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A1EE30-E435-D745-B23A-FF31C831763F}" type="slidenum">
              <a:rPr lang="ru-RU" smtClean="0"/>
              <a:t>18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9637745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A1EE30-E435-D745-B23A-FF31C831763F}" type="slidenum">
              <a:rPr lang="ru-RU" smtClean="0"/>
              <a:t>24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516077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A1EE30-E435-D745-B23A-FF31C831763F}" type="slidenum">
              <a:rPr lang="ru-RU" smtClean="0"/>
              <a:t>25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689423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018589-07B6-8B7C-50EB-9BE2AA9496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51B8CE22-3444-6B30-2178-AB78F763200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D34F76AA-F72E-9F7F-3CF1-9FC95397CC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>
              <a:buNone/>
            </a:pPr>
            <a:r>
              <a:rPr lang="en" sz="900" b="0" i="0" dirty="0" smtClean="0">
                <a:solidFill>
                  <a:srgbClr val="333333"/>
                </a:solidFill>
                <a:effectLst/>
                <a:latin typeface="Merriweather" panose="020F0502020204030204" pitchFamily="34" charset="0"/>
              </a:rPr>
              <a:t>A forecast “error” is the difference between an observed value and its forecast. Here “error” does not mean a mistake, it means the unpredictable part of an observation. It can be written as</a:t>
            </a:r>
            <a:r>
              <a:rPr lang="en" sz="900" b="0" i="0" dirty="0" smtClean="0">
                <a:solidFill>
                  <a:srgbClr val="333333"/>
                </a:solidFill>
                <a:effectLst/>
                <a:latin typeface="MJXc-TeX-math-I"/>
              </a:rPr>
              <a:t>eT</a:t>
            </a:r>
            <a:r>
              <a:rPr lang="en" sz="900" b="0" i="0" dirty="0" smtClean="0">
                <a:solidFill>
                  <a:srgbClr val="333333"/>
                </a:solidFill>
                <a:effectLst/>
                <a:latin typeface="MJXc-TeX-main-R"/>
              </a:rPr>
              <a:t>+</a:t>
            </a:r>
            <a:r>
              <a:rPr lang="en" sz="900" b="0" i="0" dirty="0" smtClean="0">
                <a:solidFill>
                  <a:srgbClr val="333333"/>
                </a:solidFill>
                <a:effectLst/>
                <a:latin typeface="MJXc-TeX-math-I"/>
              </a:rPr>
              <a:t>h</a:t>
            </a:r>
            <a:r>
              <a:rPr lang="en" sz="900" b="0" i="0" dirty="0" smtClean="0">
                <a:solidFill>
                  <a:srgbClr val="333333"/>
                </a:solidFill>
                <a:effectLst/>
                <a:latin typeface="MJXc-TeX-main-R"/>
              </a:rPr>
              <a:t>=</a:t>
            </a:r>
            <a:r>
              <a:rPr lang="en" sz="900" b="0" i="0" dirty="0" smtClean="0">
                <a:solidFill>
                  <a:srgbClr val="333333"/>
                </a:solidFill>
                <a:effectLst/>
                <a:latin typeface="MJXc-TeX-math-I"/>
              </a:rPr>
              <a:t>yT</a:t>
            </a:r>
            <a:r>
              <a:rPr lang="en" sz="900" b="0" i="0" dirty="0" smtClean="0">
                <a:solidFill>
                  <a:srgbClr val="333333"/>
                </a:solidFill>
                <a:effectLst/>
                <a:latin typeface="MJXc-TeX-main-R"/>
              </a:rPr>
              <a:t>+</a:t>
            </a:r>
            <a:r>
              <a:rPr lang="en" sz="900" b="0" i="0" dirty="0" smtClean="0">
                <a:solidFill>
                  <a:srgbClr val="333333"/>
                </a:solidFill>
                <a:effectLst/>
                <a:latin typeface="MJXc-TeX-math-I"/>
              </a:rPr>
              <a:t>h</a:t>
            </a:r>
            <a:r>
              <a:rPr lang="en" sz="900" b="0" i="0" dirty="0" smtClean="0">
                <a:solidFill>
                  <a:srgbClr val="333333"/>
                </a:solidFill>
                <a:effectLst/>
                <a:latin typeface="MJXc-TeX-main-R"/>
              </a:rPr>
              <a:t>−^</a:t>
            </a:r>
            <a:r>
              <a:rPr lang="en" sz="900" b="0" i="0" dirty="0" smtClean="0">
                <a:solidFill>
                  <a:srgbClr val="333333"/>
                </a:solidFill>
                <a:effectLst/>
                <a:latin typeface="MJXc-TeX-math-I"/>
              </a:rPr>
              <a:t>yT</a:t>
            </a:r>
            <a:r>
              <a:rPr lang="en" sz="900" b="0" i="0" dirty="0" smtClean="0">
                <a:solidFill>
                  <a:srgbClr val="333333"/>
                </a:solidFill>
                <a:effectLst/>
                <a:latin typeface="MJXc-TeX-main-R"/>
              </a:rPr>
              <a:t>+</a:t>
            </a:r>
            <a:r>
              <a:rPr lang="en" sz="900" b="0" i="0" dirty="0" smtClean="0">
                <a:solidFill>
                  <a:srgbClr val="333333"/>
                </a:solidFill>
                <a:effectLst/>
                <a:latin typeface="MJXc-TeX-math-I"/>
              </a:rPr>
              <a:t>h</a:t>
            </a:r>
            <a:r>
              <a:rPr lang="en" sz="900" b="0" i="0" dirty="0" smtClean="0">
                <a:solidFill>
                  <a:srgbClr val="333333"/>
                </a:solidFill>
                <a:effectLst/>
                <a:latin typeface="MJXc-TeX-main-R"/>
              </a:rPr>
              <a:t>|</a:t>
            </a:r>
            <a:r>
              <a:rPr lang="en" sz="900" b="0" i="0" dirty="0" smtClean="0">
                <a:solidFill>
                  <a:srgbClr val="333333"/>
                </a:solidFill>
                <a:effectLst/>
                <a:latin typeface="MJXc-TeX-math-I"/>
              </a:rPr>
              <a:t>T</a:t>
            </a:r>
            <a:r>
              <a:rPr lang="en" sz="900" b="0" i="0" dirty="0" smtClean="0">
                <a:solidFill>
                  <a:srgbClr val="333333"/>
                </a:solidFill>
                <a:effectLst/>
                <a:latin typeface="MJXc-TeX-main-R"/>
              </a:rPr>
              <a:t>,</a:t>
            </a:r>
            <a:r>
              <a:rPr lang="en" sz="900" b="0" i="0" dirty="0" smtClean="0">
                <a:solidFill>
                  <a:srgbClr val="333333"/>
                </a:solidFill>
                <a:effectLst/>
                <a:latin typeface="Merriweather" panose="020F0502020204030204" pitchFamily="34" charset="0"/>
              </a:rPr>
              <a:t>where the training data is given by </a:t>
            </a:r>
            <a:r>
              <a:rPr lang="en" sz="900" b="0" i="0" dirty="0" smtClean="0">
                <a:solidFill>
                  <a:srgbClr val="333333"/>
                </a:solidFill>
                <a:effectLst/>
                <a:latin typeface="MJXc-TeX-main-R"/>
              </a:rPr>
              <a:t>{</a:t>
            </a:r>
            <a:r>
              <a:rPr lang="en" sz="900" b="0" i="0" dirty="0" smtClean="0">
                <a:solidFill>
                  <a:srgbClr val="333333"/>
                </a:solidFill>
                <a:effectLst/>
                <a:latin typeface="MJXc-TeX-math-I"/>
              </a:rPr>
              <a:t>y</a:t>
            </a:r>
            <a:r>
              <a:rPr lang="en" sz="900" b="0" i="0" dirty="0" smtClean="0">
                <a:solidFill>
                  <a:srgbClr val="333333"/>
                </a:solidFill>
                <a:effectLst/>
                <a:latin typeface="MJXc-TeX-main-R"/>
              </a:rPr>
              <a:t>1,…,</a:t>
            </a:r>
            <a:r>
              <a:rPr lang="en" sz="900" b="0" i="0" dirty="0" smtClean="0">
                <a:solidFill>
                  <a:srgbClr val="333333"/>
                </a:solidFill>
                <a:effectLst/>
                <a:latin typeface="MJXc-TeX-math-I"/>
              </a:rPr>
              <a:t>yT</a:t>
            </a:r>
            <a:r>
              <a:rPr lang="en" sz="900" b="0" i="0" dirty="0" smtClean="0">
                <a:solidFill>
                  <a:srgbClr val="333333"/>
                </a:solidFill>
                <a:effectLst/>
                <a:latin typeface="MJXc-TeX-main-R"/>
              </a:rPr>
              <a:t>}</a:t>
            </a:r>
            <a:r>
              <a:rPr lang="en" sz="900" b="0" i="0" dirty="0" smtClean="0">
                <a:solidFill>
                  <a:srgbClr val="333333"/>
                </a:solidFill>
                <a:effectLst/>
                <a:latin typeface="Merriweather" panose="020F0502020204030204" pitchFamily="34" charset="0"/>
              </a:rPr>
              <a:t> and the test data is given by </a:t>
            </a:r>
            <a:r>
              <a:rPr lang="en" sz="900" b="0" i="0" dirty="0" smtClean="0">
                <a:solidFill>
                  <a:srgbClr val="333333"/>
                </a:solidFill>
                <a:effectLst/>
                <a:latin typeface="MJXc-TeX-main-R"/>
              </a:rPr>
              <a:t>{</a:t>
            </a:r>
            <a:r>
              <a:rPr lang="en" sz="900" b="0" i="0" dirty="0" smtClean="0">
                <a:solidFill>
                  <a:srgbClr val="333333"/>
                </a:solidFill>
                <a:effectLst/>
                <a:latin typeface="MJXc-TeX-math-I"/>
              </a:rPr>
              <a:t>yT</a:t>
            </a:r>
            <a:r>
              <a:rPr lang="en" sz="900" b="0" i="0" dirty="0" smtClean="0">
                <a:solidFill>
                  <a:srgbClr val="333333"/>
                </a:solidFill>
                <a:effectLst/>
                <a:latin typeface="MJXc-TeX-main-R"/>
              </a:rPr>
              <a:t>+1,</a:t>
            </a:r>
            <a:r>
              <a:rPr lang="en" sz="900" b="0" i="0" dirty="0" smtClean="0">
                <a:solidFill>
                  <a:srgbClr val="333333"/>
                </a:solidFill>
                <a:effectLst/>
                <a:latin typeface="MJXc-TeX-math-I"/>
              </a:rPr>
              <a:t>yT</a:t>
            </a:r>
            <a:r>
              <a:rPr lang="en" sz="900" b="0" i="0" dirty="0" smtClean="0">
                <a:solidFill>
                  <a:srgbClr val="333333"/>
                </a:solidFill>
                <a:effectLst/>
                <a:latin typeface="MJXc-TeX-main-R"/>
              </a:rPr>
              <a:t>+2,…}</a:t>
            </a:r>
            <a:r>
              <a:rPr lang="en" sz="900" b="0" i="0" dirty="0" smtClean="0">
                <a:solidFill>
                  <a:srgbClr val="333333"/>
                </a:solidFill>
                <a:effectLst/>
                <a:latin typeface="Merriweather" panose="020F0502020204030204" pitchFamily="34" charset="0"/>
              </a:rPr>
              <a:t>.</a:t>
            </a:r>
          </a:p>
          <a:p>
            <a:pPr algn="l">
              <a:buNone/>
            </a:pPr>
            <a:r>
              <a:rPr lang="en" sz="900" b="0" i="0" dirty="0" smtClean="0">
                <a:solidFill>
                  <a:srgbClr val="333333"/>
                </a:solidFill>
                <a:effectLst/>
                <a:latin typeface="Merriweather" panose="020F0502020204030204" pitchFamily="34" charset="0"/>
              </a:rPr>
              <a:t>Note that forecast errors are different from residuals in two ways. First, residuals are calculated on the </a:t>
            </a:r>
            <a:r>
              <a:rPr lang="en" sz="900" b="0" i="1" dirty="0" smtClean="0">
                <a:solidFill>
                  <a:srgbClr val="333333"/>
                </a:solidFill>
                <a:effectLst/>
                <a:latin typeface="Merriweather" panose="020F0502020204030204" pitchFamily="34" charset="0"/>
              </a:rPr>
              <a:t>training</a:t>
            </a:r>
            <a:r>
              <a:rPr lang="en" sz="900" b="0" i="0" dirty="0" smtClean="0">
                <a:solidFill>
                  <a:srgbClr val="333333"/>
                </a:solidFill>
                <a:effectLst/>
                <a:latin typeface="Merriweather" panose="020F0502020204030204" pitchFamily="34" charset="0"/>
              </a:rPr>
              <a:t> set while forecast errors are calculated on the </a:t>
            </a:r>
            <a:r>
              <a:rPr lang="en" sz="900" b="0" i="1" dirty="0" smtClean="0">
                <a:solidFill>
                  <a:srgbClr val="333333"/>
                </a:solidFill>
                <a:effectLst/>
                <a:latin typeface="Merriweather" panose="020F0502020204030204" pitchFamily="34" charset="0"/>
              </a:rPr>
              <a:t>test</a:t>
            </a:r>
            <a:r>
              <a:rPr lang="en" sz="900" b="0" i="0" dirty="0" smtClean="0">
                <a:solidFill>
                  <a:srgbClr val="333333"/>
                </a:solidFill>
                <a:effectLst/>
                <a:latin typeface="Merriweather" panose="020F0502020204030204" pitchFamily="34" charset="0"/>
              </a:rPr>
              <a:t> set. Second, residuals are based on </a:t>
            </a:r>
            <a:r>
              <a:rPr lang="en" sz="900" b="0" i="1" dirty="0" smtClean="0">
                <a:solidFill>
                  <a:srgbClr val="333333"/>
                </a:solidFill>
                <a:effectLst/>
                <a:latin typeface="Merriweather" panose="020F0502020204030204" pitchFamily="34" charset="0"/>
              </a:rPr>
              <a:t>one-step</a:t>
            </a:r>
            <a:r>
              <a:rPr lang="en" sz="900" b="0" i="0" dirty="0" smtClean="0">
                <a:solidFill>
                  <a:srgbClr val="333333"/>
                </a:solidFill>
                <a:effectLst/>
                <a:latin typeface="Merriweather" panose="020F0502020204030204" pitchFamily="34" charset="0"/>
              </a:rPr>
              <a:t> forecasts while forecast errors can involve </a:t>
            </a:r>
            <a:r>
              <a:rPr lang="en" sz="900" b="0" i="1" dirty="0" smtClean="0">
                <a:solidFill>
                  <a:srgbClr val="333333"/>
                </a:solidFill>
                <a:effectLst/>
                <a:latin typeface="Merriweather" panose="020F0502020204030204" pitchFamily="34" charset="0"/>
              </a:rPr>
              <a:t>multi-step</a:t>
            </a:r>
            <a:r>
              <a:rPr lang="en" sz="900" b="0" i="0" dirty="0" smtClean="0">
                <a:solidFill>
                  <a:srgbClr val="333333"/>
                </a:solidFill>
                <a:effectLst/>
                <a:latin typeface="Merriweather" panose="020F0502020204030204" pitchFamily="34" charset="0"/>
              </a:rPr>
              <a:t> forecasts.</a:t>
            </a:r>
          </a:p>
          <a:p>
            <a:pPr algn="l">
              <a:buNone/>
            </a:pPr>
            <a:r>
              <a:rPr lang="en" sz="900" b="0" i="0" dirty="0" smtClean="0">
                <a:solidFill>
                  <a:srgbClr val="333333"/>
                </a:solidFill>
                <a:effectLst/>
                <a:latin typeface="Merriweather" panose="020F0502020204030204" pitchFamily="34" charset="0"/>
              </a:rPr>
              <a:t>We can measure forecast accuracy by summarising the forecast errors in different ways.</a:t>
            </a:r>
          </a:p>
          <a:p>
            <a:pPr algn="l"/>
            <a:r>
              <a:rPr lang="en" sz="900" b="0" i="0" dirty="0" smtClean="0">
                <a:solidFill>
                  <a:srgbClr val="333333"/>
                </a:solidFill>
                <a:effectLst/>
                <a:latin typeface="Merriweather" pitchFamily="2" charset="0"/>
              </a:rPr>
              <a:t/>
            </a:r>
            <a:br>
              <a:rPr lang="en" sz="900" b="0" i="0" dirty="0" smtClean="0">
                <a:solidFill>
                  <a:srgbClr val="333333"/>
                </a:solidFill>
                <a:effectLst/>
                <a:latin typeface="Merriweather" pitchFamily="2" charset="0"/>
              </a:rPr>
            </a:br>
            <a:endParaRPr lang="en" sz="900" b="0" i="0" dirty="0">
              <a:solidFill>
                <a:srgbClr val="333333"/>
              </a:solidFill>
              <a:effectLst/>
              <a:latin typeface="Merriweather" pitchFamily="2" charset="0"/>
            </a:endParaRP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0EE91898-4BBC-42B5-0F12-4D00C54CB0A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A1EE30-E435-D745-B23A-FF31C831763F}" type="slidenum">
              <a:rPr lang="ru-RU" smtClean="0"/>
              <a:t>26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7611487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9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🔍 Что такое </a:t>
            </a:r>
            <a:r>
              <a:rPr lang="ru-RU" sz="900" b="1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Conformal</a:t>
            </a:r>
            <a:r>
              <a:rPr lang="ru-RU" sz="9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900" b="1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Prediction</a:t>
            </a:r>
            <a:r>
              <a:rPr lang="ru-RU" sz="9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</a:t>
            </a:r>
          </a:p>
          <a:p>
            <a:r>
              <a:rPr lang="ru-RU" sz="9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Conformal</a:t>
            </a:r>
            <a:r>
              <a:rPr lang="ru-RU" sz="9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9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Prediction</a:t>
            </a:r>
            <a:r>
              <a:rPr lang="ru-RU" sz="9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(Конформное прогнозирование) — это метод непараметрической оценки неопределенности , который позволяет строить калиброванные доверительные интервалы для прогнозов, полученных с помощью любой модели машинного обучения.</a:t>
            </a:r>
          </a:p>
          <a:p>
            <a:r>
              <a:rPr lang="ru-RU" sz="9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Особенность этого подхода в том, что он:</a:t>
            </a:r>
          </a:p>
          <a:p>
            <a:r>
              <a:rPr lang="ru-RU" sz="9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Не предполагает нормальности распределения ошибок .</a:t>
            </a:r>
          </a:p>
          <a:p>
            <a:r>
              <a:rPr lang="ru-RU" sz="9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Не требует повторного обучения модели .</a:t>
            </a:r>
          </a:p>
          <a:p>
            <a:r>
              <a:rPr lang="ru-RU" sz="9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Работает с любыми моделями (линейными, деревьями решений, </a:t>
            </a:r>
            <a:r>
              <a:rPr lang="ru-RU" sz="9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нейросетями</a:t>
            </a:r>
            <a:r>
              <a:rPr lang="ru-RU" sz="9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и т.д.).</a:t>
            </a:r>
          </a:p>
          <a:p>
            <a:r>
              <a:rPr lang="ru-RU" sz="9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Гарантирует калибровку : например, 95% интервал действительно покроет 95% реальных значений при условии, что данные независимы и одинаково распределены (</a:t>
            </a:r>
            <a:r>
              <a:rPr lang="ru-RU" sz="9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i.i.d</a:t>
            </a:r>
            <a:r>
              <a:rPr lang="ru-RU" sz="9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.).</a:t>
            </a:r>
          </a:p>
          <a:p>
            <a:r>
              <a:rPr lang="ru-RU" sz="9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💡 Основная идея</a:t>
            </a:r>
          </a:p>
          <a:p>
            <a:r>
              <a:rPr lang="ru-RU" sz="9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Конформное прогнозирование использует перекрестную проверку или разделение на обучающую и калибровочную выборки , чтобы определить, насколько "конформны" новые наблюдения по сравнению с уже известными.</a:t>
            </a:r>
          </a:p>
          <a:p>
            <a:r>
              <a:rPr lang="ru-RU" sz="9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Шаги работы:</a:t>
            </a:r>
          </a:p>
          <a:p>
            <a:r>
              <a:rPr lang="ru-RU" sz="9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Обучите модель на обучающей выборке.</a:t>
            </a:r>
          </a:p>
          <a:p>
            <a:r>
              <a:rPr lang="ru-RU" sz="9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Используйте отдельную часть данных (калибровочную) для вычисления </a:t>
            </a:r>
            <a:r>
              <a:rPr lang="ru-RU" sz="9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неконформности</a:t>
            </a:r>
            <a:r>
              <a:rPr lang="ru-RU" sz="9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</a:t>
            </a:r>
            <a:r>
              <a:rPr lang="ru-RU" sz="9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nonconformity</a:t>
            </a:r>
            <a:r>
              <a:rPr lang="ru-RU" sz="9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9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scores</a:t>
            </a:r>
            <a:r>
              <a:rPr lang="ru-RU" sz="9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— меры того, насколько новое значение отличается от предсказанного.</a:t>
            </a:r>
          </a:p>
          <a:p>
            <a:r>
              <a:rPr lang="ru-RU" sz="9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 основе этих </a:t>
            </a:r>
            <a:r>
              <a:rPr lang="ru-RU" sz="9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неконформностей</a:t>
            </a:r>
            <a:r>
              <a:rPr lang="ru-RU" sz="9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постройте доверительный интервал , который будет содержать будущее значение с заданной вероятностью (например, 90%, 95%).</a:t>
            </a:r>
          </a:p>
          <a:p>
            <a:r>
              <a:rPr lang="ru-RU" sz="9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📊 Пример: регрессия</a:t>
            </a:r>
          </a:p>
          <a:p>
            <a:r>
              <a:rPr lang="ru-RU" sz="9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Предположим, у нас есть временной ряд </a:t>
            </a:r>
            <a:r>
              <a:rPr lang="ru-RU" sz="900" b="0" i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</a:t>
            </a:r>
            <a:r>
              <a:rPr lang="ru-RU" sz="9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1​,</a:t>
            </a:r>
            <a:r>
              <a:rPr lang="ru-RU" sz="900" b="0" i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</a:t>
            </a:r>
            <a:r>
              <a:rPr lang="ru-RU" sz="9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2​,...,</a:t>
            </a:r>
            <a:r>
              <a:rPr lang="ru-RU" sz="900" b="0" i="1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yT</a:t>
            </a:r>
            <a:r>
              <a:rPr lang="ru-RU" sz="9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​ . Мы хотим построить прогноз на </a:t>
            </a:r>
            <a:r>
              <a:rPr lang="ru-RU" sz="900" b="0" i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</a:t>
            </a:r>
            <a:r>
              <a:rPr lang="ru-RU" sz="9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шагов вперед с 95% доверительным интервалом.</a:t>
            </a:r>
          </a:p>
          <a:p>
            <a:r>
              <a:rPr lang="ru-RU" sz="9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Этапы конформного прогнозирования:</a:t>
            </a:r>
          </a:p>
          <a:p>
            <a:r>
              <a:rPr lang="ru-RU" sz="9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1. Разделение данных</a:t>
            </a:r>
          </a:p>
          <a:p>
            <a:r>
              <a:rPr lang="ru-RU" sz="9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Обучающая выборка : </a:t>
            </a:r>
            <a:r>
              <a:rPr lang="ru-RU" sz="900" b="0" i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</a:t>
            </a:r>
            <a:r>
              <a:rPr lang="ru-RU" sz="9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1​,...,</a:t>
            </a:r>
            <a:r>
              <a:rPr lang="ru-RU" sz="900" b="0" i="1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yT</a:t>
            </a:r>
            <a:r>
              <a:rPr lang="ru-RU" sz="9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−</a:t>
            </a:r>
            <a:r>
              <a:rPr lang="ru-RU" sz="900" b="0" i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</a:t>
            </a:r>
            <a:r>
              <a:rPr lang="ru-RU" sz="9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​</a:t>
            </a:r>
          </a:p>
          <a:p>
            <a:r>
              <a:rPr lang="ru-RU" sz="9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Калибровочная выборка : </a:t>
            </a:r>
            <a:r>
              <a:rPr lang="ru-RU" sz="900" b="0" i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yT</a:t>
            </a:r>
            <a:r>
              <a:rPr lang="ru-RU" sz="9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−</a:t>
            </a:r>
            <a:r>
              <a:rPr lang="ru-RU" sz="900" b="0" i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</a:t>
            </a:r>
            <a:r>
              <a:rPr lang="ru-RU" sz="9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+1​,...,</a:t>
            </a:r>
            <a:r>
              <a:rPr lang="ru-RU" sz="900" b="0" i="1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yT</a:t>
            </a:r>
            <a:r>
              <a:rPr lang="ru-RU" sz="9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​</a:t>
            </a:r>
          </a:p>
          <a:p>
            <a:r>
              <a:rPr lang="ru-RU" sz="9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2. Обучение модели</a:t>
            </a:r>
          </a:p>
          <a:p>
            <a:r>
              <a:rPr lang="ru-RU" sz="9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Обучаем любую модель (например, </a:t>
            </a:r>
            <a:r>
              <a:rPr lang="ru-RU" sz="9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XGBoost</a:t>
            </a:r>
            <a:r>
              <a:rPr lang="ru-RU" sz="9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ru-RU" sz="9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LightGBM</a:t>
            </a:r>
            <a:r>
              <a:rPr lang="ru-RU" sz="9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ARIMA и др.) на обучающей выборке.</a:t>
            </a:r>
          </a:p>
          <a:p>
            <a:r>
              <a:rPr lang="ru-RU" sz="9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3. Вычисление </a:t>
            </a:r>
            <a:r>
              <a:rPr lang="ru-RU" sz="900" b="1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неконформности</a:t>
            </a:r>
            <a:endParaRPr lang="ru-RU" sz="900" b="1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9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Для каждого элемента из калибровочной выборки вычисляем ошибку прогноза (например, абсолютную):</a:t>
            </a:r>
          </a:p>
          <a:p>
            <a:r>
              <a:rPr lang="ru-RU" sz="9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error</a:t>
            </a:r>
            <a:r>
              <a:rPr lang="ru-RU" sz="900" b="0" i="1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</a:t>
            </a:r>
            <a:r>
              <a:rPr lang="ru-RU" sz="9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​=∣</a:t>
            </a:r>
            <a:r>
              <a:rPr lang="ru-RU" sz="900" b="0" i="1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yi</a:t>
            </a:r>
            <a:r>
              <a:rPr lang="ru-RU" sz="9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​−</a:t>
            </a:r>
            <a:r>
              <a:rPr lang="ru-RU" sz="900" b="0" i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</a:t>
            </a:r>
            <a:r>
              <a:rPr lang="ru-RU" sz="9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^​</a:t>
            </a:r>
            <a:r>
              <a:rPr lang="ru-RU" sz="900" b="0" i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</a:t>
            </a:r>
            <a:r>
              <a:rPr lang="ru-RU" sz="9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​∣</a:t>
            </a:r>
          </a:p>
          <a:p>
            <a:r>
              <a:rPr lang="ru-RU" sz="9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Это и есть </a:t>
            </a:r>
            <a:r>
              <a:rPr lang="ru-RU" sz="9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score</a:t>
            </a:r>
            <a:r>
              <a:rPr lang="ru-RU" sz="9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9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неконформности</a:t>
            </a:r>
            <a:r>
              <a:rPr lang="ru-RU" sz="9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.</a:t>
            </a:r>
          </a:p>
          <a:p>
            <a:r>
              <a:rPr lang="ru-RU" sz="9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4. Нахождение квантили</a:t>
            </a:r>
          </a:p>
          <a:p>
            <a:r>
              <a:rPr lang="ru-RU" sz="9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Вычисляем </a:t>
            </a:r>
            <a:r>
              <a:rPr lang="ru-RU" sz="900" b="0" i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qα</a:t>
            </a:r>
            <a:r>
              <a:rPr lang="ru-RU" sz="9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​ — (1−</a:t>
            </a:r>
            <a:r>
              <a:rPr lang="ru-RU" sz="900" b="0" i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α</a:t>
            </a:r>
            <a:r>
              <a:rPr lang="ru-RU" sz="9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-квантиль всех значений </a:t>
            </a:r>
            <a:r>
              <a:rPr lang="ru-RU" sz="9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error</a:t>
            </a:r>
            <a:r>
              <a:rPr lang="ru-RU" sz="900" b="0" i="1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</a:t>
            </a:r>
            <a:r>
              <a:rPr lang="ru-RU" sz="9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​ , где </a:t>
            </a:r>
            <a:r>
              <a:rPr lang="ru-RU" sz="900" b="0" i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α</a:t>
            </a:r>
            <a:r>
              <a:rPr lang="ru-RU" sz="9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— уровень доверия.</a:t>
            </a:r>
          </a:p>
          <a:p>
            <a:r>
              <a:rPr lang="ru-RU" sz="9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Например: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A1EE30-E435-D745-B23A-FF31C831763F}" type="slidenum">
              <a:rPr lang="ru-RU" smtClean="0"/>
              <a:t>27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0333470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A1EE30-E435-D745-B23A-FF31C831763F}" type="slidenum">
              <a:rPr lang="ru-RU" smtClean="0"/>
              <a:t>28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8209727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BD931E-A559-E5CC-CC4E-400B87F410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97B2FA56-70D8-F030-D5E4-CE3E92B5757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DA903E08-D920-29C6-FBE8-03126D7CA56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C76FA5C5-B974-93D0-7BA2-505334F7B94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A1EE30-E435-D745-B23A-FF31C831763F}" type="slidenum">
              <a:rPr lang="ru-RU" smtClean="0"/>
              <a:t>29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8736019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BB2D1B-903A-8E8F-18C0-4F6E36397E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76FA67A7-B988-F52C-6EB8-BE0713DC8BF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1EF6590F-FCBF-CB3D-5FCD-55B30ED6510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MSLE</a:t>
            </a:r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E10F5443-305A-3F75-45CD-A44A01C23D4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A1EE30-E435-D745-B23A-FF31C831763F}" type="slidenum">
              <a:rPr lang="ru-RU" smtClean="0"/>
              <a:t>30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3167867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9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🔍 Что такое </a:t>
            </a:r>
            <a:r>
              <a:rPr lang="ru-RU" sz="900" b="1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Conformal</a:t>
            </a:r>
            <a:r>
              <a:rPr lang="ru-RU" sz="9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900" b="1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Prediction</a:t>
            </a:r>
            <a:r>
              <a:rPr lang="ru-RU" sz="9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</a:t>
            </a:r>
          </a:p>
          <a:p>
            <a:r>
              <a:rPr lang="ru-RU" sz="9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Conformal</a:t>
            </a:r>
            <a:r>
              <a:rPr lang="ru-RU" sz="9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9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Prediction</a:t>
            </a:r>
            <a:r>
              <a:rPr lang="ru-RU" sz="9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(Конформное прогнозирование) — это метод непараметрической оценки неопределенности , который позволяет строить калиброванные доверительные интервалы для прогнозов, полученных с помощью любой модели машинного обучения.</a:t>
            </a:r>
          </a:p>
          <a:p>
            <a:r>
              <a:rPr lang="ru-RU" sz="9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Особенность этого подхода в том, что он:</a:t>
            </a:r>
          </a:p>
          <a:p>
            <a:r>
              <a:rPr lang="ru-RU" sz="9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Не предполагает нормальности распределения ошибок .</a:t>
            </a:r>
          </a:p>
          <a:p>
            <a:r>
              <a:rPr lang="ru-RU" sz="9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Не требует повторного обучения модели .</a:t>
            </a:r>
          </a:p>
          <a:p>
            <a:r>
              <a:rPr lang="ru-RU" sz="9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Работает с любыми моделями (линейными, деревьями решений, </a:t>
            </a:r>
            <a:r>
              <a:rPr lang="ru-RU" sz="9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нейросетями</a:t>
            </a:r>
            <a:r>
              <a:rPr lang="ru-RU" sz="9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и т.д.).</a:t>
            </a:r>
          </a:p>
          <a:p>
            <a:r>
              <a:rPr lang="ru-RU" sz="9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Гарантирует калибровку : например, 95% интервал действительно покроет 95% реальных значений при условии, что данные независимы и одинаково распределены (</a:t>
            </a:r>
            <a:r>
              <a:rPr lang="ru-RU" sz="9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i.i.d</a:t>
            </a:r>
            <a:r>
              <a:rPr lang="ru-RU" sz="9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.).</a:t>
            </a:r>
          </a:p>
          <a:p>
            <a:r>
              <a:rPr lang="ru-RU" sz="9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💡 Основная идея</a:t>
            </a:r>
          </a:p>
          <a:p>
            <a:r>
              <a:rPr lang="ru-RU" sz="9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Конформное прогнозирование использует перекрестную проверку или разделение на обучающую и калибровочную выборки , чтобы определить, насколько "конформны" новые наблюдения по сравнению с уже известными.</a:t>
            </a:r>
          </a:p>
          <a:p>
            <a:r>
              <a:rPr lang="ru-RU" sz="9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Шаги работы:</a:t>
            </a:r>
          </a:p>
          <a:p>
            <a:r>
              <a:rPr lang="ru-RU" sz="9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Обучите модель на обучающей выборке.</a:t>
            </a:r>
          </a:p>
          <a:p>
            <a:r>
              <a:rPr lang="ru-RU" sz="9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Используйте отдельную часть данных (калибровочную) для вычисления </a:t>
            </a:r>
            <a:r>
              <a:rPr lang="ru-RU" sz="9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неконформности</a:t>
            </a:r>
            <a:r>
              <a:rPr lang="ru-RU" sz="9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</a:t>
            </a:r>
            <a:r>
              <a:rPr lang="ru-RU" sz="9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nonconformity</a:t>
            </a:r>
            <a:r>
              <a:rPr lang="ru-RU" sz="9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9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scores</a:t>
            </a:r>
            <a:r>
              <a:rPr lang="ru-RU" sz="9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— меры того, насколько новое значение отличается от предсказанного.</a:t>
            </a:r>
          </a:p>
          <a:p>
            <a:r>
              <a:rPr lang="ru-RU" sz="9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 основе этих </a:t>
            </a:r>
            <a:r>
              <a:rPr lang="ru-RU" sz="9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неконформностей</a:t>
            </a:r>
            <a:r>
              <a:rPr lang="ru-RU" sz="9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постройте доверительный интервал , который будет содержать будущее значение с заданной вероятностью (например, 90%, 95%).</a:t>
            </a:r>
          </a:p>
          <a:p>
            <a:r>
              <a:rPr lang="ru-RU" sz="9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📊 Пример: регрессия</a:t>
            </a:r>
          </a:p>
          <a:p>
            <a:r>
              <a:rPr lang="ru-RU" sz="9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Предположим, у нас есть временной ряд </a:t>
            </a:r>
            <a:r>
              <a:rPr lang="ru-RU" sz="900" b="0" i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</a:t>
            </a:r>
            <a:r>
              <a:rPr lang="ru-RU" sz="9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1​,</a:t>
            </a:r>
            <a:r>
              <a:rPr lang="ru-RU" sz="900" b="0" i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</a:t>
            </a:r>
            <a:r>
              <a:rPr lang="ru-RU" sz="9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2​,...,</a:t>
            </a:r>
            <a:r>
              <a:rPr lang="ru-RU" sz="900" b="0" i="1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yT</a:t>
            </a:r>
            <a:r>
              <a:rPr lang="ru-RU" sz="9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​ . Мы хотим построить прогноз на </a:t>
            </a:r>
            <a:r>
              <a:rPr lang="ru-RU" sz="900" b="0" i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</a:t>
            </a:r>
            <a:r>
              <a:rPr lang="ru-RU" sz="9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шагов вперед с 95% доверительным интервалом.</a:t>
            </a:r>
          </a:p>
          <a:p>
            <a:r>
              <a:rPr lang="ru-RU" sz="9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Этапы конформного прогнозирования:</a:t>
            </a:r>
          </a:p>
          <a:p>
            <a:r>
              <a:rPr lang="ru-RU" sz="9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1. Разделение данных</a:t>
            </a:r>
          </a:p>
          <a:p>
            <a:r>
              <a:rPr lang="ru-RU" sz="9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Обучающая выборка : </a:t>
            </a:r>
            <a:r>
              <a:rPr lang="ru-RU" sz="900" b="0" i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</a:t>
            </a:r>
            <a:r>
              <a:rPr lang="ru-RU" sz="9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1​,...,</a:t>
            </a:r>
            <a:r>
              <a:rPr lang="ru-RU" sz="900" b="0" i="1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yT</a:t>
            </a:r>
            <a:r>
              <a:rPr lang="ru-RU" sz="9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−</a:t>
            </a:r>
            <a:r>
              <a:rPr lang="ru-RU" sz="900" b="0" i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</a:t>
            </a:r>
            <a:r>
              <a:rPr lang="ru-RU" sz="9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​</a:t>
            </a:r>
          </a:p>
          <a:p>
            <a:r>
              <a:rPr lang="ru-RU" sz="9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Калибровочная выборка : </a:t>
            </a:r>
            <a:r>
              <a:rPr lang="ru-RU" sz="900" b="0" i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yT</a:t>
            </a:r>
            <a:r>
              <a:rPr lang="ru-RU" sz="9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−</a:t>
            </a:r>
            <a:r>
              <a:rPr lang="ru-RU" sz="900" b="0" i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</a:t>
            </a:r>
            <a:r>
              <a:rPr lang="ru-RU" sz="9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+1​,...,</a:t>
            </a:r>
            <a:r>
              <a:rPr lang="ru-RU" sz="900" b="0" i="1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yT</a:t>
            </a:r>
            <a:r>
              <a:rPr lang="ru-RU" sz="9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​</a:t>
            </a:r>
          </a:p>
          <a:p>
            <a:r>
              <a:rPr lang="ru-RU" sz="9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2. Обучение модели</a:t>
            </a:r>
          </a:p>
          <a:p>
            <a:r>
              <a:rPr lang="ru-RU" sz="9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Обучаем любую модель (например, </a:t>
            </a:r>
            <a:r>
              <a:rPr lang="ru-RU" sz="9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XGBoost</a:t>
            </a:r>
            <a:r>
              <a:rPr lang="ru-RU" sz="9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ru-RU" sz="9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LightGBM</a:t>
            </a:r>
            <a:r>
              <a:rPr lang="ru-RU" sz="9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ARIMA и др.) на обучающей выборке.</a:t>
            </a:r>
          </a:p>
          <a:p>
            <a:r>
              <a:rPr lang="ru-RU" sz="9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3. Вычисление </a:t>
            </a:r>
            <a:r>
              <a:rPr lang="ru-RU" sz="900" b="1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неконформности</a:t>
            </a:r>
            <a:endParaRPr lang="ru-RU" sz="900" b="1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9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Для каждого элемента из калибровочной выборки вычисляем ошибку прогноза (например, абсолютную):</a:t>
            </a:r>
          </a:p>
          <a:p>
            <a:r>
              <a:rPr lang="ru-RU" sz="9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error</a:t>
            </a:r>
            <a:r>
              <a:rPr lang="ru-RU" sz="900" b="0" i="1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</a:t>
            </a:r>
            <a:r>
              <a:rPr lang="ru-RU" sz="9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​=∣</a:t>
            </a:r>
            <a:r>
              <a:rPr lang="ru-RU" sz="900" b="0" i="1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yi</a:t>
            </a:r>
            <a:r>
              <a:rPr lang="ru-RU" sz="9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​−</a:t>
            </a:r>
            <a:r>
              <a:rPr lang="ru-RU" sz="900" b="0" i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</a:t>
            </a:r>
            <a:r>
              <a:rPr lang="ru-RU" sz="9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^​</a:t>
            </a:r>
            <a:r>
              <a:rPr lang="ru-RU" sz="900" b="0" i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</a:t>
            </a:r>
            <a:r>
              <a:rPr lang="ru-RU" sz="9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​∣</a:t>
            </a:r>
          </a:p>
          <a:p>
            <a:r>
              <a:rPr lang="ru-RU" sz="9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Это и есть </a:t>
            </a:r>
            <a:r>
              <a:rPr lang="ru-RU" sz="9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score</a:t>
            </a:r>
            <a:r>
              <a:rPr lang="ru-RU" sz="9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9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неконформности</a:t>
            </a:r>
            <a:r>
              <a:rPr lang="ru-RU" sz="9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.</a:t>
            </a:r>
          </a:p>
          <a:p>
            <a:r>
              <a:rPr lang="ru-RU" sz="9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4. Нахождение квантили</a:t>
            </a:r>
          </a:p>
          <a:p>
            <a:r>
              <a:rPr lang="ru-RU" sz="9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Вычисляем </a:t>
            </a:r>
            <a:r>
              <a:rPr lang="ru-RU" sz="900" b="0" i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qα</a:t>
            </a:r>
            <a:r>
              <a:rPr lang="ru-RU" sz="9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​ — (1−</a:t>
            </a:r>
            <a:r>
              <a:rPr lang="ru-RU" sz="900" b="0" i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α</a:t>
            </a:r>
            <a:r>
              <a:rPr lang="ru-RU" sz="9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-квантиль всех значений </a:t>
            </a:r>
            <a:r>
              <a:rPr lang="ru-RU" sz="9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error</a:t>
            </a:r>
            <a:r>
              <a:rPr lang="ru-RU" sz="900" b="0" i="1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</a:t>
            </a:r>
            <a:r>
              <a:rPr lang="ru-RU" sz="9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​ , где </a:t>
            </a:r>
            <a:r>
              <a:rPr lang="ru-RU" sz="900" b="0" i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α</a:t>
            </a:r>
            <a:r>
              <a:rPr lang="ru-RU" sz="9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— уровень доверия.</a:t>
            </a:r>
          </a:p>
          <a:p>
            <a:r>
              <a:rPr lang="ru-RU" sz="9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Например: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A1EE30-E435-D745-B23A-FF31C831763F}" type="slidenum">
              <a:rPr lang="ru-RU" smtClean="0"/>
              <a:t>39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6220304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9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🔍 Что такое </a:t>
            </a:r>
            <a:r>
              <a:rPr lang="ru-RU" sz="900" b="1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Conformal</a:t>
            </a:r>
            <a:r>
              <a:rPr lang="ru-RU" sz="9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900" b="1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Prediction</a:t>
            </a:r>
            <a:r>
              <a:rPr lang="ru-RU" sz="9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</a:t>
            </a:r>
          </a:p>
          <a:p>
            <a:r>
              <a:rPr lang="ru-RU" sz="9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Conformal</a:t>
            </a:r>
            <a:r>
              <a:rPr lang="ru-RU" sz="9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9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Prediction</a:t>
            </a:r>
            <a:r>
              <a:rPr lang="ru-RU" sz="9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(Конформное прогнозирование) — это метод непараметрической оценки неопределенности , который позволяет строить калиброванные доверительные интервалы для прогнозов, полученных с помощью любой модели машинного обучения.</a:t>
            </a:r>
          </a:p>
          <a:p>
            <a:r>
              <a:rPr lang="ru-RU" sz="9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Особенность этого подхода в том, что он:</a:t>
            </a:r>
          </a:p>
          <a:p>
            <a:r>
              <a:rPr lang="ru-RU" sz="9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Не предполагает нормальности распределения ошибок .</a:t>
            </a:r>
          </a:p>
          <a:p>
            <a:r>
              <a:rPr lang="ru-RU" sz="9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Не требует повторного обучения модели .</a:t>
            </a:r>
          </a:p>
          <a:p>
            <a:r>
              <a:rPr lang="ru-RU" sz="9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Работает с любыми моделями (линейными, деревьями решений, </a:t>
            </a:r>
            <a:r>
              <a:rPr lang="ru-RU" sz="9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нейросетями</a:t>
            </a:r>
            <a:r>
              <a:rPr lang="ru-RU" sz="9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и т.д.).</a:t>
            </a:r>
          </a:p>
          <a:p>
            <a:r>
              <a:rPr lang="ru-RU" sz="9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Гарантирует калибровку : например, 95% интервал действительно покроет 95% реальных значений при условии, что данные независимы и одинаково распределены (</a:t>
            </a:r>
            <a:r>
              <a:rPr lang="ru-RU" sz="9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i.i.d</a:t>
            </a:r>
            <a:r>
              <a:rPr lang="ru-RU" sz="9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.).</a:t>
            </a:r>
          </a:p>
          <a:p>
            <a:r>
              <a:rPr lang="ru-RU" sz="9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💡 Основная идея</a:t>
            </a:r>
          </a:p>
          <a:p>
            <a:r>
              <a:rPr lang="ru-RU" sz="9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Конформное прогнозирование использует перекрестную проверку или разделение на обучающую и калибровочную выборки , чтобы определить, насколько "конформны" новые наблюдения по сравнению с уже известными.</a:t>
            </a:r>
          </a:p>
          <a:p>
            <a:r>
              <a:rPr lang="ru-RU" sz="9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Шаги работы:</a:t>
            </a:r>
          </a:p>
          <a:p>
            <a:r>
              <a:rPr lang="ru-RU" sz="9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Обучите модель на обучающей выборке.</a:t>
            </a:r>
          </a:p>
          <a:p>
            <a:r>
              <a:rPr lang="ru-RU" sz="9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Используйте отдельную часть данных (калибровочную) для вычисления </a:t>
            </a:r>
            <a:r>
              <a:rPr lang="ru-RU" sz="9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неконформности</a:t>
            </a:r>
            <a:r>
              <a:rPr lang="ru-RU" sz="9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</a:t>
            </a:r>
            <a:r>
              <a:rPr lang="ru-RU" sz="9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nonconformity</a:t>
            </a:r>
            <a:r>
              <a:rPr lang="ru-RU" sz="9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9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scores</a:t>
            </a:r>
            <a:r>
              <a:rPr lang="ru-RU" sz="9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— меры того, насколько новое значение отличается от предсказанного.</a:t>
            </a:r>
          </a:p>
          <a:p>
            <a:r>
              <a:rPr lang="ru-RU" sz="9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 основе этих </a:t>
            </a:r>
            <a:r>
              <a:rPr lang="ru-RU" sz="9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неконформностей</a:t>
            </a:r>
            <a:r>
              <a:rPr lang="ru-RU" sz="9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постройте доверительный интервал , который будет содержать будущее значение с заданной вероятностью (например, 90%, 95%).</a:t>
            </a:r>
          </a:p>
          <a:p>
            <a:r>
              <a:rPr lang="ru-RU" sz="9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📊 Пример: регрессия</a:t>
            </a:r>
          </a:p>
          <a:p>
            <a:r>
              <a:rPr lang="ru-RU" sz="9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Предположим, у нас есть временной ряд </a:t>
            </a:r>
            <a:r>
              <a:rPr lang="ru-RU" sz="900" b="0" i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</a:t>
            </a:r>
            <a:r>
              <a:rPr lang="ru-RU" sz="9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1​,</a:t>
            </a:r>
            <a:r>
              <a:rPr lang="ru-RU" sz="900" b="0" i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</a:t>
            </a:r>
            <a:r>
              <a:rPr lang="ru-RU" sz="9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2​,...,</a:t>
            </a:r>
            <a:r>
              <a:rPr lang="ru-RU" sz="900" b="0" i="1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yT</a:t>
            </a:r>
            <a:r>
              <a:rPr lang="ru-RU" sz="9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​ . Мы хотим построить прогноз на </a:t>
            </a:r>
            <a:r>
              <a:rPr lang="ru-RU" sz="900" b="0" i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</a:t>
            </a:r>
            <a:r>
              <a:rPr lang="ru-RU" sz="9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шагов вперед с 95% доверительным интервалом.</a:t>
            </a:r>
          </a:p>
          <a:p>
            <a:r>
              <a:rPr lang="ru-RU" sz="9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Этапы конформного прогнозирования:</a:t>
            </a:r>
          </a:p>
          <a:p>
            <a:r>
              <a:rPr lang="ru-RU" sz="9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1. Разделение данных</a:t>
            </a:r>
          </a:p>
          <a:p>
            <a:r>
              <a:rPr lang="ru-RU" sz="9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Обучающая выборка : </a:t>
            </a:r>
            <a:r>
              <a:rPr lang="ru-RU" sz="900" b="0" i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</a:t>
            </a:r>
            <a:r>
              <a:rPr lang="ru-RU" sz="9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1​,...,</a:t>
            </a:r>
            <a:r>
              <a:rPr lang="ru-RU" sz="900" b="0" i="1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yT</a:t>
            </a:r>
            <a:r>
              <a:rPr lang="ru-RU" sz="9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−</a:t>
            </a:r>
            <a:r>
              <a:rPr lang="ru-RU" sz="900" b="0" i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</a:t>
            </a:r>
            <a:r>
              <a:rPr lang="ru-RU" sz="9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​</a:t>
            </a:r>
          </a:p>
          <a:p>
            <a:r>
              <a:rPr lang="ru-RU" sz="9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Калибровочная выборка : </a:t>
            </a:r>
            <a:r>
              <a:rPr lang="ru-RU" sz="900" b="0" i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yT</a:t>
            </a:r>
            <a:r>
              <a:rPr lang="ru-RU" sz="9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−</a:t>
            </a:r>
            <a:r>
              <a:rPr lang="ru-RU" sz="900" b="0" i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</a:t>
            </a:r>
            <a:r>
              <a:rPr lang="ru-RU" sz="9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+1​,...,</a:t>
            </a:r>
            <a:r>
              <a:rPr lang="ru-RU" sz="900" b="0" i="1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yT</a:t>
            </a:r>
            <a:r>
              <a:rPr lang="ru-RU" sz="9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​</a:t>
            </a:r>
          </a:p>
          <a:p>
            <a:r>
              <a:rPr lang="ru-RU" sz="9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2. Обучение модели</a:t>
            </a:r>
          </a:p>
          <a:p>
            <a:r>
              <a:rPr lang="ru-RU" sz="9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Обучаем любую модель (например, </a:t>
            </a:r>
            <a:r>
              <a:rPr lang="ru-RU" sz="9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XGBoost</a:t>
            </a:r>
            <a:r>
              <a:rPr lang="ru-RU" sz="9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ru-RU" sz="9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LightGBM</a:t>
            </a:r>
            <a:r>
              <a:rPr lang="ru-RU" sz="9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ARIMA и др.) на обучающей выборке.</a:t>
            </a:r>
          </a:p>
          <a:p>
            <a:r>
              <a:rPr lang="ru-RU" sz="9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3. Вычисление </a:t>
            </a:r>
            <a:r>
              <a:rPr lang="ru-RU" sz="900" b="1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неконформности</a:t>
            </a:r>
            <a:endParaRPr lang="ru-RU" sz="900" b="1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9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Для каждого элемента из калибровочной выборки вычисляем ошибку прогноза (например, абсолютную):</a:t>
            </a:r>
          </a:p>
          <a:p>
            <a:r>
              <a:rPr lang="ru-RU" sz="9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error</a:t>
            </a:r>
            <a:r>
              <a:rPr lang="ru-RU" sz="900" b="0" i="1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</a:t>
            </a:r>
            <a:r>
              <a:rPr lang="ru-RU" sz="9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​=∣</a:t>
            </a:r>
            <a:r>
              <a:rPr lang="ru-RU" sz="900" b="0" i="1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yi</a:t>
            </a:r>
            <a:r>
              <a:rPr lang="ru-RU" sz="9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​−</a:t>
            </a:r>
            <a:r>
              <a:rPr lang="ru-RU" sz="900" b="0" i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</a:t>
            </a:r>
            <a:r>
              <a:rPr lang="ru-RU" sz="9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^​</a:t>
            </a:r>
            <a:r>
              <a:rPr lang="ru-RU" sz="900" b="0" i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</a:t>
            </a:r>
            <a:r>
              <a:rPr lang="ru-RU" sz="9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​∣</a:t>
            </a:r>
          </a:p>
          <a:p>
            <a:r>
              <a:rPr lang="ru-RU" sz="9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Это и есть </a:t>
            </a:r>
            <a:r>
              <a:rPr lang="ru-RU" sz="9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score</a:t>
            </a:r>
            <a:r>
              <a:rPr lang="ru-RU" sz="9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9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неконформности</a:t>
            </a:r>
            <a:r>
              <a:rPr lang="ru-RU" sz="9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.</a:t>
            </a:r>
          </a:p>
          <a:p>
            <a:r>
              <a:rPr lang="ru-RU" sz="9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4. Нахождение квантили</a:t>
            </a:r>
          </a:p>
          <a:p>
            <a:r>
              <a:rPr lang="ru-RU" sz="9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Вычисляем </a:t>
            </a:r>
            <a:r>
              <a:rPr lang="ru-RU" sz="900" b="0" i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qα</a:t>
            </a:r>
            <a:r>
              <a:rPr lang="ru-RU" sz="9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​ — (1−</a:t>
            </a:r>
            <a:r>
              <a:rPr lang="ru-RU" sz="900" b="0" i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α</a:t>
            </a:r>
            <a:r>
              <a:rPr lang="ru-RU" sz="9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-квантиль всех значений </a:t>
            </a:r>
            <a:r>
              <a:rPr lang="ru-RU" sz="9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error</a:t>
            </a:r>
            <a:r>
              <a:rPr lang="ru-RU" sz="900" b="0" i="1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</a:t>
            </a:r>
            <a:r>
              <a:rPr lang="ru-RU" sz="9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​ , где </a:t>
            </a:r>
            <a:r>
              <a:rPr lang="ru-RU" sz="900" b="0" i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α</a:t>
            </a:r>
            <a:r>
              <a:rPr lang="ru-RU" sz="9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— уровень доверия.</a:t>
            </a:r>
          </a:p>
          <a:p>
            <a:r>
              <a:rPr lang="ru-RU" sz="9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Например: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A1EE30-E435-D745-B23A-FF31C831763F}" type="slidenum">
              <a:rPr lang="ru-RU" smtClean="0"/>
              <a:t>40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7111270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A1EE30-E435-D745-B23A-FF31C831763F}" type="slidenum">
              <a:rPr lang="ru-RU" smtClean="0"/>
              <a:t>42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8713429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A1EE30-E435-D745-B23A-FF31C831763F}" type="slidenum">
              <a:rPr lang="ru-RU" smtClean="0"/>
              <a:t>43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6037747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A1EE30-E435-D745-B23A-FF31C831763F}" type="slidenum">
              <a:rPr lang="ru-RU" smtClean="0"/>
              <a:t>44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533733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https://huggingface.co/spaces/Salesforce/GIFT-Eval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A1EE30-E435-D745-B23A-FF31C831763F}" type="slidenum">
              <a:rPr lang="ru-RU" smtClean="0"/>
              <a:t>45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5089839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6EC92E-96CA-1773-E70F-44359E1FAD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6DEBD923-715F-AF23-ED4A-A481C7B4A94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8CD8777A-3579-C868-86EB-1B5A3347CD5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B3FFB02A-F95C-6F72-B5BC-0EADB6D0086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A1EE30-E435-D745-B23A-FF31C831763F}" type="slidenum">
              <a:rPr lang="ru-RU" smtClean="0"/>
              <a:t>49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6476580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" dirty="0"/>
              <a:t>https://</a:t>
            </a:r>
            <a:r>
              <a:rPr lang="en" dirty="0" err="1"/>
              <a:t>www.sciencedirect.com</a:t>
            </a:r>
            <a:r>
              <a:rPr lang="en" dirty="0"/>
              <a:t>/science/article/</a:t>
            </a:r>
            <a:r>
              <a:rPr lang="en" dirty="0" err="1"/>
              <a:t>pii</a:t>
            </a:r>
            <a:r>
              <a:rPr lang="en" dirty="0"/>
              <a:t>/S0169207019301128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A1EE30-E435-D745-B23A-FF31C831763F}" type="slidenum">
              <a:rPr lang="ru-RU" smtClean="0"/>
              <a:t>51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7190674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A1EE30-E435-D745-B23A-FF31C831763F}" type="slidenum">
              <a:rPr lang="ru-RU" smtClean="0"/>
              <a:t>57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189804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E214BE-636D-8A45-BCA6-8B7ED77AA124}" type="datetime1">
              <a:rPr lang="ru-RU" smtClean="0"/>
              <a:t>11.07.2025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30129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33A339-F8AE-5C45-BEAE-07EF9DC78B60}" type="datetime1">
              <a:rPr lang="ru-RU" smtClean="0"/>
              <a:t>11.07.2025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31265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86FDE4-97E0-CE4A-988C-F30B221290A7}" type="datetime1">
              <a:rPr lang="ru-RU" smtClean="0"/>
              <a:t>11.07.2025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17831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6ECE8B-8DEC-154E-9F03-047C8DDA20DC}" type="datetime1">
              <a:rPr lang="ru-RU" smtClean="0"/>
              <a:t>11.07.2025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02952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0816D5-BDB8-B34B-8ACA-ECBDD12E7321}" type="datetime1">
              <a:rPr lang="ru-RU" smtClean="0"/>
              <a:t>11.07.2025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19996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8C589A-5627-764C-AF96-C1E2F9A00A4D}" type="datetime1">
              <a:rPr lang="ru-RU" smtClean="0"/>
              <a:t>11.07.2025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29774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3EE0D0-1696-6D4F-B917-4AFB24A74E8B}" type="datetime1">
              <a:rPr lang="ru-RU" smtClean="0"/>
              <a:t>11.07.2025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41112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C8A91E-B09B-2240-9AA3-B1D4BCC6296E}" type="datetime1">
              <a:rPr lang="ru-RU" smtClean="0"/>
              <a:t>11.07.2025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79227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E9760E-DA8D-6747-B31E-62858C8727B8}" type="datetime1">
              <a:rPr lang="ru-RU" smtClean="0"/>
              <a:t>11.07.2025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59400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55274A-4ED4-0146-A3E9-88EF200B5196}" type="datetime1">
              <a:rPr lang="ru-RU" smtClean="0"/>
              <a:t>11.07.2025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65164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78DFF1-9FDC-144B-973E-B4B4609709DF}" type="datetime1">
              <a:rPr lang="ru-RU" smtClean="0"/>
              <a:t>11.07.2025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3241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1305DF-F750-CC43-967D-51A20925EE94}" type="datetime1">
              <a:rPr lang="ru-RU" smtClean="0"/>
              <a:t>11.07.2025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C3B737-A709-4ABC-AFE0-A6B067850C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15638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jpe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0.png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.png"/><Relationship Id="rId5" Type="http://schemas.openxmlformats.org/officeDocument/2006/relationships/image" Target="../media/image31.png"/><Relationship Id="rId4" Type="http://schemas.openxmlformats.org/officeDocument/2006/relationships/image" Target="../media/image27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emf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emf"/><Relationship Id="rId2" Type="http://schemas.openxmlformats.org/officeDocument/2006/relationships/image" Target="../media/image34.emf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8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90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1.png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png"/><Relationship Id="rId3" Type="http://schemas.openxmlformats.org/officeDocument/2006/relationships/image" Target="../media/image42.png"/><Relationship Id="rId7" Type="http://schemas.openxmlformats.org/officeDocument/2006/relationships/image" Target="../media/image4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5.png"/><Relationship Id="rId5" Type="http://schemas.openxmlformats.org/officeDocument/2006/relationships/image" Target="../media/image44.png"/><Relationship Id="rId4" Type="http://schemas.openxmlformats.org/officeDocument/2006/relationships/image" Target="../media/image43.png"/><Relationship Id="rId9" Type="http://schemas.openxmlformats.org/officeDocument/2006/relationships/image" Target="../media/image48.png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30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4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3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3.png"/><Relationship Id="rId3" Type="http://schemas.openxmlformats.org/officeDocument/2006/relationships/hyperlink" Target="https://www.lokad.com/ru/&#1074;&#1077;&#1088;&#1086;&#1103;&#1090;&#1085;&#1086;&#1089;&#1090;&#1085;&#1086;&#1077;-&#1087;&#1088;&#1086;&#1075;&#1085;&#1086;&#1079;&#1080;&#1088;&#1086;&#1074;&#1072;&#1085;&#1080;&#1077;-&#1086;&#1087;&#1088;&#1077;&#1076;&#1077;&#1083;&#1077;&#1085;&#1080;&#1077;/" TargetMode="External"/><Relationship Id="rId7" Type="http://schemas.openxmlformats.org/officeDocument/2006/relationships/image" Target="../media/image62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towardsdatascience.com/an-introduction-to-quantile-loss-a-k-a-the-pinball-loss-33cccac378a9/" TargetMode="External"/><Relationship Id="rId5" Type="http://schemas.openxmlformats.org/officeDocument/2006/relationships/image" Target="../media/image61.png"/><Relationship Id="rId4" Type="http://schemas.openxmlformats.org/officeDocument/2006/relationships/hyperlink" Target="https://www.lokad.com/pinball-loss-function-definition/" TargetMode="External"/><Relationship Id="rId9" Type="http://schemas.openxmlformats.org/officeDocument/2006/relationships/image" Target="../media/image64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7.png"/><Relationship Id="rId4" Type="http://schemas.openxmlformats.org/officeDocument/2006/relationships/image" Target="../media/image66.png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3.png"/><Relationship Id="rId3" Type="http://schemas.openxmlformats.org/officeDocument/2006/relationships/image" Target="../media/image68.png"/><Relationship Id="rId7" Type="http://schemas.openxmlformats.org/officeDocument/2006/relationships/image" Target="../media/image7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1.png"/><Relationship Id="rId5" Type="http://schemas.openxmlformats.org/officeDocument/2006/relationships/image" Target="../media/image70.png"/><Relationship Id="rId4" Type="http://schemas.openxmlformats.org/officeDocument/2006/relationships/image" Target="../media/image69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ciencedirect.com/science/article/pii/S0169207024001079" TargetMode="Externa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en.wikipedia.org/wiki/Makridakis_Competitions" TargetMode="External"/><Relationship Id="rId5" Type="http://schemas.openxmlformats.org/officeDocument/2006/relationships/hyperlink" Target="https://statmodeling.stat.columbia.edu/wp-content/uploads/2021/10/M5_accuracy_competition.pdf" TargetMode="External"/><Relationship Id="rId4" Type="http://schemas.openxmlformats.org/officeDocument/2006/relationships/hyperlink" Target="https://m-e-gorelli.medium.com/how-i-won-6-000-in-the-m6-forecasting-competition-888df68bf132" TargetMode="Externa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6.png"/><Relationship Id="rId3" Type="http://schemas.openxmlformats.org/officeDocument/2006/relationships/image" Target="../media/image75.png"/><Relationship Id="rId7" Type="http://schemas.openxmlformats.org/officeDocument/2006/relationships/image" Target="../media/image410.png"/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2.xml"/><Relationship Id="rId10" Type="http://schemas.openxmlformats.org/officeDocument/2006/relationships/image" Target="../media/image77.png"/><Relationship Id="rId9" Type="http://schemas.openxmlformats.org/officeDocument/2006/relationships/image" Target="../media/image430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png"/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png"/><Relationship Id="rId2" Type="http://schemas.openxmlformats.org/officeDocument/2006/relationships/image" Target="../media/image450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AE3A209-E86B-43CF-A4CE-1917FCF9C1B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17320" y="1224565"/>
            <a:ext cx="9144000" cy="2387600"/>
          </a:xfrm>
        </p:spPr>
        <p:txBody>
          <a:bodyPr>
            <a:noAutofit/>
          </a:bodyPr>
          <a:lstStyle/>
          <a:p>
            <a:r>
              <a:rPr lang="ru-RU" b="1" dirty="0"/>
              <a:t>Статистический подход к анализу </a:t>
            </a:r>
            <a:br>
              <a:rPr lang="ru-RU" b="1" dirty="0"/>
            </a:br>
            <a:r>
              <a:rPr lang="ru-RU" b="1" dirty="0"/>
              <a:t>временных рядов.</a:t>
            </a:r>
            <a:endParaRPr lang="en-US" dirty="0"/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E9A19EF5-ACCD-EF26-C88D-A3ED3DC99C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98432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9B0BEDB-9774-4E17-9A6B-DBCF6A1F52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76070" y="197786"/>
            <a:ext cx="9849485" cy="708799"/>
          </a:xfrm>
        </p:spPr>
        <p:txBody>
          <a:bodyPr>
            <a:normAutofit/>
          </a:bodyPr>
          <a:lstStyle/>
          <a:p>
            <a:r>
              <a:rPr lang="ru-RU" b="1" dirty="0"/>
              <a:t>Модели временных рядов</a:t>
            </a:r>
            <a:endParaRPr lang="en-US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4CDB8E57-5CA8-497C-990E-C304F4FBE71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86104" y="810561"/>
                <a:ext cx="11525249" cy="5545789"/>
              </a:xfrm>
            </p:spPr>
            <p:txBody>
              <a:bodyPr>
                <a:normAutofit/>
              </a:bodyPr>
              <a:lstStyle/>
              <a:p>
                <a:pPr marL="0" indent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ru-RU" altLang="en-US" sz="2400" dirty="0"/>
                  <a:t>Часто  вводится аддитивная модель ВР</a:t>
                </a:r>
              </a:p>
              <a:p>
                <a:pPr marL="0" indent="0" algn="ctr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en-US" sz="2400" i="0" dirty="0" smtClean="0">
                        <a:latin typeface="Cambria Math" panose="02040503050406030204" pitchFamily="18" charset="0"/>
                      </a:rPr>
                      <m:t>y</m:t>
                    </m:r>
                    <m:r>
                      <a:rPr lang="en-US" altLang="en-US" sz="2400" i="0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altLang="en-US" sz="2400" i="0" dirty="0" smtClean="0">
                        <a:latin typeface="Cambria Math" panose="02040503050406030204" pitchFamily="18" charset="0"/>
                      </a:rPr>
                      <m:t>t</m:t>
                    </m:r>
                    <m:r>
                      <a:rPr lang="en-US" altLang="en-US" sz="2400" i="0" dirty="0" smtClean="0">
                        <a:latin typeface="Cambria Math" panose="02040503050406030204" pitchFamily="18" charset="0"/>
                      </a:rPr>
                      <m:t>) = </m:t>
                    </m:r>
                    <m:r>
                      <m:rPr>
                        <m:sty m:val="p"/>
                      </m:rPr>
                      <a:rPr lang="en-US" altLang="en-US" sz="2400" i="0" dirty="0" smtClean="0">
                        <a:latin typeface="Cambria Math" panose="02040503050406030204" pitchFamily="18" charset="0"/>
                      </a:rPr>
                      <m:t>trend</m:t>
                    </m:r>
                    <m:r>
                      <a:rPr lang="en-US" altLang="en-US" sz="2400" i="0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altLang="en-US" sz="2400" i="0" dirty="0" smtClean="0">
                        <a:latin typeface="Cambria Math" panose="02040503050406030204" pitchFamily="18" charset="0"/>
                      </a:rPr>
                      <m:t>t</m:t>
                    </m:r>
                    <m:r>
                      <a:rPr lang="en-US" altLang="en-US" sz="2400" i="0" dirty="0" smtClean="0">
                        <a:latin typeface="Cambria Math" panose="02040503050406030204" pitchFamily="18" charset="0"/>
                      </a:rPr>
                      <m:t>) +</m:t>
                    </m:r>
                    <m:r>
                      <m:rPr>
                        <m:sty m:val="p"/>
                      </m:rPr>
                      <a:rPr lang="en-US" altLang="en-US" sz="2400" i="0" dirty="0" smtClean="0">
                        <a:latin typeface="Cambria Math" panose="02040503050406030204" pitchFamily="18" charset="0"/>
                      </a:rPr>
                      <m:t>seasonal</m:t>
                    </m:r>
                    <m:r>
                      <a:rPr lang="en-US" altLang="en-US" sz="2400" i="0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altLang="en-US" sz="2400" i="0" dirty="0" smtClean="0">
                        <a:latin typeface="Cambria Math" panose="02040503050406030204" pitchFamily="18" charset="0"/>
                      </a:rPr>
                      <m:t>t</m:t>
                    </m:r>
                    <m:r>
                      <a:rPr lang="en-US" altLang="en-US" sz="2400" i="0" dirty="0" smtClean="0">
                        <a:latin typeface="Cambria Math" panose="02040503050406030204" pitchFamily="18" charset="0"/>
                      </a:rPr>
                      <m:t>) + </m:t>
                    </m:r>
                    <m:r>
                      <m:rPr>
                        <m:sty m:val="p"/>
                      </m:rPr>
                      <a:rPr lang="en-US" altLang="en-US" sz="2400" i="0" dirty="0" smtClean="0">
                        <a:latin typeface="Cambria Math" panose="02040503050406030204" pitchFamily="18" charset="0"/>
                      </a:rPr>
                      <m:t>noise</m:t>
                    </m:r>
                    <m:r>
                      <a:rPr lang="en-US" altLang="en-US" sz="2400" i="0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altLang="en-US" sz="2400" i="0" dirty="0" smtClean="0">
                        <a:latin typeface="Cambria Math" panose="02040503050406030204" pitchFamily="18" charset="0"/>
                      </a:rPr>
                      <m:t>t</m:t>
                    </m:r>
                  </m:oMath>
                </a14:m>
                <a:r>
                  <a:rPr lang="en-US" altLang="en-US" sz="2400" dirty="0"/>
                  <a:t>). </a:t>
                </a:r>
              </a:p>
              <a:p>
                <a:pPr marL="457200" lvl="1" indent="0" eaLnBrk="0" fontAlgn="base" hangingPunct="0">
                  <a:lnSpc>
                    <a:spcPct val="100000"/>
                  </a:lnSpc>
                  <a:spcBef>
                    <a:spcPts val="600"/>
                  </a:spcBef>
                  <a:spcAft>
                    <a:spcPct val="0"/>
                  </a:spcAft>
                  <a:buNone/>
                </a:pPr>
                <a:r>
                  <a:rPr lang="ru-RU" altLang="en-US" sz="2000" dirty="0"/>
                  <a:t>где</a:t>
                </a:r>
                <a14:m>
                  <m:oMath xmlns:m="http://schemas.openxmlformats.org/officeDocument/2006/math">
                    <m:r>
                      <a:rPr lang="ru-RU" altLang="en-US" sz="2000" b="0" i="0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en-US" sz="2000" i="0" dirty="0" smtClean="0">
                        <a:latin typeface="Cambria Math" panose="02040503050406030204" pitchFamily="18" charset="0"/>
                      </a:rPr>
                      <m:t>trend</m:t>
                    </m:r>
                    <m:d>
                      <m:dPr>
                        <m:ctrlPr>
                          <a:rPr lang="en-US" altLang="en-US" sz="20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en-US" sz="2000" i="0" dirty="0" smtClean="0">
                            <a:latin typeface="Cambria Math" panose="02040503050406030204" pitchFamily="18" charset="0"/>
                          </a:rPr>
                          <m:t>t</m:t>
                        </m:r>
                      </m:e>
                    </m:d>
                  </m:oMath>
                </a14:m>
                <a:r>
                  <a:rPr lang="ru-RU" altLang="en-US" sz="2000" dirty="0">
                    <a:latin typeface="Cambria Math" panose="02040503050406030204" pitchFamily="18" charset="0"/>
                  </a:rPr>
                  <a:t> - тренд ВР, </a:t>
                </a:r>
                <a14:m>
                  <m:oMath xmlns:m="http://schemas.openxmlformats.org/officeDocument/2006/math">
                    <m:r>
                      <a:rPr lang="ru-RU" altLang="en-US" sz="2000" b="0" i="0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en-US" sz="2000" i="0" dirty="0" smtClean="0">
                        <a:latin typeface="Cambria Math" panose="02040503050406030204" pitchFamily="18" charset="0"/>
                      </a:rPr>
                      <m:t>seasonal</m:t>
                    </m:r>
                    <m:d>
                      <m:dPr>
                        <m:ctrlPr>
                          <a:rPr lang="en-US" altLang="en-US" sz="20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en-US" sz="2000" i="0" dirty="0" smtClean="0">
                            <a:latin typeface="Cambria Math" panose="02040503050406030204" pitchFamily="18" charset="0"/>
                          </a:rPr>
                          <m:t>t</m:t>
                        </m:r>
                      </m:e>
                    </m:d>
                    <m:r>
                      <a:rPr lang="ru-RU" altLang="en-US" sz="2000" b="0" i="0" dirty="0" smtClean="0">
                        <a:latin typeface="Cambria Math" panose="02040503050406030204" pitchFamily="18" charset="0"/>
                      </a:rPr>
                      <m:t> −сезонность ВР</m:t>
                    </m:r>
                  </m:oMath>
                </a14:m>
                <a:r>
                  <a:rPr lang="ru-RU" altLang="en-US" sz="2000" dirty="0">
                    <a:latin typeface="Cambria Math" panose="020405030504060302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en-US" sz="2000" i="0" dirty="0" smtClean="0">
                        <a:latin typeface="Cambria Math" panose="02040503050406030204" pitchFamily="18" charset="0"/>
                      </a:rPr>
                      <m:t>noise</m:t>
                    </m:r>
                    <m:r>
                      <a:rPr lang="en-US" altLang="en-US" sz="2000" i="0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altLang="en-US" sz="2000" i="0" dirty="0" smtClean="0">
                        <a:latin typeface="Cambria Math" panose="02040503050406030204" pitchFamily="18" charset="0"/>
                      </a:rPr>
                      <m:t>t</m:t>
                    </m:r>
                  </m:oMath>
                </a14:m>
                <a:r>
                  <a:rPr lang="en-US" altLang="en-US" sz="2000" dirty="0"/>
                  <a:t>)</a:t>
                </a:r>
                <a:r>
                  <a:rPr lang="ru-RU" altLang="en-US" sz="2000" dirty="0"/>
                  <a:t> – остаточная часть ВР</a:t>
                </a:r>
              </a:p>
              <a:p>
                <a:pPr marL="0" indent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lang="en-US" altLang="en-US" sz="2400" dirty="0"/>
              </a:p>
              <a:p>
                <a:pPr marL="0" indent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ru-RU" altLang="en-US" sz="2400" dirty="0"/>
                  <a:t>Иногда также разделяют тренд на уровень, тренд и цикличность:</a:t>
                </a:r>
              </a:p>
              <a:p>
                <a:pPr marL="0" indent="0" algn="ctr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en-US" sz="2400" i="0" dirty="0" smtClean="0">
                        <a:latin typeface="Cambria Math" panose="02040503050406030204" pitchFamily="18" charset="0"/>
                      </a:rPr>
                      <m:t>y</m:t>
                    </m:r>
                    <m:d>
                      <m:dPr>
                        <m:ctrlPr>
                          <a:rPr lang="en-US" altLang="en-US" sz="24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en-US" sz="2400" i="0" dirty="0" smtClean="0">
                            <a:latin typeface="Cambria Math" panose="02040503050406030204" pitchFamily="18" charset="0"/>
                          </a:rPr>
                          <m:t>t</m:t>
                        </m:r>
                      </m:e>
                    </m:d>
                    <m:r>
                      <a:rPr lang="en-US" altLang="en-US" sz="2400" i="0" dirty="0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en-US" sz="24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en-US" sz="2400" b="0" i="0" dirty="0" smtClean="0">
                            <a:latin typeface="Cambria Math" panose="02040503050406030204" pitchFamily="18" charset="0"/>
                          </a:rPr>
                          <m:t>a</m:t>
                        </m:r>
                      </m:e>
                      <m:sub>
                        <m:r>
                          <a:rPr lang="en-US" altLang="en-US" sz="2400" b="0" i="0" dirty="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en-US" sz="2400" b="0" i="0" dirty="0" smtClean="0"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US" altLang="en-US" sz="2400" i="0" dirty="0" smtClean="0">
                        <a:latin typeface="Cambria Math" panose="02040503050406030204" pitchFamily="18" charset="0"/>
                      </a:rPr>
                      <m:t>tren</m:t>
                    </m:r>
                    <m:sSup>
                      <m:sSupPr>
                        <m:ctrlPr>
                          <a:rPr lang="en-US" altLang="en-US" sz="2400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en-US" sz="2400" i="0" dirty="0" smtClean="0">
                            <a:latin typeface="Cambria Math" panose="02040503050406030204" pitchFamily="18" charset="0"/>
                          </a:rPr>
                          <m:t>d</m:t>
                        </m:r>
                      </m:e>
                      <m:sup>
                        <m:r>
                          <a:rPr lang="en-US" altLang="en-US" sz="2400" b="0" i="0" dirty="0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d>
                      <m:dPr>
                        <m:ctrlPr>
                          <a:rPr lang="en-US" altLang="en-US" sz="24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en-US" sz="2400" i="0" dirty="0" smtClean="0">
                            <a:latin typeface="Cambria Math" panose="02040503050406030204" pitchFamily="18" charset="0"/>
                          </a:rPr>
                          <m:t>t</m:t>
                        </m:r>
                      </m:e>
                    </m:d>
                    <m:r>
                      <a:rPr lang="en-US" altLang="en-US" sz="2400" b="0" i="0" dirty="0" smtClean="0"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US" altLang="en-US" sz="2400" b="0" i="0" dirty="0" smtClean="0">
                        <a:latin typeface="Cambria Math" panose="02040503050406030204" pitchFamily="18" charset="0"/>
                      </a:rPr>
                      <m:t>cyclic</m:t>
                    </m:r>
                    <m:r>
                      <a:rPr lang="en-US" altLang="en-US" sz="2400" b="0" i="0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altLang="en-US" sz="2400" b="0" i="0" dirty="0" smtClean="0">
                        <a:latin typeface="Cambria Math" panose="02040503050406030204" pitchFamily="18" charset="0"/>
                      </a:rPr>
                      <m:t>t</m:t>
                    </m:r>
                    <m:r>
                      <a:rPr lang="en-US" altLang="en-US" sz="2400" b="0" i="0" dirty="0" smtClean="0">
                        <a:latin typeface="Cambria Math" panose="02040503050406030204" pitchFamily="18" charset="0"/>
                      </a:rPr>
                      <m:t>) +</m:t>
                    </m:r>
                    <m:r>
                      <m:rPr>
                        <m:sty m:val="p"/>
                      </m:rPr>
                      <a:rPr lang="en-US" altLang="en-US" sz="2400" i="0" dirty="0" smtClean="0">
                        <a:latin typeface="Cambria Math" panose="02040503050406030204" pitchFamily="18" charset="0"/>
                      </a:rPr>
                      <m:t>seasonal</m:t>
                    </m:r>
                    <m:r>
                      <a:rPr lang="en-US" altLang="en-US" sz="2400" i="0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altLang="en-US" sz="2400" i="0" dirty="0" smtClean="0">
                        <a:latin typeface="Cambria Math" panose="02040503050406030204" pitchFamily="18" charset="0"/>
                      </a:rPr>
                      <m:t>t</m:t>
                    </m:r>
                    <m:r>
                      <a:rPr lang="en-US" altLang="en-US" sz="2400" i="0" dirty="0" smtClean="0">
                        <a:latin typeface="Cambria Math" panose="02040503050406030204" pitchFamily="18" charset="0"/>
                      </a:rPr>
                      <m:t>) + </m:t>
                    </m:r>
                    <m:r>
                      <m:rPr>
                        <m:sty m:val="p"/>
                      </m:rPr>
                      <a:rPr lang="en-US" altLang="en-US" sz="2400" i="0" dirty="0" smtClean="0">
                        <a:latin typeface="Cambria Math" panose="02040503050406030204" pitchFamily="18" charset="0"/>
                      </a:rPr>
                      <m:t>noise</m:t>
                    </m:r>
                    <m:r>
                      <a:rPr lang="en-US" altLang="en-US" sz="2400" i="0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altLang="en-US" sz="2400" i="0" dirty="0" smtClean="0">
                        <a:latin typeface="Cambria Math" panose="02040503050406030204" pitchFamily="18" charset="0"/>
                      </a:rPr>
                      <m:t>t</m:t>
                    </m:r>
                  </m:oMath>
                </a14:m>
                <a:r>
                  <a:rPr lang="en-US" altLang="en-US" sz="2400" dirty="0"/>
                  <a:t>). </a:t>
                </a:r>
              </a:p>
              <a:p>
                <a:pPr marL="457200" lvl="1" indent="0" algn="just" eaLnBrk="0" fontAlgn="base" hangingPunct="0">
                  <a:lnSpc>
                    <a:spcPct val="100000"/>
                  </a:lnSpc>
                  <a:spcBef>
                    <a:spcPts val="600"/>
                  </a:spcBef>
                  <a:spcAft>
                    <a:spcPct val="0"/>
                  </a:spcAft>
                  <a:buNone/>
                </a:pPr>
                <a:r>
                  <a:rPr lang="ru-RU" altLang="en-US" sz="2000" dirty="0"/>
                  <a:t>где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sz="20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en-US" sz="2000" i="0" dirty="0" smtClean="0">
                            <a:latin typeface="Cambria Math" panose="02040503050406030204" pitchFamily="18" charset="0"/>
                          </a:rPr>
                          <m:t>a</m:t>
                        </m:r>
                      </m:e>
                      <m:sub>
                        <m:r>
                          <a:rPr lang="en-US" altLang="en-US" sz="2000" i="0" dirty="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ru-RU" altLang="en-US" sz="2000" dirty="0"/>
                  <a:t>- постоянная составляющая,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en-US" sz="2000" i="0" dirty="0" smtClean="0">
                        <a:latin typeface="Cambria Math" panose="02040503050406030204" pitchFamily="18" charset="0"/>
                      </a:rPr>
                      <m:t>cyclic</m:t>
                    </m:r>
                    <m:r>
                      <a:rPr lang="en-US" altLang="en-US" sz="2000" i="0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altLang="en-US" sz="2000" i="0" dirty="0" smtClean="0">
                        <a:latin typeface="Cambria Math" panose="02040503050406030204" pitchFamily="18" charset="0"/>
                      </a:rPr>
                      <m:t>t</m:t>
                    </m:r>
                    <m:r>
                      <a:rPr lang="en-US" altLang="en-US" sz="2000" i="0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ru-RU" altLang="en-US" sz="2000" dirty="0"/>
                  <a:t> – цикличность ВР,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en-US" sz="2000" i="0" dirty="0" smtClean="0">
                        <a:latin typeface="Cambria Math" panose="02040503050406030204" pitchFamily="18" charset="0"/>
                      </a:rPr>
                      <m:t>tren</m:t>
                    </m:r>
                    <m:sSup>
                      <m:sSupPr>
                        <m:ctrlPr>
                          <a:rPr lang="en-US" altLang="en-US" sz="20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en-US" sz="2000" i="0" dirty="0" smtClean="0">
                            <a:latin typeface="Cambria Math" panose="02040503050406030204" pitchFamily="18" charset="0"/>
                          </a:rPr>
                          <m:t>d</m:t>
                        </m:r>
                      </m:e>
                      <m:sup>
                        <m:r>
                          <a:rPr lang="en-US" altLang="en-US" sz="2000" i="0" dirty="0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d>
                      <m:dPr>
                        <m:ctrlPr>
                          <a:rPr lang="en-US" altLang="en-US" sz="20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en-US" sz="2000" i="0" dirty="0" smtClean="0">
                            <a:latin typeface="Cambria Math" panose="02040503050406030204" pitchFamily="18" charset="0"/>
                          </a:rPr>
                          <m:t>t</m:t>
                        </m:r>
                      </m:e>
                    </m:d>
                  </m:oMath>
                </a14:m>
                <a:r>
                  <a:rPr lang="ru-RU" altLang="en-US" sz="2000" dirty="0"/>
                  <a:t>-остальной тренд</a:t>
                </a:r>
                <a:endParaRPr lang="ru-RU" altLang="en-US" sz="2400" dirty="0"/>
              </a:p>
              <a:p>
                <a:pPr marL="898525" indent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ru-RU" altLang="en-US" sz="2000" dirty="0"/>
                  <a:t>напр. если выделяют уровень экономики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sz="20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en-US" sz="2000" i="0" dirty="0" smtClean="0">
                            <a:latin typeface="Cambria Math" panose="02040503050406030204" pitchFamily="18" charset="0"/>
                          </a:rPr>
                          <m:t>a</m:t>
                        </m:r>
                      </m:e>
                      <m:sub>
                        <m:r>
                          <a:rPr lang="en-US" altLang="en-US" sz="2000" i="0" dirty="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ru-RU" altLang="en-US" sz="2000" dirty="0"/>
                  <a:t>, </a:t>
                </a:r>
                <a:br>
                  <a:rPr lang="ru-RU" altLang="en-US" sz="2000" dirty="0"/>
                </a:br>
                <a:r>
                  <a:rPr lang="ru-RU" altLang="en-US" sz="2000" dirty="0"/>
                  <a:t>цикличность кризисов,</a:t>
                </a:r>
                <a:br>
                  <a:rPr lang="ru-RU" altLang="en-US" sz="2000" dirty="0"/>
                </a:br>
                <a:r>
                  <a:rPr lang="ru-RU" altLang="en-US" sz="2000" b="1" dirty="0"/>
                  <a:t>тренд</a:t>
                </a:r>
                <a:r>
                  <a:rPr lang="ru-RU" altLang="en-US" sz="2000" dirty="0"/>
                  <a:t> экономики</a:t>
                </a:r>
                <a:br>
                  <a:rPr lang="ru-RU" altLang="en-US" sz="2000" dirty="0"/>
                </a:br>
                <a:r>
                  <a:rPr lang="ru-RU" altLang="en-US" sz="2000" dirty="0"/>
                  <a:t>	и </a:t>
                </a:r>
                <a:r>
                  <a:rPr lang="ru-RU" altLang="en-US" sz="2000" b="1" dirty="0"/>
                  <a:t>сезонные факторы ( год, неделя и </a:t>
                </a:r>
                <a:r>
                  <a:rPr lang="ru-RU" altLang="en-US" sz="2000" b="1" dirty="0" err="1"/>
                  <a:t>тд</a:t>
                </a:r>
                <a:r>
                  <a:rPr lang="ru-RU" altLang="en-US" sz="2000" b="1" dirty="0"/>
                  <a:t>)</a:t>
                </a:r>
              </a:p>
              <a:p>
                <a:pPr marL="0" indent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lang="ru-RU" altLang="en-US" sz="2000" dirty="0"/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4CDB8E57-5CA8-497C-990E-C304F4FBE71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86104" y="810561"/>
                <a:ext cx="11525249" cy="5545789"/>
              </a:xfrm>
              <a:blipFill>
                <a:blip r:embed="rId2"/>
                <a:stretch>
                  <a:fillRect l="-847" t="-87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A07EF2B8-3D80-AB22-FA4B-F0655B9EAE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2</a:t>
            </a:fld>
            <a:endParaRPr lang="en-US"/>
          </a:p>
        </p:txBody>
      </p:sp>
      <p:sp>
        <p:nvSpPr>
          <p:cNvPr id="5" name="Rectangle 231">
            <a:extLst>
              <a:ext uri="{FF2B5EF4-FFF2-40B4-BE49-F238E27FC236}">
                <a16:creationId xmlns:a16="http://schemas.microsoft.com/office/drawing/2014/main" id="{57F50B8E-A23A-4154-9A0C-994DE115AC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67756" y="4477386"/>
            <a:ext cx="52071" cy="10795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endParaRPr lang="en-US" sz="1351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66C52228-8C94-4CF2-AD63-BA9617333B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523999" y="124999"/>
            <a:ext cx="184731" cy="6771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400">
                <a:latin typeface="Arial" panose="020B0604020202020204" pitchFamily="34" charset="0"/>
                <a:ea typeface="Times New Roman" panose="02020603050405020304" pitchFamily="18" charset="0"/>
              </a:rPr>
              <a:t/>
            </a:r>
            <a:br>
              <a:rPr lang="en-US" altLang="en-US" sz="1400">
                <a:latin typeface="Arial" panose="020B0604020202020204" pitchFamily="34" charset="0"/>
                <a:ea typeface="Times New Roman" panose="02020603050405020304" pitchFamily="18" charset="0"/>
              </a:rPr>
            </a:br>
            <a:endParaRPr lang="en-US" altLang="en-US" sz="2400">
              <a:latin typeface="Arial" panose="020B0604020202020204" pitchFamily="34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4ECA1DAD-475E-4D0B-A20A-17535DDD41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523999" y="43935"/>
            <a:ext cx="65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240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767120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C795C2-7E07-1469-9870-10731979E8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9F3757B-A658-84DA-AF87-09AF2C0BB7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8636" y="197786"/>
            <a:ext cx="9477263" cy="880808"/>
          </a:xfrm>
        </p:spPr>
        <p:txBody>
          <a:bodyPr>
            <a:noAutofit/>
          </a:bodyPr>
          <a:lstStyle/>
          <a:p>
            <a:pPr algn="ctr"/>
            <a:r>
              <a:rPr lang="ru-RU" sz="4000" b="1" dirty="0"/>
              <a:t>Особенности модели временных рядов</a:t>
            </a:r>
            <a:endParaRPr lang="en-US" sz="4000" b="1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8BAE69D-36D8-D04E-E425-5890F7443B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037" y="870413"/>
            <a:ext cx="11386458" cy="5460318"/>
          </a:xfrm>
        </p:spPr>
        <p:txBody>
          <a:bodyPr>
            <a:normAutofit/>
          </a:bodyPr>
          <a:lstStyle/>
          <a:p>
            <a:pPr lvl="0">
              <a:lnSpc>
                <a:spcPct val="100000"/>
              </a:lnSpc>
              <a:spcBef>
                <a:spcPts val="0"/>
              </a:spcBef>
            </a:pPr>
            <a:r>
              <a:rPr lang="ru-RU" sz="2100" dirty="0"/>
              <a:t>Как правило тренд и сезонность объяснить частично можно (это структура ВР)</a:t>
            </a: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ru-RU" sz="1700" dirty="0"/>
              <a:t>можно разложить ВР на тренд и  сезонность известного типа. То что останется – мы считаем шумом (случайные колебания).</a:t>
            </a:r>
          </a:p>
          <a:p>
            <a:pPr lvl="0">
              <a:lnSpc>
                <a:spcPct val="100000"/>
              </a:lnSpc>
              <a:spcBef>
                <a:spcPts val="0"/>
              </a:spcBef>
            </a:pPr>
            <a:r>
              <a:rPr lang="ru-RU" sz="2100" dirty="0"/>
              <a:t>Шум создает неопределенность или смещение в результатах предсказаний</a:t>
            </a:r>
          </a:p>
          <a:p>
            <a:pPr lvl="0">
              <a:lnSpc>
                <a:spcPct val="100000"/>
              </a:lnSpc>
              <a:spcBef>
                <a:spcPts val="0"/>
              </a:spcBef>
            </a:pPr>
            <a:r>
              <a:rPr lang="ru-RU" sz="2100" dirty="0"/>
              <a:t>Данные с шумом можно описать статистически (ввести статистические гипотезы о данных)</a:t>
            </a:r>
          </a:p>
          <a:p>
            <a:pPr lvl="0">
              <a:lnSpc>
                <a:spcPct val="100000"/>
              </a:lnSpc>
              <a:spcBef>
                <a:spcPts val="0"/>
              </a:spcBef>
            </a:pPr>
            <a:r>
              <a:rPr lang="ru-RU" sz="2100" dirty="0"/>
              <a:t>При статистическом анализе ВР введем стат. Характеристики ВР</a:t>
            </a:r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646DBD4B-2A5F-824E-0852-1F4588667E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3</a:t>
            </a:fld>
            <a:endParaRPr lang="en-US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89E2F553-27F1-A9E4-3E80-186B4C2D8B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523999" y="124999"/>
            <a:ext cx="184731" cy="6771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400">
                <a:latin typeface="Arial" panose="020B0604020202020204" pitchFamily="34" charset="0"/>
                <a:ea typeface="Times New Roman" panose="02020603050405020304" pitchFamily="18" charset="0"/>
              </a:rPr>
              <a:t/>
            </a:r>
            <a:br>
              <a:rPr lang="en-US" altLang="en-US" sz="1400">
                <a:latin typeface="Arial" panose="020B0604020202020204" pitchFamily="34" charset="0"/>
                <a:ea typeface="Times New Roman" panose="02020603050405020304" pitchFamily="18" charset="0"/>
              </a:rPr>
            </a:br>
            <a:endParaRPr lang="en-US" altLang="en-US" sz="2400">
              <a:latin typeface="Arial" panose="020B0604020202020204" pitchFamily="34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4A0299A3-CABC-57D4-2339-DB1A2A6F09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523999" y="43935"/>
            <a:ext cx="65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2400" dirty="0">
              <a:latin typeface="Arial" panose="020B0604020202020204" pitchFamily="34" charset="0"/>
            </a:endParaRPr>
          </a:p>
        </p:txBody>
      </p:sp>
      <p:sp>
        <p:nvSpPr>
          <p:cNvPr id="8" name="AutoShape 4">
            <a:extLst>
              <a:ext uri="{FF2B5EF4-FFF2-40B4-BE49-F238E27FC236}">
                <a16:creationId xmlns:a16="http://schemas.microsoft.com/office/drawing/2014/main" id="{FBF2AC38-DF2F-3DB7-8C04-C58B060D8E3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10" name="AutoShape 8">
            <a:extLst>
              <a:ext uri="{FF2B5EF4-FFF2-40B4-BE49-F238E27FC236}">
                <a16:creationId xmlns:a16="http://schemas.microsoft.com/office/drawing/2014/main" id="{4B08EDCE-CC97-1B6E-4FFB-70989411087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 dirty="0"/>
          </a:p>
        </p:txBody>
      </p:sp>
      <p:pic>
        <p:nvPicPr>
          <p:cNvPr id="9" name="Picture 10" descr="fisher-ld generator network">
            <a:extLst>
              <a:ext uri="{FF2B5EF4-FFF2-40B4-BE49-F238E27FC236}">
                <a16:creationId xmlns:a16="http://schemas.microsoft.com/office/drawing/2014/main" id="{094FD0F3-3C45-1831-7A8D-5AD1DF95231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" b="1268"/>
          <a:stretch>
            <a:fillRect/>
          </a:stretch>
        </p:blipFill>
        <p:spPr bwMode="auto">
          <a:xfrm>
            <a:off x="7010547" y="3340005"/>
            <a:ext cx="3690915" cy="20724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9CAD22B5-69D6-B86B-8A88-593EC56D043C}"/>
              </a:ext>
            </a:extLst>
          </p:cNvPr>
          <p:cNvSpPr txBox="1"/>
          <p:nvPr/>
        </p:nvSpPr>
        <p:spPr>
          <a:xfrm>
            <a:off x="6400800" y="6452732"/>
            <a:ext cx="457756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200" dirty="0" err="1"/>
              <a:t>https</a:t>
            </a:r>
            <a:r>
              <a:rPr lang="ru-RU" sz="1200" dirty="0"/>
              <a:t>://</a:t>
            </a:r>
            <a:r>
              <a:rPr lang="ru-RU" sz="1200" dirty="0" err="1"/>
              <a:t>www.mdpi.com</a:t>
            </a:r>
            <a:r>
              <a:rPr lang="ru-RU" sz="1200" dirty="0"/>
              <a:t>/2571-9394/5/4/37</a:t>
            </a:r>
          </a:p>
        </p:txBody>
      </p:sp>
      <p:pic>
        <p:nvPicPr>
          <p:cNvPr id="2052" name="Picture 4" descr="Forecasting 05 00037 g004">
            <a:extLst>
              <a:ext uri="{FF2B5EF4-FFF2-40B4-BE49-F238E27FC236}">
                <a16:creationId xmlns:a16="http://schemas.microsoft.com/office/drawing/2014/main" id="{BA41271C-0AFA-C211-2BE4-34C7CC04774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28" t="-1725" r="-6328" b="4206"/>
          <a:stretch>
            <a:fillRect/>
          </a:stretch>
        </p:blipFill>
        <p:spPr bwMode="auto">
          <a:xfrm>
            <a:off x="7403218" y="3443143"/>
            <a:ext cx="4486067" cy="21685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A6869C0B-7131-A294-EB92-B57B16945595}"/>
              </a:ext>
            </a:extLst>
          </p:cNvPr>
          <p:cNvSpPr txBox="1"/>
          <p:nvPr/>
        </p:nvSpPr>
        <p:spPr>
          <a:xfrm>
            <a:off x="60579" y="5090821"/>
            <a:ext cx="6886352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2"/>
            <a:r>
              <a:rPr lang="ru-RU" sz="2100" b="1" dirty="0"/>
              <a:t>Остаточная часть может содержать информацию, необъясненную моделью!</a:t>
            </a:r>
            <a:endParaRPr lang="ru-RU" sz="2100" dirty="0"/>
          </a:p>
        </p:txBody>
      </p:sp>
      <p:pic>
        <p:nvPicPr>
          <p:cNvPr id="2050" name="Picture 2" descr="Forecasting 05 00037 g002">
            <a:extLst>
              <a:ext uri="{FF2B5EF4-FFF2-40B4-BE49-F238E27FC236}">
                <a16:creationId xmlns:a16="http://schemas.microsoft.com/office/drawing/2014/main" id="{8A8EFD81-5807-BED2-93C4-70EFE438316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002" r="37620" b="4330"/>
          <a:stretch>
            <a:fillRect/>
          </a:stretch>
        </p:blipFill>
        <p:spPr bwMode="auto">
          <a:xfrm>
            <a:off x="6793471" y="3146214"/>
            <a:ext cx="4834467" cy="33503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0DF10E1-0017-BDF5-41D6-ECD9FB8B0037}"/>
              </a:ext>
            </a:extLst>
          </p:cNvPr>
          <p:cNvSpPr txBox="1"/>
          <p:nvPr/>
        </p:nvSpPr>
        <p:spPr>
          <a:xfrm>
            <a:off x="241270" y="2838406"/>
            <a:ext cx="6859122" cy="25853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b="1" dirty="0"/>
              <a:t>Пример 1</a:t>
            </a:r>
            <a:br>
              <a:rPr lang="ru-RU" b="1" dirty="0"/>
            </a:br>
            <a:r>
              <a:rPr lang="ru-RU" b="1" dirty="0"/>
              <a:t>Прогнозирование спроса в баре:</a:t>
            </a:r>
            <a:endParaRPr lang="ru-RU" dirty="0"/>
          </a:p>
          <a:p>
            <a:r>
              <a:rPr lang="ru-RU" b="1" dirty="0"/>
              <a:t>Структура:</a:t>
            </a:r>
            <a:endParaRPr lang="ru-RU" dirty="0"/>
          </a:p>
          <a:p>
            <a:pPr lvl="1"/>
            <a:r>
              <a:rPr lang="ru-RU" dirty="0"/>
              <a:t>Повышенные продажи по пятницам (</a:t>
            </a:r>
            <a:r>
              <a:rPr lang="ru-RU" dirty="0" err="1"/>
              <a:t>holiday</a:t>
            </a:r>
            <a:r>
              <a:rPr lang="en-US" dirty="0"/>
              <a:t>s effect)</a:t>
            </a:r>
            <a:r>
              <a:rPr lang="ru-RU" dirty="0"/>
              <a:t>.</a:t>
            </a:r>
          </a:p>
          <a:p>
            <a:pPr lvl="1"/>
            <a:r>
              <a:rPr lang="ru-RU" dirty="0"/>
              <a:t>Рост выручки летом (сезонность).</a:t>
            </a:r>
          </a:p>
          <a:p>
            <a:pPr lvl="1"/>
            <a:r>
              <a:rPr lang="ru-RU" dirty="0"/>
              <a:t>Влияние футбольных матчей (календарные эффекты).</a:t>
            </a:r>
          </a:p>
          <a:p>
            <a:r>
              <a:rPr lang="ru-RU" b="1" dirty="0"/>
              <a:t>Шум:</a:t>
            </a:r>
            <a:endParaRPr lang="ru-RU" dirty="0"/>
          </a:p>
          <a:p>
            <a:pPr lvl="1"/>
            <a:r>
              <a:rPr lang="ru-RU" dirty="0"/>
              <a:t>Изменение числа посетителей по пятницам (или другим дням)</a:t>
            </a:r>
          </a:p>
          <a:p>
            <a:endParaRPr lang="ru-RU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94BD40F-2444-22EE-0F3C-A35F292D5B5A}"/>
              </a:ext>
            </a:extLst>
          </p:cNvPr>
          <p:cNvSpPr txBox="1"/>
          <p:nvPr/>
        </p:nvSpPr>
        <p:spPr>
          <a:xfrm>
            <a:off x="6793470" y="2725644"/>
            <a:ext cx="47070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dirty="0"/>
              <a:t>Пример 2 </a:t>
            </a:r>
            <a:r>
              <a:rPr lang="en" dirty="0"/>
              <a:t>Electricity Transformer Temperature</a:t>
            </a:r>
            <a:endParaRPr lang="ru-RU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DD35081-F0C8-5927-0982-2E8D3316FBF4}"/>
              </a:ext>
            </a:extLst>
          </p:cNvPr>
          <p:cNvSpPr txBox="1"/>
          <p:nvPr/>
        </p:nvSpPr>
        <p:spPr>
          <a:xfrm>
            <a:off x="142389" y="5787944"/>
            <a:ext cx="6858000" cy="9002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43"/>
              </a:lnSpc>
              <a:spcBef>
                <a:spcPts val="1029"/>
              </a:spcBef>
              <a:spcAft>
                <a:spcPts val="1029"/>
              </a:spcAft>
              <a:buNone/>
            </a:pPr>
            <a:r>
              <a:rPr lang="ru-RU" b="1" i="0" dirty="0">
                <a:solidFill>
                  <a:srgbClr val="404040"/>
                </a:solidFill>
                <a:effectLst/>
                <a:latin typeface="quote-cjk-patch"/>
              </a:rPr>
              <a:t>Вопрос аудитории:</a:t>
            </a:r>
            <a:r>
              <a:rPr lang="ru-RU" b="0" i="0" dirty="0">
                <a:solidFill>
                  <a:srgbClr val="404040"/>
                </a:solidFill>
                <a:effectLst/>
                <a:latin typeface="quote-cjk-patch"/>
              </a:rPr>
              <a:t/>
            </a:r>
            <a:br>
              <a:rPr lang="ru-RU" b="0" i="0" dirty="0">
                <a:solidFill>
                  <a:srgbClr val="404040"/>
                </a:solidFill>
                <a:effectLst/>
                <a:latin typeface="quote-cjk-patch"/>
              </a:rPr>
            </a:br>
            <a:r>
              <a:rPr lang="ru-RU" b="0" i="1" dirty="0">
                <a:solidFill>
                  <a:srgbClr val="404040"/>
                </a:solidFill>
                <a:effectLst/>
                <a:latin typeface="quote-cjk-patch"/>
              </a:rPr>
              <a:t>"Можно ли полностью устранить шум? Что произойдет, если игнорировать его при планировании запасов?"</a:t>
            </a:r>
            <a:endParaRPr lang="ru-RU" b="0" i="0" dirty="0">
              <a:solidFill>
                <a:srgbClr val="404040"/>
              </a:solidFill>
              <a:effectLst/>
              <a:latin typeface="quote-cjk-patch"/>
            </a:endParaRPr>
          </a:p>
        </p:txBody>
      </p:sp>
    </p:spTree>
    <p:extLst>
      <p:ext uri="{BB962C8B-B14F-4D97-AF65-F5344CB8AC3E}">
        <p14:creationId xmlns:p14="http://schemas.microsoft.com/office/powerpoint/2010/main" val="5378500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E3E599-491E-9D0B-A873-0682219DEC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93CE594-68EE-E093-BE0F-46EF134442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05857" y="204181"/>
            <a:ext cx="9081887" cy="701675"/>
          </a:xfrm>
        </p:spPr>
        <p:txBody>
          <a:bodyPr>
            <a:normAutofit/>
          </a:bodyPr>
          <a:lstStyle/>
          <a:p>
            <a:r>
              <a:rPr lang="ru-RU" dirty="0"/>
              <a:t>Белый Гауссов шум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BC90446D-96A9-C6F8-8B18-B82CB93585D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31353" y="853161"/>
                <a:ext cx="11644829" cy="2859523"/>
              </a:xfrm>
            </p:spPr>
            <p:txBody>
              <a:bodyPr>
                <a:noAutofit/>
              </a:bodyPr>
              <a:lstStyle/>
              <a:p>
                <a:pPr marL="0" indent="0">
                  <a:lnSpc>
                    <a:spcPct val="120000"/>
                  </a:lnSpc>
                  <a:spcBef>
                    <a:spcPts val="0"/>
                  </a:spcBef>
                  <a:buNone/>
                </a:pPr>
                <a:r>
                  <a:rPr lang="ru-RU" sz="2000" dirty="0"/>
                  <a:t>В идеале остаточная часть не содержит информации, равномерно распределена и все ее значения независимы друг от друга (</a:t>
                </a:r>
                <a:r>
                  <a:rPr lang="en-US" sz="2000" dirty="0"/>
                  <a:t>identical independent distribution - </a:t>
                </a:r>
                <a:r>
                  <a:rPr lang="ru-RU" sz="2000" dirty="0" err="1"/>
                  <a:t>i.i.d</a:t>
                </a:r>
                <a:r>
                  <a:rPr lang="ru-RU" sz="2000" dirty="0"/>
                  <a:t>) – такая остаточная часть называется Белый Гауссов Шум</a:t>
                </a:r>
                <a:r>
                  <a:rPr lang="en-US" sz="2000" dirty="0"/>
                  <a:t> (White Gaussian Noises)</a:t>
                </a:r>
                <a:r>
                  <a:rPr lang="ru-RU" sz="2000" dirty="0"/>
                  <a:t>. </a:t>
                </a:r>
              </a:p>
              <a:p>
                <a:pPr>
                  <a:lnSpc>
                    <a:spcPct val="120000"/>
                  </a:lnSpc>
                  <a:spcBef>
                    <a:spcPts val="0"/>
                  </a:spcBef>
                </a:pPr>
                <a:r>
                  <a:rPr lang="ru-RU" sz="2000" dirty="0"/>
                  <a:t>Обратите внимание, что WGN имеет так называемое нормальное распределение с нулевым средним.</a:t>
                </a:r>
              </a:p>
              <a:p>
                <a:pPr marL="0" indent="0">
                  <a:lnSpc>
                    <a:spcPct val="120000"/>
                  </a:lnSpc>
                  <a:spcBef>
                    <a:spcPts val="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𝑤𝑔𝑛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)=</m:t>
                      </m:r>
                      <m:f>
                        <m:f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𝑠𝑡𝑑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𝑤𝑔𝑛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)</m:t>
                          </m:r>
                          <m:rad>
                            <m:radPr>
                              <m:degHide m:val="on"/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e>
                          </m:rad>
                        </m:den>
                      </m:f>
                      <m:sSup>
                        <m:sSup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(</m:t>
                          </m:r>
                          <m:f>
                            <m:f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𝑤𝑔𝑛</m:t>
                              </m:r>
                            </m:num>
                            <m:den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𝑠𝑡𝑑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𝑤𝑔𝑛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den>
                          </m:f>
                          <m:sSup>
                            <m:sSup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sup>
                      </m:sSup>
                      <m:r>
                        <a:rPr lang="en-US" sz="2000" i="1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en-US" sz="2000" dirty="0"/>
              </a:p>
              <a:p>
                <a:pPr>
                  <a:lnSpc>
                    <a:spcPct val="120000"/>
                  </a:lnSpc>
                  <a:spcBef>
                    <a:spcPts val="0"/>
                  </a:spcBef>
                </a:pPr>
                <a:r>
                  <a:rPr lang="ru-RU" sz="2000" dirty="0"/>
                  <a:t>где</a:t>
                </a:r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𝑤𝑔𝑛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000" dirty="0"/>
                  <a:t> </a:t>
                </a:r>
                <a:r>
                  <a:rPr lang="ru-RU" sz="2000" dirty="0"/>
                  <a:t>распределние</a:t>
                </a:r>
                <a:r>
                  <a:rPr lang="en-US" sz="2000" dirty="0"/>
                  <a:t>.</a:t>
                </a:r>
              </a:p>
              <a:p>
                <a:pPr>
                  <a:lnSpc>
                    <a:spcPct val="120000"/>
                  </a:lnSpc>
                  <a:spcBef>
                    <a:spcPts val="0"/>
                  </a:spcBef>
                </a:pPr>
                <a:endParaRPr lang="en-US" sz="2000" dirty="0"/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BC90446D-96A9-C6F8-8B18-B82CB93585D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31353" y="853161"/>
                <a:ext cx="11644829" cy="2859523"/>
              </a:xfrm>
              <a:blipFill>
                <a:blip r:embed="rId2"/>
                <a:stretch>
                  <a:fillRect l="-654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7069AA6E-94FF-7413-7F65-A38504D688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4</a:t>
            </a:fld>
            <a:endParaRPr lang="en-US"/>
          </a:p>
        </p:txBody>
      </p:sp>
      <p:pic>
        <p:nvPicPr>
          <p:cNvPr id="11268" name="Picture 4" descr="image.png">
            <a:extLst>
              <a:ext uri="{FF2B5EF4-FFF2-40B4-BE49-F238E27FC236}">
                <a16:creationId xmlns:a16="http://schemas.microsoft.com/office/drawing/2014/main" id="{C419EEAC-D406-406E-6A2C-FC0E312934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27987" y="4182627"/>
            <a:ext cx="2877379" cy="21038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FE3E8B28-40F1-2361-FCA5-36112D783949}"/>
              </a:ext>
            </a:extLst>
          </p:cNvPr>
          <p:cNvSpPr/>
          <p:nvPr/>
        </p:nvSpPr>
        <p:spPr>
          <a:xfrm>
            <a:off x="1035586" y="3712684"/>
            <a:ext cx="1106093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000" dirty="0"/>
              <a:t>Пример </a:t>
            </a:r>
            <a:r>
              <a:rPr lang="ru-RU" sz="2000" dirty="0" err="1"/>
              <a:t>wgn</a:t>
            </a:r>
            <a:r>
              <a:rPr lang="ru-RU" sz="2000" dirty="0"/>
              <a:t> - это когда вы выключаете антенну с телевизора и увидеть так называемый «снег» </a:t>
            </a:r>
          </a:p>
        </p:txBody>
      </p:sp>
      <p:pic>
        <p:nvPicPr>
          <p:cNvPr id="11270" name="Picture 6" descr="image.png">
            <a:extLst>
              <a:ext uri="{FF2B5EF4-FFF2-40B4-BE49-F238E27FC236}">
                <a16:creationId xmlns:a16="http://schemas.microsoft.com/office/drawing/2014/main" id="{FBD4E4E1-2D94-2347-F1CB-D2A3194235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6634" y="4147264"/>
            <a:ext cx="6047009" cy="24249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67974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317BA2-14D3-0EBD-7F01-4E0E161D06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183E797-F1C9-9C7F-FF67-4AB807548E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05857" y="204181"/>
            <a:ext cx="9081887" cy="701675"/>
          </a:xfrm>
        </p:spPr>
        <p:txBody>
          <a:bodyPr>
            <a:normAutofit/>
          </a:bodyPr>
          <a:lstStyle/>
          <a:p>
            <a:r>
              <a:rPr lang="ru-RU" dirty="0"/>
              <a:t>Статистические </a:t>
            </a:r>
            <a:r>
              <a:rPr lang="ru-RU" dirty="0" err="1"/>
              <a:t>сво</a:t>
            </a:r>
            <a:r>
              <a:rPr lang="ru-RU" dirty="0"/>
              <a:t>	</a:t>
            </a:r>
            <a:r>
              <a:rPr lang="ru-RU" dirty="0" err="1"/>
              <a:t>йства</a:t>
            </a:r>
            <a:r>
              <a:rPr lang="ru-RU" dirty="0"/>
              <a:t> ВР</a:t>
            </a:r>
            <a:endParaRPr lang="en-US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0C2C294-7A96-5E70-2A21-B81587DAE3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3585" y="875278"/>
            <a:ext cx="11644829" cy="5982722"/>
          </a:xfrm>
        </p:spPr>
        <p:txBody>
          <a:bodyPr>
            <a:noAutofit/>
          </a:bodyPr>
          <a:lstStyle/>
          <a:p>
            <a:r>
              <a:rPr lang="en-US" sz="2200" dirty="0" err="1"/>
              <a:t>Е</a:t>
            </a:r>
            <a:r>
              <a:rPr lang="ru-RU" sz="2200" dirty="0" err="1"/>
              <a:t>сли</a:t>
            </a:r>
            <a:r>
              <a:rPr lang="ru-RU" sz="2200" dirty="0"/>
              <a:t> временной ряд не является белым гауссовым шумом и не нарушает принципов оцифровки ВР, то каждый его отсчет зависим от предыдущих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ru-RU" sz="2200" dirty="0"/>
              <a:t>Введем для такого ряда статистические свойства:</a:t>
            </a:r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ru-RU" sz="2200" b="1" dirty="0"/>
              <a:t>Автокорреляция (АКФ) </a:t>
            </a:r>
            <a:r>
              <a:rPr lang="ru-RU" sz="2200" dirty="0"/>
              <a:t>– зависимость каждого значения ВР от его предыдущих значений (бывает полная и частичная АКФ). </a:t>
            </a:r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ru-RU" sz="2200" b="1" dirty="0"/>
              <a:t>Стационарность</a:t>
            </a:r>
            <a:r>
              <a:rPr lang="ru-RU" sz="2200" dirty="0"/>
              <a:t> – свойства сохранности основных статистических значений независимо от момента взятия выборки ВР (сильная и слабая стационарность</a:t>
            </a:r>
            <a:r>
              <a:rPr lang="ru-RU" dirty="0"/>
              <a:t>)</a:t>
            </a:r>
            <a:endParaRPr lang="ru-RU" sz="1200" dirty="0"/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ru-RU" dirty="0"/>
              <a:t>Могут быть и другие статистические показатели, например:</a:t>
            </a:r>
          </a:p>
          <a:p>
            <a:pPr lvl="2">
              <a:lnSpc>
                <a:spcPct val="120000"/>
              </a:lnSpc>
              <a:spcBef>
                <a:spcPts val="0"/>
              </a:spcBef>
            </a:pPr>
            <a:r>
              <a:rPr lang="ru-RU" b="1" dirty="0"/>
              <a:t>Гомоскедастичность</a:t>
            </a:r>
            <a:r>
              <a:rPr lang="ru-RU" dirty="0"/>
              <a:t> – свойство ВР сохранять дисперсию во времени. </a:t>
            </a:r>
            <a:r>
              <a:rPr lang="ru-RU" b="1" dirty="0" err="1"/>
              <a:t>Гетероскедастичность</a:t>
            </a:r>
            <a:r>
              <a:rPr lang="ru-RU" dirty="0"/>
              <a:t> (</a:t>
            </a:r>
            <a:r>
              <a:rPr lang="en" dirty="0"/>
              <a:t>Heteroskedasticity)</a:t>
            </a:r>
            <a:r>
              <a:rPr lang="ru-RU" dirty="0"/>
              <a:t> – волатильность ВР </a:t>
            </a:r>
          </a:p>
          <a:p>
            <a:pPr lvl="2">
              <a:lnSpc>
                <a:spcPct val="120000"/>
              </a:lnSpc>
              <a:spcBef>
                <a:spcPts val="0"/>
              </a:spcBef>
            </a:pPr>
            <a:r>
              <a:rPr lang="ru-RU" b="1" dirty="0"/>
              <a:t>Окрашенность шума </a:t>
            </a:r>
            <a:r>
              <a:rPr lang="ru-RU" dirty="0"/>
              <a:t>– наличие в шуме автокорреляционных свойств</a:t>
            </a:r>
          </a:p>
          <a:p>
            <a:pPr lvl="2">
              <a:lnSpc>
                <a:spcPct val="120000"/>
              </a:lnSpc>
              <a:spcBef>
                <a:spcPts val="0"/>
              </a:spcBef>
            </a:pPr>
            <a:r>
              <a:rPr lang="ru-RU" b="1" dirty="0"/>
              <a:t>Долговременная связанность </a:t>
            </a:r>
            <a:r>
              <a:rPr lang="ru-RU" dirty="0"/>
              <a:t>(показатель Херста) – долговременная зависимость  ВР от своих лагов (напр. Тренд)</a:t>
            </a:r>
          </a:p>
          <a:p>
            <a:pPr lvl="2">
              <a:lnSpc>
                <a:spcPct val="120000"/>
              </a:lnSpc>
              <a:spcBef>
                <a:spcPts val="0"/>
              </a:spcBef>
            </a:pPr>
            <a:r>
              <a:rPr lang="ru-RU" b="1" dirty="0"/>
              <a:t>Нелинейность ВР</a:t>
            </a:r>
            <a:r>
              <a:rPr lang="ru-RU" dirty="0"/>
              <a:t> – компоненты связаны сложными зависимостями (напр. Модуляция)</a:t>
            </a:r>
          </a:p>
          <a:p>
            <a:pPr lvl="2">
              <a:lnSpc>
                <a:spcPct val="120000"/>
              </a:lnSpc>
              <a:spcBef>
                <a:spcPts val="0"/>
              </a:spcBef>
            </a:pPr>
            <a:r>
              <a:rPr lang="ru-RU" b="1" dirty="0"/>
              <a:t>Структурные разрывы </a:t>
            </a:r>
            <a:r>
              <a:rPr lang="ru-RU" dirty="0"/>
              <a:t>(ряд с новизной или точками перегиба)</a:t>
            </a:r>
          </a:p>
          <a:p>
            <a:pPr lvl="1">
              <a:lnSpc>
                <a:spcPct val="120000"/>
              </a:lnSpc>
              <a:spcBef>
                <a:spcPts val="0"/>
              </a:spcBef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73139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E8AA7BF-8316-D890-B7B7-600FCCA167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5590" y="365125"/>
            <a:ext cx="10968210" cy="703511"/>
          </a:xfrm>
        </p:spPr>
        <p:txBody>
          <a:bodyPr/>
          <a:lstStyle/>
          <a:p>
            <a:r>
              <a:rPr lang="ru-RU" dirty="0"/>
              <a:t>Статистические свойства модели ВР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093D9483-0912-FC98-5071-FB3F2E18161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81906" y="1068636"/>
                <a:ext cx="9098068" cy="5108327"/>
              </a:xfrm>
            </p:spPr>
            <p:txBody>
              <a:bodyPr>
                <a:normAutofit/>
              </a:bodyPr>
              <a:lstStyle/>
              <a:p>
                <a:pPr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ru-RU" sz="2200" dirty="0"/>
                  <a:t>Получим численную оценку степени влияния значения </a:t>
                </a:r>
                <a:r>
                  <a:rPr lang="en-US" sz="22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22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" sz="2200" dirty="0"/>
                  <a:t>​ </a:t>
                </a:r>
                <a:r>
                  <a:rPr lang="ru-RU" sz="2200" dirty="0"/>
                  <a:t>на значение </a:t>
                </a:r>
                <a:r>
                  <a:rPr lang="en-US" sz="22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ru-RU" sz="2200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ru-RU" sz="2200" i="1">
                            <a:latin typeface="Cambria Math" panose="02040503050406030204" pitchFamily="18" charset="0"/>
                          </a:rPr>
                          <m:t>𝜏</m:t>
                        </m:r>
                      </m:sub>
                    </m:sSub>
                    <m:r>
                      <a:rPr lang="ru-RU" sz="22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l-GR" sz="2200" dirty="0"/>
                  <a:t>​</a:t>
                </a:r>
                <a:r>
                  <a:rPr lang="ru-RU" sz="2200" dirty="0"/>
                  <a:t> (оценки корреляции) в виде коэффициента корреляции Пирсона для ВР с самим собой со сдвигом на </a:t>
                </a:r>
                <a:r>
                  <a:rPr lang="el-GR" sz="2200" i="1" dirty="0"/>
                  <a:t>τ</a:t>
                </a:r>
                <a:r>
                  <a:rPr lang="ru-RU" sz="2200" i="1" dirty="0"/>
                  <a:t> – автокорреляцию ВР (АКФ)</a:t>
                </a:r>
                <a:r>
                  <a:rPr lang="el-GR" sz="2200" dirty="0"/>
                  <a:t>. </a:t>
                </a:r>
                <a:endParaRPr lang="ru-RU" sz="2200" dirty="0"/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093D9483-0912-FC98-5071-FB3F2E18161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81906" y="1068636"/>
                <a:ext cx="9098068" cy="5108327"/>
              </a:xfrm>
              <a:blipFill>
                <a:blip r:embed="rId3"/>
                <a:stretch>
                  <a:fillRect l="-837" t="-744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FE9BF6D1-54CF-35BD-E4B5-79CA80A498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6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0E6A7C23-B4C9-1379-DEDE-66289A5EDAC3}"/>
                  </a:ext>
                </a:extLst>
              </p:cNvPr>
              <p:cNvSpPr txBox="1"/>
              <p:nvPr/>
            </p:nvSpPr>
            <p:spPr>
              <a:xfrm>
                <a:off x="558726" y="2463753"/>
                <a:ext cx="6097836" cy="92557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smtClean="0">
                          <a:latin typeface="Cambria Math" panose="02040503050406030204" pitchFamily="18" charset="0"/>
                        </a:rPr>
                        <m:t>𝑐𝑜𝑟</m:t>
                      </m:r>
                      <m:r>
                        <a:rPr lang="en-US" sz="240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𝜏</m:t>
                      </m:r>
                      <m:r>
                        <a:rPr lang="en-US" sz="2400" i="1" smtClean="0">
                          <a:latin typeface="Cambria Math" panose="02040503050406030204" pitchFamily="18" charset="0"/>
                        </a:rPr>
                        <m:t>)=</m:t>
                      </m:r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limLoc m:val="undOvr"/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=0</m:t>
                              </m:r>
                            </m:sub>
                            <m:sup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</m:e>
                          </m:nary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𝑒𝑣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)(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ru-RU" sz="24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ru-RU" sz="2400" b="0" i="1" smtClean="0">
                                  <a:latin typeface="Cambria Math" panose="02040503050406030204" pitchFamily="18" charset="0"/>
                                </a:rPr>
                                <m:t>𝜏</m:t>
                              </m:r>
                            </m:sub>
                          </m:s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𝑒𝑣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𝑣𝑎𝑟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ru-RU" sz="24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0E6A7C23-B4C9-1379-DEDE-66289A5EDA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8726" y="2463753"/>
                <a:ext cx="6097836" cy="925574"/>
              </a:xfrm>
              <a:prstGeom prst="rect">
                <a:avLst/>
              </a:prstGeom>
              <a:blipFill>
                <a:blip r:embed="rId4"/>
                <a:stretch>
                  <a:fillRect t="-59459" b="-5000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363DC12-0338-EE14-31B0-8390E944A4C0}"/>
                  </a:ext>
                </a:extLst>
              </p:cNvPr>
              <p:cNvSpPr txBox="1"/>
              <p:nvPr/>
            </p:nvSpPr>
            <p:spPr>
              <a:xfrm>
                <a:off x="281906" y="3568714"/>
                <a:ext cx="8959469" cy="17209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ru-RU" sz="1800" dirty="0"/>
                  <a:t>Где среднее значений (или ожидаемое значение),</a:t>
                </a:r>
                <a:r>
                  <a:rPr lang="ru-RU" i="1" dirty="0">
                    <a:latin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800" i="1" dirty="0">
                        <a:latin typeface="Cambria Math" panose="02040503050406030204" pitchFamily="18" charset="0"/>
                      </a:rPr>
                      <m:t>𝑒𝑣</m:t>
                    </m:r>
                    <m:r>
                      <a:rPr lang="en-US" sz="1800" i="1" dirty="0">
                        <a:latin typeface="Cambria Math" panose="02040503050406030204" pitchFamily="18" charset="0"/>
                      </a:rPr>
                      <m:t> =</m:t>
                    </m:r>
                    <m:f>
                      <m:fPr>
                        <m:ctrlPr>
                          <a:rPr lang="en-US" sz="1800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800" i="1" dirty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1800" i="1" dirty="0">
                            <a:latin typeface="Cambria Math" panose="02040503050406030204" pitchFamily="18" charset="0"/>
                          </a:rPr>
                          <m:t>𝑁</m:t>
                        </m:r>
                      </m:den>
                    </m:f>
                    <m:nary>
                      <m:naryPr>
                        <m:chr m:val="∑"/>
                        <m:ctrlPr>
                          <a:rPr lang="en-US" sz="1800" i="1" dirty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sz="1800" i="1" dirty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1800" i="1" dirty="0">
                            <a:latin typeface="Cambria Math" panose="02040503050406030204" pitchFamily="18" charset="0"/>
                          </a:rPr>
                          <m:t>=0</m:t>
                        </m:r>
                      </m:sub>
                      <m:sup>
                        <m:r>
                          <a:rPr lang="en-US" sz="1800" i="1" dirty="0"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en-US" sz="1800" i="1" dirty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  <m:e>
                        <m:sSub>
                          <m:sSubPr>
                            <m:ctrlPr>
                              <a:rPr lang="en-US" sz="18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i="1" dirty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sz="1800" i="1" dirty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  <m:r>
                      <a:rPr lang="en-US" sz="1800" i="1" dirty="0">
                        <a:latin typeface="Cambria Math" panose="02040503050406030204" pitchFamily="18" charset="0"/>
                      </a:rPr>
                      <m:t>,</m:t>
                    </m:r>
                    <m:r>
                      <a:rPr lang="ru-RU" sz="1800" i="1" dirty="0">
                        <a:latin typeface="Cambria Math" panose="02040503050406030204" pitchFamily="18" charset="0"/>
                      </a:rPr>
                      <m:t> теор. формула </m:t>
                    </m:r>
                    <m:r>
                      <a:rPr lang="en-US" sz="1800" i="1" dirty="0">
                        <a:latin typeface="Cambria Math" panose="02040503050406030204" pitchFamily="18" charset="0"/>
                      </a:rPr>
                      <m:t>𝑒𝑣</m:t>
                    </m:r>
                    <m:r>
                      <a:rPr lang="en-US" sz="1800" i="1" dirty="0">
                        <a:latin typeface="Cambria Math" panose="02040503050406030204" pitchFamily="18" charset="0"/>
                      </a:rPr>
                      <m:t> =</m:t>
                    </m:r>
                    <m:nary>
                      <m:naryPr>
                        <m:chr m:val="∑"/>
                        <m:ctrlPr>
                          <a:rPr lang="en-US" sz="1800" i="1" dirty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sz="1800" i="1" dirty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1800" i="1" dirty="0">
                            <a:latin typeface="Cambria Math" panose="02040503050406030204" pitchFamily="18" charset="0"/>
                          </a:rPr>
                          <m:t>=0</m:t>
                        </m:r>
                      </m:sub>
                      <m:sup>
                        <m:r>
                          <a:rPr lang="en-US" sz="1800" i="1" dirty="0"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en-US" sz="1800" i="1" dirty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  <m:e>
                        <m:r>
                          <a:rPr lang="en-US" sz="1800" i="1" dirty="0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sz="1800" i="1" dirty="0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sz="18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i="1" dirty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sz="1800" i="1" dirty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sz="1800" i="1" dirty="0">
                            <a:latin typeface="Cambria Math" panose="02040503050406030204" pitchFamily="18" charset="0"/>
                          </a:rPr>
                          <m:t>)</m:t>
                        </m:r>
                        <m:sSub>
                          <m:sSubPr>
                            <m:ctrlPr>
                              <a:rPr lang="en-US" sz="18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i="1" dirty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sz="1800" i="1" dirty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</m:oMath>
                </a14:m>
                <a:endParaRPr lang="en-US" sz="1800" dirty="0"/>
              </a:p>
              <a:p>
                <a:r>
                  <a:rPr lang="ru-RU" sz="1800" dirty="0"/>
                  <a:t>где y - выборки размера N, </a:t>
                </a:r>
                <a14:m>
                  <m:oMath xmlns:m="http://schemas.openxmlformats.org/officeDocument/2006/math">
                    <m:r>
                      <a:rPr lang="en-US" sz="1800" i="1" dirty="0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sz="18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i="1" dirty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US" sz="1800" i="1" dirty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ru-RU" sz="1800" dirty="0">
                        <a:latin typeface="Cambria Math" panose="02040503050406030204" pitchFamily="18" charset="0"/>
                      </a:rPr>
                      <m:t>распределение значений величины</m:t>
                    </m:r>
                  </m:oMath>
                </a14:m>
                <a:r>
                  <a:rPr lang="ru-RU" sz="1800" dirty="0"/>
                  <a:t> </a:t>
                </a:r>
                <a:r>
                  <a:rPr lang="ru-RU" i="1" dirty="0">
                    <a:latin typeface="Cambria Math" panose="02040503050406030204" pitchFamily="18" charset="0"/>
                  </a:rPr>
                  <a:t/>
                </a:r>
                <a:br>
                  <a:rPr lang="ru-RU" i="1" dirty="0">
                    <a:latin typeface="Cambria Math" panose="02040503050406030204" pitchFamily="18" charset="0"/>
                  </a:rPr>
                </a:b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𝑣𝑎𝑟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 =</m:t>
                    </m:r>
                    <m:f>
                      <m:f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𝑁</m:t>
                        </m:r>
                      </m:den>
                    </m:f>
                    <m:nary>
                      <m:naryPr>
                        <m:chr m:val="∑"/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i="1" dirty="0" err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=0</m:t>
                        </m:r>
                      </m:sub>
                      <m:sup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  <m:e>
                        <m:sSup>
                          <m:sSupPr>
                            <m:ctrlPr>
                              <a:rPr lang="en-US" i="1" dirty="0" err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i="1" dirty="0" err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i="1" dirty="0" err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 dirty="0" err="1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i="1" dirty="0" err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i="1" dirty="0" err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i="1" dirty="0" err="1">
                                    <a:latin typeface="Cambria Math" panose="02040503050406030204" pitchFamily="18" charset="0"/>
                                  </a:rPr>
                                  <m:t>𝑒𝑣</m:t>
                                </m:r>
                              </m:e>
                            </m:d>
                          </m:e>
                          <m:sup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  <m:r>
                      <a:rPr lang="en-US" i="1" dirty="0">
                        <a:latin typeface="Cambria Math" panose="02040503050406030204" pitchFamily="18" charset="0"/>
                      </a:rPr>
                      <m:t>; 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𝑠𝑡𝑑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 =</m:t>
                    </m:r>
                    <m:rad>
                      <m:radPr>
                        <m:degHide m:val="on"/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𝑣𝑎𝑟</m:t>
                        </m:r>
                      </m:e>
                    </m:rad>
                    <m:r>
                      <a:rPr lang="en-US" i="1" dirty="0">
                        <a:latin typeface="Cambria Math" panose="02040503050406030204" pitchFamily="18" charset="0"/>
                      </a:rPr>
                      <m:t>, </m:t>
                    </m:r>
                  </m:oMath>
                </a14:m>
                <a:r>
                  <a:rPr lang="ru-RU" dirty="0"/>
                  <a:t>где </a:t>
                </a:r>
                <a:r>
                  <a:rPr lang="ru-RU" dirty="0" err="1"/>
                  <a:t>var</a:t>
                </a:r>
                <a:r>
                  <a:rPr lang="ru-RU" dirty="0"/>
                  <a:t> - дисперсия; </a:t>
                </a:r>
                <a:r>
                  <a:rPr lang="ru-RU" dirty="0" err="1"/>
                  <a:t>std</a:t>
                </a:r>
                <a:r>
                  <a:rPr lang="ru-RU" dirty="0"/>
                  <a:t> - стандартное отклонение</a:t>
                </a:r>
                <a:endParaRPr lang="en-US" dirty="0"/>
              </a:p>
              <a:p>
                <a:endParaRPr lang="ru-RU" sz="18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363DC12-0338-EE14-31B0-8390E944A4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1906" y="3568714"/>
                <a:ext cx="8959469" cy="1720920"/>
              </a:xfrm>
              <a:prstGeom prst="rect">
                <a:avLst/>
              </a:prstGeom>
              <a:blipFill>
                <a:blip r:embed="rId5"/>
                <a:stretch>
                  <a:fillRect l="-3541" t="-21168" b="-16788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>
            <a:extLst>
              <a:ext uri="{FF2B5EF4-FFF2-40B4-BE49-F238E27FC236}">
                <a16:creationId xmlns:a16="http://schemas.microsoft.com/office/drawing/2014/main" id="{EAE15FCB-CB7C-BA1A-51AD-54785DA7748B}"/>
              </a:ext>
            </a:extLst>
          </p:cNvPr>
          <p:cNvSpPr txBox="1"/>
          <p:nvPr/>
        </p:nvSpPr>
        <p:spPr>
          <a:xfrm>
            <a:off x="298402" y="5167897"/>
            <a:ext cx="1114258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0" i="0" dirty="0">
                <a:solidFill>
                  <a:srgbClr val="323232"/>
                </a:solidFill>
                <a:effectLst/>
                <a:latin typeface="__YSText_10659f"/>
              </a:rPr>
              <a:t> Например, если мы хотим оценить степень влияния сегодняшней температуры на завтрашнюю, то посчитаем коэффициент корреляции исходного ряда и им же, сдвинутым на 1 день.</a:t>
            </a:r>
            <a:endParaRPr lang="ru-RU" dirty="0"/>
          </a:p>
        </p:txBody>
      </p:sp>
      <p:pic>
        <p:nvPicPr>
          <p:cNvPr id="1026" name="Picture 2" descr="2.6.1 Взаимная и автокорреляционные функции сигнала">
            <a:extLst>
              <a:ext uri="{FF2B5EF4-FFF2-40B4-BE49-F238E27FC236}">
                <a16:creationId xmlns:a16="http://schemas.microsoft.com/office/drawing/2014/main" id="{54264BB7-C97E-AA39-943C-3D1F85AC62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45059" y="961263"/>
            <a:ext cx="2530059" cy="40272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217700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D3ED5BB-127A-7415-8A44-D4E77DF70C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6776" y="200518"/>
            <a:ext cx="10847024" cy="725545"/>
          </a:xfrm>
        </p:spPr>
        <p:txBody>
          <a:bodyPr/>
          <a:lstStyle/>
          <a:p>
            <a:pPr algn="ctr"/>
            <a:r>
              <a:rPr lang="ru-RU" dirty="0"/>
              <a:t>З</a:t>
            </a:r>
            <a:r>
              <a:rPr lang="en-US" dirty="0" err="1"/>
              <a:t>амеч</a:t>
            </a:r>
            <a:r>
              <a:rPr lang="ru-RU" dirty="0" err="1"/>
              <a:t>ания</a:t>
            </a:r>
            <a:r>
              <a:rPr lang="ru-RU" dirty="0"/>
              <a:t>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03E3889A-0244-8314-4FF6-4AEB15AC907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15166" y="773426"/>
                <a:ext cx="11655846" cy="5086293"/>
              </a:xfrm>
            </p:spPr>
            <p:txBody>
              <a:bodyPr>
                <a:normAutofit/>
              </a:bodyPr>
              <a:lstStyle/>
              <a:p>
                <a14:m>
                  <m:oMath xmlns:m="http://schemas.openxmlformats.org/officeDocument/2006/math">
                    <m:r>
                      <a:rPr lang="en-US" sz="2400" i="1" smtClean="0">
                        <a:latin typeface="Cambria Math" panose="02040503050406030204" pitchFamily="18" charset="0"/>
                      </a:rPr>
                      <m:t>𝑐𝑜𝑟</m:t>
                    </m:r>
                    <m:r>
                      <a:rPr lang="en-US" sz="240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i="1" smtClean="0">
                        <a:latin typeface="Cambria Math" panose="02040503050406030204" pitchFamily="18" charset="0"/>
                      </a:rPr>
                      <m:t>𝜏</m:t>
                    </m:r>
                    <m:r>
                      <a:rPr lang="en-US" sz="240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l-GR" sz="2400" dirty="0"/>
                  <a:t>&gt;0 – </a:t>
                </a:r>
                <a:r>
                  <a:rPr lang="ru-RU" sz="2400" dirty="0"/>
                  <a:t>положительная корреляция, то есть чем </a:t>
                </a:r>
                <a:r>
                  <a:rPr lang="ru-RU" sz="2400" i="1" dirty="0"/>
                  <a:t>больше</a:t>
                </a:r>
                <a:r>
                  <a:rPr lang="ru-RU" sz="2400" dirty="0"/>
                  <a:t> было значение вчера, тем оно будет </a:t>
                </a:r>
                <a:r>
                  <a:rPr lang="ru-RU" sz="2400" i="1" dirty="0"/>
                  <a:t>больше</a:t>
                </a:r>
                <a:r>
                  <a:rPr lang="ru-RU" sz="2400" dirty="0"/>
                  <a:t> сегодня;</a:t>
                </a:r>
              </a:p>
              <a:p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𝑐𝑜𝑟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𝜏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l-GR" sz="2400" dirty="0"/>
                  <a:t>​&lt;0 – </a:t>
                </a:r>
                <a:r>
                  <a:rPr lang="ru-RU" sz="2400" dirty="0"/>
                  <a:t>отрицательная корреляция, то есть чем </a:t>
                </a:r>
                <a:r>
                  <a:rPr lang="ru-RU" sz="2400" i="1" dirty="0"/>
                  <a:t>больше</a:t>
                </a:r>
                <a:r>
                  <a:rPr lang="ru-RU" sz="2400" dirty="0"/>
                  <a:t> было значение вчера, тем оно будет </a:t>
                </a:r>
                <a:r>
                  <a:rPr lang="ru-RU" sz="2400" i="1" dirty="0"/>
                  <a:t>меньше</a:t>
                </a:r>
                <a:r>
                  <a:rPr lang="ru-RU" sz="2400" dirty="0"/>
                  <a:t> сегодня;</a:t>
                </a:r>
              </a:p>
              <a:p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" sz="2400" dirty="0"/>
                      <m:t>∣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𝑐𝑜𝑟</m:t>
                    </m:r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</m:d>
                    <m:r>
                      <m:rPr>
                        <m:nor/>
                      </m:rPr>
                      <a:rPr lang="el-GR" sz="2400" dirty="0"/>
                      <m:t>​∣⩽1;</m:t>
                    </m:r>
                    <m:r>
                      <a:rPr lang="ru-RU" sz="2400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𝑐𝑜𝑟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𝜏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l-GR" sz="2400" dirty="0"/>
                  <a:t>=1 </a:t>
                </a:r>
                <a:r>
                  <a:rPr lang="ru-RU" sz="2400" dirty="0"/>
                  <a:t>означает строгую линейную зависимость.</a:t>
                </a:r>
              </a:p>
              <a:p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" sz="2400" dirty="0"/>
                      <m:t>∣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𝑐𝑜𝑟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𝜏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nor/>
                      </m:rPr>
                      <a:rPr lang="el-GR" sz="2400" dirty="0"/>
                      <m:t>​∣⩽</m:t>
                    </m:r>
                    <m:r>
                      <m:rPr>
                        <m:nor/>
                      </m:rPr>
                      <a:rPr lang="ru-RU" sz="2400" b="0" i="0" dirty="0" smtClean="0"/>
                      <m:t>0.05 (0.01) может колебаться из за шума</m:t>
                    </m:r>
                  </m:oMath>
                </a14:m>
                <a:endParaRPr lang="ru-RU" sz="2400" b="0" dirty="0"/>
              </a:p>
              <a:p>
                <a:r>
                  <a:rPr lang="ru-RU" sz="2400" dirty="0"/>
                  <a:t>Значимые корреляции проверяются отельными</a:t>
                </a:r>
                <a:br>
                  <a:rPr lang="ru-RU" sz="2400" dirty="0"/>
                </a:br>
                <a:r>
                  <a:rPr lang="ru-RU" sz="2400" dirty="0"/>
                  <a:t> стат. тестами</a:t>
                </a:r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03E3889A-0244-8314-4FF6-4AEB15AC907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15166" y="773426"/>
                <a:ext cx="11655846" cy="5086293"/>
              </a:xfrm>
              <a:blipFill>
                <a:blip r:embed="rId2"/>
                <a:stretch>
                  <a:fillRect l="-653" t="-1244" r="-97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B0DB019B-3104-A600-AEB2-42CB0E2A73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7</a:t>
            </a:fld>
            <a:endParaRPr lang="en-US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961474F1-1290-7EF6-E2E4-2A58FE82AD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8084" y="4898985"/>
            <a:ext cx="4982760" cy="1454427"/>
          </a:xfrm>
          <a:prstGeom prst="rect">
            <a:avLst/>
          </a:prstGeom>
        </p:spPr>
      </p:pic>
      <p:pic>
        <p:nvPicPr>
          <p:cNvPr id="1029" name="Picture 5">
            <a:extLst>
              <a:ext uri="{FF2B5EF4-FFF2-40B4-BE49-F238E27FC236}">
                <a16:creationId xmlns:a16="http://schemas.microsoft.com/office/drawing/2014/main" id="{7E8AF36A-0838-C3AB-9A29-306D244FB4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81205" y="2679878"/>
            <a:ext cx="4655171" cy="31798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8999D0E-571B-F326-BDB2-26FF2D54EFBE}"/>
              </a:ext>
            </a:extLst>
          </p:cNvPr>
          <p:cNvSpPr txBox="1"/>
          <p:nvPr/>
        </p:nvSpPr>
        <p:spPr>
          <a:xfrm>
            <a:off x="6136434" y="5707081"/>
            <a:ext cx="57404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Четыре различных набора данных, коэффициент корреляции на которых равен 0.81</a:t>
            </a:r>
            <a:endParaRPr lang="ru-RU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12B4922-0E0E-77D6-DC87-7ED5B07D70E3}"/>
              </a:ext>
            </a:extLst>
          </p:cNvPr>
          <p:cNvSpPr txBox="1"/>
          <p:nvPr/>
        </p:nvSpPr>
        <p:spPr>
          <a:xfrm>
            <a:off x="478090" y="6247588"/>
            <a:ext cx="513531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200" dirty="0" err="1"/>
              <a:t>https</a:t>
            </a:r>
            <a:r>
              <a:rPr lang="ru-RU" sz="1200" dirty="0"/>
              <a:t>://</a:t>
            </a:r>
            <a:r>
              <a:rPr lang="ru-RU" sz="1200" dirty="0" err="1"/>
              <a:t>education.yandex.ru</a:t>
            </a:r>
            <a:r>
              <a:rPr lang="ru-RU" sz="1200" dirty="0"/>
              <a:t>/</a:t>
            </a:r>
            <a:r>
              <a:rPr lang="ru-RU" sz="1200" dirty="0" err="1"/>
              <a:t>handbook</a:t>
            </a:r>
            <a:r>
              <a:rPr lang="ru-RU" sz="1200" dirty="0"/>
              <a:t>/</a:t>
            </a:r>
            <a:r>
              <a:rPr lang="ru-RU" sz="1200" dirty="0" err="1"/>
              <a:t>ml</a:t>
            </a:r>
            <a:r>
              <a:rPr lang="ru-RU" sz="1200" dirty="0"/>
              <a:t>/</a:t>
            </a:r>
            <a:r>
              <a:rPr lang="ru-RU" sz="1200" dirty="0" err="1"/>
              <a:t>article</a:t>
            </a:r>
            <a:r>
              <a:rPr lang="ru-RU" sz="1200" dirty="0"/>
              <a:t>/</a:t>
            </a:r>
            <a:r>
              <a:rPr lang="ru-RU" sz="1200" dirty="0" err="1"/>
              <a:t>analitika-vremennyh-ryadov</a:t>
            </a:r>
            <a:endParaRPr lang="ru-RU" sz="12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91EC631-2FAB-3BE2-13B0-4F9C3AF0E2A7}"/>
              </a:ext>
            </a:extLst>
          </p:cNvPr>
          <p:cNvSpPr txBox="1"/>
          <p:nvPr/>
        </p:nvSpPr>
        <p:spPr>
          <a:xfrm>
            <a:off x="5759374" y="6280875"/>
            <a:ext cx="625207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200" dirty="0" err="1"/>
              <a:t>http</a:t>
            </a:r>
            <a:r>
              <a:rPr lang="ru-RU" sz="1200" dirty="0"/>
              <a:t>://</a:t>
            </a:r>
            <a:r>
              <a:rPr lang="ru-RU" sz="1200" dirty="0" err="1"/>
              <a:t>www.machinelearning.ru</a:t>
            </a:r>
            <a:r>
              <a:rPr lang="ru-RU" sz="1200" dirty="0"/>
              <a:t>/</a:t>
            </a:r>
            <a:r>
              <a:rPr lang="ru-RU" sz="1200" dirty="0" err="1"/>
              <a:t>wiki</a:t>
            </a:r>
            <a:r>
              <a:rPr lang="ru-RU" sz="1200" dirty="0"/>
              <a:t>/</a:t>
            </a:r>
            <a:r>
              <a:rPr lang="ru-RU" sz="1200" dirty="0" err="1"/>
              <a:t>index.php?title</a:t>
            </a:r>
            <a:r>
              <a:rPr lang="ru-RU" sz="1200" dirty="0"/>
              <a:t>= </a:t>
            </a:r>
            <a:r>
              <a:rPr lang="ru-RU" sz="1200" dirty="0" err="1"/>
              <a:t>Коэффициент_корреляции_Пирсона</a:t>
            </a:r>
            <a:endParaRPr lang="ru-RU" sz="1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7DF8012A-2CB8-72E3-3F96-4D182E87DB07}"/>
                  </a:ext>
                </a:extLst>
              </p:cNvPr>
              <p:cNvSpPr txBox="1"/>
              <p:nvPr/>
            </p:nvSpPr>
            <p:spPr>
              <a:xfrm>
                <a:off x="839769" y="4201000"/>
                <a:ext cx="6097836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1800" i="1">
                        <a:latin typeface="Cambria Math" panose="02040503050406030204" pitchFamily="18" charset="0"/>
                      </a:rPr>
                      <m:t>𝑐𝑜𝑟</m:t>
                    </m:r>
                    <m:r>
                      <a:rPr lang="en-US" sz="18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800" i="1">
                        <a:latin typeface="Cambria Math" panose="02040503050406030204" pitchFamily="18" charset="0"/>
                      </a:rPr>
                      <m:t>𝜏</m:t>
                    </m:r>
                    <m:r>
                      <a:rPr lang="en-US" sz="18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l-GR" sz="1800" dirty="0"/>
                  <a:t>=0 – </a:t>
                </a:r>
                <a:r>
                  <a:rPr lang="ru-RU" sz="1800" dirty="0"/>
                  <a:t>отсутствие автокорреляции, при этом значения могут быть зависимыми;</a:t>
                </a: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7DF8012A-2CB8-72E3-3F96-4D182E87DB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9769" y="4201000"/>
                <a:ext cx="6097836" cy="646331"/>
              </a:xfrm>
              <a:prstGeom prst="rect">
                <a:avLst/>
              </a:prstGeom>
              <a:blipFill>
                <a:blip r:embed="rId5"/>
                <a:stretch>
                  <a:fillRect l="-1040" t="-3846" b="-13462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79955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9808D33-ED14-B6CA-1D53-1B9E7F3C73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0506" y="365125"/>
            <a:ext cx="11023294" cy="1067067"/>
          </a:xfrm>
        </p:spPr>
        <p:txBody>
          <a:bodyPr>
            <a:normAutofit fontScale="90000"/>
          </a:bodyPr>
          <a:lstStyle/>
          <a:p>
            <a:r>
              <a:rPr lang="ru-RU" dirty="0"/>
              <a:t>Пример дорожно-транспортных происшествий за 14 лет с дискретностью 1 месяц,</a:t>
            </a:r>
            <a:br>
              <a:rPr lang="ru-RU" dirty="0"/>
            </a:b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40EB80A-8708-FE17-1283-675B44B1F6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135" y="1139224"/>
            <a:ext cx="6409987" cy="5567456"/>
          </a:xfrm>
        </p:spPr>
        <p:txBody>
          <a:bodyPr>
            <a:normAutofit/>
          </a:bodyPr>
          <a:lstStyle/>
          <a:p>
            <a:r>
              <a:rPr lang="ru-RU" sz="2000" dirty="0"/>
              <a:t>Видна годовая сезонность.</a:t>
            </a:r>
          </a:p>
          <a:p>
            <a:r>
              <a:rPr lang="ru-RU" sz="2000" dirty="0"/>
              <a:t>На графике АКФ видны максимуму на 12 лагах</a:t>
            </a:r>
          </a:p>
          <a:p>
            <a:r>
              <a:rPr lang="en" sz="2000" i="1" dirty="0"/>
              <a:t>r</a:t>
            </a:r>
            <a:r>
              <a:rPr lang="en" sz="2000" baseline="-25000" dirty="0"/>
              <a:t>12</a:t>
            </a:r>
            <a:r>
              <a:rPr lang="en" sz="2000" dirty="0"/>
              <a:t>​ </a:t>
            </a:r>
            <a:r>
              <a:rPr lang="ru-RU" sz="2000" dirty="0"/>
              <a:t>является локальным максимумом, что означает высокую положительную корреляцию значения ряда за текущий месяц с аналогичным значением год назад. </a:t>
            </a:r>
          </a:p>
          <a:p>
            <a:r>
              <a:rPr lang="ru-RU" sz="2200" dirty="0"/>
              <a:t>Закрашенная область визуализирует границу незначимой автокорреляции, то есть тех значений автокорреляции, для которых не выявлена статистически значимое отличие от 0 (иначе говоря, доверительный интервал пересекает 0).</a:t>
            </a:r>
          </a:p>
          <a:p>
            <a:r>
              <a:rPr lang="ru-RU" sz="2200" dirty="0"/>
              <a:t>Значимые лаги: 1, 2, 6, 12, 24 – именно эти лаги связаны и на них имеет смысл строить прогноз (0 лаг не считается!)</a:t>
            </a:r>
            <a:endParaRPr lang="ru-RU" sz="1300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D5077126-4ACD-5BB7-D444-3F25CEA34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8</a:t>
            </a:fld>
            <a:endParaRPr lang="en-US"/>
          </a:p>
        </p:txBody>
      </p:sp>
      <p:pic>
        <p:nvPicPr>
          <p:cNvPr id="2050" name="Picture 2" descr="ex">
            <a:extLst>
              <a:ext uri="{FF2B5EF4-FFF2-40B4-BE49-F238E27FC236}">
                <a16:creationId xmlns:a16="http://schemas.microsoft.com/office/drawing/2014/main" id="{E80B7204-5939-A61A-3D66-4CB8D9AE8A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99200" y="1230123"/>
            <a:ext cx="5562294" cy="23749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ex">
            <a:extLst>
              <a:ext uri="{FF2B5EF4-FFF2-40B4-BE49-F238E27FC236}">
                <a16:creationId xmlns:a16="http://schemas.microsoft.com/office/drawing/2014/main" id="{7F87FE3F-E8B0-649D-36C2-1720B14307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98122" y="4049782"/>
            <a:ext cx="5420299" cy="2403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CFE1161-304E-9255-4C0B-8F9D8EADCD32}"/>
              </a:ext>
            </a:extLst>
          </p:cNvPr>
          <p:cNvSpPr txBox="1"/>
          <p:nvPr/>
        </p:nvSpPr>
        <p:spPr>
          <a:xfrm>
            <a:off x="3581401" y="6452782"/>
            <a:ext cx="849675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dirty="0" err="1"/>
              <a:t>https</a:t>
            </a:r>
            <a:r>
              <a:rPr lang="ru-RU" sz="1600" dirty="0"/>
              <a:t>://</a:t>
            </a:r>
            <a:r>
              <a:rPr lang="ru-RU" sz="1600" dirty="0" err="1"/>
              <a:t>education.yandex.ru</a:t>
            </a:r>
            <a:r>
              <a:rPr lang="ru-RU" sz="1600" dirty="0"/>
              <a:t>/</a:t>
            </a:r>
            <a:r>
              <a:rPr lang="ru-RU" sz="1600" dirty="0" err="1"/>
              <a:t>handbook</a:t>
            </a:r>
            <a:r>
              <a:rPr lang="ru-RU" sz="1600" dirty="0"/>
              <a:t>/</a:t>
            </a:r>
            <a:r>
              <a:rPr lang="ru-RU" sz="1600" dirty="0" err="1"/>
              <a:t>ml</a:t>
            </a:r>
            <a:r>
              <a:rPr lang="ru-RU" sz="1600" dirty="0"/>
              <a:t>/</a:t>
            </a:r>
            <a:r>
              <a:rPr lang="ru-RU" sz="1600" dirty="0" err="1"/>
              <a:t>article</a:t>
            </a:r>
            <a:r>
              <a:rPr lang="ru-RU" sz="1600" dirty="0"/>
              <a:t>/</a:t>
            </a:r>
            <a:r>
              <a:rPr lang="ru-RU" sz="1600" dirty="0" err="1"/>
              <a:t>analitika-vremennyh-ryadov</a:t>
            </a:r>
            <a:endParaRPr lang="ru-RU" sz="1600" dirty="0"/>
          </a:p>
        </p:txBody>
      </p:sp>
    </p:spTree>
    <p:extLst>
      <p:ext uri="{BB962C8B-B14F-4D97-AF65-F5344CB8AC3E}">
        <p14:creationId xmlns:p14="http://schemas.microsoft.com/office/powerpoint/2010/main" val="23578852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E44C83-235B-4AAE-B0A4-C9FB77FCA3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CA33933-0FF6-28B2-7970-86106396AC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24120"/>
            <a:ext cx="10515600" cy="782357"/>
          </a:xfrm>
        </p:spPr>
        <p:txBody>
          <a:bodyPr/>
          <a:lstStyle/>
          <a:p>
            <a:pPr algn="ctr"/>
            <a:r>
              <a:rPr lang="ru-RU" b="1" dirty="0"/>
              <a:t>Корреляция</a:t>
            </a:r>
            <a:endParaRPr lang="en-US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5E6DD14-17BE-1876-BA26-EDBFF92FB7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8927" y="1010958"/>
            <a:ext cx="10874872" cy="571051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200" dirty="0"/>
              <a:t>Пример ACF. Синяя линия показывает уверенность  согласно тексту Бокса-</a:t>
            </a:r>
            <a:r>
              <a:rPr lang="ru-RU" sz="2200" dirty="0" err="1"/>
              <a:t>Льюнга</a:t>
            </a:r>
            <a:r>
              <a:rPr lang="ru-RU" sz="2200" dirty="0"/>
              <a:t> по уровню </a:t>
            </a:r>
            <a:r>
              <a:rPr lang="en-US" sz="2200" dirty="0"/>
              <a:t>p</a:t>
            </a:r>
            <a:r>
              <a:rPr lang="ru-RU" sz="2200" dirty="0"/>
              <a:t>-</a:t>
            </a:r>
            <a:r>
              <a:rPr lang="en-US" sz="2200" dirty="0"/>
              <a:t>value</a:t>
            </a:r>
            <a:r>
              <a:rPr lang="ru-RU" sz="2200" dirty="0"/>
              <a:t> 0,05(корреляции ниже – случайные).</a:t>
            </a:r>
          </a:p>
          <a:p>
            <a:pPr marL="0" indent="0">
              <a:buNone/>
            </a:pPr>
            <a:r>
              <a:rPr lang="ru-RU" sz="2200" dirty="0"/>
              <a:t>ВР не имеет тренда и сезонности, каждое следующее значение связано с 3мя предыдущими</a:t>
            </a:r>
            <a:endParaRPr lang="en-US" sz="2200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6896886C-6E73-E8AD-E5D2-2AF8B40370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9</a:t>
            </a:fld>
            <a:endParaRPr lang="en-US"/>
          </a:p>
        </p:txBody>
      </p:sp>
      <p:pic>
        <p:nvPicPr>
          <p:cNvPr id="6146" name="Picture 2" descr="image.png">
            <a:extLst>
              <a:ext uri="{FF2B5EF4-FFF2-40B4-BE49-F238E27FC236}">
                <a16:creationId xmlns:a16="http://schemas.microsoft.com/office/drawing/2014/main" id="{363BC3FD-33D8-EDAB-9F86-38F046F0EF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3014284"/>
            <a:ext cx="10515599" cy="3101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8D22872-326F-18EB-8E85-45286CF14BA9}"/>
              </a:ext>
            </a:extLst>
          </p:cNvPr>
          <p:cNvSpPr txBox="1"/>
          <p:nvPr/>
        </p:nvSpPr>
        <p:spPr>
          <a:xfrm>
            <a:off x="6604000" y="6023766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 err="1"/>
              <a:t>https</a:t>
            </a:r>
            <a:r>
              <a:rPr lang="ru-RU" dirty="0"/>
              <a:t>://</a:t>
            </a:r>
            <a:r>
              <a:rPr lang="ru-RU" dirty="0" err="1"/>
              <a:t>library.altspu.ru</a:t>
            </a:r>
            <a:r>
              <a:rPr lang="ru-RU" dirty="0"/>
              <a:t>/</a:t>
            </a:r>
            <a:r>
              <a:rPr lang="ru-RU" dirty="0" err="1"/>
              <a:t>dc</a:t>
            </a:r>
            <a:r>
              <a:rPr lang="ru-RU" dirty="0"/>
              <a:t>/</a:t>
            </a:r>
            <a:r>
              <a:rPr lang="ru-RU" dirty="0" err="1"/>
              <a:t>pdf</a:t>
            </a:r>
            <a:r>
              <a:rPr lang="ru-RU" dirty="0"/>
              <a:t>/</a:t>
            </a:r>
            <a:r>
              <a:rPr lang="ru-RU" dirty="0" err="1"/>
              <a:t>kizbikenov.pdf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3095571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6383EC4-8F67-20B6-5BB9-4FD4C80D22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8655" y="369331"/>
            <a:ext cx="11035145" cy="909493"/>
          </a:xfrm>
        </p:spPr>
        <p:txBody>
          <a:bodyPr/>
          <a:lstStyle/>
          <a:p>
            <a:pPr algn="ctr"/>
            <a:r>
              <a:rPr lang="ru-RU" dirty="0"/>
              <a:t>Замечания 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D8746E5-8498-3604-B42B-E7AF22FB2C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8655" y="1026318"/>
            <a:ext cx="11554689" cy="4805363"/>
          </a:xfrm>
        </p:spPr>
        <p:txBody>
          <a:bodyPr>
            <a:normAutofit/>
          </a:bodyPr>
          <a:lstStyle/>
          <a:p>
            <a:r>
              <a:rPr lang="ru-RU" sz="2200" dirty="0"/>
              <a:t>Если ВР имеет тренд, АКФ для небольших лагов, как правило, большие и положительные, поскольку наблюдения, близкие по времени, также близки по значению. </a:t>
            </a:r>
          </a:p>
          <a:p>
            <a:pPr lvl="1"/>
            <a:r>
              <a:rPr lang="ru-RU" sz="2200" dirty="0"/>
              <a:t>Таким образом, </a:t>
            </a:r>
            <a:r>
              <a:rPr lang="en" sz="2200" dirty="0"/>
              <a:t>ACF </a:t>
            </a:r>
            <a:r>
              <a:rPr lang="ru-RU" sz="2200" dirty="0"/>
              <a:t>трендового временного ряда, как правило, имеет положительные значения, которые медленно уменьшаются по мере увеличения лагов.</a:t>
            </a:r>
          </a:p>
          <a:p>
            <a:r>
              <a:rPr lang="ru-RU" sz="2200" dirty="0"/>
              <a:t>Если данные сезонные, автокорреляции будут больше для сезонных лагов (кратных сезонному периоду), чем для других лагов.</a:t>
            </a:r>
          </a:p>
          <a:p>
            <a:r>
              <a:rPr lang="ru-RU" sz="2200" dirty="0"/>
              <a:t>Когда данные являются как трендовыми, так и сезонными, будет иметь место комбинация этих эффектов</a:t>
            </a:r>
            <a:r>
              <a:rPr lang="en-US" sz="2200" dirty="0"/>
              <a:t> (</a:t>
            </a:r>
            <a:r>
              <a:rPr lang="en-US" sz="2200" dirty="0" err="1"/>
              <a:t>см</a:t>
            </a:r>
            <a:r>
              <a:rPr lang="ru-RU" sz="2200" dirty="0"/>
              <a:t>. ниже). 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10439D6-FBAC-9105-9726-C0D57B5381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10</a:t>
            </a:fld>
            <a:endParaRPr lang="en-US"/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FAE7FECC-00BF-3EB6-BCFE-927426B084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6978" y="3946948"/>
            <a:ext cx="4112343" cy="25919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4" name="Picture 4">
            <a:extLst>
              <a:ext uri="{FF2B5EF4-FFF2-40B4-BE49-F238E27FC236}">
                <a16:creationId xmlns:a16="http://schemas.microsoft.com/office/drawing/2014/main" id="{886AD531-2C9B-BB91-4CEE-1902E77A9A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06836" y="3960387"/>
            <a:ext cx="4304291" cy="27129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229B540-6FFC-6740-2DA4-DE2C2AF66693}"/>
              </a:ext>
            </a:extLst>
          </p:cNvPr>
          <p:cNvSpPr txBox="1"/>
          <p:nvPr/>
        </p:nvSpPr>
        <p:spPr>
          <a:xfrm>
            <a:off x="2597727" y="6488668"/>
            <a:ext cx="61375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 err="1"/>
              <a:t>https</a:t>
            </a:r>
            <a:r>
              <a:rPr lang="ru-RU" dirty="0"/>
              <a:t>://</a:t>
            </a:r>
            <a:r>
              <a:rPr lang="ru-RU" dirty="0" err="1"/>
              <a:t>otexts.com</a:t>
            </a:r>
            <a:r>
              <a:rPr lang="ru-RU" dirty="0"/>
              <a:t>/</a:t>
            </a:r>
            <a:r>
              <a:rPr lang="ru-RU" dirty="0" err="1"/>
              <a:t>fpppy</a:t>
            </a:r>
            <a:r>
              <a:rPr lang="ru-RU" dirty="0"/>
              <a:t>/</a:t>
            </a:r>
            <a:r>
              <a:rPr lang="ru-RU" dirty="0" err="1"/>
              <a:t>nbs</a:t>
            </a:r>
            <a:r>
              <a:rPr lang="ru-RU" dirty="0"/>
              <a:t>/02-graphics.html</a:t>
            </a:r>
          </a:p>
        </p:txBody>
      </p:sp>
    </p:spTree>
    <p:extLst>
      <p:ext uri="{BB962C8B-B14F-4D97-AF65-F5344CB8AC3E}">
        <p14:creationId xmlns:p14="http://schemas.microsoft.com/office/powerpoint/2010/main" val="19171842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647D957-91ED-4DFD-BF38-CD0297336D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24120"/>
            <a:ext cx="10515600" cy="782357"/>
          </a:xfrm>
        </p:spPr>
        <p:txBody>
          <a:bodyPr/>
          <a:lstStyle/>
          <a:p>
            <a:pPr algn="ctr"/>
            <a:r>
              <a:rPr lang="ru-RU" b="1" dirty="0"/>
              <a:t>Анализ стационарности</a:t>
            </a:r>
            <a:endParaRPr lang="en-US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4718F5E-C23C-4099-A406-E529666DEA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4072" y="1006477"/>
            <a:ext cx="11222182" cy="581745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400" b="1" dirty="0"/>
              <a:t>Нестационарный ряд </a:t>
            </a:r>
            <a:r>
              <a:rPr lang="ru-RU" sz="2400" dirty="0"/>
              <a:t>- временной ряд считается нестационарным, если некоторые из его статистических свойств меняются с течением времени. </a:t>
            </a:r>
          </a:p>
          <a:p>
            <a:pPr marL="0" indent="0">
              <a:buNone/>
            </a:pPr>
            <a:r>
              <a:rPr lang="ru-RU" sz="2400" dirty="0"/>
              <a:t>Другими словами, он имеет переменную среднего времени, дисперсию или другие статистические характеристики.</a:t>
            </a:r>
            <a:endParaRPr lang="en-US" sz="3200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AE4B016-46C5-1BFB-262D-5EBB825C0A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11</a:t>
            </a:fld>
            <a:endParaRPr lang="en-US"/>
          </a:p>
        </p:txBody>
      </p:sp>
      <p:pic>
        <p:nvPicPr>
          <p:cNvPr id="7170" name="Picture 2" descr="image.png">
            <a:extLst>
              <a:ext uri="{FF2B5EF4-FFF2-40B4-BE49-F238E27FC236}">
                <a16:creationId xmlns:a16="http://schemas.microsoft.com/office/drawing/2014/main" id="{0FBAF8A5-46C7-4F6E-B148-B2008975F90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1135"/>
          <a:stretch/>
        </p:blipFill>
        <p:spPr bwMode="auto">
          <a:xfrm>
            <a:off x="2366105" y="2938311"/>
            <a:ext cx="6992302" cy="31320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AutoShape 2" descr="Stationarity in time series analysis | by Shay Palachy | Towards Data  Science"/>
          <p:cNvSpPr>
            <a:spLocks noChangeAspect="1" noChangeArrowheads="1"/>
          </p:cNvSpPr>
          <p:nvPr/>
        </p:nvSpPr>
        <p:spPr bwMode="auto">
          <a:xfrm>
            <a:off x="-1368425" y="-144462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 sz="1351"/>
          </a:p>
        </p:txBody>
      </p:sp>
    </p:spTree>
    <p:extLst>
      <p:ext uri="{BB962C8B-B14F-4D97-AF65-F5344CB8AC3E}">
        <p14:creationId xmlns:p14="http://schemas.microsoft.com/office/powerpoint/2010/main" val="1644174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630CA84-E3AD-B7BB-82C3-9F98F663EC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7624" y="365125"/>
            <a:ext cx="10946176" cy="604359"/>
          </a:xfrm>
        </p:spPr>
        <p:txBody>
          <a:bodyPr>
            <a:normAutofit fontScale="90000"/>
          </a:bodyPr>
          <a:lstStyle/>
          <a:p>
            <a:r>
              <a:rPr lang="ru-RU" dirty="0"/>
              <a:t>Стационарность ВР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A8EA5FD-8A38-5591-1AF1-A2953088A2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7624" y="946446"/>
            <a:ext cx="11673540" cy="4965108"/>
          </a:xfrm>
        </p:spPr>
        <p:txBody>
          <a:bodyPr>
            <a:normAutofit/>
          </a:bodyPr>
          <a:lstStyle/>
          <a:p>
            <a:r>
              <a:rPr lang="ru-RU" sz="2200" b="1" dirty="0"/>
              <a:t>В узком смысле, </a:t>
            </a:r>
            <a:r>
              <a:rPr lang="ru-RU" sz="2200" dirty="0"/>
              <a:t>при сдвиге в любой момент времени ВР на одном и </a:t>
            </a:r>
            <a:r>
              <a:rPr lang="ru-RU" sz="2200" dirty="0" err="1"/>
              <a:t>томже</a:t>
            </a:r>
            <a:r>
              <a:rPr lang="ru-RU" sz="2200" dirty="0"/>
              <a:t> размер. Выборки имеет одно и тоже распределение </a:t>
            </a:r>
          </a:p>
          <a:p>
            <a:pPr lvl="1"/>
            <a:r>
              <a:rPr lang="ru-RU" sz="2200" dirty="0"/>
              <a:t>если для любых  </a:t>
            </a:r>
            <a:r>
              <a:rPr lang="en" sz="2200" dirty="0"/>
              <a:t>t</a:t>
            </a:r>
            <a:r>
              <a:rPr lang="en" sz="2200" baseline="-25000" dirty="0"/>
              <a:t>1</a:t>
            </a:r>
            <a:r>
              <a:rPr lang="en" sz="2200" dirty="0"/>
              <a:t>,...,</a:t>
            </a:r>
            <a:r>
              <a:rPr lang="en" sz="2200" dirty="0" err="1"/>
              <a:t>t</a:t>
            </a:r>
            <a:r>
              <a:rPr lang="en" sz="2200" baseline="-25000" dirty="0" err="1"/>
              <a:t>n</a:t>
            </a:r>
            <a:r>
              <a:rPr lang="en" sz="2200" dirty="0"/>
              <a:t>,</a:t>
            </a:r>
            <a:r>
              <a:rPr lang="ru-RU" sz="2200" dirty="0"/>
              <a:t> и </a:t>
            </a:r>
            <a:r>
              <a:rPr lang="el-GR" sz="2200" dirty="0"/>
              <a:t>τ </a:t>
            </a:r>
            <a:r>
              <a:rPr lang="ru-RU" sz="2200" dirty="0"/>
              <a:t>вектор (</a:t>
            </a:r>
            <a:r>
              <a:rPr lang="en" sz="2200" dirty="0"/>
              <a:t>y</a:t>
            </a:r>
            <a:r>
              <a:rPr lang="en" sz="2200" baseline="-25000" dirty="0"/>
              <a:t>t1+</a:t>
            </a:r>
            <a:r>
              <a:rPr lang="el-GR" sz="2200" baseline="-25000" dirty="0"/>
              <a:t>τ</a:t>
            </a:r>
            <a:r>
              <a:rPr lang="el-GR" sz="2200" dirty="0"/>
              <a:t>,...,</a:t>
            </a:r>
            <a:r>
              <a:rPr lang="en" sz="2200" dirty="0" err="1"/>
              <a:t>y</a:t>
            </a:r>
            <a:r>
              <a:rPr lang="en" sz="2200" baseline="-25000" dirty="0" err="1"/>
              <a:t>tn</a:t>
            </a:r>
            <a:r>
              <a:rPr lang="en" sz="2200" baseline="-25000" dirty="0"/>
              <a:t>+</a:t>
            </a:r>
            <a:r>
              <a:rPr lang="el-GR" sz="2200" baseline="-25000" dirty="0"/>
              <a:t>τ</a:t>
            </a:r>
            <a:r>
              <a:rPr lang="el-GR" sz="2200" dirty="0"/>
              <a:t>)</a:t>
            </a:r>
            <a:r>
              <a:rPr lang="ru-RU" sz="2200" dirty="0"/>
              <a:t> совпадает по распределению с (</a:t>
            </a:r>
            <a:r>
              <a:rPr lang="en" sz="2200" dirty="0"/>
              <a:t>y</a:t>
            </a:r>
            <a:r>
              <a:rPr lang="en" sz="2200" baseline="-25000" dirty="0"/>
              <a:t>t1</a:t>
            </a:r>
            <a:r>
              <a:rPr lang="en" sz="2200" dirty="0"/>
              <a:t>,...,</a:t>
            </a:r>
            <a:r>
              <a:rPr lang="en" sz="2200" dirty="0" err="1"/>
              <a:t>y</a:t>
            </a:r>
            <a:r>
              <a:rPr lang="en" sz="2200" baseline="-25000" dirty="0" err="1"/>
              <a:t>tn</a:t>
            </a:r>
            <a:r>
              <a:rPr lang="ru-RU" sz="2200" dirty="0"/>
              <a:t>)</a:t>
            </a:r>
          </a:p>
          <a:p>
            <a:r>
              <a:rPr lang="ru-RU" sz="2200" b="1" dirty="0"/>
              <a:t>В широком смысле: </a:t>
            </a:r>
            <a:r>
              <a:rPr lang="ru-RU" sz="2200" dirty="0"/>
              <a:t>если статистические свойства ВР не меняются с течением времени. </a:t>
            </a:r>
            <a:endParaRPr lang="en-US" sz="2200" dirty="0"/>
          </a:p>
          <a:p>
            <a:r>
              <a:rPr lang="ru-RU" sz="2200" dirty="0"/>
              <a:t>Другими словами, </a:t>
            </a:r>
            <a:r>
              <a:rPr lang="en-US" sz="2200" dirty="0" err="1"/>
              <a:t>ряд</a:t>
            </a:r>
            <a:r>
              <a:rPr lang="ru-RU" sz="2200" dirty="0"/>
              <a:t> имеет постоянное среднее значение и дисперсию, а ковариация зависит только от разницы индексов лагов. </a:t>
            </a:r>
          </a:p>
          <a:p>
            <a:pPr lvl="1"/>
            <a:r>
              <a:rPr lang="ru-RU" sz="2200" dirty="0"/>
              <a:t>указанные статистические характеристики не должны быть бесконечными.</a:t>
            </a:r>
          </a:p>
          <a:p>
            <a:pPr lvl="1"/>
            <a:r>
              <a:rPr lang="en" sz="1800" dirty="0"/>
              <a:t>E</a:t>
            </a:r>
            <a:r>
              <a:rPr lang="en" sz="1800" i="1" dirty="0"/>
              <a:t>y</a:t>
            </a:r>
            <a:r>
              <a:rPr lang="en" sz="1800" i="1" baseline="-25000" dirty="0"/>
              <a:t>t</a:t>
            </a:r>
            <a:r>
              <a:rPr lang="en" sz="1800" baseline="30000" dirty="0"/>
              <a:t>2</a:t>
            </a:r>
            <a:r>
              <a:rPr lang="en" sz="1800" dirty="0"/>
              <a:t>​&lt;+∞ </a:t>
            </a:r>
            <a:r>
              <a:rPr lang="ru-RU" sz="1800" dirty="0"/>
              <a:t>для любого </a:t>
            </a:r>
            <a:r>
              <a:rPr lang="en" sz="1800" i="1" dirty="0"/>
              <a:t>t</a:t>
            </a:r>
            <a:r>
              <a:rPr lang="en" sz="1800" dirty="0"/>
              <a:t>.</a:t>
            </a:r>
            <a:r>
              <a:rPr lang="ru-RU" sz="1800" dirty="0"/>
              <a:t> </a:t>
            </a:r>
            <a:r>
              <a:rPr lang="en" sz="1800" dirty="0" err="1"/>
              <a:t>E</a:t>
            </a:r>
            <a:r>
              <a:rPr lang="en" sz="1800" i="1" dirty="0" err="1"/>
              <a:t>y</a:t>
            </a:r>
            <a:r>
              <a:rPr lang="en" sz="1800" i="1" baseline="-25000" dirty="0" err="1"/>
              <a:t>t</a:t>
            </a:r>
            <a:r>
              <a:rPr lang="ru-RU" sz="1800" i="1" baseline="30000" dirty="0"/>
              <a:t> </a:t>
            </a:r>
            <a:r>
              <a:rPr lang="ru-RU" sz="1800" dirty="0"/>
              <a:t>не зависит от </a:t>
            </a:r>
            <a:r>
              <a:rPr lang="en" sz="1800" i="1" dirty="0"/>
              <a:t>t</a:t>
            </a:r>
            <a:r>
              <a:rPr lang="en" sz="1800" dirty="0"/>
              <a:t>, </a:t>
            </a:r>
            <a:r>
              <a:rPr lang="ru-RU" sz="1800" dirty="0"/>
              <a:t>то есть в среднем значение временного ряда постоянно. </a:t>
            </a:r>
            <a:r>
              <a:rPr lang="en" sz="1800" dirty="0"/>
              <a:t>C</a:t>
            </a:r>
            <a:r>
              <a:rPr lang="ru-RU" sz="1800" dirty="0" err="1"/>
              <a:t>ov</a:t>
            </a:r>
            <a:r>
              <a:rPr lang="en-US" sz="1800" dirty="0"/>
              <a:t>(t)=</a:t>
            </a:r>
            <a:r>
              <a:rPr lang="en-US" sz="1800" dirty="0" err="1"/>
              <a:t>Cov</a:t>
            </a:r>
            <a:r>
              <a:rPr lang="en-US" sz="1800" dirty="0"/>
              <a:t>(</a:t>
            </a:r>
            <a:r>
              <a:rPr lang="en-US" sz="1800" dirty="0" err="1"/>
              <a:t>t+tau</a:t>
            </a:r>
            <a:r>
              <a:rPr lang="en-US" sz="1800" dirty="0"/>
              <a:t>)</a:t>
            </a:r>
            <a:r>
              <a:rPr lang="ru-RU" sz="1800" dirty="0"/>
              <a:t> , то есть значение автокорреляции зависит только от длины отрезка времени между двумя значениями</a:t>
            </a:r>
            <a:endParaRPr lang="en-US" sz="1800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829CDCF-CA89-B716-5BCC-F64969F31A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12</a:t>
            </a:fld>
            <a:endParaRPr lang="en-US"/>
          </a:p>
        </p:txBody>
      </p:sp>
      <p:pic>
        <p:nvPicPr>
          <p:cNvPr id="5" name="Picture 2" descr="image.png">
            <a:extLst>
              <a:ext uri="{FF2B5EF4-FFF2-40B4-BE49-F238E27FC236}">
                <a16:creationId xmlns:a16="http://schemas.microsoft.com/office/drawing/2014/main" id="{348A59E2-301A-DD23-5BAD-1E073DDA6E1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215" b="56037"/>
          <a:stretch>
            <a:fillRect/>
          </a:stretch>
        </p:blipFill>
        <p:spPr bwMode="auto">
          <a:xfrm>
            <a:off x="4655127" y="4134452"/>
            <a:ext cx="6975222" cy="24775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9520089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5A8996F-4EBF-4A42-B1B0-6C20D2DFE1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889935"/>
          </a:xfrm>
        </p:spPr>
        <p:txBody>
          <a:bodyPr/>
          <a:lstStyle/>
          <a:p>
            <a:pPr algn="ctr"/>
            <a:r>
              <a:rPr lang="ru-RU" b="1" dirty="0"/>
              <a:t>Анализ </a:t>
            </a:r>
            <a:r>
              <a:rPr lang="ru-RU" b="1" dirty="0" err="1"/>
              <a:t>нестационарности</a:t>
            </a:r>
            <a:endParaRPr lang="en-US" b="1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AE5F075-BD33-4A64-9615-916178391B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6254" y="1060024"/>
            <a:ext cx="11952107" cy="460375"/>
          </a:xfrm>
        </p:spPr>
        <p:txBody>
          <a:bodyPr>
            <a:normAutofit fontScale="85000" lnSpcReduction="10000"/>
          </a:bodyPr>
          <a:lstStyle/>
          <a:p>
            <a:r>
              <a:rPr lang="ru-RU" sz="2000" dirty="0"/>
              <a:t>Если ВР имеет тренд, выраженную сезонность или переменную дисперсию (</a:t>
            </a:r>
            <a:r>
              <a:rPr lang="ru-RU" sz="2000" dirty="0" err="1"/>
              <a:t>гетеросекдостичность</a:t>
            </a:r>
            <a:r>
              <a:rPr lang="ru-RU" sz="2000" dirty="0"/>
              <a:t>), то ВР </a:t>
            </a:r>
            <a:r>
              <a:rPr lang="ru-RU" sz="2000" dirty="0" err="1"/>
              <a:t>нестационарен</a:t>
            </a:r>
            <a:endParaRPr lang="en-US" sz="2000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05DF02A9-1A1F-AE07-E202-839063BE95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13</a:t>
            </a:fld>
            <a:endParaRPr lang="en-US"/>
          </a:p>
        </p:txBody>
      </p:sp>
      <p:pic>
        <p:nvPicPr>
          <p:cNvPr id="10242" name="Picture 2" descr="image.png">
            <a:extLst>
              <a:ext uri="{FF2B5EF4-FFF2-40B4-BE49-F238E27FC236}">
                <a16:creationId xmlns:a16="http://schemas.microsoft.com/office/drawing/2014/main" id="{DD8C898C-2BC4-4CDA-A79D-0C28B3CBB9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16930" y="1427559"/>
            <a:ext cx="7632415" cy="50216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020B24B-03C1-7306-AE22-AAC0C9E9B8D4}"/>
              </a:ext>
            </a:extLst>
          </p:cNvPr>
          <p:cNvSpPr txBox="1"/>
          <p:nvPr/>
        </p:nvSpPr>
        <p:spPr>
          <a:xfrm>
            <a:off x="1607127" y="6356350"/>
            <a:ext cx="874221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 err="1"/>
              <a:t>https</a:t>
            </a:r>
            <a:r>
              <a:rPr lang="ru-RU" dirty="0"/>
              <a:t>://</a:t>
            </a:r>
            <a:r>
              <a:rPr lang="ru-RU" dirty="0" err="1"/>
              <a:t>education.yandex.ru</a:t>
            </a:r>
            <a:r>
              <a:rPr lang="ru-RU" dirty="0"/>
              <a:t>/</a:t>
            </a:r>
            <a:r>
              <a:rPr lang="ru-RU" dirty="0" err="1"/>
              <a:t>handbook</a:t>
            </a:r>
            <a:r>
              <a:rPr lang="ru-RU" dirty="0"/>
              <a:t>/</a:t>
            </a:r>
            <a:r>
              <a:rPr lang="ru-RU" dirty="0" err="1"/>
              <a:t>ml</a:t>
            </a:r>
            <a:r>
              <a:rPr lang="ru-RU" dirty="0"/>
              <a:t>/</a:t>
            </a:r>
            <a:r>
              <a:rPr lang="ru-RU" dirty="0" err="1"/>
              <a:t>article</a:t>
            </a:r>
            <a:r>
              <a:rPr lang="ru-RU" dirty="0"/>
              <a:t>/</a:t>
            </a:r>
            <a:r>
              <a:rPr lang="ru-RU" dirty="0" err="1"/>
              <a:t>analitika-vremennyh-ryadov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91093844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AC7A29-C3A0-7522-0DAC-32BF46F931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FF2E7AB-E7E7-215B-AFB5-C6656CE07A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7624" y="365125"/>
            <a:ext cx="10946176" cy="604359"/>
          </a:xfrm>
        </p:spPr>
        <p:txBody>
          <a:bodyPr>
            <a:normAutofit fontScale="90000"/>
          </a:bodyPr>
          <a:lstStyle/>
          <a:p>
            <a:r>
              <a:rPr lang="ru-RU" dirty="0"/>
              <a:t>Стационарность ВР. Замечания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584A7FB-FF48-C141-958F-6FB372C030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3236" y="868764"/>
            <a:ext cx="11665527" cy="4965108"/>
          </a:xfrm>
        </p:spPr>
        <p:txBody>
          <a:bodyPr>
            <a:normAutofit/>
          </a:bodyPr>
          <a:lstStyle/>
          <a:p>
            <a:r>
              <a:rPr lang="en-US" sz="2200" dirty="0" err="1"/>
              <a:t>Если</a:t>
            </a:r>
            <a:r>
              <a:rPr lang="ru-RU" sz="2200" dirty="0"/>
              <a:t> ряд регулярный он может не быть </a:t>
            </a:r>
            <a:r>
              <a:rPr lang="ru-RU" sz="2200" dirty="0" err="1"/>
              <a:t>стационарым</a:t>
            </a:r>
            <a:r>
              <a:rPr lang="ru-RU" sz="2200" dirty="0"/>
              <a:t> (но не наоборот)</a:t>
            </a:r>
          </a:p>
          <a:p>
            <a:r>
              <a:rPr lang="ru-RU" sz="2200" dirty="0"/>
              <a:t>Временной ряд в ряде случаев сводится к стационарному простыми преобразованиями</a:t>
            </a:r>
          </a:p>
          <a:p>
            <a:r>
              <a:rPr lang="ru-RU" sz="2200" dirty="0"/>
              <a:t>Не все методы предсказания ВР требуют сведения ВР к стационарному, но основные требуют </a:t>
            </a:r>
          </a:p>
          <a:p>
            <a:endParaRPr lang="ru-RU" sz="2200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1F4CC8B1-1A3E-A562-1797-A6262E4AEB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14</a:t>
            </a:fld>
            <a:endParaRPr lang="en-US"/>
          </a:p>
        </p:txBody>
      </p:sp>
      <p:pic>
        <p:nvPicPr>
          <p:cNvPr id="3074" name="Picture 2" descr="stationary">
            <a:extLst>
              <a:ext uri="{FF2B5EF4-FFF2-40B4-BE49-F238E27FC236}">
                <a16:creationId xmlns:a16="http://schemas.microsoft.com/office/drawing/2014/main" id="{CC32CBF0-6BD1-B7CD-8361-92A51F4C35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97042" y="2105075"/>
            <a:ext cx="6227116" cy="44715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1F1B7D9-7F27-C0BA-1A6B-FDC96CEC9608}"/>
              </a:ext>
            </a:extLst>
          </p:cNvPr>
          <p:cNvSpPr txBox="1"/>
          <p:nvPr/>
        </p:nvSpPr>
        <p:spPr>
          <a:xfrm>
            <a:off x="410813" y="3013364"/>
            <a:ext cx="5569526" cy="26550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755"/>
              </a:lnSpc>
              <a:spcBef>
                <a:spcPts val="1800"/>
              </a:spcBef>
              <a:spcAft>
                <a:spcPts val="600"/>
              </a:spcAft>
            </a:pPr>
            <a:r>
              <a:rPr lang="ru-RU" sz="2400" b="0" i="0" dirty="0">
                <a:solidFill>
                  <a:srgbClr val="323232"/>
                </a:solidFill>
                <a:effectLst/>
              </a:rPr>
              <a:t>Примеры</a:t>
            </a:r>
          </a:p>
          <a:p>
            <a:pPr algn="l">
              <a:lnSpc>
                <a:spcPts val="1755"/>
              </a:lnSpc>
              <a:spcBef>
                <a:spcPts val="18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ru-RU" sz="2400" b="0" i="0" dirty="0">
                <a:solidFill>
                  <a:srgbClr val="323232"/>
                </a:solidFill>
                <a:effectLst/>
              </a:rPr>
              <a:t>ряды а, </a:t>
            </a:r>
            <a:r>
              <a:rPr lang="en" sz="2400" b="0" i="0" dirty="0">
                <a:solidFill>
                  <a:srgbClr val="323232"/>
                </a:solidFill>
                <a:effectLst/>
              </a:rPr>
              <a:t>c, d, e, f, </a:t>
            </a:r>
            <a:r>
              <a:rPr lang="en" sz="2400" b="0" i="0" dirty="0" err="1">
                <a:solidFill>
                  <a:srgbClr val="323232"/>
                </a:solidFill>
                <a:effectLst/>
              </a:rPr>
              <a:t>i</a:t>
            </a:r>
            <a:r>
              <a:rPr lang="en" sz="2400" b="0" i="0" dirty="0">
                <a:solidFill>
                  <a:srgbClr val="323232"/>
                </a:solidFill>
                <a:effectLst/>
              </a:rPr>
              <a:t> </a:t>
            </a:r>
            <a:r>
              <a:rPr lang="ru-RU" sz="2400" b="0" i="0" dirty="0">
                <a:solidFill>
                  <a:srgbClr val="323232"/>
                </a:solidFill>
                <a:effectLst/>
              </a:rPr>
              <a:t>не стационарны, поскольку они имеют тренд;</a:t>
            </a:r>
          </a:p>
          <a:p>
            <a:pPr algn="l">
              <a:lnSpc>
                <a:spcPts val="1755"/>
              </a:lnSpc>
              <a:spcBef>
                <a:spcPts val="18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ru-RU" sz="2400" b="0" i="0" dirty="0">
                <a:solidFill>
                  <a:srgbClr val="323232"/>
                </a:solidFill>
                <a:effectLst/>
              </a:rPr>
              <a:t>ряд </a:t>
            </a:r>
            <a:r>
              <a:rPr lang="en" sz="2400" b="0" i="0" dirty="0">
                <a:solidFill>
                  <a:srgbClr val="323232"/>
                </a:solidFill>
                <a:effectLst/>
              </a:rPr>
              <a:t>b </a:t>
            </a:r>
            <a:r>
              <a:rPr lang="ru-RU" sz="2400" b="0" i="0" dirty="0">
                <a:solidFill>
                  <a:srgbClr val="323232"/>
                </a:solidFill>
                <a:effectLst/>
              </a:rPr>
              <a:t>скорее всего стационарный, имеется выброс;</a:t>
            </a:r>
          </a:p>
          <a:p>
            <a:pPr algn="l">
              <a:lnSpc>
                <a:spcPts val="1755"/>
              </a:lnSpc>
              <a:spcBef>
                <a:spcPts val="18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ru-RU" sz="2400" b="0" i="0" dirty="0">
                <a:solidFill>
                  <a:srgbClr val="323232"/>
                </a:solidFill>
                <a:effectLst/>
              </a:rPr>
              <a:t>ряды </a:t>
            </a:r>
            <a:r>
              <a:rPr lang="en" sz="2400" b="0" i="0" dirty="0">
                <a:solidFill>
                  <a:srgbClr val="323232"/>
                </a:solidFill>
                <a:effectLst/>
              </a:rPr>
              <a:t>d, g, h, </a:t>
            </a:r>
            <a:r>
              <a:rPr lang="en" sz="2400" b="0" i="0" dirty="0" err="1">
                <a:solidFill>
                  <a:srgbClr val="323232"/>
                </a:solidFill>
                <a:effectLst/>
              </a:rPr>
              <a:t>i</a:t>
            </a:r>
            <a:r>
              <a:rPr lang="en" sz="2400" b="0" i="0" dirty="0">
                <a:solidFill>
                  <a:srgbClr val="323232"/>
                </a:solidFill>
                <a:effectLst/>
              </a:rPr>
              <a:t> </a:t>
            </a:r>
            <a:r>
              <a:rPr lang="ru-RU" sz="2400" b="0" i="0" dirty="0">
                <a:solidFill>
                  <a:srgbClr val="323232"/>
                </a:solidFill>
                <a:effectLst/>
              </a:rPr>
              <a:t>не стационарны, потому что имеют сезонность.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3BFB870-F0D3-4BE0-3CEC-865570E80239}"/>
              </a:ext>
            </a:extLst>
          </p:cNvPr>
          <p:cNvSpPr txBox="1"/>
          <p:nvPr/>
        </p:nvSpPr>
        <p:spPr>
          <a:xfrm>
            <a:off x="263236" y="6492875"/>
            <a:ext cx="6096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400" dirty="0" err="1"/>
              <a:t>https</a:t>
            </a:r>
            <a:r>
              <a:rPr lang="ru-RU" sz="1400" dirty="0"/>
              <a:t>://</a:t>
            </a:r>
            <a:r>
              <a:rPr lang="ru-RU" sz="1400" dirty="0" err="1"/>
              <a:t>education.yandex.ru</a:t>
            </a:r>
            <a:r>
              <a:rPr lang="ru-RU" sz="1400" dirty="0"/>
              <a:t>/</a:t>
            </a:r>
            <a:r>
              <a:rPr lang="ru-RU" sz="1400" dirty="0" err="1"/>
              <a:t>handbook</a:t>
            </a:r>
            <a:r>
              <a:rPr lang="ru-RU" sz="1400" dirty="0"/>
              <a:t>/</a:t>
            </a:r>
            <a:r>
              <a:rPr lang="ru-RU" sz="1400" dirty="0" err="1"/>
              <a:t>ml</a:t>
            </a:r>
            <a:r>
              <a:rPr lang="ru-RU" sz="1400" dirty="0"/>
              <a:t>/</a:t>
            </a:r>
            <a:r>
              <a:rPr lang="ru-RU" sz="1400" dirty="0" err="1"/>
              <a:t>article</a:t>
            </a:r>
            <a:r>
              <a:rPr lang="ru-RU" sz="1400" dirty="0"/>
              <a:t>/</a:t>
            </a:r>
            <a:r>
              <a:rPr lang="ru-RU" sz="1400" dirty="0" err="1"/>
              <a:t>analitika-vremennyh-ryadov</a:t>
            </a:r>
            <a:endParaRPr lang="ru-RU" sz="1400" dirty="0"/>
          </a:p>
        </p:txBody>
      </p:sp>
    </p:spTree>
    <p:extLst>
      <p:ext uri="{BB962C8B-B14F-4D97-AF65-F5344CB8AC3E}">
        <p14:creationId xmlns:p14="http://schemas.microsoft.com/office/powerpoint/2010/main" val="12959180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5A8996F-4EBF-4A42-B1B0-6C20D2DFE1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889935"/>
          </a:xfrm>
        </p:spPr>
        <p:txBody>
          <a:bodyPr/>
          <a:lstStyle/>
          <a:p>
            <a:pPr algn="ctr"/>
            <a:r>
              <a:rPr lang="ru-RU" b="1" dirty="0"/>
              <a:t>Анализ стационарности</a:t>
            </a:r>
            <a:endParaRPr lang="en-US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AE5F075-BD33-4A64-9615-916178391B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0" y="1242922"/>
            <a:ext cx="9614647" cy="254187"/>
          </a:xfrm>
        </p:spPr>
        <p:txBody>
          <a:bodyPr>
            <a:normAutofit fontScale="85000" lnSpcReduction="20000"/>
          </a:bodyPr>
          <a:lstStyle/>
          <a:p>
            <a:r>
              <a:rPr lang="ru-RU" sz="1600" dirty="0"/>
              <a:t>Пример нестационарности линии тренда</a:t>
            </a:r>
            <a:endParaRPr lang="en-US" sz="1600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EEE1B8AB-F6A2-B209-F59C-484D26A949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15</a:t>
            </a:fld>
            <a:endParaRPr lang="en-US"/>
          </a:p>
        </p:txBody>
      </p:sp>
      <p:pic>
        <p:nvPicPr>
          <p:cNvPr id="9218" name="Picture 2" descr="image.png">
            <a:extLst>
              <a:ext uri="{FF2B5EF4-FFF2-40B4-BE49-F238E27FC236}">
                <a16:creationId xmlns:a16="http://schemas.microsoft.com/office/drawing/2014/main" id="{052CE546-38C8-4545-9CE9-3131E75606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05395" y="1414418"/>
            <a:ext cx="4705351" cy="25336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Объект 2">
            <a:extLst>
              <a:ext uri="{FF2B5EF4-FFF2-40B4-BE49-F238E27FC236}">
                <a16:creationId xmlns:a16="http://schemas.microsoft.com/office/drawing/2014/main" id="{45038227-696C-41D4-9A08-38060580E5A9}"/>
              </a:ext>
            </a:extLst>
          </p:cNvPr>
          <p:cNvSpPr txBox="1">
            <a:spLocks/>
          </p:cNvSpPr>
          <p:nvPr/>
        </p:nvSpPr>
        <p:spPr>
          <a:xfrm>
            <a:off x="5086672" y="1242922"/>
            <a:ext cx="5790557" cy="298729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1600" dirty="0"/>
              <a:t>Пример сезонной нестационарности (в смысле дисперсии)</a:t>
            </a:r>
            <a:endParaRPr lang="en-US" sz="1600" dirty="0"/>
          </a:p>
        </p:txBody>
      </p:sp>
      <p:pic>
        <p:nvPicPr>
          <p:cNvPr id="9220" name="Picture 4" descr="image.png">
            <a:extLst>
              <a:ext uri="{FF2B5EF4-FFF2-40B4-BE49-F238E27FC236}">
                <a16:creationId xmlns:a16="http://schemas.microsoft.com/office/drawing/2014/main" id="{128D129D-DCD4-4354-8157-9D2680DA58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53646" y="1605040"/>
            <a:ext cx="3876675" cy="2124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Объект 2">
            <a:extLst>
              <a:ext uri="{FF2B5EF4-FFF2-40B4-BE49-F238E27FC236}">
                <a16:creationId xmlns:a16="http://schemas.microsoft.com/office/drawing/2014/main" id="{7226A53E-F261-4312-BAF5-E1890408B123}"/>
              </a:ext>
            </a:extLst>
          </p:cNvPr>
          <p:cNvSpPr txBox="1">
            <a:spLocks/>
          </p:cNvSpPr>
          <p:nvPr/>
        </p:nvSpPr>
        <p:spPr>
          <a:xfrm>
            <a:off x="1524000" y="3820835"/>
            <a:ext cx="9480176" cy="415832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/>
              <a:t>Пример сезонной нестационарности (в смысле периода сезонности)</a:t>
            </a:r>
            <a:endParaRPr lang="en-US" sz="2000" dirty="0"/>
          </a:p>
        </p:txBody>
      </p:sp>
      <p:pic>
        <p:nvPicPr>
          <p:cNvPr id="9222" name="Picture 6" descr="image.png">
            <a:extLst>
              <a:ext uri="{FF2B5EF4-FFF2-40B4-BE49-F238E27FC236}">
                <a16:creationId xmlns:a16="http://schemas.microsoft.com/office/drawing/2014/main" id="{C99BD1AB-58BB-4B8A-925E-27D840368B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61791" y="4281209"/>
            <a:ext cx="5391151" cy="2371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595201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4F537B0-7966-4E39-93FF-9C938D867B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05857" y="204181"/>
            <a:ext cx="9081887" cy="701675"/>
          </a:xfrm>
        </p:spPr>
        <p:txBody>
          <a:bodyPr>
            <a:normAutofit/>
          </a:bodyPr>
          <a:lstStyle/>
          <a:p>
            <a:r>
              <a:rPr lang="ru-RU" dirty="0"/>
              <a:t>Белый Гауссов шум</a:t>
            </a:r>
            <a:endParaRPr lang="en-US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8D042F3-0F09-4E1C-8D08-588BCFBDDF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8545" y="905855"/>
            <a:ext cx="11693237" cy="2348974"/>
          </a:xfrm>
        </p:spPr>
        <p:txBody>
          <a:bodyPr>
            <a:normAutofit fontScale="70000" lnSpcReduction="20000"/>
          </a:bodyPr>
          <a:lstStyle/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ru-RU" dirty="0"/>
              <a:t>Одним из наиболее важных случаев стационарного ВР является стационарность шума. 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ru-RU" dirty="0"/>
              <a:t>Шум стационарности с независимыми выборками во времени (с автокорреляцией 0) называется шумом белого гаусса (WGN). 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ru-RU" dirty="0"/>
              <a:t>Таким образом, WGN - это ряд с </a:t>
            </a:r>
            <a:br>
              <a:rPr lang="ru-RU" dirty="0"/>
            </a:br>
            <a:r>
              <a:rPr lang="ru-RU" dirty="0"/>
              <a:t>𝑒𝑣 = 0; 𝑣𝑎𝑟 &lt;∞; 𝑐𝑜𝑣 (𝑛) = 𝑠𝑡𝑑⋅𝛿 (𝑘 − 𝑛), </a:t>
            </a:r>
            <a:br>
              <a:rPr lang="ru-RU" dirty="0"/>
            </a:br>
            <a:r>
              <a:rPr lang="ru-RU" dirty="0"/>
              <a:t>где 𝛿 (𝑘 − 𝑛) = 1, если 𝑘 = 𝑛, и 0 в остальных случаях. 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ru-RU" dirty="0"/>
              <a:t>АКФ БГШ будет иметь некоторые ненулевые случайные значения – это эффект ограниченной выборки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endParaRPr lang="en-US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069C633B-7933-0002-AE7E-DFCCA196EC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16</a:t>
            </a:fld>
            <a:endParaRPr lang="en-US"/>
          </a:p>
        </p:txBody>
      </p:sp>
      <p:pic>
        <p:nvPicPr>
          <p:cNvPr id="11268" name="Picture 4" descr="image.png">
            <a:extLst>
              <a:ext uri="{FF2B5EF4-FFF2-40B4-BE49-F238E27FC236}">
                <a16:creationId xmlns:a16="http://schemas.microsoft.com/office/drawing/2014/main" id="{421DC3E5-7CB6-4B47-B931-566FF314F9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32797" y="4104844"/>
            <a:ext cx="2887437" cy="21112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0A7E8075-377F-4827-AB95-E074F6D4F7F7}"/>
              </a:ext>
            </a:extLst>
          </p:cNvPr>
          <p:cNvSpPr/>
          <p:nvPr/>
        </p:nvSpPr>
        <p:spPr>
          <a:xfrm>
            <a:off x="1790701" y="3603172"/>
            <a:ext cx="859971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Пример</a:t>
            </a:r>
            <a:r>
              <a:rPr lang="ru-RU" sz="1600" dirty="0"/>
              <a:t> </a:t>
            </a:r>
            <a:r>
              <a:rPr lang="ru-RU" sz="1600" dirty="0" err="1"/>
              <a:t>wgn</a:t>
            </a:r>
            <a:r>
              <a:rPr lang="ru-RU" sz="1600" dirty="0"/>
              <a:t> - это когда вы выключаете антенну с телевизора и увидеть так называемый «снег» </a:t>
            </a:r>
          </a:p>
        </p:txBody>
      </p:sp>
      <p:pic>
        <p:nvPicPr>
          <p:cNvPr id="11270" name="Picture 6" descr="image.png">
            <a:extLst>
              <a:ext uri="{FF2B5EF4-FFF2-40B4-BE49-F238E27FC236}">
                <a16:creationId xmlns:a16="http://schemas.microsoft.com/office/drawing/2014/main" id="{8635D9C6-FAAA-48AF-B36E-41034DB9A0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0000" y="4170025"/>
            <a:ext cx="5264746" cy="21112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FDA6652-22B8-97B5-C1CF-515D1A7E07A0}"/>
              </a:ext>
            </a:extLst>
          </p:cNvPr>
          <p:cNvSpPr txBox="1"/>
          <p:nvPr/>
        </p:nvSpPr>
        <p:spPr>
          <a:xfrm>
            <a:off x="1705857" y="3117262"/>
            <a:ext cx="9397573" cy="4025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lnSpc>
                <a:spcPct val="120000"/>
              </a:lnSpc>
            </a:pPr>
            <a:r>
              <a:rPr lang="ru-RU" dirty="0"/>
              <a:t>Обратите внимание, что дисперсия также может быть названа мощностью шума.</a:t>
            </a:r>
          </a:p>
        </p:txBody>
      </p:sp>
      <p:pic>
        <p:nvPicPr>
          <p:cNvPr id="6146" name="Picture 2">
            <a:extLst>
              <a:ext uri="{FF2B5EF4-FFF2-40B4-BE49-F238E27FC236}">
                <a16:creationId xmlns:a16="http://schemas.microsoft.com/office/drawing/2014/main" id="{94955585-ABAB-C413-AECE-CABA2C5077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25180" y="3972504"/>
            <a:ext cx="3726820" cy="23489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9060706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67D6645-D83B-4FCE-A2EB-4C47F16229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1496" y="384102"/>
            <a:ext cx="9013371" cy="885002"/>
          </a:xfrm>
        </p:spPr>
        <p:txBody>
          <a:bodyPr>
            <a:noAutofit/>
          </a:bodyPr>
          <a:lstStyle/>
          <a:p>
            <a:pPr algn="ctr"/>
            <a:r>
              <a:rPr lang="ru-RU" sz="3600" b="1" dirty="0"/>
              <a:t>Преобразования нестационарных </a:t>
            </a:r>
            <a:r>
              <a:rPr lang="en-US" sz="3600" b="1" dirty="0"/>
              <a:t/>
            </a:r>
            <a:br>
              <a:rPr lang="en-US" sz="3600" b="1" dirty="0"/>
            </a:br>
            <a:r>
              <a:rPr lang="ru-RU" sz="3600" b="1" dirty="0"/>
              <a:t>временных рядов</a:t>
            </a:r>
            <a:endParaRPr lang="en-US" sz="3600" b="1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0C5E1D3-FBD7-4B7D-96DC-57F6A3BF3B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1381141"/>
            <a:ext cx="11671300" cy="5340334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110000"/>
              </a:lnSpc>
            </a:pPr>
            <a:r>
              <a:rPr lang="ru-RU" dirty="0"/>
              <a:t>На самом деле почти все временные ряды нестационарны (в той или иной степени). </a:t>
            </a:r>
          </a:p>
          <a:p>
            <a:pPr lvl="1">
              <a:lnSpc>
                <a:spcPct val="110000"/>
              </a:lnSpc>
            </a:pPr>
            <a:r>
              <a:rPr lang="ru-RU" dirty="0"/>
              <a:t>Однако, в зависимости от требований к точности в некоторых случаях мы можем сделать допущение, что ВР является стационарным для нашей задачи если он удовлетворяет каким либо нашим условиям.</a:t>
            </a:r>
          </a:p>
          <a:p>
            <a:pPr lvl="1">
              <a:lnSpc>
                <a:spcPct val="110000"/>
              </a:lnSpc>
            </a:pPr>
            <a:r>
              <a:rPr lang="ru-RU" dirty="0"/>
              <a:t>Нестационарные ВР могут содержать ложные корреляции (тренда, сезонность, аномалии)</a:t>
            </a:r>
          </a:p>
          <a:p>
            <a:pPr>
              <a:lnSpc>
                <a:spcPct val="110000"/>
              </a:lnSpc>
            </a:pPr>
            <a:endParaRPr lang="ru-RU" dirty="0"/>
          </a:p>
          <a:p>
            <a:pPr>
              <a:lnSpc>
                <a:spcPct val="110000"/>
              </a:lnSpc>
            </a:pPr>
            <a:r>
              <a:rPr lang="ru-RU" dirty="0"/>
              <a:t>Ряд можно проверить на стационарность визуально (напр. Резкий спад АКФ)</a:t>
            </a:r>
          </a:p>
          <a:p>
            <a:pPr>
              <a:lnSpc>
                <a:spcPct val="110000"/>
              </a:lnSpc>
            </a:pPr>
            <a:r>
              <a:rPr lang="ru-RU" dirty="0"/>
              <a:t>Ряд можно проверить строго на </a:t>
            </a:r>
            <a:r>
              <a:rPr lang="ru-RU" dirty="0" err="1"/>
              <a:t>станционарность</a:t>
            </a:r>
            <a:r>
              <a:rPr lang="ru-RU" dirty="0"/>
              <a:t> с помощью различных статистических критериев. Наиболее популярны следующие критерии:</a:t>
            </a:r>
          </a:p>
          <a:p>
            <a:pPr lvl="1">
              <a:lnSpc>
                <a:spcPct val="110000"/>
              </a:lnSpc>
            </a:pPr>
            <a:r>
              <a:rPr lang="ru-RU" dirty="0"/>
              <a:t>критерий </a:t>
            </a:r>
            <a:r>
              <a:rPr lang="en" dirty="0"/>
              <a:t>KPSS (Kwiatkowski–Phillips–Schmidt–Shin): </a:t>
            </a:r>
            <a:r>
              <a:rPr lang="ru-RU" dirty="0"/>
              <a:t>если </a:t>
            </a:r>
            <a:r>
              <a:rPr lang="en" dirty="0"/>
              <a:t>p-value ⩽0.05, </a:t>
            </a:r>
            <a:r>
              <a:rPr lang="ru-RU" dirty="0"/>
              <a:t>то отвергаем стационарность;</a:t>
            </a:r>
          </a:p>
          <a:p>
            <a:pPr lvl="1">
              <a:lnSpc>
                <a:spcPct val="110000"/>
              </a:lnSpc>
            </a:pPr>
            <a:r>
              <a:rPr lang="ru-RU" dirty="0"/>
              <a:t>критерий Дики-Фуллера: если </a:t>
            </a:r>
            <a:r>
              <a:rPr lang="en" dirty="0"/>
              <a:t>p-value ⩽0.05, </a:t>
            </a:r>
            <a:r>
              <a:rPr lang="ru-RU" dirty="0"/>
              <a:t>то отвергаем </a:t>
            </a:r>
            <a:r>
              <a:rPr lang="ru-RU" b="1" dirty="0" err="1"/>
              <a:t>НЕ</a:t>
            </a:r>
            <a:r>
              <a:rPr lang="ru-RU" dirty="0" err="1"/>
              <a:t>стационарность</a:t>
            </a:r>
            <a:r>
              <a:rPr lang="ru-RU" dirty="0"/>
              <a:t>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9492D756-4C63-429B-9DFF-16F0D57FDD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628727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67D6645-D83B-4FCE-A2EB-4C47F16229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1496" y="384102"/>
            <a:ext cx="9013371" cy="885002"/>
          </a:xfrm>
        </p:spPr>
        <p:txBody>
          <a:bodyPr>
            <a:noAutofit/>
          </a:bodyPr>
          <a:lstStyle/>
          <a:p>
            <a:pPr algn="ctr"/>
            <a:r>
              <a:rPr lang="ru-RU" sz="3600" b="1" dirty="0"/>
              <a:t>Преобразования нестационарных </a:t>
            </a:r>
            <a:r>
              <a:rPr lang="en-US" sz="3600" b="1" dirty="0"/>
              <a:t/>
            </a:r>
            <a:br>
              <a:rPr lang="en-US" sz="3600" b="1" dirty="0"/>
            </a:br>
            <a:r>
              <a:rPr lang="ru-RU" sz="3600" b="1" dirty="0"/>
              <a:t>временных рядов</a:t>
            </a:r>
            <a:endParaRPr lang="en-US" sz="3600" b="1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0C5E1D3-FBD7-4B7D-96DC-57F6A3BF3B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6740" y="1563703"/>
            <a:ext cx="7148245" cy="4975209"/>
          </a:xfrm>
        </p:spPr>
        <p:txBody>
          <a:bodyPr>
            <a:normAutofit lnSpcReduction="10000"/>
          </a:bodyPr>
          <a:lstStyle/>
          <a:p>
            <a:pPr marL="0" indent="0">
              <a:lnSpc>
                <a:spcPct val="100000"/>
              </a:lnSpc>
              <a:spcBef>
                <a:spcPts val="1200"/>
              </a:spcBef>
              <a:buNone/>
            </a:pPr>
            <a:r>
              <a:rPr lang="ru-RU" sz="2200" dirty="0"/>
              <a:t>Можно ввести несколько градаций </a:t>
            </a:r>
            <a:r>
              <a:rPr lang="ru-RU" sz="2200" dirty="0" err="1"/>
              <a:t>нестационарности</a:t>
            </a:r>
            <a:r>
              <a:rPr lang="ru-RU" sz="2200" dirty="0"/>
              <a:t> ВР:</a:t>
            </a:r>
          </a:p>
          <a:p>
            <a:pPr marL="0" indent="0">
              <a:lnSpc>
                <a:spcPct val="100000"/>
              </a:lnSpc>
              <a:spcBef>
                <a:spcPts val="1200"/>
              </a:spcBef>
              <a:buNone/>
            </a:pPr>
            <a:r>
              <a:rPr lang="ru-RU" sz="2200" dirty="0"/>
              <a:t>Сильная стационарность</a:t>
            </a:r>
          </a:p>
          <a:p>
            <a:pPr marL="0" indent="0">
              <a:lnSpc>
                <a:spcPct val="100000"/>
              </a:lnSpc>
              <a:spcBef>
                <a:spcPts val="1200"/>
              </a:spcBef>
              <a:buNone/>
            </a:pPr>
            <a:r>
              <a:rPr lang="ru-RU" sz="2200" dirty="0"/>
              <a:t>Слабая стационарность (2 порядка)</a:t>
            </a:r>
          </a:p>
          <a:p>
            <a:pPr marL="0" indent="0">
              <a:lnSpc>
                <a:spcPct val="100000"/>
              </a:lnSpc>
              <a:spcBef>
                <a:spcPts val="1200"/>
              </a:spcBef>
              <a:buNone/>
            </a:pPr>
            <a:r>
              <a:rPr lang="en-US" sz="2200" dirty="0"/>
              <a:t>DS-</a:t>
            </a:r>
            <a:r>
              <a:rPr lang="ru-RU" sz="2200" dirty="0"/>
              <a:t>ряд разностно-стационарный ВР</a:t>
            </a:r>
          </a:p>
          <a:p>
            <a:pPr marL="0" indent="0">
              <a:lnSpc>
                <a:spcPct val="100000"/>
              </a:lnSpc>
              <a:spcBef>
                <a:spcPts val="1200"/>
              </a:spcBef>
              <a:buNone/>
            </a:pPr>
            <a:r>
              <a:rPr lang="en-US" sz="2200" dirty="0"/>
              <a:t>TS-</a:t>
            </a:r>
            <a:r>
              <a:rPr lang="ru-RU" sz="2200" dirty="0"/>
              <a:t>ряд</a:t>
            </a:r>
            <a:r>
              <a:rPr lang="en-US" sz="2200" dirty="0"/>
              <a:t> – </a:t>
            </a:r>
            <a:r>
              <a:rPr lang="ru-RU" sz="2200" dirty="0"/>
              <a:t>сводится к стационарному путем удаления тренда и\или сезонности</a:t>
            </a:r>
          </a:p>
          <a:p>
            <a:pPr marL="0" indent="0">
              <a:lnSpc>
                <a:spcPct val="100000"/>
              </a:lnSpc>
              <a:spcBef>
                <a:spcPts val="1200"/>
              </a:spcBef>
              <a:buNone/>
            </a:pPr>
            <a:r>
              <a:rPr lang="ru-RU" sz="2200" dirty="0" err="1"/>
              <a:t>Гетеросекдостичный</a:t>
            </a:r>
            <a:r>
              <a:rPr lang="ru-RU" sz="2200" dirty="0"/>
              <a:t> ВР – может сводится к стационарному путем логарифмирования</a:t>
            </a:r>
            <a:r>
              <a:rPr lang="en-US" sz="2200" dirty="0"/>
              <a:t> </a:t>
            </a:r>
            <a:r>
              <a:rPr lang="ru-RU" sz="2200" dirty="0"/>
              <a:t>(степенного преобразования)</a:t>
            </a:r>
          </a:p>
          <a:p>
            <a:pPr marL="0" indent="0">
              <a:lnSpc>
                <a:spcPct val="100000"/>
              </a:lnSpc>
              <a:spcBef>
                <a:spcPts val="1200"/>
              </a:spcBef>
              <a:buNone/>
            </a:pPr>
            <a:r>
              <a:rPr lang="ru-RU" sz="2200" dirty="0"/>
              <a:t>Регулярный ВР – нестационарный ВР, имеющий явные паттерны поведения</a:t>
            </a:r>
          </a:p>
          <a:p>
            <a:pPr marL="0" indent="0">
              <a:lnSpc>
                <a:spcPct val="100000"/>
              </a:lnSpc>
              <a:spcBef>
                <a:spcPts val="1200"/>
              </a:spcBef>
              <a:buNone/>
            </a:pPr>
            <a:r>
              <a:rPr lang="ru-RU" sz="2200" dirty="0" err="1"/>
              <a:t>Неформализуемый</a:t>
            </a:r>
            <a:r>
              <a:rPr lang="ru-RU" sz="2200" dirty="0"/>
              <a:t> ВР – паттерны поведения не явны</a:t>
            </a:r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endParaRPr lang="ru-RU" dirty="0"/>
          </a:p>
          <a:p>
            <a:endParaRPr lang="en-US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9492D756-4C63-429B-9DFF-16F0D57FDD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18</a:t>
            </a:fld>
            <a:endParaRPr lang="en-US"/>
          </a:p>
        </p:txBody>
      </p:sp>
      <p:cxnSp>
        <p:nvCxnSpPr>
          <p:cNvPr id="6" name="Прямая со стрелкой 5"/>
          <p:cNvCxnSpPr/>
          <p:nvPr/>
        </p:nvCxnSpPr>
        <p:spPr>
          <a:xfrm>
            <a:off x="268941" y="1552175"/>
            <a:ext cx="30736" cy="474104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AutoShape 2" descr="https://miro.medium.com/v2/resize:fit:875/1*aRHZEc1hxOXYLHDnBVaKdA.pn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1707154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5C9BAA-6E94-D4B8-B3C8-2821CABDCF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18ABA1A-E0BD-E207-CE58-7190703383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3346" y="131535"/>
            <a:ext cx="11346872" cy="662781"/>
          </a:xfrm>
        </p:spPr>
        <p:txBody>
          <a:bodyPr>
            <a:normAutofit/>
          </a:bodyPr>
          <a:lstStyle/>
          <a:p>
            <a:pPr algn="ctr"/>
            <a:r>
              <a:rPr lang="ru-RU" sz="3600" b="1" dirty="0"/>
              <a:t>Преобразования нестационарных ВР</a:t>
            </a:r>
            <a:endParaRPr lang="en-US" sz="36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EF64205F-EC7C-FCE6-C3F5-3989C7225E2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01782" y="794316"/>
                <a:ext cx="7640900" cy="5784284"/>
              </a:xfrm>
            </p:spPr>
            <p:txBody>
              <a:bodyPr>
                <a:normAutofit fontScale="92500" lnSpcReduction="20000"/>
              </a:bodyPr>
              <a:lstStyle/>
              <a:p>
                <a:pPr marL="0" indent="0">
                  <a:buNone/>
                </a:pPr>
                <a:r>
                  <a:rPr lang="ru-RU" sz="2200" dirty="0"/>
                  <a:t>Можно ввести модель ВР стационарную по отношению к тренду или сезонности </a:t>
                </a:r>
                <a:r>
                  <a:rPr lang="en-US" sz="2200" dirty="0"/>
                  <a:t>(TS </a:t>
                </a:r>
                <a:r>
                  <a:rPr lang="ru-RU" sz="2200" dirty="0"/>
                  <a:t>модель</a:t>
                </a:r>
                <a:r>
                  <a:rPr lang="en-US" sz="2200" dirty="0"/>
                  <a:t>)</a:t>
                </a:r>
                <a:r>
                  <a:rPr lang="ru-RU" sz="2200" dirty="0"/>
                  <a:t>. То есть: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en-US" sz="2000" dirty="0">
                        <a:latin typeface="Cambria Math" panose="02040503050406030204" pitchFamily="18" charset="0"/>
                      </a:rPr>
                      <m:t>y</m:t>
                    </m:r>
                    <m:d>
                      <m:dPr>
                        <m:ctrlPr>
                          <a:rPr lang="en-US" altLang="en-US" sz="20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en-US" sz="2000" dirty="0">
                            <a:latin typeface="Cambria Math" panose="02040503050406030204" pitchFamily="18" charset="0"/>
                          </a:rPr>
                          <m:t>t</m:t>
                        </m:r>
                      </m:e>
                    </m:d>
                    <m:r>
                      <a:rPr lang="en-US" altLang="en-US" sz="2000" dirty="0">
                        <a:latin typeface="Cambria Math" panose="02040503050406030204" pitchFamily="18" charset="0"/>
                      </a:rPr>
                      <m:t>= </m:t>
                    </m:r>
                    <m:r>
                      <m:rPr>
                        <m:sty m:val="p"/>
                      </m:rPr>
                      <a:rPr lang="en-US" altLang="en-US" sz="2000" dirty="0">
                        <a:latin typeface="Cambria Math" panose="02040503050406030204" pitchFamily="18" charset="0"/>
                      </a:rPr>
                      <m:t>trend</m:t>
                    </m:r>
                    <m:d>
                      <m:dPr>
                        <m:ctrlPr>
                          <a:rPr lang="en-US" altLang="en-US" sz="20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en-US" sz="2000" dirty="0">
                            <a:latin typeface="Cambria Math" panose="02040503050406030204" pitchFamily="18" charset="0"/>
                          </a:rPr>
                          <m:t>t</m:t>
                        </m:r>
                      </m:e>
                    </m:d>
                    <m:r>
                      <a:rPr lang="en-US" altLang="en-US" sz="2000" dirty="0"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US" altLang="en-US" sz="2000" dirty="0">
                        <a:latin typeface="Cambria Math" panose="02040503050406030204" pitchFamily="18" charset="0"/>
                      </a:rPr>
                      <m:t>seasonal</m:t>
                    </m:r>
                    <m:d>
                      <m:dPr>
                        <m:ctrlPr>
                          <a:rPr lang="en-US" altLang="en-US" sz="20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en-US" sz="2000" dirty="0">
                            <a:latin typeface="Cambria Math" panose="02040503050406030204" pitchFamily="18" charset="0"/>
                          </a:rPr>
                          <m:t>t</m:t>
                        </m:r>
                      </m:e>
                    </m:d>
                    <m:r>
                      <a:rPr lang="en-US" altLang="en-US" sz="2000" b="0" i="0" dirty="0" smtClean="0"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US" altLang="en-US" sz="2000" b="0" i="0" dirty="0" smtClean="0">
                        <a:latin typeface="Cambria Math" panose="02040503050406030204" pitchFamily="18" charset="0"/>
                      </a:rPr>
                      <m:t>V</m:t>
                    </m:r>
                    <m:r>
                      <a:rPr lang="en-US" altLang="en-US" sz="2000" dirty="0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altLang="en-US" sz="2000" dirty="0">
                        <a:latin typeface="Cambria Math" panose="02040503050406030204" pitchFamily="18" charset="0"/>
                      </a:rPr>
                      <m:t>t</m:t>
                    </m:r>
                  </m:oMath>
                </a14:m>
                <a:r>
                  <a:rPr lang="en-US" altLang="en-US" sz="2000" dirty="0"/>
                  <a:t>)</a:t>
                </a:r>
                <a:endParaRPr lang="ru-RU" altLang="en-US" sz="2000" dirty="0"/>
              </a:p>
              <a:p>
                <a:pPr marL="319088" indent="0">
                  <a:buNone/>
                </a:pPr>
                <a:r>
                  <a:rPr lang="ru-RU" sz="2200" dirty="0"/>
                  <a:t>где</a:t>
                </a:r>
                <a:r>
                  <a:rPr lang="en-US" altLang="en-US" sz="2400" dirty="0"/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en-US" sz="2400" dirty="0">
                        <a:latin typeface="Cambria Math" panose="02040503050406030204" pitchFamily="18" charset="0"/>
                      </a:rPr>
                      <m:t>V</m:t>
                    </m:r>
                    <m:r>
                      <a:rPr lang="en-US" altLang="en-US" sz="2400" dirty="0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altLang="en-US" sz="2400" dirty="0">
                        <a:latin typeface="Cambria Math" panose="02040503050406030204" pitchFamily="18" charset="0"/>
                      </a:rPr>
                      <m:t>t</m:t>
                    </m:r>
                  </m:oMath>
                </a14:m>
                <a:r>
                  <a:rPr lang="en-US" altLang="en-US" sz="2400" dirty="0"/>
                  <a:t>) – </a:t>
                </a:r>
                <a:r>
                  <a:rPr lang="ru-RU" altLang="en-US" sz="2400" dirty="0"/>
                  <a:t>стационарная часть ВР. </a:t>
                </a:r>
              </a:p>
              <a:p>
                <a:pPr marL="319088" indent="0">
                  <a:buNone/>
                </a:pPr>
                <a:r>
                  <a:rPr lang="ru-RU" altLang="en-US" sz="2400" dirty="0"/>
                  <a:t>Тогда можно убрать тренд и стационарность их вычитанием. </a:t>
                </a:r>
              </a:p>
              <a:p>
                <a:pPr marL="0" indent="0">
                  <a:buNone/>
                </a:pPr>
                <a:r>
                  <a:rPr lang="ru-RU" altLang="en-US" sz="2400" dirty="0"/>
                  <a:t>Или преобразованиями типа </a:t>
                </a:r>
                <a:r>
                  <a:rPr lang="en-US" altLang="en-US" sz="2400" dirty="0"/>
                  <a:t>(DS </a:t>
                </a:r>
                <a:r>
                  <a:rPr lang="ru-RU" altLang="en-US" sz="2400" dirty="0"/>
                  <a:t>модель):</a:t>
                </a:r>
                <a:endParaRPr lang="ru-RU" sz="2200" dirty="0"/>
              </a:p>
              <a:p>
                <a:r>
                  <a:rPr lang="ru-RU" sz="2200" dirty="0"/>
                  <a:t>Дифференцирование ряда (для снятие тренда) </a:t>
                </a:r>
              </a:p>
              <a:p>
                <a:pPr marL="0" indent="0" algn="ctr">
                  <a:buNone/>
                </a:pPr>
                <a:r>
                  <a:rPr lang="ru-RU" sz="2200" dirty="0"/>
                  <a:t> </a:t>
                </a:r>
                <a:r>
                  <a:rPr lang="en" sz="2200" dirty="0" err="1"/>
                  <a:t>y</a:t>
                </a:r>
                <a:r>
                  <a:rPr lang="en" sz="2200" baseline="-25000" dirty="0" err="1"/>
                  <a:t>t</a:t>
                </a:r>
                <a:r>
                  <a:rPr lang="en" sz="2200" dirty="0"/>
                  <a:t>′=y</a:t>
                </a:r>
                <a:r>
                  <a:rPr lang="en" sz="2200" baseline="-25000" dirty="0"/>
                  <a:t>t</a:t>
                </a:r>
                <a:r>
                  <a:rPr lang="en" sz="2200" dirty="0"/>
                  <a:t>−y</a:t>
                </a:r>
                <a:r>
                  <a:rPr lang="en" sz="2200" baseline="-25000" dirty="0"/>
                  <a:t>t−1</a:t>
                </a:r>
                <a:r>
                  <a:rPr lang="en" sz="2200" dirty="0"/>
                  <a:t>. </a:t>
                </a:r>
                <a:endParaRPr lang="ru-RU" sz="2200" dirty="0"/>
              </a:p>
              <a:p>
                <a:pPr marL="0" indent="0">
                  <a:buNone/>
                </a:pPr>
                <a:endParaRPr lang="ru-RU" sz="2200" dirty="0"/>
              </a:p>
              <a:p>
                <a:r>
                  <a:rPr lang="ru-RU" sz="2200" dirty="0"/>
                  <a:t>Сезонное дифференцирование (снятие сезонности)</a:t>
                </a:r>
              </a:p>
              <a:p>
                <a:pPr marL="0" indent="0" algn="ctr">
                  <a:buNone/>
                </a:pPr>
                <a:r>
                  <a:rPr lang="ru-RU" sz="2200" dirty="0"/>
                  <a:t> </a:t>
                </a:r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400" dirty="0">
                            <a:latin typeface="Cambria Math" panose="02040503050406030204" pitchFamily="18" charset="0"/>
                          </a:rPr>
                          <m:t>Δ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400" dirty="0">
                            <a:latin typeface="Cambria Math" panose="02040503050406030204" pitchFamily="18" charset="0"/>
                          </a:rPr>
                          <m:t>s</m:t>
                        </m:r>
                      </m:sub>
                    </m:sSub>
                    <m:sSub>
                      <m:sSubPr>
                        <m:ctrlPr>
                          <a:rPr lang="en-US" sz="2400" i="1" dirty="0" err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 err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" sz="2200" dirty="0"/>
                  <a:t>=</a:t>
                </a:r>
                <a:r>
                  <a:rPr lang="en" sz="2200" i="1" dirty="0" err="1"/>
                  <a:t>y</a:t>
                </a:r>
                <a:r>
                  <a:rPr lang="en" sz="2200" i="1" baseline="-25000" dirty="0" err="1"/>
                  <a:t>t</a:t>
                </a:r>
                <a:r>
                  <a:rPr lang="en" sz="2200" dirty="0"/>
                  <a:t>​−</a:t>
                </a:r>
                <a:r>
                  <a:rPr lang="en" sz="2200" i="1" dirty="0" err="1"/>
                  <a:t>y</a:t>
                </a:r>
                <a:r>
                  <a:rPr lang="en" sz="2200" i="1" baseline="-25000" dirty="0" err="1"/>
                  <a:t>t</a:t>
                </a:r>
                <a:r>
                  <a:rPr lang="en" sz="2200" baseline="-25000" dirty="0"/>
                  <a:t>−</a:t>
                </a:r>
                <a:r>
                  <a:rPr lang="en" sz="2200" i="1" baseline="-25000" dirty="0"/>
                  <a:t>s</a:t>
                </a:r>
                <a:r>
                  <a:rPr lang="en" sz="2200" baseline="-25000" dirty="0"/>
                  <a:t>​</a:t>
                </a:r>
                <a:r>
                  <a:rPr lang="en" sz="2200" dirty="0"/>
                  <a:t>, </a:t>
                </a:r>
                <a:r>
                  <a:rPr lang="ru-RU" sz="2200" dirty="0"/>
                  <a:t/>
                </a:r>
                <a:br>
                  <a:rPr lang="ru-RU" sz="2200" dirty="0"/>
                </a:br>
                <a:endParaRPr lang="ru-RU" sz="2200" dirty="0"/>
              </a:p>
              <a:p>
                <a:pPr marL="0" indent="0" algn="ctr">
                  <a:buNone/>
                </a:pPr>
                <a:r>
                  <a:rPr lang="en" sz="2200" i="1" dirty="0"/>
                  <a:t>s</a:t>
                </a:r>
                <a:r>
                  <a:rPr lang="en" sz="2200" dirty="0"/>
                  <a:t> – </a:t>
                </a:r>
                <a:r>
                  <a:rPr lang="ru-RU" sz="2200" dirty="0"/>
                  <a:t>длина сезона.</a:t>
                </a:r>
              </a:p>
              <a:p>
                <a:pPr marL="0" indent="0">
                  <a:buNone/>
                </a:pPr>
                <a:endParaRPr lang="ru-RU" sz="2200" dirty="0"/>
              </a:p>
              <a:p>
                <a:r>
                  <a:rPr lang="ru-RU" sz="2200" dirty="0"/>
                  <a:t>Преобразования можно применять несколько раз. </a:t>
                </a:r>
              </a:p>
              <a:p>
                <a:r>
                  <a:rPr lang="ru-RU" sz="2200" dirty="0"/>
                  <a:t>Обычно сначала применяют сезонное дифференцирование.</a:t>
                </a:r>
                <a:br>
                  <a:rPr lang="ru-RU" sz="2200" dirty="0"/>
                </a:br>
                <a:endParaRPr lang="en-US" sz="2200" dirty="0"/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EF64205F-EC7C-FCE6-C3F5-3989C7225E2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01782" y="794316"/>
                <a:ext cx="7640900" cy="5784284"/>
              </a:xfrm>
              <a:blipFill>
                <a:blip r:embed="rId2"/>
                <a:stretch>
                  <a:fillRect l="-995" t="-1974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53D23F6C-7410-4C33-A167-CD4C439412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19</a:t>
            </a:fld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23743E2-8C7A-261B-FAA7-DD4F1D0B815C}"/>
              </a:ext>
            </a:extLst>
          </p:cNvPr>
          <p:cNvSpPr txBox="1"/>
          <p:nvPr/>
        </p:nvSpPr>
        <p:spPr>
          <a:xfrm>
            <a:off x="2885208" y="6352143"/>
            <a:ext cx="8077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 err="1"/>
              <a:t>https</a:t>
            </a:r>
            <a:r>
              <a:rPr lang="ru-RU" dirty="0"/>
              <a:t>://</a:t>
            </a:r>
            <a:r>
              <a:rPr lang="ru-RU" dirty="0" err="1"/>
              <a:t>education.yandex.ru</a:t>
            </a:r>
            <a:r>
              <a:rPr lang="ru-RU" dirty="0"/>
              <a:t>/</a:t>
            </a:r>
            <a:r>
              <a:rPr lang="ru-RU" dirty="0" err="1"/>
              <a:t>handbook</a:t>
            </a:r>
            <a:r>
              <a:rPr lang="ru-RU" dirty="0"/>
              <a:t>/</a:t>
            </a:r>
            <a:r>
              <a:rPr lang="ru-RU" dirty="0" err="1"/>
              <a:t>ml</a:t>
            </a:r>
            <a:r>
              <a:rPr lang="ru-RU" dirty="0"/>
              <a:t>/</a:t>
            </a:r>
            <a:r>
              <a:rPr lang="ru-RU" dirty="0" err="1"/>
              <a:t>article</a:t>
            </a:r>
            <a:r>
              <a:rPr lang="ru-RU" dirty="0"/>
              <a:t>/</a:t>
            </a:r>
            <a:r>
              <a:rPr lang="ru-RU" dirty="0" err="1"/>
              <a:t>analitika-vremennyh-ryadov</a:t>
            </a:r>
            <a:endParaRPr lang="ru-RU" dirty="0"/>
          </a:p>
        </p:txBody>
      </p:sp>
      <p:pic>
        <p:nvPicPr>
          <p:cNvPr id="5" name="Picture 4" descr="image.png">
            <a:extLst>
              <a:ext uri="{FF2B5EF4-FFF2-40B4-BE49-F238E27FC236}">
                <a16:creationId xmlns:a16="http://schemas.microsoft.com/office/drawing/2014/main" id="{287B935A-7DEC-7B26-64EF-E7C9757251B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67" b="68104"/>
          <a:stretch>
            <a:fillRect/>
          </a:stretch>
        </p:blipFill>
        <p:spPr bwMode="auto">
          <a:xfrm>
            <a:off x="7925297" y="626007"/>
            <a:ext cx="3737753" cy="19553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4" descr="image.png">
            <a:extLst>
              <a:ext uri="{FF2B5EF4-FFF2-40B4-BE49-F238E27FC236}">
                <a16:creationId xmlns:a16="http://schemas.microsoft.com/office/drawing/2014/main" id="{842AE8AE-5091-CA10-4BC3-9F9B9EA49D1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3671" t="37973" r="3671" b="33202"/>
          <a:stretch>
            <a:fillRect/>
          </a:stretch>
        </p:blipFill>
        <p:spPr bwMode="auto">
          <a:xfrm>
            <a:off x="7808033" y="2581322"/>
            <a:ext cx="3855017" cy="19553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4" descr="image.png">
            <a:extLst>
              <a:ext uri="{FF2B5EF4-FFF2-40B4-BE49-F238E27FC236}">
                <a16:creationId xmlns:a16="http://schemas.microsoft.com/office/drawing/2014/main" id="{3ADD4940-D8B5-C15B-5B54-B156C06B546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" t="71872" r="-9"/>
          <a:stretch>
            <a:fillRect/>
          </a:stretch>
        </p:blipFill>
        <p:spPr bwMode="auto">
          <a:xfrm>
            <a:off x="8007938" y="4536637"/>
            <a:ext cx="3855017" cy="19080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002EFE9-3A0B-19DC-D6A7-BF85FFBFA7F3}"/>
                  </a:ext>
                </a:extLst>
              </p:cNvPr>
              <p:cNvSpPr txBox="1"/>
              <p:nvPr/>
            </p:nvSpPr>
            <p:spPr>
              <a:xfrm>
                <a:off x="8242588" y="3890470"/>
                <a:ext cx="1140402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dirty="0" smtClean="0">
                              <a:latin typeface="Cambria Math" panose="02040503050406030204" pitchFamily="18" charset="0"/>
                            </a:rPr>
                            <m:t>Δ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b="0" i="0" dirty="0" smtClean="0">
                              <a:latin typeface="Cambria Math" panose="02040503050406030204" pitchFamily="18" charset="0"/>
                            </a:rPr>
                            <m:t>s</m:t>
                          </m:r>
                        </m:sub>
                      </m:sSub>
                      <m:sSub>
                        <m:sSubPr>
                          <m:ctrlPr>
                            <a:rPr lang="en-US" i="1" dirty="0" err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 err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i="1" dirty="0" err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002EFE9-3A0B-19DC-D6A7-BF85FFBFA7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42588" y="3890470"/>
                <a:ext cx="1140402" cy="369332"/>
              </a:xfrm>
              <a:prstGeom prst="rect">
                <a:avLst/>
              </a:prstGeom>
              <a:blipFill>
                <a:blip r:embed="rId4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7174579F-E142-AA3B-ECFA-68DF44DC0FFB}"/>
                  </a:ext>
                </a:extLst>
              </p:cNvPr>
              <p:cNvSpPr txBox="1"/>
              <p:nvPr/>
            </p:nvSpPr>
            <p:spPr>
              <a:xfrm>
                <a:off x="7925297" y="5796042"/>
                <a:ext cx="1983429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dirty="0" smtClean="0">
                              <a:latin typeface="Cambria Math" panose="02040503050406030204" pitchFamily="18" charset="0"/>
                            </a:rPr>
                            <m:t>Δ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b="0" i="0" dirty="0" smtClean="0">
                              <a:latin typeface="Cambria Math" panose="02040503050406030204" pitchFamily="18" charset="0"/>
                            </a:rPr>
                            <m:t>s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1800" dirty="0" smtClean="0">
                          <a:latin typeface="Cambria Math" panose="02040503050406030204" pitchFamily="18" charset="0"/>
                        </a:rPr>
                        <m:t>Δ</m:t>
                      </m:r>
                      <m:sSub>
                        <m:sSubPr>
                          <m:ctrlPr>
                            <a:rPr lang="en-US" sz="1800" i="1" dirty="0" err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i="1" dirty="0" err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1800" i="1" dirty="0" err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7174579F-E142-AA3B-ECFA-68DF44DC0F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25297" y="5796042"/>
                <a:ext cx="1983429" cy="369332"/>
              </a:xfrm>
              <a:prstGeom prst="rect">
                <a:avLst/>
              </a:prstGeom>
              <a:blipFill>
                <a:blip r:embed="rId5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7224330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7F65B6-B96E-1E76-3705-2650BC1F79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82E32E8-5EA8-F99F-F926-A6D3A2CE79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609" y="0"/>
            <a:ext cx="10515600" cy="1325563"/>
          </a:xfrm>
        </p:spPr>
        <p:txBody>
          <a:bodyPr/>
          <a:lstStyle/>
          <a:p>
            <a:r>
              <a:rPr lang="ru-RU" b="1" dirty="0" err="1"/>
              <a:t>Гетероскедастичность</a:t>
            </a:r>
            <a:endParaRPr lang="ru-RU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35A25868-226B-96F2-D5CF-B4C1B7318AA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37907" y="995709"/>
                <a:ext cx="11346872" cy="4351339"/>
              </a:xfrm>
            </p:spPr>
            <p:txBody>
              <a:bodyPr/>
              <a:lstStyle/>
              <a:p>
                <a:pPr marL="179384" lvl="1" indent="-179384"/>
                <a:r>
                  <a:rPr lang="ru-RU" dirty="0"/>
                  <a:t>Можно избавиться при помощи Бокса-Кокса или например как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+1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endParaRPr lang="ru-RU" dirty="0"/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35A25868-226B-96F2-D5CF-B4C1B7318AA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37907" y="995709"/>
                <a:ext cx="11346872" cy="4351339"/>
              </a:xfrm>
              <a:blipFill>
                <a:blip r:embed="rId2"/>
                <a:stretch>
                  <a:fillRect l="-67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714AA5B-B022-4081-70C1-DDB7650EE1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20</a:t>
            </a:fld>
            <a:endParaRPr lang="en-US"/>
          </a:p>
        </p:txBody>
      </p:sp>
      <p:pic>
        <p:nvPicPr>
          <p:cNvPr id="1026" name="Picture 2" descr="Временные ряды - презентация онлайн">
            <a:extLst>
              <a:ext uri="{FF2B5EF4-FFF2-40B4-BE49-F238E27FC236}">
                <a16:creationId xmlns:a16="http://schemas.microsoft.com/office/drawing/2014/main" id="{81306493-953A-D497-DA2E-508EFC8F095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120"/>
          <a:stretch/>
        </p:blipFill>
        <p:spPr bwMode="auto">
          <a:xfrm>
            <a:off x="303375" y="2846121"/>
            <a:ext cx="6573280" cy="3785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2" descr="Box-Cox Transformation.. The real-world data is not always… | by Ronak  Chhatbar | Medium">
            <a:extLst>
              <a:ext uri="{FF2B5EF4-FFF2-40B4-BE49-F238E27FC236}">
                <a16:creationId xmlns:a16="http://schemas.microsoft.com/office/drawing/2014/main" id="{4946CB98-F55D-FFFC-BFD3-D30D3C07C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56385" y="1565234"/>
            <a:ext cx="2744047" cy="13099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E219D55-A210-A6C7-AE41-0EE7928EE31F}"/>
              </a:ext>
            </a:extLst>
          </p:cNvPr>
          <p:cNvSpPr txBox="1"/>
          <p:nvPr/>
        </p:nvSpPr>
        <p:spPr>
          <a:xfrm>
            <a:off x="121262" y="1645793"/>
            <a:ext cx="420135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Логарифмические преобразования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Полиномиальные преобразования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Преобразования Бокса-Кокса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Комбинации с другими темами</a:t>
            </a:r>
            <a:endParaRPr lang="en-US" dirty="0"/>
          </a:p>
        </p:txBody>
      </p:sp>
      <p:pic>
        <p:nvPicPr>
          <p:cNvPr id="8" name="Picture 2" descr="ex">
            <a:extLst>
              <a:ext uri="{FF2B5EF4-FFF2-40B4-BE49-F238E27FC236}">
                <a16:creationId xmlns:a16="http://schemas.microsoft.com/office/drawing/2014/main" id="{E67ADA8F-567B-E771-9B76-21F75C70ED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64569" y="1672024"/>
            <a:ext cx="4636846" cy="50494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757BB38-5F7F-B029-5AE5-AB1AB1AF5BC9}"/>
              </a:ext>
            </a:extLst>
          </p:cNvPr>
          <p:cNvSpPr txBox="1"/>
          <p:nvPr/>
        </p:nvSpPr>
        <p:spPr>
          <a:xfrm>
            <a:off x="7288357" y="3531107"/>
            <a:ext cx="9724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dirty="0"/>
              <a:t>y’=ln(</a:t>
            </a:r>
            <a:r>
              <a:rPr lang="en-US" dirty="0"/>
              <a:t>y)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C6041D3B-127A-326E-7788-364AC2699EF5}"/>
                  </a:ext>
                </a:extLst>
              </p:cNvPr>
              <p:cNvSpPr txBox="1"/>
              <p:nvPr/>
            </p:nvSpPr>
            <p:spPr>
              <a:xfrm>
                <a:off x="7774565" y="5185976"/>
                <a:ext cx="234748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" dirty="0"/>
                  <a:t>y’’=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dirty="0">
                        <a:latin typeface="Cambria Math" panose="02040503050406030204" pitchFamily="18" charset="0"/>
                      </a:rPr>
                      <m:t>Δ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" dirty="0"/>
                  <a:t>ln(</a:t>
                </a:r>
                <a:r>
                  <a:rPr lang="en-US" dirty="0"/>
                  <a:t>y)</a:t>
                </a: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C6041D3B-127A-326E-7788-364AC2699E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74565" y="5185976"/>
                <a:ext cx="2347480" cy="369332"/>
              </a:xfrm>
              <a:prstGeom prst="rect">
                <a:avLst/>
              </a:prstGeom>
              <a:blipFill>
                <a:blip r:embed="rId6"/>
                <a:stretch>
                  <a:fillRect l="-2162" t="-6667" b="-23333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498042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95300" y="0"/>
            <a:ext cx="10515600" cy="1325563"/>
          </a:xfrm>
        </p:spPr>
        <p:txBody>
          <a:bodyPr/>
          <a:lstStyle/>
          <a:p>
            <a:r>
              <a:rPr lang="ru-RU" dirty="0"/>
              <a:t>Методы предсказания в курсе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73799" y="4717062"/>
            <a:ext cx="11563350" cy="1924051"/>
          </a:xfrm>
        </p:spPr>
        <p:txBody>
          <a:bodyPr>
            <a:normAutofit/>
          </a:bodyPr>
          <a:lstStyle/>
          <a:p>
            <a:endParaRPr lang="ru-RU" sz="2200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21</a:t>
            </a:fld>
            <a:endParaRPr lang="en-US"/>
          </a:p>
        </p:txBody>
      </p:sp>
      <p:pic>
        <p:nvPicPr>
          <p:cNvPr id="7" name="Picture 2" descr="https://i0.wp.com/semiengineering.com/wp-content/uploads/Fraunhofer_data-augmentation-industrial-AI-fig1.jpg?resize=605%2C155&amp;ssl=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9380" y="1098101"/>
            <a:ext cx="5762625" cy="1476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Прямоугольник 7"/>
          <p:cNvSpPr/>
          <p:nvPr/>
        </p:nvSpPr>
        <p:spPr>
          <a:xfrm>
            <a:off x="2446695" y="4070731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dirty="0"/>
              <a:t>https://semiengineering.com/enhancing-datasets-for-artificial-intelligence-through-model-based-methods/</a:t>
            </a:r>
          </a:p>
        </p:txBody>
      </p:sp>
      <p:sp>
        <p:nvSpPr>
          <p:cNvPr id="9" name="Прямоугольник 8"/>
          <p:cNvSpPr/>
          <p:nvPr/>
        </p:nvSpPr>
        <p:spPr>
          <a:xfrm>
            <a:off x="6517342" y="2389473"/>
            <a:ext cx="3172609" cy="46147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 smtClean="0"/>
              <a:t>Бизнес процесс – </a:t>
            </a:r>
            <a:r>
              <a:rPr lang="en-US" sz="1400" dirty="0" smtClean="0"/>
              <a:t>Prophet, </a:t>
            </a:r>
            <a:r>
              <a:rPr lang="ru-RU" sz="1400" dirty="0" smtClean="0"/>
              <a:t> разложение и процесс</a:t>
            </a:r>
            <a:r>
              <a:rPr lang="en-US" sz="1400" dirty="0" smtClean="0"/>
              <a:t>;</a:t>
            </a:r>
            <a:endParaRPr lang="ru-RU" sz="1400" dirty="0"/>
          </a:p>
        </p:txBody>
      </p:sp>
      <p:sp>
        <p:nvSpPr>
          <p:cNvPr id="10" name="Прямоугольник 9"/>
          <p:cNvSpPr/>
          <p:nvPr/>
        </p:nvSpPr>
        <p:spPr>
          <a:xfrm>
            <a:off x="4030516" y="2775989"/>
            <a:ext cx="3172609" cy="46147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/>
              <a:t>Neural Prophet</a:t>
            </a:r>
            <a:endParaRPr lang="ru-RU" sz="1400" dirty="0"/>
          </a:p>
        </p:txBody>
      </p:sp>
      <p:sp>
        <p:nvSpPr>
          <p:cNvPr id="11" name="Прямоугольник 10"/>
          <p:cNvSpPr/>
          <p:nvPr/>
        </p:nvSpPr>
        <p:spPr>
          <a:xfrm>
            <a:off x="2090621" y="3102525"/>
            <a:ext cx="3172609" cy="46147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/>
              <a:t>Neural Network</a:t>
            </a:r>
            <a:endParaRPr lang="ru-RU" sz="1400" dirty="0"/>
          </a:p>
        </p:txBody>
      </p:sp>
    </p:spTree>
    <p:extLst>
      <p:ext uri="{BB962C8B-B14F-4D97-AF65-F5344CB8AC3E}">
        <p14:creationId xmlns:p14="http://schemas.microsoft.com/office/powerpoint/2010/main" val="12372232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95300" y="0"/>
            <a:ext cx="10515600" cy="1325563"/>
          </a:xfrm>
        </p:spPr>
        <p:txBody>
          <a:bodyPr/>
          <a:lstStyle/>
          <a:p>
            <a:r>
              <a:rPr lang="ru-RU" dirty="0"/>
              <a:t>Методы предсказания в курсе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73799" y="4717062"/>
            <a:ext cx="11563350" cy="1924051"/>
          </a:xfrm>
        </p:spPr>
        <p:txBody>
          <a:bodyPr>
            <a:normAutofit/>
          </a:bodyPr>
          <a:lstStyle/>
          <a:p>
            <a:r>
              <a:rPr lang="ru-RU" sz="2200" dirty="0"/>
              <a:t>Методы всегда выбираются</a:t>
            </a:r>
            <a:r>
              <a:rPr lang="en-US" sz="2200" dirty="0"/>
              <a:t> </a:t>
            </a:r>
            <a:r>
              <a:rPr lang="ru-RU" sz="2200" dirty="0"/>
              <a:t>от простых (слева) к самым сложным.</a:t>
            </a:r>
          </a:p>
          <a:p>
            <a:r>
              <a:rPr lang="ru-RU" sz="2200" dirty="0"/>
              <a:t>Выбор метода зависит от сложности ВР (число и связи компонент, </a:t>
            </a:r>
            <a:r>
              <a:rPr lang="ru-RU" sz="2200" dirty="0" err="1"/>
              <a:t>формализуемость</a:t>
            </a:r>
            <a:r>
              <a:rPr lang="ru-RU" sz="2200" dirty="0"/>
              <a:t> ВР) и требований к предсказанию (горизонт, точность)</a:t>
            </a:r>
          </a:p>
          <a:p>
            <a:r>
              <a:rPr lang="ru-RU" sz="2200" dirty="0"/>
              <a:t>Чем сложнее метод, тем он шире применим, но менее точен/менее устойчив/более склонен к переобучению, а также тем больше данных для обучения необходимо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22</a:t>
            </a:fld>
            <a:endParaRPr lang="en-US"/>
          </a:p>
        </p:txBody>
      </p:sp>
      <p:sp>
        <p:nvSpPr>
          <p:cNvPr id="5" name="Прямоугольник 4"/>
          <p:cNvSpPr/>
          <p:nvPr/>
        </p:nvSpPr>
        <p:spPr>
          <a:xfrm>
            <a:off x="73799" y="6582975"/>
            <a:ext cx="8060551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200" dirty="0"/>
              <a:t>https://fastercapital.com/content/Time-series-analysis-using-nonparametric-techniques--A-Fresh-Perspective.html</a:t>
            </a:r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0649" y="1001486"/>
            <a:ext cx="8024157" cy="3635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97868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15988"/>
          </a:xfrm>
        </p:spPr>
        <p:txBody>
          <a:bodyPr>
            <a:normAutofit fontScale="90000"/>
          </a:bodyPr>
          <a:lstStyle/>
          <a:p>
            <a:r>
              <a:rPr lang="ru-RU" dirty="0"/>
              <a:t>Подходы к предсказанию временных рядов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23</a:t>
            </a:fld>
            <a:endParaRPr lang="en-US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8229" y="1366839"/>
            <a:ext cx="11542743" cy="3404590"/>
          </a:xfrm>
          <a:prstGeom prst="rect">
            <a:avLst/>
          </a:prstGeom>
        </p:spPr>
      </p:pic>
      <p:sp>
        <p:nvSpPr>
          <p:cNvPr id="6" name="Прямоугольник 5"/>
          <p:cNvSpPr/>
          <p:nvPr/>
        </p:nvSpPr>
        <p:spPr>
          <a:xfrm>
            <a:off x="838200" y="4905999"/>
            <a:ext cx="10677525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0000"/>
                </a:solidFill>
                <a:latin typeface="Calibri" panose="020F0502020204030204" pitchFamily="34" charset="0"/>
              </a:rPr>
              <a:t>Encoding (</a:t>
            </a:r>
            <a:r>
              <a:rPr lang="ru-RU" dirty="0">
                <a:solidFill>
                  <a:srgbClr val="000000"/>
                </a:solidFill>
                <a:latin typeface="Calibri" panose="020F0502020204030204" pitchFamily="34" charset="0"/>
              </a:rPr>
              <a:t>кодирование) — это процесс преобразования данных (в том числе категориальных или временных признаков) в числовую форму, удобную для обработки алгоритмами машинного обучения или статистическими методами.</a:t>
            </a:r>
            <a:endParaRPr lang="ru-RU" dirty="0"/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34285" y="5773400"/>
            <a:ext cx="5450702" cy="865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1753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FB6B433-AB20-4BD4-8E77-84B856A5D6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849" y="161366"/>
            <a:ext cx="10515600" cy="806450"/>
          </a:xfrm>
        </p:spPr>
        <p:txBody>
          <a:bodyPr>
            <a:normAutofit/>
          </a:bodyPr>
          <a:lstStyle/>
          <a:p>
            <a:pPr algn="ctr"/>
            <a:r>
              <a:rPr lang="ru-RU" b="1" dirty="0"/>
              <a:t>Наивное предсказание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9CFDC76D-90F0-4FD7-8BA6-954D6D2E6FF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9849" y="771957"/>
                <a:ext cx="11685271" cy="5779450"/>
              </a:xfrm>
            </p:spPr>
            <p:txBody>
              <a:bodyPr>
                <a:normAutofit fontScale="92500" lnSpcReduction="10000"/>
              </a:bodyPr>
              <a:lstStyle/>
              <a:p>
                <a:pPr marL="0" indent="0">
                  <a:lnSpc>
                    <a:spcPct val="120000"/>
                  </a:lnSpc>
                  <a:spcBef>
                    <a:spcPts val="0"/>
                  </a:spcBef>
                  <a:buNone/>
                </a:pPr>
                <a:r>
                  <a:rPr lang="ru-RU" sz="2400" dirty="0" smtClean="0"/>
                  <a:t>Наивное предсказание – это некоторая база, точностью меньше которого любой другой алгоритм не должен обладать.</a:t>
                </a:r>
              </a:p>
              <a:p>
                <a:pPr marL="0" indent="0">
                  <a:lnSpc>
                    <a:spcPct val="120000"/>
                  </a:lnSpc>
                  <a:spcBef>
                    <a:spcPts val="0"/>
                  </a:spcBef>
                  <a:buNone/>
                </a:pPr>
                <a:r>
                  <a:rPr lang="ru-RU" sz="2400" b="1" dirty="0"/>
                  <a:t>Цель наивного </a:t>
                </a:r>
                <a:r>
                  <a:rPr lang="ru-RU" sz="2400" b="1" dirty="0" smtClean="0"/>
                  <a:t>предсказания </a:t>
                </a:r>
                <a:r>
                  <a:rPr lang="ru-RU" sz="2400" dirty="0"/>
                  <a:t>- проверка адекватности более сложных моделей и оценка необходимости сложных моделей, а также поиск проблемных мест в процедуре </a:t>
                </a:r>
                <a:r>
                  <a:rPr lang="ru-RU" sz="2400" dirty="0" smtClean="0"/>
                  <a:t>предсказания</a:t>
                </a:r>
              </a:p>
              <a:p>
                <a:pPr marL="0" indent="0" defTabSz="268288">
                  <a:lnSpc>
                    <a:spcPct val="120000"/>
                  </a:lnSpc>
                  <a:spcBef>
                    <a:spcPts val="0"/>
                  </a:spcBef>
                  <a:buNone/>
                </a:pPr>
                <a:r>
                  <a:rPr lang="ru-RU" sz="2400" dirty="0"/>
                  <a:t>	</a:t>
                </a:r>
                <a:r>
                  <a:rPr lang="ru-RU" sz="2400" dirty="0" smtClean="0"/>
                  <a:t>Наивные методы работают даже если ряд нарушает теорему дискретизации </a:t>
                </a:r>
              </a:p>
              <a:p>
                <a:pPr marL="0" indent="0" defTabSz="268288">
                  <a:lnSpc>
                    <a:spcPct val="120000"/>
                  </a:lnSpc>
                  <a:spcBef>
                    <a:spcPts val="0"/>
                  </a:spcBef>
                  <a:buNone/>
                </a:pPr>
                <a:r>
                  <a:rPr lang="ru-RU" sz="2400" dirty="0"/>
                  <a:t>	</a:t>
                </a:r>
                <a:r>
                  <a:rPr lang="ru-RU" sz="2400" dirty="0" smtClean="0"/>
                  <a:t> не требует 	гипотез о 	модели</a:t>
                </a:r>
              </a:p>
              <a:p>
                <a:pPr marL="0" indent="0" defTabSz="268288">
                  <a:lnSpc>
                    <a:spcPct val="120000"/>
                  </a:lnSpc>
                  <a:spcBef>
                    <a:spcPts val="0"/>
                  </a:spcBef>
                  <a:buNone/>
                </a:pPr>
                <a:r>
                  <a:rPr lang="ru-RU" sz="2400" dirty="0"/>
                  <a:t>	</a:t>
                </a:r>
                <a:r>
                  <a:rPr lang="ru-RU" sz="2400" dirty="0" smtClean="0"/>
                  <a:t>	</a:t>
                </a:r>
                <a:r>
                  <a:rPr lang="ru-RU" sz="2400" b="1" dirty="0" smtClean="0"/>
                  <a:t>Пример</a:t>
                </a:r>
                <a:r>
                  <a:rPr lang="ru-RU" sz="2400" dirty="0" smtClean="0"/>
                  <a:t> </a:t>
                </a:r>
                <a:r>
                  <a:rPr lang="ru-RU" sz="2400" dirty="0"/>
                  <a:t>прогноз продаж новогодних ёлок такой же как и год назад</a:t>
                </a:r>
              </a:p>
              <a:p>
                <a:pPr marL="0" indent="0">
                  <a:lnSpc>
                    <a:spcPct val="120000"/>
                  </a:lnSpc>
                  <a:spcBef>
                    <a:spcPts val="0"/>
                  </a:spcBef>
                  <a:buNone/>
                </a:pPr>
                <a:r>
                  <a:rPr lang="ru-RU" sz="2400" b="1" dirty="0" smtClean="0"/>
                  <a:t>Простое </a:t>
                </a:r>
                <a:r>
                  <a:rPr lang="ru-RU" sz="2400" b="1" dirty="0"/>
                  <a:t>наивное </a:t>
                </a:r>
                <a:r>
                  <a:rPr lang="ru-RU" sz="2400" b="1" dirty="0" smtClean="0"/>
                  <a:t>предсказание</a:t>
                </a:r>
                <a14:m>
                  <m:oMath xmlns:m="http://schemas.openxmlformats.org/officeDocument/2006/math">
                    <m:r>
                      <a:rPr lang="ru-RU" sz="2400" b="1" i="0" dirty="0" smtClean="0">
                        <a:latin typeface="Cambria Math" panose="02040503050406030204" pitchFamily="18" charset="0"/>
                      </a:rPr>
                      <m:t> </m:t>
                    </m:r>
                    <m:acc>
                      <m:accPr>
                        <m:chr m:val="̂"/>
                        <m:ctrlPr>
                          <a:rPr lang="en-US" sz="2400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ru-RU" sz="2400" b="0" i="1" dirty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) = 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).</m:t>
                    </m:r>
                  </m:oMath>
                </a14:m>
                <a:endParaRPr lang="en-US" sz="2400" dirty="0"/>
              </a:p>
              <a:p>
                <a:pPr marL="0" indent="0">
                  <a:lnSpc>
                    <a:spcPct val="120000"/>
                  </a:lnSpc>
                  <a:spcBef>
                    <a:spcPts val="0"/>
                  </a:spcBef>
                  <a:buNone/>
                </a:pPr>
                <a:r>
                  <a:rPr lang="ru-RU" sz="2400" dirty="0" smtClean="0"/>
                  <a:t>	Где </a:t>
                </a:r>
                <a:r>
                  <a:rPr lang="ru-RU" sz="2400" dirty="0"/>
                  <a:t>h -</a:t>
                </a:r>
                <a:r>
                  <a:rPr lang="en-US" sz="2400" dirty="0"/>
                  <a:t> </a:t>
                </a:r>
                <a:r>
                  <a:rPr lang="ru-RU" sz="2400" dirty="0"/>
                  <a:t>горизонт предсказания (число шагов)</a:t>
                </a:r>
              </a:p>
              <a:p>
                <a:pPr marL="0" indent="0">
                  <a:lnSpc>
                    <a:spcPct val="120000"/>
                  </a:lnSpc>
                  <a:spcBef>
                    <a:spcPts val="0"/>
                  </a:spcBef>
                  <a:buNone/>
                </a:pPr>
                <a:r>
                  <a:rPr lang="ru-RU" sz="2400" b="1" dirty="0"/>
                  <a:t>Сезонное наивное </a:t>
                </a:r>
                <a:r>
                  <a:rPr lang="ru-RU" sz="2400" b="1" dirty="0" smtClean="0"/>
                  <a:t>предсказание</a:t>
                </a:r>
                <a14:m>
                  <m:oMath xmlns:m="http://schemas.openxmlformats.org/officeDocument/2006/math">
                    <m:r>
                      <a:rPr lang="ru-RU" sz="2400" b="1" i="0" dirty="0" smtClean="0">
                        <a:latin typeface="Cambria Math" panose="02040503050406030204" pitchFamily="18" charset="0"/>
                      </a:rPr>
                      <m:t> </m:t>
                    </m:r>
                    <m:acc>
                      <m:accPr>
                        <m:chr m:val="̂"/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  <m:r>
                      <a:rPr lang="en-US" sz="2400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ru-RU" sz="2400" i="1" dirty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) = 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ru-RU" sz="2400" i="1" dirty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+1)).</m:t>
                    </m:r>
                  </m:oMath>
                </a14:m>
                <a:endParaRPr lang="en-US" sz="2400" dirty="0"/>
              </a:p>
              <a:p>
                <a:pPr marL="0" indent="0">
                  <a:lnSpc>
                    <a:spcPct val="120000"/>
                  </a:lnSpc>
                  <a:spcBef>
                    <a:spcPts val="0"/>
                  </a:spcBef>
                  <a:buNone/>
                </a:pPr>
                <a:r>
                  <a:rPr lang="ru-RU" sz="2400" dirty="0" smtClean="0"/>
                  <a:t>	Где </a:t>
                </a:r>
                <a:r>
                  <a:rPr lang="en-US" sz="2400" dirty="0"/>
                  <a:t>m</a:t>
                </a:r>
                <a:r>
                  <a:rPr lang="ru-RU" sz="2400" dirty="0"/>
                  <a:t> -</a:t>
                </a:r>
                <a:r>
                  <a:rPr lang="en-US" sz="2400" dirty="0"/>
                  <a:t> </a:t>
                </a:r>
                <a:r>
                  <a:rPr lang="ru-RU" sz="2400" dirty="0"/>
                  <a:t>период сезонности</a:t>
                </a:r>
                <a:r>
                  <a:rPr lang="en-US" sz="2400" dirty="0"/>
                  <a:t>,  </a:t>
                </a:r>
                <a14:m>
                  <m:oMath xmlns:m="http://schemas.openxmlformats.org/officeDocument/2006/math">
                    <m:r>
                      <a:rPr lang="en-US" sz="2400" dirty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ru-RU" sz="2400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dirty="0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begChr m:val="⌊"/>
                        <m:endChr m:val="⌋"/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dirty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2400" dirty="0">
                            <a:latin typeface="Cambria Math" panose="02040503050406030204" pitchFamily="18" charset="0"/>
                          </a:rPr>
                          <m:t>h</m:t>
                        </m:r>
                        <m:r>
                          <a:rPr lang="en-US" sz="2400" dirty="0">
                            <a:latin typeface="Cambria Math" panose="02040503050406030204" pitchFamily="18" charset="0"/>
                          </a:rPr>
                          <m:t>−1)/</m:t>
                        </m:r>
                        <m:r>
                          <a:rPr lang="en-US" sz="2400" dirty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</m:d>
                  </m:oMath>
                </a14:m>
                <a:endParaRPr lang="ru-RU" sz="2400" dirty="0"/>
              </a:p>
              <a:p>
                <a:pPr marL="0" indent="0">
                  <a:lnSpc>
                    <a:spcPct val="120000"/>
                  </a:lnSpc>
                  <a:spcBef>
                    <a:spcPts val="0"/>
                  </a:spcBef>
                  <a:buNone/>
                </a:pPr>
                <a:r>
                  <a:rPr lang="ru-RU" sz="2400" b="1" dirty="0" smtClean="0"/>
                  <a:t>Среднее наивное предсказание/скользящее среднее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  <m:d>
                      <m:dPr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𝑇</m:t>
                        </m:r>
                        <m:r>
                          <a:rPr lang="ru-RU" sz="2400" i="1" dirty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</m:d>
                    <m:r>
                      <a:rPr lang="en-US" sz="2400" i="1" dirty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400" b="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𝑇</m:t>
                        </m:r>
                      </m:den>
                    </m:f>
                    <m:nary>
                      <m:naryPr>
                        <m:chr m:val="∑"/>
                        <m:ctrlPr>
                          <a:rPr lang="en-US" sz="2400" b="0" i="1" dirty="0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=0</m:t>
                        </m:r>
                      </m:sub>
                      <m:sup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𝑇</m:t>
                        </m:r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nary>
                    <m:r>
                      <a:rPr lang="en-US" sz="2400" i="1" dirty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sz="2400" dirty="0"/>
              </a:p>
              <a:p>
                <a:pPr marL="0" indent="0">
                  <a:lnSpc>
                    <a:spcPct val="120000"/>
                  </a:lnSpc>
                  <a:spcBef>
                    <a:spcPts val="0"/>
                  </a:spcBef>
                  <a:buNone/>
                </a:pPr>
                <a:r>
                  <a:rPr lang="ru-RU" sz="2400" dirty="0" smtClean="0"/>
                  <a:t>	Также может быть, например среднее </a:t>
                </a:r>
                <a:r>
                  <a:rPr lang="ru-RU" sz="2400" dirty="0"/>
                  <a:t>сезонное предсказание,</a:t>
                </a:r>
              </a:p>
              <a:p>
                <a:pPr marL="0" indent="0">
                  <a:lnSpc>
                    <a:spcPct val="120000"/>
                  </a:lnSpc>
                  <a:spcBef>
                    <a:spcPts val="0"/>
                  </a:spcBef>
                  <a:buNone/>
                </a:pPr>
                <a:r>
                  <a:rPr lang="ru-RU" sz="2400" b="1" dirty="0"/>
                  <a:t>Предсказание с </a:t>
                </a:r>
                <a:r>
                  <a:rPr lang="ru-RU" sz="2400" b="1" dirty="0" smtClean="0"/>
                  <a:t>дрейфом</a:t>
                </a:r>
                <a14:m>
                  <m:oMath xmlns:m="http://schemas.openxmlformats.org/officeDocument/2006/math">
                    <m:r>
                      <a:rPr lang="en-US" sz="2400" b="1" i="0" dirty="0" smtClean="0">
                        <a:latin typeface="Cambria Math" panose="02040503050406030204" pitchFamily="18" charset="0"/>
                      </a:rPr>
                      <m:t> </m:t>
                    </m:r>
                    <m:acc>
                      <m:accPr>
                        <m:chr m:val="̂"/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  <m:d>
                      <m:dPr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𝑇</m:t>
                        </m:r>
                        <m:r>
                          <a:rPr lang="ru-RU" sz="2400" i="1" dirty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</m:d>
                    <m:r>
                      <a:rPr lang="en-US" sz="2400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𝑦</m:t>
                    </m:r>
                    <m:d>
                      <m:dPr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</m:d>
                    <m:r>
                      <a:rPr lang="ru-RU" sz="2400" b="0" i="1" dirty="0" smtClean="0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sz="2400" b="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h</m:t>
                        </m:r>
                      </m:num>
                      <m:den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𝑇</m:t>
                        </m:r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−1</m:t>
                        </m:r>
                      </m:den>
                    </m:f>
                    <m:nary>
                      <m:naryPr>
                        <m:chr m:val="∑"/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2400" i="1" dirty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𝑇</m:t>
                        </m:r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𝑦</m:t>
                        </m:r>
                        <m:d>
                          <m:dPr>
                            <m:ctrlPr>
                              <a:rPr lang="en-US" sz="24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 dirty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</m:d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−1</m:t>
                        </m:r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nary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𝑦</m:t>
                    </m:r>
                    <m:d>
                      <m:dPr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</m:d>
                    <m:r>
                      <a:rPr lang="ru-RU" sz="2400" i="1" dirty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h</m:t>
                    </m:r>
                    <m:f>
                      <m:fPr>
                        <m:ctrlPr>
                          <a:rPr lang="en-US" sz="2400" b="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𝑦</m:t>
                        </m:r>
                        <m:d>
                          <m:dPr>
                            <m:ctrlPr>
                              <a:rPr lang="en-US" sz="24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 dirty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</m:d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(1)</m:t>
                        </m:r>
                      </m:num>
                      <m:den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𝑇</m:t>
                        </m:r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−1</m:t>
                        </m:r>
                      </m:den>
                    </m:f>
                  </m:oMath>
                </a14:m>
                <a:r>
                  <a:rPr lang="en-US" sz="2400" dirty="0" smtClean="0"/>
                  <a:t> </a:t>
                </a:r>
                <a:endParaRPr lang="ru-RU" sz="2400" dirty="0"/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9CFDC76D-90F0-4FD7-8BA6-954D6D2E6FF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9849" y="771957"/>
                <a:ext cx="11685271" cy="5779450"/>
              </a:xfrm>
              <a:blipFill>
                <a:blip r:embed="rId3"/>
                <a:stretch>
                  <a:fillRect l="-678" t="-52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Прямоугольник 3"/>
          <p:cNvSpPr/>
          <p:nvPr/>
        </p:nvSpPr>
        <p:spPr>
          <a:xfrm>
            <a:off x="455611" y="6410088"/>
            <a:ext cx="110998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http://www.machinelearning.ru/wiki/images/archive/e/ec/20150415134755%21Psad_ts_ets.pdf</a:t>
            </a:r>
          </a:p>
        </p:txBody>
      </p:sp>
    </p:spTree>
    <p:extLst>
      <p:ext uri="{BB962C8B-B14F-4D97-AF65-F5344CB8AC3E}">
        <p14:creationId xmlns:p14="http://schemas.microsoft.com/office/powerpoint/2010/main" val="31231742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FB6B433-AB20-4BD4-8E77-84B856A5D6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849" y="161366"/>
            <a:ext cx="10515600" cy="806450"/>
          </a:xfrm>
        </p:spPr>
        <p:txBody>
          <a:bodyPr>
            <a:normAutofit/>
          </a:bodyPr>
          <a:lstStyle/>
          <a:p>
            <a:pPr algn="ctr"/>
            <a:r>
              <a:rPr lang="ru-RU" b="1" dirty="0"/>
              <a:t>Наивное предсказание </a:t>
            </a:r>
          </a:p>
        </p:txBody>
      </p:sp>
      <p:pic>
        <p:nvPicPr>
          <p:cNvPr id="1026" name="Picture 2" descr="Forecasts of Australian quarterly beer production.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81625" y="967816"/>
            <a:ext cx="6661150" cy="33305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Forecasts based on Google's daily closing stock price in 2015.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137" y="3660085"/>
            <a:ext cx="5779022" cy="28895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Прямоугольник 5"/>
          <p:cNvSpPr/>
          <p:nvPr/>
        </p:nvSpPr>
        <p:spPr>
          <a:xfrm>
            <a:off x="4023072" y="6364930"/>
            <a:ext cx="455464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/>
              <a:t>https://otexts.com/fpp3/simple-methods.html</a:t>
            </a:r>
          </a:p>
        </p:txBody>
      </p:sp>
    </p:spTree>
    <p:extLst>
      <p:ext uri="{BB962C8B-B14F-4D97-AF65-F5344CB8AC3E}">
        <p14:creationId xmlns:p14="http://schemas.microsoft.com/office/powerpoint/2010/main" val="40203683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66BE4D-D647-5D38-F396-4B40B501D7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C77E1D3-BF41-2282-67E2-E30D42BFAA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1257" y="102885"/>
            <a:ext cx="11092543" cy="656153"/>
          </a:xfrm>
        </p:spPr>
        <p:txBody>
          <a:bodyPr>
            <a:normAutofit fontScale="90000"/>
          </a:bodyPr>
          <a:lstStyle/>
          <a:p>
            <a:pPr algn="ctr"/>
            <a:r>
              <a:rPr lang="ru-RU" dirty="0" smtClean="0"/>
              <a:t>Остатки и метрики модели</a:t>
            </a:r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887C5010-63F7-CB9C-F30D-144136F665F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61257" y="729452"/>
                <a:ext cx="11513051" cy="5850534"/>
              </a:xfrm>
            </p:spPr>
            <p:txBody>
              <a:bodyPr>
                <a:noAutofit/>
              </a:bodyPr>
              <a:lstStyle/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buNone/>
                </a:pPr>
                <a:r>
                  <a:rPr lang="ru-RU" sz="2100" dirty="0" smtClean="0"/>
                  <a:t>Можно спрогнозировать</a:t>
                </a:r>
                <a:r>
                  <a:rPr lang="en-US" sz="2100" dirty="0" smtClean="0"/>
                  <a:t> </a:t>
                </a:r>
                <a:r>
                  <a:rPr lang="ru-RU" sz="2100" dirty="0" smtClean="0"/>
                  <a:t>значения ВР, </a:t>
                </a:r>
                <a:r>
                  <a:rPr lang="ru-RU" sz="2100" dirty="0"/>
                  <a:t>используя все предыдущие </a:t>
                </a:r>
                <a:r>
                  <a:rPr lang="ru-RU" sz="2100" dirty="0" smtClean="0"/>
                  <a:t>наблюдения.</a:t>
                </a:r>
                <a:r>
                  <a:rPr lang="en-US" sz="2100" dirty="0" smtClean="0"/>
                  <a:t> </a:t>
                </a:r>
                <a:endParaRPr lang="ru-RU" sz="2100" dirty="0" smtClean="0"/>
              </a:p>
              <a:p>
                <a:pPr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100" dirty="0" smtClean="0"/>
                  <a:t>Е</a:t>
                </a:r>
                <a:r>
                  <a:rPr lang="ru-RU" sz="2100" dirty="0" err="1" smtClean="0"/>
                  <a:t>сли</a:t>
                </a:r>
                <a:r>
                  <a:rPr lang="ru-RU" sz="2100" dirty="0" smtClean="0"/>
                  <a:t> наблюдения содержат необъясненные составляющие (шум), и их число ограничено, то результат прогноза не является истинным. </a:t>
                </a:r>
                <a:endParaRPr lang="en-US" sz="2100" dirty="0" smtClean="0"/>
              </a:p>
              <a:p>
                <a:pPr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ru-RU" sz="2100" dirty="0" smtClean="0"/>
                  <a:t>Остаток </a:t>
                </a:r>
                <a:r>
                  <a:rPr lang="ru-RU" sz="2100" dirty="0"/>
                  <a:t>от предсказания модели на каждом шаге можно оценить как: </a:t>
                </a:r>
                <a:endParaRPr lang="ru-RU" sz="2100" i="1" dirty="0" smtClean="0">
                  <a:latin typeface="Cambria Math" panose="02040503050406030204" pitchFamily="18" charset="0"/>
                </a:endParaRPr>
              </a:p>
              <a:p>
                <a:pPr marL="0" indent="0" algn="ctr">
                  <a:lnSpc>
                    <a:spcPct val="100000"/>
                  </a:lnSpc>
                  <a:spcBef>
                    <a:spcPts val="0"/>
                  </a:spcBef>
                  <a:buNone/>
                </a:pPr>
                <a14:m>
                  <m:oMath xmlns:m="http://schemas.openxmlformats.org/officeDocument/2006/math">
                    <m:r>
                      <a:rPr lang="ru-RU" sz="2100" i="1" dirty="0" smtClean="0">
                        <a:latin typeface="Cambria Math" panose="02040503050406030204" pitchFamily="18" charset="0"/>
                      </a:rPr>
                      <m:t>е</m:t>
                    </m:r>
                    <m:r>
                      <a:rPr lang="ru-RU" sz="2100" b="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100" b="0" i="1" dirty="0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ru-RU" sz="2100" b="0" i="1" dirty="0" smtClean="0">
                        <a:latin typeface="Cambria Math" panose="02040503050406030204" pitchFamily="18" charset="0"/>
                      </a:rPr>
                      <m:t>)</m:t>
                    </m:r>
                    <m:r>
                      <a:rPr lang="ru-RU" sz="2100" i="1" dirty="0">
                        <a:latin typeface="Cambria Math" panose="02040503050406030204" pitchFamily="18" charset="0"/>
                      </a:rPr>
                      <m:t>​=</m:t>
                    </m:r>
                    <m:r>
                      <a:rPr lang="en-US" sz="2100" b="0" i="1" dirty="0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ru-RU" sz="2100" b="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100" b="0" i="1" dirty="0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ru-RU" sz="2100" b="0" i="1" dirty="0" smtClean="0">
                        <a:latin typeface="Cambria Math" panose="02040503050406030204" pitchFamily="18" charset="0"/>
                      </a:rPr>
                      <m:t>)</m:t>
                    </m:r>
                    <m:r>
                      <a:rPr lang="ru-RU" sz="2100" i="1" dirty="0">
                        <a:latin typeface="Cambria Math" panose="02040503050406030204" pitchFamily="18" charset="0"/>
                      </a:rPr>
                      <m:t>​−</m:t>
                    </m:r>
                    <m:acc>
                      <m:accPr>
                        <m:chr m:val="̂"/>
                        <m:ctrlPr>
                          <a:rPr lang="en-US" sz="2100" b="0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100" b="0" i="1" dirty="0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  <m:r>
                      <a:rPr lang="en-US" sz="2100" b="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100" b="0" i="1" dirty="0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sz="2100" b="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ru-RU" sz="2100" dirty="0" smtClean="0"/>
                  <a:t>​  </a:t>
                </a:r>
                <a:endParaRPr lang="ru-RU" sz="2100" dirty="0"/>
              </a:p>
              <a:p>
                <a:pPr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ru-RU" sz="2100" dirty="0"/>
                  <a:t>Ошибку работы модели на всем горизонте </a:t>
                </a:r>
                <a:r>
                  <a:rPr lang="ru-RU" sz="2100" dirty="0" smtClean="0"/>
                  <a:t>предсказаний</a:t>
                </a:r>
                <a:r>
                  <a:rPr lang="en-US" sz="2100" dirty="0" smtClean="0"/>
                  <a:t> </a:t>
                </a:r>
                <a14:m>
                  <m:oMath xmlns:m="http://schemas.openxmlformats.org/officeDocument/2006/math">
                    <m:r>
                      <a:rPr lang="en-US" sz="2100" i="1" dirty="0" smtClean="0">
                        <a:latin typeface="Cambria Math" panose="02040503050406030204" pitchFamily="18" charset="0"/>
                      </a:rPr>
                      <m:t>h</m:t>
                    </m:r>
                  </m:oMath>
                </a14:m>
                <a:r>
                  <a:rPr lang="ru-RU" sz="2100" dirty="0" smtClean="0"/>
                  <a:t>  </a:t>
                </a:r>
                <a:r>
                  <a:rPr lang="ru-RU" sz="2100" dirty="0"/>
                  <a:t>можно оценить как функционал от остатков </a:t>
                </a:r>
                <a:r>
                  <a:rPr lang="ru-RU" sz="2100" dirty="0" smtClean="0"/>
                  <a:t>модели</a:t>
                </a:r>
                <a:r>
                  <a:rPr lang="en-US" sz="2100" dirty="0" smtClean="0"/>
                  <a:t> - </a:t>
                </a:r>
                <a:r>
                  <a:rPr lang="ru-RU" sz="2100" b="1" dirty="0"/>
                  <a:t>метрика прогноза</a:t>
                </a:r>
                <a:endParaRPr lang="ru-RU" sz="2100" dirty="0" smtClean="0"/>
              </a:p>
              <a:p>
                <a:pPr marL="0" indent="0" algn="ctr">
                  <a:lnSpc>
                    <a:spcPct val="100000"/>
                  </a:lnSpc>
                  <a:spcBef>
                    <a:spcPts val="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100" b="0" i="1" dirty="0" smtClean="0">
                          <a:latin typeface="Cambria Math" panose="02040503050406030204" pitchFamily="18" charset="0"/>
                        </a:rPr>
                        <m:t>𝑚𝑒𝑡𝑟𝑖𝑐</m:t>
                      </m:r>
                      <m:r>
                        <a:rPr lang="en-US" sz="21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1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1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100" b="0" i="1" dirty="0" smtClean="0">
                              <a:latin typeface="Cambria Math" panose="02040503050406030204" pitchFamily="18" charset="0"/>
                            </a:rPr>
                            <m:t>h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sz="2100" b="0" i="1" dirty="0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100" b="0" i="1" dirty="0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100" b="0" i="1" dirty="0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2100" b="0" i="1" dirty="0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b>
                        <m:sup>
                          <m:r>
                            <a:rPr lang="en-US" sz="2100" b="0" i="1" dirty="0" smtClean="0">
                              <a:latin typeface="Cambria Math" panose="02040503050406030204" pitchFamily="18" charset="0"/>
                            </a:rPr>
                            <m:t>𝑇</m:t>
                          </m:r>
                          <m:r>
                            <a:rPr lang="en-US" sz="2100" b="0" i="1" dirty="0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100" b="0" i="1" dirty="0" smtClean="0">
                              <a:latin typeface="Cambria Math" panose="02040503050406030204" pitchFamily="18" charset="0"/>
                            </a:rPr>
                            <m:t>h</m:t>
                          </m:r>
                        </m:sup>
                        <m:e>
                          <m:r>
                            <a:rPr lang="en-US" sz="2100" i="1" dirty="0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sz="21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ru-RU" sz="2100" i="1" dirty="0">
                                  <a:latin typeface="Cambria Math" panose="02040503050406030204" pitchFamily="18" charset="0"/>
                                </a:rPr>
                                <m:t>е(</m:t>
                              </m:r>
                              <m:r>
                                <a:rPr lang="en-US" sz="2100" b="0" i="1" dirty="0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ru-RU" sz="2100" i="1" dirty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d>
                        </m:e>
                      </m:nary>
                      <m:r>
                        <a:rPr lang="en-US" sz="2100" b="0" i="0" dirty="0" smtClean="0">
                          <a:latin typeface="Cambria Math" panose="02040503050406030204" pitchFamily="18" charset="0"/>
                        </a:rPr>
                        <m:t>. </m:t>
                      </m:r>
                    </m:oMath>
                  </m:oMathPara>
                </a14:m>
                <a:endParaRPr lang="ru-RU" sz="2100" b="0" dirty="0" smtClean="0"/>
              </a:p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buNone/>
                </a:pPr>
                <a:r>
                  <a:rPr lang="ru-RU" sz="1800" i="1" dirty="0" smtClean="0"/>
                  <a:t>Выбор </a:t>
                </a:r>
                <a:r>
                  <a:rPr lang="ru-RU" sz="1800" i="1" dirty="0"/>
                  <a:t>метрики определяет, как модель оптимизирует прогноз. </a:t>
                </a:r>
                <a:endParaRPr lang="en-US" sz="1800" i="1" dirty="0" smtClean="0"/>
              </a:p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buNone/>
                </a:pPr>
                <a:r>
                  <a:rPr lang="ru-RU" sz="1800" i="1" dirty="0" smtClean="0"/>
                  <a:t>Неправильная </a:t>
                </a:r>
                <a:r>
                  <a:rPr lang="ru-RU" sz="1800" i="1" dirty="0"/>
                  <a:t>метрика = риск неверного решения</a:t>
                </a:r>
                <a:r>
                  <a:rPr lang="ru-RU" sz="1800" i="1" dirty="0" smtClean="0"/>
                  <a:t>.</a:t>
                </a:r>
                <a:endParaRPr lang="ru-RU" sz="2000" i="1" dirty="0" smtClean="0"/>
              </a:p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buNone/>
                </a:pPr>
                <a:r>
                  <a:rPr lang="ru-RU" sz="1800" i="1" dirty="0" smtClean="0"/>
                  <a:t>Задача</a:t>
                </a:r>
                <a:r>
                  <a:rPr lang="ru-RU" sz="1800" i="1" dirty="0"/>
                  <a:t>: Предсказать количество пациентов в отделении скорой помощи.</a:t>
                </a:r>
                <a:endParaRPr lang="ru-RU" sz="1800" dirty="0"/>
              </a:p>
              <a:p>
                <a:pPr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ru-RU" sz="1800" dirty="0"/>
                  <a:t>Модель </a:t>
                </a:r>
                <a:r>
                  <a:rPr lang="en" sz="1800" dirty="0"/>
                  <a:t>A: MAE = </a:t>
                </a:r>
                <a:r>
                  <a:rPr lang="ru-RU" sz="1800" dirty="0"/>
                  <a:t>4</a:t>
                </a:r>
                <a:r>
                  <a:rPr lang="en" sz="1800" dirty="0"/>
                  <a:t> </a:t>
                </a:r>
                <a:r>
                  <a:rPr lang="ru-RU" sz="1800" dirty="0"/>
                  <a:t>пациентов</a:t>
                </a:r>
              </a:p>
              <a:p>
                <a:pPr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ru-RU" sz="1800" dirty="0"/>
                  <a:t>Модель </a:t>
                </a:r>
                <a:r>
                  <a:rPr lang="en" sz="1800" dirty="0"/>
                  <a:t>B: MAE = </a:t>
                </a:r>
                <a:r>
                  <a:rPr lang="ru-RU" sz="1800" dirty="0"/>
                  <a:t>3</a:t>
                </a:r>
                <a:r>
                  <a:rPr lang="en" sz="1800" dirty="0"/>
                  <a:t> </a:t>
                </a:r>
                <a:r>
                  <a:rPr lang="ru-RU" sz="1800" dirty="0"/>
                  <a:t>пациента, но в 10% случаев ошибка &gt; 10 пациентов</a:t>
                </a:r>
              </a:p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buNone/>
                </a:pPr>
                <a:r>
                  <a:rPr lang="ru-RU" sz="1800" dirty="0"/>
                  <a:t>Если перегрузка приводит к отказам в помощи → важнее избегать катастрофических ошибок (выбираем модель В</a:t>
                </a:r>
                <a:r>
                  <a:rPr lang="en" sz="1800" dirty="0"/>
                  <a:t>).</a:t>
                </a:r>
              </a:p>
              <a:p>
                <a:pPr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" sz="1800" dirty="0"/>
                  <a:t>MAE </a:t>
                </a:r>
                <a:r>
                  <a:rPr lang="ru-RU" sz="1800" dirty="0"/>
                  <a:t>не показывает риск экстремальных событий.</a:t>
                </a:r>
              </a:p>
              <a:p>
                <a:pPr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ru-RU" sz="1800" b="1" dirty="0"/>
                  <a:t>Решение:</a:t>
                </a:r>
                <a:r>
                  <a:rPr lang="ru-RU" sz="1800" dirty="0"/>
                  <a:t> Добавляем метрики на максимум ошибки (например, </a:t>
                </a:r>
                <a:r>
                  <a:rPr lang="en" sz="1800" dirty="0"/>
                  <a:t>Worst-case Error).</a:t>
                </a:r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887C5010-63F7-CB9C-F30D-144136F665F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61257" y="729452"/>
                <a:ext cx="11513051" cy="5850534"/>
              </a:xfrm>
              <a:blipFill>
                <a:blip r:embed="rId3"/>
                <a:stretch>
                  <a:fillRect l="-636" t="-730" r="-47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7D9E1D40-11B9-B9C3-FE0E-3DD694985C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26</a:t>
            </a:fld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A5EF28C-A98B-A6AE-9DEE-2F9E5FE143CD}"/>
              </a:ext>
            </a:extLst>
          </p:cNvPr>
          <p:cNvSpPr txBox="1"/>
          <p:nvPr/>
        </p:nvSpPr>
        <p:spPr>
          <a:xfrm>
            <a:off x="126499" y="6523567"/>
            <a:ext cx="11398331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500" dirty="0" err="1"/>
              <a:t>https</a:t>
            </a:r>
            <a:r>
              <a:rPr lang="ru-RU" sz="1500" dirty="0"/>
              <a:t>://</a:t>
            </a:r>
            <a:r>
              <a:rPr lang="ru-RU" sz="1500" dirty="0" err="1"/>
              <a:t>apxml.com</a:t>
            </a:r>
            <a:r>
              <a:rPr lang="ru-RU" sz="1500" dirty="0"/>
              <a:t>/</a:t>
            </a:r>
            <a:r>
              <a:rPr lang="ru-RU" sz="1500" dirty="0" err="1"/>
              <a:t>courses</a:t>
            </a:r>
            <a:r>
              <a:rPr lang="ru-RU" sz="1500" dirty="0"/>
              <a:t>/</a:t>
            </a:r>
            <a:r>
              <a:rPr lang="ru-RU" sz="1500" dirty="0" err="1"/>
              <a:t>time-series-analysis-forecasting</a:t>
            </a:r>
            <a:r>
              <a:rPr lang="ru-RU" sz="1500" dirty="0"/>
              <a:t>/chapter-6-model-evaluation-selection/</a:t>
            </a:r>
            <a:r>
              <a:rPr lang="ru-RU" sz="1500" dirty="0" err="1"/>
              <a:t>evaluation-metrics-mae-mse-rmse</a:t>
            </a:r>
            <a:endParaRPr lang="ru-RU" sz="15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ED18F84-76DE-6B24-3A90-DDA824A24A4B}"/>
              </a:ext>
            </a:extLst>
          </p:cNvPr>
          <p:cNvSpPr txBox="1"/>
          <p:nvPr/>
        </p:nvSpPr>
        <p:spPr>
          <a:xfrm>
            <a:off x="3330743" y="6347855"/>
            <a:ext cx="6097978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500" dirty="0" err="1"/>
              <a:t>https</a:t>
            </a:r>
            <a:r>
              <a:rPr lang="ru-RU" sz="1500" dirty="0"/>
              <a:t>://</a:t>
            </a:r>
            <a:r>
              <a:rPr lang="ru-RU" sz="1500" dirty="0" err="1"/>
              <a:t>arxiv.org</a:t>
            </a:r>
            <a:r>
              <a:rPr lang="ru-RU" sz="1500" dirty="0"/>
              <a:t>/</a:t>
            </a:r>
            <a:r>
              <a:rPr lang="ru-RU" sz="1500" dirty="0" err="1"/>
              <a:t>pdf</a:t>
            </a:r>
            <a:r>
              <a:rPr lang="ru-RU" sz="1500" dirty="0"/>
              <a:t>/2211.02989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3A853A3-E146-7BC4-408E-A62E24EACAEA}"/>
              </a:ext>
            </a:extLst>
          </p:cNvPr>
          <p:cNvSpPr txBox="1"/>
          <p:nvPr/>
        </p:nvSpPr>
        <p:spPr>
          <a:xfrm>
            <a:off x="126499" y="6350000"/>
            <a:ext cx="3910661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500" dirty="0" err="1"/>
              <a:t>https</a:t>
            </a:r>
            <a:r>
              <a:rPr lang="ru-RU" sz="1500" dirty="0"/>
              <a:t>://</a:t>
            </a:r>
            <a:r>
              <a:rPr lang="ru-RU" sz="1500" dirty="0" err="1"/>
              <a:t>otexts.com</a:t>
            </a:r>
            <a:r>
              <a:rPr lang="ru-RU" sz="1500" dirty="0"/>
              <a:t>/fpp2/</a:t>
            </a:r>
            <a:r>
              <a:rPr lang="ru-RU" sz="1500" dirty="0" err="1"/>
              <a:t>accuracy.html</a:t>
            </a:r>
            <a:endParaRPr lang="ru-RU" sz="1500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6079789" y="6341047"/>
            <a:ext cx="4719562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1400" dirty="0"/>
              <a:t>https://dl.leima.is/time-series/timeseries-metrics.forecasting/</a:t>
            </a:r>
          </a:p>
        </p:txBody>
      </p:sp>
    </p:spTree>
    <p:extLst>
      <p:ext uri="{BB962C8B-B14F-4D97-AF65-F5344CB8AC3E}">
        <p14:creationId xmlns:p14="http://schemas.microsoft.com/office/powerpoint/2010/main" val="26113453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10896" y="365125"/>
            <a:ext cx="11042904" cy="585851"/>
          </a:xfrm>
        </p:spPr>
        <p:txBody>
          <a:bodyPr>
            <a:normAutofit fontScale="90000"/>
          </a:bodyPr>
          <a:lstStyle/>
          <a:p>
            <a:r>
              <a:rPr lang="ru-RU" dirty="0" smtClean="0"/>
              <a:t>Типы метрик во временных рядах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27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Таблица 2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266244280"/>
                  </p:ext>
                </p:extLst>
              </p:nvPr>
            </p:nvGraphicFramePr>
            <p:xfrm>
              <a:off x="117258" y="946513"/>
              <a:ext cx="11652504" cy="5592399"/>
            </p:xfrm>
            <a:graphic>
              <a:graphicData uri="http://schemas.openxmlformats.org/drawingml/2006/table">
                <a:tbl>
                  <a:tblPr>
                    <a:tableStyleId>{5940675A-B579-460E-94D1-54222C63F5DA}</a:tableStyleId>
                  </a:tblPr>
                  <a:tblGrid>
                    <a:gridCol w="1851391">
                      <a:extLst>
                        <a:ext uri="{9D8B030D-6E8A-4147-A177-3AD203B41FA5}">
                          <a16:colId xmlns:a16="http://schemas.microsoft.com/office/drawing/2014/main" val="1179540234"/>
                        </a:ext>
                      </a:extLst>
                    </a:gridCol>
                    <a:gridCol w="2706893">
                      <a:extLst>
                        <a:ext uri="{9D8B030D-6E8A-4147-A177-3AD203B41FA5}">
                          <a16:colId xmlns:a16="http://schemas.microsoft.com/office/drawing/2014/main" val="1726485903"/>
                        </a:ext>
                      </a:extLst>
                    </a:gridCol>
                    <a:gridCol w="2753958">
                      <a:extLst>
                        <a:ext uri="{9D8B030D-6E8A-4147-A177-3AD203B41FA5}">
                          <a16:colId xmlns:a16="http://schemas.microsoft.com/office/drawing/2014/main" val="347437075"/>
                        </a:ext>
                      </a:extLst>
                    </a:gridCol>
                    <a:gridCol w="1487103">
                      <a:extLst>
                        <a:ext uri="{9D8B030D-6E8A-4147-A177-3AD203B41FA5}">
                          <a16:colId xmlns:a16="http://schemas.microsoft.com/office/drawing/2014/main" val="4165201017"/>
                        </a:ext>
                      </a:extLst>
                    </a:gridCol>
                    <a:gridCol w="2853159">
                      <a:extLst>
                        <a:ext uri="{9D8B030D-6E8A-4147-A177-3AD203B41FA5}">
                          <a16:colId xmlns:a16="http://schemas.microsoft.com/office/drawing/2014/main" val="479462170"/>
                        </a:ext>
                      </a:extLst>
                    </a:gridCol>
                  </a:tblGrid>
                  <a:tr h="360215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2000" kern="100" dirty="0">
                              <a:effectLst/>
                            </a:rPr>
                            <a:t>Тип прогноза</a:t>
                          </a:r>
                          <a:endParaRPr lang="ru-RU" sz="20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8545" marR="8545" marT="8545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2000" kern="100" dirty="0">
                              <a:effectLst/>
                            </a:rPr>
                            <a:t>Оценка</a:t>
                          </a:r>
                          <a:endParaRPr lang="ru-RU" sz="20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8545" marR="8545" marT="8545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2000" kern="100">
                              <a:effectLst/>
                            </a:rPr>
                            <a:t>Цель</a:t>
                          </a:r>
                          <a:endParaRPr lang="ru-RU" sz="2000" kern="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8545" marR="8545" marT="8545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2000" kern="100" dirty="0" smtClean="0">
                              <a:effectLst/>
                            </a:rPr>
                            <a:t>Метрики</a:t>
                          </a:r>
                          <a:endParaRPr lang="ru-RU" sz="20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8545" marR="8545" marT="8545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2000" kern="100">
                              <a:effectLst/>
                            </a:rPr>
                            <a:t>Особенности</a:t>
                          </a:r>
                          <a:endParaRPr lang="ru-RU" sz="2000" kern="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8545" marR="8545" marT="8545" marB="0" anchor="ctr"/>
                    </a:tc>
                    <a:extLst>
                      <a:ext uri="{0D108BD9-81ED-4DB2-BD59-A6C34878D82A}">
                        <a16:rowId xmlns:a16="http://schemas.microsoft.com/office/drawing/2014/main" val="3849000017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2000" kern="100" dirty="0" smtClean="0">
                              <a:effectLst/>
                            </a:rPr>
                            <a:t>Точечный</a:t>
                          </a:r>
                          <a:endParaRPr lang="ru-RU" sz="20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8545" marR="8545" marT="8545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2000" kern="100" dirty="0">
                              <a:effectLst/>
                            </a:rPr>
                            <a:t>Наилучшая оценка модели (часто средняя, мода и </a:t>
                          </a:r>
                          <a:r>
                            <a:rPr lang="ru-RU" sz="2000" kern="100" dirty="0" err="1">
                              <a:effectLst/>
                            </a:rPr>
                            <a:t>тд</a:t>
                          </a:r>
                          <a:r>
                            <a:rPr lang="ru-RU" sz="2000" kern="100" dirty="0">
                              <a:effectLst/>
                            </a:rPr>
                            <a:t>)</a:t>
                          </a:r>
                          <a:endParaRPr lang="ru-RU" sz="20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8545" marR="8545" marT="8545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2000" kern="100" dirty="0">
                              <a:effectLst/>
                            </a:rPr>
                            <a:t>Определить наиболее ожидаемое значение</a:t>
                          </a:r>
                          <a:endParaRPr lang="ru-RU" sz="20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8545" marR="8545" marT="8545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2000" kern="100">
                              <a:effectLst/>
                            </a:rPr>
                            <a:t>MAE, RMSE, MAPE</a:t>
                          </a:r>
                          <a:endParaRPr lang="ru-RU" sz="2000" kern="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8545" marR="8545" marT="8545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2000" kern="100" dirty="0" err="1" smtClean="0">
                              <a:effectLst/>
                            </a:rPr>
                            <a:t>неучитывает</a:t>
                          </a:r>
                          <a:r>
                            <a:rPr lang="ru-RU" sz="2000" kern="100" dirty="0" smtClean="0">
                              <a:effectLst/>
                            </a:rPr>
                            <a:t> </a:t>
                          </a:r>
                          <a:r>
                            <a:rPr lang="ru-RU" sz="2000" kern="100" dirty="0">
                              <a:effectLst/>
                            </a:rPr>
                            <a:t>особенности разброса оценки</a:t>
                          </a:r>
                          <a:endParaRPr lang="ru-RU" sz="20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8545" marR="8545" marT="8545" marB="0" anchor="ctr"/>
                    </a:tc>
                    <a:extLst>
                      <a:ext uri="{0D108BD9-81ED-4DB2-BD59-A6C34878D82A}">
                        <a16:rowId xmlns:a16="http://schemas.microsoft.com/office/drawing/2014/main" val="3906028580"/>
                      </a:ext>
                    </a:extLst>
                  </a:tr>
                  <a:tr h="1230399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2000" kern="100" dirty="0" smtClean="0">
                              <a:effectLst/>
                            </a:rPr>
                            <a:t>Дисперсия</a:t>
                          </a:r>
                          <a:endParaRPr lang="ru-RU" sz="20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8545" marR="8545" marT="8545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2000" kern="100" dirty="0">
                              <a:effectLst/>
                            </a:rPr>
                            <a:t>СКО и </a:t>
                          </a:r>
                          <a:r>
                            <a:rPr lang="ru-RU" sz="2000" kern="100" dirty="0" smtClean="0">
                              <a:effectLst/>
                            </a:rPr>
                            <a:t>неопределенность прогноза</a:t>
                          </a:r>
                          <a:endParaRPr lang="ru-RU" sz="20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8545" marR="8545" marT="8545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1800" kern="1200" dirty="0" smtClean="0">
                              <a:effectLst/>
                            </a:rPr>
                            <a:t>Оценить разброс и надежность прогноза</a:t>
                          </a:r>
                          <a:endParaRPr lang="ru-RU" sz="2000" kern="100" dirty="0">
                            <a:effectLst/>
                            <a:latin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8545" marR="8545" marT="8545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2000" kern="100" dirty="0" smtClean="0">
                              <a:effectLst/>
                            </a:rPr>
                            <a:t>R2,</a:t>
                          </a:r>
                          <a:r>
                            <a:rPr lang="en-US" sz="2000" kern="100" baseline="0" dirty="0" smtClean="0">
                              <a:effectLst/>
                            </a:rPr>
                            <a:t> </a:t>
                          </a:r>
                          <a:endParaRPr lang="ru-RU" sz="2000" kern="100" dirty="0">
                            <a:effectLst/>
                            <a:latin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8545" marR="8545" marT="8545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2000" kern="100" dirty="0" smtClean="0">
                              <a:effectLst/>
                            </a:rPr>
                            <a:t>Используется в дополнение</a:t>
                          </a:r>
                          <a:r>
                            <a:rPr lang="ru-RU" sz="2000" kern="100" baseline="0" dirty="0" smtClean="0">
                              <a:effectLst/>
                            </a:rPr>
                            <a:t> к остальным </a:t>
                          </a:r>
                          <a:endParaRPr lang="ru-RU" sz="2000" kern="100" dirty="0">
                            <a:effectLst/>
                            <a:latin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8545" marR="8545" marT="8545" marB="0" anchor="ctr"/>
                    </a:tc>
                    <a:extLst>
                      <a:ext uri="{0D108BD9-81ED-4DB2-BD59-A6C34878D82A}">
                        <a16:rowId xmlns:a16="http://schemas.microsoft.com/office/drawing/2014/main" val="167853513"/>
                      </a:ext>
                    </a:extLst>
                  </a:tr>
                  <a:tr h="1230399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2000" kern="100">
                              <a:effectLst/>
                            </a:rPr>
                            <a:t>Интервальный</a:t>
                          </a:r>
                          <a:endParaRPr lang="ru-RU" sz="2000" kern="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8545" marR="8545" marT="8545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2000" kern="100" dirty="0">
                              <a:effectLst/>
                            </a:rPr>
                            <a:t> диапазон с заданным покрытием </a:t>
                          </a:r>
                          <a14:m>
                            <m:oMath xmlns:m="http://schemas.openxmlformats.org/officeDocument/2006/math">
                              <m:r>
                                <a:rPr lang="ru-RU" sz="2000" kern="100">
                                  <a:effectLst/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sSub>
                                <m:sSubPr>
                                  <m:ctrlPr>
                                    <a:rPr lang="ru-RU" sz="2000" i="1" kern="100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sz="2000" kern="100">
                                      <a:effectLst/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ru-RU" sz="2000" kern="100">
                                      <a:effectLst/>
                                      <a:latin typeface="Cambria Math" panose="02040503050406030204" pitchFamily="18" charset="0"/>
                                    </a:rPr>
                                    <m:t>𝑙𝑜𝑤</m:t>
                                  </m:r>
                                </m:sub>
                              </m:sSub>
                              <m:r>
                                <a:rPr lang="ru-RU" sz="2000" kern="100">
                                  <a:effectLst/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sSub>
                                <m:sSubPr>
                                  <m:ctrlPr>
                                    <a:rPr lang="ru-RU" sz="2000" i="1" kern="100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sz="2000" kern="100">
                                      <a:effectLst/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ru-RU" sz="2000" kern="100">
                                      <a:effectLst/>
                                      <a:latin typeface="Cambria Math" panose="02040503050406030204" pitchFamily="18" charset="0"/>
                                    </a:rPr>
                                    <m:t>h𝑖𝑔h</m:t>
                                  </m:r>
                                </m:sub>
                              </m:sSub>
                              <m:r>
                                <a:rPr lang="ru-RU" sz="2000" kern="100">
                                  <a:effectLst/>
                                  <a:latin typeface="Cambria Math" panose="02040503050406030204" pitchFamily="18" charset="0"/>
                                </a:rPr>
                                <m:t>]</m:t>
                              </m:r>
                            </m:oMath>
                          </a14:m>
                          <a:endParaRPr lang="ru-RU" sz="20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8545" marR="8545" marT="8545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2000" kern="100" dirty="0">
                              <a:effectLst/>
                            </a:rPr>
                            <a:t>Определить ширину и покрытие интервалов </a:t>
                          </a:r>
                          <a:endParaRPr lang="ru-RU" sz="20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8545" marR="8545" marT="8545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2000" kern="100" dirty="0">
                              <a:effectLst/>
                            </a:rPr>
                            <a:t>Coverage, Mean Width</a:t>
                          </a:r>
                          <a:endParaRPr lang="ru-RU" sz="20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8545" marR="8545" marT="8545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2000" kern="100" dirty="0">
                              <a:effectLst/>
                            </a:rPr>
                            <a:t>Легко интерпретировать, но не покрывает выбросы</a:t>
                          </a:r>
                          <a:endParaRPr lang="ru-RU" sz="20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8545" marR="8545" marT="8545" marB="0" anchor="ctr"/>
                    </a:tc>
                    <a:extLst>
                      <a:ext uri="{0D108BD9-81ED-4DB2-BD59-A6C34878D82A}">
                        <a16:rowId xmlns:a16="http://schemas.microsoft.com/office/drawing/2014/main" val="2624244439"/>
                      </a:ext>
                    </a:extLst>
                  </a:tr>
                  <a:tr h="925496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2000" kern="100">
                              <a:effectLst/>
                            </a:rPr>
                            <a:t>Квантильный</a:t>
                          </a:r>
                          <a:endParaRPr lang="ru-RU" sz="2000" kern="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8545" marR="8545" marT="8545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2000" kern="100">
                              <a:effectLst/>
                            </a:rPr>
                            <a:t>Предсказать конкретный квантиль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ru-RU" sz="2000" i="1" kern="100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sz="2000" kern="100">
                                      <a:effectLst/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ru-RU" sz="2000" kern="100">
                                      <a:effectLst/>
                                      <a:latin typeface="Cambria Math" panose="02040503050406030204" pitchFamily="18" charset="0"/>
                                    </a:rPr>
                                    <m:t>𝜏</m:t>
                                  </m:r>
                                </m:sub>
                              </m:sSub>
                            </m:oMath>
                          </a14:m>
                          <a:endParaRPr lang="ru-RU" sz="2000" kern="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8545" marR="8545" marT="8545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2000" kern="100">
                              <a:effectLst/>
                            </a:rPr>
                            <a:t>точность определения квантилей </a:t>
                          </a:r>
                          <a:endParaRPr lang="ru-RU" sz="2000" kern="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8545" marR="8545" marT="8545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2000" kern="100" dirty="0">
                              <a:effectLst/>
                            </a:rPr>
                            <a:t>Pinball Loss</a:t>
                          </a:r>
                          <a:endParaRPr lang="ru-RU" sz="20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8545" marR="8545" marT="8545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2000" kern="100" dirty="0">
                              <a:effectLst/>
                            </a:rPr>
                            <a:t>Анализ хвостов, не покрывает интервалы</a:t>
                          </a:r>
                          <a:endParaRPr lang="ru-RU" sz="20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8545" marR="8545" marT="8545" marB="0" anchor="ctr"/>
                    </a:tc>
                    <a:extLst>
                      <a:ext uri="{0D108BD9-81ED-4DB2-BD59-A6C34878D82A}">
                        <a16:rowId xmlns:a16="http://schemas.microsoft.com/office/drawing/2014/main" val="3660764479"/>
                      </a:ext>
                    </a:extLst>
                  </a:tr>
                  <a:tr h="620596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2000" kern="100">
                              <a:effectLst/>
                            </a:rPr>
                            <a:t>Вероятностный</a:t>
                          </a:r>
                          <a:endParaRPr lang="ru-RU" sz="2000" kern="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8545" marR="8545" marT="8545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2000" kern="100">
                              <a:effectLst/>
                            </a:rPr>
                            <a:t>полное распределение 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ru-RU" sz="2000" i="1" kern="100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ru-RU" sz="2000" kern="100">
                                      <a:effectLst/>
                                      <a:latin typeface="Cambria Math" panose="02040503050406030204" pitchFamily="18" charset="0"/>
                                    </a:rPr>
                                    <m:t>𝐹</m:t>
                                  </m:r>
                                </m:e>
                                <m:sup>
                                  <m:r>
                                    <a:rPr lang="ru-RU" sz="2000" kern="100">
                                      <a:effectLst/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p>
                              </m:sSup>
                              <m:r>
                                <a:rPr lang="ru-RU" sz="2000" kern="100">
                                  <a:effectLst/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ru-RU" sz="2000" kern="100">
                                  <a:effectLst/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ru-RU" sz="2000" kern="100">
                                  <a:effectLst/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oMath>
                          </a14:m>
                          <a:endParaRPr lang="ru-RU" sz="2000" kern="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8545" marR="8545" marT="8545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2000" kern="100">
                              <a:effectLst/>
                            </a:rPr>
                            <a:t>качество всего прогнозного распределения </a:t>
                          </a:r>
                          <a:endParaRPr lang="ru-RU" sz="2000" kern="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8545" marR="8545" marT="8545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2000" kern="100" dirty="0">
                              <a:effectLst/>
                            </a:rPr>
                            <a:t>Log Score, CRPS</a:t>
                          </a:r>
                          <a:endParaRPr lang="ru-RU" sz="20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8545" marR="8545" marT="8545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2000" kern="100" dirty="0">
                              <a:effectLst/>
                            </a:rPr>
                            <a:t>Сложная реализация</a:t>
                          </a:r>
                          <a:endParaRPr lang="ru-RU" sz="20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8545" marR="8545" marT="8545" marB="0" anchor="ctr"/>
                    </a:tc>
                    <a:extLst>
                      <a:ext uri="{0D108BD9-81ED-4DB2-BD59-A6C34878D82A}">
                        <a16:rowId xmlns:a16="http://schemas.microsoft.com/office/drawing/2014/main" val="238104547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Таблица 2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266244280"/>
                  </p:ext>
                </p:extLst>
              </p:nvPr>
            </p:nvGraphicFramePr>
            <p:xfrm>
              <a:off x="117258" y="946513"/>
              <a:ext cx="11652504" cy="5592399"/>
            </p:xfrm>
            <a:graphic>
              <a:graphicData uri="http://schemas.openxmlformats.org/drawingml/2006/table">
                <a:tbl>
                  <a:tblPr>
                    <a:tableStyleId>{5940675A-B579-460E-94D1-54222C63F5DA}</a:tableStyleId>
                  </a:tblPr>
                  <a:tblGrid>
                    <a:gridCol w="1851391">
                      <a:extLst>
                        <a:ext uri="{9D8B030D-6E8A-4147-A177-3AD203B41FA5}">
                          <a16:colId xmlns:a16="http://schemas.microsoft.com/office/drawing/2014/main" val="1179540234"/>
                        </a:ext>
                      </a:extLst>
                    </a:gridCol>
                    <a:gridCol w="2706893">
                      <a:extLst>
                        <a:ext uri="{9D8B030D-6E8A-4147-A177-3AD203B41FA5}">
                          <a16:colId xmlns:a16="http://schemas.microsoft.com/office/drawing/2014/main" val="1726485903"/>
                        </a:ext>
                      </a:extLst>
                    </a:gridCol>
                    <a:gridCol w="2753958">
                      <a:extLst>
                        <a:ext uri="{9D8B030D-6E8A-4147-A177-3AD203B41FA5}">
                          <a16:colId xmlns:a16="http://schemas.microsoft.com/office/drawing/2014/main" val="347437075"/>
                        </a:ext>
                      </a:extLst>
                    </a:gridCol>
                    <a:gridCol w="1487103">
                      <a:extLst>
                        <a:ext uri="{9D8B030D-6E8A-4147-A177-3AD203B41FA5}">
                          <a16:colId xmlns:a16="http://schemas.microsoft.com/office/drawing/2014/main" val="4165201017"/>
                        </a:ext>
                      </a:extLst>
                    </a:gridCol>
                    <a:gridCol w="2853159">
                      <a:extLst>
                        <a:ext uri="{9D8B030D-6E8A-4147-A177-3AD203B41FA5}">
                          <a16:colId xmlns:a16="http://schemas.microsoft.com/office/drawing/2014/main" val="479462170"/>
                        </a:ext>
                      </a:extLst>
                    </a:gridCol>
                  </a:tblGrid>
                  <a:tr h="360215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2000" kern="100" dirty="0">
                              <a:effectLst/>
                            </a:rPr>
                            <a:t>Тип прогноза</a:t>
                          </a:r>
                          <a:endParaRPr lang="ru-RU" sz="20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8545" marR="8545" marT="8545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2000" kern="100" dirty="0">
                              <a:effectLst/>
                            </a:rPr>
                            <a:t>Оценка</a:t>
                          </a:r>
                          <a:endParaRPr lang="ru-RU" sz="20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8545" marR="8545" marT="8545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2000" kern="100">
                              <a:effectLst/>
                            </a:rPr>
                            <a:t>Цель</a:t>
                          </a:r>
                          <a:endParaRPr lang="ru-RU" sz="2000" kern="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8545" marR="8545" marT="8545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2000" kern="100" dirty="0" smtClean="0">
                              <a:effectLst/>
                            </a:rPr>
                            <a:t>Метрики</a:t>
                          </a:r>
                          <a:endParaRPr lang="ru-RU" sz="20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8545" marR="8545" marT="8545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2000" kern="100">
                              <a:effectLst/>
                            </a:rPr>
                            <a:t>Особенности</a:t>
                          </a:r>
                          <a:endParaRPr lang="ru-RU" sz="2000" kern="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8545" marR="8545" marT="8545" marB="0" anchor="ctr"/>
                    </a:tc>
                    <a:extLst>
                      <a:ext uri="{0D108BD9-81ED-4DB2-BD59-A6C34878D82A}">
                        <a16:rowId xmlns:a16="http://schemas.microsoft.com/office/drawing/2014/main" val="3849000017"/>
                      </a:ext>
                    </a:extLst>
                  </a:tr>
                  <a:tr h="922945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2000" kern="100" dirty="0" smtClean="0">
                              <a:effectLst/>
                            </a:rPr>
                            <a:t>Точечный</a:t>
                          </a:r>
                          <a:endParaRPr lang="ru-RU" sz="20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8545" marR="8545" marT="8545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2000" kern="100" dirty="0">
                              <a:effectLst/>
                            </a:rPr>
                            <a:t>Наилучшая оценка модели (часто средняя, мода и </a:t>
                          </a:r>
                          <a:r>
                            <a:rPr lang="ru-RU" sz="2000" kern="100" dirty="0" err="1">
                              <a:effectLst/>
                            </a:rPr>
                            <a:t>тд</a:t>
                          </a:r>
                          <a:r>
                            <a:rPr lang="ru-RU" sz="2000" kern="100" dirty="0">
                              <a:effectLst/>
                            </a:rPr>
                            <a:t>)</a:t>
                          </a:r>
                          <a:endParaRPr lang="ru-RU" sz="20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8545" marR="8545" marT="8545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2000" kern="100" dirty="0">
                              <a:effectLst/>
                            </a:rPr>
                            <a:t>Определить наиболее ожидаемое значение</a:t>
                          </a:r>
                          <a:endParaRPr lang="ru-RU" sz="20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8545" marR="8545" marT="8545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2000" kern="100">
                              <a:effectLst/>
                            </a:rPr>
                            <a:t>MAE, RMSE, MAPE</a:t>
                          </a:r>
                          <a:endParaRPr lang="ru-RU" sz="2000" kern="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8545" marR="8545" marT="8545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2000" kern="100" dirty="0" err="1" smtClean="0">
                              <a:effectLst/>
                            </a:rPr>
                            <a:t>неучитывает</a:t>
                          </a:r>
                          <a:r>
                            <a:rPr lang="ru-RU" sz="2000" kern="100" dirty="0" smtClean="0">
                              <a:effectLst/>
                            </a:rPr>
                            <a:t> </a:t>
                          </a:r>
                          <a:r>
                            <a:rPr lang="ru-RU" sz="2000" kern="100" dirty="0">
                              <a:effectLst/>
                            </a:rPr>
                            <a:t>особенности разброса оценки</a:t>
                          </a:r>
                          <a:endParaRPr lang="ru-RU" sz="20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8545" marR="8545" marT="8545" marB="0" anchor="ctr"/>
                    </a:tc>
                    <a:extLst>
                      <a:ext uri="{0D108BD9-81ED-4DB2-BD59-A6C34878D82A}">
                        <a16:rowId xmlns:a16="http://schemas.microsoft.com/office/drawing/2014/main" val="3906028580"/>
                      </a:ext>
                    </a:extLst>
                  </a:tr>
                  <a:tr h="1230399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2000" kern="100" dirty="0" smtClean="0">
                              <a:effectLst/>
                            </a:rPr>
                            <a:t>Дисперсия</a:t>
                          </a:r>
                          <a:endParaRPr lang="ru-RU" sz="20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8545" marR="8545" marT="8545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2000" kern="100" dirty="0">
                              <a:effectLst/>
                            </a:rPr>
                            <a:t>СКО и </a:t>
                          </a:r>
                          <a:r>
                            <a:rPr lang="ru-RU" sz="2000" kern="100" dirty="0" smtClean="0">
                              <a:effectLst/>
                            </a:rPr>
                            <a:t>неопределенность прогноза</a:t>
                          </a:r>
                          <a:endParaRPr lang="ru-RU" sz="20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8545" marR="8545" marT="8545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1800" kern="1200" dirty="0" smtClean="0">
                              <a:effectLst/>
                            </a:rPr>
                            <a:t>Оценить разброс и надежность прогноза</a:t>
                          </a:r>
                          <a:endParaRPr lang="ru-RU" sz="2000" kern="100" dirty="0">
                            <a:effectLst/>
                            <a:latin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8545" marR="8545" marT="8545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2000" kern="100" dirty="0" smtClean="0">
                              <a:effectLst/>
                            </a:rPr>
                            <a:t>R2,</a:t>
                          </a:r>
                          <a:r>
                            <a:rPr lang="en-US" sz="2000" kern="100" baseline="0" dirty="0" smtClean="0">
                              <a:effectLst/>
                            </a:rPr>
                            <a:t> </a:t>
                          </a:r>
                          <a:endParaRPr lang="ru-RU" sz="2000" kern="100" dirty="0">
                            <a:effectLst/>
                            <a:latin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8545" marR="8545" marT="8545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2000" kern="100" dirty="0" smtClean="0">
                              <a:effectLst/>
                            </a:rPr>
                            <a:t>Используется в дополнение</a:t>
                          </a:r>
                          <a:r>
                            <a:rPr lang="ru-RU" sz="2000" kern="100" baseline="0" dirty="0" smtClean="0">
                              <a:effectLst/>
                            </a:rPr>
                            <a:t> к остальным </a:t>
                          </a:r>
                          <a:endParaRPr lang="ru-RU" sz="2000" kern="100" dirty="0">
                            <a:effectLst/>
                            <a:latin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8545" marR="8545" marT="8545" marB="0" anchor="ctr"/>
                    </a:tc>
                    <a:extLst>
                      <a:ext uri="{0D108BD9-81ED-4DB2-BD59-A6C34878D82A}">
                        <a16:rowId xmlns:a16="http://schemas.microsoft.com/office/drawing/2014/main" val="167853513"/>
                      </a:ext>
                    </a:extLst>
                  </a:tr>
                  <a:tr h="1230399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2000" kern="100">
                              <a:effectLst/>
                            </a:rPr>
                            <a:t>Интервальный</a:t>
                          </a:r>
                          <a:endParaRPr lang="ru-RU" sz="2000" kern="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8545" marR="8545" marT="8545" marB="0" anchor="ctr"/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marL="8545" marR="8545" marT="8545" marB="0" anchor="ctr">
                        <a:blipFill>
                          <a:blip r:embed="rId3"/>
                          <a:stretch>
                            <a:fillRect l="-68694" t="-207921" r="-262613" b="-16237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2000" kern="100" dirty="0">
                              <a:effectLst/>
                            </a:rPr>
                            <a:t>Определить ширину и покрытие интервалов </a:t>
                          </a:r>
                          <a:endParaRPr lang="ru-RU" sz="20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8545" marR="8545" marT="8545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2000" kern="100" dirty="0">
                              <a:effectLst/>
                            </a:rPr>
                            <a:t>Coverage, Mean Width</a:t>
                          </a:r>
                          <a:endParaRPr lang="ru-RU" sz="20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8545" marR="8545" marT="8545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2000" kern="100" dirty="0">
                              <a:effectLst/>
                            </a:rPr>
                            <a:t>Легко интерпретировать, но не покрывает выбросы</a:t>
                          </a:r>
                          <a:endParaRPr lang="ru-RU" sz="20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8545" marR="8545" marT="8545" marB="0" anchor="ctr"/>
                    </a:tc>
                    <a:extLst>
                      <a:ext uri="{0D108BD9-81ED-4DB2-BD59-A6C34878D82A}">
                        <a16:rowId xmlns:a16="http://schemas.microsoft.com/office/drawing/2014/main" val="2624244439"/>
                      </a:ext>
                    </a:extLst>
                  </a:tr>
                  <a:tr h="925496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2000" kern="100">
                              <a:effectLst/>
                            </a:rPr>
                            <a:t>Квантильный</a:t>
                          </a:r>
                          <a:endParaRPr lang="ru-RU" sz="2000" kern="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8545" marR="8545" marT="8545" marB="0" anchor="ctr"/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marL="8545" marR="8545" marT="8545" marB="0" anchor="ctr">
                        <a:blipFill>
                          <a:blip r:embed="rId3"/>
                          <a:stretch>
                            <a:fillRect l="-68694" t="-411921" r="-262613" b="-11721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2000" kern="100">
                              <a:effectLst/>
                            </a:rPr>
                            <a:t>точность определения квантилей </a:t>
                          </a:r>
                          <a:endParaRPr lang="ru-RU" sz="2000" kern="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8545" marR="8545" marT="8545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2000" kern="100" dirty="0">
                              <a:effectLst/>
                            </a:rPr>
                            <a:t>Pinball Loss</a:t>
                          </a:r>
                          <a:endParaRPr lang="ru-RU" sz="20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8545" marR="8545" marT="8545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2000" kern="100" dirty="0">
                              <a:effectLst/>
                            </a:rPr>
                            <a:t>Анализ хвостов, не покрывает интервалы</a:t>
                          </a:r>
                          <a:endParaRPr lang="ru-RU" sz="20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8545" marR="8545" marT="8545" marB="0" anchor="ctr"/>
                    </a:tc>
                    <a:extLst>
                      <a:ext uri="{0D108BD9-81ED-4DB2-BD59-A6C34878D82A}">
                        <a16:rowId xmlns:a16="http://schemas.microsoft.com/office/drawing/2014/main" val="3660764479"/>
                      </a:ext>
                    </a:extLst>
                  </a:tr>
                  <a:tr h="922945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2000" kern="100">
                              <a:effectLst/>
                            </a:rPr>
                            <a:t>Вероятностный</a:t>
                          </a:r>
                          <a:endParaRPr lang="ru-RU" sz="2000" kern="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8545" marR="8545" marT="8545" marB="0" anchor="ctr"/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marL="8545" marR="8545" marT="8545" marB="0" anchor="ctr">
                        <a:blipFill>
                          <a:blip r:embed="rId3"/>
                          <a:stretch>
                            <a:fillRect l="-68694" t="-508553" r="-262613" b="-1644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2000" kern="100">
                              <a:effectLst/>
                            </a:rPr>
                            <a:t>качество всего прогнозного распределения </a:t>
                          </a:r>
                          <a:endParaRPr lang="ru-RU" sz="2000" kern="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8545" marR="8545" marT="8545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2000" kern="100" dirty="0">
                              <a:effectLst/>
                            </a:rPr>
                            <a:t>Log Score, CRPS</a:t>
                          </a:r>
                          <a:endParaRPr lang="ru-RU" sz="20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8545" marR="8545" marT="8545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2000" kern="100" dirty="0">
                              <a:effectLst/>
                            </a:rPr>
                            <a:t>Сложная реализация</a:t>
                          </a:r>
                          <a:endParaRPr lang="ru-RU" sz="20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8545" marR="8545" marT="8545" marB="0" anchor="ctr"/>
                    </a:tc>
                    <a:extLst>
                      <a:ext uri="{0D108BD9-81ED-4DB2-BD59-A6C34878D82A}">
                        <a16:rowId xmlns:a16="http://schemas.microsoft.com/office/drawing/2014/main" val="2381045473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40405337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55DE966-D6B4-DE62-38D1-BB83A3D1A6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0010" y="196077"/>
            <a:ext cx="10973790" cy="644278"/>
          </a:xfrm>
        </p:spPr>
        <p:txBody>
          <a:bodyPr>
            <a:normAutofit fontScale="90000"/>
          </a:bodyPr>
          <a:lstStyle/>
          <a:p>
            <a:pPr algn="ctr"/>
            <a:r>
              <a:rPr lang="ru-RU" b="1" dirty="0"/>
              <a:t>Точечные абсолютные ошибки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AD62B209-107C-7236-EFA3-803460B717F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26222" y="778882"/>
                <a:ext cx="5459855" cy="5061937"/>
              </a:xfrm>
            </p:spPr>
            <p:txBody>
              <a:bodyPr>
                <a:normAutofit fontScale="92500" lnSpcReduction="10000"/>
              </a:bodyPr>
              <a:lstStyle/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" sz="2400" i="1" dirty="0" smtClean="0"/>
                      <m:t>MAE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400" b="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h</m:t>
                        </m:r>
                      </m:den>
                    </m:f>
                    <m:nary>
                      <m:naryPr>
                        <m:chr m:val="∑"/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𝑇</m:t>
                        </m:r>
                      </m:sub>
                      <m:sup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𝑇</m:t>
                        </m:r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h</m:t>
                        </m:r>
                      </m:sup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sz="2400" b="0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 dirty="0">
                                <a:latin typeface="Cambria Math" panose="02040503050406030204" pitchFamily="18" charset="0"/>
                              </a:rPr>
                              <m:t>𝑦</m:t>
                            </m:r>
                            <m:d>
                              <m:dPr>
                                <m:ctrlPr>
                                  <a:rPr lang="ru-RU" sz="2400" i="1" dirty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400" i="1" dirty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e>
                            </m:d>
                            <m:r>
                              <a:rPr lang="ru-RU" sz="2400" i="1" dirty="0">
                                <a:latin typeface="Cambria Math" panose="02040503050406030204" pitchFamily="18" charset="0"/>
                              </a:rPr>
                              <m:t>​</m:t>
                            </m:r>
                            <m:r>
                              <a:rPr lang="en-US" sz="2400" b="0" i="1" dirty="0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acc>
                              <m:accPr>
                                <m:chr m:val="̂"/>
                                <m:ctrlPr>
                                  <a:rPr lang="en-US" sz="2400" i="1" dirty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2400" i="1" dirty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acc>
                            <m:d>
                              <m:dPr>
                                <m:ctrlPr>
                                  <a:rPr lang="en-US" sz="2400" i="1" dirty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400" i="1" dirty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e>
                            </m:d>
                          </m:e>
                        </m:d>
                      </m:e>
                    </m:nary>
                  </m:oMath>
                </a14:m>
                <a:r>
                  <a:rPr lang="en" sz="2300" dirty="0"/>
                  <a:t> </a:t>
                </a:r>
                <a:endParaRPr lang="ru-RU" sz="2300" i="1" dirty="0"/>
              </a:p>
              <a:p>
                <a:pPr marL="0" indent="0">
                  <a:buNone/>
                </a:pPr>
                <a:r>
                  <a:rPr lang="ru-RU" sz="2300" b="1" i="1" dirty="0"/>
                  <a:t>Плюсы:</a:t>
                </a:r>
              </a:p>
              <a:p>
                <a:r>
                  <a:rPr lang="ru-RU" sz="2300" dirty="0"/>
                  <a:t>Лего интерпретировать (и ML</a:t>
                </a:r>
                <a:r>
                  <a:rPr lang="en-US" sz="2300" dirty="0"/>
                  <a:t> </a:t>
                </a:r>
                <a:r>
                  <a:rPr lang="ru-RU" sz="2300" dirty="0"/>
                  <a:t>и в домене)</a:t>
                </a:r>
              </a:p>
              <a:p>
                <a:r>
                  <a:rPr lang="ru-RU" sz="2300" dirty="0"/>
                  <a:t>Менее чувствителен к выбросам</a:t>
                </a:r>
              </a:p>
              <a:p>
                <a:r>
                  <a:rPr lang="ru-RU" sz="2300" dirty="0" smtClean="0"/>
                  <a:t>Значение в единицах измерения</a:t>
                </a:r>
              </a:p>
              <a:p>
                <a:r>
                  <a:rPr lang="ru-RU" sz="2300" dirty="0" smtClean="0"/>
                  <a:t>Оценка смещения предсказания</a:t>
                </a:r>
              </a:p>
              <a:p>
                <a:pPr marL="0" indent="0">
                  <a:buNone/>
                </a:pPr>
                <a:r>
                  <a:rPr lang="ru-RU" sz="2300" b="1" i="1" dirty="0" smtClean="0"/>
                  <a:t>Минусы</a:t>
                </a:r>
                <a:r>
                  <a:rPr lang="ru-RU" sz="2300" b="1" i="1" dirty="0"/>
                  <a:t>:</a:t>
                </a:r>
              </a:p>
              <a:p>
                <a:r>
                  <a:rPr lang="ru-RU" sz="2300" dirty="0"/>
                  <a:t>Одинаковый вес любым ошибкам, </a:t>
                </a:r>
                <a:br>
                  <a:rPr lang="ru-RU" sz="2300" dirty="0"/>
                </a:br>
                <a:r>
                  <a:rPr lang="ru-RU" sz="2300" dirty="0"/>
                  <a:t>крупные </a:t>
                </a:r>
                <a:r>
                  <a:rPr lang="ru-RU" sz="2300" dirty="0" smtClean="0"/>
                  <a:t>ошибки, выбросы </a:t>
                </a:r>
                <a:r>
                  <a:rPr lang="ru-RU" sz="2300" dirty="0"/>
                  <a:t>иногда дороже мелких</a:t>
                </a:r>
              </a:p>
              <a:p>
                <a:r>
                  <a:rPr lang="ru-RU" sz="2300" dirty="0"/>
                  <a:t>Не дифференцируема в 0</a:t>
                </a:r>
              </a:p>
              <a:p>
                <a:pPr marL="0" indent="0">
                  <a:buNone/>
                </a:pPr>
                <a:r>
                  <a:rPr lang="ru-RU" sz="2300" b="1" dirty="0"/>
                  <a:t>Применение:</a:t>
                </a:r>
                <a:r>
                  <a:rPr lang="ru-RU" sz="2300" dirty="0"/>
                  <a:t> Задачи, где все ошибки одинаково важны </a:t>
                </a:r>
                <a:endParaRPr lang="ru-RU" sz="2300" i="1" dirty="0"/>
              </a:p>
              <a:p>
                <a:endParaRPr lang="ru-RU" i="1" dirty="0"/>
              </a:p>
              <a:p>
                <a:endParaRPr lang="ru-RU" dirty="0"/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AD62B209-107C-7236-EFA3-803460B717F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26222" y="778882"/>
                <a:ext cx="5459855" cy="5061937"/>
              </a:xfrm>
              <a:blipFill>
                <a:blip r:embed="rId3"/>
                <a:stretch>
                  <a:fillRect l="-134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AD2B547B-6046-CB83-8CC3-94933B474F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28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Объект 2">
                <a:extLst>
                  <a:ext uri="{FF2B5EF4-FFF2-40B4-BE49-F238E27FC236}">
                    <a16:creationId xmlns:a16="http://schemas.microsoft.com/office/drawing/2014/main" id="{34A136EE-3C9A-E9F8-9D5A-A94BC44CBCB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786077" y="955614"/>
                <a:ext cx="6008914" cy="5061937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100" i="1" dirty="0" smtClean="0"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nor/>
                      </m:rPr>
                      <a:rPr lang="en-US" sz="2100" b="0" i="1" dirty="0" smtClean="0">
                        <a:latin typeface="Cambria Math" panose="02040503050406030204" pitchFamily="18" charset="0"/>
                      </a:rPr>
                      <m:t>MSE</m:t>
                    </m:r>
                    <m:r>
                      <m:rPr>
                        <m:nor/>
                      </m:rPr>
                      <a:rPr lang="en" sz="2100" dirty="0" smtClean="0"/>
                      <m:t>=</m:t>
                    </m:r>
                    <m:f>
                      <m:fPr>
                        <m:ctrlPr>
                          <a:rPr lang="en" sz="210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1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100" b="0" i="1" dirty="0" smtClean="0">
                            <a:latin typeface="Cambria Math" panose="02040503050406030204" pitchFamily="18" charset="0"/>
                          </a:rPr>
                          <m:t>h</m:t>
                        </m:r>
                      </m:den>
                    </m:f>
                    <m:rad>
                      <m:radPr>
                        <m:degHide m:val="on"/>
                        <m:ctrlPr>
                          <a:rPr lang="en-US" sz="2100" b="0" i="1" dirty="0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nary>
                          <m:naryPr>
                            <m:chr m:val="∑"/>
                            <m:ctrlPr>
                              <a:rPr lang="en-US" sz="2100" i="1" dirty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US" sz="2100" i="1" dirty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sz="2100" i="1" dirty="0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US" sz="2100" i="1" dirty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b>
                          <m:sup>
                            <m:r>
                              <a:rPr lang="en-US" sz="2100" i="1" dirty="0">
                                <a:latin typeface="Cambria Math" panose="02040503050406030204" pitchFamily="18" charset="0"/>
                              </a:rPr>
                              <m:t>𝑇</m:t>
                            </m:r>
                            <m:r>
                              <a:rPr lang="en-US" sz="2100" i="1" dirty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sz="2100" i="1" dirty="0">
                                <a:latin typeface="Cambria Math" panose="02040503050406030204" pitchFamily="18" charset="0"/>
                              </a:rPr>
                              <m:t>h</m:t>
                            </m:r>
                          </m:sup>
                          <m:e>
                            <m:sSup>
                              <m:sSupPr>
                                <m:ctrlPr>
                                  <a:rPr lang="en-US" sz="2100" i="1" dirty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US" sz="2100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100" i="1" dirty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  <m:d>
                                      <m:dPr>
                                        <m:ctrlPr>
                                          <a:rPr lang="ru-RU" sz="2100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2100" i="1" dirty="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e>
                                    </m:d>
                                    <m:r>
                                      <a:rPr lang="ru-RU" sz="2100" i="1" dirty="0">
                                        <a:latin typeface="Cambria Math" panose="02040503050406030204" pitchFamily="18" charset="0"/>
                                      </a:rPr>
                                      <m:t>​</m:t>
                                    </m:r>
                                    <m:r>
                                      <a:rPr lang="en-US" sz="2100" i="1" dirty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acc>
                                      <m:accPr>
                                        <m:chr m:val="̂"/>
                                        <m:ctrlPr>
                                          <a:rPr lang="en-US" sz="2100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sz="2100" i="1" dirty="0"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e>
                                    </m:acc>
                                    <m:d>
                                      <m:dPr>
                                        <m:ctrlPr>
                                          <a:rPr lang="en-US" sz="2100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2100" i="1" dirty="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e>
                                    </m:d>
                                  </m:e>
                                </m:d>
                              </m:e>
                              <m:sup>
                                <m:r>
                                  <a:rPr lang="en-US" sz="2100" i="1" dirty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nary>
                      </m:e>
                    </m:rad>
                    <m:r>
                      <m:rPr>
                        <m:nor/>
                      </m:rPr>
                      <a:rPr lang="en-US" sz="2100" b="0" i="0" dirty="0" smtClean="0"/>
                      <m:t>  </m:t>
                    </m:r>
                  </m:oMath>
                </a14:m>
                <a:r>
                  <a:rPr lang="en" sz="2100" dirty="0"/>
                  <a:t> </a:t>
                </a:r>
                <a:endParaRPr lang="ru-RU" sz="2100" dirty="0"/>
              </a:p>
              <a:p>
                <a:pPr marL="0" indent="0">
                  <a:buNone/>
                </a:pPr>
                <a:r>
                  <a:rPr lang="ru-RU" sz="2100" b="1" i="1" dirty="0"/>
                  <a:t>Плюсы:</a:t>
                </a:r>
              </a:p>
              <a:p>
                <a:r>
                  <a:rPr lang="ru-RU" sz="2100" dirty="0"/>
                  <a:t>За большие ошибки больший штраф</a:t>
                </a:r>
              </a:p>
              <a:p>
                <a:r>
                  <a:rPr lang="ru-RU" sz="2100" dirty="0"/>
                  <a:t>Оценка </a:t>
                </a:r>
                <a:r>
                  <a:rPr lang="ru-RU" sz="2100" dirty="0" smtClean="0"/>
                  <a:t>дисперсии предсказаний</a:t>
                </a:r>
                <a:endParaRPr lang="ru-RU" sz="2100" dirty="0"/>
              </a:p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ru-RU" sz="2100" b="1" i="1" dirty="0" smtClean="0"/>
                  <a:t>Минусы</a:t>
                </a:r>
                <a:r>
                  <a:rPr lang="ru-RU" sz="2100" b="1" i="1" dirty="0"/>
                  <a:t>:</a:t>
                </a:r>
              </a:p>
              <a:p>
                <a:r>
                  <a:rPr lang="ru-RU" sz="2100" dirty="0"/>
                  <a:t>Сложнее </a:t>
                </a:r>
                <a:r>
                  <a:rPr lang="ru-RU" sz="2100" dirty="0" smtClean="0"/>
                  <a:t>интерпретировать в предметной области</a:t>
                </a:r>
                <a:endParaRPr lang="ru-RU" sz="2100" dirty="0"/>
              </a:p>
              <a:p>
                <a:r>
                  <a:rPr lang="ru-RU" sz="2100" dirty="0"/>
                  <a:t>Чувствительность к выбросам</a:t>
                </a:r>
              </a:p>
              <a:p>
                <a:pPr marL="0" indent="0">
                  <a:buNone/>
                </a:pPr>
                <a:r>
                  <a:rPr lang="ru-RU" sz="2100" b="1" dirty="0"/>
                  <a:t>Применение:</a:t>
                </a:r>
                <a:r>
                  <a:rPr lang="ru-RU" sz="2100" dirty="0"/>
                  <a:t> Задачи, где </a:t>
                </a:r>
                <a:r>
                  <a:rPr lang="ru-RU" sz="2100" dirty="0" smtClean="0"/>
                  <a:t>разброс ошибок критически важен</a:t>
                </a:r>
                <a:endParaRPr lang="ru-RU" sz="2100" i="1" dirty="0"/>
              </a:p>
              <a:p>
                <a:endParaRPr lang="ru-RU" i="1" dirty="0"/>
              </a:p>
              <a:p>
                <a:endParaRPr lang="ru-RU" dirty="0"/>
              </a:p>
            </p:txBody>
          </p:sp>
        </mc:Choice>
        <mc:Fallback xmlns="">
          <p:sp>
            <p:nvSpPr>
              <p:cNvPr id="6" name="Объект 2">
                <a:extLst>
                  <a:ext uri="{FF2B5EF4-FFF2-40B4-BE49-F238E27FC236}">
                    <a16:creationId xmlns:a16="http://schemas.microsoft.com/office/drawing/2014/main" id="{34A136EE-3C9A-E9F8-9D5A-A94BC44CBC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86077" y="955614"/>
                <a:ext cx="6008914" cy="5061937"/>
              </a:xfrm>
              <a:prstGeom prst="rect">
                <a:avLst/>
              </a:prstGeom>
              <a:blipFill>
                <a:blip r:embed="rId4"/>
                <a:stretch>
                  <a:fillRect l="-121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Прямоугольник 6"/>
          <p:cNvSpPr/>
          <p:nvPr/>
        </p:nvSpPr>
        <p:spPr>
          <a:xfrm>
            <a:off x="3352800" y="6423624"/>
            <a:ext cx="8150199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400" dirty="0"/>
              <a:t>https://towardsdatascience.com/an-overview-of-forecasting-performance-metrics-ef548dad0134/</a:t>
            </a:r>
          </a:p>
        </p:txBody>
      </p:sp>
      <p:cxnSp>
        <p:nvCxnSpPr>
          <p:cNvPr id="8" name="Прямая соединительная линия 7"/>
          <p:cNvCxnSpPr/>
          <p:nvPr/>
        </p:nvCxnSpPr>
        <p:spPr>
          <a:xfrm>
            <a:off x="5690795" y="955614"/>
            <a:ext cx="0" cy="540073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338562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769E32-AFFB-624E-12E5-9A6B2A04C8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BC4AAED-7759-603C-1920-D8D4E70893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0010" y="109408"/>
            <a:ext cx="10973790" cy="644278"/>
          </a:xfrm>
        </p:spPr>
        <p:txBody>
          <a:bodyPr>
            <a:normAutofit fontScale="90000"/>
          </a:bodyPr>
          <a:lstStyle/>
          <a:p>
            <a:pPr algn="ctr"/>
            <a:r>
              <a:rPr lang="ru-RU" b="1" dirty="0"/>
              <a:t>Точечные </a:t>
            </a:r>
            <a:r>
              <a:rPr lang="ru-RU" b="1" dirty="0" smtClean="0"/>
              <a:t>относительные </a:t>
            </a:r>
            <a:r>
              <a:rPr lang="ru-RU" b="1" dirty="0"/>
              <a:t>ошибки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343C449D-D68B-64B7-B076-716F7EB3286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45478" y="845016"/>
                <a:ext cx="4874578" cy="5511334"/>
              </a:xfrm>
            </p:spPr>
            <p:txBody>
              <a:bodyPr>
                <a:normAutofit fontScale="92500" lnSpcReduction="20000"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" sz="2200" i="1" dirty="0" smtClean="0"/>
                        <m:t>MA</m:t>
                      </m:r>
                      <m:r>
                        <m:rPr>
                          <m:nor/>
                        </m:rPr>
                        <a:rPr lang="en-US" sz="2200" b="0" i="1" dirty="0" smtClean="0"/>
                        <m:t>P</m:t>
                      </m:r>
                      <m:r>
                        <m:rPr>
                          <m:nor/>
                        </m:rPr>
                        <a:rPr lang="en" sz="2200" i="1" dirty="0" smtClean="0"/>
                        <m:t>E</m:t>
                      </m:r>
                      <m:r>
                        <m:rPr>
                          <m:nor/>
                        </m:rPr>
                        <a:rPr lang="en" sz="2200" dirty="0" smtClean="0"/>
                        <m:t>=</m:t>
                      </m:r>
                      <m:f>
                        <m:fPr>
                          <m:ctrlPr>
                            <a:rPr lang="en" sz="2200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2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200" i="1" dirty="0">
                              <a:latin typeface="Cambria Math" panose="02040503050406030204" pitchFamily="18" charset="0"/>
                            </a:rPr>
                            <m:t>h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sz="2200" i="1" dirty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200" i="1" dirty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200" i="1" dirty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2200" i="1" dirty="0">
                              <a:latin typeface="Cambria Math" panose="02040503050406030204" pitchFamily="18" charset="0"/>
                            </a:rPr>
                            <m:t>𝑇</m:t>
                          </m:r>
                        </m:sub>
                        <m:sup>
                          <m:r>
                            <a:rPr lang="en-US" sz="2200" i="1" dirty="0">
                              <a:latin typeface="Cambria Math" panose="02040503050406030204" pitchFamily="18" charset="0"/>
                            </a:rPr>
                            <m:t>𝑇</m:t>
                          </m:r>
                          <m:r>
                            <a:rPr lang="en-US" sz="2200" i="1" dirty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200" i="1" dirty="0">
                              <a:latin typeface="Cambria Math" panose="02040503050406030204" pitchFamily="18" charset="0"/>
                            </a:rPr>
                            <m:t>h</m:t>
                          </m:r>
                        </m:sup>
                        <m:e>
                          <m:f>
                            <m:fPr>
                              <m:ctrlPr>
                                <a:rPr lang="en-US" sz="22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sz="2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200" i="1" dirty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  <m:d>
                                    <m:dPr>
                                      <m:ctrlPr>
                                        <a:rPr lang="ru-RU" sz="22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200" i="1" dirty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e>
                                  </m:d>
                                  <m:r>
                                    <a:rPr lang="ru-RU" sz="2200" i="1" dirty="0">
                                      <a:latin typeface="Cambria Math" panose="02040503050406030204" pitchFamily="18" charset="0"/>
                                    </a:rPr>
                                    <m:t>​</m:t>
                                  </m:r>
                                  <m:r>
                                    <a:rPr lang="en-US" sz="2200" i="1" dirty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acc>
                                    <m:accPr>
                                      <m:chr m:val="̂"/>
                                      <m:ctrlPr>
                                        <a:rPr lang="en-US" sz="22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sz="2200" i="1" dirty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</m:acc>
                                  <m:d>
                                    <m:dPr>
                                      <m:ctrlPr>
                                        <a:rPr lang="en-US" sz="22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200" i="1" dirty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e>
                                  </m:d>
                                </m:e>
                              </m:d>
                            </m:num>
                            <m:den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sz="2200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200" i="1" dirty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  <m:d>
                                    <m:dPr>
                                      <m:ctrlPr>
                                        <a:rPr lang="ru-RU" sz="22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200" i="1" dirty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e>
                                  </m:d>
                                </m:e>
                              </m:d>
                            </m:den>
                          </m:f>
                        </m:e>
                      </m:nary>
                    </m:oMath>
                  </m:oMathPara>
                </a14:m>
                <a:endParaRPr lang="ru-RU" dirty="0"/>
              </a:p>
              <a:p>
                <a:pPr marL="0" indent="0">
                  <a:buNone/>
                </a:pPr>
                <a:r>
                  <a:rPr lang="ru-RU" sz="2300" b="1" i="1" dirty="0"/>
                  <a:t>Плюсы:</a:t>
                </a:r>
              </a:p>
              <a:p>
                <a:r>
                  <a:rPr lang="ru-RU" sz="2300" i="1" dirty="0"/>
                  <a:t>Не зависит от </a:t>
                </a:r>
                <a:r>
                  <a:rPr lang="ru-RU" sz="2300" i="1" dirty="0" smtClean="0"/>
                  <a:t>масштаба</a:t>
                </a:r>
                <a:endParaRPr lang="ru-RU" sz="2300" i="1" dirty="0"/>
              </a:p>
              <a:p>
                <a:r>
                  <a:rPr lang="ru-RU" sz="2300" i="1" dirty="0"/>
                  <a:t>Интуитивно понятна в предметной области</a:t>
                </a:r>
              </a:p>
              <a:p>
                <a:pPr marL="0" indent="0">
                  <a:buNone/>
                </a:pPr>
                <a:r>
                  <a:rPr lang="ru-RU" sz="2300" b="1" i="1" dirty="0"/>
                  <a:t>Минусы:</a:t>
                </a:r>
              </a:p>
              <a:p>
                <a:r>
                  <a:rPr lang="ru-RU" sz="2300" i="1" dirty="0"/>
                  <a:t>Деление на 0</a:t>
                </a:r>
              </a:p>
              <a:p>
                <a:r>
                  <a:rPr lang="ru-RU" sz="2300" i="1" dirty="0"/>
                  <a:t>Не симметрично (за прогнозы выше значения  - штрафует сильнее</a:t>
                </a:r>
                <a:r>
                  <a:rPr lang="ru-RU" sz="2300" i="1" dirty="0" smtClean="0"/>
                  <a:t>)</a:t>
                </a:r>
                <a:endParaRPr lang="en-US" sz="2300" i="1" dirty="0" smtClean="0"/>
              </a:p>
              <a:p>
                <a:pPr lvl="1"/>
                <a:r>
                  <a:rPr lang="ru-RU" sz="2000" dirty="0" smtClean="0"/>
                  <a:t>Если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</a:rPr>
                      <m:t>𝑦</m:t>
                    </m:r>
                    <m:d>
                      <m:dPr>
                        <m:ctrlPr>
                          <a:rPr lang="ru-RU" sz="20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  <m:r>
                      <a:rPr lang="ru-RU" sz="2000" i="1" dirty="0">
                        <a:latin typeface="Cambria Math" panose="02040503050406030204" pitchFamily="18" charset="0"/>
                      </a:rPr>
                      <m:t>​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&gt;</m:t>
                    </m:r>
                    <m:acc>
                      <m:accPr>
                        <m:chr m:val="̂"/>
                        <m:ctrlPr>
                          <a:rPr lang="en-US" sz="2000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  <m:d>
                      <m:dPr>
                        <m:ctrlPr>
                          <a:rPr lang="en-US" sz="20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ru-RU" sz="2000" dirty="0" smtClean="0"/>
                  <a:t> </a:t>
                </a:r>
                <a:r>
                  <a:rPr lang="en-US" sz="2000" dirty="0" smtClean="0"/>
                  <a:t>MA</a:t>
                </a:r>
                <a:r>
                  <a:rPr lang="en-US" sz="2000" dirty="0"/>
                  <a:t>P</a:t>
                </a:r>
                <a:r>
                  <a:rPr lang="en-US" sz="2000" dirty="0" smtClean="0"/>
                  <a:t>E</a:t>
                </a:r>
                <a:r>
                  <a:rPr lang="ru-RU" sz="2000" dirty="0" smtClean="0"/>
                  <a:t>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ru-RU" sz="2000" i="1" dirty="0" smtClean="0">
                        <a:latin typeface="Cambria Math" panose="02040503050406030204" pitchFamily="18" charset="0"/>
                      </a:rPr>
                      <m:t>100</m:t>
                    </m:r>
                    <m:r>
                      <a:rPr lang="ru-RU" sz="2000" i="1" dirty="0">
                        <a:latin typeface="Cambria Math" panose="02040503050406030204" pitchFamily="18" charset="0"/>
                      </a:rPr>
                      <m:t>%</m:t>
                    </m:r>
                  </m:oMath>
                </a14:m>
                <a:r>
                  <a:rPr lang="ru-RU" sz="2000" dirty="0" smtClean="0"/>
                  <a:t> </a:t>
                </a:r>
                <a:endParaRPr lang="en-US" sz="2000" dirty="0" smtClean="0"/>
              </a:p>
              <a:p>
                <a:pPr lvl="1"/>
                <a:r>
                  <a:rPr lang="ru-RU" sz="2000" dirty="0"/>
                  <a:t>Если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</a:rPr>
                      <m:t>𝑦</m:t>
                    </m:r>
                    <m:d>
                      <m:dPr>
                        <m:ctrlPr>
                          <a:rPr lang="ru-RU" sz="20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  <m:r>
                      <a:rPr lang="ru-RU" sz="2000" i="1" dirty="0">
                        <a:latin typeface="Cambria Math" panose="02040503050406030204" pitchFamily="18" charset="0"/>
                      </a:rPr>
                      <m:t>​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&lt;</m:t>
                    </m:r>
                    <m:acc>
                      <m:accPr>
                        <m:chr m:val="̂"/>
                        <m:ctrlPr>
                          <a:rPr lang="en-US" sz="2000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  <m:d>
                      <m:dPr>
                        <m:ctrlPr>
                          <a:rPr lang="en-US" sz="20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  <m:r>
                      <a:rPr lang="en-US" sz="2000" i="1" dirty="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ru-RU" sz="2000" dirty="0"/>
                  <a:t> </a:t>
                </a:r>
                <a:r>
                  <a:rPr lang="en-US" sz="2000" dirty="0" smtClean="0"/>
                  <a:t>MAPE</a:t>
                </a:r>
                <a:r>
                  <a:rPr lang="ru-RU" sz="2000" dirty="0" smtClean="0"/>
                  <a:t> </a:t>
                </a:r>
                <a14:m>
                  <m:oMath xmlns:m="http://schemas.openxmlformats.org/officeDocument/2006/math"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∞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ru-RU" sz="2000" b="0" i="0" dirty="0" smtClean="0">
                    <a:latin typeface="+mj-lt"/>
                  </a:rPr>
                  <a:t>значения могут </a:t>
                </a:r>
                <a:r>
                  <a:rPr lang="ru-RU" sz="2000" dirty="0">
                    <a:latin typeface="+mj-lt"/>
                  </a:rPr>
                  <a:t>быть </a:t>
                </a:r>
                <a:r>
                  <a:rPr lang="ru-RU" sz="2000" dirty="0" smtClean="0">
                    <a:latin typeface="+mj-lt"/>
                  </a:rPr>
                  <a:t>занижены</a:t>
                </a:r>
                <a:endParaRPr lang="en-US" sz="2000" dirty="0" smtClean="0">
                  <a:latin typeface="+mj-lt"/>
                </a:endParaRPr>
              </a:p>
              <a:p>
                <a:pPr lvl="2"/>
                <a:r>
                  <a:rPr lang="fr-FR" sz="1900" i="1" dirty="0" smtClean="0"/>
                  <a:t>y</a:t>
                </a:r>
                <a:r>
                  <a:rPr lang="fr-FR" sz="1900" dirty="0" smtClean="0"/>
                  <a:t>​</a:t>
                </a:r>
                <a:r>
                  <a:rPr lang="fr-FR" sz="1900" dirty="0"/>
                  <a:t>=</a:t>
                </a:r>
                <a:r>
                  <a:rPr lang="fr-FR" sz="1900" dirty="0" smtClean="0"/>
                  <a:t>150,</a:t>
                </a:r>
                <a:r>
                  <a:rPr lang="fr-FR" sz="1900" i="1" dirty="0"/>
                  <a:t>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1900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1900" i="1" dirty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</m:oMath>
                </a14:m>
                <a:r>
                  <a:rPr lang="fr-FR" sz="1900" dirty="0" smtClean="0"/>
                  <a:t>​​</a:t>
                </a:r>
                <a:r>
                  <a:rPr lang="fr-FR" sz="1900" dirty="0"/>
                  <a:t>=100</a:t>
                </a:r>
                <a:r>
                  <a:rPr lang="fr-FR" sz="1900" dirty="0" smtClean="0"/>
                  <a:t>⇒MAPE=33%</a:t>
                </a:r>
              </a:p>
              <a:p>
                <a:pPr lvl="2"/>
                <a:r>
                  <a:rPr lang="fr-FR" sz="1900" i="1" dirty="0"/>
                  <a:t>yt</a:t>
                </a:r>
                <a:r>
                  <a:rPr lang="fr-FR" sz="1900" dirty="0"/>
                  <a:t>​=</a:t>
                </a:r>
                <a:r>
                  <a:rPr lang="fr-FR" sz="1900" dirty="0" smtClean="0"/>
                  <a:t>100,</a:t>
                </a:r>
                <a:r>
                  <a:rPr lang="fr-FR" sz="1900" i="1" dirty="0"/>
                  <a:t>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1700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1700" i="1" dirty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</m:oMath>
                </a14:m>
                <a:r>
                  <a:rPr lang="fr-FR" sz="1900" dirty="0" smtClean="0"/>
                  <a:t>​</a:t>
                </a:r>
                <a:r>
                  <a:rPr lang="fr-FR" sz="1900" dirty="0"/>
                  <a:t>=150</a:t>
                </a:r>
                <a:r>
                  <a:rPr lang="fr-FR" sz="1900" dirty="0" smtClean="0"/>
                  <a:t>⇒MAPE=50</a:t>
                </a:r>
                <a:r>
                  <a:rPr lang="fr-FR" sz="1900" dirty="0"/>
                  <a:t>%</a:t>
                </a:r>
                <a:endParaRPr lang="ru-RU" sz="1900" dirty="0">
                  <a:latin typeface="+mj-lt"/>
                </a:endParaRPr>
              </a:p>
              <a:p>
                <a:pPr marL="0" indent="0">
                  <a:buNone/>
                </a:pPr>
                <a:r>
                  <a:rPr lang="ru-RU" sz="2300" b="1" dirty="0"/>
                  <a:t>Применение:</a:t>
                </a:r>
                <a:r>
                  <a:rPr lang="ru-RU" sz="2300" dirty="0"/>
                  <a:t>  </a:t>
                </a:r>
                <a:r>
                  <a:rPr lang="ru-RU" sz="2300" dirty="0" smtClean="0"/>
                  <a:t>сравнение ошибок для разных ВР (в %)</a:t>
                </a:r>
                <a:endParaRPr lang="ru-RU" i="1" dirty="0"/>
              </a:p>
              <a:p>
                <a:endParaRPr lang="ru-RU" dirty="0"/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343C449D-D68B-64B7-B076-716F7EB3286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45478" y="845016"/>
                <a:ext cx="4874578" cy="5511334"/>
              </a:xfrm>
              <a:blipFill>
                <a:blip r:embed="rId3"/>
                <a:stretch>
                  <a:fillRect l="-1500" r="-37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93091FF6-0930-F217-7283-79B287AC8D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29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Объект 2">
                <a:extLst>
                  <a:ext uri="{FF2B5EF4-FFF2-40B4-BE49-F238E27FC236}">
                    <a16:creationId xmlns:a16="http://schemas.microsoft.com/office/drawing/2014/main" id="{F36D5F59-98C7-DA5F-CF10-55D98AB8D1E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085481" y="880358"/>
                <a:ext cx="6966966" cy="5544023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 fontScale="92500" lnSpcReduction="20000"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200" b="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ru-RU" sz="2200" i="1" dirty="0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p>
                          <m:r>
                            <a:rPr lang="en-US" sz="22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200" b="0" i="1" dirty="0" smtClean="0">
                          <a:latin typeface="Cambria Math" panose="02040503050406030204" pitchFamily="18" charset="0"/>
                        </a:rPr>
                        <m:t>=1−</m:t>
                      </m:r>
                      <m:f>
                        <m:fPr>
                          <m:ctrlPr>
                            <a:rPr lang="en-US" sz="2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supHide m:val="on"/>
                              <m:ctrlPr>
                                <a:rPr lang="en-US" sz="22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sz="2200" b="0" i="1" dirty="0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/>
                            <m:e>
                              <m:sSup>
                                <m:sSupPr>
                                  <m:ctrlPr>
                                    <a:rPr lang="en-US" sz="2200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sz="22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200" i="1" dirty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  <m:d>
                                        <m:dPr>
                                          <m:ctrlPr>
                                            <a:rPr lang="ru-RU" sz="2200" i="1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sz="2200" i="1" dirty="0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e>
                                      </m:d>
                                      <m:r>
                                        <a:rPr lang="ru-RU" sz="2200" i="1" dirty="0">
                                          <a:latin typeface="Cambria Math" panose="02040503050406030204" pitchFamily="18" charset="0"/>
                                        </a:rPr>
                                        <m:t>​</m:t>
                                      </m:r>
                                      <m:r>
                                        <a:rPr lang="en-US" sz="2200" i="1" dirty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acc>
                                        <m:accPr>
                                          <m:chr m:val="̂"/>
                                          <m:ctrlPr>
                                            <a:rPr lang="en-US" sz="2200" i="1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sz="2200" i="1" dirty="0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</m:acc>
                                      <m:d>
                                        <m:dPr>
                                          <m:ctrlPr>
                                            <a:rPr lang="en-US" sz="2200" i="1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sz="2200" i="1" dirty="0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e>
                                      </m:d>
                                    </m:e>
                                  </m:d>
                                </m:e>
                                <m:sup>
                                  <m:r>
                                    <a:rPr lang="en-US" sz="2200" b="0" i="1" dirty="0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nary>
                        </m:num>
                        <m:den>
                          <m:nary>
                            <m:naryPr>
                              <m:chr m:val="∑"/>
                              <m:supHide m:val="on"/>
                              <m:ctrlPr>
                                <a:rPr lang="en-US" sz="2200" i="1" dirty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sz="2200" i="1" dirty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/>
                            <m:e>
                              <m:sSup>
                                <m:sSupPr>
                                  <m:ctrlPr>
                                    <a:rPr lang="en-US" sz="2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sz="22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200" i="1" dirty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  <m:d>
                                        <m:dPr>
                                          <m:ctrlPr>
                                            <a:rPr lang="ru-RU" sz="2200" i="1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sz="2200" i="1" dirty="0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e>
                                      </m:d>
                                      <m:r>
                                        <a:rPr lang="ru-RU" sz="2200" i="1" dirty="0">
                                          <a:latin typeface="Cambria Math" panose="02040503050406030204" pitchFamily="18" charset="0"/>
                                        </a:rPr>
                                        <m:t>​</m:t>
                                      </m:r>
                                      <m:r>
                                        <a:rPr lang="en-US" sz="2200" i="1" dirty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en-US" sz="2200" b="0" i="1" dirty="0" smtClean="0">
                                          <a:latin typeface="Cambria Math" panose="02040503050406030204" pitchFamily="18" charset="0"/>
                                        </a:rPr>
                                        <m:t>𝐸</m:t>
                                      </m:r>
                                      <m:r>
                                        <a:rPr lang="en-US" sz="2200" i="1" dirty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en-US" sz="2200" i="1" dirty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nary>
                        </m:den>
                      </m:f>
                      <m:r>
                        <a:rPr lang="en-US" sz="2200" b="0" i="1" dirty="0" smtClean="0">
                          <a:latin typeface="Cambria Math" panose="02040503050406030204" pitchFamily="18" charset="0"/>
                        </a:rPr>
                        <m:t>, </m:t>
                      </m:r>
                      <m:sSubSup>
                        <m:sSubSupPr>
                          <m:ctrlPr>
                            <a:rPr lang="en-US" sz="2200" b="0" i="1" dirty="0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200" b="0" i="1" dirty="0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sz="2200" b="0" i="1" dirty="0" smtClean="0">
                              <a:latin typeface="Cambria Math" panose="02040503050406030204" pitchFamily="18" charset="0"/>
                            </a:rPr>
                            <m:t>𝑎𝑑𝑗</m:t>
                          </m:r>
                        </m:sub>
                        <m:sup>
                          <m:r>
                            <a:rPr lang="en-US" sz="22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sz="2200" b="0" i="1" dirty="0" smtClean="0">
                          <a:latin typeface="Cambria Math" panose="02040503050406030204" pitchFamily="18" charset="0"/>
                        </a:rPr>
                        <m:t>=1−</m:t>
                      </m:r>
                      <m:f>
                        <m:fPr>
                          <m:ctrlPr>
                            <a:rPr lang="en-US" sz="2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200" b="0" i="1" dirty="0" smtClean="0">
                              <a:latin typeface="Cambria Math" panose="02040503050406030204" pitchFamily="18" charset="0"/>
                            </a:rPr>
                            <m:t>(1−</m:t>
                          </m:r>
                          <m:sSup>
                            <m:sSupPr>
                              <m:ctrlPr>
                                <a:rPr lang="en-US" sz="22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200" b="0" i="1" dirty="0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p>
                              <m:r>
                                <a:rPr lang="en-US" sz="2200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2200" b="0" i="1" dirty="0" smtClean="0">
                              <a:latin typeface="Cambria Math" panose="02040503050406030204" pitchFamily="18" charset="0"/>
                            </a:rPr>
                            <m:t>)(</m:t>
                          </m:r>
                          <m:r>
                            <a:rPr lang="en-US" sz="2200" b="0" i="1" dirty="0" smtClean="0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sz="2200" b="0" i="1" dirty="0" smtClean="0">
                              <a:latin typeface="Cambria Math" panose="02040503050406030204" pitchFamily="18" charset="0"/>
                            </a:rPr>
                            <m:t>−1)</m:t>
                          </m:r>
                        </m:num>
                        <m:den>
                          <m:r>
                            <a:rPr lang="en-US" sz="2200" b="0" i="1" dirty="0" smtClean="0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sz="2200" b="0" i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200" b="0" i="1" dirty="0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sz="2200" b="0" i="1" dirty="0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den>
                      </m:f>
                    </m:oMath>
                  </m:oMathPara>
                </a14:m>
                <a:endParaRPr lang="ru-RU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sz="2400" dirty="0"/>
                  <a:t> – </a:t>
                </a:r>
                <a:r>
                  <a:rPr lang="ru-RU" sz="2400" dirty="0"/>
                  <a:t>число параметров </a:t>
                </a:r>
                <a:r>
                  <a:rPr lang="ru-RU" sz="2400" dirty="0" smtClean="0"/>
                  <a:t>модели</a:t>
                </a:r>
                <a:r>
                  <a:rPr lang="en-US" sz="2400" dirty="0" smtClean="0"/>
                  <a:t>,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</a:rPr>
                      <m:t>𝐸𝑦</m:t>
                    </m:r>
                  </m:oMath>
                </a14:m>
                <a:r>
                  <a:rPr lang="en-US" sz="2400" dirty="0" smtClean="0"/>
                  <a:t> – </a:t>
                </a:r>
                <a:r>
                  <a:rPr lang="ru-RU" sz="2400" dirty="0" smtClean="0"/>
                  <a:t>среднее значение</a:t>
                </a:r>
                <a:endParaRPr lang="ru-RU" sz="2400" dirty="0"/>
              </a:p>
              <a:p>
                <a:pPr marL="0" indent="0">
                  <a:buNone/>
                </a:pPr>
                <a:r>
                  <a:rPr lang="ru-RU" sz="2300" b="1" i="1" dirty="0" smtClean="0"/>
                  <a:t>Плюсы:</a:t>
                </a:r>
                <a:endParaRPr lang="ru-RU" sz="2300" b="1" i="1" dirty="0"/>
              </a:p>
              <a:p>
                <a:r>
                  <a:rPr lang="ru-RU" sz="2300" i="1" dirty="0" smtClean="0"/>
                  <a:t>объясняет </a:t>
                </a:r>
                <a:r>
                  <a:rPr lang="ru-RU" sz="2300" i="1" dirty="0"/>
                  <a:t>дисперсию модели</a:t>
                </a:r>
              </a:p>
              <a:p>
                <a:r>
                  <a:rPr lang="ru-RU" sz="2300" i="1" dirty="0" smtClean="0"/>
                  <a:t>Можно представить как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3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300" b="0" i="1" smtClean="0">
                            <a:latin typeface="Cambria Math" panose="02040503050406030204" pitchFamily="18" charset="0"/>
                          </a:rPr>
                          <m:t>𝑏𝑎𝑠𝑙𝑖𝑛𝑒</m:t>
                        </m:r>
                        <m:r>
                          <a:rPr lang="en-US" sz="23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300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  <m:r>
                          <a:rPr lang="en-US" sz="23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300" b="0" i="1" smtClean="0">
                            <a:latin typeface="Cambria Math" panose="02040503050406030204" pitchFamily="18" charset="0"/>
                          </a:rPr>
                          <m:t>𝑆𝐸</m:t>
                        </m:r>
                        <m:r>
                          <a:rPr lang="en-US" sz="2300" b="0" i="1" smtClean="0">
                            <a:latin typeface="Cambria Math" panose="02040503050406030204" pitchFamily="18" charset="0"/>
                          </a:rPr>
                          <m:t> −</m:t>
                        </m:r>
                        <m:r>
                          <a:rPr lang="en-US" sz="2300" b="0" i="1" smtClean="0">
                            <a:latin typeface="Cambria Math" panose="02040503050406030204" pitchFamily="18" charset="0"/>
                          </a:rPr>
                          <m:t>𝑚𝑜𝑑𝑒𝑙</m:t>
                        </m:r>
                        <m:r>
                          <a:rPr lang="en-US" sz="23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300" b="0" i="1" smtClean="0">
                            <a:latin typeface="Cambria Math" panose="02040503050406030204" pitchFamily="18" charset="0"/>
                          </a:rPr>
                          <m:t>𝑀𝑆𝐸</m:t>
                        </m:r>
                      </m:num>
                      <m:den>
                        <m:r>
                          <a:rPr lang="en-US" sz="2300" i="1">
                            <a:latin typeface="Cambria Math" panose="02040503050406030204" pitchFamily="18" charset="0"/>
                          </a:rPr>
                          <m:t>𝑏𝑎𝑠𝑙𝑖𝑛𝑒</m:t>
                        </m:r>
                        <m:r>
                          <a:rPr lang="en-US" sz="2300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300" i="1">
                            <a:latin typeface="Cambria Math" panose="02040503050406030204" pitchFamily="18" charset="0"/>
                          </a:rPr>
                          <m:t>𝑀𝑆𝐸</m:t>
                        </m:r>
                      </m:den>
                    </m:f>
                  </m:oMath>
                </a14:m>
                <a:r>
                  <a:rPr lang="en-US" sz="2300" i="1" dirty="0" smtClean="0"/>
                  <a:t> - </a:t>
                </a:r>
                <a:r>
                  <a:rPr lang="ru-RU" sz="2300" i="1" dirty="0" smtClean="0"/>
                  <a:t>сравнивает модель со средним</a:t>
                </a:r>
                <a:endParaRPr lang="ru-RU" sz="2300" i="1" dirty="0"/>
              </a:p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ru-RU" sz="2300" b="1" i="1" dirty="0"/>
                  <a:t>Минусы</a:t>
                </a:r>
                <a:r>
                  <a:rPr lang="ru-RU" sz="2300" b="1" i="1" dirty="0" smtClean="0"/>
                  <a:t>:</a:t>
                </a:r>
              </a:p>
              <a:p>
                <a:r>
                  <a:rPr lang="ru-RU" sz="2300" i="1" dirty="0"/>
                  <a:t>Сравниваются модели на одном наборе </a:t>
                </a:r>
                <a:r>
                  <a:rPr lang="ru-RU" sz="2300" i="1" dirty="0" err="1"/>
                  <a:t>датасетов</a:t>
                </a:r>
                <a:endParaRPr lang="ru-RU" sz="2300" i="1" dirty="0"/>
              </a:p>
              <a:p>
                <a:r>
                  <a:rPr lang="ru-RU" sz="2300" i="1" dirty="0" smtClean="0"/>
                  <a:t> </a:t>
                </a:r>
                <a:r>
                  <a:rPr lang="ru-RU" sz="2300" i="1" dirty="0"/>
                  <a:t>чувствительна к выбросам</a:t>
                </a:r>
              </a:p>
              <a:p>
                <a:r>
                  <a:rPr lang="ru-RU" sz="2300" i="1" dirty="0"/>
                  <a:t>Не </a:t>
                </a:r>
                <a:r>
                  <a:rPr lang="ru-RU" sz="2300" i="1" dirty="0" err="1"/>
                  <a:t>чувствтиельна</a:t>
                </a:r>
                <a:r>
                  <a:rPr lang="ru-RU" sz="2300" i="1" dirty="0"/>
                  <a:t> к смещениям (может завышать прогноз)</a:t>
                </a:r>
              </a:p>
              <a:p>
                <a:r>
                  <a:rPr lang="ru-RU" sz="2300" i="1" dirty="0" smtClean="0"/>
                  <a:t>Бессмысленно </a:t>
                </a:r>
                <a:r>
                  <a:rPr lang="ru-RU" sz="2300" i="1" dirty="0"/>
                  <a:t>для цикличных данных </a:t>
                </a:r>
                <a:r>
                  <a:rPr lang="ru-RU" sz="2300" i="1" dirty="0" smtClean="0"/>
                  <a:t>(колебания </a:t>
                </a:r>
                <a:r>
                  <a:rPr lang="ru-RU" sz="2300" i="1" dirty="0"/>
                  <a:t>около </a:t>
                </a:r>
                <a:r>
                  <a:rPr lang="ru-RU" sz="2300" i="1" dirty="0" smtClean="0"/>
                  <a:t>среднего)</a:t>
                </a:r>
              </a:p>
              <a:p>
                <a:pPr marL="0" indent="0">
                  <a:buNone/>
                </a:pPr>
                <a:r>
                  <a:rPr lang="ru-RU" sz="2300" b="1" dirty="0"/>
                  <a:t>Применение:</a:t>
                </a:r>
                <a:r>
                  <a:rPr lang="ru-RU" sz="2300" dirty="0"/>
                  <a:t>  </a:t>
                </a:r>
                <a:r>
                  <a:rPr lang="ru-RU" sz="2300" dirty="0" smtClean="0"/>
                  <a:t>оценка необходимости усложнения моделей, не подходит для оценок предсказаний</a:t>
                </a:r>
                <a:endParaRPr lang="ru-RU" i="1" dirty="0"/>
              </a:p>
              <a:p>
                <a:endParaRPr lang="ru-RU" dirty="0"/>
              </a:p>
            </p:txBody>
          </p:sp>
        </mc:Choice>
        <mc:Fallback xmlns="">
          <p:sp>
            <p:nvSpPr>
              <p:cNvPr id="6" name="Объект 2">
                <a:extLst>
                  <a:ext uri="{FF2B5EF4-FFF2-40B4-BE49-F238E27FC236}">
                    <a16:creationId xmlns:a16="http://schemas.microsoft.com/office/drawing/2014/main" id="{F36D5F59-98C7-DA5F-CF10-55D98AB8D1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85481" y="880358"/>
                <a:ext cx="6966966" cy="5544023"/>
              </a:xfrm>
              <a:prstGeom prst="rect">
                <a:avLst/>
              </a:prstGeom>
              <a:blipFill>
                <a:blip r:embed="rId4"/>
                <a:stretch>
                  <a:fillRect l="-105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Прямоугольник 6"/>
          <p:cNvSpPr/>
          <p:nvPr/>
        </p:nvSpPr>
        <p:spPr>
          <a:xfrm>
            <a:off x="4252454" y="6293017"/>
            <a:ext cx="7701739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400" dirty="0"/>
              <a:t>https://medium.com/@sahin.samia/understanding-r-squared-in-regression-analysis-2d8246a63dbb</a:t>
            </a:r>
          </a:p>
        </p:txBody>
      </p:sp>
      <p:sp>
        <p:nvSpPr>
          <p:cNvPr id="8" name="Прямоугольник 7"/>
          <p:cNvSpPr/>
          <p:nvPr/>
        </p:nvSpPr>
        <p:spPr>
          <a:xfrm>
            <a:off x="210903" y="6519446"/>
            <a:ext cx="4132991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1600" dirty="0"/>
              <a:t>https://robjhyndman.com/papers/foresight.pdf</a:t>
            </a:r>
          </a:p>
        </p:txBody>
      </p:sp>
      <p:sp>
        <p:nvSpPr>
          <p:cNvPr id="10" name="Прямоугольник 9"/>
          <p:cNvSpPr/>
          <p:nvPr/>
        </p:nvSpPr>
        <p:spPr>
          <a:xfrm>
            <a:off x="210903" y="6301526"/>
            <a:ext cx="3938642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1600" dirty="0"/>
              <a:t>https://robjhyndman.com/hyndsight/smape/</a:t>
            </a:r>
          </a:p>
        </p:txBody>
      </p:sp>
      <p:sp>
        <p:nvSpPr>
          <p:cNvPr id="11" name="Прямоугольник 10"/>
          <p:cNvSpPr/>
          <p:nvPr/>
        </p:nvSpPr>
        <p:spPr>
          <a:xfrm>
            <a:off x="5680710" y="6533654"/>
            <a:ext cx="6096000" cy="27699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sz="1200" dirty="0"/>
              <a:t>https://www.numberanalytics.com/blog/interpreting-r-squared-regression-model</a:t>
            </a:r>
          </a:p>
        </p:txBody>
      </p:sp>
      <p:cxnSp>
        <p:nvCxnSpPr>
          <p:cNvPr id="9" name="Прямая соединительная линия 8"/>
          <p:cNvCxnSpPr/>
          <p:nvPr/>
        </p:nvCxnSpPr>
        <p:spPr>
          <a:xfrm>
            <a:off x="5085481" y="957431"/>
            <a:ext cx="0" cy="533558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471021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0ECBE6-C98F-34F8-85FA-4E3E156A2D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6E894CF-7B83-8D4C-DEF3-4EC9F893EE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0010" y="222622"/>
            <a:ext cx="10973790" cy="644278"/>
          </a:xfrm>
        </p:spPr>
        <p:txBody>
          <a:bodyPr>
            <a:normAutofit fontScale="90000"/>
          </a:bodyPr>
          <a:lstStyle/>
          <a:p>
            <a:pPr algn="ctr"/>
            <a:r>
              <a:rPr lang="ru-RU" b="1" dirty="0" smtClean="0"/>
              <a:t>Альтернативные </a:t>
            </a:r>
            <a:r>
              <a:rPr lang="ru-RU" b="1" dirty="0"/>
              <a:t>т</a:t>
            </a:r>
            <a:r>
              <a:rPr lang="ru-RU" b="1" dirty="0" smtClean="0"/>
              <a:t>очечные ошибки</a:t>
            </a:r>
            <a:endParaRPr lang="ru-RU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33A328BF-940E-C916-4DE1-EC9DF63BD93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058918" y="737046"/>
                <a:ext cx="5008969" cy="2600298"/>
              </a:xfrm>
            </p:spPr>
            <p:txBody>
              <a:bodyPr>
                <a:normAutofit fontScale="92500"/>
              </a:bodyPr>
              <a:lstStyle/>
              <a:p>
                <a:pPr marL="0" indent="0" algn="ctr">
                  <a:lnSpc>
                    <a:spcPct val="120000"/>
                  </a:lnSpc>
                  <a:spcBef>
                    <a:spcPts val="0"/>
                  </a:spcBef>
                  <a:buNone/>
                </a:pPr>
                <a:r>
                  <a:rPr lang="en-US" sz="2600" dirty="0" smtClean="0"/>
                  <a:t>SMAPE 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ru-RU" sz="26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600"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US" sz="2600" b="1" i="1" smtClean="0">
                            <a:latin typeface="Cambria Math" panose="02040503050406030204" pitchFamily="18" charset="0"/>
                          </a:rPr>
                          <m:t>𝒉</m:t>
                        </m:r>
                      </m:den>
                    </m:f>
                    <m:nary>
                      <m:naryPr>
                        <m:chr m:val="∑"/>
                        <m:limLoc m:val="subSup"/>
                        <m:ctrlPr>
                          <a:rPr lang="ru-RU" sz="2600" b="1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ru-RU" sz="2600" b="1" i="1">
                            <a:latin typeface="Cambria Math" panose="02040503050406030204" pitchFamily="18" charset="0"/>
                          </a:rPr>
                          <m:t>𝒊</m:t>
                        </m:r>
                        <m:r>
                          <a:rPr lang="ru-RU" sz="260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26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b>
                      <m:sup>
                        <m:r>
                          <a:rPr lang="en-US" sz="2600" b="1" i="1" smtClean="0">
                            <a:latin typeface="Cambria Math" panose="02040503050406030204" pitchFamily="18" charset="0"/>
                          </a:rPr>
                          <m:t>𝒉</m:t>
                        </m:r>
                        <m:r>
                          <a:rPr lang="en-US" sz="2600" b="1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2600" b="1" i="1" smtClean="0">
                            <a:latin typeface="Cambria Math" panose="02040503050406030204" pitchFamily="18" charset="0"/>
                          </a:rPr>
                          <m:t>𝑻</m:t>
                        </m:r>
                      </m:sup>
                      <m:e>
                        <m:f>
                          <m:fPr>
                            <m:ctrlPr>
                              <a:rPr lang="ru-RU" sz="2600" b="1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d>
                              <m:dPr>
                                <m:begChr m:val="|"/>
                                <m:endChr m:val="|"/>
                                <m:ctrlPr>
                                  <a:rPr lang="ru-RU" sz="2600" b="1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ru-RU" sz="2600" b="1" i="1">
                                    <a:latin typeface="Cambria Math" panose="02040503050406030204" pitchFamily="18" charset="0"/>
                                  </a:rPr>
                                  <m:t>𝒚</m:t>
                                </m:r>
                                <m:d>
                                  <m:dPr>
                                    <m:ctrlPr>
                                      <a:rPr lang="ru-RU" sz="2600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600" b="1" i="1" smtClean="0">
                                        <a:latin typeface="Cambria Math" panose="02040503050406030204" pitchFamily="18" charset="0"/>
                                      </a:rPr>
                                      <m:t>𝒊</m:t>
                                    </m:r>
                                  </m:e>
                                </m:d>
                                <m:r>
                                  <a:rPr lang="ru-RU" sz="260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acc>
                                  <m:accPr>
                                    <m:chr m:val="̂"/>
                                    <m:ctrlPr>
                                      <a:rPr lang="ru-RU" sz="2600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ru-RU" sz="2600" b="1" i="1">
                                        <a:latin typeface="Cambria Math" panose="02040503050406030204" pitchFamily="18" charset="0"/>
                                      </a:rPr>
                                      <m:t>𝒚</m:t>
                                    </m:r>
                                  </m:e>
                                </m:acc>
                                <m:d>
                                  <m:dPr>
                                    <m:ctrlPr>
                                      <a:rPr lang="ru-RU" sz="26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60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e>
                                </m:d>
                              </m:e>
                            </m:d>
                          </m:num>
                          <m:den>
                            <m:d>
                              <m:dPr>
                                <m:begChr m:val="|"/>
                                <m:endChr m:val="|"/>
                                <m:ctrlPr>
                                  <a:rPr lang="ru-RU" sz="2600" b="1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ru-RU" sz="2600" b="1" i="1">
                                    <a:latin typeface="Cambria Math" panose="02040503050406030204" pitchFamily="18" charset="0"/>
                                  </a:rPr>
                                  <m:t>𝒚</m:t>
                                </m:r>
                                <m:d>
                                  <m:dPr>
                                    <m:ctrlPr>
                                      <a:rPr lang="ru-RU" sz="2600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600" b="1" i="1" smtClean="0">
                                        <a:latin typeface="Cambria Math" panose="02040503050406030204" pitchFamily="18" charset="0"/>
                                      </a:rPr>
                                      <m:t>𝒊</m:t>
                                    </m:r>
                                  </m:e>
                                </m:d>
                              </m:e>
                            </m:d>
                            <m:r>
                              <a:rPr lang="ru-RU" sz="2600">
                                <a:latin typeface="Cambria Math" panose="02040503050406030204" pitchFamily="18" charset="0"/>
                              </a:rPr>
                              <m:t>+</m:t>
                            </m:r>
                            <m:d>
                              <m:dPr>
                                <m:begChr m:val="|"/>
                                <m:endChr m:val="|"/>
                                <m:ctrlPr>
                                  <a:rPr lang="ru-RU" sz="26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acc>
                                  <m:accPr>
                                    <m:chr m:val="̂"/>
                                    <m:ctrlPr>
                                      <a:rPr lang="ru-RU" sz="2600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ru-RU" sz="2600" b="1" i="1">
                                        <a:latin typeface="Cambria Math" panose="02040503050406030204" pitchFamily="18" charset="0"/>
                                      </a:rPr>
                                      <m:t>𝒚</m:t>
                                    </m:r>
                                  </m:e>
                                </m:acc>
                                <m:d>
                                  <m:dPr>
                                    <m:ctrlPr>
                                      <a:rPr lang="ru-RU" sz="26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60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e>
                                </m:d>
                              </m:e>
                            </m:d>
                          </m:den>
                        </m:f>
                      </m:e>
                    </m:nary>
                  </m:oMath>
                </a14:m>
                <a:endParaRPr lang="ru-RU" sz="2600" dirty="0"/>
              </a:p>
              <a:p>
                <a:pPr marL="0" indent="0">
                  <a:lnSpc>
                    <a:spcPct val="120000"/>
                  </a:lnSpc>
                  <a:spcBef>
                    <a:spcPts val="0"/>
                  </a:spcBef>
                  <a:buNone/>
                </a:pPr>
                <a:r>
                  <a:rPr lang="ru-RU" sz="2600" dirty="0" smtClean="0"/>
                  <a:t>Значения ограничены от 0 до 200%</a:t>
                </a:r>
                <a:endParaRPr lang="en-US" sz="2600" dirty="0" smtClean="0"/>
              </a:p>
              <a:p>
                <a:pPr marL="0" indent="0">
                  <a:lnSpc>
                    <a:spcPct val="120000"/>
                  </a:lnSpc>
                  <a:spcBef>
                    <a:spcPts val="0"/>
                  </a:spcBef>
                  <a:buNone/>
                </a:pPr>
                <a:r>
                  <a:rPr lang="ru-RU" sz="2600" b="1" i="1" dirty="0" smtClean="0"/>
                  <a:t>асимметрия </a:t>
                </a:r>
                <a:r>
                  <a:rPr lang="en-US" sz="1700" i="1" dirty="0"/>
                  <a:t>A</a:t>
                </a:r>
                <a:r>
                  <a:rPr lang="en-US" sz="1700" i="1" baseline="-25000" dirty="0"/>
                  <a:t>t</a:t>
                </a:r>
                <a:r>
                  <a:rPr lang="en-US" sz="1700" dirty="0"/>
                  <a:t> = </a:t>
                </a:r>
                <a:r>
                  <a:rPr lang="en-US" sz="1700" dirty="0" smtClean="0"/>
                  <a:t>1</a:t>
                </a:r>
                <a:r>
                  <a:rPr lang="ru-RU" sz="1700" dirty="0" smtClean="0"/>
                  <a:t>00</a:t>
                </a:r>
                <a:r>
                  <a:rPr lang="en-US" sz="1700" dirty="0" smtClean="0"/>
                  <a:t> </a:t>
                </a:r>
                <a:r>
                  <a:rPr lang="en-US" sz="1700" dirty="0"/>
                  <a:t> </a:t>
                </a:r>
                <a:r>
                  <a:rPr lang="en-US" sz="1700" i="1" dirty="0"/>
                  <a:t>F</a:t>
                </a:r>
                <a:r>
                  <a:rPr lang="en-US" sz="1700" i="1" baseline="-25000" dirty="0"/>
                  <a:t>t</a:t>
                </a:r>
                <a:r>
                  <a:rPr lang="en-US" sz="1700" dirty="0"/>
                  <a:t> = </a:t>
                </a:r>
                <a:r>
                  <a:rPr lang="en-US" sz="1700" dirty="0" smtClean="0"/>
                  <a:t>11</a:t>
                </a:r>
                <a:r>
                  <a:rPr lang="ru-RU" sz="1700" dirty="0" smtClean="0"/>
                  <a:t>0</a:t>
                </a:r>
                <a:r>
                  <a:rPr lang="en-US" sz="1700" dirty="0" smtClean="0"/>
                  <a:t> </a:t>
                </a:r>
                <a:r>
                  <a:rPr lang="ru-RU" sz="1700" dirty="0" smtClean="0"/>
                  <a:t> </a:t>
                </a:r>
                <a:r>
                  <a:rPr lang="en-US" sz="2100" dirty="0" smtClean="0"/>
                  <a:t>SMAPE=</a:t>
                </a:r>
                <a:r>
                  <a:rPr lang="en-US" sz="2100" dirty="0"/>
                  <a:t> </a:t>
                </a:r>
                <a:r>
                  <a:rPr lang="en-US" sz="2100" dirty="0" smtClean="0"/>
                  <a:t>4.76%</a:t>
                </a:r>
                <a:r>
                  <a:rPr lang="ru-RU" sz="2100" dirty="0" smtClean="0"/>
                  <a:t> </a:t>
                </a:r>
                <a:r>
                  <a:rPr lang="en-US" sz="2100" i="1" dirty="0" smtClean="0"/>
                  <a:t>A</a:t>
                </a:r>
                <a:r>
                  <a:rPr lang="en-US" sz="2100" i="1" baseline="-25000" dirty="0" smtClean="0"/>
                  <a:t>t</a:t>
                </a:r>
                <a:r>
                  <a:rPr lang="en-US" sz="2100" dirty="0"/>
                  <a:t> = </a:t>
                </a:r>
                <a:r>
                  <a:rPr lang="ru-RU" sz="2100" dirty="0" smtClean="0"/>
                  <a:t>100 </a:t>
                </a:r>
                <a:r>
                  <a:rPr lang="en-US" sz="2100" dirty="0"/>
                  <a:t> </a:t>
                </a:r>
                <a:r>
                  <a:rPr lang="en-US" sz="2100" i="1" dirty="0"/>
                  <a:t>F</a:t>
                </a:r>
                <a:r>
                  <a:rPr lang="en-US" sz="2100" i="1" baseline="-25000" dirty="0"/>
                  <a:t>t</a:t>
                </a:r>
                <a:r>
                  <a:rPr lang="en-US" sz="2100" dirty="0"/>
                  <a:t> = </a:t>
                </a:r>
                <a:r>
                  <a:rPr lang="en-US" sz="2100" dirty="0" smtClean="0"/>
                  <a:t>9</a:t>
                </a:r>
                <a:r>
                  <a:rPr lang="ru-RU" sz="2100" dirty="0" smtClean="0"/>
                  <a:t>0</a:t>
                </a:r>
                <a:r>
                  <a:rPr lang="en-US" sz="2100" dirty="0" smtClean="0"/>
                  <a:t> SMAPE </a:t>
                </a:r>
                <a:r>
                  <a:rPr lang="en-US" sz="2100" dirty="0"/>
                  <a:t>= 5.26</a:t>
                </a:r>
                <a:r>
                  <a:rPr lang="en-US" sz="2100" dirty="0" smtClean="0"/>
                  <a:t>%.</a:t>
                </a:r>
                <a:endParaRPr lang="ru-RU" sz="2100" b="1" i="1" dirty="0" smtClean="0"/>
              </a:p>
              <a:p>
                <a:pPr>
                  <a:lnSpc>
                    <a:spcPct val="120000"/>
                  </a:lnSpc>
                  <a:spcBef>
                    <a:spcPts val="0"/>
                  </a:spcBef>
                </a:pPr>
                <a:r>
                  <a:rPr lang="ru-RU" sz="2600" i="1" dirty="0" smtClean="0"/>
                  <a:t>Возможно деление на 0</a:t>
                </a:r>
                <a:endParaRPr lang="ru-RU" sz="2600" i="1" dirty="0"/>
              </a:p>
              <a:p>
                <a:endParaRPr lang="ru-RU" i="1" dirty="0"/>
              </a:p>
              <a:p>
                <a:endParaRPr lang="ru-RU" dirty="0"/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33A328BF-940E-C916-4DE1-EC9DF63BD93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058918" y="737046"/>
                <a:ext cx="5008969" cy="2600298"/>
              </a:xfrm>
              <a:blipFill>
                <a:blip r:embed="rId3"/>
                <a:stretch>
                  <a:fillRect l="-1946" r="-243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76F98A8C-F7C2-2B93-2D9B-DA2ED901EE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30</a:t>
            </a:fld>
            <a:endParaRPr lang="en-US"/>
          </a:p>
        </p:txBody>
      </p:sp>
      <p:sp>
        <p:nvSpPr>
          <p:cNvPr id="6" name="Объект 2">
            <a:extLst>
              <a:ext uri="{FF2B5EF4-FFF2-40B4-BE49-F238E27FC236}">
                <a16:creationId xmlns:a16="http://schemas.microsoft.com/office/drawing/2014/main" id="{C7AFC9B3-F745-F057-1292-20E1B701763D}"/>
              </a:ext>
            </a:extLst>
          </p:cNvPr>
          <p:cNvSpPr txBox="1">
            <a:spLocks/>
          </p:cNvSpPr>
          <p:nvPr/>
        </p:nvSpPr>
        <p:spPr>
          <a:xfrm>
            <a:off x="6096000" y="1009404"/>
            <a:ext cx="5308271" cy="50619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ru-RU" sz="2300" i="1" dirty="0"/>
          </a:p>
          <a:p>
            <a:endParaRPr lang="ru-RU" i="1" dirty="0"/>
          </a:p>
          <a:p>
            <a:endParaRPr lang="ru-RU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1227130" y="6431096"/>
            <a:ext cx="463941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https://robjhyndman.com/papers/foresight.pdf</a:t>
            </a:r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Объект 2">
                <a:extLst>
                  <a:ext uri="{FF2B5EF4-FFF2-40B4-BE49-F238E27FC236}">
                    <a16:creationId xmlns:a16="http://schemas.microsoft.com/office/drawing/2014/main" id="{33A328BF-940E-C916-4DE1-EC9DF63BD93D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374615" y="4289095"/>
                <a:ext cx="4215049" cy="1449967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 fontScale="85000" lnSpcReduction="10000"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sz="2000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 dirty="0" smtClean="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p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1−</m:t>
                    </m:r>
                    <m:f>
                      <m:fPr>
                        <m:ctrlPr>
                          <a:rPr lang="en-US" sz="2000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nary>
                          <m:naryPr>
                            <m:chr m:val="∑"/>
                            <m:supHide m:val="on"/>
                            <m:ctrlPr>
                              <a:rPr lang="en-US" sz="2000" i="1" dirty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US" sz="2000" i="1" dirty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  <m:sup/>
                          <m:e>
                            <m:sSup>
                              <m:sSupPr>
                                <m:ctrlPr>
                                  <a:rPr lang="en-US" sz="2000" i="1" dirty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US" sz="2000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000" i="1" dirty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  <m:d>
                                      <m:dPr>
                                        <m:ctrlPr>
                                          <a:rPr lang="ru-RU" sz="2000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2000" i="1" dirty="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e>
                                    </m:d>
                                    <m:r>
                                      <a:rPr lang="ru-RU" sz="2000" i="1" dirty="0">
                                        <a:latin typeface="Cambria Math" panose="02040503050406030204" pitchFamily="18" charset="0"/>
                                      </a:rPr>
                                      <m:t>​</m:t>
                                    </m:r>
                                    <m:r>
                                      <a:rPr lang="en-US" sz="2000" i="1" dirty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acc>
                                      <m:accPr>
                                        <m:chr m:val="̂"/>
                                        <m:ctrlPr>
                                          <a:rPr lang="en-US" sz="2000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sz="2000" i="1" dirty="0"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e>
                                    </m:acc>
                                    <m:d>
                                      <m:dPr>
                                        <m:ctrlPr>
                                          <a:rPr lang="en-US" sz="2000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2000" i="1" dirty="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e>
                                    </m:d>
                                  </m:e>
                                </m:d>
                              </m:e>
                              <m:sup>
                                <m:r>
                                  <a:rPr lang="en-US" sz="2000" i="1" dirty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nary>
                      </m:num>
                      <m:den>
                        <m:nary>
                          <m:naryPr>
                            <m:chr m:val="∑"/>
                            <m:supHide m:val="on"/>
                            <m:ctrlPr>
                              <a:rPr lang="en-US" sz="2000" i="1" dirty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US" sz="2000" i="1" dirty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  <m:sup/>
                          <m:e>
                            <m:sSup>
                              <m:sSupPr>
                                <m:ctrlPr>
                                  <a:rPr lang="en-US" sz="2000" i="1" dirty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US" sz="2000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000" i="1" dirty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  <m:d>
                                      <m:dPr>
                                        <m:ctrlPr>
                                          <a:rPr lang="ru-RU" sz="2000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2000" i="1" dirty="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e>
                                    </m:d>
                                    <m:r>
                                      <a:rPr lang="ru-RU" sz="2000" i="1" dirty="0">
                                        <a:latin typeface="Cambria Math" panose="02040503050406030204" pitchFamily="18" charset="0"/>
                                      </a:rPr>
                                      <m:t>​</m:t>
                                    </m:r>
                                    <m:r>
                                      <a:rPr lang="en-US" sz="2000" i="1" dirty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f>
                                      <m:fPr>
                                        <m:ctrlPr>
                                          <a:rPr lang="en-US" sz="2000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2000" i="1" dirty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sSub>
                                          <m:sSubPr>
                                            <m:ctrlPr>
                                              <a:rPr lang="en-US" sz="2000" b="0" i="1" dirty="0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sz="2000" b="0" i="1" dirty="0" smtClean="0">
                                                <a:latin typeface="Cambria Math" panose="02040503050406030204" pitchFamily="18" charset="0"/>
                                              </a:rPr>
                                              <m:t>𝑁</m:t>
                                            </m:r>
                                          </m:e>
                                          <m:sub>
                                            <m:r>
                                              <a:rPr lang="en-US" sz="2000" b="0" i="1" dirty="0" smtClean="0">
                                                <a:latin typeface="Cambria Math" panose="02040503050406030204" pitchFamily="18" charset="0"/>
                                              </a:rPr>
                                              <m:t>𝑡𝑟𝑎𝑖𝑛</m:t>
                                            </m:r>
                                          </m:sub>
                                        </m:sSub>
                                      </m:den>
                                    </m:f>
                                    <m:r>
                                      <a:rPr lang="en-US" sz="2000" i="1" dirty="0">
                                        <a:latin typeface="Cambria Math" panose="02040503050406030204" pitchFamily="18" charset="0"/>
                                      </a:rPr>
                                      <m:t>∑</m:t>
                                    </m:r>
                                    <m:acc>
                                      <m:accPr>
                                        <m:chr m:val="̂"/>
                                        <m:ctrlPr>
                                          <a:rPr lang="en-US" sz="2000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sz="2000" i="1" dirty="0"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e>
                                    </m:acc>
                                    <m:d>
                                      <m:dPr>
                                        <m:ctrlPr>
                                          <a:rPr lang="en-US" sz="2000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2000" i="1" dirty="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e>
                                    </m:d>
                                  </m:e>
                                </m:d>
                              </m:e>
                              <m:sup>
                                <m:r>
                                  <a:rPr lang="en-US" sz="2000" i="1" dirty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nary>
                      </m:den>
                    </m:f>
                  </m:oMath>
                </a14:m>
                <a:endParaRPr lang="ru-RU" sz="2000" dirty="0"/>
              </a:p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ru-RU" sz="2000" b="1" i="1" dirty="0" smtClean="0"/>
                  <a:t>Сравнение дисперсий на тесте и </a:t>
                </a:r>
                <a:r>
                  <a:rPr lang="ru-RU" sz="2000" b="1" i="1" dirty="0" err="1" smtClean="0"/>
                  <a:t>трейне</a:t>
                </a:r>
                <a:endParaRPr lang="ru-RU" sz="2000" i="1" dirty="0"/>
              </a:p>
              <a:p>
                <a:r>
                  <a:rPr lang="en" sz="2000" dirty="0"/>
                  <a:t>Q² &lt;&lt; R² </a:t>
                </a:r>
                <a:r>
                  <a:rPr lang="en" sz="2000" dirty="0" smtClean="0"/>
                  <a:t>→</a:t>
                </a:r>
                <a:r>
                  <a:rPr lang="en-US" sz="2000" dirty="0" smtClean="0"/>
                  <a:t>overfitting</a:t>
                </a:r>
                <a:endParaRPr lang="ru-RU" sz="2000" dirty="0"/>
              </a:p>
            </p:txBody>
          </p:sp>
        </mc:Choice>
        <mc:Fallback xmlns="">
          <p:sp>
            <p:nvSpPr>
              <p:cNvPr id="7" name="Объект 2">
                <a:extLst>
                  <a:ext uri="{FF2B5EF4-FFF2-40B4-BE49-F238E27FC236}">
                    <a16:creationId xmlns:a16="http://schemas.microsoft.com/office/drawing/2014/main" id="{33A328BF-940E-C916-4DE1-EC9DF63BD9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74615" y="4289095"/>
                <a:ext cx="4215049" cy="1449967"/>
              </a:xfrm>
              <a:prstGeom prst="rect">
                <a:avLst/>
              </a:prstGeom>
              <a:blipFill>
                <a:blip r:embed="rId4"/>
                <a:stretch>
                  <a:fillRect l="-1013" b="-548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Объект 2">
                <a:extLst>
                  <a:ext uri="{FF2B5EF4-FFF2-40B4-BE49-F238E27FC236}">
                    <a16:creationId xmlns:a16="http://schemas.microsoft.com/office/drawing/2014/main" id="{33A328BF-940E-C916-4DE1-EC9DF63BD93D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261245" y="3314253"/>
                <a:ext cx="4711633" cy="632320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 lnSpcReduction="10000"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𝑒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∗=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𝑒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/</m:t>
                    </m:r>
                    <m:sSub>
                      <m:sSubPr>
                        <m:ctrlPr>
                          <a:rPr lang="en-US" sz="2000" i="1" dirty="0" err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dirty="0" err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sz="2000" i="1" dirty="0" err="1" smtClean="0">
                            <a:latin typeface="Cambria Math" panose="02040503050406030204" pitchFamily="18" charset="0"/>
                          </a:rPr>
                          <m:t>𝑏</m:t>
                        </m:r>
                      </m:sub>
                    </m:sSub>
                  </m:oMath>
                </a14:m>
                <a:r>
                  <a:rPr lang="en-US" sz="2000" dirty="0" smtClean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dirty="0" err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sz="2000" i="1" dirty="0" err="1">
                            <a:latin typeface="Cambria Math" panose="02040503050406030204" pitchFamily="18" charset="0"/>
                          </a:rPr>
                          <m:t>𝑏</m:t>
                        </m:r>
                      </m:sub>
                    </m:sSub>
                  </m:oMath>
                </a14:m>
                <a:r>
                  <a:rPr lang="en-US" sz="2000" dirty="0" smtClean="0"/>
                  <a:t> - </a:t>
                </a:r>
                <a:r>
                  <a:rPr lang="ru-RU" sz="2000" dirty="0" smtClean="0"/>
                  <a:t>эталонное предсказание (напр. </a:t>
                </a:r>
                <a:r>
                  <a:rPr lang="ru-RU" sz="2000" dirty="0" err="1" smtClean="0"/>
                  <a:t>бейзлайн</a:t>
                </a:r>
                <a:r>
                  <a:rPr lang="ru-RU" sz="2000" dirty="0" smtClean="0"/>
                  <a:t> или </a:t>
                </a:r>
                <a:r>
                  <a:rPr lang="ru-RU" sz="2000" dirty="0" err="1" smtClean="0"/>
                  <a:t>тренйн</a:t>
                </a:r>
                <a:r>
                  <a:rPr lang="ru-RU" sz="2000" dirty="0" smtClean="0"/>
                  <a:t>)</a:t>
                </a:r>
                <a:endParaRPr lang="ru-RU" sz="2000" dirty="0"/>
              </a:p>
            </p:txBody>
          </p:sp>
        </mc:Choice>
        <mc:Fallback xmlns="">
          <p:sp>
            <p:nvSpPr>
              <p:cNvPr id="8" name="Объект 2">
                <a:extLst>
                  <a:ext uri="{FF2B5EF4-FFF2-40B4-BE49-F238E27FC236}">
                    <a16:creationId xmlns:a16="http://schemas.microsoft.com/office/drawing/2014/main" id="{33A328BF-940E-C916-4DE1-EC9DF63BD9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61245" y="3314253"/>
                <a:ext cx="4711633" cy="632320"/>
              </a:xfrm>
              <a:prstGeom prst="rect">
                <a:avLst/>
              </a:prstGeom>
              <a:blipFill>
                <a:blip r:embed="rId5"/>
                <a:stretch>
                  <a:fillRect l="-1294" t="-14563" b="-1068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Объект 2">
            <a:extLst>
              <a:ext uri="{FF2B5EF4-FFF2-40B4-BE49-F238E27FC236}">
                <a16:creationId xmlns:a16="http://schemas.microsoft.com/office/drawing/2014/main" id="{33A328BF-940E-C916-4DE1-EC9DF63BD93D}"/>
              </a:ext>
            </a:extLst>
          </p:cNvPr>
          <p:cNvSpPr txBox="1">
            <a:spLocks/>
          </p:cNvSpPr>
          <p:nvPr/>
        </p:nvSpPr>
        <p:spPr>
          <a:xfrm>
            <a:off x="156301" y="1810301"/>
            <a:ext cx="6830256" cy="434116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 b="1" dirty="0"/>
              <a:t>Mean Absolute Scaled Error (MASE</a:t>
            </a:r>
            <a:r>
              <a:rPr lang="en-US" sz="2000" b="1" dirty="0" smtClean="0"/>
              <a:t>) </a:t>
            </a:r>
            <a:r>
              <a:rPr lang="ru-RU" sz="2000" b="1" dirty="0" smtClean="0"/>
              <a:t>и сезонная </a:t>
            </a:r>
            <a:r>
              <a:rPr lang="en-US" sz="2000" b="1" dirty="0"/>
              <a:t>MASE</a:t>
            </a:r>
            <a:r>
              <a:rPr lang="ru-RU" sz="2000" b="1" dirty="0" smtClean="0"/>
              <a:t>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000" b="1" dirty="0" smtClean="0"/>
              <a:t>Плюсы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ru-RU" sz="2000" dirty="0" smtClean="0"/>
              <a:t>Предсказуемое значение около 0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ru-RU" sz="2000" dirty="0" smtClean="0"/>
              <a:t>Сравнима на разных наборах данных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ru-RU" sz="2000" dirty="0" smtClean="0"/>
              <a:t>Применима для интервальных и вероятностных прогнозов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ru-RU" sz="2000" dirty="0" smtClean="0"/>
              <a:t>Лишена </a:t>
            </a:r>
            <a:r>
              <a:rPr lang="en-US" sz="2000" dirty="0" smtClean="0"/>
              <a:t> </a:t>
            </a:r>
            <a:r>
              <a:rPr lang="ru-RU" sz="2000" dirty="0" smtClean="0"/>
              <a:t>части недостатков </a:t>
            </a:r>
            <a:r>
              <a:rPr lang="en-US" sz="2000" dirty="0" smtClean="0"/>
              <a:t>RMSE, MAPE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000" b="1" dirty="0" smtClean="0"/>
              <a:t>Минусы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ru-RU" sz="2000" dirty="0" smtClean="0"/>
              <a:t>Сложности предметной интерпретируемости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ru-RU" sz="2000" dirty="0" smtClean="0"/>
              <a:t>Не работает если оценки уровня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000" b="1" dirty="0" smtClean="0"/>
              <a:t>Применение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1800" dirty="0"/>
              <a:t>Сравнение с наивным </a:t>
            </a:r>
            <a:r>
              <a:rPr lang="ru-RU" sz="1800" dirty="0" smtClean="0"/>
              <a:t>прогнозом, ранжирование моделей</a:t>
            </a:r>
            <a:endParaRPr lang="ru-RU" sz="1800" dirty="0"/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800" dirty="0"/>
              <a:t>MASE&lt;1 – </a:t>
            </a:r>
            <a:r>
              <a:rPr lang="ru-RU" sz="1800" dirty="0"/>
              <a:t>модель лучше наивной,</a:t>
            </a: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ru-RU" sz="1800" dirty="0"/>
              <a:t>MASE = 0.7 означает, что модель ошибается на 30% меньше, чем простейший прогноз 'завтра = сегодня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2000" b="1" dirty="0"/>
          </a:p>
        </p:txBody>
      </p:sp>
      <p:cxnSp>
        <p:nvCxnSpPr>
          <p:cNvPr id="10" name="Прямая соединительная линия 9"/>
          <p:cNvCxnSpPr/>
          <p:nvPr/>
        </p:nvCxnSpPr>
        <p:spPr>
          <a:xfrm>
            <a:off x="7374615" y="4289095"/>
            <a:ext cx="384426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Прямая соединительная линия 16"/>
          <p:cNvCxnSpPr/>
          <p:nvPr/>
        </p:nvCxnSpPr>
        <p:spPr>
          <a:xfrm>
            <a:off x="7560009" y="3314253"/>
            <a:ext cx="384426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Объект 2">
                <a:extLst>
                  <a:ext uri="{FF2B5EF4-FFF2-40B4-BE49-F238E27FC236}">
                    <a16:creationId xmlns:a16="http://schemas.microsoft.com/office/drawing/2014/main" id="{33A328BF-940E-C916-4DE1-EC9DF63BD93D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130533" y="5750676"/>
                <a:ext cx="4273738" cy="899490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 lnSpcReduction="10000"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ru-RU" sz="2000" dirty="0" smtClean="0"/>
                  <a:t>другие варианты, напр.</a:t>
                </a:r>
                <a:br>
                  <a:rPr lang="ru-RU" sz="2000" dirty="0" smtClean="0"/>
                </a:br>
                <a:r>
                  <a:rPr lang="ru-RU" sz="2000" dirty="0" smtClean="0"/>
                  <a:t>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𝑅𝑀𝑆𝑆</m:t>
                    </m:r>
                    <m:sSub>
                      <m:sSubPr>
                        <m:ctrlPr>
                          <a:rPr lang="en-US" sz="20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dirty="0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 =</m:t>
                    </m:r>
                    <m:f>
                      <m:fPr>
                        <m:ctrlPr>
                          <a:rPr lang="ru-RU" sz="2000" b="1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b="1" i="1">
                            <a:latin typeface="Cambria Math" panose="02040503050406030204" pitchFamily="18" charset="0"/>
                          </a:rPr>
                          <m:t>𝟏</m:t>
                        </m:r>
                        <m:r>
                          <a:rPr lang="en-US" sz="2000" b="1" i="1"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US" sz="2000" b="1" i="1">
                            <a:latin typeface="Cambria Math" panose="02040503050406030204" pitchFamily="18" charset="0"/>
                          </a:rPr>
                          <m:t>𝒉</m:t>
                        </m:r>
                        <m:r>
                          <a:rPr lang="en-US" sz="2000" b="1" i="1">
                            <a:latin typeface="Cambria Math" panose="02040503050406030204" pitchFamily="18" charset="0"/>
                          </a:rPr>
                          <m:t>∑</m:t>
                        </m:r>
                        <m:sSup>
                          <m:sSupPr>
                            <m:ctrlPr>
                              <a:rPr lang="en-US" sz="2000" b="1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|"/>
                                <m:endChr m:val="|"/>
                                <m:ctrlPr>
                                  <a:rPr lang="ru-RU" sz="2000" b="1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ru-RU" sz="2000" b="1" i="1">
                                    <a:latin typeface="Cambria Math" panose="02040503050406030204" pitchFamily="18" charset="0"/>
                                  </a:rPr>
                                  <m:t>𝒚</m:t>
                                </m:r>
                                <m:d>
                                  <m:dPr>
                                    <m:ctrlPr>
                                      <a:rPr lang="ru-RU" sz="2000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000" b="1" i="1">
                                        <a:latin typeface="Cambria Math" panose="02040503050406030204" pitchFamily="18" charset="0"/>
                                      </a:rPr>
                                      <m:t>𝒊</m:t>
                                    </m:r>
                                  </m:e>
                                </m:d>
                                <m:r>
                                  <a:rPr lang="ru-RU" sz="200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acc>
                                  <m:accPr>
                                    <m:chr m:val="̂"/>
                                    <m:ctrlPr>
                                      <a:rPr lang="ru-RU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ru-RU" sz="2000" b="1" i="1">
                                        <a:latin typeface="Cambria Math" panose="02040503050406030204" pitchFamily="18" charset="0"/>
                                      </a:rPr>
                                      <m:t>𝒚</m:t>
                                    </m:r>
                                  </m:e>
                                </m:acc>
                                <m:d>
                                  <m:dPr>
                                    <m:ctrlPr>
                                      <a:rPr lang="ru-RU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e>
                                </m:d>
                              </m:e>
                            </m:d>
                          </m:e>
                          <m:sup>
                            <m:r>
                              <a:rPr lang="en-US" sz="2000" b="1" i="1" smtClean="0"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p>
                        </m:sSup>
                      </m:num>
                      <m:den>
                        <m:f>
                          <m:fPr>
                            <m:ctrlPr>
                              <a:rPr lang="en-US" sz="2000" b="1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000" b="1" i="1">
                                <a:latin typeface="Cambria Math" panose="02040503050406030204" pitchFamily="18" charset="0"/>
                              </a:rPr>
                              <m:t>𝟏</m:t>
                            </m:r>
                          </m:num>
                          <m:den>
                            <m:r>
                              <a:rPr lang="en-US" sz="2000" b="1" i="1">
                                <a:latin typeface="Cambria Math" panose="02040503050406030204" pitchFamily="18" charset="0"/>
                              </a:rPr>
                              <m:t>𝒉</m:t>
                            </m:r>
                            <m:r>
                              <a:rPr lang="en-US" sz="2000" b="1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2000" b="1" i="1">
                                <a:latin typeface="Cambria Math" panose="02040503050406030204" pitchFamily="18" charset="0"/>
                              </a:rPr>
                              <m:t>𝒔</m:t>
                            </m:r>
                          </m:den>
                        </m:f>
                        <m:r>
                          <a:rPr lang="en-US" sz="2000" b="1" i="1">
                            <a:latin typeface="Cambria Math" panose="02040503050406030204" pitchFamily="18" charset="0"/>
                          </a:rPr>
                          <m:t>∑</m:t>
                        </m:r>
                        <m:sSup>
                          <m:sSupPr>
                            <m:ctrlPr>
                              <a:rPr lang="en-US" sz="2000" b="1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|"/>
                                <m:endChr m:val="|"/>
                                <m:ctrlPr>
                                  <a:rPr lang="ru-RU" sz="2000" b="1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ru-RU" sz="2000" b="1" i="1">
                                    <a:latin typeface="Cambria Math" panose="02040503050406030204" pitchFamily="18" charset="0"/>
                                  </a:rPr>
                                  <m:t>𝒚</m:t>
                                </m:r>
                                <m:d>
                                  <m:dPr>
                                    <m:ctrlPr>
                                      <a:rPr lang="ru-RU" sz="2000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000" b="1" i="1">
                                        <a:latin typeface="Cambria Math" panose="02040503050406030204" pitchFamily="18" charset="0"/>
                                      </a:rPr>
                                      <m:t>𝒊</m:t>
                                    </m:r>
                                  </m:e>
                                </m:d>
                                <m:r>
                                  <a:rPr lang="en-US" sz="2000" b="1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sz="2000" b="1" i="1">
                                    <a:latin typeface="Cambria Math" panose="02040503050406030204" pitchFamily="18" charset="0"/>
                                  </a:rPr>
                                  <m:t>𝒚</m:t>
                                </m:r>
                                <m:d>
                                  <m:dPr>
                                    <m:ctrlPr>
                                      <a:rPr lang="en-US" sz="2000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000" b="1" i="1">
                                        <a:latin typeface="Cambria Math" panose="02040503050406030204" pitchFamily="18" charset="0"/>
                                      </a:rPr>
                                      <m:t>𝒊</m:t>
                                    </m:r>
                                    <m:r>
                                      <a:rPr lang="en-US" sz="2000" b="1" i="1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sz="2000" b="1" i="1">
                                        <a:latin typeface="Cambria Math" panose="02040503050406030204" pitchFamily="18" charset="0"/>
                                      </a:rPr>
                                      <m:t>𝒔</m:t>
                                    </m:r>
                                  </m:e>
                                </m:d>
                              </m:e>
                            </m:d>
                          </m:e>
                          <m:sup>
                            <m:r>
                              <a:rPr lang="en-US" sz="2000" b="1" i="1" smtClean="0"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p>
                        </m:sSup>
                      </m:den>
                    </m:f>
                  </m:oMath>
                </a14:m>
                <a:endParaRPr lang="ru-RU" sz="2000" dirty="0"/>
              </a:p>
            </p:txBody>
          </p:sp>
        </mc:Choice>
        <mc:Fallback xmlns="">
          <p:sp>
            <p:nvSpPr>
              <p:cNvPr id="19" name="Объект 2">
                <a:extLst>
                  <a:ext uri="{FF2B5EF4-FFF2-40B4-BE49-F238E27FC236}">
                    <a16:creationId xmlns:a16="http://schemas.microsoft.com/office/drawing/2014/main" id="{33A328BF-940E-C916-4DE1-EC9DF63BD9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30533" y="5750676"/>
                <a:ext cx="4273738" cy="899490"/>
              </a:xfrm>
              <a:prstGeom prst="rect">
                <a:avLst/>
              </a:prstGeom>
              <a:blipFill>
                <a:blip r:embed="rId6"/>
                <a:stretch>
                  <a:fillRect l="-1569" t="-945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Прямоугольник 12"/>
              <p:cNvSpPr/>
              <p:nvPr/>
            </p:nvSpPr>
            <p:spPr>
              <a:xfrm>
                <a:off x="156301" y="862047"/>
                <a:ext cx="3916457" cy="93993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000" smtClean="0">
                          <a:latin typeface="Cambria Math" panose="02040503050406030204" pitchFamily="18" charset="0"/>
                        </a:rPr>
                        <m:t>MASE</m:t>
                      </m:r>
                      <m:r>
                        <a:rPr lang="en-US" sz="200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ru-RU" sz="2000" b="1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b="1" i="1"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n-US" sz="2000" b="1" i="1">
                              <a:latin typeface="Cambria Math" panose="02040503050406030204" pitchFamily="18" charset="0"/>
                            </a:rPr>
                            <m:t>/</m:t>
                          </m:r>
                          <m:r>
                            <a:rPr lang="en-US" sz="2000" b="1" i="1">
                              <a:latin typeface="Cambria Math" panose="02040503050406030204" pitchFamily="18" charset="0"/>
                            </a:rPr>
                            <m:t>𝒉</m:t>
                          </m:r>
                          <m:r>
                            <a:rPr lang="en-US" sz="2000" b="1" i="1">
                              <a:latin typeface="Cambria Math" panose="02040503050406030204" pitchFamily="18" charset="0"/>
                            </a:rPr>
                            <m:t>∑</m:t>
                          </m:r>
                          <m:d>
                            <m:dPr>
                              <m:begChr m:val="|"/>
                              <m:endChr m:val="|"/>
                              <m:ctrlPr>
                                <a:rPr lang="ru-RU" sz="20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ru-RU" sz="2000" b="1" i="1"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  <m:d>
                                <m:dPr>
                                  <m:ctrlPr>
                                    <a:rPr lang="ru-RU" sz="2000" b="1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000" b="1" i="1"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</m:e>
                              </m:d>
                              <m:r>
                                <a:rPr lang="ru-RU" sz="200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acc>
                                <m:accPr>
                                  <m:chr m:val="̂"/>
                                  <m:ctrlPr>
                                    <a:rPr lang="ru-RU" sz="20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ru-RU" sz="2000" b="1" i="1">
                                      <a:latin typeface="Cambria Math" panose="02040503050406030204" pitchFamily="18" charset="0"/>
                                    </a:rPr>
                                    <m:t>𝒚</m:t>
                                  </m:r>
                                </m:e>
                              </m:acc>
                              <m:d>
                                <m:dPr>
                                  <m:ctrlPr>
                                    <a:rPr lang="ru-RU" sz="20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</m:d>
                            </m:e>
                          </m:d>
                        </m:num>
                        <m:den>
                          <m:f>
                            <m:fPr>
                              <m:ctrlPr>
                                <a:rPr lang="en-US" sz="2000" b="1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000" b="1" i="1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num>
                            <m:den>
                              <m:r>
                                <a:rPr lang="en-US" sz="2000" b="1" i="1">
                                  <a:latin typeface="Cambria Math" panose="02040503050406030204" pitchFamily="18" charset="0"/>
                                </a:rPr>
                                <m:t>𝒉</m:t>
                              </m:r>
                              <m:r>
                                <a:rPr lang="en-US" sz="2000" b="1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000" b="1" i="1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den>
                          </m:f>
                          <m:r>
                            <a:rPr lang="en-US" sz="2000" b="1" i="1">
                              <a:latin typeface="Cambria Math" panose="02040503050406030204" pitchFamily="18" charset="0"/>
                            </a:rPr>
                            <m:t>∑</m:t>
                          </m:r>
                          <m:d>
                            <m:dPr>
                              <m:begChr m:val="|"/>
                              <m:endChr m:val="|"/>
                              <m:ctrlPr>
                                <a:rPr lang="ru-RU" sz="20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ru-RU" sz="2000" b="1" i="1"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  <m:d>
                                <m:dPr>
                                  <m:ctrlPr>
                                    <a:rPr lang="ru-RU" sz="2000" b="1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000" b="1" i="1"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</m:e>
                              </m:d>
                              <m:r>
                                <a:rPr lang="en-US" sz="2000" b="1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000" b="1" i="1"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  <m:r>
                                <a:rPr lang="en-US" sz="2000" b="1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2000" b="1" i="1"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  <m:r>
                                <a:rPr lang="en-US" sz="2000" b="1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000" b="1" i="1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lang="en-US" sz="2000" b="1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ru-RU" sz="2000" dirty="0"/>
              </a:p>
            </p:txBody>
          </p:sp>
        </mc:Choice>
        <mc:Fallback xmlns="">
          <p:sp>
            <p:nvSpPr>
              <p:cNvPr id="13" name="Прямоугольник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6301" y="862047"/>
                <a:ext cx="3916457" cy="93993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Прямоугольник 21"/>
              <p:cNvSpPr/>
              <p:nvPr/>
            </p:nvSpPr>
            <p:spPr>
              <a:xfrm>
                <a:off x="4084159" y="1054599"/>
                <a:ext cx="2902398" cy="68095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2000" dirty="0" smtClean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000" b="0" i="0" smtClean="0">
                            <a:latin typeface="Cambria Math" panose="02040503050406030204" pitchFamily="18" charset="0"/>
                          </a:rPr>
                          <m:t>MASE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000" b="0" i="0" smtClean="0">
                            <a:latin typeface="Cambria Math" panose="02040503050406030204" pitchFamily="18" charset="0"/>
                          </a:rPr>
                          <m:t>s</m:t>
                        </m:r>
                      </m:sub>
                    </m:sSub>
                    <m:r>
                      <a:rPr lang="en-US" sz="2000" b="0" i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ru-RU" sz="2000" b="1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b="1" i="1">
                            <a:latin typeface="Cambria Math" panose="02040503050406030204" pitchFamily="18" charset="0"/>
                          </a:rPr>
                          <m:t>𝟏</m:t>
                        </m:r>
                        <m:r>
                          <a:rPr lang="en-US" sz="2000" b="1" i="1"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US" sz="2000" b="1" i="1">
                            <a:latin typeface="Cambria Math" panose="02040503050406030204" pitchFamily="18" charset="0"/>
                          </a:rPr>
                          <m:t>𝒉</m:t>
                        </m:r>
                        <m:r>
                          <a:rPr lang="en-US" sz="2000" b="1" i="1">
                            <a:latin typeface="Cambria Math" panose="02040503050406030204" pitchFamily="18" charset="0"/>
                          </a:rPr>
                          <m:t>∑</m:t>
                        </m:r>
                        <m:d>
                          <m:dPr>
                            <m:begChr m:val="|"/>
                            <m:endChr m:val="|"/>
                            <m:ctrlPr>
                              <a:rPr lang="ru-RU" sz="2000" b="1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ru-RU" sz="2000" b="1" i="1">
                                <a:latin typeface="Cambria Math" panose="02040503050406030204" pitchFamily="18" charset="0"/>
                              </a:rPr>
                              <m:t>𝒚</m:t>
                            </m:r>
                            <m:d>
                              <m:dPr>
                                <m:ctrlPr>
                                  <a:rPr lang="ru-RU" sz="2000" b="1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000" b="1" i="1">
                                    <a:latin typeface="Cambria Math" panose="02040503050406030204" pitchFamily="18" charset="0"/>
                                  </a:rPr>
                                  <m:t>𝒊</m:t>
                                </m:r>
                              </m:e>
                            </m:d>
                            <m:r>
                              <a:rPr lang="ru-RU" sz="200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acc>
                              <m:accPr>
                                <m:chr m:val="̂"/>
                                <m:ctrlPr>
                                  <a:rPr lang="ru-RU" sz="2000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ru-RU" sz="2000" b="1" i="1">
                                    <a:latin typeface="Cambria Math" panose="02040503050406030204" pitchFamily="18" charset="0"/>
                                  </a:rPr>
                                  <m:t>𝒚</m:t>
                                </m:r>
                              </m:e>
                            </m:acc>
                            <m:d>
                              <m:dPr>
                                <m:ctrlPr>
                                  <a:rPr lang="ru-RU" sz="20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e>
                            </m:d>
                          </m:e>
                        </m:d>
                      </m:num>
                      <m:den>
                        <m:f>
                          <m:fPr>
                            <m:ctrlPr>
                              <a:rPr lang="en-US" sz="2000" b="1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000" b="1" i="1">
                                <a:latin typeface="Cambria Math" panose="02040503050406030204" pitchFamily="18" charset="0"/>
                              </a:rPr>
                              <m:t>𝟏</m:t>
                            </m:r>
                          </m:num>
                          <m:den>
                            <m:r>
                              <a:rPr lang="en-US" sz="2000" b="1" i="1">
                                <a:latin typeface="Cambria Math" panose="02040503050406030204" pitchFamily="18" charset="0"/>
                              </a:rPr>
                              <m:t>𝒉</m:t>
                            </m:r>
                            <m:r>
                              <a:rPr lang="en-US" sz="2000" b="1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2000" b="1" i="1" smtClean="0">
                                <a:latin typeface="Cambria Math" panose="02040503050406030204" pitchFamily="18" charset="0"/>
                              </a:rPr>
                              <m:t>𝒔</m:t>
                            </m:r>
                          </m:den>
                        </m:f>
                        <m:r>
                          <a:rPr lang="en-US" sz="2000" b="1" i="1">
                            <a:latin typeface="Cambria Math" panose="02040503050406030204" pitchFamily="18" charset="0"/>
                          </a:rPr>
                          <m:t>∑</m:t>
                        </m:r>
                        <m:d>
                          <m:dPr>
                            <m:begChr m:val="|"/>
                            <m:endChr m:val="|"/>
                            <m:ctrlPr>
                              <a:rPr lang="ru-RU" sz="2000" b="1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ru-RU" sz="2000" b="1" i="1">
                                <a:latin typeface="Cambria Math" panose="02040503050406030204" pitchFamily="18" charset="0"/>
                              </a:rPr>
                              <m:t>𝒚</m:t>
                            </m:r>
                            <m:d>
                              <m:dPr>
                                <m:ctrlPr>
                                  <a:rPr lang="ru-RU" sz="2000" b="1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000" b="1" i="1">
                                    <a:latin typeface="Cambria Math" panose="02040503050406030204" pitchFamily="18" charset="0"/>
                                  </a:rPr>
                                  <m:t>𝒊</m:t>
                                </m:r>
                              </m:e>
                            </m:d>
                            <m:r>
                              <a:rPr lang="en-US" sz="2000" b="1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2000" b="1" i="1">
                                <a:latin typeface="Cambria Math" panose="02040503050406030204" pitchFamily="18" charset="0"/>
                              </a:rPr>
                              <m:t>𝒚</m:t>
                            </m:r>
                            <m:r>
                              <a:rPr lang="en-US" sz="2000" b="1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sz="2000" b="1" i="1">
                                <a:latin typeface="Cambria Math" panose="02040503050406030204" pitchFamily="18" charset="0"/>
                              </a:rPr>
                              <m:t>𝒊</m:t>
                            </m:r>
                            <m:r>
                              <a:rPr lang="en-US" sz="2000" b="1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2000" b="1" i="1" smtClean="0">
                                <a:latin typeface="Cambria Math" panose="02040503050406030204" pitchFamily="18" charset="0"/>
                              </a:rPr>
                              <m:t>𝒔</m:t>
                            </m:r>
                            <m:r>
                              <a:rPr lang="en-US" sz="2000" b="1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d>
                      </m:den>
                    </m:f>
                  </m:oMath>
                </a14:m>
                <a:endParaRPr lang="ru-RU" sz="2000" dirty="0"/>
              </a:p>
            </p:txBody>
          </p:sp>
        </mc:Choice>
        <mc:Fallback xmlns="">
          <p:sp>
            <p:nvSpPr>
              <p:cNvPr id="22" name="Прямоугольник 2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84159" y="1054599"/>
                <a:ext cx="2902398" cy="680956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3" name="Прямая соединительная линия 22"/>
          <p:cNvCxnSpPr/>
          <p:nvPr/>
        </p:nvCxnSpPr>
        <p:spPr>
          <a:xfrm>
            <a:off x="7429131" y="5736634"/>
            <a:ext cx="384426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Прямоугольник 14"/>
          <p:cNvSpPr/>
          <p:nvPr/>
        </p:nvSpPr>
        <p:spPr>
          <a:xfrm>
            <a:off x="7381608" y="6501155"/>
            <a:ext cx="383726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/>
              <a:t>https://otexts.com/fpp3/accuracy.html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Прямоугольник 15"/>
              <p:cNvSpPr/>
              <p:nvPr/>
            </p:nvSpPr>
            <p:spPr>
              <a:xfrm>
                <a:off x="8954559" y="3743639"/>
                <a:ext cx="2724400" cy="52578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ru-RU" dirty="0" smtClean="0"/>
                  <a:t>По сути: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mtClean="0">
                        <a:latin typeface="Cambria Math" panose="02040503050406030204" pitchFamily="18" charset="0"/>
                      </a:rPr>
                      <m:t>MASE</m:t>
                    </m:r>
                    <m:r>
                      <a:rPr lang="en-US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ru-RU" b="1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𝑴𝑨</m:t>
                        </m:r>
                        <m:sSub>
                          <m:sSubPr>
                            <m:ctrlPr>
                              <a:rPr lang="en-US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𝑬</m:t>
                            </m:r>
                          </m:e>
                          <m:sub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𝒎𝒐𝒅𝒆𝒍</m:t>
                            </m:r>
                          </m:sub>
                        </m:sSub>
                      </m:num>
                      <m:den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𝑴𝑨</m:t>
                        </m:r>
                        <m:sSub>
                          <m:sSubPr>
                            <m:ctrlPr>
                              <a:rPr lang="en-US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𝑬</m:t>
                            </m:r>
                          </m:e>
                          <m:sub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𝒏𝒂𝒊𝒗𝒆</m:t>
                            </m:r>
                          </m:sub>
                        </m:sSub>
                      </m:den>
                    </m:f>
                  </m:oMath>
                </a14:m>
                <a:endParaRPr lang="ru-RU" dirty="0"/>
              </a:p>
            </p:txBody>
          </p:sp>
        </mc:Choice>
        <mc:Fallback xmlns="">
          <p:sp>
            <p:nvSpPr>
              <p:cNvPr id="16" name="Прямоугольник 1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54559" y="3743639"/>
                <a:ext cx="2724400" cy="525785"/>
              </a:xfrm>
              <a:prstGeom prst="rect">
                <a:avLst/>
              </a:prstGeom>
              <a:blipFill>
                <a:blip r:embed="rId9"/>
                <a:stretch>
                  <a:fillRect l="-2013" b="-1163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Прямая соединительная линия 10"/>
          <p:cNvCxnSpPr/>
          <p:nvPr/>
        </p:nvCxnSpPr>
        <p:spPr>
          <a:xfrm>
            <a:off x="6986557" y="1009404"/>
            <a:ext cx="0" cy="534694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005565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15153" y="279064"/>
            <a:ext cx="11138647" cy="430941"/>
          </a:xfrm>
        </p:spPr>
        <p:txBody>
          <a:bodyPr>
            <a:normAutofit fontScale="90000"/>
          </a:bodyPr>
          <a:lstStyle/>
          <a:p>
            <a:r>
              <a:rPr lang="ru-RU" dirty="0" smtClean="0"/>
              <a:t>Таблица некоторых точечных метрик</a:t>
            </a:r>
            <a:endParaRPr lang="ru-RU" dirty="0"/>
          </a:p>
        </p:txBody>
      </p:sp>
      <p:graphicFrame>
        <p:nvGraphicFramePr>
          <p:cNvPr id="5" name="Объект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7567727"/>
              </p:ext>
            </p:extLst>
          </p:nvPr>
        </p:nvGraphicFramePr>
        <p:xfrm>
          <a:off x="215153" y="805254"/>
          <a:ext cx="11596742" cy="5934408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986747">
                  <a:extLst>
                    <a:ext uri="{9D8B030D-6E8A-4147-A177-3AD203B41FA5}">
                      <a16:colId xmlns:a16="http://schemas.microsoft.com/office/drawing/2014/main" val="1439355750"/>
                    </a:ext>
                  </a:extLst>
                </a:gridCol>
                <a:gridCol w="2396509">
                  <a:extLst>
                    <a:ext uri="{9D8B030D-6E8A-4147-A177-3AD203B41FA5}">
                      <a16:colId xmlns:a16="http://schemas.microsoft.com/office/drawing/2014/main" val="2310902935"/>
                    </a:ext>
                  </a:extLst>
                </a:gridCol>
                <a:gridCol w="3070850">
                  <a:extLst>
                    <a:ext uri="{9D8B030D-6E8A-4147-A177-3AD203B41FA5}">
                      <a16:colId xmlns:a16="http://schemas.microsoft.com/office/drawing/2014/main" val="2239289574"/>
                    </a:ext>
                  </a:extLst>
                </a:gridCol>
                <a:gridCol w="5142636">
                  <a:extLst>
                    <a:ext uri="{9D8B030D-6E8A-4147-A177-3AD203B41FA5}">
                      <a16:colId xmlns:a16="http://schemas.microsoft.com/office/drawing/2014/main" val="2324475927"/>
                    </a:ext>
                  </a:extLst>
                </a:gridCol>
              </a:tblGrid>
              <a:tr h="311971">
                <a:tc>
                  <a:txBody>
                    <a:bodyPr/>
                    <a:lstStyle/>
                    <a:p>
                      <a:pPr algn="l" fontAlgn="ctr"/>
                      <a:r>
                        <a:rPr lang="ru-RU" sz="1800" u="none" strike="noStrike" dirty="0">
                          <a:effectLst/>
                        </a:rPr>
                        <a:t>Метрика</a:t>
                      </a:r>
                      <a:endParaRPr lang="ru-RU" sz="1800" b="1" i="0" u="none" strike="noStrike" dirty="0">
                        <a:solidFill>
                          <a:srgbClr val="40404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40964" marR="4552" marT="4552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 sz="1800" u="none" strike="noStrike" dirty="0">
                          <a:effectLst/>
                        </a:rPr>
                        <a:t>Плюсы</a:t>
                      </a:r>
                      <a:endParaRPr lang="ru-RU" sz="1800" b="1" i="0" u="none" strike="noStrike" dirty="0">
                        <a:solidFill>
                          <a:srgbClr val="40404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40964" marR="4552" marT="4552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 sz="1800" u="none" strike="noStrike">
                          <a:effectLst/>
                        </a:rPr>
                        <a:t>Минусы</a:t>
                      </a:r>
                      <a:endParaRPr lang="ru-RU" sz="1800" b="1" i="0" u="none" strike="noStrike">
                        <a:solidFill>
                          <a:srgbClr val="40404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40964" marR="4552" marT="4552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 sz="1800" u="none" strike="noStrike">
                          <a:effectLst/>
                        </a:rPr>
                        <a:t>Применимость в временных рядах</a:t>
                      </a:r>
                      <a:endParaRPr lang="ru-RU" sz="1800" b="1" i="0" u="none" strike="noStrike">
                        <a:solidFill>
                          <a:srgbClr val="40404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40964" marR="4552" marT="4552" marB="0" anchor="ctr"/>
                </a:tc>
                <a:extLst>
                  <a:ext uri="{0D108BD9-81ED-4DB2-BD59-A6C34878D82A}">
                    <a16:rowId xmlns:a16="http://schemas.microsoft.com/office/drawing/2014/main" val="1656263163"/>
                  </a:ext>
                </a:extLst>
              </a:tr>
              <a:tr h="474163"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u="none" strike="noStrike" dirty="0">
                          <a:effectLst/>
                        </a:rPr>
                        <a:t>RMSE, MSE</a:t>
                      </a:r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40964" marR="4552" marT="4552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 sz="1800" u="none" strike="noStrike" dirty="0">
                          <a:effectLst/>
                        </a:rPr>
                        <a:t>Учитывает большие ошибки, дифференцируема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40964" marR="4552" marT="4552" marB="0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u="none" strike="noStrike" dirty="0">
                          <a:effectLst/>
                        </a:rPr>
                        <a:t>Чувствительна к </a:t>
                      </a:r>
                      <a:r>
                        <a:rPr lang="ru-RU" sz="1800" u="none" strike="noStrike" dirty="0" smtClean="0">
                          <a:effectLst/>
                        </a:rPr>
                        <a:t>выбросам, нестационарным или зашумленным данным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40964" marR="4552" marT="4552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 sz="1800" u="none" strike="noStrike" dirty="0">
                          <a:effectLst/>
                        </a:rPr>
                        <a:t>Полезна, если важны большие отклонения, но нежелательна при наличии аномалий </a:t>
                      </a:r>
                      <a:endParaRPr lang="ru-RU" sz="1800" u="none" strike="noStrike" dirty="0" smtClean="0">
                        <a:effectLst/>
                      </a:endParaRPr>
                    </a:p>
                  </a:txBody>
                  <a:tcPr marL="40964" marR="4552" marT="4552" marB="0" anchor="ctr"/>
                </a:tc>
                <a:extLst>
                  <a:ext uri="{0D108BD9-81ED-4DB2-BD59-A6C34878D82A}">
                    <a16:rowId xmlns:a16="http://schemas.microsoft.com/office/drawing/2014/main" val="3163357294"/>
                  </a:ext>
                </a:extLst>
              </a:tr>
              <a:tr h="519777"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u="none" strike="noStrike">
                          <a:effectLst/>
                        </a:rPr>
                        <a:t>MAE</a:t>
                      </a:r>
                      <a:endParaRPr lang="en-US" sz="1800" b="1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40964" marR="4552" marT="4552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 sz="1800" u="none" strike="noStrike" dirty="0">
                          <a:effectLst/>
                        </a:rPr>
                        <a:t>Робастна к выбросам, простая интерпретация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40964" marR="4552" marT="4552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 sz="1800" u="none" strike="noStrike" dirty="0">
                          <a:effectLst/>
                        </a:rPr>
                        <a:t>Не дифференцируема в нуле, </a:t>
                      </a:r>
                      <a:r>
                        <a:rPr lang="ru-RU" sz="1800" u="none" strike="noStrike" dirty="0" smtClean="0">
                          <a:effectLst/>
                        </a:rPr>
                        <a:t>штраф ошибок </a:t>
                      </a:r>
                      <a:r>
                        <a:rPr lang="ru-RU" sz="1800" u="none" strike="noStrike" dirty="0" err="1" smtClean="0">
                          <a:effectLst/>
                        </a:rPr>
                        <a:t>одинаов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40964" marR="4552" marT="4552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 sz="1800" u="none" strike="noStrike">
                          <a:effectLst/>
                        </a:rPr>
                        <a:t>Хороша для интерпретируемости, устойчива к аномалиям</a:t>
                      </a:r>
                      <a:endParaRPr lang="ru-RU" sz="18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40964" marR="4552" marT="4552" marB="0" anchor="ctr"/>
                </a:tc>
                <a:extLst>
                  <a:ext uri="{0D108BD9-81ED-4DB2-BD59-A6C34878D82A}">
                    <a16:rowId xmlns:a16="http://schemas.microsoft.com/office/drawing/2014/main" val="35307316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u="none" strike="noStrike">
                          <a:effectLst/>
                        </a:rPr>
                        <a:t>MAPE</a:t>
                      </a:r>
                      <a:endParaRPr lang="en-US" sz="1800" b="1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40964" marR="4552" marT="4552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 sz="1800" u="none" strike="noStrike" dirty="0">
                          <a:effectLst/>
                        </a:rPr>
                        <a:t>Интерпретируема в %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40964" marR="4552" marT="4552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 sz="1800" u="none" strike="noStrike" dirty="0">
                          <a:effectLst/>
                        </a:rPr>
                        <a:t>Не определена при нулевых значениях, асимметрична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40964" marR="4552" marT="4552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 sz="1800" u="none" strike="noStrike" dirty="0">
                          <a:effectLst/>
                        </a:rPr>
                        <a:t>Полезна для сравнения моделей, но не подходит для рядов с нулями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40964" marR="4552" marT="4552" marB="0" anchor="ctr"/>
                </a:tc>
                <a:extLst>
                  <a:ext uri="{0D108BD9-81ED-4DB2-BD59-A6C34878D82A}">
                    <a16:rowId xmlns:a16="http://schemas.microsoft.com/office/drawing/2014/main" val="174164839"/>
                  </a:ext>
                </a:extLst>
              </a:tr>
              <a:tr h="648261"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u="none" strike="noStrike">
                          <a:effectLst/>
                        </a:rPr>
                        <a:t>sMAPE</a:t>
                      </a:r>
                      <a:endParaRPr lang="en-US" sz="1800" b="1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40964" marR="4552" marT="4552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 sz="1800" u="none" strike="noStrike" dirty="0">
                          <a:effectLst/>
                        </a:rPr>
                        <a:t>Симметрична, работает при нулях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40964" marR="4552" marT="4552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 sz="1800" u="none" strike="noStrike" dirty="0">
                          <a:effectLst/>
                        </a:rPr>
                        <a:t>Может давать завышенные оценки при малых значениях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40964" marR="4552" marT="4552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 sz="1800" u="none" strike="noStrike" dirty="0">
                          <a:effectLst/>
                        </a:rPr>
                        <a:t>Альтернатива MAPE, но тоже не идеальна для рядов с нулями или экстремальными значениями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40964" marR="4552" marT="4552" marB="0" anchor="ctr"/>
                </a:tc>
                <a:extLst>
                  <a:ext uri="{0D108BD9-81ED-4DB2-BD59-A6C34878D82A}">
                    <a16:rowId xmlns:a16="http://schemas.microsoft.com/office/drawing/2014/main" val="278348988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u="none" strike="noStrike" dirty="0" smtClean="0">
                          <a:effectLst/>
                        </a:rPr>
                        <a:t>R²</a:t>
                      </a:r>
                      <a:endParaRPr lang="ru-RU" sz="1800" b="1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40964" marR="4552" marT="4552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 sz="1800" u="none" strike="noStrike" dirty="0" smtClean="0">
                          <a:effectLst/>
                        </a:rPr>
                        <a:t>доля </a:t>
                      </a:r>
                      <a:r>
                        <a:rPr lang="ru-RU" sz="1800" u="none" strike="noStrike" dirty="0">
                          <a:effectLst/>
                        </a:rPr>
                        <a:t>объяснённой дисперсии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40964" marR="4552" marT="4552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 sz="1800" u="none" strike="noStrike" dirty="0">
                          <a:effectLst/>
                        </a:rPr>
                        <a:t>Может быть </a:t>
                      </a:r>
                      <a:r>
                        <a:rPr lang="en-US" sz="1800" u="none" strike="noStrike" dirty="0" smtClean="0">
                          <a:effectLst/>
                        </a:rPr>
                        <a:t>&lt;0</a:t>
                      </a:r>
                      <a:r>
                        <a:rPr lang="ru-RU" sz="1800" u="none" strike="noStrike" dirty="0" smtClean="0">
                          <a:effectLst/>
                        </a:rPr>
                        <a:t>, </a:t>
                      </a:r>
                      <a:r>
                        <a:rPr lang="ru-RU" sz="1800" u="none" strike="noStrike" dirty="0">
                          <a:effectLst/>
                        </a:rPr>
                        <a:t>чувствительна к переобучению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40964" marR="4552" marT="4552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 sz="1800" u="none" strike="noStrike" dirty="0" smtClean="0">
                          <a:effectLst/>
                        </a:rPr>
                        <a:t>для </a:t>
                      </a:r>
                      <a:r>
                        <a:rPr lang="ru-RU" sz="1800" u="none" strike="noStrike" dirty="0">
                          <a:effectLst/>
                        </a:rPr>
                        <a:t>сравнения моделей, но требует осторожности в нелинейных и нестационарных рядах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40964" marR="4552" marT="4552" marB="0" anchor="ctr"/>
                </a:tc>
                <a:extLst>
                  <a:ext uri="{0D108BD9-81ED-4DB2-BD59-A6C34878D82A}">
                    <a16:rowId xmlns:a16="http://schemas.microsoft.com/office/drawing/2014/main" val="7946672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u="none" strike="noStrike">
                          <a:effectLst/>
                        </a:rPr>
                        <a:t>MedAE</a:t>
                      </a:r>
                      <a:endParaRPr lang="en-US" sz="1800" b="1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40964" marR="4552" marT="4552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 sz="1800" u="none" strike="noStrike">
                          <a:effectLst/>
                        </a:rPr>
                        <a:t>Очень робастна к выбросам</a:t>
                      </a:r>
                      <a:endParaRPr lang="ru-RU" sz="18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40964" marR="4552" marT="4552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 sz="1800" u="none" strike="noStrike" dirty="0" smtClean="0">
                          <a:effectLst/>
                        </a:rPr>
                        <a:t> </a:t>
                      </a:r>
                      <a:r>
                        <a:rPr lang="ru-RU" sz="1800" u="none" strike="noStrike" dirty="0">
                          <a:effectLst/>
                        </a:rPr>
                        <a:t>сложнее оптимизировать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40964" marR="4552" marT="4552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 sz="1800" u="none" strike="noStrike" dirty="0">
                          <a:effectLst/>
                        </a:rPr>
                        <a:t>Подходит для данных с тяжёлыми хвостами и аномалиями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40964" marR="4552" marT="4552" marB="0" anchor="ctr"/>
                </a:tc>
                <a:extLst>
                  <a:ext uri="{0D108BD9-81ED-4DB2-BD59-A6C34878D82A}">
                    <a16:rowId xmlns:a16="http://schemas.microsoft.com/office/drawing/2014/main" val="119522131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u="none" strike="noStrike">
                          <a:effectLst/>
                        </a:rPr>
                        <a:t>MASE</a:t>
                      </a:r>
                      <a:endParaRPr lang="en-US" sz="1800" b="1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40964" marR="4552" marT="4552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 sz="1800" u="none" strike="noStrike" dirty="0" smtClean="0">
                          <a:effectLst/>
                        </a:rPr>
                        <a:t>сравнивает </a:t>
                      </a:r>
                      <a:r>
                        <a:rPr lang="ru-RU" sz="1800" u="none" strike="noStrike" dirty="0">
                          <a:effectLst/>
                        </a:rPr>
                        <a:t>с базовой моделью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40964" marR="4552" marT="4552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 sz="1800" u="none" strike="noStrike" dirty="0">
                          <a:effectLst/>
                        </a:rPr>
                        <a:t>Требует выбора базовой модели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40964" marR="4552" marT="4552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 sz="1800" u="none" strike="noStrike" dirty="0">
                          <a:effectLst/>
                        </a:rPr>
                        <a:t>Одна из лучших для временных рядов, устойчива к масштабу и сезонности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40964" marR="4552" marT="4552" marB="0" anchor="ctr"/>
                </a:tc>
                <a:extLst>
                  <a:ext uri="{0D108BD9-81ED-4DB2-BD59-A6C34878D82A}">
                    <a16:rowId xmlns:a16="http://schemas.microsoft.com/office/drawing/2014/main" val="117210936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u="none" strike="noStrike">
                          <a:effectLst/>
                        </a:rPr>
                        <a:t>MSLE</a:t>
                      </a:r>
                      <a:endParaRPr lang="en-US" sz="1800" b="1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40964" marR="4552" marT="4552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 sz="1800" u="none" strike="noStrike" dirty="0">
                          <a:effectLst/>
                        </a:rPr>
                        <a:t>Уменьшает влияние больших ошибок, 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40964" marR="4552" marT="4552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 sz="1800" u="none" strike="noStrike" dirty="0">
                          <a:effectLst/>
                        </a:rPr>
                        <a:t>Не работает с отрицательными значениями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40964" marR="4552" marT="4552" marB="0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u="none" strike="noStrike" dirty="0" smtClean="0">
                          <a:effectLst/>
                        </a:rPr>
                        <a:t>для </a:t>
                      </a:r>
                      <a:r>
                        <a:rPr lang="ru-RU" sz="1800" u="none" strike="noStrike" dirty="0">
                          <a:effectLst/>
                        </a:rPr>
                        <a:t>прогнозирования с мультипликативными </a:t>
                      </a:r>
                      <a:r>
                        <a:rPr lang="ru-RU" sz="1800" u="none" strike="noStrike" dirty="0" smtClean="0">
                          <a:effectLst/>
                        </a:rPr>
                        <a:t>трендами и для данных с экспонентой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40964" marR="4552" marT="4552" marB="0" anchor="ctr"/>
                </a:tc>
                <a:extLst>
                  <a:ext uri="{0D108BD9-81ED-4DB2-BD59-A6C34878D82A}">
                    <a16:rowId xmlns:a16="http://schemas.microsoft.com/office/drawing/2014/main" val="2302298193"/>
                  </a:ext>
                </a:extLst>
              </a:tr>
              <a:tr h="391292"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u="none" strike="noStrike">
                          <a:effectLst/>
                        </a:rPr>
                        <a:t>WAPE</a:t>
                      </a:r>
                      <a:endParaRPr lang="en-US" sz="1800" b="1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40964" marR="4552" marT="4552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 sz="1800" u="none" strike="noStrike">
                          <a:effectLst/>
                        </a:rPr>
                        <a:t>Учитывает масштаб данных, устойчива к выбросам</a:t>
                      </a:r>
                      <a:endParaRPr lang="ru-RU" sz="18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40964" marR="4552" marT="4552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 sz="1800" u="none" strike="noStrike" dirty="0">
                          <a:effectLst/>
                        </a:rPr>
                        <a:t>Не нормирована на количество наблюдений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40964" marR="4552" marT="4552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 sz="1800" u="none" strike="noStrike" dirty="0">
                          <a:effectLst/>
                        </a:rPr>
                        <a:t>Хороша для бизнес-аналитики, где важны относительные ошибки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40964" marR="4552" marT="4552" marB="0" anchor="ctr"/>
                </a:tc>
                <a:extLst>
                  <a:ext uri="{0D108BD9-81ED-4DB2-BD59-A6C34878D82A}">
                    <a16:rowId xmlns:a16="http://schemas.microsoft.com/office/drawing/2014/main" val="1926210227"/>
                  </a:ext>
                </a:extLst>
              </a:tr>
            </a:tbl>
          </a:graphicData>
        </a:graphic>
      </p:graphicFrame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73487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15153" y="129034"/>
            <a:ext cx="11138647" cy="430941"/>
          </a:xfrm>
        </p:spPr>
        <p:txBody>
          <a:bodyPr>
            <a:normAutofit fontScale="90000"/>
          </a:bodyPr>
          <a:lstStyle/>
          <a:p>
            <a:r>
              <a:rPr lang="ru-RU" b="1" dirty="0"/>
              <a:t>Экзотические метрики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32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Таблица 6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66063460"/>
                  </p:ext>
                </p:extLst>
              </p:nvPr>
            </p:nvGraphicFramePr>
            <p:xfrm>
              <a:off x="100853" y="559975"/>
              <a:ext cx="11605372" cy="6087205"/>
            </p:xfrm>
            <a:graphic>
              <a:graphicData uri="http://schemas.openxmlformats.org/drawingml/2006/table">
                <a:tbl>
                  <a:tblPr>
                    <a:tableStyleId>{5940675A-B579-460E-94D1-54222C63F5DA}</a:tableStyleId>
                  </a:tblPr>
                  <a:tblGrid>
                    <a:gridCol w="2308972">
                      <a:extLst>
                        <a:ext uri="{9D8B030D-6E8A-4147-A177-3AD203B41FA5}">
                          <a16:colId xmlns:a16="http://schemas.microsoft.com/office/drawing/2014/main" val="4037062250"/>
                        </a:ext>
                      </a:extLst>
                    </a:gridCol>
                    <a:gridCol w="4057650">
                      <a:extLst>
                        <a:ext uri="{9D8B030D-6E8A-4147-A177-3AD203B41FA5}">
                          <a16:colId xmlns:a16="http://schemas.microsoft.com/office/drawing/2014/main" val="1927459579"/>
                        </a:ext>
                      </a:extLst>
                    </a:gridCol>
                    <a:gridCol w="2924175">
                      <a:extLst>
                        <a:ext uri="{9D8B030D-6E8A-4147-A177-3AD203B41FA5}">
                          <a16:colId xmlns:a16="http://schemas.microsoft.com/office/drawing/2014/main" val="3347622711"/>
                        </a:ext>
                      </a:extLst>
                    </a:gridCol>
                    <a:gridCol w="2314575">
                      <a:extLst>
                        <a:ext uri="{9D8B030D-6E8A-4147-A177-3AD203B41FA5}">
                          <a16:colId xmlns:a16="http://schemas.microsoft.com/office/drawing/2014/main" val="2399441415"/>
                        </a:ext>
                      </a:extLst>
                    </a:gridCol>
                  </a:tblGrid>
                  <a:tr h="308881">
                    <a:tc>
                      <a:txBody>
                        <a:bodyPr/>
                        <a:lstStyle/>
                        <a:p>
                          <a:pPr algn="l" fontAlgn="ctr"/>
                          <a:r>
                            <a:rPr lang="ru-RU" sz="1800" u="none" strike="noStrike" dirty="0" smtClean="0">
                              <a:effectLst/>
                            </a:rPr>
                            <a:t>Метрика</a:t>
                          </a:r>
                          <a:endParaRPr lang="ru-RU" sz="1800" b="1" i="0" u="none" strike="noStrike" dirty="0">
                            <a:solidFill>
                              <a:srgbClr val="404040"/>
                            </a:solidFill>
                            <a:effectLst/>
                            <a:latin typeface="Segoe UI" panose="020B0502040204020203" pitchFamily="34" charset="0"/>
                          </a:endParaRPr>
                        </a:p>
                      </a:txBody>
                      <a:tcPr marL="26407" marR="2934" marT="2934" marB="0" anchor="ctr"/>
                    </a:tc>
                    <a:tc>
                      <a:txBody>
                        <a:bodyPr/>
                        <a:lstStyle/>
                        <a:p>
                          <a:pPr algn="l" fontAlgn="ctr"/>
                          <a:r>
                            <a:rPr lang="ru-RU" sz="1800" u="none" strike="noStrike" dirty="0" smtClean="0">
                              <a:effectLst/>
                            </a:rPr>
                            <a:t>Пример</a:t>
                          </a:r>
                          <a:endParaRPr lang="ru-RU" sz="1800" b="1" i="0" u="none" strike="noStrike" dirty="0">
                            <a:solidFill>
                              <a:srgbClr val="404040"/>
                            </a:solidFill>
                            <a:effectLst/>
                            <a:latin typeface="Segoe UI" panose="020B0502040204020203" pitchFamily="34" charset="0"/>
                          </a:endParaRPr>
                        </a:p>
                      </a:txBody>
                      <a:tcPr marL="26407" marR="2934" marT="2934" marB="0" anchor="ctr"/>
                    </a:tc>
                    <a:tc>
                      <a:txBody>
                        <a:bodyPr/>
                        <a:lstStyle/>
                        <a:p>
                          <a:pPr algn="l" fontAlgn="ctr"/>
                          <a:r>
                            <a:rPr lang="ru-RU" sz="1800" u="none" strike="noStrike">
                              <a:effectLst/>
                            </a:rPr>
                            <a:t>Когда использовать?</a:t>
                          </a:r>
                          <a:endParaRPr lang="ru-RU" sz="1800" b="1" i="0" u="none" strike="noStrike">
                            <a:solidFill>
                              <a:srgbClr val="404040"/>
                            </a:solidFill>
                            <a:effectLst/>
                            <a:latin typeface="Segoe UI" panose="020B0502040204020203" pitchFamily="34" charset="0"/>
                          </a:endParaRPr>
                        </a:p>
                      </a:txBody>
                      <a:tcPr marL="26407" marR="2934" marT="2934" marB="0" anchor="ctr"/>
                    </a:tc>
                    <a:tc>
                      <a:txBody>
                        <a:bodyPr/>
                        <a:lstStyle/>
                        <a:p>
                          <a:pPr algn="l" fontAlgn="ctr"/>
                          <a:r>
                            <a:rPr lang="ru-RU" sz="1800" u="none" strike="noStrike">
                              <a:effectLst/>
                            </a:rPr>
                            <a:t>Ограничения</a:t>
                          </a:r>
                          <a:endParaRPr lang="ru-RU" sz="1800" b="1" i="0" u="none" strike="noStrike">
                            <a:solidFill>
                              <a:srgbClr val="404040"/>
                            </a:solidFill>
                            <a:effectLst/>
                            <a:latin typeface="Segoe UI" panose="020B0502040204020203" pitchFamily="34" charset="0"/>
                          </a:endParaRPr>
                        </a:p>
                      </a:txBody>
                      <a:tcPr marL="26407" marR="2934" marT="2934" marB="0" anchor="ctr"/>
                    </a:tc>
                    <a:extLst>
                      <a:ext uri="{0D108BD9-81ED-4DB2-BD59-A6C34878D82A}">
                        <a16:rowId xmlns:a16="http://schemas.microsoft.com/office/drawing/2014/main" val="2664501438"/>
                      </a:ext>
                    </a:extLst>
                  </a:tr>
                  <a:tr h="0">
                    <a:tc rowSpan="2">
                      <a:txBody>
                        <a:bodyPr/>
                        <a:lstStyle/>
                        <a:p>
                          <a:pPr algn="l" fontAlgn="ctr"/>
                          <a:r>
                            <a:rPr lang="en-US" sz="1800" u="none" strike="noStrike" dirty="0" smtClean="0">
                              <a:effectLst/>
                            </a:rPr>
                            <a:t>MedAE</a:t>
                          </a:r>
                          <a:endParaRPr lang="ru-RU" sz="1800" u="none" strike="noStrike" dirty="0" smtClean="0">
                            <a:effectLst/>
                          </a:endParaRPr>
                        </a:p>
                        <a:p>
                          <a:pPr marL="0" marR="0" lvl="1" indent="0" algn="l" defTabSz="914400" rtl="0" eaLnBrk="1" fontAlgn="ctr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smtClean="0">
                                    <a:latin typeface="Cambria Math" panose="02040503050406030204" pitchFamily="18" charset="0"/>
                                  </a:rPr>
                                  <m:t>𝑚𝑒𝑑</m:t>
                                </m:r>
                                <m:r>
                                  <a:rPr lang="en-US" smtClean="0">
                                    <a:latin typeface="Cambria Math" panose="02040503050406030204" pitchFamily="18" charset="0"/>
                                  </a:rPr>
                                  <m:t>{</m:t>
                                </m:r>
                                <m:r>
                                  <a:rPr lang="en-US" smtClean="0"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  <m:r>
                                  <a:rPr lang="en-US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smtClean="0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  <m:r>
                                  <a:rPr lang="en-US" smtClean="0">
                                    <a:latin typeface="Cambria Math" panose="02040503050406030204" pitchFamily="18" charset="0"/>
                                  </a:rPr>
                                  <m:t>)…,</m:t>
                                </m:r>
                                <m:r>
                                  <a:rPr lang="en-US" dirty="0" smtClean="0"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  <m:d>
                                  <m:dPr>
                                    <m:ctrlPr>
                                      <a:rPr lang="ru-RU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dirty="0"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  <m:r>
                                      <a:rPr lang="en-US" dirty="0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n-US" dirty="0">
                                        <a:latin typeface="Cambria Math" panose="02040503050406030204" pitchFamily="18" charset="0"/>
                                      </a:rPr>
                                      <m:t>h</m:t>
                                    </m:r>
                                  </m:e>
                                </m:d>
                                <m:r>
                                  <a:rPr lang="ru-RU" dirty="0">
                                    <a:latin typeface="Cambria Math" panose="02040503050406030204" pitchFamily="18" charset="0"/>
                                  </a:rPr>
                                  <m:t>​</m:t>
                                </m:r>
                                <m:r>
                                  <a:rPr lang="en-US">
                                    <a:latin typeface="Cambria Math" panose="02040503050406030204" pitchFamily="18" charset="0"/>
                                  </a:rPr>
                                  <m:t>}</m:t>
                                </m:r>
                              </m:oMath>
                            </m:oMathPara>
                          </a14:m>
                          <a:endParaRPr lang="en-US" dirty="0" smtClean="0"/>
                        </a:p>
                        <a:p>
                          <a:pPr algn="l" fontAlgn="ctr"/>
                          <a:r>
                            <a:rPr lang="ru-RU" sz="1800" u="none" strike="noStrike" dirty="0" smtClean="0">
                              <a:effectLst/>
                            </a:rPr>
                            <a:t> </a:t>
                          </a:r>
                          <a:endParaRPr lang="en-US" sz="1800" b="1" i="0" u="none" strike="noStrike" dirty="0">
                            <a:solidFill>
                              <a:srgbClr val="404040"/>
                            </a:solidFill>
                            <a:effectLst/>
                            <a:latin typeface="Segoe UI" panose="020B0502040204020203" pitchFamily="34" charset="0"/>
                          </a:endParaRPr>
                        </a:p>
                      </a:txBody>
                      <a:tcPr marL="26407" marR="2934" marT="2934" marB="0" anchor="ctr"/>
                    </a:tc>
                    <a:tc>
                      <a:txBody>
                        <a:bodyPr/>
                        <a:lstStyle/>
                        <a:p>
                          <a:pPr algn="l" fontAlgn="ctr"/>
                          <a:r>
                            <a:rPr lang="ru-RU" sz="1800" u="none" strike="noStrike" dirty="0">
                              <a:effectLst/>
                            </a:rPr>
                            <a:t>Пример: Прогнозирование цен на нефть, где возможны резкие скачки из-за геополитических событий.</a:t>
                          </a:r>
                          <a:endParaRPr lang="ru-RU" sz="1800" b="1" i="0" u="none" strike="noStrike" dirty="0">
                            <a:solidFill>
                              <a:srgbClr val="404040"/>
                            </a:solidFill>
                            <a:effectLst/>
                            <a:latin typeface="Segoe UI" panose="020B0502040204020203" pitchFamily="34" charset="0"/>
                          </a:endParaRPr>
                        </a:p>
                      </a:txBody>
                      <a:tcPr marL="26407" marR="2934" marT="2934" marB="0" anchor="ctr"/>
                    </a:tc>
                    <a:tc>
                      <a:txBody>
                        <a:bodyPr/>
                        <a:lstStyle/>
                        <a:p>
                          <a:pPr algn="l" fontAlgn="ctr"/>
                          <a:r>
                            <a:rPr lang="ru-RU" sz="1800" u="none" strike="noStrike" dirty="0">
                              <a:effectLst/>
                            </a:rPr>
                            <a:t>– В данных с тяжёлыми хвостами распределения или аномалиями.</a:t>
                          </a:r>
                          <a:endParaRPr lang="ru-RU" sz="1800" b="0" i="0" u="none" strike="noStrike" dirty="0">
                            <a:solidFill>
                              <a:srgbClr val="404040"/>
                            </a:solidFill>
                            <a:effectLst/>
                            <a:latin typeface="Segoe UI" panose="020B0502040204020203" pitchFamily="34" charset="0"/>
                          </a:endParaRPr>
                        </a:p>
                      </a:txBody>
                      <a:tcPr marL="26407" marR="2934" marT="2934" marB="0" anchor="ctr"/>
                    </a:tc>
                    <a:tc rowSpan="2">
                      <a:txBody>
                        <a:bodyPr/>
                        <a:lstStyle/>
                        <a:p>
                          <a:pPr algn="l" fontAlgn="ctr"/>
                          <a:r>
                            <a:rPr lang="ru-RU" sz="1800" u="none" strike="noStrike">
                              <a:effectLst/>
                            </a:rPr>
                            <a:t>Не подходит для задач, где большие ошибки критичны (например, риск-менеджмент).</a:t>
                          </a:r>
                          <a:endParaRPr lang="ru-RU" sz="1800" b="0" i="0" u="none" strike="noStrike">
                            <a:solidFill>
                              <a:srgbClr val="404040"/>
                            </a:solidFill>
                            <a:effectLst/>
                            <a:latin typeface="Segoe UI" panose="020B0502040204020203" pitchFamily="34" charset="0"/>
                          </a:endParaRPr>
                        </a:p>
                      </a:txBody>
                      <a:tcPr marL="26407" marR="2934" marT="2934" marB="0" anchor="ctr"/>
                    </a:tc>
                    <a:extLst>
                      <a:ext uri="{0D108BD9-81ED-4DB2-BD59-A6C34878D82A}">
                        <a16:rowId xmlns:a16="http://schemas.microsoft.com/office/drawing/2014/main" val="1654695193"/>
                      </a:ext>
                    </a:extLst>
                  </a:tr>
                  <a:tr h="0">
                    <a:tc vMerge="1"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ctr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ru-RU" sz="1800" u="none" strike="noStrike" dirty="0">
                              <a:effectLst/>
                            </a:rPr>
                            <a:t> </a:t>
                          </a:r>
                          <a:r>
                            <a:rPr lang="ru-RU" sz="1800" u="none" strike="noStrike" dirty="0" smtClean="0">
                              <a:effectLst/>
                            </a:rPr>
                            <a:t>Задача: Устойчиво оценить типичную ошибку, игнорируя редкие экстремальные выбросы.</a:t>
                          </a:r>
                          <a:endParaRPr lang="ru-RU" sz="1800" b="1" i="0" u="none" strike="noStrike" dirty="0" smtClean="0">
                            <a:solidFill>
                              <a:srgbClr val="404040"/>
                            </a:solidFill>
                            <a:effectLst/>
                            <a:latin typeface="Segoe UI" panose="020B0502040204020203" pitchFamily="34" charset="0"/>
                          </a:endParaRPr>
                        </a:p>
                      </a:txBody>
                      <a:tcPr marL="26407" marR="2934" marT="2934" marB="0" anchor="ctr"/>
                    </a:tc>
                    <a:tc>
                      <a:txBody>
                        <a:bodyPr/>
                        <a:lstStyle/>
                        <a:p>
                          <a:pPr algn="l" fontAlgn="ctr"/>
                          <a:r>
                            <a:rPr lang="ru-RU" sz="1800" u="none" strike="noStrike" dirty="0">
                              <a:effectLst/>
                            </a:rPr>
                            <a:t>– Когда важна робастность, а не средняя ошибка.</a:t>
                          </a:r>
                          <a:endParaRPr lang="ru-RU" sz="1800" b="0" i="0" u="none" strike="noStrike" dirty="0">
                            <a:solidFill>
                              <a:srgbClr val="404040"/>
                            </a:solidFill>
                            <a:effectLst/>
                            <a:latin typeface="Segoe UI" panose="020B0502040204020203" pitchFamily="34" charset="0"/>
                          </a:endParaRPr>
                        </a:p>
                      </a:txBody>
                      <a:tcPr marL="26407" marR="2934" marT="2934" marB="0" anchor="ctr"/>
                    </a:tc>
                    <a:tc vMerge="1"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22366194"/>
                      </a:ext>
                    </a:extLst>
                  </a:tr>
                  <a:tr h="920106">
                    <a:tc rowSpan="2">
                      <a:txBody>
                        <a:bodyPr/>
                        <a:lstStyle/>
                        <a:p>
                          <a:pPr algn="l" fontAlgn="ctr"/>
                          <a:r>
                            <a:rPr lang="en-US" sz="1800" u="none" strike="noStrike" dirty="0" smtClean="0">
                              <a:effectLst/>
                            </a:rPr>
                            <a:t>WAPE</a:t>
                          </a:r>
                        </a:p>
                        <a:p>
                          <a:pPr algn="l" fontAlgn="ctr"/>
                          <a:endParaRPr lang="en-US" sz="1800" u="none" strike="noStrike" dirty="0" smtClean="0">
                            <a:effectLst/>
                          </a:endParaRPr>
                        </a:p>
                        <a:p>
                          <a:pPr algn="l" font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f>
                                      <m:fPr>
                                        <m:ctrlPr>
                                          <a:rPr lang="en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dirty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en-US" dirty="0">
                                            <a:latin typeface="Cambria Math" panose="02040503050406030204" pitchFamily="18" charset="0"/>
                                          </a:rPr>
                                          <m:t>h</m:t>
                                        </m:r>
                                      </m:den>
                                    </m:f>
                                    <m:nary>
                                      <m:naryPr>
                                        <m:chr m:val="∑"/>
                                        <m:ctrlPr>
                                          <a:rPr lang="en-US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naryPr>
                                      <m:sub>
                                        <m:r>
                                          <a:rPr lang="en-US" dirty="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  <m:r>
                                          <a:rPr lang="en-US" dirty="0">
                                            <a:latin typeface="Cambria Math" panose="02040503050406030204" pitchFamily="18" charset="0"/>
                                          </a:rPr>
                                          <m:t>=</m:t>
                                        </m:r>
                                        <m:r>
                                          <a:rPr lang="en-US" dirty="0">
                                            <a:latin typeface="Cambria Math" panose="02040503050406030204" pitchFamily="18" charset="0"/>
                                          </a:rPr>
                                          <m:t>𝑇</m:t>
                                        </m:r>
                                      </m:sub>
                                      <m:sup>
                                        <m:r>
                                          <a:rPr lang="en-US" dirty="0">
                                            <a:latin typeface="Cambria Math" panose="02040503050406030204" pitchFamily="18" charset="0"/>
                                          </a:rPr>
                                          <m:t>𝑇</m:t>
                                        </m:r>
                                        <m:r>
                                          <a:rPr lang="en-US" dirty="0">
                                            <a:latin typeface="Cambria Math" panose="02040503050406030204" pitchFamily="18" charset="0"/>
                                          </a:rPr>
                                          <m:t>+</m:t>
                                        </m:r>
                                        <m:r>
                                          <a:rPr lang="en-US" dirty="0">
                                            <a:latin typeface="Cambria Math" panose="02040503050406030204" pitchFamily="18" charset="0"/>
                                          </a:rPr>
                                          <m:t>h</m:t>
                                        </m:r>
                                      </m:sup>
                                      <m:e>
                                        <m:d>
                                          <m:dPr>
                                            <m:begChr m:val="|"/>
                                            <m:endChr m:val="|"/>
                                            <m:ctrlPr>
                                              <a:rPr lang="en-US" i="1" dirty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a:rPr lang="en-US" dirty="0">
                                                <a:latin typeface="Cambria Math" panose="02040503050406030204" pitchFamily="18" charset="0"/>
                                              </a:rPr>
                                              <m:t>𝑦</m:t>
                                            </m:r>
                                            <m:d>
                                              <m:dPr>
                                                <m:ctrlPr>
                                                  <a:rPr lang="ru-RU" i="1" dirty="0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dPr>
                                              <m:e>
                                                <m:r>
                                                  <a:rPr lang="en-US" dirty="0">
                                                    <a:latin typeface="Cambria Math" panose="02040503050406030204" pitchFamily="18" charset="0"/>
                                                  </a:rPr>
                                                  <m:t>𝑖</m:t>
                                                </m:r>
                                              </m:e>
                                            </m:d>
                                            <m:r>
                                              <a:rPr lang="ru-RU" dirty="0">
                                                <a:latin typeface="Cambria Math" panose="02040503050406030204" pitchFamily="18" charset="0"/>
                                              </a:rPr>
                                              <m:t>​</m:t>
                                            </m:r>
                                            <m:r>
                                              <a:rPr lang="en-US" dirty="0">
                                                <a:latin typeface="Cambria Math" panose="02040503050406030204" pitchFamily="18" charset="0"/>
                                              </a:rPr>
                                              <m:t>−</m:t>
                                            </m:r>
                                            <m:acc>
                                              <m:accPr>
                                                <m:chr m:val="̂"/>
                                                <m:ctrlPr>
                                                  <a:rPr lang="en-US" i="1" dirty="0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accPr>
                                              <m:e>
                                                <m:r>
                                                  <a:rPr lang="en-US" dirty="0">
                                                    <a:latin typeface="Cambria Math" panose="02040503050406030204" pitchFamily="18" charset="0"/>
                                                  </a:rPr>
                                                  <m:t>𝑦</m:t>
                                                </m:r>
                                              </m:e>
                                            </m:acc>
                                            <m:d>
                                              <m:dPr>
                                                <m:ctrlPr>
                                                  <a:rPr lang="en-US" i="1" dirty="0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dPr>
                                              <m:e>
                                                <m:r>
                                                  <a:rPr lang="en-US" dirty="0">
                                                    <a:latin typeface="Cambria Math" panose="02040503050406030204" pitchFamily="18" charset="0"/>
                                                  </a:rPr>
                                                  <m:t>𝑖</m:t>
                                                </m:r>
                                              </m:e>
                                            </m:d>
                                          </m:e>
                                        </m:d>
                                      </m:e>
                                    </m:nary>
                                  </m:num>
                                  <m:den>
                                    <m:f>
                                      <m:fPr>
                                        <m:ctrlPr>
                                          <a:rPr lang="en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dirty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en-US" dirty="0">
                                            <a:latin typeface="Cambria Math" panose="02040503050406030204" pitchFamily="18" charset="0"/>
                                          </a:rPr>
                                          <m:t>h</m:t>
                                        </m:r>
                                      </m:den>
                                    </m:f>
                                    <m:nary>
                                      <m:naryPr>
                                        <m:chr m:val="∑"/>
                                        <m:ctrlPr>
                                          <a:rPr lang="en-US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naryPr>
                                      <m:sub>
                                        <m:r>
                                          <a:rPr lang="en-US" dirty="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  <m:r>
                                          <a:rPr lang="en-US" dirty="0">
                                            <a:latin typeface="Cambria Math" panose="02040503050406030204" pitchFamily="18" charset="0"/>
                                          </a:rPr>
                                          <m:t>=</m:t>
                                        </m:r>
                                        <m:r>
                                          <a:rPr lang="en-US" dirty="0">
                                            <a:latin typeface="Cambria Math" panose="02040503050406030204" pitchFamily="18" charset="0"/>
                                          </a:rPr>
                                          <m:t>𝑇</m:t>
                                        </m:r>
                                      </m:sub>
                                      <m:sup>
                                        <m:r>
                                          <a:rPr lang="en-US" dirty="0">
                                            <a:latin typeface="Cambria Math" panose="02040503050406030204" pitchFamily="18" charset="0"/>
                                          </a:rPr>
                                          <m:t>𝑇</m:t>
                                        </m:r>
                                        <m:r>
                                          <a:rPr lang="en-US" dirty="0">
                                            <a:latin typeface="Cambria Math" panose="02040503050406030204" pitchFamily="18" charset="0"/>
                                          </a:rPr>
                                          <m:t>+</m:t>
                                        </m:r>
                                        <m:r>
                                          <a:rPr lang="en-US" dirty="0">
                                            <a:latin typeface="Cambria Math" panose="02040503050406030204" pitchFamily="18" charset="0"/>
                                          </a:rPr>
                                          <m:t>h</m:t>
                                        </m:r>
                                      </m:sup>
                                      <m:e>
                                        <m:d>
                                          <m:dPr>
                                            <m:begChr m:val="|"/>
                                            <m:endChr m:val="|"/>
                                            <m:ctrlPr>
                                              <a:rPr lang="en-US" i="1" dirty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a:rPr lang="en-US" dirty="0">
                                                <a:latin typeface="Cambria Math" panose="02040503050406030204" pitchFamily="18" charset="0"/>
                                              </a:rPr>
                                              <m:t>𝑦</m:t>
                                            </m:r>
                                            <m:d>
                                              <m:dPr>
                                                <m:ctrlPr>
                                                  <a:rPr lang="ru-RU" i="1" dirty="0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dPr>
                                              <m:e>
                                                <m:r>
                                                  <a:rPr lang="en-US" dirty="0">
                                                    <a:latin typeface="Cambria Math" panose="02040503050406030204" pitchFamily="18" charset="0"/>
                                                  </a:rPr>
                                                  <m:t>𝑖</m:t>
                                                </m:r>
                                              </m:e>
                                            </m:d>
                                            <m:r>
                                              <a:rPr lang="ru-RU" dirty="0">
                                                <a:latin typeface="Cambria Math" panose="02040503050406030204" pitchFamily="18" charset="0"/>
                                              </a:rPr>
                                              <m:t>​</m:t>
                                            </m:r>
                                          </m:e>
                                        </m:d>
                                      </m:e>
                                    </m:nary>
                                  </m:den>
                                </m:f>
                              </m:oMath>
                            </m:oMathPara>
                          </a14:m>
                          <a:endParaRPr lang="en-US" sz="1800" b="1" i="0" u="none" strike="noStrike" dirty="0">
                            <a:solidFill>
                              <a:srgbClr val="404040"/>
                            </a:solidFill>
                            <a:effectLst/>
                            <a:latin typeface="Segoe UI" panose="020B0502040204020203" pitchFamily="34" charset="0"/>
                          </a:endParaRPr>
                        </a:p>
                      </a:txBody>
                      <a:tcPr marL="26407" marR="2934" marT="2934" marB="0" anchor="ctr"/>
                    </a:tc>
                    <a:tc>
                      <a:txBody>
                        <a:bodyPr/>
                        <a:lstStyle/>
                        <a:p>
                          <a:pPr algn="l" fontAlgn="ctr"/>
                          <a:r>
                            <a:rPr lang="ru-RU" sz="1800" u="none" strike="noStrike" dirty="0">
                              <a:effectLst/>
                            </a:rPr>
                            <a:t>Пример: Прогнозирование выручки компании с резкими изменениями масштаба (например, </a:t>
                          </a:r>
                          <a:r>
                            <a:rPr lang="ru-RU" sz="1800" u="none" strike="noStrike" dirty="0" err="1">
                              <a:effectLst/>
                            </a:rPr>
                            <a:t>стартап</a:t>
                          </a:r>
                          <a:r>
                            <a:rPr lang="ru-RU" sz="1800" u="none" strike="noStrike" dirty="0">
                              <a:effectLst/>
                            </a:rPr>
                            <a:t> в период роста).</a:t>
                          </a:r>
                          <a:endParaRPr lang="ru-RU" sz="1800" b="1" i="0" u="none" strike="noStrike" dirty="0">
                            <a:solidFill>
                              <a:srgbClr val="404040"/>
                            </a:solidFill>
                            <a:effectLst/>
                            <a:latin typeface="Segoe UI" panose="020B0502040204020203" pitchFamily="34" charset="0"/>
                          </a:endParaRPr>
                        </a:p>
                      </a:txBody>
                      <a:tcPr marL="26407" marR="2934" marT="2934" marB="0" anchor="ctr"/>
                    </a:tc>
                    <a:tc>
                      <a:txBody>
                        <a:bodyPr/>
                        <a:lstStyle/>
                        <a:p>
                          <a:pPr algn="l" fontAlgn="ctr"/>
                          <a:r>
                            <a:rPr lang="ru-RU" sz="1800" u="none" strike="noStrike" dirty="0">
                              <a:effectLst/>
                            </a:rPr>
                            <a:t>– Для рядов с нестабильным масштабом (например, быстрорастущие продажи).</a:t>
                          </a:r>
                          <a:endParaRPr lang="ru-RU" sz="1800" b="0" i="0" u="none" strike="noStrike" dirty="0">
                            <a:solidFill>
                              <a:srgbClr val="404040"/>
                            </a:solidFill>
                            <a:effectLst/>
                            <a:latin typeface="Segoe UI" panose="020B0502040204020203" pitchFamily="34" charset="0"/>
                          </a:endParaRPr>
                        </a:p>
                      </a:txBody>
                      <a:tcPr marL="26407" marR="2934" marT="2934" marB="0" anchor="ctr"/>
                    </a:tc>
                    <a:tc rowSpan="2">
                      <a:txBody>
                        <a:bodyPr/>
                        <a:lstStyle/>
                        <a:p>
                          <a:pPr algn="l" fontAlgn="ctr"/>
                          <a:r>
                            <a:rPr lang="ru-RU" sz="1800" u="none" strike="noStrike" dirty="0">
                              <a:effectLst/>
                            </a:rPr>
                            <a:t>Может маскировать локальные ошибки, если ряд неравномерный.</a:t>
                          </a:r>
                          <a:endParaRPr lang="ru-RU" sz="1800" b="0" i="0" u="none" strike="noStrike" dirty="0">
                            <a:solidFill>
                              <a:srgbClr val="404040"/>
                            </a:solidFill>
                            <a:effectLst/>
                            <a:latin typeface="Segoe UI" panose="020B0502040204020203" pitchFamily="34" charset="0"/>
                          </a:endParaRPr>
                        </a:p>
                      </a:txBody>
                      <a:tcPr marL="26407" marR="2934" marT="2934" marB="0" anchor="ctr"/>
                    </a:tc>
                    <a:extLst>
                      <a:ext uri="{0D108BD9-81ED-4DB2-BD59-A6C34878D82A}">
                        <a16:rowId xmlns:a16="http://schemas.microsoft.com/office/drawing/2014/main" val="2949914155"/>
                      </a:ext>
                    </a:extLst>
                  </a:tr>
                  <a:tr h="0">
                    <a:tc vMerge="1"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ctr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ru-RU" sz="1800" u="none" strike="noStrike" dirty="0">
                              <a:effectLst/>
                            </a:rPr>
                            <a:t> </a:t>
                          </a:r>
                          <a:r>
                            <a:rPr lang="ru-RU" sz="1800" u="none" strike="noStrike" dirty="0" smtClean="0">
                              <a:effectLst/>
                            </a:rPr>
                            <a:t>Задача: Оценить ошибку относительно общего объёма данных, а не по точкам.</a:t>
                          </a:r>
                        </a:p>
                        <a:p>
                          <a:pPr algn="l" fontAlgn="ctr"/>
                          <a:endParaRPr lang="ru-RU" sz="1800" b="1" i="0" u="none" strike="noStrike" dirty="0">
                            <a:solidFill>
                              <a:srgbClr val="404040"/>
                            </a:solidFill>
                            <a:effectLst/>
                            <a:latin typeface="Segoe UI" panose="020B0502040204020203" pitchFamily="34" charset="0"/>
                          </a:endParaRPr>
                        </a:p>
                      </a:txBody>
                      <a:tcPr marL="26407" marR="2934" marT="2934" marB="0" anchor="ctr"/>
                    </a:tc>
                    <a:tc>
                      <a:txBody>
                        <a:bodyPr/>
                        <a:lstStyle/>
                        <a:p>
                          <a:pPr algn="l" fontAlgn="ctr"/>
                          <a:r>
                            <a:rPr lang="ru-RU" sz="1800" u="none" strike="noStrike" dirty="0">
                              <a:effectLst/>
                            </a:rPr>
                            <a:t>– В бизнес-аналитике, где ошибка должна быть в % от общего оборота.</a:t>
                          </a:r>
                          <a:endParaRPr lang="ru-RU" sz="1800" b="0" i="0" u="none" strike="noStrike" dirty="0">
                            <a:solidFill>
                              <a:srgbClr val="404040"/>
                            </a:solidFill>
                            <a:effectLst/>
                            <a:latin typeface="Segoe UI" panose="020B0502040204020203" pitchFamily="34" charset="0"/>
                          </a:endParaRPr>
                        </a:p>
                      </a:txBody>
                      <a:tcPr marL="26407" marR="2934" marT="2934" marB="0" anchor="ctr"/>
                    </a:tc>
                    <a:tc vMerge="1"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19912873"/>
                      </a:ext>
                    </a:extLst>
                  </a:tr>
                  <a:tr h="920106">
                    <a:tc rowSpan="2">
                      <a:txBody>
                        <a:bodyPr/>
                        <a:lstStyle/>
                        <a:p>
                          <a:pPr algn="l" fontAlgn="ctr"/>
                          <a:r>
                            <a:rPr lang="en-US" sz="1800" u="none" strike="noStrike" dirty="0" smtClean="0">
                              <a:effectLst/>
                            </a:rPr>
                            <a:t>MSLE</a:t>
                          </a:r>
                        </a:p>
                        <a:p>
                          <a:pPr algn="l" fontAlgn="ctr"/>
                          <a:endParaRPr lang="en-US" sz="1800" u="none" strike="noStrike" dirty="0" smtClean="0">
                            <a:effectLst/>
                          </a:endParaRPr>
                        </a:p>
                        <a:p>
                          <a:pPr algn="l" font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dirty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dirty="0">
                                        <a:latin typeface="Cambria Math" panose="02040503050406030204" pitchFamily="18" charset="0"/>
                                      </a:rPr>
                                      <m:t>h</m:t>
                                    </m:r>
                                  </m:den>
                                </m:f>
                                <m:nary>
                                  <m:naryPr>
                                    <m:chr m:val="∑"/>
                                    <m:ctrlPr>
                                      <a:rPr lang="en-US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a:rPr lang="en-US" dirty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en-US" dirty="0">
                                        <a:latin typeface="Cambria Math" panose="02040503050406030204" pitchFamily="18" charset="0"/>
                                      </a:rPr>
                                      <m:t>=</m:t>
                                    </m:r>
                                    <m:r>
                                      <a:rPr lang="en-US" dirty="0"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sub>
                                  <m:sup>
                                    <m:r>
                                      <a:rPr lang="en-US" dirty="0"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  <m:r>
                                      <a:rPr lang="en-US" dirty="0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n-US" dirty="0">
                                        <a:latin typeface="Cambria Math" panose="02040503050406030204" pitchFamily="18" charset="0"/>
                                      </a:rPr>
                                      <m:t>h</m:t>
                                    </m:r>
                                  </m:sup>
                                  <m:e>
                                    <m:sSup>
                                      <m:sSupPr>
                                        <m:ctrlPr>
                                          <a:rPr lang="en-US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d>
                                          <m:dPr>
                                            <m:ctrlPr>
                                              <a:rPr lang="en-US" i="1" dirty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m:rPr>
                                                <m:sty m:val="p"/>
                                              </m:rPr>
                                              <a:rPr lang="en-US" dirty="0" smtClean="0">
                                                <a:latin typeface="Cambria Math" panose="02040503050406030204" pitchFamily="18" charset="0"/>
                                              </a:rPr>
                                              <m:t>log</m:t>
                                            </m:r>
                                            <m:r>
                                              <a:rPr lang="en-US" dirty="0" smtClean="0">
                                                <a:latin typeface="Cambria Math" panose="02040503050406030204" pitchFamily="18" charset="0"/>
                                              </a:rPr>
                                              <m:t>⁡(</m:t>
                                            </m:r>
                                            <m:r>
                                              <a:rPr lang="en-US" dirty="0">
                                                <a:latin typeface="Cambria Math" panose="02040503050406030204" pitchFamily="18" charset="0"/>
                                              </a:rPr>
                                              <m:t>𝑦</m:t>
                                            </m:r>
                                            <m:d>
                                              <m:dPr>
                                                <m:ctrlPr>
                                                  <a:rPr lang="ru-RU" i="1" dirty="0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dPr>
                                              <m:e>
                                                <m:r>
                                                  <a:rPr lang="en-US" dirty="0">
                                                    <a:latin typeface="Cambria Math" panose="02040503050406030204" pitchFamily="18" charset="0"/>
                                                  </a:rPr>
                                                  <m:t>𝑖</m:t>
                                                </m:r>
                                              </m:e>
                                            </m:d>
                                            <m:r>
                                              <a:rPr lang="ru-RU" dirty="0">
                                                <a:latin typeface="Cambria Math" panose="02040503050406030204" pitchFamily="18" charset="0"/>
                                              </a:rPr>
                                              <m:t>​</m:t>
                                            </m:r>
                                            <m:r>
                                              <a:rPr lang="en-US" dirty="0" smtClean="0">
                                                <a:latin typeface="Cambria Math" panose="02040503050406030204" pitchFamily="18" charset="0"/>
                                              </a:rPr>
                                              <m:t>+1)</m:t>
                                            </m:r>
                                            <m:r>
                                              <a:rPr lang="en-US" dirty="0">
                                                <a:latin typeface="Cambria Math" panose="02040503050406030204" pitchFamily="18" charset="0"/>
                                              </a:rPr>
                                              <m:t>−</m:t>
                                            </m:r>
                                            <m:r>
                                              <m:rPr>
                                                <m:sty m:val="p"/>
                                              </m:rPr>
                                              <a:rPr lang="en-US" dirty="0" smtClean="0">
                                                <a:latin typeface="Cambria Math" panose="02040503050406030204" pitchFamily="18" charset="0"/>
                                              </a:rPr>
                                              <m:t>log</m:t>
                                            </m:r>
                                            <m:r>
                                              <a:rPr lang="en-US" dirty="0" smtClean="0">
                                                <a:latin typeface="Cambria Math" panose="02040503050406030204" pitchFamily="18" charset="0"/>
                                              </a:rPr>
                                              <m:t>⁡(</m:t>
                                            </m:r>
                                            <m:acc>
                                              <m:accPr>
                                                <m:chr m:val="̂"/>
                                                <m:ctrlPr>
                                                  <a:rPr lang="en-US" i="1" dirty="0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accPr>
                                              <m:e>
                                                <m:r>
                                                  <a:rPr lang="en-US" dirty="0">
                                                    <a:latin typeface="Cambria Math" panose="02040503050406030204" pitchFamily="18" charset="0"/>
                                                  </a:rPr>
                                                  <m:t>𝑦</m:t>
                                                </m:r>
                                              </m:e>
                                            </m:acc>
                                            <m:d>
                                              <m:dPr>
                                                <m:ctrlPr>
                                                  <a:rPr lang="en-US" i="1" dirty="0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dPr>
                                              <m:e>
                                                <m:r>
                                                  <a:rPr lang="en-US" dirty="0">
                                                    <a:latin typeface="Cambria Math" panose="02040503050406030204" pitchFamily="18" charset="0"/>
                                                  </a:rPr>
                                                  <m:t>𝑖</m:t>
                                                </m:r>
                                              </m:e>
                                            </m:d>
                                            <m:r>
                                              <a:rPr lang="en-US" dirty="0" smtClean="0">
                                                <a:latin typeface="Cambria Math" panose="02040503050406030204" pitchFamily="18" charset="0"/>
                                              </a:rPr>
                                              <m:t>+1)</m:t>
                                            </m:r>
                                          </m:e>
                                        </m:d>
                                      </m:e>
                                      <m:sup>
                                        <m:r>
                                          <a:rPr lang="en-US" dirty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e>
                                </m:nary>
                              </m:oMath>
                            </m:oMathPara>
                          </a14:m>
                          <a:endParaRPr lang="en-US" sz="1800" b="1" i="0" u="none" strike="noStrike" dirty="0">
                            <a:solidFill>
                              <a:srgbClr val="404040"/>
                            </a:solidFill>
                            <a:effectLst/>
                            <a:latin typeface="Segoe UI" panose="020B0502040204020203" pitchFamily="34" charset="0"/>
                          </a:endParaRPr>
                        </a:p>
                      </a:txBody>
                      <a:tcPr marL="26407" marR="2934" marT="2934" marB="0" anchor="ctr"/>
                    </a:tc>
                    <a:tc>
                      <a:txBody>
                        <a:bodyPr/>
                        <a:lstStyle/>
                        <a:p>
                          <a:pPr algn="l" fontAlgn="ctr"/>
                          <a:r>
                            <a:rPr lang="ru-RU" sz="1800" u="none" strike="noStrike" dirty="0">
                              <a:effectLst/>
                            </a:rPr>
                            <a:t>Пример: Прогнозирование количества пользователей мобильного приложения (экспоненциальный рост).</a:t>
                          </a:r>
                          <a:endParaRPr lang="ru-RU" sz="1800" b="1" i="0" u="none" strike="noStrike" dirty="0">
                            <a:solidFill>
                              <a:srgbClr val="404040"/>
                            </a:solidFill>
                            <a:effectLst/>
                            <a:latin typeface="Segoe UI" panose="020B0502040204020203" pitchFamily="34" charset="0"/>
                          </a:endParaRPr>
                        </a:p>
                      </a:txBody>
                      <a:tcPr marL="26407" marR="2934" marT="2934" marB="0" anchor="ctr"/>
                    </a:tc>
                    <a:tc>
                      <a:txBody>
                        <a:bodyPr/>
                        <a:lstStyle/>
                        <a:p>
                          <a:pPr algn="l" fontAlgn="ctr"/>
                          <a:r>
                            <a:rPr lang="ru-RU" sz="1800" u="none" strike="noStrike">
                              <a:effectLst/>
                            </a:rPr>
                            <a:t>– Для мультипликативных трендов или данных с экспоненциальной динамикой.</a:t>
                          </a:r>
                          <a:endParaRPr lang="ru-RU" sz="1800" b="0" i="0" u="none" strike="noStrike">
                            <a:solidFill>
                              <a:srgbClr val="404040"/>
                            </a:solidFill>
                            <a:effectLst/>
                            <a:latin typeface="Segoe UI" panose="020B0502040204020203" pitchFamily="34" charset="0"/>
                          </a:endParaRPr>
                        </a:p>
                      </a:txBody>
                      <a:tcPr marL="26407" marR="2934" marT="2934" marB="0" anchor="ctr"/>
                    </a:tc>
                    <a:tc rowSpan="2">
                      <a:txBody>
                        <a:bodyPr/>
                        <a:lstStyle/>
                        <a:p>
                          <a:pPr algn="l" fontAlgn="ctr"/>
                          <a:r>
                            <a:rPr lang="ru-RU" sz="1800" u="none" strike="noStrike" dirty="0">
                              <a:effectLst/>
                            </a:rPr>
                            <a:t>Не работает с отрицательными значениями и нулями (нужна коррекция: </a:t>
                          </a:r>
                          <a:r>
                            <a:rPr lang="ru-RU" sz="1800" u="none" strike="noStrike" dirty="0" err="1">
                              <a:effectLst/>
                            </a:rPr>
                            <a:t>log</a:t>
                          </a:r>
                          <a:r>
                            <a:rPr lang="ru-RU" sz="1800" u="none" strike="noStrike" dirty="0">
                              <a:effectLst/>
                            </a:rPr>
                            <a:t>⁡(</a:t>
                          </a:r>
                          <a:r>
                            <a:rPr lang="ru-RU" sz="1800" u="none" strike="noStrike" dirty="0" err="1" smtClean="0">
                              <a:effectLst/>
                            </a:rPr>
                            <a:t>yi</a:t>
                          </a:r>
                          <a:r>
                            <a:rPr lang="ru-RU" sz="1800" u="none" strike="noStrike" dirty="0" smtClean="0">
                              <a:effectLst/>
                            </a:rPr>
                            <a:t>+ϵ))</a:t>
                          </a:r>
                          <a:endParaRPr lang="ru-RU" sz="1800" b="0" i="0" u="none" strike="noStrike" dirty="0">
                            <a:solidFill>
                              <a:srgbClr val="404040"/>
                            </a:solidFill>
                            <a:effectLst/>
                            <a:latin typeface="Segoe UI" panose="020B0502040204020203" pitchFamily="34" charset="0"/>
                          </a:endParaRPr>
                        </a:p>
                      </a:txBody>
                      <a:tcPr marL="26407" marR="2934" marT="2934" marB="0" anchor="ctr"/>
                    </a:tc>
                    <a:extLst>
                      <a:ext uri="{0D108BD9-81ED-4DB2-BD59-A6C34878D82A}">
                        <a16:rowId xmlns:a16="http://schemas.microsoft.com/office/drawing/2014/main" val="962892815"/>
                      </a:ext>
                    </a:extLst>
                  </a:tr>
                  <a:tr h="920106">
                    <a:tc vMerge="1"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ctr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ru-RU" sz="1800" u="none" strike="noStrike" dirty="0">
                              <a:effectLst/>
                            </a:rPr>
                            <a:t> </a:t>
                          </a:r>
                          <a:r>
                            <a:rPr lang="ru-RU" sz="1800" u="none" strike="noStrike" dirty="0" smtClean="0">
                              <a:effectLst/>
                            </a:rPr>
                            <a:t>Задача: Штрафовать ошибки на малых значениях сильнее, чем на больших (логарифмическая шкала).</a:t>
                          </a:r>
                          <a:endParaRPr lang="ru-RU" sz="1800" b="1" i="0" u="none" strike="noStrike" dirty="0" smtClean="0">
                            <a:solidFill>
                              <a:srgbClr val="404040"/>
                            </a:solidFill>
                            <a:effectLst/>
                            <a:latin typeface="Segoe UI" panose="020B0502040204020203" pitchFamily="34" charset="0"/>
                          </a:endParaRPr>
                        </a:p>
                      </a:txBody>
                      <a:tcPr marL="26407" marR="2934" marT="2934" marB="0" anchor="ctr"/>
                    </a:tc>
                    <a:tc>
                      <a:txBody>
                        <a:bodyPr/>
                        <a:lstStyle/>
                        <a:p>
                          <a:pPr algn="l" fontAlgn="ctr"/>
                          <a:r>
                            <a:rPr lang="ru-RU" sz="1800" u="none" strike="noStrike" dirty="0">
                              <a:effectLst/>
                            </a:rPr>
                            <a:t>– Когда переоценка на 100 пользователей при </a:t>
                          </a:r>
                          <a:r>
                            <a:rPr lang="ru-RU" sz="1800" u="none" strike="noStrike" dirty="0" err="1" smtClean="0">
                              <a:effectLst/>
                            </a:rPr>
                            <a:t>yi</a:t>
                          </a:r>
                          <a:r>
                            <a:rPr lang="ru-RU" sz="1800" u="none" strike="noStrike" dirty="0" smtClean="0">
                              <a:effectLst/>
                            </a:rPr>
                            <a:t>=10</a:t>
                          </a:r>
                          <a:r>
                            <a:rPr lang="ru-RU" sz="1800" u="none" strike="noStrike" dirty="0">
                              <a:effectLst/>
                            </a:rPr>
                            <a:t> хуже, чем при </a:t>
                          </a:r>
                          <a:r>
                            <a:rPr lang="ru-RU" sz="1800" u="none" strike="noStrike" dirty="0" err="1" smtClean="0">
                              <a:effectLst/>
                            </a:rPr>
                            <a:t>yi</a:t>
                          </a:r>
                          <a:r>
                            <a:rPr lang="ru-RU" sz="1800" u="none" strike="noStrike" dirty="0" smtClean="0">
                              <a:effectLst/>
                            </a:rPr>
                            <a:t>=10</a:t>
                          </a:r>
                          <a:r>
                            <a:rPr lang="en-US" sz="1800" u="none" strike="noStrike" dirty="0" smtClean="0">
                              <a:effectLst/>
                            </a:rPr>
                            <a:t>00</a:t>
                          </a:r>
                          <a:r>
                            <a:rPr lang="ru-RU" sz="1800" u="none" strike="noStrike" dirty="0" smtClean="0">
                              <a:effectLst/>
                            </a:rPr>
                            <a:t>.</a:t>
                          </a:r>
                          <a:endParaRPr lang="ru-RU" sz="1800" b="0" i="0" u="none" strike="noStrike" dirty="0">
                            <a:solidFill>
                              <a:srgbClr val="404040"/>
                            </a:solidFill>
                            <a:effectLst/>
                            <a:latin typeface="Segoe UI" panose="020B0502040204020203" pitchFamily="34" charset="0"/>
                          </a:endParaRPr>
                        </a:p>
                      </a:txBody>
                      <a:tcPr marL="26407" marR="2934" marT="2934" marB="0" anchor="ctr"/>
                    </a:tc>
                    <a:tc vMerge="1"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4941829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Таблица 6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66063460"/>
                  </p:ext>
                </p:extLst>
              </p:nvPr>
            </p:nvGraphicFramePr>
            <p:xfrm>
              <a:off x="100853" y="559975"/>
              <a:ext cx="11605372" cy="6087205"/>
            </p:xfrm>
            <a:graphic>
              <a:graphicData uri="http://schemas.openxmlformats.org/drawingml/2006/table">
                <a:tbl>
                  <a:tblPr>
                    <a:tableStyleId>{5940675A-B579-460E-94D1-54222C63F5DA}</a:tableStyleId>
                  </a:tblPr>
                  <a:tblGrid>
                    <a:gridCol w="2308972">
                      <a:extLst>
                        <a:ext uri="{9D8B030D-6E8A-4147-A177-3AD203B41FA5}">
                          <a16:colId xmlns:a16="http://schemas.microsoft.com/office/drawing/2014/main" val="4037062250"/>
                        </a:ext>
                      </a:extLst>
                    </a:gridCol>
                    <a:gridCol w="4057650">
                      <a:extLst>
                        <a:ext uri="{9D8B030D-6E8A-4147-A177-3AD203B41FA5}">
                          <a16:colId xmlns:a16="http://schemas.microsoft.com/office/drawing/2014/main" val="1927459579"/>
                        </a:ext>
                      </a:extLst>
                    </a:gridCol>
                    <a:gridCol w="2924175">
                      <a:extLst>
                        <a:ext uri="{9D8B030D-6E8A-4147-A177-3AD203B41FA5}">
                          <a16:colId xmlns:a16="http://schemas.microsoft.com/office/drawing/2014/main" val="3347622711"/>
                        </a:ext>
                      </a:extLst>
                    </a:gridCol>
                    <a:gridCol w="2314575">
                      <a:extLst>
                        <a:ext uri="{9D8B030D-6E8A-4147-A177-3AD203B41FA5}">
                          <a16:colId xmlns:a16="http://schemas.microsoft.com/office/drawing/2014/main" val="2399441415"/>
                        </a:ext>
                      </a:extLst>
                    </a:gridCol>
                  </a:tblGrid>
                  <a:tr h="308881">
                    <a:tc>
                      <a:txBody>
                        <a:bodyPr/>
                        <a:lstStyle/>
                        <a:p>
                          <a:pPr algn="l" fontAlgn="ctr"/>
                          <a:r>
                            <a:rPr lang="ru-RU" sz="1800" u="none" strike="noStrike" dirty="0" smtClean="0">
                              <a:effectLst/>
                            </a:rPr>
                            <a:t>Метрика</a:t>
                          </a:r>
                          <a:endParaRPr lang="ru-RU" sz="1800" b="1" i="0" u="none" strike="noStrike" dirty="0">
                            <a:solidFill>
                              <a:srgbClr val="404040"/>
                            </a:solidFill>
                            <a:effectLst/>
                            <a:latin typeface="Segoe UI" panose="020B0502040204020203" pitchFamily="34" charset="0"/>
                          </a:endParaRPr>
                        </a:p>
                      </a:txBody>
                      <a:tcPr marL="26407" marR="2934" marT="2934" marB="0" anchor="ctr"/>
                    </a:tc>
                    <a:tc>
                      <a:txBody>
                        <a:bodyPr/>
                        <a:lstStyle/>
                        <a:p>
                          <a:pPr algn="l" fontAlgn="ctr"/>
                          <a:r>
                            <a:rPr lang="ru-RU" sz="1800" u="none" strike="noStrike" dirty="0" smtClean="0">
                              <a:effectLst/>
                            </a:rPr>
                            <a:t>Пример</a:t>
                          </a:r>
                          <a:endParaRPr lang="ru-RU" sz="1800" b="1" i="0" u="none" strike="noStrike" dirty="0">
                            <a:solidFill>
                              <a:srgbClr val="404040"/>
                            </a:solidFill>
                            <a:effectLst/>
                            <a:latin typeface="Segoe UI" panose="020B0502040204020203" pitchFamily="34" charset="0"/>
                          </a:endParaRPr>
                        </a:p>
                      </a:txBody>
                      <a:tcPr marL="26407" marR="2934" marT="2934" marB="0" anchor="ctr"/>
                    </a:tc>
                    <a:tc>
                      <a:txBody>
                        <a:bodyPr/>
                        <a:lstStyle/>
                        <a:p>
                          <a:pPr algn="l" fontAlgn="ctr"/>
                          <a:r>
                            <a:rPr lang="ru-RU" sz="1800" u="none" strike="noStrike">
                              <a:effectLst/>
                            </a:rPr>
                            <a:t>Когда использовать?</a:t>
                          </a:r>
                          <a:endParaRPr lang="ru-RU" sz="1800" b="1" i="0" u="none" strike="noStrike">
                            <a:solidFill>
                              <a:srgbClr val="404040"/>
                            </a:solidFill>
                            <a:effectLst/>
                            <a:latin typeface="Segoe UI" panose="020B0502040204020203" pitchFamily="34" charset="0"/>
                          </a:endParaRPr>
                        </a:p>
                      </a:txBody>
                      <a:tcPr marL="26407" marR="2934" marT="2934" marB="0" anchor="ctr"/>
                    </a:tc>
                    <a:tc>
                      <a:txBody>
                        <a:bodyPr/>
                        <a:lstStyle/>
                        <a:p>
                          <a:pPr algn="l" fontAlgn="ctr"/>
                          <a:r>
                            <a:rPr lang="ru-RU" sz="1800" u="none" strike="noStrike">
                              <a:effectLst/>
                            </a:rPr>
                            <a:t>Ограничения</a:t>
                          </a:r>
                          <a:endParaRPr lang="ru-RU" sz="1800" b="1" i="0" u="none" strike="noStrike">
                            <a:solidFill>
                              <a:srgbClr val="404040"/>
                            </a:solidFill>
                            <a:effectLst/>
                            <a:latin typeface="Segoe UI" panose="020B0502040204020203" pitchFamily="34" charset="0"/>
                          </a:endParaRPr>
                        </a:p>
                      </a:txBody>
                      <a:tcPr marL="26407" marR="2934" marT="2934" marB="0" anchor="ctr"/>
                    </a:tc>
                    <a:extLst>
                      <a:ext uri="{0D108BD9-81ED-4DB2-BD59-A6C34878D82A}">
                        <a16:rowId xmlns:a16="http://schemas.microsoft.com/office/drawing/2014/main" val="2664501438"/>
                      </a:ext>
                    </a:extLst>
                  </a:tr>
                  <a:tr h="825894">
                    <a:tc rowSpan="2"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marL="26407" marR="2934" marT="2934" marB="0" anchor="ctr">
                        <a:blipFill>
                          <a:blip r:embed="rId2"/>
                          <a:stretch>
                            <a:fillRect l="-264" t="-21771" r="-403166" b="-27749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l" fontAlgn="ctr"/>
                          <a:r>
                            <a:rPr lang="ru-RU" sz="1800" u="none" strike="noStrike" dirty="0">
                              <a:effectLst/>
                            </a:rPr>
                            <a:t>Пример: Прогнозирование цен на нефть, где возможны резкие скачки из-за геополитических событий.</a:t>
                          </a:r>
                          <a:endParaRPr lang="ru-RU" sz="1800" b="1" i="0" u="none" strike="noStrike" dirty="0">
                            <a:solidFill>
                              <a:srgbClr val="404040"/>
                            </a:solidFill>
                            <a:effectLst/>
                            <a:latin typeface="Segoe UI" panose="020B0502040204020203" pitchFamily="34" charset="0"/>
                          </a:endParaRPr>
                        </a:p>
                      </a:txBody>
                      <a:tcPr marL="26407" marR="2934" marT="2934" marB="0" anchor="ctr"/>
                    </a:tc>
                    <a:tc>
                      <a:txBody>
                        <a:bodyPr/>
                        <a:lstStyle/>
                        <a:p>
                          <a:pPr algn="l" fontAlgn="ctr"/>
                          <a:r>
                            <a:rPr lang="ru-RU" sz="1800" u="none" strike="noStrike" dirty="0">
                              <a:effectLst/>
                            </a:rPr>
                            <a:t>– В данных с тяжёлыми хвостами распределения или аномалиями.</a:t>
                          </a:r>
                          <a:endParaRPr lang="ru-RU" sz="1800" b="0" i="0" u="none" strike="noStrike" dirty="0">
                            <a:solidFill>
                              <a:srgbClr val="404040"/>
                            </a:solidFill>
                            <a:effectLst/>
                            <a:latin typeface="Segoe UI" panose="020B0502040204020203" pitchFamily="34" charset="0"/>
                          </a:endParaRPr>
                        </a:p>
                      </a:txBody>
                      <a:tcPr marL="26407" marR="2934" marT="2934" marB="0" anchor="ctr"/>
                    </a:tc>
                    <a:tc rowSpan="2">
                      <a:txBody>
                        <a:bodyPr/>
                        <a:lstStyle/>
                        <a:p>
                          <a:pPr algn="l" fontAlgn="ctr"/>
                          <a:r>
                            <a:rPr lang="ru-RU" sz="1800" u="none" strike="noStrike">
                              <a:effectLst/>
                            </a:rPr>
                            <a:t>Не подходит для задач, где большие ошибки критичны (например, риск-менеджмент).</a:t>
                          </a:r>
                          <a:endParaRPr lang="ru-RU" sz="1800" b="0" i="0" u="none" strike="noStrike">
                            <a:solidFill>
                              <a:srgbClr val="404040"/>
                            </a:solidFill>
                            <a:effectLst/>
                            <a:latin typeface="Segoe UI" panose="020B0502040204020203" pitchFamily="34" charset="0"/>
                          </a:endParaRPr>
                        </a:p>
                      </a:txBody>
                      <a:tcPr marL="26407" marR="2934" marT="2934" marB="0" anchor="ctr"/>
                    </a:tc>
                    <a:extLst>
                      <a:ext uri="{0D108BD9-81ED-4DB2-BD59-A6C34878D82A}">
                        <a16:rowId xmlns:a16="http://schemas.microsoft.com/office/drawing/2014/main" val="1654695193"/>
                      </a:ext>
                    </a:extLst>
                  </a:tr>
                  <a:tr h="825894">
                    <a:tc vMerge="1"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ctr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ru-RU" sz="1800" u="none" strike="noStrike" dirty="0">
                              <a:effectLst/>
                            </a:rPr>
                            <a:t> </a:t>
                          </a:r>
                          <a:r>
                            <a:rPr lang="ru-RU" sz="1800" u="none" strike="noStrike" dirty="0" smtClean="0">
                              <a:effectLst/>
                            </a:rPr>
                            <a:t>Задача: Устойчиво оценить типичную ошибку, игнорируя редкие экстремальные выбросы.</a:t>
                          </a:r>
                          <a:endParaRPr lang="ru-RU" sz="1800" b="1" i="0" u="none" strike="noStrike" dirty="0" smtClean="0">
                            <a:solidFill>
                              <a:srgbClr val="404040"/>
                            </a:solidFill>
                            <a:effectLst/>
                            <a:latin typeface="Segoe UI" panose="020B0502040204020203" pitchFamily="34" charset="0"/>
                          </a:endParaRPr>
                        </a:p>
                      </a:txBody>
                      <a:tcPr marL="26407" marR="2934" marT="2934" marB="0" anchor="ctr"/>
                    </a:tc>
                    <a:tc>
                      <a:txBody>
                        <a:bodyPr/>
                        <a:lstStyle/>
                        <a:p>
                          <a:pPr algn="l" fontAlgn="ctr"/>
                          <a:r>
                            <a:rPr lang="ru-RU" sz="1800" u="none" strike="noStrike" dirty="0">
                              <a:effectLst/>
                            </a:rPr>
                            <a:t>– Когда важна робастность, а не средняя ошибка.</a:t>
                          </a:r>
                          <a:endParaRPr lang="ru-RU" sz="1800" b="0" i="0" u="none" strike="noStrike" dirty="0">
                            <a:solidFill>
                              <a:srgbClr val="404040"/>
                            </a:solidFill>
                            <a:effectLst/>
                            <a:latin typeface="Segoe UI" panose="020B0502040204020203" pitchFamily="34" charset="0"/>
                          </a:endParaRPr>
                        </a:p>
                      </a:txBody>
                      <a:tcPr marL="26407" marR="2934" marT="2934" marB="0" anchor="ctr"/>
                    </a:tc>
                    <a:tc vMerge="1"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22366194"/>
                      </a:ext>
                    </a:extLst>
                  </a:tr>
                  <a:tr h="1100214">
                    <a:tc rowSpan="2"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marL="26407" marR="2934" marT="2934" marB="0" anchor="ctr">
                        <a:blipFill>
                          <a:blip r:embed="rId2"/>
                          <a:stretch>
                            <a:fillRect l="-264" t="-104101" r="-403166" b="-13722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l" fontAlgn="ctr"/>
                          <a:r>
                            <a:rPr lang="ru-RU" sz="1800" u="none" strike="noStrike" dirty="0">
                              <a:effectLst/>
                            </a:rPr>
                            <a:t>Пример: Прогнозирование выручки компании с резкими изменениями масштаба (например, </a:t>
                          </a:r>
                          <a:r>
                            <a:rPr lang="ru-RU" sz="1800" u="none" strike="noStrike" dirty="0" err="1">
                              <a:effectLst/>
                            </a:rPr>
                            <a:t>стартап</a:t>
                          </a:r>
                          <a:r>
                            <a:rPr lang="ru-RU" sz="1800" u="none" strike="noStrike" dirty="0">
                              <a:effectLst/>
                            </a:rPr>
                            <a:t> в период роста).</a:t>
                          </a:r>
                          <a:endParaRPr lang="ru-RU" sz="1800" b="1" i="0" u="none" strike="noStrike" dirty="0">
                            <a:solidFill>
                              <a:srgbClr val="404040"/>
                            </a:solidFill>
                            <a:effectLst/>
                            <a:latin typeface="Segoe UI" panose="020B0502040204020203" pitchFamily="34" charset="0"/>
                          </a:endParaRPr>
                        </a:p>
                      </a:txBody>
                      <a:tcPr marL="26407" marR="2934" marT="2934" marB="0" anchor="ctr"/>
                    </a:tc>
                    <a:tc>
                      <a:txBody>
                        <a:bodyPr/>
                        <a:lstStyle/>
                        <a:p>
                          <a:pPr algn="l" fontAlgn="ctr"/>
                          <a:r>
                            <a:rPr lang="ru-RU" sz="1800" u="none" strike="noStrike" dirty="0">
                              <a:effectLst/>
                            </a:rPr>
                            <a:t>– Для рядов с нестабильным масштабом (например, быстрорастущие продажи).</a:t>
                          </a:r>
                          <a:endParaRPr lang="ru-RU" sz="1800" b="0" i="0" u="none" strike="noStrike" dirty="0">
                            <a:solidFill>
                              <a:srgbClr val="404040"/>
                            </a:solidFill>
                            <a:effectLst/>
                            <a:latin typeface="Segoe UI" panose="020B0502040204020203" pitchFamily="34" charset="0"/>
                          </a:endParaRPr>
                        </a:p>
                      </a:txBody>
                      <a:tcPr marL="26407" marR="2934" marT="2934" marB="0" anchor="ctr"/>
                    </a:tc>
                    <a:tc rowSpan="2">
                      <a:txBody>
                        <a:bodyPr/>
                        <a:lstStyle/>
                        <a:p>
                          <a:pPr algn="l" fontAlgn="ctr"/>
                          <a:r>
                            <a:rPr lang="ru-RU" sz="1800" u="none" strike="noStrike" dirty="0">
                              <a:effectLst/>
                            </a:rPr>
                            <a:t>Может маскировать локальные ошибки, если ряд неравномерный.</a:t>
                          </a:r>
                          <a:endParaRPr lang="ru-RU" sz="1800" b="0" i="0" u="none" strike="noStrike" dirty="0">
                            <a:solidFill>
                              <a:srgbClr val="404040"/>
                            </a:solidFill>
                            <a:effectLst/>
                            <a:latin typeface="Segoe UI" panose="020B0502040204020203" pitchFamily="34" charset="0"/>
                          </a:endParaRPr>
                        </a:p>
                      </a:txBody>
                      <a:tcPr marL="26407" marR="2934" marT="2934" marB="0" anchor="ctr"/>
                    </a:tc>
                    <a:extLst>
                      <a:ext uri="{0D108BD9-81ED-4DB2-BD59-A6C34878D82A}">
                        <a16:rowId xmlns:a16="http://schemas.microsoft.com/office/drawing/2014/main" val="2949914155"/>
                      </a:ext>
                    </a:extLst>
                  </a:tr>
                  <a:tr h="825894">
                    <a:tc vMerge="1"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ctr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ru-RU" sz="1800" u="none" strike="noStrike" dirty="0">
                              <a:effectLst/>
                            </a:rPr>
                            <a:t> </a:t>
                          </a:r>
                          <a:r>
                            <a:rPr lang="ru-RU" sz="1800" u="none" strike="noStrike" dirty="0" smtClean="0">
                              <a:effectLst/>
                            </a:rPr>
                            <a:t>Задача: Оценить ошибку относительно общего объёма данных, а не по точкам.</a:t>
                          </a:r>
                        </a:p>
                        <a:p>
                          <a:pPr algn="l" fontAlgn="ctr"/>
                          <a:endParaRPr lang="ru-RU" sz="1800" b="1" i="0" u="none" strike="noStrike" dirty="0">
                            <a:solidFill>
                              <a:srgbClr val="404040"/>
                            </a:solidFill>
                            <a:effectLst/>
                            <a:latin typeface="Segoe UI" panose="020B0502040204020203" pitchFamily="34" charset="0"/>
                          </a:endParaRPr>
                        </a:p>
                      </a:txBody>
                      <a:tcPr marL="26407" marR="2934" marT="2934" marB="0" anchor="ctr"/>
                    </a:tc>
                    <a:tc>
                      <a:txBody>
                        <a:bodyPr/>
                        <a:lstStyle/>
                        <a:p>
                          <a:pPr algn="l" fontAlgn="ctr"/>
                          <a:r>
                            <a:rPr lang="ru-RU" sz="1800" u="none" strike="noStrike" dirty="0">
                              <a:effectLst/>
                            </a:rPr>
                            <a:t>– В бизнес-аналитике, где ошибка должна быть в % от общего оборота.</a:t>
                          </a:r>
                          <a:endParaRPr lang="ru-RU" sz="1800" b="0" i="0" u="none" strike="noStrike" dirty="0">
                            <a:solidFill>
                              <a:srgbClr val="404040"/>
                            </a:solidFill>
                            <a:effectLst/>
                            <a:latin typeface="Segoe UI" panose="020B0502040204020203" pitchFamily="34" charset="0"/>
                          </a:endParaRPr>
                        </a:p>
                      </a:txBody>
                      <a:tcPr marL="26407" marR="2934" marT="2934" marB="0" anchor="ctr"/>
                    </a:tc>
                    <a:tc vMerge="1"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19912873"/>
                      </a:ext>
                    </a:extLst>
                  </a:tr>
                  <a:tr h="1100214">
                    <a:tc rowSpan="2"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marL="26407" marR="2934" marT="2934" marB="0" anchor="ctr">
                        <a:blipFill>
                          <a:blip r:embed="rId2"/>
                          <a:stretch>
                            <a:fillRect l="-264" t="-179224" r="-403166" b="-2049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l" fontAlgn="ctr"/>
                          <a:r>
                            <a:rPr lang="ru-RU" sz="1800" u="none" strike="noStrike" dirty="0">
                              <a:effectLst/>
                            </a:rPr>
                            <a:t>Пример: Прогнозирование количества пользователей мобильного приложения (экспоненциальный рост).</a:t>
                          </a:r>
                          <a:endParaRPr lang="ru-RU" sz="1800" b="1" i="0" u="none" strike="noStrike" dirty="0">
                            <a:solidFill>
                              <a:srgbClr val="404040"/>
                            </a:solidFill>
                            <a:effectLst/>
                            <a:latin typeface="Segoe UI" panose="020B0502040204020203" pitchFamily="34" charset="0"/>
                          </a:endParaRPr>
                        </a:p>
                      </a:txBody>
                      <a:tcPr marL="26407" marR="2934" marT="2934" marB="0" anchor="ctr"/>
                    </a:tc>
                    <a:tc>
                      <a:txBody>
                        <a:bodyPr/>
                        <a:lstStyle/>
                        <a:p>
                          <a:pPr algn="l" fontAlgn="ctr"/>
                          <a:r>
                            <a:rPr lang="ru-RU" sz="1800" u="none" strike="noStrike">
                              <a:effectLst/>
                            </a:rPr>
                            <a:t>– Для мультипликативных трендов или данных с экспоненциальной динамикой.</a:t>
                          </a:r>
                          <a:endParaRPr lang="ru-RU" sz="1800" b="0" i="0" u="none" strike="noStrike">
                            <a:solidFill>
                              <a:srgbClr val="404040"/>
                            </a:solidFill>
                            <a:effectLst/>
                            <a:latin typeface="Segoe UI" panose="020B0502040204020203" pitchFamily="34" charset="0"/>
                          </a:endParaRPr>
                        </a:p>
                      </a:txBody>
                      <a:tcPr marL="26407" marR="2934" marT="2934" marB="0" anchor="ctr"/>
                    </a:tc>
                    <a:tc rowSpan="2">
                      <a:txBody>
                        <a:bodyPr/>
                        <a:lstStyle/>
                        <a:p>
                          <a:pPr algn="l" fontAlgn="ctr"/>
                          <a:r>
                            <a:rPr lang="ru-RU" sz="1800" u="none" strike="noStrike" dirty="0">
                              <a:effectLst/>
                            </a:rPr>
                            <a:t>Не работает с отрицательными значениями и нулями (нужна коррекция: </a:t>
                          </a:r>
                          <a:r>
                            <a:rPr lang="ru-RU" sz="1800" u="none" strike="noStrike" dirty="0" err="1">
                              <a:effectLst/>
                            </a:rPr>
                            <a:t>log</a:t>
                          </a:r>
                          <a:r>
                            <a:rPr lang="ru-RU" sz="1800" u="none" strike="noStrike" dirty="0">
                              <a:effectLst/>
                            </a:rPr>
                            <a:t>⁡(</a:t>
                          </a:r>
                          <a:r>
                            <a:rPr lang="ru-RU" sz="1800" u="none" strike="noStrike" dirty="0" err="1" smtClean="0">
                              <a:effectLst/>
                            </a:rPr>
                            <a:t>yi</a:t>
                          </a:r>
                          <a:r>
                            <a:rPr lang="ru-RU" sz="1800" u="none" strike="noStrike" dirty="0" smtClean="0">
                              <a:effectLst/>
                            </a:rPr>
                            <a:t>+ϵ))</a:t>
                          </a:r>
                          <a:endParaRPr lang="ru-RU" sz="1800" b="0" i="0" u="none" strike="noStrike" dirty="0">
                            <a:solidFill>
                              <a:srgbClr val="404040"/>
                            </a:solidFill>
                            <a:effectLst/>
                            <a:latin typeface="Segoe UI" panose="020B0502040204020203" pitchFamily="34" charset="0"/>
                          </a:endParaRPr>
                        </a:p>
                      </a:txBody>
                      <a:tcPr marL="26407" marR="2934" marT="2934" marB="0" anchor="ctr"/>
                    </a:tc>
                    <a:extLst>
                      <a:ext uri="{0D108BD9-81ED-4DB2-BD59-A6C34878D82A}">
                        <a16:rowId xmlns:a16="http://schemas.microsoft.com/office/drawing/2014/main" val="962892815"/>
                      </a:ext>
                    </a:extLst>
                  </a:tr>
                  <a:tr h="1100214">
                    <a:tc vMerge="1"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ctr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ru-RU" sz="1800" u="none" strike="noStrike" dirty="0">
                              <a:effectLst/>
                            </a:rPr>
                            <a:t> </a:t>
                          </a:r>
                          <a:r>
                            <a:rPr lang="ru-RU" sz="1800" u="none" strike="noStrike" dirty="0" smtClean="0">
                              <a:effectLst/>
                            </a:rPr>
                            <a:t>Задача: Штрафовать ошибки на малых значениях сильнее, чем на больших (логарифмическая шкала).</a:t>
                          </a:r>
                          <a:endParaRPr lang="ru-RU" sz="1800" b="1" i="0" u="none" strike="noStrike" dirty="0" smtClean="0">
                            <a:solidFill>
                              <a:srgbClr val="404040"/>
                            </a:solidFill>
                            <a:effectLst/>
                            <a:latin typeface="Segoe UI" panose="020B0502040204020203" pitchFamily="34" charset="0"/>
                          </a:endParaRPr>
                        </a:p>
                      </a:txBody>
                      <a:tcPr marL="26407" marR="2934" marT="2934" marB="0" anchor="ctr"/>
                    </a:tc>
                    <a:tc>
                      <a:txBody>
                        <a:bodyPr/>
                        <a:lstStyle/>
                        <a:p>
                          <a:pPr algn="l" fontAlgn="ctr"/>
                          <a:r>
                            <a:rPr lang="ru-RU" sz="1800" u="none" strike="noStrike" dirty="0">
                              <a:effectLst/>
                            </a:rPr>
                            <a:t>– Когда переоценка на 100 пользователей при </a:t>
                          </a:r>
                          <a:r>
                            <a:rPr lang="ru-RU" sz="1800" u="none" strike="noStrike" dirty="0" err="1" smtClean="0">
                              <a:effectLst/>
                            </a:rPr>
                            <a:t>yi</a:t>
                          </a:r>
                          <a:r>
                            <a:rPr lang="ru-RU" sz="1800" u="none" strike="noStrike" dirty="0" smtClean="0">
                              <a:effectLst/>
                            </a:rPr>
                            <a:t>=10</a:t>
                          </a:r>
                          <a:r>
                            <a:rPr lang="ru-RU" sz="1800" u="none" strike="noStrike" dirty="0">
                              <a:effectLst/>
                            </a:rPr>
                            <a:t> хуже, чем при </a:t>
                          </a:r>
                          <a:r>
                            <a:rPr lang="ru-RU" sz="1800" u="none" strike="noStrike" dirty="0" err="1" smtClean="0">
                              <a:effectLst/>
                            </a:rPr>
                            <a:t>yi</a:t>
                          </a:r>
                          <a:r>
                            <a:rPr lang="ru-RU" sz="1800" u="none" strike="noStrike" dirty="0" smtClean="0">
                              <a:effectLst/>
                            </a:rPr>
                            <a:t>=10</a:t>
                          </a:r>
                          <a:r>
                            <a:rPr lang="en-US" sz="1800" u="none" strike="noStrike" dirty="0" smtClean="0">
                              <a:effectLst/>
                            </a:rPr>
                            <a:t>00</a:t>
                          </a:r>
                          <a:r>
                            <a:rPr lang="ru-RU" sz="1800" u="none" strike="noStrike" dirty="0" smtClean="0">
                              <a:effectLst/>
                            </a:rPr>
                            <a:t>.</a:t>
                          </a:r>
                          <a:endParaRPr lang="ru-RU" sz="1800" b="0" i="0" u="none" strike="noStrike" dirty="0">
                            <a:solidFill>
                              <a:srgbClr val="404040"/>
                            </a:solidFill>
                            <a:effectLst/>
                            <a:latin typeface="Segoe UI" panose="020B0502040204020203" pitchFamily="34" charset="0"/>
                          </a:endParaRPr>
                        </a:p>
                      </a:txBody>
                      <a:tcPr marL="26407" marR="2934" marT="2934" marB="0" anchor="ctr"/>
                    </a:tc>
                    <a:tc vMerge="1"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49418290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403420055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54691" y="278297"/>
            <a:ext cx="10780059" cy="448236"/>
          </a:xfrm>
        </p:spPr>
        <p:txBody>
          <a:bodyPr>
            <a:normAutofit fontScale="90000"/>
          </a:bodyPr>
          <a:lstStyle/>
          <a:p>
            <a:r>
              <a:rPr lang="ru-RU" dirty="0"/>
              <a:t>Оценка качества </a:t>
            </a:r>
            <a:r>
              <a:rPr lang="ru-RU" dirty="0" err="1"/>
              <a:t>пресдказания</a:t>
            </a:r>
            <a:r>
              <a:rPr lang="ru-RU" dirty="0"/>
              <a:t> ВР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92741" y="726533"/>
            <a:ext cx="11719859" cy="5325315"/>
          </a:xfrm>
        </p:spPr>
        <p:txBody>
          <a:bodyPr>
            <a:normAutofit/>
          </a:bodyPr>
          <a:lstStyle/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ru-RU" altLang="ru-RU" sz="2100" dirty="0">
                <a:solidFill>
                  <a:srgbClr val="000000"/>
                </a:solidFill>
              </a:rPr>
              <a:t>робастностью — насколько ошибка устойчива при небольшом изменении — насколько она подскакивает/падает и насколько, в целом, отражает состояние бизнеса;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ru-RU" altLang="ru-RU" sz="2100" dirty="0">
                <a:solidFill>
                  <a:srgbClr val="000000"/>
                </a:solidFill>
              </a:rPr>
              <a:t>обобщенностью — насколько сильно происходит усреднение ошибки — сможем ли мы составить по средней абсолютной ошибке представление о том, что происходит </a:t>
            </a:r>
            <a:r>
              <a:rPr lang="ru-RU" altLang="ru-RU" sz="2100" dirty="0" smtClean="0">
                <a:solidFill>
                  <a:srgbClr val="000000"/>
                </a:solidFill>
              </a:rPr>
              <a:t>позиционно</a:t>
            </a:r>
            <a:endParaRPr lang="ru-RU" altLang="ru-RU" sz="2100" dirty="0">
              <a:solidFill>
                <a:srgbClr val="000000"/>
              </a:solidFill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ru-RU" altLang="ru-RU" sz="2100" dirty="0">
                <a:solidFill>
                  <a:srgbClr val="000000"/>
                </a:solidFill>
              </a:rPr>
              <a:t>симметричностью — насколько наша ошибка для разных знаков является</a:t>
            </a:r>
            <a:r>
              <a:rPr lang="en-US" altLang="ru-RU" sz="2100" dirty="0">
                <a:solidFill>
                  <a:srgbClr val="000000"/>
                </a:solidFill>
              </a:rPr>
              <a:t> </a:t>
            </a:r>
            <a:r>
              <a:rPr lang="ru-RU" altLang="ru-RU" sz="2100" dirty="0" err="1">
                <a:solidFill>
                  <a:srgbClr val="000000"/>
                </a:solidFill>
              </a:rPr>
              <a:t>значначимой</a:t>
            </a:r>
            <a:endParaRPr lang="ru-RU" altLang="ru-RU" sz="2100" dirty="0">
              <a:solidFill>
                <a:srgbClr val="000000"/>
              </a:solidFill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ru-RU" altLang="ru-RU" sz="1400" dirty="0"/>
              <a:t>                                         </a:t>
            </a:r>
            <a:r>
              <a:rPr lang="ru-RU" altLang="ru-RU" sz="2100" dirty="0"/>
              <a:t>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 </a:t>
            </a:r>
          </a:p>
        </p:txBody>
      </p:sp>
      <p:sp>
        <p:nvSpPr>
          <p:cNvPr id="15" name="Rectangle 1"/>
          <p:cNvSpPr>
            <a:spLocks noChangeArrowheads="1"/>
          </p:cNvSpPr>
          <p:nvPr/>
        </p:nvSpPr>
        <p:spPr bwMode="auto">
          <a:xfrm>
            <a:off x="0" y="-170549"/>
            <a:ext cx="65" cy="3410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6348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026" name="Picture 2" descr="Свойства традиционных методов оценки качества прогнозирования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562"/>
          <a:stretch/>
        </p:blipFill>
        <p:spPr bwMode="auto">
          <a:xfrm>
            <a:off x="192741" y="2395534"/>
            <a:ext cx="8741709" cy="21269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Прямоугольник 17"/>
          <p:cNvSpPr/>
          <p:nvPr/>
        </p:nvSpPr>
        <p:spPr>
          <a:xfrm>
            <a:off x="268941" y="6480731"/>
            <a:ext cx="985744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https://reshape.ru/articles/tpost/e9s086ofm1-kak-otsenit-kachestvo-prognozirovaniya</a:t>
            </a:r>
          </a:p>
        </p:txBody>
      </p:sp>
      <p:sp>
        <p:nvSpPr>
          <p:cNvPr id="4" name="Прямоугольник 3"/>
          <p:cNvSpPr/>
          <p:nvPr/>
        </p:nvSpPr>
        <p:spPr>
          <a:xfrm>
            <a:off x="7035800" y="4482187"/>
            <a:ext cx="5299075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/>
            <a:r>
              <a:rPr lang="ru-RU" i="1" dirty="0"/>
              <a:t>Интерпретируемость</a:t>
            </a:r>
            <a:r>
              <a:rPr lang="ru-RU" dirty="0"/>
              <a:t> → MAE, MAPE, WAPE</a:t>
            </a:r>
          </a:p>
          <a:p>
            <a:pPr lvl="1"/>
            <a:r>
              <a:rPr lang="ru-RU" i="1" dirty="0"/>
              <a:t>Устойчивость</a:t>
            </a:r>
            <a:r>
              <a:rPr lang="ru-RU" dirty="0"/>
              <a:t> → </a:t>
            </a:r>
            <a:r>
              <a:rPr lang="ru-RU" dirty="0" err="1"/>
              <a:t>MedAE</a:t>
            </a:r>
            <a:r>
              <a:rPr lang="ru-RU" dirty="0"/>
              <a:t>, MASE</a:t>
            </a:r>
          </a:p>
          <a:p>
            <a:pPr lvl="1"/>
            <a:r>
              <a:rPr lang="ru-RU" i="1" dirty="0" err="1" smtClean="0"/>
              <a:t>неопределнность</a:t>
            </a:r>
            <a:r>
              <a:rPr lang="ru-RU" i="1" dirty="0" smtClean="0"/>
              <a:t> </a:t>
            </a:r>
            <a:r>
              <a:rPr lang="ru-RU" i="1" dirty="0"/>
              <a:t>моделей</a:t>
            </a:r>
            <a:r>
              <a:rPr lang="ru-RU" dirty="0"/>
              <a:t> </a:t>
            </a:r>
            <a:r>
              <a:rPr lang="ru-RU" dirty="0" smtClean="0"/>
              <a:t>→ </a:t>
            </a:r>
            <a:r>
              <a:rPr lang="ru-RU" dirty="0"/>
              <a:t>RMSE </a:t>
            </a:r>
          </a:p>
        </p:txBody>
      </p:sp>
      <p:sp>
        <p:nvSpPr>
          <p:cNvPr id="5" name="Прямоугольник 4"/>
          <p:cNvSpPr/>
          <p:nvPr/>
        </p:nvSpPr>
        <p:spPr>
          <a:xfrm>
            <a:off x="192741" y="5545165"/>
            <a:ext cx="1193258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>
                <a:solidFill>
                  <a:srgbClr val="2C2C36"/>
                </a:solidFill>
                <a:latin typeface="system-ui"/>
              </a:rPr>
              <a:t>В реальных задачах рекомендуется использовать </a:t>
            </a:r>
            <a:r>
              <a:rPr lang="ru-RU" dirty="0">
                <a:solidFill>
                  <a:srgbClr val="111827"/>
                </a:solidFill>
                <a:latin typeface="system-ui"/>
              </a:rPr>
              <a:t>несколько метрик </a:t>
            </a:r>
            <a:r>
              <a:rPr lang="ru-RU" dirty="0">
                <a:solidFill>
                  <a:srgbClr val="2C2C36"/>
                </a:solidFill>
                <a:latin typeface="system-ui"/>
              </a:rPr>
              <a:t>одновременно (например, MAE + R² + MASE), чтобы получить более полное представление о качестве прогноза</a:t>
            </a:r>
            <a:r>
              <a:rPr lang="ru-RU" dirty="0" smtClean="0">
                <a:solidFill>
                  <a:srgbClr val="2C2C36"/>
                </a:solidFill>
                <a:latin typeface="system-ui"/>
              </a:rPr>
              <a:t>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187008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10896" y="365125"/>
            <a:ext cx="11042904" cy="585851"/>
          </a:xfrm>
        </p:spPr>
        <p:txBody>
          <a:bodyPr>
            <a:normAutofit fontScale="90000"/>
          </a:bodyPr>
          <a:lstStyle/>
          <a:p>
            <a:r>
              <a:rPr lang="ru-RU" dirty="0" smtClean="0"/>
              <a:t>Необходимость вероятностных оценок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34</a:t>
            </a:fld>
            <a:endParaRPr lang="en-US"/>
          </a:p>
        </p:txBody>
      </p:sp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192024" y="950976"/>
            <a:ext cx="11814048" cy="57528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ru-RU" sz="2200" b="1" dirty="0" smtClean="0"/>
              <a:t>Интервал </a:t>
            </a:r>
            <a:r>
              <a:rPr lang="ru-RU" sz="2200" b="1" dirty="0"/>
              <a:t>предсказаний – это Диапазон значений, в котором с заданной вероятностью (уровнем доверия) ожидается будущее наблюдение</a:t>
            </a:r>
            <a:r>
              <a:rPr lang="ru-RU" sz="2200" b="1" dirty="0" smtClean="0"/>
              <a:t>.</a:t>
            </a:r>
          </a:p>
          <a:p>
            <a:pPr marL="457200" lvl="1" indent="0">
              <a:buNone/>
            </a:pPr>
            <a:r>
              <a:rPr lang="ru-RU" sz="1800" dirty="0" smtClean="0"/>
              <a:t>Прогноз </a:t>
            </a:r>
            <a:r>
              <a:rPr lang="ru-RU" sz="1800" dirty="0"/>
              <a:t>продаж на январь: </a:t>
            </a:r>
            <a:r>
              <a:rPr lang="ru-RU" sz="1800" b="1" dirty="0"/>
              <a:t>1000 ± 100 единиц (95% PI</a:t>
            </a:r>
            <a:r>
              <a:rPr lang="ru-RU" sz="1800" b="1" dirty="0" smtClean="0"/>
              <a:t>)</a:t>
            </a:r>
            <a:r>
              <a:rPr lang="ru-RU" sz="1800" dirty="0" smtClean="0"/>
              <a:t>→ продажи </a:t>
            </a:r>
            <a:r>
              <a:rPr lang="ru-RU" sz="1800" dirty="0"/>
              <a:t>с вероятностью 95% будут между </a:t>
            </a:r>
            <a:r>
              <a:rPr lang="ru-RU" sz="1800" b="1" dirty="0"/>
              <a:t>900</a:t>
            </a:r>
            <a:r>
              <a:rPr lang="ru-RU" sz="1800" dirty="0"/>
              <a:t> и </a:t>
            </a:r>
            <a:r>
              <a:rPr lang="ru-RU" sz="1800" b="1" dirty="0"/>
              <a:t>1100</a:t>
            </a:r>
            <a:r>
              <a:rPr lang="ru-RU" sz="1800" dirty="0"/>
              <a:t>.</a:t>
            </a:r>
          </a:p>
          <a:p>
            <a:pPr marL="0" indent="0">
              <a:buNone/>
            </a:pPr>
            <a:r>
              <a:rPr lang="ru-RU" sz="2200" b="1" dirty="0" smtClean="0"/>
              <a:t>1. </a:t>
            </a:r>
            <a:r>
              <a:rPr lang="ru-RU" sz="2200" dirty="0" smtClean="0"/>
              <a:t>Интервальный </a:t>
            </a:r>
            <a:r>
              <a:rPr lang="ru-RU" sz="2200" dirty="0"/>
              <a:t>прогноз спроса на электричество:</a:t>
            </a:r>
          </a:p>
          <a:p>
            <a:r>
              <a:rPr lang="ru-RU" sz="2200" dirty="0" smtClean="0"/>
              <a:t>Ожидаемый 99% </a:t>
            </a:r>
            <a:r>
              <a:rPr lang="ru-RU" sz="2200" dirty="0"/>
              <a:t>доверительный </a:t>
            </a:r>
            <a:r>
              <a:rPr lang="ru-RU" sz="2200" dirty="0" smtClean="0"/>
              <a:t>интервал модели:</a:t>
            </a:r>
            <a:r>
              <a:rPr lang="ru-RU" sz="2200" dirty="0"/>
              <a:t> [100 МВт, 150 </a:t>
            </a:r>
            <a:r>
              <a:rPr lang="ru-RU" sz="2200" dirty="0" smtClean="0"/>
              <a:t>МВт] Реальное </a:t>
            </a:r>
            <a:r>
              <a:rPr lang="ru-RU" sz="2200" dirty="0"/>
              <a:t>значение через день: 160 МВт → коллапс сети</a:t>
            </a:r>
          </a:p>
          <a:p>
            <a:pPr marL="0" indent="0">
              <a:buNone/>
            </a:pPr>
            <a:r>
              <a:rPr lang="ru-RU" sz="2200" dirty="0"/>
              <a:t> </a:t>
            </a:r>
            <a:r>
              <a:rPr lang="ru-RU" sz="2200" i="1" dirty="0"/>
              <a:t>Как </a:t>
            </a:r>
            <a:r>
              <a:rPr lang="ru-RU" sz="2200" i="1" dirty="0" smtClean="0"/>
              <a:t>предсказать экстремальный риск (</a:t>
            </a:r>
            <a:r>
              <a:rPr lang="ru-RU" sz="2200" i="1" dirty="0" err="1" smtClean="0"/>
              <a:t>пин-болл</a:t>
            </a:r>
            <a:r>
              <a:rPr lang="ru-RU" sz="2200" i="1" dirty="0" smtClean="0"/>
              <a:t> </a:t>
            </a:r>
            <a:r>
              <a:rPr lang="ru-RU" sz="2200" i="1" dirty="0" err="1" smtClean="0"/>
              <a:t>лосс</a:t>
            </a:r>
            <a:r>
              <a:rPr lang="ru-RU" sz="2200" i="1" dirty="0" smtClean="0"/>
              <a:t>), </a:t>
            </a:r>
            <a:r>
              <a:rPr lang="ru-RU" sz="2200" i="1" dirty="0"/>
              <a:t>насколько надежны такие интервалы</a:t>
            </a:r>
            <a:r>
              <a:rPr lang="ru-RU" sz="2200" i="1" dirty="0" smtClean="0"/>
              <a:t>?</a:t>
            </a:r>
          </a:p>
          <a:p>
            <a:r>
              <a:rPr lang="ru-RU" sz="2200" b="0" i="0" dirty="0" smtClean="0">
                <a:effectLst/>
              </a:rPr>
              <a:t>Оценка не только точечных прогнозов, но и интервалов позволяет выявить аномалии</a:t>
            </a:r>
          </a:p>
          <a:p>
            <a:pPr marL="0" indent="0">
              <a:buNone/>
            </a:pPr>
            <a:r>
              <a:rPr lang="ru-RU" sz="2200" b="1" dirty="0" smtClean="0"/>
              <a:t>2. </a:t>
            </a:r>
            <a:r>
              <a:rPr lang="ru-RU" sz="2200" dirty="0" smtClean="0"/>
              <a:t>Прогнозы </a:t>
            </a:r>
            <a:r>
              <a:rPr lang="ru-RU" sz="2200" dirty="0"/>
              <a:t>температуры от 5 </a:t>
            </a:r>
            <a:r>
              <a:rPr lang="ru-RU" sz="2200" dirty="0" smtClean="0"/>
              <a:t>моделей, прогнозирующих распределение </a:t>
            </a:r>
            <a:r>
              <a:rPr lang="ru-RU" sz="2200" dirty="0"/>
              <a:t>(ECMWF, GFS, </a:t>
            </a:r>
            <a:r>
              <a:rPr lang="ru-RU" sz="2200" dirty="0" smtClean="0"/>
              <a:t>...).</a:t>
            </a:r>
          </a:p>
          <a:p>
            <a:r>
              <a:rPr lang="ru-RU" sz="2200" dirty="0" smtClean="0"/>
              <a:t>Каждая Ансамбли </a:t>
            </a:r>
            <a:r>
              <a:rPr lang="ru-RU" sz="2200" dirty="0"/>
              <a:t>моделей давали разные распределения. Как выбрать лучшую</a:t>
            </a:r>
            <a:r>
              <a:rPr lang="ru-RU" sz="2200" dirty="0" smtClean="0"/>
              <a:t>? (с наименьшим разбросом результатов) -</a:t>
            </a:r>
            <a:r>
              <a:rPr lang="en-US" sz="2200" dirty="0" smtClean="0"/>
              <a:t>&gt; </a:t>
            </a:r>
            <a:r>
              <a:rPr lang="ru-RU" sz="2200" dirty="0" smtClean="0"/>
              <a:t>Сравниваем распределения с эталонным</a:t>
            </a:r>
            <a:r>
              <a:rPr lang="en-US" sz="2200" dirty="0" smtClean="0"/>
              <a:t> </a:t>
            </a:r>
            <a:r>
              <a:rPr lang="en-US" sz="2200" b="1" dirty="0" smtClean="0"/>
              <a:t>(CRPS)</a:t>
            </a:r>
            <a:endParaRPr lang="ru-RU" sz="2200" b="1" dirty="0"/>
          </a:p>
          <a:p>
            <a:pPr marL="0" indent="0">
              <a:buNone/>
            </a:pPr>
            <a:r>
              <a:rPr lang="ru-RU" sz="2200" b="1" i="0" dirty="0" smtClean="0">
                <a:effectLst/>
              </a:rPr>
              <a:t>3.</a:t>
            </a:r>
            <a:r>
              <a:rPr lang="ru-RU" sz="2200" b="1" dirty="0"/>
              <a:t> </a:t>
            </a:r>
            <a:r>
              <a:rPr lang="ru-RU" sz="2200" dirty="0"/>
              <a:t>Еженедельные продажи товара (сеть магазинов</a:t>
            </a:r>
            <a:r>
              <a:rPr lang="ru-RU" sz="2200" dirty="0" smtClean="0"/>
              <a:t>) </a:t>
            </a:r>
            <a:r>
              <a:rPr lang="ru-RU" sz="2200" dirty="0"/>
              <a:t>планировались по среднему ± </a:t>
            </a:r>
            <a:r>
              <a:rPr lang="ru-RU" sz="2200" dirty="0" smtClean="0"/>
              <a:t>20%, как оценить достаточность интервала</a:t>
            </a:r>
          </a:p>
          <a:p>
            <a:r>
              <a:rPr lang="ru-RU" sz="2200" b="0" i="0" dirty="0" smtClean="0">
                <a:effectLst/>
              </a:rPr>
              <a:t>Метод оценки покрытия интервала дает 80% -</a:t>
            </a:r>
            <a:r>
              <a:rPr lang="en-US" sz="2200" b="0" i="0" dirty="0" smtClean="0">
                <a:effectLst/>
              </a:rPr>
              <a:t>&gt; </a:t>
            </a:r>
            <a:r>
              <a:rPr lang="ru-RU" sz="2200" b="0" i="0" dirty="0" smtClean="0">
                <a:effectLst/>
              </a:rPr>
              <a:t>если больше 75%, считаем достаточным. </a:t>
            </a:r>
            <a:r>
              <a:rPr lang="ru-RU" sz="2200" dirty="0" smtClean="0"/>
              <a:t>Интервал можно снижать.</a:t>
            </a:r>
            <a:endParaRPr lang="ru-RU" sz="2200" b="0" i="0" dirty="0">
              <a:effectLst/>
            </a:endParaRPr>
          </a:p>
        </p:txBody>
      </p:sp>
      <p:sp>
        <p:nvSpPr>
          <p:cNvPr id="8" name="Прямоугольник 7"/>
          <p:cNvSpPr/>
          <p:nvPr/>
        </p:nvSpPr>
        <p:spPr>
          <a:xfrm>
            <a:off x="5404104" y="6538912"/>
            <a:ext cx="487037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/>
              <a:t>https://otexts.com/fpp3/prediction-intervals.html</a:t>
            </a:r>
          </a:p>
        </p:txBody>
      </p:sp>
    </p:spTree>
    <p:extLst>
      <p:ext uri="{BB962C8B-B14F-4D97-AF65-F5344CB8AC3E}">
        <p14:creationId xmlns:p14="http://schemas.microsoft.com/office/powerpoint/2010/main" val="33059429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10896" y="365125"/>
            <a:ext cx="11042904" cy="585851"/>
          </a:xfrm>
        </p:spPr>
        <p:txBody>
          <a:bodyPr>
            <a:normAutofit fontScale="90000"/>
          </a:bodyPr>
          <a:lstStyle/>
          <a:p>
            <a:r>
              <a:rPr lang="ru-RU" dirty="0" smtClean="0"/>
              <a:t>Необходимость вероятностных оценок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35</a:t>
            </a:fld>
            <a:endParaRPr lang="en-US"/>
          </a:p>
        </p:txBody>
      </p:sp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192024" y="950976"/>
            <a:ext cx="11814048" cy="3970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200" b="1" dirty="0" smtClean="0"/>
              <a:t> </a:t>
            </a:r>
            <a:endParaRPr lang="ru-RU" sz="2200" b="0" i="0" dirty="0">
              <a:effectLst/>
            </a:endParaRPr>
          </a:p>
        </p:txBody>
      </p:sp>
      <p:pic>
        <p:nvPicPr>
          <p:cNvPr id="5122" name="Picture 2" descr="Five simulated future sample paths of the Google closing stock price based on a naïve method with bootstrapped residuals.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08470" y="850392"/>
            <a:ext cx="4460874" cy="27548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4" name="Picture 4" descr="Forecasts of the Google closing stock price based on a naïve method with bootstrapped residuals.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82434" y="3753865"/>
            <a:ext cx="4642510" cy="28670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Объект 4"/>
              <p:cNvSpPr txBox="1">
                <a:spLocks/>
              </p:cNvSpPr>
              <p:nvPr/>
            </p:nvSpPr>
            <p:spPr>
              <a:xfrm>
                <a:off x="192024" y="950976"/>
                <a:ext cx="7290410" cy="2929007"/>
              </a:xfrm>
              <a:prstGeom prst="rect">
                <a:avLst/>
              </a:prstGeom>
            </p:spPr>
            <p:txBody>
              <a:bodyPr vert="horz" wrap="square" lIns="91440" tIns="45720" rIns="91440" bIns="45720" rtlCol="0">
                <a:sp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00000"/>
                  </a:lnSpc>
                  <a:buNone/>
                </a:pPr>
                <a:r>
                  <a:rPr lang="ru-RU" sz="2200" b="1" dirty="0" smtClean="0"/>
                  <a:t>Вероятностные оценки  </a:t>
                </a:r>
                <a:r>
                  <a:rPr lang="ru-RU" sz="2200" dirty="0" smtClean="0"/>
                  <a:t>показывают</a:t>
                </a:r>
                <a:r>
                  <a:rPr lang="ru-RU" sz="2200" dirty="0"/>
                  <a:t>, какие значения может принимать будущее наблюдение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b="1" i="1" dirty="0">
                            <a:latin typeface="Cambria Math" panose="02040503050406030204" pitchFamily="18" charset="0"/>
                          </a:rPr>
                          <m:t>𝒚</m:t>
                        </m:r>
                      </m:e>
                      <m:sub>
                        <m:r>
                          <a:rPr lang="en-US" sz="2200" i="1" dirty="0">
                            <a:latin typeface="Cambria Math" panose="02040503050406030204" pitchFamily="18" charset="0"/>
                          </a:rPr>
                          <m:t>𝑇</m:t>
                        </m:r>
                        <m:r>
                          <a:rPr lang="en-US" sz="2200" i="1" dirty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2200" i="1" dirty="0">
                            <a:latin typeface="Cambria Math" panose="02040503050406030204" pitchFamily="18" charset="0"/>
                          </a:rPr>
                          <m:t>h</m:t>
                        </m:r>
                      </m:sub>
                    </m:sSub>
                  </m:oMath>
                </a14:m>
                <a:r>
                  <a:rPr lang="ru-RU" sz="2200" dirty="0"/>
                  <a:t> </a:t>
                </a:r>
                <a:r>
                  <a:rPr lang="ru-RU" sz="2200" dirty="0" smtClean="0"/>
                  <a:t>с заданными вероятностями. Это позволяет оценить неопределенность прогноза</a:t>
                </a:r>
              </a:p>
              <a:p>
                <a:pPr marL="0" indent="0">
                  <a:lnSpc>
                    <a:spcPct val="100000"/>
                  </a:lnSpc>
                  <a:buNone/>
                </a:pPr>
                <a:r>
                  <a:rPr lang="ru-RU" sz="2200" b="1" dirty="0"/>
                  <a:t>Точечный прогноз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ru-RU" sz="220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US" sz="2200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sz="2200" b="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2200" b="1" i="1" dirty="0" smtClean="0">
                                    <a:latin typeface="Cambria Math" panose="02040503050406030204" pitchFamily="18" charset="0"/>
                                  </a:rPr>
                                  <m:t>𝒚</m:t>
                                </m:r>
                              </m:e>
                            </m:acc>
                          </m:e>
                          <m:sub>
                            <m:r>
                              <a:rPr lang="en-US" sz="2200" b="0" i="1" dirty="0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  <m:r>
                              <a:rPr lang="en-US" sz="2200" b="0" i="1" dirty="0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sz="2200" b="0" i="1" dirty="0" smtClean="0">
                                <a:latin typeface="Cambria Math" panose="02040503050406030204" pitchFamily="18" charset="0"/>
                              </a:rPr>
                              <m:t>h</m:t>
                            </m:r>
                          </m:sub>
                        </m:sSub>
                      </m:e>
                      <m:sup>
                        <m:r>
                          <a:rPr lang="ru-RU" sz="2200" i="1" dirty="0" smtClean="0">
                            <a:latin typeface="Cambria Math" panose="02040503050406030204" pitchFamily="18" charset="0"/>
                          </a:rPr>
                          <m:t>​</m:t>
                        </m:r>
                      </m:sup>
                    </m:sSup>
                    <m:r>
                      <a:rPr lang="ru-RU" sz="2200" i="1" dirty="0">
                        <a:latin typeface="Cambria Math" panose="02040503050406030204" pitchFamily="18" charset="0"/>
                      </a:rPr>
                      <m:t>​ </m:t>
                    </m:r>
                  </m:oMath>
                </a14:m>
                <a:r>
                  <a:rPr lang="ru-RU" sz="2200" dirty="0"/>
                  <a:t>— это среднее значение прогнозного распределения. То есть, это наше "лучшее" предположение о том, каким будет значение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b="1" i="1" dirty="0">
                            <a:latin typeface="Cambria Math" panose="02040503050406030204" pitchFamily="18" charset="0"/>
                          </a:rPr>
                          <m:t>𝒚</m:t>
                        </m:r>
                      </m:e>
                      <m:sub>
                        <m:r>
                          <a:rPr lang="en-US" sz="2200" i="1" dirty="0">
                            <a:latin typeface="Cambria Math" panose="02040503050406030204" pitchFamily="18" charset="0"/>
                          </a:rPr>
                          <m:t>𝑇</m:t>
                        </m:r>
                        <m:r>
                          <a:rPr lang="en-US" sz="2200" i="1" dirty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2200" i="1" dirty="0">
                            <a:latin typeface="Cambria Math" panose="02040503050406030204" pitchFamily="18" charset="0"/>
                          </a:rPr>
                          <m:t>h</m:t>
                        </m:r>
                      </m:sub>
                    </m:sSub>
                  </m:oMath>
                </a14:m>
                <a:r>
                  <a:rPr lang="ru-RU" sz="2200" dirty="0" smtClean="0"/>
                  <a:t>, </a:t>
                </a:r>
                <a:r>
                  <a:rPr lang="ru-RU" sz="2200" dirty="0"/>
                  <a:t>но оно не учитывает степень неопределенности</a:t>
                </a:r>
                <a:r>
                  <a:rPr lang="ru-RU" sz="2200" dirty="0" smtClean="0"/>
                  <a:t>.</a:t>
                </a:r>
              </a:p>
            </p:txBody>
          </p:sp>
        </mc:Choice>
        <mc:Fallback xmlns="">
          <p:sp>
            <p:nvSpPr>
              <p:cNvPr id="7" name="Объект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2024" y="950976"/>
                <a:ext cx="7290410" cy="2929007"/>
              </a:xfrm>
              <a:prstGeom prst="rect">
                <a:avLst/>
              </a:prstGeom>
              <a:blipFill>
                <a:blip r:embed="rId4"/>
                <a:stretch>
                  <a:fillRect l="-1088" t="-1458" r="-1255" b="-3333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892300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10896" y="365125"/>
            <a:ext cx="11042904" cy="585851"/>
          </a:xfrm>
        </p:spPr>
        <p:txBody>
          <a:bodyPr>
            <a:normAutofit fontScale="90000"/>
          </a:bodyPr>
          <a:lstStyle/>
          <a:p>
            <a:r>
              <a:rPr lang="ru-RU" dirty="0" smtClean="0"/>
              <a:t>Необходимость вероятностных оценок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36</a:t>
            </a:fld>
            <a:endParaRPr lang="en-US"/>
          </a:p>
        </p:txBody>
      </p:sp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192024" y="950976"/>
            <a:ext cx="11814048" cy="3970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200" b="1" dirty="0" smtClean="0"/>
              <a:t> </a:t>
            </a:r>
            <a:endParaRPr lang="ru-RU" sz="2200" b="0" i="0" dirty="0">
              <a:effectLst/>
            </a:endParaRPr>
          </a:p>
        </p:txBody>
      </p:sp>
      <p:pic>
        <p:nvPicPr>
          <p:cNvPr id="5122" name="Picture 2" descr="Five simulated future sample paths of the Google closing stock price based on a naïve method with bootstrapped residuals.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08470" y="850392"/>
            <a:ext cx="4460874" cy="27548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4" name="Picture 4" descr="Forecasts of the Google closing stock price based on a naïve method with bootstrapped residuals.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82434" y="3753865"/>
            <a:ext cx="4642510" cy="28670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Объект 4"/>
              <p:cNvSpPr txBox="1">
                <a:spLocks/>
              </p:cNvSpPr>
              <p:nvPr/>
            </p:nvSpPr>
            <p:spPr>
              <a:xfrm>
                <a:off x="192024" y="950976"/>
                <a:ext cx="6986016" cy="3848939"/>
              </a:xfrm>
              <a:prstGeom prst="rect">
                <a:avLst/>
              </a:prstGeom>
            </p:spPr>
            <p:txBody>
              <a:bodyPr vert="horz" wrap="square" lIns="91440" tIns="45720" rIns="91440" bIns="45720" rtlCol="0">
                <a:sp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00000"/>
                  </a:lnSpc>
                  <a:buNone/>
                </a:pPr>
                <a:r>
                  <a:rPr lang="ru-RU" sz="2200" b="1" dirty="0" smtClean="0"/>
                  <a:t>Доверительный интервал </a:t>
                </a:r>
                <a:r>
                  <a:rPr lang="ru-RU" sz="2200" dirty="0" smtClean="0"/>
                  <a:t>дает диапазон значений, внутри которого с заданной вероятностью окажется реальное значение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b="1" i="1" dirty="0">
                            <a:latin typeface="Cambria Math" panose="02040503050406030204" pitchFamily="18" charset="0"/>
                          </a:rPr>
                          <m:t>𝒚</m:t>
                        </m:r>
                      </m:e>
                      <m:sub>
                        <m:r>
                          <a:rPr lang="en-US" sz="2200" i="1" dirty="0">
                            <a:latin typeface="Cambria Math" panose="02040503050406030204" pitchFamily="18" charset="0"/>
                          </a:rPr>
                          <m:t>𝑇</m:t>
                        </m:r>
                        <m:r>
                          <a:rPr lang="en-US" sz="2200" i="1" dirty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2200" i="1" dirty="0">
                            <a:latin typeface="Cambria Math" panose="02040503050406030204" pitchFamily="18" charset="0"/>
                          </a:rPr>
                          <m:t>h</m:t>
                        </m:r>
                      </m:sub>
                    </m:sSub>
                  </m:oMath>
                </a14:m>
                <a:r>
                  <a:rPr lang="ru-RU" sz="2200" dirty="0" smtClean="0"/>
                  <a:t> . Например, 95%-й доверительный интервал означает, что с вероятностью 95% фактическое значение попадет внутрь этого интервала.</a:t>
                </a:r>
              </a:p>
              <a:p>
                <a:pPr marL="0" indent="0">
                  <a:lnSpc>
                    <a:spcPct val="100000"/>
                  </a:lnSpc>
                  <a:buNone/>
                </a:pPr>
                <a:r>
                  <a:rPr lang="ru-RU" sz="2200" dirty="0" smtClean="0"/>
                  <a:t>Для нормального распределения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1" i="1" dirty="0">
                                <a:latin typeface="Cambria Math" panose="02040503050406030204" pitchFamily="18" charset="0"/>
                              </a:rPr>
                              <m:t>𝒚</m:t>
                            </m:r>
                          </m:e>
                        </m:acc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𝑇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h</m:t>
                        </m:r>
                      </m:sub>
                    </m:sSub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±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⋅</m:t>
                    </m:r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</m:acc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h</m:t>
                        </m:r>
                      </m:sub>
                    </m:sSub>
                  </m:oMath>
                </a14:m>
                <a:r>
                  <a:rPr lang="en-US" dirty="0" smtClean="0"/>
                  <a:t>​,</a:t>
                </a:r>
              </a:p>
              <a:p>
                <a:pPr marL="0" indent="0">
                  <a:lnSpc>
                    <a:spcPct val="100000"/>
                  </a:lnSpc>
                  <a:buNone/>
                </a:pPr>
                <a:r>
                  <a:rPr lang="ru-RU" sz="2200" dirty="0" smtClean="0"/>
                  <a:t>где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2400" i="1" dirty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400" i="1" dirty="0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</m:acc>
                      </m:e>
                      <m:sub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h</m:t>
                        </m:r>
                      </m:sub>
                    </m:sSub>
                  </m:oMath>
                </a14:m>
                <a:r>
                  <a:rPr lang="ru-RU" sz="2200" dirty="0" smtClean="0"/>
                  <a:t> - оценка стандартного </a:t>
                </a:r>
                <a:r>
                  <a:rPr lang="ru-RU" sz="2200" dirty="0" err="1" smtClean="0"/>
                  <a:t>распределния</a:t>
                </a:r>
                <a:r>
                  <a:rPr lang="ru-RU" sz="2200" dirty="0" smtClean="0"/>
                  <a:t>, </a:t>
                </a:r>
                <a:r>
                  <a:rPr lang="ru-RU" sz="2200" i="1" dirty="0" smtClean="0">
                    <a:latin typeface="Cambria Math" panose="02040503050406030204" pitchFamily="18" charset="0"/>
                  </a:rPr>
                  <a:t/>
                </a:r>
                <a:br>
                  <a:rPr lang="ru-RU" sz="2200" i="1" dirty="0" smtClean="0">
                    <a:latin typeface="Cambria Math" panose="02040503050406030204" pitchFamily="18" charset="0"/>
                  </a:rPr>
                </a:br>
                <a14:m>
                  <m:oMath xmlns:m="http://schemas.openxmlformats.org/officeDocument/2006/math">
                    <m:r>
                      <a:rPr lang="ru-RU" sz="2200" i="1" dirty="0" smtClean="0">
                        <a:latin typeface="Cambria Math" panose="02040503050406030204" pitchFamily="18" charset="0"/>
                      </a:rPr>
                      <m:t>с−</m:t>
                    </m:r>
                  </m:oMath>
                </a14:m>
                <a:r>
                  <a:rPr lang="ru-RU" sz="2200" dirty="0" smtClean="0"/>
                  <a:t> </a:t>
                </a:r>
                <a:r>
                  <a:rPr lang="ru-RU" sz="2200" dirty="0"/>
                  <a:t>коэффициент, зависящий от уровня доверия (например, 1.96 для 95%)</a:t>
                </a:r>
              </a:p>
            </p:txBody>
          </p:sp>
        </mc:Choice>
        <mc:Fallback xmlns="">
          <p:sp>
            <p:nvSpPr>
              <p:cNvPr id="7" name="Объект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2024" y="950976"/>
                <a:ext cx="6986016" cy="3848939"/>
              </a:xfrm>
              <a:prstGeom prst="rect">
                <a:avLst/>
              </a:prstGeom>
              <a:blipFill>
                <a:blip r:embed="rId4"/>
                <a:stretch>
                  <a:fillRect l="-1134" t="-1109" b="-221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032213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47472" y="192025"/>
            <a:ext cx="11006328" cy="603504"/>
          </a:xfrm>
        </p:spPr>
        <p:txBody>
          <a:bodyPr>
            <a:normAutofit fontScale="90000"/>
          </a:bodyPr>
          <a:lstStyle/>
          <a:p>
            <a:pPr algn="ctr"/>
            <a:r>
              <a:rPr lang="ru-RU" b="1" dirty="0" smtClean="0"/>
              <a:t>Наивная оценка СКО</a:t>
            </a:r>
            <a:endParaRPr lang="ru-RU" b="1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37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Прямоугольник 6"/>
              <p:cNvSpPr/>
              <p:nvPr/>
            </p:nvSpPr>
            <p:spPr>
              <a:xfrm>
                <a:off x="246888" y="771519"/>
                <a:ext cx="11759184" cy="410529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ru-RU" sz="2200" b="1" dirty="0" smtClean="0"/>
                  <a:t>Доверительный интервал </a:t>
                </a:r>
                <a:r>
                  <a:rPr lang="ru-RU" sz="2200" dirty="0"/>
                  <a:t>дает диапазон значений, внутри которого с заданной вероятностью окажется реальное значение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b="1" i="1" dirty="0">
                            <a:latin typeface="Cambria Math" panose="02040503050406030204" pitchFamily="18" charset="0"/>
                          </a:rPr>
                          <m:t>𝒚</m:t>
                        </m:r>
                      </m:e>
                      <m:sub>
                        <m:r>
                          <a:rPr lang="en-US" sz="2200" i="1" dirty="0">
                            <a:latin typeface="Cambria Math" panose="02040503050406030204" pitchFamily="18" charset="0"/>
                          </a:rPr>
                          <m:t>𝑇</m:t>
                        </m:r>
                        <m:r>
                          <a:rPr lang="en-US" sz="2200" i="1" dirty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2200" i="1" dirty="0">
                            <a:latin typeface="Cambria Math" panose="02040503050406030204" pitchFamily="18" charset="0"/>
                          </a:rPr>
                          <m:t>h</m:t>
                        </m:r>
                      </m:sub>
                    </m:sSub>
                  </m:oMath>
                </a14:m>
                <a:r>
                  <a:rPr lang="ru-RU" sz="2200" dirty="0"/>
                  <a:t> . </a:t>
                </a:r>
                <a:endParaRPr lang="ru-RU" sz="2200" dirty="0" smtClean="0"/>
              </a:p>
              <a:p>
                <a:pPr lvl="1"/>
                <a:r>
                  <a:rPr lang="ru-RU" sz="2200" dirty="0" smtClean="0"/>
                  <a:t>Например</a:t>
                </a:r>
                <a:r>
                  <a:rPr lang="ru-RU" sz="2200" dirty="0"/>
                  <a:t>, 95%-й доверительный интервал означает, что с вероятностью 95% фактическое значение попадет внутрь этого интервала</a:t>
                </a:r>
                <a:r>
                  <a:rPr lang="ru-RU" sz="2200" dirty="0" smtClean="0"/>
                  <a:t>. </a:t>
                </a:r>
                <a:endParaRPr lang="ru-RU" sz="2200" dirty="0"/>
              </a:p>
              <a:p>
                <a:r>
                  <a:rPr lang="ru-RU" sz="2200" dirty="0"/>
                  <a:t>Для нормального распределения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2200" i="1" dirty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200" b="1" i="1" dirty="0">
                                <a:latin typeface="Cambria Math" panose="02040503050406030204" pitchFamily="18" charset="0"/>
                              </a:rPr>
                              <m:t>𝒚</m:t>
                            </m:r>
                          </m:e>
                        </m:acc>
                      </m:e>
                      <m:sub>
                        <m:r>
                          <a:rPr lang="en-US" sz="2200" i="1" dirty="0">
                            <a:latin typeface="Cambria Math" panose="02040503050406030204" pitchFamily="18" charset="0"/>
                          </a:rPr>
                          <m:t>𝑇</m:t>
                        </m:r>
                        <m:r>
                          <a:rPr lang="en-US" sz="2200" i="1" dirty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2200" i="1" dirty="0">
                            <a:latin typeface="Cambria Math" panose="02040503050406030204" pitchFamily="18" charset="0"/>
                          </a:rPr>
                          <m:t>h</m:t>
                        </m:r>
                      </m:sub>
                    </m:sSub>
                    <m:r>
                      <a:rPr lang="en-US" sz="2200" i="1" dirty="0">
                        <a:latin typeface="Cambria Math" panose="02040503050406030204" pitchFamily="18" charset="0"/>
                      </a:rPr>
                      <m:t>±</m:t>
                    </m:r>
                    <m:r>
                      <a:rPr lang="en-US" sz="2200" i="1" dirty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sz="2200" i="1" dirty="0">
                        <a:latin typeface="Cambria Math" panose="02040503050406030204" pitchFamily="18" charset="0"/>
                      </a:rPr>
                      <m:t>⋅</m:t>
                    </m:r>
                    <m:sSub>
                      <m:sSubPr>
                        <m:ctrlPr>
                          <a:rPr lang="en-US" sz="22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2200" i="1" dirty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200" i="1" dirty="0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</m:acc>
                      </m:e>
                      <m:sub>
                        <m:r>
                          <a:rPr lang="en-US" sz="2200" i="1" dirty="0">
                            <a:latin typeface="Cambria Math" panose="02040503050406030204" pitchFamily="18" charset="0"/>
                          </a:rPr>
                          <m:t>h</m:t>
                        </m:r>
                      </m:sub>
                    </m:sSub>
                  </m:oMath>
                </a14:m>
                <a:r>
                  <a:rPr lang="en-US" sz="2200" dirty="0"/>
                  <a:t>​,</a:t>
                </a:r>
              </a:p>
              <a:p>
                <a:pPr lvl="1"/>
                <a:r>
                  <a:rPr lang="ru-RU" sz="2200" dirty="0"/>
                  <a:t>где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2200" i="1" dirty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200" i="1" dirty="0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</m:acc>
                      </m:e>
                      <m:sub>
                        <m:r>
                          <a:rPr lang="en-US" sz="2200" i="1" dirty="0">
                            <a:latin typeface="Cambria Math" panose="02040503050406030204" pitchFamily="18" charset="0"/>
                          </a:rPr>
                          <m:t>h</m:t>
                        </m:r>
                      </m:sub>
                    </m:sSub>
                  </m:oMath>
                </a14:m>
                <a:r>
                  <a:rPr lang="ru-RU" sz="2200" dirty="0"/>
                  <a:t> - оценка стандартного </a:t>
                </a:r>
                <a:r>
                  <a:rPr lang="ru-RU" sz="2200" dirty="0" err="1"/>
                  <a:t>распределния</a:t>
                </a:r>
                <a:r>
                  <a:rPr lang="ru-RU" sz="2200" dirty="0"/>
                  <a:t>, </a:t>
                </a:r>
                <a:r>
                  <a:rPr lang="ru-RU" sz="2200" i="1" dirty="0">
                    <a:latin typeface="Cambria Math" panose="02040503050406030204" pitchFamily="18" charset="0"/>
                  </a:rPr>
                  <a:t/>
                </a:r>
                <a:br>
                  <a:rPr lang="ru-RU" sz="2200" i="1" dirty="0">
                    <a:latin typeface="Cambria Math" panose="02040503050406030204" pitchFamily="18" charset="0"/>
                  </a:rPr>
                </a:br>
                <a14:m>
                  <m:oMath xmlns:m="http://schemas.openxmlformats.org/officeDocument/2006/math">
                    <m:r>
                      <a:rPr lang="ru-RU" sz="2200" i="1" dirty="0">
                        <a:latin typeface="Cambria Math" panose="02040503050406030204" pitchFamily="18" charset="0"/>
                      </a:rPr>
                      <m:t>с−</m:t>
                    </m:r>
                  </m:oMath>
                </a14:m>
                <a:r>
                  <a:rPr lang="ru-RU" sz="2200" dirty="0"/>
                  <a:t> коэффициент, зависящий от уровня доверия (например, 1.96 для 95</a:t>
                </a:r>
                <a:r>
                  <a:rPr lang="ru-RU" sz="2200" dirty="0" smtClean="0"/>
                  <a:t>%)</a:t>
                </a:r>
              </a:p>
              <a:p>
                <a:pPr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ru-RU" sz="2200" dirty="0"/>
                  <a:t>Одношаговый прогноз </a:t>
                </a:r>
                <a:r>
                  <a:rPr lang="en-US" sz="2200" dirty="0"/>
                  <a:t>(</a:t>
                </a:r>
                <a14:m>
                  <m:oMath xmlns:m="http://schemas.openxmlformats.org/officeDocument/2006/math">
                    <m:r>
                      <a:rPr lang="en-US" sz="2200" i="1" dirty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sz="2200" i="1" dirty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sz="2200" dirty="0"/>
                  <a:t>)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2200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200" i="1" dirty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</m:acc>
                    <m:r>
                      <a:rPr lang="ru-RU" sz="2200" i="1" dirty="0"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US" sz="2200" i="1" dirty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ctrlPr>
                              <a:rPr lang="en-US" sz="2200" i="1" dirty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200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sz="2200" i="1" dirty="0">
                                <a:latin typeface="Cambria Math" panose="02040503050406030204" pitchFamily="18" charset="0"/>
                              </a:rPr>
                              <m:t>𝑇</m:t>
                            </m:r>
                            <m:r>
                              <a:rPr lang="en-US" sz="22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2200" i="1" dirty="0">
                                <a:latin typeface="Cambria Math" panose="02040503050406030204" pitchFamily="18" charset="0"/>
                              </a:rPr>
                              <m:t>𝐾</m:t>
                            </m:r>
                            <m:r>
                              <a:rPr lang="en-US" sz="22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2200" i="1" dirty="0">
                                <a:latin typeface="Cambria Math" panose="02040503050406030204" pitchFamily="18" charset="0"/>
                              </a:rPr>
                              <m:t>𝑀</m:t>
                            </m:r>
                          </m:den>
                        </m:f>
                        <m:nary>
                          <m:naryPr>
                            <m:chr m:val="∑"/>
                            <m:ctrlPr>
                              <a:rPr lang="en-US" sz="2200" i="1" dirty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sz="2200" i="1" dirty="0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sz="2200" i="1" dirty="0">
                                <a:latin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n-US" sz="2200" i="1" dirty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p>
                          <m:e>
                            <m:sSubSup>
                              <m:sSubSupPr>
                                <m:ctrlPr>
                                  <a:rPr lang="en-US" sz="2200" i="1" dirty="0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sz="2200" i="1" dirty="0"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b>
                                <m:r>
                                  <a:rPr lang="en-US" sz="2200" i="1" dirty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  <m:sup>
                                <m:r>
                                  <a:rPr lang="en-US" sz="2200" i="1" dirty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bSup>
                          </m:e>
                        </m:nary>
                      </m:e>
                    </m:rad>
                  </m:oMath>
                </a14:m>
                <a:endParaRPr lang="en-US" sz="2200" dirty="0"/>
              </a:p>
              <a:p>
                <a:pPr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ru-RU" sz="2200" i="1" dirty="0"/>
                  <a:t>T</a:t>
                </a:r>
                <a:r>
                  <a:rPr lang="ru-RU" sz="2200" dirty="0"/>
                  <a:t> — количество наблюдений, </a:t>
                </a:r>
                <a:r>
                  <a:rPr lang="ru-RU" sz="2200" i="1" dirty="0"/>
                  <a:t>K</a:t>
                </a:r>
                <a:r>
                  <a:rPr lang="ru-RU" sz="2200" dirty="0"/>
                  <a:t> — число оцененных параметров модели, </a:t>
                </a:r>
                <a:r>
                  <a:rPr lang="ru-RU" sz="2200" i="1" dirty="0"/>
                  <a:t>M</a:t>
                </a:r>
                <a:r>
                  <a:rPr lang="ru-RU" sz="2200" dirty="0"/>
                  <a:t> — число пропущенных значений в ошибках,</a:t>
                </a:r>
                <a14:m>
                  <m:oMath xmlns:m="http://schemas.openxmlformats.org/officeDocument/2006/math">
                    <m:r>
                      <a:rPr lang="ru-RU" sz="2200" dirty="0">
                        <a:latin typeface="Cambria Math" panose="02040503050406030204" pitchFamily="18" charset="0"/>
                      </a:rPr>
                      <m:t>  </m:t>
                    </m:r>
                    <m:sSub>
                      <m:sSubPr>
                        <m:ctrlPr>
                          <a:rPr lang="en-US" sz="22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sz="2200" i="1" dirty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ru-RU" sz="2200" i="1" dirty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ru-RU" sz="2200" dirty="0"/>
                  <a:t>​ — остатки модели.</a:t>
                </a:r>
              </a:p>
              <a:p>
                <a:endParaRPr lang="ru-RU" dirty="0"/>
              </a:p>
            </p:txBody>
          </p:sp>
        </mc:Choice>
        <mc:Fallback xmlns="">
          <p:sp>
            <p:nvSpPr>
              <p:cNvPr id="7" name="Прямоугольник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6888" y="771519"/>
                <a:ext cx="11759184" cy="4105291"/>
              </a:xfrm>
              <a:prstGeom prst="rect">
                <a:avLst/>
              </a:prstGeom>
              <a:blipFill>
                <a:blip r:embed="rId2"/>
                <a:stretch>
                  <a:fillRect l="-674" t="-104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Прямоугольник 7"/>
          <p:cNvSpPr/>
          <p:nvPr/>
        </p:nvSpPr>
        <p:spPr>
          <a:xfrm>
            <a:off x="347472" y="6356350"/>
            <a:ext cx="487037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/>
              <a:t>https://otexts.com/fpp2/prediction-intervals.html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Прямоугольник 8"/>
              <p:cNvSpPr/>
              <p:nvPr/>
            </p:nvSpPr>
            <p:spPr>
              <a:xfrm>
                <a:off x="1691640" y="4790778"/>
                <a:ext cx="10177272" cy="153106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ru-RU" dirty="0">
                    <a:solidFill>
                      <a:srgbClr val="2C2C36"/>
                    </a:solidFill>
                    <a:latin typeface="system-ui"/>
                  </a:rPr>
                  <a:t>Предположим, последнее значение ряда равно 758.88, а стандартное отклонение остатков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</m:acc>
                  </m:oMath>
                </a14:m>
                <a:r>
                  <a:rPr lang="ru-RU" dirty="0">
                    <a:solidFill>
                      <a:srgbClr val="2C2C36"/>
                    </a:solidFill>
                    <a:latin typeface="KaTeX_Main"/>
                  </a:rPr>
                  <a:t>=11.19</a:t>
                </a:r>
                <a:r>
                  <a:rPr lang="ru-RU" dirty="0">
                    <a:solidFill>
                      <a:srgbClr val="2C2C36"/>
                    </a:solidFill>
                    <a:latin typeface="system-ui"/>
                  </a:rPr>
                  <a:t> . Тогда 95%-й доверительный интервал для следующего значения будет:</a:t>
                </a:r>
              </a:p>
              <a:p>
                <a:r>
                  <a:rPr lang="ru-RU" dirty="0">
                    <a:solidFill>
                      <a:srgbClr val="2C2C36"/>
                    </a:solidFill>
                    <a:latin typeface="KaTeX_Main"/>
                  </a:rPr>
                  <a:t>758.88±1.96⋅11.19=[736.9,780.8].</a:t>
                </a:r>
                <a:endParaRPr lang="ru-RU" dirty="0">
                  <a:solidFill>
                    <a:srgbClr val="2C2C36"/>
                  </a:solidFill>
                  <a:latin typeface="system-ui"/>
                </a:endParaRPr>
              </a:p>
              <a:p>
                <a:r>
                  <a:rPr lang="ru-RU" dirty="0">
                    <a:solidFill>
                      <a:srgbClr val="2C2C36"/>
                    </a:solidFill>
                    <a:latin typeface="system-ui"/>
                  </a:rPr>
                  <a:t>Аналогично, 80%-й интервал:</a:t>
                </a:r>
              </a:p>
              <a:p>
                <a:r>
                  <a:rPr lang="ru-RU" dirty="0">
                    <a:solidFill>
                      <a:srgbClr val="2C2C36"/>
                    </a:solidFill>
                    <a:latin typeface="KaTeX_Main"/>
                  </a:rPr>
                  <a:t>758.88±1.28⋅11.19=[744.5,773.2].</a:t>
                </a:r>
                <a:endParaRPr lang="ru-RU" b="0" i="0" dirty="0">
                  <a:solidFill>
                    <a:srgbClr val="2C2C36"/>
                  </a:solidFill>
                  <a:effectLst/>
                  <a:latin typeface="system-ui"/>
                </a:endParaRPr>
              </a:p>
            </p:txBody>
          </p:sp>
        </mc:Choice>
        <mc:Fallback xmlns="">
          <p:sp>
            <p:nvSpPr>
              <p:cNvPr id="9" name="Прямоугольник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91640" y="4790778"/>
                <a:ext cx="10177272" cy="1531060"/>
              </a:xfrm>
              <a:prstGeom prst="rect">
                <a:avLst/>
              </a:prstGeom>
              <a:blipFill>
                <a:blip r:embed="rId3"/>
                <a:stretch>
                  <a:fillRect l="-539" t="-2390" b="-1992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012187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47472" y="192025"/>
            <a:ext cx="11006328" cy="603504"/>
          </a:xfrm>
        </p:spPr>
        <p:txBody>
          <a:bodyPr>
            <a:normAutofit fontScale="90000"/>
          </a:bodyPr>
          <a:lstStyle/>
          <a:p>
            <a:pPr algn="ctr"/>
            <a:r>
              <a:rPr lang="ru-RU" b="1" dirty="0" smtClean="0"/>
              <a:t>Наивная оценка СКО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0" y="881356"/>
            <a:ext cx="11759184" cy="258775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200" b="1" dirty="0" smtClean="0"/>
              <a:t>Многошаговые </a:t>
            </a:r>
            <a:r>
              <a:rPr lang="ru-RU" sz="2200" b="1" dirty="0"/>
              <a:t>прогнозы</a:t>
            </a:r>
          </a:p>
          <a:p>
            <a:r>
              <a:rPr lang="ru-RU" sz="2200" dirty="0"/>
              <a:t>С увеличением горизонта прогнозирования </a:t>
            </a:r>
            <a:r>
              <a:rPr lang="ru-RU" sz="2200" i="1" dirty="0"/>
              <a:t>h</a:t>
            </a:r>
            <a:r>
              <a:rPr lang="ru-RU" sz="2200" dirty="0"/>
              <a:t> , неопределенность возрастает, и доверительные интервалы становятся шире.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38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Таблица 4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711859318"/>
                  </p:ext>
                </p:extLst>
              </p:nvPr>
            </p:nvGraphicFramePr>
            <p:xfrm>
              <a:off x="758952" y="1967877"/>
              <a:ext cx="7934960" cy="1861377"/>
            </p:xfrm>
            <a:graphic>
              <a:graphicData uri="http://schemas.openxmlformats.org/drawingml/2006/table">
                <a:tbl>
                  <a:tblPr/>
                  <a:tblGrid>
                    <a:gridCol w="7934960">
                      <a:extLst>
                        <a:ext uri="{9D8B030D-6E8A-4147-A177-3AD203B41FA5}">
                          <a16:colId xmlns:a16="http://schemas.microsoft.com/office/drawing/2014/main" val="3179399683"/>
                        </a:ext>
                      </a:extLst>
                    </a:gridCol>
                  </a:tblGrid>
                  <a:tr h="190500">
                    <a:tc>
                      <a:txBody>
                        <a:bodyPr/>
                        <a:lstStyle/>
                        <a:p>
                          <a:pPr algn="l" fontAlgn="b"/>
                          <a:r>
                            <a:rPr lang="ru-RU" sz="18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Метод</a:t>
                          </a:r>
                          <a:r>
                            <a:rPr lang="en-US" sz="18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 </a:t>
                          </a:r>
                          <a:r>
                            <a:rPr lang="ru-RU" sz="18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оценки</a:t>
                          </a:r>
                          <a:r>
                            <a:rPr lang="ru-RU" sz="1800" b="0" i="0" u="none" strike="noStrike" baseline="0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 с</a:t>
                          </a:r>
                          <a:r>
                            <a:rPr lang="ru-RU" sz="18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тандартного отклонения на</a:t>
                          </a:r>
                          <a:r>
                            <a:rPr lang="ru-RU" sz="1800" b="0" i="0" u="none" strike="noStrike" baseline="0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 шаге </a:t>
                          </a:r>
                          <a:r>
                            <a:rPr lang="ru-RU" sz="1800" i="1" dirty="0" smtClean="0"/>
                            <a:t>h</a:t>
                          </a:r>
                          <a:r>
                            <a:rPr lang="ru-RU" sz="18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ru-RU" sz="1800" b="0" i="1" u="none" strike="noStrike" dirty="0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ru-RU" sz="1800" b="0" i="1" u="none" strike="noStrike" dirty="0" smtClean="0">
                                          <a:solidFill>
                                            <a:srgbClr val="00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sz="1800" b="0" i="1" u="none" strike="noStrike" dirty="0" smtClean="0">
                                          <a:solidFill>
                                            <a:srgbClr val="00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  <m:t>𝜎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sz="1800" b="0" i="0" u="none" strike="noStrike" dirty="0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  <m:r>
                                    <a:rPr lang="ru-RU" sz="1800" b="0" i="0" u="none" strike="noStrike" dirty="0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</m:sub>
                              </m:sSub>
                            </m:oMath>
                          </a14:m>
                          <a:endParaRPr lang="en-US" sz="18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052241197"/>
                      </a:ext>
                    </a:extLst>
                  </a:tr>
                  <a:tr h="190500">
                    <a:tc>
                      <a:txBody>
                        <a:bodyPr/>
                        <a:lstStyle/>
                        <a:p>
                          <a:pPr algn="l" fontAlgn="b"/>
                          <a:r>
                            <a:rPr lang="ru-RU" sz="18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Среднее</a:t>
                          </a:r>
                          <a14:m>
                            <m:oMath xmlns:m="http://schemas.openxmlformats.org/officeDocument/2006/math">
                              <m:r>
                                <a:rPr lang="en-US" sz="1800" b="0" i="0" u="none" strike="noStrike" dirty="0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ru-RU" sz="1800" b="0" i="1" u="none" strike="noStrike" dirty="0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acc>
                                <m:accPr>
                                  <m:chr m:val="̂"/>
                                  <m:ctrlPr>
                                    <a:rPr lang="ru-RU" sz="1800" b="0" i="1" u="none" strike="noStrike" dirty="0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1800" b="0" i="1" u="none" strike="noStrike" dirty="0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</m:acc>
                              <m:r>
                                <a:rPr lang="en-US" sz="1800" b="0" i="1" u="none" strike="noStrike" dirty="0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⋅</m:t>
                              </m:r>
                              <m:rad>
                                <m:radPr>
                                  <m:degHide m:val="on"/>
                                  <m:ctrlPr>
                                    <a:rPr lang="en-US" sz="1800" b="0" i="1" u="none" strike="noStrike" dirty="0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sz="1800" b="0" i="1" u="none" strike="noStrike" dirty="0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1 + 1/</m:t>
                                  </m:r>
                                  <m:r>
                                    <a:rPr lang="en-US" sz="1800" b="0" i="1" u="none" strike="noStrike" dirty="0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e>
                              </m:rad>
                            </m:oMath>
                          </a14:m>
                          <a:endParaRPr lang="en-US" sz="18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56266796"/>
                      </a:ext>
                    </a:extLst>
                  </a:tr>
                  <a:tr h="190500">
                    <a:tc>
                      <a:txBody>
                        <a:bodyPr/>
                        <a:lstStyle/>
                        <a:p>
                          <a:pPr algn="l" fontAlgn="b"/>
                          <a:r>
                            <a:rPr lang="ru-RU" sz="18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Наивный</a:t>
                          </a:r>
                          <a14:m>
                            <m:oMath xmlns:m="http://schemas.openxmlformats.org/officeDocument/2006/math">
                              <m:r>
                                <a:rPr lang="ru-RU" sz="1800" b="0" i="1" u="none" strike="noStrike" dirty="0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acc>
                                <m:accPr>
                                  <m:chr m:val="̂"/>
                                  <m:ctrlPr>
                                    <a:rPr lang="ru-RU" sz="1800" b="0" i="1" u="none" strike="noStrike" dirty="0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1800" b="0" i="1" u="none" strike="noStrike" dirty="0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</m:acc>
                              <m:r>
                                <a:rPr lang="en-US" sz="1800" b="0" i="1" u="none" strike="noStrike" dirty="0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⋅</m:t>
                              </m:r>
                              <m:rad>
                                <m:radPr>
                                  <m:degHide m:val="on"/>
                                  <m:ctrlPr>
                                    <a:rPr lang="en-US" sz="1800" b="0" i="1" u="none" strike="noStrike" dirty="0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sz="1800" b="0" i="1" u="none" strike="noStrike" dirty="0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e>
                              </m:rad>
                            </m:oMath>
                          </a14:m>
                          <a:endParaRPr lang="en-US" sz="18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524232478"/>
                      </a:ext>
                    </a:extLst>
                  </a:tr>
                  <a:tr h="190500">
                    <a:tc>
                      <a:txBody>
                        <a:bodyPr/>
                        <a:lstStyle/>
                        <a:p>
                          <a:pPr algn="l" fontAlgn="b"/>
                          <a:r>
                            <a:rPr lang="ru-RU" sz="18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Сезонный наивный</a:t>
                          </a:r>
                          <a:r>
                            <a:rPr lang="en-US" sz="18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,  </a:t>
                          </a:r>
                          <a14:m>
                            <m:oMath xmlns:m="http://schemas.openxmlformats.org/officeDocument/2006/math">
                              <m:acc>
                                <m:accPr>
                                  <m:chr m:val="̂"/>
                                  <m:ctrlPr>
                                    <a:rPr lang="ru-RU" sz="1800" b="0" i="1" u="none" strike="noStrike" dirty="0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1800" b="0" i="1" u="none" strike="noStrike" dirty="0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</m:acc>
                              <m:r>
                                <a:rPr lang="en-US" sz="1800" b="0" i="1" u="none" strike="noStrike" dirty="0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⋅</m:t>
                              </m:r>
                              <m:rad>
                                <m:radPr>
                                  <m:degHide m:val="on"/>
                                  <m:ctrlPr>
                                    <a:rPr lang="en-US" sz="1800" b="0" i="1" u="none" strike="noStrike" dirty="0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sz="1800" b="0" i="1" u="none" strike="noStrike" dirty="0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  <m:r>
                                    <a:rPr lang="en-US" sz="1800" b="0" i="1" u="none" strike="noStrike" dirty="0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+1</m:t>
                                  </m:r>
                                </m:e>
                              </m:rad>
                            </m:oMath>
                          </a14:m>
                          <a:r>
                            <a:rPr lang="ru-RU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, </a:t>
                          </a:r>
                          <a:r>
                            <a:rPr lang="ru-RU" sz="18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/>
                          </a:r>
                          <a:br>
                            <a:rPr lang="ru-RU" sz="18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</a:br>
                          <a:r>
                            <a:rPr lang="ru-RU" sz="18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где </a:t>
                          </a:r>
                          <a14:m>
                            <m:oMath xmlns:m="http://schemas.openxmlformats.org/officeDocument/2006/math">
                              <m:r>
                                <a:rPr lang="en-US" sz="1800" b="0" i="1" u="none" strike="noStrike" dirty="0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oMath>
                          </a14:m>
                          <a:r>
                            <a:rPr lang="ru-RU" sz="18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 </a:t>
                          </a:r>
                          <a:r>
                            <a:rPr lang="ru-RU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—  период сезона</a:t>
                          </a:r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38428549"/>
                      </a:ext>
                    </a:extLst>
                  </a:tr>
                  <a:tr h="190500"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b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ru-RU" sz="18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Дрейф,</a:t>
                          </a:r>
                          <a:r>
                            <a:rPr lang="en-US" sz="18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acc>
                                <m:accPr>
                                  <m:chr m:val="̂"/>
                                  <m:ctrlPr>
                                    <a:rPr lang="ru-RU" sz="1800" b="0" i="1" u="none" strike="noStrike" dirty="0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1800" b="0" i="1" u="none" strike="noStrike" dirty="0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</m:acc>
                              <m:r>
                                <a:rPr lang="en-US" sz="1800" b="0" i="1" u="none" strike="noStrike" dirty="0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⋅</m:t>
                              </m:r>
                              <m:rad>
                                <m:radPr>
                                  <m:degHide m:val="on"/>
                                  <m:ctrlPr>
                                    <a:rPr lang="en-US" sz="1800" b="0" i="1" u="none" strike="noStrike" dirty="0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sz="1800" b="0" i="1" u="none" strike="noStrike" dirty="0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US" sz="1800" b="0" i="1" u="none" strike="noStrike" dirty="0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  <m:r>
                                    <a:rPr lang="en-US" sz="1800" b="0" i="1" u="none" strike="noStrike" dirty="0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(1+</m:t>
                                  </m:r>
                                  <m:r>
                                    <a:rPr lang="en-US" sz="1800" b="0" i="1" u="none" strike="noStrike" dirty="0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  <m:r>
                                    <a:rPr lang="en-US" sz="1800" b="0" i="1" u="none" strike="noStrike" dirty="0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/(</m:t>
                                  </m:r>
                                  <m:r>
                                    <a:rPr lang="en-US" sz="1800" b="0" i="1" u="none" strike="noStrike" dirty="0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  <m:r>
                                    <a:rPr lang="en-US" sz="1800" b="0" i="1" u="none" strike="noStrike" dirty="0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−1)) </m:t>
                                  </m:r>
                                </m:e>
                              </m:rad>
                            </m:oMath>
                          </a14:m>
                          <a:endParaRPr lang="en-US" sz="18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97416136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Таблица 4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711859318"/>
                  </p:ext>
                </p:extLst>
              </p:nvPr>
            </p:nvGraphicFramePr>
            <p:xfrm>
              <a:off x="758952" y="1967877"/>
              <a:ext cx="7934960" cy="1861377"/>
            </p:xfrm>
            <a:graphic>
              <a:graphicData uri="http://schemas.openxmlformats.org/drawingml/2006/table">
                <a:tbl>
                  <a:tblPr/>
                  <a:tblGrid>
                    <a:gridCol w="7934960">
                      <a:extLst>
                        <a:ext uri="{9D8B030D-6E8A-4147-A177-3AD203B41FA5}">
                          <a16:colId xmlns:a16="http://schemas.microsoft.com/office/drawing/2014/main" val="3179399683"/>
                        </a:ext>
                      </a:extLst>
                    </a:gridCol>
                  </a:tblGrid>
                  <a:tr h="283845"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blipFill>
                          <a:blip r:embed="rId2"/>
                          <a:stretch>
                            <a:fillRect t="-23404" b="-6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52241197"/>
                      </a:ext>
                    </a:extLst>
                  </a:tr>
                  <a:tr h="341694"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blipFill>
                          <a:blip r:embed="rId2"/>
                          <a:stretch>
                            <a:fillRect t="-103571" b="-40357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6266796"/>
                      </a:ext>
                    </a:extLst>
                  </a:tr>
                  <a:tr h="312420"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blipFill>
                          <a:blip r:embed="rId2"/>
                          <a:stretch>
                            <a:fillRect t="-219231" b="-33461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524232478"/>
                      </a:ext>
                    </a:extLst>
                  </a:tr>
                  <a:tr h="581724"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blipFill>
                          <a:blip r:embed="rId2"/>
                          <a:stretch>
                            <a:fillRect t="-172917" b="-8125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38428549"/>
                      </a:ext>
                    </a:extLst>
                  </a:tr>
                  <a:tr h="341694"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blipFill>
                          <a:blip r:embed="rId2"/>
                          <a:stretch>
                            <a:fillRect t="-467857" b="-3928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74161367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6" name="Прямоугольник 5"/>
          <p:cNvSpPr/>
          <p:nvPr/>
        </p:nvSpPr>
        <p:spPr>
          <a:xfrm>
            <a:off x="194056" y="4025296"/>
            <a:ext cx="806196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>
                <a:solidFill>
                  <a:srgbClr val="2C2C36"/>
                </a:solidFill>
                <a:latin typeface="system-ui"/>
              </a:rPr>
              <a:t>Эти формулы работают при условии, </a:t>
            </a:r>
            <a:r>
              <a:rPr lang="ru-RU" dirty="0" smtClean="0">
                <a:solidFill>
                  <a:srgbClr val="2C2C36"/>
                </a:solidFill>
                <a:latin typeface="system-ui"/>
              </a:rPr>
              <a:t/>
            </a:r>
            <a:br>
              <a:rPr lang="ru-RU" dirty="0" smtClean="0">
                <a:solidFill>
                  <a:srgbClr val="2C2C36"/>
                </a:solidFill>
                <a:latin typeface="system-ui"/>
              </a:rPr>
            </a:br>
            <a:r>
              <a:rPr lang="ru-RU" dirty="0" smtClean="0">
                <a:solidFill>
                  <a:srgbClr val="2C2C36"/>
                </a:solidFill>
                <a:latin typeface="system-ui"/>
              </a:rPr>
              <a:t>что </a:t>
            </a:r>
            <a:r>
              <a:rPr lang="ru-RU" dirty="0">
                <a:solidFill>
                  <a:srgbClr val="2C2C36"/>
                </a:solidFill>
                <a:latin typeface="system-ui"/>
              </a:rPr>
              <a:t>остатки </a:t>
            </a:r>
            <a:r>
              <a:rPr lang="ru-RU" dirty="0" err="1">
                <a:solidFill>
                  <a:srgbClr val="2C2C36"/>
                </a:solidFill>
                <a:latin typeface="system-ui"/>
              </a:rPr>
              <a:t>некоррелированы</a:t>
            </a:r>
            <a:r>
              <a:rPr lang="ru-RU" dirty="0">
                <a:solidFill>
                  <a:srgbClr val="2C2C36"/>
                </a:solidFill>
                <a:latin typeface="system-ui"/>
              </a:rPr>
              <a:t>.</a:t>
            </a:r>
            <a:endParaRPr lang="ru-RU" dirty="0"/>
          </a:p>
        </p:txBody>
      </p:sp>
      <p:sp>
        <p:nvSpPr>
          <p:cNvPr id="8" name="Прямоугольник 7"/>
          <p:cNvSpPr/>
          <p:nvPr/>
        </p:nvSpPr>
        <p:spPr>
          <a:xfrm>
            <a:off x="347472" y="6381739"/>
            <a:ext cx="481747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/>
              <a:t>https://otexts.com/fpp3/prediction-intervals.htm</a:t>
            </a:r>
          </a:p>
        </p:txBody>
      </p:sp>
      <p:pic>
        <p:nvPicPr>
          <p:cNvPr id="9218" name="Picture 2" descr="80% and 95% prediction intervals for the Google closing stock price based on a naïve method.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79592" y="2380346"/>
            <a:ext cx="6381942" cy="35091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Прямоугольник 8"/>
          <p:cNvSpPr/>
          <p:nvPr/>
        </p:nvSpPr>
        <p:spPr>
          <a:xfrm>
            <a:off x="125338" y="4800702"/>
            <a:ext cx="6096000" cy="1477328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ru-RU" dirty="0">
                <a:solidFill>
                  <a:srgbClr val="2C2C36"/>
                </a:solidFill>
                <a:latin typeface="system-ui"/>
              </a:rPr>
              <a:t>Если фактические значения часто выходят за пределы доверительного интервала — модель недооценивает неопределенность.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>
                <a:solidFill>
                  <a:srgbClr val="2C2C36"/>
                </a:solidFill>
                <a:latin typeface="system-ui"/>
              </a:rPr>
              <a:t>Если интервалы слишком широкие — возможно, модель слишком консервативна.</a:t>
            </a:r>
            <a:endParaRPr lang="ru-RU" b="0" i="0" dirty="0">
              <a:solidFill>
                <a:srgbClr val="2C2C36"/>
              </a:solidFill>
              <a:effectLst/>
              <a:latin typeface="system-ui"/>
            </a:endParaRPr>
          </a:p>
        </p:txBody>
      </p:sp>
    </p:spTree>
    <p:extLst>
      <p:ext uri="{BB962C8B-B14F-4D97-AF65-F5344CB8AC3E}">
        <p14:creationId xmlns:p14="http://schemas.microsoft.com/office/powerpoint/2010/main" val="12032147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10896" y="365125"/>
            <a:ext cx="11042904" cy="585851"/>
          </a:xfrm>
        </p:spPr>
        <p:txBody>
          <a:bodyPr>
            <a:normAutofit fontScale="90000"/>
          </a:bodyPr>
          <a:lstStyle/>
          <a:p>
            <a:r>
              <a:rPr lang="ru-RU" dirty="0" smtClean="0"/>
              <a:t>Необходимость вероятностных оценок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39</a:t>
            </a:fld>
            <a:endParaRPr lang="en-US"/>
          </a:p>
        </p:txBody>
      </p:sp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192024" y="950976"/>
            <a:ext cx="11814048" cy="3970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200" b="1" dirty="0" smtClean="0"/>
              <a:t> </a:t>
            </a:r>
            <a:endParaRPr lang="ru-RU" sz="2200" b="0" i="0" dirty="0">
              <a:effectLst/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310896" y="1001038"/>
            <a:ext cx="7354709" cy="59400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000" dirty="0">
                <a:solidFill>
                  <a:srgbClr val="2C2C36"/>
                </a:solidFill>
              </a:rPr>
              <a:t>Иногда предположение о нормальности остатков неверно. В таких случаях можно использовать </a:t>
            </a:r>
            <a:r>
              <a:rPr lang="ru-RU" sz="2000" dirty="0" smtClean="0">
                <a:solidFill>
                  <a:srgbClr val="111827"/>
                </a:solidFill>
              </a:rPr>
              <a:t>методы</a:t>
            </a:r>
          </a:p>
          <a:p>
            <a:r>
              <a:rPr lang="ru-RU" sz="2000" dirty="0" smtClean="0">
                <a:solidFill>
                  <a:srgbClr val="111827"/>
                </a:solidFill>
              </a:rPr>
              <a:t> </a:t>
            </a:r>
            <a:r>
              <a:rPr lang="ru-RU" sz="2000" dirty="0" err="1">
                <a:solidFill>
                  <a:srgbClr val="111827"/>
                </a:solidFill>
              </a:rPr>
              <a:t>бутстрепа</a:t>
            </a:r>
            <a:r>
              <a:rPr lang="ru-RU" sz="2000" dirty="0">
                <a:solidFill>
                  <a:srgbClr val="111827"/>
                </a:solidFill>
              </a:rPr>
              <a:t> </a:t>
            </a:r>
            <a:r>
              <a:rPr lang="ru-RU" sz="2000" dirty="0">
                <a:solidFill>
                  <a:srgbClr val="2C2C36"/>
                </a:solidFill>
              </a:rPr>
              <a:t>— имитационный метод, основанный на повторной выборке из исторических </a:t>
            </a:r>
            <a:r>
              <a:rPr lang="ru-RU" sz="2000" dirty="0" smtClean="0">
                <a:solidFill>
                  <a:srgbClr val="2C2C36"/>
                </a:solidFill>
              </a:rPr>
              <a:t>остатков</a:t>
            </a:r>
          </a:p>
          <a:p>
            <a:r>
              <a:rPr lang="ru-RU" sz="2000" dirty="0" err="1" smtClean="0">
                <a:solidFill>
                  <a:srgbClr val="2C2C36"/>
                </a:solidFill>
              </a:rPr>
              <a:t>Комфорное</a:t>
            </a:r>
            <a:r>
              <a:rPr lang="ru-RU" sz="2000" dirty="0" smtClean="0">
                <a:solidFill>
                  <a:srgbClr val="2C2C36"/>
                </a:solidFill>
              </a:rPr>
              <a:t> </a:t>
            </a:r>
            <a:r>
              <a:rPr lang="ru-RU" sz="2000" dirty="0" err="1" smtClean="0">
                <a:solidFill>
                  <a:srgbClr val="2C2C36"/>
                </a:solidFill>
              </a:rPr>
              <a:t>преорбазование</a:t>
            </a:r>
            <a:r>
              <a:rPr lang="ru-RU" sz="2000" dirty="0" smtClean="0">
                <a:solidFill>
                  <a:srgbClr val="2C2C36"/>
                </a:solidFill>
              </a:rPr>
              <a:t> – калибровка доверительных интервалов на отдельных от тренировочной </a:t>
            </a:r>
            <a:r>
              <a:rPr lang="ru-RU" sz="2000" dirty="0" err="1" smtClean="0">
                <a:solidFill>
                  <a:srgbClr val="2C2C36"/>
                </a:solidFill>
              </a:rPr>
              <a:t>подвыборках</a:t>
            </a:r>
            <a:r>
              <a:rPr lang="ru-RU" sz="2000" dirty="0" smtClean="0">
                <a:solidFill>
                  <a:srgbClr val="2C2C36"/>
                </a:solidFill>
              </a:rPr>
              <a:t>.</a:t>
            </a:r>
            <a:endParaRPr lang="ru-RU" sz="2000" dirty="0">
              <a:solidFill>
                <a:srgbClr val="2C2C36"/>
              </a:solidFill>
            </a:endParaRPr>
          </a:p>
          <a:p>
            <a:r>
              <a:rPr lang="ru-RU" sz="2000" b="1" dirty="0" smtClean="0">
                <a:solidFill>
                  <a:srgbClr val="2C2C36"/>
                </a:solidFill>
              </a:rPr>
              <a:t>Основные идеи</a:t>
            </a:r>
            <a:endParaRPr lang="ru-RU" sz="2000" b="1" dirty="0">
              <a:solidFill>
                <a:srgbClr val="2C2C36"/>
              </a:solidFill>
            </a:endParaRPr>
          </a:p>
          <a:p>
            <a:pPr>
              <a:buFont typeface="+mj-lt"/>
              <a:buAutoNum type="arabicPeriod"/>
            </a:pPr>
            <a:r>
              <a:rPr lang="ru-RU" sz="2000" dirty="0" smtClean="0">
                <a:solidFill>
                  <a:srgbClr val="2C2C36"/>
                </a:solidFill>
              </a:rPr>
              <a:t>Используем </a:t>
            </a:r>
            <a:r>
              <a:rPr lang="ru-RU" sz="2000" dirty="0">
                <a:solidFill>
                  <a:srgbClr val="2C2C36"/>
                </a:solidFill>
              </a:rPr>
              <a:t>модель, чтобы получить остатки </a:t>
            </a:r>
            <a:r>
              <a:rPr lang="ru-RU" sz="2000" i="1" dirty="0" err="1">
                <a:solidFill>
                  <a:srgbClr val="2C2C36"/>
                </a:solidFill>
              </a:rPr>
              <a:t>et</a:t>
            </a:r>
            <a:r>
              <a:rPr lang="ru-RU" sz="2000" dirty="0">
                <a:solidFill>
                  <a:srgbClr val="2C2C36"/>
                </a:solidFill>
              </a:rPr>
              <a:t>​=</a:t>
            </a:r>
            <a:r>
              <a:rPr lang="ru-RU" sz="2000" i="1" dirty="0" err="1">
                <a:solidFill>
                  <a:srgbClr val="2C2C36"/>
                </a:solidFill>
              </a:rPr>
              <a:t>yt</a:t>
            </a:r>
            <a:r>
              <a:rPr lang="ru-RU" sz="2000" dirty="0">
                <a:solidFill>
                  <a:srgbClr val="2C2C36"/>
                </a:solidFill>
              </a:rPr>
              <a:t>​−</a:t>
            </a:r>
            <a:r>
              <a:rPr lang="ru-RU" sz="2000" i="1" dirty="0">
                <a:solidFill>
                  <a:srgbClr val="2C2C36"/>
                </a:solidFill>
              </a:rPr>
              <a:t>y</a:t>
            </a:r>
            <a:r>
              <a:rPr lang="ru-RU" sz="2000" dirty="0">
                <a:solidFill>
                  <a:srgbClr val="2C2C36"/>
                </a:solidFill>
              </a:rPr>
              <a:t>^​</a:t>
            </a:r>
            <a:r>
              <a:rPr lang="ru-RU" sz="2000" i="1" dirty="0">
                <a:solidFill>
                  <a:srgbClr val="2C2C36"/>
                </a:solidFill>
              </a:rPr>
              <a:t>t</a:t>
            </a:r>
            <a:r>
              <a:rPr lang="ru-RU" sz="2000" dirty="0">
                <a:solidFill>
                  <a:srgbClr val="2C2C36"/>
                </a:solidFill>
              </a:rPr>
              <a:t>​ .</a:t>
            </a:r>
          </a:p>
          <a:p>
            <a:pPr>
              <a:buFont typeface="+mj-lt"/>
              <a:buAutoNum type="arabicPeriod"/>
            </a:pPr>
            <a:r>
              <a:rPr lang="ru-RU" sz="2000" dirty="0">
                <a:solidFill>
                  <a:srgbClr val="2C2C36"/>
                </a:solidFill>
              </a:rPr>
              <a:t>Затем случайным образом выбираем эти остатки и добавляем их к прогнозам, чтобы смоделировать возможные будущие значения.</a:t>
            </a:r>
          </a:p>
          <a:p>
            <a:pPr>
              <a:buFont typeface="+mj-lt"/>
              <a:buAutoNum type="arabicPeriod"/>
            </a:pPr>
            <a:r>
              <a:rPr lang="ru-RU" sz="2000" dirty="0">
                <a:solidFill>
                  <a:srgbClr val="2C2C36"/>
                </a:solidFill>
              </a:rPr>
              <a:t>Повторяем этот процесс множество раз, чтобы получить распределение возможных будущих значений.</a:t>
            </a:r>
          </a:p>
          <a:p>
            <a:pPr>
              <a:buFont typeface="+mj-lt"/>
              <a:buAutoNum type="arabicPeriod"/>
            </a:pPr>
            <a:r>
              <a:rPr lang="ru-RU" sz="2000" dirty="0">
                <a:solidFill>
                  <a:srgbClr val="2C2C36"/>
                </a:solidFill>
              </a:rPr>
              <a:t>На основе этого распределения строим доверительные интервалы (например, 80%, 95%).</a:t>
            </a:r>
          </a:p>
          <a:p>
            <a:r>
              <a:rPr lang="ru-RU" sz="2000" b="1" dirty="0">
                <a:solidFill>
                  <a:srgbClr val="2C2C36"/>
                </a:solidFill>
              </a:rPr>
              <a:t>Преимущества </a:t>
            </a:r>
            <a:r>
              <a:rPr lang="ru-RU" sz="2000" b="1" dirty="0" smtClean="0">
                <a:solidFill>
                  <a:srgbClr val="2C2C36"/>
                </a:solidFill>
              </a:rPr>
              <a:t>методов</a:t>
            </a:r>
            <a:endParaRPr lang="ru-RU" sz="2000" b="1" dirty="0">
              <a:solidFill>
                <a:srgbClr val="2C2C36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ru-RU" sz="2000" dirty="0">
                <a:solidFill>
                  <a:srgbClr val="2C2C36"/>
                </a:solidFill>
              </a:rPr>
              <a:t>Не требует предположений о нормальности остатков.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2000" dirty="0">
                <a:solidFill>
                  <a:srgbClr val="2C2C36"/>
                </a:solidFill>
              </a:rPr>
              <a:t>Работает даже при сложных структурах данных.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2000" dirty="0">
                <a:solidFill>
                  <a:srgbClr val="2C2C36"/>
                </a:solidFill>
              </a:rPr>
              <a:t>Может учитывать несимметричность распределения.</a:t>
            </a:r>
            <a:endParaRPr lang="ru-RU" sz="2000" b="0" i="0" dirty="0">
              <a:solidFill>
                <a:srgbClr val="2C2C36"/>
              </a:solidFill>
              <a:effectLst/>
            </a:endParaRPr>
          </a:p>
        </p:txBody>
      </p:sp>
      <p:pic>
        <p:nvPicPr>
          <p:cNvPr id="9" name="Picture 2" descr="Five simulated future sample paths of the Google closing stock price based on a naïve method with bootstrapped residuals.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02334" y="850393"/>
            <a:ext cx="3867009" cy="23881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4" descr="Forecasts of the Google closing stock price based on a naïve method with bootstrapped residuals.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82434" y="3753865"/>
            <a:ext cx="4642510" cy="28670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011801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10896" y="365125"/>
            <a:ext cx="11042904" cy="585851"/>
          </a:xfrm>
        </p:spPr>
        <p:txBody>
          <a:bodyPr>
            <a:normAutofit fontScale="90000"/>
          </a:bodyPr>
          <a:lstStyle/>
          <a:p>
            <a:r>
              <a:rPr lang="ru-RU" dirty="0" smtClean="0"/>
              <a:t>Необходимость вероятностных оценок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40</a:t>
            </a:fld>
            <a:endParaRPr lang="en-US"/>
          </a:p>
        </p:txBody>
      </p:sp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192024" y="950976"/>
            <a:ext cx="11814048" cy="7017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ru-RU" sz="2200" dirty="0" smtClean="0"/>
              <a:t>После </a:t>
            </a:r>
            <a:r>
              <a:rPr lang="ru-RU" sz="2200" dirty="0"/>
              <a:t>того как мы построили прогнозные интервалы или получили прогнозное распределение, важно количественно оценить их </a:t>
            </a:r>
            <a:r>
              <a:rPr lang="ru-RU" sz="2200" dirty="0" smtClean="0"/>
              <a:t>качество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Таблица 5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416035911"/>
                  </p:ext>
                </p:extLst>
              </p:nvPr>
            </p:nvGraphicFramePr>
            <p:xfrm>
              <a:off x="310896" y="1652707"/>
              <a:ext cx="11422095" cy="3200519"/>
            </p:xfrm>
            <a:graphic>
              <a:graphicData uri="http://schemas.openxmlformats.org/drawingml/2006/table">
                <a:tbl>
                  <a:tblPr/>
                  <a:tblGrid>
                    <a:gridCol w="1543541">
                      <a:extLst>
                        <a:ext uri="{9D8B030D-6E8A-4147-A177-3AD203B41FA5}">
                          <a16:colId xmlns:a16="http://schemas.microsoft.com/office/drawing/2014/main" val="1648134774"/>
                        </a:ext>
                      </a:extLst>
                    </a:gridCol>
                    <a:gridCol w="2221172">
                      <a:extLst>
                        <a:ext uri="{9D8B030D-6E8A-4147-A177-3AD203B41FA5}">
                          <a16:colId xmlns:a16="http://schemas.microsoft.com/office/drawing/2014/main" val="1803540345"/>
                        </a:ext>
                      </a:extLst>
                    </a:gridCol>
                    <a:gridCol w="2897759">
                      <a:extLst>
                        <a:ext uri="{9D8B030D-6E8A-4147-A177-3AD203B41FA5}">
                          <a16:colId xmlns:a16="http://schemas.microsoft.com/office/drawing/2014/main" val="2317459356"/>
                        </a:ext>
                      </a:extLst>
                    </a:gridCol>
                    <a:gridCol w="1965533">
                      <a:extLst>
                        <a:ext uri="{9D8B030D-6E8A-4147-A177-3AD203B41FA5}">
                          <a16:colId xmlns:a16="http://schemas.microsoft.com/office/drawing/2014/main" val="3472257170"/>
                        </a:ext>
                      </a:extLst>
                    </a:gridCol>
                    <a:gridCol w="2794090">
                      <a:extLst>
                        <a:ext uri="{9D8B030D-6E8A-4147-A177-3AD203B41FA5}">
                          <a16:colId xmlns:a16="http://schemas.microsoft.com/office/drawing/2014/main" val="50803802"/>
                        </a:ext>
                      </a:extLst>
                    </a:gridCol>
                  </a:tblGrid>
                  <a:tr h="338915">
                    <a:tc>
                      <a:txBody>
                        <a:bodyPr/>
                        <a:lstStyle/>
                        <a:p>
                          <a:pPr algn="l" fontAlgn="b"/>
                          <a:r>
                            <a:rPr lang="ru-RU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Тип прогноза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fontAlgn="b"/>
                          <a:r>
                            <a:rPr lang="ru-RU" sz="18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Оценка</a:t>
                          </a:r>
                          <a:endParaRPr lang="ru-RU" sz="18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fontAlgn="b"/>
                          <a:r>
                            <a:rPr lang="ru-RU" sz="18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Цель</a:t>
                          </a:r>
                          <a:endParaRPr lang="ru-RU" sz="18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fontAlgn="b"/>
                          <a:r>
                            <a:rPr lang="ru-RU" sz="18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Метрики оценки</a:t>
                          </a:r>
                          <a:endParaRPr lang="ru-RU" sz="18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fontAlgn="b"/>
                          <a:r>
                            <a:rPr lang="ru-RU" sz="18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Особенности</a:t>
                          </a:r>
                          <a:endParaRPr lang="ru-RU" sz="18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848971985"/>
                      </a:ext>
                    </a:extLst>
                  </a:tr>
                  <a:tr h="1158073">
                    <a:tc>
                      <a:txBody>
                        <a:bodyPr/>
                        <a:lstStyle/>
                        <a:p>
                          <a:pPr algn="l" fontAlgn="b"/>
                          <a:r>
                            <a:rPr lang="ru-RU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Интервальный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fontAlgn="b"/>
                          <a:r>
                            <a:rPr lang="ru-RU" sz="18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 диапазон с заданным покрытием </a:t>
                          </a:r>
                          <a14:m>
                            <m:oMath xmlns:m="http://schemas.openxmlformats.org/officeDocument/2006/math">
                              <m:r>
                                <a:rPr lang="en-US" sz="1800" b="0" i="0" u="none" strike="noStrike" dirty="0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sSub>
                                <m:sSubPr>
                                  <m:ctrlPr>
                                    <a:rPr lang="ru-RU" sz="1800" b="0" i="1" u="none" strike="noStrike" dirty="0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sz="1800" b="0" i="1" u="none" strike="noStrike" dirty="0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ru-RU" sz="1800" b="0" i="1" u="none" strike="noStrike" dirty="0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𝑙𝑜𝑤</m:t>
                                  </m:r>
                                </m:sub>
                              </m:sSub>
                              <m:r>
                                <a:rPr lang="ru-RU" sz="1800" b="0" i="1" u="none" strike="noStrike" dirty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sSub>
                                <m:sSubPr>
                                  <m:ctrlPr>
                                    <a:rPr lang="ru-RU" sz="1800" b="0" i="1" u="none" strike="noStrike" dirty="0" err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sz="1800" b="0" i="1" u="none" strike="noStrike" dirty="0" err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ru-RU" sz="1800" b="0" i="1" u="none" strike="noStrike" dirty="0" err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h𝑖𝑔h</m:t>
                                  </m:r>
                                </m:sub>
                              </m:sSub>
                              <m:r>
                                <a:rPr lang="en-US" sz="1800" b="0" i="1" u="none" strike="noStrike" dirty="0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]</m:t>
                              </m:r>
                            </m:oMath>
                          </a14:m>
                          <a:endParaRPr lang="ru-RU" sz="18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fontAlgn="b"/>
                          <a:r>
                            <a:rPr lang="ru-RU" sz="18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Определить</a:t>
                          </a:r>
                          <a:r>
                            <a:rPr lang="ru-RU" sz="1800" b="0" i="0" u="none" strike="noStrike" baseline="0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 ш</a:t>
                          </a:r>
                          <a:r>
                            <a:rPr lang="ru-RU" sz="18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ирину </a:t>
                          </a:r>
                          <a:r>
                            <a:rPr lang="ru-RU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и покрытие интервалов 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fontAlgn="b"/>
                          <a:r>
                            <a:rPr lang="en-US" sz="18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Coverage, Mean Width</a:t>
                          </a:r>
                          <a:endParaRPr lang="en-US" sz="18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fontAlgn="b"/>
                          <a:r>
                            <a:rPr lang="ru-RU" sz="18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Легко интерпретировать, но не покрывает выбросы</a:t>
                          </a:r>
                          <a:endParaRPr lang="en-US" sz="18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874609934"/>
                      </a:ext>
                    </a:extLst>
                  </a:tr>
                  <a:tr h="871046">
                    <a:tc>
                      <a:txBody>
                        <a:bodyPr/>
                        <a:lstStyle/>
                        <a:p>
                          <a:pPr algn="l" fontAlgn="b"/>
                          <a:r>
                            <a:rPr lang="ru-RU" sz="18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Квантильный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fontAlgn="b"/>
                          <a:r>
                            <a:rPr lang="ru-RU" sz="18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Предсказать конкретный квантиль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ru-RU" sz="1800" b="0" i="1" u="none" strike="noStrike" dirty="0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sz="1800" b="0" i="1" u="none" strike="noStrike" dirty="0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ru-RU" sz="1800" b="0" i="1" u="none" strike="noStrike" dirty="0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𝜏</m:t>
                                  </m:r>
                                </m:sub>
                              </m:sSub>
                            </m:oMath>
                          </a14:m>
                          <a:endParaRPr lang="ru-RU" sz="18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fontAlgn="b"/>
                          <a:r>
                            <a:rPr lang="ru-RU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точность определения квантилей 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fontAlgn="b"/>
                          <a:r>
                            <a:rPr lang="en-US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Pinball Loss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fontAlgn="b"/>
                          <a:r>
                            <a:rPr lang="ru-RU" sz="18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Анализ</a:t>
                          </a:r>
                          <a:r>
                            <a:rPr lang="ru-RU" sz="1800" b="0" i="0" u="none" strike="noStrike" baseline="0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 хвостов, не покрывает интервалы</a:t>
                          </a:r>
                          <a:endParaRPr lang="en-US" sz="18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971865774"/>
                      </a:ext>
                    </a:extLst>
                  </a:tr>
                  <a:tr h="584020">
                    <a:tc>
                      <a:txBody>
                        <a:bodyPr/>
                        <a:lstStyle/>
                        <a:p>
                          <a:pPr algn="l" fontAlgn="b"/>
                          <a:r>
                            <a:rPr lang="ru-RU" sz="18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Вероятностный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fontAlgn="b"/>
                          <a:r>
                            <a:rPr lang="ru-RU" sz="18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полное распределение 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ru-RU" sz="1800" b="0" i="1" u="none" strike="noStrike" dirty="0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ru-RU" sz="1800" b="0" i="1" u="none" strike="noStrike" dirty="0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𝐹</m:t>
                                  </m:r>
                                </m:e>
                                <m:sup>
                                  <m:r>
                                    <a:rPr lang="ru-RU" sz="1800" b="0" i="1" u="none" strike="noStrike" dirty="0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p>
                              </m:sSup>
                              <m:r>
                                <a:rPr lang="ru-RU" sz="1800" b="0" i="1" u="none" strike="noStrike" dirty="0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ru-RU" sz="1800" b="0" i="1" u="none" strike="noStrike" dirty="0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ru-RU" sz="1800" b="0" i="1" u="none" strike="noStrike" dirty="0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oMath>
                          </a14:m>
                          <a:endParaRPr lang="ru-RU" sz="18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fontAlgn="b"/>
                          <a:r>
                            <a:rPr lang="ru-RU" sz="18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качество всего прогнозного распределения 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fontAlgn="b"/>
                          <a:r>
                            <a:rPr lang="en-US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Log Score, CRPS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fontAlgn="b"/>
                          <a:r>
                            <a:rPr lang="ru-RU" sz="18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Сложная</a:t>
                          </a:r>
                          <a:r>
                            <a:rPr lang="ru-RU" sz="1800" b="0" i="0" u="none" strike="noStrike" baseline="0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 реализация</a:t>
                          </a:r>
                          <a:endParaRPr lang="en-US" sz="18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61701401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Таблица 5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416035911"/>
                  </p:ext>
                </p:extLst>
              </p:nvPr>
            </p:nvGraphicFramePr>
            <p:xfrm>
              <a:off x="310896" y="1652707"/>
              <a:ext cx="11422095" cy="3200519"/>
            </p:xfrm>
            <a:graphic>
              <a:graphicData uri="http://schemas.openxmlformats.org/drawingml/2006/table">
                <a:tbl>
                  <a:tblPr/>
                  <a:tblGrid>
                    <a:gridCol w="1543541">
                      <a:extLst>
                        <a:ext uri="{9D8B030D-6E8A-4147-A177-3AD203B41FA5}">
                          <a16:colId xmlns:a16="http://schemas.microsoft.com/office/drawing/2014/main" val="1648134774"/>
                        </a:ext>
                      </a:extLst>
                    </a:gridCol>
                    <a:gridCol w="2221172">
                      <a:extLst>
                        <a:ext uri="{9D8B030D-6E8A-4147-A177-3AD203B41FA5}">
                          <a16:colId xmlns:a16="http://schemas.microsoft.com/office/drawing/2014/main" val="1803540345"/>
                        </a:ext>
                      </a:extLst>
                    </a:gridCol>
                    <a:gridCol w="2897759">
                      <a:extLst>
                        <a:ext uri="{9D8B030D-6E8A-4147-A177-3AD203B41FA5}">
                          <a16:colId xmlns:a16="http://schemas.microsoft.com/office/drawing/2014/main" val="2317459356"/>
                        </a:ext>
                      </a:extLst>
                    </a:gridCol>
                    <a:gridCol w="1965533">
                      <a:extLst>
                        <a:ext uri="{9D8B030D-6E8A-4147-A177-3AD203B41FA5}">
                          <a16:colId xmlns:a16="http://schemas.microsoft.com/office/drawing/2014/main" val="3472257170"/>
                        </a:ext>
                      </a:extLst>
                    </a:gridCol>
                    <a:gridCol w="2794090">
                      <a:extLst>
                        <a:ext uri="{9D8B030D-6E8A-4147-A177-3AD203B41FA5}">
                          <a16:colId xmlns:a16="http://schemas.microsoft.com/office/drawing/2014/main" val="50803802"/>
                        </a:ext>
                      </a:extLst>
                    </a:gridCol>
                  </a:tblGrid>
                  <a:tr h="338915">
                    <a:tc>
                      <a:txBody>
                        <a:bodyPr/>
                        <a:lstStyle/>
                        <a:p>
                          <a:pPr algn="l" fontAlgn="b"/>
                          <a:r>
                            <a:rPr lang="ru-RU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Тип прогноза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fontAlgn="b"/>
                          <a:r>
                            <a:rPr lang="ru-RU" sz="18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Оценка</a:t>
                          </a:r>
                          <a:endParaRPr lang="ru-RU" sz="18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fontAlgn="b"/>
                          <a:r>
                            <a:rPr lang="ru-RU" sz="18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Цель</a:t>
                          </a:r>
                          <a:endParaRPr lang="ru-RU" sz="18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fontAlgn="b"/>
                          <a:r>
                            <a:rPr lang="ru-RU" sz="18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Метрики оценки</a:t>
                          </a:r>
                          <a:endParaRPr lang="ru-RU" sz="18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fontAlgn="b"/>
                          <a:r>
                            <a:rPr lang="ru-RU" sz="18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Особенности</a:t>
                          </a:r>
                          <a:endParaRPr lang="ru-RU" sz="18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848971985"/>
                      </a:ext>
                    </a:extLst>
                  </a:tr>
                  <a:tr h="1158073">
                    <a:tc>
                      <a:txBody>
                        <a:bodyPr/>
                        <a:lstStyle/>
                        <a:p>
                          <a:pPr algn="l" fontAlgn="b"/>
                          <a:r>
                            <a:rPr lang="ru-RU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Интервальный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69863" t="-33158" r="-344658" b="-15578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l" fontAlgn="b"/>
                          <a:r>
                            <a:rPr lang="ru-RU" sz="18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Определить</a:t>
                          </a:r>
                          <a:r>
                            <a:rPr lang="ru-RU" sz="1800" b="0" i="0" u="none" strike="noStrike" baseline="0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 ш</a:t>
                          </a:r>
                          <a:r>
                            <a:rPr lang="ru-RU" sz="18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ирину </a:t>
                          </a:r>
                          <a:r>
                            <a:rPr lang="ru-RU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и покрытие интервалов 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fontAlgn="b"/>
                          <a:r>
                            <a:rPr lang="en-US" sz="18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Coverage, Mean Width</a:t>
                          </a:r>
                          <a:endParaRPr lang="en-US" sz="18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fontAlgn="b"/>
                          <a:r>
                            <a:rPr lang="ru-RU" sz="18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Легко интерпретировать, но не покрывает выбросы</a:t>
                          </a:r>
                          <a:endParaRPr lang="en-US" sz="18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874609934"/>
                      </a:ext>
                    </a:extLst>
                  </a:tr>
                  <a:tr h="871046">
                    <a:tc>
                      <a:txBody>
                        <a:bodyPr/>
                        <a:lstStyle/>
                        <a:p>
                          <a:pPr algn="l" fontAlgn="b"/>
                          <a:r>
                            <a:rPr lang="ru-RU" sz="18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Квантильный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69863" t="-176923" r="-344658" b="-10699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l" fontAlgn="b"/>
                          <a:r>
                            <a:rPr lang="ru-RU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точность определения квантилей 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fontAlgn="b"/>
                          <a:r>
                            <a:rPr lang="en-US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Pinball Loss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fontAlgn="b"/>
                          <a:r>
                            <a:rPr lang="ru-RU" sz="18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Анализ</a:t>
                          </a:r>
                          <a:r>
                            <a:rPr lang="ru-RU" sz="1800" b="0" i="0" u="none" strike="noStrike" baseline="0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 хвостов, не покрывает интервалы</a:t>
                          </a:r>
                          <a:endParaRPr lang="en-US" sz="18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971865774"/>
                      </a:ext>
                    </a:extLst>
                  </a:tr>
                  <a:tr h="832485">
                    <a:tc>
                      <a:txBody>
                        <a:bodyPr/>
                        <a:lstStyle/>
                        <a:p>
                          <a:pPr algn="l" fontAlgn="b"/>
                          <a:r>
                            <a:rPr lang="ru-RU" sz="18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Вероятностный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69863" t="-289051" r="-344658" b="-116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l" fontAlgn="b"/>
                          <a:r>
                            <a:rPr lang="ru-RU" sz="18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качество всего прогнозного распределения 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fontAlgn="b"/>
                          <a:r>
                            <a:rPr lang="en-US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Log Score, CRPS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fontAlgn="b"/>
                          <a:r>
                            <a:rPr lang="ru-RU" sz="18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Сложная</a:t>
                          </a:r>
                          <a:r>
                            <a:rPr lang="ru-RU" sz="1800" b="0" i="0" u="none" strike="noStrike" baseline="0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 реализация</a:t>
                          </a:r>
                          <a:endParaRPr lang="en-US" sz="18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617014016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7" name="Прямоугольник 6"/>
          <p:cNvSpPr/>
          <p:nvPr/>
        </p:nvSpPr>
        <p:spPr>
          <a:xfrm>
            <a:off x="310896" y="5156021"/>
            <a:ext cx="10525171" cy="143116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ru-RU" dirty="0" smtClean="0">
                <a:solidFill>
                  <a:srgbClr val="2C2C36"/>
                </a:solidFill>
              </a:rPr>
              <a:t>Распределения могут быть представлены </a:t>
            </a:r>
            <a:r>
              <a:rPr lang="ru-RU" dirty="0">
                <a:solidFill>
                  <a:srgbClr val="2C2C36"/>
                </a:solidFill>
              </a:rPr>
              <a:t>как:</a:t>
            </a:r>
          </a:p>
          <a:p>
            <a:pPr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dirty="0">
                <a:solidFill>
                  <a:srgbClr val="2C2C36"/>
                </a:solidFill>
              </a:rPr>
              <a:t>Параметрические распределения (например, нормальное с </a:t>
            </a:r>
            <a:r>
              <a:rPr lang="ru-RU" i="1" dirty="0">
                <a:solidFill>
                  <a:srgbClr val="2C2C36"/>
                </a:solidFill>
              </a:rPr>
              <a:t>μ</a:t>
            </a:r>
            <a:r>
              <a:rPr lang="ru-RU" dirty="0">
                <a:solidFill>
                  <a:srgbClr val="2C2C36"/>
                </a:solidFill>
              </a:rPr>
              <a:t> и </a:t>
            </a:r>
            <a:r>
              <a:rPr lang="ru-RU" i="1" dirty="0">
                <a:solidFill>
                  <a:srgbClr val="2C2C36"/>
                </a:solidFill>
              </a:rPr>
              <a:t>σ</a:t>
            </a:r>
            <a:r>
              <a:rPr lang="ru-RU" dirty="0">
                <a:solidFill>
                  <a:srgbClr val="2C2C36"/>
                </a:solidFill>
              </a:rPr>
              <a:t> ),</a:t>
            </a:r>
          </a:p>
          <a:p>
            <a:pPr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dirty="0">
                <a:solidFill>
                  <a:srgbClr val="2C2C36"/>
                </a:solidFill>
              </a:rPr>
              <a:t>Непараметрические (например, выборки из </a:t>
            </a:r>
            <a:r>
              <a:rPr lang="ru-RU" dirty="0" err="1">
                <a:solidFill>
                  <a:srgbClr val="2C2C36"/>
                </a:solidFill>
              </a:rPr>
              <a:t>бутстрепа</a:t>
            </a:r>
            <a:r>
              <a:rPr lang="ru-RU" dirty="0">
                <a:solidFill>
                  <a:srgbClr val="2C2C36"/>
                </a:solidFill>
              </a:rPr>
              <a:t> или MCMC),</a:t>
            </a:r>
          </a:p>
          <a:p>
            <a:pPr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dirty="0">
                <a:solidFill>
                  <a:srgbClr val="2C2C36"/>
                </a:solidFill>
              </a:rPr>
              <a:t>Дискретные распределения (для категориальных данных).</a:t>
            </a:r>
            <a:endParaRPr lang="ru-RU" b="0" i="0" dirty="0">
              <a:solidFill>
                <a:srgbClr val="2C2C36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9503315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68941" y="271812"/>
            <a:ext cx="10780059" cy="448236"/>
          </a:xfrm>
        </p:spPr>
        <p:txBody>
          <a:bodyPr>
            <a:normAutofit fontScale="90000"/>
          </a:bodyPr>
          <a:lstStyle/>
          <a:p>
            <a:r>
              <a:rPr lang="ru-RU" b="1" dirty="0" err="1" smtClean="0"/>
              <a:t>Квантильная</a:t>
            </a:r>
            <a:r>
              <a:rPr lang="ru-RU" b="1" dirty="0" smtClean="0"/>
              <a:t> оценка качества </a:t>
            </a:r>
            <a:r>
              <a:rPr lang="ru-RU" b="1" dirty="0" err="1"/>
              <a:t>пресдказания</a:t>
            </a:r>
            <a:r>
              <a:rPr lang="ru-RU" b="1" dirty="0"/>
              <a:t> ВР</a:t>
            </a:r>
          </a:p>
        </p:txBody>
      </p:sp>
      <p:sp>
        <p:nvSpPr>
          <p:cNvPr id="15" name="Rectangle 1"/>
          <p:cNvSpPr>
            <a:spLocks noChangeArrowheads="1"/>
          </p:cNvSpPr>
          <p:nvPr/>
        </p:nvSpPr>
        <p:spPr bwMode="auto">
          <a:xfrm>
            <a:off x="0" y="-170549"/>
            <a:ext cx="65" cy="3410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6348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2050" name="Picture 2" descr="/pinball-loss-function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44434" y="988150"/>
            <a:ext cx="3949700" cy="19471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Прямоугольник 3"/>
          <p:cNvSpPr/>
          <p:nvPr/>
        </p:nvSpPr>
        <p:spPr>
          <a:xfrm>
            <a:off x="277935" y="6298982"/>
            <a:ext cx="6791325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200" dirty="0">
                <a:hlinkClick r:id="rId3"/>
              </a:rPr>
              <a:t>https://</a:t>
            </a:r>
            <a:r>
              <a:rPr lang="ru-RU" sz="1200" dirty="0" smtClean="0">
                <a:hlinkClick r:id="rId3"/>
              </a:rPr>
              <a:t>www.lokad.com/ru/вероятностное-прогнозирование-определение/</a:t>
            </a:r>
            <a:r>
              <a:rPr lang="ru-RU" sz="1200" dirty="0" smtClean="0"/>
              <a:t>  </a:t>
            </a:r>
            <a:endParaRPr lang="ru-RU" sz="1200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203130" y="6492803"/>
            <a:ext cx="3747436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1200" dirty="0">
                <a:hlinkClick r:id="rId4"/>
              </a:rPr>
              <a:t>https://www.lokad.com/pinball-loss-function-definition</a:t>
            </a:r>
            <a:r>
              <a:rPr lang="ru-RU" sz="1200" dirty="0" smtClean="0">
                <a:hlinkClick r:id="rId4"/>
              </a:rPr>
              <a:t>/</a:t>
            </a:r>
            <a:r>
              <a:rPr lang="ru-RU" sz="1200" dirty="0" smtClean="0"/>
              <a:t> </a:t>
            </a:r>
            <a:endParaRPr lang="ru-RU" sz="1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Объект 2">
                <a:extLst>
                  <a:ext uri="{FF2B5EF4-FFF2-40B4-BE49-F238E27FC236}">
                    <a16:creationId xmlns:a16="http://schemas.microsoft.com/office/drawing/2014/main" id="{343C449D-D68B-64B7-B076-716F7EB3286C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30572" y="766817"/>
                <a:ext cx="7708818" cy="5346944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ru-RU" sz="2200" b="0" i="1" dirty="0" smtClean="0">
                    <a:latin typeface="Cambria Math" panose="02040503050406030204" pitchFamily="18" charset="0"/>
                  </a:rPr>
                  <a:t>Квантильный </a:t>
                </a:r>
                <a:r>
                  <a:rPr lang="ru-RU" sz="2200" b="0" i="1" dirty="0" err="1" smtClean="0">
                    <a:latin typeface="Cambria Math" panose="02040503050406030204" pitchFamily="18" charset="0"/>
                  </a:rPr>
                  <a:t>лосс</a:t>
                </a:r>
                <a:endParaRPr lang="ru-RU" sz="2200" b="0" i="1" dirty="0" smtClean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𝜏</m:t>
                          </m:r>
                        </m:sub>
                      </m:sSub>
                      <m:r>
                        <a:rPr lang="ru-RU" sz="22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200" i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ru-RU" sz="2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22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  <m:sub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𝜏</m:t>
                          </m:r>
                        </m:sub>
                      </m:sSub>
                      <m:r>
                        <a:rPr lang="ru-RU" sz="2200" b="0" i="1" smtClean="0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sz="2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d>
                                <m:dPr>
                                  <m:ctrlPr>
                                    <a:rPr lang="en-US" sz="2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200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  <m:r>
                                    <a:rPr lang="en-US" sz="2200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ru-RU" sz="22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acc>
                                        <m:accPr>
                                          <m:chr m:val="̂"/>
                                          <m:ctrlPr>
                                            <a:rPr lang="en-US" sz="22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sz="2200" b="0" i="1" smtClean="0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en-US" sz="2200" b="0" i="1" smtClean="0">
                                          <a:latin typeface="Cambria Math" panose="02040503050406030204" pitchFamily="18" charset="0"/>
                                        </a:rPr>
                                        <m:t>𝜏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𝜏</m:t>
                              </m:r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,   </m:t>
                              </m:r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𝑖𝑓</m:t>
                              </m:r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≥</m:t>
                              </m:r>
                              <m:acc>
                                <m:accPr>
                                  <m:chr m:val="̂"/>
                                  <m:ctrlPr>
                                    <a:rPr lang="en-US" sz="2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200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acc>
                            </m:e>
                            <m:e>
                              <m:d>
                                <m:dPr>
                                  <m:ctrlP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ru-RU" sz="2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acc>
                                        <m:accPr>
                                          <m:chr m:val="̂"/>
                                          <m:ctrlPr>
                                            <a:rPr lang="en-US" sz="22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sz="2200" i="1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en-US" sz="2200" i="1">
                                          <a:latin typeface="Cambria Math" panose="02040503050406030204" pitchFamily="18" charset="0"/>
                                        </a:rPr>
                                        <m:t>𝜏</m:t>
                                      </m:r>
                                    </m:sub>
                                  </m:sSub>
                                </m:e>
                              </m:d>
                              <m:d>
                                <m:dPr>
                                  <m:ctrlPr>
                                    <a:rPr lang="en-US" sz="2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200" b="0" i="1" smtClean="0">
                                      <a:latin typeface="Cambria Math" panose="02040503050406030204" pitchFamily="18" charset="0"/>
                                    </a:rPr>
                                    <m:t>1−</m:t>
                                  </m:r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𝜏</m:t>
                                  </m:r>
                                </m:e>
                              </m:d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𝑖𝑓</m:t>
                              </m:r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≥</m:t>
                              </m:r>
                              <m:acc>
                                <m:accPr>
                                  <m:chr m:val="̂"/>
                                  <m:ctrlP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acc>
                            </m:e>
                          </m:eqArr>
                        </m:e>
                      </m:d>
                    </m:oMath>
                  </m:oMathPara>
                </a14:m>
                <a:endParaRPr lang="en-US" sz="2200" dirty="0" smtClean="0"/>
              </a:p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buNone/>
                </a:pPr>
                <a:r>
                  <a:rPr lang="ru-RU" sz="2200" dirty="0" smtClean="0"/>
                  <a:t>где τ – квантиль,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22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e>
                      <m:sub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𝜏</m:t>
                        </m:r>
                      </m:sub>
                    </m:sSub>
                  </m:oMath>
                </a14:m>
                <a:r>
                  <a:rPr lang="ru-RU" sz="2200" dirty="0" smtClean="0"/>
                  <a:t> - прогноз нужного квантиля, </a:t>
                </a:r>
                <a14:m>
                  <m:oMath xmlns:m="http://schemas.openxmlformats.org/officeDocument/2006/math">
                    <m:r>
                      <a:rPr lang="en-US" sz="2200" i="1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ru-RU" sz="2200" dirty="0" smtClean="0"/>
                  <a:t> – истинное значение</a:t>
                </a:r>
              </a:p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buNone/>
                </a:pPr>
                <a:r>
                  <a:rPr lang="ru-RU" sz="2200" dirty="0" err="1" smtClean="0"/>
                  <a:t>Квантильный</a:t>
                </a:r>
                <a:r>
                  <a:rPr lang="ru-RU" sz="2200" dirty="0" smtClean="0"/>
                  <a:t> прогноз смещенный:</a:t>
                </a:r>
              </a:p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buNone/>
                </a:pPr>
                <a:r>
                  <a:rPr lang="ru-RU" sz="2200" dirty="0" smtClean="0"/>
                  <a:t>τ=0.5</a:t>
                </a:r>
                <a:r>
                  <a:rPr lang="ru-RU" sz="2200" dirty="0"/>
                  <a:t> → </a:t>
                </a:r>
                <a:r>
                  <a:rPr lang="ru-RU" sz="2200" dirty="0" smtClean="0"/>
                  <a:t>медианный прогноз (устойчив к выбросам).</a:t>
                </a:r>
              </a:p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buNone/>
                </a:pPr>
                <a:r>
                  <a:rPr lang="ru-RU" sz="2200" dirty="0" smtClean="0"/>
                  <a:t>τ</a:t>
                </a:r>
                <a:r>
                  <a:rPr lang="en-US" sz="2200" dirty="0" smtClean="0"/>
                  <a:t>&gt;</a:t>
                </a:r>
                <a:r>
                  <a:rPr lang="ru-RU" sz="2200" dirty="0" smtClean="0"/>
                  <a:t>0.5</a:t>
                </a:r>
                <a:r>
                  <a:rPr lang="en-US" sz="2200" dirty="0" smtClean="0"/>
                  <a:t>  - </a:t>
                </a:r>
                <a:r>
                  <a:rPr lang="ru-RU" sz="2200" dirty="0"/>
                  <a:t>завышенные предсказания штрафуются сильнее.</a:t>
                </a:r>
              </a:p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buNone/>
                </a:pPr>
                <a:r>
                  <a:rPr lang="ru-RU" sz="2200" dirty="0" smtClean="0"/>
                  <a:t>τ=0.9</a:t>
                </a:r>
                <a:r>
                  <a:rPr lang="en-US" sz="2200" dirty="0" smtClean="0"/>
                  <a:t>5</a:t>
                </a:r>
                <a:r>
                  <a:rPr lang="ru-RU" sz="2200" dirty="0"/>
                  <a:t> → оценка </a:t>
                </a:r>
                <a:r>
                  <a:rPr lang="ru-RU" sz="2200" dirty="0" smtClean="0"/>
                  <a:t>9</a:t>
                </a:r>
                <a:r>
                  <a:rPr lang="en-US" sz="2200" dirty="0" smtClean="0"/>
                  <a:t>5</a:t>
                </a:r>
                <a:r>
                  <a:rPr lang="ru-RU" sz="2200" dirty="0" smtClean="0"/>
                  <a:t>%-</a:t>
                </a:r>
                <a:r>
                  <a:rPr lang="ru-RU" sz="2200" dirty="0" err="1"/>
                  <a:t>го</a:t>
                </a:r>
                <a:r>
                  <a:rPr lang="ru-RU" sz="2200" dirty="0"/>
                  <a:t> </a:t>
                </a:r>
                <a:r>
                  <a:rPr lang="ru-RU" sz="2200" dirty="0" smtClean="0"/>
                  <a:t>квантиля </a:t>
                </a:r>
                <a:r>
                  <a:rPr lang="en-US" sz="2200" dirty="0" smtClean="0"/>
                  <a:t>-</a:t>
                </a:r>
                <a:r>
                  <a:rPr lang="ru-RU" sz="2200" dirty="0" smtClean="0"/>
                  <a:t>редкие</a:t>
                </a:r>
                <a:r>
                  <a:rPr lang="en-US" sz="2200" dirty="0" smtClean="0"/>
                  <a:t> </a:t>
                </a:r>
                <a:r>
                  <a:rPr lang="ru-RU" sz="2200" dirty="0" smtClean="0"/>
                  <a:t>выбросы штрафуются сильнее (хвосты, полезно в случае дорогих рисков)</a:t>
                </a:r>
                <a:endParaRPr lang="ru-RU" sz="2200" dirty="0"/>
              </a:p>
              <a:p>
                <a:pPr marL="0" indent="0">
                  <a:buNone/>
                </a:pPr>
                <a:r>
                  <a:rPr lang="ru-RU" sz="2400" b="1" dirty="0" smtClean="0"/>
                  <a:t>Применение: контроль хвостов распределения</a:t>
                </a:r>
                <a:endParaRPr lang="ru-RU" sz="2400" b="1" dirty="0"/>
              </a:p>
              <a:p>
                <a:endParaRPr lang="ru-RU" i="1" dirty="0"/>
              </a:p>
              <a:p>
                <a:endParaRPr lang="ru-RU" dirty="0"/>
              </a:p>
            </p:txBody>
          </p:sp>
        </mc:Choice>
        <mc:Fallback xmlns="">
          <p:sp>
            <p:nvSpPr>
              <p:cNvPr id="11" name="Объект 2">
                <a:extLst>
                  <a:ext uri="{FF2B5EF4-FFF2-40B4-BE49-F238E27FC236}">
                    <a16:creationId xmlns:a16="http://schemas.microsoft.com/office/drawing/2014/main" id="{343C449D-D68B-64B7-B076-716F7EB328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0572" y="766817"/>
                <a:ext cx="7708818" cy="5346944"/>
              </a:xfrm>
              <a:prstGeom prst="rect">
                <a:avLst/>
              </a:prstGeom>
              <a:blipFill>
                <a:blip r:embed="rId5"/>
                <a:stretch>
                  <a:fillRect l="-1186" t="-1482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Прямоугольник 5"/>
          <p:cNvSpPr/>
          <p:nvPr/>
        </p:nvSpPr>
        <p:spPr>
          <a:xfrm>
            <a:off x="4292599" y="6517107"/>
            <a:ext cx="7915276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400" dirty="0">
                <a:hlinkClick r:id="rId6"/>
              </a:rPr>
              <a:t>https://towardsdatascience.com/an-introduction-to-quantile-loss-a-k-a-the-pinball-loss-33cccac378a9</a:t>
            </a:r>
            <a:r>
              <a:rPr lang="ru-RU" sz="1400" dirty="0" smtClean="0">
                <a:hlinkClick r:id="rId6"/>
              </a:rPr>
              <a:t>/</a:t>
            </a:r>
            <a:r>
              <a:rPr lang="ru-RU" sz="1400" dirty="0" smtClean="0"/>
              <a:t> </a:t>
            </a:r>
            <a:endParaRPr lang="ru-RU" sz="1400" dirty="0"/>
          </a:p>
        </p:txBody>
      </p:sp>
      <p:pic>
        <p:nvPicPr>
          <p:cNvPr id="2053" name="Picture 5" descr="Image by author"/>
          <p:cNvPicPr>
            <a:picLocks noChangeAspect="1" noChangeArrowheads="1"/>
          </p:cNvPicPr>
          <p:nvPr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03398" y="3081884"/>
            <a:ext cx="4085402" cy="2666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Прямоугольник 9"/>
              <p:cNvSpPr/>
              <p:nvPr/>
            </p:nvSpPr>
            <p:spPr>
              <a:xfrm>
                <a:off x="203130" y="4960154"/>
                <a:ext cx="6096000" cy="1477328"/>
              </a:xfrm>
              <a:prstGeom prst="rect">
                <a:avLst/>
              </a:prstGeom>
            </p:spPr>
            <p:txBody>
              <a:bodyPr>
                <a:spAutoFit/>
              </a:bodyPr>
              <a:lstStyle/>
              <a:p>
                <a:r>
                  <a:rPr lang="ru-RU" dirty="0"/>
                  <a:t>Пусть τ = 0.9 (оцениваем 90%-й квантиль).</a:t>
                </a:r>
              </a:p>
              <a:p>
                <a:r>
                  <a:rPr lang="ru-RU" dirty="0"/>
                  <a:t>Если истинное значение y = 100, а прогноз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𝜏</m:t>
                        </m:r>
                      </m:sub>
                    </m:sSub>
                  </m:oMath>
                </a14:m>
                <a:r>
                  <a:rPr lang="ru-RU" dirty="0"/>
                  <a:t>= 95:</a:t>
                </a:r>
              </a:p>
              <a:p>
                <a:pPr lvl="1"/>
                <a:r>
                  <a:rPr lang="ru-RU" dirty="0"/>
                  <a:t>Ошибка: 100 – 95 = 5</a:t>
                </a:r>
                <a:r>
                  <a:rPr lang="ru-RU" dirty="0" smtClean="0"/>
                  <a:t>.</a:t>
                </a:r>
                <a:r>
                  <a:rPr lang="en-US" dirty="0" smtClean="0"/>
                  <a:t> </a:t>
                </a:r>
                <a:r>
                  <a:rPr lang="ru-RU" dirty="0" smtClean="0"/>
                  <a:t>Штраф</a:t>
                </a:r>
                <a:r>
                  <a:rPr lang="ru-RU" dirty="0"/>
                  <a:t>: τ × 5 = 0.9 × 5 = 4.5.</a:t>
                </a:r>
              </a:p>
              <a:p>
                <a:r>
                  <a:rPr lang="ru-RU" dirty="0"/>
                  <a:t>Если y = 90,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𝜏</m:t>
                        </m:r>
                      </m:sub>
                    </m:sSub>
                  </m:oMath>
                </a14:m>
                <a:r>
                  <a:rPr lang="ru-RU" dirty="0"/>
                  <a:t> = 95:</a:t>
                </a:r>
              </a:p>
              <a:p>
                <a:pPr lvl="1"/>
                <a:r>
                  <a:rPr lang="ru-RU" dirty="0"/>
                  <a:t>Ошибка: 95 – 90 = 5</a:t>
                </a:r>
                <a:r>
                  <a:rPr lang="ru-RU" dirty="0" smtClean="0"/>
                  <a:t>.</a:t>
                </a:r>
                <a:r>
                  <a:rPr lang="en-US" dirty="0" smtClean="0"/>
                  <a:t> </a:t>
                </a:r>
                <a:r>
                  <a:rPr lang="ru-RU" dirty="0" smtClean="0"/>
                  <a:t>Штраф</a:t>
                </a:r>
                <a:r>
                  <a:rPr lang="ru-RU" dirty="0"/>
                  <a:t>: (1–τ) × 5 = 0.1 × 5 = 0.5.</a:t>
                </a:r>
              </a:p>
            </p:txBody>
          </p:sp>
        </mc:Choice>
        <mc:Fallback xmlns="">
          <p:sp>
            <p:nvSpPr>
              <p:cNvPr id="10" name="Прямоугольник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3130" y="4960154"/>
                <a:ext cx="6096000" cy="1477328"/>
              </a:xfrm>
              <a:prstGeom prst="rect">
                <a:avLst/>
              </a:prstGeom>
              <a:blipFill>
                <a:blip r:embed="rId8"/>
                <a:stretch>
                  <a:fillRect l="-800" t="-2479" b="-578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Прямоугольник 11"/>
              <p:cNvSpPr/>
              <p:nvPr/>
            </p:nvSpPr>
            <p:spPr>
              <a:xfrm>
                <a:off x="6432279" y="5939892"/>
                <a:ext cx="5556521" cy="44127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𝜏</m:t>
                        </m:r>
                      </m:sub>
                    </m:sSub>
                    <m:d>
                      <m:dPr>
                        <m:ctrlPr>
                          <a:rPr lang="ru-RU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ru-RU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sz="1600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1600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acc>
                          </m:e>
                          <m:sub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𝜏</m:t>
                            </m:r>
                          </m:sub>
                        </m:sSub>
                      </m:e>
                    </m:d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den>
                    </m:f>
                    <m:nary>
                      <m:naryPr>
                        <m:chr m:val="∑"/>
                        <m:supHide m:val="on"/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/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𝜏</m:t>
                        </m:r>
                        <m:func>
                          <m:func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1600" b="0" i="0" smtClean="0">
                                <a:latin typeface="Cambria Math" panose="02040503050406030204" pitchFamily="18" charset="0"/>
                              </a:rPr>
                              <m:t>max</m:t>
                            </m:r>
                          </m:fName>
                          <m:e>
                            <m:d>
                              <m:dPr>
                                <m:ctrlP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i="1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sz="1600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ru-RU" sz="16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̂"/>
                                        <m:ctrlPr>
                                          <a:rPr lang="en-US" sz="16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sz="1600" i="1"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sz="1600" i="1">
                                        <a:latin typeface="Cambria Math" panose="02040503050406030204" pitchFamily="18" charset="0"/>
                                      </a:rPr>
                                      <m:t>𝜏</m:t>
                                    </m:r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,0</m:t>
                                </m:r>
                              </m:e>
                            </m:d>
                          </m:e>
                        </m:func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+(1−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𝜏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)</m:t>
                        </m:r>
                        <m:func>
                          <m:funcPr>
                            <m:ctrlPr>
                              <a:rPr lang="en-US" sz="1600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1600">
                                <a:latin typeface="Cambria Math" panose="02040503050406030204" pitchFamily="18" charset="0"/>
                              </a:rPr>
                              <m:t>max</m:t>
                            </m:r>
                          </m:fName>
                          <m:e>
                            <m:d>
                              <m:dPr>
                                <m:ctrlPr>
                                  <a:rPr lang="en-US" sz="16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ru-RU" sz="16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̂"/>
                                        <m:ctrlPr>
                                          <a:rPr lang="en-US" sz="16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sz="1600" i="1"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sz="1600" i="1">
                                        <a:latin typeface="Cambria Math" panose="02040503050406030204" pitchFamily="18" charset="0"/>
                                      </a:rPr>
                                      <m:t>𝜏</m:t>
                                    </m:r>
                                    <m:r>
                                      <a:rPr lang="en-US" sz="1600" i="1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600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sz="16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i="1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sz="1600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sz="1600" i="1">
                                    <a:latin typeface="Cambria Math" panose="02040503050406030204" pitchFamily="18" charset="0"/>
                                  </a:rPr>
                                  <m:t>,0</m:t>
                                </m:r>
                              </m:e>
                            </m:d>
                          </m:e>
                        </m:func>
                      </m:e>
                    </m:nary>
                  </m:oMath>
                </a14:m>
                <a:r>
                  <a:rPr lang="en-US" sz="1600" dirty="0" smtClean="0"/>
                  <a:t> </a:t>
                </a:r>
                <a:endParaRPr lang="ru-RU" sz="1600" dirty="0"/>
              </a:p>
            </p:txBody>
          </p:sp>
        </mc:Choice>
        <mc:Fallback xmlns="">
          <p:sp>
            <p:nvSpPr>
              <p:cNvPr id="12" name="Прямоугольник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32279" y="5939892"/>
                <a:ext cx="5556521" cy="441275"/>
              </a:xfrm>
              <a:prstGeom prst="rect">
                <a:avLst/>
              </a:prstGeom>
              <a:blipFill>
                <a:blip r:embed="rId9"/>
                <a:stretch>
                  <a:fillRect t="-71233" b="-117808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028238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>
              <a:xfrm>
                <a:off x="116582" y="619868"/>
                <a:ext cx="9147060" cy="5958673"/>
              </a:xfrm>
            </p:spPr>
            <p:txBody>
              <a:bodyPr>
                <a:noAutofit/>
              </a:bodyPr>
              <a:lstStyle/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buNone/>
                </a:pPr>
                <a:r>
                  <a:rPr lang="ru-RU" sz="2000" b="1" dirty="0"/>
                  <a:t>Идеальный интервал должен: </a:t>
                </a:r>
              </a:p>
              <a:p>
                <a:pPr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ru-RU" sz="2000" b="1" dirty="0"/>
                  <a:t>Покрывать</a:t>
                </a:r>
                <a:r>
                  <a:rPr lang="ru-RU" sz="2000" dirty="0"/>
                  <a:t> истинные значения с нужной вероятностью</a:t>
                </a:r>
                <a:br>
                  <a:rPr lang="ru-RU" sz="2000" dirty="0"/>
                </a:br>
                <a:r>
                  <a:rPr lang="ru-RU" sz="2000" dirty="0"/>
                  <a:t> (</a:t>
                </a:r>
                <a:r>
                  <a:rPr lang="ru-RU" sz="2000" dirty="0" err="1"/>
                  <a:t>напр</a:t>
                </a:r>
                <a:r>
                  <a:rPr lang="ru-RU" sz="2000" dirty="0"/>
                  <a:t>, 95% точек внутри интервала).</a:t>
                </a:r>
              </a:p>
              <a:p>
                <a:pPr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ru-RU" sz="2000" dirty="0"/>
                  <a:t>Быть </a:t>
                </a:r>
                <a:r>
                  <a:rPr lang="ru-RU" sz="2000" b="1" dirty="0"/>
                  <a:t>узким</a:t>
                </a:r>
                <a:r>
                  <a:rPr lang="ru-RU" sz="2000" dirty="0"/>
                  <a:t> (меньшая неопределенность лучше).</a:t>
                </a:r>
              </a:p>
              <a:p>
                <a:pPr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ru-RU" sz="2000" b="1" dirty="0"/>
                  <a:t>Симметрично</a:t>
                </a:r>
                <a:r>
                  <a:rPr lang="ru-RU" sz="2000" dirty="0"/>
                  <a:t> реагировать на ошибки вверх/вниз</a:t>
                </a:r>
              </a:p>
              <a:p>
                <a:pPr marL="0" indent="0">
                  <a:buNone/>
                </a:pPr>
                <a:r>
                  <a:rPr lang="ru-RU" sz="2000" b="1" dirty="0" err="1" smtClean="0"/>
                  <a:t>Coverage</a:t>
                </a:r>
                <a:r>
                  <a:rPr lang="ru-RU" sz="2000" dirty="0" smtClean="0"/>
                  <a:t> </a:t>
                </a:r>
                <a:r>
                  <a:rPr lang="ru-RU" sz="2000" dirty="0"/>
                  <a:t>(Покрытие)</a:t>
                </a:r>
                <a:endParaRPr lang="ru-RU" sz="2000" b="1" dirty="0"/>
              </a:p>
              <a:p>
                <a:r>
                  <a:rPr lang="ru-RU" sz="2000" dirty="0"/>
                  <a:t>Доля случаев, когда фактическое значение попало в доверительный интервал.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a:rPr lang="ru-RU" sz="2000" i="1" dirty="0" smtClean="0">
                        <a:latin typeface="Cambria Math" panose="02040503050406030204" pitchFamily="18" charset="0"/>
                      </a:rPr>
                      <m:t>𝐶𝑜𝑣𝑒𝑟𝑎𝑔𝑒</m:t>
                    </m:r>
                    <m:r>
                      <a:rPr lang="ru-RU" sz="2000" i="1" dirty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00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ru-RU" sz="2000" i="1" dirty="0">
                            <a:latin typeface="Cambria Math" panose="02040503050406030204" pitchFamily="18" charset="0"/>
                          </a:rPr>
                          <m:t>Число попаданий</m:t>
                        </m:r>
                      </m:num>
                      <m:den>
                        <m:r>
                          <a:rPr lang="ru-RU" sz="2000" i="1" dirty="0">
                            <a:latin typeface="Cambria Math" panose="02040503050406030204" pitchFamily="18" charset="0"/>
                          </a:rPr>
                          <m:t>Общее число прогнозов</m:t>
                        </m:r>
                      </m:den>
                    </m:f>
                  </m:oMath>
                </a14:m>
                <a:r>
                  <a:rPr lang="ru-RU" sz="2000" dirty="0" smtClean="0"/>
                  <a:t>​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000" b="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b="0" i="0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US" sz="2000" b="0" i="0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</m:den>
                    </m:f>
                    <m:r>
                      <a:rPr lang="en-US" sz="2000" b="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∑</m:t>
                    </m:r>
                    <m:r>
                      <a:rPr lang="en-US" sz="2000" b="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d>
                      <m:dPr>
                        <m:ctrlPr>
                          <a:rPr lang="en-US" sz="2000" b="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sz="2000" b="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∈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sz="2000" b="0" i="1" dirty="0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ru-RU" sz="2000" i="1" dirty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acc>
                                  <m:accPr>
                                    <m:chr m:val="̂"/>
                                    <m:ctrlPr>
                                      <a:rPr lang="en-US" sz="2000" b="0" i="1" dirty="0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sz="2000" b="1" i="1" dirty="0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𝒚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ru-RU" sz="2000" i="1" dirty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𝑙𝑜𝑤</m:t>
                                </m:r>
                              </m:sub>
                            </m:sSub>
                            <m:r>
                              <a:rPr lang="ru-RU" sz="200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ru-RU" sz="2000" i="1" dirty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acc>
                                  <m:accPr>
                                    <m:chr m:val="̂"/>
                                    <m:ctrlPr>
                                      <a:rPr lang="en-US" sz="2000" i="1" dirty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sz="2000" b="1" i="1" dirty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𝒚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en-US" sz="2000" b="0" i="1" dirty="0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h𝑖𝑔h</m:t>
                                </m:r>
                              </m:sub>
                            </m:sSub>
                          </m:e>
                        </m:d>
                      </m:e>
                    </m:d>
                    <m:r>
                      <a:rPr lang="ru-RU" sz="2000" b="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ru-RU" sz="2000" dirty="0" smtClean="0">
                    <a:solidFill>
                      <a:srgbClr val="000000"/>
                    </a:solidFill>
                    <a:latin typeface="Calibri" panose="020F0502020204030204" pitchFamily="34" charset="0"/>
                  </a:rPr>
                  <a:t> </a:t>
                </a:r>
                <a:endParaRPr lang="ru-RU" sz="2000" dirty="0">
                  <a:solidFill>
                    <a:srgbClr val="000000"/>
                  </a:solidFill>
                  <a:latin typeface="Calibri" panose="020F0502020204030204" pitchFamily="34" charset="0"/>
                </a:endParaRPr>
              </a:p>
              <a:p>
                <a:r>
                  <a:rPr lang="ru-RU" sz="2000" dirty="0"/>
                  <a:t>Где </a:t>
                </a:r>
                <a14:m>
                  <m:oMath xmlns:m="http://schemas.openxmlformats.org/officeDocument/2006/math">
                    <m:r>
                      <a:rPr lang="ru-RU" sz="2000" i="1" dirty="0" smtClean="0">
                        <a:latin typeface="Cambria Math" panose="02040503050406030204" pitchFamily="18" charset="0"/>
                      </a:rPr>
                      <m:t>𝐼</m:t>
                    </m:r>
                    <m:r>
                      <a:rPr lang="ru-RU" sz="2000" i="1" dirty="0" smtClean="0">
                        <a:latin typeface="Cambria Math" panose="02040503050406030204" pitchFamily="18" charset="0"/>
                      </a:rPr>
                      <m:t>(⋅)</m:t>
                    </m:r>
                  </m:oMath>
                </a14:m>
                <a:r>
                  <a:rPr lang="ru-RU" sz="2000" dirty="0"/>
                  <a:t> — индикаторная функция (1, если условие выполняется, иначе 0</a:t>
                </a:r>
                <a:r>
                  <a:rPr lang="ru-RU" sz="2000" dirty="0" smtClean="0"/>
                  <a:t>)</a:t>
                </a:r>
                <a:endParaRPr lang="en-US" sz="2000" dirty="0" smtClean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ru-RU" sz="20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200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000" b="1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𝒚</m:t>
                            </m:r>
                          </m:e>
                        </m:acc>
                      </m:e>
                      <m:sub>
                        <m:r>
                          <a:rPr lang="ru-RU" sz="20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𝑙𝑜𝑤</m:t>
                        </m:r>
                      </m:sub>
                    </m:sSub>
                    <m:r>
                      <a:rPr lang="ru-RU" sz="2000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ru-RU" sz="20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200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000" b="1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𝒚</m:t>
                            </m:r>
                          </m:e>
                        </m:acc>
                      </m:e>
                      <m:sub>
                        <m:r>
                          <a:rPr lang="en-US" sz="20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h𝑖𝑔h</m:t>
                        </m:r>
                      </m:sub>
                    </m:sSub>
                  </m:oMath>
                </a14:m>
                <a:r>
                  <a:rPr lang="en-US" sz="2000" dirty="0" smtClean="0"/>
                  <a:t> - </a:t>
                </a:r>
                <a:r>
                  <a:rPr lang="ru-RU" sz="2000" dirty="0" smtClean="0"/>
                  <a:t>оценки интервала, </a:t>
                </a:r>
                <a14:m>
                  <m:oMath xmlns:m="http://schemas.openxmlformats.org/officeDocument/2006/math">
                    <m:r>
                      <a:rPr lang="en-US" sz="2000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000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["/>
                        <m:endChr m:val="]"/>
                        <m:ctrlPr>
                          <a:rPr lang="en-US" sz="20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ru-RU" sz="200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sz="2000" i="1" dirty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2000" b="1" i="1" dirty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𝒚</m:t>
                                </m:r>
                              </m:e>
                            </m:acc>
                          </m:e>
                          <m:sub>
                            <m:r>
                              <a:rPr lang="ru-RU" sz="200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𝑙𝑜𝑤</m:t>
                            </m:r>
                          </m:sub>
                        </m:sSub>
                        <m:r>
                          <a:rPr lang="ru-RU" sz="20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ru-RU" sz="200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sz="2000" i="1" dirty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2000" b="1" i="1" dirty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𝒚</m:t>
                                </m:r>
                              </m:e>
                            </m:acc>
                          </m:e>
                          <m:sub>
                            <m:r>
                              <a:rPr lang="en-US" sz="200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h𝑖𝑔h</m:t>
                            </m:r>
                          </m:sub>
                        </m:sSub>
                      </m:e>
                    </m:d>
                  </m:oMath>
                </a14:m>
                <a:r>
                  <a:rPr lang="ru-RU" sz="2000" dirty="0" smtClean="0"/>
                  <a:t> - число попаданий в оценки интервала</a:t>
                </a:r>
                <a:endParaRPr lang="ru-RU" sz="2000" dirty="0"/>
              </a:p>
              <a:p>
                <a:pPr lvl="1"/>
                <a:r>
                  <a:rPr lang="ru-RU" sz="2000" dirty="0"/>
                  <a:t>Например, для 95%-</a:t>
                </a:r>
                <a:r>
                  <a:rPr lang="ru-RU" sz="2000" dirty="0" err="1"/>
                  <a:t>го</a:t>
                </a:r>
                <a:r>
                  <a:rPr lang="ru-RU" sz="2000" dirty="0"/>
                  <a:t> интервала ожидается покрытие около 95</a:t>
                </a:r>
                <a:r>
                  <a:rPr lang="ru-RU" sz="2000" dirty="0" smtClean="0"/>
                  <a:t>%.</a:t>
                </a:r>
                <a:endParaRPr lang="en-US" sz="2000" dirty="0" smtClean="0"/>
              </a:p>
              <a:p>
                <a:pPr marL="0" indent="0">
                  <a:buNone/>
                </a:pPr>
                <a:r>
                  <a:rPr lang="ru-RU" sz="2000" b="1" dirty="0" err="1"/>
                  <a:t>Mean</a:t>
                </a:r>
                <a:r>
                  <a:rPr lang="ru-RU" sz="2000" b="1" dirty="0"/>
                  <a:t> </a:t>
                </a:r>
                <a:r>
                  <a:rPr lang="ru-RU" sz="2000" b="1" dirty="0" err="1"/>
                  <a:t>Width</a:t>
                </a:r>
                <a:r>
                  <a:rPr lang="ru-RU" sz="2000" b="1" dirty="0"/>
                  <a:t> </a:t>
                </a:r>
                <a:r>
                  <a:rPr lang="ru-RU" sz="2000" dirty="0"/>
                  <a:t>(Средняя ширина интервала)</a:t>
                </a:r>
                <a:endParaRPr lang="ru-RU" sz="2000" b="1" dirty="0"/>
              </a:p>
              <a:p>
                <a:r>
                  <a:rPr lang="ru-RU" sz="2000" dirty="0"/>
                  <a:t>Мера неопределённости: чем уже интервал, тем точнее модель при той же уверенности</a:t>
                </a:r>
                <a:r>
                  <a:rPr lang="ru-RU" sz="2000" dirty="0" smtClean="0"/>
                  <a:t>.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000"/>
                      <m:t>Width</m:t>
                    </m:r>
                    <m:r>
                      <a:rPr lang="ru-RU" sz="2000" i="1" dirty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0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US" sz="2000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  <m:r>
                          <m:rPr>
                            <m:sty m:val="p"/>
                          </m:rPr>
                          <a:rPr lang="en-US" sz="2000" b="0" i="0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W</m:t>
                        </m:r>
                      </m:den>
                    </m:f>
                    <m:r>
                      <a:rPr lang="en-US" sz="2000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∑</m:t>
                    </m:r>
                    <m:d>
                      <m:dPr>
                        <m:ctrlPr>
                          <a:rPr lang="en-US" sz="2000" b="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ru-RU" sz="200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sz="2000" i="1" dirty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2000" b="1" i="1" dirty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𝒚</m:t>
                                </m:r>
                              </m:e>
                            </m:acc>
                          </m:e>
                          <m:sub>
                            <m:r>
                              <a:rPr lang="en-US" sz="200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h𝑖𝑔h</m:t>
                            </m:r>
                          </m:sub>
                        </m:sSub>
                        <m:r>
                          <a:rPr lang="en-US" sz="2000" b="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ru-RU" sz="200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sz="2000" i="1" dirty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2000" b="1" i="1" dirty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𝒚</m:t>
                                </m:r>
                              </m:e>
                            </m:acc>
                          </m:e>
                          <m:sub>
                            <m:r>
                              <a:rPr lang="ru-RU" sz="200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𝑙𝑜𝑤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2000" dirty="0" smtClean="0"/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000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W</m:t>
                    </m:r>
                    <m:r>
                      <a:rPr lang="en-US" sz="2000" b="0" i="0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−</m:t>
                    </m:r>
                    <m:r>
                      <a:rPr lang="ru-RU" sz="2000" b="0" i="0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нормированная ширина интервала</m:t>
                    </m:r>
                  </m:oMath>
                </a14:m>
                <a:endParaRPr lang="ru-RU" sz="2000" dirty="0"/>
              </a:p>
              <a:p>
                <a:pPr marL="0" indent="0">
                  <a:buNone/>
                </a:pPr>
                <a:endParaRPr lang="ru-RU" sz="2000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16582" y="619868"/>
                <a:ext cx="9147060" cy="5958673"/>
              </a:xfrm>
              <a:blipFill>
                <a:blip r:embed="rId3"/>
                <a:stretch>
                  <a:fillRect l="-666" t="-614" b="-214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42</a:t>
            </a:fld>
            <a:endParaRPr lang="en-US"/>
          </a:p>
        </p:txBody>
      </p:sp>
      <p:sp>
        <p:nvSpPr>
          <p:cNvPr id="5" name="Заголовок 1"/>
          <p:cNvSpPr txBox="1">
            <a:spLocks/>
          </p:cNvSpPr>
          <p:nvPr/>
        </p:nvSpPr>
        <p:spPr>
          <a:xfrm>
            <a:off x="233633" y="181378"/>
            <a:ext cx="11551584" cy="59496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b="1" dirty="0" smtClean="0"/>
              <a:t>Оценка интервала </a:t>
            </a:r>
            <a:r>
              <a:rPr lang="ru-RU" b="1" dirty="0" err="1" smtClean="0"/>
              <a:t>пресдказания</a:t>
            </a:r>
            <a:r>
              <a:rPr lang="ru-RU" b="1" dirty="0" smtClean="0"/>
              <a:t> ВР</a:t>
            </a:r>
            <a:endParaRPr lang="ru-RU" b="1" dirty="0"/>
          </a:p>
        </p:txBody>
      </p:sp>
      <p:sp>
        <p:nvSpPr>
          <p:cNvPr id="2" name="Прямоугольник 1"/>
          <p:cNvSpPr/>
          <p:nvPr/>
        </p:nvSpPr>
        <p:spPr>
          <a:xfrm>
            <a:off x="5138057" y="6547118"/>
            <a:ext cx="6096000" cy="26161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sz="1100" dirty="0"/>
              <a:t>https://nixtlaverse.nixtla.io/mlforecast/docs/tutorials/prediction_intervals_in_forecasting_models.html</a:t>
            </a:r>
          </a:p>
        </p:txBody>
      </p:sp>
      <p:pic>
        <p:nvPicPr>
          <p:cNvPr id="12290" name="Picture 2" descr="r - Confidence Intervals for Mean Difference between Actuals and Forecast -  Cross Validated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14804" y="776748"/>
            <a:ext cx="3060614" cy="21861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Прямоугольник 5"/>
          <p:cNvSpPr/>
          <p:nvPr/>
        </p:nvSpPr>
        <p:spPr>
          <a:xfrm>
            <a:off x="9312173" y="5567085"/>
            <a:ext cx="2714714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200" dirty="0"/>
              <a:t>https://stats.stackexchange.com/questions/323071/confidence-intervals-for-mean-difference-between-actuals-and-forecast</a:t>
            </a:r>
          </a:p>
        </p:txBody>
      </p:sp>
      <p:pic>
        <p:nvPicPr>
          <p:cNvPr id="12292" name="Picture 4" descr="enter image description here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00041" y="3049941"/>
            <a:ext cx="2890140" cy="23398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757414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>
              <a:xfrm>
                <a:off x="152789" y="762801"/>
                <a:ext cx="7047650" cy="5958673"/>
              </a:xfrm>
            </p:spPr>
            <p:txBody>
              <a:bodyPr>
                <a:noAutofit/>
              </a:bodyPr>
              <a:lstStyle/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buNone/>
                </a:pPr>
                <a:r>
                  <a:rPr lang="ru-RU" sz="2000" i="1" dirty="0" smtClean="0"/>
                  <a:t>Оценка покрытия всего распределения:</a:t>
                </a:r>
              </a:p>
              <a:p>
                <a:pPr marL="0" indent="0" algn="ctr">
                  <a:lnSpc>
                    <a:spcPct val="100000"/>
                  </a:lnSpc>
                  <a:spcBef>
                    <a:spcPts val="0"/>
                  </a:spcBef>
                  <a:buNone/>
                </a:pP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𝐶𝑅𝐼𝑆𝑃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ru-RU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𝜏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)=</m:t>
                    </m:r>
                    <m:nary>
                      <m:nary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200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∞</m:t>
                        </m:r>
                      </m:sub>
                      <m: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∞</m:t>
                        </m:r>
                      </m:sup>
                      <m:e>
                        <m:d>
                          <m:d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acc>
                              <m:accPr>
                                <m:chr m:val="̂"/>
                                <m:ctrlPr>
                                  <a:rPr lang="en-US" sz="2000" b="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𝐹</m:t>
                                </m:r>
                              </m:e>
                            </m:acc>
                            <m:d>
                              <m:dPr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acc>
                                  <m:accPr>
                                    <m:chr m:val="̂"/>
                                    <m:ctrlP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</m:acc>
                              </m:e>
                            </m:d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𝐻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d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𝑑𝑥</m:t>
                        </m:r>
                      </m:e>
                    </m:nary>
                  </m:oMath>
                </a14:m>
                <a:r>
                  <a:rPr lang="ru-RU" sz="2000" dirty="0" smtClean="0"/>
                  <a:t> </a:t>
                </a:r>
                <a:endParaRPr lang="ru-RU" sz="2000" dirty="0"/>
              </a:p>
              <a:p>
                <a:pPr marL="457200" lvl="1" indent="0">
                  <a:lnSpc>
                    <a:spcPct val="100000"/>
                  </a:lnSpc>
                  <a:spcBef>
                    <a:spcPts val="0"/>
                  </a:spcBef>
                  <a:buNone/>
                </a:pPr>
                <a:r>
                  <a:rPr lang="ru-RU" sz="2000" dirty="0"/>
                  <a:t>где</a:t>
                </a:r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2000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</m:acc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̂"/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e>
                    </m:d>
                  </m:oMath>
                </a14:m>
                <a:r>
                  <a:rPr lang="ru-RU" sz="2000" dirty="0" smtClean="0"/>
                  <a:t>—</a:t>
                </a:r>
                <a:r>
                  <a:rPr lang="en-US" sz="2000" dirty="0" smtClean="0"/>
                  <a:t> </a:t>
                </a:r>
                <a:r>
                  <a:rPr lang="ru-RU" sz="2000" dirty="0" smtClean="0"/>
                  <a:t>оценка кумулятивного </a:t>
                </a:r>
                <a:r>
                  <a:rPr lang="ru-RU" sz="2000" dirty="0"/>
                  <a:t>распределение для х,</a:t>
                </a:r>
              </a:p>
              <a:p>
                <a:pPr marL="457200" lvl="1" indent="0">
                  <a:lnSpc>
                    <a:spcPct val="100000"/>
                  </a:lnSpc>
                  <a:spcBef>
                    <a:spcPts val="0"/>
                  </a:spcBef>
                  <a:buNone/>
                </a:pP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𝐻</m:t>
                    </m:r>
                    <m:r>
                      <a:rPr lang="ru-RU" sz="2000" i="1" dirty="0" smtClean="0">
                        <a:latin typeface="Cambria Math" panose="02040503050406030204" pitchFamily="18" charset="0"/>
                      </a:rPr>
                      <m:t>(х</m:t>
                    </m:r>
                    <m:r>
                      <a:rPr lang="ru-RU" sz="2000" i="1" dirty="0"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sz="2000" i="1" dirty="0">
                        <a:latin typeface="Cambria Math" panose="02040503050406030204" pitchFamily="18" charset="0"/>
                      </a:rPr>
                      <m:t>max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⁡(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,0)/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ru-RU" sz="2000" dirty="0"/>
                  <a:t> </a:t>
                </a:r>
                <a:r>
                  <a:rPr lang="ru-RU" sz="2000" dirty="0" smtClean="0"/>
                  <a:t>(ступенька)</a:t>
                </a:r>
                <a:r>
                  <a:rPr lang="ru-RU" sz="2000" dirty="0"/>
                  <a:t> )— это функция </a:t>
                </a:r>
                <a:r>
                  <a:rPr lang="ru-RU" sz="2000" dirty="0" err="1"/>
                  <a:t>Хевисайда</a:t>
                </a:r>
                <a:r>
                  <a:rPr lang="en-US" sz="2000" dirty="0"/>
                  <a:t> </a:t>
                </a:r>
                <a:endParaRPr lang="ru-RU" sz="2000" dirty="0" smtClean="0"/>
              </a:p>
              <a:p>
                <a:pPr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ru-RU" sz="2000" dirty="0">
                    <a:latin typeface="Roboto" panose="02000000000000000000" pitchFamily="2" charset="0"/>
                  </a:rPr>
                  <a:t>Функция сравнивает распределение с единичной ступенью</a:t>
                </a:r>
                <a:endParaRPr lang="ru-RU" sz="2000" i="1" dirty="0" smtClean="0"/>
              </a:p>
              <a:p>
                <a:pPr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ru-RU" sz="2000" i="1" dirty="0" smtClean="0"/>
                  <a:t>Чем </a:t>
                </a:r>
                <a:r>
                  <a:rPr lang="ru-RU" sz="2000" i="1" dirty="0"/>
                  <a:t>больше площадь между кривыми – тем хуже прогноз</a:t>
                </a:r>
                <a:r>
                  <a:rPr lang="ru-RU" sz="2000" i="1" dirty="0" smtClean="0"/>
                  <a:t>.</a:t>
                </a:r>
              </a:p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buNone/>
                </a:pPr>
                <a:r>
                  <a:rPr lang="ru-RU" sz="2000" b="1" dirty="0"/>
                  <a:t>Плюсы</a:t>
                </a:r>
                <a:r>
                  <a:rPr lang="ru-RU" sz="2000" dirty="0"/>
                  <a:t>:</a:t>
                </a:r>
                <a:endParaRPr lang="en-US" sz="2000" dirty="0"/>
              </a:p>
              <a:p>
                <a:pPr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ru-RU" sz="2000" dirty="0" smtClean="0"/>
                  <a:t>Учитывает все распределение прогноза.</a:t>
                </a:r>
              </a:p>
              <a:p>
                <a:pPr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ru-RU" sz="2000" dirty="0" smtClean="0"/>
                  <a:t>Интерпретируемость результатов.</a:t>
                </a:r>
              </a:p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buNone/>
                </a:pPr>
                <a:r>
                  <a:rPr lang="ru-RU" sz="2000" b="1" dirty="0" smtClean="0"/>
                  <a:t>Минусы</a:t>
                </a:r>
                <a:r>
                  <a:rPr lang="ru-RU" sz="2000" dirty="0" smtClean="0"/>
                  <a:t>: </a:t>
                </a:r>
              </a:p>
              <a:p>
                <a:pPr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ru-RU" sz="2000" dirty="0" smtClean="0"/>
                  <a:t>сложность вычисления, </a:t>
                </a:r>
              </a:p>
              <a:p>
                <a:pPr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ru-RU" sz="2000" dirty="0" smtClean="0"/>
                  <a:t>требуется набор моделей (аппроксимация распределения)</a:t>
                </a:r>
              </a:p>
              <a:p>
                <a:pPr lvl="1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ru-RU" sz="2000" dirty="0" smtClean="0"/>
                  <a:t>или гипотеза о распределение остатков.</a:t>
                </a:r>
              </a:p>
              <a:p>
                <a:pPr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ru-RU" sz="2000" dirty="0" smtClean="0"/>
                  <a:t>значимость отдельных квантилей теряется</a:t>
                </a:r>
                <a:endParaRPr lang="ru-RU" sz="2000" dirty="0"/>
              </a:p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buNone/>
                </a:pPr>
                <a:r>
                  <a:rPr lang="ru-RU" sz="2000" b="1" dirty="0" smtClean="0"/>
                  <a:t>Применение</a:t>
                </a:r>
                <a:r>
                  <a:rPr lang="ru-RU" sz="2000" dirty="0" smtClean="0"/>
                  <a:t>: </a:t>
                </a:r>
              </a:p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buNone/>
                </a:pPr>
                <a:r>
                  <a:rPr lang="ru-RU" sz="2000" dirty="0" smtClean="0"/>
                  <a:t>сравнение двух вероятностных моделей или гипотез об остатках</a:t>
                </a:r>
                <a:endParaRPr lang="ru-RU" sz="2000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52789" y="762801"/>
                <a:ext cx="7047650" cy="5958673"/>
              </a:xfrm>
              <a:blipFill>
                <a:blip r:embed="rId3"/>
                <a:stretch>
                  <a:fillRect l="-865" t="-4908" r="-77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43</a:t>
            </a:fld>
            <a:endParaRPr lang="en-US"/>
          </a:p>
        </p:txBody>
      </p:sp>
      <p:sp>
        <p:nvSpPr>
          <p:cNvPr id="5" name="Заголовок 1"/>
          <p:cNvSpPr txBox="1">
            <a:spLocks/>
          </p:cNvSpPr>
          <p:nvPr/>
        </p:nvSpPr>
        <p:spPr>
          <a:xfrm>
            <a:off x="233633" y="181378"/>
            <a:ext cx="11551584" cy="59496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b="1" dirty="0" smtClean="0"/>
              <a:t>Оценка распределения </a:t>
            </a:r>
            <a:r>
              <a:rPr lang="ru-RU" b="1" dirty="0" err="1" smtClean="0"/>
              <a:t>пресдказания</a:t>
            </a:r>
            <a:r>
              <a:rPr lang="ru-RU" b="1" dirty="0" smtClean="0"/>
              <a:t> ВР</a:t>
            </a:r>
            <a:endParaRPr lang="ru-RU" b="1" dirty="0"/>
          </a:p>
        </p:txBody>
      </p:sp>
      <p:pic>
        <p:nvPicPr>
          <p:cNvPr id="10" name="Рисунок 9"/>
          <p:cNvPicPr>
            <a:picLocks noChangeAspect="1"/>
          </p:cNvPicPr>
          <p:nvPr/>
        </p:nvPicPr>
        <p:blipFill rotWithShape="1">
          <a:blip r:embed="rId4"/>
          <a:srcRect t="4284" r="10817" b="13293"/>
          <a:stretch/>
        </p:blipFill>
        <p:spPr>
          <a:xfrm>
            <a:off x="7228839" y="797688"/>
            <a:ext cx="4124961" cy="2514369"/>
          </a:xfrm>
          <a:prstGeom prst="rect">
            <a:avLst/>
          </a:prstGeom>
        </p:spPr>
      </p:pic>
      <p:sp>
        <p:nvSpPr>
          <p:cNvPr id="11" name="Прямоугольник 10"/>
          <p:cNvSpPr/>
          <p:nvPr/>
        </p:nvSpPr>
        <p:spPr>
          <a:xfrm>
            <a:off x="7536155" y="3472863"/>
            <a:ext cx="4404695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>
                <a:latin typeface="Roboto" panose="02000000000000000000" pitchFamily="2" charset="0"/>
              </a:rPr>
              <a:t>Функция сравнивает распределение с единичной ступенью - </a:t>
            </a:r>
            <a:r>
              <a:rPr lang="ru-RU" dirty="0"/>
              <a:t>Обобщение </a:t>
            </a:r>
            <a:r>
              <a:rPr lang="en-US" dirty="0"/>
              <a:t>MAE </a:t>
            </a:r>
            <a:r>
              <a:rPr lang="ru-RU" dirty="0"/>
              <a:t>на распределения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Прямоугольник 11"/>
              <p:cNvSpPr/>
              <p:nvPr/>
            </p:nvSpPr>
            <p:spPr>
              <a:xfrm>
                <a:off x="7200438" y="4247878"/>
                <a:ext cx="4618501" cy="48404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𝐶𝑅𝐼𝑆𝑃</m:t>
                    </m:r>
                    <m:d>
                      <m:d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ru-RU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acc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𝜏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≈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den>
                    </m:f>
                    <m:nary>
                      <m:naryPr>
                        <m:chr m:val="∑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sup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𝐿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𝜏</m:t>
                            </m:r>
                          </m:sub>
                        </m:sSub>
                        <m:r>
                          <a:rPr lang="ru-RU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ru-RU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acc>
                          </m:e>
                          <m:sub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𝜏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</m:sub>
                        </m:sSub>
                        <m:r>
                          <a:rPr lang="ru-RU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nary>
                  </m:oMath>
                </a14:m>
                <a:r>
                  <a:rPr lang="en-US" dirty="0" smtClean="0"/>
                  <a:t>, </a:t>
                </a:r>
                <a:endParaRPr lang="ru-RU" dirty="0"/>
              </a:p>
            </p:txBody>
          </p:sp>
        </mc:Choice>
        <mc:Fallback xmlns="">
          <p:sp>
            <p:nvSpPr>
              <p:cNvPr id="12" name="Прямоугольник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00438" y="4247878"/>
                <a:ext cx="4618501" cy="484043"/>
              </a:xfrm>
              <a:prstGeom prst="rect">
                <a:avLst/>
              </a:prstGeom>
              <a:blipFill>
                <a:blip r:embed="rId5"/>
                <a:stretch>
                  <a:fillRect t="-79747" b="-131646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Прямоугольник 14"/>
              <p:cNvSpPr/>
              <p:nvPr/>
            </p:nvSpPr>
            <p:spPr>
              <a:xfrm>
                <a:off x="7740859" y="4662697"/>
                <a:ext cx="4279285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ru-RU" sz="1400" dirty="0" smtClean="0">
                    <a:solidFill>
                      <a:srgbClr val="404040"/>
                    </a:solidFill>
                    <a:latin typeface="quote-cjk-patch"/>
                  </a:rPr>
                  <a:t>CRPS —"</a:t>
                </a:r>
                <a:r>
                  <a:rPr lang="ru-RU" sz="1400" dirty="0">
                    <a:solidFill>
                      <a:srgbClr val="404040"/>
                    </a:solidFill>
                    <a:latin typeface="quote-cjk-patch"/>
                  </a:rPr>
                  <a:t>усредненный" </a:t>
                </a:r>
                <a:r>
                  <a:rPr lang="ru-RU" sz="1400" dirty="0" err="1">
                    <a:solidFill>
                      <a:srgbClr val="404040"/>
                    </a:solidFill>
                    <a:latin typeface="quote-cjk-patch"/>
                  </a:rPr>
                  <a:t>Pinball</a:t>
                </a:r>
                <a:r>
                  <a:rPr lang="ru-RU" sz="1400" dirty="0">
                    <a:solidFill>
                      <a:srgbClr val="404040"/>
                    </a:solidFill>
                    <a:latin typeface="quote-cjk-patch"/>
                  </a:rPr>
                  <a:t> </a:t>
                </a:r>
                <a:r>
                  <a:rPr lang="ru-RU" sz="1400" dirty="0" err="1">
                    <a:solidFill>
                      <a:srgbClr val="404040"/>
                    </a:solidFill>
                    <a:latin typeface="quote-cjk-patch"/>
                  </a:rPr>
                  <a:t>Loss</a:t>
                </a:r>
                <a:r>
                  <a:rPr lang="ru-RU" sz="1400" dirty="0">
                    <a:solidFill>
                      <a:srgbClr val="404040"/>
                    </a:solidFill>
                    <a:latin typeface="quote-cjk-patch"/>
                  </a:rPr>
                  <a:t> по всем </a:t>
                </a:r>
                <a:r>
                  <a:rPr lang="ru-RU" sz="1400" dirty="0" smtClean="0">
                    <a:solidFill>
                      <a:srgbClr val="404040"/>
                    </a:solidFill>
                    <a:latin typeface="quote-cjk-patch"/>
                  </a:rPr>
                  <a:t>квантилям</a:t>
                </a:r>
                <a:r>
                  <a:rPr lang="en-US" sz="1400" dirty="0" smtClean="0">
                    <a:solidFill>
                      <a:srgbClr val="404040"/>
                    </a:solidFill>
                    <a:latin typeface="quote-cjk-patch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  <m:sub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sz="14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lin"/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𝑘</m:t>
                        </m:r>
                      </m:num>
                      <m:den>
                        <m:d>
                          <m:dPr>
                            <m:ctrlPr>
                              <a:rPr lang="en-US" sz="1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400" i="1">
                                <a:latin typeface="Cambria Math" panose="02040503050406030204" pitchFamily="18" charset="0"/>
                              </a:rPr>
                              <m:t>𝐾</m:t>
                            </m:r>
                            <m:r>
                              <a:rPr lang="en-US" sz="1400" i="1">
                                <a:latin typeface="Cambria Math" panose="02040503050406030204" pitchFamily="18" charset="0"/>
                              </a:rPr>
                              <m:t>+1</m:t>
                            </m:r>
                          </m:e>
                        </m:d>
                      </m:den>
                    </m:f>
                  </m:oMath>
                </a14:m>
                <a:endParaRPr lang="ru-RU" sz="1400" dirty="0"/>
              </a:p>
            </p:txBody>
          </p:sp>
        </mc:Choice>
        <mc:Fallback xmlns="">
          <p:sp>
            <p:nvSpPr>
              <p:cNvPr id="15" name="Прямоугольник 1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40859" y="4662697"/>
                <a:ext cx="4279285" cy="523220"/>
              </a:xfrm>
              <a:prstGeom prst="rect">
                <a:avLst/>
              </a:prstGeom>
              <a:blipFill>
                <a:blip r:embed="rId6"/>
                <a:stretch>
                  <a:fillRect l="-427" t="-13953" b="-90698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Прямоугольник 15"/>
          <p:cNvSpPr/>
          <p:nvPr/>
        </p:nvSpPr>
        <p:spPr>
          <a:xfrm>
            <a:off x="6021554" y="6517156"/>
            <a:ext cx="6096000" cy="307777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sz="1400" dirty="0"/>
              <a:t>https://sites.stat.washington.edu/raftery/Research/PDF/Gneiting2007jasa.pdf</a:t>
            </a:r>
          </a:p>
        </p:txBody>
      </p:sp>
      <p:cxnSp>
        <p:nvCxnSpPr>
          <p:cNvPr id="18" name="Прямая соединительная линия 17"/>
          <p:cNvCxnSpPr/>
          <p:nvPr/>
        </p:nvCxnSpPr>
        <p:spPr>
          <a:xfrm>
            <a:off x="7239008" y="3464253"/>
            <a:ext cx="0" cy="292010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Прямоугольник 18"/>
              <p:cNvSpPr/>
              <p:nvPr/>
            </p:nvSpPr>
            <p:spPr>
              <a:xfrm>
                <a:off x="7661565" y="5279000"/>
                <a:ext cx="4279285" cy="61895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ru-RU" sz="1400" dirty="0" smtClean="0">
                    <a:solidFill>
                      <a:srgbClr val="404040"/>
                    </a:solidFill>
                    <a:latin typeface="quote-cjk-patch"/>
                  </a:rPr>
                  <a:t>Альтернатива </a:t>
                </a:r>
                <a14:m>
                  <m:oMath xmlns:m="http://schemas.openxmlformats.org/officeDocument/2006/math">
                    <m:r>
                      <a:rPr lang="en-US" sz="1400" i="1" dirty="0" smtClean="0">
                        <a:solidFill>
                          <a:srgbClr val="404040"/>
                        </a:solidFill>
                        <a:latin typeface="Cambria Math" panose="02040503050406030204" pitchFamily="18" charset="0"/>
                      </a:rPr>
                      <m:t>𝐿𝑜𝑔𝑆𝑐𝑜𝑟𝑒</m:t>
                    </m:r>
                    <m:r>
                      <a:rPr lang="en-US" sz="1400" i="1" dirty="0" smtClean="0">
                        <a:solidFill>
                          <a:srgbClr val="404040"/>
                        </a:solidFill>
                        <a:latin typeface="Cambria Math" panose="02040503050406030204" pitchFamily="18" charset="0"/>
                      </a:rPr>
                      <m:t>=−</m:t>
                    </m:r>
                    <m:f>
                      <m:fPr>
                        <m:ctrlPr>
                          <a:rPr lang="en-US" sz="1400" b="0" i="1" dirty="0" smtClean="0">
                            <a:solidFill>
                              <a:srgbClr val="40404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400" b="0" i="1" dirty="0" smtClean="0">
                            <a:solidFill>
                              <a:srgbClr val="40404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1400" b="0" i="1" dirty="0" smtClean="0">
                            <a:solidFill>
                              <a:srgbClr val="404040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</m:den>
                    </m:f>
                    <m:nary>
                      <m:naryPr>
                        <m:chr m:val="∑"/>
                        <m:supHide m:val="on"/>
                        <m:ctrlPr>
                          <a:rPr lang="en-US" sz="1400" b="0" i="1" dirty="0" smtClean="0">
                            <a:solidFill>
                              <a:srgbClr val="404040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sz="1400" b="0" i="1" dirty="0" smtClean="0">
                            <a:solidFill>
                              <a:srgbClr val="40404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/>
                      <m:e>
                        <m:r>
                          <m:rPr>
                            <m:sty m:val="p"/>
                          </m:rPr>
                          <a:rPr lang="en-US" sz="1400" b="0" i="1" dirty="0" smtClean="0">
                            <a:solidFill>
                              <a:srgbClr val="404040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  <m:sSup>
                          <m:sSupPr>
                            <m:ctrlPr>
                              <a:rPr lang="en-US" sz="1400" b="0" i="1" dirty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acc>
                              <m:accPr>
                                <m:chr m:val="̂"/>
                                <m:ctrlPr>
                                  <a:rPr lang="en-US" sz="1400" i="1" dirty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1400" i="1">
                                    <a:latin typeface="Cambria Math" panose="02040503050406030204" pitchFamily="18" charset="0"/>
                                  </a:rPr>
                                  <m:t>𝐹</m:t>
                                </m:r>
                              </m:e>
                            </m:acc>
                          </m:e>
                          <m:sup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p>
                        </m:sSup>
                        <m:d>
                          <m:dPr>
                            <m:ctrlPr>
                              <a:rPr lang="en-US" sz="1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acc>
                              <m:accPr>
                                <m:chr m:val="̂"/>
                                <m:ctrlPr>
                                  <a:rPr lang="en-US" sz="1400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sSub>
                                  <m:sSubPr>
                                    <m:ctrlP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400" i="1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acc>
                          </m:e>
                        </m:d>
                      </m:e>
                    </m:nary>
                  </m:oMath>
                </a14:m>
                <a:endParaRPr lang="en-US" sz="1400" b="0" dirty="0" smtClean="0">
                  <a:solidFill>
                    <a:srgbClr val="404040"/>
                  </a:solidFill>
                  <a:latin typeface="quote-cjk-patch"/>
                </a:endParaRPr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sz="14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acc>
                          <m:accPr>
                            <m:chr m:val="̂"/>
                            <m:ctrlPr>
                              <a:rPr lang="en-US" sz="1400" i="1" dirty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400" i="1"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</m:acc>
                      </m:e>
                      <m:sup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d>
                      <m:dPr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̂"/>
                            <m:ctrlPr>
                              <a:rPr lang="en-US" sz="14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en-US" sz="1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400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sz="14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acc>
                      </m:e>
                    </m:d>
                  </m:oMath>
                </a14:m>
                <a:r>
                  <a:rPr lang="en-US" sz="1400" dirty="0" smtClean="0"/>
                  <a:t>-</a:t>
                </a:r>
                <a:r>
                  <a:rPr lang="ru-RU" sz="1400" dirty="0" smtClean="0"/>
                  <a:t>плотность распределения</a:t>
                </a:r>
                <a:r>
                  <a:rPr lang="en-US" sz="1400" dirty="0" smtClean="0"/>
                  <a:t> </a:t>
                </a:r>
                <a:r>
                  <a:rPr lang="ru-RU" sz="1400" dirty="0" smtClean="0"/>
                  <a:t>оценки на шаге </a:t>
                </a:r>
                <a:r>
                  <a:rPr lang="en-US" sz="1400" dirty="0" err="1" smtClean="0"/>
                  <a:t>i</a:t>
                </a:r>
                <a:endParaRPr lang="ru-RU" sz="1400" dirty="0"/>
              </a:p>
            </p:txBody>
          </p:sp>
        </mc:Choice>
        <mc:Fallback xmlns="">
          <p:sp>
            <p:nvSpPr>
              <p:cNvPr id="19" name="Прямоугольник 1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61565" y="5279000"/>
                <a:ext cx="4279285" cy="618952"/>
              </a:xfrm>
              <a:prstGeom prst="rect">
                <a:avLst/>
              </a:prstGeom>
              <a:blipFill>
                <a:blip r:embed="rId7"/>
                <a:stretch>
                  <a:fillRect l="-427" t="-43137" b="-3627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1" name="Прямая соединительная линия 20"/>
          <p:cNvCxnSpPr/>
          <p:nvPr/>
        </p:nvCxnSpPr>
        <p:spPr>
          <a:xfrm flipV="1">
            <a:off x="7665578" y="5227032"/>
            <a:ext cx="3688222" cy="2134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Прямоугольник 21"/>
              <p:cNvSpPr/>
              <p:nvPr/>
            </p:nvSpPr>
            <p:spPr>
              <a:xfrm>
                <a:off x="7220825" y="5935062"/>
                <a:ext cx="5035353" cy="5234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ru-RU" dirty="0" smtClean="0"/>
                  <a:t>Можно ввести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𝑆𝐹𝐶𝑅𝐼𝑆𝑃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 = </m:t>
                    </m:r>
                    <m:f>
                      <m:f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𝐶𝑅𝐼𝑆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𝑛𝑎𝑖𝑣𝑒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𝐶𝑅𝐼𝑆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𝑚𝑜𝑑𝑒𝑙</m:t>
                            </m:r>
                          </m:sub>
                        </m:sSub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𝐶𝑅𝐼𝑆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𝑛𝑎𝑖𝑣𝑒</m:t>
                            </m:r>
                          </m:sub>
                        </m:sSub>
                      </m:den>
                    </m:f>
                    <m:r>
                      <a:rPr lang="en-US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 smtClean="0"/>
                  <a:t> </a:t>
                </a:r>
                <a:endParaRPr lang="ru-RU" dirty="0"/>
              </a:p>
            </p:txBody>
          </p:sp>
        </mc:Choice>
        <mc:Fallback xmlns="">
          <p:sp>
            <p:nvSpPr>
              <p:cNvPr id="22" name="Прямоугольник 2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20825" y="5935062"/>
                <a:ext cx="5035353" cy="523477"/>
              </a:xfrm>
              <a:prstGeom prst="rect">
                <a:avLst/>
              </a:prstGeom>
              <a:blipFill>
                <a:blip r:embed="rId8"/>
                <a:stretch>
                  <a:fillRect l="-1090" b="-1176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3" name="Прямая соединительная линия 22"/>
          <p:cNvCxnSpPr/>
          <p:nvPr/>
        </p:nvCxnSpPr>
        <p:spPr>
          <a:xfrm flipV="1">
            <a:off x="7610780" y="5905834"/>
            <a:ext cx="3688222" cy="2134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243112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00443" y="102210"/>
            <a:ext cx="10927080" cy="557984"/>
          </a:xfrm>
        </p:spPr>
        <p:txBody>
          <a:bodyPr>
            <a:normAutofit fontScale="90000"/>
          </a:bodyPr>
          <a:lstStyle/>
          <a:p>
            <a:r>
              <a:rPr lang="ru-RU" dirty="0" err="1" smtClean="0"/>
              <a:t>Бенчмарки</a:t>
            </a:r>
            <a:r>
              <a:rPr lang="ru-RU" dirty="0" smtClean="0"/>
              <a:t> предсказания временных рядов</a:t>
            </a:r>
            <a:endParaRPr lang="ru-RU" dirty="0"/>
          </a:p>
        </p:txBody>
      </p:sp>
      <p:graphicFrame>
        <p:nvGraphicFramePr>
          <p:cNvPr id="5" name="Объект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81556643"/>
              </p:ext>
            </p:extLst>
          </p:nvPr>
        </p:nvGraphicFramePr>
        <p:xfrm>
          <a:off x="228598" y="1401333"/>
          <a:ext cx="11671666" cy="4494123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745472">
                  <a:extLst>
                    <a:ext uri="{9D8B030D-6E8A-4147-A177-3AD203B41FA5}">
                      <a16:colId xmlns:a16="http://schemas.microsoft.com/office/drawing/2014/main" val="361956609"/>
                    </a:ext>
                  </a:extLst>
                </a:gridCol>
                <a:gridCol w="2770616">
                  <a:extLst>
                    <a:ext uri="{9D8B030D-6E8A-4147-A177-3AD203B41FA5}">
                      <a16:colId xmlns:a16="http://schemas.microsoft.com/office/drawing/2014/main" val="334373324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1153032671"/>
                    </a:ext>
                  </a:extLst>
                </a:gridCol>
                <a:gridCol w="1619794">
                  <a:extLst>
                    <a:ext uri="{9D8B030D-6E8A-4147-A177-3AD203B41FA5}">
                      <a16:colId xmlns:a16="http://schemas.microsoft.com/office/drawing/2014/main" val="2248710687"/>
                    </a:ext>
                  </a:extLst>
                </a:gridCol>
                <a:gridCol w="1245326">
                  <a:extLst>
                    <a:ext uri="{9D8B030D-6E8A-4147-A177-3AD203B41FA5}">
                      <a16:colId xmlns:a16="http://schemas.microsoft.com/office/drawing/2014/main" val="1572364774"/>
                    </a:ext>
                  </a:extLst>
                </a:gridCol>
                <a:gridCol w="1140823">
                  <a:extLst>
                    <a:ext uri="{9D8B030D-6E8A-4147-A177-3AD203B41FA5}">
                      <a16:colId xmlns:a16="http://schemas.microsoft.com/office/drawing/2014/main" val="428262337"/>
                    </a:ext>
                  </a:extLst>
                </a:gridCol>
                <a:gridCol w="2137955">
                  <a:extLst>
                    <a:ext uri="{9D8B030D-6E8A-4147-A177-3AD203B41FA5}">
                      <a16:colId xmlns:a16="http://schemas.microsoft.com/office/drawing/2014/main" val="584638817"/>
                    </a:ext>
                  </a:extLst>
                </a:gridCol>
              </a:tblGrid>
              <a:tr h="199095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 smtClean="0">
                          <a:effectLst/>
                          <a:latin typeface="+mn-lt"/>
                          <a:ea typeface="+mn-ea"/>
                          <a:cs typeface="+mn-cs"/>
                        </a:rPr>
                        <a:t>bench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 smtClean="0">
                          <a:effectLst/>
                          <a:latin typeface="+mn-lt"/>
                          <a:ea typeface="+mn-ea"/>
                          <a:cs typeface="+mn-cs"/>
                        </a:rPr>
                        <a:t>Данные/задачи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Цель бенчмарка</a:t>
                      </a:r>
                      <a:endParaRPr lang="ru-RU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 smtClean="0">
                          <a:effectLst/>
                        </a:rPr>
                        <a:t>Модели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Метрики</a:t>
                      </a:r>
                      <a:endParaRPr lang="ru-RU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 smtClean="0">
                          <a:effectLst/>
                        </a:rPr>
                        <a:t>Победители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Выводы 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extLst>
                  <a:ext uri="{0D108BD9-81ED-4DB2-BD59-A6C34878D82A}">
                    <a16:rowId xmlns:a16="http://schemas.microsoft.com/office/drawing/2014/main" val="1178824914"/>
                  </a:ext>
                </a:extLst>
              </a:tr>
              <a:tr h="391912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M1 (1982)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 smtClean="0">
                          <a:effectLst/>
                        </a:rPr>
                        <a:t>1001 </a:t>
                      </a:r>
                      <a:r>
                        <a:rPr lang="ru-RU" sz="1600" dirty="0" err="1" smtClean="0">
                          <a:effectLst/>
                        </a:rPr>
                        <a:t>Univariate</a:t>
                      </a:r>
                      <a:r>
                        <a:rPr lang="ru-RU" sz="1600" dirty="0" smtClean="0">
                          <a:effectLst/>
                        </a:rPr>
                        <a:t> финансы, демография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Сравнение классических моделей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700" dirty="0">
                          <a:effectLst/>
                        </a:rPr>
                        <a:t>ARIMA, ETS</a:t>
                      </a:r>
                      <a:endParaRPr lang="ru-RU" sz="17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MAPE, RMSE</a:t>
                      </a:r>
                      <a:endParaRPr lang="ru-RU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ETS, ARIMA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Baseline</a:t>
                      </a:r>
                      <a:r>
                        <a:rPr lang="en-US" sz="1600" baseline="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univariate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extLst>
                  <a:ext uri="{0D108BD9-81ED-4DB2-BD59-A6C34878D82A}">
                    <a16:rowId xmlns:a16="http://schemas.microsoft.com/office/drawing/2014/main" val="1348426979"/>
                  </a:ext>
                </a:extLst>
              </a:tr>
              <a:tr h="576141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M2 (1993)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 smtClean="0">
                          <a:effectLst/>
                        </a:rPr>
                        <a:t>29 </a:t>
                      </a:r>
                      <a:r>
                        <a:rPr lang="ru-RU" sz="1600" dirty="0" err="1" smtClean="0">
                          <a:effectLst/>
                        </a:rPr>
                        <a:t>Univariate</a:t>
                      </a:r>
                      <a:r>
                        <a:rPr lang="en-US" sz="1600" dirty="0" smtClean="0">
                          <a:effectLst/>
                        </a:rPr>
                        <a:t>, real-time forecasting</a:t>
                      </a:r>
                      <a:r>
                        <a:rPr lang="ru-RU" sz="1600" dirty="0" smtClean="0">
                          <a:effectLst/>
                        </a:rPr>
                        <a:t>,</a:t>
                      </a:r>
                      <a:r>
                        <a:rPr lang="ru-RU" sz="1600" baseline="0" dirty="0" smtClean="0">
                          <a:effectLst/>
                        </a:rPr>
                        <a:t> </a:t>
                      </a:r>
                      <a:r>
                        <a:rPr lang="ru-RU" sz="1600" dirty="0" smtClean="0">
                          <a:effectLst/>
                        </a:rPr>
                        <a:t>Анализ экспертных суждений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Влияние экспертных прогнозов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700" dirty="0" err="1">
                          <a:effectLst/>
                        </a:rPr>
                        <a:t>Judgment</a:t>
                      </a:r>
                      <a:r>
                        <a:rPr lang="ru-RU" sz="1700" dirty="0">
                          <a:effectLst/>
                        </a:rPr>
                        <a:t> </a:t>
                      </a:r>
                      <a:r>
                        <a:rPr lang="ru-RU" sz="1700" dirty="0" err="1">
                          <a:effectLst/>
                        </a:rPr>
                        <a:t>vs</a:t>
                      </a:r>
                      <a:r>
                        <a:rPr lang="ru-RU" sz="1700" dirty="0">
                          <a:effectLst/>
                        </a:rPr>
                        <a:t> </a:t>
                      </a:r>
                      <a:r>
                        <a:rPr lang="ru-RU" sz="1700" dirty="0" err="1">
                          <a:effectLst/>
                        </a:rPr>
                        <a:t>models</a:t>
                      </a:r>
                      <a:endParaRPr lang="ru-RU" sz="17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RMSE, MAE</a:t>
                      </a:r>
                      <a:endParaRPr lang="ru-RU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 err="1">
                          <a:effectLst/>
                        </a:rPr>
                        <a:t>Experts</a:t>
                      </a:r>
                      <a:r>
                        <a:rPr lang="ru-RU" sz="1600" dirty="0">
                          <a:effectLst/>
                        </a:rPr>
                        <a:t> ≈ </a:t>
                      </a:r>
                      <a:r>
                        <a:rPr lang="en-US" sz="1600" dirty="0" smtClean="0">
                          <a:effectLst/>
                        </a:rPr>
                        <a:t>ETS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Модели</a:t>
                      </a:r>
                      <a:r>
                        <a:rPr lang="ru-RU" sz="1600" baseline="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не хуже экспертов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extLst>
                  <a:ext uri="{0D108BD9-81ED-4DB2-BD59-A6C34878D82A}">
                    <a16:rowId xmlns:a16="http://schemas.microsoft.com/office/drawing/2014/main" val="1062539383"/>
                  </a:ext>
                </a:extLst>
              </a:tr>
              <a:tr h="416031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M3 (2000)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 smtClean="0">
                          <a:effectLst/>
                        </a:rPr>
                        <a:t>3003 </a:t>
                      </a:r>
                      <a:r>
                        <a:rPr lang="ru-RU" sz="1600" dirty="0" err="1" smtClean="0">
                          <a:effectLst/>
                        </a:rPr>
                        <a:t>Univariate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 smtClean="0">
                          <a:effectLst/>
                        </a:rPr>
                        <a:t>универсальная модель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700" dirty="0">
                          <a:effectLst/>
                        </a:rPr>
                        <a:t>ARIMA</a:t>
                      </a:r>
                      <a:r>
                        <a:rPr lang="ru-RU" sz="1700" dirty="0" smtClean="0">
                          <a:effectLst/>
                        </a:rPr>
                        <a:t>,</a:t>
                      </a:r>
                      <a:r>
                        <a:rPr lang="en-US" sz="1700" dirty="0" smtClean="0">
                          <a:effectLst/>
                        </a:rPr>
                        <a:t> ETS,</a:t>
                      </a:r>
                      <a:r>
                        <a:rPr lang="ru-RU" sz="1700" dirty="0" smtClean="0">
                          <a:effectLst/>
                        </a:rPr>
                        <a:t> </a:t>
                      </a:r>
                      <a:r>
                        <a:rPr lang="ru-RU" sz="1700" dirty="0" err="1">
                          <a:effectLst/>
                        </a:rPr>
                        <a:t>Theta</a:t>
                      </a:r>
                      <a:endParaRPr lang="ru-RU" sz="17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SMAPE, MAPE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 smtClean="0">
                          <a:effectLst/>
                        </a:rPr>
                        <a:t>ARIMA,</a:t>
                      </a:r>
                      <a:r>
                        <a:rPr lang="en-US" sz="1600" dirty="0" smtClean="0">
                          <a:effectLst/>
                        </a:rPr>
                        <a:t> ETS,</a:t>
                      </a:r>
                      <a:r>
                        <a:rPr lang="ru-RU" sz="1600" dirty="0" smtClean="0">
                          <a:effectLst/>
                        </a:rPr>
                        <a:t> </a:t>
                      </a:r>
                      <a:r>
                        <a:rPr lang="ru-RU" sz="1600" dirty="0" err="1" smtClean="0">
                          <a:effectLst/>
                        </a:rPr>
                        <a:t>Theta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Baseline</a:t>
                      </a:r>
                      <a:r>
                        <a:rPr lang="en-US" sz="1600" baseline="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univariate</a:t>
                      </a:r>
                      <a:endParaRPr lang="ru-RU" sz="1600" dirty="0" smtClean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extLst>
                  <a:ext uri="{0D108BD9-81ED-4DB2-BD59-A6C34878D82A}">
                    <a16:rowId xmlns:a16="http://schemas.microsoft.com/office/drawing/2014/main" val="1972350284"/>
                  </a:ext>
                </a:extLst>
              </a:tr>
              <a:tr h="584729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M4 (2018)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 smtClean="0">
                          <a:effectLst/>
                        </a:rPr>
                        <a:t>10</a:t>
                      </a:r>
                      <a:r>
                        <a:rPr lang="ru-RU" sz="1600" baseline="0" dirty="0" smtClean="0">
                          <a:effectLst/>
                        </a:rPr>
                        <a:t> 000 </a:t>
                      </a:r>
                      <a:r>
                        <a:rPr lang="ru-RU" sz="1600" dirty="0" err="1" smtClean="0">
                          <a:effectLst/>
                        </a:rPr>
                        <a:t>Univariate</a:t>
                      </a:r>
                      <a:r>
                        <a:rPr lang="ru-RU" sz="1600" dirty="0" smtClean="0">
                          <a:effectLst/>
                        </a:rPr>
                        <a:t> на разных масштабах</a:t>
                      </a:r>
                      <a:r>
                        <a:rPr lang="ru-RU" sz="1600" baseline="0" dirty="0" smtClean="0">
                          <a:effectLst/>
                        </a:rPr>
                        <a:t> (год, месяц, и </a:t>
                      </a:r>
                      <a:r>
                        <a:rPr lang="ru-RU" sz="1600" baseline="0" dirty="0" err="1" smtClean="0">
                          <a:effectLst/>
                        </a:rPr>
                        <a:t>тд</a:t>
                      </a:r>
                      <a:r>
                        <a:rPr lang="ru-RU" sz="1600" baseline="0" dirty="0" smtClean="0">
                          <a:effectLst/>
                        </a:rPr>
                        <a:t>)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Масштабная проверка </a:t>
                      </a:r>
                      <a:r>
                        <a:rPr lang="ru-RU" sz="1600" dirty="0" smtClean="0">
                          <a:effectLst/>
                        </a:rPr>
                        <a:t>стратегий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700" dirty="0" smtClean="0">
                          <a:effectLst/>
                        </a:rPr>
                        <a:t>ETS </a:t>
                      </a:r>
                      <a:r>
                        <a:rPr lang="ru-RU" sz="1700" dirty="0">
                          <a:effectLst/>
                        </a:rPr>
                        <a:t>+ </a:t>
                      </a:r>
                      <a:r>
                        <a:rPr lang="ru-RU" sz="1700" dirty="0" smtClean="0">
                          <a:effectLst/>
                        </a:rPr>
                        <a:t>RNN, </a:t>
                      </a:r>
                      <a:r>
                        <a:rPr lang="ru-RU" sz="1700" dirty="0" err="1" smtClean="0">
                          <a:effectLst/>
                        </a:rPr>
                        <a:t>Theta</a:t>
                      </a:r>
                      <a:r>
                        <a:rPr lang="ru-RU" sz="1700" dirty="0" smtClean="0">
                          <a:effectLst/>
                        </a:rPr>
                        <a:t>,</a:t>
                      </a:r>
                      <a:r>
                        <a:rPr lang="ru-RU" sz="1700" baseline="0" dirty="0" smtClean="0">
                          <a:effectLst/>
                        </a:rPr>
                        <a:t> </a:t>
                      </a:r>
                      <a:r>
                        <a:rPr lang="en-US" sz="17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Prophet</a:t>
                      </a:r>
                      <a:endParaRPr lang="ru-RU" sz="17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SMAPE, MASE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 smtClean="0">
                          <a:effectLst/>
                        </a:rPr>
                        <a:t>ETS + RNN,</a:t>
                      </a:r>
                      <a:r>
                        <a:rPr lang="ru-RU" sz="1600" baseline="0" dirty="0" smtClean="0">
                          <a:effectLst/>
                        </a:rPr>
                        <a:t> </a:t>
                      </a:r>
                      <a:r>
                        <a:rPr lang="ru-RU" sz="1600" dirty="0" err="1" smtClean="0">
                          <a:effectLst/>
                        </a:rPr>
                        <a:t>Theta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Гибрид </a:t>
                      </a:r>
                      <a:r>
                        <a:rPr lang="en-US" sz="16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sz="1600" dirty="0" err="1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DL+stat</a:t>
                      </a:r>
                      <a:r>
                        <a:rPr lang="en-US" sz="16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)</a:t>
                      </a:r>
                      <a:r>
                        <a:rPr lang="en-US" sz="1600" baseline="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1600" baseline="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лучшие, </a:t>
                      </a:r>
                      <a:r>
                        <a:rPr lang="en-US" sz="1600" baseline="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Theta – runner up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extLst>
                  <a:ext uri="{0D108BD9-81ED-4DB2-BD59-A6C34878D82A}">
                    <a16:rowId xmlns:a16="http://schemas.microsoft.com/office/drawing/2014/main" val="3166983177"/>
                  </a:ext>
                </a:extLst>
              </a:tr>
              <a:tr h="620908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M5 (2020)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600" dirty="0" err="1">
                          <a:effectLst/>
                        </a:rPr>
                        <a:t>Hierarchical</a:t>
                      </a:r>
                      <a:r>
                        <a:rPr lang="ru-RU" sz="1600" dirty="0">
                          <a:effectLst/>
                        </a:rPr>
                        <a:t>, </a:t>
                      </a:r>
                      <a:r>
                        <a:rPr lang="ru-RU" sz="1600" dirty="0" err="1" smtClean="0">
                          <a:effectLst/>
                        </a:rPr>
                        <a:t>Multivariate</a:t>
                      </a:r>
                      <a:r>
                        <a:rPr lang="ru-RU" sz="1600" dirty="0" smtClean="0">
                          <a:effectLst/>
                        </a:rPr>
                        <a:t> Продажи </a:t>
                      </a:r>
                      <a:r>
                        <a:rPr lang="ru-RU" sz="1600" dirty="0" err="1" smtClean="0">
                          <a:effectLst/>
                        </a:rPr>
                        <a:t>Walmart</a:t>
                      </a:r>
                      <a:r>
                        <a:rPr lang="en-US" sz="1600" dirty="0" smtClean="0">
                          <a:effectLst/>
                        </a:rPr>
                        <a:t> </a:t>
                      </a:r>
                      <a:r>
                        <a:rPr lang="ru-RU" sz="1600" dirty="0" smtClean="0">
                          <a:effectLst/>
                        </a:rPr>
                        <a:t>на</a:t>
                      </a:r>
                      <a:r>
                        <a:rPr lang="ru-RU" sz="1600" baseline="0" dirty="0" smtClean="0">
                          <a:effectLst/>
                        </a:rPr>
                        <a:t> месяц</a:t>
                      </a:r>
                      <a:r>
                        <a:rPr lang="ru-RU" sz="1600" dirty="0" smtClean="0">
                          <a:effectLst/>
                        </a:rPr>
                        <a:t>, с категориальными признаками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 smtClean="0">
                          <a:effectLst/>
                        </a:rPr>
                        <a:t>Сложные огромные</a:t>
                      </a:r>
                      <a:r>
                        <a:rPr lang="ru-RU" sz="1600" baseline="0" dirty="0" smtClean="0">
                          <a:effectLst/>
                        </a:rPr>
                        <a:t> </a:t>
                      </a:r>
                      <a:r>
                        <a:rPr lang="en-US" sz="1600" baseline="0" dirty="0" smtClean="0">
                          <a:effectLst/>
                        </a:rPr>
                        <a:t>industrial</a:t>
                      </a:r>
                      <a:r>
                        <a:rPr lang="ru-RU" sz="1600" baseline="0" dirty="0" smtClean="0">
                          <a:effectLst/>
                        </a:rPr>
                        <a:t> ВР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7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LightGBM</a:t>
                      </a:r>
                      <a:r>
                        <a:rPr lang="ru-RU" sz="17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ru-RU" sz="17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XGBoost</a:t>
                      </a:r>
                      <a:r>
                        <a:rPr lang="ru-RU" sz="17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en-US" sz="17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Transformer</a:t>
                      </a:r>
                      <a:endParaRPr lang="ru-RU" sz="17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248" marR="4248" marT="4248" marB="424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 smtClean="0">
                          <a:effectLst/>
                        </a:rPr>
                        <a:t>WRMSSE,</a:t>
                      </a:r>
                      <a:r>
                        <a:rPr lang="ru-RU" sz="1600" baseline="0" dirty="0" smtClean="0">
                          <a:effectLst/>
                        </a:rPr>
                        <a:t> </a:t>
                      </a:r>
                      <a:r>
                        <a:rPr lang="ru-RU" sz="1600" dirty="0" err="1" smtClean="0">
                          <a:effectLst/>
                        </a:rPr>
                        <a:t>pinball</a:t>
                      </a:r>
                      <a:r>
                        <a:rPr lang="ru-RU" sz="1600" dirty="0" smtClean="0">
                          <a:effectLst/>
                        </a:rPr>
                        <a:t> </a:t>
                      </a:r>
                      <a:r>
                        <a:rPr lang="ru-RU" sz="1600" dirty="0" err="1" smtClean="0">
                          <a:effectLst/>
                        </a:rPr>
                        <a:t>loss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 err="1" smtClean="0">
                          <a:effectLst/>
                        </a:rPr>
                        <a:t>LightGBM</a:t>
                      </a:r>
                      <a:r>
                        <a:rPr lang="en-US" sz="1600" dirty="0" smtClean="0">
                          <a:effectLst/>
                        </a:rPr>
                        <a:t>+feature engineering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Продвинутый </a:t>
                      </a:r>
                      <a:r>
                        <a:rPr lang="ru-RU" sz="1600" dirty="0" err="1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фичи</a:t>
                      </a:r>
                      <a:r>
                        <a:rPr lang="ru-RU" sz="1600" baseline="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-</a:t>
                      </a:r>
                      <a:r>
                        <a:rPr lang="en-US" sz="1600" baseline="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1600" baseline="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не хуже </a:t>
                      </a:r>
                      <a:r>
                        <a:rPr lang="en-US" sz="1600" baseline="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DL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extLst>
                  <a:ext uri="{0D108BD9-81ED-4DB2-BD59-A6C34878D82A}">
                    <a16:rowId xmlns:a16="http://schemas.microsoft.com/office/drawing/2014/main" val="3531242361"/>
                  </a:ext>
                </a:extLst>
              </a:tr>
              <a:tr h="584729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M6 (2024)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 err="1" smtClean="0">
                          <a:effectLst/>
                        </a:rPr>
                        <a:t>Multivariate</a:t>
                      </a:r>
                      <a:endParaRPr lang="ru-RU" sz="1600" dirty="0" smtClean="0">
                        <a:effectLst/>
                      </a:endParaRPr>
                    </a:p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 err="1" smtClean="0">
                          <a:effectLst/>
                        </a:rPr>
                        <a:t>Probabilistic</a:t>
                      </a:r>
                      <a:r>
                        <a:rPr lang="ru-RU" sz="1600" dirty="0">
                          <a:effectLst/>
                        </a:rPr>
                        <a:t>, </a:t>
                      </a:r>
                      <a:r>
                        <a:rPr lang="ru-RU" sz="1600" dirty="0" smtClean="0">
                          <a:effectLst/>
                        </a:rPr>
                        <a:t>Финансовые данные, 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 smtClean="0">
                          <a:effectLst/>
                        </a:rPr>
                        <a:t>Вероятностное</a:t>
                      </a:r>
                      <a:r>
                        <a:rPr lang="ru-RU" sz="1600" baseline="0" dirty="0" smtClean="0">
                          <a:effectLst/>
                        </a:rPr>
                        <a:t> </a:t>
                      </a:r>
                      <a:r>
                        <a:rPr lang="ru-RU" sz="1600" dirty="0" smtClean="0">
                          <a:effectLst/>
                        </a:rPr>
                        <a:t>Прогнозирование фин.</a:t>
                      </a:r>
                      <a:r>
                        <a:rPr lang="ru-RU" sz="1600" baseline="0" dirty="0" smtClean="0">
                          <a:effectLst/>
                        </a:rPr>
                        <a:t> сектор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700" dirty="0" err="1">
                          <a:effectLst/>
                        </a:rPr>
                        <a:t>DeepAR</a:t>
                      </a:r>
                      <a:r>
                        <a:rPr lang="ru-RU" sz="1700" dirty="0">
                          <a:effectLst/>
                        </a:rPr>
                        <a:t>, </a:t>
                      </a:r>
                      <a:r>
                        <a:rPr lang="en-US" sz="1700" b="0" i="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AutoTS</a:t>
                      </a:r>
                      <a:r>
                        <a:rPr lang="ru-RU" sz="1700" dirty="0" smtClean="0">
                          <a:effectLst/>
                        </a:rPr>
                        <a:t>, </a:t>
                      </a:r>
                      <a:r>
                        <a:rPr lang="en-US" sz="1700" dirty="0" err="1" smtClean="0">
                          <a:effectLst/>
                        </a:rPr>
                        <a:t>TimeGPT</a:t>
                      </a:r>
                      <a:endParaRPr lang="ru-RU" sz="17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CRPS, </a:t>
                      </a:r>
                      <a:r>
                        <a:rPr lang="ru-RU" sz="1600" dirty="0" err="1">
                          <a:effectLst/>
                        </a:rPr>
                        <a:t>pinball</a:t>
                      </a:r>
                      <a:r>
                        <a:rPr lang="ru-RU" sz="1600" dirty="0">
                          <a:effectLst/>
                        </a:rPr>
                        <a:t> </a:t>
                      </a:r>
                      <a:r>
                        <a:rPr lang="ru-RU" sz="1600" dirty="0" err="1">
                          <a:effectLst/>
                        </a:rPr>
                        <a:t>loss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 smtClean="0">
                          <a:effectLst/>
                        </a:rPr>
                        <a:t> </a:t>
                      </a:r>
                      <a:r>
                        <a:rPr lang="ru-RU" sz="1600" dirty="0" smtClean="0">
                          <a:effectLst/>
                        </a:rPr>
                        <a:t>еще</a:t>
                      </a:r>
                      <a:r>
                        <a:rPr lang="ru-RU" sz="1600" baseline="0" dirty="0" smtClean="0">
                          <a:effectLst/>
                        </a:rPr>
                        <a:t> идет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 smtClean="0">
                          <a:effectLst/>
                        </a:rPr>
                        <a:t>еще</a:t>
                      </a:r>
                      <a:r>
                        <a:rPr lang="ru-RU" sz="1600" baseline="0" dirty="0" smtClean="0">
                          <a:effectLst/>
                        </a:rPr>
                        <a:t> идет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extLst>
                  <a:ext uri="{0D108BD9-81ED-4DB2-BD59-A6C34878D82A}">
                    <a16:rowId xmlns:a16="http://schemas.microsoft.com/office/drawing/2014/main" val="2449646058"/>
                  </a:ext>
                </a:extLst>
              </a:tr>
            </a:tbl>
          </a:graphicData>
        </a:graphic>
      </p:graphicFrame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44</a:t>
            </a:fld>
            <a:endParaRPr lang="en-US"/>
          </a:p>
        </p:txBody>
      </p:sp>
      <p:sp>
        <p:nvSpPr>
          <p:cNvPr id="6" name="Прямоугольник 5"/>
          <p:cNvSpPr/>
          <p:nvPr/>
        </p:nvSpPr>
        <p:spPr>
          <a:xfrm>
            <a:off x="0" y="7051740"/>
            <a:ext cx="11821887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 smtClean="0"/>
              <a:t>M6: </a:t>
            </a:r>
            <a:r>
              <a:rPr lang="ru-RU" sz="1400" dirty="0" smtClean="0">
                <a:hlinkClick r:id="rId3"/>
              </a:rPr>
              <a:t>https</a:t>
            </a:r>
            <a:r>
              <a:rPr lang="ru-RU" sz="1400" dirty="0">
                <a:hlinkClick r:id="rId3"/>
              </a:rPr>
              <a:t>://</a:t>
            </a:r>
            <a:r>
              <a:rPr lang="ru-RU" sz="1400" dirty="0" smtClean="0">
                <a:hlinkClick r:id="rId3"/>
              </a:rPr>
              <a:t>www.sciencedirect.com/science/article/pii/S0169207024001079</a:t>
            </a:r>
            <a:r>
              <a:rPr lang="en-US" sz="1400" dirty="0"/>
              <a:t> </a:t>
            </a:r>
            <a:r>
              <a:rPr lang="en-US" sz="1400" dirty="0">
                <a:hlinkClick r:id="rId4"/>
              </a:rPr>
              <a:t>https://</a:t>
            </a:r>
            <a:r>
              <a:rPr lang="en-US" sz="1400" dirty="0" smtClean="0">
                <a:hlinkClick r:id="rId4"/>
              </a:rPr>
              <a:t>m-e-gorelli.medium.com/how-i-won-6-000-in-the-m6-forecasting-competition-888df68bf132</a:t>
            </a:r>
            <a:r>
              <a:rPr lang="en-US" sz="1400" dirty="0" smtClean="0"/>
              <a:t> </a:t>
            </a:r>
            <a:endParaRPr lang="ru-RU" sz="1400" dirty="0"/>
          </a:p>
        </p:txBody>
      </p:sp>
      <p:sp>
        <p:nvSpPr>
          <p:cNvPr id="7" name="Прямоугольник 6"/>
          <p:cNvSpPr/>
          <p:nvPr/>
        </p:nvSpPr>
        <p:spPr>
          <a:xfrm>
            <a:off x="0" y="6940274"/>
            <a:ext cx="13611498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 smtClean="0"/>
              <a:t>M5: </a:t>
            </a:r>
            <a:r>
              <a:rPr lang="ru-RU" sz="1200" dirty="0" smtClean="0">
                <a:hlinkClick r:id="rId5"/>
              </a:rPr>
              <a:t>https</a:t>
            </a:r>
            <a:r>
              <a:rPr lang="ru-RU" sz="1200" dirty="0">
                <a:hlinkClick r:id="rId5"/>
              </a:rPr>
              <a:t>://</a:t>
            </a:r>
            <a:r>
              <a:rPr lang="ru-RU" sz="1200" dirty="0" smtClean="0">
                <a:hlinkClick r:id="rId5"/>
              </a:rPr>
              <a:t>statmodeling.stat.columbia.edu/wp-content/uploads/2021/10/M5_accuracy_competition.pdf</a:t>
            </a:r>
            <a:r>
              <a:rPr lang="en-US" sz="1200" dirty="0" smtClean="0"/>
              <a:t> </a:t>
            </a:r>
            <a:r>
              <a:rPr lang="en-US" sz="1200" dirty="0"/>
              <a:t>, https://cienciadedatos.net/documentos/py61-m5-forecasting-competition</a:t>
            </a:r>
            <a:endParaRPr lang="ru-RU" sz="1200" dirty="0"/>
          </a:p>
        </p:txBody>
      </p:sp>
      <p:sp>
        <p:nvSpPr>
          <p:cNvPr id="8" name="Прямоугольник 7"/>
          <p:cNvSpPr/>
          <p:nvPr/>
        </p:nvSpPr>
        <p:spPr>
          <a:xfrm>
            <a:off x="300443" y="673479"/>
            <a:ext cx="11787053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000" dirty="0"/>
              <a:t>Соревнования </a:t>
            </a:r>
            <a:r>
              <a:rPr lang="ru-RU" sz="2000" dirty="0" err="1"/>
              <a:t>Макридакиса</a:t>
            </a:r>
            <a:r>
              <a:rPr lang="ru-RU" sz="2000" dirty="0"/>
              <a:t> </a:t>
            </a:r>
            <a:r>
              <a:rPr lang="ru-RU" sz="2000" dirty="0" smtClean="0"/>
              <a:t>(M-</a:t>
            </a:r>
            <a:r>
              <a:rPr lang="ru-RU" sz="2000" dirty="0" err="1" smtClean="0"/>
              <a:t>Competitions</a:t>
            </a:r>
            <a:r>
              <a:rPr lang="ru-RU" sz="2000" dirty="0"/>
              <a:t>) - </a:t>
            </a:r>
            <a:r>
              <a:rPr lang="ru-RU" sz="2000" dirty="0" smtClean="0"/>
              <a:t>открытые соревнования </a:t>
            </a:r>
            <a:r>
              <a:rPr lang="ru-RU" sz="2000" dirty="0"/>
              <a:t>по оценке и сравнению точности различных методов прогнозирования временных рядов</a:t>
            </a:r>
            <a:r>
              <a:rPr lang="ru-RU" sz="2000" dirty="0" smtClean="0"/>
              <a:t>.</a:t>
            </a:r>
            <a:r>
              <a:rPr lang="en-US" sz="2000" dirty="0"/>
              <a:t> </a:t>
            </a:r>
            <a:r>
              <a:rPr lang="en-US" sz="2000" dirty="0" smtClean="0">
                <a:hlinkClick r:id="rId6"/>
              </a:rPr>
              <a:t>en.wikipedia.org/wiki/</a:t>
            </a:r>
            <a:r>
              <a:rPr lang="en-US" sz="2000" dirty="0" err="1" smtClean="0">
                <a:hlinkClick r:id="rId6"/>
              </a:rPr>
              <a:t>Makridakis_Competitions</a:t>
            </a:r>
            <a:r>
              <a:rPr lang="en-US" sz="2000" dirty="0" smtClean="0"/>
              <a:t> </a:t>
            </a:r>
            <a:endParaRPr lang="ru-RU" sz="2000" dirty="0"/>
          </a:p>
        </p:txBody>
      </p:sp>
      <p:sp>
        <p:nvSpPr>
          <p:cNvPr id="9" name="Прямоугольник 8"/>
          <p:cNvSpPr/>
          <p:nvPr/>
        </p:nvSpPr>
        <p:spPr>
          <a:xfrm>
            <a:off x="296089" y="6207821"/>
            <a:ext cx="1105771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/>
              <a:t>https://www.sciencedirect.com/science/article/pii/S0169207024001079 https://statmodeling.stat.columbia.edu/wp-content/uploads/2021/10/M5_accuracy_competition.pdf  https://cienciadedatos.net/documentos/py61-m5-forecasting-competition https://forecasters.org/resources/time-series-data/</a:t>
            </a:r>
            <a:endParaRPr lang="ru-RU" sz="1200" dirty="0"/>
          </a:p>
        </p:txBody>
      </p:sp>
    </p:spTree>
    <p:extLst>
      <p:ext uri="{BB962C8B-B14F-4D97-AF65-F5344CB8AC3E}">
        <p14:creationId xmlns:p14="http://schemas.microsoft.com/office/powerpoint/2010/main" val="39553846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00443" y="102210"/>
            <a:ext cx="10927080" cy="557984"/>
          </a:xfrm>
        </p:spPr>
        <p:txBody>
          <a:bodyPr>
            <a:normAutofit fontScale="90000"/>
          </a:bodyPr>
          <a:lstStyle/>
          <a:p>
            <a:r>
              <a:rPr lang="ru-RU" dirty="0" err="1" smtClean="0"/>
              <a:t>Бенчмарки</a:t>
            </a:r>
            <a:r>
              <a:rPr lang="ru-RU" dirty="0" smtClean="0"/>
              <a:t> предсказания временных рядов</a:t>
            </a:r>
            <a:endParaRPr lang="ru-RU" dirty="0"/>
          </a:p>
        </p:txBody>
      </p:sp>
      <p:graphicFrame>
        <p:nvGraphicFramePr>
          <p:cNvPr id="5" name="Объект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96932051"/>
              </p:ext>
            </p:extLst>
          </p:nvPr>
        </p:nvGraphicFramePr>
        <p:xfrm>
          <a:off x="300443" y="587484"/>
          <a:ext cx="11521444" cy="5772712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772197">
                  <a:extLst>
                    <a:ext uri="{9D8B030D-6E8A-4147-A177-3AD203B41FA5}">
                      <a16:colId xmlns:a16="http://schemas.microsoft.com/office/drawing/2014/main" val="361956609"/>
                    </a:ext>
                  </a:extLst>
                </a:gridCol>
                <a:gridCol w="2090057">
                  <a:extLst>
                    <a:ext uri="{9D8B030D-6E8A-4147-A177-3AD203B41FA5}">
                      <a16:colId xmlns:a16="http://schemas.microsoft.com/office/drawing/2014/main" val="3343733240"/>
                    </a:ext>
                  </a:extLst>
                </a:gridCol>
                <a:gridCol w="1436914">
                  <a:extLst>
                    <a:ext uri="{9D8B030D-6E8A-4147-A177-3AD203B41FA5}">
                      <a16:colId xmlns:a16="http://schemas.microsoft.com/office/drawing/2014/main" val="1153032671"/>
                    </a:ext>
                  </a:extLst>
                </a:gridCol>
                <a:gridCol w="1619924">
                  <a:extLst>
                    <a:ext uri="{9D8B030D-6E8A-4147-A177-3AD203B41FA5}">
                      <a16:colId xmlns:a16="http://schemas.microsoft.com/office/drawing/2014/main" val="2248710687"/>
                    </a:ext>
                  </a:extLst>
                </a:gridCol>
                <a:gridCol w="1210362">
                  <a:extLst>
                    <a:ext uri="{9D8B030D-6E8A-4147-A177-3AD203B41FA5}">
                      <a16:colId xmlns:a16="http://schemas.microsoft.com/office/drawing/2014/main" val="1572364774"/>
                    </a:ext>
                  </a:extLst>
                </a:gridCol>
                <a:gridCol w="1532709">
                  <a:extLst>
                    <a:ext uri="{9D8B030D-6E8A-4147-A177-3AD203B41FA5}">
                      <a16:colId xmlns:a16="http://schemas.microsoft.com/office/drawing/2014/main" val="428262337"/>
                    </a:ext>
                  </a:extLst>
                </a:gridCol>
                <a:gridCol w="1859281">
                  <a:extLst>
                    <a:ext uri="{9D8B030D-6E8A-4147-A177-3AD203B41FA5}">
                      <a16:colId xmlns:a16="http://schemas.microsoft.com/office/drawing/2014/main" val="584638817"/>
                    </a:ext>
                  </a:extLst>
                </a:gridCol>
              </a:tblGrid>
              <a:tr h="259985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 smtClean="0">
                          <a:effectLst/>
                          <a:latin typeface="+mn-lt"/>
                          <a:ea typeface="+mn-ea"/>
                          <a:cs typeface="+mn-cs"/>
                        </a:rPr>
                        <a:t>bench</a:t>
                      </a:r>
                      <a:endParaRPr lang="ru-RU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 smtClean="0">
                          <a:effectLst/>
                          <a:latin typeface="+mn-lt"/>
                          <a:ea typeface="+mn-ea"/>
                          <a:cs typeface="+mn-cs"/>
                        </a:rPr>
                        <a:t>Данные/задачи</a:t>
                      </a:r>
                      <a:endParaRPr lang="ru-RU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 smtClean="0">
                          <a:effectLst/>
                        </a:rPr>
                        <a:t>Цель</a:t>
                      </a:r>
                      <a:endParaRPr lang="ru-RU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 smtClean="0">
                          <a:effectLst/>
                        </a:rPr>
                        <a:t>Модели</a:t>
                      </a:r>
                      <a:endParaRPr lang="ru-RU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>
                          <a:effectLst/>
                        </a:rPr>
                        <a:t>Метрики</a:t>
                      </a:r>
                      <a:endParaRPr lang="ru-RU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 smtClean="0">
                          <a:effectLst/>
                        </a:rPr>
                        <a:t>Победители</a:t>
                      </a:r>
                      <a:endParaRPr lang="ru-RU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Выводы </a:t>
                      </a:r>
                      <a:endParaRPr lang="ru-RU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extLst>
                  <a:ext uri="{0D108BD9-81ED-4DB2-BD59-A6C34878D82A}">
                    <a16:rowId xmlns:a16="http://schemas.microsoft.com/office/drawing/2014/main" val="1178824914"/>
                  </a:ext>
                </a:extLst>
              </a:tr>
              <a:tr h="1027085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 b="1" dirty="0" smtClean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Температура трансформатора</a:t>
                      </a:r>
                      <a:r>
                        <a:rPr lang="ru-RU" sz="1800" b="1" baseline="0" dirty="0" smtClean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1800" b="1" dirty="0" smtClean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ETT (h/m) 2021</a:t>
                      </a:r>
                      <a:endParaRPr lang="ru-RU" sz="18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 err="1" smtClean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Multivariate</a:t>
                      </a:r>
                      <a:r>
                        <a:rPr lang="ru-RU" sz="1800" dirty="0" smtClean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(час,</a:t>
                      </a:r>
                      <a:r>
                        <a:rPr lang="ru-RU" sz="1800" baseline="0" dirty="0" smtClean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15 минут и </a:t>
                      </a:r>
                      <a:r>
                        <a:rPr lang="ru-RU" sz="1800" baseline="0" dirty="0" err="1" smtClean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тд</a:t>
                      </a:r>
                      <a:r>
                        <a:rPr lang="ru-RU" sz="1800" dirty="0" smtClean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), 39 ВР+4 </a:t>
                      </a:r>
                      <a:r>
                        <a:rPr lang="ru-RU" sz="1800" dirty="0" err="1" smtClean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экзоген</a:t>
                      </a:r>
                      <a:r>
                        <a:rPr lang="ru-RU" sz="1800" baseline="0" dirty="0" smtClean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парам.  горизонты (</a:t>
                      </a:r>
                      <a:r>
                        <a:rPr lang="ru-RU" sz="1800" dirty="0" smtClean="0"/>
                        <a:t>96-720)</a:t>
                      </a:r>
                      <a:endParaRPr lang="ru-RU" sz="18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DL-прогноз </a:t>
                      </a:r>
                      <a:r>
                        <a:rPr lang="ru-RU" sz="1800" dirty="0" smtClean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сложных ВР</a:t>
                      </a:r>
                      <a:endParaRPr lang="ru-RU" sz="18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dirty="0" smtClean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1800" dirty="0" err="1" smtClean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Transformer</a:t>
                      </a:r>
                      <a:r>
                        <a:rPr lang="ru-RU" sz="1800" dirty="0" smtClean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sz="1800" dirty="0" smtClean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LSTM,</a:t>
                      </a:r>
                      <a:r>
                        <a:rPr lang="ru-RU" sz="1800" dirty="0" smtClean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dirty="0" smtClean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N-BEATS, </a:t>
                      </a:r>
                      <a:r>
                        <a:rPr lang="ru-RU" sz="1800" dirty="0" err="1" smtClean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DLinear</a:t>
                      </a:r>
                      <a:endParaRPr lang="ru-RU" sz="18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dirty="0" smtClean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MAE, MSE</a:t>
                      </a:r>
                      <a:endParaRPr lang="ru-RU" sz="1800" dirty="0" smtClean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ru-RU" sz="18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 err="1" smtClean="0">
                          <a:latin typeface="+mn-lt"/>
                        </a:rPr>
                        <a:t>PatchTST</a:t>
                      </a:r>
                      <a:r>
                        <a:rPr lang="en-US" sz="1800" dirty="0" smtClean="0">
                          <a:latin typeface="+mn-lt"/>
                        </a:rPr>
                        <a:t>, </a:t>
                      </a:r>
                      <a:r>
                        <a:rPr lang="en-US" sz="1800" dirty="0" err="1" smtClean="0">
                          <a:latin typeface="+mn-lt"/>
                        </a:rPr>
                        <a:t>DLinear</a:t>
                      </a:r>
                      <a:endParaRPr lang="ru-RU" sz="18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 smtClean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1800" dirty="0" err="1" smtClean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Трансформер</a:t>
                      </a:r>
                      <a:r>
                        <a:rPr lang="en-US" sz="1800" dirty="0" smtClean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1800" dirty="0" smtClean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работает на </a:t>
                      </a:r>
                      <a:r>
                        <a:rPr lang="en-US" sz="1800" dirty="0" smtClean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long</a:t>
                      </a:r>
                      <a:r>
                        <a:rPr lang="en-US" sz="1800" baseline="0" dirty="0" smtClean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aseline="0" dirty="0" err="1" smtClean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horzon</a:t>
                      </a:r>
                      <a:endParaRPr lang="ru-RU" sz="18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4182936149"/>
                  </a:ext>
                </a:extLst>
              </a:tr>
              <a:tr h="521743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 smtClean="0"/>
                        <a:t>Electricity</a:t>
                      </a:r>
                      <a:r>
                        <a:rPr lang="en-US" sz="1800" baseline="0" dirty="0" smtClean="0"/>
                        <a:t> Load E</a:t>
                      </a:r>
                      <a:r>
                        <a:rPr lang="en-US" sz="1800" dirty="0" smtClean="0"/>
                        <a:t>CL</a:t>
                      </a:r>
                      <a:r>
                        <a:rPr lang="ru-RU" sz="1800" dirty="0" smtClean="0"/>
                        <a:t> 2012</a:t>
                      </a:r>
                      <a:endParaRPr lang="ru-RU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 smtClean="0"/>
                        <a:t>Multivariate</a:t>
                      </a:r>
                      <a:r>
                        <a:rPr lang="ru-RU" sz="1800" dirty="0" smtClean="0"/>
                        <a:t> 370 клиентов</a:t>
                      </a:r>
                      <a:endParaRPr lang="ru-RU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 smtClean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DL-прогноз сложных ВР</a:t>
                      </a:r>
                      <a:endParaRPr lang="ru-RU" sz="18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 smtClean="0"/>
                        <a:t>CNN, LSTM</a:t>
                      </a:r>
                      <a:endParaRPr lang="ru-RU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dirty="0" smtClean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MAE, MSE</a:t>
                      </a:r>
                      <a:endParaRPr lang="ru-RU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 smtClean="0"/>
                        <a:t>CNN, LSTM</a:t>
                      </a:r>
                      <a:endParaRPr lang="ru-RU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DL </a:t>
                      </a:r>
                      <a:r>
                        <a:rPr lang="ru-RU" sz="18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набольших</a:t>
                      </a:r>
                      <a:r>
                        <a:rPr lang="ru-RU" sz="1800" baseline="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aseline="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industrial </a:t>
                      </a:r>
                      <a:r>
                        <a:rPr lang="ru-RU" sz="1800" baseline="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наборах</a:t>
                      </a:r>
                      <a:endParaRPr lang="ru-RU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464545700"/>
                  </a:ext>
                </a:extLst>
              </a:tr>
              <a:tr h="774414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 err="1">
                          <a:effectLst/>
                        </a:rPr>
                        <a:t>TimeRecipe</a:t>
                      </a:r>
                      <a:r>
                        <a:rPr lang="ru-RU" sz="1800" dirty="0">
                          <a:effectLst/>
                        </a:rPr>
                        <a:t> (2025)</a:t>
                      </a:r>
                      <a:endParaRPr lang="ru-RU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 err="1">
                          <a:effectLst/>
                        </a:rPr>
                        <a:t>Univariate</a:t>
                      </a:r>
                      <a:r>
                        <a:rPr lang="ru-RU" sz="1800" dirty="0">
                          <a:effectLst/>
                        </a:rPr>
                        <a:t>, </a:t>
                      </a:r>
                      <a:r>
                        <a:rPr lang="ru-RU" sz="1800" dirty="0" err="1">
                          <a:effectLst/>
                        </a:rPr>
                        <a:t>Multivariate</a:t>
                      </a:r>
                      <a:r>
                        <a:rPr lang="ru-RU" sz="1800" dirty="0">
                          <a:effectLst/>
                        </a:rPr>
                        <a:t>, </a:t>
                      </a:r>
                      <a:r>
                        <a:rPr lang="ru-RU" sz="1800" dirty="0" err="1">
                          <a:effectLst/>
                        </a:rPr>
                        <a:t>Long-horizon</a:t>
                      </a:r>
                      <a:endParaRPr lang="ru-RU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 smtClean="0">
                          <a:effectLst/>
                        </a:rPr>
                        <a:t>Эксперименты с </a:t>
                      </a:r>
                      <a:r>
                        <a:rPr lang="en-US" sz="1800" dirty="0" smtClean="0">
                          <a:effectLst/>
                        </a:rPr>
                        <a:t>DL</a:t>
                      </a:r>
                      <a:r>
                        <a:rPr lang="en-US" sz="1800" baseline="0" dirty="0" smtClean="0">
                          <a:effectLst/>
                        </a:rPr>
                        <a:t> </a:t>
                      </a:r>
                      <a:r>
                        <a:rPr lang="ru-RU" sz="1800" baseline="0" dirty="0" smtClean="0">
                          <a:effectLst/>
                        </a:rPr>
                        <a:t>моделями</a:t>
                      </a:r>
                      <a:endParaRPr lang="ru-RU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>
                          <a:effectLst/>
                        </a:rPr>
                        <a:t>NHITS, </a:t>
                      </a:r>
                      <a:r>
                        <a:rPr lang="ru-RU" sz="1800" dirty="0" err="1">
                          <a:effectLst/>
                        </a:rPr>
                        <a:t>NBEATSx</a:t>
                      </a:r>
                      <a:r>
                        <a:rPr lang="ru-RU" sz="1800" dirty="0">
                          <a:effectLst/>
                        </a:rPr>
                        <a:t>, </a:t>
                      </a:r>
                      <a:r>
                        <a:rPr lang="ru-RU" sz="1800" dirty="0" err="1">
                          <a:effectLst/>
                        </a:rPr>
                        <a:t>PatchTST</a:t>
                      </a:r>
                      <a:r>
                        <a:rPr lang="ru-RU" sz="1800" dirty="0">
                          <a:effectLst/>
                        </a:rPr>
                        <a:t>, LSTM</a:t>
                      </a:r>
                      <a:endParaRPr lang="ru-RU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>
                          <a:effectLst/>
                        </a:rPr>
                        <a:t>MAE, MSE, </a:t>
                      </a:r>
                      <a:r>
                        <a:rPr lang="ru-RU" sz="1800" dirty="0" err="1">
                          <a:effectLst/>
                        </a:rPr>
                        <a:t>sMAPE</a:t>
                      </a:r>
                      <a:endParaRPr lang="ru-RU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700" dirty="0" smtClean="0">
                          <a:effectLst/>
                        </a:rPr>
                        <a:t>N-HITS</a:t>
                      </a:r>
                      <a:r>
                        <a:rPr lang="ru-RU" sz="1700" dirty="0">
                          <a:effectLst/>
                        </a:rPr>
                        <a:t>, </a:t>
                      </a:r>
                      <a:r>
                        <a:rPr lang="ru-RU" sz="1700" dirty="0" err="1">
                          <a:effectLst/>
                        </a:rPr>
                        <a:t>PatchTST</a:t>
                      </a:r>
                      <a:r>
                        <a:rPr lang="ru-RU" sz="1700" dirty="0">
                          <a:effectLst/>
                        </a:rPr>
                        <a:t>, </a:t>
                      </a:r>
                      <a:r>
                        <a:rPr lang="ru-RU" sz="1700" dirty="0" err="1" smtClean="0">
                          <a:effectLst/>
                        </a:rPr>
                        <a:t>DLinear</a:t>
                      </a:r>
                      <a:r>
                        <a:rPr lang="ru-RU" sz="1700" dirty="0" smtClean="0">
                          <a:effectLst/>
                        </a:rPr>
                        <a:t> </a:t>
                      </a:r>
                      <a:endParaRPr lang="ru-RU" sz="17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Нет</a:t>
                      </a:r>
                      <a:r>
                        <a:rPr lang="ru-RU" sz="1800" baseline="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универсального победителя</a:t>
                      </a:r>
                      <a:endParaRPr lang="ru-RU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348426979"/>
                  </a:ext>
                </a:extLst>
              </a:tr>
              <a:tr h="774414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 err="1" smtClean="0">
                          <a:effectLst/>
                        </a:rPr>
                        <a:t>ProbTS</a:t>
                      </a:r>
                      <a:endParaRPr lang="ru-RU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Probabilistic</a:t>
                      </a:r>
                      <a:r>
                        <a:rPr lang="ru-RU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ru-RU" sz="1800" dirty="0" err="1" smtClean="0">
                          <a:effectLst/>
                        </a:rPr>
                        <a:t>Multivariate</a:t>
                      </a:r>
                      <a:r>
                        <a:rPr lang="en-US" sz="1800" dirty="0" smtClean="0">
                          <a:effectLst/>
                        </a:rPr>
                        <a:t>, </a:t>
                      </a:r>
                      <a:r>
                        <a:rPr lang="ru-RU" sz="1800" dirty="0" err="1" smtClean="0">
                          <a:effectLst/>
                        </a:rPr>
                        <a:t>Univariate</a:t>
                      </a:r>
                      <a:endParaRPr lang="ru-RU" sz="18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 err="1">
                          <a:effectLst/>
                        </a:rPr>
                        <a:t>Бенчмаркинг</a:t>
                      </a:r>
                      <a:r>
                        <a:rPr lang="ru-RU" sz="1800" dirty="0">
                          <a:effectLst/>
                        </a:rPr>
                        <a:t> вероятностных моделей</a:t>
                      </a:r>
                      <a:endParaRPr lang="ru-RU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 err="1">
                          <a:effectLst/>
                        </a:rPr>
                        <a:t>DeepAR</a:t>
                      </a:r>
                      <a:r>
                        <a:rPr lang="ru-RU" sz="1800" dirty="0">
                          <a:effectLst/>
                        </a:rPr>
                        <a:t>, TFT, </a:t>
                      </a:r>
                      <a:r>
                        <a:rPr lang="ru-RU" sz="1800" dirty="0" err="1">
                          <a:effectLst/>
                        </a:rPr>
                        <a:t>Prophet</a:t>
                      </a:r>
                      <a:r>
                        <a:rPr lang="ru-RU" sz="1800" dirty="0">
                          <a:effectLst/>
                        </a:rPr>
                        <a:t>, </a:t>
                      </a:r>
                      <a:r>
                        <a:rPr lang="ru-RU" sz="1800" dirty="0" err="1">
                          <a:effectLst/>
                        </a:rPr>
                        <a:t>Copula</a:t>
                      </a:r>
                      <a:endParaRPr lang="ru-RU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>
                          <a:effectLst/>
                        </a:rPr>
                        <a:t>CRPS, </a:t>
                      </a:r>
                      <a:r>
                        <a:rPr lang="ru-RU" sz="1800" dirty="0" err="1">
                          <a:effectLst/>
                        </a:rPr>
                        <a:t>Quantile</a:t>
                      </a:r>
                      <a:r>
                        <a:rPr lang="ru-RU" sz="1800" dirty="0">
                          <a:effectLst/>
                        </a:rPr>
                        <a:t> </a:t>
                      </a:r>
                      <a:r>
                        <a:rPr lang="ru-RU" sz="1800" dirty="0" err="1">
                          <a:effectLst/>
                        </a:rPr>
                        <a:t>loss</a:t>
                      </a:r>
                      <a:endParaRPr lang="ru-RU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 smtClean="0">
                          <a:effectLst/>
                        </a:rPr>
                        <a:t>-</a:t>
                      </a:r>
                      <a:endParaRPr lang="ru-RU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 smtClean="0">
                          <a:effectLst/>
                          <a:latin typeface="+mn-lt"/>
                          <a:ea typeface="+mn-ea"/>
                          <a:cs typeface="+mn-cs"/>
                        </a:rPr>
                        <a:t>DL</a:t>
                      </a:r>
                      <a:r>
                        <a:rPr lang="en-US" sz="1800" baseline="0" dirty="0" smtClean="0"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ru-RU" sz="1800" baseline="0" dirty="0" smtClean="0">
                          <a:effectLst/>
                          <a:latin typeface="+mn-lt"/>
                          <a:ea typeface="+mn-ea"/>
                          <a:cs typeface="+mn-cs"/>
                        </a:rPr>
                        <a:t>умеет делать вероятностное прогнозирование</a:t>
                      </a:r>
                      <a:endParaRPr lang="ru-RU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062539383"/>
                  </a:ext>
                </a:extLst>
              </a:tr>
              <a:tr h="914908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 err="1" smtClean="0">
                          <a:effectLst/>
                        </a:rPr>
                        <a:t>Monash</a:t>
                      </a:r>
                      <a:r>
                        <a:rPr lang="ru-RU" sz="1800" dirty="0" smtClean="0">
                          <a:effectLst/>
                        </a:rPr>
                        <a:t> </a:t>
                      </a:r>
                      <a:r>
                        <a:rPr lang="ru-RU" sz="1800" dirty="0">
                          <a:effectLst/>
                        </a:rPr>
                        <a:t>TS </a:t>
                      </a:r>
                      <a:r>
                        <a:rPr lang="ru-RU" sz="1800" dirty="0" err="1" smtClean="0">
                          <a:effectLst/>
                        </a:rPr>
                        <a:t>Forecasting</a:t>
                      </a:r>
                      <a:endParaRPr lang="ru-RU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M1-M4, Tourism, </a:t>
                      </a:r>
                      <a:r>
                        <a:rPr lang="en-US" sz="180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Trafic</a:t>
                      </a:r>
                      <a:r>
                        <a:rPr lang="en-US" sz="18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Weather,</a:t>
                      </a:r>
                      <a:r>
                        <a:rPr lang="ru-RU" sz="18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ru-RU" sz="180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Electricity</a:t>
                      </a:r>
                      <a:r>
                        <a:rPr lang="en-US" sz="18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r>
                        <a:rPr lang="ru-RU" sz="18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и </a:t>
                      </a:r>
                      <a:r>
                        <a:rPr lang="ru-RU" sz="180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тд</a:t>
                      </a:r>
                      <a:endParaRPr lang="ru-RU" sz="18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 err="1" smtClean="0">
                          <a:effectLst/>
                        </a:rPr>
                        <a:t>academic</a:t>
                      </a:r>
                      <a:r>
                        <a:rPr lang="ru-RU" sz="1800" dirty="0" smtClean="0">
                          <a:effectLst/>
                        </a:rPr>
                        <a:t> </a:t>
                      </a:r>
                      <a:r>
                        <a:rPr lang="ru-RU" sz="1800" dirty="0" err="1" smtClean="0">
                          <a:effectLst/>
                        </a:rPr>
                        <a:t>бенчмарк</a:t>
                      </a:r>
                      <a:endParaRPr lang="ru-RU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 smtClean="0">
                          <a:effectLst/>
                          <a:latin typeface="+mn-lt"/>
                          <a:ea typeface="+mn-ea"/>
                          <a:cs typeface="+mn-cs"/>
                        </a:rPr>
                        <a:t>ARIMA,</a:t>
                      </a:r>
                      <a:r>
                        <a:rPr lang="en-US" sz="1600" baseline="0" dirty="0" smtClean="0">
                          <a:effectLst/>
                          <a:latin typeface="+mn-lt"/>
                          <a:ea typeface="+mn-ea"/>
                          <a:cs typeface="+mn-cs"/>
                        </a:rPr>
                        <a:t> Prophet, N-BEATS, D-Linear, </a:t>
                      </a:r>
                      <a:r>
                        <a:rPr lang="en-US" sz="1600" baseline="0" dirty="0" err="1" smtClean="0">
                          <a:effectLst/>
                          <a:latin typeface="+mn-lt"/>
                          <a:ea typeface="+mn-ea"/>
                          <a:cs typeface="+mn-cs"/>
                        </a:rPr>
                        <a:t>PatchTST</a:t>
                      </a:r>
                      <a:r>
                        <a:rPr lang="en-US" sz="1600" baseline="0" dirty="0" smtClean="0"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en-US" sz="1600" baseline="0" dirty="0" err="1" smtClean="0">
                          <a:effectLst/>
                          <a:latin typeface="+mn-lt"/>
                          <a:ea typeface="+mn-ea"/>
                          <a:cs typeface="+mn-cs"/>
                        </a:rPr>
                        <a:t>TimesFM</a:t>
                      </a:r>
                      <a:r>
                        <a:rPr lang="en-US" sz="1600" baseline="0" dirty="0" smtClean="0">
                          <a:effectLst/>
                          <a:latin typeface="+mn-lt"/>
                          <a:ea typeface="+mn-ea"/>
                          <a:cs typeface="+mn-cs"/>
                        </a:rPr>
                        <a:t> (</a:t>
                      </a:r>
                      <a:r>
                        <a:rPr lang="en-US" sz="1600" baseline="0" dirty="0" err="1" smtClean="0">
                          <a:effectLst/>
                          <a:latin typeface="+mn-lt"/>
                          <a:ea typeface="+mn-ea"/>
                          <a:cs typeface="+mn-cs"/>
                        </a:rPr>
                        <a:t>zs</a:t>
                      </a:r>
                      <a:r>
                        <a:rPr lang="en-US" sz="1600" baseline="0" dirty="0" smtClean="0">
                          <a:effectLst/>
                          <a:latin typeface="+mn-lt"/>
                          <a:ea typeface="+mn-ea"/>
                          <a:cs typeface="+mn-cs"/>
                        </a:rPr>
                        <a:t>), </a:t>
                      </a:r>
                      <a:r>
                        <a:rPr lang="en-US" sz="1600" baseline="0" dirty="0" err="1" smtClean="0">
                          <a:effectLst/>
                          <a:latin typeface="+mn-lt"/>
                          <a:ea typeface="+mn-ea"/>
                          <a:cs typeface="+mn-cs"/>
                        </a:rPr>
                        <a:t>catboost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 smtClean="0">
                          <a:effectLst/>
                        </a:rPr>
                        <a:t>MASE,</a:t>
                      </a:r>
                      <a:r>
                        <a:rPr lang="en-US" sz="1800" baseline="0" dirty="0" smtClean="0">
                          <a:effectLst/>
                        </a:rPr>
                        <a:t> MAE, SMAPE, </a:t>
                      </a:r>
                      <a:r>
                        <a:rPr lang="en-US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RMSE</a:t>
                      </a:r>
                      <a:r>
                        <a:rPr lang="ru-RU" sz="1800" baseline="0" dirty="0" smtClean="0">
                          <a:effectLst/>
                        </a:rPr>
                        <a:t> </a:t>
                      </a:r>
                      <a:endParaRPr lang="ru-RU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-</a:t>
                      </a:r>
                      <a:endParaRPr lang="ru-RU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-</a:t>
                      </a:r>
                      <a:endParaRPr lang="ru-RU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531242361"/>
                  </a:ext>
                </a:extLst>
              </a:tr>
              <a:tr h="774414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gift-</a:t>
                      </a:r>
                      <a:r>
                        <a:rPr lang="en-US" sz="1800" dirty="0" err="1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eval</a:t>
                      </a:r>
                      <a:endParaRPr lang="ru-RU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dirty="0" err="1" smtClean="0">
                          <a:effectLst/>
                        </a:rPr>
                        <a:t>Monash</a:t>
                      </a:r>
                      <a:r>
                        <a:rPr lang="en-US" sz="1800" dirty="0" smtClean="0">
                          <a:effectLst/>
                        </a:rPr>
                        <a:t>+3 </a:t>
                      </a:r>
                      <a:r>
                        <a:rPr lang="ru-RU" sz="1800" dirty="0" smtClean="0">
                          <a:effectLst/>
                        </a:rPr>
                        <a:t>бенча</a:t>
                      </a:r>
                      <a:br>
                        <a:rPr lang="ru-RU" sz="1800" dirty="0" smtClean="0">
                          <a:effectLst/>
                        </a:rPr>
                      </a:br>
                      <a:r>
                        <a:rPr lang="ru-RU" sz="1800" dirty="0" smtClean="0">
                          <a:effectLst/>
                        </a:rPr>
                        <a:t>Разные задачи</a:t>
                      </a:r>
                      <a:endParaRPr lang="ru-RU" sz="18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Тест </a:t>
                      </a:r>
                      <a:r>
                        <a:rPr lang="ru-RU" sz="1800" dirty="0" err="1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современ</a:t>
                      </a:r>
                      <a:r>
                        <a:rPr lang="ru-RU" sz="18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. Моделей</a:t>
                      </a:r>
                      <a:r>
                        <a:rPr lang="ru-RU" sz="1800" baseline="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endParaRPr lang="ru-RU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 baseline="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TS LLM</a:t>
                      </a:r>
                      <a:r>
                        <a:rPr lang="ru-RU" sz="1600" baseline="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sz="1600" baseline="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new RNN, Transformers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MASE,</a:t>
                      </a:r>
                      <a:r>
                        <a:rPr lang="en-US" sz="1800" baseline="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CRPS</a:t>
                      </a:r>
                      <a:endParaRPr lang="ru-RU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 err="1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xLSTM</a:t>
                      </a:r>
                      <a:r>
                        <a:rPr lang="en-US" sz="18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,</a:t>
                      </a:r>
                      <a:r>
                        <a:rPr lang="en-US" sz="1800" baseline="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aseline="0" dirty="0" err="1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Moria</a:t>
                      </a:r>
                      <a:r>
                        <a:rPr lang="en-US" sz="1800" baseline="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(</a:t>
                      </a:r>
                      <a:r>
                        <a:rPr lang="en-US" sz="1800" baseline="0" dirty="0" err="1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zs</a:t>
                      </a:r>
                      <a:r>
                        <a:rPr lang="en-US" sz="1800" baseline="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), </a:t>
                      </a:r>
                      <a:r>
                        <a:rPr lang="en-US" sz="1800" baseline="0" dirty="0" err="1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Chronos</a:t>
                      </a:r>
                      <a:endParaRPr lang="ru-RU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LLM </a:t>
                      </a:r>
                      <a:r>
                        <a:rPr lang="ru-RU" sz="1800" baseline="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на очень больших данных</a:t>
                      </a:r>
                      <a:endParaRPr lang="ru-RU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79962123"/>
                  </a:ext>
                </a:extLst>
              </a:tr>
            </a:tbl>
          </a:graphicData>
        </a:graphic>
      </p:graphicFrame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45</a:t>
            </a:fld>
            <a:endParaRPr lang="en-US" dirty="0"/>
          </a:p>
        </p:txBody>
      </p:sp>
      <p:sp>
        <p:nvSpPr>
          <p:cNvPr id="3" name="Прямоугольник 2"/>
          <p:cNvSpPr/>
          <p:nvPr/>
        </p:nvSpPr>
        <p:spPr>
          <a:xfrm>
            <a:off x="94486" y="6502660"/>
            <a:ext cx="2914259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1400" dirty="0"/>
              <a:t>https://github.com/microsoft/ProbTS</a:t>
            </a:r>
          </a:p>
        </p:txBody>
      </p:sp>
      <p:sp>
        <p:nvSpPr>
          <p:cNvPr id="10" name="Прямоугольник 9"/>
          <p:cNvSpPr/>
          <p:nvPr/>
        </p:nvSpPr>
        <p:spPr>
          <a:xfrm>
            <a:off x="3008745" y="6514123"/>
            <a:ext cx="223625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1400" dirty="0"/>
              <a:t>https://forecastingdata.org/</a:t>
            </a:r>
          </a:p>
        </p:txBody>
      </p:sp>
      <p:sp>
        <p:nvSpPr>
          <p:cNvPr id="11" name="Прямоугольник 10"/>
          <p:cNvSpPr/>
          <p:nvPr/>
        </p:nvSpPr>
        <p:spPr>
          <a:xfrm>
            <a:off x="5185965" y="6548681"/>
            <a:ext cx="2887329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1400" dirty="0"/>
              <a:t>https://arxiv.org/html/2506.06482v1</a:t>
            </a:r>
          </a:p>
        </p:txBody>
      </p:sp>
      <p:sp>
        <p:nvSpPr>
          <p:cNvPr id="12" name="Прямоугольник 11"/>
          <p:cNvSpPr/>
          <p:nvPr/>
        </p:nvSpPr>
        <p:spPr>
          <a:xfrm>
            <a:off x="8190370" y="6550223"/>
            <a:ext cx="316343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1400" dirty="0"/>
              <a:t>https://paperswithcode.com/dataset/ett</a:t>
            </a:r>
          </a:p>
        </p:txBody>
      </p:sp>
      <p:sp>
        <p:nvSpPr>
          <p:cNvPr id="13" name="Прямоугольник 12"/>
          <p:cNvSpPr/>
          <p:nvPr/>
        </p:nvSpPr>
        <p:spPr>
          <a:xfrm>
            <a:off x="94486" y="6337308"/>
            <a:ext cx="4386329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1400" dirty="0"/>
              <a:t>https://paperswithcode.com/task/time-series-forecasting</a:t>
            </a:r>
          </a:p>
        </p:txBody>
      </p:sp>
      <p:sp>
        <p:nvSpPr>
          <p:cNvPr id="14" name="Прямоугольник 13"/>
          <p:cNvSpPr/>
          <p:nvPr/>
        </p:nvSpPr>
        <p:spPr>
          <a:xfrm>
            <a:off x="4439524" y="6321918"/>
            <a:ext cx="391677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1400" dirty="0"/>
              <a:t>https://github.com/SalesforceAIResearch/gift-eval/</a:t>
            </a:r>
          </a:p>
        </p:txBody>
      </p:sp>
      <p:sp>
        <p:nvSpPr>
          <p:cNvPr id="15" name="Прямоугольник 14"/>
          <p:cNvSpPr/>
          <p:nvPr/>
        </p:nvSpPr>
        <p:spPr>
          <a:xfrm>
            <a:off x="8522233" y="6352696"/>
            <a:ext cx="3406253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1200" dirty="0"/>
              <a:t>https://huggingface.co/spaces/Salesforce/GIFT-Eval</a:t>
            </a:r>
          </a:p>
        </p:txBody>
      </p:sp>
    </p:spTree>
    <p:extLst>
      <p:ext uri="{BB962C8B-B14F-4D97-AF65-F5344CB8AC3E}">
        <p14:creationId xmlns:p14="http://schemas.microsoft.com/office/powerpoint/2010/main" val="70908632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13509" y="365126"/>
            <a:ext cx="11040291" cy="601526"/>
          </a:xfrm>
        </p:spPr>
        <p:txBody>
          <a:bodyPr>
            <a:normAutofit fontScale="90000"/>
          </a:bodyPr>
          <a:lstStyle/>
          <a:p>
            <a:r>
              <a:rPr lang="ru-RU" dirty="0" smtClean="0"/>
              <a:t>Основные выводы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46</a:t>
            </a:fld>
            <a:endParaRPr lang="en-US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13509" y="966652"/>
            <a:ext cx="11040291" cy="5210311"/>
          </a:xfrm>
        </p:spPr>
        <p:txBody>
          <a:bodyPr/>
          <a:lstStyle/>
          <a:p>
            <a:r>
              <a:rPr lang="en-US" dirty="0" smtClean="0"/>
              <a:t>ARIMA, </a:t>
            </a:r>
            <a:r>
              <a:rPr lang="en-US" dirty="0" smtClean="0"/>
              <a:t>ETS</a:t>
            </a:r>
            <a:r>
              <a:rPr lang="en-US" smtClean="0"/>
              <a:t>, Prophet</a:t>
            </a:r>
            <a:r>
              <a:rPr lang="en-US" smtClean="0"/>
              <a:t>  </a:t>
            </a:r>
            <a:r>
              <a:rPr lang="ru-RU" dirty="0" err="1" smtClean="0"/>
              <a:t>бейзлайны</a:t>
            </a:r>
            <a:r>
              <a:rPr lang="ru-RU" dirty="0" smtClean="0"/>
              <a:t> + </a:t>
            </a:r>
            <a:r>
              <a:rPr lang="en-US" dirty="0" smtClean="0"/>
              <a:t>LSTM </a:t>
            </a:r>
            <a:r>
              <a:rPr lang="ru-RU" dirty="0" smtClean="0"/>
              <a:t>(для многомерных ВР)</a:t>
            </a:r>
            <a:endParaRPr lang="ru-RU" dirty="0" smtClean="0"/>
          </a:p>
          <a:p>
            <a:r>
              <a:rPr lang="ru-RU" dirty="0"/>
              <a:t>Часто необходимо вероятностное </a:t>
            </a:r>
            <a:r>
              <a:rPr lang="ru-RU" dirty="0" err="1"/>
              <a:t>прогназирование</a:t>
            </a:r>
            <a:endParaRPr lang="ru-RU" dirty="0"/>
          </a:p>
          <a:p>
            <a:r>
              <a:rPr lang="ru-RU" dirty="0" smtClean="0"/>
              <a:t>Для коротких горизонтов и простых ВР стат. Методы работают отлично даже для </a:t>
            </a:r>
            <a:r>
              <a:rPr lang="ru-RU" dirty="0" err="1" smtClean="0"/>
              <a:t>многопеременных</a:t>
            </a:r>
            <a:r>
              <a:rPr lang="ru-RU" dirty="0" smtClean="0"/>
              <a:t> ВР</a:t>
            </a:r>
          </a:p>
          <a:p>
            <a:r>
              <a:rPr lang="ru-RU" dirty="0" smtClean="0"/>
              <a:t>Для более сложных ВР гибридные методы: </a:t>
            </a:r>
            <a:r>
              <a:rPr lang="ru-RU" dirty="0" err="1" smtClean="0"/>
              <a:t>стат.методы</a:t>
            </a:r>
            <a:r>
              <a:rPr lang="ru-RU" dirty="0" smtClean="0"/>
              <a:t> + </a:t>
            </a:r>
            <a:r>
              <a:rPr lang="en-US" dirty="0" smtClean="0"/>
              <a:t>DL </a:t>
            </a:r>
          </a:p>
          <a:p>
            <a:r>
              <a:rPr lang="ru-RU" dirty="0" smtClean="0"/>
              <a:t>Для средних горизонтов </a:t>
            </a:r>
            <a:r>
              <a:rPr lang="en-US" dirty="0" smtClean="0"/>
              <a:t>DL </a:t>
            </a:r>
            <a:r>
              <a:rPr lang="ru-RU" dirty="0" smtClean="0"/>
              <a:t>можно заменить на </a:t>
            </a:r>
            <a:r>
              <a:rPr lang="en-US" dirty="0" smtClean="0"/>
              <a:t>ML </a:t>
            </a:r>
            <a:r>
              <a:rPr lang="ru-RU" dirty="0" smtClean="0"/>
              <a:t>с инженерией признаков</a:t>
            </a:r>
          </a:p>
          <a:p>
            <a:r>
              <a:rPr lang="ru-RU" dirty="0" smtClean="0"/>
              <a:t>Для длинных горизонтов и сложных ВР – </a:t>
            </a:r>
            <a:r>
              <a:rPr lang="en-US" dirty="0" smtClean="0"/>
              <a:t>DL </a:t>
            </a:r>
            <a:r>
              <a:rPr lang="ru-RU" dirty="0" smtClean="0"/>
              <a:t>(</a:t>
            </a:r>
            <a:r>
              <a:rPr lang="ru-RU" dirty="0" err="1" smtClean="0"/>
              <a:t>трансфомеры</a:t>
            </a:r>
            <a:r>
              <a:rPr lang="ru-RU" dirty="0" smtClean="0"/>
              <a:t>, современные </a:t>
            </a:r>
            <a:r>
              <a:rPr lang="en-US" dirty="0" smtClean="0"/>
              <a:t>RNN)</a:t>
            </a:r>
          </a:p>
          <a:p>
            <a:r>
              <a:rPr lang="ru-RU" dirty="0" smtClean="0"/>
              <a:t>Для больших объемов ВР и длинных горизонтов </a:t>
            </a:r>
            <a:r>
              <a:rPr lang="en-US" dirty="0" smtClean="0"/>
              <a:t>LLM</a:t>
            </a:r>
            <a:endParaRPr lang="ru-RU" dirty="0" smtClean="0"/>
          </a:p>
          <a:p>
            <a:r>
              <a:rPr lang="en-US" dirty="0" smtClean="0"/>
              <a:t>SOTA: </a:t>
            </a:r>
            <a:r>
              <a:rPr lang="ru-RU" dirty="0" smtClean="0"/>
              <a:t>вероятностное прогнозирование при помощи </a:t>
            </a:r>
            <a:r>
              <a:rPr lang="en-US" dirty="0" smtClean="0"/>
              <a:t>LLM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6914434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ru-RU" altLang="ru-RU" sz="2300" b="1" dirty="0"/>
              <a:t>M-</a:t>
            </a:r>
            <a:r>
              <a:rPr lang="ru-RU" altLang="ru-RU" sz="2300" b="1" dirty="0" err="1"/>
              <a:t>Competitions</a:t>
            </a:r>
            <a:r>
              <a:rPr lang="ru-RU" altLang="ru-RU" sz="2300" b="1" dirty="0"/>
              <a:t> (M1–M5)</a:t>
            </a:r>
            <a:r>
              <a:rPr lang="ru-RU" altLang="ru-RU" sz="2300" dirty="0"/>
              <a:t>: 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ru-RU" altLang="ru-RU" sz="2300" b="1" dirty="0"/>
              <a:t>M1 (1982)</a:t>
            </a:r>
            <a:r>
              <a:rPr lang="ru-RU" altLang="ru-RU" sz="2300" dirty="0"/>
              <a:t>: 1001 ряд, преимущественно экономические данные. Победитель — простые статистические модели (экспоненциальное сглаживание). 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ru-RU" altLang="ru-RU" sz="2300" b="1" dirty="0"/>
              <a:t>M3 (1998)</a:t>
            </a:r>
            <a:r>
              <a:rPr lang="ru-RU" altLang="ru-RU" sz="2300" dirty="0"/>
              <a:t>: 3003 ряда, включая финансовые, демографические и промышленные данные. Победитель — </a:t>
            </a:r>
            <a:r>
              <a:rPr lang="ru-RU" altLang="ru-RU" sz="2300" dirty="0" err="1"/>
              <a:t>Theta</a:t>
            </a:r>
            <a:r>
              <a:rPr lang="ru-RU" altLang="ru-RU" sz="2300" dirty="0"/>
              <a:t>-модель (гибрид экспоненциального сглаживания и трендов). 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ru-RU" altLang="ru-RU" sz="2300" b="1" dirty="0"/>
              <a:t>M4 (2018)</a:t>
            </a:r>
            <a:r>
              <a:rPr lang="ru-RU" altLang="ru-RU" sz="2300" dirty="0"/>
              <a:t>: 100,000 рядов, охватывающих различные домены (финансы, продажи, энергетика). Победитель — гибридная модель ES-RNN (экспоненциальное сглаживание + рекуррентная нейронная сеть). 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ru-RU" altLang="ru-RU" sz="2300" b="1" dirty="0"/>
              <a:t>M5 (2020)</a:t>
            </a:r>
            <a:r>
              <a:rPr lang="ru-RU" altLang="ru-RU" sz="2300" dirty="0"/>
              <a:t>: данные о продажах </a:t>
            </a:r>
            <a:r>
              <a:rPr lang="ru-RU" altLang="ru-RU" sz="2300" dirty="0" err="1"/>
              <a:t>Walmart</a:t>
            </a:r>
            <a:r>
              <a:rPr lang="ru-RU" altLang="ru-RU" sz="2300" dirty="0"/>
              <a:t> (42,840 рядов). Победитель — </a:t>
            </a:r>
            <a:r>
              <a:rPr lang="ru-RU" altLang="ru-RU" sz="2300" dirty="0" err="1"/>
              <a:t>LightGBM</a:t>
            </a:r>
            <a:r>
              <a:rPr lang="ru-RU" altLang="ru-RU" sz="2300" dirty="0"/>
              <a:t> с иерархической регуляризацией. </a:t>
            </a:r>
          </a:p>
          <a:p>
            <a:endParaRPr lang="ru-RU" dirty="0"/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71028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87383" y="286749"/>
            <a:ext cx="11530148" cy="601526"/>
          </a:xfrm>
        </p:spPr>
        <p:txBody>
          <a:bodyPr>
            <a:normAutofit fontScale="90000"/>
          </a:bodyPr>
          <a:lstStyle/>
          <a:p>
            <a:pPr algn="ctr"/>
            <a:r>
              <a:rPr lang="ru-RU" b="1" dirty="0" err="1" smtClean="0"/>
              <a:t>Бенчмарки</a:t>
            </a:r>
            <a:r>
              <a:rPr lang="ru-RU" b="1" dirty="0" smtClean="0"/>
              <a:t> предсказания ВР</a:t>
            </a:r>
            <a:endParaRPr lang="ru-RU" b="1" dirty="0"/>
          </a:p>
        </p:txBody>
      </p:sp>
      <p:graphicFrame>
        <p:nvGraphicFramePr>
          <p:cNvPr id="5" name="Объект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58147919"/>
              </p:ext>
            </p:extLst>
          </p:nvPr>
        </p:nvGraphicFramePr>
        <p:xfrm>
          <a:off x="411367" y="888275"/>
          <a:ext cx="10515600" cy="4629531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173593">
                  <a:extLst>
                    <a:ext uri="{9D8B030D-6E8A-4147-A177-3AD203B41FA5}">
                      <a16:colId xmlns:a16="http://schemas.microsoft.com/office/drawing/2014/main" val="1741145120"/>
                    </a:ext>
                  </a:extLst>
                </a:gridCol>
                <a:gridCol w="1201783">
                  <a:extLst>
                    <a:ext uri="{9D8B030D-6E8A-4147-A177-3AD203B41FA5}">
                      <a16:colId xmlns:a16="http://schemas.microsoft.com/office/drawing/2014/main" val="858837090"/>
                    </a:ext>
                  </a:extLst>
                </a:gridCol>
                <a:gridCol w="2882424">
                  <a:extLst>
                    <a:ext uri="{9D8B030D-6E8A-4147-A177-3AD203B41FA5}">
                      <a16:colId xmlns:a16="http://schemas.microsoft.com/office/drawing/2014/main" val="94860146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4085757379"/>
                    </a:ext>
                  </a:extLst>
                </a:gridCol>
                <a:gridCol w="1182302">
                  <a:extLst>
                    <a:ext uri="{9D8B030D-6E8A-4147-A177-3AD203B41FA5}">
                      <a16:colId xmlns:a16="http://schemas.microsoft.com/office/drawing/2014/main" val="1128403593"/>
                    </a:ext>
                  </a:extLst>
                </a:gridCol>
                <a:gridCol w="2322898">
                  <a:extLst>
                    <a:ext uri="{9D8B030D-6E8A-4147-A177-3AD203B41FA5}">
                      <a16:colId xmlns:a16="http://schemas.microsoft.com/office/drawing/2014/main" val="200081871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200">
                          <a:effectLst/>
                        </a:rPr>
                        <a:t>Бенчмарк / Платформа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200">
                          <a:effectLst/>
                        </a:rPr>
                        <a:t>Типы задач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200">
                          <a:effectLst/>
                        </a:rPr>
                        <a:t>Особенности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200">
                          <a:effectLst/>
                        </a:rPr>
                        <a:t>Модели / Подходы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200">
                          <a:effectLst/>
                        </a:rPr>
                        <a:t>Метрики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200">
                          <a:effectLst/>
                        </a:rPr>
                        <a:t>Победители / Лидеры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13987324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200">
                          <a:effectLst/>
                        </a:rPr>
                        <a:t>M4 (2018)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200">
                          <a:effectLst/>
                        </a:rPr>
                        <a:t>Univariate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200" dirty="0">
                          <a:effectLst/>
                        </a:rPr>
                        <a:t>100k+ рядов, 6 частот, соревнование на </a:t>
                      </a:r>
                      <a:r>
                        <a:rPr lang="ru-RU" sz="1200" dirty="0" err="1">
                          <a:effectLst/>
                        </a:rPr>
                        <a:t>Kaggle</a:t>
                      </a:r>
                      <a:endParaRPr lang="ru-RU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200" dirty="0">
                          <a:effectLst/>
                        </a:rPr>
                        <a:t>ETS, ARIMA, </a:t>
                      </a:r>
                      <a:r>
                        <a:rPr lang="ru-RU" sz="1200" dirty="0" err="1">
                          <a:effectLst/>
                        </a:rPr>
                        <a:t>Theta</a:t>
                      </a:r>
                      <a:r>
                        <a:rPr lang="ru-RU" sz="1200" dirty="0">
                          <a:effectLst/>
                        </a:rPr>
                        <a:t>, комбинированные</a:t>
                      </a:r>
                      <a:endParaRPr lang="ru-RU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200">
                          <a:effectLst/>
                        </a:rPr>
                        <a:t>SMAPE, MASE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200">
                          <a:effectLst/>
                        </a:rPr>
                        <a:t>Smyl (Hybrid: ETS + RNN)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79922353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200">
                          <a:effectLst/>
                        </a:rPr>
                        <a:t>M5 (2020)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200">
                          <a:effectLst/>
                        </a:rPr>
                        <a:t>Hierarchical, Multivariate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Walmart </a:t>
                      </a:r>
                      <a:r>
                        <a:rPr lang="ru-RU" sz="1200">
                          <a:effectLst/>
                        </a:rPr>
                        <a:t>продажи</a:t>
                      </a:r>
                      <a:r>
                        <a:rPr lang="en-US" sz="1200">
                          <a:effectLst/>
                        </a:rPr>
                        <a:t>, 42k </a:t>
                      </a:r>
                      <a:r>
                        <a:rPr lang="ru-RU" sz="1200">
                          <a:effectLst/>
                        </a:rPr>
                        <a:t>рядов</a:t>
                      </a:r>
                      <a:r>
                        <a:rPr lang="en-US" sz="1200">
                          <a:effectLst/>
                        </a:rPr>
                        <a:t>, rich features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200" dirty="0" err="1">
                          <a:effectLst/>
                        </a:rPr>
                        <a:t>LightGBM</a:t>
                      </a:r>
                      <a:r>
                        <a:rPr lang="ru-RU" sz="1200" dirty="0">
                          <a:effectLst/>
                        </a:rPr>
                        <a:t>, </a:t>
                      </a:r>
                      <a:r>
                        <a:rPr lang="ru-RU" sz="1200" dirty="0" err="1">
                          <a:effectLst/>
                        </a:rPr>
                        <a:t>ensemble</a:t>
                      </a:r>
                      <a:r>
                        <a:rPr lang="ru-RU" sz="1200" dirty="0">
                          <a:effectLst/>
                        </a:rPr>
                        <a:t>, </a:t>
                      </a:r>
                      <a:r>
                        <a:rPr lang="ru-RU" sz="1200" dirty="0" err="1">
                          <a:effectLst/>
                        </a:rPr>
                        <a:t>reconciliation</a:t>
                      </a:r>
                      <a:endParaRPr lang="ru-RU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200">
                          <a:effectLst/>
                        </a:rPr>
                        <a:t>RMSSE, WRMSSE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200">
                          <a:effectLst/>
                        </a:rPr>
                        <a:t>Amazon, Walmart Labs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41443675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200">
                          <a:effectLst/>
                        </a:rPr>
                        <a:t>M6 (2024)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200">
                          <a:effectLst/>
                        </a:rPr>
                        <a:t>Financial, Probabilistic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200">
                          <a:effectLst/>
                        </a:rPr>
                        <a:t>Прогноз финансовых активов, оценка рисков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DeepAR, GARCH, Hybrid DL + econ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200" dirty="0">
                          <a:effectLst/>
                        </a:rPr>
                        <a:t>CRPS, </a:t>
                      </a:r>
                      <a:r>
                        <a:rPr lang="ru-RU" sz="1200" dirty="0" err="1">
                          <a:effectLst/>
                        </a:rPr>
                        <a:t>Pinball</a:t>
                      </a:r>
                      <a:r>
                        <a:rPr lang="ru-RU" sz="1200" dirty="0">
                          <a:effectLst/>
                        </a:rPr>
                        <a:t> </a:t>
                      </a:r>
                      <a:r>
                        <a:rPr lang="ru-RU" sz="1200" dirty="0" err="1">
                          <a:effectLst/>
                        </a:rPr>
                        <a:t>loss</a:t>
                      </a:r>
                      <a:endParaRPr lang="ru-RU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200">
                          <a:effectLst/>
                        </a:rPr>
                        <a:t>Идёт, ожидаются результаты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99786744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200" dirty="0" err="1">
                          <a:effectLst/>
                        </a:rPr>
                        <a:t>TimeRecipe</a:t>
                      </a:r>
                      <a:r>
                        <a:rPr lang="ru-RU" sz="1200" dirty="0">
                          <a:effectLst/>
                        </a:rPr>
                        <a:t> (2025)</a:t>
                      </a:r>
                      <a:endParaRPr lang="ru-RU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200">
                          <a:effectLst/>
                        </a:rPr>
                        <a:t>Univariate, Multivariate, Long-horizon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200" dirty="0">
                          <a:effectLst/>
                        </a:rPr>
                        <a:t>10k+ экспериментов, единая API, </a:t>
                      </a:r>
                      <a:r>
                        <a:rPr lang="ru-RU" sz="1200" dirty="0" err="1">
                          <a:effectLst/>
                        </a:rPr>
                        <a:t>PyTorch</a:t>
                      </a:r>
                      <a:endParaRPr lang="ru-RU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200">
                          <a:effectLst/>
                        </a:rPr>
                        <a:t>NHITS, NBEATSx, PatchTST, LSTM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200">
                          <a:effectLst/>
                        </a:rPr>
                        <a:t>MAE, MSE, sMAPE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200">
                          <a:effectLst/>
                        </a:rPr>
                        <a:t>NHITS, PatchTST, DLinear (лидеры по задачам)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9426801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TFB – Time Series Forecasting Benchmark (2024)</a:t>
                      </a:r>
                      <a:endParaRPr lang="ru-RU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200" dirty="0" err="1">
                          <a:effectLst/>
                        </a:rPr>
                        <a:t>Унивар</a:t>
                      </a:r>
                      <a:r>
                        <a:rPr lang="ru-RU" sz="1200" dirty="0">
                          <a:effectLst/>
                        </a:rPr>
                        <a:t>./</a:t>
                      </a:r>
                      <a:r>
                        <a:rPr lang="ru-RU" sz="1200" dirty="0" err="1">
                          <a:effectLst/>
                        </a:rPr>
                        <a:t>мультивар</a:t>
                      </a:r>
                      <a:r>
                        <a:rPr lang="ru-RU" sz="1200" dirty="0">
                          <a:effectLst/>
                        </a:rPr>
                        <a:t>.</a:t>
                      </a:r>
                      <a:endParaRPr lang="ru-RU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200" dirty="0">
                          <a:effectLst/>
                        </a:rPr>
                        <a:t>Более 8000 TS задач, строгое сравнение DL/ML/</a:t>
                      </a:r>
                      <a:r>
                        <a:rPr lang="ru-RU" sz="1200" dirty="0" err="1">
                          <a:effectLst/>
                        </a:rPr>
                        <a:t>Stat</a:t>
                      </a:r>
                      <a:endParaRPr lang="ru-RU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200">
                          <a:effectLst/>
                        </a:rPr>
                        <a:t>NBEATS, TFT, ARIMA, DLinear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200">
                          <a:effectLst/>
                        </a:rPr>
                        <a:t>RMSE, MAE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200">
                          <a:effectLst/>
                        </a:rPr>
                        <a:t>DLinear, PatchTST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54016479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200" dirty="0" err="1">
                          <a:effectLst/>
                        </a:rPr>
                        <a:t>ProbTS</a:t>
                      </a:r>
                      <a:r>
                        <a:rPr lang="ru-RU" sz="1200" dirty="0">
                          <a:effectLst/>
                        </a:rPr>
                        <a:t> (</a:t>
                      </a:r>
                      <a:r>
                        <a:rPr lang="ru-RU" sz="1200" dirty="0" err="1">
                          <a:effectLst/>
                        </a:rPr>
                        <a:t>Microsoft</a:t>
                      </a:r>
                      <a:r>
                        <a:rPr lang="ru-RU" sz="1200" dirty="0">
                          <a:effectLst/>
                        </a:rPr>
                        <a:t>, 2025)</a:t>
                      </a:r>
                      <a:endParaRPr lang="ru-RU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200" dirty="0" err="1">
                          <a:effectLst/>
                        </a:rPr>
                        <a:t>Probabilistic</a:t>
                      </a:r>
                      <a:r>
                        <a:rPr lang="ru-RU" sz="1200" dirty="0">
                          <a:effectLst/>
                        </a:rPr>
                        <a:t>, </a:t>
                      </a:r>
                      <a:r>
                        <a:rPr lang="ru-RU" sz="1200" dirty="0" err="1">
                          <a:effectLst/>
                        </a:rPr>
                        <a:t>Hierarchical</a:t>
                      </a:r>
                      <a:endParaRPr lang="ru-RU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200" dirty="0" err="1">
                          <a:effectLst/>
                        </a:rPr>
                        <a:t>Бенчмаркинг</a:t>
                      </a:r>
                      <a:r>
                        <a:rPr lang="ru-RU" sz="1200" dirty="0">
                          <a:effectLst/>
                        </a:rPr>
                        <a:t> вероятностных моделей</a:t>
                      </a:r>
                      <a:endParaRPr lang="ru-RU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200" dirty="0" err="1">
                          <a:effectLst/>
                        </a:rPr>
                        <a:t>DeepAR</a:t>
                      </a:r>
                      <a:r>
                        <a:rPr lang="ru-RU" sz="1200" dirty="0">
                          <a:effectLst/>
                        </a:rPr>
                        <a:t>, TFT, </a:t>
                      </a:r>
                      <a:r>
                        <a:rPr lang="ru-RU" sz="1200" dirty="0" err="1">
                          <a:effectLst/>
                        </a:rPr>
                        <a:t>Prophet</a:t>
                      </a:r>
                      <a:r>
                        <a:rPr lang="ru-RU" sz="1200" dirty="0">
                          <a:effectLst/>
                        </a:rPr>
                        <a:t>, </a:t>
                      </a:r>
                      <a:r>
                        <a:rPr lang="ru-RU" sz="1200" dirty="0" err="1">
                          <a:effectLst/>
                        </a:rPr>
                        <a:t>Copula</a:t>
                      </a:r>
                      <a:endParaRPr lang="ru-RU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200">
                          <a:effectLst/>
                        </a:rPr>
                        <a:t>CRPS, Quantile loss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200">
                          <a:effectLst/>
                        </a:rPr>
                        <a:t>Multi-model leaderboard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51367474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200">
                          <a:effectLst/>
                        </a:rPr>
                        <a:t>Monash TS Forecasting Archive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200" dirty="0">
                          <a:effectLst/>
                        </a:rPr>
                        <a:t>Разные</a:t>
                      </a:r>
                      <a:endParaRPr lang="ru-RU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200">
                          <a:effectLst/>
                        </a:rPr>
                        <a:t>Открытый архив задач (Tourism, Electricity...)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200" dirty="0">
                          <a:effectLst/>
                        </a:rPr>
                        <a:t>Универсальный </a:t>
                      </a:r>
                      <a:r>
                        <a:rPr lang="ru-RU" sz="1200" dirty="0" err="1">
                          <a:effectLst/>
                        </a:rPr>
                        <a:t>бенчмарк</a:t>
                      </a:r>
                      <a:r>
                        <a:rPr lang="ru-RU" sz="1200" dirty="0">
                          <a:effectLst/>
                        </a:rPr>
                        <a:t> для </a:t>
                      </a:r>
                      <a:r>
                        <a:rPr lang="ru-RU" sz="1200" dirty="0" err="1">
                          <a:effectLst/>
                        </a:rPr>
                        <a:t>academic</a:t>
                      </a:r>
                      <a:r>
                        <a:rPr lang="ru-RU" sz="1200" dirty="0">
                          <a:effectLst/>
                        </a:rPr>
                        <a:t> целей</a:t>
                      </a:r>
                      <a:endParaRPr lang="ru-RU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200" dirty="0">
                          <a:effectLst/>
                        </a:rPr>
                        <a:t>Любые</a:t>
                      </a:r>
                      <a:endParaRPr lang="ru-RU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200" dirty="0">
                          <a:effectLst/>
                        </a:rPr>
                        <a:t>Используется в </a:t>
                      </a:r>
                      <a:r>
                        <a:rPr lang="ru-RU" sz="1200" dirty="0" err="1">
                          <a:effectLst/>
                        </a:rPr>
                        <a:t>TimeSeriesML</a:t>
                      </a:r>
                      <a:endParaRPr lang="ru-RU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41544320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200">
                          <a:effectLst/>
                        </a:rPr>
                        <a:t>sktime benchmarking (2024–2025)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200">
                          <a:effectLst/>
                        </a:rPr>
                        <a:t>All types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200">
                          <a:effectLst/>
                        </a:rPr>
                        <a:t>Интеграция моделей и метрик через sklearn API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200">
                          <a:effectLst/>
                        </a:rPr>
                        <a:t>ARIMA, RNN, XGB, hybrids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200">
                          <a:effectLst/>
                        </a:rPr>
                        <a:t>Все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200" dirty="0" err="1">
                          <a:effectLst/>
                        </a:rPr>
                        <a:t>Academic</a:t>
                      </a:r>
                      <a:r>
                        <a:rPr lang="ru-RU" sz="1200" dirty="0">
                          <a:effectLst/>
                        </a:rPr>
                        <a:t> </a:t>
                      </a:r>
                      <a:r>
                        <a:rPr lang="ru-RU" sz="1200" dirty="0" err="1">
                          <a:effectLst/>
                        </a:rPr>
                        <a:t>use</a:t>
                      </a:r>
                      <a:r>
                        <a:rPr lang="ru-RU" sz="1200" dirty="0">
                          <a:effectLst/>
                        </a:rPr>
                        <a:t>, </a:t>
                      </a:r>
                      <a:r>
                        <a:rPr lang="ru-RU" sz="1200" dirty="0" err="1">
                          <a:effectLst/>
                        </a:rPr>
                        <a:t>AutoML</a:t>
                      </a:r>
                      <a:r>
                        <a:rPr lang="ru-RU" sz="1200" dirty="0">
                          <a:effectLst/>
                        </a:rPr>
                        <a:t> </a:t>
                      </a:r>
                      <a:r>
                        <a:rPr lang="ru-RU" sz="1200" dirty="0" err="1">
                          <a:effectLst/>
                        </a:rPr>
                        <a:t>experiments</a:t>
                      </a:r>
                      <a:endParaRPr lang="ru-RU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737046639"/>
                  </a:ext>
                </a:extLst>
              </a:tr>
            </a:tbl>
          </a:graphicData>
        </a:graphic>
      </p:graphicFrame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44655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9754573E-37B6-D672-7D0D-F162FB6EA0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C986069-B28D-6764-9036-BF768F267B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0010" y="365126"/>
            <a:ext cx="10973790" cy="644278"/>
          </a:xfrm>
        </p:spPr>
        <p:txBody>
          <a:bodyPr>
            <a:normAutofit fontScale="90000"/>
          </a:bodyPr>
          <a:lstStyle/>
          <a:p>
            <a:r>
              <a:rPr lang="ru-RU" dirty="0"/>
              <a:t>Точечные </a:t>
            </a:r>
            <a:r>
              <a:rPr lang="ru-RU" dirty="0" err="1"/>
              <a:t>Отностиельные</a:t>
            </a:r>
            <a:r>
              <a:rPr lang="ru-RU" dirty="0"/>
              <a:t> ошибки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798F449-CD0C-E092-6BE0-BD0BC8F4D1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9539" y="1009404"/>
            <a:ext cx="5415149" cy="5346944"/>
          </a:xfrm>
        </p:spPr>
        <p:txBody>
          <a:bodyPr>
            <a:normAutofit fontScale="70000" lnSpcReduction="20000"/>
          </a:bodyPr>
          <a:lstStyle/>
          <a:p>
            <a:r>
              <a:rPr lang="cy-GB" dirty="0"/>
              <a:t>Lτ(y, ŷ) = { τ*(y-ŷ)     </a:t>
            </a:r>
            <a:r>
              <a:rPr lang="ru-RU" dirty="0"/>
              <a:t>если </a:t>
            </a:r>
            <a:r>
              <a:rPr lang="cy-GB" dirty="0"/>
              <a:t>y ≥ ŷ  </a:t>
            </a:r>
          </a:p>
          <a:p>
            <a:r>
              <a:rPr lang="cy-GB" dirty="0"/>
              <a:t>           { (1-τ)*(ŷ-y) </a:t>
            </a:r>
            <a:r>
              <a:rPr lang="ru-RU" dirty="0"/>
              <a:t>если </a:t>
            </a:r>
            <a:r>
              <a:rPr lang="cy-GB" dirty="0"/>
              <a:t>y &lt; ŷ</a:t>
            </a:r>
            <a:endParaRPr lang="ru-RU" dirty="0"/>
          </a:p>
          <a:p>
            <a:r>
              <a:rPr lang="en" i="1" dirty="0"/>
              <a:t>L</a:t>
            </a:r>
            <a:r>
              <a:rPr lang="el-GR" i="1" dirty="0"/>
              <a:t>τ</a:t>
            </a:r>
            <a:r>
              <a:rPr lang="el-GR" dirty="0"/>
              <a:t>​(</a:t>
            </a:r>
            <a:r>
              <a:rPr lang="en" i="1" dirty="0" err="1"/>
              <a:t>y</a:t>
            </a:r>
            <a:r>
              <a:rPr lang="en" dirty="0" err="1"/>
              <a:t>,</a:t>
            </a:r>
            <a:r>
              <a:rPr lang="en" i="1" dirty="0" err="1"/>
              <a:t>q</a:t>
            </a:r>
            <a:r>
              <a:rPr lang="en" dirty="0"/>
              <a:t>)={</a:t>
            </a:r>
            <a:r>
              <a:rPr lang="el-GR" i="1" dirty="0"/>
              <a:t>τ</a:t>
            </a:r>
            <a:r>
              <a:rPr lang="el-GR" dirty="0"/>
              <a:t>⋅(</a:t>
            </a:r>
            <a:r>
              <a:rPr lang="en" i="1" dirty="0"/>
              <a:t>y</a:t>
            </a:r>
            <a:r>
              <a:rPr lang="en" dirty="0"/>
              <a:t>−</a:t>
            </a:r>
            <a:r>
              <a:rPr lang="en" i="1" dirty="0"/>
              <a:t>q</a:t>
            </a:r>
            <a:r>
              <a:rPr lang="en" dirty="0"/>
              <a:t>),(1−</a:t>
            </a:r>
            <a:r>
              <a:rPr lang="el-GR" i="1" dirty="0"/>
              <a:t>τ</a:t>
            </a:r>
            <a:r>
              <a:rPr lang="el-GR" dirty="0"/>
              <a:t>)⋅(</a:t>
            </a:r>
            <a:r>
              <a:rPr lang="en" i="1" dirty="0"/>
              <a:t>q</a:t>
            </a:r>
            <a:r>
              <a:rPr lang="en" dirty="0"/>
              <a:t>−</a:t>
            </a:r>
            <a:r>
              <a:rPr lang="en" i="1" dirty="0"/>
              <a:t>y</a:t>
            </a:r>
            <a:r>
              <a:rPr lang="en" dirty="0"/>
              <a:t>),​</a:t>
            </a:r>
            <a:r>
              <a:rPr lang="ru-RU" dirty="0"/>
              <a:t>если </a:t>
            </a:r>
            <a:r>
              <a:rPr lang="en" i="1" dirty="0" err="1"/>
              <a:t>y</a:t>
            </a:r>
            <a:r>
              <a:rPr lang="en" dirty="0" err="1"/>
              <a:t>≥</a:t>
            </a:r>
            <a:r>
              <a:rPr lang="en" i="1" dirty="0" err="1"/>
              <a:t>q</a:t>
            </a:r>
            <a:r>
              <a:rPr lang="ru-RU" dirty="0"/>
              <a:t>если </a:t>
            </a:r>
            <a:r>
              <a:rPr lang="en" i="1" dirty="0"/>
              <a:t>y</a:t>
            </a:r>
            <a:r>
              <a:rPr lang="en" dirty="0"/>
              <a:t>&lt;</a:t>
            </a:r>
            <a:r>
              <a:rPr lang="en" i="1" dirty="0"/>
              <a:t>q</a:t>
            </a:r>
            <a:r>
              <a:rPr lang="en" dirty="0"/>
              <a:t>​</a:t>
            </a:r>
            <a:br>
              <a:rPr lang="en" dirty="0"/>
            </a:br>
            <a:r>
              <a:rPr lang="ru-RU" dirty="0"/>
              <a:t>Прогнозируем 90%-квантиль спроса на электроэнергию:</a:t>
            </a:r>
          </a:p>
          <a:p>
            <a:r>
              <a:rPr lang="ru-RU" dirty="0"/>
              <a:t>Если реальное значение </a:t>
            </a:r>
            <a:r>
              <a:rPr lang="ru-RU" b="1" dirty="0"/>
              <a:t>выше</a:t>
            </a:r>
            <a:r>
              <a:rPr lang="ru-RU" dirty="0"/>
              <a:t> прогноза: штраф 0.9×ошибка0.9×ошибка.</a:t>
            </a:r>
          </a:p>
          <a:p>
            <a:r>
              <a:rPr lang="ru-RU" dirty="0"/>
              <a:t>Если </a:t>
            </a:r>
            <a:r>
              <a:rPr lang="ru-RU" b="1" dirty="0"/>
              <a:t>ниже</a:t>
            </a:r>
            <a:r>
              <a:rPr lang="ru-RU" dirty="0"/>
              <a:t>: штраф 0.1×ошибка0.1×ошибка.</a:t>
            </a:r>
          </a:p>
          <a:p>
            <a:r>
              <a:rPr lang="ru-RU" dirty="0"/>
              <a:t/>
            </a:r>
            <a:br>
              <a:rPr lang="ru-RU" dirty="0"/>
            </a:br>
            <a:endParaRPr lang="ru-RU" dirty="0"/>
          </a:p>
          <a:p>
            <a:r>
              <a:rPr lang="ru-RU" dirty="0"/>
              <a:t>модель учится предсказывать именно </a:t>
            </a:r>
            <a:r>
              <a:rPr lang="el-GR" dirty="0"/>
              <a:t>τ-</a:t>
            </a:r>
            <a:r>
              <a:rPr lang="ru-RU" dirty="0"/>
              <a:t>квантиль распределения</a:t>
            </a:r>
          </a:p>
          <a:p>
            <a:pPr marL="0" indent="0">
              <a:buNone/>
            </a:pPr>
            <a:r>
              <a:rPr lang="cy-GB" sz="2400" dirty="0"/>
              <a:t>Pinball = (1/n) </a:t>
            </a:r>
            <a:r>
              <a:rPr lang="el-GR" sz="2400" dirty="0"/>
              <a:t>Σ </a:t>
            </a:r>
            <a:r>
              <a:rPr lang="cy-GB" sz="2400" dirty="0"/>
              <a:t>L</a:t>
            </a:r>
            <a:r>
              <a:rPr lang="el-GR" sz="2400" dirty="0"/>
              <a:t>τ(</a:t>
            </a:r>
            <a:r>
              <a:rPr lang="cy-GB" sz="2400" dirty="0"/>
              <a:t>yi, ŷi)</a:t>
            </a:r>
            <a:endParaRPr lang="ru-RU" sz="2400" dirty="0"/>
          </a:p>
          <a:p>
            <a:r>
              <a:rPr lang="ru-RU" dirty="0"/>
              <a:t>Можно усреднять по нескольким квантилям</a:t>
            </a:r>
          </a:p>
          <a:p>
            <a:r>
              <a:rPr lang="ru-RU" dirty="0"/>
              <a:t>Позволяет сравнивать модели на всем распределении</a:t>
            </a:r>
          </a:p>
          <a:p>
            <a:pPr marL="0" indent="0">
              <a:buNone/>
            </a:pPr>
            <a:endParaRPr lang="ru-RU" i="1" dirty="0"/>
          </a:p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8AF9814D-4553-0689-2F58-7F0511563A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49</a:t>
            </a:fld>
            <a:endParaRPr lang="en-US"/>
          </a:p>
        </p:txBody>
      </p:sp>
      <p:sp>
        <p:nvSpPr>
          <p:cNvPr id="6" name="Объект 2">
            <a:extLst>
              <a:ext uri="{FF2B5EF4-FFF2-40B4-BE49-F238E27FC236}">
                <a16:creationId xmlns:a16="http://schemas.microsoft.com/office/drawing/2014/main" id="{72316B41-1765-208B-2021-52164B8EE846}"/>
              </a:ext>
            </a:extLst>
          </p:cNvPr>
          <p:cNvSpPr txBox="1">
            <a:spLocks/>
          </p:cNvSpPr>
          <p:nvPr/>
        </p:nvSpPr>
        <p:spPr>
          <a:xfrm>
            <a:off x="6096000" y="1009404"/>
            <a:ext cx="5308271" cy="50619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" dirty="0"/>
              <a:t>Adjusted </a:t>
            </a:r>
            <a:r>
              <a:rPr lang="en" i="1" dirty="0"/>
              <a:t>R</a:t>
            </a:r>
            <a:r>
              <a:rPr lang="en" dirty="0"/>
              <a:t>2=1−(</a:t>
            </a:r>
            <a:r>
              <a:rPr lang="en" i="1" dirty="0"/>
              <a:t>n</a:t>
            </a:r>
            <a:r>
              <a:rPr lang="en" dirty="0"/>
              <a:t>−</a:t>
            </a:r>
            <a:r>
              <a:rPr lang="en" i="1" dirty="0"/>
              <a:t>k</a:t>
            </a:r>
            <a:r>
              <a:rPr lang="en" dirty="0"/>
              <a:t>−1(1−</a:t>
            </a:r>
            <a:r>
              <a:rPr lang="en" i="1" dirty="0"/>
              <a:t>R</a:t>
            </a:r>
            <a:r>
              <a:rPr lang="en" dirty="0"/>
              <a:t>2)(</a:t>
            </a:r>
            <a:r>
              <a:rPr lang="en" i="1" dirty="0"/>
              <a:t>n</a:t>
            </a:r>
            <a:r>
              <a:rPr lang="en" dirty="0"/>
              <a:t>−1)​) </a:t>
            </a:r>
            <a:r>
              <a:rPr lang="ru-RU" sz="2300" b="1" i="1" dirty="0"/>
              <a:t>штрафует модели за число переменных</a:t>
            </a:r>
          </a:p>
          <a:p>
            <a:r>
              <a:rPr lang="en" i="1" dirty="0"/>
              <a:t>Q</a:t>
            </a:r>
            <a:r>
              <a:rPr lang="en" sz="2400" dirty="0"/>
              <a:t>2=1−</a:t>
            </a:r>
            <a:r>
              <a:rPr lang="en" dirty="0"/>
              <a:t>∑(</a:t>
            </a:r>
            <a:r>
              <a:rPr lang="en" i="1" dirty="0" err="1"/>
              <a:t>yi</a:t>
            </a:r>
            <a:r>
              <a:rPr lang="en" dirty="0"/>
              <a:t>​−</a:t>
            </a:r>
            <a:r>
              <a:rPr lang="en" i="1" dirty="0"/>
              <a:t>y</a:t>
            </a:r>
            <a:r>
              <a:rPr lang="en" dirty="0"/>
              <a:t>ˉ​train​)2∑(</a:t>
            </a:r>
            <a:r>
              <a:rPr lang="en" i="1" dirty="0" err="1"/>
              <a:t>yi</a:t>
            </a:r>
            <a:r>
              <a:rPr lang="en" dirty="0"/>
              <a:t>​−</a:t>
            </a:r>
            <a:r>
              <a:rPr lang="en" i="1" dirty="0"/>
              <a:t>y</a:t>
            </a:r>
            <a:r>
              <a:rPr lang="en" dirty="0"/>
              <a:t>^​</a:t>
            </a:r>
            <a:r>
              <a:rPr lang="en" i="1" dirty="0" err="1"/>
              <a:t>i</a:t>
            </a:r>
            <a:r>
              <a:rPr lang="en" dirty="0"/>
              <a:t>​)2​</a:t>
            </a:r>
            <a:br>
              <a:rPr lang="en" dirty="0"/>
            </a:br>
            <a:r>
              <a:rPr lang="ru-RU" dirty="0"/>
              <a:t>Если </a:t>
            </a:r>
            <a:r>
              <a:rPr lang="en" dirty="0"/>
              <a:t>Q² &lt;&lt; R² → </a:t>
            </a:r>
            <a:r>
              <a:rPr lang="ru-RU" dirty="0"/>
              <a:t>модель переобучена.</a:t>
            </a:r>
          </a:p>
          <a:p>
            <a:r>
              <a:rPr lang="en" dirty="0"/>
              <a:t>Q² &lt; 0 → </a:t>
            </a:r>
            <a:r>
              <a:rPr lang="ru-RU" dirty="0"/>
              <a:t>модель хуже, чем предсказание средним.</a:t>
            </a:r>
          </a:p>
          <a:p>
            <a:pPr marL="0" indent="0">
              <a:buNone/>
            </a:pPr>
            <a:endParaRPr lang="ru-RU" sz="2300" i="1" dirty="0"/>
          </a:p>
          <a:p>
            <a:endParaRPr lang="ru-RU" i="1" dirty="0"/>
          </a:p>
          <a:p>
            <a:endParaRPr lang="ru-RU" dirty="0"/>
          </a:p>
        </p:txBody>
      </p:sp>
      <p:graphicFrame>
        <p:nvGraphicFramePr>
          <p:cNvPr id="5" name="Таблица 4">
            <a:extLst>
              <a:ext uri="{FF2B5EF4-FFF2-40B4-BE49-F238E27FC236}">
                <a16:creationId xmlns:a16="http://schemas.microsoft.com/office/drawing/2014/main" id="{4998265C-61FB-3FA3-8814-F80667EB407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95302004"/>
              </p:ext>
            </p:extLst>
          </p:nvPr>
        </p:nvGraphicFramePr>
        <p:xfrm>
          <a:off x="1351188" y="3607047"/>
          <a:ext cx="10515600" cy="2324100"/>
        </p:xfrm>
        <a:graphic>
          <a:graphicData uri="http://schemas.openxmlformats.org/drawingml/2006/table">
            <a:tbl>
              <a:tblPr/>
              <a:tblGrid>
                <a:gridCol w="3463718">
                  <a:extLst>
                    <a:ext uri="{9D8B030D-6E8A-4147-A177-3AD203B41FA5}">
                      <a16:colId xmlns:a16="http://schemas.microsoft.com/office/drawing/2014/main" val="1990201905"/>
                    </a:ext>
                  </a:extLst>
                </a:gridCol>
                <a:gridCol w="3525941">
                  <a:extLst>
                    <a:ext uri="{9D8B030D-6E8A-4147-A177-3AD203B41FA5}">
                      <a16:colId xmlns:a16="http://schemas.microsoft.com/office/drawing/2014/main" val="880545946"/>
                    </a:ext>
                  </a:extLst>
                </a:gridCol>
                <a:gridCol w="3525941">
                  <a:extLst>
                    <a:ext uri="{9D8B030D-6E8A-4147-A177-3AD203B41FA5}">
                      <a16:colId xmlns:a16="http://schemas.microsoft.com/office/drawing/2014/main" val="268468625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/>
                      <a:r>
                        <a:rPr lang="ru-RU" b="1">
                          <a:solidFill>
                            <a:srgbClr val="404040"/>
                          </a:solidFill>
                          <a:effectLst/>
                        </a:rPr>
                        <a:t>Характеристика</a:t>
                      </a:r>
                    </a:p>
                  </a:txBody>
                  <a:tcPr marR="9525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" b="1" dirty="0">
                          <a:solidFill>
                            <a:srgbClr val="404040"/>
                          </a:solidFill>
                          <a:effectLst/>
                        </a:rPr>
                        <a:t>MAE/MSE</a:t>
                      </a:r>
                    </a:p>
                  </a:txBody>
                  <a:tcPr marL="95250" marR="9525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b="1">
                          <a:solidFill>
                            <a:srgbClr val="404040"/>
                          </a:solidFill>
                          <a:effectLst/>
                        </a:rPr>
                        <a:t>Квантильный подход</a:t>
                      </a:r>
                    </a:p>
                  </a:txBody>
                  <a:tcPr marL="95250" marR="9525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4215039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ru-RU">
                          <a:effectLst/>
                        </a:rPr>
                        <a:t>Чувствительность</a:t>
                      </a:r>
                    </a:p>
                  </a:txBody>
                  <a:tcPr marR="95250" marT="95250" marB="9525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>
                          <a:effectLst/>
                        </a:rPr>
                        <a:t>К среднему</a:t>
                      </a:r>
                    </a:p>
                  </a:txBody>
                  <a:tcPr marL="95250" marR="95250" marT="95250" marB="9525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>
                          <a:effectLst/>
                        </a:rPr>
                        <a:t>К выбранному квантилю</a:t>
                      </a:r>
                    </a:p>
                  </a:txBody>
                  <a:tcPr marL="95250" marR="95250" marT="95250" marB="9525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884312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ru-RU" dirty="0">
                          <a:effectLst/>
                        </a:rPr>
                        <a:t>Интерпретация</a:t>
                      </a:r>
                    </a:p>
                  </a:txBody>
                  <a:tcPr marR="95250" marT="95250" marB="9525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effectLst/>
                        </a:rPr>
                        <a:t>Точечный прогноз</a:t>
                      </a:r>
                    </a:p>
                  </a:txBody>
                  <a:tcPr marL="95250" marR="95250" marT="95250" marB="9525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>
                          <a:effectLst/>
                        </a:rPr>
                        <a:t>Распределение</a:t>
                      </a:r>
                    </a:p>
                  </a:txBody>
                  <a:tcPr marL="95250" marR="95250" marT="95250" marB="9525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6300264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ru-RU">
                          <a:effectLst/>
                        </a:rPr>
                        <a:t>Устойчивость</a:t>
                      </a:r>
                    </a:p>
                  </a:txBody>
                  <a:tcPr marR="95250" marT="95250" marB="9525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>
                          <a:effectLst/>
                        </a:rPr>
                        <a:t>Чувствителен к выбросам</a:t>
                      </a:r>
                    </a:p>
                  </a:txBody>
                  <a:tcPr marL="95250" marR="95250" marT="95250" marB="9525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>
                          <a:effectLst/>
                        </a:rPr>
                        <a:t>Робастный</a:t>
                      </a:r>
                    </a:p>
                  </a:txBody>
                  <a:tcPr marL="95250" marR="95250" marT="95250" marB="9525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144278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ru-RU">
                          <a:effectLst/>
                        </a:rPr>
                        <a:t>Сложность вычислений</a:t>
                      </a:r>
                    </a:p>
                  </a:txBody>
                  <a:tcPr marR="95250" marT="95250" marB="9525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>
                          <a:effectLst/>
                        </a:rPr>
                        <a:t>Низкая</a:t>
                      </a:r>
                    </a:p>
                  </a:txBody>
                  <a:tcPr marL="95250" marR="95250" marT="95250" marB="9525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effectLst/>
                        </a:rPr>
                        <a:t>Умеренная</a:t>
                      </a:r>
                    </a:p>
                  </a:txBody>
                  <a:tcPr marL="95250" marR="95250" marT="95250" marB="9525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226303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265109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BD9B906-340F-29D8-516A-0E9149971A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65B246E-88F8-7117-CF85-CFD84541D9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25000" lnSpcReduction="20000"/>
          </a:bodyPr>
          <a:lstStyle/>
          <a:p>
            <a:r>
              <a:rPr lang="en" b="1" dirty="0"/>
              <a:t>1. Pinball Loss (</a:t>
            </a:r>
            <a:r>
              <a:rPr lang="ru-RU" b="1" dirty="0"/>
              <a:t>Квантильная функция потерь)</a:t>
            </a:r>
            <a:endParaRPr lang="ru-RU" dirty="0"/>
          </a:p>
          <a:p>
            <a:r>
              <a:rPr lang="ru-RU" b="1" dirty="0"/>
              <a:t>Когда использовать:</a:t>
            </a:r>
            <a:r>
              <a:rPr lang="ru-RU" dirty="0"/>
              <a:t/>
            </a:r>
            <a:br>
              <a:rPr lang="ru-RU" dirty="0"/>
            </a:br>
            <a:r>
              <a:rPr lang="ru-RU" dirty="0"/>
              <a:t>Когда нужно оценить точность прогноза конкретных квантилей распределения (например, 10%, 50%, 90%).</a:t>
            </a:r>
          </a:p>
          <a:p>
            <a:r>
              <a:rPr lang="ru-RU" b="1" dirty="0"/>
              <a:t>Формула:</a:t>
            </a:r>
            <a:endParaRPr lang="ru-RU" dirty="0"/>
          </a:p>
          <a:p>
            <a:r>
              <a:rPr lang="en" dirty="0"/>
              <a:t>L</a:t>
            </a:r>
            <a:r>
              <a:rPr lang="el-GR" dirty="0"/>
              <a:t>τ(</a:t>
            </a:r>
            <a:r>
              <a:rPr lang="en" dirty="0" err="1"/>
              <a:t>y,q</a:t>
            </a:r>
            <a:r>
              <a:rPr lang="en" dirty="0"/>
              <a:t>)={</a:t>
            </a:r>
            <a:r>
              <a:rPr lang="el-GR" dirty="0"/>
              <a:t>τ⋅(</a:t>
            </a:r>
            <a:r>
              <a:rPr lang="en" dirty="0"/>
              <a:t>y−q),</a:t>
            </a:r>
            <a:r>
              <a:rPr lang="ru-RU" dirty="0"/>
              <a:t>если </a:t>
            </a:r>
            <a:r>
              <a:rPr lang="en" dirty="0" err="1"/>
              <a:t>y≥q</a:t>
            </a:r>
            <a:r>
              <a:rPr lang="en" dirty="0"/>
              <a:t>(1−</a:t>
            </a:r>
            <a:r>
              <a:rPr lang="el-GR" dirty="0"/>
              <a:t>τ)⋅(</a:t>
            </a:r>
            <a:r>
              <a:rPr lang="en" dirty="0"/>
              <a:t>q−y),</a:t>
            </a:r>
            <a:r>
              <a:rPr lang="ru-RU" dirty="0"/>
              <a:t>если </a:t>
            </a:r>
            <a:r>
              <a:rPr lang="en" dirty="0"/>
              <a:t>y&lt;</a:t>
            </a:r>
            <a:r>
              <a:rPr lang="en" dirty="0" err="1"/>
              <a:t>q</a:t>
            </a:r>
            <a:r>
              <a:rPr lang="en" i="1" dirty="0" err="1"/>
              <a:t>L</a:t>
            </a:r>
            <a:r>
              <a:rPr lang="el-GR" i="1" dirty="0"/>
              <a:t>τ</a:t>
            </a:r>
            <a:r>
              <a:rPr lang="el-GR" dirty="0"/>
              <a:t>​(</a:t>
            </a:r>
            <a:r>
              <a:rPr lang="en" i="1" dirty="0" err="1"/>
              <a:t>y</a:t>
            </a:r>
            <a:r>
              <a:rPr lang="en" dirty="0" err="1"/>
              <a:t>,</a:t>
            </a:r>
            <a:r>
              <a:rPr lang="en" i="1" dirty="0" err="1"/>
              <a:t>q</a:t>
            </a:r>
            <a:r>
              <a:rPr lang="en" dirty="0"/>
              <a:t>)={</a:t>
            </a:r>
            <a:r>
              <a:rPr lang="el-GR" i="1" dirty="0"/>
              <a:t>τ</a:t>
            </a:r>
            <a:r>
              <a:rPr lang="el-GR" dirty="0"/>
              <a:t>⋅(</a:t>
            </a:r>
            <a:r>
              <a:rPr lang="en" i="1" dirty="0"/>
              <a:t>y</a:t>
            </a:r>
            <a:r>
              <a:rPr lang="en" dirty="0"/>
              <a:t>−</a:t>
            </a:r>
            <a:r>
              <a:rPr lang="en" i="1" dirty="0"/>
              <a:t>q</a:t>
            </a:r>
            <a:r>
              <a:rPr lang="en" dirty="0"/>
              <a:t>),(1−</a:t>
            </a:r>
            <a:r>
              <a:rPr lang="el-GR" i="1" dirty="0"/>
              <a:t>τ</a:t>
            </a:r>
            <a:r>
              <a:rPr lang="el-GR" dirty="0"/>
              <a:t>)⋅(</a:t>
            </a:r>
            <a:r>
              <a:rPr lang="en" i="1" dirty="0"/>
              <a:t>q</a:t>
            </a:r>
            <a:r>
              <a:rPr lang="en" dirty="0"/>
              <a:t>−</a:t>
            </a:r>
            <a:r>
              <a:rPr lang="en" i="1" dirty="0"/>
              <a:t>y</a:t>
            </a:r>
            <a:r>
              <a:rPr lang="en" dirty="0"/>
              <a:t>),​</a:t>
            </a:r>
            <a:r>
              <a:rPr lang="ru-RU" dirty="0"/>
              <a:t>если </a:t>
            </a:r>
            <a:r>
              <a:rPr lang="en" i="1" dirty="0" err="1"/>
              <a:t>y</a:t>
            </a:r>
            <a:r>
              <a:rPr lang="en" dirty="0" err="1"/>
              <a:t>≥</a:t>
            </a:r>
            <a:r>
              <a:rPr lang="en" i="1" dirty="0" err="1"/>
              <a:t>q</a:t>
            </a:r>
            <a:r>
              <a:rPr lang="ru-RU" dirty="0"/>
              <a:t>если </a:t>
            </a:r>
            <a:r>
              <a:rPr lang="en" i="1" dirty="0"/>
              <a:t>y</a:t>
            </a:r>
            <a:r>
              <a:rPr lang="en" dirty="0"/>
              <a:t>&lt;</a:t>
            </a:r>
            <a:r>
              <a:rPr lang="en" i="1" dirty="0"/>
              <a:t>q</a:t>
            </a:r>
            <a:r>
              <a:rPr lang="en" dirty="0"/>
              <a:t>​</a:t>
            </a:r>
            <a:r>
              <a:rPr lang="ru-RU" dirty="0"/>
              <a:t>где:</a:t>
            </a:r>
          </a:p>
          <a:p>
            <a:r>
              <a:rPr lang="en" dirty="0" err="1"/>
              <a:t>y</a:t>
            </a:r>
            <a:r>
              <a:rPr lang="en" i="1" dirty="0" err="1"/>
              <a:t>y</a:t>
            </a:r>
            <a:r>
              <a:rPr lang="en" dirty="0"/>
              <a:t> — </a:t>
            </a:r>
            <a:r>
              <a:rPr lang="ru-RU" dirty="0"/>
              <a:t>фактическое значение,</a:t>
            </a:r>
          </a:p>
          <a:p>
            <a:r>
              <a:rPr lang="en" dirty="0" err="1"/>
              <a:t>q</a:t>
            </a:r>
            <a:r>
              <a:rPr lang="en" i="1" dirty="0" err="1"/>
              <a:t>q</a:t>
            </a:r>
            <a:r>
              <a:rPr lang="en" dirty="0"/>
              <a:t> — </a:t>
            </a:r>
            <a:r>
              <a:rPr lang="ru-RU" dirty="0"/>
              <a:t>прогнозируемый квантиль,</a:t>
            </a:r>
          </a:p>
          <a:p>
            <a:r>
              <a:rPr lang="el-GR" dirty="0" err="1"/>
              <a:t>τ</a:t>
            </a:r>
            <a:r>
              <a:rPr lang="el-GR" i="1" dirty="0" err="1"/>
              <a:t>τ</a:t>
            </a:r>
            <a:r>
              <a:rPr lang="el-GR" dirty="0"/>
              <a:t> — </a:t>
            </a:r>
            <a:r>
              <a:rPr lang="ru-RU" dirty="0"/>
              <a:t>целевой квантиль (например, 0.5 для медианы).</a:t>
            </a:r>
          </a:p>
          <a:p>
            <a:r>
              <a:rPr lang="ru-RU" b="1" dirty="0"/>
              <a:t>Интерпретация:</a:t>
            </a:r>
            <a:endParaRPr lang="ru-RU" dirty="0"/>
          </a:p>
          <a:p>
            <a:r>
              <a:rPr lang="ru-RU" b="1" dirty="0"/>
              <a:t>Минимизируется</a:t>
            </a:r>
            <a:r>
              <a:rPr lang="ru-RU" dirty="0"/>
              <a:t> → модель лучше предсказывает нужный квантиль.</a:t>
            </a:r>
          </a:p>
          <a:p>
            <a:r>
              <a:rPr lang="ru-RU" b="1" dirty="0"/>
              <a:t>Среднее значение</a:t>
            </a:r>
            <a:r>
              <a:rPr lang="ru-RU" dirty="0"/>
              <a:t> по всем наблюдениям дает итоговую метрику.</a:t>
            </a:r>
          </a:p>
          <a:p>
            <a:r>
              <a:rPr lang="ru-RU" b="1" dirty="0"/>
              <a:t>Пример:</a:t>
            </a:r>
            <a:r>
              <a:rPr lang="ru-RU" dirty="0"/>
              <a:t/>
            </a:r>
            <a:br>
              <a:rPr lang="ru-RU" dirty="0"/>
            </a:br>
            <a:r>
              <a:rPr lang="ru-RU" dirty="0"/>
              <a:t>Прогнозируем 90%-квантиль спроса на электроэнергию:</a:t>
            </a:r>
          </a:p>
          <a:p>
            <a:r>
              <a:rPr lang="ru-RU" dirty="0"/>
              <a:t>Если реальное значение </a:t>
            </a:r>
            <a:r>
              <a:rPr lang="ru-RU" b="1" dirty="0"/>
              <a:t>выше</a:t>
            </a:r>
            <a:r>
              <a:rPr lang="ru-RU" dirty="0"/>
              <a:t> прогноза: штраф 0.9×ошибка0.9×ошибка.</a:t>
            </a:r>
          </a:p>
          <a:p>
            <a:r>
              <a:rPr lang="ru-RU" dirty="0"/>
              <a:t>Если </a:t>
            </a:r>
            <a:r>
              <a:rPr lang="ru-RU" b="1" dirty="0"/>
              <a:t>ниже</a:t>
            </a:r>
            <a:r>
              <a:rPr lang="ru-RU" dirty="0"/>
              <a:t>: штраф 0.1×ошибка0.1×ошибка.</a:t>
            </a:r>
          </a:p>
          <a:p>
            <a:r>
              <a:rPr lang="ru-RU" b="1" dirty="0"/>
              <a:t>Плюсы:</a:t>
            </a:r>
            <a:endParaRPr lang="ru-RU" dirty="0"/>
          </a:p>
          <a:p>
            <a:r>
              <a:rPr lang="ru-RU" dirty="0"/>
              <a:t>Учитывает асимметрию штрафов (например, перепроизводство может быть хуже недопроизводства).</a:t>
            </a:r>
          </a:p>
          <a:p>
            <a:r>
              <a:rPr lang="ru-RU" dirty="0"/>
              <a:t>Позволяет оценить весь распределительный прогноз, комбинируя несколько квантилей.</a:t>
            </a:r>
          </a:p>
          <a:p>
            <a:r>
              <a:rPr lang="ru-RU" b="1" dirty="0"/>
              <a:t>Минусы:</a:t>
            </a:r>
            <a:endParaRPr lang="ru-RU" dirty="0"/>
          </a:p>
          <a:p>
            <a:r>
              <a:rPr lang="ru-RU" dirty="0"/>
              <a:t>Не дает представления о форме распределения.</a:t>
            </a:r>
          </a:p>
          <a:p>
            <a:r>
              <a:rPr lang="ru-RU" dirty="0"/>
              <a:t>Чувствителен к выбору квантилей.</a:t>
            </a:r>
          </a:p>
          <a:p>
            <a:r>
              <a:rPr lang="ru-RU" b="1" dirty="0"/>
              <a:t>Кейс:</a:t>
            </a:r>
            <a:r>
              <a:rPr lang="ru-RU" dirty="0"/>
              <a:t/>
            </a:r>
            <a:br>
              <a:rPr lang="ru-RU" dirty="0"/>
            </a:br>
            <a:r>
              <a:rPr lang="ru-RU" dirty="0"/>
              <a:t>Компания прогнозирует 95%-квантиль спроса на лекарства, чтобы избежать дефицита. </a:t>
            </a:r>
            <a:r>
              <a:rPr lang="en" dirty="0"/>
              <a:t>Pinball Loss </a:t>
            </a:r>
            <a:r>
              <a:rPr lang="ru-RU" dirty="0"/>
              <a:t>помогает выбрать модель, которая лучше предсказывает именно "хвосты" распределения.</a:t>
            </a:r>
          </a:p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9F92E165-B8F8-0DAD-D8EA-9C5730D7BD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43041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468C5527-E530-6492-1138-6117251859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6F20A5B-6813-D260-D7D2-28F1CB2E1F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AEACB0F4-6754-9B89-13B6-3A32C1B2D1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51</a:t>
            </a:fld>
            <a:endParaRPr lang="en-US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38173CBD-7F91-6086-AD26-AA6B8D60A6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70539" y="369824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ru-RU" sz="1200" b="1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2. CRPS (Continuous Ranked Probability Score)</a:t>
            </a:r>
            <a:endParaRPr kumimoji="0" lang="en-US" altLang="ru-RU" sz="9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ru-RU" sz="1200" b="1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Когда </a:t>
            </a:r>
            <a:r>
              <a:rPr kumimoji="0" lang="en-US" altLang="ru-RU" sz="1200" b="1" i="0" u="none" strike="noStrike" cap="none" normalizeH="0" baseline="0" dirty="0" err="1">
                <a:ln>
                  <a:noFill/>
                </a:ln>
                <a:solidFill>
                  <a:srgbClr val="404040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использовать</a:t>
            </a:r>
            <a:r>
              <a:rPr kumimoji="0" lang="en-US" altLang="ru-RU" sz="1200" b="1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kumimoji="0" lang="en-US" altLang="ru-RU" sz="12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kumimoji="0" lang="en-US" altLang="ru-RU" sz="12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ru-RU" sz="1200" b="0" i="0" u="none" strike="noStrike" cap="none" normalizeH="0" baseline="0" dirty="0" err="1">
                <a:ln>
                  <a:noFill/>
                </a:ln>
                <a:solidFill>
                  <a:srgbClr val="404040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Для</a:t>
            </a:r>
            <a:r>
              <a:rPr kumimoji="0" lang="en-US" altLang="ru-RU" sz="12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ru-RU" sz="1200" b="0" i="0" u="none" strike="noStrike" cap="none" normalizeH="0" baseline="0" dirty="0" err="1">
                <a:ln>
                  <a:noFill/>
                </a:ln>
                <a:solidFill>
                  <a:srgbClr val="404040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оценки</a:t>
            </a:r>
            <a:r>
              <a:rPr kumimoji="0" lang="en-US" altLang="ru-RU" sz="12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ru-RU" sz="1200" b="0" i="0" u="none" strike="noStrike" cap="none" normalizeH="0" baseline="0" dirty="0" err="1">
                <a:ln>
                  <a:noFill/>
                </a:ln>
                <a:solidFill>
                  <a:srgbClr val="404040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всего</a:t>
            </a:r>
            <a:r>
              <a:rPr kumimoji="0" lang="en-US" altLang="ru-RU" sz="12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ru-RU" sz="1200" b="0" i="0" u="none" strike="noStrike" cap="none" normalizeH="0" baseline="0" dirty="0" err="1">
                <a:ln>
                  <a:noFill/>
                </a:ln>
                <a:solidFill>
                  <a:srgbClr val="404040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прогнозируемого</a:t>
            </a:r>
            <a:r>
              <a:rPr kumimoji="0" lang="en-US" altLang="ru-RU" sz="12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ru-RU" sz="1200" b="0" i="0" u="none" strike="noStrike" cap="none" normalizeH="0" baseline="0" dirty="0" err="1">
                <a:ln>
                  <a:noFill/>
                </a:ln>
                <a:solidFill>
                  <a:srgbClr val="404040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распределения</a:t>
            </a:r>
            <a:r>
              <a:rPr kumimoji="0" lang="en-US" altLang="ru-RU" sz="12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en-US" altLang="ru-RU" sz="1200" b="0" i="0" u="none" strike="noStrike" cap="none" normalizeH="0" baseline="0" dirty="0" err="1">
                <a:ln>
                  <a:noFill/>
                </a:ln>
                <a:solidFill>
                  <a:srgbClr val="404040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а</a:t>
            </a:r>
            <a:r>
              <a:rPr kumimoji="0" lang="en-US" altLang="ru-RU" sz="12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ru-RU" sz="1200" b="0" i="0" u="none" strike="noStrike" cap="none" normalizeH="0" baseline="0" dirty="0" err="1">
                <a:ln>
                  <a:noFill/>
                </a:ln>
                <a:solidFill>
                  <a:srgbClr val="404040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не</a:t>
            </a:r>
            <a:r>
              <a:rPr kumimoji="0" lang="en-US" altLang="ru-RU" sz="12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ru-RU" sz="1200" b="0" i="0" u="none" strike="noStrike" cap="none" normalizeH="0" baseline="0" dirty="0" err="1">
                <a:ln>
                  <a:noFill/>
                </a:ln>
                <a:solidFill>
                  <a:srgbClr val="404040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отдельных</a:t>
            </a:r>
            <a:r>
              <a:rPr kumimoji="0" lang="en-US" altLang="ru-RU" sz="12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ru-RU" sz="1200" b="0" i="0" u="none" strike="noStrike" cap="none" normalizeH="0" baseline="0" dirty="0" err="1">
                <a:ln>
                  <a:noFill/>
                </a:ln>
                <a:solidFill>
                  <a:srgbClr val="404040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квантилей</a:t>
            </a:r>
            <a:r>
              <a:rPr kumimoji="0" lang="en-US" altLang="ru-RU" sz="12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kumimoji="0" lang="en-US" altLang="ru-RU" sz="9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ru-RU" sz="1200" b="1" i="0" u="none" strike="noStrike" cap="none" normalizeH="0" baseline="0" dirty="0" err="1">
                <a:ln>
                  <a:noFill/>
                </a:ln>
                <a:solidFill>
                  <a:srgbClr val="404040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Формула</a:t>
            </a:r>
            <a:r>
              <a:rPr kumimoji="0" lang="en-US" altLang="ru-RU" sz="1200" b="1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kumimoji="0" lang="en-US" altLang="ru-RU" sz="9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ru-RU" sz="14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CRPS(</a:t>
            </a:r>
            <a:r>
              <a:rPr kumimoji="0" lang="en-US" altLang="ru-RU" sz="1400" b="0" i="0" u="none" strike="noStrike" cap="none" normalizeH="0" baseline="0" dirty="0" err="1">
                <a:ln>
                  <a:noFill/>
                </a:ln>
                <a:solidFill>
                  <a:srgbClr val="404040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F,y</a:t>
            </a:r>
            <a:r>
              <a:rPr kumimoji="0" lang="en-US" altLang="ru-RU" sz="14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)=∫−∞∞(F(x)−1x≥y)2 </a:t>
            </a:r>
            <a:r>
              <a:rPr kumimoji="0" lang="en-US" altLang="ru-RU" sz="1400" b="0" i="0" u="none" strike="noStrike" cap="none" normalizeH="0" baseline="0" dirty="0" err="1">
                <a:ln>
                  <a:noFill/>
                </a:ln>
                <a:solidFill>
                  <a:srgbClr val="404040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dx</a:t>
            </a:r>
            <a:r>
              <a:rPr kumimoji="0" lang="en-US" altLang="ru-RU" sz="1400" b="0" i="1" u="none" strike="noStrike" cap="none" normalizeH="0" baseline="0" dirty="0" err="1">
                <a:ln>
                  <a:noFill/>
                </a:ln>
                <a:solidFill>
                  <a:srgbClr val="404040"/>
                </a:solidFill>
                <a:effectLst/>
                <a:latin typeface="KaTeX_Math" charset="0"/>
                <a:ea typeface="Times New Roman" panose="02020603050405020304" pitchFamily="18" charset="0"/>
                <a:cs typeface="Times New Roman" panose="02020603050405020304" pitchFamily="18" charset="0"/>
              </a:rPr>
              <a:t>CRPS</a:t>
            </a:r>
            <a:r>
              <a:rPr kumimoji="0" lang="en-US" altLang="ru-RU" sz="14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kumimoji="0" lang="en-US" altLang="ru-RU" sz="1400" b="0" i="1" u="none" strike="noStrike" cap="none" normalizeH="0" baseline="0" dirty="0" err="1">
                <a:ln>
                  <a:noFill/>
                </a:ln>
                <a:solidFill>
                  <a:srgbClr val="404040"/>
                </a:solidFill>
                <a:effectLst/>
                <a:latin typeface="KaTeX_Math" charset="0"/>
                <a:ea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kumimoji="0" lang="en-US" altLang="ru-RU" sz="1400" b="0" i="0" u="none" strike="noStrike" cap="none" normalizeH="0" baseline="0" dirty="0" err="1">
                <a:ln>
                  <a:noFill/>
                </a:ln>
                <a:solidFill>
                  <a:srgbClr val="404040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kumimoji="0" lang="en-US" altLang="ru-RU" sz="1400" b="0" i="1" u="none" strike="noStrike" cap="none" normalizeH="0" baseline="0" dirty="0" err="1">
                <a:ln>
                  <a:noFill/>
                </a:ln>
                <a:solidFill>
                  <a:srgbClr val="404040"/>
                </a:solidFill>
                <a:effectLst/>
                <a:latin typeface="KaTeX_Math" charset="0"/>
                <a:ea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kumimoji="0" lang="en-US" altLang="ru-RU" sz="14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)=</a:t>
            </a:r>
            <a:r>
              <a:rPr kumimoji="0" lang="en-US" altLang="ru-RU" sz="14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KaTeX_Size2" charset="0"/>
                <a:ea typeface="Times New Roman" panose="02020603050405020304" pitchFamily="18" charset="0"/>
                <a:cs typeface="Times New Roman" panose="02020603050405020304" pitchFamily="18" charset="0"/>
              </a:rPr>
              <a:t>∫</a:t>
            </a:r>
            <a:r>
              <a:rPr kumimoji="0" lang="en-US" altLang="ru-RU" sz="10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−∞∞</a:t>
            </a:r>
            <a:r>
              <a:rPr kumimoji="0" lang="en-US" altLang="ru-RU" sz="1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​</a:t>
            </a:r>
            <a:r>
              <a:rPr kumimoji="0" lang="en-US" altLang="ru-RU" sz="14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kumimoji="0" lang="en-US" altLang="ru-RU" sz="1400" b="0" i="1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KaTeX_Math" charset="0"/>
                <a:ea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kumimoji="0" lang="en-US" altLang="ru-RU" sz="14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kumimoji="0" lang="en-US" altLang="ru-RU" sz="1400" b="0" i="1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KaTeX_Math" charset="0"/>
                <a:ea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kumimoji="0" lang="en-US" altLang="ru-RU" sz="14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)−1</a:t>
            </a:r>
            <a:r>
              <a:rPr kumimoji="0" lang="en-US" altLang="ru-RU" sz="1000" b="0" i="1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KaTeX_Math" charset="0"/>
                <a:ea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kumimoji="0" lang="en-US" altLang="ru-RU" sz="10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≥</a:t>
            </a:r>
            <a:r>
              <a:rPr kumimoji="0" lang="en-US" altLang="ru-RU" sz="1000" b="0" i="1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KaTeX_Math" charset="0"/>
                <a:ea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kumimoji="0" lang="en-US" altLang="ru-RU" sz="1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​</a:t>
            </a:r>
            <a:r>
              <a:rPr kumimoji="0" lang="en-US" altLang="ru-RU" sz="14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kumimoji="0" lang="en-US" altLang="ru-RU" sz="10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kumimoji="0" lang="en-US" altLang="ru-RU" sz="1400" b="0" i="1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KaTeX_Math" charset="0"/>
                <a:ea typeface="Times New Roman" panose="02020603050405020304" pitchFamily="18" charset="0"/>
                <a:cs typeface="Times New Roman" panose="02020603050405020304" pitchFamily="18" charset="0"/>
              </a:rPr>
              <a:t>dx</a:t>
            </a:r>
            <a:endParaRPr kumimoji="0" lang="en-US" altLang="ru-RU" sz="9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ru-RU" sz="1200" b="0" i="0" u="none" strike="noStrike" cap="none" normalizeH="0" baseline="0" dirty="0" err="1">
                <a:ln>
                  <a:noFill/>
                </a:ln>
                <a:solidFill>
                  <a:srgbClr val="404040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где</a:t>
            </a:r>
            <a:r>
              <a:rPr kumimoji="0" lang="en-US" altLang="ru-RU" sz="12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kumimoji="0" lang="en-US" altLang="ru-RU" sz="9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ru-RU" sz="14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kumimoji="0" lang="en-US" altLang="ru-RU" sz="1400" b="0" i="1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KaTeX_Math" charset="0"/>
                <a:ea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kumimoji="0" lang="en-US" altLang="ru-RU" sz="12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—</a:t>
            </a:r>
            <a:r>
              <a:rPr kumimoji="0" lang="en-US" altLang="ru-RU" sz="12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ru-RU" sz="1200" b="0" i="0" u="none" strike="noStrike" cap="none" normalizeH="0" baseline="0" dirty="0" err="1">
                <a:ln>
                  <a:noFill/>
                </a:ln>
                <a:solidFill>
                  <a:srgbClr val="404040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прогнозируемое</a:t>
            </a:r>
            <a:r>
              <a:rPr kumimoji="0" lang="en-US" altLang="ru-RU" sz="12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ru-RU" sz="1200" b="0" i="0" u="none" strike="noStrike" cap="none" normalizeH="0" baseline="0" dirty="0" err="1">
                <a:ln>
                  <a:noFill/>
                </a:ln>
                <a:solidFill>
                  <a:srgbClr val="404040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кумулятивное</a:t>
            </a:r>
            <a:r>
              <a:rPr kumimoji="0" lang="en-US" altLang="ru-RU" sz="12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ru-RU" sz="1200" b="0" i="0" u="none" strike="noStrike" cap="none" normalizeH="0" baseline="0" dirty="0" err="1">
                <a:ln>
                  <a:noFill/>
                </a:ln>
                <a:solidFill>
                  <a:srgbClr val="404040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распределение</a:t>
            </a:r>
            <a:r>
              <a:rPr kumimoji="0" lang="en-US" altLang="ru-RU" sz="12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(CDF),</a:t>
            </a:r>
            <a:endParaRPr kumimoji="0" lang="en-US" altLang="ru-RU" sz="1200" b="0" i="0" u="none" strike="noStrike" cap="none" normalizeH="0" baseline="0" dirty="0">
              <a:ln>
                <a:noFill/>
              </a:ln>
              <a:solidFill>
                <a:srgbClr val="404040"/>
              </a:solidFill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ru-RU" sz="1400" b="0" i="0" u="none" strike="noStrike" cap="none" normalizeH="0" baseline="0" dirty="0" err="1">
                <a:ln>
                  <a:noFill/>
                </a:ln>
                <a:solidFill>
                  <a:srgbClr val="404040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kumimoji="0" lang="en-US" altLang="ru-RU" sz="1400" b="0" i="1" u="none" strike="noStrike" cap="none" normalizeH="0" baseline="0" dirty="0" err="1">
                <a:ln>
                  <a:noFill/>
                </a:ln>
                <a:solidFill>
                  <a:srgbClr val="404040"/>
                </a:solidFill>
                <a:effectLst/>
                <a:latin typeface="KaTeX_Math" charset="0"/>
                <a:ea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kumimoji="0" lang="en-US" altLang="ru-RU" sz="12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—</a:t>
            </a:r>
            <a:r>
              <a:rPr kumimoji="0" lang="en-US" altLang="ru-RU" sz="12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ru-RU" sz="1200" b="0" i="0" u="none" strike="noStrike" cap="none" normalizeH="0" baseline="0" dirty="0" err="1">
                <a:ln>
                  <a:noFill/>
                </a:ln>
                <a:solidFill>
                  <a:srgbClr val="404040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фактическое</a:t>
            </a:r>
            <a:r>
              <a:rPr kumimoji="0" lang="en-US" altLang="ru-RU" sz="12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ru-RU" sz="1200" b="0" i="0" u="none" strike="noStrike" cap="none" normalizeH="0" baseline="0" dirty="0" err="1">
                <a:ln>
                  <a:noFill/>
                </a:ln>
                <a:solidFill>
                  <a:srgbClr val="404040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значение</a:t>
            </a:r>
            <a:r>
              <a:rPr kumimoji="0" lang="en-US" altLang="ru-RU" sz="12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kumimoji="0" lang="en-US" altLang="ru-RU" sz="9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ru-RU" sz="1200" b="1" i="0" u="none" strike="noStrike" cap="none" normalizeH="0" baseline="0" dirty="0" err="1">
                <a:ln>
                  <a:noFill/>
                </a:ln>
                <a:solidFill>
                  <a:srgbClr val="404040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Упрощенный</a:t>
            </a:r>
            <a:r>
              <a:rPr kumimoji="0" lang="en-US" altLang="ru-RU" sz="1200" b="1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ru-RU" sz="1200" b="1" i="0" u="none" strike="noStrike" cap="none" normalizeH="0" baseline="0" dirty="0" err="1">
                <a:ln>
                  <a:noFill/>
                </a:ln>
                <a:solidFill>
                  <a:srgbClr val="404040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расчет</a:t>
            </a:r>
            <a:r>
              <a:rPr kumimoji="0" lang="en-US" altLang="ru-RU" sz="1200" b="1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kumimoji="0" lang="en-US" altLang="ru-RU" sz="1200" b="1" i="0" u="none" strike="noStrike" cap="none" normalizeH="0" baseline="0" dirty="0" err="1">
                <a:ln>
                  <a:noFill/>
                </a:ln>
                <a:solidFill>
                  <a:srgbClr val="404040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для</a:t>
            </a:r>
            <a:r>
              <a:rPr kumimoji="0" lang="en-US" altLang="ru-RU" sz="1200" b="1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ru-RU" sz="1200" b="1" i="0" u="none" strike="noStrike" cap="none" normalizeH="0" baseline="0" dirty="0" err="1">
                <a:ln>
                  <a:noFill/>
                </a:ln>
                <a:solidFill>
                  <a:srgbClr val="404040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выборки</a:t>
            </a:r>
            <a:r>
              <a:rPr kumimoji="0" lang="en-US" altLang="ru-RU" sz="1200" b="1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):</a:t>
            </a:r>
            <a:endParaRPr kumimoji="0" lang="en-US" altLang="ru-RU" sz="9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ru-RU" sz="14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CRPS≈1N∑i=1NL(</a:t>
            </a:r>
            <a:r>
              <a:rPr kumimoji="0" lang="en-US" altLang="ru-RU" sz="1400" b="0" i="0" u="none" strike="noStrike" cap="none" normalizeH="0" baseline="0" dirty="0" err="1">
                <a:ln>
                  <a:noFill/>
                </a:ln>
                <a:solidFill>
                  <a:srgbClr val="404040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F,yi</a:t>
            </a:r>
            <a:r>
              <a:rPr kumimoji="0" lang="en-US" altLang="ru-RU" sz="14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kumimoji="0" lang="en-US" altLang="ru-RU" sz="1400" b="0" i="1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KaTeX_Math" charset="0"/>
                <a:ea typeface="Times New Roman" panose="02020603050405020304" pitchFamily="18" charset="0"/>
                <a:cs typeface="Times New Roman" panose="02020603050405020304" pitchFamily="18" charset="0"/>
              </a:rPr>
              <a:t>CRPS</a:t>
            </a:r>
            <a:r>
              <a:rPr kumimoji="0" lang="en-US" altLang="ru-RU" sz="14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≈</a:t>
            </a:r>
            <a:r>
              <a:rPr kumimoji="0" lang="en-US" altLang="ru-RU" sz="1400" b="0" i="1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KaTeX_Math" charset="0"/>
                <a:ea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kumimoji="0" lang="en-US" altLang="ru-RU" sz="14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kumimoji="0" lang="en-US" altLang="ru-RU" sz="1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​</a:t>
            </a:r>
            <a:r>
              <a:rPr kumimoji="0" lang="en-US" altLang="ru-RU" sz="1000" b="0" i="1" u="none" strike="noStrike" cap="none" normalizeH="0" baseline="0" dirty="0" err="1">
                <a:ln>
                  <a:noFill/>
                </a:ln>
                <a:solidFill>
                  <a:srgbClr val="404040"/>
                </a:solidFill>
                <a:effectLst/>
                <a:latin typeface="KaTeX_Math" charset="0"/>
                <a:ea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kumimoji="0" lang="en-US" altLang="ru-RU" sz="10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=1</a:t>
            </a:r>
            <a:r>
              <a:rPr kumimoji="0" lang="en-US" altLang="ru-RU" sz="14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KaTeX_Size2" charset="0"/>
                <a:ea typeface="Times New Roman" panose="02020603050405020304" pitchFamily="18" charset="0"/>
                <a:cs typeface="Times New Roman" panose="02020603050405020304" pitchFamily="18" charset="0"/>
              </a:rPr>
              <a:t>∑</a:t>
            </a:r>
            <a:r>
              <a:rPr kumimoji="0" lang="en-US" altLang="ru-RU" sz="1000" b="0" i="1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KaTeX_Math" charset="0"/>
                <a:ea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kumimoji="0" lang="en-US" altLang="ru-RU" sz="1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​</a:t>
            </a:r>
            <a:r>
              <a:rPr kumimoji="0" lang="en-US" altLang="ru-RU" sz="1400" b="0" i="1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KaTeX_Math" charset="0"/>
                <a:ea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kumimoji="0" lang="en-US" altLang="ru-RU" sz="14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kumimoji="0" lang="en-US" altLang="ru-RU" sz="1400" b="0" i="1" u="none" strike="noStrike" cap="none" normalizeH="0" baseline="0" dirty="0" err="1">
                <a:ln>
                  <a:noFill/>
                </a:ln>
                <a:solidFill>
                  <a:srgbClr val="404040"/>
                </a:solidFill>
                <a:effectLst/>
                <a:latin typeface="KaTeX_Math" charset="0"/>
                <a:ea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kumimoji="0" lang="en-US" altLang="ru-RU" sz="1400" b="0" i="0" u="none" strike="noStrike" cap="none" normalizeH="0" baseline="0" dirty="0" err="1">
                <a:ln>
                  <a:noFill/>
                </a:ln>
                <a:solidFill>
                  <a:srgbClr val="404040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kumimoji="0" lang="en-US" altLang="ru-RU" sz="1400" b="0" i="1" u="none" strike="noStrike" cap="none" normalizeH="0" baseline="0" dirty="0" err="1">
                <a:ln>
                  <a:noFill/>
                </a:ln>
                <a:solidFill>
                  <a:srgbClr val="404040"/>
                </a:solidFill>
                <a:effectLst/>
                <a:latin typeface="KaTeX_Math" charset="0"/>
                <a:ea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kumimoji="0" lang="en-US" altLang="ru-RU" sz="1000" b="0" i="1" u="none" strike="noStrike" cap="none" normalizeH="0" baseline="0" dirty="0" err="1">
                <a:ln>
                  <a:noFill/>
                </a:ln>
                <a:solidFill>
                  <a:srgbClr val="404040"/>
                </a:solidFill>
                <a:effectLst/>
                <a:latin typeface="KaTeX_Math" charset="0"/>
                <a:ea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kumimoji="0" lang="en-US" altLang="ru-RU" sz="1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​</a:t>
            </a:r>
            <a:r>
              <a:rPr kumimoji="0" lang="en-US" altLang="ru-RU" sz="14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kumimoji="0" lang="en-US" altLang="ru-RU" sz="9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ru-RU" sz="1200" b="1" i="0" u="none" strike="noStrike" cap="none" normalizeH="0" baseline="0" dirty="0" err="1">
                <a:ln>
                  <a:noFill/>
                </a:ln>
                <a:solidFill>
                  <a:srgbClr val="404040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Интерпретация</a:t>
            </a:r>
            <a:r>
              <a:rPr kumimoji="0" lang="en-US" altLang="ru-RU" sz="1200" b="1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kumimoji="0" lang="en-US" altLang="ru-RU" sz="9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ru-RU" sz="1200" b="1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kumimoji="0" lang="en-US" altLang="ru-RU" sz="12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—</a:t>
            </a:r>
            <a:r>
              <a:rPr kumimoji="0" lang="en-US" altLang="ru-RU" sz="12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ru-RU" sz="1200" b="0" i="0" u="none" strike="noStrike" cap="none" normalizeH="0" baseline="0" dirty="0" err="1">
                <a:ln>
                  <a:noFill/>
                </a:ln>
                <a:solidFill>
                  <a:srgbClr val="404040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идеальный</a:t>
            </a:r>
            <a:r>
              <a:rPr kumimoji="0" lang="en-US" altLang="ru-RU" sz="12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ru-RU" sz="1200" b="0" i="0" u="none" strike="noStrike" cap="none" normalizeH="0" baseline="0" dirty="0" err="1">
                <a:ln>
                  <a:noFill/>
                </a:ln>
                <a:solidFill>
                  <a:srgbClr val="404040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прогноз</a:t>
            </a:r>
            <a:r>
              <a:rPr kumimoji="0" lang="en-US" altLang="ru-RU" sz="12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kumimoji="0" lang="en-US" altLang="ru-RU" sz="1200" b="0" i="0" u="none" strike="noStrike" cap="none" normalizeH="0" baseline="0" dirty="0">
              <a:ln>
                <a:noFill/>
              </a:ln>
              <a:solidFill>
                <a:srgbClr val="404040"/>
              </a:solidFill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ru-RU" sz="1200" b="0" i="0" u="none" strike="noStrike" cap="none" normalizeH="0" baseline="0" dirty="0" err="1">
                <a:ln>
                  <a:noFill/>
                </a:ln>
                <a:solidFill>
                  <a:srgbClr val="404040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Чем</a:t>
            </a:r>
            <a:r>
              <a:rPr kumimoji="0" lang="en-US" altLang="ru-RU" sz="12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ru-RU" sz="1200" b="0" i="0" u="none" strike="noStrike" cap="none" normalizeH="0" baseline="0" dirty="0" err="1">
                <a:ln>
                  <a:noFill/>
                </a:ln>
                <a:solidFill>
                  <a:srgbClr val="404040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меньше</a:t>
            </a:r>
            <a:r>
              <a:rPr kumimoji="0" lang="en-US" altLang="ru-RU" sz="12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en-US" altLang="ru-RU" sz="1200" b="0" i="0" u="none" strike="noStrike" cap="none" normalizeH="0" baseline="0" dirty="0" err="1">
                <a:ln>
                  <a:noFill/>
                </a:ln>
                <a:solidFill>
                  <a:srgbClr val="404040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тем</a:t>
            </a:r>
            <a:r>
              <a:rPr kumimoji="0" lang="en-US" altLang="ru-RU" sz="12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ru-RU" sz="1200" b="0" i="0" u="none" strike="noStrike" cap="none" normalizeH="0" baseline="0" dirty="0" err="1">
                <a:ln>
                  <a:noFill/>
                </a:ln>
                <a:solidFill>
                  <a:srgbClr val="404040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лучше</a:t>
            </a:r>
            <a:r>
              <a:rPr kumimoji="0" lang="en-US" altLang="ru-RU" sz="12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kumimoji="0" lang="en-US" altLang="ru-RU" sz="9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ru-RU" sz="1200" b="1" i="0" u="none" strike="noStrike" cap="none" normalizeH="0" baseline="0" dirty="0" err="1">
                <a:ln>
                  <a:noFill/>
                </a:ln>
                <a:solidFill>
                  <a:srgbClr val="404040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Плюсы</a:t>
            </a:r>
            <a:r>
              <a:rPr kumimoji="0" lang="en-US" altLang="ru-RU" sz="1200" b="1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kumimoji="0" lang="en-US" altLang="ru-RU" sz="9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ru-RU" sz="1200" b="0" i="0" u="none" strike="noStrike" cap="none" normalizeH="0" baseline="0" dirty="0" err="1">
                <a:ln>
                  <a:noFill/>
                </a:ln>
                <a:solidFill>
                  <a:srgbClr val="404040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Оценивает</a:t>
            </a:r>
            <a:r>
              <a:rPr kumimoji="0" lang="en-US" altLang="ru-RU" sz="12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ru-RU" sz="1200" b="0" i="0" u="none" strike="noStrike" cap="none" normalizeH="0" baseline="0" dirty="0" err="1">
                <a:ln>
                  <a:noFill/>
                </a:ln>
                <a:solidFill>
                  <a:srgbClr val="404040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и</a:t>
            </a:r>
            <a:r>
              <a:rPr kumimoji="0" lang="en-US" altLang="ru-RU" sz="12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kumimoji="0" lang="en-US" altLang="ru-RU" sz="1200" b="1" i="0" u="none" strike="noStrike" cap="none" normalizeH="0" baseline="0" dirty="0" err="1">
                <a:ln>
                  <a:noFill/>
                </a:ln>
                <a:solidFill>
                  <a:srgbClr val="404040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точность</a:t>
            </a:r>
            <a:r>
              <a:rPr kumimoji="0" lang="en-US" altLang="ru-RU" sz="12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en-US" altLang="ru-RU" sz="1200" b="0" i="0" u="none" strike="noStrike" cap="none" normalizeH="0" baseline="0" dirty="0" err="1">
                <a:ln>
                  <a:noFill/>
                </a:ln>
                <a:solidFill>
                  <a:srgbClr val="404040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и</a:t>
            </a:r>
            <a:r>
              <a:rPr kumimoji="0" lang="en-US" altLang="ru-RU" sz="12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kumimoji="0" lang="en-US" altLang="ru-RU" sz="1200" b="1" i="0" u="none" strike="noStrike" cap="none" normalizeH="0" baseline="0" dirty="0" err="1">
                <a:ln>
                  <a:noFill/>
                </a:ln>
                <a:solidFill>
                  <a:srgbClr val="404040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резкость</a:t>
            </a:r>
            <a:r>
              <a:rPr kumimoji="0" lang="en-US" altLang="ru-RU" sz="12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kumimoji="0" lang="en-US" altLang="ru-RU" sz="1200" b="0" i="0" u="none" strike="noStrike" cap="none" normalizeH="0" baseline="0" dirty="0" err="1">
                <a:ln>
                  <a:noFill/>
                </a:ln>
                <a:solidFill>
                  <a:srgbClr val="404040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распределения</a:t>
            </a:r>
            <a:r>
              <a:rPr kumimoji="0" lang="en-US" altLang="ru-RU" sz="12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kumimoji="0" lang="en-US" altLang="ru-RU" sz="1200" b="0" i="0" u="none" strike="noStrike" cap="none" normalizeH="0" baseline="0" dirty="0">
              <a:ln>
                <a:noFill/>
              </a:ln>
              <a:solidFill>
                <a:srgbClr val="404040"/>
              </a:solidFill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ru-RU" sz="1200" b="0" i="0" u="none" strike="noStrike" cap="none" normalizeH="0" baseline="0" dirty="0" err="1">
                <a:ln>
                  <a:noFill/>
                </a:ln>
                <a:solidFill>
                  <a:srgbClr val="404040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Работает</a:t>
            </a:r>
            <a:r>
              <a:rPr kumimoji="0" lang="en-US" altLang="ru-RU" sz="12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ru-RU" sz="1200" b="0" i="0" u="none" strike="noStrike" cap="none" normalizeH="0" baseline="0" dirty="0" err="1">
                <a:ln>
                  <a:noFill/>
                </a:ln>
                <a:solidFill>
                  <a:srgbClr val="404040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с</a:t>
            </a:r>
            <a:r>
              <a:rPr kumimoji="0" lang="en-US" altLang="ru-RU" sz="12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ru-RU" sz="1200" b="0" i="0" u="none" strike="noStrike" cap="none" normalizeH="0" baseline="0" dirty="0" err="1">
                <a:ln>
                  <a:noFill/>
                </a:ln>
                <a:solidFill>
                  <a:srgbClr val="404040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любым</a:t>
            </a:r>
            <a:r>
              <a:rPr kumimoji="0" lang="en-US" altLang="ru-RU" sz="12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ru-RU" sz="1200" b="0" i="0" u="none" strike="noStrike" cap="none" normalizeH="0" baseline="0" dirty="0" err="1">
                <a:ln>
                  <a:noFill/>
                </a:ln>
                <a:solidFill>
                  <a:srgbClr val="404040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типом</a:t>
            </a:r>
            <a:r>
              <a:rPr kumimoji="0" lang="en-US" altLang="ru-RU" sz="12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ru-RU" sz="1200" b="0" i="0" u="none" strike="noStrike" cap="none" normalizeH="0" baseline="0" dirty="0" err="1">
                <a:ln>
                  <a:noFill/>
                </a:ln>
                <a:solidFill>
                  <a:srgbClr val="404040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распределений</a:t>
            </a:r>
            <a:r>
              <a:rPr kumimoji="0" lang="en-US" altLang="ru-RU" sz="12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kumimoji="0" lang="en-US" altLang="ru-RU" sz="1200" b="0" i="0" u="none" strike="noStrike" cap="none" normalizeH="0" baseline="0" dirty="0" err="1">
                <a:ln>
                  <a:noFill/>
                </a:ln>
                <a:solidFill>
                  <a:srgbClr val="404040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нормальные</a:t>
            </a:r>
            <a:r>
              <a:rPr kumimoji="0" lang="en-US" altLang="ru-RU" sz="12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en-US" altLang="ru-RU" sz="1200" b="0" i="0" u="none" strike="noStrike" cap="none" normalizeH="0" baseline="0" dirty="0" err="1">
                <a:ln>
                  <a:noFill/>
                </a:ln>
                <a:solidFill>
                  <a:srgbClr val="404040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смешанные</a:t>
            </a:r>
            <a:r>
              <a:rPr kumimoji="0" lang="en-US" altLang="ru-RU" sz="12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en-US" altLang="ru-RU" sz="1200" b="0" i="0" u="none" strike="noStrike" cap="none" normalizeH="0" baseline="0" dirty="0" err="1">
                <a:ln>
                  <a:noFill/>
                </a:ln>
                <a:solidFill>
                  <a:srgbClr val="404040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эмпирические</a:t>
            </a:r>
            <a:r>
              <a:rPr kumimoji="0" lang="en-US" altLang="ru-RU" sz="12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).</a:t>
            </a:r>
            <a:endParaRPr kumimoji="0" lang="en-US" altLang="ru-RU" sz="9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ru-RU" sz="1200" b="1" i="0" u="none" strike="noStrike" cap="none" normalizeH="0" baseline="0" dirty="0" err="1">
                <a:ln>
                  <a:noFill/>
                </a:ln>
                <a:solidFill>
                  <a:srgbClr val="404040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Минусы</a:t>
            </a:r>
            <a:r>
              <a:rPr kumimoji="0" lang="en-US" altLang="ru-RU" sz="1200" b="1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kumimoji="0" lang="en-US" altLang="ru-RU" sz="9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ru-RU" sz="1200" b="0" i="0" u="none" strike="noStrike" cap="none" normalizeH="0" baseline="0" dirty="0" err="1">
                <a:ln>
                  <a:noFill/>
                </a:ln>
                <a:solidFill>
                  <a:srgbClr val="404040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Сложнее</a:t>
            </a:r>
            <a:r>
              <a:rPr kumimoji="0" lang="en-US" altLang="ru-RU" sz="12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ru-RU" sz="1200" b="0" i="0" u="none" strike="noStrike" cap="none" normalizeH="0" baseline="0" dirty="0" err="1">
                <a:ln>
                  <a:noFill/>
                </a:ln>
                <a:solidFill>
                  <a:srgbClr val="404040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для</a:t>
            </a:r>
            <a:r>
              <a:rPr kumimoji="0" lang="en-US" altLang="ru-RU" sz="12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ru-RU" sz="1200" b="0" i="0" u="none" strike="noStrike" cap="none" normalizeH="0" baseline="0" dirty="0" err="1">
                <a:ln>
                  <a:noFill/>
                </a:ln>
                <a:solidFill>
                  <a:srgbClr val="404040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вычисления</a:t>
            </a:r>
            <a:r>
              <a:rPr kumimoji="0" lang="en-US" altLang="ru-RU" sz="12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en-US" altLang="ru-RU" sz="1200" b="0" i="0" u="none" strike="noStrike" cap="none" normalizeH="0" baseline="0" dirty="0" err="1">
                <a:ln>
                  <a:noFill/>
                </a:ln>
                <a:solidFill>
                  <a:srgbClr val="404040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чем</a:t>
            </a:r>
            <a:r>
              <a:rPr kumimoji="0" lang="en-US" altLang="ru-RU" sz="12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Pinball Loss.</a:t>
            </a:r>
            <a:endParaRPr kumimoji="0" lang="en-US" altLang="ru-RU" sz="1200" b="0" i="0" u="none" strike="noStrike" cap="none" normalizeH="0" baseline="0" dirty="0">
              <a:ln>
                <a:noFill/>
              </a:ln>
              <a:solidFill>
                <a:srgbClr val="404040"/>
              </a:solidFill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ru-RU" sz="1200" b="0" i="0" u="none" strike="noStrike" cap="none" normalizeH="0" baseline="0" dirty="0" err="1">
                <a:ln>
                  <a:noFill/>
                </a:ln>
                <a:solidFill>
                  <a:srgbClr val="404040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Требует</a:t>
            </a:r>
            <a:r>
              <a:rPr kumimoji="0" lang="en-US" altLang="ru-RU" sz="12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ru-RU" sz="1200" b="0" i="0" u="none" strike="noStrike" cap="none" normalizeH="0" baseline="0" dirty="0" err="1">
                <a:ln>
                  <a:noFill/>
                </a:ln>
                <a:solidFill>
                  <a:srgbClr val="404040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доступа</a:t>
            </a:r>
            <a:r>
              <a:rPr kumimoji="0" lang="en-US" altLang="ru-RU" sz="12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ru-RU" sz="1200" b="0" i="0" u="none" strike="noStrike" cap="none" normalizeH="0" baseline="0" dirty="0" err="1">
                <a:ln>
                  <a:noFill/>
                </a:ln>
                <a:solidFill>
                  <a:srgbClr val="404040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к</a:t>
            </a:r>
            <a:r>
              <a:rPr kumimoji="0" lang="en-US" altLang="ru-RU" sz="12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ru-RU" sz="1200" b="0" i="0" u="none" strike="noStrike" cap="none" normalizeH="0" baseline="0" dirty="0" err="1">
                <a:ln>
                  <a:noFill/>
                </a:ln>
                <a:solidFill>
                  <a:srgbClr val="404040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полному</a:t>
            </a:r>
            <a:r>
              <a:rPr kumimoji="0" lang="en-US" altLang="ru-RU" sz="12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ru-RU" sz="1200" b="0" i="0" u="none" strike="noStrike" cap="none" normalizeH="0" baseline="0" dirty="0" err="1">
                <a:ln>
                  <a:noFill/>
                </a:ln>
                <a:solidFill>
                  <a:srgbClr val="404040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распределению</a:t>
            </a:r>
            <a:r>
              <a:rPr kumimoji="0" lang="en-US" altLang="ru-RU" sz="12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kumimoji="0" lang="en-US" altLang="ru-RU" sz="1200" b="0" i="0" u="none" strike="noStrike" cap="none" normalizeH="0" baseline="0" dirty="0" err="1">
                <a:ln>
                  <a:noFill/>
                </a:ln>
                <a:solidFill>
                  <a:srgbClr val="404040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например</a:t>
            </a:r>
            <a:r>
              <a:rPr kumimoji="0" lang="en-US" altLang="ru-RU" sz="12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en-US" altLang="ru-RU" sz="1200" b="0" i="0" u="none" strike="noStrike" cap="none" normalizeH="0" baseline="0" dirty="0" err="1">
                <a:ln>
                  <a:noFill/>
                </a:ln>
                <a:solidFill>
                  <a:srgbClr val="404040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через</a:t>
            </a:r>
            <a:r>
              <a:rPr kumimoji="0" lang="en-US" altLang="ru-RU" sz="12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ru-RU" sz="1200" b="0" i="0" u="none" strike="noStrike" cap="none" normalizeH="0" baseline="0" dirty="0" err="1">
                <a:ln>
                  <a:noFill/>
                </a:ln>
                <a:solidFill>
                  <a:srgbClr val="404040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ансамбль</a:t>
            </a:r>
            <a:r>
              <a:rPr kumimoji="0" lang="en-US" altLang="ru-RU" sz="12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ru-RU" sz="1200" b="0" i="0" u="none" strike="noStrike" cap="none" normalizeH="0" baseline="0" dirty="0" err="1">
                <a:ln>
                  <a:noFill/>
                </a:ln>
                <a:solidFill>
                  <a:srgbClr val="404040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моделей</a:t>
            </a:r>
            <a:r>
              <a:rPr kumimoji="0" lang="en-US" altLang="ru-RU" sz="12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).</a:t>
            </a:r>
            <a:endParaRPr kumimoji="0" lang="en-US" altLang="ru-RU" sz="9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ru-RU" sz="1200" b="1" i="0" u="none" strike="noStrike" cap="none" normalizeH="0" baseline="0" dirty="0" err="1">
                <a:ln>
                  <a:noFill/>
                </a:ln>
                <a:solidFill>
                  <a:srgbClr val="404040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Пример</a:t>
            </a:r>
            <a:r>
              <a:rPr kumimoji="0" lang="en-US" altLang="ru-RU" sz="1200" b="1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kumimoji="0" lang="en-US" altLang="ru-RU" sz="12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kumimoji="0" lang="en-US" altLang="ru-RU" sz="12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ru-RU" sz="1200" b="0" i="0" u="none" strike="noStrike" cap="none" normalizeH="0" baseline="0" dirty="0" err="1">
                <a:ln>
                  <a:noFill/>
                </a:ln>
                <a:solidFill>
                  <a:srgbClr val="404040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Прогноз</a:t>
            </a:r>
            <a:r>
              <a:rPr kumimoji="0" lang="en-US" altLang="ru-RU" sz="12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ru-RU" sz="1200" b="0" i="0" u="none" strike="noStrike" cap="none" normalizeH="0" baseline="0" dirty="0" err="1">
                <a:ln>
                  <a:noFill/>
                </a:ln>
                <a:solidFill>
                  <a:srgbClr val="404040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температуры</a:t>
            </a:r>
            <a:r>
              <a:rPr kumimoji="0" lang="en-US" altLang="ru-RU" sz="12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ru-RU" sz="1200" b="0" i="0" u="none" strike="noStrike" cap="none" normalizeH="0" baseline="0" dirty="0" err="1">
                <a:ln>
                  <a:noFill/>
                </a:ln>
                <a:solidFill>
                  <a:srgbClr val="404040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на</a:t>
            </a:r>
            <a:r>
              <a:rPr kumimoji="0" lang="en-US" altLang="ru-RU" sz="12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ru-RU" sz="1200" b="0" i="0" u="none" strike="noStrike" cap="none" normalizeH="0" baseline="0" dirty="0" err="1">
                <a:ln>
                  <a:noFill/>
                </a:ln>
                <a:solidFill>
                  <a:srgbClr val="404040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несколько</a:t>
            </a:r>
            <a:r>
              <a:rPr kumimoji="0" lang="en-US" altLang="ru-RU" sz="12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ru-RU" sz="1200" b="0" i="0" u="none" strike="noStrike" cap="none" normalizeH="0" baseline="0" dirty="0" err="1">
                <a:ln>
                  <a:noFill/>
                </a:ln>
                <a:solidFill>
                  <a:srgbClr val="404040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дней</a:t>
            </a:r>
            <a:r>
              <a:rPr kumimoji="0" lang="en-US" altLang="ru-RU" sz="12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ru-RU" sz="1200" b="0" i="0" u="none" strike="noStrike" cap="none" normalizeH="0" baseline="0" dirty="0" err="1">
                <a:ln>
                  <a:noFill/>
                </a:ln>
                <a:solidFill>
                  <a:srgbClr val="404040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вперед</a:t>
            </a:r>
            <a:r>
              <a:rPr kumimoji="0" lang="en-US" altLang="ru-RU" sz="12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ru-RU" sz="1200" b="0" i="0" u="none" strike="noStrike" cap="none" normalizeH="0" baseline="0" dirty="0" err="1">
                <a:ln>
                  <a:noFill/>
                </a:ln>
                <a:solidFill>
                  <a:srgbClr val="404040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с</a:t>
            </a:r>
            <a:r>
              <a:rPr kumimoji="0" lang="en-US" altLang="ru-RU" sz="12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ru-RU" sz="1200" b="0" i="0" u="none" strike="noStrike" cap="none" normalizeH="0" baseline="0" dirty="0" err="1">
                <a:ln>
                  <a:noFill/>
                </a:ln>
                <a:solidFill>
                  <a:srgbClr val="404040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учетом</a:t>
            </a:r>
            <a:r>
              <a:rPr kumimoji="0" lang="en-US" altLang="ru-RU" sz="12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ru-RU" sz="1200" b="0" i="0" u="none" strike="noStrike" cap="none" normalizeH="0" baseline="0" dirty="0" err="1">
                <a:ln>
                  <a:noFill/>
                </a:ln>
                <a:solidFill>
                  <a:srgbClr val="404040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неопределенности</a:t>
            </a:r>
            <a:r>
              <a:rPr kumimoji="0" lang="en-US" altLang="ru-RU" sz="12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CRPS </a:t>
            </a:r>
            <a:r>
              <a:rPr kumimoji="0" lang="en-US" altLang="ru-RU" sz="1200" b="0" i="0" u="none" strike="noStrike" cap="none" normalizeH="0" baseline="0" dirty="0" err="1">
                <a:ln>
                  <a:noFill/>
                </a:ln>
                <a:solidFill>
                  <a:srgbClr val="404040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сравнивает</a:t>
            </a:r>
            <a:r>
              <a:rPr kumimoji="0" lang="en-US" altLang="ru-RU" sz="12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en-US" altLang="ru-RU" sz="1200" b="0" i="0" u="none" strike="noStrike" cap="none" normalizeH="0" baseline="0" dirty="0" err="1">
                <a:ln>
                  <a:noFill/>
                </a:ln>
                <a:solidFill>
                  <a:srgbClr val="404040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насколько</a:t>
            </a:r>
            <a:r>
              <a:rPr kumimoji="0" lang="en-US" altLang="ru-RU" sz="12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ru-RU" sz="1200" b="0" i="0" u="none" strike="noStrike" cap="none" normalizeH="0" baseline="0" dirty="0" err="1">
                <a:ln>
                  <a:noFill/>
                </a:ln>
                <a:solidFill>
                  <a:srgbClr val="404040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прогнозируемое</a:t>
            </a:r>
            <a:r>
              <a:rPr kumimoji="0" lang="en-US" altLang="ru-RU" sz="12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ru-RU" sz="1200" b="0" i="0" u="none" strike="noStrike" cap="none" normalizeH="0" baseline="0" dirty="0" err="1">
                <a:ln>
                  <a:noFill/>
                </a:ln>
                <a:solidFill>
                  <a:srgbClr val="404040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распределение</a:t>
            </a:r>
            <a:r>
              <a:rPr kumimoji="0" lang="en-US" altLang="ru-RU" sz="12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"</a:t>
            </a:r>
            <a:r>
              <a:rPr kumimoji="0" lang="en-US" altLang="ru-RU" sz="1200" b="0" i="0" u="none" strike="noStrike" cap="none" normalizeH="0" baseline="0" dirty="0" err="1">
                <a:ln>
                  <a:noFill/>
                </a:ln>
                <a:solidFill>
                  <a:srgbClr val="404040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концентрируется</a:t>
            </a:r>
            <a:r>
              <a:rPr kumimoji="0" lang="en-US" altLang="ru-RU" sz="12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" </a:t>
            </a:r>
            <a:r>
              <a:rPr kumimoji="0" lang="en-US" altLang="ru-RU" sz="1200" b="0" i="0" u="none" strike="noStrike" cap="none" normalizeH="0" baseline="0" dirty="0" err="1">
                <a:ln>
                  <a:noFill/>
                </a:ln>
                <a:solidFill>
                  <a:srgbClr val="404040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вокруг</a:t>
            </a:r>
            <a:r>
              <a:rPr kumimoji="0" lang="en-US" altLang="ru-RU" sz="12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ru-RU" sz="1200" b="0" i="0" u="none" strike="noStrike" cap="none" normalizeH="0" baseline="0" dirty="0" err="1">
                <a:ln>
                  <a:noFill/>
                </a:ln>
                <a:solidFill>
                  <a:srgbClr val="404040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реальных</a:t>
            </a:r>
            <a:r>
              <a:rPr kumimoji="0" lang="en-US" altLang="ru-RU" sz="12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ru-RU" sz="1200" b="0" i="0" u="none" strike="noStrike" cap="none" normalizeH="0" baseline="0" dirty="0" err="1">
                <a:ln>
                  <a:noFill/>
                </a:ln>
                <a:solidFill>
                  <a:srgbClr val="404040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значений</a:t>
            </a:r>
            <a:r>
              <a:rPr kumimoji="0" lang="en-US" altLang="ru-RU" sz="12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kumimoji="0" lang="en-US" altLang="ru-RU" sz="9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ru-RU" sz="1200" b="1" i="0" u="none" strike="noStrike" cap="none" normalizeH="0" baseline="0" dirty="0" err="1">
                <a:ln>
                  <a:noFill/>
                </a:ln>
                <a:solidFill>
                  <a:srgbClr val="404040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Сравнение</a:t>
            </a:r>
            <a:r>
              <a:rPr kumimoji="0" lang="en-US" altLang="ru-RU" sz="1200" b="1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ru-RU" sz="1200" b="1" i="0" u="none" strike="noStrike" cap="none" normalizeH="0" baseline="0" dirty="0" err="1">
                <a:ln>
                  <a:noFill/>
                </a:ln>
                <a:solidFill>
                  <a:srgbClr val="404040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с</a:t>
            </a:r>
            <a:r>
              <a:rPr kumimoji="0" lang="en-US" altLang="ru-RU" sz="1200" b="1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Pinball Loss:</a:t>
            </a:r>
            <a:endParaRPr kumimoji="0" lang="en-US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61364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080DE52-68A5-BCBB-B5FB-9A68019AE8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graphicFrame>
        <p:nvGraphicFramePr>
          <p:cNvPr id="7" name="Объект 6">
            <a:extLst>
              <a:ext uri="{FF2B5EF4-FFF2-40B4-BE49-F238E27FC236}">
                <a16:creationId xmlns:a16="http://schemas.microsoft.com/office/drawing/2014/main" id="{C2E38316-5A24-EFBA-DAD9-29D01621ECA7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3166904"/>
          <a:ext cx="10515599" cy="1668780"/>
        </p:xfrm>
        <a:graphic>
          <a:graphicData uri="http://schemas.openxmlformats.org/drawingml/2006/table">
            <a:tbl>
              <a:tblPr/>
              <a:tblGrid>
                <a:gridCol w="2593952">
                  <a:extLst>
                    <a:ext uri="{9D8B030D-6E8A-4147-A177-3AD203B41FA5}">
                      <a16:colId xmlns:a16="http://schemas.microsoft.com/office/drawing/2014/main" val="1596416405"/>
                    </a:ext>
                  </a:extLst>
                </a:gridCol>
                <a:gridCol w="2640549">
                  <a:extLst>
                    <a:ext uri="{9D8B030D-6E8A-4147-A177-3AD203B41FA5}">
                      <a16:colId xmlns:a16="http://schemas.microsoft.com/office/drawing/2014/main" val="2910354682"/>
                    </a:ext>
                  </a:extLst>
                </a:gridCol>
                <a:gridCol w="2640549">
                  <a:extLst>
                    <a:ext uri="{9D8B030D-6E8A-4147-A177-3AD203B41FA5}">
                      <a16:colId xmlns:a16="http://schemas.microsoft.com/office/drawing/2014/main" val="191408682"/>
                    </a:ext>
                  </a:extLst>
                </a:gridCol>
                <a:gridCol w="2640549">
                  <a:extLst>
                    <a:ext uri="{9D8B030D-6E8A-4147-A177-3AD203B41FA5}">
                      <a16:colId xmlns:a16="http://schemas.microsoft.com/office/drawing/2014/main" val="201459151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/>
                      <a:r>
                        <a:rPr lang="ru-RU" b="1">
                          <a:solidFill>
                            <a:srgbClr val="404040"/>
                          </a:solidFill>
                          <a:effectLst/>
                        </a:rPr>
                        <a:t>Метрика</a:t>
                      </a:r>
                    </a:p>
                  </a:txBody>
                  <a:tcPr marR="9525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b="1">
                          <a:solidFill>
                            <a:srgbClr val="404040"/>
                          </a:solidFill>
                          <a:effectLst/>
                        </a:rPr>
                        <a:t>Оценивает</a:t>
                      </a:r>
                    </a:p>
                  </a:txBody>
                  <a:tcPr marL="95250" marR="9525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b="1">
                          <a:solidFill>
                            <a:srgbClr val="404040"/>
                          </a:solidFill>
                          <a:effectLst/>
                        </a:rPr>
                        <a:t>Требования к данным</a:t>
                      </a:r>
                    </a:p>
                  </a:txBody>
                  <a:tcPr marL="95250" marR="9525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b="1">
                          <a:solidFill>
                            <a:srgbClr val="404040"/>
                          </a:solidFill>
                          <a:effectLst/>
                        </a:rPr>
                        <a:t>Вычислительная сложность</a:t>
                      </a:r>
                    </a:p>
                  </a:txBody>
                  <a:tcPr marL="95250" marR="9525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8118784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">
                          <a:effectLst/>
                        </a:rPr>
                        <a:t>Pinball Loss</a:t>
                      </a:r>
                    </a:p>
                  </a:txBody>
                  <a:tcPr marR="95250" marT="95250" marB="9525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>
                          <a:effectLst/>
                        </a:rPr>
                        <a:t>Отдельные квантили</a:t>
                      </a:r>
                    </a:p>
                  </a:txBody>
                  <a:tcPr marL="95250" marR="95250" marT="95250" marB="9525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>
                          <a:effectLst/>
                        </a:rPr>
                        <a:t>Прогнозы квантилей</a:t>
                      </a:r>
                    </a:p>
                  </a:txBody>
                  <a:tcPr marL="95250" marR="95250" marT="95250" marB="9525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>
                          <a:effectLst/>
                        </a:rPr>
                        <a:t>Низкая</a:t>
                      </a:r>
                    </a:p>
                  </a:txBody>
                  <a:tcPr marL="95250" marR="95250" marT="95250" marB="9525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4528569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">
                          <a:effectLst/>
                        </a:rPr>
                        <a:t>CRPS</a:t>
                      </a:r>
                    </a:p>
                  </a:txBody>
                  <a:tcPr marR="95250" marT="95250" marB="9525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>
                          <a:effectLst/>
                        </a:rPr>
                        <a:t>Все распределение</a:t>
                      </a:r>
                    </a:p>
                  </a:txBody>
                  <a:tcPr marL="95250" marR="95250" marT="95250" marB="9525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>
                          <a:effectLst/>
                        </a:rPr>
                        <a:t>Полное распределение</a:t>
                      </a:r>
                    </a:p>
                  </a:txBody>
                  <a:tcPr marL="95250" marR="95250" marT="95250" marB="9525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effectLst/>
                        </a:rPr>
                        <a:t>Высокая</a:t>
                      </a:r>
                    </a:p>
                  </a:txBody>
                  <a:tcPr marL="95250" marR="95250" marT="95250" marB="9525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52511704"/>
                  </a:ext>
                </a:extLst>
              </a:tr>
            </a:tbl>
          </a:graphicData>
        </a:graphic>
      </p:graphicFrame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FEC0C6BD-6B87-9E53-E966-5C6F17ED15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52</a:t>
            </a:fld>
            <a:endParaRPr lang="en-US"/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8B62E1BC-B802-A0FE-F0E1-DEB7BE167F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89557584" rIns="0" bIns="89557584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200" b="1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quote-cjk-patch"/>
              </a:rPr>
              <a:t>2. CRPS (</a:t>
            </a:r>
            <a:r>
              <a:rPr kumimoji="0" lang="ru-RU" altLang="ru-RU" sz="1200" b="1" i="0" u="none" strike="noStrike" cap="none" normalizeH="0" baseline="0" dirty="0" err="1">
                <a:ln>
                  <a:noFill/>
                </a:ln>
                <a:solidFill>
                  <a:srgbClr val="404040"/>
                </a:solidFill>
                <a:effectLst/>
                <a:latin typeface="quote-cjk-patch"/>
              </a:rPr>
              <a:t>Continuous</a:t>
            </a:r>
            <a:r>
              <a:rPr kumimoji="0" lang="ru-RU" altLang="ru-RU" sz="1200" b="1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quote-cjk-patch"/>
              </a:rPr>
              <a:t> </a:t>
            </a:r>
            <a:r>
              <a:rPr kumimoji="0" lang="ru-RU" altLang="ru-RU" sz="1200" b="1" i="0" u="none" strike="noStrike" cap="none" normalizeH="0" baseline="0" dirty="0" err="1">
                <a:ln>
                  <a:noFill/>
                </a:ln>
                <a:solidFill>
                  <a:srgbClr val="404040"/>
                </a:solidFill>
                <a:effectLst/>
                <a:latin typeface="quote-cjk-patch"/>
              </a:rPr>
              <a:t>Ranked</a:t>
            </a:r>
            <a:r>
              <a:rPr kumimoji="0" lang="ru-RU" altLang="ru-RU" sz="1200" b="1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quote-cjk-patch"/>
              </a:rPr>
              <a:t> </a:t>
            </a:r>
            <a:r>
              <a:rPr kumimoji="0" lang="ru-RU" altLang="ru-RU" sz="1200" b="1" i="0" u="none" strike="noStrike" cap="none" normalizeH="0" baseline="0" dirty="0" err="1">
                <a:ln>
                  <a:noFill/>
                </a:ln>
                <a:solidFill>
                  <a:srgbClr val="404040"/>
                </a:solidFill>
                <a:effectLst/>
                <a:latin typeface="quote-cjk-patch"/>
              </a:rPr>
              <a:t>Probability</a:t>
            </a:r>
            <a:r>
              <a:rPr kumimoji="0" lang="ru-RU" altLang="ru-RU" sz="1200" b="1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quote-cjk-patch"/>
              </a:rPr>
              <a:t> </a:t>
            </a:r>
            <a:r>
              <a:rPr kumimoji="0" lang="ru-RU" altLang="ru-RU" sz="1200" b="1" i="0" u="none" strike="noStrike" cap="none" normalizeH="0" baseline="0" dirty="0" err="1">
                <a:ln>
                  <a:noFill/>
                </a:ln>
                <a:solidFill>
                  <a:srgbClr val="404040"/>
                </a:solidFill>
                <a:effectLst/>
                <a:latin typeface="quote-cjk-patch"/>
              </a:rPr>
              <a:t>Score</a:t>
            </a:r>
            <a:r>
              <a:rPr kumimoji="0" lang="ru-RU" altLang="ru-RU" sz="1200" b="1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quote-cjk-patch"/>
              </a:rPr>
              <a:t>)</a:t>
            </a:r>
            <a:endParaRPr kumimoji="0" lang="ru-RU" altLang="ru-RU" sz="1200" b="0" i="0" u="none" strike="noStrike" cap="none" normalizeH="0" baseline="0" dirty="0">
              <a:ln>
                <a:noFill/>
              </a:ln>
              <a:solidFill>
                <a:srgbClr val="404040"/>
              </a:solidFill>
              <a:effectLst/>
              <a:latin typeface="quote-cjk-patch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200" b="1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quote-cjk-patch"/>
              </a:rPr>
              <a:t>Когда использовать: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quote-cjk-patch"/>
              </a:rPr>
              <a:t/>
            </a:r>
            <a:b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quote-cjk-patch"/>
              </a:rPr>
            </a:b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quote-cjk-patch"/>
              </a:rPr>
              <a:t>Для оценки всего прогнозируемого распределения, а не отдельных квантилей.</a:t>
            </a:r>
            <a:endParaRPr kumimoji="0" lang="ru-RU" altLang="ru-RU" sz="9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200" b="1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quote-cjk-patch"/>
              </a:rPr>
              <a:t>Формула:</a:t>
            </a:r>
            <a:endParaRPr kumimoji="0" lang="ru-RU" altLang="ru-RU" sz="10000" b="0" i="0" u="none" strike="noStrike" cap="none" normalizeH="0" baseline="0" dirty="0">
              <a:ln>
                <a:noFill/>
              </a:ln>
              <a:solidFill>
                <a:srgbClr val="404040"/>
              </a:solidFill>
              <a:effectLst/>
              <a:latin typeface="KaTeX_Main"/>
            </a:endParaRPr>
          </a:p>
          <a:p>
            <a:pPr marL="0" marR="0" lvl="0" indent="0" algn="l" defTabSz="914400" rtl="0" eaLnBrk="0" fontAlgn="b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00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KaTeX_Main"/>
              </a:rPr>
              <a:t>CRPS(</a:t>
            </a:r>
            <a:r>
              <a:rPr kumimoji="0" lang="ru-RU" altLang="ru-RU" sz="10000" b="0" i="0" u="none" strike="noStrike" cap="none" normalizeH="0" baseline="0" dirty="0" err="1">
                <a:ln>
                  <a:noFill/>
                </a:ln>
                <a:solidFill>
                  <a:srgbClr val="404040"/>
                </a:solidFill>
                <a:effectLst/>
                <a:latin typeface="KaTeX_Main"/>
              </a:rPr>
              <a:t>F,y</a:t>
            </a:r>
            <a:r>
              <a:rPr kumimoji="0" lang="ru-RU" altLang="ru-RU" sz="100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KaTeX_Main"/>
              </a:rPr>
              <a:t>)=∫−∞∞(</a:t>
            </a:r>
            <a:r>
              <a:rPr kumimoji="0" lang="ru-RU" altLang="ru-RU" sz="10000" b="0" i="0" u="none" strike="noStrike" cap="none" normalizeH="0" baseline="0" dirty="0" err="1">
                <a:ln>
                  <a:noFill/>
                </a:ln>
                <a:solidFill>
                  <a:srgbClr val="404040"/>
                </a:solidFill>
                <a:effectLst/>
                <a:latin typeface="KaTeX_Main"/>
              </a:rPr>
              <a:t>F</a:t>
            </a:r>
            <a:r>
              <a:rPr kumimoji="0" lang="ru-RU" altLang="ru-RU" sz="100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KaTeX_Main"/>
              </a:rPr>
              <a:t>(</a:t>
            </a:r>
            <a:r>
              <a:rPr kumimoji="0" lang="ru-RU" altLang="ru-RU" sz="10000" b="0" i="0" u="none" strike="noStrike" cap="none" normalizeH="0" baseline="0" dirty="0" err="1">
                <a:ln>
                  <a:noFill/>
                </a:ln>
                <a:solidFill>
                  <a:srgbClr val="404040"/>
                </a:solidFill>
                <a:effectLst/>
                <a:latin typeface="KaTeX_Main"/>
              </a:rPr>
              <a:t>x</a:t>
            </a:r>
            <a:r>
              <a:rPr kumimoji="0" lang="ru-RU" altLang="ru-RU" sz="100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KaTeX_Main"/>
              </a:rPr>
              <a:t>)−1x≥y)2 </a:t>
            </a:r>
            <a:r>
              <a:rPr kumimoji="0" lang="ru-RU" altLang="ru-RU" sz="10000" b="0" i="0" u="none" strike="noStrike" cap="none" normalizeH="0" baseline="0" dirty="0" err="1">
                <a:ln>
                  <a:noFill/>
                </a:ln>
                <a:solidFill>
                  <a:srgbClr val="404040"/>
                </a:solidFill>
                <a:effectLst/>
                <a:latin typeface="KaTeX_Main"/>
              </a:rPr>
              <a:t>dx</a:t>
            </a:r>
            <a:r>
              <a:rPr kumimoji="0" lang="ru-RU" altLang="ru-RU" sz="10000" b="0" i="1" u="none" strike="noStrike" cap="none" normalizeH="0" baseline="0" dirty="0" err="1">
                <a:ln>
                  <a:noFill/>
                </a:ln>
                <a:solidFill>
                  <a:srgbClr val="404040"/>
                </a:solidFill>
                <a:effectLst/>
                <a:latin typeface="KaTeX_Math"/>
              </a:rPr>
              <a:t>CRPS</a:t>
            </a:r>
            <a:r>
              <a:rPr kumimoji="0" lang="ru-RU" altLang="ru-RU" sz="100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KaTeX_Main"/>
              </a:rPr>
              <a:t>(</a:t>
            </a:r>
            <a:r>
              <a:rPr kumimoji="0" lang="ru-RU" altLang="ru-RU" sz="10000" b="0" i="1" u="none" strike="noStrike" cap="none" normalizeH="0" baseline="0" dirty="0" err="1">
                <a:ln>
                  <a:noFill/>
                </a:ln>
                <a:solidFill>
                  <a:srgbClr val="404040"/>
                </a:solidFill>
                <a:effectLst/>
                <a:latin typeface="KaTeX_Math"/>
              </a:rPr>
              <a:t>F</a:t>
            </a:r>
            <a:r>
              <a:rPr kumimoji="0" lang="ru-RU" altLang="ru-RU" sz="10000" b="0" i="0" u="none" strike="noStrike" cap="none" normalizeH="0" baseline="0" dirty="0" err="1">
                <a:ln>
                  <a:noFill/>
                </a:ln>
                <a:solidFill>
                  <a:srgbClr val="404040"/>
                </a:solidFill>
                <a:effectLst/>
                <a:latin typeface="KaTeX_Main"/>
              </a:rPr>
              <a:t>,</a:t>
            </a:r>
            <a:r>
              <a:rPr kumimoji="0" lang="ru-RU" altLang="ru-RU" sz="10000" b="0" i="1" u="none" strike="noStrike" cap="none" normalizeH="0" baseline="0" dirty="0" err="1">
                <a:ln>
                  <a:noFill/>
                </a:ln>
                <a:solidFill>
                  <a:srgbClr val="404040"/>
                </a:solidFill>
                <a:effectLst/>
                <a:latin typeface="KaTeX_Math"/>
              </a:rPr>
              <a:t>y</a:t>
            </a:r>
            <a:r>
              <a:rPr kumimoji="0" lang="ru-RU" altLang="ru-RU" sz="100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KaTeX_Main"/>
              </a:rPr>
              <a:t>)=</a:t>
            </a:r>
            <a:r>
              <a:rPr kumimoji="0" lang="ru-RU" altLang="ru-RU" sz="100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KaTeX_Size2"/>
              </a:rPr>
              <a:t>∫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KaTeX_Main"/>
              </a:rPr>
              <a:t>−∞∞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KaTeX_Main"/>
              </a:rPr>
              <a:t>​</a:t>
            </a:r>
            <a:r>
              <a:rPr kumimoji="0" lang="ru-RU" altLang="ru-RU" sz="100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KaTeX_Main"/>
              </a:rPr>
              <a:t>(</a:t>
            </a:r>
            <a:r>
              <a:rPr kumimoji="0" lang="ru-RU" altLang="ru-RU" sz="10000" b="0" i="1" u="none" strike="noStrike" cap="none" normalizeH="0" baseline="0" dirty="0" err="1">
                <a:ln>
                  <a:noFill/>
                </a:ln>
                <a:solidFill>
                  <a:srgbClr val="404040"/>
                </a:solidFill>
                <a:effectLst/>
                <a:latin typeface="KaTeX_Math"/>
              </a:rPr>
              <a:t>F</a:t>
            </a:r>
            <a:r>
              <a:rPr kumimoji="0" lang="ru-RU" altLang="ru-RU" sz="100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KaTeX_Main"/>
              </a:rPr>
              <a:t>(</a:t>
            </a:r>
            <a:r>
              <a:rPr kumimoji="0" lang="ru-RU" altLang="ru-RU" sz="10000" b="0" i="1" u="none" strike="noStrike" cap="none" normalizeH="0" baseline="0" dirty="0" err="1">
                <a:ln>
                  <a:noFill/>
                </a:ln>
                <a:solidFill>
                  <a:srgbClr val="404040"/>
                </a:solidFill>
                <a:effectLst/>
                <a:latin typeface="KaTeX_Math"/>
              </a:rPr>
              <a:t>x</a:t>
            </a:r>
            <a:r>
              <a:rPr kumimoji="0" lang="ru-RU" altLang="ru-RU" sz="100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KaTeX_Main"/>
              </a:rPr>
              <a:t>)−1</a:t>
            </a:r>
            <a:r>
              <a:rPr kumimoji="0" lang="ru-RU" altLang="ru-RU" sz="1000" b="0" i="1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KaTeX_Math"/>
              </a:rPr>
              <a:t>x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KaTeX_Main"/>
              </a:rPr>
              <a:t>≥</a:t>
            </a:r>
            <a:r>
              <a:rPr kumimoji="0" lang="ru-RU" altLang="ru-RU" sz="1000" b="0" i="1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KaTeX_Math"/>
              </a:rPr>
              <a:t>y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KaTeX_Main"/>
              </a:rPr>
              <a:t>​</a:t>
            </a:r>
            <a:r>
              <a:rPr kumimoji="0" lang="ru-RU" altLang="ru-RU" sz="100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KaTeX_Main"/>
              </a:rPr>
              <a:t>)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KaTeX_Main"/>
              </a:rPr>
              <a:t>2</a:t>
            </a:r>
            <a:r>
              <a:rPr kumimoji="0" lang="ru-RU" altLang="ru-RU" sz="10000" b="0" i="1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KaTeX_Math"/>
              </a:rPr>
              <a:t>dx</a:t>
            </a:r>
            <a:endParaRPr kumimoji="0" lang="ru-RU" altLang="ru-RU" sz="9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quote-cjk-patch"/>
              </a:rPr>
              <a:t>где:</a:t>
            </a:r>
            <a:endParaRPr kumimoji="0" lang="ru-RU" altLang="ru-RU" sz="9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00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KaTeX_Main"/>
              </a:rPr>
              <a:t>F</a:t>
            </a:r>
            <a:r>
              <a:rPr kumimoji="0" lang="ru-RU" altLang="ru-RU" sz="10000" b="0" i="1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KaTeX_Math"/>
              </a:rPr>
              <a:t>F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quote-cjk-patch"/>
              </a:rPr>
              <a:t> — прогнозируемое кумулятивное распределение (CDF),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0000" b="0" i="0" u="none" strike="noStrike" cap="none" normalizeH="0" baseline="0" dirty="0" err="1">
                <a:ln>
                  <a:noFill/>
                </a:ln>
                <a:solidFill>
                  <a:srgbClr val="404040"/>
                </a:solidFill>
                <a:effectLst/>
                <a:latin typeface="KaTeX_Main"/>
              </a:rPr>
              <a:t>y</a:t>
            </a:r>
            <a:r>
              <a:rPr kumimoji="0" lang="ru-RU" altLang="ru-RU" sz="10000" b="0" i="1" u="none" strike="noStrike" cap="none" normalizeH="0" baseline="0" dirty="0" err="1">
                <a:ln>
                  <a:noFill/>
                </a:ln>
                <a:solidFill>
                  <a:srgbClr val="404040"/>
                </a:solidFill>
                <a:effectLst/>
                <a:latin typeface="KaTeX_Math"/>
              </a:rPr>
              <a:t>y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quote-cjk-patch"/>
              </a:rPr>
              <a:t> — фактическое значение.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200" b="1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quote-cjk-patch"/>
              </a:rPr>
              <a:t>Упрощенный расчет (для выборки):</a:t>
            </a:r>
            <a:endParaRPr kumimoji="0" lang="ru-RU" altLang="ru-RU" sz="10000" b="0" i="0" u="none" strike="noStrike" cap="none" normalizeH="0" baseline="0" dirty="0">
              <a:ln>
                <a:noFill/>
              </a:ln>
              <a:solidFill>
                <a:srgbClr val="404040"/>
              </a:solidFill>
              <a:effectLst/>
              <a:latin typeface="KaTeX_Main"/>
            </a:endParaRPr>
          </a:p>
          <a:p>
            <a:pPr marL="0" marR="0" lvl="0" indent="0" algn="l" defTabSz="914400" rtl="0" eaLnBrk="0" fontAlgn="b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00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KaTeX_Main"/>
              </a:rPr>
              <a:t>CRPS≈1N∑i=1NL(</a:t>
            </a:r>
            <a:r>
              <a:rPr kumimoji="0" lang="ru-RU" altLang="ru-RU" sz="10000" b="0" i="0" u="none" strike="noStrike" cap="none" normalizeH="0" baseline="0" dirty="0" err="1">
                <a:ln>
                  <a:noFill/>
                </a:ln>
                <a:solidFill>
                  <a:srgbClr val="404040"/>
                </a:solidFill>
                <a:effectLst/>
                <a:latin typeface="KaTeX_Main"/>
              </a:rPr>
              <a:t>F,yi</a:t>
            </a:r>
            <a:r>
              <a:rPr kumimoji="0" lang="ru-RU" altLang="ru-RU" sz="100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KaTeX_Main"/>
              </a:rPr>
              <a:t>)</a:t>
            </a:r>
            <a:r>
              <a:rPr kumimoji="0" lang="ru-RU" altLang="ru-RU" sz="10000" b="0" i="1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KaTeX_Math"/>
              </a:rPr>
              <a:t>CRPS</a:t>
            </a:r>
            <a:r>
              <a:rPr kumimoji="0" lang="ru-RU" altLang="ru-RU" sz="100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KaTeX_Main"/>
              </a:rPr>
              <a:t>≈</a:t>
            </a:r>
            <a:r>
              <a:rPr kumimoji="0" lang="ru-RU" altLang="ru-RU" sz="10000" b="0" i="1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KaTeX_Math"/>
              </a:rPr>
              <a:t>N</a:t>
            </a:r>
            <a:r>
              <a:rPr kumimoji="0" lang="ru-RU" altLang="ru-RU" sz="100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KaTeX_Main"/>
              </a:rPr>
              <a:t>1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KaTeX_Main"/>
              </a:rPr>
              <a:t>​</a:t>
            </a:r>
            <a:r>
              <a:rPr kumimoji="0" lang="ru-RU" altLang="ru-RU" sz="1000" b="0" i="1" u="none" strike="noStrike" cap="none" normalizeH="0" baseline="0" dirty="0" err="1">
                <a:ln>
                  <a:noFill/>
                </a:ln>
                <a:solidFill>
                  <a:srgbClr val="404040"/>
                </a:solidFill>
                <a:effectLst/>
                <a:latin typeface="KaTeX_Math"/>
              </a:rPr>
              <a:t>i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KaTeX_Main"/>
              </a:rPr>
              <a:t>=1</a:t>
            </a:r>
            <a:r>
              <a:rPr kumimoji="0" lang="ru-RU" altLang="ru-RU" sz="100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KaTeX_Size2"/>
              </a:rPr>
              <a:t>∑</a:t>
            </a:r>
            <a:r>
              <a:rPr kumimoji="0" lang="ru-RU" altLang="ru-RU" sz="1000" b="0" i="1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KaTeX_Math"/>
              </a:rPr>
              <a:t>N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KaTeX_Main"/>
              </a:rPr>
              <a:t>​</a:t>
            </a:r>
            <a:r>
              <a:rPr kumimoji="0" lang="ru-RU" altLang="ru-RU" sz="10000" b="0" i="1" u="none" strike="noStrike" cap="none" normalizeH="0" baseline="0" dirty="0" err="1">
                <a:ln>
                  <a:noFill/>
                </a:ln>
                <a:solidFill>
                  <a:srgbClr val="404040"/>
                </a:solidFill>
                <a:effectLst/>
                <a:latin typeface="KaTeX_Math"/>
              </a:rPr>
              <a:t>L</a:t>
            </a:r>
            <a:r>
              <a:rPr kumimoji="0" lang="ru-RU" altLang="ru-RU" sz="100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KaTeX_Main"/>
              </a:rPr>
              <a:t>(</a:t>
            </a:r>
            <a:r>
              <a:rPr kumimoji="0" lang="ru-RU" altLang="ru-RU" sz="10000" b="0" i="1" u="none" strike="noStrike" cap="none" normalizeH="0" baseline="0" dirty="0" err="1">
                <a:ln>
                  <a:noFill/>
                </a:ln>
                <a:solidFill>
                  <a:srgbClr val="404040"/>
                </a:solidFill>
                <a:effectLst/>
                <a:latin typeface="KaTeX_Math"/>
              </a:rPr>
              <a:t>F</a:t>
            </a:r>
            <a:r>
              <a:rPr kumimoji="0" lang="ru-RU" altLang="ru-RU" sz="10000" b="0" i="0" u="none" strike="noStrike" cap="none" normalizeH="0" baseline="0" dirty="0" err="1">
                <a:ln>
                  <a:noFill/>
                </a:ln>
                <a:solidFill>
                  <a:srgbClr val="404040"/>
                </a:solidFill>
                <a:effectLst/>
                <a:latin typeface="KaTeX_Main"/>
              </a:rPr>
              <a:t>,</a:t>
            </a:r>
            <a:r>
              <a:rPr kumimoji="0" lang="ru-RU" altLang="ru-RU" sz="10000" b="0" i="1" u="none" strike="noStrike" cap="none" normalizeH="0" baseline="0" dirty="0" err="1">
                <a:ln>
                  <a:noFill/>
                </a:ln>
                <a:solidFill>
                  <a:srgbClr val="404040"/>
                </a:solidFill>
                <a:effectLst/>
                <a:latin typeface="KaTeX_Math"/>
              </a:rPr>
              <a:t>y</a:t>
            </a:r>
            <a:r>
              <a:rPr kumimoji="0" lang="ru-RU" altLang="ru-RU" sz="1000" b="0" i="1" u="none" strike="noStrike" cap="none" normalizeH="0" baseline="0" dirty="0" err="1">
                <a:ln>
                  <a:noFill/>
                </a:ln>
                <a:solidFill>
                  <a:srgbClr val="404040"/>
                </a:solidFill>
                <a:effectLst/>
                <a:latin typeface="KaTeX_Math"/>
              </a:rPr>
              <a:t>i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KaTeX_Main"/>
              </a:rPr>
              <a:t>​</a:t>
            </a:r>
            <a:r>
              <a:rPr kumimoji="0" lang="ru-RU" altLang="ru-RU" sz="100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KaTeX_Main"/>
              </a:rPr>
              <a:t>)</a:t>
            </a:r>
            <a:endParaRPr kumimoji="0" lang="ru-RU" altLang="ru-RU" sz="9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200" b="1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quote-cjk-patch"/>
              </a:rPr>
              <a:t>Интерпретация:</a:t>
            </a:r>
            <a:endParaRPr kumimoji="0" lang="ru-RU" altLang="ru-RU" sz="9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200" b="1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quote-cjk-patch"/>
              </a:rPr>
              <a:t>0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quote-cjk-patch"/>
              </a:rPr>
              <a:t> — идеальный прогноз.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quote-cjk-patch"/>
              </a:rPr>
              <a:t>Чем меньше, тем лучше.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200" b="1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quote-cjk-patch"/>
              </a:rPr>
              <a:t>Плюсы:</a:t>
            </a:r>
            <a:endParaRPr kumimoji="0" lang="ru-RU" altLang="ru-RU" sz="9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quote-cjk-patch"/>
              </a:rPr>
              <a:t>Оценивает и </a:t>
            </a:r>
            <a:r>
              <a:rPr kumimoji="0" lang="ru-RU" altLang="ru-RU" sz="1200" b="1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quote-cjk-patch"/>
              </a:rPr>
              <a:t>точность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quote-cjk-patch"/>
              </a:rPr>
              <a:t>, и </a:t>
            </a:r>
            <a:r>
              <a:rPr kumimoji="0" lang="ru-RU" altLang="ru-RU" sz="1200" b="1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quote-cjk-patch"/>
              </a:rPr>
              <a:t>резкость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quote-cjk-patch"/>
              </a:rPr>
              <a:t> распределения.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quote-cjk-patch"/>
              </a:rPr>
              <a:t>Работает с любым типом распределений (нормальные, смешанные, эмпирические).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200" b="1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quote-cjk-patch"/>
              </a:rPr>
              <a:t>Минусы:</a:t>
            </a:r>
            <a:endParaRPr kumimoji="0" lang="ru-RU" altLang="ru-RU" sz="9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quote-cjk-patch"/>
              </a:rPr>
              <a:t>Сложнее для вычисления, чем </a:t>
            </a:r>
            <a:r>
              <a:rPr kumimoji="0" lang="ru-RU" altLang="ru-RU" sz="1200" b="0" i="0" u="none" strike="noStrike" cap="none" normalizeH="0" baseline="0" dirty="0" err="1">
                <a:ln>
                  <a:noFill/>
                </a:ln>
                <a:solidFill>
                  <a:srgbClr val="404040"/>
                </a:solidFill>
                <a:effectLst/>
                <a:latin typeface="quote-cjk-patch"/>
              </a:rPr>
              <a:t>Pinball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quote-cjk-patch"/>
              </a:rPr>
              <a:t> </a:t>
            </a:r>
            <a:r>
              <a:rPr kumimoji="0" lang="ru-RU" altLang="ru-RU" sz="1200" b="0" i="0" u="none" strike="noStrike" cap="none" normalizeH="0" baseline="0" dirty="0" err="1">
                <a:ln>
                  <a:noFill/>
                </a:ln>
                <a:solidFill>
                  <a:srgbClr val="404040"/>
                </a:solidFill>
                <a:effectLst/>
                <a:latin typeface="quote-cjk-patch"/>
              </a:rPr>
              <a:t>Loss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quote-cjk-patch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quote-cjk-patch"/>
              </a:rPr>
              <a:t>Требует доступа к полному распределению (например, через ансамбль моделей).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200" b="1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quote-cjk-patch"/>
              </a:rPr>
              <a:t>Пример: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quote-cjk-patch"/>
              </a:rPr>
              <a:t/>
            </a:r>
            <a:b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quote-cjk-patch"/>
              </a:rPr>
            </a:b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quote-cjk-patch"/>
              </a:rPr>
              <a:t>Прогноз температуры на несколько дней вперед с учетом неопределенности. CRPS сравнивает, насколько прогнозируемое распределение "концентрируется" вокруг реальных значений.</a:t>
            </a:r>
            <a:endParaRPr kumimoji="0" lang="ru-RU" altLang="ru-RU" sz="9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200" b="1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quote-cjk-patch"/>
              </a:rPr>
              <a:t>Сравнение с </a:t>
            </a:r>
            <a:r>
              <a:rPr kumimoji="0" lang="ru-RU" altLang="ru-RU" sz="1200" b="1" i="0" u="none" strike="noStrike" cap="none" normalizeH="0" baseline="0" dirty="0" err="1">
                <a:ln>
                  <a:noFill/>
                </a:ln>
                <a:solidFill>
                  <a:srgbClr val="404040"/>
                </a:solidFill>
                <a:effectLst/>
                <a:latin typeface="quote-cjk-patch"/>
              </a:rPr>
              <a:t>Pinball</a:t>
            </a:r>
            <a:r>
              <a:rPr kumimoji="0" lang="ru-RU" altLang="ru-RU" sz="1200" b="1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quote-cjk-patch"/>
              </a:rPr>
              <a:t> </a:t>
            </a:r>
            <a:r>
              <a:rPr kumimoji="0" lang="ru-RU" altLang="ru-RU" sz="1200" b="1" i="0" u="none" strike="noStrike" cap="none" normalizeH="0" baseline="0" dirty="0" err="1">
                <a:ln>
                  <a:noFill/>
                </a:ln>
                <a:solidFill>
                  <a:srgbClr val="404040"/>
                </a:solidFill>
                <a:effectLst/>
                <a:latin typeface="quote-cjk-patch"/>
              </a:rPr>
              <a:t>Loss</a:t>
            </a:r>
            <a:r>
              <a:rPr kumimoji="0" lang="ru-RU" altLang="ru-RU" sz="1200" b="1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quote-cjk-patch"/>
              </a:rPr>
              <a:t>:</a:t>
            </a:r>
            <a:endParaRPr kumimoji="0" lang="ru-RU" altLang="ru-RU" sz="9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769581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C0775EF-DB7E-97B1-B9F0-4CB27A2D71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9BB84BB-D36C-F270-8602-5110B0F568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ru-RU" b="1" dirty="0" err="1"/>
              <a:t>ценарии</a:t>
            </a:r>
            <a:r>
              <a:rPr lang="ru-RU" b="1" dirty="0"/>
              <a:t>:</a:t>
            </a:r>
            <a:endParaRPr lang="ru-RU" dirty="0"/>
          </a:p>
          <a:p>
            <a:r>
              <a:rPr lang="ru-RU" b="1" dirty="0"/>
              <a:t>Логистика:</a:t>
            </a:r>
            <a:r>
              <a:rPr lang="ru-RU" dirty="0"/>
              <a:t> Штраф за опоздание доставки в 2 раза выше, чем за раннюю доставку.</a:t>
            </a:r>
          </a:p>
          <a:p>
            <a:pPr lvl="1"/>
            <a:r>
              <a:rPr lang="ru-RU" dirty="0"/>
              <a:t>Какая метрика нужна? (Асимметричная </a:t>
            </a:r>
            <a:r>
              <a:rPr lang="en" dirty="0"/>
              <a:t>MAE </a:t>
            </a:r>
            <a:r>
              <a:rPr lang="ru-RU" dirty="0"/>
              <a:t>с весами)</a:t>
            </a:r>
          </a:p>
          <a:p>
            <a:r>
              <a:rPr lang="ru-RU" b="1" dirty="0"/>
              <a:t>Медицина:</a:t>
            </a:r>
            <a:r>
              <a:rPr lang="ru-RU" dirty="0"/>
              <a:t> Прогноз смертности от </a:t>
            </a:r>
            <a:r>
              <a:rPr lang="en" dirty="0"/>
              <a:t>COVID. </a:t>
            </a:r>
            <a:r>
              <a:rPr lang="ru-RU" dirty="0"/>
              <a:t>Важнее избежать ложных "оптимистичных" прогнозов.</a:t>
            </a:r>
          </a:p>
          <a:p>
            <a:pPr lvl="1"/>
            <a:r>
              <a:rPr lang="ru-RU" dirty="0"/>
              <a:t>Какая метрика? (</a:t>
            </a:r>
            <a:r>
              <a:rPr lang="en" dirty="0"/>
              <a:t>Recall </a:t>
            </a:r>
            <a:r>
              <a:rPr lang="ru-RU" dirty="0"/>
              <a:t>для верхнего квантиля)</a:t>
            </a:r>
          </a:p>
          <a:p>
            <a:r>
              <a:rPr lang="ru-RU" b="1" dirty="0"/>
              <a:t>Метрика должна отражать стоимость ошибки</a:t>
            </a:r>
            <a:r>
              <a:rPr lang="ru-RU" dirty="0"/>
              <a:t> (например, перепроизводство </a:t>
            </a:r>
            <a:r>
              <a:rPr lang="en" dirty="0"/>
              <a:t>vs </a:t>
            </a:r>
            <a:r>
              <a:rPr lang="ru-RU" dirty="0"/>
              <a:t>упущенная прибыль).</a:t>
            </a:r>
          </a:p>
          <a:p>
            <a:r>
              <a:rPr lang="ru-RU" b="1" dirty="0"/>
              <a:t>Всегда проверяйте остатки</a:t>
            </a:r>
            <a:r>
              <a:rPr lang="ru-RU" dirty="0"/>
              <a:t> — хорошие метрики при плохих остатках = ложное спокойствие.</a:t>
            </a:r>
          </a:p>
          <a:p>
            <a:r>
              <a:rPr lang="ru-RU" b="1" dirty="0"/>
              <a:t>Комбинируйте подходы</a:t>
            </a:r>
            <a:r>
              <a:rPr lang="ru-RU" dirty="0"/>
              <a:t>:</a:t>
            </a:r>
          </a:p>
          <a:p>
            <a:pPr lvl="1"/>
            <a:r>
              <a:rPr lang="ru-RU" dirty="0"/>
              <a:t>Точечные метрики (</a:t>
            </a:r>
            <a:r>
              <a:rPr lang="en" dirty="0"/>
              <a:t>MAE/RMSE) + </a:t>
            </a:r>
            <a:r>
              <a:rPr lang="ru-RU" dirty="0"/>
              <a:t>вероятностные (</a:t>
            </a:r>
            <a:r>
              <a:rPr lang="en" dirty="0"/>
              <a:t>CRPS) + </a:t>
            </a:r>
            <a:r>
              <a:rPr lang="ru-RU" dirty="0"/>
              <a:t>бизнес-логика.</a:t>
            </a:r>
          </a:p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F32B7623-818A-B2F8-FB83-889BAB3FE0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80348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4BB3889-F6F5-A373-9A11-60DBA792EC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5EBC510-1E83-EE61-16FC-ACE84B7552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i="1" dirty="0"/>
              <a:t>Банк прогнозирует потери по кредитам. Точечный прогноз: 1 млн руб., но реальные убытки колеблются от 0.5 до 5 млн.</a:t>
            </a:r>
            <a:endParaRPr lang="ru-RU" dirty="0"/>
          </a:p>
          <a:p>
            <a:r>
              <a:rPr lang="ru-RU" b="1" dirty="0"/>
              <a:t>Проблема:</a:t>
            </a:r>
            <a:r>
              <a:rPr lang="ru-RU" dirty="0"/>
              <a:t> Точечная оценка бесполезна для риск-менеджмента.</a:t>
            </a:r>
          </a:p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F0730766-9B4C-7D25-785E-3D0925AEA6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69152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21340" y="263785"/>
            <a:ext cx="10780059" cy="448236"/>
          </a:xfrm>
        </p:spPr>
        <p:txBody>
          <a:bodyPr>
            <a:normAutofit fontScale="90000"/>
          </a:bodyPr>
          <a:lstStyle/>
          <a:p>
            <a:r>
              <a:rPr lang="ru-RU" dirty="0"/>
              <a:t>Оценка качества предсказания ВР</a:t>
            </a:r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03054" y="2529860"/>
            <a:ext cx="3295650" cy="1000125"/>
          </a:xfrm>
          <a:prstGeom prst="rect">
            <a:avLst/>
          </a:prstGeom>
        </p:spPr>
      </p:pic>
      <p:pic>
        <p:nvPicPr>
          <p:cNvPr id="7" name="Рисунок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96917" y="3307693"/>
            <a:ext cx="2971800" cy="809625"/>
          </a:xfrm>
          <a:prstGeom prst="rect">
            <a:avLst/>
          </a:prstGeom>
        </p:spPr>
      </p:pic>
      <p:sp>
        <p:nvSpPr>
          <p:cNvPr id="8" name="Прямоугольник 7"/>
          <p:cNvSpPr/>
          <p:nvPr/>
        </p:nvSpPr>
        <p:spPr>
          <a:xfrm>
            <a:off x="2612706" y="6531682"/>
            <a:ext cx="4566835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200" dirty="0"/>
              <a:t>https://education.yandex.ru/handbook/ml/article/vremennye-ryady</a:t>
            </a:r>
          </a:p>
        </p:txBody>
      </p:sp>
      <p:sp>
        <p:nvSpPr>
          <p:cNvPr id="9" name="Прямоугольник 8"/>
          <p:cNvSpPr/>
          <p:nvPr/>
        </p:nvSpPr>
        <p:spPr>
          <a:xfrm>
            <a:off x="7096609" y="6343045"/>
            <a:ext cx="388713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200" dirty="0"/>
              <a:t>https://alexanderdyakonov.wordpress.com/wp-content/uploads/2018/10/book_08_metrics_12_blog1.pdf</a:t>
            </a:r>
          </a:p>
        </p:txBody>
      </p:sp>
      <p:sp>
        <p:nvSpPr>
          <p:cNvPr id="14" name="Прямоугольник 13"/>
          <p:cNvSpPr/>
          <p:nvPr/>
        </p:nvSpPr>
        <p:spPr>
          <a:xfrm>
            <a:off x="48825" y="6313681"/>
            <a:ext cx="7172928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200" dirty="0"/>
              <a:t>https://neerc.ifmo.ru/wiki/index.php?title=Оценка_качества_в_задачах_классификации_и_регрессии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Прямоугольник 14"/>
              <p:cNvSpPr/>
              <p:nvPr/>
            </p:nvSpPr>
            <p:spPr>
              <a:xfrm>
                <a:off x="4637096" y="4064388"/>
                <a:ext cx="2820709" cy="53944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dirty="0"/>
                  <a:t>SMAPE 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ru-RU" b="1" i="1">
                            <a:latin typeface="Cambria Math" panose="02040503050406030204" pitchFamily="18" charset="0"/>
                          </a:rPr>
                          <m:t>𝑯</m:t>
                        </m:r>
                      </m:den>
                    </m:f>
                    <m:nary>
                      <m:naryPr>
                        <m:chr m:val="∑"/>
                        <m:limLoc m:val="subSup"/>
                        <m:ctrlPr>
                          <a:rPr lang="ru-RU" b="1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ru-RU" b="1" i="1">
                            <a:latin typeface="Cambria Math" panose="02040503050406030204" pitchFamily="18" charset="0"/>
                          </a:rPr>
                          <m:t>𝒊</m:t>
                        </m:r>
                        <m:r>
                          <a:rPr lang="ru-RU" b="0" i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ru-RU" b="1" i="1">
                            <a:latin typeface="Cambria Math" panose="02040503050406030204" pitchFamily="18" charset="0"/>
                          </a:rPr>
                          <m:t>𝑯</m:t>
                        </m:r>
                      </m:sup>
                      <m:e>
                        <m:f>
                          <m:fPr>
                            <m:ctrlPr>
                              <a:rPr lang="ru-RU" b="1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d>
                              <m:dPr>
                                <m:begChr m:val="|"/>
                                <m:endChr m:val="|"/>
                                <m:ctrlPr>
                                  <a:rPr lang="ru-RU" b="1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ru-RU" b="1" i="1">
                                    <a:latin typeface="Cambria Math" panose="02040503050406030204" pitchFamily="18" charset="0"/>
                                  </a:rPr>
                                  <m:t>𝒚</m:t>
                                </m:r>
                                <m:d>
                                  <m:dPr>
                                    <m:ctrlPr>
                                      <a:rPr lang="ru-RU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ru-RU" b="1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ru-RU" b="1" i="1">
                                            <a:latin typeface="Cambria Math" panose="02040503050406030204" pitchFamily="18" charset="0"/>
                                          </a:rPr>
                                          <m:t>𝒉</m:t>
                                        </m:r>
                                      </m:e>
                                      <m:sub>
                                        <m:r>
                                          <a:rPr lang="ru-RU" b="1" i="1">
                                            <a:latin typeface="Cambria Math" panose="02040503050406030204" pitchFamily="18" charset="0"/>
                                          </a:rPr>
                                          <m:t>𝒊</m:t>
                                        </m:r>
                                      </m:sub>
                                    </m:sSub>
                                  </m:e>
                                </m:d>
                                <m:r>
                                  <a:rPr lang="ru-RU" b="0" i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acc>
                                  <m:accPr>
                                    <m:chr m:val="̂"/>
                                    <m:ctrlPr>
                                      <a:rPr lang="ru-RU" b="0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ru-RU" b="1" i="1">
                                        <a:latin typeface="Cambria Math" panose="02040503050406030204" pitchFamily="18" charset="0"/>
                                      </a:rPr>
                                      <m:t>𝒚</m:t>
                                    </m:r>
                                  </m:e>
                                </m:acc>
                                <m:d>
                                  <m:dPr>
                                    <m:ctrlPr>
                                      <a:rPr lang="ru-RU" b="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ru-RU" b="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ru-RU" b="1" i="1">
                                            <a:latin typeface="Cambria Math" panose="02040503050406030204" pitchFamily="18" charset="0"/>
                                          </a:rPr>
                                          <m:t>𝒉</m:t>
                                        </m:r>
                                      </m:e>
                                      <m:sub>
                                        <m:r>
                                          <a:rPr lang="ru-RU" b="1" i="1">
                                            <a:latin typeface="Cambria Math" panose="02040503050406030204" pitchFamily="18" charset="0"/>
                                          </a:rPr>
                                          <m:t>𝒊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</m:d>
                          </m:num>
                          <m:den>
                            <m:d>
                              <m:dPr>
                                <m:begChr m:val="|"/>
                                <m:endChr m:val="|"/>
                                <m:ctrlPr>
                                  <a:rPr lang="ru-RU" b="1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ru-RU" b="1" i="1">
                                    <a:latin typeface="Cambria Math" panose="02040503050406030204" pitchFamily="18" charset="0"/>
                                  </a:rPr>
                                  <m:t>𝒚</m:t>
                                </m:r>
                                <m:d>
                                  <m:dPr>
                                    <m:ctrlPr>
                                      <a:rPr lang="ru-RU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ru-RU" b="1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ru-RU" b="1" i="1">
                                            <a:latin typeface="Cambria Math" panose="02040503050406030204" pitchFamily="18" charset="0"/>
                                          </a:rPr>
                                          <m:t>𝒉</m:t>
                                        </m:r>
                                      </m:e>
                                      <m:sub>
                                        <m:r>
                                          <a:rPr lang="ru-RU" b="1" i="1">
                                            <a:latin typeface="Cambria Math" panose="02040503050406030204" pitchFamily="18" charset="0"/>
                                          </a:rPr>
                                          <m:t>𝒊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</m:d>
                            <m:r>
                              <a:rPr lang="ru-RU" b="0" i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d>
                              <m:dPr>
                                <m:begChr m:val="|"/>
                                <m:endChr m:val="|"/>
                                <m:ctrlPr>
                                  <a:rPr lang="ru-RU" b="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acc>
                                  <m:accPr>
                                    <m:chr m:val="̂"/>
                                    <m:ctrlPr>
                                      <a:rPr lang="ru-RU" b="0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ru-RU" b="1" i="1">
                                        <a:latin typeface="Cambria Math" panose="02040503050406030204" pitchFamily="18" charset="0"/>
                                      </a:rPr>
                                      <m:t>𝒚</m:t>
                                    </m:r>
                                  </m:e>
                                </m:acc>
                                <m:d>
                                  <m:dPr>
                                    <m:ctrlPr>
                                      <a:rPr lang="ru-RU" b="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ru-RU" b="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ru-RU" b="1" i="1">
                                            <a:latin typeface="Cambria Math" panose="02040503050406030204" pitchFamily="18" charset="0"/>
                                          </a:rPr>
                                          <m:t>𝒉</m:t>
                                        </m:r>
                                      </m:e>
                                      <m:sub>
                                        <m:r>
                                          <a:rPr lang="ru-RU" b="1" i="1">
                                            <a:latin typeface="Cambria Math" panose="02040503050406030204" pitchFamily="18" charset="0"/>
                                          </a:rPr>
                                          <m:t>𝒊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</m:d>
                          </m:den>
                        </m:f>
                      </m:e>
                    </m:nary>
                  </m:oMath>
                </a14:m>
                <a:endParaRPr lang="ru-RU" dirty="0"/>
              </a:p>
            </p:txBody>
          </p:sp>
        </mc:Choice>
        <mc:Fallback xmlns="">
          <p:sp>
            <p:nvSpPr>
              <p:cNvPr id="15" name="Прямоугольник 1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37096" y="4064388"/>
                <a:ext cx="2820709" cy="539443"/>
              </a:xfrm>
              <a:prstGeom prst="rect">
                <a:avLst/>
              </a:prstGeom>
              <a:blipFill>
                <a:blip r:embed="rId7"/>
                <a:stretch>
                  <a:fillRect l="-1948" t="-68182" b="-111364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Прямоугольник 9"/>
          <p:cNvSpPr/>
          <p:nvPr/>
        </p:nvSpPr>
        <p:spPr>
          <a:xfrm>
            <a:off x="3215446" y="2002504"/>
            <a:ext cx="413177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/>
              <a:t>Также могут использоваться % метрики:</a:t>
            </a:r>
          </a:p>
        </p:txBody>
      </p:sp>
      <p:sp>
        <p:nvSpPr>
          <p:cNvPr id="17" name="Прямоугольник 16"/>
          <p:cNvSpPr/>
          <p:nvPr/>
        </p:nvSpPr>
        <p:spPr>
          <a:xfrm>
            <a:off x="367552" y="779366"/>
            <a:ext cx="11271997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Для оценка качества моделей прогнозирования временного ряда в основном используются метрики качества регрессии.</a:t>
            </a:r>
          </a:p>
        </p:txBody>
      </p:sp>
      <p:sp>
        <p:nvSpPr>
          <p:cNvPr id="18" name="Прямоугольник 17"/>
          <p:cNvSpPr/>
          <p:nvPr/>
        </p:nvSpPr>
        <p:spPr>
          <a:xfrm>
            <a:off x="1725837" y="1520633"/>
            <a:ext cx="201035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/>
              <a:t>Точечные ошибки:</a:t>
            </a:r>
          </a:p>
        </p:txBody>
      </p:sp>
      <p:sp>
        <p:nvSpPr>
          <p:cNvPr id="19" name="Прямоугольник 18"/>
          <p:cNvSpPr/>
          <p:nvPr/>
        </p:nvSpPr>
        <p:spPr>
          <a:xfrm>
            <a:off x="7993287" y="1565952"/>
            <a:ext cx="250696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/>
              <a:t>Интервальные ошибки:</a:t>
            </a:r>
          </a:p>
        </p:txBody>
      </p:sp>
      <p:pic>
        <p:nvPicPr>
          <p:cNvPr id="1026" name="Picture 2" descr="The lower and upper quantile time-series side-by-side with the mean forecast time-series.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77250" y="4503485"/>
            <a:ext cx="3537480" cy="16925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2" name="Прямоугольник 21"/>
          <p:cNvSpPr/>
          <p:nvPr/>
        </p:nvSpPr>
        <p:spPr>
          <a:xfrm>
            <a:off x="7790166" y="1893972"/>
            <a:ext cx="372499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/>
              <a:t>Предсказание медианы и разброса </a:t>
            </a:r>
          </a:p>
        </p:txBody>
      </p:sp>
      <p:sp>
        <p:nvSpPr>
          <p:cNvPr id="25" name="Прямоугольник 24"/>
          <p:cNvSpPr/>
          <p:nvPr/>
        </p:nvSpPr>
        <p:spPr>
          <a:xfrm>
            <a:off x="4633287" y="2340811"/>
            <a:ext cx="258846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/>
              <a:t>Предсказание медианы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Прямоугольник 26"/>
              <p:cNvSpPr/>
              <p:nvPr/>
            </p:nvSpPr>
            <p:spPr>
              <a:xfrm>
                <a:off x="3621161" y="5664169"/>
                <a:ext cx="3947556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ru-RU" dirty="0"/>
                  <a:t>Может быть Проблема если </a:t>
                </a:r>
                <a14:m>
                  <m:oMath xmlns:m="http://schemas.openxmlformats.org/officeDocument/2006/math">
                    <m:r>
                      <a:rPr lang="ru-RU" b="1" i="1">
                        <a:latin typeface="Cambria Math" panose="02040503050406030204" pitchFamily="18" charset="0"/>
                      </a:rPr>
                      <m:t>𝒚</m:t>
                    </m:r>
                    <m:d>
                      <m:dPr>
                        <m:ctrlPr>
                          <a:rPr lang="ru-RU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ru-RU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u-RU" b="1" i="1">
                                <a:latin typeface="Cambria Math" panose="02040503050406030204" pitchFamily="18" charset="0"/>
                              </a:rPr>
                              <m:t>𝒉</m:t>
                            </m:r>
                          </m:e>
                          <m:sub>
                            <m:r>
                              <a:rPr lang="ru-RU" b="1" i="1">
                                <a:latin typeface="Cambria Math" panose="02040503050406030204" pitchFamily="18" charset="0"/>
                              </a:rPr>
                              <m:t>𝒊</m:t>
                            </m:r>
                          </m:sub>
                        </m:sSub>
                      </m:e>
                    </m:d>
                  </m:oMath>
                </a14:m>
                <a:r>
                  <a:rPr lang="ru-RU" dirty="0"/>
                  <a:t> = 0 </a:t>
                </a:r>
              </a:p>
            </p:txBody>
          </p:sp>
        </mc:Choice>
        <mc:Fallback xmlns="">
          <p:sp>
            <p:nvSpPr>
              <p:cNvPr id="27" name="Прямоугольник 2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21161" y="5664169"/>
                <a:ext cx="3947556" cy="369332"/>
              </a:xfrm>
              <a:prstGeom prst="rect">
                <a:avLst/>
              </a:prstGeom>
              <a:blipFill>
                <a:blip r:embed="rId9"/>
                <a:stretch>
                  <a:fillRect l="-1235" t="-8197" r="-309" b="-2459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Прямоугольник 19"/>
          <p:cNvSpPr/>
          <p:nvPr/>
        </p:nvSpPr>
        <p:spPr>
          <a:xfrm>
            <a:off x="48825" y="6519400"/>
            <a:ext cx="2617640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1200" dirty="0"/>
              <a:t>https://otexts.com/fpp2/accuracy.html</a:t>
            </a:r>
          </a:p>
        </p:txBody>
      </p:sp>
      <p:pic>
        <p:nvPicPr>
          <p:cNvPr id="11" name="Рисунок 10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610267" y="4675951"/>
            <a:ext cx="1611486" cy="977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43136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Примеры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 dirty="0"/>
          </a:p>
        </p:txBody>
      </p:sp>
      <p:pic>
        <p:nvPicPr>
          <p:cNvPr id="1026" name="Picture 2" descr="Forecasts of Australian quarterly beer production.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0231" y="3508140"/>
            <a:ext cx="6400800" cy="32004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Forecasts based on 200 days of the Google daily closing stock price.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65668" y="1071419"/>
            <a:ext cx="5936598" cy="2968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00616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255C34D-767C-07F0-5F0C-0E83798B14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1257" y="365125"/>
            <a:ext cx="11092543" cy="656153"/>
          </a:xfrm>
        </p:spPr>
        <p:txBody>
          <a:bodyPr>
            <a:normAutofit fontScale="90000"/>
          </a:bodyPr>
          <a:lstStyle/>
          <a:p>
            <a:r>
              <a:rPr lang="ru-RU" i="1" dirty="0"/>
              <a:t>Точечные абсолютные метрики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8A954FF-92A8-A6A4-5546-4620C4237A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1257" y="890959"/>
            <a:ext cx="11222182" cy="516576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1600" dirty="0"/>
              <a:t>Каждое наблюдение во временном ряду можно спрогнозировать, используя все предыдущие наблюдения</a:t>
            </a:r>
            <a:r>
              <a:rPr lang="en-US" sz="1600" dirty="0"/>
              <a:t>&amp; </a:t>
            </a:r>
            <a:br>
              <a:rPr lang="en-US" sz="1600" dirty="0"/>
            </a:br>
            <a:r>
              <a:rPr lang="en-US" sz="1600" dirty="0" err="1"/>
              <a:t>Е</a:t>
            </a:r>
            <a:r>
              <a:rPr lang="ru-RU" sz="1600" dirty="0" err="1"/>
              <a:t>сли</a:t>
            </a:r>
            <a:r>
              <a:rPr lang="ru-RU" sz="1600" dirty="0"/>
              <a:t> наблюдения содержат необъясненные составляющие (шум), и их число ограничено, то результат прогноза не является </a:t>
            </a:r>
            <a:r>
              <a:rPr lang="ru-RU" sz="1600" dirty="0" err="1"/>
              <a:t>истиным</a:t>
            </a:r>
            <a:r>
              <a:rPr lang="ru-RU" sz="1600" dirty="0"/>
              <a:t>. То есть содержит ошибку. Введем 2 термина:</a:t>
            </a:r>
            <a:endParaRPr lang="en-US" sz="1600" dirty="0"/>
          </a:p>
          <a:p>
            <a:pPr marL="0" indent="0">
              <a:buNone/>
            </a:pPr>
            <a:r>
              <a:rPr lang="ru-RU" sz="1600" i="1" dirty="0"/>
              <a:t>Остаток от предсказания модели на каждом шаге можно оценить как: </a:t>
            </a:r>
            <a:r>
              <a:rPr lang="ru-RU" sz="1600" i="1" dirty="0" err="1"/>
              <a:t>ет</a:t>
            </a:r>
            <a:r>
              <a:rPr lang="ru-RU" sz="1600" dirty="0"/>
              <a:t>​=</a:t>
            </a:r>
            <a:r>
              <a:rPr lang="ru-RU" sz="1600" i="1" dirty="0" err="1"/>
              <a:t>ут</a:t>
            </a:r>
            <a:r>
              <a:rPr lang="ru-RU" sz="1600" dirty="0"/>
              <a:t>​−</a:t>
            </a:r>
            <a:r>
              <a:rPr lang="ru-RU" sz="1600" i="1" dirty="0"/>
              <a:t>у</a:t>
            </a:r>
            <a:r>
              <a:rPr lang="ru-RU" sz="1600" dirty="0"/>
              <a:t>^​</a:t>
            </a:r>
            <a:r>
              <a:rPr lang="ru-RU" sz="1600" i="1" dirty="0"/>
              <a:t>т</a:t>
            </a:r>
            <a:r>
              <a:rPr lang="ru-RU" sz="1600" dirty="0"/>
              <a:t>​  </a:t>
            </a:r>
          </a:p>
          <a:p>
            <a:pPr marL="0" indent="0">
              <a:buNone/>
            </a:pPr>
            <a:r>
              <a:rPr lang="ru-RU" sz="1600" dirty="0"/>
              <a:t>Ошибка модели – функционал </a:t>
            </a:r>
            <a:r>
              <a:rPr lang="ru-RU" sz="1600" i="1" dirty="0" err="1"/>
              <a:t>ут</a:t>
            </a:r>
            <a:r>
              <a:rPr lang="ru-RU" sz="1600" dirty="0"/>
              <a:t>​, </a:t>
            </a:r>
            <a:r>
              <a:rPr lang="ru-RU" sz="1600" i="1" dirty="0"/>
              <a:t>у</a:t>
            </a:r>
            <a:r>
              <a:rPr lang="ru-RU" sz="1600" dirty="0"/>
              <a:t>^​</a:t>
            </a:r>
            <a:r>
              <a:rPr lang="ru-RU" sz="1600" i="1" dirty="0"/>
              <a:t>т </a:t>
            </a:r>
            <a:r>
              <a:rPr lang="ru-RU" sz="1600" dirty="0"/>
              <a:t>дающий одно число для всего горизонта предсказания модели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BD9F74C6-6417-BFEF-F7F4-B6549FAC2A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57</a:t>
            </a:fld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AFBAFD1-51C1-C2F4-E485-2D92835F8DF4}"/>
              </a:ext>
            </a:extLst>
          </p:cNvPr>
          <p:cNvSpPr txBox="1"/>
          <p:nvPr/>
        </p:nvSpPr>
        <p:spPr>
          <a:xfrm>
            <a:off x="261257" y="6338986"/>
            <a:ext cx="1139833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400" dirty="0" err="1"/>
              <a:t>https</a:t>
            </a:r>
            <a:r>
              <a:rPr lang="ru-RU" sz="1400" dirty="0"/>
              <a:t>://</a:t>
            </a:r>
            <a:r>
              <a:rPr lang="ru-RU" sz="1400" dirty="0" err="1"/>
              <a:t>apxml.com</a:t>
            </a:r>
            <a:r>
              <a:rPr lang="ru-RU" sz="1400" dirty="0"/>
              <a:t>/</a:t>
            </a:r>
            <a:r>
              <a:rPr lang="ru-RU" sz="1400" dirty="0" err="1"/>
              <a:t>courses</a:t>
            </a:r>
            <a:r>
              <a:rPr lang="ru-RU" sz="1400" dirty="0"/>
              <a:t>/</a:t>
            </a:r>
            <a:r>
              <a:rPr lang="ru-RU" sz="1400" dirty="0" err="1"/>
              <a:t>time-series-analysis-forecasting</a:t>
            </a:r>
            <a:r>
              <a:rPr lang="ru-RU" sz="1400" dirty="0"/>
              <a:t>/chapter-6-model-evaluation-selection/</a:t>
            </a:r>
            <a:r>
              <a:rPr lang="ru-RU" sz="1400" dirty="0" err="1"/>
              <a:t>evaluation-metrics-mae-mse-rmse</a:t>
            </a:r>
            <a:endParaRPr lang="ru-RU" sz="14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7D156D0-A274-DB11-74E2-CDC8064CD592}"/>
              </a:ext>
            </a:extLst>
          </p:cNvPr>
          <p:cNvSpPr txBox="1"/>
          <p:nvPr/>
        </p:nvSpPr>
        <p:spPr>
          <a:xfrm>
            <a:off x="4212772" y="6514842"/>
            <a:ext cx="609797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dirty="0" err="1"/>
              <a:t>https</a:t>
            </a:r>
            <a:r>
              <a:rPr lang="ru-RU" sz="1600" dirty="0"/>
              <a:t>://</a:t>
            </a:r>
            <a:r>
              <a:rPr lang="ru-RU" sz="1600" dirty="0" err="1"/>
              <a:t>arxiv.org</a:t>
            </a:r>
            <a:r>
              <a:rPr lang="ru-RU" sz="1600" dirty="0"/>
              <a:t>/</a:t>
            </a:r>
            <a:r>
              <a:rPr lang="ru-RU" sz="1600" dirty="0" err="1"/>
              <a:t>pdf</a:t>
            </a:r>
            <a:r>
              <a:rPr lang="ru-RU" sz="1600" dirty="0"/>
              <a:t>/2211.02989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507406F-F942-0544-3ECB-358C5E5CF9DC}"/>
              </a:ext>
            </a:extLst>
          </p:cNvPr>
          <p:cNvSpPr txBox="1"/>
          <p:nvPr/>
        </p:nvSpPr>
        <p:spPr>
          <a:xfrm>
            <a:off x="261257" y="4804052"/>
            <a:ext cx="10645239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" sz="1200" b="0" i="0" dirty="0">
                <a:solidFill>
                  <a:srgbClr val="333333"/>
                </a:solidFill>
                <a:effectLst/>
                <a:latin typeface="Merriweather" panose="020F0502020204030204" pitchFamily="34" charset="0"/>
              </a:rPr>
              <a:t>A forecast “error” is the difference between an observed value and its forecast. Here “error” does not mean a mistake, it means the unpredictable part of an observation. It can be written </a:t>
            </a:r>
            <a:r>
              <a:rPr lang="en" sz="1200" b="0" i="0" dirty="0" err="1">
                <a:solidFill>
                  <a:srgbClr val="333333"/>
                </a:solidFill>
                <a:effectLst/>
                <a:latin typeface="Merriweather" panose="020F0502020204030204" pitchFamily="34" charset="0"/>
              </a:rPr>
              <a:t>as</a:t>
            </a:r>
            <a:r>
              <a:rPr lang="en" sz="1200" b="0" i="0" dirty="0" err="1">
                <a:solidFill>
                  <a:srgbClr val="333333"/>
                </a:solidFill>
                <a:effectLst/>
                <a:latin typeface="MJXc-TeX-math-I"/>
              </a:rPr>
              <a:t>eT</a:t>
            </a:r>
            <a:r>
              <a:rPr lang="en" sz="1200" b="0" i="0" dirty="0" err="1">
                <a:solidFill>
                  <a:srgbClr val="333333"/>
                </a:solidFill>
                <a:effectLst/>
                <a:latin typeface="MJXc-TeX-main-R"/>
              </a:rPr>
              <a:t>+</a:t>
            </a:r>
            <a:r>
              <a:rPr lang="en" sz="1200" b="0" i="0" dirty="0" err="1">
                <a:solidFill>
                  <a:srgbClr val="333333"/>
                </a:solidFill>
                <a:effectLst/>
                <a:latin typeface="MJXc-TeX-math-I"/>
              </a:rPr>
              <a:t>h</a:t>
            </a:r>
            <a:r>
              <a:rPr lang="en" sz="1200" b="0" i="0" dirty="0">
                <a:solidFill>
                  <a:srgbClr val="333333"/>
                </a:solidFill>
                <a:effectLst/>
                <a:latin typeface="MJXc-TeX-main-R"/>
              </a:rPr>
              <a:t>=</a:t>
            </a:r>
            <a:r>
              <a:rPr lang="en" sz="1200" b="0" i="0" dirty="0" err="1">
                <a:solidFill>
                  <a:srgbClr val="333333"/>
                </a:solidFill>
                <a:effectLst/>
                <a:latin typeface="MJXc-TeX-math-I"/>
              </a:rPr>
              <a:t>yT</a:t>
            </a:r>
            <a:r>
              <a:rPr lang="en" sz="1200" b="0" i="0" dirty="0" err="1">
                <a:solidFill>
                  <a:srgbClr val="333333"/>
                </a:solidFill>
                <a:effectLst/>
                <a:latin typeface="MJXc-TeX-main-R"/>
              </a:rPr>
              <a:t>+</a:t>
            </a:r>
            <a:r>
              <a:rPr lang="en" sz="1200" b="0" i="0" dirty="0" err="1">
                <a:solidFill>
                  <a:srgbClr val="333333"/>
                </a:solidFill>
                <a:effectLst/>
                <a:latin typeface="MJXc-TeX-math-I"/>
              </a:rPr>
              <a:t>h</a:t>
            </a:r>
            <a:r>
              <a:rPr lang="en" sz="1200" b="0" i="0" dirty="0">
                <a:solidFill>
                  <a:srgbClr val="333333"/>
                </a:solidFill>
                <a:effectLst/>
                <a:latin typeface="MJXc-TeX-main-R"/>
              </a:rPr>
              <a:t>−^</a:t>
            </a:r>
            <a:r>
              <a:rPr lang="en" sz="1200" b="0" i="0" dirty="0" err="1">
                <a:solidFill>
                  <a:srgbClr val="333333"/>
                </a:solidFill>
                <a:effectLst/>
                <a:latin typeface="MJXc-TeX-math-I"/>
              </a:rPr>
              <a:t>yT</a:t>
            </a:r>
            <a:r>
              <a:rPr lang="en" sz="1200" b="0" i="0" dirty="0" err="1">
                <a:solidFill>
                  <a:srgbClr val="333333"/>
                </a:solidFill>
                <a:effectLst/>
                <a:latin typeface="MJXc-TeX-main-R"/>
              </a:rPr>
              <a:t>+</a:t>
            </a:r>
            <a:r>
              <a:rPr lang="en" sz="1200" b="0" i="0" dirty="0" err="1">
                <a:solidFill>
                  <a:srgbClr val="333333"/>
                </a:solidFill>
                <a:effectLst/>
                <a:latin typeface="MJXc-TeX-math-I"/>
              </a:rPr>
              <a:t>h</a:t>
            </a:r>
            <a:r>
              <a:rPr lang="en" sz="1200" b="0" i="0" dirty="0" err="1">
                <a:solidFill>
                  <a:srgbClr val="333333"/>
                </a:solidFill>
                <a:effectLst/>
                <a:latin typeface="MJXc-TeX-main-R"/>
              </a:rPr>
              <a:t>|</a:t>
            </a:r>
            <a:r>
              <a:rPr lang="en" sz="1200" b="0" i="0" dirty="0" err="1">
                <a:solidFill>
                  <a:srgbClr val="333333"/>
                </a:solidFill>
                <a:effectLst/>
                <a:latin typeface="MJXc-TeX-math-I"/>
              </a:rPr>
              <a:t>T</a:t>
            </a:r>
            <a:r>
              <a:rPr lang="en" sz="1200" b="0" i="0" dirty="0" err="1">
                <a:solidFill>
                  <a:srgbClr val="333333"/>
                </a:solidFill>
                <a:effectLst/>
                <a:latin typeface="MJXc-TeX-main-R"/>
              </a:rPr>
              <a:t>,</a:t>
            </a:r>
            <a:r>
              <a:rPr lang="en" sz="1200" b="0" i="0" dirty="0" err="1">
                <a:solidFill>
                  <a:srgbClr val="333333"/>
                </a:solidFill>
                <a:effectLst/>
                <a:latin typeface="Merriweather" panose="020F0502020204030204" pitchFamily="34" charset="0"/>
              </a:rPr>
              <a:t>where</a:t>
            </a:r>
            <a:r>
              <a:rPr lang="en" sz="1200" b="0" i="0" dirty="0">
                <a:solidFill>
                  <a:srgbClr val="333333"/>
                </a:solidFill>
                <a:effectLst/>
                <a:latin typeface="Merriweather" panose="020F0502020204030204" pitchFamily="34" charset="0"/>
              </a:rPr>
              <a:t> the training data is given by </a:t>
            </a:r>
            <a:r>
              <a:rPr lang="en" sz="1200" b="0" i="0" dirty="0">
                <a:solidFill>
                  <a:srgbClr val="333333"/>
                </a:solidFill>
                <a:effectLst/>
                <a:latin typeface="MJXc-TeX-main-R"/>
              </a:rPr>
              <a:t>{</a:t>
            </a:r>
            <a:r>
              <a:rPr lang="en" sz="1200" b="0" i="0" dirty="0">
                <a:solidFill>
                  <a:srgbClr val="333333"/>
                </a:solidFill>
                <a:effectLst/>
                <a:latin typeface="MJXc-TeX-math-I"/>
              </a:rPr>
              <a:t>y</a:t>
            </a:r>
            <a:r>
              <a:rPr lang="en" sz="1200" b="0" i="0" dirty="0">
                <a:solidFill>
                  <a:srgbClr val="333333"/>
                </a:solidFill>
                <a:effectLst/>
                <a:latin typeface="MJXc-TeX-main-R"/>
              </a:rPr>
              <a:t>1,…,</a:t>
            </a:r>
            <a:r>
              <a:rPr lang="en" sz="1200" b="0" i="0" dirty="0" err="1">
                <a:solidFill>
                  <a:srgbClr val="333333"/>
                </a:solidFill>
                <a:effectLst/>
                <a:latin typeface="MJXc-TeX-math-I"/>
              </a:rPr>
              <a:t>yT</a:t>
            </a:r>
            <a:r>
              <a:rPr lang="en" sz="1200" b="0" i="0" dirty="0">
                <a:solidFill>
                  <a:srgbClr val="333333"/>
                </a:solidFill>
                <a:effectLst/>
                <a:latin typeface="MJXc-TeX-main-R"/>
              </a:rPr>
              <a:t>}</a:t>
            </a:r>
            <a:r>
              <a:rPr lang="en" sz="1200" b="0" i="0" dirty="0">
                <a:solidFill>
                  <a:srgbClr val="333333"/>
                </a:solidFill>
                <a:effectLst/>
                <a:latin typeface="Merriweather" panose="020F0502020204030204" pitchFamily="34" charset="0"/>
              </a:rPr>
              <a:t> and the test data is given by </a:t>
            </a:r>
            <a:r>
              <a:rPr lang="en" sz="1200" b="0" i="0" dirty="0">
                <a:solidFill>
                  <a:srgbClr val="333333"/>
                </a:solidFill>
                <a:effectLst/>
                <a:latin typeface="MJXc-TeX-main-R"/>
              </a:rPr>
              <a:t>{</a:t>
            </a:r>
            <a:r>
              <a:rPr lang="en" sz="1200" b="0" i="0" dirty="0">
                <a:solidFill>
                  <a:srgbClr val="333333"/>
                </a:solidFill>
                <a:effectLst/>
                <a:latin typeface="MJXc-TeX-math-I"/>
              </a:rPr>
              <a:t>yT</a:t>
            </a:r>
            <a:r>
              <a:rPr lang="en" sz="1200" b="0" i="0" dirty="0">
                <a:solidFill>
                  <a:srgbClr val="333333"/>
                </a:solidFill>
                <a:effectLst/>
                <a:latin typeface="MJXc-TeX-main-R"/>
              </a:rPr>
              <a:t>+1,</a:t>
            </a:r>
            <a:r>
              <a:rPr lang="en" sz="1200" b="0" i="0" dirty="0">
                <a:solidFill>
                  <a:srgbClr val="333333"/>
                </a:solidFill>
                <a:effectLst/>
                <a:latin typeface="MJXc-TeX-math-I"/>
              </a:rPr>
              <a:t>yT</a:t>
            </a:r>
            <a:r>
              <a:rPr lang="en" sz="1200" b="0" i="0" dirty="0">
                <a:solidFill>
                  <a:srgbClr val="333333"/>
                </a:solidFill>
                <a:effectLst/>
                <a:latin typeface="MJXc-TeX-main-R"/>
              </a:rPr>
              <a:t>+2,…}</a:t>
            </a:r>
            <a:r>
              <a:rPr lang="en" sz="1200" b="0" i="0" dirty="0">
                <a:solidFill>
                  <a:srgbClr val="333333"/>
                </a:solidFill>
                <a:effectLst/>
                <a:latin typeface="Merriweather" panose="020F0502020204030204" pitchFamily="34" charset="0"/>
              </a:rPr>
              <a:t>.</a:t>
            </a:r>
          </a:p>
          <a:p>
            <a:pPr algn="l">
              <a:buNone/>
            </a:pPr>
            <a:r>
              <a:rPr lang="en" sz="1200" b="0" i="0" dirty="0">
                <a:solidFill>
                  <a:srgbClr val="333333"/>
                </a:solidFill>
                <a:effectLst/>
                <a:latin typeface="Merriweather" panose="020F0502020204030204" pitchFamily="34" charset="0"/>
              </a:rPr>
              <a:t>Note that forecast errors are different from residuals in two ways. First, residuals are calculated on the </a:t>
            </a:r>
            <a:r>
              <a:rPr lang="en" sz="1200" b="0" i="1" dirty="0">
                <a:solidFill>
                  <a:srgbClr val="333333"/>
                </a:solidFill>
                <a:effectLst/>
                <a:latin typeface="Merriweather" panose="020F0502020204030204" pitchFamily="34" charset="0"/>
              </a:rPr>
              <a:t>training</a:t>
            </a:r>
            <a:r>
              <a:rPr lang="en" sz="1200" b="0" i="0" dirty="0">
                <a:solidFill>
                  <a:srgbClr val="333333"/>
                </a:solidFill>
                <a:effectLst/>
                <a:latin typeface="Merriweather" panose="020F0502020204030204" pitchFamily="34" charset="0"/>
              </a:rPr>
              <a:t> set while forecast errors are calculated on the </a:t>
            </a:r>
            <a:r>
              <a:rPr lang="en" sz="1200" b="0" i="1" dirty="0">
                <a:solidFill>
                  <a:srgbClr val="333333"/>
                </a:solidFill>
                <a:effectLst/>
                <a:latin typeface="Merriweather" panose="020F0502020204030204" pitchFamily="34" charset="0"/>
              </a:rPr>
              <a:t>test</a:t>
            </a:r>
            <a:r>
              <a:rPr lang="en" sz="1200" b="0" i="0" dirty="0">
                <a:solidFill>
                  <a:srgbClr val="333333"/>
                </a:solidFill>
                <a:effectLst/>
                <a:latin typeface="Merriweather" panose="020F0502020204030204" pitchFamily="34" charset="0"/>
              </a:rPr>
              <a:t> set. Second, residuals are based on </a:t>
            </a:r>
            <a:r>
              <a:rPr lang="en" sz="1200" b="0" i="1" dirty="0">
                <a:solidFill>
                  <a:srgbClr val="333333"/>
                </a:solidFill>
                <a:effectLst/>
                <a:latin typeface="Merriweather" panose="020F0502020204030204" pitchFamily="34" charset="0"/>
              </a:rPr>
              <a:t>one-step</a:t>
            </a:r>
            <a:r>
              <a:rPr lang="en" sz="1200" b="0" i="0" dirty="0">
                <a:solidFill>
                  <a:srgbClr val="333333"/>
                </a:solidFill>
                <a:effectLst/>
                <a:latin typeface="Merriweather" panose="020F0502020204030204" pitchFamily="34" charset="0"/>
              </a:rPr>
              <a:t> forecasts while forecast errors can involve </a:t>
            </a:r>
            <a:r>
              <a:rPr lang="en" sz="1200" b="0" i="1" dirty="0">
                <a:solidFill>
                  <a:srgbClr val="333333"/>
                </a:solidFill>
                <a:effectLst/>
                <a:latin typeface="Merriweather" panose="020F0502020204030204" pitchFamily="34" charset="0"/>
              </a:rPr>
              <a:t>multi-step</a:t>
            </a:r>
            <a:r>
              <a:rPr lang="en" sz="1200" b="0" i="0" dirty="0">
                <a:solidFill>
                  <a:srgbClr val="333333"/>
                </a:solidFill>
                <a:effectLst/>
                <a:latin typeface="Merriweather" panose="020F0502020204030204" pitchFamily="34" charset="0"/>
              </a:rPr>
              <a:t> forecasts.</a:t>
            </a:r>
          </a:p>
          <a:p>
            <a:pPr algn="l">
              <a:buNone/>
            </a:pPr>
            <a:r>
              <a:rPr lang="en" sz="1200" b="0" i="0" dirty="0">
                <a:solidFill>
                  <a:srgbClr val="333333"/>
                </a:solidFill>
                <a:effectLst/>
                <a:latin typeface="Merriweather" panose="020F0502020204030204" pitchFamily="34" charset="0"/>
              </a:rPr>
              <a:t>We can measure forecast accuracy by </a:t>
            </a:r>
            <a:r>
              <a:rPr lang="en" sz="1200" b="0" i="0" dirty="0" err="1">
                <a:solidFill>
                  <a:srgbClr val="333333"/>
                </a:solidFill>
                <a:effectLst/>
                <a:latin typeface="Merriweather" panose="020F0502020204030204" pitchFamily="34" charset="0"/>
              </a:rPr>
              <a:t>summarising</a:t>
            </a:r>
            <a:r>
              <a:rPr lang="en" sz="1200" b="0" i="0" dirty="0">
                <a:solidFill>
                  <a:srgbClr val="333333"/>
                </a:solidFill>
                <a:effectLst/>
                <a:latin typeface="Merriweather" panose="020F0502020204030204" pitchFamily="34" charset="0"/>
              </a:rPr>
              <a:t> the forecast errors in different ways.</a:t>
            </a:r>
          </a:p>
          <a:p>
            <a:pPr algn="l"/>
            <a:r>
              <a:rPr lang="en" sz="1200" b="0" i="0" dirty="0">
                <a:solidFill>
                  <a:srgbClr val="333333"/>
                </a:solidFill>
                <a:effectLst/>
                <a:latin typeface="Merriweather" pitchFamily="2" charset="0"/>
              </a:rPr>
              <a:t/>
            </a:r>
            <a:br>
              <a:rPr lang="en" sz="1200" b="0" i="0" dirty="0">
                <a:solidFill>
                  <a:srgbClr val="333333"/>
                </a:solidFill>
                <a:effectLst/>
                <a:latin typeface="Merriweather" pitchFamily="2" charset="0"/>
              </a:rPr>
            </a:br>
            <a:endParaRPr lang="en" sz="1200" b="0" i="0" dirty="0">
              <a:solidFill>
                <a:srgbClr val="333333"/>
              </a:solidFill>
              <a:effectLst/>
              <a:latin typeface="Merriweather" pitchFamily="2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AFE175B-1B6F-EC2E-BBAC-1346705926A0}"/>
              </a:ext>
            </a:extLst>
          </p:cNvPr>
          <p:cNvSpPr txBox="1"/>
          <p:nvPr/>
        </p:nvSpPr>
        <p:spPr>
          <a:xfrm>
            <a:off x="7620990" y="5687393"/>
            <a:ext cx="60979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 err="1"/>
              <a:t>https</a:t>
            </a:r>
            <a:r>
              <a:rPr lang="ru-RU" dirty="0"/>
              <a:t>://</a:t>
            </a:r>
            <a:r>
              <a:rPr lang="ru-RU" dirty="0" err="1"/>
              <a:t>otexts.com</a:t>
            </a:r>
            <a:r>
              <a:rPr lang="ru-RU" dirty="0"/>
              <a:t>/fpp2/</a:t>
            </a:r>
            <a:r>
              <a:rPr lang="ru-RU" dirty="0" err="1"/>
              <a:t>accuracy.html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1595847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142" y="1448760"/>
            <a:ext cx="12000858" cy="2655722"/>
          </a:xfrm>
          <a:prstGeom prst="rect">
            <a:avLst/>
          </a:prstGeom>
        </p:spPr>
      </p:pic>
      <p:sp>
        <p:nvSpPr>
          <p:cNvPr id="5" name="Прямоугольник 4"/>
          <p:cNvSpPr/>
          <p:nvPr/>
        </p:nvSpPr>
        <p:spPr>
          <a:xfrm>
            <a:off x="838200" y="4421626"/>
            <a:ext cx="7551420" cy="2971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Параметрические и непараметрические методы</a:t>
            </a:r>
          </a:p>
        </p:txBody>
      </p:sp>
      <p:sp>
        <p:nvSpPr>
          <p:cNvPr id="6" name="Прямоугольник 5"/>
          <p:cNvSpPr/>
          <p:nvPr/>
        </p:nvSpPr>
        <p:spPr>
          <a:xfrm>
            <a:off x="838200" y="5439733"/>
            <a:ext cx="7551420" cy="2971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LLM,</a:t>
            </a:r>
            <a:r>
              <a:rPr lang="ru-RU" dirty="0"/>
              <a:t> БГМ </a:t>
            </a:r>
            <a:r>
              <a:rPr lang="en-US" dirty="0"/>
              <a:t>based</a:t>
            </a:r>
            <a:endParaRPr lang="ru-RU" dirty="0"/>
          </a:p>
        </p:txBody>
      </p:sp>
      <p:sp>
        <p:nvSpPr>
          <p:cNvPr id="7" name="Прямоугольник 6"/>
          <p:cNvSpPr/>
          <p:nvPr/>
        </p:nvSpPr>
        <p:spPr>
          <a:xfrm>
            <a:off x="838200" y="4770705"/>
            <a:ext cx="7551420" cy="2465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ML </a:t>
            </a:r>
            <a:r>
              <a:rPr lang="ru-RU" dirty="0"/>
              <a:t>методы (ручное выделение признаков)</a:t>
            </a:r>
          </a:p>
        </p:txBody>
      </p:sp>
      <p:sp>
        <p:nvSpPr>
          <p:cNvPr id="8" name="Прямоугольник 7"/>
          <p:cNvSpPr/>
          <p:nvPr/>
        </p:nvSpPr>
        <p:spPr>
          <a:xfrm>
            <a:off x="838200" y="5105219"/>
            <a:ext cx="7551420" cy="2465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ML </a:t>
            </a:r>
            <a:r>
              <a:rPr lang="ru-RU" dirty="0"/>
              <a:t>методы (ручное выделение признаков)</a:t>
            </a:r>
          </a:p>
        </p:txBody>
      </p:sp>
    </p:spTree>
    <p:extLst>
      <p:ext uri="{BB962C8B-B14F-4D97-AF65-F5344CB8AC3E}">
        <p14:creationId xmlns:p14="http://schemas.microsoft.com/office/powerpoint/2010/main" val="40408444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394447" y="6211669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dirty="0"/>
              <a:t>https://robjhyndman.com/hyndsight/terminology-matters/#same-concept-different-terminology</a:t>
            </a:r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236" y="-964695"/>
            <a:ext cx="7181850" cy="6562725"/>
          </a:xfrm>
          <a:prstGeom prst="rect">
            <a:avLst/>
          </a:prstGeom>
        </p:spPr>
      </p:pic>
      <p:sp>
        <p:nvSpPr>
          <p:cNvPr id="7" name="Прямоугольник 6"/>
          <p:cNvSpPr/>
          <p:nvPr/>
        </p:nvSpPr>
        <p:spPr>
          <a:xfrm>
            <a:off x="10008841" y="6350168"/>
            <a:ext cx="55656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 err="1"/>
              <a:t>чыя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83034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67D6645-D83B-4FCE-A2EB-4C47F16229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3346" y="131535"/>
            <a:ext cx="11346872" cy="1325563"/>
          </a:xfrm>
        </p:spPr>
        <p:txBody>
          <a:bodyPr>
            <a:normAutofit/>
          </a:bodyPr>
          <a:lstStyle/>
          <a:p>
            <a:pPr algn="ctr"/>
            <a:r>
              <a:rPr lang="ru-RU" sz="3600" b="1" dirty="0"/>
              <a:t>Преобразования нестационарных </a:t>
            </a:r>
            <a:r>
              <a:rPr lang="en-US" sz="3600" b="1" dirty="0"/>
              <a:t/>
            </a:r>
            <a:br>
              <a:rPr lang="en-US" sz="3600" b="1" dirty="0"/>
            </a:br>
            <a:r>
              <a:rPr lang="ru-RU" sz="3600" b="1" dirty="0"/>
              <a:t>временных рядов</a:t>
            </a:r>
            <a:endParaRPr lang="en-US" sz="36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10C5E1D3-FBD7-4B7D-96DC-57F6A3BF3BE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0" y="1264891"/>
                <a:ext cx="11617034" cy="3310385"/>
              </a:xfrm>
            </p:spPr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:r>
                  <a:rPr lang="ru-RU" sz="2400" dirty="0"/>
                  <a:t>В ряде случаев можно произвести некоторые преобразования (предварительную обработку) ряда, чтобы сделать ее стационарной.</a:t>
                </a:r>
              </a:p>
              <a:p>
                <a:pPr marL="0" indent="0">
                  <a:buNone/>
                </a:pPr>
                <a:r>
                  <a:rPr lang="ru-RU" sz="2400" dirty="0"/>
                  <a:t>Один из самых простых способов преобразовать ряд - взять его численную производную, получив ряд</a:t>
                </a:r>
                <a:endParaRPr lang="ru-RU" sz="2400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400" dirty="0"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sz="2400" i="1" dirty="0" err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 err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2400" i="1" dirty="0" err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 = </m:t>
                      </m:r>
                      <m:sSubSup>
                        <m:sSubSupPr>
                          <m:ctrlPr>
                            <a:rPr lang="en-US" sz="2400" i="1" dirty="0" err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400" i="1" dirty="0" err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2400" i="1" dirty="0" err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  <m:sup>
                          <m:r>
                            <a:rPr lang="en-US" sz="2400" i="1" dirty="0" err="1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 = </m:t>
                      </m:r>
                      <m:sSub>
                        <m:sSub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sz="2400" i="1" dirty="0" err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 err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2400" i="1" dirty="0" err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sz="2400" dirty="0">
                              <a:latin typeface="Cambria Math" panose="02040503050406030204" pitchFamily="18" charset="0"/>
                            </a:rPr>
                            <m:t>Δ</m:t>
                          </m:r>
                        </m:e>
                        <m: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sz="2400" i="1" dirty="0" err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 err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2400" i="1" dirty="0" err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 =</m:t>
                      </m:r>
                      <m:sSubSup>
                        <m:sSubSupPr>
                          <m:ctrlPr>
                            <a:rPr lang="en-US" sz="2400" i="1" dirty="0" err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400" i="1" dirty="0" err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2400" i="1" dirty="0" err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  <m:sup>
                          <m:r>
                            <a:rPr lang="en-US" sz="2400" i="1" dirty="0" err="1">
                              <a:latin typeface="Cambria Math" panose="02040503050406030204" pitchFamily="18" charset="0"/>
                            </a:rPr>
                            <m:t>′′</m:t>
                          </m:r>
                        </m:sup>
                      </m:sSubSup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 = </m:t>
                      </m:r>
                      <m:sSubSup>
                        <m:sSub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  <m: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’</m:t>
                          </m:r>
                        </m:sup>
                      </m:sSubSup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−</m:t>
                      </m:r>
                      <m:sSubSup>
                        <m:sSubSupPr>
                          <m:ctrlPr>
                            <a:rPr lang="en-US" sz="2400" i="1" dirty="0" err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400" i="1" dirty="0" err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2400" i="1" dirty="0" err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  <m:sup>
                          <m:r>
                            <a:rPr lang="en-US" sz="2400" i="1" dirty="0" err="1">
                              <a:latin typeface="Cambria Math" panose="02040503050406030204" pitchFamily="18" charset="0"/>
                            </a:rPr>
                            <m:t>’</m:t>
                          </m:r>
                        </m:sup>
                      </m:sSubSup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sz="2400" dirty="0"/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𝑎𝑛𝑑</m:t>
                      </m:r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  </m:t>
                      </m:r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𝑠𝑜</m:t>
                      </m:r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  </m:t>
                      </m:r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𝑜𝑛</m:t>
                      </m:r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..</m:t>
                      </m:r>
                    </m:oMath>
                  </m:oMathPara>
                </a14:m>
                <a:endParaRPr lang="en-US" sz="2400" dirty="0"/>
              </a:p>
              <a:p>
                <a:r>
                  <a:rPr lang="ru-RU" sz="2400" dirty="0"/>
                  <a:t>Степень производной при получении стационарного значения называется параметром интегрирования.</a:t>
                </a:r>
                <a:r>
                  <a:rPr lang="en-US" sz="2400" dirty="0"/>
                  <a:t>.  </a:t>
                </a:r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10C5E1D3-FBD7-4B7D-96DC-57F6A3BF3BE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0" y="1264891"/>
                <a:ext cx="11617034" cy="3310385"/>
              </a:xfrm>
              <a:blipFill>
                <a:blip r:embed="rId2"/>
                <a:stretch>
                  <a:fillRect l="-874" t="-343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849D17BF-ED98-FBE3-1B5A-0BB456C5F3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60</a:t>
            </a:fld>
            <a:endParaRPr lang="en-US"/>
          </a:p>
        </p:txBody>
      </p:sp>
      <p:pic>
        <p:nvPicPr>
          <p:cNvPr id="13315" name="Picture 3" descr="image.png">
            <a:extLst>
              <a:ext uri="{FF2B5EF4-FFF2-40B4-BE49-F238E27FC236}">
                <a16:creationId xmlns:a16="http://schemas.microsoft.com/office/drawing/2014/main" id="{A88DC811-8E90-43BB-95DC-4A03A4CB47F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1141"/>
          <a:stretch/>
        </p:blipFill>
        <p:spPr bwMode="auto">
          <a:xfrm>
            <a:off x="1600202" y="4555232"/>
            <a:ext cx="4624007" cy="17754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3" descr="image.png">
            <a:extLst>
              <a:ext uri="{FF2B5EF4-FFF2-40B4-BE49-F238E27FC236}">
                <a16:creationId xmlns:a16="http://schemas.microsoft.com/office/drawing/2014/main" id="{3E95320C-D830-4BA6-BFB4-DC48F4F9093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0000" b="1141"/>
          <a:stretch/>
        </p:blipFill>
        <p:spPr bwMode="auto">
          <a:xfrm>
            <a:off x="5519413" y="4383068"/>
            <a:ext cx="5072387" cy="19476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03711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45674" y="261418"/>
            <a:ext cx="10692973" cy="726008"/>
          </a:xfrm>
        </p:spPr>
        <p:txBody>
          <a:bodyPr/>
          <a:lstStyle/>
          <a:p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88044" y="1241637"/>
            <a:ext cx="4122484" cy="4935325"/>
          </a:xfrm>
        </p:spPr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61</a:t>
            </a:fld>
            <a:endParaRPr lang="en-US"/>
          </a:p>
        </p:txBody>
      </p:sp>
      <p:sp>
        <p:nvSpPr>
          <p:cNvPr id="5" name="Прямоугольник 4"/>
          <p:cNvSpPr/>
          <p:nvPr/>
        </p:nvSpPr>
        <p:spPr>
          <a:xfrm>
            <a:off x="4807644" y="6334780"/>
            <a:ext cx="6096000" cy="52322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sz="1400" dirty="0"/>
              <a:t>https://developer.nvidia.com/blog/time-series-forecasting-with-the-nvidia-time-series-prediction-platform-and-triton-inference-server/</a:t>
            </a:r>
          </a:p>
        </p:txBody>
      </p:sp>
      <p:pic>
        <p:nvPicPr>
          <p:cNvPr id="1028" name="Picture 4" descr="Time-Series-Forecast_Pic2.png (936×526)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250"/>
          <a:stretch/>
        </p:blipFill>
        <p:spPr bwMode="auto">
          <a:xfrm>
            <a:off x="4733365" y="1166813"/>
            <a:ext cx="6842604" cy="5010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305691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05CF265-69E0-6399-718A-1D16E8BCA1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8585B36-63FB-AB66-D543-F65C6C5EF5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A79CF1A6-BD6F-867B-185F-2E2BC4BD75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62</a:t>
            </a:fld>
            <a:endParaRPr lang="en-US"/>
          </a:p>
        </p:txBody>
      </p:sp>
      <p:pic>
        <p:nvPicPr>
          <p:cNvPr id="7170" name="Picture 2" descr="Different forms of dependence and their Pearson's r values">
            <a:extLst>
              <a:ext uri="{FF2B5EF4-FFF2-40B4-BE49-F238E27FC236}">
                <a16:creationId xmlns:a16="http://schemas.microsoft.com/office/drawing/2014/main" id="{9C640715-FCEC-9E02-C24B-446D96F52E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04590" y="2274671"/>
            <a:ext cx="7568756" cy="34532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21D615A-AB23-F639-C63B-32D2BB310067}"/>
              </a:ext>
            </a:extLst>
          </p:cNvPr>
          <p:cNvSpPr txBox="1"/>
          <p:nvPr/>
        </p:nvSpPr>
        <p:spPr>
          <a:xfrm>
            <a:off x="5562600" y="625667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 err="1"/>
              <a:t>https</a:t>
            </a:r>
            <a:r>
              <a:rPr lang="ru-RU" dirty="0"/>
              <a:t>://</a:t>
            </a:r>
            <a:r>
              <a:rPr lang="ru-RU" dirty="0" err="1"/>
              <a:t>smac-group.github.io</a:t>
            </a:r>
            <a:r>
              <a:rPr lang="ru-RU" dirty="0"/>
              <a:t>/</a:t>
            </a:r>
            <a:r>
              <a:rPr lang="ru-RU" dirty="0" err="1"/>
              <a:t>ts</a:t>
            </a:r>
            <a:r>
              <a:rPr lang="ru-RU" dirty="0"/>
              <a:t>/</a:t>
            </a:r>
            <a:r>
              <a:rPr lang="ru-RU" dirty="0" err="1"/>
              <a:t>fundtimeseries.html</a:t>
            </a:r>
            <a:endParaRPr lang="ru-RU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FE620BB-993D-69EB-37A9-4653940405A5}"/>
              </a:ext>
            </a:extLst>
          </p:cNvPr>
          <p:cNvSpPr txBox="1"/>
          <p:nvPr/>
        </p:nvSpPr>
        <p:spPr>
          <a:xfrm>
            <a:off x="5517572" y="5767773"/>
            <a:ext cx="635577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П</a:t>
            </a:r>
            <a:r>
              <a:rPr lang="en-US" dirty="0" err="1"/>
              <a:t>ри</a:t>
            </a:r>
            <a:r>
              <a:rPr lang="ru-RU" dirty="0"/>
              <a:t>меры различных зависимостей с одинаковой корреляцией</a:t>
            </a:r>
          </a:p>
        </p:txBody>
      </p:sp>
    </p:spTree>
    <p:extLst>
      <p:ext uri="{BB962C8B-B14F-4D97-AF65-F5344CB8AC3E}">
        <p14:creationId xmlns:p14="http://schemas.microsoft.com/office/powerpoint/2010/main" val="16527552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 2013–2022">
  <a:themeElements>
    <a:clrScheme name="Тема Office 2013–2022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Тема Office 2013–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 2013–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8303</TotalTime>
  <Words>4799</Words>
  <Application>Microsoft Office PowerPoint</Application>
  <PresentationFormat>Широкоэкранный</PresentationFormat>
  <Paragraphs>1038</Paragraphs>
  <Slides>62</Slides>
  <Notes>23</Notes>
  <HiddenSlides>16</HiddenSlides>
  <MMClips>0</MMClips>
  <ScaleCrop>false</ScaleCrop>
  <HeadingPairs>
    <vt:vector size="6" baseType="variant">
      <vt:variant>
        <vt:lpstr>Использованные шрифты</vt:lpstr>
      </vt:variant>
      <vt:variant>
        <vt:i4>17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62</vt:i4>
      </vt:variant>
    </vt:vector>
  </HeadingPairs>
  <TitlesOfParts>
    <vt:vector size="80" baseType="lpstr">
      <vt:lpstr>__YSText_10659f</vt:lpstr>
      <vt:lpstr>Aptos</vt:lpstr>
      <vt:lpstr>Arial</vt:lpstr>
      <vt:lpstr>Calibri</vt:lpstr>
      <vt:lpstr>Calibri Light</vt:lpstr>
      <vt:lpstr>Cambria Math</vt:lpstr>
      <vt:lpstr>KaTeX_Main</vt:lpstr>
      <vt:lpstr>KaTeX_Math</vt:lpstr>
      <vt:lpstr>KaTeX_Size2</vt:lpstr>
      <vt:lpstr>Merriweather</vt:lpstr>
      <vt:lpstr>MJXc-TeX-main-R</vt:lpstr>
      <vt:lpstr>MJXc-TeX-math-I</vt:lpstr>
      <vt:lpstr>quote-cjk-patch</vt:lpstr>
      <vt:lpstr>Roboto</vt:lpstr>
      <vt:lpstr>Segoe UI</vt:lpstr>
      <vt:lpstr>system-ui</vt:lpstr>
      <vt:lpstr>Times New Roman</vt:lpstr>
      <vt:lpstr>Тема Office 2013–2022</vt:lpstr>
      <vt:lpstr>Статистический подход к анализу  временных рядов.</vt:lpstr>
      <vt:lpstr>Модели временных рядов</vt:lpstr>
      <vt:lpstr>Особенности модели временных рядов</vt:lpstr>
      <vt:lpstr>Белый Гауссов шум</vt:lpstr>
      <vt:lpstr>Статистические сво йства ВР</vt:lpstr>
      <vt:lpstr>Статистические свойства модели ВР</vt:lpstr>
      <vt:lpstr>Замечания </vt:lpstr>
      <vt:lpstr>Пример дорожно-транспортных происшествий за 14 лет с дискретностью 1 месяц, </vt:lpstr>
      <vt:lpstr>Корреляция</vt:lpstr>
      <vt:lpstr>Замечания </vt:lpstr>
      <vt:lpstr>Анализ стационарности</vt:lpstr>
      <vt:lpstr>Стационарность ВР</vt:lpstr>
      <vt:lpstr>Анализ нестационарности</vt:lpstr>
      <vt:lpstr>Стационарность ВР. Замечания</vt:lpstr>
      <vt:lpstr>Анализ стационарности</vt:lpstr>
      <vt:lpstr>Белый Гауссов шум</vt:lpstr>
      <vt:lpstr>Преобразования нестационарных  временных рядов</vt:lpstr>
      <vt:lpstr>Преобразования нестационарных  временных рядов</vt:lpstr>
      <vt:lpstr>Преобразования нестационарных ВР</vt:lpstr>
      <vt:lpstr>Гетероскедастичность</vt:lpstr>
      <vt:lpstr>Методы предсказания в курсе</vt:lpstr>
      <vt:lpstr>Методы предсказания в курсе</vt:lpstr>
      <vt:lpstr>Подходы к предсказанию временных рядов</vt:lpstr>
      <vt:lpstr>Наивное предсказание </vt:lpstr>
      <vt:lpstr>Наивное предсказание </vt:lpstr>
      <vt:lpstr>Остатки и метрики модели</vt:lpstr>
      <vt:lpstr>Типы метрик во временных рядах</vt:lpstr>
      <vt:lpstr>Точечные абсолютные ошибки</vt:lpstr>
      <vt:lpstr>Точечные относительные ошибки</vt:lpstr>
      <vt:lpstr>Альтернативные точечные ошибки</vt:lpstr>
      <vt:lpstr>Таблица некоторых точечных метрик</vt:lpstr>
      <vt:lpstr>Экзотические метрики</vt:lpstr>
      <vt:lpstr>Оценка качества пресдказания ВР</vt:lpstr>
      <vt:lpstr>Необходимость вероятностных оценок</vt:lpstr>
      <vt:lpstr>Необходимость вероятностных оценок</vt:lpstr>
      <vt:lpstr>Необходимость вероятностных оценок</vt:lpstr>
      <vt:lpstr>Наивная оценка СКО</vt:lpstr>
      <vt:lpstr>Наивная оценка СКО</vt:lpstr>
      <vt:lpstr>Необходимость вероятностных оценок</vt:lpstr>
      <vt:lpstr>Необходимость вероятностных оценок</vt:lpstr>
      <vt:lpstr>Квантильная оценка качества пресдказания ВР</vt:lpstr>
      <vt:lpstr>Презентация PowerPoint</vt:lpstr>
      <vt:lpstr>Презентация PowerPoint</vt:lpstr>
      <vt:lpstr>Бенчмарки предсказания временных рядов</vt:lpstr>
      <vt:lpstr>Бенчмарки предсказания временных рядов</vt:lpstr>
      <vt:lpstr>Основные выводы</vt:lpstr>
      <vt:lpstr>Презентация PowerPoint</vt:lpstr>
      <vt:lpstr>Бенчмарки предсказания ВР</vt:lpstr>
      <vt:lpstr>Точечные Отностиельные ошибки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Оценка качества предсказания ВР</vt:lpstr>
      <vt:lpstr>Примеры</vt:lpstr>
      <vt:lpstr>Точечные абсолютные метрики</vt:lpstr>
      <vt:lpstr>Презентация PowerPoint</vt:lpstr>
      <vt:lpstr>Презентация PowerPoint</vt:lpstr>
      <vt:lpstr>Преобразования нестационарных  временных рядов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Time Series Analysis</dc:title>
  <dc:creator>Ронкин Михаил Владимирович</dc:creator>
  <cp:lastModifiedBy>Ронкин Михаил Владимирович</cp:lastModifiedBy>
  <cp:revision>262</cp:revision>
  <dcterms:created xsi:type="dcterms:W3CDTF">2021-10-31T10:57:36Z</dcterms:created>
  <dcterms:modified xsi:type="dcterms:W3CDTF">2025-07-11T08:55:15Z</dcterms:modified>
</cp:coreProperties>
</file>