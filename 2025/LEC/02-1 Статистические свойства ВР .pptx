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338" r:id="rId2"/>
    <p:sldId id="387" r:id="rId3"/>
    <p:sldId id="382" r:id="rId4"/>
    <p:sldId id="390" r:id="rId5"/>
    <p:sldId id="393" r:id="rId6"/>
    <p:sldId id="388" r:id="rId7"/>
    <p:sldId id="391" r:id="rId8"/>
    <p:sldId id="392" r:id="rId9"/>
    <p:sldId id="395" r:id="rId10"/>
    <p:sldId id="401" r:id="rId11"/>
    <p:sldId id="447" r:id="rId12"/>
    <p:sldId id="450" r:id="rId13"/>
    <p:sldId id="451" r:id="rId14"/>
    <p:sldId id="348" r:id="rId15"/>
    <p:sldId id="394" r:id="rId16"/>
    <p:sldId id="351" r:id="rId17"/>
    <p:sldId id="396" r:id="rId18"/>
    <p:sldId id="350" r:id="rId19"/>
    <p:sldId id="352" r:id="rId20"/>
    <p:sldId id="353" r:id="rId21"/>
    <p:sldId id="409" r:id="rId22"/>
    <p:sldId id="397" r:id="rId23"/>
    <p:sldId id="399" r:id="rId24"/>
    <p:sldId id="40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3973" autoAdjust="0"/>
  </p:normalViewPr>
  <p:slideViewPr>
    <p:cSldViewPr snapToGrid="0">
      <p:cViewPr>
        <p:scale>
          <a:sx n="100" d="100"/>
          <a:sy n="100" d="100"/>
        </p:scale>
        <p:origin x="72" y="-16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25.07.2025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10466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246147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6</a:t>
            </a:fld>
            <a:endParaRPr lang="ru-RU"/>
          </a:p>
        </p:txBody>
      </p:sp>
    </p:spTree>
    <p:extLst>
      <p:ext uri="{BB962C8B-B14F-4D97-AF65-F5344CB8AC3E}">
        <p14:creationId xmlns:p14="http://schemas.microsoft.com/office/powerpoint/2010/main" val="428170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189617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1"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191668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18BA-D680-7B96-02F9-861C902A4A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6B88F9-A535-B316-A9F8-13B986774D6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7998119-CE33-144F-7234-9811AEC1CB6D}"/>
              </a:ext>
            </a:extLst>
          </p:cNvPr>
          <p:cNvSpPr>
            <a:spLocks noGrp="1"/>
          </p:cNvSpPr>
          <p:nvPr>
            <p:ph type="body" idx="1"/>
          </p:nvPr>
        </p:nvSpPr>
        <p:spPr/>
        <p:txBody>
          <a:bodyPr/>
          <a:lstStyle/>
          <a:p>
            <a:endParaRPr lang="ru-RU" b="1" dirty="0"/>
          </a:p>
        </p:txBody>
      </p:sp>
      <p:sp>
        <p:nvSpPr>
          <p:cNvPr id="4" name="Номер слайда 3">
            <a:extLst>
              <a:ext uri="{FF2B5EF4-FFF2-40B4-BE49-F238E27FC236}">
                <a16:creationId xmlns:a16="http://schemas.microsoft.com/office/drawing/2014/main" id="{B657A107-06D5-30F3-A29E-2711A90B0B2C}"/>
              </a:ext>
            </a:extLst>
          </p:cNvPr>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403299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0156D06-6B42-419D-A61C-F7AD45031849}" type="slidenum">
              <a:rPr lang="ru-RU" smtClean="0"/>
              <a:t>14</a:t>
            </a:fld>
            <a:endParaRPr lang="ru-RU"/>
          </a:p>
        </p:txBody>
      </p:sp>
    </p:spTree>
    <p:extLst>
      <p:ext uri="{BB962C8B-B14F-4D97-AF65-F5344CB8AC3E}">
        <p14:creationId xmlns:p14="http://schemas.microsoft.com/office/powerpoint/2010/main" val="1543828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20</a:t>
            </a:fld>
            <a:endParaRPr lang="ru-RU"/>
          </a:p>
        </p:txBody>
      </p:sp>
    </p:spTree>
    <p:extLst>
      <p:ext uri="{BB962C8B-B14F-4D97-AF65-F5344CB8AC3E}">
        <p14:creationId xmlns:p14="http://schemas.microsoft.com/office/powerpoint/2010/main" val="275013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21</a:t>
            </a:fld>
            <a:endParaRPr lang="ru-RU"/>
          </a:p>
        </p:txBody>
      </p:sp>
    </p:spTree>
    <p:extLst>
      <p:ext uri="{BB962C8B-B14F-4D97-AF65-F5344CB8AC3E}">
        <p14:creationId xmlns:p14="http://schemas.microsoft.com/office/powerpoint/2010/main" val="596377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25.07.2025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25.07.2025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25.07.2025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25.07.2025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25.07.2025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25.07.2025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25.07.2025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25.07.2025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25.07.2025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25.07.2025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25.07.2025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25.07.2025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1417320" y="1224565"/>
            <a:ext cx="9144000" cy="2387600"/>
          </a:xfrm>
        </p:spPr>
        <p:txBody>
          <a:bodyPr>
            <a:noAutofit/>
          </a:bodyPr>
          <a:lstStyle/>
          <a:p>
            <a:r>
              <a:rPr lang="ru-RU" b="1" dirty="0"/>
              <a:t>Статистический подход к анализу </a:t>
            </a:r>
            <a:br>
              <a:rPr lang="ru-RU" b="1" dirty="0"/>
            </a:br>
            <a:r>
              <a:rPr lang="ru-RU" b="1" dirty="0"/>
              <a:t>временных рядов.</a:t>
            </a:r>
            <a:endParaRPr lang="en-US" dirty="0"/>
          </a:p>
        </p:txBody>
      </p:sp>
      <p:sp>
        <p:nvSpPr>
          <p:cNvPr id="3" name="Номер слайда 2">
            <a:extLst>
              <a:ext uri="{FF2B5EF4-FFF2-40B4-BE49-F238E27FC236}">
                <a16:creationId xmlns:a16="http://schemas.microsoft.com/office/drawing/2014/main" id="{E9A19EF5-ACCD-EF26-C88D-A3ED3DC99C54}"/>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39843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708799"/>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86104" y="810561"/>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ts val="60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algn="just" eaLnBrk="0" fontAlgn="base" hangingPunct="0">
                  <a:lnSpc>
                    <a:spcPct val="100000"/>
                  </a:lnSpc>
                  <a:spcBef>
                    <a:spcPts val="60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898525" indent="0" eaLnBrk="0" fontAlgn="base" hangingPunct="0">
                  <a:lnSpc>
                    <a:spcPct val="100000"/>
                  </a:lnSpc>
                  <a:spcBef>
                    <a:spcPct val="0"/>
                  </a:spcBef>
                  <a:spcAft>
                    <a:spcPct val="0"/>
                  </a:spcAft>
                  <a:buNone/>
                </a:pP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a:t>
                </a:r>
                <a:endParaRPr lang="en-US" altLang="en-US" sz="2000" dirty="0"/>
              </a:p>
              <a:p>
                <a:pPr marL="1241425" indent="-342900" eaLnBrk="0" fontAlgn="base" hangingPunct="0">
                  <a:lnSpc>
                    <a:spcPct val="100000"/>
                  </a:lnSpc>
                  <a:spcBef>
                    <a:spcPct val="0"/>
                  </a:spcBef>
                  <a:spcAft>
                    <a:spcPct val="0"/>
                  </a:spcAft>
                </a:pPr>
                <a:r>
                  <a:rPr lang="ru-RU" altLang="en-US" sz="2000" dirty="0"/>
                  <a:t>цикличность кризисов,</a:t>
                </a:r>
                <a:endParaRPr lang="en-US" altLang="en-US" sz="2000" dirty="0"/>
              </a:p>
              <a:p>
                <a:pPr marL="1241425" indent="-342900" eaLnBrk="0" fontAlgn="base" hangingPunct="0">
                  <a:lnSpc>
                    <a:spcPct val="100000"/>
                  </a:lnSpc>
                  <a:spcBef>
                    <a:spcPct val="0"/>
                  </a:spcBef>
                  <a:spcAft>
                    <a:spcPct val="0"/>
                  </a:spcAft>
                </a:pPr>
                <a:r>
                  <a:rPr lang="ru-RU" altLang="en-US" sz="2000" b="1" dirty="0"/>
                  <a:t>тренд</a:t>
                </a:r>
                <a:r>
                  <a:rPr lang="ru-RU" altLang="en-US" sz="2000" dirty="0"/>
                  <a:t> экономики</a:t>
                </a:r>
                <a:endParaRPr lang="en-US" altLang="en-US" sz="2000" dirty="0"/>
              </a:p>
              <a:p>
                <a:pPr marL="1241425" indent="-342900" eaLnBrk="0" fontAlgn="base" hangingPunct="0">
                  <a:lnSpc>
                    <a:spcPct val="100000"/>
                  </a:lnSpc>
                  <a:spcBef>
                    <a:spcPct val="0"/>
                  </a:spcBef>
                  <a:spcAft>
                    <a:spcPct val="0"/>
                  </a:spcAft>
                </a:pPr>
                <a:r>
                  <a:rPr lang="ru-RU" altLang="en-US" sz="2000" b="1" dirty="0"/>
                  <a:t>сезонные факторы ( год, неделя и </a:t>
                </a:r>
                <a:r>
                  <a:rPr lang="ru-RU" altLang="en-US" sz="2000" b="1" dirty="0" err="1"/>
                  <a:t>тд</a:t>
                </a:r>
                <a:r>
                  <a:rPr lang="ru-RU" altLang="en-US" sz="2000" b="1" dirty="0"/>
                  <a:t>)</a:t>
                </a:r>
              </a:p>
              <a:p>
                <a:pPr marL="0" indent="0" eaLnBrk="0" fontAlgn="base" hangingPunct="0">
                  <a:lnSpc>
                    <a:spcPct val="100000"/>
                  </a:lnSpc>
                  <a:spcBef>
                    <a:spcPct val="0"/>
                  </a:spcBef>
                  <a:spcAft>
                    <a:spcPct val="0"/>
                  </a:spcAft>
                  <a:buNone/>
                </a:pPr>
                <a:endParaRPr lang="ru-RU" alt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186104" y="810561"/>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57671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Autofit/>
          </a:bodyPr>
          <a:lstStyle/>
          <a:p>
            <a:pPr algn="ctr"/>
            <a:r>
              <a:rPr lang="ru-RU" sz="4000" b="1" dirty="0"/>
              <a:t>Особенности модели временных рядов</a:t>
            </a:r>
            <a:endParaRPr lang="en-US" sz="4000"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14037" y="870413"/>
            <a:ext cx="11386458" cy="5460318"/>
          </a:xfrm>
        </p:spPr>
        <p:txBody>
          <a:bodyPr>
            <a:normAutofit/>
          </a:bodyPr>
          <a:lstStyle/>
          <a:p>
            <a:pPr lvl="0">
              <a:lnSpc>
                <a:spcPct val="100000"/>
              </a:lnSpc>
              <a:spcBef>
                <a:spcPts val="0"/>
              </a:spcBef>
            </a:pPr>
            <a:r>
              <a:rPr lang="ru-RU" sz="2100" dirty="0"/>
              <a:t>Как правило тренд и сезонность объяснить частично можно (это структура ВР)</a:t>
            </a:r>
          </a:p>
          <a:p>
            <a:pPr lvl="1">
              <a:lnSpc>
                <a:spcPct val="100000"/>
              </a:lnSpc>
              <a:spcBef>
                <a:spcPts val="0"/>
              </a:spcBef>
            </a:pPr>
            <a:r>
              <a:rPr lang="ru-RU" sz="1700" dirty="0"/>
              <a:t>можно разложить ВР на тренд и  сезонность известного типа. То что останется – мы считаем шумом (случайные колебания).</a:t>
            </a:r>
          </a:p>
          <a:p>
            <a:pPr lvl="0">
              <a:lnSpc>
                <a:spcPct val="100000"/>
              </a:lnSpc>
              <a:spcBef>
                <a:spcPts val="0"/>
              </a:spcBef>
            </a:pPr>
            <a:r>
              <a:rPr lang="ru-RU" sz="2100" dirty="0"/>
              <a:t>Шум создает неопределенность или смещение в результатах предсказаний</a:t>
            </a:r>
          </a:p>
          <a:p>
            <a:pPr lvl="0">
              <a:lnSpc>
                <a:spcPct val="100000"/>
              </a:lnSpc>
              <a:spcBef>
                <a:spcPts val="0"/>
              </a:spcBef>
            </a:pPr>
            <a:r>
              <a:rPr lang="ru-RU" sz="2100" dirty="0"/>
              <a:t>Данные с шумом можно описать статистически (ввести статистические гипотезы о данных)</a:t>
            </a:r>
          </a:p>
          <a:p>
            <a:pPr lvl="0">
              <a:lnSpc>
                <a:spcPct val="100000"/>
              </a:lnSpc>
              <a:spcBef>
                <a:spcPts val="0"/>
              </a:spcBef>
            </a:pPr>
            <a:r>
              <a:rPr lang="ru-RU" sz="2100" dirty="0"/>
              <a:t>При статистическом анализе ВР введем стат. Характеристики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268"/>
          <a:stretch>
            <a:fillRect/>
          </a:stretch>
        </p:blipFill>
        <p:spPr bwMode="auto">
          <a:xfrm>
            <a:off x="7010547" y="3340005"/>
            <a:ext cx="3690915" cy="20724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400800" y="6452732"/>
            <a:ext cx="4577561" cy="276999"/>
          </a:xfrm>
          <a:prstGeom prst="rect">
            <a:avLst/>
          </a:prstGeom>
          <a:noFill/>
        </p:spPr>
        <p:txBody>
          <a:bodyPr wrap="square">
            <a:spAutoFit/>
          </a:bodyPr>
          <a:lstStyle/>
          <a:p>
            <a:r>
              <a:rPr lang="ru-RU" sz="1200" dirty="0" err="1"/>
              <a:t>https</a:t>
            </a:r>
            <a:r>
              <a:rPr lang="ru-RU" sz="1200" dirty="0"/>
              <a:t>://</a:t>
            </a:r>
            <a:r>
              <a:rPr lang="ru-RU" sz="1200" dirty="0" err="1"/>
              <a:t>www.mdpi.com</a:t>
            </a:r>
            <a:r>
              <a:rPr lang="ru-RU" sz="1200"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6328" t="-1725" r="-6328" b="4206"/>
          <a:stretch>
            <a:fillRect/>
          </a:stretch>
        </p:blipFill>
        <p:spPr bwMode="auto">
          <a:xfrm>
            <a:off x="7403218" y="3443143"/>
            <a:ext cx="4486067" cy="21685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60579" y="5090821"/>
            <a:ext cx="6886352"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t="8002" r="37620" b="4330"/>
          <a:stretch>
            <a:fillRect/>
          </a:stretch>
        </p:blipFill>
        <p:spPr bwMode="auto">
          <a:xfrm>
            <a:off x="6793471" y="3146214"/>
            <a:ext cx="4834467" cy="3350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10E1-0017-BDF5-41D6-ECD9FB8B0037}"/>
              </a:ext>
            </a:extLst>
          </p:cNvPr>
          <p:cNvSpPr txBox="1"/>
          <p:nvPr/>
        </p:nvSpPr>
        <p:spPr>
          <a:xfrm>
            <a:off x="241270" y="2838406"/>
            <a:ext cx="6859122" cy="2585323"/>
          </a:xfrm>
          <a:prstGeom prst="rect">
            <a:avLst/>
          </a:prstGeom>
          <a:noFill/>
        </p:spPr>
        <p:txBody>
          <a:bodyPr wrap="none" rtlCol="0">
            <a:spAutoFit/>
          </a:bodyPr>
          <a:lstStyle/>
          <a:p>
            <a:r>
              <a:rPr lang="ru-RU" b="1" dirty="0"/>
              <a:t>Пример 1</a:t>
            </a:r>
            <a:br>
              <a:rPr lang="ru-RU" b="1" dirty="0"/>
            </a:br>
            <a:r>
              <a:rPr lang="ru-RU" b="1" dirty="0"/>
              <a:t>Прогнозирование спроса в баре:</a:t>
            </a:r>
            <a:endParaRPr lang="ru-RU" dirty="0"/>
          </a:p>
          <a:p>
            <a:r>
              <a:rPr lang="ru-RU" b="1" dirty="0"/>
              <a:t>Структура:</a:t>
            </a:r>
            <a:endParaRPr lang="ru-RU" dirty="0"/>
          </a:p>
          <a:p>
            <a:pPr lvl="1"/>
            <a:r>
              <a:rPr lang="ru-RU" dirty="0"/>
              <a:t>Повышенные продажи по пятницам (</a:t>
            </a:r>
            <a:r>
              <a:rPr lang="ru-RU" dirty="0" err="1"/>
              <a:t>holiday</a:t>
            </a:r>
            <a:r>
              <a:rPr lang="en-US" dirty="0"/>
              <a:t>s effect)</a:t>
            </a:r>
            <a:r>
              <a:rPr lang="ru-RU" dirty="0"/>
              <a:t>.</a:t>
            </a:r>
          </a:p>
          <a:p>
            <a:pPr lvl="1"/>
            <a:r>
              <a:rPr lang="ru-RU" dirty="0"/>
              <a:t>Рост выручки летом (сезонность).</a:t>
            </a:r>
          </a:p>
          <a:p>
            <a:pPr lvl="1"/>
            <a:r>
              <a:rPr lang="ru-RU" dirty="0"/>
              <a:t>Влияние футбольных матчей (календарные эффекты).</a:t>
            </a:r>
          </a:p>
          <a:p>
            <a:r>
              <a:rPr lang="ru-RU" b="1" dirty="0"/>
              <a:t>Шум:</a:t>
            </a:r>
            <a:endParaRPr lang="ru-RU" dirty="0"/>
          </a:p>
          <a:p>
            <a:pPr lvl="1"/>
            <a:r>
              <a:rPr lang="ru-RU" dirty="0"/>
              <a:t>Изменение числа посетителей по пятницам (или другим дням)</a:t>
            </a:r>
          </a:p>
          <a:p>
            <a:endParaRPr lang="ru-RU" dirty="0"/>
          </a:p>
        </p:txBody>
      </p:sp>
      <p:sp>
        <p:nvSpPr>
          <p:cNvPr id="13" name="TextBox 12">
            <a:extLst>
              <a:ext uri="{FF2B5EF4-FFF2-40B4-BE49-F238E27FC236}">
                <a16:creationId xmlns:a16="http://schemas.microsoft.com/office/drawing/2014/main" id="{394BD40F-2444-22EE-0F3C-A35F292D5B5A}"/>
              </a:ext>
            </a:extLst>
          </p:cNvPr>
          <p:cNvSpPr txBox="1"/>
          <p:nvPr/>
        </p:nvSpPr>
        <p:spPr>
          <a:xfrm>
            <a:off x="6793470" y="2725644"/>
            <a:ext cx="4707025" cy="369332"/>
          </a:xfrm>
          <a:prstGeom prst="rect">
            <a:avLst/>
          </a:prstGeom>
          <a:noFill/>
        </p:spPr>
        <p:txBody>
          <a:bodyPr wrap="square">
            <a:spAutoFit/>
          </a:bodyPr>
          <a:lstStyle/>
          <a:p>
            <a:r>
              <a:rPr lang="ru-RU" b="1" dirty="0"/>
              <a:t>Пример 2 </a:t>
            </a:r>
            <a:r>
              <a:rPr lang="en" dirty="0"/>
              <a:t>Electricity Transformer Temperature</a:t>
            </a:r>
            <a:endParaRPr lang="ru-RU" dirty="0"/>
          </a:p>
        </p:txBody>
      </p:sp>
      <p:sp>
        <p:nvSpPr>
          <p:cNvPr id="18" name="TextBox 17">
            <a:extLst>
              <a:ext uri="{FF2B5EF4-FFF2-40B4-BE49-F238E27FC236}">
                <a16:creationId xmlns:a16="http://schemas.microsoft.com/office/drawing/2014/main" id="{5DD35081-F0C8-5927-0982-2E8D3316FBF4}"/>
              </a:ext>
            </a:extLst>
          </p:cNvPr>
          <p:cNvSpPr txBox="1"/>
          <p:nvPr/>
        </p:nvSpPr>
        <p:spPr>
          <a:xfrm>
            <a:off x="142389" y="5787944"/>
            <a:ext cx="6858000" cy="900246"/>
          </a:xfrm>
          <a:prstGeom prst="rect">
            <a:avLst/>
          </a:prstGeom>
          <a:noFill/>
        </p:spPr>
        <p:txBody>
          <a:bodyPr wrap="square">
            <a:spAutoFit/>
          </a:bodyPr>
          <a:lstStyle/>
          <a:p>
            <a:pPr algn="l">
              <a:lnSpc>
                <a:spcPts val="2143"/>
              </a:lnSpc>
              <a:spcBef>
                <a:spcPts val="1029"/>
              </a:spcBef>
              <a:spcAft>
                <a:spcPts val="1029"/>
              </a:spcAft>
              <a:buNone/>
            </a:pPr>
            <a:r>
              <a:rPr lang="ru-RU" b="1" i="0" dirty="0">
                <a:solidFill>
                  <a:srgbClr val="404040"/>
                </a:solidFill>
                <a:effectLst/>
                <a:latin typeface="quote-cjk-patch"/>
              </a:rPr>
              <a:t>Вопрос аудитории:</a:t>
            </a:r>
            <a:r>
              <a:rPr lang="ru-RU" b="0" i="0" dirty="0">
                <a:solidFill>
                  <a:srgbClr val="404040"/>
                </a:solidFill>
                <a:effectLst/>
                <a:latin typeface="quote-cjk-patch"/>
              </a:rPr>
              <a:t/>
            </a:r>
            <a:br>
              <a:rPr lang="ru-RU" b="0" i="0" dirty="0">
                <a:solidFill>
                  <a:srgbClr val="404040"/>
                </a:solidFill>
                <a:effectLst/>
                <a:latin typeface="quote-cjk-patch"/>
              </a:rPr>
            </a:br>
            <a:r>
              <a:rPr lang="ru-RU" b="0" i="1" dirty="0">
                <a:solidFill>
                  <a:srgbClr val="404040"/>
                </a:solidFill>
                <a:effectLst/>
                <a:latin typeface="quote-cjk-patch"/>
              </a:rPr>
              <a:t>"Можно ли полностью устранить шум? Что произойдет, если игнорировать его при планировании запасов?"</a:t>
            </a:r>
            <a:endParaRPr lang="ru-RU" b="0" i="0" dirty="0">
              <a:solidFill>
                <a:srgbClr val="404040"/>
              </a:solidFill>
              <a:effectLst/>
              <a:latin typeface="quote-cjk-patch"/>
            </a:endParaRPr>
          </a:p>
        </p:txBody>
      </p:sp>
    </p:spTree>
    <p:extLst>
      <p:ext uri="{BB962C8B-B14F-4D97-AF65-F5344CB8AC3E}">
        <p14:creationId xmlns:p14="http://schemas.microsoft.com/office/powerpoint/2010/main" val="53785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E599-491E-9D0B-A873-0682219DEC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CE594-68EE-E093-BE0F-46EF13444299}"/>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C90446D-96A9-C6F8-8B18-B82CB93585D3}"/>
                  </a:ext>
                </a:extLst>
              </p:cNvPr>
              <p:cNvSpPr>
                <a:spLocks noGrp="1"/>
              </p:cNvSpPr>
              <p:nvPr>
                <p:ph idx="1"/>
              </p:nvPr>
            </p:nvSpPr>
            <p:spPr>
              <a:xfrm>
                <a:off x="231353" y="853161"/>
                <a:ext cx="11644829" cy="2859523"/>
              </a:xfrm>
            </p:spPr>
            <p:txBody>
              <a:bodyPr>
                <a:noAutofit/>
              </a:bodyPr>
              <a:lstStyle/>
              <a:p>
                <a:pPr marL="0" indent="0">
                  <a:lnSpc>
                    <a:spcPct val="120000"/>
                  </a:lnSpc>
                  <a:spcBef>
                    <a:spcPts val="0"/>
                  </a:spcBef>
                  <a:buNone/>
                </a:pPr>
                <a:r>
                  <a:rPr lang="ru-RU" sz="2000" dirty="0"/>
                  <a:t>В идеале остаточная часть не содержит информации, равномерно распределена и все ее значения независимы друг от друга (</a:t>
                </a:r>
                <a:r>
                  <a:rPr lang="en-US" sz="2000" dirty="0"/>
                  <a:t>identical independent distribution - </a:t>
                </a:r>
                <a:r>
                  <a:rPr lang="ru-RU" sz="2000" dirty="0" err="1"/>
                  <a:t>i.i.d</a:t>
                </a:r>
                <a:r>
                  <a:rPr lang="ru-RU" sz="2000" dirty="0"/>
                  <a:t>) – такая остаточная часть называется Белый Гауссов Шум</a:t>
                </a:r>
                <a:r>
                  <a:rPr lang="en-US" sz="2000" dirty="0"/>
                  <a:t> (White Gaussian Noises)</a:t>
                </a:r>
                <a:r>
                  <a:rPr lang="ru-RU" sz="2000" dirty="0"/>
                  <a:t>. </a:t>
                </a:r>
              </a:p>
              <a:p>
                <a:pPr>
                  <a:lnSpc>
                    <a:spcPct val="120000"/>
                  </a:lnSpc>
                  <a:spcBef>
                    <a:spcPts val="0"/>
                  </a:spcBef>
                </a:pPr>
                <a:r>
                  <a:rPr lang="ru-RU" sz="2000" dirty="0"/>
                  <a:t>Обратите внимание, что WGN имеет так называемое нормальное распределение с нулевым средним.</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𝑤𝑔𝑛</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den>
                          </m:f>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sup>
                      </m:sSup>
                      <m:r>
                        <a:rPr lang="en-US" sz="2000" i="1">
                          <a:latin typeface="Cambria Math" panose="02040503050406030204" pitchFamily="18" charset="0"/>
                        </a:rPr>
                        <m:t>,</m:t>
                      </m:r>
                    </m:oMath>
                  </m:oMathPara>
                </a14:m>
                <a:endParaRPr lang="en-US" sz="2000" dirty="0"/>
              </a:p>
              <a:p>
                <a:pPr>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oMath>
                </a14:m>
                <a:r>
                  <a:rPr lang="en-US" sz="2000" dirty="0"/>
                  <a:t> </a:t>
                </a:r>
                <a:r>
                  <a:rPr lang="ru-RU" sz="2000" dirty="0"/>
                  <a:t>распределние</a:t>
                </a:r>
                <a:r>
                  <a:rPr lang="en-US" sz="2000" dirty="0"/>
                  <a:t>.</a:t>
                </a:r>
              </a:p>
              <a:p>
                <a:pPr>
                  <a:lnSpc>
                    <a:spcPct val="120000"/>
                  </a:lnSpc>
                  <a:spcBef>
                    <a:spcPts val="0"/>
                  </a:spcBef>
                </a:pPr>
                <a:endParaRPr lang="en-US" sz="2000" dirty="0"/>
              </a:p>
            </p:txBody>
          </p:sp>
        </mc:Choice>
        <mc:Fallback xmlns="">
          <p:sp>
            <p:nvSpPr>
              <p:cNvPr id="3" name="Объект 2">
                <a:extLst>
                  <a:ext uri="{FF2B5EF4-FFF2-40B4-BE49-F238E27FC236}">
                    <a16:creationId xmlns:a16="http://schemas.microsoft.com/office/drawing/2014/main" id="{BC90446D-96A9-C6F8-8B18-B82CB93585D3}"/>
                  </a:ext>
                </a:extLst>
              </p:cNvPr>
              <p:cNvSpPr>
                <a:spLocks noGrp="1" noRot="1" noChangeAspect="1" noMove="1" noResize="1" noEditPoints="1" noAdjustHandles="1" noChangeArrowheads="1" noChangeShapeType="1" noTextEdit="1"/>
              </p:cNvSpPr>
              <p:nvPr>
                <p:ph idx="1"/>
              </p:nvPr>
            </p:nvSpPr>
            <p:spPr>
              <a:xfrm>
                <a:off x="231353" y="853161"/>
                <a:ext cx="11644829" cy="2859523"/>
              </a:xfrm>
              <a:blipFill>
                <a:blip r:embed="rId2"/>
                <a:stretch>
                  <a:fillRect l="-654"/>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7069AA6E-94FF-7413-7F65-A38504D688D6}"/>
              </a:ext>
            </a:extLst>
          </p:cNvPr>
          <p:cNvSpPr>
            <a:spLocks noGrp="1"/>
          </p:cNvSpPr>
          <p:nvPr>
            <p:ph type="sldNum" sz="quarter" idx="12"/>
          </p:nvPr>
        </p:nvSpPr>
        <p:spPr/>
        <p:txBody>
          <a:bodyPr/>
          <a:lstStyle/>
          <a:p>
            <a:fld id="{45C3B737-A709-4ABC-AFE0-A6B067850C48}" type="slidenum">
              <a:rPr lang="en-US" smtClean="0"/>
              <a:t>4</a:t>
            </a:fld>
            <a:endParaRPr lang="en-US"/>
          </a:p>
        </p:txBody>
      </p:sp>
      <p:pic>
        <p:nvPicPr>
          <p:cNvPr id="11268" name="Picture 4" descr="image.png">
            <a:extLst>
              <a:ext uri="{FF2B5EF4-FFF2-40B4-BE49-F238E27FC236}">
                <a16:creationId xmlns:a16="http://schemas.microsoft.com/office/drawing/2014/main" id="{C419EEAC-D406-406E-6A2C-FC0E3129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987" y="4182627"/>
            <a:ext cx="2877379" cy="21038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FE3E8B28-40F1-2361-FCA5-36112D783949}"/>
              </a:ext>
            </a:extLst>
          </p:cNvPr>
          <p:cNvSpPr/>
          <p:nvPr/>
        </p:nvSpPr>
        <p:spPr>
          <a:xfrm>
            <a:off x="1035586" y="3712684"/>
            <a:ext cx="11060935" cy="400110"/>
          </a:xfrm>
          <a:prstGeom prst="rect">
            <a:avLst/>
          </a:prstGeom>
        </p:spPr>
        <p:txBody>
          <a:bodyPr wrap="square">
            <a:spAutoFit/>
          </a:bodyPr>
          <a:lstStyle/>
          <a:p>
            <a:r>
              <a:rPr lang="ru-RU" sz="2000" dirty="0"/>
              <a:t>Пример </a:t>
            </a:r>
            <a:r>
              <a:rPr lang="ru-RU" sz="2000" dirty="0" err="1"/>
              <a:t>wgn</a:t>
            </a:r>
            <a:r>
              <a:rPr lang="ru-RU" sz="20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FBD4E4E1-2D94-2347-F1CB-D2A319423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34" y="4147264"/>
            <a:ext cx="6047009" cy="24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7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7BA2-14D3-0EBD-7F01-4E0E161D06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3E797-F1C9-9C7F-FF67-4AB807548E89}"/>
              </a:ext>
            </a:extLst>
          </p:cNvPr>
          <p:cNvSpPr>
            <a:spLocks noGrp="1"/>
          </p:cNvSpPr>
          <p:nvPr>
            <p:ph type="title"/>
          </p:nvPr>
        </p:nvSpPr>
        <p:spPr>
          <a:xfrm>
            <a:off x="1705857" y="204181"/>
            <a:ext cx="9081887" cy="701675"/>
          </a:xfrm>
        </p:spPr>
        <p:txBody>
          <a:bodyPr>
            <a:normAutofit/>
          </a:bodyPr>
          <a:lstStyle/>
          <a:p>
            <a:r>
              <a:rPr lang="ru-RU" dirty="0"/>
              <a:t>Статистические </a:t>
            </a:r>
            <a:r>
              <a:rPr lang="ru-RU" dirty="0" err="1"/>
              <a:t>сво</a:t>
            </a:r>
            <a:r>
              <a:rPr lang="ru-RU" dirty="0"/>
              <a:t>	</a:t>
            </a:r>
            <a:r>
              <a:rPr lang="ru-RU" dirty="0" err="1"/>
              <a:t>йства</a:t>
            </a:r>
            <a:r>
              <a:rPr lang="ru-RU" dirty="0"/>
              <a:t> ВР</a:t>
            </a:r>
            <a:endParaRPr lang="en-US" dirty="0"/>
          </a:p>
        </p:txBody>
      </p:sp>
      <p:sp>
        <p:nvSpPr>
          <p:cNvPr id="3" name="Объект 2">
            <a:extLst>
              <a:ext uri="{FF2B5EF4-FFF2-40B4-BE49-F238E27FC236}">
                <a16:creationId xmlns:a16="http://schemas.microsoft.com/office/drawing/2014/main" id="{70C2C294-7A96-5E70-2A21-B81587DAE331}"/>
              </a:ext>
            </a:extLst>
          </p:cNvPr>
          <p:cNvSpPr>
            <a:spLocks noGrp="1"/>
          </p:cNvSpPr>
          <p:nvPr>
            <p:ph idx="1"/>
          </p:nvPr>
        </p:nvSpPr>
        <p:spPr>
          <a:xfrm>
            <a:off x="273585" y="875278"/>
            <a:ext cx="11644829" cy="5982722"/>
          </a:xfrm>
        </p:spPr>
        <p:txBody>
          <a:bodyPr>
            <a:noAutofit/>
          </a:bodyPr>
          <a:lstStyle/>
          <a:p>
            <a:r>
              <a:rPr lang="en-US" sz="2200" dirty="0" err="1"/>
              <a:t>Е</a:t>
            </a:r>
            <a:r>
              <a:rPr lang="ru-RU" sz="2200" dirty="0" err="1"/>
              <a:t>сли</a:t>
            </a:r>
            <a:r>
              <a:rPr lang="ru-RU" sz="2200" dirty="0"/>
              <a:t> временной ряд не является белым гауссовым шумом и не нарушает принципов оцифровки ВР, то каждый его отсчет зависим от предыдущих</a:t>
            </a:r>
          </a:p>
          <a:p>
            <a:pPr>
              <a:lnSpc>
                <a:spcPct val="120000"/>
              </a:lnSpc>
              <a:spcBef>
                <a:spcPts val="0"/>
              </a:spcBef>
            </a:pPr>
            <a:r>
              <a:rPr lang="ru-RU" sz="2200" dirty="0"/>
              <a:t>Введем для такого ряда статистические свойства:</a:t>
            </a:r>
          </a:p>
          <a:p>
            <a:pPr lvl="1">
              <a:lnSpc>
                <a:spcPct val="120000"/>
              </a:lnSpc>
              <a:spcBef>
                <a:spcPts val="0"/>
              </a:spcBef>
            </a:pPr>
            <a:r>
              <a:rPr lang="ru-RU" sz="2200" b="1" dirty="0"/>
              <a:t>Автокорреляция (АКФ) </a:t>
            </a:r>
            <a:r>
              <a:rPr lang="ru-RU" sz="2200" dirty="0"/>
              <a:t>– зависимость каждого значения ВР от его предыдущих значений (бывает полная и частичная АКФ). </a:t>
            </a:r>
          </a:p>
          <a:p>
            <a:pPr lvl="1">
              <a:lnSpc>
                <a:spcPct val="120000"/>
              </a:lnSpc>
              <a:spcBef>
                <a:spcPts val="0"/>
              </a:spcBef>
            </a:pPr>
            <a:r>
              <a:rPr lang="ru-RU" sz="2200" b="1" dirty="0"/>
              <a:t>Стационарность</a:t>
            </a:r>
            <a:r>
              <a:rPr lang="ru-RU" sz="2200" dirty="0"/>
              <a:t> – свойства сохранности основных статистических значений независимо от момента взятия выборки ВР (сильная и слабая стационарность</a:t>
            </a:r>
            <a:r>
              <a:rPr lang="ru-RU" dirty="0"/>
              <a:t>)</a:t>
            </a:r>
            <a:endParaRPr lang="ru-RU" sz="1200" dirty="0"/>
          </a:p>
          <a:p>
            <a:pPr lvl="1">
              <a:lnSpc>
                <a:spcPct val="120000"/>
              </a:lnSpc>
              <a:spcBef>
                <a:spcPts val="0"/>
              </a:spcBef>
            </a:pPr>
            <a:r>
              <a:rPr lang="ru-RU" dirty="0"/>
              <a:t>Могут быть и другие статистические показатели, например:</a:t>
            </a:r>
          </a:p>
          <a:p>
            <a:pPr lvl="2">
              <a:lnSpc>
                <a:spcPct val="120000"/>
              </a:lnSpc>
              <a:spcBef>
                <a:spcPts val="0"/>
              </a:spcBef>
            </a:pPr>
            <a:r>
              <a:rPr lang="ru-RU" b="1" dirty="0"/>
              <a:t>Гомоскедастичность</a:t>
            </a:r>
            <a:r>
              <a:rPr lang="ru-RU" dirty="0"/>
              <a:t> – свойство ВР сохранять дисперсию во времени. </a:t>
            </a:r>
            <a:r>
              <a:rPr lang="ru-RU" b="1" dirty="0" err="1"/>
              <a:t>Гетероскедастичность</a:t>
            </a:r>
            <a:r>
              <a:rPr lang="ru-RU" dirty="0"/>
              <a:t> (</a:t>
            </a:r>
            <a:r>
              <a:rPr lang="en" dirty="0"/>
              <a:t>Heteroskedasticity)</a:t>
            </a:r>
            <a:r>
              <a:rPr lang="ru-RU" dirty="0"/>
              <a:t> – волатильность ВР </a:t>
            </a:r>
          </a:p>
          <a:p>
            <a:pPr lvl="2">
              <a:lnSpc>
                <a:spcPct val="120000"/>
              </a:lnSpc>
              <a:spcBef>
                <a:spcPts val="0"/>
              </a:spcBef>
            </a:pPr>
            <a:r>
              <a:rPr lang="ru-RU" b="1" dirty="0"/>
              <a:t>Окрашенность шума </a:t>
            </a:r>
            <a:r>
              <a:rPr lang="ru-RU" dirty="0"/>
              <a:t>– наличие в шуме автокорреляционных свойств</a:t>
            </a:r>
          </a:p>
          <a:p>
            <a:pPr lvl="2">
              <a:lnSpc>
                <a:spcPct val="120000"/>
              </a:lnSpc>
              <a:spcBef>
                <a:spcPts val="0"/>
              </a:spcBef>
            </a:pPr>
            <a:r>
              <a:rPr lang="ru-RU" b="1" dirty="0"/>
              <a:t>Долговременная связанность </a:t>
            </a:r>
            <a:r>
              <a:rPr lang="ru-RU" dirty="0"/>
              <a:t>(показатель Херста) – долговременная зависимость  ВР от своих лагов (напр. Тренд)</a:t>
            </a:r>
          </a:p>
          <a:p>
            <a:pPr lvl="2">
              <a:lnSpc>
                <a:spcPct val="120000"/>
              </a:lnSpc>
              <a:spcBef>
                <a:spcPts val="0"/>
              </a:spcBef>
            </a:pPr>
            <a:r>
              <a:rPr lang="ru-RU" b="1" dirty="0"/>
              <a:t>Нелинейность ВР</a:t>
            </a:r>
            <a:r>
              <a:rPr lang="ru-RU" dirty="0"/>
              <a:t> – компоненты связаны сложными зависимостями (напр. Модуляция)</a:t>
            </a:r>
          </a:p>
          <a:p>
            <a:pPr lvl="2">
              <a:lnSpc>
                <a:spcPct val="120000"/>
              </a:lnSpc>
              <a:spcBef>
                <a:spcPts val="0"/>
              </a:spcBef>
            </a:pPr>
            <a:r>
              <a:rPr lang="ru-RU" b="1" dirty="0"/>
              <a:t>Структурные разрывы </a:t>
            </a:r>
            <a:r>
              <a:rPr lang="ru-RU" dirty="0"/>
              <a:t>(ряд с новизной или точками перегиба)</a:t>
            </a:r>
          </a:p>
          <a:p>
            <a:pPr lvl="1">
              <a:lnSpc>
                <a:spcPct val="120000"/>
              </a:lnSpc>
              <a:spcBef>
                <a:spcPts val="0"/>
              </a:spcBef>
            </a:pPr>
            <a:endParaRPr lang="en-US" dirty="0"/>
          </a:p>
        </p:txBody>
      </p:sp>
    </p:spTree>
    <p:extLst>
      <p:ext uri="{BB962C8B-B14F-4D97-AF65-F5344CB8AC3E}">
        <p14:creationId xmlns:p14="http://schemas.microsoft.com/office/powerpoint/2010/main" val="259731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8AA7BF-8316-D890-B7B7-600FCCA167C1}"/>
              </a:ext>
            </a:extLst>
          </p:cNvPr>
          <p:cNvSpPr>
            <a:spLocks noGrp="1"/>
          </p:cNvSpPr>
          <p:nvPr>
            <p:ph type="title"/>
          </p:nvPr>
        </p:nvSpPr>
        <p:spPr>
          <a:xfrm>
            <a:off x="611895" y="150379"/>
            <a:ext cx="10968210" cy="703511"/>
          </a:xfrm>
        </p:spPr>
        <p:txBody>
          <a:bodyPr/>
          <a:lstStyle/>
          <a:p>
            <a:pPr algn="ctr"/>
            <a:r>
              <a:rPr lang="en-US" dirty="0" err="1"/>
              <a:t>Авто</a:t>
            </a:r>
            <a:r>
              <a:rPr lang="ru-RU" dirty="0"/>
              <a:t>корреляция ВР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3D9483-0912-FC98-5071-FB3F2E181619}"/>
                  </a:ext>
                </a:extLst>
              </p:cNvPr>
              <p:cNvSpPr>
                <a:spLocks noGrp="1"/>
              </p:cNvSpPr>
              <p:nvPr>
                <p:ph idx="1"/>
              </p:nvPr>
            </p:nvSpPr>
            <p:spPr>
              <a:xfrm>
                <a:off x="281906" y="835163"/>
                <a:ext cx="9098068" cy="5108327"/>
              </a:xfrm>
            </p:spPr>
            <p:txBody>
              <a:bodyPr>
                <a:normAutofit/>
              </a:bodyPr>
              <a:lstStyle/>
              <a:p>
                <a:pPr>
                  <a:lnSpc>
                    <a:spcPct val="100000"/>
                  </a:lnSpc>
                  <a:spcBef>
                    <a:spcPts val="0"/>
                  </a:spcBef>
                </a:pPr>
                <a:r>
                  <a:rPr lang="ru-RU" sz="2200" dirty="0"/>
                  <a:t>Получим численную оценку степени влияния значения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 sz="2200" dirty="0"/>
                  <a:t>​ </a:t>
                </a:r>
                <a:r>
                  <a:rPr lang="ru-RU" sz="2200" dirty="0"/>
                  <a:t>на значение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r>
                          <a:rPr lang="ru-RU" sz="2200" i="1">
                            <a:latin typeface="Cambria Math" panose="02040503050406030204" pitchFamily="18" charset="0"/>
                          </a:rPr>
                          <m:t>+</m:t>
                        </m:r>
                        <m:r>
                          <a:rPr lang="ru-RU" sz="2200" i="1">
                            <a:latin typeface="Cambria Math" panose="02040503050406030204" pitchFamily="18" charset="0"/>
                          </a:rPr>
                          <m:t>𝜏</m:t>
                        </m:r>
                      </m:sub>
                    </m:sSub>
                    <m:r>
                      <a:rPr lang="ru-RU" sz="2200" i="1">
                        <a:latin typeface="Cambria Math" panose="02040503050406030204" pitchFamily="18" charset="0"/>
                      </a:rPr>
                      <m:t> </m:t>
                    </m:r>
                  </m:oMath>
                </a14:m>
                <a:r>
                  <a:rPr lang="el-GR" sz="2200" dirty="0"/>
                  <a:t>​</a:t>
                </a:r>
                <a:r>
                  <a:rPr lang="ru-RU" sz="2200" dirty="0"/>
                  <a:t> (оценки корреляции) в виде коэффициента корреляции Пирсона для ВР с самим собой со сдвигом на </a:t>
                </a:r>
                <a:r>
                  <a:rPr lang="el-GR" sz="2200" i="1" dirty="0"/>
                  <a:t>τ</a:t>
                </a:r>
                <a:r>
                  <a:rPr lang="ru-RU" sz="2200" i="1" dirty="0"/>
                  <a:t> – автокорреляцию ВР (АКФ)</a:t>
                </a:r>
                <a:r>
                  <a:rPr lang="el-GR" sz="2200" dirty="0"/>
                  <a:t>. </a:t>
                </a:r>
                <a:endParaRPr lang="ru-RU" sz="2200" dirty="0"/>
              </a:p>
            </p:txBody>
          </p:sp>
        </mc:Choice>
        <mc:Fallback xmlns="">
          <p:sp>
            <p:nvSpPr>
              <p:cNvPr id="3" name="Объект 2">
                <a:extLst>
                  <a:ext uri="{FF2B5EF4-FFF2-40B4-BE49-F238E27FC236}">
                    <a16:creationId xmlns:a16="http://schemas.microsoft.com/office/drawing/2014/main" id="{093D9483-0912-FC98-5071-FB3F2E181619}"/>
                  </a:ext>
                </a:extLst>
              </p:cNvPr>
              <p:cNvSpPr>
                <a:spLocks noGrp="1" noRot="1" noChangeAspect="1" noMove="1" noResize="1" noEditPoints="1" noAdjustHandles="1" noChangeArrowheads="1" noChangeShapeType="1" noTextEdit="1"/>
              </p:cNvSpPr>
              <p:nvPr>
                <p:ph idx="1"/>
              </p:nvPr>
            </p:nvSpPr>
            <p:spPr>
              <a:xfrm>
                <a:off x="281906" y="835163"/>
                <a:ext cx="9098068" cy="5108327"/>
              </a:xfrm>
              <a:blipFill>
                <a:blip r:embed="rId3"/>
                <a:stretch>
                  <a:fillRect l="-837" t="-74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E9BF6D1-54CF-35BD-E4B5-79CA80A498E3}"/>
              </a:ext>
            </a:extLst>
          </p:cNvPr>
          <p:cNvSpPr>
            <a:spLocks noGrp="1"/>
          </p:cNvSpPr>
          <p:nvPr>
            <p:ph type="sldNum" sz="quarter" idx="12"/>
          </p:nvPr>
        </p:nvSpPr>
        <p:spPr/>
        <p:txBody>
          <a:bodyPr/>
          <a:lstStyle/>
          <a:p>
            <a:fld id="{45C3B737-A709-4ABC-AFE0-A6B067850C48}" type="slidenum">
              <a:rPr lang="en-US" smtClean="0"/>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6A7C23-B4C9-1379-DEDE-66289A5EDAC3}"/>
                  </a:ext>
                </a:extLst>
              </p:cNvPr>
              <p:cNvSpPr txBox="1"/>
              <p:nvPr/>
            </p:nvSpPr>
            <p:spPr>
              <a:xfrm>
                <a:off x="1181026" y="2218404"/>
                <a:ext cx="6097836" cy="925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b="0" i="1" smtClean="0">
                          <a:latin typeface="Cambria Math" panose="02040503050406030204" pitchFamily="18" charset="0"/>
                        </a:rPr>
                        <m:t>𝜏</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f>
                        <m:fPr>
                          <m:ctrlPr>
                            <a:rPr lang="en-US" sz="2400" i="1">
                              <a:latin typeface="Cambria Math" panose="02040503050406030204" pitchFamily="18" charset="0"/>
                            </a:rPr>
                          </m:ctrlPr>
                        </m:fPr>
                        <m:num>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𝑁</m:t>
                              </m:r>
                              <m:r>
                                <a:rPr lang="en-US" sz="2400" i="1">
                                  <a:latin typeface="Cambria Math" panose="02040503050406030204" pitchFamily="18" charset="0"/>
                                </a:rPr>
                                <m:t>−1</m:t>
                              </m:r>
                            </m:sup>
                            <m:e>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r>
                                <a:rPr lang="ru-RU" sz="2400" b="0" i="1" smtClean="0">
                                  <a:latin typeface="Cambria Math" panose="02040503050406030204" pitchFamily="18" charset="0"/>
                                </a:rPr>
                                <m:t>+</m:t>
                              </m:r>
                              <m:r>
                                <a:rPr lang="ru-RU" sz="2400" b="0" i="1" smtClean="0">
                                  <a:latin typeface="Cambria Math" panose="02040503050406030204" pitchFamily="18" charset="0"/>
                                </a:rPr>
                                <m:t>𝜏</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num>
                        <m:den>
                          <m:r>
                            <a:rPr lang="en-US" sz="2400" i="1">
                              <a:latin typeface="Cambria Math" panose="02040503050406030204" pitchFamily="18" charset="0"/>
                            </a:rPr>
                            <m:t>𝑣𝑎𝑟</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en>
                      </m:f>
                    </m:oMath>
                  </m:oMathPara>
                </a14:m>
                <a:endParaRPr lang="ru-RU" sz="2400" dirty="0"/>
              </a:p>
            </p:txBody>
          </p:sp>
        </mc:Choice>
        <mc:Fallback xmlns="">
          <p:sp>
            <p:nvSpPr>
              <p:cNvPr id="6" name="TextBox 5">
                <a:extLst>
                  <a:ext uri="{FF2B5EF4-FFF2-40B4-BE49-F238E27FC236}">
                    <a16:creationId xmlns:a16="http://schemas.microsoft.com/office/drawing/2014/main" id="{0E6A7C23-B4C9-1379-DEDE-66289A5EDAC3}"/>
                  </a:ext>
                </a:extLst>
              </p:cNvPr>
              <p:cNvSpPr txBox="1">
                <a:spLocks noRot="1" noChangeAspect="1" noMove="1" noResize="1" noEditPoints="1" noAdjustHandles="1" noChangeArrowheads="1" noChangeShapeType="1" noTextEdit="1"/>
              </p:cNvSpPr>
              <p:nvPr/>
            </p:nvSpPr>
            <p:spPr>
              <a:xfrm>
                <a:off x="1181026" y="2218404"/>
                <a:ext cx="6097836" cy="925574"/>
              </a:xfrm>
              <a:prstGeom prst="rect">
                <a:avLst/>
              </a:prstGeom>
              <a:blipFill>
                <a:blip r:embed="rId4"/>
                <a:stretch>
                  <a:fillRect t="-59459" b="-5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63DC12-0338-EE14-31B0-8390E944A4C0}"/>
                  </a:ext>
                </a:extLst>
              </p:cNvPr>
              <p:cNvSpPr txBox="1"/>
              <p:nvPr/>
            </p:nvSpPr>
            <p:spPr>
              <a:xfrm>
                <a:off x="281906" y="3240547"/>
                <a:ext cx="8959469" cy="1720920"/>
              </a:xfrm>
              <a:prstGeom prst="rect">
                <a:avLst/>
              </a:prstGeom>
              <a:noFill/>
            </p:spPr>
            <p:txBody>
              <a:bodyPr wrap="square">
                <a:spAutoFit/>
              </a:bodyPr>
              <a:lstStyle/>
              <a:p>
                <a:r>
                  <a:rPr lang="ru-RU" sz="1800" dirty="0"/>
                  <a:t>Где среднее значений (или ожидаемое значение),</a:t>
                </a:r>
                <a:r>
                  <a:rPr lang="ru-RU" i="1" dirty="0">
                    <a:latin typeface="Cambria Math" panose="02040503050406030204" pitchFamily="18" charset="0"/>
                  </a:rPr>
                  <a:t> </a:t>
                </a:r>
                <a14:m>
                  <m:oMath xmlns:m="http://schemas.openxmlformats.org/officeDocument/2006/math">
                    <m:r>
                      <a:rPr lang="en-US" sz="1800" i="1" dirty="0">
                        <a:latin typeface="Cambria Math" panose="02040503050406030204" pitchFamily="18" charset="0"/>
                      </a:rPr>
                      <m:t>𝑒𝑣</m:t>
                    </m:r>
                    <m:r>
                      <a:rPr lang="en-US" sz="1800" i="1" dirty="0">
                        <a:latin typeface="Cambria Math" panose="02040503050406030204" pitchFamily="18" charset="0"/>
                      </a:rPr>
                      <m:t> =</m:t>
                    </m:r>
                    <m:f>
                      <m:fPr>
                        <m:ctrlPr>
                          <a:rPr lang="en-US" sz="1800" i="1" dirty="0">
                            <a:latin typeface="Cambria Math" panose="02040503050406030204" pitchFamily="18" charset="0"/>
                          </a:rPr>
                        </m:ctrlPr>
                      </m:fPr>
                      <m:num>
                        <m:r>
                          <a:rPr lang="en-US" sz="1800" i="1" dirty="0">
                            <a:latin typeface="Cambria Math" panose="02040503050406030204" pitchFamily="18" charset="0"/>
                          </a:rPr>
                          <m:t>1</m:t>
                        </m:r>
                      </m:num>
                      <m:den>
                        <m:r>
                          <a:rPr lang="en-US" sz="1800" i="1" dirty="0">
                            <a:latin typeface="Cambria Math" panose="02040503050406030204" pitchFamily="18" charset="0"/>
                          </a:rPr>
                          <m:t>𝑁</m:t>
                        </m:r>
                      </m:den>
                    </m:f>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r>
                      <a:rPr lang="en-US" sz="1800" i="1" dirty="0">
                        <a:latin typeface="Cambria Math" panose="02040503050406030204" pitchFamily="18" charset="0"/>
                      </a:rPr>
                      <m:t>,</m:t>
                    </m:r>
                    <m:r>
                      <a:rPr lang="ru-RU" sz="1800" i="1" dirty="0">
                        <a:latin typeface="Cambria Math" panose="02040503050406030204" pitchFamily="18" charset="0"/>
                      </a:rPr>
                      <m:t> теор. формула </m:t>
                    </m:r>
                    <m:r>
                      <a:rPr lang="en-US" sz="1800" i="1" dirty="0">
                        <a:latin typeface="Cambria Math" panose="02040503050406030204" pitchFamily="18" charset="0"/>
                      </a:rPr>
                      <m:t>𝑒𝑣</m:t>
                    </m:r>
                    <m:r>
                      <a:rPr lang="en-US" sz="1800" i="1" dirty="0">
                        <a:latin typeface="Cambria Math" panose="02040503050406030204" pitchFamily="18" charset="0"/>
                      </a:rPr>
                      <m:t> =</m:t>
                    </m:r>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r>
                          <a:rPr lang="en-US" sz="1800" i="1" dirty="0">
                            <a:latin typeface="Cambria Math" panose="02040503050406030204" pitchFamily="18" charset="0"/>
                          </a:rPr>
                          <m:t>𝑝</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oMath>
                </a14:m>
                <a:endParaRPr lang="en-US" sz="1800" dirty="0"/>
              </a:p>
              <a:p>
                <a:r>
                  <a:rPr lang="ru-RU" sz="1800" dirty="0"/>
                  <a:t>где y - выборки размера N, </a:t>
                </a:r>
                <a14:m>
                  <m:oMath xmlns:m="http://schemas.openxmlformats.org/officeDocument/2006/math">
                    <m:r>
                      <a:rPr lang="en-US" sz="1800" i="1" dirty="0">
                        <a:latin typeface="Cambria Math" panose="02040503050406030204" pitchFamily="18" charset="0"/>
                      </a:rPr>
                      <m:t>𝑝</m:t>
                    </m:r>
                    <m:d>
                      <m:dPr>
                        <m:ctrlPr>
                          <a:rPr lang="en-US" sz="1800" i="1" dirty="0">
                            <a:latin typeface="Cambria Math" panose="02040503050406030204" pitchFamily="18" charset="0"/>
                          </a:rPr>
                        </m:ctrlPr>
                      </m:dPr>
                      <m:e>
                        <m:r>
                          <a:rPr lang="en-US" sz="1800" i="1" dirty="0">
                            <a:latin typeface="Cambria Math" panose="02040503050406030204" pitchFamily="18" charset="0"/>
                          </a:rPr>
                          <m:t>𝑦</m:t>
                        </m:r>
                      </m:e>
                    </m:d>
                    <m:r>
                      <a:rPr lang="en-US" sz="1800" i="1" dirty="0">
                        <a:latin typeface="Cambria Math" panose="02040503050406030204" pitchFamily="18" charset="0"/>
                      </a:rPr>
                      <m:t>−</m:t>
                    </m:r>
                    <m:r>
                      <a:rPr lang="ru-RU" sz="1800" dirty="0">
                        <a:latin typeface="Cambria Math" panose="02040503050406030204" pitchFamily="18" charset="0"/>
                      </a:rPr>
                      <m:t>распределение значений величины</m:t>
                    </m:r>
                  </m:oMath>
                </a14:m>
                <a:r>
                  <a:rPr lang="ru-RU" sz="1800" dirty="0"/>
                  <a:t> </a:t>
                </a:r>
                <a:r>
                  <a:rPr lang="ru-RU" i="1" dirty="0">
                    <a:latin typeface="Cambria Math" panose="02040503050406030204" pitchFamily="18" charset="0"/>
                  </a:rPr>
                  <a:t/>
                </a:r>
                <a:br>
                  <a:rPr lang="ru-RU" i="1" dirty="0">
                    <a:latin typeface="Cambria Math" panose="02040503050406030204" pitchFamily="18" charset="0"/>
                  </a:rPr>
                </a:br>
                <a14:m>
                  <m:oMath xmlns:m="http://schemas.openxmlformats.org/officeDocument/2006/math">
                    <m:r>
                      <a:rPr lang="en-US" i="1" dirty="0">
                        <a:latin typeface="Cambria Math" panose="02040503050406030204" pitchFamily="18" charset="0"/>
                      </a:rPr>
                      <m:t>𝑣𝑎𝑟</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𝑁</m:t>
                        </m:r>
                      </m:den>
                    </m:f>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=0</m:t>
                        </m:r>
                      </m:sub>
                      <m:sup>
                        <m:r>
                          <a:rPr lang="en-US" i="1" dirty="0">
                            <a:latin typeface="Cambria Math" panose="02040503050406030204" pitchFamily="18" charset="0"/>
                          </a:rPr>
                          <m:t>𝑁</m:t>
                        </m:r>
                        <m:r>
                          <a:rPr lang="en-US" i="1" dirty="0">
                            <a:latin typeface="Cambria Math" panose="02040503050406030204" pitchFamily="18" charset="0"/>
                          </a:rPr>
                          <m:t>−1</m:t>
                        </m:r>
                      </m:sup>
                      <m:e>
                        <m:sSup>
                          <m:sSupPr>
                            <m:ctrlPr>
                              <a:rPr lang="en-US" i="1" dirty="0" err="1">
                                <a:latin typeface="Cambria Math" panose="02040503050406030204" pitchFamily="18" charset="0"/>
                              </a:rPr>
                            </m:ctrlPr>
                          </m:sSupPr>
                          <m:e>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err="1">
                                    <a:latin typeface="Cambria Math" panose="02040503050406030204" pitchFamily="18" charset="0"/>
                                  </a:rPr>
                                  <m:t>−</m:t>
                                </m:r>
                                <m:r>
                                  <a:rPr lang="en-US" i="1" dirty="0" err="1">
                                    <a:latin typeface="Cambria Math" panose="02040503050406030204" pitchFamily="18" charset="0"/>
                                  </a:rPr>
                                  <m:t>𝑒𝑣</m:t>
                                </m:r>
                              </m:e>
                            </m:d>
                          </m:e>
                          <m:sup>
                            <m:r>
                              <a:rPr lang="en-US" i="1" dirty="0">
                                <a:latin typeface="Cambria Math" panose="02040503050406030204" pitchFamily="18" charset="0"/>
                              </a:rPr>
                              <m:t>2</m:t>
                            </m:r>
                          </m:sup>
                        </m:sSup>
                      </m:e>
                    </m:nary>
                    <m:r>
                      <a:rPr lang="en-US" i="1" dirty="0">
                        <a:latin typeface="Cambria Math" panose="02040503050406030204" pitchFamily="18" charset="0"/>
                      </a:rPr>
                      <m:t>; </m:t>
                    </m:r>
                    <m:r>
                      <a:rPr lang="en-US" i="1" dirty="0">
                        <a:latin typeface="Cambria Math" panose="02040503050406030204" pitchFamily="18" charset="0"/>
                      </a:rPr>
                      <m:t>𝑠𝑡𝑑</m:t>
                    </m:r>
                    <m:r>
                      <a:rPr lang="en-US" i="1" dirty="0">
                        <a:latin typeface="Cambria Math" panose="02040503050406030204" pitchFamily="18" charset="0"/>
                      </a:rPr>
                      <m:t>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𝑣𝑎𝑟</m:t>
                        </m:r>
                      </m:e>
                    </m:rad>
                    <m:r>
                      <a:rPr lang="en-US" i="1" dirty="0">
                        <a:latin typeface="Cambria Math" panose="02040503050406030204" pitchFamily="18" charset="0"/>
                      </a:rPr>
                      <m:t>, </m:t>
                    </m:r>
                  </m:oMath>
                </a14:m>
                <a:r>
                  <a:rPr lang="ru-RU" dirty="0"/>
                  <a:t>где </a:t>
                </a:r>
                <a:r>
                  <a:rPr lang="ru-RU" dirty="0" err="1"/>
                  <a:t>var</a:t>
                </a:r>
                <a:r>
                  <a:rPr lang="ru-RU" dirty="0"/>
                  <a:t> - дисперсия; </a:t>
                </a:r>
                <a:r>
                  <a:rPr lang="ru-RU" dirty="0" err="1"/>
                  <a:t>std</a:t>
                </a:r>
                <a:r>
                  <a:rPr lang="ru-RU" dirty="0"/>
                  <a:t> - стандартное отклонение</a:t>
                </a:r>
                <a:endParaRPr lang="en-US" dirty="0"/>
              </a:p>
              <a:p>
                <a:endParaRPr lang="ru-RU" sz="1800" dirty="0"/>
              </a:p>
            </p:txBody>
          </p:sp>
        </mc:Choice>
        <mc:Fallback xmlns="">
          <p:sp>
            <p:nvSpPr>
              <p:cNvPr id="8" name="TextBox 7">
                <a:extLst>
                  <a:ext uri="{FF2B5EF4-FFF2-40B4-BE49-F238E27FC236}">
                    <a16:creationId xmlns:a16="http://schemas.microsoft.com/office/drawing/2014/main" id="{B363DC12-0338-EE14-31B0-8390E944A4C0}"/>
                  </a:ext>
                </a:extLst>
              </p:cNvPr>
              <p:cNvSpPr txBox="1">
                <a:spLocks noRot="1" noChangeAspect="1" noMove="1" noResize="1" noEditPoints="1" noAdjustHandles="1" noChangeArrowheads="1" noChangeShapeType="1" noTextEdit="1"/>
              </p:cNvSpPr>
              <p:nvPr/>
            </p:nvSpPr>
            <p:spPr>
              <a:xfrm>
                <a:off x="281906" y="3240547"/>
                <a:ext cx="8959469" cy="1720920"/>
              </a:xfrm>
              <a:prstGeom prst="rect">
                <a:avLst/>
              </a:prstGeom>
              <a:blipFill>
                <a:blip r:embed="rId5"/>
                <a:stretch>
                  <a:fillRect l="-3541" t="-22059" b="-16912"/>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EAE15FCB-CB7C-BA1A-51AD-54785DA7748B}"/>
              </a:ext>
            </a:extLst>
          </p:cNvPr>
          <p:cNvSpPr txBox="1"/>
          <p:nvPr/>
        </p:nvSpPr>
        <p:spPr>
          <a:xfrm>
            <a:off x="298402" y="4930470"/>
            <a:ext cx="5391198" cy="1200329"/>
          </a:xfrm>
          <a:prstGeom prst="rect">
            <a:avLst/>
          </a:prstGeom>
          <a:noFill/>
        </p:spPr>
        <p:txBody>
          <a:bodyPr wrap="square">
            <a:spAutoFit/>
          </a:bodyPr>
          <a:lstStyle/>
          <a:p>
            <a:r>
              <a:rPr lang="ru-RU" b="0" i="0" dirty="0">
                <a:solidFill>
                  <a:srgbClr val="323232"/>
                </a:solidFill>
                <a:effectLst/>
                <a:latin typeface="__YSText_10659f"/>
              </a:rPr>
              <a:t>Например, если мы хотим оценить степень влияния сегодняшней температуры на завтрашнюю, то посчитаем коэффициент корреляции исходного ряда и его</a:t>
            </a:r>
            <a:r>
              <a:rPr lang="en-US" b="0" i="0" dirty="0">
                <a:solidFill>
                  <a:srgbClr val="323232"/>
                </a:solidFill>
                <a:effectLst/>
                <a:latin typeface="__YSText_10659f"/>
              </a:rPr>
              <a:t> </a:t>
            </a:r>
            <a:r>
              <a:rPr lang="en-US" b="0" i="0" dirty="0" err="1">
                <a:solidFill>
                  <a:srgbClr val="323232"/>
                </a:solidFill>
                <a:effectLst/>
                <a:latin typeface="__YSText_10659f"/>
              </a:rPr>
              <a:t>же</a:t>
            </a:r>
            <a:r>
              <a:rPr lang="ru-RU" b="0" i="0" dirty="0">
                <a:solidFill>
                  <a:srgbClr val="323232"/>
                </a:solidFill>
                <a:effectLst/>
                <a:latin typeface="__YSText_10659f"/>
              </a:rPr>
              <a:t>, сдвинутым на 1 день.</a:t>
            </a:r>
            <a:endParaRPr lang="ru-RU" dirty="0"/>
          </a:p>
        </p:txBody>
      </p:sp>
      <p:pic>
        <p:nvPicPr>
          <p:cNvPr id="1026" name="Picture 2" descr="2.6.1 Взаимная и автокорреляционные функции сигнала">
            <a:extLst>
              <a:ext uri="{FF2B5EF4-FFF2-40B4-BE49-F238E27FC236}">
                <a16:creationId xmlns:a16="http://schemas.microsoft.com/office/drawing/2014/main" id="{54264BB7-C97E-AA39-943C-3D1F85AC6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9974" y="502134"/>
            <a:ext cx="2530059" cy="4027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F of monthly Australian antidiabetic drug sales.">
            <a:extLst>
              <a:ext uri="{FF2B5EF4-FFF2-40B4-BE49-F238E27FC236}">
                <a16:creationId xmlns:a16="http://schemas.microsoft.com/office/drawing/2014/main" id="{A05E2094-6729-56A7-F169-31F127E0F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600" y="4625950"/>
            <a:ext cx="6367450" cy="19094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B5F1B-9791-B173-52B5-AF455F6A693C}"/>
              </a:ext>
            </a:extLst>
          </p:cNvPr>
          <p:cNvSpPr txBox="1"/>
          <p:nvPr/>
        </p:nvSpPr>
        <p:spPr>
          <a:xfrm>
            <a:off x="298402" y="6351908"/>
            <a:ext cx="6115050"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acf.html</a:t>
            </a:r>
            <a:endParaRPr lang="ru-RU" dirty="0"/>
          </a:p>
        </p:txBody>
      </p:sp>
    </p:spTree>
    <p:extLst>
      <p:ext uri="{BB962C8B-B14F-4D97-AF65-F5344CB8AC3E}">
        <p14:creationId xmlns:p14="http://schemas.microsoft.com/office/powerpoint/2010/main" val="3121770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a:t>
            </a:r>
            <a:r>
              <a:rPr lang="ru-RU" dirty="0" smtClean="0"/>
              <a:t>к автокорреляции</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i="1" smtClean="0">
                        <a:latin typeface="Cambria Math" panose="02040503050406030204" pitchFamily="18" charset="0"/>
                      </a:rPr>
                      <m:t>𝜏</m:t>
                    </m:r>
                    <m:r>
                      <a:rPr lang="en-US" sz="2400" i="1" smtClean="0">
                        <a:latin typeface="Cambria Math" panose="02040503050406030204" pitchFamily="18" charset="0"/>
                      </a:rPr>
                      <m:t>)</m:t>
                    </m:r>
                  </m:oMath>
                </a14:m>
                <a:r>
                  <a:rPr lang="el-GR" sz="2400" dirty="0"/>
                  <a:t>&gt;0 – </a:t>
                </a:r>
                <a:r>
                  <a:rPr lang="ru-RU" sz="2400" dirty="0"/>
                  <a:t>положительная корреляция, то есть чем </a:t>
                </a:r>
                <a:r>
                  <a:rPr lang="ru-RU" sz="2400" i="1" dirty="0"/>
                  <a:t>больше</a:t>
                </a:r>
                <a:r>
                  <a:rPr lang="ru-RU" sz="2400" dirty="0"/>
                  <a:t> было значение вчера, тем оно будет </a:t>
                </a:r>
                <a:r>
                  <a:rPr lang="ru-RU" sz="2400" i="1" dirty="0"/>
                  <a:t>больше</a:t>
                </a:r>
                <a:r>
                  <a:rPr lang="ru-RU" sz="2400" dirty="0"/>
                  <a:t> сегодня;</a:t>
                </a:r>
              </a:p>
              <a:p>
                <a14:m>
                  <m:oMath xmlns:m="http://schemas.openxmlformats.org/officeDocument/2006/math">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​&lt;0 – </a:t>
                </a:r>
                <a:r>
                  <a:rPr lang="ru-RU" sz="2400" dirty="0"/>
                  <a:t>отрицательная корреляция, то есть чем </a:t>
                </a:r>
                <a:r>
                  <a:rPr lang="ru-RU" sz="2400" i="1" dirty="0"/>
                  <a:t>больше</a:t>
                </a:r>
                <a:r>
                  <a:rPr lang="ru-RU" sz="2400" dirty="0"/>
                  <a:t> было значение вчера, тем оно будет </a:t>
                </a:r>
                <a:r>
                  <a:rPr lang="ru-RU" sz="2400" i="1" dirty="0"/>
                  <a:t>меньше</a:t>
                </a:r>
                <a:r>
                  <a:rPr lang="ru-RU" sz="2400" dirty="0"/>
                  <a:t> сегодня;</a:t>
                </a:r>
              </a:p>
              <a:p>
                <a14:m>
                  <m:oMath xmlns:m="http://schemas.openxmlformats.org/officeDocument/2006/math">
                    <m:r>
                      <m:rPr>
                        <m:nor/>
                      </m:rPr>
                      <a:rPr lang="en" sz="2400" dirty="0"/>
                      <m:t>∣</m:t>
                    </m:r>
                    <m:r>
                      <a:rPr lang="en-US" sz="2400" i="1">
                        <a:latin typeface="Cambria Math" panose="02040503050406030204" pitchFamily="18" charset="0"/>
                      </a:rPr>
                      <m:t>𝑐𝑜𝑟</m:t>
                    </m:r>
                    <m:d>
                      <m:dPr>
                        <m:ctrlPr>
                          <a:rPr lang="en-US" sz="2400" i="1">
                            <a:latin typeface="Cambria Math" panose="02040503050406030204" pitchFamily="18" charset="0"/>
                          </a:rPr>
                        </m:ctrlPr>
                      </m:dPr>
                      <m:e>
                        <m:r>
                          <a:rPr lang="en-US" sz="2400" i="1">
                            <a:latin typeface="Cambria Math" panose="02040503050406030204" pitchFamily="18" charset="0"/>
                          </a:rPr>
                          <m:t>𝜏</m:t>
                        </m:r>
                      </m:e>
                    </m:d>
                    <m:r>
                      <m:rPr>
                        <m:nor/>
                      </m:rPr>
                      <a:rPr lang="el-GR" sz="2400" dirty="0"/>
                      <m:t>​∣⩽1;</m:t>
                    </m:r>
                    <m:r>
                      <a:rPr lang="ru-RU" sz="2400" b="0" i="1" dirty="0" smtClean="0">
                        <a:latin typeface="Cambria Math" panose="02040503050406030204" pitchFamily="18" charset="0"/>
                      </a:rPr>
                      <m:t> </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=1 </a:t>
                </a:r>
                <a:r>
                  <a:rPr lang="ru-RU" sz="2400" dirty="0"/>
                  <a:t>означает строгую линейную зависимость.</a:t>
                </a:r>
              </a:p>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653" t="-1244" r="-97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7" name="Рисунок 6">
            <a:extLst>
              <a:ext uri="{FF2B5EF4-FFF2-40B4-BE49-F238E27FC236}">
                <a16:creationId xmlns:a16="http://schemas.microsoft.com/office/drawing/2014/main" id="{961474F1-1290-7EF6-E2E4-2A58FE82AD4A}"/>
              </a:ext>
            </a:extLst>
          </p:cNvPr>
          <p:cNvPicPr>
            <a:picLocks noChangeAspect="1"/>
          </p:cNvPicPr>
          <p:nvPr/>
        </p:nvPicPr>
        <p:blipFill>
          <a:blip r:embed="rId3"/>
          <a:stretch>
            <a:fillRect/>
          </a:stretch>
        </p:blipFill>
        <p:spPr>
          <a:xfrm>
            <a:off x="588084" y="4898985"/>
            <a:ext cx="4982760" cy="1454427"/>
          </a:xfrm>
          <a:prstGeom prst="rect">
            <a:avLst/>
          </a:prstGeom>
        </p:spPr>
      </p:pic>
      <p:pic>
        <p:nvPicPr>
          <p:cNvPr id="1029" name="Picture 5">
            <a:extLst>
              <a:ext uri="{FF2B5EF4-FFF2-40B4-BE49-F238E27FC236}">
                <a16:creationId xmlns:a16="http://schemas.microsoft.com/office/drawing/2014/main" id="{7E8AF36A-0838-C3AB-9A29-306D244F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1205" y="2679878"/>
            <a:ext cx="4655171" cy="317984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999D0E-571B-F326-BDB2-26FF2D54EFBE}"/>
              </a:ext>
            </a:extLst>
          </p:cNvPr>
          <p:cNvSpPr txBox="1"/>
          <p:nvPr/>
        </p:nvSpPr>
        <p:spPr>
          <a:xfrm>
            <a:off x="6136434" y="5707081"/>
            <a:ext cx="5740400" cy="646331"/>
          </a:xfrm>
          <a:prstGeom prst="rect">
            <a:avLst/>
          </a:prstGeom>
          <a:noFill/>
        </p:spPr>
        <p:txBody>
          <a:bodyPr wrap="square">
            <a:spAutoFit/>
          </a:bodyPr>
          <a:lstStyle/>
          <a:p>
            <a:r>
              <a:rPr lang="ru-RU" b="0" i="0" dirty="0">
                <a:solidFill>
                  <a:srgbClr val="000000"/>
                </a:solidFill>
                <a:effectLst/>
                <a:latin typeface="Arial" panose="020B0604020202020204" pitchFamily="34" charset="0"/>
              </a:rPr>
              <a:t>Четыре различных набора данных, коэффициент корреляции на которых равен 0.81</a:t>
            </a:r>
            <a:endParaRPr lang="ru-RU" dirty="0"/>
          </a:p>
        </p:txBody>
      </p:sp>
      <p:sp>
        <p:nvSpPr>
          <p:cNvPr id="11" name="TextBox 10">
            <a:extLst>
              <a:ext uri="{FF2B5EF4-FFF2-40B4-BE49-F238E27FC236}">
                <a16:creationId xmlns:a16="http://schemas.microsoft.com/office/drawing/2014/main" id="{B12B4922-0E0E-77D6-DC87-7ED5B07D70E3}"/>
              </a:ext>
            </a:extLst>
          </p:cNvPr>
          <p:cNvSpPr txBox="1"/>
          <p:nvPr/>
        </p:nvSpPr>
        <p:spPr>
          <a:xfrm>
            <a:off x="478090" y="6247588"/>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5759374" y="6280875"/>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DF8012A-2CB8-72E3-3F96-4D182E87DB07}"/>
                  </a:ext>
                </a:extLst>
              </p:cNvPr>
              <p:cNvSpPr txBox="1"/>
              <p:nvPr/>
            </p:nvSpPr>
            <p:spPr>
              <a:xfrm>
                <a:off x="839769" y="4201000"/>
                <a:ext cx="6097836" cy="646331"/>
              </a:xfrm>
              <a:prstGeom prst="rect">
                <a:avLst/>
              </a:prstGeom>
              <a:noFill/>
            </p:spPr>
            <p:txBody>
              <a:bodyPr wrap="square">
                <a:spAutoFit/>
              </a:bodyPr>
              <a:lstStyle/>
              <a:p>
                <a14:m>
                  <m:oMath xmlns:m="http://schemas.openxmlformats.org/officeDocument/2006/math">
                    <m:r>
                      <a:rPr lang="en-US" sz="1800" i="1">
                        <a:latin typeface="Cambria Math" panose="02040503050406030204" pitchFamily="18" charset="0"/>
                      </a:rPr>
                      <m:t>𝑐𝑜𝑟</m:t>
                    </m:r>
                    <m:r>
                      <a:rPr lang="en-US" sz="1800" i="1">
                        <a:latin typeface="Cambria Math" panose="02040503050406030204" pitchFamily="18" charset="0"/>
                      </a:rPr>
                      <m:t>(</m:t>
                    </m:r>
                    <m:r>
                      <a:rPr lang="en-US" sz="1800" i="1">
                        <a:latin typeface="Cambria Math" panose="02040503050406030204" pitchFamily="18" charset="0"/>
                      </a:rPr>
                      <m:t>𝜏</m:t>
                    </m:r>
                    <m:r>
                      <a:rPr lang="en-US" sz="1800" i="1">
                        <a:latin typeface="Cambria Math" panose="02040503050406030204" pitchFamily="18" charset="0"/>
                      </a:rPr>
                      <m:t>)</m:t>
                    </m:r>
                  </m:oMath>
                </a14:m>
                <a:r>
                  <a:rPr lang="el-GR" sz="1800" dirty="0"/>
                  <a:t>=0 – </a:t>
                </a:r>
                <a:r>
                  <a:rPr lang="ru-RU" sz="1800" dirty="0"/>
                  <a:t>отсутствие автокорреляции, при этом значения могут быть зависимыми;</a:t>
                </a:r>
              </a:p>
            </p:txBody>
          </p:sp>
        </mc:Choice>
        <mc:Fallback xmlns="">
          <p:sp>
            <p:nvSpPr>
              <p:cNvPr id="15" name="TextBox 14">
                <a:extLst>
                  <a:ext uri="{FF2B5EF4-FFF2-40B4-BE49-F238E27FC236}">
                    <a16:creationId xmlns:a16="http://schemas.microsoft.com/office/drawing/2014/main" id="{7DF8012A-2CB8-72E3-3F96-4D182E87DB07}"/>
                  </a:ext>
                </a:extLst>
              </p:cNvPr>
              <p:cNvSpPr txBox="1">
                <a:spLocks noRot="1" noChangeAspect="1" noMove="1" noResize="1" noEditPoints="1" noAdjustHandles="1" noChangeArrowheads="1" noChangeShapeType="1" noTextEdit="1"/>
              </p:cNvSpPr>
              <p:nvPr/>
            </p:nvSpPr>
            <p:spPr>
              <a:xfrm>
                <a:off x="839769" y="4201000"/>
                <a:ext cx="6097836" cy="646331"/>
              </a:xfrm>
              <a:prstGeom prst="rect">
                <a:avLst/>
              </a:prstGeom>
              <a:blipFill>
                <a:blip r:embed="rId5"/>
                <a:stretch>
                  <a:fillRect l="-1040" t="-3846" b="-13462"/>
                </a:stretch>
              </a:blipFill>
            </p:spPr>
            <p:txBody>
              <a:bodyPr/>
              <a:lstStyle/>
              <a:p>
                <a:r>
                  <a:rPr lang="ru-RU">
                    <a:noFill/>
                  </a:rPr>
                  <a:t> </a:t>
                </a:r>
              </a:p>
            </p:txBody>
          </p:sp>
        </mc:Fallback>
      </mc:AlternateContent>
    </p:spTree>
    <p:extLst>
      <p:ext uri="{BB962C8B-B14F-4D97-AF65-F5344CB8AC3E}">
        <p14:creationId xmlns:p14="http://schemas.microsoft.com/office/powerpoint/2010/main" val="40799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08D33-ED14-B6CA-1D53-1B9E7F3C73BD}"/>
              </a:ext>
            </a:extLst>
          </p:cNvPr>
          <p:cNvSpPr>
            <a:spLocks noGrp="1"/>
          </p:cNvSpPr>
          <p:nvPr>
            <p:ph type="title"/>
          </p:nvPr>
        </p:nvSpPr>
        <p:spPr>
          <a:xfrm>
            <a:off x="381154" y="251842"/>
            <a:ext cx="11023294" cy="1067067"/>
          </a:xfrm>
        </p:spPr>
        <p:txBody>
          <a:bodyPr>
            <a:normAutofit fontScale="90000"/>
          </a:bodyPr>
          <a:lstStyle/>
          <a:p>
            <a:r>
              <a:rPr lang="ru-RU" dirty="0"/>
              <a:t>Пример дорожно-транспортных происшествий за 14 лет с дискретностью 1 месяц,</a:t>
            </a:r>
          </a:p>
        </p:txBody>
      </p:sp>
      <p:sp>
        <p:nvSpPr>
          <p:cNvPr id="3" name="Объект 2">
            <a:extLst>
              <a:ext uri="{FF2B5EF4-FFF2-40B4-BE49-F238E27FC236}">
                <a16:creationId xmlns:a16="http://schemas.microsoft.com/office/drawing/2014/main" id="{E40EB80A-8708-FE17-1283-675B44B1F644}"/>
              </a:ext>
            </a:extLst>
          </p:cNvPr>
          <p:cNvSpPr>
            <a:spLocks noGrp="1"/>
          </p:cNvSpPr>
          <p:nvPr>
            <p:ph idx="1"/>
          </p:nvPr>
        </p:nvSpPr>
        <p:spPr>
          <a:xfrm>
            <a:off x="109860" y="1290544"/>
            <a:ext cx="6409987" cy="5567456"/>
          </a:xfrm>
        </p:spPr>
        <p:txBody>
          <a:bodyPr>
            <a:normAutofit/>
          </a:bodyPr>
          <a:lstStyle/>
          <a:p>
            <a:r>
              <a:rPr lang="ru-RU" sz="2000" dirty="0"/>
              <a:t>Видна годовая сезонность.</a:t>
            </a:r>
          </a:p>
          <a:p>
            <a:r>
              <a:rPr lang="ru-RU" sz="2000" dirty="0"/>
              <a:t>На графике АКФ видны максимуму на 12 лагах</a:t>
            </a:r>
          </a:p>
          <a:p>
            <a:r>
              <a:rPr lang="en" sz="2000" i="1" dirty="0"/>
              <a:t>r</a:t>
            </a:r>
            <a:r>
              <a:rPr lang="en" sz="2000" baseline="-25000" dirty="0"/>
              <a:t>12</a:t>
            </a:r>
            <a:r>
              <a:rPr lang="en" sz="2000" dirty="0"/>
              <a:t>​ </a:t>
            </a:r>
            <a:r>
              <a:rPr lang="ru-RU" sz="2000" dirty="0"/>
              <a:t>является локальным максимумом, что означает высокую положительную корреляцию значения ряда за текущий месяц с аналогичным значением год назад. </a:t>
            </a:r>
          </a:p>
          <a:p>
            <a:r>
              <a:rPr lang="ru-RU" sz="2200" dirty="0"/>
              <a:t>Закрашенная область визуализирует границу незначимой автокорреляции, то есть тех значений автокорреляции, для которых не выявлена статистически значимое отличие от 0 (иначе говоря, доверительный интервал пересекает 0).</a:t>
            </a:r>
          </a:p>
          <a:p>
            <a:r>
              <a:rPr lang="ru-RU" sz="2200" dirty="0"/>
              <a:t>Значимые лаги: 1, 2, 6, 12, 24 – именно эти лаги связаны и на них имеет смысл строить прогноз (0 лаг не считается!)</a:t>
            </a:r>
            <a:endParaRPr lang="ru-RU" sz="1300" dirty="0"/>
          </a:p>
        </p:txBody>
      </p:sp>
      <p:sp>
        <p:nvSpPr>
          <p:cNvPr id="4" name="Номер слайда 3">
            <a:extLst>
              <a:ext uri="{FF2B5EF4-FFF2-40B4-BE49-F238E27FC236}">
                <a16:creationId xmlns:a16="http://schemas.microsoft.com/office/drawing/2014/main" id="{D5077126-4ACD-5BB7-D444-3F25CEA34F52}"/>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2050" name="Picture 2" descr="ex">
            <a:extLst>
              <a:ext uri="{FF2B5EF4-FFF2-40B4-BE49-F238E27FC236}">
                <a16:creationId xmlns:a16="http://schemas.microsoft.com/office/drawing/2014/main" id="{E80B7204-5939-A61A-3D66-4CB8D9AE8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30123"/>
            <a:ext cx="5562294" cy="23749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x">
            <a:extLst>
              <a:ext uri="{FF2B5EF4-FFF2-40B4-BE49-F238E27FC236}">
                <a16:creationId xmlns:a16="http://schemas.microsoft.com/office/drawing/2014/main" id="{7F87FE3F-E8B0-649D-36C2-1720B1430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122" y="4049782"/>
            <a:ext cx="5420299" cy="240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FE1161-304E-9255-4C0B-8F9D8EADCD32}"/>
              </a:ext>
            </a:extLst>
          </p:cNvPr>
          <p:cNvSpPr txBox="1"/>
          <p:nvPr/>
        </p:nvSpPr>
        <p:spPr>
          <a:xfrm>
            <a:off x="3581401" y="6452782"/>
            <a:ext cx="8496759" cy="338554"/>
          </a:xfrm>
          <a:prstGeom prst="rect">
            <a:avLst/>
          </a:prstGeom>
          <a:noFill/>
        </p:spPr>
        <p:txBody>
          <a:bodyPr wrap="square">
            <a:spAutoFit/>
          </a:bodyPr>
          <a:lstStyle/>
          <a:p>
            <a:r>
              <a:rPr lang="ru-RU" sz="1600" dirty="0" err="1"/>
              <a:t>https</a:t>
            </a:r>
            <a:r>
              <a:rPr lang="ru-RU" sz="1600" dirty="0"/>
              <a:t>://</a:t>
            </a:r>
            <a:r>
              <a:rPr lang="ru-RU" sz="1600" dirty="0" err="1"/>
              <a:t>education.yandex.ru</a:t>
            </a:r>
            <a:r>
              <a:rPr lang="ru-RU" sz="1600" dirty="0"/>
              <a:t>/</a:t>
            </a:r>
            <a:r>
              <a:rPr lang="ru-RU" sz="1600" dirty="0" err="1"/>
              <a:t>handbook</a:t>
            </a:r>
            <a:r>
              <a:rPr lang="ru-RU" sz="1600" dirty="0"/>
              <a:t>/</a:t>
            </a:r>
            <a:r>
              <a:rPr lang="ru-RU" sz="1600" dirty="0" err="1"/>
              <a:t>ml</a:t>
            </a:r>
            <a:r>
              <a:rPr lang="ru-RU" sz="1600" dirty="0"/>
              <a:t>/</a:t>
            </a:r>
            <a:r>
              <a:rPr lang="ru-RU" sz="1600" dirty="0" err="1"/>
              <a:t>article</a:t>
            </a:r>
            <a:r>
              <a:rPr lang="ru-RU" sz="1600" dirty="0"/>
              <a:t>/</a:t>
            </a:r>
            <a:r>
              <a:rPr lang="ru-RU" sz="1600" dirty="0" err="1"/>
              <a:t>analitika-vremennyh-ryadov</a:t>
            </a:r>
            <a:endParaRPr lang="ru-RU" sz="1600" dirty="0"/>
          </a:p>
        </p:txBody>
      </p:sp>
    </p:spTree>
    <p:extLst>
      <p:ext uri="{BB962C8B-B14F-4D97-AF65-F5344CB8AC3E}">
        <p14:creationId xmlns:p14="http://schemas.microsoft.com/office/powerpoint/2010/main" val="2357885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b="1" dirty="0"/>
              <a:t>Корреляция</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Tree>
    <p:extLst>
      <p:ext uri="{BB962C8B-B14F-4D97-AF65-F5344CB8AC3E}">
        <p14:creationId xmlns:p14="http://schemas.microsoft.com/office/powerpoint/2010/main" val="330955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383EC4-8F67-20B6-5BB9-4FD4C80D225D}"/>
              </a:ext>
            </a:extLst>
          </p:cNvPr>
          <p:cNvSpPr>
            <a:spLocks noGrp="1"/>
          </p:cNvSpPr>
          <p:nvPr>
            <p:ph type="title"/>
          </p:nvPr>
        </p:nvSpPr>
        <p:spPr>
          <a:xfrm>
            <a:off x="318655" y="136525"/>
            <a:ext cx="11035145" cy="909493"/>
          </a:xfrm>
        </p:spPr>
        <p:txBody>
          <a:bodyPr/>
          <a:lstStyle/>
          <a:p>
            <a:pPr algn="ctr"/>
            <a:r>
              <a:rPr lang="ru-RU" dirty="0"/>
              <a:t>Замечания </a:t>
            </a:r>
          </a:p>
        </p:txBody>
      </p:sp>
      <p:sp>
        <p:nvSpPr>
          <p:cNvPr id="3" name="Объект 2">
            <a:extLst>
              <a:ext uri="{FF2B5EF4-FFF2-40B4-BE49-F238E27FC236}">
                <a16:creationId xmlns:a16="http://schemas.microsoft.com/office/drawing/2014/main" id="{CD8746E5-8498-3604-B42B-E7AF22FB2C3D}"/>
              </a:ext>
            </a:extLst>
          </p:cNvPr>
          <p:cNvSpPr>
            <a:spLocks noGrp="1"/>
          </p:cNvSpPr>
          <p:nvPr>
            <p:ph idx="1"/>
          </p:nvPr>
        </p:nvSpPr>
        <p:spPr>
          <a:xfrm>
            <a:off x="241878" y="861218"/>
            <a:ext cx="11631468" cy="4993482"/>
          </a:xfrm>
        </p:spPr>
        <p:txBody>
          <a:bodyPr>
            <a:normAutofit/>
          </a:bodyPr>
          <a:lstStyle/>
          <a:p>
            <a:r>
              <a:rPr lang="ru-RU" sz="2200" b="1" dirty="0"/>
              <a:t>ВР имеет тренд –&gt; </a:t>
            </a:r>
            <a:r>
              <a:rPr lang="ru-RU" sz="2200" dirty="0"/>
              <a:t>АКФ для небольших лагов, как правило, большие и положительные, поскольку наблюдения, близкие по времени, также близки по значению. </a:t>
            </a:r>
          </a:p>
          <a:p>
            <a:pPr lvl="1"/>
            <a:r>
              <a:rPr lang="ru-RU" sz="2200" dirty="0"/>
              <a:t>Таким образом, </a:t>
            </a:r>
            <a:r>
              <a:rPr lang="en" sz="2200" dirty="0"/>
              <a:t>ACF </a:t>
            </a:r>
            <a:r>
              <a:rPr lang="ru-RU" sz="2200" dirty="0"/>
              <a:t>трендового временного ряда, как правило, имеет положительные значения, которые медленно уменьшаются по мере увеличения лагов.</a:t>
            </a:r>
          </a:p>
          <a:p>
            <a:r>
              <a:rPr lang="ru-RU" sz="2200" b="1" dirty="0"/>
              <a:t>Если данные сезонные</a:t>
            </a:r>
            <a:r>
              <a:rPr lang="ru-RU" sz="2200" dirty="0"/>
              <a:t>, автокорреляции будут больше для сезонных лагов (кратных сезонному периоду), чем для других лагов.</a:t>
            </a:r>
          </a:p>
          <a:p>
            <a:r>
              <a:rPr lang="ru-RU" sz="2200" b="1" dirty="0"/>
              <a:t>Данные являются как трендовыми, так и сезонными</a:t>
            </a:r>
            <a:r>
              <a:rPr lang="ru-RU" sz="2200" dirty="0"/>
              <a:t>, будет иметь место комбинация этих эффектов</a:t>
            </a:r>
            <a:r>
              <a:rPr lang="en-US" sz="2200" dirty="0"/>
              <a:t> (</a:t>
            </a:r>
            <a:r>
              <a:rPr lang="en-US" sz="2200" dirty="0" err="1"/>
              <a:t>см</a:t>
            </a:r>
            <a:r>
              <a:rPr lang="ru-RU" sz="2200" dirty="0"/>
              <a:t>. ниже). </a:t>
            </a:r>
          </a:p>
        </p:txBody>
      </p:sp>
      <p:sp>
        <p:nvSpPr>
          <p:cNvPr id="4" name="Номер слайда 3">
            <a:extLst>
              <a:ext uri="{FF2B5EF4-FFF2-40B4-BE49-F238E27FC236}">
                <a16:creationId xmlns:a16="http://schemas.microsoft.com/office/drawing/2014/main" id="{210439D6-FBAC-9105-9726-C0D57B538136}"/>
              </a:ext>
            </a:extLst>
          </p:cNvPr>
          <p:cNvSpPr>
            <a:spLocks noGrp="1"/>
          </p:cNvSpPr>
          <p:nvPr>
            <p:ph type="sldNum" sz="quarter" idx="12"/>
          </p:nvPr>
        </p:nvSpPr>
        <p:spPr/>
        <p:txBody>
          <a:bodyPr/>
          <a:lstStyle/>
          <a:p>
            <a:fld id="{45C3B737-A709-4ABC-AFE0-A6B067850C48}" type="slidenum">
              <a:rPr lang="en-US" smtClean="0"/>
              <a:t>10</a:t>
            </a:fld>
            <a:endParaRPr lang="en-US"/>
          </a:p>
        </p:txBody>
      </p:sp>
      <p:pic>
        <p:nvPicPr>
          <p:cNvPr id="5122" name="Picture 2">
            <a:extLst>
              <a:ext uri="{FF2B5EF4-FFF2-40B4-BE49-F238E27FC236}">
                <a16:creationId xmlns:a16="http://schemas.microsoft.com/office/drawing/2014/main" id="{FAE7FECC-00BF-3EB6-BCFE-927426B0844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6978" y="3946948"/>
            <a:ext cx="4112343" cy="25919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6AD531-2C9B-BB91-4CEE-1902E77A9AA7}"/>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206836" y="3960387"/>
            <a:ext cx="4304291" cy="2712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229B540-6FFC-6740-2DA4-DE2C2AF66693}"/>
              </a:ext>
            </a:extLst>
          </p:cNvPr>
          <p:cNvSpPr txBox="1"/>
          <p:nvPr/>
        </p:nvSpPr>
        <p:spPr>
          <a:xfrm>
            <a:off x="2597727" y="6488668"/>
            <a:ext cx="6137562"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/02-graphics.html</a:t>
            </a:r>
          </a:p>
        </p:txBody>
      </p:sp>
    </p:spTree>
    <p:extLst>
      <p:ext uri="{BB962C8B-B14F-4D97-AF65-F5344CB8AC3E}">
        <p14:creationId xmlns:p14="http://schemas.microsoft.com/office/powerpoint/2010/main" val="1917184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21867-E96A-0A79-4583-D975526376D7}"/>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9FC89-5133-BB8B-A9FF-1295B4C4D463}"/>
                  </a:ext>
                </a:extLst>
              </p:cNvPr>
              <p:cNvSpPr>
                <a:spLocks noGrp="1"/>
              </p:cNvSpPr>
              <p:nvPr>
                <p:ph idx="1"/>
              </p:nvPr>
            </p:nvSpPr>
            <p:spPr>
              <a:xfrm>
                <a:off x="342900" y="1041402"/>
                <a:ext cx="11480800" cy="5135562"/>
              </a:xfrm>
            </p:spPr>
            <p:txBody>
              <a:bodyPr>
                <a:normAutofit/>
              </a:bodyPr>
              <a:lstStyle/>
              <a:p>
                <a:r>
                  <a:rPr lang="ru-RU" sz="2100" dirty="0"/>
                  <a:t>Фактически АКФ </a:t>
                </a:r>
                <a14:m>
                  <m:oMath xmlns:m="http://schemas.openxmlformats.org/officeDocument/2006/math">
                    <m:r>
                      <a:rPr lang="en-US" sz="2100" i="1">
                        <a:latin typeface="Cambria Math" panose="02040503050406030204" pitchFamily="18" charset="0"/>
                      </a:rPr>
                      <m:t>𝑐𝑜𝑟</m:t>
                    </m:r>
                    <m:r>
                      <a:rPr lang="en-US" sz="2100" i="1">
                        <a:latin typeface="Cambria Math" panose="02040503050406030204" pitchFamily="18" charset="0"/>
                      </a:rPr>
                      <m:t>(</m:t>
                    </m:r>
                    <m:r>
                      <a:rPr lang="en-US" sz="2100" i="1">
                        <a:latin typeface="Cambria Math" panose="02040503050406030204" pitchFamily="18" charset="0"/>
                      </a:rPr>
                      <m:t>𝜏</m:t>
                    </m:r>
                    <m:r>
                      <a:rPr lang="en-US" sz="2100" i="1">
                        <a:latin typeface="Cambria Math" panose="02040503050406030204" pitchFamily="18" charset="0"/>
                      </a:rPr>
                      <m:t>)</m:t>
                    </m:r>
                  </m:oMath>
                </a14:m>
                <a:r>
                  <a:rPr lang="ru-RU" sz="2100" dirty="0"/>
                  <a:t> показывает связанность ВР  и всех сдвинутых его копий до значения </a:t>
                </a:r>
                <a14:m>
                  <m:oMath xmlns:m="http://schemas.openxmlformats.org/officeDocument/2006/math">
                    <m:r>
                      <a:rPr lang="en-US" sz="2100" i="1">
                        <a:latin typeface="Cambria Math" panose="02040503050406030204" pitchFamily="18" charset="0"/>
                      </a:rPr>
                      <m:t>𝜏</m:t>
                    </m:r>
                  </m:oMath>
                </a14:m>
                <a:r>
                  <a:rPr lang="ru-RU" sz="2100" dirty="0"/>
                  <a:t>. </a:t>
                </a:r>
              </a:p>
              <a:p>
                <a:pPr lvl="1"/>
                <a:r>
                  <a:rPr lang="ru-RU" sz="2100" dirty="0"/>
                  <a:t>Иногда это мешает понять связанность конкретно с лагом</a:t>
                </a:r>
                <a:r>
                  <a:rPr lang="en-US" sz="2100" dirty="0"/>
                  <a:t> </a:t>
                </a:r>
                <a14:m>
                  <m:oMath xmlns:m="http://schemas.openxmlformats.org/officeDocument/2006/math">
                    <m:r>
                      <a:rPr lang="en-US" sz="2100" i="1">
                        <a:latin typeface="Cambria Math" panose="02040503050406030204" pitchFamily="18" charset="0"/>
                      </a:rPr>
                      <m:t>𝜏</m:t>
                    </m:r>
                  </m:oMath>
                </a14:m>
                <a:r>
                  <a:rPr lang="ru-RU" sz="2100" dirty="0"/>
                  <a:t>. Для компенсации этого используют </a:t>
                </a:r>
                <a:r>
                  <a:rPr lang="ru-RU" sz="2100" b="1" dirty="0"/>
                  <a:t>Частичную АКФ (ЧАКФ, </a:t>
                </a:r>
                <a14:m>
                  <m:oMath xmlns:m="http://schemas.openxmlformats.org/officeDocument/2006/math">
                    <m:r>
                      <m:rPr>
                        <m:nor/>
                      </m:rPr>
                      <a:rPr lang="ru-RU" sz="2100" dirty="0"/>
                      <m:t>PACF</m:t>
                    </m:r>
                    <m:r>
                      <m:rPr>
                        <m:nor/>
                      </m:rPr>
                      <a:rPr lang="ru-RU" sz="2100" dirty="0"/>
                      <m:t>):</m:t>
                    </m:r>
                  </m:oMath>
                </a14:m>
                <a:endParaRPr lang="en-US" sz="2100" i="1"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𝑃𝐴𝐶𝐹</m:t>
                      </m:r>
                      <m:d>
                        <m:dPr>
                          <m:ctrlPr>
                            <a:rPr lang="en-US" sz="2100" i="1">
                              <a:latin typeface="Cambria Math" panose="02040503050406030204" pitchFamily="18" charset="0"/>
                            </a:rPr>
                          </m:ctrlPr>
                        </m:dPr>
                        <m:e>
                          <m:r>
                            <a:rPr lang="en-US" sz="2100" i="1">
                              <a:latin typeface="Cambria Math" panose="02040503050406030204" pitchFamily="18" charset="0"/>
                            </a:rPr>
                            <m:t>𝑘</m:t>
                          </m:r>
                        </m:e>
                      </m:d>
                      <m:r>
                        <a:rPr lang="en-US" sz="2100" i="1">
                          <a:latin typeface="Cambria Math" panose="02040503050406030204" pitchFamily="18" charset="0"/>
                        </a:rPr>
                        <m:t>=</m:t>
                      </m:r>
                      <m:r>
                        <a:rPr lang="en-US" sz="2100" i="1">
                          <a:latin typeface="Cambria Math" panose="02040503050406030204" pitchFamily="18" charset="0"/>
                        </a:rPr>
                        <m:t>𝑐𝑜𝑟</m:t>
                      </m:r>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up>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−1</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a:rPr lang="en-US" sz="2100" i="1">
                          <a:latin typeface="Cambria Math" panose="02040503050406030204" pitchFamily="18" charset="0"/>
                        </a:rPr>
                        <m:t>);</m:t>
                      </m:r>
                    </m:oMath>
                  </m:oMathPara>
                </a14:m>
                <a:endParaRPr lang="en-US" sz="2100" dirty="0"/>
              </a:p>
              <a:p>
                <a:pPr>
                  <a:lnSpc>
                    <a:spcPct val="100000"/>
                  </a:lnSpc>
                  <a:spcBef>
                    <a:spcPts val="600"/>
                  </a:spcBef>
                </a:pPr>
                <a14:m>
                  <m:oMath xmlns:m="http://schemas.openxmlformats.org/officeDocument/2006/math">
                    <m:r>
                      <m:rPr>
                        <m:nor/>
                      </m:rPr>
                      <a:rPr lang="ru-RU" sz="2100" dirty="0"/>
                      <m:t>где</m:t>
                    </m:r>
                    <m:r>
                      <m:rPr>
                        <m:nor/>
                      </m:rPr>
                      <a:rPr lang="en-US" sz="2100" dirty="0"/>
                      <m:t> </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m:rPr>
                        <m:nor/>
                      </m:rPr>
                      <a:rPr lang="en-US" sz="2100" dirty="0"/>
                      <m:t> −</m:t>
                    </m:r>
                    <m:r>
                      <m:rPr>
                        <m:nor/>
                      </m:rPr>
                      <a:rPr lang="ru-RU" sz="2100" dirty="0"/>
                      <m:t> значение, предсказанное как результат линейной регрессии </m:t>
                    </m:r>
                    <m:r>
                      <m:rPr>
                        <m:nor/>
                      </m:rPr>
                      <a:rPr lang="en-US" sz="2100" dirty="0"/>
                      <m:t> </m:t>
                    </m:r>
                    <m:r>
                      <m:rPr>
                        <m:nor/>
                      </m:rPr>
                      <a:rPr lang="ru-RU" sz="2100" dirty="0"/>
                      <m:t>по лагам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−1</m:t>
                        </m:r>
                      </m:sub>
                    </m:sSub>
                    <m:r>
                      <a:rPr lang="en-US" sz="2100" i="1">
                        <a:latin typeface="Cambria Math" panose="02040503050406030204" pitchFamily="18" charset="0"/>
                      </a:rPr>
                      <m:t>,</m:t>
                    </m:r>
                    <m:r>
                      <m:rPr>
                        <m:nor/>
                      </m:rPr>
                      <a:rPr lang="en-US" sz="2100" dirty="0"/>
                      <m:t>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−2</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oMath>
                </a14:m>
                <a:endParaRPr lang="en-US" sz="2100" dirty="0"/>
              </a:p>
              <a:p>
                <a:pPr>
                  <a:lnSpc>
                    <a:spcPct val="100000"/>
                  </a:lnSpc>
                  <a:spcBef>
                    <a:spcPts val="600"/>
                  </a:spcBef>
                </a:pPr>
                <a14:m>
                  <m:oMath xmlns:m="http://schemas.openxmlformats.org/officeDocument/2006/math">
                    <m:r>
                      <m:rPr>
                        <m:nor/>
                      </m:rPr>
                      <a:rPr lang="ru-RU" sz="2100" dirty="0"/>
                      <m:t>Частичная корреляция снимает (</m:t>
                    </m:r>
                    <m:r>
                      <m:rPr>
                        <m:nor/>
                      </m:rPr>
                      <a:rPr lang="ru-RU" sz="2100" dirty="0" err="1"/>
                      <m:t>устр</m:t>
                    </m:r>
                    <m:r>
                      <m:rPr>
                        <m:nor/>
                      </m:rPr>
                      <a:rPr lang="ru-RU" sz="2100" b="0" i="0" dirty="0" smtClean="0"/>
                      <m:t>о</m:t>
                    </m:r>
                    <m:r>
                      <m:rPr>
                        <m:nor/>
                      </m:rPr>
                      <a:rPr lang="ru-RU" sz="2100" dirty="0" err="1"/>
                      <m:t>няте</m:t>
                    </m:r>
                    <m:r>
                      <m:rPr>
                        <m:nor/>
                      </m:rPr>
                      <a:rPr lang="ru-RU" sz="2100" dirty="0"/>
                      <m:t>) линейную зависимость от промежуточных лагов</m:t>
                    </m:r>
                  </m:oMath>
                </a14:m>
                <a:endParaRPr lang="en-US" sz="2100" dirty="0"/>
              </a:p>
              <a:p>
                <a:pPr marL="457200" lvl="1" indent="0">
                  <a:buNone/>
                </a:pPr>
                <a:r>
                  <a:rPr lang="ru-RU" sz="2100" dirty="0"/>
                  <a:t>Например, если мы регрессируем переменную </a:t>
                </a:r>
                <a:r>
                  <a:rPr lang="ru-RU" sz="2100" dirty="0" err="1"/>
                  <a:t>Y</a:t>
                </a:r>
                <a:r>
                  <a:rPr lang="ru-RU" sz="2100" dirty="0"/>
                  <a:t> по переменным X1, X2 и X3, частичная корреляция между </a:t>
                </a:r>
                <a:r>
                  <a:rPr lang="ru-RU" sz="2100" dirty="0" err="1"/>
                  <a:t>Y</a:t>
                </a:r>
                <a:r>
                  <a:rPr lang="ru-RU" sz="2100" dirty="0"/>
                  <a:t> и X3 - это степень корреляции между </a:t>
                </a:r>
                <a:r>
                  <a:rPr lang="ru-RU" sz="2100" dirty="0" err="1"/>
                  <a:t>Y</a:t>
                </a:r>
                <a:r>
                  <a:rPr lang="ru-RU" sz="2100" dirty="0"/>
                  <a:t> и X3, которая не объясняется их общими корреляциями с X1 и X2. </a:t>
                </a:r>
                <a:endParaRPr lang="en-US" sz="2100" dirty="0"/>
              </a:p>
              <a:p>
                <a:pPr marL="457200" lvl="1" indent="0">
                  <a:buNone/>
                </a:pPr>
                <a:r>
                  <a:rPr lang="ru-RU" b="1" dirty="0"/>
                  <a:t>	</a:t>
                </a:r>
                <a:endParaRPr lang="ru-RU" dirty="0"/>
              </a:p>
            </p:txBody>
          </p:sp>
        </mc:Choice>
        <mc:Fallback xmlns="">
          <p:sp>
            <p:nvSpPr>
              <p:cNvPr id="3" name="Объект 2">
                <a:extLst>
                  <a:ext uri="{FF2B5EF4-FFF2-40B4-BE49-F238E27FC236}">
                    <a16:creationId xmlns:a16="http://schemas.microsoft.com/office/drawing/2014/main" id="{7619FC89-5133-BB8B-A9FF-1295B4C4D463}"/>
                  </a:ext>
                </a:extLst>
              </p:cNvPr>
              <p:cNvSpPr>
                <a:spLocks noGrp="1" noRot="1" noChangeAspect="1" noMove="1" noResize="1" noEditPoints="1" noAdjustHandles="1" noChangeArrowheads="1" noChangeShapeType="1" noTextEdit="1"/>
              </p:cNvSpPr>
              <p:nvPr>
                <p:ph idx="1"/>
              </p:nvPr>
            </p:nvSpPr>
            <p:spPr>
              <a:xfrm>
                <a:off x="342900" y="1041402"/>
                <a:ext cx="11480800" cy="5135562"/>
              </a:xfrm>
              <a:blipFill>
                <a:blip r:embed="rId3"/>
                <a:stretch>
                  <a:fillRect l="-442" t="-148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B60B919-B531-0487-B565-BBFBD78DE01C}"/>
              </a:ext>
            </a:extLst>
          </p:cNvPr>
          <p:cNvSpPr>
            <a:spLocks noGrp="1"/>
          </p:cNvSpPr>
          <p:nvPr>
            <p:ph type="sldNum" sz="quarter" idx="12"/>
          </p:nvPr>
        </p:nvSpPr>
        <p:spPr/>
        <p:txBody>
          <a:bodyPr/>
          <a:lstStyle/>
          <a:p>
            <a:fld id="{45C3B737-A709-4ABC-AFE0-A6B067850C48}" type="slidenum">
              <a:rPr lang="en-US" smtClean="0"/>
              <a:t>11</a:t>
            </a:fld>
            <a:endParaRPr lang="en-US"/>
          </a:p>
        </p:txBody>
      </p:sp>
      <p:sp>
        <p:nvSpPr>
          <p:cNvPr id="5" name="AutoShape 2">
            <a:extLst>
              <a:ext uri="{FF2B5EF4-FFF2-40B4-BE49-F238E27FC236}">
                <a16:creationId xmlns:a16="http://schemas.microsoft.com/office/drawing/2014/main" id="{A70EA36A-6C6A-569D-0A4F-2A8F1F86D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endParaRPr lang="ru-RU" dirty="0"/>
          </a:p>
        </p:txBody>
      </p:sp>
      <p:sp>
        <p:nvSpPr>
          <p:cNvPr id="6" name="AutoShape 4">
            <a:extLst>
              <a:ext uri="{FF2B5EF4-FFF2-40B4-BE49-F238E27FC236}">
                <a16:creationId xmlns:a16="http://schemas.microsoft.com/office/drawing/2014/main" id="{5E3123F7-B5BC-000D-9F1B-D13A79BF0E0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a:extLst>
              <a:ext uri="{FF2B5EF4-FFF2-40B4-BE49-F238E27FC236}">
                <a16:creationId xmlns:a16="http://schemas.microsoft.com/office/drawing/2014/main" id="{EF34EC4F-1B05-05D3-3E1D-CF9CAB6A5F7E}"/>
              </a:ext>
            </a:extLst>
          </p:cNvPr>
          <p:cNvPicPr>
            <a:picLocks noChangeAspect="1"/>
          </p:cNvPicPr>
          <p:nvPr/>
        </p:nvPicPr>
        <p:blipFill>
          <a:blip r:embed="rId4"/>
          <a:srcRect b="50000"/>
          <a:stretch>
            <a:fillRect/>
          </a:stretch>
        </p:blipFill>
        <p:spPr>
          <a:xfrm>
            <a:off x="696423" y="4365012"/>
            <a:ext cx="4535358" cy="1757554"/>
          </a:xfrm>
          <a:prstGeom prst="rect">
            <a:avLst/>
          </a:prstGeom>
        </p:spPr>
      </p:pic>
      <p:pic>
        <p:nvPicPr>
          <p:cNvPr id="8" name="Рисунок 7">
            <a:extLst>
              <a:ext uri="{FF2B5EF4-FFF2-40B4-BE49-F238E27FC236}">
                <a16:creationId xmlns:a16="http://schemas.microsoft.com/office/drawing/2014/main" id="{E268194A-4251-58E0-17CF-7ED2E36299EB}"/>
              </a:ext>
            </a:extLst>
          </p:cNvPr>
          <p:cNvPicPr>
            <a:picLocks noChangeAspect="1"/>
          </p:cNvPicPr>
          <p:nvPr/>
        </p:nvPicPr>
        <p:blipFill>
          <a:blip r:embed="rId4"/>
          <a:srcRect l="3360" t="47448" r="-3360" b="2552"/>
          <a:stretch>
            <a:fillRect/>
          </a:stretch>
        </p:blipFill>
        <p:spPr>
          <a:xfrm>
            <a:off x="6342921" y="4285595"/>
            <a:ext cx="4535358" cy="1757554"/>
          </a:xfrm>
          <a:prstGeom prst="rect">
            <a:avLst/>
          </a:prstGeom>
        </p:spPr>
      </p:pic>
      <p:sp>
        <p:nvSpPr>
          <p:cNvPr id="9" name="TextBox 8">
            <a:extLst>
              <a:ext uri="{FF2B5EF4-FFF2-40B4-BE49-F238E27FC236}">
                <a16:creationId xmlns:a16="http://schemas.microsoft.com/office/drawing/2014/main" id="{BB843FAA-D681-989C-D7DB-7844E3AC3F6C}"/>
              </a:ext>
            </a:extLst>
          </p:cNvPr>
          <p:cNvSpPr txBox="1"/>
          <p:nvPr/>
        </p:nvSpPr>
        <p:spPr>
          <a:xfrm>
            <a:off x="5419493" y="6059206"/>
            <a:ext cx="3878113" cy="369332"/>
          </a:xfrm>
          <a:prstGeom prst="rect">
            <a:avLst/>
          </a:prstGeom>
          <a:noFill/>
        </p:spPr>
        <p:txBody>
          <a:bodyPr wrap="none" rtlCol="0">
            <a:spAutoFit/>
          </a:bodyPr>
          <a:lstStyle/>
          <a:p>
            <a:r>
              <a:rPr lang="ru-RU" dirty="0"/>
              <a:t>Н</a:t>
            </a:r>
            <a:r>
              <a:rPr lang="en-US" dirty="0" err="1"/>
              <a:t>а</a:t>
            </a:r>
            <a:r>
              <a:rPr lang="ru-RU" dirty="0"/>
              <a:t> ЧАКФ видны сезонные колебания </a:t>
            </a:r>
          </a:p>
        </p:txBody>
      </p:sp>
    </p:spTree>
    <p:extLst>
      <p:ext uri="{BB962C8B-B14F-4D97-AF65-F5344CB8AC3E}">
        <p14:creationId xmlns:p14="http://schemas.microsoft.com/office/powerpoint/2010/main" val="4076568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AFBC2-18F6-B6F1-089D-7DA695D3CD0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78F64A-909A-8502-663F-7CEF3685020F}"/>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p:sp>
        <p:nvSpPr>
          <p:cNvPr id="3" name="Объект 2">
            <a:extLst>
              <a:ext uri="{FF2B5EF4-FFF2-40B4-BE49-F238E27FC236}">
                <a16:creationId xmlns:a16="http://schemas.microsoft.com/office/drawing/2014/main" id="{EE89A096-BA9C-B641-5BB5-6DD59D4EC8DE}"/>
              </a:ext>
            </a:extLst>
          </p:cNvPr>
          <p:cNvSpPr>
            <a:spLocks noGrp="1"/>
          </p:cNvSpPr>
          <p:nvPr>
            <p:ph idx="1"/>
          </p:nvPr>
        </p:nvSpPr>
        <p:spPr>
          <a:xfrm>
            <a:off x="342900" y="1041402"/>
            <a:ext cx="11480800" cy="5135562"/>
          </a:xfrm>
        </p:spPr>
        <p:txBody>
          <a:bodyPr>
            <a:normAutofit/>
          </a:bodyPr>
          <a:lstStyle/>
          <a:p>
            <a:pPr marL="457200" lvl="1" indent="0">
              <a:buNone/>
            </a:pPr>
            <a:r>
              <a:rPr lang="ru-RU" b="1" dirty="0"/>
              <a:t>	пример: В индустрии: </a:t>
            </a:r>
            <a:r>
              <a:rPr lang="ru-RU" dirty="0"/>
              <a:t>отделение сигнала поломки оборудования по вибрации от регулярных вибраций</a:t>
            </a:r>
          </a:p>
          <a:p>
            <a:pPr marL="457200" lvl="1" indent="0">
              <a:buNone/>
            </a:pPr>
            <a:r>
              <a:rPr lang="ru-RU" b="1" dirty="0"/>
              <a:t>в гидрологии </a:t>
            </a:r>
            <a:r>
              <a:rPr lang="en" dirty="0"/>
              <a:t>PACF </a:t>
            </a:r>
            <a:r>
              <a:rPr lang="ru-RU" dirty="0"/>
              <a:t>отделяет влияние непосредственных предшествующих наблюдений от сезонных эффектов</a:t>
            </a:r>
          </a:p>
          <a:p>
            <a:pPr marL="457200" lvl="1" indent="0">
              <a:buNone/>
            </a:pPr>
            <a:r>
              <a:rPr lang="ru-RU" b="1" dirty="0"/>
              <a:t>		в машинном обучении: </a:t>
            </a:r>
            <a:r>
              <a:rPr lang="ru-RU" dirty="0"/>
              <a:t>формирование признаков только из нужных лагов без избыточности</a:t>
            </a:r>
          </a:p>
        </p:txBody>
      </p:sp>
      <p:sp>
        <p:nvSpPr>
          <p:cNvPr id="4" name="Номер слайда 3">
            <a:extLst>
              <a:ext uri="{FF2B5EF4-FFF2-40B4-BE49-F238E27FC236}">
                <a16:creationId xmlns:a16="http://schemas.microsoft.com/office/drawing/2014/main" id="{A8DF9A2F-EC74-30BC-44D8-4BFE998E4847}"/>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2050" name="Picture 2" descr="https://sherbold.github.io/intro-to-data-science/images/09_Time-Series-Analysis_13_0.png"/>
          <p:cNvPicPr>
            <a:picLocks noChangeAspect="1" noChangeArrowheads="1"/>
          </p:cNvPicPr>
          <p:nvPr/>
        </p:nvPicPr>
        <p:blipFill rotWithShape="1">
          <a:blip r:embed="rId3">
            <a:extLst>
              <a:ext uri="{28A0092B-C50C-407E-A947-70E740481C1C}">
                <a14:useLocalDpi xmlns:a14="http://schemas.microsoft.com/office/drawing/2010/main" val="0"/>
              </a:ext>
            </a:extLst>
          </a:blip>
          <a:srcRect r="33021" b="50286"/>
          <a:stretch/>
        </p:blipFill>
        <p:spPr bwMode="auto">
          <a:xfrm>
            <a:off x="5692775" y="3585080"/>
            <a:ext cx="6359525" cy="23225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571500" y="4671086"/>
            <a:ext cx="86600"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5698"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7" name="Прямоугольник 6"/>
          <p:cNvSpPr/>
          <p:nvPr/>
        </p:nvSpPr>
        <p:spPr>
          <a:xfrm>
            <a:off x="658100" y="3786416"/>
            <a:ext cx="6096000" cy="2569934"/>
          </a:xfrm>
          <a:prstGeom prst="rect">
            <a:avLst/>
          </a:prstGeom>
        </p:spPr>
        <p:txBody>
          <a:bodyPr>
            <a:spAutoFit/>
          </a:bodyPr>
          <a:lstStyle/>
          <a:p>
            <a:pPr lvl="0" defTabSz="914400" eaLnBrk="0" fontAlgn="base" hangingPunct="0">
              <a:spcBef>
                <a:spcPct val="0"/>
              </a:spcBef>
              <a:spcAft>
                <a:spcPct val="0"/>
              </a:spcAft>
            </a:pPr>
            <a:endParaRPr lang="ru-RU" altLang="ru-RU" sz="2800" dirty="0">
              <a:latin typeface="Arial" panose="020B0604020202020204" pitchFamily="34" charset="0"/>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dirty="0" err="1">
                <a:solidFill>
                  <a:srgbClr val="000000"/>
                </a:solidFill>
                <a:latin typeface="-apple-system"/>
              </a:rPr>
              <a:t>How</a:t>
            </a:r>
            <a:r>
              <a:rPr lang="ru-RU" altLang="ru-RU" dirty="0">
                <a:solidFill>
                  <a:srgbClr val="000000"/>
                </a:solidFill>
                <a:latin typeface="-apple-system"/>
              </a:rPr>
              <a:t> </a:t>
            </a:r>
            <a:r>
              <a:rPr lang="ru-RU" altLang="ru-RU" dirty="0" err="1">
                <a:solidFill>
                  <a:srgbClr val="000000"/>
                </a:solidFill>
                <a:latin typeface="-apple-system"/>
              </a:rPr>
              <a:t>much</a:t>
            </a:r>
            <a:r>
              <a:rPr lang="ru-RU" altLang="ru-RU" dirty="0">
                <a:solidFill>
                  <a:srgbClr val="000000"/>
                </a:solidFill>
                <a:latin typeface="-apple-system"/>
              </a:rPr>
              <a:t> </a:t>
            </a:r>
            <a:r>
              <a:rPr lang="ru-RU" altLang="ru-RU" dirty="0" err="1">
                <a:solidFill>
                  <a:srgbClr val="000000"/>
                </a:solidFill>
                <a:latin typeface="-apple-system"/>
              </a:rPr>
              <a:t>of</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smtClean="0">
                <a:solidFill>
                  <a:srgbClr val="000000"/>
                </a:solidFill>
                <a:latin typeface="MathJax_Math-italic"/>
              </a:rPr>
              <a:t>x</a:t>
            </a:r>
            <a:r>
              <a:rPr lang="ru-RU" altLang="ru-RU" sz="1100" dirty="0" err="1" smtClean="0">
                <a:solidFill>
                  <a:srgbClr val="000000"/>
                </a:solidFill>
                <a:latin typeface="MathJax_Math-italic"/>
              </a:rPr>
              <a:t>t</a:t>
            </a:r>
            <a:r>
              <a:rPr lang="ru-RU" altLang="ru-RU" sz="1100" dirty="0" smtClean="0">
                <a:solidFill>
                  <a:srgbClr val="000000"/>
                </a:solidFill>
                <a:latin typeface="MathJax_Math-italic"/>
              </a:rPr>
              <a:t/>
            </a:r>
            <a:br>
              <a:rPr lang="ru-RU" altLang="ru-RU" sz="1100" dirty="0" smtClean="0">
                <a:solidFill>
                  <a:srgbClr val="000000"/>
                </a:solidFill>
                <a:latin typeface="MathJax_Math-italic"/>
              </a:rPr>
            </a:b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already</a:t>
            </a:r>
            <a:r>
              <a:rPr lang="ru-RU" altLang="ru-RU" dirty="0">
                <a:solidFill>
                  <a:srgbClr val="000000"/>
                </a:solidFill>
                <a:latin typeface="-apple-system"/>
              </a:rPr>
              <a:t> </a:t>
            </a:r>
            <a:r>
              <a:rPr lang="ru-RU" altLang="ru-RU" dirty="0" err="1">
                <a:solidFill>
                  <a:srgbClr val="000000"/>
                </a:solidFill>
                <a:latin typeface="-apple-system"/>
              </a:rPr>
              <a:t>explained</a:t>
            </a:r>
            <a:r>
              <a:rPr lang="ru-RU" altLang="ru-RU" dirty="0">
                <a:solidFill>
                  <a:srgbClr val="000000"/>
                </a:solidFill>
                <a:latin typeface="-apple-system"/>
              </a:rPr>
              <a:t> </a:t>
            </a:r>
            <a:r>
              <a:rPr lang="ru-RU" altLang="ru-RU" dirty="0" err="1">
                <a:solidFill>
                  <a:srgbClr val="000000"/>
                </a:solidFill>
                <a:latin typeface="-apple-system"/>
              </a:rPr>
              <a:t>by</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indirect</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dirty="0">
                <a:solidFill>
                  <a:srgbClr val="000000"/>
                </a:solidFill>
                <a:latin typeface="-apple-system"/>
              </a:rPr>
              <a:t> </a:t>
            </a:r>
            <a:r>
              <a:rPr lang="ru-RU" altLang="ru-RU" dirty="0" err="1">
                <a:solidFill>
                  <a:srgbClr val="000000"/>
                </a:solidFill>
                <a:latin typeface="-apple-system"/>
              </a:rPr>
              <a:t>though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a:t>
            </a:r>
          </a:p>
          <a:p>
            <a:pPr lvl="0" defTabSz="914400" eaLnBrk="0" fontAlgn="base" hangingPunct="0">
              <a:spcBef>
                <a:spcPct val="0"/>
              </a:spcBef>
              <a:spcAft>
                <a:spcPct val="0"/>
              </a:spcAft>
            </a:pPr>
            <a:r>
              <a:rPr lang="ru-RU" altLang="ru-RU" sz="700" dirty="0"/>
              <a:t/>
            </a:r>
            <a:br>
              <a:rPr lang="ru-RU" altLang="ru-RU" sz="700" dirty="0"/>
            </a:br>
            <a:endParaRPr lang="ru-RU" altLang="ru-RU" sz="2800" dirty="0">
              <a:latin typeface="Arial" panose="020B0604020202020204" pitchFamily="34" charset="0"/>
            </a:endParaRPr>
          </a:p>
        </p:txBody>
      </p:sp>
      <p:sp>
        <p:nvSpPr>
          <p:cNvPr id="8" name="Прямоугольник 7"/>
          <p:cNvSpPr/>
          <p:nvPr/>
        </p:nvSpPr>
        <p:spPr>
          <a:xfrm>
            <a:off x="3035300" y="5944391"/>
            <a:ext cx="6096000" cy="4247317"/>
          </a:xfrm>
          <a:prstGeom prst="rect">
            <a:avLst/>
          </a:prstGeom>
        </p:spPr>
        <p:txBody>
          <a:bodyPr>
            <a:spAutoFit/>
          </a:bodyPr>
          <a:lstStyle/>
          <a:p>
            <a:r>
              <a:rPr lang="en-US" smtClean="0">
                <a:solidFill>
                  <a:srgbClr val="000000"/>
                </a:solidFill>
                <a:latin typeface="-apple-system"/>
              </a:rPr>
              <a:t>he issue is that there is </a:t>
            </a:r>
            <a:r>
              <a:rPr lang="en-US" i="1" smtClean="0">
                <a:solidFill>
                  <a:srgbClr val="000000"/>
                </a:solidFill>
                <a:latin typeface="-apple-system"/>
              </a:rPr>
              <a:t>carry over</a:t>
            </a:r>
            <a:r>
              <a:rPr lang="en-US" smtClean="0">
                <a:solidFill>
                  <a:srgbClr val="000000"/>
                </a:solidFill>
                <a:latin typeface="-apple-system"/>
              </a:rPr>
              <a:t> between the different points in the time series. While this is hard to parse with the mathematical notation, the meaning of this gets clearer with an example. If the number of passengers in March are correlated with the value in February, and the value in February is correlated with the value in January, then the value of January has an indirect impact on March, because it has an impact on February. Thus, some of the correlation between January and February carries over to March.</a:t>
            </a:r>
          </a:p>
          <a:p>
            <a:r>
              <a:rPr lang="en-US" smtClean="0">
                <a:solidFill>
                  <a:srgbClr val="000000"/>
                </a:solidFill>
                <a:latin typeface="-apple-system"/>
              </a:rPr>
              <a:t>However, there may also be </a:t>
            </a:r>
            <a:r>
              <a:rPr lang="en-US" i="1" smtClean="0">
                <a:solidFill>
                  <a:srgbClr val="000000"/>
                </a:solidFill>
                <a:latin typeface="-apple-system"/>
              </a:rPr>
              <a:t>direct</a:t>
            </a:r>
            <a:r>
              <a:rPr lang="en-US" smtClean="0">
                <a:solidFill>
                  <a:srgbClr val="000000"/>
                </a:solidFill>
                <a:latin typeface="-apple-system"/>
              </a:rPr>
              <a:t> correlation between January and March. This direct correlation is called </a:t>
            </a:r>
            <a:r>
              <a:rPr lang="en-US" i="1" smtClean="0">
                <a:solidFill>
                  <a:srgbClr val="000000"/>
                </a:solidFill>
                <a:latin typeface="-apple-system"/>
              </a:rPr>
              <a:t>partial autocorrelation</a:t>
            </a:r>
            <a:r>
              <a:rPr lang="en-US" smtClean="0">
                <a:solidFill>
                  <a:srgbClr val="000000"/>
                </a:solidFill>
                <a:latin typeface="-apple-system"/>
              </a:rPr>
              <a:t>. The partial autocorrelation is the autocorrelation without the carryover, i.e., only the direct correlation.</a:t>
            </a:r>
            <a:endParaRPr lang="en-US" b="0" i="0" dirty="0">
              <a:solidFill>
                <a:srgbClr val="000000"/>
              </a:solidFill>
              <a:effectLst/>
              <a:latin typeface="-apple-system"/>
            </a:endParaRPr>
          </a:p>
        </p:txBody>
      </p:sp>
      <p:sp>
        <p:nvSpPr>
          <p:cNvPr id="9" name="Прямоугольник 8"/>
          <p:cNvSpPr/>
          <p:nvPr/>
        </p:nvSpPr>
        <p:spPr>
          <a:xfrm>
            <a:off x="9090900" y="5923449"/>
            <a:ext cx="6096000" cy="646331"/>
          </a:xfrm>
          <a:prstGeom prst="rect">
            <a:avLst/>
          </a:prstGeom>
        </p:spPr>
        <p:txBody>
          <a:bodyPr>
            <a:spAutoFit/>
          </a:bodyPr>
          <a:lstStyle/>
          <a:p>
            <a:r>
              <a:rPr lang="ru-RU" dirty="0"/>
              <a:t>https://sherbold.github.io/intro-to-data-science/09_Time-Series-Analysis.html</a:t>
            </a:r>
          </a:p>
        </p:txBody>
      </p:sp>
    </p:spTree>
    <p:extLst>
      <p:ext uri="{BB962C8B-B14F-4D97-AF65-F5344CB8AC3E}">
        <p14:creationId xmlns:p14="http://schemas.microsoft.com/office/powerpoint/2010/main" val="23554033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13</a:t>
            </a:fld>
            <a:endParaRPr lang="en-US"/>
          </a:p>
        </p:txBody>
      </p:sp>
      <p:pic>
        <p:nvPicPr>
          <p:cNvPr id="1026" name="Picture 2" descr="https://sherbold.github.io/intro-to-data-science/images/09_Time-Series-Analysis_1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440" y="2416738"/>
            <a:ext cx="8581499" cy="422238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77779" y="6356350"/>
            <a:ext cx="6096000" cy="307777"/>
          </a:xfrm>
          <a:prstGeom prst="rect">
            <a:avLst/>
          </a:prstGeom>
        </p:spPr>
        <p:txBody>
          <a:bodyPr>
            <a:spAutoFit/>
          </a:bodyPr>
          <a:lstStyle/>
          <a:p>
            <a:r>
              <a:rPr lang="ru-RU" sz="1400" dirty="0"/>
              <a:t>https://sherbold.github.io/intro-to-data-science/09_Time-Series-Analysis.html</a:t>
            </a:r>
          </a:p>
        </p:txBody>
      </p:sp>
      <p:pic>
        <p:nvPicPr>
          <p:cNvPr id="102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b="51489"/>
          <a:stretch/>
        </p:blipFill>
        <p:spPr bwMode="auto">
          <a:xfrm>
            <a:off x="923925" y="503403"/>
            <a:ext cx="5708413" cy="18486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t="-250" b="51739"/>
          <a:stretch/>
        </p:blipFill>
        <p:spPr bwMode="auto">
          <a:xfrm>
            <a:off x="6483587" y="535749"/>
            <a:ext cx="5708413" cy="184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59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47D957-91ED-4DFD-BF38-CD0297336D2C}"/>
              </a:ext>
            </a:extLst>
          </p:cNvPr>
          <p:cNvSpPr>
            <a:spLocks noGrp="1"/>
          </p:cNvSpPr>
          <p:nvPr>
            <p:ph type="title"/>
          </p:nvPr>
        </p:nvSpPr>
        <p:spPr>
          <a:xfrm>
            <a:off x="838200" y="224120"/>
            <a:ext cx="10515600" cy="782357"/>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E4718F5E-C23C-4099-A406-E529666DEA6A}"/>
              </a:ext>
            </a:extLst>
          </p:cNvPr>
          <p:cNvSpPr>
            <a:spLocks noGrp="1"/>
          </p:cNvSpPr>
          <p:nvPr>
            <p:ph idx="1"/>
          </p:nvPr>
        </p:nvSpPr>
        <p:spPr>
          <a:xfrm>
            <a:off x="374072" y="1006477"/>
            <a:ext cx="11222182" cy="5817455"/>
          </a:xfrm>
        </p:spPr>
        <p:txBody>
          <a:bodyPr>
            <a:normAutofit/>
          </a:bodyPr>
          <a:lstStyle/>
          <a:p>
            <a:pPr marL="0" indent="0">
              <a:buNone/>
            </a:pPr>
            <a:r>
              <a:rPr lang="ru-RU" sz="2400" b="1" dirty="0"/>
              <a:t>Нестационарный ряд </a:t>
            </a:r>
            <a:r>
              <a:rPr lang="ru-RU" sz="2400" dirty="0"/>
              <a:t>- временной ряд считается нестационарным, если некоторые из его статистических свойств меняются с течением времени. </a:t>
            </a:r>
          </a:p>
          <a:p>
            <a:pPr marL="0" indent="0">
              <a:buNone/>
            </a:pPr>
            <a:r>
              <a:rPr lang="ru-RU" sz="2400" dirty="0"/>
              <a:t>Другими словами, ВР имеет переменную среднего времени, дисперсию или другие статистические характеристики.</a:t>
            </a:r>
            <a:endParaRPr lang="en-US" sz="3200" dirty="0"/>
          </a:p>
        </p:txBody>
      </p:sp>
      <p:sp>
        <p:nvSpPr>
          <p:cNvPr id="6" name="Номер слайда 5">
            <a:extLst>
              <a:ext uri="{FF2B5EF4-FFF2-40B4-BE49-F238E27FC236}">
                <a16:creationId xmlns:a16="http://schemas.microsoft.com/office/drawing/2014/main" id="{3AE4B016-46C5-1BFB-262D-5EBB825C0AD9}"/>
              </a:ext>
            </a:extLst>
          </p:cNvPr>
          <p:cNvSpPr>
            <a:spLocks noGrp="1"/>
          </p:cNvSpPr>
          <p:nvPr>
            <p:ph type="sldNum" sz="quarter" idx="12"/>
          </p:nvPr>
        </p:nvSpPr>
        <p:spPr/>
        <p:txBody>
          <a:bodyPr/>
          <a:lstStyle/>
          <a:p>
            <a:fld id="{45C3B737-A709-4ABC-AFE0-A6B067850C48}" type="slidenum">
              <a:rPr lang="en-US" smtClean="0"/>
              <a:t>14</a:t>
            </a:fld>
            <a:endParaRPr lang="en-US"/>
          </a:p>
        </p:txBody>
      </p:sp>
      <p:pic>
        <p:nvPicPr>
          <p:cNvPr id="7170" name="Picture 2" descr="image.png">
            <a:extLst>
              <a:ext uri="{FF2B5EF4-FFF2-40B4-BE49-F238E27FC236}">
                <a16:creationId xmlns:a16="http://schemas.microsoft.com/office/drawing/2014/main" id="{0FBAF8A5-46C7-4F6E-B148-B2008975F9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35"/>
          <a:stretch/>
        </p:blipFill>
        <p:spPr bwMode="auto">
          <a:xfrm>
            <a:off x="2366105" y="2938311"/>
            <a:ext cx="6992302" cy="3132055"/>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Stationarity in time series analysis | by Shay Palachy | Towards Data  Science"/>
          <p:cNvSpPr>
            <a:spLocks noChangeAspect="1" noChangeArrowheads="1"/>
          </p:cNvSpPr>
          <p:nvPr/>
        </p:nvSpPr>
        <p:spPr bwMode="auto">
          <a:xfrm>
            <a:off x="-136842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sz="1351"/>
          </a:p>
        </p:txBody>
      </p:sp>
    </p:spTree>
    <p:extLst>
      <p:ext uri="{BB962C8B-B14F-4D97-AF65-F5344CB8AC3E}">
        <p14:creationId xmlns:p14="http://schemas.microsoft.com/office/powerpoint/2010/main" val="16441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0CA84-E3AD-B7BB-82C3-9F98F663EC4C}"/>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a:t>
            </a:r>
          </a:p>
        </p:txBody>
      </p:sp>
      <p:sp>
        <p:nvSpPr>
          <p:cNvPr id="3" name="Объект 2">
            <a:extLst>
              <a:ext uri="{FF2B5EF4-FFF2-40B4-BE49-F238E27FC236}">
                <a16:creationId xmlns:a16="http://schemas.microsoft.com/office/drawing/2014/main" id="{6A8EA5FD-8A38-5591-1AF1-A2953088A252}"/>
              </a:ext>
            </a:extLst>
          </p:cNvPr>
          <p:cNvSpPr>
            <a:spLocks noGrp="1"/>
          </p:cNvSpPr>
          <p:nvPr>
            <p:ph idx="1"/>
          </p:nvPr>
        </p:nvSpPr>
        <p:spPr>
          <a:xfrm>
            <a:off x="407624" y="946446"/>
            <a:ext cx="11673540" cy="4965108"/>
          </a:xfrm>
        </p:spPr>
        <p:txBody>
          <a:bodyPr>
            <a:normAutofit/>
          </a:bodyPr>
          <a:lstStyle/>
          <a:p>
            <a:r>
              <a:rPr lang="ru-RU" sz="2200" b="1" dirty="0"/>
              <a:t>В узком смысле, </a:t>
            </a:r>
            <a:r>
              <a:rPr lang="ru-RU" sz="2200" dirty="0"/>
              <a:t>при сдвиге в любой момент времени ВР на одном и </a:t>
            </a:r>
            <a:r>
              <a:rPr lang="ru-RU" sz="2200" dirty="0" err="1"/>
              <a:t>томже</a:t>
            </a:r>
            <a:r>
              <a:rPr lang="ru-RU" sz="2200" dirty="0"/>
              <a:t> размер. Выборки имеет одно и тоже распределение </a:t>
            </a:r>
          </a:p>
          <a:p>
            <a:pPr lvl="1"/>
            <a:r>
              <a:rPr lang="ru-RU" sz="2200" dirty="0"/>
              <a:t>если для любых  </a:t>
            </a:r>
            <a:r>
              <a:rPr lang="en" sz="2200" dirty="0"/>
              <a:t>t</a:t>
            </a:r>
            <a:r>
              <a:rPr lang="en" sz="2200" baseline="-25000" dirty="0"/>
              <a:t>1</a:t>
            </a:r>
            <a:r>
              <a:rPr lang="en" sz="2200" dirty="0"/>
              <a:t>,...,</a:t>
            </a:r>
            <a:r>
              <a:rPr lang="en" sz="2200" dirty="0" err="1"/>
              <a:t>t</a:t>
            </a:r>
            <a:r>
              <a:rPr lang="en" sz="2200" baseline="-25000" dirty="0" err="1"/>
              <a:t>n</a:t>
            </a:r>
            <a:r>
              <a:rPr lang="en" sz="2200" dirty="0"/>
              <a:t>,</a:t>
            </a:r>
            <a:r>
              <a:rPr lang="ru-RU" sz="2200" dirty="0"/>
              <a:t> и </a:t>
            </a:r>
            <a:r>
              <a:rPr lang="el-GR" sz="2200" dirty="0"/>
              <a:t>τ </a:t>
            </a:r>
            <a:r>
              <a:rPr lang="ru-RU" sz="2200" dirty="0"/>
              <a:t>вектор (</a:t>
            </a:r>
            <a:r>
              <a:rPr lang="en" sz="2200" dirty="0"/>
              <a:t>y</a:t>
            </a:r>
            <a:r>
              <a:rPr lang="en" sz="2200" baseline="-25000" dirty="0"/>
              <a:t>t1+</a:t>
            </a:r>
            <a:r>
              <a:rPr lang="el-GR" sz="2200" baseline="-25000" dirty="0"/>
              <a:t>τ</a:t>
            </a:r>
            <a:r>
              <a:rPr lang="el-GR" sz="2200" dirty="0"/>
              <a:t>,...,</a:t>
            </a:r>
            <a:r>
              <a:rPr lang="en" sz="2200" dirty="0" err="1"/>
              <a:t>y</a:t>
            </a:r>
            <a:r>
              <a:rPr lang="en" sz="2200" baseline="-25000" dirty="0" err="1"/>
              <a:t>tn</a:t>
            </a:r>
            <a:r>
              <a:rPr lang="en" sz="2200" baseline="-25000" dirty="0"/>
              <a:t>+</a:t>
            </a:r>
            <a:r>
              <a:rPr lang="el-GR" sz="2200" baseline="-25000" dirty="0"/>
              <a:t>τ</a:t>
            </a:r>
            <a:r>
              <a:rPr lang="el-GR" sz="2200" dirty="0"/>
              <a:t>)</a:t>
            </a:r>
            <a:r>
              <a:rPr lang="ru-RU" sz="2200" dirty="0"/>
              <a:t> совпадает по распределению с (</a:t>
            </a:r>
            <a:r>
              <a:rPr lang="en" sz="2200" dirty="0"/>
              <a:t>y</a:t>
            </a:r>
            <a:r>
              <a:rPr lang="en" sz="2200" baseline="-25000" dirty="0"/>
              <a:t>t1</a:t>
            </a:r>
            <a:r>
              <a:rPr lang="en" sz="2200" dirty="0"/>
              <a:t>,...,</a:t>
            </a:r>
            <a:r>
              <a:rPr lang="en" sz="2200" dirty="0" err="1"/>
              <a:t>y</a:t>
            </a:r>
            <a:r>
              <a:rPr lang="en" sz="2200" baseline="-25000" dirty="0" err="1"/>
              <a:t>tn</a:t>
            </a:r>
            <a:r>
              <a:rPr lang="ru-RU" sz="2200" dirty="0"/>
              <a:t>)</a:t>
            </a:r>
          </a:p>
          <a:p>
            <a:r>
              <a:rPr lang="ru-RU" sz="2200" b="1" dirty="0"/>
              <a:t>В широком смысле: </a:t>
            </a:r>
            <a:r>
              <a:rPr lang="ru-RU" sz="2200" dirty="0"/>
              <a:t>если статистические свойства ВР не меняются с течением времени. </a:t>
            </a:r>
            <a:endParaRPr lang="en-US" sz="2200" dirty="0"/>
          </a:p>
          <a:p>
            <a:r>
              <a:rPr lang="ru-RU" sz="2200" dirty="0"/>
              <a:t>Другими словами, </a:t>
            </a:r>
            <a:r>
              <a:rPr lang="en-US" sz="2200" dirty="0" err="1"/>
              <a:t>ряд</a:t>
            </a:r>
            <a:r>
              <a:rPr lang="ru-RU" sz="2200" dirty="0"/>
              <a:t> имеет постоянное среднее значение и дисперсию, а ковариация зависит только от разницы индексов лагов. </a:t>
            </a:r>
          </a:p>
          <a:p>
            <a:pPr lvl="1"/>
            <a:r>
              <a:rPr lang="ru-RU" sz="2200" dirty="0"/>
              <a:t>указанные статистические характеристики не должны быть бесконечными.</a:t>
            </a:r>
          </a:p>
          <a:p>
            <a:pPr lvl="1"/>
            <a:r>
              <a:rPr lang="en" sz="1800" dirty="0"/>
              <a:t>E</a:t>
            </a:r>
            <a:r>
              <a:rPr lang="en" sz="1800" i="1" dirty="0"/>
              <a:t>y</a:t>
            </a:r>
            <a:r>
              <a:rPr lang="en" sz="1800" i="1" baseline="-25000" dirty="0"/>
              <a:t>t</a:t>
            </a:r>
            <a:r>
              <a:rPr lang="en" sz="1800" baseline="30000" dirty="0"/>
              <a:t>2</a:t>
            </a:r>
            <a:r>
              <a:rPr lang="en" sz="1800" dirty="0"/>
              <a:t>​&lt;+∞ </a:t>
            </a:r>
            <a:r>
              <a:rPr lang="ru-RU" sz="1800" dirty="0"/>
              <a:t>для любого </a:t>
            </a:r>
            <a:r>
              <a:rPr lang="en" sz="1800" i="1" dirty="0"/>
              <a:t>t</a:t>
            </a:r>
            <a:r>
              <a:rPr lang="en" sz="1800" dirty="0"/>
              <a:t>.</a:t>
            </a:r>
            <a:r>
              <a:rPr lang="ru-RU" sz="1800" dirty="0"/>
              <a:t> </a:t>
            </a:r>
            <a:r>
              <a:rPr lang="en" sz="1800" dirty="0" err="1"/>
              <a:t>E</a:t>
            </a:r>
            <a:r>
              <a:rPr lang="en" sz="1800" i="1" dirty="0" err="1"/>
              <a:t>y</a:t>
            </a:r>
            <a:r>
              <a:rPr lang="en" sz="1800" i="1" baseline="-25000" dirty="0" err="1"/>
              <a:t>t</a:t>
            </a:r>
            <a:r>
              <a:rPr lang="ru-RU" sz="1800" i="1" baseline="30000" dirty="0"/>
              <a:t> </a:t>
            </a:r>
            <a:r>
              <a:rPr lang="ru-RU" sz="1800" dirty="0"/>
              <a:t>не зависит от </a:t>
            </a:r>
            <a:r>
              <a:rPr lang="en" sz="1800" i="1" dirty="0"/>
              <a:t>t</a:t>
            </a:r>
            <a:r>
              <a:rPr lang="en" sz="1800" dirty="0"/>
              <a:t>, </a:t>
            </a:r>
            <a:r>
              <a:rPr lang="ru-RU" sz="1800" dirty="0"/>
              <a:t>то есть в среднем значение временного ряда постоянно. </a:t>
            </a:r>
            <a:r>
              <a:rPr lang="en" sz="1800" dirty="0"/>
              <a:t>C</a:t>
            </a:r>
            <a:r>
              <a:rPr lang="ru-RU" sz="1800" dirty="0" err="1"/>
              <a:t>ov</a:t>
            </a:r>
            <a:r>
              <a:rPr lang="en-US" sz="1800" dirty="0"/>
              <a:t>(t)=</a:t>
            </a:r>
            <a:r>
              <a:rPr lang="en-US" sz="1800" dirty="0" err="1"/>
              <a:t>Cov</a:t>
            </a:r>
            <a:r>
              <a:rPr lang="en-US" sz="1800" dirty="0"/>
              <a:t>(</a:t>
            </a:r>
            <a:r>
              <a:rPr lang="en-US" sz="1800" dirty="0" err="1"/>
              <a:t>t+tau</a:t>
            </a:r>
            <a:r>
              <a:rPr lang="en-US" sz="1800" dirty="0"/>
              <a:t>)</a:t>
            </a:r>
            <a:r>
              <a:rPr lang="ru-RU" sz="1800" dirty="0"/>
              <a:t> , то есть значение автокорреляции зависит только от длины отрезка времени между двумя значениями</a:t>
            </a:r>
            <a:endParaRPr lang="en-US" sz="1800" dirty="0"/>
          </a:p>
        </p:txBody>
      </p:sp>
      <p:sp>
        <p:nvSpPr>
          <p:cNvPr id="4" name="Номер слайда 3">
            <a:extLst>
              <a:ext uri="{FF2B5EF4-FFF2-40B4-BE49-F238E27FC236}">
                <a16:creationId xmlns:a16="http://schemas.microsoft.com/office/drawing/2014/main" id="{6829CDCF-CA89-B716-5BCC-F64969F31A35}"/>
              </a:ext>
            </a:extLst>
          </p:cNvPr>
          <p:cNvSpPr>
            <a:spLocks noGrp="1"/>
          </p:cNvSpPr>
          <p:nvPr>
            <p:ph type="sldNum" sz="quarter" idx="12"/>
          </p:nvPr>
        </p:nvSpPr>
        <p:spPr/>
        <p:txBody>
          <a:bodyPr/>
          <a:lstStyle/>
          <a:p>
            <a:fld id="{45C3B737-A709-4ABC-AFE0-A6B067850C48}" type="slidenum">
              <a:rPr lang="en-US" smtClean="0"/>
              <a:t>15</a:t>
            </a:fld>
            <a:endParaRPr lang="en-US"/>
          </a:p>
        </p:txBody>
      </p:sp>
      <p:pic>
        <p:nvPicPr>
          <p:cNvPr id="5" name="Picture 2" descr="image.png">
            <a:extLst>
              <a:ext uri="{FF2B5EF4-FFF2-40B4-BE49-F238E27FC236}">
                <a16:creationId xmlns:a16="http://schemas.microsoft.com/office/drawing/2014/main" id="{348A59E2-301A-DD23-5BAD-1E073DDA6E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5" b="56037"/>
          <a:stretch>
            <a:fillRect/>
          </a:stretch>
        </p:blipFill>
        <p:spPr bwMode="auto">
          <a:xfrm>
            <a:off x="4655127" y="4134452"/>
            <a:ext cx="6975222" cy="2477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20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a:t>
            </a:r>
            <a:r>
              <a:rPr lang="ru-RU" b="1" dirty="0" err="1"/>
              <a:t>нестационарности</a:t>
            </a:r>
            <a:endParaRPr lang="en-US" b="1"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66254" y="1060024"/>
            <a:ext cx="11952107" cy="460375"/>
          </a:xfrm>
        </p:spPr>
        <p:txBody>
          <a:bodyPr>
            <a:normAutofit fontScale="85000" lnSpcReduction="10000"/>
          </a:bodyPr>
          <a:lstStyle/>
          <a:p>
            <a:pPr marL="0" indent="0">
              <a:buNone/>
            </a:pPr>
            <a:r>
              <a:rPr lang="ru-RU" sz="2000" dirty="0"/>
              <a:t>Если ВР имеет тренд, выраженную сезонность или переменную дисперсию (</a:t>
            </a:r>
            <a:r>
              <a:rPr lang="ru-RU" sz="2000" dirty="0" err="1"/>
              <a:t>гетеросекдостичность</a:t>
            </a:r>
            <a:r>
              <a:rPr lang="ru-RU" sz="2000" dirty="0"/>
              <a:t>), то ВР </a:t>
            </a:r>
            <a:r>
              <a:rPr lang="ru-RU" sz="2000" dirty="0" err="1"/>
              <a:t>нестационарен</a:t>
            </a:r>
            <a:endParaRPr lang="en-US" sz="2000" dirty="0"/>
          </a:p>
        </p:txBody>
      </p:sp>
      <p:sp>
        <p:nvSpPr>
          <p:cNvPr id="4" name="Номер слайда 3">
            <a:extLst>
              <a:ext uri="{FF2B5EF4-FFF2-40B4-BE49-F238E27FC236}">
                <a16:creationId xmlns:a16="http://schemas.microsoft.com/office/drawing/2014/main" id="{05DF02A9-1A1F-AE07-E202-839063BE959D}"/>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10242" name="Picture 2" descr="image.png">
            <a:extLst>
              <a:ext uri="{FF2B5EF4-FFF2-40B4-BE49-F238E27FC236}">
                <a16:creationId xmlns:a16="http://schemas.microsoft.com/office/drawing/2014/main" id="{DD8C898C-2BC4-4CDA-A79D-0C28B3CBB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930" y="1427559"/>
            <a:ext cx="7632415" cy="50216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20B24B-03C1-7306-AE22-AAC0C9E9B8D4}"/>
              </a:ext>
            </a:extLst>
          </p:cNvPr>
          <p:cNvSpPr txBox="1"/>
          <p:nvPr/>
        </p:nvSpPr>
        <p:spPr>
          <a:xfrm>
            <a:off x="1607127" y="6356350"/>
            <a:ext cx="8742218"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spTree>
    <p:extLst>
      <p:ext uri="{BB962C8B-B14F-4D97-AF65-F5344CB8AC3E}">
        <p14:creationId xmlns:p14="http://schemas.microsoft.com/office/powerpoint/2010/main" val="1910938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7A29-C3A0-7522-0DAC-32BF46F931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2E7AB-E7E7-215B-AFB5-C6656CE07A0D}"/>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 Замечания</a:t>
            </a:r>
          </a:p>
        </p:txBody>
      </p:sp>
      <p:sp>
        <p:nvSpPr>
          <p:cNvPr id="3" name="Объект 2">
            <a:extLst>
              <a:ext uri="{FF2B5EF4-FFF2-40B4-BE49-F238E27FC236}">
                <a16:creationId xmlns:a16="http://schemas.microsoft.com/office/drawing/2014/main" id="{4584A7FB-FF48-C141-958F-6FB372C030D0}"/>
              </a:ext>
            </a:extLst>
          </p:cNvPr>
          <p:cNvSpPr>
            <a:spLocks noGrp="1"/>
          </p:cNvSpPr>
          <p:nvPr>
            <p:ph idx="1"/>
          </p:nvPr>
        </p:nvSpPr>
        <p:spPr>
          <a:xfrm>
            <a:off x="263236" y="868764"/>
            <a:ext cx="11665527" cy="4965108"/>
          </a:xfrm>
        </p:spPr>
        <p:txBody>
          <a:bodyPr>
            <a:normAutofit/>
          </a:bodyPr>
          <a:lstStyle/>
          <a:p>
            <a:r>
              <a:rPr lang="en-US" sz="2200" dirty="0" err="1"/>
              <a:t>Если</a:t>
            </a:r>
            <a:r>
              <a:rPr lang="ru-RU" sz="2200" dirty="0"/>
              <a:t> ряд регулярный он может не быть </a:t>
            </a:r>
            <a:r>
              <a:rPr lang="ru-RU" sz="2200" dirty="0" err="1"/>
              <a:t>стационарым</a:t>
            </a:r>
            <a:r>
              <a:rPr lang="ru-RU" sz="2200" dirty="0"/>
              <a:t> (но не наоборот)</a:t>
            </a:r>
          </a:p>
          <a:p>
            <a:r>
              <a:rPr lang="ru-RU" sz="2200" dirty="0"/>
              <a:t>Временной ряд в ряде случаев сводится к стационарному простыми преобразованиями</a:t>
            </a:r>
          </a:p>
          <a:p>
            <a:r>
              <a:rPr lang="ru-RU" sz="2200" dirty="0"/>
              <a:t>Не все методы предсказания ВР требуют сведения ВР к стационарному, но основные требуют </a:t>
            </a:r>
          </a:p>
          <a:p>
            <a:endParaRPr lang="ru-RU" sz="2200" dirty="0"/>
          </a:p>
        </p:txBody>
      </p:sp>
      <p:sp>
        <p:nvSpPr>
          <p:cNvPr id="4" name="Номер слайда 3">
            <a:extLst>
              <a:ext uri="{FF2B5EF4-FFF2-40B4-BE49-F238E27FC236}">
                <a16:creationId xmlns:a16="http://schemas.microsoft.com/office/drawing/2014/main" id="{1F4CC8B1-1A3E-A562-1797-A6262E4AEB39}"/>
              </a:ext>
            </a:extLst>
          </p:cNvPr>
          <p:cNvSpPr>
            <a:spLocks noGrp="1"/>
          </p:cNvSpPr>
          <p:nvPr>
            <p:ph type="sldNum" sz="quarter" idx="12"/>
          </p:nvPr>
        </p:nvSpPr>
        <p:spPr/>
        <p:txBody>
          <a:bodyPr/>
          <a:lstStyle/>
          <a:p>
            <a:fld id="{45C3B737-A709-4ABC-AFE0-A6B067850C48}" type="slidenum">
              <a:rPr lang="en-US" smtClean="0"/>
              <a:t>17</a:t>
            </a:fld>
            <a:endParaRPr lang="en-US"/>
          </a:p>
        </p:txBody>
      </p:sp>
      <p:pic>
        <p:nvPicPr>
          <p:cNvPr id="3074" name="Picture 2" descr="stationary">
            <a:extLst>
              <a:ext uri="{FF2B5EF4-FFF2-40B4-BE49-F238E27FC236}">
                <a16:creationId xmlns:a16="http://schemas.microsoft.com/office/drawing/2014/main" id="{CC32CBF0-6BD1-B7CD-8361-92A51F4C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042" y="2105075"/>
            <a:ext cx="6227116" cy="44715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F1B7D9-7F27-C0BA-1A6B-FDC96CEC9608}"/>
              </a:ext>
            </a:extLst>
          </p:cNvPr>
          <p:cNvSpPr txBox="1"/>
          <p:nvPr/>
        </p:nvSpPr>
        <p:spPr>
          <a:xfrm>
            <a:off x="410813" y="3013364"/>
            <a:ext cx="5569526" cy="2655022"/>
          </a:xfrm>
          <a:prstGeom prst="rect">
            <a:avLst/>
          </a:prstGeom>
          <a:noFill/>
        </p:spPr>
        <p:txBody>
          <a:bodyPr wrap="square">
            <a:spAutoFit/>
          </a:bodyPr>
          <a:lstStyle/>
          <a:p>
            <a:pPr algn="l">
              <a:lnSpc>
                <a:spcPts val="1755"/>
              </a:lnSpc>
              <a:spcBef>
                <a:spcPts val="1800"/>
              </a:spcBef>
              <a:spcAft>
                <a:spcPts val="600"/>
              </a:spcAft>
            </a:pPr>
            <a:r>
              <a:rPr lang="ru-RU" sz="2400" b="0" i="0" dirty="0">
                <a:solidFill>
                  <a:srgbClr val="323232"/>
                </a:solidFill>
                <a:effectLst/>
              </a:rPr>
              <a:t>Примеры</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а, </a:t>
            </a:r>
            <a:r>
              <a:rPr lang="en" sz="2400" b="0" i="0" dirty="0">
                <a:solidFill>
                  <a:srgbClr val="323232"/>
                </a:solidFill>
                <a:effectLst/>
              </a:rPr>
              <a:t>c, d, e, f,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поскольку они имеют тренд;</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 </a:t>
            </a:r>
            <a:r>
              <a:rPr lang="en" sz="2400" b="0" i="0" dirty="0">
                <a:solidFill>
                  <a:srgbClr val="323232"/>
                </a:solidFill>
                <a:effectLst/>
              </a:rPr>
              <a:t>b </a:t>
            </a:r>
            <a:r>
              <a:rPr lang="ru-RU" sz="2400" b="0" i="0" dirty="0">
                <a:solidFill>
                  <a:srgbClr val="323232"/>
                </a:solidFill>
                <a:effectLst/>
              </a:rPr>
              <a:t>скорее всего стационарный, имеется выброс;</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a:t>
            </a:r>
            <a:r>
              <a:rPr lang="en" sz="2400" b="0" i="0" dirty="0">
                <a:solidFill>
                  <a:srgbClr val="323232"/>
                </a:solidFill>
                <a:effectLst/>
              </a:rPr>
              <a:t>d, g, h,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потому что имеют сезонность.</a:t>
            </a:r>
          </a:p>
        </p:txBody>
      </p:sp>
      <p:sp>
        <p:nvSpPr>
          <p:cNvPr id="8" name="TextBox 7">
            <a:extLst>
              <a:ext uri="{FF2B5EF4-FFF2-40B4-BE49-F238E27FC236}">
                <a16:creationId xmlns:a16="http://schemas.microsoft.com/office/drawing/2014/main" id="{C3BFB870-F0D3-4BE0-3CEC-865570E80239}"/>
              </a:ext>
            </a:extLst>
          </p:cNvPr>
          <p:cNvSpPr txBox="1"/>
          <p:nvPr/>
        </p:nvSpPr>
        <p:spPr>
          <a:xfrm>
            <a:off x="263236" y="6492875"/>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analitika-vremennyh-ryadov</a:t>
            </a:r>
            <a:endParaRPr lang="ru-RU" sz="1400" dirty="0"/>
          </a:p>
        </p:txBody>
      </p:sp>
    </p:spTree>
    <p:extLst>
      <p:ext uri="{BB962C8B-B14F-4D97-AF65-F5344CB8AC3E}">
        <p14:creationId xmlns:p14="http://schemas.microsoft.com/office/powerpoint/2010/main" val="12959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524000" y="1242922"/>
            <a:ext cx="9614647" cy="254187"/>
          </a:xfrm>
        </p:spPr>
        <p:txBody>
          <a:bodyPr>
            <a:normAutofit fontScale="85000" lnSpcReduction="20000"/>
          </a:bodyPr>
          <a:lstStyle/>
          <a:p>
            <a:r>
              <a:rPr lang="ru-RU" sz="1600" dirty="0"/>
              <a:t>Пример нестационарности линии тренда</a:t>
            </a:r>
            <a:endParaRPr lang="en-US" sz="1600" dirty="0"/>
          </a:p>
        </p:txBody>
      </p:sp>
      <p:sp>
        <p:nvSpPr>
          <p:cNvPr id="4" name="Номер слайда 3">
            <a:extLst>
              <a:ext uri="{FF2B5EF4-FFF2-40B4-BE49-F238E27FC236}">
                <a16:creationId xmlns:a16="http://schemas.microsoft.com/office/drawing/2014/main" id="{EEE1B8AB-F6A2-B209-F59C-484D26A94944}"/>
              </a:ext>
            </a:extLst>
          </p:cNvPr>
          <p:cNvSpPr>
            <a:spLocks noGrp="1"/>
          </p:cNvSpPr>
          <p:nvPr>
            <p:ph type="sldNum" sz="quarter" idx="12"/>
          </p:nvPr>
        </p:nvSpPr>
        <p:spPr/>
        <p:txBody>
          <a:bodyPr/>
          <a:lstStyle/>
          <a:p>
            <a:fld id="{45C3B737-A709-4ABC-AFE0-A6B067850C48}" type="slidenum">
              <a:rPr lang="en-US" smtClean="0"/>
              <a:t>18</a:t>
            </a:fld>
            <a:endParaRPr lang="en-US"/>
          </a:p>
        </p:txBody>
      </p:sp>
      <p:pic>
        <p:nvPicPr>
          <p:cNvPr id="9218" name="Picture 2" descr="image.png">
            <a:extLst>
              <a:ext uri="{FF2B5EF4-FFF2-40B4-BE49-F238E27FC236}">
                <a16:creationId xmlns:a16="http://schemas.microsoft.com/office/drawing/2014/main" id="{052CE546-38C8-4545-9CE9-3131E7560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95" y="1414418"/>
            <a:ext cx="4705351" cy="2533651"/>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45038227-696C-41D4-9A08-38060580E5A9}"/>
              </a:ext>
            </a:extLst>
          </p:cNvPr>
          <p:cNvSpPr txBox="1">
            <a:spLocks/>
          </p:cNvSpPr>
          <p:nvPr/>
        </p:nvSpPr>
        <p:spPr>
          <a:xfrm>
            <a:off x="5086672" y="1242922"/>
            <a:ext cx="5790557" cy="2987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Пример сезонной нестационарности (в смысле дисперсии)</a:t>
            </a:r>
            <a:endParaRPr lang="en-US" sz="1600" dirty="0"/>
          </a:p>
        </p:txBody>
      </p:sp>
      <p:pic>
        <p:nvPicPr>
          <p:cNvPr id="9220" name="Picture 4" descr="image.png">
            <a:extLst>
              <a:ext uri="{FF2B5EF4-FFF2-40B4-BE49-F238E27FC236}">
                <a16:creationId xmlns:a16="http://schemas.microsoft.com/office/drawing/2014/main" id="{128D129D-DCD4-4354-8157-9D2680DA5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46" y="1605040"/>
            <a:ext cx="3876675" cy="2124075"/>
          </a:xfrm>
          <a:prstGeom prst="rect">
            <a:avLst/>
          </a:prstGeom>
          <a:noFill/>
          <a:extLst>
            <a:ext uri="{909E8E84-426E-40DD-AFC4-6F175D3DCCD1}">
              <a14:hiddenFill xmlns:a14="http://schemas.microsoft.com/office/drawing/2010/main">
                <a:solidFill>
                  <a:srgbClr val="FFFFFF"/>
                </a:solidFill>
              </a14:hiddenFill>
            </a:ext>
          </a:extLst>
        </p:spPr>
      </p:pic>
      <p:sp>
        <p:nvSpPr>
          <p:cNvPr id="7" name="Объект 2">
            <a:extLst>
              <a:ext uri="{FF2B5EF4-FFF2-40B4-BE49-F238E27FC236}">
                <a16:creationId xmlns:a16="http://schemas.microsoft.com/office/drawing/2014/main" id="{7226A53E-F261-4312-BAF5-E1890408B123}"/>
              </a:ext>
            </a:extLst>
          </p:cNvPr>
          <p:cNvSpPr txBox="1">
            <a:spLocks/>
          </p:cNvSpPr>
          <p:nvPr/>
        </p:nvSpPr>
        <p:spPr>
          <a:xfrm>
            <a:off x="1524000" y="3820835"/>
            <a:ext cx="9480176" cy="41583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сезонной нестационарности (в смысле периода сезонности)</a:t>
            </a:r>
            <a:endParaRPr lang="en-US" sz="2000" dirty="0"/>
          </a:p>
        </p:txBody>
      </p:sp>
      <p:pic>
        <p:nvPicPr>
          <p:cNvPr id="9222" name="Picture 6" descr="image.png">
            <a:extLst>
              <a:ext uri="{FF2B5EF4-FFF2-40B4-BE49-F238E27FC236}">
                <a16:creationId xmlns:a16="http://schemas.microsoft.com/office/drawing/2014/main" id="{C99BD1AB-58BB-4B8A-925E-27D84036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791" y="4281209"/>
            <a:ext cx="5391151"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52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F537B0-7966-4E39-93FF-9C938D867BD2}"/>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p:sp>
        <p:nvSpPr>
          <p:cNvPr id="3" name="Объект 2">
            <a:extLst>
              <a:ext uri="{FF2B5EF4-FFF2-40B4-BE49-F238E27FC236}">
                <a16:creationId xmlns:a16="http://schemas.microsoft.com/office/drawing/2014/main" id="{A8D042F3-0F09-4E1C-8D08-588BCFBDDF13}"/>
              </a:ext>
            </a:extLst>
          </p:cNvPr>
          <p:cNvSpPr>
            <a:spLocks noGrp="1"/>
          </p:cNvSpPr>
          <p:nvPr>
            <p:ph idx="1"/>
          </p:nvPr>
        </p:nvSpPr>
        <p:spPr>
          <a:xfrm>
            <a:off x="138545" y="905855"/>
            <a:ext cx="11693237" cy="2348974"/>
          </a:xfrm>
        </p:spPr>
        <p:txBody>
          <a:bodyPr>
            <a:normAutofit fontScale="70000" lnSpcReduction="20000"/>
          </a:bodyPr>
          <a:lstStyle/>
          <a:p>
            <a:pPr>
              <a:lnSpc>
                <a:spcPct val="120000"/>
              </a:lnSpc>
              <a:spcBef>
                <a:spcPts val="0"/>
              </a:spcBef>
            </a:pPr>
            <a:r>
              <a:rPr lang="ru-RU" dirty="0"/>
              <a:t>Одним из наиболее важных случаев стационарного ВР является стационарность шума. </a:t>
            </a:r>
          </a:p>
          <a:p>
            <a:pPr>
              <a:lnSpc>
                <a:spcPct val="120000"/>
              </a:lnSpc>
              <a:spcBef>
                <a:spcPts val="0"/>
              </a:spcBef>
            </a:pPr>
            <a:r>
              <a:rPr lang="ru-RU" dirty="0"/>
              <a:t>Шум стационарности с независимыми выборками во времени (с автокорреляцией 0) называется шумом белого гаусса (WGN). </a:t>
            </a:r>
          </a:p>
          <a:p>
            <a:pPr>
              <a:lnSpc>
                <a:spcPct val="120000"/>
              </a:lnSpc>
              <a:spcBef>
                <a:spcPts val="0"/>
              </a:spcBef>
            </a:pPr>
            <a:r>
              <a:rPr lang="ru-RU" dirty="0"/>
              <a:t>Таким образом, WGN - это ряд с </a:t>
            </a:r>
            <a:br>
              <a:rPr lang="ru-RU" dirty="0"/>
            </a:br>
            <a:r>
              <a:rPr lang="ru-RU" dirty="0"/>
              <a:t>𝑒𝑣 = 0; 𝑣𝑎𝑟 &lt;∞; 𝑐𝑜𝑣 (𝑛) = 𝑠𝑡𝑑⋅𝛿 (𝑘 − 𝑛), </a:t>
            </a:r>
            <a:br>
              <a:rPr lang="ru-RU" dirty="0"/>
            </a:br>
            <a:r>
              <a:rPr lang="ru-RU" dirty="0"/>
              <a:t>где 𝛿 (𝑘 − 𝑛) = 1, если 𝑘 = 𝑛, и 0 в остальных случаях. </a:t>
            </a:r>
          </a:p>
          <a:p>
            <a:pPr>
              <a:lnSpc>
                <a:spcPct val="120000"/>
              </a:lnSpc>
              <a:spcBef>
                <a:spcPts val="0"/>
              </a:spcBef>
            </a:pPr>
            <a:r>
              <a:rPr lang="ru-RU" dirty="0"/>
              <a:t>АКФ БГШ будет иметь некоторые ненулевые случайные значения – это эффект ограниченной выборки</a:t>
            </a:r>
          </a:p>
          <a:p>
            <a:pPr>
              <a:lnSpc>
                <a:spcPct val="120000"/>
              </a:lnSpc>
              <a:spcBef>
                <a:spcPts val="0"/>
              </a:spcBef>
            </a:pPr>
            <a:endParaRPr lang="en-US" dirty="0"/>
          </a:p>
        </p:txBody>
      </p:sp>
      <p:sp>
        <p:nvSpPr>
          <p:cNvPr id="5" name="Номер слайда 4">
            <a:extLst>
              <a:ext uri="{FF2B5EF4-FFF2-40B4-BE49-F238E27FC236}">
                <a16:creationId xmlns:a16="http://schemas.microsoft.com/office/drawing/2014/main" id="{069C633B-7933-0002-AE7E-DFCCA196EC59}"/>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1268" name="Picture 4" descr="image.png">
            <a:extLst>
              <a:ext uri="{FF2B5EF4-FFF2-40B4-BE49-F238E27FC236}">
                <a16:creationId xmlns:a16="http://schemas.microsoft.com/office/drawing/2014/main" id="{421DC3E5-7CB6-4B47-B931-566FF314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7" y="4104844"/>
            <a:ext cx="2887437" cy="2111244"/>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A7E8075-377F-4827-AB95-E074F6D4F7F7}"/>
              </a:ext>
            </a:extLst>
          </p:cNvPr>
          <p:cNvSpPr/>
          <p:nvPr/>
        </p:nvSpPr>
        <p:spPr>
          <a:xfrm>
            <a:off x="1790701" y="3603172"/>
            <a:ext cx="8599714" cy="369332"/>
          </a:xfrm>
          <a:prstGeom prst="rect">
            <a:avLst/>
          </a:prstGeom>
        </p:spPr>
        <p:txBody>
          <a:bodyPr wrap="square">
            <a:spAutoFit/>
          </a:bodyPr>
          <a:lstStyle/>
          <a:p>
            <a:r>
              <a:rPr lang="ru-RU" dirty="0"/>
              <a:t>Пример</a:t>
            </a:r>
            <a:r>
              <a:rPr lang="ru-RU" sz="1600" dirty="0"/>
              <a:t> </a:t>
            </a:r>
            <a:r>
              <a:rPr lang="ru-RU" sz="1600" dirty="0" err="1"/>
              <a:t>wgn</a:t>
            </a:r>
            <a:r>
              <a:rPr lang="ru-RU" sz="16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8635D9C6-FAAA-48AF-B36E-41034DB9A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00" y="4170025"/>
            <a:ext cx="5264746" cy="2111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DA6652-22B8-97B5-C1CF-515D1A7E07A0}"/>
              </a:ext>
            </a:extLst>
          </p:cNvPr>
          <p:cNvSpPr txBox="1"/>
          <p:nvPr/>
        </p:nvSpPr>
        <p:spPr>
          <a:xfrm>
            <a:off x="1705857" y="3117262"/>
            <a:ext cx="9397573" cy="402546"/>
          </a:xfrm>
          <a:prstGeom prst="rect">
            <a:avLst/>
          </a:prstGeom>
          <a:noFill/>
        </p:spPr>
        <p:txBody>
          <a:bodyPr wrap="square">
            <a:spAutoFit/>
          </a:bodyPr>
          <a:lstStyle/>
          <a:p>
            <a:pPr lvl="1">
              <a:lnSpc>
                <a:spcPct val="120000"/>
              </a:lnSpc>
            </a:pPr>
            <a:r>
              <a:rPr lang="ru-RU" dirty="0"/>
              <a:t>Обратите внимание, что дисперсия также может быть названа мощностью шума.</a:t>
            </a:r>
          </a:p>
        </p:txBody>
      </p:sp>
      <p:pic>
        <p:nvPicPr>
          <p:cNvPr id="6146" name="Picture 2">
            <a:extLst>
              <a:ext uri="{FF2B5EF4-FFF2-40B4-BE49-F238E27FC236}">
                <a16:creationId xmlns:a16="http://schemas.microsoft.com/office/drawing/2014/main" id="{94955585-ABAB-C413-AECE-CABA2C5077F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225180" y="3972504"/>
            <a:ext cx="3726820" cy="234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07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152400" y="1381141"/>
            <a:ext cx="11671300" cy="5340334"/>
          </a:xfrm>
        </p:spPr>
        <p:txBody>
          <a:bodyPr>
            <a:normAutofit fontScale="92500" lnSpcReduction="20000"/>
          </a:bodyPr>
          <a:lstStyle/>
          <a:p>
            <a:pPr>
              <a:lnSpc>
                <a:spcPct val="110000"/>
              </a:lnSpc>
            </a:pPr>
            <a:r>
              <a:rPr lang="ru-RU" dirty="0"/>
              <a:t>На самом деле почти все временные ряды нестационарны (в той или иной степени). </a:t>
            </a:r>
          </a:p>
          <a:p>
            <a:pPr lvl="1">
              <a:lnSpc>
                <a:spcPct val="110000"/>
              </a:lnSpc>
            </a:pPr>
            <a:r>
              <a:rPr lang="ru-RU" dirty="0"/>
              <a:t>Однако, в зависимости от требований к точности в некоторых случаях мы можем сделать допущение, что ВР является стационарным для нашей задачи если он удовлетворяет каким либо нашим условиям.</a:t>
            </a:r>
          </a:p>
          <a:p>
            <a:pPr lvl="1">
              <a:lnSpc>
                <a:spcPct val="110000"/>
              </a:lnSpc>
            </a:pPr>
            <a:r>
              <a:rPr lang="ru-RU" dirty="0"/>
              <a:t>Нестационарные ВР могут содержать ложные корреляции (тренда, сезонность, аномалии)</a:t>
            </a:r>
          </a:p>
          <a:p>
            <a:pPr>
              <a:lnSpc>
                <a:spcPct val="110000"/>
              </a:lnSpc>
            </a:pPr>
            <a:endParaRPr lang="ru-RU" dirty="0"/>
          </a:p>
          <a:p>
            <a:pPr>
              <a:lnSpc>
                <a:spcPct val="110000"/>
              </a:lnSpc>
            </a:pPr>
            <a:r>
              <a:rPr lang="ru-RU" dirty="0"/>
              <a:t>Ряд можно проверить на стационарность визуально (напр. Резкий спад АКФ)</a:t>
            </a:r>
          </a:p>
          <a:p>
            <a:pPr>
              <a:lnSpc>
                <a:spcPct val="110000"/>
              </a:lnSpc>
            </a:pPr>
            <a:r>
              <a:rPr lang="ru-RU" dirty="0"/>
              <a:t>Ряд можно проверить строго на </a:t>
            </a:r>
            <a:r>
              <a:rPr lang="ru-RU" dirty="0" err="1"/>
              <a:t>станционарность</a:t>
            </a:r>
            <a:r>
              <a:rPr lang="ru-RU" dirty="0"/>
              <a:t> с помощью различных статистических критериев. Наиболее популярны следующие критерии:</a:t>
            </a:r>
          </a:p>
          <a:p>
            <a:pPr lvl="1">
              <a:lnSpc>
                <a:spcPct val="110000"/>
              </a:lnSpc>
            </a:pPr>
            <a:r>
              <a:rPr lang="ru-RU" dirty="0"/>
              <a:t>критерий </a:t>
            </a:r>
            <a:r>
              <a:rPr lang="en" dirty="0"/>
              <a:t>KPSS (Kwiatkowski–Phillips–Schmidt–Shin): </a:t>
            </a:r>
            <a:r>
              <a:rPr lang="ru-RU" dirty="0"/>
              <a:t>если </a:t>
            </a:r>
            <a:r>
              <a:rPr lang="en" dirty="0"/>
              <a:t>p-value ⩽0.05, </a:t>
            </a:r>
            <a:r>
              <a:rPr lang="ru-RU" dirty="0"/>
              <a:t>то отвергаем стационарность;</a:t>
            </a:r>
          </a:p>
          <a:p>
            <a:pPr lvl="1">
              <a:lnSpc>
                <a:spcPct val="110000"/>
              </a:lnSpc>
            </a:pPr>
            <a:r>
              <a:rPr lang="ru-RU" dirty="0"/>
              <a:t>критерий Дики-Фуллера: если </a:t>
            </a:r>
            <a:r>
              <a:rPr lang="en" dirty="0"/>
              <a:t>p-value ⩽0.05, </a:t>
            </a:r>
            <a:r>
              <a:rPr lang="ru-RU" dirty="0"/>
              <a:t>то отвергаем </a:t>
            </a:r>
            <a:r>
              <a:rPr lang="ru-RU" b="1" dirty="0" err="1"/>
              <a:t>НЕ</a:t>
            </a:r>
            <a:r>
              <a:rPr lang="ru-RU" dirty="0" err="1"/>
              <a:t>стационарность</a:t>
            </a:r>
            <a:r>
              <a:rPr lang="ru-RU" dirty="0"/>
              <a:t>.</a:t>
            </a:r>
          </a:p>
          <a:p>
            <a:pPr marL="0" indent="0">
              <a:buNone/>
            </a:pPr>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20</a:t>
            </a:fld>
            <a:endParaRPr lang="en-US"/>
          </a:p>
        </p:txBody>
      </p:sp>
    </p:spTree>
    <p:extLst>
      <p:ext uri="{BB962C8B-B14F-4D97-AF65-F5344CB8AC3E}">
        <p14:creationId xmlns:p14="http://schemas.microsoft.com/office/powerpoint/2010/main" val="2466287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366740" y="1563703"/>
            <a:ext cx="11630819" cy="4975209"/>
          </a:xfrm>
        </p:spPr>
        <p:txBody>
          <a:bodyPr>
            <a:normAutofit/>
          </a:bodyPr>
          <a:lstStyle/>
          <a:p>
            <a:pPr marL="0" indent="0">
              <a:lnSpc>
                <a:spcPct val="100000"/>
              </a:lnSpc>
              <a:spcBef>
                <a:spcPts val="1200"/>
              </a:spcBef>
              <a:buNone/>
            </a:pPr>
            <a:r>
              <a:rPr lang="ru-RU" sz="2200" dirty="0"/>
              <a:t>Можно ввести несколько градаций </a:t>
            </a:r>
            <a:r>
              <a:rPr lang="ru-RU" sz="2200" dirty="0" err="1"/>
              <a:t>нестационарности</a:t>
            </a:r>
            <a:r>
              <a:rPr lang="ru-RU" sz="2200" dirty="0"/>
              <a:t> ВР:</a:t>
            </a:r>
          </a:p>
          <a:p>
            <a:pPr>
              <a:lnSpc>
                <a:spcPct val="100000"/>
              </a:lnSpc>
              <a:spcBef>
                <a:spcPts val="1200"/>
              </a:spcBef>
            </a:pPr>
            <a:r>
              <a:rPr lang="ru-RU" sz="2200" dirty="0"/>
              <a:t>Сильная стационарность</a:t>
            </a:r>
          </a:p>
          <a:p>
            <a:pPr>
              <a:lnSpc>
                <a:spcPct val="100000"/>
              </a:lnSpc>
              <a:spcBef>
                <a:spcPts val="1200"/>
              </a:spcBef>
            </a:pPr>
            <a:r>
              <a:rPr lang="ru-RU" sz="2200" dirty="0"/>
              <a:t>Слабая стационарность (2 порядка)</a:t>
            </a:r>
          </a:p>
          <a:p>
            <a:pPr>
              <a:lnSpc>
                <a:spcPct val="100000"/>
              </a:lnSpc>
              <a:spcBef>
                <a:spcPts val="1200"/>
              </a:spcBef>
            </a:pPr>
            <a:r>
              <a:rPr lang="en-US" sz="2200" dirty="0"/>
              <a:t>DS-</a:t>
            </a:r>
            <a:r>
              <a:rPr lang="ru-RU" sz="2200" dirty="0"/>
              <a:t>ряд разностно-стационарный ВР</a:t>
            </a:r>
          </a:p>
          <a:p>
            <a:pPr>
              <a:lnSpc>
                <a:spcPct val="100000"/>
              </a:lnSpc>
              <a:spcBef>
                <a:spcPts val="1200"/>
              </a:spcBef>
            </a:pPr>
            <a:r>
              <a:rPr lang="en-US" sz="2200" dirty="0"/>
              <a:t>TS-</a:t>
            </a:r>
            <a:r>
              <a:rPr lang="ru-RU" sz="2200" dirty="0"/>
              <a:t>ряд</a:t>
            </a:r>
            <a:r>
              <a:rPr lang="en-US" sz="2200" dirty="0"/>
              <a:t> – </a:t>
            </a:r>
            <a:r>
              <a:rPr lang="ru-RU" sz="2200" dirty="0"/>
              <a:t>сводится к стационарному путем удаления тренда и\или сезонности</a:t>
            </a:r>
          </a:p>
          <a:p>
            <a:pPr>
              <a:lnSpc>
                <a:spcPct val="100000"/>
              </a:lnSpc>
              <a:spcBef>
                <a:spcPts val="1200"/>
              </a:spcBef>
            </a:pPr>
            <a:r>
              <a:rPr lang="ru-RU" sz="2200" dirty="0" err="1"/>
              <a:t>Гетеросекдостичный</a:t>
            </a:r>
            <a:r>
              <a:rPr lang="ru-RU" sz="2200" dirty="0"/>
              <a:t> ВР – может сводится к стационарному путем логарифмирования</a:t>
            </a:r>
            <a:r>
              <a:rPr lang="en-US" sz="2200" dirty="0"/>
              <a:t> </a:t>
            </a:r>
            <a:r>
              <a:rPr lang="ru-RU" sz="2200" dirty="0"/>
              <a:t>(степенного преобразования)</a:t>
            </a:r>
          </a:p>
          <a:p>
            <a:pPr>
              <a:lnSpc>
                <a:spcPct val="100000"/>
              </a:lnSpc>
              <a:spcBef>
                <a:spcPts val="1200"/>
              </a:spcBef>
            </a:pPr>
            <a:r>
              <a:rPr lang="ru-RU" sz="2200" dirty="0"/>
              <a:t>Регулярный ВР – нестационарный ВР, имеющий явные паттерны поведения</a:t>
            </a:r>
          </a:p>
          <a:p>
            <a:pPr>
              <a:lnSpc>
                <a:spcPct val="100000"/>
              </a:lnSpc>
              <a:spcBef>
                <a:spcPts val="1200"/>
              </a:spcBef>
            </a:pPr>
            <a:r>
              <a:rPr lang="ru-RU" sz="2200" dirty="0" err="1"/>
              <a:t>Неформализуемый</a:t>
            </a:r>
            <a:r>
              <a:rPr lang="ru-RU" sz="2200" dirty="0"/>
              <a:t> ВР – паттерны поведения не явны</a:t>
            </a:r>
          </a:p>
          <a:p>
            <a:pPr marL="0" indent="0">
              <a:buNone/>
            </a:pPr>
            <a:endParaRPr lang="ru-RU" dirty="0"/>
          </a:p>
          <a:p>
            <a:pPr marL="0" indent="0">
              <a:buNone/>
            </a:pPr>
            <a:endParaRPr lang="ru-RU" dirty="0"/>
          </a:p>
          <a:p>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21</a:t>
            </a:fld>
            <a:endParaRPr lang="en-US"/>
          </a:p>
        </p:txBody>
      </p:sp>
      <p:cxnSp>
        <p:nvCxnSpPr>
          <p:cNvPr id="6" name="Прямая со стрелкой 5"/>
          <p:cNvCxnSpPr/>
          <p:nvPr/>
        </p:nvCxnSpPr>
        <p:spPr>
          <a:xfrm>
            <a:off x="268941" y="1552175"/>
            <a:ext cx="30736" cy="4741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2" descr="https://miro.medium.com/v2/resize:fit:875/1*aRHZEc1hxOXYLHDnBVaKdA.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411707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9BAA-6E94-D4B8-B3C8-2821CABDC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BA1A-E0BD-E207-CE58-7190703383CF}"/>
              </a:ext>
            </a:extLst>
          </p:cNvPr>
          <p:cNvSpPr>
            <a:spLocks noGrp="1"/>
          </p:cNvSpPr>
          <p:nvPr>
            <p:ph type="title"/>
          </p:nvPr>
        </p:nvSpPr>
        <p:spPr>
          <a:xfrm>
            <a:off x="443346" y="131535"/>
            <a:ext cx="11346872" cy="662781"/>
          </a:xfrm>
        </p:spPr>
        <p:txBody>
          <a:bodyPr>
            <a:normAutofit/>
          </a:bodyPr>
          <a:lstStyle/>
          <a:p>
            <a:pPr algn="ctr"/>
            <a:r>
              <a:rPr lang="ru-RU" sz="3600" b="1" dirty="0"/>
              <a:t>Преобразования нестационарных ВР</a:t>
            </a:r>
            <a:endParaRPr lang="en-US" sz="3600"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F64205F-EC7C-FCE6-C3F5-3989C7225E20}"/>
                  </a:ext>
                </a:extLst>
              </p:cNvPr>
              <p:cNvSpPr>
                <a:spLocks noGrp="1"/>
              </p:cNvSpPr>
              <p:nvPr>
                <p:ph idx="1"/>
              </p:nvPr>
            </p:nvSpPr>
            <p:spPr>
              <a:xfrm>
                <a:off x="401782" y="794316"/>
                <a:ext cx="7640900" cy="5784284"/>
              </a:xfrm>
            </p:spPr>
            <p:txBody>
              <a:bodyPr>
                <a:normAutofit fontScale="92500" lnSpcReduction="20000"/>
              </a:bodyPr>
              <a:lstStyle/>
              <a:p>
                <a:pPr marL="0" indent="0">
                  <a:buNone/>
                </a:pPr>
                <a:r>
                  <a:rPr lang="ru-RU" sz="2200" dirty="0"/>
                  <a:t>Можно ввести модель ВР стационарную по отношению к тренду или сезонности </a:t>
                </a:r>
                <a:r>
                  <a:rPr lang="en-US" sz="2200" dirty="0"/>
                  <a:t>(TS </a:t>
                </a:r>
                <a:r>
                  <a:rPr lang="ru-RU" sz="2200" dirty="0"/>
                  <a:t>модель</a:t>
                </a:r>
                <a:r>
                  <a:rPr lang="en-US" sz="2200" dirty="0"/>
                  <a:t>)</a:t>
                </a:r>
                <a:r>
                  <a:rPr lang="ru-RU" sz="2200" dirty="0"/>
                  <a:t>. То есть:</a:t>
                </a:r>
              </a:p>
              <a:p>
                <a:pPr marL="0" indent="0" algn="ctr">
                  <a:buNone/>
                </a:pPr>
                <a14:m>
                  <m:oMath xmlns:m="http://schemas.openxmlformats.org/officeDocument/2006/math">
                    <m:r>
                      <m:rPr>
                        <m:sty m:val="p"/>
                      </m:rPr>
                      <a:rPr lang="en-US" altLang="en-US" sz="2000" dirty="0">
                        <a:latin typeface="Cambria Math" panose="02040503050406030204" pitchFamily="18" charset="0"/>
                      </a:rPr>
                      <m:t>y</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 </m:t>
                    </m:r>
                    <m:r>
                      <m:rPr>
                        <m:sty m:val="p"/>
                      </m:rPr>
                      <a:rPr lang="en-US" altLang="en-US" sz="2000" dirty="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b="0" i="0" dirty="0" smtClean="0">
                        <a:latin typeface="Cambria Math" panose="02040503050406030204" pitchFamily="18" charset="0"/>
                      </a:rPr>
                      <m:t>+</m:t>
                    </m:r>
                    <m:r>
                      <m:rPr>
                        <m:sty m:val="p"/>
                      </m:rPr>
                      <a:rPr lang="en-US" altLang="en-US" sz="2000" b="0" i="0" dirty="0" smtClean="0">
                        <a:latin typeface="Cambria Math" panose="02040503050406030204" pitchFamily="18" charset="0"/>
                      </a:rPr>
                      <m:t>V</m:t>
                    </m:r>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t</m:t>
                    </m:r>
                  </m:oMath>
                </a14:m>
                <a:r>
                  <a:rPr lang="en-US" altLang="en-US" sz="2000" dirty="0"/>
                  <a:t>)</a:t>
                </a:r>
                <a:endParaRPr lang="ru-RU" altLang="en-US" sz="2000" dirty="0"/>
              </a:p>
              <a:p>
                <a:pPr marL="319088" indent="0">
                  <a:buNone/>
                </a:pPr>
                <a:r>
                  <a:rPr lang="ru-RU" sz="2200" dirty="0"/>
                  <a:t>где</a:t>
                </a:r>
                <a:r>
                  <a:rPr lang="en-US" altLang="en-US" sz="2400" dirty="0"/>
                  <a:t> </a:t>
                </a:r>
                <a14:m>
                  <m:oMath xmlns:m="http://schemas.openxmlformats.org/officeDocument/2006/math">
                    <m:r>
                      <m:rPr>
                        <m:sty m:val="p"/>
                      </m:rPr>
                      <a:rPr lang="en-US" altLang="en-US" sz="2400" dirty="0">
                        <a:latin typeface="Cambria Math" panose="02040503050406030204" pitchFamily="18" charset="0"/>
                      </a:rPr>
                      <m:t>V</m:t>
                    </m:r>
                    <m:r>
                      <a:rPr lang="en-US" altLang="en-US" sz="2400" dirty="0">
                        <a:latin typeface="Cambria Math" panose="02040503050406030204" pitchFamily="18" charset="0"/>
                      </a:rPr>
                      <m:t>(</m:t>
                    </m:r>
                    <m:r>
                      <m:rPr>
                        <m:sty m:val="p"/>
                      </m:rPr>
                      <a:rPr lang="en-US" altLang="en-US" sz="2400" dirty="0">
                        <a:latin typeface="Cambria Math" panose="02040503050406030204" pitchFamily="18" charset="0"/>
                      </a:rPr>
                      <m:t>t</m:t>
                    </m:r>
                  </m:oMath>
                </a14:m>
                <a:r>
                  <a:rPr lang="en-US" altLang="en-US" sz="2400" dirty="0"/>
                  <a:t>) – </a:t>
                </a:r>
                <a:r>
                  <a:rPr lang="ru-RU" altLang="en-US" sz="2400" dirty="0"/>
                  <a:t>стационарная часть ВР. </a:t>
                </a:r>
              </a:p>
              <a:p>
                <a:pPr marL="319088" indent="0">
                  <a:buNone/>
                </a:pPr>
                <a:r>
                  <a:rPr lang="ru-RU" altLang="en-US" sz="2400" dirty="0"/>
                  <a:t>Тогда можно убрать тренд и стационарность их вычитанием. </a:t>
                </a:r>
              </a:p>
              <a:p>
                <a:pPr marL="0" indent="0">
                  <a:buNone/>
                </a:pPr>
                <a:r>
                  <a:rPr lang="ru-RU" altLang="en-US" sz="2400" dirty="0"/>
                  <a:t>Или преобразованиями типа </a:t>
                </a:r>
                <a:r>
                  <a:rPr lang="en-US" altLang="en-US" sz="2400" dirty="0"/>
                  <a:t>(DS </a:t>
                </a:r>
                <a:r>
                  <a:rPr lang="ru-RU" altLang="en-US" sz="2400" dirty="0"/>
                  <a:t>модель):</a:t>
                </a:r>
                <a:endParaRPr lang="ru-RU" sz="2200" dirty="0"/>
              </a:p>
              <a:p>
                <a:r>
                  <a:rPr lang="ru-RU" sz="2200" dirty="0"/>
                  <a:t>Дифференцирование ряда (для снятие тренда) </a:t>
                </a:r>
              </a:p>
              <a:p>
                <a:pPr marL="0" indent="0" algn="ctr">
                  <a:buNone/>
                </a:pPr>
                <a:r>
                  <a:rPr lang="ru-RU" sz="2200" dirty="0"/>
                  <a:t> </a:t>
                </a:r>
                <a:r>
                  <a:rPr lang="en" sz="2200" dirty="0" err="1"/>
                  <a:t>y</a:t>
                </a:r>
                <a:r>
                  <a:rPr lang="en" sz="2200" baseline="-25000" dirty="0" err="1"/>
                  <a:t>t</a:t>
                </a:r>
                <a:r>
                  <a:rPr lang="en" sz="2200" dirty="0"/>
                  <a:t>′=y</a:t>
                </a:r>
                <a:r>
                  <a:rPr lang="en" sz="2200" baseline="-25000" dirty="0"/>
                  <a:t>t</a:t>
                </a:r>
                <a:r>
                  <a:rPr lang="en" sz="2200" dirty="0"/>
                  <a:t>−y</a:t>
                </a:r>
                <a:r>
                  <a:rPr lang="en" sz="2200" baseline="-25000" dirty="0"/>
                  <a:t>t−1</a:t>
                </a:r>
                <a:r>
                  <a:rPr lang="en" sz="2200" dirty="0"/>
                  <a:t>. </a:t>
                </a:r>
                <a:endParaRPr lang="ru-RU" sz="2200" dirty="0"/>
              </a:p>
              <a:p>
                <a:pPr marL="0" indent="0">
                  <a:buNone/>
                </a:pPr>
                <a:endParaRPr lang="ru-RU" sz="2200" dirty="0"/>
              </a:p>
              <a:p>
                <a:r>
                  <a:rPr lang="ru-RU" sz="2200" dirty="0"/>
                  <a:t>Сезонное дифференцирование (снятие сезонности)</a:t>
                </a:r>
              </a:p>
              <a:p>
                <a:pPr marL="0" indent="0" algn="ctr">
                  <a:buNone/>
                </a:pPr>
                <a:r>
                  <a:rPr lang="ru-RU" sz="2200" dirty="0"/>
                  <a:t> </a:t>
                </a:r>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Δ</m:t>
                        </m:r>
                      </m:e>
                      <m:sub>
                        <m:r>
                          <m:rPr>
                            <m:sty m:val="p"/>
                          </m:rPr>
                          <a:rPr lang="en-US" sz="2400" dirty="0">
                            <a:latin typeface="Cambria Math" panose="02040503050406030204" pitchFamily="18" charset="0"/>
                          </a:rPr>
                          <m:t>s</m:t>
                        </m:r>
                      </m:sub>
                    </m:s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𝑦</m:t>
                        </m:r>
                      </m:e>
                      <m:sub>
                        <m:r>
                          <a:rPr lang="en-US" sz="2400" b="0" i="1" dirty="0" smtClean="0">
                            <a:latin typeface="Cambria Math" panose="02040503050406030204" pitchFamily="18" charset="0"/>
                          </a:rPr>
                          <m:t>𝑡</m:t>
                        </m:r>
                      </m:sub>
                    </m:sSub>
                  </m:oMath>
                </a14:m>
                <a:r>
                  <a:rPr lang="en" sz="2200" dirty="0"/>
                  <a:t>=</a:t>
                </a:r>
                <a:r>
                  <a:rPr lang="en" sz="2200" i="1" dirty="0" err="1"/>
                  <a:t>y</a:t>
                </a:r>
                <a:r>
                  <a:rPr lang="en" sz="2200" i="1" baseline="-25000" dirty="0" err="1"/>
                  <a:t>t</a:t>
                </a:r>
                <a:r>
                  <a:rPr lang="en" sz="2200" dirty="0"/>
                  <a:t>​−</a:t>
                </a:r>
                <a:r>
                  <a:rPr lang="en" sz="2200" i="1" dirty="0" err="1"/>
                  <a:t>y</a:t>
                </a:r>
                <a:r>
                  <a:rPr lang="en" sz="2200" i="1" baseline="-25000" dirty="0" err="1"/>
                  <a:t>t</a:t>
                </a:r>
                <a:r>
                  <a:rPr lang="en" sz="2200" baseline="-25000" dirty="0"/>
                  <a:t>−</a:t>
                </a:r>
                <a:r>
                  <a:rPr lang="en" sz="2200" i="1" baseline="-25000" dirty="0"/>
                  <a:t>s</a:t>
                </a:r>
                <a:r>
                  <a:rPr lang="en" sz="2200" baseline="-25000" dirty="0"/>
                  <a:t>​</a:t>
                </a:r>
                <a:r>
                  <a:rPr lang="en" sz="2200" dirty="0"/>
                  <a:t>, </a:t>
                </a:r>
                <a:r>
                  <a:rPr lang="ru-RU" sz="2200" dirty="0"/>
                  <a:t/>
                </a:r>
                <a:br>
                  <a:rPr lang="ru-RU" sz="2200" dirty="0"/>
                </a:br>
                <a:endParaRPr lang="ru-RU" sz="2200" dirty="0"/>
              </a:p>
              <a:p>
                <a:pPr marL="0" indent="0" algn="ctr">
                  <a:buNone/>
                </a:pPr>
                <a:r>
                  <a:rPr lang="en" sz="2200" i="1" dirty="0"/>
                  <a:t>s</a:t>
                </a:r>
                <a:r>
                  <a:rPr lang="en" sz="2200" dirty="0"/>
                  <a:t> – </a:t>
                </a:r>
                <a:r>
                  <a:rPr lang="ru-RU" sz="2200" dirty="0"/>
                  <a:t>длина сезона.</a:t>
                </a:r>
              </a:p>
              <a:p>
                <a:pPr marL="0" indent="0">
                  <a:buNone/>
                </a:pPr>
                <a:endParaRPr lang="ru-RU" sz="2200" dirty="0"/>
              </a:p>
              <a:p>
                <a:r>
                  <a:rPr lang="ru-RU" sz="2200" dirty="0"/>
                  <a:t>Преобразования можно применять несколько раз. </a:t>
                </a:r>
              </a:p>
              <a:p>
                <a:r>
                  <a:rPr lang="ru-RU" sz="2200" dirty="0"/>
                  <a:t>Обычно сначала применяют сезонное дифференцирование.</a:t>
                </a:r>
                <a:br>
                  <a:rPr lang="ru-RU" sz="2200" dirty="0"/>
                </a:br>
                <a:endParaRPr lang="en-US" sz="2200" dirty="0"/>
              </a:p>
            </p:txBody>
          </p:sp>
        </mc:Choice>
        <mc:Fallback xmlns="">
          <p:sp>
            <p:nvSpPr>
              <p:cNvPr id="3" name="Объект 2">
                <a:extLst>
                  <a:ext uri="{FF2B5EF4-FFF2-40B4-BE49-F238E27FC236}">
                    <a16:creationId xmlns:a16="http://schemas.microsoft.com/office/drawing/2014/main" id="{EF64205F-EC7C-FCE6-C3F5-3989C7225E20}"/>
                  </a:ext>
                </a:extLst>
              </p:cNvPr>
              <p:cNvSpPr>
                <a:spLocks noGrp="1" noRot="1" noChangeAspect="1" noMove="1" noResize="1" noEditPoints="1" noAdjustHandles="1" noChangeArrowheads="1" noChangeShapeType="1" noTextEdit="1"/>
              </p:cNvSpPr>
              <p:nvPr>
                <p:ph idx="1"/>
              </p:nvPr>
            </p:nvSpPr>
            <p:spPr>
              <a:xfrm>
                <a:off x="401782" y="794316"/>
                <a:ext cx="7640900" cy="5784284"/>
              </a:xfrm>
              <a:blipFill>
                <a:blip r:embed="rId2"/>
                <a:stretch>
                  <a:fillRect l="-995" t="-197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D23F6C-7410-4C33-A167-CD4C439412BE}"/>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9" name="TextBox 8">
            <a:extLst>
              <a:ext uri="{FF2B5EF4-FFF2-40B4-BE49-F238E27FC236}">
                <a16:creationId xmlns:a16="http://schemas.microsoft.com/office/drawing/2014/main" id="{323743E2-8C7A-261B-FAA7-DD4F1D0B815C}"/>
              </a:ext>
            </a:extLst>
          </p:cNvPr>
          <p:cNvSpPr txBox="1"/>
          <p:nvPr/>
        </p:nvSpPr>
        <p:spPr>
          <a:xfrm>
            <a:off x="2885208" y="6352143"/>
            <a:ext cx="8077200"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pic>
        <p:nvPicPr>
          <p:cNvPr id="5" name="Picture 4" descr="image.png">
            <a:extLst>
              <a:ext uri="{FF2B5EF4-FFF2-40B4-BE49-F238E27FC236}">
                <a16:creationId xmlns:a16="http://schemas.microsoft.com/office/drawing/2014/main" id="{287B935A-7DEC-7B26-64EF-E7C975725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 b="68104"/>
          <a:stretch>
            <a:fillRect/>
          </a:stretch>
        </p:blipFill>
        <p:spPr bwMode="auto">
          <a:xfrm>
            <a:off x="7925297" y="626007"/>
            <a:ext cx="3737753" cy="19553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png">
            <a:extLst>
              <a:ext uri="{FF2B5EF4-FFF2-40B4-BE49-F238E27FC236}">
                <a16:creationId xmlns:a16="http://schemas.microsoft.com/office/drawing/2014/main" id="{842AE8AE-5091-CA10-4BC3-9F9B9EA49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1" t="37973" r="3671" b="33202"/>
          <a:stretch>
            <a:fillRect/>
          </a:stretch>
        </p:blipFill>
        <p:spPr bwMode="auto">
          <a:xfrm>
            <a:off x="7808033" y="2581322"/>
            <a:ext cx="3855017" cy="19553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png">
            <a:extLst>
              <a:ext uri="{FF2B5EF4-FFF2-40B4-BE49-F238E27FC236}">
                <a16:creationId xmlns:a16="http://schemas.microsoft.com/office/drawing/2014/main" id="{3ADD4940-D8B5-C15B-5B54-B156C06B54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 t="71872" r="-9"/>
          <a:stretch>
            <a:fillRect/>
          </a:stretch>
        </p:blipFill>
        <p:spPr bwMode="auto">
          <a:xfrm>
            <a:off x="8007938" y="4536637"/>
            <a:ext cx="3855017" cy="19080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02EFE9-3A0B-19DC-D6A7-BF85FFBFA7F3}"/>
                  </a:ext>
                </a:extLst>
              </p:cNvPr>
              <p:cNvSpPr txBox="1"/>
              <p:nvPr/>
            </p:nvSpPr>
            <p:spPr>
              <a:xfrm>
                <a:off x="8242588" y="3890470"/>
                <a:ext cx="1140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𝑛</m:t>
                          </m:r>
                        </m:sub>
                      </m:sSub>
                    </m:oMath>
                  </m:oMathPara>
                </a14:m>
                <a:endParaRPr lang="ru-RU" dirty="0"/>
              </a:p>
            </p:txBody>
          </p:sp>
        </mc:Choice>
        <mc:Fallback xmlns="">
          <p:sp>
            <p:nvSpPr>
              <p:cNvPr id="10" name="TextBox 9">
                <a:extLst>
                  <a:ext uri="{FF2B5EF4-FFF2-40B4-BE49-F238E27FC236}">
                    <a16:creationId xmlns:a16="http://schemas.microsoft.com/office/drawing/2014/main" id="{3002EFE9-3A0B-19DC-D6A7-BF85FFBFA7F3}"/>
                  </a:ext>
                </a:extLst>
              </p:cNvPr>
              <p:cNvSpPr txBox="1">
                <a:spLocks noRot="1" noChangeAspect="1" noMove="1" noResize="1" noEditPoints="1" noAdjustHandles="1" noChangeArrowheads="1" noChangeShapeType="1" noTextEdit="1"/>
              </p:cNvSpPr>
              <p:nvPr/>
            </p:nvSpPr>
            <p:spPr>
              <a:xfrm>
                <a:off x="8242588" y="3890470"/>
                <a:ext cx="1140402" cy="369332"/>
              </a:xfrm>
              <a:prstGeom prst="rect">
                <a:avLst/>
              </a:prstGeom>
              <a:blipFill>
                <a:blip r:embed="rId4"/>
                <a:stretch>
                  <a:fillRect b="-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174579F-E142-AA3B-ECFA-68DF44DC0FFB}"/>
                  </a:ext>
                </a:extLst>
              </p:cNvPr>
              <p:cNvSpPr txBox="1"/>
              <p:nvPr/>
            </p:nvSpPr>
            <p:spPr>
              <a:xfrm>
                <a:off x="7925297" y="5796042"/>
                <a:ext cx="19834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r>
                        <m:rPr>
                          <m:sty m:val="p"/>
                        </m:rPr>
                        <a:rPr lang="en-US" sz="1800" dirty="0" smtClean="0">
                          <a:latin typeface="Cambria Math" panose="02040503050406030204" pitchFamily="18" charset="0"/>
                        </a:rPr>
                        <m:t>Δ</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𝑦</m:t>
                          </m:r>
                        </m:e>
                        <m:sub>
                          <m:r>
                            <a:rPr lang="en-US" sz="1800" i="1" dirty="0" err="1">
                              <a:latin typeface="Cambria Math" panose="02040503050406030204" pitchFamily="18" charset="0"/>
                            </a:rPr>
                            <m:t>𝑛</m:t>
                          </m:r>
                        </m:sub>
                      </m:sSub>
                    </m:oMath>
                  </m:oMathPara>
                </a14:m>
                <a:endParaRPr lang="ru-RU" dirty="0"/>
              </a:p>
            </p:txBody>
          </p:sp>
        </mc:Choice>
        <mc:Fallback xmlns="">
          <p:sp>
            <p:nvSpPr>
              <p:cNvPr id="12" name="TextBox 11">
                <a:extLst>
                  <a:ext uri="{FF2B5EF4-FFF2-40B4-BE49-F238E27FC236}">
                    <a16:creationId xmlns:a16="http://schemas.microsoft.com/office/drawing/2014/main" id="{7174579F-E142-AA3B-ECFA-68DF44DC0FFB}"/>
                  </a:ext>
                </a:extLst>
              </p:cNvPr>
              <p:cNvSpPr txBox="1">
                <a:spLocks noRot="1" noChangeAspect="1" noMove="1" noResize="1" noEditPoints="1" noAdjustHandles="1" noChangeArrowheads="1" noChangeShapeType="1" noTextEdit="1"/>
              </p:cNvSpPr>
              <p:nvPr/>
            </p:nvSpPr>
            <p:spPr>
              <a:xfrm>
                <a:off x="7925297" y="5796042"/>
                <a:ext cx="1983429" cy="369332"/>
              </a:xfrm>
              <a:prstGeom prst="rect">
                <a:avLst/>
              </a:prstGeom>
              <a:blipFill>
                <a:blip r:embed="rId5"/>
                <a:stretch>
                  <a:fillRect b="-6667"/>
                </a:stretch>
              </a:blipFill>
            </p:spPr>
            <p:txBody>
              <a:bodyPr/>
              <a:lstStyle/>
              <a:p>
                <a:r>
                  <a:rPr lang="ru-RU">
                    <a:noFill/>
                  </a:rPr>
                  <a:t> </a:t>
                </a:r>
              </a:p>
            </p:txBody>
          </p:sp>
        </mc:Fallback>
      </mc:AlternateContent>
    </p:spTree>
    <p:extLst>
      <p:ext uri="{BB962C8B-B14F-4D97-AF65-F5344CB8AC3E}">
        <p14:creationId xmlns:p14="http://schemas.microsoft.com/office/powerpoint/2010/main" val="2472243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65B6-B96E-1E76-3705-2650BC1F79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2E32E8-5EA8-F99F-F926-A6D3A2CE796F}"/>
              </a:ext>
            </a:extLst>
          </p:cNvPr>
          <p:cNvSpPr>
            <a:spLocks noGrp="1"/>
          </p:cNvSpPr>
          <p:nvPr>
            <p:ph type="title"/>
          </p:nvPr>
        </p:nvSpPr>
        <p:spPr>
          <a:xfrm>
            <a:off x="370609" y="0"/>
            <a:ext cx="10515600" cy="1325563"/>
          </a:xfrm>
        </p:spPr>
        <p:txBody>
          <a:bodyPr/>
          <a:lstStyle/>
          <a:p>
            <a:r>
              <a:rPr lang="ru-RU" b="1" dirty="0" err="1"/>
              <a:t>Гетероскедастичность</a:t>
            </a:r>
            <a:endParaRPr lang="ru-RU"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5A25868-226B-96F2-D5CF-B4C1B7318AA2}"/>
                  </a:ext>
                </a:extLst>
              </p:cNvPr>
              <p:cNvSpPr>
                <a:spLocks noGrp="1"/>
              </p:cNvSpPr>
              <p:nvPr>
                <p:ph idx="1"/>
              </p:nvPr>
            </p:nvSpPr>
            <p:spPr>
              <a:xfrm>
                <a:off x="337907" y="995709"/>
                <a:ext cx="11346872" cy="4351339"/>
              </a:xfrm>
            </p:spPr>
            <p:txBody>
              <a:bodyPr/>
              <a:lstStyle/>
              <a:p>
                <a:pPr marL="179384" lvl="1" indent="-179384"/>
                <a:r>
                  <a:rPr lang="ru-RU" dirty="0"/>
                  <a:t>Можно избавиться при помощи Бокса-Кокса или например как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endParaRPr lang="ru-RU" dirty="0"/>
              </a:p>
            </p:txBody>
          </p:sp>
        </mc:Choice>
        <mc:Fallback xmlns="">
          <p:sp>
            <p:nvSpPr>
              <p:cNvPr id="3" name="Объект 2">
                <a:extLst>
                  <a:ext uri="{FF2B5EF4-FFF2-40B4-BE49-F238E27FC236}">
                    <a16:creationId xmlns:a16="http://schemas.microsoft.com/office/drawing/2014/main" id="{35A25868-226B-96F2-D5CF-B4C1B7318AA2}"/>
                  </a:ext>
                </a:extLst>
              </p:cNvPr>
              <p:cNvSpPr>
                <a:spLocks noGrp="1" noRot="1" noChangeAspect="1" noMove="1" noResize="1" noEditPoints="1" noAdjustHandles="1" noChangeArrowheads="1" noChangeShapeType="1" noTextEdit="1"/>
              </p:cNvSpPr>
              <p:nvPr>
                <p:ph idx="1"/>
              </p:nvPr>
            </p:nvSpPr>
            <p:spPr>
              <a:xfrm>
                <a:off x="337907" y="995709"/>
                <a:ext cx="11346872" cy="4351339"/>
              </a:xfrm>
              <a:blipFill>
                <a:blip r:embed="rId2"/>
                <a:stretch>
                  <a:fillRect l="-67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714AA5B-B022-4081-70C1-DDB7650EE134}"/>
              </a:ext>
            </a:extLst>
          </p:cNvPr>
          <p:cNvSpPr>
            <a:spLocks noGrp="1"/>
          </p:cNvSpPr>
          <p:nvPr>
            <p:ph type="sldNum" sz="quarter" idx="12"/>
          </p:nvPr>
        </p:nvSpPr>
        <p:spPr/>
        <p:txBody>
          <a:bodyPr/>
          <a:lstStyle/>
          <a:p>
            <a:fld id="{45C3B737-A709-4ABC-AFE0-A6B067850C48}" type="slidenum">
              <a:rPr lang="en-US" smtClean="0"/>
              <a:t>23</a:t>
            </a:fld>
            <a:endParaRPr lang="en-US"/>
          </a:p>
        </p:txBody>
      </p:sp>
      <p:pic>
        <p:nvPicPr>
          <p:cNvPr id="1026" name="Picture 2" descr="Временные ряды - презентация онлайн">
            <a:extLst>
              <a:ext uri="{FF2B5EF4-FFF2-40B4-BE49-F238E27FC236}">
                <a16:creationId xmlns:a16="http://schemas.microsoft.com/office/drawing/2014/main" id="{81306493-953A-D497-DA2E-508EFC8F0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20"/>
          <a:stretch/>
        </p:blipFill>
        <p:spPr bwMode="auto">
          <a:xfrm>
            <a:off x="303375" y="2846121"/>
            <a:ext cx="6573280" cy="37851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x-Cox Transformation.. The real-world data is not always… | by Ronak  Chhatbar | Medium">
            <a:extLst>
              <a:ext uri="{FF2B5EF4-FFF2-40B4-BE49-F238E27FC236}">
                <a16:creationId xmlns:a16="http://schemas.microsoft.com/office/drawing/2014/main" id="{4946CB98-F55D-FFFC-BFD3-D30D3C07C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85" y="1565234"/>
            <a:ext cx="2744047" cy="13099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219D55-A210-A6C7-AE41-0EE7928EE31F}"/>
              </a:ext>
            </a:extLst>
          </p:cNvPr>
          <p:cNvSpPr txBox="1"/>
          <p:nvPr/>
        </p:nvSpPr>
        <p:spPr>
          <a:xfrm>
            <a:off x="121262" y="1645793"/>
            <a:ext cx="4201356" cy="1200329"/>
          </a:xfrm>
          <a:prstGeom prst="rect">
            <a:avLst/>
          </a:prstGeom>
          <a:noFill/>
        </p:spPr>
        <p:txBody>
          <a:bodyPr wrap="square">
            <a:spAutoFit/>
          </a:bodyPr>
          <a:lstStyle/>
          <a:p>
            <a:pPr marL="285750" indent="-285750">
              <a:buFont typeface="Arial" panose="020B0604020202020204" pitchFamily="34" charset="0"/>
              <a:buChar char="•"/>
            </a:pPr>
            <a:r>
              <a:rPr lang="ru-RU" dirty="0"/>
              <a:t>Логарифмические преобразования </a:t>
            </a:r>
          </a:p>
          <a:p>
            <a:pPr marL="285750" indent="-285750">
              <a:buFont typeface="Arial" panose="020B0604020202020204" pitchFamily="34" charset="0"/>
              <a:buChar char="•"/>
            </a:pPr>
            <a:r>
              <a:rPr lang="ru-RU" dirty="0"/>
              <a:t>Полиномиальные преобразования</a:t>
            </a:r>
          </a:p>
          <a:p>
            <a:pPr marL="285750" indent="-285750">
              <a:buFont typeface="Arial" panose="020B0604020202020204" pitchFamily="34" charset="0"/>
              <a:buChar char="•"/>
            </a:pPr>
            <a:r>
              <a:rPr lang="ru-RU" dirty="0"/>
              <a:t>Преобразования Бокса-Кокса</a:t>
            </a:r>
          </a:p>
          <a:p>
            <a:pPr marL="285750" indent="-285750">
              <a:buFont typeface="Arial" panose="020B0604020202020204" pitchFamily="34" charset="0"/>
              <a:buChar char="•"/>
            </a:pPr>
            <a:r>
              <a:rPr lang="ru-RU" dirty="0"/>
              <a:t>Комбинации с другими темами</a:t>
            </a:r>
            <a:endParaRPr lang="en-US" dirty="0"/>
          </a:p>
        </p:txBody>
      </p:sp>
      <p:pic>
        <p:nvPicPr>
          <p:cNvPr id="8" name="Picture 2" descr="ex">
            <a:extLst>
              <a:ext uri="{FF2B5EF4-FFF2-40B4-BE49-F238E27FC236}">
                <a16:creationId xmlns:a16="http://schemas.microsoft.com/office/drawing/2014/main" id="{E67ADA8F-567B-E771-9B76-21F75C70E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569" y="1672024"/>
            <a:ext cx="4636846" cy="50494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57BB38-5F7F-B029-5AE5-AB1AB1AF5BC9}"/>
              </a:ext>
            </a:extLst>
          </p:cNvPr>
          <p:cNvSpPr txBox="1"/>
          <p:nvPr/>
        </p:nvSpPr>
        <p:spPr>
          <a:xfrm>
            <a:off x="7288357" y="3531107"/>
            <a:ext cx="972416" cy="369332"/>
          </a:xfrm>
          <a:prstGeom prst="rect">
            <a:avLst/>
          </a:prstGeom>
          <a:noFill/>
        </p:spPr>
        <p:txBody>
          <a:bodyPr wrap="square">
            <a:spAutoFit/>
          </a:bodyPr>
          <a:lstStyle/>
          <a:p>
            <a:r>
              <a:rPr lang="en" dirty="0"/>
              <a:t>y’=ln(</a:t>
            </a:r>
            <a:r>
              <a:rPr lang="en-US" dirty="0"/>
              <a: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041D3B-127A-326E-7788-364AC2699EF5}"/>
                  </a:ext>
                </a:extLst>
              </p:cNvPr>
              <p:cNvSpPr txBox="1"/>
              <p:nvPr/>
            </p:nvSpPr>
            <p:spPr>
              <a:xfrm>
                <a:off x="7774565" y="5185976"/>
                <a:ext cx="2347480" cy="369332"/>
              </a:xfrm>
              <a:prstGeom prst="rect">
                <a:avLst/>
              </a:prstGeom>
              <a:noFill/>
            </p:spPr>
            <p:txBody>
              <a:bodyPr wrap="square">
                <a:spAutoFit/>
              </a:bodyPr>
              <a:lstStyle/>
              <a:p>
                <a:r>
                  <a:rPr lang="en" dirty="0"/>
                  <a:t>y’’=</a:t>
                </a:r>
                <a:r>
                  <a:rPr lang="en-US" dirty="0"/>
                  <a:t> </a:t>
                </a:r>
                <a14:m>
                  <m:oMath xmlns:m="http://schemas.openxmlformats.org/officeDocument/2006/math">
                    <m:r>
                      <m:rPr>
                        <m:sty m:val="p"/>
                      </m:rPr>
                      <a:rPr lang="en-US" dirty="0">
                        <a:latin typeface="Cambria Math" panose="02040503050406030204" pitchFamily="18" charset="0"/>
                      </a:rPr>
                      <m:t>Δ</m:t>
                    </m:r>
                    <m:r>
                      <a:rPr lang="en-US" b="0" i="1" dirty="0" smtClean="0">
                        <a:latin typeface="Cambria Math" panose="02040503050406030204" pitchFamily="18" charset="0"/>
                      </a:rPr>
                      <m:t>𝑠</m:t>
                    </m:r>
                    <m:r>
                      <a:rPr lang="en-US" i="1" dirty="0">
                        <a:latin typeface="Cambria Math" panose="02040503050406030204" pitchFamily="18" charset="0"/>
                      </a:rPr>
                      <m:t> </m:t>
                    </m:r>
                  </m:oMath>
                </a14:m>
                <a:r>
                  <a:rPr lang="en" dirty="0"/>
                  <a:t>ln(</a:t>
                </a:r>
                <a:r>
                  <a:rPr lang="en-US" dirty="0"/>
                  <a:t>y)</a:t>
                </a:r>
              </a:p>
            </p:txBody>
          </p:sp>
        </mc:Choice>
        <mc:Fallback xmlns="">
          <p:sp>
            <p:nvSpPr>
              <p:cNvPr id="10" name="TextBox 9">
                <a:extLst>
                  <a:ext uri="{FF2B5EF4-FFF2-40B4-BE49-F238E27FC236}">
                    <a16:creationId xmlns:a16="http://schemas.microsoft.com/office/drawing/2014/main" id="{C6041D3B-127A-326E-7788-364AC2699EF5}"/>
                  </a:ext>
                </a:extLst>
              </p:cNvPr>
              <p:cNvSpPr txBox="1">
                <a:spLocks noRot="1" noChangeAspect="1" noMove="1" noResize="1" noEditPoints="1" noAdjustHandles="1" noChangeArrowheads="1" noChangeShapeType="1" noTextEdit="1"/>
              </p:cNvSpPr>
              <p:nvPr/>
            </p:nvSpPr>
            <p:spPr>
              <a:xfrm>
                <a:off x="7774565" y="5185976"/>
                <a:ext cx="2347480" cy="369332"/>
              </a:xfrm>
              <a:prstGeom prst="rect">
                <a:avLst/>
              </a:prstGeom>
              <a:blipFill>
                <a:blip r:embed="rId6"/>
                <a:stretch>
                  <a:fillRect l="-2162" t="-6667" b="-23333"/>
                </a:stretch>
              </a:blipFill>
            </p:spPr>
            <p:txBody>
              <a:bodyPr/>
              <a:lstStyle/>
              <a:p>
                <a:r>
                  <a:rPr lang="ru-RU">
                    <a:noFill/>
                  </a:rPr>
                  <a:t> </a:t>
                </a:r>
              </a:p>
            </p:txBody>
          </p:sp>
        </mc:Fallback>
      </mc:AlternateContent>
    </p:spTree>
    <p:extLst>
      <p:ext uri="{BB962C8B-B14F-4D97-AF65-F5344CB8AC3E}">
        <p14:creationId xmlns:p14="http://schemas.microsoft.com/office/powerpoint/2010/main" val="424980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CF265-69E0-6399-718A-1D16E8BCA189}"/>
              </a:ext>
            </a:extLst>
          </p:cNvPr>
          <p:cNvSpPr>
            <a:spLocks noGrp="1"/>
          </p:cNvSpPr>
          <p:nvPr>
            <p:ph type="title"/>
          </p:nvPr>
        </p:nvSpPr>
        <p:spPr/>
        <p:txBody>
          <a:bodyPr/>
          <a:lstStyle/>
          <a:p>
            <a:endParaRPr lang="ru-RU"/>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8585B36-63FB-AB66-D543-F65C6C5EF502}"/>
                  </a:ext>
                </a:extLst>
              </p:cNvPr>
              <p:cNvSpPr>
                <a:spLocks noGrp="1"/>
              </p:cNvSpPr>
              <p:nvPr>
                <p:ph idx="1"/>
              </p:nvPr>
            </p:nvSpPr>
            <p:spPr>
              <a:xfrm>
                <a:off x="185057" y="1163773"/>
                <a:ext cx="10515600" cy="4351338"/>
              </a:xfrm>
            </p:spPr>
            <p:txBody>
              <a:bodyPr>
                <a:normAutofit fontScale="92500" lnSpcReduction="10000"/>
              </a:bodyPr>
              <a:lstStyle/>
              <a:p>
                <a:r>
                  <a:rPr lang="ru-RU" dirty="0"/>
                  <a:t>Методы приведения ряда к стационарному:</a:t>
                </a:r>
              </a:p>
              <a:p>
                <a:r>
                  <a:rPr lang="ru-RU" dirty="0"/>
                  <a:t>Численная обычная производная  – тренд.</a:t>
                </a:r>
              </a:p>
              <a:p>
                <a:r>
                  <a:rPr lang="ru-RU" dirty="0"/>
                  <a:t>Численная дробная производная – сложный, цикличный тренд.</a:t>
                </a:r>
              </a:p>
              <a:p>
                <a:r>
                  <a:rPr lang="ru-RU" dirty="0"/>
                  <a:t>Численная сезонная производная  – высокое влияние сезонности.</a:t>
                </a:r>
              </a:p>
              <a:p>
                <a:r>
                  <a:rPr lang="ru-RU" dirty="0"/>
                  <a:t>Преобразования Бокса-Кокса – устранения волатильности (</a:t>
                </a:r>
                <a:r>
                  <a:rPr lang="ru-RU" dirty="0" err="1"/>
                  <a:t>гетероскедастичности</a:t>
                </a:r>
                <a:r>
                  <a:rPr lang="ru-RU" dirty="0"/>
                  <a:t>, в частности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ru-RU" dirty="0"/>
                  <a:t>).</a:t>
                </a:r>
              </a:p>
              <a:p>
                <a:r>
                  <a:rPr lang="ru-RU" dirty="0"/>
                  <a:t>Приведение к виду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en>
                    </m:f>
                  </m:oMath>
                </a14:m>
                <a:r>
                  <a:rPr lang="en-US" dirty="0"/>
                  <a:t> - </a:t>
                </a:r>
                <a:r>
                  <a:rPr lang="ru-RU" dirty="0"/>
                  <a:t>устранения волатильности (</a:t>
                </a:r>
                <a:r>
                  <a:rPr lang="ru-RU" dirty="0" err="1"/>
                  <a:t>гетероскедастичности</a:t>
                </a:r>
                <a:r>
                  <a:rPr lang="ru-RU" dirty="0"/>
                  <a:t>).</a:t>
                </a:r>
              </a:p>
              <a:p>
                <a:r>
                  <a:rPr lang="ru-RU" dirty="0"/>
                  <a:t>Декомпозиция модели (напр. использование разных подходов для разных частей).</a:t>
                </a:r>
              </a:p>
              <a:p>
                <a:endParaRPr lang="ru-RU" dirty="0"/>
              </a:p>
            </p:txBody>
          </p:sp>
        </mc:Choice>
        <mc:Fallback xmlns="">
          <p:sp>
            <p:nvSpPr>
              <p:cNvPr id="3" name="Объект 2">
                <a:extLst>
                  <a:ext uri="{FF2B5EF4-FFF2-40B4-BE49-F238E27FC236}">
                    <a16:creationId xmlns:a16="http://schemas.microsoft.com/office/drawing/2014/main" id="{58585B36-63FB-AB66-D543-F65C6C5EF502}"/>
                  </a:ext>
                </a:extLst>
              </p:cNvPr>
              <p:cNvSpPr>
                <a:spLocks noGrp="1" noRot="1" noChangeAspect="1" noMove="1" noResize="1" noEditPoints="1" noAdjustHandles="1" noChangeArrowheads="1" noChangeShapeType="1" noTextEdit="1"/>
              </p:cNvSpPr>
              <p:nvPr>
                <p:ph idx="1"/>
              </p:nvPr>
            </p:nvSpPr>
            <p:spPr>
              <a:xfrm>
                <a:off x="185057" y="1163773"/>
                <a:ext cx="10515600" cy="4351338"/>
              </a:xfrm>
              <a:blipFill>
                <a:blip r:embed="rId2"/>
                <a:stretch>
                  <a:fillRect l="-870" t="-280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A79CF1A6-BD6F-867B-185F-2E2BC4BD75EA}"/>
              </a:ext>
            </a:extLst>
          </p:cNvPr>
          <p:cNvSpPr>
            <a:spLocks noGrp="1"/>
          </p:cNvSpPr>
          <p:nvPr>
            <p:ph type="sldNum" sz="quarter" idx="12"/>
          </p:nvPr>
        </p:nvSpPr>
        <p:spPr/>
        <p:txBody>
          <a:bodyPr/>
          <a:lstStyle/>
          <a:p>
            <a:fld id="{45C3B737-A709-4ABC-AFE0-A6B067850C48}" type="slidenum">
              <a:rPr lang="en-US" smtClean="0"/>
              <a:t>24</a:t>
            </a:fld>
            <a:endParaRPr lang="en-US"/>
          </a:p>
        </p:txBody>
      </p:sp>
      <p:pic>
        <p:nvPicPr>
          <p:cNvPr id="7170" name="Picture 2" descr="Different forms of dependence and their Pearson's r values">
            <a:extLst>
              <a:ext uri="{FF2B5EF4-FFF2-40B4-BE49-F238E27FC236}">
                <a16:creationId xmlns:a16="http://schemas.microsoft.com/office/drawing/2014/main" id="{9C640715-FCEC-9E02-C24B-446D96F52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042" y="3196046"/>
            <a:ext cx="5549304" cy="2531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615A-AB23-F639-C63B-32D2BB310067}"/>
              </a:ext>
            </a:extLst>
          </p:cNvPr>
          <p:cNvSpPr txBox="1"/>
          <p:nvPr/>
        </p:nvSpPr>
        <p:spPr>
          <a:xfrm>
            <a:off x="5562600" y="6256677"/>
            <a:ext cx="6096000" cy="369332"/>
          </a:xfrm>
          <a:prstGeom prst="rect">
            <a:avLst/>
          </a:prstGeom>
          <a:noFill/>
        </p:spPr>
        <p:txBody>
          <a:bodyPr wrap="square">
            <a:spAutoFit/>
          </a:bodyPr>
          <a:lstStyle/>
          <a:p>
            <a:r>
              <a:rPr lang="ru-RU" dirty="0" err="1"/>
              <a:t>https</a:t>
            </a:r>
            <a:r>
              <a:rPr lang="ru-RU" dirty="0"/>
              <a:t>://</a:t>
            </a:r>
            <a:r>
              <a:rPr lang="ru-RU" dirty="0" err="1"/>
              <a:t>smac-group.github.io</a:t>
            </a:r>
            <a:r>
              <a:rPr lang="ru-RU" dirty="0"/>
              <a:t>/</a:t>
            </a:r>
            <a:r>
              <a:rPr lang="ru-RU" dirty="0" err="1"/>
              <a:t>ts</a:t>
            </a:r>
            <a:r>
              <a:rPr lang="ru-RU" dirty="0"/>
              <a:t>/</a:t>
            </a:r>
            <a:r>
              <a:rPr lang="ru-RU" dirty="0" err="1"/>
              <a:t>fundtimeseries.html</a:t>
            </a:r>
            <a:endParaRPr lang="ru-RU" dirty="0"/>
          </a:p>
        </p:txBody>
      </p:sp>
      <p:sp>
        <p:nvSpPr>
          <p:cNvPr id="7" name="TextBox 6">
            <a:extLst>
              <a:ext uri="{FF2B5EF4-FFF2-40B4-BE49-F238E27FC236}">
                <a16:creationId xmlns:a16="http://schemas.microsoft.com/office/drawing/2014/main" id="{EFE620BB-993D-69EB-37A9-4653940405A5}"/>
              </a:ext>
            </a:extLst>
          </p:cNvPr>
          <p:cNvSpPr txBox="1"/>
          <p:nvPr/>
        </p:nvSpPr>
        <p:spPr>
          <a:xfrm>
            <a:off x="5517572" y="5767773"/>
            <a:ext cx="6355773" cy="369332"/>
          </a:xfrm>
          <a:prstGeom prst="rect">
            <a:avLst/>
          </a:prstGeom>
          <a:noFill/>
        </p:spPr>
        <p:txBody>
          <a:bodyPr wrap="square">
            <a:spAutoFit/>
          </a:bodyPr>
          <a:lstStyle/>
          <a:p>
            <a:r>
              <a:rPr lang="ru-RU" dirty="0"/>
              <a:t>П</a:t>
            </a:r>
            <a:r>
              <a:rPr lang="en-US" dirty="0" err="1"/>
              <a:t>ри</a:t>
            </a:r>
            <a:r>
              <a:rPr lang="ru-RU" dirty="0"/>
              <a:t>меры различных зависимостей с одинаковой корреляцией</a:t>
            </a:r>
          </a:p>
        </p:txBody>
      </p:sp>
      <p:sp>
        <p:nvSpPr>
          <p:cNvPr id="5" name="Прямоугольник 4"/>
          <p:cNvSpPr/>
          <p:nvPr/>
        </p:nvSpPr>
        <p:spPr>
          <a:xfrm>
            <a:off x="78377" y="2143884"/>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652755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8808</TotalTime>
  <Words>1186</Words>
  <Application>Microsoft Office PowerPoint</Application>
  <PresentationFormat>Широкоэкранный</PresentationFormat>
  <Paragraphs>225</Paragraphs>
  <Slides>24</Slides>
  <Notes>9</Notes>
  <HiddenSlides>1</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24</vt:i4>
      </vt:variant>
    </vt:vector>
  </HeadingPairs>
  <TitlesOfParts>
    <vt:vector size="35" baseType="lpstr">
      <vt:lpstr>__YSText_10659f</vt:lpstr>
      <vt:lpstr>-apple-system</vt:lpstr>
      <vt:lpstr>Arial</vt:lpstr>
      <vt:lpstr>Calibri</vt:lpstr>
      <vt:lpstr>Calibri Light</vt:lpstr>
      <vt:lpstr>Cambria Math</vt:lpstr>
      <vt:lpstr>MathJax_Main</vt:lpstr>
      <vt:lpstr>MathJax_Math-italic</vt:lpstr>
      <vt:lpstr>quote-cjk-patch</vt:lpstr>
      <vt:lpstr>Times New Roman</vt:lpstr>
      <vt:lpstr>Тема Office 2013–2022</vt:lpstr>
      <vt:lpstr>Статистический подход к анализу  временных рядов.</vt:lpstr>
      <vt:lpstr>Модели временных рядов</vt:lpstr>
      <vt:lpstr>Особенности модели временных рядов</vt:lpstr>
      <vt:lpstr>Белый Гауссов шум</vt:lpstr>
      <vt:lpstr>Статистические сво йства ВР</vt:lpstr>
      <vt:lpstr>Автокорреляция ВР</vt:lpstr>
      <vt:lpstr>Замечания к автокорреляции</vt:lpstr>
      <vt:lpstr>Пример дорожно-транспортных происшествий за 14 лет с дискретностью 1 месяц,</vt:lpstr>
      <vt:lpstr>Корреляция</vt:lpstr>
      <vt:lpstr>Замечания </vt:lpstr>
      <vt:lpstr>Частичная автокорреляция</vt:lpstr>
      <vt:lpstr>Частичная автокорреляция</vt:lpstr>
      <vt:lpstr>Презентация PowerPoint</vt:lpstr>
      <vt:lpstr>Анализ стационарности</vt:lpstr>
      <vt:lpstr>Стационарность ВР</vt:lpstr>
      <vt:lpstr>Анализ нестационарности</vt:lpstr>
      <vt:lpstr>Стационарность ВР. Замечания</vt:lpstr>
      <vt:lpstr>Анализ стационарности</vt:lpstr>
      <vt:lpstr>Белый Гауссов шум</vt:lpstr>
      <vt:lpstr>Преобразования нестационарных  временных рядов</vt:lpstr>
      <vt:lpstr>Преобразования нестационарных  временных рядов</vt:lpstr>
      <vt:lpstr>Преобразования нестационарных ВР</vt:lpstr>
      <vt:lpstr>Гетероскедастичность</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268</cp:revision>
  <dcterms:created xsi:type="dcterms:W3CDTF">2021-10-31T10:57:36Z</dcterms:created>
  <dcterms:modified xsi:type="dcterms:W3CDTF">2025-07-25T11:08:34Z</dcterms:modified>
</cp:coreProperties>
</file>