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5"/>
  </p:notesMasterIdLst>
  <p:sldIdLst>
    <p:sldId id="338" r:id="rId2"/>
    <p:sldId id="387" r:id="rId3"/>
    <p:sldId id="382" r:id="rId4"/>
    <p:sldId id="390" r:id="rId5"/>
    <p:sldId id="393" r:id="rId6"/>
    <p:sldId id="388" r:id="rId7"/>
    <p:sldId id="391" r:id="rId8"/>
    <p:sldId id="392" r:id="rId9"/>
    <p:sldId id="395" r:id="rId10"/>
    <p:sldId id="401" r:id="rId11"/>
    <p:sldId id="447" r:id="rId12"/>
    <p:sldId id="450" r:id="rId13"/>
    <p:sldId id="348" r:id="rId14"/>
    <p:sldId id="394" r:id="rId15"/>
    <p:sldId id="351" r:id="rId16"/>
    <p:sldId id="396" r:id="rId17"/>
    <p:sldId id="350" r:id="rId18"/>
    <p:sldId id="352" r:id="rId19"/>
    <p:sldId id="353" r:id="rId20"/>
    <p:sldId id="409" r:id="rId21"/>
    <p:sldId id="397" r:id="rId22"/>
    <p:sldId id="399" r:id="rId23"/>
    <p:sldId id="40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83973" autoAdjust="0"/>
  </p:normalViewPr>
  <p:slideViewPr>
    <p:cSldViewPr snapToGrid="0">
      <p:cViewPr varScale="1">
        <p:scale>
          <a:sx n="110" d="100"/>
          <a:sy n="110" d="100"/>
        </p:scale>
        <p:origin x="2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664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147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1701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6178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b="1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6878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D18BA-D680-7B96-02F9-861C902A4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46B88F9-A535-B316-A9F8-13B986774D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7998119-CE33-144F-7234-9811AEC1C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b="1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657A107-06D5-30F3-A29E-2711A90B0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29907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156D06-6B42-419D-A61C-F7AD45031849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828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01351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6377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24.07.2025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24.07.2025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24.07.2025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24.07.2025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24.07.2025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7320" y="1224565"/>
            <a:ext cx="9144000" cy="2387600"/>
          </a:xfrm>
        </p:spPr>
        <p:txBody>
          <a:bodyPr>
            <a:noAutofit/>
          </a:bodyPr>
          <a:lstStyle/>
          <a:p>
            <a:r>
              <a:rPr lang="ru-RU" b="1" dirty="0"/>
              <a:t>Статистический подход к анализу </a:t>
            </a:r>
            <a:br>
              <a:rPr lang="ru-RU" b="1" dirty="0"/>
            </a:br>
            <a:r>
              <a:rPr lang="ru-RU" b="1" dirty="0"/>
              <a:t>временных рядов.</a:t>
            </a:r>
            <a:endParaRPr lang="en-US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9A19EF5-ACCD-EF26-C88D-A3ED3DC99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3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B0BEDB-9774-4E17-9A6B-DBCF6A1F5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6070" y="197786"/>
            <a:ext cx="9849485" cy="708799"/>
          </a:xfrm>
        </p:spPr>
        <p:txBody>
          <a:bodyPr>
            <a:normAutofit/>
          </a:bodyPr>
          <a:lstStyle/>
          <a:p>
            <a:r>
              <a:rPr lang="ru-RU" b="1" dirty="0"/>
              <a:t>Модели временных рядов</a:t>
            </a:r>
            <a:endParaRPr lang="en-US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6104" y="810561"/>
                <a:ext cx="11525249" cy="5545789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400" dirty="0"/>
                  <a:t>Часто  вводится аддитивная модель ВР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trend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) +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seasonal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) + 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noise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en-US" sz="2400" dirty="0"/>
                  <a:t>). </a:t>
                </a: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ts val="600"/>
                  </a:spcBef>
                  <a:spcAft>
                    <a:spcPct val="0"/>
                  </a:spcAft>
                  <a:buNone/>
                </a:pPr>
                <a:r>
                  <a:rPr lang="ru-RU" altLang="en-US" sz="2000" dirty="0"/>
                  <a:t>где</a:t>
                </a:r>
                <a14:m>
                  <m:oMath xmlns:m="http://schemas.openxmlformats.org/officeDocument/2006/math">
                    <m:r>
                      <a:rPr lang="ru-RU" altLang="en-US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trend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</m:oMath>
                </a14:m>
                <a:r>
                  <a:rPr lang="ru-RU" altLang="en-US" sz="2000" dirty="0">
                    <a:latin typeface="Cambria Math" panose="02040503050406030204" pitchFamily="18" charset="0"/>
                  </a:rPr>
                  <a:t> - тренд ВР, </a:t>
                </a:r>
                <a14:m>
                  <m:oMath xmlns:m="http://schemas.openxmlformats.org/officeDocument/2006/math">
                    <m:r>
                      <a:rPr lang="ru-RU" altLang="en-US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seasonal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ru-RU" altLang="en-US" sz="2000" b="0" i="0" dirty="0" smtClean="0">
                        <a:latin typeface="Cambria Math" panose="02040503050406030204" pitchFamily="18" charset="0"/>
                      </a:rPr>
                      <m:t> −сезонность ВР</m:t>
                    </m:r>
                  </m:oMath>
                </a14:m>
                <a:r>
                  <a:rPr lang="ru-RU" altLang="en-US" sz="2000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noise</m:t>
                    </m:r>
                    <m:r>
                      <a:rPr lang="en-US" altLang="en-US" sz="20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en-US" sz="2000" dirty="0"/>
                  <a:t>)</a:t>
                </a:r>
                <a:r>
                  <a:rPr lang="ru-RU" altLang="en-US" sz="2000" dirty="0"/>
                  <a:t> – остаточная часть ВР</a:t>
                </a: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en-US" altLang="en-US" sz="2400" dirty="0"/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400" dirty="0"/>
                  <a:t>Иногда также разделяют тренд на уровень, тренд и цикличность: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alt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40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en-US" sz="2400" b="0" i="0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en-US" sz="24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tren</m:t>
                    </m:r>
                    <m:sSup>
                      <m:sSupPr>
                        <m:ctrlPr>
                          <a:rPr lang="en-US" alt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en-US" sz="2400" i="0" dirty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p>
                        <m:r>
                          <a:rPr lang="en-US" altLang="en-US" sz="24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en-US" sz="2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40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cyclic</m:t>
                    </m:r>
                    <m: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400" b="0" i="0" dirty="0" smtClean="0">
                        <a:latin typeface="Cambria Math" panose="02040503050406030204" pitchFamily="18" charset="0"/>
                      </a:rPr>
                      <m:t>) +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seasonal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) + 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noise</m:t>
                    </m:r>
                    <m:r>
                      <a:rPr lang="en-US" altLang="en-US" sz="24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i="0" dirty="0" smtClean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en-US" sz="2400" dirty="0"/>
                  <a:t>). </a:t>
                </a:r>
              </a:p>
              <a:p>
                <a:pPr marL="457200" lvl="1" indent="0" algn="just" eaLnBrk="0" fontAlgn="base" hangingPunct="0">
                  <a:lnSpc>
                    <a:spcPct val="100000"/>
                  </a:lnSpc>
                  <a:spcBef>
                    <a:spcPts val="600"/>
                  </a:spcBef>
                  <a:spcAft>
                    <a:spcPct val="0"/>
                  </a:spcAft>
                  <a:buNone/>
                </a:pPr>
                <a:r>
                  <a:rPr lang="ru-RU" altLang="en-US" sz="2000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altLang="en-US" sz="2000" dirty="0"/>
                  <a:t>- постоянная составляющая,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cyclic</m:t>
                    </m:r>
                    <m:r>
                      <a:rPr lang="en-US" altLang="en-US" sz="2000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altLang="en-US" sz="2000" i="0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altLang="en-US" sz="2000" dirty="0"/>
                  <a:t> – цикличность ВР,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000" i="0" dirty="0" smtClean="0">
                        <a:latin typeface="Cambria Math" panose="02040503050406030204" pitchFamily="18" charset="0"/>
                      </a:rPr>
                      <m:t>tren</m:t>
                    </m:r>
                    <m:sSup>
                      <m:sSup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d</m:t>
                        </m:r>
                      </m:e>
                      <m:sup>
                        <m: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</m:oMath>
                </a14:m>
                <a:r>
                  <a:rPr lang="ru-RU" altLang="en-US" sz="2000" dirty="0"/>
                  <a:t>-остальной тренд</a:t>
                </a:r>
                <a:endParaRPr lang="ru-RU" altLang="en-US" sz="2400" dirty="0"/>
              </a:p>
              <a:p>
                <a:pPr marL="898525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en-US" sz="2000" dirty="0"/>
                  <a:t>напр. если выделяют уровень экономики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altLang="en-US" sz="200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altLang="en-US" sz="2000" dirty="0"/>
                  <a:t>, </a:t>
                </a:r>
                <a:endParaRPr lang="en-US" altLang="en-US" sz="2000" dirty="0"/>
              </a:p>
              <a:p>
                <a:pPr marL="1241425" indent="-3429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en-US" sz="2000" dirty="0"/>
                  <a:t>цикличность кризисов,</a:t>
                </a:r>
                <a:endParaRPr lang="en-US" altLang="en-US" sz="2000" dirty="0"/>
              </a:p>
              <a:p>
                <a:pPr marL="1241425" indent="-3429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en-US" sz="2000" b="1" dirty="0"/>
                  <a:t>тренд</a:t>
                </a:r>
                <a:r>
                  <a:rPr lang="ru-RU" altLang="en-US" sz="2000" dirty="0"/>
                  <a:t> экономики</a:t>
                </a:r>
                <a:endParaRPr lang="en-US" altLang="en-US" sz="2000" dirty="0"/>
              </a:p>
              <a:p>
                <a:pPr marL="1241425" indent="-3429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ru-RU" altLang="en-US" sz="2000" b="1" dirty="0"/>
                  <a:t>сезонные факторы ( год, неделя и </a:t>
                </a:r>
                <a:r>
                  <a:rPr lang="ru-RU" altLang="en-US" sz="2000" b="1" dirty="0" err="1"/>
                  <a:t>тд</a:t>
                </a:r>
                <a:r>
                  <a:rPr lang="ru-RU" altLang="en-US" sz="2000" b="1" dirty="0"/>
                  <a:t>)</a:t>
                </a: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CDB8E57-5CA8-497C-990E-C304F4FB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6104" y="810561"/>
                <a:ext cx="11525249" cy="5545789"/>
              </a:xfrm>
              <a:blipFill>
                <a:blip r:embed="rId2"/>
                <a:stretch>
                  <a:fillRect l="-770" t="-68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7EF2B8-3D80-AB22-FA4B-F0655B9E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231">
            <a:extLst>
              <a:ext uri="{FF2B5EF4-FFF2-40B4-BE49-F238E27FC236}">
                <a16:creationId xmlns:a16="http://schemas.microsoft.com/office/drawing/2014/main" id="{57F50B8E-A23A-4154-9A0C-994DE115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756" y="4477386"/>
            <a:ext cx="52071" cy="10795"/>
          </a:xfrm>
          <a:prstGeom prst="rect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ot="0" vert="horz" wrap="square" lIns="91440" tIns="45720" rIns="91440" bIns="45720" anchor="t" anchorCtr="0" upright="1">
            <a:noAutofit/>
          </a:bodyPr>
          <a:lstStyle/>
          <a:p>
            <a:endParaRPr lang="en-US" sz="1351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6C52228-8C94-4CF2-AD63-BA9617333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CA1DAD-475E-4D0B-A20A-17535DDD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6712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95C2-7E07-1469-9870-10731979E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F3757B-A658-84DA-AF87-09AF2C0BB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8636" y="197786"/>
            <a:ext cx="9477263" cy="880808"/>
          </a:xfrm>
        </p:spPr>
        <p:txBody>
          <a:bodyPr>
            <a:noAutofit/>
          </a:bodyPr>
          <a:lstStyle/>
          <a:p>
            <a:pPr algn="ctr"/>
            <a:r>
              <a:rPr lang="ru-RU" sz="4000" b="1" dirty="0"/>
              <a:t>Особенности модели временных рядов</a:t>
            </a:r>
            <a:endParaRPr lang="en-US" sz="40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BAE69D-36D8-D04E-E425-5890F7443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37" y="870413"/>
            <a:ext cx="11386458" cy="5460318"/>
          </a:xfrm>
        </p:spPr>
        <p:txBody>
          <a:bodyPr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Как правило тренд и сезонность объяснить частично можно (это структура ВР)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1700" dirty="0"/>
              <a:t>можно разложить ВР на тренд и  сезонность известного типа. То что останется – мы считаем шумом (случайные колебания).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Шум создает неопределенность или смещение в результатах предсказаний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Данные с шумом можно описать статистически (ввести статистические гипотезы о данных)</a:t>
            </a:r>
          </a:p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ru-RU" sz="2100" dirty="0"/>
              <a:t>При статистическом анализе ВР введем стат. Характеристики ВР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46DBD4B-2A5F-824E-0852-1F4588667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89E2F553-27F1-A9E4-3E80-186B4C2D8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124999"/>
            <a:ext cx="184731" cy="6771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  <a:t/>
            </a:r>
            <a:br>
              <a:rPr lang="en-US" altLang="en-US" sz="1400">
                <a:latin typeface="Arial" panose="020B0604020202020204" pitchFamily="34" charset="0"/>
                <a:ea typeface="Times New Roman" panose="02020603050405020304" pitchFamily="18" charset="0"/>
              </a:rPr>
            </a:br>
            <a:endParaRPr lang="en-US" altLang="en-US" sz="2400"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0299A3-CABC-57D4-2339-DB1A2A6F09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523999" y="43935"/>
            <a:ext cx="65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400" dirty="0">
              <a:latin typeface="Arial" panose="020B0604020202020204" pitchFamily="34" charset="0"/>
            </a:endParaRPr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FBF2AC38-DF2F-3DB7-8C04-C58B060D8E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" name="AutoShape 8">
            <a:extLst>
              <a:ext uri="{FF2B5EF4-FFF2-40B4-BE49-F238E27FC236}">
                <a16:creationId xmlns:a16="http://schemas.microsoft.com/office/drawing/2014/main" id="{4B08EDCE-CC97-1B6E-4FFB-7098941108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dirty="0"/>
          </a:p>
        </p:txBody>
      </p:sp>
      <p:pic>
        <p:nvPicPr>
          <p:cNvPr id="9" name="Picture 10" descr="fisher-ld generator network">
            <a:extLst>
              <a:ext uri="{FF2B5EF4-FFF2-40B4-BE49-F238E27FC236}">
                <a16:creationId xmlns:a16="http://schemas.microsoft.com/office/drawing/2014/main" id="{094FD0F3-3C45-1831-7A8D-5AD1DF9523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1268"/>
          <a:stretch>
            <a:fillRect/>
          </a:stretch>
        </p:blipFill>
        <p:spPr bwMode="auto">
          <a:xfrm>
            <a:off x="7010547" y="3340005"/>
            <a:ext cx="3690915" cy="2072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AD22B5-69D6-B86B-8A88-593EC56D043C}"/>
              </a:ext>
            </a:extLst>
          </p:cNvPr>
          <p:cNvSpPr txBox="1"/>
          <p:nvPr/>
        </p:nvSpPr>
        <p:spPr>
          <a:xfrm>
            <a:off x="6400800" y="6452732"/>
            <a:ext cx="457756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www.mdpi.com</a:t>
            </a:r>
            <a:r>
              <a:rPr lang="ru-RU" sz="1200" dirty="0"/>
              <a:t>/2571-9394/5/4/37</a:t>
            </a:r>
          </a:p>
        </p:txBody>
      </p:sp>
      <p:pic>
        <p:nvPicPr>
          <p:cNvPr id="2052" name="Picture 4" descr="Forecasting 05 00037 g004">
            <a:extLst>
              <a:ext uri="{FF2B5EF4-FFF2-40B4-BE49-F238E27FC236}">
                <a16:creationId xmlns:a16="http://schemas.microsoft.com/office/drawing/2014/main" id="{BA41271C-0AFA-C211-2BE4-34C7CC04774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28" t="-1725" r="-6328" b="4206"/>
          <a:stretch>
            <a:fillRect/>
          </a:stretch>
        </p:blipFill>
        <p:spPr bwMode="auto">
          <a:xfrm>
            <a:off x="7403218" y="3443143"/>
            <a:ext cx="4486067" cy="21685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6869C0B-7131-A294-EB92-B57B16945595}"/>
              </a:ext>
            </a:extLst>
          </p:cNvPr>
          <p:cNvSpPr txBox="1"/>
          <p:nvPr/>
        </p:nvSpPr>
        <p:spPr>
          <a:xfrm>
            <a:off x="60579" y="5090821"/>
            <a:ext cx="688635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2"/>
            <a:r>
              <a:rPr lang="ru-RU" sz="2100" b="1" dirty="0"/>
              <a:t>Остаточная часть может содержать информацию, необъясненную моделью!</a:t>
            </a:r>
            <a:endParaRPr lang="ru-RU" sz="2100" dirty="0"/>
          </a:p>
        </p:txBody>
      </p:sp>
      <p:pic>
        <p:nvPicPr>
          <p:cNvPr id="2050" name="Picture 2" descr="Forecasting 05 00037 g002">
            <a:extLst>
              <a:ext uri="{FF2B5EF4-FFF2-40B4-BE49-F238E27FC236}">
                <a16:creationId xmlns:a16="http://schemas.microsoft.com/office/drawing/2014/main" id="{8A8EFD81-5807-BED2-93C4-70EFE43831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2" r="37620" b="4330"/>
          <a:stretch>
            <a:fillRect/>
          </a:stretch>
        </p:blipFill>
        <p:spPr bwMode="auto">
          <a:xfrm>
            <a:off x="6793471" y="3146214"/>
            <a:ext cx="4834467" cy="3350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DF10E1-0017-BDF5-41D6-ECD9FB8B0037}"/>
              </a:ext>
            </a:extLst>
          </p:cNvPr>
          <p:cNvSpPr txBox="1"/>
          <p:nvPr/>
        </p:nvSpPr>
        <p:spPr>
          <a:xfrm>
            <a:off x="241270" y="2838406"/>
            <a:ext cx="685912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Пример 1</a:t>
            </a:r>
            <a:br>
              <a:rPr lang="ru-RU" b="1" dirty="0"/>
            </a:br>
            <a:r>
              <a:rPr lang="ru-RU" b="1" dirty="0"/>
              <a:t>Прогнозирование спроса в баре:</a:t>
            </a:r>
            <a:endParaRPr lang="ru-RU" dirty="0"/>
          </a:p>
          <a:p>
            <a:r>
              <a:rPr lang="ru-RU" b="1" dirty="0"/>
              <a:t>Структура:</a:t>
            </a:r>
            <a:endParaRPr lang="ru-RU" dirty="0"/>
          </a:p>
          <a:p>
            <a:pPr lvl="1"/>
            <a:r>
              <a:rPr lang="ru-RU" dirty="0"/>
              <a:t>Повышенные продажи по пятницам (</a:t>
            </a:r>
            <a:r>
              <a:rPr lang="ru-RU" dirty="0" err="1"/>
              <a:t>holiday</a:t>
            </a:r>
            <a:r>
              <a:rPr lang="en-US" dirty="0"/>
              <a:t>s effect)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Рост выручки летом (сезонность).</a:t>
            </a:r>
          </a:p>
          <a:p>
            <a:pPr lvl="1"/>
            <a:r>
              <a:rPr lang="ru-RU" dirty="0"/>
              <a:t>Влияние футбольных матчей (календарные эффекты).</a:t>
            </a:r>
          </a:p>
          <a:p>
            <a:r>
              <a:rPr lang="ru-RU" b="1" dirty="0"/>
              <a:t>Шум:</a:t>
            </a:r>
            <a:endParaRPr lang="ru-RU" dirty="0"/>
          </a:p>
          <a:p>
            <a:pPr lvl="1"/>
            <a:r>
              <a:rPr lang="ru-RU" dirty="0"/>
              <a:t>Изменение числа посетителей по пятницам (или другим дням)</a:t>
            </a:r>
          </a:p>
          <a:p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4BD40F-2444-22EE-0F3C-A35F292D5B5A}"/>
              </a:ext>
            </a:extLst>
          </p:cNvPr>
          <p:cNvSpPr txBox="1"/>
          <p:nvPr/>
        </p:nvSpPr>
        <p:spPr>
          <a:xfrm>
            <a:off x="6793470" y="2725644"/>
            <a:ext cx="4707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Пример 2 </a:t>
            </a:r>
            <a:r>
              <a:rPr lang="en" dirty="0"/>
              <a:t>Electricity Transformer Temperature</a:t>
            </a:r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35081-F0C8-5927-0982-2E8D3316FBF4}"/>
              </a:ext>
            </a:extLst>
          </p:cNvPr>
          <p:cNvSpPr txBox="1"/>
          <p:nvPr/>
        </p:nvSpPr>
        <p:spPr>
          <a:xfrm>
            <a:off x="142389" y="5787944"/>
            <a:ext cx="685800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None/>
            </a:pPr>
            <a:r>
              <a:rPr lang="ru-RU" b="1" i="0" dirty="0">
                <a:solidFill>
                  <a:srgbClr val="404040"/>
                </a:solidFill>
                <a:effectLst/>
                <a:latin typeface="quote-cjk-patch"/>
              </a:rPr>
              <a:t>Вопрос аудитории:</a:t>
            </a:r>
            <a:r>
              <a:rPr lang="ru-RU" b="0" i="0" dirty="0">
                <a:solidFill>
                  <a:srgbClr val="404040"/>
                </a:solidFill>
                <a:effectLst/>
                <a:latin typeface="quote-cjk-patch"/>
              </a:rPr>
              <a:t/>
            </a:r>
            <a:br>
              <a:rPr lang="ru-RU" b="0" i="0" dirty="0">
                <a:solidFill>
                  <a:srgbClr val="404040"/>
                </a:solidFill>
                <a:effectLst/>
                <a:latin typeface="quote-cjk-patch"/>
              </a:rPr>
            </a:br>
            <a:r>
              <a:rPr lang="ru-RU" b="0" i="1" dirty="0">
                <a:solidFill>
                  <a:srgbClr val="404040"/>
                </a:solidFill>
                <a:effectLst/>
                <a:latin typeface="quote-cjk-patch"/>
              </a:rPr>
              <a:t>"Можно ли полностью устранить шум? Что произойдет, если игнорировать его при планировании запасов?"</a:t>
            </a:r>
            <a:endParaRPr lang="ru-RU" b="0" i="0" dirty="0">
              <a:solidFill>
                <a:srgbClr val="404040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537850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3E599-491E-9D0B-A873-0682219DE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3CE594-68EE-E093-BE0F-46EF13444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5857" y="204181"/>
            <a:ext cx="9081887" cy="701675"/>
          </a:xfrm>
        </p:spPr>
        <p:txBody>
          <a:bodyPr>
            <a:normAutofit/>
          </a:bodyPr>
          <a:lstStyle/>
          <a:p>
            <a:r>
              <a:rPr lang="ru-RU" dirty="0"/>
              <a:t>Белый Гауссов шум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C90446D-96A9-C6F8-8B18-B82CB93585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1353" y="853161"/>
                <a:ext cx="11644829" cy="285952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000" dirty="0"/>
                  <a:t>В идеале остаточная часть не содержит информации, равномерно распределена и все ее значения независимы друг от друга (</a:t>
                </a:r>
                <a:r>
                  <a:rPr lang="en-US" sz="2000" dirty="0"/>
                  <a:t>identical independent distribution - </a:t>
                </a:r>
                <a:r>
                  <a:rPr lang="ru-RU" sz="2000" dirty="0" err="1"/>
                  <a:t>i.i.d</a:t>
                </a:r>
                <a:r>
                  <a:rPr lang="ru-RU" sz="2000" dirty="0"/>
                  <a:t>) – такая остаточная часть называется Белый Гауссов Шум</a:t>
                </a:r>
                <a:r>
                  <a:rPr lang="en-US" sz="2000" dirty="0"/>
                  <a:t> (White Gaussian Noises)</a:t>
                </a:r>
                <a:r>
                  <a:rPr lang="ru-RU" sz="2000" dirty="0"/>
                  <a:t>. 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Обратите внимание, что WGN имеет так называемое нормальное распределение с нулевым средним.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𝑤𝑔𝑛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𝑠𝑡𝑑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𝑤𝑔𝑛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  <m:rad>
                            <m:radPr>
                              <m:deg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𝑤𝑔𝑛</m:t>
                              </m:r>
                            </m:num>
                            <m:den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𝑠𝑡𝑑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𝑤𝑔𝑛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sz="2000" dirty="0"/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𝑤𝑔𝑛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r>
                  <a:rPr lang="ru-RU" sz="2000" dirty="0"/>
                  <a:t>распределние</a:t>
                </a:r>
                <a:r>
                  <a:rPr lang="en-US" sz="2000" dirty="0"/>
                  <a:t>.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C90446D-96A9-C6F8-8B18-B82CB93585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1353" y="853161"/>
                <a:ext cx="11644829" cy="2859523"/>
              </a:xfrm>
              <a:blipFill>
                <a:blip r:embed="rId2"/>
                <a:stretch>
                  <a:fillRect l="-6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069AA6E-94FF-7413-7F65-A38504D68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11268" name="Picture 4" descr="image.png">
            <a:extLst>
              <a:ext uri="{FF2B5EF4-FFF2-40B4-BE49-F238E27FC236}">
                <a16:creationId xmlns:a16="http://schemas.microsoft.com/office/drawing/2014/main" id="{C419EEAC-D406-406E-6A2C-FC0E31293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7987" y="4182627"/>
            <a:ext cx="2877379" cy="2103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E3E8B28-40F1-2361-FCA5-36112D783949}"/>
              </a:ext>
            </a:extLst>
          </p:cNvPr>
          <p:cNvSpPr/>
          <p:nvPr/>
        </p:nvSpPr>
        <p:spPr>
          <a:xfrm>
            <a:off x="1035586" y="3712684"/>
            <a:ext cx="1106093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Пример </a:t>
            </a:r>
            <a:r>
              <a:rPr lang="ru-RU" sz="2000" dirty="0" err="1"/>
              <a:t>wgn</a:t>
            </a:r>
            <a:r>
              <a:rPr lang="ru-RU" sz="2000" dirty="0"/>
              <a:t> - это когда вы выключаете антенну с телевизора и увидеть так называемый «снег» </a:t>
            </a:r>
          </a:p>
        </p:txBody>
      </p:sp>
      <p:pic>
        <p:nvPicPr>
          <p:cNvPr id="11270" name="Picture 6" descr="image.png">
            <a:extLst>
              <a:ext uri="{FF2B5EF4-FFF2-40B4-BE49-F238E27FC236}">
                <a16:creationId xmlns:a16="http://schemas.microsoft.com/office/drawing/2014/main" id="{FBD4E4E1-2D94-2347-F1CB-D2A3194235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634" y="4147264"/>
            <a:ext cx="6047009" cy="242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797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17BA2-14D3-0EBD-7F01-4E0E161D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3E797-F1C9-9C7F-FF67-4AB807548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5857" y="204181"/>
            <a:ext cx="9081887" cy="701675"/>
          </a:xfrm>
        </p:spPr>
        <p:txBody>
          <a:bodyPr>
            <a:normAutofit/>
          </a:bodyPr>
          <a:lstStyle/>
          <a:p>
            <a:r>
              <a:rPr lang="ru-RU" dirty="0"/>
              <a:t>Статистические </a:t>
            </a:r>
            <a:r>
              <a:rPr lang="ru-RU" dirty="0" err="1"/>
              <a:t>сво</a:t>
            </a:r>
            <a:r>
              <a:rPr lang="ru-RU" dirty="0"/>
              <a:t>	</a:t>
            </a:r>
            <a:r>
              <a:rPr lang="ru-RU" dirty="0" err="1"/>
              <a:t>йства</a:t>
            </a:r>
            <a:r>
              <a:rPr lang="ru-RU" dirty="0"/>
              <a:t> ВР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C2C294-7A96-5E70-2A21-B81587DAE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585" y="875278"/>
            <a:ext cx="11644829" cy="5982722"/>
          </a:xfrm>
        </p:spPr>
        <p:txBody>
          <a:bodyPr>
            <a:noAutofit/>
          </a:bodyPr>
          <a:lstStyle/>
          <a:p>
            <a:r>
              <a:rPr lang="en-US" sz="2200" dirty="0" err="1"/>
              <a:t>Е</a:t>
            </a:r>
            <a:r>
              <a:rPr lang="ru-RU" sz="2200" dirty="0" err="1"/>
              <a:t>сли</a:t>
            </a:r>
            <a:r>
              <a:rPr lang="ru-RU" sz="2200" dirty="0"/>
              <a:t> временной ряд не является белым гауссовым шумом и не нарушает принципов оцифровки ВР, то каждый его отсчет зависим от предыдущих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/>
              <a:t>Введем для такого ряда статистические свойства: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b="1" dirty="0"/>
              <a:t>Автокорреляция (АКФ) </a:t>
            </a:r>
            <a:r>
              <a:rPr lang="ru-RU" sz="2200" dirty="0"/>
              <a:t>– зависимость каждого значения ВР от его предыдущих значений (бывает полная и частичная АКФ). 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200" b="1" dirty="0"/>
              <a:t>Стационарность</a:t>
            </a:r>
            <a:r>
              <a:rPr lang="ru-RU" sz="2200" dirty="0"/>
              <a:t> – свойства сохранности основных статистических значений независимо от момента взятия выборки ВР (сильная и слабая стационарность</a:t>
            </a:r>
            <a:r>
              <a:rPr lang="ru-RU" dirty="0"/>
              <a:t>)</a:t>
            </a:r>
            <a:endParaRPr lang="ru-RU" sz="12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dirty="0"/>
              <a:t>Могут быть и другие статистические показатели, например: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ru-RU" b="1" dirty="0"/>
              <a:t>Гомоскедастичность</a:t>
            </a:r>
            <a:r>
              <a:rPr lang="ru-RU" dirty="0"/>
              <a:t> – свойство ВР сохранять дисперсию во времени. </a:t>
            </a:r>
            <a:r>
              <a:rPr lang="ru-RU" b="1" dirty="0" err="1"/>
              <a:t>Гетероскедастичность</a:t>
            </a:r>
            <a:r>
              <a:rPr lang="ru-RU" dirty="0"/>
              <a:t> (</a:t>
            </a:r>
            <a:r>
              <a:rPr lang="en" dirty="0"/>
              <a:t>Heteroskedasticity)</a:t>
            </a:r>
            <a:r>
              <a:rPr lang="ru-RU" dirty="0"/>
              <a:t> – волатильность ВР 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ru-RU" b="1" dirty="0"/>
              <a:t>Окрашенность шума </a:t>
            </a:r>
            <a:r>
              <a:rPr lang="ru-RU" dirty="0"/>
              <a:t>– наличие в шуме автокорреляционных свойств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ru-RU" b="1" dirty="0"/>
              <a:t>Долговременная связанность </a:t>
            </a:r>
            <a:r>
              <a:rPr lang="ru-RU" dirty="0"/>
              <a:t>(показатель Херста) – долговременная зависимость  ВР от своих лагов (напр. Тренд)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ru-RU" b="1" dirty="0"/>
              <a:t>Нелинейность ВР</a:t>
            </a:r>
            <a:r>
              <a:rPr lang="ru-RU" dirty="0"/>
              <a:t> – компоненты связаны сложными зависимостями (напр. Модуляция)</a:t>
            </a:r>
          </a:p>
          <a:p>
            <a:pPr lvl="2">
              <a:lnSpc>
                <a:spcPct val="120000"/>
              </a:lnSpc>
              <a:spcBef>
                <a:spcPts val="0"/>
              </a:spcBef>
            </a:pPr>
            <a:r>
              <a:rPr lang="ru-RU" b="1" dirty="0"/>
              <a:t>Структурные разрывы </a:t>
            </a:r>
            <a:r>
              <a:rPr lang="ru-RU" dirty="0"/>
              <a:t>(ряд с новизной или точками перегиба)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313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8AA7BF-8316-D890-B7B7-600FCCA1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895" y="150379"/>
            <a:ext cx="10968210" cy="703511"/>
          </a:xfrm>
        </p:spPr>
        <p:txBody>
          <a:bodyPr/>
          <a:lstStyle/>
          <a:p>
            <a:pPr algn="ctr"/>
            <a:r>
              <a:rPr lang="en-US" dirty="0" err="1"/>
              <a:t>Авто</a:t>
            </a:r>
            <a:r>
              <a:rPr lang="ru-RU" dirty="0"/>
              <a:t>корреляция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093D9483-0912-FC98-5071-FB3F2E1816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81906" y="835163"/>
                <a:ext cx="9098068" cy="5108327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Получим численную оценку степени влияния значения 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 </a:t>
                </a:r>
                <a:r>
                  <a:rPr lang="ru-RU" sz="2200" dirty="0"/>
                  <a:t>на значение 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l-GR" sz="2200" dirty="0"/>
                  <a:t>​</a:t>
                </a:r>
                <a:r>
                  <a:rPr lang="ru-RU" sz="2200" dirty="0"/>
                  <a:t> (оценки корреляции) в виде коэффициента корреляции Пирсона для ВР с самим собой со сдвигом на </a:t>
                </a:r>
                <a:r>
                  <a:rPr lang="el-GR" sz="2200" i="1" dirty="0"/>
                  <a:t>τ</a:t>
                </a:r>
                <a:r>
                  <a:rPr lang="ru-RU" sz="2200" i="1" dirty="0"/>
                  <a:t> – автокорреляцию ВР (АКФ)</a:t>
                </a:r>
                <a:r>
                  <a:rPr lang="el-GR" sz="2200" dirty="0"/>
                  <a:t>. </a:t>
                </a: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093D9483-0912-FC98-5071-FB3F2E1816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1906" y="835163"/>
                <a:ext cx="9098068" cy="5108327"/>
              </a:xfrm>
              <a:blipFill>
                <a:blip r:embed="rId3"/>
                <a:stretch>
                  <a:fillRect l="-837" t="-7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9BF6D1-54CF-35BD-E4B5-79CA80A49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6A7C23-B4C9-1379-DEDE-66289A5EDAC3}"/>
                  </a:ext>
                </a:extLst>
              </p:cNvPr>
              <p:cNvSpPr txBox="1"/>
              <p:nvPr/>
            </p:nvSpPr>
            <p:spPr>
              <a:xfrm>
                <a:off x="1181026" y="2218404"/>
                <a:ext cx="6097836" cy="9255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𝑐𝑜𝑟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</m:e>
                          </m:nary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𝑒𝑣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ru-RU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ru-RU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𝑒𝑣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6A7C23-B4C9-1379-DEDE-66289A5ED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1026" y="2218404"/>
                <a:ext cx="6097836" cy="925574"/>
              </a:xfrm>
              <a:prstGeom prst="rect">
                <a:avLst/>
              </a:prstGeom>
              <a:blipFill>
                <a:blip r:embed="rId4"/>
                <a:stretch>
                  <a:fillRect t="-5945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63DC12-0338-EE14-31B0-8390E944A4C0}"/>
                  </a:ext>
                </a:extLst>
              </p:cNvPr>
              <p:cNvSpPr txBox="1"/>
              <p:nvPr/>
            </p:nvSpPr>
            <p:spPr>
              <a:xfrm>
                <a:off x="281906" y="3240547"/>
                <a:ext cx="8959469" cy="1720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1800" dirty="0"/>
                  <a:t>Где среднее значений (или ожидаемое значение),</a:t>
                </a:r>
                <a:r>
                  <a:rPr lang="ru-RU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𝑒𝑣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18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1800" i="1" dirty="0">
                        <a:latin typeface="Cambria Math" panose="02040503050406030204" pitchFamily="18" charset="0"/>
                      </a:rPr>
                      <m:t> теор. формула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𝑒𝑣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</m:t>
                    </m:r>
                    <m:nary>
                      <m:naryPr>
                        <m:chr m:val="∑"/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)</m:t>
                        </m:r>
                        <m:sSub>
                          <m:sSubPr>
                            <m:ctrlPr>
                              <a:rPr lang="en-US" sz="18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sz="1800" dirty="0"/>
              </a:p>
              <a:p>
                <a:r>
                  <a:rPr lang="ru-RU" sz="1800" dirty="0"/>
                  <a:t>где y - выборки размера N,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1800" dirty="0">
                        <a:latin typeface="Cambria Math" panose="02040503050406030204" pitchFamily="18" charset="0"/>
                      </a:rPr>
                      <m:t>распределение значений величины</m:t>
                    </m:r>
                  </m:oMath>
                </a14:m>
                <a:r>
                  <a:rPr lang="ru-RU" sz="1800" dirty="0"/>
                  <a:t> </a:t>
                </a:r>
                <a:r>
                  <a:rPr lang="ru-RU" i="1" dirty="0">
                    <a:latin typeface="Cambria Math" panose="02040503050406030204" pitchFamily="18" charset="0"/>
                  </a:rPr>
                  <a:t/>
                </a:r>
                <a:br>
                  <a:rPr lang="ru-RU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𝑣𝑎𝑟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𝑒𝑣</m:t>
                                </m:r>
                              </m:e>
                            </m:d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i="1" dirty="0">
                        <a:latin typeface="Cambria Math" panose="02040503050406030204" pitchFamily="18" charset="0"/>
                      </a:rPr>
                      <m:t>;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𝑠𝑡𝑑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=</m:t>
                    </m:r>
                    <m:rad>
                      <m:radPr>
                        <m:degHide m:val="on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𝑣𝑎𝑟</m:t>
                        </m:r>
                      </m:e>
                    </m:rad>
                    <m:r>
                      <a:rPr lang="en-US" i="1" dirty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ru-RU" dirty="0"/>
                  <a:t>где </a:t>
                </a:r>
                <a:r>
                  <a:rPr lang="ru-RU" dirty="0" err="1"/>
                  <a:t>var</a:t>
                </a:r>
                <a:r>
                  <a:rPr lang="ru-RU" dirty="0"/>
                  <a:t> - дисперсия; </a:t>
                </a:r>
                <a:r>
                  <a:rPr lang="ru-RU" dirty="0" err="1"/>
                  <a:t>std</a:t>
                </a:r>
                <a:r>
                  <a:rPr lang="ru-RU" dirty="0"/>
                  <a:t> - стандартное отклонение</a:t>
                </a:r>
                <a:endParaRPr lang="en-US" dirty="0"/>
              </a:p>
              <a:p>
                <a:endParaRPr lang="ru-RU" sz="1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363DC12-0338-EE14-31B0-8390E944A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06" y="3240547"/>
                <a:ext cx="8959469" cy="1720920"/>
              </a:xfrm>
              <a:prstGeom prst="rect">
                <a:avLst/>
              </a:prstGeom>
              <a:blipFill>
                <a:blip r:embed="rId5"/>
                <a:stretch>
                  <a:fillRect l="-3541" t="-22059" b="-16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AE15FCB-CB7C-BA1A-51AD-54785DA7748B}"/>
              </a:ext>
            </a:extLst>
          </p:cNvPr>
          <p:cNvSpPr txBox="1"/>
          <p:nvPr/>
        </p:nvSpPr>
        <p:spPr>
          <a:xfrm>
            <a:off x="298402" y="4930470"/>
            <a:ext cx="53911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323232"/>
                </a:solidFill>
                <a:effectLst/>
                <a:latin typeface="__YSText_10659f"/>
              </a:rPr>
              <a:t>Например, если мы хотим оценить степень влияния сегодняшней температуры на завтрашнюю, то посчитаем коэффициент корреляции исходного ряда и его</a:t>
            </a:r>
            <a:r>
              <a:rPr lang="en-US" b="0" i="0" dirty="0">
                <a:solidFill>
                  <a:srgbClr val="323232"/>
                </a:solidFill>
                <a:effectLst/>
                <a:latin typeface="__YSText_10659f"/>
              </a:rPr>
              <a:t> </a:t>
            </a:r>
            <a:r>
              <a:rPr lang="en-US" b="0" i="0" dirty="0" err="1">
                <a:solidFill>
                  <a:srgbClr val="323232"/>
                </a:solidFill>
                <a:effectLst/>
                <a:latin typeface="__YSText_10659f"/>
              </a:rPr>
              <a:t>же</a:t>
            </a:r>
            <a:r>
              <a:rPr lang="ru-RU" b="0" i="0" dirty="0">
                <a:solidFill>
                  <a:srgbClr val="323232"/>
                </a:solidFill>
                <a:effectLst/>
                <a:latin typeface="__YSText_10659f"/>
              </a:rPr>
              <a:t>, сдвинутым на 1 день.</a:t>
            </a:r>
            <a:endParaRPr lang="ru-RU" dirty="0"/>
          </a:p>
        </p:txBody>
      </p:sp>
      <p:pic>
        <p:nvPicPr>
          <p:cNvPr id="1026" name="Picture 2" descr="2.6.1 Взаимная и автокорреляционные функции сигнала">
            <a:extLst>
              <a:ext uri="{FF2B5EF4-FFF2-40B4-BE49-F238E27FC236}">
                <a16:creationId xmlns:a16="http://schemas.microsoft.com/office/drawing/2014/main" id="{54264BB7-C97E-AA39-943C-3D1F85AC6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974" y="502134"/>
            <a:ext cx="2530059" cy="4027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ACF of monthly Australian antidiabetic drug sales.">
            <a:extLst>
              <a:ext uri="{FF2B5EF4-FFF2-40B4-BE49-F238E27FC236}">
                <a16:creationId xmlns:a16="http://schemas.microsoft.com/office/drawing/2014/main" id="{A05E2094-6729-56A7-F169-31F127E0F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9600" y="4625950"/>
            <a:ext cx="6367450" cy="19094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6B5F1B-9791-B173-52B5-AF455F6A693C}"/>
              </a:ext>
            </a:extLst>
          </p:cNvPr>
          <p:cNvSpPr txBox="1"/>
          <p:nvPr/>
        </p:nvSpPr>
        <p:spPr>
          <a:xfrm>
            <a:off x="298402" y="6351908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/fpp3/</a:t>
            </a:r>
            <a:r>
              <a:rPr lang="ru-RU" dirty="0" err="1"/>
              <a:t>acf.html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21770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3ED5BB-127A-7415-8A44-D4E77DF70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6776" y="200518"/>
            <a:ext cx="10847024" cy="725545"/>
          </a:xfrm>
        </p:spPr>
        <p:txBody>
          <a:bodyPr/>
          <a:lstStyle/>
          <a:p>
            <a:pPr algn="ctr"/>
            <a:r>
              <a:rPr lang="ru-RU" dirty="0"/>
              <a:t>З</a:t>
            </a:r>
            <a:r>
              <a:rPr lang="en-US" dirty="0" err="1"/>
              <a:t>амеч</a:t>
            </a:r>
            <a:r>
              <a:rPr lang="ru-RU" dirty="0" err="1"/>
              <a:t>ания</a:t>
            </a:r>
            <a:r>
              <a:rPr lang="ru-RU" dirty="0"/>
              <a:t> </a:t>
            </a:r>
            <a:r>
              <a:rPr lang="ru-RU" dirty="0" smtClean="0"/>
              <a:t>к автокорреляции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03E3889A-0244-8314-4FF6-4AEB15AC90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5166" y="773426"/>
                <a:ext cx="11655846" cy="5086293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sz="2400" dirty="0"/>
                  <a:t>&gt;0 – </a:t>
                </a:r>
                <a:r>
                  <a:rPr lang="ru-RU" sz="2400" dirty="0"/>
                  <a:t>положительная корреляция, то есть чем </a:t>
                </a:r>
                <a:r>
                  <a:rPr lang="ru-RU" sz="2400" i="1" dirty="0"/>
                  <a:t>больше</a:t>
                </a:r>
                <a:r>
                  <a:rPr lang="ru-RU" sz="2400" dirty="0"/>
                  <a:t> было значение вчера, тем оно будет </a:t>
                </a:r>
                <a:r>
                  <a:rPr lang="ru-RU" sz="2400" i="1" dirty="0"/>
                  <a:t>больше</a:t>
                </a:r>
                <a:r>
                  <a:rPr lang="ru-RU" sz="2400" dirty="0"/>
                  <a:t> сегодня;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sz="2400" dirty="0"/>
                  <a:t>​&lt;0 – </a:t>
                </a:r>
                <a:r>
                  <a:rPr lang="ru-RU" sz="2400" dirty="0"/>
                  <a:t>отрицательная корреляция, то есть чем </a:t>
                </a:r>
                <a:r>
                  <a:rPr lang="ru-RU" sz="2400" i="1" dirty="0"/>
                  <a:t>больше</a:t>
                </a:r>
                <a:r>
                  <a:rPr lang="ru-RU" sz="2400" dirty="0"/>
                  <a:t> было значение вчера, тем оно будет </a:t>
                </a:r>
                <a:r>
                  <a:rPr lang="ru-RU" sz="2400" i="1" dirty="0"/>
                  <a:t>меньше</a:t>
                </a:r>
                <a:r>
                  <a:rPr lang="ru-RU" sz="2400" dirty="0"/>
                  <a:t> сегодня;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dirty="0"/>
                      <m:t>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𝑐𝑜𝑟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m:rPr>
                        <m:nor/>
                      </m:rPr>
                      <a:rPr lang="el-GR" sz="2400" dirty="0"/>
                      <m:t>​∣⩽1;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sz="2400" dirty="0"/>
                  <a:t>=1 </a:t>
                </a:r>
                <a:r>
                  <a:rPr lang="ru-RU" sz="2400" dirty="0"/>
                  <a:t>означает строгую линейную зависимость.</a:t>
                </a:r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" sz="2400" dirty="0"/>
                      <m:t>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nor/>
                      </m:rPr>
                      <a:rPr lang="el-GR" sz="2400" dirty="0"/>
                      <m:t>​∣⩽</m:t>
                    </m:r>
                    <m:r>
                      <m:rPr>
                        <m:nor/>
                      </m:rPr>
                      <a:rPr lang="ru-RU" sz="2400" b="0" i="0" dirty="0" smtClean="0"/>
                      <m:t>0.05 (0.01) может колебаться из за шума</m:t>
                    </m:r>
                  </m:oMath>
                </a14:m>
                <a:endParaRPr lang="ru-RU" sz="2400" b="0" dirty="0"/>
              </a:p>
              <a:p>
                <a:r>
                  <a:rPr lang="ru-RU" sz="2400" dirty="0"/>
                  <a:t>Значимые корреляции проверяются отельными</a:t>
                </a:r>
                <a:br>
                  <a:rPr lang="ru-RU" sz="2400" dirty="0"/>
                </a:br>
                <a:r>
                  <a:rPr lang="ru-RU" sz="2400" dirty="0"/>
                  <a:t> стат. тестами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03E3889A-0244-8314-4FF6-4AEB15AC90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5166" y="773426"/>
                <a:ext cx="11655846" cy="5086293"/>
              </a:xfrm>
              <a:blipFill>
                <a:blip r:embed="rId2"/>
                <a:stretch>
                  <a:fillRect l="-653" t="-1244" r="-9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0DB019B-3104-A600-AEB2-42CB0E2A7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61474F1-1290-7EF6-E2E4-2A58FE82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084" y="4898985"/>
            <a:ext cx="4982760" cy="1454427"/>
          </a:xfrm>
          <a:prstGeom prst="rect">
            <a:avLst/>
          </a:prstGeom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7E8AF36A-0838-C3AB-9A29-306D244FB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205" y="2679878"/>
            <a:ext cx="4655171" cy="3179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8999D0E-571B-F326-BDB2-26FF2D54EFBE}"/>
              </a:ext>
            </a:extLst>
          </p:cNvPr>
          <p:cNvSpPr txBox="1"/>
          <p:nvPr/>
        </p:nvSpPr>
        <p:spPr>
          <a:xfrm>
            <a:off x="6136434" y="5707081"/>
            <a:ext cx="5740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Четыре различных набора данных, коэффициент корреляции на которых равен 0.81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B4922-0E0E-77D6-DC87-7ED5B07D70E3}"/>
              </a:ext>
            </a:extLst>
          </p:cNvPr>
          <p:cNvSpPr txBox="1"/>
          <p:nvPr/>
        </p:nvSpPr>
        <p:spPr>
          <a:xfrm>
            <a:off x="478090" y="6247588"/>
            <a:ext cx="51353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analitika-vremennyh-ryadov</a:t>
            </a:r>
            <a:endParaRPr lang="ru-RU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1EC631-2FAB-3BE2-13B0-4F9C3AF0E2A7}"/>
              </a:ext>
            </a:extLst>
          </p:cNvPr>
          <p:cNvSpPr txBox="1"/>
          <p:nvPr/>
        </p:nvSpPr>
        <p:spPr>
          <a:xfrm>
            <a:off x="5759374" y="6280875"/>
            <a:ext cx="6252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</a:t>
            </a:r>
            <a:r>
              <a:rPr lang="ru-RU" sz="1200" dirty="0"/>
              <a:t>://</a:t>
            </a:r>
            <a:r>
              <a:rPr lang="ru-RU" sz="1200" dirty="0" err="1"/>
              <a:t>www.machinelearning.ru</a:t>
            </a:r>
            <a:r>
              <a:rPr lang="ru-RU" sz="1200" dirty="0"/>
              <a:t>/</a:t>
            </a:r>
            <a:r>
              <a:rPr lang="ru-RU" sz="1200" dirty="0" err="1"/>
              <a:t>wiki</a:t>
            </a:r>
            <a:r>
              <a:rPr lang="ru-RU" sz="1200" dirty="0"/>
              <a:t>/</a:t>
            </a:r>
            <a:r>
              <a:rPr lang="ru-RU" sz="1200" dirty="0" err="1"/>
              <a:t>index.php?title</a:t>
            </a:r>
            <a:r>
              <a:rPr lang="ru-RU" sz="1200" dirty="0"/>
              <a:t>= </a:t>
            </a:r>
            <a:r>
              <a:rPr lang="ru-RU" sz="1200" dirty="0" err="1"/>
              <a:t>Коэффициент_корреляции_Пирсона</a:t>
            </a:r>
            <a:endParaRPr lang="ru-RU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DF8012A-2CB8-72E3-3F96-4D182E87DB07}"/>
                  </a:ext>
                </a:extLst>
              </p:cNvPr>
              <p:cNvSpPr txBox="1"/>
              <p:nvPr/>
            </p:nvSpPr>
            <p:spPr>
              <a:xfrm>
                <a:off x="839769" y="4201000"/>
                <a:ext cx="609783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l-GR" sz="1800" dirty="0"/>
                  <a:t>=0 – </a:t>
                </a:r>
                <a:r>
                  <a:rPr lang="ru-RU" sz="1800" dirty="0"/>
                  <a:t>отсутствие автокорреляции, при этом значения могут быть зависимыми;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DF8012A-2CB8-72E3-3F96-4D182E87DB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69" y="4201000"/>
                <a:ext cx="6097836" cy="646331"/>
              </a:xfrm>
              <a:prstGeom prst="rect">
                <a:avLst/>
              </a:prstGeom>
              <a:blipFill>
                <a:blip r:embed="rId5"/>
                <a:stretch>
                  <a:fillRect l="-1040" t="-3846" b="-134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99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808D33-ED14-B6CA-1D53-1B9E7F3C7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154" y="251842"/>
            <a:ext cx="11023294" cy="1067067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дорожно-транспортных происшествий за 14 лет с дискретностью 1 месяц,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0EB80A-8708-FE17-1283-675B44B1F6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860" y="1290544"/>
            <a:ext cx="6409987" cy="5567456"/>
          </a:xfrm>
        </p:spPr>
        <p:txBody>
          <a:bodyPr>
            <a:normAutofit/>
          </a:bodyPr>
          <a:lstStyle/>
          <a:p>
            <a:r>
              <a:rPr lang="ru-RU" sz="2000" dirty="0"/>
              <a:t>Видна годовая сезонность.</a:t>
            </a:r>
          </a:p>
          <a:p>
            <a:r>
              <a:rPr lang="ru-RU" sz="2000" dirty="0"/>
              <a:t>На графике АКФ видны максимуму на 12 лагах</a:t>
            </a:r>
          </a:p>
          <a:p>
            <a:r>
              <a:rPr lang="en" sz="2000" i="1" dirty="0"/>
              <a:t>r</a:t>
            </a:r>
            <a:r>
              <a:rPr lang="en" sz="2000" baseline="-25000" dirty="0"/>
              <a:t>12</a:t>
            </a:r>
            <a:r>
              <a:rPr lang="en" sz="2000" dirty="0"/>
              <a:t>​ </a:t>
            </a:r>
            <a:r>
              <a:rPr lang="ru-RU" sz="2000" dirty="0"/>
              <a:t>является локальным максимумом, что означает высокую положительную корреляцию значения ряда за текущий месяц с аналогичным значением год назад. </a:t>
            </a:r>
          </a:p>
          <a:p>
            <a:r>
              <a:rPr lang="ru-RU" sz="2200" dirty="0"/>
              <a:t>Закрашенная область визуализирует границу незначимой автокорреляции, то есть тех значений автокорреляции, для которых не выявлена статистически значимое отличие от 0 (иначе говоря, доверительный интервал пересекает 0).</a:t>
            </a:r>
          </a:p>
          <a:p>
            <a:r>
              <a:rPr lang="ru-RU" sz="2200" dirty="0"/>
              <a:t>Значимые лаги: 1, 2, 6, 12, 24 – именно эти лаги связаны и на них имеет смысл строить прогноз (0 лаг не считается!)</a:t>
            </a:r>
            <a:endParaRPr lang="ru-RU" sz="13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077126-4ACD-5BB7-D444-3F25CEA34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pic>
        <p:nvPicPr>
          <p:cNvPr id="2050" name="Picture 2" descr="ex">
            <a:extLst>
              <a:ext uri="{FF2B5EF4-FFF2-40B4-BE49-F238E27FC236}">
                <a16:creationId xmlns:a16="http://schemas.microsoft.com/office/drawing/2014/main" id="{E80B7204-5939-A61A-3D66-4CB8D9AE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9200" y="1230123"/>
            <a:ext cx="5562294" cy="2374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ex">
            <a:extLst>
              <a:ext uri="{FF2B5EF4-FFF2-40B4-BE49-F238E27FC236}">
                <a16:creationId xmlns:a16="http://schemas.microsoft.com/office/drawing/2014/main" id="{7F87FE3F-E8B0-649D-36C2-1720B1430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8122" y="4049782"/>
            <a:ext cx="5420299" cy="240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FE1161-304E-9255-4C0B-8F9D8EADCD32}"/>
              </a:ext>
            </a:extLst>
          </p:cNvPr>
          <p:cNvSpPr txBox="1"/>
          <p:nvPr/>
        </p:nvSpPr>
        <p:spPr>
          <a:xfrm>
            <a:off x="3581401" y="6452782"/>
            <a:ext cx="84967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education.yandex.ru</a:t>
            </a:r>
            <a:r>
              <a:rPr lang="ru-RU" sz="1600" dirty="0"/>
              <a:t>/</a:t>
            </a:r>
            <a:r>
              <a:rPr lang="ru-RU" sz="1600" dirty="0" err="1"/>
              <a:t>handbook</a:t>
            </a:r>
            <a:r>
              <a:rPr lang="ru-RU" sz="1600" dirty="0"/>
              <a:t>/</a:t>
            </a:r>
            <a:r>
              <a:rPr lang="ru-RU" sz="1600" dirty="0" err="1"/>
              <a:t>ml</a:t>
            </a:r>
            <a:r>
              <a:rPr lang="ru-RU" sz="1600" dirty="0"/>
              <a:t>/</a:t>
            </a:r>
            <a:r>
              <a:rPr lang="ru-RU" sz="1600" dirty="0" err="1"/>
              <a:t>article</a:t>
            </a:r>
            <a:r>
              <a:rPr lang="ru-RU" sz="1600" dirty="0"/>
              <a:t>/</a:t>
            </a:r>
            <a:r>
              <a:rPr lang="ru-RU" sz="1600" dirty="0" err="1"/>
              <a:t>analitika-vremennyh-ryadov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2357885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44C83-235B-4AAE-B0A4-C9FB77FCA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33933-0FF6-28B2-7970-86106396A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120"/>
            <a:ext cx="10515600" cy="782357"/>
          </a:xfrm>
        </p:spPr>
        <p:txBody>
          <a:bodyPr/>
          <a:lstStyle/>
          <a:p>
            <a:pPr algn="ctr"/>
            <a:r>
              <a:rPr lang="ru-RU" b="1" dirty="0"/>
              <a:t>Корреляция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5E6DD14-17BE-1876-BA26-EDBFF92FB7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926" y="1010958"/>
            <a:ext cx="11293973" cy="57105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/>
              <a:t>Пример ACF. Синяя линия показывает уверенность  согласно тексту Бокса-</a:t>
            </a:r>
            <a:r>
              <a:rPr lang="ru-RU" sz="2200" dirty="0" err="1"/>
              <a:t>Льюнга</a:t>
            </a:r>
            <a:r>
              <a:rPr lang="ru-RU" sz="2200" dirty="0"/>
              <a:t> по уровню </a:t>
            </a:r>
            <a:r>
              <a:rPr lang="en-US" sz="2200" dirty="0"/>
              <a:t>p</a:t>
            </a:r>
            <a:r>
              <a:rPr lang="ru-RU" sz="2200" dirty="0"/>
              <a:t>-</a:t>
            </a:r>
            <a:r>
              <a:rPr lang="en-US" sz="2200" dirty="0"/>
              <a:t>value</a:t>
            </a:r>
            <a:r>
              <a:rPr lang="ru-RU" sz="2200" dirty="0"/>
              <a:t> 0,05(корреляции ниже – случайные).</a:t>
            </a:r>
          </a:p>
          <a:p>
            <a:pPr marL="0" indent="0">
              <a:buNone/>
            </a:pPr>
            <a:r>
              <a:rPr lang="ru-RU" sz="2200" dirty="0"/>
              <a:t>ВР не имеет тренда и сезонности, каждое следующее значение связано с 3мя предыдущими</a:t>
            </a:r>
            <a:endParaRPr lang="en-US" sz="22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96886C-6E73-E8AD-E5D2-2AF8B4037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9</a:t>
            </a:fld>
            <a:endParaRPr lang="en-US"/>
          </a:p>
        </p:txBody>
      </p:sp>
      <p:pic>
        <p:nvPicPr>
          <p:cNvPr id="6146" name="Picture 2" descr="image.png">
            <a:extLst>
              <a:ext uri="{FF2B5EF4-FFF2-40B4-BE49-F238E27FC236}">
                <a16:creationId xmlns:a16="http://schemas.microsoft.com/office/drawing/2014/main" id="{363BC3FD-33D8-EDAB-9F86-38F046F0E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594109"/>
            <a:ext cx="10515599" cy="3101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D22872-326F-18EB-8E85-45286CF14BA9}"/>
              </a:ext>
            </a:extLst>
          </p:cNvPr>
          <p:cNvSpPr txBox="1"/>
          <p:nvPr/>
        </p:nvSpPr>
        <p:spPr>
          <a:xfrm>
            <a:off x="6604000" y="602376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library.altspu.ru</a:t>
            </a:r>
            <a:r>
              <a:rPr lang="ru-RU" dirty="0"/>
              <a:t>/</a:t>
            </a:r>
            <a:r>
              <a:rPr lang="ru-RU" dirty="0" err="1"/>
              <a:t>dc</a:t>
            </a:r>
            <a:r>
              <a:rPr lang="ru-RU" dirty="0"/>
              <a:t>/</a:t>
            </a:r>
            <a:r>
              <a:rPr lang="ru-RU" dirty="0" err="1"/>
              <a:t>pdf</a:t>
            </a:r>
            <a:r>
              <a:rPr lang="ru-RU" dirty="0"/>
              <a:t>/</a:t>
            </a:r>
            <a:r>
              <a:rPr lang="ru-RU" dirty="0" err="1"/>
              <a:t>kizbikenov.pdf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95571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383EC4-8F67-20B6-5BB9-4FD4C80D2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655" y="136525"/>
            <a:ext cx="11035145" cy="909493"/>
          </a:xfrm>
        </p:spPr>
        <p:txBody>
          <a:bodyPr/>
          <a:lstStyle/>
          <a:p>
            <a:pPr algn="ctr"/>
            <a:r>
              <a:rPr lang="ru-RU" dirty="0"/>
              <a:t>Замечания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746E5-8498-3604-B42B-E7AF22FB2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878" y="861218"/>
            <a:ext cx="11631468" cy="4993482"/>
          </a:xfrm>
        </p:spPr>
        <p:txBody>
          <a:bodyPr>
            <a:normAutofit/>
          </a:bodyPr>
          <a:lstStyle/>
          <a:p>
            <a:r>
              <a:rPr lang="ru-RU" sz="2200" b="1" dirty="0"/>
              <a:t>ВР имеет тренд –&gt; </a:t>
            </a:r>
            <a:r>
              <a:rPr lang="ru-RU" sz="2200" dirty="0"/>
              <a:t>АКФ для небольших лагов, как правило, большие и положительные, поскольку наблюдения, близкие по времени, также близки по значению. </a:t>
            </a:r>
          </a:p>
          <a:p>
            <a:pPr lvl="1"/>
            <a:r>
              <a:rPr lang="ru-RU" sz="2200" dirty="0"/>
              <a:t>Таким образом, </a:t>
            </a:r>
            <a:r>
              <a:rPr lang="en" sz="2200" dirty="0"/>
              <a:t>ACF </a:t>
            </a:r>
            <a:r>
              <a:rPr lang="ru-RU" sz="2200" dirty="0"/>
              <a:t>трендового временного ряда, как правило, имеет положительные значения, которые медленно уменьшаются по мере увеличения лагов.</a:t>
            </a:r>
          </a:p>
          <a:p>
            <a:r>
              <a:rPr lang="ru-RU" sz="2200" b="1" dirty="0"/>
              <a:t>Если данные сезонные</a:t>
            </a:r>
            <a:r>
              <a:rPr lang="ru-RU" sz="2200" dirty="0"/>
              <a:t>, автокорреляции будут больше для сезонных лагов (кратных сезонному периоду), чем для других лагов.</a:t>
            </a:r>
          </a:p>
          <a:p>
            <a:r>
              <a:rPr lang="ru-RU" sz="2200" b="1" dirty="0"/>
              <a:t>Данные являются как трендовыми, так и сезонными</a:t>
            </a:r>
            <a:r>
              <a:rPr lang="ru-RU" sz="2200" dirty="0"/>
              <a:t>, будет иметь место комбинация этих эффектов</a:t>
            </a:r>
            <a:r>
              <a:rPr lang="en-US" sz="2200" dirty="0"/>
              <a:t> (</a:t>
            </a:r>
            <a:r>
              <a:rPr lang="en-US" sz="2200" dirty="0" err="1"/>
              <a:t>см</a:t>
            </a:r>
            <a:r>
              <a:rPr lang="ru-RU" sz="2200" dirty="0"/>
              <a:t>. ниже).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10439D6-FBAC-9105-9726-C0D57B538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10</a:t>
            </a:fld>
            <a:endParaRPr lang="en-US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FAE7FECC-00BF-3EB6-BCFE-927426B08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978" y="3946948"/>
            <a:ext cx="4112343" cy="2591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86AD531-2C9B-BB91-4CEE-1902E77A9A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6836" y="3960387"/>
            <a:ext cx="4304291" cy="2712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29B540-6FFC-6740-2DA4-DE2C2AF66693}"/>
              </a:ext>
            </a:extLst>
          </p:cNvPr>
          <p:cNvSpPr txBox="1"/>
          <p:nvPr/>
        </p:nvSpPr>
        <p:spPr>
          <a:xfrm>
            <a:off x="2597727" y="6488668"/>
            <a:ext cx="61375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/02-graphics.html</a:t>
            </a:r>
          </a:p>
        </p:txBody>
      </p:sp>
    </p:spTree>
    <p:extLst>
      <p:ext uri="{BB962C8B-B14F-4D97-AF65-F5344CB8AC3E}">
        <p14:creationId xmlns:p14="http://schemas.microsoft.com/office/powerpoint/2010/main" val="1917184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321867-E96A-0A79-4583-D97552637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100" y="317501"/>
            <a:ext cx="11480800" cy="723900"/>
          </a:xfrm>
        </p:spPr>
        <p:txBody>
          <a:bodyPr>
            <a:normAutofit/>
          </a:bodyPr>
          <a:lstStyle/>
          <a:p>
            <a:r>
              <a:rPr lang="ru-RU" dirty="0"/>
              <a:t>Частичная автокорреляция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619FC89-5133-BB8B-A9FF-1295B4C4D4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2900" y="1041402"/>
                <a:ext cx="11480800" cy="5135562"/>
              </a:xfrm>
            </p:spPr>
            <p:txBody>
              <a:bodyPr>
                <a:normAutofit/>
              </a:bodyPr>
              <a:lstStyle/>
              <a:p>
                <a:r>
                  <a:rPr lang="ru-RU" sz="2100" dirty="0"/>
                  <a:t>Фактически АКФ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𝑐𝑜𝑟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21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100" dirty="0"/>
                  <a:t> показывает связанность ВР  и всех сдвинутых его копий до значения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ru-RU" sz="2100" dirty="0"/>
                  <a:t>. </a:t>
                </a:r>
              </a:p>
              <a:p>
                <a:pPr lvl="1"/>
                <a:r>
                  <a:rPr lang="ru-RU" sz="2100" dirty="0"/>
                  <a:t>Иногда это мешает понять связанность конкретно с лагом</a:t>
                </a:r>
                <a:r>
                  <a:rPr lang="en-US" sz="2100" dirty="0"/>
                  <a:t> </a:t>
                </a:r>
                <a14:m>
                  <m:oMath xmlns:m="http://schemas.openxmlformats.org/officeDocument/2006/math">
                    <m:r>
                      <a:rPr lang="en-US" sz="21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ru-RU" sz="2100" dirty="0"/>
                  <a:t>. Для компенсации этого используют </a:t>
                </a:r>
                <a:r>
                  <a:rPr lang="ru-RU" sz="2100" b="1" dirty="0"/>
                  <a:t>Частичную АКФ (ЧАКФ,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z="2100" dirty="0"/>
                      <m:t>PACF</m:t>
                    </m:r>
                    <m:r>
                      <m:rPr>
                        <m:nor/>
                      </m:rPr>
                      <a:rPr lang="ru-RU" sz="2100" dirty="0"/>
                      <m:t>):</m:t>
                    </m:r>
                  </m:oMath>
                </a14:m>
                <a:endParaRPr lang="en-US" sz="21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6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00" i="1">
                          <a:latin typeface="Cambria Math" panose="02040503050406030204" pitchFamily="18" charset="0"/>
                        </a:rPr>
                        <m:t>𝑃𝐴𝐶𝐹</m:t>
                      </m:r>
                      <m:d>
                        <m:d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𝑐𝑜𝑟</m:t>
                      </m:r>
                      <m:r>
                        <a:rPr lang="en-US" sz="21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sz="21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100" i="1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sz="21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en-US" sz="21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z="2100" dirty="0"/>
                      <m:t>где</m:t>
                    </m:r>
                    <m:r>
                      <m:rPr>
                        <m:nor/>
                      </m:rPr>
                      <a:rPr lang="en-US" sz="2100" dirty="0"/>
                      <m:t> </m:t>
                    </m:r>
                    <m:sSubSup>
                      <m:sSubSup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m:rPr>
                        <m:nor/>
                      </m:rPr>
                      <a:rPr lang="en-US" sz="2100" dirty="0"/>
                      <m:t> −</m:t>
                    </m:r>
                    <m:r>
                      <m:rPr>
                        <m:nor/>
                      </m:rPr>
                      <a:rPr lang="ru-RU" sz="2100" dirty="0"/>
                      <m:t> значение, предсказанное как результат линейной регрессии </m:t>
                    </m:r>
                    <m:r>
                      <m:rPr>
                        <m:nor/>
                      </m:rPr>
                      <a:rPr lang="en-US" sz="2100" dirty="0"/>
                      <m:t> </m:t>
                    </m:r>
                    <m:r>
                      <m:rPr>
                        <m:nor/>
                      </m:rPr>
                      <a:rPr lang="ru-RU" sz="2100" dirty="0"/>
                      <m:t>по лагам </m:t>
                    </m:r>
                    <m:sSub>
                      <m:sSub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1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100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sz="2100" dirty="0"/>
                      <m:t> </m:t>
                    </m:r>
                    <m:sSub>
                      <m:sSub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1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21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ru-RU" sz="21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1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2100" dirty="0"/>
              </a:p>
              <a:p>
                <a:pPr>
                  <a:lnSpc>
                    <a:spcPct val="100000"/>
                  </a:lnSpc>
                  <a:spcBef>
                    <a:spcPts val="600"/>
                  </a:spcBef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ru-RU" sz="2100" dirty="0"/>
                      <m:t>Частичная корреляция снимает (</m:t>
                    </m:r>
                    <m:r>
                      <m:rPr>
                        <m:nor/>
                      </m:rPr>
                      <a:rPr lang="ru-RU" sz="2100" dirty="0" err="1"/>
                      <m:t>устр</m:t>
                    </m:r>
                    <m:r>
                      <m:rPr>
                        <m:nor/>
                      </m:rPr>
                      <a:rPr lang="ru-RU" sz="2100" b="0" i="0" dirty="0" smtClean="0"/>
                      <m:t>о</m:t>
                    </m:r>
                    <m:r>
                      <m:rPr>
                        <m:nor/>
                      </m:rPr>
                      <a:rPr lang="ru-RU" sz="2100" dirty="0" err="1"/>
                      <m:t>няте</m:t>
                    </m:r>
                    <m:r>
                      <m:rPr>
                        <m:nor/>
                      </m:rPr>
                      <a:rPr lang="ru-RU" sz="2100" dirty="0"/>
                      <m:t>) линейную зависимость от промежуточных лагов</m:t>
                    </m:r>
                  </m:oMath>
                </a14:m>
                <a:endParaRPr lang="en-US" sz="2100" dirty="0"/>
              </a:p>
              <a:p>
                <a:pPr marL="457200" lvl="1" indent="0">
                  <a:buNone/>
                </a:pPr>
                <a:r>
                  <a:rPr lang="ru-RU" sz="2100" dirty="0"/>
                  <a:t>Например, если мы регрессируем переменную </a:t>
                </a:r>
                <a:r>
                  <a:rPr lang="ru-RU" sz="2100" dirty="0" err="1"/>
                  <a:t>Y</a:t>
                </a:r>
                <a:r>
                  <a:rPr lang="ru-RU" sz="2100" dirty="0"/>
                  <a:t> по переменным X1, X2 и X3, частичная корреляция между </a:t>
                </a:r>
                <a:r>
                  <a:rPr lang="ru-RU" sz="2100" dirty="0" err="1"/>
                  <a:t>Y</a:t>
                </a:r>
                <a:r>
                  <a:rPr lang="ru-RU" sz="2100" dirty="0"/>
                  <a:t> и X3 - это степень корреляции между </a:t>
                </a:r>
                <a:r>
                  <a:rPr lang="ru-RU" sz="2100" dirty="0" err="1"/>
                  <a:t>Y</a:t>
                </a:r>
                <a:r>
                  <a:rPr lang="ru-RU" sz="2100" dirty="0"/>
                  <a:t> и X3, которая не объясняется их общими корреляциями с X1 и X2. </a:t>
                </a:r>
                <a:endParaRPr lang="en-US" sz="2100" dirty="0"/>
              </a:p>
              <a:p>
                <a:pPr marL="457200" lvl="1" indent="0">
                  <a:buNone/>
                </a:pPr>
                <a:r>
                  <a:rPr lang="ru-RU" b="1" dirty="0"/>
                  <a:t>	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619FC89-5133-BB8B-A9FF-1295B4C4D4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2900" y="1041402"/>
                <a:ext cx="11480800" cy="5135562"/>
              </a:xfrm>
              <a:blipFill>
                <a:blip r:embed="rId3"/>
                <a:stretch>
                  <a:fillRect l="-442" t="-14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B60B919-B531-0487-B565-BBFBD78DE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11</a:t>
            </a:fld>
            <a:endParaRPr lang="en-US"/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A70EA36A-6C6A-569D-0A4F-2A8F1F86D25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r>
              <a:rPr lang="en-US" dirty="0"/>
              <a:t>z</a:t>
            </a:r>
            <a:endParaRPr lang="ru-RU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5E3123F7-B5BC-000D-9F1B-D13A79BF0E0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F34EC4F-1B05-05D3-3E1D-CF9CAB6A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000"/>
          <a:stretch>
            <a:fillRect/>
          </a:stretch>
        </p:blipFill>
        <p:spPr>
          <a:xfrm>
            <a:off x="696423" y="4365012"/>
            <a:ext cx="4535358" cy="17575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268194A-4251-58E0-17CF-7ED2E36299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60" t="47448" r="-3360" b="2552"/>
          <a:stretch>
            <a:fillRect/>
          </a:stretch>
        </p:blipFill>
        <p:spPr>
          <a:xfrm>
            <a:off x="6342921" y="4285595"/>
            <a:ext cx="4535358" cy="17575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B843FAA-D681-989C-D7DB-7844E3AC3F6C}"/>
              </a:ext>
            </a:extLst>
          </p:cNvPr>
          <p:cNvSpPr txBox="1"/>
          <p:nvPr/>
        </p:nvSpPr>
        <p:spPr>
          <a:xfrm>
            <a:off x="5419493" y="6059206"/>
            <a:ext cx="3878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</a:t>
            </a:r>
            <a:r>
              <a:rPr lang="en-US" dirty="0" err="1"/>
              <a:t>а</a:t>
            </a:r>
            <a:r>
              <a:rPr lang="ru-RU" dirty="0"/>
              <a:t> ЧАКФ видны сезонные колебания </a:t>
            </a:r>
          </a:p>
        </p:txBody>
      </p:sp>
    </p:spTree>
    <p:extLst>
      <p:ext uri="{BB962C8B-B14F-4D97-AF65-F5344CB8AC3E}">
        <p14:creationId xmlns:p14="http://schemas.microsoft.com/office/powerpoint/2010/main" val="4076568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AFBC2-18F6-B6F1-089D-7DA695D3C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78F64A-909A-8502-663F-7CEF36850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2100" y="317501"/>
            <a:ext cx="11480800" cy="723900"/>
          </a:xfrm>
        </p:spPr>
        <p:txBody>
          <a:bodyPr>
            <a:normAutofit/>
          </a:bodyPr>
          <a:lstStyle/>
          <a:p>
            <a:r>
              <a:rPr lang="ru-RU" dirty="0"/>
              <a:t>Частичная автокорреляция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89A096-BA9C-B641-5BB5-6DD59D4EC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0" y="1041402"/>
            <a:ext cx="11480800" cy="5135562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ru-RU" b="1" dirty="0"/>
              <a:t>	пример: В индустрии: </a:t>
            </a:r>
            <a:r>
              <a:rPr lang="ru-RU" dirty="0"/>
              <a:t>отделение сигнала поломки оборудования по вибрации от регулярных вибраций</a:t>
            </a:r>
          </a:p>
          <a:p>
            <a:pPr marL="457200" lvl="1" indent="0">
              <a:buNone/>
            </a:pPr>
            <a:r>
              <a:rPr lang="ru-RU" b="1" dirty="0"/>
              <a:t>в гидрологии </a:t>
            </a:r>
            <a:r>
              <a:rPr lang="en" dirty="0"/>
              <a:t>PACF </a:t>
            </a:r>
            <a:r>
              <a:rPr lang="ru-RU" dirty="0"/>
              <a:t>отделяет влияние непосредственных предшествующих наблюдений от сезонных эффектов</a:t>
            </a:r>
          </a:p>
          <a:p>
            <a:pPr marL="457200" lvl="1" indent="0">
              <a:buNone/>
            </a:pPr>
            <a:r>
              <a:rPr lang="ru-RU" b="1" dirty="0"/>
              <a:t>		в машинном обучении: </a:t>
            </a:r>
            <a:r>
              <a:rPr lang="ru-RU" dirty="0"/>
              <a:t>формирование признаков только из нужных лагов без избыточности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DF9A2F-EC74-30BC-44D8-4BFE998E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403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47D957-91ED-4DFD-BF38-CD0297336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4120"/>
            <a:ext cx="10515600" cy="782357"/>
          </a:xfrm>
        </p:spPr>
        <p:txBody>
          <a:bodyPr/>
          <a:lstStyle/>
          <a:p>
            <a:pPr algn="ctr"/>
            <a:r>
              <a:rPr lang="ru-RU" b="1" dirty="0"/>
              <a:t>Анализ стационарности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4718F5E-C23C-4099-A406-E529666DEA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072" y="1006477"/>
            <a:ext cx="11222182" cy="58174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/>
              <a:t>Нестационарный ряд </a:t>
            </a:r>
            <a:r>
              <a:rPr lang="ru-RU" sz="2400" dirty="0"/>
              <a:t>- временной ряд считается нестационарным, если некоторые из его статистических свойств меняются с течением времени. </a:t>
            </a:r>
          </a:p>
          <a:p>
            <a:pPr marL="0" indent="0">
              <a:buNone/>
            </a:pPr>
            <a:r>
              <a:rPr lang="ru-RU" sz="2400" dirty="0"/>
              <a:t>Другими словами, ВР имеет переменную среднего времени, дисперсию или другие статистические характеристики.</a:t>
            </a:r>
            <a:endParaRPr lang="en-US" sz="32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E4B016-46C5-1BFB-262D-5EBB825C0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13</a:t>
            </a:fld>
            <a:endParaRPr lang="en-US"/>
          </a:p>
        </p:txBody>
      </p:sp>
      <p:pic>
        <p:nvPicPr>
          <p:cNvPr id="7170" name="Picture 2" descr="image.png">
            <a:extLst>
              <a:ext uri="{FF2B5EF4-FFF2-40B4-BE49-F238E27FC236}">
                <a16:creationId xmlns:a16="http://schemas.microsoft.com/office/drawing/2014/main" id="{0FBAF8A5-46C7-4F6E-B148-B2008975F9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35"/>
          <a:stretch/>
        </p:blipFill>
        <p:spPr bwMode="auto">
          <a:xfrm>
            <a:off x="2366105" y="2938311"/>
            <a:ext cx="6992302" cy="3132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 descr="Stationarity in time series analysis | by Shay Palachy | Towards Data  Science"/>
          <p:cNvSpPr>
            <a:spLocks noChangeAspect="1" noChangeArrowheads="1"/>
          </p:cNvSpPr>
          <p:nvPr/>
        </p:nvSpPr>
        <p:spPr bwMode="auto">
          <a:xfrm>
            <a:off x="-1368425" y="-144462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 sz="1351"/>
          </a:p>
        </p:txBody>
      </p:sp>
    </p:spTree>
    <p:extLst>
      <p:ext uri="{BB962C8B-B14F-4D97-AF65-F5344CB8AC3E}">
        <p14:creationId xmlns:p14="http://schemas.microsoft.com/office/powerpoint/2010/main" val="164417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30CA84-E3AD-B7BB-82C3-9F98F663E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24" y="365125"/>
            <a:ext cx="10946176" cy="604359"/>
          </a:xfrm>
        </p:spPr>
        <p:txBody>
          <a:bodyPr>
            <a:normAutofit fontScale="90000"/>
          </a:bodyPr>
          <a:lstStyle/>
          <a:p>
            <a:r>
              <a:rPr lang="ru-RU" dirty="0"/>
              <a:t>Стационарность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8EA5FD-8A38-5591-1AF1-A2953088A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624" y="946446"/>
            <a:ext cx="11673540" cy="4965108"/>
          </a:xfrm>
        </p:spPr>
        <p:txBody>
          <a:bodyPr>
            <a:normAutofit/>
          </a:bodyPr>
          <a:lstStyle/>
          <a:p>
            <a:r>
              <a:rPr lang="ru-RU" sz="2200" b="1" dirty="0"/>
              <a:t>В узком смысле, </a:t>
            </a:r>
            <a:r>
              <a:rPr lang="ru-RU" sz="2200" dirty="0"/>
              <a:t>при сдвиге в любой момент времени ВР на одном и </a:t>
            </a:r>
            <a:r>
              <a:rPr lang="ru-RU" sz="2200" dirty="0" err="1"/>
              <a:t>томже</a:t>
            </a:r>
            <a:r>
              <a:rPr lang="ru-RU" sz="2200" dirty="0"/>
              <a:t> размер. Выборки имеет одно и тоже распределение </a:t>
            </a:r>
          </a:p>
          <a:p>
            <a:pPr lvl="1"/>
            <a:r>
              <a:rPr lang="ru-RU" sz="2200" dirty="0"/>
              <a:t>если для любых  </a:t>
            </a:r>
            <a:r>
              <a:rPr lang="en" sz="2200" dirty="0"/>
              <a:t>t</a:t>
            </a:r>
            <a:r>
              <a:rPr lang="en" sz="2200" baseline="-25000" dirty="0"/>
              <a:t>1</a:t>
            </a:r>
            <a:r>
              <a:rPr lang="en" sz="2200" dirty="0"/>
              <a:t>,...,</a:t>
            </a:r>
            <a:r>
              <a:rPr lang="en" sz="2200" dirty="0" err="1"/>
              <a:t>t</a:t>
            </a:r>
            <a:r>
              <a:rPr lang="en" sz="2200" baseline="-25000" dirty="0" err="1"/>
              <a:t>n</a:t>
            </a:r>
            <a:r>
              <a:rPr lang="en" sz="2200" dirty="0"/>
              <a:t>,</a:t>
            </a:r>
            <a:r>
              <a:rPr lang="ru-RU" sz="2200" dirty="0"/>
              <a:t> и </a:t>
            </a:r>
            <a:r>
              <a:rPr lang="el-GR" sz="2200" dirty="0"/>
              <a:t>τ </a:t>
            </a:r>
            <a:r>
              <a:rPr lang="ru-RU" sz="2200" dirty="0"/>
              <a:t>вектор (</a:t>
            </a:r>
            <a:r>
              <a:rPr lang="en" sz="2200" dirty="0"/>
              <a:t>y</a:t>
            </a:r>
            <a:r>
              <a:rPr lang="en" sz="2200" baseline="-25000" dirty="0"/>
              <a:t>t1+</a:t>
            </a:r>
            <a:r>
              <a:rPr lang="el-GR" sz="2200" baseline="-25000" dirty="0"/>
              <a:t>τ</a:t>
            </a:r>
            <a:r>
              <a:rPr lang="el-GR" sz="2200" dirty="0"/>
              <a:t>,...,</a:t>
            </a:r>
            <a:r>
              <a:rPr lang="en" sz="2200" dirty="0" err="1"/>
              <a:t>y</a:t>
            </a:r>
            <a:r>
              <a:rPr lang="en" sz="2200" baseline="-25000" dirty="0" err="1"/>
              <a:t>tn</a:t>
            </a:r>
            <a:r>
              <a:rPr lang="en" sz="2200" baseline="-25000" dirty="0"/>
              <a:t>+</a:t>
            </a:r>
            <a:r>
              <a:rPr lang="el-GR" sz="2200" baseline="-25000" dirty="0"/>
              <a:t>τ</a:t>
            </a:r>
            <a:r>
              <a:rPr lang="el-GR" sz="2200" dirty="0"/>
              <a:t>)</a:t>
            </a:r>
            <a:r>
              <a:rPr lang="ru-RU" sz="2200" dirty="0"/>
              <a:t> совпадает по распределению с (</a:t>
            </a:r>
            <a:r>
              <a:rPr lang="en" sz="2200" dirty="0"/>
              <a:t>y</a:t>
            </a:r>
            <a:r>
              <a:rPr lang="en" sz="2200" baseline="-25000" dirty="0"/>
              <a:t>t1</a:t>
            </a:r>
            <a:r>
              <a:rPr lang="en" sz="2200" dirty="0"/>
              <a:t>,...,</a:t>
            </a:r>
            <a:r>
              <a:rPr lang="en" sz="2200" dirty="0" err="1"/>
              <a:t>y</a:t>
            </a:r>
            <a:r>
              <a:rPr lang="en" sz="2200" baseline="-25000" dirty="0" err="1"/>
              <a:t>tn</a:t>
            </a:r>
            <a:r>
              <a:rPr lang="ru-RU" sz="2200" dirty="0"/>
              <a:t>)</a:t>
            </a:r>
          </a:p>
          <a:p>
            <a:r>
              <a:rPr lang="ru-RU" sz="2200" b="1" dirty="0"/>
              <a:t>В широком смысле: </a:t>
            </a:r>
            <a:r>
              <a:rPr lang="ru-RU" sz="2200" dirty="0"/>
              <a:t>если статистические свойства ВР не меняются с течением времени. </a:t>
            </a:r>
            <a:endParaRPr lang="en-US" sz="2200" dirty="0"/>
          </a:p>
          <a:p>
            <a:r>
              <a:rPr lang="ru-RU" sz="2200" dirty="0"/>
              <a:t>Другими словами, </a:t>
            </a:r>
            <a:r>
              <a:rPr lang="en-US" sz="2200" dirty="0" err="1"/>
              <a:t>ряд</a:t>
            </a:r>
            <a:r>
              <a:rPr lang="ru-RU" sz="2200" dirty="0"/>
              <a:t> имеет постоянное среднее значение и дисперсию, а ковариация зависит только от разницы индексов лагов. </a:t>
            </a:r>
          </a:p>
          <a:p>
            <a:pPr lvl="1"/>
            <a:r>
              <a:rPr lang="ru-RU" sz="2200" dirty="0"/>
              <a:t>указанные статистические характеристики не должны быть бесконечными.</a:t>
            </a:r>
          </a:p>
          <a:p>
            <a:pPr lvl="1"/>
            <a:r>
              <a:rPr lang="en" sz="1800" dirty="0"/>
              <a:t>E</a:t>
            </a:r>
            <a:r>
              <a:rPr lang="en" sz="1800" i="1" dirty="0"/>
              <a:t>y</a:t>
            </a:r>
            <a:r>
              <a:rPr lang="en" sz="1800" i="1" baseline="-25000" dirty="0"/>
              <a:t>t</a:t>
            </a:r>
            <a:r>
              <a:rPr lang="en" sz="1800" baseline="30000" dirty="0"/>
              <a:t>2</a:t>
            </a:r>
            <a:r>
              <a:rPr lang="en" sz="1800" dirty="0"/>
              <a:t>​&lt;+∞ </a:t>
            </a:r>
            <a:r>
              <a:rPr lang="ru-RU" sz="1800" dirty="0"/>
              <a:t>для любого </a:t>
            </a:r>
            <a:r>
              <a:rPr lang="en" sz="1800" i="1" dirty="0"/>
              <a:t>t</a:t>
            </a:r>
            <a:r>
              <a:rPr lang="en" sz="1800" dirty="0"/>
              <a:t>.</a:t>
            </a:r>
            <a:r>
              <a:rPr lang="ru-RU" sz="1800" dirty="0"/>
              <a:t> </a:t>
            </a:r>
            <a:r>
              <a:rPr lang="en" sz="1800" dirty="0" err="1"/>
              <a:t>E</a:t>
            </a:r>
            <a:r>
              <a:rPr lang="en" sz="1800" i="1" dirty="0" err="1"/>
              <a:t>y</a:t>
            </a:r>
            <a:r>
              <a:rPr lang="en" sz="1800" i="1" baseline="-25000" dirty="0" err="1"/>
              <a:t>t</a:t>
            </a:r>
            <a:r>
              <a:rPr lang="ru-RU" sz="1800" i="1" baseline="30000" dirty="0"/>
              <a:t> </a:t>
            </a:r>
            <a:r>
              <a:rPr lang="ru-RU" sz="1800" dirty="0"/>
              <a:t>не зависит от </a:t>
            </a:r>
            <a:r>
              <a:rPr lang="en" sz="1800" i="1" dirty="0"/>
              <a:t>t</a:t>
            </a:r>
            <a:r>
              <a:rPr lang="en" sz="1800" dirty="0"/>
              <a:t>, </a:t>
            </a:r>
            <a:r>
              <a:rPr lang="ru-RU" sz="1800" dirty="0"/>
              <a:t>то есть в среднем значение временного ряда постоянно. </a:t>
            </a:r>
            <a:r>
              <a:rPr lang="en" sz="1800" dirty="0"/>
              <a:t>C</a:t>
            </a:r>
            <a:r>
              <a:rPr lang="ru-RU" sz="1800" dirty="0" err="1"/>
              <a:t>ov</a:t>
            </a:r>
            <a:r>
              <a:rPr lang="en-US" sz="1800" dirty="0"/>
              <a:t>(t)=</a:t>
            </a:r>
            <a:r>
              <a:rPr lang="en-US" sz="1800" dirty="0" err="1"/>
              <a:t>Cov</a:t>
            </a:r>
            <a:r>
              <a:rPr lang="en-US" sz="1800" dirty="0"/>
              <a:t>(</a:t>
            </a:r>
            <a:r>
              <a:rPr lang="en-US" sz="1800" dirty="0" err="1"/>
              <a:t>t+tau</a:t>
            </a:r>
            <a:r>
              <a:rPr lang="en-US" sz="1800" dirty="0"/>
              <a:t>)</a:t>
            </a:r>
            <a:r>
              <a:rPr lang="ru-RU" sz="1800" dirty="0"/>
              <a:t> , то есть значение автокорреляции зависит только от длины отрезка времени между двумя значениями</a:t>
            </a:r>
            <a:endParaRPr lang="en-US" sz="18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29CDCF-CA89-B716-5BCC-F64969F3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348A59E2-301A-DD23-5BAD-1E073DDA6E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15" b="56037"/>
          <a:stretch>
            <a:fillRect/>
          </a:stretch>
        </p:blipFill>
        <p:spPr bwMode="auto">
          <a:xfrm>
            <a:off x="4655127" y="4134452"/>
            <a:ext cx="6975222" cy="2477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200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A8996F-4EBF-4A42-B1B0-6C20D2DF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889935"/>
          </a:xfrm>
        </p:spPr>
        <p:txBody>
          <a:bodyPr/>
          <a:lstStyle/>
          <a:p>
            <a:pPr algn="ctr"/>
            <a:r>
              <a:rPr lang="ru-RU" b="1" dirty="0"/>
              <a:t>Анализ </a:t>
            </a:r>
            <a:r>
              <a:rPr lang="ru-RU" b="1" dirty="0" err="1"/>
              <a:t>нестационарности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E5F075-BD33-4A64-9615-916178391B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254" y="1060024"/>
            <a:ext cx="11952107" cy="460375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sz="2000" dirty="0"/>
              <a:t>Если ВР имеет тренд, выраженную сезонность или переменную дисперсию (</a:t>
            </a:r>
            <a:r>
              <a:rPr lang="ru-RU" sz="2000" dirty="0" err="1"/>
              <a:t>гетеросекдостичность</a:t>
            </a:r>
            <a:r>
              <a:rPr lang="ru-RU" sz="2000" dirty="0"/>
              <a:t>), то ВР </a:t>
            </a:r>
            <a:r>
              <a:rPr lang="ru-RU" sz="2000" dirty="0" err="1"/>
              <a:t>нестационарен</a:t>
            </a:r>
            <a:endParaRPr lang="en-US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5DF02A9-1A1F-AE07-E202-839063BE9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15</a:t>
            </a:fld>
            <a:endParaRPr lang="en-US"/>
          </a:p>
        </p:txBody>
      </p:sp>
      <p:pic>
        <p:nvPicPr>
          <p:cNvPr id="10242" name="Picture 2" descr="image.png">
            <a:extLst>
              <a:ext uri="{FF2B5EF4-FFF2-40B4-BE49-F238E27FC236}">
                <a16:creationId xmlns:a16="http://schemas.microsoft.com/office/drawing/2014/main" id="{DD8C898C-2BC4-4CDA-A79D-0C28B3CBB9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6930" y="1427559"/>
            <a:ext cx="7632415" cy="502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20B24B-03C1-7306-AE22-AAC0C9E9B8D4}"/>
              </a:ext>
            </a:extLst>
          </p:cNvPr>
          <p:cNvSpPr txBox="1"/>
          <p:nvPr/>
        </p:nvSpPr>
        <p:spPr>
          <a:xfrm>
            <a:off x="1607127" y="6356350"/>
            <a:ext cx="87422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education.yandex.ru</a:t>
            </a:r>
            <a:r>
              <a:rPr lang="ru-RU" dirty="0"/>
              <a:t>/</a:t>
            </a:r>
            <a:r>
              <a:rPr lang="ru-RU" dirty="0" err="1"/>
              <a:t>handbook</a:t>
            </a:r>
            <a:r>
              <a:rPr lang="ru-RU" dirty="0"/>
              <a:t>/</a:t>
            </a:r>
            <a:r>
              <a:rPr lang="ru-RU" dirty="0" err="1"/>
              <a:t>ml</a:t>
            </a:r>
            <a:r>
              <a:rPr lang="ru-RU" dirty="0"/>
              <a:t>/</a:t>
            </a:r>
            <a:r>
              <a:rPr lang="ru-RU" dirty="0" err="1"/>
              <a:t>article</a:t>
            </a:r>
            <a:r>
              <a:rPr lang="ru-RU" dirty="0"/>
              <a:t>/</a:t>
            </a:r>
            <a:r>
              <a:rPr lang="ru-RU" dirty="0" err="1"/>
              <a:t>analitika-vremennyh-ryadov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0938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C7A29-C3A0-7522-0DAC-32BF46F93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F2E7AB-E7E7-215B-AFB5-C6656CE07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624" y="365125"/>
            <a:ext cx="10946176" cy="604359"/>
          </a:xfrm>
        </p:spPr>
        <p:txBody>
          <a:bodyPr>
            <a:normAutofit fontScale="90000"/>
          </a:bodyPr>
          <a:lstStyle/>
          <a:p>
            <a:r>
              <a:rPr lang="ru-RU" dirty="0"/>
              <a:t>Стационарность ВР. Замечания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4A7FB-FF48-C141-958F-6FB372C03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236" y="868764"/>
            <a:ext cx="11665527" cy="4965108"/>
          </a:xfrm>
        </p:spPr>
        <p:txBody>
          <a:bodyPr>
            <a:normAutofit/>
          </a:bodyPr>
          <a:lstStyle/>
          <a:p>
            <a:r>
              <a:rPr lang="en-US" sz="2200" dirty="0" err="1"/>
              <a:t>Если</a:t>
            </a:r>
            <a:r>
              <a:rPr lang="ru-RU" sz="2200" dirty="0"/>
              <a:t> ряд регулярный он может не быть </a:t>
            </a:r>
            <a:r>
              <a:rPr lang="ru-RU" sz="2200" dirty="0" err="1"/>
              <a:t>стационарым</a:t>
            </a:r>
            <a:r>
              <a:rPr lang="ru-RU" sz="2200" dirty="0"/>
              <a:t> (но не наоборот)</a:t>
            </a:r>
          </a:p>
          <a:p>
            <a:r>
              <a:rPr lang="ru-RU" sz="2200" dirty="0"/>
              <a:t>Временной ряд в ряде случаев сводится к стационарному простыми преобразованиями</a:t>
            </a:r>
          </a:p>
          <a:p>
            <a:r>
              <a:rPr lang="ru-RU" sz="2200" dirty="0"/>
              <a:t>Не все методы предсказания ВР требуют сведения ВР к стационарному, но основные требуют </a:t>
            </a:r>
          </a:p>
          <a:p>
            <a:endParaRPr lang="ru-RU" sz="22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F4CC8B1-1A3E-A562-1797-A6262E4AE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16</a:t>
            </a:fld>
            <a:endParaRPr lang="en-US"/>
          </a:p>
        </p:txBody>
      </p:sp>
      <p:pic>
        <p:nvPicPr>
          <p:cNvPr id="3074" name="Picture 2" descr="stationary">
            <a:extLst>
              <a:ext uri="{FF2B5EF4-FFF2-40B4-BE49-F238E27FC236}">
                <a16:creationId xmlns:a16="http://schemas.microsoft.com/office/drawing/2014/main" id="{CC32CBF0-6BD1-B7CD-8361-92A51F4C35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042" y="2105075"/>
            <a:ext cx="6227116" cy="4471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1F1B7D9-7F27-C0BA-1A6B-FDC96CEC9608}"/>
              </a:ext>
            </a:extLst>
          </p:cNvPr>
          <p:cNvSpPr txBox="1"/>
          <p:nvPr/>
        </p:nvSpPr>
        <p:spPr>
          <a:xfrm>
            <a:off x="410813" y="3013364"/>
            <a:ext cx="5569526" cy="26550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55"/>
              </a:lnSpc>
              <a:spcBef>
                <a:spcPts val="1800"/>
              </a:spcBef>
              <a:spcAft>
                <a:spcPts val="600"/>
              </a:spcAft>
            </a:pPr>
            <a:r>
              <a:rPr lang="ru-RU" sz="2400" b="0" i="0" dirty="0">
                <a:solidFill>
                  <a:srgbClr val="323232"/>
                </a:solidFill>
                <a:effectLst/>
              </a:rPr>
              <a:t>Примеры</a:t>
            </a:r>
          </a:p>
          <a:p>
            <a:pPr algn="l">
              <a:lnSpc>
                <a:spcPts val="1755"/>
              </a:lnSpc>
              <a:spcBef>
                <a:spcPts val="18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323232"/>
                </a:solidFill>
                <a:effectLst/>
              </a:rPr>
              <a:t>ряды а, </a:t>
            </a:r>
            <a:r>
              <a:rPr lang="en" sz="2400" b="0" i="0" dirty="0">
                <a:solidFill>
                  <a:srgbClr val="323232"/>
                </a:solidFill>
                <a:effectLst/>
              </a:rPr>
              <a:t>c, d, e, f, </a:t>
            </a:r>
            <a:r>
              <a:rPr lang="en" sz="2400" b="0" i="0" dirty="0" err="1">
                <a:solidFill>
                  <a:srgbClr val="323232"/>
                </a:solidFill>
                <a:effectLst/>
              </a:rPr>
              <a:t>i</a:t>
            </a:r>
            <a:r>
              <a:rPr lang="en" sz="2400" b="0" i="0" dirty="0">
                <a:solidFill>
                  <a:srgbClr val="323232"/>
                </a:solidFill>
                <a:effectLst/>
              </a:rPr>
              <a:t> </a:t>
            </a:r>
            <a:r>
              <a:rPr lang="ru-RU" sz="2400" b="0" i="0" dirty="0">
                <a:solidFill>
                  <a:srgbClr val="323232"/>
                </a:solidFill>
                <a:effectLst/>
              </a:rPr>
              <a:t>не стационарны, поскольку они имеют тренд;</a:t>
            </a:r>
          </a:p>
          <a:p>
            <a:pPr algn="l">
              <a:lnSpc>
                <a:spcPts val="1755"/>
              </a:lnSpc>
              <a:spcBef>
                <a:spcPts val="18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323232"/>
                </a:solidFill>
                <a:effectLst/>
              </a:rPr>
              <a:t>ряд </a:t>
            </a:r>
            <a:r>
              <a:rPr lang="en" sz="2400" b="0" i="0" dirty="0">
                <a:solidFill>
                  <a:srgbClr val="323232"/>
                </a:solidFill>
                <a:effectLst/>
              </a:rPr>
              <a:t>b </a:t>
            </a:r>
            <a:r>
              <a:rPr lang="ru-RU" sz="2400" b="0" i="0" dirty="0">
                <a:solidFill>
                  <a:srgbClr val="323232"/>
                </a:solidFill>
                <a:effectLst/>
              </a:rPr>
              <a:t>скорее всего стационарный, имеется выброс;</a:t>
            </a:r>
          </a:p>
          <a:p>
            <a:pPr algn="l">
              <a:lnSpc>
                <a:spcPts val="1755"/>
              </a:lnSpc>
              <a:spcBef>
                <a:spcPts val="18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323232"/>
                </a:solidFill>
                <a:effectLst/>
              </a:rPr>
              <a:t>ряды </a:t>
            </a:r>
            <a:r>
              <a:rPr lang="en" sz="2400" b="0" i="0" dirty="0">
                <a:solidFill>
                  <a:srgbClr val="323232"/>
                </a:solidFill>
                <a:effectLst/>
              </a:rPr>
              <a:t>d, g, h, </a:t>
            </a:r>
            <a:r>
              <a:rPr lang="en" sz="2400" b="0" i="0" dirty="0" err="1">
                <a:solidFill>
                  <a:srgbClr val="323232"/>
                </a:solidFill>
                <a:effectLst/>
              </a:rPr>
              <a:t>i</a:t>
            </a:r>
            <a:r>
              <a:rPr lang="en" sz="2400" b="0" i="0" dirty="0">
                <a:solidFill>
                  <a:srgbClr val="323232"/>
                </a:solidFill>
                <a:effectLst/>
              </a:rPr>
              <a:t> </a:t>
            </a:r>
            <a:r>
              <a:rPr lang="ru-RU" sz="2400" b="0" i="0" dirty="0">
                <a:solidFill>
                  <a:srgbClr val="323232"/>
                </a:solidFill>
                <a:effectLst/>
              </a:rPr>
              <a:t>не стационарны, потому что имеют сезонность.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BFB870-F0D3-4BE0-3CEC-865570E80239}"/>
              </a:ext>
            </a:extLst>
          </p:cNvPr>
          <p:cNvSpPr txBox="1"/>
          <p:nvPr/>
        </p:nvSpPr>
        <p:spPr>
          <a:xfrm>
            <a:off x="263236" y="649287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education.yandex.ru</a:t>
            </a:r>
            <a:r>
              <a:rPr lang="ru-RU" sz="1400" dirty="0"/>
              <a:t>/</a:t>
            </a:r>
            <a:r>
              <a:rPr lang="ru-RU" sz="1400" dirty="0" err="1"/>
              <a:t>handbook</a:t>
            </a:r>
            <a:r>
              <a:rPr lang="ru-RU" sz="1400" dirty="0"/>
              <a:t>/</a:t>
            </a:r>
            <a:r>
              <a:rPr lang="ru-RU" sz="1400" dirty="0" err="1"/>
              <a:t>ml</a:t>
            </a:r>
            <a:r>
              <a:rPr lang="ru-RU" sz="1400" dirty="0"/>
              <a:t>/</a:t>
            </a:r>
            <a:r>
              <a:rPr lang="ru-RU" sz="1400" dirty="0" err="1"/>
              <a:t>article</a:t>
            </a:r>
            <a:r>
              <a:rPr lang="ru-RU" sz="1400" dirty="0"/>
              <a:t>/</a:t>
            </a:r>
            <a:r>
              <a:rPr lang="ru-RU" sz="1400" dirty="0" err="1"/>
              <a:t>analitika-vremennyh-ryadov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95918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A8996F-4EBF-4A42-B1B0-6C20D2DFE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889935"/>
          </a:xfrm>
        </p:spPr>
        <p:txBody>
          <a:bodyPr/>
          <a:lstStyle/>
          <a:p>
            <a:pPr algn="ctr"/>
            <a:r>
              <a:rPr lang="ru-RU" b="1" dirty="0"/>
              <a:t>Анализ стационарности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E5F075-BD33-4A64-9615-916178391B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1242922"/>
            <a:ext cx="9614647" cy="254187"/>
          </a:xfrm>
        </p:spPr>
        <p:txBody>
          <a:bodyPr>
            <a:normAutofit fontScale="85000" lnSpcReduction="20000"/>
          </a:bodyPr>
          <a:lstStyle/>
          <a:p>
            <a:r>
              <a:rPr lang="ru-RU" sz="1600" dirty="0"/>
              <a:t>Пример нестационарности линии тренда</a:t>
            </a:r>
            <a:endParaRPr lang="en-US" sz="16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EE1B8AB-F6A2-B209-F59C-484D26A94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17</a:t>
            </a:fld>
            <a:endParaRPr lang="en-US"/>
          </a:p>
        </p:txBody>
      </p:sp>
      <p:pic>
        <p:nvPicPr>
          <p:cNvPr id="9218" name="Picture 2" descr="image.png">
            <a:extLst>
              <a:ext uri="{FF2B5EF4-FFF2-40B4-BE49-F238E27FC236}">
                <a16:creationId xmlns:a16="http://schemas.microsoft.com/office/drawing/2014/main" id="{052CE546-38C8-4545-9CE9-3131E7560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395" y="1414418"/>
            <a:ext cx="4705351" cy="2533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2">
            <a:extLst>
              <a:ext uri="{FF2B5EF4-FFF2-40B4-BE49-F238E27FC236}">
                <a16:creationId xmlns:a16="http://schemas.microsoft.com/office/drawing/2014/main" id="{45038227-696C-41D4-9A08-38060580E5A9}"/>
              </a:ext>
            </a:extLst>
          </p:cNvPr>
          <p:cNvSpPr txBox="1">
            <a:spLocks/>
          </p:cNvSpPr>
          <p:nvPr/>
        </p:nvSpPr>
        <p:spPr>
          <a:xfrm>
            <a:off x="5086672" y="1242922"/>
            <a:ext cx="5790557" cy="29872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Пример сезонной нестационарности (в смысле дисперсии)</a:t>
            </a:r>
            <a:endParaRPr lang="en-US" sz="1600" dirty="0"/>
          </a:p>
        </p:txBody>
      </p:sp>
      <p:pic>
        <p:nvPicPr>
          <p:cNvPr id="9220" name="Picture 4" descr="image.png">
            <a:extLst>
              <a:ext uri="{FF2B5EF4-FFF2-40B4-BE49-F238E27FC236}">
                <a16:creationId xmlns:a16="http://schemas.microsoft.com/office/drawing/2014/main" id="{128D129D-DCD4-4354-8157-9D2680DA58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3646" y="1605040"/>
            <a:ext cx="3876675" cy="212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Объект 2">
            <a:extLst>
              <a:ext uri="{FF2B5EF4-FFF2-40B4-BE49-F238E27FC236}">
                <a16:creationId xmlns:a16="http://schemas.microsoft.com/office/drawing/2014/main" id="{7226A53E-F261-4312-BAF5-E1890408B123}"/>
              </a:ext>
            </a:extLst>
          </p:cNvPr>
          <p:cNvSpPr txBox="1">
            <a:spLocks/>
          </p:cNvSpPr>
          <p:nvPr/>
        </p:nvSpPr>
        <p:spPr>
          <a:xfrm>
            <a:off x="1524000" y="3820835"/>
            <a:ext cx="9480176" cy="41583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Пример сезонной нестационарности (в смысле периода сезонности)</a:t>
            </a:r>
            <a:endParaRPr lang="en-US" sz="2000" dirty="0"/>
          </a:p>
        </p:txBody>
      </p:sp>
      <p:pic>
        <p:nvPicPr>
          <p:cNvPr id="9222" name="Picture 6" descr="image.png">
            <a:extLst>
              <a:ext uri="{FF2B5EF4-FFF2-40B4-BE49-F238E27FC236}">
                <a16:creationId xmlns:a16="http://schemas.microsoft.com/office/drawing/2014/main" id="{C99BD1AB-58BB-4B8A-925E-27D840368B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91" y="4281209"/>
            <a:ext cx="5391151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52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F537B0-7966-4E39-93FF-9C938D867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5857" y="204181"/>
            <a:ext cx="9081887" cy="701675"/>
          </a:xfrm>
        </p:spPr>
        <p:txBody>
          <a:bodyPr>
            <a:normAutofit/>
          </a:bodyPr>
          <a:lstStyle/>
          <a:p>
            <a:r>
              <a:rPr lang="ru-RU" dirty="0"/>
              <a:t>Белый Гауссов шум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8D042F3-0F09-4E1C-8D08-588BCFBDD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8545" y="905855"/>
            <a:ext cx="11693237" cy="2348974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dirty="0"/>
              <a:t>Одним из наиболее важных случаев стационарного ВР является стационарность шума.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dirty="0"/>
              <a:t>Шум стационарности с независимыми выборками во времени (с автокорреляцией 0) называется шумом белого гаусса (WGN).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dirty="0"/>
              <a:t>Таким образом, WGN - это ряд с </a:t>
            </a:r>
            <a:br>
              <a:rPr lang="ru-RU" dirty="0"/>
            </a:br>
            <a:r>
              <a:rPr lang="ru-RU" dirty="0"/>
              <a:t>𝑒𝑣 = 0; 𝑣𝑎𝑟 &lt;∞; 𝑐𝑜𝑣 (𝑛) = 𝑠𝑡𝑑⋅𝛿 (𝑘 − 𝑛), </a:t>
            </a:r>
            <a:br>
              <a:rPr lang="ru-RU" dirty="0"/>
            </a:br>
            <a:r>
              <a:rPr lang="ru-RU" dirty="0"/>
              <a:t>где 𝛿 (𝑘 − 𝑛) = 1, если 𝑘 = 𝑛, и 0 в остальных случаях. 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dirty="0"/>
              <a:t>АКФ БГШ будет иметь некоторые ненулевые случайные значения – это эффект ограниченной выборки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69C633B-7933-0002-AE7E-DFCCA196E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18</a:t>
            </a:fld>
            <a:endParaRPr lang="en-US"/>
          </a:p>
        </p:txBody>
      </p:sp>
      <p:pic>
        <p:nvPicPr>
          <p:cNvPr id="11268" name="Picture 4" descr="image.png">
            <a:extLst>
              <a:ext uri="{FF2B5EF4-FFF2-40B4-BE49-F238E27FC236}">
                <a16:creationId xmlns:a16="http://schemas.microsoft.com/office/drawing/2014/main" id="{421DC3E5-7CB6-4B47-B931-566FF314F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2797" y="4104844"/>
            <a:ext cx="2887437" cy="2111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A7E8075-377F-4827-AB95-E074F6D4F7F7}"/>
              </a:ext>
            </a:extLst>
          </p:cNvPr>
          <p:cNvSpPr/>
          <p:nvPr/>
        </p:nvSpPr>
        <p:spPr>
          <a:xfrm>
            <a:off x="1790701" y="3603172"/>
            <a:ext cx="8599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Пример</a:t>
            </a:r>
            <a:r>
              <a:rPr lang="ru-RU" sz="1600" dirty="0"/>
              <a:t> </a:t>
            </a:r>
            <a:r>
              <a:rPr lang="ru-RU" sz="1600" dirty="0" err="1"/>
              <a:t>wgn</a:t>
            </a:r>
            <a:r>
              <a:rPr lang="ru-RU" sz="1600" dirty="0"/>
              <a:t> - это когда вы выключаете антенну с телевизора и увидеть так называемый «снег» </a:t>
            </a:r>
          </a:p>
        </p:txBody>
      </p:sp>
      <p:pic>
        <p:nvPicPr>
          <p:cNvPr id="11270" name="Picture 6" descr="image.png">
            <a:extLst>
              <a:ext uri="{FF2B5EF4-FFF2-40B4-BE49-F238E27FC236}">
                <a16:creationId xmlns:a16="http://schemas.microsoft.com/office/drawing/2014/main" id="{8635D9C6-FAAA-48AF-B36E-41034DB9A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00" y="4170025"/>
            <a:ext cx="5264746" cy="2111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DA6652-22B8-97B5-C1CF-515D1A7E07A0}"/>
              </a:ext>
            </a:extLst>
          </p:cNvPr>
          <p:cNvSpPr txBox="1"/>
          <p:nvPr/>
        </p:nvSpPr>
        <p:spPr>
          <a:xfrm>
            <a:off x="1705857" y="3117262"/>
            <a:ext cx="9397573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20000"/>
              </a:lnSpc>
            </a:pPr>
            <a:r>
              <a:rPr lang="ru-RU" dirty="0"/>
              <a:t>Обратите внимание, что дисперсия также может быть названа мощностью шума.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4955585-ABAB-C413-AECE-CABA2C507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5180" y="3972504"/>
            <a:ext cx="3726820" cy="2348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60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D6645-D83B-4FCE-A2EB-4C47F1622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496" y="384102"/>
            <a:ext cx="9013371" cy="885002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Преобразования нестационарных </a:t>
            </a:r>
            <a:r>
              <a:rPr lang="en-US" sz="3600" b="1" dirty="0"/>
              <a:t/>
            </a:r>
            <a:br>
              <a:rPr lang="en-US" sz="3600" b="1" dirty="0"/>
            </a:br>
            <a:r>
              <a:rPr lang="ru-RU" sz="3600" b="1" dirty="0"/>
              <a:t>временных рядов</a:t>
            </a:r>
            <a:endParaRPr lang="en-US" sz="36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C5E1D3-FBD7-4B7D-96DC-57F6A3BF3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381141"/>
            <a:ext cx="11671300" cy="534033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ru-RU" dirty="0"/>
              <a:t>На самом деле почти все временные ряды нестационарны (в той или иной степени). </a:t>
            </a:r>
          </a:p>
          <a:p>
            <a:pPr lvl="1">
              <a:lnSpc>
                <a:spcPct val="110000"/>
              </a:lnSpc>
            </a:pPr>
            <a:r>
              <a:rPr lang="ru-RU" dirty="0"/>
              <a:t>Однако, в зависимости от требований к точности в некоторых случаях мы можем сделать допущение, что ВР является стационарным для нашей задачи если он удовлетворяет каким либо нашим условиям.</a:t>
            </a:r>
          </a:p>
          <a:p>
            <a:pPr lvl="1">
              <a:lnSpc>
                <a:spcPct val="110000"/>
              </a:lnSpc>
            </a:pPr>
            <a:r>
              <a:rPr lang="ru-RU" dirty="0"/>
              <a:t>Нестационарные ВР могут содержать ложные корреляции (тренда, сезонность, аномалии)</a:t>
            </a:r>
          </a:p>
          <a:p>
            <a:pPr>
              <a:lnSpc>
                <a:spcPct val="110000"/>
              </a:lnSpc>
            </a:pPr>
            <a:endParaRPr lang="ru-RU" dirty="0"/>
          </a:p>
          <a:p>
            <a:pPr>
              <a:lnSpc>
                <a:spcPct val="110000"/>
              </a:lnSpc>
            </a:pPr>
            <a:r>
              <a:rPr lang="ru-RU" dirty="0"/>
              <a:t>Ряд можно проверить на стационарность визуально (напр. Резкий спад АКФ)</a:t>
            </a:r>
          </a:p>
          <a:p>
            <a:pPr>
              <a:lnSpc>
                <a:spcPct val="110000"/>
              </a:lnSpc>
            </a:pPr>
            <a:r>
              <a:rPr lang="ru-RU" dirty="0"/>
              <a:t>Ряд можно проверить строго на </a:t>
            </a:r>
            <a:r>
              <a:rPr lang="ru-RU" dirty="0" err="1"/>
              <a:t>станционарность</a:t>
            </a:r>
            <a:r>
              <a:rPr lang="ru-RU" dirty="0"/>
              <a:t> с помощью различных статистических критериев. Наиболее популярны следующие критерии:</a:t>
            </a:r>
          </a:p>
          <a:p>
            <a:pPr lvl="1">
              <a:lnSpc>
                <a:spcPct val="110000"/>
              </a:lnSpc>
            </a:pPr>
            <a:r>
              <a:rPr lang="ru-RU" dirty="0"/>
              <a:t>критерий </a:t>
            </a:r>
            <a:r>
              <a:rPr lang="en" dirty="0"/>
              <a:t>KPSS (Kwiatkowski–Phillips–Schmidt–Shin): </a:t>
            </a:r>
            <a:r>
              <a:rPr lang="ru-RU" dirty="0"/>
              <a:t>если </a:t>
            </a:r>
            <a:r>
              <a:rPr lang="en" dirty="0"/>
              <a:t>p-value ⩽0.05, </a:t>
            </a:r>
            <a:r>
              <a:rPr lang="ru-RU" dirty="0"/>
              <a:t>то отвергаем стационарность;</a:t>
            </a:r>
          </a:p>
          <a:p>
            <a:pPr lvl="1">
              <a:lnSpc>
                <a:spcPct val="110000"/>
              </a:lnSpc>
            </a:pPr>
            <a:r>
              <a:rPr lang="ru-RU" dirty="0"/>
              <a:t>критерий Дики-Фуллера: если </a:t>
            </a:r>
            <a:r>
              <a:rPr lang="en" dirty="0"/>
              <a:t>p-value ⩽0.05, </a:t>
            </a:r>
            <a:r>
              <a:rPr lang="ru-RU" dirty="0"/>
              <a:t>то отвергаем </a:t>
            </a:r>
            <a:r>
              <a:rPr lang="ru-RU" b="1" dirty="0" err="1"/>
              <a:t>НЕ</a:t>
            </a:r>
            <a:r>
              <a:rPr lang="ru-RU" dirty="0" err="1"/>
              <a:t>стационарность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92D756-4C63-429B-9DFF-16F0D57FD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287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7D6645-D83B-4FCE-A2EB-4C47F1622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496" y="384102"/>
            <a:ext cx="9013371" cy="885002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Преобразования нестационарных </a:t>
            </a:r>
            <a:r>
              <a:rPr lang="en-US" sz="3600" b="1" dirty="0"/>
              <a:t/>
            </a:r>
            <a:br>
              <a:rPr lang="en-US" sz="3600" b="1" dirty="0"/>
            </a:br>
            <a:r>
              <a:rPr lang="ru-RU" sz="3600" b="1" dirty="0"/>
              <a:t>временных рядов</a:t>
            </a:r>
            <a:endParaRPr lang="en-US" sz="3600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0C5E1D3-FBD7-4B7D-96DC-57F6A3BF3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740" y="1563703"/>
            <a:ext cx="11630819" cy="4975209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ru-RU" sz="2200" dirty="0"/>
              <a:t>Можно ввести несколько градаций </a:t>
            </a:r>
            <a:r>
              <a:rPr lang="ru-RU" sz="2200" dirty="0" err="1"/>
              <a:t>нестационарности</a:t>
            </a:r>
            <a:r>
              <a:rPr lang="ru-RU" sz="2200" dirty="0"/>
              <a:t> ВР: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sz="2200" dirty="0"/>
              <a:t>Сильная стационарность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sz="2200" dirty="0"/>
              <a:t>Слабая стационарность (2 порядка)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sz="2200" dirty="0"/>
              <a:t>DS-</a:t>
            </a:r>
            <a:r>
              <a:rPr lang="ru-RU" sz="2200" dirty="0"/>
              <a:t>ряд разностно-стационарный ВР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US" sz="2200" dirty="0"/>
              <a:t>TS-</a:t>
            </a:r>
            <a:r>
              <a:rPr lang="ru-RU" sz="2200" dirty="0"/>
              <a:t>ряд</a:t>
            </a:r>
            <a:r>
              <a:rPr lang="en-US" sz="2200" dirty="0"/>
              <a:t> – </a:t>
            </a:r>
            <a:r>
              <a:rPr lang="ru-RU" sz="2200" dirty="0"/>
              <a:t>сводится к стационарному путем удаления тренда и\или сезонности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sz="2200" dirty="0" err="1"/>
              <a:t>Гетеросекдостичный</a:t>
            </a:r>
            <a:r>
              <a:rPr lang="ru-RU" sz="2200" dirty="0"/>
              <a:t> ВР – может сводится к стационарному путем логарифмирования</a:t>
            </a:r>
            <a:r>
              <a:rPr lang="en-US" sz="2200" dirty="0"/>
              <a:t> </a:t>
            </a:r>
            <a:r>
              <a:rPr lang="ru-RU" sz="2200" dirty="0"/>
              <a:t>(степенного преобразования)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sz="2200" dirty="0"/>
              <a:t>Регулярный ВР – нестационарный ВР, имеющий явные паттерны поведения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ru-RU" sz="2200" dirty="0" err="1"/>
              <a:t>Неформализуемый</a:t>
            </a:r>
            <a:r>
              <a:rPr lang="ru-RU" sz="2200" dirty="0"/>
              <a:t> ВР – паттерны поведения не явны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92D756-4C63-429B-9DFF-16F0D57FD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20</a:t>
            </a:fld>
            <a:endParaRPr lang="en-US"/>
          </a:p>
        </p:txBody>
      </p:sp>
      <p:cxnSp>
        <p:nvCxnSpPr>
          <p:cNvPr id="6" name="Прямая со стрелкой 5"/>
          <p:cNvCxnSpPr/>
          <p:nvPr/>
        </p:nvCxnSpPr>
        <p:spPr>
          <a:xfrm>
            <a:off x="268941" y="1552175"/>
            <a:ext cx="30736" cy="47410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2" descr="https://miro.medium.com/v2/resize:fit:875/1*aRHZEc1hxOXYLHDnBVaKdA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071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C9BAA-6E94-D4B8-B3C8-2821CABDC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ABA1A-E0BD-E207-CE58-719070338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46" y="131535"/>
            <a:ext cx="11346872" cy="662781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/>
              <a:t>Преобразования нестационарных ВР</a:t>
            </a:r>
            <a:endParaRPr lang="en-US" sz="36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64205F-EC7C-FCE6-C3F5-3989C7225E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1782" y="794316"/>
                <a:ext cx="7640900" cy="578428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ru-RU" sz="2200" dirty="0"/>
                  <a:t>Можно ввести модель ВР стационарную по отношению к тренду или сезонности </a:t>
                </a:r>
                <a:r>
                  <a:rPr lang="en-US" sz="2200" dirty="0"/>
                  <a:t>(TS </a:t>
                </a:r>
                <a:r>
                  <a:rPr lang="ru-RU" sz="2200" dirty="0"/>
                  <a:t>модель</a:t>
                </a:r>
                <a:r>
                  <a:rPr lang="en-US" sz="2200" dirty="0"/>
                  <a:t>)</a:t>
                </a:r>
                <a:r>
                  <a:rPr lang="ru-RU" sz="2200" dirty="0"/>
                  <a:t>. То есть: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000" dirty="0">
                        <a:latin typeface="Cambria Math" panose="02040503050406030204" pitchFamily="18" charset="0"/>
                      </a:rPr>
                      <m:t>y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altLang="en-US" sz="2000" dirty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altLang="en-US" sz="2000" dirty="0">
                        <a:latin typeface="Cambria Math" panose="02040503050406030204" pitchFamily="18" charset="0"/>
                      </a:rPr>
                      <m:t>trend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altLang="en-US" sz="2000" dirty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en-US" sz="2000" dirty="0">
                        <a:latin typeface="Cambria Math" panose="02040503050406030204" pitchFamily="18" charset="0"/>
                      </a:rPr>
                      <m:t>seasonal</m:t>
                    </m:r>
                    <m:d>
                      <m:dPr>
                        <m:ctrlPr>
                          <a:rPr lang="en-US" alt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en-US" sz="2000" dirty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d>
                    <m:r>
                      <a:rPr lang="en-US" altLang="en-US" sz="2000" b="0" i="0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altLang="en-US" sz="2000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en-US" sz="2000" dirty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000" dirty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en-US" sz="2000" dirty="0"/>
                  <a:t>)</a:t>
                </a:r>
                <a:endParaRPr lang="ru-RU" altLang="en-US" sz="2000" dirty="0"/>
              </a:p>
              <a:p>
                <a:pPr marL="319088" indent="0">
                  <a:buNone/>
                </a:pPr>
                <a:r>
                  <a:rPr lang="ru-RU" sz="2200" dirty="0"/>
                  <a:t>где</a:t>
                </a:r>
                <a:r>
                  <a:rPr lang="en-US" altLang="en-US" sz="2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en-US" sz="2400" dirty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altLang="en-US" sz="2400" dirty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en-US" sz="2400" dirty="0">
                        <a:latin typeface="Cambria Math" panose="02040503050406030204" pitchFamily="18" charset="0"/>
                      </a:rPr>
                      <m:t>t</m:t>
                    </m:r>
                  </m:oMath>
                </a14:m>
                <a:r>
                  <a:rPr lang="en-US" altLang="en-US" sz="2400" dirty="0"/>
                  <a:t>) – </a:t>
                </a:r>
                <a:r>
                  <a:rPr lang="ru-RU" altLang="en-US" sz="2400" dirty="0"/>
                  <a:t>стационарная часть ВР. </a:t>
                </a:r>
              </a:p>
              <a:p>
                <a:pPr marL="319088" indent="0">
                  <a:buNone/>
                </a:pPr>
                <a:r>
                  <a:rPr lang="ru-RU" altLang="en-US" sz="2400" dirty="0"/>
                  <a:t>Тогда можно убрать тренд и стационарность их вычитанием. </a:t>
                </a:r>
              </a:p>
              <a:p>
                <a:pPr marL="0" indent="0">
                  <a:buNone/>
                </a:pPr>
                <a:r>
                  <a:rPr lang="ru-RU" altLang="en-US" sz="2400" dirty="0"/>
                  <a:t>Или преобразованиями типа </a:t>
                </a:r>
                <a:r>
                  <a:rPr lang="en-US" altLang="en-US" sz="2400" dirty="0"/>
                  <a:t>(DS </a:t>
                </a:r>
                <a:r>
                  <a:rPr lang="ru-RU" altLang="en-US" sz="2400" dirty="0"/>
                  <a:t>модель):</a:t>
                </a:r>
                <a:endParaRPr lang="ru-RU" sz="2200" dirty="0"/>
              </a:p>
              <a:p>
                <a:r>
                  <a:rPr lang="ru-RU" sz="2200" dirty="0"/>
                  <a:t>Дифференцирование ряда (для снятие тренда) </a:t>
                </a:r>
              </a:p>
              <a:p>
                <a:pPr marL="0" indent="0" algn="ctr">
                  <a:buNone/>
                </a:pPr>
                <a:r>
                  <a:rPr lang="ru-RU" sz="2200" dirty="0"/>
                  <a:t> </a:t>
                </a:r>
                <a:r>
                  <a:rPr lang="en" sz="2200" dirty="0" err="1"/>
                  <a:t>y</a:t>
                </a:r>
                <a:r>
                  <a:rPr lang="en" sz="2200" baseline="-25000" dirty="0" err="1"/>
                  <a:t>t</a:t>
                </a:r>
                <a:r>
                  <a:rPr lang="en" sz="2200" dirty="0"/>
                  <a:t>′=y</a:t>
                </a:r>
                <a:r>
                  <a:rPr lang="en" sz="2200" baseline="-25000" dirty="0"/>
                  <a:t>t</a:t>
                </a:r>
                <a:r>
                  <a:rPr lang="en" sz="2200" dirty="0"/>
                  <a:t>−y</a:t>
                </a:r>
                <a:r>
                  <a:rPr lang="en" sz="2200" baseline="-25000" dirty="0"/>
                  <a:t>t−1</a:t>
                </a:r>
                <a:r>
                  <a:rPr lang="en" sz="2200" dirty="0"/>
                  <a:t>. 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200" dirty="0"/>
              </a:p>
              <a:p>
                <a:r>
                  <a:rPr lang="ru-RU" sz="2200" dirty="0"/>
                  <a:t>Сезонное дифференцирование (снятие сезонности)</a:t>
                </a:r>
              </a:p>
              <a:p>
                <a:pPr marL="0" indent="0" algn="ctr">
                  <a:buNone/>
                </a:pPr>
                <a:r>
                  <a:rPr lang="ru-RU" sz="2200" dirty="0"/>
                  <a:t> 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dirty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sSub>
                      <m:sSubPr>
                        <m:ctrlPr>
                          <a:rPr lang="en-US" sz="2400" i="1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" sz="2200" dirty="0"/>
                  <a:t>=</a:t>
                </a:r>
                <a:r>
                  <a:rPr lang="en" sz="2200" i="1" dirty="0" err="1"/>
                  <a:t>y</a:t>
                </a:r>
                <a:r>
                  <a:rPr lang="en" sz="2200" i="1" baseline="-25000" dirty="0" err="1"/>
                  <a:t>t</a:t>
                </a:r>
                <a:r>
                  <a:rPr lang="en" sz="2200" dirty="0"/>
                  <a:t>​−</a:t>
                </a:r>
                <a:r>
                  <a:rPr lang="en" sz="2200" i="1" dirty="0" err="1"/>
                  <a:t>y</a:t>
                </a:r>
                <a:r>
                  <a:rPr lang="en" sz="2200" i="1" baseline="-25000" dirty="0" err="1"/>
                  <a:t>t</a:t>
                </a:r>
                <a:r>
                  <a:rPr lang="en" sz="2200" baseline="-25000" dirty="0"/>
                  <a:t>−</a:t>
                </a:r>
                <a:r>
                  <a:rPr lang="en" sz="2200" i="1" baseline="-25000" dirty="0"/>
                  <a:t>s</a:t>
                </a:r>
                <a:r>
                  <a:rPr lang="en" sz="2200" baseline="-25000" dirty="0"/>
                  <a:t>​</a:t>
                </a:r>
                <a:r>
                  <a:rPr lang="en" sz="2200" dirty="0"/>
                  <a:t>, </a:t>
                </a: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  <a:p>
                <a:pPr marL="0" indent="0" algn="ctr">
                  <a:buNone/>
                </a:pPr>
                <a:r>
                  <a:rPr lang="en" sz="2200" i="1" dirty="0"/>
                  <a:t>s</a:t>
                </a:r>
                <a:r>
                  <a:rPr lang="en" sz="2200" dirty="0"/>
                  <a:t> – </a:t>
                </a:r>
                <a:r>
                  <a:rPr lang="ru-RU" sz="2200" dirty="0"/>
                  <a:t>длина сезона.</a:t>
                </a:r>
              </a:p>
              <a:p>
                <a:pPr marL="0" indent="0">
                  <a:buNone/>
                </a:pPr>
                <a:endParaRPr lang="ru-RU" sz="2200" dirty="0"/>
              </a:p>
              <a:p>
                <a:r>
                  <a:rPr lang="ru-RU" sz="2200" dirty="0"/>
                  <a:t>Преобразования можно применять несколько раз. </a:t>
                </a:r>
              </a:p>
              <a:p>
                <a:r>
                  <a:rPr lang="ru-RU" sz="2200" dirty="0"/>
                  <a:t>Обычно сначала применяют сезонное дифференцирование.</a:t>
                </a:r>
                <a:br>
                  <a:rPr lang="ru-RU" sz="2200" dirty="0"/>
                </a:b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64205F-EC7C-FCE6-C3F5-3989C7225E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1782" y="794316"/>
                <a:ext cx="7640900" cy="5784284"/>
              </a:xfrm>
              <a:blipFill>
                <a:blip r:embed="rId2"/>
                <a:stretch>
                  <a:fillRect l="-995" t="-197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3D23F6C-7410-4C33-A167-CD4C4394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43E2-8C7A-261B-FAA7-DD4F1D0B815C}"/>
              </a:ext>
            </a:extLst>
          </p:cNvPr>
          <p:cNvSpPr txBox="1"/>
          <p:nvPr/>
        </p:nvSpPr>
        <p:spPr>
          <a:xfrm>
            <a:off x="2885208" y="6352143"/>
            <a:ext cx="8077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education.yandex.ru</a:t>
            </a:r>
            <a:r>
              <a:rPr lang="ru-RU" dirty="0"/>
              <a:t>/</a:t>
            </a:r>
            <a:r>
              <a:rPr lang="ru-RU" dirty="0" err="1"/>
              <a:t>handbook</a:t>
            </a:r>
            <a:r>
              <a:rPr lang="ru-RU" dirty="0"/>
              <a:t>/</a:t>
            </a:r>
            <a:r>
              <a:rPr lang="ru-RU" dirty="0" err="1"/>
              <a:t>ml</a:t>
            </a:r>
            <a:r>
              <a:rPr lang="ru-RU" dirty="0"/>
              <a:t>/</a:t>
            </a:r>
            <a:r>
              <a:rPr lang="ru-RU" dirty="0" err="1"/>
              <a:t>article</a:t>
            </a:r>
            <a:r>
              <a:rPr lang="ru-RU" dirty="0"/>
              <a:t>/</a:t>
            </a:r>
            <a:r>
              <a:rPr lang="ru-RU" dirty="0" err="1"/>
              <a:t>analitika-vremennyh-ryadov</a:t>
            </a:r>
            <a:endParaRPr lang="ru-RU" dirty="0"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287B935A-7DEC-7B26-64EF-E7C9757251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67" b="68104"/>
          <a:stretch>
            <a:fillRect/>
          </a:stretch>
        </p:blipFill>
        <p:spPr bwMode="auto">
          <a:xfrm>
            <a:off x="7925297" y="626007"/>
            <a:ext cx="3737753" cy="195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image.png">
            <a:extLst>
              <a:ext uri="{FF2B5EF4-FFF2-40B4-BE49-F238E27FC236}">
                <a16:creationId xmlns:a16="http://schemas.microsoft.com/office/drawing/2014/main" id="{842AE8AE-5091-CA10-4BC3-9F9B9EA49D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671" t="37973" r="3671" b="33202"/>
          <a:stretch>
            <a:fillRect/>
          </a:stretch>
        </p:blipFill>
        <p:spPr bwMode="auto">
          <a:xfrm>
            <a:off x="7808033" y="2581322"/>
            <a:ext cx="3855017" cy="195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image.png">
            <a:extLst>
              <a:ext uri="{FF2B5EF4-FFF2-40B4-BE49-F238E27FC236}">
                <a16:creationId xmlns:a16="http://schemas.microsoft.com/office/drawing/2014/main" id="{3ADD4940-D8B5-C15B-5B54-B156C06B54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t="71872" r="-9"/>
          <a:stretch>
            <a:fillRect/>
          </a:stretch>
        </p:blipFill>
        <p:spPr bwMode="auto">
          <a:xfrm>
            <a:off x="8007938" y="4536637"/>
            <a:ext cx="3855017" cy="190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02EFE9-3A0B-19DC-D6A7-BF85FFBFA7F3}"/>
                  </a:ext>
                </a:extLst>
              </p:cNvPr>
              <p:cNvSpPr txBox="1"/>
              <p:nvPr/>
            </p:nvSpPr>
            <p:spPr>
              <a:xfrm>
                <a:off x="8242588" y="3890470"/>
                <a:ext cx="114040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02EFE9-3A0B-19DC-D6A7-BF85FFBFA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588" y="3890470"/>
                <a:ext cx="1140402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74579F-E142-AA3B-ECFA-68DF44DC0FFB}"/>
                  </a:ext>
                </a:extLst>
              </p:cNvPr>
              <p:cNvSpPr txBox="1"/>
              <p:nvPr/>
            </p:nvSpPr>
            <p:spPr>
              <a:xfrm>
                <a:off x="7925297" y="5796042"/>
                <a:ext cx="198342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dirty="0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800" dirty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sz="1800" i="1" dirty="0" err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err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i="1" dirty="0" err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174579F-E142-AA3B-ECFA-68DF44DC0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5297" y="5796042"/>
                <a:ext cx="1983429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22433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65B6-B96E-1E76-3705-2650BC1F7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2E32E8-5EA8-F99F-F926-A6D3A2CE7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609" y="0"/>
            <a:ext cx="10515600" cy="1325563"/>
          </a:xfrm>
        </p:spPr>
        <p:txBody>
          <a:bodyPr/>
          <a:lstStyle/>
          <a:p>
            <a:r>
              <a:rPr lang="ru-RU" b="1" dirty="0" err="1"/>
              <a:t>Гетероскедастичность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5A25868-226B-96F2-D5CF-B4C1B7318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7907" y="995709"/>
                <a:ext cx="11346872" cy="4351339"/>
              </a:xfrm>
            </p:spPr>
            <p:txBody>
              <a:bodyPr/>
              <a:lstStyle/>
              <a:p>
                <a:pPr marL="179384" lvl="1" indent="-179384"/>
                <a:r>
                  <a:rPr lang="ru-RU" dirty="0"/>
                  <a:t>Можно избавиться при помощи Бокса-Кокса или например как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5A25868-226B-96F2-D5CF-B4C1B7318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7907" y="995709"/>
                <a:ext cx="11346872" cy="4351339"/>
              </a:xfrm>
              <a:blipFill>
                <a:blip r:embed="rId2"/>
                <a:stretch>
                  <a:fillRect l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714AA5B-B022-4081-70C1-DDB7650E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22</a:t>
            </a:fld>
            <a:endParaRPr lang="en-US"/>
          </a:p>
        </p:txBody>
      </p:sp>
      <p:pic>
        <p:nvPicPr>
          <p:cNvPr id="1026" name="Picture 2" descr="Временные ряды - презентация онлайн">
            <a:extLst>
              <a:ext uri="{FF2B5EF4-FFF2-40B4-BE49-F238E27FC236}">
                <a16:creationId xmlns:a16="http://schemas.microsoft.com/office/drawing/2014/main" id="{81306493-953A-D497-DA2E-508EFC8F09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20"/>
          <a:stretch/>
        </p:blipFill>
        <p:spPr bwMode="auto">
          <a:xfrm>
            <a:off x="303375" y="2846121"/>
            <a:ext cx="6573280" cy="3785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Box-Cox Transformation.. The real-world data is not always… | by Ronak  Chhatbar | Medium">
            <a:extLst>
              <a:ext uri="{FF2B5EF4-FFF2-40B4-BE49-F238E27FC236}">
                <a16:creationId xmlns:a16="http://schemas.microsoft.com/office/drawing/2014/main" id="{4946CB98-F55D-FFFC-BFD3-D30D3C07C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6385" y="1565234"/>
            <a:ext cx="2744047" cy="1309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219D55-A210-A6C7-AE41-0EE7928EE31F}"/>
              </a:ext>
            </a:extLst>
          </p:cNvPr>
          <p:cNvSpPr txBox="1"/>
          <p:nvPr/>
        </p:nvSpPr>
        <p:spPr>
          <a:xfrm>
            <a:off x="121262" y="1645793"/>
            <a:ext cx="42013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Логарифмические преобразования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Полиномиальные преобразования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Преобразования Бокса-Кокса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Комбинации с другими темами</a:t>
            </a:r>
            <a:endParaRPr lang="en-US" dirty="0"/>
          </a:p>
        </p:txBody>
      </p:sp>
      <p:pic>
        <p:nvPicPr>
          <p:cNvPr id="8" name="Picture 2" descr="ex">
            <a:extLst>
              <a:ext uri="{FF2B5EF4-FFF2-40B4-BE49-F238E27FC236}">
                <a16:creationId xmlns:a16="http://schemas.microsoft.com/office/drawing/2014/main" id="{E67ADA8F-567B-E771-9B76-21F75C70E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569" y="1672024"/>
            <a:ext cx="4636846" cy="5049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57BB38-5F7F-B029-5AE5-AB1AB1AF5BC9}"/>
              </a:ext>
            </a:extLst>
          </p:cNvPr>
          <p:cNvSpPr txBox="1"/>
          <p:nvPr/>
        </p:nvSpPr>
        <p:spPr>
          <a:xfrm>
            <a:off x="7288357" y="3531107"/>
            <a:ext cx="972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y’=ln(</a:t>
            </a:r>
            <a:r>
              <a:rPr lang="en-US" dirty="0"/>
              <a:t>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041D3B-127A-326E-7788-364AC2699EF5}"/>
                  </a:ext>
                </a:extLst>
              </p:cNvPr>
              <p:cNvSpPr txBox="1"/>
              <p:nvPr/>
            </p:nvSpPr>
            <p:spPr>
              <a:xfrm>
                <a:off x="7774565" y="5185976"/>
                <a:ext cx="23474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dirty="0"/>
                  <a:t>y’’=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dirty="0"/>
                  <a:t>ln(</a:t>
                </a:r>
                <a:r>
                  <a:rPr lang="en-US" dirty="0"/>
                  <a:t>y)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6041D3B-127A-326E-7788-364AC2699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4565" y="5185976"/>
                <a:ext cx="2347480" cy="369332"/>
              </a:xfrm>
              <a:prstGeom prst="rect">
                <a:avLst/>
              </a:prstGeom>
              <a:blipFill>
                <a:blip r:embed="rId6"/>
                <a:stretch>
                  <a:fillRect l="-2162" t="-6667" b="-2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9804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5CF265-69E0-6399-718A-1D16E8BCA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8585B36-63FB-AB66-D543-F65C6C5EF5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5057" y="1163773"/>
                <a:ext cx="10515600" cy="435133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ru-RU" dirty="0"/>
                  <a:t>Методы приведения ряда к стационарному:</a:t>
                </a:r>
              </a:p>
              <a:p>
                <a:r>
                  <a:rPr lang="ru-RU" dirty="0"/>
                  <a:t>Численная обычная производная  – тренд.</a:t>
                </a:r>
              </a:p>
              <a:p>
                <a:r>
                  <a:rPr lang="ru-RU" dirty="0"/>
                  <a:t>Численная дробная производная – сложный, цикличный тренд.</a:t>
                </a:r>
              </a:p>
              <a:p>
                <a:r>
                  <a:rPr lang="ru-RU" dirty="0"/>
                  <a:t>Численная сезонная производная  – высокое влияние сезонности.</a:t>
                </a:r>
              </a:p>
              <a:p>
                <a:r>
                  <a:rPr lang="ru-RU" dirty="0"/>
                  <a:t>Преобразования Бокса-Кокса – 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, в частности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).</a:t>
                </a:r>
              </a:p>
              <a:p>
                <a:r>
                  <a:rPr lang="ru-RU" dirty="0"/>
                  <a:t>Приведение к виду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dirty="0"/>
                  <a:t> - </a:t>
                </a:r>
                <a:r>
                  <a:rPr lang="ru-RU" dirty="0"/>
                  <a:t>устранения волатильности (</a:t>
                </a:r>
                <a:r>
                  <a:rPr lang="ru-RU" dirty="0" err="1"/>
                  <a:t>гетероскедастичности</a:t>
                </a:r>
                <a:r>
                  <a:rPr lang="ru-RU" dirty="0"/>
                  <a:t>).</a:t>
                </a:r>
              </a:p>
              <a:p>
                <a:r>
                  <a:rPr lang="ru-RU" dirty="0"/>
                  <a:t>Декомпозиция модели (напр. использование разных подходов для разных частей).</a:t>
                </a:r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8585B36-63FB-AB66-D543-F65C6C5EF5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5057" y="1163773"/>
                <a:ext cx="10515600" cy="4351338"/>
              </a:xfrm>
              <a:blipFill>
                <a:blip r:embed="rId2"/>
                <a:stretch>
                  <a:fillRect l="-870" t="-28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79CF1A6-BD6F-867B-185F-2E2BC4BD7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23</a:t>
            </a:fld>
            <a:endParaRPr lang="en-US"/>
          </a:p>
        </p:txBody>
      </p:sp>
      <p:pic>
        <p:nvPicPr>
          <p:cNvPr id="7170" name="Picture 2" descr="Different forms of dependence and their Pearson's r values">
            <a:extLst>
              <a:ext uri="{FF2B5EF4-FFF2-40B4-BE49-F238E27FC236}">
                <a16:creationId xmlns:a16="http://schemas.microsoft.com/office/drawing/2014/main" id="{9C640715-FCEC-9E02-C24B-446D96F52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042" y="3196046"/>
            <a:ext cx="5549304" cy="2531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1D615A-AB23-F639-C63B-32D2BB310067}"/>
              </a:ext>
            </a:extLst>
          </p:cNvPr>
          <p:cNvSpPr txBox="1"/>
          <p:nvPr/>
        </p:nvSpPr>
        <p:spPr>
          <a:xfrm>
            <a:off x="5562600" y="625667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smac-group.github.io</a:t>
            </a:r>
            <a:r>
              <a:rPr lang="ru-RU" dirty="0"/>
              <a:t>/</a:t>
            </a:r>
            <a:r>
              <a:rPr lang="ru-RU" dirty="0" err="1"/>
              <a:t>ts</a:t>
            </a:r>
            <a:r>
              <a:rPr lang="ru-RU" dirty="0"/>
              <a:t>/</a:t>
            </a:r>
            <a:r>
              <a:rPr lang="ru-RU" dirty="0" err="1"/>
              <a:t>fundtimeseries.html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620BB-993D-69EB-37A9-4653940405A5}"/>
              </a:ext>
            </a:extLst>
          </p:cNvPr>
          <p:cNvSpPr txBox="1"/>
          <p:nvPr/>
        </p:nvSpPr>
        <p:spPr>
          <a:xfrm>
            <a:off x="5517572" y="5767773"/>
            <a:ext cx="63557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</a:t>
            </a:r>
            <a:r>
              <a:rPr lang="en-US" dirty="0" err="1"/>
              <a:t>ри</a:t>
            </a:r>
            <a:r>
              <a:rPr lang="ru-RU" dirty="0"/>
              <a:t>меры различных зависимостей с одинаковой корреляцией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78377" y="214388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2755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8805</TotalTime>
  <Words>1172</Words>
  <Application>Microsoft Office PowerPoint</Application>
  <PresentationFormat>Широкоэкранный</PresentationFormat>
  <Paragraphs>215</Paragraphs>
  <Slides>23</Slides>
  <Notes>9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1" baseType="lpstr">
      <vt:lpstr>__YSText_10659f</vt:lpstr>
      <vt:lpstr>Arial</vt:lpstr>
      <vt:lpstr>Calibri</vt:lpstr>
      <vt:lpstr>Calibri Light</vt:lpstr>
      <vt:lpstr>Cambria Math</vt:lpstr>
      <vt:lpstr>quote-cjk-patch</vt:lpstr>
      <vt:lpstr>Times New Roman</vt:lpstr>
      <vt:lpstr>Тема Office 2013–2022</vt:lpstr>
      <vt:lpstr>Статистический подход к анализу  временных рядов.</vt:lpstr>
      <vt:lpstr>Модели временных рядов</vt:lpstr>
      <vt:lpstr>Особенности модели временных рядов</vt:lpstr>
      <vt:lpstr>Белый Гауссов шум</vt:lpstr>
      <vt:lpstr>Статистические сво йства ВР</vt:lpstr>
      <vt:lpstr>Автокорреляция ВР</vt:lpstr>
      <vt:lpstr>Замечания к автокорреляции</vt:lpstr>
      <vt:lpstr>Пример дорожно-транспортных происшествий за 14 лет с дискретностью 1 месяц,</vt:lpstr>
      <vt:lpstr>Корреляция</vt:lpstr>
      <vt:lpstr>Замечания </vt:lpstr>
      <vt:lpstr>Частичная автокорреляция</vt:lpstr>
      <vt:lpstr>Частичная автокорреляция</vt:lpstr>
      <vt:lpstr>Анализ стационарности</vt:lpstr>
      <vt:lpstr>Стационарность ВР</vt:lpstr>
      <vt:lpstr>Анализ нестационарности</vt:lpstr>
      <vt:lpstr>Стационарность ВР. Замечания</vt:lpstr>
      <vt:lpstr>Анализ стационарности</vt:lpstr>
      <vt:lpstr>Белый Гауссов шум</vt:lpstr>
      <vt:lpstr>Преобразования нестационарных  временных рядов</vt:lpstr>
      <vt:lpstr>Преобразования нестационарных  временных рядов</vt:lpstr>
      <vt:lpstr>Преобразования нестационарных ВР</vt:lpstr>
      <vt:lpstr>Гетероскедастичность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267</cp:revision>
  <dcterms:created xsi:type="dcterms:W3CDTF">2021-10-31T10:57:36Z</dcterms:created>
  <dcterms:modified xsi:type="dcterms:W3CDTF">2025-07-24T14:55:25Z</dcterms:modified>
</cp:coreProperties>
</file>