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466" r:id="rId3"/>
    <p:sldId id="425" r:id="rId4"/>
    <p:sldId id="467" r:id="rId5"/>
    <p:sldId id="412" r:id="rId6"/>
    <p:sldId id="444" r:id="rId7"/>
    <p:sldId id="468" r:id="rId8"/>
    <p:sldId id="469" r:id="rId9"/>
    <p:sldId id="470" r:id="rId10"/>
    <p:sldId id="471" r:id="rId11"/>
    <p:sldId id="432" r:id="rId12"/>
    <p:sldId id="433" r:id="rId13"/>
    <p:sldId id="436" r:id="rId14"/>
    <p:sldId id="448" r:id="rId15"/>
    <p:sldId id="445" r:id="rId16"/>
    <p:sldId id="454" r:id="rId17"/>
    <p:sldId id="462" r:id="rId18"/>
    <p:sldId id="463" r:id="rId19"/>
    <p:sldId id="455" r:id="rId20"/>
    <p:sldId id="464" r:id="rId21"/>
    <p:sldId id="446" r:id="rId22"/>
    <p:sldId id="451" r:id="rId23"/>
    <p:sldId id="450" r:id="rId24"/>
    <p:sldId id="45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01EE05C-F9E4-4BBB-A5C1-9C9F75E33B4A}">
          <p14:sldIdLst>
            <p14:sldId id="256"/>
            <p14:sldId id="466"/>
            <p14:sldId id="425"/>
            <p14:sldId id="467"/>
            <p14:sldId id="412"/>
            <p14:sldId id="444"/>
            <p14:sldId id="468"/>
            <p14:sldId id="469"/>
            <p14:sldId id="470"/>
            <p14:sldId id="471"/>
            <p14:sldId id="432"/>
            <p14:sldId id="433"/>
            <p14:sldId id="436"/>
            <p14:sldId id="448"/>
            <p14:sldId id="445"/>
            <p14:sldId id="454"/>
            <p14:sldId id="462"/>
            <p14:sldId id="463"/>
            <p14:sldId id="455"/>
            <p14:sldId id="464"/>
            <p14:sldId id="446"/>
            <p14:sldId id="451"/>
            <p14:sldId id="450"/>
            <p14:sldId id="45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8" autoAdjust="0"/>
    <p:restoredTop sz="96301"/>
  </p:normalViewPr>
  <p:slideViewPr>
    <p:cSldViewPr snapToGrid="0">
      <p:cViewPr varScale="1">
        <p:scale>
          <a:sx n="97" d="100"/>
          <a:sy n="97" d="100"/>
        </p:scale>
        <p:origin x="102" y="4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8650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https://huggingface.co/spaces/Salesforce/GIFT-Eval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65416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0487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8379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7553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65EDB-29AD-A6EA-7DBD-86547287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7ADD6A5-D3D6-4A70-AF6A-A6CBCEB26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5CFE5A9-91E7-A266-B827-688E615DC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ADF6AE-A657-7E28-E060-6391DA636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271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pii/S0169207024001079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Makridakis_Competitions" TargetMode="External"/><Relationship Id="rId5" Type="http://schemas.openxmlformats.org/officeDocument/2006/relationships/hyperlink" Target="https://statmodeling.stat.columbia.edu/wp-content/uploads/2021/10/M5_accuracy_competition.pdf" TargetMode="External"/><Relationship Id="rId4" Type="http://schemas.openxmlformats.org/officeDocument/2006/relationships/hyperlink" Target="https://m-e-gorelli.medium.com/how-i-won-6-000-in-the-m6-forecasting-competition-888df68bf132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python/time-series-decomposition-techniques/" TargetMode="External"/><Relationship Id="rId3" Type="http://schemas.openxmlformats.org/officeDocument/2006/relationships/hyperlink" Target="https://otexts.com/fpp2/classical-decomposition.html" TargetMode="External"/><Relationship Id="rId7" Type="http://schemas.openxmlformats.org/officeDocument/2006/relationships/image" Target="../media/image13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hyperlink" Target="http://www.gardner.fyi/blog/STL-Part-II/" TargetMode="External"/><Relationship Id="rId10" Type="http://schemas.openxmlformats.org/officeDocument/2006/relationships/image" Target="../media/image15.png"/><Relationship Id="rId4" Type="http://schemas.openxmlformats.org/officeDocument/2006/relationships/hyperlink" Target="https://www.openforecast.org/adam/classical-seasonal-decomposition.html" TargetMode="External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se.ru/data/2014/11/13/1311639964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2334624"/>
          </a:xfrm>
        </p:spPr>
        <p:txBody>
          <a:bodyPr>
            <a:normAutofit/>
          </a:bodyPr>
          <a:lstStyle/>
          <a:p>
            <a:r>
              <a:rPr lang="ru-RU" sz="8000" b="1" dirty="0"/>
              <a:t>Предсказания ВР с явной </a:t>
            </a:r>
            <a:r>
              <a:rPr lang="en-US" sz="8000" b="1" dirty="0"/>
              <a:t>TS </a:t>
            </a:r>
            <a:r>
              <a:rPr lang="ru-RU" sz="8000" b="1" dirty="0"/>
              <a:t>моделью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717062"/>
            <a:ext cx="11563350" cy="1924051"/>
          </a:xfrm>
        </p:spPr>
        <p:txBody>
          <a:bodyPr>
            <a:normAutofit/>
          </a:bodyPr>
          <a:lstStyle/>
          <a:p>
            <a:endParaRPr lang="ru-RU" sz="22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2" descr="https://i0.wp.com/semiengineering.com/wp-content/uploads/Fraunhofer_data-augmentation-industrial-AI-fig1.jpg?resize=605%2C155&amp;ssl=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9380" y="1098101"/>
            <a:ext cx="5762625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2007646" y="607514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https://semiengineering.com/enhancing-datasets-for-artificial-intelligence-through-model-based-methods/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6517342" y="2389473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Бизнес процесс – </a:t>
            </a:r>
            <a:r>
              <a:rPr lang="en-US" sz="1400" dirty="0"/>
              <a:t>Prophet, </a:t>
            </a:r>
            <a:r>
              <a:rPr lang="ru-RU" sz="1400" dirty="0"/>
              <a:t> разложение и процесс</a:t>
            </a:r>
            <a:r>
              <a:rPr lang="en-US" sz="1400" dirty="0"/>
              <a:t>;</a:t>
            </a:r>
            <a:endParaRPr lang="ru-RU" sz="14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4030516" y="2775989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Prophet</a:t>
            </a:r>
            <a:endParaRPr lang="ru-RU" sz="1400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2090621" y="3102525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Network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2372232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 курсе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717062"/>
            <a:ext cx="11563350" cy="1924051"/>
          </a:xfrm>
        </p:spPr>
        <p:txBody>
          <a:bodyPr>
            <a:normAutofit/>
          </a:bodyPr>
          <a:lstStyle/>
          <a:p>
            <a:r>
              <a:rPr lang="ru-RU" sz="2200" dirty="0"/>
              <a:t>Методы всегда выбираются</a:t>
            </a:r>
            <a:r>
              <a:rPr lang="en-US" sz="2200" dirty="0"/>
              <a:t> </a:t>
            </a:r>
            <a:r>
              <a:rPr lang="ru-RU" sz="2200" dirty="0"/>
              <a:t>от простых (слева) к самым сложным.</a:t>
            </a:r>
          </a:p>
          <a:p>
            <a:r>
              <a:rPr lang="ru-RU" sz="2200" dirty="0"/>
              <a:t>Выбор метода зависит от сложности ВР (число и связи компонент, </a:t>
            </a:r>
            <a:r>
              <a:rPr lang="ru-RU" sz="2200" dirty="0" err="1"/>
              <a:t>формализуемость</a:t>
            </a:r>
            <a:r>
              <a:rPr lang="ru-RU" sz="2200" dirty="0"/>
              <a:t> ВР) и требований к предсказанию (горизонт, точность)</a:t>
            </a:r>
          </a:p>
          <a:p>
            <a:r>
              <a:rPr lang="ru-RU" sz="2200" dirty="0"/>
              <a:t>Чем сложнее метод, тем он шире применим, но менее точен/менее устойчив/более склонен к переобучению, а также тем больше данных для обучения необходимо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p:sp>
        <p:nvSpPr>
          <p:cNvPr id="5" name="Прямоугольник 4"/>
          <p:cNvSpPr/>
          <p:nvPr/>
        </p:nvSpPr>
        <p:spPr>
          <a:xfrm>
            <a:off x="73799" y="6582975"/>
            <a:ext cx="806055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https://fastercapital.com/content/Time-series-analysis-using-nonparametric-techniques--A-Fresh-Perspective.html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649" y="1001486"/>
            <a:ext cx="8024157" cy="363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786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5988"/>
          </a:xfrm>
        </p:spPr>
        <p:txBody>
          <a:bodyPr>
            <a:normAutofit fontScale="90000"/>
          </a:bodyPr>
          <a:lstStyle/>
          <a:p>
            <a:r>
              <a:rPr lang="ru-RU" dirty="0"/>
              <a:t>Подходы к предсказанию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29" y="1366839"/>
            <a:ext cx="11542743" cy="340459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838200" y="4905999"/>
            <a:ext cx="1067752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Encoding (</a:t>
            </a: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</a:rPr>
              <a:t>кодирование) — это процесс преобразования данных (в том числе категориальных или временных признаков) в числовую форму, удобную для обработки алгоритмами машинного обучения или статистическими методами.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285" y="5773400"/>
            <a:ext cx="5450702" cy="86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75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4038601"/>
            <a:ext cx="5545455" cy="2560320"/>
          </a:xfrm>
        </p:spPr>
        <p:txBody>
          <a:bodyPr>
            <a:normAutofit/>
          </a:bodyPr>
          <a:lstStyle/>
          <a:p>
            <a:r>
              <a:rPr lang="ru-RU" sz="2000" dirty="0"/>
              <a:t>Точность на коротких горизонтах предсказания</a:t>
            </a:r>
          </a:p>
          <a:p>
            <a:r>
              <a:rPr lang="ru-RU" sz="2000" dirty="0"/>
              <a:t>Высокая скорость обучения и переобучения</a:t>
            </a:r>
          </a:p>
          <a:p>
            <a:r>
              <a:rPr lang="ru-RU" sz="2000" dirty="0"/>
              <a:t>Высокая интерпретируемость</a:t>
            </a:r>
            <a:endParaRPr lang="en-US" sz="2000" dirty="0"/>
          </a:p>
          <a:p>
            <a:r>
              <a:rPr lang="ru-RU" sz="2000" dirty="0"/>
              <a:t>Важно соответствие данных модели </a:t>
            </a:r>
          </a:p>
          <a:p>
            <a:endParaRPr lang="ru-RU" sz="2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50" y="747822"/>
            <a:ext cx="7796825" cy="3426877"/>
          </a:xfrm>
          <a:prstGeom prst="rect">
            <a:avLst/>
          </a:prstGeom>
        </p:spPr>
      </p:pic>
      <p:sp>
        <p:nvSpPr>
          <p:cNvPr id="5" name="Объект 2"/>
          <p:cNvSpPr txBox="1">
            <a:spLocks/>
          </p:cNvSpPr>
          <p:nvPr/>
        </p:nvSpPr>
        <p:spPr>
          <a:xfrm>
            <a:off x="5836920" y="4076700"/>
            <a:ext cx="6174105" cy="2560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Требуется значительная предобработка данных</a:t>
            </a:r>
          </a:p>
          <a:p>
            <a:r>
              <a:rPr lang="ru-RU" sz="2000" dirty="0"/>
              <a:t>Очень важна настройка модели</a:t>
            </a:r>
          </a:p>
          <a:p>
            <a:r>
              <a:rPr lang="ru-RU" sz="2000" dirty="0"/>
              <a:t>Чувствительность к новизне, выбросам, пропускам и другим нерегулярностям данных</a:t>
            </a:r>
          </a:p>
          <a:p>
            <a:r>
              <a:rPr lang="ru-RU" sz="2000" dirty="0"/>
              <a:t> Частое обновление модели в процессе работы</a:t>
            </a:r>
          </a:p>
          <a:p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68745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</p:nvPr>
        </p:nvGraphicFramePr>
        <p:xfrm>
          <a:off x="228598" y="1401333"/>
          <a:ext cx="11671666" cy="449444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45472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770616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79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45326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140823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2137955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19909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Цель бенчмарка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Модели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Метрики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Победители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3919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M1 (1982)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1001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финансы, демография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Сравнение классических моделей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 ETS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MAPE, RMSE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ETS, ARIMA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57614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M2 (1993)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29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en-US" sz="1600" dirty="0">
                          <a:effectLst/>
                        </a:rPr>
                        <a:t>, real-time forecasting</a:t>
                      </a:r>
                      <a:r>
                        <a:rPr lang="ru-RU" sz="1600" dirty="0">
                          <a:effectLst/>
                        </a:rPr>
                        <a:t>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Анализ экспертных суждений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Влияние экспертных прогнозов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Judgment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vs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models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RMSE, MAE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Experts</a:t>
                      </a:r>
                      <a:r>
                        <a:rPr lang="ru-RU" sz="1600" dirty="0">
                          <a:effectLst/>
                        </a:rPr>
                        <a:t> ≈ </a:t>
                      </a:r>
                      <a:r>
                        <a:rPr lang="en-US" sz="1600" dirty="0">
                          <a:effectLst/>
                        </a:rPr>
                        <a:t>ETS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Модели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не хуже экспертов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41603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M3 (2000)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3003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универсальная модель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</a:t>
                      </a:r>
                      <a:r>
                        <a:rPr lang="en-US" sz="1700" dirty="0">
                          <a:effectLst/>
                        </a:rPr>
                        <a:t> ETS,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MAPE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ARIMA,</a:t>
                      </a:r>
                      <a:r>
                        <a:rPr lang="en-US" sz="1600" dirty="0">
                          <a:effectLst/>
                        </a:rPr>
                        <a:t> ETS,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972350284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M4 (2018)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10</a:t>
                      </a:r>
                      <a:r>
                        <a:rPr lang="ru-RU" sz="1600" baseline="0" dirty="0">
                          <a:effectLst/>
                        </a:rPr>
                        <a:t> 000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на разных масштабах</a:t>
                      </a:r>
                      <a:r>
                        <a:rPr lang="ru-RU" sz="1600" baseline="0" dirty="0">
                          <a:effectLst/>
                        </a:rPr>
                        <a:t> (год, месяц, и </a:t>
                      </a:r>
                      <a:r>
                        <a:rPr lang="ru-RU" sz="1600" baseline="0" dirty="0" err="1">
                          <a:effectLst/>
                        </a:rPr>
                        <a:t>тд</a:t>
                      </a:r>
                      <a:r>
                        <a:rPr lang="ru-RU" sz="1600" baseline="0" dirty="0">
                          <a:effectLst/>
                        </a:rPr>
                        <a:t>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Масштабная проверка стратегий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ETS + RNN,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r>
                        <a:rPr lang="ru-RU" sz="1700" dirty="0">
                          <a:effectLst/>
                        </a:rPr>
                        <a:t>,</a:t>
                      </a:r>
                      <a:r>
                        <a:rPr lang="ru-RU" sz="1700" baseline="0" dirty="0">
                          <a:effectLst/>
                        </a:rPr>
                        <a:t> </a:t>
                      </a:r>
                      <a:r>
                        <a:rPr lang="en-US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Prophet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MASE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 + RNN,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Гибрид 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en-US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DL+stat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лучшие,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Theta – runner up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166983177"/>
                  </a:ext>
                </a:extLst>
              </a:tr>
              <a:tr h="62090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M5 (2020)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 err="1">
                          <a:effectLst/>
                        </a:rPr>
                        <a:t>Hierarchical</a:t>
                      </a:r>
                      <a:r>
                        <a:rPr lang="ru-RU" sz="1600" dirty="0">
                          <a:effectLst/>
                        </a:rPr>
                        <a:t>, </a:t>
                      </a: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r>
                        <a:rPr lang="ru-RU" sz="1600" dirty="0">
                          <a:effectLst/>
                        </a:rPr>
                        <a:t> Продажи </a:t>
                      </a:r>
                      <a:r>
                        <a:rPr lang="ru-RU" sz="1600" dirty="0" err="1">
                          <a:effectLst/>
                        </a:rPr>
                        <a:t>Walmart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на</a:t>
                      </a:r>
                      <a:r>
                        <a:rPr lang="ru-RU" sz="1600" baseline="0" dirty="0">
                          <a:effectLst/>
                        </a:rPr>
                        <a:t> месяц</a:t>
                      </a:r>
                      <a:r>
                        <a:rPr lang="ru-RU" sz="1600" dirty="0">
                          <a:effectLst/>
                        </a:rPr>
                        <a:t>, с категориальными признаками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Сложные огромные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en-US" sz="1600" baseline="0" dirty="0">
                          <a:effectLst/>
                        </a:rPr>
                        <a:t>industrial</a:t>
                      </a:r>
                      <a:r>
                        <a:rPr lang="ru-RU" sz="1600" baseline="0" dirty="0">
                          <a:effectLst/>
                        </a:rPr>
                        <a:t> ВР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LightGBM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lang="ru-RU" sz="17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WRMSSE,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LightGBM</a:t>
                      </a:r>
                      <a:r>
                        <a:rPr lang="en-US" sz="1600" dirty="0">
                          <a:effectLst/>
                        </a:rPr>
                        <a:t>+feature engineering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Продвинутый </a:t>
                      </a:r>
                      <a:r>
                        <a:rPr lang="ru-RU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фичи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-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 хуже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M6 (2024)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endParaRPr lang="ru-RU" sz="1600" dirty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Probabilistic</a:t>
                      </a:r>
                      <a:r>
                        <a:rPr lang="ru-RU" sz="1600" dirty="0">
                          <a:effectLst/>
                        </a:rPr>
                        <a:t>, Финансовые данные, 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Вероятностное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Прогнозирование фин.</a:t>
                      </a:r>
                      <a:r>
                        <a:rPr lang="ru-RU" sz="1600" baseline="0" dirty="0">
                          <a:effectLst/>
                        </a:rPr>
                        <a:t> сектор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DeepAR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AutoTS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dirty="0" err="1">
                          <a:effectLst/>
                        </a:rPr>
                        <a:t>TimeGPT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CRPS,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2449646058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6" name="Прямоугольник 5"/>
          <p:cNvSpPr/>
          <p:nvPr/>
        </p:nvSpPr>
        <p:spPr>
          <a:xfrm>
            <a:off x="0" y="7051740"/>
            <a:ext cx="1182188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M6: </a:t>
            </a:r>
            <a:r>
              <a:rPr lang="ru-RU" sz="1400" dirty="0">
                <a:hlinkClick r:id="rId3"/>
              </a:rPr>
              <a:t>https://www.sciencedirect.com/science/article/pii/S0169207024001079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https://m-e-gorelli.medium.com/how-i-won-6-000-in-the-m6-forecasting-competition-888df68bf132</a:t>
            </a:r>
            <a:r>
              <a:rPr lang="en-US" sz="1400" dirty="0"/>
              <a:t> </a:t>
            </a:r>
            <a:endParaRPr lang="ru-RU" sz="14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0" y="6940274"/>
            <a:ext cx="1361149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M5: </a:t>
            </a:r>
            <a:r>
              <a:rPr lang="ru-RU" sz="1200" dirty="0">
                <a:hlinkClick r:id="rId5"/>
              </a:rPr>
              <a:t>https://statmodeling.stat.columbia.edu/wp-content/uploads/2021/10/M5_accuracy_competition.pdf</a:t>
            </a:r>
            <a:r>
              <a:rPr lang="en-US" sz="1200" dirty="0"/>
              <a:t> , https://cienciadedatos.net/documentos/py61-m5-forecasting-competition</a:t>
            </a:r>
            <a:endParaRPr lang="ru-RU" sz="1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00443" y="673479"/>
            <a:ext cx="1178705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Соревнования </a:t>
            </a:r>
            <a:r>
              <a:rPr lang="ru-RU" sz="2000" dirty="0" err="1"/>
              <a:t>Макридакиса</a:t>
            </a:r>
            <a:r>
              <a:rPr lang="ru-RU" sz="2000" dirty="0"/>
              <a:t> (M-</a:t>
            </a:r>
            <a:r>
              <a:rPr lang="ru-RU" sz="2000" dirty="0" err="1"/>
              <a:t>Competitions</a:t>
            </a:r>
            <a:r>
              <a:rPr lang="ru-RU" sz="2000" dirty="0"/>
              <a:t>) - открытые соревнования по оценке и сравнению точности различных методов прогнозирования временных рядов.</a:t>
            </a:r>
            <a:r>
              <a:rPr lang="en-US" sz="2000" dirty="0"/>
              <a:t> </a:t>
            </a:r>
            <a:r>
              <a:rPr lang="en-US" sz="2000" dirty="0">
                <a:hlinkClick r:id="rId6"/>
              </a:rPr>
              <a:t>en.wikipedia.org/wiki/</a:t>
            </a:r>
            <a:r>
              <a:rPr lang="en-US" sz="2000" dirty="0" err="1">
                <a:hlinkClick r:id="rId6"/>
              </a:rPr>
              <a:t>Makridakis_Competitions</a:t>
            </a:r>
            <a:r>
              <a:rPr lang="en-US" sz="2000" dirty="0"/>
              <a:t> </a:t>
            </a:r>
            <a:endParaRPr lang="ru-RU" sz="20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96089" y="6207821"/>
            <a:ext cx="1105771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https://www.sciencedirect.com/science/article/pii/S0169207024001079 https://statmodeling.stat.columbia.edu/wp-content/uploads/2021/10/M5_accuracy_competition.pdf  https://cienciadedatos.net/documentos/py61-m5-forecasting-competition https://forecasters.org/resources/time-series-data/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569845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</p:nvPr>
        </p:nvGraphicFramePr>
        <p:xfrm>
          <a:off x="300443" y="587484"/>
          <a:ext cx="11521444" cy="586243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72197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090057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92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10362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532709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1859281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25998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Цель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Модели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Метрики</a:t>
                      </a:r>
                      <a:endParaRPr lang="ru-RU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Победители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10270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Температура трансформатора</a:t>
                      </a:r>
                      <a:r>
                        <a:rPr lang="ru-RU" sz="1800" b="1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ETT (h/m) 2021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Multivariate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(час,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15 минут и </a:t>
                      </a:r>
                      <a:r>
                        <a:rPr lang="ru-RU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тд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), 39 ВР+4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экзоген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парам.  горизонты (</a:t>
                      </a:r>
                      <a:r>
                        <a:rPr lang="ru-RU" sz="1800" dirty="0"/>
                        <a:t>96-720)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Transformer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LSTM,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N-BEATS,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latin typeface="+mn-lt"/>
                        </a:rPr>
                        <a:t>PatchTST</a:t>
                      </a:r>
                      <a:r>
                        <a:rPr lang="en-US" sz="1800" dirty="0">
                          <a:latin typeface="+mn-lt"/>
                        </a:rPr>
                        <a:t>, </a:t>
                      </a:r>
                      <a:r>
                        <a:rPr lang="en-US" sz="1800" dirty="0" err="1">
                          <a:latin typeface="+mn-lt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Трансформер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работает на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long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horzon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82936149"/>
                  </a:ext>
                </a:extLst>
              </a:tr>
              <a:tr h="52174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Electricity</a:t>
                      </a:r>
                      <a:r>
                        <a:rPr lang="en-US" sz="1800" baseline="0" dirty="0"/>
                        <a:t> Load E</a:t>
                      </a:r>
                      <a:r>
                        <a:rPr lang="en-US" sz="1800" dirty="0"/>
                        <a:t>CL</a:t>
                      </a:r>
                      <a:r>
                        <a:rPr lang="ru-RU" sz="1800" dirty="0"/>
                        <a:t> 2012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Multivariate</a:t>
                      </a:r>
                      <a:r>
                        <a:rPr lang="ru-RU" sz="1800" dirty="0"/>
                        <a:t> 370 клиентов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 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набольших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industrial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наборах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4545700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TimeRecipe</a:t>
                      </a:r>
                      <a:r>
                        <a:rPr lang="ru-RU" sz="1800" dirty="0">
                          <a:effectLst/>
                        </a:rPr>
                        <a:t> (2025)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Univariate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Long-horizon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Эксперименты с </a:t>
                      </a:r>
                      <a:r>
                        <a:rPr lang="en-US" sz="1800" dirty="0">
                          <a:effectLst/>
                        </a:rPr>
                        <a:t>DL</a:t>
                      </a:r>
                      <a:r>
                        <a:rPr lang="en-US" sz="1800" baseline="0" dirty="0">
                          <a:effectLst/>
                        </a:rPr>
                        <a:t> </a:t>
                      </a:r>
                      <a:r>
                        <a:rPr lang="ru-RU" sz="1800" baseline="0" dirty="0">
                          <a:effectLst/>
                        </a:rPr>
                        <a:t>моделями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NHITS, </a:t>
                      </a:r>
                      <a:r>
                        <a:rPr lang="ru-RU" sz="1800" dirty="0" err="1">
                          <a:effectLst/>
                        </a:rPr>
                        <a:t>NBEATSx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PatchTST</a:t>
                      </a:r>
                      <a:r>
                        <a:rPr lang="ru-RU" sz="1800" dirty="0">
                          <a:effectLst/>
                        </a:rPr>
                        <a:t>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MAE, MSE, </a:t>
                      </a:r>
                      <a:r>
                        <a:rPr lang="ru-RU" sz="1800" dirty="0" err="1">
                          <a:effectLst/>
                        </a:rPr>
                        <a:t>sMAPE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N-HITS, </a:t>
                      </a:r>
                      <a:r>
                        <a:rPr lang="ru-RU" sz="1700" dirty="0" err="1">
                          <a:effectLst/>
                        </a:rPr>
                        <a:t>PatchTST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ru-RU" sz="1700" dirty="0" err="1">
                          <a:effectLst/>
                        </a:rPr>
                        <a:t>DLinear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Нет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универсального победителя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ProbTS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Probabilistic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en-US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Univariate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Бенчмаркинг</a:t>
                      </a:r>
                      <a:r>
                        <a:rPr lang="ru-RU" sz="1800" dirty="0">
                          <a:effectLst/>
                        </a:rPr>
                        <a:t> вероятностных моделей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DeepAR</a:t>
                      </a:r>
                      <a:r>
                        <a:rPr lang="ru-RU" sz="1800" dirty="0">
                          <a:effectLst/>
                        </a:rPr>
                        <a:t>, TFT, </a:t>
                      </a:r>
                      <a:r>
                        <a:rPr lang="ru-RU" sz="1800" dirty="0" err="1">
                          <a:effectLst/>
                        </a:rPr>
                        <a:t>Prophet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Copula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CRPS, </a:t>
                      </a:r>
                      <a:r>
                        <a:rPr lang="ru-RU" sz="1800" dirty="0" err="1">
                          <a:effectLst/>
                        </a:rPr>
                        <a:t>Quantile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loss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-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DL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умеет делать вероятностное прогнозирование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91490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ru-RU" sz="1800" dirty="0">
                          <a:effectLst/>
                        </a:rPr>
                        <a:t> TS </a:t>
                      </a:r>
                      <a:r>
                        <a:rPr lang="ru-RU" sz="1800" dirty="0" err="1">
                          <a:effectLst/>
                        </a:rPr>
                        <a:t>Forecasting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M1-M4, Tourism,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Trafic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Weather,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Electricity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тд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academic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бенчмарк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ARIMA,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Prophet, N-BEATS, D-Linear,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PatchTST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TimesFM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zs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catboost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MASE,</a:t>
                      </a:r>
                      <a:r>
                        <a:rPr lang="en-US" sz="1800" baseline="0" dirty="0">
                          <a:effectLst/>
                        </a:rPr>
                        <a:t> MAE, SMAPE,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  <a:r>
                        <a:rPr lang="ru-RU" sz="1800" baseline="0" dirty="0">
                          <a:effectLst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gift-</a:t>
                      </a: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eval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en-US" sz="1800" dirty="0">
                          <a:effectLst/>
                        </a:rPr>
                        <a:t>+3 </a:t>
                      </a:r>
                      <a:r>
                        <a:rPr lang="ru-RU" sz="1800" dirty="0">
                          <a:effectLst/>
                        </a:rPr>
                        <a:t>бенча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Разные задачи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Тест </a:t>
                      </a:r>
                      <a:r>
                        <a:rPr lang="ru-RU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современ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 Моделей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TS LLM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new RNN, Transformers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MASE,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CRPS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xLSTM</a:t>
                      </a: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Moria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zs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),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Chronos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LLM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на очень больших данных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9962123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94486" y="6502660"/>
            <a:ext cx="291425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https://github.com/microsoft/ProbTS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008745" y="6514123"/>
            <a:ext cx="22362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https://forecastingdata.org/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5185965" y="6548681"/>
            <a:ext cx="2887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https://arxiv.org/html/2506.06482v1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8190370" y="6550223"/>
            <a:ext cx="316343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https://paperswithcode.com/dataset/ett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94486" y="6337308"/>
            <a:ext cx="4386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https://paperswithcode.com/task/time-series-forecasting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439524" y="6321918"/>
            <a:ext cx="391677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https://github.com/SalesforceAIResearch/gift-eval/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8522233" y="6352696"/>
            <a:ext cx="340625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https://huggingface.co/spaces/Salesforce/GIFT-Eval</a:t>
            </a:r>
          </a:p>
        </p:txBody>
      </p:sp>
    </p:spTree>
    <p:extLst>
      <p:ext uri="{BB962C8B-B14F-4D97-AF65-F5344CB8AC3E}">
        <p14:creationId xmlns:p14="http://schemas.microsoft.com/office/powerpoint/2010/main" val="17365171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3509" y="365126"/>
            <a:ext cx="11040291" cy="601526"/>
          </a:xfrm>
        </p:spPr>
        <p:txBody>
          <a:bodyPr>
            <a:normAutofit fontScale="90000"/>
          </a:bodyPr>
          <a:lstStyle/>
          <a:p>
            <a:r>
              <a:rPr lang="ru-RU" dirty="0"/>
              <a:t>Основные выводы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13509" y="966652"/>
            <a:ext cx="11040291" cy="5210311"/>
          </a:xfrm>
        </p:spPr>
        <p:txBody>
          <a:bodyPr/>
          <a:lstStyle/>
          <a:p>
            <a:r>
              <a:rPr lang="en-US" dirty="0"/>
              <a:t>ARIMA, ETS</a:t>
            </a:r>
            <a:r>
              <a:rPr lang="en-US"/>
              <a:t>, Prophet  </a:t>
            </a:r>
            <a:r>
              <a:rPr lang="ru-RU" dirty="0" err="1"/>
              <a:t>бейзлайны</a:t>
            </a:r>
            <a:r>
              <a:rPr lang="ru-RU" dirty="0"/>
              <a:t> + </a:t>
            </a:r>
            <a:r>
              <a:rPr lang="en-US" dirty="0"/>
              <a:t>LSTM </a:t>
            </a:r>
            <a:r>
              <a:rPr lang="ru-RU" dirty="0"/>
              <a:t>(для многомерных ВР)</a:t>
            </a:r>
          </a:p>
          <a:p>
            <a:r>
              <a:rPr lang="ru-RU" dirty="0"/>
              <a:t>Часто необходимо вероятностное </a:t>
            </a:r>
            <a:r>
              <a:rPr lang="ru-RU" dirty="0" err="1"/>
              <a:t>прогназирование</a:t>
            </a:r>
            <a:endParaRPr lang="ru-RU" dirty="0"/>
          </a:p>
          <a:p>
            <a:r>
              <a:rPr lang="ru-RU" dirty="0"/>
              <a:t>Для коротких горизонтов и простых ВР стат. Методы работают отлично даже для </a:t>
            </a:r>
            <a:r>
              <a:rPr lang="ru-RU" dirty="0" err="1"/>
              <a:t>многопеременных</a:t>
            </a:r>
            <a:r>
              <a:rPr lang="ru-RU" dirty="0"/>
              <a:t> ВР</a:t>
            </a:r>
          </a:p>
          <a:p>
            <a:r>
              <a:rPr lang="ru-RU" dirty="0"/>
              <a:t>Для более сложных ВР гибридные методы: </a:t>
            </a:r>
            <a:r>
              <a:rPr lang="ru-RU" dirty="0" err="1"/>
              <a:t>стат.методы</a:t>
            </a:r>
            <a:r>
              <a:rPr lang="ru-RU" dirty="0"/>
              <a:t> + </a:t>
            </a:r>
            <a:r>
              <a:rPr lang="en-US" dirty="0"/>
              <a:t>DL </a:t>
            </a:r>
          </a:p>
          <a:p>
            <a:r>
              <a:rPr lang="ru-RU" dirty="0"/>
              <a:t>Для средних горизонтов </a:t>
            </a:r>
            <a:r>
              <a:rPr lang="en-US" dirty="0"/>
              <a:t>DL </a:t>
            </a:r>
            <a:r>
              <a:rPr lang="ru-RU" dirty="0"/>
              <a:t>можно заменить на </a:t>
            </a:r>
            <a:r>
              <a:rPr lang="en-US" dirty="0"/>
              <a:t>ML </a:t>
            </a:r>
            <a:r>
              <a:rPr lang="ru-RU" dirty="0"/>
              <a:t>с инженерией признаков</a:t>
            </a:r>
          </a:p>
          <a:p>
            <a:r>
              <a:rPr lang="ru-RU" dirty="0"/>
              <a:t>Для длинных горизонтов и сложных ВР – </a:t>
            </a:r>
            <a:r>
              <a:rPr lang="en-US" dirty="0"/>
              <a:t>DL </a:t>
            </a:r>
            <a:r>
              <a:rPr lang="ru-RU" dirty="0"/>
              <a:t>(</a:t>
            </a:r>
            <a:r>
              <a:rPr lang="ru-RU" dirty="0" err="1"/>
              <a:t>трансфомеры</a:t>
            </a:r>
            <a:r>
              <a:rPr lang="ru-RU" dirty="0"/>
              <a:t>, современные </a:t>
            </a:r>
            <a:r>
              <a:rPr lang="en-US" dirty="0"/>
              <a:t>RNN)</a:t>
            </a:r>
          </a:p>
          <a:p>
            <a:r>
              <a:rPr lang="ru-RU" dirty="0"/>
              <a:t>Для больших объемов ВР и длинных горизонтов </a:t>
            </a:r>
            <a:r>
              <a:rPr lang="en-US" dirty="0"/>
              <a:t>LLM</a:t>
            </a:r>
            <a:endParaRPr lang="ru-RU" dirty="0"/>
          </a:p>
          <a:p>
            <a:r>
              <a:rPr lang="en-US" dirty="0"/>
              <a:t>SOTA: </a:t>
            </a:r>
            <a:r>
              <a:rPr lang="ru-RU" dirty="0"/>
              <a:t>вероятностное прогнозирование при помощи </a:t>
            </a:r>
            <a:r>
              <a:rPr lang="en-US" dirty="0"/>
              <a:t>LLM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3805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Наивное предсказание – это некоторая база, точностью меньше которого любой другой алгоритм не должен обладать.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Цель наивного предсказания </a:t>
                </a:r>
                <a:r>
                  <a:rPr lang="ru-RU" sz="2400" dirty="0"/>
                  <a:t>- проверка адекватности более сложных моделей и оценка необходимости сложных моделей, а также поиск проблемных мест в процедуре предсказания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Наивные методы работают даже если ряд нарушает теорему дискретизации 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 не требует 	гипотез о 	модели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	</a:t>
                </a:r>
                <a:r>
                  <a:rPr lang="ru-RU" sz="2400" b="1" dirty="0"/>
                  <a:t>Пример</a:t>
                </a:r>
                <a:r>
                  <a:rPr lang="ru-RU" sz="2400" dirty="0"/>
                  <a:t> прогноз продаж новогодних ёлок такой же как и год назад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Простое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h -</a:t>
                </a:r>
                <a:r>
                  <a:rPr lang="en-US" sz="2400" dirty="0"/>
                  <a:t> </a:t>
                </a:r>
                <a:r>
                  <a:rPr lang="ru-RU" sz="2400" dirty="0"/>
                  <a:t>горизонт предсказания (число шагов)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Сезонное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+1)).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</a:t>
                </a:r>
                <a:r>
                  <a:rPr lang="en-US" sz="2400" dirty="0"/>
                  <a:t>m</a:t>
                </a:r>
                <a:r>
                  <a:rPr lang="ru-RU" sz="2400" dirty="0"/>
                  <a:t> -</a:t>
                </a:r>
                <a:r>
                  <a:rPr lang="en-US" sz="2400" dirty="0"/>
                  <a:t> </a:t>
                </a:r>
                <a:r>
                  <a:rPr lang="ru-RU" sz="2400" dirty="0"/>
                  <a:t>период сезонности</a:t>
                </a:r>
                <a:r>
                  <a:rPr lang="en-US" sz="2400" dirty="0"/>
                  <a:t>,  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⌊"/>
                        <m:endChr m:val="⌋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−1)/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endParaRPr lang="ru-RU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Среднее наивное предсказание/скользящее среднее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Также может быть, например среднее сезонное предсказание,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Предсказание с дрейфом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  <a:blipFill>
                <a:blip r:embed="rId3"/>
                <a:stretch>
                  <a:fillRect l="-678" t="-5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455611" y="6410088"/>
            <a:ext cx="11099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http://www.machinelearning.ru/wiki/images/archive/e/ec/20150415134755%21Psad_ts_ets.pdf</a:t>
            </a:r>
          </a:p>
        </p:txBody>
      </p:sp>
    </p:spTree>
    <p:extLst>
      <p:ext uri="{BB962C8B-B14F-4D97-AF65-F5344CB8AC3E}">
        <p14:creationId xmlns:p14="http://schemas.microsoft.com/office/powerpoint/2010/main" val="4050711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p:pic>
        <p:nvPicPr>
          <p:cNvPr id="1026" name="Picture 2" descr="Forecasts of Australian quarterly beer production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967816"/>
            <a:ext cx="6661150" cy="333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orecasts based on Google's daily closing stock price in 2015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37" y="3660085"/>
            <a:ext cx="5779022" cy="2889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4023072" y="6364930"/>
            <a:ext cx="45546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https://otexts.com/fpp3/simple-methods.html</a:t>
            </a:r>
          </a:p>
        </p:txBody>
      </p:sp>
    </p:spTree>
    <p:extLst>
      <p:ext uri="{BB962C8B-B14F-4D97-AF65-F5344CB8AC3E}">
        <p14:creationId xmlns:p14="http://schemas.microsoft.com/office/powerpoint/2010/main" val="2018149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910319"/>
              </p:ext>
            </p:extLst>
          </p:nvPr>
        </p:nvGraphicFramePr>
        <p:xfrm>
          <a:off x="193245" y="1045845"/>
          <a:ext cx="11723176" cy="50349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78555">
                  <a:extLst>
                    <a:ext uri="{9D8B030D-6E8A-4147-A177-3AD203B41FA5}">
                      <a16:colId xmlns:a16="http://schemas.microsoft.com/office/drawing/2014/main" val="498965216"/>
                    </a:ext>
                  </a:extLst>
                </a:gridCol>
                <a:gridCol w="1947137">
                  <a:extLst>
                    <a:ext uri="{9D8B030D-6E8A-4147-A177-3AD203B41FA5}">
                      <a16:colId xmlns:a16="http://schemas.microsoft.com/office/drawing/2014/main" val="1588187195"/>
                    </a:ext>
                  </a:extLst>
                </a:gridCol>
                <a:gridCol w="2208508">
                  <a:extLst>
                    <a:ext uri="{9D8B030D-6E8A-4147-A177-3AD203B41FA5}">
                      <a16:colId xmlns:a16="http://schemas.microsoft.com/office/drawing/2014/main" val="1986663327"/>
                    </a:ext>
                  </a:extLst>
                </a:gridCol>
                <a:gridCol w="2688956">
                  <a:extLst>
                    <a:ext uri="{9D8B030D-6E8A-4147-A177-3AD203B41FA5}">
                      <a16:colId xmlns:a16="http://schemas.microsoft.com/office/drawing/2014/main" val="2758287352"/>
                    </a:ext>
                  </a:extLst>
                </a:gridCol>
                <a:gridCol w="2100020">
                  <a:extLst>
                    <a:ext uri="{9D8B030D-6E8A-4147-A177-3AD203B41FA5}">
                      <a16:colId xmlns:a16="http://schemas.microsoft.com/office/drawing/2014/main" val="3490581788"/>
                    </a:ext>
                  </a:extLst>
                </a:gridCol>
              </a:tblGrid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Критерий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Стат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модели </a:t>
                      </a:r>
                      <a:r>
                        <a:rPr lang="en-US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(ARIMA,ETS,</a:t>
                      </a:r>
                      <a:r>
                        <a:rPr lang="en-US" sz="1600" b="1" u="none" strike="noStrike" baseline="0" dirty="0">
                          <a:solidFill>
                            <a:schemeClr val="bg1"/>
                          </a:solidFill>
                          <a:effectLst/>
                        </a:rPr>
                        <a:t> Prophet)</a:t>
                      </a:r>
                      <a:r>
                        <a:rPr lang="ru-RU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endParaRPr lang="ru-RU" sz="16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ML</a:t>
                      </a:r>
                      <a:b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XGBoost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KNN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etc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Глубокие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нейросети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LSTM, Transformer)</a:t>
                      </a:r>
                      <a:endParaRPr lang="en-US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Генеративные модели (LLM, </a:t>
                      </a:r>
                      <a:r>
                        <a:rPr lang="en-US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Dif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12808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Интерпретируемость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высока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Умеренная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Очень 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974802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Объем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Минимум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Средний</a:t>
                      </a: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Большой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Огромные данные,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333269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Точность</a:t>
                      </a: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b="1" u="none" strike="noStrike" baseline="0" dirty="0">
                          <a:effectLst/>
                        </a:rPr>
                        <a:t>При соответствии модели и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Зависит от выбора</a:t>
                      </a:r>
                      <a:r>
                        <a:rPr lang="ru-RU" sz="1900" u="none" strike="noStrike" baseline="0" dirty="0">
                          <a:effectLst/>
                        </a:rPr>
                        <a:t> признаков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Средняя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043403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Скорость обучения/прогноза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быстро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Быстро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Очень 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6736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Учет сезонности и тренда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u="none" strike="noStrike" dirty="0">
                          <a:effectLst/>
                        </a:rPr>
                        <a:t>Зависит от модели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 признаках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8149069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экзогенные факторы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Через контекст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277165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Длина горизонта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Короткий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Средний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Средний-длинный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18622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Работа с шумом и выбросами, пропусками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Плохо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 (особенно ансамбли)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2439854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Нестационарность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Учет</a:t>
                      </a:r>
                      <a:r>
                        <a:rPr lang="ru-RU" sz="1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в модели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Возможна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775328"/>
                  </a:ext>
                </a:extLst>
              </a:tr>
              <a:tr h="29071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Многосезонность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Ограничена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471243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Многомерные данные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Ограниченная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631537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b="1" u="none" strike="noStrike" dirty="0">
                          <a:effectLst/>
                        </a:rPr>
                        <a:t>Автоматизация</a:t>
                      </a:r>
                      <a:r>
                        <a:rPr lang="en-US" sz="1800" b="1" u="none" strike="noStrike" dirty="0">
                          <a:effectLst/>
                        </a:rPr>
                        <a:t> </a:t>
                      </a:r>
                      <a:r>
                        <a:rPr lang="ru-RU" sz="1800" b="1" u="none" strike="noStrike" dirty="0">
                          <a:effectLst/>
                        </a:rPr>
                        <a:t>настройки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Средняя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 err="1">
                          <a:effectLst/>
                        </a:rPr>
                        <a:t>prompt</a:t>
                      </a:r>
                      <a:r>
                        <a:rPr lang="ru-RU" sz="1900" u="none" strike="noStrike" dirty="0">
                          <a:effectLst/>
                        </a:rPr>
                        <a:t> </a:t>
                      </a:r>
                      <a:r>
                        <a:rPr lang="ru-RU" sz="1900" u="none" strike="noStrike" dirty="0" err="1">
                          <a:effectLst/>
                        </a:rPr>
                        <a:t>engineering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322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9358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6700" y="91649"/>
            <a:ext cx="11087100" cy="5429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7709626"/>
              </p:ext>
            </p:extLst>
          </p:nvPr>
        </p:nvGraphicFramePr>
        <p:xfrm>
          <a:off x="266700" y="642193"/>
          <a:ext cx="11658600" cy="486456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81050">
                  <a:extLst>
                    <a:ext uri="{9D8B030D-6E8A-4147-A177-3AD203B41FA5}">
                      <a16:colId xmlns:a16="http://schemas.microsoft.com/office/drawing/2014/main" val="1676522518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1330675205"/>
                    </a:ext>
                  </a:extLst>
                </a:gridCol>
                <a:gridCol w="1200150">
                  <a:extLst>
                    <a:ext uri="{9D8B030D-6E8A-4147-A177-3AD203B41FA5}">
                      <a16:colId xmlns:a16="http://schemas.microsoft.com/office/drawing/2014/main" val="1399852457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1190715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91642554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318274403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899264462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1265331857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1124316682"/>
                    </a:ext>
                  </a:extLst>
                </a:gridCol>
                <a:gridCol w="2647950">
                  <a:extLst>
                    <a:ext uri="{9D8B030D-6E8A-4147-A177-3AD203B41FA5}">
                      <a16:colId xmlns:a16="http://schemas.microsoft.com/office/drawing/2014/main" val="2870456483"/>
                    </a:ext>
                  </a:extLst>
                </a:gridCol>
              </a:tblGrid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Метод</a:t>
                      </a:r>
                      <a:endParaRPr lang="ru-RU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Тренд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Сезонность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Нестационарность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Шумы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Выбросы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Объем Данных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horizon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Настройка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kern="1200" dirty="0">
                          <a:effectLst/>
                        </a:rPr>
                        <a:t>Использование</a:t>
                      </a:r>
                      <a:endParaRPr lang="ru-RU" sz="1800" b="1" u="none" strike="noStrike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511378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 Naïve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Нет,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и простая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endParaRPr lang="ru-RU" sz="1800" b="0" i="0" u="none" strike="noStrike" baseline="300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Нет тренда,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85745195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STL</a:t>
                      </a:r>
                      <a:r>
                        <a:rPr lang="ru-RU" sz="1800" u="none" strike="noStrike" dirty="0">
                          <a:effectLst/>
                        </a:rPr>
                        <a:t>+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любой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Цикличный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Одна или </a:t>
                      </a:r>
                      <a:r>
                        <a:rPr lang="en-US" sz="1600" u="none" strike="noStrike" dirty="0">
                          <a:effectLst/>
                        </a:rPr>
                        <a:t/>
                      </a:r>
                      <a:br>
                        <a:rPr lang="en-US" sz="1600" u="none" strike="noStrike" dirty="0">
                          <a:effectLst/>
                        </a:rPr>
                      </a:br>
                      <a:r>
                        <a:rPr lang="ru-RU" sz="1600" u="none" strike="noStrike" dirty="0">
                          <a:effectLst/>
                        </a:rPr>
                        <a:t>более (</a:t>
                      </a:r>
                      <a:r>
                        <a:rPr lang="en-US" sz="1600" u="none" strike="noStrike" dirty="0">
                          <a:effectLst/>
                        </a:rPr>
                        <a:t>MSTL)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20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Когда проще</a:t>
                      </a:r>
                      <a:r>
                        <a:rPr lang="ru-RU" sz="1800" u="none" strike="noStrike" baseline="0" dirty="0">
                          <a:effectLst/>
                        </a:rPr>
                        <a:t> убрать компоненты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02020084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ETS</a:t>
                      </a:r>
                      <a:r>
                        <a:rPr lang="ru-RU" sz="1800" u="none" strike="noStrike" dirty="0">
                          <a:effectLst/>
                        </a:rPr>
                        <a:t> </a:t>
                      </a:r>
                      <a:r>
                        <a:rPr lang="en-US" sz="1800" u="none" strike="noStrike" dirty="0">
                          <a:effectLst/>
                        </a:rPr>
                        <a:t>(HW)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или 1-2 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l-GR" sz="1800" u="none" strike="noStrike" dirty="0">
                          <a:effectLst/>
                        </a:rPr>
                        <a:t>σ-</a:t>
                      </a:r>
                      <a:r>
                        <a:rPr lang="en-US" sz="1800" u="none" strike="noStrike" dirty="0" err="1">
                          <a:effectLst/>
                        </a:rPr>
                        <a:t>var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3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AutoETS</a:t>
                      </a:r>
                      <a:r>
                        <a:rPr lang="en-US" sz="1800" u="none" strike="noStrike" dirty="0">
                          <a:effectLst/>
                        </a:rPr>
                        <a:t> </a:t>
                      </a:r>
                      <a:r>
                        <a:rPr lang="ru-RU" sz="1800" u="none" strike="noStrike" dirty="0">
                          <a:effectLst/>
                        </a:rPr>
                        <a:t>быстр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</a:t>
                      </a:r>
                      <a:r>
                        <a:rPr lang="ru-RU" sz="1800" u="none" strike="noStrike" baseline="0" dirty="0">
                          <a:effectLst/>
                        </a:rPr>
                        <a:t> 1 сезон, шумы,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239940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TBATS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1-4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Окрашенный шум, </a:t>
                      </a:r>
                      <a:r>
                        <a:rPr lang="el-GR" sz="1600" u="none" strike="noStrike" dirty="0">
                          <a:effectLst/>
                        </a:rPr>
                        <a:t>σ-</a:t>
                      </a:r>
                      <a:r>
                        <a:rPr lang="en-US" sz="1600" u="none" strike="noStrike" dirty="0" err="1">
                          <a:effectLst/>
                        </a:rPr>
                        <a:t>var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Автонастройка</a:t>
                      </a:r>
                      <a:r>
                        <a:rPr lang="ru-RU" sz="1800" u="none" strike="noStrike" dirty="0">
                          <a:effectLst/>
                        </a:rPr>
                        <a:t>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 шумы, несколько сезонностей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285523777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ARIMA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Полином,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в т.ч. Не стационарные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Окрашенный шум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5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rtl="0" fontAlgn="ctr"/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AutoARIMA</a:t>
                      </a:r>
                      <a:r>
                        <a:rPr lang="en-US" sz="1800" u="none" strike="noStrike" dirty="0">
                          <a:effectLst/>
                        </a:rPr>
                        <a:t>+</a:t>
                      </a:r>
                      <a:r>
                        <a:rPr lang="ru-RU" sz="1800" u="none" strike="noStrike" dirty="0">
                          <a:effectLst/>
                        </a:rPr>
                        <a:t/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руками - долго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Сложная </a:t>
                      </a:r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</a:p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модель, важно</a:t>
                      </a:r>
                      <a:r>
                        <a:rPr lang="ru-RU" sz="1800" u="none" strike="noStrike" baseline="0" dirty="0">
                          <a:effectLst/>
                        </a:rPr>
                        <a:t> корреляция – по факту </a:t>
                      </a:r>
                      <a:r>
                        <a:rPr lang="en-US" sz="1800" u="none" strike="noStrike" baseline="0" dirty="0">
                          <a:effectLst/>
                        </a:rPr>
                        <a:t>Baseline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760524402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Prophet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Сложный перегибы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+ </a:t>
                      </a:r>
                      <a:r>
                        <a:rPr lang="en-US" sz="1800" u="none" strike="noStrike" dirty="0">
                          <a:effectLst/>
                        </a:rPr>
                        <a:t>holidays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Слабый БГШ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Могут быть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6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100+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выбор точек перегиба,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ост.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Длинный ВР</a:t>
                      </a:r>
                      <a:r>
                        <a:rPr lang="ru-RU" sz="1800" u="none" strike="noStrike" baseline="0" dirty="0">
                          <a:effectLst/>
                        </a:rPr>
                        <a:t> и горизонт, </a:t>
                      </a:r>
                      <a:r>
                        <a:rPr lang="ru-RU" sz="1800" u="none" strike="noStrike" baseline="0" dirty="0" err="1">
                          <a:effectLst/>
                        </a:rPr>
                        <a:t>бизнесс</a:t>
                      </a:r>
                      <a:r>
                        <a:rPr lang="ru-RU" sz="1800" u="none" strike="noStrike" baseline="0" dirty="0">
                          <a:effectLst/>
                        </a:rPr>
                        <a:t>-процессы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46448844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STL</a:t>
                </a:r>
                <a:r>
                  <a:rPr lang="ru-RU" sz="1600" dirty="0"/>
                  <a:t> – разложение сезон-тренд методом локальной регрессии</a:t>
                </a:r>
              </a:p>
              <a:p>
                <a:r>
                  <a:rPr lang="ru-RU" sz="1600" dirty="0"/>
                  <a:t>БГШ – равномерно-распределенный белый гауссов шум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𝑣𝑎𝑟</m:t>
                    </m:r>
                  </m:oMath>
                </a14:m>
                <a:r>
                  <a:rPr lang="ru-RU" sz="1600" dirty="0"/>
                  <a:t> – </a:t>
                </a:r>
                <a:r>
                  <a:rPr lang="ru-RU" sz="1600" dirty="0" err="1"/>
                  <a:t>гетеросекдостичный</a:t>
                </a:r>
                <a:r>
                  <a:rPr lang="ru-RU" sz="1600" dirty="0"/>
                  <a:t> шум</a:t>
                </a: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  <a:blipFill>
                <a:blip r:embed="rId2"/>
                <a:stretch>
                  <a:fillRect l="-543" t="-2206" b="-8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633085" y="5670173"/>
            <a:ext cx="636841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Окрашенный шум – шум, имеющий корреляционную зависимость </a:t>
            </a:r>
          </a:p>
          <a:p>
            <a:r>
              <a:rPr lang="en-US" sz="1600" dirty="0"/>
              <a:t>TS-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по отношению к тренду (и сезонности)</a:t>
            </a:r>
          </a:p>
          <a:p>
            <a:r>
              <a:rPr lang="en-US" sz="1600" dirty="0"/>
              <a:t>DS-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к дифференцированию (</a:t>
            </a:r>
            <a:r>
              <a:rPr lang="en-US" sz="1600" dirty="0"/>
              <a:t>usual, seasonal </a:t>
            </a:r>
            <a:r>
              <a:rPr lang="en-US" sz="1600" dirty="0" err="1"/>
              <a:t>dif</a:t>
            </a:r>
            <a:r>
              <a:rPr lang="en-US" sz="1600" dirty="0"/>
              <a:t>)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6212199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762" y="25399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 Экспоненциальное сглаживание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FDC76D-90F0-4FD7-8BA6-954D6D2E6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840761"/>
            <a:ext cx="11449049" cy="56201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dirty="0"/>
              <a:t>Часто требуется предсказание будущих значений достаточно простых временных рядов, состоящий преимущественно из одной трендовой и сезонной составляющих понятного вида.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dirty="0"/>
              <a:t>Данные кажутся достаточно шумными, возникает необходимость сглаживания</a:t>
            </a:r>
            <a:endParaRPr lang="en-US" sz="2400" dirty="0"/>
          </a:p>
        </p:txBody>
      </p:sp>
      <p:pic>
        <p:nvPicPr>
          <p:cNvPr id="2050" name="Picture 2" descr="Forecasting international visitor nights in Australia using the Holt-Winters method with both additive and multiplicative seasonality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889" t="30766" r="279" b="36461"/>
          <a:stretch/>
        </p:blipFill>
        <p:spPr bwMode="auto">
          <a:xfrm>
            <a:off x="5164108" y="2531961"/>
            <a:ext cx="2028826" cy="1114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Forecasts of daily pageviews on the Hyndsight blog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1" r="22857"/>
          <a:stretch/>
        </p:blipFill>
        <p:spPr bwMode="auto">
          <a:xfrm>
            <a:off x="109842" y="3498799"/>
            <a:ext cx="4322284" cy="2933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Forecasts of daily pageviews on the Hyndsight blog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3" t="39470" r="158" b="39260"/>
          <a:stretch/>
        </p:blipFill>
        <p:spPr bwMode="auto">
          <a:xfrm>
            <a:off x="523875" y="2860940"/>
            <a:ext cx="1676400" cy="78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orecasting international visitor nights in Australia using the Holt-Winters method with both additive and multiplicative seasonality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" t="257" r="30252" b="864"/>
          <a:stretch/>
        </p:blipFill>
        <p:spPr bwMode="auto">
          <a:xfrm>
            <a:off x="4249131" y="3564797"/>
            <a:ext cx="4158410" cy="2959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196001" y="3414394"/>
            <a:ext cx="443388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22222"/>
                </a:solidFill>
                <a:latin typeface="Fira Sans"/>
              </a:rPr>
              <a:t>Forecasts of daily </a:t>
            </a:r>
            <a:r>
              <a:rPr lang="en-US" sz="1400" dirty="0" err="1">
                <a:solidFill>
                  <a:srgbClr val="222222"/>
                </a:solidFill>
                <a:latin typeface="Fira Sans"/>
              </a:rPr>
              <a:t>pageviews</a:t>
            </a:r>
            <a:r>
              <a:rPr lang="en-US" sz="1400" dirty="0">
                <a:solidFill>
                  <a:srgbClr val="222222"/>
                </a:solidFill>
                <a:latin typeface="Fira Sans"/>
              </a:rPr>
              <a:t> on the </a:t>
            </a:r>
            <a:r>
              <a:rPr lang="en-US" sz="1400" dirty="0" err="1">
                <a:solidFill>
                  <a:srgbClr val="222222"/>
                </a:solidFill>
                <a:latin typeface="Fira Sans"/>
              </a:rPr>
              <a:t>Hyndsight</a:t>
            </a:r>
            <a:r>
              <a:rPr lang="en-US" sz="1400" dirty="0">
                <a:solidFill>
                  <a:srgbClr val="222222"/>
                </a:solidFill>
                <a:latin typeface="Fira Sans"/>
              </a:rPr>
              <a:t> blog.</a:t>
            </a:r>
            <a:endParaRPr lang="ru-RU" sz="1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23849" y="6501786"/>
            <a:ext cx="41781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https://otexts.com/fpp2/holt-winters.html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92753" y="6460924"/>
            <a:ext cx="78200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9" name="AutoShape 6" descr="es0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4"/>
          <a:srcRect r="36289"/>
          <a:stretch/>
        </p:blipFill>
        <p:spPr>
          <a:xfrm>
            <a:off x="8133048" y="3783857"/>
            <a:ext cx="3828620" cy="2521394"/>
          </a:xfrm>
          <a:prstGeom prst="rect">
            <a:avLst/>
          </a:prstGeom>
        </p:spPr>
      </p:pic>
      <p:sp>
        <p:nvSpPr>
          <p:cNvPr id="15" name="Прямоугольник 14"/>
          <p:cNvSpPr/>
          <p:nvPr/>
        </p:nvSpPr>
        <p:spPr>
          <a:xfrm>
            <a:off x="8848621" y="3498799"/>
            <a:ext cx="32155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222222"/>
                </a:solidFill>
                <a:latin typeface="Fira Sans"/>
              </a:rPr>
              <a:t>Температурные показания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669915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Рассмотрим временной с аддитивной моделью Тренд-Сезонность-остаток: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2400" dirty="0">
                    <a:cs typeface="Times New Roman" panose="02020603050405020304" pitchFamily="18" charset="0"/>
                  </a:rPr>
                  <a:t>, 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1800" dirty="0"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тренд,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сезонность со значением периода </a:t>
                </a:r>
                <a14:m>
                  <m:oMath xmlns:m="http://schemas.openxmlformats.org/officeDocument/2006/math">
                    <m:r>
                      <a:rPr lang="ru-RU" altLang="ru-RU" sz="18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(например 4 для квартала, 12 для 1 года, 7 для дней недели – если шаг 1 день),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остаточная часть (шумы), </a:t>
                </a:r>
                <a:r>
                  <a:rPr lang="en-US" altLang="ru-RU" sz="1800" dirty="0">
                    <a:cs typeface="Times New Roman" panose="02020603050405020304" pitchFamily="18" charset="0"/>
                  </a:rPr>
                  <a:t/>
                </a:r>
                <a:br>
                  <a:rPr lang="en-US" altLang="ru-RU" sz="1800" dirty="0"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ru-RU" sz="18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=0,…,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altLang="ru-RU" sz="1800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1800" dirty="0">
                    <a:cs typeface="Times New Roman" panose="02020603050405020304" pitchFamily="18" charset="0"/>
                  </a:rPr>
                  <a:t>набор наблюдений с заданным шагом (напр. 365 набл. С шагом 1 день –год).</a:t>
                </a: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В модели мы считаем, что скорость изменения тренда много меньше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,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чем скорость изменения сезонности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: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|∆</m:t>
                        </m:r>
                        <m:sSub>
                          <m:sSubPr>
                            <m:ctrlP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≪</m:t>
                    </m:r>
                    <m:f>
                      <m:fPr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en-US" altLang="ru-RU" sz="2200" dirty="0">
                  <a:cs typeface="Times New Roman" panose="02020603050405020304" pitchFamily="18" charset="0"/>
                </a:endParaRPr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Тогда если по ВР провести усредняющее окно с шириной </a:t>
                </a:r>
                <a14:m>
                  <m:oMath xmlns:m="http://schemas.openxmlformats.org/officeDocument/2006/math"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en-US" altLang="ru-RU" sz="2200" dirty="0">
                    <a:cs typeface="Times New Roman" panose="02020603050405020304" pitchFamily="18" charset="0"/>
                  </a:rPr>
                  <a:t> 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(в т.ч. Усреднить каждый период), то в модели останется только тренд и некоторая промоделированная ошибка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ru-RU" altLang="ru-RU" sz="2200" dirty="0"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  <a:blipFill>
                <a:blip r:embed="rId2"/>
                <a:stretch>
                  <a:fillRect l="-844" t="-913" r="-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Residential electricity sales (black) along with the 5-MA estimate of the trend-cycle (red)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38" y="3892216"/>
            <a:ext cx="5427681" cy="271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algn="ctr"/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/>
                  <a:t> - оценка тренда,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ширина окна</a:t>
                </a:r>
              </a:p>
              <a:p>
                <a:pPr algn="ctr"/>
                <a:r>
                  <a:rPr lang="ru-RU" dirty="0"/>
                  <a:t>Такая операция будет называться </a:t>
                </a:r>
                <a:r>
                  <a:rPr lang="en-US" dirty="0"/>
                  <a:t>W-MA </a:t>
                </a:r>
                <a:r>
                  <a:rPr lang="ru-RU" dirty="0"/>
                  <a:t>(скользящее среднее)</a:t>
                </a:r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  <a:blipFill>
                <a:blip r:embed="rId4"/>
                <a:stretch>
                  <a:fillRect l="-480" t="-36628" r="-384" b="-81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719117" y="4938400"/>
            <a:ext cx="574692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можно делать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над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или ввести взвешенный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(WMA) –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выбор коэффициентов таких операций будет влиять на результат сглаживания. В том числе можно синтезировать сглаживание сезонности до определенных компонент или не мене определенных компонент (фильтрация Временного ряда)</a:t>
            </a:r>
            <a:endParaRPr lang="ru-RU" sz="1700" i="1" dirty="0"/>
          </a:p>
        </p:txBody>
      </p:sp>
    </p:spTree>
    <p:extLst>
      <p:ext uri="{BB962C8B-B14F-4D97-AF65-F5344CB8AC3E}">
        <p14:creationId xmlns:p14="http://schemas.microsoft.com/office/powerpoint/2010/main" val="19347579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cs typeface="Times New Roman" panose="02020603050405020304" pitchFamily="18" charset="0"/>
                  </a:rPr>
                  <a:t>Используя скользящее среднее проще всего разложить временной ряд на компоненты.</a:t>
                </a: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1 – вычисление тренда методом скользящего среднего 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(MA)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 с окном размера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ru-RU" sz="200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</m:t>
                    </m:r>
                    <m:r>
                      <a:rPr lang="ru-RU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нечетное)</m:t>
                    </m:r>
                  </m:oMath>
                </a14:m>
                <a:endParaRPr lang="ru-RU" altLang="ru-RU" sz="2000" b="1" i="1" dirty="0">
                  <a:cs typeface="Times New Roman" panose="02020603050405020304" pitchFamily="18" charset="0"/>
                </a:endParaRP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−1)/2</m:t>
                        </m:r>
                      </m:sub>
                      <m:sup>
                        <m:f>
                          <m:fPr>
                            <m:type m:val="lin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 -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центрированное скользящее среднее позволяет избежать эффекта запаздывания </a:t>
                </a: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Если 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четное - (можно заменить на 2х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ma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или на другую схему</a:t>
                </a: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2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вычисление сезонности </a:t>
                </a:r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	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ru-RU" sz="2000" b="0" i="0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n</m:t>
                        </m:r>
                      </m:sub>
                    </m:sSub>
                    <m:r>
                      <a:rPr lang="en-US" altLang="ru-RU" sz="2000" b="0" i="0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00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3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Оценка значений одного периода сезонной составляющей 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c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заданной сезонностью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en-US" altLang="ru-RU" sz="2000" b="1" i="1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</m:acc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en-US" altLang="ru-RU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a:rPr lang="ru-RU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1/</m:t>
                        </m:r>
                        <m:r>
                          <a:rPr lang="en-US" altLang="ru-RU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nary>
                          <m:naryPr>
                            <m:chr m:val="∑"/>
                            <m:ctrlP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,…,</m:t>
                            </m:r>
                            <m:nary>
                              <m:naryPr>
                                <m:chr m:val="∑"/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∆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−1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ru-RU" sz="20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nary>
                          </m:e>
                        </m:nary>
                      </m:e>
                    </m:d>
                  </m:oMath>
                </a14:m>
                <a:r>
                  <a:rPr lang="en-US" altLang="ru-RU" sz="2000" i="1" dirty="0">
                    <a:cs typeface="Times New Roman" panose="02020603050405020304" pitchFamily="18" charset="0"/>
                  </a:rPr>
                  <a:t>,</a:t>
                </a:r>
                <a:r>
                  <a:rPr lang="ru-RU" altLang="ru-RU" sz="2000" i="1" dirty="0">
                    <a:cs typeface="Times New Roman" panose="02020603050405020304" pitchFamily="18" charset="0"/>
                  </a:rPr>
                  <a:t/>
                </a:r>
                <a:br>
                  <a:rPr lang="ru-RU" altLang="ru-RU" sz="2000" i="1" dirty="0">
                    <a:cs typeface="Times New Roman" panose="02020603050405020304" pitchFamily="18" charset="0"/>
                  </a:rPr>
                </a:br>
                <a:r>
                  <a:rPr lang="ru-RU" altLang="ru-RU" sz="2000" i="1" dirty="0">
                    <a:cs typeface="Times New Roman" panose="02020603050405020304" pitchFamily="18" charset="0"/>
                  </a:rPr>
                  <a:t> где</a:t>
                </a:r>
                <a:r>
                  <a:rPr lang="en-US" altLang="ru-RU" sz="2000" i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∆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𝑚𝑜𝑑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ru-RU" sz="2000" b="0" i="0" dirty="0">
                    <a:latin typeface="+mj-lt"/>
                    <a:cs typeface="Times New Roman" panose="02020603050405020304" pitchFamily="18" charset="0"/>
                  </a:rPr>
                  <a:t>-</a:t>
                </a:r>
                <a:r>
                  <a:rPr lang="ru-RU" altLang="ru-RU" sz="2000" b="0" i="0" dirty="0">
                    <a:latin typeface="+mj-lt"/>
                    <a:cs typeface="Times New Roman" panose="02020603050405020304" pitchFamily="18" charset="0"/>
                  </a:rPr>
                  <a:t>целое число периодов сезона во ВР</a:t>
                </a:r>
                <a:endParaRPr lang="ru-RU" altLang="ru-RU" sz="2000" i="1" dirty="0">
                  <a:cs typeface="Times New Roman" panose="02020603050405020304" pitchFamily="18" charset="0"/>
                </a:endParaRPr>
              </a:p>
              <a:p>
                <a:pPr marL="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4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Интерполяция сезонной составляющей на весь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объем выборки ВР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20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5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Вычисление остатка как</a:t>
                </a:r>
                <a14:m>
                  <m:oMath xmlns:m="http://schemas.openxmlformats.org/officeDocument/2006/math">
                    <m:r>
                      <a:rPr lang="en-US" altLang="ru-RU" sz="2000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ru-RU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18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  <a:blipFill>
                <a:blip r:embed="rId2"/>
                <a:stretch>
                  <a:fillRect l="-507" t="-685" r="-91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hlinkClick r:id="rId3"/>
              </a:rPr>
              <a:t>https://otexts.com/fpp2/classical-decomposition.html</a:t>
            </a:r>
            <a:r>
              <a:rPr lang="ru-RU" sz="1200" dirty="0"/>
              <a:t> </a:t>
            </a:r>
            <a:r>
              <a:rPr lang="en-US" sz="1200" dirty="0">
                <a:hlinkClick r:id="rId4"/>
              </a:rPr>
              <a:t>https://www.openforecast.org/adam/classical-seasonal-decomposition.html</a:t>
            </a:r>
            <a:r>
              <a:rPr lang="ru-RU" sz="1200" dirty="0"/>
              <a:t> </a:t>
            </a:r>
            <a:r>
              <a:rPr lang="en-US" sz="1200" dirty="0">
                <a:hlinkClick r:id="rId5"/>
              </a:rPr>
              <a:t>http://www.gardner.fyi/blog/STL-Part-II/</a:t>
            </a:r>
            <a:endParaRPr lang="ru-RU" sz="1200" dirty="0"/>
          </a:p>
        </p:txBody>
      </p:sp>
      <p:pic>
        <p:nvPicPr>
          <p:cNvPr id="3074" name="Picture 2" descr="Screenshot-2023-10-16-16411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888" y="4368429"/>
            <a:ext cx="4231005" cy="1136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rend-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0219" y="5165625"/>
            <a:ext cx="2942273" cy="1050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>
                <a:hlinkClick r:id="rId8"/>
              </a:rPr>
              <a:t>https://www.geeksforgeeks.org/python/time-series-decomposition-techniques/</a:t>
            </a:r>
            <a:r>
              <a:rPr lang="ru-RU" sz="1200" dirty="0"/>
              <a:t> </a:t>
            </a:r>
          </a:p>
        </p:txBody>
      </p:sp>
      <p:pic>
        <p:nvPicPr>
          <p:cNvPr id="3078" name="Picture 6" descr="seasonal--min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700" y="5191490"/>
            <a:ext cx="3003233" cy="1065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4236" y="3508807"/>
            <a:ext cx="4488554" cy="331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458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</a:t>
            </a:r>
            <a:r>
              <a:rPr lang="en-US" dirty="0" err="1"/>
              <a:t>Detrender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882967"/>
            <a:ext cx="12031980" cy="5341620"/>
          </a:xfrm>
        </p:spPr>
        <p:txBody>
          <a:bodyPr>
            <a:normAutofit/>
          </a:bodyPr>
          <a:lstStyle/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dirty="0"/>
              <a:t>Если тренд простой, то можно аппроксимировать тренд 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Полиномиальной регрессией 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Ядерной функцией (ядерное сглаживание)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Сплайнами (</a:t>
            </a:r>
            <a:r>
              <a:rPr lang="en-US" dirty="0"/>
              <a:t>Smoothing splines</a:t>
            </a:r>
            <a:r>
              <a:rPr lang="ru-RU" dirty="0"/>
              <a:t>)</a:t>
            </a:r>
            <a:endParaRPr lang="en-US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Методом локальной регрессии </a:t>
            </a:r>
            <a:r>
              <a:rPr lang="en-US" dirty="0"/>
              <a:t>(LOESS)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Экспоненциальным сглаживанием</a:t>
            </a:r>
            <a:endParaRPr lang="en-US" dirty="0"/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И т.д.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По сути – это все методы низкочастотной фильтрации ВР.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https://link.springer.com/chapter/10.1007/978-3-031-11432-8_4</a:t>
            </a:r>
            <a:endParaRPr lang="ru-RU" sz="1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https://readmedium.com/why-differencing-works-to-detrend-a-time-series-838fd875ff9d</a:t>
            </a:r>
            <a:endParaRPr lang="ru-RU" sz="1200" dirty="0"/>
          </a:p>
        </p:txBody>
      </p:sp>
      <p:pic>
        <p:nvPicPr>
          <p:cNvPr id="4098" name="Picture 2" descr="https://cdn-images-1.readmedium.com/v2/resize:fit:800/1*zUpPWuRfJIeVFLgr16atO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232" y="4414077"/>
            <a:ext cx="2812442" cy="181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https://cdn-images-1.readmedium.com/v2/resize:fit:800/1*HXd9zt-RnDCg0rWvOaFTu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4373625"/>
            <a:ext cx="2842629" cy="1794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52" y="4342730"/>
            <a:ext cx="4540640" cy="2026836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610100" y="6508064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https://www.r-bloggers.com/2018/07/smoothing-time-series-data/</a:t>
            </a:r>
          </a:p>
        </p:txBody>
      </p:sp>
      <p:pic>
        <p:nvPicPr>
          <p:cNvPr id="4102" name="Picture 6" descr="Running line smoother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8857" y="2571868"/>
            <a:ext cx="3457575" cy="1859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/>
          <p:cNvSpPr/>
          <p:nvPr/>
        </p:nvSpPr>
        <p:spPr>
          <a:xfrm>
            <a:off x="9235510" y="2931036"/>
            <a:ext cx="2233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Kernel smoothers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pic>
        <p:nvPicPr>
          <p:cNvPr id="4108" name="Picture 12" descr="Smoothing spline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779267"/>
            <a:ext cx="3210451" cy="1708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Прямоугольник 10"/>
          <p:cNvSpPr/>
          <p:nvPr/>
        </p:nvSpPr>
        <p:spPr>
          <a:xfrm>
            <a:off x="9763115" y="914400"/>
            <a:ext cx="8819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LOESS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5379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3EB16-C35E-202E-8536-7792933BB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365126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5328E7-EB78-2758-0370-70EE4D9D9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344" y="983848"/>
            <a:ext cx="11470512" cy="5590572"/>
          </a:xfrm>
        </p:spPr>
        <p:txBody>
          <a:bodyPr/>
          <a:lstStyle/>
          <a:p>
            <a:r>
              <a:rPr lang="ru-RU" sz="2200" dirty="0"/>
              <a:t>Тренд может быть</a:t>
            </a:r>
          </a:p>
          <a:p>
            <a:pPr lvl="1"/>
            <a:r>
              <a:rPr lang="ru-RU" sz="2200" dirty="0"/>
              <a:t>детерминированным</a:t>
            </a:r>
          </a:p>
          <a:p>
            <a:pPr lvl="2"/>
            <a:r>
              <a:rPr lang="ru-RU" sz="2200" dirty="0" err="1"/>
              <a:t>Мнотонный</a:t>
            </a:r>
            <a:r>
              <a:rPr lang="ru-RU" sz="2200" dirty="0"/>
              <a:t> ( в т.ч. с насыщением)</a:t>
            </a:r>
          </a:p>
          <a:p>
            <a:pPr lvl="2"/>
            <a:r>
              <a:rPr lang="ru-RU" sz="2200" dirty="0"/>
              <a:t>Цикличным</a:t>
            </a:r>
          </a:p>
          <a:p>
            <a:pPr lvl="2"/>
            <a:r>
              <a:rPr lang="ru-RU" sz="2200" dirty="0"/>
              <a:t>Иметь точки перегиба</a:t>
            </a:r>
          </a:p>
          <a:p>
            <a:pPr lvl="1"/>
            <a:r>
              <a:rPr lang="ru-RU" sz="2200" dirty="0"/>
              <a:t>Или может быть случайным</a:t>
            </a:r>
          </a:p>
          <a:p>
            <a:pPr lvl="1"/>
            <a:r>
              <a:rPr lang="ru-RU" sz="2200" dirty="0"/>
              <a:t>комбинированным</a:t>
            </a:r>
          </a:p>
          <a:p>
            <a:r>
              <a:rPr lang="ru-RU" sz="2200" dirty="0"/>
              <a:t>Тренд важно понимать, так как он виляет на </a:t>
            </a:r>
          </a:p>
          <a:p>
            <a:pPr lvl="1"/>
            <a:r>
              <a:rPr lang="ru-RU" sz="2200" dirty="0"/>
              <a:t>стационарность (TS</a:t>
            </a:r>
            <a:r>
              <a:rPr lang="en-US" sz="2200" dirty="0"/>
              <a:t>, DS </a:t>
            </a:r>
            <a:r>
              <a:rPr lang="ru-RU" sz="2200" dirty="0"/>
              <a:t>тренды), </a:t>
            </a:r>
          </a:p>
          <a:p>
            <a:pPr lvl="1"/>
            <a:r>
              <a:rPr lang="ru-RU" sz="2200" dirty="0"/>
              <a:t>выбор модели (напр. В моделях </a:t>
            </a:r>
            <a:r>
              <a:rPr lang="en-US" sz="2200" dirty="0"/>
              <a:t>ARIMA</a:t>
            </a:r>
            <a:r>
              <a:rPr lang="ru-RU" sz="2200" dirty="0"/>
              <a:t> порядок дифференцирования это параметр)</a:t>
            </a:r>
          </a:p>
          <a:p>
            <a:pPr lvl="1"/>
            <a:r>
              <a:rPr lang="ru-RU" sz="2200" dirty="0"/>
              <a:t>Интерпретацию данных – тренд + цикличность могут маскировать сезонность и другие факторы</a:t>
            </a:r>
          </a:p>
          <a:p>
            <a:pPr lvl="1"/>
            <a:r>
              <a:rPr lang="ru-RU" sz="2200" dirty="0"/>
              <a:t>Часто тренд – это основной источник изменений во ВР, правильный учет тренда – это львиная доля высокой точности предсказания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76435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B69DE-F34F-0E45-FF63-CADE8DB4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EFE655-C84E-B3C4-A33C-00B65DAD5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111018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 Тесты на наличие тренда: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3880A-ED24-EAB9-9093-23A12A73D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517" y="729740"/>
            <a:ext cx="11566967" cy="5774709"/>
          </a:xfrm>
        </p:spPr>
        <p:txBody>
          <a:bodyPr>
            <a:normAutofit/>
          </a:bodyPr>
          <a:lstStyle/>
          <a:p>
            <a:r>
              <a:rPr lang="ru-RU" sz="2200" b="1" dirty="0"/>
              <a:t>Тест Дика-Фуллера (</a:t>
            </a:r>
            <a:r>
              <a:rPr lang="en" sz="2200" b="1" dirty="0"/>
              <a:t>Augmented Dickey–Fuller test</a:t>
            </a:r>
            <a:r>
              <a:rPr lang="en-US" sz="2200" b="1" dirty="0"/>
              <a:t>, ADF) </a:t>
            </a:r>
            <a:r>
              <a:rPr lang="en-US" sz="2200" dirty="0"/>
              <a:t>– </a:t>
            </a:r>
            <a:r>
              <a:rPr lang="ru-RU" sz="2200" dirty="0"/>
              <a:t>стохастический тренд</a:t>
            </a:r>
          </a:p>
          <a:p>
            <a:pPr lvl="1"/>
            <a:r>
              <a:rPr lang="ru-RU" sz="2200" dirty="0"/>
              <a:t>Идея: текущее изменение значений ВР связано с дрейфом или предыдущими изменениями значений ВР</a:t>
            </a:r>
          </a:p>
          <a:p>
            <a:pPr lvl="1"/>
            <a:r>
              <a:rPr lang="en-US" sz="2200" b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не стационарен (стохастический тренд).</a:t>
            </a:r>
          </a:p>
          <a:p>
            <a:pPr lvl="1"/>
            <a:r>
              <a:rPr lang="en" sz="2200" b="1" i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стационарен (тренда нет).</a:t>
            </a:r>
          </a:p>
          <a:p>
            <a:r>
              <a:rPr lang="ru-RU" sz="2200" b="1" dirty="0"/>
              <a:t>Тест Квятковского-Филлипса-Шмидта-Шина (</a:t>
            </a:r>
            <a:r>
              <a:rPr lang="en" sz="2200" b="1" dirty="0"/>
              <a:t>KPSS)</a:t>
            </a:r>
            <a:r>
              <a:rPr lang="ru-RU" sz="2200" b="1" dirty="0"/>
              <a:t> </a:t>
            </a:r>
            <a:r>
              <a:rPr lang="ru-RU" sz="2200" dirty="0"/>
              <a:t>– детерминированный тренд (кроме циклического)</a:t>
            </a:r>
          </a:p>
          <a:p>
            <a:pPr lvl="1"/>
            <a:r>
              <a:rPr lang="ru-RU" sz="2200" dirty="0"/>
              <a:t>Идея: остатки от описания ВР регрессией колеблются вокруг нуля</a:t>
            </a:r>
          </a:p>
          <a:p>
            <a:pPr lvl="1"/>
            <a:r>
              <a:rPr lang="en-US" sz="2200" b="1" i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стационарен (нет тренда или тренд колеблется вокруг нуля).</a:t>
            </a:r>
          </a:p>
          <a:p>
            <a:pPr lvl="1"/>
            <a:r>
              <a:rPr lang="en" sz="2200" b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не стационарен (тренд детерминирован).</a:t>
            </a:r>
          </a:p>
          <a:p>
            <a:r>
              <a:rPr lang="ru-RU" sz="2200" dirty="0"/>
              <a:t>ADF</a:t>
            </a:r>
            <a:r>
              <a:rPr lang="en-US" sz="2200" dirty="0"/>
              <a:t> </a:t>
            </a:r>
            <a:r>
              <a:rPr lang="ru-RU" sz="2200" dirty="0"/>
              <a:t>+ KPSS</a:t>
            </a:r>
            <a:r>
              <a:rPr lang="en-US" sz="2200" dirty="0"/>
              <a:t> </a:t>
            </a:r>
            <a:r>
              <a:rPr lang="ru-RU" sz="2200" dirty="0"/>
              <a:t>лучше вместе использовать, если есть противоречие, используйте доп. Визуальный анализ или </a:t>
            </a:r>
            <a:r>
              <a:rPr lang="ru-RU" sz="2200" b="1" dirty="0"/>
              <a:t>альтернативные тесты</a:t>
            </a:r>
            <a:r>
              <a:rPr lang="ru-RU" sz="2200" dirty="0"/>
              <a:t>:</a:t>
            </a:r>
          </a:p>
          <a:p>
            <a:pPr lvl="1"/>
            <a:r>
              <a:rPr lang="ru-RU" sz="2200" u="sng" dirty="0" err="1"/>
              <a:t>гетеросекдостичность</a:t>
            </a:r>
            <a:r>
              <a:rPr lang="ru-RU" sz="2200" u="sng" dirty="0"/>
              <a:t>, шумы</a:t>
            </a:r>
            <a:r>
              <a:rPr lang="ru-RU" sz="2200" dirty="0"/>
              <a:t>: тест Филлипса-Перрона (</a:t>
            </a:r>
            <a:r>
              <a:rPr lang="en" sz="2200" dirty="0"/>
              <a:t>PP Test)</a:t>
            </a:r>
            <a:r>
              <a:rPr lang="ru-RU" sz="2200" dirty="0"/>
              <a:t> - модификация </a:t>
            </a:r>
            <a:r>
              <a:rPr lang="en-US" sz="2200" dirty="0"/>
              <a:t>ADF</a:t>
            </a:r>
          </a:p>
          <a:p>
            <a:pPr lvl="1"/>
            <a:r>
              <a:rPr lang="ru-RU" sz="2200" u="sng" dirty="0"/>
              <a:t>выбросы и </a:t>
            </a:r>
            <a:r>
              <a:rPr lang="ru-RU" sz="2200" u="sng" dirty="0" err="1"/>
              <a:t>тд</a:t>
            </a:r>
            <a:r>
              <a:rPr lang="ru-RU" sz="2200" dirty="0"/>
              <a:t>: тест  Манна-</a:t>
            </a:r>
            <a:r>
              <a:rPr lang="ru-RU" sz="2200" dirty="0" err="1"/>
              <a:t>Кенделла</a:t>
            </a:r>
            <a:r>
              <a:rPr lang="ru-RU" sz="2200" dirty="0"/>
              <a:t> дополняет </a:t>
            </a:r>
            <a:r>
              <a:rPr lang="en-US" sz="2200" dirty="0"/>
              <a:t>KPSS </a:t>
            </a:r>
            <a:r>
              <a:rPr lang="ru-RU" sz="2200" dirty="0"/>
              <a:t>(тест на монотонный тренд)</a:t>
            </a:r>
          </a:p>
          <a:p>
            <a:pPr lvl="1"/>
            <a:r>
              <a:rPr lang="ru-RU" sz="2200" u="sng" dirty="0"/>
              <a:t>В случае сложной цикличности </a:t>
            </a:r>
            <a:r>
              <a:rPr lang="ru-RU" sz="2200" dirty="0"/>
              <a:t>нужно использовать время-частотный анализ или тест Бартлетта (проверка значимости сглаженных частотных компонент)</a:t>
            </a:r>
            <a:endParaRPr lang="en" sz="2200" dirty="0"/>
          </a:p>
          <a:p>
            <a:pPr lvl="1"/>
            <a:endParaRPr lang="ru-RU" sz="2200" dirty="0"/>
          </a:p>
          <a:p>
            <a:pPr lvl="1"/>
            <a:endParaRPr lang="ru-RU" sz="2200" dirty="0"/>
          </a:p>
          <a:p>
            <a:pPr lvl="1"/>
            <a:endParaRPr lang="en" sz="2200" dirty="0"/>
          </a:p>
          <a:p>
            <a:pPr marL="0" indent="0">
              <a:buNone/>
            </a:pPr>
            <a:endParaRPr lang="ru-RU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D73711-1273-54BF-D631-0C53D2AC9A0C}"/>
              </a:ext>
            </a:extLst>
          </p:cNvPr>
          <p:cNvSpPr txBox="1"/>
          <p:nvPr/>
        </p:nvSpPr>
        <p:spPr>
          <a:xfrm>
            <a:off x="227082" y="6504449"/>
            <a:ext cx="5464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ДЗ: Постройте разные типы ВР, проверьте их на тестах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17F06-257B-EBEE-7ED6-D54B68D8FADF}"/>
              </a:ext>
            </a:extLst>
          </p:cNvPr>
          <p:cNvSpPr txBox="1"/>
          <p:nvPr/>
        </p:nvSpPr>
        <p:spPr>
          <a:xfrm>
            <a:off x="8060902" y="2966542"/>
            <a:ext cx="3904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Обратите внимание, </a:t>
            </a:r>
            <a:r>
              <a:rPr lang="ru-RU" dirty="0" err="1"/>
              <a:t>H</a:t>
            </a:r>
            <a:r>
              <a:rPr lang="en-US" dirty="0"/>
              <a:t>0,H1 </a:t>
            </a:r>
            <a:r>
              <a:rPr lang="en-US" dirty="0" err="1"/>
              <a:t>на</a:t>
            </a:r>
            <a:r>
              <a:rPr lang="ru-RU" dirty="0"/>
              <a:t>оборот!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05AEF8-83B6-F2E9-D73D-8333FE7CF253}"/>
              </a:ext>
            </a:extLst>
          </p:cNvPr>
          <p:cNvSpPr txBox="1"/>
          <p:nvPr/>
        </p:nvSpPr>
        <p:spPr>
          <a:xfrm>
            <a:off x="5870848" y="6504449"/>
            <a:ext cx="60940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www.eviews.com</a:t>
            </a:r>
            <a:r>
              <a:rPr lang="ru-RU" sz="1100" dirty="0"/>
              <a:t>/</a:t>
            </a:r>
            <a:r>
              <a:rPr lang="ru-RU" sz="1100" dirty="0" err="1"/>
              <a:t>help</a:t>
            </a:r>
            <a:r>
              <a:rPr lang="ru-RU" sz="1100" dirty="0"/>
              <a:t>/</a:t>
            </a:r>
            <a:r>
              <a:rPr lang="ru-RU" sz="1100" dirty="0" err="1"/>
              <a:t>helpintro.html#page</a:t>
            </a:r>
            <a:r>
              <a:rPr lang="ru-RU" sz="1100" dirty="0"/>
              <a:t>/content%2Fadvtimeser-Unit_Root_Testing.html</a:t>
            </a:r>
          </a:p>
        </p:txBody>
      </p:sp>
    </p:spTree>
    <p:extLst>
      <p:ext uri="{BB962C8B-B14F-4D97-AF65-F5344CB8AC3E}">
        <p14:creationId xmlns:p14="http://schemas.microsoft.com/office/powerpoint/2010/main" val="3141272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3380" y="113785"/>
            <a:ext cx="10858500" cy="861695"/>
          </a:xfrm>
        </p:spPr>
        <p:txBody>
          <a:bodyPr/>
          <a:lstStyle/>
          <a:p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</a:t>
            </a:r>
            <a:r>
              <a:rPr lang="en-US" dirty="0"/>
              <a:t> </a:t>
            </a:r>
            <a:r>
              <a:rPr lang="en-US" dirty="0" err="1"/>
              <a:t>Deseasonalizer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0970" y="795277"/>
            <a:ext cx="11910060" cy="4843463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 регулярный – можно удалить его для упрощения данных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известно, что сезонность переменная (например, месяцы в году), то каждый сезон можно учесть отдельно по каждому месяцу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Напр. потребление </a:t>
            </a:r>
            <a:r>
              <a:rPr lang="ru-RU" sz="2200" dirty="0" err="1"/>
              <a:t>электроэенегрии</a:t>
            </a:r>
            <a:r>
              <a:rPr lang="ru-RU" sz="2200" dirty="0"/>
              <a:t> в зимой больше чем летом.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Выходные </a:t>
            </a:r>
            <a:r>
              <a:rPr lang="en-US" sz="2200" dirty="0"/>
              <a:t>(weekends) </a:t>
            </a:r>
            <a:r>
              <a:rPr lang="ru-RU" sz="2200" dirty="0"/>
              <a:t>могут быть промоделированы как недельная сезонность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Праздники могут быть промоделированы как годовая сезонность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есть несколько очень разных сезонностей – их можно разрешить (напр. неделя и год).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гармоническая лучше всего использовать ряды Фурье ( 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Часто описание рядами – компактное, простое, не требует целочисленной сезонности.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сложная и нестационарная лучше использовать время-частотные преобразования (в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endParaRPr lang="ru-RU" sz="1800" dirty="0"/>
          </a:p>
          <a:p>
            <a:endParaRPr lang="ru-RU" sz="2200" dirty="0"/>
          </a:p>
          <a:p>
            <a:endParaRPr lang="ru-RU" dirty="0"/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2375"/>
          <a:stretch/>
        </p:blipFill>
        <p:spPr>
          <a:xfrm>
            <a:off x="3390900" y="5086138"/>
            <a:ext cx="4297680" cy="139614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990600" y="6550223"/>
            <a:ext cx="78562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https://www.blog.trainindata.com/multi-seasonal-time-series-decomposition-using-mstl-in-python/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l="-1064" t="50947" r="1064" b="1428"/>
          <a:stretch/>
        </p:blipFill>
        <p:spPr>
          <a:xfrm>
            <a:off x="7688580" y="5086138"/>
            <a:ext cx="4297680" cy="139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9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D8807-A2BA-7E65-7866-02687C922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408" y="127639"/>
            <a:ext cx="11157030" cy="491402"/>
          </a:xfrm>
        </p:spPr>
        <p:txBody>
          <a:bodyPr>
            <a:normAutofit fontScale="90000"/>
          </a:bodyPr>
          <a:lstStyle/>
          <a:p>
            <a:r>
              <a:rPr lang="ru-RU" dirty="0"/>
              <a:t>Тесты на сезонность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CEB802-C960-8359-EB65-D8FFEC9C1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770" y="619041"/>
            <a:ext cx="11620982" cy="5677794"/>
          </a:xfrm>
        </p:spPr>
        <p:txBody>
          <a:bodyPr>
            <a:normAutofit lnSpcReduction="10000"/>
          </a:bodyPr>
          <a:lstStyle/>
          <a:p>
            <a:r>
              <a:rPr lang="ru-RU" sz="2300" dirty="0"/>
              <a:t>Сезонность не всегда очевидна, </a:t>
            </a:r>
          </a:p>
          <a:p>
            <a:pPr lvl="1"/>
            <a:r>
              <a:rPr lang="ru-RU" sz="2300" dirty="0"/>
              <a:t>компоненты сезонности могут быть визуально скрыты другими компонентами</a:t>
            </a:r>
          </a:p>
          <a:p>
            <a:pPr lvl="1"/>
            <a:r>
              <a:rPr lang="ru-RU" sz="2300" dirty="0"/>
              <a:t>Сезонность важно не спутать с цикличностью особенно для коротких ВР</a:t>
            </a:r>
          </a:p>
          <a:p>
            <a:r>
              <a:rPr lang="ru-RU" sz="2300" dirty="0"/>
              <a:t>Сезонность можно определить </a:t>
            </a:r>
          </a:p>
          <a:p>
            <a:pPr lvl="1"/>
            <a:r>
              <a:rPr lang="ru-RU" sz="2300" dirty="0"/>
              <a:t>при сравнении сегментов размером с 1 или несколько сезонов (визуально</a:t>
            </a:r>
            <a:r>
              <a:rPr lang="en-US" sz="2300" dirty="0"/>
              <a:t> </a:t>
            </a:r>
            <a:r>
              <a:rPr lang="ru-RU" sz="2300" dirty="0"/>
              <a:t>разброс, </a:t>
            </a:r>
            <a:r>
              <a:rPr lang="ru-RU" sz="2300" dirty="0" err="1"/>
              <a:t>box</a:t>
            </a:r>
            <a:r>
              <a:rPr lang="en-US" sz="2300" dirty="0"/>
              <a:t>plot,</a:t>
            </a:r>
            <a:r>
              <a:rPr lang="ru-RU" sz="2300" dirty="0"/>
              <a:t> сравнение остатков вычитания сезонностей)</a:t>
            </a:r>
          </a:p>
          <a:p>
            <a:pPr lvl="1"/>
            <a:r>
              <a:rPr lang="ru-RU" sz="2300" dirty="0"/>
              <a:t>Анализом ВР после сезонного дифференцирования</a:t>
            </a:r>
          </a:p>
          <a:p>
            <a:pPr lvl="1"/>
            <a:r>
              <a:rPr lang="ru-RU" sz="2300" dirty="0"/>
              <a:t>Путем разложения ВР на сезонные компоненты</a:t>
            </a:r>
          </a:p>
          <a:p>
            <a:r>
              <a:rPr lang="ru-RU" sz="2300" dirty="0"/>
              <a:t>Сезонность видна по графикам ACF</a:t>
            </a:r>
            <a:r>
              <a:rPr lang="en-US" sz="2300" dirty="0"/>
              <a:t>/PACF </a:t>
            </a:r>
            <a:r>
              <a:rPr lang="ru-RU" sz="2300" dirty="0"/>
              <a:t>как всплески лагов на соответствующих периодах</a:t>
            </a:r>
          </a:p>
          <a:p>
            <a:pPr lvl="1"/>
            <a:r>
              <a:rPr lang="ru-RU" sz="2300" dirty="0"/>
              <a:t>Чтобы не спутать с цикличностью можно провести </a:t>
            </a:r>
            <a:r>
              <a:rPr lang="ru-RU" sz="2300" dirty="0" err="1"/>
              <a:t>модицфицированный</a:t>
            </a:r>
            <a:r>
              <a:rPr lang="ru-RU" sz="2300" dirty="0"/>
              <a:t> тест </a:t>
            </a:r>
            <a:r>
              <a:rPr lang="ru-RU" sz="2300" dirty="0" err="1"/>
              <a:t>Льюнга</a:t>
            </a:r>
            <a:r>
              <a:rPr lang="ru-RU" sz="2300" dirty="0"/>
              <a:t>-Бокса. Основная идея – нормировка для лагов сезонности (</a:t>
            </a:r>
            <a:r>
              <a:rPr lang="ru-RU" sz="2300" dirty="0" err="1"/>
              <a:t>напр</a:t>
            </a:r>
            <a:r>
              <a:rPr lang="ru-RU" sz="2300" dirty="0"/>
              <a:t> 12,24)</a:t>
            </a:r>
          </a:p>
          <a:p>
            <a:pPr lvl="1"/>
            <a:r>
              <a:rPr lang="ru-RU" sz="2300" b="1" dirty="0"/>
              <a:t>QS</a:t>
            </a:r>
            <a:r>
              <a:rPr lang="en-US" sz="2300" b="1" dirty="0"/>
              <a:t> </a:t>
            </a:r>
            <a:r>
              <a:rPr lang="en-US" sz="2300" b="1" dirty="0" err="1"/>
              <a:t>те</a:t>
            </a:r>
            <a:r>
              <a:rPr lang="ru-RU" sz="2300" b="1" dirty="0" err="1"/>
              <a:t>ст</a:t>
            </a:r>
            <a:r>
              <a:rPr lang="ru-RU" sz="2300" b="1" dirty="0"/>
              <a:t>: вариант </a:t>
            </a:r>
            <a:r>
              <a:rPr lang="ru-RU" sz="2300" dirty="0"/>
              <a:t>тест </a:t>
            </a:r>
            <a:r>
              <a:rPr lang="ru-RU" sz="2300" dirty="0" err="1"/>
              <a:t>Льюнга</a:t>
            </a:r>
            <a:r>
              <a:rPr lang="ru-RU" sz="2300" dirty="0"/>
              <a:t>-Бокса только на позитивных лага</a:t>
            </a:r>
            <a:endParaRPr lang="ru-RU" sz="2300" b="1" dirty="0"/>
          </a:p>
          <a:p>
            <a:r>
              <a:rPr lang="ru-RU" sz="2300" dirty="0"/>
              <a:t>Тест на стабильность сезонности Кановы-Хансена (</a:t>
            </a:r>
            <a:r>
              <a:rPr lang="en" sz="2300" dirty="0"/>
              <a:t>Canova-Hansen Test</a:t>
            </a:r>
            <a:r>
              <a:rPr lang="ru-RU" sz="2300" dirty="0"/>
              <a:t>, </a:t>
            </a:r>
            <a:r>
              <a:rPr lang="en" sz="2300" dirty="0" err="1"/>
              <a:t>CHTest</a:t>
            </a:r>
            <a:r>
              <a:rPr lang="en" sz="2300" dirty="0"/>
              <a:t>)</a:t>
            </a:r>
            <a:r>
              <a:rPr lang="ru-RU" sz="2300" dirty="0"/>
              <a:t>:</a:t>
            </a:r>
          </a:p>
          <a:p>
            <a:pPr lvl="2"/>
            <a:r>
              <a:rPr lang="ru-RU" sz="2300" dirty="0"/>
              <a:t>Стабильность сезонных компонент во времени – отбор нужных компонент и анализ их изменчивости</a:t>
            </a:r>
            <a:endParaRPr lang="en" sz="23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23BF57-7151-38B7-A636-B65F4C1D9F93}"/>
              </a:ext>
            </a:extLst>
          </p:cNvPr>
          <p:cNvSpPr txBox="1"/>
          <p:nvPr/>
        </p:nvSpPr>
        <p:spPr>
          <a:xfrm>
            <a:off x="196770" y="6523024"/>
            <a:ext cx="61056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palatej.github.io</a:t>
            </a:r>
            <a:r>
              <a:rPr lang="ru-RU" sz="1200" dirty="0"/>
              <a:t>/</a:t>
            </a:r>
            <a:r>
              <a:rPr lang="ru-RU" sz="1200" dirty="0" err="1"/>
              <a:t>pages</a:t>
            </a:r>
            <a:r>
              <a:rPr lang="ru-RU" sz="1200" dirty="0"/>
              <a:t>/</a:t>
            </a:r>
            <a:r>
              <a:rPr lang="ru-RU" sz="1200" dirty="0" err="1"/>
              <a:t>stats</a:t>
            </a:r>
            <a:r>
              <a:rPr lang="ru-RU" sz="1200" dirty="0"/>
              <a:t>/</a:t>
            </a:r>
            <a:r>
              <a:rPr lang="ru-RU" sz="1200" dirty="0" err="1"/>
              <a:t>tests</a:t>
            </a:r>
            <a:r>
              <a:rPr lang="ru-RU" sz="1200" dirty="0"/>
              <a:t>/</a:t>
            </a:r>
            <a:r>
              <a:rPr lang="ru-RU" sz="1200" dirty="0" err="1"/>
              <a:t>seasonality</a:t>
            </a:r>
            <a:r>
              <a:rPr lang="ru-RU" sz="1200" dirty="0"/>
              <a:t>/</a:t>
            </a:r>
            <a:r>
              <a:rPr lang="ru-RU" sz="1200" dirty="0" err="1"/>
              <a:t>qs.html</a:t>
            </a:r>
            <a:endParaRPr lang="ru-RU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008E14-AB86-A0CC-3C84-7F4555AC3A50}"/>
              </a:ext>
            </a:extLst>
          </p:cNvPr>
          <p:cNvSpPr txBox="1"/>
          <p:nvPr/>
        </p:nvSpPr>
        <p:spPr>
          <a:xfrm>
            <a:off x="196770" y="6238958"/>
            <a:ext cx="119016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050" dirty="0">
                <a:hlinkClick r:id="rId2"/>
              </a:rPr>
              <a:t>https://www.hse.ru/data/2014/11/13/1311639964/</a:t>
            </a:r>
            <a:r>
              <a:rPr lang="ru-RU" sz="1050" dirty="0"/>
              <a:t>Методы%20социально-экономического%20прогнозирования%20в%202т.%20т.2%20-%20Светуньков%20-%20бт.</a:t>
            </a:r>
            <a:r>
              <a:rPr lang="en" sz="1050" dirty="0"/>
              <a:t>pdf</a:t>
            </a:r>
            <a:endParaRPr lang="ru-RU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360E9F-2A4D-CEC3-6B34-312655F7D6F3}"/>
              </a:ext>
            </a:extLst>
          </p:cNvPr>
          <p:cNvSpPr txBox="1"/>
          <p:nvPr/>
        </p:nvSpPr>
        <p:spPr>
          <a:xfrm>
            <a:off x="6302414" y="6523024"/>
            <a:ext cx="61068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alkaline-ml.com</a:t>
            </a:r>
            <a:r>
              <a:rPr lang="ru-RU" sz="1100" dirty="0"/>
              <a:t>/</a:t>
            </a:r>
            <a:r>
              <a:rPr lang="ru-RU" sz="1100" dirty="0" err="1"/>
              <a:t>pmdarima</a:t>
            </a:r>
            <a:r>
              <a:rPr lang="ru-RU" sz="1100" dirty="0"/>
              <a:t>/</a:t>
            </a:r>
            <a:r>
              <a:rPr lang="ru-RU" sz="1100" dirty="0" err="1"/>
              <a:t>modules</a:t>
            </a:r>
            <a:r>
              <a:rPr lang="ru-RU" sz="1100" dirty="0"/>
              <a:t>/</a:t>
            </a:r>
            <a:r>
              <a:rPr lang="ru-RU" sz="1100" dirty="0" err="1"/>
              <a:t>generated</a:t>
            </a:r>
            <a:r>
              <a:rPr lang="ru-RU" sz="1100" dirty="0"/>
              <a:t>/</a:t>
            </a:r>
            <a:r>
              <a:rPr lang="ru-RU" sz="1100" dirty="0" err="1"/>
              <a:t>pmdarima.arima.CHTest.html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1262278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Проблема классических методов:</a:t>
            </a:r>
            <a:endParaRPr lang="ru-RU" sz="2000" dirty="0"/>
          </a:p>
          <a:p>
            <a:pPr lvl="1"/>
            <a:r>
              <a:rPr lang="ru-RU" sz="2000" dirty="0"/>
              <a:t>Классическое разложение (например, метод скользящего среднего) предполагает </a:t>
            </a:r>
            <a:r>
              <a:rPr lang="ru-RU" sz="2000" b="1" dirty="0"/>
              <a:t>строгую периодичность</a:t>
            </a:r>
            <a:r>
              <a:rPr lang="ru-RU" sz="2000" dirty="0"/>
              <a:t> (например, 12 месяцев для годовых данных).</a:t>
            </a:r>
          </a:p>
          <a:p>
            <a:pPr lvl="1"/>
            <a:r>
              <a:rPr lang="ru-RU" sz="2000" dirty="0"/>
              <a:t>Если сезонность </a:t>
            </a:r>
            <a:r>
              <a:rPr lang="ru-RU" sz="2000" b="1" dirty="0"/>
              <a:t>изменяется во времени</a:t>
            </a:r>
            <a:r>
              <a:rPr lang="ru-RU" sz="2000" dirty="0"/>
              <a:t> (например, амплитуда или форма сезонных колебаний непостоянна), классические методы дают плохие результаты.</a:t>
            </a:r>
          </a:p>
          <a:p>
            <a:pPr lvl="1"/>
            <a:r>
              <a:rPr lang="ru-RU" sz="2000" dirty="0"/>
              <a:t>Если есть </a:t>
            </a:r>
            <a:r>
              <a:rPr lang="ru-RU" sz="2000" b="1" dirty="0"/>
              <a:t>выбросы</a:t>
            </a:r>
            <a:r>
              <a:rPr lang="ru-RU" sz="2000" dirty="0"/>
              <a:t> – это смещает результат скользящего среднего</a:t>
            </a:r>
          </a:p>
          <a:p>
            <a:pPr lvl="1"/>
            <a:r>
              <a:rPr lang="ru-RU" sz="2000" dirty="0"/>
              <a:t>Сложная форма </a:t>
            </a:r>
            <a:r>
              <a:rPr lang="ru-RU" sz="2000" b="1" dirty="0"/>
              <a:t>цикличности тренда </a:t>
            </a:r>
            <a:r>
              <a:rPr lang="ru-RU" sz="2000" dirty="0"/>
              <a:t>может быть искажена скользящим средним</a:t>
            </a:r>
          </a:p>
          <a:p>
            <a:r>
              <a:rPr lang="ru-RU" sz="2000" dirty="0"/>
              <a:t>Решение:</a:t>
            </a:r>
          </a:p>
          <a:p>
            <a:pPr lvl="1"/>
            <a:r>
              <a:rPr lang="ru-RU" sz="2000" dirty="0"/>
              <a:t>Использование рекуррентной процедуры позволяет постепенно оптимизировать параметры разложения</a:t>
            </a:r>
            <a:r>
              <a:rPr lang="en-US" sz="2000" dirty="0"/>
              <a:t> </a:t>
            </a:r>
            <a:r>
              <a:rPr lang="ru-RU" sz="2000" dirty="0"/>
              <a:t>и сделать </a:t>
            </a:r>
            <a:r>
              <a:rPr lang="ru-RU" sz="2000" dirty="0" err="1"/>
              <a:t>уго</a:t>
            </a:r>
            <a:r>
              <a:rPr lang="ru-RU" sz="2000" dirty="0"/>
              <a:t> устойчивым к выбросам и другим проблемам ВР</a:t>
            </a:r>
          </a:p>
          <a:p>
            <a:pPr lvl="1"/>
            <a:r>
              <a:rPr lang="ru-RU" sz="2000" dirty="0"/>
              <a:t>Процедуры локальной (непараметрической) регрессии позволяют аппроксимировать сложный тренд без его описания.</a:t>
            </a:r>
          </a:p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1039008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  <p:pic>
        <p:nvPicPr>
          <p:cNvPr id="6148" name="Picture 4" descr="https://otexts.com/fpppy/nbs/03-decomposition_files/figure-html/fig-classical-empl-output-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6" y="1943100"/>
            <a:ext cx="4879152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https://otexts.com/fpppy/nbs/03-decomposition_files/figure-html/fig-empl-stl2-output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079" y="1754979"/>
            <a:ext cx="5300345" cy="3994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83680" y="5829300"/>
            <a:ext cx="460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Остаток в среднем меньше, видны выбросы,</a:t>
            </a:r>
          </a:p>
        </p:txBody>
      </p:sp>
    </p:spTree>
    <p:extLst>
      <p:ext uri="{BB962C8B-B14F-4D97-AF65-F5344CB8AC3E}">
        <p14:creationId xmlns:p14="http://schemas.microsoft.com/office/powerpoint/2010/main" val="6642901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ru-RU" sz="2600" dirty="0"/>
                  <a:t>Этап 1 – подготовка – линейная аппроксимация тренда, классическая оценка сезонности.</a:t>
                </a:r>
              </a:p>
              <a:p>
                <a:pPr lvl="1"/>
                <a:r>
                  <a:rPr lang="ru-RU" sz="2200" dirty="0"/>
                  <a:t>Выбор параметров (сезонность, окно сглаживания, окон низкочастотного сглаживания)</a:t>
                </a:r>
              </a:p>
              <a:p>
                <a:r>
                  <a:rPr lang="ru-RU" sz="2600" dirty="0"/>
                  <a:t>Этап 2 – внутренний цикл (Разложение на тренд и сезонность)</a:t>
                </a:r>
              </a:p>
              <a:p>
                <a:pPr lvl="1"/>
                <a:r>
                  <a:rPr lang="ru-RU" sz="2600" dirty="0"/>
                  <a:t>Вычисление тренда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600" dirty="0"/>
                  <a:t>при помощи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сглаживания</a:t>
                </a:r>
                <a:r>
                  <a:rPr lang="ru-RU" sz="2600" dirty="0"/>
                  <a:t> ВР</a:t>
                </a:r>
              </a:p>
              <a:p>
                <a:pPr lvl="1"/>
                <a:r>
                  <a:rPr lang="ru-RU" sz="2600" dirty="0"/>
                  <a:t>Разбиение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на </a:t>
                </a:r>
                <a:r>
                  <a:rPr lang="ru-RU" sz="2600" dirty="0" err="1"/>
                  <a:t>подциклы</a:t>
                </a:r>
                <a:r>
                  <a:rPr lang="ru-RU" sz="2600" dirty="0"/>
                  <a:t> с заданной сезонностью, сглаживание каждого </a:t>
                </a:r>
                <a:r>
                  <a:rPr lang="ru-RU" sz="2600" dirty="0" err="1"/>
                  <a:t>подцикла</a:t>
                </a:r>
                <a:r>
                  <a:rPr lang="ru-RU" sz="2600" dirty="0"/>
                  <a:t> </a:t>
                </a:r>
                <a:r>
                  <a:rPr lang="en-US" sz="2600" dirty="0"/>
                  <a:t>LOESS</a:t>
                </a:r>
                <a:r>
                  <a:rPr lang="ru-RU" sz="2600" dirty="0"/>
                  <a:t> сезонным, удаление из сезонности </a:t>
                </a:r>
                <a:r>
                  <a:rPr lang="en-US" sz="2600" dirty="0"/>
                  <a:t>LOESS</a:t>
                </a:r>
                <a:r>
                  <a:rPr lang="ru-RU" sz="2600" dirty="0"/>
                  <a:t> низкочастотного и нормировка</a:t>
                </a:r>
              </a:p>
              <a:p>
                <a:pPr lvl="1"/>
                <a:r>
                  <a:rPr lang="ru-RU" sz="2600" dirty="0" err="1"/>
                  <a:t>Формироирование</a:t>
                </a:r>
                <a:r>
                  <a:rPr lang="ru-RU" sz="2600" dirty="0"/>
                  <a:t> оценки сезонной компоненты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US" sz="2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600" b="1" dirty="0"/>
              </a:p>
              <a:p>
                <a:pPr lvl="1"/>
                <a:r>
                  <a:rPr lang="ru-RU" sz="2600" dirty="0"/>
                  <a:t>Корректировка тренда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сглаживание тренда</a:t>
                </a:r>
              </a:p>
              <a:p>
                <a:pPr marL="228600" lvl="1">
                  <a:spcBef>
                    <a:spcPts val="1000"/>
                  </a:spcBef>
                </a:pPr>
                <a:r>
                  <a:rPr lang="ru-RU" sz="2600" b="1" dirty="0"/>
                  <a:t>Этап 3 - Внешний цикл (итерации робастности)</a:t>
                </a:r>
                <a:r>
                  <a:rPr lang="ru-RU" sz="2600" dirty="0"/>
                  <a:t>: Для устойчивости к выбросам (1-3 итерации).</a:t>
                </a:r>
              </a:p>
              <a:p>
                <a:pPr lvl="1"/>
                <a:r>
                  <a:rPr lang="ru-RU" sz="2600" dirty="0"/>
                  <a:t>Вычисление остатка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i="1" dirty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600" dirty="0"/>
              </a:p>
              <a:p>
                <a:pPr lvl="1"/>
                <a:r>
                  <a:rPr lang="ru-RU" sz="2600" dirty="0"/>
                  <a:t>Устранение выбросов в остатке.</a:t>
                </a:r>
              </a:p>
              <a:p>
                <a:pPr lvl="1"/>
                <a:r>
                  <a:rPr lang="ru-RU" sz="2600" dirty="0"/>
                  <a:t>Если еще итерации: Восстановление нового ряда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600" dirty="0"/>
                  <a:t>и переход к этапу 2.</a:t>
                </a:r>
              </a:p>
              <a:p>
                <a:pPr lvl="1"/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  <a:blipFill>
                <a:blip r:embed="rId2"/>
                <a:stretch>
                  <a:fillRect l="-574" t="-3177" r="-157" b="-6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82881" y="4838701"/>
            <a:ext cx="7345679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вариант </a:t>
            </a:r>
            <a:r>
              <a:rPr lang="ru-RU" sz="2000" dirty="0" err="1"/>
              <a:t>многосезонного</a:t>
            </a:r>
            <a:r>
              <a:rPr lang="ru-RU" sz="2000" dirty="0"/>
              <a:t> </a:t>
            </a:r>
            <a:r>
              <a:rPr lang="en-US" sz="2000" dirty="0"/>
              <a:t>STL  - MSTL</a:t>
            </a:r>
            <a:endParaRPr lang="ru-RU" sz="20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</a:t>
            </a:r>
            <a:r>
              <a:rPr lang="en-US" sz="2000" dirty="0" err="1"/>
              <a:t>STLForecast</a:t>
            </a:r>
            <a:r>
              <a:rPr lang="ru-RU" sz="2000" dirty="0"/>
              <a:t>: предсказание тренда заданной моделью и экстраполяция сезонной компоненты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6390055"/>
            <a:ext cx="72009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https://www.statsmodels.org/dev/examples/notebooks/generated/stl_decomposition.html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06340" y="6543943"/>
            <a:ext cx="70180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https://www.statsmodels.org/dev/examples/notebooks/generated/mstl_decomposition.html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541" y="5357460"/>
            <a:ext cx="3799653" cy="741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49541" y="4711129"/>
            <a:ext cx="481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Loess – </a:t>
            </a:r>
            <a:r>
              <a:rPr lang="ru-RU" dirty="0"/>
              <a:t>взвешенная локальная регрессия с коном вида: для точки </a:t>
            </a:r>
            <a:r>
              <a:rPr lang="en-US" dirty="0"/>
              <a:t>x’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356129" y="6136910"/>
            <a:ext cx="32485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Где </a:t>
            </a:r>
            <a:r>
              <a:rPr lang="en-US" dirty="0"/>
              <a:t>d – </a:t>
            </a:r>
            <a:r>
              <a:rPr lang="ru-RU" dirty="0"/>
              <a:t>расстояние между </a:t>
            </a:r>
            <a:r>
              <a:rPr lang="en-US" dirty="0"/>
              <a:t>x </a:t>
            </a:r>
            <a:r>
              <a:rPr lang="ru-RU" dirty="0"/>
              <a:t>и </a:t>
            </a:r>
            <a:r>
              <a:rPr lang="en-US" dirty="0"/>
              <a:t>x’</a:t>
            </a:r>
            <a:endParaRPr lang="ru-RU" dirty="0"/>
          </a:p>
        </p:txBody>
      </p:sp>
      <p:cxnSp>
        <p:nvCxnSpPr>
          <p:cNvPr id="11" name="Прямая соединительная линия 10"/>
          <p:cNvCxnSpPr/>
          <p:nvPr/>
        </p:nvCxnSpPr>
        <p:spPr>
          <a:xfrm>
            <a:off x="7528560" y="4770120"/>
            <a:ext cx="0" cy="16104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381000" y="4770120"/>
            <a:ext cx="113385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35535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другие</a:t>
            </a:r>
            <a:r>
              <a:rPr lang="en-US" b="1" dirty="0"/>
              <a:t> </a:t>
            </a:r>
            <a:r>
              <a:rPr lang="ru-RU" b="1" dirty="0"/>
              <a:t>разложения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2881" y="809626"/>
            <a:ext cx="11675744" cy="5575794"/>
          </a:xfrm>
        </p:spPr>
        <p:txBody>
          <a:bodyPr>
            <a:normAutofit/>
          </a:bodyPr>
          <a:lstStyle/>
          <a:p>
            <a:r>
              <a:rPr lang="en-US" sz="2200" dirty="0"/>
              <a:t>STL – </a:t>
            </a:r>
            <a:r>
              <a:rPr lang="ru-RU" sz="2200" dirty="0"/>
              <a:t>универсальный метод разложения ВР, устойчивый к выбросам и сложным трендам. Однако, </a:t>
            </a:r>
          </a:p>
          <a:p>
            <a:pPr lvl="1"/>
            <a:r>
              <a:rPr lang="ru-RU" sz="2200" b="1" dirty="0"/>
              <a:t>Вычислительная сложность</a:t>
            </a:r>
            <a:r>
              <a:rPr lang="ru-RU" sz="2200" dirty="0"/>
              <a:t>: Требует больше ресурсов, чем скользящее среднее особенно для длинных ВР.</a:t>
            </a:r>
          </a:p>
          <a:p>
            <a:pPr lvl="1"/>
            <a:r>
              <a:rPr lang="ru-RU" sz="2200" b="1" dirty="0"/>
              <a:t>Настройка параметров</a:t>
            </a:r>
            <a:r>
              <a:rPr lang="ru-RU" sz="2200" dirty="0"/>
              <a:t>: Неправильный выбор окон может исказить компоненты.</a:t>
            </a:r>
          </a:p>
          <a:p>
            <a:pPr lvl="1"/>
            <a:r>
              <a:rPr lang="ru-RU" sz="2200" dirty="0"/>
              <a:t>Для </a:t>
            </a:r>
            <a:r>
              <a:rPr lang="en-US" sz="2200" dirty="0"/>
              <a:t>MSTL </a:t>
            </a:r>
            <a:r>
              <a:rPr lang="ru-RU" sz="2200" dirty="0"/>
              <a:t>настройка еще сложнее</a:t>
            </a:r>
          </a:p>
          <a:p>
            <a:pPr lvl="1"/>
            <a:r>
              <a:rPr lang="ru-RU" sz="2200" b="1" dirty="0" err="1"/>
              <a:t>Нестационарность</a:t>
            </a:r>
            <a:r>
              <a:rPr lang="ru-RU" sz="2200" dirty="0"/>
              <a:t>: Если тренд слишком резкий, LOESS может отставать.</a:t>
            </a:r>
          </a:p>
          <a:p>
            <a:pPr lvl="1"/>
            <a:r>
              <a:rPr lang="en-US" sz="2200" dirty="0"/>
              <a:t>STL </a:t>
            </a:r>
            <a:r>
              <a:rPr lang="ru-RU" sz="2200" dirty="0"/>
              <a:t> может воспринимать </a:t>
            </a:r>
            <a:r>
              <a:rPr lang="en-US" sz="2200" dirty="0"/>
              <a:t>holidays</a:t>
            </a:r>
            <a:r>
              <a:rPr lang="ru-RU" sz="2200" dirty="0"/>
              <a:t> за выбросы</a:t>
            </a:r>
          </a:p>
          <a:p>
            <a:pPr lvl="1"/>
            <a:r>
              <a:rPr lang="ru-RU" sz="2200" dirty="0"/>
              <a:t>Высокочастотные шумы (зашумленность) может затмить выбросы.</a:t>
            </a:r>
            <a:endParaRPr lang="en-US" sz="2200" dirty="0"/>
          </a:p>
          <a:p>
            <a:r>
              <a:rPr lang="ru-RU" sz="2200" dirty="0"/>
              <a:t>Если модель ВР уточнена, например </a:t>
            </a:r>
            <a:r>
              <a:rPr lang="en-US" sz="2200" dirty="0"/>
              <a:t>holidays</a:t>
            </a:r>
            <a:r>
              <a:rPr lang="ru-RU" sz="2200" dirty="0"/>
              <a:t>, четкая </a:t>
            </a:r>
            <a:r>
              <a:rPr lang="ru-RU" sz="2200" dirty="0" smtClean="0"/>
              <a:t>структура </a:t>
            </a:r>
            <a:r>
              <a:rPr lang="ru-RU" sz="2200" dirty="0"/>
              <a:t>могут быть более точные методы, например</a:t>
            </a:r>
          </a:p>
          <a:p>
            <a:pPr lvl="1"/>
            <a:r>
              <a:rPr lang="en-US" sz="2200" dirty="0"/>
              <a:t>SETA (</a:t>
            </a:r>
            <a:r>
              <a:rPr lang="en-US" sz="2200" b="1" dirty="0"/>
              <a:t>X-13ARIMA-SEATS</a:t>
            </a:r>
            <a:r>
              <a:rPr lang="en-US" sz="2200" dirty="0"/>
              <a:t>) – </a:t>
            </a:r>
            <a:r>
              <a:rPr lang="ru-RU" sz="2200" dirty="0"/>
              <a:t>для </a:t>
            </a:r>
            <a:r>
              <a:rPr lang="ru-RU" sz="2200" dirty="0" smtClean="0"/>
              <a:t>бизнес-процессов </a:t>
            </a:r>
            <a:r>
              <a:rPr lang="ru-RU" sz="2200" dirty="0"/>
              <a:t>ВР</a:t>
            </a:r>
          </a:p>
          <a:p>
            <a:pPr lvl="1"/>
            <a:r>
              <a:rPr lang="en-US" sz="2200" dirty="0"/>
              <a:t>X11 </a:t>
            </a:r>
            <a:r>
              <a:rPr lang="ru-RU" sz="2200" dirty="0"/>
              <a:t>для сезонной корректировки в экономических данных (глобальная экономика</a:t>
            </a:r>
            <a:r>
              <a:rPr lang="ru-RU" sz="2200" dirty="0" smtClean="0"/>
              <a:t>)</a:t>
            </a:r>
            <a:endParaRPr lang="en-US" sz="2200" dirty="0" smtClean="0"/>
          </a:p>
          <a:p>
            <a:r>
              <a:rPr lang="ru-RU" sz="2200" dirty="0" smtClean="0"/>
              <a:t>Также некоторые методы предсказания предоставляют результаты внутренней декомпозиции ВР</a:t>
            </a:r>
            <a:endParaRPr lang="en-US" sz="2200" dirty="0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281940" y="3985260"/>
            <a:ext cx="96697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Прямоугольник 3"/>
          <p:cNvSpPr/>
          <p:nvPr/>
        </p:nvSpPr>
        <p:spPr>
          <a:xfrm>
            <a:off x="5762625" y="6385420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https://otexts.com/fpppy/nbs/12-advanced.html#example-half-hourly-electricity-demand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82881" y="6523919"/>
            <a:ext cx="357341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https://otexts.com/fpppy/nbs/03-decomposition.html</a:t>
            </a:r>
          </a:p>
        </p:txBody>
      </p:sp>
    </p:spTree>
    <p:extLst>
      <p:ext uri="{BB962C8B-B14F-4D97-AF65-F5344CB8AC3E}">
        <p14:creationId xmlns:p14="http://schemas.microsoft.com/office/powerpoint/2010/main" val="14949985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4364</TotalTime>
  <Words>2174</Words>
  <Application>Microsoft Office PowerPoint</Application>
  <PresentationFormat>Широкоэкранный</PresentationFormat>
  <Paragraphs>468</Paragraphs>
  <Slides>24</Slides>
  <Notes>6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Fira Sans</vt:lpstr>
      <vt:lpstr>Open Sans</vt:lpstr>
      <vt:lpstr>Times New Roman</vt:lpstr>
      <vt:lpstr>Тема Office</vt:lpstr>
      <vt:lpstr>Предсказания ВР с явной TS моделью</vt:lpstr>
      <vt:lpstr>Методы предсказания ВР</vt:lpstr>
      <vt:lpstr>Методы предсказания в курсе</vt:lpstr>
      <vt:lpstr>Подходы к предсказанию временных рядов</vt:lpstr>
      <vt:lpstr>Статистические методы</vt:lpstr>
      <vt:lpstr>Бенчмарки предсказания временных рядов</vt:lpstr>
      <vt:lpstr>Бенчмарки предсказания временных рядов</vt:lpstr>
      <vt:lpstr>Основные выводы</vt:lpstr>
      <vt:lpstr>Наивное предсказание </vt:lpstr>
      <vt:lpstr>Наивное предсказание </vt:lpstr>
      <vt:lpstr>Статистические методы</vt:lpstr>
      <vt:lpstr>Статистические методы</vt:lpstr>
      <vt:lpstr> Экспоненциальное сглаживание</vt:lpstr>
      <vt:lpstr>Классический подход к декомпозиции ВР</vt:lpstr>
      <vt:lpstr>Классический подход к декомпозиции ВР</vt:lpstr>
      <vt:lpstr>Классический подход к Detrender</vt:lpstr>
      <vt:lpstr>Проверка на тренд</vt:lpstr>
      <vt:lpstr>Проверка на тренд Тесты на наличие тренда:</vt:lpstr>
      <vt:lpstr>Классический подход к Deseasonalizer</vt:lpstr>
      <vt:lpstr>Тесты на сезонность</vt:lpstr>
      <vt:lpstr>STL разложение</vt:lpstr>
      <vt:lpstr>STL разложение</vt:lpstr>
      <vt:lpstr>STL разложение</vt:lpstr>
      <vt:lpstr>другие разложения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231</cp:revision>
  <dcterms:created xsi:type="dcterms:W3CDTF">2021-10-31T10:57:36Z</dcterms:created>
  <dcterms:modified xsi:type="dcterms:W3CDTF">2025-08-11T06:45:02Z</dcterms:modified>
</cp:coreProperties>
</file>