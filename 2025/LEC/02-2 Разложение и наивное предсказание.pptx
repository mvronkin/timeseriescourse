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6"/>
  </p:notesMasterIdLst>
  <p:sldIdLst>
    <p:sldId id="256" r:id="rId2"/>
    <p:sldId id="466" r:id="rId3"/>
    <p:sldId id="425" r:id="rId4"/>
    <p:sldId id="467" r:id="rId5"/>
    <p:sldId id="412" r:id="rId6"/>
    <p:sldId id="444" r:id="rId7"/>
    <p:sldId id="468" r:id="rId8"/>
    <p:sldId id="469" r:id="rId9"/>
    <p:sldId id="470" r:id="rId10"/>
    <p:sldId id="471" r:id="rId11"/>
    <p:sldId id="432" r:id="rId12"/>
    <p:sldId id="433" r:id="rId13"/>
    <p:sldId id="436" r:id="rId14"/>
    <p:sldId id="448" r:id="rId15"/>
    <p:sldId id="445" r:id="rId16"/>
    <p:sldId id="454" r:id="rId17"/>
    <p:sldId id="462" r:id="rId18"/>
    <p:sldId id="463" r:id="rId19"/>
    <p:sldId id="455" r:id="rId20"/>
    <p:sldId id="464" r:id="rId21"/>
    <p:sldId id="446" r:id="rId22"/>
    <p:sldId id="451" r:id="rId23"/>
    <p:sldId id="450" r:id="rId24"/>
    <p:sldId id="452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Раздел по умолчанию" id="{201EE05C-F9E4-4BBB-A5C1-9C9F75E33B4A}">
          <p14:sldIdLst>
            <p14:sldId id="256"/>
            <p14:sldId id="466"/>
            <p14:sldId id="425"/>
            <p14:sldId id="467"/>
            <p14:sldId id="412"/>
            <p14:sldId id="444"/>
            <p14:sldId id="468"/>
            <p14:sldId id="469"/>
            <p14:sldId id="470"/>
            <p14:sldId id="471"/>
            <p14:sldId id="432"/>
            <p14:sldId id="433"/>
            <p14:sldId id="436"/>
            <p14:sldId id="448"/>
            <p14:sldId id="445"/>
            <p14:sldId id="454"/>
            <p14:sldId id="462"/>
            <p14:sldId id="463"/>
            <p14:sldId id="455"/>
            <p14:sldId id="464"/>
            <p14:sldId id="446"/>
            <p14:sldId id="451"/>
            <p14:sldId id="450"/>
            <p14:sldId id="45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940675A-B579-460E-94D1-54222C63F5DA}" styleName="Нет стиля, сетка таблиц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Средний стиль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618" autoAdjust="0"/>
    <p:restoredTop sz="96301"/>
  </p:normalViewPr>
  <p:slideViewPr>
    <p:cSldViewPr snapToGrid="0">
      <p:cViewPr varScale="1">
        <p:scale>
          <a:sx n="118" d="100"/>
          <a:sy n="118" d="100"/>
        </p:scale>
        <p:origin x="680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730246F-5962-E14A-AAF2-985CCFDAC345}" type="datetimeFigureOut">
              <a:rPr lang="ru-RU" smtClean="0"/>
              <a:t>08.08.2025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EA4F326-5F8D-6A4F-9B75-A3402553DF5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507655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DA1EE30-E435-D745-B23A-FF31C831763F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086500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https://huggingface.co/spaces/Salesforce/GIFT-Eval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DA1EE30-E435-D745-B23A-FF31C831763F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7654162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A1EE30-E435-D745-B23A-FF31C831763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6048764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A1EE30-E435-D745-B23A-FF31C831763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0183795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A4F326-5F8D-6A4F-9B75-A3402553DF5F}" type="slidenum">
              <a:rPr lang="ru-RU" smtClean="0"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3755322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D65EDB-29AD-A6EA-7DBD-86547287F5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F7ADD6A5-D3D6-4A70-AF6A-A6CBCEB263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05CFE5A9-91E7-A266-B827-688E615DCF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4ADF6AE-A657-7E28-E060-6391DA6364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A4F326-5F8D-6A4F-9B75-A3402553DF5F}" type="slidenum">
              <a:rPr lang="ru-RU" smtClean="0"/>
              <a:t>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627190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8CFB4BA-4847-4950-9046-35C57469617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7C50F236-05DE-4EA6-B24B-C0FEBD729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412F55E-4C2C-4815-9251-414FB0B405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43DC6-30E4-4569-999A-C703F926F2AF}" type="datetimeFigureOut">
              <a:rPr lang="en-US" smtClean="0"/>
              <a:t>8/8/25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07044F1-1BCB-437D-94B7-748CD73BDC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8FE5FCA-3381-4AA7-97BE-E08360D07E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7374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42078B4-C8B8-4494-8D96-3C27E8336B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FB14A32-4487-4DEA-8E16-BCEFD68053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CAA63F3-81BF-4E33-9692-6778B8E19D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43DC6-30E4-4569-999A-C703F926F2AF}" type="datetimeFigureOut">
              <a:rPr lang="en-US" smtClean="0"/>
              <a:t>8/8/25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DE3BEBD-8CC4-4081-9FDB-95EB8C3FA1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28FB63A-262B-4B36-853D-8FD6AE113C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6147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CC43E4F-3035-403A-BF75-75C94FBBF4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03DCB50-56CC-4CB7-B0E9-C49EE413D0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48699E2-26D2-4F29-BECB-D950644819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43DC6-30E4-4569-999A-C703F926F2AF}" type="datetimeFigureOut">
              <a:rPr lang="en-US" smtClean="0"/>
              <a:t>8/8/25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8572401-E422-4507-AF7F-D7097CB4EF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DC6EC42-24E3-47D8-9888-D943C92725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52724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CED8482-B2D7-40A8-802B-023F790905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7C7A474-D83F-4629-BFC3-2F4B70530F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BDD1A05-87B9-4B2D-8E14-4A30D386B2C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CBBC8B2B-8080-4609-A242-EA6E91AF79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43DC6-30E4-4569-999A-C703F926F2AF}" type="datetimeFigureOut">
              <a:rPr lang="en-US" smtClean="0"/>
              <a:t>8/8/25</a:t>
            </a:fld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37E48783-5AEF-42A6-9B25-9575CD4093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E1D6438-4412-440C-9295-08502F8013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3232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D3A02B6-9656-414C-BE0E-10520656D6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20224BE-5E0C-4E18-BFEF-DD7D38630D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2F82B3EE-40C5-4C9D-A53F-B840D95C58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CE08FC7-9C8F-40C5-A36C-57D977012B8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CDA3F2C0-DF9F-4B0C-8FF7-87FA6D0C982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4670B12D-A9FE-4003-AD82-C945E46501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43DC6-30E4-4569-999A-C703F926F2AF}" type="datetimeFigureOut">
              <a:rPr lang="en-US" smtClean="0"/>
              <a:t>8/8/25</a:t>
            </a:fld>
            <a:endParaRPr lang="en-US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01D85015-23A3-46A2-835F-65D23A8CC6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3ECA17E4-0196-4A48-A9E8-2CDD648161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506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333BF47-6BDB-4118-A251-A1E8A5BAC7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77ED7011-686E-45C2-8968-A0B2E5D91B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43DC6-30E4-4569-999A-C703F926F2AF}" type="datetimeFigureOut">
              <a:rPr lang="en-US" smtClean="0"/>
              <a:t>8/8/25</a:t>
            </a:fld>
            <a:endParaRPr lang="en-US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84ACE154-94EF-4E83-9D3F-7EE1930226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E255E03A-D16A-4D69-90DC-E58F3F32ED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37088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774E9CB4-2963-43D8-8D7F-D3C9C5A636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43DC6-30E4-4569-999A-C703F926F2AF}" type="datetimeFigureOut">
              <a:rPr lang="en-US" smtClean="0"/>
              <a:t>8/8/25</a:t>
            </a:fld>
            <a:endParaRPr lang="en-US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C54DA748-DD83-4645-AFEB-64F9270490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D3C6B88-BC8D-458D-A522-282B466F8C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51700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9876CF2-7597-4002-8ABA-F1D3B86D93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A3F4F31-CC84-417F-B967-C992A4599C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61EC5051-C614-4B70-A698-B21DE6B2C34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AB9C3610-5D28-44EB-9587-C384AEC289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43DC6-30E4-4569-999A-C703F926F2AF}" type="datetimeFigureOut">
              <a:rPr lang="en-US" smtClean="0"/>
              <a:t>8/8/25</a:t>
            </a:fld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D53EF8BB-8CBF-4362-9146-DEF1DEC21B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211AA93E-098B-4DBE-A044-721E37D6D1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45639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3CC3971-FAC8-4F52-B15E-7F9CCA65EA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62583E30-D6F9-47C1-B0FD-3070A90D9CE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133E1C3-FED5-47C3-8D75-D0E1CE87A2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C7B8DF28-82CD-4556-9610-6627C6C1E2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43DC6-30E4-4569-999A-C703F926F2AF}" type="datetimeFigureOut">
              <a:rPr lang="en-US" smtClean="0"/>
              <a:t>8/8/25</a:t>
            </a:fld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1C754358-7942-4E40-AF93-18EF33D320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0356B49-2C0E-451A-8A9A-74FDF9A8C0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86816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2FE3F53-D493-48AC-971D-7454A8D783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E4A05121-2968-48C3-BB49-AF0AC43AD1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8A79E25-1AB6-488D-AFD4-754FABB441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43DC6-30E4-4569-999A-C703F926F2AF}" type="datetimeFigureOut">
              <a:rPr lang="en-US" smtClean="0"/>
              <a:t>8/8/25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F133EB6-0DE0-4289-8048-2D6D72BA67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8889C22-9049-4BFC-8501-808125020B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22138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BA0A8197-99AF-4047-BB35-1E28D8D181D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32B8222B-3624-4C62-9AC8-0C9ACA87107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9B1FCEF-30E5-4242-9E96-510141165C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43DC6-30E4-4569-999A-C703F926F2AF}" type="datetimeFigureOut">
              <a:rPr lang="en-US" smtClean="0"/>
              <a:t>8/8/25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83953CE-A629-44C1-8C47-D85C4C211F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4200CE6-DA51-4537-A51E-3A38FB76B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04018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B55DBB2-2936-4C5B-A898-17ABF8192B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7DD482A-BA7D-4219-92B7-5B66F76D4E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6365484-7FD2-4223-ACAC-F0B65AFF5E2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343DC6-30E4-4569-999A-C703F926F2AF}" type="datetimeFigureOut">
              <a:rPr lang="en-US" smtClean="0"/>
              <a:t>8/8/25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E91DAA7-F8E0-4BCD-8D26-540FF2A6E1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4E25FF6-6DD2-4839-9908-5D121329B47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11267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ciencedirect.com/science/article/pii/S0169207024001079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en.wikipedia.org/wiki/Makridakis_Competitions" TargetMode="External"/><Relationship Id="rId5" Type="http://schemas.openxmlformats.org/officeDocument/2006/relationships/hyperlink" Target="https://statmodeling.stat.columbia.edu/wp-content/uploads/2021/10/M5_accuracy_competition.pdf" TargetMode="External"/><Relationship Id="rId4" Type="http://schemas.openxmlformats.org/officeDocument/2006/relationships/hyperlink" Target="https://m-e-gorelli.medium.com/how-i-won-6-000-in-the-m6-forecasting-competition-888df68bf132" TargetMode="Externa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0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geeksforgeeks.org/python/time-series-decomposition-techniques/" TargetMode="External"/><Relationship Id="rId3" Type="http://schemas.openxmlformats.org/officeDocument/2006/relationships/hyperlink" Target="https://otexts.com/fpp2/classical-decomposition.html" TargetMode="External"/><Relationship Id="rId7" Type="http://schemas.openxmlformats.org/officeDocument/2006/relationships/image" Target="../media/image13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hyperlink" Target="http://www.gardner.fyi/blog/STL-Part-II/" TargetMode="External"/><Relationship Id="rId10" Type="http://schemas.openxmlformats.org/officeDocument/2006/relationships/image" Target="../media/image15.png"/><Relationship Id="rId4" Type="http://schemas.openxmlformats.org/officeDocument/2006/relationships/hyperlink" Target="https://www.openforecast.org/adam/classical-seasonal-decomposition.html" TargetMode="External"/><Relationship Id="rId9" Type="http://schemas.openxmlformats.org/officeDocument/2006/relationships/image" Target="../media/image1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emf"/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AE3A209-E86B-43CF-A4CE-1917FCF9C1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43483" y="934356"/>
            <a:ext cx="10932920" cy="2334624"/>
          </a:xfrm>
        </p:spPr>
        <p:txBody>
          <a:bodyPr>
            <a:normAutofit/>
          </a:bodyPr>
          <a:lstStyle/>
          <a:p>
            <a:r>
              <a:rPr lang="ru-RU" sz="8000" b="1" dirty="0"/>
              <a:t>Предсказания ВР с явной </a:t>
            </a:r>
            <a:r>
              <a:rPr lang="en-US" sz="8000" b="1" dirty="0"/>
              <a:t>TS </a:t>
            </a:r>
            <a:r>
              <a:rPr lang="ru-RU" sz="8000" b="1" dirty="0"/>
              <a:t>моделью</a:t>
            </a:r>
            <a:endParaRPr lang="en-US" sz="8000" b="1" dirty="0"/>
          </a:p>
        </p:txBody>
      </p:sp>
    </p:spTree>
    <p:extLst>
      <p:ext uri="{BB962C8B-B14F-4D97-AF65-F5344CB8AC3E}">
        <p14:creationId xmlns:p14="http://schemas.microsoft.com/office/powerpoint/2010/main" val="26431011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95300" y="0"/>
            <a:ext cx="10515600" cy="1325563"/>
          </a:xfrm>
        </p:spPr>
        <p:txBody>
          <a:bodyPr/>
          <a:lstStyle/>
          <a:p>
            <a:r>
              <a:rPr lang="ru-RU" dirty="0"/>
              <a:t>Методы предсказания ВР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73799" y="4717062"/>
            <a:ext cx="11563350" cy="1924051"/>
          </a:xfrm>
        </p:spPr>
        <p:txBody>
          <a:bodyPr>
            <a:normAutofit/>
          </a:bodyPr>
          <a:lstStyle/>
          <a:p>
            <a:endParaRPr lang="ru-RU" sz="2200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2</a:t>
            </a:fld>
            <a:endParaRPr lang="en-US"/>
          </a:p>
        </p:txBody>
      </p:sp>
      <p:pic>
        <p:nvPicPr>
          <p:cNvPr id="7" name="Picture 2" descr="https://i0.wp.com/semiengineering.com/wp-content/uploads/Fraunhofer_data-augmentation-industrial-AI-fig1.jpg?resize=605%2C155&amp;ssl=1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19380" y="1098101"/>
            <a:ext cx="5762625" cy="1476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Прямоугольник 7"/>
          <p:cNvSpPr/>
          <p:nvPr/>
        </p:nvSpPr>
        <p:spPr>
          <a:xfrm>
            <a:off x="2007646" y="6075144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dirty="0"/>
              <a:t>https://semiengineering.com/enhancing-datasets-for-artificial-intelligence-through-model-based-methods/</a:t>
            </a:r>
          </a:p>
        </p:txBody>
      </p:sp>
      <p:sp>
        <p:nvSpPr>
          <p:cNvPr id="9" name="Прямоугольник 8"/>
          <p:cNvSpPr/>
          <p:nvPr/>
        </p:nvSpPr>
        <p:spPr>
          <a:xfrm>
            <a:off x="6517342" y="2389473"/>
            <a:ext cx="3172609" cy="46147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400" dirty="0"/>
              <a:t>Бизнес процесс – </a:t>
            </a:r>
            <a:r>
              <a:rPr lang="en-US" sz="1400" dirty="0"/>
              <a:t>Prophet, </a:t>
            </a:r>
            <a:r>
              <a:rPr lang="ru-RU" sz="1400" dirty="0"/>
              <a:t> разложение и процесс</a:t>
            </a:r>
            <a:r>
              <a:rPr lang="en-US" sz="1400" dirty="0"/>
              <a:t>;</a:t>
            </a:r>
            <a:endParaRPr lang="ru-RU" sz="1400" dirty="0"/>
          </a:p>
        </p:txBody>
      </p:sp>
      <p:sp>
        <p:nvSpPr>
          <p:cNvPr id="10" name="Прямоугольник 9"/>
          <p:cNvSpPr/>
          <p:nvPr/>
        </p:nvSpPr>
        <p:spPr>
          <a:xfrm>
            <a:off x="4030516" y="2775989"/>
            <a:ext cx="3172609" cy="46147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Neural Prophet</a:t>
            </a:r>
            <a:endParaRPr lang="ru-RU" sz="1400" dirty="0"/>
          </a:p>
        </p:txBody>
      </p:sp>
      <p:sp>
        <p:nvSpPr>
          <p:cNvPr id="11" name="Прямоугольник 10"/>
          <p:cNvSpPr/>
          <p:nvPr/>
        </p:nvSpPr>
        <p:spPr>
          <a:xfrm>
            <a:off x="2090621" y="3102525"/>
            <a:ext cx="3172609" cy="46147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Neural Network</a:t>
            </a:r>
            <a:endParaRPr lang="ru-RU" sz="1400" dirty="0"/>
          </a:p>
        </p:txBody>
      </p:sp>
    </p:spTree>
    <p:extLst>
      <p:ext uri="{BB962C8B-B14F-4D97-AF65-F5344CB8AC3E}">
        <p14:creationId xmlns:p14="http://schemas.microsoft.com/office/powerpoint/2010/main" val="12372232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95300" y="0"/>
            <a:ext cx="10515600" cy="1325563"/>
          </a:xfrm>
        </p:spPr>
        <p:txBody>
          <a:bodyPr/>
          <a:lstStyle/>
          <a:p>
            <a:r>
              <a:rPr lang="ru-RU" dirty="0"/>
              <a:t>Методы предсказания в курсе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73799" y="4717062"/>
            <a:ext cx="11563350" cy="1924051"/>
          </a:xfrm>
        </p:spPr>
        <p:txBody>
          <a:bodyPr>
            <a:normAutofit/>
          </a:bodyPr>
          <a:lstStyle/>
          <a:p>
            <a:r>
              <a:rPr lang="ru-RU" sz="2200" dirty="0"/>
              <a:t>Методы всегда выбираются</a:t>
            </a:r>
            <a:r>
              <a:rPr lang="en-US" sz="2200" dirty="0"/>
              <a:t> </a:t>
            </a:r>
            <a:r>
              <a:rPr lang="ru-RU" sz="2200" dirty="0"/>
              <a:t>от простых (слева) к самым сложным.</a:t>
            </a:r>
          </a:p>
          <a:p>
            <a:r>
              <a:rPr lang="ru-RU" sz="2200" dirty="0"/>
              <a:t>Выбор метода зависит от сложности ВР (число и связи компонент, </a:t>
            </a:r>
            <a:r>
              <a:rPr lang="ru-RU" sz="2200" dirty="0" err="1"/>
              <a:t>формализуемость</a:t>
            </a:r>
            <a:r>
              <a:rPr lang="ru-RU" sz="2200" dirty="0"/>
              <a:t> ВР) и требований к предсказанию (горизонт, точность)</a:t>
            </a:r>
          </a:p>
          <a:p>
            <a:r>
              <a:rPr lang="ru-RU" sz="2200" dirty="0"/>
              <a:t>Чем сложнее метод, тем он шире применим, но менее точен/менее устойчив/более склонен к переобучению, а также тем больше данных для обучения необходимо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3</a:t>
            </a:fld>
            <a:endParaRPr lang="en-US"/>
          </a:p>
        </p:txBody>
      </p:sp>
      <p:sp>
        <p:nvSpPr>
          <p:cNvPr id="5" name="Прямоугольник 4"/>
          <p:cNvSpPr/>
          <p:nvPr/>
        </p:nvSpPr>
        <p:spPr>
          <a:xfrm>
            <a:off x="73799" y="6582975"/>
            <a:ext cx="8060551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200" dirty="0"/>
              <a:t>https://fastercapital.com/content/Time-series-analysis-using-nonparametric-techniques--A-Fresh-Perspective.html</a:t>
            </a:r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0649" y="1001486"/>
            <a:ext cx="8024157" cy="36352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97868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15988"/>
          </a:xfrm>
        </p:spPr>
        <p:txBody>
          <a:bodyPr>
            <a:normAutofit fontScale="90000"/>
          </a:bodyPr>
          <a:lstStyle/>
          <a:p>
            <a:r>
              <a:rPr lang="ru-RU" dirty="0"/>
              <a:t>Подходы к предсказанию временных рядов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4</a:t>
            </a:fld>
            <a:endParaRPr lang="en-US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229" y="1366839"/>
            <a:ext cx="11542743" cy="3404590"/>
          </a:xfrm>
          <a:prstGeom prst="rect">
            <a:avLst/>
          </a:prstGeom>
        </p:spPr>
      </p:pic>
      <p:sp>
        <p:nvSpPr>
          <p:cNvPr id="6" name="Прямоугольник 5"/>
          <p:cNvSpPr/>
          <p:nvPr/>
        </p:nvSpPr>
        <p:spPr>
          <a:xfrm>
            <a:off x="838200" y="4905999"/>
            <a:ext cx="10677525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</a:rPr>
              <a:t>Encoding (</a:t>
            </a:r>
            <a:r>
              <a:rPr lang="ru-RU" dirty="0">
                <a:solidFill>
                  <a:srgbClr val="000000"/>
                </a:solidFill>
                <a:latin typeface="Calibri" panose="020F0502020204030204" pitchFamily="34" charset="0"/>
              </a:rPr>
              <a:t>кодирование) — это процесс преобразования данных (в том числе категориальных или временных признаков) в числовую форму, удобную для обработки алгоритмами машинного обучения или статистическими методами.</a:t>
            </a:r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4285" y="5773400"/>
            <a:ext cx="5450702" cy="865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1753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20040" y="258445"/>
            <a:ext cx="11033760" cy="587375"/>
          </a:xfrm>
        </p:spPr>
        <p:txBody>
          <a:bodyPr>
            <a:noAutofit/>
          </a:bodyPr>
          <a:lstStyle/>
          <a:p>
            <a:pPr algn="ctr"/>
            <a:r>
              <a:rPr lang="ru-RU" b="1" dirty="0"/>
              <a:t>Статистические методы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60020" y="4038601"/>
            <a:ext cx="5545455" cy="2560320"/>
          </a:xfrm>
        </p:spPr>
        <p:txBody>
          <a:bodyPr>
            <a:normAutofit/>
          </a:bodyPr>
          <a:lstStyle/>
          <a:p>
            <a:r>
              <a:rPr lang="ru-RU" sz="2000" dirty="0"/>
              <a:t>Точность на коротких горизонтах предсказания</a:t>
            </a:r>
          </a:p>
          <a:p>
            <a:r>
              <a:rPr lang="ru-RU" sz="2000" dirty="0"/>
              <a:t>Высокая скорость обучения и переобучения</a:t>
            </a:r>
          </a:p>
          <a:p>
            <a:r>
              <a:rPr lang="ru-RU" sz="2000" dirty="0"/>
              <a:t>Высокая интерпретируемость</a:t>
            </a:r>
            <a:endParaRPr lang="en-US" sz="2000" dirty="0"/>
          </a:p>
          <a:p>
            <a:r>
              <a:rPr lang="ru-RU" sz="2000" dirty="0"/>
              <a:t>Важно соответствие данных модели </a:t>
            </a:r>
          </a:p>
          <a:p>
            <a:endParaRPr lang="ru-RU" sz="2000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2550" y="747822"/>
            <a:ext cx="7796825" cy="3426877"/>
          </a:xfrm>
          <a:prstGeom prst="rect">
            <a:avLst/>
          </a:prstGeom>
        </p:spPr>
      </p:pic>
      <p:sp>
        <p:nvSpPr>
          <p:cNvPr id="5" name="Объект 2"/>
          <p:cNvSpPr txBox="1">
            <a:spLocks/>
          </p:cNvSpPr>
          <p:nvPr/>
        </p:nvSpPr>
        <p:spPr>
          <a:xfrm>
            <a:off x="5836920" y="4076700"/>
            <a:ext cx="6174105" cy="256032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2000" dirty="0"/>
              <a:t>Требуется значительная предобработка данных</a:t>
            </a:r>
          </a:p>
          <a:p>
            <a:r>
              <a:rPr lang="ru-RU" sz="2000" dirty="0"/>
              <a:t>Очень важна настройка модели</a:t>
            </a:r>
          </a:p>
          <a:p>
            <a:r>
              <a:rPr lang="ru-RU" sz="2000" dirty="0"/>
              <a:t>Чувствительность к новизне, выбросам, пропускам и другим нерегулярностям данных</a:t>
            </a:r>
          </a:p>
          <a:p>
            <a:r>
              <a:rPr lang="ru-RU" sz="2000" dirty="0"/>
              <a:t> Частое обновление модели в процессе работы</a:t>
            </a:r>
          </a:p>
          <a:p>
            <a:endParaRPr lang="ru-RU" sz="2000" dirty="0"/>
          </a:p>
          <a:p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30687453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00443" y="102210"/>
            <a:ext cx="10927080" cy="557984"/>
          </a:xfrm>
        </p:spPr>
        <p:txBody>
          <a:bodyPr>
            <a:normAutofit fontScale="90000"/>
          </a:bodyPr>
          <a:lstStyle/>
          <a:p>
            <a:r>
              <a:rPr lang="ru-RU" dirty="0" err="1"/>
              <a:t>Бенчмарки</a:t>
            </a:r>
            <a:r>
              <a:rPr lang="ru-RU" dirty="0"/>
              <a:t> предсказания временных рядов</a:t>
            </a:r>
          </a:p>
        </p:txBody>
      </p:sp>
      <p:graphicFrame>
        <p:nvGraphicFramePr>
          <p:cNvPr id="5" name="Объект 4"/>
          <p:cNvGraphicFramePr>
            <a:graphicFrameLocks noGrp="1"/>
          </p:cNvGraphicFramePr>
          <p:nvPr>
            <p:ph idx="1"/>
          </p:nvPr>
        </p:nvGraphicFramePr>
        <p:xfrm>
          <a:off x="228598" y="1401333"/>
          <a:ext cx="11671666" cy="4576737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745472">
                  <a:extLst>
                    <a:ext uri="{9D8B030D-6E8A-4147-A177-3AD203B41FA5}">
                      <a16:colId xmlns:a16="http://schemas.microsoft.com/office/drawing/2014/main" val="361956609"/>
                    </a:ext>
                  </a:extLst>
                </a:gridCol>
                <a:gridCol w="2770616">
                  <a:extLst>
                    <a:ext uri="{9D8B030D-6E8A-4147-A177-3AD203B41FA5}">
                      <a16:colId xmlns:a16="http://schemas.microsoft.com/office/drawing/2014/main" val="334373324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1153032671"/>
                    </a:ext>
                  </a:extLst>
                </a:gridCol>
                <a:gridCol w="1619794">
                  <a:extLst>
                    <a:ext uri="{9D8B030D-6E8A-4147-A177-3AD203B41FA5}">
                      <a16:colId xmlns:a16="http://schemas.microsoft.com/office/drawing/2014/main" val="2248710687"/>
                    </a:ext>
                  </a:extLst>
                </a:gridCol>
                <a:gridCol w="1245326">
                  <a:extLst>
                    <a:ext uri="{9D8B030D-6E8A-4147-A177-3AD203B41FA5}">
                      <a16:colId xmlns:a16="http://schemas.microsoft.com/office/drawing/2014/main" val="1572364774"/>
                    </a:ext>
                  </a:extLst>
                </a:gridCol>
                <a:gridCol w="1140823">
                  <a:extLst>
                    <a:ext uri="{9D8B030D-6E8A-4147-A177-3AD203B41FA5}">
                      <a16:colId xmlns:a16="http://schemas.microsoft.com/office/drawing/2014/main" val="428262337"/>
                    </a:ext>
                  </a:extLst>
                </a:gridCol>
                <a:gridCol w="2137955">
                  <a:extLst>
                    <a:ext uri="{9D8B030D-6E8A-4147-A177-3AD203B41FA5}">
                      <a16:colId xmlns:a16="http://schemas.microsoft.com/office/drawing/2014/main" val="584638817"/>
                    </a:ext>
                  </a:extLst>
                </a:gridCol>
              </a:tblGrid>
              <a:tr h="199095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n-lt"/>
                          <a:ea typeface="+mn-ea"/>
                          <a:cs typeface="+mn-cs"/>
                        </a:rPr>
                        <a:t>bench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  <a:latin typeface="+mn-lt"/>
                          <a:ea typeface="+mn-ea"/>
                          <a:cs typeface="+mn-cs"/>
                        </a:rPr>
                        <a:t>Данные/задачи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>
                          <a:effectLst/>
                        </a:rPr>
                        <a:t>Цель бенчмарка</a:t>
                      </a:r>
                      <a:endParaRPr lang="ru-RU" sz="16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Модели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>
                          <a:effectLst/>
                        </a:rPr>
                        <a:t>Метрики</a:t>
                      </a:r>
                      <a:endParaRPr lang="ru-RU" sz="16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Победители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Выводы </a:t>
                      </a:r>
                    </a:p>
                  </a:txBody>
                  <a:tcPr marL="4248" marR="4248" marT="4248" marB="4248" anchor="ctr"/>
                </a:tc>
                <a:extLst>
                  <a:ext uri="{0D108BD9-81ED-4DB2-BD59-A6C34878D82A}">
                    <a16:rowId xmlns:a16="http://schemas.microsoft.com/office/drawing/2014/main" val="1178824914"/>
                  </a:ext>
                </a:extLst>
              </a:tr>
              <a:tr h="391912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M1 (1982)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effectLst/>
                        </a:rPr>
                        <a:t>1001 </a:t>
                      </a:r>
                      <a:r>
                        <a:rPr lang="ru-RU" sz="1600" dirty="0" err="1">
                          <a:effectLst/>
                        </a:rPr>
                        <a:t>Univariate</a:t>
                      </a:r>
                      <a:r>
                        <a:rPr lang="ru-RU" sz="1600" dirty="0">
                          <a:effectLst/>
                        </a:rPr>
                        <a:t> финансы, демография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Сравнение классических моделей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700" dirty="0">
                          <a:effectLst/>
                        </a:rPr>
                        <a:t>ARIMA, ETS</a:t>
                      </a:r>
                      <a:endParaRPr lang="ru-RU" sz="17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>
                          <a:effectLst/>
                        </a:rPr>
                        <a:t>MAPE, RMSE</a:t>
                      </a:r>
                      <a:endParaRPr lang="ru-RU" sz="16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ETS, ARIMA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Baseline</a:t>
                      </a:r>
                      <a:r>
                        <a:rPr lang="en-US" sz="1600" baseline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univariate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extLst>
                  <a:ext uri="{0D108BD9-81ED-4DB2-BD59-A6C34878D82A}">
                    <a16:rowId xmlns:a16="http://schemas.microsoft.com/office/drawing/2014/main" val="1348426979"/>
                  </a:ext>
                </a:extLst>
              </a:tr>
              <a:tr h="576141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M2 (1993)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effectLst/>
                        </a:rPr>
                        <a:t>29 </a:t>
                      </a:r>
                      <a:r>
                        <a:rPr lang="ru-RU" sz="1600" dirty="0" err="1">
                          <a:effectLst/>
                        </a:rPr>
                        <a:t>Univariate</a:t>
                      </a:r>
                      <a:r>
                        <a:rPr lang="en-US" sz="1600" dirty="0">
                          <a:effectLst/>
                        </a:rPr>
                        <a:t>, real-time forecasting</a:t>
                      </a:r>
                      <a:r>
                        <a:rPr lang="ru-RU" sz="1600" dirty="0">
                          <a:effectLst/>
                        </a:rPr>
                        <a:t>,</a:t>
                      </a:r>
                      <a:r>
                        <a:rPr lang="ru-RU" sz="1600" baseline="0" dirty="0">
                          <a:effectLst/>
                        </a:rPr>
                        <a:t> </a:t>
                      </a:r>
                      <a:r>
                        <a:rPr lang="ru-RU" sz="1600" dirty="0">
                          <a:effectLst/>
                        </a:rPr>
                        <a:t>Анализ экспертных суждений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Влияние экспертных прогнозов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700" dirty="0" err="1">
                          <a:effectLst/>
                        </a:rPr>
                        <a:t>Judgment</a:t>
                      </a:r>
                      <a:r>
                        <a:rPr lang="ru-RU" sz="1700" dirty="0">
                          <a:effectLst/>
                        </a:rPr>
                        <a:t> </a:t>
                      </a:r>
                      <a:r>
                        <a:rPr lang="ru-RU" sz="1700" dirty="0" err="1">
                          <a:effectLst/>
                        </a:rPr>
                        <a:t>vs</a:t>
                      </a:r>
                      <a:r>
                        <a:rPr lang="ru-RU" sz="1700" dirty="0">
                          <a:effectLst/>
                        </a:rPr>
                        <a:t> </a:t>
                      </a:r>
                      <a:r>
                        <a:rPr lang="ru-RU" sz="1700" dirty="0" err="1">
                          <a:effectLst/>
                        </a:rPr>
                        <a:t>models</a:t>
                      </a:r>
                      <a:endParaRPr lang="ru-RU" sz="17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>
                          <a:effectLst/>
                        </a:rPr>
                        <a:t>RMSE, MAE</a:t>
                      </a:r>
                      <a:endParaRPr lang="ru-RU" sz="16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 err="1">
                          <a:effectLst/>
                        </a:rPr>
                        <a:t>Experts</a:t>
                      </a:r>
                      <a:r>
                        <a:rPr lang="ru-RU" sz="1600" dirty="0">
                          <a:effectLst/>
                        </a:rPr>
                        <a:t> ≈ </a:t>
                      </a:r>
                      <a:r>
                        <a:rPr lang="en-US" sz="1600" dirty="0">
                          <a:effectLst/>
                        </a:rPr>
                        <a:t>ETS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Модели</a:t>
                      </a:r>
                      <a:r>
                        <a:rPr lang="ru-RU" sz="1600" baseline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не хуже экспертов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extLst>
                  <a:ext uri="{0D108BD9-81ED-4DB2-BD59-A6C34878D82A}">
                    <a16:rowId xmlns:a16="http://schemas.microsoft.com/office/drawing/2014/main" val="1062539383"/>
                  </a:ext>
                </a:extLst>
              </a:tr>
              <a:tr h="416031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M3 (2000)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3003 </a:t>
                      </a:r>
                      <a:r>
                        <a:rPr lang="ru-RU" sz="1600" dirty="0" err="1">
                          <a:effectLst/>
                        </a:rPr>
                        <a:t>Univariate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универсальная модель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700" dirty="0">
                          <a:effectLst/>
                        </a:rPr>
                        <a:t>ARIMA,</a:t>
                      </a:r>
                      <a:r>
                        <a:rPr lang="en-US" sz="1700" dirty="0">
                          <a:effectLst/>
                        </a:rPr>
                        <a:t> ETS,</a:t>
                      </a:r>
                      <a:r>
                        <a:rPr lang="ru-RU" sz="1700" dirty="0">
                          <a:effectLst/>
                        </a:rPr>
                        <a:t> </a:t>
                      </a:r>
                      <a:r>
                        <a:rPr lang="ru-RU" sz="1700" dirty="0" err="1">
                          <a:effectLst/>
                        </a:rPr>
                        <a:t>Theta</a:t>
                      </a:r>
                      <a:endParaRPr lang="ru-RU" sz="17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SMAPE, MAPE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ARIMA,</a:t>
                      </a:r>
                      <a:r>
                        <a:rPr lang="en-US" sz="1600" dirty="0">
                          <a:effectLst/>
                        </a:rPr>
                        <a:t> ETS,</a:t>
                      </a:r>
                      <a:r>
                        <a:rPr lang="ru-RU" sz="1600" dirty="0">
                          <a:effectLst/>
                        </a:rPr>
                        <a:t> </a:t>
                      </a:r>
                      <a:r>
                        <a:rPr lang="ru-RU" sz="1600" dirty="0" err="1">
                          <a:effectLst/>
                        </a:rPr>
                        <a:t>Theta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Baseline</a:t>
                      </a:r>
                      <a:r>
                        <a:rPr lang="en-US" sz="1600" baseline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univariate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extLst>
                  <a:ext uri="{0D108BD9-81ED-4DB2-BD59-A6C34878D82A}">
                    <a16:rowId xmlns:a16="http://schemas.microsoft.com/office/drawing/2014/main" val="1972350284"/>
                  </a:ext>
                </a:extLst>
              </a:tr>
              <a:tr h="584729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M4 (2018)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10</a:t>
                      </a:r>
                      <a:r>
                        <a:rPr lang="ru-RU" sz="1600" baseline="0" dirty="0">
                          <a:effectLst/>
                        </a:rPr>
                        <a:t> 000 </a:t>
                      </a:r>
                      <a:r>
                        <a:rPr lang="ru-RU" sz="1600" dirty="0" err="1">
                          <a:effectLst/>
                        </a:rPr>
                        <a:t>Univariate</a:t>
                      </a:r>
                      <a:r>
                        <a:rPr lang="ru-RU" sz="1600" dirty="0">
                          <a:effectLst/>
                        </a:rPr>
                        <a:t> на разных масштабах</a:t>
                      </a:r>
                      <a:r>
                        <a:rPr lang="ru-RU" sz="1600" baseline="0" dirty="0">
                          <a:effectLst/>
                        </a:rPr>
                        <a:t> (год, месяц, и </a:t>
                      </a:r>
                      <a:r>
                        <a:rPr lang="ru-RU" sz="1600" baseline="0" dirty="0" err="1">
                          <a:effectLst/>
                        </a:rPr>
                        <a:t>тд</a:t>
                      </a:r>
                      <a:r>
                        <a:rPr lang="ru-RU" sz="1600" baseline="0" dirty="0">
                          <a:effectLst/>
                        </a:rPr>
                        <a:t>)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Масштабная проверка стратегий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700" dirty="0">
                          <a:effectLst/>
                        </a:rPr>
                        <a:t>ETS + RNN, </a:t>
                      </a:r>
                      <a:r>
                        <a:rPr lang="ru-RU" sz="1700" dirty="0" err="1">
                          <a:effectLst/>
                        </a:rPr>
                        <a:t>Theta</a:t>
                      </a:r>
                      <a:r>
                        <a:rPr lang="ru-RU" sz="1700" dirty="0">
                          <a:effectLst/>
                        </a:rPr>
                        <a:t>,</a:t>
                      </a:r>
                      <a:r>
                        <a:rPr lang="ru-RU" sz="1700" baseline="0" dirty="0">
                          <a:effectLst/>
                        </a:rPr>
                        <a:t> </a:t>
                      </a:r>
                      <a:r>
                        <a:rPr lang="en-US" sz="17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Prophet</a:t>
                      </a:r>
                      <a:endParaRPr lang="ru-RU" sz="17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SMAPE, MASE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ETS + RNN,</a:t>
                      </a:r>
                      <a:r>
                        <a:rPr lang="ru-RU" sz="1600" baseline="0" dirty="0">
                          <a:effectLst/>
                        </a:rPr>
                        <a:t> </a:t>
                      </a:r>
                      <a:r>
                        <a:rPr lang="ru-RU" sz="1600" dirty="0" err="1">
                          <a:effectLst/>
                        </a:rPr>
                        <a:t>Theta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Гибрид </a:t>
                      </a:r>
                      <a:r>
                        <a:rPr lang="en-US" sz="16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(</a:t>
                      </a:r>
                      <a:r>
                        <a:rPr lang="en-US" sz="16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DL+stat</a:t>
                      </a:r>
                      <a:r>
                        <a:rPr lang="en-US" sz="16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)</a:t>
                      </a:r>
                      <a:r>
                        <a:rPr lang="en-US" sz="1600" baseline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600" baseline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лучшие, </a:t>
                      </a:r>
                      <a:r>
                        <a:rPr lang="en-US" sz="1600" baseline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Theta – runner up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extLst>
                  <a:ext uri="{0D108BD9-81ED-4DB2-BD59-A6C34878D82A}">
                    <a16:rowId xmlns:a16="http://schemas.microsoft.com/office/drawing/2014/main" val="3166983177"/>
                  </a:ext>
                </a:extLst>
              </a:tr>
              <a:tr h="620908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M5 (2020)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600" dirty="0" err="1">
                          <a:effectLst/>
                        </a:rPr>
                        <a:t>Hierarchical</a:t>
                      </a:r>
                      <a:r>
                        <a:rPr lang="ru-RU" sz="1600" dirty="0">
                          <a:effectLst/>
                        </a:rPr>
                        <a:t>, </a:t>
                      </a:r>
                      <a:r>
                        <a:rPr lang="ru-RU" sz="1600" dirty="0" err="1">
                          <a:effectLst/>
                        </a:rPr>
                        <a:t>Multivariate</a:t>
                      </a:r>
                      <a:r>
                        <a:rPr lang="ru-RU" sz="1600" dirty="0">
                          <a:effectLst/>
                        </a:rPr>
                        <a:t> Продажи </a:t>
                      </a:r>
                      <a:r>
                        <a:rPr lang="ru-RU" sz="1600" dirty="0" err="1">
                          <a:effectLst/>
                        </a:rPr>
                        <a:t>Walmart</a:t>
                      </a:r>
                      <a:r>
                        <a:rPr lang="en-US" sz="1600" dirty="0">
                          <a:effectLst/>
                        </a:rPr>
                        <a:t> </a:t>
                      </a:r>
                      <a:r>
                        <a:rPr lang="ru-RU" sz="1600" dirty="0">
                          <a:effectLst/>
                        </a:rPr>
                        <a:t>на</a:t>
                      </a:r>
                      <a:r>
                        <a:rPr lang="ru-RU" sz="1600" baseline="0" dirty="0">
                          <a:effectLst/>
                        </a:rPr>
                        <a:t> месяц</a:t>
                      </a:r>
                      <a:r>
                        <a:rPr lang="ru-RU" sz="1600" dirty="0">
                          <a:effectLst/>
                        </a:rPr>
                        <a:t>, с категориальными признаками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Сложные огромные</a:t>
                      </a:r>
                      <a:r>
                        <a:rPr lang="ru-RU" sz="1600" baseline="0" dirty="0">
                          <a:effectLst/>
                        </a:rPr>
                        <a:t> </a:t>
                      </a:r>
                      <a:r>
                        <a:rPr lang="en-US" sz="1600" baseline="0" dirty="0">
                          <a:effectLst/>
                        </a:rPr>
                        <a:t>industrial</a:t>
                      </a:r>
                      <a:r>
                        <a:rPr lang="ru-RU" sz="1600" baseline="0" dirty="0">
                          <a:effectLst/>
                        </a:rPr>
                        <a:t> ВР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7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LightGBM</a:t>
                      </a:r>
                      <a:r>
                        <a:rPr lang="ru-RU" sz="17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ru-RU" sz="17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XGBoost</a:t>
                      </a:r>
                      <a:r>
                        <a:rPr lang="ru-RU" sz="17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en-US" sz="17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Transformer</a:t>
                      </a:r>
                      <a:endParaRPr lang="ru-RU" sz="17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WRMSSE,</a:t>
                      </a:r>
                      <a:r>
                        <a:rPr lang="ru-RU" sz="1600" baseline="0" dirty="0">
                          <a:effectLst/>
                        </a:rPr>
                        <a:t> </a:t>
                      </a:r>
                      <a:r>
                        <a:rPr lang="ru-RU" sz="1600" dirty="0" err="1">
                          <a:effectLst/>
                        </a:rPr>
                        <a:t>pinball</a:t>
                      </a:r>
                      <a:r>
                        <a:rPr lang="ru-RU" sz="1600" dirty="0">
                          <a:effectLst/>
                        </a:rPr>
                        <a:t> </a:t>
                      </a:r>
                      <a:r>
                        <a:rPr lang="ru-RU" sz="1600" dirty="0" err="1">
                          <a:effectLst/>
                        </a:rPr>
                        <a:t>loss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 err="1">
                          <a:effectLst/>
                        </a:rPr>
                        <a:t>LightGBM</a:t>
                      </a:r>
                      <a:r>
                        <a:rPr lang="en-US" sz="1600" dirty="0">
                          <a:effectLst/>
                        </a:rPr>
                        <a:t>+feature engineering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Продвинутый </a:t>
                      </a:r>
                      <a:r>
                        <a:rPr lang="ru-RU" sz="16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фичи</a:t>
                      </a:r>
                      <a:r>
                        <a:rPr lang="ru-RU" sz="1600" baseline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-</a:t>
                      </a:r>
                      <a:r>
                        <a:rPr lang="en-US" sz="1600" baseline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600" baseline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не хуже </a:t>
                      </a:r>
                      <a:r>
                        <a:rPr lang="en-US" sz="1600" baseline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DL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extLst>
                  <a:ext uri="{0D108BD9-81ED-4DB2-BD59-A6C34878D82A}">
                    <a16:rowId xmlns:a16="http://schemas.microsoft.com/office/drawing/2014/main" val="3531242361"/>
                  </a:ext>
                </a:extLst>
              </a:tr>
              <a:tr h="584729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M6 (2024)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 err="1">
                          <a:effectLst/>
                        </a:rPr>
                        <a:t>Multivariate</a:t>
                      </a:r>
                      <a:endParaRPr lang="ru-RU" sz="1600" dirty="0">
                        <a:effectLst/>
                      </a:endParaRPr>
                    </a:p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 err="1">
                          <a:effectLst/>
                        </a:rPr>
                        <a:t>Probabilistic</a:t>
                      </a:r>
                      <a:r>
                        <a:rPr lang="ru-RU" sz="1600" dirty="0">
                          <a:effectLst/>
                        </a:rPr>
                        <a:t>, Финансовые данные, 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Вероятностное</a:t>
                      </a:r>
                      <a:r>
                        <a:rPr lang="ru-RU" sz="1600" baseline="0" dirty="0">
                          <a:effectLst/>
                        </a:rPr>
                        <a:t> </a:t>
                      </a:r>
                      <a:r>
                        <a:rPr lang="ru-RU" sz="1600" dirty="0">
                          <a:effectLst/>
                        </a:rPr>
                        <a:t>Прогнозирование фин.</a:t>
                      </a:r>
                      <a:r>
                        <a:rPr lang="ru-RU" sz="1600" baseline="0" dirty="0">
                          <a:effectLst/>
                        </a:rPr>
                        <a:t> сектор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700" dirty="0" err="1">
                          <a:effectLst/>
                        </a:rPr>
                        <a:t>DeepAR</a:t>
                      </a:r>
                      <a:r>
                        <a:rPr lang="ru-RU" sz="1700" dirty="0">
                          <a:effectLst/>
                        </a:rPr>
                        <a:t>, </a:t>
                      </a:r>
                      <a:r>
                        <a:rPr lang="en-US" sz="17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AutoTS</a:t>
                      </a:r>
                      <a:r>
                        <a:rPr lang="ru-RU" sz="1700" dirty="0">
                          <a:effectLst/>
                        </a:rPr>
                        <a:t>, </a:t>
                      </a:r>
                      <a:r>
                        <a:rPr lang="en-US" sz="1700" dirty="0" err="1">
                          <a:effectLst/>
                        </a:rPr>
                        <a:t>TimeGPT</a:t>
                      </a:r>
                      <a:endParaRPr lang="ru-RU" sz="17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CRPS, </a:t>
                      </a:r>
                      <a:r>
                        <a:rPr lang="ru-RU" sz="1600" dirty="0" err="1">
                          <a:effectLst/>
                        </a:rPr>
                        <a:t>pinball</a:t>
                      </a:r>
                      <a:r>
                        <a:rPr lang="ru-RU" sz="1600" dirty="0">
                          <a:effectLst/>
                        </a:rPr>
                        <a:t> </a:t>
                      </a:r>
                      <a:r>
                        <a:rPr lang="ru-RU" sz="1600" dirty="0" err="1">
                          <a:effectLst/>
                        </a:rPr>
                        <a:t>loss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 </a:t>
                      </a:r>
                      <a:r>
                        <a:rPr lang="ru-RU" sz="1600" dirty="0">
                          <a:effectLst/>
                        </a:rPr>
                        <a:t>еще</a:t>
                      </a:r>
                      <a:r>
                        <a:rPr lang="ru-RU" sz="1600" baseline="0" dirty="0">
                          <a:effectLst/>
                        </a:rPr>
                        <a:t> идет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еще</a:t>
                      </a:r>
                      <a:r>
                        <a:rPr lang="ru-RU" sz="1600" baseline="0" dirty="0">
                          <a:effectLst/>
                        </a:rPr>
                        <a:t> идет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extLst>
                  <a:ext uri="{0D108BD9-81ED-4DB2-BD59-A6C34878D82A}">
                    <a16:rowId xmlns:a16="http://schemas.microsoft.com/office/drawing/2014/main" val="2449646058"/>
                  </a:ext>
                </a:extLst>
              </a:tr>
            </a:tbl>
          </a:graphicData>
        </a:graphic>
      </p:graphicFrame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6</a:t>
            </a:fld>
            <a:endParaRPr lang="en-US"/>
          </a:p>
        </p:txBody>
      </p:sp>
      <p:sp>
        <p:nvSpPr>
          <p:cNvPr id="6" name="Прямоугольник 5"/>
          <p:cNvSpPr/>
          <p:nvPr/>
        </p:nvSpPr>
        <p:spPr>
          <a:xfrm>
            <a:off x="0" y="7051740"/>
            <a:ext cx="11821887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400" dirty="0"/>
              <a:t>M6: </a:t>
            </a:r>
            <a:r>
              <a:rPr lang="ru-RU" sz="1400" dirty="0">
                <a:hlinkClick r:id="rId3"/>
              </a:rPr>
              <a:t>https://www.sciencedirect.com/science/article/pii/S0169207024001079</a:t>
            </a:r>
            <a:r>
              <a:rPr lang="en-US" sz="1400" dirty="0"/>
              <a:t> </a:t>
            </a:r>
            <a:r>
              <a:rPr lang="en-US" sz="1400" dirty="0">
                <a:hlinkClick r:id="rId4"/>
              </a:rPr>
              <a:t>https://m-e-gorelli.medium.com/how-i-won-6-000-in-the-m6-forecasting-competition-888df68bf132</a:t>
            </a:r>
            <a:r>
              <a:rPr lang="en-US" sz="1400" dirty="0"/>
              <a:t> </a:t>
            </a:r>
            <a:endParaRPr lang="ru-RU" sz="1400" dirty="0"/>
          </a:p>
        </p:txBody>
      </p:sp>
      <p:sp>
        <p:nvSpPr>
          <p:cNvPr id="7" name="Прямоугольник 6"/>
          <p:cNvSpPr/>
          <p:nvPr/>
        </p:nvSpPr>
        <p:spPr>
          <a:xfrm>
            <a:off x="0" y="6940274"/>
            <a:ext cx="13611498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00" dirty="0"/>
              <a:t>M5: </a:t>
            </a:r>
            <a:r>
              <a:rPr lang="ru-RU" sz="1200" dirty="0">
                <a:hlinkClick r:id="rId5"/>
              </a:rPr>
              <a:t>https://statmodeling.stat.columbia.edu/wp-content/uploads/2021/10/M5_accuracy_competition.pdf</a:t>
            </a:r>
            <a:r>
              <a:rPr lang="en-US" sz="1200" dirty="0"/>
              <a:t> , https://cienciadedatos.net/documentos/py61-m5-forecasting-competition</a:t>
            </a:r>
            <a:endParaRPr lang="ru-RU" sz="1200" dirty="0"/>
          </a:p>
        </p:txBody>
      </p:sp>
      <p:sp>
        <p:nvSpPr>
          <p:cNvPr id="8" name="Прямоугольник 7"/>
          <p:cNvSpPr/>
          <p:nvPr/>
        </p:nvSpPr>
        <p:spPr>
          <a:xfrm>
            <a:off x="300443" y="673479"/>
            <a:ext cx="11787053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000" dirty="0"/>
              <a:t>Соревнования </a:t>
            </a:r>
            <a:r>
              <a:rPr lang="ru-RU" sz="2000" dirty="0" err="1"/>
              <a:t>Макридакиса</a:t>
            </a:r>
            <a:r>
              <a:rPr lang="ru-RU" sz="2000" dirty="0"/>
              <a:t> (M-</a:t>
            </a:r>
            <a:r>
              <a:rPr lang="ru-RU" sz="2000" dirty="0" err="1"/>
              <a:t>Competitions</a:t>
            </a:r>
            <a:r>
              <a:rPr lang="ru-RU" sz="2000" dirty="0"/>
              <a:t>) - открытые соревнования по оценке и сравнению точности различных методов прогнозирования временных рядов.</a:t>
            </a:r>
            <a:r>
              <a:rPr lang="en-US" sz="2000" dirty="0"/>
              <a:t> </a:t>
            </a:r>
            <a:r>
              <a:rPr lang="en-US" sz="2000" dirty="0">
                <a:hlinkClick r:id="rId6"/>
              </a:rPr>
              <a:t>en.wikipedia.org/wiki/</a:t>
            </a:r>
            <a:r>
              <a:rPr lang="en-US" sz="2000" dirty="0" err="1">
                <a:hlinkClick r:id="rId6"/>
              </a:rPr>
              <a:t>Makridakis_Competitions</a:t>
            </a:r>
            <a:r>
              <a:rPr lang="en-US" sz="2000" dirty="0"/>
              <a:t> </a:t>
            </a:r>
            <a:endParaRPr lang="ru-RU" sz="2000" dirty="0"/>
          </a:p>
        </p:txBody>
      </p:sp>
      <p:sp>
        <p:nvSpPr>
          <p:cNvPr id="9" name="Прямоугольник 8"/>
          <p:cNvSpPr/>
          <p:nvPr/>
        </p:nvSpPr>
        <p:spPr>
          <a:xfrm>
            <a:off x="296089" y="6207821"/>
            <a:ext cx="11057711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00" dirty="0"/>
              <a:t>https://www.sciencedirect.com/science/article/pii/S0169207024001079 https://statmodeling.stat.columbia.edu/wp-content/uploads/2021/10/M5_accuracy_competition.pdf  https://cienciadedatos.net/documentos/py61-m5-forecasting-competition https://forecasters.org/resources/time-series-data/</a:t>
            </a:r>
            <a:endParaRPr lang="ru-RU" sz="1200" dirty="0"/>
          </a:p>
        </p:txBody>
      </p:sp>
    </p:spTree>
    <p:extLst>
      <p:ext uri="{BB962C8B-B14F-4D97-AF65-F5344CB8AC3E}">
        <p14:creationId xmlns:p14="http://schemas.microsoft.com/office/powerpoint/2010/main" val="35698451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00443" y="102210"/>
            <a:ext cx="10927080" cy="557984"/>
          </a:xfrm>
        </p:spPr>
        <p:txBody>
          <a:bodyPr>
            <a:normAutofit fontScale="90000"/>
          </a:bodyPr>
          <a:lstStyle/>
          <a:p>
            <a:r>
              <a:rPr lang="ru-RU" dirty="0" err="1"/>
              <a:t>Бенчмарки</a:t>
            </a:r>
            <a:r>
              <a:rPr lang="ru-RU" dirty="0"/>
              <a:t> предсказания временных рядов</a:t>
            </a:r>
          </a:p>
        </p:txBody>
      </p:sp>
      <p:graphicFrame>
        <p:nvGraphicFramePr>
          <p:cNvPr id="5" name="Объект 4"/>
          <p:cNvGraphicFramePr>
            <a:graphicFrameLocks noGrp="1"/>
          </p:cNvGraphicFramePr>
          <p:nvPr>
            <p:ph idx="1"/>
          </p:nvPr>
        </p:nvGraphicFramePr>
        <p:xfrm>
          <a:off x="300443" y="587484"/>
          <a:ext cx="11521444" cy="5862434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772197">
                  <a:extLst>
                    <a:ext uri="{9D8B030D-6E8A-4147-A177-3AD203B41FA5}">
                      <a16:colId xmlns:a16="http://schemas.microsoft.com/office/drawing/2014/main" val="361956609"/>
                    </a:ext>
                  </a:extLst>
                </a:gridCol>
                <a:gridCol w="2090057">
                  <a:extLst>
                    <a:ext uri="{9D8B030D-6E8A-4147-A177-3AD203B41FA5}">
                      <a16:colId xmlns:a16="http://schemas.microsoft.com/office/drawing/2014/main" val="3343733240"/>
                    </a:ext>
                  </a:extLst>
                </a:gridCol>
                <a:gridCol w="1436914">
                  <a:extLst>
                    <a:ext uri="{9D8B030D-6E8A-4147-A177-3AD203B41FA5}">
                      <a16:colId xmlns:a16="http://schemas.microsoft.com/office/drawing/2014/main" val="1153032671"/>
                    </a:ext>
                  </a:extLst>
                </a:gridCol>
                <a:gridCol w="1619924">
                  <a:extLst>
                    <a:ext uri="{9D8B030D-6E8A-4147-A177-3AD203B41FA5}">
                      <a16:colId xmlns:a16="http://schemas.microsoft.com/office/drawing/2014/main" val="2248710687"/>
                    </a:ext>
                  </a:extLst>
                </a:gridCol>
                <a:gridCol w="1210362">
                  <a:extLst>
                    <a:ext uri="{9D8B030D-6E8A-4147-A177-3AD203B41FA5}">
                      <a16:colId xmlns:a16="http://schemas.microsoft.com/office/drawing/2014/main" val="1572364774"/>
                    </a:ext>
                  </a:extLst>
                </a:gridCol>
                <a:gridCol w="1532709">
                  <a:extLst>
                    <a:ext uri="{9D8B030D-6E8A-4147-A177-3AD203B41FA5}">
                      <a16:colId xmlns:a16="http://schemas.microsoft.com/office/drawing/2014/main" val="428262337"/>
                    </a:ext>
                  </a:extLst>
                </a:gridCol>
                <a:gridCol w="1859281">
                  <a:extLst>
                    <a:ext uri="{9D8B030D-6E8A-4147-A177-3AD203B41FA5}">
                      <a16:colId xmlns:a16="http://schemas.microsoft.com/office/drawing/2014/main" val="584638817"/>
                    </a:ext>
                  </a:extLst>
                </a:gridCol>
              </a:tblGrid>
              <a:tr h="259985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  <a:latin typeface="+mn-lt"/>
                          <a:ea typeface="+mn-ea"/>
                          <a:cs typeface="+mn-cs"/>
                        </a:rPr>
                        <a:t>bench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 dirty="0">
                          <a:effectLst/>
                          <a:latin typeface="+mn-lt"/>
                          <a:ea typeface="+mn-ea"/>
                          <a:cs typeface="+mn-cs"/>
                        </a:rPr>
                        <a:t>Данные/задачи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 dirty="0">
                          <a:effectLst/>
                        </a:rPr>
                        <a:t>Цель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 dirty="0">
                          <a:effectLst/>
                        </a:rPr>
                        <a:t>Модели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>
                          <a:effectLst/>
                        </a:rPr>
                        <a:t>Метрики</a:t>
                      </a:r>
                      <a:endParaRPr lang="ru-RU" sz="18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 dirty="0">
                          <a:effectLst/>
                        </a:rPr>
                        <a:t>Победители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Выводы </a:t>
                      </a:r>
                    </a:p>
                  </a:txBody>
                  <a:tcPr marL="4248" marR="4248" marT="4248" marB="4248" anchor="ctr"/>
                </a:tc>
                <a:extLst>
                  <a:ext uri="{0D108BD9-81ED-4DB2-BD59-A6C34878D82A}">
                    <a16:rowId xmlns:a16="http://schemas.microsoft.com/office/drawing/2014/main" val="1178824914"/>
                  </a:ext>
                </a:extLst>
              </a:tr>
              <a:tr h="1027085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 b="1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Температура трансформатора</a:t>
                      </a:r>
                      <a:r>
                        <a:rPr lang="ru-RU" sz="1800" b="1" baseline="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800" b="1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ETT (h/m) 2021</a:t>
                      </a:r>
                      <a:endParaRPr lang="ru-RU" sz="18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 dirty="0" err="1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Multivariate</a:t>
                      </a:r>
                      <a:r>
                        <a:rPr lang="ru-RU" sz="180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(час,</a:t>
                      </a:r>
                      <a:r>
                        <a:rPr lang="ru-RU" sz="1800" baseline="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15 минут и </a:t>
                      </a:r>
                      <a:r>
                        <a:rPr lang="ru-RU" sz="1800" baseline="0" dirty="0" err="1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тд</a:t>
                      </a:r>
                      <a:r>
                        <a:rPr lang="ru-RU" sz="180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), 39 ВР+4 </a:t>
                      </a:r>
                      <a:r>
                        <a:rPr lang="ru-RU" sz="1800" dirty="0" err="1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экзоген</a:t>
                      </a:r>
                      <a:r>
                        <a:rPr lang="ru-RU" sz="1800" baseline="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парам.  горизонты (</a:t>
                      </a:r>
                      <a:r>
                        <a:rPr lang="ru-RU" sz="1800" dirty="0"/>
                        <a:t>96-720)</a:t>
                      </a:r>
                      <a:endParaRPr lang="ru-RU" sz="18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DL-прогноз сложных ВР</a:t>
                      </a:r>
                      <a:endParaRPr lang="ru-RU" sz="18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80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800" dirty="0" err="1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Transformer</a:t>
                      </a:r>
                      <a:r>
                        <a:rPr lang="ru-RU" sz="180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n-US" sz="180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LSTM,</a:t>
                      </a:r>
                      <a:r>
                        <a:rPr lang="ru-RU" sz="180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N-BEATS, </a:t>
                      </a:r>
                      <a:r>
                        <a:rPr lang="ru-RU" sz="1800" dirty="0" err="1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DLinear</a:t>
                      </a:r>
                      <a:endParaRPr lang="ru-RU" sz="18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80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MAE, MSE</a:t>
                      </a:r>
                      <a:endParaRPr lang="ru-RU" sz="18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endParaRPr lang="ru-RU" sz="18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latin typeface="+mn-lt"/>
                        </a:rPr>
                        <a:t>PatchTST</a:t>
                      </a:r>
                      <a:r>
                        <a:rPr lang="en-US" sz="1800" dirty="0">
                          <a:latin typeface="+mn-lt"/>
                        </a:rPr>
                        <a:t>, </a:t>
                      </a:r>
                      <a:r>
                        <a:rPr lang="en-US" sz="1800" dirty="0" err="1">
                          <a:latin typeface="+mn-lt"/>
                        </a:rPr>
                        <a:t>DLinear</a:t>
                      </a:r>
                      <a:endParaRPr lang="ru-RU" sz="18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800" dirty="0" err="1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Трансформер</a:t>
                      </a:r>
                      <a:r>
                        <a:rPr lang="en-US" sz="180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80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работает на </a:t>
                      </a:r>
                      <a:r>
                        <a:rPr lang="en-US" sz="180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long</a:t>
                      </a:r>
                      <a:r>
                        <a:rPr lang="en-US" sz="1800" baseline="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aseline="0" dirty="0" err="1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horzon</a:t>
                      </a:r>
                      <a:endParaRPr lang="ru-RU" sz="18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4182936149"/>
                  </a:ext>
                </a:extLst>
              </a:tr>
              <a:tr h="521743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800" dirty="0"/>
                        <a:t>Electricity</a:t>
                      </a:r>
                      <a:r>
                        <a:rPr lang="en-US" sz="1800" baseline="0" dirty="0"/>
                        <a:t> Load E</a:t>
                      </a:r>
                      <a:r>
                        <a:rPr lang="en-US" sz="1800" dirty="0"/>
                        <a:t>CL</a:t>
                      </a:r>
                      <a:r>
                        <a:rPr lang="ru-RU" sz="1800" dirty="0"/>
                        <a:t> 2012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800" dirty="0"/>
                        <a:t>Multivariate</a:t>
                      </a:r>
                      <a:r>
                        <a:rPr lang="ru-RU" sz="1800" dirty="0"/>
                        <a:t> 370 клиентов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DL-прогноз сложных ВР</a:t>
                      </a:r>
                      <a:endParaRPr lang="ru-RU" sz="18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800" dirty="0"/>
                        <a:t>CNN, LSTM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80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MAE, MSE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800" dirty="0"/>
                        <a:t>CNN, LSTM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DL </a:t>
                      </a:r>
                      <a:r>
                        <a:rPr lang="ru-RU" sz="18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набольших</a:t>
                      </a:r>
                      <a:r>
                        <a:rPr lang="ru-RU" sz="1800" baseline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aseline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industrial </a:t>
                      </a:r>
                      <a:r>
                        <a:rPr lang="ru-RU" sz="1800" baseline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наборах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464545700"/>
                  </a:ext>
                </a:extLst>
              </a:tr>
              <a:tr h="774414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 dirty="0" err="1">
                          <a:effectLst/>
                        </a:rPr>
                        <a:t>TimeRecipe</a:t>
                      </a:r>
                      <a:r>
                        <a:rPr lang="ru-RU" sz="1800" dirty="0">
                          <a:effectLst/>
                        </a:rPr>
                        <a:t> (2025)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 dirty="0" err="1">
                          <a:effectLst/>
                        </a:rPr>
                        <a:t>Univariate</a:t>
                      </a:r>
                      <a:r>
                        <a:rPr lang="ru-RU" sz="1800" dirty="0">
                          <a:effectLst/>
                        </a:rPr>
                        <a:t>, </a:t>
                      </a:r>
                      <a:r>
                        <a:rPr lang="ru-RU" sz="1800" dirty="0" err="1">
                          <a:effectLst/>
                        </a:rPr>
                        <a:t>Multivariate</a:t>
                      </a:r>
                      <a:r>
                        <a:rPr lang="ru-RU" sz="1800" dirty="0">
                          <a:effectLst/>
                        </a:rPr>
                        <a:t>, </a:t>
                      </a:r>
                      <a:r>
                        <a:rPr lang="ru-RU" sz="1800" dirty="0" err="1">
                          <a:effectLst/>
                        </a:rPr>
                        <a:t>Long-horizon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 dirty="0">
                          <a:effectLst/>
                        </a:rPr>
                        <a:t>Эксперименты с </a:t>
                      </a:r>
                      <a:r>
                        <a:rPr lang="en-US" sz="1800" dirty="0">
                          <a:effectLst/>
                        </a:rPr>
                        <a:t>DL</a:t>
                      </a:r>
                      <a:r>
                        <a:rPr lang="en-US" sz="1800" baseline="0" dirty="0">
                          <a:effectLst/>
                        </a:rPr>
                        <a:t> </a:t>
                      </a:r>
                      <a:r>
                        <a:rPr lang="ru-RU" sz="1800" baseline="0" dirty="0">
                          <a:effectLst/>
                        </a:rPr>
                        <a:t>моделями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 dirty="0">
                          <a:effectLst/>
                        </a:rPr>
                        <a:t>NHITS, </a:t>
                      </a:r>
                      <a:r>
                        <a:rPr lang="ru-RU" sz="1800" dirty="0" err="1">
                          <a:effectLst/>
                        </a:rPr>
                        <a:t>NBEATSx</a:t>
                      </a:r>
                      <a:r>
                        <a:rPr lang="ru-RU" sz="1800" dirty="0">
                          <a:effectLst/>
                        </a:rPr>
                        <a:t>, </a:t>
                      </a:r>
                      <a:r>
                        <a:rPr lang="ru-RU" sz="1800" dirty="0" err="1">
                          <a:effectLst/>
                        </a:rPr>
                        <a:t>PatchTST</a:t>
                      </a:r>
                      <a:r>
                        <a:rPr lang="ru-RU" sz="1800" dirty="0">
                          <a:effectLst/>
                        </a:rPr>
                        <a:t>, LSTM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 dirty="0">
                          <a:effectLst/>
                        </a:rPr>
                        <a:t>MAE, MSE, </a:t>
                      </a:r>
                      <a:r>
                        <a:rPr lang="ru-RU" sz="1800" dirty="0" err="1">
                          <a:effectLst/>
                        </a:rPr>
                        <a:t>sMAPE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700" dirty="0">
                          <a:effectLst/>
                        </a:rPr>
                        <a:t>N-HITS, </a:t>
                      </a:r>
                      <a:r>
                        <a:rPr lang="ru-RU" sz="1700" dirty="0" err="1">
                          <a:effectLst/>
                        </a:rPr>
                        <a:t>PatchTST</a:t>
                      </a:r>
                      <a:r>
                        <a:rPr lang="ru-RU" sz="1700" dirty="0">
                          <a:effectLst/>
                        </a:rPr>
                        <a:t>, </a:t>
                      </a:r>
                      <a:r>
                        <a:rPr lang="ru-RU" sz="1700" dirty="0" err="1">
                          <a:effectLst/>
                        </a:rPr>
                        <a:t>DLinear</a:t>
                      </a:r>
                      <a:r>
                        <a:rPr lang="ru-RU" sz="1700" dirty="0">
                          <a:effectLst/>
                        </a:rPr>
                        <a:t> </a:t>
                      </a:r>
                      <a:endParaRPr lang="ru-RU" sz="17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Нет</a:t>
                      </a:r>
                      <a:r>
                        <a:rPr lang="ru-RU" sz="1800" baseline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универсального победителя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348426979"/>
                  </a:ext>
                </a:extLst>
              </a:tr>
              <a:tr h="774414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 dirty="0" err="1">
                          <a:effectLst/>
                        </a:rPr>
                        <a:t>ProbTS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Probabilistic</a:t>
                      </a:r>
                      <a:r>
                        <a:rPr lang="ru-RU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ru-RU" sz="1800" dirty="0" err="1">
                          <a:effectLst/>
                        </a:rPr>
                        <a:t>Multivariate</a:t>
                      </a:r>
                      <a:r>
                        <a:rPr lang="en-US" sz="1800" dirty="0">
                          <a:effectLst/>
                        </a:rPr>
                        <a:t>, </a:t>
                      </a:r>
                      <a:r>
                        <a:rPr lang="ru-RU" sz="1800" dirty="0" err="1">
                          <a:effectLst/>
                        </a:rPr>
                        <a:t>Univariate</a:t>
                      </a:r>
                      <a:endParaRPr lang="ru-RU" sz="18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 dirty="0" err="1">
                          <a:effectLst/>
                        </a:rPr>
                        <a:t>Бенчмаркинг</a:t>
                      </a:r>
                      <a:r>
                        <a:rPr lang="ru-RU" sz="1800" dirty="0">
                          <a:effectLst/>
                        </a:rPr>
                        <a:t> вероятностных моделей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 dirty="0" err="1">
                          <a:effectLst/>
                        </a:rPr>
                        <a:t>DeepAR</a:t>
                      </a:r>
                      <a:r>
                        <a:rPr lang="ru-RU" sz="1800" dirty="0">
                          <a:effectLst/>
                        </a:rPr>
                        <a:t>, TFT, </a:t>
                      </a:r>
                      <a:r>
                        <a:rPr lang="ru-RU" sz="1800" dirty="0" err="1">
                          <a:effectLst/>
                        </a:rPr>
                        <a:t>Prophet</a:t>
                      </a:r>
                      <a:r>
                        <a:rPr lang="ru-RU" sz="1800" dirty="0">
                          <a:effectLst/>
                        </a:rPr>
                        <a:t>, </a:t>
                      </a:r>
                      <a:r>
                        <a:rPr lang="ru-RU" sz="1800" dirty="0" err="1">
                          <a:effectLst/>
                        </a:rPr>
                        <a:t>Copula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 dirty="0">
                          <a:effectLst/>
                        </a:rPr>
                        <a:t>CRPS, </a:t>
                      </a:r>
                      <a:r>
                        <a:rPr lang="ru-RU" sz="1800" dirty="0" err="1">
                          <a:effectLst/>
                        </a:rPr>
                        <a:t>Quantile</a:t>
                      </a:r>
                      <a:r>
                        <a:rPr lang="ru-RU" sz="1800" dirty="0">
                          <a:effectLst/>
                        </a:rPr>
                        <a:t> </a:t>
                      </a:r>
                      <a:r>
                        <a:rPr lang="ru-RU" sz="1800" dirty="0" err="1">
                          <a:effectLst/>
                        </a:rPr>
                        <a:t>loss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</a:rPr>
                        <a:t>-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  <a:latin typeface="+mn-lt"/>
                          <a:ea typeface="+mn-ea"/>
                          <a:cs typeface="+mn-cs"/>
                        </a:rPr>
                        <a:t>DL</a:t>
                      </a:r>
                      <a:r>
                        <a:rPr lang="en-US" sz="1800" baseline="0" dirty="0"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800" baseline="0" dirty="0">
                          <a:effectLst/>
                          <a:latin typeface="+mn-lt"/>
                          <a:ea typeface="+mn-ea"/>
                          <a:cs typeface="+mn-cs"/>
                        </a:rPr>
                        <a:t>умеет делать вероятностное прогнозирование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062539383"/>
                  </a:ext>
                </a:extLst>
              </a:tr>
              <a:tr h="91490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 dirty="0" err="1">
                          <a:effectLst/>
                        </a:rPr>
                        <a:t>Monash</a:t>
                      </a:r>
                      <a:r>
                        <a:rPr lang="ru-RU" sz="1800" dirty="0">
                          <a:effectLst/>
                        </a:rPr>
                        <a:t> TS </a:t>
                      </a:r>
                      <a:r>
                        <a:rPr lang="ru-RU" sz="1800" dirty="0" err="1">
                          <a:effectLst/>
                        </a:rPr>
                        <a:t>Forecasting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M1-M4, Tourism, </a:t>
                      </a:r>
                      <a:r>
                        <a:rPr lang="en-US" sz="18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Trafic</a:t>
                      </a:r>
                      <a:r>
                        <a:rPr lang="en-US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Weather,</a:t>
                      </a:r>
                      <a:r>
                        <a:rPr lang="ru-RU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8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Electricity</a:t>
                      </a:r>
                      <a:r>
                        <a:rPr lang="en-US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</a:t>
                      </a:r>
                      <a:r>
                        <a:rPr lang="ru-RU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и </a:t>
                      </a:r>
                      <a:r>
                        <a:rPr lang="ru-RU" sz="18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тд</a:t>
                      </a:r>
                      <a:endParaRPr lang="ru-RU" sz="18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 dirty="0" err="1">
                          <a:effectLst/>
                        </a:rPr>
                        <a:t>academic</a:t>
                      </a:r>
                      <a:r>
                        <a:rPr lang="ru-RU" sz="1800" dirty="0">
                          <a:effectLst/>
                        </a:rPr>
                        <a:t> </a:t>
                      </a:r>
                      <a:r>
                        <a:rPr lang="ru-RU" sz="1800" dirty="0" err="1">
                          <a:effectLst/>
                        </a:rPr>
                        <a:t>бенчмарк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n-lt"/>
                          <a:ea typeface="+mn-ea"/>
                          <a:cs typeface="+mn-cs"/>
                        </a:rPr>
                        <a:t>ARIMA,</a:t>
                      </a:r>
                      <a:r>
                        <a:rPr lang="en-US" sz="1600" baseline="0" dirty="0">
                          <a:effectLst/>
                          <a:latin typeface="+mn-lt"/>
                          <a:ea typeface="+mn-ea"/>
                          <a:cs typeface="+mn-cs"/>
                        </a:rPr>
                        <a:t> Prophet, N-BEATS, D-Linear, </a:t>
                      </a:r>
                      <a:r>
                        <a:rPr lang="en-US" sz="1600" baseline="0" dirty="0" err="1">
                          <a:effectLst/>
                          <a:latin typeface="+mn-lt"/>
                          <a:ea typeface="+mn-ea"/>
                          <a:cs typeface="+mn-cs"/>
                        </a:rPr>
                        <a:t>PatchTST</a:t>
                      </a:r>
                      <a:r>
                        <a:rPr lang="en-US" sz="1600" baseline="0" dirty="0"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en-US" sz="1600" baseline="0" dirty="0" err="1">
                          <a:effectLst/>
                          <a:latin typeface="+mn-lt"/>
                          <a:ea typeface="+mn-ea"/>
                          <a:cs typeface="+mn-cs"/>
                        </a:rPr>
                        <a:t>TimesFM</a:t>
                      </a:r>
                      <a:r>
                        <a:rPr lang="en-US" sz="1600" baseline="0" dirty="0">
                          <a:effectLst/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lang="en-US" sz="1600" baseline="0" dirty="0" err="1">
                          <a:effectLst/>
                          <a:latin typeface="+mn-lt"/>
                          <a:ea typeface="+mn-ea"/>
                          <a:cs typeface="+mn-cs"/>
                        </a:rPr>
                        <a:t>zs</a:t>
                      </a:r>
                      <a:r>
                        <a:rPr lang="en-US" sz="1600" baseline="0" dirty="0">
                          <a:effectLst/>
                          <a:latin typeface="+mn-lt"/>
                          <a:ea typeface="+mn-ea"/>
                          <a:cs typeface="+mn-cs"/>
                        </a:rPr>
                        <a:t>), </a:t>
                      </a:r>
                      <a:r>
                        <a:rPr lang="en-US" sz="1600" baseline="0" dirty="0" err="1">
                          <a:effectLst/>
                          <a:latin typeface="+mn-lt"/>
                          <a:ea typeface="+mn-ea"/>
                          <a:cs typeface="+mn-cs"/>
                        </a:rPr>
                        <a:t>catboost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</a:rPr>
                        <a:t>MASE,</a:t>
                      </a:r>
                      <a:r>
                        <a:rPr lang="en-US" sz="1800" baseline="0" dirty="0">
                          <a:effectLst/>
                        </a:rPr>
                        <a:t> MAE, SMAPE, </a:t>
                      </a: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RMSE</a:t>
                      </a:r>
                      <a:r>
                        <a:rPr lang="ru-RU" sz="1800" baseline="0" dirty="0">
                          <a:effectLst/>
                        </a:rPr>
                        <a:t> 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-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-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531242361"/>
                  </a:ext>
                </a:extLst>
              </a:tr>
              <a:tr h="774414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gift-</a:t>
                      </a:r>
                      <a:r>
                        <a:rPr lang="en-US" sz="18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eval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800" dirty="0" err="1">
                          <a:effectLst/>
                        </a:rPr>
                        <a:t>Monash</a:t>
                      </a:r>
                      <a:r>
                        <a:rPr lang="en-US" sz="1800" dirty="0">
                          <a:effectLst/>
                        </a:rPr>
                        <a:t>+3 </a:t>
                      </a:r>
                      <a:r>
                        <a:rPr lang="ru-RU" sz="1800" dirty="0">
                          <a:effectLst/>
                        </a:rPr>
                        <a:t>бенча</a:t>
                      </a:r>
                      <a:br>
                        <a:rPr lang="ru-RU" sz="1800" dirty="0">
                          <a:effectLst/>
                        </a:rPr>
                      </a:br>
                      <a:r>
                        <a:rPr lang="ru-RU" sz="1800" dirty="0">
                          <a:effectLst/>
                        </a:rPr>
                        <a:t>Разные задачи</a:t>
                      </a:r>
                      <a:endParaRPr lang="ru-RU" sz="18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8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Тест </a:t>
                      </a:r>
                      <a:r>
                        <a:rPr lang="ru-RU" sz="18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современ</a:t>
                      </a:r>
                      <a:r>
                        <a:rPr lang="ru-RU" sz="18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. Моделей</a:t>
                      </a:r>
                      <a:r>
                        <a:rPr lang="ru-RU" sz="1800" baseline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baseline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TS LLM</a:t>
                      </a:r>
                      <a:r>
                        <a:rPr lang="ru-RU" sz="1600" baseline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n-US" sz="1600" baseline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new RNN, Transformers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MASE,</a:t>
                      </a:r>
                      <a:r>
                        <a:rPr lang="en-US" sz="1800" baseline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CRPS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xLSTM</a:t>
                      </a:r>
                      <a:r>
                        <a:rPr lang="en-US" sz="18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,</a:t>
                      </a:r>
                      <a:r>
                        <a:rPr lang="en-US" sz="1800" baseline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aseline="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Moria</a:t>
                      </a:r>
                      <a:r>
                        <a:rPr lang="en-US" sz="1800" baseline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(</a:t>
                      </a:r>
                      <a:r>
                        <a:rPr lang="en-US" sz="1800" baseline="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zs</a:t>
                      </a:r>
                      <a:r>
                        <a:rPr lang="en-US" sz="1800" baseline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), </a:t>
                      </a:r>
                      <a:r>
                        <a:rPr lang="en-US" sz="1800" baseline="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Chronos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LLM </a:t>
                      </a:r>
                      <a:r>
                        <a:rPr lang="ru-RU" sz="1800" baseline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на очень больших данных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79962123"/>
                  </a:ext>
                </a:extLst>
              </a:tr>
            </a:tbl>
          </a:graphicData>
        </a:graphic>
      </p:graphicFrame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7</a:t>
            </a:fld>
            <a:endParaRPr lang="en-US" dirty="0"/>
          </a:p>
        </p:txBody>
      </p:sp>
      <p:sp>
        <p:nvSpPr>
          <p:cNvPr id="3" name="Прямоугольник 2"/>
          <p:cNvSpPr/>
          <p:nvPr/>
        </p:nvSpPr>
        <p:spPr>
          <a:xfrm>
            <a:off x="94486" y="6502660"/>
            <a:ext cx="291425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400" dirty="0"/>
              <a:t>https://github.com/microsoft/ProbTS</a:t>
            </a:r>
          </a:p>
        </p:txBody>
      </p:sp>
      <p:sp>
        <p:nvSpPr>
          <p:cNvPr id="10" name="Прямоугольник 9"/>
          <p:cNvSpPr/>
          <p:nvPr/>
        </p:nvSpPr>
        <p:spPr>
          <a:xfrm>
            <a:off x="3008745" y="6514123"/>
            <a:ext cx="2236253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400" dirty="0"/>
              <a:t>https://forecastingdata.org/</a:t>
            </a:r>
          </a:p>
        </p:txBody>
      </p:sp>
      <p:sp>
        <p:nvSpPr>
          <p:cNvPr id="11" name="Прямоугольник 10"/>
          <p:cNvSpPr/>
          <p:nvPr/>
        </p:nvSpPr>
        <p:spPr>
          <a:xfrm>
            <a:off x="5185965" y="6548681"/>
            <a:ext cx="288732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400" dirty="0"/>
              <a:t>https://arxiv.org/html/2506.06482v1</a:t>
            </a:r>
          </a:p>
        </p:txBody>
      </p:sp>
      <p:sp>
        <p:nvSpPr>
          <p:cNvPr id="12" name="Прямоугольник 11"/>
          <p:cNvSpPr/>
          <p:nvPr/>
        </p:nvSpPr>
        <p:spPr>
          <a:xfrm>
            <a:off x="8190370" y="6550223"/>
            <a:ext cx="316343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400" dirty="0"/>
              <a:t>https://paperswithcode.com/dataset/ett</a:t>
            </a:r>
          </a:p>
        </p:txBody>
      </p:sp>
      <p:sp>
        <p:nvSpPr>
          <p:cNvPr id="13" name="Прямоугольник 12"/>
          <p:cNvSpPr/>
          <p:nvPr/>
        </p:nvSpPr>
        <p:spPr>
          <a:xfrm>
            <a:off x="94486" y="6337308"/>
            <a:ext cx="438632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400" dirty="0"/>
              <a:t>https://paperswithcode.com/task/time-series-forecasting</a:t>
            </a:r>
          </a:p>
        </p:txBody>
      </p:sp>
      <p:sp>
        <p:nvSpPr>
          <p:cNvPr id="14" name="Прямоугольник 13"/>
          <p:cNvSpPr/>
          <p:nvPr/>
        </p:nvSpPr>
        <p:spPr>
          <a:xfrm>
            <a:off x="4439524" y="6321918"/>
            <a:ext cx="391677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400" dirty="0"/>
              <a:t>https://github.com/SalesforceAIResearch/gift-eval/</a:t>
            </a:r>
          </a:p>
        </p:txBody>
      </p:sp>
      <p:sp>
        <p:nvSpPr>
          <p:cNvPr id="15" name="Прямоугольник 14"/>
          <p:cNvSpPr/>
          <p:nvPr/>
        </p:nvSpPr>
        <p:spPr>
          <a:xfrm>
            <a:off x="8522233" y="6352696"/>
            <a:ext cx="3406253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200" dirty="0"/>
              <a:t>https://huggingface.co/spaces/Salesforce/GIFT-Eval</a:t>
            </a:r>
          </a:p>
        </p:txBody>
      </p:sp>
    </p:spTree>
    <p:extLst>
      <p:ext uri="{BB962C8B-B14F-4D97-AF65-F5344CB8AC3E}">
        <p14:creationId xmlns:p14="http://schemas.microsoft.com/office/powerpoint/2010/main" val="17365171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13509" y="365126"/>
            <a:ext cx="11040291" cy="601526"/>
          </a:xfrm>
        </p:spPr>
        <p:txBody>
          <a:bodyPr>
            <a:normAutofit fontScale="90000"/>
          </a:bodyPr>
          <a:lstStyle/>
          <a:p>
            <a:r>
              <a:rPr lang="ru-RU" dirty="0"/>
              <a:t>Основные выводы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8</a:t>
            </a:fld>
            <a:endParaRPr lang="en-US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13509" y="966652"/>
            <a:ext cx="11040291" cy="5210311"/>
          </a:xfrm>
        </p:spPr>
        <p:txBody>
          <a:bodyPr/>
          <a:lstStyle/>
          <a:p>
            <a:r>
              <a:rPr lang="en-US" dirty="0"/>
              <a:t>ARIMA, ETS</a:t>
            </a:r>
            <a:r>
              <a:rPr lang="en-US"/>
              <a:t>, Prophet  </a:t>
            </a:r>
            <a:r>
              <a:rPr lang="ru-RU" dirty="0" err="1"/>
              <a:t>бейзлайны</a:t>
            </a:r>
            <a:r>
              <a:rPr lang="ru-RU" dirty="0"/>
              <a:t> + </a:t>
            </a:r>
            <a:r>
              <a:rPr lang="en-US" dirty="0"/>
              <a:t>LSTM </a:t>
            </a:r>
            <a:r>
              <a:rPr lang="ru-RU" dirty="0"/>
              <a:t>(для многомерных ВР)</a:t>
            </a:r>
          </a:p>
          <a:p>
            <a:r>
              <a:rPr lang="ru-RU" dirty="0"/>
              <a:t>Часто необходимо вероятностное </a:t>
            </a:r>
            <a:r>
              <a:rPr lang="ru-RU" dirty="0" err="1"/>
              <a:t>прогназирование</a:t>
            </a:r>
            <a:endParaRPr lang="ru-RU" dirty="0"/>
          </a:p>
          <a:p>
            <a:r>
              <a:rPr lang="ru-RU" dirty="0"/>
              <a:t>Для коротких горизонтов и простых ВР стат. Методы работают отлично даже для </a:t>
            </a:r>
            <a:r>
              <a:rPr lang="ru-RU" dirty="0" err="1"/>
              <a:t>многопеременных</a:t>
            </a:r>
            <a:r>
              <a:rPr lang="ru-RU" dirty="0"/>
              <a:t> ВР</a:t>
            </a:r>
          </a:p>
          <a:p>
            <a:r>
              <a:rPr lang="ru-RU" dirty="0"/>
              <a:t>Для более сложных ВР гибридные методы: </a:t>
            </a:r>
            <a:r>
              <a:rPr lang="ru-RU" dirty="0" err="1"/>
              <a:t>стат.методы</a:t>
            </a:r>
            <a:r>
              <a:rPr lang="ru-RU" dirty="0"/>
              <a:t> + </a:t>
            </a:r>
            <a:r>
              <a:rPr lang="en-US" dirty="0"/>
              <a:t>DL </a:t>
            </a:r>
          </a:p>
          <a:p>
            <a:r>
              <a:rPr lang="ru-RU" dirty="0"/>
              <a:t>Для средних горизонтов </a:t>
            </a:r>
            <a:r>
              <a:rPr lang="en-US" dirty="0"/>
              <a:t>DL </a:t>
            </a:r>
            <a:r>
              <a:rPr lang="ru-RU" dirty="0"/>
              <a:t>можно заменить на </a:t>
            </a:r>
            <a:r>
              <a:rPr lang="en-US" dirty="0"/>
              <a:t>ML </a:t>
            </a:r>
            <a:r>
              <a:rPr lang="ru-RU" dirty="0"/>
              <a:t>с инженерией признаков</a:t>
            </a:r>
          </a:p>
          <a:p>
            <a:r>
              <a:rPr lang="ru-RU" dirty="0"/>
              <a:t>Для длинных горизонтов и сложных ВР – </a:t>
            </a:r>
            <a:r>
              <a:rPr lang="en-US" dirty="0"/>
              <a:t>DL </a:t>
            </a:r>
            <a:r>
              <a:rPr lang="ru-RU" dirty="0"/>
              <a:t>(</a:t>
            </a:r>
            <a:r>
              <a:rPr lang="ru-RU" dirty="0" err="1"/>
              <a:t>трансфомеры</a:t>
            </a:r>
            <a:r>
              <a:rPr lang="ru-RU" dirty="0"/>
              <a:t>, современные </a:t>
            </a:r>
            <a:r>
              <a:rPr lang="en-US" dirty="0"/>
              <a:t>RNN)</a:t>
            </a:r>
          </a:p>
          <a:p>
            <a:r>
              <a:rPr lang="ru-RU" dirty="0"/>
              <a:t>Для больших объемов ВР и длинных горизонтов </a:t>
            </a:r>
            <a:r>
              <a:rPr lang="en-US" dirty="0"/>
              <a:t>LLM</a:t>
            </a:r>
            <a:endParaRPr lang="ru-RU" dirty="0"/>
          </a:p>
          <a:p>
            <a:r>
              <a:rPr lang="en-US" dirty="0"/>
              <a:t>SOTA: </a:t>
            </a:r>
            <a:r>
              <a:rPr lang="ru-RU" dirty="0"/>
              <a:t>вероятностное прогнозирование при помощи </a:t>
            </a:r>
            <a:r>
              <a:rPr lang="en-US" dirty="0"/>
              <a:t>LLM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1938056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FB6B433-AB20-4BD4-8E77-84B856A5D6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849" y="161366"/>
            <a:ext cx="10515600" cy="806450"/>
          </a:xfrm>
        </p:spPr>
        <p:txBody>
          <a:bodyPr>
            <a:normAutofit/>
          </a:bodyPr>
          <a:lstStyle/>
          <a:p>
            <a:pPr algn="ctr"/>
            <a:r>
              <a:rPr lang="ru-RU" b="1" dirty="0"/>
              <a:t>Наивное предсказание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9CFDC76D-90F0-4FD7-8BA6-954D6D2E6FF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39849" y="771957"/>
                <a:ext cx="11685271" cy="5779450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ru-RU" sz="2400" dirty="0"/>
                  <a:t>Наивное предсказание – это некоторая база, точностью меньше которого любой другой алгоритм не должен обладать.</a:t>
                </a:r>
              </a:p>
              <a:p>
                <a:pPr marL="0" indent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ru-RU" sz="2400" b="1" dirty="0"/>
                  <a:t>Цель наивного предсказания </a:t>
                </a:r>
                <a:r>
                  <a:rPr lang="ru-RU" sz="2400" dirty="0"/>
                  <a:t>- проверка адекватности более сложных моделей и оценка необходимости сложных моделей, а также поиск проблемных мест в процедуре предсказания</a:t>
                </a:r>
              </a:p>
              <a:p>
                <a:pPr marL="0" indent="0" defTabSz="268288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ru-RU" sz="2400" dirty="0"/>
                  <a:t>	Наивные методы работают даже если ряд нарушает теорему дискретизации </a:t>
                </a:r>
              </a:p>
              <a:p>
                <a:pPr marL="0" indent="0" defTabSz="268288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ru-RU" sz="2400" dirty="0"/>
                  <a:t>	 не требует 	гипотез о 	модели</a:t>
                </a:r>
              </a:p>
              <a:p>
                <a:pPr marL="0" indent="0" defTabSz="268288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ru-RU" sz="2400" dirty="0"/>
                  <a:t>		</a:t>
                </a:r>
                <a:r>
                  <a:rPr lang="ru-RU" sz="2400" b="1" dirty="0"/>
                  <a:t>Пример</a:t>
                </a:r>
                <a:r>
                  <a:rPr lang="ru-RU" sz="2400" dirty="0"/>
                  <a:t> прогноз продаж новогодних ёлок такой же как и год назад</a:t>
                </a:r>
              </a:p>
              <a:p>
                <a:pPr marL="0" indent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ru-RU" sz="2400" b="1" dirty="0"/>
                  <a:t>Простое наивное предсказание</a:t>
                </a:r>
                <a14:m>
                  <m:oMath xmlns:m="http://schemas.openxmlformats.org/officeDocument/2006/math">
                    <m:r>
                      <a:rPr lang="ru-RU" sz="2400" b="1" i="0" dirty="0" smtClean="0">
                        <a:latin typeface="Cambria Math" panose="02040503050406030204" pitchFamily="18" charset="0"/>
                      </a:rPr>
                      <m:t> </m:t>
                    </m:r>
                    <m:acc>
                      <m:accPr>
                        <m:chr m:val="̂"/>
                        <m:ctrlPr>
                          <a:rPr lang="en-US" sz="240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ru-RU" sz="2400" b="0" i="1" dirty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) = 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).</m:t>
                    </m:r>
                  </m:oMath>
                </a14:m>
                <a:endParaRPr lang="en-US" sz="2400" dirty="0"/>
              </a:p>
              <a:p>
                <a:pPr marL="0" indent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ru-RU" sz="2400" dirty="0"/>
                  <a:t>	Где h -</a:t>
                </a:r>
                <a:r>
                  <a:rPr lang="en-US" sz="2400" dirty="0"/>
                  <a:t> </a:t>
                </a:r>
                <a:r>
                  <a:rPr lang="ru-RU" sz="2400" dirty="0"/>
                  <a:t>горизонт предсказания (число шагов)</a:t>
                </a:r>
              </a:p>
              <a:p>
                <a:pPr marL="0" indent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ru-RU" sz="2400" b="1" dirty="0"/>
                  <a:t>Сезонное наивное предсказание</a:t>
                </a:r>
                <a14:m>
                  <m:oMath xmlns:m="http://schemas.openxmlformats.org/officeDocument/2006/math">
                    <m:r>
                      <a:rPr lang="ru-RU" sz="2400" b="1" i="0" dirty="0" smtClean="0">
                        <a:latin typeface="Cambria Math" panose="02040503050406030204" pitchFamily="18" charset="0"/>
                      </a:rPr>
                      <m:t> </m:t>
                    </m:r>
                    <m:acc>
                      <m:accPr>
                        <m:chr m:val="̂"/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en-US" sz="24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ru-RU" sz="2400" i="1" dirty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) = 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ru-RU" sz="2400" i="1" dirty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+1)).</m:t>
                    </m:r>
                  </m:oMath>
                </a14:m>
                <a:endParaRPr lang="en-US" sz="2400" dirty="0"/>
              </a:p>
              <a:p>
                <a:pPr marL="0" indent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ru-RU" sz="2400" dirty="0"/>
                  <a:t>	Где </a:t>
                </a:r>
                <a:r>
                  <a:rPr lang="en-US" sz="2400" dirty="0"/>
                  <a:t>m</a:t>
                </a:r>
                <a:r>
                  <a:rPr lang="ru-RU" sz="2400" dirty="0"/>
                  <a:t> -</a:t>
                </a:r>
                <a:r>
                  <a:rPr lang="en-US" sz="2400" dirty="0"/>
                  <a:t> </a:t>
                </a:r>
                <a:r>
                  <a:rPr lang="ru-RU" sz="2400" dirty="0"/>
                  <a:t>период сезонности</a:t>
                </a:r>
                <a:r>
                  <a:rPr lang="en-US" sz="2400" dirty="0"/>
                  <a:t>,  </a:t>
                </a:r>
                <a14:m>
                  <m:oMath xmlns:m="http://schemas.openxmlformats.org/officeDocument/2006/math">
                    <m:r>
                      <a:rPr lang="en-US" sz="2400" dirty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ru-RU" sz="2400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dirty="0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begChr m:val="⌊"/>
                        <m:endChr m:val="⌋"/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dirty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400" dirty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sz="2400" dirty="0">
                            <a:latin typeface="Cambria Math" panose="02040503050406030204" pitchFamily="18" charset="0"/>
                          </a:rPr>
                          <m:t>−1)/</m:t>
                        </m:r>
                        <m:r>
                          <a:rPr lang="en-US" sz="2400" dirty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</m:d>
                  </m:oMath>
                </a14:m>
                <a:endParaRPr lang="ru-RU" sz="2400" dirty="0"/>
              </a:p>
              <a:p>
                <a:pPr marL="0" indent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ru-RU" sz="2400" b="1" dirty="0"/>
                  <a:t>Среднее наивное предсказание/скользящее среднее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ru-RU" sz="2400" i="1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d>
                    <m:r>
                      <a:rPr lang="en-US" sz="2400" i="1" dirty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𝑇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nary>
                    <m:r>
                      <a:rPr lang="en-US" sz="2400" i="1" dirty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2400" dirty="0"/>
              </a:p>
              <a:p>
                <a:pPr marL="0" indent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ru-RU" sz="2400" dirty="0"/>
                  <a:t>	Также может быть, например среднее сезонное предсказание,</a:t>
                </a:r>
              </a:p>
              <a:p>
                <a:pPr marL="0" indent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ru-RU" sz="2400" b="1" dirty="0"/>
                  <a:t>Предсказание с дрейфом</a:t>
                </a:r>
                <a14:m>
                  <m:oMath xmlns:m="http://schemas.openxmlformats.org/officeDocument/2006/math">
                    <m:r>
                      <a:rPr lang="en-US" sz="2400" b="1" i="0" dirty="0" smtClean="0">
                        <a:latin typeface="Cambria Math" panose="02040503050406030204" pitchFamily="18" charset="0"/>
                      </a:rPr>
                      <m:t> </m:t>
                    </m:r>
                    <m:acc>
                      <m:accPr>
                        <m:chr m:val="̂"/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ru-RU" sz="2400" i="1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d>
                    <m:r>
                      <a:rPr lang="en-US" sz="24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d>
                    <m:r>
                      <a:rPr lang="ru-RU" sz="2400" b="0" i="1" dirty="0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h</m:t>
                        </m:r>
                      </m:num>
                      <m:den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−1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400" i="1" dirty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𝑦</m:t>
                        </m:r>
                        <m:d>
                          <m:dPr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−1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nary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d>
                    <m:r>
                      <a:rPr lang="ru-RU" sz="2400" i="1" dirty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h</m:t>
                    </m:r>
                    <m:f>
                      <m:fPr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𝑦</m:t>
                        </m:r>
                        <m:d>
                          <m:dPr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</m:d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(1)</m:t>
                        </m:r>
                      </m:num>
                      <m:den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−1</m:t>
                        </m:r>
                      </m:den>
                    </m:f>
                  </m:oMath>
                </a14:m>
                <a:r>
                  <a:rPr lang="en-US" sz="2400" dirty="0"/>
                  <a:t> </a:t>
                </a:r>
                <a:endParaRPr lang="ru-RU" sz="24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9CFDC76D-90F0-4FD7-8BA6-954D6D2E6FF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39849" y="771957"/>
                <a:ext cx="11685271" cy="5779450"/>
              </a:xfrm>
              <a:blipFill>
                <a:blip r:embed="rId3"/>
                <a:stretch>
                  <a:fillRect l="-678" t="-52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Прямоугольник 3"/>
          <p:cNvSpPr/>
          <p:nvPr/>
        </p:nvSpPr>
        <p:spPr>
          <a:xfrm>
            <a:off x="455611" y="6410088"/>
            <a:ext cx="110998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/>
              <a:t>http://www.machinelearning.ru/wiki/images/archive/e/ec/20150415134755%21Psad_ts_ets.pdf</a:t>
            </a:r>
          </a:p>
        </p:txBody>
      </p:sp>
    </p:spTree>
    <p:extLst>
      <p:ext uri="{BB962C8B-B14F-4D97-AF65-F5344CB8AC3E}">
        <p14:creationId xmlns:p14="http://schemas.microsoft.com/office/powerpoint/2010/main" val="40507111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FB6B433-AB20-4BD4-8E77-84B856A5D6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849" y="161366"/>
            <a:ext cx="10515600" cy="806450"/>
          </a:xfrm>
        </p:spPr>
        <p:txBody>
          <a:bodyPr>
            <a:normAutofit/>
          </a:bodyPr>
          <a:lstStyle/>
          <a:p>
            <a:pPr algn="ctr"/>
            <a:r>
              <a:rPr lang="ru-RU" b="1" dirty="0"/>
              <a:t>Наивное предсказание </a:t>
            </a:r>
          </a:p>
        </p:txBody>
      </p:sp>
      <p:pic>
        <p:nvPicPr>
          <p:cNvPr id="1026" name="Picture 2" descr="Forecasts of Australian quarterly beer production.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81625" y="967816"/>
            <a:ext cx="6661150" cy="3330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Forecasts based on Google's daily closing stock price in 2015.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137" y="3660085"/>
            <a:ext cx="5779022" cy="28895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Прямоугольник 5"/>
          <p:cNvSpPr/>
          <p:nvPr/>
        </p:nvSpPr>
        <p:spPr>
          <a:xfrm>
            <a:off x="4023072" y="6364930"/>
            <a:ext cx="455464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https://otexts.com/fpp3/simple-methods.html</a:t>
            </a:r>
          </a:p>
        </p:txBody>
      </p:sp>
    </p:spTree>
    <p:extLst>
      <p:ext uri="{BB962C8B-B14F-4D97-AF65-F5344CB8AC3E}">
        <p14:creationId xmlns:p14="http://schemas.microsoft.com/office/powerpoint/2010/main" val="20181498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20040" y="258445"/>
            <a:ext cx="11033760" cy="587375"/>
          </a:xfrm>
        </p:spPr>
        <p:txBody>
          <a:bodyPr>
            <a:noAutofit/>
          </a:bodyPr>
          <a:lstStyle/>
          <a:p>
            <a:pPr algn="ctr"/>
            <a:r>
              <a:rPr lang="ru-RU" b="1" dirty="0"/>
              <a:t>Статистические методы</a:t>
            </a:r>
          </a:p>
        </p:txBody>
      </p:sp>
      <p:graphicFrame>
        <p:nvGraphicFramePr>
          <p:cNvPr id="6" name="Таблица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9910319"/>
              </p:ext>
            </p:extLst>
          </p:nvPr>
        </p:nvGraphicFramePr>
        <p:xfrm>
          <a:off x="193245" y="1045845"/>
          <a:ext cx="11723176" cy="5034944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778555">
                  <a:extLst>
                    <a:ext uri="{9D8B030D-6E8A-4147-A177-3AD203B41FA5}">
                      <a16:colId xmlns:a16="http://schemas.microsoft.com/office/drawing/2014/main" val="498965216"/>
                    </a:ext>
                  </a:extLst>
                </a:gridCol>
                <a:gridCol w="1947137">
                  <a:extLst>
                    <a:ext uri="{9D8B030D-6E8A-4147-A177-3AD203B41FA5}">
                      <a16:colId xmlns:a16="http://schemas.microsoft.com/office/drawing/2014/main" val="1588187195"/>
                    </a:ext>
                  </a:extLst>
                </a:gridCol>
                <a:gridCol w="2208508">
                  <a:extLst>
                    <a:ext uri="{9D8B030D-6E8A-4147-A177-3AD203B41FA5}">
                      <a16:colId xmlns:a16="http://schemas.microsoft.com/office/drawing/2014/main" val="1986663327"/>
                    </a:ext>
                  </a:extLst>
                </a:gridCol>
                <a:gridCol w="2688956">
                  <a:extLst>
                    <a:ext uri="{9D8B030D-6E8A-4147-A177-3AD203B41FA5}">
                      <a16:colId xmlns:a16="http://schemas.microsoft.com/office/drawing/2014/main" val="2758287352"/>
                    </a:ext>
                  </a:extLst>
                </a:gridCol>
                <a:gridCol w="2100020">
                  <a:extLst>
                    <a:ext uri="{9D8B030D-6E8A-4147-A177-3AD203B41FA5}">
                      <a16:colId xmlns:a16="http://schemas.microsoft.com/office/drawing/2014/main" val="3490581788"/>
                    </a:ext>
                  </a:extLst>
                </a:gridCol>
              </a:tblGrid>
              <a:tr h="227361"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Критерий</a:t>
                      </a:r>
                      <a:endParaRPr lang="ru-RU" sz="1900" b="1" i="0" u="none" strike="noStrike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 err="1">
                          <a:solidFill>
                            <a:schemeClr val="bg1"/>
                          </a:solidFill>
                          <a:effectLst/>
                        </a:rPr>
                        <a:t>Стат</a:t>
                      </a:r>
                      <a:r>
                        <a:rPr lang="en-US" sz="19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.</a:t>
                      </a:r>
                      <a:r>
                        <a:rPr lang="ru-RU" sz="19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 модели </a:t>
                      </a:r>
                      <a:r>
                        <a:rPr lang="en-US" sz="16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(ARIMA,ETS,</a:t>
                      </a:r>
                      <a:r>
                        <a:rPr lang="en-US" sz="1600" b="1" u="none" strike="noStrike" baseline="0" dirty="0">
                          <a:solidFill>
                            <a:schemeClr val="bg1"/>
                          </a:solidFill>
                          <a:effectLst/>
                        </a:rPr>
                        <a:t> Prophet)</a:t>
                      </a:r>
                      <a:r>
                        <a:rPr lang="ru-RU" sz="16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 </a:t>
                      </a:r>
                      <a:endParaRPr lang="ru-RU" sz="1600" b="1" i="0" u="none" strike="noStrike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9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ML</a:t>
                      </a:r>
                      <a:br>
                        <a:rPr lang="en-US" sz="1900" b="1" u="none" strike="noStrike" dirty="0">
                          <a:solidFill>
                            <a:schemeClr val="bg1"/>
                          </a:solidFill>
                          <a:effectLst/>
                        </a:rPr>
                      </a:br>
                      <a:r>
                        <a:rPr lang="ru-RU" sz="19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 (</a:t>
                      </a:r>
                      <a:r>
                        <a:rPr lang="ru-RU" sz="1900" b="1" u="none" strike="noStrike" dirty="0" err="1">
                          <a:solidFill>
                            <a:schemeClr val="bg1"/>
                          </a:solidFill>
                          <a:effectLst/>
                        </a:rPr>
                        <a:t>XGBoost</a:t>
                      </a:r>
                      <a:r>
                        <a:rPr lang="ru-RU" sz="19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, </a:t>
                      </a:r>
                      <a:r>
                        <a:rPr lang="en-US" sz="19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KNN</a:t>
                      </a:r>
                      <a:r>
                        <a:rPr lang="ru-RU" sz="19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, </a:t>
                      </a:r>
                      <a:r>
                        <a:rPr lang="ru-RU" sz="1900" b="1" u="none" strike="noStrike" dirty="0" err="1">
                          <a:solidFill>
                            <a:schemeClr val="bg1"/>
                          </a:solidFill>
                          <a:effectLst/>
                        </a:rPr>
                        <a:t>etc</a:t>
                      </a:r>
                      <a:r>
                        <a:rPr lang="ru-RU" sz="19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.)</a:t>
                      </a:r>
                      <a:endParaRPr lang="ru-RU" sz="1900" b="1" i="0" u="none" strike="noStrike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Глубокие </a:t>
                      </a:r>
                      <a:r>
                        <a:rPr lang="ru-RU" sz="1900" b="1" u="none" strike="noStrike" dirty="0" err="1">
                          <a:solidFill>
                            <a:schemeClr val="bg1"/>
                          </a:solidFill>
                          <a:effectLst/>
                        </a:rPr>
                        <a:t>нейросети</a:t>
                      </a:r>
                      <a:r>
                        <a:rPr lang="ru-RU" sz="19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 (</a:t>
                      </a:r>
                      <a:r>
                        <a:rPr lang="en-US" sz="19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LSTM, Transformer)</a:t>
                      </a:r>
                      <a:endParaRPr lang="en-US" sz="1900" b="1" i="0" u="none" strike="noStrike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Генеративные модели (LLM, </a:t>
                      </a:r>
                      <a:r>
                        <a:rPr lang="en-US" sz="1900" b="1" u="none" strike="noStrike" dirty="0" err="1">
                          <a:solidFill>
                            <a:schemeClr val="bg1"/>
                          </a:solidFill>
                          <a:effectLst/>
                        </a:rPr>
                        <a:t>Dif</a:t>
                      </a:r>
                      <a:r>
                        <a:rPr lang="ru-RU" sz="19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)</a:t>
                      </a:r>
                      <a:endParaRPr lang="ru-RU" sz="1900" b="1" i="0" u="none" strike="noStrike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4012808"/>
                  </a:ext>
                </a:extLst>
              </a:tr>
              <a:tr h="115445"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Интерпретируемость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Очень высока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u="none" strike="noStrike" dirty="0">
                          <a:effectLst/>
                        </a:rPr>
                        <a:t> Умеренная</a:t>
                      </a:r>
                      <a:endParaRPr lang="ru-RU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u="none" strike="noStrike" dirty="0">
                          <a:effectLst/>
                        </a:rPr>
                        <a:t>Низкая</a:t>
                      </a:r>
                      <a:endParaRPr lang="ru-RU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u="none" strike="noStrike" dirty="0">
                          <a:effectLst/>
                        </a:rPr>
                        <a:t> Очень низкая</a:t>
                      </a:r>
                      <a:endParaRPr lang="ru-RU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49974802"/>
                  </a:ext>
                </a:extLst>
              </a:tr>
              <a:tr h="115445"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Объем данных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Минимум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Средний</a:t>
                      </a:r>
                    </a:p>
                  </a:txBody>
                  <a:tcPr marL="8648" marR="8648" marT="8648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u="none" strike="noStrike" dirty="0">
                          <a:effectLst/>
                        </a:rPr>
                        <a:t>Большой </a:t>
                      </a:r>
                      <a:endParaRPr lang="ru-RU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u="none" strike="noStrike" dirty="0">
                          <a:effectLst/>
                        </a:rPr>
                        <a:t>Огромные данные, </a:t>
                      </a:r>
                      <a:endParaRPr lang="ru-RU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2333269"/>
                  </a:ext>
                </a:extLst>
              </a:tr>
              <a:tr h="227361"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Точность</a:t>
                      </a:r>
                    </a:p>
                  </a:txBody>
                  <a:tcPr marL="8648" marR="8648" marT="8648" marB="0" anchor="b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900" b="1" u="none" strike="noStrike" baseline="0" dirty="0">
                          <a:effectLst/>
                        </a:rPr>
                        <a:t>При соответствии модели и данных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900" u="none" strike="noStrike" dirty="0">
                          <a:effectLst/>
                        </a:rPr>
                        <a:t>Зависит от выбора</a:t>
                      </a:r>
                      <a:r>
                        <a:rPr lang="ru-RU" sz="1900" u="none" strike="noStrike" baseline="0" dirty="0">
                          <a:effectLst/>
                        </a:rPr>
                        <a:t> признаков</a:t>
                      </a:r>
                      <a:endParaRPr lang="ru-RU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Средняя</a:t>
                      </a:r>
                      <a:endParaRPr lang="ru-RU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Низкая</a:t>
                      </a:r>
                    </a:p>
                  </a:txBody>
                  <a:tcPr marL="8648" marR="8648" marT="8648" marB="0" anchor="b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70434037"/>
                  </a:ext>
                </a:extLst>
              </a:tr>
              <a:tr h="115445"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Скорость обучения/прогноза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Очень быстро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u="none" strike="noStrike" dirty="0">
                          <a:effectLst/>
                        </a:rPr>
                        <a:t>Быстро</a:t>
                      </a:r>
                      <a:endParaRPr lang="ru-RU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u="none" strike="noStrike" dirty="0">
                          <a:effectLst/>
                        </a:rPr>
                        <a:t>Медленно</a:t>
                      </a:r>
                      <a:endParaRPr lang="ru-RU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u="none" strike="noStrike" dirty="0">
                          <a:effectLst/>
                        </a:rPr>
                        <a:t>Очень медленно</a:t>
                      </a:r>
                      <a:endParaRPr lang="ru-RU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967367"/>
                  </a:ext>
                </a:extLst>
              </a:tr>
              <a:tr h="115445"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Учет сезонности и тренда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800" u="none" strike="noStrike" dirty="0">
                          <a:effectLst/>
                        </a:rPr>
                        <a:t>Зависит от модели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В признаках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Хорошо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u="none" strike="noStrike" dirty="0">
                          <a:effectLst/>
                        </a:rPr>
                        <a:t>Средне</a:t>
                      </a:r>
                      <a:endParaRPr lang="ru-RU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8149069"/>
                  </a:ext>
                </a:extLst>
              </a:tr>
              <a:tr h="115445"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экзогенные факторы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u="none" strike="noStrike" dirty="0">
                          <a:effectLst/>
                        </a:rPr>
                        <a:t>Ограничен</a:t>
                      </a:r>
                      <a:endParaRPr lang="en-US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Отлично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Отлично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u="none" strike="noStrike" dirty="0">
                          <a:effectLst/>
                        </a:rPr>
                        <a:t>Через контекст</a:t>
                      </a:r>
                      <a:endParaRPr lang="ru-RU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7277165"/>
                  </a:ext>
                </a:extLst>
              </a:tr>
              <a:tr h="172992"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i="0" u="none" strike="noStrike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Длина горизонта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Короткий</a:t>
                      </a:r>
                      <a:endParaRPr lang="en-US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u="none" strike="noStrike" dirty="0">
                          <a:effectLst/>
                        </a:rPr>
                        <a:t>Средний</a:t>
                      </a:r>
                      <a:endParaRPr lang="ru-RU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Средний-длинный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Очень длинный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218622"/>
                  </a:ext>
                </a:extLst>
              </a:tr>
              <a:tr h="227361"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Работа с шумом и выбросами, пропусками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u="none" strike="noStrike" dirty="0">
                          <a:effectLst/>
                        </a:rPr>
                        <a:t>Плохо</a:t>
                      </a:r>
                      <a:endParaRPr lang="ru-RU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Хорошо (особенно ансамбли)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u="none" strike="noStrike" dirty="0">
                          <a:effectLst/>
                        </a:rPr>
                        <a:t>Средне</a:t>
                      </a:r>
                      <a:endParaRPr lang="ru-RU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Хорошо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2439854"/>
                  </a:ext>
                </a:extLst>
              </a:tr>
              <a:tr h="115445"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 err="1">
                          <a:effectLst/>
                        </a:rPr>
                        <a:t>Нестационарность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Учет</a:t>
                      </a:r>
                      <a:r>
                        <a:rPr lang="ru-RU" sz="1900" b="0" i="0" u="none" strike="noStrike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 в модели </a:t>
                      </a:r>
                      <a:endParaRPr lang="en-US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Хорошо</a:t>
                      </a:r>
                      <a:endParaRPr lang="ru-RU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Хорошо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u="none" strike="noStrike" dirty="0">
                          <a:effectLst/>
                        </a:rPr>
                        <a:t>Возможна</a:t>
                      </a:r>
                      <a:endParaRPr lang="ru-RU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3775328"/>
                  </a:ext>
                </a:extLst>
              </a:tr>
              <a:tr h="290710"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 err="1">
                          <a:effectLst/>
                        </a:rPr>
                        <a:t>Многосезонность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u="none" strike="noStrike" dirty="0">
                          <a:effectLst/>
                        </a:rPr>
                        <a:t>Ограничена </a:t>
                      </a:r>
                      <a:endParaRPr lang="en-US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900" u="none" strike="noStrike" dirty="0">
                          <a:effectLst/>
                        </a:rPr>
                        <a:t>Средне</a:t>
                      </a:r>
                      <a:endParaRPr lang="ru-RU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Хорошо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Хорошо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5471243"/>
                  </a:ext>
                </a:extLst>
              </a:tr>
              <a:tr h="115445"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Многомерные данные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u="none" strike="noStrike" dirty="0">
                          <a:effectLst/>
                        </a:rPr>
                        <a:t>Ограниченная</a:t>
                      </a:r>
                      <a:endParaRPr lang="en-US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u="none" strike="noStrike" dirty="0">
                          <a:effectLst/>
                        </a:rPr>
                        <a:t> Хорошо</a:t>
                      </a:r>
                      <a:endParaRPr lang="ru-RU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Отлично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Отлично</a:t>
                      </a:r>
                      <a:endParaRPr lang="ru-RU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86631537"/>
                  </a:ext>
                </a:extLst>
              </a:tr>
              <a:tr h="172992">
                <a:tc>
                  <a:txBody>
                    <a:bodyPr/>
                    <a:lstStyle/>
                    <a:p>
                      <a:pPr algn="ctr" fontAlgn="b"/>
                      <a:r>
                        <a:rPr lang="ru-RU" sz="1800" b="1" u="none" strike="noStrike" dirty="0">
                          <a:effectLst/>
                        </a:rPr>
                        <a:t>Автоматизация</a:t>
                      </a:r>
                      <a:r>
                        <a:rPr lang="en-US" sz="1800" b="1" u="none" strike="noStrike" dirty="0">
                          <a:effectLst/>
                        </a:rPr>
                        <a:t> </a:t>
                      </a:r>
                      <a:r>
                        <a:rPr lang="ru-RU" sz="1800" b="1" u="none" strike="noStrike" dirty="0">
                          <a:effectLst/>
                        </a:rPr>
                        <a:t>настройки</a:t>
                      </a:r>
                      <a:endParaRPr lang="ru-RU" sz="18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u="none" strike="noStrike" dirty="0">
                          <a:effectLst/>
                        </a:rPr>
                        <a:t>Средняя </a:t>
                      </a:r>
                      <a:endParaRPr lang="en-US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Высокая </a:t>
                      </a:r>
                      <a:endParaRPr lang="en-US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Высокая </a:t>
                      </a:r>
                      <a:endParaRPr lang="en-US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u="none" strike="noStrike" dirty="0" err="1">
                          <a:effectLst/>
                        </a:rPr>
                        <a:t>prompt</a:t>
                      </a:r>
                      <a:r>
                        <a:rPr lang="ru-RU" sz="1900" u="none" strike="noStrike" dirty="0">
                          <a:effectLst/>
                        </a:rPr>
                        <a:t> </a:t>
                      </a:r>
                      <a:r>
                        <a:rPr lang="ru-RU" sz="1900" u="none" strike="noStrike" dirty="0" err="1">
                          <a:effectLst/>
                        </a:rPr>
                        <a:t>engineering</a:t>
                      </a:r>
                      <a:endParaRPr lang="ru-RU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63220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793585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66700" y="91649"/>
            <a:ext cx="11087100" cy="542925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/>
              <a:t>Статистические методы</a:t>
            </a:r>
          </a:p>
        </p:txBody>
      </p:sp>
      <p:graphicFrame>
        <p:nvGraphicFramePr>
          <p:cNvPr id="5" name="Объект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77709626"/>
              </p:ext>
            </p:extLst>
          </p:nvPr>
        </p:nvGraphicFramePr>
        <p:xfrm>
          <a:off x="266700" y="642193"/>
          <a:ext cx="11658600" cy="4864569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781050">
                  <a:extLst>
                    <a:ext uri="{9D8B030D-6E8A-4147-A177-3AD203B41FA5}">
                      <a16:colId xmlns:a16="http://schemas.microsoft.com/office/drawing/2014/main" val="1676522518"/>
                    </a:ext>
                  </a:extLst>
                </a:gridCol>
                <a:gridCol w="1152525">
                  <a:extLst>
                    <a:ext uri="{9D8B030D-6E8A-4147-A177-3AD203B41FA5}">
                      <a16:colId xmlns:a16="http://schemas.microsoft.com/office/drawing/2014/main" val="1330675205"/>
                    </a:ext>
                  </a:extLst>
                </a:gridCol>
                <a:gridCol w="1200150">
                  <a:extLst>
                    <a:ext uri="{9D8B030D-6E8A-4147-A177-3AD203B41FA5}">
                      <a16:colId xmlns:a16="http://schemas.microsoft.com/office/drawing/2014/main" val="1399852457"/>
                    </a:ext>
                  </a:extLst>
                </a:gridCol>
                <a:gridCol w="990600">
                  <a:extLst>
                    <a:ext uri="{9D8B030D-6E8A-4147-A177-3AD203B41FA5}">
                      <a16:colId xmlns:a16="http://schemas.microsoft.com/office/drawing/2014/main" val="201190715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3291642554"/>
                    </a:ext>
                  </a:extLst>
                </a:gridCol>
                <a:gridCol w="1000125">
                  <a:extLst>
                    <a:ext uri="{9D8B030D-6E8A-4147-A177-3AD203B41FA5}">
                      <a16:colId xmlns:a16="http://schemas.microsoft.com/office/drawing/2014/main" val="3182744035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899264462"/>
                    </a:ext>
                  </a:extLst>
                </a:gridCol>
                <a:gridCol w="725805">
                  <a:extLst>
                    <a:ext uri="{9D8B030D-6E8A-4147-A177-3AD203B41FA5}">
                      <a16:colId xmlns:a16="http://schemas.microsoft.com/office/drawing/2014/main" val="1265331857"/>
                    </a:ext>
                  </a:extLst>
                </a:gridCol>
                <a:gridCol w="1360170">
                  <a:extLst>
                    <a:ext uri="{9D8B030D-6E8A-4147-A177-3AD203B41FA5}">
                      <a16:colId xmlns:a16="http://schemas.microsoft.com/office/drawing/2014/main" val="1124316682"/>
                    </a:ext>
                  </a:extLst>
                </a:gridCol>
                <a:gridCol w="2647950">
                  <a:extLst>
                    <a:ext uri="{9D8B030D-6E8A-4147-A177-3AD203B41FA5}">
                      <a16:colId xmlns:a16="http://schemas.microsoft.com/office/drawing/2014/main" val="2870456483"/>
                    </a:ext>
                  </a:extLst>
                </a:gridCol>
              </a:tblGrid>
              <a:tr h="473229"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Метод</a:t>
                      </a:r>
                      <a:endParaRPr lang="ru-RU" sz="1800" b="1" i="0" u="none" strike="noStrike" dirty="0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Тренд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Сезонность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 err="1">
                          <a:effectLst/>
                        </a:rPr>
                        <a:t>Нестационарность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>
                          <a:effectLst/>
                        </a:rPr>
                        <a:t>Шумы</a:t>
                      </a:r>
                      <a:endParaRPr lang="ru-RU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>
                          <a:effectLst/>
                        </a:rPr>
                        <a:t>Выбросы</a:t>
                      </a:r>
                      <a:endParaRPr lang="ru-RU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Объем Данных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800" u="none" strike="noStrike" dirty="0">
                          <a:effectLst/>
                        </a:rPr>
                        <a:t>horizon</a:t>
                      </a: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Настройка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kern="1200" dirty="0">
                          <a:effectLst/>
                        </a:rPr>
                        <a:t>Использование</a:t>
                      </a:r>
                      <a:endParaRPr lang="ru-RU" sz="1800" b="1" u="none" strike="noStrike" kern="1200" dirty="0">
                        <a:solidFill>
                          <a:schemeClr val="lt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2607" marR="2607" marT="2607" marB="0" anchor="ctr"/>
                </a:tc>
                <a:extLst>
                  <a:ext uri="{0D108BD9-81ED-4DB2-BD59-A6C34878D82A}">
                    <a16:rowId xmlns:a16="http://schemas.microsoft.com/office/drawing/2014/main" val="251137893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800" u="none" strike="noStrike" dirty="0">
                          <a:effectLst/>
                        </a:rPr>
                        <a:t> Naïve</a:t>
                      </a:r>
                      <a:endParaRPr lang="en-US" sz="1800" b="1" i="0" u="none" strike="noStrike" dirty="0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800" u="none" strike="noStrike" dirty="0">
                          <a:effectLst/>
                        </a:rPr>
                        <a:t>Нет, </a:t>
                      </a:r>
                      <a:r>
                        <a:rPr lang="en-US" sz="1600" u="none" strike="noStrike" dirty="0">
                          <a:effectLst/>
                        </a:rPr>
                        <a:t>Random-walk</a:t>
                      </a: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Одна и простая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800" u="none" strike="noStrike" dirty="0">
                          <a:effectLst/>
                        </a:rPr>
                        <a:t>TS-</a:t>
                      </a:r>
                      <a:r>
                        <a:rPr lang="ru-RU" sz="1800" u="none" strike="noStrike" dirty="0" err="1">
                          <a:effectLst/>
                        </a:rPr>
                        <a:t>стац</a:t>
                      </a:r>
                      <a:r>
                        <a:rPr lang="ru-RU" sz="1800" u="none" strike="noStrike" dirty="0">
                          <a:effectLst/>
                        </a:rPr>
                        <a:t>.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Почти нет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Почти нет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10-10</a:t>
                      </a:r>
                      <a:r>
                        <a:rPr lang="ru-RU" sz="1800" u="none" strike="noStrike" baseline="30000" dirty="0">
                          <a:effectLst/>
                        </a:rPr>
                        <a:t>2</a:t>
                      </a:r>
                      <a:endParaRPr lang="ru-RU" sz="1800" b="0" i="0" u="none" strike="noStrike" baseline="300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10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Очень быстро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Нет тренда, данных мало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extLst>
                  <a:ext uri="{0D108BD9-81ED-4DB2-BD59-A6C34878D82A}">
                    <a16:rowId xmlns:a16="http://schemas.microsoft.com/office/drawing/2014/main" val="1857451959"/>
                  </a:ext>
                </a:extLst>
              </a:tr>
              <a:tr h="473229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800" u="none" strike="noStrike" dirty="0">
                          <a:effectLst/>
                        </a:rPr>
                        <a:t>STL</a:t>
                      </a:r>
                      <a:r>
                        <a:rPr lang="ru-RU" sz="1800" u="none" strike="noStrike" dirty="0">
                          <a:effectLst/>
                        </a:rPr>
                        <a:t>+</a:t>
                      </a:r>
                      <a:br>
                        <a:rPr lang="ru-RU" sz="1800" u="none" strike="noStrike" dirty="0">
                          <a:effectLst/>
                        </a:rPr>
                      </a:br>
                      <a:r>
                        <a:rPr lang="ru-RU" sz="1800" u="none" strike="noStrike" dirty="0">
                          <a:effectLst/>
                        </a:rPr>
                        <a:t>любой</a:t>
                      </a:r>
                      <a:endParaRPr lang="en-US" sz="1800" b="1" i="0" u="none" strike="noStrike" dirty="0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Цикличный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600" u="none" strike="noStrike" dirty="0">
                          <a:effectLst/>
                        </a:rPr>
                        <a:t>Одна или </a:t>
                      </a:r>
                      <a:br>
                        <a:rPr lang="en-US" sz="1600" u="none" strike="noStrike" dirty="0">
                          <a:effectLst/>
                        </a:rPr>
                      </a:br>
                      <a:r>
                        <a:rPr lang="ru-RU" sz="1600" u="none" strike="noStrike" dirty="0">
                          <a:effectLst/>
                        </a:rPr>
                        <a:t>более (</a:t>
                      </a:r>
                      <a:r>
                        <a:rPr lang="en-US" sz="1600" u="none" strike="noStrike" dirty="0">
                          <a:effectLst/>
                        </a:rPr>
                        <a:t>MSTL)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800" u="none" strike="noStrike" dirty="0">
                          <a:effectLst/>
                        </a:rPr>
                        <a:t>TS-</a:t>
                      </a:r>
                      <a:r>
                        <a:rPr lang="ru-RU" sz="1800" u="none" strike="noStrike" dirty="0" err="1">
                          <a:effectLst/>
                        </a:rPr>
                        <a:t>стац</a:t>
                      </a:r>
                      <a:r>
                        <a:rPr lang="ru-RU" sz="1800" u="none" strike="noStrike" dirty="0">
                          <a:effectLst/>
                        </a:rPr>
                        <a:t>.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Почти нет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>
                          <a:effectLst/>
                        </a:rPr>
                        <a:t>Очень мало</a:t>
                      </a:r>
                      <a:endParaRPr lang="ru-RU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10-10</a:t>
                      </a:r>
                      <a:r>
                        <a:rPr lang="ru-RU" sz="1800" u="none" strike="noStrike" baseline="30000" dirty="0">
                          <a:effectLst/>
                        </a:rPr>
                        <a:t>4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>
                          <a:effectLst/>
                        </a:rPr>
                        <a:t>20</a:t>
                      </a:r>
                      <a:endParaRPr lang="ru-RU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Очень быстро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Когда проще</a:t>
                      </a:r>
                      <a:r>
                        <a:rPr lang="ru-RU" sz="1800" u="none" strike="noStrike" baseline="0" dirty="0">
                          <a:effectLst/>
                        </a:rPr>
                        <a:t> убрать компоненты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extLst>
                  <a:ext uri="{0D108BD9-81ED-4DB2-BD59-A6C34878D82A}">
                    <a16:rowId xmlns:a16="http://schemas.microsoft.com/office/drawing/2014/main" val="3020200849"/>
                  </a:ext>
                </a:extLst>
              </a:tr>
              <a:tr h="473229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800" u="none" strike="noStrike" dirty="0">
                          <a:effectLst/>
                        </a:rPr>
                        <a:t>ETS</a:t>
                      </a:r>
                      <a:r>
                        <a:rPr lang="ru-RU" sz="1800" u="none" strike="noStrike" dirty="0">
                          <a:effectLst/>
                        </a:rPr>
                        <a:t> </a:t>
                      </a:r>
                      <a:r>
                        <a:rPr lang="en-US" sz="1800" u="none" strike="noStrike" dirty="0">
                          <a:effectLst/>
                        </a:rPr>
                        <a:t>(HW)</a:t>
                      </a:r>
                      <a:endParaRPr lang="en-US" sz="1800" b="1" i="0" u="none" strike="noStrike" dirty="0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600" u="none" strike="noStrike" dirty="0">
                          <a:effectLst/>
                        </a:rPr>
                        <a:t>Почти монотонный</a:t>
                      </a:r>
                      <a:endParaRPr lang="ru-RU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Одна </a:t>
                      </a:r>
                      <a:br>
                        <a:rPr lang="ru-RU" sz="1800" u="none" strike="noStrike" dirty="0">
                          <a:effectLst/>
                        </a:rPr>
                      </a:br>
                      <a:r>
                        <a:rPr lang="ru-RU" sz="1800" u="none" strike="noStrike" dirty="0">
                          <a:effectLst/>
                        </a:rPr>
                        <a:t>или 1-2 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800" u="none" strike="noStrike" dirty="0">
                          <a:effectLst/>
                        </a:rPr>
                        <a:t>TS-</a:t>
                      </a:r>
                      <a:r>
                        <a:rPr lang="ru-RU" sz="1800" u="none" strike="noStrike" dirty="0" err="1">
                          <a:effectLst/>
                        </a:rPr>
                        <a:t>стац</a:t>
                      </a:r>
                      <a:r>
                        <a:rPr lang="ru-RU" sz="1800" u="none" strike="noStrike" dirty="0">
                          <a:effectLst/>
                        </a:rPr>
                        <a:t>.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l-GR" sz="1800" u="none" strike="noStrike" dirty="0">
                          <a:effectLst/>
                        </a:rPr>
                        <a:t>σ-</a:t>
                      </a:r>
                      <a:r>
                        <a:rPr lang="en-US" sz="1800" u="none" strike="noStrike" dirty="0" err="1">
                          <a:effectLst/>
                        </a:rPr>
                        <a:t>var</a:t>
                      </a: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Очень мало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10</a:t>
                      </a:r>
                      <a:r>
                        <a:rPr lang="ru-RU" sz="1800" u="none" strike="noStrike" baseline="30000" dirty="0">
                          <a:effectLst/>
                        </a:rPr>
                        <a:t>2</a:t>
                      </a:r>
                      <a:r>
                        <a:rPr lang="ru-RU" sz="1800" u="none" strike="noStrike" dirty="0">
                          <a:effectLst/>
                        </a:rPr>
                        <a:t>-10</a:t>
                      </a:r>
                      <a:r>
                        <a:rPr lang="ru-RU" sz="1800" u="none" strike="noStrike" baseline="30000" dirty="0">
                          <a:effectLst/>
                        </a:rPr>
                        <a:t>3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30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800" u="none" strike="noStrike" dirty="0" err="1">
                          <a:effectLst/>
                        </a:rPr>
                        <a:t>AutoETS</a:t>
                      </a:r>
                      <a:r>
                        <a:rPr lang="en-US" sz="1800" u="none" strike="noStrike" dirty="0">
                          <a:effectLst/>
                        </a:rPr>
                        <a:t> </a:t>
                      </a:r>
                      <a:r>
                        <a:rPr lang="ru-RU" sz="1800" u="none" strike="noStrike" dirty="0">
                          <a:effectLst/>
                        </a:rPr>
                        <a:t>быстр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Простая модель,</a:t>
                      </a:r>
                      <a:r>
                        <a:rPr lang="ru-RU" sz="1800" u="none" strike="noStrike" baseline="0" dirty="0">
                          <a:effectLst/>
                        </a:rPr>
                        <a:t> 1 сезон, шумы, данных мало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extLst>
                  <a:ext uri="{0D108BD9-81ED-4DB2-BD59-A6C34878D82A}">
                    <a16:rowId xmlns:a16="http://schemas.microsoft.com/office/drawing/2014/main" val="12399409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800" u="none" strike="noStrike">
                          <a:effectLst/>
                        </a:rPr>
                        <a:t>TBATS</a:t>
                      </a:r>
                      <a:endParaRPr lang="en-US" sz="18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600" u="none" strike="noStrike" dirty="0">
                          <a:effectLst/>
                        </a:rPr>
                        <a:t>Почти монотонный</a:t>
                      </a:r>
                      <a:endParaRPr lang="ru-RU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800" u="none" strike="noStrike" dirty="0">
                          <a:effectLst/>
                        </a:rPr>
                        <a:t>1-4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800" u="none" strike="noStrike">
                          <a:effectLst/>
                        </a:rPr>
                        <a:t>TS-</a:t>
                      </a:r>
                      <a:r>
                        <a:rPr lang="ru-RU" sz="1800" u="none" strike="noStrike">
                          <a:effectLst/>
                        </a:rPr>
                        <a:t>стац.</a:t>
                      </a:r>
                      <a:endParaRPr lang="ru-RU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600" u="none" strike="noStrike" dirty="0">
                          <a:effectLst/>
                        </a:rPr>
                        <a:t>Окрашенный шум, </a:t>
                      </a:r>
                      <a:r>
                        <a:rPr lang="el-GR" sz="1600" u="none" strike="noStrike" dirty="0">
                          <a:effectLst/>
                        </a:rPr>
                        <a:t>σ-</a:t>
                      </a:r>
                      <a:r>
                        <a:rPr lang="en-US" sz="1600" u="none" strike="noStrike" dirty="0" err="1">
                          <a:effectLst/>
                        </a:rPr>
                        <a:t>var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>
                          <a:effectLst/>
                        </a:rPr>
                        <a:t>Очень мало</a:t>
                      </a:r>
                      <a:endParaRPr lang="ru-RU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800" u="none" strike="noStrike" dirty="0">
                          <a:effectLst/>
                        </a:rPr>
                        <a:t>10</a:t>
                      </a:r>
                      <a:r>
                        <a:rPr lang="ru-RU" sz="1800" u="none" strike="noStrike" baseline="30000" dirty="0">
                          <a:effectLst/>
                        </a:rPr>
                        <a:t>2</a:t>
                      </a:r>
                      <a:r>
                        <a:rPr lang="ru-RU" sz="1800" u="none" strike="noStrike" dirty="0">
                          <a:effectLst/>
                        </a:rPr>
                        <a:t>-10</a:t>
                      </a:r>
                      <a:r>
                        <a:rPr lang="ru-RU" sz="1800" u="none" strike="noStrike" baseline="30000" dirty="0">
                          <a:effectLst/>
                        </a:rPr>
                        <a:t>4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30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 err="1">
                          <a:effectLst/>
                        </a:rPr>
                        <a:t>Автонастройка</a:t>
                      </a:r>
                      <a:r>
                        <a:rPr lang="ru-RU" sz="1800" u="none" strike="noStrike" dirty="0">
                          <a:effectLst/>
                        </a:rPr>
                        <a:t> быстро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Простая модель, шумы, несколько сезонностей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extLst>
                  <a:ext uri="{0D108BD9-81ED-4DB2-BD59-A6C34878D82A}">
                    <a16:rowId xmlns:a16="http://schemas.microsoft.com/office/drawing/2014/main" val="2285523777"/>
                  </a:ext>
                </a:extLst>
              </a:tr>
              <a:tr h="708725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800" u="none" strike="noStrike">
                          <a:effectLst/>
                        </a:rPr>
                        <a:t>ARIMA</a:t>
                      </a:r>
                      <a:endParaRPr lang="en-US" sz="18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600" u="none" strike="noStrike" dirty="0">
                          <a:effectLst/>
                        </a:rPr>
                        <a:t>Полином, </a:t>
                      </a:r>
                      <a:r>
                        <a:rPr lang="en-US" sz="1600" u="none" strike="noStrike" dirty="0">
                          <a:effectLst/>
                        </a:rPr>
                        <a:t>Random-walk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Любые, в т.ч. Не стационарные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800" u="none" strike="noStrike" dirty="0">
                          <a:effectLst/>
                        </a:rPr>
                        <a:t>DS-</a:t>
                      </a:r>
                      <a:r>
                        <a:rPr lang="ru-RU" sz="1800" u="none" strike="noStrike" dirty="0" err="1">
                          <a:effectLst/>
                        </a:rPr>
                        <a:t>стац</a:t>
                      </a:r>
                      <a:r>
                        <a:rPr lang="ru-RU" sz="1800" u="none" strike="noStrike" dirty="0">
                          <a:effectLst/>
                        </a:rPr>
                        <a:t>.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Окрашенный шум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Мало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800" u="none" strike="noStrike" dirty="0">
                          <a:effectLst/>
                        </a:rPr>
                        <a:t>10</a:t>
                      </a:r>
                      <a:r>
                        <a:rPr lang="ru-RU" sz="1800" u="none" strike="noStrike" baseline="30000" dirty="0">
                          <a:effectLst/>
                        </a:rPr>
                        <a:t>2</a:t>
                      </a:r>
                      <a:r>
                        <a:rPr lang="ru-RU" sz="1800" u="none" strike="noStrike" dirty="0">
                          <a:effectLst/>
                        </a:rPr>
                        <a:t>-10</a:t>
                      </a:r>
                      <a:r>
                        <a:rPr lang="ru-RU" sz="1800" u="none" strike="noStrike" baseline="30000" dirty="0">
                          <a:effectLst/>
                        </a:rPr>
                        <a:t>5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  <a:p>
                      <a:pPr algn="ctr" rtl="0" fontAlgn="ctr"/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100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800" u="none" strike="noStrike" dirty="0" err="1">
                          <a:effectLst/>
                        </a:rPr>
                        <a:t>AutoARIMA</a:t>
                      </a:r>
                      <a:r>
                        <a:rPr lang="en-US" sz="1800" u="none" strike="noStrike" dirty="0">
                          <a:effectLst/>
                        </a:rPr>
                        <a:t>+</a:t>
                      </a:r>
                      <a:br>
                        <a:rPr lang="ru-RU" sz="1800" u="none" strike="noStrike" dirty="0">
                          <a:effectLst/>
                        </a:rPr>
                      </a:br>
                      <a:r>
                        <a:rPr lang="ru-RU" sz="1800" u="none" strike="noStrike" dirty="0">
                          <a:effectLst/>
                        </a:rPr>
                        <a:t>руками - долго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800" u="none" strike="noStrike" dirty="0">
                          <a:effectLst/>
                        </a:rPr>
                        <a:t>Сложная </a:t>
                      </a:r>
                      <a:r>
                        <a:rPr lang="en-US" sz="1800" u="none" strike="noStrike" dirty="0">
                          <a:effectLst/>
                        </a:rPr>
                        <a:t>DS-</a:t>
                      </a:r>
                      <a:r>
                        <a:rPr lang="ru-RU" sz="1800" u="none" strike="noStrike" dirty="0" err="1">
                          <a:effectLst/>
                        </a:rPr>
                        <a:t>стац</a:t>
                      </a:r>
                      <a:r>
                        <a:rPr lang="ru-RU" sz="1800" u="none" strike="noStrike" dirty="0">
                          <a:effectLst/>
                        </a:rPr>
                        <a:t>.</a:t>
                      </a:r>
                    </a:p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модель, важно</a:t>
                      </a:r>
                      <a:r>
                        <a:rPr lang="ru-RU" sz="1800" u="none" strike="noStrike" baseline="0" dirty="0">
                          <a:effectLst/>
                        </a:rPr>
                        <a:t> корреляция – по факту </a:t>
                      </a:r>
                      <a:r>
                        <a:rPr lang="en-US" sz="1800" u="none" strike="noStrike" baseline="0" dirty="0">
                          <a:effectLst/>
                        </a:rPr>
                        <a:t>Baseline</a:t>
                      </a:r>
                      <a:endParaRPr lang="ru-RU" sz="18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extLst>
                  <a:ext uri="{0D108BD9-81ED-4DB2-BD59-A6C34878D82A}">
                    <a16:rowId xmlns:a16="http://schemas.microsoft.com/office/drawing/2014/main" val="3760524402"/>
                  </a:ext>
                </a:extLst>
              </a:tr>
              <a:tr h="708725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800" u="none" strike="noStrike">
                          <a:effectLst/>
                        </a:rPr>
                        <a:t>Prophet</a:t>
                      </a:r>
                      <a:endParaRPr lang="en-US" sz="18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Сложный перегибы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Любые, + </a:t>
                      </a:r>
                      <a:r>
                        <a:rPr lang="en-US" sz="1800" u="none" strike="noStrike" dirty="0">
                          <a:effectLst/>
                        </a:rPr>
                        <a:t>holidays</a:t>
                      </a: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800" u="none" strike="noStrike">
                          <a:effectLst/>
                        </a:rPr>
                        <a:t>TS-</a:t>
                      </a:r>
                      <a:r>
                        <a:rPr lang="ru-RU" sz="1800" u="none" strike="noStrike">
                          <a:effectLst/>
                        </a:rPr>
                        <a:t>стац.</a:t>
                      </a:r>
                      <a:endParaRPr lang="ru-RU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>
                          <a:effectLst/>
                        </a:rPr>
                        <a:t>Слабый БГШ</a:t>
                      </a:r>
                      <a:endParaRPr lang="ru-RU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Могут быть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800" u="none" strike="noStrike" dirty="0">
                          <a:effectLst/>
                        </a:rPr>
                        <a:t>10</a:t>
                      </a:r>
                      <a:r>
                        <a:rPr lang="ru-RU" sz="1800" u="none" strike="noStrike" baseline="30000" dirty="0">
                          <a:effectLst/>
                        </a:rPr>
                        <a:t>2</a:t>
                      </a:r>
                      <a:r>
                        <a:rPr lang="ru-RU" sz="1800" u="none" strike="noStrike" dirty="0">
                          <a:effectLst/>
                        </a:rPr>
                        <a:t>-10</a:t>
                      </a:r>
                      <a:r>
                        <a:rPr lang="ru-RU" sz="1800" u="none" strike="noStrike" baseline="30000" dirty="0">
                          <a:effectLst/>
                        </a:rPr>
                        <a:t>6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>
                          <a:effectLst/>
                        </a:rPr>
                        <a:t>100+</a:t>
                      </a:r>
                      <a:endParaRPr lang="ru-RU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выбор точек перегиба, </a:t>
                      </a:r>
                      <a:br>
                        <a:rPr lang="ru-RU" sz="1800" u="none" strike="noStrike" dirty="0">
                          <a:effectLst/>
                        </a:rPr>
                      </a:br>
                      <a:r>
                        <a:rPr lang="ru-RU" sz="1800" u="none" strike="noStrike" dirty="0">
                          <a:effectLst/>
                        </a:rPr>
                        <a:t>ост. быстро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Длинный ВР</a:t>
                      </a:r>
                      <a:r>
                        <a:rPr lang="ru-RU" sz="1800" u="none" strike="noStrike" baseline="0" dirty="0">
                          <a:effectLst/>
                        </a:rPr>
                        <a:t> и горизонт, </a:t>
                      </a:r>
                      <a:r>
                        <a:rPr lang="ru-RU" sz="1800" u="none" strike="noStrike" baseline="0" dirty="0" err="1">
                          <a:effectLst/>
                        </a:rPr>
                        <a:t>бизнесс</a:t>
                      </a:r>
                      <a:r>
                        <a:rPr lang="ru-RU" sz="1800" u="none" strike="noStrike" baseline="0" dirty="0">
                          <a:effectLst/>
                        </a:rPr>
                        <a:t>-процессы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extLst>
                  <a:ext uri="{0D108BD9-81ED-4DB2-BD59-A6C34878D82A}">
                    <a16:rowId xmlns:a16="http://schemas.microsoft.com/office/drawing/2014/main" val="3464488446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6" name="Прямоугольник 5"/>
              <p:cNvSpPr/>
              <p:nvPr/>
            </p:nvSpPr>
            <p:spPr>
              <a:xfrm>
                <a:off x="201927" y="5670173"/>
                <a:ext cx="5608323" cy="83099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US" sz="1600" dirty="0"/>
                  <a:t>STL</a:t>
                </a:r>
                <a:r>
                  <a:rPr lang="ru-RU" sz="1600" dirty="0"/>
                  <a:t> – разложение сезон-тренд методом локальной регрессии</a:t>
                </a:r>
              </a:p>
              <a:p>
                <a:r>
                  <a:rPr lang="ru-RU" sz="1600" dirty="0"/>
                  <a:t>БГШ – равномерно-распределенный белый гауссов шум</a:t>
                </a:r>
              </a:p>
              <a:p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𝜎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𝑣𝑎𝑟</m:t>
                    </m:r>
                  </m:oMath>
                </a14:m>
                <a:r>
                  <a:rPr lang="ru-RU" sz="1600" dirty="0"/>
                  <a:t> – </a:t>
                </a:r>
                <a:r>
                  <a:rPr lang="ru-RU" sz="1600" dirty="0" err="1"/>
                  <a:t>гетеросекдостичный</a:t>
                </a:r>
                <a:r>
                  <a:rPr lang="ru-RU" sz="1600" dirty="0"/>
                  <a:t> шум</a:t>
                </a:r>
              </a:p>
            </p:txBody>
          </p:sp>
        </mc:Choice>
        <mc:Fallback xmlns="">
          <p:sp>
            <p:nvSpPr>
              <p:cNvPr id="6" name="Прямоугольник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1927" y="5670173"/>
                <a:ext cx="5608323" cy="830997"/>
              </a:xfrm>
              <a:prstGeom prst="rect">
                <a:avLst/>
              </a:prstGeom>
              <a:blipFill>
                <a:blip r:embed="rId2"/>
                <a:stretch>
                  <a:fillRect l="-543" t="-2206" b="-882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Прямоугольник 6"/>
          <p:cNvSpPr/>
          <p:nvPr/>
        </p:nvSpPr>
        <p:spPr>
          <a:xfrm>
            <a:off x="5633085" y="5670173"/>
            <a:ext cx="6368415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600" dirty="0"/>
              <a:t>Окрашенный шум – шум, имеющий корреляционную зависимость </a:t>
            </a:r>
          </a:p>
          <a:p>
            <a:r>
              <a:rPr lang="en-US" sz="1600" dirty="0"/>
              <a:t>TS-</a:t>
            </a:r>
            <a:r>
              <a:rPr lang="ru-RU" sz="1600" dirty="0" err="1"/>
              <a:t>стац</a:t>
            </a:r>
            <a:r>
              <a:rPr lang="ru-RU" sz="1600" dirty="0"/>
              <a:t>. – стационарность по отношению к тренду (и сезонности)</a:t>
            </a:r>
          </a:p>
          <a:p>
            <a:r>
              <a:rPr lang="en-US" sz="1600" dirty="0"/>
              <a:t>DS-</a:t>
            </a:r>
            <a:r>
              <a:rPr lang="ru-RU" sz="1600" dirty="0" err="1"/>
              <a:t>стац</a:t>
            </a:r>
            <a:r>
              <a:rPr lang="ru-RU" sz="1600" dirty="0"/>
              <a:t>. – стационарность к дифференцированию (</a:t>
            </a:r>
            <a:r>
              <a:rPr lang="en-US" sz="1600" dirty="0"/>
              <a:t>usual, seasonal </a:t>
            </a:r>
            <a:r>
              <a:rPr lang="en-US" sz="1600" dirty="0" err="1"/>
              <a:t>dif</a:t>
            </a:r>
            <a:r>
              <a:rPr lang="en-US" sz="1600" dirty="0"/>
              <a:t>)</a:t>
            </a:r>
            <a:endParaRPr lang="ru-RU" sz="1600" dirty="0"/>
          </a:p>
        </p:txBody>
      </p:sp>
    </p:spTree>
    <p:extLst>
      <p:ext uri="{BB962C8B-B14F-4D97-AF65-F5344CB8AC3E}">
        <p14:creationId xmlns:p14="http://schemas.microsoft.com/office/powerpoint/2010/main" val="36212199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FB6B433-AB20-4BD4-8E77-84B856A5D6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6762" y="25399"/>
            <a:ext cx="10515600" cy="806450"/>
          </a:xfrm>
        </p:spPr>
        <p:txBody>
          <a:bodyPr>
            <a:normAutofit/>
          </a:bodyPr>
          <a:lstStyle/>
          <a:p>
            <a:pPr algn="ctr"/>
            <a:r>
              <a:rPr lang="ru-RU" b="1" dirty="0"/>
              <a:t> Экспоненциальное сглаживание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CFDC76D-90F0-4FD7-8BA6-954D6D2E6F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125" y="840761"/>
            <a:ext cx="11449049" cy="56201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ru-RU" sz="2400" dirty="0"/>
              <a:t>Часто требуется предсказание будущих значений достаточно простых временных рядов, состоящий преимущественно из одной трендовой и сезонной составляющих понятного вида.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ru-RU" sz="2400" dirty="0"/>
              <a:t>Данные кажутся достаточно шумными, возникает необходимость сглаживания</a:t>
            </a:r>
            <a:endParaRPr lang="en-US" sz="2400" dirty="0"/>
          </a:p>
        </p:txBody>
      </p:sp>
      <p:pic>
        <p:nvPicPr>
          <p:cNvPr id="2050" name="Picture 2" descr="Forecasting international visitor nights in Australia using the Holt-Winters method with both additive and multiplicative seasonality.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9889" t="30766" r="279" b="36461"/>
          <a:stretch/>
        </p:blipFill>
        <p:spPr bwMode="auto">
          <a:xfrm>
            <a:off x="5164108" y="2531961"/>
            <a:ext cx="2028826" cy="11144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Forecasts of daily pageviews on the Hyndsight blog.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71" r="22857"/>
          <a:stretch/>
        </p:blipFill>
        <p:spPr bwMode="auto">
          <a:xfrm>
            <a:off x="109842" y="3498799"/>
            <a:ext cx="4322284" cy="29334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Forecasts of daily pageviews on the Hyndsight blog.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7143" t="39470" r="158" b="39260"/>
          <a:stretch/>
        </p:blipFill>
        <p:spPr bwMode="auto">
          <a:xfrm>
            <a:off x="523875" y="2860940"/>
            <a:ext cx="1676400" cy="7854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2" descr="Forecasting international visitor nights in Australia using the Holt-Winters method with both additive and multiplicative seasonality.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2" t="257" r="30252" b="864"/>
          <a:stretch/>
        </p:blipFill>
        <p:spPr bwMode="auto">
          <a:xfrm>
            <a:off x="4249131" y="3564797"/>
            <a:ext cx="4158410" cy="29595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Прямоугольник 3"/>
          <p:cNvSpPr/>
          <p:nvPr/>
        </p:nvSpPr>
        <p:spPr>
          <a:xfrm>
            <a:off x="196001" y="3414394"/>
            <a:ext cx="4433888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222222"/>
                </a:solidFill>
                <a:latin typeface="Fira Sans"/>
              </a:rPr>
              <a:t>Forecasts of daily </a:t>
            </a:r>
            <a:r>
              <a:rPr lang="en-US" sz="1400" dirty="0" err="1">
                <a:solidFill>
                  <a:srgbClr val="222222"/>
                </a:solidFill>
                <a:latin typeface="Fira Sans"/>
              </a:rPr>
              <a:t>pageviews</a:t>
            </a:r>
            <a:r>
              <a:rPr lang="en-US" sz="1400" dirty="0">
                <a:solidFill>
                  <a:srgbClr val="222222"/>
                </a:solidFill>
                <a:latin typeface="Fira Sans"/>
              </a:rPr>
              <a:t> on the </a:t>
            </a:r>
            <a:r>
              <a:rPr lang="en-US" sz="1400" dirty="0" err="1">
                <a:solidFill>
                  <a:srgbClr val="222222"/>
                </a:solidFill>
                <a:latin typeface="Fira Sans"/>
              </a:rPr>
              <a:t>Hyndsight</a:t>
            </a:r>
            <a:r>
              <a:rPr lang="en-US" sz="1400" dirty="0">
                <a:solidFill>
                  <a:srgbClr val="222222"/>
                </a:solidFill>
                <a:latin typeface="Fira Sans"/>
              </a:rPr>
              <a:t> blog.</a:t>
            </a:r>
            <a:endParaRPr lang="ru-RU" sz="1400" dirty="0"/>
          </a:p>
        </p:txBody>
      </p:sp>
      <p:sp>
        <p:nvSpPr>
          <p:cNvPr id="5" name="Прямоугольник 4"/>
          <p:cNvSpPr/>
          <p:nvPr/>
        </p:nvSpPr>
        <p:spPr>
          <a:xfrm>
            <a:off x="323849" y="6501786"/>
            <a:ext cx="41781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https://otexts.com/fpp2/holt-winters.html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5092753" y="6460924"/>
            <a:ext cx="7820025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600" dirty="0"/>
              <a:t>https://education.yandex.ru/handbook/ml/article/analitika-vremennyh-ryadov</a:t>
            </a:r>
          </a:p>
        </p:txBody>
      </p:sp>
      <p:sp>
        <p:nvSpPr>
          <p:cNvPr id="9" name="AutoShape 6" descr="es01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11" name="Рисунок 10"/>
          <p:cNvPicPr>
            <a:picLocks noChangeAspect="1"/>
          </p:cNvPicPr>
          <p:nvPr/>
        </p:nvPicPr>
        <p:blipFill rotWithShape="1">
          <a:blip r:embed="rId4"/>
          <a:srcRect r="36289"/>
          <a:stretch/>
        </p:blipFill>
        <p:spPr>
          <a:xfrm>
            <a:off x="8133048" y="3783857"/>
            <a:ext cx="3828620" cy="2521394"/>
          </a:xfrm>
          <a:prstGeom prst="rect">
            <a:avLst/>
          </a:prstGeom>
        </p:spPr>
      </p:pic>
      <p:sp>
        <p:nvSpPr>
          <p:cNvPr id="15" name="Прямоугольник 14"/>
          <p:cNvSpPr/>
          <p:nvPr/>
        </p:nvSpPr>
        <p:spPr>
          <a:xfrm>
            <a:off x="8848621" y="3498799"/>
            <a:ext cx="3215552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400" dirty="0">
                <a:solidFill>
                  <a:srgbClr val="222222"/>
                </a:solidFill>
                <a:latin typeface="Fira Sans"/>
              </a:rPr>
              <a:t>Температурные показания</a:t>
            </a:r>
            <a:endParaRPr lang="ru-RU" sz="1400" dirty="0"/>
          </a:p>
        </p:txBody>
      </p:sp>
    </p:spTree>
    <p:extLst>
      <p:ext uri="{BB962C8B-B14F-4D97-AF65-F5344CB8AC3E}">
        <p14:creationId xmlns:p14="http://schemas.microsoft.com/office/powerpoint/2010/main" val="166991595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84860" y="60325"/>
            <a:ext cx="10515600" cy="854075"/>
          </a:xfrm>
        </p:spPr>
        <p:txBody>
          <a:bodyPr/>
          <a:lstStyle/>
          <a:p>
            <a:pPr algn="ctr"/>
            <a:r>
              <a:rPr lang="ru-RU" dirty="0"/>
              <a:t>Классический подход</a:t>
            </a:r>
            <a:r>
              <a:rPr lang="en-US" dirty="0"/>
              <a:t> </a:t>
            </a:r>
            <a:r>
              <a:rPr lang="ru-RU" dirty="0"/>
              <a:t>к декомпозиции ВР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350520" y="784860"/>
                <a:ext cx="11551920" cy="5341620"/>
              </a:xfrm>
            </p:spPr>
            <p:txBody>
              <a:bodyPr>
                <a:normAutofit/>
              </a:bodyPr>
              <a:lstStyle/>
              <a:p>
                <a:pPr marL="0" indent="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r>
                  <a:rPr lang="ru-RU" altLang="ru-RU" sz="2400" dirty="0">
                    <a:cs typeface="Times New Roman" panose="02020603050405020304" pitchFamily="18" charset="0"/>
                  </a:rPr>
                  <a:t>Рассмотрим временной с аддитивной моделью Тренд-Сезонность-остаток:</a:t>
                </a:r>
                <a:endParaRPr lang="en-US" altLang="ru-RU" sz="2400" dirty="0">
                  <a:cs typeface="Times New Roman" panose="02020603050405020304" pitchFamily="18" charset="0"/>
                </a:endParaRPr>
              </a:p>
              <a:p>
                <a:pPr marL="0" indent="0" algn="ctr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r>
                  <a:rPr lang="ru-RU" altLang="ru-RU" sz="2400" dirty="0"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altLang="ru-RU" sz="2400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ru-RU" altLang="ru-RU" sz="2400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ru-RU" sz="2400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sub>
                    </m:sSub>
                    <m:r>
                      <a:rPr lang="ru-RU" altLang="ru-RU" sz="2400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=</m:t>
                    </m:r>
                    <m:sSub>
                      <m:sSubPr>
                        <m:ctrlPr>
                          <a:rPr lang="en-US" altLang="ru-RU" sz="2400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ru-RU" altLang="ru-RU" sz="2400" dirty="0" err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ru-RU" sz="2400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sub>
                    </m:sSub>
                    <m:r>
                      <a:rPr lang="ru-RU" altLang="ru-RU" sz="2400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+ </m:t>
                    </m:r>
                    <m:sSub>
                      <m:sSubPr>
                        <m:ctrlPr>
                          <a:rPr lang="en-US" altLang="ru-RU" sz="2400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ru-RU" altLang="ru-RU" sz="2400" dirty="0" err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ru-RU" sz="2400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sub>
                    </m:sSub>
                    <m:r>
                      <a:rPr lang="ru-RU" altLang="ru-RU" sz="2400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+ </m:t>
                    </m:r>
                    <m:sSub>
                      <m:sSubPr>
                        <m:ctrlPr>
                          <a:rPr lang="en-US" altLang="ru-RU" sz="2400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l-GR" altLang="ru-RU" sz="2400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𝜀</m:t>
                        </m:r>
                      </m:e>
                      <m:sub>
                        <m:r>
                          <a:rPr lang="en-US" altLang="ru-RU" sz="2400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ru-RU" altLang="ru-RU" sz="2400" dirty="0">
                    <a:cs typeface="Times New Roman" panose="02020603050405020304" pitchFamily="18" charset="0"/>
                  </a:rPr>
                  <a:t>, </a:t>
                </a:r>
                <a:endParaRPr lang="en-US" altLang="ru-RU" sz="2400" dirty="0">
                  <a:cs typeface="Times New Roman" panose="02020603050405020304" pitchFamily="18" charset="0"/>
                </a:endParaRPr>
              </a:p>
              <a:p>
                <a:pPr marL="457200" lvl="1" indent="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r>
                  <a:rPr lang="ru-RU" altLang="ru-RU" sz="1800" dirty="0">
                    <a:cs typeface="Times New Roman" panose="02020603050405020304" pitchFamily="18" charset="0"/>
                  </a:rPr>
                  <a:t>где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ru-RU" sz="1800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ru-RU" altLang="ru-RU" sz="1800" dirty="0" err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ru-RU" sz="1800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ru-RU" altLang="ru-RU" sz="1800" dirty="0">
                    <a:cs typeface="Times New Roman" panose="02020603050405020304" pitchFamily="18" charset="0"/>
                  </a:rPr>
                  <a:t> – это тренд,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ru-RU" sz="1800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ru-RU" altLang="ru-RU" sz="1800" dirty="0" err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ru-RU" sz="1800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ru-RU" altLang="ru-RU" sz="1800" dirty="0">
                    <a:cs typeface="Times New Roman" panose="02020603050405020304" pitchFamily="18" charset="0"/>
                  </a:rPr>
                  <a:t> – это сезонность со значением периода </a:t>
                </a:r>
                <a14:m>
                  <m:oMath xmlns:m="http://schemas.openxmlformats.org/officeDocument/2006/math">
                    <m:r>
                      <a:rPr lang="ru-RU" altLang="ru-RU" sz="1800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𝑚</m:t>
                    </m:r>
                  </m:oMath>
                </a14:m>
                <a:r>
                  <a:rPr lang="ru-RU" altLang="ru-RU" sz="1800" dirty="0">
                    <a:cs typeface="Times New Roman" panose="02020603050405020304" pitchFamily="18" charset="0"/>
                  </a:rPr>
                  <a:t> (например 4 для квартала, 12 для 1 года, 7 для дней недели – если шаг 1 день),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ru-RU" sz="1800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l-GR" altLang="ru-RU" sz="1800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𝜀</m:t>
                        </m:r>
                      </m:e>
                      <m:sub>
                        <m:r>
                          <a:rPr lang="en-US" altLang="ru-RU" sz="1800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ru-RU" altLang="ru-RU" sz="1800" dirty="0">
                    <a:cs typeface="Times New Roman" panose="02020603050405020304" pitchFamily="18" charset="0"/>
                  </a:rPr>
                  <a:t> – это остаточная часть (шумы), </a:t>
                </a:r>
                <a:br>
                  <a:rPr lang="en-US" altLang="ru-RU" sz="1800" dirty="0">
                    <a:cs typeface="Times New Roman" panose="02020603050405020304" pitchFamily="18" charset="0"/>
                  </a:rPr>
                </a:br>
                <a14:m>
                  <m:oMath xmlns:m="http://schemas.openxmlformats.org/officeDocument/2006/math">
                    <m:r>
                      <a:rPr lang="en-US" altLang="ru-RU" sz="18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𝑛</m:t>
                    </m:r>
                    <m:r>
                      <a:rPr lang="en-US" altLang="ru-RU" sz="1800" b="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=0,…,</m:t>
                    </m:r>
                    <m:r>
                      <a:rPr lang="en-US" altLang="ru-RU" sz="1800" b="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𝑁</m:t>
                    </m:r>
                    <m:r>
                      <a:rPr lang="en-US" altLang="ru-RU" sz="1800" b="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−1</m:t>
                    </m:r>
                  </m:oMath>
                </a14:m>
                <a:r>
                  <a:rPr lang="en-US" altLang="ru-RU" sz="1800" dirty="0">
                    <a:cs typeface="Times New Roman" panose="02020603050405020304" pitchFamily="18" charset="0"/>
                  </a:rPr>
                  <a:t> – </a:t>
                </a:r>
                <a:r>
                  <a:rPr lang="ru-RU" altLang="ru-RU" sz="1800" dirty="0">
                    <a:cs typeface="Times New Roman" panose="02020603050405020304" pitchFamily="18" charset="0"/>
                  </a:rPr>
                  <a:t>набор наблюдений с заданным шагом (напр. 365 набл. С шагом 1 день –год).</a:t>
                </a:r>
              </a:p>
              <a:p>
                <a:pPr marL="0" indent="0" algn="ctr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r>
                  <a:rPr lang="ru-RU" altLang="ru-RU" sz="2200" dirty="0">
                    <a:cs typeface="Times New Roman" panose="02020603050405020304" pitchFamily="18" charset="0"/>
                  </a:rPr>
                  <a:t>В модели мы считаем, что скорость изменения тренда много меньше</a:t>
                </a:r>
                <a:r>
                  <a:rPr lang="en-US" altLang="ru-RU" sz="2200" dirty="0">
                    <a:cs typeface="Times New Roman" panose="02020603050405020304" pitchFamily="18" charset="0"/>
                  </a:rPr>
                  <a:t>,</a:t>
                </a:r>
                <a:r>
                  <a:rPr lang="ru-RU" altLang="ru-RU" sz="2200" dirty="0">
                    <a:cs typeface="Times New Roman" panose="02020603050405020304" pitchFamily="18" charset="0"/>
                  </a:rPr>
                  <a:t> чем скорость изменения сезонности</a:t>
                </a:r>
                <a:r>
                  <a:rPr lang="en-US" altLang="ru-RU" sz="2200" dirty="0">
                    <a:cs typeface="Times New Roman" panose="02020603050405020304" pitchFamily="18" charset="0"/>
                  </a:rPr>
                  <a:t>:</a:t>
                </a:r>
                <a:r>
                  <a:rPr lang="ru-RU" altLang="ru-RU" sz="2200" dirty="0"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ru-RU" sz="22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en-US" altLang="ru-RU" sz="22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ru-RU" sz="22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𝑁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altLang="ru-RU" sz="22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naryPr>
                      <m:sub>
                        <m:r>
                          <a:rPr lang="en-US" altLang="ru-RU" sz="22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sub>
                      <m:sup>
                        <m:r>
                          <a:rPr lang="en-US" altLang="ru-RU" sz="22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𝑁</m:t>
                        </m:r>
                      </m:sup>
                      <m:e>
                        <m:r>
                          <a:rPr lang="en-US" altLang="ru-RU" sz="22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|∆</m:t>
                        </m:r>
                        <m:sSub>
                          <m:sSubPr>
                            <m:ctrlPr>
                              <a:rPr lang="en-US" altLang="ru-RU" sz="22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ru-RU" sz="22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ru-RU" sz="22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altLang="ru-RU" sz="22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|</m:t>
                        </m:r>
                      </m:e>
                    </m:nary>
                    <m:r>
                      <a:rPr lang="en-US" altLang="ru-RU" sz="22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≪</m:t>
                    </m:r>
                    <m:f>
                      <m:fPr>
                        <m:ctrlPr>
                          <a:rPr lang="en-US" altLang="ru-RU" sz="22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en-US" altLang="ru-RU" sz="22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ru-RU" sz="22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𝑁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altLang="ru-RU" sz="22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naryPr>
                      <m:sub>
                        <m:r>
                          <a:rPr lang="en-US" altLang="ru-RU" sz="22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sub>
                      <m:sup>
                        <m:r>
                          <a:rPr lang="en-US" altLang="ru-RU" sz="22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𝑁</m:t>
                        </m:r>
                      </m:sup>
                      <m:e>
                        <m:r>
                          <a:rPr lang="en-US" altLang="ru-RU" sz="22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|</m:t>
                        </m:r>
                        <m:r>
                          <a:rPr lang="en-US" altLang="ru-RU" sz="22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∆</m:t>
                        </m:r>
                        <m:sSub>
                          <m:sSubPr>
                            <m:ctrlPr>
                              <a:rPr lang="en-US" altLang="ru-RU" sz="22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ru-RU" sz="22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altLang="ru-RU" sz="22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altLang="ru-RU" sz="22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|</m:t>
                        </m:r>
                      </m:e>
                    </m:nary>
                  </m:oMath>
                </a14:m>
                <a:endParaRPr lang="en-US" altLang="ru-RU" sz="2200" dirty="0">
                  <a:cs typeface="Times New Roman" panose="02020603050405020304" pitchFamily="18" charset="0"/>
                </a:endParaRPr>
              </a:p>
              <a:p>
                <a:pPr marL="0" indent="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r>
                  <a:rPr lang="ru-RU" altLang="ru-RU" sz="2200" dirty="0">
                    <a:cs typeface="Times New Roman" panose="02020603050405020304" pitchFamily="18" charset="0"/>
                  </a:rPr>
                  <a:t>Тогда если по ВР провести усредняющее окно с шириной </a:t>
                </a:r>
                <a14:m>
                  <m:oMath xmlns:m="http://schemas.openxmlformats.org/officeDocument/2006/math">
                    <m:r>
                      <a:rPr lang="en-US" altLang="ru-RU" sz="22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&gt;</m:t>
                    </m:r>
                    <m:r>
                      <a:rPr lang="en-US" altLang="ru-RU" sz="22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𝑚</m:t>
                    </m:r>
                  </m:oMath>
                </a14:m>
                <a:r>
                  <a:rPr lang="en-US" altLang="ru-RU" sz="2200" dirty="0">
                    <a:cs typeface="Times New Roman" panose="02020603050405020304" pitchFamily="18" charset="0"/>
                  </a:rPr>
                  <a:t> </a:t>
                </a:r>
                <a:r>
                  <a:rPr lang="ru-RU" altLang="ru-RU" sz="2200" dirty="0">
                    <a:cs typeface="Times New Roman" panose="02020603050405020304" pitchFamily="18" charset="0"/>
                  </a:rPr>
                  <a:t>(в т.ч. Усреднить каждый период), то в модели останется только тренд и некоторая промоделированная ошибка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ru-RU" sz="2000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l-GR" altLang="ru-RU" sz="2000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𝜀</m:t>
                        </m:r>
                      </m:e>
                      <m:sub>
                        <m:r>
                          <a:rPr lang="en-US" altLang="ru-RU" sz="2000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sub>
                    </m:sSub>
                  </m:oMath>
                </a14:m>
                <a:endParaRPr lang="ru-RU" altLang="ru-RU" sz="2200" dirty="0"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50520" y="784860"/>
                <a:ext cx="11551920" cy="5341620"/>
              </a:xfrm>
              <a:blipFill>
                <a:blip r:embed="rId2"/>
                <a:stretch>
                  <a:fillRect l="-844" t="-913" r="-47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 descr="Residential electricity sales (black) along with the 5-MA estimate of the trend-cycle (red).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66038" y="3892216"/>
            <a:ext cx="5427681" cy="27138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Прямоугольник 3"/>
              <p:cNvSpPr/>
              <p:nvPr/>
            </p:nvSpPr>
            <p:spPr>
              <a:xfrm>
                <a:off x="260508" y="3892216"/>
                <a:ext cx="6355715" cy="104618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altLang="ru-RU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altLang="ru-RU" i="1" dirty="0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accPr>
                          <m:e>
                            <m:r>
                              <a:rPr lang="en-US" altLang="ru-RU" b="0" i="1" dirty="0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𝑇</m:t>
                            </m:r>
                          </m:e>
                        </m:acc>
                      </m:e>
                      <m:sub>
                        <m:r>
                          <a:rPr lang="en-US" altLang="ru-RU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dirty="0"/>
                  <a:t> =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  <m:e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_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endParaRPr lang="en-US" dirty="0"/>
              </a:p>
              <a:p>
                <a:pPr algn="ctr"/>
                <a:r>
                  <a:rPr lang="ru-RU" dirty="0"/>
                  <a:t>Где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ru-RU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altLang="ru-RU" i="1" dirty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accPr>
                          <m:e>
                            <m:r>
                              <a:rPr lang="en-US" altLang="ru-RU" i="1" dirty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𝑇</m:t>
                            </m:r>
                          </m:e>
                        </m:acc>
                      </m:e>
                      <m:sub>
                        <m:r>
                          <a:rPr lang="en-US" altLang="ru-RU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ru-RU" dirty="0"/>
                  <a:t> - оценка тренда,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en-US" dirty="0"/>
                  <a:t> – </a:t>
                </a:r>
                <a:r>
                  <a:rPr lang="ru-RU" dirty="0"/>
                  <a:t>ширина окна</a:t>
                </a:r>
              </a:p>
              <a:p>
                <a:pPr algn="ctr"/>
                <a:r>
                  <a:rPr lang="ru-RU" dirty="0"/>
                  <a:t>Такая операция будет называться </a:t>
                </a:r>
                <a:r>
                  <a:rPr lang="en-US" dirty="0"/>
                  <a:t>W-MA </a:t>
                </a:r>
                <a:r>
                  <a:rPr lang="ru-RU" dirty="0"/>
                  <a:t>(скользящее среднее)</a:t>
                </a:r>
              </a:p>
            </p:txBody>
          </p:sp>
        </mc:Choice>
        <mc:Fallback xmlns="">
          <p:sp>
            <p:nvSpPr>
              <p:cNvPr id="4" name="Прямоугольник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0508" y="3892216"/>
                <a:ext cx="6355715" cy="1046184"/>
              </a:xfrm>
              <a:prstGeom prst="rect">
                <a:avLst/>
              </a:prstGeom>
              <a:blipFill>
                <a:blip r:embed="rId4"/>
                <a:stretch>
                  <a:fillRect l="-480" t="-36628" r="-384" b="-814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Прямоугольник 5"/>
          <p:cNvSpPr/>
          <p:nvPr/>
        </p:nvSpPr>
        <p:spPr>
          <a:xfrm>
            <a:off x="719117" y="4938400"/>
            <a:ext cx="5746921" cy="166199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altLang="ru-RU" sz="1700" b="0" i="1" dirty="0">
                <a:latin typeface="+mj-lt"/>
                <a:cs typeface="Times New Roman" panose="02020603050405020304" pitchFamily="18" charset="0"/>
              </a:rPr>
              <a:t>можно делать </a:t>
            </a:r>
            <a:r>
              <a:rPr lang="en-US" altLang="ru-RU" sz="1700" b="0" i="1" dirty="0">
                <a:latin typeface="+mj-lt"/>
                <a:cs typeface="Times New Roman" panose="02020603050405020304" pitchFamily="18" charset="0"/>
              </a:rPr>
              <a:t>MA </a:t>
            </a:r>
            <a:r>
              <a:rPr lang="ru-RU" altLang="ru-RU" sz="1700" b="0" i="1" dirty="0">
                <a:latin typeface="+mj-lt"/>
                <a:cs typeface="Times New Roman" panose="02020603050405020304" pitchFamily="18" charset="0"/>
              </a:rPr>
              <a:t>над </a:t>
            </a:r>
            <a:r>
              <a:rPr lang="en-US" altLang="ru-RU" sz="1700" b="0" i="1" dirty="0">
                <a:latin typeface="+mj-lt"/>
                <a:cs typeface="Times New Roman" panose="02020603050405020304" pitchFamily="18" charset="0"/>
              </a:rPr>
              <a:t>MA </a:t>
            </a:r>
            <a:r>
              <a:rPr lang="ru-RU" altLang="ru-RU" sz="1700" b="0" i="1" dirty="0">
                <a:latin typeface="+mj-lt"/>
                <a:cs typeface="Times New Roman" panose="02020603050405020304" pitchFamily="18" charset="0"/>
              </a:rPr>
              <a:t>или ввести взвешенный </a:t>
            </a:r>
            <a:r>
              <a:rPr lang="en-US" altLang="ru-RU" sz="1700" b="0" i="1" dirty="0">
                <a:latin typeface="+mj-lt"/>
                <a:cs typeface="Times New Roman" panose="02020603050405020304" pitchFamily="18" charset="0"/>
              </a:rPr>
              <a:t>MA (WMA) – </a:t>
            </a:r>
            <a:r>
              <a:rPr lang="ru-RU" altLang="ru-RU" sz="1700" b="0" i="1" dirty="0">
                <a:latin typeface="+mj-lt"/>
                <a:cs typeface="Times New Roman" panose="02020603050405020304" pitchFamily="18" charset="0"/>
              </a:rPr>
              <a:t>выбор коэффициентов таких операций будет влиять на результат сглаживания. В том числе можно синтезировать сглаживание сезонности до определенных компонент или не мене определенных компонент (фильтрация Временного ряда)</a:t>
            </a:r>
            <a:endParaRPr lang="ru-RU" sz="1700" i="1" dirty="0"/>
          </a:p>
        </p:txBody>
      </p:sp>
    </p:spTree>
    <p:extLst>
      <p:ext uri="{BB962C8B-B14F-4D97-AF65-F5344CB8AC3E}">
        <p14:creationId xmlns:p14="http://schemas.microsoft.com/office/powerpoint/2010/main" val="193475790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84860" y="60325"/>
            <a:ext cx="10515600" cy="854075"/>
          </a:xfrm>
        </p:spPr>
        <p:txBody>
          <a:bodyPr/>
          <a:lstStyle/>
          <a:p>
            <a:pPr algn="ctr"/>
            <a:r>
              <a:rPr lang="ru-RU" dirty="0"/>
              <a:t>Классический подход</a:t>
            </a:r>
            <a:r>
              <a:rPr lang="en-US" dirty="0"/>
              <a:t> </a:t>
            </a:r>
            <a:r>
              <a:rPr lang="ru-RU" dirty="0"/>
              <a:t>к декомпозиции ВР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160020" y="680085"/>
                <a:ext cx="12031980" cy="5341620"/>
              </a:xfrm>
            </p:spPr>
            <p:txBody>
              <a:bodyPr>
                <a:normAutofit/>
              </a:bodyPr>
              <a:lstStyle/>
              <a:p>
                <a:pPr marL="0" indent="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r>
                  <a:rPr lang="ru-RU" altLang="ru-RU" sz="2000" dirty="0">
                    <a:cs typeface="Times New Roman" panose="02020603050405020304" pitchFamily="18" charset="0"/>
                  </a:rPr>
                  <a:t>Используя скользящее среднее проще всего разложить временной ряд на компоненты.</a:t>
                </a:r>
              </a:p>
              <a:p>
                <a:pPr marL="0" lvl="0" indent="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r>
                  <a:rPr lang="ru-RU" altLang="ru-RU" sz="2000" b="1" i="1" dirty="0">
                    <a:cs typeface="Times New Roman" panose="02020603050405020304" pitchFamily="18" charset="0"/>
                  </a:rPr>
                  <a:t>1 – вычисление тренда методом скользящего среднего </a:t>
                </a:r>
                <a:r>
                  <a:rPr lang="en-US" altLang="ru-RU" sz="2000" b="1" i="1" dirty="0">
                    <a:cs typeface="Times New Roman" panose="02020603050405020304" pitchFamily="18" charset="0"/>
                  </a:rPr>
                  <a:t>(MA)</a:t>
                </a:r>
                <a:r>
                  <a:rPr lang="ru-RU" altLang="ru-RU" sz="2000" b="1" i="1" dirty="0">
                    <a:cs typeface="Times New Roman" panose="02020603050405020304" pitchFamily="18" charset="0"/>
                  </a:rPr>
                  <a:t> с окном размера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ru-RU" sz="2000" b="1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w</m:t>
                    </m:r>
                    <m:r>
                      <a:rPr lang="ru-RU" altLang="ru-RU" sz="2000" b="1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  <m:r>
                      <a:rPr lang="en-US" altLang="ru-RU" sz="2000" b="1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en-US" altLang="ru-RU" sz="2000" b="1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𝒘</m:t>
                    </m:r>
                    <m:r>
                      <a:rPr lang="en-US" altLang="ru-RU" sz="2000" b="1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нечетное)</m:t>
                    </m:r>
                  </m:oMath>
                </a14:m>
                <a:endParaRPr lang="ru-RU" altLang="ru-RU" sz="2000" b="1" i="1" dirty="0">
                  <a:cs typeface="Times New Roman" panose="02020603050405020304" pitchFamily="18" charset="0"/>
                </a:endParaRPr>
              </a:p>
              <a:p>
                <a:pPr marL="914400" lvl="2" indent="-45720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ru-RU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altLang="ru-RU" i="1" dirty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accPr>
                          <m:e>
                            <m:r>
                              <a:rPr lang="en-US" altLang="ru-RU" i="1" dirty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𝑇</m:t>
                            </m:r>
                          </m:e>
                        </m:acc>
                      </m:e>
                      <m:sub>
                        <m:r>
                          <a:rPr lang="en-US" altLang="ru-RU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dirty="0"/>
                  <a:t> =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𝑤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i="1" dirty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−(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𝑤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−1)/2</m:t>
                        </m:r>
                      </m:sub>
                      <m:sup>
                        <m:f>
                          <m:fPr>
                            <m:type m:val="lin"/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d>
                              <m:dPr>
                                <m:ctrlP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d>
                                  <m:dPr>
                                    <m:ctrlP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𝑤</m:t>
                                    </m:r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e>
                                </m:d>
                              </m:e>
                            </m:d>
                          </m:num>
                          <m:den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sup>
                      <m:e>
                        <m:sSub>
                          <m:sSub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sub>
                        </m:sSub>
                      </m:e>
                    </m:nary>
                  </m:oMath>
                </a14:m>
                <a:r>
                  <a:rPr lang="en-US" altLang="ru-RU" dirty="0">
                    <a:solidFill>
                      <a:srgbClr val="333333"/>
                    </a:solidFill>
                    <a:cs typeface="Times New Roman" panose="02020603050405020304" pitchFamily="18" charset="0"/>
                  </a:rPr>
                  <a:t>  - </a:t>
                </a:r>
                <a:r>
                  <a:rPr lang="ru-RU" altLang="ru-RU" dirty="0">
                    <a:solidFill>
                      <a:srgbClr val="333333"/>
                    </a:solidFill>
                    <a:cs typeface="Times New Roman" panose="02020603050405020304" pitchFamily="18" charset="0"/>
                  </a:rPr>
                  <a:t>центрированное скользящее среднее позволяет избежать эффекта запаздывания </a:t>
                </a:r>
              </a:p>
              <a:p>
                <a:pPr marL="914400" lvl="2" indent="-45720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r>
                  <a:rPr lang="ru-RU" altLang="ru-RU" dirty="0">
                    <a:solidFill>
                      <a:srgbClr val="333333"/>
                    </a:solidFill>
                    <a:cs typeface="Times New Roman" panose="02020603050405020304" pitchFamily="18" charset="0"/>
                  </a:rPr>
                  <a:t>Если </a:t>
                </a:r>
                <a:r>
                  <a:rPr lang="en-US" altLang="ru-RU" dirty="0">
                    <a:solidFill>
                      <a:srgbClr val="333333"/>
                    </a:solidFill>
                    <a:cs typeface="Times New Roman" panose="02020603050405020304" pitchFamily="18" charset="0"/>
                  </a:rPr>
                  <a:t>m </a:t>
                </a:r>
                <a:r>
                  <a:rPr lang="ru-RU" altLang="ru-RU" dirty="0">
                    <a:solidFill>
                      <a:srgbClr val="333333"/>
                    </a:solidFill>
                    <a:cs typeface="Times New Roman" panose="02020603050405020304" pitchFamily="18" charset="0"/>
                  </a:rPr>
                  <a:t>четное - (можно заменить на 2х</a:t>
                </a:r>
                <a:r>
                  <a:rPr lang="en-US" altLang="ru-RU" dirty="0">
                    <a:solidFill>
                      <a:srgbClr val="333333"/>
                    </a:solidFill>
                    <a:cs typeface="Times New Roman" panose="02020603050405020304" pitchFamily="18" charset="0"/>
                  </a:rPr>
                  <a:t>ma</a:t>
                </a:r>
                <a:r>
                  <a:rPr lang="ru-RU" altLang="ru-RU" dirty="0">
                    <a:solidFill>
                      <a:srgbClr val="333333"/>
                    </a:solidFill>
                    <a:cs typeface="Times New Roman" panose="02020603050405020304" pitchFamily="18" charset="0"/>
                  </a:rPr>
                  <a:t> или на другую схему</a:t>
                </a:r>
              </a:p>
              <a:p>
                <a:pPr marL="457200" lvl="1" indent="-45720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r>
                  <a:rPr lang="ru-RU" altLang="ru-RU" sz="2000" b="1" i="1" dirty="0">
                    <a:cs typeface="Times New Roman" panose="02020603050405020304" pitchFamily="18" charset="0"/>
                  </a:rPr>
                  <a:t>2</a:t>
                </a:r>
                <a:r>
                  <a:rPr lang="en-US" altLang="ru-RU" sz="2000" b="1" i="1" dirty="0">
                    <a:cs typeface="Times New Roman" panose="02020603050405020304" pitchFamily="18" charset="0"/>
                  </a:rPr>
                  <a:t> – </a:t>
                </a:r>
                <a:r>
                  <a:rPr lang="ru-RU" altLang="ru-RU" sz="2000" b="1" i="1" dirty="0">
                    <a:cs typeface="Times New Roman" panose="02020603050405020304" pitchFamily="18" charset="0"/>
                  </a:rPr>
                  <a:t>вычисление сезонности </a:t>
                </a:r>
                <a:endParaRPr lang="en-US" altLang="ru-RU" sz="2000" b="1" i="1" dirty="0">
                  <a:cs typeface="Times New Roman" panose="02020603050405020304" pitchFamily="18" charset="0"/>
                </a:endParaRPr>
              </a:p>
              <a:p>
                <a:pPr marL="457200" lvl="1" indent="-45720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r>
                  <a:rPr lang="ru-RU" altLang="ru-RU" sz="2000" dirty="0">
                    <a:solidFill>
                      <a:srgbClr val="333333"/>
                    </a:solidFill>
                    <a:cs typeface="Times New Roman" panose="02020603050405020304" pitchFamily="18" charset="0"/>
                  </a:rPr>
                  <a:t>	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ru-RU" sz="2000" b="0" i="1" dirty="0" smtClean="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ru-RU" sz="2000" b="0" i="1" dirty="0" smtClean="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𝑠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ru-RU" sz="2000" b="0" i="0" dirty="0" smtClean="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n</m:t>
                        </m:r>
                      </m:sub>
                    </m:sSub>
                    <m:r>
                      <a:rPr lang="en-US" altLang="ru-RU" sz="2000" b="0" i="0" dirty="0" smtClean="0">
                        <a:solidFill>
                          <a:srgbClr val="333333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ru-RU" sz="2000" b="0" i="1" dirty="0" smtClean="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ru-RU" altLang="ru-RU" sz="2000" i="1" dirty="0" smtClean="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ru-RU" sz="2000" b="0" i="1" dirty="0" smtClean="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sub>
                    </m:sSub>
                    <m:r>
                      <a:rPr lang="ru-RU" altLang="ru-RU" sz="2000" i="1" dirty="0" smtClean="0">
                        <a:solidFill>
                          <a:srgbClr val="333333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−</m:t>
                    </m:r>
                    <m:sSub>
                      <m:sSubPr>
                        <m:ctrlPr>
                          <a:rPr lang="en-US" altLang="ru-RU" sz="2000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altLang="ru-RU" sz="2000" i="1" dirty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accPr>
                          <m:e>
                            <m:r>
                              <a:rPr lang="en-US" altLang="ru-RU" sz="2000" i="1" dirty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𝑇</m:t>
                            </m:r>
                          </m:e>
                        </m:acc>
                      </m:e>
                      <m:sub>
                        <m:r>
                          <a:rPr lang="en-US" altLang="ru-RU" sz="2000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sub>
                    </m:sSub>
                  </m:oMath>
                </a14:m>
                <a:endParaRPr lang="en-US" altLang="ru-RU" sz="2000" b="1" i="1" dirty="0">
                  <a:cs typeface="Times New Roman" panose="02020603050405020304" pitchFamily="18" charset="0"/>
                </a:endParaRPr>
              </a:p>
              <a:p>
                <a:pPr marL="457200" lvl="1" indent="-45720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r>
                  <a:rPr lang="ru-RU" altLang="ru-RU" sz="2000" b="1" i="1" dirty="0">
                    <a:cs typeface="Times New Roman" panose="02020603050405020304" pitchFamily="18" charset="0"/>
                  </a:rPr>
                  <a:t>3</a:t>
                </a:r>
                <a:r>
                  <a:rPr lang="en-US" altLang="ru-RU" sz="2000" b="1" i="1" dirty="0">
                    <a:cs typeface="Times New Roman" panose="02020603050405020304" pitchFamily="18" charset="0"/>
                  </a:rPr>
                  <a:t>  –  </a:t>
                </a:r>
                <a:r>
                  <a:rPr lang="ru-RU" altLang="ru-RU" sz="2000" dirty="0">
                    <a:solidFill>
                      <a:srgbClr val="333333"/>
                    </a:solidFill>
                    <a:cs typeface="Times New Roman" panose="02020603050405020304" pitchFamily="18" charset="0"/>
                  </a:rPr>
                  <a:t>Оценка значений одного периода сезонной составляющей </a:t>
                </a:r>
                <a:r>
                  <a:rPr lang="en-US" altLang="ru-RU" sz="2000" dirty="0">
                    <a:solidFill>
                      <a:srgbClr val="333333"/>
                    </a:solidFill>
                    <a:cs typeface="Times New Roman" panose="02020603050405020304" pitchFamily="18" charset="0"/>
                  </a:rPr>
                  <a:t>c </a:t>
                </a:r>
                <a:r>
                  <a:rPr lang="ru-RU" altLang="ru-RU" sz="2000" dirty="0">
                    <a:solidFill>
                      <a:srgbClr val="333333"/>
                    </a:solidFill>
                    <a:cs typeface="Times New Roman" panose="02020603050405020304" pitchFamily="18" charset="0"/>
                  </a:rPr>
                  <a:t>заданной сезонностью</a:t>
                </a:r>
                <a:r>
                  <a:rPr lang="en-US" altLang="ru-RU" sz="2000" dirty="0">
                    <a:solidFill>
                      <a:srgbClr val="333333"/>
                    </a:solidFill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ru-RU" sz="2000" i="1" dirty="0" smtClean="0">
                        <a:solidFill>
                          <a:srgbClr val="333333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𝑚</m:t>
                    </m:r>
                  </m:oMath>
                </a14:m>
                <a:endParaRPr lang="en-US" altLang="ru-RU" sz="2000" b="1" i="1" dirty="0">
                  <a:cs typeface="Times New Roman" panose="02020603050405020304" pitchFamily="18" charset="0"/>
                </a:endParaRPr>
              </a:p>
              <a:p>
                <a:pPr marL="457200" lvl="1" indent="-45720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r>
                  <a:rPr lang="en-US" altLang="ru-RU" sz="2000" b="1" i="1" dirty="0">
                    <a:cs typeface="Times New Roman" panose="02020603050405020304" pitchFamily="18" charset="0"/>
                  </a:rPr>
                  <a:t>	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altLang="ru-RU" sz="20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accPr>
                      <m:e>
                        <m:r>
                          <a:rPr lang="en-US" altLang="ru-RU" sz="20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𝑠</m:t>
                        </m:r>
                      </m:e>
                    </m:acc>
                    <m:r>
                      <a:rPr lang="en-US" altLang="ru-RU" sz="20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d>
                      <m:dPr>
                        <m:ctrlPr>
                          <a:rPr lang="en-US" altLang="ru-RU" sz="200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ru-RU" sz="20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ru-RU" sz="20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altLang="ru-RU" sz="20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altLang="ru-RU" sz="20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altLang="ru-RU" sz="20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ru-RU" sz="20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altLang="ru-RU" sz="20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ru-RU" sz="20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altLang="ru-RU" sz="20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ru-RU" sz="20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altLang="ru-RU" sz="20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𝑚</m:t>
                            </m:r>
                          </m:sub>
                        </m:sSub>
                        <m:r>
                          <a:rPr lang="en-US" altLang="ru-RU" sz="20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)</m:t>
                        </m:r>
                        <m:r>
                          <a:rPr lang="ru-RU" altLang="ru-RU" sz="20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=</m:t>
                        </m:r>
                        <m:r>
                          <a:rPr lang="en-US" altLang="ru-RU" sz="20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1/</m:t>
                        </m:r>
                        <m:r>
                          <a:rPr lang="en-US" altLang="ru-RU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∆</m:t>
                        </m:r>
                        <m:r>
                          <a:rPr lang="en-US" altLang="ru-RU" sz="20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ctrlPr>
                              <a:rPr lang="en-US" altLang="ru-RU" sz="20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naryPr>
                          <m:sub>
                            <m:r>
                              <a:rPr lang="en-US" altLang="ru-RU" sz="20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  <m:r>
                              <a:rPr lang="en-US" altLang="ru-RU" sz="20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=0</m:t>
                            </m:r>
                          </m:sub>
                          <m:sup>
                            <m:r>
                              <a:rPr lang="en-US" altLang="ru-RU" sz="20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∆−1</m:t>
                            </m:r>
                          </m:sup>
                          <m:e>
                            <m:sSub>
                              <m:sSubPr>
                                <m:ctrlPr>
                                  <a:rPr lang="en-US" altLang="ru-RU" sz="2000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ru-RU" sz="2000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altLang="ru-RU" sz="2000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𝑚</m:t>
                                </m:r>
                                <m:r>
                                  <a:rPr lang="en-US" altLang="ru-RU" sz="2000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⋅</m:t>
                                </m:r>
                                <m:r>
                                  <a:rPr lang="en-US" altLang="ru-RU" sz="2000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nary>
                        <m:r>
                          <a:rPr lang="en-US" altLang="ru-RU" sz="20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,</m:t>
                        </m:r>
                        <m:nary>
                          <m:naryPr>
                            <m:chr m:val="∑"/>
                            <m:ctrlPr>
                              <a:rPr lang="en-US" altLang="ru-RU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naryPr>
                          <m:sub>
                            <m:r>
                              <a:rPr lang="en-US" altLang="ru-RU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  <m:r>
                              <a:rPr lang="en-US" altLang="ru-RU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=0</m:t>
                            </m:r>
                          </m:sub>
                          <m:sup>
                            <m:r>
                              <a:rPr lang="en-US" altLang="ru-RU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∆</m:t>
                            </m:r>
                            <m:r>
                              <a:rPr lang="en-US" altLang="ru-RU" sz="20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−1</m:t>
                            </m:r>
                          </m:sup>
                          <m:e>
                            <m:sSub>
                              <m:sSubPr>
                                <m:ctrlPr>
                                  <a:rPr lang="en-US" altLang="ru-RU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ru-RU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altLang="ru-RU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𝑚</m:t>
                                </m:r>
                                <m:r>
                                  <a:rPr lang="en-US" altLang="ru-RU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⋅</m:t>
                                </m:r>
                                <m:r>
                                  <a:rPr lang="en-US" altLang="ru-RU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𝑖</m:t>
                                </m:r>
                                <m:r>
                                  <a:rPr lang="en-US" altLang="ru-RU" sz="2000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+1</m:t>
                                </m:r>
                              </m:sub>
                            </m:sSub>
                            <m:r>
                              <a:rPr lang="en-US" altLang="ru-RU" sz="20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,…,</m:t>
                            </m:r>
                            <m:nary>
                              <m:naryPr>
                                <m:chr m:val="∑"/>
                                <m:ctrlPr>
                                  <a:rPr lang="en-US" altLang="ru-RU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en-US" altLang="ru-RU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𝑖</m:t>
                                </m:r>
                                <m:r>
                                  <a:rPr lang="en-US" altLang="ru-RU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=0</m:t>
                                </m:r>
                              </m:sub>
                              <m:sup>
                                <m:r>
                                  <a:rPr lang="en-US" altLang="ru-RU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∆</m:t>
                                </m:r>
                                <m:r>
                                  <a:rPr lang="en-US" altLang="ru-RU" sz="2000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−1</m:t>
                                </m:r>
                              </m:sup>
                              <m:e>
                                <m:sSub>
                                  <m:sSubPr>
                                    <m:ctrlPr>
                                      <a:rPr lang="en-US" altLang="ru-RU" sz="2000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ru-RU" sz="2000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en-US" altLang="ru-RU" sz="2000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𝑚</m:t>
                                    </m:r>
                                    <m:r>
                                      <a:rPr lang="en-US" altLang="ru-RU" sz="2000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⋅</m:t>
                                    </m:r>
                                    <m:r>
                                      <a:rPr lang="en-US" altLang="ru-RU" sz="2000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𝑖</m:t>
                                    </m:r>
                                    <m:r>
                                      <a:rPr lang="en-US" altLang="ru-RU" sz="2000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+</m:t>
                                    </m:r>
                                    <m:r>
                                      <a:rPr lang="en-US" altLang="ru-RU" sz="2000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𝑚</m:t>
                                    </m:r>
                                  </m:sub>
                                </m:sSub>
                              </m:e>
                            </m:nary>
                          </m:e>
                        </m:nary>
                      </m:e>
                    </m:d>
                  </m:oMath>
                </a14:m>
                <a:r>
                  <a:rPr lang="en-US" altLang="ru-RU" sz="2000" i="1" dirty="0">
                    <a:cs typeface="Times New Roman" panose="02020603050405020304" pitchFamily="18" charset="0"/>
                  </a:rPr>
                  <a:t>,</a:t>
                </a:r>
                <a:br>
                  <a:rPr lang="ru-RU" altLang="ru-RU" sz="2000" i="1" dirty="0">
                    <a:cs typeface="Times New Roman" panose="02020603050405020304" pitchFamily="18" charset="0"/>
                  </a:rPr>
                </a:br>
                <a:r>
                  <a:rPr lang="ru-RU" altLang="ru-RU" sz="2000" i="1" dirty="0">
                    <a:cs typeface="Times New Roman" panose="02020603050405020304" pitchFamily="18" charset="0"/>
                  </a:rPr>
                  <a:t> где</a:t>
                </a:r>
                <a:r>
                  <a:rPr lang="en-US" altLang="ru-RU" sz="2000" i="1" dirty="0"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ru-RU" sz="2000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∆</m:t>
                    </m:r>
                    <m:r>
                      <a:rPr lang="en-US" altLang="ru-RU" sz="20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a:rPr lang="en-US" altLang="ru-RU" sz="20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𝑁</m:t>
                    </m:r>
                    <m:r>
                      <a:rPr lang="en-US" altLang="ru-RU" sz="20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  <m:r>
                      <a:rPr lang="en-US" altLang="ru-RU" sz="20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𝑚𝑜𝑑</m:t>
                    </m:r>
                    <m:r>
                      <a:rPr lang="en-US" altLang="ru-RU" sz="20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  <m:r>
                      <a:rPr lang="en-US" altLang="ru-RU" sz="20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𝑚</m:t>
                    </m:r>
                    <m:r>
                      <a:rPr lang="en-US" altLang="ru-RU" sz="20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en-US" altLang="ru-RU" sz="2000" b="0" i="0" dirty="0">
                    <a:latin typeface="+mj-lt"/>
                    <a:cs typeface="Times New Roman" panose="02020603050405020304" pitchFamily="18" charset="0"/>
                  </a:rPr>
                  <a:t>-</a:t>
                </a:r>
                <a:r>
                  <a:rPr lang="ru-RU" altLang="ru-RU" sz="2000" b="0" i="0" dirty="0">
                    <a:latin typeface="+mj-lt"/>
                    <a:cs typeface="Times New Roman" panose="02020603050405020304" pitchFamily="18" charset="0"/>
                  </a:rPr>
                  <a:t>целое число периодов сезона во ВР</a:t>
                </a:r>
                <a:endParaRPr lang="ru-RU" altLang="ru-RU" sz="2000" i="1" dirty="0">
                  <a:cs typeface="Times New Roman" panose="02020603050405020304" pitchFamily="18" charset="0"/>
                </a:endParaRPr>
              </a:p>
              <a:p>
                <a:pPr marL="0" lvl="1" indent="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r>
                  <a:rPr lang="ru-RU" altLang="ru-RU" sz="2000" b="1" i="1" dirty="0">
                    <a:cs typeface="Times New Roman" panose="02020603050405020304" pitchFamily="18" charset="0"/>
                  </a:rPr>
                  <a:t>4</a:t>
                </a:r>
                <a:r>
                  <a:rPr lang="en-US" altLang="ru-RU" sz="2000" b="1" i="1" dirty="0">
                    <a:cs typeface="Times New Roman" panose="02020603050405020304" pitchFamily="18" charset="0"/>
                  </a:rPr>
                  <a:t>  – </a:t>
                </a:r>
                <a:r>
                  <a:rPr lang="ru-RU" altLang="ru-RU" sz="2000" dirty="0">
                    <a:solidFill>
                      <a:srgbClr val="333333"/>
                    </a:solidFill>
                    <a:cs typeface="Times New Roman" panose="02020603050405020304" pitchFamily="18" charset="0"/>
                  </a:rPr>
                  <a:t>Интерполяция сезонной составляющей на весь</a:t>
                </a:r>
                <a:r>
                  <a:rPr lang="en-US" altLang="ru-RU" sz="2000" dirty="0">
                    <a:solidFill>
                      <a:srgbClr val="333333"/>
                    </a:solidFill>
                    <a:cs typeface="Times New Roman" panose="02020603050405020304" pitchFamily="18" charset="0"/>
                  </a:rPr>
                  <a:t> </a:t>
                </a:r>
                <a:r>
                  <a:rPr lang="ru-RU" altLang="ru-RU" sz="2000" dirty="0">
                    <a:solidFill>
                      <a:srgbClr val="333333"/>
                    </a:solidFill>
                    <a:cs typeface="Times New Roman" panose="02020603050405020304" pitchFamily="18" charset="0"/>
                  </a:rPr>
                  <a:t>объем выборки ВР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altLang="ru-RU" sz="20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altLang="ru-RU" sz="2000" b="1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accPr>
                          <m:e>
                            <m:r>
                              <a:rPr lang="en-US" altLang="ru-RU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𝑠</m:t>
                            </m:r>
                          </m:e>
                        </m:acc>
                      </m:e>
                      <m:sub>
                        <m:r>
                          <a:rPr lang="en-US" altLang="ru-RU" sz="20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𝒏</m:t>
                        </m:r>
                      </m:sub>
                    </m:sSub>
                  </m:oMath>
                </a14:m>
                <a:endParaRPr lang="ru-RU" altLang="ru-RU" sz="2000" dirty="0">
                  <a:solidFill>
                    <a:srgbClr val="333333"/>
                  </a:solidFill>
                  <a:cs typeface="Times New Roman" panose="02020603050405020304" pitchFamily="18" charset="0"/>
                </a:endParaRPr>
              </a:p>
              <a:p>
                <a:pPr marL="457200" lvl="1" indent="-45720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r>
                  <a:rPr lang="ru-RU" altLang="ru-RU" sz="2000" b="1" i="1" dirty="0">
                    <a:cs typeface="Times New Roman" panose="02020603050405020304" pitchFamily="18" charset="0"/>
                  </a:rPr>
                  <a:t>5</a:t>
                </a:r>
                <a:r>
                  <a:rPr lang="en-US" altLang="ru-RU" sz="2000" b="1" i="1" dirty="0">
                    <a:cs typeface="Times New Roman" panose="02020603050405020304" pitchFamily="18" charset="0"/>
                  </a:rPr>
                  <a:t>  – </a:t>
                </a:r>
                <a:r>
                  <a:rPr lang="ru-RU" altLang="ru-RU" sz="2000" dirty="0">
                    <a:solidFill>
                      <a:srgbClr val="333333"/>
                    </a:solidFill>
                    <a:cs typeface="Times New Roman" panose="02020603050405020304" pitchFamily="18" charset="0"/>
                  </a:rPr>
                  <a:t>Вычисление остатка как</a:t>
                </a:r>
                <a14:m>
                  <m:oMath xmlns:m="http://schemas.openxmlformats.org/officeDocument/2006/math">
                    <m:r>
                      <a:rPr lang="en-US" altLang="ru-RU" sz="2000" b="0" i="0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 </m:t>
                    </m:r>
                    <m:sSub>
                      <m:sSubPr>
                        <m:ctrlPr>
                          <a:rPr lang="en-US" altLang="ru-RU" sz="2000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l-GR" altLang="ru-RU" sz="2000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𝜀</m:t>
                        </m:r>
                      </m:e>
                      <m:sub>
                        <m:r>
                          <a:rPr lang="en-US" altLang="ru-RU" sz="2000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sub>
                    </m:sSub>
                    <m:r>
                      <a:rPr lang="en-US" altLang="ru-RU" sz="2000" b="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ru-RU" sz="2000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ru-RU" sz="2000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ru-RU" sz="2000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sub>
                    </m:sSub>
                    <m:r>
                      <a:rPr lang="en-US" altLang="ru-RU" sz="2000" b="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−</m:t>
                    </m:r>
                    <m:sSub>
                      <m:sSubPr>
                        <m:ctrlPr>
                          <a:rPr lang="en-US" altLang="ru-RU" sz="2000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altLang="ru-RU" sz="2000" i="1" dirty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accPr>
                          <m:e>
                            <m:r>
                              <a:rPr lang="en-US" altLang="ru-RU" sz="2000" i="1" dirty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𝑇</m:t>
                            </m:r>
                          </m:e>
                        </m:acc>
                      </m:e>
                      <m:sub>
                        <m:r>
                          <a:rPr lang="en-US" altLang="ru-RU" sz="2000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sub>
                    </m:sSub>
                    <m:r>
                      <a:rPr lang="en-US" altLang="ru-RU" sz="2000" b="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−</m:t>
                    </m:r>
                    <m:sSub>
                      <m:sSubPr>
                        <m:ctrlPr>
                          <a:rPr lang="ru-RU" altLang="ru-RU" sz="2000" b="1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altLang="ru-RU" sz="2000" b="1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accPr>
                          <m:e>
                            <m:r>
                              <a:rPr lang="en-US" altLang="ru-RU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𝑠</m:t>
                            </m:r>
                          </m:e>
                        </m:acc>
                      </m:e>
                      <m:sub>
                        <m:r>
                          <a:rPr lang="en-US" altLang="ru-RU" sz="2000" b="1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𝒏</m:t>
                        </m:r>
                      </m:sub>
                    </m:sSub>
                  </m:oMath>
                </a14:m>
                <a:endParaRPr lang="ru-RU" altLang="ru-RU" sz="1800" dirty="0">
                  <a:solidFill>
                    <a:srgbClr val="333333"/>
                  </a:solidFill>
                  <a:cs typeface="Times New Roman" panose="02020603050405020304" pitchFamily="18" charset="0"/>
                </a:endParaRPr>
              </a:p>
              <a:p>
                <a:pPr marL="457200" lvl="1" indent="-45720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lang="ru-RU" altLang="ru-RU" sz="1600" dirty="0">
                  <a:solidFill>
                    <a:srgbClr val="333333"/>
                  </a:solidFill>
                  <a:cs typeface="Times New Roman" panose="02020603050405020304" pitchFamily="18" charset="0"/>
                </a:endParaRPr>
              </a:p>
              <a:p>
                <a:pPr marL="457200" lvl="1" indent="-45720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lang="ru-RU" altLang="ru-RU" sz="1600" dirty="0">
                  <a:solidFill>
                    <a:srgbClr val="333333"/>
                  </a:solidFill>
                  <a:cs typeface="Times New Roman" panose="02020603050405020304" pitchFamily="18" charset="0"/>
                </a:endParaRPr>
              </a:p>
              <a:p>
                <a:pPr marL="457200" lvl="1" indent="-45720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lang="ru-RU" altLang="ru-RU" sz="18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60020" y="680085"/>
                <a:ext cx="12031980" cy="5341620"/>
              </a:xfrm>
              <a:blipFill>
                <a:blip r:embed="rId2"/>
                <a:stretch>
                  <a:fillRect l="-507" t="-685" r="-91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Прямоугольник 3"/>
          <p:cNvSpPr/>
          <p:nvPr/>
        </p:nvSpPr>
        <p:spPr>
          <a:xfrm>
            <a:off x="160020" y="6442055"/>
            <a:ext cx="1139952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00" dirty="0">
                <a:hlinkClick r:id="rId3"/>
              </a:rPr>
              <a:t>https://otexts.com/fpp2/classical-decomposition.html</a:t>
            </a:r>
            <a:r>
              <a:rPr lang="ru-RU" sz="1200" dirty="0"/>
              <a:t> </a:t>
            </a:r>
            <a:r>
              <a:rPr lang="en-US" sz="1200" dirty="0">
                <a:hlinkClick r:id="rId4"/>
              </a:rPr>
              <a:t>https://www.openforecast.org/adam/classical-seasonal-decomposition.html</a:t>
            </a:r>
            <a:r>
              <a:rPr lang="ru-RU" sz="1200" dirty="0"/>
              <a:t> </a:t>
            </a:r>
            <a:r>
              <a:rPr lang="en-US" sz="1200" dirty="0">
                <a:hlinkClick r:id="rId5"/>
              </a:rPr>
              <a:t>http://www.gardner.fyi/blog/STL-Part-II/</a:t>
            </a:r>
            <a:endParaRPr lang="ru-RU" sz="1200" dirty="0"/>
          </a:p>
        </p:txBody>
      </p:sp>
      <p:pic>
        <p:nvPicPr>
          <p:cNvPr id="3074" name="Picture 2" descr="Screenshot-2023-10-16-164112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20888" y="4368429"/>
            <a:ext cx="4231005" cy="11364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trend-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0219" y="5165625"/>
            <a:ext cx="2942273" cy="10505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Прямоугольник 4"/>
          <p:cNvSpPr/>
          <p:nvPr/>
        </p:nvSpPr>
        <p:spPr>
          <a:xfrm>
            <a:off x="632460" y="6297076"/>
            <a:ext cx="6096000" cy="27699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200" dirty="0">
                <a:hlinkClick r:id="rId8"/>
              </a:rPr>
              <a:t>https://www.geeksforgeeks.org/python/time-series-decomposition-techniques/</a:t>
            </a:r>
            <a:r>
              <a:rPr lang="ru-RU" sz="1200" dirty="0"/>
              <a:t> </a:t>
            </a:r>
          </a:p>
        </p:txBody>
      </p:sp>
      <p:pic>
        <p:nvPicPr>
          <p:cNvPr id="3078" name="Picture 6" descr="seasonal--min"/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700" y="5191490"/>
            <a:ext cx="3003233" cy="10651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604236" y="3508807"/>
            <a:ext cx="4488554" cy="3313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64589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84860" y="60325"/>
            <a:ext cx="10515600" cy="854075"/>
          </a:xfrm>
        </p:spPr>
        <p:txBody>
          <a:bodyPr/>
          <a:lstStyle/>
          <a:p>
            <a:pPr algn="ctr"/>
            <a:r>
              <a:rPr lang="ru-RU" dirty="0"/>
              <a:t>Классический подход</a:t>
            </a:r>
            <a:r>
              <a:rPr lang="en-US" dirty="0"/>
              <a:t> </a:t>
            </a:r>
            <a:r>
              <a:rPr lang="ru-RU" dirty="0"/>
              <a:t>к </a:t>
            </a:r>
            <a:r>
              <a:rPr lang="en-US" dirty="0" err="1"/>
              <a:t>Detrender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60020" y="882967"/>
            <a:ext cx="12031980" cy="5341620"/>
          </a:xfrm>
        </p:spPr>
        <p:txBody>
          <a:bodyPr>
            <a:normAutofit/>
          </a:bodyPr>
          <a:lstStyle/>
          <a:p>
            <a:pPr marL="457200" lvl="1" indent="-4572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ru-RU" altLang="ru-RU" dirty="0"/>
              <a:t>Если тренд простой, то можно аппроксимировать тренд </a:t>
            </a:r>
          </a:p>
          <a:p>
            <a:pPr lvl="2" indent="-4572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dirty="0"/>
              <a:t>Полиномиальной регрессией </a:t>
            </a:r>
            <a:endParaRPr lang="en-US" altLang="ru-RU" dirty="0"/>
          </a:p>
          <a:p>
            <a:pPr lvl="2" indent="-4572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dirty="0"/>
              <a:t>Ядерной функцией (ядерное сглаживание)</a:t>
            </a:r>
            <a:endParaRPr lang="en-US" altLang="ru-RU" dirty="0"/>
          </a:p>
          <a:p>
            <a:pPr lvl="2" indent="-4572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dirty="0"/>
              <a:t>Сплайнами (</a:t>
            </a:r>
            <a:r>
              <a:rPr lang="en-US" dirty="0"/>
              <a:t>Smoothing splines</a:t>
            </a:r>
            <a:r>
              <a:rPr lang="ru-RU" dirty="0"/>
              <a:t>)</a:t>
            </a:r>
            <a:endParaRPr lang="en-US" dirty="0"/>
          </a:p>
          <a:p>
            <a:pPr lvl="2" indent="-4572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dirty="0"/>
              <a:t>Методом локальной регрессии </a:t>
            </a:r>
            <a:r>
              <a:rPr lang="en-US" dirty="0"/>
              <a:t>(LOESS)</a:t>
            </a:r>
          </a:p>
          <a:p>
            <a:pPr lvl="2" indent="-4572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dirty="0"/>
              <a:t>Экспоненциальным сглаживанием</a:t>
            </a:r>
            <a:endParaRPr lang="en-US" dirty="0"/>
          </a:p>
          <a:p>
            <a:pPr marL="457200" lvl="1" indent="-4572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ru-RU" altLang="ru-RU" sz="2000" dirty="0"/>
              <a:t>И т.д.</a:t>
            </a:r>
          </a:p>
          <a:p>
            <a:pPr marL="457200" lvl="1" indent="-4572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ru-RU" altLang="ru-RU" sz="2000" dirty="0"/>
              <a:t>По сути – это все методы низкочастотной фильтрации ВР.</a:t>
            </a:r>
          </a:p>
          <a:p>
            <a:pPr marL="457200" lvl="1" indent="-4572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ru-RU" altLang="ru-RU" sz="2000" dirty="0"/>
          </a:p>
        </p:txBody>
      </p:sp>
      <p:sp>
        <p:nvSpPr>
          <p:cNvPr id="4" name="Прямоугольник 3"/>
          <p:cNvSpPr/>
          <p:nvPr/>
        </p:nvSpPr>
        <p:spPr>
          <a:xfrm>
            <a:off x="160020" y="6442055"/>
            <a:ext cx="1139952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00" dirty="0"/>
              <a:t>https://link.springer.com/chapter/10.1007/978-3-031-11432-8_4</a:t>
            </a:r>
            <a:endParaRPr lang="ru-RU" sz="1200" dirty="0"/>
          </a:p>
        </p:txBody>
      </p:sp>
      <p:sp>
        <p:nvSpPr>
          <p:cNvPr id="5" name="Прямоугольник 4"/>
          <p:cNvSpPr/>
          <p:nvPr/>
        </p:nvSpPr>
        <p:spPr>
          <a:xfrm>
            <a:off x="632460" y="6297076"/>
            <a:ext cx="6096000" cy="27699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1200" dirty="0"/>
              <a:t>https://readmedium.com/why-differencing-works-to-detrend-a-time-series-838fd875ff9d</a:t>
            </a:r>
            <a:endParaRPr lang="ru-RU" sz="1200" dirty="0"/>
          </a:p>
        </p:txBody>
      </p:sp>
      <p:pic>
        <p:nvPicPr>
          <p:cNvPr id="4098" name="Picture 2" descr="https://cdn-images-1.readmedium.com/v2/resize:fit:800/1*zUpPWuRfJIeVFLgr16atOA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12232" y="4414077"/>
            <a:ext cx="2812442" cy="18105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 descr="https://cdn-images-1.readmedium.com/v2/resize:fit:800/1*HXd9zt-RnDCg0rWvOaFTuA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98875" y="4373625"/>
            <a:ext cx="2842629" cy="17944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7052" y="4342730"/>
            <a:ext cx="4540640" cy="2026836"/>
          </a:xfrm>
          <a:prstGeom prst="rect">
            <a:avLst/>
          </a:prstGeom>
        </p:spPr>
      </p:pic>
      <p:sp>
        <p:nvSpPr>
          <p:cNvPr id="7" name="Прямоугольник 6"/>
          <p:cNvSpPr/>
          <p:nvPr/>
        </p:nvSpPr>
        <p:spPr>
          <a:xfrm>
            <a:off x="4610100" y="6508064"/>
            <a:ext cx="6096000" cy="27699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200" dirty="0"/>
              <a:t>https://www.r-bloggers.com/2018/07/smoothing-time-series-data/</a:t>
            </a:r>
          </a:p>
        </p:txBody>
      </p:sp>
      <p:pic>
        <p:nvPicPr>
          <p:cNvPr id="4102" name="Picture 6" descr="Running line smoothers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38857" y="2571868"/>
            <a:ext cx="3457575" cy="18594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Прямоугольник 9"/>
          <p:cNvSpPr/>
          <p:nvPr/>
        </p:nvSpPr>
        <p:spPr>
          <a:xfrm>
            <a:off x="9235510" y="2931036"/>
            <a:ext cx="223330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fontAlgn="base"/>
            <a:r>
              <a:rPr lang="en-US" b="1" dirty="0">
                <a:solidFill>
                  <a:srgbClr val="000000"/>
                </a:solidFill>
                <a:latin typeface="Open Sans" panose="020B0606030504020204" pitchFamily="34" charset="0"/>
              </a:rPr>
              <a:t>Kernel smoothers</a:t>
            </a:r>
            <a:endParaRPr lang="en-US" b="1" i="0" dirty="0">
              <a:solidFill>
                <a:srgbClr val="000000"/>
              </a:solidFill>
              <a:effectLst/>
              <a:latin typeface="Open Sans" panose="020B0606030504020204" pitchFamily="34" charset="0"/>
            </a:endParaRPr>
          </a:p>
        </p:txBody>
      </p:sp>
      <p:pic>
        <p:nvPicPr>
          <p:cNvPr id="4108" name="Picture 12" descr="Smoothing spline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98875" y="779267"/>
            <a:ext cx="3210451" cy="17089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Прямоугольник 10"/>
          <p:cNvSpPr/>
          <p:nvPr/>
        </p:nvSpPr>
        <p:spPr>
          <a:xfrm>
            <a:off x="9763115" y="914400"/>
            <a:ext cx="88197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fontAlgn="base"/>
            <a:r>
              <a:rPr lang="en-US" b="1" dirty="0">
                <a:solidFill>
                  <a:srgbClr val="000000"/>
                </a:solidFill>
                <a:latin typeface="Open Sans" panose="020B0606030504020204" pitchFamily="34" charset="0"/>
              </a:rPr>
              <a:t>LOESS</a:t>
            </a:r>
            <a:endParaRPr lang="en-US" b="1" i="0" dirty="0">
              <a:solidFill>
                <a:srgbClr val="000000"/>
              </a:solidFill>
              <a:effectLst/>
              <a:latin typeface="Open Sans" panose="020B060603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5753799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963EB16-C35E-202E-8536-7792933BB8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2517" y="365126"/>
            <a:ext cx="11041284" cy="618722"/>
          </a:xfrm>
        </p:spPr>
        <p:txBody>
          <a:bodyPr>
            <a:normAutofit fontScale="90000"/>
          </a:bodyPr>
          <a:lstStyle/>
          <a:p>
            <a:r>
              <a:rPr lang="ru-RU" dirty="0"/>
              <a:t>Проверка на тренд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55328E7-EB78-2758-0370-70EE4D9D90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8344" y="983848"/>
            <a:ext cx="11470512" cy="5590572"/>
          </a:xfrm>
        </p:spPr>
        <p:txBody>
          <a:bodyPr/>
          <a:lstStyle/>
          <a:p>
            <a:r>
              <a:rPr lang="ru-RU" sz="2200" dirty="0"/>
              <a:t>Тренд может быть</a:t>
            </a:r>
          </a:p>
          <a:p>
            <a:pPr lvl="1"/>
            <a:r>
              <a:rPr lang="ru-RU" sz="2200" dirty="0"/>
              <a:t>детерминированным</a:t>
            </a:r>
          </a:p>
          <a:p>
            <a:pPr lvl="2"/>
            <a:r>
              <a:rPr lang="ru-RU" sz="2200" dirty="0" err="1"/>
              <a:t>Мнотонный</a:t>
            </a:r>
            <a:r>
              <a:rPr lang="ru-RU" sz="2200" dirty="0"/>
              <a:t> ( в т.ч. с насыщением)</a:t>
            </a:r>
          </a:p>
          <a:p>
            <a:pPr lvl="2"/>
            <a:r>
              <a:rPr lang="ru-RU" sz="2200" dirty="0"/>
              <a:t>Цикличным</a:t>
            </a:r>
          </a:p>
          <a:p>
            <a:pPr lvl="2"/>
            <a:r>
              <a:rPr lang="ru-RU" sz="2200" dirty="0"/>
              <a:t>Иметь точки перегиба</a:t>
            </a:r>
          </a:p>
          <a:p>
            <a:pPr lvl="1"/>
            <a:r>
              <a:rPr lang="ru-RU" sz="2200" dirty="0"/>
              <a:t>Или может быть случайным</a:t>
            </a:r>
          </a:p>
          <a:p>
            <a:pPr lvl="1"/>
            <a:r>
              <a:rPr lang="ru-RU" sz="2200" dirty="0"/>
              <a:t>комбинированным</a:t>
            </a:r>
          </a:p>
          <a:p>
            <a:r>
              <a:rPr lang="ru-RU" sz="2200" dirty="0"/>
              <a:t>Тренд важно понимать, так как он виляет на </a:t>
            </a:r>
          </a:p>
          <a:p>
            <a:pPr lvl="1"/>
            <a:r>
              <a:rPr lang="ru-RU" sz="2200" dirty="0"/>
              <a:t>стационарность (TS</a:t>
            </a:r>
            <a:r>
              <a:rPr lang="en-US" sz="2200" dirty="0"/>
              <a:t>, DS </a:t>
            </a:r>
            <a:r>
              <a:rPr lang="ru-RU" sz="2200" dirty="0"/>
              <a:t>тренды), </a:t>
            </a:r>
          </a:p>
          <a:p>
            <a:pPr lvl="1"/>
            <a:r>
              <a:rPr lang="ru-RU" sz="2200" dirty="0"/>
              <a:t>выбор модели (напр. В моделях </a:t>
            </a:r>
            <a:r>
              <a:rPr lang="en-US" sz="2200" dirty="0"/>
              <a:t>ARIMA</a:t>
            </a:r>
            <a:r>
              <a:rPr lang="ru-RU" sz="2200" dirty="0"/>
              <a:t> порядок дифференцирования это параметр)</a:t>
            </a:r>
          </a:p>
          <a:p>
            <a:pPr lvl="1"/>
            <a:r>
              <a:rPr lang="ru-RU" sz="2200" dirty="0"/>
              <a:t>Интерпретацию данных – тренд + цикличность могут маскировать сезонность и другие факторы</a:t>
            </a:r>
          </a:p>
          <a:p>
            <a:pPr lvl="1"/>
            <a:r>
              <a:rPr lang="ru-RU" sz="2200" dirty="0"/>
              <a:t>Часто тренд – это основной источник изменений во ВР, правильный учет тренда – это львиная доля высокой точности предсказания</a:t>
            </a:r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91764359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AB69DE-F34F-0E45-FF63-CADE8DB4DC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0EFE655-C84E-B3C4-A33C-00B65DAD50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2517" y="111018"/>
            <a:ext cx="11041284" cy="618722"/>
          </a:xfrm>
        </p:spPr>
        <p:txBody>
          <a:bodyPr>
            <a:normAutofit fontScale="90000"/>
          </a:bodyPr>
          <a:lstStyle/>
          <a:p>
            <a:r>
              <a:rPr lang="ru-RU" dirty="0"/>
              <a:t>Проверка на тренд Тесты на наличие тренда: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443880A-ED24-EAB9-9093-23A12A73D4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2517" y="729740"/>
            <a:ext cx="11566967" cy="5774709"/>
          </a:xfrm>
        </p:spPr>
        <p:txBody>
          <a:bodyPr>
            <a:normAutofit/>
          </a:bodyPr>
          <a:lstStyle/>
          <a:p>
            <a:r>
              <a:rPr lang="ru-RU" sz="2200" b="1" dirty="0"/>
              <a:t>Тест Дика-Фуллера (</a:t>
            </a:r>
            <a:r>
              <a:rPr lang="en" sz="2200" b="1" dirty="0"/>
              <a:t>Augmented Dickey–Fuller test</a:t>
            </a:r>
            <a:r>
              <a:rPr lang="en-US" sz="2200" b="1" dirty="0"/>
              <a:t>, ADF) </a:t>
            </a:r>
            <a:r>
              <a:rPr lang="en-US" sz="2200" dirty="0"/>
              <a:t>– </a:t>
            </a:r>
            <a:r>
              <a:rPr lang="ru-RU" sz="2200" dirty="0"/>
              <a:t>стохастический тренд</a:t>
            </a:r>
          </a:p>
          <a:p>
            <a:pPr lvl="1"/>
            <a:r>
              <a:rPr lang="ru-RU" sz="2200" dirty="0"/>
              <a:t>Идея: текущее изменение значений ВР связано с дрейфом или предыдущими изменениями значений ВР</a:t>
            </a:r>
          </a:p>
          <a:p>
            <a:pPr lvl="1"/>
            <a:r>
              <a:rPr lang="en-US" sz="2200" b="1" dirty="0"/>
              <a:t>H</a:t>
            </a:r>
            <a:r>
              <a:rPr lang="ru-RU" sz="2200" b="1" dirty="0"/>
              <a:t>0</a:t>
            </a:r>
            <a:r>
              <a:rPr lang="ru-RU" sz="2200" dirty="0"/>
              <a:t>​: Ряд не стационарен (стохастический тренд).</a:t>
            </a:r>
          </a:p>
          <a:p>
            <a:pPr lvl="1"/>
            <a:r>
              <a:rPr lang="en" sz="2200" b="1" i="1" dirty="0"/>
              <a:t>H1</a:t>
            </a:r>
            <a:r>
              <a:rPr lang="en" sz="2200" dirty="0"/>
              <a:t>​: </a:t>
            </a:r>
            <a:r>
              <a:rPr lang="ru-RU" sz="2200" dirty="0"/>
              <a:t>Ряд стационарен (тренда нет).</a:t>
            </a:r>
          </a:p>
          <a:p>
            <a:r>
              <a:rPr lang="ru-RU" sz="2200" b="1" dirty="0"/>
              <a:t>Тест Квятковского-Филлипса-Шмидта-Шина (</a:t>
            </a:r>
            <a:r>
              <a:rPr lang="en" sz="2200" b="1" dirty="0"/>
              <a:t>KPSS)</a:t>
            </a:r>
            <a:r>
              <a:rPr lang="ru-RU" sz="2200" b="1" dirty="0"/>
              <a:t> </a:t>
            </a:r>
            <a:r>
              <a:rPr lang="ru-RU" sz="2200" dirty="0"/>
              <a:t>– детерминированный тренд (кроме циклического)</a:t>
            </a:r>
          </a:p>
          <a:p>
            <a:pPr lvl="1"/>
            <a:r>
              <a:rPr lang="ru-RU" sz="2200" dirty="0"/>
              <a:t>Идея: остатки от описания ВР регрессией колеблются вокруг нуля</a:t>
            </a:r>
          </a:p>
          <a:p>
            <a:pPr lvl="1"/>
            <a:r>
              <a:rPr lang="en-US" sz="2200" b="1" i="1" dirty="0"/>
              <a:t>H</a:t>
            </a:r>
            <a:r>
              <a:rPr lang="ru-RU" sz="2200" b="1" dirty="0"/>
              <a:t>0</a:t>
            </a:r>
            <a:r>
              <a:rPr lang="ru-RU" sz="2200" dirty="0"/>
              <a:t>​: Ряд стационарен (нет тренда или тренд колеблется вокруг нуля).</a:t>
            </a:r>
          </a:p>
          <a:p>
            <a:pPr lvl="1"/>
            <a:r>
              <a:rPr lang="en" sz="2200" b="1" dirty="0"/>
              <a:t>H1</a:t>
            </a:r>
            <a:r>
              <a:rPr lang="en" sz="2200" dirty="0"/>
              <a:t>​: </a:t>
            </a:r>
            <a:r>
              <a:rPr lang="ru-RU" sz="2200" dirty="0"/>
              <a:t>Ряд не стационарен (тренд детерминирован).</a:t>
            </a:r>
          </a:p>
          <a:p>
            <a:r>
              <a:rPr lang="ru-RU" sz="2200" dirty="0"/>
              <a:t>ADF</a:t>
            </a:r>
            <a:r>
              <a:rPr lang="en-US" sz="2200" dirty="0"/>
              <a:t> </a:t>
            </a:r>
            <a:r>
              <a:rPr lang="ru-RU" sz="2200" dirty="0"/>
              <a:t>+ KPSS</a:t>
            </a:r>
            <a:r>
              <a:rPr lang="en-US" sz="2200" dirty="0"/>
              <a:t> </a:t>
            </a:r>
            <a:r>
              <a:rPr lang="ru-RU" sz="2200" dirty="0"/>
              <a:t>лучше вместе использовать, если есть противоречие, используйте доп. Визуальный анализ или </a:t>
            </a:r>
            <a:r>
              <a:rPr lang="ru-RU" sz="2200" b="1" dirty="0"/>
              <a:t>альтернативные тесты</a:t>
            </a:r>
            <a:r>
              <a:rPr lang="ru-RU" sz="2200" dirty="0"/>
              <a:t>:</a:t>
            </a:r>
          </a:p>
          <a:p>
            <a:pPr lvl="1"/>
            <a:r>
              <a:rPr lang="ru-RU" sz="2200" u="sng" dirty="0" err="1"/>
              <a:t>гетеросекдостичность</a:t>
            </a:r>
            <a:r>
              <a:rPr lang="ru-RU" sz="2200" u="sng" dirty="0"/>
              <a:t>, шумы</a:t>
            </a:r>
            <a:r>
              <a:rPr lang="ru-RU" sz="2200" dirty="0"/>
              <a:t>: тест Филлипса-Перрона (</a:t>
            </a:r>
            <a:r>
              <a:rPr lang="en" sz="2200" dirty="0"/>
              <a:t>PP Test)</a:t>
            </a:r>
            <a:r>
              <a:rPr lang="ru-RU" sz="2200" dirty="0"/>
              <a:t> - модификация </a:t>
            </a:r>
            <a:r>
              <a:rPr lang="en-US" sz="2200" dirty="0"/>
              <a:t>ADF</a:t>
            </a:r>
          </a:p>
          <a:p>
            <a:pPr lvl="1"/>
            <a:r>
              <a:rPr lang="ru-RU" sz="2200" u="sng" dirty="0"/>
              <a:t>выбросы и </a:t>
            </a:r>
            <a:r>
              <a:rPr lang="ru-RU" sz="2200" u="sng" dirty="0" err="1"/>
              <a:t>тд</a:t>
            </a:r>
            <a:r>
              <a:rPr lang="ru-RU" sz="2200" dirty="0"/>
              <a:t>: тест  Манна-</a:t>
            </a:r>
            <a:r>
              <a:rPr lang="ru-RU" sz="2200" dirty="0" err="1"/>
              <a:t>Кенделла</a:t>
            </a:r>
            <a:r>
              <a:rPr lang="ru-RU" sz="2200" dirty="0"/>
              <a:t> дополняет </a:t>
            </a:r>
            <a:r>
              <a:rPr lang="en-US" sz="2200" dirty="0"/>
              <a:t>KPSS </a:t>
            </a:r>
            <a:r>
              <a:rPr lang="ru-RU" sz="2200" dirty="0"/>
              <a:t>(тест на монотонный тренд)</a:t>
            </a:r>
          </a:p>
          <a:p>
            <a:pPr lvl="1"/>
            <a:r>
              <a:rPr lang="ru-RU" sz="2200" u="sng" dirty="0"/>
              <a:t>В случае сложной цикличности </a:t>
            </a:r>
            <a:r>
              <a:rPr lang="ru-RU" sz="2200" dirty="0"/>
              <a:t>нужно использовать время-частотный анализ или тест Бартлетта (проверка значимости сглаженных частотных компонент)</a:t>
            </a:r>
            <a:endParaRPr lang="en" sz="2200" dirty="0"/>
          </a:p>
          <a:p>
            <a:pPr lvl="1"/>
            <a:endParaRPr lang="ru-RU" sz="2200" dirty="0"/>
          </a:p>
          <a:p>
            <a:pPr lvl="1"/>
            <a:endParaRPr lang="ru-RU" sz="2200" dirty="0"/>
          </a:p>
          <a:p>
            <a:pPr lvl="1"/>
            <a:endParaRPr lang="en" sz="2200" dirty="0"/>
          </a:p>
          <a:p>
            <a:pPr marL="0" indent="0">
              <a:buNone/>
            </a:pPr>
            <a:endParaRPr lang="ru-RU" sz="22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1D73711-1273-54BF-D631-0C53D2AC9A0C}"/>
              </a:ext>
            </a:extLst>
          </p:cNvPr>
          <p:cNvSpPr txBox="1"/>
          <p:nvPr/>
        </p:nvSpPr>
        <p:spPr>
          <a:xfrm>
            <a:off x="227082" y="6504449"/>
            <a:ext cx="54640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ДЗ: Постройте разные типы ВР, проверьте их на тестах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8817F06-257B-EBEE-7ED6-D54B68D8FADF}"/>
              </a:ext>
            </a:extLst>
          </p:cNvPr>
          <p:cNvSpPr txBox="1"/>
          <p:nvPr/>
        </p:nvSpPr>
        <p:spPr>
          <a:xfrm>
            <a:off x="8060902" y="2966542"/>
            <a:ext cx="39040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Обратите внимание, </a:t>
            </a:r>
            <a:r>
              <a:rPr lang="ru-RU" dirty="0" err="1"/>
              <a:t>H</a:t>
            </a:r>
            <a:r>
              <a:rPr lang="en-US" dirty="0"/>
              <a:t>0,H1 </a:t>
            </a:r>
            <a:r>
              <a:rPr lang="en-US" dirty="0" err="1"/>
              <a:t>на</a:t>
            </a:r>
            <a:r>
              <a:rPr lang="ru-RU" dirty="0"/>
              <a:t>оборот!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05AEF8-83B6-F2E9-D73D-8333FE7CF253}"/>
              </a:ext>
            </a:extLst>
          </p:cNvPr>
          <p:cNvSpPr txBox="1"/>
          <p:nvPr/>
        </p:nvSpPr>
        <p:spPr>
          <a:xfrm>
            <a:off x="5870848" y="6504449"/>
            <a:ext cx="609407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100" dirty="0" err="1"/>
              <a:t>https</a:t>
            </a:r>
            <a:r>
              <a:rPr lang="ru-RU" sz="1100" dirty="0"/>
              <a:t>://</a:t>
            </a:r>
            <a:r>
              <a:rPr lang="ru-RU" sz="1100" dirty="0" err="1"/>
              <a:t>www.eviews.com</a:t>
            </a:r>
            <a:r>
              <a:rPr lang="ru-RU" sz="1100" dirty="0"/>
              <a:t>/</a:t>
            </a:r>
            <a:r>
              <a:rPr lang="ru-RU" sz="1100" dirty="0" err="1"/>
              <a:t>help</a:t>
            </a:r>
            <a:r>
              <a:rPr lang="ru-RU" sz="1100" dirty="0"/>
              <a:t>/</a:t>
            </a:r>
            <a:r>
              <a:rPr lang="ru-RU" sz="1100" dirty="0" err="1"/>
              <a:t>helpintro.html#page</a:t>
            </a:r>
            <a:r>
              <a:rPr lang="ru-RU" sz="1100" dirty="0"/>
              <a:t>/content%2Fadvtimeser-Unit_Root_Testing.html</a:t>
            </a:r>
          </a:p>
        </p:txBody>
      </p:sp>
    </p:spTree>
    <p:extLst>
      <p:ext uri="{BB962C8B-B14F-4D97-AF65-F5344CB8AC3E}">
        <p14:creationId xmlns:p14="http://schemas.microsoft.com/office/powerpoint/2010/main" val="314127298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73380" y="113785"/>
            <a:ext cx="10858500" cy="861695"/>
          </a:xfrm>
        </p:spPr>
        <p:txBody>
          <a:bodyPr/>
          <a:lstStyle/>
          <a:p>
            <a:r>
              <a:rPr lang="ru-RU" dirty="0"/>
              <a:t>Классический подход</a:t>
            </a:r>
            <a:r>
              <a:rPr lang="en-US" dirty="0"/>
              <a:t> </a:t>
            </a:r>
            <a:r>
              <a:rPr lang="ru-RU" dirty="0"/>
              <a:t>к</a:t>
            </a:r>
            <a:r>
              <a:rPr lang="en-US" dirty="0"/>
              <a:t> </a:t>
            </a:r>
            <a:r>
              <a:rPr lang="en-US" dirty="0" err="1"/>
              <a:t>Deseasonalizer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40970" y="795277"/>
            <a:ext cx="11910060" cy="4843463"/>
          </a:xfrm>
        </p:spPr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2200" dirty="0"/>
              <a:t>Если сезон регулярный – можно удалить его для упрощения данных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2200" dirty="0"/>
              <a:t>Если известно, что сезонность переменная (например, месяцы в году), то каждый сезон можно учесть отдельно по каждому месяцу</a:t>
            </a:r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ru-RU" sz="2200" dirty="0"/>
              <a:t>Напр. потребление </a:t>
            </a:r>
            <a:r>
              <a:rPr lang="ru-RU" sz="2200" dirty="0" err="1"/>
              <a:t>электроэенегрии</a:t>
            </a:r>
            <a:r>
              <a:rPr lang="ru-RU" sz="2200" dirty="0"/>
              <a:t> в зимой больше чем летом.</a:t>
            </a:r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ru-RU" sz="2200" dirty="0"/>
              <a:t>Выходные </a:t>
            </a:r>
            <a:r>
              <a:rPr lang="en-US" sz="2200" dirty="0"/>
              <a:t>(weekends) </a:t>
            </a:r>
            <a:r>
              <a:rPr lang="ru-RU" sz="2200" dirty="0"/>
              <a:t>могут быть промоделированы как недельная сезонность</a:t>
            </a:r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ru-RU" sz="2200" dirty="0"/>
              <a:t>Праздники могут быть промоделированы как годовая сезонность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2200" dirty="0"/>
              <a:t>Если есть несколько очень разных сезонностей – их можно разрешить (напр. неделя и год).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2200" dirty="0"/>
              <a:t>Если сезонность гармоническая лучше всего использовать ряды Фурье ( в курсе не рассматриваем)</a:t>
            </a:r>
          </a:p>
          <a:p>
            <a:pPr marL="685800" lvl="2">
              <a:lnSpc>
                <a:spcPct val="100000"/>
              </a:lnSpc>
              <a:spcBef>
                <a:spcPts val="0"/>
              </a:spcBef>
            </a:pPr>
            <a:r>
              <a:rPr lang="ru-RU" sz="2200" dirty="0"/>
              <a:t>Часто описание рядами – компактное, простое, не требует целочисленной сезонности.</a:t>
            </a:r>
          </a:p>
          <a:p>
            <a:pPr marL="685800" lvl="2">
              <a:lnSpc>
                <a:spcPct val="100000"/>
              </a:lnSpc>
              <a:spcBef>
                <a:spcPts val="0"/>
              </a:spcBef>
            </a:pPr>
            <a:r>
              <a:rPr lang="ru-RU" sz="2200" dirty="0"/>
              <a:t>Если сезонность сложная и нестационарная лучше использовать время-частотные преобразования (в курсе не рассматриваем)</a:t>
            </a:r>
          </a:p>
          <a:p>
            <a:pPr marL="685800" lvl="2">
              <a:lnSpc>
                <a:spcPct val="100000"/>
              </a:lnSpc>
              <a:spcBef>
                <a:spcPts val="0"/>
              </a:spcBef>
            </a:pPr>
            <a:endParaRPr lang="ru-RU" sz="1800" dirty="0"/>
          </a:p>
          <a:p>
            <a:endParaRPr lang="ru-RU" sz="2200" dirty="0"/>
          </a:p>
          <a:p>
            <a:endParaRPr lang="ru-RU" dirty="0"/>
          </a:p>
          <a:p>
            <a:endParaRPr lang="ru-RU" dirty="0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2"/>
          <a:srcRect b="52375"/>
          <a:stretch/>
        </p:blipFill>
        <p:spPr>
          <a:xfrm>
            <a:off x="3390900" y="5086138"/>
            <a:ext cx="4297680" cy="1396140"/>
          </a:xfrm>
          <a:prstGeom prst="rect">
            <a:avLst/>
          </a:prstGeom>
        </p:spPr>
      </p:pic>
      <p:sp>
        <p:nvSpPr>
          <p:cNvPr id="6" name="Прямоугольник 5"/>
          <p:cNvSpPr/>
          <p:nvPr/>
        </p:nvSpPr>
        <p:spPr>
          <a:xfrm>
            <a:off x="990600" y="6550223"/>
            <a:ext cx="7856220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400" dirty="0"/>
              <a:t>https://www.blog.trainindata.com/multi-seasonal-time-series-decomposition-using-mstl-in-python/</a:t>
            </a:r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 rotWithShape="1">
          <a:blip r:embed="rId2"/>
          <a:srcRect l="-1064" t="50947" r="1064" b="1428"/>
          <a:stretch/>
        </p:blipFill>
        <p:spPr>
          <a:xfrm>
            <a:off x="7688580" y="5086138"/>
            <a:ext cx="4297680" cy="13961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51907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F1D8807-A2BA-7E65-7866-02687C9225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6770" y="365126"/>
            <a:ext cx="11157030" cy="491402"/>
          </a:xfrm>
        </p:spPr>
        <p:txBody>
          <a:bodyPr>
            <a:normAutofit fontScale="90000"/>
          </a:bodyPr>
          <a:lstStyle/>
          <a:p>
            <a:r>
              <a:rPr lang="ru-RU" dirty="0"/>
              <a:t>Тесты на сезонность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CCEB802-C960-8359-EB65-D8FFEC9C16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6771" y="949124"/>
            <a:ext cx="11620982" cy="5227839"/>
          </a:xfrm>
        </p:spPr>
        <p:txBody>
          <a:bodyPr>
            <a:normAutofit/>
          </a:bodyPr>
          <a:lstStyle/>
          <a:p>
            <a:r>
              <a:rPr lang="ru-RU" sz="2200" dirty="0"/>
              <a:t>Сезонность не всегда очевидна, </a:t>
            </a:r>
          </a:p>
          <a:p>
            <a:pPr lvl="1"/>
            <a:r>
              <a:rPr lang="ru-RU" sz="2200" dirty="0"/>
              <a:t>компоненты сезонности могут быть визуально скрыты другими компонентами</a:t>
            </a:r>
          </a:p>
          <a:p>
            <a:pPr lvl="1"/>
            <a:r>
              <a:rPr lang="ru-RU" sz="2200" dirty="0"/>
              <a:t>Сезонность важно не спутать с цикличностью особенно для коротких ВР</a:t>
            </a:r>
          </a:p>
          <a:p>
            <a:r>
              <a:rPr lang="ru-RU" sz="2200" dirty="0"/>
              <a:t>Сезонность можно определить </a:t>
            </a:r>
          </a:p>
          <a:p>
            <a:pPr lvl="1"/>
            <a:r>
              <a:rPr lang="ru-RU" sz="1800" dirty="0"/>
              <a:t>при сравнении сегментов размером с 1 или несколько сезонов (визуально</a:t>
            </a:r>
            <a:r>
              <a:rPr lang="en-US" sz="1800" dirty="0"/>
              <a:t> </a:t>
            </a:r>
            <a:r>
              <a:rPr lang="ru-RU" sz="1800" dirty="0"/>
              <a:t>разброс, </a:t>
            </a:r>
            <a:r>
              <a:rPr lang="ru-RU" sz="1800" dirty="0" err="1"/>
              <a:t>box</a:t>
            </a:r>
            <a:r>
              <a:rPr lang="en-US" sz="1800" dirty="0"/>
              <a:t>plot,</a:t>
            </a:r>
            <a:r>
              <a:rPr lang="ru-RU" sz="1800" dirty="0"/>
              <a:t> сравнение остатков вычитания сезонностей)</a:t>
            </a:r>
          </a:p>
          <a:p>
            <a:pPr lvl="1"/>
            <a:r>
              <a:rPr lang="ru-RU" sz="1800" dirty="0"/>
              <a:t>Анализом ВР после сезонного дифференцирования</a:t>
            </a:r>
          </a:p>
          <a:p>
            <a:pPr lvl="1"/>
            <a:r>
              <a:rPr lang="ru-RU" sz="1800" dirty="0"/>
              <a:t>Путем разложения ВР на сезонные компоненты</a:t>
            </a:r>
          </a:p>
          <a:p>
            <a:r>
              <a:rPr lang="ru-RU" sz="2200" dirty="0"/>
              <a:t>Сезонность видна по графикам ACF</a:t>
            </a:r>
            <a:r>
              <a:rPr lang="en-US" sz="2200" dirty="0"/>
              <a:t>/PACF </a:t>
            </a:r>
            <a:r>
              <a:rPr lang="ru-RU" sz="2200" dirty="0"/>
              <a:t>как всплески лагов на соответствующих периодах</a:t>
            </a:r>
          </a:p>
          <a:p>
            <a:pPr lvl="1"/>
            <a:r>
              <a:rPr lang="ru-RU" sz="2200" dirty="0"/>
              <a:t>Чтобы не спутать с цикличностью можно провести </a:t>
            </a:r>
            <a:r>
              <a:rPr lang="ru-RU" sz="2200" dirty="0" err="1"/>
              <a:t>модицфицированный</a:t>
            </a:r>
            <a:r>
              <a:rPr lang="ru-RU" sz="2200" dirty="0"/>
              <a:t> тест </a:t>
            </a:r>
            <a:r>
              <a:rPr lang="ru-RU" sz="2200" dirty="0" err="1"/>
              <a:t>Льюнга</a:t>
            </a:r>
            <a:r>
              <a:rPr lang="ru-RU" sz="2200" dirty="0"/>
              <a:t>-Бокса. Основная идея – нормировка для лагов сезонности (</a:t>
            </a:r>
            <a:r>
              <a:rPr lang="ru-RU" sz="2200" dirty="0" err="1"/>
              <a:t>напр</a:t>
            </a:r>
            <a:r>
              <a:rPr lang="ru-RU" sz="2200" dirty="0"/>
              <a:t> 12,24)</a:t>
            </a:r>
          </a:p>
          <a:p>
            <a:pPr lvl="1"/>
            <a:r>
              <a:rPr lang="ru-RU" sz="1800" b="1" dirty="0"/>
              <a:t>QS</a:t>
            </a:r>
            <a:r>
              <a:rPr lang="en-US" sz="1800" b="1" dirty="0"/>
              <a:t> </a:t>
            </a:r>
            <a:r>
              <a:rPr lang="en-US" sz="1800" b="1" dirty="0" err="1"/>
              <a:t>те</a:t>
            </a:r>
            <a:r>
              <a:rPr lang="ru-RU" sz="1800" b="1" dirty="0" err="1"/>
              <a:t>ст</a:t>
            </a:r>
            <a:r>
              <a:rPr lang="ru-RU" sz="1800" b="1" dirty="0"/>
              <a:t>: вариант </a:t>
            </a:r>
            <a:r>
              <a:rPr lang="ru-RU" sz="1800" dirty="0"/>
              <a:t>тест </a:t>
            </a:r>
            <a:r>
              <a:rPr lang="ru-RU" sz="1800" dirty="0" err="1"/>
              <a:t>Льюнга</a:t>
            </a:r>
            <a:r>
              <a:rPr lang="ru-RU" sz="1800" dirty="0"/>
              <a:t>-Бокса только на позитивных лага</a:t>
            </a:r>
            <a:endParaRPr lang="ru-RU" sz="1800" b="1" dirty="0"/>
          </a:p>
          <a:p>
            <a:pPr lvl="1"/>
            <a:r>
              <a:rPr lang="ru-RU" sz="1800" b="1" dirty="0"/>
              <a:t>Тест Кановы-Хансена (</a:t>
            </a:r>
            <a:r>
              <a:rPr lang="en" sz="1800" b="1" dirty="0"/>
              <a:t>Canova-Hansen Test</a:t>
            </a:r>
            <a:r>
              <a:rPr lang="ru-RU" sz="1800" b="1" dirty="0"/>
              <a:t>, </a:t>
            </a:r>
            <a:r>
              <a:rPr lang="en" b="1" dirty="0" err="1"/>
              <a:t>CHTest</a:t>
            </a:r>
            <a:r>
              <a:rPr lang="en" sz="1800" b="1" dirty="0"/>
              <a:t>)</a:t>
            </a:r>
            <a:r>
              <a:rPr lang="ru-RU" sz="1800" b="1" dirty="0"/>
              <a:t>:</a:t>
            </a:r>
          </a:p>
          <a:p>
            <a:pPr lvl="2"/>
            <a:r>
              <a:rPr lang="ru-RU" sz="1400" b="1" dirty="0"/>
              <a:t>Стабильность сезонных компонент во времени – отбор нужных компонент и анализ их изменчивости</a:t>
            </a:r>
            <a:endParaRPr lang="en" sz="1400" dirty="0"/>
          </a:p>
          <a:p>
            <a:endParaRPr lang="ru-RU" sz="2200" dirty="0"/>
          </a:p>
          <a:p>
            <a:endParaRPr lang="ru-RU" sz="2200" dirty="0"/>
          </a:p>
          <a:p>
            <a:endParaRPr lang="ru-RU" sz="2200" dirty="0"/>
          </a:p>
          <a:p>
            <a:endParaRPr lang="ru-RU" sz="2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523BF57-7151-38B7-A636-B65F4C1D9F93}"/>
              </a:ext>
            </a:extLst>
          </p:cNvPr>
          <p:cNvSpPr txBox="1"/>
          <p:nvPr/>
        </p:nvSpPr>
        <p:spPr>
          <a:xfrm>
            <a:off x="196770" y="6415302"/>
            <a:ext cx="61056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err="1"/>
              <a:t>https</a:t>
            </a:r>
            <a:r>
              <a:rPr lang="ru-RU" dirty="0"/>
              <a:t>://</a:t>
            </a:r>
            <a:r>
              <a:rPr lang="ru-RU" dirty="0" err="1"/>
              <a:t>palatej.github.io</a:t>
            </a:r>
            <a:r>
              <a:rPr lang="ru-RU" dirty="0"/>
              <a:t>/</a:t>
            </a:r>
            <a:r>
              <a:rPr lang="ru-RU" dirty="0" err="1"/>
              <a:t>pages</a:t>
            </a:r>
            <a:r>
              <a:rPr lang="ru-RU" dirty="0"/>
              <a:t>/</a:t>
            </a:r>
            <a:r>
              <a:rPr lang="ru-RU" dirty="0" err="1"/>
              <a:t>stats</a:t>
            </a:r>
            <a:r>
              <a:rPr lang="ru-RU" dirty="0"/>
              <a:t>/</a:t>
            </a:r>
            <a:r>
              <a:rPr lang="ru-RU" dirty="0" err="1"/>
              <a:t>tests</a:t>
            </a:r>
            <a:r>
              <a:rPr lang="ru-RU" dirty="0"/>
              <a:t>/</a:t>
            </a:r>
            <a:r>
              <a:rPr lang="ru-RU" dirty="0" err="1"/>
              <a:t>seasonality</a:t>
            </a:r>
            <a:r>
              <a:rPr lang="ru-RU" dirty="0"/>
              <a:t>/</a:t>
            </a:r>
            <a:r>
              <a:rPr lang="ru-RU" dirty="0" err="1"/>
              <a:t>qs.html</a:t>
            </a:r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1008E14-AB86-A0CC-3C84-7F4555AC3A50}"/>
              </a:ext>
            </a:extLst>
          </p:cNvPr>
          <p:cNvSpPr txBox="1"/>
          <p:nvPr/>
        </p:nvSpPr>
        <p:spPr>
          <a:xfrm>
            <a:off x="145166" y="5807631"/>
            <a:ext cx="11901668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1050" dirty="0"/>
              <a:t>https://</a:t>
            </a:r>
            <a:r>
              <a:rPr lang="en" sz="1050" dirty="0" err="1"/>
              <a:t>www.hse.ru</a:t>
            </a:r>
            <a:r>
              <a:rPr lang="en" sz="1050" dirty="0"/>
              <a:t>/data/2014/11/13/1311639964/%D0%9C%D0%B5%D1%82%D0%BE%D0%B4%D1%8B%20%D1%81%D0%BE%D1%86%D0%B8%D0%B0%D0%BB%D1%8C%D0%BD%D0%BE-%D1%8D%D0%BA%D0%BE%D0%BD%D0%BE%D0%BC%D0%B8%D1%87%D0%B5%D1%81%D0%BA%D0%BE%D0%B3%D0%BE%20%D0%BF%D1%80%D0%BE%D0%B3%D0%BD%D0%BE%D0%B7%D0%B8%D1%80%D0%BE%D0%B2%D0%B0%D0%BD%D0%B8%D1%8F%20%D0%B2%202%D1%82.%20%D1%82.2%20-%20%D0%A1%D0%B2%D0%B5%D1%82%D1%83%D0%BD%D1%8C%D0%BA%D0%BE%D0%B2%20-%20%D0%B1%D1%82.pdf</a:t>
            </a:r>
            <a:endParaRPr lang="ru-RU" sz="1050" dirty="0"/>
          </a:p>
        </p:txBody>
      </p:sp>
    </p:spTree>
    <p:extLst>
      <p:ext uri="{BB962C8B-B14F-4D97-AF65-F5344CB8AC3E}">
        <p14:creationId xmlns:p14="http://schemas.microsoft.com/office/powerpoint/2010/main" val="12622787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38150" y="250826"/>
            <a:ext cx="10915650" cy="558800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/>
              <a:t>STL</a:t>
            </a:r>
            <a:r>
              <a:rPr lang="en-US" b="1" dirty="0"/>
              <a:t> </a:t>
            </a:r>
            <a:r>
              <a:rPr lang="ru-RU" b="1" dirty="0"/>
              <a:t>разложение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57176" y="809627"/>
            <a:ext cx="11677650" cy="4162423"/>
          </a:xfrm>
        </p:spPr>
        <p:txBody>
          <a:bodyPr>
            <a:noAutofit/>
          </a:bodyPr>
          <a:lstStyle/>
          <a:p>
            <a:r>
              <a:rPr lang="ru-RU" sz="2000" b="1" dirty="0"/>
              <a:t>Проблема классических методов:</a:t>
            </a:r>
            <a:endParaRPr lang="ru-RU" sz="2000" dirty="0"/>
          </a:p>
          <a:p>
            <a:pPr lvl="1"/>
            <a:r>
              <a:rPr lang="ru-RU" sz="2000" dirty="0"/>
              <a:t>Классическое разложение (например, метод скользящего среднего) предполагает </a:t>
            </a:r>
            <a:r>
              <a:rPr lang="ru-RU" sz="2000" b="1" dirty="0"/>
              <a:t>строгую периодичность</a:t>
            </a:r>
            <a:r>
              <a:rPr lang="ru-RU" sz="2000" dirty="0"/>
              <a:t> (например, 12 месяцев для годовых данных).</a:t>
            </a:r>
          </a:p>
          <a:p>
            <a:pPr lvl="1"/>
            <a:r>
              <a:rPr lang="ru-RU" sz="2000" dirty="0"/>
              <a:t>Если сезонность </a:t>
            </a:r>
            <a:r>
              <a:rPr lang="ru-RU" sz="2000" b="1" dirty="0"/>
              <a:t>изменяется во времени</a:t>
            </a:r>
            <a:r>
              <a:rPr lang="ru-RU" sz="2000" dirty="0"/>
              <a:t> (например, амплитуда или форма сезонных колебаний непостоянна), классические методы дают плохие результаты.</a:t>
            </a:r>
          </a:p>
          <a:p>
            <a:pPr lvl="1"/>
            <a:r>
              <a:rPr lang="ru-RU" sz="2000" dirty="0"/>
              <a:t>Если есть </a:t>
            </a:r>
            <a:r>
              <a:rPr lang="ru-RU" sz="2000" b="1" dirty="0"/>
              <a:t>выбросы</a:t>
            </a:r>
            <a:r>
              <a:rPr lang="ru-RU" sz="2000" dirty="0"/>
              <a:t> – это смещает результат скользящего среднего</a:t>
            </a:r>
          </a:p>
          <a:p>
            <a:pPr lvl="1"/>
            <a:r>
              <a:rPr lang="ru-RU" sz="2000" dirty="0"/>
              <a:t>Сложная форма </a:t>
            </a:r>
            <a:r>
              <a:rPr lang="ru-RU" sz="2000" b="1" dirty="0"/>
              <a:t>цикличности тренда </a:t>
            </a:r>
            <a:r>
              <a:rPr lang="ru-RU" sz="2000" dirty="0"/>
              <a:t>может быть искажена скользящим средним</a:t>
            </a:r>
          </a:p>
          <a:p>
            <a:r>
              <a:rPr lang="ru-RU" sz="2000" dirty="0"/>
              <a:t>Решение:</a:t>
            </a:r>
          </a:p>
          <a:p>
            <a:pPr lvl="1"/>
            <a:r>
              <a:rPr lang="ru-RU" sz="2000" dirty="0"/>
              <a:t>Использование рекуррентной процедуры позволяет постепенно оптимизировать параметры разложения</a:t>
            </a:r>
            <a:r>
              <a:rPr lang="en-US" sz="2000" dirty="0"/>
              <a:t> </a:t>
            </a:r>
            <a:r>
              <a:rPr lang="ru-RU" sz="2000" dirty="0"/>
              <a:t>и сделать </a:t>
            </a:r>
            <a:r>
              <a:rPr lang="ru-RU" sz="2000" dirty="0" err="1"/>
              <a:t>уго</a:t>
            </a:r>
            <a:r>
              <a:rPr lang="ru-RU" sz="2000" dirty="0"/>
              <a:t> устойчивым к выбросам и другим проблемам ВР</a:t>
            </a:r>
          </a:p>
          <a:p>
            <a:pPr lvl="1"/>
            <a:r>
              <a:rPr lang="ru-RU" sz="2000" dirty="0"/>
              <a:t>Процедуры локальной (непараметрической) регрессии позволяют аппроксимировать сложный тренд без его описания.</a:t>
            </a:r>
          </a:p>
          <a:p>
            <a:r>
              <a:rPr lang="ru-RU" sz="2000" b="1" dirty="0"/>
              <a:t>STL </a:t>
            </a:r>
            <a:r>
              <a:rPr lang="en-US" sz="2000" b="1" dirty="0"/>
              <a:t>(Seasonal-Trend-Loess) </a:t>
            </a:r>
            <a:r>
              <a:rPr lang="ru-RU" sz="2000" dirty="0"/>
              <a:t>— метод сезонной и трендовой декомпозиции с помощью оценки нелинейных взаимосвязей (</a:t>
            </a:r>
            <a:r>
              <a:rPr lang="en-US" sz="2000" dirty="0"/>
              <a:t>Loess</a:t>
            </a:r>
            <a:r>
              <a:rPr lang="ru-RU" sz="2000" dirty="0"/>
              <a:t>). </a:t>
            </a:r>
          </a:p>
        </p:txBody>
      </p:sp>
    </p:spTree>
    <p:extLst>
      <p:ext uri="{BB962C8B-B14F-4D97-AF65-F5344CB8AC3E}">
        <p14:creationId xmlns:p14="http://schemas.microsoft.com/office/powerpoint/2010/main" val="103900848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38150" y="250826"/>
            <a:ext cx="10915650" cy="558800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/>
              <a:t>STL</a:t>
            </a:r>
            <a:r>
              <a:rPr lang="en-US" b="1" dirty="0"/>
              <a:t> </a:t>
            </a:r>
            <a:r>
              <a:rPr lang="ru-RU" b="1" dirty="0"/>
              <a:t>разложение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57176" y="809627"/>
            <a:ext cx="11677650" cy="4162423"/>
          </a:xfrm>
        </p:spPr>
        <p:txBody>
          <a:bodyPr>
            <a:noAutofit/>
          </a:bodyPr>
          <a:lstStyle/>
          <a:p>
            <a:r>
              <a:rPr lang="ru-RU" sz="2000" b="1" dirty="0"/>
              <a:t>STL </a:t>
            </a:r>
            <a:r>
              <a:rPr lang="en-US" sz="2000" b="1" dirty="0"/>
              <a:t>(Seasonal-Trend-Loess) </a:t>
            </a:r>
            <a:r>
              <a:rPr lang="ru-RU" sz="2000" dirty="0"/>
              <a:t>— метод сезонной и трендовой декомпозиции с помощью оценки нелинейных взаимосвязей (</a:t>
            </a:r>
            <a:r>
              <a:rPr lang="en-US" sz="2000" dirty="0"/>
              <a:t>Loess</a:t>
            </a:r>
            <a:r>
              <a:rPr lang="ru-RU" sz="2000" dirty="0"/>
              <a:t>). </a:t>
            </a:r>
          </a:p>
        </p:txBody>
      </p:sp>
      <p:pic>
        <p:nvPicPr>
          <p:cNvPr id="6148" name="Picture 4" descr="https://otexts.com/fpppy/nbs/03-decomposition_files/figure-html/fig-classical-empl-output-1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7176" y="1943100"/>
            <a:ext cx="4879152" cy="3676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0" name="Picture 6" descr="https://otexts.com/fpppy/nbs/03-decomposition_files/figure-html/fig-empl-stl2-output-1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74079" y="1754979"/>
            <a:ext cx="5300345" cy="39940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/>
          <p:cNvSpPr txBox="1"/>
          <p:nvPr/>
        </p:nvSpPr>
        <p:spPr>
          <a:xfrm>
            <a:off x="6583680" y="5829300"/>
            <a:ext cx="46060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Остаток в среднем меньше, видны выбросы,</a:t>
            </a:r>
          </a:p>
        </p:txBody>
      </p:sp>
    </p:spTree>
    <p:extLst>
      <p:ext uri="{BB962C8B-B14F-4D97-AF65-F5344CB8AC3E}">
        <p14:creationId xmlns:p14="http://schemas.microsoft.com/office/powerpoint/2010/main" val="66429010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38150" y="250826"/>
            <a:ext cx="10915650" cy="558800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/>
              <a:t>STL</a:t>
            </a:r>
            <a:r>
              <a:rPr lang="en-US" b="1" dirty="0"/>
              <a:t> </a:t>
            </a:r>
            <a:r>
              <a:rPr lang="ru-RU" b="1" dirty="0"/>
              <a:t>разложение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182881" y="809627"/>
                <a:ext cx="11675744" cy="4029074"/>
              </a:xfrm>
            </p:spPr>
            <p:txBody>
              <a:bodyPr>
                <a:normAutofit fontScale="85000" lnSpcReduction="20000"/>
              </a:bodyPr>
              <a:lstStyle/>
              <a:p>
                <a:r>
                  <a:rPr lang="ru-RU" sz="2600" dirty="0"/>
                  <a:t>Этап 1 – подготовка – линейная аппроксимация тренда, классическая оценка сезонности.</a:t>
                </a:r>
              </a:p>
              <a:p>
                <a:pPr lvl="1"/>
                <a:r>
                  <a:rPr lang="ru-RU" sz="2200" dirty="0"/>
                  <a:t>Выбор параметров (сезонность, окно сглаживания, окон низкочастотного сглаживания)</a:t>
                </a:r>
              </a:p>
              <a:p>
                <a:r>
                  <a:rPr lang="ru-RU" sz="2600" dirty="0"/>
                  <a:t>Этап 2 – внутренний цикл (Разложение на тренд и сезонность)</a:t>
                </a:r>
              </a:p>
              <a:p>
                <a:pPr lvl="1"/>
                <a:r>
                  <a:rPr lang="ru-RU" sz="2600" dirty="0"/>
                  <a:t>Вычисление тренда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26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6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acc>
                    <m:r>
                      <a:rPr lang="en-US" sz="2600" b="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ru-RU" sz="2600" dirty="0"/>
                  <a:t>при помощи </a:t>
                </a:r>
                <a:r>
                  <a:rPr lang="en-US" sz="2600" b="1" dirty="0"/>
                  <a:t>LOESS-</a:t>
                </a:r>
                <a:r>
                  <a:rPr lang="ru-RU" sz="2600" b="1" dirty="0"/>
                  <a:t>сглаживания</a:t>
                </a:r>
                <a:r>
                  <a:rPr lang="ru-RU" sz="2600" dirty="0"/>
                  <a:t> ВР</a:t>
                </a:r>
              </a:p>
              <a:p>
                <a:pPr lvl="1"/>
                <a:r>
                  <a:rPr lang="ru-RU" sz="2600" dirty="0"/>
                  <a:t>Разбиение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6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60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600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600" b="0" i="1" dirty="0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sz="26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600" b="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600" b="0" i="1" dirty="0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</m:acc>
                      </m:e>
                      <m:sub>
                        <m:r>
                          <a:rPr lang="en-US" sz="2600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2600" dirty="0"/>
                  <a:t> </a:t>
                </a:r>
                <a:r>
                  <a:rPr lang="ru-RU" sz="2600" dirty="0"/>
                  <a:t>на </a:t>
                </a:r>
                <a:r>
                  <a:rPr lang="ru-RU" sz="2600" dirty="0" err="1"/>
                  <a:t>подциклы</a:t>
                </a:r>
                <a:r>
                  <a:rPr lang="ru-RU" sz="2600" dirty="0"/>
                  <a:t> с заданной сезонностью, сглаживание каждого </a:t>
                </a:r>
                <a:r>
                  <a:rPr lang="ru-RU" sz="2600" dirty="0" err="1"/>
                  <a:t>подцикла</a:t>
                </a:r>
                <a:r>
                  <a:rPr lang="ru-RU" sz="2600" dirty="0"/>
                  <a:t> </a:t>
                </a:r>
                <a:r>
                  <a:rPr lang="en-US" sz="2600" dirty="0"/>
                  <a:t>LOESS</a:t>
                </a:r>
                <a:r>
                  <a:rPr lang="ru-RU" sz="2600" dirty="0"/>
                  <a:t> сезонным, удаление из сезонности </a:t>
                </a:r>
                <a:r>
                  <a:rPr lang="en-US" sz="2600" dirty="0"/>
                  <a:t>LOESS</a:t>
                </a:r>
                <a:r>
                  <a:rPr lang="ru-RU" sz="2600" dirty="0"/>
                  <a:t> низкочастотного и нормировка</a:t>
                </a:r>
              </a:p>
              <a:p>
                <a:pPr lvl="1"/>
                <a:r>
                  <a:rPr lang="ru-RU" sz="2600" dirty="0" err="1"/>
                  <a:t>Формироирование</a:t>
                </a:r>
                <a:r>
                  <a:rPr lang="ru-RU" sz="2600" dirty="0"/>
                  <a:t> оценки сезонной компоненты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6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</m:acc>
                    <m:r>
                      <a:rPr lang="en-US" sz="26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ru-RU" sz="2600" b="1" dirty="0"/>
              </a:p>
              <a:p>
                <a:pPr lvl="1"/>
                <a:r>
                  <a:rPr lang="ru-RU" sz="2600" dirty="0"/>
                  <a:t>Корректировка тренда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6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6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600" i="1" dirty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</m:acc>
                      </m:e>
                      <m:sub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ru-RU" sz="2600" b="0" i="1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6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ru-RU" sz="2600" b="0" i="1" dirty="0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sz="26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600" b="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600" b="0" i="1" dirty="0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</m:acc>
                      </m:e>
                      <m:sub>
                        <m:r>
                          <a:rPr lang="en-US" sz="2600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2600" dirty="0"/>
                  <a:t> </a:t>
                </a:r>
                <a:r>
                  <a:rPr lang="ru-RU" sz="2600" dirty="0"/>
                  <a:t>и </a:t>
                </a:r>
                <a:r>
                  <a:rPr lang="en-US" sz="2600" b="1" dirty="0"/>
                  <a:t>LOESS-</a:t>
                </a:r>
                <a:r>
                  <a:rPr lang="ru-RU" sz="2600" b="1" dirty="0"/>
                  <a:t>сглаживание тренда</a:t>
                </a:r>
              </a:p>
              <a:p>
                <a:pPr marL="228600" lvl="1">
                  <a:spcBef>
                    <a:spcPts val="1000"/>
                  </a:spcBef>
                </a:pPr>
                <a:r>
                  <a:rPr lang="ru-RU" sz="2600" b="1" dirty="0"/>
                  <a:t>Этап 3 - Внешний цикл (итерации робастности)</a:t>
                </a:r>
                <a:r>
                  <a:rPr lang="ru-RU" sz="2600" dirty="0"/>
                  <a:t>: Для устойчивости к выбросам (1-3 итерации).</a:t>
                </a:r>
              </a:p>
              <a:p>
                <a:pPr lvl="1"/>
                <a:r>
                  <a:rPr lang="ru-RU" sz="2600" dirty="0"/>
                  <a:t>Вычисление остатка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6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6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6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</m:acc>
                      </m:e>
                      <m:sub>
                        <m:r>
                          <a:rPr lang="en-US" sz="2600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600" b="0" i="1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6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ru-RU" sz="2600" i="1" dirty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sz="26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6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600" i="1" dirty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</m:acc>
                      </m:e>
                      <m:sub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600" b="0" i="1" dirty="0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sz="26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6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600" i="1" dirty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</m:acc>
                      </m:e>
                      <m:sub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endParaRPr lang="en-US" sz="2600" dirty="0"/>
              </a:p>
              <a:p>
                <a:pPr lvl="1"/>
                <a:r>
                  <a:rPr lang="ru-RU" sz="2600" dirty="0"/>
                  <a:t>Устранение выбросов в остатке.</a:t>
                </a:r>
              </a:p>
              <a:p>
                <a:pPr lvl="1"/>
                <a:r>
                  <a:rPr lang="ru-RU" sz="2600" dirty="0"/>
                  <a:t>Если еще итерации: Восстановление нового ряда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6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6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600" i="1" dirty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</m:acc>
                      </m:e>
                      <m:sub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ru-RU" sz="2600" b="0" i="1" dirty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6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6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600" i="1" dirty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</m:acc>
                      </m:e>
                      <m:sub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ru-RU" sz="2600" b="0" i="1" dirty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6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6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</m:acc>
                      </m:e>
                      <m:sub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ru-RU" sz="2600" dirty="0"/>
                  <a:t>и переход к этапу 2.</a:t>
                </a:r>
              </a:p>
              <a:p>
                <a:pPr lvl="1"/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82881" y="809627"/>
                <a:ext cx="11675744" cy="4029074"/>
              </a:xfrm>
              <a:blipFill>
                <a:blip r:embed="rId2"/>
                <a:stretch>
                  <a:fillRect l="-574" t="-3177" r="-157" b="-60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Прямоугольник 3"/>
          <p:cNvSpPr/>
          <p:nvPr/>
        </p:nvSpPr>
        <p:spPr>
          <a:xfrm>
            <a:off x="182881" y="4838701"/>
            <a:ext cx="7345679" cy="10926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2000" dirty="0"/>
              <a:t>Может также быть вариант </a:t>
            </a:r>
            <a:r>
              <a:rPr lang="ru-RU" sz="2000" dirty="0" err="1"/>
              <a:t>многосезонного</a:t>
            </a:r>
            <a:r>
              <a:rPr lang="ru-RU" sz="2000" dirty="0"/>
              <a:t> </a:t>
            </a:r>
            <a:r>
              <a:rPr lang="en-US" sz="2000" dirty="0"/>
              <a:t>STL  - MSTL</a:t>
            </a:r>
            <a:endParaRPr lang="ru-RU" sz="2000" dirty="0"/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2000" dirty="0"/>
              <a:t>Может также быть </a:t>
            </a:r>
            <a:r>
              <a:rPr lang="en-US" sz="2000" dirty="0" err="1"/>
              <a:t>STLForecast</a:t>
            </a:r>
            <a:r>
              <a:rPr lang="ru-RU" sz="2000" dirty="0"/>
              <a:t>: предсказание тренда заданной моделью и экстраполяция сезонной компоненты </a:t>
            </a:r>
          </a:p>
        </p:txBody>
      </p:sp>
      <p:sp>
        <p:nvSpPr>
          <p:cNvPr id="5" name="Прямоугольник 4"/>
          <p:cNvSpPr/>
          <p:nvPr/>
        </p:nvSpPr>
        <p:spPr>
          <a:xfrm>
            <a:off x="0" y="6390055"/>
            <a:ext cx="7200900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400" dirty="0"/>
              <a:t>https://www.statsmodels.org/dev/examples/notebooks/generated/stl_decomposition.html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5006340" y="6543943"/>
            <a:ext cx="7018020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400" dirty="0"/>
              <a:t>https://www.statsmodels.org/dev/examples/notebooks/generated/mstl_decomposition.html</a:t>
            </a:r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9541" y="5357460"/>
            <a:ext cx="3799653" cy="7417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49541" y="4711129"/>
            <a:ext cx="48158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Loess – </a:t>
            </a:r>
            <a:r>
              <a:rPr lang="ru-RU" dirty="0"/>
              <a:t>взвешенная локальная регрессия с коном вида: для точки </a:t>
            </a:r>
            <a:r>
              <a:rPr lang="en-US" dirty="0"/>
              <a:t>x’</a:t>
            </a:r>
            <a:endParaRPr lang="ru-RU" dirty="0"/>
          </a:p>
        </p:txBody>
      </p:sp>
      <p:sp>
        <p:nvSpPr>
          <p:cNvPr id="9" name="Прямоугольник 8"/>
          <p:cNvSpPr/>
          <p:nvPr/>
        </p:nvSpPr>
        <p:spPr>
          <a:xfrm>
            <a:off x="8356129" y="6136910"/>
            <a:ext cx="324851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Где </a:t>
            </a:r>
            <a:r>
              <a:rPr lang="en-US" dirty="0"/>
              <a:t>d – </a:t>
            </a:r>
            <a:r>
              <a:rPr lang="ru-RU" dirty="0"/>
              <a:t>расстояние между </a:t>
            </a:r>
            <a:r>
              <a:rPr lang="en-US" dirty="0"/>
              <a:t>x </a:t>
            </a:r>
            <a:r>
              <a:rPr lang="ru-RU" dirty="0"/>
              <a:t>и </a:t>
            </a:r>
            <a:r>
              <a:rPr lang="en-US" dirty="0"/>
              <a:t>x’</a:t>
            </a:r>
            <a:endParaRPr lang="ru-RU" dirty="0"/>
          </a:p>
        </p:txBody>
      </p:sp>
      <p:cxnSp>
        <p:nvCxnSpPr>
          <p:cNvPr id="11" name="Прямая соединительная линия 10"/>
          <p:cNvCxnSpPr/>
          <p:nvPr/>
        </p:nvCxnSpPr>
        <p:spPr>
          <a:xfrm>
            <a:off x="7528560" y="4770120"/>
            <a:ext cx="0" cy="161044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Прямая соединительная линия 12"/>
          <p:cNvCxnSpPr/>
          <p:nvPr/>
        </p:nvCxnSpPr>
        <p:spPr>
          <a:xfrm>
            <a:off x="381000" y="4770120"/>
            <a:ext cx="1133856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9355355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38150" y="250826"/>
            <a:ext cx="10915650" cy="558800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/>
              <a:t>другие</a:t>
            </a:r>
            <a:r>
              <a:rPr lang="en-US" b="1" dirty="0"/>
              <a:t> </a:t>
            </a:r>
            <a:r>
              <a:rPr lang="ru-RU" b="1" dirty="0"/>
              <a:t>разложения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82881" y="809626"/>
            <a:ext cx="11675744" cy="5293993"/>
          </a:xfrm>
        </p:spPr>
        <p:txBody>
          <a:bodyPr>
            <a:normAutofit/>
          </a:bodyPr>
          <a:lstStyle/>
          <a:p>
            <a:r>
              <a:rPr lang="en-US" sz="2200" dirty="0"/>
              <a:t>STL – </a:t>
            </a:r>
            <a:r>
              <a:rPr lang="ru-RU" sz="2200" dirty="0"/>
              <a:t>универсальный метод разложения ВР, устойчивый к выбросам и сложным трендам. Однако, </a:t>
            </a:r>
          </a:p>
          <a:p>
            <a:pPr lvl="1"/>
            <a:r>
              <a:rPr lang="ru-RU" sz="2200" b="1" dirty="0"/>
              <a:t>Вычислительная сложность</a:t>
            </a:r>
            <a:r>
              <a:rPr lang="ru-RU" sz="2200" dirty="0"/>
              <a:t>: Требует больше ресурсов, чем скользящее среднее особенно для длинных ВР.</a:t>
            </a:r>
          </a:p>
          <a:p>
            <a:pPr lvl="1"/>
            <a:r>
              <a:rPr lang="ru-RU" sz="2200" b="1" dirty="0"/>
              <a:t>Настройка параметров</a:t>
            </a:r>
            <a:r>
              <a:rPr lang="ru-RU" sz="2200" dirty="0"/>
              <a:t>: Неправильный выбор окон может исказить компоненты.</a:t>
            </a:r>
          </a:p>
          <a:p>
            <a:pPr lvl="1"/>
            <a:r>
              <a:rPr lang="ru-RU" sz="2200" dirty="0"/>
              <a:t>Для </a:t>
            </a:r>
            <a:r>
              <a:rPr lang="en-US" sz="2200" dirty="0"/>
              <a:t>MSTL </a:t>
            </a:r>
            <a:r>
              <a:rPr lang="ru-RU" sz="2200" dirty="0"/>
              <a:t>настройка еще сложнее</a:t>
            </a:r>
          </a:p>
          <a:p>
            <a:pPr lvl="1"/>
            <a:r>
              <a:rPr lang="ru-RU" sz="2200" b="1" dirty="0" err="1"/>
              <a:t>Нестационарность</a:t>
            </a:r>
            <a:r>
              <a:rPr lang="ru-RU" sz="2200" dirty="0"/>
              <a:t>: Если тренд слишком резкий, LOESS может отставать.</a:t>
            </a:r>
          </a:p>
          <a:p>
            <a:pPr lvl="1"/>
            <a:r>
              <a:rPr lang="en-US" sz="2200" dirty="0"/>
              <a:t>STL </a:t>
            </a:r>
            <a:r>
              <a:rPr lang="ru-RU" sz="2200" dirty="0"/>
              <a:t> может воспринимать </a:t>
            </a:r>
            <a:r>
              <a:rPr lang="en-US" sz="2200" dirty="0"/>
              <a:t>holidays</a:t>
            </a:r>
            <a:r>
              <a:rPr lang="ru-RU" sz="2200" dirty="0"/>
              <a:t> за выбросы</a:t>
            </a:r>
          </a:p>
          <a:p>
            <a:pPr lvl="1"/>
            <a:r>
              <a:rPr lang="ru-RU" sz="2200" dirty="0"/>
              <a:t>Высокочастотные шумы (зашумленность) может затмить выбросы.</a:t>
            </a:r>
            <a:endParaRPr lang="en-US" sz="2200" dirty="0"/>
          </a:p>
          <a:p>
            <a:r>
              <a:rPr lang="ru-RU" sz="2200" dirty="0"/>
              <a:t>Если модель ВР уточнена, например </a:t>
            </a:r>
            <a:r>
              <a:rPr lang="en-US" sz="2200" dirty="0"/>
              <a:t>holidays</a:t>
            </a:r>
            <a:r>
              <a:rPr lang="ru-RU" sz="2200" dirty="0"/>
              <a:t>, четкая </a:t>
            </a:r>
            <a:r>
              <a:rPr lang="ru-RU" sz="2200" dirty="0" err="1"/>
              <a:t>структра</a:t>
            </a:r>
            <a:r>
              <a:rPr lang="ru-RU" sz="2200" dirty="0"/>
              <a:t> могут быть более точные методы, например</a:t>
            </a:r>
          </a:p>
          <a:p>
            <a:pPr lvl="1"/>
            <a:r>
              <a:rPr lang="en-US" sz="2200" dirty="0"/>
              <a:t>SETA (</a:t>
            </a:r>
            <a:r>
              <a:rPr lang="en-US" sz="2200" b="1" dirty="0"/>
              <a:t>X-13ARIMA-SEATS</a:t>
            </a:r>
            <a:r>
              <a:rPr lang="en-US" sz="2200" dirty="0"/>
              <a:t>) – </a:t>
            </a:r>
            <a:r>
              <a:rPr lang="ru-RU" sz="2200" dirty="0"/>
              <a:t>для </a:t>
            </a:r>
            <a:r>
              <a:rPr lang="ru-RU" sz="2200" dirty="0" err="1"/>
              <a:t>бизнесс</a:t>
            </a:r>
            <a:r>
              <a:rPr lang="ru-RU" sz="2200" dirty="0"/>
              <a:t>-процессов ВР</a:t>
            </a:r>
          </a:p>
          <a:p>
            <a:pPr lvl="1"/>
            <a:r>
              <a:rPr lang="en-US" sz="2200" dirty="0"/>
              <a:t>X11 </a:t>
            </a:r>
            <a:r>
              <a:rPr lang="ru-RU" sz="2200" dirty="0"/>
              <a:t>для сезонной корректировки в экономических данных (глобальная экономика)</a:t>
            </a:r>
            <a:endParaRPr lang="en-US" sz="2200" dirty="0"/>
          </a:p>
        </p:txBody>
      </p:sp>
      <p:cxnSp>
        <p:nvCxnSpPr>
          <p:cNvPr id="5" name="Прямая соединительная линия 4"/>
          <p:cNvCxnSpPr/>
          <p:nvPr/>
        </p:nvCxnSpPr>
        <p:spPr>
          <a:xfrm>
            <a:off x="281940" y="3985260"/>
            <a:ext cx="966978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94998568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4361</TotalTime>
  <Words>3349</Words>
  <Application>Microsoft Macintosh PowerPoint</Application>
  <PresentationFormat>Широкоэкранный</PresentationFormat>
  <Paragraphs>464</Paragraphs>
  <Slides>24</Slides>
  <Notes>6</Notes>
  <HiddenSlides>1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24</vt:i4>
      </vt:variant>
    </vt:vector>
  </HeadingPairs>
  <TitlesOfParts>
    <vt:vector size="32" baseType="lpstr">
      <vt:lpstr>Arial</vt:lpstr>
      <vt:lpstr>Calibri</vt:lpstr>
      <vt:lpstr>Calibri Light</vt:lpstr>
      <vt:lpstr>Cambria Math</vt:lpstr>
      <vt:lpstr>Fira Sans</vt:lpstr>
      <vt:lpstr>Open Sans</vt:lpstr>
      <vt:lpstr>Times New Roman</vt:lpstr>
      <vt:lpstr>Тема Office</vt:lpstr>
      <vt:lpstr>Предсказания ВР с явной TS моделью</vt:lpstr>
      <vt:lpstr>Методы предсказания ВР</vt:lpstr>
      <vt:lpstr>Методы предсказания в курсе</vt:lpstr>
      <vt:lpstr>Подходы к предсказанию временных рядов</vt:lpstr>
      <vt:lpstr>Статистические методы</vt:lpstr>
      <vt:lpstr>Бенчмарки предсказания временных рядов</vt:lpstr>
      <vt:lpstr>Бенчмарки предсказания временных рядов</vt:lpstr>
      <vt:lpstr>Основные выводы</vt:lpstr>
      <vt:lpstr>Наивное предсказание </vt:lpstr>
      <vt:lpstr>Наивное предсказание </vt:lpstr>
      <vt:lpstr>Статистические методы</vt:lpstr>
      <vt:lpstr>Статистические методы</vt:lpstr>
      <vt:lpstr> Экспоненциальное сглаживание</vt:lpstr>
      <vt:lpstr>Классический подход к декомпозиции ВР</vt:lpstr>
      <vt:lpstr>Классический подход к декомпозиции ВР</vt:lpstr>
      <vt:lpstr>Классический подход к Detrender</vt:lpstr>
      <vt:lpstr>Проверка на тренд</vt:lpstr>
      <vt:lpstr>Проверка на тренд Тесты на наличие тренда:</vt:lpstr>
      <vt:lpstr>Классический подход к Deseasonalizer</vt:lpstr>
      <vt:lpstr>Тесты на сезонность</vt:lpstr>
      <vt:lpstr>STL разложение</vt:lpstr>
      <vt:lpstr>STL разложение</vt:lpstr>
      <vt:lpstr>STL разложение</vt:lpstr>
      <vt:lpstr>другие разложения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Time Series Analysis</dc:title>
  <dc:creator>Ронкин Михаил Владимирович</dc:creator>
  <cp:lastModifiedBy>Ронкин Михаил Владимирович</cp:lastModifiedBy>
  <cp:revision>228</cp:revision>
  <dcterms:created xsi:type="dcterms:W3CDTF">2021-10-31T10:57:36Z</dcterms:created>
  <dcterms:modified xsi:type="dcterms:W3CDTF">2025-08-08T07:47:05Z</dcterms:modified>
</cp:coreProperties>
</file>