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6" r:id="rId2"/>
    <p:sldId id="275" r:id="rId3"/>
    <p:sldId id="257" r:id="rId4"/>
    <p:sldId id="259" r:id="rId5"/>
    <p:sldId id="258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8" r:id="rId22"/>
    <p:sldId id="285" r:id="rId23"/>
    <p:sldId id="286" r:id="rId24"/>
    <p:sldId id="287" r:id="rId25"/>
    <p:sldId id="288" r:id="rId26"/>
    <p:sldId id="290" r:id="rId27"/>
    <p:sldId id="291" r:id="rId28"/>
    <p:sldId id="292" r:id="rId29"/>
    <p:sldId id="293" r:id="rId30"/>
    <p:sldId id="294" r:id="rId31"/>
    <p:sldId id="300" r:id="rId32"/>
    <p:sldId id="296" r:id="rId33"/>
    <p:sldId id="297" r:id="rId34"/>
    <p:sldId id="298" r:id="rId35"/>
    <p:sldId id="299" r:id="rId36"/>
    <p:sldId id="301" r:id="rId37"/>
    <p:sldId id="295" r:id="rId38"/>
    <p:sldId id="289" r:id="rId39"/>
    <p:sldId id="277" r:id="rId40"/>
    <p:sldId id="276" r:id="rId41"/>
    <p:sldId id="279" r:id="rId42"/>
    <p:sldId id="280" r:id="rId43"/>
    <p:sldId id="281" r:id="rId44"/>
    <p:sldId id="282" r:id="rId45"/>
    <p:sldId id="283" r:id="rId46"/>
    <p:sldId id="284" r:id="rId47"/>
    <p:sldId id="302" r:id="rId48"/>
    <p:sldId id="303" r:id="rId49"/>
    <p:sldId id="304" r:id="rId50"/>
    <p:sldId id="305" r:id="rId51"/>
    <p:sldId id="306" r:id="rId52"/>
    <p:sldId id="307" r:id="rId53"/>
    <p:sldId id="308" r:id="rId5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5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2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A791E-3BEE-4FA4-92EA-DD1554F20F42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C1B714-63CF-496C-A10C-DD60334701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584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94771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7932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4747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8231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259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8713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0921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8367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793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3094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74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B0CE0D-1E76-43C5-ADFF-ABD674A6E61D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601410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B0CE0D-1E76-43C5-ADFF-ABD674A6E61D}" type="datetimeFigureOut">
              <a:rPr lang="ru-RU" smtClean="0"/>
              <a:t>25.07.2025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EA9AA-9D51-4590-9126-A733C683736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2373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gif"/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5" Type="http://schemas.openxmlformats.org/officeDocument/2006/relationships/image" Target="../media/image55.png"/><Relationship Id="rId10" Type="http://schemas.openxmlformats.org/officeDocument/2006/relationships/image" Target="../media/image160.png"/><Relationship Id="rId4" Type="http://schemas.openxmlformats.org/officeDocument/2006/relationships/image" Target="../media/image54.png"/><Relationship Id="rId9" Type="http://schemas.openxmlformats.org/officeDocument/2006/relationships/image" Target="../media/image59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0.png"/><Relationship Id="rId2" Type="http://schemas.openxmlformats.org/officeDocument/2006/relationships/image" Target="../media/image41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1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0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и</a:t>
            </a:r>
            <a:r>
              <a:rPr lang="en-US" b="1" dirty="0"/>
              <a:t> </a:t>
            </a:r>
            <a:br>
              <a:rPr lang="en-US" b="1" dirty="0"/>
            </a:b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</a:t>
            </a:r>
            <a:r>
              <a:rPr lang="en-US" b="1" dirty="0"/>
              <a:t> 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1788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775" y="-76716"/>
            <a:ext cx="11039475" cy="1325563"/>
          </a:xfrm>
        </p:spPr>
        <p:txBody>
          <a:bodyPr>
            <a:normAutofit/>
          </a:bodyPr>
          <a:lstStyle/>
          <a:p>
            <a:r>
              <a:rPr lang="ru-RU" b="1" dirty="0" smtClean="0"/>
              <a:t>М</a:t>
            </a:r>
            <a:r>
              <a:rPr lang="en-US" b="1" dirty="0" err="1" smtClean="0"/>
              <a:t>одели</a:t>
            </a:r>
            <a:r>
              <a:rPr lang="en-US" b="1" dirty="0" smtClean="0"/>
              <a:t> </a:t>
            </a:r>
            <a:r>
              <a:rPr lang="ru-RU" b="1" dirty="0" smtClean="0"/>
              <a:t>а</a:t>
            </a:r>
            <a:r>
              <a:rPr lang="en-US" b="1" dirty="0" err="1" smtClean="0"/>
              <a:t>вторегресси</a:t>
            </a:r>
            <a:r>
              <a:rPr lang="ru-RU" b="1" dirty="0" smtClean="0"/>
              <a:t>и</a:t>
            </a:r>
            <a:r>
              <a:rPr lang="en-US" b="1" dirty="0" smtClean="0"/>
              <a:t> </a:t>
            </a:r>
            <a:r>
              <a:rPr lang="ru-RU" b="1" dirty="0" smtClean="0"/>
              <a:t>с</a:t>
            </a:r>
            <a:r>
              <a:rPr lang="en-US" b="1" dirty="0" err="1" smtClean="0"/>
              <a:t>кользящ</a:t>
            </a:r>
            <a:r>
              <a:rPr lang="ru-RU" b="1" dirty="0" smtClean="0"/>
              <a:t>его</a:t>
            </a:r>
            <a:r>
              <a:rPr lang="en-US" b="1" dirty="0" smtClean="0"/>
              <a:t> </a:t>
            </a:r>
            <a:r>
              <a:rPr lang="en-US" b="1" dirty="0" err="1" smtClean="0"/>
              <a:t>средн</a:t>
            </a:r>
            <a:r>
              <a:rPr lang="ru-RU" b="1" dirty="0" smtClean="0"/>
              <a:t>его</a:t>
            </a:r>
            <a:r>
              <a:rPr lang="en-US" b="1" dirty="0" smtClean="0"/>
              <a:t> 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04775" y="86327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b="1" dirty="0" smtClean="0"/>
              <a:t>М</a:t>
            </a:r>
            <a:r>
              <a:rPr lang="en-US" b="1" dirty="0" err="1" smtClean="0"/>
              <a:t>одели</a:t>
            </a:r>
            <a:r>
              <a:rPr lang="en-US" b="1" dirty="0" smtClean="0"/>
              <a:t> </a:t>
            </a:r>
            <a:r>
              <a:rPr lang="ru-RU" b="1" dirty="0" smtClean="0"/>
              <a:t>а</a:t>
            </a:r>
            <a:r>
              <a:rPr lang="en-US" b="1" dirty="0" err="1" smtClean="0"/>
              <a:t>вторегресси</a:t>
            </a:r>
            <a:r>
              <a:rPr lang="ru-RU" b="1" dirty="0" smtClean="0"/>
              <a:t>и</a:t>
            </a:r>
            <a:r>
              <a:rPr lang="en-US" b="1" dirty="0" smtClean="0"/>
              <a:t> </a:t>
            </a:r>
            <a:r>
              <a:rPr lang="ru-RU" b="1" dirty="0" smtClean="0"/>
              <a:t>с</a:t>
            </a:r>
            <a:r>
              <a:rPr lang="en-US" b="1" dirty="0" err="1" smtClean="0"/>
              <a:t>кользящ</a:t>
            </a:r>
            <a:r>
              <a:rPr lang="ru-RU" b="1" dirty="0" smtClean="0"/>
              <a:t>его</a:t>
            </a:r>
            <a:r>
              <a:rPr lang="en-US" b="1" dirty="0" smtClean="0"/>
              <a:t> </a:t>
            </a:r>
            <a:r>
              <a:rPr lang="en-US" b="1" dirty="0" err="1" smtClean="0"/>
              <a:t>средн</a:t>
            </a:r>
            <a:r>
              <a:rPr lang="ru-RU" b="1" dirty="0" smtClean="0"/>
              <a:t>его </a:t>
            </a:r>
            <a:r>
              <a:rPr lang="en-US" b="1" dirty="0" smtClean="0"/>
              <a:t>(AR(I)MA) </a:t>
            </a:r>
            <a:r>
              <a:rPr lang="ru-RU" b="1" dirty="0" smtClean="0"/>
              <a:t>остаются главным </a:t>
            </a:r>
            <a:r>
              <a:rPr lang="ru-RU" b="1" dirty="0" err="1" smtClean="0"/>
              <a:t>бейзлайном</a:t>
            </a:r>
            <a:r>
              <a:rPr lang="ru-RU" b="1" dirty="0" smtClean="0"/>
              <a:t> в задачах предсказания</a:t>
            </a:r>
            <a:endParaRPr lang="ru-RU" dirty="0"/>
          </a:p>
        </p:txBody>
      </p:sp>
      <p:pic>
        <p:nvPicPr>
          <p:cNvPr id="8194" name="Picture 2" descr="Types of Autoregressive Integrated Moving Average (ARIMA) Model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4095249"/>
            <a:ext cx="6013450" cy="2762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0" y="616470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A.AR – ARIMA – </a:t>
            </a:r>
            <a:r>
              <a:rPr lang="ru-RU" dirty="0" smtClean="0"/>
              <a:t>имеет </a:t>
            </a:r>
            <a:r>
              <a:rPr lang="en-US" dirty="0" smtClean="0"/>
              <a:t>MAPE</a:t>
            </a:r>
            <a:r>
              <a:rPr lang="ru-RU" dirty="0" smtClean="0"/>
              <a:t> близкую к </a:t>
            </a:r>
            <a:r>
              <a:rPr lang="en-US" dirty="0" smtClean="0"/>
              <a:t>LLM </a:t>
            </a:r>
            <a:r>
              <a:rPr lang="en-US" dirty="0" err="1" smtClean="0"/>
              <a:t>Ch</a:t>
            </a:r>
            <a:r>
              <a:rPr lang="en-US" dirty="0" err="1"/>
              <a:t>r</a:t>
            </a:r>
            <a:r>
              <a:rPr lang="en-US" dirty="0" err="1" smtClean="0"/>
              <a:t>onos</a:t>
            </a:r>
            <a:r>
              <a:rPr lang="en-US" dirty="0" smtClean="0"/>
              <a:t> </a:t>
            </a:r>
            <a:r>
              <a:rPr lang="ru-RU" dirty="0" smtClean="0"/>
              <a:t>на</a:t>
            </a:r>
            <a:r>
              <a:rPr lang="en-US" dirty="0" smtClean="0"/>
              <a:t> </a:t>
            </a:r>
            <a:r>
              <a:rPr lang="ru-RU" dirty="0" err="1" smtClean="0"/>
              <a:t>бенчмарке</a:t>
            </a:r>
            <a:r>
              <a:rPr lang="ru-RU" dirty="0" smtClean="0"/>
              <a:t> </a:t>
            </a:r>
            <a:r>
              <a:rPr lang="en-US" dirty="0" smtClean="0"/>
              <a:t>GIFT-EVAL</a:t>
            </a:r>
            <a:endParaRPr lang="ru-RU" dirty="0"/>
          </a:p>
        </p:txBody>
      </p:sp>
      <p:pic>
        <p:nvPicPr>
          <p:cNvPr id="8196" name="Picture 4" descr="https://www.salesforce.com/blog/wp-content/uploads/sites/2/2024/11/image_df344c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005" y="1757516"/>
            <a:ext cx="11857990" cy="4342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234112" y="6333979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 smtClean="0"/>
              <a:t>https://www.salesforce.com/blog/gift-eval-time-series-benchmark/</a:t>
            </a:r>
            <a:endParaRPr lang="ru-RU" sz="1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519680" y="2686050"/>
            <a:ext cx="528320" cy="335660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3978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3200" y="263525"/>
            <a:ext cx="11719560" cy="854075"/>
          </a:xfrm>
        </p:spPr>
        <p:txBody>
          <a:bodyPr/>
          <a:lstStyle/>
          <a:p>
            <a:pPr algn="ctr"/>
            <a:r>
              <a:rPr lang="ru-RU" dirty="0" smtClean="0"/>
              <a:t>Модель ВР как процесса авторегрессии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03200" y="934720"/>
            <a:ext cx="11719560" cy="4937760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200" dirty="0" smtClean="0"/>
              <a:t>Пусть ВР инертен – каждое значение ВР зависит от предыдущих </a:t>
            </a:r>
            <a:r>
              <a:rPr lang="ru-RU" sz="2200" dirty="0"/>
              <a:t>отчетов</a:t>
            </a:r>
            <a:r>
              <a:rPr lang="ru-RU" sz="2200" dirty="0" smtClean="0"/>
              <a:t>.</a:t>
            </a:r>
          </a:p>
          <a:p>
            <a:pPr lvl="1"/>
            <a:r>
              <a:rPr lang="ru-RU" sz="2000" dirty="0"/>
              <a:t>Сегодняшняя температура редко отличается резко от вчерашней.</a:t>
            </a:r>
          </a:p>
          <a:p>
            <a:pPr lvl="1"/>
            <a:r>
              <a:rPr lang="ru-RU" sz="2000" dirty="0"/>
              <a:t>Спрос на товар завтра зависит от того, сколько его покупали сегодня.</a:t>
            </a:r>
          </a:p>
          <a:p>
            <a:pPr lvl="1"/>
            <a:r>
              <a:rPr lang="ru-RU" sz="2000" dirty="0"/>
              <a:t>Потребление энергии в 9:00 похоже на потребление в 8:00 и 7:00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400" dirty="0"/>
              <a:t>Многие временные ряды инертны — текущее значение зависит от прошлых . </a:t>
            </a:r>
            <a:endParaRPr lang="ru-RU" sz="2000" dirty="0" smtClean="0"/>
          </a:p>
        </p:txBody>
      </p:sp>
      <p:pic>
        <p:nvPicPr>
          <p:cNvPr id="1026" name="Picture 2" descr="Which of these series are stationary? (a) Google closing stock price in 2015; (b) Daily change in the Google stock price in 2015; (c) Annual number of strikes in the US; (d) Monthly sales of new one-family houses sold in the US; (e) Annual price of a dozen eggs in the US (constant dollars); (f) Monthly total of pigs slaughtered in Victoria, Australia; (g) Annual total of Canadian Lynx furs traded by the Hudson Bay Company; (h) Quarterly Australian beer production; (i) Monthly Australian gas production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392" b="66447"/>
          <a:stretch/>
        </p:blipFill>
        <p:spPr bwMode="auto">
          <a:xfrm>
            <a:off x="96679" y="3225277"/>
            <a:ext cx="3796030" cy="2682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Which of these series are stationary? (a) Google closing stock price in 2015; (b) Daily change in the Google stock price in 2015; (c) Annual number of strikes in the US; (d) Monthly sales of new one-family houses sold in the US; (e) Annual price of a dozen eggs in the US (constant dollars); (f) Monthly total of pigs slaughtered in Victoria, Australia; (g) Annual total of Canadian Lynx furs traded by the Hudson Bay Company; (h) Quarterly Australian beer production; (i) Monthly Australian gas production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58" t="32959" r="33996" b="36307"/>
          <a:stretch/>
        </p:blipFill>
        <p:spPr bwMode="auto">
          <a:xfrm>
            <a:off x="4093844" y="3337933"/>
            <a:ext cx="3512185" cy="2457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2" descr="Which of these series are stationary? (a) Google closing stock price in 2015; (b) Daily change in the Google stock price in 2015; (c) Annual number of strikes in the US; (d) Monthly sales of new one-family houses sold in the US; (e) Annual price of a dozen eggs in the US (constant dollars); (f) Monthly total of pigs slaughtered in Victoria, Australia; (g) Annual total of Canadian Lynx furs traded by the Hudson Bay Company; (h) Quarterly Australian beer production; (i) Monthly Australian gas production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83" t="66234" r="32471" b="1999"/>
          <a:stretch/>
        </p:blipFill>
        <p:spPr bwMode="auto">
          <a:xfrm>
            <a:off x="8008302" y="3368040"/>
            <a:ext cx="3512185" cy="254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 8"/>
          <p:cNvSpPr/>
          <p:nvPr/>
        </p:nvSpPr>
        <p:spPr>
          <a:xfrm>
            <a:off x="749433" y="6223357"/>
            <a:ext cx="40891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https://otexts.com/fpp3/stationarity.html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374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3200" y="263525"/>
            <a:ext cx="11719560" cy="854075"/>
          </a:xfrm>
        </p:spPr>
        <p:txBody>
          <a:bodyPr/>
          <a:lstStyle/>
          <a:p>
            <a:pPr algn="ctr"/>
            <a:r>
              <a:rPr lang="ru-RU" dirty="0" smtClean="0"/>
              <a:t>Модель ВР как процесса авторегрессии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34620" y="934720"/>
                <a:ext cx="11856720" cy="4937760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200" dirty="0" smtClean="0"/>
                  <a:t>Пусть ВР инертен Каждое значение ВР – это линейная комбинация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ru-RU" sz="2200" b="0" i="1" dirty="0" smtClean="0">
                        <a:latin typeface="Cambria Math" panose="02040503050406030204" pitchFamily="18" charset="0"/>
                      </a:rPr>
                      <m:t>+1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200" dirty="0" smtClean="0"/>
                  <a:t>предыдущих отсчетов</a:t>
                </a:r>
              </a:p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200" dirty="0" smtClean="0"/>
                  <a:t>для стационарного ВР  такую </a:t>
                </a:r>
                <a:r>
                  <a:rPr lang="ru-RU" sz="2200" dirty="0" err="1" smtClean="0"/>
                  <a:t>комбинанцию</a:t>
                </a:r>
                <a:r>
                  <a:rPr lang="ru-RU" sz="2200" dirty="0" smtClean="0"/>
                  <a:t> будем называть  </a:t>
                </a:r>
                <a:r>
                  <a:rPr lang="en-US" sz="2200" b="1" dirty="0" err="1" smtClean="0"/>
                  <a:t>Авторегрессия</a:t>
                </a:r>
                <a:r>
                  <a:rPr lang="en-US" sz="2200" b="1" dirty="0"/>
                  <a:t>, </a:t>
                </a:r>
                <a:r>
                  <a:rPr lang="ru-RU" sz="2200" b="1" dirty="0" smtClean="0"/>
                  <a:t>(</a:t>
                </a:r>
                <a:r>
                  <a:rPr lang="en-US" sz="2200" b="1" dirty="0" smtClean="0"/>
                  <a:t>АR</a:t>
                </a:r>
                <a:r>
                  <a:rPr lang="en-US" sz="2200" dirty="0" smtClean="0"/>
                  <a:t>)</a:t>
                </a:r>
                <a:r>
                  <a:rPr lang="ru-RU" sz="2200" dirty="0" smtClean="0"/>
                  <a:t>:</a:t>
                </a:r>
                <a:endParaRPr lang="en-US" sz="2200" dirty="0"/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ru-RU" sz="2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−2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+...=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200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sz="2200" dirty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 smtClean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 smtClean="0"/>
                  <a:t> </a:t>
                </a:r>
                <a14:m>
                  <m:oMath xmlns:m="http://schemas.openxmlformats.org/officeDocument/2006/math"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ru-RU" sz="2200" dirty="0" smtClean="0"/>
                  <a:t> предсказание значения</a:t>
                </a:r>
                <a:r>
                  <a:rPr lang="en-US" sz="2200" dirty="0" smtClean="0"/>
                  <a:t> </a:t>
                </a:r>
                <a:r>
                  <a:rPr lang="ru-RU" sz="22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200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2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200" b="0" i="0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200" b="0" i="0" dirty="0" smtClean="0">
                    <a:latin typeface="+mj-lt"/>
                  </a:rPr>
                  <a:t> </a:t>
                </a:r>
                <a:r>
                  <a:rPr lang="ru-RU" sz="2200" dirty="0"/>
                  <a:t>весовые коэффициенты,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200" b="0" i="0" smtClean="0">
                        <a:latin typeface="Cambria Math" panose="02040503050406030204" pitchFamily="18" charset="0"/>
                      </a:rPr>
                      <m:t>P</m:t>
                    </m:r>
                  </m:oMath>
                </a14:m>
                <a:r>
                  <a:rPr lang="ru-RU" sz="2200" dirty="0"/>
                  <a:t> – порядок авторегрессии</a:t>
                </a:r>
                <a:r>
                  <a:rPr lang="ru-RU" sz="2200" dirty="0" smtClean="0"/>
                  <a:t>.</a:t>
                </a:r>
                <a:endParaRPr lang="en-US" sz="2200" dirty="0" smtClean="0"/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200" dirty="0" smtClean="0"/>
                  <a:t>На практике всегда можно сделать чтобы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ru-RU" sz="2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r>
                      <a:rPr lang="ru-RU" sz="2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1</m:t>
                    </m:r>
                  </m:oMath>
                </a14:m>
                <a:endParaRPr lang="ru-RU" sz="2200" dirty="0" smtClean="0"/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Другими словами инертность – это эффект </a:t>
                </a:r>
                <a:r>
                  <a:rPr lang="ru-RU" sz="2000" b="1" dirty="0" smtClean="0"/>
                  <a:t>памяти. </a:t>
                </a:r>
                <a:endParaRPr lang="en-US" sz="2000" b="1" dirty="0" smtClean="0"/>
              </a:p>
              <a:p>
                <a:pPr lvl="2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1600" b="1" dirty="0" smtClean="0"/>
                  <a:t>Обычно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16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ru-RU" sz="1600" b="1" dirty="0" smtClean="0"/>
                  <a:t> убывают, то есть эффект похож на скользящее сглаживание, но с более сложными весовыми коэффициентами.</a:t>
                </a:r>
                <a:endParaRPr lang="en-US" sz="1600" b="1" dirty="0" smtClean="0"/>
              </a:p>
              <a:p>
                <a:pPr lvl="1">
                  <a:lnSpc>
                    <a:spcPct val="100000"/>
                  </a:lnSpc>
                  <a:spcBef>
                    <a:spcPts val="0"/>
                  </a:spcBef>
                </a:pPr>
                <a:endParaRPr lang="ru-RU" sz="1800" b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4620" y="934720"/>
                <a:ext cx="11856720" cy="4937760"/>
              </a:xfrm>
              <a:blipFill>
                <a:blip r:embed="rId2"/>
                <a:stretch>
                  <a:fillRect l="-66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3"/>
          <a:srcRect b="54534"/>
          <a:stretch/>
        </p:blipFill>
        <p:spPr>
          <a:xfrm>
            <a:off x="387927" y="4511439"/>
            <a:ext cx="5208385" cy="2346561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 rotWithShape="1">
          <a:blip r:embed="rId4"/>
          <a:srcRect l="-1194" t="575" r="1194" b="54860"/>
          <a:stretch/>
        </p:blipFill>
        <p:spPr>
          <a:xfrm>
            <a:off x="6456219" y="4400608"/>
            <a:ext cx="5306291" cy="2457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34777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3200" y="0"/>
            <a:ext cx="11719560" cy="782955"/>
          </a:xfrm>
        </p:spPr>
        <p:txBody>
          <a:bodyPr/>
          <a:lstStyle/>
          <a:p>
            <a:pPr algn="ctr"/>
            <a:r>
              <a:rPr lang="ru-RU" b="1" dirty="0"/>
              <a:t>Скользящее среднее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1920" y="670262"/>
                <a:ext cx="11892280" cy="570858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2200" dirty="0" smtClean="0"/>
                  <a:t>Если </a:t>
                </a:r>
                <a:r>
                  <a:rPr lang="ru-RU" sz="2200" dirty="0"/>
                  <a:t>ряд процессов можно описать как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2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200" i="1">
                        <a:latin typeface="Cambria Math" panose="02040503050406030204" pitchFamily="18" charset="0"/>
                      </a:rPr>
                      <m:t>+....</m:t>
                    </m:r>
                  </m:oMath>
                </a14:m>
                <a:endParaRPr lang="en-US" sz="2200" dirty="0"/>
              </a:p>
              <a:p>
                <a:pPr marL="0" indent="0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2200" dirty="0" smtClean="0"/>
                  <a:t>Тогда  зададим невязку предсказания как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20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2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2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2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2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2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200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sz="2200" dirty="0" smtClean="0"/>
              </a:p>
              <a:p>
                <a:pPr marL="228600" lvl="1">
                  <a:lnSpc>
                    <a:spcPct val="120000"/>
                  </a:lnSpc>
                  <a:spcBef>
                    <a:spcPts val="200"/>
                  </a:spcBef>
                </a:pPr>
                <a:r>
                  <a:rPr lang="ru-RU" sz="1800" dirty="0" smtClean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sz="18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800" dirty="0"/>
                  <a:t> - </a:t>
                </a:r>
                <a:r>
                  <a:rPr lang="ru-RU" sz="1800" dirty="0"/>
                  <a:t>остатки предсказаний модели (флуктуации, шоки и </a:t>
                </a:r>
                <a:r>
                  <a:rPr lang="ru-RU" sz="1800" dirty="0" err="1"/>
                  <a:t>тд</a:t>
                </a:r>
                <a:r>
                  <a:rPr lang="ru-RU" sz="1800" dirty="0"/>
                  <a:t>), в идеале белый </a:t>
                </a:r>
                <a:r>
                  <a:rPr lang="ru-RU" sz="1800" dirty="0" smtClean="0"/>
                  <a:t>шум (иногда называют инновации)</a:t>
                </a:r>
                <a:endParaRPr lang="ru-RU" sz="1800" dirty="0"/>
              </a:p>
              <a:p>
                <a:pPr>
                  <a:lnSpc>
                    <a:spcPct val="120000"/>
                  </a:lnSpc>
                  <a:spcBef>
                    <a:spcPts val="200"/>
                  </a:spcBef>
                </a:pPr>
                <a:r>
                  <a:rPr lang="ru-RU" sz="2400" dirty="0" smtClean="0"/>
                  <a:t>Ряд инертен – если </a:t>
                </a:r>
                <a:r>
                  <a:rPr lang="ru-RU" sz="2400" dirty="0" err="1" smtClean="0"/>
                  <a:t>невзяка</a:t>
                </a:r>
                <a:r>
                  <a:rPr lang="ru-RU" sz="2400" dirty="0" smtClean="0"/>
                  <a:t> содержит информацию – она тоже инертна</a:t>
                </a:r>
              </a:p>
              <a:p>
                <a:pPr lvl="1">
                  <a:lnSpc>
                    <a:spcPct val="120000"/>
                  </a:lnSpc>
                  <a:spcBef>
                    <a:spcPts val="200"/>
                  </a:spcBef>
                </a:pPr>
                <a:r>
                  <a:rPr lang="ru-RU" sz="2300" dirty="0" smtClean="0"/>
                  <a:t>Ошибки частично зависимы! </a:t>
                </a:r>
                <a:r>
                  <a:rPr lang="ru-RU" sz="2300" dirty="0"/>
                  <a:t>(например, </a:t>
                </a:r>
                <a:r>
                  <a:rPr lang="ru-RU" sz="2300" dirty="0" err="1" smtClean="0"/>
                  <a:t>недооценность</a:t>
                </a:r>
                <a:r>
                  <a:rPr lang="ru-RU" sz="2300" dirty="0" smtClean="0"/>
                  <a:t> продаж сегодня вероятно приведет к переоценке продаж завтра) – </a:t>
                </a:r>
                <a:r>
                  <a:rPr lang="ru-RU" sz="2300" b="1" dirty="0" smtClean="0"/>
                  <a:t>эффект случайного блуждания с дрейфом.</a:t>
                </a:r>
              </a:p>
              <a:p>
                <a:pPr algn="just">
                  <a:lnSpc>
                    <a:spcPct val="120000"/>
                  </a:lnSpc>
                  <a:spcBef>
                    <a:spcPts val="200"/>
                  </a:spcBef>
                </a:pPr>
                <a:r>
                  <a:rPr lang="ru-RU" sz="2200" b="1" dirty="0" smtClean="0"/>
                  <a:t>Теорема </a:t>
                </a:r>
                <a:r>
                  <a:rPr lang="ru-RU" sz="2200" b="1" dirty="0" err="1" smtClean="0"/>
                  <a:t>Вольда</a:t>
                </a:r>
                <a:r>
                  <a:rPr lang="ru-RU" sz="2200" b="1" dirty="0" smtClean="0"/>
                  <a:t>.</a:t>
                </a:r>
                <a:r>
                  <a:rPr lang="en-US" sz="2200" b="1" dirty="0" smtClean="0"/>
                  <a:t> </a:t>
                </a:r>
                <a:r>
                  <a:rPr lang="ru-RU" sz="2200" dirty="0" smtClean="0"/>
                  <a:t>Недетерминированный </a:t>
                </a:r>
                <a:r>
                  <a:rPr lang="en-US" sz="2200" dirty="0" smtClean="0"/>
                  <a:t>TS-</a:t>
                </a:r>
                <a:r>
                  <a:rPr lang="ru-RU" sz="2200" dirty="0" smtClean="0"/>
                  <a:t>стационарный процесс </a:t>
                </a:r>
                <a:r>
                  <a:rPr lang="ru-RU" sz="2200" dirty="0"/>
                  <a:t>может быть </a:t>
                </a:r>
                <a:r>
                  <a:rPr lang="ru-RU" sz="2200" dirty="0" smtClean="0"/>
                  <a:t>представлен моделью случайного </a:t>
                </a:r>
                <a:r>
                  <a:rPr lang="ru-RU" sz="2200" dirty="0" err="1" smtClean="0"/>
                  <a:t>булждания</a:t>
                </a:r>
                <a:r>
                  <a:rPr lang="ru-RU" sz="2200" dirty="0" smtClean="0"/>
                  <a:t> - </a:t>
                </a:r>
                <a:r>
                  <a:rPr lang="ru-RU" sz="2200" dirty="0"/>
                  <a:t>как стохастический процесс </a:t>
                </a:r>
                <a:r>
                  <a:rPr lang="ru-RU" sz="2200" i="1" dirty="0"/>
                  <a:t>МА</a:t>
                </a:r>
                <a:r>
                  <a:rPr lang="ru-RU" sz="2200" dirty="0"/>
                  <a:t>(q), в предельном случае бесконечного порядка</a:t>
                </a:r>
                <a:r>
                  <a:rPr lang="ru-RU" sz="2100" dirty="0"/>
                  <a:t>.</a:t>
                </a:r>
              </a:p>
              <a:p>
                <a:pPr marL="0" indent="0" algn="ctr">
                  <a:lnSpc>
                    <a:spcPct val="120000"/>
                  </a:lnSpc>
                  <a:spcBef>
                    <a:spcPts val="200"/>
                  </a:spcBef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60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60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6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200" dirty="0" smtClean="0"/>
                  <a:t> </a:t>
                </a:r>
                <a:endParaRPr lang="en-US" sz="2200" dirty="0"/>
              </a:p>
              <a:p>
                <a:pPr lvl="1"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ru-RU" sz="1800" dirty="0" smtClean="0"/>
                  <a:t>в </a:t>
                </a:r>
                <a:r>
                  <a:rPr lang="ru-RU" sz="1800" dirty="0"/>
                  <a:t>предельном случае q будет бесконечным</a:t>
                </a:r>
              </a:p>
              <a:p>
                <a:pPr lvl="1">
                  <a:lnSpc>
                    <a:spcPct val="110000"/>
                  </a:lnSpc>
                  <a:spcBef>
                    <a:spcPts val="0"/>
                  </a:spcBef>
                </a:pPr>
                <a:r>
                  <a:rPr lang="ru-RU" sz="1800" dirty="0"/>
                  <a:t>с – постоянная (дрейф, глобальный тренд).</a:t>
                </a:r>
              </a:p>
              <a:p>
                <a:pPr lvl="1">
                  <a:lnSpc>
                    <a:spcPct val="11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1800" dirty="0"/>
                  <a:t>– </a:t>
                </a:r>
                <a:r>
                  <a:rPr lang="ru-RU" sz="1800" dirty="0" smtClean="0"/>
                  <a:t>весовые коэффициенты.</a:t>
                </a:r>
              </a:p>
              <a:p>
                <a:pPr marL="457200" lvl="1" indent="0" algn="ctr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1800" b="1" u="sng" dirty="0"/>
                  <a:t>Такой процесс будем называть Скользящее среднее </a:t>
                </a:r>
                <a:r>
                  <a:rPr lang="en-US" sz="1800" b="1" u="sng" dirty="0"/>
                  <a:t>(Moving Average)</a:t>
                </a:r>
                <a:endParaRPr lang="ru-RU" sz="1800" b="1" u="sng" dirty="0"/>
              </a:p>
              <a:p>
                <a:pPr marL="0" indent="0" algn="ctr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2400" b="1" dirty="0" smtClean="0"/>
                  <a:t>Как </a:t>
                </a:r>
                <a:r>
                  <a:rPr lang="ru-RU" sz="2400" b="1" dirty="0"/>
                  <a:t>следствие, </a:t>
                </a:r>
                <a:endParaRPr lang="ru-RU" sz="2400" b="1" dirty="0" smtClean="0"/>
              </a:p>
              <a:p>
                <a:pPr marL="0" indent="0" algn="ctr">
                  <a:lnSpc>
                    <a:spcPct val="120000"/>
                  </a:lnSpc>
                  <a:spcBef>
                    <a:spcPts val="200"/>
                  </a:spcBef>
                  <a:buNone/>
                </a:pPr>
                <a:r>
                  <a:rPr lang="ru-RU" sz="2400" b="1" dirty="0" smtClean="0"/>
                  <a:t>пусть </a:t>
                </a:r>
                <a:r>
                  <a:rPr lang="en-US" sz="2400" b="1" dirty="0"/>
                  <a:t>q – </a:t>
                </a:r>
                <a:r>
                  <a:rPr lang="ru-RU" sz="2400" b="1" dirty="0"/>
                  <a:t>конечно, тогда каким будет остаток вида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𝒏</m:t>
                        </m:r>
                      </m:sub>
                    </m:sSub>
                    <m:r>
                      <a:rPr lang="ru-RU" sz="2400" b="1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1" i="1">
                        <a:latin typeface="Cambria Math" panose="02040503050406030204" pitchFamily="18" charset="0"/>
                      </a:rPr>
                      <m:t>𝒄</m:t>
                    </m:r>
                    <m:r>
                      <a:rPr lang="ru-RU" sz="2400" b="1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𝟎</m:t>
                        </m:r>
                      </m:sub>
                      <m:sup>
                        <m:r>
                          <a:rPr lang="en-US" sz="2400" b="1" i="1">
                            <a:latin typeface="Cambria Math" panose="02040503050406030204" pitchFamily="18" charset="0"/>
                          </a:rPr>
                          <m:t>𝒒</m:t>
                        </m:r>
                      </m:sup>
                      <m:e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𝜷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1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𝜺</m:t>
                            </m:r>
                          </m:e>
                          <m:sub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𝒏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1" i="1">
                                <a:latin typeface="Cambria Math" panose="02040503050406030204" pitchFamily="18" charset="0"/>
                              </a:rPr>
                              <m:t>𝒊</m:t>
                            </m:r>
                          </m:sub>
                        </m:sSub>
                      </m:e>
                    </m:nary>
                    <m:r>
                      <a:rPr lang="ru-RU" sz="2400" b="1" i="0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r>
                  <a:rPr lang="en-US" sz="2400" b="1" dirty="0" smtClean="0"/>
                  <a:t> </a:t>
                </a:r>
                <a:endParaRPr lang="ru-RU" sz="2400" b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920" y="670262"/>
                <a:ext cx="11892280" cy="5708580"/>
              </a:xfrm>
              <a:blipFill>
                <a:blip r:embed="rId2"/>
                <a:stretch>
                  <a:fillRect l="-564" t="-427" r="-513" b="-1346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/>
          <p:cNvSpPr/>
          <p:nvPr/>
        </p:nvSpPr>
        <p:spPr>
          <a:xfrm>
            <a:off x="7366000" y="6365557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 smtClean="0"/>
              <a:t>https://education.yandex.ru/handbook/ml/article/modeli-vida-arima</a:t>
            </a:r>
            <a:endParaRPr lang="ru-RU" sz="12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322580" y="7478236"/>
            <a:ext cx="1169162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Зачем нужны инновации? Предсказуемые компоненты вашего временного ряда удалены, поэтому то, что осталось, кажется единственной неизвестной вещью. Таким образом, это было названо “инновацией”.</a:t>
            </a:r>
          </a:p>
        </p:txBody>
      </p:sp>
      <p:sp>
        <p:nvSpPr>
          <p:cNvPr id="7" name="Прямоугольник 6"/>
          <p:cNvSpPr/>
          <p:nvPr/>
        </p:nvSpPr>
        <p:spPr>
          <a:xfrm>
            <a:off x="4848224" y="6550223"/>
            <a:ext cx="81629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/>
              <a:t>https://xiaorui.site/Forecasting-and-Time-Series-Methods/Lecture/2_AR_MA.html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0058402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492" y="175848"/>
            <a:ext cx="11331388" cy="827181"/>
          </a:xfrm>
        </p:spPr>
        <p:txBody>
          <a:bodyPr>
            <a:noAutofit/>
          </a:bodyPr>
          <a:lstStyle/>
          <a:p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(ARMA)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12711" y="878569"/>
                <a:ext cx="11786249" cy="5747656"/>
              </a:xfrm>
            </p:spPr>
            <p:txBody>
              <a:bodyPr>
                <a:normAutofit lnSpcReduction="10000"/>
              </a:bodyPr>
              <a:lstStyle/>
              <a:p>
                <a:pPr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400" dirty="0" smtClean="0"/>
                  <a:t>Пусть ВР стационарен, инертен и содержит флуктуации (</a:t>
                </a:r>
                <a:r>
                  <a:rPr lang="ru-RU" sz="2400" dirty="0" err="1" smtClean="0"/>
                  <a:t>хаотичвеская</a:t>
                </a:r>
                <a:r>
                  <a:rPr lang="ru-RU" sz="2400" dirty="0" smtClean="0"/>
                  <a:t> модель с памятью), тогда динамику такой модели можно записать как комбинацию </a:t>
                </a:r>
                <a:r>
                  <a:rPr lang="en-US" sz="2400" dirty="0" smtClean="0"/>
                  <a:t>AR </a:t>
                </a:r>
                <a:r>
                  <a:rPr lang="ru-RU" sz="2400" dirty="0" smtClean="0"/>
                  <a:t>и </a:t>
                </a:r>
                <a:r>
                  <a:rPr lang="en-US" sz="2400" dirty="0" smtClean="0"/>
                  <a:t>MA : </a:t>
                </a:r>
                <a:endParaRPr lang="en-US" sz="2400" dirty="0"/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 </a:t>
                </a:r>
                <a:r>
                  <a:rPr lang="ru-RU" sz="2400" dirty="0"/>
                  <a:t>где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400" dirty="0"/>
                  <a:t>и</a:t>
                </a:r>
                <a14:m>
                  <m:oMath xmlns:m="http://schemas.openxmlformats.org/officeDocument/2006/math">
                    <m:r>
                      <a:rPr lang="ru-RU" sz="2400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/>
                  <a:t> - весовые </a:t>
                </a:r>
                <a:r>
                  <a:rPr lang="en-US" sz="2400" dirty="0" err="1"/>
                  <a:t>коэффициенты</a:t>
                </a:r>
                <a:r>
                  <a:rPr lang="en-US" sz="2400" dirty="0"/>
                  <a:t> </a:t>
                </a:r>
                <a:r>
                  <a:rPr lang="en-US" sz="2400" dirty="0" err="1" smtClean="0"/>
                  <a:t>модели</a:t>
                </a:r>
                <a:r>
                  <a:rPr lang="ru-RU" sz="2400" dirty="0" smtClean="0"/>
                  <a:t>,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400" dirty="0" smtClean="0"/>
                  <a:t> </a:t>
                </a:r>
                <a:r>
                  <a:rPr lang="ru-RU" sz="2400" dirty="0" smtClean="0"/>
                  <a:t>и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 smtClean="0"/>
                  <a:t> – </a:t>
                </a:r>
                <a:r>
                  <a:rPr lang="ru-RU" sz="2400" dirty="0" smtClean="0"/>
                  <a:t>порядки модели</a:t>
                </a:r>
                <a:r>
                  <a:rPr lang="en-US" sz="2400" dirty="0" smtClean="0"/>
                  <a:t>. </a:t>
                </a:r>
                <a:endParaRPr lang="en-US" sz="2400" dirty="0"/>
              </a:p>
              <a:p>
                <a:pPr marL="457200" lvl="1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200" u="sng" dirty="0" smtClean="0"/>
                  <a:t>Эту </a:t>
                </a:r>
                <a:r>
                  <a:rPr lang="ru-RU" sz="2200" u="sng" dirty="0"/>
                  <a:t>м</a:t>
                </a:r>
                <a:r>
                  <a:rPr lang="ru-RU" sz="2200" u="sng" dirty="0" smtClean="0"/>
                  <a:t>одель будем называть </a:t>
                </a:r>
                <a:r>
                  <a:rPr lang="ru-RU" sz="2200" b="1" u="sng" dirty="0"/>
                  <a:t>М</a:t>
                </a:r>
                <a:r>
                  <a:rPr lang="en-US" sz="2200" b="1" u="sng" dirty="0" err="1" smtClean="0"/>
                  <a:t>одел</a:t>
                </a:r>
                <a:r>
                  <a:rPr lang="ru-RU" sz="2200" b="1" u="sng" dirty="0"/>
                  <a:t>ь</a:t>
                </a:r>
                <a:r>
                  <a:rPr lang="en-US" sz="2200" b="1" u="sng" dirty="0" smtClean="0"/>
                  <a:t> </a:t>
                </a:r>
                <a:r>
                  <a:rPr lang="ru-RU" sz="2200" b="1" u="sng" dirty="0"/>
                  <a:t>а</a:t>
                </a:r>
                <a:r>
                  <a:rPr lang="en-US" sz="2200" b="1" u="sng" dirty="0" err="1"/>
                  <a:t>вторегресси</a:t>
                </a:r>
                <a:r>
                  <a:rPr lang="ru-RU" sz="2200" b="1" u="sng" dirty="0"/>
                  <a:t> -</a:t>
                </a:r>
                <a:r>
                  <a:rPr lang="en-US" sz="2200" b="1" u="sng" dirty="0"/>
                  <a:t> </a:t>
                </a:r>
                <a:r>
                  <a:rPr lang="ru-RU" sz="2200" b="1" u="sng" dirty="0"/>
                  <a:t>с</a:t>
                </a:r>
                <a:r>
                  <a:rPr lang="en-US" sz="2200" b="1" u="sng" dirty="0" err="1"/>
                  <a:t>кользящ</a:t>
                </a:r>
                <a:r>
                  <a:rPr lang="ru-RU" sz="2200" b="1" u="sng" dirty="0"/>
                  <a:t>его</a:t>
                </a:r>
                <a:r>
                  <a:rPr lang="en-US" sz="2200" b="1" u="sng" dirty="0"/>
                  <a:t> </a:t>
                </a:r>
                <a:r>
                  <a:rPr lang="en-US" sz="2200" b="1" u="sng" dirty="0" err="1"/>
                  <a:t>средн</a:t>
                </a:r>
                <a:r>
                  <a:rPr lang="ru-RU" sz="2200" b="1" u="sng" dirty="0"/>
                  <a:t>его </a:t>
                </a:r>
                <a:r>
                  <a:rPr lang="en-US" sz="2200" b="1" u="sng" dirty="0"/>
                  <a:t>(</a:t>
                </a:r>
                <a:r>
                  <a:rPr lang="en-US" sz="2200" b="1" u="sng" dirty="0" smtClean="0"/>
                  <a:t>ARMA</a:t>
                </a:r>
                <a:r>
                  <a:rPr lang="ru-RU" sz="2200" b="1" u="sng" dirty="0" smtClean="0"/>
                  <a:t>, АРСС</a:t>
                </a:r>
                <a:r>
                  <a:rPr lang="en-US" sz="2200" b="1" u="sng" dirty="0" smtClean="0"/>
                  <a:t>)</a:t>
                </a:r>
                <a:endParaRPr lang="ru-RU" sz="2200" b="1" u="sng" dirty="0" smtClean="0"/>
              </a:p>
              <a:p>
                <a:pPr marL="457200" lvl="1" indent="0" algn="ctr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200" i="1" dirty="0" smtClean="0"/>
                  <a:t>Мы хотим сказать, сто предсказание модели должно завесить от предыдущих значений (память) и от предыдущих ошибок предсказания </a:t>
                </a:r>
                <a:r>
                  <a:rPr lang="en-US" sz="2200" i="1" dirty="0" smtClean="0"/>
                  <a:t>(MA)</a:t>
                </a:r>
                <a:endParaRPr lang="ru-RU" sz="2200" i="1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dirty="0" smtClean="0"/>
                  <a:t>Пусть мы делаем предсказание температуры: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Предположим, что температура сегодня зависит от температуры вчера и </a:t>
                </a:r>
                <a:r>
                  <a:rPr lang="ru-RU" sz="2000" dirty="0" err="1" smtClean="0"/>
                  <a:t>позовчера</a:t>
                </a:r>
                <a:r>
                  <a:rPr lang="ru-RU" sz="2000" dirty="0" smtClean="0"/>
                  <a:t>,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dirty="0"/>
                  <a:t>Вчера </a:t>
                </a:r>
                <a:r>
                  <a:rPr lang="ru-RU" sz="2000" dirty="0" smtClean="0"/>
                  <a:t>модель </a:t>
                </a:r>
                <a:r>
                  <a:rPr lang="ru-RU" sz="2000" dirty="0"/>
                  <a:t>предсказал 20°C, а было 18°C — ошибка в </a:t>
                </a:r>
                <a:r>
                  <a:rPr lang="ru-RU" sz="2000" dirty="0" smtClean="0"/>
                  <a:t>2°C. </a:t>
                </a:r>
                <a:br>
                  <a:rPr lang="ru-RU" sz="2000" dirty="0" smtClean="0"/>
                </a:br>
                <a:r>
                  <a:rPr lang="ru-RU" sz="2000" i="1" dirty="0" smtClean="0"/>
                  <a:t>Вчера </a:t>
                </a:r>
                <a:r>
                  <a:rPr lang="ru-RU" sz="2000" i="1" dirty="0"/>
                  <a:t>переоценили — давай сегодня немного снизим </a:t>
                </a:r>
                <a:r>
                  <a:rPr lang="ru-RU" sz="2000" i="1" dirty="0" smtClean="0"/>
                  <a:t>прогноз</a:t>
                </a:r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000" i="1" dirty="0"/>
                  <a:t>Система не идеальна, но исправляет прошлые ошибки</a:t>
                </a:r>
                <a:endParaRPr lang="ru-RU" sz="2000" dirty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endParaRPr lang="ru-RU" dirty="0" smtClean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2711" y="878569"/>
                <a:ext cx="11786249" cy="5747656"/>
              </a:xfrm>
              <a:blipFill>
                <a:blip r:embed="rId2"/>
                <a:stretch>
                  <a:fillRect l="-931" t="-530" r="-6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00662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9644"/>
          </a:xfrm>
        </p:spPr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4341" y="1372394"/>
            <a:ext cx="5505450" cy="530542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218187"/>
            <a:ext cx="5486400" cy="5305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024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160" y="100965"/>
            <a:ext cx="10515600" cy="827181"/>
          </a:xfrm>
        </p:spPr>
        <p:txBody>
          <a:bodyPr>
            <a:normAutofit/>
          </a:bodyPr>
          <a:lstStyle/>
          <a:p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(ARMA)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92846" y="816385"/>
                <a:ext cx="11513073" cy="5746377"/>
              </a:xfrm>
            </p:spPr>
            <p:txBody>
              <a:bodyPr>
                <a:normAutofit/>
              </a:bodyPr>
              <a:lstStyle/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dirty="0" smtClean="0"/>
                  <a:t>Реальное значение ВР на шаге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dirty="0" smtClean="0"/>
                  <a:t> тогда можно представить как</a:t>
                </a:r>
              </a:p>
              <a:p>
                <a:pPr marL="0" indent="0" algn="just">
                  <a:lnSpc>
                    <a:spcPct val="10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ru-RU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ru-RU" dirty="0"/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dirty="0" smtClean="0"/>
                  <a:t>Таким образом </a:t>
                </a:r>
                <a:r>
                  <a:rPr lang="en-US" dirty="0" err="1" smtClean="0"/>
                  <a:t>Задача</a:t>
                </a:r>
                <a:r>
                  <a:rPr lang="en-US" dirty="0" smtClean="0"/>
                  <a:t> </a:t>
                </a:r>
                <a:r>
                  <a:rPr lang="en-US" dirty="0"/>
                  <a:t>ARMA-</a:t>
                </a:r>
                <a:r>
                  <a:rPr lang="en-US" dirty="0" err="1"/>
                  <a:t>аппроксимации</a:t>
                </a:r>
                <a:r>
                  <a:rPr lang="ru-RU" dirty="0"/>
                  <a:t> (построения АРСС модели</a:t>
                </a:r>
                <a:r>
                  <a:rPr lang="ru-RU" dirty="0" smtClean="0"/>
                  <a:t>)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dirty="0" smtClean="0"/>
                  <a:t>оценить их</a:t>
                </a:r>
                <a:r>
                  <a:rPr lang="en-US" dirty="0" smtClean="0"/>
                  <a:t> </a:t>
                </a:r>
                <a:r>
                  <a:rPr lang="en-US" dirty="0" err="1" smtClean="0"/>
                  <a:t>порядки</a:t>
                </a:r>
                <a:r>
                  <a:rPr lang="ru-RU" dirty="0" smtClean="0"/>
                  <a:t> </a:t>
                </a:r>
                <a:r>
                  <a:rPr lang="en-US" dirty="0" smtClean="0"/>
                  <a:t>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 smtClean="0"/>
                  <a:t>)</a:t>
                </a:r>
                <a:r>
                  <a:rPr lang="ru-RU" dirty="0" smtClean="0"/>
                  <a:t> 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dirty="0" err="1" smtClean="0"/>
                  <a:t>найти</a:t>
                </a:r>
                <a:r>
                  <a:rPr lang="en-US" dirty="0" smtClean="0"/>
                  <a:t> </a:t>
                </a:r>
                <a:r>
                  <a:rPr lang="ru-RU" dirty="0" smtClean="0"/>
                  <a:t>оптимальные </a:t>
                </a:r>
                <a:r>
                  <a:rPr lang="en-US" dirty="0" err="1" smtClean="0"/>
                  <a:t>весовые</a:t>
                </a:r>
                <a:r>
                  <a:rPr lang="en-US" dirty="0" smtClean="0"/>
                  <a:t> </a:t>
                </a:r>
                <a:r>
                  <a:rPr lang="en-US" dirty="0"/>
                  <a:t>коэффициенты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dirty="0" err="1" smtClean="0"/>
                  <a:t>Как</a:t>
                </a:r>
                <a:r>
                  <a:rPr lang="en-US" dirty="0" smtClean="0"/>
                  <a:t> </a:t>
                </a:r>
                <a:r>
                  <a:rPr lang="en-US" dirty="0"/>
                  <a:t>правило,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ru-RU" dirty="0"/>
                  <a:t>и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b="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:r>
                  <a:rPr lang="en-US" dirty="0" err="1" smtClean="0"/>
                  <a:t>можно</a:t>
                </a:r>
                <a:r>
                  <a:rPr lang="en-US" dirty="0" smtClean="0"/>
                  <a:t> </a:t>
                </a:r>
                <a:r>
                  <a:rPr lang="ru-RU" dirty="0" smtClean="0"/>
                  <a:t>найти</a:t>
                </a:r>
                <a:r>
                  <a:rPr lang="en-US" dirty="0" smtClean="0"/>
                  <a:t> </a:t>
                </a:r>
                <a:r>
                  <a:rPr lang="en-US" dirty="0"/>
                  <a:t>регрессионными </a:t>
                </a:r>
                <a:r>
                  <a:rPr lang="en-US" dirty="0" err="1"/>
                  <a:t>методами</a:t>
                </a:r>
                <a:r>
                  <a:rPr lang="en-US" dirty="0" smtClean="0"/>
                  <a:t>.</a:t>
                </a:r>
                <a:endParaRPr lang="ru-RU" dirty="0" smtClean="0"/>
              </a:p>
              <a:p>
                <a:pPr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dirty="0" smtClean="0"/>
                  <a:t>При этом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ru-RU" dirty="0" smtClean="0"/>
                  <a:t> – это </a:t>
                </a:r>
                <a:r>
                  <a:rPr lang="ru-RU" dirty="0" err="1" smtClean="0"/>
                  <a:t>гиперпараметры</a:t>
                </a:r>
                <a:r>
                  <a:rPr lang="ru-RU" dirty="0" smtClean="0"/>
                  <a:t> и их выбор не очевиден.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Можно оценить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sz="2000" dirty="0" smtClean="0"/>
                  <a:t> путем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000" dirty="0" smtClean="0"/>
                  <a:t> как авторегрессию порядка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ru-RU" sz="2000" b="0" i="1" dirty="0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𝐴𝑅</m:t>
                        </m:r>
                      </m:sub>
                    </m:sSub>
                  </m:oMath>
                </a14:m>
                <a:r>
                  <a:rPr lang="en-US" sz="2000" dirty="0" smtClean="0"/>
                  <a:t>, </a:t>
                </a:r>
                <a:r>
                  <a:rPr lang="ru-RU" sz="2000" dirty="0" smtClean="0"/>
                  <a:t>тогда коэффициенты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ru-RU" sz="2000" dirty="0" smtClean="0"/>
                  <a:t> найдем как регрессию  для</a:t>
                </a:r>
                <a:r>
                  <a:rPr lang="en-US" sz="2000" dirty="0" smtClean="0"/>
                  <a:t> </a:t>
                </a:r>
                <a:r>
                  <a:rPr lang="ru-RU" sz="2000" dirty="0" smtClean="0"/>
                  <a:t>остатка вида</a:t>
                </a:r>
                <a:r>
                  <a:rPr lang="en-US" sz="2000" dirty="0" smtClean="0"/>
                  <a:t> 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𝐴𝑅</m:t>
                        </m:r>
                      </m:sub>
                    </m:sSub>
                  </m:oMath>
                </a14:m>
                <a:r>
                  <a:rPr lang="en-US" sz="2000" dirty="0" smtClean="0"/>
                  <a:t>)</a:t>
                </a:r>
                <a:r>
                  <a:rPr lang="ru-RU" sz="2000" dirty="0" smtClean="0"/>
                  <a:t>.</a:t>
                </a:r>
              </a:p>
              <a:p>
                <a:pPr lvl="1" algn="just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ru-RU" sz="2000" dirty="0" smtClean="0"/>
                  <a:t>Можно оценить оба параметра путем </a:t>
                </a:r>
                <a:r>
                  <a:rPr lang="ru-RU" sz="2000" dirty="0" err="1" smtClean="0"/>
                  <a:t>минмизации</a:t>
                </a:r>
                <a:r>
                  <a:rPr lang="ru-RU" sz="2000" dirty="0" smtClean="0"/>
                  <a:t> квадрата невязки.</a:t>
                </a:r>
                <a:endParaRPr lang="en-US" sz="20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92846" y="816385"/>
                <a:ext cx="11513073" cy="5746377"/>
              </a:xfrm>
              <a:blipFill>
                <a:blip r:embed="rId2"/>
                <a:stretch>
                  <a:fillRect l="-953" t="-1060" r="-9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297364" y="4106284"/>
            <a:ext cx="1847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ru-RU" sz="2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59759" y="5950196"/>
            <a:ext cx="119322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/>
              <a:t>Модели записываются в виде </a:t>
            </a:r>
            <a:r>
              <a:rPr lang="en-US" sz="2200" dirty="0"/>
              <a:t>ARMA(</a:t>
            </a:r>
            <a:r>
              <a:rPr lang="en-US" sz="2200" dirty="0" err="1"/>
              <a:t>p,q</a:t>
            </a:r>
            <a:r>
              <a:rPr lang="en-US" sz="2200" dirty="0"/>
              <a:t>)</a:t>
            </a:r>
            <a:r>
              <a:rPr lang="ru-RU" sz="2200" dirty="0"/>
              <a:t> – что значит модель </a:t>
            </a:r>
            <a:r>
              <a:rPr lang="en-US" sz="2200" dirty="0"/>
              <a:t>p-</a:t>
            </a:r>
            <a:r>
              <a:rPr lang="ru-RU" sz="2200" dirty="0"/>
              <a:t>порядка по </a:t>
            </a:r>
            <a:r>
              <a:rPr lang="en-US" sz="2200" dirty="0"/>
              <a:t>AR </a:t>
            </a:r>
            <a:r>
              <a:rPr lang="ru-RU" sz="2200" dirty="0"/>
              <a:t>и </a:t>
            </a:r>
            <a:r>
              <a:rPr lang="en-US" sz="2200" dirty="0"/>
              <a:t>q-</a:t>
            </a:r>
            <a:r>
              <a:rPr lang="ru-RU" sz="2200" dirty="0"/>
              <a:t>порядка по </a:t>
            </a:r>
            <a:r>
              <a:rPr lang="en-US" sz="2200" dirty="0"/>
              <a:t>MA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40280623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4320" y="365125"/>
            <a:ext cx="11079480" cy="711835"/>
          </a:xfrm>
        </p:spPr>
        <p:txBody>
          <a:bodyPr/>
          <a:lstStyle/>
          <a:p>
            <a:pPr algn="ctr"/>
            <a:r>
              <a:rPr lang="ru-RU" dirty="0" smtClean="0"/>
              <a:t>Связь </a:t>
            </a:r>
            <a:r>
              <a:rPr lang="en-US" dirty="0" smtClean="0"/>
              <a:t>ARIMA c ACF </a:t>
            </a:r>
            <a:r>
              <a:rPr lang="ru-RU" dirty="0" smtClean="0"/>
              <a:t>и </a:t>
            </a:r>
            <a:r>
              <a:rPr lang="en-US" dirty="0" smtClean="0"/>
              <a:t>PACF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0" y="1076960"/>
                <a:ext cx="12192000" cy="5293360"/>
              </a:xfrm>
            </p:spPr>
            <p:txBody>
              <a:bodyPr>
                <a:normAutofit/>
              </a:bodyPr>
              <a:lstStyle/>
              <a:p>
                <a:r>
                  <a:rPr lang="ru-RU" sz="2000" dirty="0" smtClean="0"/>
                  <a:t>Процесс авторегрессии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ru-RU" sz="2000" b="0" i="1" smtClean="0">
                        <a:latin typeface="Cambria Math" panose="02040503050406030204" pitchFamily="18" charset="0"/>
                      </a:rPr>
                      <m:t>… </m:t>
                    </m:r>
                  </m:oMath>
                </a14:m>
                <a:r>
                  <a:rPr lang="ru-RU" sz="2000" dirty="0" smtClean="0"/>
                  <a:t> предполагает, что текущее значение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ru-RU" sz="2000" dirty="0" smtClean="0"/>
                  <a:t> имеет корреляцию с предыдущими значениями.</a:t>
                </a:r>
              </a:p>
              <a:p>
                <a:pPr lvl="1"/>
                <a:r>
                  <a:rPr lang="ru-RU" sz="2000" dirty="0" smtClean="0"/>
                  <a:t>Можно показать, что если процесс описывается предыдущими значениями до лага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000" dirty="0" smtClean="0"/>
                  <a:t> </a:t>
                </a:r>
                <a:r>
                  <a:rPr lang="ru-RU" sz="2000" dirty="0" smtClean="0"/>
                  <a:t>то на графике </a:t>
                </a:r>
                <a:r>
                  <a:rPr lang="en-US" sz="2000" dirty="0" smtClean="0"/>
                  <a:t>PACF </a:t>
                </a:r>
                <a:r>
                  <a:rPr lang="ru-RU" sz="2000" dirty="0" smtClean="0"/>
                  <a:t> не будет значимых лагов выше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ru-RU" sz="2000" dirty="0" smtClean="0"/>
              </a:p>
              <a:p>
                <a:pPr lvl="2"/>
                <a:r>
                  <a:rPr lang="en-US" sz="1800" dirty="0"/>
                  <a:t>P</a:t>
                </a:r>
                <a:r>
                  <a:rPr lang="en-US" sz="1800" dirty="0" smtClean="0"/>
                  <a:t>ACF </a:t>
                </a:r>
                <a:r>
                  <a:rPr lang="ru-RU" sz="1800" dirty="0" smtClean="0"/>
                  <a:t>корреляцию </a:t>
                </a:r>
                <a:r>
                  <a:rPr lang="ru-RU" sz="1800" dirty="0"/>
                  <a:t>между </a:t>
                </a:r>
                <a:r>
                  <a:rPr lang="en-US" sz="1800" i="1" dirty="0" err="1" smtClean="0"/>
                  <a:t>yt</a:t>
                </a:r>
                <a:r>
                  <a:rPr lang="en-US" sz="1800" dirty="0"/>
                  <a:t>​ </a:t>
                </a:r>
                <a:r>
                  <a:rPr lang="ru-RU" sz="1800" dirty="0"/>
                  <a:t>и </a:t>
                </a:r>
                <a:r>
                  <a:rPr lang="en-US" sz="1800" dirty="0" smtClean="0"/>
                  <a:t>y </a:t>
                </a:r>
                <a:r>
                  <a:rPr lang="en-US" sz="1800" i="1" dirty="0" err="1" smtClean="0"/>
                  <a:t>yt</a:t>
                </a:r>
                <a:r>
                  <a:rPr lang="en-US" sz="1800" dirty="0"/>
                  <a:t>−</a:t>
                </a:r>
                <a:r>
                  <a:rPr lang="en-US" sz="1800" i="1" dirty="0"/>
                  <a:t>k</a:t>
                </a:r>
                <a:r>
                  <a:rPr lang="en-US" sz="1800" dirty="0"/>
                  <a:t>​, </a:t>
                </a:r>
                <a:r>
                  <a:rPr lang="ru-RU" sz="1800" b="1" dirty="0"/>
                  <a:t>удалив влияние промежуточных </a:t>
                </a:r>
                <a:r>
                  <a:rPr lang="ru-RU" sz="1800" b="1" dirty="0" smtClean="0"/>
                  <a:t>лагов</a:t>
                </a:r>
                <a:r>
                  <a:rPr lang="ru-RU" sz="1800" dirty="0" smtClean="0"/>
                  <a:t> (</a:t>
                </a:r>
                <a:r>
                  <a:rPr lang="en-US" sz="1800" dirty="0" smtClean="0"/>
                  <a:t>y</a:t>
                </a:r>
                <a14:m>
                  <m:oMath xmlns:m="http://schemas.openxmlformats.org/officeDocument/2006/math"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80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sz="1800" dirty="0" smtClean="0"/>
                  <a:t>,</a:t>
                </a:r>
                <a:r>
                  <a:rPr lang="ru-RU" sz="1800" dirty="0" smtClean="0"/>
                  <a:t> </a:t>
                </a:r>
                <a:r>
                  <a:rPr lang="en-US" sz="1800" dirty="0" smtClean="0"/>
                  <a:t>yt</a:t>
                </a:r>
                <a:r>
                  <a:rPr lang="en-US" sz="1800" dirty="0"/>
                  <a:t>−2,…,yt−</a:t>
                </a:r>
                <a:r>
                  <a:rPr lang="en-US" sz="1800" dirty="0" smtClean="0"/>
                  <a:t>k+1​). – </a:t>
                </a:r>
                <a:r>
                  <a:rPr lang="ru-RU" sz="1800" dirty="0" smtClean="0"/>
                  <a:t>то есть лаги выше не несут новой информации.</a:t>
                </a:r>
                <a:endParaRPr lang="en-US" sz="1800" dirty="0"/>
              </a:p>
              <a:p>
                <a:r>
                  <a:rPr lang="ru-RU" sz="2000" dirty="0" smtClean="0"/>
                  <a:t> Если процесс включает скользящее среднее до лага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limLoc m:val="undOvr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000" dirty="0" smtClean="0"/>
                  <a:t> - </a:t>
                </a:r>
                <a:r>
                  <a:rPr lang="ru-RU" sz="2000" dirty="0" smtClean="0"/>
                  <a:t>можно показать, что на графике </a:t>
                </a:r>
                <a:r>
                  <a:rPr lang="en-US" sz="2000" dirty="0" smtClean="0"/>
                  <a:t>ACF </a:t>
                </a:r>
                <a:r>
                  <a:rPr lang="ru-RU" sz="2000" dirty="0" smtClean="0"/>
                  <a:t> не будет значимых лагов выше </a:t>
                </a:r>
                <a:r>
                  <a:rPr lang="en-US" sz="2000" dirty="0" smtClean="0"/>
                  <a:t>Q</a:t>
                </a:r>
                <a:endParaRPr lang="ru-RU" sz="2000" dirty="0" smtClean="0"/>
              </a:p>
              <a:p>
                <a:pPr lvl="1"/>
                <a:r>
                  <a:rPr lang="en-US" sz="2000" dirty="0"/>
                  <a:t>A</a:t>
                </a:r>
                <a:r>
                  <a:rPr lang="ru-RU" sz="2000" dirty="0" smtClean="0"/>
                  <a:t>CF </a:t>
                </a:r>
                <a:r>
                  <a:rPr lang="ru-RU" sz="2000" dirty="0"/>
                  <a:t>измеряет </a:t>
                </a:r>
                <a:r>
                  <a:rPr lang="ru-RU" sz="2000" b="1" dirty="0"/>
                  <a:t>непосредственную корреляцию</a:t>
                </a:r>
                <a:r>
                  <a:rPr lang="ru-RU" sz="2000" dirty="0"/>
                  <a:t> между </a:t>
                </a:r>
                <a:r>
                  <a:rPr lang="ru-RU" sz="2000" dirty="0" err="1" smtClean="0"/>
                  <a:t>yt</a:t>
                </a:r>
                <a:r>
                  <a:rPr lang="ru-RU" sz="2000" dirty="0" smtClean="0"/>
                  <a:t>​</a:t>
                </a:r>
                <a:r>
                  <a:rPr lang="ru-RU" sz="2000" dirty="0"/>
                  <a:t> и </a:t>
                </a:r>
                <a:r>
                  <a:rPr lang="ru-RU" sz="2000" dirty="0" err="1"/>
                  <a:t>yt</a:t>
                </a:r>
                <a:r>
                  <a:rPr lang="ru-RU" sz="2000" dirty="0"/>
                  <a:t>−</a:t>
                </a:r>
                <a:r>
                  <a:rPr lang="ru-RU" sz="2000" dirty="0" smtClean="0"/>
                  <a:t>k​</a:t>
                </a:r>
                <a:r>
                  <a:rPr lang="ru-RU" sz="2000" dirty="0"/>
                  <a:t>.</a:t>
                </a:r>
              </a:p>
              <a:p>
                <a:pPr lvl="2"/>
                <a:r>
                  <a:rPr lang="ru-RU" sz="1800" dirty="0"/>
                  <a:t>В MA(Q) процесс зависит только от последних </a:t>
                </a:r>
                <a:r>
                  <a:rPr lang="ru-RU" sz="1800" dirty="0" smtClean="0"/>
                  <a:t>Q</a:t>
                </a:r>
                <a:r>
                  <a:rPr lang="ru-RU" sz="1800" dirty="0"/>
                  <a:t> шумов, поэтому корреляция </a:t>
                </a:r>
                <a:r>
                  <a:rPr lang="ru-RU" sz="1800" b="1" dirty="0"/>
                  <a:t>исчезает после лага </a:t>
                </a:r>
                <a:r>
                  <a:rPr lang="ru-RU" sz="1800" b="1" dirty="0" smtClean="0"/>
                  <a:t>Q</a:t>
                </a:r>
                <a:endParaRPr lang="ru-RU" sz="1800" dirty="0"/>
              </a:p>
              <a:p>
                <a:endParaRPr lang="ru-RU" sz="20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076960"/>
                <a:ext cx="12192000" cy="5293360"/>
              </a:xfrm>
              <a:blipFill>
                <a:blip r:embed="rId2"/>
                <a:stretch>
                  <a:fillRect l="-450" t="-126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../../../_images/examples_notebooks_generated_tsa_arma_0_8_1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3145" y="4227483"/>
            <a:ext cx="3594135" cy="24021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../../../_images/examples_notebooks_generated_tsa_arma_0_9_0.pn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760" y="4227483"/>
            <a:ext cx="3494404" cy="2378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274320" y="6629648"/>
            <a:ext cx="863600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 smtClean="0"/>
              <a:t>https://www.statsmodels.org/stable/examples/notebooks/generated/tsa_arma_0.html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3248625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41" y="147911"/>
            <a:ext cx="10515600" cy="612028"/>
          </a:xfrm>
        </p:spPr>
        <p:txBody>
          <a:bodyPr>
            <a:normAutofit fontScale="90000"/>
          </a:bodyPr>
          <a:lstStyle/>
          <a:p>
            <a:pPr algn="ctr" rtl="0"/>
            <a:r>
              <a:rPr lang="en-US" b="1" dirty="0" err="1" smtClean="0"/>
              <a:t>Выбор</a:t>
            </a:r>
            <a:r>
              <a:rPr lang="en-US" b="1" dirty="0" smtClean="0"/>
              <a:t> </a:t>
            </a:r>
            <a:r>
              <a:rPr lang="ru-RU" b="1" dirty="0" smtClean="0"/>
              <a:t>начальных значений</a:t>
            </a:r>
            <a:r>
              <a:rPr lang="en-US" b="1" dirty="0" smtClean="0"/>
              <a:t> </a:t>
            </a:r>
            <a:r>
              <a:rPr lang="ru-RU" b="1" dirty="0"/>
              <a:t>порядка</a:t>
            </a:r>
            <a:r>
              <a:rPr lang="en-US" b="1" dirty="0"/>
              <a:t>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428" y="678330"/>
            <a:ext cx="11932241" cy="687001"/>
          </a:xfrm>
        </p:spPr>
        <p:txBody>
          <a:bodyPr>
            <a:normAutofit lnSpcReduction="10000"/>
          </a:bodyPr>
          <a:lstStyle/>
          <a:p>
            <a:pPr marL="0" indent="0" algn="l" rtl="0">
              <a:buNone/>
            </a:pPr>
            <a:r>
              <a:rPr lang="ru-RU" sz="2200" dirty="0" smtClean="0"/>
              <a:t>Эмпирические правила </a:t>
            </a:r>
            <a:r>
              <a:rPr lang="ru-RU" sz="2200" dirty="0"/>
              <a:t>для выбора порядка </a:t>
            </a:r>
            <a:r>
              <a:rPr lang="en-US" sz="2200" dirty="0"/>
              <a:t>ARMA </a:t>
            </a:r>
            <a:r>
              <a:rPr lang="ru-RU" sz="2200" dirty="0" smtClean="0"/>
              <a:t>моделей </a:t>
            </a:r>
            <a:r>
              <a:rPr lang="ru-RU" sz="2200" dirty="0"/>
              <a:t>на основе вида графиков автокорреляции и частичной автокорреляции. </a:t>
            </a:r>
            <a:endParaRPr lang="en-US" sz="2200" dirty="0"/>
          </a:p>
          <a:p>
            <a:pPr algn="l" rtl="0"/>
            <a:endParaRPr lang="en-US" sz="2400" b="1" dirty="0"/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88679285-94BC-45E3-AB5C-3D14E13D5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2289971"/>
              </p:ext>
            </p:extLst>
          </p:nvPr>
        </p:nvGraphicFramePr>
        <p:xfrm>
          <a:off x="168428" y="1290358"/>
          <a:ext cx="11854143" cy="45053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496922">
                  <a:extLst>
                    <a:ext uri="{9D8B030D-6E8A-4147-A177-3AD203B41FA5}">
                      <a16:colId xmlns:a16="http://schemas.microsoft.com/office/drawing/2014/main" val="3810330014"/>
                    </a:ext>
                  </a:extLst>
                </a:gridCol>
                <a:gridCol w="2411725">
                  <a:extLst>
                    <a:ext uri="{9D8B030D-6E8A-4147-A177-3AD203B41FA5}">
                      <a16:colId xmlns:a16="http://schemas.microsoft.com/office/drawing/2014/main" val="928333261"/>
                    </a:ext>
                  </a:extLst>
                </a:gridCol>
                <a:gridCol w="4945496">
                  <a:extLst>
                    <a:ext uri="{9D8B030D-6E8A-4147-A177-3AD203B41FA5}">
                      <a16:colId xmlns:a16="http://schemas.microsoft.com/office/drawing/2014/main" val="2644834403"/>
                    </a:ext>
                  </a:extLst>
                </a:gridCol>
              </a:tblGrid>
              <a:tr h="329404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PACF обрывается после лага  p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 =  номер последнего значимого лага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признак AR(p) — прямая зависимость от  p  прошлых значений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60986974"/>
                  </a:ext>
                </a:extLst>
              </a:tr>
              <a:tr h="329404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ACF обрывается после лага  q 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1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 =  номер последнего значимого лага</a:t>
                      </a:r>
                      <a:endParaRPr lang="en-US" sz="20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признак MA(q) — влияние ошибок исчезает после  q  шагов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9842672"/>
                  </a:ext>
                </a:extLst>
              </a:tr>
              <a:tr h="31318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u="none" strike="noStrike" dirty="0" smtClean="0">
                          <a:effectLst/>
                        </a:rPr>
                        <a:t>P</a:t>
                      </a:r>
                      <a:r>
                        <a:rPr lang="ru-RU" sz="2000" b="0" u="none" strike="noStrike" dirty="0" smtClean="0">
                          <a:effectLst/>
                        </a:rPr>
                        <a:t>ACF затухает</a:t>
                      </a:r>
                      <a:r>
                        <a:rPr lang="en-US" sz="2000" b="0" u="none" strike="noStrike" dirty="0" smtClean="0">
                          <a:effectLst/>
                        </a:rPr>
                        <a:t> </a:t>
                      </a:r>
                      <a:r>
                        <a:rPr lang="ru-RU" sz="2000" b="0" u="none" strike="noStrike" dirty="0" smtClean="0">
                          <a:effectLst/>
                        </a:rPr>
                        <a:t>медленно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 smtClean="0">
                          <a:effectLst/>
                        </a:rPr>
                        <a:t>P =1 </a:t>
                      </a:r>
                      <a:r>
                        <a:rPr lang="ru-RU" sz="2000" u="none" strike="noStrike" dirty="0" smtClean="0">
                          <a:effectLst/>
                        </a:rPr>
                        <a:t>или</a:t>
                      </a:r>
                      <a:r>
                        <a:rPr lang="ru-RU" sz="2000" u="none" strike="noStrike" baseline="0" dirty="0" smtClean="0">
                          <a:effectLst/>
                        </a:rPr>
                        <a:t> 2</a:t>
                      </a:r>
                      <a:r>
                        <a:rPr lang="en-US" sz="2000" u="none" strike="noStrike" baseline="0" dirty="0" smtClean="0">
                          <a:effectLst/>
                        </a:rPr>
                        <a:t> ++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u="none" strike="noStrike" dirty="0" smtClean="0">
                          <a:effectLst/>
                        </a:rPr>
                        <a:t>AR</a:t>
                      </a:r>
                      <a:r>
                        <a:rPr lang="en-US" sz="2000" b="1" u="none" strike="noStrike" dirty="0" smtClean="0">
                          <a:effectLst/>
                        </a:rPr>
                        <a:t>-</a:t>
                      </a:r>
                      <a:r>
                        <a:rPr lang="ru-RU" sz="2000" b="0" u="none" strike="noStrike" dirty="0" smtClean="0">
                          <a:effectLst/>
                        </a:rPr>
                        <a:t>эффект слабый </a:t>
                      </a:r>
                      <a:r>
                        <a:rPr lang="ru-RU" sz="2000" b="1" u="none" strike="noStrike" dirty="0" smtClean="0">
                          <a:effectLst/>
                        </a:rPr>
                        <a:t/>
                      </a:r>
                      <a:br>
                        <a:rPr lang="ru-RU" sz="2000" b="1" u="none" strike="noStrike" dirty="0" smtClean="0">
                          <a:effectLst/>
                        </a:rPr>
                      </a:b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Долгая "память", но без чёткой структуры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0229302"/>
                  </a:ext>
                </a:extLst>
              </a:tr>
              <a:tr h="329404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b="0" u="none" strike="noStrike" dirty="0" smtClean="0">
                          <a:effectLst/>
                        </a:rPr>
                        <a:t>ACF затухает плавно</a:t>
                      </a:r>
                      <a:r>
                        <a:rPr lang="en-US" sz="2000" b="0" u="none" strike="noStrike" dirty="0" smtClean="0">
                          <a:effectLst/>
                        </a:rPr>
                        <a:t> </a:t>
                      </a:r>
                      <a:r>
                        <a:rPr lang="ru-RU" sz="2000" b="0" u="none" strike="noStrike" dirty="0" smtClean="0">
                          <a:effectLst/>
                        </a:rPr>
                        <a:t>(экспоненциально или волнообразно)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 smtClean="0">
                          <a:effectLst/>
                        </a:rPr>
                        <a:t>q  = 1 </a:t>
                      </a:r>
                      <a:r>
                        <a:rPr lang="ru-RU" sz="2000" u="none" strike="noStrike" dirty="0" smtClean="0">
                          <a:effectLst/>
                        </a:rPr>
                        <a:t>или</a:t>
                      </a:r>
                      <a:r>
                        <a:rPr lang="ru-RU" sz="2000" u="none" strike="noStrike" baseline="0" dirty="0" smtClean="0">
                          <a:effectLst/>
                        </a:rPr>
                        <a:t> 2</a:t>
                      </a:r>
                      <a:r>
                        <a:rPr lang="en-US" sz="2000" u="none" strike="noStrike" baseline="0" dirty="0" smtClean="0">
                          <a:effectLst/>
                        </a:rPr>
                        <a:t> ++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u="none" strike="noStrike" dirty="0" smtClean="0">
                          <a:effectLst/>
                        </a:rPr>
                        <a:t>MA-</a:t>
                      </a:r>
                      <a:r>
                        <a:rPr lang="ru-RU" sz="2000" b="0" u="none" strike="noStrike" dirty="0" smtClean="0">
                          <a:effectLst/>
                        </a:rPr>
                        <a:t>эффект слабый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67765168"/>
                  </a:ext>
                </a:extLst>
              </a:tr>
              <a:tr h="296970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ACF и PACF затухают медленно, есть сильная сезонность или нет явного паттерна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i="1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p,q</a:t>
                      </a:r>
                      <a:r>
                        <a:rPr lang="en-US" sz="2000" b="0" i="1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</a:t>
                      </a:r>
                      <a:r>
                        <a:rPr lang="ru-RU" sz="2000" b="0" i="1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большие</a:t>
                      </a:r>
                      <a:r>
                        <a:rPr lang="ru-RU" sz="2000" b="0" i="1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значения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i="1" u="none" strike="noStrike" dirty="0" smtClean="0">
                          <a:effectLst/>
                        </a:rPr>
                        <a:t>Лучше</a:t>
                      </a:r>
                      <a:r>
                        <a:rPr lang="ru-RU" sz="2000" i="1" u="none" strike="noStrike" baseline="0" dirty="0" smtClean="0">
                          <a:effectLst/>
                        </a:rPr>
                        <a:t> </a:t>
                      </a:r>
                      <a:r>
                        <a:rPr lang="ru-RU" sz="2000" i="1" u="none" strike="noStrike" baseline="0" dirty="0">
                          <a:effectLst/>
                        </a:rPr>
                        <a:t>свести ряд к стационарному!</a:t>
                      </a:r>
                      <a:endParaRPr lang="en-US" sz="2000" b="0" i="1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61503096"/>
                  </a:ext>
                </a:extLst>
              </a:tr>
              <a:tr h="167236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 err="1">
                          <a:effectLst/>
                        </a:rPr>
                        <a:t>Нет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r>
                        <a:rPr lang="en-US" sz="2000" u="none" strike="noStrike" dirty="0" err="1">
                          <a:effectLst/>
                        </a:rPr>
                        <a:t>существенных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r>
                        <a:rPr lang="en-US" sz="2000" u="none" strike="noStrike" dirty="0" err="1">
                          <a:effectLst/>
                        </a:rPr>
                        <a:t>корреляций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0" i="1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p,q</a:t>
                      </a:r>
                      <a:r>
                        <a:rPr lang="en-US" sz="2000" b="0" i="1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= (0,0) 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 err="1">
                          <a:effectLst/>
                        </a:rPr>
                        <a:t>Случайн</a:t>
                      </a:r>
                      <a:r>
                        <a:rPr lang="ru-RU" sz="2000" u="none" strike="noStrike" dirty="0" err="1">
                          <a:effectLst/>
                        </a:rPr>
                        <a:t>ый</a:t>
                      </a:r>
                      <a:r>
                        <a:rPr lang="en-US" sz="2000" u="none" strike="noStrike" dirty="0">
                          <a:effectLst/>
                        </a:rPr>
                        <a:t> </a:t>
                      </a:r>
                      <a:r>
                        <a:rPr lang="ru-RU" sz="2000" u="none" strike="noStrike" dirty="0">
                          <a:effectLst/>
                        </a:rPr>
                        <a:t>ряд</a:t>
                      </a:r>
                      <a:r>
                        <a:rPr lang="en-US" sz="2000" u="none" strike="noStrike" dirty="0">
                          <a:effectLst/>
                        </a:rPr>
                        <a:t>.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3632095"/>
                  </a:ext>
                </a:extLst>
              </a:tr>
              <a:tr h="296970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Резкие но редкие выбросы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Увеличить</a:t>
                      </a: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MA-часть фильтрует</a:t>
                      </a:r>
                      <a:r>
                        <a:rPr lang="ru-RU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гасит) одноразовые воздействия (нештатные</a:t>
                      </a:r>
                      <a:r>
                        <a:rPr lang="ru-RU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ситуации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94989113"/>
                  </a:ext>
                </a:extLst>
              </a:tr>
              <a:tr h="16723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Ряд инертен, напр. температура, давление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Увеличить</a:t>
                      </a: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AR-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часть учитывает "инерцию" системы (память)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02518114"/>
                  </a:ext>
                </a:extLst>
              </a:tr>
              <a:tr h="167236"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u="none" strike="noStrike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Ряд зашумлен</a:t>
                      </a:r>
                      <a:endParaRPr lang="en-US" sz="2000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Увеличить</a:t>
                      </a:r>
                      <a:r>
                        <a:rPr lang="en-US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q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ru-RU" sz="20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MA-часть фильтрует</a:t>
                      </a:r>
                      <a:r>
                        <a:rPr lang="ru-RU" sz="20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шумы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11080999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7" name="Прямоугольник 6"/>
              <p:cNvSpPr/>
              <p:nvPr/>
            </p:nvSpPr>
            <p:spPr>
              <a:xfrm>
                <a:off x="168428" y="5795683"/>
                <a:ext cx="11383309" cy="1015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285750" indent="-285750" fontAlgn="base">
                  <a:buFont typeface="Arial" panose="020B0604020202020204" pitchFamily="34" charset="0"/>
                  <a:buChar char="•"/>
                </a:pPr>
                <a:r>
                  <a:rPr lang="ru-RU" sz="2000" dirty="0" smtClean="0">
                    <a:solidFill>
                      <a:srgbClr val="1D1D20"/>
                    </a:solidFill>
                  </a:rPr>
                  <a:t>Простые модели </a:t>
                </a:r>
                <a:r>
                  <a:rPr lang="ru-RU" sz="2000" dirty="0">
                    <a:solidFill>
                      <a:srgbClr val="1D1D2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rgbClr val="1D1D20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000" i="1" dirty="0" smtClean="0">
                        <a:solidFill>
                          <a:srgbClr val="1D1D2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 smtClean="0">
                        <a:solidFill>
                          <a:srgbClr val="1D1D20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i="1" dirty="0" smtClean="0">
                        <a:solidFill>
                          <a:srgbClr val="1D1D20"/>
                        </a:solidFill>
                        <a:latin typeface="Cambria Math" panose="02040503050406030204" pitchFamily="18" charset="0"/>
                      </a:rPr>
                      <m:t>≤(2,2)</m:t>
                    </m:r>
                  </m:oMath>
                </a14:m>
                <a:r>
                  <a:rPr lang="ru-RU" sz="2000" dirty="0" smtClean="0">
                    <a:solidFill>
                      <a:srgbClr val="1D1D20"/>
                    </a:solidFill>
                  </a:rPr>
                  <a:t>) </a:t>
                </a:r>
                <a:r>
                  <a:rPr lang="ru-RU" sz="2000" dirty="0">
                    <a:solidFill>
                      <a:srgbClr val="1D1D20"/>
                    </a:solidFill>
                  </a:rPr>
                  <a:t>часто дают лучшую точность и меньше </a:t>
                </a:r>
                <a:r>
                  <a:rPr lang="ru-RU" sz="2000" dirty="0" smtClean="0">
                    <a:solidFill>
                      <a:srgbClr val="1D1D20"/>
                    </a:solidFill>
                  </a:rPr>
                  <a:t>переобучаются</a:t>
                </a:r>
                <a:r>
                  <a:rPr lang="en-US" sz="2000" dirty="0" smtClean="0">
                    <a:solidFill>
                      <a:srgbClr val="1D1D20"/>
                    </a:solidFill>
                  </a:rPr>
                  <a:t> </a:t>
                </a:r>
                <a:r>
                  <a:rPr lang="ru-RU" sz="2000" dirty="0" smtClean="0">
                    <a:solidFill>
                      <a:srgbClr val="1D1D20"/>
                    </a:solidFill>
                  </a:rPr>
                  <a:t>на небольших данных и краткосрочных прогнозах, также такие модели легче интерпретировать</a:t>
                </a:r>
              </a:p>
              <a:p>
                <a:pPr marL="285750" indent="-285750" fontAlgn="base">
                  <a:buFont typeface="Arial" panose="020B0604020202020204" pitchFamily="34" charset="0"/>
                  <a:buChar char="•"/>
                </a:pPr>
                <a:r>
                  <a:rPr lang="ru-RU" sz="2000" dirty="0" smtClean="0">
                    <a:solidFill>
                      <a:srgbClr val="1D1D20"/>
                    </a:solidFill>
                  </a:rPr>
                  <a:t>Чем меньше горизонт прогнозирования, тем меньше требования к стационарности ВР</a:t>
                </a:r>
                <a:endParaRPr lang="ru-RU" sz="2000" dirty="0">
                  <a:solidFill>
                    <a:srgbClr val="1D1D20"/>
                  </a:solidFill>
                </a:endParaRPr>
              </a:p>
            </p:txBody>
          </p:sp>
        </mc:Choice>
        <mc:Fallback xmlns="">
          <p:sp>
            <p:nvSpPr>
              <p:cNvPr id="7" name="Прямоугольник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8428" y="5795683"/>
                <a:ext cx="11383309" cy="1015663"/>
              </a:xfrm>
              <a:prstGeom prst="rect">
                <a:avLst/>
              </a:prstGeom>
              <a:blipFill>
                <a:blip r:embed="rId2"/>
                <a:stretch>
                  <a:fillRect l="-482" t="-3614" r="-268" b="-1024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350" y="6967896"/>
            <a:ext cx="5319712" cy="1275991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1143000" y="717301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 smtClean="0"/>
              <a:t>https://xiaorui.site/Forecasting-and-Time-Series-Methods/Lecture/2_AR_MA.html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18749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41" y="147911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 err="1" smtClean="0"/>
              <a:t>Выбор</a:t>
            </a:r>
            <a:r>
              <a:rPr lang="en-US" b="1" dirty="0" smtClean="0"/>
              <a:t> </a:t>
            </a:r>
            <a:r>
              <a:rPr lang="ru-RU" b="1" dirty="0" smtClean="0"/>
              <a:t>начальных значений</a:t>
            </a:r>
            <a:r>
              <a:rPr lang="en-US" b="1" dirty="0" smtClean="0"/>
              <a:t> </a:t>
            </a:r>
            <a:r>
              <a:rPr lang="ru-RU" b="1" dirty="0"/>
              <a:t>порядка</a:t>
            </a:r>
            <a:r>
              <a:rPr lang="en-US" b="1" dirty="0"/>
              <a:t>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678330"/>
            <a:ext cx="11932241" cy="5853952"/>
          </a:xfrm>
        </p:spPr>
        <p:txBody>
          <a:bodyPr>
            <a:normAutofit/>
          </a:bodyPr>
          <a:lstStyle/>
          <a:p>
            <a:pPr algn="l" rtl="0"/>
            <a:endParaRPr lang="en-US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56882" y="6316837"/>
            <a:ext cx="119322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Модели записываются в виде </a:t>
            </a:r>
            <a:r>
              <a:rPr lang="en-US" sz="2200" dirty="0" smtClean="0"/>
              <a:t>ARMA(</a:t>
            </a:r>
            <a:r>
              <a:rPr lang="en-US" sz="2200" dirty="0" err="1" smtClean="0"/>
              <a:t>p,q</a:t>
            </a:r>
            <a:r>
              <a:rPr lang="en-US" sz="2200" dirty="0" smtClean="0"/>
              <a:t>)</a:t>
            </a:r>
            <a:r>
              <a:rPr lang="ru-RU" sz="2200" dirty="0" smtClean="0"/>
              <a:t> – что значит модель </a:t>
            </a:r>
            <a:r>
              <a:rPr lang="en-US" sz="2200" dirty="0" smtClean="0"/>
              <a:t>p-</a:t>
            </a:r>
            <a:r>
              <a:rPr lang="ru-RU" sz="2200" dirty="0" smtClean="0"/>
              <a:t>порядка по </a:t>
            </a:r>
            <a:r>
              <a:rPr lang="en-US" sz="2200" dirty="0" smtClean="0"/>
              <a:t>AR </a:t>
            </a:r>
            <a:r>
              <a:rPr lang="ru-RU" sz="2200" dirty="0" smtClean="0"/>
              <a:t>и </a:t>
            </a:r>
            <a:r>
              <a:rPr lang="en-US" sz="2200" dirty="0" smtClean="0"/>
              <a:t>q-</a:t>
            </a:r>
            <a:r>
              <a:rPr lang="ru-RU" sz="2200" dirty="0" smtClean="0"/>
              <a:t>порядка по </a:t>
            </a:r>
            <a:r>
              <a:rPr lang="en-US" sz="2200" dirty="0" smtClean="0"/>
              <a:t>MA</a:t>
            </a:r>
            <a:endParaRPr lang="ru-RU" sz="2200" dirty="0"/>
          </a:p>
        </p:txBody>
      </p:sp>
      <p:pic>
        <p:nvPicPr>
          <p:cNvPr id="3076" name="Picture 4" descr="AR(1) process with $\phi_1=0.9$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882" y="678330"/>
            <a:ext cx="6302375" cy="45016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/>
          <p:cNvSpPr/>
          <p:nvPr/>
        </p:nvSpPr>
        <p:spPr>
          <a:xfrm>
            <a:off x="294341" y="6029114"/>
            <a:ext cx="4801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https://openforecast.org/adam/BJApproach.html</a:t>
            </a:r>
            <a:endParaRPr lang="ru-RU" dirty="0"/>
          </a:p>
        </p:txBody>
      </p:sp>
      <p:pic>
        <p:nvPicPr>
          <p:cNvPr id="3078" name="Picture 6" descr="AR(2) process with $\phi_1=0.9$ and $\phi_2=-0.4$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48903" y="1047662"/>
            <a:ext cx="5159375" cy="36852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7481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341" y="147911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 err="1" smtClean="0"/>
              <a:t>Выбор</a:t>
            </a:r>
            <a:r>
              <a:rPr lang="en-US" b="1" dirty="0" smtClean="0"/>
              <a:t> </a:t>
            </a:r>
            <a:r>
              <a:rPr lang="ru-RU" b="1" dirty="0" smtClean="0"/>
              <a:t>начальных значений</a:t>
            </a:r>
            <a:r>
              <a:rPr lang="en-US" b="1" dirty="0" smtClean="0"/>
              <a:t> </a:t>
            </a:r>
            <a:r>
              <a:rPr lang="ru-RU" b="1" dirty="0"/>
              <a:t>порядка</a:t>
            </a:r>
            <a:r>
              <a:rPr lang="en-US" b="1" dirty="0"/>
              <a:t>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678330"/>
            <a:ext cx="11932241" cy="5853952"/>
          </a:xfrm>
        </p:spPr>
        <p:txBody>
          <a:bodyPr>
            <a:normAutofit/>
          </a:bodyPr>
          <a:lstStyle/>
          <a:p>
            <a:pPr algn="l" rtl="0"/>
            <a:endParaRPr lang="en-US" sz="2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56882" y="6316837"/>
            <a:ext cx="11932241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200" dirty="0" smtClean="0"/>
              <a:t>Модели записываются в виде </a:t>
            </a:r>
            <a:r>
              <a:rPr lang="en-US" sz="2200" dirty="0" smtClean="0"/>
              <a:t>ARMA(</a:t>
            </a:r>
            <a:r>
              <a:rPr lang="en-US" sz="2200" dirty="0" err="1" smtClean="0"/>
              <a:t>p,q</a:t>
            </a:r>
            <a:r>
              <a:rPr lang="en-US" sz="2200" dirty="0" smtClean="0"/>
              <a:t>)</a:t>
            </a:r>
            <a:r>
              <a:rPr lang="ru-RU" sz="2200" dirty="0" smtClean="0"/>
              <a:t> – что значит модель </a:t>
            </a:r>
            <a:r>
              <a:rPr lang="en-US" sz="2200" dirty="0" smtClean="0"/>
              <a:t>p-</a:t>
            </a:r>
            <a:r>
              <a:rPr lang="ru-RU" sz="2200" dirty="0" smtClean="0"/>
              <a:t>порядка по </a:t>
            </a:r>
            <a:r>
              <a:rPr lang="en-US" sz="2200" dirty="0" smtClean="0"/>
              <a:t>AR </a:t>
            </a:r>
            <a:r>
              <a:rPr lang="ru-RU" sz="2200" dirty="0" smtClean="0"/>
              <a:t>и </a:t>
            </a:r>
            <a:r>
              <a:rPr lang="en-US" sz="2200" dirty="0" smtClean="0"/>
              <a:t>q-</a:t>
            </a:r>
            <a:r>
              <a:rPr lang="ru-RU" sz="2200" dirty="0" smtClean="0"/>
              <a:t>порядка по </a:t>
            </a:r>
            <a:r>
              <a:rPr lang="en-US" sz="2200" dirty="0" smtClean="0"/>
              <a:t>MA</a:t>
            </a:r>
            <a:endParaRPr lang="ru-RU" sz="22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294341" y="6029114"/>
            <a:ext cx="4801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 smtClean="0"/>
              <a:t>https://openforecast.org/adam/BJApproach.html</a:t>
            </a:r>
            <a:endParaRPr lang="ru-RU" dirty="0"/>
          </a:p>
        </p:txBody>
      </p:sp>
      <p:pic>
        <p:nvPicPr>
          <p:cNvPr id="6146" name="Picture 2" descr="MA(2) process with $\theta_1=-0.9$ and $\theta_2=0.8$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528" y="1069222"/>
            <a:ext cx="5438775" cy="3884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ARMA(2,2) process with $\phi_1=0.9, \phi_2=-0.4$, $\theta_1=-0.9$ and $\theta_2=0.8$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8820" y="1069222"/>
            <a:ext cx="6106432" cy="4361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7061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ряда </a:t>
            </a:r>
            <a:r>
              <a:rPr lang="en-US" dirty="0"/>
              <a:t>ARMA(1,2)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1026" name="Picture 2" descr="grap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098" y="1593135"/>
            <a:ext cx="5640421" cy="512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graph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4580" y="1439694"/>
            <a:ext cx="5301322" cy="5176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4946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Дообучение</a:t>
            </a:r>
            <a:r>
              <a:rPr lang="ru-RU" b="1" dirty="0"/>
              <a:t> </a:t>
            </a:r>
            <a:r>
              <a:rPr lang="en-US" b="1" dirty="0"/>
              <a:t>ARMA </a:t>
            </a:r>
            <a:r>
              <a:rPr lang="ru-RU" b="1" dirty="0"/>
              <a:t>коэффициентов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</p:spPr>
            <p:txBody>
              <a:bodyPr>
                <a:normAutofit/>
              </a:bodyPr>
              <a:lstStyle/>
              <a:p>
                <a:r>
                  <a:rPr lang="ru-RU" sz="2200" dirty="0"/>
                  <a:t>После изначального выбора </a:t>
                </a:r>
                <a:r>
                  <a:rPr lang="en-US" sz="2200" dirty="0"/>
                  <a:t>ARAM </a:t>
                </a:r>
                <a:r>
                  <a:rPr lang="ru-RU" sz="2200" dirty="0"/>
                  <a:t>коэффициентов следует </a:t>
                </a:r>
                <a:r>
                  <a:rPr lang="ru-RU" sz="2200" dirty="0" err="1"/>
                  <a:t>дообучить</a:t>
                </a:r>
                <a:r>
                  <a:rPr lang="ru-RU" sz="2200" dirty="0"/>
                  <a:t> модель</a:t>
                </a:r>
                <a:r>
                  <a:rPr lang="en-US" sz="2200" dirty="0"/>
                  <a:t> </a:t>
                </a:r>
                <a:r>
                  <a:rPr lang="ru-RU" sz="2200" dirty="0"/>
                  <a:t>(т.е. взять несколько моделей и сравнить их).</a:t>
                </a:r>
              </a:p>
              <a:p>
                <a:r>
                  <a:rPr lang="ru-RU" sz="2200" dirty="0" smtClean="0"/>
                  <a:t>Для сравнения моделей на тренировочной выборке часто используют информационный критерий</a:t>
                </a:r>
                <a:endParaRPr lang="en-US" sz="22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Информационный критерий </a:t>
                </a:r>
                <a:r>
                  <a:rPr lang="ru-RU" sz="2200" dirty="0" err="1"/>
                  <a:t>Акайке</a:t>
                </a:r>
                <a:endParaRPr lang="en-US" sz="2200" dirty="0"/>
              </a:p>
              <a:p>
                <a:r>
                  <a:rPr lang="ru-RU" sz="2200" dirty="0"/>
                  <a:t>где</a:t>
                </a:r>
                <a:r>
                  <a:rPr lang="en-US" sz="2200" dirty="0"/>
                  <a:t> 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𝑅𝑆𝑆</m:t>
                        </m:r>
                      </m:num>
                      <m:den>
                        <m:d>
                          <m:dPr>
                            <m:ctrlPr>
                              <a:rPr lang="en-US" sz="22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2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den>
                    </m:f>
                  </m:oMath>
                </a14:m>
                <a:r>
                  <a:rPr lang="en-US" sz="2200" dirty="0"/>
                  <a:t>  </a:t>
                </a:r>
                <a:r>
                  <a:rPr lang="ru-RU" sz="2200" dirty="0"/>
                  <a:t>оценка правдоподобия модели</a:t>
                </a:r>
                <a:r>
                  <a:rPr lang="en-US" sz="2200" dirty="0"/>
                  <a:t>; </a:t>
                </a:r>
                <a:endParaRPr lang="ru-RU" sz="2200" dirty="0"/>
              </a:p>
              <a:p>
                <a:pPr lvl="1"/>
                <a:r>
                  <a:rPr lang="ru-RU" sz="2200" dirty="0"/>
                  <a:t>На самом деле формула справедлива только если остаток – белый шум</a:t>
                </a:r>
                <a:r>
                  <a:rPr lang="en-US" sz="2200" dirty="0"/>
                  <a:t>, </a:t>
                </a:r>
                <a:endParaRPr lang="ru-RU" sz="2200" dirty="0"/>
              </a:p>
              <a:p>
                <a:pPr lvl="1"/>
                <a:r>
                  <a:rPr lang="ru-RU" sz="2200" i="1" dirty="0"/>
                  <a:t>Для других случаев </a:t>
                </a:r>
                <a:r>
                  <a:rPr lang="ru-RU" sz="2200" i="1" dirty="0" err="1"/>
                  <a:t>формуы</a:t>
                </a:r>
                <a:r>
                  <a:rPr lang="ru-RU" sz="2200" i="1" dirty="0"/>
                  <a:t> будут иметь другой вид!</a:t>
                </a:r>
              </a:p>
              <a:p>
                <a:pPr lvl="2"/>
                <a:r>
                  <a:rPr lang="ru-RU" sz="2200" i="1" dirty="0"/>
                  <a:t>Общий вид: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) = 2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 – 2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/</m:t>
                    </m:r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2200" i="1" dirty="0"/>
                  <a:t>, </a:t>
                </a:r>
                <a:r>
                  <a:rPr lang="ru-RU" sz="2200" i="1" dirty="0"/>
                  <a:t>где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 −</m:t>
                    </m:r>
                  </m:oMath>
                </a14:m>
                <a:r>
                  <a:rPr lang="ru-RU" sz="2200" b="0" i="0" dirty="0"/>
                  <a:t>логогфим функции правдоподобия.</a:t>
                </a:r>
                <a:endParaRPr lang="ru-RU" sz="2200" i="1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𝑅𝑆𝑆</m:t>
                    </m:r>
                  </m:oMath>
                </a14:m>
                <a:r>
                  <a:rPr lang="en-US" sz="2200" dirty="0"/>
                  <a:t> </a:t>
                </a:r>
                <a:r>
                  <a:rPr lang="ru-RU" sz="2200" dirty="0"/>
                  <a:t>– корень суммы квадратов ошибки,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𝑅𝑆𝑆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p>
                          <m:sSup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  <m:r>
                                  <a:rPr lang="en-US" sz="2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sz="2200" b="0" i="1" smtClean="0">
                                            <a:latin typeface="Cambria Math" panose="02040503050406030204" pitchFamily="18" charset="0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sz="22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b>
                                </m:sSub>
                              </m:e>
                            </m:d>
                          </m:e>
                          <m:sup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sz="2200" dirty="0"/>
                  <a:t>. </a:t>
                </a:r>
                <a:endParaRPr lang="ru-RU" sz="2200" dirty="0"/>
              </a:p>
              <a:p>
                <a:r>
                  <a:rPr lang="en-US" sz="2200" dirty="0"/>
                  <a:t>k </a:t>
                </a:r>
                <a:r>
                  <a:rPr lang="ru-RU" sz="2200" dirty="0"/>
                  <a:t>число параметров, например для </a:t>
                </a:r>
                <a:r>
                  <a:rPr lang="en-US" sz="2200" dirty="0"/>
                  <a:t> ARMA </a:t>
                </a:r>
                <a14:m>
                  <m:oMath xmlns:m="http://schemas.openxmlformats.org/officeDocument/2006/math">
                    <m:r>
                      <a:rPr lang="en-US" sz="220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200" dirty="0"/>
                  <a:t> </a:t>
                </a:r>
                <a:br>
                  <a:rPr lang="en-US" sz="2200" dirty="0"/>
                </a:br>
                <a:r>
                  <a:rPr lang="ru-RU" sz="2200" dirty="0"/>
                  <a:t>или с константой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200" dirty="0"/>
                  <a:t>; </a:t>
                </a:r>
              </a:p>
              <a:p>
                <a:pPr lvl="1"/>
                <a:r>
                  <a:rPr lang="ru-RU" sz="2200" dirty="0"/>
                  <a:t>Могут быть и другие выражения для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ru-RU" sz="2200" dirty="0"/>
                  <a:t> в зависимости о числа параметров в модели.</a:t>
                </a:r>
                <a:endParaRPr lang="en-US" sz="22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  <a:blipFill>
                <a:blip r:embed="rId2"/>
                <a:stretch>
                  <a:fillRect l="-580" t="-134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4678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r>
              <a:rPr lang="ru-RU" b="1" dirty="0" err="1"/>
              <a:t>Дообучение</a:t>
            </a:r>
            <a:r>
              <a:rPr lang="ru-RU" b="1" dirty="0"/>
              <a:t> </a:t>
            </a:r>
            <a:r>
              <a:rPr lang="en-US" b="1" dirty="0"/>
              <a:t>ARMA </a:t>
            </a:r>
            <a:r>
              <a:rPr lang="ru-RU" b="1" dirty="0"/>
              <a:t>коэффициентов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</p:spPr>
            <p:txBody>
              <a:bodyPr>
                <a:normAutofit/>
              </a:bodyPr>
              <a:lstStyle/>
              <a:p>
                <a:pPr marL="228600" lvl="1">
                  <a:spcBef>
                    <a:spcPts val="1000"/>
                  </a:spcBef>
                </a:pPr>
                <a:r>
                  <a:rPr lang="ru-RU" sz="2800" dirty="0"/>
                  <a:t>Разные критерии штрафуют по разному.</a:t>
                </a:r>
                <a:endParaRPr lang="en-US" sz="2800" dirty="0"/>
              </a:p>
              <a:p>
                <a:r>
                  <a:rPr lang="ru-RU" dirty="0"/>
                  <a:t>Есть несколько популярных критериев: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Информационный критерий </a:t>
                </a:r>
                <a:r>
                  <a:rPr lang="ru-RU" dirty="0" err="1"/>
                  <a:t>Акайке</a:t>
                </a:r>
                <a:endParaRPr lang="ru-RU" dirty="0"/>
              </a:p>
              <a:p>
                <a:pPr lvl="1"/>
                <a:r>
                  <a:rPr lang="ru-RU" dirty="0"/>
                  <a:t>Для </a:t>
                </a:r>
                <a:r>
                  <a:rPr lang="en-US" dirty="0"/>
                  <a:t>ARMA </a:t>
                </a:r>
                <a:r>
                  <a:rPr lang="ru-RU" dirty="0"/>
                  <a:t>процесса может несколько завышать число параметров.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𝐵𝐼𝐶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𝑙𝑛𝑁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Байесовский Информационный критерий</a:t>
                </a:r>
              </a:p>
              <a:p>
                <a:pPr lvl="1"/>
                <a:r>
                  <a:rPr lang="ru-RU" dirty="0"/>
                  <a:t>Штрафует сильнее, чем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𝐴𝐼𝐶</m:t>
                    </m:r>
                  </m:oMath>
                </a14:m>
                <a:r>
                  <a:rPr lang="ru-RU" dirty="0"/>
                  <a:t> (оценка снизу), но работает для больших выборок.</a:t>
                </a: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𝐴𝐼𝐶𝑐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</a:t>
                </a:r>
                <a:r>
                  <a:rPr lang="ru-RU" dirty="0"/>
                  <a:t>модифицированный Информационный критерий </a:t>
                </a:r>
                <a:r>
                  <a:rPr lang="ru-RU" dirty="0" err="1"/>
                  <a:t>Акайке</a:t>
                </a:r>
                <a:endParaRPr lang="ru-RU" dirty="0"/>
              </a:p>
              <a:p>
                <a:pPr lvl="1"/>
                <a:r>
                  <a:rPr lang="ru-RU" dirty="0"/>
                  <a:t>Рекомендуется при небольших выборках.</a:t>
                </a:r>
              </a:p>
              <a:p>
                <a:r>
                  <a:rPr lang="ru-RU" sz="2000" dirty="0"/>
                  <a:t>Большая выборка или нет определяется по </a:t>
                </a:r>
                <a:r>
                  <a:rPr lang="ru-RU" sz="2000" dirty="0" err="1"/>
                  <a:t>теор</a:t>
                </a:r>
                <a:r>
                  <a:rPr lang="ru-RU" sz="2000" dirty="0"/>
                  <a:t>. Котельникова.</a:t>
                </a:r>
              </a:p>
              <a:p>
                <a:pPr lvl="1"/>
                <a:r>
                  <a:rPr lang="ru-RU" sz="1800" dirty="0"/>
                  <a:t>Можно искусственно сделать выборку большой, но от этого она больше информации содержать не будет. </a:t>
                </a:r>
              </a:p>
              <a:p>
                <a:pPr lvl="1"/>
                <a:r>
                  <a:rPr lang="ru-RU" sz="1800" dirty="0"/>
                  <a:t>Можно </a:t>
                </a:r>
                <a:r>
                  <a:rPr lang="ru-RU" sz="1800" dirty="0" err="1"/>
                  <a:t>децимировать</a:t>
                </a:r>
                <a:r>
                  <a:rPr lang="ru-RU" sz="1800" dirty="0"/>
                  <a:t> выборку, но только если </a:t>
                </a:r>
                <a:r>
                  <a:rPr lang="ru-RU" sz="1800" dirty="0" err="1"/>
                  <a:t>теор</a:t>
                </a:r>
                <a:r>
                  <a:rPr lang="ru-RU" sz="1800" dirty="0"/>
                  <a:t>. Котельникова позволяет</a:t>
                </a:r>
                <a:endParaRPr lang="en-US" sz="18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  <a:blipFill>
                <a:blip r:embed="rId2"/>
                <a:stretch>
                  <a:fillRect l="-948" t="-1763" r="-11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107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125" y="136525"/>
            <a:ext cx="10515600" cy="1325563"/>
          </a:xfrm>
        </p:spPr>
        <p:txBody>
          <a:bodyPr/>
          <a:lstStyle/>
          <a:p>
            <a:r>
              <a:rPr lang="ru-RU" dirty="0"/>
              <a:t>Алгоритм </a:t>
            </a:r>
            <a:r>
              <a:rPr lang="en-US" dirty="0"/>
              <a:t>ARMA </a:t>
            </a:r>
            <a:r>
              <a:rPr lang="ru-RU" dirty="0"/>
              <a:t>модели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22634" y="1284051"/>
            <a:ext cx="11200582" cy="519664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Модель работает для слабо-стационарного ряда (без </a:t>
            </a:r>
            <a:r>
              <a:rPr lang="ru-RU" sz="2400" u="sng" dirty="0" smtClean="0"/>
              <a:t>явного тренда и сезонности)</a:t>
            </a:r>
          </a:p>
          <a:p>
            <a:pPr marL="971550" lvl="1" indent="-514350">
              <a:buFont typeface="+mj-lt"/>
              <a:buAutoNum type="arabicPeriod"/>
            </a:pPr>
            <a:r>
              <a:rPr lang="ru-RU" sz="2000" u="sng" dirty="0" smtClean="0"/>
              <a:t>Если есть тренд и сезонность их надо убрать.</a:t>
            </a:r>
          </a:p>
          <a:p>
            <a:pPr marL="1428750" lvl="2" indent="-514350">
              <a:buFont typeface="+mj-lt"/>
              <a:buAutoNum type="arabicPeriod"/>
            </a:pPr>
            <a:r>
              <a:rPr lang="ru-RU" sz="2200" u="sng" dirty="0" smtClean="0"/>
              <a:t>Можно не убирать, но тогда порядки модели будут очень большие</a:t>
            </a:r>
            <a:endParaRPr lang="ru-RU" sz="2200" u="sng" dirty="0"/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Чем менее стационарен ряд, тем меньше горизонт точного прогнозирования.</a:t>
            </a:r>
          </a:p>
          <a:p>
            <a:pPr lvl="1"/>
            <a:r>
              <a:rPr lang="ru-RU" u="sng" dirty="0"/>
              <a:t> тем ниже обобщающая способность.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Выбор тренировочной и </a:t>
            </a:r>
            <a:r>
              <a:rPr lang="ru-RU" sz="2400" u="sng" dirty="0" err="1"/>
              <a:t>валидационной</a:t>
            </a:r>
            <a:r>
              <a:rPr lang="ru-RU" sz="2400" u="sng" dirty="0"/>
              <a:t> выборки.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Выбор изначальных параметров модели по АКФ и ЧАКФ. </a:t>
            </a:r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Варьирование параметров моделей с целью минимизации </a:t>
            </a:r>
            <a:r>
              <a:rPr lang="en-US" sz="2400" u="sng" dirty="0"/>
              <a:t>BIC </a:t>
            </a:r>
            <a:r>
              <a:rPr lang="ru-RU" sz="2400" u="sng" dirty="0"/>
              <a:t>или</a:t>
            </a:r>
            <a:r>
              <a:rPr lang="en-US" sz="2400" u="sng" dirty="0"/>
              <a:t> </a:t>
            </a:r>
            <a:r>
              <a:rPr lang="en-US" sz="2400" u="sng" dirty="0" err="1"/>
              <a:t>AICc</a:t>
            </a:r>
            <a:r>
              <a:rPr lang="en-US" sz="2400" u="sng" dirty="0"/>
              <a:t> </a:t>
            </a:r>
            <a:r>
              <a:rPr lang="ru-RU" sz="2400" u="sng" dirty="0" smtClean="0"/>
              <a:t>критериев на тренировочной выборке.</a:t>
            </a:r>
            <a:endParaRPr lang="en-US" sz="2400" u="sng" dirty="0"/>
          </a:p>
          <a:p>
            <a:pPr marL="514350" indent="-514350">
              <a:buFont typeface="+mj-lt"/>
              <a:buAutoNum type="arabicPeriod"/>
            </a:pPr>
            <a:r>
              <a:rPr lang="ru-RU" sz="2400" u="sng" dirty="0"/>
              <a:t>Проверка остатков для модели </a:t>
            </a:r>
            <a:r>
              <a:rPr lang="en-US" sz="2400" u="sng" dirty="0"/>
              <a:t>(</a:t>
            </a:r>
            <a:r>
              <a:rPr lang="ru-RU" sz="2400" u="sng" dirty="0"/>
              <a:t>на предмет стационарного БГШ</a:t>
            </a:r>
            <a:r>
              <a:rPr lang="en-US" sz="2400" u="sng" dirty="0"/>
              <a:t>)</a:t>
            </a:r>
            <a:r>
              <a:rPr lang="ru-RU" sz="2400" u="sng" dirty="0"/>
              <a:t>.</a:t>
            </a:r>
            <a:endParaRPr lang="en-US" sz="2400" u="sng" dirty="0"/>
          </a:p>
          <a:p>
            <a:pPr marL="514350" indent="-514350">
              <a:buFont typeface="+mj-lt"/>
              <a:buAutoNum type="arabicPeriod"/>
            </a:pPr>
            <a:r>
              <a:rPr lang="ru-RU" sz="2400" u="sng" dirty="0" smtClean="0"/>
              <a:t>Кросс-</a:t>
            </a:r>
            <a:r>
              <a:rPr lang="ru-RU" sz="2400" u="sng" dirty="0" err="1" smtClean="0"/>
              <a:t>Валидация</a:t>
            </a:r>
            <a:r>
              <a:rPr lang="ru-RU" sz="2400" u="sng" dirty="0"/>
              <a:t>, проверка точности по известным метрикам</a:t>
            </a:r>
            <a:r>
              <a:rPr lang="ru-RU" u="sng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6408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125" y="136525"/>
            <a:ext cx="10515600" cy="777875"/>
          </a:xfrm>
        </p:spPr>
        <p:txBody>
          <a:bodyPr/>
          <a:lstStyle/>
          <a:p>
            <a:r>
              <a:rPr lang="ru-RU" dirty="0"/>
              <a:t>Алгоритм </a:t>
            </a:r>
            <a:r>
              <a:rPr lang="en-US" dirty="0" err="1" smtClean="0"/>
              <a:t>AutoARMA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Объект 3"/>
              <p:cNvSpPr>
                <a:spLocks noGrp="1"/>
              </p:cNvSpPr>
              <p:nvPr>
                <p:ph idx="1"/>
              </p:nvPr>
            </p:nvSpPr>
            <p:spPr>
              <a:xfrm>
                <a:off x="238125" y="914399"/>
                <a:ext cx="11534775" cy="55530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ru-RU" sz="2200" dirty="0" smtClean="0"/>
                  <a:t>Процесс подбора </a:t>
                </a:r>
                <a:r>
                  <a:rPr lang="ru-RU" sz="2200" dirty="0" err="1" smtClean="0"/>
                  <a:t>гиперпараметров</a:t>
                </a:r>
                <a:r>
                  <a:rPr lang="ru-RU" sz="2200" dirty="0" smtClean="0"/>
                  <a:t> модели </a:t>
                </a:r>
                <a:r>
                  <a:rPr lang="en-US" sz="2200" dirty="0" smtClean="0"/>
                  <a:t>P, Q </a:t>
                </a:r>
                <a:r>
                  <a:rPr lang="ru-RU" sz="2200" dirty="0" smtClean="0"/>
                  <a:t>можно </a:t>
                </a:r>
                <a:r>
                  <a:rPr lang="ru-RU" sz="2200" dirty="0" err="1" smtClean="0"/>
                  <a:t>алгоримитризировать</a:t>
                </a:r>
                <a:r>
                  <a:rPr lang="ru-RU" sz="2200" dirty="0" smtClean="0"/>
                  <a:t>.</a:t>
                </a:r>
              </a:p>
              <a:p>
                <a:pPr marL="0" indent="0">
                  <a:buNone/>
                </a:pPr>
                <a:r>
                  <a:rPr lang="ru-RU" sz="2200" dirty="0" smtClean="0"/>
                  <a:t>Наиболее простой алгоритм </a:t>
                </a:r>
                <a:r>
                  <a:rPr lang="ru-RU" sz="2200" dirty="0"/>
                  <a:t>поиска </a:t>
                </a:r>
                <a:r>
                  <a:rPr lang="en-US" sz="2200" dirty="0"/>
                  <a:t>Hyndman-</a:t>
                </a:r>
                <a:r>
                  <a:rPr lang="en-US" sz="2200" dirty="0" err="1"/>
                  <a:t>Khandakar</a:t>
                </a:r>
                <a:r>
                  <a:rPr lang="en-US" sz="2200" dirty="0"/>
                  <a:t> algorithm </a:t>
                </a:r>
                <a:endParaRPr lang="ru-RU" sz="2200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 smtClean="0"/>
                  <a:t>Задаются начальные значения </a:t>
                </a:r>
                <a:r>
                  <a:rPr lang="en-US" sz="2200" dirty="0" smtClean="0"/>
                  <a:t>P, Q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 smtClean="0"/>
                  <a:t>Строится </a:t>
                </a:r>
                <a:r>
                  <a:rPr lang="en-US" sz="2200" dirty="0" smtClean="0"/>
                  <a:t>5</a:t>
                </a:r>
                <a:r>
                  <a:rPr lang="ru-RU" sz="2200" dirty="0" smtClean="0"/>
                  <a:t> моделей </a:t>
                </a:r>
                <a:r>
                  <a:rPr lang="en-US" sz="2200" dirty="0" smtClean="0"/>
                  <a:t>ARMA (P-1,Q), ARMA (P,Q-1)</a:t>
                </a:r>
                <a:r>
                  <a:rPr lang="ru-RU" sz="2200" dirty="0" smtClean="0"/>
                  <a:t>, </a:t>
                </a:r>
                <a:r>
                  <a:rPr lang="en-US" sz="2200" dirty="0" smtClean="0"/>
                  <a:t>ARMA (P,Q)</a:t>
                </a:r>
                <a:r>
                  <a:rPr lang="ru-RU" sz="2200" dirty="0" smtClean="0"/>
                  <a:t>, </a:t>
                </a:r>
                <a:r>
                  <a:rPr lang="en-US" sz="2200" dirty="0" smtClean="0"/>
                  <a:t>ARMA (P</a:t>
                </a:r>
                <a:r>
                  <a:rPr lang="ru-RU" sz="2200" dirty="0" smtClean="0"/>
                  <a:t>+1</a:t>
                </a:r>
                <a:r>
                  <a:rPr lang="en-US" sz="2200" dirty="0" smtClean="0"/>
                  <a:t>,Q), ARMA (P,Q</a:t>
                </a:r>
                <a:r>
                  <a:rPr lang="ru-RU" sz="2200" dirty="0" smtClean="0"/>
                  <a:t>+</a:t>
                </a:r>
                <a:r>
                  <a:rPr lang="en-US" sz="2200" dirty="0" smtClean="0"/>
                  <a:t>1)</a:t>
                </a:r>
                <a:r>
                  <a:rPr lang="ru-RU" sz="2200" dirty="0" smtClean="0"/>
                  <a:t>, могут также модели с константой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 smtClean="0"/>
                  <a:t>Рассчитываются </a:t>
                </a:r>
                <a:r>
                  <a:rPr lang="en-US" sz="2200" dirty="0" err="1" smtClean="0"/>
                  <a:t>AICc</a:t>
                </a:r>
                <a:r>
                  <a:rPr lang="en-US" sz="2200" dirty="0" smtClean="0"/>
                  <a:t> </a:t>
                </a:r>
                <a:r>
                  <a:rPr lang="ru-RU" sz="2200" dirty="0" smtClean="0"/>
                  <a:t>для всех случаев.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 smtClean="0"/>
                  <a:t>Для лучшей модели </a:t>
                </a:r>
                <a:r>
                  <a:rPr lang="en-US" sz="2200" dirty="0" smtClean="0"/>
                  <a:t>(</a:t>
                </a:r>
                <a:r>
                  <a:rPr lang="en-US" sz="2200" dirty="0" err="1" smtClean="0"/>
                  <a:t>AICc</a:t>
                </a:r>
                <a:r>
                  <a:rPr lang="en-US" sz="2200" dirty="0" smtClean="0"/>
                  <a:t> </a:t>
                </a:r>
                <a:r>
                  <a:rPr lang="ru-RU" sz="2200" dirty="0" smtClean="0"/>
                  <a:t>минимальный) обновляются </a:t>
                </a:r>
                <a:r>
                  <a:rPr lang="en-US" sz="2200" dirty="0" smtClean="0"/>
                  <a:t>P, Q</a:t>
                </a:r>
                <a:endParaRPr lang="ru-RU" sz="2200" dirty="0" smtClean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ru-RU" sz="2200" dirty="0" smtClean="0"/>
                  <a:t>Процесс повторяется с шага 2 (до сходимости).</a:t>
                </a:r>
              </a:p>
              <a:p>
                <a:pPr marL="0" indent="0">
                  <a:buNone/>
                </a:pPr>
                <a:r>
                  <a:rPr lang="ru-RU" sz="2200" dirty="0" smtClean="0"/>
                  <a:t>Если несколько комбинаций </a:t>
                </a:r>
                <a:r>
                  <a:rPr lang="en-US" sz="2200" dirty="0" smtClean="0"/>
                  <a:t>P, Q</a:t>
                </a:r>
                <a:r>
                  <a:rPr lang="ru-RU" sz="2200" dirty="0" smtClean="0"/>
                  <a:t> имеют стат. неразличимые </a:t>
                </a:r>
                <a:br>
                  <a:rPr lang="ru-RU" sz="2200" dirty="0" smtClean="0"/>
                </a:br>
                <a:r>
                  <a:rPr lang="en-US" sz="2200" dirty="0" err="1" smtClean="0"/>
                  <a:t>AICc</a:t>
                </a:r>
                <a:r>
                  <a:rPr lang="ru-RU" sz="2200" dirty="0" smtClean="0"/>
                  <a:t> – лучше проверить все.</a:t>
                </a:r>
              </a:p>
              <a:p>
                <a:pPr marL="0" indent="0">
                  <a:buNone/>
                </a:pPr>
                <a:r>
                  <a:rPr lang="ru-RU" sz="2200" dirty="0" smtClean="0"/>
                  <a:t>Процесс выполняется на тренировочных данных.</a:t>
                </a:r>
              </a:p>
              <a:p>
                <a:pPr marL="0" indent="0">
                  <a:buNone/>
                </a:pPr>
                <a:r>
                  <a:rPr lang="ru-RU" sz="2200" dirty="0" smtClean="0"/>
                  <a:t>После получения модели рекомендуется проверить остатки на БГШ</a:t>
                </a:r>
              </a:p>
              <a:p>
                <a:pPr marL="0" indent="0">
                  <a:buNone/>
                </a:pPr>
                <a:r>
                  <a:rPr lang="ru-RU" sz="2200" dirty="0" smtClean="0"/>
                  <a:t>На тесте возможно варьирование </a:t>
                </a:r>
                <a:r>
                  <a:rPr lang="en-US" sz="2200" dirty="0" smtClean="0"/>
                  <a:t>P, Q</a:t>
                </a:r>
                <a:r>
                  <a:rPr lang="ru-RU" sz="2200" dirty="0" smtClean="0"/>
                  <a:t> </a:t>
                </a:r>
                <a14:m>
                  <m:oMath xmlns:m="http://schemas.openxmlformats.org/officeDocument/2006/math">
                    <m:r>
                      <a:rPr lang="ru-RU" sz="2200" i="1" dirty="0" smtClean="0">
                        <a:latin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ru-RU" sz="2200" dirty="0" smtClean="0"/>
                  <a:t>1</a:t>
                </a:r>
              </a:p>
              <a:p>
                <a:pPr marL="0" indent="0">
                  <a:buNone/>
                </a:pPr>
                <a:endParaRPr lang="en-US" sz="2200" dirty="0" smtClean="0"/>
              </a:p>
              <a:p>
                <a:endParaRPr lang="ru-RU" sz="2200" dirty="0"/>
              </a:p>
            </p:txBody>
          </p:sp>
        </mc:Choice>
        <mc:Fallback xmlns="">
          <p:sp>
            <p:nvSpPr>
              <p:cNvPr id="4" name="Объект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8125" y="914399"/>
                <a:ext cx="11534775" cy="5553075"/>
              </a:xfrm>
              <a:blipFill>
                <a:blip r:embed="rId2"/>
                <a:stretch>
                  <a:fillRect l="-687" t="-14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172" name="Picture 4" descr="https://otexts.com/fpppy/nbs/09-arima_files/figure-html/fig-armagridsearch-output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6775" y="2962275"/>
            <a:ext cx="3638550" cy="3638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238125" y="6467474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 smtClean="0"/>
              <a:t>https://otexts.com/fpppy/nbs/09-arima.html#sec-arima-estimation</a:t>
            </a:r>
            <a:endParaRPr lang="ru-RU" sz="14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155510" y="6226372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https://mlcourse.ai/book/topic09/topic9_part1_time_series_python.html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893836" y="6554687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400" dirty="0"/>
              <a:t>https://mlcourse.ai/book/topic09/assignment09_time_series_solution.html</a:t>
            </a:r>
          </a:p>
        </p:txBody>
      </p:sp>
    </p:spTree>
    <p:extLst>
      <p:ext uri="{BB962C8B-B14F-4D97-AF65-F5344CB8AC3E}">
        <p14:creationId xmlns:p14="http://schemas.microsoft.com/office/powerpoint/2010/main" val="2107321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38125" y="136525"/>
            <a:ext cx="10515600" cy="777875"/>
          </a:xfrm>
        </p:spPr>
        <p:txBody>
          <a:bodyPr/>
          <a:lstStyle/>
          <a:p>
            <a:r>
              <a:rPr lang="ru-RU" dirty="0"/>
              <a:t>Алгоритм </a:t>
            </a:r>
            <a:r>
              <a:rPr lang="en-US" dirty="0" err="1" smtClean="0"/>
              <a:t>AutoARMA</a:t>
            </a:r>
            <a:endParaRPr lang="ru-RU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238125" y="6467474"/>
            <a:ext cx="6096000" cy="30777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400" dirty="0" smtClean="0"/>
              <a:t>https://alkaline-ml.com/pmdarima/auto_examples/example_pipeline.html</a:t>
            </a:r>
            <a:endParaRPr lang="ru-RU" sz="1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b="37123"/>
          <a:stretch/>
        </p:blipFill>
        <p:spPr>
          <a:xfrm>
            <a:off x="5981700" y="2508049"/>
            <a:ext cx="5823307" cy="417195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2"/>
          <a:srcRect t="63451" r="29012"/>
          <a:stretch/>
        </p:blipFill>
        <p:spPr>
          <a:xfrm>
            <a:off x="122312" y="914400"/>
            <a:ext cx="5765652" cy="3382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85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304800" y="2371415"/>
            <a:ext cx="12496800" cy="3760934"/>
          </a:xfrm>
        </p:spPr>
        <p:txBody>
          <a:bodyPr>
            <a:noAutofit/>
          </a:bodyPr>
          <a:lstStyle/>
          <a:p>
            <a:r>
              <a:rPr lang="ru-RU" sz="7200" b="1" dirty="0"/>
              <a:t>М</a:t>
            </a:r>
            <a:r>
              <a:rPr lang="en-US" sz="7200" b="1" dirty="0" err="1"/>
              <a:t>одели</a:t>
            </a:r>
            <a:r>
              <a:rPr lang="en-US" sz="7200" b="1" dirty="0"/>
              <a:t> </a:t>
            </a:r>
            <a:r>
              <a:rPr lang="ru-RU" sz="7200" b="1" dirty="0"/>
              <a:t>интегрированной а</a:t>
            </a:r>
            <a:r>
              <a:rPr lang="en-US" sz="7200" b="1" dirty="0" err="1"/>
              <a:t>вторегресси</a:t>
            </a:r>
            <a:r>
              <a:rPr lang="ru-RU" sz="7200" b="1" dirty="0"/>
              <a:t>и</a:t>
            </a:r>
            <a:r>
              <a:rPr lang="en-US" sz="7200" b="1" dirty="0"/>
              <a:t> </a:t>
            </a:r>
            <a:br>
              <a:rPr lang="en-US" sz="7200" b="1" dirty="0"/>
            </a:br>
            <a:r>
              <a:rPr lang="ru-RU" sz="7200" b="1" dirty="0"/>
              <a:t>с</a:t>
            </a:r>
            <a:r>
              <a:rPr lang="en-US" sz="7200" b="1" dirty="0" err="1"/>
              <a:t>кользящ</a:t>
            </a:r>
            <a:r>
              <a:rPr lang="ru-RU" sz="7200" b="1" dirty="0"/>
              <a:t>его</a:t>
            </a:r>
            <a:r>
              <a:rPr lang="en-US" sz="7200" b="1" dirty="0"/>
              <a:t> </a:t>
            </a:r>
            <a:r>
              <a:rPr lang="en-US" sz="7200" b="1" dirty="0" err="1"/>
              <a:t>средн</a:t>
            </a:r>
            <a:r>
              <a:rPr lang="ru-RU" sz="7200" b="1" dirty="0"/>
              <a:t>его</a:t>
            </a:r>
            <a:br>
              <a:rPr lang="ru-RU" sz="7200" b="1" dirty="0"/>
            </a:br>
            <a:r>
              <a:rPr lang="en-US" sz="7200" b="1" dirty="0"/>
              <a:t>ARIMA </a:t>
            </a:r>
            <a:r>
              <a:rPr lang="ru-RU" sz="7200" b="1" dirty="0" smtClean="0"/>
              <a:t> </a:t>
            </a:r>
            <a:r>
              <a:rPr lang="en-US" sz="7200" b="1" dirty="0" smtClean="0"/>
              <a:t/>
            </a:r>
            <a:br>
              <a:rPr lang="en-US" sz="7200" b="1" dirty="0" smtClean="0"/>
            </a:br>
            <a:r>
              <a:rPr lang="ru-RU" sz="7200" b="1" dirty="0" smtClean="0"/>
              <a:t>и сезонной </a:t>
            </a:r>
            <a:r>
              <a:rPr lang="en-US" sz="7200" b="1" dirty="0" smtClean="0"/>
              <a:t>ARIMA -SARIMA</a:t>
            </a:r>
            <a:endParaRPr lang="en-US" sz="7200" b="1" dirty="0"/>
          </a:p>
        </p:txBody>
      </p:sp>
    </p:spTree>
    <p:extLst>
      <p:ext uri="{BB962C8B-B14F-4D97-AF65-F5344CB8AC3E}">
        <p14:creationId xmlns:p14="http://schemas.microsoft.com/office/powerpoint/2010/main" val="3884849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5" y="365125"/>
            <a:ext cx="11077575" cy="827181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ru-RU" sz="3600" b="1" dirty="0"/>
              <a:t> интегрированной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(ARIMA)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75920" y="1279188"/>
                <a:ext cx="11336468" cy="5324812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00000"/>
                  </a:lnSpc>
                </a:pPr>
                <a:r>
                  <a:rPr lang="en-US" sz="2400" dirty="0" smtClean="0"/>
                  <a:t>ARMA </a:t>
                </a:r>
                <a:r>
                  <a:rPr lang="ru-RU" sz="2400" dirty="0" smtClean="0"/>
                  <a:t>работает для стационарных ВР. </a:t>
                </a:r>
              </a:p>
              <a:p>
                <a:pPr algn="l" rtl="0">
                  <a:lnSpc>
                    <a:spcPct val="100000"/>
                  </a:lnSpc>
                </a:pPr>
                <a:r>
                  <a:rPr lang="ru-RU" sz="2400" dirty="0" smtClean="0"/>
                  <a:t>Если ВР </a:t>
                </a:r>
                <a:r>
                  <a:rPr lang="ru-RU" sz="2400" dirty="0" err="1" smtClean="0"/>
                  <a:t>нестационарен</a:t>
                </a:r>
                <a:r>
                  <a:rPr lang="ru-RU" sz="2400" dirty="0" smtClean="0"/>
                  <a:t> по отношению к тренду или сезонности – потребуется очень большой порядок </a:t>
                </a:r>
                <a14:m>
                  <m:oMath xmlns:m="http://schemas.openxmlformats.org/officeDocument/2006/math"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err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ru-RU" sz="24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sz="2400" dirty="0" smtClean="0"/>
                  <a:t> модели. </a:t>
                </a:r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 smtClean="0"/>
                  <a:t>При этом качество прогноза не гарантируется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sz="1600" dirty="0" smtClean="0"/>
                  <a:t>Нестационарный ВР не гарантирует что паттерны </a:t>
                </a:r>
                <a:r>
                  <a:rPr lang="ru-RU" sz="1600" dirty="0" err="1" smtClean="0"/>
                  <a:t>трейн</a:t>
                </a:r>
                <a:r>
                  <a:rPr lang="ru-RU" sz="1600" dirty="0" smtClean="0"/>
                  <a:t> регулярны.</a:t>
                </a:r>
              </a:p>
              <a:p>
                <a:pPr lvl="3">
                  <a:lnSpc>
                    <a:spcPct val="100000"/>
                  </a:lnSpc>
                </a:pPr>
                <a:r>
                  <a:rPr lang="ru-RU" sz="1600" dirty="0" smtClean="0"/>
                  <a:t>Следующее значение всегда задается набором </a:t>
                </a:r>
                <a:r>
                  <a:rPr lang="en-US" sz="1600" dirty="0" smtClean="0"/>
                  <a:t>(</a:t>
                </a:r>
                <a:r>
                  <a:rPr lang="en-US" sz="1600" dirty="0" err="1" smtClean="0"/>
                  <a:t>p,q</a:t>
                </a:r>
                <a:r>
                  <a:rPr lang="en-US" sz="1600" dirty="0" smtClean="0"/>
                  <a:t>) </a:t>
                </a:r>
                <a:r>
                  <a:rPr lang="ru-RU" sz="1600" dirty="0" smtClean="0"/>
                  <a:t>предыдущих значений и их ошибок. Это значит что паттерны во ВР всегда должны быть одни и </a:t>
                </a:r>
                <a:r>
                  <a:rPr lang="ru-RU" sz="1600" dirty="0" smtClean="0"/>
                  <a:t>тоже.</a:t>
                </a:r>
                <a:endParaRPr lang="en-US" sz="1600" dirty="0"/>
              </a:p>
              <a:p>
                <a:pPr lvl="1">
                  <a:lnSpc>
                    <a:spcPct val="100000"/>
                  </a:lnSpc>
                </a:pPr>
                <a:r>
                  <a:rPr lang="ru-RU" sz="2000" dirty="0" smtClean="0"/>
                  <a:t>Чем </a:t>
                </a:r>
                <a:r>
                  <a:rPr lang="ru-RU" sz="2000" dirty="0"/>
                  <a:t>менее стационарный ряд – тем больше ошибка и тем больше она растет при увеличении горизонта прогнозирования</a:t>
                </a:r>
                <a:r>
                  <a:rPr lang="ru-RU" sz="2000" dirty="0" smtClean="0"/>
                  <a:t>.</a:t>
                </a:r>
              </a:p>
              <a:p>
                <a:pPr algn="l" rtl="0">
                  <a:lnSpc>
                    <a:spcPct val="100000"/>
                  </a:lnSpc>
                </a:pPr>
                <a:r>
                  <a:rPr lang="ru-RU" sz="2400" dirty="0" smtClean="0"/>
                  <a:t>Если ряд </a:t>
                </a:r>
                <a:r>
                  <a:rPr lang="en-US" sz="2400" dirty="0" smtClean="0"/>
                  <a:t>TS-</a:t>
                </a:r>
                <a:r>
                  <a:rPr lang="ru-RU" sz="2400" dirty="0" smtClean="0"/>
                  <a:t>стационарный (по </a:t>
                </a:r>
                <a:r>
                  <a:rPr lang="ru-RU" sz="2400" dirty="0" err="1" smtClean="0"/>
                  <a:t>отн</a:t>
                </a:r>
                <a:r>
                  <a:rPr lang="ru-RU" sz="2400" dirty="0" smtClean="0"/>
                  <a:t>. К тренду и сезонности), то можно попытаться их убрать и аппроксимировать то что осталось </a:t>
                </a:r>
                <a:r>
                  <a:rPr lang="en-US" sz="2400" dirty="0" smtClean="0"/>
                  <a:t>ARMA</a:t>
                </a:r>
              </a:p>
              <a:p>
                <a:pPr>
                  <a:lnSpc>
                    <a:spcPct val="100000"/>
                  </a:lnSpc>
                </a:pPr>
                <a:r>
                  <a:rPr lang="ru-RU" sz="2400" dirty="0" smtClean="0"/>
                  <a:t>Если ряд </a:t>
                </a:r>
                <a:r>
                  <a:rPr lang="en-US" sz="2400" dirty="0" smtClean="0"/>
                  <a:t>DS-</a:t>
                </a:r>
                <a:r>
                  <a:rPr lang="ru-RU" sz="2400" dirty="0" smtClean="0"/>
                  <a:t>стационарный (разности стационарны), то можно попытаться встроить этот процесс в модель </a:t>
                </a:r>
                <a:r>
                  <a:rPr lang="en-US" sz="2400" dirty="0" smtClean="0"/>
                  <a:t>ARMA</a:t>
                </a:r>
                <a:r>
                  <a:rPr lang="ru-RU" sz="2400" dirty="0" smtClean="0"/>
                  <a:t> </a:t>
                </a:r>
                <a:endParaRPr lang="en-US" sz="2400" dirty="0" smtClean="0"/>
              </a:p>
              <a:p>
                <a:pPr algn="l" rtl="0">
                  <a:lnSpc>
                    <a:spcPct val="100000"/>
                  </a:lnSpc>
                </a:pPr>
                <a:endParaRPr lang="en-US" sz="2400" dirty="0"/>
              </a:p>
            </p:txBody>
          </p:sp>
        </mc:Choice>
        <mc:Fallback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75920" y="1279188"/>
                <a:ext cx="11336468" cy="5324812"/>
              </a:xfrm>
              <a:blipFill>
                <a:blip r:embed="rId2"/>
                <a:stretch>
                  <a:fillRect l="-753" t="-916" r="-118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20655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5440" y="273685"/>
            <a:ext cx="11008360" cy="91503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ru-RU" b="1" dirty="0"/>
              <a:t> интегрированной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/>
              <a:t>(ARIMA)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29540" y="1188720"/>
                <a:ext cx="11681460" cy="4843780"/>
              </a:xfrm>
            </p:spPr>
            <p:txBody>
              <a:bodyPr/>
              <a:lstStyle/>
              <a:p>
                <a:r>
                  <a:rPr lang="ru-RU" dirty="0" smtClean="0"/>
                  <a:t>Чем меньше порядок модели </a:t>
                </a:r>
              </a:p>
              <a:p>
                <a:pPr lvl="1"/>
                <a:r>
                  <a:rPr lang="ru-RU" dirty="0" smtClean="0"/>
                  <a:t>тем модель устойчивей к переобучению.</a:t>
                </a:r>
              </a:p>
              <a:p>
                <a:pPr lvl="1"/>
                <a:r>
                  <a:rPr lang="ru-RU" dirty="0" smtClean="0"/>
                  <a:t>Дальше доступный горизонт предсказания.</a:t>
                </a:r>
              </a:p>
              <a:p>
                <a:pPr lvl="1"/>
                <a:r>
                  <a:rPr lang="ru-RU" dirty="0" smtClean="0"/>
                  <a:t>Но Выше требования к стационарности (меньше паттернов описывается моделью) – нужно сводить модель к стационарной</a:t>
                </a:r>
              </a:p>
              <a:p>
                <a:r>
                  <a:rPr lang="ru-RU" dirty="0" smtClean="0"/>
                  <a:t>Для модели с трендом введем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r>
                  <a:rPr lang="ru-RU" dirty="0" smtClean="0"/>
                  <a:t>Для модели с сезонностью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dirty="0" smtClean="0"/>
                  <a:t>введем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dirty="0" smtClean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9540" y="1188720"/>
                <a:ext cx="11681460" cy="4843780"/>
              </a:xfrm>
              <a:blipFill>
                <a:blip r:embed="rId2"/>
                <a:stretch>
                  <a:fillRect l="-939" t="-2013" r="-10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../../_images/docs_time_series_sarima_4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67"/>
          <a:stretch/>
        </p:blipFill>
        <p:spPr bwMode="auto">
          <a:xfrm>
            <a:off x="209671" y="4480659"/>
            <a:ext cx="5698377" cy="1659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 descr="../../_images/docs_time_series_sarima_4_0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326"/>
          <a:stretch/>
        </p:blipFill>
        <p:spPr bwMode="auto">
          <a:xfrm>
            <a:off x="6060448" y="4610100"/>
            <a:ext cx="5902952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5410200" y="6433235"/>
            <a:ext cx="77470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https://ming-zhao.github.io/Business-Analytics/html/docs/time_series/sarima.html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209671" y="6371680"/>
            <a:ext cx="44137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https://otexts.com/fpppy/nbs/09-arima.html</a:t>
            </a:r>
          </a:p>
        </p:txBody>
      </p:sp>
    </p:spTree>
    <p:extLst>
      <p:ext uri="{BB962C8B-B14F-4D97-AF65-F5344CB8AC3E}">
        <p14:creationId xmlns:p14="http://schemas.microsoft.com/office/powerpoint/2010/main" val="444208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300" y="365125"/>
            <a:ext cx="11112500" cy="72707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М</a:t>
            </a:r>
            <a:r>
              <a:rPr lang="en-US" b="1" dirty="0" err="1" smtClean="0"/>
              <a:t>одели</a:t>
            </a:r>
            <a:r>
              <a:rPr lang="ru-RU" b="1" dirty="0" smtClean="0"/>
              <a:t> </a:t>
            </a:r>
            <a:r>
              <a:rPr lang="ru-RU" b="1" dirty="0"/>
              <a:t>интегрированной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/>
              <a:t>(ARIMA)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41300" y="1435100"/>
                <a:ext cx="11569700" cy="494506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ru-RU" sz="2400" dirty="0" smtClean="0"/>
                  <a:t>Для модели с трендом введем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Δ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400" dirty="0" smtClean="0"/>
                  <a:t> </a:t>
                </a:r>
                <a:endParaRPr lang="en-US" sz="2400" dirty="0" smtClean="0"/>
              </a:p>
              <a:p>
                <a:r>
                  <a:rPr lang="ru-RU" sz="2400" dirty="0" smtClean="0"/>
                  <a:t>тогда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 smtClean="0"/>
                  <a:t> - </a:t>
                </a:r>
                <a:r>
                  <a:rPr lang="ru-RU" sz="2400" dirty="0" smtClean="0"/>
                  <a:t>численная производная порядка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 lang="ru-RU" sz="2400" dirty="0" smtClean="0"/>
              </a:p>
              <a:p>
                <a:r>
                  <a:rPr lang="ru-RU" b="1" dirty="0" smtClean="0"/>
                  <a:t>Модель интегрированной </a:t>
                </a:r>
                <a:r>
                  <a:rPr lang="ru-RU" b="1" dirty="0" err="1" smtClean="0"/>
                  <a:t>авторегессии</a:t>
                </a:r>
                <a:r>
                  <a:rPr lang="ru-RU" b="1" dirty="0" smtClean="0"/>
                  <a:t> </a:t>
                </a:r>
                <a:r>
                  <a:rPr lang="en-US" b="1" dirty="0" smtClean="0"/>
                  <a:t>(ARI)</a:t>
                </a:r>
                <a:endParaRPr lang="ru-RU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𝛼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 smtClean="0"/>
                  <a:t> </a:t>
                </a:r>
                <a:endParaRPr lang="en-US" dirty="0"/>
              </a:p>
              <a:p>
                <a:r>
                  <a:rPr lang="ru-RU" b="1" dirty="0" smtClean="0"/>
                  <a:t>Модель</a:t>
                </a:r>
                <a:r>
                  <a:rPr lang="en-US" b="1" dirty="0" smtClean="0"/>
                  <a:t> </a:t>
                </a:r>
                <a:r>
                  <a:rPr lang="ru-RU" b="1" dirty="0" smtClean="0"/>
                  <a:t>интегрированного скользящего среднего</a:t>
                </a:r>
                <a:r>
                  <a:rPr lang="en-US" b="1" dirty="0" smtClean="0"/>
                  <a:t> (MAI)</a:t>
                </a:r>
                <a:endParaRPr lang="ru-RU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sz="2400" dirty="0" smtClean="0"/>
                  <a:t> </a:t>
                </a:r>
              </a:p>
              <a:p>
                <a:r>
                  <a:rPr lang="ru-RU" b="1" dirty="0" smtClean="0"/>
                  <a:t>Объединяем в модель </a:t>
                </a:r>
                <a:r>
                  <a:rPr lang="en-US" b="1" dirty="0" smtClean="0"/>
                  <a:t>ARIMA</a:t>
                </a:r>
              </a:p>
              <a:p>
                <a:pPr marL="457200" lvl="1" indent="0" algn="ctr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p>
                            <m:sSup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8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p>
                          </m:sSup>
                          <m:acc>
                            <m:accPr>
                              <m:chr m:val="̂"/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8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8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800" dirty="0" smtClean="0"/>
              </a:p>
              <a:p>
                <a:pPr marL="266700" lvl="1" indent="-266700"/>
                <a:r>
                  <a:rPr lang="ru-RU" u="sng" dirty="0" smtClean="0"/>
                  <a:t>Модель </a:t>
                </a:r>
                <a14:m>
                  <m:oMath xmlns:m="http://schemas.openxmlformats.org/officeDocument/2006/math">
                    <m:r>
                      <a:rPr lang="en-US" i="1" u="sng" dirty="0" smtClean="0">
                        <a:latin typeface="Cambria Math" panose="02040503050406030204" pitchFamily="18" charset="0"/>
                      </a:rPr>
                      <m:t>𝐴𝑅𝐼𝑀𝐴</m:t>
                    </m:r>
                    <m:r>
                      <a:rPr lang="en-US" i="1" u="sng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u="sng" dirty="0" err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u="sng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u="sng" dirty="0" smtClean="0"/>
                  <a:t>– </a:t>
                </a:r>
                <a:r>
                  <a:rPr lang="ru-RU" u="sng" dirty="0" smtClean="0"/>
                  <a:t>Имеет 3 порядка!</a:t>
                </a:r>
                <a:endParaRPr lang="en-US" u="sng" dirty="0" smtClean="0"/>
              </a:p>
              <a:p>
                <a:pPr marL="457200" lvl="1" indent="0">
                  <a:buNone/>
                </a:pPr>
                <a:r>
                  <a:rPr lang="ru-RU" sz="2000" i="1" dirty="0" smtClean="0"/>
                  <a:t>Обратите </a:t>
                </a:r>
                <a:r>
                  <a:rPr lang="ru-RU" sz="2000" i="1" dirty="0" err="1" smtClean="0"/>
                  <a:t>внмание</a:t>
                </a:r>
                <a:r>
                  <a:rPr lang="ru-RU" sz="2000" i="1" dirty="0" smtClean="0"/>
                  <a:t>, ошибка не </a:t>
                </a:r>
                <a:r>
                  <a:rPr lang="ru-RU" sz="2000" i="1" dirty="0" err="1" smtClean="0"/>
                  <a:t>диффренцируется</a:t>
                </a:r>
                <a:endParaRPr lang="ru-RU" sz="2000" i="1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1435100"/>
                <a:ext cx="11569700" cy="4945063"/>
              </a:xfrm>
              <a:blipFill>
                <a:blip r:embed="rId2"/>
                <a:stretch>
                  <a:fillRect l="-948" t="-2340" b="-98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56969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300" y="365125"/>
            <a:ext cx="11112500" cy="72707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М</a:t>
            </a:r>
            <a:r>
              <a:rPr lang="en-US" b="1" dirty="0" err="1" smtClean="0"/>
              <a:t>одели</a:t>
            </a:r>
            <a:r>
              <a:rPr lang="ru-RU" b="1" dirty="0" smtClean="0"/>
              <a:t> сезонного интегрированной</a:t>
            </a:r>
            <a:r>
              <a:rPr lang="en-US" b="1" dirty="0" smtClean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 smtClean="0"/>
              <a:t>(SARIMA</a:t>
            </a:r>
            <a:r>
              <a:rPr lang="en-US" b="1" dirty="0"/>
              <a:t>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41300" y="1383268"/>
                <a:ext cx="11633200" cy="4945063"/>
              </a:xfrm>
            </p:spPr>
            <p:txBody>
              <a:bodyPr>
                <a:normAutofit/>
              </a:bodyPr>
              <a:lstStyle/>
              <a:p>
                <a:r>
                  <a:rPr lang="ru-RU" dirty="0" smtClean="0"/>
                  <a:t>Для модели с сезоном введем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 smtClean="0"/>
                  <a:t> </a:t>
                </a:r>
                <a:endParaRPr lang="en-US" dirty="0" smtClean="0"/>
              </a:p>
              <a:p>
                <a:r>
                  <a:rPr lang="ru-RU" dirty="0" smtClean="0"/>
                  <a:t>тогда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 smtClean="0"/>
                  <a:t> - </a:t>
                </a:r>
                <a:r>
                  <a:rPr lang="ru-RU" dirty="0" smtClean="0"/>
                  <a:t>численная производная порядка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endParaRPr lang="ru-RU" dirty="0" smtClean="0"/>
              </a:p>
              <a:p>
                <a:r>
                  <a:rPr lang="ru-RU" b="1" dirty="0" smtClean="0"/>
                  <a:t>Модель сезонной </a:t>
                </a:r>
                <a:r>
                  <a:rPr lang="ru-RU" b="1" dirty="0" err="1" smtClean="0"/>
                  <a:t>авторегессии</a:t>
                </a:r>
                <a:r>
                  <a:rPr lang="ru-RU" b="1" dirty="0" smtClean="0"/>
                  <a:t> </a:t>
                </a:r>
                <a:r>
                  <a:rPr lang="en-US" b="1" dirty="0" smtClean="0"/>
                  <a:t>(SAR)</a:t>
                </a:r>
                <a:endParaRPr lang="ru-RU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</m:sSubSup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ru-RU" dirty="0" smtClean="0"/>
                  <a:t> </a:t>
                </a:r>
                <a:endParaRPr lang="en-US" dirty="0"/>
              </a:p>
              <a:p>
                <a:pPr lvl="1"/>
                <a:r>
                  <a:rPr lang="ru-RU" dirty="0" smtClean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 smtClean="0"/>
                  <a:t> - сезонный коэффициент (коэффициент сезонной авторегрессии)</a:t>
                </a:r>
                <a:r>
                  <a:rPr lang="en-US" dirty="0" smtClean="0"/>
                  <a:t> </a:t>
                </a:r>
                <a:r>
                  <a:rPr lang="ru-RU" dirty="0" smtClean="0"/>
                  <a:t>порядка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 smtClean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smtClean="0"/>
                  <a:t> - </a:t>
                </a:r>
                <a:r>
                  <a:rPr lang="ru-RU" dirty="0" smtClean="0"/>
                  <a:t>значит что лаги с шагом в сезон.</a:t>
                </a:r>
                <a:endParaRPr lang="en-US" dirty="0" smtClean="0"/>
              </a:p>
              <a:p>
                <a:r>
                  <a:rPr lang="ru-RU" b="1" dirty="0" smtClean="0"/>
                  <a:t>Модель сезонного скользящего среднего </a:t>
                </a:r>
                <a:r>
                  <a:rPr lang="en-US" b="1" dirty="0" smtClean="0"/>
                  <a:t>(SMA)</a:t>
                </a:r>
                <a:r>
                  <a:rPr lang="ru-RU" b="1" dirty="0" smtClean="0"/>
                  <a:t> </a:t>
                </a:r>
                <a:endParaRPr lang="ru-RU" dirty="0" smtClean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ru-RU" dirty="0" smtClean="0"/>
                  <a:t> </a:t>
                </a:r>
                <a:endParaRPr lang="en-US" dirty="0" smtClean="0"/>
              </a:p>
              <a:p>
                <a:pPr lvl="1"/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ru-RU" dirty="0"/>
                  <a:t> - сезонный коэффициент (коэффициент сезонной авторегрессии)</a:t>
                </a:r>
                <a:r>
                  <a:rPr lang="en-US" dirty="0"/>
                  <a:t> </a:t>
                </a:r>
                <a:r>
                  <a:rPr lang="ru-RU" dirty="0"/>
                  <a:t>порядка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Q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- </a:t>
                </a:r>
                <a:r>
                  <a:rPr lang="ru-RU" dirty="0"/>
                  <a:t>значит что </a:t>
                </a:r>
                <a:r>
                  <a:rPr lang="ru-RU" dirty="0" smtClean="0"/>
                  <a:t>остатки </a:t>
                </a:r>
                <a:r>
                  <a:rPr lang="ru-RU" dirty="0"/>
                  <a:t>с шагом в сезон.</a:t>
                </a:r>
                <a:endParaRPr lang="en-US" dirty="0"/>
              </a:p>
              <a:p>
                <a:pPr marL="0" indent="0" algn="ctr">
                  <a:buNone/>
                </a:pPr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1383268"/>
                <a:ext cx="11633200" cy="4945063"/>
              </a:xfrm>
              <a:blipFill>
                <a:blip r:embed="rId2"/>
                <a:stretch>
                  <a:fillRect l="-943" t="-209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0" y="6328331"/>
            <a:ext cx="5684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https://robjhyndman.com/uwafiles/8-Seasonal-ARIMA.pdf</a:t>
            </a:r>
          </a:p>
        </p:txBody>
      </p:sp>
    </p:spTree>
    <p:extLst>
      <p:ext uri="{BB962C8B-B14F-4D97-AF65-F5344CB8AC3E}">
        <p14:creationId xmlns:p14="http://schemas.microsoft.com/office/powerpoint/2010/main" val="19268183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41300" y="365125"/>
            <a:ext cx="11112500" cy="72707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М</a:t>
            </a:r>
            <a:r>
              <a:rPr lang="en-US" b="1" dirty="0" err="1" smtClean="0"/>
              <a:t>одели</a:t>
            </a:r>
            <a:r>
              <a:rPr lang="ru-RU" b="1" dirty="0" smtClean="0"/>
              <a:t> сезонного интегрированной</a:t>
            </a:r>
            <a:r>
              <a:rPr lang="en-US" b="1" dirty="0" smtClean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 smtClean="0"/>
              <a:t>(SARIMA</a:t>
            </a:r>
            <a:r>
              <a:rPr lang="en-US" b="1" dirty="0"/>
              <a:t>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241300" y="1383268"/>
                <a:ext cx="11633200" cy="5351361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ru-RU" sz="2400" dirty="0" smtClean="0"/>
                  <a:t>Для модели с сезоном и трендов введем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400" dirty="0" smtClean="0"/>
              </a:p>
              <a:p>
                <a:r>
                  <a:rPr lang="ru-RU" sz="2400" b="1" dirty="0" smtClean="0"/>
                  <a:t>Тогда</a:t>
                </a:r>
                <a:r>
                  <a:rPr lang="en-US" sz="2400" b="1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𝛥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)=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b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b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𝛥</m:t>
                            </m:r>
                          </m:e>
                          <m:sup>
                            <m:r>
                              <a:rPr lang="en-US" sz="2400" b="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b="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b="1" dirty="0" smtClean="0"/>
                  <a:t> - </a:t>
                </a:r>
                <a:r>
                  <a:rPr lang="ru-RU" sz="2400" b="1" dirty="0" smtClean="0"/>
                  <a:t>комбинация численной обычной и сезонной производных.</a:t>
                </a:r>
              </a:p>
              <a:p>
                <a:r>
                  <a:rPr lang="ru-RU" sz="2400" dirty="0" smtClean="0"/>
                  <a:t>Тогда</a:t>
                </a:r>
                <a:r>
                  <a:rPr lang="en-US" sz="2400" dirty="0" smtClean="0"/>
                  <a:t> SARI</a:t>
                </a:r>
              </a:p>
              <a:p>
                <a:pPr marL="0" indent="0">
                  <a:buNone/>
                </a:pPr>
                <a:r>
                  <a:rPr lang="ru-RU" sz="2400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</m:sSub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ru-RU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d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𝑃</m:t>
                        </m:r>
                      </m:sup>
                      <m:e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sSubSup>
                      <m:sSub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m:rPr>
                            <m:sty m:val="p"/>
                          </m:rPr>
                          <a:rPr lang="en-US" sz="2400"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bSup>
                    <m:sSub>
                      <m:sSubPr>
                        <m:ctrlPr>
                          <a:rPr lang="ru-RU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2400">
                                    <a:latin typeface="Cambria Math" panose="02040503050406030204" pitchFamily="18" charset="0"/>
                                  </a:rPr>
                                  <m:t>Δ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sz="2400" dirty="0" smtClean="0"/>
              </a:p>
              <a:p>
                <a:r>
                  <a:rPr lang="ru-RU" sz="2400" dirty="0" smtClean="0"/>
                  <a:t>Тогда </a:t>
                </a:r>
                <a:r>
                  <a:rPr lang="en-US" sz="2400" dirty="0" smtClean="0"/>
                  <a:t>SMAI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Sup>
                          <m:sSub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𝐷</m:t>
                            </m:r>
                          </m:sup>
                        </m:sSubSup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d</m:t>
                            </m:r>
                          </m:sup>
                        </m:sSup>
                        <m:acc>
                          <m:accPr>
                            <m:chr m:val="̂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ru-RU" sz="2400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sSub>
                              <m:sSub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𝑄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𝜀</m:t>
                                    </m:r>
                                  </m:e>
                                  <m:sub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sz="2400" dirty="0" smtClean="0"/>
                  <a:t> </a:t>
                </a:r>
              </a:p>
              <a:p>
                <a:pPr marL="0" indent="0">
                  <a:buNone/>
                </a:pPr>
                <a:r>
                  <a:rPr lang="ru-RU" sz="2400" b="1" u="sng" dirty="0" smtClean="0"/>
                  <a:t>Тогда полная модель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𝑺𝑨𝑹𝑰𝑴𝑨</m:t>
                    </m:r>
                    <m:d>
                      <m:dPr>
                        <m:ctrlPr>
                          <a:rPr lang="ru-RU" sz="2400" b="1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d>
                    <m:r>
                      <a:rPr lang="en-US" sz="2400" b="1" i="1" dirty="0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𝑷</m:t>
                            </m:r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𝑫</m:t>
                            </m:r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400" b="1" i="1" dirty="0" smtClean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d>
                      </m:e>
                      <m:sub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lang="en-US" sz="2400" b="1" dirty="0" smtClean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Sup>
                            <m:sSub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  <m:sup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sup>
                          </m:sSubSup>
                          <m:sSup>
                            <m:sSup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sup>
                          </m:sSup>
                          <m:acc>
                            <m:accPr>
                              <m:chr m:val="̂"/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𝑃</m:t>
                          </m:r>
                        </m:sup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Sup>
                        <m:sSubSup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sSup>
                                <m:sSup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2400">
                                      <a:latin typeface="Cambria Math" panose="02040503050406030204" pitchFamily="18" charset="0"/>
                                    </a:rPr>
                                    <m:t>Δ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ru-RU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sup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nary>
                                <m:naryPr>
                                  <m:chr m:val="∑"/>
                                  <m:limLoc m:val="undOvr"/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=0</m:t>
                                  </m:r>
                                </m:sub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𝛽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𝜀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US" sz="2400" dirty="0" smtClean="0"/>
              </a:p>
              <a:p>
                <a:pPr marL="0" indent="0">
                  <a:buNone/>
                </a:pPr>
                <a:r>
                  <a:rPr lang="ru-RU" dirty="0" smtClean="0"/>
                  <a:t>Обратите внимание на перемножение коэффициентов!</a:t>
                </a:r>
                <a:endParaRPr lang="en-US" dirty="0" smtClean="0"/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en-US" dirty="0"/>
                  <a:t>	</a:t>
                </a:r>
                <a:r>
                  <a:rPr lang="ru-RU" sz="2200" dirty="0" smtClean="0"/>
                  <a:t>перемножение описывает влияние </a:t>
                </a:r>
                <a:r>
                  <a:rPr lang="en-US" sz="2200" dirty="0" smtClean="0"/>
                  <a:t>AR </a:t>
                </a:r>
                <a:r>
                  <a:rPr lang="ru-RU" sz="2200" dirty="0" smtClean="0"/>
                  <a:t>и </a:t>
                </a:r>
                <a:r>
                  <a:rPr lang="en-US" sz="2200" dirty="0" smtClean="0"/>
                  <a:t>SAR </a:t>
                </a:r>
                <a:r>
                  <a:rPr lang="ru-RU" sz="2200" dirty="0" smtClean="0"/>
                  <a:t>эффектов в модели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ru-RU" sz="2200" dirty="0"/>
                  <a:t>	</a:t>
                </a:r>
                <a:r>
                  <a:rPr lang="ru-RU" sz="2200" dirty="0" smtClean="0"/>
                  <a:t>иногда делают неполную модель </a:t>
                </a:r>
                <a:r>
                  <a:rPr lang="en-US" sz="2200" dirty="0" smtClean="0"/>
                  <a:t>– </a:t>
                </a:r>
                <a:r>
                  <a:rPr lang="ru-RU" sz="2200" dirty="0" smtClean="0"/>
                  <a:t>только аддитивную,  однако это не рекомендуется!</a:t>
                </a:r>
                <a:endParaRPr lang="ru-RU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1300" y="1383268"/>
                <a:ext cx="11633200" cy="5351361"/>
              </a:xfrm>
              <a:blipFill>
                <a:blip r:embed="rId2"/>
                <a:stretch>
                  <a:fillRect l="-943" t="-193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0" y="6488668"/>
            <a:ext cx="5684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https://robjhyndman.com/uwafiles/8-Seasonal-ARIMA.pdf</a:t>
            </a:r>
          </a:p>
        </p:txBody>
      </p:sp>
    </p:spTree>
    <p:extLst>
      <p:ext uri="{BB962C8B-B14F-4D97-AF65-F5344CB8AC3E}">
        <p14:creationId xmlns:p14="http://schemas.microsoft.com/office/powerpoint/2010/main" val="4227002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8654" y="254288"/>
            <a:ext cx="11693237" cy="1228148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М</a:t>
            </a:r>
            <a:r>
              <a:rPr lang="en-US" b="1" dirty="0" err="1"/>
              <a:t>одели</a:t>
            </a:r>
            <a:r>
              <a:rPr lang="ru-RU" b="1" dirty="0"/>
              <a:t> сезонного интегрированной</a:t>
            </a:r>
            <a:r>
              <a:rPr lang="en-US" b="1" dirty="0"/>
              <a:t> </a:t>
            </a:r>
            <a:r>
              <a:rPr lang="ru-RU" b="1" dirty="0"/>
              <a:t>а</a:t>
            </a:r>
            <a:r>
              <a:rPr lang="en-US" b="1" dirty="0" err="1"/>
              <a:t>вторегресси</a:t>
            </a:r>
            <a:r>
              <a:rPr lang="ru-RU" b="1" dirty="0"/>
              <a:t> -</a:t>
            </a:r>
            <a:r>
              <a:rPr lang="en-US" b="1" dirty="0"/>
              <a:t> </a:t>
            </a:r>
            <a:r>
              <a:rPr lang="ru-RU" b="1" dirty="0"/>
              <a:t>с</a:t>
            </a:r>
            <a:r>
              <a:rPr lang="en-US" b="1" dirty="0" err="1"/>
              <a:t>кользящ</a:t>
            </a:r>
            <a:r>
              <a:rPr lang="ru-RU" b="1" dirty="0"/>
              <a:t>его</a:t>
            </a:r>
            <a:r>
              <a:rPr lang="en-US" b="1" dirty="0"/>
              <a:t> </a:t>
            </a:r>
            <a:r>
              <a:rPr lang="en-US" b="1" dirty="0" err="1"/>
              <a:t>средн</a:t>
            </a:r>
            <a:r>
              <a:rPr lang="ru-RU" b="1" dirty="0"/>
              <a:t>его </a:t>
            </a:r>
            <a:r>
              <a:rPr lang="en-US" b="1" dirty="0"/>
              <a:t>(SARIMA)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0109" y="1482436"/>
                <a:ext cx="11831782" cy="4977678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buNone/>
                </a:pPr>
                <a:r>
                  <a:rPr lang="ru-RU" dirty="0" smtClean="0"/>
                  <a:t>На самом деле модель правильней записать</a:t>
                </a:r>
                <a:r>
                  <a:rPr lang="en-US" dirty="0" smtClean="0"/>
                  <a:t> </a:t>
                </a:r>
                <a:r>
                  <a:rPr lang="en-US" b="1" dirty="0" smtClean="0"/>
                  <a:t>SARIMA</a:t>
                </a:r>
                <a:r>
                  <a:rPr lang="ru-RU" b="1" dirty="0" smtClean="0"/>
                  <a:t> в операторной форме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3400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3400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400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3400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3400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400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sz="3400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34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p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3400" b="0" i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</m:e>
                              <m:sup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sz="3400" b="0" i="0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Δ</m:t>
                                </m:r>
                              </m:e>
                              <m:sup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3400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400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3400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3400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3400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sz="3400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p>
                            <m:r>
                              <a:rPr lang="en-US" sz="34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34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</m:m>
                    </m:oMath>
                  </m:oMathPara>
                </a14:m>
                <a:endParaRPr lang="ru-RU" sz="3400" dirty="0" smtClean="0"/>
              </a:p>
              <a:p>
                <a:pPr marL="457200" lvl="1" indent="0">
                  <a:buNone/>
                </a:pPr>
                <a:r>
                  <a:rPr lang="ru-RU" sz="2600" dirty="0" smtClean="0"/>
                  <a:t>где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ru-RU" sz="2600" dirty="0" smtClean="0"/>
                  <a:t> - оператор задержки,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p>
                    </m:sSup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6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⋅</m:t>
                        </m:r>
                        <m:r>
                          <a:rPr lang="en-US" sz="26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2600" dirty="0" smtClean="0"/>
                  <a:t> - </a:t>
                </a:r>
                <a:r>
                  <a:rPr lang="ru-RU" sz="2600" dirty="0" smtClean="0"/>
                  <a:t>оператор задержки</a:t>
                </a:r>
                <a:r>
                  <a:rPr lang="en-US" sz="2600" dirty="0" smtClean="0"/>
                  <a:t> </a:t>
                </a:r>
                <a:r>
                  <a:rPr lang="ru-RU" sz="2600" dirty="0" smtClean="0"/>
                  <a:t>на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𝑖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⋅</m:t>
                    </m:r>
                    <m:r>
                      <a:rPr lang="en-US" sz="26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𝑠</m:t>
                    </m:r>
                  </m:oMath>
                </a14:m>
                <a:r>
                  <a:rPr lang="ru-RU" sz="2600" dirty="0" smtClean="0"/>
                  <a:t> шагов.</a:t>
                </a:r>
                <a:r>
                  <a:rPr lang="en-US" sz="2600" dirty="0" smtClean="0"/>
                  <a:t>  </a:t>
                </a:r>
              </a:p>
              <a:p>
                <a:pPr marL="457200" lvl="1" indent="0">
                  <a:buNone/>
                </a:pPr>
                <a:r>
                  <a:rPr lang="ru-RU" sz="2600" dirty="0" smtClean="0"/>
                  <a:t>Обратите внимание, что дифференцируется только </a:t>
                </a:r>
                <a:r>
                  <a:rPr lang="en-US" sz="2600" dirty="0" smtClean="0"/>
                  <a:t>SAR (AR) </a:t>
                </a:r>
                <a:r>
                  <a:rPr lang="ru-RU" sz="2600" dirty="0" smtClean="0"/>
                  <a:t>часть!</a:t>
                </a:r>
              </a:p>
              <a:p>
                <a:pPr marL="457200" lvl="1" indent="0">
                  <a:buNone/>
                </a:pPr>
                <a:r>
                  <a:rPr lang="ru-RU" sz="2600" dirty="0" smtClean="0"/>
                  <a:t>Выражение мультипликативное относительно сезонной части!</a:t>
                </a:r>
              </a:p>
              <a:p>
                <a:pPr marL="457200" lvl="1" indent="0">
                  <a:buNone/>
                </a:pPr>
                <a:r>
                  <a:rPr lang="ru-RU" sz="2600" dirty="0">
                    <a:ea typeface="Cambria" panose="02040503050406030204" pitchFamily="18" charset="0"/>
                    <a:cs typeface="Times New Roman" panose="02020603050405020304" pitchFamily="18" charset="0"/>
                  </a:rPr>
                  <a:t>Заметим также, что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60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</m:e>
                        </m:d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; 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60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Δ</m:t>
                        </m:r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p>
                    </m:sSup>
                    <m:r>
                      <a:rPr lang="en-US" sz="2600" i="1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p>
                      <m:sSupPr>
                        <m:ctrlPr>
                          <a:rPr lang="en-US" sz="26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6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1−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600" i="1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𝐷</m:t>
                        </m:r>
                      </m:sup>
                    </m:sSup>
                    <m:r>
                      <a:rPr lang="en-US" sz="2600" b="0" i="0" smtClean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, 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≡1, </m:t>
                    </m:r>
                    <m:sSub>
                      <m:sSubPr>
                        <m:ctrlP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0</m:t>
                        </m:r>
                      </m:sub>
                    </m:sSub>
                    <m:r>
                      <a:rPr lang="en-US" sz="2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≡1</m:t>
                    </m:r>
                    <m:r>
                      <a:rPr lang="en-US" sz="2600" b="0" i="0" smtClean="0">
                        <a:latin typeface="Cambria Math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endParaRPr lang="en-US" sz="2600" dirty="0" smtClean="0"/>
              </a:p>
              <a:p>
                <a:pPr marL="0" indent="0">
                  <a:buNone/>
                </a:pPr>
                <a:r>
                  <a:rPr lang="ru-RU" dirty="0" smtClean="0"/>
                  <a:t>Например </a:t>
                </a:r>
                <a14:m>
                  <m:oMath xmlns:m="http://schemas.openxmlformats.org/officeDocument/2006/math">
                    <m:r>
                      <a:rPr lang="en-US" b="1" i="1" dirty="0">
                        <a:latin typeface="Cambria Math" panose="02040503050406030204" pitchFamily="18" charset="0"/>
                      </a:rPr>
                      <m:t>𝑺𝑨𝑹𝑰𝑴𝑨</m:t>
                    </m:r>
                    <m:d>
                      <m:dPr>
                        <m:ctrlPr>
                          <a:rPr lang="ru-RU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b="1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b="1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1" i="1" dirty="0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</m:e>
                      <m:sub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𝟒</m:t>
                        </m:r>
                      </m:sub>
                    </m:sSub>
                  </m:oMath>
                </a14:m>
                <a:r>
                  <a:rPr lang="en-US" dirty="0" smtClean="0"/>
                  <a:t> </a:t>
                </a:r>
                <a:r>
                  <a:rPr lang="ru-RU" dirty="0" smtClean="0"/>
                  <a:t>имеет полный вид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ru-RU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  <m:d>
                        <m:dPr>
                          <m:ctrlPr>
                            <a:rPr lang="ru-RU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</m:d>
                      <m:d>
                        <m:dPr>
                          <m:ctrlPr>
                            <a:rPr lang="ru-RU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en-US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  <m:r>
                        <a:rPr lang="ru-RU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=(1+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ru-RU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(1+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4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 smtClean="0"/>
              </a:p>
              <a:p>
                <a:pPr marL="0" indent="0">
                  <a:buNone/>
                </a:pPr>
                <a:endParaRPr lang="en-US" dirty="0" smtClean="0"/>
              </a:p>
              <a:p>
                <a:pPr marL="0" indent="0">
                  <a:buNone/>
                </a:pPr>
                <a:r>
                  <a:rPr lang="ru-RU" dirty="0" smtClean="0"/>
                  <a:t>Перепишем в нормальный вид</a:t>
                </a:r>
                <a:r>
                  <a:rPr lang="en-US" dirty="0" smtClean="0"/>
                  <a:t> (</a:t>
                </a:r>
                <a:r>
                  <a:rPr lang="ru-RU" dirty="0" smtClean="0"/>
                  <a:t>покажем почему операторная форма удобнее)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−</m:t>
                      </m:r>
                    </m:oMath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−7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−8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−9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−3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𝐵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−4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b="0" dirty="0" smtClean="0"/>
              </a:p>
              <a:p>
                <a:pPr marL="0" indent="0">
                  <a:buNone/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109" y="1482436"/>
                <a:ext cx="11831782" cy="4977678"/>
              </a:xfrm>
              <a:blipFill>
                <a:blip r:embed="rId2"/>
                <a:stretch>
                  <a:fillRect l="-670" t="-257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08638" y="6460114"/>
            <a:ext cx="5684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https://robjhyndman.com/uwafiles/8-Seasonal-ARIMA.pdf</a:t>
            </a:r>
          </a:p>
        </p:txBody>
      </p:sp>
    </p:spTree>
    <p:extLst>
      <p:ext uri="{BB962C8B-B14F-4D97-AF65-F5344CB8AC3E}">
        <p14:creationId xmlns:p14="http://schemas.microsoft.com/office/powerpoint/2010/main" val="822177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5853952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v</a:t>
            </a:r>
          </a:p>
        </p:txBody>
      </p:sp>
      <p:pic>
        <p:nvPicPr>
          <p:cNvPr id="8" name="Picture 2" descr="image.png">
            <a:extLst>
              <a:ext uri="{FF2B5EF4-FFF2-40B4-BE49-F238E27FC236}">
                <a16:creationId xmlns:a16="http://schemas.microsoft.com/office/drawing/2014/main" id="{E6772E34-6CDA-45BF-852F-2AB616785E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6539" b="52288"/>
          <a:stretch/>
        </p:blipFill>
        <p:spPr bwMode="auto">
          <a:xfrm>
            <a:off x="397631" y="1222860"/>
            <a:ext cx="11535688" cy="3412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00979" y="5140171"/>
            <a:ext cx="4613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Видно </a:t>
            </a:r>
            <a:r>
              <a:rPr lang="ru-RU" dirty="0"/>
              <a:t>явная сезонность в </a:t>
            </a:r>
            <a:r>
              <a:rPr lang="ru-RU" dirty="0" err="1" smtClean="0"/>
              <a:t>нестационарности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21260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5853952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v</a:t>
            </a:r>
          </a:p>
        </p:txBody>
      </p:sp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0CC477E5-862F-4F79-861B-EB0F9D4AB4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980" b="26618"/>
          <a:stretch/>
        </p:blipFill>
        <p:spPr bwMode="auto">
          <a:xfrm>
            <a:off x="386228" y="810526"/>
            <a:ext cx="11107272" cy="4270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2663301" y="5459767"/>
            <a:ext cx="765991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Видно, что есть </a:t>
            </a:r>
            <a:r>
              <a:rPr lang="en-US" dirty="0"/>
              <a:t>AR 2 </a:t>
            </a:r>
            <a:r>
              <a:rPr lang="ru-RU" dirty="0"/>
              <a:t>порядка, видно что есть какое-то </a:t>
            </a:r>
            <a:r>
              <a:rPr lang="en-US" dirty="0"/>
              <a:t>MA, </a:t>
            </a:r>
            <a:r>
              <a:rPr lang="ru-RU" dirty="0"/>
              <a:t>пусть 1 порядка, </a:t>
            </a:r>
            <a:br>
              <a:rPr lang="ru-RU" dirty="0"/>
            </a:br>
            <a:r>
              <a:rPr lang="ru-RU" dirty="0"/>
              <a:t>по выбросам АКФ можно сказать об одной </a:t>
            </a:r>
            <a:r>
              <a:rPr lang="en-US" dirty="0"/>
              <a:t>SAR </a:t>
            </a:r>
            <a:r>
              <a:rPr lang="ru-RU" dirty="0"/>
              <a:t>составляющей – 1 выброс,</a:t>
            </a:r>
          </a:p>
          <a:p>
            <a:r>
              <a:rPr lang="ru-RU" dirty="0"/>
              <a:t>По выбросам ЧАКФ можно сказать что мин. 2 </a:t>
            </a:r>
            <a:r>
              <a:rPr lang="en-US" dirty="0"/>
              <a:t>SMA </a:t>
            </a:r>
            <a:r>
              <a:rPr lang="ru-RU" dirty="0"/>
              <a:t>составляющих. </a:t>
            </a:r>
          </a:p>
        </p:txBody>
      </p:sp>
    </p:spTree>
    <p:extLst>
      <p:ext uri="{BB962C8B-B14F-4D97-AF65-F5344CB8AC3E}">
        <p14:creationId xmlns:p14="http://schemas.microsoft.com/office/powerpoint/2010/main" val="1249519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5853952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v</a:t>
            </a:r>
          </a:p>
        </p:txBody>
      </p:sp>
      <p:pic>
        <p:nvPicPr>
          <p:cNvPr id="5" name="Picture 2" descr="image.png">
            <a:extLst>
              <a:ext uri="{FF2B5EF4-FFF2-40B4-BE49-F238E27FC236}">
                <a16:creationId xmlns:a16="http://schemas.microsoft.com/office/drawing/2014/main" id="{0CC477E5-862F-4F79-861B-EB0F9D4AB4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731" b="1"/>
          <a:stretch/>
        </p:blipFill>
        <p:spPr bwMode="auto">
          <a:xfrm>
            <a:off x="246528" y="1137660"/>
            <a:ext cx="11551154" cy="47678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14883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7CB29E92-B795-4F44-A577-A4EBC753A5A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365126"/>
                <a:ext cx="10515600" cy="612028"/>
              </a:xfrm>
            </p:spPr>
            <p:txBody>
              <a:bodyPr>
                <a:noAutofit/>
              </a:bodyPr>
              <a:lstStyle/>
              <a:p>
                <a:r>
                  <a:rPr lang="en-US" sz="3200" b="1" dirty="0"/>
                  <a:t>Алгоритм подбора модели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latin typeface="Cambria Math" panose="02040503050406030204" pitchFamily="18" charset="0"/>
                      </a:rPr>
                      <m:t>𝑺𝑨𝑹𝑰𝑴𝑨</m:t>
                    </m:r>
                    <m:d>
                      <m:dPr>
                        <m:ctrlPr>
                          <a:rPr lang="ru-RU" sz="3200" b="1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𝒑</m:t>
                        </m:r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𝒅</m:t>
                        </m:r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𝒒</m:t>
                        </m:r>
                      </m:e>
                    </m:d>
                    <m:r>
                      <a:rPr lang="en-US" sz="3200" b="1" i="1" dirty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32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3200" b="1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𝑷</m:t>
                            </m:r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𝑫</m:t>
                            </m:r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3200" b="1" i="1" dirty="0">
                                <a:latin typeface="Cambria Math" panose="02040503050406030204" pitchFamily="18" charset="0"/>
                              </a:rPr>
                              <m:t>𝑸</m:t>
                            </m:r>
                          </m:e>
                        </m:d>
                      </m:e>
                      <m:sub>
                        <m:r>
                          <a:rPr lang="en-US" sz="3200" b="1" i="1" dirty="0">
                            <a:latin typeface="Cambria Math" panose="02040503050406030204" pitchFamily="18" charset="0"/>
                          </a:rPr>
                          <m:t>𝒔</m:t>
                        </m:r>
                      </m:sub>
                    </m:sSub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2" name="Заголовок 1">
                <a:extLst>
                  <a:ext uri="{FF2B5EF4-FFF2-40B4-BE49-F238E27FC236}">
                    <a16:creationId xmlns:a16="http://schemas.microsoft.com/office/drawing/2014/main" id="{7CB29E92-B795-4F44-A577-A4EBC753A5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365126"/>
                <a:ext cx="10515600" cy="612028"/>
              </a:xfrm>
              <a:blipFill>
                <a:blip r:embed="rId2"/>
                <a:stretch>
                  <a:fillRect l="-1507" t="-13000" b="-280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5"/>
                <a:ext cx="11837895" cy="5665693"/>
              </a:xfrm>
            </p:spPr>
            <p:txBody>
              <a:bodyPr>
                <a:normAutofit lnSpcReduction="10000"/>
              </a:bodyPr>
              <a:lstStyle/>
              <a:p>
                <a:pPr marL="914400" lvl="1" indent="-4572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Определение</a:t>
                </a:r>
                <a:r>
                  <a:rPr lang="en-US" sz="2300" dirty="0"/>
                  <a:t> порядка </a:t>
                </a:r>
                <a:r>
                  <a:rPr lang="en-US" sz="2300" dirty="0" err="1"/>
                  <a:t>обычного</a:t>
                </a:r>
                <a:r>
                  <a:rPr lang="en-US" sz="2300" dirty="0"/>
                  <a:t> </a:t>
                </a:r>
                <a:r>
                  <a:rPr lang="en-US" sz="2300" dirty="0" err="1" smtClean="0"/>
                  <a:t>дифференцирования</a:t>
                </a:r>
                <a:r>
                  <a:rPr lang="en-US" sz="2300" dirty="0" smtClean="0"/>
                  <a:t> (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300" dirty="0" smtClean="0"/>
                  <a:t>), </a:t>
                </a:r>
                <a:endParaRPr lang="en-US" sz="2300" dirty="0"/>
              </a:p>
              <a:p>
                <a:pPr lvl="2">
                  <a:lnSpc>
                    <a:spcPct val="120000"/>
                  </a:lnSpc>
                </a:pPr>
                <a:r>
                  <a:rPr lang="en-US" sz="2300" dirty="0" err="1"/>
                  <a:t>необходимо</a:t>
                </a:r>
                <a:r>
                  <a:rPr lang="en-US" sz="2300" dirty="0"/>
                  <a:t> </a:t>
                </a:r>
                <a:r>
                  <a:rPr lang="en-US" sz="2300" dirty="0" err="1"/>
                  <a:t>для</a:t>
                </a:r>
                <a:r>
                  <a:rPr lang="en-US" sz="2300" dirty="0"/>
                  <a:t> </a:t>
                </a:r>
                <a:r>
                  <a:rPr lang="ru-RU" sz="2300" dirty="0"/>
                  <a:t>приведения ряда к стационарно</a:t>
                </a:r>
                <a:r>
                  <a:rPr lang="en-US" sz="2300" dirty="0"/>
                  <a:t>c</a:t>
                </a:r>
                <a:r>
                  <a:rPr lang="ru-RU" sz="2300" dirty="0" err="1"/>
                  <a:t>ти</a:t>
                </a:r>
                <a:r>
                  <a:rPr lang="en-US" sz="2300" dirty="0"/>
                  <a:t> (чтобы исключить тренд).</a:t>
                </a:r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ru-RU" sz="2300" dirty="0"/>
                  <a:t>Определение </a:t>
                </a:r>
                <a:r>
                  <a:rPr lang="ru-RU" sz="2300" dirty="0" smtClean="0"/>
                  <a:t>основной сезонности</a:t>
                </a:r>
                <a:r>
                  <a:rPr lang="en-US" sz="2300" dirty="0" smtClean="0"/>
                  <a:t> (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300" dirty="0" smtClean="0"/>
                  <a:t>)</a:t>
                </a:r>
                <a:r>
                  <a:rPr lang="ru-RU" sz="2300" dirty="0" smtClean="0"/>
                  <a:t>.</a:t>
                </a:r>
                <a:endParaRPr lang="en-US" sz="2300" dirty="0" smtClean="0"/>
              </a:p>
              <a:p>
                <a:pPr lvl="2">
                  <a:lnSpc>
                    <a:spcPct val="120000"/>
                  </a:lnSpc>
                </a:pPr>
                <a:r>
                  <a:rPr lang="ru-RU" sz="1900" dirty="0" smtClean="0"/>
                  <a:t>Если сезонностей несколько –нужно выбирать максимальную!</a:t>
                </a:r>
                <a:endParaRPr lang="ru-RU" sz="1900" dirty="0"/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Проверка</a:t>
                </a:r>
                <a:r>
                  <a:rPr lang="en-US" sz="2300" dirty="0"/>
                  <a:t> влияния сезонной составляющей и, возможно, </a:t>
                </a:r>
                <a:r>
                  <a:rPr lang="en-US" sz="2300" dirty="0" err="1"/>
                  <a:t>устранение</a:t>
                </a:r>
                <a:r>
                  <a:rPr lang="ru-RU" sz="2300" dirty="0"/>
                  <a:t> сильной</a:t>
                </a:r>
                <a:r>
                  <a:rPr lang="en-US" sz="2300" dirty="0"/>
                  <a:t> </a:t>
                </a:r>
                <a:r>
                  <a:rPr lang="en-US" sz="2300" dirty="0" err="1"/>
                  <a:t>сезонности</a:t>
                </a:r>
                <a:r>
                  <a:rPr lang="en-US" sz="2300" dirty="0"/>
                  <a:t> </a:t>
                </a:r>
                <a:r>
                  <a:rPr lang="ru-RU" sz="2300" dirty="0"/>
                  <a:t>путем сезонного </a:t>
                </a:r>
                <a:r>
                  <a:rPr lang="ru-RU" sz="2300" dirty="0" smtClean="0"/>
                  <a:t>дифференцирования порядка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 smtClean="0"/>
                  <a:t>.</a:t>
                </a:r>
                <a:endParaRPr lang="en-US" sz="2300" dirty="0"/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Определение</a:t>
                </a:r>
                <a:r>
                  <a:rPr lang="en-US" sz="2300" dirty="0"/>
                  <a:t> </a:t>
                </a:r>
                <a:r>
                  <a:rPr lang="en-US" sz="2300" dirty="0" err="1"/>
                  <a:t>порядк</a:t>
                </a:r>
                <a:r>
                  <a:rPr lang="ru-RU" sz="2300" dirty="0" err="1"/>
                  <a:t>ов</a:t>
                </a:r>
                <a:r>
                  <a:rPr lang="ru-RU" sz="2300" dirty="0"/>
                  <a:t> начальных </a:t>
                </a:r>
                <a:r>
                  <a:rPr lang="ru-RU" sz="2300" dirty="0" err="1"/>
                  <a:t>значенй</a:t>
                </a:r>
                <a:r>
                  <a:rPr lang="en-US" sz="2300" dirty="0"/>
                  <a:t> AR и </a:t>
                </a:r>
                <a:r>
                  <a:rPr lang="en-US" sz="2300" dirty="0" smtClean="0"/>
                  <a:t>MA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 smtClean="0"/>
                  <a:t>.</a:t>
                </a:r>
              </a:p>
              <a:p>
                <a:pPr lvl="2">
                  <a:lnSpc>
                    <a:spcPct val="120000"/>
                  </a:lnSpc>
                </a:pPr>
                <a:r>
                  <a:rPr lang="ru-RU" sz="1900" dirty="0" smtClean="0"/>
                  <a:t>Определение по первым лагам </a:t>
                </a:r>
                <a:r>
                  <a:rPr lang="en-US" sz="1900" dirty="0" smtClean="0"/>
                  <a:t>PACF </a:t>
                </a:r>
                <a:r>
                  <a:rPr lang="ru-RU" sz="1900" dirty="0" smtClean="0"/>
                  <a:t>и </a:t>
                </a:r>
                <a:r>
                  <a:rPr lang="en-US" sz="1900" dirty="0" smtClean="0"/>
                  <a:t>AFC </a:t>
                </a:r>
                <a:r>
                  <a:rPr lang="ru-RU" sz="1900" dirty="0" smtClean="0"/>
                  <a:t>соответственно</a:t>
                </a:r>
                <a:endParaRPr lang="ru-RU" sz="1900" dirty="0"/>
              </a:p>
              <a:p>
                <a:pPr marL="914400" lvl="1" indent="-45720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Определение</a:t>
                </a:r>
                <a:r>
                  <a:rPr lang="en-US" sz="2300" dirty="0"/>
                  <a:t> </a:t>
                </a:r>
                <a:r>
                  <a:rPr lang="en-US" sz="2300" dirty="0" err="1"/>
                  <a:t>порядк</a:t>
                </a:r>
                <a:r>
                  <a:rPr lang="ru-RU" sz="2300" dirty="0" err="1"/>
                  <a:t>ов</a:t>
                </a:r>
                <a:r>
                  <a:rPr lang="ru-RU" sz="2300" dirty="0"/>
                  <a:t> начальных значений сезонных</a:t>
                </a:r>
                <a:r>
                  <a:rPr lang="en-US" sz="2300" dirty="0"/>
                  <a:t> SAR и </a:t>
                </a:r>
                <a:r>
                  <a:rPr lang="en-US" sz="2300" dirty="0" smtClean="0"/>
                  <a:t>SMA</a:t>
                </a:r>
                <a:r>
                  <a:rPr lang="ru-RU" sz="2300" dirty="0" smtClean="0"/>
                  <a:t>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300" dirty="0" smtClean="0"/>
                  <a:t>.</a:t>
                </a:r>
                <a:endParaRPr lang="ru-RU" sz="2300" dirty="0" smtClean="0"/>
              </a:p>
              <a:p>
                <a:pPr lvl="2">
                  <a:lnSpc>
                    <a:spcPct val="120000"/>
                  </a:lnSpc>
                </a:pPr>
                <a:r>
                  <a:rPr lang="ru-RU" sz="1900" dirty="0" smtClean="0"/>
                  <a:t>Определение по числу всплесков на значениях сезонности</a:t>
                </a:r>
                <a:endParaRPr lang="ru-RU" sz="1900" dirty="0"/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Расчет</a:t>
                </a:r>
                <a:r>
                  <a:rPr lang="en-US" sz="2300" dirty="0"/>
                  <a:t> </a:t>
                </a:r>
                <a:r>
                  <a:rPr lang="en-US" sz="2300" dirty="0" err="1" smtClean="0"/>
                  <a:t>коэффициентов</a:t>
                </a:r>
                <a:r>
                  <a:rPr lang="ru-RU" sz="2300" dirty="0" smtClean="0"/>
                  <a:t> регрессионным способом</a:t>
                </a:r>
                <a:r>
                  <a:rPr lang="en-US" sz="2300" dirty="0" smtClean="0"/>
                  <a:t>.</a:t>
                </a:r>
                <a:endParaRPr lang="ru-RU" sz="2300" dirty="0"/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ru-RU" sz="2300" dirty="0"/>
                  <a:t>Варьирование порядков </a:t>
                </a:r>
                <a:r>
                  <a:rPr lang="ru-RU" sz="2300" dirty="0" smtClean="0"/>
                  <a:t>модели по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𝐴𝐼𝐶𝑐</m:t>
                    </m:r>
                  </m:oMath>
                </a14:m>
                <a:r>
                  <a:rPr lang="en-US" sz="2300" dirty="0" smtClean="0"/>
                  <a:t> </a:t>
                </a:r>
                <a:r>
                  <a:rPr lang="ru-RU" sz="2300" dirty="0" smtClean="0"/>
                  <a:t>или </a:t>
                </a:r>
                <a14:m>
                  <m:oMath xmlns:m="http://schemas.openxmlformats.org/officeDocument/2006/math">
                    <m:r>
                      <a:rPr lang="en-US" sz="2300" i="1" dirty="0" smtClean="0">
                        <a:latin typeface="Cambria Math" panose="02040503050406030204" pitchFamily="18" charset="0"/>
                      </a:rPr>
                      <m:t>𝐵𝐼𝐶</m:t>
                    </m:r>
                  </m:oMath>
                </a14:m>
                <a:r>
                  <a:rPr lang="en-US" sz="2300" dirty="0" smtClean="0"/>
                  <a:t> </a:t>
                </a:r>
                <a:r>
                  <a:rPr lang="ru-RU" sz="2300" dirty="0" smtClean="0"/>
                  <a:t>на тренировочной выборке</a:t>
                </a:r>
                <a:endParaRPr lang="en-US" sz="2300" dirty="0"/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r>
                  <a:rPr lang="en-US" sz="2300" dirty="0" err="1"/>
                  <a:t>Проверка</a:t>
                </a:r>
                <a:r>
                  <a:rPr lang="en-US" sz="2300" dirty="0"/>
                  <a:t> </a:t>
                </a:r>
                <a:r>
                  <a:rPr lang="en-US" sz="2300" dirty="0" err="1"/>
                  <a:t>результатов</a:t>
                </a:r>
                <a:r>
                  <a:rPr lang="en-US" sz="2300" dirty="0"/>
                  <a:t> </a:t>
                </a:r>
                <a:r>
                  <a:rPr lang="ru-RU" sz="2300" dirty="0"/>
                  <a:t>на </a:t>
                </a:r>
                <a:r>
                  <a:rPr lang="en-US" sz="2300" dirty="0" err="1"/>
                  <a:t>валидационн</a:t>
                </a:r>
                <a:r>
                  <a:rPr lang="ru-RU" sz="2300" dirty="0"/>
                  <a:t>ой</a:t>
                </a:r>
                <a:r>
                  <a:rPr lang="en-US" sz="2300" dirty="0"/>
                  <a:t> </a:t>
                </a:r>
                <a:r>
                  <a:rPr lang="ru-RU" sz="2300" dirty="0" smtClean="0"/>
                  <a:t>выборке, анализ остатков, </a:t>
                </a:r>
                <a:r>
                  <a:rPr lang="ru-RU" sz="2300" dirty="0" err="1" smtClean="0"/>
                  <a:t>дисепрсии</a:t>
                </a:r>
                <a:r>
                  <a:rPr lang="ru-RU" sz="2300" dirty="0" smtClean="0"/>
                  <a:t> и </a:t>
                </a:r>
                <a:r>
                  <a:rPr lang="ru-RU" sz="2300" dirty="0" err="1" smtClean="0"/>
                  <a:t>тд</a:t>
                </a:r>
                <a:r>
                  <a:rPr lang="en-US" sz="2300" dirty="0" smtClean="0"/>
                  <a:t>.</a:t>
                </a:r>
                <a:endParaRPr lang="en-US" sz="2300" dirty="0"/>
              </a:p>
              <a:p>
                <a:pPr marL="914400" lvl="1" indent="-457200" algn="l" rtl="0">
                  <a:lnSpc>
                    <a:spcPct val="120000"/>
                  </a:lnSpc>
                  <a:buFont typeface="+mj-lt"/>
                  <a:buAutoNum type="arabicPeriod"/>
                </a:pPr>
                <a:endParaRPr lang="en-US" sz="2300" dirty="0"/>
              </a:p>
              <a:p>
                <a:pPr algn="l" rtl="0">
                  <a:lnSpc>
                    <a:spcPct val="120000"/>
                  </a:lnSpc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5"/>
                <a:ext cx="11837895" cy="5665693"/>
              </a:xfrm>
              <a:blipFill>
                <a:blip r:embed="rId3"/>
                <a:stretch>
                  <a:fillRect t="-753" b="-96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64826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 smtClean="0"/>
              <a:t>порядка. </a:t>
            </a:r>
            <a:r>
              <a:rPr lang="ru-RU" b="1" dirty="0" err="1" smtClean="0"/>
              <a:t>Замечения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5"/>
                <a:ext cx="11756785" cy="5665693"/>
              </a:xfrm>
            </p:spPr>
            <p:txBody>
              <a:bodyPr>
                <a:noAutofit/>
              </a:bodyPr>
              <a:lstStyle/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sz="2400" i="1" dirty="0" smtClean="0">
                    <a:solidFill>
                      <a:srgbClr val="000000"/>
                    </a:solidFill>
                  </a:rPr>
                  <a:t>Правила отбора </a:t>
                </a:r>
                <a:r>
                  <a:rPr lang="en-US" altLang="en-US" sz="2400" i="1" dirty="0" err="1">
                    <a:solidFill>
                      <a:srgbClr val="000000"/>
                    </a:solidFill>
                  </a:rPr>
                  <a:t>исходных</a:t>
                </a:r>
                <a:r>
                  <a:rPr lang="en-US" altLang="en-US" sz="2400" i="1" dirty="0">
                    <a:solidFill>
                      <a:srgbClr val="000000"/>
                    </a:solidFill>
                  </a:rPr>
                  <a:t> </a:t>
                </a:r>
                <a:r>
                  <a:rPr lang="ru-RU" altLang="en-US" sz="2400" i="1" dirty="0">
                    <a:solidFill>
                      <a:srgbClr val="000000"/>
                    </a:solidFill>
                  </a:rPr>
                  <a:t>значений порядка</a:t>
                </a:r>
                <a:endParaRPr lang="en-US" altLang="en-US" sz="2400" dirty="0"/>
              </a:p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/>
                </a:pPr>
                <a:r>
                  <a:rPr lang="en-US" altLang="en-US" sz="2400" b="1" dirty="0">
                    <a:solidFill>
                      <a:srgbClr val="000000"/>
                    </a:solidFill>
                  </a:rPr>
                  <a:t>Правильный </a:t>
                </a:r>
                <a:r>
                  <a:rPr lang="en-US" altLang="en-US" sz="2400" b="1" dirty="0" err="1">
                    <a:solidFill>
                      <a:srgbClr val="000000"/>
                    </a:solidFill>
                  </a:rPr>
                  <a:t>порядок</a:t>
                </a:r>
                <a:r>
                  <a:rPr lang="en-US" altLang="en-US" sz="2400" b="1" dirty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altLang="en-US" sz="2400" b="1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это </a:t>
                </a:r>
                <a:r>
                  <a:rPr lang="en-US" altLang="en-US" sz="2400" dirty="0" err="1">
                    <a:solidFill>
                      <a:srgbClr val="000000"/>
                    </a:solidFill>
                  </a:rPr>
                  <a:t>порядок</a:t>
                </a:r>
                <a:r>
                  <a:rPr lang="en-US" altLang="en-US" sz="2400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dirty="0" err="1">
                    <a:solidFill>
                      <a:srgbClr val="000000"/>
                    </a:solidFill>
                  </a:rPr>
                  <a:t>разности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, который делает </a:t>
                </a:r>
                <a:r>
                  <a:rPr lang="ru-RU" altLang="en-US" sz="2400" u="sng" dirty="0" smtClean="0">
                    <a:solidFill>
                      <a:srgbClr val="000000"/>
                    </a:solidFill>
                  </a:rPr>
                  <a:t>ВР </a:t>
                </a:r>
                <a:r>
                  <a:rPr lang="en-US" altLang="en-US" sz="2400" u="sng" dirty="0" err="1" smtClean="0">
                    <a:solidFill>
                      <a:srgbClr val="000000"/>
                    </a:solidFill>
                  </a:rPr>
                  <a:t>шумоподобным</a:t>
                </a:r>
                <a:endParaRPr lang="en-US" altLang="en-US" sz="2400" dirty="0">
                  <a:solidFill>
                    <a:srgbClr val="000000"/>
                  </a:solidFill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en-US" altLang="en-US" dirty="0">
                    <a:solidFill>
                      <a:srgbClr val="000000"/>
                    </a:solidFill>
                  </a:rPr>
                  <a:t>т.е. </a:t>
                </a:r>
                <a:r>
                  <a:rPr lang="ru-RU" altLang="en-US" dirty="0">
                    <a:solidFill>
                      <a:srgbClr val="000000"/>
                    </a:solidFill>
                  </a:rPr>
                  <a:t>значения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колеблется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около четко определенного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среднего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ru-RU" altLang="en-US" dirty="0">
                    <a:solidFill>
                      <a:srgbClr val="000000"/>
                    </a:solidFill>
                  </a:rPr>
                  <a:t/>
                </a:r>
                <a:br>
                  <a:rPr lang="ru-RU" altLang="en-US" dirty="0">
                    <a:solidFill>
                      <a:srgbClr val="000000"/>
                    </a:solidFill>
                  </a:rPr>
                </a:br>
                <a:r>
                  <a:rPr lang="en-US" altLang="en-US" dirty="0">
                    <a:solidFill>
                      <a:srgbClr val="000000"/>
                    </a:solidFill>
                  </a:rPr>
                  <a:t>и</a:t>
                </a:r>
                <a:r>
                  <a:rPr lang="ru-RU" altLang="en-US" dirty="0">
                    <a:solidFill>
                      <a:srgbClr val="000000"/>
                    </a:solidFill>
                  </a:rPr>
                  <a:t> имеют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почти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постоянн</a:t>
                </a:r>
                <a:r>
                  <a:rPr lang="ru-RU" altLang="en-US" dirty="0" err="1">
                    <a:solidFill>
                      <a:srgbClr val="000000"/>
                    </a:solidFill>
                  </a:rPr>
                  <a:t>ый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dirty="0" err="1">
                    <a:solidFill>
                      <a:srgbClr val="000000"/>
                    </a:solidFill>
                  </a:rPr>
                  <a:t>разброс</a:t>
                </a:r>
                <a:r>
                  <a:rPr lang="en-US" altLang="en-US" dirty="0">
                    <a:solidFill>
                      <a:srgbClr val="000000"/>
                    </a:solidFill>
                  </a:rPr>
                  <a:t>, </a:t>
                </a:r>
              </a:p>
              <a:p>
                <a:pPr marL="0" lvl="0" indent="0" algn="l" rtl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Используйте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сезонную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 smtClean="0">
                    <a:solidFill>
                      <a:srgbClr val="000000"/>
                    </a:solidFill>
                  </a:rPr>
                  <a:t>производную</a:t>
                </a:r>
                <a:r>
                  <a:rPr lang="ru-RU" altLang="en-US" sz="2400" u="sng" dirty="0" smtClean="0">
                    <a:solidFill>
                      <a:srgbClr val="0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en-US" sz="2400" i="1" u="sng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altLang="en-US" sz="2400" u="sng" dirty="0" smtClean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только в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случае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сильно</a:t>
                </a:r>
                <a:r>
                  <a:rPr lang="ru-RU" altLang="en-US" sz="2400" u="sng" dirty="0" err="1">
                    <a:solidFill>
                      <a:srgbClr val="000000"/>
                    </a:solidFill>
                  </a:rPr>
                  <a:t>го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 </a:t>
                </a:r>
                <a:r>
                  <a:rPr lang="en-US" altLang="en-US" sz="2400" u="sng" dirty="0" err="1">
                    <a:solidFill>
                      <a:srgbClr val="000000"/>
                    </a:solidFill>
                  </a:rPr>
                  <a:t>сезонно</a:t>
                </a:r>
                <a:r>
                  <a:rPr lang="ru-RU" altLang="en-US" sz="2400" u="sng" dirty="0" err="1">
                    <a:solidFill>
                      <a:srgbClr val="000000"/>
                    </a:solidFill>
                  </a:rPr>
                  <a:t>го</a:t>
                </a:r>
                <a:r>
                  <a:rPr lang="ru-RU" altLang="en-US" sz="2400" u="sng" dirty="0">
                    <a:solidFill>
                      <a:srgbClr val="000000"/>
                    </a:solidFill>
                  </a:rPr>
                  <a:t> влияния</a:t>
                </a:r>
                <a:r>
                  <a:rPr lang="en-US" altLang="en-US" sz="2400" u="sng" dirty="0">
                    <a:solidFill>
                      <a:srgbClr val="000000"/>
                    </a:solidFill>
                  </a:rPr>
                  <a:t>.</a:t>
                </a:r>
                <a:endParaRPr lang="ru-RU" altLang="en-US" sz="2400" u="sng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altLang="en-US" sz="2400" dirty="0">
                    <a:solidFill>
                      <a:srgbClr val="000000"/>
                    </a:solidFill>
                  </a:rPr>
                  <a:t> Следует </a:t>
                </a:r>
                <a:r>
                  <a:rPr lang="ru-RU" altLang="en-US" sz="2400" dirty="0" smtClean="0">
                    <a:solidFill>
                      <a:srgbClr val="000000"/>
                    </a:solidFill>
                  </a:rPr>
                  <a:t>провер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я</a:t>
                </a:r>
                <a:r>
                  <a:rPr lang="ru-RU" altLang="en-US" sz="2400" dirty="0" smtClean="0">
                    <a:solidFill>
                      <a:srgbClr val="000000"/>
                    </a:solidFill>
                  </a:rPr>
                  <a:t>ть 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продифференцированный ряд на </a:t>
                </a:r>
                <a:r>
                  <a:rPr lang="en-US" altLang="en-US" sz="2400" dirty="0" err="1" smtClean="0">
                    <a:solidFill>
                      <a:srgbClr val="000000"/>
                    </a:solidFill>
                  </a:rPr>
                  <a:t>стационарность</a:t>
                </a:r>
                <a:r>
                  <a:rPr lang="ru-RU" altLang="en-US" sz="2400" dirty="0">
                    <a:solidFill>
                      <a:srgbClr val="000000"/>
                    </a:solidFill>
                  </a:rPr>
                  <a:t> </a:t>
                </a:r>
                <a:r>
                  <a:rPr lang="ru-RU" altLang="en-US" sz="2400" dirty="0" smtClean="0">
                    <a:solidFill>
                      <a:srgbClr val="000000"/>
                    </a:solidFill>
                  </a:rPr>
                  <a:t>при помощи тестов Дика-</a:t>
                </a:r>
                <a:r>
                  <a:rPr lang="ru-RU" altLang="en-US" sz="2400" dirty="0" err="1" smtClean="0">
                    <a:solidFill>
                      <a:srgbClr val="000000"/>
                    </a:solidFill>
                  </a:rPr>
                  <a:t>Фуллера</a:t>
                </a:r>
                <a:r>
                  <a:rPr lang="ru-RU" altLang="en-US" sz="2400" dirty="0" smtClean="0">
                    <a:solidFill>
                      <a:srgbClr val="000000"/>
                    </a:solidFill>
                  </a:rPr>
                  <a:t> и </a:t>
                </a: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KPSS </a:t>
                </a:r>
                <a:r>
                  <a:rPr lang="ru-RU" altLang="en-US" sz="2400" dirty="0" smtClean="0">
                    <a:solidFill>
                      <a:srgbClr val="000000"/>
                    </a:solidFill>
                  </a:rPr>
                  <a:t>(возможно также и другими тестами)</a:t>
                </a: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.</a:t>
                </a:r>
                <a:endParaRPr lang="ru-RU" altLang="en-US" sz="2400" dirty="0" smtClean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altLang="en-US" sz="2400" dirty="0" smtClean="0">
                    <a:solidFill>
                      <a:srgbClr val="000000"/>
                    </a:solidFill>
                  </a:rPr>
                  <a:t>Обычно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ru-RU" alt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ru-RU" alt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en-US" sz="2400" b="0" i="1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altLang="en-US" sz="2400" b="0" i="1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≤3</m:t>
                    </m:r>
                  </m:oMath>
                </a14:m>
                <a:r>
                  <a:rPr lang="en-US" altLang="en-US" sz="2400" dirty="0" smtClean="0">
                    <a:solidFill>
                      <a:srgbClr val="000000"/>
                    </a:solidFill>
                  </a:rPr>
                  <a:t> – </a:t>
                </a:r>
                <a:r>
                  <a:rPr lang="ru-RU" altLang="en-US" sz="2400" dirty="0" smtClean="0">
                    <a:solidFill>
                      <a:srgbClr val="000000"/>
                    </a:solidFill>
                  </a:rPr>
                  <a:t>иное дает высокий риск переобучения.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sz="2400" dirty="0"/>
                  <a:t>Ч</a:t>
                </a:r>
                <a:r>
                  <a:rPr lang="en-US" sz="2400" dirty="0" err="1"/>
                  <a:t>асто</a:t>
                </a:r>
                <a:r>
                  <a:rPr lang="en-US" sz="2400" dirty="0"/>
                  <a:t> </a:t>
                </a:r>
                <a:r>
                  <a:rPr lang="ru-RU" sz="2400" b="1" dirty="0"/>
                  <a:t>о</a:t>
                </a:r>
                <a:r>
                  <a:rPr lang="en-US" sz="2400" b="1" dirty="0" err="1"/>
                  <a:t>птимальный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порядок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дифференцирования</a:t>
                </a:r>
                <a:r>
                  <a:rPr lang="en-US" sz="2400" b="1" dirty="0"/>
                  <a:t> </a:t>
                </a:r>
                <a:r>
                  <a:rPr lang="en-US" sz="2400" dirty="0"/>
                  <a:t>- </a:t>
                </a:r>
                <a:r>
                  <a:rPr lang="en-US" sz="2400" dirty="0" err="1"/>
                  <a:t>это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тот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порядок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разности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при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котором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дисперсия</a:t>
                </a:r>
                <a:r>
                  <a:rPr lang="en-US" sz="2400" dirty="0"/>
                  <a:t> </a:t>
                </a:r>
                <a:r>
                  <a:rPr lang="en-US" sz="2400" dirty="0" err="1" smtClean="0"/>
                  <a:t>наименьшая</a:t>
                </a:r>
                <a:endParaRPr lang="en-US" sz="2400" dirty="0" smtClean="0"/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sz="2400" dirty="0" smtClean="0"/>
                  <a:t>Если ряд </a:t>
                </a:r>
                <a:r>
                  <a:rPr lang="ru-RU" sz="2400" b="1" dirty="0" err="1"/>
                  <a:t>недодифференцирован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добавт</a:t>
                </a:r>
                <a:r>
                  <a:rPr lang="ru-RU" sz="2400" dirty="0"/>
                  <a:t>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дополнительн</a:t>
                </a:r>
                <a:r>
                  <a:rPr lang="ru-RU" sz="2400" dirty="0" err="1"/>
                  <a:t>ое</a:t>
                </a:r>
                <a:r>
                  <a:rPr lang="ru-RU" sz="2400" dirty="0"/>
                  <a:t> </a:t>
                </a:r>
                <a:r>
                  <a:rPr lang="ru-RU" sz="2400" dirty="0" err="1"/>
                  <a:t>слогаемое</a:t>
                </a:r>
                <a:r>
                  <a:rPr lang="ru-RU" sz="2400" dirty="0"/>
                  <a:t> к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AR</a:t>
                </a:r>
                <a:r>
                  <a:rPr lang="ru-RU" sz="2400" dirty="0" smtClean="0"/>
                  <a:t>, если </a:t>
                </a:r>
                <a:r>
                  <a:rPr lang="ru-RU" sz="2400" b="1" dirty="0" err="1"/>
                  <a:t>передифференцировн</a:t>
                </a:r>
                <a:r>
                  <a:rPr lang="en-US" sz="2400" dirty="0"/>
                  <a:t>,</a:t>
                </a:r>
                <a:r>
                  <a:rPr lang="ru-RU" sz="2400" dirty="0"/>
                  <a:t> </a:t>
                </a:r>
                <a:r>
                  <a:rPr lang="en-US" sz="2400" dirty="0" err="1"/>
                  <a:t>добавт</a:t>
                </a:r>
                <a:r>
                  <a:rPr lang="ru-RU" sz="2400" dirty="0"/>
                  <a:t>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дополнительн</a:t>
                </a:r>
                <a:r>
                  <a:rPr lang="ru-RU" sz="2400" dirty="0" err="1"/>
                  <a:t>ое</a:t>
                </a:r>
                <a:r>
                  <a:rPr lang="ru-RU" sz="2400" dirty="0"/>
                  <a:t> </a:t>
                </a:r>
                <a:r>
                  <a:rPr lang="ru-RU" sz="2400" dirty="0" err="1"/>
                  <a:t>слогаемое</a:t>
                </a:r>
                <a:r>
                  <a:rPr lang="ru-RU" sz="2400" dirty="0"/>
                  <a:t> к</a:t>
                </a:r>
                <a:r>
                  <a:rPr lang="en-US" sz="2400" dirty="0"/>
                  <a:t> </a:t>
                </a:r>
                <a:r>
                  <a:rPr lang="en-US" sz="2400" dirty="0" smtClean="0"/>
                  <a:t>MA</a:t>
                </a:r>
                <a:endParaRPr lang="ru-RU" sz="2400" dirty="0" smtClean="0"/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en-US" sz="2400" dirty="0" err="1"/>
                  <a:t>если</a:t>
                </a:r>
                <a:r>
                  <a:rPr lang="en-US" sz="2400" dirty="0"/>
                  <a:t> в </a:t>
                </a:r>
                <a:r>
                  <a:rPr lang="ru-RU" sz="2400" dirty="0"/>
                  <a:t>ряде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есть</a:t>
                </a:r>
                <a:r>
                  <a:rPr lang="en-US" sz="2400" dirty="0"/>
                  <a:t> </a:t>
                </a:r>
                <a:r>
                  <a:rPr lang="en-US" sz="2400" b="1" dirty="0" err="1"/>
                  <a:t>положительные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значения</a:t>
                </a:r>
                <a:r>
                  <a:rPr lang="en-US" sz="2400" b="1" dirty="0"/>
                  <a:t> ACF с </a:t>
                </a:r>
                <a:r>
                  <a:rPr lang="en-US" sz="2400" b="1" dirty="0" err="1"/>
                  <a:t>большим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запаздыванием</a:t>
                </a:r>
                <a:r>
                  <a:rPr lang="ru-RU" sz="2400" dirty="0"/>
                  <a:t>, добавьте</a:t>
                </a:r>
                <a:r>
                  <a:rPr lang="en-US" sz="2400" u="sng" dirty="0"/>
                  <a:t> </a:t>
                </a:r>
                <a:r>
                  <a:rPr lang="en-US" sz="2400" dirty="0" err="1"/>
                  <a:t>разностный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порядок</a:t>
                </a:r>
                <a:endParaRPr lang="ru-RU" sz="2400" dirty="0" smtClean="0"/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r>
                  <a:rPr lang="ru-RU" altLang="en-US" sz="2400" dirty="0" smtClean="0">
                    <a:solidFill>
                      <a:srgbClr val="000000"/>
                    </a:solidFill>
                  </a:rPr>
                  <a:t>Порядок </a:t>
                </a: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SAR – </a:t>
                </a:r>
                <a:r>
                  <a:rPr lang="ru-RU" altLang="en-US" sz="2400" dirty="0" smtClean="0">
                    <a:solidFill>
                      <a:srgbClr val="000000"/>
                    </a:solidFill>
                  </a:rPr>
                  <a:t>число </a:t>
                </a:r>
                <a:r>
                  <a:rPr lang="ru-RU" altLang="en-US" sz="2400" dirty="0" err="1" smtClean="0">
                    <a:solidFill>
                      <a:srgbClr val="000000"/>
                    </a:solidFill>
                  </a:rPr>
                  <a:t>всплексков</a:t>
                </a:r>
                <a:r>
                  <a:rPr lang="ru-RU" altLang="en-US" sz="2400" dirty="0" smtClean="0">
                    <a:solidFill>
                      <a:srgbClr val="000000"/>
                    </a:solidFill>
                  </a:rPr>
                  <a:t> на </a:t>
                </a: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PACF, </a:t>
                </a:r>
                <a:r>
                  <a:rPr lang="ru-RU" altLang="en-US" sz="2400" dirty="0" smtClean="0">
                    <a:solidFill>
                      <a:srgbClr val="000000"/>
                    </a:solidFill>
                  </a:rPr>
                  <a:t>порядок </a:t>
                </a: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SMA – </a:t>
                </a:r>
                <a:r>
                  <a:rPr lang="ru-RU" altLang="en-US" sz="2400" dirty="0" smtClean="0">
                    <a:solidFill>
                      <a:srgbClr val="000000"/>
                    </a:solidFill>
                  </a:rPr>
                  <a:t>число всплесков на </a:t>
                </a:r>
                <a:r>
                  <a:rPr lang="en-US" altLang="en-US" sz="2400" dirty="0" smtClean="0">
                    <a:solidFill>
                      <a:srgbClr val="000000"/>
                    </a:solidFill>
                  </a:rPr>
                  <a:t>ACF</a:t>
                </a:r>
                <a:endParaRPr lang="ru-RU" altLang="en-US" sz="2400" dirty="0" smtClean="0">
                  <a:solidFill>
                    <a:srgbClr val="000000"/>
                  </a:solidFill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None/>
                </a:pPr>
                <a:r>
                  <a:rPr lang="ru-RU" altLang="en-US" sz="1800" dirty="0" smtClean="0">
                    <a:solidFill>
                      <a:srgbClr val="000000"/>
                    </a:solidFill>
                  </a:rPr>
                  <a:t>Напр. если всплески на </a:t>
                </a:r>
                <a:r>
                  <a:rPr lang="en-US" altLang="en-US" sz="1800" dirty="0" smtClean="0">
                    <a:solidFill>
                      <a:srgbClr val="000000"/>
                    </a:solidFill>
                  </a:rPr>
                  <a:t>PACF </a:t>
                </a:r>
                <a:r>
                  <a:rPr lang="ru-RU" altLang="en-US" sz="1800" dirty="0" smtClean="0">
                    <a:solidFill>
                      <a:srgbClr val="000000"/>
                    </a:solidFill>
                  </a:rPr>
                  <a:t>лагов </a:t>
                </a:r>
                <a:r>
                  <a:rPr lang="en-US" sz="2000" i="1" dirty="0" smtClean="0"/>
                  <a:t>s</a:t>
                </a:r>
                <a:r>
                  <a:rPr lang="en-US" sz="2000" dirty="0" smtClean="0"/>
                  <a:t>,2</a:t>
                </a:r>
                <a:r>
                  <a:rPr lang="en-US" sz="2000" i="1" dirty="0" smtClean="0"/>
                  <a:t>s</a:t>
                </a:r>
                <a:r>
                  <a:rPr lang="en-US" sz="2000" dirty="0" smtClean="0"/>
                  <a:t>,</a:t>
                </a:r>
                <a:r>
                  <a:rPr lang="ru-RU" sz="2000" dirty="0" smtClean="0"/>
                  <a:t> - то </a:t>
                </a:r>
                <a:r>
                  <a:rPr lang="en-US" sz="2000" dirty="0" smtClean="0"/>
                  <a:t>P=2, </a:t>
                </a:r>
                <a:r>
                  <a:rPr lang="ru-RU" sz="2000" dirty="0" smtClean="0"/>
                  <a:t>но </a:t>
                </a:r>
                <a:r>
                  <a:rPr lang="en-US" sz="2000" dirty="0" smtClean="0"/>
                  <a:t>P&gt;2 – </a:t>
                </a:r>
                <a:r>
                  <a:rPr lang="ru-RU" sz="2000" dirty="0" smtClean="0"/>
                  <a:t>редкость, приводит к переобучению!</a:t>
                </a:r>
                <a:endParaRPr lang="en-US" altLang="en-US" sz="1800" dirty="0" smtClean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endParaRPr lang="ru-RU" altLang="en-US" sz="2400" dirty="0" smtClean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endParaRPr lang="en-US" altLang="en-US" sz="2400" dirty="0" smtClean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endParaRPr lang="ru-RU" altLang="en-US" sz="2400" dirty="0">
                  <a:solidFill>
                    <a:srgbClr val="000000"/>
                  </a:solidFill>
                </a:endParaRP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ts val="0"/>
                  </a:spcBef>
                  <a:buFontTx/>
                  <a:buAutoNum type="arabicPeriod" startAt="2"/>
                </a:pPr>
                <a:endParaRPr lang="ru-RU" altLang="en-US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5"/>
                <a:ext cx="11756785" cy="5665693"/>
              </a:xfrm>
              <a:blipFill>
                <a:blip r:embed="rId2"/>
                <a:stretch>
                  <a:fillRect l="-829" t="-861" b="-581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544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365125"/>
            <a:ext cx="11125200" cy="714375"/>
          </a:xfrm>
        </p:spPr>
        <p:txBody>
          <a:bodyPr/>
          <a:lstStyle/>
          <a:p>
            <a:r>
              <a:rPr lang="ru-RU" dirty="0" smtClean="0"/>
              <a:t>Пример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9500"/>
            <a:ext cx="3863400" cy="2676525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689" y="1046355"/>
            <a:ext cx="3794462" cy="278969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0151" y="1048422"/>
            <a:ext cx="4360876" cy="3233297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106439" y="6488668"/>
            <a:ext cx="56847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https://robjhyndman.com/uwafiles/8-Seasonal-ARIMA.pdf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2028" y="3917379"/>
            <a:ext cx="3865418" cy="27559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057649" y="105958"/>
            <a:ext cx="38716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После сезонной производной видно экспоненциальное падение </a:t>
            </a:r>
            <a:r>
              <a:rPr lang="en-US" dirty="0" smtClean="0"/>
              <a:t>ACF </a:t>
            </a:r>
            <a:r>
              <a:rPr lang="ru-RU" dirty="0" smtClean="0"/>
              <a:t>и лаг на </a:t>
            </a:r>
            <a:r>
              <a:rPr lang="en-US" dirty="0" smtClean="0"/>
              <a:t>PACF</a:t>
            </a:r>
            <a:endParaRPr lang="ru-RU" dirty="0"/>
          </a:p>
        </p:txBody>
      </p:sp>
      <p:sp>
        <p:nvSpPr>
          <p:cNvPr id="11" name="TextBox 10"/>
          <p:cNvSpPr txBox="1"/>
          <p:nvPr/>
        </p:nvSpPr>
        <p:spPr>
          <a:xfrm>
            <a:off x="8077200" y="144420"/>
            <a:ext cx="41282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Обычная + сезонная производные дают стационарный ряд по тестам, визуально – есть проблемки</a:t>
            </a:r>
            <a:endParaRPr lang="ru-RU" dirty="0"/>
          </a:p>
        </p:txBody>
      </p:sp>
      <p:sp>
        <p:nvSpPr>
          <p:cNvPr id="12" name="TextBox 11"/>
          <p:cNvSpPr txBox="1"/>
          <p:nvPr/>
        </p:nvSpPr>
        <p:spPr>
          <a:xfrm>
            <a:off x="203127" y="4095027"/>
            <a:ext cx="33222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/>
              <a:t>Модель имеет 1 сезонный лаг, выбросы и возможно </a:t>
            </a:r>
            <a:r>
              <a:rPr lang="ru-RU" dirty="0" err="1" smtClean="0"/>
              <a:t>передифференцирована</a:t>
            </a:r>
            <a:r>
              <a:rPr lang="ru-RU" dirty="0" smtClean="0"/>
              <a:t> – увеличим </a:t>
            </a:r>
            <a:r>
              <a:rPr lang="en-US" dirty="0" smtClean="0"/>
              <a:t>MA </a:t>
            </a:r>
            <a:r>
              <a:rPr lang="ru-RU" dirty="0" smtClean="0"/>
              <a:t>часть для сглаживания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00672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Пример оценки коэффициента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Пример: прогноз продаж. На исходном графике наблюдается небольшое увеличение дисперсии с уровнем, поэтому мы </a:t>
            </a:r>
            <a:r>
              <a:rPr lang="en-US" sz="2000" dirty="0" err="1"/>
              <a:t>берем</a:t>
            </a:r>
            <a:r>
              <a:rPr lang="en-US" sz="2000" dirty="0"/>
              <a:t> </a:t>
            </a:r>
            <a:r>
              <a:rPr lang="en-US" sz="2000" dirty="0" err="1" smtClean="0"/>
              <a:t>логарифм</a:t>
            </a:r>
            <a:r>
              <a:rPr lang="en-US" sz="2000" dirty="0" smtClean="0"/>
              <a:t>, </a:t>
            </a:r>
            <a:r>
              <a:rPr lang="en-US" sz="2000" dirty="0"/>
              <a:t>чтобы стабилизировать дисперсию.</a:t>
            </a:r>
            <a:endParaRPr lang="en-US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38" name="Picture 2" descr="image.png">
            <a:extLst>
              <a:ext uri="{FF2B5EF4-FFF2-40B4-BE49-F238E27FC236}">
                <a16:creationId xmlns:a16="http://schemas.microsoft.com/office/drawing/2014/main" id="{4B302CCE-8A1F-44C4-A3A5-C6594DBE21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558443"/>
            <a:ext cx="6057900" cy="3741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A766CF-CBE3-4720-BC03-D06D6C178A60}"/>
              </a:ext>
            </a:extLst>
          </p:cNvPr>
          <p:cNvSpPr/>
          <p:nvPr/>
        </p:nvSpPr>
        <p:spPr>
          <a:xfrm>
            <a:off x="477372" y="5364303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pPr algn="l" rtl="0"/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Данные сильно сезонны и явно нестационарны, поэтому сезонная </a:t>
            </a:r>
            <a:r>
              <a:rPr lang="en-US" sz="1600" dirty="0" err="1">
                <a:solidFill>
                  <a:srgbClr val="000000"/>
                </a:solidFill>
                <a:latin typeface="Georgia" panose="02040502050405020303" pitchFamily="18" charset="0"/>
              </a:rPr>
              <a:t>разница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Georgia" panose="02040502050405020303" pitchFamily="18" charset="0"/>
              </a:rPr>
              <a:t>с </a:t>
            </a:r>
            <a:r>
              <a:rPr lang="en-US" sz="1600" dirty="0" err="1">
                <a:solidFill>
                  <a:srgbClr val="000000"/>
                </a:solidFill>
                <a:latin typeface="Georgia" panose="02040502050405020303" pitchFamily="18" charset="0"/>
              </a:rPr>
              <a:t>сезонностью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en-US" sz="1600" dirty="0" smtClean="0">
                <a:solidFill>
                  <a:srgbClr val="000000"/>
                </a:solidFill>
                <a:latin typeface="Georgia" panose="02040502050405020303" pitchFamily="18" charset="0"/>
              </a:rPr>
              <a:t>12.</a:t>
            </a:r>
            <a:endParaRPr lang="en-US" sz="1600" dirty="0"/>
          </a:p>
        </p:txBody>
      </p:sp>
      <p:pic>
        <p:nvPicPr>
          <p:cNvPr id="14340" name="Picture 4" descr="image.png">
            <a:extLst>
              <a:ext uri="{FF2B5EF4-FFF2-40B4-BE49-F238E27FC236}">
                <a16:creationId xmlns:a16="http://schemas.microsoft.com/office/drawing/2014/main" id="{54A6615A-6E32-4A6A-98BE-D55141496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73372" y="1733340"/>
            <a:ext cx="5485842" cy="3387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CC0874C-18EE-4E14-95B8-1EB051FE94EB}"/>
              </a:ext>
            </a:extLst>
          </p:cNvPr>
          <p:cNvSpPr/>
          <p:nvPr/>
        </p:nvSpPr>
        <p:spPr>
          <a:xfrm>
            <a:off x="6804216" y="5241191"/>
            <a:ext cx="5273209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На данный момент неясно, следует ли нам делать еще </a:t>
            </a:r>
            <a:r>
              <a:rPr lang="en-US" sz="1600" dirty="0" err="1">
                <a:solidFill>
                  <a:srgbClr val="000000"/>
                </a:solidFill>
                <a:latin typeface="Georgia" panose="02040502050405020303" pitchFamily="18" charset="0"/>
              </a:rPr>
              <a:t>одно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sz="1600" dirty="0">
                <a:solidFill>
                  <a:srgbClr val="000000"/>
                </a:solidFill>
                <a:latin typeface="Georgia" panose="02040502050405020303" pitchFamily="18" charset="0"/>
              </a:rPr>
              <a:t>дифференцирование</a:t>
            </a: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 или нет.</a:t>
            </a:r>
            <a:r>
              <a:rPr lang="en-US" sz="1600" dirty="0"/>
              <a:t/>
            </a:r>
            <a:br>
              <a:rPr lang="en-US" sz="1600" dirty="0"/>
            </a:br>
            <a:r>
              <a:rPr lang="en-US" sz="1600" dirty="0">
                <a:solidFill>
                  <a:srgbClr val="000000"/>
                </a:solidFill>
                <a:latin typeface="Georgia" panose="02040502050405020303" pitchFamily="18" charset="0"/>
              </a:rPr>
              <a:t>Решаем не делать этого, но выбор не очевиден.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94919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Пример оценки коэффициента ARMA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algn="l" rtl="0"/>
            <a:r>
              <a:rPr lang="en-US" sz="2000" dirty="0"/>
              <a:t>Пример: прогноз продаж. На исходном графике наблюдается небольшое увеличение дисперсии с уровнем, поэтому мы берем логарифмы, чтобы стабилизировать дисперсию.</a:t>
            </a:r>
            <a:endParaRPr lang="en-US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9A766CF-CBE3-4720-BC03-D06D6C178A60}"/>
              </a:ext>
            </a:extLst>
          </p:cNvPr>
          <p:cNvSpPr/>
          <p:nvPr/>
        </p:nvSpPr>
        <p:spPr>
          <a:xfrm>
            <a:off x="276766" y="4888974"/>
            <a:ext cx="11772944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/>
              <a:t>На полученном графике есть всплески в PACF при лагах 12 и 24, </a:t>
            </a:r>
            <a:r>
              <a:rPr lang="en-US" dirty="0" err="1"/>
              <a:t>но</a:t>
            </a:r>
            <a:r>
              <a:rPr lang="en-US" dirty="0"/>
              <a:t> </a:t>
            </a:r>
            <a:r>
              <a:rPr lang="ru-RU" dirty="0"/>
              <a:t>нет </a:t>
            </a:r>
            <a:r>
              <a:rPr lang="ru-RU" dirty="0" err="1"/>
              <a:t>вспесков</a:t>
            </a:r>
            <a:r>
              <a:rPr lang="ru-RU" dirty="0"/>
              <a:t> на </a:t>
            </a:r>
            <a:r>
              <a:rPr lang="en-US" dirty="0" err="1"/>
              <a:t>при</a:t>
            </a:r>
            <a:r>
              <a:rPr lang="en-US" dirty="0"/>
              <a:t> сезонных лагах в ACF. Это может указывать </a:t>
            </a:r>
            <a:r>
              <a:rPr lang="en-US" dirty="0" err="1"/>
              <a:t>на</a:t>
            </a:r>
            <a:r>
              <a:rPr lang="en-US" dirty="0"/>
              <a:t> </a:t>
            </a:r>
            <a:r>
              <a:rPr lang="ru-RU" dirty="0"/>
              <a:t>порядок</a:t>
            </a:r>
            <a:r>
              <a:rPr lang="en-US" dirty="0"/>
              <a:t> SAR (2). </a:t>
            </a:r>
            <a:endParaRPr lang="ru-RU" dirty="0" smtClean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 smtClean="0"/>
              <a:t>В </a:t>
            </a:r>
            <a:r>
              <a:rPr lang="en-US" dirty="0"/>
              <a:t>несезонных лагах </a:t>
            </a:r>
            <a:r>
              <a:rPr lang="en-US" dirty="0" err="1"/>
              <a:t>есть</a:t>
            </a:r>
            <a:r>
              <a:rPr lang="en-US" dirty="0"/>
              <a:t> </a:t>
            </a:r>
            <a:r>
              <a:rPr lang="ru-RU" dirty="0"/>
              <a:t>3</a:t>
            </a:r>
            <a:r>
              <a:rPr lang="en-US" dirty="0"/>
              <a:t> значительных всплеска PACF, что указывает на </a:t>
            </a:r>
            <a:r>
              <a:rPr lang="en-US" dirty="0" err="1"/>
              <a:t>возможный</a:t>
            </a:r>
            <a:r>
              <a:rPr lang="en-US" dirty="0"/>
              <a:t> </a:t>
            </a:r>
            <a:r>
              <a:rPr lang="ru-RU" dirty="0"/>
              <a:t>порядок</a:t>
            </a:r>
            <a:r>
              <a:rPr lang="en-US" dirty="0"/>
              <a:t> AR (3). </a:t>
            </a:r>
            <a:endParaRPr lang="ru-RU" dirty="0" smtClean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en-US" dirty="0" smtClean="0"/>
              <a:t>ACF </a:t>
            </a:r>
            <a:r>
              <a:rPr lang="en-US" dirty="0"/>
              <a:t>не указывает на какую-либо простую модель. </a:t>
            </a:r>
            <a:endParaRPr lang="ru-RU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dirty="0" smtClean="0"/>
              <a:t>П</a:t>
            </a:r>
            <a:r>
              <a:rPr lang="en-US" dirty="0" err="1" smtClean="0"/>
              <a:t>ервоначальный</a:t>
            </a:r>
            <a:r>
              <a:rPr lang="en-US" dirty="0" smtClean="0"/>
              <a:t> </a:t>
            </a:r>
            <a:r>
              <a:rPr lang="en-US" dirty="0"/>
              <a:t>анализ предполагает, </a:t>
            </a:r>
            <a:r>
              <a:rPr lang="en-US" dirty="0" err="1" smtClean="0"/>
              <a:t>модель</a:t>
            </a:r>
            <a:r>
              <a:rPr lang="en-US" dirty="0" smtClean="0"/>
              <a:t> </a:t>
            </a:r>
            <a:r>
              <a:rPr lang="en-US" dirty="0" err="1"/>
              <a:t>для</a:t>
            </a:r>
            <a:r>
              <a:rPr lang="en-US" dirty="0"/>
              <a:t> </a:t>
            </a:r>
            <a:r>
              <a:rPr lang="en-US" dirty="0" smtClean="0"/>
              <a:t>ARIMA </a:t>
            </a:r>
            <a:r>
              <a:rPr lang="en-US" dirty="0"/>
              <a:t>(3,0,0) (2,1,0) 12. </a:t>
            </a:r>
            <a:endParaRPr lang="ru-RU" dirty="0"/>
          </a:p>
          <a:p>
            <a:pPr marL="285750" indent="-285750" algn="l" rtl="0">
              <a:buFont typeface="Arial" panose="020B0604020202020204" pitchFamily="34" charset="0"/>
              <a:buChar char="•"/>
            </a:pPr>
            <a:r>
              <a:rPr lang="ru-RU" dirty="0" err="1"/>
              <a:t>Автоподбор</a:t>
            </a:r>
            <a:r>
              <a:rPr lang="en-US" dirty="0"/>
              <a:t> </a:t>
            </a:r>
            <a:r>
              <a:rPr lang="en-US" dirty="0" err="1"/>
              <a:t>параметров</a:t>
            </a:r>
            <a:r>
              <a:rPr lang="en-US" dirty="0"/>
              <a:t> </a:t>
            </a:r>
            <a:r>
              <a:rPr lang="en-US" dirty="0" err="1"/>
              <a:t>опроверга</a:t>
            </a:r>
            <a:r>
              <a:rPr lang="ru-RU" dirty="0"/>
              <a:t>е</a:t>
            </a:r>
            <a:r>
              <a:rPr lang="en-US" dirty="0"/>
              <a:t> первое предположение - лучше использовать модель ARIMA (3,0,1) (0,1,2) 12.</a:t>
            </a:r>
          </a:p>
        </p:txBody>
      </p:sp>
      <p:pic>
        <p:nvPicPr>
          <p:cNvPr id="9" name="Picture 4" descr="image.png">
            <a:extLst>
              <a:ext uri="{FF2B5EF4-FFF2-40B4-BE49-F238E27FC236}">
                <a16:creationId xmlns:a16="http://schemas.microsoft.com/office/drawing/2014/main" id="{D4F6B6DC-6873-47DC-ADF5-51EE38F350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2" y="1504571"/>
            <a:ext cx="5485842" cy="3387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252E6A9-5E3C-4BDA-821A-526120D0FE35}"/>
              </a:ext>
            </a:extLst>
          </p:cNvPr>
          <p:cNvSpPr/>
          <p:nvPr/>
        </p:nvSpPr>
        <p:spPr>
          <a:xfrm>
            <a:off x="6163238" y="1517464"/>
            <a:ext cx="578223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Вариации параметров опровергают первое предположение - лучше использовать модель ARIMA (3,0,1) (0,1,2) 12.</a:t>
            </a:r>
            <a:endParaRPr lang="en-US" dirty="0"/>
          </a:p>
        </p:txBody>
      </p:sp>
      <p:pic>
        <p:nvPicPr>
          <p:cNvPr id="15362" name="Picture 2" descr="image.png">
            <a:extLst>
              <a:ext uri="{FF2B5EF4-FFF2-40B4-BE49-F238E27FC236}">
                <a16:creationId xmlns:a16="http://schemas.microsoft.com/office/drawing/2014/main" id="{83256A18-65D0-459A-B9C0-681C02F196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4692"/>
          <a:stretch/>
        </p:blipFill>
        <p:spPr bwMode="auto">
          <a:xfrm>
            <a:off x="6163238" y="2358445"/>
            <a:ext cx="2193780" cy="23920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.png">
            <a:extLst>
              <a:ext uri="{FF2B5EF4-FFF2-40B4-BE49-F238E27FC236}">
                <a16:creationId xmlns:a16="http://schemas.microsoft.com/office/drawing/2014/main" id="{83256A18-65D0-459A-B9C0-681C02F1964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016"/>
          <a:stretch/>
        </p:blipFill>
        <p:spPr bwMode="auto">
          <a:xfrm>
            <a:off x="8491492" y="2375018"/>
            <a:ext cx="1375983" cy="2375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527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0547" y="365126"/>
            <a:ext cx="11196735" cy="612028"/>
          </a:xfrm>
        </p:spPr>
        <p:txBody>
          <a:bodyPr>
            <a:noAutofit/>
          </a:bodyPr>
          <a:lstStyle/>
          <a:p>
            <a:pPr algn="l" rtl="0"/>
            <a:r>
              <a:rPr lang="en-US" sz="2800" b="1" dirty="0"/>
              <a:t>Пример </a:t>
            </a:r>
            <a:r>
              <a:rPr lang="en-US" sz="2800" b="1" dirty="0" err="1"/>
              <a:t>оценки</a:t>
            </a:r>
            <a:r>
              <a:rPr lang="en-US" sz="2800" b="1" dirty="0"/>
              <a:t> </a:t>
            </a:r>
            <a:r>
              <a:rPr lang="ru-RU" sz="2800" b="1" dirty="0"/>
              <a:t>остаточной части</a:t>
            </a:r>
            <a:r>
              <a:rPr lang="en-US" sz="2800" b="1" dirty="0"/>
              <a:t> ARMA </a:t>
            </a:r>
            <a:r>
              <a:rPr lang="ru-RU" sz="2800" b="1" dirty="0"/>
              <a:t>для предыдущего слайда</a:t>
            </a:r>
            <a:endParaRPr lang="en-US" sz="2800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algn="l" rtl="0"/>
            <a:r>
              <a:rPr lang="ru-RU" sz="2000" dirty="0" smtClean="0"/>
              <a:t>Предложенная модель работает на небольшом тесте. Видно, что дисперсия резко растет – модель работает только на коротком горизонте.</a:t>
            </a:r>
            <a:endParaRPr lang="en-US" sz="1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386" name="Picture 2" descr="image.png">
            <a:extLst>
              <a:ext uri="{FF2B5EF4-FFF2-40B4-BE49-F238E27FC236}">
                <a16:creationId xmlns:a16="http://schemas.microsoft.com/office/drawing/2014/main" id="{BF43F526-6D3D-44CD-A0A0-0D4DC93E8F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8700" y="3585164"/>
            <a:ext cx="5176240" cy="31966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9B907D4-C1AC-4ECB-9E69-5D7355BFAF64}"/>
              </a:ext>
            </a:extLst>
          </p:cNvPr>
          <p:cNvSpPr/>
          <p:nvPr/>
        </p:nvSpPr>
        <p:spPr>
          <a:xfrm>
            <a:off x="5461000" y="1324660"/>
            <a:ext cx="6484472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/>
              <a:t>Анализ остатков модели:</a:t>
            </a:r>
            <a:r>
              <a:rPr lang="en-US" dirty="0"/>
              <a:t/>
            </a:r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В ACF 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 остатков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есть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 несколько значительных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всплесков</a:t>
            </a: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,</a:t>
            </a:r>
            <a:r>
              <a:rPr lang="ru-RU" dirty="0" smtClean="0">
                <a:solidFill>
                  <a:srgbClr val="000000"/>
                </a:solidFill>
                <a:latin typeface="Georgia" panose="02040502050405020303" pitchFamily="18" charset="0"/>
              </a:rPr>
              <a:t> выше уровня </a:t>
            </a:r>
            <a:r>
              <a:rPr lang="en-US" dirty="0" err="1">
                <a:solidFill>
                  <a:srgbClr val="000000"/>
                </a:solidFill>
                <a:latin typeface="Georgia" panose="02040502050405020303" pitchFamily="18" charset="0"/>
              </a:rPr>
              <a:t>Ljung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-Box test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 (</a:t>
            </a:r>
            <a:r>
              <a:rPr lang="ru-RU" dirty="0" smtClean="0">
                <a:solidFill>
                  <a:srgbClr val="000000"/>
                </a:solidFill>
                <a:latin typeface="Georgia" panose="02040502050405020303" pitchFamily="18" charset="0"/>
              </a:rPr>
              <a:t>критерий 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>стат. значимости)</a:t>
            </a:r>
            <a:r>
              <a:rPr lang="en-US" dirty="0">
                <a:solidFill>
                  <a:srgbClr val="000000"/>
                </a:solidFill>
                <a:latin typeface="Georgia" panose="02040502050405020303" pitchFamily="18" charset="0"/>
              </a:rPr>
              <a:t>.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 </a:t>
            </a:r>
            <a:r>
              <a:rPr lang="ru-RU" dirty="0" smtClean="0">
                <a:solidFill>
                  <a:srgbClr val="000000"/>
                </a:solidFill>
                <a:latin typeface="Georgia" panose="02040502050405020303" pitchFamily="18" charset="0"/>
              </a:rPr>
              <a:t>модель описывает не всю информацию.</a:t>
            </a:r>
            <a: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  <a:t/>
            </a:r>
            <a:br>
              <a:rPr lang="ru-RU" dirty="0">
                <a:solidFill>
                  <a:srgbClr val="000000"/>
                </a:solidFill>
                <a:latin typeface="Georgia" panose="02040502050405020303" pitchFamily="18" charset="0"/>
              </a:rPr>
            </a:br>
            <a:r>
              <a:rPr lang="ru-RU" dirty="0" smtClean="0"/>
              <a:t>Визуально остатки не соотв. БГШ, это </a:t>
            </a:r>
            <a:r>
              <a:rPr lang="ru-RU" dirty="0" err="1" smtClean="0"/>
              <a:t>потверждает</a:t>
            </a:r>
            <a:r>
              <a:rPr lang="ru-RU" dirty="0" smtClean="0"/>
              <a:t> гипотезу короткого горизонта прогноза</a:t>
            </a:r>
            <a:r>
              <a:rPr lang="en-US" dirty="0" smtClean="0">
                <a:solidFill>
                  <a:srgbClr val="000000"/>
                </a:solidFill>
                <a:latin typeface="Georgia" panose="02040502050405020303" pitchFamily="18" charset="0"/>
              </a:rPr>
              <a:t>.</a:t>
            </a:r>
            <a:endParaRPr lang="ru-RU" dirty="0" smtClean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r>
              <a:rPr lang="ru-RU" dirty="0" smtClean="0">
                <a:solidFill>
                  <a:srgbClr val="000000"/>
                </a:solidFill>
                <a:latin typeface="Georgia" panose="02040502050405020303" pitchFamily="18" charset="0"/>
              </a:rPr>
              <a:t>Для увеличения горизонта возможно нужно провести анализ аномалий или усложнить модель</a:t>
            </a:r>
            <a:endParaRPr lang="en-US" dirty="0"/>
          </a:p>
        </p:txBody>
      </p:sp>
      <p:pic>
        <p:nvPicPr>
          <p:cNvPr id="16388" name="Picture 4" descr="image.png">
            <a:extLst>
              <a:ext uri="{FF2B5EF4-FFF2-40B4-BE49-F238E27FC236}">
                <a16:creationId xmlns:a16="http://schemas.microsoft.com/office/drawing/2014/main" id="{2F065641-E48C-4AE8-982E-8ED9A79EE5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293" y="1644566"/>
            <a:ext cx="5117519" cy="3160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31612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lvl="0" algn="l" rt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b="1" dirty="0">
                <a:solidFill>
                  <a:srgbClr val="000000"/>
                </a:solidFill>
                <a:latin typeface="inherit"/>
              </a:rPr>
              <a:t>Другие модели, подобные SARIMA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564472" cy="5876364"/>
          </a:xfrm>
        </p:spPr>
        <p:txBody>
          <a:bodyPr>
            <a:normAutofit/>
          </a:bodyPr>
          <a:lstStyle/>
          <a:p>
            <a:pPr marL="0" lvl="0" indent="0" algn="l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en-US" sz="2000" dirty="0" err="1">
                <a:solidFill>
                  <a:srgbClr val="000000"/>
                </a:solidFill>
              </a:rPr>
              <a:t>Помимо</a:t>
            </a:r>
            <a:r>
              <a:rPr lang="en-US" altLang="en-US" sz="2000" dirty="0">
                <a:solidFill>
                  <a:srgbClr val="000000"/>
                </a:solidFill>
              </a:rPr>
              <a:t> обсуждаемой выше модели SARIMA</a:t>
            </a:r>
            <a:r>
              <a:rPr lang="en-US" altLang="en-US" sz="2000" dirty="0" smtClean="0">
                <a:solidFill>
                  <a:srgbClr val="000000"/>
                </a:solidFill>
              </a:rPr>
              <a:t>, </a:t>
            </a:r>
            <a:r>
              <a:rPr lang="ru-RU" altLang="en-US" sz="2000" dirty="0" smtClean="0">
                <a:solidFill>
                  <a:srgbClr val="000000"/>
                </a:solidFill>
              </a:rPr>
              <a:t>а также </a:t>
            </a:r>
            <a:r>
              <a:rPr lang="en-US" altLang="en-US" sz="2000" dirty="0" smtClean="0">
                <a:solidFill>
                  <a:srgbClr val="000000"/>
                </a:solidFill>
              </a:rPr>
              <a:t>AR, MA, ARMA </a:t>
            </a:r>
            <a:r>
              <a:rPr lang="ru-RU" altLang="en-US" sz="2000" dirty="0" smtClean="0">
                <a:solidFill>
                  <a:srgbClr val="000000"/>
                </a:solidFill>
              </a:rPr>
              <a:t>и </a:t>
            </a:r>
            <a:r>
              <a:rPr lang="en-US" altLang="en-US" sz="2000" dirty="0" smtClean="0">
                <a:solidFill>
                  <a:srgbClr val="000000"/>
                </a:solidFill>
              </a:rPr>
              <a:t>ARIMA </a:t>
            </a:r>
            <a:r>
              <a:rPr lang="en-US" altLang="en-US" sz="2000" dirty="0">
                <a:solidFill>
                  <a:srgbClr val="000000"/>
                </a:solidFill>
              </a:rPr>
              <a:t>она обычно рассматривается как несколько других: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ru-RU" altLang="en-US" sz="2000" b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b="1" dirty="0" smtClean="0">
                <a:solidFill>
                  <a:srgbClr val="000000"/>
                </a:solidFill>
              </a:rPr>
              <a:t>SARIMAX</a:t>
            </a:r>
            <a:r>
              <a:rPr lang="en-US" altLang="en-US" sz="2000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– Модель SARIMA с экзогенными </a:t>
            </a:r>
            <a:r>
              <a:rPr lang="en-US" altLang="en-US" sz="2000" dirty="0" err="1">
                <a:solidFill>
                  <a:srgbClr val="000000"/>
                </a:solidFill>
              </a:rPr>
              <a:t>добавочными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dirty="0" err="1" smtClean="0">
                <a:solidFill>
                  <a:srgbClr val="000000"/>
                </a:solidFill>
              </a:rPr>
              <a:t>факт</a:t>
            </a:r>
            <a:r>
              <a:rPr lang="ru-RU" altLang="en-US" sz="2000" dirty="0" smtClean="0">
                <a:solidFill>
                  <a:srgbClr val="000000"/>
                </a:solidFill>
              </a:rPr>
              <a:t>а</a:t>
            </a:r>
            <a:r>
              <a:rPr lang="en-US" altLang="en-US" sz="2000" dirty="0" err="1" smtClean="0">
                <a:solidFill>
                  <a:srgbClr val="000000"/>
                </a:solidFill>
              </a:rPr>
              <a:t>рами</a:t>
            </a:r>
            <a:r>
              <a:rPr lang="en-US" altLang="en-US" sz="2000" dirty="0" smtClean="0">
                <a:solidFill>
                  <a:srgbClr val="000000"/>
                </a:solidFill>
              </a:rPr>
              <a:t>.</a:t>
            </a:r>
            <a:endParaRPr lang="ru-RU" altLang="en-US" sz="2000" dirty="0" smtClean="0">
              <a:solidFill>
                <a:srgbClr val="000000"/>
              </a:solidFill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ru-RU" altLang="en-US" sz="2000" b="1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>
                <a:solidFill>
                  <a:srgbClr val="000000"/>
                </a:solidFill>
              </a:rPr>
              <a:t>VAR, VMA, VARMA</a:t>
            </a:r>
            <a:r>
              <a:rPr lang="en-US" altLang="en-US" sz="2000" dirty="0">
                <a:solidFill>
                  <a:srgbClr val="000000"/>
                </a:solidFill>
              </a:rPr>
              <a:t> – </a:t>
            </a:r>
            <a:r>
              <a:rPr lang="ru-RU" altLang="en-US" sz="2000" dirty="0">
                <a:solidFill>
                  <a:srgbClr val="000000"/>
                </a:solidFill>
              </a:rPr>
              <a:t>М</a:t>
            </a:r>
            <a:r>
              <a:rPr lang="en-US" altLang="en-US" sz="2000" dirty="0" err="1">
                <a:solidFill>
                  <a:srgbClr val="000000"/>
                </a:solidFill>
              </a:rPr>
              <a:t>одели</a:t>
            </a:r>
            <a:r>
              <a:rPr lang="ru-RU" altLang="en-US" sz="2000" dirty="0">
                <a:solidFill>
                  <a:srgbClr val="000000"/>
                </a:solidFill>
              </a:rPr>
              <a:t> многомерных временных рядов</a:t>
            </a:r>
            <a:r>
              <a:rPr lang="en-US" altLang="en-US" sz="2000" dirty="0">
                <a:solidFill>
                  <a:srgbClr val="000000"/>
                </a:solidFill>
              </a:rPr>
              <a:t>.</a:t>
            </a: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ru-RU" altLang="en-US" sz="2000" b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b="1" dirty="0" smtClean="0">
                <a:solidFill>
                  <a:srgbClr val="000000"/>
                </a:solidFill>
              </a:rPr>
              <a:t>MSARIMA</a:t>
            </a:r>
            <a:r>
              <a:rPr lang="en-US" altLang="en-US" sz="2000" dirty="0" smtClean="0">
                <a:solidFill>
                  <a:srgbClr val="000000"/>
                </a:solidFill>
              </a:rPr>
              <a:t> – </a:t>
            </a:r>
            <a:r>
              <a:rPr lang="ru-RU" altLang="en-US" sz="2000" dirty="0" smtClean="0">
                <a:solidFill>
                  <a:srgbClr val="000000"/>
                </a:solidFill>
              </a:rPr>
              <a:t>модель с несколькими сезонными составляющими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/>
            </a:pPr>
            <a:r>
              <a:rPr lang="ru-RU" altLang="en-US" sz="2000" b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b="1" dirty="0" smtClean="0">
                <a:solidFill>
                  <a:srgbClr val="000000"/>
                </a:solidFill>
              </a:rPr>
              <a:t>ST-ARIMA – </a:t>
            </a:r>
            <a:r>
              <a:rPr lang="ru-RU" altLang="en-US" sz="2000" dirty="0" smtClean="0">
                <a:solidFill>
                  <a:srgbClr val="000000"/>
                </a:solidFill>
              </a:rPr>
              <a:t>модель для </a:t>
            </a:r>
            <a:r>
              <a:rPr lang="ru-RU" altLang="en-US" sz="2000" dirty="0" err="1" smtClean="0">
                <a:solidFill>
                  <a:srgbClr val="000000"/>
                </a:solidFill>
              </a:rPr>
              <a:t>пространственно</a:t>
            </a:r>
            <a:r>
              <a:rPr lang="ru-RU" altLang="en-US" sz="2000" dirty="0" smtClean="0">
                <a:solidFill>
                  <a:srgbClr val="000000"/>
                </a:solidFill>
              </a:rPr>
              <a:t> распределенных данных</a:t>
            </a:r>
            <a:endParaRPr lang="en-US" altLang="en-US" sz="20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000" b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b="1" dirty="0" smtClean="0">
                <a:solidFill>
                  <a:srgbClr val="000000"/>
                </a:solidFill>
              </a:rPr>
              <a:t>ARIFMA</a:t>
            </a:r>
            <a:r>
              <a:rPr lang="ru-RU" altLang="en-US" sz="2000" b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– Модель ARIMA с использованием дробных производных (и дробного интегрирования).</a:t>
            </a: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 startAt="3"/>
            </a:pPr>
            <a:r>
              <a:rPr lang="en-US" altLang="en-US" sz="2000" b="1" dirty="0" smtClean="0">
                <a:solidFill>
                  <a:srgbClr val="000000"/>
                </a:solidFill>
              </a:rPr>
              <a:t>NAR</a:t>
            </a:r>
            <a:r>
              <a:rPr lang="en-US" altLang="en-US" sz="2000" b="1" dirty="0">
                <a:solidFill>
                  <a:srgbClr val="000000"/>
                </a:solidFill>
              </a:rPr>
              <a:t>, NARX, </a:t>
            </a:r>
            <a:r>
              <a:rPr lang="en-US" altLang="en-US" sz="2000" b="1" dirty="0" smtClean="0">
                <a:solidFill>
                  <a:srgbClr val="000000"/>
                </a:solidFill>
              </a:rPr>
              <a:t>NARMA</a:t>
            </a:r>
            <a:r>
              <a:rPr lang="ru-RU" altLang="en-US" sz="2000" b="1" dirty="0" smtClean="0">
                <a:solidFill>
                  <a:srgbClr val="000000"/>
                </a:solidFill>
              </a:rPr>
              <a:t>, </a:t>
            </a:r>
            <a:r>
              <a:rPr lang="en-US" altLang="en-US" sz="2000" b="1" dirty="0" err="1" smtClean="0">
                <a:solidFill>
                  <a:srgbClr val="000000"/>
                </a:solidFill>
              </a:rPr>
              <a:t>DeepAR</a:t>
            </a:r>
            <a:r>
              <a:rPr lang="en-US" altLang="en-US" sz="2000" dirty="0" smtClean="0">
                <a:solidFill>
                  <a:srgbClr val="000000"/>
                </a:solidFill>
              </a:rPr>
              <a:t> -</a:t>
            </a:r>
            <a:r>
              <a:rPr lang="ru-RU" altLang="en-US" sz="2000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err="1" smtClean="0">
                <a:solidFill>
                  <a:srgbClr val="000000"/>
                </a:solidFill>
              </a:rPr>
              <a:t>Нелинейный</a:t>
            </a:r>
            <a:r>
              <a:rPr lang="en-US" altLang="en-US" sz="2000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>
                <a:solidFill>
                  <a:srgbClr val="000000"/>
                </a:solidFill>
              </a:rPr>
              <a:t>AR (NAR</a:t>
            </a:r>
            <a:r>
              <a:rPr lang="en-US" altLang="en-US" sz="2000" dirty="0" smtClean="0">
                <a:solidFill>
                  <a:srgbClr val="000000"/>
                </a:solidFill>
              </a:rPr>
              <a:t>), </a:t>
            </a:r>
            <a:r>
              <a:rPr lang="en-US" altLang="en-US" sz="2000" dirty="0">
                <a:solidFill>
                  <a:srgbClr val="000000"/>
                </a:solidFill>
              </a:rPr>
              <a:t>нелинейный ARMA (NARMA) и </a:t>
            </a:r>
            <a:r>
              <a:rPr lang="en-US" altLang="en-US" sz="2000" dirty="0" err="1">
                <a:solidFill>
                  <a:srgbClr val="000000"/>
                </a:solidFill>
              </a:rPr>
              <a:t>так</a:t>
            </a:r>
            <a:r>
              <a:rPr lang="en-US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dirty="0" err="1">
                <a:solidFill>
                  <a:srgbClr val="000000"/>
                </a:solidFill>
              </a:rPr>
              <a:t>далее</a:t>
            </a:r>
            <a:r>
              <a:rPr lang="en-US" altLang="en-US" sz="2000" dirty="0" smtClean="0">
                <a:solidFill>
                  <a:srgbClr val="000000"/>
                </a:solidFill>
              </a:rPr>
              <a:t>. – </a:t>
            </a:r>
            <a:r>
              <a:rPr lang="ru-RU" altLang="en-US" sz="2000" dirty="0" smtClean="0">
                <a:solidFill>
                  <a:srgbClr val="000000"/>
                </a:solidFill>
              </a:rPr>
              <a:t>модели нейронных сетей, вдохновлённые авторегрессий.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 startAt="4"/>
            </a:pPr>
            <a:r>
              <a:rPr lang="ru-RU" altLang="en-US" sz="2000" dirty="0">
                <a:solidFill>
                  <a:srgbClr val="000000"/>
                </a:solidFill>
              </a:rPr>
              <a:t> </a:t>
            </a:r>
            <a:r>
              <a:rPr lang="en-US" altLang="en-US" sz="2000" b="1" dirty="0" smtClean="0">
                <a:solidFill>
                  <a:srgbClr val="000000"/>
                </a:solidFill>
              </a:rPr>
              <a:t>AR-NET</a:t>
            </a:r>
            <a:r>
              <a:rPr lang="en-US" altLang="en-US" sz="2000" dirty="0" smtClean="0">
                <a:solidFill>
                  <a:srgbClr val="000000"/>
                </a:solidFill>
              </a:rPr>
              <a:t> – </a:t>
            </a:r>
            <a:r>
              <a:rPr lang="ru-RU" altLang="en-US" sz="2000" dirty="0" smtClean="0">
                <a:solidFill>
                  <a:srgbClr val="000000"/>
                </a:solidFill>
              </a:rPr>
              <a:t>модель авторегрессии с регуляризацией и решением методами градиентного спуска (как правило с не квадратичной функцией потерь и более устойчивые к неверному выбору параметров моделей).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Tx/>
              <a:buAutoNum type="arabicPeriod" startAt="4"/>
            </a:pPr>
            <a:r>
              <a:rPr lang="en-US" altLang="en-US" sz="2000" b="1" dirty="0" err="1" smtClean="0">
                <a:solidFill>
                  <a:srgbClr val="000000"/>
                </a:solidFill>
              </a:rPr>
              <a:t>DeepAR</a:t>
            </a:r>
            <a:r>
              <a:rPr lang="en-US" altLang="en-US" sz="2000" b="1" dirty="0" smtClean="0">
                <a:solidFill>
                  <a:srgbClr val="000000"/>
                </a:solidFill>
              </a:rPr>
              <a:t> </a:t>
            </a:r>
            <a:r>
              <a:rPr lang="en-US" altLang="en-US" sz="2000" dirty="0" smtClean="0">
                <a:solidFill>
                  <a:srgbClr val="000000"/>
                </a:solidFill>
              </a:rPr>
              <a:t>– </a:t>
            </a:r>
            <a:r>
              <a:rPr lang="ru-RU" altLang="en-US" sz="2000" dirty="0" smtClean="0">
                <a:solidFill>
                  <a:srgbClr val="000000"/>
                </a:solidFill>
              </a:rPr>
              <a:t>комбинация </a:t>
            </a:r>
            <a:r>
              <a:rPr lang="en-US" altLang="en-US" sz="2000" dirty="0" smtClean="0">
                <a:solidFill>
                  <a:srgbClr val="000000"/>
                </a:solidFill>
              </a:rPr>
              <a:t>LSTM </a:t>
            </a:r>
            <a:r>
              <a:rPr lang="ru-RU" altLang="en-US" sz="2000" dirty="0" smtClean="0">
                <a:solidFill>
                  <a:srgbClr val="000000"/>
                </a:solidFill>
              </a:rPr>
              <a:t>ячеек и идей авторегрессии</a:t>
            </a:r>
            <a:endParaRPr lang="ru-RU" altLang="en-US" sz="20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4"/>
            </a:pPr>
            <a:endParaRPr lang="en-US" altLang="en-US" sz="2000" dirty="0">
              <a:solidFill>
                <a:srgbClr val="000000"/>
              </a:solidFill>
            </a:endParaRP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4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/>
              <p:cNvSpPr/>
              <p:nvPr/>
            </p:nvSpPr>
            <p:spPr>
              <a:xfrm>
                <a:off x="610054" y="5531137"/>
                <a:ext cx="9361714" cy="125066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dirty="0"/>
                  <a:t>Для ARMAX</a:t>
                </a:r>
                <a:r>
                  <a:rPr lang="ru-RU" sz="2000" dirty="0"/>
                  <a:t> экзогенные</a:t>
                </a:r>
                <a:r>
                  <a:rPr lang="en-US" sz="2000" dirty="0"/>
                  <a:t> </a:t>
                </a:r>
                <a:r>
                  <a:rPr lang="ru-RU" sz="2000" dirty="0"/>
                  <a:t>ф</a:t>
                </a:r>
                <a:r>
                  <a:rPr lang="en-US" sz="2000" dirty="0" err="1" smtClean="0"/>
                  <a:t>акторы</a:t>
                </a:r>
                <a:r>
                  <a:rPr lang="ru-RU" sz="2000" dirty="0" smtClean="0"/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p>
                    </m:sSubSup>
                  </m:oMath>
                </a14:m>
                <a:r>
                  <a:rPr lang="en-US" sz="2000" dirty="0" smtClean="0"/>
                  <a:t> </a:t>
                </a:r>
                <a:r>
                  <a:rPr lang="en-US" sz="2000" dirty="0"/>
                  <a:t>могут </a:t>
                </a:r>
                <a:r>
                  <a:rPr lang="en-US" sz="2000" dirty="0" err="1"/>
                  <a:t>быть</a:t>
                </a:r>
                <a:r>
                  <a:rPr lang="en-US" sz="2000" dirty="0"/>
                  <a:t> </a:t>
                </a:r>
                <a:r>
                  <a:rPr lang="ru-RU" sz="2000" dirty="0"/>
                  <a:t>введены</a:t>
                </a:r>
                <a:r>
                  <a:rPr lang="en-US" sz="2000" dirty="0"/>
                  <a:t> </a:t>
                </a:r>
                <a:r>
                  <a:rPr lang="en-US" sz="2000" dirty="0" err="1"/>
                  <a:t>как</a:t>
                </a:r>
                <a:endParaRPr lang="en-US" sz="20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𝑟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𝛾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" name="Прямоугольник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054" y="5531137"/>
                <a:ext cx="9361714" cy="1250663"/>
              </a:xfrm>
              <a:prstGeom prst="rect">
                <a:avLst/>
              </a:prstGeom>
              <a:blipFill>
                <a:blip r:embed="rId2"/>
                <a:stretch>
                  <a:fillRect l="-651" t="-145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60292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826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Пример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6"/>
            <a:ext cx="11837895" cy="1963270"/>
          </a:xfrm>
        </p:spPr>
        <p:txBody>
          <a:bodyPr>
            <a:normAutofit fontScale="85000" lnSpcReduction="20000"/>
          </a:bodyPr>
          <a:lstStyle/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ru-RU" sz="2000" dirty="0"/>
              <a:t>В данном примере </a:t>
            </a:r>
            <a:r>
              <a:rPr lang="en-US" sz="2000" dirty="0"/>
              <a:t>p, скорее всего, </a:t>
            </a:r>
            <a:r>
              <a:rPr lang="en-US" sz="2000" dirty="0" err="1"/>
              <a:t>равно</a:t>
            </a:r>
            <a:r>
              <a:rPr lang="en-US" sz="2000" dirty="0"/>
              <a:t> </a:t>
            </a:r>
            <a:r>
              <a:rPr lang="ru-RU" sz="2000" dirty="0"/>
              <a:t>2</a:t>
            </a:r>
            <a:r>
              <a:rPr lang="en-US" sz="2000" dirty="0"/>
              <a:t>, </a:t>
            </a:r>
            <a:endParaRPr lang="ru-RU" sz="20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1600" dirty="0" err="1"/>
              <a:t>это</a:t>
            </a:r>
            <a:r>
              <a:rPr lang="en-US" sz="1600" dirty="0"/>
              <a:t> </a:t>
            </a:r>
            <a:r>
              <a:rPr lang="en-US" sz="1600" dirty="0" err="1"/>
              <a:t>последн</a:t>
            </a:r>
            <a:r>
              <a:rPr lang="ru-RU" sz="1600" dirty="0" err="1"/>
              <a:t>ий</a:t>
            </a:r>
            <a:r>
              <a:rPr lang="en-US" sz="1600" dirty="0"/>
              <a:t> </a:t>
            </a:r>
            <a:r>
              <a:rPr lang="en-US" sz="1600" dirty="0" err="1"/>
              <a:t>существенн</a:t>
            </a:r>
            <a:r>
              <a:rPr lang="ru-RU" sz="1600" dirty="0" err="1"/>
              <a:t>ый</a:t>
            </a:r>
            <a:r>
              <a:rPr lang="en-US" sz="1600" dirty="0"/>
              <a:t> </a:t>
            </a:r>
            <a:r>
              <a:rPr lang="ru-RU" sz="1600" dirty="0"/>
              <a:t>лаг</a:t>
            </a:r>
            <a:r>
              <a:rPr lang="en-US" sz="1600" dirty="0"/>
              <a:t> PACF, после которого большинство других не являются значительными.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d </a:t>
            </a:r>
            <a:r>
              <a:rPr lang="en-US" sz="2000" dirty="0" err="1"/>
              <a:t>равно</a:t>
            </a:r>
            <a:r>
              <a:rPr lang="en-US" sz="2000" dirty="0"/>
              <a:t> 1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q должно быть где-то около 4, как видно на ACF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P может быть 2, так как 24-е и 48-е </a:t>
            </a:r>
            <a:r>
              <a:rPr lang="en-US" sz="2000" dirty="0" err="1"/>
              <a:t>лагы</a:t>
            </a:r>
            <a:r>
              <a:rPr lang="en-US" sz="2000" dirty="0"/>
              <a:t> </a:t>
            </a:r>
            <a:r>
              <a:rPr lang="en-US" sz="2000" dirty="0" err="1"/>
              <a:t>значительны</a:t>
            </a:r>
            <a:r>
              <a:rPr lang="en-US" sz="2000" dirty="0"/>
              <a:t> на PACF.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D снова равно 1, потому что мы провели сезонную дифференциацию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000" dirty="0"/>
              <a:t>Q, вероятно, </a:t>
            </a:r>
            <a:r>
              <a:rPr lang="en-US" sz="2000" dirty="0" err="1"/>
              <a:t>равен</a:t>
            </a:r>
            <a:r>
              <a:rPr lang="en-US" sz="2000" dirty="0"/>
              <a:t> 1</a:t>
            </a:r>
            <a:r>
              <a:rPr lang="ru-RU" sz="2000" dirty="0"/>
              <a:t> - </a:t>
            </a:r>
            <a:r>
              <a:rPr lang="en-US" sz="2000" dirty="0"/>
              <a:t>24-е отставание по ACF значительно, а 48-е - нет.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endParaRPr lang="en-US" sz="1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image.png">
            <a:extLst>
              <a:ext uri="{FF2B5EF4-FFF2-40B4-BE49-F238E27FC236}">
                <a16:creationId xmlns:a16="http://schemas.microsoft.com/office/drawing/2014/main" id="{DEA3292B-3A21-4C0C-A3C3-E896992594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451"/>
          <a:stretch/>
        </p:blipFill>
        <p:spPr bwMode="auto">
          <a:xfrm>
            <a:off x="838200" y="2825133"/>
            <a:ext cx="4604692" cy="40328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image.png">
            <a:extLst>
              <a:ext uri="{FF2B5EF4-FFF2-40B4-BE49-F238E27FC236}">
                <a16:creationId xmlns:a16="http://schemas.microsoft.com/office/drawing/2014/main" id="{339884C6-78AF-4D29-BAAB-02C7C03573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464"/>
          <a:stretch/>
        </p:blipFill>
        <p:spPr bwMode="auto">
          <a:xfrm>
            <a:off x="6310373" y="2868706"/>
            <a:ext cx="4906569" cy="3805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8759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41" y="155384"/>
            <a:ext cx="10810875" cy="9112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. </a:t>
            </a:r>
            <a:r>
              <a:rPr lang="en-US" b="1" dirty="0" err="1"/>
              <a:t>Пример</a:t>
            </a:r>
            <a:r>
              <a:rPr lang="en-US" b="1" dirty="0"/>
              <a:t> </a:t>
            </a:r>
            <a:r>
              <a:rPr lang="en-US" dirty="0"/>
              <a:t>European retail trade data 1996 - 2011.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3115" y="1545706"/>
            <a:ext cx="2639785" cy="4351338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050" name="Picture 2" descr="Quarterly retail trade index in the Euro area (17 countries), 1996--2011, covering wholesale and retail trade, and the repair of motor vehicles and motorcycles. (Index: 2005 = 100)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8" y="1066611"/>
            <a:ext cx="4113269" cy="254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asonally differenced European retail trade index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817" y="1005403"/>
            <a:ext cx="6440722" cy="353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589037" y="820737"/>
            <a:ext cx="1875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</a:t>
            </a:r>
            <a:endParaRPr lang="ru-RU" dirty="0"/>
          </a:p>
        </p:txBody>
      </p:sp>
      <p:pic>
        <p:nvPicPr>
          <p:cNvPr id="2054" name="Picture 6" descr="Double differenced European retail trade index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19" y="3519070"/>
            <a:ext cx="5175998" cy="310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722519" y="3490053"/>
            <a:ext cx="2959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 + usual diff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5793350" y="5392071"/>
            <a:ext cx="4418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err="1">
                <a:solidFill>
                  <a:srgbClr val="06287E"/>
                </a:solidFill>
                <a:latin typeface="Hack"/>
              </a:rPr>
              <a:t>Arima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order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), 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seasonal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))</a:t>
            </a:r>
            <a:r>
              <a:rPr lang="ru-RU" altLang="ru-RU" dirty="0"/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1589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7181"/>
          </a:xfrm>
        </p:spPr>
        <p:txBody>
          <a:bodyPr>
            <a:noAutofit/>
          </a:bodyPr>
          <a:lstStyle/>
          <a:p>
            <a:pPr algn="ctr"/>
            <a:r>
              <a:rPr lang="ru-RU" sz="3600" b="1" dirty="0"/>
              <a:t>М</a:t>
            </a:r>
            <a:r>
              <a:rPr lang="en-US" sz="3600" b="1" dirty="0" err="1"/>
              <a:t>одели</a:t>
            </a:r>
            <a:r>
              <a:rPr lang="ru-RU" sz="3600" b="1" dirty="0"/>
              <a:t> интегрированной</a:t>
            </a:r>
            <a:r>
              <a:rPr lang="en-US" sz="3600" b="1" dirty="0"/>
              <a:t> </a:t>
            </a:r>
            <a:r>
              <a:rPr lang="ru-RU" sz="3600" b="1" dirty="0"/>
              <a:t>а</a:t>
            </a:r>
            <a:r>
              <a:rPr lang="en-US" sz="3600" b="1" dirty="0" err="1"/>
              <a:t>вторегресси</a:t>
            </a:r>
            <a:r>
              <a:rPr lang="ru-RU" sz="3600" b="1" dirty="0"/>
              <a:t> -</a:t>
            </a:r>
            <a:r>
              <a:rPr lang="en-US" sz="3600" b="1" dirty="0"/>
              <a:t> </a:t>
            </a:r>
            <a:r>
              <a:rPr lang="ru-RU" sz="3600" b="1" dirty="0"/>
              <a:t>с</a:t>
            </a:r>
            <a:r>
              <a:rPr lang="en-US" sz="3600" b="1" dirty="0" err="1"/>
              <a:t>кользящ</a:t>
            </a:r>
            <a:r>
              <a:rPr lang="ru-RU" sz="3600" b="1" dirty="0"/>
              <a:t>его</a:t>
            </a:r>
            <a:r>
              <a:rPr lang="en-US" sz="3600" b="1" dirty="0"/>
              <a:t> </a:t>
            </a:r>
            <a:r>
              <a:rPr lang="en-US" sz="3600" b="1" dirty="0" err="1"/>
              <a:t>средн</a:t>
            </a:r>
            <a:r>
              <a:rPr lang="ru-RU" sz="3600" b="1" dirty="0"/>
              <a:t>его </a:t>
            </a:r>
            <a:r>
              <a:rPr lang="en-US" sz="3600" b="1" dirty="0"/>
              <a:t>(ARIMA)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79612" y="1279187"/>
                <a:ext cx="11232776" cy="515893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00000"/>
                  </a:lnSpc>
                </a:pPr>
                <a:r>
                  <a:rPr lang="ru-RU" sz="2400" dirty="0"/>
                  <a:t>П</a:t>
                </a:r>
                <a:r>
                  <a:rPr lang="en-US" sz="2400" dirty="0" err="1"/>
                  <a:t>ри</a:t>
                </a:r>
                <a:r>
                  <a:rPr lang="en-US" sz="2400" dirty="0"/>
                  <a:t> анализе временных рядов для уменьшения (или устранения) </a:t>
                </a:r>
                <a:r>
                  <a:rPr lang="en-US" sz="2400" dirty="0" err="1"/>
                  <a:t>требования</a:t>
                </a:r>
                <a:r>
                  <a:rPr lang="en-US" sz="2400" dirty="0"/>
                  <a:t> </a:t>
                </a:r>
                <a:r>
                  <a:rPr lang="ru-RU" sz="2400" dirty="0"/>
                  <a:t>повторяемости</a:t>
                </a:r>
                <a:r>
                  <a:rPr lang="en-US" sz="2400" dirty="0"/>
                  <a:t> в первую очередь мы должны </a:t>
                </a:r>
                <a:r>
                  <a:rPr lang="en-US" sz="2400" dirty="0" err="1"/>
                  <a:t>достичь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стационарности</a:t>
                </a:r>
                <a:r>
                  <a:rPr lang="en-US" sz="2400" dirty="0"/>
                  <a:t>. </a:t>
                </a:r>
              </a:p>
              <a:p>
                <a:pPr algn="l" rtl="0">
                  <a:lnSpc>
                    <a:spcPct val="100000"/>
                  </a:lnSpc>
                </a:pPr>
                <a:r>
                  <a:rPr lang="ru-RU" sz="2400" dirty="0"/>
                  <a:t>Можно </a:t>
                </a:r>
                <a:r>
                  <a:rPr lang="en-US" sz="2400" dirty="0" err="1"/>
                  <a:t>свести</a:t>
                </a:r>
                <a:r>
                  <a:rPr lang="en-US" sz="2400" dirty="0"/>
                  <a:t> задачу к стационарной, попробовав некоторые обратимые преобразования. </a:t>
                </a:r>
                <a:endParaRPr lang="ru-RU" sz="2400" dirty="0"/>
              </a:p>
              <a:p>
                <a:pPr lvl="1">
                  <a:lnSpc>
                    <a:spcPct val="100000"/>
                  </a:lnSpc>
                </a:pPr>
                <a:r>
                  <a:rPr lang="ru-RU" dirty="0"/>
                  <a:t>Методы приведения ряда к стационарному: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Численная обычная производная  – тренд.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Численная дробная производная – сложный, цикличный тренд.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Численная сезонная производная  – высокое влияние сезонности.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Преобразования Бокса-Кокса – устранения волатильности (</a:t>
                </a:r>
                <a:r>
                  <a:rPr lang="ru-RU" dirty="0" err="1"/>
                  <a:t>гетероскедастичности</a:t>
                </a:r>
                <a:r>
                  <a:rPr lang="ru-RU" dirty="0"/>
                  <a:t>, в частности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).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Приведение к виду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- </a:t>
                </a:r>
                <a:r>
                  <a:rPr lang="ru-RU" dirty="0"/>
                  <a:t>устранения волатильности (</a:t>
                </a:r>
                <a:r>
                  <a:rPr lang="ru-RU" dirty="0" err="1"/>
                  <a:t>гетероскедастичности</a:t>
                </a:r>
                <a:r>
                  <a:rPr lang="ru-RU" dirty="0"/>
                  <a:t>).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Декомпозиция модели (напр. использование разных подходов для разных частей).</a:t>
                </a:r>
              </a:p>
              <a:p>
                <a:pPr lvl="2">
                  <a:lnSpc>
                    <a:spcPct val="100000"/>
                  </a:lnSpc>
                </a:pPr>
                <a:r>
                  <a:rPr lang="ru-RU" dirty="0"/>
                  <a:t>И др.</a:t>
                </a:r>
              </a:p>
              <a:p>
                <a:pPr lvl="2">
                  <a:lnSpc>
                    <a:spcPct val="100000"/>
                  </a:lnSpc>
                </a:pPr>
                <a:endParaRPr lang="ru-RU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9612" y="1279187"/>
                <a:ext cx="11232776" cy="5158935"/>
              </a:xfrm>
              <a:blipFill>
                <a:blip r:embed="rId2"/>
                <a:stretch>
                  <a:fillRect l="-760" t="-946" b="-165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5489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Тестирование лагов на значимость</a:t>
            </a:r>
            <a:r>
              <a:rPr lang="en-US" dirty="0"/>
              <a:t/>
            </a:r>
            <a:br>
              <a:rPr lang="en-US" dirty="0"/>
            </a:br>
            <a:r>
              <a:rPr lang="ru-RU" dirty="0"/>
              <a:t>Тестовая </a:t>
            </a:r>
            <a:r>
              <a:rPr lang="en-US" dirty="0"/>
              <a:t>Q-</a:t>
            </a:r>
            <a:r>
              <a:rPr lang="ru-RU" dirty="0"/>
              <a:t>статистика </a:t>
            </a:r>
            <a:r>
              <a:rPr lang="ru-RU" dirty="0" err="1"/>
              <a:t>Льюинга</a:t>
            </a:r>
            <a:r>
              <a:rPr lang="ru-RU" dirty="0"/>
              <a:t>-Бокса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Рассмотрим выборочные коэффициенты автоковариации и автокорреляции</a:t>
            </a:r>
          </a:p>
          <a:p>
            <a:endParaRPr lang="ru-RU" sz="2000" dirty="0"/>
          </a:p>
          <a:p>
            <a:endParaRPr lang="ru-RU" sz="2000" dirty="0"/>
          </a:p>
          <a:p>
            <a:r>
              <a:rPr lang="ru-RU" sz="2000" dirty="0"/>
              <a:t>Выборочные частные коэффициенты автокорреляции (PACF)</a:t>
            </a:r>
          </a:p>
          <a:p>
            <a:endParaRPr lang="ru-RU" sz="2000" dirty="0"/>
          </a:p>
          <a:p>
            <a:r>
              <a:rPr lang="ru-RU" sz="2000" dirty="0"/>
              <a:t>Далее необходимо проверить их значимость. Для этого тестируем гипотезу при фиксированном лаге: </a:t>
            </a:r>
          </a:p>
          <a:p>
            <a:endParaRPr lang="ru-RU" sz="2000" dirty="0"/>
          </a:p>
          <a:p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687" y="2249725"/>
            <a:ext cx="2924175" cy="704850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0726" y="2287825"/>
            <a:ext cx="1790700" cy="666750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72862" y="3416775"/>
            <a:ext cx="3619500" cy="409575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54876" y="4203819"/>
            <a:ext cx="2876550" cy="361950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1426" y="4250947"/>
            <a:ext cx="1857375" cy="381000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88801" y="4212847"/>
            <a:ext cx="2466975" cy="419100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0999" y="4630619"/>
            <a:ext cx="4019550" cy="21050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Прямоугольник 10"/>
              <p:cNvSpPr/>
              <p:nvPr/>
            </p:nvSpPr>
            <p:spPr>
              <a:xfrm>
                <a:off x="4744362" y="4766884"/>
                <a:ext cx="6096000" cy="951543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ru-RU" dirty="0"/>
                  <a:t>Критическое значение имеет хи-квадрат распределения </a:t>
                </a:r>
              </a:p>
              <a:p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𝑐𝑟</m:t>
                        </m:r>
                      </m:sub>
                      <m:sup>
                        <m:r>
                          <a:rPr lang="ru-RU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ru-RU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  <m:sup>
                        <m:r>
                          <a:rPr lang="ru-RU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ru-RU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ru-RU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ru-RU" dirty="0"/>
                  <a:t>, поэтому для проверки гипотезы применяем следующее статистическое правило: </a:t>
                </a:r>
              </a:p>
            </p:txBody>
          </p:sp>
        </mc:Choice>
        <mc:Fallback xmlns="">
          <p:sp>
            <p:nvSpPr>
              <p:cNvPr id="11" name="Прямоугольник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4362" y="4766884"/>
                <a:ext cx="6096000" cy="951543"/>
              </a:xfrm>
              <a:prstGeom prst="rect">
                <a:avLst/>
              </a:prstGeom>
              <a:blipFill>
                <a:blip r:embed="rId10"/>
                <a:stretch>
                  <a:fillRect l="-800" t="-3846" b="-705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Рисунок 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20549" y="5783277"/>
            <a:ext cx="3362325" cy="704850"/>
          </a:xfrm>
          <a:prstGeom prst="rect">
            <a:avLst/>
          </a:prstGeom>
        </p:spPr>
      </p:pic>
      <p:sp>
        <p:nvSpPr>
          <p:cNvPr id="13" name="Прямоугольник 12"/>
          <p:cNvSpPr/>
          <p:nvPr/>
        </p:nvSpPr>
        <p:spPr>
          <a:xfrm>
            <a:off x="8082874" y="5778981"/>
            <a:ext cx="375352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Замечание. Применение Q-статистик оправдано только для больших выборок. Это асимптотический тест!</a:t>
            </a:r>
          </a:p>
        </p:txBody>
      </p:sp>
      <p:pic>
        <p:nvPicPr>
          <p:cNvPr id="14" name="Рисунок 1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605874" y="6656507"/>
            <a:ext cx="62769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06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482" y="122529"/>
            <a:ext cx="10515600" cy="827181"/>
          </a:xfrm>
        </p:spPr>
        <p:txBody>
          <a:bodyPr>
            <a:normAutofit/>
          </a:bodyPr>
          <a:lstStyle/>
          <a:p>
            <a:pPr algn="l" rtl="0"/>
            <a:r>
              <a:rPr lang="ru-RU" b="1" dirty="0"/>
              <a:t>Производная</a:t>
            </a:r>
            <a:endParaRPr lang="en-US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 Обозначим производную как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 err="1"/>
                  <a:t>численная</a:t>
                </a:r>
                <a:r>
                  <a:rPr lang="en-US" sz="2400" dirty="0"/>
                  <a:t> производная может быть вычислена как 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=0: 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=1: 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𝑦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′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и 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т</m:t>
                    </m:r>
                    <m:r>
                      <a:rPr lang="en-US" sz="2400" i="1" dirty="0" err="1">
                        <a:latin typeface="Cambria Math" panose="02040503050406030204" pitchFamily="18" charset="0"/>
                      </a:rPr>
                      <m:t>.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д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US" sz="2400" dirty="0"/>
                  <a:t> 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В случае рассмотрения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𝑦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</a:t>
                </a:r>
                <a:r>
                  <a:rPr lang="en-US" sz="2400" dirty="0" err="1"/>
                  <a:t>вместо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мы делаем предположение, </a:t>
                </a:r>
                <a:r>
                  <a:rPr lang="en-US" sz="2400" dirty="0" err="1"/>
                  <a:t>что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производная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имеет</a:t>
                </a:r>
                <a:r>
                  <a:rPr lang="en-US" sz="2400" dirty="0"/>
                  <a:t> </a:t>
                </a:r>
                <a:r>
                  <a:rPr lang="en-US" sz="2400" dirty="0" err="1"/>
                  <a:t>стационарное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поведение</a:t>
                </a:r>
                <a:r>
                  <a:rPr lang="ru-RU" sz="2400" dirty="0"/>
                  <a:t> (как правило разности значений рядов более стационарны, чем сами ряды)</a:t>
                </a:r>
                <a:r>
                  <a:rPr lang="en-US" sz="2400" dirty="0"/>
                  <a:t>.</a:t>
                </a:r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  <a:blipFill>
                <a:blip r:embed="rId2"/>
                <a:stretch>
                  <a:fillRect l="-760" t="-1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7848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BA10D1-E2DF-4CAB-A0B5-AD303DF56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5482" y="122529"/>
            <a:ext cx="10515600" cy="827181"/>
          </a:xfrm>
        </p:spPr>
        <p:txBody>
          <a:bodyPr>
            <a:normAutofit/>
          </a:bodyPr>
          <a:lstStyle/>
          <a:p>
            <a:pPr algn="l" rtl="0"/>
            <a:r>
              <a:rPr lang="en-US" b="1" dirty="0"/>
              <a:t>Лаговая форма ARIMA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/>
                  <a:t>Определим оператор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sz="2400" dirty="0"/>
                  <a:t>, </a:t>
                </a:r>
                <a:r>
                  <a:rPr lang="ru-RU" sz="2400" dirty="0"/>
                  <a:t>как отображение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котор</a:t>
                </a:r>
                <a:r>
                  <a:rPr lang="ru-RU" sz="2400" dirty="0" err="1"/>
                  <a:t>ое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преобразует</a:t>
                </a:r>
                <a:r>
                  <a:rPr lang="ru-RU" sz="2400" dirty="0"/>
                  <a:t> одни</a:t>
                </a:r>
                <a:r>
                  <a:rPr lang="en-US" sz="2400" dirty="0"/>
                  <a:t> последовательности в </a:t>
                </a:r>
                <a:r>
                  <a:rPr lang="ru-RU" sz="2400" dirty="0"/>
                  <a:t>другие </a:t>
                </a:r>
                <a:r>
                  <a:rPr lang="en-US" sz="2400" dirty="0" err="1"/>
                  <a:t>последовательности</a:t>
                </a:r>
                <a:r>
                  <a:rPr lang="ru-RU" sz="2400" dirty="0"/>
                  <a:t>,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как</a:t>
                </a:r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400" dirty="0"/>
                  <a:t> для всех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ru-RU" sz="2400" dirty="0"/>
                  <a:t>Отображение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sz="2400" dirty="0"/>
                  <a:t> называется </a:t>
                </a:r>
                <a:r>
                  <a:rPr lang="en-US" sz="2400" b="1" dirty="0"/>
                  <a:t>оператор запаздывания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или</a:t>
                </a:r>
                <a:r>
                  <a:rPr lang="en-US" sz="2400" dirty="0"/>
                  <a:t> </a:t>
                </a:r>
                <a:r>
                  <a:rPr lang="ru-RU" sz="2400" b="1" dirty="0"/>
                  <a:t>лаговый</a:t>
                </a:r>
                <a:r>
                  <a:rPr lang="en-US" sz="2400" b="1" dirty="0"/>
                  <a:t> </a:t>
                </a:r>
                <a:r>
                  <a:rPr lang="en-US" sz="2400" b="1" dirty="0" err="1"/>
                  <a:t>оператор</a:t>
                </a:r>
                <a:r>
                  <a:rPr lang="en-US" sz="2400" dirty="0"/>
                  <a:t>.</a:t>
                </a:r>
                <a:endParaRPr lang="ru-RU" sz="2400" dirty="0"/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400" dirty="0" err="1"/>
                  <a:t>Таким</a:t>
                </a:r>
                <a:r>
                  <a:rPr lang="en-US" sz="2400" dirty="0"/>
                  <a:t> же образом мы </a:t>
                </a:r>
                <a:r>
                  <a:rPr lang="en-US" sz="2400" dirty="0" err="1"/>
                  <a:t>можем</a:t>
                </a:r>
                <a:r>
                  <a:rPr lang="en-US" sz="2400" dirty="0"/>
                  <a:t> </a:t>
                </a:r>
                <a:r>
                  <a:rPr lang="en-US" sz="2400" dirty="0" err="1"/>
                  <a:t>определить</a:t>
                </a:r>
                <a:r>
                  <a:rPr lang="ru-RU" sz="2400" dirty="0"/>
                  <a:t> более длительные запаздывания</a:t>
                </a:r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ru-RU" sz="2400" dirty="0"/>
                  <a:t>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и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ru-RU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000" dirty="0"/>
                  <a:t>Также</a:t>
                </a:r>
                <a:endParaRPr lang="ru-RU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 dirty="0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  <a:p>
                <a:pPr marL="0" indent="0" algn="ctr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19D767B6-15E9-44FE-83F3-68423D4C12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46847" y="839755"/>
                <a:ext cx="11232776" cy="5878285"/>
              </a:xfrm>
              <a:blipFill>
                <a:blip r:embed="rId2"/>
                <a:stretch>
                  <a:fillRect l="-760" t="-1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654996" y="4954140"/>
                <a:ext cx="9144000" cy="176580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1600" dirty="0"/>
                  <a:t>Используя </a:t>
                </a:r>
                <a:r>
                  <a:rPr lang="ru-RU" sz="1600" dirty="0"/>
                  <a:t>введенные</a:t>
                </a:r>
                <a:r>
                  <a:rPr lang="en-US" sz="1600" dirty="0"/>
                  <a:t> обозначения, </a:t>
                </a:r>
                <a:r>
                  <a:rPr lang="en-US" dirty="0"/>
                  <a:t>ARMA (</a:t>
                </a:r>
                <a:r>
                  <a:rPr lang="en-US" dirty="0" err="1"/>
                  <a:t>р,q</a:t>
                </a:r>
                <a:r>
                  <a:rPr lang="en-US" dirty="0"/>
                  <a:t>) модель </a:t>
                </a:r>
                <a:r>
                  <a:rPr lang="en-US" dirty="0" err="1"/>
                  <a:t>может</a:t>
                </a:r>
                <a:r>
                  <a:rPr lang="en-US" dirty="0"/>
                  <a:t> </a:t>
                </a:r>
                <a:r>
                  <a:rPr lang="en-US" dirty="0" err="1"/>
                  <a:t>быть</a:t>
                </a:r>
                <a:r>
                  <a:rPr lang="en-US" dirty="0"/>
                  <a:t> </a:t>
                </a:r>
                <a:r>
                  <a:rPr lang="en-US" dirty="0" err="1"/>
                  <a:t>дан</a:t>
                </a:r>
                <a:r>
                  <a:rPr lang="ru-RU" dirty="0"/>
                  <a:t>а</a:t>
                </a:r>
                <a:r>
                  <a:rPr lang="en-US" dirty="0"/>
                  <a:t> в </a:t>
                </a:r>
                <a:r>
                  <a:rPr lang="en-US" dirty="0" err="1"/>
                  <a:t>виде</a:t>
                </a:r>
                <a:r>
                  <a:rPr lang="en-US" dirty="0"/>
                  <a:t> </a:t>
                </a:r>
                <a:r>
                  <a:rPr lang="ru-RU" dirty="0"/>
                  <a:t>с </a:t>
                </a:r>
                <a:r>
                  <a:rPr lang="en-US" dirty="0" err="1"/>
                  <a:t>лаг</a:t>
                </a:r>
                <a:r>
                  <a:rPr lang="ru-RU" dirty="0" err="1"/>
                  <a:t>овым</a:t>
                </a:r>
                <a:r>
                  <a:rPr lang="ru-RU" dirty="0"/>
                  <a:t> оператором</a:t>
                </a:r>
                <a:r>
                  <a:rPr lang="en-US" dirty="0"/>
                  <a:t> как 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𝜀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sz="2000" i="1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996" y="4954140"/>
                <a:ext cx="9144000" cy="1765804"/>
              </a:xfrm>
              <a:prstGeom prst="rect">
                <a:avLst/>
              </a:prstGeom>
              <a:blipFill>
                <a:blip r:embed="rId3"/>
                <a:stretch>
                  <a:fillRect l="-53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745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Лаговая форма ARIMA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77154"/>
                <a:ext cx="10515600" cy="5731295"/>
              </a:xfrm>
            </p:spPr>
            <p:txBody>
              <a:bodyPr>
                <a:normAutofit/>
              </a:bodyPr>
              <a:lstStyle/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dirty="0"/>
                  <a:t>В </a:t>
                </a:r>
                <a:r>
                  <a:rPr lang="en-US" sz="2300" dirty="0" err="1"/>
                  <a:t>форме</a:t>
                </a:r>
                <a:r>
                  <a:rPr lang="en-US" sz="2300" dirty="0"/>
                  <a:t> </a:t>
                </a:r>
                <a:r>
                  <a:rPr lang="ru-RU" sz="2300" dirty="0"/>
                  <a:t>лагового оператора</a:t>
                </a:r>
                <a:r>
                  <a:rPr lang="en-US" sz="2300" dirty="0"/>
                  <a:t> мы можем определить числовую производную как</a:t>
                </a:r>
              </a:p>
              <a:p>
                <a:pPr marL="0" indent="0" algn="l" rtl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300" i="0">
                          <a:latin typeface="Cambria Math" panose="02040503050406030204" pitchFamily="18" charset="0"/>
                        </a:rPr>
                        <m:t>Δ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=(1−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3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=(1−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3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300" dirty="0"/>
                  <a:t>Например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ru-RU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=(1−</m:t>
                      </m:r>
                      <m:r>
                        <a:rPr lang="en-US" sz="2300" i="1">
                          <a:latin typeface="Cambria Math" panose="02040503050406030204" pitchFamily="18" charset="0"/>
                        </a:rPr>
                        <m:t>𝐿</m:t>
                      </m:r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ru-RU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ru-RU" sz="23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ru-RU" sz="23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sz="2300" b="0" i="1" smtClean="0">
                              <a:latin typeface="Cambria Math" panose="02040503050406030204" pitchFamily="18" charset="0"/>
                            </a:rPr>
                            <m:t>1−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3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3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ru-RU" sz="23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endParaRPr lang="en-US" sz="23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77154"/>
                <a:ext cx="10515600" cy="5731295"/>
              </a:xfrm>
              <a:blipFill>
                <a:blip r:embed="rId2"/>
                <a:stretch>
                  <a:fillRect l="-1043" t="-106" r="-46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329119" y="3459964"/>
                <a:ext cx="11533762" cy="29215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en-US" sz="2300" dirty="0"/>
                  <a:t>Используя определение производной, мы </a:t>
                </a:r>
                <a:r>
                  <a:rPr lang="en-US" sz="2300" dirty="0" err="1"/>
                  <a:t>можем</a:t>
                </a:r>
                <a:r>
                  <a:rPr lang="en-US" sz="2300" dirty="0"/>
                  <a:t> </a:t>
                </a:r>
                <a:r>
                  <a:rPr lang="ru-RU" sz="2300" dirty="0"/>
                  <a:t>задать </a:t>
                </a:r>
                <a:r>
                  <a:rPr lang="en-US" sz="2300" dirty="0"/>
                  <a:t>ARIMA (</a:t>
                </a:r>
                <a:r>
                  <a:rPr lang="en-US" sz="2300" dirty="0" err="1"/>
                  <a:t>p,d,q</a:t>
                </a:r>
                <a:r>
                  <a:rPr lang="en-US" sz="2300" dirty="0"/>
                  <a:t>) модель как </a:t>
                </a:r>
              </a:p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1−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𝛼</m:t>
                                  </m:r>
                                </m:e>
                                <m:sub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p>
                          <m:r>
                            <m:rPr>
                              <m:sty m:val="p"/>
                            </m:rPr>
                            <a:rPr lang="en-US" sz="2300">
                              <a:latin typeface="Cambria Math" panose="02040503050406030204" pitchFamily="18" charset="0"/>
                            </a:rPr>
                            <m:t>d</m:t>
                          </m:r>
                        </m:sup>
                      </m:sSup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3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1+</m:t>
                          </m:r>
                          <m:nary>
                            <m:naryPr>
                              <m:chr m:val="∑"/>
                              <m:limLoc m:val="undOvr"/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en-US" sz="23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nary>
                          <m:sSup>
                            <m:sSupPr>
                              <m:ctrlPr>
                                <a:rPr lang="en-US" sz="23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e>
                            <m:sup>
                              <m:r>
                                <a:rPr lang="en-US" sz="23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p>
                          </m:sSup>
                        </m:e>
                      </m:d>
                      <m:sSub>
                        <m:sSubPr>
                          <m:ctrlPr>
                            <a:rPr lang="en-US" sz="23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sz="23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300" dirty="0"/>
              </a:p>
              <a:p>
                <a:pPr lvl="1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en-US" sz="2300" dirty="0"/>
                  <a:t> </a:t>
                </a:r>
                <a:r>
                  <a:rPr lang="ru-RU" sz="2300" dirty="0"/>
                  <a:t>Отметим, что </a:t>
                </a:r>
                <a:r>
                  <a:rPr lang="en-US" sz="2300" dirty="0" err="1"/>
                  <a:t>если</a:t>
                </a:r>
                <a:r>
                  <a:rPr lang="en-US" sz="2300" dirty="0"/>
                  <a:t>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3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300" dirty="0"/>
                  <a:t>имеет линейный </a:t>
                </a:r>
                <a:r>
                  <a:rPr lang="en-US" sz="2300" dirty="0" err="1"/>
                  <a:t>тренд</a:t>
                </a:r>
                <a:r>
                  <a:rPr lang="en-US" sz="2300" dirty="0"/>
                  <a:t>;</a:t>
                </a:r>
                <a:r>
                  <a:rPr lang="ru-RU" sz="2300" dirty="0"/>
                  <a:t/>
                </a:r>
                <a:br>
                  <a:rPr lang="ru-RU" sz="2300" dirty="0"/>
                </a:br>
                <a:r>
                  <a:rPr lang="en-US" sz="2300" dirty="0"/>
                  <a:t> если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sz="2300" dirty="0"/>
                  <a:t>, квадратичный тренд и т. д. </a:t>
                </a:r>
                <a:r>
                  <a:rPr lang="ru-RU" sz="2300" dirty="0"/>
                  <a:t/>
                </a:r>
                <a:br>
                  <a:rPr lang="ru-RU" sz="2300" dirty="0"/>
                </a:br>
                <a:r>
                  <a:rPr lang="en-US" sz="2300" dirty="0" err="1"/>
                  <a:t>если</a:t>
                </a:r>
                <a:r>
                  <a:rPr lang="en-US" sz="2300" dirty="0"/>
                  <a:t> </a:t>
                </a:r>
                <a14:m>
                  <m:oMath xmlns:m="http://schemas.openxmlformats.org/officeDocument/2006/math">
                    <m:r>
                      <a:rPr lang="en-US" sz="23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300" i="1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3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3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3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300" dirty="0"/>
                  <a:t> не имеет тренда.</a:t>
                </a:r>
                <a:endParaRPr lang="en-US" sz="2300" dirty="0"/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19" y="3459964"/>
                <a:ext cx="11533762" cy="2921505"/>
              </a:xfrm>
              <a:prstGeom prst="rect">
                <a:avLst/>
              </a:prstGeom>
              <a:blipFill>
                <a:blip r:embed="rId3"/>
                <a:stretch>
                  <a:fillRect l="-793" t="-209" b="-375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43757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Лаговая форма ARIMA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9" y="905436"/>
                <a:ext cx="11593046" cy="5853952"/>
              </a:xfrm>
            </p:spPr>
            <p:txBody>
              <a:bodyPr>
                <a:normAutofit fontScale="55000" lnSpcReduction="20000"/>
              </a:bodyPr>
              <a:lstStyle/>
              <a:p>
                <a:pPr algn="l" rtl="0"/>
                <a:r>
                  <a:rPr lang="en-US" sz="2600" dirty="0"/>
                  <a:t> В некоторых случаях вы можете встретить </a:t>
                </a:r>
                <a:r>
                  <a:rPr lang="en-US" sz="2600" dirty="0" err="1"/>
                  <a:t>следующие</a:t>
                </a:r>
                <a:r>
                  <a:rPr lang="en-US" sz="2600" dirty="0"/>
                  <a:t> </a:t>
                </a:r>
                <a:r>
                  <a:rPr lang="en-US" sz="2600" dirty="0" err="1"/>
                  <a:t>формы</a:t>
                </a:r>
                <a:r>
                  <a:rPr lang="ru-RU" sz="2600" dirty="0"/>
                  <a:t> записи</a:t>
                </a:r>
                <a:r>
                  <a:rPr lang="en-US" sz="2600" dirty="0"/>
                  <a:t> ARIMA</a:t>
                </a:r>
              </a:p>
              <a:p>
                <a:pPr marL="0" indent="0" algn="l" rtl="0">
                  <a:buNone/>
                </a:pPr>
                <a:r>
                  <a:rPr lang="en-US" sz="2600" dirty="0"/>
                  <a:t>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sz="26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(1):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(2.1):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(2.2):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sz="2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(3):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 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  <m:e/>
                        </m:mr>
                        <m:m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(4):</m:t>
                            </m:r>
                          </m:e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p>
                              <m:sSup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𝛥</m:t>
                                </m:r>
                              </m:e>
                              <m:sup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𝐿</m:t>
                            </m:r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sz="26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sz="26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</m:mr>
                        <m:mr>
                          <m:e/>
                          <m:e/>
                        </m:mr>
                      </m:m>
                    </m:oMath>
                  </m:oMathPara>
                </a14:m>
                <a:endParaRPr lang="en-US" sz="2600" dirty="0"/>
              </a:p>
              <a:p>
                <a:pPr algn="l" rtl="0"/>
                <a:r>
                  <a:rPr lang="ru-RU" sz="2600" dirty="0"/>
                  <a:t>где</a:t>
                </a:r>
                <a:r>
                  <a:rPr lang="en-US" sz="2600" dirty="0"/>
                  <a:t>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sz="2600" dirty="0"/>
                  <a:t> некоторая дополнительная детерминированная константа или медленное изменение почти детерминированного тренда и </a:t>
                </a:r>
                <a14:m>
                  <m:oMath xmlns:m="http://schemas.openxmlformats.org/officeDocument/2006/math">
                    <m:r>
                      <a:rPr lang="en-US" sz="2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sz="26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600" dirty="0"/>
                  <a:t> - детерминированный линейный тренд;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это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𝐴𝑅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оператор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)=1−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dirty="0"/>
              </a:p>
              <a:p>
                <a:pPr marL="0" indent="0" algn="ctr" rtl="0">
                  <a:buNone/>
                </a:pPr>
                <a:r>
                  <a:rPr lang="en-US" dirty="0"/>
                  <a:t>а также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</m:d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это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𝑀𝐴</m:t>
                      </m:r>
                      <m:r>
                        <a:rPr lang="ru-RU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ru-RU" i="1">
                          <a:latin typeface="Cambria Math" panose="02040503050406030204" pitchFamily="18" charset="0"/>
                        </a:rPr>
                        <m:t>оператор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: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)=1+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𝑞</m:t>
                          </m:r>
                        </m:sup>
                        <m:e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en-US" dirty="0"/>
              </a:p>
              <a:p>
                <a:pPr algn="l" rtl="0"/>
                <a:r>
                  <a:rPr lang="ru-RU" dirty="0"/>
                  <a:t>О</a:t>
                </a:r>
                <a:r>
                  <a:rPr lang="en-US" dirty="0" err="1"/>
                  <a:t>братите</a:t>
                </a:r>
                <a:r>
                  <a:rPr lang="en-US" dirty="0"/>
                  <a:t> внимание, если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постоянна - ее можно исключить вычитанием среднего значения.</a:t>
                </a:r>
              </a:p>
              <a:p>
                <a:pPr algn="l" rtl="0"/>
                <a:endParaRPr lang="en-US" sz="2600" dirty="0"/>
              </a:p>
              <a:p>
                <a:pPr algn="l" rtl="0"/>
                <a:endParaRPr lang="en-US" sz="2600" dirty="0"/>
              </a:p>
              <a:p>
                <a:pPr algn="l" rtl="0"/>
                <a:endParaRPr lang="en-US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9" y="905436"/>
                <a:ext cx="11593046" cy="5853952"/>
              </a:xfrm>
              <a:blipFill>
                <a:blip r:embed="rId2"/>
                <a:stretch>
                  <a:fillRect l="-158" t="-1146" r="-1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7141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37D1D9-176E-4DAF-80F0-AF1A911DC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2844" y="269717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ru-RU" sz="4000" b="1" dirty="0"/>
              <a:t>Модель сезонной и</a:t>
            </a:r>
            <a:r>
              <a:rPr lang="en-US" sz="4000" b="1" dirty="0" err="1"/>
              <a:t>нтегрированно</a:t>
            </a:r>
            <a:r>
              <a:rPr lang="ru-RU" sz="4000" b="1" dirty="0"/>
              <a:t>й </a:t>
            </a:r>
            <a:r>
              <a:rPr lang="ru-RU" b="1" dirty="0"/>
              <a:t>авторегрессии </a:t>
            </a:r>
            <a:r>
              <a:rPr lang="ru-RU" sz="4000" b="1" dirty="0" smtClean="0"/>
              <a:t> </a:t>
            </a:r>
            <a:r>
              <a:rPr lang="ru-RU" sz="4000" b="1" dirty="0"/>
              <a:t>-</a:t>
            </a:r>
            <a:r>
              <a:rPr lang="en-US" sz="4000" b="1" dirty="0"/>
              <a:t> </a:t>
            </a:r>
            <a:r>
              <a:rPr lang="en-US" sz="4000" b="1" dirty="0" err="1"/>
              <a:t>скользяще</a:t>
            </a:r>
            <a:r>
              <a:rPr lang="ru-RU" sz="4000" b="1" dirty="0" err="1"/>
              <a:t>го</a:t>
            </a:r>
            <a:r>
              <a:rPr lang="en-US" sz="4000" b="1" dirty="0"/>
              <a:t> </a:t>
            </a:r>
            <a:r>
              <a:rPr lang="en-US" sz="4000" b="1" dirty="0" err="1"/>
              <a:t>средне</a:t>
            </a:r>
            <a:r>
              <a:rPr lang="ru-RU" sz="4000" b="1" dirty="0" err="1"/>
              <a:t>го</a:t>
            </a:r>
            <a:r>
              <a:rPr lang="ru-RU" sz="4000" b="1" dirty="0"/>
              <a:t> </a:t>
            </a:r>
            <a:r>
              <a:rPr lang="en-US" sz="4000" b="1" dirty="0"/>
              <a:t> (SARIMA).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FEFCB88-4A88-433E-A1D2-1BDEEDA4F9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0050" y="1595280"/>
                <a:ext cx="10953750" cy="4351338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en-US" sz="2000" dirty="0"/>
                  <a:t>Если модель </a:t>
                </a:r>
                <a:r>
                  <a:rPr lang="en-US" sz="2000" dirty="0" err="1"/>
                  <a:t>имеет</a:t>
                </a:r>
                <a:r>
                  <a:rPr lang="en-US" sz="2000" dirty="0"/>
                  <a:t> </a:t>
                </a:r>
                <a:r>
                  <a:rPr lang="ru-RU" sz="2000" dirty="0"/>
                  <a:t>интенсивную</a:t>
                </a:r>
                <a:r>
                  <a:rPr lang="en-US" sz="2000" dirty="0"/>
                  <a:t> </a:t>
                </a:r>
                <a:r>
                  <a:rPr lang="en-US" sz="2000" dirty="0" err="1"/>
                  <a:t>сезонн</a:t>
                </a:r>
                <a:r>
                  <a:rPr lang="ru-RU" sz="2000" dirty="0" err="1"/>
                  <a:t>ую</a:t>
                </a:r>
                <a:r>
                  <a:rPr lang="ru-RU" sz="2000" dirty="0"/>
                  <a:t> составляющую</a:t>
                </a:r>
                <a:r>
                  <a:rPr lang="en-US" sz="2000" dirty="0"/>
                  <a:t>, то она может быть компенсирована так называемой сезонной производной, имеющей вид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p>
                      </m:sSubSup>
                      <m:r>
                        <a:rPr lang="en-US" sz="20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/>
                  <a:t> В операторной форме это можно представить как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000" i="0">
                              <a:latin typeface="Cambria Math" panose="020405030504060302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2000" i="1">
                          <a:latin typeface="Cambria Math" panose="02040503050406030204" pitchFamily="18" charset="0"/>
                        </a:rPr>
                        <m:t>=(1−</m:t>
                      </m:r>
                      <m:sSup>
                        <m:sSup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p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sup>
                      </m:sSup>
                      <m:r>
                        <a:rPr lang="en-US" sz="2000" i="1">
                          <a:latin typeface="Cambria Math" panose="020405030504060302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 err="1"/>
                  <a:t>Таким</a:t>
                </a:r>
                <a:r>
                  <a:rPr lang="en-US" sz="2000" dirty="0"/>
                  <a:t> образом, может быть введена так называемая сезонная авторегрессионная интегрированная скользящая средняя (SARIMA).</a:t>
                </a:r>
              </a:p>
              <a:p>
                <a:pPr algn="l" rtl="0"/>
                <a:endParaRPr lang="en-US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8FEFCB88-4A88-433E-A1D2-1BDEEDA4F9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0050" y="1595280"/>
                <a:ext cx="10953750" cy="4351338"/>
              </a:xfrm>
              <a:blipFill>
                <a:blip r:embed="rId2"/>
                <a:stretch>
                  <a:fillRect l="-501" t="-15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1311B5B-0E35-4E01-8ADD-47ECBCA4BBF9}"/>
              </a:ext>
            </a:extLst>
          </p:cNvPr>
          <p:cNvSpPr/>
          <p:nvPr/>
        </p:nvSpPr>
        <p:spPr>
          <a:xfrm>
            <a:off x="3307748" y="6123543"/>
            <a:ext cx="7975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rtl="0"/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Обратите внимание,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что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обе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производные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берутся </a:t>
            </a:r>
            <a:r>
              <a:rPr lang="en-US" b="1" dirty="0" err="1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только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</a:t>
            </a:r>
            <a:r>
              <a:rPr lang="ru-RU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по</a:t>
            </a: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 части AR.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8A6F65CA-047B-4ACE-8A90-AC49DBBE042E}"/>
                  </a:ext>
                </a:extLst>
              </p:cNvPr>
              <p:cNvSpPr/>
              <p:nvPr/>
            </p:nvSpPr>
            <p:spPr>
              <a:xfrm>
                <a:off x="1174376" y="3880941"/>
                <a:ext cx="9843247" cy="224260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Полное уравнение SARIMA можно представить в виде </a:t>
                </a:r>
              </a:p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m>
                        <m:mPr>
                          <m:plcHide m:val="on"/>
                          <m:mcs>
                            <m:mc>
                              <m:mcPr>
                                <m:count m:val="2"/>
                                <m:mcJc m:val="center"/>
                              </m:mcPr>
                            </m:mc>
                          </m:mcs>
                          <m:ctrlP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mPr>
                        <m:mr>
                          <m:e/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𝑝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)(1−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𝑃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𝐴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𝑖𝑠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𝐿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𝑑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(1−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𝐷</m:t>
                                </m:r>
                              </m:sup>
                            </m:sSup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=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𝑐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+(1+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𝑞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)(1+</m:t>
                            </m:r>
                            <m:nary>
                              <m:naryPr>
                                <m:chr m:val="∑"/>
                                <m:limLoc m:val="undOvr"/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𝑄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𝐵</m:t>
                                    </m:r>
                                  </m:e>
                                  <m: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  <a:ea typeface="Cambria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nary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𝐿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𝑖𝑠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  <a:ea typeface="Cambria" panose="02040503050406030204" pitchFamily="18" charset="0"/>
                                <a:cs typeface="Times New Roman" panose="02020603050405020304" pitchFamily="18" charset="0"/>
                              </a:rPr>
                              <m:t>)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𝜀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  <a:cs typeface="Times New Roman" panose="020206030504050203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mr>
                        <m:mr>
                          <m:e/>
                          <m:e/>
                        </m:mr>
                      </m:m>
                    </m:oMath>
                  </m:oMathPara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или в более компактной форме как </a:t>
                </a:r>
              </a:p>
              <a:p>
                <a:pPr algn="l" rtl="0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𝜙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𝛷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p>
                        <m:s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p>
                      </m:sSup>
                      <m:sSubSup>
                        <m:sSub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m:rPr>
                              <m:sty m:val="p"/>
                            </m:rPr>
                            <a:rPr lang="en-US" i="0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Δ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𝐷</m:t>
                          </m:r>
                        </m:sup>
                      </m:sSubSup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𝜃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𝐿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𝛩</m:t>
                      </m:r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sSup>
                        <m:sSup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𝐿</m:t>
                          </m:r>
                        </m:e>
                        <m:sup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p>
                      </m:sSup>
                      <m:r>
                        <a:rPr lang="en-US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Прямоугольник 4">
                <a:extLst>
                  <a:ext uri="{FF2B5EF4-FFF2-40B4-BE49-F238E27FC236}">
                    <a16:creationId xmlns:a16="http://schemas.microsoft.com/office/drawing/2014/main" id="{8A6F65CA-047B-4ACE-8A90-AC49DBBE042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4376" y="3880941"/>
                <a:ext cx="9843247" cy="2242602"/>
              </a:xfrm>
              <a:prstGeom prst="rect">
                <a:avLst/>
              </a:prstGeom>
              <a:blipFill>
                <a:blip r:embed="rId3"/>
                <a:stretch>
                  <a:fillRect l="-558" t="-1902" b="-13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28330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Пример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837895" cy="2523564"/>
              </a:xfrm>
            </p:spPr>
            <p:txBody>
              <a:bodyPr>
                <a:normAutofit/>
              </a:bodyPr>
              <a:lstStyle/>
              <a:p>
                <a:pPr algn="l" rtl="0"/>
                <a:r>
                  <a:rPr lang="ru-RU" sz="2000" dirty="0"/>
                  <a:t>Порядок </a:t>
                </a:r>
                <a:r>
                  <a:rPr lang="en-US" sz="2000" dirty="0"/>
                  <a:t>SARIMA </a:t>
                </a:r>
                <a:r>
                  <a:rPr lang="en-US" sz="2000" dirty="0" err="1"/>
                  <a:t>часто</a:t>
                </a:r>
                <a:r>
                  <a:rPr lang="en-US" sz="2000" dirty="0"/>
                  <a:t> </a:t>
                </a:r>
                <a:r>
                  <a:rPr lang="ru-RU" sz="2000" dirty="0"/>
                  <a:t>записывается</a:t>
                </a:r>
                <a:r>
                  <a:rPr lang="en-US" sz="2000" dirty="0"/>
                  <a:t> в форме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𝑆𝐴𝑅𝐼𝑀𝐴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/>
                  <a:t>или </a:t>
                </a:r>
              </a:p>
              <a:p>
                <a:pPr marL="0" indent="0" algn="l" rtl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𝑆𝐴𝑅𝐼𝑀𝐴</m:t>
                      </m:r>
                      <m:d>
                        <m:dPr>
                          <m:ctrlPr>
                            <a:rPr lang="en-US" sz="20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000" i="1" dirty="0" err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000" i="1" dirty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0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000" dirty="0"/>
              </a:p>
              <a:p>
                <a:pPr algn="l" rtl="0"/>
                <a:r>
                  <a:rPr lang="en-US" sz="2000" dirty="0"/>
                  <a:t> </a:t>
                </a:r>
                <a:r>
                  <a:rPr lang="ru-RU" sz="2000" dirty="0"/>
                  <a:t>где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это сезонный период.</a:t>
                </a:r>
              </a:p>
              <a:p>
                <a:pPr algn="l" rtl="0"/>
                <a:r>
                  <a:rPr lang="en-US" sz="2000" dirty="0"/>
                  <a:t> Пример для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𝑆𝐴𝑅𝐼𝑀𝐴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 (1,1,1)×(1,1,1)4</m:t>
                    </m:r>
                  </m:oMath>
                </a14:m>
                <a:endParaRPr lang="en-US" sz="2000" dirty="0"/>
              </a:p>
              <a:p>
                <a:pPr algn="l" rtl="0"/>
                <a:endParaRPr lang="en-US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837895" cy="2523564"/>
              </a:xfrm>
              <a:blipFill>
                <a:blip r:embed="rId2"/>
                <a:stretch>
                  <a:fillRect l="-463" t="-26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074" name="Picture 2" descr="image.png">
            <a:extLst>
              <a:ext uri="{FF2B5EF4-FFF2-40B4-BE49-F238E27FC236}">
                <a16:creationId xmlns:a16="http://schemas.microsoft.com/office/drawing/2014/main" id="{F514D45C-FE7E-425B-A902-7FE5582E44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6837" y="3230596"/>
            <a:ext cx="8677275" cy="23792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C7B2F236-A2AB-4128-BE60-759AAD2E6EFC}"/>
                  </a:ext>
                </a:extLst>
              </p:cNvPr>
              <p:cNvSpPr/>
              <p:nvPr/>
            </p:nvSpPr>
            <p:spPr>
              <a:xfrm>
                <a:off x="495300" y="5682442"/>
                <a:ext cx="10563225" cy="88267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Обратите внимание, что </a:t>
                </a:r>
                <a:r>
                  <a:rPr lang="en-US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здесь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пере</a:t>
                </a:r>
                <a:r>
                  <a:rPr lang="en-US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множение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оператор</a:t>
                </a:r>
                <a:r>
                  <a:rPr lang="ru-RU" b="1" dirty="0" err="1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ов</a:t>
                </a:r>
                <a:r>
                  <a:rPr lang="en-US" b="1" dirty="0">
                    <a:latin typeface="Cambria" panose="02040503050406030204" pitchFamily="18" charset="0"/>
                    <a:ea typeface="Cambria" panose="02040503050406030204" pitchFamily="18" charset="0"/>
                    <a:cs typeface="Times New Roman" panose="02020603050405020304" pitchFamily="18" charset="0"/>
                  </a:rPr>
                  <a:t> дифференцирования работает как</a:t>
                </a:r>
              </a:p>
              <a:p>
                <a:pPr algn="l" rtl="0">
                  <a:spcBef>
                    <a:spcPts val="900"/>
                  </a:spcBef>
                  <a:spcAft>
                    <a:spcPts val="9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𝑳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)(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𝑳</m:t>
                          </m:r>
                        </m:e>
                        <m:sup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sup>
                      </m:sSup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=(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)−(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𝟒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𝒏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b="1" i="1">
                              <a:latin typeface="Cambria Math" panose="02040503050406030204" pitchFamily="18" charset="0"/>
                              <a:ea typeface="Cambria" panose="02040503050406030204" pitchFamily="18" charset="0"/>
                              <a:cs typeface="Times New Roman" panose="02020603050405020304" pitchFamily="18" charset="0"/>
                            </a:rPr>
                            <m:t>𝟓</m:t>
                          </m:r>
                        </m:sub>
                      </m:sSub>
                      <m:r>
                        <a:rPr lang="en-US" b="1" i="1">
                          <a:latin typeface="Cambria Math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en-US" b="1" dirty="0">
                  <a:latin typeface="Cambria" panose="02040503050406030204" pitchFamily="18" charset="0"/>
                  <a:ea typeface="Cambria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Прямоугольник 3">
                <a:extLst>
                  <a:ext uri="{FF2B5EF4-FFF2-40B4-BE49-F238E27FC236}">
                    <a16:creationId xmlns:a16="http://schemas.microsoft.com/office/drawing/2014/main" id="{C7B2F236-A2AB-4128-BE60-759AAD2E6E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300" y="5682442"/>
                <a:ext cx="10563225" cy="882678"/>
              </a:xfrm>
              <a:prstGeom prst="rect">
                <a:avLst/>
              </a:prstGeom>
              <a:blipFill>
                <a:blip r:embed="rId4"/>
                <a:stretch>
                  <a:fillRect l="-462" t="-41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13645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Оценка коэффициента ARMA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</p:spPr>
            <p:txBody>
              <a:bodyPr>
                <a:normAutofit fontScale="77500" lnSpcReduction="20000"/>
              </a:bodyPr>
              <a:lstStyle/>
              <a:p>
                <a:pPr algn="l" rtl="0"/>
                <a:r>
                  <a:rPr lang="en-US" dirty="0" err="1"/>
                  <a:t>Наиболее</a:t>
                </a:r>
                <a:r>
                  <a:rPr lang="en-US" dirty="0"/>
                  <a:t> популярные из них следующие.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900" i="1">
                        <a:latin typeface="Cambria Math" panose="02040503050406030204" pitchFamily="18" charset="0"/>
                      </a:rPr>
                      <m:t>+2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900" dirty="0"/>
                  <a:t> Информационный критерий Акаике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𝐵𝐼𝐶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</m:t>
                    </m:r>
                    <m:sSup>
                      <m:sSup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sz="29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9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9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𝑙𝑛𝑁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sz="2900" dirty="0"/>
                  <a:t> Байесовский информационный критерий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𝐴𝐼𝐶𝑐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𝐴𝐼𝐶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+1)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+1)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900" dirty="0"/>
                  <a:t> модифицированный информационный критерий Акаике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900" i="1">
                        <a:latin typeface="Cambria Math" panose="02040503050406030204" pitchFamily="18" charset="0"/>
                      </a:rPr>
                      <m:t>𝐻𝑄𝐶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ctrlPr>
                          <a:rPr lang="en-US" sz="29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𝑅𝑆𝑆</m:t>
                        </m:r>
                      </m:num>
                      <m:den>
                        <m:r>
                          <a:rPr lang="en-US" sz="2900" i="1">
                            <a:latin typeface="Cambria Math" panose="02040503050406030204" pitchFamily="18" charset="0"/>
                          </a:rPr>
                          <m:t>𝑁</m:t>
                        </m:r>
                      </m:den>
                    </m:f>
                    <m:r>
                      <a:rPr lang="en-US" sz="2900" i="1">
                        <a:latin typeface="Cambria Math" panose="02040503050406030204" pitchFamily="18" charset="0"/>
                      </a:rPr>
                      <m:t>+2×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𝑙𝑛𝑁</m:t>
                    </m:r>
                    <m:r>
                      <a:rPr lang="en-US" sz="2900" i="1">
                        <a:latin typeface="Cambria Math" panose="02040503050406030204" pitchFamily="18" charset="0"/>
                      </a:rPr>
                      <m:t>),</m:t>
                    </m:r>
                  </m:oMath>
                </a14:m>
                <a:r>
                  <a:rPr lang="en-US" sz="2900" dirty="0"/>
                  <a:t> Информационный критерий Ханнана – Куинна</a:t>
                </a:r>
              </a:p>
              <a:p>
                <a:pPr algn="l" rtl="0"/>
                <a:r>
                  <a:rPr lang="en-US" dirty="0"/>
                  <a:t>Где </a:t>
                </a:r>
              </a:p>
              <a:p>
                <a:pPr algn="l" rtl="0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𝑅𝑆𝑆</m:t>
                        </m:r>
                      </m:num>
                      <m:den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d>
                      </m:den>
                    </m:f>
                  </m:oMath>
                </a14:m>
                <a:r>
                  <a:rPr lang="en-US" dirty="0"/>
                  <a:t> оценка правдоподобия модели; </a:t>
                </a:r>
              </a:p>
              <a:p>
                <a:pPr algn="l" rtl="0"/>
                <a:r>
                  <a:rPr lang="en-US" dirty="0"/>
                  <a:t>k - полное количество параметров: </a:t>
                </a:r>
              </a:p>
              <a:p>
                <a:pPr algn="l" rtl="0"/>
                <a:r>
                  <a:rPr lang="en-US" dirty="0"/>
                  <a:t>для ARMA без константы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в другом случае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; </a:t>
                </a:r>
              </a:p>
              <a:p>
                <a:pPr algn="l" rtl="0"/>
                <a:r>
                  <a:rPr lang="en-US" dirty="0"/>
                  <a:t>для ARIMA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; </a:t>
                </a:r>
              </a:p>
              <a:p>
                <a:pPr algn="l" rtl="0"/>
                <a:r>
                  <a:rPr lang="en-US" dirty="0"/>
                  <a:t>для SARIMA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dirty="0"/>
                  <a:t>. </a:t>
                </a:r>
              </a:p>
              <a:p>
                <a:r>
                  <a:rPr lang="en-US" dirty="0"/>
                  <a:t>Специфика этих критериев заключается в совместной оптимизации количества параметров и значения RSS. По этим критериям AIC является наиболее популярным, </a:t>
                </a:r>
                <a:r>
                  <a:rPr lang="en-US" dirty="0" err="1"/>
                  <a:t>но</a:t>
                </a:r>
                <a:r>
                  <a:rPr lang="ru-RU" dirty="0"/>
                  <a:t> п</a:t>
                </a:r>
                <a:r>
                  <a:rPr lang="en-US" dirty="0" err="1"/>
                  <a:t>редполагается</a:t>
                </a:r>
                <a:r>
                  <a:rPr lang="ru-RU" dirty="0"/>
                  <a:t> </a:t>
                </a:r>
                <a:r>
                  <a:rPr lang="en-US" dirty="0" err="1"/>
                  <a:t>AICc</a:t>
                </a:r>
                <a:r>
                  <a:rPr lang="en-US" dirty="0"/>
                  <a:t>, что обеспечит лучший результат. </a:t>
                </a:r>
              </a:p>
              <a:p>
                <a:pPr algn="l" rtl="0"/>
                <a:r>
                  <a:rPr lang="en-US" dirty="0"/>
                  <a:t>Критерии могут быть применены для автоматизации параметрического поиска.</a:t>
                </a:r>
              </a:p>
              <a:p>
                <a:pPr algn="l" rtl="0">
                  <a:lnSpc>
                    <a:spcPct val="120000"/>
                  </a:lnSpc>
                  <a:spcBef>
                    <a:spcPts val="0"/>
                  </a:spcBef>
                </a:pPr>
                <a:endParaRPr lang="en-US" sz="16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40ACB7F2-07F5-4100-AF8D-CFA14F65E0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528" y="905436"/>
                <a:ext cx="11564472" cy="5876364"/>
              </a:xfrm>
              <a:blipFill>
                <a:blip r:embed="rId2"/>
                <a:stretch>
                  <a:fillRect l="-580" t="-2178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258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9" y="905435"/>
            <a:ext cx="11489752" cy="5665693"/>
          </a:xfrm>
        </p:spPr>
        <p:txBody>
          <a:bodyPr>
            <a:noAutofit/>
          </a:bodyPr>
          <a:lstStyle/>
          <a:p>
            <a:pPr marL="0" lv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sz="2400" i="1" dirty="0">
                <a:solidFill>
                  <a:srgbClr val="000000"/>
                </a:solidFill>
              </a:rPr>
              <a:t>Правила отбора </a:t>
            </a:r>
            <a:r>
              <a:rPr lang="en-US" altLang="en-US" sz="2400" i="1" dirty="0" err="1">
                <a:solidFill>
                  <a:srgbClr val="000000"/>
                </a:solidFill>
              </a:rPr>
              <a:t>исходных</a:t>
            </a:r>
            <a:r>
              <a:rPr lang="en-US" altLang="en-US" sz="2400" i="1" dirty="0">
                <a:solidFill>
                  <a:srgbClr val="000000"/>
                </a:solidFill>
              </a:rPr>
              <a:t> </a:t>
            </a:r>
            <a:r>
              <a:rPr lang="ru-RU" altLang="en-US" sz="2400" i="1" dirty="0">
                <a:solidFill>
                  <a:srgbClr val="000000"/>
                </a:solidFill>
              </a:rPr>
              <a:t>значений порядка</a:t>
            </a:r>
            <a:endParaRPr lang="en-US" altLang="en-US" sz="2400" dirty="0"/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/>
            </a:pPr>
            <a:r>
              <a:rPr lang="en-US" altLang="en-US" sz="2400" b="1" dirty="0">
                <a:solidFill>
                  <a:srgbClr val="000000"/>
                </a:solidFill>
              </a:rPr>
              <a:t>Правильный </a:t>
            </a:r>
            <a:r>
              <a:rPr lang="en-US" altLang="en-US" sz="2400" b="1" dirty="0" err="1">
                <a:solidFill>
                  <a:srgbClr val="000000"/>
                </a:solidFill>
              </a:rPr>
              <a:t>порядок</a:t>
            </a:r>
            <a:r>
              <a:rPr lang="en-US" altLang="en-US" sz="2400" b="1" dirty="0">
                <a:solidFill>
                  <a:srgbClr val="000000"/>
                </a:solidFill>
              </a:rPr>
              <a:t> </a:t>
            </a:r>
            <a:r>
              <a:rPr lang="en-US" altLang="en-US" sz="2400" dirty="0">
                <a:solidFill>
                  <a:srgbClr val="000000"/>
                </a:solidFill>
              </a:rPr>
              <a:t>𝑑</a:t>
            </a:r>
            <a:r>
              <a:rPr lang="en-US" altLang="en-US" sz="2400" b="1" dirty="0">
                <a:solidFill>
                  <a:srgbClr val="000000"/>
                </a:solidFill>
              </a:rPr>
              <a:t> </a:t>
            </a:r>
            <a:r>
              <a:rPr lang="en-US" altLang="en-US" sz="2400" dirty="0">
                <a:solidFill>
                  <a:srgbClr val="000000"/>
                </a:solidFill>
              </a:rPr>
              <a:t>это </a:t>
            </a:r>
            <a:r>
              <a:rPr lang="en-US" altLang="en-US" sz="2400" dirty="0" err="1">
                <a:solidFill>
                  <a:srgbClr val="000000"/>
                </a:solidFill>
              </a:rPr>
              <a:t>порядок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</a:rPr>
              <a:t>разности</a:t>
            </a:r>
            <a:r>
              <a:rPr lang="ru-RU" altLang="en-US" sz="2400" dirty="0">
                <a:solidFill>
                  <a:srgbClr val="000000"/>
                </a:solidFill>
              </a:rPr>
              <a:t>, который делает </a:t>
            </a:r>
            <a:r>
              <a:rPr lang="en-US" altLang="en-US" sz="2400" u="sng" dirty="0" err="1">
                <a:solidFill>
                  <a:srgbClr val="000000"/>
                </a:solidFill>
              </a:rPr>
              <a:t>временной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ряд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ru-RU" altLang="en-US" sz="2400" u="sng" dirty="0">
                <a:solidFill>
                  <a:srgbClr val="000000"/>
                </a:solidFill>
              </a:rPr>
              <a:t>максимально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шумоподобным</a:t>
            </a:r>
            <a:endParaRPr lang="en-US" altLang="en-US" sz="2400" dirty="0">
              <a:solidFill>
                <a:srgbClr val="000000"/>
              </a:solidFill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en-US" dirty="0">
                <a:solidFill>
                  <a:srgbClr val="000000"/>
                </a:solidFill>
              </a:rPr>
              <a:t>т.е. </a:t>
            </a:r>
            <a:r>
              <a:rPr lang="ru-RU" altLang="en-US" dirty="0">
                <a:solidFill>
                  <a:srgbClr val="000000"/>
                </a:solidFill>
              </a:rPr>
              <a:t>значения </a:t>
            </a:r>
            <a:r>
              <a:rPr lang="en-US" altLang="en-US" dirty="0" err="1">
                <a:solidFill>
                  <a:srgbClr val="000000"/>
                </a:solidFill>
              </a:rPr>
              <a:t>колеблется</a:t>
            </a:r>
            <a:r>
              <a:rPr lang="en-US" altLang="en-US" dirty="0">
                <a:solidFill>
                  <a:srgbClr val="000000"/>
                </a:solidFill>
              </a:rPr>
              <a:t> около четко определенного </a:t>
            </a:r>
            <a:r>
              <a:rPr lang="en-US" altLang="en-US" dirty="0" err="1">
                <a:solidFill>
                  <a:srgbClr val="000000"/>
                </a:solidFill>
              </a:rPr>
              <a:t>среднего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ru-RU" altLang="en-US" dirty="0">
                <a:solidFill>
                  <a:srgbClr val="000000"/>
                </a:solidFill>
              </a:rPr>
              <a:t/>
            </a:r>
            <a:br>
              <a:rPr lang="ru-RU" altLang="en-US" dirty="0">
                <a:solidFill>
                  <a:srgbClr val="000000"/>
                </a:solidFill>
              </a:rPr>
            </a:br>
            <a:r>
              <a:rPr lang="en-US" altLang="en-US" dirty="0">
                <a:solidFill>
                  <a:srgbClr val="000000"/>
                </a:solidFill>
              </a:rPr>
              <a:t>и</a:t>
            </a:r>
            <a:r>
              <a:rPr lang="ru-RU" altLang="en-US" dirty="0">
                <a:solidFill>
                  <a:srgbClr val="000000"/>
                </a:solidFill>
              </a:rPr>
              <a:t> имеют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 err="1">
                <a:solidFill>
                  <a:srgbClr val="000000"/>
                </a:solidFill>
              </a:rPr>
              <a:t>почти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 err="1">
                <a:solidFill>
                  <a:srgbClr val="000000"/>
                </a:solidFill>
              </a:rPr>
              <a:t>постоянн</a:t>
            </a:r>
            <a:r>
              <a:rPr lang="ru-RU" altLang="en-US" dirty="0" err="1">
                <a:solidFill>
                  <a:srgbClr val="000000"/>
                </a:solidFill>
              </a:rPr>
              <a:t>ый</a:t>
            </a:r>
            <a:r>
              <a:rPr lang="en-US" altLang="en-US" dirty="0">
                <a:solidFill>
                  <a:srgbClr val="000000"/>
                </a:solidFill>
              </a:rPr>
              <a:t> </a:t>
            </a:r>
            <a:r>
              <a:rPr lang="en-US" altLang="en-US" dirty="0" err="1">
                <a:solidFill>
                  <a:srgbClr val="000000"/>
                </a:solidFill>
              </a:rPr>
              <a:t>разброс</a:t>
            </a:r>
            <a:r>
              <a:rPr lang="en-US" altLang="en-US" dirty="0">
                <a:solidFill>
                  <a:srgbClr val="000000"/>
                </a:solidFill>
              </a:rPr>
              <a:t>, </a:t>
            </a:r>
          </a:p>
          <a:p>
            <a:pPr marL="0" lvl="0" indent="0" algn="l" rtl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Используйте</a:t>
            </a:r>
            <a:r>
              <a:rPr lang="en-US" altLang="en-US" sz="2400" u="sng" dirty="0">
                <a:solidFill>
                  <a:srgbClr val="000000"/>
                </a:solidFill>
              </a:rPr>
              <a:t> сезонную производную только в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случае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сильно</a:t>
            </a:r>
            <a:r>
              <a:rPr lang="ru-RU" altLang="en-US" sz="2400" u="sng" dirty="0" err="1">
                <a:solidFill>
                  <a:srgbClr val="000000"/>
                </a:solidFill>
              </a:rPr>
              <a:t>го</a:t>
            </a:r>
            <a:r>
              <a:rPr lang="en-US" altLang="en-US" sz="2400" u="sng" dirty="0">
                <a:solidFill>
                  <a:srgbClr val="000000"/>
                </a:solidFill>
              </a:rPr>
              <a:t> </a:t>
            </a:r>
            <a:r>
              <a:rPr lang="en-US" altLang="en-US" sz="2400" u="sng" dirty="0" err="1">
                <a:solidFill>
                  <a:srgbClr val="000000"/>
                </a:solidFill>
              </a:rPr>
              <a:t>сезонно</a:t>
            </a:r>
            <a:r>
              <a:rPr lang="ru-RU" altLang="en-US" sz="2400" u="sng" dirty="0" err="1">
                <a:solidFill>
                  <a:srgbClr val="000000"/>
                </a:solidFill>
              </a:rPr>
              <a:t>го</a:t>
            </a:r>
            <a:r>
              <a:rPr lang="ru-RU" altLang="en-US" sz="2400" u="sng" dirty="0">
                <a:solidFill>
                  <a:srgbClr val="000000"/>
                </a:solidFill>
              </a:rPr>
              <a:t> влияния</a:t>
            </a:r>
            <a:r>
              <a:rPr lang="en-US" altLang="en-US" sz="2400" u="sng" dirty="0">
                <a:solidFill>
                  <a:srgbClr val="000000"/>
                </a:solidFill>
              </a:rPr>
              <a:t>.</a:t>
            </a:r>
            <a:endParaRPr lang="ru-RU" altLang="en-US" sz="2400" u="sng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400" dirty="0">
                <a:solidFill>
                  <a:srgbClr val="000000"/>
                </a:solidFill>
              </a:rPr>
              <a:t> Следует проверить продифференцированный ряд на </a:t>
            </a:r>
            <a:r>
              <a:rPr lang="en-US" altLang="en-US" sz="2400" dirty="0" err="1">
                <a:solidFill>
                  <a:srgbClr val="000000"/>
                </a:solidFill>
              </a:rPr>
              <a:t>стационарность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</a:rPr>
              <a:t>по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en-US" altLang="en-US" sz="2400" dirty="0" err="1">
                <a:solidFill>
                  <a:srgbClr val="000000"/>
                </a:solidFill>
              </a:rPr>
              <a:t>критериям</a:t>
            </a:r>
            <a:r>
              <a:rPr lang="en-US" altLang="en-US" sz="2400" dirty="0">
                <a:solidFill>
                  <a:srgbClr val="000000"/>
                </a:solidFill>
              </a:rPr>
              <a:t>, </a:t>
            </a:r>
            <a:r>
              <a:rPr lang="en-US" altLang="en-US" sz="2400" dirty="0" err="1">
                <a:solidFill>
                  <a:srgbClr val="000000"/>
                </a:solidFill>
              </a:rPr>
              <a:t>указанным</a:t>
            </a:r>
            <a:r>
              <a:rPr lang="en-US" altLang="en-US" sz="2400" dirty="0">
                <a:solidFill>
                  <a:srgbClr val="000000"/>
                </a:solidFill>
              </a:rPr>
              <a:t> </a:t>
            </a:r>
            <a:r>
              <a:rPr lang="ru-RU" altLang="en-US" sz="2400" dirty="0">
                <a:solidFill>
                  <a:srgbClr val="000000"/>
                </a:solidFill>
              </a:rPr>
              <a:t>ранее</a:t>
            </a:r>
            <a:r>
              <a:rPr lang="en-US" altLang="en-US" sz="2400" dirty="0">
                <a:solidFill>
                  <a:srgbClr val="000000"/>
                </a:solidFill>
              </a:rPr>
              <a:t>.</a:t>
            </a:r>
            <a:endParaRPr lang="ru-RU" altLang="en-US" sz="2400" dirty="0">
              <a:solidFill>
                <a:srgbClr val="000000"/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AutoNum type="arabicPeriod" startAt="2"/>
            </a:pPr>
            <a:r>
              <a:rPr lang="ru-RU" altLang="en-US" sz="2400" u="sng" dirty="0">
                <a:solidFill>
                  <a:srgbClr val="000000"/>
                </a:solidFill>
              </a:rPr>
              <a:t>Выбираем порядки моделей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8871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5"/>
            <a:ext cx="11837895" cy="5665693"/>
          </a:xfrm>
        </p:spPr>
        <p:txBody>
          <a:bodyPr>
            <a:noAutofit/>
          </a:bodyPr>
          <a:lstStyle/>
          <a:p>
            <a:pPr marL="0" lvl="0" indent="0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lang="ru-RU" altLang="en-US" sz="2200" dirty="0">
                <a:solidFill>
                  <a:srgbClr val="000000"/>
                </a:solidFill>
              </a:rPr>
              <a:t>После дифференцирования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рассмотри</a:t>
            </a:r>
            <a:r>
              <a:rPr lang="ru-RU" altLang="en-US" sz="2200" dirty="0">
                <a:solidFill>
                  <a:srgbClr val="000000"/>
                </a:solidFill>
              </a:rPr>
              <a:t>те</a:t>
            </a:r>
            <a:r>
              <a:rPr lang="en-US" altLang="en-US" sz="2200" dirty="0">
                <a:solidFill>
                  <a:srgbClr val="000000"/>
                </a:solidFill>
              </a:rPr>
              <a:t> ACF и PACF.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Количество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</a:rPr>
              <a:t>AR </a:t>
            </a:r>
            <a:r>
              <a:rPr lang="ru-RU" altLang="en-US" sz="2200" b="1" dirty="0" smtClean="0">
                <a:solidFill>
                  <a:srgbClr val="000000"/>
                </a:solidFill>
              </a:rPr>
              <a:t>слагаемых </a:t>
            </a:r>
            <a:r>
              <a:rPr lang="en-US" altLang="en-US" sz="2200" dirty="0" err="1">
                <a:solidFill>
                  <a:srgbClr val="000000"/>
                </a:solidFill>
              </a:rPr>
              <a:t>определяется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как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последн</a:t>
            </a:r>
            <a:r>
              <a:rPr lang="ru-RU" altLang="en-US" sz="2200" u="sng" dirty="0" err="1">
                <a:solidFill>
                  <a:srgbClr val="000000"/>
                </a:solidFill>
              </a:rPr>
              <a:t>ий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лаг</a:t>
            </a:r>
            <a:r>
              <a:rPr lang="en-US" altLang="en-US" sz="2200" u="sng" dirty="0">
                <a:solidFill>
                  <a:srgbClr val="000000"/>
                </a:solidFill>
              </a:rPr>
              <a:t> PACF перед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быстрым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спадом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/>
            </a:r>
            <a:br>
              <a:rPr lang="ru-RU" altLang="en-US" sz="2200" dirty="0">
                <a:solidFill>
                  <a:srgbClr val="000000"/>
                </a:solidFill>
              </a:rPr>
            </a:br>
            <a:r>
              <a:rPr lang="ru-RU" altLang="en-US" sz="2200" dirty="0">
                <a:solidFill>
                  <a:srgbClr val="000000"/>
                </a:solidFill>
              </a:rPr>
              <a:t>(</a:t>
            </a:r>
            <a:r>
              <a:rPr lang="en-US" altLang="en-US" sz="2200" dirty="0" err="1">
                <a:solidFill>
                  <a:srgbClr val="000000"/>
                </a:solidFill>
              </a:rPr>
              <a:t>от</a:t>
            </a:r>
            <a:r>
              <a:rPr lang="en-US" altLang="en-US" sz="2200" dirty="0">
                <a:solidFill>
                  <a:srgbClr val="000000"/>
                </a:solidFill>
              </a:rPr>
              <a:t> положительных значений </a:t>
            </a:r>
            <a:r>
              <a:rPr lang="en-US" altLang="en-US" sz="2200" dirty="0" err="1">
                <a:solidFill>
                  <a:srgbClr val="000000"/>
                </a:solidFill>
              </a:rPr>
              <a:t>до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нуля</a:t>
            </a:r>
            <a:r>
              <a:rPr lang="ru-RU" altLang="en-US" sz="2200" dirty="0">
                <a:solidFill>
                  <a:srgbClr val="000000"/>
                </a:solidFill>
              </a:rPr>
              <a:t>)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Количество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</a:rPr>
              <a:t>MA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b="1" dirty="0" smtClean="0">
                <a:solidFill>
                  <a:srgbClr val="000000"/>
                </a:solidFill>
              </a:rPr>
              <a:t>слагаемых </a:t>
            </a:r>
            <a:r>
              <a:rPr lang="en-US" altLang="en-US" sz="2200" dirty="0" err="1">
                <a:solidFill>
                  <a:srgbClr val="000000"/>
                </a:solidFill>
              </a:rPr>
              <a:t>определяется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как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последн</a:t>
            </a:r>
            <a:r>
              <a:rPr lang="ru-RU" altLang="en-US" sz="2200" u="sng" dirty="0" err="1">
                <a:solidFill>
                  <a:srgbClr val="000000"/>
                </a:solidFill>
              </a:rPr>
              <a:t>ий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лаг</a:t>
            </a:r>
            <a:r>
              <a:rPr lang="en-US" altLang="en-US" sz="2200" u="sng" dirty="0">
                <a:solidFill>
                  <a:srgbClr val="000000"/>
                </a:solidFill>
              </a:rPr>
              <a:t> ACF перед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быстрым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ростом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/>
            </a:r>
            <a:br>
              <a:rPr lang="ru-RU" altLang="en-US" sz="2200" dirty="0">
                <a:solidFill>
                  <a:srgbClr val="000000"/>
                </a:solidFill>
              </a:rPr>
            </a:br>
            <a:r>
              <a:rPr lang="ru-RU" altLang="en-US" sz="2200" dirty="0">
                <a:solidFill>
                  <a:srgbClr val="000000"/>
                </a:solidFill>
              </a:rPr>
              <a:t>(</a:t>
            </a:r>
            <a:r>
              <a:rPr lang="en-US" altLang="en-US" sz="2200" dirty="0" err="1">
                <a:solidFill>
                  <a:srgbClr val="000000"/>
                </a:solidFill>
              </a:rPr>
              <a:t>от</a:t>
            </a:r>
            <a:r>
              <a:rPr lang="en-US" altLang="en-US" sz="2200" dirty="0">
                <a:solidFill>
                  <a:srgbClr val="000000"/>
                </a:solidFill>
              </a:rPr>
              <a:t> отрицательных значений </a:t>
            </a:r>
            <a:r>
              <a:rPr lang="en-US" altLang="en-US" sz="2200" dirty="0" err="1">
                <a:solidFill>
                  <a:srgbClr val="000000"/>
                </a:solidFill>
              </a:rPr>
              <a:t>до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нуля</a:t>
            </a:r>
            <a:r>
              <a:rPr lang="ru-RU" altLang="en-US" sz="2200" dirty="0">
                <a:solidFill>
                  <a:srgbClr val="000000"/>
                </a:solidFill>
              </a:rPr>
              <a:t>)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Добавить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b="1" dirty="0" smtClean="0">
                <a:solidFill>
                  <a:srgbClr val="000000"/>
                </a:solidFill>
              </a:rPr>
              <a:t>слагаемое</a:t>
            </a:r>
            <a:r>
              <a:rPr lang="en-US" altLang="en-US" sz="2200" b="1" dirty="0" smtClean="0">
                <a:solidFill>
                  <a:srgbClr val="000000"/>
                </a:solidFill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</a:rPr>
              <a:t>SAR</a:t>
            </a:r>
            <a:r>
              <a:rPr lang="en-US" altLang="en-US" sz="2200" dirty="0">
                <a:solidFill>
                  <a:srgbClr val="000000"/>
                </a:solidFill>
              </a:rPr>
              <a:t>, </a:t>
            </a:r>
            <a:r>
              <a:rPr lang="en-US" altLang="en-US" sz="2200" u="sng" dirty="0">
                <a:solidFill>
                  <a:srgbClr val="000000"/>
                </a:solidFill>
              </a:rPr>
              <a:t>Если ACF периодически положительный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rgbClr val="000000"/>
                </a:solidFill>
              </a:rPr>
              <a:t>Также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эт</a:t>
            </a:r>
            <a:r>
              <a:rPr lang="ru-RU" altLang="en-US" sz="2200" dirty="0">
                <a:solidFill>
                  <a:srgbClr val="000000"/>
                </a:solidFill>
              </a:rPr>
              <a:t>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>можно оценить если </a:t>
            </a:r>
            <a:r>
              <a:rPr lang="en-US" altLang="en-US" sz="2200" dirty="0">
                <a:solidFill>
                  <a:srgbClr val="000000"/>
                </a:solidFill>
              </a:rPr>
              <a:t>PACF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периодически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отрицателен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0000"/>
                </a:solidFill>
              </a:rPr>
              <a:t>Посмотрите на количество значительных лагов, которые </a:t>
            </a:r>
            <a:r>
              <a:rPr lang="en-US" altLang="en-US" sz="2200" dirty="0" err="1">
                <a:solidFill>
                  <a:srgbClr val="000000"/>
                </a:solidFill>
              </a:rPr>
              <a:t>кратны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период</a:t>
            </a:r>
            <a:r>
              <a:rPr lang="ru-RU" altLang="en-US" sz="2200" dirty="0">
                <a:solidFill>
                  <a:srgbClr val="000000"/>
                </a:solidFill>
              </a:rPr>
              <a:t>у</a:t>
            </a:r>
            <a:r>
              <a:rPr lang="en-US" altLang="en-US" sz="2200" dirty="0">
                <a:solidFill>
                  <a:srgbClr val="000000"/>
                </a:solidFill>
              </a:rPr>
              <a:t> сезона.</a:t>
            </a:r>
          </a:p>
          <a:p>
            <a:pPr lvl="3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0000"/>
                </a:solidFill>
              </a:rPr>
              <a:t>Например, если период равен 24, и мы видим, что 24-е и 48-е запаздывания являются значительными в PACF, это означает, что начальное значение P должно быть равно 2.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 err="1">
                <a:solidFill>
                  <a:srgbClr val="000000"/>
                </a:solidFill>
              </a:rPr>
              <a:t>Добавить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b="1" dirty="0" smtClean="0">
                <a:solidFill>
                  <a:srgbClr val="000000"/>
                </a:solidFill>
              </a:rPr>
              <a:t>слагаемое</a:t>
            </a:r>
            <a:r>
              <a:rPr lang="en-US" altLang="en-US" sz="2200" b="1" dirty="0" smtClean="0">
                <a:solidFill>
                  <a:srgbClr val="000000"/>
                </a:solidFill>
              </a:rPr>
              <a:t> </a:t>
            </a:r>
            <a:r>
              <a:rPr lang="en-US" altLang="en-US" sz="2200" b="1" dirty="0">
                <a:solidFill>
                  <a:srgbClr val="000000"/>
                </a:solidFill>
              </a:rPr>
              <a:t>SMA</a:t>
            </a:r>
            <a:r>
              <a:rPr lang="en-US" altLang="en-US" sz="2200" dirty="0">
                <a:solidFill>
                  <a:srgbClr val="000000"/>
                </a:solidFill>
              </a:rPr>
              <a:t>, </a:t>
            </a:r>
            <a:r>
              <a:rPr lang="en-US" altLang="en-US" sz="2200" u="sng" dirty="0">
                <a:solidFill>
                  <a:srgbClr val="000000"/>
                </a:solidFill>
              </a:rPr>
              <a:t>Если ACF периодически отрицательный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2200" dirty="0">
                <a:solidFill>
                  <a:srgbClr val="000000"/>
                </a:solidFill>
              </a:rPr>
              <a:t>Используйте те же правила для определения количества </a:t>
            </a:r>
            <a:r>
              <a:rPr lang="en-US" altLang="en-US" sz="2200" dirty="0" err="1">
                <a:solidFill>
                  <a:srgbClr val="000000"/>
                </a:solidFill>
              </a:rPr>
              <a:t>лага</a:t>
            </a:r>
            <a:r>
              <a:rPr lang="en-US" altLang="en-US" sz="2200" dirty="0">
                <a:solidFill>
                  <a:srgbClr val="000000"/>
                </a:solidFill>
              </a:rPr>
              <a:t> что </a:t>
            </a:r>
            <a:r>
              <a:rPr lang="en-US" altLang="en-US" sz="2200" dirty="0" err="1">
                <a:solidFill>
                  <a:srgbClr val="000000"/>
                </a:solidFill>
              </a:rPr>
              <a:t>касается</a:t>
            </a:r>
            <a:r>
              <a:rPr lang="en-US" altLang="en-US" sz="2200" dirty="0">
                <a:solidFill>
                  <a:srgbClr val="000000"/>
                </a:solidFill>
              </a:rPr>
              <a:t> SAR</a:t>
            </a:r>
            <a:endParaRPr lang="ru-RU" altLang="en-US" sz="2200" dirty="0">
              <a:solidFill>
                <a:srgbClr val="000000"/>
              </a:solidFill>
            </a:endParaRP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200" dirty="0">
                <a:solidFill>
                  <a:srgbClr val="000000"/>
                </a:solidFill>
              </a:rPr>
              <a:t>Также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 err="1">
                <a:solidFill>
                  <a:srgbClr val="000000"/>
                </a:solidFill>
              </a:rPr>
              <a:t>эт</a:t>
            </a:r>
            <a:r>
              <a:rPr lang="ru-RU" altLang="en-US" sz="2200" dirty="0">
                <a:solidFill>
                  <a:srgbClr val="000000"/>
                </a:solidFill>
              </a:rPr>
              <a:t>о</a:t>
            </a:r>
            <a:r>
              <a:rPr lang="en-US" altLang="en-US" sz="2200" dirty="0">
                <a:solidFill>
                  <a:srgbClr val="000000"/>
                </a:solidFill>
              </a:rPr>
              <a:t> </a:t>
            </a:r>
            <a:r>
              <a:rPr lang="ru-RU" altLang="en-US" sz="2200" dirty="0">
                <a:solidFill>
                  <a:srgbClr val="000000"/>
                </a:solidFill>
              </a:rPr>
              <a:t>можно оценить если </a:t>
            </a:r>
            <a:r>
              <a:rPr lang="en-US" altLang="en-US" sz="2200" dirty="0">
                <a:solidFill>
                  <a:srgbClr val="000000"/>
                </a:solidFill>
              </a:rPr>
              <a:t>PACF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u="sng" dirty="0" err="1">
                <a:solidFill>
                  <a:srgbClr val="000000"/>
                </a:solidFill>
              </a:rPr>
              <a:t>периодически</a:t>
            </a:r>
            <a:r>
              <a:rPr lang="en-US" altLang="en-US" sz="2200" u="sng" dirty="0">
                <a:solidFill>
                  <a:srgbClr val="000000"/>
                </a:solidFill>
              </a:rPr>
              <a:t> </a:t>
            </a:r>
            <a:r>
              <a:rPr lang="ru-RU" altLang="en-US" sz="2200" u="sng" dirty="0">
                <a:solidFill>
                  <a:srgbClr val="000000"/>
                </a:solidFill>
              </a:rPr>
              <a:t>положительный</a:t>
            </a:r>
            <a:r>
              <a:rPr lang="ru-RU" altLang="en-US" sz="2200" dirty="0">
                <a:solidFill>
                  <a:srgbClr val="000000"/>
                </a:solidFill>
              </a:rPr>
              <a:t> </a:t>
            </a:r>
            <a:r>
              <a:rPr lang="en-US" altLang="en-US" sz="2200" dirty="0">
                <a:solidFill>
                  <a:srgbClr val="000000"/>
                </a:solidFill>
              </a:rPr>
              <a:t>.</a:t>
            </a:r>
          </a:p>
          <a:p>
            <a:pPr lvl="2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altLang="en-US" sz="2200" dirty="0"/>
          </a:p>
          <a:p>
            <a:pPr algn="l" rtl="0"/>
            <a:endParaRPr lang="en-US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21992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Примечания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77154"/>
            <a:ext cx="11837895" cy="5665693"/>
          </a:xfrm>
        </p:spPr>
        <p:txBody>
          <a:bodyPr>
            <a:noAutofit/>
          </a:bodyPr>
          <a:lstStyle/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</a:t>
            </a:r>
            <a:r>
              <a:rPr lang="en-US" sz="2200" dirty="0" err="1"/>
              <a:t>ваш</a:t>
            </a:r>
            <a:r>
              <a:rPr lang="en-US" sz="2200" dirty="0"/>
              <a:t> </a:t>
            </a:r>
            <a:r>
              <a:rPr lang="ru-RU" sz="2200" dirty="0"/>
              <a:t>ряд</a:t>
            </a:r>
            <a:r>
              <a:rPr lang="en-US" sz="2200" dirty="0"/>
              <a:t> </a:t>
            </a:r>
            <a:r>
              <a:rPr lang="en-US" sz="2200" dirty="0" err="1"/>
              <a:t>немного</a:t>
            </a:r>
            <a:r>
              <a:rPr lang="en-US" sz="2200" dirty="0"/>
              <a:t> </a:t>
            </a:r>
            <a:r>
              <a:rPr lang="ru-RU" sz="2200" b="1" dirty="0" err="1"/>
              <a:t>недодифференцирован</a:t>
            </a:r>
            <a:r>
              <a:rPr lang="en-US" sz="2200" dirty="0"/>
              <a:t>, </a:t>
            </a:r>
            <a:r>
              <a:rPr lang="en-US" sz="2200" u="sng" dirty="0" err="1"/>
              <a:t>добавт</a:t>
            </a:r>
            <a:r>
              <a:rPr lang="ru-RU" sz="2200" u="sng" dirty="0"/>
              <a:t>е</a:t>
            </a:r>
            <a:r>
              <a:rPr lang="en-US" sz="2200" u="sng" dirty="0"/>
              <a:t> </a:t>
            </a:r>
            <a:r>
              <a:rPr lang="en-US" sz="2200" u="sng" dirty="0" err="1"/>
              <a:t>дополнительн</a:t>
            </a:r>
            <a:r>
              <a:rPr lang="ru-RU" sz="2200" u="sng" dirty="0" err="1"/>
              <a:t>ое</a:t>
            </a:r>
            <a:r>
              <a:rPr lang="ru-RU" sz="2200" u="sng" dirty="0"/>
              <a:t> </a:t>
            </a:r>
            <a:r>
              <a:rPr lang="ru-RU" sz="2200" u="sng" dirty="0" err="1"/>
              <a:t>слогаемое</a:t>
            </a:r>
            <a:r>
              <a:rPr lang="ru-RU" sz="2200" u="sng" dirty="0"/>
              <a:t> к</a:t>
            </a:r>
            <a:r>
              <a:rPr lang="en-US" sz="2200" u="sng" dirty="0"/>
              <a:t> AR</a:t>
            </a:r>
            <a:r>
              <a:rPr lang="en-US" sz="2200" dirty="0"/>
              <a:t>.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PACF </a:t>
            </a:r>
            <a:r>
              <a:rPr lang="en-US" sz="2200" dirty="0" err="1"/>
              <a:t>ряда</a:t>
            </a:r>
            <a:r>
              <a:rPr lang="en-US" sz="2200" dirty="0"/>
              <a:t> </a:t>
            </a:r>
            <a:r>
              <a:rPr lang="en-US" sz="2200" dirty="0" err="1"/>
              <a:t>показывает</a:t>
            </a:r>
            <a:r>
              <a:rPr lang="en-US" sz="2200" dirty="0"/>
              <a:t> </a:t>
            </a:r>
            <a:r>
              <a:rPr lang="en-US" sz="2200" dirty="0" err="1"/>
              <a:t>резк</a:t>
            </a:r>
            <a:r>
              <a:rPr lang="ru-RU" sz="2200" dirty="0" err="1"/>
              <a:t>ий</a:t>
            </a:r>
            <a:r>
              <a:rPr lang="en-US" sz="2200" dirty="0"/>
              <a:t> </a:t>
            </a:r>
            <a:r>
              <a:rPr lang="ru-RU" sz="2200" dirty="0"/>
              <a:t>спады</a:t>
            </a:r>
            <a:r>
              <a:rPr lang="en-US" sz="2200" dirty="0"/>
              <a:t> и /</a:t>
            </a:r>
            <a:r>
              <a:rPr lang="en-US" sz="2200" dirty="0" err="1"/>
              <a:t>или</a:t>
            </a:r>
            <a:r>
              <a:rPr lang="en-US" sz="2200" dirty="0"/>
              <a:t> </a:t>
            </a:r>
            <a:r>
              <a:rPr lang="en-US" sz="2200" dirty="0" err="1"/>
              <a:t>автокорреляция</a:t>
            </a:r>
            <a:r>
              <a:rPr lang="en-US" sz="2200" dirty="0"/>
              <a:t> лаг-1 </a:t>
            </a:r>
            <a:r>
              <a:rPr lang="en-US" sz="2200" dirty="0" err="1"/>
              <a:t>положительна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Задержка</a:t>
            </a:r>
            <a:r>
              <a:rPr lang="en-US" sz="2200" dirty="0"/>
              <a:t>, </a:t>
            </a:r>
            <a:r>
              <a:rPr lang="en-US" sz="2200" dirty="0" err="1"/>
              <a:t>при</a:t>
            </a:r>
            <a:r>
              <a:rPr lang="en-US" sz="2200" dirty="0"/>
              <a:t> </a:t>
            </a:r>
            <a:r>
              <a:rPr lang="en-US" sz="2200" dirty="0" err="1"/>
              <a:t>которой</a:t>
            </a:r>
            <a:r>
              <a:rPr lang="en-US" sz="2200" dirty="0"/>
              <a:t> PACF </a:t>
            </a:r>
            <a:r>
              <a:rPr lang="ru-RU" sz="2200" dirty="0"/>
              <a:t>спадает</a:t>
            </a:r>
            <a:r>
              <a:rPr lang="en-US" sz="2200" dirty="0"/>
              <a:t> - </a:t>
            </a:r>
            <a:r>
              <a:rPr lang="en-US" sz="2200" dirty="0" err="1"/>
              <a:t>это</a:t>
            </a:r>
            <a:r>
              <a:rPr lang="en-US" sz="2200" dirty="0"/>
              <a:t> </a:t>
            </a:r>
            <a:r>
              <a:rPr lang="ru-RU" sz="2200" dirty="0"/>
              <a:t>необходимое</a:t>
            </a:r>
            <a:r>
              <a:rPr lang="en-US" sz="2200" dirty="0"/>
              <a:t> </a:t>
            </a:r>
            <a:r>
              <a:rPr lang="en-US" sz="2200" dirty="0" err="1"/>
              <a:t>количество</a:t>
            </a:r>
            <a:r>
              <a:rPr lang="en-US" sz="2200" dirty="0"/>
              <a:t> </a:t>
            </a:r>
            <a:r>
              <a:rPr lang="en-US" sz="2200" dirty="0" err="1"/>
              <a:t>членов</a:t>
            </a:r>
            <a:r>
              <a:rPr lang="en-US" sz="2200" dirty="0"/>
              <a:t> AR.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</a:t>
            </a:r>
            <a:r>
              <a:rPr lang="en-US" sz="2200" dirty="0" err="1"/>
              <a:t>ваш</a:t>
            </a:r>
            <a:r>
              <a:rPr lang="en-US" sz="2200" dirty="0"/>
              <a:t> </a:t>
            </a:r>
            <a:r>
              <a:rPr lang="ru-RU" sz="2200" dirty="0"/>
              <a:t>ряд</a:t>
            </a:r>
            <a:r>
              <a:rPr lang="en-US" sz="2200" dirty="0"/>
              <a:t> </a:t>
            </a:r>
            <a:r>
              <a:rPr lang="en-US" sz="2200" dirty="0" err="1"/>
              <a:t>немного</a:t>
            </a:r>
            <a:r>
              <a:rPr lang="ru-RU" sz="2200" dirty="0"/>
              <a:t> </a:t>
            </a:r>
            <a:r>
              <a:rPr lang="ru-RU" sz="2200" b="1" dirty="0" err="1"/>
              <a:t>передифференцировн</a:t>
            </a:r>
            <a:r>
              <a:rPr lang="en-US" sz="2200" dirty="0"/>
              <a:t>,</a:t>
            </a:r>
            <a:r>
              <a:rPr lang="ru-RU" sz="2200" dirty="0"/>
              <a:t> </a:t>
            </a:r>
            <a:r>
              <a:rPr lang="en-US" sz="2200" u="sng" dirty="0" err="1"/>
              <a:t>добавт</a:t>
            </a:r>
            <a:r>
              <a:rPr lang="ru-RU" sz="2200" u="sng" dirty="0"/>
              <a:t>е</a:t>
            </a:r>
            <a:r>
              <a:rPr lang="en-US" sz="2200" u="sng" dirty="0"/>
              <a:t> </a:t>
            </a:r>
            <a:r>
              <a:rPr lang="en-US" sz="2200" u="sng" dirty="0" err="1"/>
              <a:t>дополнительн</a:t>
            </a:r>
            <a:r>
              <a:rPr lang="ru-RU" sz="2200" u="sng" dirty="0" err="1"/>
              <a:t>ое</a:t>
            </a:r>
            <a:r>
              <a:rPr lang="ru-RU" sz="2200" u="sng" dirty="0"/>
              <a:t> </a:t>
            </a:r>
            <a:r>
              <a:rPr lang="ru-RU" sz="2200" u="sng" dirty="0" err="1"/>
              <a:t>слогаемое</a:t>
            </a:r>
            <a:r>
              <a:rPr lang="ru-RU" sz="2200" u="sng" dirty="0"/>
              <a:t> к</a:t>
            </a:r>
            <a:r>
              <a:rPr lang="en-US" sz="2200" u="sng" dirty="0"/>
              <a:t> MA</a:t>
            </a:r>
            <a:r>
              <a:rPr lang="en-US" sz="2200" dirty="0"/>
              <a:t>.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Если</a:t>
            </a:r>
            <a:r>
              <a:rPr lang="en-US" sz="2200" dirty="0"/>
              <a:t> ACF </a:t>
            </a:r>
            <a:r>
              <a:rPr lang="en-US" sz="2200" dirty="0" err="1"/>
              <a:t>ряда</a:t>
            </a:r>
            <a:r>
              <a:rPr lang="en-US" sz="2200" dirty="0"/>
              <a:t> </a:t>
            </a:r>
            <a:r>
              <a:rPr lang="en-US" sz="2200" dirty="0" err="1"/>
              <a:t>показывает</a:t>
            </a:r>
            <a:r>
              <a:rPr lang="en-US" sz="2200" dirty="0"/>
              <a:t> </a:t>
            </a:r>
            <a:r>
              <a:rPr lang="en-US" sz="2200" dirty="0" err="1"/>
              <a:t>резкое</a:t>
            </a:r>
            <a:r>
              <a:rPr lang="en-US" sz="2200" dirty="0"/>
              <a:t> </a:t>
            </a:r>
            <a:r>
              <a:rPr lang="ru-RU" sz="2200" dirty="0"/>
              <a:t>падание</a:t>
            </a:r>
            <a:r>
              <a:rPr lang="en-US" sz="2200" dirty="0"/>
              <a:t> и/</a:t>
            </a:r>
            <a:r>
              <a:rPr lang="en-US" sz="2200" dirty="0" err="1"/>
              <a:t>или</a:t>
            </a:r>
            <a:r>
              <a:rPr lang="en-US" sz="2200" dirty="0"/>
              <a:t> </a:t>
            </a:r>
            <a:r>
              <a:rPr lang="en-US" sz="2200" dirty="0" err="1"/>
              <a:t>автокорреляция</a:t>
            </a:r>
            <a:r>
              <a:rPr lang="en-US" sz="2200" dirty="0"/>
              <a:t> лаг-1 </a:t>
            </a:r>
            <a:r>
              <a:rPr lang="en-US" sz="2200" dirty="0" err="1"/>
              <a:t>отрицательна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en-US" sz="2200" dirty="0" err="1"/>
              <a:t>Запаздывание</a:t>
            </a:r>
            <a:r>
              <a:rPr lang="en-US" sz="2200" dirty="0"/>
              <a:t>, </a:t>
            </a:r>
            <a:r>
              <a:rPr lang="en-US" sz="2200" dirty="0" err="1"/>
              <a:t>при</a:t>
            </a:r>
            <a:r>
              <a:rPr lang="en-US" sz="2200" dirty="0"/>
              <a:t> </a:t>
            </a:r>
            <a:r>
              <a:rPr lang="en-US" sz="2200" dirty="0" err="1"/>
              <a:t>котором</a:t>
            </a:r>
            <a:r>
              <a:rPr lang="en-US" sz="2200" dirty="0"/>
              <a:t> АКФ </a:t>
            </a:r>
            <a:r>
              <a:rPr lang="ru-RU" sz="2200" dirty="0"/>
              <a:t>спадает</a:t>
            </a:r>
            <a:r>
              <a:rPr lang="en-US" sz="2200" dirty="0"/>
              <a:t>, </a:t>
            </a:r>
            <a:r>
              <a:rPr lang="en-US" sz="2200" dirty="0" err="1"/>
              <a:t>является</a:t>
            </a:r>
            <a:r>
              <a:rPr lang="en-US" sz="2200" dirty="0"/>
              <a:t> </a:t>
            </a:r>
            <a:r>
              <a:rPr lang="en-US" sz="2200" dirty="0" err="1"/>
              <a:t>указанным</a:t>
            </a:r>
            <a:r>
              <a:rPr lang="en-US" sz="2200" dirty="0"/>
              <a:t> </a:t>
            </a:r>
            <a:r>
              <a:rPr lang="en-US" sz="2200" dirty="0" err="1"/>
              <a:t>количеством</a:t>
            </a:r>
            <a:r>
              <a:rPr lang="en-US" sz="2200" dirty="0"/>
              <a:t> </a:t>
            </a:r>
            <a:r>
              <a:rPr lang="ru-RU" sz="2200" dirty="0" err="1"/>
              <a:t>слогаемых</a:t>
            </a:r>
            <a:r>
              <a:rPr lang="ru-RU" sz="2200" dirty="0"/>
              <a:t> </a:t>
            </a:r>
            <a:r>
              <a:rPr lang="en-US" sz="2200" dirty="0"/>
              <a:t>MA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200" dirty="0"/>
              <a:t>Старайтесь избегать использования более одного или двух </a:t>
            </a:r>
            <a:r>
              <a:rPr lang="en-US" sz="2200" dirty="0" err="1"/>
              <a:t>сезонных</a:t>
            </a:r>
            <a:r>
              <a:rPr lang="en-US" sz="2200" dirty="0"/>
              <a:t> </a:t>
            </a:r>
            <a:r>
              <a:rPr lang="ru-RU" sz="2200" dirty="0" err="1"/>
              <a:t>слогамех</a:t>
            </a:r>
            <a:r>
              <a:rPr lang="en-US" sz="2200" dirty="0"/>
              <a:t> (SAR + SMA) в одной модели, так как это может привести к переобучению данных и / или проблемам в оценке.</a:t>
            </a:r>
          </a:p>
          <a:p>
            <a:pPr algn="l" rtl="0">
              <a:lnSpc>
                <a:spcPct val="120000"/>
              </a:lnSpc>
              <a:spcBef>
                <a:spcPts val="0"/>
              </a:spcBef>
            </a:pPr>
            <a:r>
              <a:rPr lang="en-US" sz="2200" dirty="0"/>
              <a:t>если в </a:t>
            </a:r>
            <a:r>
              <a:rPr lang="ru-RU" sz="2200" dirty="0"/>
              <a:t>ряде</a:t>
            </a:r>
            <a:r>
              <a:rPr lang="en-US" sz="2200" dirty="0"/>
              <a:t> есть </a:t>
            </a:r>
            <a:r>
              <a:rPr lang="en-US" sz="2200" b="1" dirty="0"/>
              <a:t>положительные значения ACF с </a:t>
            </a:r>
            <a:r>
              <a:rPr lang="en-US" sz="2200" b="1" dirty="0" err="1"/>
              <a:t>большим</a:t>
            </a:r>
            <a:r>
              <a:rPr lang="en-US" sz="2200" b="1" dirty="0"/>
              <a:t> </a:t>
            </a:r>
            <a:r>
              <a:rPr lang="en-US" sz="2200" b="1" dirty="0" err="1"/>
              <a:t>запаздыванием</a:t>
            </a:r>
            <a:r>
              <a:rPr lang="ru-RU" sz="2200" dirty="0"/>
              <a:t>, добавьте</a:t>
            </a:r>
            <a:r>
              <a:rPr lang="en-US" sz="2200" u="sng" dirty="0"/>
              <a:t> разностный порядок</a:t>
            </a:r>
            <a:r>
              <a:rPr lang="en-US" sz="2200" dirty="0"/>
              <a:t>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ru-RU" sz="2200" dirty="0"/>
              <a:t>Ч</a:t>
            </a:r>
            <a:r>
              <a:rPr lang="en-US" sz="2200" dirty="0" err="1"/>
              <a:t>асто</a:t>
            </a:r>
            <a:r>
              <a:rPr lang="en-US" sz="2200" dirty="0"/>
              <a:t> </a:t>
            </a:r>
            <a:r>
              <a:rPr lang="ru-RU" sz="2200" b="1" dirty="0"/>
              <a:t>о</a:t>
            </a:r>
            <a:r>
              <a:rPr lang="en-US" sz="2200" b="1" dirty="0" err="1"/>
              <a:t>птимальный</a:t>
            </a:r>
            <a:r>
              <a:rPr lang="en-US" sz="2200" b="1" dirty="0"/>
              <a:t> порядок дифференцирования </a:t>
            </a:r>
            <a:r>
              <a:rPr lang="en-US" sz="2200" dirty="0"/>
              <a:t>- </a:t>
            </a:r>
            <a:r>
              <a:rPr lang="en-US" sz="2200" dirty="0" err="1"/>
              <a:t>это</a:t>
            </a:r>
            <a:r>
              <a:rPr lang="en-US" sz="2200" dirty="0"/>
              <a:t> </a:t>
            </a:r>
            <a:r>
              <a:rPr lang="en-US" sz="2200" dirty="0" err="1"/>
              <a:t>тот</a:t>
            </a:r>
            <a:r>
              <a:rPr lang="en-US" sz="2200" dirty="0"/>
              <a:t> порядок разности, при котором дисперсия наименьшая (вы должны стараться избегать чрезмерного </a:t>
            </a:r>
            <a:r>
              <a:rPr lang="en-US" sz="2200" dirty="0" err="1"/>
              <a:t>дифференцирования</a:t>
            </a:r>
            <a:r>
              <a:rPr lang="en-US" sz="2200" dirty="0"/>
              <a:t>).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0906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B29E92-B795-4F44-A577-A4EBC753A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2028"/>
          </a:xfrm>
        </p:spPr>
        <p:txBody>
          <a:bodyPr>
            <a:normAutofit fontScale="90000"/>
          </a:bodyPr>
          <a:lstStyle/>
          <a:p>
            <a:pPr algn="l" rtl="0"/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Примечания</a:t>
            </a:r>
            <a:endParaRPr lang="en-US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0ACB7F2-07F5-4100-AF8D-CFA14F65E0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6528" y="905435"/>
            <a:ext cx="11837895" cy="5665693"/>
          </a:xfrm>
        </p:spPr>
        <p:txBody>
          <a:bodyPr>
            <a:noAutofit/>
          </a:bodyPr>
          <a:lstStyle/>
          <a:p>
            <a:pPr algn="l" rtl="0"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модель полная (AR и MA), член AR и член MA могут нейтрализовать эффекты друг друга. </a:t>
            </a:r>
            <a:endParaRPr lang="ru-RU" sz="2200" dirty="0"/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В этом случае </a:t>
            </a:r>
            <a:r>
              <a:rPr lang="en-US" sz="2200" dirty="0" err="1"/>
              <a:t>попробуйте</a:t>
            </a:r>
            <a:r>
              <a:rPr lang="en-US" sz="2200" dirty="0"/>
              <a:t> </a:t>
            </a:r>
            <a:r>
              <a:rPr lang="ru-RU" sz="2200" dirty="0"/>
              <a:t>уменьшить порядки модели</a:t>
            </a:r>
            <a:r>
              <a:rPr lang="en-US" sz="2200" dirty="0"/>
              <a:t>,</a:t>
            </a:r>
            <a:r>
              <a:rPr lang="ru-RU" sz="2200" dirty="0"/>
              <a:t> </a:t>
            </a:r>
            <a:r>
              <a:rPr lang="en-US" sz="2200" dirty="0" err="1"/>
              <a:t>особенно</a:t>
            </a:r>
            <a:r>
              <a:rPr lang="en-US" sz="2200" dirty="0"/>
              <a:t> если оценки параметров в исходной модели требуют более 10 итераций для схождения.</a:t>
            </a:r>
          </a:p>
          <a:p>
            <a:pPr algn="l" rtl="0"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сумма коэффициентов AR почти равна 1 – </a:t>
            </a:r>
            <a:r>
              <a:rPr lang="ru-RU" sz="2200" dirty="0"/>
              <a:t>рекомендуется </a:t>
            </a:r>
            <a:r>
              <a:rPr lang="en-US" sz="2200" dirty="0" err="1"/>
              <a:t>уменьшить</a:t>
            </a:r>
            <a:r>
              <a:rPr lang="en-US" sz="2200" dirty="0"/>
              <a:t> количество членов AR на один и увеличить </a:t>
            </a:r>
            <a:r>
              <a:rPr lang="en-US" sz="2200" dirty="0" err="1"/>
              <a:t>порядок</a:t>
            </a:r>
            <a:r>
              <a:rPr lang="en-US" sz="2200" dirty="0"/>
              <a:t> </a:t>
            </a:r>
            <a:r>
              <a:rPr lang="ru-RU" sz="2200" dirty="0"/>
              <a:t>дифференцирования</a:t>
            </a:r>
            <a:r>
              <a:rPr lang="en-US" sz="2200" dirty="0"/>
              <a:t> на единицу.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сумма коэффициентов МА почти равна 1 - </a:t>
            </a:r>
            <a:r>
              <a:rPr lang="ru-RU" sz="2200" dirty="0"/>
              <a:t>рекомендуется </a:t>
            </a:r>
            <a:r>
              <a:rPr lang="en-US" sz="2200" dirty="0" err="1"/>
              <a:t>уменьшить</a:t>
            </a:r>
            <a:r>
              <a:rPr lang="en-US" sz="2200" dirty="0"/>
              <a:t> количество членов МА на один и </a:t>
            </a:r>
            <a:r>
              <a:rPr lang="en-US" sz="2200" dirty="0" err="1"/>
              <a:t>уменьшить</a:t>
            </a:r>
            <a:r>
              <a:rPr lang="en-US" sz="2200" dirty="0"/>
              <a:t> </a:t>
            </a:r>
            <a:r>
              <a:rPr lang="en-US" sz="2200" dirty="0" err="1"/>
              <a:t>порядок</a:t>
            </a:r>
            <a:r>
              <a:rPr lang="en-US" sz="2200" dirty="0"/>
              <a:t> </a:t>
            </a:r>
            <a:r>
              <a:rPr lang="ru-RU" sz="2200" dirty="0"/>
              <a:t>дифференцирования</a:t>
            </a:r>
            <a:r>
              <a:rPr lang="en-US" sz="2200" dirty="0"/>
              <a:t> </a:t>
            </a:r>
            <a:r>
              <a:rPr lang="en-US" sz="2200" dirty="0" err="1"/>
              <a:t>на</a:t>
            </a:r>
            <a:r>
              <a:rPr lang="en-US" sz="2200" dirty="0"/>
              <a:t> единицу.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dirty="0"/>
              <a:t>Если ряд имеет устойчивый и последовательный </a:t>
            </a:r>
            <a:r>
              <a:rPr lang="en-US" sz="2200" dirty="0" err="1"/>
              <a:t>сезонный</a:t>
            </a:r>
            <a:r>
              <a:rPr lang="en-US" sz="2200" dirty="0"/>
              <a:t> </a:t>
            </a:r>
            <a:r>
              <a:rPr lang="ru-RU" sz="2200" dirty="0"/>
              <a:t>шаблон</a:t>
            </a:r>
            <a:r>
              <a:rPr lang="en-US" sz="2200" dirty="0"/>
              <a:t>, </a:t>
            </a:r>
            <a:r>
              <a:rPr lang="ru-RU" sz="2200" dirty="0"/>
              <a:t>рекомендуется повысить</a:t>
            </a:r>
            <a:r>
              <a:rPr lang="en-US" sz="2200" dirty="0"/>
              <a:t> порядок сезонной разницы.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en-US" sz="2200" dirty="0" err="1"/>
              <a:t>Используйте</a:t>
            </a:r>
            <a:r>
              <a:rPr lang="en-US" sz="2200" dirty="0"/>
              <a:t> </a:t>
            </a:r>
            <a:r>
              <a:rPr lang="en-US" sz="2200" dirty="0" err="1"/>
              <a:t>сезонн</a:t>
            </a:r>
            <a:r>
              <a:rPr lang="ru-RU" sz="2200" dirty="0" err="1"/>
              <a:t>ое</a:t>
            </a:r>
            <a:r>
              <a:rPr lang="en-US" sz="2200" dirty="0"/>
              <a:t> </a:t>
            </a:r>
            <a:r>
              <a:rPr lang="ru-RU" sz="2200" dirty="0"/>
              <a:t>дифференцирование</a:t>
            </a:r>
            <a:r>
              <a:rPr lang="en-US" sz="2200" dirty="0"/>
              <a:t> </a:t>
            </a:r>
            <a:r>
              <a:rPr lang="ru-RU" sz="2200" dirty="0"/>
              <a:t>в случае</a:t>
            </a:r>
            <a:r>
              <a:rPr lang="en-US" sz="2200" dirty="0"/>
              <a:t> нестационарной сезонности.</a:t>
            </a:r>
          </a:p>
          <a:p>
            <a:pPr algn="l" rtl="0">
              <a:lnSpc>
                <a:spcPct val="120000"/>
              </a:lnSpc>
              <a:spcBef>
                <a:spcPts val="600"/>
              </a:spcBef>
            </a:pPr>
            <a:endParaRPr lang="en-US" sz="22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A3DAA71-2A2C-4B3E-8B0A-660871E8E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46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365125"/>
            <a:ext cx="10810875" cy="911225"/>
          </a:xfrm>
        </p:spPr>
        <p:txBody>
          <a:bodyPr>
            <a:normAutofit/>
          </a:bodyPr>
          <a:lstStyle/>
          <a:p>
            <a:r>
              <a:rPr lang="en-US" b="1" dirty="0"/>
              <a:t>SARIMA </a:t>
            </a:r>
            <a:r>
              <a:rPr lang="en-US" b="1" dirty="0" err="1"/>
              <a:t>Выбор</a:t>
            </a:r>
            <a:r>
              <a:rPr lang="en-US" b="1" dirty="0"/>
              <a:t> </a:t>
            </a:r>
            <a:r>
              <a:rPr lang="ru-RU" b="1" dirty="0"/>
              <a:t>порядка</a:t>
            </a:r>
            <a:r>
              <a:rPr lang="en-US" b="1" dirty="0"/>
              <a:t>. </a:t>
            </a:r>
            <a:r>
              <a:rPr lang="en-US" b="1" dirty="0" err="1"/>
              <a:t>Пример</a:t>
            </a:r>
            <a:endParaRPr lang="en-US" b="1" dirty="0"/>
          </a:p>
        </p:txBody>
      </p:sp>
      <p:pic>
        <p:nvPicPr>
          <p:cNvPr id="22530" name="Picture 2" descr="image.png">
            <a:extLst>
              <a:ext uri="{FF2B5EF4-FFF2-40B4-BE49-F238E27FC236}">
                <a16:creationId xmlns:a16="http://schemas.microsoft.com/office/drawing/2014/main" id="{931DF2C0-0D96-47D2-A63D-F973A6BD12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50" y="4345449"/>
            <a:ext cx="3895725" cy="1986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 descr="image.png">
            <a:extLst>
              <a:ext uri="{FF2B5EF4-FFF2-40B4-BE49-F238E27FC236}">
                <a16:creationId xmlns:a16="http://schemas.microsoft.com/office/drawing/2014/main" id="{1F6E61DB-11A5-4888-8BE9-1CECFE8D28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3250" y="4134339"/>
            <a:ext cx="4248149" cy="2044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C9DFF9A-CEB1-4CCF-B2F3-B5C4E3C3AD56}"/>
              </a:ext>
            </a:extLst>
          </p:cNvPr>
          <p:cNvSpPr/>
          <p:nvPr/>
        </p:nvSpPr>
        <p:spPr>
          <a:xfrm>
            <a:off x="628650" y="3949673"/>
            <a:ext cx="35707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стационарной серии </a:t>
            </a:r>
            <a:r>
              <a:rPr lang="en-US" dirty="0"/>
              <a:t>PACF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FA90A3C-D06B-4C27-A15E-900F19156DA3}"/>
              </a:ext>
            </a:extLst>
          </p:cNvPr>
          <p:cNvSpPr/>
          <p:nvPr/>
        </p:nvSpPr>
        <p:spPr>
          <a:xfrm>
            <a:off x="7077075" y="3765007"/>
            <a:ext cx="38115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Пример нестационарного ряда </a:t>
            </a:r>
            <a:r>
              <a:rPr lang="en-US" dirty="0"/>
              <a:t>PACF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BF2D0A-3231-4BFD-8289-64E32C024B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81012" y="1487460"/>
            <a:ext cx="10934699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/>
              <a:t>Вы можете очень эффективно использовать PACF для следующих целей: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/>
              <a:t>Чтобы определить, сколько лагов нужно включить в уравнение прогнозирования </a:t>
            </a:r>
            <a:r>
              <a:rPr lang="ru-RU" altLang="en-US" sz="2000" dirty="0" err="1"/>
              <a:t>авторегрессивной</a:t>
            </a:r>
            <a:r>
              <a:rPr lang="ru-RU" altLang="en-US" sz="2000" dirty="0"/>
              <a:t> модели. </a:t>
            </a:r>
          </a:p>
          <a:p>
            <a:pPr lvl="2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dirty="0"/>
              <a:t>порядок авторегрессии (AR) модели.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sz="2000" dirty="0"/>
              <a:t>Чтобы определить или проверить, сколько сезонных лагов нужно включить в уравнение модели скользящего среднего для сезонного временного ряда. </a:t>
            </a:r>
          </a:p>
          <a:p>
            <a:pPr lvl="2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ru-RU" altLang="en-US" dirty="0"/>
              <a:t>порядок сезонного скользящего среднего (SMA) модели.</a:t>
            </a:r>
            <a:endParaRPr lang="en-US" altLang="en-US" dirty="0">
              <a:latin typeface="Arial" panose="020B0604020202020204" pitchFamily="34" charset="0"/>
            </a:endParaRP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406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28394F-BA08-44E1-8D36-C22272A35E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6941" y="155384"/>
            <a:ext cx="10810875" cy="911225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. </a:t>
            </a:r>
            <a:r>
              <a:rPr lang="en-US" b="1" dirty="0" err="1"/>
              <a:t>Пример</a:t>
            </a:r>
            <a:r>
              <a:rPr lang="en-US" b="1" dirty="0"/>
              <a:t> </a:t>
            </a:r>
            <a:r>
              <a:rPr lang="en-US" dirty="0"/>
              <a:t>European retail trade data 1996 - 2011.</a:t>
            </a:r>
            <a:endParaRPr lang="en-US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9133115" y="1545706"/>
            <a:ext cx="2639785" cy="4351338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050" name="Picture 2" descr="Quarterly retail trade index in the Euro area (17 countries), 1996--2011, covering wholesale and retail trade, and the repair of motor vehicles and motorcycles. (Index: 2005 = 100).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98" y="1066611"/>
            <a:ext cx="4113269" cy="2540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easonally differenced European retail trade index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7817" y="1005403"/>
            <a:ext cx="6440722" cy="35366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5589037" y="820737"/>
            <a:ext cx="18751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</a:t>
            </a:r>
            <a:endParaRPr lang="ru-RU" dirty="0"/>
          </a:p>
        </p:txBody>
      </p:sp>
      <p:pic>
        <p:nvPicPr>
          <p:cNvPr id="2054" name="Picture 6" descr="Double differenced European retail trade index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819" y="3519070"/>
            <a:ext cx="5175998" cy="3104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1722519" y="3490053"/>
            <a:ext cx="2959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Seasonal diff lag 4 + usual diff</a:t>
            </a:r>
            <a:endParaRPr lang="ru-RU" dirty="0"/>
          </a:p>
        </p:txBody>
      </p:sp>
      <p:sp>
        <p:nvSpPr>
          <p:cNvPr id="14" name="Прямоугольник 13"/>
          <p:cNvSpPr/>
          <p:nvPr/>
        </p:nvSpPr>
        <p:spPr>
          <a:xfrm>
            <a:off x="5793350" y="5392071"/>
            <a:ext cx="441819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 err="1">
                <a:solidFill>
                  <a:srgbClr val="06287E"/>
                </a:solidFill>
                <a:latin typeface="Hack"/>
              </a:rPr>
              <a:t>Arima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order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), </a:t>
            </a:r>
            <a:r>
              <a:rPr lang="ru-RU" altLang="ru-RU" dirty="0" err="1">
                <a:solidFill>
                  <a:srgbClr val="7D9029"/>
                </a:solidFill>
                <a:latin typeface="Hack"/>
              </a:rPr>
              <a:t>seasonal</a:t>
            </a:r>
            <a:r>
              <a:rPr lang="ru-RU" altLang="ru-RU" dirty="0">
                <a:solidFill>
                  <a:srgbClr val="7D9029"/>
                </a:solidFill>
                <a:latin typeface="Hack"/>
              </a:rPr>
              <a:t>=</a:t>
            </a:r>
            <a:r>
              <a:rPr lang="ru-RU" altLang="ru-RU" dirty="0">
                <a:solidFill>
                  <a:srgbClr val="06287E"/>
                </a:solidFill>
                <a:latin typeface="Hack"/>
              </a:rPr>
              <a:t>c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(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0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,</a:t>
            </a:r>
            <a:r>
              <a:rPr lang="ru-RU" altLang="ru-RU" dirty="0">
                <a:solidFill>
                  <a:srgbClr val="40A070"/>
                </a:solidFill>
                <a:latin typeface="Hack"/>
              </a:rPr>
              <a:t>1</a:t>
            </a:r>
            <a:r>
              <a:rPr lang="ru-RU" altLang="ru-RU" dirty="0">
                <a:solidFill>
                  <a:srgbClr val="333333"/>
                </a:solidFill>
                <a:latin typeface="Hack"/>
              </a:rPr>
              <a:t>))</a:t>
            </a:r>
            <a:r>
              <a:rPr lang="ru-RU" altLang="ru-RU" dirty="0"/>
              <a:t> </a:t>
            </a:r>
            <a:endParaRPr lang="ru-RU" altLang="ru-RU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6775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2528</Words>
  <Application>Microsoft Office PowerPoint</Application>
  <PresentationFormat>Широкоэкранный</PresentationFormat>
  <Paragraphs>448</Paragraphs>
  <Slides>53</Slides>
  <Notes>1</Notes>
  <HiddenSlides>16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53</vt:i4>
      </vt:variant>
    </vt:vector>
  </HeadingPairs>
  <TitlesOfParts>
    <vt:vector size="63" baseType="lpstr">
      <vt:lpstr>Arial</vt:lpstr>
      <vt:lpstr>Calibri</vt:lpstr>
      <vt:lpstr>Calibri Light</vt:lpstr>
      <vt:lpstr>Cambria</vt:lpstr>
      <vt:lpstr>Cambria Math</vt:lpstr>
      <vt:lpstr>Georgia</vt:lpstr>
      <vt:lpstr>Hack</vt:lpstr>
      <vt:lpstr>inherit</vt:lpstr>
      <vt:lpstr>Times New Roman</vt:lpstr>
      <vt:lpstr>Тема Office</vt:lpstr>
      <vt:lpstr>Модели авторегрессии  скользящего среднего </vt:lpstr>
      <vt:lpstr>Модели авторегрессии скользящего среднего </vt:lpstr>
      <vt:lpstr>Модель ВР как процесса авторегрессии</vt:lpstr>
      <vt:lpstr>Модель ВР как процесса авторегрессии</vt:lpstr>
      <vt:lpstr>Скользящее среднее</vt:lpstr>
      <vt:lpstr>Модели авторегресси - скользящего среднего (ARMA)</vt:lpstr>
      <vt:lpstr>Пример</vt:lpstr>
      <vt:lpstr>Модели авторегресси - скользящего среднего (ARMA)</vt:lpstr>
      <vt:lpstr>Связь ARIMA c ACF и PACF</vt:lpstr>
      <vt:lpstr>Выбор начальных значений порядка ARMA</vt:lpstr>
      <vt:lpstr>Выбор начальных значений порядка ARMA</vt:lpstr>
      <vt:lpstr>Выбор начальных значений порядка ARMA</vt:lpstr>
      <vt:lpstr>Пример ряда ARMA(1,2)</vt:lpstr>
      <vt:lpstr>Дообучение ARMA коэффициентов</vt:lpstr>
      <vt:lpstr>Дообучение ARMA коэффициентов</vt:lpstr>
      <vt:lpstr>Алгоритм ARMA модели</vt:lpstr>
      <vt:lpstr>Алгоритм AutoARMA</vt:lpstr>
      <vt:lpstr>Алгоритм AutoARMA</vt:lpstr>
      <vt:lpstr>Модели интегрированной авторегрессии  скользящего среднего ARIMA   и сезонной ARIMA -SARIMA</vt:lpstr>
      <vt:lpstr>Модели интегрированной авторегресси - скользящего среднего (ARIMA)</vt:lpstr>
      <vt:lpstr>Модели интегрированной авторегресси - скользящего среднего (ARIMA)</vt:lpstr>
      <vt:lpstr>Модели интегрированной авторегресси - скользящего среднего (ARIMA)</vt:lpstr>
      <vt:lpstr>Модели сезонного интегрированной авторегресси - скользящего среднего (SARIMA)</vt:lpstr>
      <vt:lpstr>Модели сезонного интегрированной авторегресси - скользящего среднего (SARIMA)</vt:lpstr>
      <vt:lpstr>Модели сезонного интегрированной авторегресси - скользящего среднего (SARIMA)</vt:lpstr>
      <vt:lpstr>SARIMA Пример</vt:lpstr>
      <vt:lpstr>SARIMA Пример</vt:lpstr>
      <vt:lpstr>SARIMA Пример</vt:lpstr>
      <vt:lpstr>Алгоритм подбора модели SARIMA(p,d,q)⋅(P,D,Q)_s</vt:lpstr>
      <vt:lpstr>SARIMA Выбор порядка. Замечения</vt:lpstr>
      <vt:lpstr>Пример</vt:lpstr>
      <vt:lpstr>Пример оценки коэффициента ARMA</vt:lpstr>
      <vt:lpstr>Пример оценки коэффициента ARMA</vt:lpstr>
      <vt:lpstr>Пример оценки остаточной части ARMA для предыдущего слайда</vt:lpstr>
      <vt:lpstr>Другие модели, подобные SARIMA</vt:lpstr>
      <vt:lpstr>Презентация PowerPoint</vt:lpstr>
      <vt:lpstr>SARIMA Выбор порядка. Пример</vt:lpstr>
      <vt:lpstr>. Пример European retail trade data 1996 - 2011.</vt:lpstr>
      <vt:lpstr>Модели интегрированной авторегресси - скользящего среднего (ARIMA)</vt:lpstr>
      <vt:lpstr>Тестирование лагов на значимость Тестовая Q-статистика Льюинга-Бокса</vt:lpstr>
      <vt:lpstr>Производная</vt:lpstr>
      <vt:lpstr>Лаговая форма ARIMA</vt:lpstr>
      <vt:lpstr>Лаговая форма ARIMA</vt:lpstr>
      <vt:lpstr>Лаговая форма ARIMA</vt:lpstr>
      <vt:lpstr>Модель сезонной интегрированной авторегрессии  - скользящего среднего  (SARIMA).</vt:lpstr>
      <vt:lpstr>SARIMA Пример</vt:lpstr>
      <vt:lpstr>Оценка коэффициента ARMA</vt:lpstr>
      <vt:lpstr>SARIMA Выбор порядка</vt:lpstr>
      <vt:lpstr>SARIMA Выбор порядка</vt:lpstr>
      <vt:lpstr>SARIMA Выбор порядка. Примечания</vt:lpstr>
      <vt:lpstr>SARIMA Выбор порядка. Примечания</vt:lpstr>
      <vt:lpstr>SARIMA Выбор порядка. Пример</vt:lpstr>
      <vt:lpstr>. Пример European retail trade data 1996 - 2011.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Модели авторегрессии  скользящего среднего</dc:title>
  <dc:creator>Ронкин Михаил Владимирович</dc:creator>
  <cp:lastModifiedBy>Ронкин Михаил Владимирович</cp:lastModifiedBy>
  <cp:revision>48</cp:revision>
  <dcterms:created xsi:type="dcterms:W3CDTF">2025-07-24T04:31:28Z</dcterms:created>
  <dcterms:modified xsi:type="dcterms:W3CDTF">2025-07-25T11:39:24Z</dcterms:modified>
</cp:coreProperties>
</file>