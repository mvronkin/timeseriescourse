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5" r:id="rId3"/>
    <p:sldId id="257" r:id="rId4"/>
    <p:sldId id="259" r:id="rId5"/>
    <p:sldId id="258" r:id="rId6"/>
    <p:sldId id="260" r:id="rId7"/>
    <p:sldId id="261" r:id="rId8"/>
    <p:sldId id="262" r:id="rId9"/>
    <p:sldId id="264" r:id="rId10"/>
    <p:sldId id="26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>
        <p:scale>
          <a:sx n="100" d="100"/>
          <a:sy n="100" d="100"/>
        </p:scale>
        <p:origin x="402" y="1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7932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47475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2314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25963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8713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92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836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793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33094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0741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141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B0CE0D-1E76-43C5-ADFF-ABD674A6E61D}" type="datetimeFigureOut">
              <a:rPr lang="ru-RU" smtClean="0"/>
              <a:t>24.07.2025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EA9AA-9D51-4590-9126-A733C683736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237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image" Target="../media/image21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b="1" dirty="0"/>
              <a:t>М</a:t>
            </a:r>
            <a:r>
              <a:rPr lang="en-US" b="1" dirty="0" err="1"/>
              <a:t>одели</a:t>
            </a:r>
            <a:r>
              <a:rPr lang="en-US" b="1" dirty="0"/>
              <a:t> </a:t>
            </a:r>
            <a:r>
              <a:rPr lang="ru-RU" b="1" dirty="0"/>
              <a:t>а</a:t>
            </a:r>
            <a:r>
              <a:rPr lang="en-US" b="1" dirty="0" err="1"/>
              <a:t>вторегресси</a:t>
            </a:r>
            <a:r>
              <a:rPr lang="ru-RU" b="1" dirty="0"/>
              <a:t>и</a:t>
            </a:r>
            <a:r>
              <a:rPr lang="en-US" b="1" dirty="0"/>
              <a:t> </a:t>
            </a:r>
            <a:br>
              <a:rPr lang="en-US" b="1" dirty="0"/>
            </a:br>
            <a:r>
              <a:rPr lang="ru-RU" b="1" dirty="0"/>
              <a:t>с</a:t>
            </a:r>
            <a:r>
              <a:rPr lang="en-US" b="1" dirty="0" err="1"/>
              <a:t>кользящ</a:t>
            </a:r>
            <a:r>
              <a:rPr lang="ru-RU" b="1" dirty="0"/>
              <a:t>его</a:t>
            </a:r>
            <a:r>
              <a:rPr lang="en-US" b="1" dirty="0"/>
              <a:t> </a:t>
            </a:r>
            <a:r>
              <a:rPr lang="en-US" b="1" dirty="0" err="1"/>
              <a:t>средн</a:t>
            </a:r>
            <a:r>
              <a:rPr lang="ru-RU" b="1" dirty="0"/>
              <a:t>его</a:t>
            </a:r>
            <a:r>
              <a:rPr lang="en-US" b="1" dirty="0"/>
              <a:t> 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788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325" y="365125"/>
            <a:ext cx="11039475" cy="1325563"/>
          </a:xfrm>
        </p:spPr>
        <p:txBody>
          <a:bodyPr>
            <a:normAutofit/>
          </a:bodyPr>
          <a:lstStyle/>
          <a:p>
            <a:r>
              <a:rPr lang="ru-RU" b="1" dirty="0" smtClean="0"/>
              <a:t>М</a:t>
            </a:r>
            <a:r>
              <a:rPr lang="en-US" b="1" dirty="0" err="1" smtClean="0"/>
              <a:t>одели</a:t>
            </a:r>
            <a:r>
              <a:rPr lang="en-US" b="1" dirty="0" smtClean="0"/>
              <a:t> </a:t>
            </a:r>
            <a:r>
              <a:rPr lang="ru-RU" b="1" dirty="0" smtClean="0"/>
              <a:t>а</a:t>
            </a:r>
            <a:r>
              <a:rPr lang="en-US" b="1" dirty="0" err="1" smtClean="0"/>
              <a:t>вторегресси</a:t>
            </a:r>
            <a:r>
              <a:rPr lang="ru-RU" b="1" dirty="0" smtClean="0"/>
              <a:t>и</a:t>
            </a:r>
            <a:r>
              <a:rPr lang="en-US" b="1" dirty="0" smtClean="0"/>
              <a:t> </a:t>
            </a:r>
            <a:r>
              <a:rPr lang="ru-RU" b="1" dirty="0" smtClean="0"/>
              <a:t>с</a:t>
            </a:r>
            <a:r>
              <a:rPr lang="en-US" b="1" dirty="0" err="1" smtClean="0"/>
              <a:t>кользящ</a:t>
            </a:r>
            <a:r>
              <a:rPr lang="ru-RU" b="1" dirty="0" smtClean="0"/>
              <a:t>его</a:t>
            </a:r>
            <a:r>
              <a:rPr lang="en-US" b="1" dirty="0" smtClean="0"/>
              <a:t> </a:t>
            </a:r>
            <a:r>
              <a:rPr lang="en-US" b="1" dirty="0" err="1" smtClean="0"/>
              <a:t>средн</a:t>
            </a:r>
            <a:r>
              <a:rPr lang="ru-RU" b="1" dirty="0" smtClean="0"/>
              <a:t>его</a:t>
            </a:r>
            <a:r>
              <a:rPr lang="en-US" b="1" dirty="0" smtClean="0"/>
              <a:t>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775" y="1354440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b="1" dirty="0" smtClean="0"/>
              <a:t>М</a:t>
            </a:r>
            <a:r>
              <a:rPr lang="en-US" b="1" dirty="0" err="1" smtClean="0"/>
              <a:t>одели</a:t>
            </a:r>
            <a:r>
              <a:rPr lang="en-US" b="1" dirty="0" smtClean="0"/>
              <a:t> </a:t>
            </a:r>
            <a:r>
              <a:rPr lang="ru-RU" b="1" dirty="0" smtClean="0"/>
              <a:t>а</a:t>
            </a:r>
            <a:r>
              <a:rPr lang="en-US" b="1" dirty="0" err="1" smtClean="0"/>
              <a:t>вторегресси</a:t>
            </a:r>
            <a:r>
              <a:rPr lang="ru-RU" b="1" dirty="0" smtClean="0"/>
              <a:t>и</a:t>
            </a:r>
            <a:r>
              <a:rPr lang="en-US" b="1" dirty="0" smtClean="0"/>
              <a:t> </a:t>
            </a:r>
            <a:r>
              <a:rPr lang="ru-RU" b="1" dirty="0" smtClean="0"/>
              <a:t>с</a:t>
            </a:r>
            <a:r>
              <a:rPr lang="en-US" b="1" dirty="0" err="1" smtClean="0"/>
              <a:t>кользящ</a:t>
            </a:r>
            <a:r>
              <a:rPr lang="ru-RU" b="1" dirty="0" smtClean="0"/>
              <a:t>его</a:t>
            </a:r>
            <a:r>
              <a:rPr lang="en-US" b="1" dirty="0" smtClean="0"/>
              <a:t> </a:t>
            </a:r>
            <a:r>
              <a:rPr lang="en-US" b="1" dirty="0" err="1" smtClean="0"/>
              <a:t>средн</a:t>
            </a:r>
            <a:r>
              <a:rPr lang="ru-RU" b="1" dirty="0" smtClean="0"/>
              <a:t>его </a:t>
            </a:r>
            <a:r>
              <a:rPr lang="en-US" b="1" dirty="0" smtClean="0"/>
              <a:t>(AR(I)MA) </a:t>
            </a:r>
            <a:r>
              <a:rPr lang="ru-RU" b="1" dirty="0" smtClean="0"/>
              <a:t>остаются </a:t>
            </a:r>
            <a:r>
              <a:rPr lang="ru-RU" b="1" dirty="0" smtClean="0"/>
              <a:t>главным </a:t>
            </a:r>
            <a:r>
              <a:rPr lang="ru-RU" b="1" dirty="0" err="1" smtClean="0"/>
              <a:t>бейзлайном</a:t>
            </a:r>
            <a:r>
              <a:rPr lang="ru-RU" b="1" dirty="0" smtClean="0"/>
              <a:t> в задачах предсказания</a:t>
            </a:r>
            <a:endParaRPr lang="ru-RU" dirty="0"/>
          </a:p>
        </p:txBody>
      </p:sp>
      <p:pic>
        <p:nvPicPr>
          <p:cNvPr id="8194" name="Picture 2" descr="Types of Autoregressive Integrated Moving Average (ARIMA) Model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4095249"/>
            <a:ext cx="6013450" cy="27627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164703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smtClean="0"/>
              <a:t>A.AR – ARIMA – </a:t>
            </a:r>
            <a:r>
              <a:rPr lang="ru-RU" dirty="0" smtClean="0"/>
              <a:t>имеет </a:t>
            </a:r>
            <a:r>
              <a:rPr lang="en-US" dirty="0" smtClean="0"/>
              <a:t>MAPE</a:t>
            </a:r>
            <a:r>
              <a:rPr lang="ru-RU" dirty="0" smtClean="0"/>
              <a:t> близкую к </a:t>
            </a:r>
            <a:r>
              <a:rPr lang="en-US" dirty="0" smtClean="0"/>
              <a:t>LLM </a:t>
            </a:r>
            <a:r>
              <a:rPr lang="en-US" dirty="0" err="1" smtClean="0"/>
              <a:t>Ch</a:t>
            </a:r>
            <a:r>
              <a:rPr lang="en-US" dirty="0" err="1"/>
              <a:t>r</a:t>
            </a:r>
            <a:r>
              <a:rPr lang="en-US" dirty="0" err="1" smtClean="0"/>
              <a:t>onos</a:t>
            </a:r>
            <a:r>
              <a:rPr lang="en-US" dirty="0" smtClean="0"/>
              <a:t> </a:t>
            </a:r>
            <a:r>
              <a:rPr lang="ru-RU" dirty="0" smtClean="0"/>
              <a:t>на</a:t>
            </a:r>
            <a:r>
              <a:rPr lang="en-US" dirty="0" smtClean="0"/>
              <a:t> </a:t>
            </a:r>
            <a:r>
              <a:rPr lang="ru-RU" dirty="0" err="1" smtClean="0"/>
              <a:t>бенчмарке</a:t>
            </a:r>
            <a:r>
              <a:rPr lang="ru-RU" dirty="0" smtClean="0"/>
              <a:t> </a:t>
            </a:r>
            <a:r>
              <a:rPr lang="en-US" dirty="0" smtClean="0"/>
              <a:t>GIFT-EVAL</a:t>
            </a:r>
            <a:endParaRPr lang="ru-RU" dirty="0"/>
          </a:p>
        </p:txBody>
      </p:sp>
      <p:pic>
        <p:nvPicPr>
          <p:cNvPr id="8196" name="Picture 4" descr="https://www.salesforce.com/blog/wp-content/uploads/sites/2/2024/11/image_df344c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74" y="2149613"/>
            <a:ext cx="10963276" cy="4015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234112" y="6333979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 smtClean="0"/>
              <a:t>https://www.salesforce.com/blog/gift-eval-time-series-benchmark/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3603978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 smtClean="0"/>
              <a:t>Модель ВР как процесса авторегрессии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03200" y="934720"/>
            <a:ext cx="11719560" cy="4937760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200" dirty="0" smtClean="0"/>
              <a:t>Пусть ВР инертен – каждое значение ВР зависит от предыдущих </a:t>
            </a:r>
            <a:r>
              <a:rPr lang="ru-RU" sz="2200" dirty="0"/>
              <a:t>отчетов</a:t>
            </a:r>
            <a:r>
              <a:rPr lang="ru-RU" sz="2200" dirty="0" smtClean="0"/>
              <a:t>.</a:t>
            </a:r>
          </a:p>
          <a:p>
            <a:pPr lvl="1"/>
            <a:r>
              <a:rPr lang="ru-RU" sz="2000" dirty="0"/>
              <a:t>Сегодняшняя температура редко отличается резко от вчерашней.</a:t>
            </a:r>
          </a:p>
          <a:p>
            <a:pPr lvl="1"/>
            <a:r>
              <a:rPr lang="ru-RU" sz="2000" dirty="0"/>
              <a:t>Спрос на товар завтра зависит от того, сколько его покупали сегодня.</a:t>
            </a:r>
          </a:p>
          <a:p>
            <a:pPr lvl="1"/>
            <a:r>
              <a:rPr lang="ru-RU" sz="2000" dirty="0"/>
              <a:t>Потребление энергии в 9:00 похоже на потребление в 8:00 и 7:00</a:t>
            </a:r>
            <a:r>
              <a:rPr lang="ru-RU" dirty="0"/>
              <a:t>.</a:t>
            </a:r>
          </a:p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ru-RU" sz="2400" dirty="0"/>
              <a:t>Многие временные ряды инертны — текущее значение зависит от прошлых . </a:t>
            </a:r>
            <a:endParaRPr lang="ru-RU" sz="2000" dirty="0" smtClean="0"/>
          </a:p>
        </p:txBody>
      </p:sp>
      <p:pic>
        <p:nvPicPr>
          <p:cNvPr id="1026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392" b="66447"/>
          <a:stretch/>
        </p:blipFill>
        <p:spPr bwMode="auto">
          <a:xfrm>
            <a:off x="0" y="3403600"/>
            <a:ext cx="3796030" cy="2682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58" t="31926" r="33996" b="36307"/>
          <a:stretch/>
        </p:blipFill>
        <p:spPr bwMode="auto">
          <a:xfrm>
            <a:off x="4093845" y="3403600"/>
            <a:ext cx="3512185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Which of these series are stationary? (a) Google closing stock price in 2015; (b) Daily change in the Google stock price in 2015; (c) Annual number of strikes in the US; (d) Monthly sales of new one-family houses sold in the US; (e) Annual price of a dozen eggs in the US (constant dollars); (f) Monthly total of pigs slaughtered in Victoria, Australia; (g) Annual total of Canadian Lynx furs traded by the Hudson Bay Company; (h) Quarterly Australian beer production; (i) Monthly Australian gas production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83" t="66234" r="32471" b="1999"/>
          <a:stretch/>
        </p:blipFill>
        <p:spPr bwMode="auto">
          <a:xfrm>
            <a:off x="8008302" y="3439422"/>
            <a:ext cx="3512185" cy="2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749433" y="6223357"/>
            <a:ext cx="40891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https://otexts.com/fpp3/stationarity.html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73742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263525"/>
            <a:ext cx="11719560" cy="854075"/>
          </a:xfrm>
        </p:spPr>
        <p:txBody>
          <a:bodyPr/>
          <a:lstStyle/>
          <a:p>
            <a:pPr algn="ctr"/>
            <a:r>
              <a:rPr lang="ru-RU" dirty="0" smtClean="0"/>
              <a:t>Модель ВР как процесса авторегрессии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Пусть ВР инертен Каждое значение ВР – это линейная комбинация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ru-RU" sz="2200" b="0" i="1" dirty="0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200" dirty="0" smtClean="0"/>
                  <a:t>предыдущих отсчетов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для стационарного ВР  такую </a:t>
                </a:r>
                <a:r>
                  <a:rPr lang="ru-RU" sz="2200" dirty="0" err="1" smtClean="0"/>
                  <a:t>комбинанцию</a:t>
                </a:r>
                <a:r>
                  <a:rPr lang="ru-RU" sz="2200" dirty="0" smtClean="0"/>
                  <a:t> будем называть  </a:t>
                </a:r>
                <a:r>
                  <a:rPr lang="en-US" sz="2200" b="1" dirty="0" err="1" smtClean="0"/>
                  <a:t>Авторегрессия</a:t>
                </a:r>
                <a:r>
                  <a:rPr lang="en-US" sz="2200" b="1" dirty="0"/>
                  <a:t>, </a:t>
                </a:r>
                <a:r>
                  <a:rPr lang="ru-RU" sz="2200" b="1" dirty="0" smtClean="0"/>
                  <a:t>(</a:t>
                </a:r>
                <a:r>
                  <a:rPr lang="en-US" sz="2200" b="1" dirty="0" smtClean="0"/>
                  <a:t>АR</a:t>
                </a:r>
                <a:r>
                  <a:rPr lang="en-US" sz="2200" dirty="0" smtClean="0"/>
                  <a:t>)</a:t>
                </a:r>
                <a:r>
                  <a:rPr lang="ru-RU" sz="2200" dirty="0" smtClean="0"/>
                  <a:t>:</a:t>
                </a:r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ru-RU" sz="2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+...=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200" dirty="0"/>
              </a:p>
              <a:p>
                <a:pPr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200" dirty="0" smtClean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200" dirty="0" smtClean="0"/>
                  <a:t> предсказание значения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200" dirty="0" smtClean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ru-RU" sz="2200" b="0" i="0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2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 smtClean="0">
                    <a:latin typeface="+mj-lt"/>
                  </a:rPr>
                  <a:t> </a:t>
                </a:r>
                <a:r>
                  <a:rPr lang="ru-RU" sz="2200" dirty="0"/>
                  <a:t>весовые коэффициенты,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200" b="0" i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ru-RU" sz="2200" dirty="0"/>
                  <a:t> – порядок авторегрессии</a:t>
                </a:r>
                <a:r>
                  <a:rPr lang="ru-RU" sz="2200" dirty="0" smtClean="0"/>
                  <a:t>.</a:t>
                </a:r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Другими словами инертность – это эффект </a:t>
                </a:r>
                <a:r>
                  <a:rPr lang="ru-RU" sz="2000" b="1" dirty="0" smtClean="0"/>
                  <a:t>памяти. </a:t>
                </a:r>
                <a:endParaRPr lang="en-US" sz="2000" b="1" dirty="0" smtClean="0"/>
              </a:p>
              <a:p>
                <a:pPr lvl="2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1600" b="1" dirty="0" smtClean="0"/>
                  <a:t>Обычно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sz="1600" b="1" dirty="0" smtClean="0"/>
                  <a:t> убывают, то есть эффект похож на скользящее сглаживание, но с более сложными весовыми коэффициентами.</a:t>
                </a:r>
                <a:endParaRPr lang="en-US" sz="1600" b="1" dirty="0" smtClean="0"/>
              </a:p>
              <a:p>
                <a:pPr lvl="1">
                  <a:lnSpc>
                    <a:spcPct val="100000"/>
                  </a:lnSpc>
                  <a:spcBef>
                    <a:spcPts val="0"/>
                  </a:spcBef>
                </a:pPr>
                <a:endParaRPr lang="ru-RU" sz="1800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4620" y="934720"/>
                <a:ext cx="11856720" cy="4937760"/>
              </a:xfrm>
              <a:blipFill>
                <a:blip r:embed="rId2"/>
                <a:stretch>
                  <a:fillRect l="-66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3"/>
          <a:srcRect b="54534"/>
          <a:stretch/>
        </p:blipFill>
        <p:spPr>
          <a:xfrm>
            <a:off x="281108" y="4219877"/>
            <a:ext cx="5855532" cy="2638123"/>
          </a:xfrm>
          <a:prstGeom prst="rect">
            <a:avLst/>
          </a:prstGeom>
        </p:spPr>
      </p:pic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/>
          <a:srcRect l="-1194" t="575" r="1194" b="54860"/>
          <a:stretch/>
        </p:blipFill>
        <p:spPr>
          <a:xfrm>
            <a:off x="6326899" y="4141818"/>
            <a:ext cx="5865101" cy="271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47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03200" y="192405"/>
            <a:ext cx="11719560" cy="782955"/>
          </a:xfrm>
        </p:spPr>
        <p:txBody>
          <a:bodyPr/>
          <a:lstStyle/>
          <a:p>
            <a:pPr algn="ctr"/>
            <a:r>
              <a:rPr lang="ru-RU" b="1" dirty="0"/>
              <a:t>Скользящее среднее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21920" y="904240"/>
                <a:ext cx="11800840" cy="5791200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dirty="0" smtClean="0"/>
                  <a:t>Если </a:t>
                </a:r>
                <a:r>
                  <a:rPr lang="ru-RU" sz="2200" dirty="0"/>
                  <a:t>ряд процессов можно описать как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2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+....</m:t>
                    </m:r>
                  </m:oMath>
                </a14:m>
                <a:endParaRPr lang="en-US" sz="2200" dirty="0"/>
              </a:p>
              <a:p>
                <a:pPr marL="0" indent="0">
                  <a:buNone/>
                </a:pPr>
                <a:r>
                  <a:rPr lang="ru-RU" sz="2200" dirty="0" smtClean="0"/>
                  <a:t>Тогда  зададим невязку предсказания как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2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2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z="2200" dirty="0" smtClean="0"/>
              </a:p>
              <a:p>
                <a:r>
                  <a:rPr lang="ru-RU" sz="2400" dirty="0" smtClean="0"/>
                  <a:t>Ряд инертен – если </a:t>
                </a:r>
                <a:r>
                  <a:rPr lang="ru-RU" sz="2400" dirty="0" err="1" smtClean="0"/>
                  <a:t>невзяка</a:t>
                </a:r>
                <a:r>
                  <a:rPr lang="ru-RU" sz="2400" dirty="0" smtClean="0"/>
                  <a:t> содержит информацию – она тоже инертна</a:t>
                </a:r>
              </a:p>
              <a:p>
                <a:pPr lvl="1"/>
                <a:r>
                  <a:rPr lang="ru-RU" sz="2300" dirty="0" smtClean="0"/>
                  <a:t>Ошибки частично зависимы! </a:t>
                </a:r>
                <a:r>
                  <a:rPr lang="ru-RU" sz="2300" dirty="0"/>
                  <a:t>(например, </a:t>
                </a:r>
                <a:r>
                  <a:rPr lang="ru-RU" sz="2300" dirty="0" err="1" smtClean="0"/>
                  <a:t>недооценность</a:t>
                </a:r>
                <a:r>
                  <a:rPr lang="ru-RU" sz="2300" dirty="0" smtClean="0"/>
                  <a:t> продаж сегодня вероятно приведет к переоценке продаж завтра) – </a:t>
                </a:r>
                <a:r>
                  <a:rPr lang="ru-RU" sz="2300" b="1" dirty="0" smtClean="0"/>
                  <a:t>эффект случайного блуждания с дрейфом.</a:t>
                </a:r>
              </a:p>
              <a:p>
                <a:pPr lvl="1"/>
                <a:r>
                  <a:rPr lang="ru-RU" sz="2300" b="1" dirty="0" smtClean="0"/>
                  <a:t>Такой процесс будем называть Скользящее среднее </a:t>
                </a:r>
                <a:r>
                  <a:rPr lang="en-US" sz="2300" b="1" dirty="0" smtClean="0"/>
                  <a:t>(Moving Average)</a:t>
                </a:r>
                <a:endParaRPr lang="ru-RU" sz="2300" b="1" dirty="0" smtClean="0"/>
              </a:p>
              <a:p>
                <a:pPr algn="just"/>
                <a:r>
                  <a:rPr lang="ru-RU" sz="2400" b="1" dirty="0" smtClean="0"/>
                  <a:t>Теорема </a:t>
                </a:r>
                <a:r>
                  <a:rPr lang="ru-RU" sz="2400" b="1" dirty="0" err="1" smtClean="0"/>
                  <a:t>Вольда</a:t>
                </a:r>
                <a:r>
                  <a:rPr lang="ru-RU" sz="2400" b="1" dirty="0" smtClean="0"/>
                  <a:t>.</a:t>
                </a:r>
                <a:r>
                  <a:rPr lang="en-US" sz="2400" b="1" dirty="0" smtClean="0"/>
                  <a:t> </a:t>
                </a:r>
                <a:r>
                  <a:rPr lang="ru-RU" sz="2200" dirty="0" smtClean="0"/>
                  <a:t>Недетерминированный </a:t>
                </a:r>
                <a:r>
                  <a:rPr lang="ru-RU" sz="2200" dirty="0"/>
                  <a:t>стационарный в широком смысле процесс может быть </a:t>
                </a:r>
                <a:r>
                  <a:rPr lang="ru-RU" sz="2200" dirty="0" smtClean="0"/>
                  <a:t>представлен моделью случайного </a:t>
                </a:r>
                <a:r>
                  <a:rPr lang="ru-RU" sz="2200" dirty="0" err="1" smtClean="0"/>
                  <a:t>булждания</a:t>
                </a:r>
                <a:r>
                  <a:rPr lang="ru-RU" sz="2200" dirty="0" smtClean="0"/>
                  <a:t> - </a:t>
                </a:r>
                <a:r>
                  <a:rPr lang="ru-RU" sz="2200" dirty="0"/>
                  <a:t>как стохастический процесс </a:t>
                </a:r>
                <a:r>
                  <a:rPr lang="ru-RU" sz="2200" i="1" dirty="0"/>
                  <a:t>МА</a:t>
                </a:r>
                <a:r>
                  <a:rPr lang="ru-RU" sz="2200" dirty="0"/>
                  <a:t>(q), в предельном случае бесконечного порядка.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r>
                      <a:rPr lang="en-US" sz="2200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200" dirty="0" smtClean="0"/>
                  <a:t> </a:t>
                </a:r>
                <a:endParaRPr lang="en-US" sz="2200" dirty="0"/>
              </a:p>
              <a:p>
                <a:pPr lvl="1"/>
                <a:r>
                  <a:rPr lang="ru-RU" sz="1800" dirty="0"/>
                  <a:t>почти стационарный = стационарный + простой тренд</a:t>
                </a:r>
                <a:r>
                  <a:rPr lang="ru-RU" sz="1800" dirty="0" smtClean="0"/>
                  <a:t>,</a:t>
                </a:r>
              </a:p>
              <a:p>
                <a:pPr lvl="1"/>
                <a:r>
                  <a:rPr lang="ru-RU" sz="1800" dirty="0" smtClean="0"/>
                  <a:t>в </a:t>
                </a:r>
                <a:r>
                  <a:rPr lang="ru-RU" sz="1800" dirty="0"/>
                  <a:t>предельном случае q будет бесконечным</a:t>
                </a:r>
              </a:p>
              <a:p>
                <a:pPr lvl="1"/>
                <a:r>
                  <a:rPr lang="ru-RU" sz="1800" dirty="0"/>
                  <a:t>с – постоянная (дрейф, глобальный тренд).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800" i="1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sz="1800" dirty="0"/>
                  <a:t> – стационарный ряд.</a:t>
                </a:r>
              </a:p>
              <a:p>
                <a:pPr lvl="1"/>
                <a:r>
                  <a:rPr lang="ru-RU" sz="1800" dirty="0"/>
                  <a:t>Как правило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1800" b="0" i="1" smtClean="0">
                        <a:latin typeface="Cambria Math" panose="02040503050406030204" pitchFamily="18" charset="0"/>
                      </a:rPr>
                      <m:t> − </m:t>
                    </m:r>
                  </m:oMath>
                </a14:m>
                <a:r>
                  <a:rPr lang="ru-RU" sz="1800" dirty="0"/>
                  <a:t>белый шум.</a:t>
                </a:r>
              </a:p>
              <a:p>
                <a:pPr marL="0" indent="0" algn="ctr">
                  <a:buNone/>
                </a:pPr>
                <a:r>
                  <a:rPr lang="ru-RU" sz="2400" b="1" dirty="0"/>
                  <a:t>Как следствие, </a:t>
                </a:r>
                <a:endParaRPr lang="ru-RU" sz="2400" b="1" dirty="0" smtClean="0"/>
              </a:p>
              <a:p>
                <a:pPr marL="0" indent="0" algn="ctr">
                  <a:buNone/>
                </a:pPr>
                <a:r>
                  <a:rPr lang="ru-RU" sz="2400" b="1" dirty="0" smtClean="0"/>
                  <a:t>пусть </a:t>
                </a:r>
                <a:r>
                  <a:rPr lang="en-US" sz="2400" b="1" dirty="0"/>
                  <a:t>q – </a:t>
                </a:r>
                <a:r>
                  <a:rPr lang="ru-RU" sz="2400" b="1" dirty="0"/>
                  <a:t>конечно, тогда каким будет остаток вида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1" i="1">
                        <a:latin typeface="Cambria Math" panose="02040503050406030204" pitchFamily="18" charset="0"/>
                      </a:rPr>
                      <m:t>𝒄</m:t>
                    </m:r>
                    <m:r>
                      <a:rPr lang="ru-RU" sz="2400" b="1" i="1" smtClean="0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b="1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𝒒</m:t>
                        </m:r>
                      </m:sup>
                      <m:e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𝜷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sSub>
                          <m:sSubPr>
                            <m:ctrlPr>
                              <a:rPr lang="en-US" sz="2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𝜺</m:t>
                            </m:r>
                          </m:e>
                          <m:sub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𝒏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  <m:r>
                      <a:rPr lang="ru-RU" sz="2400" b="1" i="0" smtClean="0">
                        <a:latin typeface="Cambria Math" panose="02040503050406030204" pitchFamily="18" charset="0"/>
                      </a:rPr>
                      <m:t>?</m:t>
                    </m:r>
                  </m:oMath>
                </a14:m>
                <a:r>
                  <a:rPr lang="en-US" sz="2400" b="1" dirty="0" smtClean="0"/>
                  <a:t> </a:t>
                </a:r>
                <a:endParaRPr lang="ru-RU" sz="2400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21920" y="904240"/>
                <a:ext cx="11800840" cy="5791200"/>
              </a:xfrm>
              <a:blipFill>
                <a:blip r:embed="rId2"/>
                <a:stretch>
                  <a:fillRect l="-568" t="-526" r="-517" b="-589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Прямоугольник 4"/>
          <p:cNvSpPr/>
          <p:nvPr/>
        </p:nvSpPr>
        <p:spPr>
          <a:xfrm>
            <a:off x="355600" y="6581001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 smtClean="0"/>
              <a:t>https://education.yandex.ru/handbook/ml/article/modeli-vida-arima</a:t>
            </a:r>
            <a:endParaRPr lang="ru-RU" sz="12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43180" y="6119336"/>
            <a:ext cx="1169162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b="0" i="0" dirty="0" smtClean="0">
                <a:solidFill>
                  <a:srgbClr val="333333"/>
                </a:solidFill>
                <a:effectLst/>
                <a:latin typeface="Georgia" panose="02040502050405020303" pitchFamily="18" charset="0"/>
              </a:rPr>
              <a:t>Why Innovation? The predictable components of your time-series are removed, so the leftover seems the only unknown thing. So is was called “innovation”.</a:t>
            </a:r>
            <a:endParaRPr lang="ru-RU" sz="16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848224" y="6550223"/>
            <a:ext cx="816292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 smtClean="0"/>
              <a:t>https://xiaorui.site/Forecasting-and-Time-Series-Methods/Lecture/2_AR_MA.html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005840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492" y="175848"/>
            <a:ext cx="11331388" cy="827181"/>
          </a:xfrm>
        </p:spPr>
        <p:txBody>
          <a:bodyPr>
            <a:no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</p:spPr>
            <p:txBody>
              <a:bodyPr>
                <a:normAutofit lnSpcReduction="10000"/>
              </a:bodyPr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400" dirty="0" smtClean="0"/>
                  <a:t>Пусть ВР стационарен, инертен и содержит флуктуации (</a:t>
                </a:r>
                <a:r>
                  <a:rPr lang="ru-RU" sz="2400" dirty="0" err="1" smtClean="0"/>
                  <a:t>хаотичвеская</a:t>
                </a:r>
                <a:r>
                  <a:rPr lang="ru-RU" sz="2400" dirty="0" smtClean="0"/>
                  <a:t> модель с памятью), тогда динамику такой модели можно записать как комбинацию </a:t>
                </a:r>
                <a:r>
                  <a:rPr lang="en-US" sz="2400" dirty="0" smtClean="0"/>
                  <a:t>AR </a:t>
                </a:r>
                <a:r>
                  <a:rPr lang="ru-RU" sz="2400" dirty="0" smtClean="0"/>
                  <a:t>и </a:t>
                </a:r>
                <a:r>
                  <a:rPr lang="en-US" sz="2400" dirty="0" smtClean="0"/>
                  <a:t>MA </a:t>
                </a:r>
                <a:r>
                  <a:rPr lang="en-US" sz="2400" dirty="0" smtClean="0"/>
                  <a:t>: </a:t>
                </a:r>
                <a:endParaRPr lang="en-US" sz="2400" dirty="0"/>
              </a:p>
              <a:p>
                <a:pPr marL="0" indent="0" algn="l" rtl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en-US" sz="2400" dirty="0"/>
                  <a:t> </a:t>
                </a: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и</a:t>
                </a:r>
                <a14:m>
                  <m:oMath xmlns:m="http://schemas.openxmlformats.org/officeDocument/2006/math">
                    <m:r>
                      <a:rPr lang="ru-RU" sz="24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/>
                  <a:t> - весовые </a:t>
                </a:r>
                <a:r>
                  <a:rPr lang="en-US" sz="2400" dirty="0" err="1"/>
                  <a:t>коэффициенты</a:t>
                </a:r>
                <a:r>
                  <a:rPr lang="en-US" sz="2400" dirty="0"/>
                  <a:t> </a:t>
                </a:r>
                <a:r>
                  <a:rPr lang="en-US" sz="2400" dirty="0" err="1" smtClean="0"/>
                  <a:t>модели</a:t>
                </a:r>
                <a:r>
                  <a:rPr lang="ru-RU" sz="2400" dirty="0" smtClean="0"/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2400" dirty="0" smtClean="0"/>
                  <a:t> </a:t>
                </a:r>
                <a:r>
                  <a:rPr lang="ru-RU" sz="2400" dirty="0" smtClean="0"/>
                  <a:t>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400" dirty="0" smtClean="0"/>
                  <a:t> – </a:t>
                </a:r>
                <a:r>
                  <a:rPr lang="ru-RU" sz="2400" dirty="0" smtClean="0"/>
                  <a:t>порядки модели</a:t>
                </a:r>
                <a:r>
                  <a:rPr lang="en-US" sz="2400" dirty="0" smtClean="0"/>
                  <a:t>. </a:t>
                </a:r>
                <a:endParaRPr lang="en-US" sz="2400" dirty="0"/>
              </a:p>
              <a:p>
                <a:pPr marL="457200" lvl="1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u="sng" dirty="0" smtClean="0"/>
                  <a:t>Эту </a:t>
                </a:r>
                <a:r>
                  <a:rPr lang="ru-RU" sz="2200" u="sng" dirty="0"/>
                  <a:t>м</a:t>
                </a:r>
                <a:r>
                  <a:rPr lang="ru-RU" sz="2200" u="sng" dirty="0" smtClean="0"/>
                  <a:t>одель будем называть </a:t>
                </a:r>
                <a:r>
                  <a:rPr lang="ru-RU" sz="2200" b="1" u="sng" dirty="0"/>
                  <a:t>М</a:t>
                </a:r>
                <a:r>
                  <a:rPr lang="en-US" sz="2200" b="1" u="sng" dirty="0" err="1" smtClean="0"/>
                  <a:t>одел</a:t>
                </a:r>
                <a:r>
                  <a:rPr lang="ru-RU" sz="2200" b="1" u="sng" dirty="0"/>
                  <a:t>ь</a:t>
                </a:r>
                <a:r>
                  <a:rPr lang="en-US" sz="2200" b="1" u="sng" dirty="0" smtClean="0"/>
                  <a:t> </a:t>
                </a:r>
                <a:r>
                  <a:rPr lang="ru-RU" sz="2200" b="1" u="sng" dirty="0"/>
                  <a:t>а</a:t>
                </a:r>
                <a:r>
                  <a:rPr lang="en-US" sz="2200" b="1" u="sng" dirty="0" err="1"/>
                  <a:t>вторегресси</a:t>
                </a:r>
                <a:r>
                  <a:rPr lang="ru-RU" sz="2200" b="1" u="sng" dirty="0"/>
                  <a:t> -</a:t>
                </a:r>
                <a:r>
                  <a:rPr lang="en-US" sz="2200" b="1" u="sng" dirty="0"/>
                  <a:t> </a:t>
                </a:r>
                <a:r>
                  <a:rPr lang="ru-RU" sz="2200" b="1" u="sng" dirty="0"/>
                  <a:t>с</a:t>
                </a:r>
                <a:r>
                  <a:rPr lang="en-US" sz="2200" b="1" u="sng" dirty="0" err="1"/>
                  <a:t>кользящ</a:t>
                </a:r>
                <a:r>
                  <a:rPr lang="ru-RU" sz="2200" b="1" u="sng" dirty="0"/>
                  <a:t>его</a:t>
                </a:r>
                <a:r>
                  <a:rPr lang="en-US" sz="2200" b="1" u="sng" dirty="0"/>
                  <a:t> </a:t>
                </a:r>
                <a:r>
                  <a:rPr lang="en-US" sz="2200" b="1" u="sng" dirty="0" err="1"/>
                  <a:t>средн</a:t>
                </a:r>
                <a:r>
                  <a:rPr lang="ru-RU" sz="2200" b="1" u="sng" dirty="0"/>
                  <a:t>его </a:t>
                </a:r>
                <a:r>
                  <a:rPr lang="en-US" sz="2200" b="1" u="sng" dirty="0"/>
                  <a:t>(</a:t>
                </a:r>
                <a:r>
                  <a:rPr lang="en-US" sz="2200" b="1" u="sng" dirty="0" smtClean="0"/>
                  <a:t>ARMA</a:t>
                </a:r>
                <a:r>
                  <a:rPr lang="ru-RU" sz="2200" b="1" u="sng" dirty="0" smtClean="0"/>
                  <a:t>, АРСС</a:t>
                </a:r>
                <a:r>
                  <a:rPr lang="en-US" sz="2200" b="1" u="sng" dirty="0" smtClean="0"/>
                  <a:t>)</a:t>
                </a:r>
                <a:endParaRPr lang="ru-RU" sz="2200" b="1" u="sng" dirty="0" smtClean="0"/>
              </a:p>
              <a:p>
                <a:pPr marL="457200" lvl="1" indent="0" algn="ctr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200" i="1" dirty="0" smtClean="0"/>
                  <a:t>Мы хотим сказать, сто предсказание модели должно завесить от предыдущих значений (память) и от предыдущих ошибок предсказания </a:t>
                </a:r>
                <a:r>
                  <a:rPr lang="en-US" sz="2200" i="1" dirty="0" smtClean="0"/>
                  <a:t>(MA)</a:t>
                </a:r>
                <a:endParaRPr lang="ru-RU" sz="2200" i="1" dirty="0"/>
              </a:p>
              <a:p>
                <a:pPr algn="l" rtl="0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dirty="0" smtClean="0"/>
                  <a:t>Пусть мы делаем предсказание температуры: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Предположим, что температура сегодня зависит от температуры вчера и </a:t>
                </a:r>
                <a:r>
                  <a:rPr lang="ru-RU" sz="2000" dirty="0" err="1" smtClean="0"/>
                  <a:t>позовчера</a:t>
                </a:r>
                <a:r>
                  <a:rPr lang="ru-RU" sz="2000" dirty="0" smtClean="0"/>
                  <a:t>,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dirty="0"/>
                  <a:t>Вчера </a:t>
                </a:r>
                <a:r>
                  <a:rPr lang="ru-RU" sz="2000" dirty="0" smtClean="0"/>
                  <a:t>модель </a:t>
                </a:r>
                <a:r>
                  <a:rPr lang="ru-RU" sz="2000" dirty="0"/>
                  <a:t>предсказал 20°C, а было 18°C — ошибка в </a:t>
                </a:r>
                <a:r>
                  <a:rPr lang="ru-RU" sz="2000" dirty="0" smtClean="0"/>
                  <a:t>2°C. </a:t>
                </a:r>
                <a:br>
                  <a:rPr lang="ru-RU" sz="2000" dirty="0" smtClean="0"/>
                </a:br>
                <a:r>
                  <a:rPr lang="ru-RU" sz="2000" i="1" dirty="0" smtClean="0"/>
                  <a:t>Вчера </a:t>
                </a:r>
                <a:r>
                  <a:rPr lang="ru-RU" sz="2000" i="1" dirty="0"/>
                  <a:t>переоценили — давай сегодня немного снизим </a:t>
                </a:r>
                <a:r>
                  <a:rPr lang="ru-RU" sz="2000" i="1" dirty="0" smtClean="0"/>
                  <a:t>прогноз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rPr lang="ru-RU" sz="2000" i="1" dirty="0"/>
                  <a:t>Система не идеальна, но исправляет прошлые ошибки</a:t>
                </a:r>
                <a:endParaRPr lang="ru-RU" sz="2000" dirty="0"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 lang="ru-RU" dirty="0" smtClean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12711" y="878569"/>
                <a:ext cx="11786249" cy="5747656"/>
              </a:xfrm>
              <a:blipFill>
                <a:blip r:embed="rId2"/>
                <a:stretch>
                  <a:fillRect l="-931" t="-530" r="-6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006625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59644"/>
          </a:xfrm>
        </p:spPr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4341" y="1372394"/>
            <a:ext cx="5505450" cy="5305425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218187"/>
            <a:ext cx="5486400" cy="5305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024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1160" y="100965"/>
            <a:ext cx="10515600" cy="827181"/>
          </a:xfrm>
        </p:spPr>
        <p:txBody>
          <a:bodyPr>
            <a:normAutofit/>
          </a:bodyPr>
          <a:lstStyle/>
          <a:p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(ARMA)</a:t>
            </a:r>
            <a:endParaRPr lang="en-US" sz="3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</p:spPr>
            <p:txBody>
              <a:bodyPr>
                <a:normAutofit/>
              </a:bodyPr>
              <a:lstStyle/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Реальное значение ВР на шаге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dirty="0" smtClean="0"/>
                  <a:t> тогда можно представить как</a:t>
                </a:r>
              </a:p>
              <a:p>
                <a:pPr marL="0" indent="0" algn="just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𝜀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ru-RU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ru-RU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dirty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Таким образом </a:t>
                </a:r>
                <a:r>
                  <a:rPr lang="en-US" dirty="0" err="1" smtClean="0"/>
                  <a:t>Задача</a:t>
                </a:r>
                <a:r>
                  <a:rPr lang="en-US" dirty="0" smtClean="0"/>
                  <a:t> </a:t>
                </a:r>
                <a:r>
                  <a:rPr lang="en-US" dirty="0"/>
                  <a:t>ARMA-</a:t>
                </a:r>
                <a:r>
                  <a:rPr lang="en-US" dirty="0" err="1"/>
                  <a:t>аппроксимации</a:t>
                </a:r>
                <a:r>
                  <a:rPr lang="ru-RU" dirty="0"/>
                  <a:t> (построения АРСС модели</a:t>
                </a:r>
                <a:r>
                  <a:rPr lang="ru-RU" dirty="0" smtClean="0"/>
                  <a:t>)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оценить их</a:t>
                </a:r>
                <a:r>
                  <a:rPr lang="en-US" dirty="0" smtClean="0"/>
                  <a:t> </a:t>
                </a:r>
                <a:r>
                  <a:rPr lang="en-US" dirty="0" err="1" smtClean="0"/>
                  <a:t>порядки</a:t>
                </a:r>
                <a:r>
                  <a:rPr lang="ru-RU" dirty="0" smtClean="0"/>
                  <a:t> </a:t>
                </a:r>
                <a:r>
                  <a:rPr lang="en-US" dirty="0" smtClean="0"/>
                  <a:t>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 smtClean="0"/>
                  <a:t>)</a:t>
                </a:r>
                <a:r>
                  <a:rPr lang="ru-RU" dirty="0" smtClean="0"/>
                  <a:t> 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 smtClean="0"/>
                  <a:t>найти</a:t>
                </a:r>
                <a:r>
                  <a:rPr lang="en-US" dirty="0" smtClean="0"/>
                  <a:t> </a:t>
                </a:r>
                <a:r>
                  <a:rPr lang="ru-RU" dirty="0" smtClean="0"/>
                  <a:t>оптимальные </a:t>
                </a:r>
                <a:r>
                  <a:rPr lang="en-US" dirty="0" err="1" smtClean="0"/>
                  <a:t>весовые</a:t>
                </a:r>
                <a:r>
                  <a:rPr lang="en-US" dirty="0" smtClean="0"/>
                  <a:t> </a:t>
                </a:r>
                <a:r>
                  <a:rPr lang="en-US" dirty="0"/>
                  <a:t>коэффициенты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0" i="1"/>
                          <m:t>𝛼</m:t>
                        </m:r>
                      </m:e>
                      <m:sub>
                        <m:r>
                          <a:rPr lang="en-US" b="0" i="1"/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b="0" i="1"/>
                          <m:t>𝛽</m:t>
                        </m:r>
                      </m:e>
                      <m:sub>
                        <m:r>
                          <a:rPr lang="en-US" b="0" i="1"/>
                          <m:t>𝑖</m:t>
                        </m:r>
                      </m:sub>
                    </m:sSub>
                  </m:oMath>
                </a14:m>
                <a:endParaRPr lang="ru-RU" dirty="0" smtClean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en-US" dirty="0" err="1" smtClean="0"/>
                  <a:t>Как</a:t>
                </a:r>
                <a:r>
                  <a:rPr lang="en-US" dirty="0" smtClean="0"/>
                  <a:t> </a:t>
                </a:r>
                <a:r>
                  <a:rPr lang="en-US" dirty="0"/>
                  <a:t>правило,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dirty="0"/>
                  <a:t>и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 err="1" smtClean="0"/>
                  <a:t>можно</a:t>
                </a:r>
                <a:r>
                  <a:rPr lang="en-US" dirty="0" smtClean="0"/>
                  <a:t> </a:t>
                </a:r>
                <a:r>
                  <a:rPr lang="ru-RU" dirty="0" smtClean="0"/>
                  <a:t>найти</a:t>
                </a:r>
                <a:r>
                  <a:rPr lang="en-US" dirty="0" smtClean="0"/>
                  <a:t> </a:t>
                </a:r>
                <a:r>
                  <a:rPr lang="en-US" dirty="0"/>
                  <a:t>регрессионными </a:t>
                </a:r>
                <a:r>
                  <a:rPr lang="en-US" dirty="0" err="1"/>
                  <a:t>методами</a:t>
                </a:r>
                <a:r>
                  <a:rPr lang="en-US" dirty="0" smtClean="0"/>
                  <a:t>.</a:t>
                </a:r>
                <a:endParaRPr lang="ru-RU" dirty="0" smtClean="0"/>
              </a:p>
              <a:p>
                <a:pPr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dirty="0" smtClean="0"/>
                  <a:t>При этом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ru-RU" dirty="0" smtClean="0"/>
                  <a:t> – это </a:t>
                </a:r>
                <a:r>
                  <a:rPr lang="ru-RU" dirty="0" err="1" smtClean="0"/>
                  <a:t>гиперпараметры</a:t>
                </a:r>
                <a:r>
                  <a:rPr lang="ru-RU" dirty="0" smtClean="0"/>
                  <a:t> и их выбор не очевиден.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Можно оценить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000" dirty="0" smtClean="0"/>
                  <a:t> путем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000" dirty="0" smtClean="0"/>
                  <a:t> как авторегрессию порядка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ru-RU" sz="2000" b="0" i="1" dirty="0" smtClean="0">
                        <a:latin typeface="Cambria Math" panose="02040503050406030204" pitchFamily="18" charset="0"/>
                      </a:rPr>
                      <m:t>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 smtClean="0"/>
                  <a:t>, </a:t>
                </a:r>
                <a:r>
                  <a:rPr lang="ru-RU" sz="2000" dirty="0" smtClean="0"/>
                  <a:t>тогда коэффициенты </a:t>
                </a:r>
                <a14:m>
                  <m:oMath xmlns:m="http://schemas.openxmlformats.org/officeDocument/2006/math">
                    <m:r>
                      <a:rPr lang="en-US" sz="2000" i="1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ru-RU" sz="2000" dirty="0" smtClean="0"/>
                  <a:t> найдем как регрессию  для</a:t>
                </a:r>
                <a:r>
                  <a:rPr lang="en-US" sz="2000" dirty="0" smtClean="0"/>
                  <a:t> </a:t>
                </a:r>
                <a:r>
                  <a:rPr lang="ru-RU" sz="2000" dirty="0" smtClean="0"/>
                  <a:t>остатка вида</a:t>
                </a:r>
                <a:r>
                  <a:rPr lang="en-US" sz="2000" dirty="0" smtClean="0"/>
                  <a:t> 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𝐴𝑅</m:t>
                        </m:r>
                      </m:sub>
                    </m:sSub>
                  </m:oMath>
                </a14:m>
                <a:r>
                  <a:rPr lang="en-US" sz="2000" dirty="0" smtClean="0"/>
                  <a:t>)</a:t>
                </a:r>
                <a:r>
                  <a:rPr lang="ru-RU" sz="2000" dirty="0" smtClean="0"/>
                  <a:t>.</a:t>
                </a:r>
              </a:p>
              <a:p>
                <a:pPr lvl="1" algn="just">
                  <a:lnSpc>
                    <a:spcPct val="100000"/>
                  </a:lnSpc>
                  <a:spcBef>
                    <a:spcPts val="0"/>
                  </a:spcBef>
                </a:pPr>
                <a:r>
                  <a:rPr lang="ru-RU" sz="2000" dirty="0" smtClean="0"/>
                  <a:t>Можно оценить оба параметра путем </a:t>
                </a:r>
                <a:r>
                  <a:rPr lang="ru-RU" sz="2000" dirty="0" err="1" smtClean="0"/>
                  <a:t>минмизации</a:t>
                </a:r>
                <a:r>
                  <a:rPr lang="ru-RU" sz="2000" dirty="0" smtClean="0"/>
                  <a:t> квадрата невязки.</a:t>
                </a:r>
                <a:endParaRPr lang="en-US" sz="20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19D767B6-15E9-44FE-83F3-68423D4C12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2846" y="816385"/>
                <a:ext cx="11513073" cy="5746377"/>
              </a:xfrm>
              <a:blipFill>
                <a:blip r:embed="rId2"/>
                <a:stretch>
                  <a:fillRect l="-953" t="-1060" r="-90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297364" y="4106284"/>
            <a:ext cx="1847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endParaRPr lang="ru-RU" sz="24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59759" y="5950196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/>
              <a:t>Модели записываются в виде </a:t>
            </a:r>
            <a:r>
              <a:rPr lang="en-US" sz="2200" dirty="0"/>
              <a:t>ARMA(</a:t>
            </a:r>
            <a:r>
              <a:rPr lang="en-US" sz="2200" dirty="0" err="1"/>
              <a:t>p,q</a:t>
            </a:r>
            <a:r>
              <a:rPr lang="en-US" sz="2200" dirty="0"/>
              <a:t>)</a:t>
            </a:r>
            <a:r>
              <a:rPr lang="ru-RU" sz="2200" dirty="0"/>
              <a:t> – что значит модель </a:t>
            </a:r>
            <a:r>
              <a:rPr lang="en-US" sz="2200" dirty="0"/>
              <a:t>p-</a:t>
            </a:r>
            <a:r>
              <a:rPr lang="ru-RU" sz="2200" dirty="0"/>
              <a:t>порядка по </a:t>
            </a:r>
            <a:r>
              <a:rPr lang="en-US" sz="2200" dirty="0"/>
              <a:t>AR </a:t>
            </a:r>
            <a:r>
              <a:rPr lang="ru-RU" sz="2200" dirty="0"/>
              <a:t>и </a:t>
            </a:r>
            <a:r>
              <a:rPr lang="en-US" sz="2200" dirty="0"/>
              <a:t>q-</a:t>
            </a:r>
            <a:r>
              <a:rPr lang="ru-RU" sz="2200" dirty="0"/>
              <a:t>порядка по </a:t>
            </a:r>
            <a:r>
              <a:rPr lang="en-US" sz="2200" dirty="0"/>
              <a:t>MA</a:t>
            </a:r>
            <a:endParaRPr lang="ru-RU" sz="2200" dirty="0"/>
          </a:p>
        </p:txBody>
      </p:sp>
    </p:spTree>
    <p:extLst>
      <p:ext uri="{BB962C8B-B14F-4D97-AF65-F5344CB8AC3E}">
        <p14:creationId xmlns:p14="http://schemas.microsoft.com/office/powerpoint/2010/main" val="4028062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4320" y="365125"/>
            <a:ext cx="11079480" cy="711835"/>
          </a:xfrm>
        </p:spPr>
        <p:txBody>
          <a:bodyPr/>
          <a:lstStyle/>
          <a:p>
            <a:pPr algn="ctr"/>
            <a:r>
              <a:rPr lang="ru-RU" dirty="0" smtClean="0"/>
              <a:t>Связь </a:t>
            </a:r>
            <a:r>
              <a:rPr lang="en-US" dirty="0" smtClean="0"/>
              <a:t>ARIMA c ACF </a:t>
            </a:r>
            <a:r>
              <a:rPr lang="ru-RU" dirty="0" smtClean="0"/>
              <a:t>и </a:t>
            </a:r>
            <a:r>
              <a:rPr lang="en-US" dirty="0" smtClean="0"/>
              <a:t>PACF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</p:spPr>
            <p:txBody>
              <a:bodyPr>
                <a:normAutofit/>
              </a:bodyPr>
              <a:lstStyle/>
              <a:p>
                <a:r>
                  <a:rPr lang="ru-RU" sz="2000" dirty="0" smtClean="0"/>
                  <a:t>Процесс авторегрессии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ru-RU" sz="2000" b="0" i="1" smtClean="0">
                        <a:latin typeface="Cambria Math" panose="02040503050406030204" pitchFamily="18" charset="0"/>
                      </a:rPr>
                      <m:t>… </m:t>
                    </m:r>
                  </m:oMath>
                </a14:m>
                <a:r>
                  <a:rPr lang="ru-RU" sz="2000" dirty="0" smtClean="0"/>
                  <a:t> предполагает, что текущее значение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ru-RU" sz="2000" dirty="0" smtClean="0"/>
                  <a:t> имеет корреляцию с предыдущими значениями.</a:t>
                </a:r>
              </a:p>
              <a:p>
                <a:pPr lvl="1"/>
                <a:r>
                  <a:rPr lang="ru-RU" sz="2000" dirty="0" smtClean="0"/>
                  <a:t>Можно показать, что если процесс описывается предыдущими значениями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sz="2000" dirty="0" smtClean="0"/>
                  <a:t> </a:t>
                </a:r>
                <a:r>
                  <a:rPr lang="ru-RU" sz="2000" dirty="0" smtClean="0"/>
                  <a:t>то на графике </a:t>
                </a:r>
                <a:r>
                  <a:rPr lang="en-US" sz="2000" dirty="0" smtClean="0"/>
                  <a:t>PACF </a:t>
                </a:r>
                <a:r>
                  <a:rPr lang="ru-RU" sz="2000" dirty="0" smtClean="0"/>
                  <a:t> не будет значимых лагов выше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ru-RU" sz="2000" dirty="0" smtClean="0"/>
              </a:p>
              <a:p>
                <a:pPr lvl="2"/>
                <a:r>
                  <a:rPr lang="en-US" sz="1800" dirty="0"/>
                  <a:t>P</a:t>
                </a:r>
                <a:r>
                  <a:rPr lang="en-US" sz="1800" dirty="0" smtClean="0"/>
                  <a:t>ACF </a:t>
                </a:r>
                <a:r>
                  <a:rPr lang="ru-RU" sz="1800" dirty="0" smtClean="0"/>
                  <a:t>корреляцию </a:t>
                </a:r>
                <a:r>
                  <a:rPr lang="ru-RU" sz="1800" dirty="0"/>
                  <a:t>между </a:t>
                </a:r>
                <a:r>
                  <a:rPr lang="en-US" sz="1800" i="1" dirty="0" err="1" smtClean="0"/>
                  <a:t>yt</a:t>
                </a:r>
                <a:r>
                  <a:rPr lang="en-US" sz="1800" dirty="0"/>
                  <a:t>​ </a:t>
                </a:r>
                <a:r>
                  <a:rPr lang="ru-RU" sz="1800" dirty="0"/>
                  <a:t>и </a:t>
                </a:r>
                <a:r>
                  <a:rPr lang="en-US" sz="1800" dirty="0" smtClean="0"/>
                  <a:t>y </a:t>
                </a:r>
                <a:r>
                  <a:rPr lang="en-US" sz="1800" i="1" dirty="0" err="1" smtClean="0"/>
                  <a:t>yt</a:t>
                </a:r>
                <a:r>
                  <a:rPr lang="en-US" sz="1800" dirty="0"/>
                  <a:t>−</a:t>
                </a:r>
                <a:r>
                  <a:rPr lang="en-US" sz="1800" i="1" dirty="0"/>
                  <a:t>k</a:t>
                </a:r>
                <a:r>
                  <a:rPr lang="en-US" sz="1800" dirty="0"/>
                  <a:t>​, </a:t>
                </a:r>
                <a:r>
                  <a:rPr lang="ru-RU" sz="1800" b="1" dirty="0"/>
                  <a:t>удалив влияние промежуточных </a:t>
                </a:r>
                <a:r>
                  <a:rPr lang="ru-RU" sz="1800" b="1" dirty="0" smtClean="0"/>
                  <a:t>лагов</a:t>
                </a:r>
                <a:r>
                  <a:rPr lang="ru-RU" sz="1800" dirty="0" smtClean="0"/>
                  <a:t> (</a:t>
                </a:r>
                <a:r>
                  <a:rPr lang="en-US" sz="1800" dirty="0" smtClean="0"/>
                  <a:t>y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800" i="1" dirty="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1800" dirty="0" smtClean="0"/>
                  <a:t>,</a:t>
                </a:r>
                <a:r>
                  <a:rPr lang="ru-RU" sz="1800" dirty="0" smtClean="0"/>
                  <a:t> </a:t>
                </a:r>
                <a:r>
                  <a:rPr lang="en-US" sz="1800" dirty="0" smtClean="0"/>
                  <a:t>yt</a:t>
                </a:r>
                <a:r>
                  <a:rPr lang="en-US" sz="1800" dirty="0"/>
                  <a:t>−2,…,yt−</a:t>
                </a:r>
                <a:r>
                  <a:rPr lang="en-US" sz="1800" dirty="0" smtClean="0"/>
                  <a:t>k+1​). – </a:t>
                </a:r>
                <a:r>
                  <a:rPr lang="ru-RU" sz="1800" dirty="0" smtClean="0"/>
                  <a:t>то есть лаги выше не несут новой информации.</a:t>
                </a:r>
                <a:endParaRPr lang="en-US" sz="1800" dirty="0"/>
              </a:p>
              <a:p>
                <a:r>
                  <a:rPr lang="ru-RU" sz="2000" dirty="0" smtClean="0"/>
                  <a:t> Если процесс включает скользящее среднее до лага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000" dirty="0" smtClean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𝑞</m:t>
                        </m:r>
                      </m:sup>
                      <m:e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0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000" dirty="0" smtClean="0"/>
                  <a:t> - </a:t>
                </a:r>
                <a:r>
                  <a:rPr lang="ru-RU" sz="2000" dirty="0" smtClean="0"/>
                  <a:t>можно показать, что на графике </a:t>
                </a:r>
                <a:r>
                  <a:rPr lang="en-US" sz="2000" dirty="0" smtClean="0"/>
                  <a:t>ACF </a:t>
                </a:r>
                <a:r>
                  <a:rPr lang="ru-RU" sz="2000" dirty="0" smtClean="0"/>
                  <a:t> не будет значимых лагов выше </a:t>
                </a:r>
                <a:r>
                  <a:rPr lang="en-US" sz="2000" dirty="0" smtClean="0"/>
                  <a:t>Q</a:t>
                </a:r>
                <a:endParaRPr lang="ru-RU" sz="2000" dirty="0" smtClean="0"/>
              </a:p>
              <a:p>
                <a:pPr lvl="1"/>
                <a:r>
                  <a:rPr lang="en-US" sz="2000" dirty="0"/>
                  <a:t>A</a:t>
                </a:r>
                <a:r>
                  <a:rPr lang="ru-RU" sz="2000" dirty="0" smtClean="0"/>
                  <a:t>CF </a:t>
                </a:r>
                <a:r>
                  <a:rPr lang="ru-RU" sz="2000" dirty="0"/>
                  <a:t>измеряет </a:t>
                </a:r>
                <a:r>
                  <a:rPr lang="ru-RU" sz="2000" b="1" dirty="0"/>
                  <a:t>непосредственную корреляцию</a:t>
                </a:r>
                <a:r>
                  <a:rPr lang="ru-RU" sz="2000" dirty="0"/>
                  <a:t> между </a:t>
                </a:r>
                <a:r>
                  <a:rPr lang="ru-RU" sz="2000" dirty="0" err="1" smtClean="0"/>
                  <a:t>yt</a:t>
                </a:r>
                <a:r>
                  <a:rPr lang="ru-RU" sz="2000" dirty="0" smtClean="0"/>
                  <a:t>​</a:t>
                </a:r>
                <a:r>
                  <a:rPr lang="ru-RU" sz="2000" dirty="0"/>
                  <a:t> и </a:t>
                </a:r>
                <a:r>
                  <a:rPr lang="ru-RU" sz="2000" dirty="0" err="1"/>
                  <a:t>yt</a:t>
                </a:r>
                <a:r>
                  <a:rPr lang="ru-RU" sz="2000" dirty="0"/>
                  <a:t>−</a:t>
                </a:r>
                <a:r>
                  <a:rPr lang="ru-RU" sz="2000" dirty="0" smtClean="0"/>
                  <a:t>k​</a:t>
                </a:r>
                <a:r>
                  <a:rPr lang="ru-RU" sz="2000" dirty="0"/>
                  <a:t>.</a:t>
                </a:r>
              </a:p>
              <a:p>
                <a:pPr lvl="2"/>
                <a:r>
                  <a:rPr lang="ru-RU" sz="1800" dirty="0"/>
                  <a:t>В MA(Q) процесс зависит только от последних </a:t>
                </a:r>
                <a:r>
                  <a:rPr lang="ru-RU" sz="1800" dirty="0" smtClean="0"/>
                  <a:t>Q</a:t>
                </a:r>
                <a:r>
                  <a:rPr lang="ru-RU" sz="1800" dirty="0"/>
                  <a:t> шумов, поэтому корреляция </a:t>
                </a:r>
                <a:r>
                  <a:rPr lang="ru-RU" sz="1800" b="1" dirty="0"/>
                  <a:t>исчезает после лага </a:t>
                </a:r>
                <a:r>
                  <a:rPr lang="ru-RU" sz="1800" b="1" dirty="0" smtClean="0"/>
                  <a:t>Q</a:t>
                </a:r>
                <a:endParaRPr lang="ru-RU" sz="1800" dirty="0"/>
              </a:p>
              <a:p>
                <a:endParaRPr lang="ru-RU" sz="2000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076960"/>
                <a:ext cx="12192000" cy="5293360"/>
              </a:xfrm>
              <a:blipFill>
                <a:blip r:embed="rId2"/>
                <a:stretch>
                  <a:fillRect l="-450" t="-126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../../../_images/examples_notebooks_generated_tsa_arma_0_8_1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3145" y="4227483"/>
            <a:ext cx="3594135" cy="2402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./../../_images/examples_notebooks_generated_tsa_arma_0_9_0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9760" y="4227483"/>
            <a:ext cx="3494404" cy="237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274320" y="6629648"/>
            <a:ext cx="863600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 smtClean="0"/>
              <a:t>https://www.statsmodels.org/stable/examples/notebooks/generated/tsa_arma_0.html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2486258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ctr" rtl="0"/>
            <a:r>
              <a:rPr lang="en-US" b="1" dirty="0" err="1" smtClean="0"/>
              <a:t>Выбор</a:t>
            </a:r>
            <a:r>
              <a:rPr lang="en-US" b="1" dirty="0" smtClean="0"/>
              <a:t> </a:t>
            </a:r>
            <a:r>
              <a:rPr lang="ru-RU" b="1" dirty="0" smtClean="0"/>
              <a:t>начальных значений</a:t>
            </a:r>
            <a:r>
              <a:rPr lang="en-US" b="1" dirty="0" smtClean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428" y="678330"/>
            <a:ext cx="11932241" cy="687001"/>
          </a:xfrm>
        </p:spPr>
        <p:txBody>
          <a:bodyPr>
            <a:normAutofit lnSpcReduction="10000"/>
          </a:bodyPr>
          <a:lstStyle/>
          <a:p>
            <a:pPr marL="0" indent="0" algn="l" rtl="0">
              <a:buNone/>
            </a:pPr>
            <a:r>
              <a:rPr lang="ru-RU" sz="2200" dirty="0" smtClean="0"/>
              <a:t>Эмпирические правила </a:t>
            </a:r>
            <a:r>
              <a:rPr lang="ru-RU" sz="2200" dirty="0"/>
              <a:t>для выбора порядка </a:t>
            </a:r>
            <a:r>
              <a:rPr lang="en-US" sz="2200" dirty="0"/>
              <a:t>ARMA </a:t>
            </a:r>
            <a:r>
              <a:rPr lang="ru-RU" sz="2200" dirty="0" smtClean="0"/>
              <a:t>моделей </a:t>
            </a:r>
            <a:r>
              <a:rPr lang="ru-RU" sz="2200" dirty="0"/>
              <a:t>на основе вида графиков автокорреляции и частичной автокорреляции. </a:t>
            </a:r>
            <a:endParaRPr lang="en-US" sz="2200" dirty="0"/>
          </a:p>
          <a:p>
            <a:pPr algn="l" rtl="0"/>
            <a:endParaRPr lang="en-US" sz="2400" b="1" dirty="0"/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88679285-94BC-45E3-AB5C-3D14E13D5E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2289971"/>
              </p:ext>
            </p:extLst>
          </p:nvPr>
        </p:nvGraphicFramePr>
        <p:xfrm>
          <a:off x="168428" y="1290358"/>
          <a:ext cx="11854143" cy="450532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496922">
                  <a:extLst>
                    <a:ext uri="{9D8B030D-6E8A-4147-A177-3AD203B41FA5}">
                      <a16:colId xmlns:a16="http://schemas.microsoft.com/office/drawing/2014/main" val="3810330014"/>
                    </a:ext>
                  </a:extLst>
                </a:gridCol>
                <a:gridCol w="2411725">
                  <a:extLst>
                    <a:ext uri="{9D8B030D-6E8A-4147-A177-3AD203B41FA5}">
                      <a16:colId xmlns:a16="http://schemas.microsoft.com/office/drawing/2014/main" val="928333261"/>
                    </a:ext>
                  </a:extLst>
                </a:gridCol>
                <a:gridCol w="4945496">
                  <a:extLst>
                    <a:ext uri="{9D8B030D-6E8A-4147-A177-3AD203B41FA5}">
                      <a16:colId xmlns:a16="http://schemas.microsoft.com/office/drawing/2014/main" val="2644834403"/>
                    </a:ext>
                  </a:extLst>
                </a:gridCol>
              </a:tblGrid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PACF обрывается после лага  p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AR(p) — прямая зависимость от  p  прошлых значений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60986974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обрывается после лага  q 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="1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 =  номер последнего значимого лага</a:t>
                      </a:r>
                      <a:endParaRPr lang="en-US" sz="2000" b="1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признак MA(q) — влияние ошибок исчезает после  q  шагов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9842672"/>
                  </a:ext>
                </a:extLst>
              </a:tr>
              <a:tr h="313187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 smtClean="0">
                          <a:effectLst/>
                        </a:rPr>
                        <a:t>P</a:t>
                      </a:r>
                      <a:r>
                        <a:rPr lang="ru-RU" sz="2000" b="0" u="none" strike="noStrike" dirty="0" smtClean="0">
                          <a:effectLst/>
                        </a:rPr>
                        <a:t>ACF затухает</a:t>
                      </a:r>
                      <a:r>
                        <a:rPr lang="en-US" sz="2000" b="0" u="none" strike="noStrike" dirty="0" smtClean="0">
                          <a:effectLst/>
                        </a:rPr>
                        <a:t> </a:t>
                      </a:r>
                      <a:r>
                        <a:rPr lang="ru-RU" sz="2000" b="0" u="none" strike="noStrike" dirty="0" smtClean="0">
                          <a:effectLst/>
                        </a:rPr>
                        <a:t>медленно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smtClean="0">
                          <a:effectLst/>
                        </a:rPr>
                        <a:t>P =1 </a:t>
                      </a:r>
                      <a:r>
                        <a:rPr lang="ru-RU" sz="2000" u="none" strike="noStrike" dirty="0" smtClean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2</a:t>
                      </a:r>
                      <a:r>
                        <a:rPr lang="en-US" sz="2000" u="none" strike="noStrike" baseline="0" dirty="0" smtClean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 smtClean="0">
                          <a:effectLst/>
                        </a:rPr>
                        <a:t>AR</a:t>
                      </a:r>
                      <a:r>
                        <a:rPr lang="en-US" sz="2000" b="1" u="none" strike="noStrike" dirty="0" smtClean="0">
                          <a:effectLst/>
                        </a:rPr>
                        <a:t>-</a:t>
                      </a:r>
                      <a:r>
                        <a:rPr lang="ru-RU" sz="2000" b="0" u="none" strike="noStrike" dirty="0" smtClean="0">
                          <a:effectLst/>
                        </a:rPr>
                        <a:t>эффект </a:t>
                      </a:r>
                      <a:r>
                        <a:rPr lang="ru-RU" sz="2000" b="0" u="none" strike="noStrike" dirty="0" smtClean="0">
                          <a:effectLst/>
                        </a:rPr>
                        <a:t>слабый </a:t>
                      </a:r>
                      <a:r>
                        <a:rPr lang="ru-RU" sz="2000" b="1" u="none" strike="noStrike" dirty="0" smtClean="0">
                          <a:effectLst/>
                        </a:rPr>
                        <a:t/>
                      </a:r>
                      <a:br>
                        <a:rPr lang="ru-RU" sz="2000" b="1" u="none" strike="noStrike" dirty="0" smtClean="0">
                          <a:effectLst/>
                        </a:rPr>
                      </a:b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Долгая "память", но без чёткой структуры</a:t>
                      </a:r>
                      <a:endParaRPr lang="en-US" sz="2000" b="1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0229302"/>
                  </a:ext>
                </a:extLst>
              </a:tr>
              <a:tr h="329404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u="none" strike="noStrike" dirty="0" smtClean="0">
                          <a:effectLst/>
                        </a:rPr>
                        <a:t>ACF затухает плавно</a:t>
                      </a:r>
                      <a:r>
                        <a:rPr lang="en-US" sz="2000" b="0" u="none" strike="noStrike" dirty="0" smtClean="0">
                          <a:effectLst/>
                        </a:rPr>
                        <a:t> </a:t>
                      </a:r>
                      <a:r>
                        <a:rPr lang="ru-RU" sz="2000" b="0" u="none" strike="noStrike" dirty="0" smtClean="0">
                          <a:effectLst/>
                        </a:rPr>
                        <a:t>(экспоненциально или волнообразно)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smtClean="0">
                          <a:effectLst/>
                        </a:rPr>
                        <a:t>q  = 1 </a:t>
                      </a:r>
                      <a:r>
                        <a:rPr lang="ru-RU" sz="2000" u="none" strike="noStrike" dirty="0" smtClean="0">
                          <a:effectLst/>
                        </a:rPr>
                        <a:t>или</a:t>
                      </a:r>
                      <a:r>
                        <a:rPr lang="ru-RU" sz="2000" u="none" strike="noStrike" baseline="0" dirty="0" smtClean="0">
                          <a:effectLst/>
                        </a:rPr>
                        <a:t> 2</a:t>
                      </a:r>
                      <a:r>
                        <a:rPr lang="en-US" sz="2000" u="none" strike="noStrike" baseline="0" dirty="0" smtClean="0">
                          <a:effectLst/>
                        </a:rPr>
                        <a:t> ++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u="none" strike="noStrike" dirty="0" smtClean="0">
                          <a:effectLst/>
                        </a:rPr>
                        <a:t>MA-</a:t>
                      </a:r>
                      <a:r>
                        <a:rPr lang="ru-RU" sz="2000" b="0" u="none" strike="noStrike" dirty="0" smtClean="0">
                          <a:effectLst/>
                        </a:rPr>
                        <a:t>эффект слабый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67765168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ACF и PACF затухают медленно, есть сильная сезонность или нет явного паттерна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ru-RU" sz="2000" b="0" i="1" u="none" strike="noStrike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большие</a:t>
                      </a:r>
                      <a:r>
                        <a:rPr lang="ru-RU" sz="2000" b="0" i="1" u="none" strike="noStrike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значения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i="1" u="none" strike="noStrike" dirty="0" smtClean="0">
                          <a:effectLst/>
                        </a:rPr>
                        <a:t>Лучше</a:t>
                      </a:r>
                      <a:r>
                        <a:rPr lang="ru-RU" sz="2000" i="1" u="none" strike="noStrike" baseline="0" dirty="0" smtClean="0">
                          <a:effectLst/>
                        </a:rPr>
                        <a:t> </a:t>
                      </a:r>
                      <a:r>
                        <a:rPr lang="ru-RU" sz="2000" i="1" u="none" strike="noStrike" baseline="0" dirty="0">
                          <a:effectLst/>
                        </a:rPr>
                        <a:t>свести ряд к стационарному!</a:t>
                      </a:r>
                      <a:endParaRPr lang="en-US" sz="2000" b="0" i="1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61503096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Нет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существенных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en-US" sz="2000" u="none" strike="noStrike" dirty="0" err="1">
                          <a:effectLst/>
                        </a:rPr>
                        <a:t>корреляций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b="0" i="1" u="none" strike="noStrike" dirty="0" err="1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p,q</a:t>
                      </a:r>
                      <a:r>
                        <a:rPr lang="en-US" sz="2000" b="0" i="1" u="none" strike="noStrike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</a:rPr>
                        <a:t> = (0,0)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2000" u="none" strike="noStrike" dirty="0" err="1">
                          <a:effectLst/>
                        </a:rPr>
                        <a:t>Случайн</a:t>
                      </a:r>
                      <a:r>
                        <a:rPr lang="ru-RU" sz="2000" u="none" strike="noStrike" dirty="0" err="1">
                          <a:effectLst/>
                        </a:rPr>
                        <a:t>ый</a:t>
                      </a:r>
                      <a:r>
                        <a:rPr lang="en-US" sz="2000" u="none" strike="noStrike" dirty="0">
                          <a:effectLst/>
                        </a:rPr>
                        <a:t> </a:t>
                      </a:r>
                      <a:r>
                        <a:rPr lang="ru-RU" sz="2000" u="none" strike="noStrike" dirty="0">
                          <a:effectLst/>
                        </a:rPr>
                        <a:t>ряд</a:t>
                      </a:r>
                      <a:r>
                        <a:rPr lang="en-US" sz="2000" u="none" strike="noStrike" dirty="0">
                          <a:effectLst/>
                        </a:rPr>
                        <a:t>.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33632095"/>
                  </a:ext>
                </a:extLst>
              </a:tr>
              <a:tr h="296970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Резкие но редкие выбросы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гасит) одноразовые воздействия (нештатные</a:t>
                      </a:r>
                      <a:r>
                        <a:rPr lang="ru-RU" sz="18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ситуации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94989113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инертен, напр. температура, давление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p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AR-</a:t>
                      </a:r>
                      <a:r>
                        <a:rPr lang="ru-RU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часть учитывает "инерцию" системы (память)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02518114"/>
                  </a:ext>
                </a:extLst>
              </a:tr>
              <a:tr h="16723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u="none" strike="noStrike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Ряд зашумлен</a:t>
                      </a:r>
                      <a:endParaRPr lang="en-US" sz="2000" u="none" strike="noStrike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Увеличить</a:t>
                      </a:r>
                      <a:r>
                        <a:rPr lang="en-US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q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20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MA-часть фильтрует</a:t>
                      </a:r>
                      <a:r>
                        <a:rPr lang="ru-RU" sz="2000" b="0" i="0" kern="1200" baseline="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шумы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Georgia" panose="02040502050405020303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1080999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7" name="Прямоугольник 6"/>
              <p:cNvSpPr/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 smtClean="0">
                    <a:solidFill>
                      <a:srgbClr val="1D1D20"/>
                    </a:solidFill>
                  </a:rPr>
                  <a:t>Простые модели </a:t>
                </a:r>
                <a:r>
                  <a:rPr lang="ru-RU" sz="2000" dirty="0">
                    <a:solidFill>
                      <a:srgbClr val="1D1D20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000" i="1" dirty="0" smtClean="0">
                        <a:solidFill>
                          <a:srgbClr val="1D1D20"/>
                        </a:solidFill>
                        <a:latin typeface="Cambria Math" panose="02040503050406030204" pitchFamily="18" charset="0"/>
                      </a:rPr>
                      <m:t>≤(2,2)</m:t>
                    </m:r>
                  </m:oMath>
                </a14:m>
                <a:r>
                  <a:rPr lang="ru-RU" sz="2000" dirty="0" smtClean="0">
                    <a:solidFill>
                      <a:srgbClr val="1D1D20"/>
                    </a:solidFill>
                  </a:rPr>
                  <a:t>) </a:t>
                </a:r>
                <a:r>
                  <a:rPr lang="ru-RU" sz="2000" dirty="0">
                    <a:solidFill>
                      <a:srgbClr val="1D1D20"/>
                    </a:solidFill>
                  </a:rPr>
                  <a:t>часто дают лучшую точность и меньше </a:t>
                </a:r>
                <a:r>
                  <a:rPr lang="ru-RU" sz="2000" dirty="0" smtClean="0">
                    <a:solidFill>
                      <a:srgbClr val="1D1D20"/>
                    </a:solidFill>
                  </a:rPr>
                  <a:t>переобучаются</a:t>
                </a:r>
                <a:r>
                  <a:rPr lang="en-US" sz="2000" dirty="0" smtClean="0">
                    <a:solidFill>
                      <a:srgbClr val="1D1D20"/>
                    </a:solidFill>
                  </a:rPr>
                  <a:t> </a:t>
                </a:r>
                <a:r>
                  <a:rPr lang="ru-RU" sz="2000" dirty="0" smtClean="0">
                    <a:solidFill>
                      <a:srgbClr val="1D1D20"/>
                    </a:solidFill>
                  </a:rPr>
                  <a:t>на небольших данных и краткосрочных прогнозах, также такие модели легче интерпретировать</a:t>
                </a:r>
              </a:p>
              <a:p>
                <a:pPr marL="285750" indent="-285750" fontAlgn="base">
                  <a:buFont typeface="Arial" panose="020B0604020202020204" pitchFamily="34" charset="0"/>
                  <a:buChar char="•"/>
                </a:pPr>
                <a:r>
                  <a:rPr lang="ru-RU" sz="2000" dirty="0" smtClean="0">
                    <a:solidFill>
                      <a:srgbClr val="1D1D20"/>
                    </a:solidFill>
                  </a:rPr>
                  <a:t>Чем меньше горизонт прогнозирования, тем меньше требования к стационарности ВР</a:t>
                </a:r>
                <a:endParaRPr lang="ru-RU" sz="2000" dirty="0">
                  <a:solidFill>
                    <a:srgbClr val="1D1D20"/>
                  </a:solidFill>
                </a:endParaRPr>
              </a:p>
            </p:txBody>
          </p:sp>
        </mc:Choice>
        <mc:Fallback>
          <p:sp>
            <p:nvSpPr>
              <p:cNvPr id="7" name="Прямоугольник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428" y="5795683"/>
                <a:ext cx="11383309" cy="1015663"/>
              </a:xfrm>
              <a:prstGeom prst="rect">
                <a:avLst/>
              </a:prstGeom>
              <a:blipFill>
                <a:blip r:embed="rId2"/>
                <a:stretch>
                  <a:fillRect l="-482" t="-3614" r="-268" b="-1024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Рисунок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350" y="6967896"/>
            <a:ext cx="5319712" cy="1275991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1143000" y="7173010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 smtClean="0"/>
              <a:t>https://xiaorui.site/Forecasting-and-Time-Series-Methods/Lecture/2_AR_MA.html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18749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 smtClean="0"/>
              <a:t>Выбор</a:t>
            </a:r>
            <a:r>
              <a:rPr lang="en-US" b="1" dirty="0" smtClean="0"/>
              <a:t> </a:t>
            </a:r>
            <a:r>
              <a:rPr lang="ru-RU" b="1" dirty="0" smtClean="0"/>
              <a:t>начальных значений</a:t>
            </a:r>
            <a:r>
              <a:rPr lang="en-US" b="1" dirty="0" smtClean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 smtClean="0"/>
              <a:t>Модели записываются в виде </a:t>
            </a:r>
            <a:r>
              <a:rPr lang="en-US" sz="2200" dirty="0" smtClean="0"/>
              <a:t>ARMA(</a:t>
            </a:r>
            <a:r>
              <a:rPr lang="en-US" sz="2200" dirty="0" err="1" smtClean="0"/>
              <a:t>p,q</a:t>
            </a:r>
            <a:r>
              <a:rPr lang="en-US" sz="2200" dirty="0" smtClean="0"/>
              <a:t>)</a:t>
            </a:r>
            <a:r>
              <a:rPr lang="ru-RU" sz="2200" dirty="0" smtClean="0"/>
              <a:t> – что значит модель </a:t>
            </a:r>
            <a:r>
              <a:rPr lang="en-US" sz="2200" dirty="0" smtClean="0"/>
              <a:t>p-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AR </a:t>
            </a:r>
            <a:r>
              <a:rPr lang="ru-RU" sz="2200" dirty="0" smtClean="0"/>
              <a:t>и </a:t>
            </a:r>
            <a:r>
              <a:rPr lang="en-US" sz="2200" dirty="0" smtClean="0"/>
              <a:t>q-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MA</a:t>
            </a:r>
            <a:endParaRPr lang="ru-RU" sz="2200" dirty="0"/>
          </a:p>
        </p:txBody>
      </p:sp>
      <p:pic>
        <p:nvPicPr>
          <p:cNvPr id="3076" name="Picture 4" descr="AR(1) process with $\phi_1=0.9$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6882" y="678330"/>
            <a:ext cx="6302375" cy="4501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https://openforecast.org/adam/BJApproach.html</a:t>
            </a:r>
            <a:endParaRPr lang="ru-RU" dirty="0"/>
          </a:p>
        </p:txBody>
      </p:sp>
      <p:pic>
        <p:nvPicPr>
          <p:cNvPr id="3078" name="Picture 6" descr="AR(2) process with $\phi_1=0.9$ and $\phi_2=-0.4$.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8903" y="1047662"/>
            <a:ext cx="5159375" cy="3685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481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4341" y="147911"/>
            <a:ext cx="10515600" cy="612028"/>
          </a:xfrm>
        </p:spPr>
        <p:txBody>
          <a:bodyPr>
            <a:normAutofit fontScale="90000"/>
          </a:bodyPr>
          <a:lstStyle/>
          <a:p>
            <a:pPr algn="l" rtl="0"/>
            <a:r>
              <a:rPr lang="en-US" b="1" dirty="0" err="1" smtClean="0"/>
              <a:t>Выбор</a:t>
            </a:r>
            <a:r>
              <a:rPr lang="en-US" b="1" dirty="0" smtClean="0"/>
              <a:t> </a:t>
            </a:r>
            <a:r>
              <a:rPr lang="ru-RU" b="1" dirty="0" smtClean="0"/>
              <a:t>начальных значений</a:t>
            </a:r>
            <a:r>
              <a:rPr lang="en-US" b="1" dirty="0" smtClean="0"/>
              <a:t> </a:t>
            </a:r>
            <a:r>
              <a:rPr lang="ru-RU" b="1" dirty="0"/>
              <a:t>порядка</a:t>
            </a:r>
            <a:r>
              <a:rPr lang="en-US" b="1" dirty="0"/>
              <a:t> ARMA</a:t>
            </a:r>
            <a:endParaRPr lang="en-US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0ACB7F2-07F5-4100-AF8D-CFA14F65E0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678330"/>
            <a:ext cx="11932241" cy="5853952"/>
          </a:xfrm>
        </p:spPr>
        <p:txBody>
          <a:bodyPr>
            <a:normAutofit/>
          </a:bodyPr>
          <a:lstStyle/>
          <a:p>
            <a:pPr algn="l" rtl="0"/>
            <a:endParaRPr lang="en-US" sz="2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156882" y="6316837"/>
            <a:ext cx="119322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200" dirty="0" smtClean="0"/>
              <a:t>Модели записываются в виде </a:t>
            </a:r>
            <a:r>
              <a:rPr lang="en-US" sz="2200" dirty="0" smtClean="0"/>
              <a:t>ARMA(</a:t>
            </a:r>
            <a:r>
              <a:rPr lang="en-US" sz="2200" dirty="0" err="1" smtClean="0"/>
              <a:t>p,q</a:t>
            </a:r>
            <a:r>
              <a:rPr lang="en-US" sz="2200" dirty="0" smtClean="0"/>
              <a:t>)</a:t>
            </a:r>
            <a:r>
              <a:rPr lang="ru-RU" sz="2200" dirty="0" smtClean="0"/>
              <a:t> – что значит модель </a:t>
            </a:r>
            <a:r>
              <a:rPr lang="en-US" sz="2200" dirty="0" smtClean="0"/>
              <a:t>p-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AR </a:t>
            </a:r>
            <a:r>
              <a:rPr lang="ru-RU" sz="2200" dirty="0" smtClean="0"/>
              <a:t>и </a:t>
            </a:r>
            <a:r>
              <a:rPr lang="en-US" sz="2200" dirty="0" smtClean="0"/>
              <a:t>q-</a:t>
            </a:r>
            <a:r>
              <a:rPr lang="ru-RU" sz="2200" dirty="0" smtClean="0"/>
              <a:t>порядка по </a:t>
            </a:r>
            <a:r>
              <a:rPr lang="en-US" sz="2200" dirty="0" smtClean="0"/>
              <a:t>MA</a:t>
            </a:r>
            <a:endParaRPr lang="ru-RU" sz="22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94341" y="6029114"/>
            <a:ext cx="480182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 smtClean="0"/>
              <a:t>https://openforecast.org/adam/BJApproach.html</a:t>
            </a:r>
            <a:endParaRPr lang="ru-RU" dirty="0"/>
          </a:p>
        </p:txBody>
      </p:sp>
      <p:pic>
        <p:nvPicPr>
          <p:cNvPr id="6146" name="Picture 2" descr="MA(2) process with $\theta_1=-0.9$ and $\theta_2=0.8$.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28" y="1069222"/>
            <a:ext cx="5438775" cy="3884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ARMA(2,2) process with $\phi_1=0.9, \phi_2=-0.4$, $\theta_1=-0.9$ and $\theta_2=0.8$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8820" y="1069222"/>
            <a:ext cx="6106432" cy="43617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061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ряда </a:t>
            </a:r>
            <a:r>
              <a:rPr lang="en-US" dirty="0"/>
              <a:t>ARMA(1,2)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 descr="graph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098" y="1593135"/>
            <a:ext cx="5640421" cy="5127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raph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4580" y="1439694"/>
            <a:ext cx="5301322" cy="5176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49463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r>
                  <a:rPr lang="ru-RU" sz="2200" dirty="0"/>
                  <a:t>После изначального выбора </a:t>
                </a:r>
                <a:r>
                  <a:rPr lang="en-US" sz="2200" dirty="0"/>
                  <a:t>ARAM </a:t>
                </a:r>
                <a:r>
                  <a:rPr lang="ru-RU" sz="2200" dirty="0"/>
                  <a:t>коэффициентов следует </a:t>
                </a:r>
                <a:r>
                  <a:rPr lang="ru-RU" sz="2200" dirty="0" err="1"/>
                  <a:t>дообучить</a:t>
                </a:r>
                <a:r>
                  <a:rPr lang="ru-RU" sz="2200" dirty="0"/>
                  <a:t> модель</a:t>
                </a:r>
                <a:r>
                  <a:rPr lang="en-US" sz="2200" dirty="0"/>
                  <a:t> </a:t>
                </a:r>
                <a:r>
                  <a:rPr lang="ru-RU" sz="2200" dirty="0"/>
                  <a:t>(т.е. взять несколько моделей и сравнить их).</a:t>
                </a:r>
              </a:p>
              <a:p>
                <a:r>
                  <a:rPr lang="ru-RU" sz="2200" dirty="0" smtClean="0"/>
                  <a:t>Для сравнения моделей на тренировочной выборке часто используют информационный критерий</a:t>
                </a:r>
                <a:endParaRPr lang="en-US" sz="2200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sz="2200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Информационный критерий </a:t>
                </a:r>
                <a:r>
                  <a:rPr lang="ru-RU" sz="2200" dirty="0" err="1"/>
                  <a:t>Акайке</a:t>
                </a:r>
                <a:endParaRPr lang="en-US" sz="2200" dirty="0"/>
              </a:p>
              <a:p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𝑅𝑆𝑆</m:t>
                        </m:r>
                      </m:num>
                      <m:den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den>
                    </m:f>
                  </m:oMath>
                </a14:m>
                <a:r>
                  <a:rPr lang="en-US" sz="2200" dirty="0"/>
                  <a:t>  </a:t>
                </a:r>
                <a:r>
                  <a:rPr lang="ru-RU" sz="2200" dirty="0"/>
                  <a:t>оценка правдоподобия модели</a:t>
                </a:r>
                <a:r>
                  <a:rPr lang="en-US" sz="2200" dirty="0"/>
                  <a:t>; </a:t>
                </a:r>
                <a:endParaRPr lang="ru-RU" sz="2200" dirty="0"/>
              </a:p>
              <a:p>
                <a:pPr lvl="1"/>
                <a:r>
                  <a:rPr lang="ru-RU" sz="2200" dirty="0"/>
                  <a:t>На самом деле формула справедлива только если остаток – белый шум</a:t>
                </a:r>
                <a:r>
                  <a:rPr lang="en-US" sz="2200" dirty="0"/>
                  <a:t>, </a:t>
                </a:r>
                <a:endParaRPr lang="ru-RU" sz="2200" dirty="0"/>
              </a:p>
              <a:p>
                <a:pPr lvl="1"/>
                <a:r>
                  <a:rPr lang="ru-RU" sz="2200" i="1" dirty="0"/>
                  <a:t>Для других случаев </a:t>
                </a:r>
                <a:r>
                  <a:rPr lang="ru-RU" sz="2200" i="1" dirty="0" err="1"/>
                  <a:t>формуы</a:t>
                </a:r>
                <a:r>
                  <a:rPr lang="ru-RU" sz="2200" i="1" dirty="0"/>
                  <a:t> будут иметь другой вид!</a:t>
                </a:r>
              </a:p>
              <a:p>
                <a:pPr lvl="2"/>
                <a:r>
                  <a:rPr lang="ru-RU" sz="2200" i="1" dirty="0"/>
                  <a:t>Общий вид: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) =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 – 2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200" i="1" dirty="0"/>
                  <a:t>, </a:t>
                </a:r>
                <a:r>
                  <a:rPr lang="ru-RU" sz="2200" i="1" dirty="0"/>
                  <a:t>где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−</m:t>
                    </m:r>
                  </m:oMath>
                </a14:m>
                <a:r>
                  <a:rPr lang="ru-RU" sz="2200" b="0" i="0" dirty="0"/>
                  <a:t>логогфим функции правдоподобия.</a:t>
                </a:r>
                <a:endParaRPr lang="ru-RU" sz="2200" i="1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𝑅𝑆𝑆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– корень суммы квадратов ошибки, </a:t>
                </a:r>
                <a14:m>
                  <m:oMath xmlns:m="http://schemas.openxmlformats.org/officeDocument/2006/math"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𝑅𝑆𝑆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lang="en-US" sz="2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sz="2200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</m:acc>
                                  </m:e>
                                  <m:sub>
                                    <m:r>
                                      <a:rPr lang="en-US" sz="2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200" dirty="0"/>
                  <a:t>. </a:t>
                </a:r>
                <a:endParaRPr lang="ru-RU" sz="2200" dirty="0"/>
              </a:p>
              <a:p>
                <a:r>
                  <a:rPr lang="en-US" sz="2200" dirty="0"/>
                  <a:t>k </a:t>
                </a:r>
                <a:r>
                  <a:rPr lang="ru-RU" sz="2200" dirty="0"/>
                  <a:t>число параметров, например для </a:t>
                </a:r>
                <a:r>
                  <a:rPr lang="en-US" sz="2200" dirty="0"/>
                  <a:t> ARMA </a:t>
                </a:r>
                <a14:m>
                  <m:oMath xmlns:m="http://schemas.openxmlformats.org/officeDocument/2006/math">
                    <m:r>
                      <a:rPr lang="en-US" sz="220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sz="2200" dirty="0"/>
                  <a:t> </a:t>
                </a:r>
                <a:br>
                  <a:rPr lang="en-US" sz="2200" dirty="0"/>
                </a:br>
                <a:r>
                  <a:rPr lang="ru-RU" sz="2200" dirty="0"/>
                  <a:t>или с константой </a:t>
                </a:r>
                <a14:m>
                  <m:oMath xmlns:m="http://schemas.openxmlformats.org/officeDocument/2006/math">
                    <m:r>
                      <a:rPr lang="en-US" sz="22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𝑞</m:t>
                    </m:r>
                    <m:r>
                      <a:rPr lang="en-US" sz="2200" i="1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sz="2200" dirty="0"/>
                  <a:t>; </a:t>
                </a:r>
              </a:p>
              <a:p>
                <a:pPr lvl="1"/>
                <a:r>
                  <a:rPr lang="ru-RU" sz="2200" dirty="0"/>
                  <a:t>Могут быть и другие выражения для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ru-RU" sz="2200" dirty="0"/>
                  <a:t> в зависимости о числа параметров в модели.</a:t>
                </a:r>
                <a:endParaRPr lang="en-US" sz="22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580" t="-134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4678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B29E92-B795-4F44-A577-A4EBC753A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2028"/>
          </a:xfrm>
        </p:spPr>
        <p:txBody>
          <a:bodyPr>
            <a:normAutofit fontScale="90000"/>
          </a:bodyPr>
          <a:lstStyle/>
          <a:p>
            <a:r>
              <a:rPr lang="ru-RU" b="1" dirty="0" err="1"/>
              <a:t>Дообучение</a:t>
            </a:r>
            <a:r>
              <a:rPr lang="ru-RU" b="1" dirty="0"/>
              <a:t> </a:t>
            </a:r>
            <a:r>
              <a:rPr lang="en-US" b="1" dirty="0"/>
              <a:t>ARMA </a:t>
            </a:r>
            <a:r>
              <a:rPr lang="ru-RU" b="1" dirty="0"/>
              <a:t>коэффициентов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</p:spPr>
            <p:txBody>
              <a:bodyPr>
                <a:normAutofit/>
              </a:bodyPr>
              <a:lstStyle/>
              <a:p>
                <a:pPr marL="228600" lvl="1">
                  <a:spcBef>
                    <a:spcPts val="1000"/>
                  </a:spcBef>
                </a:pPr>
                <a:r>
                  <a:rPr lang="ru-RU" sz="2800" dirty="0"/>
                  <a:t>Разные критерии штрафуют по разному.</a:t>
                </a:r>
                <a:endParaRPr lang="en-US" sz="2800" dirty="0"/>
              </a:p>
              <a:p>
                <a:r>
                  <a:rPr lang="ru-RU" dirty="0"/>
                  <a:t>Есть несколько популярных критериев: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+2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Для </a:t>
                </a:r>
                <a:r>
                  <a:rPr lang="en-US" dirty="0"/>
                  <a:t>ARMA </a:t>
                </a:r>
                <a:r>
                  <a:rPr lang="ru-RU" dirty="0"/>
                  <a:t>процесса может несколько завышать число параметров.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𝐵𝐼𝐶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𝑙𝑛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</m:acc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𝑙𝑛𝑁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Байесовский Информационный критерий</a:t>
                </a:r>
              </a:p>
              <a:p>
                <a:pPr lvl="1"/>
                <a:r>
                  <a:rPr lang="ru-RU" dirty="0"/>
                  <a:t>Штрафует сильнее, чем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</m:oMath>
                </a14:m>
                <a:r>
                  <a:rPr lang="ru-RU" dirty="0"/>
                  <a:t> (оценка снизу), но работает для больших выборок.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𝐴𝐼𝐶𝑐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𝐴𝐼𝐶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+1)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модифицированный Информационный критерий </a:t>
                </a:r>
                <a:r>
                  <a:rPr lang="ru-RU" dirty="0" err="1"/>
                  <a:t>Акайке</a:t>
                </a:r>
                <a:endParaRPr lang="ru-RU" dirty="0"/>
              </a:p>
              <a:p>
                <a:pPr lvl="1"/>
                <a:r>
                  <a:rPr lang="ru-RU" dirty="0"/>
                  <a:t>Рекомендуется при небольших выборках.</a:t>
                </a:r>
              </a:p>
              <a:p>
                <a:r>
                  <a:rPr lang="ru-RU" sz="2000" dirty="0"/>
                  <a:t>Большая выборка или нет определяется по </a:t>
                </a:r>
                <a:r>
                  <a:rPr lang="ru-RU" sz="2000" dirty="0" err="1"/>
                  <a:t>теор</a:t>
                </a:r>
                <a:r>
                  <a:rPr lang="ru-RU" sz="2000" dirty="0"/>
                  <a:t>. Котельникова.</a:t>
                </a:r>
              </a:p>
              <a:p>
                <a:pPr lvl="1"/>
                <a:r>
                  <a:rPr lang="ru-RU" sz="1800" dirty="0"/>
                  <a:t>Можно искусственно сделать выборку большой, но от этого она больше информации содержать не будет. </a:t>
                </a:r>
              </a:p>
              <a:p>
                <a:pPr lvl="1"/>
                <a:r>
                  <a:rPr lang="ru-RU" sz="1800" dirty="0"/>
                  <a:t>Можно </a:t>
                </a:r>
                <a:r>
                  <a:rPr lang="ru-RU" sz="1800" dirty="0" err="1"/>
                  <a:t>децимировать</a:t>
                </a:r>
                <a:r>
                  <a:rPr lang="ru-RU" sz="1800" dirty="0"/>
                  <a:t> выборку, но только если </a:t>
                </a:r>
                <a:r>
                  <a:rPr lang="ru-RU" sz="1800" dirty="0" err="1"/>
                  <a:t>теор</a:t>
                </a:r>
                <a:r>
                  <a:rPr lang="ru-RU" sz="1800" dirty="0"/>
                  <a:t>. Котельникова позволяет</a:t>
                </a:r>
                <a:endParaRPr lang="en-US" sz="18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ACB7F2-07F5-4100-AF8D-CFA14F65E0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46528" y="905436"/>
                <a:ext cx="11564472" cy="5876364"/>
              </a:xfrm>
              <a:blipFill>
                <a:blip r:embed="rId2"/>
                <a:stretch>
                  <a:fillRect l="-948" t="-1763" r="-11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1">
            <a:extLst>
              <a:ext uri="{FF2B5EF4-FFF2-40B4-BE49-F238E27FC236}">
                <a16:creationId xmlns:a16="http://schemas.microsoft.com/office/drawing/2014/main" id="{1A3DAA71-2A2C-4B3E-8B0A-660871E8E4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90100"/>
            <a:ext cx="184731" cy="276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107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1325563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/>
              <a:t>ARMA </a:t>
            </a:r>
            <a:r>
              <a:rPr lang="ru-RU" dirty="0"/>
              <a:t>модели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2634" y="1284051"/>
            <a:ext cx="11200582" cy="5196648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Модель работает для слабо-стационарного ряда (без </a:t>
            </a:r>
            <a:r>
              <a:rPr lang="ru-RU" sz="2400" u="sng" dirty="0" smtClean="0"/>
              <a:t>явного тренда и сезонности</a:t>
            </a:r>
            <a:r>
              <a:rPr lang="ru-RU" sz="2400" u="sng" dirty="0" smtClean="0"/>
              <a:t>)</a:t>
            </a:r>
          </a:p>
          <a:p>
            <a:pPr marL="971550" lvl="1" indent="-514350">
              <a:buFont typeface="+mj-lt"/>
              <a:buAutoNum type="arabicPeriod"/>
            </a:pPr>
            <a:r>
              <a:rPr lang="ru-RU" sz="2000" u="sng" dirty="0" smtClean="0"/>
              <a:t>Если есть тренд и сезонность их надо убрать.</a:t>
            </a:r>
          </a:p>
          <a:p>
            <a:pPr marL="1428750" lvl="2" indent="-514350">
              <a:buFont typeface="+mj-lt"/>
              <a:buAutoNum type="arabicPeriod"/>
            </a:pPr>
            <a:r>
              <a:rPr lang="ru-RU" sz="2200" u="sng" dirty="0" smtClean="0"/>
              <a:t>Можно не убирать, но тогда порядки модели будут очень большие</a:t>
            </a:r>
            <a:endParaRPr lang="ru-RU" sz="22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Чем менее стационарен ряд, тем меньше горизонт точного прогнозирования.</a:t>
            </a:r>
          </a:p>
          <a:p>
            <a:pPr lvl="1"/>
            <a:r>
              <a:rPr lang="ru-RU" u="sng" dirty="0"/>
              <a:t> тем ниже обобщающая способность.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тренировочной и </a:t>
            </a:r>
            <a:r>
              <a:rPr lang="ru-RU" sz="2400" u="sng" dirty="0" err="1"/>
              <a:t>валидационной</a:t>
            </a:r>
            <a:r>
              <a:rPr lang="ru-RU" sz="2400" u="sng" dirty="0"/>
              <a:t> выборки.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Выбор изначальных параметров модели по АКФ и ЧАКФ. </a:t>
            </a:r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Варьирование параметров моделей с целью минимизации </a:t>
            </a:r>
            <a:r>
              <a:rPr lang="en-US" sz="2400" u="sng" dirty="0"/>
              <a:t>BIC </a:t>
            </a:r>
            <a:r>
              <a:rPr lang="ru-RU" sz="2400" u="sng" dirty="0"/>
              <a:t>или</a:t>
            </a:r>
            <a:r>
              <a:rPr lang="en-US" sz="2400" u="sng" dirty="0"/>
              <a:t> </a:t>
            </a:r>
            <a:r>
              <a:rPr lang="en-US" sz="2400" u="sng" dirty="0" err="1"/>
              <a:t>AICc</a:t>
            </a:r>
            <a:r>
              <a:rPr lang="en-US" sz="2400" u="sng" dirty="0"/>
              <a:t> </a:t>
            </a:r>
            <a:r>
              <a:rPr lang="ru-RU" sz="2400" u="sng" dirty="0" smtClean="0"/>
              <a:t>критериев на тренировочной выборке.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/>
              <a:t>Проверка остатков для модели </a:t>
            </a:r>
            <a:r>
              <a:rPr lang="en-US" sz="2400" u="sng" dirty="0"/>
              <a:t>(</a:t>
            </a:r>
            <a:r>
              <a:rPr lang="ru-RU" sz="2400" u="sng" dirty="0"/>
              <a:t>на предмет стационарного БГШ</a:t>
            </a:r>
            <a:r>
              <a:rPr lang="en-US" sz="2400" u="sng" dirty="0"/>
              <a:t>)</a:t>
            </a:r>
            <a:r>
              <a:rPr lang="ru-RU" sz="2400" u="sng" dirty="0"/>
              <a:t>.</a:t>
            </a:r>
            <a:endParaRPr lang="en-US" sz="2400" u="sng" dirty="0"/>
          </a:p>
          <a:p>
            <a:pPr marL="514350" indent="-514350">
              <a:buFont typeface="+mj-lt"/>
              <a:buAutoNum type="arabicPeriod"/>
            </a:pPr>
            <a:r>
              <a:rPr lang="ru-RU" sz="2400" u="sng" dirty="0" smtClean="0"/>
              <a:t>Кросс-</a:t>
            </a:r>
            <a:r>
              <a:rPr lang="ru-RU" sz="2400" u="sng" dirty="0" err="1" smtClean="0"/>
              <a:t>Валидация</a:t>
            </a:r>
            <a:r>
              <a:rPr lang="ru-RU" sz="2400" u="sng" dirty="0"/>
              <a:t>, проверка точности по известным метрикам</a:t>
            </a:r>
            <a:r>
              <a:rPr lang="ru-RU" u="sng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164082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 smtClean="0"/>
              <a:t>Auto</a:t>
            </a:r>
            <a:r>
              <a:rPr lang="en-US" dirty="0" err="1" smtClean="0"/>
              <a:t>ARMA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Объект 3"/>
              <p:cNvSpPr>
                <a:spLocks noGrp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200" dirty="0" smtClean="0"/>
                  <a:t>Процесс подбора </a:t>
                </a:r>
                <a:r>
                  <a:rPr lang="ru-RU" sz="2200" dirty="0" err="1" smtClean="0"/>
                  <a:t>гиперпараметров</a:t>
                </a:r>
                <a:r>
                  <a:rPr lang="ru-RU" sz="2200" dirty="0" smtClean="0"/>
                  <a:t> модели </a:t>
                </a:r>
                <a:r>
                  <a:rPr lang="en-US" sz="2200" dirty="0" smtClean="0"/>
                  <a:t>P, Q </a:t>
                </a:r>
                <a:r>
                  <a:rPr lang="ru-RU" sz="2200" dirty="0" smtClean="0"/>
                  <a:t>можно </a:t>
                </a:r>
                <a:r>
                  <a:rPr lang="ru-RU" sz="2200" dirty="0" err="1" smtClean="0"/>
                  <a:t>алгоримитризировать</a:t>
                </a:r>
                <a:r>
                  <a:rPr lang="ru-RU" sz="2200" dirty="0" smtClean="0"/>
                  <a:t>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Наиболее простой алгоритм </a:t>
                </a:r>
                <a:r>
                  <a:rPr lang="ru-RU" sz="2200" dirty="0"/>
                  <a:t>поиска </a:t>
                </a:r>
                <a:r>
                  <a:rPr lang="en-US" sz="2200" dirty="0"/>
                  <a:t>Hyndman-</a:t>
                </a:r>
                <a:r>
                  <a:rPr lang="en-US" sz="2200" dirty="0" err="1"/>
                  <a:t>Khandakar</a:t>
                </a:r>
                <a:r>
                  <a:rPr lang="en-US" sz="2200" dirty="0"/>
                  <a:t> algorithm </a:t>
                </a:r>
                <a:endParaRPr lang="ru-RU" sz="22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Задаются начальные значения </a:t>
                </a:r>
                <a:r>
                  <a:rPr lang="en-US" sz="2200" dirty="0" smtClean="0"/>
                  <a:t>P, Q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Строится </a:t>
                </a:r>
                <a:r>
                  <a:rPr lang="en-US" sz="2200" dirty="0" smtClean="0"/>
                  <a:t>5</a:t>
                </a:r>
                <a:r>
                  <a:rPr lang="ru-RU" sz="2200" dirty="0" smtClean="0"/>
                  <a:t> моделей </a:t>
                </a:r>
                <a:r>
                  <a:rPr lang="en-US" sz="2200" dirty="0" smtClean="0"/>
                  <a:t>ARMA (P-1,Q), </a:t>
                </a:r>
                <a:r>
                  <a:rPr lang="en-US" sz="2200" dirty="0" smtClean="0"/>
                  <a:t>ARMA (P,Q-1)</a:t>
                </a:r>
                <a:r>
                  <a:rPr lang="ru-RU" sz="2200" dirty="0" smtClean="0"/>
                  <a:t>, </a:t>
                </a:r>
                <a:r>
                  <a:rPr lang="en-US" sz="2200" dirty="0" smtClean="0"/>
                  <a:t>ARMA (P,Q)</a:t>
                </a:r>
                <a:r>
                  <a:rPr lang="ru-RU" sz="2200" dirty="0" smtClean="0"/>
                  <a:t>, </a:t>
                </a:r>
                <a:r>
                  <a:rPr lang="en-US" sz="2200" dirty="0" smtClean="0"/>
                  <a:t>ARMA (P</a:t>
                </a:r>
                <a:r>
                  <a:rPr lang="ru-RU" sz="2200" dirty="0" smtClean="0"/>
                  <a:t>+1</a:t>
                </a:r>
                <a:r>
                  <a:rPr lang="en-US" sz="2200" dirty="0" smtClean="0"/>
                  <a:t>,Q), ARMA (P,Q</a:t>
                </a:r>
                <a:r>
                  <a:rPr lang="ru-RU" sz="2200" dirty="0" smtClean="0"/>
                  <a:t>+</a:t>
                </a:r>
                <a:r>
                  <a:rPr lang="en-US" sz="2200" dirty="0" smtClean="0"/>
                  <a:t>1)</a:t>
                </a:r>
                <a:r>
                  <a:rPr lang="ru-RU" sz="2200" dirty="0" smtClean="0"/>
                  <a:t>, могут также модели с константой</a:t>
                </a:r>
                <a:endParaRPr lang="ru-RU" sz="2200" dirty="0" smtClean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Рассчитываются </a:t>
                </a:r>
                <a:r>
                  <a:rPr lang="en-US" sz="2200" dirty="0" err="1" smtClean="0"/>
                  <a:t>AICc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для всех случаев.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Для лучшей модели </a:t>
                </a:r>
                <a:r>
                  <a:rPr lang="en-US" sz="2200" dirty="0" smtClean="0"/>
                  <a:t>(</a:t>
                </a:r>
                <a:r>
                  <a:rPr lang="en-US" sz="2200" dirty="0" err="1" smtClean="0"/>
                  <a:t>AICc</a:t>
                </a:r>
                <a:r>
                  <a:rPr lang="en-US" sz="2200" dirty="0" smtClean="0"/>
                  <a:t> </a:t>
                </a:r>
                <a:r>
                  <a:rPr lang="ru-RU" sz="2200" dirty="0" smtClean="0"/>
                  <a:t>минимальный) обновляются </a:t>
                </a:r>
                <a:r>
                  <a:rPr lang="en-US" sz="2200" dirty="0" smtClean="0"/>
                  <a:t>P, Q</a:t>
                </a:r>
                <a:endParaRPr lang="ru-RU" sz="2200" dirty="0" smtClean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ru-RU" sz="2200" dirty="0" smtClean="0"/>
                  <a:t>Процесс повторяется с шага 2 (</a:t>
                </a:r>
                <a:r>
                  <a:rPr lang="ru-RU" sz="2200" dirty="0" smtClean="0"/>
                  <a:t>до сходимости)</a:t>
                </a:r>
                <a:r>
                  <a:rPr lang="ru-RU" sz="2200" dirty="0" smtClean="0"/>
                  <a:t>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Если несколько комбинаций </a:t>
                </a:r>
                <a:r>
                  <a:rPr lang="en-US" sz="2200" dirty="0" smtClean="0"/>
                  <a:t>P, Q</a:t>
                </a:r>
                <a:r>
                  <a:rPr lang="ru-RU" sz="2200" dirty="0" smtClean="0"/>
                  <a:t> имеют стат. неразличимые </a:t>
                </a:r>
                <a:br>
                  <a:rPr lang="ru-RU" sz="2200" dirty="0" smtClean="0"/>
                </a:br>
                <a:r>
                  <a:rPr lang="en-US" sz="2200" dirty="0" err="1" smtClean="0"/>
                  <a:t>AICc</a:t>
                </a:r>
                <a:r>
                  <a:rPr lang="ru-RU" sz="2200" dirty="0" smtClean="0"/>
                  <a:t> – лучше проверить все.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Процесс выполняется на тренировочных данных.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После получения модели рекомендуется проверить остатки на БГШ</a:t>
                </a:r>
              </a:p>
              <a:p>
                <a:pPr marL="0" indent="0">
                  <a:buNone/>
                </a:pPr>
                <a:r>
                  <a:rPr lang="ru-RU" sz="2200" dirty="0" smtClean="0"/>
                  <a:t>На тесте возможно варьирование </a:t>
                </a:r>
                <a:r>
                  <a:rPr lang="en-US" sz="2200" dirty="0" smtClean="0"/>
                  <a:t>P, Q</a:t>
                </a:r>
                <a:r>
                  <a:rPr lang="ru-RU" sz="2200" dirty="0" smtClean="0"/>
                  <a:t> </a:t>
                </a:r>
                <a14:m>
                  <m:oMath xmlns:m="http://schemas.openxmlformats.org/officeDocument/2006/math">
                    <m:r>
                      <a:rPr lang="ru-RU" sz="2200" i="1" dirty="0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ru-RU" sz="2200" dirty="0" smtClean="0"/>
                  <a:t>1</a:t>
                </a:r>
              </a:p>
              <a:p>
                <a:pPr marL="0" indent="0">
                  <a:buNone/>
                </a:pPr>
                <a:endParaRPr lang="en-US" sz="2200" dirty="0" smtClean="0"/>
              </a:p>
              <a:p>
                <a:endParaRPr lang="ru-RU" sz="2200" dirty="0"/>
              </a:p>
            </p:txBody>
          </p:sp>
        </mc:Choice>
        <mc:Fallback>
          <p:sp>
            <p:nvSpPr>
              <p:cNvPr id="4" name="Объект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125" y="914399"/>
                <a:ext cx="11534775" cy="5553075"/>
              </a:xfrm>
              <a:blipFill>
                <a:blip r:embed="rId2"/>
                <a:stretch>
                  <a:fillRect l="-687" t="-14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172" name="Picture 4" descr="https://otexts.com/fpppy/nbs/09-arima_files/figure-html/fig-armagridsearch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2962275"/>
            <a:ext cx="3638550" cy="3638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400" dirty="0" smtClean="0"/>
              <a:t>https://otexts.com/fpppy/nbs/09-arima.html#sec-arima-estimation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21073213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38125" y="136525"/>
            <a:ext cx="10515600" cy="777875"/>
          </a:xfrm>
        </p:spPr>
        <p:txBody>
          <a:bodyPr/>
          <a:lstStyle/>
          <a:p>
            <a:r>
              <a:rPr lang="ru-RU" dirty="0"/>
              <a:t>Алгоритм </a:t>
            </a:r>
            <a:r>
              <a:rPr lang="en-US" dirty="0" err="1" smtClean="0"/>
              <a:t>Auto</a:t>
            </a:r>
            <a:r>
              <a:rPr lang="en-US" dirty="0" err="1" smtClean="0"/>
              <a:t>ARMA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238125" y="6467474"/>
            <a:ext cx="6096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 smtClean="0"/>
              <a:t>https://alkaline-ml.com/pmdarima/auto_examples/example_pipeline.html</a:t>
            </a:r>
            <a:endParaRPr lang="ru-RU" sz="14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37123"/>
          <a:stretch/>
        </p:blipFill>
        <p:spPr>
          <a:xfrm>
            <a:off x="5981700" y="2508049"/>
            <a:ext cx="5823307" cy="417195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2"/>
          <a:srcRect t="63451" r="29012"/>
          <a:stretch/>
        </p:blipFill>
        <p:spPr>
          <a:xfrm>
            <a:off x="122312" y="914400"/>
            <a:ext cx="5765652" cy="3382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8538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9080" y="2371415"/>
            <a:ext cx="10932920" cy="3760934"/>
          </a:xfrm>
        </p:spPr>
        <p:txBody>
          <a:bodyPr>
            <a:normAutofit fontScale="90000"/>
          </a:bodyPr>
          <a:lstStyle/>
          <a:p>
            <a:r>
              <a:rPr lang="ru-RU" sz="8800" b="1" dirty="0"/>
              <a:t>М</a:t>
            </a:r>
            <a:r>
              <a:rPr lang="en-US" sz="8800" b="1" dirty="0" err="1"/>
              <a:t>одели</a:t>
            </a:r>
            <a:r>
              <a:rPr lang="en-US" sz="8800" b="1" dirty="0"/>
              <a:t> </a:t>
            </a:r>
            <a:r>
              <a:rPr lang="ru-RU" sz="8800" b="1" dirty="0"/>
              <a:t>интегрированной а</a:t>
            </a:r>
            <a:r>
              <a:rPr lang="en-US" sz="8800" b="1" dirty="0" err="1"/>
              <a:t>вторегресси</a:t>
            </a:r>
            <a:r>
              <a:rPr lang="ru-RU" sz="8800" b="1" dirty="0"/>
              <a:t>и</a:t>
            </a:r>
            <a:r>
              <a:rPr lang="en-US" sz="8800" b="1" dirty="0"/>
              <a:t> </a:t>
            </a:r>
            <a:br>
              <a:rPr lang="en-US" sz="8800" b="1" dirty="0"/>
            </a:br>
            <a:r>
              <a:rPr lang="ru-RU" sz="8800" b="1" dirty="0"/>
              <a:t>с</a:t>
            </a:r>
            <a:r>
              <a:rPr lang="en-US" sz="8800" b="1" dirty="0" err="1"/>
              <a:t>кользящ</a:t>
            </a:r>
            <a:r>
              <a:rPr lang="ru-RU" sz="8800" b="1" dirty="0"/>
              <a:t>его</a:t>
            </a:r>
            <a:r>
              <a:rPr lang="en-US" sz="8800" b="1" dirty="0"/>
              <a:t> </a:t>
            </a:r>
            <a:r>
              <a:rPr lang="en-US" sz="8800" b="1" dirty="0" err="1"/>
              <a:t>средн</a:t>
            </a:r>
            <a:r>
              <a:rPr lang="ru-RU" sz="8800" b="1" dirty="0"/>
              <a:t>его</a:t>
            </a:r>
            <a:br>
              <a:rPr lang="ru-RU" sz="8800" b="1" dirty="0"/>
            </a:br>
            <a:r>
              <a:rPr lang="en-US" sz="8800" b="1" dirty="0"/>
              <a:t>ARIMA </a:t>
            </a:r>
          </a:p>
        </p:txBody>
      </p:sp>
    </p:spTree>
    <p:extLst>
      <p:ext uri="{BB962C8B-B14F-4D97-AF65-F5344CB8AC3E}">
        <p14:creationId xmlns:p14="http://schemas.microsoft.com/office/powerpoint/2010/main" val="3884849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A10D1-E2DF-4CAB-A0B5-AD303DF564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6225" y="365125"/>
            <a:ext cx="11077575" cy="827181"/>
          </a:xfrm>
        </p:spPr>
        <p:txBody>
          <a:bodyPr>
            <a:noAutofit/>
          </a:bodyPr>
          <a:lstStyle/>
          <a:p>
            <a:pPr algn="ctr"/>
            <a:r>
              <a:rPr lang="ru-RU" sz="3600" b="1" dirty="0"/>
              <a:t>М</a:t>
            </a:r>
            <a:r>
              <a:rPr lang="en-US" sz="3600" b="1" dirty="0" err="1"/>
              <a:t>одели</a:t>
            </a:r>
            <a:r>
              <a:rPr lang="ru-RU" sz="3600" b="1" dirty="0"/>
              <a:t> интегрированной</a:t>
            </a:r>
            <a:r>
              <a:rPr lang="en-US" sz="3600" b="1" dirty="0"/>
              <a:t> </a:t>
            </a:r>
            <a:r>
              <a:rPr lang="ru-RU" sz="3600" b="1" dirty="0"/>
              <a:t>а</a:t>
            </a:r>
            <a:r>
              <a:rPr lang="en-US" sz="3600" b="1" dirty="0" err="1"/>
              <a:t>вторегресси</a:t>
            </a:r>
            <a:r>
              <a:rPr lang="ru-RU" sz="3600" b="1" dirty="0"/>
              <a:t> -</a:t>
            </a:r>
            <a:r>
              <a:rPr lang="en-US" sz="3600" b="1" dirty="0"/>
              <a:t> </a:t>
            </a:r>
            <a:r>
              <a:rPr lang="ru-RU" sz="3600" b="1" dirty="0"/>
              <a:t>с</a:t>
            </a:r>
            <a:r>
              <a:rPr lang="en-US" sz="3600" b="1" dirty="0" err="1"/>
              <a:t>кользящ</a:t>
            </a:r>
            <a:r>
              <a:rPr lang="ru-RU" sz="3600" b="1" dirty="0"/>
              <a:t>его</a:t>
            </a:r>
            <a:r>
              <a:rPr lang="en-US" sz="3600" b="1" dirty="0"/>
              <a:t> </a:t>
            </a:r>
            <a:r>
              <a:rPr lang="en-US" sz="3600" b="1" dirty="0" err="1"/>
              <a:t>средн</a:t>
            </a:r>
            <a:r>
              <a:rPr lang="ru-RU" sz="3600" b="1" dirty="0"/>
              <a:t>его </a:t>
            </a:r>
            <a:r>
              <a:rPr lang="en-US" sz="3600" b="1" dirty="0"/>
              <a:t>(ARIMA)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D767B6-15E9-44FE-83F3-68423D4C12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612" y="1279188"/>
            <a:ext cx="11232776" cy="5168266"/>
          </a:xfrm>
        </p:spPr>
        <p:txBody>
          <a:bodyPr>
            <a:normAutofit/>
          </a:bodyPr>
          <a:lstStyle/>
          <a:p>
            <a:pPr algn="l" rtl="0">
              <a:lnSpc>
                <a:spcPct val="100000"/>
              </a:lnSpc>
            </a:pPr>
            <a:r>
              <a:rPr lang="en-US" sz="2400" dirty="0"/>
              <a:t>Основным недостатком процесса ARMA в ранее описанной форме является </a:t>
            </a:r>
            <a:r>
              <a:rPr lang="en-US" sz="2400" dirty="0" err="1"/>
              <a:t>внутреннее</a:t>
            </a:r>
            <a:r>
              <a:rPr lang="en-US" sz="2400" dirty="0"/>
              <a:t> </a:t>
            </a:r>
            <a:r>
              <a:rPr lang="en-US" sz="2400" dirty="0" err="1"/>
              <a:t>требование</a:t>
            </a:r>
            <a:r>
              <a:rPr lang="en-US" sz="2400" dirty="0"/>
              <a:t> </a:t>
            </a:r>
            <a:r>
              <a:rPr lang="ru-RU" sz="2400" dirty="0"/>
              <a:t>стационарности</a:t>
            </a:r>
            <a:r>
              <a:rPr lang="en-US" sz="2400" dirty="0"/>
              <a:t>, которое лежит в процедуре поиска коэффициентов. </a:t>
            </a:r>
            <a:endParaRPr lang="en-US" sz="2400" dirty="0" smtClean="0"/>
          </a:p>
          <a:p>
            <a:pPr lvl="1">
              <a:lnSpc>
                <a:spcPct val="100000"/>
              </a:lnSpc>
            </a:pPr>
            <a:r>
              <a:rPr lang="ru-RU" sz="2000" dirty="0" smtClean="0"/>
              <a:t>Следующее значение всегда задается набором </a:t>
            </a:r>
            <a:r>
              <a:rPr lang="en-US" sz="2000" dirty="0" smtClean="0"/>
              <a:t>(</a:t>
            </a:r>
            <a:r>
              <a:rPr lang="en-US" sz="2000" dirty="0" err="1" smtClean="0"/>
              <a:t>p,q</a:t>
            </a:r>
            <a:r>
              <a:rPr lang="en-US" sz="2000" dirty="0" smtClean="0"/>
              <a:t>) </a:t>
            </a:r>
            <a:r>
              <a:rPr lang="ru-RU" sz="2000" dirty="0" smtClean="0"/>
              <a:t>предыдущих значений и их ошибок. Это значит что паттерны во ВР всегда должны быть одни и </a:t>
            </a:r>
            <a:r>
              <a:rPr lang="ru-RU" sz="2000" dirty="0" err="1" smtClean="0"/>
              <a:t>теже</a:t>
            </a:r>
            <a:r>
              <a:rPr lang="ru-RU" sz="2000" dirty="0" smtClean="0"/>
              <a:t>.</a:t>
            </a:r>
            <a:endParaRPr lang="en-US" sz="2000" dirty="0"/>
          </a:p>
          <a:p>
            <a:pPr algn="l" rtl="0">
              <a:lnSpc>
                <a:spcPct val="100000"/>
              </a:lnSpc>
            </a:pPr>
            <a:r>
              <a:rPr lang="ru-RU" sz="2400" dirty="0" smtClean="0"/>
              <a:t>Чем </a:t>
            </a:r>
            <a:r>
              <a:rPr lang="ru-RU" sz="2400" dirty="0"/>
              <a:t>менее стационарный ряд – тем больше ошибка и тем больше она растет при увеличении горизонта прогнозирования</a:t>
            </a:r>
            <a:r>
              <a:rPr lang="ru-RU" sz="2400" dirty="0" smtClean="0"/>
              <a:t>.</a:t>
            </a:r>
          </a:p>
          <a:p>
            <a:pPr algn="l" rtl="0">
              <a:lnSpc>
                <a:spcPct val="100000"/>
              </a:lnSpc>
            </a:pPr>
            <a:r>
              <a:rPr lang="ru-RU" sz="2400" dirty="0" smtClean="0"/>
              <a:t>Если ряд </a:t>
            </a:r>
            <a:r>
              <a:rPr lang="en-US" sz="2400" dirty="0" smtClean="0"/>
              <a:t>TS-</a:t>
            </a:r>
            <a:r>
              <a:rPr lang="ru-RU" sz="2400" dirty="0" smtClean="0"/>
              <a:t>стационарный (по </a:t>
            </a:r>
            <a:r>
              <a:rPr lang="ru-RU" sz="2400" dirty="0" err="1" smtClean="0"/>
              <a:t>отн</a:t>
            </a:r>
            <a:r>
              <a:rPr lang="ru-RU" sz="2400" dirty="0" smtClean="0"/>
              <a:t>. К тренду и сезонности), то можно попытаться их убрать и аппроксимировать то что осталось </a:t>
            </a:r>
            <a:r>
              <a:rPr lang="en-US" sz="2400" dirty="0" smtClean="0"/>
              <a:t>ARMA</a:t>
            </a:r>
          </a:p>
          <a:p>
            <a:pPr>
              <a:lnSpc>
                <a:spcPct val="100000"/>
              </a:lnSpc>
            </a:pPr>
            <a:r>
              <a:rPr lang="ru-RU" sz="2400" dirty="0" smtClean="0"/>
              <a:t>Если ряд </a:t>
            </a:r>
            <a:r>
              <a:rPr lang="en-US" sz="2400" dirty="0" smtClean="0"/>
              <a:t>DS-</a:t>
            </a:r>
            <a:r>
              <a:rPr lang="ru-RU" sz="2400" dirty="0" smtClean="0"/>
              <a:t>стационарный (</a:t>
            </a:r>
            <a:r>
              <a:rPr lang="ru-RU" sz="2400" dirty="0" smtClean="0"/>
              <a:t>разности стационарны</a:t>
            </a:r>
            <a:r>
              <a:rPr lang="ru-RU" sz="2400" dirty="0" smtClean="0"/>
              <a:t>), то можно попытаться встроить этот процесс в модель </a:t>
            </a:r>
            <a:r>
              <a:rPr lang="en-US" sz="2400" dirty="0" smtClean="0"/>
              <a:t>ARMA</a:t>
            </a:r>
            <a:r>
              <a:rPr lang="ru-RU" sz="2400" dirty="0" smtClean="0"/>
              <a:t> </a:t>
            </a:r>
            <a:endParaRPr lang="en-US" sz="2400" dirty="0" smtClean="0"/>
          </a:p>
          <a:p>
            <a:pPr algn="l" rtl="0">
              <a:lnSpc>
                <a:spcPct val="100000"/>
              </a:lnSpc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720655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623</TotalTime>
  <Words>860</Words>
  <Application>Microsoft Office PowerPoint</Application>
  <PresentationFormat>Широкоэкранный</PresentationFormat>
  <Paragraphs>164</Paragraphs>
  <Slides>20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Georgia</vt:lpstr>
      <vt:lpstr>Тема Office</vt:lpstr>
      <vt:lpstr>Модели авторегрессии  скользящего среднего </vt:lpstr>
      <vt:lpstr>Модели авторегрессии скользящего среднего </vt:lpstr>
      <vt:lpstr>Модель ВР как процесса авторегрессии</vt:lpstr>
      <vt:lpstr>Модель ВР как процесса авторегрессии</vt:lpstr>
      <vt:lpstr>Скользящее среднее</vt:lpstr>
      <vt:lpstr>Модели авторегресси - скользящего среднего (ARMA)</vt:lpstr>
      <vt:lpstr>Пример</vt:lpstr>
      <vt:lpstr>Модели авторегресси - скользящего среднего (ARMA)</vt:lpstr>
      <vt:lpstr>Связь ARIMA c ACF и PACF</vt:lpstr>
      <vt:lpstr>Выбор начальных значений порядка ARMA</vt:lpstr>
      <vt:lpstr>Выбор начальных значений порядка ARMA</vt:lpstr>
      <vt:lpstr>Выбор начальных значений порядка ARMA</vt:lpstr>
      <vt:lpstr>Пример ряда ARMA(1,2)</vt:lpstr>
      <vt:lpstr>Дообучение ARMA коэффициентов</vt:lpstr>
      <vt:lpstr>Дообучение ARMA коэффициентов</vt:lpstr>
      <vt:lpstr>Алгоритм ARMA модели</vt:lpstr>
      <vt:lpstr>Алгоритм AutoARMA</vt:lpstr>
      <vt:lpstr>Алгоритм AutoARMA</vt:lpstr>
      <vt:lpstr>Модели интегрированной авторегрессии  скользящего среднего ARIMA </vt:lpstr>
      <vt:lpstr>Модели интегрированной авторегресси - скользящего среднего (ARIMA)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Модели авторегрессии  скользящего среднего</dc:title>
  <dc:creator>Ронкин Михаил Владимирович</dc:creator>
  <cp:lastModifiedBy>Ронкин Михаил Владимирович</cp:lastModifiedBy>
  <cp:revision>27</cp:revision>
  <dcterms:created xsi:type="dcterms:W3CDTF">2025-07-24T04:31:28Z</dcterms:created>
  <dcterms:modified xsi:type="dcterms:W3CDTF">2025-07-24T14:55:16Z</dcterms:modified>
</cp:coreProperties>
</file>