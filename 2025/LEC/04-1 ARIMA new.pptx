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94" d="100"/>
          <a:sy n="94" d="100"/>
        </p:scale>
        <p:origin x="96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93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4747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231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596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71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92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36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793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094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7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14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37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и</a:t>
            </a:r>
            <a:r>
              <a:rPr lang="en-US" b="1" dirty="0"/>
              <a:t> </a:t>
            </a:r>
            <a:br>
              <a:rPr lang="en-US" b="1" dirty="0"/>
            </a:b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</a:t>
            </a:r>
            <a:r>
              <a:rPr lang="en-US" b="1" dirty="0"/>
              <a:t> 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788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 smtClean="0"/>
              <a:t>Модель ВР как процесса авторегрессии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3200" y="934720"/>
            <a:ext cx="11719560" cy="493776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Пусть ВР инертен – каждое значение ВР зависит от предыдущих </a:t>
            </a:r>
            <a:r>
              <a:rPr lang="ru-RU" sz="2200" dirty="0"/>
              <a:t>отчетов</a:t>
            </a:r>
            <a:r>
              <a:rPr lang="ru-RU" sz="2200" dirty="0" smtClean="0"/>
              <a:t>.</a:t>
            </a:r>
          </a:p>
          <a:p>
            <a:pPr lvl="1"/>
            <a:r>
              <a:rPr lang="ru-RU" sz="2000" dirty="0"/>
              <a:t>Сегодняшняя температура редко отличается резко от вчерашней.</a:t>
            </a:r>
          </a:p>
          <a:p>
            <a:pPr lvl="1"/>
            <a:r>
              <a:rPr lang="ru-RU" sz="2000" dirty="0"/>
              <a:t>Спрос на товар завтра зависит от того, сколько его покупали сегодня.</a:t>
            </a:r>
          </a:p>
          <a:p>
            <a:pPr lvl="1"/>
            <a:r>
              <a:rPr lang="ru-RU" sz="2000" dirty="0"/>
              <a:t>Потребление энергии в 9:00 похоже на потребление в 8:00 и 7:00</a:t>
            </a:r>
            <a:r>
              <a:rPr lang="ru-RU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400" dirty="0"/>
              <a:t>Многие временные ряды инертны — текущее значение зависит от прошлых . </a:t>
            </a:r>
            <a:endParaRPr lang="ru-RU" sz="2000" dirty="0" smtClean="0"/>
          </a:p>
        </p:txBody>
      </p:sp>
      <p:pic>
        <p:nvPicPr>
          <p:cNvPr id="1026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392" b="66447"/>
          <a:stretch/>
        </p:blipFill>
        <p:spPr bwMode="auto">
          <a:xfrm>
            <a:off x="0" y="3403600"/>
            <a:ext cx="3796030" cy="268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58" t="31926" r="33996" b="36307"/>
          <a:stretch/>
        </p:blipFill>
        <p:spPr bwMode="auto">
          <a:xfrm>
            <a:off x="4093845" y="3403600"/>
            <a:ext cx="3512185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83" t="66234" r="32471" b="1999"/>
          <a:stretch/>
        </p:blipFill>
        <p:spPr bwMode="auto">
          <a:xfrm>
            <a:off x="8008302" y="3439422"/>
            <a:ext cx="3512185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749433" y="6223357"/>
            <a:ext cx="40891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https://otexts.com/fpp3/stationarity.html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374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 smtClean="0"/>
              <a:t>Модель ВР как процесса авторегрессии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Пусть ВР инертен Каждое значение ВР – это линейная комбинация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предыдущих отсчетов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для стационарного ВР  такую </a:t>
                </a:r>
                <a:r>
                  <a:rPr lang="ru-RU" sz="2200" dirty="0" err="1" smtClean="0"/>
                  <a:t>комбинанцию</a:t>
                </a:r>
                <a:r>
                  <a:rPr lang="ru-RU" sz="2200" dirty="0" smtClean="0"/>
                  <a:t> будем называть  </a:t>
                </a:r>
                <a:r>
                  <a:rPr lang="en-US" sz="2200" b="1" dirty="0" err="1" smtClean="0"/>
                  <a:t>Авторегрессия</a:t>
                </a:r>
                <a:r>
                  <a:rPr lang="en-US" sz="2200" b="1" dirty="0"/>
                  <a:t>, </a:t>
                </a:r>
                <a:r>
                  <a:rPr lang="ru-RU" sz="2200" b="1" dirty="0" smtClean="0"/>
                  <a:t>(</a:t>
                </a:r>
                <a:r>
                  <a:rPr lang="en-US" sz="2200" b="1" dirty="0" smtClean="0"/>
                  <a:t>АR</a:t>
                </a:r>
                <a:r>
                  <a:rPr lang="en-US" sz="2200" dirty="0" smtClean="0"/>
                  <a:t>)</a:t>
                </a:r>
                <a:r>
                  <a:rPr lang="ru-RU" sz="2200" dirty="0" smtClean="0"/>
                  <a:t>: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+...=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 smtClean="0"/>
                  <a:t> предсказание значения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 smtClean="0">
                    <a:latin typeface="+mj-lt"/>
                  </a:rPr>
                  <a:t> </a:t>
                </a:r>
                <a:r>
                  <a:rPr lang="ru-RU" sz="2200" dirty="0"/>
                  <a:t>весовые коэффициенты,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ru-RU" sz="2200" dirty="0"/>
                  <a:t> – порядок авторегрессии</a:t>
                </a:r>
                <a:r>
                  <a:rPr lang="ru-RU" sz="2200" dirty="0" smtClean="0"/>
                  <a:t>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Другими словами инертность – это эффект </a:t>
                </a:r>
                <a:r>
                  <a:rPr lang="ru-RU" sz="2000" b="1" dirty="0" smtClean="0"/>
                  <a:t>памяти. </a:t>
                </a:r>
                <a:endParaRPr lang="en-US" sz="2000" b="1" dirty="0" smtClean="0"/>
              </a:p>
              <a:p>
                <a:pPr lvl="2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600" b="1" dirty="0" smtClean="0"/>
                  <a:t>Обычно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1600" b="1" dirty="0" smtClean="0"/>
                  <a:t> убывают, то есть эффект похож на скользящее сглаживание, но с более сложными весовыми коэффициентами.</a:t>
                </a:r>
                <a:endParaRPr lang="en-US" sz="1600" b="1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endParaRPr lang="ru-RU" sz="1800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  <a:blipFill>
                <a:blip r:embed="rId2"/>
                <a:stretch>
                  <a:fillRect l="-6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54534"/>
          <a:stretch/>
        </p:blipFill>
        <p:spPr>
          <a:xfrm>
            <a:off x="281108" y="4219877"/>
            <a:ext cx="5855532" cy="263812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/>
          <a:srcRect l="-1194" t="575" r="1194" b="54860"/>
          <a:stretch/>
        </p:blipFill>
        <p:spPr>
          <a:xfrm>
            <a:off x="6326899" y="4141818"/>
            <a:ext cx="5865101" cy="271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77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192405"/>
            <a:ext cx="11719560" cy="782955"/>
          </a:xfrm>
        </p:spPr>
        <p:txBody>
          <a:bodyPr/>
          <a:lstStyle/>
          <a:p>
            <a:pPr algn="ctr"/>
            <a:r>
              <a:rPr lang="ru-RU" b="1" dirty="0"/>
              <a:t>Скользящее среднее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1920" y="904240"/>
                <a:ext cx="11800840" cy="579120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Если </a:t>
                </a:r>
                <a:r>
                  <a:rPr lang="ru-RU" sz="2200" dirty="0"/>
                  <a:t>ряд процессов можно описать 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+....</m:t>
                    </m:r>
                  </m:oMath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 smtClean="0"/>
                  <a:t>Тогда  зададим невязку предсказания как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 smtClean="0"/>
              </a:p>
              <a:p>
                <a:r>
                  <a:rPr lang="ru-RU" sz="2400" dirty="0" smtClean="0"/>
                  <a:t>Ряд инертен – если </a:t>
                </a:r>
                <a:r>
                  <a:rPr lang="ru-RU" sz="2400" dirty="0" err="1" smtClean="0"/>
                  <a:t>невзяка</a:t>
                </a:r>
                <a:r>
                  <a:rPr lang="ru-RU" sz="2400" dirty="0" smtClean="0"/>
                  <a:t> содержит информацию – она тоже инертна</a:t>
                </a:r>
              </a:p>
              <a:p>
                <a:pPr lvl="1"/>
                <a:r>
                  <a:rPr lang="ru-RU" sz="2300" dirty="0" smtClean="0"/>
                  <a:t>Ошибки частично зависимы! </a:t>
                </a:r>
                <a:r>
                  <a:rPr lang="ru-RU" sz="2300" dirty="0"/>
                  <a:t>(например, </a:t>
                </a:r>
                <a:r>
                  <a:rPr lang="ru-RU" sz="2300" dirty="0" err="1" smtClean="0"/>
                  <a:t>недооценность</a:t>
                </a:r>
                <a:r>
                  <a:rPr lang="ru-RU" sz="2300" dirty="0" smtClean="0"/>
                  <a:t> продаж сегодня вероятно приведет к переоценке продаж завтра) – </a:t>
                </a:r>
                <a:r>
                  <a:rPr lang="ru-RU" sz="2300" b="1" dirty="0" smtClean="0"/>
                  <a:t>эффект случайного блуждания с дрейфом.</a:t>
                </a:r>
              </a:p>
              <a:p>
                <a:pPr lvl="1"/>
                <a:r>
                  <a:rPr lang="ru-RU" sz="2300" b="1" dirty="0" smtClean="0"/>
                  <a:t>Такой процесс будем называть Скользящее среднее </a:t>
                </a:r>
                <a:r>
                  <a:rPr lang="en-US" sz="2300" b="1" dirty="0" smtClean="0"/>
                  <a:t>(Moving Average)</a:t>
                </a:r>
                <a:endParaRPr lang="ru-RU" sz="2300" b="1" dirty="0" smtClean="0"/>
              </a:p>
              <a:p>
                <a:pPr algn="just"/>
                <a:r>
                  <a:rPr lang="ru-RU" sz="2400" dirty="0" smtClean="0"/>
                  <a:t>Теорема </a:t>
                </a:r>
                <a:r>
                  <a:rPr lang="ru-RU" sz="2400" dirty="0" err="1" smtClean="0"/>
                  <a:t>Вольда</a:t>
                </a:r>
                <a:r>
                  <a:rPr lang="ru-RU" sz="2400" dirty="0" smtClean="0"/>
                  <a:t>.</a:t>
                </a:r>
                <a:r>
                  <a:rPr lang="en-US" sz="2400" dirty="0" smtClean="0"/>
                  <a:t> </a:t>
                </a:r>
                <a:r>
                  <a:rPr lang="ru-RU" sz="2200" dirty="0" smtClean="0"/>
                  <a:t>Недетерминированный </a:t>
                </a:r>
                <a:r>
                  <a:rPr lang="ru-RU" sz="2200" dirty="0"/>
                  <a:t>стационарный в широком смысле процесс может быть </a:t>
                </a:r>
                <a:r>
                  <a:rPr lang="ru-RU" sz="2200" dirty="0" smtClean="0"/>
                  <a:t>представлен моделью случайного </a:t>
                </a:r>
                <a:r>
                  <a:rPr lang="ru-RU" sz="2200" dirty="0" err="1" smtClean="0"/>
                  <a:t>булждания</a:t>
                </a:r>
                <a:r>
                  <a:rPr lang="ru-RU" sz="2200" dirty="0" smtClean="0"/>
                  <a:t> - </a:t>
                </a:r>
                <a:r>
                  <a:rPr lang="ru-RU" sz="2200" dirty="0"/>
                  <a:t>как стохастический процесс </a:t>
                </a:r>
                <a:r>
                  <a:rPr lang="ru-RU" sz="2200" i="1" dirty="0"/>
                  <a:t>МА</a:t>
                </a:r>
                <a:r>
                  <a:rPr lang="ru-RU" sz="2200" dirty="0"/>
                  <a:t>(q), в предельном случае бесконечного порядка.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2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200" dirty="0"/>
              </a:p>
              <a:p>
                <a:pPr lvl="1"/>
                <a:r>
                  <a:rPr lang="ru-RU" sz="1800" dirty="0"/>
                  <a:t>почти стационарный = стационарный + простой тренд</a:t>
                </a:r>
                <a:r>
                  <a:rPr lang="ru-RU" sz="1800" dirty="0" smtClean="0"/>
                  <a:t>,</a:t>
                </a:r>
              </a:p>
              <a:p>
                <a:pPr lvl="1"/>
                <a:r>
                  <a:rPr lang="ru-RU" sz="1800" dirty="0" smtClean="0"/>
                  <a:t>в </a:t>
                </a:r>
                <a:r>
                  <a:rPr lang="ru-RU" sz="1800" dirty="0"/>
                  <a:t>предельном случае q будет бесконечным</a:t>
                </a:r>
              </a:p>
              <a:p>
                <a:pPr lvl="1"/>
                <a:r>
                  <a:rPr lang="ru-RU" sz="1800" dirty="0"/>
                  <a:t>с – постоянная (дрейф, глобальный тренд).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sz="1800" dirty="0"/>
                  <a:t> – стационарный ряд.</a:t>
                </a:r>
              </a:p>
              <a:p>
                <a:pPr lvl="1"/>
                <a:r>
                  <a:rPr lang="ru-RU" sz="1800" dirty="0"/>
                  <a:t>Как правило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1800" dirty="0"/>
                  <a:t>белый шум.</a:t>
                </a:r>
              </a:p>
              <a:p>
                <a:pPr marL="0" indent="0" algn="ctr">
                  <a:buNone/>
                </a:pPr>
                <a:r>
                  <a:rPr lang="ru-RU" sz="2400" b="1" dirty="0"/>
                  <a:t>Как следствие, </a:t>
                </a:r>
                <a:endParaRPr lang="ru-RU" sz="2400" b="1" dirty="0" smtClean="0"/>
              </a:p>
              <a:p>
                <a:pPr marL="0" indent="0" algn="ctr">
                  <a:buNone/>
                </a:pPr>
                <a:r>
                  <a:rPr lang="ru-RU" sz="2400" b="1" dirty="0" smtClean="0"/>
                  <a:t>пусть </a:t>
                </a:r>
                <a:r>
                  <a:rPr lang="en-US" sz="2400" b="1" dirty="0"/>
                  <a:t>q – </a:t>
                </a:r>
                <a:r>
                  <a:rPr lang="ru-RU" sz="2400" b="1" dirty="0"/>
                  <a:t>конечно, тогда каким будет остаток вида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𝒄</m:t>
                    </m:r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𝒒</m:t>
                        </m:r>
                      </m:sup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  <m:r>
                      <a:rPr lang="ru-RU" sz="2400" b="1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sz="2400" b="1" dirty="0" smtClean="0"/>
                  <a:t> </a:t>
                </a:r>
                <a:endParaRPr lang="ru-RU" sz="2400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1920" y="904240"/>
                <a:ext cx="11800840" cy="5791200"/>
              </a:xfrm>
              <a:blipFill>
                <a:blip r:embed="rId2"/>
                <a:stretch>
                  <a:fillRect l="-568" t="-526" r="-517" b="-125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840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492" y="175848"/>
            <a:ext cx="11331388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Пусть ВР стационарен, инертен и содержит флуктуации (</a:t>
                </a:r>
                <a:r>
                  <a:rPr lang="ru-RU" sz="2400" dirty="0" err="1" smtClean="0"/>
                  <a:t>хаотичвеская</a:t>
                </a:r>
                <a:r>
                  <a:rPr lang="ru-RU" sz="2400" dirty="0" smtClean="0"/>
                  <a:t> модель с памятью), тогда динамику такой модели можно записать как комбинацию </a:t>
                </a:r>
                <a:r>
                  <a:rPr lang="en-US" sz="2400" dirty="0" smtClean="0"/>
                  <a:t>AR </a:t>
                </a:r>
                <a:r>
                  <a:rPr lang="ru-RU" sz="2400" dirty="0" smtClean="0"/>
                  <a:t>и </a:t>
                </a:r>
                <a:r>
                  <a:rPr lang="en-US" sz="2400" dirty="0" smtClean="0"/>
                  <a:t>MA </a:t>
                </a:r>
                <a:r>
                  <a:rPr lang="en-US" sz="2400" dirty="0" smtClean="0"/>
                  <a:t>: </a:t>
                </a:r>
                <a:endParaRPr lang="en-US" sz="24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</a:t>
                </a: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и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- весовые </a:t>
                </a:r>
                <a:r>
                  <a:rPr lang="en-US" sz="2400" dirty="0" err="1"/>
                  <a:t>коэффициенты</a:t>
                </a:r>
                <a:r>
                  <a:rPr lang="en-US" sz="2400" dirty="0"/>
                  <a:t> </a:t>
                </a:r>
                <a:r>
                  <a:rPr lang="en-US" sz="2400" dirty="0" err="1" smtClean="0"/>
                  <a:t>модели</a:t>
                </a:r>
                <a:r>
                  <a:rPr lang="ru-RU" sz="2400" dirty="0" smtClean="0"/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ru-RU" sz="2400" dirty="0" smtClean="0"/>
                  <a:t>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 smtClean="0"/>
                  <a:t> – </a:t>
                </a:r>
                <a:r>
                  <a:rPr lang="ru-RU" sz="2400" dirty="0" smtClean="0"/>
                  <a:t>порядки модели</a:t>
                </a:r>
                <a:r>
                  <a:rPr lang="en-US" sz="2400" dirty="0" smtClean="0"/>
                  <a:t>. </a:t>
                </a:r>
                <a:endParaRPr lang="en-US" sz="2400" dirty="0"/>
              </a:p>
              <a:p>
                <a:pPr marL="457200" lvl="1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u="sng" dirty="0" smtClean="0"/>
                  <a:t>Эту </a:t>
                </a:r>
                <a:r>
                  <a:rPr lang="ru-RU" sz="2200" u="sng" dirty="0"/>
                  <a:t>м</a:t>
                </a:r>
                <a:r>
                  <a:rPr lang="ru-RU" sz="2200" u="sng" dirty="0" smtClean="0"/>
                  <a:t>одель будем называть </a:t>
                </a:r>
                <a:r>
                  <a:rPr lang="ru-RU" sz="2200" b="1" u="sng" dirty="0"/>
                  <a:t>М</a:t>
                </a:r>
                <a:r>
                  <a:rPr lang="en-US" sz="2200" b="1" u="sng" dirty="0" err="1" smtClean="0"/>
                  <a:t>одел</a:t>
                </a:r>
                <a:r>
                  <a:rPr lang="ru-RU" sz="2200" b="1" u="sng" dirty="0"/>
                  <a:t>ь</a:t>
                </a:r>
                <a:r>
                  <a:rPr lang="en-US" sz="2200" b="1" u="sng" dirty="0" smtClean="0"/>
                  <a:t> </a:t>
                </a:r>
                <a:r>
                  <a:rPr lang="ru-RU" sz="2200" b="1" u="sng" dirty="0"/>
                  <a:t>а</a:t>
                </a:r>
                <a:r>
                  <a:rPr lang="en-US" sz="2200" b="1" u="sng" dirty="0" err="1"/>
                  <a:t>вторегресси</a:t>
                </a:r>
                <a:r>
                  <a:rPr lang="ru-RU" sz="2200" b="1" u="sng" dirty="0"/>
                  <a:t> -</a:t>
                </a:r>
                <a:r>
                  <a:rPr lang="en-US" sz="2200" b="1" u="sng" dirty="0"/>
                  <a:t> </a:t>
                </a:r>
                <a:r>
                  <a:rPr lang="ru-RU" sz="2200" b="1" u="sng" dirty="0"/>
                  <a:t>с</a:t>
                </a:r>
                <a:r>
                  <a:rPr lang="en-US" sz="2200" b="1" u="sng" dirty="0" err="1"/>
                  <a:t>кользящ</a:t>
                </a:r>
                <a:r>
                  <a:rPr lang="ru-RU" sz="2200" b="1" u="sng" dirty="0"/>
                  <a:t>его</a:t>
                </a:r>
                <a:r>
                  <a:rPr lang="en-US" sz="2200" b="1" u="sng" dirty="0"/>
                  <a:t> </a:t>
                </a:r>
                <a:r>
                  <a:rPr lang="en-US" sz="2200" b="1" u="sng" dirty="0" err="1"/>
                  <a:t>средн</a:t>
                </a:r>
                <a:r>
                  <a:rPr lang="ru-RU" sz="2200" b="1" u="sng" dirty="0"/>
                  <a:t>его </a:t>
                </a:r>
                <a:r>
                  <a:rPr lang="en-US" sz="2200" b="1" u="sng" dirty="0"/>
                  <a:t>(</a:t>
                </a:r>
                <a:r>
                  <a:rPr lang="en-US" sz="2200" b="1" u="sng" dirty="0" smtClean="0"/>
                  <a:t>ARMA</a:t>
                </a:r>
                <a:r>
                  <a:rPr lang="ru-RU" sz="2200" b="1" u="sng" dirty="0" smtClean="0"/>
                  <a:t>, АРСС</a:t>
                </a:r>
                <a:r>
                  <a:rPr lang="en-US" sz="2200" b="1" u="sng" dirty="0" smtClean="0"/>
                  <a:t>)</a:t>
                </a:r>
                <a:endParaRPr lang="ru-RU" sz="2200" b="1" u="sng" dirty="0" smtClean="0"/>
              </a:p>
              <a:p>
                <a:pPr marL="457200" lvl="1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i="1" dirty="0" smtClean="0"/>
                  <a:t>Мы хотим сказать, сто предсказание модели должно завесить от предыдущих значений (память) и от предыдущих ошибок предсказания </a:t>
                </a:r>
                <a:r>
                  <a:rPr lang="en-US" sz="2200" i="1" dirty="0" smtClean="0"/>
                  <a:t>(MA)</a:t>
                </a:r>
                <a:endParaRPr lang="ru-RU" sz="2200" i="1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dirty="0" smtClean="0"/>
                  <a:t>Пусть мы делаем предсказание температуры: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Предположим, что температура сегодня зависит от температуры вчера и </a:t>
                </a:r>
                <a:r>
                  <a:rPr lang="ru-RU" sz="2000" dirty="0" err="1" smtClean="0"/>
                  <a:t>позовчера</a:t>
                </a:r>
                <a:r>
                  <a:rPr lang="ru-RU" sz="2000" dirty="0" smtClean="0"/>
                  <a:t>,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Вчера </a:t>
                </a:r>
                <a:r>
                  <a:rPr lang="ru-RU" sz="2000" dirty="0" smtClean="0"/>
                  <a:t>модель </a:t>
                </a:r>
                <a:r>
                  <a:rPr lang="ru-RU" sz="2000" dirty="0"/>
                  <a:t>предсказал 20°C, а было 18°C — ошибка в </a:t>
                </a:r>
                <a:r>
                  <a:rPr lang="ru-RU" sz="2000" dirty="0" smtClean="0"/>
                  <a:t>2°C. </a:t>
                </a:r>
                <a:br>
                  <a:rPr lang="ru-RU" sz="2000" dirty="0" smtClean="0"/>
                </a:br>
                <a:r>
                  <a:rPr lang="ru-RU" sz="2000" i="1" dirty="0" smtClean="0"/>
                  <a:t>Вчера </a:t>
                </a:r>
                <a:r>
                  <a:rPr lang="ru-RU" sz="2000" i="1" dirty="0"/>
                  <a:t>переоценили — давай сегодня немного снизим </a:t>
                </a:r>
                <a:r>
                  <a:rPr lang="ru-RU" sz="2000" i="1" dirty="0" smtClean="0"/>
                  <a:t>прогноз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i="1" dirty="0"/>
                  <a:t>Система не идеальна, но исправляет прошлые ошибки</a:t>
                </a:r>
                <a:endParaRPr lang="ru-RU" sz="20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 lang="ru-RU" dirty="0" smtClean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  <a:blipFill>
                <a:blip r:embed="rId2"/>
                <a:stretch>
                  <a:fillRect l="-931" t="-530" r="-6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0662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644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4341" y="1372394"/>
            <a:ext cx="5505450" cy="53054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18187"/>
            <a:ext cx="54864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24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160" y="100965"/>
            <a:ext cx="10515600" cy="827181"/>
          </a:xfrm>
        </p:spPr>
        <p:txBody>
          <a:bodyPr>
            <a:norm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Реальное значение ВР на шаге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dirty="0" smtClean="0"/>
                  <a:t> тогда можно представить как</a:t>
                </a:r>
              </a:p>
              <a:p>
                <a:pPr marL="0" indent="0" algn="just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Таким образом </a:t>
                </a:r>
                <a:r>
                  <a:rPr lang="en-US" dirty="0" err="1" smtClean="0"/>
                  <a:t>Задача</a:t>
                </a:r>
                <a:r>
                  <a:rPr lang="en-US" dirty="0" smtClean="0"/>
                  <a:t> </a:t>
                </a:r>
                <a:r>
                  <a:rPr lang="en-US" dirty="0"/>
                  <a:t>ARMA-</a:t>
                </a:r>
                <a:r>
                  <a:rPr lang="en-US" dirty="0" err="1"/>
                  <a:t>аппроксимации</a:t>
                </a:r>
                <a:r>
                  <a:rPr lang="ru-RU" dirty="0"/>
                  <a:t> (построения АРСС модели</a:t>
                </a:r>
                <a:r>
                  <a:rPr lang="ru-RU" dirty="0" smtClean="0"/>
                  <a:t>)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оценить их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порядки</a:t>
                </a:r>
                <a:r>
                  <a:rPr lang="ru-RU" dirty="0" smtClean="0"/>
                  <a:t> </a:t>
                </a:r>
                <a:r>
                  <a:rPr lang="en-US" dirty="0" smtClean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 smtClean="0"/>
                  <a:t>)</a:t>
                </a:r>
                <a:r>
                  <a:rPr lang="ru-RU" dirty="0" smtClean="0"/>
                  <a:t> 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 smtClean="0"/>
                  <a:t>найти</a:t>
                </a:r>
                <a:r>
                  <a:rPr lang="en-US" dirty="0" smtClean="0"/>
                  <a:t> </a:t>
                </a:r>
                <a:r>
                  <a:rPr lang="ru-RU" dirty="0" smtClean="0"/>
                  <a:t>оптимальные </a:t>
                </a:r>
                <a:r>
                  <a:rPr lang="en-US" dirty="0" err="1" smtClean="0"/>
                  <a:t>весовые</a:t>
                </a:r>
                <a:r>
                  <a:rPr lang="en-US" dirty="0" smtClean="0"/>
                  <a:t> </a:t>
                </a:r>
                <a:r>
                  <a:rPr lang="en-US" dirty="0"/>
                  <a:t>коэффициенты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0" i="1"/>
                          <m:t>𝛼</m:t>
                        </m:r>
                      </m:e>
                      <m:sub>
                        <m:r>
                          <a:rPr lang="en-US" b="0" i="1"/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0" i="1"/>
                          <m:t>𝛽</m:t>
                        </m:r>
                      </m:e>
                      <m:sub>
                        <m:r>
                          <a:rPr lang="en-US" b="0" i="1"/>
                          <m:t>𝑖</m:t>
                        </m:r>
                      </m:sub>
                    </m:sSub>
                  </m:oMath>
                </a14:m>
                <a:endParaRPr lang="ru-RU" dirty="0" smtClean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 smtClean="0"/>
                  <a:t>Как</a:t>
                </a:r>
                <a:r>
                  <a:rPr lang="en-US" dirty="0" smtClean="0"/>
                  <a:t> </a:t>
                </a:r>
                <a:r>
                  <a:rPr lang="en-US" dirty="0"/>
                  <a:t>правило,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можно</a:t>
                </a:r>
                <a:r>
                  <a:rPr lang="en-US" dirty="0" smtClean="0"/>
                  <a:t> </a:t>
                </a:r>
                <a:r>
                  <a:rPr lang="ru-RU" dirty="0" smtClean="0"/>
                  <a:t>найти</a:t>
                </a:r>
                <a:r>
                  <a:rPr lang="en-US" dirty="0" smtClean="0"/>
                  <a:t> </a:t>
                </a:r>
                <a:r>
                  <a:rPr lang="en-US" dirty="0"/>
                  <a:t>регрессионными </a:t>
                </a:r>
                <a:r>
                  <a:rPr lang="en-US" dirty="0" err="1"/>
                  <a:t>методами</a:t>
                </a:r>
                <a:r>
                  <a:rPr lang="en-US" dirty="0" smtClean="0"/>
                  <a:t>.</a:t>
                </a:r>
                <a:endParaRPr lang="ru-RU" dirty="0" smtClean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При этом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 smtClean="0"/>
                  <a:t> – это </a:t>
                </a:r>
                <a:r>
                  <a:rPr lang="ru-RU" dirty="0" err="1" smtClean="0"/>
                  <a:t>гиперпараметры</a:t>
                </a:r>
                <a:r>
                  <a:rPr lang="ru-RU" dirty="0" smtClean="0"/>
                  <a:t> и их выбор не очевиден.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Можно оценить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000" dirty="0" smtClean="0"/>
                  <a:t> путем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 smtClean="0"/>
                  <a:t> как авторегрессию порядка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 smtClean="0"/>
                  <a:t>, </a:t>
                </a:r>
                <a:r>
                  <a:rPr lang="ru-RU" sz="2000" dirty="0" smtClean="0"/>
                  <a:t>тогда коэффициенты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 smtClean="0"/>
                  <a:t> найдем как регрессию  для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остатка вида</a:t>
                </a:r>
                <a:r>
                  <a:rPr lang="en-US" sz="2000" dirty="0" smtClean="0"/>
                  <a:t>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 smtClean="0"/>
                  <a:t>)</a:t>
                </a:r>
                <a:r>
                  <a:rPr lang="ru-RU" sz="2000" dirty="0" smtClean="0"/>
                  <a:t>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smtClean="0"/>
                  <a:t>Можно </a:t>
                </a:r>
                <a:endParaRPr lang="en-US" sz="20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  <a:blipFill>
                <a:blip r:embed="rId2"/>
                <a:stretch>
                  <a:fillRect l="-953" t="-1060" r="-9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297364" y="4106284"/>
            <a:ext cx="1847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28062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168</Words>
  <Application>Microsoft Office PowerPoint</Application>
  <PresentationFormat>Широкоэкранный</PresentationFormat>
  <Paragraphs>52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Тема Office</vt:lpstr>
      <vt:lpstr>Модели авторегрессии  скользящего среднего </vt:lpstr>
      <vt:lpstr>Модель ВР как процесса авторегрессии</vt:lpstr>
      <vt:lpstr>Модель ВР как процесса авторегрессии</vt:lpstr>
      <vt:lpstr>Скользящее среднее</vt:lpstr>
      <vt:lpstr>Модели авторегресси - скользящего среднего (ARMA)</vt:lpstr>
      <vt:lpstr>Пример</vt:lpstr>
      <vt:lpstr>Модели авторегресси - скользящего среднего (ARMA)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Модели авторегрессии  скользящего среднего</dc:title>
  <dc:creator>Ронкин Михаил Владимирович</dc:creator>
  <cp:lastModifiedBy>Ронкин Михаил Владимирович</cp:lastModifiedBy>
  <cp:revision>12</cp:revision>
  <dcterms:created xsi:type="dcterms:W3CDTF">2025-07-24T04:31:28Z</dcterms:created>
  <dcterms:modified xsi:type="dcterms:W3CDTF">2025-07-24T06:21:57Z</dcterms:modified>
</cp:coreProperties>
</file>