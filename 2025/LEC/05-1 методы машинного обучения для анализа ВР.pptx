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0" r:id="rId4"/>
    <p:sldId id="259" r:id="rId5"/>
    <p:sldId id="269" r:id="rId6"/>
    <p:sldId id="261" r:id="rId7"/>
    <p:sldId id="264" r:id="rId8"/>
    <p:sldId id="263" r:id="rId9"/>
    <p:sldId id="270" r:id="rId10"/>
    <p:sldId id="266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онкин Михаил Владимирович" initials="РМВ" lastIdx="1" clrIdx="0">
    <p:extLst>
      <p:ext uri="{19B8F6BF-5375-455C-9EA6-DF929625EA0E}">
        <p15:presenceInfo xmlns:p15="http://schemas.microsoft.com/office/powerpoint/2012/main" userId="Ронкин Михаил Владимиро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8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25T16:33:07.100" idx="1">
    <p:pos x="10" y="10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A9DE4-6CFD-4732-953B-EF950A6B3001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69999-DA45-44A1-83D2-44E2B03D1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43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Признаки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Резко высокая точность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"знает" о событиях, которые ещё не произошли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Важность признака слишком высока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72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86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468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23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99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21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4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18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6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60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237C4-111C-4636-B222-D785A341FF5A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49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eon-toolkit.org/en/latest/examples/forecasting/forecasting_sklearn.html#Pitfall-2:-obscure-data-manipulations,-brittle-boilerplate-code-to-apply-regressor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Методы машинного обучения в АВР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353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25" y="155576"/>
            <a:ext cx="11820525" cy="806450"/>
          </a:xfrm>
        </p:spPr>
        <p:txBody>
          <a:bodyPr/>
          <a:lstStyle/>
          <a:p>
            <a:r>
              <a:rPr lang="ru-RU" dirty="0" smtClean="0"/>
              <a:t>Почему невсегда статистические методы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838200"/>
            <a:ext cx="11887200" cy="5562600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Часто при построении моделей </a:t>
            </a:r>
            <a:r>
              <a:rPr lang="ru-RU" altLang="ru-RU" sz="2100" dirty="0" err="1"/>
              <a:t>прогназирования</a:t>
            </a:r>
            <a:r>
              <a:rPr lang="ru-RU" altLang="ru-RU" sz="2100" dirty="0"/>
              <a:t> ВР приходится руководствоваться принципом скорости. </a:t>
            </a:r>
            <a:endParaRPr lang="ru-RU" altLang="ru-RU" sz="21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 smtClean="0"/>
              <a:t>Основные</a:t>
            </a:r>
            <a:r>
              <a:rPr lang="ru-RU" altLang="ru-RU" sz="2100" dirty="0"/>
              <a:t> </a:t>
            </a:r>
            <a:r>
              <a:rPr lang="ru-RU" altLang="ru-RU" sz="2100" b="1" dirty="0"/>
              <a:t>недостатками</a:t>
            </a:r>
            <a:r>
              <a:rPr lang="ru-RU" altLang="ru-RU" sz="2100" dirty="0"/>
              <a:t> </a:t>
            </a:r>
            <a:r>
              <a:rPr lang="ru-RU" altLang="ru-RU" sz="2100" dirty="0" smtClean="0"/>
              <a:t>моделей</a:t>
            </a:r>
            <a:r>
              <a:rPr lang="en-US" altLang="ru-RU" sz="2100" dirty="0" smtClean="0"/>
              <a:t> SARIMA, ETS </a:t>
            </a:r>
            <a:r>
              <a:rPr lang="ru-RU" altLang="ru-RU" sz="2100" dirty="0" smtClean="0"/>
              <a:t>и других стат. моделей :</a:t>
            </a:r>
            <a:endParaRPr kumimoji="0" lang="ru-RU" alt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 smtClean="0"/>
              <a:t>Сложность </a:t>
            </a:r>
            <a:r>
              <a:rPr lang="ru-RU" altLang="ru-RU" sz="2100" dirty="0"/>
              <a:t>предварительного анализа и подготовки данных</a:t>
            </a:r>
            <a:r>
              <a:rPr lang="ru-RU" altLang="ru-RU" sz="2100" dirty="0" smtClean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 smtClean="0"/>
              <a:t>Трудно настраиваемы параметры моделей.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 smtClean="0"/>
              <a:t>Необходимость </a:t>
            </a:r>
            <a:r>
              <a:rPr lang="ru-RU" altLang="ru-RU" sz="2100" dirty="0"/>
              <a:t>частого </a:t>
            </a:r>
            <a:r>
              <a:rPr lang="ru-RU" altLang="ru-RU" sz="2100" dirty="0" smtClean="0"/>
              <a:t>дообучения\переобучения с новыми </a:t>
            </a:r>
            <a:r>
              <a:rPr lang="ru-RU" altLang="ru-RU" sz="2100" dirty="0" err="1" smtClean="0"/>
              <a:t>гиперпараметрами</a:t>
            </a:r>
            <a:r>
              <a:rPr lang="ru-RU" altLang="ru-RU" sz="2100" dirty="0" smtClean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 smtClean="0"/>
              <a:t>Авто настройка не дает высоко-точных результатов без ручной </a:t>
            </a:r>
            <a:r>
              <a:rPr lang="ru-RU" altLang="ru-RU" sz="2100" dirty="0" err="1" smtClean="0"/>
              <a:t>донастройки</a:t>
            </a:r>
            <a:r>
              <a:rPr lang="ru-RU" altLang="ru-RU" sz="2100" dirty="0" smtClean="0"/>
              <a:t>.</a:t>
            </a:r>
            <a:endParaRPr lang="ru-RU" altLang="ru-RU" sz="2100" dirty="0"/>
          </a:p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ru-RU" altLang="ru-RU" sz="2100" dirty="0" smtClean="0"/>
              <a:t> </a:t>
            </a:r>
            <a:r>
              <a:rPr lang="ru-RU" altLang="ru-RU" sz="2100" u="sng" dirty="0" smtClean="0"/>
              <a:t>На практике при работе с большими объемами ВР и длинными горизонтами предсказания  - при массовых не прецизионных прогнозах дешевле и быстрее</a:t>
            </a:r>
            <a:r>
              <a:rPr lang="ru-RU" altLang="ru-RU" sz="2100" u="sng" dirty="0"/>
              <a:t> выбрать несколько признаков из имеющегося временного ряда и построить простую линейную регрессионную модель или, скажем, случайный лес</a:t>
            </a:r>
            <a:r>
              <a:rPr lang="ru-RU" altLang="ru-RU" sz="2100" dirty="0"/>
              <a:t>. </a:t>
            </a:r>
            <a:endParaRPr lang="ru-RU" altLang="ru-RU" sz="2100" dirty="0" smtClean="0"/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 smtClean="0"/>
              <a:t>подход </a:t>
            </a:r>
            <a:r>
              <a:rPr lang="ru-RU" altLang="ru-RU" sz="2100" dirty="0"/>
              <a:t>не подкреплен теорией и нарушает ряд предположений (например, теорему Гаусса-Маркова, особенно для некоррелированных ошибок), но он очень полезен на практике и часто используется в соревнованиях по машинному обучению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b="1" dirty="0" smtClean="0"/>
              <a:t>При исследованиях рекомендуется начинать с </a:t>
            </a:r>
            <a:r>
              <a:rPr lang="en-US" altLang="ru-RU" sz="2100" b="1" dirty="0" smtClean="0"/>
              <a:t>ARIMA, ETS </a:t>
            </a:r>
            <a:r>
              <a:rPr lang="ru-RU" altLang="ru-RU" sz="2100" b="1" dirty="0" smtClean="0"/>
              <a:t>как </a:t>
            </a:r>
            <a:r>
              <a:rPr lang="ru-RU" altLang="ru-RU" sz="2100" b="1" dirty="0" err="1" smtClean="0"/>
              <a:t>бейзлайны</a:t>
            </a:r>
            <a:endParaRPr kumimoji="0" lang="ru-RU" altLang="ru-RU" sz="2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072187" y="655022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/>
              <a:t>https://mlcourse.ai/book/topic09/topic9_part1_time_series_python.html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6550222"/>
            <a:ext cx="4082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 smtClean="0"/>
              <a:t>https://blogs.cisco.com/analytics-automation/arima3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37290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081" y="313765"/>
            <a:ext cx="11869271" cy="726141"/>
          </a:xfrm>
        </p:spPr>
        <p:txBody>
          <a:bodyPr>
            <a:normAutofit/>
          </a:bodyPr>
          <a:lstStyle/>
          <a:p>
            <a:r>
              <a:rPr lang="ru-RU" dirty="0" smtClean="0"/>
              <a:t>ВР и машинное обучение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918" y="1162236"/>
            <a:ext cx="12124764" cy="1446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/>
              <a:t>технически </a:t>
            </a:r>
            <a:r>
              <a:rPr lang="ru-RU" sz="2400" dirty="0"/>
              <a:t>использование машинного обучения для задач предсказания ВР </a:t>
            </a:r>
            <a:r>
              <a:rPr lang="ru-RU" sz="2400" dirty="0" smtClean="0"/>
              <a:t>- сведение ВР к табличному виду (</a:t>
            </a:r>
            <a:r>
              <a:rPr lang="ru-RU" sz="2400" b="1" dirty="0" smtClean="0"/>
              <a:t>редукции ВР</a:t>
            </a:r>
            <a:r>
              <a:rPr lang="ru-RU" sz="2400" dirty="0" smtClean="0"/>
              <a:t>). </a:t>
            </a:r>
          </a:p>
          <a:p>
            <a:pPr marL="0" indent="0">
              <a:buNone/>
            </a:pPr>
            <a:r>
              <a:rPr lang="ru-RU" sz="2400" dirty="0" smtClean="0"/>
              <a:t>В </a:t>
            </a:r>
            <a:r>
              <a:rPr lang="ru-RU" sz="2400" dirty="0"/>
              <a:t>наиболее простом случае </a:t>
            </a:r>
            <a:r>
              <a:rPr lang="ru-RU" sz="2400" dirty="0" smtClean="0"/>
              <a:t>таблица </a:t>
            </a:r>
            <a:r>
              <a:rPr lang="ru-RU" sz="2400" dirty="0"/>
              <a:t>может быть составлена путем </a:t>
            </a:r>
            <a:r>
              <a:rPr lang="ru-RU" sz="2400" dirty="0" smtClean="0"/>
              <a:t>прохождения </a:t>
            </a:r>
            <a:r>
              <a:rPr lang="ru-RU" sz="2400" dirty="0"/>
              <a:t>окна по ВР так, что следующее за окном значение всегда будет меткой.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7033" r="6647" b="22856"/>
          <a:stretch/>
        </p:blipFill>
        <p:spPr>
          <a:xfrm>
            <a:off x="3704942" y="4476566"/>
            <a:ext cx="8248372" cy="21035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679" t="25259" r="11900" b="35887"/>
          <a:stretch/>
        </p:blipFill>
        <p:spPr>
          <a:xfrm>
            <a:off x="3944748" y="2582653"/>
            <a:ext cx="8008566" cy="1532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1623" y="413342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Лаги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343298" y="4055222"/>
            <a:ext cx="77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метка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208493" y="3196077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Окно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448569" y="3164470"/>
            <a:ext cx="7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метка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47918" y="649360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/>
              <a:t>https://cienciadedatos.net/documentos/py27-time-series-forecasting-python-scikitlearn.html</a:t>
            </a:r>
            <a:endParaRPr lang="ru-RU" sz="1200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182471" y="4055222"/>
            <a:ext cx="87708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39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5" y="320303"/>
            <a:ext cx="12227859" cy="773392"/>
          </a:xfrm>
        </p:spPr>
        <p:txBody>
          <a:bodyPr/>
          <a:lstStyle/>
          <a:p>
            <a:r>
              <a:rPr lang="ru-RU" dirty="0" smtClean="0"/>
              <a:t>Признаки во временных рядах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505" y="1053547"/>
            <a:ext cx="11228295" cy="49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Может быть несколько вариантов редукции. </a:t>
            </a:r>
          </a:p>
          <a:p>
            <a:endParaRPr lang="ru-RU" sz="2400" dirty="0"/>
          </a:p>
        </p:txBody>
      </p:sp>
      <p:pic>
        <p:nvPicPr>
          <p:cNvPr id="2050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953" y="1875650"/>
            <a:ext cx="5431629" cy="206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65209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/>
              <a:t>https://cienciadedatos.net/documentos/py27-time-series-forecasting-python-scikitlearn.html</a:t>
            </a:r>
            <a:endParaRPr lang="ru-RU" sz="1200" dirty="0"/>
          </a:p>
        </p:txBody>
      </p:sp>
      <p:pic>
        <p:nvPicPr>
          <p:cNvPr id="2052" name="Picture 4" descr="https://cienciadedatos.net/images/diagram-recursive-mutistep-forecasti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2" y="2509227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cienciadedatos.net/images/diagram-direct-multi-step-forecastin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953" y="4172247"/>
            <a:ext cx="5129776" cy="244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175894" y="1748610"/>
            <a:ext cx="4707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Добавление экзогенных факторов к редукции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811516" y="1945873"/>
            <a:ext cx="246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Рекурсивная редукция 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l="51108" t="7033" r="6647" b="22856"/>
          <a:stretch/>
        </p:blipFill>
        <p:spPr>
          <a:xfrm>
            <a:off x="417732" y="4838172"/>
            <a:ext cx="2931460" cy="16520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5894" y="3908394"/>
            <a:ext cx="1971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Прямая редукция </a:t>
            </a:r>
            <a:endParaRPr lang="ru-RU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818094" y="2315205"/>
            <a:ext cx="0" cy="3986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818094" y="3908394"/>
            <a:ext cx="58845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6239434" y="6576151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 smtClean="0"/>
              <a:t>https://machinelearningmastery.com/multi-step-time-series-forecasting/</a:t>
            </a:r>
            <a:endParaRPr lang="ru-RU" sz="11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8905533" y="6464143"/>
            <a:ext cx="29776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/>
              <a:t>https://robjhyndman.com/papers/rectify.pdf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14349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Учет экзогенных и других типов признаков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0075" y="1368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 лаговым признакам могут быть добавлены и другие признаки.</a:t>
            </a:r>
          </a:p>
          <a:p>
            <a:endParaRPr lang="ru-RU" dirty="0"/>
          </a:p>
        </p:txBody>
      </p:sp>
      <p:pic>
        <p:nvPicPr>
          <p:cNvPr id="1026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825625"/>
            <a:ext cx="5854699" cy="222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ienciadedatos.net/images/diagram_skforecast_multioutpu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1" r="7931"/>
          <a:stretch/>
        </p:blipFill>
        <p:spPr bwMode="auto">
          <a:xfrm>
            <a:off x="5857874" y="2512679"/>
            <a:ext cx="6162883" cy="40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377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5" y="320303"/>
            <a:ext cx="12227859" cy="773392"/>
          </a:xfrm>
        </p:spPr>
        <p:txBody>
          <a:bodyPr/>
          <a:lstStyle/>
          <a:p>
            <a:r>
              <a:rPr lang="ru-RU" dirty="0" smtClean="0"/>
              <a:t>Признаки во временных рядах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8258" y="1029249"/>
            <a:ext cx="11660842" cy="5304876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Лаги </a:t>
            </a:r>
            <a:r>
              <a:rPr lang="ru-RU" dirty="0" smtClean="0"/>
              <a:t>временных рядов</a:t>
            </a:r>
          </a:p>
          <a:p>
            <a:r>
              <a:rPr lang="ru-RU" dirty="0" smtClean="0"/>
              <a:t>Преобразования лагов (степенное, разность и </a:t>
            </a:r>
            <a:r>
              <a:rPr lang="ru-RU" dirty="0" err="1" smtClean="0"/>
              <a:t>тд</a:t>
            </a:r>
            <a:r>
              <a:rPr lang="ru-RU" dirty="0" smtClean="0"/>
              <a:t>)</a:t>
            </a:r>
            <a:endParaRPr lang="en-US" dirty="0" smtClean="0"/>
          </a:p>
          <a:p>
            <a:r>
              <a:rPr lang="ru-RU" dirty="0" smtClean="0"/>
              <a:t>Преобразования метки (степенное, разность, кодирование и </a:t>
            </a:r>
            <a:r>
              <a:rPr lang="ru-RU" dirty="0" err="1" smtClean="0"/>
              <a:t>тд</a:t>
            </a:r>
            <a:r>
              <a:rPr lang="ru-RU" dirty="0" smtClean="0"/>
              <a:t>)</a:t>
            </a:r>
            <a:endParaRPr lang="en-US" dirty="0" smtClean="0"/>
          </a:p>
          <a:p>
            <a:r>
              <a:rPr lang="ru-RU" dirty="0" smtClean="0"/>
              <a:t>Оконные статистики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Max/min value of series in a window</a:t>
            </a:r>
          </a:p>
          <a:p>
            <a:pPr lvl="1"/>
            <a:r>
              <a:rPr lang="en-US" dirty="0"/>
              <a:t>Average/median value in a window</a:t>
            </a:r>
          </a:p>
          <a:p>
            <a:pPr lvl="1"/>
            <a:r>
              <a:rPr lang="en-US" dirty="0"/>
              <a:t>Window variance</a:t>
            </a:r>
          </a:p>
          <a:p>
            <a:pPr lvl="1"/>
            <a:r>
              <a:rPr lang="en-US" dirty="0"/>
              <a:t>etc.</a:t>
            </a:r>
          </a:p>
          <a:p>
            <a:r>
              <a:rPr lang="ru-RU" dirty="0" smtClean="0"/>
              <a:t>Даты и время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ru-RU" dirty="0" smtClean="0"/>
              <a:t>Порядковые (категориальные) данные: Число, день недели, месяц, квартал и </a:t>
            </a:r>
            <a:r>
              <a:rPr lang="ru-RU" dirty="0" err="1" smtClean="0"/>
              <a:t>тд</a:t>
            </a:r>
            <a:endParaRPr lang="en-US" dirty="0"/>
          </a:p>
          <a:p>
            <a:pPr lvl="1"/>
            <a:r>
              <a:rPr lang="ru-RU" dirty="0" smtClean="0"/>
              <a:t>Бинарные (дискретные): </a:t>
            </a:r>
            <a:r>
              <a:rPr lang="en-US" dirty="0" smtClean="0"/>
              <a:t>Is </a:t>
            </a:r>
            <a:r>
              <a:rPr lang="en-US" dirty="0"/>
              <a:t>this day a holiday? Maybe there is a special event? </a:t>
            </a:r>
            <a:endParaRPr lang="ru-RU" dirty="0" smtClean="0"/>
          </a:p>
          <a:p>
            <a:r>
              <a:rPr lang="ru-RU" dirty="0" smtClean="0"/>
              <a:t>Экзогенные факторы, объясняющие (в домене) целевую переменную</a:t>
            </a:r>
            <a:endParaRPr lang="ru-RU" dirty="0" smtClean="0"/>
          </a:p>
          <a:p>
            <a:r>
              <a:rPr lang="ru-RU" dirty="0" smtClean="0"/>
              <a:t>Результаты, статистики остатков и другие характеристики </a:t>
            </a:r>
            <a:r>
              <a:rPr lang="ru-RU" dirty="0" err="1" smtClean="0"/>
              <a:t>предскзаний</a:t>
            </a:r>
            <a:r>
              <a:rPr lang="ru-RU" dirty="0" smtClean="0"/>
              <a:t> других моделей </a:t>
            </a:r>
            <a:endParaRPr lang="en-US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459505" y="644967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/>
              <a:t>https://mlcourse.ai/book/topic09/topic9_part1_time_series_python.html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952565" y="617267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/>
              <a:t>https://nixtlaverse.nixtla.io/mlforecast/docs/getting-started/end_to_end_walkthrough.htm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3936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694" y="365125"/>
            <a:ext cx="11022106" cy="925793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Разница между задачами регрессии и предсказания</a:t>
            </a:r>
            <a:endParaRPr lang="ru-RU" sz="36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227898"/>
              </p:ext>
            </p:extLst>
          </p:nvPr>
        </p:nvGraphicFramePr>
        <p:xfrm>
          <a:off x="421341" y="1290918"/>
          <a:ext cx="10932459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954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693459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Задача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Табличная</a:t>
                      </a:r>
                      <a:r>
                        <a:rPr lang="ru-RU" baseline="0" dirty="0" smtClean="0"/>
                        <a:t> регрессия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предсказания ВР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Задача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Регрессия (</a:t>
                      </a:r>
                      <a:r>
                        <a:rPr lang="ru-RU" dirty="0" err="1" smtClean="0"/>
                        <a:t>фичи</a:t>
                      </a:r>
                      <a:r>
                        <a:rPr lang="ru-RU" dirty="0" smtClean="0"/>
                        <a:t> связаны</a:t>
                      </a:r>
                      <a:r>
                        <a:rPr lang="ru-RU" baseline="0" dirty="0" smtClean="0"/>
                        <a:t> с меткой но не коррелируют)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Предсказание (следующее</a:t>
                      </a:r>
                      <a:r>
                        <a:rPr lang="ru-RU" baseline="0" dirty="0" smtClean="0"/>
                        <a:t> значение сильно коррелирует с предыдущим, на которых строится </a:t>
                      </a:r>
                      <a:r>
                        <a:rPr lang="ru-RU" baseline="0" dirty="0" err="1" smtClean="0"/>
                        <a:t>прогнз</a:t>
                      </a:r>
                      <a:r>
                        <a:rPr lang="ru-RU" baseline="0" dirty="0" smtClean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Признаки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Колонки – признаки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ВР – это не признаки, признаки надо выделить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Отбор, трансформация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dirty="0" err="1" smtClean="0"/>
                        <a:t>фичей</a:t>
                      </a:r>
                      <a:r>
                        <a:rPr lang="ru-RU" dirty="0" smtClean="0"/>
                        <a:t>,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Редукция ВР к таблице</a:t>
                      </a:r>
                      <a:r>
                        <a:rPr lang="ru-RU" baseline="0" dirty="0" smtClean="0"/>
                        <a:t> + табличный </a:t>
                      </a:r>
                      <a:r>
                        <a:rPr lang="ru-RU" dirty="0" err="1" smtClean="0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Кросс-</a:t>
                      </a:r>
                      <a:r>
                        <a:rPr lang="ru-RU" dirty="0" err="1" smtClean="0"/>
                        <a:t>валидация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Случайная</a:t>
                      </a:r>
                      <a:r>
                        <a:rPr lang="ru-RU" baseline="0" dirty="0" smtClean="0"/>
                        <a:t> </a:t>
                      </a:r>
                      <a:r>
                        <a:rPr lang="ru-RU" baseline="0" dirty="0" err="1" smtClean="0"/>
                        <a:t>подвыборка</a:t>
                      </a:r>
                      <a:r>
                        <a:rPr lang="ru-RU" dirty="0" smtClean="0"/>
                        <a:t>, </a:t>
                      </a:r>
                      <a:r>
                        <a:rPr lang="en-US" dirty="0" smtClean="0"/>
                        <a:t>k-folds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Walking</a:t>
                      </a:r>
                      <a:r>
                        <a:rPr lang="en-US" baseline="0" dirty="0" smtClean="0"/>
                        <a:t>-forward – </a:t>
                      </a:r>
                      <a:r>
                        <a:rPr lang="ru-RU" baseline="0" dirty="0" smtClean="0"/>
                        <a:t>нельзя делать случайную </a:t>
                      </a:r>
                      <a:r>
                        <a:rPr lang="ru-RU" baseline="0" dirty="0" err="1" smtClean="0"/>
                        <a:t>подвыборку</a:t>
                      </a:r>
                      <a:r>
                        <a:rPr lang="ru-RU" baseline="0" dirty="0" smtClean="0"/>
                        <a:t>, только последовательно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Паттерны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Паттерн</a:t>
                      </a:r>
                      <a:r>
                        <a:rPr lang="ru-RU" baseline="0" dirty="0" smtClean="0"/>
                        <a:t> – набор </a:t>
                      </a:r>
                      <a:r>
                        <a:rPr lang="ru-RU" baseline="0" dirty="0" err="1" smtClean="0"/>
                        <a:t>фичей</a:t>
                      </a:r>
                      <a:r>
                        <a:rPr lang="ru-RU" baseline="0" dirty="0" smtClean="0"/>
                        <a:t> (запись, строка)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Последовательный паттерн (его еще нужно преобразовать в </a:t>
                      </a:r>
                      <a:r>
                        <a:rPr lang="ru-RU" dirty="0" err="1" smtClean="0"/>
                        <a:t>фичи</a:t>
                      </a:r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21340" y="5118864"/>
            <a:ext cx="107038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system-ui"/>
              </a:rPr>
              <a:t>Прогнозирование ВР</a:t>
            </a:r>
            <a:r>
              <a:rPr lang="ru-RU" altLang="ru-RU" dirty="0">
                <a:latin typeface="system-ui"/>
              </a:rPr>
              <a:t> - это не то же самое, что контролируемое </a:t>
            </a:r>
            <a:r>
              <a:rPr lang="ru-RU" altLang="ru-RU" dirty="0" smtClean="0">
                <a:latin typeface="system-ui"/>
              </a:rPr>
              <a:t>обучение (с учителем), </a:t>
            </a:r>
            <a:r>
              <a:rPr lang="ru-RU" altLang="ru-RU" dirty="0">
                <a:latin typeface="system-ui"/>
              </a:rPr>
              <a:t>в т.ч. задача регрессии, например, в </a:t>
            </a:r>
            <a:r>
              <a:rPr lang="ru-RU" altLang="ru-RU" dirty="0" err="1">
                <a:latin typeface="menlo"/>
              </a:rPr>
              <a:t>scikit-learn</a:t>
            </a:r>
            <a:r>
              <a:rPr lang="ru-RU" altLang="ru-RU" dirty="0">
                <a:latin typeface="system-u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1240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/>
          <a:lstStyle/>
          <a:p>
            <a:r>
              <a:rPr lang="ru-RU" dirty="0" smtClean="0"/>
              <a:t>Замечания к процедуре редукции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b="1" dirty="0" smtClean="0"/>
              <a:t>Типичные ошибки при наивном сопоставлении задач регрессии и предсказания:</a:t>
            </a:r>
            <a:endParaRPr kumimoji="0" lang="ru-RU" altLang="ru-RU" sz="2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Чрезмерно оптимистичная оценка (завышенная точность),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Появление ложных корреляций между данными,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Напр. перемешанные в таблице данные во временном ряду были бы значительно разнесены во времени.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Случайная кросс-</a:t>
            </a:r>
            <a:r>
              <a:rPr lang="ru-RU" altLang="ru-RU" sz="2300" dirty="0" err="1" smtClean="0"/>
              <a:t>валидация</a:t>
            </a:r>
            <a:r>
              <a:rPr lang="ru-RU" altLang="ru-RU" sz="2300" dirty="0" smtClean="0"/>
              <a:t> также дает смещенную оценку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lang="ru-RU" altLang="ru-RU" sz="21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62857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b="1" dirty="0"/>
              <a:t>Проблемы выбора окна Редукции</a:t>
            </a:r>
            <a:endParaRPr lang="ru-RU" alt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dirty="0" smtClean="0"/>
              <a:t>Выбор </a:t>
            </a:r>
            <a:r>
              <a:rPr lang="ru-RU" altLang="ru-RU" sz="2300" dirty="0" smtClean="0"/>
              <a:t>слишком короткого или слишком длинного окна может привести к</a:t>
            </a:r>
            <a:r>
              <a:rPr lang="ru-RU" altLang="ru-RU" sz="2300" dirty="0"/>
              <a:t> </a:t>
            </a:r>
            <a:r>
              <a:rPr lang="ru-RU" altLang="ru-RU" sz="2300" dirty="0" smtClean="0"/>
              <a:t/>
            </a:r>
            <a:br>
              <a:rPr lang="ru-RU" altLang="ru-RU" sz="2300" dirty="0" smtClean="0"/>
            </a:br>
            <a:r>
              <a:rPr lang="ru-RU" altLang="ru-RU" sz="2300" dirty="0" smtClean="0">
                <a:solidFill>
                  <a:srgbClr val="0D47A1"/>
                </a:solidFill>
                <a:hlinkClick r:id="rId2"/>
              </a:rPr>
              <a:t>“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p-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value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 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hacking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”</a:t>
            </a:r>
            <a:r>
              <a:rPr lang="ru-RU" altLang="ru-RU" sz="2300" dirty="0"/>
              <a:t> – то есть утечке информации (или появление ложных зависимостей). </a:t>
            </a:r>
            <a:endParaRPr lang="en-US" altLang="ru-RU" sz="2300" dirty="0" smtClean="0"/>
          </a:p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dirty="0" smtClean="0"/>
              <a:t>Для </a:t>
            </a:r>
            <a:r>
              <a:rPr lang="ru-RU" altLang="ru-RU" sz="2300" dirty="0" err="1" smtClean="0"/>
              <a:t>преотвращения</a:t>
            </a:r>
            <a:r>
              <a:rPr lang="ru-RU" altLang="ru-RU" sz="2300" dirty="0" smtClean="0"/>
              <a:t>:</a:t>
            </a:r>
            <a:endParaRPr lang="ru-RU" altLang="ru-RU" sz="2300" dirty="0" smtClean="0"/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en-US" altLang="ru-RU" sz="2300" dirty="0" smtClean="0"/>
              <a:t>Walking forward </a:t>
            </a:r>
            <a:r>
              <a:rPr lang="ru-RU" altLang="ru-RU" sz="2300" dirty="0" smtClean="0"/>
              <a:t>кросс </a:t>
            </a:r>
            <a:r>
              <a:rPr lang="ru-RU" altLang="ru-RU" sz="2300" dirty="0" err="1" smtClean="0"/>
              <a:t>валидация</a:t>
            </a:r>
            <a:r>
              <a:rPr lang="en-US" altLang="ru-RU" sz="2300" dirty="0" smtClean="0"/>
              <a:t> </a:t>
            </a:r>
            <a:r>
              <a:rPr lang="ru-RU" altLang="ru-RU" sz="2300" dirty="0" smtClean="0"/>
              <a:t>и </a:t>
            </a:r>
            <a:r>
              <a:rPr lang="en-US" altLang="ru-RU" sz="2300" dirty="0" err="1" smtClean="0"/>
              <a:t>backtesting</a:t>
            </a:r>
            <a:r>
              <a:rPr lang="ru-RU" altLang="ru-RU" sz="2300" dirty="0" smtClean="0"/>
              <a:t>. </a:t>
            </a:r>
            <a:endParaRPr lang="ru-RU" altLang="ru-RU" sz="2300" dirty="0" smtClean="0"/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>
                <a:solidFill>
                  <a:srgbClr val="0D47A1"/>
                </a:solidFill>
              </a:rPr>
              <a:t>Тесты</a:t>
            </a:r>
            <a:r>
              <a:rPr lang="ru-RU" altLang="ru-RU" sz="2300" dirty="0"/>
              <a:t> на ложные корреляции. </a:t>
            </a:r>
            <a:endParaRPr lang="ru-RU" altLang="ru-RU" sz="2300" dirty="0" smtClean="0"/>
          </a:p>
          <a:p>
            <a:pPr lvl="2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Напр</a:t>
            </a:r>
            <a:r>
              <a:rPr lang="ru-RU" altLang="ru-RU" dirty="0" smtClean="0"/>
              <a:t>. </a:t>
            </a:r>
            <a:r>
              <a:rPr lang="ru-RU" altLang="ru-RU" dirty="0" err="1"/>
              <a:t>Bonferonni</a:t>
            </a:r>
            <a:r>
              <a:rPr lang="ru-RU" altLang="ru-RU" dirty="0"/>
              <a:t> </a:t>
            </a:r>
            <a:r>
              <a:rPr lang="ru-RU" altLang="ru-RU" dirty="0" err="1"/>
              <a:t>correction</a:t>
            </a:r>
            <a:r>
              <a:rPr lang="ru-RU" altLang="ru-RU" dirty="0"/>
              <a:t>, </a:t>
            </a:r>
            <a:r>
              <a:rPr lang="ru-RU" altLang="ru-RU" dirty="0" err="1"/>
              <a:t>Scheffé's</a:t>
            </a:r>
            <a:r>
              <a:rPr lang="ru-RU" altLang="ru-RU" dirty="0"/>
              <a:t> </a:t>
            </a:r>
            <a:r>
              <a:rPr lang="ru-RU" altLang="ru-RU" dirty="0" err="1"/>
              <a:t>method</a:t>
            </a:r>
            <a:r>
              <a:rPr lang="ru-RU" altLang="ru-RU" dirty="0"/>
              <a:t> и </a:t>
            </a:r>
            <a:r>
              <a:rPr lang="ru-RU" altLang="ru-RU" dirty="0" err="1"/>
              <a:t>false</a:t>
            </a:r>
            <a:r>
              <a:rPr lang="ru-RU" altLang="ru-RU" dirty="0"/>
              <a:t> </a:t>
            </a:r>
            <a:r>
              <a:rPr lang="ru-RU" altLang="ru-RU" dirty="0" err="1"/>
              <a:t>discovery</a:t>
            </a:r>
            <a:r>
              <a:rPr lang="ru-RU" altLang="ru-RU" dirty="0"/>
              <a:t> </a:t>
            </a:r>
            <a:r>
              <a:rPr lang="ru-RU" altLang="ru-RU" dirty="0" err="1"/>
              <a:t>rate</a:t>
            </a:r>
            <a:r>
              <a:rPr lang="ru-RU" altLang="ru-RU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При добавлении признаков в окно прогноза нужно смотреть чтобы </a:t>
            </a:r>
            <a:r>
              <a:rPr lang="ru-RU" altLang="ru-RU" sz="2300" dirty="0" err="1" smtClean="0"/>
              <a:t>небыло</a:t>
            </a:r>
            <a:r>
              <a:rPr lang="ru-RU" altLang="ru-RU" sz="2300" dirty="0" smtClean="0"/>
              <a:t> утечки данных – признаки не должны опережать временную метку предсказываемого значения.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 smtClean="0"/>
              <a:t>Если </a:t>
            </a:r>
            <a:r>
              <a:rPr lang="ru-RU" altLang="ru-RU" sz="2300" dirty="0"/>
              <a:t>метка прогноза преобразована, часто забывают сделать обратное преобразование</a:t>
            </a:r>
            <a:r>
              <a:rPr lang="ru-RU" altLang="ru-RU" sz="2100" dirty="0">
                <a:latin typeface="system-ui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19379" y="6331148"/>
            <a:ext cx="42082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https://www.nature.com/articles/d41586-025-01246-1</a:t>
            </a:r>
          </a:p>
        </p:txBody>
      </p:sp>
    </p:spTree>
    <p:extLst>
      <p:ext uri="{BB962C8B-B14F-4D97-AF65-F5344CB8AC3E}">
        <p14:creationId xmlns:p14="http://schemas.microsoft.com/office/powerpoint/2010/main" val="336543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046" y="105148"/>
            <a:ext cx="11111753" cy="656851"/>
          </a:xfrm>
        </p:spPr>
        <p:txBody>
          <a:bodyPr>
            <a:normAutofit fontScale="90000"/>
          </a:bodyPr>
          <a:lstStyle/>
          <a:p>
            <a:r>
              <a:rPr lang="ru-RU" altLang="ru-RU" b="1" dirty="0" smtClean="0">
                <a:solidFill>
                  <a:srgbClr val="0D47A1"/>
                </a:solidFill>
                <a:latin typeface="system-ui"/>
              </a:rPr>
              <a:t>Экзогенные переменные</a:t>
            </a:r>
            <a:r>
              <a:rPr lang="ru-RU" altLang="ru-RU" dirty="0" smtClean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altLang="ru-RU" sz="2300" b="1" dirty="0"/>
              <a:t>Эндогенные ф</a:t>
            </a:r>
            <a:r>
              <a:rPr lang="en-US" sz="2300" b="1" dirty="0" err="1"/>
              <a:t>акторы</a:t>
            </a:r>
            <a:r>
              <a:rPr lang="en-US" sz="2300" dirty="0"/>
              <a:t>, </a:t>
            </a:r>
            <a:r>
              <a:rPr lang="en-US" sz="2300" dirty="0" err="1"/>
              <a:t>очевидно</a:t>
            </a:r>
            <a:r>
              <a:rPr lang="en-US" sz="2300" dirty="0"/>
              <a:t> </a:t>
            </a:r>
            <a:r>
              <a:rPr lang="en-US" sz="2300" dirty="0" err="1"/>
              <a:t>коррелирующие</a:t>
            </a:r>
            <a:r>
              <a:rPr lang="en-US" sz="2300" dirty="0"/>
              <a:t> с </a:t>
            </a:r>
            <a:r>
              <a:rPr lang="ru-RU" sz="2300" dirty="0"/>
              <a:t>ВР</a:t>
            </a:r>
            <a:r>
              <a:rPr lang="en-US" sz="2300" dirty="0"/>
              <a:t>. </a:t>
            </a:r>
            <a:endParaRPr lang="ru-RU" sz="23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300" dirty="0" smtClean="0"/>
              <a:t>Лаги ВР, преобразованные значения, значения автокорреляций, тренда или сезонности, и </a:t>
            </a:r>
            <a:r>
              <a:rPr lang="ru-RU" sz="2300" dirty="0" err="1" smtClean="0"/>
              <a:t>тд</a:t>
            </a:r>
            <a:endParaRPr lang="ru-RU" sz="23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b="1" dirty="0" smtClean="0"/>
              <a:t>Э</a:t>
            </a:r>
            <a:r>
              <a:rPr lang="en-US" sz="2300" b="1" dirty="0" err="1" smtClean="0"/>
              <a:t>кзогенны</a:t>
            </a:r>
            <a:r>
              <a:rPr lang="ru-RU" sz="2300" b="1" dirty="0" smtClean="0"/>
              <a:t>е ф</a:t>
            </a:r>
            <a:r>
              <a:rPr lang="ru-RU" sz="2300" b="1" dirty="0" smtClean="0"/>
              <a:t>акторы</a:t>
            </a:r>
            <a:r>
              <a:rPr lang="ru-RU" sz="2300" dirty="0" smtClean="0"/>
              <a:t> – факторы, не </a:t>
            </a:r>
            <a:r>
              <a:rPr lang="ru-RU" sz="2300" dirty="0" smtClean="0"/>
              <a:t>имеющие линейной корреляции с </a:t>
            </a:r>
            <a:r>
              <a:rPr lang="ru-RU" sz="2300" dirty="0" smtClean="0"/>
              <a:t>ВР, но </a:t>
            </a:r>
            <a:r>
              <a:rPr lang="ru-RU" sz="2300" dirty="0" smtClean="0"/>
              <a:t>объясняющие его поведения  </a:t>
            </a:r>
            <a:endParaRPr lang="ru-RU" sz="23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altLang="ru-RU" sz="2300" dirty="0" smtClean="0"/>
              <a:t>Прогноз </a:t>
            </a:r>
            <a:r>
              <a:rPr lang="ru-RU" altLang="ru-RU" sz="2300" dirty="0" smtClean="0"/>
              <a:t>энергопотребления – </a:t>
            </a:r>
            <a:r>
              <a:rPr lang="en-US" altLang="ru-RU" sz="2300" dirty="0" err="1" smtClean="0"/>
              <a:t>exdog</a:t>
            </a:r>
            <a:r>
              <a:rPr lang="en-US" altLang="ru-RU" sz="2300" dirty="0" smtClean="0"/>
              <a:t>: </a:t>
            </a:r>
            <a:r>
              <a:rPr lang="ru-RU" altLang="ru-RU" sz="2300" dirty="0" smtClean="0"/>
              <a:t>Температура, время суток, день </a:t>
            </a:r>
            <a:r>
              <a:rPr lang="ru-RU" altLang="ru-RU" sz="2300" dirty="0" smtClean="0"/>
              <a:t>недели</a:t>
            </a:r>
          </a:p>
          <a:p>
            <a:pPr marL="447675" lvl="2" indent="0" eaLnBrk="0" fontAlgn="base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altLang="ru-RU" sz="2400" b="1" dirty="0" smtClean="0"/>
              <a:t>Требования к экзогенным факторам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1900" dirty="0" smtClean="0"/>
              <a:t>На практике </a:t>
            </a:r>
            <a:r>
              <a:rPr lang="ru-RU" altLang="ru-RU" sz="1900" dirty="0" err="1" smtClean="0"/>
              <a:t>экзогенность</a:t>
            </a:r>
            <a:r>
              <a:rPr lang="ru-RU" altLang="ru-RU" sz="1900" dirty="0" smtClean="0"/>
              <a:t> устанавливается экспертом в предметной области!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1900" dirty="0" smtClean="0"/>
              <a:t>Экзогенные факторы объясняют ВР – то есть их использование статистически значимо и стабильно улучшает прогноз. В ином случае лучше фактор не использовать.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1900" dirty="0"/>
              <a:t>Экзогенные </a:t>
            </a:r>
            <a:r>
              <a:rPr lang="ru-RU" altLang="ru-RU" sz="1900" dirty="0" smtClean="0"/>
              <a:t>факторы должны быть «всегда в наличии», не пропадать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1900" dirty="0"/>
              <a:t>Экзогенные </a:t>
            </a:r>
            <a:r>
              <a:rPr lang="ru-RU" altLang="ru-RU" sz="1900" dirty="0" smtClean="0"/>
              <a:t>факторы не должны приводить к «утечке данных» (созданию ложных корреляций) – они должны не завесить от ВР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1900" dirty="0" smtClean="0"/>
              <a:t>Для многомерных ВР экзогенные факторы могут быть локальными или глобальными – то есть общей информацией между ВР</a:t>
            </a:r>
            <a:endParaRPr lang="en-US" altLang="ru-RU" sz="1900" dirty="0" smtClean="0"/>
          </a:p>
        </p:txBody>
      </p:sp>
    </p:spTree>
    <p:extLst>
      <p:ext uri="{BB962C8B-B14F-4D97-AF65-F5344CB8AC3E}">
        <p14:creationId xmlns:p14="http://schemas.microsoft.com/office/powerpoint/2010/main" val="196869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146" y="238498"/>
            <a:ext cx="11111753" cy="656851"/>
          </a:xfrm>
        </p:spPr>
        <p:txBody>
          <a:bodyPr>
            <a:normAutofit fontScale="90000"/>
          </a:bodyPr>
          <a:lstStyle/>
          <a:p>
            <a:pPr lvl="0"/>
            <a:r>
              <a:rPr lang="ru-RU" altLang="ru-RU" b="1" dirty="0" smtClean="0">
                <a:solidFill>
                  <a:srgbClr val="0D47A1"/>
                </a:solidFill>
                <a:latin typeface="system-ui"/>
              </a:rPr>
              <a:t>Экзогенные </a:t>
            </a:r>
            <a:r>
              <a:rPr lang="ru-RU" altLang="ru-RU" b="1" dirty="0" smtClean="0">
                <a:solidFill>
                  <a:srgbClr val="0D47A1"/>
                </a:solidFill>
                <a:latin typeface="system-ui"/>
              </a:rPr>
              <a:t>переменные</a:t>
            </a:r>
            <a:r>
              <a:rPr lang="en-US" altLang="ru-RU" b="1" dirty="0">
                <a:solidFill>
                  <a:srgbClr val="0D47A1"/>
                </a:solidFill>
                <a:latin typeface="system-ui"/>
              </a:rPr>
              <a:t>.</a:t>
            </a:r>
            <a:r>
              <a:rPr lang="ru-RU" altLang="ru-RU" b="1" dirty="0" smtClean="0">
                <a:solidFill>
                  <a:srgbClr val="0D47A1"/>
                </a:solidFill>
                <a:latin typeface="system-ui"/>
              </a:rPr>
              <a:t> Три </a:t>
            </a:r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группы</a:t>
            </a:r>
            <a:r>
              <a:rPr lang="ru-RU" altLang="ru-RU" dirty="0" smtClean="0"/>
              <a:t>:</a:t>
            </a:r>
            <a:r>
              <a:rPr lang="ru-RU" altLang="ru-RU" dirty="0" smtClean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b="1" dirty="0" smtClean="0"/>
              <a:t>Статические </a:t>
            </a:r>
            <a:r>
              <a:rPr lang="ru-RU" altLang="ru-RU" b="1" dirty="0"/>
              <a:t>экзогенные переменные</a:t>
            </a:r>
            <a:r>
              <a:rPr lang="ru-RU" altLang="ru-RU" dirty="0"/>
              <a:t>: </a:t>
            </a:r>
            <a:endParaRPr lang="en-US" altLang="ru-RU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несут </a:t>
            </a:r>
            <a:r>
              <a:rPr lang="ru-RU" altLang="ru-RU" dirty="0"/>
              <a:t>неизменную во времени информацию для каждого временного ряда</a:t>
            </a:r>
            <a:r>
              <a:rPr lang="ru-RU" altLang="ru-RU" dirty="0" smtClean="0"/>
              <a:t>.</a:t>
            </a:r>
            <a:endParaRPr lang="en-US" altLang="ru-RU" dirty="0" smtClean="0"/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/>
              <a:t>Напр. </a:t>
            </a:r>
            <a:r>
              <a:rPr lang="ru-RU" altLang="ru-RU" sz="2400" dirty="0"/>
              <a:t> </a:t>
            </a:r>
            <a:r>
              <a:rPr lang="ru-RU" altLang="ru-RU" sz="2400" dirty="0" smtClean="0"/>
              <a:t>идентификаторы </a:t>
            </a:r>
            <a:r>
              <a:rPr lang="ru-RU" altLang="ru-RU" sz="2400" dirty="0"/>
              <a:t>регионов, групп </a:t>
            </a:r>
            <a:r>
              <a:rPr lang="ru-RU" altLang="ru-RU" sz="2400" dirty="0" smtClean="0"/>
              <a:t>товаров </a:t>
            </a:r>
            <a:r>
              <a:rPr lang="ru-RU" altLang="ru-RU" sz="2400" dirty="0"/>
              <a:t>и т. д.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Исторические экзогенные переменные</a:t>
            </a:r>
            <a:r>
              <a:rPr lang="ru-RU" altLang="ru-RU" dirty="0"/>
              <a:t>: </a:t>
            </a:r>
            <a:r>
              <a:rPr lang="ru-RU" altLang="ru-RU" dirty="0" smtClean="0"/>
              <a:t>переменная </a:t>
            </a:r>
            <a:r>
              <a:rPr lang="ru-RU" altLang="ru-RU" dirty="0"/>
              <a:t>ограничена прошлыми наблюдаемыми значениями. </a:t>
            </a:r>
            <a:endParaRPr lang="ru-RU" altLang="ru-RU" dirty="0" smtClean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600" dirty="0"/>
              <a:t>Причинность можно проверить напр. </a:t>
            </a:r>
            <a:r>
              <a:rPr lang="ru-RU" altLang="ru-RU" sz="2600" dirty="0" smtClean="0"/>
              <a:t>при помощи Теста </a:t>
            </a:r>
            <a:r>
              <a:rPr lang="ru-RU" altLang="ru-RU" sz="2600" dirty="0" err="1" smtClean="0"/>
              <a:t>Гранжера</a:t>
            </a:r>
            <a:r>
              <a:rPr lang="ru-RU" altLang="ru-RU" sz="2600" dirty="0"/>
              <a:t> </a:t>
            </a:r>
            <a:r>
              <a:rPr lang="ru-RU" altLang="ru-RU" sz="2600" dirty="0" smtClean="0"/>
              <a:t>на казуальность.</a:t>
            </a:r>
            <a:endParaRPr lang="ru-RU" altLang="ru-RU" sz="260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Будущие экзогенные переменные</a:t>
            </a:r>
            <a:r>
              <a:rPr lang="ru-RU" altLang="ru-RU" dirty="0"/>
              <a:t>: </a:t>
            </a:r>
            <a:r>
              <a:rPr lang="ru-RU" altLang="ru-RU" dirty="0" smtClean="0"/>
              <a:t> </a:t>
            </a:r>
            <a:r>
              <a:rPr lang="ru-RU" altLang="ru-RU" dirty="0"/>
              <a:t>доступны на момент прогнозирования. </a:t>
            </a:r>
            <a:endParaRPr lang="ru-RU" altLang="ru-RU" dirty="0" smtClean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Напр. календарные </a:t>
            </a:r>
            <a:r>
              <a:rPr lang="ru-RU" altLang="ru-RU" dirty="0"/>
              <a:t>переменные, известные события, </a:t>
            </a:r>
            <a:r>
              <a:rPr lang="ru-RU" altLang="ru-RU" dirty="0" smtClean="0"/>
              <a:t>(напр. </a:t>
            </a:r>
            <a:r>
              <a:rPr lang="ru-RU" altLang="ru-RU" dirty="0"/>
              <a:t>запланированные </a:t>
            </a:r>
            <a:r>
              <a:rPr lang="ru-RU" altLang="ru-RU" dirty="0" smtClean="0"/>
              <a:t>акции), </a:t>
            </a:r>
            <a:r>
              <a:rPr lang="ru-RU" altLang="ru-RU" dirty="0" smtClean="0"/>
              <a:t>прогнозы факторов (напр. прогноз погоды для прогноза </a:t>
            </a:r>
            <a:r>
              <a:rPr lang="ru-RU" altLang="ru-RU" dirty="0" smtClean="0"/>
              <a:t>электропотребления на 1 день).</a:t>
            </a:r>
            <a:endParaRPr lang="en-US" altLang="ru-RU" dirty="0" smtClean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Важно чтобы переменная всегда в будущем была известна и не несла </a:t>
            </a:r>
            <a:r>
              <a:rPr lang="en-US" altLang="ru-RU" dirty="0" smtClean="0"/>
              <a:t>data leaks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Для проверки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обратный тест на казуальность (фактор на ВР)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Lead-Lag </a:t>
            </a:r>
            <a:r>
              <a:rPr lang="en-US" dirty="0" smtClean="0"/>
              <a:t>Analysis</a:t>
            </a:r>
            <a:r>
              <a:rPr lang="ru-RU" dirty="0" smtClean="0"/>
              <a:t> – на сколько далеко нужно сместить ВР чтобы возникла казуальность?</a:t>
            </a:r>
            <a:endParaRPr lang="en-US" b="1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36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/>
          <a:lstStyle/>
          <a:p>
            <a:pPr lvl="0"/>
            <a:r>
              <a:rPr lang="ru-RU" dirty="0" smtClean="0">
                <a:solidFill>
                  <a:srgbClr val="2C2C36"/>
                </a:solidFill>
                <a:latin typeface="+mn-lt"/>
              </a:rPr>
              <a:t>Замечания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130321"/>
            <a:ext cx="11601450" cy="5318104"/>
          </a:xfrm>
        </p:spPr>
        <p:txBody>
          <a:bodyPr>
            <a:normAutofit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Не </a:t>
            </a:r>
            <a:r>
              <a:rPr lang="ru-RU" altLang="ru-RU" dirty="0"/>
              <a:t>используйте обычную CV — только </a:t>
            </a:r>
            <a:r>
              <a:rPr lang="ru-RU" altLang="ru-RU" dirty="0" err="1"/>
              <a:t>time-based</a:t>
            </a:r>
            <a:r>
              <a:rPr lang="ru-RU" altLang="ru-RU" dirty="0"/>
              <a:t> </a:t>
            </a:r>
            <a:r>
              <a:rPr lang="ru-RU" altLang="ru-RU" dirty="0" smtClean="0"/>
              <a:t>CV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Экзогенные факторы используются только если они улучшают точность на тестах</a:t>
            </a:r>
            <a:endParaRPr lang="ru-RU" altLang="ru-RU" dirty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Проверяйте признаки на утечку данных (забегают вперед на </a:t>
            </a:r>
            <a:r>
              <a:rPr lang="ru-RU" altLang="ru-RU" dirty="0" err="1" smtClean="0"/>
              <a:t>трейне</a:t>
            </a:r>
            <a:r>
              <a:rPr lang="ru-RU" altLang="ru-RU" dirty="0" smtClean="0"/>
              <a:t>)</a:t>
            </a:r>
            <a:endParaRPr lang="ru-RU" altLang="ru-RU" dirty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Используйте </a:t>
            </a:r>
            <a:r>
              <a:rPr lang="en-US" altLang="ru-RU" dirty="0" smtClean="0"/>
              <a:t>ARIMA </a:t>
            </a:r>
            <a:r>
              <a:rPr lang="ru-RU" altLang="ru-RU" dirty="0" smtClean="0"/>
              <a:t>и </a:t>
            </a:r>
            <a:r>
              <a:rPr lang="en-US" altLang="ru-RU" dirty="0" smtClean="0"/>
              <a:t>ETS </a:t>
            </a:r>
            <a:r>
              <a:rPr lang="ru-RU" altLang="ru-RU" dirty="0"/>
              <a:t>как </a:t>
            </a:r>
            <a:r>
              <a:rPr lang="ru-RU" altLang="ru-RU" dirty="0" err="1" smtClean="0"/>
              <a:t>baseline</a:t>
            </a:r>
            <a:endParaRPr lang="ru-RU" altLang="ru-RU" dirty="0" smtClean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Начинайте </a:t>
            </a:r>
            <a:r>
              <a:rPr lang="ru-RU" altLang="ru-RU" dirty="0"/>
              <a:t>с простого: </a:t>
            </a:r>
            <a:r>
              <a:rPr lang="ru-RU" altLang="ru-RU" dirty="0" err="1"/>
              <a:t>XGBoost</a:t>
            </a:r>
            <a:r>
              <a:rPr lang="ru-RU" altLang="ru-RU" dirty="0"/>
              <a:t> + </a:t>
            </a:r>
            <a:r>
              <a:rPr lang="ru-RU" altLang="ru-RU" dirty="0" smtClean="0"/>
              <a:t>лаги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Модели легко могут потерять структуру (</a:t>
            </a:r>
            <a:r>
              <a:rPr lang="ru-RU" altLang="ru-RU" dirty="0" err="1" smtClean="0"/>
              <a:t>патетрны</a:t>
            </a:r>
            <a:r>
              <a:rPr lang="ru-RU" altLang="ru-RU" dirty="0" smtClean="0"/>
              <a:t> и </a:t>
            </a:r>
            <a:r>
              <a:rPr lang="ru-RU" altLang="ru-RU" dirty="0" err="1" smtClean="0"/>
              <a:t>тд</a:t>
            </a:r>
            <a:r>
              <a:rPr lang="ru-RU" altLang="ru-RU" dirty="0" smtClean="0"/>
              <a:t>), выбирайте размер окна, для стабилизации</a:t>
            </a:r>
            <a:endParaRPr lang="ru-RU" altLang="ru-RU" dirty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Добавляйте </a:t>
            </a:r>
            <a:r>
              <a:rPr lang="ru-RU" altLang="ru-RU" dirty="0"/>
              <a:t>календарные признаки: день недели, праздник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 smtClean="0"/>
              <a:t>Проверяйте </a:t>
            </a:r>
            <a:r>
              <a:rPr lang="ru-RU" altLang="ru-RU" dirty="0"/>
              <a:t>остатки — должны быть белым шумом</a:t>
            </a:r>
          </a:p>
          <a:p>
            <a:pPr lvl="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факторы на интерпретируемость</a:t>
            </a:r>
            <a:endParaRPr lang="ru-RU" alt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602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/>
          <a:lstStyle/>
          <a:p>
            <a:pPr lvl="0"/>
            <a:r>
              <a:rPr lang="ru-RU" altLang="ru-RU" dirty="0">
                <a:solidFill>
                  <a:srgbClr val="2C2C36"/>
                </a:solidFill>
                <a:latin typeface="+mn-lt"/>
              </a:rPr>
              <a:t>Практические советы и </a:t>
            </a:r>
            <a:r>
              <a:rPr lang="ru-RU" altLang="ru-RU" dirty="0" smtClean="0">
                <a:solidFill>
                  <a:srgbClr val="2C2C36"/>
                </a:solidFill>
                <a:latin typeface="+mn-lt"/>
              </a:rPr>
              <a:t>ловушки</a:t>
            </a:r>
            <a:endParaRPr lang="ru-RU" dirty="0">
              <a:latin typeface="+mn-lt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201736"/>
              </p:ext>
            </p:extLst>
          </p:nvPr>
        </p:nvGraphicFramePr>
        <p:xfrm>
          <a:off x="421341" y="1290918"/>
          <a:ext cx="10932459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954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693459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Задача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Стат. методы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ML</a:t>
                      </a:r>
                      <a:r>
                        <a:rPr lang="en-US" baseline="0" dirty="0" smtClean="0"/>
                        <a:t> </a:t>
                      </a:r>
                      <a:r>
                        <a:rPr lang="ru-RU" baseline="0" dirty="0" smtClean="0"/>
                        <a:t>методы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примеры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ARIMA,</a:t>
                      </a:r>
                      <a:r>
                        <a:rPr lang="en-US" baseline="0" dirty="0" smtClean="0"/>
                        <a:t> ETS, Naïve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XGBoost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LinearReg+Lasso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2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Стационарность</a:t>
                      </a:r>
                      <a:r>
                        <a:rPr lang="ru-RU" baseline="0" dirty="0" smtClean="0"/>
                        <a:t> ВР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Очень важна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Только</a:t>
                      </a:r>
                      <a:r>
                        <a:rPr lang="ru-RU" baseline="0" dirty="0" smtClean="0"/>
                        <a:t> регулярность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Интерпретируемость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Высокая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средняя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Риск переобучения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Низкий,  при кросс-</a:t>
                      </a:r>
                      <a:r>
                        <a:rPr lang="ru-RU" dirty="0" err="1" smtClean="0"/>
                        <a:t>валидации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средний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Экзогенные факторы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Только 1</a:t>
                      </a:r>
                      <a:r>
                        <a:rPr lang="ru-RU" baseline="0" dirty="0" smtClean="0"/>
                        <a:t> - 2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Главное чтобы не было</a:t>
                      </a:r>
                      <a:r>
                        <a:rPr lang="ru-RU" baseline="0" dirty="0" smtClean="0"/>
                        <a:t> утечки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Многомерные ВР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Сложно,</a:t>
                      </a:r>
                      <a:r>
                        <a:rPr lang="ru-RU" baseline="0" dirty="0" smtClean="0"/>
                        <a:t> чаще локальные модели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Возможны</a:t>
                      </a:r>
                      <a:r>
                        <a:rPr lang="ru-RU" baseline="0" dirty="0" smtClean="0"/>
                        <a:t> глобальные модели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Иерархические ВР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Сложно учесть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Горизонт прогноза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Небольшой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Средний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166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Автомтаизация</a:t>
                      </a:r>
                      <a:r>
                        <a:rPr lang="ru-RU" dirty="0" smtClean="0"/>
                        <a:t> обучения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Средняя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Высокая</a:t>
                      </a:r>
                      <a:r>
                        <a:rPr lang="ru-RU" baseline="0" dirty="0" smtClean="0"/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86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351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735</Words>
  <Application>Microsoft Office PowerPoint</Application>
  <PresentationFormat>Широкоэкранный</PresentationFormat>
  <Paragraphs>153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menlo</vt:lpstr>
      <vt:lpstr>system-ui</vt:lpstr>
      <vt:lpstr>Тема Office</vt:lpstr>
      <vt:lpstr>Методы машинного обучения в АВР</vt:lpstr>
      <vt:lpstr>Почему невсегда статистические методы</vt:lpstr>
      <vt:lpstr>ВР и машинное обучение</vt:lpstr>
      <vt:lpstr>Признаки во временных рядах</vt:lpstr>
      <vt:lpstr>Учет экзогенных и других типов признаков</vt:lpstr>
      <vt:lpstr>Признаки во временных рядах</vt:lpstr>
      <vt:lpstr>Разница между задачами регрессии и предсказания</vt:lpstr>
      <vt:lpstr>Замечания к процедуре редукции</vt:lpstr>
      <vt:lpstr>Проблемы выбора окна Редукции</vt:lpstr>
      <vt:lpstr>Экзогенные переменные </vt:lpstr>
      <vt:lpstr>Экзогенные переменные. Три группы: </vt:lpstr>
      <vt:lpstr>Замечания</vt:lpstr>
      <vt:lpstr>Практические советы и ловушки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Ронкин Михаил Владимирович</dc:creator>
  <cp:lastModifiedBy>Ронкин Михаил Владимирович</cp:lastModifiedBy>
  <cp:revision>24</cp:revision>
  <dcterms:created xsi:type="dcterms:W3CDTF">2025-07-25T11:01:31Z</dcterms:created>
  <dcterms:modified xsi:type="dcterms:W3CDTF">2025-08-04T14:50:47Z</dcterms:modified>
</cp:coreProperties>
</file>