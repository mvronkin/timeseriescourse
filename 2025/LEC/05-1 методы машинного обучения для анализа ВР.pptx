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59" r:id="rId5"/>
    <p:sldId id="261" r:id="rId6"/>
    <p:sldId id="264" r:id="rId7"/>
    <p:sldId id="263" r:id="rId8"/>
    <p:sldId id="266" r:id="rId9"/>
    <p:sldId id="267" r:id="rId10"/>
    <p:sldId id="268" r:id="rId11"/>
    <p:sldId id="265" r:id="rId12"/>
    <p:sldId id="262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Ронкин Михаил Владимирович" initials="РМВ" lastIdx="1" clrIdx="0">
    <p:extLst>
      <p:ext uri="{19B8F6BF-5375-455C-9EA6-DF929625EA0E}">
        <p15:presenceInfo xmlns:p15="http://schemas.microsoft.com/office/powerpoint/2012/main" userId="Ронкин Михаил Владимирович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8" y="10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7-25T16:33:07.100" idx="1">
    <p:pos x="10" y="10"/>
    <p:text/>
    <p:extLst>
      <p:ext uri="{C676402C-5697-4E1C-873F-D02D1690AC5C}">
        <p15:threadingInfo xmlns:p15="http://schemas.microsoft.com/office/powerpoint/2012/main" timeZoneBias="-30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3863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7468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0233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299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5212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944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3185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165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958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0968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60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B237C4-111C-4636-B222-D785A341FF5A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8493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comments" Target="../comments/comment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eon-toolkit.org/en/latest/examples/forecasting/forecasting_sklearn.html#Pitfall-2:-obscure-data-manipulations,-brittle-boilerplate-code-to-apply-regressors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3534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1925" y="155576"/>
            <a:ext cx="11820525" cy="806450"/>
          </a:xfrm>
        </p:spPr>
        <p:txBody>
          <a:bodyPr/>
          <a:lstStyle/>
          <a:p>
            <a:r>
              <a:rPr lang="ru-RU" dirty="0" smtClean="0"/>
              <a:t>Почему невсегда статистические методы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600" y="838200"/>
            <a:ext cx="11887200" cy="5562600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/>
              <a:t>Часто при построении моделей </a:t>
            </a:r>
            <a:r>
              <a:rPr lang="ru-RU" altLang="ru-RU" sz="2100" dirty="0" err="1"/>
              <a:t>прогназирования</a:t>
            </a:r>
            <a:r>
              <a:rPr lang="ru-RU" altLang="ru-RU" sz="2100" dirty="0"/>
              <a:t> ВР приходится руководствоваться принципом скорости. </a:t>
            </a:r>
            <a:endParaRPr lang="ru-RU" altLang="ru-RU" sz="2100" dirty="0" smtClean="0"/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 smtClean="0"/>
              <a:t>Основные</a:t>
            </a:r>
            <a:r>
              <a:rPr lang="ru-RU" altLang="ru-RU" sz="2100" dirty="0"/>
              <a:t> </a:t>
            </a:r>
            <a:r>
              <a:rPr lang="ru-RU" altLang="ru-RU" sz="2100" b="1" dirty="0"/>
              <a:t>недостатками</a:t>
            </a:r>
            <a:r>
              <a:rPr lang="ru-RU" altLang="ru-RU" sz="2100" dirty="0"/>
              <a:t> </a:t>
            </a:r>
            <a:r>
              <a:rPr lang="ru-RU" altLang="ru-RU" sz="2100" dirty="0" smtClean="0"/>
              <a:t>моделей</a:t>
            </a:r>
            <a:r>
              <a:rPr lang="en-US" altLang="ru-RU" sz="2100" dirty="0" smtClean="0"/>
              <a:t> SARIMA, ETS </a:t>
            </a:r>
            <a:r>
              <a:rPr lang="ru-RU" altLang="ru-RU" sz="2100" dirty="0" smtClean="0"/>
              <a:t>и других стат. моделей :</a:t>
            </a:r>
            <a:endParaRPr kumimoji="0" lang="ru-RU" alt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 smtClean="0"/>
              <a:t>Сложность </a:t>
            </a:r>
            <a:r>
              <a:rPr lang="ru-RU" altLang="ru-RU" sz="2100" dirty="0"/>
              <a:t>предварительного анализа и подготовки данных</a:t>
            </a:r>
            <a:r>
              <a:rPr lang="ru-RU" altLang="ru-RU" sz="2100" dirty="0" smtClean="0"/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 smtClean="0"/>
              <a:t>Трудно настраиваемы параметры моделей. 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 smtClean="0"/>
              <a:t>Необходимость </a:t>
            </a:r>
            <a:r>
              <a:rPr lang="ru-RU" altLang="ru-RU" sz="2100" dirty="0"/>
              <a:t>частого </a:t>
            </a:r>
            <a:r>
              <a:rPr lang="ru-RU" altLang="ru-RU" sz="2100" dirty="0" smtClean="0"/>
              <a:t>дообучения\переобучения с новыми </a:t>
            </a:r>
            <a:r>
              <a:rPr lang="ru-RU" altLang="ru-RU" sz="2100" dirty="0" err="1" smtClean="0"/>
              <a:t>гиперпараметрами</a:t>
            </a:r>
            <a:r>
              <a:rPr lang="ru-RU" altLang="ru-RU" sz="2100" dirty="0" smtClean="0"/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 smtClean="0"/>
              <a:t>Авто настройка не дает высоко-точных результатов без ручной </a:t>
            </a:r>
            <a:r>
              <a:rPr lang="ru-RU" altLang="ru-RU" sz="2100" dirty="0" err="1" smtClean="0"/>
              <a:t>донастройки</a:t>
            </a:r>
            <a:r>
              <a:rPr lang="ru-RU" altLang="ru-RU" sz="2100" dirty="0" smtClean="0"/>
              <a:t>.</a:t>
            </a:r>
            <a:endParaRPr lang="ru-RU" altLang="ru-RU" sz="2100" dirty="0"/>
          </a:p>
          <a:p>
            <a:pPr marL="0" lvl="0" indent="0" eaLnBrk="0" fontAlgn="base" hangingPunct="0">
              <a:lnSpc>
                <a:spcPct val="120000"/>
              </a:lnSpc>
              <a:spcBef>
                <a:spcPts val="600"/>
              </a:spcBef>
              <a:spcAft>
                <a:spcPct val="0"/>
              </a:spcAft>
              <a:buFontTx/>
              <a:buChar char="•"/>
            </a:pPr>
            <a:r>
              <a:rPr lang="ru-RU" altLang="ru-RU" sz="2100" dirty="0" smtClean="0"/>
              <a:t> </a:t>
            </a:r>
            <a:r>
              <a:rPr lang="ru-RU" altLang="ru-RU" sz="2100" u="sng" dirty="0" smtClean="0"/>
              <a:t>На практике при работе с большими объемами ВР и длинными горизонтами предсказания  - при массовых не прецизионных прогнозах дешевле и быстрее</a:t>
            </a:r>
            <a:r>
              <a:rPr lang="ru-RU" altLang="ru-RU" sz="2100" u="sng" dirty="0"/>
              <a:t> выбрать несколько признаков из имеющегося временного ряда и построить простую линейную регрессионную модель или, скажем, случайный лес</a:t>
            </a:r>
            <a:r>
              <a:rPr lang="ru-RU" altLang="ru-RU" sz="2100" dirty="0"/>
              <a:t>. </a:t>
            </a:r>
            <a:endParaRPr lang="ru-RU" altLang="ru-RU" sz="2100" dirty="0" smtClean="0"/>
          </a:p>
          <a:p>
            <a:pPr marL="457200" lvl="1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 smtClean="0"/>
              <a:t>подход </a:t>
            </a:r>
            <a:r>
              <a:rPr lang="ru-RU" altLang="ru-RU" sz="2100" dirty="0"/>
              <a:t>не подкреплен теорией и нарушает ряд предположений (например, теорему Гаусса-Маркова, особенно для некоррелированных ошибок), но он очень полезен на практике и часто используется в соревнованиях по машинному обучению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b="1" dirty="0" smtClean="0"/>
              <a:t>При исследованиях рекомендуется начинать с </a:t>
            </a:r>
            <a:r>
              <a:rPr lang="en-US" altLang="ru-RU" sz="2100" b="1" dirty="0" smtClean="0"/>
              <a:t>ARIMA, ETS </a:t>
            </a:r>
            <a:r>
              <a:rPr lang="ru-RU" altLang="ru-RU" sz="2100" b="1" dirty="0" smtClean="0"/>
              <a:t>как </a:t>
            </a:r>
            <a:r>
              <a:rPr lang="ru-RU" altLang="ru-RU" sz="2100" b="1" dirty="0" err="1" smtClean="0"/>
              <a:t>бейзлайны</a:t>
            </a:r>
            <a:endParaRPr kumimoji="0" lang="ru-RU" altLang="ru-RU" sz="2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endParaRPr lang="ru-RU" sz="21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6072187" y="6550223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 smtClean="0"/>
              <a:t>https://mlcourse.ai/book/topic09/topic9_part1_time_series_python.html</a:t>
            </a:r>
            <a:endParaRPr lang="ru-RU" sz="1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0" y="6550222"/>
            <a:ext cx="40820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 smtClean="0"/>
              <a:t>https://blogs.cisco.com/analytics-automation/arima3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372900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3081" y="313765"/>
            <a:ext cx="11869271" cy="726141"/>
          </a:xfrm>
        </p:spPr>
        <p:txBody>
          <a:bodyPr>
            <a:normAutofit/>
          </a:bodyPr>
          <a:lstStyle/>
          <a:p>
            <a:r>
              <a:rPr lang="ru-RU" dirty="0" smtClean="0"/>
              <a:t>ВР и машинное обучение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7918" y="1162236"/>
            <a:ext cx="12124764" cy="144649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 smtClean="0"/>
              <a:t>технически </a:t>
            </a:r>
            <a:r>
              <a:rPr lang="ru-RU" sz="2400" dirty="0"/>
              <a:t>использование машинного обучения для задач предсказания ВР </a:t>
            </a:r>
            <a:r>
              <a:rPr lang="ru-RU" sz="2400" dirty="0" smtClean="0"/>
              <a:t>- сведение ВР к табличному виду (редукции ВР). </a:t>
            </a:r>
          </a:p>
          <a:p>
            <a:pPr marL="0" indent="0">
              <a:buNone/>
            </a:pPr>
            <a:r>
              <a:rPr lang="ru-RU" sz="2400" dirty="0" smtClean="0"/>
              <a:t>В </a:t>
            </a:r>
            <a:r>
              <a:rPr lang="ru-RU" sz="2400" dirty="0"/>
              <a:t>наиболее простом случае </a:t>
            </a:r>
            <a:r>
              <a:rPr lang="ru-RU" sz="2400" dirty="0" smtClean="0"/>
              <a:t>таблица </a:t>
            </a:r>
            <a:r>
              <a:rPr lang="ru-RU" sz="2400" dirty="0"/>
              <a:t>может быть составлена путем </a:t>
            </a:r>
            <a:r>
              <a:rPr lang="ru-RU" sz="2400" dirty="0" smtClean="0"/>
              <a:t>прохождения </a:t>
            </a:r>
            <a:r>
              <a:rPr lang="ru-RU" sz="2400" dirty="0"/>
              <a:t>окна по ВР так, что следующее за окном значение всегда будет меткой.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t="7033" r="6647" b="22856"/>
          <a:stretch/>
        </p:blipFill>
        <p:spPr>
          <a:xfrm>
            <a:off x="3704942" y="4476566"/>
            <a:ext cx="8248372" cy="2103529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679" t="25259" r="11900" b="35887"/>
          <a:stretch/>
        </p:blipFill>
        <p:spPr>
          <a:xfrm>
            <a:off x="3627621" y="2608729"/>
            <a:ext cx="8008566" cy="15329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31623" y="4133429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Лаги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1343298" y="4055222"/>
            <a:ext cx="7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метка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5208493" y="3196077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Окно 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6448569" y="3164470"/>
            <a:ext cx="7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метка</a:t>
            </a:r>
            <a:endParaRPr lang="ru-RU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147918" y="6493607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 smtClean="0"/>
              <a:t>https://cienciadedatos.net/documentos/py27-time-series-forecasting-python-scikitlearn.html</a:t>
            </a:r>
            <a:endParaRPr lang="ru-RU" sz="12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182471" y="4055222"/>
            <a:ext cx="87708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3936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505" y="320303"/>
            <a:ext cx="12227859" cy="773392"/>
          </a:xfrm>
        </p:spPr>
        <p:txBody>
          <a:bodyPr/>
          <a:lstStyle/>
          <a:p>
            <a:r>
              <a:rPr lang="ru-RU" dirty="0" smtClean="0"/>
              <a:t>Признаки во временных рядах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5505" y="1053547"/>
            <a:ext cx="11228295" cy="49308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 smtClean="0"/>
              <a:t>Может быть несколько вариантов редукции. К лаговым признакам могут быть добавлены и другие признаки.</a:t>
            </a:r>
          </a:p>
          <a:p>
            <a:endParaRPr lang="ru-RU" sz="2400" dirty="0"/>
          </a:p>
        </p:txBody>
      </p:sp>
      <p:pic>
        <p:nvPicPr>
          <p:cNvPr id="2050" name="Picture 2" descr="https://cienciadedatos.net/images/matrix_transformation_with_exog_variabl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953" y="1875650"/>
            <a:ext cx="5431629" cy="2060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0" y="6520957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 smtClean="0"/>
              <a:t>https://cienciadedatos.net/documentos/py27-time-series-forecasting-python-scikitlearn.html</a:t>
            </a:r>
            <a:endParaRPr lang="ru-RU" sz="1200" dirty="0"/>
          </a:p>
        </p:txBody>
      </p:sp>
      <p:pic>
        <p:nvPicPr>
          <p:cNvPr id="2052" name="Picture 4" descr="https://cienciadedatos.net/images/diagram-recursive-mutistep-forecasting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52" y="2509227"/>
            <a:ext cx="4737848" cy="23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cienciadedatos.net/images/diagram-direct-multi-step-forecasting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5953" y="4172247"/>
            <a:ext cx="5129776" cy="244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7175894" y="1748610"/>
            <a:ext cx="4707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Добавление экзогенных факторов к редукции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811516" y="1945873"/>
            <a:ext cx="2462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Рекурсивная редукция 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5"/>
          <a:srcRect l="51108" t="7033" r="6647" b="22856"/>
          <a:stretch/>
        </p:blipFill>
        <p:spPr>
          <a:xfrm>
            <a:off x="417732" y="4838172"/>
            <a:ext cx="2931460" cy="16520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75894" y="3908394"/>
            <a:ext cx="1971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Прямая редукция </a:t>
            </a:r>
            <a:endParaRPr lang="ru-RU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5818094" y="2315205"/>
            <a:ext cx="0" cy="39869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5818094" y="3908394"/>
            <a:ext cx="588456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6239434" y="6576151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 smtClean="0"/>
              <a:t>https://machinelearningmastery.com/multi-step-time-series-forecasting/</a:t>
            </a:r>
            <a:endParaRPr lang="ru-RU" sz="1100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8905533" y="6464143"/>
            <a:ext cx="29776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/>
              <a:t>https://robjhyndman.com/papers/rectify.pdf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143492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505" y="320303"/>
            <a:ext cx="12227859" cy="773392"/>
          </a:xfrm>
        </p:spPr>
        <p:txBody>
          <a:bodyPr/>
          <a:lstStyle/>
          <a:p>
            <a:r>
              <a:rPr lang="ru-RU" dirty="0" smtClean="0"/>
              <a:t>Признаки во временных рядах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8258" y="1029249"/>
            <a:ext cx="11528613" cy="493086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 smtClean="0"/>
              <a:t>Может быть несколько вариантов </a:t>
            </a:r>
            <a:r>
              <a:rPr lang="ru-RU" dirty="0" err="1" smtClean="0"/>
              <a:t>редукии</a:t>
            </a:r>
            <a:r>
              <a:rPr lang="ru-RU" dirty="0" smtClean="0"/>
              <a:t>. К лаговым признакам могут быть добавлены и другие признаки.</a:t>
            </a:r>
          </a:p>
          <a:p>
            <a:r>
              <a:rPr lang="ru-RU" dirty="0" smtClean="0"/>
              <a:t>Лаги временных рядов</a:t>
            </a:r>
          </a:p>
          <a:p>
            <a:r>
              <a:rPr lang="ru-RU" dirty="0" smtClean="0"/>
              <a:t>Преобразования лагов (степенное, разность и </a:t>
            </a:r>
            <a:r>
              <a:rPr lang="ru-RU" dirty="0" err="1" smtClean="0"/>
              <a:t>тд</a:t>
            </a:r>
            <a:r>
              <a:rPr lang="ru-RU" dirty="0" smtClean="0"/>
              <a:t>)</a:t>
            </a:r>
            <a:endParaRPr lang="en-US" dirty="0" smtClean="0"/>
          </a:p>
          <a:p>
            <a:r>
              <a:rPr lang="ru-RU" dirty="0" smtClean="0"/>
              <a:t>Преобразования </a:t>
            </a:r>
            <a:r>
              <a:rPr lang="ru-RU" dirty="0" smtClean="0"/>
              <a:t>метки</a:t>
            </a:r>
            <a:r>
              <a:rPr lang="ru-RU" dirty="0" smtClean="0"/>
              <a:t> (степенное, разность, кодирование и </a:t>
            </a:r>
            <a:r>
              <a:rPr lang="ru-RU" dirty="0" err="1" smtClean="0"/>
              <a:t>тд</a:t>
            </a:r>
            <a:r>
              <a:rPr lang="ru-RU" dirty="0" smtClean="0"/>
              <a:t>)</a:t>
            </a:r>
            <a:endParaRPr lang="en-US" dirty="0" smtClean="0"/>
          </a:p>
          <a:p>
            <a:r>
              <a:rPr lang="ru-RU" dirty="0" smtClean="0"/>
              <a:t>Оконные статистики</a:t>
            </a:r>
            <a:r>
              <a:rPr lang="en-US" dirty="0" smtClean="0"/>
              <a:t>:</a:t>
            </a:r>
            <a:endParaRPr lang="en-US" dirty="0"/>
          </a:p>
          <a:p>
            <a:pPr lvl="1"/>
            <a:r>
              <a:rPr lang="en-US" dirty="0"/>
              <a:t>Max/min value of series in a window</a:t>
            </a:r>
          </a:p>
          <a:p>
            <a:pPr lvl="1"/>
            <a:r>
              <a:rPr lang="en-US" dirty="0"/>
              <a:t>Average/median value in a window</a:t>
            </a:r>
          </a:p>
          <a:p>
            <a:pPr lvl="1"/>
            <a:r>
              <a:rPr lang="en-US" dirty="0"/>
              <a:t>Window variance</a:t>
            </a:r>
          </a:p>
          <a:p>
            <a:pPr lvl="1"/>
            <a:r>
              <a:rPr lang="en-US" dirty="0"/>
              <a:t>etc.</a:t>
            </a:r>
          </a:p>
          <a:p>
            <a:r>
              <a:rPr lang="ru-RU" dirty="0" smtClean="0"/>
              <a:t>Даты и время</a:t>
            </a:r>
            <a:r>
              <a:rPr lang="en-US" dirty="0" smtClean="0"/>
              <a:t>:</a:t>
            </a:r>
            <a:endParaRPr lang="en-US" dirty="0"/>
          </a:p>
          <a:p>
            <a:pPr lvl="1"/>
            <a:r>
              <a:rPr lang="en-US" dirty="0"/>
              <a:t>Minute of an hour, hour of a day, day of the week, and so on</a:t>
            </a:r>
          </a:p>
          <a:p>
            <a:pPr lvl="1"/>
            <a:r>
              <a:rPr lang="en-US" dirty="0"/>
              <a:t>Is this day a holiday? Maybe there is a special event? Represent that as a </a:t>
            </a:r>
            <a:r>
              <a:rPr lang="en-US" dirty="0" err="1"/>
              <a:t>boolean</a:t>
            </a:r>
            <a:r>
              <a:rPr lang="en-US" dirty="0"/>
              <a:t> feature</a:t>
            </a:r>
          </a:p>
          <a:p>
            <a:r>
              <a:rPr lang="ru-RU" dirty="0" smtClean="0"/>
              <a:t>Экзогенные факторы</a:t>
            </a:r>
          </a:p>
          <a:p>
            <a:r>
              <a:rPr lang="ru-RU" dirty="0" smtClean="0"/>
              <a:t>Результаты, статистики остатков и другие характеристики </a:t>
            </a:r>
            <a:r>
              <a:rPr lang="ru-RU" dirty="0" err="1" smtClean="0"/>
              <a:t>предскзаний</a:t>
            </a:r>
            <a:r>
              <a:rPr lang="ru-RU" dirty="0" smtClean="0"/>
              <a:t> других моделей </a:t>
            </a:r>
            <a:r>
              <a:rPr lang="en-US" dirty="0" smtClean="0"/>
              <a:t>(note </a:t>
            </a:r>
            <a:r>
              <a:rPr lang="en-US" dirty="0"/>
              <a:t>that we can lose the speed of prediction this way)</a:t>
            </a:r>
          </a:p>
          <a:p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5459505" y="6449670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 smtClean="0"/>
              <a:t>https://mlcourse.ai/book/topic09/topic9_part1_time_series_python.html</a:t>
            </a:r>
            <a:endParaRPr lang="ru-RU" sz="1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952565" y="617267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 smtClean="0"/>
              <a:t>https://nixtlaverse.nixtla.io/mlforecast/docs/getting-started/end_to_end_walkthrough.htm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139361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1694" y="365125"/>
            <a:ext cx="11022106" cy="925793"/>
          </a:xfrm>
        </p:spPr>
        <p:txBody>
          <a:bodyPr>
            <a:normAutofit/>
          </a:bodyPr>
          <a:lstStyle/>
          <a:p>
            <a:r>
              <a:rPr lang="ru-RU" sz="3600" dirty="0" smtClean="0"/>
              <a:t>Разница между задачами регрессии и предсказания</a:t>
            </a:r>
            <a:endParaRPr lang="ru-RU" sz="3600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90142698"/>
              </p:ext>
            </p:extLst>
          </p:nvPr>
        </p:nvGraphicFramePr>
        <p:xfrm>
          <a:off x="421341" y="1290918"/>
          <a:ext cx="10932459" cy="357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954">
                  <a:extLst>
                    <a:ext uri="{9D8B030D-6E8A-4147-A177-3AD203B41FA5}">
                      <a16:colId xmlns:a16="http://schemas.microsoft.com/office/drawing/2014/main" val="3381004655"/>
                    </a:ext>
                  </a:extLst>
                </a:gridCol>
                <a:gridCol w="3693459">
                  <a:extLst>
                    <a:ext uri="{9D8B030D-6E8A-4147-A177-3AD203B41FA5}">
                      <a16:colId xmlns:a16="http://schemas.microsoft.com/office/drawing/2014/main" val="2915955119"/>
                    </a:ext>
                  </a:extLst>
                </a:gridCol>
                <a:gridCol w="4814046">
                  <a:extLst>
                    <a:ext uri="{9D8B030D-6E8A-4147-A177-3AD203B41FA5}">
                      <a16:colId xmlns:a16="http://schemas.microsoft.com/office/drawing/2014/main" val="3699764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Задача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Табличная</a:t>
                      </a:r>
                      <a:r>
                        <a:rPr lang="ru-RU" baseline="0" dirty="0" smtClean="0"/>
                        <a:t> регрессия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предсказания ВР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93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Признаки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Колонки – признаки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ВР – это не признаки, признаки надо выделить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022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Фичи-инженеринг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Отбор, трансформация</a:t>
                      </a:r>
                      <a:r>
                        <a:rPr lang="ru-RU" baseline="0" dirty="0" smtClean="0"/>
                        <a:t> </a:t>
                      </a:r>
                      <a:r>
                        <a:rPr lang="ru-RU" dirty="0" err="1" smtClean="0"/>
                        <a:t>фичей</a:t>
                      </a:r>
                      <a:r>
                        <a:rPr lang="ru-RU" dirty="0" smtClean="0"/>
                        <a:t>,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Редукция ВР к таблице</a:t>
                      </a:r>
                      <a:r>
                        <a:rPr lang="ru-RU" baseline="0" dirty="0" smtClean="0"/>
                        <a:t> + табличный </a:t>
                      </a:r>
                      <a:r>
                        <a:rPr lang="ru-RU" dirty="0" err="1" smtClean="0"/>
                        <a:t>Фичи-инженеринг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596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Задача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Регрессия (</a:t>
                      </a:r>
                      <a:r>
                        <a:rPr lang="ru-RU" dirty="0" err="1" smtClean="0"/>
                        <a:t>фичи</a:t>
                      </a:r>
                      <a:r>
                        <a:rPr lang="ru-RU" dirty="0" smtClean="0"/>
                        <a:t> связаны</a:t>
                      </a:r>
                      <a:r>
                        <a:rPr lang="ru-RU" baseline="0" dirty="0" smtClean="0"/>
                        <a:t> с меткой но не коррелируют)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Предсказание (следующее</a:t>
                      </a:r>
                      <a:r>
                        <a:rPr lang="ru-RU" baseline="0" dirty="0" smtClean="0"/>
                        <a:t> значение сильно коррелирует с </a:t>
                      </a:r>
                      <a:r>
                        <a:rPr lang="ru-RU" baseline="0" dirty="0" smtClean="0"/>
                        <a:t>предыдущим, </a:t>
                      </a:r>
                      <a:r>
                        <a:rPr lang="ru-RU" baseline="0" dirty="0" smtClean="0"/>
                        <a:t>на которых строится </a:t>
                      </a:r>
                      <a:r>
                        <a:rPr lang="ru-RU" baseline="0" dirty="0" err="1" smtClean="0"/>
                        <a:t>прогнз</a:t>
                      </a:r>
                      <a:r>
                        <a:rPr lang="ru-RU" baseline="0" dirty="0" smtClean="0"/>
                        <a:t>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132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Кросс-</a:t>
                      </a:r>
                      <a:r>
                        <a:rPr lang="ru-RU" dirty="0" err="1" smtClean="0"/>
                        <a:t>валидация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Случайная</a:t>
                      </a:r>
                      <a:r>
                        <a:rPr lang="ru-RU" baseline="0" dirty="0" smtClean="0"/>
                        <a:t> </a:t>
                      </a:r>
                      <a:r>
                        <a:rPr lang="ru-RU" baseline="0" dirty="0" err="1" smtClean="0"/>
                        <a:t>подвыборка</a:t>
                      </a:r>
                      <a:r>
                        <a:rPr lang="ru-RU" dirty="0" smtClean="0"/>
                        <a:t>, </a:t>
                      </a:r>
                      <a:r>
                        <a:rPr lang="en-US" dirty="0" smtClean="0"/>
                        <a:t>k-folds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Walking</a:t>
                      </a:r>
                      <a:r>
                        <a:rPr lang="en-US" baseline="0" dirty="0" smtClean="0"/>
                        <a:t>-forward – </a:t>
                      </a:r>
                      <a:r>
                        <a:rPr lang="ru-RU" baseline="0" dirty="0" smtClean="0"/>
                        <a:t>нельзя делать случайную </a:t>
                      </a:r>
                      <a:r>
                        <a:rPr lang="ru-RU" baseline="0" dirty="0" err="1" smtClean="0"/>
                        <a:t>подвыборку</a:t>
                      </a:r>
                      <a:r>
                        <a:rPr lang="ru-RU" baseline="0" dirty="0" smtClean="0"/>
                        <a:t>, только последовательно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3537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Паттерны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Паттерн</a:t>
                      </a:r>
                      <a:r>
                        <a:rPr lang="ru-RU" baseline="0" dirty="0" smtClean="0"/>
                        <a:t> – набор </a:t>
                      </a:r>
                      <a:r>
                        <a:rPr lang="ru-RU" baseline="0" dirty="0" err="1" smtClean="0"/>
                        <a:t>фичей</a:t>
                      </a:r>
                      <a:r>
                        <a:rPr lang="ru-RU" baseline="0" dirty="0" smtClean="0"/>
                        <a:t> (запись, строка)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Последовательный паттерн (его еще нужно преобразовать в </a:t>
                      </a:r>
                      <a:r>
                        <a:rPr lang="ru-RU" dirty="0" err="1" smtClean="0"/>
                        <a:t>фичи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694433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421340" y="5118864"/>
            <a:ext cx="107038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system-ui"/>
              </a:rPr>
              <a:t>Прогнозирование ВР</a:t>
            </a:r>
            <a:r>
              <a:rPr lang="ru-RU" altLang="ru-RU" dirty="0">
                <a:latin typeface="system-ui"/>
              </a:rPr>
              <a:t> - это не то же самое, что контролируемое обучение, в т.ч. задача регрессии, например, в </a:t>
            </a:r>
            <a:r>
              <a:rPr lang="ru-RU" altLang="ru-RU" dirty="0" err="1">
                <a:latin typeface="menlo"/>
              </a:rPr>
              <a:t>scikit-learn</a:t>
            </a:r>
            <a:r>
              <a:rPr lang="ru-RU" altLang="ru-RU" dirty="0">
                <a:latin typeface="system-ui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12408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6187" y="365125"/>
            <a:ext cx="11147613" cy="898899"/>
          </a:xfrm>
        </p:spPr>
        <p:txBody>
          <a:bodyPr/>
          <a:lstStyle/>
          <a:p>
            <a:r>
              <a:rPr lang="ru-RU" dirty="0" smtClean="0"/>
              <a:t>Замечания к процедуре редукции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0681" y="1093696"/>
            <a:ext cx="11985813" cy="515470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100" b="1" dirty="0" smtClean="0">
                <a:latin typeface="system-ui"/>
              </a:rPr>
              <a:t>Типичные ошибки при </a:t>
            </a:r>
            <a:r>
              <a:rPr lang="ru-RU" altLang="ru-RU" sz="2100" b="1" dirty="0">
                <a:latin typeface="system-ui"/>
              </a:rPr>
              <a:t>наивном сопоставлении задач регрессии и </a:t>
            </a:r>
            <a:r>
              <a:rPr lang="ru-RU" altLang="ru-RU" sz="2100" b="1" dirty="0" smtClean="0">
                <a:latin typeface="system-ui"/>
              </a:rPr>
              <a:t>предсказания:</a:t>
            </a:r>
            <a:endParaRPr kumimoji="0" lang="ru-RU" altLang="ru-RU" sz="2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 smtClean="0">
                <a:latin typeface="system-ui"/>
              </a:rPr>
              <a:t>Чрезмерно </a:t>
            </a:r>
            <a:r>
              <a:rPr lang="ru-RU" altLang="ru-RU" sz="2100" dirty="0">
                <a:latin typeface="system-ui"/>
              </a:rPr>
              <a:t>оптимистичная </a:t>
            </a:r>
            <a:r>
              <a:rPr lang="ru-RU" altLang="ru-RU" sz="2100" dirty="0" smtClean="0">
                <a:latin typeface="system-ui"/>
              </a:rPr>
              <a:t>оценка (завышенная точность),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 smtClean="0">
                <a:latin typeface="system-ui"/>
              </a:rPr>
              <a:t>Появление </a:t>
            </a:r>
            <a:r>
              <a:rPr lang="ru-RU" altLang="ru-RU" sz="2100" dirty="0">
                <a:latin typeface="system-ui"/>
              </a:rPr>
              <a:t>ложных корреляций между данными, </a:t>
            </a:r>
            <a:endParaRPr lang="ru-RU" altLang="ru-RU" sz="2100" dirty="0" smtClean="0">
              <a:latin typeface="system-ui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1700" dirty="0" smtClean="0">
                <a:latin typeface="system-ui"/>
              </a:rPr>
              <a:t>Напр. перемешанные в таблице данные во </a:t>
            </a:r>
            <a:r>
              <a:rPr lang="ru-RU" altLang="ru-RU" sz="1700" dirty="0">
                <a:latin typeface="system-ui"/>
              </a:rPr>
              <a:t>временном ряду были бы значительно разнесены во времени. </a:t>
            </a:r>
            <a:endParaRPr lang="ru-RU" altLang="ru-RU" sz="1700" dirty="0" smtClean="0">
              <a:latin typeface="system-ui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 smtClean="0">
                <a:latin typeface="system-ui"/>
              </a:rPr>
              <a:t>Случайная кросс-</a:t>
            </a:r>
            <a:r>
              <a:rPr lang="ru-RU" altLang="ru-RU" sz="2100" dirty="0" err="1" smtClean="0">
                <a:latin typeface="system-ui"/>
              </a:rPr>
              <a:t>валидация</a:t>
            </a:r>
            <a:r>
              <a:rPr lang="ru-RU" altLang="ru-RU" sz="2100" dirty="0" smtClean="0">
                <a:latin typeface="system-ui"/>
              </a:rPr>
              <a:t> также дает смещенную оценку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100" dirty="0" smtClean="0">
              <a:latin typeface="system-ui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100" b="1" dirty="0" smtClean="0">
                <a:latin typeface="system-ui"/>
              </a:rPr>
              <a:t>Проблемы выбора окна Редукции</a:t>
            </a:r>
            <a:endParaRPr lang="ru-RU" altLang="ru-RU" sz="2100" b="1" dirty="0">
              <a:latin typeface="system-ui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100" dirty="0" smtClean="0">
                <a:latin typeface="system-ui"/>
              </a:rPr>
              <a:t>Выбор слишком короткого или слишком длинного окна может привести к</a:t>
            </a:r>
            <a:r>
              <a:rPr lang="ru-RU" altLang="ru-RU" sz="2100" dirty="0">
                <a:latin typeface="system-ui"/>
              </a:rPr>
              <a:t> </a:t>
            </a:r>
            <a:r>
              <a:rPr lang="ru-RU" altLang="ru-RU" sz="2100" dirty="0" smtClean="0">
                <a:latin typeface="system-ui"/>
              </a:rPr>
              <a:t/>
            </a:r>
            <a:br>
              <a:rPr lang="ru-RU" altLang="ru-RU" sz="2100" dirty="0" smtClean="0">
                <a:latin typeface="system-ui"/>
              </a:rPr>
            </a:br>
            <a:r>
              <a:rPr lang="ru-RU" altLang="ru-RU" sz="2100" dirty="0" smtClean="0">
                <a:solidFill>
                  <a:srgbClr val="0D47A1"/>
                </a:solidFill>
                <a:latin typeface="system-ui"/>
                <a:hlinkClick r:id="rId2"/>
              </a:rPr>
              <a:t>“</a:t>
            </a:r>
            <a:r>
              <a:rPr lang="ru-RU" altLang="ru-RU" sz="2100" dirty="0">
                <a:solidFill>
                  <a:srgbClr val="0D47A1"/>
                </a:solidFill>
                <a:latin typeface="system-ui"/>
                <a:hlinkClick r:id="rId2"/>
              </a:rPr>
              <a:t>p-</a:t>
            </a:r>
            <a:r>
              <a:rPr lang="ru-RU" altLang="ru-RU" sz="2100" dirty="0" err="1">
                <a:solidFill>
                  <a:srgbClr val="0D47A1"/>
                </a:solidFill>
                <a:latin typeface="system-ui"/>
                <a:hlinkClick r:id="rId2"/>
              </a:rPr>
              <a:t>value</a:t>
            </a:r>
            <a:r>
              <a:rPr lang="ru-RU" altLang="ru-RU" sz="2100" dirty="0">
                <a:solidFill>
                  <a:srgbClr val="0D47A1"/>
                </a:solidFill>
                <a:latin typeface="system-ui"/>
                <a:hlinkClick r:id="rId2"/>
              </a:rPr>
              <a:t> </a:t>
            </a:r>
            <a:r>
              <a:rPr lang="ru-RU" altLang="ru-RU" sz="2100" dirty="0" err="1">
                <a:solidFill>
                  <a:srgbClr val="0D47A1"/>
                </a:solidFill>
                <a:latin typeface="system-ui"/>
                <a:hlinkClick r:id="rId2"/>
              </a:rPr>
              <a:t>hacking</a:t>
            </a:r>
            <a:r>
              <a:rPr lang="ru-RU" altLang="ru-RU" sz="2100" dirty="0">
                <a:solidFill>
                  <a:srgbClr val="0D47A1"/>
                </a:solidFill>
                <a:latin typeface="system-ui"/>
                <a:hlinkClick r:id="rId2"/>
              </a:rPr>
              <a:t>”</a:t>
            </a:r>
            <a:r>
              <a:rPr lang="ru-RU" altLang="ru-RU" sz="2100" dirty="0">
                <a:latin typeface="system-ui"/>
              </a:rPr>
              <a:t> – то есть утечке информации (или появление ложных зависимостей). </a:t>
            </a:r>
            <a:endParaRPr lang="ru-RU" altLang="ru-RU" sz="2100" dirty="0" smtClean="0">
              <a:latin typeface="system-ui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ru-RU" sz="1700" dirty="0" smtClean="0">
                <a:latin typeface="system-ui"/>
              </a:rPr>
              <a:t>Walking forward </a:t>
            </a:r>
            <a:r>
              <a:rPr lang="ru-RU" altLang="ru-RU" sz="1700" dirty="0" smtClean="0">
                <a:latin typeface="system-ui"/>
              </a:rPr>
              <a:t>кросс </a:t>
            </a:r>
            <a:r>
              <a:rPr lang="ru-RU" altLang="ru-RU" sz="1700" dirty="0" err="1" smtClean="0">
                <a:latin typeface="system-ui"/>
              </a:rPr>
              <a:t>валидация</a:t>
            </a:r>
            <a:r>
              <a:rPr lang="en-US" altLang="ru-RU" sz="1700" dirty="0" smtClean="0">
                <a:latin typeface="system-ui"/>
              </a:rPr>
              <a:t> </a:t>
            </a:r>
            <a:r>
              <a:rPr lang="ru-RU" altLang="ru-RU" sz="1700" dirty="0" smtClean="0">
                <a:latin typeface="system-ui"/>
              </a:rPr>
              <a:t>и </a:t>
            </a:r>
            <a:r>
              <a:rPr lang="en-US" altLang="ru-RU" sz="1700" dirty="0" err="1" smtClean="0">
                <a:latin typeface="system-ui"/>
              </a:rPr>
              <a:t>backtesting</a:t>
            </a:r>
            <a:r>
              <a:rPr lang="en-US" altLang="ru-RU" sz="1700" dirty="0" smtClean="0">
                <a:latin typeface="system-ui"/>
              </a:rPr>
              <a:t> </a:t>
            </a:r>
            <a:r>
              <a:rPr lang="ru-RU" altLang="ru-RU" sz="1700" dirty="0" smtClean="0">
                <a:latin typeface="system-ui"/>
              </a:rPr>
              <a:t>позволяют обнаружить такие проблемы.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1700" dirty="0" smtClean="0">
                <a:latin typeface="system-ui"/>
              </a:rPr>
              <a:t>Также</a:t>
            </a:r>
            <a:r>
              <a:rPr lang="ru-RU" altLang="ru-RU" sz="1700" dirty="0">
                <a:latin typeface="system-ui"/>
              </a:rPr>
              <a:t> </a:t>
            </a:r>
            <a:r>
              <a:rPr lang="ru-RU" altLang="ru-RU" sz="1700" dirty="0" smtClean="0">
                <a:solidFill>
                  <a:srgbClr val="0D47A1"/>
                </a:solidFill>
                <a:latin typeface="system-ui"/>
              </a:rPr>
              <a:t>есть тесты</a:t>
            </a:r>
            <a:r>
              <a:rPr lang="ru-RU" altLang="ru-RU" sz="1700" dirty="0">
                <a:latin typeface="system-ui"/>
              </a:rPr>
              <a:t> на ложные корреляции. </a:t>
            </a:r>
            <a:r>
              <a:rPr lang="ru-RU" altLang="ru-RU" sz="1700" dirty="0" smtClean="0">
                <a:latin typeface="system-ui"/>
              </a:rPr>
              <a:t>Напр. </a:t>
            </a:r>
            <a:r>
              <a:rPr lang="ru-RU" altLang="ru-RU" sz="1700" dirty="0" err="1">
                <a:latin typeface="system-ui"/>
              </a:rPr>
              <a:t>Bonferonni</a:t>
            </a:r>
            <a:r>
              <a:rPr lang="ru-RU" altLang="ru-RU" sz="1700" dirty="0">
                <a:latin typeface="system-ui"/>
              </a:rPr>
              <a:t> </a:t>
            </a:r>
            <a:r>
              <a:rPr lang="ru-RU" altLang="ru-RU" sz="1700" dirty="0" err="1">
                <a:latin typeface="system-ui"/>
              </a:rPr>
              <a:t>correction</a:t>
            </a:r>
            <a:r>
              <a:rPr lang="ru-RU" altLang="ru-RU" sz="1700" dirty="0">
                <a:latin typeface="system-ui"/>
              </a:rPr>
              <a:t>, </a:t>
            </a:r>
            <a:r>
              <a:rPr lang="ru-RU" altLang="ru-RU" sz="1700" dirty="0" err="1">
                <a:latin typeface="system-ui"/>
              </a:rPr>
              <a:t>Scheffé's</a:t>
            </a:r>
            <a:r>
              <a:rPr lang="ru-RU" altLang="ru-RU" sz="1700" dirty="0">
                <a:latin typeface="system-ui"/>
              </a:rPr>
              <a:t> </a:t>
            </a:r>
            <a:r>
              <a:rPr lang="ru-RU" altLang="ru-RU" sz="1700" dirty="0" err="1">
                <a:latin typeface="system-ui"/>
              </a:rPr>
              <a:t>method</a:t>
            </a:r>
            <a:r>
              <a:rPr lang="ru-RU" altLang="ru-RU" sz="1700" dirty="0">
                <a:latin typeface="system-ui"/>
              </a:rPr>
              <a:t> и </a:t>
            </a:r>
            <a:r>
              <a:rPr lang="ru-RU" altLang="ru-RU" sz="1700" dirty="0" err="1">
                <a:latin typeface="system-ui"/>
              </a:rPr>
              <a:t>false</a:t>
            </a:r>
            <a:r>
              <a:rPr lang="ru-RU" altLang="ru-RU" sz="1700" dirty="0">
                <a:latin typeface="system-ui"/>
              </a:rPr>
              <a:t> </a:t>
            </a:r>
            <a:r>
              <a:rPr lang="ru-RU" altLang="ru-RU" sz="1700" dirty="0" err="1">
                <a:latin typeface="system-ui"/>
              </a:rPr>
              <a:t>discovery</a:t>
            </a:r>
            <a:r>
              <a:rPr lang="ru-RU" altLang="ru-RU" sz="1700" dirty="0">
                <a:latin typeface="system-ui"/>
              </a:rPr>
              <a:t> </a:t>
            </a:r>
            <a:r>
              <a:rPr lang="ru-RU" altLang="ru-RU" sz="1700" dirty="0" err="1">
                <a:latin typeface="system-ui"/>
              </a:rPr>
              <a:t>rate</a:t>
            </a:r>
            <a:r>
              <a:rPr lang="ru-RU" altLang="ru-RU" sz="1700" dirty="0">
                <a:latin typeface="system-ui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None/>
            </a:pPr>
            <a:r>
              <a:rPr lang="ru-RU" altLang="ru-RU" sz="2100" dirty="0" smtClean="0">
                <a:latin typeface="system-ui"/>
              </a:rPr>
              <a:t>При добавлении признаков в окно прогноза нужно смотреть чтобы </a:t>
            </a:r>
            <a:r>
              <a:rPr lang="ru-RU" altLang="ru-RU" sz="2100" dirty="0" err="1" smtClean="0">
                <a:latin typeface="system-ui"/>
              </a:rPr>
              <a:t>небыло</a:t>
            </a:r>
            <a:r>
              <a:rPr lang="ru-RU" altLang="ru-RU" sz="2100" dirty="0" smtClean="0">
                <a:latin typeface="system-ui"/>
              </a:rPr>
              <a:t> утечки данных – признаки не должны опережать временную метку предсказываемого значения.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None/>
            </a:pPr>
            <a:r>
              <a:rPr lang="ru-RU" altLang="ru-RU" sz="2100" dirty="0" smtClean="0">
                <a:latin typeface="system-ui"/>
              </a:rPr>
              <a:t>Если </a:t>
            </a:r>
            <a:r>
              <a:rPr lang="ru-RU" altLang="ru-RU" sz="2100" dirty="0">
                <a:latin typeface="system-ui"/>
              </a:rPr>
              <a:t>метка прогноза преобразована, часто забывают сделать обратное преобразование.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ru-RU" alt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628570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2046" y="105148"/>
            <a:ext cx="11111753" cy="656851"/>
          </a:xfrm>
        </p:spPr>
        <p:txBody>
          <a:bodyPr>
            <a:normAutofit fontScale="90000"/>
          </a:bodyPr>
          <a:lstStyle/>
          <a:p>
            <a:r>
              <a:rPr lang="ru-RU" altLang="ru-RU" b="1" dirty="0" smtClean="0">
                <a:solidFill>
                  <a:srgbClr val="0D47A1"/>
                </a:solidFill>
                <a:latin typeface="system-ui"/>
              </a:rPr>
              <a:t>Экзогенные переменные</a:t>
            </a:r>
            <a:r>
              <a:rPr lang="ru-RU" altLang="ru-RU" dirty="0" smtClean="0">
                <a:latin typeface="system-ui"/>
              </a:rPr>
              <a:t> 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4470" y="761998"/>
            <a:ext cx="11949953" cy="5862919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altLang="ru-RU" dirty="0"/>
              <a:t>Эндогенные ф</a:t>
            </a:r>
            <a:r>
              <a:rPr lang="en-US" dirty="0" err="1"/>
              <a:t>акторы</a:t>
            </a:r>
            <a:r>
              <a:rPr lang="en-US" dirty="0"/>
              <a:t>, </a:t>
            </a:r>
            <a:r>
              <a:rPr lang="en-US" dirty="0" err="1"/>
              <a:t>очевидно</a:t>
            </a:r>
            <a:r>
              <a:rPr lang="en-US" dirty="0"/>
              <a:t> </a:t>
            </a:r>
            <a:r>
              <a:rPr lang="en-US" dirty="0" err="1"/>
              <a:t>коррелирующие</a:t>
            </a:r>
            <a:r>
              <a:rPr lang="en-US" dirty="0"/>
              <a:t> с </a:t>
            </a:r>
            <a:r>
              <a:rPr lang="ru-RU" dirty="0"/>
              <a:t>ВР</a:t>
            </a:r>
            <a:r>
              <a:rPr lang="en-US" dirty="0"/>
              <a:t>. </a:t>
            </a:r>
            <a:endParaRPr lang="ru-RU" dirty="0" smtClean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600" dirty="0" smtClean="0"/>
              <a:t>Лаги ВР, преобразованные значения, значения автокорреляций, тренда или сезонности, и </a:t>
            </a:r>
            <a:r>
              <a:rPr lang="ru-RU" sz="2600" dirty="0" err="1" smtClean="0"/>
              <a:t>тд</a:t>
            </a:r>
            <a:endParaRPr lang="ru-RU" sz="2600" dirty="0" smtClean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dirty="0" smtClean="0"/>
              <a:t>Факторы не имеющие линейной корреляции с ВР, но объясняющие его поведения  - </a:t>
            </a:r>
            <a:r>
              <a:rPr lang="en-US" dirty="0" err="1" smtClean="0"/>
              <a:t>экзогенны</a:t>
            </a:r>
            <a:r>
              <a:rPr lang="ru-RU" dirty="0" smtClean="0"/>
              <a:t>е</a:t>
            </a:r>
            <a:endParaRPr lang="en-US" dirty="0" smtClean="0"/>
          </a:p>
          <a:p>
            <a:pPr lvl="1" eaLnBrk="0" fontAlgn="base" hangingPunct="0">
              <a:lnSpc>
                <a:spcPct val="120000"/>
              </a:lnSpc>
              <a:spcBef>
                <a:spcPts val="0"/>
              </a:spcBef>
            </a:pPr>
            <a:r>
              <a:rPr lang="ru-RU" altLang="ru-RU" sz="2600" dirty="0" smtClean="0"/>
              <a:t>Прогноз энергопотребления – </a:t>
            </a:r>
            <a:r>
              <a:rPr lang="en-US" altLang="ru-RU" sz="2600" dirty="0" err="1" smtClean="0"/>
              <a:t>exdog</a:t>
            </a:r>
            <a:r>
              <a:rPr lang="en-US" altLang="ru-RU" sz="2600" dirty="0" smtClean="0"/>
              <a:t>: </a:t>
            </a:r>
            <a:r>
              <a:rPr lang="ru-RU" altLang="ru-RU" sz="2600" dirty="0" smtClean="0"/>
              <a:t>Температура, время суток, день недели</a:t>
            </a:r>
            <a:endParaRPr lang="en-US" altLang="ru-RU" sz="2600" dirty="0" smtClean="0"/>
          </a:p>
          <a:p>
            <a:pPr marL="0" lvl="0" indent="0" eaLnBrk="0" fontAlgn="base" hangingPunct="0">
              <a:lnSpc>
                <a:spcPct val="12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u="sng" dirty="0"/>
              <a:t>Экзогенные переменные можно </a:t>
            </a:r>
            <a:r>
              <a:rPr lang="ru-RU" altLang="ru-RU" u="sng" dirty="0"/>
              <a:t>разделить на три группы</a:t>
            </a:r>
            <a:r>
              <a:rPr lang="ru-RU" altLang="ru-RU" dirty="0"/>
              <a:t>:</a:t>
            </a:r>
            <a:endParaRPr kumimoji="0" lang="ru-RU" altLang="ru-RU" sz="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/>
              <a:t>Статические экзогенные переменные</a:t>
            </a:r>
            <a:r>
              <a:rPr lang="ru-RU" altLang="ru-RU" dirty="0"/>
              <a:t>: </a:t>
            </a:r>
            <a:endParaRPr lang="en-US" altLang="ru-RU" dirty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 smtClean="0"/>
              <a:t>несут </a:t>
            </a:r>
            <a:r>
              <a:rPr lang="ru-RU" altLang="ru-RU" dirty="0"/>
              <a:t>неизменную во времени информацию для каждого временного ряда</a:t>
            </a:r>
            <a:r>
              <a:rPr lang="ru-RU" altLang="ru-RU" dirty="0" smtClean="0"/>
              <a:t>.</a:t>
            </a:r>
            <a:endParaRPr lang="en-US" altLang="ru-RU" dirty="0" smtClean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 smtClean="0"/>
              <a:t>Напр. </a:t>
            </a:r>
            <a:r>
              <a:rPr lang="ru-RU" altLang="ru-RU" dirty="0"/>
              <a:t> </a:t>
            </a:r>
            <a:r>
              <a:rPr lang="ru-RU" altLang="ru-RU" dirty="0" smtClean="0"/>
              <a:t>идентификаторы </a:t>
            </a:r>
            <a:r>
              <a:rPr lang="ru-RU" altLang="ru-RU" dirty="0"/>
              <a:t>регионов, групп </a:t>
            </a:r>
            <a:r>
              <a:rPr lang="ru-RU" altLang="ru-RU" dirty="0" smtClean="0"/>
              <a:t>товаров </a:t>
            </a:r>
            <a:r>
              <a:rPr lang="ru-RU" altLang="ru-RU" dirty="0"/>
              <a:t>и т. д.</a:t>
            </a:r>
          </a:p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/>
              <a:t>Исторические экзогенные переменные</a:t>
            </a:r>
            <a:r>
              <a:rPr lang="ru-RU" altLang="ru-RU" dirty="0"/>
              <a:t>: </a:t>
            </a:r>
            <a:r>
              <a:rPr lang="ru-RU" altLang="ru-RU" dirty="0" smtClean="0"/>
              <a:t>переменная </a:t>
            </a:r>
            <a:r>
              <a:rPr lang="ru-RU" altLang="ru-RU" dirty="0"/>
              <a:t>ограничена прошлыми наблюдаемыми значениями. </a:t>
            </a:r>
            <a:endParaRPr lang="ru-RU" altLang="ru-RU" dirty="0" smtClean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600" dirty="0"/>
              <a:t>Причинность можно проверить напр. </a:t>
            </a:r>
            <a:r>
              <a:rPr lang="ru-RU" altLang="ru-RU" sz="2600" dirty="0" smtClean="0"/>
              <a:t>при помощи Теста </a:t>
            </a:r>
            <a:r>
              <a:rPr lang="ru-RU" altLang="ru-RU" sz="2600" dirty="0" err="1" smtClean="0"/>
              <a:t>Гранжера</a:t>
            </a:r>
            <a:r>
              <a:rPr lang="ru-RU" altLang="ru-RU" sz="2600" dirty="0"/>
              <a:t> </a:t>
            </a:r>
            <a:r>
              <a:rPr lang="ru-RU" altLang="ru-RU" sz="2600" dirty="0" smtClean="0"/>
              <a:t>на казуальность.</a:t>
            </a:r>
            <a:endParaRPr lang="ru-RU" altLang="ru-RU" sz="2600" dirty="0"/>
          </a:p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/>
              <a:t>Будущие экзогенные переменные</a:t>
            </a:r>
            <a:r>
              <a:rPr lang="ru-RU" altLang="ru-RU" dirty="0"/>
              <a:t>: </a:t>
            </a:r>
            <a:r>
              <a:rPr lang="ru-RU" altLang="ru-RU" dirty="0" smtClean="0"/>
              <a:t> </a:t>
            </a:r>
            <a:r>
              <a:rPr lang="ru-RU" altLang="ru-RU" dirty="0"/>
              <a:t>доступны на момент прогнозирования. </a:t>
            </a:r>
            <a:endParaRPr lang="ru-RU" altLang="ru-RU" dirty="0" smtClean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 smtClean="0"/>
              <a:t>Напр. календарные </a:t>
            </a:r>
            <a:r>
              <a:rPr lang="ru-RU" altLang="ru-RU" dirty="0"/>
              <a:t>переменные, </a:t>
            </a:r>
            <a:r>
              <a:rPr lang="ru-RU" altLang="ru-RU" dirty="0" smtClean="0"/>
              <a:t>прогнозы факторов (напр. прогноз погоды для прогноза электропотребления), </a:t>
            </a:r>
            <a:r>
              <a:rPr lang="ru-RU" altLang="ru-RU" dirty="0"/>
              <a:t>а также известные события, </a:t>
            </a:r>
            <a:r>
              <a:rPr lang="ru-RU" altLang="ru-RU" dirty="0" smtClean="0"/>
              <a:t>например </a:t>
            </a:r>
            <a:r>
              <a:rPr lang="ru-RU" altLang="ru-RU" dirty="0"/>
              <a:t>запланированные </a:t>
            </a:r>
            <a:r>
              <a:rPr lang="ru-RU" altLang="ru-RU" dirty="0" smtClean="0"/>
              <a:t>акции.</a:t>
            </a:r>
            <a:endParaRPr lang="ru-RU" altLang="ru-RU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ru-RU" altLang="ru-RU" sz="5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2608730" y="6624917"/>
            <a:ext cx="6096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 smtClean="0">
                <a:latin typeface="system-ui"/>
              </a:rPr>
              <a:t>Когда модель строится с глобальными параметрами для прогнозирования нескольких временных рядов, эти переменные позволяют обмениваться информацией внутри групп временных рядов с одинаковыми уровнями статических переменных. </a:t>
            </a:r>
            <a:endParaRPr lang="en-US" altLang="ru-RU" dirty="0" smtClean="0">
              <a:latin typeface="system-ui"/>
            </a:endParaRPr>
          </a:p>
        </p:txBody>
      </p:sp>
    </p:spTree>
    <p:extLst>
      <p:ext uri="{BB962C8B-B14F-4D97-AF65-F5344CB8AC3E}">
        <p14:creationId xmlns:p14="http://schemas.microsoft.com/office/powerpoint/2010/main" val="1968690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4" name="Объект 2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25" name="Объект 1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0947872"/>
              </p:ext>
            </p:extLst>
          </p:nvPr>
        </p:nvGraphicFramePr>
        <p:xfrm>
          <a:off x="1732631" y="1867694"/>
          <a:ext cx="8726738" cy="4267200"/>
        </p:xfrm>
        <a:graphic>
          <a:graphicData uri="http://schemas.openxmlformats.org/drawingml/2006/table">
            <a:tbl>
              <a:tblPr/>
              <a:tblGrid>
                <a:gridCol w="4363369">
                  <a:extLst>
                    <a:ext uri="{9D8B030D-6E8A-4147-A177-3AD203B41FA5}">
                      <a16:colId xmlns:a16="http://schemas.microsoft.com/office/drawing/2014/main" val="1358547921"/>
                    </a:ext>
                  </a:extLst>
                </a:gridCol>
                <a:gridCol w="4363369">
                  <a:extLst>
                    <a:ext uri="{9D8B030D-6E8A-4147-A177-3AD203B41FA5}">
                      <a16:colId xmlns:a16="http://schemas.microsoft.com/office/drawing/2014/main" val="4433445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/>
                      <a:endParaRPr lang="ru-RU" b="0">
                        <a:solidFill>
                          <a:srgbClr val="1D1D20"/>
                        </a:solidFill>
                        <a:effectLst/>
                      </a:endParaRPr>
                    </a:p>
                  </a:txBody>
                  <a:tcPr marL="114300" marR="114300" marT="76200" marB="76200" anchor="b">
                    <a:lnL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ru-RU" b="0">
                        <a:solidFill>
                          <a:srgbClr val="1D1D20"/>
                        </a:solidFill>
                        <a:effectLst/>
                      </a:endParaRPr>
                    </a:p>
                  </a:txBody>
                  <a:tcPr marL="114300" marR="114300" marT="76200" marB="76200" anchor="b">
                    <a:lnL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4104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ase"/>
                      <a:r>
                        <a:rPr lang="ru-RU" b="0">
                          <a:solidFill>
                            <a:srgbClr val="111827"/>
                          </a:solidFill>
                          <a:effectLst/>
                        </a:rPr>
                        <a:t>Начинайте с простого</a:t>
                      </a:r>
                      <a:endParaRPr lang="ru-RU" b="0">
                        <a:solidFill>
                          <a:srgbClr val="1D1D20"/>
                        </a:solidFill>
                        <a:effectLst/>
                      </a:endParaRPr>
                    </a:p>
                  </a:txBody>
                  <a:tcPr marL="114300" marR="114300" marT="114300" marB="114300" anchor="ctr">
                    <a:lnL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b="0">
                          <a:solidFill>
                            <a:srgbClr val="1D1D20"/>
                          </a:solidFill>
                          <a:effectLst/>
                        </a:rPr>
                        <a:t>ARIMA → Prophet → XGBoost → Neural Forecasting</a:t>
                      </a:r>
                    </a:p>
                  </a:txBody>
                  <a:tcPr marL="114300" marR="114300" marT="114300" marB="114300" anchor="ctr">
                    <a:lnL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2178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ase"/>
                      <a:r>
                        <a:rPr lang="ru-RU" b="0">
                          <a:solidFill>
                            <a:srgbClr val="111827"/>
                          </a:solidFill>
                          <a:effectLst/>
                        </a:rPr>
                        <a:t>Не гонитесь за </a:t>
                      </a:r>
                      <a:r>
                        <a:rPr lang="en-US" b="0">
                          <a:solidFill>
                            <a:srgbClr val="111827"/>
                          </a:solidFill>
                          <a:effectLst/>
                        </a:rPr>
                        <a:t>SOTA</a:t>
                      </a:r>
                      <a:endParaRPr lang="en-US" b="0">
                        <a:solidFill>
                          <a:srgbClr val="1D1D20"/>
                        </a:solidFill>
                        <a:effectLst/>
                      </a:endParaRPr>
                    </a:p>
                  </a:txBody>
                  <a:tcPr marL="114300" marR="114300" marT="114300" marB="114300" anchor="ctr">
                    <a:lnL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ru-RU" b="0">
                          <a:solidFill>
                            <a:srgbClr val="1D1D20"/>
                          </a:solidFill>
                          <a:effectLst/>
                        </a:rPr>
                        <a:t>Модели с лидербордов (M5, Kaggle) не всегда лучше в продакшене</a:t>
                      </a:r>
                    </a:p>
                  </a:txBody>
                  <a:tcPr marL="114300" marR="114300" marT="114300" marB="114300" anchor="ctr">
                    <a:lnL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22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ase"/>
                      <a:r>
                        <a:rPr lang="ru-RU" b="0">
                          <a:solidFill>
                            <a:srgbClr val="111827"/>
                          </a:solidFill>
                          <a:effectLst/>
                        </a:rPr>
                        <a:t>Используйте календарь</a:t>
                      </a:r>
                      <a:endParaRPr lang="ru-RU" b="0">
                        <a:solidFill>
                          <a:srgbClr val="1D1D20"/>
                        </a:solidFill>
                        <a:effectLst/>
                      </a:endParaRPr>
                    </a:p>
                  </a:txBody>
                  <a:tcPr marL="114300" marR="114300" marT="114300" marB="114300" anchor="ctr">
                    <a:lnL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ru-RU" b="0">
                          <a:solidFill>
                            <a:srgbClr val="1D1D20"/>
                          </a:solidFill>
                          <a:effectLst/>
                        </a:rPr>
                        <a:t>День недели, праздник, выходной — мощные признаки</a:t>
                      </a:r>
                    </a:p>
                  </a:txBody>
                  <a:tcPr marL="114300" marR="114300" marT="114300" marB="114300" anchor="ctr">
                    <a:lnL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4269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ase"/>
                      <a:r>
                        <a:rPr lang="ru-RU" b="0">
                          <a:solidFill>
                            <a:srgbClr val="111827"/>
                          </a:solidFill>
                          <a:effectLst/>
                        </a:rPr>
                        <a:t>Проверяйте остатки</a:t>
                      </a:r>
                      <a:endParaRPr lang="ru-RU" b="0">
                        <a:solidFill>
                          <a:srgbClr val="1D1D20"/>
                        </a:solidFill>
                        <a:effectLst/>
                      </a:endParaRPr>
                    </a:p>
                  </a:txBody>
                  <a:tcPr marL="114300" marR="114300" marT="114300" marB="114300" anchor="ctr">
                    <a:lnL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ru-RU" b="0">
                          <a:solidFill>
                            <a:srgbClr val="1D1D20"/>
                          </a:solidFill>
                          <a:effectLst/>
                        </a:rPr>
                        <a:t>Должны быть белым шумом</a:t>
                      </a:r>
                    </a:p>
                  </a:txBody>
                  <a:tcPr marL="114300" marR="114300" marT="114300" marB="114300" anchor="ctr">
                    <a:lnL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5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ase"/>
                      <a:r>
                        <a:rPr lang="ru-RU" b="0">
                          <a:solidFill>
                            <a:srgbClr val="111827"/>
                          </a:solidFill>
                          <a:effectLst/>
                        </a:rPr>
                        <a:t>Оценивайте не только </a:t>
                      </a:r>
                      <a:r>
                        <a:rPr lang="en-US" b="0">
                          <a:solidFill>
                            <a:srgbClr val="111827"/>
                          </a:solidFill>
                          <a:effectLst/>
                        </a:rPr>
                        <a:t>RMSE</a:t>
                      </a:r>
                      <a:endParaRPr lang="en-US" b="0">
                        <a:solidFill>
                          <a:srgbClr val="1D1D20"/>
                        </a:solidFill>
                        <a:effectLst/>
                      </a:endParaRPr>
                    </a:p>
                  </a:txBody>
                  <a:tcPr marL="114300" marR="114300" marT="114300" marB="114300" anchor="ctr">
                    <a:lnL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ru-RU" b="0">
                          <a:solidFill>
                            <a:srgbClr val="1D1D20"/>
                          </a:solidFill>
                          <a:effectLst/>
                        </a:rPr>
                        <a:t>Используйте </a:t>
                      </a:r>
                      <a:r>
                        <a:rPr lang="en-US" b="0">
                          <a:solidFill>
                            <a:srgbClr val="1D1D20"/>
                          </a:solidFill>
                          <a:effectLst/>
                        </a:rPr>
                        <a:t>PICP, Winkler Score, MAE</a:t>
                      </a:r>
                    </a:p>
                  </a:txBody>
                  <a:tcPr marL="114300" marR="114300" marT="114300" marB="114300" anchor="ctr">
                    <a:lnL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39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ase"/>
                      <a:r>
                        <a:rPr lang="ru-RU" b="0">
                          <a:solidFill>
                            <a:srgbClr val="111827"/>
                          </a:solidFill>
                          <a:effectLst/>
                        </a:rPr>
                        <a:t>Делайте кросс-валидацию по времени</a:t>
                      </a:r>
                      <a:endParaRPr lang="ru-RU" b="0">
                        <a:solidFill>
                          <a:srgbClr val="1D1D20"/>
                        </a:solidFill>
                        <a:effectLst/>
                      </a:endParaRPr>
                    </a:p>
                  </a:txBody>
                  <a:tcPr marL="114300" marR="114300" marT="114300" marB="114300" anchor="ctr">
                    <a:lnL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ru-RU" b="0" dirty="0">
                          <a:solidFill>
                            <a:srgbClr val="1D1D20"/>
                          </a:solidFill>
                          <a:effectLst/>
                        </a:rPr>
                        <a:t>Никакого перемешивания!</a:t>
                      </a:r>
                    </a:p>
                  </a:txBody>
                  <a:tcPr marL="114300" marR="114300" marT="114300" marB="114300" anchor="ctr">
                    <a:lnL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8" cap="flat" cmpd="sng" algn="ctr">
                      <a:solidFill>
                        <a:srgbClr val="E1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462736"/>
                  </a:ext>
                </a:extLst>
              </a:tr>
            </a:tbl>
          </a:graphicData>
        </a:graphic>
      </p:graphicFrame>
      <p:sp>
        <p:nvSpPr>
          <p:cNvPr id="26" name="Rectangle 10"/>
          <p:cNvSpPr>
            <a:spLocks noChangeArrowheads="1"/>
          </p:cNvSpPr>
          <p:nvPr/>
        </p:nvSpPr>
        <p:spPr bwMode="auto">
          <a:xfrm>
            <a:off x="1731963" y="1868488"/>
            <a:ext cx="12192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1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.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Редукция к табличным задачам — ключевой подход</a:t>
            </a:r>
            <a:endParaRPr kumimoji="0" lang="ru-RU" altLang="ru-RU" sz="1200" b="1" i="0" u="none" strike="noStrike" cap="none" normalizeH="0" baseline="0" smtClean="0">
              <a:ln>
                <a:noFill/>
              </a:ln>
              <a:solidFill>
                <a:srgbClr val="2C2C36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Преобразование временного ряда в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табличный формат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Окна истории → признаки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Целевая переменная → следующее значение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Позволяет использовать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XGBoost, LightGBM, CatBoost</a:t>
            </a:r>
            <a:endParaRPr kumimoji="0" lang="ru-RU" altLang="ru-RU" sz="1200" b="0" i="0" u="none" strike="noStrike" cap="none" normalizeH="0" baseline="0" smtClean="0">
              <a:ln>
                <a:noFill/>
              </a:ln>
              <a:solidFill>
                <a:srgbClr val="2C2C36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Легко добавлять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экзогенные переменные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 (погода, события, календарь)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✅ Преимущества: </a:t>
            </a:r>
            <a:endParaRPr kumimoji="0" lang="ru-RU" altLang="ru-RU" sz="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Гибкость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Поддержка категориальных признаков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Хорошая производительность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Возможность оценки важности признаков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Rectangle 11"/>
          <p:cNvSpPr>
            <a:spLocks noChangeArrowheads="1"/>
          </p:cNvSpPr>
          <p:nvPr/>
        </p:nvSpPr>
        <p:spPr bwMode="auto">
          <a:xfrm>
            <a:off x="1731963" y="2325688"/>
            <a:ext cx="12192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28" name="Rectangle 12"/>
          <p:cNvSpPr>
            <a:spLocks noChangeArrowheads="1"/>
          </p:cNvSpPr>
          <p:nvPr/>
        </p:nvSpPr>
        <p:spPr bwMode="auto">
          <a:xfrm>
            <a:off x="1731963" y="2341563"/>
            <a:ext cx="12192000" cy="457200"/>
          </a:xfrm>
          <a:prstGeom prst="rect">
            <a:avLst/>
          </a:prstGeom>
          <a:solidFill>
            <a:srgbClr val="EFEE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1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3.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Глобальные модели (Global Models)</a:t>
            </a:r>
            <a:endParaRPr kumimoji="0" lang="ru-RU" altLang="ru-RU" sz="1200" b="1" i="0" u="none" strike="noStrike" cap="none" normalizeH="0" baseline="0" smtClean="0">
              <a:ln>
                <a:noFill/>
              </a:ln>
              <a:solidFill>
                <a:srgbClr val="2C2C36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Одна модель на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множество временных рядов</a:t>
            </a:r>
            <a:endParaRPr kumimoji="0" lang="ru-RU" altLang="ru-RU" sz="1200" b="0" i="0" u="none" strike="noStrike" cap="none" normalizeH="0" baseline="0" smtClean="0">
              <a:ln>
                <a:noFill/>
              </a:ln>
              <a:solidFill>
                <a:srgbClr val="2C2C36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Пример: прогноз продаж по 1000 SKU в 100 магазинах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Модель учится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на всех данных сразу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, обобщая знания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💡 Примеры: </a:t>
            </a:r>
            <a:endParaRPr kumimoji="0" lang="ru-RU" altLang="ru-RU" sz="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Neural Forecasting</a:t>
            </a:r>
            <a:r>
              <a:rPr kumimoji="0" lang="ru-RU" altLang="ru-RU" sz="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(N-BEATS, DeepAR, TFT)</a:t>
            </a: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ML-модели с идентификаторами</a:t>
            </a:r>
            <a:r>
              <a:rPr kumimoji="0" lang="ru-RU" altLang="ru-RU" sz="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(например, </a:t>
            </a:r>
            <a:r>
              <a:rPr kumimoji="0" lang="ru-RU" altLang="ru-RU" sz="1000" b="0" i="0" u="none" strike="noStrike" cap="none" normalizeH="0" baseline="0" smtClean="0">
                <a:ln>
                  <a:noFill/>
                </a:ln>
                <a:solidFill>
                  <a:srgbClr val="615CED"/>
                </a:solidFill>
                <a:effectLst/>
                <a:latin typeface="SF Mono"/>
              </a:rPr>
              <a:t>store_id</a:t>
            </a:r>
            <a:r>
              <a:rPr kumimoji="0" lang="ru-RU" altLang="ru-RU" sz="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ru-RU" altLang="ru-RU" sz="1000" b="0" i="0" u="none" strike="noStrike" cap="none" normalizeH="0" baseline="0" smtClean="0">
                <a:ln>
                  <a:noFill/>
                </a:ln>
                <a:solidFill>
                  <a:srgbClr val="615CED"/>
                </a:solidFill>
                <a:effectLst/>
                <a:latin typeface="SF Mono"/>
              </a:rPr>
              <a:t>product_category</a:t>
            </a:r>
            <a:r>
              <a:rPr kumimoji="0" lang="ru-RU" altLang="ru-RU" sz="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✅ Плюсы: </a:t>
            </a:r>
            <a:endParaRPr kumimoji="0" lang="ru-RU" altLang="ru-RU" sz="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Перенос знаний между похожими рядами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Лучшая работа с короткими рядами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Масштабируемость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Rectangle 13"/>
          <p:cNvSpPr>
            <a:spLocks noChangeArrowheads="1"/>
          </p:cNvSpPr>
          <p:nvPr/>
        </p:nvSpPr>
        <p:spPr bwMode="auto">
          <a:xfrm>
            <a:off x="1731963" y="2798763"/>
            <a:ext cx="12192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30" name="Rectangle 14"/>
          <p:cNvSpPr>
            <a:spLocks noChangeArrowheads="1"/>
          </p:cNvSpPr>
          <p:nvPr/>
        </p:nvSpPr>
        <p:spPr bwMode="auto">
          <a:xfrm>
            <a:off x="1731963" y="2814638"/>
            <a:ext cx="12192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1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4.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Оценка неопределённости — обязательна</a:t>
            </a:r>
            <a:endParaRPr kumimoji="0" lang="ru-RU" altLang="ru-RU" sz="1200" b="1" i="0" u="none" strike="noStrike" cap="none" normalizeH="0" baseline="0" smtClean="0">
              <a:ln>
                <a:noFill/>
              </a:ln>
              <a:solidFill>
                <a:srgbClr val="2C2C36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Точечный прогноз — недостаточен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Нужны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интервалы прогноза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 (prediction intervals)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200" b="1" i="0" u="none" strike="noStrike" cap="none" normalizeH="0" baseline="0" smtClean="0">
              <a:ln>
                <a:noFill/>
              </a:ln>
              <a:solidFill>
                <a:srgbClr val="2C2C36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1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Методы: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Конформное предсказание (Conformal Prediction)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</a:b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→ гарантирует заданный уровень покрытия (например, 95%)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Бутстреп остатков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</a:b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→ эмпирические интервалы через сэмплирование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Квантильная регрессия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</a:b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→ прямое прогнозирование 5% и 95% квантилей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💡 Автор рекомендует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conformal prediction</a:t>
            </a:r>
            <a:r>
              <a:rPr kumimoji="0" lang="ru-RU" altLang="ru-RU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как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самый надёжный</a:t>
            </a:r>
            <a:r>
              <a:rPr kumimoji="0" lang="ru-RU" altLang="ru-RU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метод для продакшена. </a:t>
            </a:r>
            <a:endParaRPr kumimoji="0" lang="ru-RU" altLang="ru-RU" sz="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Rectangle 15"/>
          <p:cNvSpPr>
            <a:spLocks noChangeArrowheads="1"/>
          </p:cNvSpPr>
          <p:nvPr/>
        </p:nvSpPr>
        <p:spPr bwMode="auto">
          <a:xfrm>
            <a:off x="1731963" y="3271838"/>
            <a:ext cx="12192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32" name="Rectangle 16"/>
          <p:cNvSpPr>
            <a:spLocks noChangeArrowheads="1"/>
          </p:cNvSpPr>
          <p:nvPr/>
        </p:nvSpPr>
        <p:spPr bwMode="auto">
          <a:xfrm>
            <a:off x="1731963" y="3287713"/>
            <a:ext cx="12192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1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5.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Промышленные временные ряды — особый класс</a:t>
            </a:r>
            <a:endParaRPr kumimoji="0" lang="ru-RU" altLang="ru-RU" sz="1200" b="1" i="0" u="none" strike="noStrike" cap="none" normalizeH="0" baseline="0" smtClean="0">
              <a:ln>
                <a:noFill/>
              </a:ln>
              <a:solidFill>
                <a:srgbClr val="2C2C36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Высокая частота (секунды, миллисекунды)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Многомерность (сотни датчиков)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Шум, выбросы, пропуски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Смена режимов работы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200" b="1" i="0" u="none" strike="noStrike" cap="none" normalizeH="0" baseline="0" smtClean="0">
              <a:ln>
                <a:noFill/>
              </a:ln>
              <a:solidFill>
                <a:srgbClr val="2C2C36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1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Рекомендации: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Агрегация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 — уменьшить частоту (например, до 1 мин)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Анализ остатков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 — выявить аномалии и скрытые режимы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Динамические модели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 — Kalman Filter, State Space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Графовые нейросети (GNN)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 — если есть топология (сетка датчиков)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3" name="Rectangle 17"/>
          <p:cNvSpPr>
            <a:spLocks noChangeArrowheads="1"/>
          </p:cNvSpPr>
          <p:nvPr/>
        </p:nvSpPr>
        <p:spPr bwMode="auto">
          <a:xfrm>
            <a:off x="1731963" y="3744913"/>
            <a:ext cx="12192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34" name="Rectangle 18"/>
          <p:cNvSpPr>
            <a:spLocks noChangeArrowheads="1"/>
          </p:cNvSpPr>
          <p:nvPr/>
        </p:nvSpPr>
        <p:spPr bwMode="auto">
          <a:xfrm>
            <a:off x="1731963" y="3760788"/>
            <a:ext cx="12192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57132" rIns="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1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6.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Практические советы</a:t>
            </a:r>
            <a:endParaRPr kumimoji="0" lang="ru-RU" altLang="ru-RU" sz="1200" b="1" i="0" u="none" strike="noStrike" cap="none" normalizeH="0" baseline="0" smtClean="0">
              <a:ln>
                <a:noFill/>
              </a:ln>
              <a:solidFill>
                <a:srgbClr val="2C2C36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4644320" y="3244334"/>
            <a:ext cx="29033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0" i="0" smtClean="0">
                <a:solidFill>
                  <a:srgbClr val="111827"/>
                </a:solidFill>
                <a:effectLst/>
                <a:latin typeface="system-ui"/>
              </a:rPr>
              <a:t>stankevich.tech/guide.html</a:t>
            </a:r>
            <a:endParaRPr lang="ru-RU" dirty="0"/>
          </a:p>
        </p:txBody>
      </p:sp>
      <p:sp>
        <p:nvSpPr>
          <p:cNvPr id="37" name="Прямоугольник 36"/>
          <p:cNvSpPr/>
          <p:nvPr/>
        </p:nvSpPr>
        <p:spPr>
          <a:xfrm>
            <a:off x="3615905" y="6858000"/>
            <a:ext cx="51394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https://www.stankevich.tech/guide_forecasting.html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39662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Чего </a:t>
            </a:r>
            <a:r>
              <a:rPr lang="ru-RU" dirty="0"/>
              <a:t>НЕ делать</a:t>
            </a:r>
            <a:endParaRPr lang="ru-RU" b="1" dirty="0"/>
          </a:p>
          <a:p>
            <a:r>
              <a:rPr lang="ru-RU" dirty="0"/>
              <a:t>❌ Использовать LSTM без необходимости (часто переобучается)</a:t>
            </a:r>
          </a:p>
          <a:p>
            <a:r>
              <a:rPr lang="ru-RU" dirty="0"/>
              <a:t>❌ Прогнозировать на 1000 шагов вперёд без оценки неопределённости</a:t>
            </a:r>
          </a:p>
          <a:p>
            <a:r>
              <a:rPr lang="ru-RU" dirty="0"/>
              <a:t>❌ Игнорировать экзогенные переменные</a:t>
            </a:r>
          </a:p>
          <a:p>
            <a:r>
              <a:rPr lang="ru-RU" dirty="0"/>
              <a:t>❌ Использовать обычную CV (перемешивание)</a:t>
            </a:r>
          </a:p>
          <a:p>
            <a:r>
              <a:rPr lang="ru-RU" dirty="0"/>
              <a:t>❌ Считать, что </a:t>
            </a:r>
            <a:r>
              <a:rPr lang="ru-RU" dirty="0" err="1"/>
              <a:t>нейросеть</a:t>
            </a:r>
            <a:r>
              <a:rPr lang="ru-RU" dirty="0"/>
              <a:t> всегда лучше ARIMA</a:t>
            </a:r>
          </a:p>
          <a:p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57132" rIns="0" bIns="5713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Философия автора</a:t>
            </a:r>
            <a:endParaRPr kumimoji="0" lang="ru-RU" altLang="ru-RU" sz="1200" b="1" i="0" u="none" strike="noStrike" cap="none" normalizeH="0" baseline="0" smtClean="0">
              <a:ln>
                <a:noFill/>
              </a:ln>
              <a:solidFill>
                <a:srgbClr val="2C2C36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"Хороший прогноз — это не только точность, но и понимание, когда модель может ошибаться."</a:t>
            </a:r>
            <a:r>
              <a:rPr kumimoji="0" lang="ru-RU" altLang="ru-RU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ru-RU" altLang="ru-RU" sz="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Приоритет: 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111827"/>
                </a:solidFill>
                <a:effectLst/>
                <a:latin typeface="system-ui"/>
              </a:rPr>
              <a:t>надёжность &gt; точность</a:t>
            </a:r>
            <a:endParaRPr kumimoji="0" lang="ru-RU" altLang="ru-RU" sz="1200" b="0" i="0" u="none" strike="noStrike" cap="none" normalizeH="0" baseline="0" smtClean="0">
              <a:ln>
                <a:noFill/>
              </a:ln>
              <a:solidFill>
                <a:srgbClr val="2C2C36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Интерпретируемость важна для доверия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Всегда сравнивайте с простыми моделями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2C2C36"/>
                </a:solidFill>
                <a:effectLst/>
                <a:latin typeface="system-ui"/>
              </a:rPr>
              <a:t>Работа с данными — 80% успеха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644320" y="3244334"/>
            <a:ext cx="29033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0" i="0" dirty="0" err="1" smtClean="0">
                <a:solidFill>
                  <a:srgbClr val="111827"/>
                </a:solidFill>
                <a:effectLst/>
                <a:latin typeface="system-ui"/>
              </a:rPr>
              <a:t>stankevich.tech</a:t>
            </a:r>
            <a:r>
              <a:rPr lang="en-US" b="0" i="0" dirty="0" smtClean="0">
                <a:solidFill>
                  <a:srgbClr val="111827"/>
                </a:solidFill>
                <a:effectLst/>
                <a:latin typeface="system-ui"/>
              </a:rPr>
              <a:t>/guide.html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18142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3759586"/>
            <a:ext cx="184731" cy="483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426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3799649"/>
            <a:ext cx="184731" cy="4032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2495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863</Words>
  <Application>Microsoft Office PowerPoint</Application>
  <PresentationFormat>Широкоэкранный</PresentationFormat>
  <Paragraphs>163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menlo</vt:lpstr>
      <vt:lpstr>SF Mono</vt:lpstr>
      <vt:lpstr>system-ui</vt:lpstr>
      <vt:lpstr>Тема Office</vt:lpstr>
      <vt:lpstr>Презентация PowerPoint</vt:lpstr>
      <vt:lpstr>Почему невсегда статистические методы</vt:lpstr>
      <vt:lpstr>ВР и машинное обучение</vt:lpstr>
      <vt:lpstr>Признаки во временных рядах</vt:lpstr>
      <vt:lpstr>Признаки во временных рядах</vt:lpstr>
      <vt:lpstr>Разница между задачами регрессии и предсказания</vt:lpstr>
      <vt:lpstr>Замечания к процедуре редукции</vt:lpstr>
      <vt:lpstr>Экзогенные переменные 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Ронкин Михаил Владимирович</dc:creator>
  <cp:lastModifiedBy>Ронкин Михаил Владимирович</cp:lastModifiedBy>
  <cp:revision>15</cp:revision>
  <dcterms:created xsi:type="dcterms:W3CDTF">2025-07-25T11:01:31Z</dcterms:created>
  <dcterms:modified xsi:type="dcterms:W3CDTF">2025-07-25T13:44:14Z</dcterms:modified>
</cp:coreProperties>
</file>