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60" r:id="rId4"/>
    <p:sldId id="261" r:id="rId5"/>
    <p:sldId id="277" r:id="rId6"/>
    <p:sldId id="265" r:id="rId7"/>
    <p:sldId id="264" r:id="rId8"/>
    <p:sldId id="268" r:id="rId9"/>
    <p:sldId id="269" r:id="rId10"/>
    <p:sldId id="271" r:id="rId11"/>
    <p:sldId id="273" r:id="rId12"/>
    <p:sldId id="266" r:id="rId13"/>
    <p:sldId id="267" r:id="rId14"/>
    <p:sldId id="278" r:id="rId15"/>
    <p:sldId id="279" r:id="rId16"/>
    <p:sldId id="272" r:id="rId17"/>
    <p:sldId id="274" r:id="rId18"/>
    <p:sldId id="281" r:id="rId19"/>
    <p:sldId id="280" r:id="rId20"/>
    <p:sldId id="275" r:id="rId21"/>
    <p:sldId id="282" r:id="rId22"/>
    <p:sldId id="283" r:id="rId23"/>
    <p:sldId id="262" r:id="rId24"/>
    <p:sldId id="259" r:id="rId25"/>
    <p:sldId id="263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0C974-C971-49AB-9DB3-26D8F572511A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04A68-FE9C-41D3-96AD-A1A68ED6C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719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841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166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Brent−0.8⋅Бензин−0.7⋅Дизель∼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(0)</a:t>
            </a:r>
          </a:p>
          <a:p>
            <a:r>
              <a:rPr lang="ru-RU" b="0" dirty="0">
                <a:effectLst/>
              </a:rPr>
              <a:t>Это означает: маржа между нефтью и продуктами стабильна — возможен арбитраж.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22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7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407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B72E-9476-A5AF-0146-713288F1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138BA5-AA96-E4A0-62E6-D5F063F3E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5BEEC8-62B5-B979-5978-38DE0C678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566DEA-77B3-70AF-AA80-C894C19F1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9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437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980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BDB3-31A4-8296-3E31-220BBEB9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18BB8-62AF-CD76-896C-E14F9D63C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3C8B66-CD44-3498-604C-1D83C23B9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E75700-949C-EBF3-EBCC-2766C6B98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43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168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C040-80D8-F537-B491-54299D8F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4FC9516-A172-D2C7-1645-B2B35D560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51A84D-3E68-5321-66DB-C363217BA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FDC032-D656-67AD-DDFC-9BA1BF21B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93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20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2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48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63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4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57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18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9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0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7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00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04D8-B49B-4D86-A6B2-820C9FC8BA05}" type="datetimeFigureOut">
              <a:rPr lang="ru-RU" smtClean="0"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Многомерные временные ряды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0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r>
              <a:rPr lang="ru-RU" dirty="0"/>
              <a:t>Определение многомерных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4" y="904876"/>
            <a:ext cx="11534775" cy="2762249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sz="2400" b="1" dirty="0"/>
              <a:t>Многомерный временной ряд</a:t>
            </a:r>
            <a:r>
              <a:rPr lang="en-US" sz="2400" b="1" dirty="0"/>
              <a:t> </a:t>
            </a:r>
            <a:r>
              <a:rPr lang="ru-RU" sz="2400" b="1" dirty="0"/>
              <a:t>(МВР)</a:t>
            </a:r>
            <a:r>
              <a:rPr lang="ru-RU" sz="2400" dirty="0"/>
              <a:t> - это набор из одномерных временных рядов, наблюдаемых одновременно</a:t>
            </a:r>
            <a:r>
              <a:rPr lang="en-US" sz="2400" dirty="0"/>
              <a:t> </a:t>
            </a:r>
            <a:r>
              <a:rPr lang="ru-RU" sz="2400" b="1" dirty="0"/>
              <a:t>и имеющих общую информацию</a:t>
            </a:r>
            <a:r>
              <a:rPr lang="en-US" sz="2400" b="1" dirty="0"/>
              <a:t>!</a:t>
            </a:r>
            <a:endParaRPr lang="ru-RU" altLang="ru-RU" sz="2400" b="1" dirty="0"/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Экономические показатели: ВВП, инфляция, безработица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Финансовые данные: курсы валют, цены акций, процентные ставки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 err="1"/>
              <a:t>IoT</a:t>
            </a:r>
            <a:r>
              <a:rPr lang="ru-RU" altLang="ru-RU" sz="2400" dirty="0"/>
              <a:t> сенсоры: температура, влажность, давление, освещенность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Веб-аналитика: посещения, конверсия, время на сайте </a:t>
            </a:r>
            <a:endParaRPr lang="ru-RU" dirty="0"/>
          </a:p>
        </p:txBody>
      </p:sp>
      <p:sp>
        <p:nvSpPr>
          <p:cNvPr id="5" name="AutoShape 2" descr="Example of multivariate time series data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3639242"/>
            <a:ext cx="6738937" cy="3051742"/>
          </a:xfrm>
          <a:prstGeom prst="rect">
            <a:avLst/>
          </a:prstGeom>
        </p:spPr>
      </p:pic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1039210F-570B-FD20-177C-C930AFEA2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309" y="3831235"/>
            <a:ext cx="3963988" cy="243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4246E-233A-D853-C1CB-04A5FF377416}"/>
              </a:ext>
            </a:extLst>
          </p:cNvPr>
          <p:cNvSpPr txBox="1"/>
          <p:nvPr/>
        </p:nvSpPr>
        <p:spPr>
          <a:xfrm>
            <a:off x="6604347" y="6429374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https</a:t>
            </a:r>
            <a:r>
              <a:rPr lang="ru-RU" sz="1050" dirty="0"/>
              <a:t>://</a:t>
            </a:r>
            <a:r>
              <a:rPr lang="ru-RU" sz="1050" dirty="0" err="1"/>
              <a:t>skforecast.org</a:t>
            </a:r>
            <a:r>
              <a:rPr lang="ru-RU" sz="1050" dirty="0"/>
              <a:t>/0.16.0/</a:t>
            </a:r>
            <a:r>
              <a:rPr lang="ru-RU" sz="1050" dirty="0" err="1"/>
              <a:t>user_guides</a:t>
            </a:r>
            <a:r>
              <a:rPr lang="ru-RU" sz="1050" dirty="0"/>
              <a:t>/</a:t>
            </a:r>
            <a:r>
              <a:rPr lang="ru-RU" sz="1050" dirty="0" err="1"/>
              <a:t>dependent-multi-series-multivariate-forecasting.html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88429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3" y="250826"/>
            <a:ext cx="11153775" cy="768350"/>
          </a:xfrm>
        </p:spPr>
        <p:txBody>
          <a:bodyPr/>
          <a:lstStyle/>
          <a:p>
            <a:pPr algn="ctr"/>
            <a:r>
              <a:rPr lang="ru-RU" dirty="0"/>
              <a:t>Типы ВР: Многомерные ВР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49" y="942976"/>
            <a:ext cx="10372726" cy="574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1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r>
              <a:rPr lang="ru-RU" dirty="0"/>
              <a:t>Определение многомерных ВР</a:t>
            </a:r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697473"/>
              </p:ext>
            </p:extLst>
          </p:nvPr>
        </p:nvGraphicFramePr>
        <p:xfrm>
          <a:off x="142875" y="987425"/>
          <a:ext cx="11553825" cy="31051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72151">
                  <a:extLst>
                    <a:ext uri="{9D8B030D-6E8A-4147-A177-3AD203B41FA5}">
                      <a16:colId xmlns:a16="http://schemas.microsoft.com/office/drawing/2014/main" val="1609488883"/>
                    </a:ext>
                  </a:extLst>
                </a:gridCol>
                <a:gridCol w="5781674">
                  <a:extLst>
                    <a:ext uri="{9D8B030D-6E8A-4147-A177-3AD203B41FA5}">
                      <a16:colId xmlns:a16="http://schemas.microsoft.com/office/drawing/2014/main" val="499434099"/>
                    </a:ext>
                  </a:extLst>
                </a:gridCol>
              </a:tblGrid>
              <a:tr h="193665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Проблема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</a:rPr>
                        <a:t>Решение с помощью МВР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0299146"/>
                  </a:ext>
                </a:extLst>
              </a:tr>
              <a:tr h="3072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Одномерный ряд не улавливает влияние других связанных факторов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Учет взаимного</a:t>
                      </a:r>
                      <a:r>
                        <a:rPr lang="ru-RU" sz="2000" u="none" strike="noStrike" baseline="0" dirty="0">
                          <a:effectLst/>
                        </a:rPr>
                        <a:t> влияния ВР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6143181"/>
                  </a:ext>
                </a:extLst>
              </a:tr>
              <a:tr h="155581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Глобальные экзогенные факторы не учитываются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учитываются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6728713"/>
                  </a:ext>
                </a:extLst>
              </a:tr>
              <a:tr h="3814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Нет оценки причинно-следственных связей между</a:t>
                      </a:r>
                      <a:r>
                        <a:rPr lang="ru-RU" sz="2000" u="none" strike="noStrike" baseline="0" dirty="0">
                          <a:effectLst/>
                        </a:rPr>
                        <a:t> всеми связанным переменными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Используем </a:t>
                      </a:r>
                      <a:r>
                        <a:rPr lang="en-US" sz="2000" u="none" strike="noStrike" dirty="0">
                          <a:effectLst/>
                        </a:rPr>
                        <a:t>Granger causality</a:t>
                      </a:r>
                      <a:r>
                        <a:rPr lang="ru-RU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32579"/>
                  </a:ext>
                </a:extLst>
              </a:tr>
              <a:tr h="3814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Прогноз нестабильности при шоках внешних факторов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u="none" strike="noStrike" dirty="0">
                          <a:effectLst/>
                        </a:rPr>
                        <a:t>МВР учитывает реакцию всей системы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014944"/>
                  </a:ext>
                </a:extLst>
              </a:tr>
              <a:tr h="3814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Много похожих рядов (1000 датчиков температуры в техпроцессе) требуют</a:t>
                      </a:r>
                      <a:r>
                        <a:rPr lang="ru-RU" sz="2000" u="none" strike="noStrike" baseline="0" dirty="0">
                          <a:effectLst/>
                        </a:rPr>
                        <a:t> настройки разных моделей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Глобальные модели + динамические факторы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201459"/>
                  </a:ext>
                </a:extLst>
              </a:tr>
            </a:tbl>
          </a:graphicData>
        </a:graphic>
      </p:graphicFrame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52425" y="4267199"/>
            <a:ext cx="11344275" cy="2295526"/>
          </a:xfrm>
        </p:spPr>
        <p:txBody>
          <a:bodyPr/>
          <a:lstStyle/>
          <a:p>
            <a:r>
              <a:rPr lang="ru-RU" dirty="0"/>
              <a:t>Если единичные ВР – это описание только соответствующей переменной,</a:t>
            </a:r>
          </a:p>
          <a:p>
            <a:pPr lvl="1"/>
            <a:r>
              <a:rPr lang="ru-RU" dirty="0"/>
              <a:t>ВР с экзогенными факторами – описание ВР и объясняющих его переменных</a:t>
            </a:r>
          </a:p>
          <a:p>
            <a:r>
              <a:rPr lang="ru-RU" dirty="0"/>
              <a:t>То многомерные ВР (МВР) – это описание системы</a:t>
            </a:r>
          </a:p>
          <a:p>
            <a:pPr lvl="1"/>
            <a:r>
              <a:rPr lang="ru-RU" dirty="0"/>
              <a:t>Включает как ВР, так и их связи – более полное 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398095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43" y="177234"/>
            <a:ext cx="11165910" cy="59937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и проблемы МВР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C6D77A8-018D-4F69-E0AB-665CC72D3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640271"/>
              </p:ext>
            </p:extLst>
          </p:nvPr>
        </p:nvGraphicFramePr>
        <p:xfrm>
          <a:off x="187890" y="776613"/>
          <a:ext cx="11724363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431">
                  <a:extLst>
                    <a:ext uri="{9D8B030D-6E8A-4147-A177-3AD203B41FA5}">
                      <a16:colId xmlns:a16="http://schemas.microsoft.com/office/drawing/2014/main" val="2003674582"/>
                    </a:ext>
                  </a:extLst>
                </a:gridCol>
                <a:gridCol w="4008328">
                  <a:extLst>
                    <a:ext uri="{9D8B030D-6E8A-4147-A177-3AD203B41FA5}">
                      <a16:colId xmlns:a16="http://schemas.microsoft.com/office/drawing/2014/main" val="3372195085"/>
                    </a:ext>
                  </a:extLst>
                </a:gridCol>
                <a:gridCol w="5824604">
                  <a:extLst>
                    <a:ext uri="{9D8B030D-6E8A-4147-A177-3AD203B41FA5}">
                      <a16:colId xmlns:a16="http://schemas.microsoft.com/office/drawing/2014/main" val="2406795206"/>
                    </a:ext>
                  </a:extLst>
                </a:gridCol>
              </a:tblGrid>
              <a:tr h="24117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Проблемы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Решения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287456"/>
                  </a:ext>
                </a:extLst>
              </a:tr>
              <a:tr h="805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Единая временная шкала и длина выборки</a:t>
                      </a:r>
                      <a:endParaRPr lang="ru-RU" sz="20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Разная частота (один датчик — 1 раз в секунду, другой — в минуту)</a:t>
                      </a:r>
                    </a:p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Сдвиги во времени (асинхронность)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Ресемплинг</a:t>
                      </a:r>
                      <a:r>
                        <a:rPr lang="ru-RU" sz="2000" dirty="0"/>
                        <a:t> с большей частотой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Интерполяция с частотой </a:t>
                      </a:r>
                      <a:r>
                        <a:rPr lang="en-US" sz="2000" dirty="0"/>
                        <a:t>&lt;</a:t>
                      </a:r>
                      <a:r>
                        <a:rPr lang="ru-RU" sz="2000" dirty="0"/>
                        <a:t> наименьшей и </a:t>
                      </a:r>
                      <a:r>
                        <a:rPr lang="ru-RU" sz="2000" dirty="0" err="1"/>
                        <a:t>передискретизация</a:t>
                      </a:r>
                      <a:endParaRPr lang="ru-RU" sz="2000" dirty="0"/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Агрегация (если есть иерархия)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919944"/>
                  </a:ext>
                </a:extLst>
              </a:tr>
              <a:tr h="805240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Единый</a:t>
                      </a:r>
                      <a:r>
                        <a:rPr lang="ru-RU" sz="2000" dirty="0"/>
                        <a:t> временной 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Разные сезонности в рядах (где-то сутки, где то год)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Разложение ВР. (STL</a:t>
                      </a:r>
                      <a:r>
                        <a:rPr lang="en-US" sz="2000" dirty="0"/>
                        <a:t>)</a:t>
                      </a:r>
                      <a:r>
                        <a:rPr lang="ru-RU" sz="2000" dirty="0"/>
                        <a:t>, 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Разделение по группам, 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добавление масштабов как экзогенных 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факторов к каждому 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097848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r>
                        <a:rPr lang="ru-RU" sz="2000" dirty="0"/>
                        <a:t>Связи между рядами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Неучет  связи приводит к ложным выводам,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Мультиколлинеарности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снижению интерпретируемости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Корреляция - регуляризация,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Казуальность – </a:t>
                      </a:r>
                      <a:r>
                        <a:rPr lang="ru-RU" sz="2000" dirty="0" err="1"/>
                        <a:t>вр</a:t>
                      </a:r>
                      <a:r>
                        <a:rPr lang="ru-RU" sz="2000" dirty="0"/>
                        <a:t> как </a:t>
                      </a:r>
                      <a:r>
                        <a:rPr lang="ru-RU" sz="2000" dirty="0" err="1"/>
                        <a:t>экзоген</a:t>
                      </a:r>
                      <a:r>
                        <a:rPr lang="ru-RU" sz="2000" dirty="0"/>
                        <a:t>. фактор, 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Коинтеграция</a:t>
                      </a:r>
                      <a:r>
                        <a:rPr lang="ru-RU" sz="2000" dirty="0"/>
                        <a:t> – поиск ЛК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157207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r>
                        <a:rPr lang="ru-RU" sz="2000" dirty="0"/>
                        <a:t>стационар.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ВР могут сводится независимо или только как комбинация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ADF, KPSS </a:t>
                      </a:r>
                      <a:r>
                        <a:rPr lang="ru-RU" sz="2000" dirty="0"/>
                        <a:t>для каждого </a:t>
                      </a:r>
                      <a:r>
                        <a:rPr lang="ru-RU" sz="2000" dirty="0" err="1"/>
                        <a:t>вр</a:t>
                      </a:r>
                      <a:endParaRPr lang="ru-RU" sz="2000" dirty="0"/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Коинтеграция</a:t>
                      </a:r>
                      <a:r>
                        <a:rPr lang="ru-RU" sz="2000" dirty="0"/>
                        <a:t> если совместно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713331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r>
                        <a:rPr lang="ru-RU" sz="2000" dirty="0"/>
                        <a:t>Глобальный объясняющий фактор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Разделение влияния фактора от взаимных связей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Учет экзогенного фактора для каждого ВР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Снятие зависимости линейной регрессией</a:t>
                      </a:r>
                    </a:p>
                    <a:p>
                      <a:pPr marL="126000" indent="-12600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PCA</a:t>
                      </a:r>
                      <a:r>
                        <a:rPr lang="en-US" sz="2000" dirty="0"/>
                        <a:t> + </a:t>
                      </a:r>
                      <a:r>
                        <a:rPr lang="ru-RU" sz="2000" dirty="0"/>
                        <a:t>восстановление без главной компоненты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9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175" y="107951"/>
            <a:ext cx="11068050" cy="5969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Векторная авторегрессия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Если все ВР в МВР стационарны</a:t>
                </a:r>
                <a:r>
                  <a:rPr lang="en-US" sz="2400" dirty="0"/>
                  <a:t> </a:t>
                </a:r>
                <a:r>
                  <a:rPr lang="ru-RU" sz="2400" dirty="0"/>
                  <a:t>и не коррелируют, то для каждого ВР можно ввести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b="0" i="0" dirty="0">
                    <a:latin typeface="+mj-lt"/>
                  </a:rPr>
                  <a:t>число ВР.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+mj-lt"/>
                  </a:rPr>
                  <a:t>Или в матричной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- </a:t>
                </a:r>
                <a:r>
                  <a:rPr lang="ru-RU" sz="2400" b="0" i="0" dirty="0">
                    <a:latin typeface="+mj-lt"/>
                  </a:rPr>
                  <a:t>вектор наблюдений в момент </a:t>
                </a:r>
                <a:r>
                  <a:rPr lang="en-US" sz="2400" b="0" i="0" dirty="0">
                    <a:latin typeface="+mj-lt"/>
                  </a:rPr>
                  <a:t>n;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предсказаний в момент </a:t>
                </a:r>
                <a:r>
                  <a:rPr lang="en-US" sz="2400" dirty="0"/>
                  <a:t>n+1,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коэффициенты авторегрессии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Модель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- </a:t>
                </a:r>
                <a:r>
                  <a:rPr lang="ru-RU" sz="2400" b="1" dirty="0"/>
                  <a:t>модель векторной авторегрессии - </a:t>
                </a:r>
                <a:r>
                  <a:rPr lang="en-US" sz="2400" b="1" dirty="0"/>
                  <a:t>VAR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/>
                  <a:t>Иногда вводят и более полные модели </a:t>
                </a:r>
                <a:r>
                  <a:rPr lang="en-US" sz="2400" i="1" dirty="0"/>
                  <a:t>VARMA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/>
                  <a:t>	</a:t>
                </a:r>
                <a:r>
                  <a:rPr lang="ru-RU" sz="2000" i="1" dirty="0"/>
                  <a:t>Если ВР не стационары, просто </a:t>
                </a:r>
                <a:r>
                  <a:rPr lang="en-US" sz="2000" i="1" dirty="0"/>
                  <a:t>VARIMA </a:t>
                </a:r>
                <a:r>
                  <a:rPr lang="ru-RU" sz="2000" i="1" dirty="0"/>
                  <a:t>может быть недостаточно! 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  <a:blipFill>
                <a:blip r:embed="rId2"/>
                <a:stretch>
                  <a:fillRect l="-860" t="-1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371974" y="6581777"/>
            <a:ext cx="82772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https://github.com/phdinds-aim/time_series_handbook/blob/main/03_VectorAutoregressiveModels/03_VectorAutoregressiveMethods.ipynb</a:t>
            </a:r>
          </a:p>
        </p:txBody>
      </p:sp>
    </p:spTree>
    <p:extLst>
      <p:ext uri="{BB962C8B-B14F-4D97-AF65-F5344CB8AC3E}">
        <p14:creationId xmlns:p14="http://schemas.microsoft.com/office/powerpoint/2010/main" val="28928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325" y="136526"/>
            <a:ext cx="11430000" cy="63499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Типы связей в МВР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b="1" dirty="0"/>
                  <a:t>В МВР – </a:t>
                </a:r>
                <a:r>
                  <a:rPr lang="ru-RU" sz="2200" dirty="0"/>
                  <a:t>отдельные</a:t>
                </a:r>
                <a:r>
                  <a:rPr lang="ru-RU" sz="2200" b="1" dirty="0"/>
                  <a:t> </a:t>
                </a:r>
                <a:r>
                  <a:rPr lang="ru-RU" sz="2200" dirty="0"/>
                  <a:t>ВР могут показать зависимость своих значений от других ВР в системе. То есть ВР связаны.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Корреляционная связь </a:t>
                </a:r>
                <a:r>
                  <a:rPr lang="ru-RU" sz="2200" dirty="0"/>
                  <a:t>– ВР имеют линейную зависимость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/>
                  <a:t>Примеры: Температура и давление в баке.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000" b="1" dirty="0"/>
                  <a:t>Сезонная корреляция </a:t>
                </a:r>
                <a:r>
                  <a:rPr lang="ru-RU" sz="2000" dirty="0"/>
                  <a:t>– корреляция с лагом в сезон, </a:t>
                </a:r>
                <a:br>
                  <a:rPr lang="ru-RU" sz="2000" dirty="0"/>
                </a:br>
                <a:r>
                  <a:rPr lang="ru-RU" sz="2100" dirty="0"/>
                  <a:t>например, закупка сырья </a:t>
                </a:r>
                <a14:m>
                  <m:oMath xmlns:m="http://schemas.openxmlformats.org/officeDocument/2006/math">
                    <m:r>
                      <a:rPr lang="ru-RU" sz="210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ru-RU" sz="2100" dirty="0"/>
                  <a:t> выпуск продукции, Летом выше температура и влажность (есть общий объясняющий фактор)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Казуальная связь </a:t>
                </a:r>
                <a:r>
                  <a:rPr lang="ru-RU" sz="2200" dirty="0"/>
                  <a:t>– один из ВР связан с последующими лагами другого ВР.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b="1" dirty="0"/>
                  <a:t>Примеры: </a:t>
                </a:r>
                <a:r>
                  <a:rPr lang="ru-RU" sz="2200" dirty="0"/>
                  <a:t>Процентные ставки → инфляция, направление ветра → изменение в погоде </a:t>
                </a:r>
                <a:br>
                  <a:rPr lang="ru-RU" sz="2200" dirty="0"/>
                </a:br>
                <a:r>
                  <a:rPr lang="ru-RU" sz="2200" b="1" dirty="0"/>
                  <a:t>(но не наоборот!)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/>
                  <a:t>В отличии от сезонной корреляции ВР в казуальности связь причинная (только опережающая), а не симметричная (характеристика динамики ВР). Например перед дождем падает давление (но нет связи наоборот).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ru-RU" sz="2200" b="1" dirty="0" err="1"/>
                  <a:t>Коинтеграционная</a:t>
                </a:r>
                <a:r>
                  <a:rPr lang="ru-RU" sz="2200" b="1" dirty="0"/>
                  <a:t> связь </a:t>
                </a:r>
                <a:r>
                  <a:rPr lang="ru-RU" sz="2200" dirty="0"/>
                  <a:t>– Нестационарные ряды в долгосрочной перспективе "движутся вместе" — их линейная комбинация стационарна (</a:t>
                </a:r>
                <a:r>
                  <a:rPr lang="ru-RU" sz="2200" dirty="0" err="1"/>
                  <a:t>коинтеграция</a:t>
                </a:r>
                <a:r>
                  <a:rPr lang="ru-RU" sz="2200" dirty="0"/>
                  <a:t> 1го порядка).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/>
                  <a:t>система не стационарных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ВР составляет линейную комбинацию, имеющую не стационарность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/>
                  <a:t>Пример: Цены на сырую нефть и бензин (их разность (маржа) – стационарна)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  <a:blipFill>
                <a:blip r:embed="rId2"/>
                <a:stretch>
                  <a:fillRect l="-570" t="-1138" r="-5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DFF455B-0874-8488-85B2-7BA468BB902B}"/>
              </a:ext>
            </a:extLst>
          </p:cNvPr>
          <p:cNvSpPr txBox="1"/>
          <p:nvPr/>
        </p:nvSpPr>
        <p:spPr>
          <a:xfrm>
            <a:off x="104775" y="6427113"/>
            <a:ext cx="6093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https</a:t>
            </a:r>
            <a:r>
              <a:rPr lang="ru-RU" sz="1050" dirty="0"/>
              <a:t>://</a:t>
            </a:r>
            <a:r>
              <a:rPr lang="ru-RU" sz="1050" dirty="0" err="1"/>
              <a:t>www.adb.org</a:t>
            </a:r>
            <a:r>
              <a:rPr lang="ru-RU" sz="1050" dirty="0"/>
              <a:t>/</a:t>
            </a:r>
            <a:r>
              <a:rPr lang="ru-RU" sz="1050" dirty="0" err="1"/>
              <a:t>sites</a:t>
            </a:r>
            <a:r>
              <a:rPr lang="ru-RU" sz="1050" dirty="0"/>
              <a:t>/</a:t>
            </a:r>
            <a:r>
              <a:rPr lang="ru-RU" sz="1050" dirty="0" err="1"/>
              <a:t>default</a:t>
            </a:r>
            <a:r>
              <a:rPr lang="ru-RU" sz="1050" dirty="0"/>
              <a:t>/</a:t>
            </a:r>
            <a:r>
              <a:rPr lang="ru-RU" sz="1050" dirty="0" err="1"/>
              <a:t>files</a:t>
            </a:r>
            <a:r>
              <a:rPr lang="ru-RU" sz="1050" dirty="0"/>
              <a:t>/</a:t>
            </a:r>
            <a:r>
              <a:rPr lang="ru-RU" sz="1050" dirty="0" err="1"/>
              <a:t>event</a:t>
            </a:r>
            <a:r>
              <a:rPr lang="ru-RU" sz="1050" dirty="0"/>
              <a:t>/978811/</a:t>
            </a:r>
            <a:r>
              <a:rPr lang="ru-RU" sz="1050" dirty="0" err="1"/>
              <a:t>files</a:t>
            </a:r>
            <a:r>
              <a:rPr lang="ru-RU" sz="1050" dirty="0"/>
              <a:t>/session45-dr-law-siong-hook-time-series-analysis-i-stationarity-and-cointegration-analysis-ii-var.pdf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DAEEB-BB71-C17F-EAB0-B9CB0742E9E9}"/>
              </a:ext>
            </a:extLst>
          </p:cNvPr>
          <p:cNvSpPr txBox="1"/>
          <p:nvPr/>
        </p:nvSpPr>
        <p:spPr>
          <a:xfrm>
            <a:off x="6904972" y="6511751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www.sciencedirect.com</a:t>
            </a:r>
            <a:r>
              <a:rPr lang="ru-RU" sz="1100" dirty="0"/>
              <a:t>/</a:t>
            </a:r>
            <a:r>
              <a:rPr lang="ru-RU" sz="1100" dirty="0" err="1"/>
              <a:t>science</a:t>
            </a:r>
            <a:r>
              <a:rPr lang="ru-RU" sz="1100" dirty="0"/>
              <a:t>/</a:t>
            </a:r>
            <a:r>
              <a:rPr lang="ru-RU" sz="1100" dirty="0" err="1"/>
              <a:t>article</a:t>
            </a:r>
            <a:r>
              <a:rPr lang="ru-RU" sz="1100" dirty="0"/>
              <a:t>/</a:t>
            </a:r>
            <a:r>
              <a:rPr lang="ru-RU" sz="1100" dirty="0" err="1"/>
              <a:t>abs</a:t>
            </a:r>
            <a:r>
              <a:rPr lang="ru-RU" sz="1100" dirty="0"/>
              <a:t>/</a:t>
            </a:r>
            <a:r>
              <a:rPr lang="ru-RU" sz="1100" dirty="0" err="1"/>
              <a:t>pii</a:t>
            </a:r>
            <a:r>
              <a:rPr lang="ru-RU" sz="1100" dirty="0"/>
              <a:t>/B9780128167977000084</a:t>
            </a:r>
          </a:p>
        </p:txBody>
      </p:sp>
    </p:spTree>
    <p:extLst>
      <p:ext uri="{BB962C8B-B14F-4D97-AF65-F5344CB8AC3E}">
        <p14:creationId xmlns:p14="http://schemas.microsoft.com/office/powerpoint/2010/main" val="277986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90A3E-B885-7153-BE00-9F7FAC51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767905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b="1" dirty="0"/>
              <a:t>Типы связей в МВР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57E57-5770-C638-7F6E-EDA7775A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ru-RU" sz="2000"/>
          </a:p>
        </p:txBody>
      </p:sp>
      <p:pic>
        <p:nvPicPr>
          <p:cNvPr id="1026" name="Picture 2" descr="Example of cointegrated time series with low correlation.">
            <a:extLst>
              <a:ext uri="{FF2B5EF4-FFF2-40B4-BE49-F238E27FC236}">
                <a16:creationId xmlns:a16="http://schemas.microsoft.com/office/drawing/2014/main" id="{B5DCDE3D-5199-AA7A-E922-EF527F83D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1141" y="4150076"/>
            <a:ext cx="6732025" cy="244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ample of non-cointegrated time series with high correlation.">
            <a:extLst>
              <a:ext uri="{FF2B5EF4-FFF2-40B4-BE49-F238E27FC236}">
                <a16:creationId xmlns:a16="http://schemas.microsoft.com/office/drawing/2014/main" id="{1932A2C8-08DF-C714-D8EF-9803DA7D7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633" y="1346388"/>
            <a:ext cx="6565806" cy="238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45572-1415-8A20-FEE1-71B95D982B0C}"/>
              </a:ext>
            </a:extLst>
          </p:cNvPr>
          <p:cNvSpPr txBox="1"/>
          <p:nvPr/>
        </p:nvSpPr>
        <p:spPr>
          <a:xfrm>
            <a:off x="4932915" y="6553163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bookdown.org</a:t>
            </a:r>
            <a:r>
              <a:rPr lang="ru-RU" sz="1100" dirty="0"/>
              <a:t>/</a:t>
            </a:r>
            <a:r>
              <a:rPr lang="ru-RU" sz="1100" dirty="0" err="1"/>
              <a:t>palomar</a:t>
            </a:r>
            <a:r>
              <a:rPr lang="ru-RU" sz="1100" dirty="0"/>
              <a:t>/</a:t>
            </a:r>
            <a:r>
              <a:rPr lang="ru-RU" sz="1100" dirty="0" err="1"/>
              <a:t>portfoliooptimizationbook</a:t>
            </a:r>
            <a:r>
              <a:rPr lang="ru-RU" sz="1100" dirty="0"/>
              <a:t>/15.2-cointegration-vs-correlation.html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9BAD6-262F-31C0-5581-5B0F448E2E7D}"/>
              </a:ext>
            </a:extLst>
          </p:cNvPr>
          <p:cNvSpPr txBox="1"/>
          <p:nvPr/>
        </p:nvSpPr>
        <p:spPr>
          <a:xfrm>
            <a:off x="265054" y="4257543"/>
            <a:ext cx="526541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Корреляция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синхронное движение (статистическая связь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, может быть ложной, если оба связаны со скрытой переменной)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11827"/>
                </a:solidFill>
                <a:effectLst/>
                <a:latin typeface="system-ui"/>
              </a:rPr>
              <a:t>Коинтеграция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долгосрочная устойчивая связь (равновесие), даже если иногда расходятся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Казуальность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направление влияния во времени (кто «ведёт» - информационная предсказуемость).</a:t>
            </a:r>
          </a:p>
        </p:txBody>
      </p:sp>
      <p:pic>
        <p:nvPicPr>
          <p:cNvPr id="1030" name="Picture 6" descr="Example of possible Granger-causality between time series [image by the author]">
            <a:extLst>
              <a:ext uri="{FF2B5EF4-FFF2-40B4-BE49-F238E27FC236}">
                <a16:creationId xmlns:a16="http://schemas.microsoft.com/office/drawing/2014/main" id="{024B156C-3179-A6EE-AC7C-AE8955F3B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31" y="1671466"/>
            <a:ext cx="5061063" cy="175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3D347A-8B5C-F411-22A8-CAB7F4717E55}"/>
              </a:ext>
            </a:extLst>
          </p:cNvPr>
          <p:cNvSpPr txBox="1"/>
          <p:nvPr/>
        </p:nvSpPr>
        <p:spPr>
          <a:xfrm>
            <a:off x="8727153" y="1855706"/>
            <a:ext cx="2873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Causality Y1 </a:t>
            </a:r>
            <a:r>
              <a:rPr lang="en" b="1" i="1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causes </a:t>
            </a:r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Y2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B1CC4-562B-43AD-4FC4-8D15BF589705}"/>
              </a:ext>
            </a:extLst>
          </p:cNvPr>
          <p:cNvSpPr txBox="1"/>
          <p:nvPr/>
        </p:nvSpPr>
        <p:spPr>
          <a:xfrm>
            <a:off x="506777" y="1393342"/>
            <a:ext cx="324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Correlation + cointegration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CCA38-54EC-96F1-3A81-CDA9DF6F31EA}"/>
              </a:ext>
            </a:extLst>
          </p:cNvPr>
          <p:cNvSpPr txBox="1"/>
          <p:nvPr/>
        </p:nvSpPr>
        <p:spPr>
          <a:xfrm>
            <a:off x="6356787" y="3958525"/>
            <a:ext cx="324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Cointegration only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512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86201-4EBC-4A85-A511-D32F09D2F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3" y="365126"/>
            <a:ext cx="10802957" cy="56029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9D7BF9-B755-2917-A268-2945F31B8F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195" y="925418"/>
                <a:ext cx="11655846" cy="55635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Ка</a:t>
                </a:r>
                <a:r>
                  <a:rPr lang="ru-RU" sz="2200" dirty="0" err="1"/>
                  <a:t>зуальность</a:t>
                </a:r>
                <a:r>
                  <a:rPr lang="ru-RU" sz="2200" dirty="0"/>
                  <a:t> (причинность) по Грейнджеру (</a:t>
                </a:r>
                <a:r>
                  <a:rPr lang="en" sz="2200" dirty="0"/>
                  <a:t>Granger Causality) - </a:t>
                </a:r>
                <a:r>
                  <a:rPr lang="ru-RU" sz="2200" dirty="0"/>
                  <a:t>временной ряд </a:t>
                </a:r>
                <a:r>
                  <a:rPr lang="en" sz="2200" i="1" dirty="0" err="1"/>
                  <a:t>xt</a:t>
                </a:r>
                <a:r>
                  <a:rPr lang="en" sz="2200" dirty="0"/>
                  <a:t>​ </a:t>
                </a:r>
                <a:r>
                  <a:rPr lang="ru-RU" sz="2200" i="1" dirty="0"/>
                  <a:t>вызывает</a:t>
                </a:r>
                <a:r>
                  <a:rPr lang="ru-RU" sz="2200" dirty="0"/>
                  <a:t> по Грейнджеру временной ряд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, </a:t>
                </a:r>
                <a:r>
                  <a:rPr lang="ru-RU" sz="2200" dirty="0"/>
                  <a:t>если прошлые значения </a:t>
                </a:r>
                <a:r>
                  <a:rPr lang="en" sz="2200" i="1" dirty="0" err="1"/>
                  <a:t>xt</a:t>
                </a:r>
                <a:r>
                  <a:rPr lang="en" sz="2200" dirty="0"/>
                  <a:t>​ </a:t>
                </a:r>
                <a:r>
                  <a:rPr lang="ru-RU" sz="2200" dirty="0"/>
                  <a:t>улучшают прогноз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</a:t>
                </a:r>
                <a:r>
                  <a:rPr lang="ru-RU" sz="2200" dirty="0"/>
                  <a:t>по сравнению с прогнозом, основанным только на прошлых значениях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.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Для двух стационарных временных рядов </a:t>
                </a:r>
                <a:r>
                  <a:rPr lang="en-US" sz="2200" dirty="0"/>
                  <a:t>x  </a:t>
                </a:r>
                <a:r>
                  <a:rPr lang="ru-RU" sz="2200" dirty="0"/>
                  <a:t>и  </a:t>
                </a:r>
                <a:r>
                  <a:rPr lang="en-US" sz="2200" dirty="0"/>
                  <a:t>y</a:t>
                </a:r>
                <a:r>
                  <a:rPr lang="ru-RU" sz="2200" dirty="0"/>
                  <a:t> если</a:t>
                </a:r>
                <a:r>
                  <a:rPr lang="en-US" sz="2200" dirty="0"/>
                  <a:t> </a:t>
                </a:r>
                <a:r>
                  <a:rPr lang="en-US" sz="2200" dirty="0" err="1"/>
                  <a:t>в</a:t>
                </a:r>
                <a:r>
                  <a:rPr lang="ru-RU" sz="2200" dirty="0"/>
                  <a:t>плоть до лага </a:t>
                </a:r>
                <a:r>
                  <a:rPr lang="en-US" sz="2200" dirty="0"/>
                  <a:t>p:</a:t>
                </a:r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  <a:r>
                  <a:rPr lang="ru-RU" sz="2200" dirty="0"/>
                  <a:t>один или несколько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≠0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 и </m:t>
                    </m:r>
                    <m:sSub>
                      <m:sSubPr>
                        <m:ctrlPr>
                          <a:rPr lang="en-US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2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ru-RU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𝑆𝑆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(F-test) – X </a:t>
                </a:r>
                <a:r>
                  <a:rPr lang="ru-RU" sz="2200" dirty="0"/>
                  <a:t>и </a:t>
                </a:r>
                <a:r>
                  <a:rPr lang="en-US" sz="2200" dirty="0"/>
                  <a:t>Y</a:t>
                </a:r>
                <a:r>
                  <a:rPr lang="ru-RU" sz="2200" dirty="0"/>
                  <a:t> </a:t>
                </a:r>
                <a:r>
                  <a:rPr lang="ru-RU" sz="2200" dirty="0" err="1"/>
                  <a:t>казуальны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9D7BF9-B755-2917-A268-2945F31B8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195" y="925418"/>
                <a:ext cx="11655846" cy="5563518"/>
              </a:xfrm>
              <a:blipFill>
                <a:blip r:embed="rId3"/>
                <a:stretch>
                  <a:fillRect l="-653" t="-1367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trend Granger Causality">
            <a:extLst>
              <a:ext uri="{FF2B5EF4-FFF2-40B4-BE49-F238E27FC236}">
                <a16:creationId xmlns:a16="http://schemas.microsoft.com/office/drawing/2014/main" id="{1B534AEC-9B29-7382-F1C9-88D85BBF4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2" r="7721"/>
          <a:stretch>
            <a:fillRect/>
          </a:stretch>
        </p:blipFill>
        <p:spPr bwMode="auto">
          <a:xfrm>
            <a:off x="7384973" y="3921280"/>
            <a:ext cx="4461832" cy="256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FAA14-DCB6-384A-D606-358920E4B61D}"/>
              </a:ext>
            </a:extLst>
          </p:cNvPr>
          <p:cNvSpPr txBox="1"/>
          <p:nvPr/>
        </p:nvSpPr>
        <p:spPr>
          <a:xfrm>
            <a:off x="4236998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F3C6-C881-84FC-F8EF-137FBA69243E}"/>
              </a:ext>
            </a:extLst>
          </p:cNvPr>
          <p:cNvSpPr txBox="1"/>
          <p:nvPr/>
        </p:nvSpPr>
        <p:spPr>
          <a:xfrm>
            <a:off x="345195" y="3921280"/>
            <a:ext cx="6093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There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4 </a:t>
            </a:r>
            <a:r>
              <a:rPr lang="ru-RU" dirty="0" err="1"/>
              <a:t>possible</a:t>
            </a:r>
            <a:r>
              <a:rPr lang="ru-RU" dirty="0"/>
              <a:t> </a:t>
            </a:r>
            <a:r>
              <a:rPr lang="ru-RU" dirty="0" err="1"/>
              <a:t>conclusions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:</a:t>
            </a:r>
          </a:p>
          <a:p>
            <a:r>
              <a:rPr lang="ru-RU" dirty="0"/>
              <a:t>1. 𝑋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, </a:t>
            </a:r>
            <a:r>
              <a:rPr lang="ru-RU" dirty="0" err="1"/>
              <a:t>but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𝑋2.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X, </a:t>
            </a:r>
            <a:r>
              <a:rPr lang="ru-RU" dirty="0" err="1"/>
              <a:t>but</a:t>
            </a:r>
            <a:r>
              <a:rPr lang="ru-RU" dirty="0"/>
              <a:t> 𝑋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Y3. 𝑋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𝑋 --</a:t>
            </a:r>
            <a:r>
              <a:rPr lang="ru-RU" dirty="0" err="1"/>
              <a:t>i.e</a:t>
            </a:r>
            <a:r>
              <a:rPr lang="ru-RU" dirty="0"/>
              <a:t>., </a:t>
            </a:r>
            <a:r>
              <a:rPr lang="ru-RU" dirty="0" err="1"/>
              <a:t>there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a</a:t>
            </a:r>
            <a:endParaRPr lang="ru-RU" dirty="0"/>
          </a:p>
          <a:p>
            <a:r>
              <a:rPr lang="ru-RU" dirty="0" err="1"/>
              <a:t>feedback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bidirectional</a:t>
            </a:r>
            <a:r>
              <a:rPr lang="ru-RU" dirty="0"/>
              <a:t> </a:t>
            </a:r>
            <a:r>
              <a:rPr lang="ru-RU" dirty="0" err="1"/>
              <a:t>causality</a:t>
            </a:r>
            <a:r>
              <a:rPr lang="ru-RU" dirty="0"/>
              <a:t>.</a:t>
            </a:r>
          </a:p>
          <a:p>
            <a:r>
              <a:rPr lang="ru-RU" dirty="0"/>
              <a:t>4. 𝑋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17A6E-9EEE-5F75-EEA1-391B7B151418}"/>
              </a:ext>
            </a:extLst>
          </p:cNvPr>
          <p:cNvSpPr txBox="1"/>
          <p:nvPr/>
        </p:nvSpPr>
        <p:spPr>
          <a:xfrm>
            <a:off x="241126" y="6581000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www.bauer.uh.edu</a:t>
            </a:r>
            <a:r>
              <a:rPr lang="ru-RU" sz="1200" dirty="0"/>
              <a:t>/</a:t>
            </a:r>
            <a:r>
              <a:rPr lang="ru-RU" sz="1200" dirty="0" err="1"/>
              <a:t>rsusmel</a:t>
            </a:r>
            <a:r>
              <a:rPr lang="ru-RU" sz="1200" dirty="0"/>
              <a:t>/</a:t>
            </a:r>
            <a:r>
              <a:rPr lang="ru-RU" sz="1200" dirty="0" err="1"/>
              <a:t>phd</a:t>
            </a:r>
            <a:r>
              <a:rPr lang="ru-RU" sz="1200" dirty="0"/>
              <a:t>/ec2-6.pdf</a:t>
            </a:r>
          </a:p>
        </p:txBody>
      </p:sp>
    </p:spTree>
    <p:extLst>
      <p:ext uri="{BB962C8B-B14F-4D97-AF65-F5344CB8AC3E}">
        <p14:creationId xmlns:p14="http://schemas.microsoft.com/office/powerpoint/2010/main" val="82478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728CA-EF5A-F8A7-5C98-5AF82A7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199195-BD5C-8558-68D8-AABE8A3E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47" y="964504"/>
            <a:ext cx="11611627" cy="5528371"/>
          </a:xfrm>
        </p:spPr>
        <p:txBody>
          <a:bodyPr/>
          <a:lstStyle/>
          <a:p>
            <a:r>
              <a:rPr lang="ru-RU" sz="2200" dirty="0"/>
              <a:t>Казуальность по Грейнджеру помогает выявлять </a:t>
            </a:r>
            <a:r>
              <a:rPr lang="en-US" sz="2200" i="1" dirty="0" err="1"/>
              <a:t>стати</a:t>
            </a:r>
            <a:r>
              <a:rPr lang="ru-RU" sz="2200" i="1" dirty="0" err="1"/>
              <a:t>стические</a:t>
            </a:r>
            <a:r>
              <a:rPr lang="ru-RU" sz="2200" i="1" dirty="0"/>
              <a:t> причинные связи</a:t>
            </a:r>
            <a:r>
              <a:rPr lang="ru-RU" sz="2200" dirty="0"/>
              <a:t>, но не доказывает их.</a:t>
            </a:r>
          </a:p>
          <a:p>
            <a:pPr marL="285750" indent="-285750"/>
            <a:r>
              <a:rPr lang="ru-RU" sz="2200" dirty="0"/>
              <a:t>Всегда интерпретируйте результаты в контексте предметной области.</a:t>
            </a:r>
          </a:p>
          <a:p>
            <a:pPr marL="285750" indent="-285750"/>
            <a:r>
              <a:rPr lang="ru-RU" sz="2200" dirty="0"/>
              <a:t>Совмещайте статистические тесты с экспертными знаниями.</a:t>
            </a:r>
          </a:p>
          <a:p>
            <a:pPr marL="285750" indent="-285750"/>
            <a:r>
              <a:rPr lang="ru-RU" sz="2200" dirty="0"/>
              <a:t>Ложная казуальность возможна при:</a:t>
            </a:r>
          </a:p>
          <a:p>
            <a:pPr marL="742950" lvl="1" indent="-285750"/>
            <a:r>
              <a:rPr lang="ru-RU" sz="2200" dirty="0"/>
              <a:t>Наличии скрытой (латентной) переменной, влияющей на оба ряда.</a:t>
            </a:r>
          </a:p>
          <a:p>
            <a:pPr marL="742950" lvl="1" indent="-285750"/>
            <a:r>
              <a:rPr lang="ru-RU" sz="2200" dirty="0"/>
              <a:t>Неправильном выборе лага </a:t>
            </a:r>
            <a:r>
              <a:rPr lang="en" sz="2200" i="1" dirty="0"/>
              <a:t>p</a:t>
            </a:r>
            <a:r>
              <a:rPr lang="en" sz="2200" dirty="0"/>
              <a:t> .</a:t>
            </a:r>
          </a:p>
          <a:p>
            <a:pPr marL="742950" lvl="1" indent="-285750"/>
            <a:r>
              <a:rPr lang="ru-RU" sz="2200" dirty="0"/>
              <a:t>Нестационарности рядов </a:t>
            </a:r>
            <a:endParaRPr lang="en-US" sz="2200" dirty="0"/>
          </a:p>
          <a:p>
            <a:pPr marL="0" indent="0">
              <a:buNone/>
            </a:pPr>
            <a:r>
              <a:rPr lang="en-US" sz="2400" dirty="0" err="1"/>
              <a:t>П</a:t>
            </a:r>
            <a:r>
              <a:rPr lang="ru-RU" sz="2400" dirty="0" err="1"/>
              <a:t>омимо</a:t>
            </a:r>
            <a:r>
              <a:rPr lang="ru-RU" sz="2400" dirty="0"/>
              <a:t> казуальности по Грейнджеру </a:t>
            </a:r>
            <a:r>
              <a:rPr lang="ru-RU" sz="2400" dirty="0" err="1"/>
              <a:t>казулальность</a:t>
            </a:r>
            <a:r>
              <a:rPr lang="ru-RU" sz="2400" dirty="0"/>
              <a:t> может быть более сложной, например условной, сезонной </a:t>
            </a:r>
            <a:br>
              <a:rPr lang="ru-RU" sz="2400" dirty="0"/>
            </a:br>
            <a:r>
              <a:rPr lang="ru-RU" sz="2400" dirty="0"/>
              <a:t>или представлять собой граф (</a:t>
            </a:r>
            <a:r>
              <a:rPr lang="en" sz="2400" dirty="0"/>
              <a:t>causal discovery</a:t>
            </a:r>
            <a:r>
              <a:rPr lang="ru-RU" sz="2400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B3B271-106F-3359-C16F-E315B67B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59" y="4390302"/>
            <a:ext cx="4069915" cy="2277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AD593B-431E-13EF-F915-5CF3D7658901}"/>
              </a:ext>
            </a:extLst>
          </p:cNvPr>
          <p:cNvSpPr txBox="1"/>
          <p:nvPr/>
        </p:nvSpPr>
        <p:spPr>
          <a:xfrm>
            <a:off x="2007365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C2EE9-D502-5FF6-3127-D1A2545D4EAD}"/>
              </a:ext>
            </a:extLst>
          </p:cNvPr>
          <p:cNvSpPr txBox="1"/>
          <p:nvPr/>
        </p:nvSpPr>
        <p:spPr>
          <a:xfrm>
            <a:off x="317326" y="6329685"/>
            <a:ext cx="60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github.com</a:t>
            </a:r>
            <a:r>
              <a:rPr lang="ru-RU" sz="1600" dirty="0"/>
              <a:t>/</a:t>
            </a:r>
            <a:r>
              <a:rPr lang="ru-RU" sz="1600" dirty="0" err="1"/>
              <a:t>jakobrunge</a:t>
            </a:r>
            <a:r>
              <a:rPr lang="ru-RU" sz="1600" dirty="0"/>
              <a:t>/</a:t>
            </a:r>
            <a:r>
              <a:rPr lang="ru-RU" sz="1600" dirty="0" err="1"/>
              <a:t>tigramite</a:t>
            </a:r>
            <a:r>
              <a:rPr lang="ru-RU" sz="1600" dirty="0"/>
              <a:t>/</a:t>
            </a:r>
            <a:r>
              <a:rPr lang="ru-RU" sz="1600" dirty="0" err="1"/>
              <a:t>tree</a:t>
            </a:r>
            <a:r>
              <a:rPr lang="ru-RU" sz="1600" dirty="0"/>
              <a:t>/</a:t>
            </a:r>
            <a:r>
              <a:rPr lang="ru-RU" sz="1600" dirty="0" err="1"/>
              <a:t>master</a:t>
            </a:r>
            <a:r>
              <a:rPr lang="ru-RU" sz="1600" dirty="0"/>
              <a:t>/</a:t>
            </a:r>
            <a:r>
              <a:rPr lang="ru-RU" sz="1600" dirty="0" err="1"/>
              <a:t>tutorials</a:t>
            </a:r>
            <a:r>
              <a:rPr lang="ru-RU" sz="16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61520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E1FF-2767-E424-803E-6A04158E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6FCCA-4C35-E687-EBED-9E7B234D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5DF7BD-7E27-DFCC-2911-D1AE1DF6D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047" y="964504"/>
                <a:ext cx="11611627" cy="5528371"/>
              </a:xfrm>
            </p:spPr>
            <p:txBody>
              <a:bodyPr/>
              <a:lstStyle/>
              <a:p>
                <a:r>
                  <a:rPr lang="ru-RU" sz="2200" dirty="0"/>
                  <a:t>Если известно, то в МВР имеет место казуальность можно </a:t>
                </a:r>
              </a:p>
              <a:p>
                <a:pPr lvl="1"/>
                <a:r>
                  <a:rPr lang="ru-RU" dirty="0"/>
                  <a:t>рассмотреть казуальные ВР отдельно </a:t>
                </a:r>
              </a:p>
              <a:p>
                <a:pPr lvl="1"/>
                <a:r>
                  <a:rPr lang="ru-RU" dirty="0"/>
                  <a:t>Рассмотреть казуальный ВР как экзогенный фактор для остальных ВР</a:t>
                </a:r>
              </a:p>
              <a:p>
                <a:pPr lvl="1"/>
                <a:r>
                  <a:rPr lang="ru-RU" dirty="0"/>
                  <a:t>использовать структурный </a:t>
                </a:r>
                <a:r>
                  <a:rPr lang="en-US" dirty="0"/>
                  <a:t>VAR (</a:t>
                </a:r>
                <a:r>
                  <a:rPr lang="en" dirty="0"/>
                  <a:t>structural VAR, SVAP</a:t>
                </a:r>
                <a:r>
                  <a:rPr lang="en-US" dirty="0"/>
                  <a:t>)</a:t>
                </a:r>
              </a:p>
              <a:p>
                <a:r>
                  <a:rPr lang="ru-RU" sz="2200" dirty="0"/>
                  <a:t>П</a:t>
                </a:r>
                <a:r>
                  <a:rPr lang="en-US" sz="2200" dirty="0" err="1"/>
                  <a:t>у</a:t>
                </a:r>
                <a:r>
                  <a:rPr lang="ru-RU" sz="2200" dirty="0" err="1"/>
                  <a:t>сть</a:t>
                </a:r>
                <a:r>
                  <a:rPr lang="ru-RU" sz="2200" dirty="0"/>
                  <a:t> в МВР параметры упорядочены в обратной последовательности (если </a:t>
                </a:r>
                <a:r>
                  <a:rPr lang="en-US" sz="2200" dirty="0"/>
                  <a:t>X-&gt;Y-&gt;Z,</a:t>
                </a:r>
                <a:r>
                  <a:rPr lang="ru-RU" sz="2200" dirty="0"/>
                  <a:t> то первая пе</a:t>
                </a:r>
                <a:r>
                  <a:rPr lang="en-US" sz="2200" dirty="0" err="1"/>
                  <a:t>р</a:t>
                </a:r>
                <a:r>
                  <a:rPr lang="ru-RU" sz="2200" dirty="0" err="1"/>
                  <a:t>менная</a:t>
                </a:r>
                <a:r>
                  <a:rPr lang="ru-RU" sz="2200" dirty="0"/>
                  <a:t> </a:t>
                </a:r>
                <a:r>
                  <a:rPr lang="en-US" sz="2200" dirty="0"/>
                  <a:t>Z)</a:t>
                </a:r>
              </a:p>
              <a:p>
                <a:r>
                  <a:rPr lang="ru-RU" sz="2400" dirty="0"/>
                  <a:t>Тогда введем структурную матрицу </a:t>
                </a:r>
                <a:r>
                  <a:rPr lang="en-US" sz="2400" dirty="0"/>
                  <a:t>B</a:t>
                </a:r>
                <a:endParaRPr lang="ru-RU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+...=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B</a:t>
                </a:r>
                <a:r>
                  <a:rPr lang="en" sz="2400" dirty="0"/>
                  <a:t> = </a:t>
                </a:r>
                <a:r>
                  <a:rPr lang="en" sz="2400" dirty="0" err="1"/>
                  <a:t>np.asarray</a:t>
                </a:r>
                <a:r>
                  <a:rPr lang="en" sz="2400" dirty="0"/>
                  <a:t>([[1, 0, 0],['E', 1, 0],['E', 'E', 1]])</a:t>
                </a:r>
              </a:p>
              <a:p>
                <a:r>
                  <a:rPr lang="ru-RU" sz="2400" dirty="0"/>
                  <a:t>Могут быть и более сложные виды матрицы</a:t>
                </a:r>
              </a:p>
              <a:p>
                <a:r>
                  <a:rPr lang="ru-RU" sz="2400" dirty="0" err="1"/>
                  <a:t>B</a:t>
                </a:r>
                <a:r>
                  <a:rPr lang="ru-RU" sz="2400" dirty="0"/>
                  <a:t> отражает долгие зависимости, можно также ввести структурные шоки.</a:t>
                </a:r>
              </a:p>
              <a:p>
                <a:endParaRPr lang="ru-RU" sz="24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5DF7BD-7E27-DFCC-2911-D1AE1DF6D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047" y="964504"/>
                <a:ext cx="11611627" cy="5528371"/>
              </a:xfrm>
              <a:blipFill>
                <a:blip r:embed="rId3"/>
                <a:stretch>
                  <a:fillRect l="-655" t="-1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C2FDDE9-ADD0-9FCA-BA23-BC49281AFACC}"/>
              </a:ext>
            </a:extLst>
          </p:cNvPr>
          <p:cNvSpPr txBox="1"/>
          <p:nvPr/>
        </p:nvSpPr>
        <p:spPr>
          <a:xfrm>
            <a:off x="2007365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0173F-8791-21EB-4F95-9D83DD1E7274}"/>
              </a:ext>
            </a:extLst>
          </p:cNvPr>
          <p:cNvSpPr txBox="1"/>
          <p:nvPr/>
        </p:nvSpPr>
        <p:spPr>
          <a:xfrm>
            <a:off x="317326" y="6329685"/>
            <a:ext cx="60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github.com</a:t>
            </a:r>
            <a:r>
              <a:rPr lang="ru-RU" sz="1600" dirty="0"/>
              <a:t>/</a:t>
            </a:r>
            <a:r>
              <a:rPr lang="ru-RU" sz="1600" dirty="0" err="1"/>
              <a:t>jakobrunge</a:t>
            </a:r>
            <a:r>
              <a:rPr lang="ru-RU" sz="1600" dirty="0"/>
              <a:t>/</a:t>
            </a:r>
            <a:r>
              <a:rPr lang="ru-RU" sz="1600" dirty="0" err="1"/>
              <a:t>tigramite</a:t>
            </a:r>
            <a:r>
              <a:rPr lang="ru-RU" sz="1600" dirty="0"/>
              <a:t>/</a:t>
            </a:r>
            <a:r>
              <a:rPr lang="ru-RU" sz="1600" dirty="0" err="1"/>
              <a:t>tree</a:t>
            </a:r>
            <a:r>
              <a:rPr lang="ru-RU" sz="1600" dirty="0"/>
              <a:t>/</a:t>
            </a:r>
            <a:r>
              <a:rPr lang="ru-RU" sz="1600" dirty="0" err="1"/>
              <a:t>master</a:t>
            </a:r>
            <a:r>
              <a:rPr lang="ru-RU" sz="1600" dirty="0"/>
              <a:t>/</a:t>
            </a:r>
            <a:r>
              <a:rPr lang="ru-RU" sz="1600" dirty="0" err="1"/>
              <a:t>tutorials</a:t>
            </a:r>
            <a:r>
              <a:rPr lang="ru-RU" sz="160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08CC6-BB71-E096-6794-DFE5C4F05384}"/>
              </a:ext>
            </a:extLst>
          </p:cNvPr>
          <p:cNvSpPr txBox="1"/>
          <p:nvPr/>
        </p:nvSpPr>
        <p:spPr>
          <a:xfrm>
            <a:off x="7667461" y="6211225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www.laurentoudre.fr</a:t>
            </a:r>
            <a:r>
              <a:rPr lang="ru-RU" dirty="0"/>
              <a:t>/</a:t>
            </a:r>
            <a:r>
              <a:rPr lang="ru-RU" dirty="0" err="1"/>
              <a:t>ast</a:t>
            </a:r>
            <a:r>
              <a:rPr lang="ru-RU" dirty="0"/>
              <a:t>/AST1.pdf</a:t>
            </a:r>
          </a:p>
        </p:txBody>
      </p:sp>
    </p:spTree>
    <p:extLst>
      <p:ext uri="{BB962C8B-B14F-4D97-AF65-F5344CB8AC3E}">
        <p14:creationId xmlns:p14="http://schemas.microsoft.com/office/powerpoint/2010/main" val="247081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6188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Коинтегрированность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5729" y="745208"/>
            <a:ext cx="1160054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/>
              <a:t>Если два ВР X и Y имеют стационарность разностей</a:t>
            </a:r>
            <a:r>
              <a:rPr lang="en-US" sz="2400" dirty="0"/>
              <a:t> </a:t>
            </a:r>
            <a:r>
              <a:rPr lang="ru-RU" sz="2400" dirty="0"/>
              <a:t> I(1) и если существует θ , такое, что Y− </a:t>
            </a:r>
            <a:r>
              <a:rPr lang="ru-RU" sz="2400" dirty="0" err="1"/>
              <a:t>θX</a:t>
            </a:r>
            <a:r>
              <a:rPr lang="ru-RU" sz="2400" dirty="0"/>
              <a:t> равно I(0) , то X и Y </a:t>
            </a:r>
            <a:r>
              <a:rPr lang="ru-RU" sz="2400" dirty="0" err="1"/>
              <a:t>коинтегрированы</a:t>
            </a:r>
            <a:r>
              <a:rPr lang="ru-RU" sz="2400" dirty="0"/>
              <a:t>. Иными словами, X и Y имеют одинаковый или общий стохастический тренд этот тренд можно устранить, взяв разницу ВР.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/>
              <a:t>Технически </a:t>
            </a:r>
            <a:r>
              <a:rPr lang="ru-RU" sz="2400" dirty="0" err="1"/>
              <a:t>коинтеграция</a:t>
            </a:r>
            <a:r>
              <a:rPr lang="ru-RU" sz="2400" dirty="0"/>
              <a:t> может быть и выше 1 порядка.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err="1"/>
              <a:t>Коинтеграция</a:t>
            </a:r>
            <a:r>
              <a:rPr lang="ru-RU" sz="2400" dirty="0"/>
              <a:t> может быть для нескольких рядов, не только для двух.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400" dirty="0"/>
          </a:p>
        </p:txBody>
      </p:sp>
      <p:pic>
        <p:nvPicPr>
          <p:cNvPr id="1026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4" b="9332"/>
          <a:stretch/>
        </p:blipFill>
        <p:spPr bwMode="auto">
          <a:xfrm>
            <a:off x="6610120" y="2855701"/>
            <a:ext cx="5460848" cy="300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55022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52" y="5623003"/>
            <a:ext cx="1199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Интуиция</a:t>
            </a:r>
            <a:r>
              <a:rPr lang="ru-RU" sz="2000" dirty="0"/>
              <a:t>: если авторегрессия – это зависимость ВР </a:t>
            </a:r>
            <a:r>
              <a:rPr lang="en-US" sz="2000" dirty="0"/>
              <a:t>Y</a:t>
            </a:r>
            <a:r>
              <a:rPr lang="ru-RU" sz="2000" dirty="0"/>
              <a:t> от своих лагов, </a:t>
            </a:r>
            <a:br>
              <a:rPr lang="ru-RU" sz="2000" dirty="0"/>
            </a:br>
            <a:r>
              <a:rPr lang="ru-RU" sz="2000" dirty="0"/>
              <a:t>то </a:t>
            </a:r>
            <a:r>
              <a:rPr lang="ru-RU" sz="2000" dirty="0" err="1"/>
              <a:t>коинтеграция</a:t>
            </a:r>
            <a:r>
              <a:rPr lang="ru-RU" sz="2000" dirty="0"/>
              <a:t> – зависимость от ВР </a:t>
            </a:r>
            <a:r>
              <a:rPr lang="en-US" sz="2000" dirty="0"/>
              <a:t>Y </a:t>
            </a:r>
            <a:r>
              <a:rPr lang="ru-RU" sz="2000" dirty="0"/>
              <a:t>от лагов другого ВР</a:t>
            </a:r>
            <a:r>
              <a:rPr lang="en-US" sz="2000" dirty="0"/>
              <a:t> X</a:t>
            </a:r>
            <a:r>
              <a:rPr lang="ru-RU" sz="2000" dirty="0"/>
              <a:t>.</a:t>
            </a:r>
            <a:r>
              <a:rPr lang="en-US" sz="2000" dirty="0"/>
              <a:t> </a:t>
            </a:r>
            <a:r>
              <a:rPr lang="ru-RU" sz="2000" dirty="0"/>
              <a:t> Например если </a:t>
            </a:r>
            <a:r>
              <a:rPr lang="en-US" sz="2000" dirty="0"/>
              <a:t>e X </a:t>
            </a:r>
            <a:r>
              <a:rPr lang="ru-RU" sz="2000" dirty="0"/>
              <a:t>и </a:t>
            </a:r>
            <a:r>
              <a:rPr lang="en-US" sz="2000" dirty="0"/>
              <a:t>Y </a:t>
            </a:r>
            <a:r>
              <a:rPr lang="ru-RU" sz="2000" dirty="0"/>
              <a:t>совместный тренд.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83621"/>
            <a:ext cx="4449896" cy="288695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76250" y="6265530"/>
            <a:ext cx="11617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Напр. Brent−0.8⋅Бензин−0.7⋅Дизель∼I(0)</a:t>
            </a:r>
            <a:r>
              <a:rPr lang="en-US" i="1" dirty="0"/>
              <a:t>-</a:t>
            </a:r>
            <a:r>
              <a:rPr lang="ru-RU" i="1" dirty="0"/>
              <a:t> маржа между нефтью и продуктами стабильна — возможен арбитраж.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498304" y="2657789"/>
            <a:ext cx="5081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 U.S. 3-month treasury bills, U.S. 10-years treasury bonds </a:t>
            </a:r>
            <a:endParaRPr lang="ru-RU" sz="1600" dirty="0"/>
          </a:p>
        </p:txBody>
      </p:sp>
      <p:pic>
        <p:nvPicPr>
          <p:cNvPr id="12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5" t="5782" r="32452" b="89203"/>
          <a:stretch/>
        </p:blipFill>
        <p:spPr bwMode="auto">
          <a:xfrm>
            <a:off x="7281804" y="3194255"/>
            <a:ext cx="1333501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211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7643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Коинтегрированность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dirty="0"/>
                  <a:t>Если два ВР X и Y имеют стационарность разностей</a:t>
                </a:r>
                <a:r>
                  <a:rPr lang="en-US" sz="2400" dirty="0"/>
                  <a:t> </a:t>
                </a:r>
                <a:r>
                  <a:rPr lang="ru-RU" sz="2400" dirty="0"/>
                  <a:t> I(1) и если существует θ , такое, что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равно I(0) , то X и Y </a:t>
                </a:r>
                <a:r>
                  <a:rPr lang="ru-RU" sz="2400" dirty="0" err="1"/>
                  <a:t>коинтегрированы</a:t>
                </a:r>
                <a:r>
                  <a:rPr lang="ru-RU" sz="2400" dirty="0"/>
                  <a:t>. 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известна, </a:t>
                </a:r>
                <a:r>
                  <a:rPr lang="ru-RU" sz="2400" dirty="0" err="1"/>
                  <a:t>коинтеграция</a:t>
                </a:r>
                <a:r>
                  <a:rPr lang="ru-RU" sz="2400" dirty="0"/>
                  <a:t> – проверка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 на стационарность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не известна, то можно оценить регрессией и проверить остатки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 на стационарность (тест </a:t>
                </a:r>
                <a:r>
                  <a:rPr lang="ru-RU" sz="2400" dirty="0" err="1"/>
                  <a:t>Энгла</a:t>
                </a:r>
                <a:r>
                  <a:rPr lang="ru-RU" sz="2400" dirty="0"/>
                  <a:t>–</a:t>
                </a:r>
                <a:r>
                  <a:rPr lang="ru-RU" sz="2400" dirty="0" err="1"/>
                  <a:t>Грейнджера</a:t>
                </a:r>
                <a:r>
                  <a:rPr lang="ru-RU" sz="2400" dirty="0"/>
                  <a:t> (</a:t>
                </a:r>
                <a:r>
                  <a:rPr lang="en-US" sz="2400" dirty="0"/>
                  <a:t>Engle-Granger)</a:t>
                </a:r>
                <a:r>
                  <a:rPr lang="ru-RU" sz="240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Также можно оценить </a:t>
                </a:r>
                <a:r>
                  <a:rPr lang="ru-RU" sz="2400" dirty="0" err="1"/>
                  <a:t>коинтеграцию</a:t>
                </a:r>
                <a:r>
                  <a:rPr lang="ru-RU" sz="2400" dirty="0"/>
                  <a:t> как добавку к </a:t>
                </a:r>
                <a:r>
                  <a:rPr lang="en-US" sz="2400" dirty="0"/>
                  <a:t>VAR:</a:t>
                </a:r>
              </a:p>
              <a:p>
                <a:pPr marL="914400" lvl="2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</a:t>
                </a:r>
                <a:r>
                  <a:rPr lang="en-US" dirty="0"/>
                  <a:t>VAR,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– </a:t>
                </a:r>
                <a:r>
                  <a:rPr lang="ru-RU" b="1" dirty="0"/>
                  <a:t>матрица </a:t>
                </a:r>
                <a:r>
                  <a:rPr lang="ru-RU" b="1" dirty="0" err="1"/>
                  <a:t>коинтеграции</a:t>
                </a:r>
                <a:r>
                  <a:rPr lang="ru-RU" b="1" dirty="0"/>
                  <a:t> ранга </a:t>
                </a:r>
                <a:r>
                  <a:rPr lang="en-US" b="1" dirty="0"/>
                  <a:t>r</a:t>
                </a:r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b="0" i="0" dirty="0">
                    <a:latin typeface="+mj-lt"/>
                  </a:rPr>
                  <a:t>нет </a:t>
                </a:r>
                <a:r>
                  <a:rPr lang="ru-RU" b="0" i="0" dirty="0" err="1">
                    <a:latin typeface="+mj-lt"/>
                  </a:rPr>
                  <a:t>коинтеграций</a:t>
                </a:r>
                <a:r>
                  <a:rPr lang="ru-RU" b="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(число ВР) – есть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ru-RU" sz="2000" dirty="0" err="1"/>
                  <a:t>коинтеграций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все ВР стационарны (все и так I(0))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</a:t>
                </a:r>
                <a:r>
                  <a:rPr lang="ru-RU" i="1" dirty="0"/>
                  <a:t>проверка статистик на </a:t>
                </a:r>
                <a:r>
                  <a:rPr lang="en-US" i="1" dirty="0"/>
                  <a:t>r 2 </a:t>
                </a:r>
                <a:r>
                  <a:rPr lang="ru-RU" i="1" dirty="0"/>
                  <a:t>особыми способами!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Тест матрицы </a:t>
                </a:r>
                <a:r>
                  <a:rPr lang="en-US" b="1" dirty="0"/>
                  <a:t>B</a:t>
                </a:r>
                <a:r>
                  <a:rPr lang="ru-RU" dirty="0"/>
                  <a:t> – </a:t>
                </a:r>
                <a:r>
                  <a:rPr lang="ru-RU" b="1" dirty="0"/>
                  <a:t>тест </a:t>
                </a:r>
                <a:r>
                  <a:rPr lang="ru-RU" b="1" dirty="0" err="1"/>
                  <a:t>Йохансена</a:t>
                </a:r>
                <a:r>
                  <a:rPr lang="ru-RU" b="1" dirty="0"/>
                  <a:t>.</a:t>
                </a:r>
                <a:endParaRPr lang="en-US" b="1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Модель </a:t>
                </a:r>
                <a:r>
                  <a:rPr lang="en-US" dirty="0"/>
                  <a:t>VAR </a:t>
                </a:r>
                <a:r>
                  <a:rPr lang="ru-RU" dirty="0"/>
                  <a:t>для </a:t>
                </a:r>
                <a:r>
                  <a:rPr lang="ru-RU" dirty="0" err="1"/>
                  <a:t>коинтегрированных</a:t>
                </a:r>
                <a:r>
                  <a:rPr lang="ru-RU" dirty="0"/>
                  <a:t> ВР - </a:t>
                </a:r>
                <a:r>
                  <a:rPr lang="es-ES" b="1" dirty="0"/>
                  <a:t>vector error correction model (VECM)</a:t>
                </a:r>
                <a:endParaRPr lang="ru-RU" b="1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  <a:blipFill>
                <a:blip r:embed="rId3"/>
                <a:stretch>
                  <a:fillRect l="-758" t="-1376" r="-8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7715704" y="6317873"/>
            <a:ext cx="43797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https://www.numberanalytics.com/blog/cointegration-basics-time-series</a:t>
            </a:r>
            <a:endParaRPr lang="ru-RU" sz="11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13124" y="6613076"/>
            <a:ext cx="88482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https://eodhd.com/financial-academy/portfolio-performance-examples/benchmark-tracking-and-cointegration-analysis-with-python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122360" y="614734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28080" y="6170950"/>
            <a:ext cx="5125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Интуиция </a:t>
            </a:r>
            <a:r>
              <a:rPr lang="es-ES" b="1" dirty="0"/>
              <a:t>VECM</a:t>
            </a:r>
            <a:r>
              <a:rPr lang="ru-RU" b="1" dirty="0"/>
              <a:t> – это </a:t>
            </a:r>
            <a:r>
              <a:rPr lang="en-US" b="1" dirty="0"/>
              <a:t>VARI</a:t>
            </a:r>
            <a:r>
              <a:rPr lang="ru-RU" b="1" dirty="0"/>
              <a:t> </a:t>
            </a:r>
            <a:r>
              <a:rPr lang="en-US" b="1" dirty="0"/>
              <a:t> + </a:t>
            </a:r>
            <a:r>
              <a:rPr lang="ru-RU" b="1" dirty="0"/>
              <a:t>взаимные эффекты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257800" y="650535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dirty="0"/>
              <a:t>https://readmedium.com/unveiling-cointegration-johansen-test-explained-with-python-examples-db8385219f1f</a:t>
            </a:r>
          </a:p>
        </p:txBody>
      </p:sp>
    </p:spTree>
    <p:extLst>
      <p:ext uri="{BB962C8B-B14F-4D97-AF65-F5344CB8AC3E}">
        <p14:creationId xmlns:p14="http://schemas.microsoft.com/office/powerpoint/2010/main" val="3617524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223E7-A524-671B-448B-011E3889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32" y="206679"/>
            <a:ext cx="11461315" cy="707721"/>
          </a:xfrm>
        </p:spPr>
        <p:txBody>
          <a:bodyPr>
            <a:normAutofit/>
          </a:bodyPr>
          <a:lstStyle/>
          <a:p>
            <a:r>
              <a:rPr lang="ru-RU" b="1"/>
              <a:t>Глобальные объясняющие факторы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3A2CAC-5605-60BB-73D3-81454D6A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3" y="826718"/>
            <a:ext cx="11532294" cy="5824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ряде МВР могут присутствовать общие объясняющие переменные, напр.:</a:t>
            </a:r>
          </a:p>
          <a:p>
            <a:r>
              <a:rPr lang="ru-RU" sz="2400" dirty="0"/>
              <a:t>Все датчики температуры двигателя растут вместе при перегреве</a:t>
            </a:r>
          </a:p>
          <a:p>
            <a:r>
              <a:rPr lang="ru-RU" sz="2400" dirty="0"/>
              <a:t>Акции в одной отрасли движутся синхронно напр. в зависимости от курса валют</a:t>
            </a: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F75D77D-75FE-80FB-E60C-E7FC165FC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670039"/>
              </p:ext>
            </p:extLst>
          </p:nvPr>
        </p:nvGraphicFramePr>
        <p:xfrm>
          <a:off x="329853" y="3429000"/>
          <a:ext cx="11118935" cy="2953980"/>
        </p:xfrm>
        <a:graphic>
          <a:graphicData uri="http://schemas.openxmlformats.org/drawingml/2006/table">
            <a:tbl>
              <a:tblPr/>
              <a:tblGrid>
                <a:gridCol w="5131495">
                  <a:extLst>
                    <a:ext uri="{9D8B030D-6E8A-4147-A177-3AD203B41FA5}">
                      <a16:colId xmlns:a16="http://schemas.microsoft.com/office/drawing/2014/main" val="3559473103"/>
                    </a:ext>
                  </a:extLst>
                </a:gridCol>
                <a:gridCol w="5987440">
                  <a:extLst>
                    <a:ext uri="{9D8B030D-6E8A-4147-A177-3AD203B41FA5}">
                      <a16:colId xmlns:a16="http://schemas.microsoft.com/office/drawing/2014/main" val="32182090"/>
                    </a:ext>
                  </a:extLst>
                </a:gridCol>
              </a:tblGrid>
              <a:tr h="198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Сигнал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Интерпретация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315891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Высокая корреляция между переменными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Возможен общий фактор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808944"/>
                  </a:ext>
                </a:extLst>
              </a:tr>
              <a:tr h="665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Первая главная компонента объясняет &gt;70% дисперсии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PCA 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выделил доминирующий режим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036815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Granger-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показывает "всё вызывает всё"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Возможно, общий фактор влияет на всех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37492"/>
                  </a:ext>
                </a:extLst>
              </a:tr>
              <a:tr h="354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Остатки после </a:t>
                      </a:r>
                      <a:r>
                        <a:rPr lang="en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 </a:t>
                      </a: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</a:t>
                      </a:r>
                      <a:r>
                        <a:rPr lang="en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i.i.d. (BDS </a:t>
                      </a: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значим)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Есть скрытая структура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74546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Сезонность или тренд в остатках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учтён внешний фактор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98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271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DCAB-041C-C16F-ED55-7E5C48E4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19ED7-4CF8-86DC-12FD-195160CD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32" y="206679"/>
            <a:ext cx="11461315" cy="707721"/>
          </a:xfrm>
        </p:spPr>
        <p:txBody>
          <a:bodyPr>
            <a:normAutofit/>
          </a:bodyPr>
          <a:lstStyle/>
          <a:p>
            <a:r>
              <a:rPr lang="ru-RU" b="1" dirty="0"/>
              <a:t>Глобальные объясняющие факторы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EB7F0C-22A6-2B63-9324-6BA1F1321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3" y="826718"/>
            <a:ext cx="11532294" cy="5824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таких случаях нужно отделить их виляние от закономерностей внутри каждого ряда и других связей между переменными. Методы:</a:t>
            </a:r>
          </a:p>
          <a:p>
            <a:r>
              <a:rPr lang="ru-RU" sz="2400" dirty="0"/>
              <a:t>Вычитание скользящего среднего общей переменной (если подходит)</a:t>
            </a:r>
          </a:p>
          <a:p>
            <a:pPr lvl="1"/>
            <a:r>
              <a:rPr lang="ru-RU" dirty="0"/>
              <a:t>Если переменные одной природы!</a:t>
            </a:r>
          </a:p>
          <a:p>
            <a:r>
              <a:rPr lang="ru-RU" sz="2400" dirty="0"/>
              <a:t>Вычитание регрессии одной переменной на другую</a:t>
            </a:r>
          </a:p>
          <a:p>
            <a:pPr lvl="1"/>
            <a:r>
              <a:rPr lang="ru-RU" dirty="0"/>
              <a:t>Если связь линейная</a:t>
            </a:r>
          </a:p>
          <a:p>
            <a:r>
              <a:rPr lang="ru-RU" sz="2400" dirty="0"/>
              <a:t>Интерпретация переменной как экзогенного фактора</a:t>
            </a:r>
          </a:p>
          <a:p>
            <a:pPr lvl="1"/>
            <a:r>
              <a:rPr lang="ru-RU" dirty="0"/>
              <a:t>Если модель правильно учтет переменную</a:t>
            </a:r>
          </a:p>
          <a:p>
            <a:r>
              <a:rPr lang="ru-RU" sz="2400" dirty="0"/>
              <a:t>Методы сжатия - восстановления размерности</a:t>
            </a:r>
          </a:p>
          <a:p>
            <a:pPr lvl="1"/>
            <a:r>
              <a:rPr lang="ru-RU" dirty="0"/>
              <a:t>Напр. метод главных компонент (</a:t>
            </a:r>
            <a:r>
              <a:rPr lang="en-US" dirty="0"/>
              <a:t>PCA -&gt; </a:t>
            </a:r>
            <a:r>
              <a:rPr lang="ru-RU" dirty="0"/>
              <a:t>восстановление без 0-й компоненты </a:t>
            </a:r>
            <a:r>
              <a:rPr lang="en-US" dirty="0"/>
              <a:t>PCA)</a:t>
            </a:r>
            <a:endParaRPr lang="ru-RU" dirty="0"/>
          </a:p>
          <a:p>
            <a:pPr lvl="1"/>
            <a:r>
              <a:rPr lang="ru-RU" dirty="0"/>
              <a:t>Или метод </a:t>
            </a:r>
            <a:r>
              <a:rPr lang="ru-RU" dirty="0" err="1"/>
              <a:t>автоэнкодера</a:t>
            </a:r>
            <a:r>
              <a:rPr lang="ru-RU" dirty="0"/>
              <a:t> (зануление 0 компоненты скрытого пространства)</a:t>
            </a:r>
          </a:p>
          <a:p>
            <a:pPr lvl="1"/>
            <a:r>
              <a:rPr lang="ru-RU" dirty="0"/>
              <a:t>0-я компонента – как правило общая тенденция</a:t>
            </a:r>
          </a:p>
          <a:p>
            <a:pPr lvl="1"/>
            <a:r>
              <a:rPr lang="ru-RU" dirty="0"/>
              <a:t>Проверка: компонента влияет на остальные (казуальность, корреляция)</a:t>
            </a:r>
          </a:p>
          <a:p>
            <a:pPr marL="457200" lvl="1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3017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310A8-1639-074E-D1B0-CAC9C025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21" y="365126"/>
            <a:ext cx="11103279" cy="787270"/>
          </a:xfrm>
        </p:spPr>
        <p:txBody>
          <a:bodyPr/>
          <a:lstStyle/>
          <a:p>
            <a:r>
              <a:rPr lang="ru-RU" dirty="0" err="1"/>
              <a:t>Сумматризация</a:t>
            </a:r>
            <a:r>
              <a:rPr lang="ru-RU" dirty="0"/>
              <a:t> тестов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9037AD2-3D62-1E05-80BD-810A0CC0B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3698681"/>
              </p:ext>
            </p:extLst>
          </p:nvPr>
        </p:nvGraphicFramePr>
        <p:xfrm>
          <a:off x="250521" y="1152396"/>
          <a:ext cx="11448790" cy="5494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71">
                  <a:extLst>
                    <a:ext uri="{9D8B030D-6E8A-4147-A177-3AD203B41FA5}">
                      <a16:colId xmlns:a16="http://schemas.microsoft.com/office/drawing/2014/main" val="1144837396"/>
                    </a:ext>
                  </a:extLst>
                </a:gridCol>
                <a:gridCol w="2071421">
                  <a:extLst>
                    <a:ext uri="{9D8B030D-6E8A-4147-A177-3AD203B41FA5}">
                      <a16:colId xmlns:a16="http://schemas.microsoft.com/office/drawing/2014/main" val="3680973962"/>
                    </a:ext>
                  </a:extLst>
                </a:gridCol>
                <a:gridCol w="2738573">
                  <a:extLst>
                    <a:ext uri="{9D8B030D-6E8A-4147-A177-3AD203B41FA5}">
                      <a16:colId xmlns:a16="http://schemas.microsoft.com/office/drawing/2014/main" val="4292674020"/>
                    </a:ext>
                  </a:extLst>
                </a:gridCol>
                <a:gridCol w="4246325">
                  <a:extLst>
                    <a:ext uri="{9D8B030D-6E8A-4147-A177-3AD203B41FA5}">
                      <a16:colId xmlns:a16="http://schemas.microsoft.com/office/drawing/2014/main" val="1747132449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r>
                        <a:rPr lang="ru-RU" sz="2200" dirty="0"/>
                        <a:t>Тип МВР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Тест на 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Дополнительные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2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Стационарный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AD</a:t>
                      </a:r>
                      <a:r>
                        <a:rPr lang="en-US" sz="2200" dirty="0"/>
                        <a:t>F, KPSS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VAR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Обработка каждого ВР отдельно (</a:t>
                      </a:r>
                      <a:r>
                        <a:rPr lang="ru-RU" sz="2200" dirty="0" err="1"/>
                        <a:t>диф</a:t>
                      </a:r>
                      <a:r>
                        <a:rPr lang="ru-RU" sz="2200" dirty="0"/>
                        <a:t>, лог, STL</a:t>
                      </a:r>
                      <a:r>
                        <a:rPr lang="en-US" sz="2200" dirty="0"/>
                        <a:t>)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32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корреляции</a:t>
                      </a:r>
                      <a:r>
                        <a:rPr lang="en-US" sz="2200" dirty="0"/>
                        <a:t> + </a:t>
                      </a:r>
                      <a:r>
                        <a:rPr lang="en-US" sz="2200" dirty="0" err="1"/>
                        <a:t>стац</a:t>
                      </a:r>
                      <a:r>
                        <a:rPr lang="ru-RU" sz="2200" dirty="0" err="1"/>
                        <a:t>ионарность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Cross</a:t>
                      </a:r>
                      <a:r>
                        <a:rPr lang="en-US" sz="2200" dirty="0"/>
                        <a:t>-</a:t>
                      </a:r>
                      <a:r>
                        <a:rPr lang="en-US" sz="2200" dirty="0" err="1"/>
                        <a:t>corr</a:t>
                      </a:r>
                      <a:r>
                        <a:rPr lang="en-US" sz="2200" dirty="0"/>
                        <a:t>, f-test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VAR + </a:t>
                      </a:r>
                      <a:r>
                        <a:rPr lang="ru-RU" sz="2200" dirty="0"/>
                        <a:t>регуляризация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Раздельное моделирование, уменьшение размерности (PC</a:t>
                      </a:r>
                      <a:r>
                        <a:rPr lang="en-US" dirty="0">
                          <a:effectLst/>
                        </a:rPr>
                        <a:t>A)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69703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казуальность</a:t>
                      </a:r>
                      <a:r>
                        <a:rPr lang="en-US" sz="2200" dirty="0"/>
                        <a:t>+ </a:t>
                      </a:r>
                      <a:r>
                        <a:rPr lang="en-US" sz="2200" dirty="0" err="1"/>
                        <a:t>стац</a:t>
                      </a:r>
                      <a:r>
                        <a:rPr lang="ru-RU" sz="2200" dirty="0" err="1"/>
                        <a:t>ионарность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Granger-test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SVAR</a:t>
                      </a:r>
                      <a:r>
                        <a:rPr lang="ru-RU" sz="2200" dirty="0"/>
                        <a:t>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убрать/сделать экзогенными казуальные переменные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Ес</a:t>
                      </a:r>
                      <a:r>
                        <a:rPr lang="ru-RU" sz="2200" dirty="0" err="1"/>
                        <a:t>ть</a:t>
                      </a:r>
                      <a:r>
                        <a:rPr lang="ru-RU" sz="2200" dirty="0"/>
                        <a:t> </a:t>
                      </a:r>
                      <a:r>
                        <a:rPr lang="ru-RU" sz="2200" dirty="0" err="1"/>
                        <a:t>коинтеграции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Johansen test</a:t>
                      </a:r>
                      <a:r>
                        <a:rPr lang="ru-RU" sz="2200" dirty="0"/>
                        <a:t> </a:t>
                      </a:r>
                      <a:r>
                        <a:rPr lang="en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Engle-Granger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VEC</a:t>
                      </a:r>
                      <a:r>
                        <a:rPr lang="en-US" sz="2200" dirty="0"/>
                        <a:t>M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Слоабая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коинтеграция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обычный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первых разностях.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271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Глобальный объясняющий фактор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Проверка первых компонент </a:t>
                      </a:r>
                      <a:r>
                        <a:rPr lang="en-US" sz="2200" dirty="0"/>
                        <a:t>PCA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VARX (</a:t>
                      </a:r>
                      <a:r>
                        <a:rPr lang="en-US" sz="2200" dirty="0" err="1"/>
                        <a:t>гло</a:t>
                      </a:r>
                      <a:r>
                        <a:rPr lang="ru-RU" sz="2200" dirty="0"/>
                        <a:t>бальный фактор-экзогенный)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Устранить влияние фактора</a:t>
                      </a:r>
                    </a:p>
                    <a:p>
                      <a:r>
                        <a:rPr lang="ru-RU" sz="2200" dirty="0"/>
                        <a:t>Через регрессию и вычитание если известен?</a:t>
                      </a:r>
                    </a:p>
                    <a:p>
                      <a:r>
                        <a:rPr lang="ru-RU" sz="2200" dirty="0"/>
                        <a:t> через сжатие - восстановление размерности если неизвестен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96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74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F2355-ECD2-CFE7-1326-3F7024B6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F0CCA-662F-AA58-2402-C436EA6BB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839244"/>
            <a:ext cx="11703485" cy="601875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Многие реальные МВР — нелинейны, </a:t>
            </a:r>
            <a:r>
              <a:rPr lang="ru-RU" sz="2200" dirty="0" err="1"/>
              <a:t>нестационарны</a:t>
            </a:r>
            <a:r>
              <a:rPr lang="ru-RU" sz="2200" dirty="0"/>
              <a:t> и содержат сложные взаимодействия и достаточно большие объемы данных.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ru-RU" sz="2200" dirty="0"/>
              <a:t>этом часто в разы проще собрать единую модель для прогноза на основе всех ВР – глобальную прогнозную модель</a:t>
            </a:r>
            <a:endParaRPr lang="en-US" sz="2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/>
              <a:t>Преимущества глобальных моделей: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Проще поддерживать и отслеживать одну модель, чем несколько.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Поскольку все временные ряды объединяются во время обучения, модель обладает более высокой способностью к обучению, даже если ряды короткие.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Комбинируя несколько временных рядов, модель может отражать более общие закономерности.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 модели можно добавлять дополнительные признаки, например </a:t>
            </a:r>
            <a:r>
              <a:rPr lang="en-US" sz="2200" dirty="0"/>
              <a:t>Granger-test</a:t>
            </a:r>
            <a:r>
              <a:rPr lang="ru-RU" sz="2200" dirty="0"/>
              <a:t>, </a:t>
            </a:r>
            <a:r>
              <a:rPr lang="en-US" sz="2200" dirty="0"/>
              <a:t>Johansen test</a:t>
            </a:r>
            <a:r>
              <a:rPr lang="ru-RU" sz="22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/>
              <a:t>Ограничения глобальных моделей: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ВР не соответствуют одной и той же внутренней динамике, модель может изучить закономерность, которая не отражает ни одну из них.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ВР могут маскировать друг друга, поэтому модель может разную точность для разных моделей.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86B62-A632-F341-B87F-A1546472B4B8}"/>
              </a:ext>
            </a:extLst>
          </p:cNvPr>
          <p:cNvSpPr txBox="1"/>
          <p:nvPr/>
        </p:nvSpPr>
        <p:spPr>
          <a:xfrm>
            <a:off x="6416457" y="6492875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cienciadedatos.net</a:t>
            </a:r>
            <a:r>
              <a:rPr lang="ru-RU" sz="1200" dirty="0"/>
              <a:t>/</a:t>
            </a:r>
            <a:r>
              <a:rPr lang="ru-RU" sz="1200" dirty="0" err="1"/>
              <a:t>documentos</a:t>
            </a:r>
            <a:r>
              <a:rPr lang="ru-RU" sz="1200" dirty="0"/>
              <a:t>/py44-multi-series-forecasting-skforecast</a:t>
            </a:r>
          </a:p>
        </p:txBody>
      </p:sp>
    </p:spTree>
    <p:extLst>
      <p:ext uri="{BB962C8B-B14F-4D97-AF65-F5344CB8AC3E}">
        <p14:creationId xmlns:p14="http://schemas.microsoft.com/office/powerpoint/2010/main" val="39584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DE8D-51B4-38BC-18EA-9CF99CF5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97A1F-0AE1-8AB3-30E6-F034904C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0E5E7C2C-4768-BB16-3E5C-1DD0E64C0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89" y="3581444"/>
            <a:ext cx="7827588" cy="299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o description has been provided for this image">
            <a:extLst>
              <a:ext uri="{FF2B5EF4-FFF2-40B4-BE49-F238E27FC236}">
                <a16:creationId xmlns:a16="http://schemas.microsoft.com/office/drawing/2014/main" id="{64B845F8-1452-975A-2225-955872615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05" b="55251"/>
          <a:stretch>
            <a:fillRect/>
          </a:stretch>
        </p:blipFill>
        <p:spPr bwMode="auto">
          <a:xfrm>
            <a:off x="8331553" y="2141951"/>
            <a:ext cx="3774634" cy="236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o description has been provided for this image">
            <a:extLst>
              <a:ext uri="{FF2B5EF4-FFF2-40B4-BE49-F238E27FC236}">
                <a16:creationId xmlns:a16="http://schemas.microsoft.com/office/drawing/2014/main" id="{FE3EFD21-7CDD-3D5F-FB1F-A80930370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" t="53346" r="43078" b="1905"/>
          <a:stretch>
            <a:fillRect/>
          </a:stretch>
        </p:blipFill>
        <p:spPr bwMode="auto">
          <a:xfrm>
            <a:off x="8567803" y="4577264"/>
            <a:ext cx="3418452" cy="214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B73EB9-A521-0359-F076-60BA61308128}"/>
              </a:ext>
            </a:extLst>
          </p:cNvPr>
          <p:cNvSpPr txBox="1"/>
          <p:nvPr/>
        </p:nvSpPr>
        <p:spPr>
          <a:xfrm>
            <a:off x="917532" y="6581001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independent-multi-time-series-forecasting.html</a:t>
            </a:r>
            <a:endParaRPr lang="ru-RU" sz="1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D6A77-9C3F-3FB9-8C93-86B1F9EA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889" y="977029"/>
            <a:ext cx="11571434" cy="236115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Независимое </a:t>
            </a:r>
            <a:r>
              <a:rPr lang="en-US" sz="2200" dirty="0"/>
              <a:t>ML </a:t>
            </a:r>
            <a:r>
              <a:rPr lang="ru-RU" sz="2200" dirty="0"/>
              <a:t>моделирование - Экономия на числе моделей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Все ВР предсказываются одновременно и независимо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Используется одна модель с разными вход</a:t>
            </a:r>
            <a:r>
              <a:rPr lang="en-US" sz="2200" dirty="0" err="1"/>
              <a:t>а</a:t>
            </a:r>
            <a:r>
              <a:rPr lang="ru-RU" sz="2200" dirty="0"/>
              <a:t>ми</a:t>
            </a:r>
          </a:p>
        </p:txBody>
      </p:sp>
    </p:spTree>
    <p:extLst>
      <p:ext uri="{BB962C8B-B14F-4D97-AF65-F5344CB8AC3E}">
        <p14:creationId xmlns:p14="http://schemas.microsoft.com/office/powerpoint/2010/main" val="171881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E07F-4A80-3AAA-DD72-D48DC70E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A7EB9-BF18-C31D-8BB8-100F3B72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718CDC-A096-2FD4-15B5-5DF511104DFC}"/>
              </a:ext>
            </a:extLst>
          </p:cNvPr>
          <p:cNvSpPr txBox="1"/>
          <p:nvPr/>
        </p:nvSpPr>
        <p:spPr>
          <a:xfrm>
            <a:off x="917532" y="6581001"/>
            <a:ext cx="8113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en" sz="1200" dirty="0"/>
              <a:t>dependent-multi-series-multivariate-forecasting</a:t>
            </a:r>
            <a:r>
              <a:rPr lang="ru-RU" sz="1200" dirty="0"/>
              <a:t>.</a:t>
            </a:r>
            <a:r>
              <a:rPr lang="ru-RU" sz="1200" dirty="0" err="1"/>
              <a:t>html</a:t>
            </a:r>
            <a:endParaRPr lang="ru-RU" sz="1200" dirty="0"/>
          </a:p>
        </p:txBody>
      </p:sp>
      <p:pic>
        <p:nvPicPr>
          <p:cNvPr id="7174" name="Picture 6" descr="No description has been provided for this image">
            <a:extLst>
              <a:ext uri="{FF2B5EF4-FFF2-40B4-BE49-F238E27FC236}">
                <a16:creationId xmlns:a16="http://schemas.microsoft.com/office/drawing/2014/main" id="{57BFD057-BE3B-DAD3-9AE6-E8644B850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67589"/>
            <a:ext cx="7202466" cy="32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58AC149-2662-0B1C-4DBF-870DAB089E76}"/>
              </a:ext>
            </a:extLst>
          </p:cNvPr>
          <p:cNvSpPr txBox="1">
            <a:spLocks/>
          </p:cNvSpPr>
          <p:nvPr/>
        </p:nvSpPr>
        <p:spPr>
          <a:xfrm>
            <a:off x="6070728" y="1002079"/>
            <a:ext cx="6035459" cy="5515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4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A72B7C35-8818-C2B8-3175-469FA347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7" y="977030"/>
            <a:ext cx="11028123" cy="215589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Зависимое моделирование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Результат предсказания одной переменной – вход другой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То есть каждая модель зависит как от предыдущих значений одного ВР так и другого ВР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Возможно потребуются разные модели для разных ВР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Моделируется связи между переменными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559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79C28D-AC9E-A12C-9800-272F83BC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24EE3-0115-4096-7A8F-8ACBCDE4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365126"/>
            <a:ext cx="11078227" cy="31591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Особенности анализа сверх больших массивов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8F7207-602B-1BF6-F43A-E6F1D44E2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789140"/>
            <a:ext cx="11498893" cy="5703734"/>
          </a:xfrm>
        </p:spPr>
        <p:txBody>
          <a:bodyPr/>
          <a:lstStyle/>
          <a:p>
            <a:r>
              <a:rPr lang="ru-RU" sz="1800" dirty="0"/>
              <a:t>Под сверхбольшими массивами ВР мы понимаем:</a:t>
            </a:r>
          </a:p>
          <a:p>
            <a:r>
              <a:rPr lang="ru-RU" sz="1800" dirty="0"/>
              <a:t>Длительность: </a:t>
            </a:r>
            <a:r>
              <a:rPr lang="en" sz="1800" i="1" dirty="0"/>
              <a:t>T</a:t>
            </a:r>
            <a:r>
              <a:rPr lang="en" sz="1800" dirty="0"/>
              <a:t>&gt;106 </a:t>
            </a:r>
            <a:r>
              <a:rPr lang="ru-RU" sz="1800" dirty="0"/>
              <a:t>наблюдений (например, данные с датчиков с частотой 1 Гц за несколько лет).</a:t>
            </a:r>
          </a:p>
          <a:p>
            <a:r>
              <a:rPr lang="ru-RU" sz="1800" dirty="0"/>
              <a:t>Многомерность(Масштаб): </a:t>
            </a:r>
            <a:r>
              <a:rPr lang="en" sz="1800" i="1" dirty="0"/>
              <a:t>d</a:t>
            </a:r>
            <a:r>
              <a:rPr lang="en" sz="1800" dirty="0"/>
              <a:t>&gt;1000 </a:t>
            </a:r>
            <a:r>
              <a:rPr lang="ru-RU" sz="1800" dirty="0"/>
              <a:t>переменных (тысячи датчиков на производственной линии).</a:t>
            </a:r>
          </a:p>
          <a:p>
            <a:r>
              <a:rPr lang="ru-RU" sz="1800" dirty="0"/>
              <a:t>Горизонты прогноза:  достаточно большие</a:t>
            </a:r>
          </a:p>
          <a:p>
            <a:endParaRPr lang="ru-RU" sz="1800" dirty="0"/>
          </a:p>
          <a:p>
            <a:br>
              <a:rPr lang="ru-RU" dirty="0"/>
            </a:b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D6C968-6FE2-1A66-74B7-A8697C4BB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17620"/>
              </p:ext>
            </p:extLst>
          </p:nvPr>
        </p:nvGraphicFramePr>
        <p:xfrm>
          <a:off x="870037" y="2462271"/>
          <a:ext cx="10451926" cy="1760112"/>
        </p:xfrm>
        <a:graphic>
          <a:graphicData uri="http://schemas.openxmlformats.org/drawingml/2006/table">
            <a:tbl>
              <a:tblPr/>
              <a:tblGrid>
                <a:gridCol w="2834081">
                  <a:extLst>
                    <a:ext uri="{9D8B030D-6E8A-4147-A177-3AD203B41FA5}">
                      <a16:colId xmlns:a16="http://schemas.microsoft.com/office/drawing/2014/main" val="2868848429"/>
                    </a:ext>
                  </a:extLst>
                </a:gridCol>
                <a:gridCol w="4140570">
                  <a:extLst>
                    <a:ext uri="{9D8B030D-6E8A-4147-A177-3AD203B41FA5}">
                      <a16:colId xmlns:a16="http://schemas.microsoft.com/office/drawing/2014/main" val="3685004216"/>
                    </a:ext>
                  </a:extLst>
                </a:gridCol>
                <a:gridCol w="3477275">
                  <a:extLst>
                    <a:ext uri="{9D8B030D-6E8A-4147-A177-3AD203B41FA5}">
                      <a16:colId xmlns:a16="http://schemas.microsoft.com/office/drawing/2014/main" val="2672242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Проблема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Причина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Последствие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3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Вычислительная сложность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O(n³)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у </a:t>
                      </a:r>
                      <a:r>
                        <a:rPr lang="en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ARIMA/VAR, 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Невозможно обучить на 1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M+ 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точек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02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Память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Хранение ковариационных матриц, лагов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Переполнение 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RAM</a:t>
                      </a:r>
                      <a:endParaRPr lang="en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047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Стационарность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Долгие ряды почти всегда нестационарны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Модели дают смещённые прогнозы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52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Мультиколлинеарность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Многие ВР коррелируют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Переменные мешают, а не помогают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29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Пропуски и шум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Реальные данные «грязные»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Модели неустойчивы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2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75F56E-71A5-6503-EB19-209346A8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69FBC-C037-C591-CED3-514814F6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365126"/>
            <a:ext cx="11078227" cy="31591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Особенности анализа сверх больших массивов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74CC75-0A52-6803-AE1D-3980F6DC4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789140"/>
            <a:ext cx="11498893" cy="5703734"/>
          </a:xfrm>
        </p:spPr>
        <p:txBody>
          <a:bodyPr>
            <a:normAutofit/>
          </a:bodyPr>
          <a:lstStyle/>
          <a:p>
            <a:r>
              <a:rPr lang="ru-RU" dirty="0"/>
              <a:t>Декомпозиция задачи</a:t>
            </a:r>
            <a:endParaRPr lang="ru-RU" b="1" dirty="0"/>
          </a:p>
          <a:p>
            <a:r>
              <a:rPr lang="ru-RU" dirty="0"/>
              <a:t>По времени: Агрегация данных </a:t>
            </a:r>
          </a:p>
          <a:p>
            <a:r>
              <a:rPr lang="ru-RU" dirty="0"/>
              <a:t>По переменным: кластеризация</a:t>
            </a:r>
            <a:r>
              <a:rPr lang="en" dirty="0"/>
              <a:t>, PCA.</a:t>
            </a:r>
          </a:p>
          <a:p>
            <a:pPr lvl="1"/>
            <a:r>
              <a:rPr lang="ru-RU" dirty="0"/>
              <a:t>Пример: вместо </a:t>
            </a:r>
            <a:r>
              <a:rPr lang="en" dirty="0"/>
              <a:t>VAR(1000) — 100 VAR(10) </a:t>
            </a:r>
            <a:r>
              <a:rPr lang="ru-RU" dirty="0"/>
              <a:t>на кластерах. </a:t>
            </a:r>
          </a:p>
          <a:p>
            <a:endParaRPr lang="ru-RU" sz="1800" dirty="0"/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533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E863B-82FA-8A26-F3C1-29816B52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25" y="365125"/>
            <a:ext cx="11053175" cy="624431"/>
          </a:xfrm>
        </p:spPr>
        <p:txBody>
          <a:bodyPr>
            <a:normAutofit fontScale="90000"/>
          </a:bodyPr>
          <a:lstStyle/>
          <a:p>
            <a:r>
              <a:rPr lang="ru-RU" dirty="0"/>
              <a:t>Онлайн обучение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418E6E2-362A-9003-6BD0-19B65E679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120644"/>
              </p:ext>
            </p:extLst>
          </p:nvPr>
        </p:nvGraphicFramePr>
        <p:xfrm>
          <a:off x="543250" y="1367018"/>
          <a:ext cx="4943475" cy="477012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374589711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457291006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1305253127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Модель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Онлайновая версия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Особенности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04539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Линейная регрессия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SGDRegressor (sklearn)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Обновление весов по одному примеру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17060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SARIMAX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онлайн-обновлением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Через </a:t>
                      </a: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update()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 </a:t>
                      </a: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statsmodels (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ограниченно)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90632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Экспоненциальное сглаживание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Holt-Winters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онлайн-шагом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Рекуррентное обновление параметров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6267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PCA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IncrementalPCA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Постепенное обучение на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батчах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144903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3281D89-5EB1-85C4-DC63-794DC1CC6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980162"/>
              </p:ext>
            </p:extLst>
          </p:nvPr>
        </p:nvGraphicFramePr>
        <p:xfrm>
          <a:off x="5701535" y="1367018"/>
          <a:ext cx="2916371" cy="4657998"/>
        </p:xfrm>
        <a:graphic>
          <a:graphicData uri="http://schemas.openxmlformats.org/drawingml/2006/table">
            <a:tbl>
              <a:tblPr/>
              <a:tblGrid>
                <a:gridCol w="756348">
                  <a:extLst>
                    <a:ext uri="{9D8B030D-6E8A-4147-A177-3AD203B41FA5}">
                      <a16:colId xmlns:a16="http://schemas.microsoft.com/office/drawing/2014/main" val="3249602966"/>
                    </a:ext>
                  </a:extLst>
                </a:gridCol>
                <a:gridCol w="872186">
                  <a:extLst>
                    <a:ext uri="{9D8B030D-6E8A-4147-A177-3AD203B41FA5}">
                      <a16:colId xmlns:a16="http://schemas.microsoft.com/office/drawing/2014/main" val="618606980"/>
                    </a:ext>
                  </a:extLst>
                </a:gridCol>
                <a:gridCol w="1287837">
                  <a:extLst>
                    <a:ext uri="{9D8B030D-6E8A-4147-A177-3AD203B41FA5}">
                      <a16:colId xmlns:a16="http://schemas.microsoft.com/office/drawing/2014/main" val="3607487269"/>
                    </a:ext>
                  </a:extLst>
                </a:gridCol>
              </a:tblGrid>
              <a:tr h="58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Масштабируемость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Когда использовать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17052"/>
                  </a:ext>
                </a:extLst>
              </a:tr>
              <a:tr h="58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 / SARIMA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Низкая (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O(n^2) )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Только на коротких сегментах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116029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VAR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Очень низкая (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O(d^2 n^2) )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 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 &lt; 10  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 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 &lt; 10^4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31838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Exponential Smoothing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Для быстрого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baseline'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а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22834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XGBoost / LightGBM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правильной векторизации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268023"/>
                  </a:ext>
                </a:extLst>
              </a:tr>
              <a:tr h="40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Средняя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малом числе лагов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438209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Ridge / Lasso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регуляризации и отборе признаков</a:t>
                      </a:r>
                      <a:endParaRPr lang="ru-RU" sz="1100" dirty="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5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634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многомерных ВР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582924"/>
              </p:ext>
            </p:extLst>
          </p:nvPr>
        </p:nvGraphicFramePr>
        <p:xfrm>
          <a:off x="374649" y="1437483"/>
          <a:ext cx="11198225" cy="2486025"/>
        </p:xfrm>
        <a:graphic>
          <a:graphicData uri="http://schemas.openxmlformats.org/drawingml/2006/table">
            <a:tbl>
              <a:tblPr/>
              <a:tblGrid>
                <a:gridCol w="2435226">
                  <a:extLst>
                    <a:ext uri="{9D8B030D-6E8A-4147-A177-3AD203B41FA5}">
                      <a16:colId xmlns:a16="http://schemas.microsoft.com/office/drawing/2014/main" val="1298172271"/>
                    </a:ext>
                  </a:extLst>
                </a:gridCol>
                <a:gridCol w="5038725">
                  <a:extLst>
                    <a:ext uri="{9D8B030D-6E8A-4147-A177-3AD203B41FA5}">
                      <a16:colId xmlns:a16="http://schemas.microsoft.com/office/drawing/2014/main" val="2225433765"/>
                    </a:ext>
                  </a:extLst>
                </a:gridCol>
                <a:gridCol w="3724274">
                  <a:extLst>
                    <a:ext uri="{9D8B030D-6E8A-4147-A177-3AD203B41FA5}">
                      <a16:colId xmlns:a16="http://schemas.microsoft.com/office/drawing/2014/main" val="3005667624"/>
                    </a:ext>
                  </a:extLst>
                </a:gridCol>
              </a:tblGrid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Тип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Описание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Пример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36517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Связанные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Переменные влияют друг на друга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и давление в реакторе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701474"/>
                  </a:ext>
                </a:extLst>
              </a:tr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Многосерийные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 независимых рядов (одномерных)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Продажи по 100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196808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Пространственно-временные поля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Данные на сетке (</a:t>
                      </a:r>
                      <a:r>
                        <a:rPr lang="ru-R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гео</a:t>
                      </a: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датчики)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по датчикам в цеху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687255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 иерархией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Ряды связаны иерархически (регион → магазин)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Общие продажи → по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176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5" y="2016125"/>
            <a:ext cx="776287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Преимущества МВР:</a:t>
            </a:r>
            <a:endParaRPr lang="ru-RU" dirty="0"/>
          </a:p>
          <a:p>
            <a:r>
              <a:rPr lang="ru-RU" dirty="0"/>
              <a:t>Учет взаимосвязей между переменными </a:t>
            </a:r>
          </a:p>
          <a:p>
            <a:pPr lvl="1"/>
            <a:r>
              <a:rPr lang="ru-RU" dirty="0"/>
              <a:t>Анализ причинно-следственных связей</a:t>
            </a:r>
          </a:p>
          <a:p>
            <a:pPr lvl="1"/>
            <a:r>
              <a:rPr lang="ru-RU" dirty="0"/>
              <a:t>Обнаружение общих трендов и циклов</a:t>
            </a:r>
          </a:p>
          <a:p>
            <a:r>
              <a:rPr lang="ru-RU" dirty="0"/>
              <a:t>Возможность создания глобальных моделей – одна модель для группы ВР</a:t>
            </a:r>
          </a:p>
          <a:p>
            <a:pPr marL="0" indent="0">
              <a:buNone/>
            </a:pPr>
            <a:r>
              <a:rPr lang="ru-RU" b="1" dirty="0"/>
              <a:t>Проблемы МВР:</a:t>
            </a:r>
            <a:endParaRPr lang="ru-RU" dirty="0"/>
          </a:p>
          <a:p>
            <a:r>
              <a:rPr lang="ru-RU" dirty="0"/>
              <a:t>Усложнение интерпретации</a:t>
            </a:r>
          </a:p>
          <a:p>
            <a:r>
              <a:rPr lang="ru-RU" dirty="0"/>
              <a:t>Усложнение подбора </a:t>
            </a:r>
            <a:r>
              <a:rPr lang="ru-RU" dirty="0" err="1"/>
              <a:t>гиперпараметров</a:t>
            </a:r>
            <a:r>
              <a:rPr lang="ru-RU" dirty="0"/>
              <a:t> глобальных моделей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953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650" y="365125"/>
            <a:ext cx="11106150" cy="815975"/>
          </a:xfrm>
        </p:spPr>
        <p:txBody>
          <a:bodyPr/>
          <a:lstStyle/>
          <a:p>
            <a:r>
              <a:rPr lang="ru-RU" dirty="0"/>
              <a:t>Особенности предварительного анализа МВР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7649" y="1181100"/>
            <a:ext cx="11553825" cy="5286375"/>
          </a:xfrm>
        </p:spPr>
        <p:txBody>
          <a:bodyPr/>
          <a:lstStyle/>
          <a:p>
            <a:r>
              <a:rPr lang="ru-RU" dirty="0"/>
              <a:t>При МВР важно чтобы каждый ряд </a:t>
            </a:r>
            <a:r>
              <a:rPr lang="ru-RU" dirty="0" err="1"/>
              <a:t>небыл</a:t>
            </a:r>
            <a:r>
              <a:rPr lang="ru-RU" dirty="0"/>
              <a:t> сдвинутой копией другого. </a:t>
            </a:r>
          </a:p>
          <a:p>
            <a:pPr lvl="1"/>
            <a:r>
              <a:rPr lang="ru-RU"/>
              <a:t>Все </a:t>
            </a:r>
            <a:r>
              <a:rPr lang="ru-RU" dirty="0"/>
              <a:t>ВР должны быть </a:t>
            </a:r>
            <a:r>
              <a:rPr lang="ru-RU"/>
              <a:t>независимы.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1729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4345</TotalTime>
  <Words>2629</Words>
  <Application>Microsoft Macintosh PowerPoint</Application>
  <PresentationFormat>Широкоэкранный</PresentationFormat>
  <Paragraphs>337</Paragraphs>
  <Slides>25</Slides>
  <Notes>13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Helvetica Neue</vt:lpstr>
      <vt:lpstr>Source Sans Pro</vt:lpstr>
      <vt:lpstr>system-ui</vt:lpstr>
      <vt:lpstr>Work Sans</vt:lpstr>
      <vt:lpstr>Тема Office</vt:lpstr>
      <vt:lpstr>Многомерные временные ряды</vt:lpstr>
      <vt:lpstr>Определение многомерных ВР</vt:lpstr>
      <vt:lpstr>Типы ВР: Многомерные ВР</vt:lpstr>
      <vt:lpstr>Определение многомерных ВР</vt:lpstr>
      <vt:lpstr>Требования и проблемы МВР</vt:lpstr>
      <vt:lpstr>Векторная авторегрессия</vt:lpstr>
      <vt:lpstr>Типы связей в МВР</vt:lpstr>
      <vt:lpstr>Типы связей в МВР</vt:lpstr>
      <vt:lpstr>Казуальность МВР</vt:lpstr>
      <vt:lpstr>Казуальность МВР</vt:lpstr>
      <vt:lpstr>Казуальность МВР</vt:lpstr>
      <vt:lpstr>Коинтегрированность</vt:lpstr>
      <vt:lpstr>Коинтегрированность</vt:lpstr>
      <vt:lpstr>Глобальные объясняющие факторы</vt:lpstr>
      <vt:lpstr>Глобальные объясняющие факторы</vt:lpstr>
      <vt:lpstr>Сумматризация тестов</vt:lpstr>
      <vt:lpstr>Использование МО в МВР</vt:lpstr>
      <vt:lpstr>Использование МО в МВР</vt:lpstr>
      <vt:lpstr>Использование МО в МВР</vt:lpstr>
      <vt:lpstr>Особенности анализа сверх больших массивов ВР</vt:lpstr>
      <vt:lpstr>Особенности анализа сверх больших массивов ВР</vt:lpstr>
      <vt:lpstr>Онлайн обучение</vt:lpstr>
      <vt:lpstr>Типы многомерных ВР</vt:lpstr>
      <vt:lpstr>Презентация PowerPoint</vt:lpstr>
      <vt:lpstr>Особенности предварительного анализа МВР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Многомерные временные ряды</dc:title>
  <dc:creator>Ронкин Михаил Владимирович</dc:creator>
  <cp:lastModifiedBy>Ронкин Михаил Владимирович</cp:lastModifiedBy>
  <cp:revision>37</cp:revision>
  <dcterms:created xsi:type="dcterms:W3CDTF">2025-08-05T06:08:07Z</dcterms:created>
  <dcterms:modified xsi:type="dcterms:W3CDTF">2025-08-10T12:49:59Z</dcterms:modified>
</cp:coreProperties>
</file>