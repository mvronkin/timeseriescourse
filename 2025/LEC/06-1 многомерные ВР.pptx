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60" r:id="rId4"/>
    <p:sldId id="261" r:id="rId5"/>
    <p:sldId id="265" r:id="rId6"/>
    <p:sldId id="264" r:id="rId7"/>
    <p:sldId id="268" r:id="rId8"/>
    <p:sldId id="269" r:id="rId9"/>
    <p:sldId id="271" r:id="rId10"/>
    <p:sldId id="273" r:id="rId11"/>
    <p:sldId id="266" r:id="rId12"/>
    <p:sldId id="267" r:id="rId13"/>
    <p:sldId id="272" r:id="rId14"/>
    <p:sldId id="262" r:id="rId15"/>
    <p:sldId id="259" r:id="rId16"/>
    <p:sldId id="263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70C974-C971-49AB-9DB3-26D8F572511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04A68-FE9C-41D3-96AD-A1A68ED6C4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7778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5841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2166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Brent−0.8⋅Бензин−0.7⋅Дизель∼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(0)</a:t>
            </a:r>
          </a:p>
          <a:p>
            <a:r>
              <a:rPr lang="ru-RU" b="0" dirty="0">
                <a:effectLst/>
              </a:rPr>
              <a:t>Это означает: маржа между нефтью и продуктами стабильна — возможен арбитраж.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822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74776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4437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204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219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482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637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414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7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9187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6594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507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337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6000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287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Многомерные временные ряды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404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/>
              <a:t>Определение многомерных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4" y="904876"/>
            <a:ext cx="11534775" cy="2762249"/>
          </a:xfrm>
        </p:spPr>
        <p:txBody>
          <a:bodyPr/>
          <a:lstStyle/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sz="2400" b="1" dirty="0"/>
              <a:t>Многомерный временной ряд</a:t>
            </a:r>
            <a:r>
              <a:rPr lang="en-US" sz="2400" b="1" dirty="0"/>
              <a:t> </a:t>
            </a:r>
            <a:r>
              <a:rPr lang="ru-RU" sz="2400" b="1" dirty="0"/>
              <a:t>(МВР)</a:t>
            </a:r>
            <a:r>
              <a:rPr lang="ru-RU" sz="2400" dirty="0"/>
              <a:t> - это набор из одномерных временных рядов, наблюдаемых одновременно</a:t>
            </a:r>
            <a:r>
              <a:rPr lang="en-US" sz="2400" dirty="0"/>
              <a:t> </a:t>
            </a:r>
            <a:r>
              <a:rPr lang="ru-RU" sz="2400" b="1" dirty="0"/>
              <a:t>и имеющих общую информацию</a:t>
            </a:r>
            <a:r>
              <a:rPr lang="en-US" sz="2400" b="1" dirty="0"/>
              <a:t>!</a:t>
            </a:r>
            <a:endParaRPr lang="ru-RU" altLang="ru-RU" sz="2400" b="1" dirty="0"/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Экономические показатели: ВВП, инфляция, безработица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Финансовые данные: курсы валют, цены акций, процентные ставки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 err="1"/>
              <a:t>IoT</a:t>
            </a:r>
            <a:r>
              <a:rPr lang="ru-RU" altLang="ru-RU" sz="2400" dirty="0"/>
              <a:t> сенсоры: температура, влажность, давление, освещенность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Веб-аналитика: посещения, конверсия, время на сайте </a:t>
            </a:r>
            <a:endParaRPr lang="ru-RU" dirty="0"/>
          </a:p>
        </p:txBody>
      </p:sp>
      <p:sp>
        <p:nvSpPr>
          <p:cNvPr id="5" name="AutoShape 2" descr="Example of multivariate time series data. | Download Scientific Diagra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975" y="3572895"/>
            <a:ext cx="6738937" cy="305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299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3823" y="250826"/>
            <a:ext cx="11153775" cy="768350"/>
          </a:xfrm>
        </p:spPr>
        <p:txBody>
          <a:bodyPr/>
          <a:lstStyle/>
          <a:p>
            <a:pPr algn="ctr"/>
            <a:r>
              <a:rPr lang="ru-RU" dirty="0"/>
              <a:t>Типы ВР: Многомерные ВР</a:t>
            </a: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8149" y="942976"/>
            <a:ext cx="10372726" cy="574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419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/>
              <a:t>Определение многомерных ВР</a:t>
            </a:r>
          </a:p>
        </p:txBody>
      </p:sp>
      <p:graphicFrame>
        <p:nvGraphicFramePr>
          <p:cNvPr id="4" name="Объект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8697473"/>
              </p:ext>
            </p:extLst>
          </p:nvPr>
        </p:nvGraphicFramePr>
        <p:xfrm>
          <a:off x="142875" y="987425"/>
          <a:ext cx="11553825" cy="310515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772151">
                  <a:extLst>
                    <a:ext uri="{9D8B030D-6E8A-4147-A177-3AD203B41FA5}">
                      <a16:colId xmlns:a16="http://schemas.microsoft.com/office/drawing/2014/main" val="1609488883"/>
                    </a:ext>
                  </a:extLst>
                </a:gridCol>
                <a:gridCol w="5781674">
                  <a:extLst>
                    <a:ext uri="{9D8B030D-6E8A-4147-A177-3AD203B41FA5}">
                      <a16:colId xmlns:a16="http://schemas.microsoft.com/office/drawing/2014/main" val="499434099"/>
                    </a:ext>
                  </a:extLst>
                </a:gridCol>
              </a:tblGrid>
              <a:tr h="193665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Проблема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</a:rPr>
                        <a:t>Решение с помощью МВР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20299146"/>
                  </a:ext>
                </a:extLst>
              </a:tr>
              <a:tr h="307213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Одномерный ряд не улавливает влияние других связанных факторов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Учет взаимного</a:t>
                      </a:r>
                      <a:r>
                        <a:rPr lang="ru-RU" sz="2000" u="none" strike="noStrike" baseline="0" dirty="0">
                          <a:effectLst/>
                        </a:rPr>
                        <a:t> влияния ВР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86143181"/>
                  </a:ext>
                </a:extLst>
              </a:tr>
              <a:tr h="155581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Глобальные экзогенные факторы не учитываются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учитываются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26728713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Нет оценки причинно-следственных связей между</a:t>
                      </a:r>
                      <a:r>
                        <a:rPr lang="ru-RU" sz="2000" u="none" strike="noStrike" baseline="0" dirty="0">
                          <a:effectLst/>
                        </a:rPr>
                        <a:t> всеми связанным переменными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Используем </a:t>
                      </a:r>
                      <a:r>
                        <a:rPr lang="en-US" sz="2000" u="none" strike="noStrike" dirty="0">
                          <a:effectLst/>
                        </a:rPr>
                        <a:t>Granger causality</a:t>
                      </a:r>
                      <a:r>
                        <a:rPr lang="ru-RU" sz="2000" u="none" strike="noStrike" dirty="0"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4732579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Прогноз нестабильности при шоках внешних факторов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u="none" strike="noStrike" dirty="0">
                          <a:effectLst/>
                        </a:rPr>
                        <a:t>МВР учитывает реакцию всей системы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1014944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Много похожих рядов (1000 датчиков температуры в техпроцессе) требуют</a:t>
                      </a:r>
                      <a:r>
                        <a:rPr lang="ru-RU" sz="2000" u="none" strike="noStrike" baseline="0" dirty="0">
                          <a:effectLst/>
                        </a:rPr>
                        <a:t> настройки разных моделей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Глобальные модели + динамические факторы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4201459"/>
                  </a:ext>
                </a:extLst>
              </a:tr>
            </a:tbl>
          </a:graphicData>
        </a:graphic>
      </p:graphicFrame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352425" y="4267199"/>
            <a:ext cx="11344275" cy="2295526"/>
          </a:xfrm>
        </p:spPr>
        <p:txBody>
          <a:bodyPr/>
          <a:lstStyle/>
          <a:p>
            <a:r>
              <a:rPr lang="ru-RU" dirty="0"/>
              <a:t>Если единичные ВР – это описание только соответствующей переменной,</a:t>
            </a:r>
          </a:p>
          <a:p>
            <a:pPr lvl="1"/>
            <a:r>
              <a:rPr lang="ru-RU" dirty="0"/>
              <a:t>ВР с экзогенными факторами – описание ВР и объясняющих его переменных</a:t>
            </a:r>
          </a:p>
          <a:p>
            <a:r>
              <a:rPr lang="ru-RU" dirty="0"/>
              <a:t>То многомерные ВР (МВР) – это описание системы</a:t>
            </a:r>
          </a:p>
          <a:p>
            <a:pPr lvl="1"/>
            <a:r>
              <a:rPr lang="ru-RU" dirty="0"/>
              <a:t>Включает как ВР, так и их связи – более полное описание</a:t>
            </a:r>
          </a:p>
        </p:txBody>
      </p:sp>
    </p:spTree>
    <p:extLst>
      <p:ext uri="{BB962C8B-B14F-4D97-AF65-F5344CB8AC3E}">
        <p14:creationId xmlns:p14="http://schemas.microsoft.com/office/powerpoint/2010/main" val="3980958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175" y="107951"/>
            <a:ext cx="11068050" cy="5969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Векторная авторегрессия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42875" y="600076"/>
                <a:ext cx="11801475" cy="610552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Если все ВР в МВР стационарны</a:t>
                </a:r>
                <a:r>
                  <a:rPr lang="en-US" sz="2400" dirty="0"/>
                  <a:t> </a:t>
                </a:r>
                <a:r>
                  <a:rPr lang="ru-RU" sz="2400" dirty="0"/>
                  <a:t>и не коррелируют, то для каждого ВР можно ввести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sz="24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−1,1</m:t>
                                  </m:r>
                                </m:sub>
                              </m:sSub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…+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+…+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+…+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Где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b="0" i="0" dirty="0">
                    <a:latin typeface="+mj-lt"/>
                  </a:rPr>
                  <a:t>число ВР.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>
                    <a:latin typeface="+mj-lt"/>
                  </a:rPr>
                  <a:t>Или в матричной форме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+...=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>
                    <a:latin typeface="+mj-lt"/>
                  </a:rPr>
                  <a:t>- </a:t>
                </a:r>
                <a:r>
                  <a:rPr lang="ru-RU" sz="2400" b="0" i="0" dirty="0">
                    <a:latin typeface="+mj-lt"/>
                  </a:rPr>
                  <a:t>вектор наблюдений в момент </a:t>
                </a:r>
                <a:r>
                  <a:rPr lang="en-US" sz="2400" b="0" i="0" dirty="0">
                    <a:latin typeface="+mj-lt"/>
                  </a:rPr>
                  <a:t>n;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ru-RU" sz="2400" dirty="0"/>
                  <a:t>вектор предсказаний в момент </a:t>
                </a:r>
                <a:r>
                  <a:rPr lang="en-US" sz="2400" dirty="0"/>
                  <a:t>n+1,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𝑑𝑖𝑎𝑔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ru-RU" sz="2400" dirty="0"/>
                  <a:t>вектор коэффициенты авторегрессии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Модель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 - </a:t>
                </a:r>
                <a:r>
                  <a:rPr lang="ru-RU" sz="2400" b="1" dirty="0"/>
                  <a:t>модель векторной авторегрессии - </a:t>
                </a:r>
                <a:r>
                  <a:rPr lang="en-US" sz="2400" b="1" dirty="0"/>
                  <a:t>VAR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i="1" dirty="0"/>
                  <a:t>Иногда вводят и более полные модели </a:t>
                </a:r>
                <a:r>
                  <a:rPr lang="en-US" sz="2400" i="1" dirty="0"/>
                  <a:t>VARMA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i="1" dirty="0"/>
                  <a:t>	</a:t>
                </a:r>
                <a:r>
                  <a:rPr lang="ru-RU" sz="2000" i="1" dirty="0"/>
                  <a:t>Если ВР не стационары, просто </a:t>
                </a:r>
                <a:r>
                  <a:rPr lang="en-US" sz="2000" i="1" dirty="0"/>
                  <a:t>VARIMA </a:t>
                </a:r>
                <a:r>
                  <a:rPr lang="ru-RU" sz="2000" i="1" dirty="0"/>
                  <a:t>может быть недостаточно! 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2875" y="600076"/>
                <a:ext cx="11801475" cy="6105524"/>
              </a:xfrm>
              <a:blipFill>
                <a:blip r:embed="rId2"/>
                <a:stretch>
                  <a:fillRect l="-860" t="-12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4371974" y="6581777"/>
            <a:ext cx="827722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dirty="0"/>
              <a:t>https://github.com/phdinds-aim/time_series_handbook/blob/main/03_VectorAutoregressiveModels/03_VectorAutoregressiveMethods.ipynb</a:t>
            </a:r>
          </a:p>
        </p:txBody>
      </p:sp>
    </p:spTree>
    <p:extLst>
      <p:ext uri="{BB962C8B-B14F-4D97-AF65-F5344CB8AC3E}">
        <p14:creationId xmlns:p14="http://schemas.microsoft.com/office/powerpoint/2010/main" val="289289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4325" y="136526"/>
            <a:ext cx="11430000" cy="63499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Типы связей в МВР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14325" y="638174"/>
                <a:ext cx="11772900" cy="589597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b="1" dirty="0"/>
                  <a:t>В МВР – </a:t>
                </a:r>
                <a:r>
                  <a:rPr lang="ru-RU" sz="2200" dirty="0"/>
                  <a:t>отдельные</a:t>
                </a:r>
                <a:r>
                  <a:rPr lang="ru-RU" sz="2200" b="1" dirty="0"/>
                  <a:t> </a:t>
                </a:r>
                <a:r>
                  <a:rPr lang="ru-RU" sz="2200" dirty="0"/>
                  <a:t>ВР могут показать зависимость своих значений от других ВР в системе. То есть ВР связаны.</a:t>
                </a:r>
              </a:p>
              <a:p>
                <a:pPr>
                  <a:lnSpc>
                    <a:spcPct val="110000"/>
                  </a:lnSpc>
                </a:pPr>
                <a:r>
                  <a:rPr lang="ru-RU" sz="2200" b="1" dirty="0"/>
                  <a:t>Корреляционная связь </a:t>
                </a:r>
                <a:r>
                  <a:rPr lang="ru-RU" sz="2200" dirty="0"/>
                  <a:t>– ВР имеют линейную зависимость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dirty="0"/>
                  <a:t>Примеры: Температура и давление в баке.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000" b="1" dirty="0"/>
                  <a:t>Сезонная корреляция </a:t>
                </a:r>
                <a:r>
                  <a:rPr lang="ru-RU" sz="2000" dirty="0"/>
                  <a:t>– корреляция с лагом в сезон, </a:t>
                </a:r>
                <a:br>
                  <a:rPr lang="ru-RU" sz="2000" dirty="0"/>
                </a:br>
                <a:r>
                  <a:rPr lang="ru-RU" sz="2100" dirty="0"/>
                  <a:t>например, закупка сырья </a:t>
                </a:r>
                <a14:m>
                  <m:oMath xmlns:m="http://schemas.openxmlformats.org/officeDocument/2006/math">
                    <m:r>
                      <a:rPr lang="ru-RU" sz="2100">
                        <a:latin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ru-RU" sz="2100" dirty="0"/>
                  <a:t> выпуск продукции, Летом выше температура и влажность (есть общий объясняющий фактор)</a:t>
                </a:r>
              </a:p>
              <a:p>
                <a:pPr>
                  <a:lnSpc>
                    <a:spcPct val="110000"/>
                  </a:lnSpc>
                </a:pPr>
                <a:r>
                  <a:rPr lang="ru-RU" sz="2200" b="1" dirty="0"/>
                  <a:t>Казуальная связь </a:t>
                </a:r>
                <a:r>
                  <a:rPr lang="ru-RU" sz="2200" dirty="0"/>
                  <a:t>– один из ВР связан с последующими лагами другого ВР.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b="1" dirty="0"/>
                  <a:t>Примеры: </a:t>
                </a:r>
                <a:r>
                  <a:rPr lang="ru-RU" sz="2200" dirty="0"/>
                  <a:t>Процентные ставки → инфляция, направление ветра → изменение в погоде </a:t>
                </a:r>
                <a:br>
                  <a:rPr lang="ru-RU" sz="2200" dirty="0"/>
                </a:br>
                <a:r>
                  <a:rPr lang="ru-RU" sz="2200" b="1" dirty="0"/>
                  <a:t>(но не наоборот!)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dirty="0"/>
                  <a:t>В отличии от сезонной корреляции ВР в казуальности связь причинная (только опережающая), а не симметричная (характеристика динамики ВР). Например перед дождем падает давление (но нет связи наоборот).</a:t>
                </a:r>
              </a:p>
              <a:p>
                <a:pPr algn="just">
                  <a:lnSpc>
                    <a:spcPct val="110000"/>
                  </a:lnSpc>
                </a:pPr>
                <a:r>
                  <a:rPr lang="ru-RU" sz="2200" b="1" dirty="0" err="1"/>
                  <a:t>Коинтеграционная</a:t>
                </a:r>
                <a:r>
                  <a:rPr lang="ru-RU" sz="2200" b="1" dirty="0"/>
                  <a:t> связь </a:t>
                </a:r>
                <a:r>
                  <a:rPr lang="ru-RU" sz="2200" dirty="0"/>
                  <a:t>– Нестационарные ряды в долгосрочной перспективе "движутся вместе" — их линейная комбинация стационарна (</a:t>
                </a:r>
                <a:r>
                  <a:rPr lang="ru-RU" sz="2200" dirty="0" err="1"/>
                  <a:t>коинтеграция</a:t>
                </a:r>
                <a:r>
                  <a:rPr lang="ru-RU" sz="2200" dirty="0"/>
                  <a:t> 1го порядка).</a:t>
                </a:r>
              </a:p>
              <a:p>
                <a:pPr lvl="2">
                  <a:lnSpc>
                    <a:spcPct val="110000"/>
                  </a:lnSpc>
                </a:pPr>
                <a:r>
                  <a:rPr lang="ru-RU" sz="2200" dirty="0"/>
                  <a:t>система не стационарных ВР до порядка дифференцирования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ВР составляет линейную комбинацию, имеющую не стационарность ВР до порядка дифференцирования </a:t>
                </a:r>
                <a14:m>
                  <m:oMath xmlns:m="http://schemas.openxmlformats.org/officeDocument/2006/math">
                    <m:r>
                      <a:rPr lang="en-US" sz="2200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200" dirty="0"/>
              </a:p>
              <a:p>
                <a:pPr lvl="2">
                  <a:lnSpc>
                    <a:spcPct val="110000"/>
                  </a:lnSpc>
                </a:pPr>
                <a:r>
                  <a:rPr lang="ru-RU" sz="2200" dirty="0"/>
                  <a:t>Пример: Цены на сырую нефть и бензин (их разность (маржа) – стационарна)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4325" y="638174"/>
                <a:ext cx="11772900" cy="5895975"/>
              </a:xfrm>
              <a:blipFill>
                <a:blip r:embed="rId2"/>
                <a:stretch>
                  <a:fillRect l="-570" t="-1138" r="-5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9865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890A3E-B885-7153-BE00-9F7FAC519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184" y="174032"/>
            <a:ext cx="10175631" cy="767905"/>
          </a:xfrm>
        </p:spPr>
        <p:txBody>
          <a:bodyPr anchor="ctr">
            <a:normAutofit/>
          </a:bodyPr>
          <a:lstStyle/>
          <a:p>
            <a:pPr algn="ctr"/>
            <a:r>
              <a:rPr lang="ru-RU" sz="4000" b="1" dirty="0"/>
              <a:t>Типы связей в МВР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357E57-5770-C638-7F6E-EDA7775A11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8184" y="1459907"/>
            <a:ext cx="10175630" cy="767904"/>
          </a:xfrm>
        </p:spPr>
        <p:txBody>
          <a:bodyPr anchor="ctr">
            <a:normAutofit/>
          </a:bodyPr>
          <a:lstStyle/>
          <a:p>
            <a:pPr algn="ctr"/>
            <a:endParaRPr lang="ru-RU" sz="2000"/>
          </a:p>
        </p:txBody>
      </p:sp>
      <p:pic>
        <p:nvPicPr>
          <p:cNvPr id="1026" name="Picture 2" descr="Example of cointegrated time series with low correlation.">
            <a:extLst>
              <a:ext uri="{FF2B5EF4-FFF2-40B4-BE49-F238E27FC236}">
                <a16:creationId xmlns:a16="http://schemas.microsoft.com/office/drawing/2014/main" id="{B5DCDE3D-5199-AA7A-E922-EF527F83D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61141" y="4150076"/>
            <a:ext cx="6732025" cy="2440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xample of non-cointegrated time series with high correlation.">
            <a:extLst>
              <a:ext uri="{FF2B5EF4-FFF2-40B4-BE49-F238E27FC236}">
                <a16:creationId xmlns:a16="http://schemas.microsoft.com/office/drawing/2014/main" id="{1932A2C8-08DF-C714-D8EF-9803DA7D7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98" y="1754633"/>
            <a:ext cx="6565806" cy="2387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345572-1415-8A20-FEE1-71B95D982B0C}"/>
              </a:ext>
            </a:extLst>
          </p:cNvPr>
          <p:cNvSpPr txBox="1"/>
          <p:nvPr/>
        </p:nvSpPr>
        <p:spPr>
          <a:xfrm>
            <a:off x="4932915" y="6553163"/>
            <a:ext cx="60939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bookdown.org</a:t>
            </a:r>
            <a:r>
              <a:rPr lang="ru-RU" sz="1100" dirty="0"/>
              <a:t>/</a:t>
            </a:r>
            <a:r>
              <a:rPr lang="ru-RU" sz="1100" dirty="0" err="1"/>
              <a:t>palomar</a:t>
            </a:r>
            <a:r>
              <a:rPr lang="ru-RU" sz="1100" dirty="0"/>
              <a:t>/</a:t>
            </a:r>
            <a:r>
              <a:rPr lang="ru-RU" sz="1100" dirty="0" err="1"/>
              <a:t>portfoliooptimizationbook</a:t>
            </a:r>
            <a:r>
              <a:rPr lang="ru-RU" sz="1100" dirty="0"/>
              <a:t>/15.2-cointegration-vs-correlation.html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B9BAD6-262F-31C0-5581-5B0F448E2E7D}"/>
              </a:ext>
            </a:extLst>
          </p:cNvPr>
          <p:cNvSpPr txBox="1"/>
          <p:nvPr/>
        </p:nvSpPr>
        <p:spPr>
          <a:xfrm>
            <a:off x="265054" y="4257543"/>
            <a:ext cx="5265413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Корреляция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— синхронное движение (статистическая связь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, может быть ложной, если оба связаны со скрытой переменной)</a:t>
            </a:r>
            <a:endParaRPr lang="ru-RU" b="0" i="0" dirty="0">
              <a:solidFill>
                <a:srgbClr val="2C2C36"/>
              </a:solidFill>
              <a:effectLst/>
              <a:latin typeface="system-ui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111827"/>
                </a:solidFill>
                <a:effectLst/>
                <a:latin typeface="system-ui"/>
              </a:rPr>
              <a:t>Коинтеграция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— долгосрочная устойчивая связь (равновесие), даже если иногда расходятся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Казуальность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— направление влияния во времени (кто «ведёт» - информационная предсказуемость).</a:t>
            </a:r>
          </a:p>
        </p:txBody>
      </p:sp>
      <p:pic>
        <p:nvPicPr>
          <p:cNvPr id="1030" name="Picture 6" descr="Example of possible Granger-causality between time series [image by the author]">
            <a:extLst>
              <a:ext uri="{FF2B5EF4-FFF2-40B4-BE49-F238E27FC236}">
                <a16:creationId xmlns:a16="http://schemas.microsoft.com/office/drawing/2014/main" id="{024B156C-3179-A6EE-AC7C-AE8955F3B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8002" y="2226556"/>
            <a:ext cx="5061063" cy="1757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C3D347A-8B5C-F411-22A8-CAB7F4717E55}"/>
              </a:ext>
            </a:extLst>
          </p:cNvPr>
          <p:cNvSpPr txBox="1"/>
          <p:nvPr/>
        </p:nvSpPr>
        <p:spPr>
          <a:xfrm>
            <a:off x="8727153" y="1855706"/>
            <a:ext cx="28736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b="1" i="0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Causality Y1 </a:t>
            </a:r>
            <a:r>
              <a:rPr lang="en" b="1" i="1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causes </a:t>
            </a:r>
            <a:r>
              <a:rPr lang="en" b="1" i="0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Y2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AB1CC4-562B-43AD-4FC4-8D15BF589705}"/>
              </a:ext>
            </a:extLst>
          </p:cNvPr>
          <p:cNvSpPr txBox="1"/>
          <p:nvPr/>
        </p:nvSpPr>
        <p:spPr>
          <a:xfrm>
            <a:off x="506777" y="1393342"/>
            <a:ext cx="32461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b="1" i="0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Correlation + cointegration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DCCA38-54EC-96F1-3A81-CDA9DF6F31EA}"/>
              </a:ext>
            </a:extLst>
          </p:cNvPr>
          <p:cNvSpPr txBox="1"/>
          <p:nvPr/>
        </p:nvSpPr>
        <p:spPr>
          <a:xfrm>
            <a:off x="6356787" y="3958525"/>
            <a:ext cx="32461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b="1" i="0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Cointegration only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751217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686201-4EBC-4A85-A511-D32F09D2F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3" y="365126"/>
            <a:ext cx="10802957" cy="560292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Ка</a:t>
            </a:r>
            <a:r>
              <a:rPr lang="ru-RU" b="1" dirty="0" err="1"/>
              <a:t>зуальность</a:t>
            </a:r>
            <a:r>
              <a:rPr lang="ru-RU" b="1" dirty="0"/>
              <a:t> МВР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9D7BF9-B755-2917-A268-2945F31B8F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5195" y="925418"/>
                <a:ext cx="11655846" cy="55635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200" dirty="0"/>
                  <a:t>Ка</a:t>
                </a:r>
                <a:r>
                  <a:rPr lang="ru-RU" sz="2200" dirty="0" err="1"/>
                  <a:t>зуальность</a:t>
                </a:r>
                <a:r>
                  <a:rPr lang="ru-RU" sz="2200" dirty="0"/>
                  <a:t> (причинность) по Грейнджеру (</a:t>
                </a:r>
                <a:r>
                  <a:rPr lang="en" sz="2200" dirty="0"/>
                  <a:t>Granger Causality) - </a:t>
                </a:r>
                <a:r>
                  <a:rPr lang="ru-RU" sz="2200" dirty="0"/>
                  <a:t>временной ряд </a:t>
                </a:r>
                <a:r>
                  <a:rPr lang="en" sz="2200" i="1" dirty="0" err="1"/>
                  <a:t>xt</a:t>
                </a:r>
                <a:r>
                  <a:rPr lang="en" sz="2200" dirty="0"/>
                  <a:t>​ </a:t>
                </a:r>
                <a:r>
                  <a:rPr lang="ru-RU" sz="2200" i="1" dirty="0"/>
                  <a:t>вызывает</a:t>
                </a:r>
                <a:r>
                  <a:rPr lang="ru-RU" sz="2200" dirty="0"/>
                  <a:t> по Грейнджеру временной ряд </a:t>
                </a:r>
                <a:r>
                  <a:rPr lang="en" sz="2200" i="1" dirty="0" err="1"/>
                  <a:t>yt</a:t>
                </a:r>
                <a:r>
                  <a:rPr lang="en" sz="2200" dirty="0"/>
                  <a:t>​ , </a:t>
                </a:r>
                <a:r>
                  <a:rPr lang="ru-RU" sz="2200" dirty="0"/>
                  <a:t>если прошлые значения </a:t>
                </a:r>
                <a:r>
                  <a:rPr lang="en" sz="2200" i="1" dirty="0" err="1"/>
                  <a:t>xt</a:t>
                </a:r>
                <a:r>
                  <a:rPr lang="en" sz="2200" dirty="0"/>
                  <a:t>​ </a:t>
                </a:r>
                <a:r>
                  <a:rPr lang="ru-RU" sz="2200" dirty="0"/>
                  <a:t>улучшают прогноз </a:t>
                </a:r>
                <a:r>
                  <a:rPr lang="en" sz="2200" i="1" dirty="0" err="1"/>
                  <a:t>Yt</a:t>
                </a:r>
                <a:r>
                  <a:rPr lang="en" sz="2200" dirty="0"/>
                  <a:t>​ </a:t>
                </a:r>
                <a:r>
                  <a:rPr lang="ru-RU" sz="2200" dirty="0"/>
                  <a:t>по сравнению с прогнозом, основанным только на прошлых значениях </a:t>
                </a:r>
                <a:r>
                  <a:rPr lang="en" sz="2200" i="1" dirty="0" err="1"/>
                  <a:t>yt</a:t>
                </a:r>
                <a:r>
                  <a:rPr lang="en" sz="2200" dirty="0"/>
                  <a:t>​ . 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dirty="0"/>
                  <a:t>Для двух стационарных временных рядов </a:t>
                </a:r>
                <a:r>
                  <a:rPr lang="en-US" sz="2200" dirty="0"/>
                  <a:t>x  </a:t>
                </a:r>
                <a:r>
                  <a:rPr lang="ru-RU" sz="2200" dirty="0"/>
                  <a:t>и  </a:t>
                </a:r>
                <a:r>
                  <a:rPr lang="en-US" sz="2200" dirty="0"/>
                  <a:t>y</a:t>
                </a:r>
                <a:r>
                  <a:rPr lang="ru-RU" sz="2200" dirty="0"/>
                  <a:t> если</a:t>
                </a:r>
                <a:r>
                  <a:rPr lang="en-US" sz="2200" dirty="0"/>
                  <a:t> </a:t>
                </a:r>
                <a:r>
                  <a:rPr lang="en-US" sz="2200" dirty="0" err="1"/>
                  <a:t>в</a:t>
                </a:r>
                <a:r>
                  <a:rPr lang="ru-RU" sz="2200" dirty="0"/>
                  <a:t>плоть до лага </a:t>
                </a:r>
                <a:r>
                  <a:rPr lang="en-US" sz="2200" dirty="0"/>
                  <a:t>p:</a:t>
                </a:r>
                <a:endParaRPr lang="ru-RU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2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где</a:t>
                </a:r>
                <a:r>
                  <a:rPr lang="en-US" sz="2200" dirty="0"/>
                  <a:t> </a:t>
                </a:r>
                <a:r>
                  <a:rPr lang="ru-RU" sz="2200" dirty="0"/>
                  <a:t>один или несколько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≠0</m:t>
                    </m:r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 и </m:t>
                    </m:r>
                    <m:sSub>
                      <m:sSubPr>
                        <m:ctrlPr>
                          <a:rPr lang="en-US" sz="2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sz="2200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𝑆𝑆</m:t>
                            </m:r>
                            <m:sSub>
                              <m:sSub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𝑆𝑆</m:t>
                            </m:r>
                            <m:sSub>
                              <m:sSub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ru-RU" sz="22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𝑆𝑆</m:t>
                            </m:r>
                            <m:sSub>
                              <m:sSub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𝑆𝑆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200" dirty="0"/>
                  <a:t>(F-test) – X </a:t>
                </a:r>
                <a:r>
                  <a:rPr lang="ru-RU" sz="2200" dirty="0"/>
                  <a:t>и </a:t>
                </a:r>
                <a:r>
                  <a:rPr lang="en-US" sz="2200" dirty="0"/>
                  <a:t>Y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казуальны</a:t>
                </a:r>
                <a:endParaRPr lang="ru-RU" sz="2200" dirty="0"/>
              </a:p>
              <a:p>
                <a:pPr marL="0" indent="0">
                  <a:buNone/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9D7BF9-B755-2917-A268-2945F31B8F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5195" y="925418"/>
                <a:ext cx="11655846" cy="5563518"/>
              </a:xfrm>
              <a:blipFill>
                <a:blip r:embed="rId3"/>
                <a:stretch>
                  <a:fillRect l="-653" t="-1367" r="-97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trend Granger Causality">
            <a:extLst>
              <a:ext uri="{FF2B5EF4-FFF2-40B4-BE49-F238E27FC236}">
                <a16:creationId xmlns:a16="http://schemas.microsoft.com/office/drawing/2014/main" id="{1B534AEC-9B29-7382-F1C9-88D85BBF4C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32" r="7721"/>
          <a:stretch>
            <a:fillRect/>
          </a:stretch>
        </p:blipFill>
        <p:spPr bwMode="auto">
          <a:xfrm>
            <a:off x="7384973" y="3921280"/>
            <a:ext cx="4461832" cy="2567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5FAA14-DCB6-384A-D606-358920E4B61D}"/>
              </a:ext>
            </a:extLst>
          </p:cNvPr>
          <p:cNvSpPr txBox="1"/>
          <p:nvPr/>
        </p:nvSpPr>
        <p:spPr>
          <a:xfrm>
            <a:off x="4236998" y="6581001"/>
            <a:ext cx="81772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www.analyticsvidhya.com</a:t>
            </a:r>
            <a:r>
              <a:rPr lang="ru-RU" sz="1200" dirty="0"/>
              <a:t>/</a:t>
            </a:r>
            <a:r>
              <a:rPr lang="ru-RU" sz="1200" dirty="0" err="1"/>
              <a:t>blog</a:t>
            </a:r>
            <a:r>
              <a:rPr lang="ru-RU" sz="1200" dirty="0"/>
              <a:t>/2021/08/granger-causality-in-time-series-explained-using-chicken-and-egg-problem/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AF3C6-C881-84FC-F8EF-137FBA69243E}"/>
              </a:ext>
            </a:extLst>
          </p:cNvPr>
          <p:cNvSpPr txBox="1"/>
          <p:nvPr/>
        </p:nvSpPr>
        <p:spPr>
          <a:xfrm>
            <a:off x="345195" y="3921280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There</a:t>
            </a:r>
            <a:r>
              <a:rPr lang="ru-RU" dirty="0"/>
              <a:t> </a:t>
            </a:r>
            <a:r>
              <a:rPr lang="ru-RU" dirty="0" err="1"/>
              <a:t>are</a:t>
            </a:r>
            <a:r>
              <a:rPr lang="ru-RU" dirty="0"/>
              <a:t> 4 </a:t>
            </a:r>
            <a:r>
              <a:rPr lang="ru-RU" dirty="0" err="1"/>
              <a:t>possible</a:t>
            </a:r>
            <a:r>
              <a:rPr lang="ru-RU" dirty="0"/>
              <a:t> </a:t>
            </a:r>
            <a:r>
              <a:rPr lang="ru-RU" dirty="0" err="1"/>
              <a:t>conclusions</a:t>
            </a:r>
            <a:r>
              <a:rPr lang="ru-RU" dirty="0"/>
              <a:t> </a:t>
            </a:r>
            <a:r>
              <a:rPr lang="ru-RU" dirty="0" err="1"/>
              <a:t>from</a:t>
            </a:r>
            <a:r>
              <a:rPr lang="ru-RU" dirty="0"/>
              <a:t> </a:t>
            </a:r>
            <a:r>
              <a:rPr lang="ru-RU" dirty="0" err="1"/>
              <a:t>test</a:t>
            </a:r>
            <a:r>
              <a:rPr lang="ru-RU" dirty="0"/>
              <a:t>:</a:t>
            </a:r>
          </a:p>
          <a:p>
            <a:r>
              <a:rPr lang="ru-RU" dirty="0"/>
              <a:t>1. 𝑋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causes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, </a:t>
            </a:r>
            <a:r>
              <a:rPr lang="ru-RU" dirty="0" err="1"/>
              <a:t>but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does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</a:t>
            </a:r>
            <a:r>
              <a:rPr lang="ru-RU" dirty="0"/>
              <a:t> 𝑋2.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causes</a:t>
            </a:r>
            <a:r>
              <a:rPr lang="ru-RU" dirty="0"/>
              <a:t> X, </a:t>
            </a:r>
            <a:r>
              <a:rPr lang="ru-RU" dirty="0" err="1"/>
              <a:t>but</a:t>
            </a:r>
            <a:r>
              <a:rPr lang="ru-RU" dirty="0"/>
              <a:t> 𝑋 </a:t>
            </a:r>
            <a:r>
              <a:rPr lang="ru-RU" dirty="0" err="1"/>
              <a:t>does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</a:t>
            </a:r>
            <a:r>
              <a:rPr lang="ru-RU" dirty="0"/>
              <a:t> Y3. 𝑋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causes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and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causes</a:t>
            </a:r>
            <a:r>
              <a:rPr lang="ru-RU" dirty="0"/>
              <a:t> 𝑋 --</a:t>
            </a:r>
            <a:r>
              <a:rPr lang="ru-RU" dirty="0" err="1"/>
              <a:t>i.e</a:t>
            </a:r>
            <a:r>
              <a:rPr lang="ru-RU" dirty="0"/>
              <a:t>., </a:t>
            </a:r>
            <a:r>
              <a:rPr lang="ru-RU" dirty="0" err="1"/>
              <a:t>there</a:t>
            </a:r>
            <a:r>
              <a:rPr lang="ru-RU" dirty="0"/>
              <a:t> </a:t>
            </a:r>
            <a:r>
              <a:rPr lang="ru-RU" dirty="0" err="1"/>
              <a:t>is</a:t>
            </a:r>
            <a:r>
              <a:rPr lang="ru-RU" dirty="0"/>
              <a:t> </a:t>
            </a:r>
            <a:r>
              <a:rPr lang="ru-RU" dirty="0" err="1"/>
              <a:t>a</a:t>
            </a:r>
            <a:endParaRPr lang="ru-RU" dirty="0"/>
          </a:p>
          <a:p>
            <a:r>
              <a:rPr lang="ru-RU" dirty="0" err="1"/>
              <a:t>feedback</a:t>
            </a:r>
            <a:r>
              <a:rPr lang="ru-RU" dirty="0"/>
              <a:t> </a:t>
            </a:r>
            <a:r>
              <a:rPr lang="ru-RU" dirty="0" err="1"/>
              <a:t>system</a:t>
            </a:r>
            <a:r>
              <a:rPr lang="ru-RU" dirty="0"/>
              <a:t> </a:t>
            </a:r>
            <a:r>
              <a:rPr lang="ru-RU" dirty="0" err="1"/>
              <a:t>or</a:t>
            </a:r>
            <a:r>
              <a:rPr lang="ru-RU" dirty="0"/>
              <a:t> </a:t>
            </a:r>
            <a:r>
              <a:rPr lang="ru-RU" dirty="0" err="1"/>
              <a:t>bidirectional</a:t>
            </a:r>
            <a:r>
              <a:rPr lang="ru-RU" dirty="0"/>
              <a:t> </a:t>
            </a:r>
            <a:r>
              <a:rPr lang="ru-RU" dirty="0" err="1"/>
              <a:t>causality</a:t>
            </a:r>
            <a:r>
              <a:rPr lang="ru-RU" dirty="0"/>
              <a:t>.</a:t>
            </a:r>
          </a:p>
          <a:p>
            <a:r>
              <a:rPr lang="ru-RU" dirty="0"/>
              <a:t>4. 𝑋 </a:t>
            </a:r>
            <a:r>
              <a:rPr lang="ru-RU" dirty="0" err="1"/>
              <a:t>does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and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does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</a:t>
            </a:r>
            <a:r>
              <a:rPr lang="ru-RU" dirty="0"/>
              <a:t> 𝑋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517A6E-9EEE-5F75-EEA1-391B7B151418}"/>
              </a:ext>
            </a:extLst>
          </p:cNvPr>
          <p:cNvSpPr txBox="1"/>
          <p:nvPr/>
        </p:nvSpPr>
        <p:spPr>
          <a:xfrm>
            <a:off x="241126" y="6581000"/>
            <a:ext cx="60939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www.bauer.uh.edu</a:t>
            </a:r>
            <a:r>
              <a:rPr lang="ru-RU" sz="1200" dirty="0"/>
              <a:t>/</a:t>
            </a:r>
            <a:r>
              <a:rPr lang="ru-RU" sz="1200" dirty="0" err="1"/>
              <a:t>rsusmel</a:t>
            </a:r>
            <a:r>
              <a:rPr lang="ru-RU" sz="1200" dirty="0"/>
              <a:t>/</a:t>
            </a:r>
            <a:r>
              <a:rPr lang="ru-RU" sz="1200" dirty="0" err="1"/>
              <a:t>phd</a:t>
            </a:r>
            <a:r>
              <a:rPr lang="ru-RU" sz="1200" dirty="0"/>
              <a:t>/ec2-6.pdf</a:t>
            </a:r>
          </a:p>
        </p:txBody>
      </p:sp>
    </p:spTree>
    <p:extLst>
      <p:ext uri="{BB962C8B-B14F-4D97-AF65-F5344CB8AC3E}">
        <p14:creationId xmlns:p14="http://schemas.microsoft.com/office/powerpoint/2010/main" val="824787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E728CA-EF5A-F8A7-5C98-5AF82A78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24015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Ка</a:t>
            </a:r>
            <a:r>
              <a:rPr lang="ru-RU" b="1" dirty="0" err="1"/>
              <a:t>зуальность</a:t>
            </a:r>
            <a:r>
              <a:rPr lang="ru-RU" b="1" dirty="0"/>
              <a:t> МВР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199195-BD5C-8558-68D8-AABE8A3EE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047" y="964504"/>
            <a:ext cx="11611627" cy="5528371"/>
          </a:xfrm>
        </p:spPr>
        <p:txBody>
          <a:bodyPr/>
          <a:lstStyle/>
          <a:p>
            <a:r>
              <a:rPr lang="ru-RU" sz="2200" dirty="0"/>
              <a:t>Казуальность по Грейнджеру помогает выявлять </a:t>
            </a:r>
            <a:r>
              <a:rPr lang="en-US" sz="2200" i="1" dirty="0" err="1"/>
              <a:t>стати</a:t>
            </a:r>
            <a:r>
              <a:rPr lang="ru-RU" sz="2200" i="1" dirty="0" err="1"/>
              <a:t>стические</a:t>
            </a:r>
            <a:r>
              <a:rPr lang="ru-RU" sz="2200" i="1" dirty="0"/>
              <a:t> причинные связи</a:t>
            </a:r>
            <a:r>
              <a:rPr lang="ru-RU" sz="2200" dirty="0"/>
              <a:t>, но не доказывает их.</a:t>
            </a:r>
          </a:p>
          <a:p>
            <a:pPr marL="285750" indent="-285750"/>
            <a:r>
              <a:rPr lang="ru-RU" sz="2200" dirty="0"/>
              <a:t>Всегда интерпретируйте результаты в контексте предметной области.</a:t>
            </a:r>
          </a:p>
          <a:p>
            <a:pPr marL="285750" indent="-285750"/>
            <a:r>
              <a:rPr lang="ru-RU" sz="2200" dirty="0"/>
              <a:t>Совмещайте статистические тесты с экспертными знаниями.</a:t>
            </a:r>
          </a:p>
          <a:p>
            <a:pPr marL="285750" indent="-285750"/>
            <a:r>
              <a:rPr lang="ru-RU" sz="2200" dirty="0"/>
              <a:t>Ложная казуальность возможна при:</a:t>
            </a:r>
          </a:p>
          <a:p>
            <a:pPr marL="742950" lvl="1" indent="-285750"/>
            <a:r>
              <a:rPr lang="ru-RU" sz="2200" dirty="0"/>
              <a:t>Наличии скрытой (латентной) переменной, влияющей на оба ряда.</a:t>
            </a:r>
          </a:p>
          <a:p>
            <a:pPr marL="742950" lvl="1" indent="-285750"/>
            <a:r>
              <a:rPr lang="ru-RU" sz="2200" dirty="0"/>
              <a:t>Неправильном выборе лага </a:t>
            </a:r>
            <a:r>
              <a:rPr lang="en" sz="2200" i="1" dirty="0"/>
              <a:t>p</a:t>
            </a:r>
            <a:r>
              <a:rPr lang="en" sz="2200" dirty="0"/>
              <a:t> .</a:t>
            </a:r>
          </a:p>
          <a:p>
            <a:pPr marL="742950" lvl="1" indent="-285750"/>
            <a:r>
              <a:rPr lang="ru-RU" sz="2200" dirty="0"/>
              <a:t>Нестационарности рядов </a:t>
            </a:r>
            <a:endParaRPr lang="en-US" sz="2200" dirty="0"/>
          </a:p>
          <a:p>
            <a:pPr marL="0" indent="0">
              <a:buNone/>
            </a:pPr>
            <a:r>
              <a:rPr lang="en-US" sz="2400" dirty="0" err="1"/>
              <a:t>П</a:t>
            </a:r>
            <a:r>
              <a:rPr lang="ru-RU" sz="2400" dirty="0" err="1"/>
              <a:t>омимо</a:t>
            </a:r>
            <a:r>
              <a:rPr lang="ru-RU" sz="2400" dirty="0"/>
              <a:t> казуальности по Грейнджеру </a:t>
            </a:r>
            <a:r>
              <a:rPr lang="ru-RU" sz="2400" dirty="0" err="1"/>
              <a:t>казулальность</a:t>
            </a:r>
            <a:r>
              <a:rPr lang="ru-RU" sz="2400" dirty="0"/>
              <a:t> может быть более сложной, например условной, сезонной </a:t>
            </a:r>
            <a:br>
              <a:rPr lang="ru-RU" sz="2400" dirty="0"/>
            </a:br>
            <a:r>
              <a:rPr lang="ru-RU" sz="2400" dirty="0"/>
              <a:t>или представлять собой граф (</a:t>
            </a:r>
            <a:r>
              <a:rPr lang="en" sz="2400" dirty="0"/>
              <a:t>causal discovery</a:t>
            </a:r>
            <a:r>
              <a:rPr lang="ru-RU" sz="2400" dirty="0"/>
              <a:t>)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4B3B271-106F-3359-C16F-E315B67B2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759" y="4390302"/>
            <a:ext cx="4069915" cy="22779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AD593B-431E-13EF-F915-5CF3D7658901}"/>
              </a:ext>
            </a:extLst>
          </p:cNvPr>
          <p:cNvSpPr txBox="1"/>
          <p:nvPr/>
        </p:nvSpPr>
        <p:spPr>
          <a:xfrm>
            <a:off x="2007365" y="6581001"/>
            <a:ext cx="81772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www.analyticsvidhya.com</a:t>
            </a:r>
            <a:r>
              <a:rPr lang="ru-RU" sz="1200" dirty="0"/>
              <a:t>/</a:t>
            </a:r>
            <a:r>
              <a:rPr lang="ru-RU" sz="1200" dirty="0" err="1"/>
              <a:t>blog</a:t>
            </a:r>
            <a:r>
              <a:rPr lang="ru-RU" sz="1200" dirty="0"/>
              <a:t>/2021/08/granger-causality-in-time-series-explained-using-chicken-and-egg-problem/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5C2EE9-D502-5FF6-3127-D1A2545D4EAD}"/>
              </a:ext>
            </a:extLst>
          </p:cNvPr>
          <p:cNvSpPr txBox="1"/>
          <p:nvPr/>
        </p:nvSpPr>
        <p:spPr>
          <a:xfrm>
            <a:off x="317326" y="6329685"/>
            <a:ext cx="60939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github.com</a:t>
            </a:r>
            <a:r>
              <a:rPr lang="ru-RU" sz="1600" dirty="0"/>
              <a:t>/</a:t>
            </a:r>
            <a:r>
              <a:rPr lang="ru-RU" sz="1600" dirty="0" err="1"/>
              <a:t>jakobrunge</a:t>
            </a:r>
            <a:r>
              <a:rPr lang="ru-RU" sz="1600" dirty="0"/>
              <a:t>/</a:t>
            </a:r>
            <a:r>
              <a:rPr lang="ru-RU" sz="1600" dirty="0" err="1"/>
              <a:t>tigramite</a:t>
            </a:r>
            <a:r>
              <a:rPr lang="ru-RU" sz="1600" dirty="0"/>
              <a:t>/</a:t>
            </a:r>
            <a:r>
              <a:rPr lang="ru-RU" sz="1600" dirty="0" err="1"/>
              <a:t>tree</a:t>
            </a:r>
            <a:r>
              <a:rPr lang="ru-RU" sz="1600" dirty="0"/>
              <a:t>/</a:t>
            </a:r>
            <a:r>
              <a:rPr lang="ru-RU" sz="1600" dirty="0" err="1"/>
              <a:t>master</a:t>
            </a:r>
            <a:r>
              <a:rPr lang="ru-RU" sz="1600" dirty="0"/>
              <a:t>/</a:t>
            </a:r>
            <a:r>
              <a:rPr lang="ru-RU" sz="1600" dirty="0" err="1"/>
              <a:t>tutorials</a:t>
            </a:r>
            <a:r>
              <a:rPr lang="ru-RU" sz="16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615208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1E1FF-2767-E424-803E-6A04158E8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C6FCCA-4C35-E687-EBED-9E7B234D9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24015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Ка</a:t>
            </a:r>
            <a:r>
              <a:rPr lang="ru-RU" b="1" dirty="0" err="1"/>
              <a:t>зуальность</a:t>
            </a:r>
            <a:r>
              <a:rPr lang="ru-RU" b="1" dirty="0"/>
              <a:t> МВР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5DF7BD-7E27-DFCC-2911-D1AE1DF6D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3047" y="964504"/>
                <a:ext cx="11611627" cy="5528371"/>
              </a:xfrm>
            </p:spPr>
            <p:txBody>
              <a:bodyPr/>
              <a:lstStyle/>
              <a:p>
                <a:r>
                  <a:rPr lang="ru-RU" sz="2200" dirty="0"/>
                  <a:t>Если известно, то в МВР имеет место казуальность можно </a:t>
                </a:r>
              </a:p>
              <a:p>
                <a:pPr lvl="1"/>
                <a:r>
                  <a:rPr lang="ru-RU" dirty="0"/>
                  <a:t>рассмотреть казуальные ВР отдельно </a:t>
                </a:r>
              </a:p>
              <a:p>
                <a:pPr lvl="1"/>
                <a:r>
                  <a:rPr lang="ru-RU" dirty="0"/>
                  <a:t>Рассмотреть казуальный ВР как экзогенный фактор для остальных ВР</a:t>
                </a:r>
              </a:p>
              <a:p>
                <a:pPr lvl="1"/>
                <a:r>
                  <a:rPr lang="ru-RU" dirty="0"/>
                  <a:t>использовать структурный </a:t>
                </a:r>
                <a:r>
                  <a:rPr lang="en-US" dirty="0"/>
                  <a:t>VAR (</a:t>
                </a:r>
                <a:r>
                  <a:rPr lang="en" dirty="0"/>
                  <a:t>structural VAR, SVAP</a:t>
                </a:r>
                <a:r>
                  <a:rPr lang="en-US" dirty="0"/>
                  <a:t>)</a:t>
                </a:r>
              </a:p>
              <a:p>
                <a:r>
                  <a:rPr lang="ru-RU" sz="2200" dirty="0"/>
                  <a:t>П</a:t>
                </a:r>
                <a:r>
                  <a:rPr lang="en-US" sz="2200" dirty="0" err="1"/>
                  <a:t>у</a:t>
                </a:r>
                <a:r>
                  <a:rPr lang="ru-RU" sz="2200" dirty="0" err="1"/>
                  <a:t>сть</a:t>
                </a:r>
                <a:r>
                  <a:rPr lang="ru-RU" sz="2200" dirty="0"/>
                  <a:t> в МВР параметры упорядочены в обратной последовательности (если </a:t>
                </a:r>
                <a:r>
                  <a:rPr lang="en-US" sz="2200" dirty="0"/>
                  <a:t>X-&gt;Y-&gt;Z,</a:t>
                </a:r>
                <a:r>
                  <a:rPr lang="ru-RU" sz="2200" dirty="0"/>
                  <a:t> то первая пе</a:t>
                </a:r>
                <a:r>
                  <a:rPr lang="en-US" sz="2200" dirty="0" err="1"/>
                  <a:t>р</a:t>
                </a:r>
                <a:r>
                  <a:rPr lang="ru-RU" sz="2200" dirty="0" err="1"/>
                  <a:t>менная</a:t>
                </a:r>
                <a:r>
                  <a:rPr lang="ru-RU" sz="2200" dirty="0"/>
                  <a:t> </a:t>
                </a:r>
                <a:r>
                  <a:rPr lang="en-US" sz="2200" dirty="0"/>
                  <a:t>Z)</a:t>
                </a:r>
              </a:p>
              <a:p>
                <a:r>
                  <a:rPr lang="ru-RU" sz="2400" dirty="0"/>
                  <a:t>Тогда введем структурную матрицу </a:t>
                </a:r>
                <a:r>
                  <a:rPr lang="en-US" sz="2400" dirty="0"/>
                  <a:t>B</a:t>
                </a:r>
                <a:endParaRPr lang="ru-RU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B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+...=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B</a:t>
                </a:r>
                <a:r>
                  <a:rPr lang="en" sz="2400" dirty="0"/>
                  <a:t> = </a:t>
                </a:r>
                <a:r>
                  <a:rPr lang="en" sz="2400" dirty="0" err="1"/>
                  <a:t>np.asarray</a:t>
                </a:r>
                <a:r>
                  <a:rPr lang="en" sz="2400" dirty="0"/>
                  <a:t>([[1, 0, 0],['E', 1, 0],['E', 'E', 1]])</a:t>
                </a:r>
              </a:p>
              <a:p>
                <a:r>
                  <a:rPr lang="ru-RU" sz="2400" dirty="0"/>
                  <a:t>Могут быть и более сложные виды матрицы</a:t>
                </a:r>
              </a:p>
              <a:p>
                <a:r>
                  <a:rPr lang="ru-RU" sz="2400" dirty="0" err="1"/>
                  <a:t>B</a:t>
                </a:r>
                <a:r>
                  <a:rPr lang="ru-RU" sz="2400" dirty="0"/>
                  <a:t> отражает долгие зависимости, можно также ввести структурные шоки.</a:t>
                </a:r>
              </a:p>
              <a:p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5DF7BD-7E27-DFCC-2911-D1AE1DF6D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3047" y="964504"/>
                <a:ext cx="11611627" cy="5528371"/>
              </a:xfrm>
              <a:blipFill>
                <a:blip r:embed="rId3"/>
                <a:stretch>
                  <a:fillRect l="-655" t="-13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C2FDDE9-ADD0-9FCA-BA23-BC49281AFACC}"/>
              </a:ext>
            </a:extLst>
          </p:cNvPr>
          <p:cNvSpPr txBox="1"/>
          <p:nvPr/>
        </p:nvSpPr>
        <p:spPr>
          <a:xfrm>
            <a:off x="2007365" y="6581001"/>
            <a:ext cx="81772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www.analyticsvidhya.com</a:t>
            </a:r>
            <a:r>
              <a:rPr lang="ru-RU" sz="1200" dirty="0"/>
              <a:t>/</a:t>
            </a:r>
            <a:r>
              <a:rPr lang="ru-RU" sz="1200" dirty="0" err="1"/>
              <a:t>blog</a:t>
            </a:r>
            <a:r>
              <a:rPr lang="ru-RU" sz="1200" dirty="0"/>
              <a:t>/2021/08/granger-causality-in-time-series-explained-using-chicken-and-egg-problem/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20173F-8791-21EB-4F95-9D83DD1E7274}"/>
              </a:ext>
            </a:extLst>
          </p:cNvPr>
          <p:cNvSpPr txBox="1"/>
          <p:nvPr/>
        </p:nvSpPr>
        <p:spPr>
          <a:xfrm>
            <a:off x="317326" y="6329685"/>
            <a:ext cx="60939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github.com</a:t>
            </a:r>
            <a:r>
              <a:rPr lang="ru-RU" sz="1600" dirty="0"/>
              <a:t>/</a:t>
            </a:r>
            <a:r>
              <a:rPr lang="ru-RU" sz="1600" dirty="0" err="1"/>
              <a:t>jakobrunge</a:t>
            </a:r>
            <a:r>
              <a:rPr lang="ru-RU" sz="1600" dirty="0"/>
              <a:t>/</a:t>
            </a:r>
            <a:r>
              <a:rPr lang="ru-RU" sz="1600" dirty="0" err="1"/>
              <a:t>tigramite</a:t>
            </a:r>
            <a:r>
              <a:rPr lang="ru-RU" sz="1600" dirty="0"/>
              <a:t>/</a:t>
            </a:r>
            <a:r>
              <a:rPr lang="ru-RU" sz="1600" dirty="0" err="1"/>
              <a:t>tree</a:t>
            </a:r>
            <a:r>
              <a:rPr lang="ru-RU" sz="1600" dirty="0"/>
              <a:t>/</a:t>
            </a:r>
            <a:r>
              <a:rPr lang="ru-RU" sz="1600" dirty="0" err="1"/>
              <a:t>master</a:t>
            </a:r>
            <a:r>
              <a:rPr lang="ru-RU" sz="1600" dirty="0"/>
              <a:t>/</a:t>
            </a:r>
            <a:r>
              <a:rPr lang="ru-RU" sz="1600" dirty="0" err="1"/>
              <a:t>tutorials</a:t>
            </a:r>
            <a:r>
              <a:rPr lang="ru-RU" sz="1600" dirty="0"/>
              <a:t>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308CC6-BB71-E096-6794-DFE5C4F05384}"/>
              </a:ext>
            </a:extLst>
          </p:cNvPr>
          <p:cNvSpPr txBox="1"/>
          <p:nvPr/>
        </p:nvSpPr>
        <p:spPr>
          <a:xfrm>
            <a:off x="7667461" y="621122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www.laurentoudre.fr</a:t>
            </a:r>
            <a:r>
              <a:rPr lang="ru-RU" dirty="0"/>
              <a:t>/</a:t>
            </a:r>
            <a:r>
              <a:rPr lang="ru-RU" dirty="0" err="1"/>
              <a:t>ast</a:t>
            </a:r>
            <a:r>
              <a:rPr lang="ru-RU" dirty="0"/>
              <a:t>/AST1.pdf</a:t>
            </a:r>
          </a:p>
        </p:txBody>
      </p:sp>
    </p:spTree>
    <p:extLst>
      <p:ext uri="{BB962C8B-B14F-4D97-AF65-F5344CB8AC3E}">
        <p14:creationId xmlns:p14="http://schemas.microsoft.com/office/powerpoint/2010/main" val="2470813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16188"/>
            <a:ext cx="10515600" cy="621846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err="1"/>
              <a:t>Коинтегрированность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5729" y="745208"/>
            <a:ext cx="1160054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Если два ВР X и Y имеют стационарность разностей</a:t>
            </a:r>
            <a:r>
              <a:rPr lang="en-US" sz="2400" dirty="0"/>
              <a:t> </a:t>
            </a:r>
            <a:r>
              <a:rPr lang="ru-RU" sz="2400" dirty="0"/>
              <a:t> I(1) и если существует θ , такое, что Y− </a:t>
            </a:r>
            <a:r>
              <a:rPr lang="ru-RU" sz="2400" dirty="0" err="1"/>
              <a:t>θX</a:t>
            </a:r>
            <a:r>
              <a:rPr lang="ru-RU" sz="2400" dirty="0"/>
              <a:t> равно I(0) , то X и Y </a:t>
            </a:r>
            <a:r>
              <a:rPr lang="ru-RU" sz="2400" dirty="0" err="1"/>
              <a:t>коинтегрированы</a:t>
            </a:r>
            <a:r>
              <a:rPr lang="ru-RU" sz="2400" dirty="0"/>
              <a:t>. Иными словами, X и Y имеют одинаковый или общий стохастический тренд этот тренд можно устранить, взяв разницу ВР.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/>
              <a:t>Технически </a:t>
            </a:r>
            <a:r>
              <a:rPr lang="ru-RU" sz="2400" dirty="0" err="1"/>
              <a:t>коинтеграция</a:t>
            </a:r>
            <a:r>
              <a:rPr lang="ru-RU" sz="2400" dirty="0"/>
              <a:t> может быть и выше 1 порядка.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 err="1"/>
              <a:t>Коинтеграция</a:t>
            </a:r>
            <a:r>
              <a:rPr lang="ru-RU" sz="2400" dirty="0"/>
              <a:t> может быть для нескольких рядов, не только для двух.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26" name="Picture 2" descr="https://www.econometrics-with-r.org/ITER_files/figure-html/unnamed-chunk-733-1.png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64" b="9332"/>
          <a:stretch/>
        </p:blipFill>
        <p:spPr bwMode="auto">
          <a:xfrm>
            <a:off x="6610120" y="2855701"/>
            <a:ext cx="5460848" cy="300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0" y="6550223"/>
            <a:ext cx="40696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https://www.econometrics-with-r.org/16.3-cointegration.html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652" y="5623003"/>
            <a:ext cx="1199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Интуиция</a:t>
            </a:r>
            <a:r>
              <a:rPr lang="ru-RU" sz="2000" dirty="0"/>
              <a:t>: если авторегрессия – это зависимость ВР </a:t>
            </a:r>
            <a:r>
              <a:rPr lang="en-US" sz="2000" dirty="0"/>
              <a:t>Y</a:t>
            </a:r>
            <a:r>
              <a:rPr lang="ru-RU" sz="2000" dirty="0"/>
              <a:t> от своих лагов, </a:t>
            </a:r>
            <a:br>
              <a:rPr lang="ru-RU" sz="2000" dirty="0"/>
            </a:br>
            <a:r>
              <a:rPr lang="ru-RU" sz="2000" dirty="0"/>
              <a:t>то </a:t>
            </a:r>
            <a:r>
              <a:rPr lang="ru-RU" sz="2000" dirty="0" err="1"/>
              <a:t>коинтеграция</a:t>
            </a:r>
            <a:r>
              <a:rPr lang="ru-RU" sz="2000" dirty="0"/>
              <a:t> – зависимость от ВР </a:t>
            </a:r>
            <a:r>
              <a:rPr lang="en-US" sz="2000" dirty="0"/>
              <a:t>Y </a:t>
            </a:r>
            <a:r>
              <a:rPr lang="ru-RU" sz="2000" dirty="0"/>
              <a:t>от лагов другого ВР</a:t>
            </a:r>
            <a:r>
              <a:rPr lang="en-US" sz="2000" dirty="0"/>
              <a:t> X</a:t>
            </a:r>
            <a:r>
              <a:rPr lang="ru-RU" sz="2000" dirty="0"/>
              <a:t>.</a:t>
            </a:r>
            <a:r>
              <a:rPr lang="en-US" sz="2000" dirty="0"/>
              <a:t> </a:t>
            </a:r>
            <a:r>
              <a:rPr lang="ru-RU" sz="2000" dirty="0"/>
              <a:t> Например если </a:t>
            </a:r>
            <a:r>
              <a:rPr lang="en-US" sz="2000" dirty="0"/>
              <a:t>e X </a:t>
            </a:r>
            <a:r>
              <a:rPr lang="ru-RU" sz="2000" dirty="0"/>
              <a:t>и </a:t>
            </a:r>
            <a:r>
              <a:rPr lang="en-US" sz="2000" dirty="0"/>
              <a:t>Y </a:t>
            </a:r>
            <a:r>
              <a:rPr lang="ru-RU" sz="2000" dirty="0"/>
              <a:t>совместный тренд. 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83621"/>
            <a:ext cx="4449896" cy="2886957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476250" y="6265530"/>
            <a:ext cx="1161709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i="1" dirty="0"/>
              <a:t>Напр. Brent−0.8⋅Бензин−0.7⋅Дизель∼I(0)</a:t>
            </a:r>
            <a:r>
              <a:rPr lang="en-US" i="1" dirty="0"/>
              <a:t>-</a:t>
            </a:r>
            <a:r>
              <a:rPr lang="ru-RU" i="1" dirty="0"/>
              <a:t> маржа между нефтью и продуктами стабильна — возможен арбитраж.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498304" y="2657789"/>
            <a:ext cx="508184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srgbClr val="333333"/>
                </a:solidFill>
                <a:latin typeface="Source Sans Pro" panose="020B0503030403020204" pitchFamily="34" charset="0"/>
              </a:rPr>
              <a:t> U.S. 3-month treasury bills, U.S. 10-years treasury bonds </a:t>
            </a:r>
            <a:endParaRPr lang="ru-RU" sz="1600" dirty="0"/>
          </a:p>
        </p:txBody>
      </p:sp>
      <p:pic>
        <p:nvPicPr>
          <p:cNvPr id="12" name="Picture 2" descr="https://www.econometrics-with-r.org/ITER_files/figure-html/unnamed-chunk-733-1.png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5" t="5782" r="32452" b="89203"/>
          <a:stretch/>
        </p:blipFill>
        <p:spPr bwMode="auto">
          <a:xfrm>
            <a:off x="7281804" y="3194255"/>
            <a:ext cx="1333501" cy="15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92119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77643"/>
            <a:ext cx="10515600" cy="621846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err="1"/>
              <a:t>Коинтегрированность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38352" y="691768"/>
                <a:ext cx="11715296" cy="551838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Если два ВР X и Y имеют стационарность разностей</a:t>
                </a:r>
                <a:r>
                  <a:rPr lang="en-US" sz="2400" dirty="0"/>
                  <a:t> </a:t>
                </a:r>
                <a:r>
                  <a:rPr lang="ru-RU" sz="2400" dirty="0"/>
                  <a:t> I(1) и если существует θ , такое, что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равно I(0) , то X и Y </a:t>
                </a:r>
                <a:r>
                  <a:rPr lang="ru-RU" sz="2400" dirty="0" err="1"/>
                  <a:t>коинтегрированы</a:t>
                </a:r>
                <a:r>
                  <a:rPr lang="ru-RU" sz="2400" dirty="0"/>
                  <a:t>.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Если θ известна, </a:t>
                </a:r>
                <a:r>
                  <a:rPr lang="ru-RU" sz="2400" dirty="0" err="1"/>
                  <a:t>коинтеграция</a:t>
                </a:r>
                <a:r>
                  <a:rPr lang="ru-RU" sz="2400" dirty="0"/>
                  <a:t> – проверка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 на стационарность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Если θ не известна, то можно оценить регрессией и проверить остатки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 на стационарность (тест </a:t>
                </a:r>
                <a:r>
                  <a:rPr lang="ru-RU" sz="2400" dirty="0" err="1"/>
                  <a:t>Энгла</a:t>
                </a:r>
                <a:r>
                  <a:rPr lang="ru-RU" sz="2400" dirty="0"/>
                  <a:t>–</a:t>
                </a:r>
                <a:r>
                  <a:rPr lang="ru-RU" sz="2400" dirty="0" err="1"/>
                  <a:t>Грейнджера</a:t>
                </a:r>
                <a:r>
                  <a:rPr lang="ru-RU" sz="2400" dirty="0"/>
                  <a:t> (</a:t>
                </a:r>
                <a:r>
                  <a:rPr lang="en-US" sz="2400" dirty="0"/>
                  <a:t>Engle-Granger)</a:t>
                </a:r>
                <a:r>
                  <a:rPr lang="ru-RU" sz="2400" dirty="0"/>
                  <a:t>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Также можно оценить </a:t>
                </a:r>
                <a:r>
                  <a:rPr lang="ru-RU" sz="2400" dirty="0" err="1"/>
                  <a:t>коинтеграцию</a:t>
                </a:r>
                <a:r>
                  <a:rPr lang="ru-RU" sz="2400" dirty="0"/>
                  <a:t> как добавку к </a:t>
                </a:r>
                <a:r>
                  <a:rPr lang="en-US" sz="2400" dirty="0"/>
                  <a:t>VAR:</a:t>
                </a:r>
              </a:p>
              <a:p>
                <a:pPr marL="914400" lvl="2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ru-RU" sz="2400" dirty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где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- </a:t>
                </a:r>
                <a:r>
                  <a:rPr lang="en-US" dirty="0"/>
                  <a:t>VAR,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/>
                  <a:t> – </a:t>
                </a:r>
                <a:r>
                  <a:rPr lang="ru-RU" b="1" dirty="0"/>
                  <a:t>матрица </a:t>
                </a:r>
                <a:r>
                  <a:rPr lang="ru-RU" b="1" dirty="0" err="1"/>
                  <a:t>коинтеграции</a:t>
                </a:r>
                <a:r>
                  <a:rPr lang="ru-RU" b="1" dirty="0"/>
                  <a:t> ранга </a:t>
                </a:r>
                <a:r>
                  <a:rPr lang="en-US" b="1" dirty="0"/>
                  <a:t>r</a:t>
                </a:r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b="0" i="0" dirty="0">
                    <a:latin typeface="+mj-lt"/>
                  </a:rPr>
                  <a:t>нет </a:t>
                </a:r>
                <a:r>
                  <a:rPr lang="ru-RU" b="0" i="0" dirty="0" err="1">
                    <a:latin typeface="+mj-lt"/>
                  </a:rPr>
                  <a:t>коинтеграций</a:t>
                </a:r>
                <a:r>
                  <a:rPr lang="ru-RU" b="0" i="0" dirty="0"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(число ВР) – есть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</a:t>
                </a:r>
                <a:r>
                  <a:rPr lang="ru-RU" sz="2000" dirty="0" err="1"/>
                  <a:t>коинтеграций</a:t>
                </a:r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все ВР стационарны (все и так I(0))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	</a:t>
                </a:r>
                <a:r>
                  <a:rPr lang="ru-RU" i="1" dirty="0"/>
                  <a:t>проверка статистик на </a:t>
                </a:r>
                <a:r>
                  <a:rPr lang="en-US" i="1" dirty="0"/>
                  <a:t>r 2 </a:t>
                </a:r>
                <a:r>
                  <a:rPr lang="ru-RU" i="1" dirty="0"/>
                  <a:t>особыми способами!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	Тест матрицы </a:t>
                </a:r>
                <a:r>
                  <a:rPr lang="en-US" b="1" dirty="0"/>
                  <a:t>B</a:t>
                </a:r>
                <a:r>
                  <a:rPr lang="ru-RU" dirty="0"/>
                  <a:t> – </a:t>
                </a:r>
                <a:r>
                  <a:rPr lang="ru-RU" b="1" dirty="0"/>
                  <a:t>тест </a:t>
                </a:r>
                <a:r>
                  <a:rPr lang="ru-RU" b="1" dirty="0" err="1"/>
                  <a:t>Йохансена</a:t>
                </a:r>
                <a:r>
                  <a:rPr lang="ru-RU" b="1" dirty="0"/>
                  <a:t>.</a:t>
                </a:r>
                <a:endParaRPr lang="en-US" b="1" dirty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Модель </a:t>
                </a:r>
                <a:r>
                  <a:rPr lang="en-US" dirty="0"/>
                  <a:t>VAR </a:t>
                </a:r>
                <a:r>
                  <a:rPr lang="ru-RU" dirty="0"/>
                  <a:t>для </a:t>
                </a:r>
                <a:r>
                  <a:rPr lang="ru-RU" dirty="0" err="1"/>
                  <a:t>коинтегрированных</a:t>
                </a:r>
                <a:r>
                  <a:rPr lang="ru-RU" dirty="0"/>
                  <a:t> ВР - </a:t>
                </a:r>
                <a:r>
                  <a:rPr lang="es-ES" b="1" dirty="0"/>
                  <a:t>vector error correction model (VECM)</a:t>
                </a:r>
                <a:endParaRPr lang="ru-RU" b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352" y="691768"/>
                <a:ext cx="11715296" cy="5518383"/>
              </a:xfrm>
              <a:blipFill>
                <a:blip r:embed="rId3"/>
                <a:stretch>
                  <a:fillRect l="-758" t="-1376" r="-8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7715704" y="6317873"/>
            <a:ext cx="437972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https://www.numberanalytics.com/blog/cointegration-basics-time-series</a:t>
            </a:r>
            <a:endParaRPr lang="ru-RU" sz="11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3413124" y="6613076"/>
            <a:ext cx="884827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https://eodhd.com/financial-academy/portfolio-performance-examples/benchmark-tracking-and-cointegration-analysis-with-python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8122360" y="6147343"/>
            <a:ext cx="40696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https://www.econometrics-with-r.org/16.3-cointegration.html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328080" y="6170950"/>
            <a:ext cx="51256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/>
              <a:t>Интуиция </a:t>
            </a:r>
            <a:r>
              <a:rPr lang="es-ES" b="1" dirty="0"/>
              <a:t>VECM</a:t>
            </a:r>
            <a:r>
              <a:rPr lang="ru-RU" b="1" dirty="0"/>
              <a:t> – это </a:t>
            </a:r>
            <a:r>
              <a:rPr lang="en-US" b="1" dirty="0"/>
              <a:t>VARI</a:t>
            </a:r>
            <a:r>
              <a:rPr lang="ru-RU" b="1" dirty="0"/>
              <a:t> </a:t>
            </a:r>
            <a:r>
              <a:rPr lang="en-US" b="1" dirty="0"/>
              <a:t> + </a:t>
            </a:r>
            <a:r>
              <a:rPr lang="ru-RU" b="1" dirty="0"/>
              <a:t>взаимные эффекты 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5257800" y="6505354"/>
            <a:ext cx="60960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800" dirty="0"/>
              <a:t>https://readmedium.com/unveiling-cointegration-johansen-test-explained-with-python-examples-db8385219f1f</a:t>
            </a:r>
          </a:p>
        </p:txBody>
      </p:sp>
    </p:spTree>
    <p:extLst>
      <p:ext uri="{BB962C8B-B14F-4D97-AF65-F5344CB8AC3E}">
        <p14:creationId xmlns:p14="http://schemas.microsoft.com/office/powerpoint/2010/main" val="36175245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310A8-1639-074E-D1B0-CAC9C025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521" y="365126"/>
            <a:ext cx="11103279" cy="787270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E9037AD2-3D62-1E05-80BD-810A0CC0BA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6975998"/>
              </p:ext>
            </p:extLst>
          </p:nvPr>
        </p:nvGraphicFramePr>
        <p:xfrm>
          <a:off x="838200" y="1825625"/>
          <a:ext cx="1051559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14483739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8097396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292674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248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Стационарный ВР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AD</a:t>
                      </a:r>
                      <a:r>
                        <a:rPr lang="en-US" dirty="0"/>
                        <a:t>F, KPSS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321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корреляции</a:t>
                      </a:r>
                      <a:r>
                        <a:rPr lang="en-US" dirty="0"/>
                        <a:t> + </a:t>
                      </a:r>
                      <a:r>
                        <a:rPr lang="en-US" dirty="0" err="1"/>
                        <a:t>стац</a:t>
                      </a:r>
                      <a:r>
                        <a:rPr lang="ru-RU" dirty="0" err="1"/>
                        <a:t>ионарность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Cross</a:t>
                      </a:r>
                      <a:r>
                        <a:rPr lang="en-US" dirty="0"/>
                        <a:t>-</a:t>
                      </a:r>
                      <a:r>
                        <a:rPr lang="en-US" dirty="0" err="1"/>
                        <a:t>cor</a:t>
                      </a:r>
                      <a:r>
                        <a:rPr lang="en-US" dirty="0"/>
                        <a:t>, f-test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 + </a:t>
                      </a:r>
                      <a:r>
                        <a:rPr lang="ru-RU" dirty="0"/>
                        <a:t>регуляризация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037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казуальность</a:t>
                      </a:r>
                      <a:r>
                        <a:rPr lang="en-US" dirty="0"/>
                        <a:t>+ </a:t>
                      </a:r>
                      <a:r>
                        <a:rPr lang="en-US" dirty="0" err="1"/>
                        <a:t>стац</a:t>
                      </a:r>
                      <a:r>
                        <a:rPr lang="ru-RU" dirty="0" err="1"/>
                        <a:t>ионарность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Granger-test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SVAR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30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Ес</a:t>
                      </a:r>
                      <a:r>
                        <a:rPr lang="ru-RU" dirty="0" err="1"/>
                        <a:t>ть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коинтеграции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Johansen test</a:t>
                      </a:r>
                      <a:r>
                        <a:rPr lang="ru-RU" dirty="0"/>
                        <a:t> </a:t>
                      </a:r>
                      <a:r>
                        <a:rPr lang="e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Engle-Granger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VEC</a:t>
                      </a:r>
                      <a:r>
                        <a:rPr lang="en-US" dirty="0"/>
                        <a:t>M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02716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742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многомерных ВР</a:t>
            </a: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6582924"/>
              </p:ext>
            </p:extLst>
          </p:nvPr>
        </p:nvGraphicFramePr>
        <p:xfrm>
          <a:off x="374649" y="1437483"/>
          <a:ext cx="11198225" cy="2486025"/>
        </p:xfrm>
        <a:graphic>
          <a:graphicData uri="http://schemas.openxmlformats.org/drawingml/2006/table">
            <a:tbl>
              <a:tblPr/>
              <a:tblGrid>
                <a:gridCol w="2435226">
                  <a:extLst>
                    <a:ext uri="{9D8B030D-6E8A-4147-A177-3AD203B41FA5}">
                      <a16:colId xmlns:a16="http://schemas.microsoft.com/office/drawing/2014/main" val="1298172271"/>
                    </a:ext>
                  </a:extLst>
                </a:gridCol>
                <a:gridCol w="5038725">
                  <a:extLst>
                    <a:ext uri="{9D8B030D-6E8A-4147-A177-3AD203B41FA5}">
                      <a16:colId xmlns:a16="http://schemas.microsoft.com/office/drawing/2014/main" val="2225433765"/>
                    </a:ext>
                  </a:extLst>
                </a:gridCol>
                <a:gridCol w="3724274">
                  <a:extLst>
                    <a:ext uri="{9D8B030D-6E8A-4147-A177-3AD203B41FA5}">
                      <a16:colId xmlns:a16="http://schemas.microsoft.com/office/drawing/2014/main" val="3005667624"/>
                    </a:ext>
                  </a:extLst>
                </a:gridCol>
              </a:tblGrid>
              <a:tr h="6152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Тип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Описание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Пример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436517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Связанные ряды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Переменные влияют друг на друга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и давление в реакторе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4701474"/>
                  </a:ext>
                </a:extLst>
              </a:tr>
              <a:tr h="6152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Многосерийные ряды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 независимых рядов (одномерных)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Продажи по 100 магазинам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196808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Пространственно-временные поля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Данные на сетке (</a:t>
                      </a:r>
                      <a:r>
                        <a:rPr lang="ru-RU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гео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датчики)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по датчикам в цеху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687255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 иерархией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Ряды связаны иерархически (регион → магазин)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Общие продажи → по магазинам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176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5" y="2016125"/>
            <a:ext cx="776287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Преимущества МВР:</a:t>
            </a:r>
            <a:endParaRPr lang="ru-RU" dirty="0"/>
          </a:p>
          <a:p>
            <a:r>
              <a:rPr lang="ru-RU" dirty="0"/>
              <a:t>Учет взаимосвязей между переменными </a:t>
            </a:r>
          </a:p>
          <a:p>
            <a:pPr lvl="1"/>
            <a:r>
              <a:rPr lang="ru-RU" dirty="0"/>
              <a:t>Анализ причинно-следственных связей</a:t>
            </a:r>
          </a:p>
          <a:p>
            <a:pPr lvl="1"/>
            <a:r>
              <a:rPr lang="ru-RU" dirty="0"/>
              <a:t>Обнаружение общих трендов и циклов</a:t>
            </a:r>
          </a:p>
          <a:p>
            <a:r>
              <a:rPr lang="ru-RU" dirty="0"/>
              <a:t>Возможность создания глобальных моделей – одна модель для группы ВР</a:t>
            </a:r>
          </a:p>
          <a:p>
            <a:pPr marL="0" indent="0">
              <a:buNone/>
            </a:pPr>
            <a:r>
              <a:rPr lang="ru-RU" b="1" dirty="0"/>
              <a:t>Проблемы МВР:</a:t>
            </a:r>
            <a:endParaRPr lang="ru-RU" dirty="0"/>
          </a:p>
          <a:p>
            <a:r>
              <a:rPr lang="ru-RU" dirty="0"/>
              <a:t>Усложнение интерпретации</a:t>
            </a:r>
          </a:p>
          <a:p>
            <a:r>
              <a:rPr lang="ru-RU" dirty="0"/>
              <a:t>Усложнение подбора </a:t>
            </a:r>
            <a:r>
              <a:rPr lang="ru-RU" dirty="0" err="1"/>
              <a:t>гиперпараметров</a:t>
            </a:r>
            <a:r>
              <a:rPr lang="ru-RU" dirty="0"/>
              <a:t> глобальных моделей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99530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7650" y="365125"/>
            <a:ext cx="11106150" cy="815975"/>
          </a:xfrm>
        </p:spPr>
        <p:txBody>
          <a:bodyPr/>
          <a:lstStyle/>
          <a:p>
            <a:r>
              <a:rPr lang="ru-RU" dirty="0"/>
              <a:t>Особенности предварительного анализа МВР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47649" y="1181100"/>
            <a:ext cx="11553825" cy="5286375"/>
          </a:xfrm>
        </p:spPr>
        <p:txBody>
          <a:bodyPr/>
          <a:lstStyle/>
          <a:p>
            <a:r>
              <a:rPr lang="ru-RU" dirty="0"/>
              <a:t>При МВР важно чтобы каждый ряд </a:t>
            </a:r>
            <a:r>
              <a:rPr lang="ru-RU" dirty="0" err="1"/>
              <a:t>небыл</a:t>
            </a:r>
            <a:r>
              <a:rPr lang="ru-RU" dirty="0"/>
              <a:t> сдвинутой копией другого. </a:t>
            </a:r>
          </a:p>
          <a:p>
            <a:pPr lvl="1"/>
            <a:r>
              <a:rPr lang="ru-RU"/>
              <a:t>Все </a:t>
            </a:r>
            <a:r>
              <a:rPr lang="ru-RU" dirty="0"/>
              <a:t>ВР должны быть </a:t>
            </a:r>
            <a:r>
              <a:rPr lang="ru-RU"/>
              <a:t>независимы.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117295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</TotalTime>
  <Words>1615</Words>
  <Application>Microsoft Macintosh PowerPoint</Application>
  <PresentationFormat>Широкоэкранный</PresentationFormat>
  <Paragraphs>160</Paragraphs>
  <Slides>16</Slides>
  <Notes>5</Notes>
  <HiddenSlides>3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Source Sans Pro</vt:lpstr>
      <vt:lpstr>system-ui</vt:lpstr>
      <vt:lpstr>Work Sans</vt:lpstr>
      <vt:lpstr>Тема Office</vt:lpstr>
      <vt:lpstr>Многомерные временные ряды</vt:lpstr>
      <vt:lpstr>Определение многомерных ВР</vt:lpstr>
      <vt:lpstr>Типы ВР: Многомерные ВР</vt:lpstr>
      <vt:lpstr>Определение многомерных ВР</vt:lpstr>
      <vt:lpstr>Векторная авторегрессия</vt:lpstr>
      <vt:lpstr>Типы связей в МВР</vt:lpstr>
      <vt:lpstr>Типы связей в МВР</vt:lpstr>
      <vt:lpstr>Казуальность МВР</vt:lpstr>
      <vt:lpstr>Казуальность МВР</vt:lpstr>
      <vt:lpstr>Казуальность МВР</vt:lpstr>
      <vt:lpstr>Коинтегрированность</vt:lpstr>
      <vt:lpstr>Коинтегрированность</vt:lpstr>
      <vt:lpstr>Презентация PowerPoint</vt:lpstr>
      <vt:lpstr>Типы многомерных ВР</vt:lpstr>
      <vt:lpstr>Презентация PowerPoint</vt:lpstr>
      <vt:lpstr>Особенности предварительного анализа МВР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Многомерные временные ряды</dc:title>
  <dc:creator>Ронкин Михаил Владимирович</dc:creator>
  <cp:lastModifiedBy>Ронкин Михаил Владимирович</cp:lastModifiedBy>
  <cp:revision>30</cp:revision>
  <dcterms:created xsi:type="dcterms:W3CDTF">2025-08-05T06:08:07Z</dcterms:created>
  <dcterms:modified xsi:type="dcterms:W3CDTF">2025-08-08T12:46:10Z</dcterms:modified>
</cp:coreProperties>
</file>