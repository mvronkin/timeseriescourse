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1" r:id="rId4"/>
    <p:sldId id="260" r:id="rId5"/>
    <p:sldId id="259" r:id="rId6"/>
    <p:sldId id="262" r:id="rId7"/>
    <p:sldId id="263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78" y="6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05.08.2025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4204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05.08.2025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9219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05.08.2025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7482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05.08.2025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637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05.08.2025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4145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05.08.2025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4573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05.08.2025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9187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05.08.2025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6594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05.08.2025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4507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05.08.2025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3371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05.08.2025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6000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6C04D8-B49B-4D86-A6B2-820C9FC8BA05}" type="datetimeFigureOut">
              <a:rPr lang="ru-RU" smtClean="0"/>
              <a:t>05.08.2025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1287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Многомерные временные ряды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340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2425" y="365126"/>
            <a:ext cx="11001375" cy="53975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Определение многомерных ВР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6224" y="904876"/>
            <a:ext cx="11534775" cy="2762249"/>
          </a:xfrm>
        </p:spPr>
        <p:txBody>
          <a:bodyPr/>
          <a:lstStyle/>
          <a:p>
            <a:pPr marL="0" indent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None/>
            </a:pPr>
            <a:r>
              <a:rPr lang="ru-RU" sz="2400" b="1" dirty="0" smtClean="0"/>
              <a:t>Многомерный временной ряд</a:t>
            </a:r>
            <a:r>
              <a:rPr lang="en-US" sz="2400" b="1" dirty="0" smtClean="0"/>
              <a:t> </a:t>
            </a:r>
            <a:r>
              <a:rPr lang="ru-RU" sz="2400" b="1" dirty="0" smtClean="0"/>
              <a:t>(МВР)</a:t>
            </a:r>
            <a:r>
              <a:rPr lang="ru-RU" sz="2400" dirty="0" smtClean="0"/>
              <a:t> - это набор из одномерных временных рядов, наблюдаемых одновременно</a:t>
            </a:r>
            <a:r>
              <a:rPr lang="en-US" sz="2400" dirty="0" smtClean="0"/>
              <a:t> </a:t>
            </a:r>
            <a:r>
              <a:rPr lang="ru-RU" sz="2400" b="1" dirty="0" smtClean="0"/>
              <a:t>и имеющих общую информацию</a:t>
            </a:r>
            <a:r>
              <a:rPr lang="en-US" sz="2400" b="1" dirty="0" smtClean="0"/>
              <a:t>!</a:t>
            </a:r>
            <a:endParaRPr lang="ru-RU" altLang="ru-RU" sz="2400" b="1" dirty="0" smtClean="0"/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400" dirty="0" smtClean="0"/>
              <a:t>Экономические </a:t>
            </a:r>
            <a:r>
              <a:rPr lang="ru-RU" altLang="ru-RU" sz="2400" dirty="0"/>
              <a:t>показатели: ВВП, инфляция, безработица </a:t>
            </a: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400" dirty="0"/>
              <a:t>Финансовые данные: курсы валют, цены акций, процентные ставки </a:t>
            </a: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400" dirty="0" err="1"/>
              <a:t>IoT</a:t>
            </a:r>
            <a:r>
              <a:rPr lang="ru-RU" altLang="ru-RU" sz="2400" dirty="0"/>
              <a:t> сенсоры: температура, влажность, давление, освещенность </a:t>
            </a: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400" dirty="0"/>
              <a:t>Веб-аналитика: посещения, конверсия, время на сайте </a:t>
            </a:r>
            <a:endParaRPr lang="ru-RU" dirty="0"/>
          </a:p>
        </p:txBody>
      </p:sp>
      <p:sp>
        <p:nvSpPr>
          <p:cNvPr id="5" name="AutoShape 2" descr="Example of multivariate time series data. | Download Scientific Diagram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975" y="3572895"/>
            <a:ext cx="6738937" cy="3051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2994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2425" y="365126"/>
            <a:ext cx="11001375" cy="53975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Определение многомерных ВР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6224" y="904876"/>
            <a:ext cx="11534775" cy="2762249"/>
          </a:xfrm>
        </p:spPr>
        <p:txBody>
          <a:bodyPr/>
          <a:lstStyle/>
          <a:p>
            <a:pPr marL="0" indent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None/>
            </a:pPr>
            <a:r>
              <a:rPr lang="ru-RU" sz="2400" b="1" dirty="0" smtClean="0"/>
              <a:t>Многомерный временной ряд</a:t>
            </a:r>
            <a:r>
              <a:rPr lang="en-US" sz="2400" b="1" dirty="0" smtClean="0"/>
              <a:t> </a:t>
            </a:r>
            <a:r>
              <a:rPr lang="ru-RU" sz="2400" b="1" dirty="0" smtClean="0"/>
              <a:t>(МВР)</a:t>
            </a:r>
            <a:r>
              <a:rPr lang="ru-RU" sz="2400" dirty="0" smtClean="0"/>
              <a:t> - это набор из одномерных временных рядов, наблюдаемых одновременно</a:t>
            </a:r>
            <a:r>
              <a:rPr lang="en-US" sz="2400" dirty="0" smtClean="0"/>
              <a:t> </a:t>
            </a:r>
            <a:r>
              <a:rPr lang="ru-RU" sz="2400" b="1" dirty="0" smtClean="0"/>
              <a:t>и имеющих общую информацию</a:t>
            </a:r>
            <a:r>
              <a:rPr lang="en-US" sz="2400" b="1" dirty="0" smtClean="0"/>
              <a:t>!</a:t>
            </a:r>
            <a:endParaRPr lang="ru-RU" altLang="ru-RU" sz="2400" b="1" dirty="0" smtClean="0"/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400" dirty="0" smtClean="0"/>
              <a:t>Экономические </a:t>
            </a:r>
            <a:r>
              <a:rPr lang="ru-RU" altLang="ru-RU" sz="2400" dirty="0"/>
              <a:t>показатели: ВВП, инфляция, безработица </a:t>
            </a: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400" dirty="0"/>
              <a:t>Финансовые данные: курсы валют, цены акций, процентные ставки </a:t>
            </a: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400" dirty="0" err="1"/>
              <a:t>IoT</a:t>
            </a:r>
            <a:r>
              <a:rPr lang="ru-RU" altLang="ru-RU" sz="2400" dirty="0"/>
              <a:t> сенсоры: температура, влажность, давление, освещенность </a:t>
            </a: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400" dirty="0"/>
              <a:t>Веб-аналитика: посещения, конверсия, время на сайте 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46674870"/>
              </p:ext>
            </p:extLst>
          </p:nvPr>
        </p:nvGraphicFramePr>
        <p:xfrm>
          <a:off x="352425" y="3597275"/>
          <a:ext cx="11553825" cy="310515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772151">
                  <a:extLst>
                    <a:ext uri="{9D8B030D-6E8A-4147-A177-3AD203B41FA5}">
                      <a16:colId xmlns:a16="http://schemas.microsoft.com/office/drawing/2014/main" val="1609488883"/>
                    </a:ext>
                  </a:extLst>
                </a:gridCol>
                <a:gridCol w="5781674">
                  <a:extLst>
                    <a:ext uri="{9D8B030D-6E8A-4147-A177-3AD203B41FA5}">
                      <a16:colId xmlns:a16="http://schemas.microsoft.com/office/drawing/2014/main" val="499434099"/>
                    </a:ext>
                  </a:extLst>
                </a:gridCol>
              </a:tblGrid>
              <a:tr h="193665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Проблема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>
                          <a:effectLst/>
                        </a:rPr>
                        <a:t>Решение с помощью МВР</a:t>
                      </a:r>
                      <a:endParaRPr lang="ru-RU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20299146"/>
                  </a:ext>
                </a:extLst>
              </a:tr>
              <a:tr h="307213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Одномерный ряд не улавливает влияние других </a:t>
                      </a:r>
                      <a:r>
                        <a:rPr lang="ru-RU" sz="2000" u="none" strike="noStrike" dirty="0" smtClean="0">
                          <a:effectLst/>
                        </a:rPr>
                        <a:t>связанных факторов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 smtClean="0">
                          <a:effectLst/>
                        </a:rPr>
                        <a:t>Учет взаимного</a:t>
                      </a:r>
                      <a:r>
                        <a:rPr lang="ru-RU" sz="2000" u="none" strike="noStrike" baseline="0" dirty="0" smtClean="0">
                          <a:effectLst/>
                        </a:rPr>
                        <a:t> влияния ВР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86143181"/>
                  </a:ext>
                </a:extLst>
              </a:tr>
              <a:tr h="155581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Глобальные экзогенные факторы не учитываются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учитываются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26728713"/>
                  </a:ext>
                </a:extLst>
              </a:tr>
              <a:tr h="381462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Нет оценки причинно-следственных </a:t>
                      </a:r>
                      <a:r>
                        <a:rPr lang="ru-RU" sz="2000" u="none" strike="noStrike" dirty="0" smtClean="0">
                          <a:effectLst/>
                        </a:rPr>
                        <a:t>связей между</a:t>
                      </a:r>
                      <a:r>
                        <a:rPr lang="ru-RU" sz="2000" u="none" strike="noStrike" baseline="0" dirty="0" smtClean="0">
                          <a:effectLst/>
                        </a:rPr>
                        <a:t> всеми связанным переменными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Используем </a:t>
                      </a:r>
                      <a:r>
                        <a:rPr lang="en-US" sz="2000" u="none" strike="noStrike" dirty="0">
                          <a:effectLst/>
                        </a:rPr>
                        <a:t>Granger </a:t>
                      </a:r>
                      <a:r>
                        <a:rPr lang="en-US" sz="2000" u="none" strike="noStrike" dirty="0" smtClean="0">
                          <a:effectLst/>
                        </a:rPr>
                        <a:t>causality</a:t>
                      </a:r>
                      <a:r>
                        <a:rPr lang="ru-RU" sz="2000" u="none" strike="noStrike" dirty="0" smtClean="0">
                          <a:effectLst/>
                        </a:rPr>
                        <a:t> 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14732579"/>
                  </a:ext>
                </a:extLst>
              </a:tr>
              <a:tr h="381462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Прогноз нестабильности при шоках внешних факторов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u="none" strike="noStrike" dirty="0" smtClean="0">
                          <a:effectLst/>
                        </a:rPr>
                        <a:t>МВР учитывает реакцию всей системы</a:t>
                      </a:r>
                      <a:endParaRPr lang="ru-RU" sz="2000" b="0" i="0" u="none" strike="noStrike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1014944"/>
                  </a:ext>
                </a:extLst>
              </a:tr>
              <a:tr h="381462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Много похожих рядов (1000 </a:t>
                      </a:r>
                      <a:r>
                        <a:rPr lang="ru-RU" sz="2000" u="none" strike="noStrike" dirty="0" smtClean="0">
                          <a:effectLst/>
                        </a:rPr>
                        <a:t>датчиков температуры в техпроцессе) требуют</a:t>
                      </a:r>
                      <a:r>
                        <a:rPr lang="ru-RU" sz="2000" u="none" strike="noStrike" baseline="0" dirty="0" smtClean="0">
                          <a:effectLst/>
                        </a:rPr>
                        <a:t> настройки разных моделей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Глобальные модели + динамические факторы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42014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0958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0025" y="365126"/>
            <a:ext cx="11153775" cy="768350"/>
          </a:xfrm>
        </p:spPr>
        <p:txBody>
          <a:bodyPr/>
          <a:lstStyle/>
          <a:p>
            <a:r>
              <a:rPr lang="ru-RU" dirty="0" smtClean="0"/>
              <a:t>Типы ВР: Многомерные ВР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0100" y="1133476"/>
            <a:ext cx="9886950" cy="547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4197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6225" y="2016125"/>
            <a:ext cx="776287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b="1" dirty="0" smtClean="0"/>
              <a:t>Преимущества МВР:</a:t>
            </a:r>
            <a:endParaRPr lang="ru-RU" dirty="0" smtClean="0"/>
          </a:p>
          <a:p>
            <a:r>
              <a:rPr lang="ru-RU" dirty="0" smtClean="0"/>
              <a:t>Учет взаимосвязей между переменными </a:t>
            </a:r>
          </a:p>
          <a:p>
            <a:pPr lvl="1"/>
            <a:r>
              <a:rPr lang="ru-RU" dirty="0" smtClean="0"/>
              <a:t>Анализ причинно-следственных связей</a:t>
            </a:r>
          </a:p>
          <a:p>
            <a:pPr lvl="1"/>
            <a:r>
              <a:rPr lang="ru-RU" dirty="0" smtClean="0"/>
              <a:t>Обнаружение общих трендов и циклов</a:t>
            </a:r>
          </a:p>
          <a:p>
            <a:r>
              <a:rPr lang="ru-RU" dirty="0" smtClean="0"/>
              <a:t>Возможность создания глобальных моделей – одна модель для группы ВР</a:t>
            </a:r>
          </a:p>
          <a:p>
            <a:pPr marL="0" indent="0">
              <a:buNone/>
            </a:pPr>
            <a:r>
              <a:rPr lang="ru-RU" b="1" dirty="0" smtClean="0"/>
              <a:t>Проблемы МВР:</a:t>
            </a:r>
            <a:endParaRPr lang="ru-RU" dirty="0" smtClean="0"/>
          </a:p>
          <a:p>
            <a:r>
              <a:rPr lang="ru-RU" dirty="0" smtClean="0"/>
              <a:t>Усложнение интерпретации</a:t>
            </a:r>
          </a:p>
          <a:p>
            <a:r>
              <a:rPr lang="ru-RU" dirty="0" smtClean="0"/>
              <a:t>Усложнение подбора </a:t>
            </a:r>
            <a:r>
              <a:rPr lang="ru-RU" dirty="0" err="1" smtClean="0"/>
              <a:t>гиперпараметров</a:t>
            </a:r>
            <a:r>
              <a:rPr lang="ru-RU" dirty="0" smtClean="0"/>
              <a:t> глобальных моделей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399530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Типы многомерных ВР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14707823"/>
              </p:ext>
            </p:extLst>
          </p:nvPr>
        </p:nvGraphicFramePr>
        <p:xfrm>
          <a:off x="250824" y="1770856"/>
          <a:ext cx="11198225" cy="3578291"/>
        </p:xfrm>
        <a:graphic>
          <a:graphicData uri="http://schemas.openxmlformats.org/drawingml/2006/table">
            <a:tbl>
              <a:tblPr/>
              <a:tblGrid>
                <a:gridCol w="2463801">
                  <a:extLst>
                    <a:ext uri="{9D8B030D-6E8A-4147-A177-3AD203B41FA5}">
                      <a16:colId xmlns:a16="http://schemas.microsoft.com/office/drawing/2014/main" val="1298172271"/>
                    </a:ext>
                  </a:extLst>
                </a:gridCol>
                <a:gridCol w="5010150">
                  <a:extLst>
                    <a:ext uri="{9D8B030D-6E8A-4147-A177-3AD203B41FA5}">
                      <a16:colId xmlns:a16="http://schemas.microsoft.com/office/drawing/2014/main" val="2225433765"/>
                    </a:ext>
                  </a:extLst>
                </a:gridCol>
                <a:gridCol w="3724274">
                  <a:extLst>
                    <a:ext uri="{9D8B030D-6E8A-4147-A177-3AD203B41FA5}">
                      <a16:colId xmlns:a16="http://schemas.microsoft.com/office/drawing/2014/main" val="3005667624"/>
                    </a:ext>
                  </a:extLst>
                </a:gridCol>
              </a:tblGrid>
              <a:tr h="667852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Тип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Описание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Пример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0436517"/>
                  </a:ext>
                </a:extLst>
              </a:tr>
              <a:tr h="699227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Связанные ряды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Переменные влияют друг на друга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Температура и давление в реакторе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4701474"/>
                  </a:ext>
                </a:extLst>
              </a:tr>
              <a:tr h="892860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Многосерийные ряды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Много независимых рядов (одномерных)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Продажи по 100 магазинам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1196808"/>
                  </a:ext>
                </a:extLst>
              </a:tr>
              <a:tr h="398330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Пространственно-временные поля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Данные на сетке (</a:t>
                      </a:r>
                      <a:r>
                        <a:rPr lang="ru-RU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гео</a:t>
                      </a: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датчики)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Температура по датчикам в цеху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3687255"/>
                  </a:ext>
                </a:extLst>
              </a:tr>
              <a:tr h="699227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 иерархией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Ряды связаны иерархически (регион → магазин)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Общие продажи → по магазинам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1985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31760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7650" y="365125"/>
            <a:ext cx="11106150" cy="815975"/>
          </a:xfrm>
        </p:spPr>
        <p:txBody>
          <a:bodyPr/>
          <a:lstStyle/>
          <a:p>
            <a:r>
              <a:rPr lang="ru-RU" dirty="0" smtClean="0"/>
              <a:t>Особенности предварительного анализа МВР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47649" y="1181100"/>
            <a:ext cx="11553825" cy="5286375"/>
          </a:xfrm>
        </p:spPr>
        <p:txBody>
          <a:bodyPr/>
          <a:lstStyle/>
          <a:p>
            <a:r>
              <a:rPr lang="ru-RU" dirty="0" smtClean="0"/>
              <a:t>При МВР важно чтобы каждый ряд </a:t>
            </a:r>
            <a:r>
              <a:rPr lang="ru-RU" dirty="0" err="1" smtClean="0"/>
              <a:t>небыл</a:t>
            </a:r>
            <a:r>
              <a:rPr lang="ru-RU" dirty="0" smtClean="0"/>
              <a:t> сдвинутой копией другого. </a:t>
            </a:r>
          </a:p>
          <a:p>
            <a:pPr lvl="1"/>
            <a:r>
              <a:rPr lang="ru-RU" smtClean="0"/>
              <a:t>Все </a:t>
            </a:r>
            <a:r>
              <a:rPr lang="ru-RU" dirty="0" smtClean="0"/>
              <a:t>ВР должны быть </a:t>
            </a:r>
            <a:r>
              <a:rPr lang="ru-RU" smtClean="0"/>
              <a:t>независимы.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81172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522</TotalTime>
  <Words>312</Words>
  <Application>Microsoft Office PowerPoint</Application>
  <PresentationFormat>Широкоэкранный</PresentationFormat>
  <Paragraphs>53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Тема Office</vt:lpstr>
      <vt:lpstr>Многомерные временные ряды</vt:lpstr>
      <vt:lpstr>Определение многомерных ВР</vt:lpstr>
      <vt:lpstr>Определение многомерных ВР</vt:lpstr>
      <vt:lpstr>Типы ВР: Многомерные ВР</vt:lpstr>
      <vt:lpstr>Презентация PowerPoint</vt:lpstr>
      <vt:lpstr>Типы многомерных ВР</vt:lpstr>
      <vt:lpstr>Особенности предварительного анализа МВР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Многомерные временные ряды</dc:title>
  <dc:creator>Ронкин Михаил Владимирович</dc:creator>
  <cp:lastModifiedBy>Ронкин Михаил Владимирович</cp:lastModifiedBy>
  <cp:revision>9</cp:revision>
  <dcterms:created xsi:type="dcterms:W3CDTF">2025-08-05T06:08:07Z</dcterms:created>
  <dcterms:modified xsi:type="dcterms:W3CDTF">2025-08-05T14:50:22Z</dcterms:modified>
</cp:coreProperties>
</file>