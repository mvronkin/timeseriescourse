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92" r:id="rId4"/>
    <p:sldId id="296" r:id="rId5"/>
    <p:sldId id="267" r:id="rId6"/>
    <p:sldId id="264" r:id="rId7"/>
    <p:sldId id="268" r:id="rId8"/>
    <p:sldId id="269" r:id="rId9"/>
    <p:sldId id="265" r:id="rId10"/>
    <p:sldId id="272" r:id="rId11"/>
    <p:sldId id="271" r:id="rId12"/>
    <p:sldId id="298" r:id="rId13"/>
    <p:sldId id="300" r:id="rId14"/>
    <p:sldId id="293" r:id="rId15"/>
    <p:sldId id="266" r:id="rId16"/>
    <p:sldId id="270" r:id="rId17"/>
    <p:sldId id="276" r:id="rId18"/>
    <p:sldId id="278" r:id="rId19"/>
    <p:sldId id="273" r:id="rId20"/>
    <p:sldId id="274" r:id="rId21"/>
    <p:sldId id="277" r:id="rId22"/>
    <p:sldId id="275" r:id="rId23"/>
    <p:sldId id="297" r:id="rId24"/>
    <p:sldId id="279" r:id="rId25"/>
    <p:sldId id="280" r:id="rId26"/>
    <p:sldId id="281" r:id="rId27"/>
    <p:sldId id="282" r:id="rId28"/>
    <p:sldId id="285" r:id="rId29"/>
    <p:sldId id="286" r:id="rId30"/>
    <p:sldId id="288" r:id="rId31"/>
    <p:sldId id="289" r:id="rId32"/>
    <p:sldId id="291" r:id="rId33"/>
    <p:sldId id="290" r:id="rId34"/>
    <p:sldId id="299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19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6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8/10/25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8/10/25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8/10/25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8/10/25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8/10/25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8/10/25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Обнаружение Аномалий</a:t>
            </a:r>
            <a:endParaRPr lang="en-US" b="1" dirty="0"/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/>
          <a:lstStyle/>
          <a:p>
            <a:pPr algn="l" rtl="0"/>
            <a:r>
              <a:rPr lang="en-US" b="1" dirty="0"/>
              <a:t>Обнаружение аномалий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41831" y="948583"/>
            <a:ext cx="11263357" cy="5811139"/>
          </a:xfrm>
        </p:spPr>
        <p:txBody>
          <a:bodyPr>
            <a:normAutofit/>
          </a:bodyPr>
          <a:lstStyle/>
          <a:p>
            <a:pPr lvl="0"/>
            <a:r>
              <a:rPr lang="ru-RU" sz="2200" b="1" dirty="0"/>
              <a:t>Задача обнаружения аномалий</a:t>
            </a:r>
            <a:endParaRPr lang="ru-RU" sz="2200" dirty="0"/>
          </a:p>
          <a:p>
            <a:pPr lvl="0"/>
            <a:r>
              <a:rPr lang="ru-RU" sz="2200" dirty="0"/>
              <a:t>Проблема обнаружения выбросов или аномалий для временных рядов обычно формулируется как обнаружение резких </a:t>
            </a:r>
            <a:r>
              <a:rPr lang="en-US" sz="2200" dirty="0"/>
              <a:t>(</a:t>
            </a:r>
            <a:r>
              <a:rPr lang="ru-RU" sz="2200" dirty="0"/>
              <a:t>относительно кратковременных</a:t>
            </a:r>
            <a:r>
              <a:rPr lang="en-US" sz="2200" dirty="0"/>
              <a:t>)</a:t>
            </a:r>
            <a:r>
              <a:rPr lang="ru-RU" sz="2200" dirty="0"/>
              <a:t> изменений значений данных относительно некоторых стандартных, например предшествующих значений ряда.</a:t>
            </a:r>
          </a:p>
          <a:p>
            <a:pPr lvl="0"/>
            <a:r>
              <a:rPr lang="ru-RU" sz="2200" dirty="0"/>
              <a:t>Таким образом, части (или сегменты) ряда аномалий должны существенно отличаться от остальных данных в статистическом смысле.</a:t>
            </a:r>
            <a:endParaRPr lang="ru-RU" altLang="ru-RU" sz="2000" dirty="0"/>
          </a:p>
          <a:p>
            <a:pPr algn="l" rtl="0"/>
            <a:endParaRPr lang="ru-RU" sz="2000" dirty="0"/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4208" y="3601811"/>
            <a:ext cx="6567019" cy="3157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676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/>
          <a:lstStyle/>
          <a:p>
            <a:pPr algn="l" rtl="0"/>
            <a:r>
              <a:rPr lang="en-US" b="1" dirty="0"/>
              <a:t>Обнаружение аномалий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41831" y="948583"/>
            <a:ext cx="11263357" cy="58111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>
                <a:solidFill>
                  <a:srgbClr val="000000"/>
                </a:solidFill>
              </a:rPr>
              <a:t>А</a:t>
            </a:r>
            <a:r>
              <a:rPr lang="en-US" sz="2200" dirty="0" err="1">
                <a:solidFill>
                  <a:srgbClr val="000000"/>
                </a:solidFill>
              </a:rPr>
              <a:t>номалия</a:t>
            </a:r>
            <a:r>
              <a:rPr lang="en-US" sz="2200" dirty="0">
                <a:solidFill>
                  <a:srgbClr val="000000"/>
                </a:solidFill>
              </a:rPr>
              <a:t> - </a:t>
            </a:r>
            <a:r>
              <a:rPr lang="en-US" sz="2200" dirty="0" err="1">
                <a:solidFill>
                  <a:srgbClr val="000000"/>
                </a:solidFill>
              </a:rPr>
              <a:t>это</a:t>
            </a:r>
            <a:r>
              <a:rPr lang="en-US" sz="2200" dirty="0">
                <a:solidFill>
                  <a:srgbClr val="000000"/>
                </a:solidFill>
              </a:rPr>
              <a:t> </a:t>
            </a:r>
            <a:r>
              <a:rPr lang="en-US" sz="2200" dirty="0" err="1">
                <a:solidFill>
                  <a:srgbClr val="000000"/>
                </a:solidFill>
              </a:rPr>
              <a:t>наблюдение</a:t>
            </a:r>
            <a:r>
              <a:rPr lang="en-US" sz="2200" dirty="0">
                <a:solidFill>
                  <a:srgbClr val="000000"/>
                </a:solidFill>
              </a:rPr>
              <a:t>, в </a:t>
            </a:r>
            <a:r>
              <a:rPr lang="en-US" sz="2200" dirty="0" err="1">
                <a:solidFill>
                  <a:srgbClr val="000000"/>
                </a:solidFill>
              </a:rPr>
              <a:t>котором</a:t>
            </a:r>
            <a:r>
              <a:rPr lang="en-US" sz="2200" dirty="0">
                <a:solidFill>
                  <a:srgbClr val="000000"/>
                </a:solidFill>
              </a:rPr>
              <a:t> </a:t>
            </a:r>
            <a:r>
              <a:rPr lang="en-US" sz="2200" dirty="0" err="1">
                <a:solidFill>
                  <a:srgbClr val="000000"/>
                </a:solidFill>
              </a:rPr>
              <a:t>по</a:t>
            </a:r>
            <a:r>
              <a:rPr lang="en-US" sz="2200" dirty="0">
                <a:solidFill>
                  <a:srgbClr val="000000"/>
                </a:solidFill>
              </a:rPr>
              <a:t> </a:t>
            </a:r>
            <a:r>
              <a:rPr lang="en-US" sz="2200" dirty="0" err="1">
                <a:solidFill>
                  <a:srgbClr val="000000"/>
                </a:solidFill>
              </a:rPr>
              <a:t>крайней</a:t>
            </a:r>
            <a:r>
              <a:rPr lang="en-US" sz="2200" dirty="0">
                <a:solidFill>
                  <a:srgbClr val="000000"/>
                </a:solidFill>
              </a:rPr>
              <a:t> </a:t>
            </a:r>
            <a:r>
              <a:rPr lang="en-US" sz="2200" dirty="0" err="1">
                <a:solidFill>
                  <a:srgbClr val="000000"/>
                </a:solidFill>
              </a:rPr>
              <a:t>мере</a:t>
            </a:r>
            <a:r>
              <a:rPr lang="en-US" sz="2200" dirty="0">
                <a:solidFill>
                  <a:srgbClr val="000000"/>
                </a:solidFill>
              </a:rPr>
              <a:t> </a:t>
            </a:r>
            <a:r>
              <a:rPr lang="en-US" sz="2200" dirty="0" err="1">
                <a:solidFill>
                  <a:srgbClr val="000000"/>
                </a:solidFill>
              </a:rPr>
              <a:t>одна</a:t>
            </a:r>
            <a:r>
              <a:rPr lang="en-US" sz="2200" dirty="0">
                <a:solidFill>
                  <a:srgbClr val="000000"/>
                </a:solidFill>
              </a:rPr>
              <a:t> </a:t>
            </a:r>
            <a:r>
              <a:rPr lang="en-US" sz="2200" dirty="0" err="1">
                <a:solidFill>
                  <a:srgbClr val="000000"/>
                </a:solidFill>
              </a:rPr>
              <a:t>переменная</a:t>
            </a:r>
            <a:r>
              <a:rPr lang="en-US" sz="2200" dirty="0">
                <a:solidFill>
                  <a:srgbClr val="000000"/>
                </a:solidFill>
              </a:rPr>
              <a:t> </a:t>
            </a:r>
            <a:r>
              <a:rPr lang="en-US" sz="2200" dirty="0" err="1">
                <a:solidFill>
                  <a:srgbClr val="000000"/>
                </a:solidFill>
              </a:rPr>
              <a:t>имеет</a:t>
            </a:r>
            <a:r>
              <a:rPr lang="en-US" sz="2200" dirty="0">
                <a:solidFill>
                  <a:srgbClr val="000000"/>
                </a:solidFill>
              </a:rPr>
              <a:t> </a:t>
            </a:r>
            <a:r>
              <a:rPr lang="en-US" sz="2200" dirty="0" err="1">
                <a:solidFill>
                  <a:srgbClr val="000000"/>
                </a:solidFill>
              </a:rPr>
              <a:t>необычное</a:t>
            </a:r>
            <a:r>
              <a:rPr lang="en-US" sz="2200" dirty="0">
                <a:solidFill>
                  <a:srgbClr val="000000"/>
                </a:solidFill>
              </a:rPr>
              <a:t> </a:t>
            </a:r>
            <a:r>
              <a:rPr lang="en-US" sz="2200" dirty="0" err="1">
                <a:solidFill>
                  <a:srgbClr val="000000"/>
                </a:solidFill>
              </a:rPr>
              <a:t>значение</a:t>
            </a:r>
            <a:r>
              <a:rPr lang="ru-RU" sz="2200" dirty="0">
                <a:solidFill>
                  <a:srgbClr val="000000"/>
                </a:solidFill>
              </a:rPr>
              <a:t> в соответствии с </a:t>
            </a:r>
            <a:r>
              <a:rPr lang="ru-RU" sz="2200" dirty="0" err="1">
                <a:solidFill>
                  <a:srgbClr val="000000"/>
                </a:solidFill>
              </a:rPr>
              <a:t>заднным</a:t>
            </a:r>
            <a:r>
              <a:rPr lang="ru-RU" sz="2200" dirty="0">
                <a:solidFill>
                  <a:srgbClr val="000000"/>
                </a:solidFill>
              </a:rPr>
              <a:t> критерием</a:t>
            </a:r>
            <a:r>
              <a:rPr 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sz="2200" dirty="0"/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594" y="3885268"/>
            <a:ext cx="6181931" cy="2972732"/>
          </a:xfrm>
          <a:prstGeom prst="rect">
            <a:avLst/>
          </a:prstGeom>
        </p:spPr>
      </p:pic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E3B9F4EA-C4AA-D4B2-7E29-CA1F67B44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501736"/>
              </p:ext>
            </p:extLst>
          </p:nvPr>
        </p:nvGraphicFramePr>
        <p:xfrm>
          <a:off x="1271989" y="1660228"/>
          <a:ext cx="8621193" cy="2225040"/>
        </p:xfrm>
        <a:graphic>
          <a:graphicData uri="http://schemas.openxmlformats.org/drawingml/2006/table">
            <a:tbl>
              <a:tblPr/>
              <a:tblGrid>
                <a:gridCol w="1904682">
                  <a:extLst>
                    <a:ext uri="{9D8B030D-6E8A-4147-A177-3AD203B41FA5}">
                      <a16:colId xmlns:a16="http://schemas.microsoft.com/office/drawing/2014/main" val="1627728832"/>
                    </a:ext>
                  </a:extLst>
                </a:gridCol>
                <a:gridCol w="3752081">
                  <a:extLst>
                    <a:ext uri="{9D8B030D-6E8A-4147-A177-3AD203B41FA5}">
                      <a16:colId xmlns:a16="http://schemas.microsoft.com/office/drawing/2014/main" val="2133845643"/>
                    </a:ext>
                  </a:extLst>
                </a:gridCol>
                <a:gridCol w="2964430">
                  <a:extLst>
                    <a:ext uri="{9D8B030D-6E8A-4147-A177-3AD203B41FA5}">
                      <a16:colId xmlns:a16="http://schemas.microsoft.com/office/drawing/2014/main" val="966753464"/>
                    </a:ext>
                  </a:extLst>
                </a:gridCol>
              </a:tblGrid>
              <a:tr h="104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Тип</a:t>
                      </a:r>
                      <a:endParaRPr lang="ru-RU" dirty="0">
                        <a:effectLst/>
                        <a:latin typeface="+mn-lt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Описание</a:t>
                      </a:r>
                      <a:endParaRPr lang="ru-RU">
                        <a:effectLst/>
                        <a:latin typeface="+mn-lt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Пример</a:t>
                      </a:r>
                      <a:endParaRPr lang="ru-RU">
                        <a:effectLst/>
                        <a:latin typeface="+mn-lt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83335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Точечные (</a:t>
                      </a:r>
                      <a:r>
                        <a:rPr lang="en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point anomalies)</a:t>
                      </a:r>
                      <a:endParaRPr lang="en" dirty="0">
                        <a:effectLst/>
                        <a:latin typeface="+mn-lt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Одиночное значение вне ожидаемого диапазона</a:t>
                      </a:r>
                      <a:endParaRPr lang="ru-RU" dirty="0">
                        <a:effectLst/>
                        <a:latin typeface="+mn-lt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Резкий скачок температуры</a:t>
                      </a:r>
                      <a:endParaRPr lang="ru-RU">
                        <a:effectLst/>
                        <a:latin typeface="+mn-lt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421977"/>
                  </a:ext>
                </a:extLst>
              </a:tr>
              <a:tr h="104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Контекстные (</a:t>
                      </a:r>
                      <a:r>
                        <a:rPr lang="en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contextual)</a:t>
                      </a:r>
                      <a:endParaRPr lang="en" dirty="0">
                        <a:effectLst/>
                        <a:latin typeface="+mn-lt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Значение аномально в контексте времени (сезонность)</a:t>
                      </a:r>
                      <a:endParaRPr lang="ru-RU" dirty="0">
                        <a:effectLst/>
                        <a:latin typeface="+mn-lt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Высокий трафик в 3 часа ночи</a:t>
                      </a:r>
                      <a:endParaRPr lang="ru-RU" dirty="0">
                        <a:effectLst/>
                        <a:latin typeface="+mn-lt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088869"/>
                  </a:ext>
                </a:extLst>
              </a:tr>
              <a:tr h="104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Собирательные (</a:t>
                      </a:r>
                      <a:r>
                        <a:rPr lang="en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collective)</a:t>
                      </a:r>
                      <a:endParaRPr lang="en">
                        <a:effectLst/>
                        <a:latin typeface="+mn-lt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Группа значений, вместе образующих аномалию</a:t>
                      </a:r>
                      <a:endParaRPr lang="ru-RU">
                        <a:effectLst/>
                        <a:latin typeface="+mn-lt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Затяжное падение давления перед отказом</a:t>
                      </a:r>
                      <a:endParaRPr lang="ru-RU" dirty="0">
                        <a:effectLst/>
                        <a:latin typeface="+mn-lt"/>
                      </a:endParaRPr>
                    </a:p>
                  </a:txBody>
                  <a:tcPr marL="38100" marR="38100" marT="38100" marB="38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66890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50276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/>
          <a:lstStyle/>
          <a:p>
            <a:pPr algn="l" rtl="0"/>
            <a:r>
              <a:rPr lang="en-US" b="1" dirty="0"/>
              <a:t>Обнаружение аномалий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41831" y="948583"/>
            <a:ext cx="6703403" cy="5811139"/>
          </a:xfrm>
        </p:spPr>
        <p:txBody>
          <a:bodyPr>
            <a:normAutofit/>
          </a:bodyPr>
          <a:lstStyle/>
          <a:p>
            <a:pPr algn="l" rtl="0"/>
            <a:r>
              <a:rPr lang="en-US" sz="2200" dirty="0"/>
              <a:t>Различают локальные и глобальные аномалии.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b="1" dirty="0"/>
              <a:t>Точечные аномалии </a:t>
            </a:r>
            <a:r>
              <a:rPr lang="ru-RU" altLang="ru-RU" sz="2200" dirty="0"/>
              <a:t>возникают в ситуации, когда отдельный экземпляр данных может рассматриваться как безусловно аномальный по отношению к остальным.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b="1" dirty="0"/>
              <a:t>Контекстные аномалии </a:t>
            </a:r>
            <a:r>
              <a:rPr lang="ru-RU" altLang="ru-RU" sz="2200" dirty="0"/>
              <a:t>наблюдаются, если экземпляр аномальный в определённом контексте, или при выполнении определённого условия (поэтому также называются условными).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b="1" dirty="0"/>
              <a:t>Коллективные аномалии </a:t>
            </a:r>
            <a:r>
              <a:rPr lang="ru-RU" altLang="ru-RU" sz="2200" dirty="0"/>
              <a:t>возникают, когда последовательность связанных экземпляров данных (например, участок временного ряда) является аномальной по отношению к остальным данных. Такие аномалии могут быть в взаимосвязи данных а не данных как таковых (</a:t>
            </a:r>
            <a:r>
              <a:rPr lang="ru-RU" altLang="ru-RU" sz="2200" dirty="0" err="1"/>
              <a:t>напр.волотильность</a:t>
            </a:r>
            <a:r>
              <a:rPr lang="ru-RU" altLang="ru-RU" sz="2200" dirty="0"/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1800" dirty="0">
              <a:latin typeface="Arial" panose="020B0604020202020204" pitchFamily="34" charset="0"/>
            </a:endParaRPr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-184666"/>
            <a:ext cx="332772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23805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Объект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4958" y="948583"/>
            <a:ext cx="5213503" cy="548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3522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/>
          <a:lstStyle/>
          <a:p>
            <a:pPr algn="l" rtl="0"/>
            <a:r>
              <a:rPr lang="en-US" b="1" dirty="0"/>
              <a:t>Обнаружение аномалий</a:t>
            </a:r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9" name="Объект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3666" y="948583"/>
            <a:ext cx="5213503" cy="5489575"/>
          </a:xfrm>
          <a:prstGeom prst="rect">
            <a:avLst/>
          </a:prstGeom>
        </p:spPr>
      </p:pic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30736" y="948583"/>
            <a:ext cx="7648486" cy="5811139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По  своему поведению можно выделить следующие  </a:t>
            </a:r>
            <a:r>
              <a:rPr lang="ru-RU" sz="2200" b="1" dirty="0"/>
              <a:t>типы аномалий</a:t>
            </a:r>
            <a:r>
              <a:rPr lang="ru-RU" sz="2200" dirty="0"/>
              <a:t> 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Внезапный  </a:t>
            </a:r>
            <a:r>
              <a:rPr lang="ru-RU" sz="2200" b="1" dirty="0"/>
              <a:t>точечный скачок</a:t>
            </a:r>
            <a:r>
              <a:rPr lang="ru-RU" sz="2200" dirty="0"/>
              <a:t> , отсутствие или коллапс  значения метрики (или выборки).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Внезапное и кратковременное  </a:t>
            </a:r>
            <a:r>
              <a:rPr lang="ru-RU" sz="2200" b="1" dirty="0"/>
              <a:t>изменение дисперсии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Внезапный и кратковременный  </a:t>
            </a:r>
            <a:r>
              <a:rPr lang="ru-RU" sz="2200" b="1" dirty="0"/>
              <a:t>сдвиг уровня или изменение тренда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Внезапное и кратковременное  </a:t>
            </a:r>
            <a:r>
              <a:rPr lang="ru-RU" sz="2200" b="1" dirty="0"/>
              <a:t>изменение огибающей как циклической части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Внезапное и  </a:t>
            </a:r>
            <a:r>
              <a:rPr lang="ru-RU" sz="2200" b="1" dirty="0"/>
              <a:t>кратковременное отсутствие паттернов или изменение</a:t>
            </a:r>
            <a:r>
              <a:rPr lang="ru-RU" sz="2200" dirty="0"/>
              <a:t>  поведения.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Изменение сезонности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Сочетание</a:t>
            </a:r>
            <a:r>
              <a:rPr lang="ru-RU" sz="2200" dirty="0"/>
              <a:t>  предыдущих случаев.</a:t>
            </a:r>
          </a:p>
        </p:txBody>
      </p:sp>
    </p:spTree>
    <p:extLst>
      <p:ext uri="{BB962C8B-B14F-4D97-AF65-F5344CB8AC3E}">
        <p14:creationId xmlns:p14="http://schemas.microsoft.com/office/powerpoint/2010/main" val="2947381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/>
          <a:lstStyle/>
          <a:p>
            <a:pPr algn="l" rtl="0"/>
            <a:r>
              <a:rPr lang="en-US" b="1" dirty="0"/>
              <a:t>Обнаружение аномалий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41831" y="948583"/>
            <a:ext cx="11263357" cy="5811139"/>
          </a:xfrm>
        </p:spPr>
        <p:txBody>
          <a:bodyPr>
            <a:normAutofit/>
          </a:bodyPr>
          <a:lstStyle/>
          <a:p>
            <a:pPr lvl="0"/>
            <a:r>
              <a:rPr lang="ru-RU" sz="2200" b="1" dirty="0"/>
              <a:t>Причины аномалий в данных временных рядов</a:t>
            </a:r>
            <a:endParaRPr lang="ru-RU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Нерегулярные события (которые могут закончится в историческом контексте) </a:t>
            </a:r>
          </a:p>
          <a:p>
            <a:pPr lvl="2">
              <a:lnSpc>
                <a:spcPct val="100000"/>
              </a:lnSpc>
            </a:pPr>
            <a:r>
              <a:rPr lang="ru-RU" sz="1800" dirty="0"/>
              <a:t>Выявление локальных отклонений;</a:t>
            </a:r>
          </a:p>
          <a:p>
            <a:pPr lvl="2">
              <a:lnSpc>
                <a:spcPct val="100000"/>
              </a:lnSpc>
            </a:pPr>
            <a:r>
              <a:rPr lang="ru-RU" sz="1800" dirty="0"/>
              <a:t>обнаружение глобальных выбросов;</a:t>
            </a:r>
            <a:endParaRPr lang="ru-RU" sz="14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Обнаружение новизны (возникает как новое поведение в продолжительном и неизвестном контексте), например </a:t>
            </a:r>
          </a:p>
          <a:p>
            <a:pPr lvl="2">
              <a:lnSpc>
                <a:spcPct val="100000"/>
              </a:lnSpc>
            </a:pPr>
            <a:r>
              <a:rPr lang="ru-RU" sz="1800" dirty="0"/>
              <a:t>точки смены поведения, </a:t>
            </a:r>
          </a:p>
          <a:p>
            <a:pPr lvl="2">
              <a:lnSpc>
                <a:spcPct val="100000"/>
              </a:lnSpc>
            </a:pPr>
            <a:r>
              <a:rPr lang="ru-RU" sz="1800" dirty="0"/>
              <a:t>Появление новых признаков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Точки перегиба, </a:t>
            </a:r>
          </a:p>
          <a:p>
            <a:pPr lvl="2">
              <a:lnSpc>
                <a:spcPct val="100000"/>
              </a:lnSpc>
            </a:pPr>
            <a:r>
              <a:rPr lang="ru-RU" sz="1800" dirty="0"/>
              <a:t>точки значительного влияния;</a:t>
            </a:r>
          </a:p>
          <a:p>
            <a:pPr lvl="1">
              <a:lnSpc>
                <a:spcPct val="100000"/>
              </a:lnSpc>
            </a:pPr>
            <a:endParaRPr lang="ru-RU" sz="2200" dirty="0"/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924" y="2938425"/>
            <a:ext cx="4619876" cy="3821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4230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/>
          <a:lstStyle/>
          <a:p>
            <a:pPr algn="l" rtl="0"/>
            <a:r>
              <a:rPr lang="ru-RU" b="1" dirty="0"/>
              <a:t>Обнаружение аномалий. </a:t>
            </a:r>
            <a:r>
              <a:rPr lang="en-US" b="1" dirty="0"/>
              <a:t>Пример</a:t>
            </a:r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253862" y="947738"/>
            <a:ext cx="10741025" cy="5100193"/>
          </a:xfrm>
        </p:spPr>
        <p:txBody>
          <a:bodyPr/>
          <a:lstStyle/>
          <a:p>
            <a:pPr marL="0" indent="0" algn="l" rtl="0">
              <a:buNone/>
            </a:pPr>
            <a:r>
              <a:rPr lang="en-US" dirty="0" err="1"/>
              <a:t>аномалии</a:t>
            </a:r>
            <a:r>
              <a:rPr lang="en-US" dirty="0"/>
              <a:t> изменения дисперсии.</a:t>
            </a:r>
          </a:p>
        </p:txBody>
      </p:sp>
      <p:sp>
        <p:nvSpPr>
          <p:cNvPr id="9" name="AutoShape 2" descr="image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" y="1452197"/>
            <a:ext cx="3138343" cy="2444192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6719455" y="883750"/>
            <a:ext cx="406271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sz="2800" dirty="0" err="1"/>
              <a:t>аномалии</a:t>
            </a:r>
            <a:r>
              <a:rPr lang="en-US" sz="2800" dirty="0"/>
              <a:t> сдвига уровня.</a:t>
            </a:r>
          </a:p>
        </p:txBody>
      </p:sp>
      <p:sp>
        <p:nvSpPr>
          <p:cNvPr id="12" name="AutoShape 4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9273" y="1368966"/>
            <a:ext cx="3305614" cy="2368391"/>
          </a:xfrm>
          <a:prstGeom prst="rect">
            <a:avLst/>
          </a:prstGeom>
        </p:spPr>
      </p:pic>
      <p:sp>
        <p:nvSpPr>
          <p:cNvPr id="3" name="Объект 7">
            <a:extLst>
              <a:ext uri="{FF2B5EF4-FFF2-40B4-BE49-F238E27FC236}">
                <a16:creationId xmlns:a16="http://schemas.microsoft.com/office/drawing/2014/main" id="{0D397EA7-5713-7070-B6F3-07BBB56012BA}"/>
              </a:ext>
            </a:extLst>
          </p:cNvPr>
          <p:cNvSpPr txBox="1">
            <a:spLocks/>
          </p:cNvSpPr>
          <p:nvPr/>
        </p:nvSpPr>
        <p:spPr>
          <a:xfrm>
            <a:off x="357171" y="3716784"/>
            <a:ext cx="4388716" cy="71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аномалии </a:t>
            </a:r>
            <a:r>
              <a:rPr lang="ru-RU"/>
              <a:t>огибающей</a:t>
            </a:r>
            <a:r>
              <a:rPr lang="en-US"/>
              <a:t>.</a:t>
            </a:r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D6A871-A342-9B79-7B1F-51EF094D6D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225753"/>
            <a:ext cx="3779221" cy="2467263"/>
          </a:xfrm>
          <a:prstGeom prst="rect">
            <a:avLst/>
          </a:prstGeom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149424A-E184-CC3C-9A7F-CED88C8687FA}"/>
              </a:ext>
            </a:extLst>
          </p:cNvPr>
          <p:cNvSpPr/>
          <p:nvPr/>
        </p:nvSpPr>
        <p:spPr>
          <a:xfrm>
            <a:off x="4617421" y="3747379"/>
            <a:ext cx="710352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sz="2800" dirty="0" err="1"/>
              <a:t>сезонность</a:t>
            </a:r>
            <a:r>
              <a:rPr lang="ru-RU" sz="2800" dirty="0"/>
              <a:t> /паттерн</a:t>
            </a:r>
            <a:r>
              <a:rPr lang="en-US" sz="2800" dirty="0"/>
              <a:t> аномалия поведения.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CD362EFC-A286-90BD-8CDC-96FB112D89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6916" y="4225753"/>
            <a:ext cx="6416385" cy="244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243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/>
          <a:lstStyle/>
          <a:p>
            <a:pPr algn="l" rtl="0"/>
            <a:r>
              <a:rPr lang="ru-RU" b="1" dirty="0"/>
              <a:t>Обнаружение аномалий. </a:t>
            </a:r>
            <a:r>
              <a:rPr lang="en-US" b="1" dirty="0"/>
              <a:t>Пример</a:t>
            </a:r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307976" y="1243875"/>
            <a:ext cx="4388716" cy="711645"/>
          </a:xfrm>
        </p:spPr>
        <p:txBody>
          <a:bodyPr/>
          <a:lstStyle/>
          <a:p>
            <a:pPr marL="0" indent="0" algn="l" rtl="0">
              <a:buNone/>
            </a:pPr>
            <a:r>
              <a:rPr lang="en-US" dirty="0" err="1"/>
              <a:t>аномалии</a:t>
            </a:r>
            <a:r>
              <a:rPr lang="en-US" dirty="0"/>
              <a:t> </a:t>
            </a:r>
            <a:r>
              <a:rPr lang="ru-RU" dirty="0"/>
              <a:t>огибающей</a:t>
            </a:r>
            <a:r>
              <a:rPr lang="en-US" dirty="0"/>
              <a:t>.</a:t>
            </a:r>
          </a:p>
        </p:txBody>
      </p:sp>
      <p:sp>
        <p:nvSpPr>
          <p:cNvPr id="9" name="AutoShape 2" descr="image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4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180" y="1772384"/>
            <a:ext cx="5100620" cy="3329938"/>
          </a:xfrm>
          <a:prstGeom prst="rect">
            <a:avLst/>
          </a:prstGeom>
        </p:spPr>
      </p:pic>
      <p:sp>
        <p:nvSpPr>
          <p:cNvPr id="14" name="Прямоугольник 13"/>
          <p:cNvSpPr/>
          <p:nvPr/>
        </p:nvSpPr>
        <p:spPr>
          <a:xfrm>
            <a:off x="6866548" y="1274470"/>
            <a:ext cx="4066883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l" rtl="0">
              <a:buFont typeface="Arial" panose="020B0604020202020204" pitchFamily="34" charset="0"/>
              <a:buChar char="•"/>
            </a:pPr>
            <a:r>
              <a:rPr lang="en-US" sz="2800" dirty="0" err="1"/>
              <a:t>сезонность</a:t>
            </a:r>
            <a:r>
              <a:rPr lang="ru-RU" sz="2800" dirty="0"/>
              <a:t> /паттерн</a:t>
            </a:r>
            <a:br>
              <a:rPr lang="en-US" sz="2800" dirty="0"/>
            </a:br>
            <a:r>
              <a:rPr lang="en-US" sz="2800" dirty="0"/>
              <a:t> аномалия поведения.</a:t>
            </a:r>
          </a:p>
        </p:txBody>
      </p:sp>
      <p:sp>
        <p:nvSpPr>
          <p:cNvPr id="15" name="AutoShape 4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1800" y="2248477"/>
            <a:ext cx="6416385" cy="244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71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60337"/>
            <a:ext cx="10515600" cy="711645"/>
          </a:xfrm>
        </p:spPr>
        <p:txBody>
          <a:bodyPr/>
          <a:lstStyle/>
          <a:p>
            <a:pPr algn="l" rtl="0"/>
            <a:r>
              <a:rPr lang="en-US" b="1" dirty="0"/>
              <a:t>Обнаружение аномалий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4321" y="823325"/>
            <a:ext cx="11263357" cy="2605676"/>
          </a:xfrm>
        </p:spPr>
        <p:txBody>
          <a:bodyPr>
            <a:normAutofit/>
          </a:bodyPr>
          <a:lstStyle/>
          <a:p>
            <a:r>
              <a:rPr lang="ru-RU" sz="2100" dirty="0"/>
              <a:t>То, что является аномалией в одном контексте может не быть аномалией в другом контексте</a:t>
            </a:r>
          </a:p>
          <a:p>
            <a:r>
              <a:rPr lang="ru-RU" sz="2100" dirty="0"/>
              <a:t>Аномалии отличаются от редких событий тем что они не регулярны, случайны по значению и месту появления.</a:t>
            </a:r>
          </a:p>
          <a:p>
            <a:pPr lvl="1"/>
            <a:r>
              <a:rPr lang="ru-RU" sz="2200" dirty="0"/>
              <a:t>Важно понимать что с точки зрения модели редкие события более ошибочны – формально их можно Обработать как аномалии (убрать, про интерполировать и </a:t>
            </a:r>
            <a:r>
              <a:rPr lang="ru-RU" sz="2200" dirty="0" err="1"/>
              <a:t>тд</a:t>
            </a:r>
            <a:r>
              <a:rPr lang="ru-RU" sz="2200" dirty="0"/>
              <a:t>).</a:t>
            </a:r>
          </a:p>
          <a:p>
            <a:r>
              <a:rPr lang="ru-RU" sz="2100" dirty="0"/>
              <a:t>Для аномалий есть понятие их коревых причин. Важно понять причину аномалии прежде чем ее устранить. </a:t>
            </a:r>
            <a:endParaRPr lang="en-US" sz="2100" dirty="0"/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2"/>
          <a:srcRect l="2292" t="15476" r="2292" b="14881"/>
          <a:stretch/>
        </p:blipFill>
        <p:spPr>
          <a:xfrm>
            <a:off x="3430069" y="3429000"/>
            <a:ext cx="8399318" cy="32185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2B9BDE8-E9A7-625F-EC77-BC15FB64712C}"/>
              </a:ext>
            </a:extLst>
          </p:cNvPr>
          <p:cNvSpPr txBox="1"/>
          <p:nvPr/>
        </p:nvSpPr>
        <p:spPr>
          <a:xfrm>
            <a:off x="4901248" y="3568556"/>
            <a:ext cx="69281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 rtl="0">
              <a:buNone/>
            </a:pPr>
            <a:r>
              <a:rPr lang="en-US" sz="1800" dirty="0" err="1"/>
              <a:t>Пример</a:t>
            </a:r>
            <a:r>
              <a:rPr lang="en-US" sz="1800" dirty="0"/>
              <a:t> </a:t>
            </a:r>
            <a:r>
              <a:rPr lang="en-US" sz="1800" dirty="0" err="1"/>
              <a:t>аномалии</a:t>
            </a:r>
            <a:r>
              <a:rPr lang="en-US" sz="1800" dirty="0"/>
              <a:t> </a:t>
            </a:r>
            <a:r>
              <a:rPr lang="en-US" sz="1800" dirty="0" err="1"/>
              <a:t>интерпретация</a:t>
            </a:r>
            <a:r>
              <a:rPr lang="en-US" sz="1800" dirty="0"/>
              <a:t> </a:t>
            </a:r>
            <a:r>
              <a:rPr lang="en-US" sz="1800" dirty="0" err="1"/>
              <a:t>в</a:t>
            </a:r>
            <a:r>
              <a:rPr lang="en-US" sz="1800" dirty="0"/>
              <a:t> </a:t>
            </a:r>
            <a:r>
              <a:rPr lang="en-US" sz="1800" dirty="0" err="1"/>
              <a:t>прогнозировании</a:t>
            </a:r>
            <a:r>
              <a:rPr lang="en-US" sz="1800" dirty="0"/>
              <a:t> </a:t>
            </a:r>
            <a:r>
              <a:rPr lang="en-US" sz="1800" dirty="0" err="1"/>
              <a:t>продаж</a:t>
            </a:r>
            <a:r>
              <a:rPr lang="en-US" sz="1800" dirty="0"/>
              <a:t>.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29294875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/>
          <a:lstStyle/>
          <a:p>
            <a:pPr algn="l" rtl="0"/>
            <a:r>
              <a:rPr lang="ru-RU" b="1" dirty="0"/>
              <a:t>Обнаружение аномалий. </a:t>
            </a:r>
            <a:r>
              <a:rPr lang="en-US" b="1" dirty="0"/>
              <a:t>Методы</a:t>
            </a:r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765175" y="1254570"/>
            <a:ext cx="10741025" cy="5100193"/>
          </a:xfrm>
        </p:spPr>
        <p:txBody>
          <a:bodyPr>
            <a:noAutofit/>
          </a:bodyPr>
          <a:lstStyle/>
          <a:p>
            <a:pPr algn="l" rtl="0"/>
            <a:r>
              <a:rPr lang="en-US" sz="2200" b="1" dirty="0"/>
              <a:t>Методы обнаружения аномалий</a:t>
            </a:r>
          </a:p>
          <a:p>
            <a:pPr algn="l" rtl="0"/>
            <a:r>
              <a:rPr lang="en-US" sz="2200" dirty="0"/>
              <a:t>Обнаружение аномалий может быть выполнено с использованием:</a:t>
            </a:r>
            <a:br>
              <a:rPr lang="en-US" sz="2200" dirty="0"/>
            </a:br>
            <a:endParaRPr lang="en-US" sz="2200" dirty="0"/>
          </a:p>
          <a:p>
            <a:pPr lvl="1"/>
            <a:r>
              <a:rPr lang="en-US" sz="2200" b="1" dirty="0"/>
              <a:t>контролируемые методы обнаружения аномалий</a:t>
            </a:r>
            <a:br>
              <a:rPr lang="en-US" sz="2200" dirty="0"/>
            </a:br>
            <a:r>
              <a:rPr lang="en-US" sz="2200" dirty="0"/>
              <a:t>- серия с двумя классами, обозначенными как нормальный и аномальный,</a:t>
            </a:r>
            <a:br>
              <a:rPr lang="en-US" sz="2200" dirty="0"/>
            </a:br>
            <a:endParaRPr lang="en-US" sz="2200" dirty="0"/>
          </a:p>
          <a:p>
            <a:pPr lvl="1"/>
            <a:r>
              <a:rPr lang="en-US" sz="2200" b="1" dirty="0"/>
              <a:t>полу-контролируемые методы обнаружения аномалий</a:t>
            </a:r>
            <a:br>
              <a:rPr lang="en-US" sz="2200" dirty="0"/>
            </a:br>
            <a:r>
              <a:rPr lang="en-US" sz="2200" dirty="0"/>
              <a:t>- в серии есть один класс, помеченный как нормальный, и множество немаркированных </a:t>
            </a:r>
            <a:r>
              <a:rPr lang="en-US" sz="2200" dirty="0" err="1"/>
              <a:t>данных</a:t>
            </a:r>
            <a:r>
              <a:rPr lang="en-US" sz="2200" dirty="0"/>
              <a:t>,</a:t>
            </a:r>
            <a:r>
              <a:rPr lang="ru-RU" sz="2200" dirty="0"/>
              <a:t> в которых есть второй класс . Яркий пример – это появление новизны в данных.</a:t>
            </a:r>
            <a:br>
              <a:rPr lang="en-US" sz="2200" dirty="0"/>
            </a:br>
            <a:endParaRPr lang="en-US" sz="2200" dirty="0"/>
          </a:p>
          <a:p>
            <a:pPr lvl="1"/>
            <a:r>
              <a:rPr lang="en-US" sz="2200" b="1" dirty="0"/>
              <a:t>неконтролируемые методы обнаружения аномалий</a:t>
            </a:r>
            <a:br>
              <a:rPr lang="en-US" sz="2200" dirty="0"/>
            </a:br>
            <a:r>
              <a:rPr lang="en-US" sz="2200" dirty="0"/>
              <a:t>- </a:t>
            </a:r>
            <a:r>
              <a:rPr lang="en-US" sz="2200" dirty="0" err="1"/>
              <a:t>ряд</a:t>
            </a:r>
            <a:r>
              <a:rPr lang="ru-RU" sz="2200" dirty="0"/>
              <a:t> не размечен</a:t>
            </a:r>
            <a:r>
              <a:rPr lang="en-US" sz="2200" dirty="0"/>
              <a:t>, </a:t>
            </a:r>
            <a:r>
              <a:rPr lang="en-US" sz="2200" dirty="0" err="1"/>
              <a:t>но</a:t>
            </a:r>
            <a:r>
              <a:rPr lang="en-US" sz="2200" dirty="0"/>
              <a:t> </a:t>
            </a:r>
            <a:r>
              <a:rPr lang="en-US" sz="2200" dirty="0" err="1"/>
              <a:t>есть</a:t>
            </a:r>
            <a:r>
              <a:rPr lang="en-US" sz="2200" dirty="0"/>
              <a:t> </a:t>
            </a:r>
            <a:r>
              <a:rPr lang="en-US" sz="2200" dirty="0" err="1"/>
              <a:t>правил</a:t>
            </a:r>
            <a:r>
              <a:rPr lang="ru-RU" sz="2200" dirty="0"/>
              <a:t>а</a:t>
            </a:r>
            <a:r>
              <a:rPr lang="en-US" sz="2200" dirty="0"/>
              <a:t> </a:t>
            </a:r>
            <a:r>
              <a:rPr lang="ru-RU" sz="2200" dirty="0"/>
              <a:t>отбора</a:t>
            </a:r>
            <a:r>
              <a:rPr lang="en-US" sz="2200" dirty="0"/>
              <a:t>, </a:t>
            </a:r>
            <a:r>
              <a:rPr lang="en-US" sz="2200" dirty="0" err="1"/>
              <a:t>котор</a:t>
            </a:r>
            <a:r>
              <a:rPr lang="ru-RU" sz="2200" dirty="0"/>
              <a:t>ому</a:t>
            </a:r>
            <a:r>
              <a:rPr lang="en-US" sz="2200" dirty="0"/>
              <a:t> должны </a:t>
            </a:r>
            <a:r>
              <a:rPr lang="en-US" sz="2200" dirty="0" err="1"/>
              <a:t>удовлетворять</a:t>
            </a:r>
            <a:r>
              <a:rPr lang="en-US" sz="2200" dirty="0"/>
              <a:t> </a:t>
            </a:r>
            <a:r>
              <a:rPr lang="en-US" sz="2200" dirty="0" err="1"/>
              <a:t>нормальные</a:t>
            </a:r>
            <a:r>
              <a:rPr lang="ru-RU" sz="2200" dirty="0"/>
              <a:t> </a:t>
            </a:r>
            <a:r>
              <a:rPr lang="en-US" sz="2200" dirty="0" err="1"/>
              <a:t>данные</a:t>
            </a:r>
            <a:r>
              <a:rPr lang="en-US" sz="2200" dirty="0"/>
              <a:t>.</a:t>
            </a:r>
            <a:r>
              <a:rPr lang="ru-RU" sz="2200" dirty="0"/>
              <a:t> Правила могут быть явными (интерпретируемые) или нет (на основе методов </a:t>
            </a:r>
            <a:r>
              <a:rPr lang="en-US" sz="2200" dirty="0"/>
              <a:t>ml)</a:t>
            </a:r>
          </a:p>
          <a:p>
            <a:pPr algn="l" rtl="0"/>
            <a:endParaRPr lang="en-US" sz="2200" dirty="0"/>
          </a:p>
        </p:txBody>
      </p:sp>
      <p:sp>
        <p:nvSpPr>
          <p:cNvPr id="9" name="AutoShape 2" descr="image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12" name="AutoShape 4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15" name="AutoShape 4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10" name="AutoShape 2" descr="image-3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6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84091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>
            <a:normAutofit/>
          </a:bodyPr>
          <a:lstStyle/>
          <a:p>
            <a:pPr algn="l" rtl="0"/>
            <a:r>
              <a:rPr lang="en-US" b="1" dirty="0"/>
              <a:t>Обнаружение аномалий</a:t>
            </a:r>
            <a:r>
              <a:rPr lang="ru-RU" b="1" dirty="0"/>
              <a:t>. </a:t>
            </a:r>
            <a:r>
              <a:rPr lang="en-US" b="1" dirty="0"/>
              <a:t>подходы</a:t>
            </a:r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460375" y="1162748"/>
            <a:ext cx="10741025" cy="510019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Можно выделить несколько подходов к обнаружению аномалий: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Статистические + эвристические (экспертные, пороговые) правила </a:t>
            </a:r>
            <a:endParaRPr lang="en-US" sz="2200" b="1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Обнаружение аномалий на основе ошибки прогноза </a:t>
            </a:r>
            <a:r>
              <a:rPr lang="ru-RU" sz="2200" dirty="0"/>
              <a:t> временного ряда (и ее отклонения). – то есть правила/статистика для ошибки предсказания ВР (часто строим модель ВР.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Обнаружение аномалий на основе метрик (метрические, изоляционный лес и другие)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Обнаружение аномалий на основе реконструкции формы (закономерностей, поведения)</a:t>
            </a:r>
            <a:r>
              <a:rPr lang="ru-RU" sz="2200" dirty="0"/>
              <a:t>  временного ряда. (например сжатие - восстановление). При этом можно анализировать ошибку восстановления или сжатое пространство. Но саму задачу предсказания мы не решаем (модели не строим)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endParaRPr lang="ru-RU" sz="1200" dirty="0"/>
          </a:p>
          <a:p>
            <a:pPr marL="800100" lvl="1" indent="-342900">
              <a:lnSpc>
                <a:spcPct val="100000"/>
              </a:lnSpc>
              <a:spcBef>
                <a:spcPts val="600"/>
              </a:spcBef>
            </a:pPr>
            <a:r>
              <a:rPr lang="ru-RU" sz="2600" i="1" dirty="0"/>
              <a:t>Отметим,</a:t>
            </a:r>
            <a:r>
              <a:rPr lang="ru-RU" sz="2600" dirty="0"/>
              <a:t>  что поиск аномалии можно проводить как для полного временного ряда, так и по результатам его </a:t>
            </a:r>
            <a:r>
              <a:rPr lang="ru-RU" sz="2600" b="1" dirty="0"/>
              <a:t>преобразования</a:t>
            </a:r>
            <a:r>
              <a:rPr lang="ru-RU" sz="2600" dirty="0"/>
              <a:t>.</a:t>
            </a:r>
          </a:p>
          <a:p>
            <a:pPr marL="1257300" lvl="2" indent="-342900">
              <a:lnSpc>
                <a:spcPct val="100000"/>
              </a:lnSpc>
              <a:spcBef>
                <a:spcPts val="600"/>
              </a:spcBef>
            </a:pPr>
            <a:r>
              <a:rPr lang="ru-RU" sz="2400" dirty="0"/>
              <a:t>Пример поиска аномалии в остатках декомпозиции.</a:t>
            </a:r>
          </a:p>
          <a:p>
            <a:pPr lvl="0"/>
            <a:endParaRPr lang="ru-RU" sz="2000" dirty="0"/>
          </a:p>
          <a:p>
            <a:pPr lvl="0"/>
            <a:endParaRPr lang="ru-RU" sz="2000" dirty="0"/>
          </a:p>
        </p:txBody>
      </p:sp>
      <p:sp>
        <p:nvSpPr>
          <p:cNvPr id="9" name="AutoShape 2" descr="image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12" name="AutoShape 4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15" name="AutoShape 4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10" name="AutoShape 2" descr="image-3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10446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FB5C3E-F0FE-DD72-F3E2-26C6FC331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18" y="365126"/>
            <a:ext cx="10917382" cy="611620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6F588EB-03B8-8CDF-3EA0-6A7D24B57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790" y="3244837"/>
            <a:ext cx="5241983" cy="2532508"/>
          </a:xfrm>
        </p:spPr>
        <p:txBody>
          <a:bodyPr>
            <a:normAutofit fontScale="62500" lnSpcReduction="20000"/>
          </a:bodyPr>
          <a:lstStyle/>
          <a:p>
            <a:r>
              <a:rPr lang="ru-RU" dirty="0"/>
              <a:t>Показатели бинарной классификации помогают классифицировать результат точечной классификации либо по нормальному, либо по аномальному классу с пометкой ‘истинный’. Здесь полезно помнить, что для задач обнаружения точек изменения метрики бинарной классификации применяются на основе окон: мы проверяем, попадает ли предсказанная точка изменения в окно обнаружения, или каким-либо образом сравниваем перекрытие предсказанного и истинного окон (по положению, размеру и т.д.).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43B4BD-ECDC-03D4-D586-6459C4A825DF}"/>
              </a:ext>
            </a:extLst>
          </p:cNvPr>
          <p:cNvSpPr txBox="1"/>
          <p:nvPr/>
        </p:nvSpPr>
        <p:spPr>
          <a:xfrm>
            <a:off x="436418" y="6492874"/>
            <a:ext cx="8306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readmedium.com</a:t>
            </a:r>
            <a:r>
              <a:rPr lang="ru-RU" sz="1200" dirty="0"/>
              <a:t>/a-review-of-anomaly-detection-metrics-with-a-lot-of-related-information-736d88774712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CDF5292-E3FA-CF3F-B690-CFE47AA5BE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23" r="13513"/>
          <a:stretch>
            <a:fillRect/>
          </a:stretch>
        </p:blipFill>
        <p:spPr bwMode="auto">
          <a:xfrm>
            <a:off x="436418" y="1205345"/>
            <a:ext cx="4613564" cy="1810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D2E0A12-C7CD-DCBC-D484-0A30E5D79D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84" r="14162"/>
          <a:stretch>
            <a:fillRect/>
          </a:stretch>
        </p:blipFill>
        <p:spPr bwMode="auto">
          <a:xfrm>
            <a:off x="7142020" y="1292657"/>
            <a:ext cx="4317189" cy="2349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C786634-A3E0-4468-72E8-0FFA5A31E570}"/>
              </a:ext>
            </a:extLst>
          </p:cNvPr>
          <p:cNvSpPr txBox="1"/>
          <p:nvPr/>
        </p:nvSpPr>
        <p:spPr>
          <a:xfrm>
            <a:off x="6744133" y="3429000"/>
            <a:ext cx="399790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effectLst/>
              </a:rPr>
              <a:t>Показатели обнаружения на основе окон (за исключением показателей бинарной классификации) помогают сопоставить прогнозируемую точку изменения с окном обнаружения вокруг фактической точки изменения способом, отличным от бинарной классификации.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03194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4AA6FD-0791-3A60-D1D0-CF6D9F4AE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281" y="365126"/>
            <a:ext cx="3842951" cy="932333"/>
          </a:xfrm>
        </p:spPr>
        <p:txBody>
          <a:bodyPr>
            <a:normAutofit fontScale="90000"/>
          </a:bodyPr>
          <a:lstStyle/>
          <a:p>
            <a:r>
              <a:rPr lang="en" b="1" dirty="0"/>
              <a:t>Taxonomy of AD metrics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DAA5AE-C478-23FC-E405-D7FC6CFFC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482" y="1597025"/>
            <a:ext cx="3703750" cy="4699344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6A60824-D0B8-F87D-5CA8-8D72ED6BDF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1178" y="365126"/>
            <a:ext cx="7592541" cy="5931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6B941A0-0C91-6B75-56E5-30613EBA1A77}"/>
              </a:ext>
            </a:extLst>
          </p:cNvPr>
          <p:cNvSpPr txBox="1"/>
          <p:nvPr/>
        </p:nvSpPr>
        <p:spPr>
          <a:xfrm>
            <a:off x="436418" y="6492874"/>
            <a:ext cx="8306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readmedium.com</a:t>
            </a:r>
            <a:r>
              <a:rPr lang="ru-RU" sz="1200" dirty="0"/>
              <a:t>/a-review-of-anomaly-detection-metrics-with-a-lot-of-related-information-736d88774712</a:t>
            </a:r>
          </a:p>
        </p:txBody>
      </p:sp>
    </p:spTree>
    <p:extLst>
      <p:ext uri="{BB962C8B-B14F-4D97-AF65-F5344CB8AC3E}">
        <p14:creationId xmlns:p14="http://schemas.microsoft.com/office/powerpoint/2010/main" val="1123599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>
            <a:normAutofit/>
          </a:bodyPr>
          <a:lstStyle/>
          <a:p>
            <a:pPr algn="l" rtl="0"/>
            <a:r>
              <a:rPr lang="en-US" b="1" dirty="0"/>
              <a:t>Обнаружение аномалий</a:t>
            </a:r>
            <a:r>
              <a:rPr lang="ru-RU" b="1" dirty="0"/>
              <a:t>. </a:t>
            </a:r>
            <a:r>
              <a:rPr lang="en-US" b="1" dirty="0"/>
              <a:t>подходы</a:t>
            </a:r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307975" y="1022350"/>
            <a:ext cx="11277889" cy="5470525"/>
          </a:xfrm>
        </p:spPr>
        <p:txBody>
          <a:bodyPr>
            <a:noAutofit/>
          </a:bodyPr>
          <a:lstStyle/>
          <a:p>
            <a:pPr marL="342900" lvl="0" indent="-342900"/>
            <a:r>
              <a:rPr lang="ru-RU" sz="2200" dirty="0"/>
              <a:t>В каждом подходе мы должны ввести некоторую метрику для обнаружения аномалий </a:t>
            </a:r>
            <a:br>
              <a:rPr lang="ru-RU" sz="2200" dirty="0"/>
            </a:br>
            <a:r>
              <a:rPr lang="ru-RU" sz="2200" dirty="0"/>
              <a:t>(в классических статистических термин отклонение). </a:t>
            </a:r>
          </a:p>
          <a:p>
            <a:pPr marL="800100" lvl="1" indent="-342900"/>
            <a:r>
              <a:rPr lang="ru-RU" sz="2200" dirty="0"/>
              <a:t>То есть мы должны формально описать что такое аномалия.</a:t>
            </a:r>
          </a:p>
          <a:p>
            <a:pPr marL="800100" lvl="1" indent="-342900"/>
            <a:r>
              <a:rPr lang="ru-RU" sz="2200" dirty="0"/>
              <a:t>Такой метрикой может быть, например:</a:t>
            </a:r>
          </a:p>
          <a:p>
            <a:pPr marL="1257300" lvl="2" indent="-342900"/>
            <a:r>
              <a:rPr lang="ru-RU" sz="2200" dirty="0"/>
              <a:t>Евклидово расстояние,</a:t>
            </a:r>
          </a:p>
          <a:p>
            <a:pPr marL="1257300" lvl="2" indent="-342900"/>
            <a:r>
              <a:rPr lang="ru-RU" sz="2200" dirty="0"/>
              <a:t>MAPE (средняя абсолютная ошибка в процентах),</a:t>
            </a:r>
          </a:p>
          <a:p>
            <a:pPr marL="1257300" lvl="2" indent="-342900"/>
            <a:r>
              <a:rPr lang="ru-RU" sz="2200" dirty="0"/>
              <a:t>Некоторая метрика статистической информации, такая как энтропия или расхождение </a:t>
            </a:r>
            <a:r>
              <a:rPr lang="ru-RU" sz="2200" dirty="0" err="1"/>
              <a:t>Кульбака-Лейблера</a:t>
            </a:r>
            <a:r>
              <a:rPr lang="ru-RU" sz="2200" dirty="0"/>
              <a:t>.</a:t>
            </a:r>
          </a:p>
          <a:p>
            <a:pPr marL="342900" lvl="0" indent="-342900"/>
            <a:r>
              <a:rPr lang="ru-RU" sz="2200" dirty="0"/>
              <a:t>Во всех случаях предполагаемое отклонение, то есть значение ошибки, пропорционально относительной оценки аномалии.</a:t>
            </a:r>
          </a:p>
          <a:p>
            <a:pPr marL="800100" lvl="1" indent="-342900"/>
            <a:r>
              <a:rPr lang="ru-RU" sz="2200" dirty="0"/>
              <a:t>Если оценка аномалии превышает некоторый установленный порог, это отмечается как аномалия</a:t>
            </a:r>
          </a:p>
          <a:p>
            <a:pPr marL="1257300" lvl="2" indent="-342900">
              <a:lnSpc>
                <a:spcPct val="100000"/>
              </a:lnSpc>
              <a:spcBef>
                <a:spcPts val="600"/>
              </a:spcBef>
            </a:pPr>
            <a:r>
              <a:rPr lang="ru-RU" sz="2200" i="1" dirty="0"/>
              <a:t>Отметим,</a:t>
            </a:r>
            <a:r>
              <a:rPr lang="ru-RU" sz="2200" dirty="0"/>
              <a:t>  что поиск аномалии можно проводить как для полного временного ряда, так и по результатам его </a:t>
            </a:r>
            <a:r>
              <a:rPr lang="ru-RU" sz="2200" b="1" dirty="0"/>
              <a:t>преобразования</a:t>
            </a:r>
            <a:r>
              <a:rPr lang="ru-RU" sz="2200" dirty="0"/>
              <a:t>.</a:t>
            </a:r>
          </a:p>
          <a:p>
            <a:pPr marL="1714500" lvl="3" indent="-34290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Пример поиска аномалии в остатках декомпозиции.</a:t>
            </a:r>
          </a:p>
          <a:p>
            <a:pPr marL="800100" lvl="1" indent="-342900"/>
            <a:endParaRPr lang="ru-RU" sz="2200" dirty="0"/>
          </a:p>
        </p:txBody>
      </p:sp>
      <p:sp>
        <p:nvSpPr>
          <p:cNvPr id="9" name="AutoShape 2" descr="image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12" name="AutoShape 4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15" name="AutoShape 4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10" name="AutoShape 2" descr="image-3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21331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/>
          <a:lstStyle/>
          <a:p>
            <a:pPr algn="l" rtl="0"/>
            <a:r>
              <a:rPr lang="en-US" b="1" dirty="0"/>
              <a:t>Обнаружение аномалий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41831" y="948583"/>
            <a:ext cx="11263357" cy="5811139"/>
          </a:xfrm>
        </p:spPr>
        <p:txBody>
          <a:bodyPr>
            <a:normAutofit/>
          </a:bodyPr>
          <a:lstStyle/>
          <a:p>
            <a:pPr algn="l" rtl="0"/>
            <a:r>
              <a:rPr lang="en-US" sz="2200" dirty="0"/>
              <a:t>Различают локальные и глобальные аномалии.</a:t>
            </a:r>
          </a:p>
          <a:p>
            <a:pPr algn="l" rtl="0"/>
            <a:r>
              <a:rPr lang="en-US" sz="2200" b="1" dirty="0" err="1"/>
              <a:t>локальная</a:t>
            </a:r>
            <a:r>
              <a:rPr lang="en-US" sz="2200" b="1" dirty="0"/>
              <a:t> </a:t>
            </a:r>
            <a:r>
              <a:rPr lang="en-US" sz="2200" b="1" dirty="0" err="1"/>
              <a:t>аномалия</a:t>
            </a:r>
            <a:r>
              <a:rPr lang="en-US" sz="2200" dirty="0"/>
              <a:t> </a:t>
            </a:r>
            <a:r>
              <a:rPr lang="en-US" sz="2200" dirty="0" err="1"/>
              <a:t>предполагае</a:t>
            </a:r>
            <a:r>
              <a:rPr lang="ru-RU" sz="2200" dirty="0"/>
              <a:t>т</a:t>
            </a:r>
            <a:r>
              <a:rPr lang="en-US" sz="2200" dirty="0"/>
              <a:t>, </a:t>
            </a:r>
            <a:r>
              <a:rPr lang="en-US" sz="2200" dirty="0" err="1"/>
              <a:t>что</a:t>
            </a:r>
            <a:r>
              <a:rPr lang="en-US" sz="2200" dirty="0"/>
              <a:t> </a:t>
            </a:r>
            <a:r>
              <a:rPr lang="en-US" sz="2200" dirty="0" err="1"/>
              <a:t>значени</a:t>
            </a:r>
            <a:r>
              <a:rPr lang="ru-RU" sz="2200" dirty="0"/>
              <a:t>я</a:t>
            </a:r>
            <a:r>
              <a:rPr lang="en-US" sz="2200" dirty="0"/>
              <a:t> </a:t>
            </a:r>
            <a:r>
              <a:rPr lang="en-US" sz="2200" dirty="0" err="1"/>
              <a:t>не</a:t>
            </a:r>
            <a:r>
              <a:rPr lang="en-US" sz="2200" dirty="0"/>
              <a:t> </a:t>
            </a:r>
            <a:r>
              <a:rPr lang="en-US" sz="2200" dirty="0" err="1"/>
              <a:t>превыша</a:t>
            </a:r>
            <a:r>
              <a:rPr lang="ru-RU" sz="2200" dirty="0"/>
              <a:t>ю</a:t>
            </a:r>
            <a:r>
              <a:rPr lang="en-US" sz="2200" dirty="0"/>
              <a:t>т общий диапазон </a:t>
            </a:r>
            <a:r>
              <a:rPr lang="en-US" sz="2200" dirty="0" err="1"/>
              <a:t>значений</a:t>
            </a:r>
            <a:r>
              <a:rPr lang="en-US" sz="2200" dirty="0"/>
              <a:t>.</a:t>
            </a:r>
            <a:r>
              <a:rPr lang="ru-RU" sz="2200" dirty="0"/>
              <a:t> (также называют контекстуальные)</a:t>
            </a:r>
            <a:endParaRPr lang="en-US" sz="2200" dirty="0"/>
          </a:p>
          <a:p>
            <a:pPr algn="l" rtl="0"/>
            <a:r>
              <a:rPr lang="en-US" sz="2200" b="1" dirty="0" err="1"/>
              <a:t>глобальная</a:t>
            </a:r>
            <a:r>
              <a:rPr lang="en-US" sz="2200" b="1" dirty="0"/>
              <a:t> </a:t>
            </a:r>
            <a:r>
              <a:rPr lang="en-US" sz="2200" b="1" dirty="0" err="1"/>
              <a:t>аномалия</a:t>
            </a:r>
            <a:r>
              <a:rPr lang="en-US" sz="2200" dirty="0"/>
              <a:t> </a:t>
            </a:r>
            <a:r>
              <a:rPr lang="en-US" sz="2200" dirty="0" err="1"/>
              <a:t>предполагае</a:t>
            </a:r>
            <a:r>
              <a:rPr lang="ru-RU" sz="2200" dirty="0"/>
              <a:t>т</a:t>
            </a:r>
            <a:r>
              <a:rPr lang="en-US" sz="2200" dirty="0"/>
              <a:t>, </a:t>
            </a:r>
            <a:r>
              <a:rPr lang="en-US" sz="2200" dirty="0" err="1"/>
              <a:t>что</a:t>
            </a:r>
            <a:r>
              <a:rPr lang="en-US" sz="2200" dirty="0"/>
              <a:t> е</a:t>
            </a:r>
            <a:r>
              <a:rPr lang="ru-RU" sz="2200" dirty="0"/>
              <a:t>е</a:t>
            </a:r>
            <a:r>
              <a:rPr lang="en-US" sz="2200" dirty="0"/>
              <a:t> </a:t>
            </a:r>
            <a:r>
              <a:rPr lang="en-US" sz="2200" dirty="0" err="1"/>
              <a:t>значени</a:t>
            </a:r>
            <a:r>
              <a:rPr lang="ru-RU" sz="2200" dirty="0"/>
              <a:t>я</a:t>
            </a:r>
            <a:r>
              <a:rPr lang="en-US" sz="2200" dirty="0"/>
              <a:t> </a:t>
            </a:r>
            <a:r>
              <a:rPr lang="en-US" sz="2200" dirty="0" err="1"/>
              <a:t>значительно</a:t>
            </a:r>
            <a:r>
              <a:rPr lang="en-US" sz="2200" dirty="0"/>
              <a:t> </a:t>
            </a:r>
            <a:r>
              <a:rPr lang="en-US" sz="2200" dirty="0" err="1"/>
              <a:t>превыша</a:t>
            </a:r>
            <a:r>
              <a:rPr lang="ru-RU" sz="2200" dirty="0"/>
              <a:t>ю</a:t>
            </a:r>
            <a:r>
              <a:rPr lang="en-US" sz="2200" dirty="0"/>
              <a:t>т общий диапазон значений.</a:t>
            </a:r>
            <a:endParaRPr lang="ru-RU" sz="2200" dirty="0"/>
          </a:p>
          <a:p>
            <a:pPr algn="l" rtl="0"/>
            <a:r>
              <a:rPr lang="en-US" sz="2200" dirty="0"/>
              <a:t>Пример локальных и глобальных точечных </a:t>
            </a:r>
            <a:r>
              <a:rPr lang="en-US" sz="2200" dirty="0" err="1"/>
              <a:t>аномалий</a:t>
            </a:r>
            <a:r>
              <a:rPr lang="en-US" sz="2200" dirty="0"/>
              <a:t>.</a:t>
            </a:r>
            <a:endParaRPr lang="ru-RU" sz="2200" dirty="0"/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19" y="3605430"/>
            <a:ext cx="11291531" cy="3000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02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/>
          <a:lstStyle/>
          <a:p>
            <a:pPr algn="l" rtl="0"/>
            <a:r>
              <a:rPr lang="ru-RU" b="1" dirty="0"/>
              <a:t>Обнаружение аномалий. </a:t>
            </a:r>
            <a:r>
              <a:rPr lang="en-US" b="1" dirty="0"/>
              <a:t>Пример</a:t>
            </a:r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765175" y="1254570"/>
            <a:ext cx="10741025" cy="5100193"/>
          </a:xfrm>
        </p:spPr>
        <p:txBody>
          <a:bodyPr/>
          <a:lstStyle/>
          <a:p>
            <a:pPr algn="l" rtl="0"/>
            <a:r>
              <a:rPr lang="en-US" dirty="0"/>
              <a:t>Пример внезапного отсутствия сезонности и </a:t>
            </a:r>
            <a:r>
              <a:rPr lang="ru-RU" dirty="0"/>
              <a:t>изменение </a:t>
            </a:r>
            <a:r>
              <a:rPr lang="en-US" dirty="0" err="1"/>
              <a:t>уровн</a:t>
            </a:r>
            <a:r>
              <a:rPr lang="ru-RU" dirty="0"/>
              <a:t>я</a:t>
            </a:r>
            <a:r>
              <a:rPr lang="en-US" dirty="0"/>
              <a:t> аномалия сдвига.</a:t>
            </a:r>
          </a:p>
        </p:txBody>
      </p:sp>
      <p:sp>
        <p:nvSpPr>
          <p:cNvPr id="9" name="AutoShape 2" descr="image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4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5" name="AutoShape 4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0" name="AutoShape 2" descr="image-3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784350"/>
            <a:ext cx="6690186" cy="4370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5421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>
            <a:normAutofit fontScale="90000"/>
          </a:bodyPr>
          <a:lstStyle/>
          <a:p>
            <a:pPr lvl="0" algn="l" rtl="0"/>
            <a:r>
              <a:rPr lang="ru-RU" b="1" dirty="0"/>
              <a:t>Обнаружение аномалий. </a:t>
            </a:r>
            <a:r>
              <a:rPr lang="ru-RU" altLang="ru-RU" b="1" dirty="0">
                <a:solidFill>
                  <a:srgbClr val="000000"/>
                </a:solidFill>
              </a:rPr>
              <a:t>Методы без учителя</a:t>
            </a:r>
            <a:endParaRPr lang="en-US" b="1" dirty="0"/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460375" y="1074736"/>
            <a:ext cx="11731625" cy="5630864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Метод глобального порога</a:t>
            </a:r>
            <a:r>
              <a:rPr lang="ru-RU" sz="2000" dirty="0"/>
              <a:t>  - самый простой метод, который подходит для </a:t>
            </a:r>
            <a:r>
              <a:rPr lang="ru-RU" sz="2000" dirty="0" err="1"/>
              <a:t>оброса</a:t>
            </a:r>
            <a:r>
              <a:rPr lang="ru-RU" sz="2000" dirty="0"/>
              <a:t> значений глобальных выбросов.</a:t>
            </a:r>
          </a:p>
          <a:p>
            <a:pPr lvl="0"/>
            <a:r>
              <a:rPr lang="ru-RU" sz="2000" dirty="0"/>
              <a:t>Поиск может быть выполнен путем вычисления статистических значений, таких как среднее или медианное скользящее среднее данных, и использования стандартного отклонения для получения диапазона статистических значений, который может определять верхнюю и нижнюю границы, и все, что выходит за пределы этих диапазонов, может быть рассмотрено как аномалии.</a:t>
            </a:r>
          </a:p>
        </p:txBody>
      </p:sp>
      <p:sp>
        <p:nvSpPr>
          <p:cNvPr id="9" name="AutoShape 2" descr="image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4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5" name="AutoShape 4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0" name="AutoShape 2" descr="image-3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AutoShape 3" descr="image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3162300"/>
            <a:ext cx="5539870" cy="36195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187700"/>
            <a:ext cx="5734050" cy="222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554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>
            <a:normAutofit fontScale="90000"/>
          </a:bodyPr>
          <a:lstStyle/>
          <a:p>
            <a:pPr lvl="0" algn="l" rtl="0"/>
            <a:r>
              <a:rPr lang="ru-RU" b="1" dirty="0"/>
              <a:t>Обнаружение аномалий. </a:t>
            </a:r>
            <a:r>
              <a:rPr lang="ru-RU" altLang="ru-RU" b="1" dirty="0">
                <a:solidFill>
                  <a:srgbClr val="000000"/>
                </a:solidFill>
              </a:rPr>
              <a:t>Методы без учителя</a:t>
            </a:r>
            <a:endParaRPr lang="en-US" b="1" dirty="0"/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460375" y="1074736"/>
            <a:ext cx="11731625" cy="5630864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b="1" dirty="0"/>
              <a:t>Метод локального порога для поиска </a:t>
            </a:r>
            <a:r>
              <a:rPr lang="en-US" sz="2400" b="1" dirty="0" err="1"/>
              <a:t>аномалий</a:t>
            </a:r>
            <a:r>
              <a:rPr lang="en-US" sz="2400" b="1" dirty="0"/>
              <a:t>.</a:t>
            </a:r>
            <a:endParaRPr lang="ru-RU" sz="2400" b="1" dirty="0"/>
          </a:p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dirty="0" err="1"/>
              <a:t>Анализируйте</a:t>
            </a:r>
            <a:r>
              <a:rPr lang="en-US" sz="2400" dirty="0"/>
              <a:t> аномалии по относительному порогу в некотором движущемся окне. Например, </a:t>
            </a:r>
            <a:r>
              <a:rPr lang="en-US" sz="2400" dirty="0" err="1"/>
              <a:t>относительно</a:t>
            </a:r>
            <a:r>
              <a:rPr lang="en-US" sz="2400" dirty="0"/>
              <a:t> </a:t>
            </a:r>
            <a:r>
              <a:rPr lang="en-US" sz="2400" dirty="0" err="1"/>
              <a:t>среднего</a:t>
            </a:r>
            <a:r>
              <a:rPr lang="ru-RU" sz="2400" dirty="0"/>
              <a:t>, дисперсии</a:t>
            </a:r>
            <a:r>
              <a:rPr lang="en-US" sz="2400" dirty="0"/>
              <a:t> и</a:t>
            </a:r>
            <a:r>
              <a:rPr lang="ru-RU" sz="2400" dirty="0"/>
              <a:t> т.д.</a:t>
            </a:r>
            <a:endParaRPr lang="ru-RU" altLang="ru-RU" sz="1800" dirty="0"/>
          </a:p>
        </p:txBody>
      </p:sp>
      <p:sp>
        <p:nvSpPr>
          <p:cNvPr id="9" name="AutoShape 2" descr="image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4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5" name="AutoShape 4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0" name="AutoShape 2" descr="image-3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AutoShape 3" descr="image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image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AutoShape 4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75" y="2798191"/>
            <a:ext cx="4460434" cy="3098355"/>
          </a:xfrm>
          <a:prstGeom prst="rect">
            <a:avLst/>
          </a:prstGeom>
        </p:spPr>
      </p:pic>
      <p:sp>
        <p:nvSpPr>
          <p:cNvPr id="24" name="AutoShape 4" descr="image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009" y="2984500"/>
            <a:ext cx="7385316" cy="2420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031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>
            <a:normAutofit/>
          </a:bodyPr>
          <a:lstStyle/>
          <a:p>
            <a:r>
              <a:rPr lang="ru-RU" b="1" dirty="0"/>
              <a:t>Метод ящика с усами (</a:t>
            </a:r>
            <a:r>
              <a:rPr lang="en-US" b="1" dirty="0" err="1"/>
              <a:t>BoxPlot</a:t>
            </a:r>
            <a:r>
              <a:rPr lang="ru-RU" b="1" dirty="0"/>
              <a:t>)</a:t>
            </a:r>
            <a:endParaRPr lang="en-US" b="1" dirty="0"/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307975" y="1018894"/>
            <a:ext cx="11621954" cy="510019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Во многих случаях в качестве основы для сравнения методов обнаружения аномалий может применяться </a:t>
            </a:r>
            <a:r>
              <a:rPr lang="ru-RU" sz="2000" b="1" dirty="0" err="1"/>
              <a:t>межквартильный</a:t>
            </a:r>
            <a:r>
              <a:rPr lang="ru-RU" sz="2000" b="1" dirty="0"/>
              <a:t> размах (IQR)</a:t>
            </a:r>
            <a:r>
              <a:rPr lang="ru-RU" sz="2000" dirty="0"/>
              <a:t>.</a:t>
            </a:r>
          </a:p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Метод представляет собой представление распределения данных в виде 4-квантилей.</a:t>
            </a:r>
          </a:p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Выбросы можно рассматривать как все значения квантилей выше 75% или ниже 25%.</a:t>
            </a:r>
          </a:p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Как правило, IQR графически представлены в виде   </a:t>
            </a:r>
            <a:r>
              <a:rPr lang="ru-RU" sz="2000" b="1" dirty="0"/>
              <a:t>диаграммы типа ящик с усами</a:t>
            </a:r>
            <a:r>
              <a:rPr lang="ru-RU" sz="2000" dirty="0"/>
              <a:t>.</a:t>
            </a:r>
          </a:p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Если вы упорядочиваете данные от малого к большему, средняя точка называется медианной. </a:t>
            </a:r>
          </a:p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Медиана разделяет данные на две половины. </a:t>
            </a:r>
          </a:p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Средние точки каждой из этих половин называются квартилем.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Другими словами, вы можете разделить данные на 3 квартиля - 1-й, 2-й и 3-й (у 2-го квартиля есть название - медиана). Таким образом, </a:t>
            </a:r>
            <a:r>
              <a:rPr lang="ru-RU" sz="2000" dirty="0" err="1"/>
              <a:t>межквартильный</a:t>
            </a:r>
            <a:r>
              <a:rPr lang="ru-RU" sz="2000" dirty="0"/>
              <a:t> размах - это расстояние между 1-м и 3-м квартилями. 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Теория обнаружения аномалий с использованием IQR заключается в том, что если точка данных находится слишком далеко от 1-го и 3-го квартилей, это, вероятно, является выбросом.</a:t>
            </a:r>
          </a:p>
        </p:txBody>
      </p:sp>
      <p:sp>
        <p:nvSpPr>
          <p:cNvPr id="9" name="AutoShape 2" descr="image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12" name="AutoShape 4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15" name="AutoShape 4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10" name="AutoShape 2" descr="image-3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6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2"/>
          <a:srcRect l="5788" t="13854" r="5151" b="22958"/>
          <a:stretch/>
        </p:blipFill>
        <p:spPr>
          <a:xfrm>
            <a:off x="5093293" y="5101841"/>
            <a:ext cx="4580546" cy="1624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27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>
            <a:normAutofit/>
          </a:bodyPr>
          <a:lstStyle/>
          <a:p>
            <a:pPr algn="l" rtl="0"/>
            <a:r>
              <a:rPr lang="ru-RU" b="1" dirty="0"/>
              <a:t>Метод ящика с усами (</a:t>
            </a:r>
            <a:r>
              <a:rPr lang="en-US" b="1" dirty="0" err="1"/>
              <a:t>BoxPlot</a:t>
            </a:r>
            <a:r>
              <a:rPr lang="ru-RU" b="1" dirty="0"/>
              <a:t>)</a:t>
            </a:r>
            <a:endParaRPr lang="en-US" b="1" dirty="0"/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725487" y="1022350"/>
            <a:ext cx="10741025" cy="510019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Усы обычно увеличиваются на расстояние 1,5 * IQR по обе стороны коробки. Следовательно, все точки данных за пределами этих значений 1,5 * IQR помечаются как выбросы.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000" dirty="0" err="1"/>
              <a:t>Сравнение</a:t>
            </a:r>
            <a:r>
              <a:rPr lang="en-US" sz="2000" dirty="0"/>
              <a:t> </a:t>
            </a:r>
            <a:r>
              <a:rPr lang="en-US" sz="2000" b="1" dirty="0" err="1"/>
              <a:t>BoxPlot</a:t>
            </a:r>
            <a:r>
              <a:rPr lang="en-US" sz="2000" b="1" dirty="0"/>
              <a:t> </a:t>
            </a:r>
            <a:r>
              <a:rPr lang="en-US" sz="2000" dirty="0"/>
              <a:t>и </a:t>
            </a:r>
            <a:r>
              <a:rPr lang="en-US" sz="2000" dirty="0" err="1"/>
              <a:t>нормального</a:t>
            </a:r>
            <a:r>
              <a:rPr lang="en-US" sz="2000" dirty="0"/>
              <a:t> </a:t>
            </a:r>
            <a:r>
              <a:rPr lang="en-US" sz="2000" dirty="0" err="1"/>
              <a:t>распределения</a:t>
            </a:r>
            <a:endParaRPr lang="en-US" sz="1600" dirty="0"/>
          </a:p>
        </p:txBody>
      </p:sp>
      <p:sp>
        <p:nvSpPr>
          <p:cNvPr id="9" name="AutoShape 2" descr="image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12" name="AutoShape 4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15" name="AutoShape 4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10" name="AutoShape 2" descr="image-3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6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11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120" y="2222367"/>
            <a:ext cx="5818618" cy="2909309"/>
          </a:xfrm>
          <a:prstGeom prst="rect">
            <a:avLst/>
          </a:prstGeom>
        </p:spPr>
      </p:pic>
      <p:sp>
        <p:nvSpPr>
          <p:cNvPr id="14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196" y="1973088"/>
            <a:ext cx="5201580" cy="3708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2037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>
            <a:normAutofit fontScale="90000"/>
          </a:bodyPr>
          <a:lstStyle/>
          <a:p>
            <a:pPr lvl="0" algn="l" rtl="0"/>
            <a:r>
              <a:rPr lang="ru-RU" b="1" dirty="0"/>
              <a:t>Обнаружение аномалий. </a:t>
            </a:r>
            <a:r>
              <a:rPr lang="ru-RU" altLang="ru-RU" b="1" dirty="0">
                <a:solidFill>
                  <a:srgbClr val="000000"/>
                </a:solidFill>
              </a:rPr>
              <a:t>Методы без учителя</a:t>
            </a:r>
            <a:endParaRPr lang="en-US" b="1" dirty="0"/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460375" y="1074736"/>
            <a:ext cx="11731625" cy="5630864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Пример выбора порога на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оценки</a:t>
            </a:r>
            <a:r>
              <a:rPr lang="ru-RU" dirty="0"/>
              <a:t> </a:t>
            </a:r>
            <a:r>
              <a:rPr lang="en-US" dirty="0" err="1"/>
              <a:t>распределения</a:t>
            </a:r>
            <a:r>
              <a:rPr lang="en-US" dirty="0"/>
              <a:t>.</a:t>
            </a:r>
            <a:endParaRPr lang="ru-RU" altLang="ru-RU" sz="2000" dirty="0"/>
          </a:p>
        </p:txBody>
      </p:sp>
      <p:sp>
        <p:nvSpPr>
          <p:cNvPr id="9" name="AutoShape 2" descr="image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4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5" name="AutoShape 4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0" name="AutoShape 2" descr="image-3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AutoShape 3" descr="image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image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308417"/>
            <a:ext cx="9894888" cy="201459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83387" y="3818952"/>
            <a:ext cx="1531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 rtl="0"/>
            <a:r>
              <a:rPr lang="en-US" dirty="0"/>
              <a:t>Порог STD</a:t>
            </a:r>
            <a:endParaRPr lang="ru-RU" dirty="0"/>
          </a:p>
        </p:txBody>
      </p:sp>
      <p:sp>
        <p:nvSpPr>
          <p:cNvPr id="22" name="AutoShape 4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63" y="1682305"/>
            <a:ext cx="3867023" cy="250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7473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>
            <a:normAutofit/>
          </a:bodyPr>
          <a:lstStyle/>
          <a:p>
            <a:pPr lvl="0"/>
            <a:r>
              <a:rPr lang="ru-RU" b="1" dirty="0">
                <a:solidFill>
                  <a:srgbClr val="000000"/>
                </a:solidFill>
              </a:rPr>
              <a:t>Методы без учителя</a:t>
            </a:r>
            <a:endParaRPr lang="en-US" b="1" dirty="0"/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Объект 7"/>
              <p:cNvSpPr>
                <a:spLocks noGrp="1"/>
              </p:cNvSpPr>
              <p:nvPr>
                <p:ph idx="1"/>
              </p:nvPr>
            </p:nvSpPr>
            <p:spPr>
              <a:xfrm>
                <a:off x="460375" y="1074736"/>
                <a:ext cx="11731625" cy="5630864"/>
              </a:xfrm>
            </p:spPr>
            <p:txBody>
              <a:bodyPr>
                <a:noAutofit/>
              </a:bodyPr>
              <a:lstStyle/>
              <a:p>
                <a:pPr lvl="0"/>
                <a:r>
                  <a:rPr lang="ru-RU" sz="2000" dirty="0"/>
                  <a:t>Большинство методов  </a:t>
                </a:r>
                <a:r>
                  <a:rPr lang="ru-RU" sz="2000" b="1" dirty="0"/>
                  <a:t>неконтролируемого</a:t>
                </a:r>
                <a:r>
                  <a:rPr lang="ru-RU" sz="2000" dirty="0"/>
                  <a:t>  обнаружения аномалий пытаются определить аномалии путем анализа распределения всех значений ошибок и использования порогового значения </a:t>
                </a:r>
                <a:r>
                  <a:rPr lang="ru-RU" sz="2000" dirty="0" err="1"/>
                  <a:t>процентиля</a:t>
                </a:r>
                <a:r>
                  <a:rPr lang="ru-RU" sz="2000" dirty="0"/>
                  <a:t>.</a:t>
                </a:r>
              </a:p>
              <a:p>
                <a:pPr lvl="0"/>
                <a:r>
                  <a:rPr lang="ru-RU" sz="2000" dirty="0"/>
                  <a:t>Один из распространенных подходов - установить порог = 3⋅𝑠𝑡𝑑, где 𝑠𝑡𝑑 - стандартное отклонение рассматриваемого распределения. Данные могут быть предварительно нормализованы для оценки их значений (и выбросов) в относительных единицах.</a:t>
                </a:r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altLang="ru-RU" sz="20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ru-RU" altLang="ru-RU" sz="20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ru-RU" sz="2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altLang="ru-RU" sz="2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ru-RU" altLang="ru-RU" sz="2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ru-RU" altLang="ru-RU" sz="2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𝐸𝑉</m:t>
                          </m:r>
                          <m:d>
                            <m:dPr>
                              <m:ctrlPr>
                                <a:rPr lang="ru-RU" altLang="ru-RU" sz="2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altLang="ru-RU" sz="2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num>
                        <m:den>
                          <m:r>
                            <a:rPr lang="ru-RU" altLang="ru-RU" sz="2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𝑠𝑡𝑑</m:t>
                          </m:r>
                          <m:d>
                            <m:dPr>
                              <m:ctrlPr>
                                <a:rPr lang="ru-RU" altLang="ru-RU" sz="2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altLang="ru-RU" sz="2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den>
                      </m:f>
                      <m:r>
                        <a:rPr lang="ru-RU" altLang="ru-RU" sz="20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ru-RU" sz="2000" dirty="0">
                  <a:solidFill>
                    <a:srgbClr val="000000"/>
                  </a:solidFill>
                </a:endParaRPr>
              </a:p>
              <a:p>
                <a:pPr lvl="0"/>
                <a:r>
                  <a:rPr lang="ru-RU" sz="2000" dirty="0"/>
                  <a:t>все значения z выше 2,5 или ниже -2,5 следует рассматривать как выбросы с достоверностью 99%.</a:t>
                </a:r>
              </a:p>
              <a:p>
                <a:pPr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sz="2000" dirty="0">
                    <a:solidFill>
                      <a:srgbClr val="000000"/>
                    </a:solidFill>
                  </a:rPr>
                  <a:t>Иллюстрация из в </a:t>
                </a:r>
                <a:r>
                  <a:rPr lang="ru-RU" altLang="ru-RU" sz="2000" b="1" dirty="0" err="1">
                    <a:solidFill>
                      <a:srgbClr val="000000"/>
                    </a:solidFill>
                  </a:rPr>
                  <a:t>процентиль</a:t>
                </a:r>
                <a:r>
                  <a:rPr lang="ru-RU" altLang="ru-RU" sz="2000" b="1" dirty="0">
                    <a:solidFill>
                      <a:srgbClr val="000000"/>
                    </a:solidFill>
                  </a:rPr>
                  <a:t> </a:t>
                </a:r>
                <a:r>
                  <a:rPr lang="ru-RU" altLang="ru-RU" sz="2000" dirty="0">
                    <a:solidFill>
                      <a:srgbClr val="000000"/>
                    </a:solidFill>
                  </a:rPr>
                  <a:t>в качестве пример </a:t>
                </a:r>
                <a:endParaRPr lang="en-US" altLang="ru-RU" sz="2000" dirty="0">
                  <a:solidFill>
                    <a:srgbClr val="000000"/>
                  </a:solidFill>
                </a:endParaRPr>
              </a:p>
              <a:p>
                <a:pPr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sz="2000" b="1" dirty="0">
                    <a:solidFill>
                      <a:srgbClr val="000000"/>
                    </a:solidFill>
                  </a:rPr>
                  <a:t>правило 68-95-99,7 </a:t>
                </a:r>
                <a:r>
                  <a:rPr lang="ru-RU" altLang="ru-RU" sz="2000" dirty="0">
                    <a:solidFill>
                      <a:srgbClr val="000000"/>
                    </a:solidFill>
                  </a:rPr>
                  <a:t>или </a:t>
                </a:r>
                <a:r>
                  <a:rPr lang="ru-RU" altLang="ru-RU" sz="2000" b="1" dirty="0">
                    <a:solidFill>
                      <a:srgbClr val="000000"/>
                    </a:solidFill>
                  </a:rPr>
                  <a:t>правило </a:t>
                </a:r>
                <a:r>
                  <a:rPr lang="en-US" altLang="ru-RU" sz="2000" b="1" dirty="0">
                    <a:solidFill>
                      <a:srgbClr val="000000"/>
                    </a:solidFill>
                  </a:rPr>
                  <a:t> </a:t>
                </a:r>
                <a:r>
                  <a:rPr lang="ru-RU" altLang="ru-RU" sz="2000" b="1" dirty="0">
                    <a:solidFill>
                      <a:srgbClr val="000000"/>
                    </a:solidFill>
                  </a:rPr>
                  <a:t>три сигма</a:t>
                </a:r>
                <a:endParaRPr lang="en-US" altLang="ru-RU" sz="2000" b="1" dirty="0">
                  <a:solidFill>
                    <a:srgbClr val="000000"/>
                  </a:solidFill>
                </a:endParaRPr>
              </a:p>
              <a:p>
                <a:pPr lvl="1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sz="1800" dirty="0">
                    <a:solidFill>
                      <a:srgbClr val="000000"/>
                    </a:solidFill>
                  </a:rPr>
                  <a:t>68% значение в </a:t>
                </a:r>
                <a:r>
                  <a:rPr lang="ru-RU" altLang="ru-RU" sz="1800" dirty="0" err="1">
                    <a:solidFill>
                      <a:srgbClr val="000000"/>
                    </a:solidFill>
                  </a:rPr>
                  <a:t>дипазоне</a:t>
                </a:r>
                <a:r>
                  <a:rPr lang="ru-RU" altLang="ru-RU" sz="1800" dirty="0">
                    <a:solidFill>
                      <a:srgbClr val="000000"/>
                    </a:solidFill>
                  </a:rPr>
                  <a:t> [𝑚𝑒𝑎𝑛 − 𝑠𝑡𝑑, 𝑚𝑒𝑎𝑛 +𝑠𝑡𝑑</a:t>
                </a:r>
                <a:r>
                  <a:rPr lang="en-US" altLang="ru-RU" sz="1800" dirty="0">
                    <a:solidFill>
                      <a:srgbClr val="000000"/>
                    </a:solidFill>
                  </a:rPr>
                  <a:t>]</a:t>
                </a:r>
              </a:p>
              <a:p>
                <a:pPr lvl="1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sz="1800" dirty="0">
                    <a:solidFill>
                      <a:srgbClr val="000000"/>
                    </a:solidFill>
                  </a:rPr>
                  <a:t>95% значение в </a:t>
                </a:r>
                <a:r>
                  <a:rPr lang="ru-RU" altLang="ru-RU" sz="1800" dirty="0" err="1">
                    <a:solidFill>
                      <a:srgbClr val="000000"/>
                    </a:solidFill>
                  </a:rPr>
                  <a:t>дипазоне</a:t>
                </a:r>
                <a:r>
                  <a:rPr lang="ru-RU" altLang="ru-RU" sz="1800" dirty="0">
                    <a:solidFill>
                      <a:srgbClr val="000000"/>
                    </a:solidFill>
                  </a:rPr>
                  <a:t> [𝑚𝑒𝑎𝑛 − 2⋅𝑠𝑡𝑑, 𝑚𝑒𝑎𝑛 + ⋅𝑠𝑡𝑑</a:t>
                </a:r>
                <a:r>
                  <a:rPr lang="en-US" altLang="ru-RU" sz="1800" dirty="0">
                    <a:solidFill>
                      <a:srgbClr val="000000"/>
                    </a:solidFill>
                  </a:rPr>
                  <a:t>]</a:t>
                </a:r>
                <a:endParaRPr lang="ru-RU" altLang="ru-RU" sz="1800" dirty="0">
                  <a:solidFill>
                    <a:srgbClr val="000000"/>
                  </a:solidFill>
                </a:endParaRPr>
              </a:p>
              <a:p>
                <a:pPr lvl="1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ru-RU" sz="1800" dirty="0">
                    <a:solidFill>
                      <a:srgbClr val="000000"/>
                    </a:solidFill>
                  </a:rPr>
                  <a:t>99,7% значение в </a:t>
                </a:r>
                <a:r>
                  <a:rPr lang="ru-RU" altLang="ru-RU" sz="1800" dirty="0" err="1">
                    <a:solidFill>
                      <a:srgbClr val="000000"/>
                    </a:solidFill>
                  </a:rPr>
                  <a:t>дипазоне</a:t>
                </a:r>
                <a:r>
                  <a:rPr lang="ru-RU" altLang="ru-RU" sz="1800" dirty="0">
                    <a:solidFill>
                      <a:srgbClr val="000000"/>
                    </a:solidFill>
                  </a:rPr>
                  <a:t> [𝑚𝑒𝑎𝑛 − 3⋅𝑠𝑡𝑑, 𝑚𝑒𝑎𝑛 + 3⋅𝑠𝑡𝑑].</a:t>
                </a:r>
              </a:p>
              <a:p>
                <a:pPr marL="457200" lvl="1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800" dirty="0"/>
              </a:p>
            </p:txBody>
          </p:sp>
        </mc:Choice>
        <mc:Fallback xmlns="">
          <p:sp>
            <p:nvSpPr>
              <p:cNvPr id="8" name="Объект 7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0375" y="1074736"/>
                <a:ext cx="11731625" cy="5630864"/>
              </a:xfrm>
              <a:blipFill>
                <a:blip r:embed="rId2"/>
                <a:stretch>
                  <a:fillRect l="-468" t="-1082" r="-1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utoShape 2" descr="image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4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5" name="AutoShape 4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0" name="AutoShape 2" descr="image-3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3" descr="image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893" y="3940175"/>
            <a:ext cx="4418721" cy="2917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985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pPr algn="l" rtl="0"/>
            <a:r>
              <a:rPr lang="en-US" sz="3600" b="1" dirty="0" err="1"/>
              <a:t>Полу-контролируемые</a:t>
            </a:r>
            <a:r>
              <a:rPr lang="en-US" sz="3600" b="1" dirty="0"/>
              <a:t> методы. Z-оценка</a:t>
            </a:r>
            <a:endParaRPr lang="ru-RU" sz="3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55600" y="1143000"/>
                <a:ext cx="10998200" cy="5033963"/>
              </a:xfrm>
            </p:spPr>
            <p:txBody>
              <a:bodyPr>
                <a:normAutofit lnSpcReduction="10000"/>
              </a:bodyPr>
              <a:lstStyle/>
              <a:p>
                <a:pPr algn="l" rtl="0">
                  <a:lnSpc>
                    <a:spcPct val="100000"/>
                  </a:lnSpc>
                </a:pPr>
                <a:r>
                  <a:rPr lang="en-US" sz="2000" dirty="0"/>
                  <a:t> </a:t>
                </a:r>
                <a:r>
                  <a:rPr lang="en-US" sz="2000" dirty="0" err="1"/>
                  <a:t>Если</a:t>
                </a:r>
                <a:r>
                  <a:rPr lang="en-US" sz="2000" dirty="0"/>
                  <a:t> известны </a:t>
                </a:r>
                <a:r>
                  <a:rPr lang="en-US" sz="2000" dirty="0" err="1"/>
                  <a:t>нормальные</a:t>
                </a:r>
                <a:r>
                  <a:rPr lang="en-US" sz="2000" dirty="0"/>
                  <a:t> </a:t>
                </a:r>
                <a:r>
                  <a:rPr lang="ru-RU" sz="2000" dirty="0"/>
                  <a:t>данные</a:t>
                </a:r>
                <a:r>
                  <a:rPr lang="en-US" sz="2000" dirty="0"/>
                  <a:t>, метод глобального порога может быть уточнен, например, входные данные могут быть преобразованы в так называемую z-оценку.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𝐸𝑉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𝑛𝑜𝑟𝑚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𝑠𝑡𝑑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𝑛𝑜𝑟𝑚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𝐸𝑉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𝑛𝑜𝑟𝑚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𝑠𝑡𝑑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𝑛𝑜𝑟𝑚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- среднее значение и стандартное отклонение для нормальных данных. Все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000" dirty="0"/>
                  <a:t> значения выше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2.5</m:t>
                    </m:r>
                  </m:oMath>
                </a14:m>
                <a:r>
                  <a:rPr lang="en-US" sz="2000" dirty="0"/>
                  <a:t> или ниже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−2.5</m:t>
                    </m:r>
                  </m:oMath>
                </a14:m>
                <a:r>
                  <a:rPr lang="en-US" sz="2000" dirty="0"/>
                  <a:t> следует рассматривать как выбросы с уверенностью 99%. </a:t>
                </a:r>
                <a:br>
                  <a:rPr lang="en-US" sz="2000" dirty="0"/>
                </a:br>
                <a:r>
                  <a:rPr lang="en-US" sz="2000" dirty="0"/>
                  <a:t>Оценка глобального порога z-показателя может быть сделана </a:t>
                </a:r>
                <a:r>
                  <a:rPr lang="en-US" sz="2000" dirty="0" err="1"/>
                  <a:t>для</a:t>
                </a:r>
                <a:r>
                  <a:rPr lang="en-US" sz="2000" dirty="0"/>
                  <a:t> </a:t>
                </a:r>
                <a:r>
                  <a:rPr lang="en-US" sz="2000" dirty="0" err="1"/>
                  <a:t>скользящ</a:t>
                </a:r>
                <a:r>
                  <a:rPr lang="ru-RU" sz="2000" dirty="0"/>
                  <a:t>его</a:t>
                </a:r>
                <a:r>
                  <a:rPr lang="en-US" sz="2000" dirty="0"/>
                  <a:t> оконных данных. Если данные не являются нормальными или имеют небольшой размер, модифицированная (более надежная) z-оценка может быть принята как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𝑚𝑜𝑑𝑖𝑓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=0.6745</m:t>
                    </m:r>
                    <m:f>
                      <m:f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𝑚𝑒𝑑𝑖𝑎𝑛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𝑛𝑜𝑟𝑚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𝑀𝐴𝐷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𝑛𝑜𝑟𝑚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𝑚𝑒𝑑𝑖𝑎𝑛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𝑛𝑜𝑟𝑚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𝑀𝐴𝐷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𝑛𝑜𝑟𝑚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- среднее значение и среднее абсолютное отклонение для нормальных данных.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</a:pPr>
                <a:r>
                  <a:rPr lang="en-US" sz="2000" dirty="0"/>
                  <a:t> 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600" y="1143000"/>
                <a:ext cx="10998200" cy="5033963"/>
              </a:xfrm>
              <a:blipFill>
                <a:blip r:embed="rId2"/>
                <a:stretch>
                  <a:fillRect l="-499" t="-1333" r="-27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07309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>
            <a:normAutofit fontScale="90000"/>
          </a:bodyPr>
          <a:lstStyle/>
          <a:p>
            <a:pPr lvl="0"/>
            <a:r>
              <a:rPr lang="ru-RU" b="1" dirty="0"/>
              <a:t>Неконтролируемый поиск на основе модели</a:t>
            </a:r>
            <a:endParaRPr lang="ru-RU" dirty="0"/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460375" y="1074736"/>
            <a:ext cx="11007725" cy="5630864"/>
          </a:xfrm>
        </p:spPr>
        <p:txBody>
          <a:bodyPr>
            <a:noAutofit/>
          </a:bodyPr>
          <a:lstStyle/>
          <a:p>
            <a:pPr lvl="0"/>
            <a:r>
              <a:rPr lang="ru-RU" sz="2200" u="sng" dirty="0"/>
              <a:t>Метод основан на создании прогнозной модели и установке порога ошибки прогнозирования (например, MAPE для локальных аномалий).</a:t>
            </a:r>
            <a:endParaRPr lang="ru-RU" sz="2200" dirty="0"/>
          </a:p>
          <a:p>
            <a:pPr lvl="1"/>
            <a:r>
              <a:rPr lang="ru-RU" sz="2200" dirty="0"/>
              <a:t>Порог ошибки здесь можно интерпретировать как уровень уверенности для подтверждения гипотезы о выбросах.</a:t>
            </a:r>
          </a:p>
          <a:p>
            <a:pPr lvl="1"/>
            <a:r>
              <a:rPr lang="ru-RU" sz="2200" dirty="0"/>
              <a:t>Такой подход подходит как для локальных, так и для глобальных аномалий.</a:t>
            </a:r>
          </a:p>
          <a:p>
            <a:pPr lvl="1"/>
            <a:r>
              <a:rPr lang="ru-RU" sz="2200" dirty="0"/>
              <a:t>Для построения модели также могут быть эффективно использованы популярные алгоритмы моделирования временных рядов, такие как скользящее среднее, SARIMA, или любой алгоритм на основе регрессии или машинного обучения и глубокого обучения, например LSTM.</a:t>
            </a:r>
          </a:p>
          <a:p>
            <a:pPr lvl="1"/>
            <a:r>
              <a:rPr lang="ru-RU" sz="2200" dirty="0"/>
              <a:t> </a:t>
            </a:r>
            <a:r>
              <a:rPr lang="ru-RU" sz="2200" i="1" dirty="0"/>
              <a:t>Примечание</a:t>
            </a:r>
            <a:endParaRPr lang="ru-RU" sz="2200" dirty="0"/>
          </a:p>
          <a:p>
            <a:pPr lvl="2"/>
            <a:r>
              <a:rPr lang="ru-RU" sz="2200" dirty="0"/>
              <a:t>Если оценка параметров модели проводится только для «нормальных» данных (без аномалий), а </a:t>
            </a:r>
            <a:r>
              <a:rPr lang="ru-RU" sz="2200" dirty="0" err="1"/>
              <a:t>валидация</a:t>
            </a:r>
            <a:r>
              <a:rPr lang="ru-RU" sz="2200" dirty="0"/>
              <a:t> на данных с аномалиями, то задача может считаться частично контролируемым обучением.</a:t>
            </a:r>
          </a:p>
        </p:txBody>
      </p:sp>
      <p:sp>
        <p:nvSpPr>
          <p:cNvPr id="9" name="AutoShape 2" descr="image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4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5" name="AutoShape 4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0" name="AutoShape 2" descr="image-3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AutoShape 3" descr="image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image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AutoShape 4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4" descr="image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56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1645"/>
          </a:xfrm>
        </p:spPr>
        <p:txBody>
          <a:bodyPr>
            <a:normAutofit fontScale="90000"/>
          </a:bodyPr>
          <a:lstStyle/>
          <a:p>
            <a:pPr lvl="0" algn="l" rtl="0"/>
            <a:r>
              <a:rPr lang="ru-RU" b="1" dirty="0"/>
              <a:t>Обнаружение аномалий. </a:t>
            </a:r>
            <a:r>
              <a:rPr lang="ru-RU" altLang="ru-RU" b="1" dirty="0">
                <a:solidFill>
                  <a:srgbClr val="000000"/>
                </a:solidFill>
              </a:rPr>
              <a:t>Методы без учителя</a:t>
            </a:r>
            <a:endParaRPr lang="en-US" b="1" dirty="0"/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460375" y="1074736"/>
            <a:ext cx="11007725" cy="5630864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Пример поиска выбросов путем прогнозирования на основе модели.</a:t>
            </a:r>
            <a:endParaRPr lang="ru-RU" altLang="ru-RU" sz="2000" dirty="0"/>
          </a:p>
        </p:txBody>
      </p:sp>
      <p:sp>
        <p:nvSpPr>
          <p:cNvPr id="9" name="AutoShape 2" descr="image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4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5" name="AutoShape 4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0" name="AutoShape 2" descr="image-3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AutoShape 3" descr="image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image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AutoShape 4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4" descr="image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375" y="1682305"/>
            <a:ext cx="7826375" cy="4831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0950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12775" y="365125"/>
            <a:ext cx="10741025" cy="711645"/>
          </a:xfrm>
        </p:spPr>
        <p:txBody>
          <a:bodyPr>
            <a:normAutofit/>
          </a:bodyPr>
          <a:lstStyle/>
          <a:p>
            <a:pPr lvl="0" algn="l" rtl="0"/>
            <a:r>
              <a:rPr lang="ru-RU" sz="3600" b="1" dirty="0"/>
              <a:t>Обнаружение аномалий н</a:t>
            </a:r>
            <a:r>
              <a:rPr lang="en-US" sz="3600" b="1" dirty="0"/>
              <a:t>а </a:t>
            </a:r>
            <a:r>
              <a:rPr lang="en-US" sz="3600" b="1" dirty="0" err="1"/>
              <a:t>основе</a:t>
            </a:r>
            <a:r>
              <a:rPr lang="en-US" sz="3600" b="1" dirty="0"/>
              <a:t> </a:t>
            </a:r>
            <a:r>
              <a:rPr lang="en-US" sz="3600" b="1" dirty="0" err="1"/>
              <a:t>кластеризации</a:t>
            </a:r>
            <a:endParaRPr lang="en-US" sz="3600" b="1" dirty="0"/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460375" y="1074736"/>
            <a:ext cx="11007725" cy="5630864"/>
          </a:xfrm>
        </p:spPr>
        <p:txBody>
          <a:bodyPr>
            <a:noAutofit/>
          </a:bodyPr>
          <a:lstStyle/>
          <a:p>
            <a:pPr algn="l" rtl="0"/>
            <a:r>
              <a:rPr lang="en-US" sz="2000" b="1" dirty="0"/>
              <a:t>Поиск аномалий на основе кластеризации</a:t>
            </a:r>
            <a:endParaRPr lang="en-US" sz="2000" dirty="0"/>
          </a:p>
          <a:p>
            <a:pPr algn="l" rtl="0"/>
            <a:r>
              <a:rPr lang="en-US" sz="2000" u="sng" dirty="0"/>
              <a:t>Метод основан на предположении, что аномалии будут </a:t>
            </a:r>
            <a:r>
              <a:rPr lang="en-US" sz="2000" u="sng" dirty="0" err="1"/>
              <a:t>разбиты</a:t>
            </a:r>
            <a:r>
              <a:rPr lang="en-US" sz="2000" u="sng" dirty="0"/>
              <a:t> </a:t>
            </a:r>
            <a:r>
              <a:rPr lang="ru-RU" sz="2000" u="sng" dirty="0"/>
              <a:t>в</a:t>
            </a:r>
            <a:r>
              <a:rPr lang="en-US" sz="2000" u="sng" dirty="0"/>
              <a:t> отдельные кластеры с относительно небольшим количеством элементов.</a:t>
            </a:r>
            <a:endParaRPr lang="en-US" sz="2000" dirty="0"/>
          </a:p>
          <a:p>
            <a:pPr lvl="1" algn="l" rtl="0"/>
            <a:r>
              <a:rPr lang="en-US" sz="2000" dirty="0"/>
              <a:t>Одна из </a:t>
            </a:r>
            <a:r>
              <a:rPr lang="en-US" sz="2000" dirty="0" err="1"/>
              <a:t>распространенных</a:t>
            </a:r>
            <a:r>
              <a:rPr lang="en-US" sz="2000" dirty="0"/>
              <a:t> </a:t>
            </a:r>
            <a:r>
              <a:rPr lang="ru-RU" sz="2000" dirty="0"/>
              <a:t>проблем</a:t>
            </a:r>
            <a:r>
              <a:rPr lang="en-US" sz="2000" dirty="0"/>
              <a:t> или узких мест для алгоритмов кластеризации для обнаружения аномалий - </a:t>
            </a:r>
            <a:r>
              <a:rPr lang="en-US" sz="2000" dirty="0" err="1"/>
              <a:t>это</a:t>
            </a:r>
            <a:r>
              <a:rPr lang="en-US" sz="2000" dirty="0"/>
              <a:t> </a:t>
            </a:r>
            <a:r>
              <a:rPr lang="ru-RU" sz="2000" dirty="0"/>
              <a:t>задание</a:t>
            </a:r>
            <a:r>
              <a:rPr lang="en-US" sz="2000" dirty="0"/>
              <a:t> количества кластеров, которое требуется большинству алгоритмов кластеризации в качестве входных данных.</a:t>
            </a:r>
            <a:br>
              <a:rPr lang="en-US" sz="2000" dirty="0"/>
            </a:br>
            <a:endParaRPr lang="en-US" sz="2000" dirty="0"/>
          </a:p>
          <a:p>
            <a:pPr lvl="1" algn="l" rtl="0"/>
            <a:r>
              <a:rPr lang="ru-RU" sz="2000" u="sng" dirty="0"/>
              <a:t>От этой проблемы свободны такие м</a:t>
            </a:r>
            <a:r>
              <a:rPr lang="en-US" sz="2000" u="sng" dirty="0" err="1"/>
              <a:t>етод</a:t>
            </a:r>
            <a:r>
              <a:rPr lang="ru-RU" sz="2000" u="sng" dirty="0"/>
              <a:t>ы</a:t>
            </a:r>
            <a:r>
              <a:rPr lang="en-US" sz="2000" u="sng" dirty="0"/>
              <a:t> </a:t>
            </a:r>
            <a:r>
              <a:rPr lang="en-US" sz="2000" u="sng" dirty="0" err="1"/>
              <a:t>кластеризации</a:t>
            </a:r>
            <a:r>
              <a:rPr lang="en-US" sz="2000" u="sng" dirty="0"/>
              <a:t> </a:t>
            </a:r>
            <a:r>
              <a:rPr lang="en-US" sz="2000" u="sng" dirty="0" err="1"/>
              <a:t>как</a:t>
            </a:r>
            <a:r>
              <a:rPr lang="en-US" sz="2000" u="sng" dirty="0"/>
              <a:t> </a:t>
            </a:r>
            <a:r>
              <a:rPr lang="en-US" sz="2000" b="1" u="sng" dirty="0"/>
              <a:t>DBSCAN</a:t>
            </a:r>
            <a:r>
              <a:rPr lang="en-US" sz="2000" u="sng" dirty="0"/>
              <a:t> </a:t>
            </a:r>
            <a:endParaRPr lang="ru-RU" sz="2000" u="sng" dirty="0"/>
          </a:p>
          <a:p>
            <a:pPr lvl="1" algn="l" rtl="0"/>
            <a:r>
              <a:rPr lang="en-US" sz="2000" dirty="0" err="1"/>
              <a:t>Главный</a:t>
            </a:r>
            <a:r>
              <a:rPr lang="en-US" sz="2000" dirty="0"/>
              <a:t> недостаток такой кластеризации: если точки данных аномалии повторяются много раз в разреженном интервале, они могут не отображаться </a:t>
            </a:r>
            <a:r>
              <a:rPr lang="en-US" sz="2000" dirty="0" err="1"/>
              <a:t>как</a:t>
            </a:r>
            <a:r>
              <a:rPr lang="en-US" sz="2000" dirty="0"/>
              <a:t> </a:t>
            </a:r>
            <a:r>
              <a:rPr lang="en-US" sz="2000" dirty="0" err="1"/>
              <a:t>аномалия</a:t>
            </a:r>
            <a:r>
              <a:rPr lang="en-US" sz="2000" dirty="0"/>
              <a:t>.</a:t>
            </a:r>
            <a:endParaRPr lang="ru-RU" sz="2000" dirty="0"/>
          </a:p>
          <a:p>
            <a:pPr lvl="2"/>
            <a:r>
              <a:rPr lang="ru-RU" dirty="0"/>
              <a:t>В</a:t>
            </a:r>
            <a:r>
              <a:rPr lang="en-US" dirty="0"/>
              <a:t> </a:t>
            </a:r>
            <a:r>
              <a:rPr lang="en-US" dirty="0" err="1"/>
              <a:t>таком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ru-RU" dirty="0"/>
              <a:t> следует </a:t>
            </a:r>
            <a:r>
              <a:rPr lang="en-US" dirty="0"/>
              <a:t> </a:t>
            </a:r>
            <a:r>
              <a:rPr lang="en-US" dirty="0" err="1"/>
              <a:t>пере</a:t>
            </a:r>
            <a:r>
              <a:rPr lang="ru-RU" dirty="0" err="1"/>
              <a:t>йти</a:t>
            </a:r>
            <a:r>
              <a:rPr lang="en-US" dirty="0"/>
              <a:t> к кластеризации на основе скользящего окна.</a:t>
            </a:r>
          </a:p>
        </p:txBody>
      </p:sp>
      <p:sp>
        <p:nvSpPr>
          <p:cNvPr id="9" name="AutoShape 2" descr="image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4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5" name="AutoShape 4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0" name="AutoShape 2" descr="image-3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AutoShape 3" descr="image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image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AutoShape 4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4" descr="image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975" y="4598248"/>
            <a:ext cx="7637462" cy="1944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0162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7575" y="374359"/>
            <a:ext cx="10515600" cy="711645"/>
          </a:xfrm>
        </p:spPr>
        <p:txBody>
          <a:bodyPr>
            <a:normAutofit/>
          </a:bodyPr>
          <a:lstStyle/>
          <a:p>
            <a:pPr lvl="0"/>
            <a:r>
              <a:rPr lang="ru-RU" sz="3600" b="1" dirty="0"/>
              <a:t>Обнаружение аномалий н</a:t>
            </a:r>
            <a:r>
              <a:rPr lang="en-US" sz="3600" b="1" dirty="0"/>
              <a:t>а </a:t>
            </a:r>
            <a:r>
              <a:rPr lang="en-US" sz="3600" b="1" dirty="0" err="1"/>
              <a:t>основе</a:t>
            </a:r>
            <a:r>
              <a:rPr lang="en-US" sz="3600" b="1" dirty="0"/>
              <a:t> </a:t>
            </a:r>
            <a:r>
              <a:rPr lang="en-US" sz="3600" b="1" dirty="0" err="1"/>
              <a:t>кластеризации</a:t>
            </a:r>
            <a:endParaRPr lang="en-US" sz="3600" b="1" dirty="0"/>
          </a:p>
        </p:txBody>
      </p:sp>
      <p:sp>
        <p:nvSpPr>
          <p:cNvPr id="5" name="AutoShape 3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7" name="AutoShape 2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460375" y="1074736"/>
            <a:ext cx="11007725" cy="5630864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 err="1"/>
              <a:t>Специфичность</a:t>
            </a:r>
            <a:r>
              <a:rPr lang="en-US" sz="2000" dirty="0"/>
              <a:t> </a:t>
            </a:r>
            <a:r>
              <a:rPr lang="en-US" sz="2000" b="1" dirty="0"/>
              <a:t>DBSCAN в обнаружении аномалий</a:t>
            </a:r>
            <a:r>
              <a:rPr lang="en-US" sz="2000" dirty="0"/>
              <a:t>:</a:t>
            </a:r>
          </a:p>
          <a:p>
            <a:pPr algn="l" rtl="0"/>
            <a:r>
              <a:rPr lang="en-US" sz="2000" dirty="0"/>
              <a:t>Любая точка, имеющая хотя бы минимальное количество точек выборки на заданном расстоянии от нее, образует </a:t>
            </a:r>
            <a:r>
              <a:rPr lang="en-US" sz="2000" dirty="0" err="1"/>
              <a:t>кластер</a:t>
            </a:r>
            <a:r>
              <a:rPr lang="en-US" sz="2000" dirty="0"/>
              <a:t>.</a:t>
            </a:r>
          </a:p>
          <a:p>
            <a:pPr algn="l" rtl="0"/>
            <a:r>
              <a:rPr lang="en-US" sz="2000" dirty="0"/>
              <a:t>Любая точка в пределах максимального кластерного расстояния от центральной точки, </a:t>
            </a:r>
            <a:r>
              <a:rPr lang="ru-RU" sz="2000" dirty="0" err="1"/>
              <a:t>есмли</a:t>
            </a:r>
            <a:r>
              <a:rPr lang="en-US" sz="2000" dirty="0"/>
              <a:t> не </a:t>
            </a:r>
            <a:r>
              <a:rPr lang="en-US" sz="2000" dirty="0" err="1"/>
              <a:t>имеет</a:t>
            </a:r>
            <a:r>
              <a:rPr lang="en-US" sz="2000" dirty="0"/>
              <a:t> </a:t>
            </a:r>
            <a:r>
              <a:rPr lang="en-US" sz="2000" dirty="0" err="1"/>
              <a:t>минимальн</a:t>
            </a:r>
            <a:r>
              <a:rPr lang="ru-RU" sz="2000" dirty="0"/>
              <a:t>ого числа</a:t>
            </a:r>
            <a:r>
              <a:rPr lang="en-US" sz="2000" dirty="0"/>
              <a:t> </a:t>
            </a:r>
            <a:r>
              <a:rPr lang="en-US" sz="2000" dirty="0" err="1"/>
              <a:t>точек</a:t>
            </a:r>
            <a:r>
              <a:rPr lang="en-US" sz="2000" dirty="0"/>
              <a:t> </a:t>
            </a:r>
            <a:r>
              <a:rPr lang="ru-RU" sz="2000" dirty="0"/>
              <a:t>вокруг</a:t>
            </a:r>
            <a:r>
              <a:rPr lang="en-US" sz="2000" dirty="0"/>
              <a:t>, называется пограничной точкой и не формирует свой собственный кластер.</a:t>
            </a:r>
          </a:p>
          <a:p>
            <a:pPr algn="l" rtl="0"/>
            <a:r>
              <a:rPr lang="en-US" sz="2000" dirty="0"/>
              <a:t>Любая точка, которая не является центральной или пограничной, называется точкой шума или выбросом и не назначается ни одному </a:t>
            </a:r>
            <a:r>
              <a:rPr lang="en-US" sz="2000" dirty="0" err="1"/>
              <a:t>кластеру</a:t>
            </a:r>
            <a:r>
              <a:rPr lang="en-US" sz="2000" dirty="0"/>
              <a:t>.</a:t>
            </a:r>
          </a:p>
        </p:txBody>
      </p:sp>
      <p:sp>
        <p:nvSpPr>
          <p:cNvPr id="9" name="AutoShape 2" descr="image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4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3" name="AutoShape 2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5" name="AutoShape 4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0" name="AutoShape 2" descr="image-3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AutoShape 3" descr="image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image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AutoShape 4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4" descr="image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4025843"/>
            <a:ext cx="7015162" cy="1786505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596" y="3845384"/>
            <a:ext cx="4350892" cy="2730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8302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 fontScale="90000"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b="1" dirty="0"/>
              <a:t>Обнаружение аномалий</a:t>
            </a:r>
            <a:r>
              <a:rPr lang="ru-RU" b="1" dirty="0"/>
              <a:t>. </a:t>
            </a:r>
            <a:r>
              <a:rPr lang="ru-RU" altLang="ru-RU" b="1" dirty="0"/>
              <a:t>Изоляционный лес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5600" y="1143000"/>
            <a:ext cx="10998200" cy="503396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Изоляционный лес (</a:t>
            </a:r>
            <a:r>
              <a:rPr lang="ru-RU" sz="2000" dirty="0" err="1"/>
              <a:t>Isolation</a:t>
            </a:r>
            <a:r>
              <a:rPr lang="ru-RU" sz="2000" dirty="0"/>
              <a:t> </a:t>
            </a:r>
            <a:r>
              <a:rPr lang="ru-RU" sz="2000" dirty="0" err="1"/>
              <a:t>Forest</a:t>
            </a:r>
            <a:r>
              <a:rPr lang="ru-RU" sz="2000" dirty="0"/>
              <a:t>) - это неконтролируемый метод создания ансамбля деревьев.</a:t>
            </a:r>
          </a:p>
          <a:p>
            <a:pPr lvl="1"/>
            <a:r>
              <a:rPr lang="ru-RU" sz="2000" dirty="0"/>
              <a:t>В отличие от методов, основанных на деревьях решений с учителем, здесь каждое </a:t>
            </a:r>
            <a:r>
              <a:rPr lang="ru-RU" sz="2000" dirty="0" err="1"/>
              <a:t>расщипление</a:t>
            </a:r>
            <a:r>
              <a:rPr lang="ru-RU" sz="2000" dirty="0"/>
              <a:t> работает случайным образом.</a:t>
            </a:r>
          </a:p>
          <a:p>
            <a:pPr lvl="1"/>
            <a:r>
              <a:rPr lang="ru-RU" sz="2000" dirty="0"/>
              <a:t>В каждом дереве для случайно выбранного сегмента или признаков разбиение выполняется также случайным образом в диапазоне между минимальным и максимальным значениями выбранного признака или сегмента.</a:t>
            </a:r>
          </a:p>
          <a:p>
            <a:pPr lvl="1"/>
            <a:r>
              <a:rPr lang="ru-RU" sz="2000" dirty="0"/>
              <a:t>Выбор аномалии основан на предположении, что нормальная точка требует, чтобы в среднем (по всем деревьям) было идентифицировано больше разбиений, чем для аномальной точки.</a:t>
            </a:r>
          </a:p>
          <a:p>
            <a:pPr lvl="1"/>
            <a:r>
              <a:rPr lang="ru-RU" sz="2000" dirty="0"/>
              <a:t>Таким образом, выбросы встречаются реже, чем обычные наблюдения, и отличаются от них с точки зрения значений (они лежат дальше от обычных наблюдений в пространстве признаков).</a:t>
            </a:r>
          </a:p>
          <a:p>
            <a:pPr lvl="1"/>
            <a:r>
              <a:rPr lang="ru-RU" sz="2000" dirty="0"/>
              <a:t>Поэтому при таком случайном разбиении их следует идентифицировать ближе к корню дерева.</a:t>
            </a:r>
          </a:p>
          <a:p>
            <a:pPr lvl="1"/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1136525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b="1" dirty="0"/>
              <a:t>Обнаружение аномалий</a:t>
            </a:r>
            <a:r>
              <a:rPr lang="ru-RU" b="1" dirty="0"/>
              <a:t>. </a:t>
            </a:r>
            <a:r>
              <a:rPr lang="ru-RU" altLang="ru-RU" b="1" dirty="0" err="1"/>
              <a:t>Изоляция</a:t>
            </a:r>
            <a:r>
              <a:rPr lang="ru-RU" altLang="ru-RU" b="1" dirty="0"/>
              <a:t> </a:t>
            </a:r>
            <a:r>
              <a:rPr lang="ru-RU" altLang="ru-RU" b="1" dirty="0" err="1"/>
              <a:t>лес</a:t>
            </a:r>
            <a:endParaRPr lang="ru-RU" alt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5600" y="1143000"/>
            <a:ext cx="10998200" cy="5033963"/>
          </a:xfrm>
        </p:spPr>
        <p:txBody>
          <a:bodyPr>
            <a:norm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изоляционн</a:t>
            </a:r>
            <a:r>
              <a:rPr lang="ru-RU" dirty="0"/>
              <a:t>ого</a:t>
            </a:r>
            <a:r>
              <a:rPr lang="en-US" dirty="0"/>
              <a:t> </a:t>
            </a:r>
            <a:r>
              <a:rPr lang="en-US" dirty="0" err="1"/>
              <a:t>лес</a:t>
            </a:r>
            <a:r>
              <a:rPr lang="ru-RU" dirty="0"/>
              <a:t>а</a:t>
            </a:r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177" y="1657884"/>
            <a:ext cx="6896661" cy="2411976"/>
          </a:xfrm>
          <a:prstGeom prst="rect">
            <a:avLst/>
          </a:prstGeom>
        </p:spPr>
      </p:pic>
      <p:sp>
        <p:nvSpPr>
          <p:cNvPr id="6" name="AutoShape 2" descr="Anomaly detection using Isolation Forest and Local Outlier Factor | by  Lekha Priya | Medium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028" name="Picture 4" descr="Isolation Forest: learned iForest construction for toy dataset | Download  Scientific Diagra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775" y="2060916"/>
            <a:ext cx="4125868" cy="2766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20415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pPr algn="l" rtl="0"/>
            <a:r>
              <a:rPr lang="en-US" sz="3600" b="1" dirty="0" err="1"/>
              <a:t>Полу-контролируемые</a:t>
            </a:r>
            <a:r>
              <a:rPr lang="en-US" sz="3600" b="1" dirty="0"/>
              <a:t> методы. </a:t>
            </a:r>
            <a:r>
              <a:rPr lang="ru-RU" altLang="ru-RU" sz="3600" b="1" dirty="0"/>
              <a:t> OSVM</a:t>
            </a:r>
            <a:r>
              <a:rPr lang="en-US" sz="3600" b="1" dirty="0"/>
              <a:t> </a:t>
            </a:r>
            <a:endParaRPr lang="ru-RU" sz="36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5600" y="1143000"/>
            <a:ext cx="10998200" cy="5033963"/>
          </a:xfrm>
        </p:spPr>
        <p:txBody>
          <a:bodyPr>
            <a:normAutofit/>
          </a:bodyPr>
          <a:lstStyle/>
          <a:p>
            <a:pPr lvl="0"/>
            <a:r>
              <a:rPr lang="ru-RU" sz="1800" dirty="0"/>
              <a:t>Этот метод основан на идее построения только одного опорного вектора (или одной нелинейной границы решения), который отделяет нормальные данные (помеченные как нормальные) от других.</a:t>
            </a:r>
          </a:p>
          <a:p>
            <a:pPr lvl="0"/>
            <a:r>
              <a:rPr lang="ru-RU" sz="1800" dirty="0"/>
              <a:t>OSVM требует использования ядра </a:t>
            </a:r>
            <a:r>
              <a:rPr lang="en-US" sz="1800" dirty="0"/>
              <a:t>(kernel trick)</a:t>
            </a:r>
            <a:r>
              <a:rPr lang="ru-RU" sz="1800" dirty="0"/>
              <a:t>, как правило, ядро RBF</a:t>
            </a:r>
            <a:r>
              <a:rPr lang="en-US" sz="1800" dirty="0"/>
              <a:t> -</a:t>
            </a:r>
            <a:r>
              <a:rPr lang="ru-RU" sz="1800" dirty="0"/>
              <a:t> так как необходимо построить сферическую границу вокруг нормальных данных.</a:t>
            </a:r>
          </a:p>
          <a:p>
            <a:pPr lvl="0"/>
            <a:r>
              <a:rPr lang="ru-RU" sz="1800" dirty="0"/>
              <a:t>Решением проблемы OSVM является гиперплоскость (опорный вектор), которая максимизирует расстояние от размеченных данных до исходной точки (нулевой точки). В этом случае объем этой </a:t>
            </a:r>
            <a:r>
              <a:rPr lang="ru-RU" sz="1800" dirty="0" err="1"/>
              <a:t>гиперсферы</a:t>
            </a:r>
            <a:r>
              <a:rPr lang="ru-RU" sz="1800" dirty="0"/>
              <a:t> сводится к минимуму, чтобы минимизировать эффект включения выбросов в решение.</a:t>
            </a:r>
          </a:p>
          <a:p>
            <a:pPr lvl="0"/>
            <a:r>
              <a:rPr lang="ru-RU" sz="1800" dirty="0"/>
              <a:t>Метод очень чувствителен к ошибкам в размеченных данных. Фактически метод можно рассматривать как задачу одного класса и остальных.</a:t>
            </a:r>
          </a:p>
          <a:p>
            <a:pPr lvl="0"/>
            <a:r>
              <a:rPr lang="ru-RU" sz="1800" dirty="0"/>
              <a:t>В OSVM мы неявно предполагаем, что после ядра аномальные данные будут сильно распределены в области, близкой к нулю.</a:t>
            </a:r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7" name="AutoShape 4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028" y="4188783"/>
            <a:ext cx="4173773" cy="2498301"/>
          </a:xfrm>
          <a:prstGeom prst="rect">
            <a:avLst/>
          </a:prstGeom>
        </p:spPr>
      </p:pic>
      <p:pic>
        <p:nvPicPr>
          <p:cNvPr id="2050" name="Picture 2" descr="Overview of one-class Support Vector Machine (SVM). | Download Scientific  Diagra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775" y="4385208"/>
            <a:ext cx="3975487" cy="2301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13917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pPr algn="l" rtl="0"/>
            <a:r>
              <a:rPr lang="en-US" sz="3600" b="1" dirty="0" err="1"/>
              <a:t>Полу-контролируемые</a:t>
            </a:r>
            <a:r>
              <a:rPr lang="en-US" sz="3600" b="1" dirty="0"/>
              <a:t> методы. </a:t>
            </a:r>
            <a:r>
              <a:rPr lang="ru-RU" altLang="ru-RU" sz="3600" b="1" dirty="0"/>
              <a:t> </a:t>
            </a:r>
            <a:r>
              <a:rPr lang="en-US" sz="3600" b="1" dirty="0" err="1"/>
              <a:t>Автоэнкодер</a:t>
            </a:r>
            <a:r>
              <a:rPr lang="en-US" sz="3600" b="1" dirty="0"/>
              <a:t> </a:t>
            </a:r>
            <a:endParaRPr lang="ru-RU" sz="36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81025" y="1143000"/>
            <a:ext cx="11029950" cy="5233988"/>
          </a:xfrm>
        </p:spPr>
        <p:txBody>
          <a:bodyPr>
            <a:normAutofit/>
          </a:bodyPr>
          <a:lstStyle/>
          <a:p>
            <a:pPr lvl="0"/>
            <a:r>
              <a:rPr lang="ru-RU" sz="2000" b="1" dirty="0"/>
              <a:t>Обнаружение аномалий на основе </a:t>
            </a:r>
            <a:r>
              <a:rPr lang="ru-RU" sz="2000" b="1" dirty="0" err="1"/>
              <a:t>автоэнкодера</a:t>
            </a:r>
            <a:endParaRPr lang="ru-RU" sz="2000" dirty="0"/>
          </a:p>
          <a:p>
            <a:pPr lvl="0"/>
            <a:r>
              <a:rPr lang="ru-RU" sz="2000" dirty="0"/>
              <a:t>Ошибка результата реконструкции обученного </a:t>
            </a:r>
            <a:r>
              <a:rPr lang="ru-RU" sz="2000" dirty="0" err="1"/>
              <a:t>автоэнкодера</a:t>
            </a:r>
            <a:r>
              <a:rPr lang="ru-RU" sz="2000" dirty="0"/>
              <a:t> аналогична оценке </a:t>
            </a:r>
            <a:r>
              <a:rPr lang="ru-RU" sz="2000" dirty="0" err="1"/>
              <a:t>аномальности</a:t>
            </a:r>
            <a:r>
              <a:rPr lang="ru-RU" sz="2000" dirty="0"/>
              <a:t> данных.</a:t>
            </a:r>
          </a:p>
          <a:p>
            <a:pPr lvl="0"/>
            <a:r>
              <a:rPr lang="ru-RU" sz="2000" dirty="0"/>
              <a:t>Сеть обучается на данных, большинство из которых считаются нормальными.</a:t>
            </a:r>
          </a:p>
          <a:p>
            <a:pPr lvl="0"/>
            <a:r>
              <a:rPr lang="ru-RU" sz="2000" dirty="0"/>
              <a:t>Метод можно рассматривать как в неконтролируемый, так и в частично контролируемых задачах. </a:t>
            </a:r>
          </a:p>
          <a:p>
            <a:pPr lvl="0"/>
            <a:r>
              <a:rPr lang="ru-RU" sz="2000" dirty="0" err="1"/>
              <a:t>Автоэнкодер</a:t>
            </a:r>
            <a:r>
              <a:rPr lang="ru-RU" sz="2000" dirty="0"/>
              <a:t> состоит из частей кодирования и декодирования.</a:t>
            </a:r>
          </a:p>
          <a:p>
            <a:pPr lvl="0"/>
            <a:r>
              <a:rPr lang="ru-RU" sz="2000" dirty="0"/>
              <a:t>В части кодирования извлекаются основные характеристики, которые представляют шаблоны в данных, а затем каждая выборка восстанавливается в части декодирования. Ошибка восстановления будет минимальной для нормальных образцов.</a:t>
            </a:r>
          </a:p>
          <a:p>
            <a:pPr lvl="0"/>
            <a:r>
              <a:rPr lang="ru-RU" sz="2000" dirty="0"/>
              <a:t>С другой стороны, модель не может восстановить образец, который ведет себя ненормально, что приводит к высокой ошибке восстановления.</a:t>
            </a:r>
          </a:p>
          <a:p>
            <a:pPr lvl="0"/>
            <a:r>
              <a:rPr lang="ru-RU" sz="2000" dirty="0"/>
              <a:t>Таким образом, чем выше ошибка реконструкции образца, тем больше вероятность того, что это аномалия.</a:t>
            </a:r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33024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pPr algn="l" rtl="0"/>
            <a:r>
              <a:rPr lang="ru-RU" sz="3600" b="1" dirty="0"/>
              <a:t>. </a:t>
            </a:r>
            <a:r>
              <a:rPr lang="en-US" sz="3600" b="1" dirty="0"/>
              <a:t>Полу-контролируемые методы. </a:t>
            </a:r>
            <a:r>
              <a:rPr lang="ru-RU" altLang="ru-RU" sz="3600" b="1" dirty="0"/>
              <a:t> </a:t>
            </a:r>
            <a:r>
              <a:rPr lang="en-US" sz="3600" b="1" dirty="0" err="1"/>
              <a:t>Автоэнкодер</a:t>
            </a:r>
            <a:r>
              <a:rPr lang="en-US" sz="3600" b="1" dirty="0"/>
              <a:t> </a:t>
            </a:r>
            <a:endParaRPr lang="ru-RU" sz="3600" b="1" dirty="0"/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.png"/>
          <p:cNvSpPr>
            <a:spLocks noGrp="1" noChangeAspect="1" noChangeArrowheads="1"/>
          </p:cNvSpPr>
          <p:nvPr>
            <p:ph idx="1"/>
          </p:nvPr>
        </p:nvSpPr>
        <p:spPr bwMode="auto">
          <a:xfrm>
            <a:off x="295275" y="1192212"/>
            <a:ext cx="11029950" cy="5233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r>
              <a:rPr lang="en-US" dirty="0"/>
              <a:t>Пример RNN на основе </a:t>
            </a:r>
            <a:r>
              <a:rPr lang="en-US" dirty="0" err="1"/>
              <a:t>автоэнкодер</a:t>
            </a:r>
            <a:r>
              <a:rPr lang="en-US" dirty="0"/>
              <a:t> на основе обнаружения аномалий.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2500" y="3599053"/>
            <a:ext cx="5715000" cy="2827147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75" y="2038018"/>
            <a:ext cx="5543550" cy="3122069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07975" y="5169945"/>
            <a:ext cx="571182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>
                <a:solidFill>
                  <a:srgbClr val="000000"/>
                </a:solidFill>
              </a:rPr>
              <a:t>Примечание</a:t>
            </a:r>
            <a:r>
              <a:rPr lang="en-US" dirty="0">
                <a:solidFill>
                  <a:srgbClr val="000000"/>
                </a:solidFill>
              </a:rPr>
              <a:t> В задаче обнаружения аномалий </a:t>
            </a:r>
            <a:r>
              <a:rPr lang="en-US" dirty="0" err="1">
                <a:solidFill>
                  <a:srgbClr val="000000"/>
                </a:solidFill>
              </a:rPr>
              <a:t>Автоэнкодер</a:t>
            </a:r>
            <a:r>
              <a:rPr lang="en-US" dirty="0">
                <a:solidFill>
                  <a:srgbClr val="000000"/>
                </a:solidFill>
              </a:rPr>
              <a:t> можно рассматривать как частично контролируемую задачу, если обучение выполняется только на нормальных данных.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70423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</p:spPr>
        <p:txBody>
          <a:bodyPr>
            <a:normAutofit/>
          </a:bodyPr>
          <a:lstStyle/>
          <a:p>
            <a:pPr algn="l" rtl="0"/>
            <a:r>
              <a:rPr lang="ru-RU" sz="3600" b="1"/>
              <a:t>Методы </a:t>
            </a:r>
            <a:r>
              <a:rPr lang="ru-RU" sz="3600" b="1" dirty="0"/>
              <a:t>с учителем</a:t>
            </a:r>
          </a:p>
        </p:txBody>
      </p:sp>
      <p:sp>
        <p:nvSpPr>
          <p:cNvPr id="4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.png"/>
          <p:cNvSpPr>
            <a:spLocks noGrp="1" noChangeAspect="1" noChangeArrowheads="1"/>
          </p:cNvSpPr>
          <p:nvPr>
            <p:ph idx="1"/>
          </p:nvPr>
        </p:nvSpPr>
        <p:spPr bwMode="auto">
          <a:xfrm>
            <a:off x="323850" y="942975"/>
            <a:ext cx="11029950" cy="5233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algn="l" rtl="0"/>
            <a:r>
              <a:rPr lang="ru-RU" sz="2000" b="1" dirty="0"/>
              <a:t>методы с учителем</a:t>
            </a:r>
            <a:endParaRPr lang="en-US" sz="2000" b="1" dirty="0"/>
          </a:p>
          <a:p>
            <a:pPr lvl="0"/>
            <a:r>
              <a:rPr lang="ru-RU" sz="2000" b="1" dirty="0"/>
              <a:t>нейронная сеть и другое машинное обучение</a:t>
            </a:r>
            <a:endParaRPr lang="ru-RU" sz="2000" dirty="0"/>
          </a:p>
          <a:p>
            <a:pPr lvl="0"/>
            <a:r>
              <a:rPr lang="ru-RU" sz="2000" dirty="0"/>
              <a:t>задача может быть решена двумя способами</a:t>
            </a:r>
          </a:p>
          <a:p>
            <a:pPr lvl="0"/>
            <a:r>
              <a:rPr lang="ru-RU" sz="2000" dirty="0"/>
              <a:t>По отклонению все данные разделены на два класса - нормальные данные и аномальные данные.</a:t>
            </a:r>
          </a:p>
          <a:p>
            <a:pPr lvl="0"/>
            <a:r>
              <a:rPr lang="ru-RU" sz="2000" dirty="0"/>
              <a:t>На основе задачи регрессии - путем оценки ошибки прогноза с использованием контролируемых выборок.</a:t>
            </a:r>
          </a:p>
          <a:p>
            <a:pPr lvl="0"/>
            <a:r>
              <a:rPr lang="ru-RU" sz="2000" i="1" dirty="0"/>
              <a:t>Примечание: В случае, похожем на регрессию, обнаружение аномалии также можно рассматривать как частично контролируемую задачу. Популярные методы обнаружения аномалий на основе контролируемого машинного обучения:</a:t>
            </a:r>
            <a:endParaRPr lang="ru-RU" sz="2000" dirty="0"/>
          </a:p>
          <a:p>
            <a:pPr lvl="1"/>
            <a:r>
              <a:rPr lang="ru-RU" sz="2000" i="1" dirty="0"/>
              <a:t>SVM</a:t>
            </a:r>
            <a:endParaRPr lang="ru-RU" sz="2000" dirty="0"/>
          </a:p>
          <a:p>
            <a:pPr lvl="1"/>
            <a:r>
              <a:rPr lang="ru-RU" sz="2000" i="1" dirty="0"/>
              <a:t>Случайный лес</a:t>
            </a:r>
            <a:endParaRPr lang="ru-RU" sz="2000" dirty="0"/>
          </a:p>
          <a:p>
            <a:pPr lvl="1"/>
            <a:r>
              <a:rPr lang="ru-RU" sz="2000" i="1" dirty="0"/>
              <a:t>k-Ближайшие соседи</a:t>
            </a:r>
            <a:endParaRPr lang="ru-RU" sz="2000" dirty="0"/>
          </a:p>
          <a:p>
            <a:pPr lvl="1"/>
            <a:r>
              <a:rPr lang="ru-RU" sz="2000" i="1" dirty="0"/>
              <a:t>Нейронная сеть.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2800330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185F48-3DE1-7DE8-983E-945C7EA59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Полуавтоматические и интерактивные подходы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6D79052-F15B-2C65-2F20-C34C1E14E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dirty="0"/>
              <a:t>Active Learning: </a:t>
            </a:r>
            <a:r>
              <a:rPr lang="ru-RU" dirty="0"/>
              <a:t>алгоритм просит разметить "спорные" участки</a:t>
            </a:r>
          </a:p>
          <a:p>
            <a:r>
              <a:rPr lang="en" dirty="0"/>
              <a:t>Weak Supervision (Snorkel): </a:t>
            </a:r>
            <a:r>
              <a:rPr lang="ru-RU" dirty="0"/>
              <a:t>используй правила экспертов как "слабые метки"</a:t>
            </a:r>
          </a:p>
          <a:p>
            <a:r>
              <a:rPr lang="en" dirty="0"/>
              <a:t>Human-in-the-loop: </a:t>
            </a:r>
            <a:r>
              <a:rPr lang="ru-RU" dirty="0"/>
              <a:t>система предлагает кандидатов, эксперт подтверждает</a:t>
            </a:r>
          </a:p>
          <a:p>
            <a:r>
              <a:rPr lang="ru-RU" dirty="0"/>
              <a:t> Особенно эффективно при очень редких аномалиях (0.01%). 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1108504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952</TotalTime>
  <Words>2505</Words>
  <Application>Microsoft Macintosh PowerPoint</Application>
  <PresentationFormat>Широкоэкранный</PresentationFormat>
  <Paragraphs>198</Paragraphs>
  <Slides>34</Slides>
  <Notes>0</Notes>
  <HiddenSlides>3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34</vt:i4>
      </vt:variant>
    </vt:vector>
  </HeadingPairs>
  <TitlesOfParts>
    <vt:vector size="39" baseType="lpstr">
      <vt:lpstr>Arial</vt:lpstr>
      <vt:lpstr>Calibri</vt:lpstr>
      <vt:lpstr>Calibri Light</vt:lpstr>
      <vt:lpstr>Cambria Math</vt:lpstr>
      <vt:lpstr>Тема Office</vt:lpstr>
      <vt:lpstr>Обнаружение Аномалий</vt:lpstr>
      <vt:lpstr>Обнаружение аномалий</vt:lpstr>
      <vt:lpstr>Обнаружение аномалий</vt:lpstr>
      <vt:lpstr>Обнаружение аномалий</vt:lpstr>
      <vt:lpstr>Обнаружение аномалий</vt:lpstr>
      <vt:lpstr>Обнаружение аномалий</vt:lpstr>
      <vt:lpstr>Обнаружение аномалий. Пример</vt:lpstr>
      <vt:lpstr>Обнаружение аномалий. Пример</vt:lpstr>
      <vt:lpstr>Обнаружение аномалий</vt:lpstr>
      <vt:lpstr>Обнаружение аномалий. Методы</vt:lpstr>
      <vt:lpstr>Обнаружение аномалий. подходы</vt:lpstr>
      <vt:lpstr>Презентация PowerPoint</vt:lpstr>
      <vt:lpstr>Taxonomy of AD metrics</vt:lpstr>
      <vt:lpstr>Обнаружение аномалий. подходы</vt:lpstr>
      <vt:lpstr>Обнаружение аномалий</vt:lpstr>
      <vt:lpstr>Обнаружение аномалий. Пример</vt:lpstr>
      <vt:lpstr>Обнаружение аномалий. Методы без учителя</vt:lpstr>
      <vt:lpstr>Обнаружение аномалий. Методы без учителя</vt:lpstr>
      <vt:lpstr>Метод ящика с усами (BoxPlot)</vt:lpstr>
      <vt:lpstr>Метод ящика с усами (BoxPlot)</vt:lpstr>
      <vt:lpstr>Обнаружение аномалий. Методы без учителя</vt:lpstr>
      <vt:lpstr>Методы без учителя</vt:lpstr>
      <vt:lpstr>Полу-контролируемые методы. Z-оценка</vt:lpstr>
      <vt:lpstr>Неконтролируемый поиск на основе модели</vt:lpstr>
      <vt:lpstr>Обнаружение аномалий. Методы без учителя</vt:lpstr>
      <vt:lpstr>Обнаружение аномалий на основе кластеризации</vt:lpstr>
      <vt:lpstr>Обнаружение аномалий на основе кластеризации</vt:lpstr>
      <vt:lpstr>Обнаружение аномалий. Изоляционный лес</vt:lpstr>
      <vt:lpstr>Обнаружение аномалий. Изоляция лес</vt:lpstr>
      <vt:lpstr>Полу-контролируемые методы.  OSVM </vt:lpstr>
      <vt:lpstr>Полу-контролируемые методы.  Автоэнкодер </vt:lpstr>
      <vt:lpstr>. Полу-контролируемые методы.  Автоэнкодер </vt:lpstr>
      <vt:lpstr>Методы с учителем</vt:lpstr>
      <vt:lpstr>Полуавтоматические и интерактивные подходы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196</cp:revision>
  <dcterms:created xsi:type="dcterms:W3CDTF">2021-11-21T16:45:21Z</dcterms:created>
  <dcterms:modified xsi:type="dcterms:W3CDTF">2025-08-10T15:52:06Z</dcterms:modified>
</cp:coreProperties>
</file>