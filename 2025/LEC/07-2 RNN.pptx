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07" r:id="rId3"/>
    <p:sldId id="409" r:id="rId4"/>
    <p:sldId id="422" r:id="rId5"/>
    <p:sldId id="425" r:id="rId6"/>
    <p:sldId id="426" r:id="rId7"/>
    <p:sldId id="429" r:id="rId8"/>
    <p:sldId id="428" r:id="rId9"/>
    <p:sldId id="444" r:id="rId10"/>
    <p:sldId id="445" r:id="rId11"/>
    <p:sldId id="446" r:id="rId12"/>
    <p:sldId id="447" r:id="rId13"/>
    <p:sldId id="448" r:id="rId14"/>
    <p:sldId id="449" r:id="rId15"/>
    <p:sldId id="450" r:id="rId16"/>
    <p:sldId id="451" r:id="rId17"/>
    <p:sldId id="452" r:id="rId18"/>
    <p:sldId id="453" r:id="rId19"/>
    <p:sldId id="455" r:id="rId20"/>
    <p:sldId id="45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92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6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9877" r="56759" b="16188"/>
          <a:stretch/>
        </p:blipFill>
        <p:spPr>
          <a:xfrm>
            <a:off x="8826499" y="4402754"/>
            <a:ext cx="2717800" cy="218784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7287" y="188144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Проблемы </a:t>
            </a:r>
            <a:r>
              <a:rPr lang="en-US" b="1" dirty="0" smtClean="0"/>
              <a:t>AR – Net </a:t>
            </a:r>
            <a:r>
              <a:rPr lang="ru-RU" b="1" dirty="0" smtClean="0"/>
              <a:t>подхода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8629" y="670962"/>
            <a:ext cx="11887199" cy="524052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000" b="1" dirty="0" smtClean="0"/>
              <a:t>Преимущества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 smtClean="0"/>
              <a:t>Можно использовать </a:t>
            </a:r>
            <a:r>
              <a:rPr lang="ru-RU" sz="2000" b="1" dirty="0" smtClean="0"/>
              <a:t>несколько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 smtClean="0"/>
              <a:t>Работает </a:t>
            </a:r>
            <a:r>
              <a:rPr lang="ru-RU" sz="2000" b="1" dirty="0" smtClean="0"/>
              <a:t>для сложных паттернов</a:t>
            </a:r>
            <a:r>
              <a:rPr lang="ru-RU" sz="2000" dirty="0" smtClean="0"/>
              <a:t>, несводимых к стационарным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 smtClean="0"/>
              <a:t>Свобода выбора функции потерь – </a:t>
            </a:r>
            <a:r>
              <a:rPr lang="ru-RU" sz="2000" b="1" dirty="0" smtClean="0"/>
              <a:t>возможность регуляризации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000" b="1" dirty="0" smtClean="0"/>
              <a:t>Недостатки </a:t>
            </a:r>
            <a:r>
              <a:rPr lang="en-US" sz="2000" b="1" dirty="0" smtClean="0"/>
              <a:t>AR-Net, NAR</a:t>
            </a:r>
            <a:endParaRPr lang="ru-RU" sz="2000" b="1" dirty="0" smtClean="0"/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 err="1" smtClean="0"/>
              <a:t>Полносвязная</a:t>
            </a:r>
            <a:r>
              <a:rPr lang="ru-RU" sz="2000" dirty="0" smtClean="0"/>
              <a:t> структура на длинном окне (несколько периодов, паттернов и </a:t>
            </a:r>
            <a:r>
              <a:rPr lang="ru-RU" sz="2000" dirty="0" err="1" smtClean="0"/>
              <a:t>тд</a:t>
            </a:r>
            <a:r>
              <a:rPr lang="ru-RU" sz="2000" dirty="0" smtClean="0"/>
              <a:t>) </a:t>
            </a:r>
            <a:r>
              <a:rPr lang="ru-RU" sz="2000" b="1" dirty="0" smtClean="0"/>
              <a:t>нарушает казуальную структуру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 smtClean="0"/>
              <a:t>Связь между положениями окна, проходящего по ВР основывается только на результате предсказания – это может скрыть паттерны ВР </a:t>
            </a:r>
            <a:r>
              <a:rPr lang="ru-RU" sz="2000" b="1" dirty="0" smtClean="0"/>
              <a:t>(неверный учет контекста)</a:t>
            </a:r>
            <a:r>
              <a:rPr lang="ru-RU" sz="2000" dirty="0" smtClean="0"/>
              <a:t>.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b="1" dirty="0" smtClean="0"/>
              <a:t>Сложная интерпретация результатов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 smtClean="0"/>
              <a:t>Нет Возможности </a:t>
            </a:r>
            <a:r>
              <a:rPr lang="ru-RU" sz="2000" dirty="0"/>
              <a:t>предсказания последовательности семплов за один шаг.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 smtClean="0"/>
              <a:t>Сеть дает хуже результаты если </a:t>
            </a:r>
            <a:r>
              <a:rPr lang="en-US" sz="2000" dirty="0" smtClean="0"/>
              <a:t>AR </a:t>
            </a:r>
            <a:r>
              <a:rPr lang="ru-RU" sz="2000" dirty="0" smtClean="0"/>
              <a:t>работает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56596" t="1" r="3952" b="855"/>
          <a:stretch/>
        </p:blipFill>
        <p:spPr>
          <a:xfrm>
            <a:off x="5792666" y="4275057"/>
            <a:ext cx="3033833" cy="244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1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9580" y="238125"/>
            <a:ext cx="11094720" cy="56451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Проблемы </a:t>
            </a:r>
            <a:r>
              <a:rPr lang="en-US" b="1" dirty="0" smtClean="0"/>
              <a:t>MLP </a:t>
            </a:r>
            <a:r>
              <a:rPr lang="ru-RU" b="1" dirty="0" smtClean="0"/>
              <a:t>подхода для сложных паттернов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82600" y="719512"/>
                <a:ext cx="11709400" cy="570484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dirty="0" smtClean="0"/>
                  <a:t>MLP </a:t>
                </a:r>
                <a:r>
                  <a:rPr lang="ru-RU" sz="2200" dirty="0" smtClean="0"/>
                  <a:t>предсказание</a:t>
                </a:r>
                <a:r>
                  <a:rPr lang="en-US" sz="2200" dirty="0" smtClean="0"/>
                  <a:t> (AR-NET)</a:t>
                </a:r>
                <a:r>
                  <a:rPr lang="ru-RU" sz="2200" dirty="0" smtClean="0"/>
                  <a:t> можно описать как</a:t>
                </a:r>
                <a:endParaRPr lang="en-US" sz="2200" dirty="0" smtClean="0"/>
              </a:p>
              <a:p>
                <a:pPr marL="0" indent="0" algn="ctr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p>
                              <m:e>
                                <m:sSubSup>
                                  <m:sSubSupPr>
                                    <m:ctrlP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Таким образом предсказание – результат обработки окна размером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Недостаток такой модели – контекст окружения окна  (память) не учитывается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	или учитывается неявно, когда заменяем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 smtClean="0"/>
                  <a:t> 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ru-RU" sz="2200" b="0" i="0" dirty="0" smtClean="0">
                  <a:latin typeface="+mj-lt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>
                    <a:latin typeface="+mj-lt"/>
                  </a:rPr>
                  <a:t>	</a:t>
                </a:r>
                <a:r>
                  <a:rPr lang="ru-RU" sz="2200" b="0" i="0" dirty="0" smtClean="0">
                    <a:latin typeface="+mj-lt"/>
                  </a:rPr>
                  <a:t>но тогда не учитываются ошибки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:r>
                  <a:rPr lang="ru-RU" sz="2200" dirty="0" smtClean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u-RU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Если во ВР есть сложные паттерны, непопадающие в окно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200" dirty="0" smtClean="0"/>
                  <a:t> их влияние не учитывается (а оно есть) – ошибки предсказания растет.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	Это особенно плохо для среднесрочных и долгосрочных предсказаний.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endParaRPr lang="ru-RU" sz="22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719512"/>
                <a:ext cx="11709400" cy="5704840"/>
              </a:xfrm>
              <a:blipFill>
                <a:blip r:embed="rId2"/>
                <a:stretch>
                  <a:fillRect l="-677" t="-2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5569526" y="6596390"/>
            <a:ext cx="723207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https://machinelearningmastery.com/time-series-prediction-lstm-recurrent-neural-networks-python-keras/</a:t>
            </a:r>
            <a:endParaRPr lang="ru-RU" sz="11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91" y="4206351"/>
            <a:ext cx="4686300" cy="252084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5141769" y="5078123"/>
            <a:ext cx="57756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Выбор неправильных параметров модели может привести к ошибке.</a:t>
            </a:r>
          </a:p>
          <a:p>
            <a:r>
              <a:rPr lang="ru-RU" dirty="0" smtClean="0"/>
              <a:t>Напр. на коротком окне тренд вместо степенного можно воспринять как линейный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352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9077" y="212605"/>
            <a:ext cx="11094720" cy="56451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Рекуррентные подходы.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79400" y="802640"/>
                <a:ext cx="11709400" cy="57048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 smtClean="0"/>
                  <a:t>MLP </a:t>
                </a:r>
                <a:r>
                  <a:rPr lang="ru-RU" sz="2400" dirty="0" smtClean="0"/>
                  <a:t>предсказание</a:t>
                </a:r>
                <a:r>
                  <a:rPr lang="en-US" sz="2400" dirty="0" smtClean="0"/>
                  <a:t> (AR-NET)</a:t>
                </a:r>
                <a:r>
                  <a:rPr lang="ru-RU" sz="2400" dirty="0" smtClean="0"/>
                  <a:t> можно описать как</a:t>
                </a:r>
                <a:endParaRPr lang="en-US" sz="2400" dirty="0" smtClean="0"/>
              </a:p>
              <a:p>
                <a:pPr marL="0" indent="0" algn="ctr">
                  <a:buNone/>
                </a:pPr>
                <a:r>
                  <a:rPr lang="ru-RU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p>
                              <m:e>
                                <m:sSubSup>
                                  <m:sSubSup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 smtClean="0"/>
              </a:p>
              <a:p>
                <a:pPr marL="0" indent="0" algn="ctr">
                  <a:buNone/>
                </a:pPr>
                <a:r>
                  <a:rPr lang="ru-RU" sz="2400" dirty="0" smtClean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 smtClean="0">
                    <a:latin typeface="+mj-lt"/>
                    <a:ea typeface="Cambria Math" panose="02040503050406030204" pitchFamily="18" charset="0"/>
                  </a:rPr>
                  <a:t>-</a:t>
                </a:r>
                <a:r>
                  <a:rPr lang="ru-RU" sz="2400" b="0" i="0" dirty="0" smtClean="0"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ru-RU" sz="2400" dirty="0"/>
                  <a:t>типы слоев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ru-RU" sz="2400" dirty="0" smtClean="0"/>
                  <a:t>Пусть мы хотим учитывать предыдущие состояние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слоя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 smtClean="0"/>
                  <a:t> при моделировании текущего состояния</a:t>
                </a:r>
              </a:p>
              <a:p>
                <a:pPr marL="0" indent="0" algn="ctr">
                  <a:buNone/>
                </a:pPr>
                <a:r>
                  <a:rPr lang="ru-RU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sSubSup>
                      <m:sSub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b="0" i="0" dirty="0" smtClean="0">
                    <a:latin typeface="+mj-lt"/>
                    <a:ea typeface="Cambria Math" panose="02040503050406030204" pitchFamily="18" charset="0"/>
                  </a:rPr>
                  <a:t>, </a:t>
                </a:r>
              </a:p>
              <a:p>
                <a:pPr marL="0" indent="0">
                  <a:buNone/>
                </a:pPr>
                <a:r>
                  <a:rPr lang="ru-RU" sz="2400" dirty="0" smtClean="0">
                    <a:ea typeface="Cambria Math" panose="02040503050406030204" pitchFamily="18" charset="0"/>
                  </a:rPr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u-RU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400" b="0" i="0" dirty="0" smtClean="0"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ru-RU" sz="2400" dirty="0" smtClean="0">
                    <a:latin typeface="+mj-lt"/>
                    <a:ea typeface="Cambria Math" panose="02040503050406030204" pitchFamily="18" charset="0"/>
                  </a:rPr>
                  <a:t>влияние </a:t>
                </a:r>
                <a:r>
                  <a:rPr lang="ru-RU" sz="2400" b="0" i="0" dirty="0" smtClean="0">
                    <a:latin typeface="+mj-lt"/>
                    <a:ea typeface="Cambria Math" panose="02040503050406030204" pitchFamily="18" charset="0"/>
                  </a:rPr>
                  <a:t>предыдущего состояния (контекст/память/ функция перехода </a:t>
                </a:r>
                <a:r>
                  <a:rPr lang="en-US" sz="2400" b="0" i="0" dirty="0" smtClean="0">
                    <a:latin typeface="+mj-lt"/>
                    <a:ea typeface="Cambria Math" panose="02040503050406030204" pitchFamily="18" charset="0"/>
                  </a:rPr>
                  <a:t>/ </a:t>
                </a:r>
                <a:r>
                  <a:rPr lang="ru-RU" sz="2400" b="0" i="0" dirty="0" smtClean="0">
                    <a:latin typeface="+mj-lt"/>
                    <a:ea typeface="Cambria Math" panose="02040503050406030204" pitchFamily="18" charset="0"/>
                  </a:rPr>
                  <a:t>скрытое состояние ВР – </a:t>
                </a:r>
                <a:r>
                  <a:rPr lang="en-US" sz="2400" b="0" i="0" dirty="0" smtClean="0">
                    <a:latin typeface="+mj-lt"/>
                    <a:ea typeface="Cambria Math" panose="02040503050406030204" pitchFamily="18" charset="0"/>
                  </a:rPr>
                  <a:t>hidden state (h)</a:t>
                </a:r>
                <a:r>
                  <a:rPr lang="ru-RU" sz="2400" b="0" i="0" dirty="0" smtClean="0">
                    <a:latin typeface="+mj-lt"/>
                    <a:ea typeface="Cambria Math" panose="020405030504060302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ru-RU" sz="2400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ru-RU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p>
                              <m:e>
                                <m:sSubSup>
                                  <m:sSub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ru-RU" sz="24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p>
                              <m:e>
                                <m:sSubSup>
                                  <m:sSub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𝑛𝑖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e>
                    </m:nary>
                  </m:oMath>
                </a14:m>
                <a:r>
                  <a:rPr lang="ru-RU" sz="2400" dirty="0" smtClean="0"/>
                  <a:t> </a:t>
                </a:r>
                <a:endParaRPr lang="en-US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где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 smtClean="0"/>
                  <a:t> - </a:t>
                </a:r>
                <a:r>
                  <a:rPr lang="ru-RU" sz="2400" dirty="0" smtClean="0"/>
                  <a:t>вектор предыдущих состояний для шага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400" dirty="0" smtClean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ru-RU" sz="2400" dirty="0" smtClean="0"/>
                  <a:t> - коэффициенты слоя перехода от состояния </a:t>
                </a:r>
                <a:r>
                  <a:rPr lang="en-US" sz="2400" dirty="0" smtClean="0"/>
                  <a:t>n </a:t>
                </a:r>
                <a:r>
                  <a:rPr lang="ru-RU" sz="2400" dirty="0" smtClean="0"/>
                  <a:t>к состоянию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sz="2400" dirty="0" smtClean="0"/>
                  <a:t>.</a:t>
                </a:r>
                <a:endParaRPr lang="en-US" sz="24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400" y="802640"/>
                <a:ext cx="11709400" cy="5704840"/>
              </a:xfrm>
              <a:blipFill>
                <a:blip r:embed="rId2"/>
                <a:stretch>
                  <a:fillRect l="-833" t="-1496" r="-10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7558831" y="6507480"/>
            <a:ext cx="45080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https://d2l.ai/chapter_recurrent-neural-networks/rnn.html</a:t>
            </a:r>
          </a:p>
        </p:txBody>
      </p:sp>
    </p:spTree>
    <p:extLst>
      <p:ext uri="{BB962C8B-B14F-4D97-AF65-F5344CB8AC3E}">
        <p14:creationId xmlns:p14="http://schemas.microsoft.com/office/powerpoint/2010/main" val="59071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-7374" y="716433"/>
                <a:ext cx="1219937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i="1" dirty="0" smtClean="0">
                    <a:latin typeface="Cambria Math" panose="02040503050406030204" pitchFamily="18" charset="0"/>
                  </a:rPr>
                  <a:t>Перепишем уравнение</a:t>
                </a:r>
                <a:endParaRPr lang="en-US" sz="22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ru-RU" sz="22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ru-RU" sz="2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𝑛𝑖</m:t>
                                      </m:r>
                                    </m:sub>
                                  </m:sSub>
                                  <m: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</m:nary>
                              <m:sSubSup>
                                <m:sSubSup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𝑅𝑁𝑁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2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2200" dirty="0" smtClean="0"/>
              </a:p>
              <a:p>
                <a:r>
                  <a:rPr lang="ru-RU" sz="2200" dirty="0" smtClean="0"/>
                  <a:t>Сеть </a:t>
                </a:r>
                <a:r>
                  <a:rPr lang="ru-RU" sz="2200" dirty="0" err="1"/>
                  <a:t>Элмана</a:t>
                </a:r>
                <a:r>
                  <a:rPr lang="ru-RU" sz="2200" dirty="0"/>
                  <a:t> </a:t>
                </a:r>
                <a:r>
                  <a:rPr lang="ru-RU" sz="2200" dirty="0" smtClean="0"/>
                  <a:t>или </a:t>
                </a:r>
                <a:r>
                  <a:rPr lang="en-US" sz="2200" dirty="0"/>
                  <a:t>Simple RNN/Vanilla RNN</a:t>
                </a:r>
                <a:r>
                  <a:rPr lang="ru-RU" sz="2200" dirty="0" smtClean="0"/>
                  <a:t>:</a:t>
                </a:r>
                <a:endParaRPr lang="en-US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sz="22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sSubSup>
                            <m:sSub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e>
                      </m:d>
                      <m:r>
                        <a:rPr lang="ru-RU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nary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ru-RU" sz="2200" dirty="0" smtClean="0"/>
              </a:p>
              <a:p>
                <a:pPr marL="0" indent="0">
                  <a:buNone/>
                </a:pPr>
                <a:r>
                  <a:rPr lang="ru-RU" sz="2200" dirty="0"/>
                  <a:t>В  силу использования предыдущего состояния предсказания в текущем зависимость становится рекуррентной. Слой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𝑅𝑁𝑁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200" dirty="0"/>
                  <a:t> – рекуррентный слой.</a:t>
                </a:r>
              </a:p>
              <a:p>
                <a:pPr marL="0" indent="0">
                  <a:buNone/>
                </a:pPr>
                <a:endParaRPr lang="en-US" sz="2200" dirty="0" smtClean="0"/>
              </a:p>
              <a:p>
                <a:endParaRPr lang="ru-RU" sz="2200" dirty="0"/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7374" y="716433"/>
                <a:ext cx="12199374" cy="4351338"/>
              </a:xfrm>
              <a:blipFill>
                <a:blip r:embed="rId2"/>
                <a:stretch>
                  <a:fillRect l="-650" t="-18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733567" y="40069"/>
            <a:ext cx="10515600" cy="911225"/>
          </a:xfrm>
        </p:spPr>
        <p:txBody>
          <a:bodyPr/>
          <a:lstStyle/>
          <a:p>
            <a:r>
              <a:rPr lang="ru-RU" b="1" dirty="0"/>
              <a:t>Простая рекуррентная нейронные сети</a:t>
            </a:r>
          </a:p>
        </p:txBody>
      </p:sp>
      <p:sp>
        <p:nvSpPr>
          <p:cNvPr id="15" name="Объект 2"/>
          <p:cNvSpPr txBox="1">
            <a:spLocks/>
          </p:cNvSpPr>
          <p:nvPr/>
        </p:nvSpPr>
        <p:spPr>
          <a:xfrm>
            <a:off x="326923" y="2761299"/>
            <a:ext cx="10515600" cy="6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0" y="6501487"/>
            <a:ext cx="58423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smtClean="0"/>
              <a:t>neerc.ifmo.ru/wiki/index.php?title=</a:t>
            </a:r>
            <a:r>
              <a:rPr lang="ru-RU" sz="1400" dirty="0" err="1" smtClean="0"/>
              <a:t>Рекуррентные_нейронные_сети</a:t>
            </a:r>
            <a:endParaRPr lang="ru-RU" sz="1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681" y="4206004"/>
            <a:ext cx="6048754" cy="260326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512376" y="6562289"/>
            <a:ext cx="358784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https://d2l.ai/chapter_recurrent-neural-networks/rnn.html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-7374" y="5610987"/>
                <a:ext cx="6096000" cy="9135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 smtClean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74" y="5610987"/>
                <a:ext cx="6096000" cy="9135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184079" y="5035483"/>
            <a:ext cx="5807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 smtClean="0"/>
              <a:t>Могут также быть и другие формулировки </a:t>
            </a:r>
            <a:r>
              <a:rPr lang="en-US" i="1" dirty="0" smtClean="0"/>
              <a:t>RNN, </a:t>
            </a:r>
            <a:r>
              <a:rPr lang="ru-RU" i="1" dirty="0" smtClean="0"/>
              <a:t>например формулировка </a:t>
            </a:r>
            <a:r>
              <a:rPr lang="ru-RU" i="1" dirty="0" err="1" smtClean="0"/>
              <a:t>Джордана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00602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ctr" rtl="0"/>
            <a:r>
              <a:rPr lang="en-US" b="1" dirty="0" smtClean="0"/>
              <a:t>RNN </a:t>
            </a:r>
            <a:r>
              <a:rPr lang="ru-RU" b="1" dirty="0" smtClean="0"/>
              <a:t>Интуиция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4231" y="889726"/>
                <a:ext cx="11738806" cy="6140153"/>
              </a:xfrm>
            </p:spPr>
            <p:txBody>
              <a:bodyPr>
                <a:noAutofit/>
              </a:bodyPr>
              <a:lstStyle/>
              <a:p>
                <a:pPr lvl="0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b="1" dirty="0" smtClean="0"/>
                  <a:t>Рекуррентные нейронные сети (RNN)</a:t>
                </a:r>
                <a:r>
                  <a:rPr lang="ru-RU" sz="2200" dirty="0"/>
                  <a:t>  </a:t>
                </a:r>
                <a:r>
                  <a:rPr lang="ru-RU" sz="2200" dirty="0" smtClean="0"/>
                  <a:t>обрабатывают последовательности: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 smtClean="0"/>
                  <a:t>На каждом шаге окна одни и те же веса 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 smtClean="0"/>
                  <a:t>)</a:t>
                </a:r>
                <a:r>
                  <a:rPr lang="ru-RU" sz="2200" dirty="0" smtClean="0"/>
                  <a:t>, но разные входные данные </a:t>
                </a:r>
                <a:r>
                  <a:rPr lang="en-US" sz="22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200" dirty="0" smtClean="0"/>
                  <a:t>.</a:t>
                </a:r>
              </a:p>
              <a:p>
                <a:pPr lvl="2"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 smtClean="0"/>
                  <a:t> </a:t>
                </a:r>
                <a:r>
                  <a:rPr lang="ru-RU" sz="1800" dirty="0" smtClean="0"/>
                  <a:t>передается в следящее состояние как память.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Ячейки RNN содержат состояние внутренней памяти, которое действует как сжатое резюме прошлой информации.</a:t>
                </a:r>
              </a:p>
              <a:p>
                <a:pPr lvl="2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 smtClean="0"/>
                  <a:t>Традиционное </a:t>
                </a:r>
                <a:r>
                  <a:rPr lang="ru-RU" sz="2200" dirty="0"/>
                  <a:t>применение RNN - обработка естественного языка.</a:t>
                </a:r>
              </a:p>
              <a:p>
                <a:pPr lvl="2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 smtClean="0"/>
                  <a:t>В </a:t>
                </a:r>
                <a:r>
                  <a:rPr lang="ru-RU" sz="2200" dirty="0"/>
                  <a:t>последние годы для </a:t>
                </a:r>
                <a:r>
                  <a:rPr lang="ru-RU" sz="2200" dirty="0" smtClean="0"/>
                  <a:t>ВР было </a:t>
                </a:r>
                <a:r>
                  <a:rPr lang="ru-RU" sz="2200" dirty="0"/>
                  <a:t>разработано много архитектур на основе RNN.</a:t>
                </a:r>
              </a:p>
              <a:p>
                <a:pPr lvl="0">
                  <a:lnSpc>
                    <a:spcPct val="100000"/>
                  </a:lnSpc>
                  <a:spcBef>
                    <a:spcPts val="200"/>
                  </a:spcBef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231" y="889726"/>
                <a:ext cx="11738806" cy="6140153"/>
              </a:xfrm>
              <a:blipFill>
                <a:blip r:embed="rId2"/>
                <a:stretch>
                  <a:fillRect l="-571" t="-6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471" y="3898245"/>
            <a:ext cx="4220804" cy="2837060"/>
          </a:xfrm>
          <a:prstGeom prst="rect">
            <a:avLst/>
          </a:prstGeom>
        </p:spPr>
      </p:pic>
      <p:pic>
        <p:nvPicPr>
          <p:cNvPr id="11" name="Picture 2" descr="https://neerc.ifmo.ru/wiki/images/thumb/1/18/RNN_BPTT.jpg/450px-RNN_BPT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926" y="4272937"/>
            <a:ext cx="5092698" cy="252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s://neerc.ifmo.ru/wiki/images/thumb/a/a6/RNN_BP.jpg/450px-RNN_BP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5" y="4412772"/>
            <a:ext cx="2927561" cy="232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95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ctr" rtl="0"/>
            <a:r>
              <a:rPr lang="en-US" b="1" dirty="0" smtClean="0"/>
              <a:t>RNN </a:t>
            </a:r>
            <a:r>
              <a:rPr lang="ru-RU" b="1" dirty="0" smtClean="0"/>
              <a:t>типы подходов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u="sng" dirty="0"/>
              <a:t>Самый универсальный подход глубокого обучения к анализу временных рядов - это многие ко многим </a:t>
            </a:r>
            <a:r>
              <a:rPr lang="ru-RU" sz="2000" dirty="0"/>
              <a:t> (или  </a:t>
            </a:r>
            <a:r>
              <a:rPr lang="ru-RU" sz="2000" b="1" dirty="0"/>
              <a:t>Sequence2Sequence, Seq2Seq</a:t>
            </a:r>
            <a:r>
              <a:rPr lang="ru-RU" sz="2000" dirty="0"/>
              <a:t> ).</a:t>
            </a:r>
          </a:p>
          <a:p>
            <a:pPr lvl="0"/>
            <a:r>
              <a:rPr lang="ru-RU" sz="2000" b="1" dirty="0"/>
              <a:t>Seq2Seq</a:t>
            </a:r>
            <a:r>
              <a:rPr lang="ru-RU" sz="2000" dirty="0"/>
              <a:t>  подход  </a:t>
            </a:r>
            <a:r>
              <a:rPr lang="ru-RU" sz="2000" u="sng" dirty="0"/>
              <a:t>можно интерпретировать как модель кодера-декодера.</a:t>
            </a:r>
            <a:endParaRPr lang="ru-RU" sz="2000" dirty="0"/>
          </a:p>
          <a:p>
            <a:pPr lvl="0"/>
            <a:r>
              <a:rPr lang="ru-RU" sz="2000" dirty="0"/>
              <a:t>В этом случае кодер используется для суммирования прошлой информации (т. Е. Целей, наблюдаемых входных данных и априори известных входных данных), а декодер - для создания новых прогнозов, классификации, оценки и прочего.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50" name="Picture 2" descr="RNN inputs and outpu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785" y="2738464"/>
            <a:ext cx="5347007" cy="359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5338916" y="635797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 smtClean="0"/>
              <a:t>https://www.bpesquet.fr/mlhandbook/algorithms/recurrent_neural_networks.html#rnn-fundamentals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415305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/>
              <a:t>RNN. </a:t>
            </a:r>
            <a:r>
              <a:rPr lang="ru-RU" b="1" dirty="0" smtClean="0"/>
              <a:t>Особенности обучения</a:t>
            </a:r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096000" y="6596389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https://education.yandex.ru/handbook/ml/article/nejroseti-dlya-raboty-s-posledovatelnostyami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73912" y="692787"/>
                <a:ext cx="11859444" cy="6088062"/>
              </a:xfrm>
            </p:spPr>
            <p:txBody>
              <a:bodyPr>
                <a:normAutofit fontScale="62500" lnSpcReduction="20000"/>
              </a:bodyPr>
              <a:lstStyle/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:r>
                  <a:rPr lang="ru-RU" sz="3400" dirty="0"/>
                  <a:t>При обучении </a:t>
                </a:r>
                <a:r>
                  <a:rPr lang="en-US" sz="3400" dirty="0"/>
                  <a:t>RNN </a:t>
                </a:r>
                <a:r>
                  <a:rPr lang="ru-RU" sz="3400" dirty="0"/>
                  <a:t>функция потерь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ru-RU" sz="3400" dirty="0"/>
              </a:p>
              <a:p>
                <a:pPr marL="0" lvl="0" indent="0" algn="ctr">
                  <a:lnSpc>
                    <a:spcPct val="120000"/>
                  </a:lnSpc>
                  <a:spcBef>
                    <a:spcPts val="300"/>
                  </a:spcBef>
                  <a:buNone/>
                </a:pPr>
                <a:r>
                  <a:rPr lang="ru-RU" sz="3400" dirty="0"/>
                  <a:t>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3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3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, (</m:t>
                        </m:r>
                        <m:sSub>
                          <m:sSubPr>
                            <m:ctrlPr>
                              <a:rPr 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d>
                  </m:oMath>
                </a14:m>
                <a:endParaRPr lang="en-US" sz="3400" dirty="0"/>
              </a:p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:r>
                  <a:rPr lang="ru-RU" sz="3400" dirty="0"/>
                  <a:t>Так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RU" sz="3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400" i="1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3400" i="1" dirty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sz="3400" dirty="0"/>
                  <a:t> </a:t>
                </a:r>
                <a:r>
                  <a:rPr lang="ru-RU" sz="3400" dirty="0"/>
                  <a:t>тогда</a:t>
                </a:r>
                <a:endParaRPr lang="en-US" sz="3400" dirty="0"/>
              </a:p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3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4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, (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d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, (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,(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)) </m:t>
                          </m:r>
                        </m:e>
                      </m:d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→…</m:t>
                      </m:r>
                    </m:oMath>
                  </m:oMathPara>
                </a14:m>
                <a:endParaRPr lang="en-US" sz="3400" dirty="0"/>
              </a:p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:r>
                  <a:rPr lang="ru-RU" sz="2600" dirty="0"/>
                  <a:t>Функция потерь оценки предсказания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600" dirty="0"/>
                  <a:t> зависит от всех предыдущих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до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6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600" dirty="0"/>
                  <a:t>.</a:t>
                </a:r>
              </a:p>
              <a:p>
                <a:pPr lvl="0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ru-RU" sz="3400" dirty="0"/>
                  <a:t>Градиент функции потерь (обновление весовых параметров, задающее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34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3400" dirty="0"/>
                  <a:t> будет также зависеть от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3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400" dirty="0"/>
                  <a:t>.</a:t>
                </a:r>
              </a:p>
              <a:p>
                <a:pPr lvl="0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ru-RU" sz="3400" dirty="0"/>
                  <a:t>Обновление весовых параметров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3400" dirty="0"/>
                  <a:t> и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sz="3400" dirty="0"/>
                  <a:t> завесит от от всех предыдущих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400" dirty="0"/>
                  <a:t> </a:t>
                </a:r>
                <a:r>
                  <a:rPr lang="ru-RU" sz="3400" dirty="0"/>
                  <a:t>до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3400" dirty="0"/>
              </a:p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n-US" sz="3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ru-RU" sz="3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400" i="1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3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400" i="1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e>
                      </m:d>
                      <m:r>
                        <a:rPr lang="en-US" sz="3400" i="1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3400" dirty="0"/>
              </a:p>
              <a:p>
                <a:pPr lvl="1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ru-RU" sz="2600" dirty="0" smtClean="0"/>
                  <a:t>Такая </a:t>
                </a:r>
                <a:r>
                  <a:rPr lang="ru-RU" sz="2600" dirty="0"/>
                  <a:t>же рекуррентен зависимость будет при обновлении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sz="2600" dirty="0"/>
                  <a:t>  для шага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ru-RU" sz="2600" dirty="0"/>
              </a:p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:r>
                  <a:rPr lang="ru-RU" sz="3400" dirty="0" smtClean="0"/>
                  <a:t>Для </a:t>
                </a:r>
                <a:r>
                  <a:rPr lang="ru-RU" sz="3400" dirty="0"/>
                  <a:t>вычисления градиента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u-RU" sz="3400" dirty="0" smtClean="0"/>
                  <a:t> </a:t>
                </a:r>
                <a:r>
                  <a:rPr lang="ru-RU" sz="3400" dirty="0"/>
                  <a:t>на шаге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ru-RU" sz="3400" dirty="0"/>
                  <a:t> нужно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400" dirty="0"/>
                  <a:t> </a:t>
                </a:r>
                <a:r>
                  <a:rPr lang="ru-RU" sz="3400" dirty="0"/>
                  <a:t>раз обновить весовые параметры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sz="3400" dirty="0"/>
                  <a:t>. </a:t>
                </a:r>
              </a:p>
              <a:p>
                <a:pPr lvl="1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ru-RU" sz="2600" dirty="0" smtClean="0"/>
                  <a:t>Аналогично </a:t>
                </a:r>
                <a:r>
                  <a:rPr lang="ru-RU" sz="2600" dirty="0"/>
                  <a:t>для весовых коэффициентов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600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600" dirty="0"/>
              </a:p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:r>
                  <a:rPr lang="ru-RU" sz="3400" dirty="0"/>
                  <a:t>Если в одном из шагов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∈(0,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400" dirty="0"/>
                  <a:t> </a:t>
                </a:r>
                <a:r>
                  <a:rPr lang="ru-RU" sz="3400" dirty="0"/>
                  <a:t>произойдет «взрыв градиента», то на всех последующих шагах градиент будет врываться бесконечно</a:t>
                </a:r>
              </a:p>
              <a:p>
                <a:pPr lvl="1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ru-RU" sz="2600" dirty="0" smtClean="0"/>
                  <a:t>Аналогично </a:t>
                </a:r>
                <a:r>
                  <a:rPr lang="ru-RU" sz="2600" dirty="0"/>
                  <a:t>для вымывания градиента.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4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912" y="692787"/>
                <a:ext cx="11859444" cy="6088062"/>
              </a:xfrm>
              <a:blipFill>
                <a:blip r:embed="rId2"/>
                <a:stretch>
                  <a:fillRect l="-617" t="-701" r="-6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1069975" y="6084008"/>
            <a:ext cx="112627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altLang="ru-RU" sz="1600" b="1" dirty="0"/>
              <a:t>отметим, что следствием высокой вероятности переобучения является не возможность сделать рекуррентные сети слишком глубокими. </a:t>
            </a:r>
            <a:r>
              <a:rPr lang="ru-RU" altLang="ru-RU" sz="1600" dirty="0" smtClean="0">
                <a:latin typeface="-apple-system"/>
              </a:rPr>
              <a:t>Архитектуры</a:t>
            </a:r>
            <a:r>
              <a:rPr lang="ru-RU" altLang="ru-RU" sz="1600" dirty="0">
                <a:latin typeface="-apple-system"/>
              </a:rPr>
              <a:t>, содержащие более 4 двунаправленных слоев это редкость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14743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4210" y="260351"/>
            <a:ext cx="11030065" cy="61595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RNN. </a:t>
            </a:r>
            <a:r>
              <a:rPr lang="ru-RU" b="1" dirty="0" smtClean="0"/>
              <a:t>Ограниченное</a:t>
            </a:r>
            <a:r>
              <a:rPr lang="en-US" b="1" dirty="0" smtClean="0"/>
              <a:t> </a:t>
            </a:r>
            <a:r>
              <a:rPr lang="ru-RU" b="1" dirty="0" smtClean="0"/>
              <a:t>обучение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809627"/>
                <a:ext cx="11680722" cy="5195887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Одна из  </a:t>
                </a:r>
                <a:r>
                  <a:rPr lang="ru-RU" sz="2200" b="1" dirty="0"/>
                  <a:t>основных проблем простых RNN (</a:t>
                </a:r>
                <a:r>
                  <a:rPr lang="ru-RU" sz="2200" b="1" dirty="0" err="1"/>
                  <a:t>vanilla</a:t>
                </a:r>
                <a:r>
                  <a:rPr lang="ru-RU" sz="2200" b="1" dirty="0"/>
                  <a:t> RNN)</a:t>
                </a:r>
                <a:r>
                  <a:rPr lang="ru-RU" sz="2200" dirty="0"/>
                  <a:t>  - это </a:t>
                </a:r>
                <a:r>
                  <a:rPr lang="ru-RU" sz="2200" b="1" dirty="0"/>
                  <a:t>взрыв веса (или градиента) и вымывание градиента</a:t>
                </a:r>
                <a:r>
                  <a:rPr lang="ru-RU" sz="2200" dirty="0"/>
                  <a:t>,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Таким образом, только некоторая часть серии может быть обработана как вход RNN. 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Другими словами длина контекста </a:t>
                </a:r>
                <a:r>
                  <a:rPr lang="en-US" sz="2200" dirty="0"/>
                  <a:t>RNN </a:t>
                </a:r>
                <a:r>
                  <a:rPr lang="ru-RU" sz="2200" dirty="0"/>
                  <a:t>должна быть ограничена</a:t>
                </a:r>
                <a:r>
                  <a:rPr lang="ru-RU" sz="2200" dirty="0" smtClean="0"/>
                  <a:t>.</a:t>
                </a:r>
              </a:p>
              <a:p>
                <a:pPr marL="342900" lvl="1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b="1" dirty="0" smtClean="0"/>
                  <a:t>Усечение </a:t>
                </a:r>
                <a:r>
                  <a:rPr lang="ru-RU" sz="2200" b="1" dirty="0"/>
                  <a:t>обучение </a:t>
                </a:r>
                <a:r>
                  <a:rPr lang="ru-RU" sz="2200" dirty="0"/>
                  <a:t>(усеченное обратное распространение – </a:t>
                </a:r>
                <a:r>
                  <a:rPr lang="en-US" sz="2200" b="1" dirty="0"/>
                  <a:t>Truncated Backpropagation</a:t>
                </a:r>
                <a:r>
                  <a:rPr lang="ru-RU" sz="2200" dirty="0"/>
                  <a:t>).</a:t>
                </a:r>
                <a:endParaRPr lang="en-US" sz="2200" dirty="0"/>
              </a:p>
              <a:p>
                <a:pPr marL="914400"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Расчет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 (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)) </m:t>
                        </m:r>
                      </m:e>
                    </m:d>
                  </m:oMath>
                </a14:m>
                <a:r>
                  <a:rPr lang="ru-RU" sz="2200" dirty="0"/>
                  <a:t> только</a:t>
                </a:r>
                <a:r>
                  <a:rPr lang="en-US" sz="2200" dirty="0"/>
                  <a:t> </a:t>
                </a:r>
                <a:r>
                  <a:rPr lang="ru-RU" sz="2200" dirty="0"/>
                  <a:t>для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 smtClean="0"/>
                  <a:t>шагов</a:t>
                </a:r>
                <a:endParaRPr lang="ru-RU" sz="2200" dirty="0"/>
              </a:p>
              <a:p>
                <a:pPr marL="342900" lvl="2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b="1" dirty="0"/>
                  <a:t>G</a:t>
                </a:r>
                <a:r>
                  <a:rPr lang="ru-RU" sz="2200" b="1" dirty="0" err="1" smtClean="0"/>
                  <a:t>radient</a:t>
                </a:r>
                <a:r>
                  <a:rPr lang="ru-RU" sz="2200" b="1" dirty="0" smtClean="0"/>
                  <a:t> </a:t>
                </a:r>
                <a:r>
                  <a:rPr lang="ru-RU" sz="2200" b="1" dirty="0" err="1" smtClean="0"/>
                  <a:t>clipping</a:t>
                </a:r>
                <a:r>
                  <a:rPr lang="en-US" sz="2200" b="1" dirty="0" smtClean="0"/>
                  <a:t> </a:t>
                </a:r>
                <a:r>
                  <a:rPr lang="en-US" sz="2200" dirty="0" smtClean="0"/>
                  <a:t>– </a:t>
                </a:r>
                <a:r>
                  <a:rPr lang="ru-RU" sz="2200" dirty="0" smtClean="0"/>
                  <a:t>Ограничение максимально </a:t>
                </a:r>
                <a:r>
                  <a:rPr lang="ru-RU" sz="2200" dirty="0"/>
                  <a:t>возможное значение градиента и заменяет все значения выше выбранного порога на это значение. </a:t>
                </a:r>
                <a:endParaRPr lang="ru-RU" sz="2200" i="1" dirty="0" smtClean="0">
                  <a:latin typeface="Cambria Math" panose="02040503050406030204" pitchFamily="18" charset="0"/>
                </a:endParaRPr>
              </a:p>
              <a:p>
                <a:pPr marL="0"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dirty="0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r>
                                <m:rPr>
                                  <m:sty m:val="p"/>
                                </m:rPr>
                                <a:rPr lang="en-US" sz="22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</m:d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𝑐𝑙𝑖𝑝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dirty="0">
                                      <a:latin typeface="Cambria Math" panose="02040503050406030204" pitchFamily="18" charset="0"/>
                                    </a:rPr>
                                    <m:t>𝛻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200" dirty="0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e>
                              </m:d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dirty="0">
                                      <a:latin typeface="Cambria Math" panose="02040503050406030204" pitchFamily="18" charset="0"/>
                                    </a:rPr>
                                    <m:t>𝛻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200" dirty="0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e>
                              </m:d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09627"/>
                <a:ext cx="11680722" cy="5195887"/>
              </a:xfrm>
              <a:blipFill>
                <a:blip r:embed="rId2"/>
                <a:stretch>
                  <a:fillRect l="-678" t="-8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2" y="4418355"/>
            <a:ext cx="6291470" cy="22031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104776" y="4418355"/>
                <a:ext cx="5391150" cy="1811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ru-RU" sz="2200" dirty="0"/>
                  <a:t> - максимальное значение </a:t>
                </a:r>
                <a:r>
                  <a:rPr lang="ru-RU" sz="2200" dirty="0" err="1"/>
                  <a:t>градикента</a:t>
                </a:r>
                <a:r>
                  <a:rPr lang="ru-RU" sz="2200" dirty="0"/>
                  <a:t>,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m:rPr>
                            <m:sty m:val="p"/>
                          </m:rPr>
                          <a:rPr lang="en-US" sz="2200" dirty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</m:d>
                    <m:r>
                      <a:rPr lang="ru-RU" sz="22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m:rPr>
                                <m:sty m:val="p"/>
                              </m:rPr>
                              <a:rPr lang="en-US" sz="2200" dirty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</m:d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𝑐𝑙𝑖𝑝</m:t>
                        </m:r>
                      </m:sub>
                    </m:sSub>
                  </m:oMath>
                </a14:m>
                <a:r>
                  <a:rPr lang="ru-RU" sz="2200" dirty="0"/>
                  <a:t> - норма градиента (до и после </a:t>
                </a:r>
                <a:r>
                  <a:rPr lang="ru-RU" sz="2200" dirty="0" err="1"/>
                  <a:t>органичений</a:t>
                </a:r>
                <a:r>
                  <a:rPr lang="ru-RU" sz="2200" dirty="0"/>
                  <a:t>). Отметим, что </a:t>
                </a:r>
                <a:r>
                  <a:rPr lang="ru-RU" sz="2200" dirty="0" err="1"/>
                  <a:t>gradient</a:t>
                </a:r>
                <a:r>
                  <a:rPr lang="ru-RU" sz="2200" dirty="0"/>
                  <a:t> </a:t>
                </a:r>
                <a:r>
                  <a:rPr lang="ru-RU" sz="2200" dirty="0" err="1"/>
                  <a:t>clipping</a:t>
                </a:r>
                <a:r>
                  <a:rPr lang="ru-RU" sz="2200" dirty="0"/>
                  <a:t> это довольно грубый инструмент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6" y="4418355"/>
                <a:ext cx="5391150" cy="1811201"/>
              </a:xfrm>
              <a:prstGeom prst="rect">
                <a:avLst/>
              </a:prstGeom>
              <a:blipFill>
                <a:blip r:embed="rId4"/>
                <a:stretch>
                  <a:fillRect l="-1469" t="-2357" r="-1356" b="-57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982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365126"/>
            <a:ext cx="11258550" cy="720724"/>
          </a:xfrm>
        </p:spPr>
        <p:txBody>
          <a:bodyPr/>
          <a:lstStyle/>
          <a:p>
            <a:r>
              <a:rPr lang="ru-RU" dirty="0" smtClean="0"/>
              <a:t>Расширение контекста </a:t>
            </a:r>
            <a:r>
              <a:rPr lang="en-US" dirty="0" smtClean="0"/>
              <a:t>RNN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981075"/>
            <a:ext cx="11582400" cy="3743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Во временных рядах контекста – это паттерны поведения, влияющие на прогноз ВР. </a:t>
            </a:r>
          </a:p>
          <a:p>
            <a:r>
              <a:rPr lang="ru-RU" sz="2400" dirty="0" smtClean="0"/>
              <a:t>Усечение обучение – потеря контекста. Нужно увеличивать контекст. Подходы: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dirty="0" smtClean="0"/>
              <a:t>Регуляризация обучения</a:t>
            </a:r>
            <a:r>
              <a:rPr lang="en-US" dirty="0" smtClean="0"/>
              <a:t> </a:t>
            </a:r>
            <a:r>
              <a:rPr lang="ru-RU" dirty="0" smtClean="0"/>
              <a:t>(</a:t>
            </a:r>
            <a:r>
              <a:rPr lang="ru-RU" dirty="0" err="1" smtClean="0"/>
              <a:t>батч</a:t>
            </a:r>
            <a:r>
              <a:rPr lang="ru-RU" dirty="0" smtClean="0"/>
              <a:t>-норма, L1, L2, и т. д.).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Temporal learning </a:t>
            </a:r>
            <a:r>
              <a:rPr lang="ru-RU" dirty="0" smtClean="0"/>
              <a:t>(последовательные слои с разряженным окном)</a:t>
            </a:r>
          </a:p>
          <a:p>
            <a:pPr lvl="1"/>
            <a:r>
              <a:rPr lang="ru-RU" dirty="0" smtClean="0"/>
              <a:t>Специальные модификации рекуррентных ячеек </a:t>
            </a:r>
            <a:endParaRPr lang="en-US" dirty="0" smtClean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786" y="3715927"/>
            <a:ext cx="6794070" cy="2699171"/>
          </a:xfrm>
          <a:prstGeom prst="rect">
            <a:avLst/>
          </a:prstGeom>
        </p:spPr>
      </p:pic>
      <p:pic>
        <p:nvPicPr>
          <p:cNvPr id="5122" name="Picture 2" descr="Time series forecasting with deep stacked unidirectional and bidirectional  LSTMs | by Manohar Battula | TDS Archive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329067"/>
            <a:ext cx="4978619" cy="202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54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4658" y="127001"/>
            <a:ext cx="11258550" cy="720724"/>
          </a:xfrm>
        </p:spPr>
        <p:txBody>
          <a:bodyPr/>
          <a:lstStyle/>
          <a:p>
            <a:r>
              <a:rPr lang="en-US" dirty="0" err="1" smtClean="0"/>
              <a:t>BiDiretional</a:t>
            </a:r>
            <a:r>
              <a:rPr lang="en-US" dirty="0" smtClean="0"/>
              <a:t> </a:t>
            </a:r>
            <a:r>
              <a:rPr lang="en-US" dirty="0" smtClean="0"/>
              <a:t>RNN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981075"/>
                <a:ext cx="11582400" cy="3743325"/>
              </a:xfrm>
            </p:spPr>
            <p:txBody>
              <a:bodyPr>
                <a:normAutofit/>
              </a:bodyPr>
              <a:lstStyle/>
              <a:p>
                <a:pPr marL="88900" lvl="1" indent="0">
                  <a:buNone/>
                </a:pPr>
                <a:r>
                  <a:rPr lang="ru-RU" sz="2200" dirty="0" smtClean="0"/>
                  <a:t>Особенность регуляризации </a:t>
                </a:r>
                <a:r>
                  <a:rPr lang="en-US" sz="2200" dirty="0" smtClean="0"/>
                  <a:t>RNN – </a:t>
                </a:r>
                <a:r>
                  <a:rPr lang="ru-RU" sz="2200" dirty="0" smtClean="0"/>
                  <a:t>можно использовать последовательность данных.</a:t>
                </a:r>
              </a:p>
              <a:p>
                <a:pPr marL="88900" lvl="1" indent="0">
                  <a:buNone/>
                </a:pPr>
                <a:r>
                  <a:rPr lang="ru-RU" sz="2200" dirty="0" smtClean="0"/>
                  <a:t>Пусть</a:t>
                </a:r>
                <a:r>
                  <a:rPr lang="en-US" sz="2200" dirty="0" smtClean="0"/>
                  <a:t> </a:t>
                </a:r>
                <a:r>
                  <a:rPr lang="ru-RU" sz="2200" dirty="0" smtClean="0"/>
                  <a:t>для отрезка ВР длиной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b="0" i="0" dirty="0" smtClean="0">
                    <a:latin typeface="+mj-lt"/>
                  </a:rPr>
                  <a:t>(контекст)</a:t>
                </a:r>
                <a:r>
                  <a:rPr lang="en-US" sz="2200" b="0" i="0" dirty="0" smtClean="0">
                    <a:latin typeface="+mj-lt"/>
                  </a:rPr>
                  <a:t> </a:t>
                </a:r>
                <a:r>
                  <a:rPr lang="ru-RU" sz="2200" b="0" i="0" dirty="0" smtClean="0">
                    <a:latin typeface="+mj-lt"/>
                  </a:rPr>
                  <a:t> </a:t>
                </a:r>
                <a:endParaRPr lang="ru-RU" sz="2200" dirty="0" smtClean="0"/>
              </a:p>
              <a:p>
                <a:pPr marL="88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b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 smtClean="0"/>
              </a:p>
              <a:p>
                <a:pPr marL="88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 smtClean="0"/>
              </a:p>
              <a:p>
                <a:pPr marL="889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r>
                  <a:rPr lang="en-US" sz="2000" dirty="0" smtClean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81075"/>
                <a:ext cx="11582400" cy="3743325"/>
              </a:xfrm>
              <a:blipFill>
                <a:blip r:embed="rId2"/>
                <a:stretch>
                  <a:fillRect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4" y="4039683"/>
            <a:ext cx="4181475" cy="24516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/>
              <p:cNvSpPr txBox="1">
                <a:spLocks/>
              </p:cNvSpPr>
              <p:nvPr/>
            </p:nvSpPr>
            <p:spPr>
              <a:xfrm>
                <a:off x="294658" y="2852737"/>
                <a:ext cx="7334865" cy="21431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400" dirty="0" smtClean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ru-RU" sz="2000" dirty="0" smtClean="0"/>
                  <a:t> - значении вектора состояния рассчитанное слева на право (вперед);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r>
                  <a:rPr lang="ru-RU" sz="2000" dirty="0" smtClean="0"/>
                  <a:t> - значение рассчитанное по выборке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000" dirty="0" smtClean="0"/>
                  <a:t> справа на лево (корректировка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ru-RU" sz="2000" dirty="0" smtClean="0"/>
                  <a:t> на каждом шаге)</a:t>
                </a:r>
                <a:endParaRPr lang="en-US" sz="2000" dirty="0"/>
              </a:p>
            </p:txBody>
          </p:sp>
        </mc:Choice>
        <mc:Fallback xmlns="">
          <p:sp>
            <p:nvSpPr>
              <p:cNvPr id="8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58" y="2852737"/>
                <a:ext cx="7334865" cy="2143125"/>
              </a:xfrm>
              <a:prstGeom prst="rect">
                <a:avLst/>
              </a:prstGeom>
              <a:blipFill>
                <a:blip r:embed="rId4"/>
                <a:stretch>
                  <a:fillRect l="-1246" t="-36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A Bidirectional LSTM-RNN and GRU Method to Exon Prediction Using  Splice-Site Mappi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581" y="3267314"/>
            <a:ext cx="3892857" cy="3223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ime series forecasting with deep stacked unidirectional and bidirectional  LSTMs | by Manohar Battula | TDS Archive | Mediu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390" y="5129212"/>
            <a:ext cx="335280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657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7857"/>
            <a:ext cx="10515600" cy="758825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123950"/>
            <a:ext cx="10725150" cy="5476875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Недостатком подходов обучения с </a:t>
            </a:r>
            <a:r>
              <a:rPr lang="en-US" altLang="ru-RU" sz="2200" dirty="0">
                <a:latin typeface="-apple-system"/>
              </a:rPr>
              <a:t>RNN </a:t>
            </a:r>
            <a:r>
              <a:rPr lang="ru-RU" altLang="ru-RU" sz="2200" dirty="0">
                <a:latin typeface="-apple-system"/>
              </a:rPr>
              <a:t>является не возможность учета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Для решения этой проблемы используются </a:t>
            </a:r>
            <a:r>
              <a:rPr lang="ru-RU" altLang="ru-RU" sz="2200" dirty="0">
                <a:latin typeface="var(--jp-code-font-family)"/>
              </a:rPr>
              <a:t>LSTM</a:t>
            </a:r>
            <a:r>
              <a:rPr lang="ru-RU" altLang="ru-RU" sz="2200" dirty="0">
                <a:latin typeface="-apple-system"/>
              </a:rPr>
              <a:t> и </a:t>
            </a:r>
            <a:r>
              <a:rPr lang="ru-RU" altLang="ru-RU" sz="2200" dirty="0">
                <a:latin typeface="var(--jp-code-font-family)"/>
              </a:rPr>
              <a:t>GRU</a:t>
            </a:r>
            <a:r>
              <a:rPr lang="ru-RU" altLang="ru-RU" sz="2200" dirty="0">
                <a:latin typeface="-apple-system"/>
              </a:rPr>
              <a:t> ячейки, которые имеют учет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sz="2200" dirty="0"/>
              <a:t>в литературе можно найти и другие варианты модификаций. 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450543"/>
            <a:ext cx="9810750" cy="325755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386717" y="6416159"/>
            <a:ext cx="5967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https://colah.github.io/posts/2015-08-Understanding-LSTMs/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3104" y="6382047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https://arxiv.org/pdf/2305.17473</a:t>
            </a:r>
          </a:p>
        </p:txBody>
      </p:sp>
    </p:spTree>
    <p:extLst>
      <p:ext uri="{BB962C8B-B14F-4D97-AF65-F5344CB8AC3E}">
        <p14:creationId xmlns:p14="http://schemas.microsoft.com/office/powerpoint/2010/main" val="49249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8000" y="365125"/>
            <a:ext cx="10845800" cy="790575"/>
          </a:xfrm>
        </p:spPr>
        <p:txBody>
          <a:bodyPr/>
          <a:lstStyle/>
          <a:p>
            <a:r>
              <a:rPr lang="ru-RU" dirty="0" smtClean="0"/>
              <a:t>Долгосрочно-краткосрочная </a:t>
            </a:r>
            <a:r>
              <a:rPr lang="en-US" dirty="0" smtClean="0"/>
              <a:t>RNN = LSTM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7500" y="1146174"/>
            <a:ext cx="11455400" cy="523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300" dirty="0" smtClean="0"/>
              <a:t>Контекст обучения можно увеличить, если частично его забывать.</a:t>
            </a:r>
          </a:p>
          <a:p>
            <a:pPr lvl="1"/>
            <a:r>
              <a:rPr lang="ru-RU" sz="2300" dirty="0" smtClean="0"/>
              <a:t>Однако, как не забывать действительно важный контекст.</a:t>
            </a:r>
          </a:p>
          <a:p>
            <a:pPr marL="0" indent="0">
              <a:buNone/>
            </a:pPr>
            <a:r>
              <a:rPr lang="ru-RU" sz="2300" b="1" dirty="0" smtClean="0"/>
              <a:t>Идея</a:t>
            </a:r>
            <a:r>
              <a:rPr lang="ru-RU" sz="2300" dirty="0" smtClean="0"/>
              <a:t>: ввести краткосрочное и долгоиграющее скрытые состояния. </a:t>
            </a:r>
          </a:p>
          <a:p>
            <a:pPr lvl="1"/>
            <a:r>
              <a:rPr lang="ru-RU" sz="2300" dirty="0" smtClean="0"/>
              <a:t>Долговременный контекст – тренд + цикличность временного ряда</a:t>
            </a:r>
            <a:r>
              <a:rPr lang="en-US" sz="2300" dirty="0" smtClean="0"/>
              <a:t> </a:t>
            </a:r>
            <a:r>
              <a:rPr lang="ru-RU" sz="2300" dirty="0" smtClean="0"/>
              <a:t>(память)</a:t>
            </a:r>
          </a:p>
          <a:p>
            <a:pPr lvl="2"/>
            <a:r>
              <a:rPr lang="ru-RU" sz="1900" dirty="0" smtClean="0"/>
              <a:t>Веса должны меняться медленно</a:t>
            </a:r>
          </a:p>
          <a:p>
            <a:pPr lvl="1"/>
            <a:r>
              <a:rPr lang="ru-RU" sz="2300" dirty="0" smtClean="0"/>
              <a:t>Кратковременный контекст – текущая сезонность ВР (скрытое состояние)</a:t>
            </a:r>
          </a:p>
          <a:p>
            <a:pPr lvl="2"/>
            <a:r>
              <a:rPr lang="ru-RU" sz="1900" dirty="0" smtClean="0"/>
              <a:t>Веся постоянно обновляются</a:t>
            </a:r>
          </a:p>
          <a:p>
            <a:pPr marL="265113" lvl="1"/>
            <a:r>
              <a:rPr lang="ru-RU" sz="2300" dirty="0" smtClean="0"/>
              <a:t>Такая архитектура называется </a:t>
            </a:r>
            <a:r>
              <a:rPr lang="en-US" dirty="0"/>
              <a:t>long short-term memory (LSTM) </a:t>
            </a:r>
            <a:endParaRPr lang="ru-RU" sz="2300" dirty="0" smtClean="0"/>
          </a:p>
        </p:txBody>
      </p:sp>
      <p:pic>
        <p:nvPicPr>
          <p:cNvPr id="6146" name="Picture 2" descr="https://mintlify.s3.us-west-1.amazonaws.com/nixtla/neuralforecast/docs/tutorials/01_getting_started_complete_files/figure-markdown_strict/cell-23-output-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58"/>
          <a:stretch/>
        </p:blipFill>
        <p:spPr bwMode="auto">
          <a:xfrm>
            <a:off x="4955458" y="4876542"/>
            <a:ext cx="7033342" cy="181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676900" y="6553200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https://nixtlaverse.nixtla.io/neuralforecast/docs/tutorials/getting_started_complete.html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367463" y="5014913"/>
            <a:ext cx="4233862" cy="11890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678612" y="6137701"/>
            <a:ext cx="38481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/>
              <a:t>Долговременный контекст – изменение среднего 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724900" y="5095363"/>
            <a:ext cx="1226820" cy="9954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414260" y="4701789"/>
            <a:ext cx="38481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/>
              <a:t>Кратковременный контекст – сезонность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82678" y="6553199"/>
            <a:ext cx="33997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https://d2l.ai/chapter_recurrent-modern/lstm.html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05" y="4411713"/>
            <a:ext cx="4108348" cy="205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2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6968" y="55304"/>
            <a:ext cx="10845800" cy="790575"/>
          </a:xfrm>
        </p:spPr>
        <p:txBody>
          <a:bodyPr/>
          <a:lstStyle/>
          <a:p>
            <a:pPr algn="ctr"/>
            <a:r>
              <a:rPr lang="ru-RU" dirty="0" smtClean="0"/>
              <a:t>Долгосрочно-краткосрочная </a:t>
            </a:r>
            <a:r>
              <a:rPr lang="en-US" dirty="0" smtClean="0"/>
              <a:t>RNN = LSTM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44411" y="750669"/>
                <a:ext cx="11455400" cy="52324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 smtClean="0"/>
                  <a:t>Каждая ячейка памяти оснащена входами </a:t>
                </a:r>
                <a:r>
                  <a:rPr lang="en-US" sz="2200" dirty="0" smtClean="0"/>
                  <a:t>(gates)</a:t>
                </a:r>
                <a:r>
                  <a:rPr lang="ru-RU" sz="2200" dirty="0"/>
                  <a:t> </a:t>
                </a:r>
                <a:r>
                  <a:rPr lang="ru-RU" sz="2200" dirty="0" smtClean="0"/>
                  <a:t>и внутренним состоянием </a:t>
                </a:r>
                <a:r>
                  <a:rPr lang="en-US" sz="2200" dirty="0" smtClean="0"/>
                  <a:t>(node)</a:t>
                </a:r>
                <a:endParaRPr lang="ru-RU" sz="2200" dirty="0" smtClean="0"/>
              </a:p>
              <a:p>
                <a:pPr marL="0" lv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p>
                              </m:sSup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−вход </m:t>
                      </m:r>
                    </m:oMath>
                  </m:oMathPara>
                </a14:m>
                <a:endParaRPr lang="en-US" sz="2200" dirty="0" smtClean="0"/>
              </a:p>
              <a:p>
                <a:pPr marL="0" lv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ru-RU" sz="2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p>
                              </m:sSup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−забвение</m:t>
                      </m:r>
                    </m:oMath>
                  </m:oMathPara>
                </a14:m>
                <a:endParaRPr lang="en-US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̌"/>
                              <m:ctrlPr>
                                <a:rPr lang="en-US" altLang="ru-RU" sz="2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ru-RU" sz="22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altLang="ru-RU" sz="22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ru-RU" sz="22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ru-RU" sz="22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p>
                                  </m:sSup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ru-RU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внутренее состояние</m:t>
                      </m:r>
                    </m:oMath>
                  </m:oMathPara>
                </a14:m>
                <a:endParaRPr lang="en-US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 smtClean="0"/>
                  <a:t>Использование </a:t>
                </a:r>
                <a14:m>
                  <m:oMath xmlns:m="http://schemas.openxmlformats.org/officeDocument/2006/math">
                    <m:r>
                      <a:rPr lang="en-US" altLang="ru-RU" sz="22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sz="2200" dirty="0" smtClean="0"/>
                  <a:t> задает интервалы значений от 0 до 1</a:t>
                </a:r>
                <a:r>
                  <a:rPr lang="en-US" sz="2200" dirty="0" smtClean="0"/>
                  <a:t>, </a:t>
                </a:r>
                <a:r>
                  <a:rPr lang="ru-RU" sz="2200" dirty="0" smtClean="0"/>
                  <a:t>значение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ru-RU" sz="2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rPr lang="ru-RU" sz="2200" dirty="0" smtClean="0"/>
                  <a:t> от -1 до 1.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 smtClean="0"/>
                  <a:t>Долгосрочная память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 smtClean="0"/>
                  <a:t> задается как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̌"/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 smtClean="0"/>
                  <a:t>где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</m:oMath>
                </a14:m>
                <a:r>
                  <a:rPr lang="ru-RU" sz="2200" dirty="0" smtClean="0"/>
                  <a:t> - поэлементное произведение. </a:t>
                </a: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2000" dirty="0" smtClean="0"/>
                  <a:t>Элемент забвения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000" dirty="0" smtClean="0"/>
                  <a:t> определяет то на сколько важно предыдущее состояние памяти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endParaRPr lang="ru-RU" sz="2000" dirty="0" smtClean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2000" dirty="0" smtClean="0"/>
                  <a:t>Элемент входа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000" dirty="0" smtClean="0"/>
                  <a:t> </a:t>
                </a:r>
                <a:r>
                  <a:rPr lang="ru-RU" sz="2000" dirty="0"/>
                  <a:t>определяет то на сколько </a:t>
                </a:r>
                <a:r>
                  <a:rPr lang="ru-RU" sz="2000" dirty="0" smtClean="0"/>
                  <a:t> важно текущее внутреннее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en-US" alt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ru-RU" sz="2000" dirty="0" smtClean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2000" dirty="0" smtClean="0"/>
                  <a:t>Элемент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sSub>
                      <m:sSubPr>
                        <m:ctrlPr>
                          <a:rPr lang="en-US" alt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en-US" alt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000" dirty="0" smtClean="0"/>
                  <a:t> - добавка к памяти.</a:t>
                </a:r>
                <a:endParaRPr lang="en-US" sz="2000" dirty="0"/>
              </a:p>
              <a:p>
                <a:pPr marL="0" lv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411" y="750669"/>
                <a:ext cx="11455400" cy="5232400"/>
              </a:xfrm>
              <a:blipFill>
                <a:blip r:embed="rId2"/>
                <a:stretch>
                  <a:fillRect l="-692" t="-8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3"/>
          <a:srcRect r="5138" b="20057"/>
          <a:stretch/>
        </p:blipFill>
        <p:spPr>
          <a:xfrm>
            <a:off x="6518787" y="4493707"/>
            <a:ext cx="5417574" cy="2364293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3"/>
          <a:srcRect t="80926"/>
          <a:stretch/>
        </p:blipFill>
        <p:spPr>
          <a:xfrm>
            <a:off x="144412" y="5945547"/>
            <a:ext cx="6669343" cy="65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69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6968" y="55304"/>
            <a:ext cx="10845800" cy="790575"/>
          </a:xfrm>
        </p:spPr>
        <p:txBody>
          <a:bodyPr/>
          <a:lstStyle/>
          <a:p>
            <a:pPr algn="ctr"/>
            <a:r>
              <a:rPr lang="ru-RU" dirty="0" smtClean="0"/>
              <a:t>Долгосрочно-краткосрочная </a:t>
            </a:r>
            <a:r>
              <a:rPr lang="en-US" dirty="0" smtClean="0"/>
              <a:t>RNN = LSTM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66967" y="713148"/>
                <a:ext cx="11697213" cy="52324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 smtClean="0"/>
                  <a:t>Выход системы – ее внутреннее состояние. Определяете выходным элементом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ru-RU" sz="22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ru-RU" sz="2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sup>
                              </m:sSup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−выход</m:t>
                      </m:r>
                    </m:oMath>
                  </m:oMathPara>
                </a14:m>
                <a:endParaRPr lang="ru-RU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tanh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200" dirty="0" smtClean="0"/>
              </a:p>
              <a:p>
                <a:pPr marL="0" lv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400" dirty="0" smtClean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400" dirty="0" smtClean="0"/>
                  <a:t> близко к 1 – скрытое состояние задается полностью долгосрочной памятью – важен тренд</a:t>
                </a:r>
              </a:p>
              <a:p>
                <a:pPr marL="0" lv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400" dirty="0" smtClean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400" dirty="0"/>
                  <a:t> близко к </a:t>
                </a:r>
                <a:r>
                  <a:rPr lang="ru-RU" sz="2400" dirty="0" smtClean="0"/>
                  <a:t>0 – скрытое состояние игнорируется – важны текущие колебания.</a:t>
                </a:r>
                <a:endParaRPr lang="en-US" sz="24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6967" y="713148"/>
                <a:ext cx="11697213" cy="5232400"/>
              </a:xfrm>
              <a:blipFill>
                <a:blip r:embed="rId2"/>
                <a:stretch>
                  <a:fillRect l="-782" t="-816" r="-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3"/>
          <a:srcRect t="80926"/>
          <a:stretch/>
        </p:blipFill>
        <p:spPr>
          <a:xfrm>
            <a:off x="144412" y="5945548"/>
            <a:ext cx="6059743" cy="59854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155" y="4027154"/>
            <a:ext cx="6060511" cy="283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6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5807" y="116459"/>
            <a:ext cx="11127658" cy="56894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Долгосрочно-краткосрочная </a:t>
            </a:r>
            <a:r>
              <a:rPr lang="en-US" dirty="0" smtClean="0"/>
              <a:t>RNN = LSTM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5807" y="685399"/>
            <a:ext cx="11715294" cy="3488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LSTM </a:t>
            </a:r>
            <a:r>
              <a:rPr lang="ru-RU" sz="2400" dirty="0" smtClean="0"/>
              <a:t>отвечает на вопросы</a:t>
            </a:r>
          </a:p>
          <a:p>
            <a:r>
              <a:rPr lang="ru-RU" sz="2400" dirty="0" smtClean="0"/>
              <a:t>Компактное представление временного ряда (контекст), </a:t>
            </a:r>
            <a:endParaRPr lang="en-US" sz="2400" dirty="0" smtClean="0"/>
          </a:p>
          <a:p>
            <a:r>
              <a:rPr lang="ru-RU" sz="2400" dirty="0" smtClean="0"/>
              <a:t>как объединить новые входные данные с прошлым представлением ряда</a:t>
            </a:r>
            <a:endParaRPr lang="en-US" sz="2400" dirty="0" smtClean="0"/>
          </a:p>
          <a:p>
            <a:r>
              <a:rPr lang="ru-RU" sz="2400" dirty="0" smtClean="0"/>
              <a:t>Что уже нужно забыть о ВР  </a:t>
            </a:r>
          </a:p>
          <a:p>
            <a:r>
              <a:rPr lang="ru-RU" sz="2400" dirty="0" smtClean="0"/>
              <a:t>Что выводить в качестве прогноза для следующего временного шага.</a:t>
            </a:r>
          </a:p>
          <a:p>
            <a:pPr marL="0" indent="0">
              <a:buNone/>
            </a:pPr>
            <a:r>
              <a:rPr lang="en-US" sz="2400" dirty="0" smtClean="0"/>
              <a:t>LSTM </a:t>
            </a:r>
            <a:r>
              <a:rPr lang="ru-RU" sz="2400" dirty="0" smtClean="0"/>
              <a:t>позволяет строить среднесрочные прогнозы с достаточным контекстом. </a:t>
            </a:r>
          </a:p>
          <a:p>
            <a:pPr marL="0" indent="0">
              <a:buNone/>
            </a:pPr>
            <a:r>
              <a:rPr lang="en-US" sz="2400" dirty="0" smtClean="0"/>
              <a:t>LSTM</a:t>
            </a:r>
            <a:r>
              <a:rPr lang="ru-RU" sz="2400" dirty="0" smtClean="0"/>
              <a:t> это </a:t>
            </a:r>
            <a:r>
              <a:rPr lang="ru-RU" sz="2400" dirty="0" err="1" smtClean="0"/>
              <a:t>бейзлайн</a:t>
            </a:r>
            <a:r>
              <a:rPr lang="ru-RU" sz="2400" dirty="0" smtClean="0"/>
              <a:t> </a:t>
            </a:r>
            <a:r>
              <a:rPr lang="en-US" sz="2400" dirty="0" smtClean="0"/>
              <a:t>DL </a:t>
            </a:r>
            <a:r>
              <a:rPr lang="ru-RU" sz="2400" dirty="0" smtClean="0"/>
              <a:t>моделей предсказания ВР</a:t>
            </a:r>
          </a:p>
        </p:txBody>
      </p:sp>
      <p:pic>
        <p:nvPicPr>
          <p:cNvPr id="8194" name="Picture 2" descr="LSTM predi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017" y="4210381"/>
            <a:ext cx="3895562" cy="251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RIMA predi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475" y="4173899"/>
            <a:ext cx="3728637" cy="249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The train and test subsets of the VWAP time seri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1" y="4267200"/>
            <a:ext cx="3582596" cy="239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254319" y="6502047"/>
            <a:ext cx="38373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https://neptune.ai/blog/arima-vs-prophet-vs-lstm</a:t>
            </a:r>
          </a:p>
        </p:txBody>
      </p:sp>
    </p:spTree>
    <p:extLst>
      <p:ext uri="{BB962C8B-B14F-4D97-AF65-F5344CB8AC3E}">
        <p14:creationId xmlns:p14="http://schemas.microsoft.com/office/powerpoint/2010/main" val="378870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5972" y="217642"/>
            <a:ext cx="11117826" cy="72625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Gated Recurrent </a:t>
            </a:r>
            <a:r>
              <a:rPr lang="en-US" dirty="0" smtClean="0"/>
              <a:t>Units (GRU)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7818" y="943898"/>
                <a:ext cx="11523407" cy="533891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200" b="1" dirty="0" smtClean="0"/>
                  <a:t>Гипотеза</a:t>
                </a:r>
                <a:r>
                  <a:rPr lang="ru-RU" sz="2200" dirty="0" smtClean="0"/>
                  <a:t>: число </a:t>
                </a:r>
                <a:r>
                  <a:rPr lang="ru-RU" sz="2200" dirty="0" err="1" smtClean="0"/>
                  <a:t>гейтов</a:t>
                </a:r>
                <a:r>
                  <a:rPr lang="ru-RU" sz="2200" dirty="0" smtClean="0"/>
                  <a:t> в </a:t>
                </a:r>
                <a:r>
                  <a:rPr lang="en-US" sz="2200" dirty="0" smtClean="0"/>
                  <a:t>LSTM</a:t>
                </a:r>
                <a:r>
                  <a:rPr lang="ru-RU" sz="2200" dirty="0" smtClean="0"/>
                  <a:t> избыточно. Память можно задавать исключительно элементами ее </a:t>
                </a:r>
              </a:p>
              <a:p>
                <a:r>
                  <a:rPr lang="ru-RU" sz="2200" dirty="0" smtClean="0"/>
                  <a:t>обновления (как сильно текущее состояние влияет на контекст – долгосрочная память)</a:t>
                </a:r>
                <a:endParaRPr lang="en-US" sz="2200" dirty="0" smtClean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sup>
                              </m:sSup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𝑢𝑝𝑑𝑎𝑡𝑒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dirty="0"/>
              </a:p>
              <a:p>
                <a:r>
                  <a:rPr lang="ru-RU" sz="2200" dirty="0" smtClean="0"/>
                  <a:t>Забвения (на сколько устарел контекст – краткосрочная память)</a:t>
                </a:r>
                <a:endParaRPr lang="ru-RU" sz="2200" dirty="0"/>
              </a:p>
              <a:p>
                <a:pPr marL="0" lv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ru-RU" sz="2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p>
                              </m:sSup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𝑟𝑒𝑠𝑒𝑡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 smtClean="0"/>
                  <a:t>Интеграция этих функций задет внутреннее состояние</a:t>
                </a:r>
                <a:r>
                  <a:rPr lang="en-US" sz="2200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̌"/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endParaRPr lang="ru-RU" sz="2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̌"/>
                              <m:ctrlPr>
                                <a:rPr lang="ru-RU" sz="2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⊙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 smtClean="0"/>
              </a:p>
              <a:p>
                <a:pPr marL="0" indent="0">
                  <a:buNone/>
                </a:pPr>
                <a:r>
                  <a:rPr lang="ru-RU" sz="2200" dirty="0" smtClean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 smtClean="0"/>
                  <a:t>=1 получается </a:t>
                </a:r>
                <a:r>
                  <a:rPr lang="en-US" sz="2200" dirty="0" smtClean="0"/>
                  <a:t>RNN </a:t>
                </a:r>
                <a:r>
                  <a:rPr lang="ru-RU" sz="2200" dirty="0" smtClean="0"/>
                  <a:t>(полный учет контекста)</a:t>
                </a:r>
                <a:r>
                  <a:rPr lang="en-US" sz="2200" dirty="0" smtClean="0"/>
                  <a:t>, </a:t>
                </a:r>
              </a:p>
              <a:p>
                <a:pPr marL="0" indent="0">
                  <a:buNone/>
                </a:pPr>
                <a:r>
                  <a:rPr lang="ru-RU" sz="2200" dirty="0" smtClean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 smtClean="0"/>
                  <a:t>=0 </a:t>
                </a:r>
                <a:r>
                  <a:rPr lang="en-US" sz="2200" dirty="0" smtClean="0"/>
                  <a:t>MLP (reset)</a:t>
                </a:r>
                <a:r>
                  <a:rPr lang="ru-RU" sz="2200" dirty="0" smtClean="0"/>
                  <a:t> </a:t>
                </a:r>
              </a:p>
              <a:p>
                <a:pPr marL="0" indent="0">
                  <a:buNone/>
                </a:pPr>
                <a:r>
                  <a:rPr lang="ru-RU" sz="2200" dirty="0" smtClean="0"/>
                  <a:t>состояние  памяти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 smtClean="0"/>
                  <a:t>– скользящее среднее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 smtClean="0"/>
                  <a:t> и текущего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ru-RU" sz="2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̌"/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200" dirty="0" smtClean="0"/>
              </a:p>
              <a:p>
                <a:pPr marL="0" indent="0">
                  <a:buNone/>
                </a:pPr>
                <a:r>
                  <a:rPr lang="ru-RU" dirty="0" smtClean="0"/>
                  <a:t>Такая ячейка - </a:t>
                </a:r>
                <a:r>
                  <a:rPr lang="en-US" dirty="0"/>
                  <a:t>Gated Recurrent Units (GRU)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818" y="943898"/>
                <a:ext cx="11523407" cy="5338915"/>
              </a:xfrm>
              <a:blipFill>
                <a:blip r:embed="rId2"/>
                <a:stretch>
                  <a:fillRect l="-1111" t="-14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235972" y="6374266"/>
            <a:ext cx="4928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https://d2l.ai/chapter_recurrent-modern/gru.html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1643" r="52807"/>
          <a:stretch/>
        </p:blipFill>
        <p:spPr>
          <a:xfrm>
            <a:off x="8229600" y="3930736"/>
            <a:ext cx="3962400" cy="281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5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5300" y="1913213"/>
            <a:ext cx="6434397" cy="4351338"/>
          </a:xfrm>
        </p:spPr>
        <p:txBody>
          <a:bodyPr/>
          <a:lstStyle/>
          <a:p>
            <a:r>
              <a:rPr lang="ru-RU" dirty="0" smtClean="0"/>
              <a:t>Несмотря на теоретическую обоснованность </a:t>
            </a:r>
            <a:r>
              <a:rPr lang="en-US" dirty="0" smtClean="0"/>
              <a:t>GRU </a:t>
            </a:r>
            <a:r>
              <a:rPr lang="ru-RU" dirty="0" smtClean="0"/>
              <a:t>как правило менее точные чем </a:t>
            </a:r>
            <a:r>
              <a:rPr lang="en-US" dirty="0" smtClean="0"/>
              <a:t>LSTM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469626" y="645863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https://github.com/haksorus/walmart-time-series?tab=readme-ov-file</a:t>
            </a:r>
          </a:p>
        </p:txBody>
      </p:sp>
      <p:pic>
        <p:nvPicPr>
          <p:cNvPr id="10242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064" y="478495"/>
            <a:ext cx="5207710" cy="2091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023" y="2851228"/>
            <a:ext cx="4355277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92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173622"/>
            <a:ext cx="6189031" cy="791736"/>
          </a:xfrm>
        </p:spPr>
        <p:txBody>
          <a:bodyPr/>
          <a:lstStyle/>
          <a:p>
            <a:pPr algn="ctr"/>
            <a:r>
              <a:rPr lang="en-US" dirty="0" smtClean="0"/>
              <a:t>ESRNN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1016001"/>
            <a:ext cx="6456533" cy="57721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b="1" dirty="0" smtClean="0"/>
              <a:t>Гибридная модель</a:t>
            </a:r>
          </a:p>
          <a:p>
            <a:r>
              <a:rPr lang="ru-RU" sz="2400" dirty="0" smtClean="0"/>
              <a:t>Часто часть ВР можно описать классически.</a:t>
            </a:r>
          </a:p>
          <a:p>
            <a:r>
              <a:rPr lang="ru-RU" sz="2400" b="1" dirty="0" smtClean="0"/>
              <a:t>Гипотеза</a:t>
            </a:r>
            <a:r>
              <a:rPr lang="ru-RU" sz="2400" dirty="0" smtClean="0"/>
              <a:t>: остаток ВР можно описать </a:t>
            </a:r>
            <a:r>
              <a:rPr lang="en-US" sz="2400" dirty="0" smtClean="0"/>
              <a:t>RNN</a:t>
            </a:r>
          </a:p>
          <a:p>
            <a:r>
              <a:rPr lang="ru-RU" sz="2400" dirty="0" smtClean="0"/>
              <a:t>Модель </a:t>
            </a:r>
            <a:r>
              <a:rPr lang="en-US" sz="2400" dirty="0" smtClean="0"/>
              <a:t>ES RNN </a:t>
            </a:r>
            <a:r>
              <a:rPr lang="ru-RU" sz="2400" dirty="0" smtClean="0"/>
              <a:t> описывает уровень и сезонность при помощи </a:t>
            </a:r>
            <a:r>
              <a:rPr lang="en-US" sz="2400" dirty="0" smtClean="0"/>
              <a:t>ETS (HW).</a:t>
            </a:r>
          </a:p>
          <a:p>
            <a:r>
              <a:rPr lang="ru-RU" sz="2400" dirty="0" smtClean="0"/>
              <a:t>Мультипликативный остаток описывается </a:t>
            </a:r>
            <a:r>
              <a:rPr lang="en-US" sz="2400" dirty="0" smtClean="0"/>
              <a:t>LSTM.</a:t>
            </a:r>
          </a:p>
          <a:p>
            <a:pPr lvl="1"/>
            <a:r>
              <a:rPr lang="en-US" sz="2000" dirty="0" smtClean="0"/>
              <a:t>LSTM temporal</a:t>
            </a:r>
          </a:p>
          <a:p>
            <a:r>
              <a:rPr lang="ru-RU" sz="2400" dirty="0" smtClean="0"/>
              <a:t>Подбор параметров обоих алгоритмов проводится совместно.</a:t>
            </a:r>
          </a:p>
          <a:p>
            <a:pPr marL="0" indent="0">
              <a:buNone/>
            </a:pPr>
            <a:r>
              <a:rPr lang="ru-RU" b="1" dirty="0"/>
              <a:t>Преимущества:</a:t>
            </a:r>
            <a:endParaRPr lang="ru-RU" dirty="0"/>
          </a:p>
          <a:p>
            <a:pPr lvl="1"/>
            <a:r>
              <a:rPr lang="ru-RU" b="1" dirty="0"/>
              <a:t>Интерпретируемость:</a:t>
            </a:r>
            <a:r>
              <a:rPr lang="ru-RU" dirty="0"/>
              <a:t> </a:t>
            </a:r>
            <a:r>
              <a:rPr lang="ru-RU" dirty="0" smtClean="0"/>
              <a:t> </a:t>
            </a:r>
            <a:r>
              <a:rPr lang="ru-RU" dirty="0"/>
              <a:t>в </a:t>
            </a:r>
            <a:r>
              <a:rPr lang="ru-RU" dirty="0" smtClean="0"/>
              <a:t>классическом </a:t>
            </a:r>
            <a:r>
              <a:rPr lang="ru-RU" dirty="0"/>
              <a:t>ETS.</a:t>
            </a:r>
          </a:p>
          <a:p>
            <a:pPr lvl="1"/>
            <a:r>
              <a:rPr lang="ru-RU" b="1" dirty="0"/>
              <a:t>Гибкость:</a:t>
            </a:r>
            <a:r>
              <a:rPr lang="ru-RU" dirty="0"/>
              <a:t> Модель сама учится, какие компоненты (</a:t>
            </a:r>
            <a:r>
              <a:rPr lang="ru-RU" dirty="0" err="1"/>
              <a:t>Error</a:t>
            </a:r>
            <a:r>
              <a:rPr lang="ru-RU" dirty="0"/>
              <a:t>, </a:t>
            </a:r>
            <a:r>
              <a:rPr lang="ru-RU" dirty="0" err="1"/>
              <a:t>Trend</a:t>
            </a:r>
            <a:r>
              <a:rPr lang="ru-RU" dirty="0"/>
              <a:t>, </a:t>
            </a:r>
            <a:r>
              <a:rPr lang="ru-RU" dirty="0" err="1"/>
              <a:t>Seasonality</a:t>
            </a:r>
            <a:r>
              <a:rPr lang="ru-RU" dirty="0"/>
              <a:t>) и их тип </a:t>
            </a:r>
            <a:r>
              <a:rPr lang="ru-RU" dirty="0" smtClean="0"/>
              <a:t>важны </a:t>
            </a:r>
            <a:r>
              <a:rPr lang="ru-RU" dirty="0"/>
              <a:t>для ряда</a:t>
            </a:r>
            <a:r>
              <a:rPr lang="ru-RU" dirty="0" smtClean="0"/>
              <a:t>.</a:t>
            </a:r>
          </a:p>
          <a:p>
            <a:pPr lvl="1"/>
            <a:r>
              <a:rPr lang="ru-RU" b="1" dirty="0" err="1"/>
              <a:t>Н</a:t>
            </a:r>
            <a:r>
              <a:rPr lang="ru-RU" b="1" dirty="0" err="1" smtClean="0"/>
              <a:t>еизбыточность</a:t>
            </a:r>
            <a:r>
              <a:rPr lang="ru-RU" dirty="0" smtClean="0"/>
              <a:t> - </a:t>
            </a:r>
            <a:r>
              <a:rPr lang="en-US" dirty="0" smtClean="0"/>
              <a:t>RNN </a:t>
            </a:r>
            <a:r>
              <a:rPr lang="ru-RU" dirty="0" smtClean="0"/>
              <a:t>только там, где она нужна.</a:t>
            </a:r>
            <a:endParaRPr lang="ru-RU" dirty="0"/>
          </a:p>
        </p:txBody>
      </p:sp>
      <p:sp>
        <p:nvSpPr>
          <p:cNvPr id="4" name="AutoShape 2" descr="https://miro.medium.com/v2/resize:fit:875/1*E-9obpPKnIRRAjZu9drfMg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406" y="4241025"/>
            <a:ext cx="5514096" cy="14097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535487" y="6455745"/>
            <a:ext cx="4365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https://ar5iv.labs.arxiv.org/html/1907.03329</a:t>
            </a:r>
            <a:endParaRPr lang="ru-RU" dirty="0"/>
          </a:p>
        </p:txBody>
      </p:sp>
      <p:pic>
        <p:nvPicPr>
          <p:cNvPr id="1028" name="Picture 4" descr="Refer to caption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108" y="253177"/>
            <a:ext cx="5197574" cy="3648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18277" y="651115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https://www.sciencedirect.com/science/article/abs/pii/S0169207019301153</a:t>
            </a:r>
          </a:p>
        </p:txBody>
      </p:sp>
    </p:spTree>
    <p:extLst>
      <p:ext uri="{BB962C8B-B14F-4D97-AF65-F5344CB8AC3E}">
        <p14:creationId xmlns:p14="http://schemas.microsoft.com/office/powerpoint/2010/main" val="1171104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0904" y="52891"/>
            <a:ext cx="6623824" cy="6607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Deep AR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1235" y="602806"/>
            <a:ext cx="6846849" cy="598588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500" b="1" dirty="0" smtClean="0"/>
              <a:t>Преимущества, особенности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500" dirty="0" smtClean="0"/>
              <a:t>Вероятностное </a:t>
            </a:r>
            <a:r>
              <a:rPr lang="ru-RU" sz="2500" dirty="0"/>
              <a:t>предсказание: </a:t>
            </a:r>
            <a:r>
              <a:rPr lang="ru-RU" sz="2500" dirty="0" smtClean="0"/>
              <a:t>предсказывает </a:t>
            </a:r>
            <a:r>
              <a:rPr lang="ru-RU" sz="2500" dirty="0"/>
              <a:t>распределение (например, нормальное, отрицательное биномиальное</a:t>
            </a:r>
            <a:r>
              <a:rPr lang="ru-RU" sz="2500" dirty="0" smtClean="0"/>
              <a:t>). Предсказание – медиана распределения.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Выбор распределение – подстройка к разным типам данных (напр. для счетных данных</a:t>
            </a:r>
            <a:r>
              <a:rPr lang="ru-RU" sz="2500" dirty="0" smtClean="0"/>
              <a:t>)</a:t>
            </a:r>
            <a:endParaRPr lang="en-US" sz="25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500" dirty="0" err="1" smtClean="0"/>
              <a:t>Лосс</a:t>
            </a:r>
            <a:r>
              <a:rPr lang="ru-RU" sz="2500" dirty="0" smtClean="0"/>
              <a:t> – по распределению</a:t>
            </a:r>
            <a:endParaRPr lang="ru-RU" sz="25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500" dirty="0" smtClean="0"/>
              <a:t>Авторегрессия на основе </a:t>
            </a:r>
            <a:r>
              <a:rPr lang="en-US" sz="2500" dirty="0" smtClean="0"/>
              <a:t>RNN </a:t>
            </a:r>
            <a:r>
              <a:rPr lang="ru-RU" sz="2500" dirty="0" smtClean="0"/>
              <a:t>моделирует динамику от времени.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500" dirty="0" smtClean="0"/>
              <a:t>Можно добавлять экзогенные факторы.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500" b="1" dirty="0"/>
              <a:t>Недостатки </a:t>
            </a:r>
            <a:r>
              <a:rPr lang="ru-RU" sz="2500" b="1" dirty="0" err="1"/>
              <a:t>DeepAR</a:t>
            </a:r>
            <a:endParaRPr lang="ru-RU" sz="25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Требуется </a:t>
            </a:r>
            <a:r>
              <a:rPr lang="ru-RU" sz="2500" dirty="0" smtClean="0"/>
              <a:t>много данных для обучения.</a:t>
            </a:r>
            <a:endParaRPr lang="ru-RU" sz="25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Нет настройки модели для отдельных </a:t>
            </a:r>
            <a:r>
              <a:rPr lang="ru-RU" sz="2500" dirty="0" smtClean="0"/>
              <a:t>ВР.</a:t>
            </a:r>
            <a:endParaRPr lang="ru-RU" sz="25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Данные должны </a:t>
            </a:r>
            <a:r>
              <a:rPr lang="ru-RU" sz="2500" dirty="0" smtClean="0"/>
              <a:t>нормироваться.</a:t>
            </a:r>
            <a:endParaRPr lang="ru-RU" sz="25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Позволяют получить сравнительно высокую производительность только на огромном объекте объединенных данных. </a:t>
            </a:r>
          </a:p>
          <a:p>
            <a:endParaRPr lang="ru-RU" sz="24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4121"/>
          <a:stretch/>
        </p:blipFill>
        <p:spPr>
          <a:xfrm>
            <a:off x="7002966" y="2738812"/>
            <a:ext cx="5189034" cy="411918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50607"/>
          <a:stretch/>
        </p:blipFill>
        <p:spPr>
          <a:xfrm>
            <a:off x="6969514" y="0"/>
            <a:ext cx="4902454" cy="268810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855749" y="6631711"/>
            <a:ext cx="40312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https://www.telesens.co/2019/06/08/time-series-prediction/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6905" y="6604084"/>
            <a:ext cx="382348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https://blog.dataiku.com/deep-learning-time-series-forecasting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3453" y="643026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50" dirty="0" smtClean="0"/>
              <a:t>https://readmedium.com/deepar-mastering-time-series-forecasting-with-deep-learning-bc717771ce85</a:t>
            </a:r>
            <a:endParaRPr lang="ru-RU" sz="105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743063" y="6422568"/>
            <a:ext cx="22666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https://arxiv.org/pdf/1704.04110</a:t>
            </a:r>
          </a:p>
        </p:txBody>
      </p:sp>
    </p:spTree>
    <p:extLst>
      <p:ext uri="{BB962C8B-B14F-4D97-AF65-F5344CB8AC3E}">
        <p14:creationId xmlns:p14="http://schemas.microsoft.com/office/powerpoint/2010/main" val="13369715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5623</TotalTime>
  <Words>739</Words>
  <Application>Microsoft Office PowerPoint</Application>
  <PresentationFormat>Широкоэкранный</PresentationFormat>
  <Paragraphs>188</Paragraphs>
  <Slides>20</Slides>
  <Notes>0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-apple-system</vt:lpstr>
      <vt:lpstr>Arial</vt:lpstr>
      <vt:lpstr>Calibri</vt:lpstr>
      <vt:lpstr>Calibri Light</vt:lpstr>
      <vt:lpstr>Cambria Math</vt:lpstr>
      <vt:lpstr>var(--jp-code-font-family)</vt:lpstr>
      <vt:lpstr>Тема Office</vt:lpstr>
      <vt:lpstr>Использование методов глубокого обучения в анализе временных рядов</vt:lpstr>
      <vt:lpstr>Проблемы AR – Net подхода</vt:lpstr>
      <vt:lpstr>Проблемы MLP подхода для сложных паттернов</vt:lpstr>
      <vt:lpstr>Рекуррентные подходы.</vt:lpstr>
      <vt:lpstr>Простая рекуррентная нейронные сети</vt:lpstr>
      <vt:lpstr>RNN Интуиция</vt:lpstr>
      <vt:lpstr>RNN типы подходов</vt:lpstr>
      <vt:lpstr>RNN. Особенности обучения </vt:lpstr>
      <vt:lpstr>RNN. Ограниченное обучение</vt:lpstr>
      <vt:lpstr>Расширение контекста RNN</vt:lpstr>
      <vt:lpstr>BiDiretional RNN</vt:lpstr>
      <vt:lpstr>Рекуррентные нейронные сети</vt:lpstr>
      <vt:lpstr>Долгосрочно-краткосрочная RNN = LSTM</vt:lpstr>
      <vt:lpstr>Долгосрочно-краткосрочная RNN = LSTM</vt:lpstr>
      <vt:lpstr>Долгосрочно-краткосрочная RNN = LSTM</vt:lpstr>
      <vt:lpstr>Долгосрочно-краткосрочная RNN = LSTM</vt:lpstr>
      <vt:lpstr>Gated Recurrent Units (GRU)</vt:lpstr>
      <vt:lpstr>Презентация PowerPoint</vt:lpstr>
      <vt:lpstr>ESRNN</vt:lpstr>
      <vt:lpstr>Deep 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363</cp:revision>
  <dcterms:created xsi:type="dcterms:W3CDTF">2021-11-21T16:45:21Z</dcterms:created>
  <dcterms:modified xsi:type="dcterms:W3CDTF">2025-08-29T05:38:05Z</dcterms:modified>
</cp:coreProperties>
</file>