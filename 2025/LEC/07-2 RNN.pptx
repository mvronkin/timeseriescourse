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07" r:id="rId3"/>
    <p:sldId id="409" r:id="rId4"/>
    <p:sldId id="422" r:id="rId5"/>
    <p:sldId id="425" r:id="rId6"/>
    <p:sldId id="426" r:id="rId7"/>
    <p:sldId id="429" r:id="rId8"/>
    <p:sldId id="428" r:id="rId9"/>
    <p:sldId id="444" r:id="rId10"/>
    <p:sldId id="445" r:id="rId11"/>
    <p:sldId id="446" r:id="rId12"/>
    <p:sldId id="447" r:id="rId13"/>
    <p:sldId id="448" r:id="rId14"/>
    <p:sldId id="449" r:id="rId15"/>
    <p:sldId id="450" r:id="rId16"/>
    <p:sldId id="451" r:id="rId17"/>
    <p:sldId id="452" r:id="rId18"/>
    <p:sldId id="453" r:id="rId19"/>
    <p:sldId id="455" r:id="rId20"/>
    <p:sldId id="454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92" autoAdjust="0"/>
    <p:restoredTop sz="94660"/>
  </p:normalViewPr>
  <p:slideViewPr>
    <p:cSldViewPr snapToGrid="0">
      <p:cViewPr varScale="1">
        <p:scale>
          <a:sx n="86" d="100"/>
          <a:sy n="86" d="100"/>
        </p:scale>
        <p:origin x="126" y="9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l="9877" r="56759" b="16188"/>
          <a:stretch/>
        </p:blipFill>
        <p:spPr>
          <a:xfrm>
            <a:off x="8826499" y="4402754"/>
            <a:ext cx="2717800" cy="2187849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7287" y="188144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Проблемы </a:t>
            </a:r>
            <a:r>
              <a:rPr lang="en-US" b="1" dirty="0" smtClean="0"/>
              <a:t>AR – Net </a:t>
            </a:r>
            <a:r>
              <a:rPr lang="ru-RU" b="1" dirty="0" smtClean="0"/>
              <a:t>подхода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8629" y="670962"/>
            <a:ext cx="11887199" cy="5240529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000" b="1" dirty="0" smtClean="0"/>
              <a:t>Преимущества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Можно использовать </a:t>
            </a:r>
            <a:r>
              <a:rPr lang="ru-RU" sz="2000" b="1" dirty="0" smtClean="0"/>
              <a:t>несколько ВР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Работает </a:t>
            </a:r>
            <a:r>
              <a:rPr lang="ru-RU" sz="2000" b="1" dirty="0" smtClean="0"/>
              <a:t>для сложных паттернов</a:t>
            </a:r>
            <a:r>
              <a:rPr lang="ru-RU" sz="2000" dirty="0" smtClean="0"/>
              <a:t>, несводимых к стационарным ВР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Свобода выбора функции потерь – </a:t>
            </a:r>
            <a:r>
              <a:rPr lang="ru-RU" sz="2000" b="1" dirty="0" smtClean="0"/>
              <a:t>возможность регуляризации</a:t>
            </a:r>
            <a:r>
              <a:rPr lang="ru-RU" sz="2000" dirty="0" smtClean="0"/>
              <a:t>.</a:t>
            </a:r>
            <a:endParaRPr lang="en-US" sz="2000" dirty="0" smtClean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000" b="1" dirty="0" smtClean="0"/>
              <a:t>Недостатки </a:t>
            </a:r>
            <a:r>
              <a:rPr lang="en-US" sz="2000" b="1" dirty="0" smtClean="0"/>
              <a:t>AR-Net, NAR</a:t>
            </a:r>
            <a:endParaRPr lang="ru-RU" sz="2000" b="1" dirty="0" smtClean="0"/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err="1" smtClean="0"/>
              <a:t>Полносвязная</a:t>
            </a:r>
            <a:r>
              <a:rPr lang="ru-RU" sz="2000" dirty="0" smtClean="0"/>
              <a:t> структура на длинном окне (несколько периодов, паттернов и </a:t>
            </a:r>
            <a:r>
              <a:rPr lang="ru-RU" sz="2000" dirty="0" err="1" smtClean="0"/>
              <a:t>тд</a:t>
            </a:r>
            <a:r>
              <a:rPr lang="ru-RU" sz="2000" dirty="0" smtClean="0"/>
              <a:t>) </a:t>
            </a:r>
            <a:r>
              <a:rPr lang="ru-RU" sz="2000" b="1" dirty="0" smtClean="0"/>
              <a:t>нарушает казуальную структуру ВР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Связь между положениями окна, проходящего по ВР основывается только на результате предсказания – это может скрыть паттерны ВР </a:t>
            </a:r>
            <a:r>
              <a:rPr lang="ru-RU" sz="2000" b="1" dirty="0" smtClean="0"/>
              <a:t>(неверный учет контекста)</a:t>
            </a:r>
            <a:r>
              <a:rPr lang="ru-RU" sz="2000" dirty="0" smtClean="0"/>
              <a:t>.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b="1" dirty="0" smtClean="0"/>
              <a:t>Сложная интерпретация результатов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Нет Возможности </a:t>
            </a:r>
            <a:r>
              <a:rPr lang="ru-RU" sz="2000" dirty="0"/>
              <a:t>предсказания последовательности семплов за один шаг.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Сеть дает хуже результаты если </a:t>
            </a:r>
            <a:r>
              <a:rPr lang="en-US" sz="2000" dirty="0" smtClean="0"/>
              <a:t>AR </a:t>
            </a:r>
            <a:r>
              <a:rPr lang="ru-RU" sz="2000" dirty="0" smtClean="0"/>
              <a:t>работает</a:t>
            </a:r>
            <a:endParaRPr lang="ru-RU" sz="20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l="56596" t="1" r="3952" b="855"/>
          <a:stretch/>
        </p:blipFill>
        <p:spPr>
          <a:xfrm>
            <a:off x="5792666" y="4275057"/>
            <a:ext cx="3033833" cy="2443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815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49580" y="238125"/>
            <a:ext cx="11094720" cy="56451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Проблемы </a:t>
            </a:r>
            <a:r>
              <a:rPr lang="en-US" b="1" dirty="0" smtClean="0"/>
              <a:t>MLP </a:t>
            </a:r>
            <a:r>
              <a:rPr lang="ru-RU" b="1" dirty="0" smtClean="0"/>
              <a:t>подхода для сложных паттернов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482600" y="719512"/>
                <a:ext cx="11709400" cy="570484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smtClean="0"/>
                  <a:t>MLP </a:t>
                </a:r>
                <a:r>
                  <a:rPr lang="ru-RU" sz="2200" dirty="0" smtClean="0"/>
                  <a:t>предсказание</a:t>
                </a:r>
                <a:r>
                  <a:rPr lang="en-US" sz="2200" dirty="0" smtClean="0"/>
                  <a:t> (AR-NET)</a:t>
                </a:r>
                <a:r>
                  <a:rPr lang="ru-RU" sz="2200" dirty="0" smtClean="0"/>
                  <a:t> можно описать как</a:t>
                </a:r>
                <a:endParaRPr lang="en-US" sz="2200" dirty="0" smtClean="0"/>
              </a:p>
              <a:p>
                <a:pPr marL="0" indent="0" algn="ctr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sSub>
                          <m:sSub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sup>
                              <m:e>
                                <m:sSubSup>
                                  <m:sSubSupPr>
                                    <m:ctrlP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Таким образом предсказание – результат обработки окна размером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ru-RU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Недостаток такой модели – контекст окружения окна  (память) не учитывается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	или учитывается неявно, когда заменяем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200" dirty="0" smtClean="0"/>
                  <a:t> 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endParaRPr lang="ru-RU" sz="2200" b="0" i="0" dirty="0" smtClean="0"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>
                    <a:latin typeface="+mj-lt"/>
                  </a:rPr>
                  <a:t>	</a:t>
                </a:r>
                <a:r>
                  <a:rPr lang="ru-RU" sz="2200" b="0" i="0" dirty="0" smtClean="0">
                    <a:latin typeface="+mj-lt"/>
                  </a:rPr>
                  <a:t>но тогда не учитываются ошибки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200" dirty="0"/>
                  <a:t> </a:t>
                </a:r>
                <a:r>
                  <a:rPr lang="ru-RU" sz="2200" dirty="0" smtClean="0"/>
                  <a:t>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ru-RU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Если во ВР есть сложные паттерны, непопадающие в окно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2200" dirty="0" smtClean="0"/>
                  <a:t> их влияние не учитывается (а оно есть) – ошибки предсказания растет.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	Это особенно плохо для среднесрочных и долгосрочных предсказаний.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200" dirty="0" smtClean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600" y="719512"/>
                <a:ext cx="11709400" cy="5704840"/>
              </a:xfrm>
              <a:blipFill>
                <a:blip r:embed="rId2"/>
                <a:stretch>
                  <a:fillRect l="-677" t="-27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Прямоугольник 5"/>
          <p:cNvSpPr/>
          <p:nvPr/>
        </p:nvSpPr>
        <p:spPr>
          <a:xfrm>
            <a:off x="5569526" y="6596390"/>
            <a:ext cx="7232073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https://machinelearningmastery.com/time-series-prediction-lstm-recurrent-neural-networks-python-keras/</a:t>
            </a:r>
            <a:endParaRPr lang="ru-RU" sz="1100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91" y="4206351"/>
            <a:ext cx="4686300" cy="2520844"/>
          </a:xfrm>
          <a:prstGeom prst="rect">
            <a:avLst/>
          </a:prstGeom>
        </p:spPr>
      </p:pic>
      <p:sp>
        <p:nvSpPr>
          <p:cNvPr id="11" name="Прямоугольник 10"/>
          <p:cNvSpPr/>
          <p:nvPr/>
        </p:nvSpPr>
        <p:spPr>
          <a:xfrm>
            <a:off x="5141769" y="5078123"/>
            <a:ext cx="577561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/>
              <a:t>Выбор неправильных параметров модели может привести к ошибке.</a:t>
            </a:r>
          </a:p>
          <a:p>
            <a:r>
              <a:rPr lang="ru-RU" dirty="0" smtClean="0"/>
              <a:t>Напр. на коротком окне тренд вместо степенного можно воспринять как линейный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3529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79077" y="212605"/>
            <a:ext cx="11094720" cy="56451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Рекуррентные подходы.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79400" y="802640"/>
                <a:ext cx="11709400" cy="570484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 smtClean="0"/>
                  <a:t>MLP </a:t>
                </a:r>
                <a:r>
                  <a:rPr lang="ru-RU" sz="2400" dirty="0" smtClean="0"/>
                  <a:t>предсказание</a:t>
                </a:r>
                <a:r>
                  <a:rPr lang="en-US" sz="2400" dirty="0" smtClean="0"/>
                  <a:t> (AR-NET)</a:t>
                </a:r>
                <a:r>
                  <a:rPr lang="ru-RU" sz="2400" dirty="0" smtClean="0"/>
                  <a:t> можно описать как</a:t>
                </a:r>
                <a:endParaRPr lang="en-US" sz="2400" dirty="0" smtClean="0"/>
              </a:p>
              <a:p>
                <a:pPr marL="0" indent="0" algn="ctr">
                  <a:buNone/>
                </a:pPr>
                <a:r>
                  <a:rPr lang="ru-RU" sz="24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sup>
                              <m:e>
                                <m:sSubSup>
                                  <m:sSubSup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 smtClean="0"/>
              </a:p>
              <a:p>
                <a:pPr marL="0" indent="0" algn="ctr">
                  <a:buNone/>
                </a:pPr>
                <a:r>
                  <a:rPr lang="ru-RU" sz="2400" dirty="0" smtClean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b="0" i="0" dirty="0" smtClean="0">
                    <a:latin typeface="+mj-lt"/>
                    <a:ea typeface="Cambria Math" panose="02040503050406030204" pitchFamily="18" charset="0"/>
                  </a:rPr>
                  <a:t>-</a:t>
                </a:r>
                <a:r>
                  <a:rPr lang="ru-RU" sz="2400" b="0" i="0" dirty="0" smtClean="0">
                    <a:latin typeface="+mj-lt"/>
                    <a:ea typeface="Cambria Math" panose="02040503050406030204" pitchFamily="18" charset="0"/>
                  </a:rPr>
                  <a:t> </a:t>
                </a:r>
                <a:r>
                  <a:rPr lang="ru-RU" sz="2400" dirty="0"/>
                  <a:t>типы слоев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ru-RU" sz="2400" dirty="0" smtClean="0"/>
                  <a:t>Пусть мы хотим учитывать предыдущие состояние</a:t>
                </a:r>
                <a:r>
                  <a:rPr lang="en-US" sz="2400" dirty="0" smtClean="0"/>
                  <a:t> </a:t>
                </a:r>
                <a:r>
                  <a:rPr lang="ru-RU" sz="2400" dirty="0" smtClean="0"/>
                  <a:t>слоя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2400" dirty="0" smtClean="0"/>
                  <a:t> при моделировании текущего состояния</a:t>
                </a:r>
              </a:p>
              <a:p>
                <a:pPr marL="0" indent="0" algn="ctr">
                  <a:buNone/>
                </a:pPr>
                <a:r>
                  <a:rPr lang="ru-RU" sz="24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sSubSup>
                      <m:sSub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p>
                    </m:sSubSup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bSup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400" b="0" i="0" dirty="0" smtClean="0">
                    <a:latin typeface="+mj-lt"/>
                    <a:ea typeface="Cambria Math" panose="02040503050406030204" pitchFamily="18" charset="0"/>
                  </a:rPr>
                  <a:t>, </a:t>
                </a:r>
              </a:p>
              <a:p>
                <a:pPr marL="0" indent="0">
                  <a:buNone/>
                </a:pPr>
                <a:r>
                  <a:rPr lang="ru-RU" sz="2400" dirty="0" smtClean="0">
                    <a:ea typeface="Cambria Math" panose="02040503050406030204" pitchFamily="18" charset="0"/>
                  </a:rPr>
                  <a:t>где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bSup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ru-RU" sz="2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400" b="0" i="0" dirty="0" smtClean="0">
                    <a:latin typeface="+mj-lt"/>
                    <a:ea typeface="Cambria Math" panose="02040503050406030204" pitchFamily="18" charset="0"/>
                  </a:rPr>
                  <a:t> </a:t>
                </a:r>
                <a:r>
                  <a:rPr lang="ru-RU" sz="2400" dirty="0" smtClean="0">
                    <a:latin typeface="+mj-lt"/>
                    <a:ea typeface="Cambria Math" panose="02040503050406030204" pitchFamily="18" charset="0"/>
                  </a:rPr>
                  <a:t>влияние </a:t>
                </a:r>
                <a:r>
                  <a:rPr lang="ru-RU" sz="2400" b="0" i="0" dirty="0" smtClean="0">
                    <a:latin typeface="+mj-lt"/>
                    <a:ea typeface="Cambria Math" panose="02040503050406030204" pitchFamily="18" charset="0"/>
                  </a:rPr>
                  <a:t>предыдущего состояния (контекст/память/ функция перехода </a:t>
                </a:r>
                <a:r>
                  <a:rPr lang="en-US" sz="2400" b="0" i="0" dirty="0" smtClean="0">
                    <a:latin typeface="+mj-lt"/>
                    <a:ea typeface="Cambria Math" panose="02040503050406030204" pitchFamily="18" charset="0"/>
                  </a:rPr>
                  <a:t>/ </a:t>
                </a:r>
                <a:r>
                  <a:rPr lang="ru-RU" sz="2400" b="0" i="0" dirty="0" smtClean="0">
                    <a:latin typeface="+mj-lt"/>
                    <a:ea typeface="Cambria Math" panose="02040503050406030204" pitchFamily="18" charset="0"/>
                  </a:rPr>
                  <a:t>скрытое состояние ВР – </a:t>
                </a:r>
                <a:r>
                  <a:rPr lang="en-US" sz="2400" b="0" i="0" dirty="0" smtClean="0">
                    <a:latin typeface="+mj-lt"/>
                    <a:ea typeface="Cambria Math" panose="02040503050406030204" pitchFamily="18" charset="0"/>
                  </a:rPr>
                  <a:t>hidden state (h)</a:t>
                </a:r>
                <a:r>
                  <a:rPr lang="ru-RU" sz="2400" b="0" i="0" dirty="0" smtClean="0">
                    <a:latin typeface="+mj-lt"/>
                    <a:ea typeface="Cambria Math" panose="02040503050406030204" pitchFamily="18" charset="0"/>
                  </a:rPr>
                  <a:t>)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endParaRPr lang="ru-RU" sz="2400" dirty="0" smtClean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ru-RU" sz="2400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sup>
                              <m:e>
                                <m:sSubSup>
                                  <m:sSub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ru-RU" sz="2400" b="0" i="1" dirty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sup>
                              <m:e>
                                <m:sSubSup>
                                  <m:sSub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𝑛𝑖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  <m:r>
                          <m:rPr>
                            <m:nor/>
                          </m:rPr>
                          <a:rPr lang="en-US" sz="2400" dirty="0"/>
                          <m:t> </m:t>
                        </m:r>
                      </m:e>
                    </m:nary>
                  </m:oMath>
                </a14:m>
                <a:r>
                  <a:rPr lang="ru-RU" sz="2400" dirty="0" smtClean="0"/>
                  <a:t> </a:t>
                </a:r>
                <a:endParaRPr lang="en-US" sz="2400" dirty="0" smtClean="0"/>
              </a:p>
              <a:p>
                <a:pPr marL="0" indent="0">
                  <a:buNone/>
                </a:pPr>
                <a:r>
                  <a:rPr lang="ru-RU" sz="2400" dirty="0" smtClean="0"/>
                  <a:t>где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400" dirty="0" smtClean="0"/>
                  <a:t> - </a:t>
                </a:r>
                <a:r>
                  <a:rPr lang="ru-RU" sz="2400" dirty="0" smtClean="0"/>
                  <a:t>вектор предыдущих состояний для шага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sz="2400" dirty="0" smtClean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ru-RU" sz="2400" dirty="0" smtClean="0"/>
                  <a:t> - коэффициенты слоя перехода от состояния </a:t>
                </a:r>
                <a:r>
                  <a:rPr lang="en-US" sz="2400" dirty="0" smtClean="0"/>
                  <a:t>n </a:t>
                </a:r>
                <a:r>
                  <a:rPr lang="ru-RU" sz="2400" dirty="0" smtClean="0"/>
                  <a:t>к состоянию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ru-RU" sz="2400" dirty="0" smtClean="0"/>
                  <a:t>.</a:t>
                </a:r>
                <a:endParaRPr lang="en-US" sz="2400" dirty="0" smtClean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9400" y="802640"/>
                <a:ext cx="11709400" cy="5704840"/>
              </a:xfrm>
              <a:blipFill>
                <a:blip r:embed="rId2"/>
                <a:stretch>
                  <a:fillRect l="-833" t="-1496" r="-10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7558831" y="6507480"/>
            <a:ext cx="45080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https://d2l.ai/chapter_recurrent-neural-networks/rnn.html</a:t>
            </a:r>
          </a:p>
        </p:txBody>
      </p:sp>
    </p:spTree>
    <p:extLst>
      <p:ext uri="{BB962C8B-B14F-4D97-AF65-F5344CB8AC3E}">
        <p14:creationId xmlns:p14="http://schemas.microsoft.com/office/powerpoint/2010/main" val="590710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-7374" y="716433"/>
                <a:ext cx="121993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i="1" dirty="0" smtClean="0">
                    <a:latin typeface="Cambria Math" panose="02040503050406030204" pitchFamily="18" charset="0"/>
                  </a:rPr>
                  <a:t>Перепишем уравнение</a:t>
                </a:r>
                <a:endParaRPr lang="en-US" sz="2200" i="1" dirty="0" smtClean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en-US" sz="22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sSubSup>
                            <m:sSub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ru-RU" sz="22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𝑖𝑗</m:t>
                                      </m:r>
                                    </m:sub>
                                    <m:sup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p>
                                  </m:sSubSup>
                                  <m:sSub>
                                    <m:sSub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nary>
                              <m:r>
                                <a:rPr lang="ru-RU" sz="2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𝑖𝑗</m:t>
                                      </m:r>
                                    </m:sub>
                                    <m:sup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p>
                                  </m:sSubSup>
                                  <m:sSub>
                                    <m:sSub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𝑛𝑖</m:t>
                                      </m:r>
                                    </m:sub>
                                  </m:sSub>
                                  <m:r>
                                    <a:rPr lang="en-US" sz="220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</m:e>
                              </m:nary>
                              <m:sSubSup>
                                <m:sSubSupPr>
                                  <m:ctrlPr>
                                    <a:rPr lang="en-US" sz="22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20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°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𝑅𝑁𝑁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en-US" sz="2200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US" sz="2200" dirty="0" smtClean="0"/>
              </a:p>
              <a:p>
                <a:r>
                  <a:rPr lang="ru-RU" sz="2200" dirty="0" smtClean="0"/>
                  <a:t>Сеть </a:t>
                </a:r>
                <a:r>
                  <a:rPr lang="ru-RU" sz="2200" dirty="0" err="1"/>
                  <a:t>Элмана</a:t>
                </a:r>
                <a:r>
                  <a:rPr lang="ru-RU" sz="2200" dirty="0"/>
                  <a:t> </a:t>
                </a:r>
                <a:r>
                  <a:rPr lang="ru-RU" sz="2200" dirty="0" smtClean="0"/>
                  <a:t>или </a:t>
                </a:r>
                <a:r>
                  <a:rPr lang="en-US" sz="2200" dirty="0"/>
                  <a:t>Simple RNN/Vanilla RNN</a:t>
                </a:r>
                <a:r>
                  <a:rPr lang="ru-RU" sz="2200" dirty="0" smtClean="0"/>
                  <a:t>:</a:t>
                </a:r>
                <a:endParaRPr lang="en-US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6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ru-RU" sz="220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limLoc m:val="subSup"/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𝑛𝑖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e>
                          </m:nary>
                          <m:sSubSup>
                            <m:sSub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p>
                          </m:sSubSup>
                        </m:e>
                      </m:d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bSup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6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en-US" sz="22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sSubSup>
                            <m:sSub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nary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ru-RU" sz="2200" dirty="0" smtClean="0"/>
              </a:p>
              <a:p>
                <a:pPr marL="0" indent="0">
                  <a:buNone/>
                </a:pPr>
                <a:r>
                  <a:rPr lang="ru-RU" sz="2200" dirty="0"/>
                  <a:t>В  силу использования предыдущего состояния предсказания в текущем зависимость становится рекуррентной. Слой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𝑅𝑁𝑁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200" dirty="0"/>
                  <a:t> – рекуррентный слой.</a:t>
                </a:r>
              </a:p>
              <a:p>
                <a:pPr marL="0" indent="0">
                  <a:buNone/>
                </a:pPr>
                <a:endParaRPr lang="en-US" sz="2200" dirty="0" smtClean="0"/>
              </a:p>
              <a:p>
                <a:endParaRPr lang="ru-RU" sz="2200" dirty="0"/>
              </a:p>
              <a:p>
                <a:pPr marL="0" indent="0">
                  <a:buNone/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-7374" y="716433"/>
                <a:ext cx="12199374" cy="4351338"/>
              </a:xfrm>
              <a:blipFill>
                <a:blip r:embed="rId2"/>
                <a:stretch>
                  <a:fillRect l="-650" t="-18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733567" y="40069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326923" y="276129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0" y="6501487"/>
            <a:ext cx="584236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https://</a:t>
            </a:r>
            <a:r>
              <a:rPr lang="en-US" sz="1400" dirty="0" smtClean="0"/>
              <a:t>neerc.ifmo.ru/wiki/index.php?title=</a:t>
            </a:r>
            <a:r>
              <a:rPr lang="ru-RU" sz="1400" dirty="0" err="1" smtClean="0"/>
              <a:t>Рекуррентные_нейронные_сети</a:t>
            </a:r>
            <a:endParaRPr lang="ru-RU" sz="14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9681" y="4206004"/>
            <a:ext cx="6048754" cy="260326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8512376" y="6562289"/>
            <a:ext cx="358784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100" dirty="0"/>
              <a:t>https://d2l.ai/chapter_recurrent-neural-networks/rnn.html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Прямоугольник 15"/>
              <p:cNvSpPr/>
              <p:nvPr/>
            </p:nvSpPr>
            <p:spPr>
              <a:xfrm>
                <a:off x="-7374" y="5610987"/>
                <a:ext cx="6096000" cy="91358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  <m:sup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limLoc m:val="subSup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  <m:sup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e>
                          </m:nary>
                          <m:sSubSup>
                            <m:sSub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dirty="0" smtClean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16" name="Прямоугольник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374" y="5610987"/>
                <a:ext cx="6096000" cy="9135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Прямоугольник 7"/>
          <p:cNvSpPr/>
          <p:nvPr/>
        </p:nvSpPr>
        <p:spPr>
          <a:xfrm>
            <a:off x="184079" y="5035483"/>
            <a:ext cx="580728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i="1" dirty="0" smtClean="0"/>
              <a:t>Могут также быть и другие формулировки </a:t>
            </a:r>
            <a:r>
              <a:rPr lang="en-US" i="1" dirty="0" smtClean="0"/>
              <a:t>RNN, </a:t>
            </a:r>
            <a:r>
              <a:rPr lang="ru-RU" i="1" dirty="0" smtClean="0"/>
              <a:t>например формулировка </a:t>
            </a:r>
            <a:r>
              <a:rPr lang="ru-RU" i="1" dirty="0" err="1" smtClean="0"/>
              <a:t>Джордана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3006027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ctr" rtl="0"/>
            <a:r>
              <a:rPr lang="en-US" b="1" dirty="0" smtClean="0"/>
              <a:t>RNN </a:t>
            </a:r>
            <a:r>
              <a:rPr lang="ru-RU" b="1" dirty="0" smtClean="0"/>
              <a:t>Интуиция</a:t>
            </a:r>
            <a:endParaRPr 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4231" y="889726"/>
                <a:ext cx="11738806" cy="6140153"/>
              </a:xfrm>
            </p:spPr>
            <p:txBody>
              <a:bodyPr>
                <a:noAutofit/>
              </a:bodyPr>
              <a:lstStyle/>
              <a:p>
                <a:pPr lvl="0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b="1" dirty="0" smtClean="0"/>
                  <a:t>Рекуррентные нейронные сети (RNN)</a:t>
                </a:r>
                <a:r>
                  <a:rPr lang="ru-RU" sz="2200" dirty="0"/>
                  <a:t>  </a:t>
                </a:r>
                <a:r>
                  <a:rPr lang="ru-RU" sz="2200" dirty="0" smtClean="0"/>
                  <a:t>обрабатывают последовательности: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 smtClean="0"/>
                  <a:t>На каждом шаге окна одни и те же веса </a:t>
                </a:r>
                <a14:m>
                  <m:oMath xmlns:m="http://schemas.openxmlformats.org/officeDocument/2006/math"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200" dirty="0" smtClean="0"/>
                  <a:t>)</a:t>
                </a:r>
                <a:r>
                  <a:rPr lang="ru-RU" sz="2200" dirty="0" smtClean="0"/>
                  <a:t>, но разные входные данные </a:t>
                </a:r>
                <a:r>
                  <a:rPr lang="en-US" sz="2200" dirty="0" smtClean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200" dirty="0" smtClean="0"/>
                  <a:t>.</a:t>
                </a:r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800" dirty="0" smtClean="0"/>
                  <a:t> </a:t>
                </a:r>
                <a:r>
                  <a:rPr lang="ru-RU" sz="1800" dirty="0" smtClean="0"/>
                  <a:t>передается в следящее состояние как память.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Ячейки RNN содержат состояние внутренней памяти, которое действует как сжатое резюме прошлой информации.</a:t>
                </a:r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 smtClean="0"/>
                  <a:t>Традиционное </a:t>
                </a:r>
                <a:r>
                  <a:rPr lang="ru-RU" sz="2200" dirty="0"/>
                  <a:t>применение RNN - обработка естественного языка.</a:t>
                </a:r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 smtClean="0"/>
                  <a:t>В </a:t>
                </a:r>
                <a:r>
                  <a:rPr lang="ru-RU" sz="2200" dirty="0"/>
                  <a:t>последние годы для </a:t>
                </a:r>
                <a:r>
                  <a:rPr lang="ru-RU" sz="2200" dirty="0" smtClean="0"/>
                  <a:t>ВР было </a:t>
                </a:r>
                <a:r>
                  <a:rPr lang="ru-RU" sz="2200" dirty="0"/>
                  <a:t>разработано много архитектур на основе RNN.</a:t>
                </a:r>
              </a:p>
              <a:p>
                <a:pPr lvl="0"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4231" y="889726"/>
                <a:ext cx="11738806" cy="6140153"/>
              </a:xfrm>
              <a:blipFill>
                <a:blip r:embed="rId2"/>
                <a:stretch>
                  <a:fillRect l="-571" t="-6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471" y="3898245"/>
            <a:ext cx="4220804" cy="2837060"/>
          </a:xfrm>
          <a:prstGeom prst="rect">
            <a:avLst/>
          </a:prstGeom>
        </p:spPr>
      </p:pic>
      <p:pic>
        <p:nvPicPr>
          <p:cNvPr id="11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9926" y="4272937"/>
            <a:ext cx="5092698" cy="2523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65" y="4412772"/>
            <a:ext cx="2927561" cy="232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39514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ctr" rtl="0"/>
            <a:r>
              <a:rPr lang="en-US" b="1" dirty="0" smtClean="0"/>
              <a:t>RNN </a:t>
            </a:r>
            <a:r>
              <a:rPr lang="ru-RU" b="1" dirty="0" smtClean="0"/>
              <a:t>типы подходов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Самый универсальный подход глубокого обучения к анализу временных рядов - это многие ко многим </a:t>
            </a:r>
            <a:r>
              <a:rPr lang="ru-RU" sz="2000" dirty="0"/>
              <a:t> (или  </a:t>
            </a:r>
            <a:r>
              <a:rPr lang="ru-RU" sz="2000" b="1" dirty="0"/>
              <a:t>Sequence2Sequence, Seq2Seq</a:t>
            </a:r>
            <a:r>
              <a:rPr lang="ru-RU" sz="2000" dirty="0"/>
              <a:t> ).</a:t>
            </a:r>
          </a:p>
          <a:p>
            <a:pPr lvl="0"/>
            <a:r>
              <a:rPr lang="ru-RU" sz="2000" b="1" dirty="0"/>
              <a:t>Seq2Seq</a:t>
            </a:r>
            <a:r>
              <a:rPr lang="ru-RU" sz="2000" dirty="0"/>
              <a:t>  подход  </a:t>
            </a:r>
            <a:r>
              <a:rPr lang="ru-RU" sz="2000" u="sng" dirty="0"/>
              <a:t>можно интерпретировать как модель кодера-декодера.</a:t>
            </a:r>
            <a:endParaRPr lang="ru-RU" sz="2000" dirty="0"/>
          </a:p>
          <a:p>
            <a:pPr lvl="0"/>
            <a:r>
              <a:rPr lang="ru-RU" sz="2000" dirty="0"/>
              <a:t>В этом случае кодер используется для суммирования прошлой информации (т. Е. Целей, наблюдаемых входных данных и априори известных входных данных), а декодер - для создания новых прогнозов, классификации, оценки и прочего.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50" name="Picture 2" descr="RNN inputs and output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9785" y="2738464"/>
            <a:ext cx="5347007" cy="3596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5338916" y="6357973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 smtClean="0"/>
              <a:t>https://www.bpesquet.fr/mlhandbook/algorithms/recurrent_neural_networks.html#rnn-fundamentals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4153052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ctr"/>
            <a:r>
              <a:rPr lang="en-US" b="1" dirty="0" smtClean="0"/>
              <a:t>RNN. </a:t>
            </a:r>
            <a:r>
              <a:rPr lang="ru-RU" b="1" dirty="0" smtClean="0"/>
              <a:t>Особенности обучения</a:t>
            </a:r>
            <a:r>
              <a:rPr lang="en-US" b="1" dirty="0" smtClean="0"/>
              <a:t> 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6096000" y="6596389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https://education.yandex.ru/handbook/ml/article/nejroseti-dlya-raboty-s-posledovatelnostyami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73912" y="692787"/>
                <a:ext cx="11859444" cy="6088062"/>
              </a:xfrm>
            </p:spPr>
            <p:txBody>
              <a:bodyPr>
                <a:normAutofit fontScale="62500" lnSpcReduction="20000"/>
              </a:bodyPr>
              <a:lstStyle/>
              <a:p>
                <a:pPr marL="0" lvl="0" indent="0">
                  <a:lnSpc>
                    <a:spcPct val="120000"/>
                  </a:lnSpc>
                  <a:spcBef>
                    <a:spcPts val="300"/>
                  </a:spcBef>
                  <a:buNone/>
                </a:pPr>
                <a:r>
                  <a:rPr lang="ru-RU" sz="3400" dirty="0"/>
                  <a:t>При обучении </a:t>
                </a:r>
                <a:r>
                  <a:rPr lang="en-US" sz="3400" dirty="0"/>
                  <a:t>RNN </a:t>
                </a:r>
                <a:r>
                  <a:rPr lang="ru-RU" sz="3400" dirty="0"/>
                  <a:t>функция потерь </a:t>
                </a:r>
                <a14:m>
                  <m:oMath xmlns:m="http://schemas.openxmlformats.org/officeDocument/2006/math">
                    <m:r>
                      <a:rPr lang="en-US" sz="3400" i="1" dirty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ru-RU" sz="3400" dirty="0"/>
              </a:p>
              <a:p>
                <a:pPr marL="0" lvl="0" indent="0" algn="ctr">
                  <a:lnSpc>
                    <a:spcPct val="120000"/>
                  </a:lnSpc>
                  <a:spcBef>
                    <a:spcPts val="300"/>
                  </a:spcBef>
                  <a:buNone/>
                </a:pPr>
                <a:r>
                  <a:rPr lang="ru-RU" sz="3400" dirty="0"/>
                  <a:t> </a:t>
                </a:r>
                <a14:m>
                  <m:oMath xmlns:m="http://schemas.openxmlformats.org/officeDocument/2006/math">
                    <m:r>
                      <a:rPr lang="en-US" sz="3400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3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34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34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sz="3400" i="1" dirty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, (</m:t>
                        </m:r>
                        <m:sSub>
                          <m:sSubPr>
                            <m:ctrlPr>
                              <a:rPr lang="en-US" sz="3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3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) </m:t>
                        </m:r>
                      </m:e>
                    </m:d>
                  </m:oMath>
                </a14:m>
                <a:endParaRPr lang="en-US" sz="3400" dirty="0"/>
              </a:p>
              <a:p>
                <a:pPr marL="0" lvl="0" indent="0">
                  <a:lnSpc>
                    <a:spcPct val="120000"/>
                  </a:lnSpc>
                  <a:spcBef>
                    <a:spcPts val="300"/>
                  </a:spcBef>
                  <a:buNone/>
                </a:pPr>
                <a:r>
                  <a:rPr lang="ru-RU" sz="3400" dirty="0"/>
                  <a:t>Так как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ru-RU" sz="3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3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34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sz="3400" i="1" dirty="0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en-US" sz="3400" dirty="0"/>
                  <a:t> </a:t>
                </a:r>
                <a:r>
                  <a:rPr lang="ru-RU" sz="3400" dirty="0"/>
                  <a:t>тогда</a:t>
                </a:r>
                <a:endParaRPr lang="en-US" sz="3400" dirty="0"/>
              </a:p>
              <a:p>
                <a:pPr marL="0" lvl="0" indent="0">
                  <a:lnSpc>
                    <a:spcPct val="12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400" i="1" dirty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3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3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4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lang="en-US" sz="3400" i="1" dirty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3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, (</m:t>
                          </m:r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) </m:t>
                          </m:r>
                        </m:e>
                      </m:d>
                      <m:r>
                        <a:rPr lang="en-US" sz="3400" i="1" dirty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3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, (</m:t>
                          </m:r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,(</m:t>
                          </m:r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)) </m:t>
                          </m:r>
                        </m:e>
                      </m:d>
                      <m:r>
                        <a:rPr lang="en-US" sz="3400" i="1" dirty="0">
                          <a:latin typeface="Cambria Math" panose="02040503050406030204" pitchFamily="18" charset="0"/>
                        </a:rPr>
                        <m:t>→…</m:t>
                      </m:r>
                    </m:oMath>
                  </m:oMathPara>
                </a14:m>
                <a:endParaRPr lang="en-US" sz="3400" dirty="0"/>
              </a:p>
              <a:p>
                <a:pPr marL="0" lvl="0" indent="0">
                  <a:lnSpc>
                    <a:spcPct val="120000"/>
                  </a:lnSpc>
                  <a:spcBef>
                    <a:spcPts val="300"/>
                  </a:spcBef>
                  <a:buNone/>
                </a:pPr>
                <a:r>
                  <a:rPr lang="ru-RU" sz="2600" dirty="0"/>
                  <a:t>Функция потерь оценки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600" dirty="0"/>
                  <a:t> зависит от всех предыдущих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600" dirty="0"/>
                  <a:t> </a:t>
                </a:r>
                <a:r>
                  <a:rPr lang="ru-RU" sz="2600" dirty="0"/>
                  <a:t>до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6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6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sz="26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2600" dirty="0"/>
                  <a:t>.</a:t>
                </a:r>
              </a:p>
              <a:p>
                <a:pPr lvl="0">
                  <a:lnSpc>
                    <a:spcPct val="120000"/>
                  </a:lnSpc>
                  <a:spcBef>
                    <a:spcPts val="300"/>
                  </a:spcBef>
                </a:pPr>
                <a:r>
                  <a:rPr lang="ru-RU" sz="3400" dirty="0"/>
                  <a:t>Градиент функции потерь (обновление весовых параметров, задающее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3400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3400" dirty="0"/>
                  <a:t> будет также зависеть от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3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34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3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3400" dirty="0"/>
                  <a:t>.</a:t>
                </a:r>
              </a:p>
              <a:p>
                <a:pPr lvl="0">
                  <a:lnSpc>
                    <a:spcPct val="120000"/>
                  </a:lnSpc>
                  <a:spcBef>
                    <a:spcPts val="300"/>
                  </a:spcBef>
                </a:pPr>
                <a:r>
                  <a:rPr lang="ru-RU" sz="3400" dirty="0"/>
                  <a:t>Обновление весовых параметров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3400" dirty="0"/>
                  <a:t> и </a:t>
                </a:r>
                <a14:m>
                  <m:oMath xmlns:m="http://schemas.openxmlformats.org/officeDocument/2006/math">
                    <m:r>
                      <a:rPr lang="en-US" sz="3400" i="1" dirty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sz="3400" dirty="0"/>
                  <a:t> завесит от от всех предыдущих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34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3400" dirty="0"/>
                  <a:t> </a:t>
                </a:r>
                <a:r>
                  <a:rPr lang="ru-RU" sz="3400" dirty="0"/>
                  <a:t>до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3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34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sz="3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ru-RU" sz="3400" dirty="0"/>
              </a:p>
              <a:p>
                <a:pPr marL="0" lvl="0" indent="0">
                  <a:lnSpc>
                    <a:spcPct val="12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3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sz="3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3400" i="1">
                              <a:latin typeface="Cambria Math" panose="02040503050406030204" pitchFamily="18" charset="0"/>
                            </a:rPr>
                            <m:t>𝐵</m:t>
                          </m:r>
                        </m:den>
                      </m:f>
                      <m:r>
                        <a:rPr lang="en-US" sz="3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3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sz="3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3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3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US" sz="3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3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3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num>
                        <m:den>
                          <m:r>
                            <a:rPr lang="en-US" sz="3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3400" i="1">
                              <a:latin typeface="Cambria Math" panose="02040503050406030204" pitchFamily="18" charset="0"/>
                            </a:rPr>
                            <m:t>𝐵</m:t>
                          </m:r>
                        </m:den>
                      </m:f>
                      <m:r>
                        <a:rPr lang="ru-RU" sz="3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400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3400" i="1"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en-US" sz="3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3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3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400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3400" i="1"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en-US" sz="3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p>
                          </m:sSubSup>
                        </m:e>
                      </m:d>
                      <m:r>
                        <a:rPr lang="en-US" sz="3400" i="1">
                          <a:latin typeface="Cambria Math" panose="02040503050406030204" pitchFamily="18" charset="0"/>
                        </a:rPr>
                        <m:t>;</m:t>
                      </m:r>
                    </m:oMath>
                  </m:oMathPara>
                </a14:m>
                <a:endParaRPr lang="en-US" sz="3400" dirty="0"/>
              </a:p>
              <a:p>
                <a:pPr lvl="1">
                  <a:lnSpc>
                    <a:spcPct val="120000"/>
                  </a:lnSpc>
                  <a:spcBef>
                    <a:spcPts val="300"/>
                  </a:spcBef>
                </a:pPr>
                <a:r>
                  <a:rPr lang="ru-RU" sz="2600" dirty="0" smtClean="0"/>
                  <a:t>Такая </a:t>
                </a:r>
                <a:r>
                  <a:rPr lang="ru-RU" sz="2600" dirty="0"/>
                  <a:t>же рекуррентен зависимость будет при обновлении </a:t>
                </a:r>
                <a14:m>
                  <m:oMath xmlns:m="http://schemas.openxmlformats.org/officeDocument/2006/math">
                    <m:r>
                      <a:rPr lang="en-US" sz="2600" i="1" dirty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sz="2600" dirty="0"/>
                  <a:t>  для шага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ru-RU" sz="2600" dirty="0"/>
              </a:p>
              <a:p>
                <a:pPr marL="0" lvl="0" indent="0">
                  <a:lnSpc>
                    <a:spcPct val="120000"/>
                  </a:lnSpc>
                  <a:spcBef>
                    <a:spcPts val="300"/>
                  </a:spcBef>
                  <a:buNone/>
                </a:pPr>
                <a:r>
                  <a:rPr lang="ru-RU" sz="3400" dirty="0" smtClean="0"/>
                  <a:t>Для </a:t>
                </a:r>
                <a:r>
                  <a:rPr lang="ru-RU" sz="3400" dirty="0"/>
                  <a:t>вычисления градиента </a:t>
                </a:r>
                <a14:m>
                  <m:oMath xmlns:m="http://schemas.openxmlformats.org/officeDocument/2006/math">
                    <m:r>
                      <a:rPr lang="en-US" sz="34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ru-RU" sz="3400" dirty="0" smtClean="0"/>
                  <a:t> </a:t>
                </a:r>
                <a:r>
                  <a:rPr lang="ru-RU" sz="3400" dirty="0"/>
                  <a:t>на шаге </a:t>
                </a:r>
                <a14:m>
                  <m:oMath xmlns:m="http://schemas.openxmlformats.org/officeDocument/2006/math">
                    <m:r>
                      <a:rPr lang="en-US" sz="3400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ru-RU" sz="3400" dirty="0"/>
                  <a:t> нужно </a:t>
                </a:r>
                <a14:m>
                  <m:oMath xmlns:m="http://schemas.openxmlformats.org/officeDocument/2006/math">
                    <m:r>
                      <a:rPr lang="en-US" sz="3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400" dirty="0"/>
                  <a:t> </a:t>
                </a:r>
                <a:r>
                  <a:rPr lang="ru-RU" sz="3400" dirty="0"/>
                  <a:t>раз обновить весовые параметры </a:t>
                </a:r>
                <a14:m>
                  <m:oMath xmlns:m="http://schemas.openxmlformats.org/officeDocument/2006/math">
                    <m:r>
                      <a:rPr lang="en-US" sz="3400" i="1" dirty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sz="3400" dirty="0"/>
                  <a:t>. </a:t>
                </a:r>
              </a:p>
              <a:p>
                <a:pPr lvl="1">
                  <a:lnSpc>
                    <a:spcPct val="120000"/>
                  </a:lnSpc>
                  <a:spcBef>
                    <a:spcPts val="300"/>
                  </a:spcBef>
                </a:pPr>
                <a:r>
                  <a:rPr lang="ru-RU" sz="2600" dirty="0" smtClean="0"/>
                  <a:t>Аналогично </a:t>
                </a:r>
                <a:r>
                  <a:rPr lang="ru-RU" sz="2600" dirty="0"/>
                  <a:t>для весовых коэффициентов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ru-RU" sz="2600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600" dirty="0"/>
              </a:p>
              <a:p>
                <a:pPr marL="0" lvl="0" indent="0">
                  <a:lnSpc>
                    <a:spcPct val="120000"/>
                  </a:lnSpc>
                  <a:spcBef>
                    <a:spcPts val="300"/>
                  </a:spcBef>
                  <a:buNone/>
                </a:pPr>
                <a:r>
                  <a:rPr lang="ru-RU" sz="3400" dirty="0"/>
                  <a:t>Если в одном из шагов </a:t>
                </a:r>
                <a14:m>
                  <m:oMath xmlns:m="http://schemas.openxmlformats.org/officeDocument/2006/math">
                    <m:r>
                      <a:rPr lang="en-US" sz="3400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∈(0,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3400" dirty="0"/>
                  <a:t> </a:t>
                </a:r>
                <a:r>
                  <a:rPr lang="ru-RU" sz="3400" dirty="0"/>
                  <a:t>произойдет «взрыв градиента», то на всех последующих шагах градиент будет врываться бесконечно</a:t>
                </a:r>
              </a:p>
              <a:p>
                <a:pPr lvl="1">
                  <a:lnSpc>
                    <a:spcPct val="120000"/>
                  </a:lnSpc>
                  <a:spcBef>
                    <a:spcPts val="300"/>
                  </a:spcBef>
                </a:pPr>
                <a:r>
                  <a:rPr lang="ru-RU" sz="2600" dirty="0" smtClean="0"/>
                  <a:t>Аналогично </a:t>
                </a:r>
                <a:r>
                  <a:rPr lang="ru-RU" sz="2600" dirty="0"/>
                  <a:t>для вымывания градиента.</a:t>
                </a:r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14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3912" y="692787"/>
                <a:ext cx="11859444" cy="6088062"/>
              </a:xfrm>
              <a:blipFill>
                <a:blip r:embed="rId2"/>
                <a:stretch>
                  <a:fillRect l="-617" t="-701" r="-6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Прямоугольник 10"/>
          <p:cNvSpPr/>
          <p:nvPr/>
        </p:nvSpPr>
        <p:spPr>
          <a:xfrm>
            <a:off x="1069975" y="6084008"/>
            <a:ext cx="1126279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ru-RU" altLang="ru-RU" sz="1600" b="1" dirty="0"/>
              <a:t>отметим, что следствием высокой вероятности переобучения является не возможность сделать рекуррентные сети слишком глубокими. </a:t>
            </a:r>
            <a:r>
              <a:rPr lang="ru-RU" altLang="ru-RU" sz="1600" dirty="0" smtClean="0">
                <a:latin typeface="-apple-system"/>
              </a:rPr>
              <a:t>Архитектуры</a:t>
            </a:r>
            <a:r>
              <a:rPr lang="ru-RU" altLang="ru-RU" sz="1600" dirty="0">
                <a:latin typeface="-apple-system"/>
              </a:rPr>
              <a:t>, содержащие более 4 двунаправленных слоев это редкость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2714743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4210" y="260351"/>
            <a:ext cx="11030065" cy="615950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RNN. </a:t>
            </a:r>
            <a:r>
              <a:rPr lang="ru-RU" b="1" dirty="0" smtClean="0"/>
              <a:t>Ограниченное</a:t>
            </a:r>
            <a:r>
              <a:rPr lang="en-US" b="1" dirty="0" smtClean="0"/>
              <a:t> </a:t>
            </a:r>
            <a:r>
              <a:rPr lang="ru-RU" b="1" dirty="0" smtClean="0"/>
              <a:t>обучение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0" y="809627"/>
                <a:ext cx="11680722" cy="5195887"/>
              </a:xfrm>
            </p:spPr>
            <p:txBody>
              <a:bodyPr>
                <a:normAutofit/>
              </a:bodyPr>
              <a:lstStyle/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Одна из  </a:t>
                </a:r>
                <a:r>
                  <a:rPr lang="ru-RU" sz="2200" b="1" dirty="0"/>
                  <a:t>основных проблем простых RNN (</a:t>
                </a:r>
                <a:r>
                  <a:rPr lang="ru-RU" sz="2200" b="1" dirty="0" err="1"/>
                  <a:t>vanilla</a:t>
                </a:r>
                <a:r>
                  <a:rPr lang="ru-RU" sz="2200" b="1" dirty="0"/>
                  <a:t> RNN)</a:t>
                </a:r>
                <a:r>
                  <a:rPr lang="ru-RU" sz="2200" dirty="0"/>
                  <a:t>  - это </a:t>
                </a:r>
                <a:r>
                  <a:rPr lang="ru-RU" sz="2200" b="1" dirty="0"/>
                  <a:t>взрыв веса (или градиента) и вымывание градиента</a:t>
                </a:r>
                <a:r>
                  <a:rPr lang="ru-RU" sz="2200" dirty="0"/>
                  <a:t>,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/>
                  <a:t>Таким образом, только некоторая часть серии может быть обработана как вход RNN. 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/>
                  <a:t>Другими словами длина контекста </a:t>
                </a:r>
                <a:r>
                  <a:rPr lang="en-US" sz="2200" dirty="0"/>
                  <a:t>RNN </a:t>
                </a:r>
                <a:r>
                  <a:rPr lang="ru-RU" sz="2200" dirty="0"/>
                  <a:t>должна быть ограничена</a:t>
                </a:r>
                <a:r>
                  <a:rPr lang="ru-RU" sz="2200" dirty="0" smtClean="0"/>
                  <a:t>.</a:t>
                </a:r>
              </a:p>
              <a:p>
                <a:pPr marL="342900" lvl="1" indent="-34290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b="1" dirty="0" smtClean="0"/>
                  <a:t>Усечение </a:t>
                </a:r>
                <a:r>
                  <a:rPr lang="ru-RU" sz="2200" b="1" dirty="0"/>
                  <a:t>обучение </a:t>
                </a:r>
                <a:r>
                  <a:rPr lang="ru-RU" sz="2200" dirty="0"/>
                  <a:t>(усеченное обратное распространение – </a:t>
                </a:r>
                <a:r>
                  <a:rPr lang="en-US" sz="2200" b="1" dirty="0"/>
                  <a:t>Truncated Backpropagation</a:t>
                </a:r>
                <a:r>
                  <a:rPr lang="ru-RU" sz="2200" dirty="0"/>
                  <a:t>).</a:t>
                </a:r>
                <a:endParaRPr lang="en-US" sz="2200" dirty="0"/>
              </a:p>
              <a:p>
                <a:pPr marL="914400" lvl="2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Расчет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 (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)) </m:t>
                        </m:r>
                      </m:e>
                    </m:d>
                  </m:oMath>
                </a14:m>
                <a:r>
                  <a:rPr lang="ru-RU" sz="2200" dirty="0"/>
                  <a:t> только</a:t>
                </a:r>
                <a:r>
                  <a:rPr lang="en-US" sz="2200" dirty="0"/>
                  <a:t> </a:t>
                </a:r>
                <a:r>
                  <a:rPr lang="ru-RU" sz="2200" dirty="0"/>
                  <a:t>для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 smtClean="0"/>
                  <a:t>шагов</a:t>
                </a:r>
                <a:endParaRPr lang="ru-RU" sz="2200" dirty="0"/>
              </a:p>
              <a:p>
                <a:pPr marL="342900" lvl="2" indent="-34290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200" b="1" dirty="0"/>
                  <a:t>G</a:t>
                </a:r>
                <a:r>
                  <a:rPr lang="ru-RU" sz="2200" b="1" dirty="0" err="1" smtClean="0"/>
                  <a:t>radient</a:t>
                </a:r>
                <a:r>
                  <a:rPr lang="ru-RU" sz="2200" b="1" dirty="0" smtClean="0"/>
                  <a:t> </a:t>
                </a:r>
                <a:r>
                  <a:rPr lang="ru-RU" sz="2200" b="1" dirty="0" err="1" smtClean="0"/>
                  <a:t>clipping</a:t>
                </a:r>
                <a:r>
                  <a:rPr lang="en-US" sz="2200" b="1" dirty="0" smtClean="0"/>
                  <a:t> </a:t>
                </a:r>
                <a:r>
                  <a:rPr lang="en-US" sz="2200" dirty="0" smtClean="0"/>
                  <a:t>– </a:t>
                </a:r>
                <a:r>
                  <a:rPr lang="ru-RU" sz="2200" dirty="0" smtClean="0"/>
                  <a:t>Ограничение максимально </a:t>
                </a:r>
                <a:r>
                  <a:rPr lang="ru-RU" sz="2200" dirty="0"/>
                  <a:t>возможное значение градиента и заменяет все значения выше выбранного порога на это значение. </a:t>
                </a:r>
                <a:endParaRPr lang="ru-RU" sz="2200" i="1" dirty="0" smtClean="0">
                  <a:latin typeface="Cambria Math" panose="02040503050406030204" pitchFamily="18" charset="0"/>
                </a:endParaRPr>
              </a:p>
              <a:p>
                <a:pPr marL="0" lvl="2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dirty="0"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  <m:r>
                                <m:rPr>
                                  <m:sty m:val="p"/>
                                </m:rPr>
                                <a:rPr lang="en-US" sz="2200" dirty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</m:d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𝑐𝑙𝑖𝑝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dirty="0"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200" dirty="0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e>
                              </m:d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dirty="0"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200" dirty="0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e>
                              </m:d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𝑜𝑡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𝑒𝑟𝑤𝑖𝑠𝑒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809627"/>
                <a:ext cx="11680722" cy="5195887"/>
              </a:xfrm>
              <a:blipFill>
                <a:blip r:embed="rId2"/>
                <a:stretch>
                  <a:fillRect l="-678" t="-8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2" y="4418355"/>
            <a:ext cx="6291470" cy="22031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рямоугольник 5"/>
              <p:cNvSpPr/>
              <p:nvPr/>
            </p:nvSpPr>
            <p:spPr>
              <a:xfrm>
                <a:off x="104776" y="4418355"/>
                <a:ext cx="5391150" cy="181120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ru-RU" sz="22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ru-RU" sz="2200" dirty="0"/>
                  <a:t> - максимальное значение </a:t>
                </a:r>
                <a:r>
                  <a:rPr lang="ru-RU" sz="2200" dirty="0" err="1"/>
                  <a:t>градикента</a:t>
                </a:r>
                <a:r>
                  <a:rPr lang="ru-RU" sz="2200" dirty="0"/>
                  <a:t>,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dirty="0">
                            <a:latin typeface="Cambria Math" panose="02040503050406030204" pitchFamily="18" charset="0"/>
                          </a:rPr>
                          <m:t>𝛻</m:t>
                        </m:r>
                        <m:r>
                          <m:rPr>
                            <m:sty m:val="p"/>
                          </m:rPr>
                          <a:rPr lang="en-US" sz="220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</m:d>
                    <m:r>
                      <a:rPr lang="ru-RU" sz="2200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dirty="0">
                                <a:latin typeface="Cambria Math" panose="02040503050406030204" pitchFamily="18" charset="0"/>
                              </a:rPr>
                              <m:t>𝛻</m:t>
                            </m:r>
                            <m:r>
                              <m:rPr>
                                <m:sty m:val="p"/>
                              </m:rPr>
                              <a:rPr lang="en-US" sz="2200" dirty="0">
                                <a:latin typeface="Cambria Math" panose="02040503050406030204" pitchFamily="18" charset="0"/>
                              </a:rPr>
                              <m:t>L</m:t>
                            </m:r>
                          </m:e>
                        </m:d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𝑐𝑙𝑖𝑝</m:t>
                        </m:r>
                      </m:sub>
                    </m:sSub>
                  </m:oMath>
                </a14:m>
                <a:r>
                  <a:rPr lang="ru-RU" sz="2200" dirty="0"/>
                  <a:t> - норма градиента (до и после </a:t>
                </a:r>
                <a:r>
                  <a:rPr lang="ru-RU" sz="2200" dirty="0" err="1"/>
                  <a:t>органичений</a:t>
                </a:r>
                <a:r>
                  <a:rPr lang="ru-RU" sz="2200" dirty="0"/>
                  <a:t>). Отметим, что </a:t>
                </a:r>
                <a:r>
                  <a:rPr lang="ru-RU" sz="2200" dirty="0" err="1"/>
                  <a:t>gradient</a:t>
                </a:r>
                <a:r>
                  <a:rPr lang="ru-RU" sz="2200" dirty="0"/>
                  <a:t> </a:t>
                </a:r>
                <a:r>
                  <a:rPr lang="ru-RU" sz="2200" dirty="0" err="1"/>
                  <a:t>clipping</a:t>
                </a:r>
                <a:r>
                  <a:rPr lang="ru-RU" sz="2200" dirty="0"/>
                  <a:t> это довольно грубый инструмент</a:t>
                </a:r>
              </a:p>
            </p:txBody>
          </p:sp>
        </mc:Choice>
        <mc:Fallback xmlns=""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76" y="4418355"/>
                <a:ext cx="5391150" cy="1811201"/>
              </a:xfrm>
              <a:prstGeom prst="rect">
                <a:avLst/>
              </a:prstGeom>
              <a:blipFill>
                <a:blip r:embed="rId4"/>
                <a:stretch>
                  <a:fillRect l="-1469" t="-2357" r="-1356" b="-572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6982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365126"/>
            <a:ext cx="11258550" cy="720724"/>
          </a:xfrm>
        </p:spPr>
        <p:txBody>
          <a:bodyPr/>
          <a:lstStyle/>
          <a:p>
            <a:r>
              <a:rPr lang="ru-RU" dirty="0" smtClean="0"/>
              <a:t>Расширение контекста </a:t>
            </a:r>
            <a:r>
              <a:rPr lang="en-US" dirty="0" smtClean="0"/>
              <a:t>RNN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28600" y="981075"/>
            <a:ext cx="11582400" cy="37433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 smtClean="0"/>
              <a:t>Во временных рядах контекста – это паттерны поведения, влияющие на прогноз ВР. </a:t>
            </a:r>
          </a:p>
          <a:p>
            <a:r>
              <a:rPr lang="ru-RU" sz="2400" dirty="0" smtClean="0"/>
              <a:t>Усечение обучение – потеря контекста. Нужно увеличивать контекст. Подходы: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dirty="0" smtClean="0"/>
              <a:t>Регуляризация обучения</a:t>
            </a:r>
            <a:r>
              <a:rPr lang="en-US" dirty="0" smtClean="0"/>
              <a:t> </a:t>
            </a:r>
            <a:r>
              <a:rPr lang="ru-RU" dirty="0" smtClean="0"/>
              <a:t>(</a:t>
            </a:r>
            <a:r>
              <a:rPr lang="ru-RU" dirty="0" err="1" smtClean="0"/>
              <a:t>батч</a:t>
            </a:r>
            <a:r>
              <a:rPr lang="ru-RU" dirty="0" smtClean="0"/>
              <a:t>-норма, L1, L2, и т. д.).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 smtClean="0"/>
              <a:t>Temporal learning </a:t>
            </a:r>
            <a:r>
              <a:rPr lang="ru-RU" dirty="0" smtClean="0"/>
              <a:t>(последовательные слои с разряженным окном)</a:t>
            </a:r>
          </a:p>
          <a:p>
            <a:pPr lvl="1"/>
            <a:r>
              <a:rPr lang="ru-RU" dirty="0" smtClean="0"/>
              <a:t>Специальные модификации рекуррентных ячеек </a:t>
            </a:r>
            <a:endParaRPr lang="en-US" dirty="0" smtClean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1786" y="3715927"/>
            <a:ext cx="6794070" cy="2699171"/>
          </a:xfrm>
          <a:prstGeom prst="rect">
            <a:avLst/>
          </a:prstGeom>
        </p:spPr>
      </p:pic>
      <p:pic>
        <p:nvPicPr>
          <p:cNvPr id="5122" name="Picture 2" descr="Time series forecasting with deep stacked unidirectional and bidirectional  LSTMs | by Manohar Battula | TDS Archive | Mediu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" y="4329067"/>
            <a:ext cx="4978619" cy="2022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45415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4658" y="127001"/>
            <a:ext cx="11258550" cy="720724"/>
          </a:xfrm>
        </p:spPr>
        <p:txBody>
          <a:bodyPr/>
          <a:lstStyle/>
          <a:p>
            <a:r>
              <a:rPr lang="en-US" dirty="0" err="1" smtClean="0"/>
              <a:t>BiDiretional</a:t>
            </a:r>
            <a:r>
              <a:rPr lang="en-US" dirty="0" smtClean="0"/>
              <a:t> RNN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981075"/>
                <a:ext cx="11582400" cy="3743325"/>
              </a:xfrm>
            </p:spPr>
            <p:txBody>
              <a:bodyPr>
                <a:normAutofit/>
              </a:bodyPr>
              <a:lstStyle/>
              <a:p>
                <a:pPr marL="88900" lvl="1" indent="0">
                  <a:buNone/>
                </a:pPr>
                <a:r>
                  <a:rPr lang="ru-RU" sz="2200" dirty="0" smtClean="0"/>
                  <a:t>Особенность регуляризации </a:t>
                </a:r>
                <a:r>
                  <a:rPr lang="en-US" sz="2200" dirty="0" smtClean="0"/>
                  <a:t>RNN – </a:t>
                </a:r>
                <a:r>
                  <a:rPr lang="ru-RU" sz="2200" dirty="0" smtClean="0"/>
                  <a:t>можно использовать последовательность данных.</a:t>
                </a:r>
              </a:p>
              <a:p>
                <a:pPr marL="88900" lvl="1" indent="0">
                  <a:buNone/>
                </a:pPr>
                <a:r>
                  <a:rPr lang="ru-RU" sz="2200" dirty="0" smtClean="0"/>
                  <a:t>Пусть</a:t>
                </a:r>
                <a:r>
                  <a:rPr lang="en-US" sz="2200" dirty="0" smtClean="0"/>
                  <a:t> </a:t>
                </a:r>
                <a:r>
                  <a:rPr lang="ru-RU" sz="2200" dirty="0" smtClean="0"/>
                  <a:t>для отрезка ВР длиной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b="0" i="0" dirty="0" smtClean="0">
                    <a:latin typeface="+mj-lt"/>
                  </a:rPr>
                  <a:t>(контекст)</a:t>
                </a:r>
                <a:r>
                  <a:rPr lang="en-US" sz="2200" b="0" i="0" dirty="0" smtClean="0">
                    <a:latin typeface="+mj-lt"/>
                  </a:rPr>
                  <a:t> </a:t>
                </a:r>
                <a:r>
                  <a:rPr lang="ru-RU" sz="2200" b="0" i="0" dirty="0" smtClean="0">
                    <a:latin typeface="+mj-lt"/>
                  </a:rPr>
                  <a:t> </a:t>
                </a:r>
                <a:endParaRPr lang="ru-RU" sz="2200" dirty="0" smtClean="0"/>
              </a:p>
              <a:p>
                <a:pPr marL="88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p>
                      </m:sSub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p>
                      </m:sSub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p>
                          </m:sSub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p>
                      </m:s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p>
                      </m:sSub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 smtClean="0"/>
              </a:p>
              <a:p>
                <a:pPr marL="88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b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p>
                      </m:sSubSup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p>
                      <m:sSubSup>
                        <m:sSubSup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b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b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 smtClean="0"/>
              </a:p>
              <a:p>
                <a:pPr marL="88900" lvl="1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𝑓</m:t>
                        </m:r>
                      </m:sup>
                    </m:sSubSup>
                    <m:r>
                      <a:rPr lang="en-US" sz="20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bSup>
                  </m:oMath>
                </a14:m>
                <a:r>
                  <a:rPr lang="en-US" sz="2000" dirty="0" smtClean="0"/>
                  <a:t> 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981075"/>
                <a:ext cx="11582400" cy="3743325"/>
              </a:xfrm>
              <a:blipFill>
                <a:blip r:embed="rId2"/>
                <a:stretch>
                  <a:fillRect t="-21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524" y="4039683"/>
            <a:ext cx="4181475" cy="24516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Объект 2"/>
              <p:cNvSpPr txBox="1">
                <a:spLocks/>
              </p:cNvSpPr>
              <p:nvPr/>
            </p:nvSpPr>
            <p:spPr>
              <a:xfrm>
                <a:off x="294658" y="2852737"/>
                <a:ext cx="7334865" cy="214312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ru-RU" sz="2400" dirty="0" smtClean="0"/>
                  <a:t>где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𝑓</m:t>
                        </m:r>
                      </m:sup>
                    </m:sSubSup>
                  </m:oMath>
                </a14:m>
                <a:r>
                  <a:rPr lang="ru-RU" sz="2000" dirty="0" smtClean="0"/>
                  <a:t> - значении вектора состояния рассчитанное слева на право (вперед);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bSup>
                  </m:oMath>
                </a14:m>
                <a:r>
                  <a:rPr lang="ru-RU" sz="2000" dirty="0" smtClean="0"/>
                  <a:t> - значение рассчитанное по выборке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sz="2000" dirty="0" smtClean="0"/>
                  <a:t> справа на лево (корректировка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𝑓</m:t>
                        </m:r>
                      </m:sup>
                    </m:sSubSup>
                  </m:oMath>
                </a14:m>
                <a:r>
                  <a:rPr lang="ru-RU" sz="2000" dirty="0" smtClean="0"/>
                  <a:t> на каждом шаге)</a:t>
                </a:r>
                <a:endParaRPr lang="en-US" sz="2000" dirty="0"/>
              </a:p>
            </p:txBody>
          </p:sp>
        </mc:Choice>
        <mc:Fallback xmlns="">
          <p:sp>
            <p:nvSpPr>
              <p:cNvPr id="8" name="Объект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658" y="2852737"/>
                <a:ext cx="7334865" cy="2143125"/>
              </a:xfrm>
              <a:prstGeom prst="rect">
                <a:avLst/>
              </a:prstGeom>
              <a:blipFill>
                <a:blip r:embed="rId4"/>
                <a:stretch>
                  <a:fillRect l="-1246" t="-36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8" name="Picture 2" descr="A Bidirectional LSTM-RNN and GRU Method to Exon Prediction Using  Splice-Site Mapping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5581" y="3267314"/>
            <a:ext cx="3892857" cy="3223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Time series forecasting with deep stacked unidirectional and bidirectional  LSTMs | by Manohar Battula | TDS Archive | Medium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7390" y="5129212"/>
            <a:ext cx="3352800" cy="136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6573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57857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123950"/>
            <a:ext cx="10725150" cy="5476875"/>
          </a:xfrm>
        </p:spPr>
        <p:txBody>
          <a:bodyPr>
            <a:normAutofit/>
          </a:bodyPr>
          <a:lstStyle/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Недостатком подходов обучения с </a:t>
            </a:r>
            <a:r>
              <a:rPr lang="en-US" altLang="ru-RU" sz="2200" dirty="0">
                <a:latin typeface="-apple-system"/>
              </a:rPr>
              <a:t>RNN </a:t>
            </a:r>
            <a:r>
              <a:rPr lang="ru-RU" altLang="ru-RU" sz="2200" dirty="0">
                <a:latin typeface="-apple-system"/>
              </a:rPr>
              <a:t>является не возможность учета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Для решения этой проблемы используются </a:t>
            </a:r>
            <a:r>
              <a:rPr lang="ru-RU" altLang="ru-RU" sz="2200" dirty="0">
                <a:latin typeface="var(--jp-code-font-family)"/>
              </a:rPr>
              <a:t>LSTM</a:t>
            </a:r>
            <a:r>
              <a:rPr lang="ru-RU" altLang="ru-RU" sz="2200" dirty="0">
                <a:latin typeface="-apple-system"/>
              </a:rPr>
              <a:t> и </a:t>
            </a:r>
            <a:r>
              <a:rPr lang="ru-RU" altLang="ru-RU" sz="2200" dirty="0">
                <a:latin typeface="var(--jp-code-font-family)"/>
              </a:rPr>
              <a:t>GRU</a:t>
            </a:r>
            <a:r>
              <a:rPr lang="ru-RU" altLang="ru-RU" sz="2200" dirty="0">
                <a:latin typeface="-apple-system"/>
              </a:rPr>
              <a:t> ячейки, которые имеют учет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sz="2200" dirty="0"/>
              <a:t>в литературе можно найти и другие варианты модификаций. 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50543"/>
            <a:ext cx="9810750" cy="3257550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5386717" y="6416159"/>
            <a:ext cx="59670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https://colah.github.io/posts/2015-08-Understanding-LSTMs/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93104" y="6382047"/>
            <a:ext cx="33100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https://arxiv.org/pdf/2305.17473</a:t>
            </a:r>
          </a:p>
        </p:txBody>
      </p:sp>
    </p:spTree>
    <p:extLst>
      <p:ext uri="{BB962C8B-B14F-4D97-AF65-F5344CB8AC3E}">
        <p14:creationId xmlns:p14="http://schemas.microsoft.com/office/powerpoint/2010/main" val="492496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8000" y="365125"/>
            <a:ext cx="10845800" cy="790575"/>
          </a:xfrm>
        </p:spPr>
        <p:txBody>
          <a:bodyPr/>
          <a:lstStyle/>
          <a:p>
            <a:r>
              <a:rPr lang="ru-RU" dirty="0" smtClean="0"/>
              <a:t>Долгосрочно-краткосрочная </a:t>
            </a:r>
            <a:r>
              <a:rPr lang="en-US" dirty="0" smtClean="0"/>
              <a:t>RNN = LSTM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17500" y="1146174"/>
            <a:ext cx="11455400" cy="5232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300" dirty="0" smtClean="0"/>
              <a:t>Контекст обучения можно увеличить, если частично его забывать.</a:t>
            </a:r>
          </a:p>
          <a:p>
            <a:pPr lvl="1"/>
            <a:r>
              <a:rPr lang="ru-RU" sz="2300" dirty="0" smtClean="0"/>
              <a:t>Однако, как не забывать действительно важный контекст.</a:t>
            </a:r>
          </a:p>
          <a:p>
            <a:pPr marL="0" indent="0">
              <a:buNone/>
            </a:pPr>
            <a:r>
              <a:rPr lang="ru-RU" sz="2300" b="1" dirty="0" smtClean="0"/>
              <a:t>Идея</a:t>
            </a:r>
            <a:r>
              <a:rPr lang="ru-RU" sz="2300" dirty="0" smtClean="0"/>
              <a:t>: ввести краткосрочное и долгоиграющее скрытые состояния. </a:t>
            </a:r>
          </a:p>
          <a:p>
            <a:pPr lvl="1"/>
            <a:r>
              <a:rPr lang="ru-RU" sz="2300" dirty="0" smtClean="0"/>
              <a:t>Долговременный контекст – тренд + цикличность временного ряда</a:t>
            </a:r>
            <a:r>
              <a:rPr lang="en-US" sz="2300" dirty="0" smtClean="0"/>
              <a:t> </a:t>
            </a:r>
            <a:r>
              <a:rPr lang="ru-RU" sz="2300" dirty="0" smtClean="0"/>
              <a:t>(память)</a:t>
            </a:r>
          </a:p>
          <a:p>
            <a:pPr lvl="2"/>
            <a:r>
              <a:rPr lang="ru-RU" sz="1900" dirty="0" smtClean="0"/>
              <a:t>Веса должны меняться медленно</a:t>
            </a:r>
          </a:p>
          <a:p>
            <a:pPr lvl="1"/>
            <a:r>
              <a:rPr lang="ru-RU" sz="2300" dirty="0" smtClean="0"/>
              <a:t>Кратковременный контекст – текущая сезонность ВР (скрытое состояние)</a:t>
            </a:r>
          </a:p>
          <a:p>
            <a:pPr lvl="2"/>
            <a:r>
              <a:rPr lang="ru-RU" sz="1900" dirty="0" smtClean="0"/>
              <a:t>Веся постоянно обновляются</a:t>
            </a:r>
          </a:p>
          <a:p>
            <a:pPr marL="265113" lvl="1"/>
            <a:r>
              <a:rPr lang="ru-RU" sz="2300" dirty="0" smtClean="0"/>
              <a:t>Такая архитектура называется </a:t>
            </a:r>
            <a:r>
              <a:rPr lang="en-US" dirty="0"/>
              <a:t>long short-term memory (LSTM) </a:t>
            </a:r>
            <a:endParaRPr lang="ru-RU" sz="2300" dirty="0" smtClean="0"/>
          </a:p>
        </p:txBody>
      </p:sp>
      <p:pic>
        <p:nvPicPr>
          <p:cNvPr id="6146" name="Picture 2" descr="https://mintlify.s3.us-west-1.amazonaws.com/nixtla/neuralforecast/docs/tutorials/01_getting_started_complete_files/figure-markdown_strict/cell-23-output-1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58"/>
          <a:stretch/>
        </p:blipFill>
        <p:spPr bwMode="auto">
          <a:xfrm>
            <a:off x="4955458" y="4876542"/>
            <a:ext cx="7033342" cy="1815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5676900" y="6553200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https://nixtlaverse.nixtla.io/neuralforecast/docs/tutorials/getting_started_complete.html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6367463" y="5014913"/>
            <a:ext cx="4233862" cy="11890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6678612" y="6137701"/>
            <a:ext cx="38481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 smtClean="0"/>
              <a:t>Долговременный контекст – изменение среднего </a:t>
            </a:r>
            <a:endParaRPr lang="ru-RU" sz="1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8724900" y="5095363"/>
            <a:ext cx="1226820" cy="995486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7414260" y="4701789"/>
            <a:ext cx="38481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 smtClean="0"/>
              <a:t>Кратковременный контекст – сезонность</a:t>
            </a:r>
            <a:endParaRPr lang="ru-RU" sz="12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182678" y="6553199"/>
            <a:ext cx="339977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https://d2l.ai/chapter_recurrent-modern/lstm.html</a:t>
            </a: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05" y="4411713"/>
            <a:ext cx="4108348" cy="205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926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66968" y="55304"/>
            <a:ext cx="10845800" cy="790575"/>
          </a:xfrm>
        </p:spPr>
        <p:txBody>
          <a:bodyPr/>
          <a:lstStyle/>
          <a:p>
            <a:pPr algn="ctr"/>
            <a:r>
              <a:rPr lang="ru-RU" dirty="0" smtClean="0"/>
              <a:t>Долгосрочно-краткосрочная </a:t>
            </a:r>
            <a:r>
              <a:rPr lang="en-US" dirty="0" smtClean="0"/>
              <a:t>RNN = LSTM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44411" y="750669"/>
                <a:ext cx="11455400" cy="523240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200" dirty="0" smtClean="0"/>
                  <a:t>Каждая ячейка памяти оснащена входами </a:t>
                </a:r>
                <a:r>
                  <a:rPr lang="en-US" sz="2200" dirty="0" smtClean="0"/>
                  <a:t>(gates)</a:t>
                </a:r>
                <a:r>
                  <a:rPr lang="ru-RU" sz="2200" dirty="0"/>
                  <a:t> </a:t>
                </a:r>
                <a:r>
                  <a:rPr lang="ru-RU" sz="2200" dirty="0" smtClean="0"/>
                  <a:t>и внутренним состоянием </a:t>
                </a:r>
                <a:r>
                  <a:rPr lang="en-US" sz="2200" dirty="0" smtClean="0"/>
                  <a:t>(node)</a:t>
                </a:r>
                <a:endParaRPr lang="ru-RU" sz="2200" dirty="0" smtClean="0"/>
              </a:p>
              <a:p>
                <a:pPr marL="0" lv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ru-RU" sz="22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ru-RU" sz="22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sup>
                              </m:sSup>
                              <m: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ru-RU" altLang="ru-RU" sz="22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−вход </m:t>
                      </m:r>
                    </m:oMath>
                  </m:oMathPara>
                </a14:m>
                <a:endParaRPr lang="en-US" sz="2200" dirty="0" smtClean="0"/>
              </a:p>
              <a:p>
                <a:pPr marL="0" lv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altLang="ru-RU" sz="2200" b="0" i="1" dirty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sup>
                              </m:sSup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ru-RU" altLang="ru-RU" sz="22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−забвение</m:t>
                      </m:r>
                    </m:oMath>
                  </m:oMathPara>
                </a14:m>
                <a:endParaRPr lang="en-US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̌"/>
                              <m:ctrlPr>
                                <a:rPr lang="en-US" altLang="ru-RU" sz="220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acc>
                        </m:e>
                        <m: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ru-RU" sz="2200" b="0" i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p>
                                    <m:sSupPr>
                                      <m:ctrlPr>
                                        <a:rPr lang="en-US" altLang="ru-RU" sz="2200" i="1" dirty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ru-RU" sz="2200" i="1" dirty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p>
                                      <m:r>
                                        <a:rPr lang="en-US" altLang="ru-RU" sz="2200" i="1" dirty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sup>
                                  </m:sSup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ru-RU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ru-RU" altLang="ru-RU" sz="22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внутренее состояние</m:t>
                      </m:r>
                    </m:oMath>
                  </m:oMathPara>
                </a14:m>
                <a:endParaRPr lang="en-US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200" dirty="0" smtClean="0"/>
                  <a:t>Использование </a:t>
                </a:r>
                <a14:m>
                  <m:oMath xmlns:m="http://schemas.openxmlformats.org/officeDocument/2006/math">
                    <m:r>
                      <a:rPr lang="en-US" altLang="ru-RU" sz="22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ru-RU" sz="2200" dirty="0" smtClean="0"/>
                  <a:t> задает интервалы значений от 0 до 1</a:t>
                </a:r>
                <a:r>
                  <a:rPr lang="en-US" sz="2200" dirty="0" smtClean="0"/>
                  <a:t>, </a:t>
                </a:r>
                <a:r>
                  <a:rPr lang="ru-RU" sz="2200" dirty="0" smtClean="0"/>
                  <a:t>значение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ru-RU" sz="2200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tanh</m:t>
                    </m:r>
                  </m:oMath>
                </a14:m>
                <a:r>
                  <a:rPr lang="ru-RU" sz="2200" dirty="0" smtClean="0"/>
                  <a:t> от -1 до 1.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200" dirty="0" smtClean="0"/>
                  <a:t>Долгосрочная память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 smtClean="0"/>
                  <a:t> задается как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sSub>
                        <m:sSub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̌"/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acc>
                        </m:e>
                        <m: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200" dirty="0" smtClean="0"/>
                  <a:t>где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</m:oMath>
                </a14:m>
                <a:r>
                  <a:rPr lang="ru-RU" sz="2200" dirty="0" smtClean="0"/>
                  <a:t> - поэлементное произведение. </a:t>
                </a:r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ru-RU" sz="2000" dirty="0" smtClean="0"/>
                  <a:t>Элемент забвения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000" dirty="0" smtClean="0"/>
                  <a:t> определяет то на сколько важно предыдущее состояние памяти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</m:oMath>
                </a14:m>
                <a:endParaRPr lang="ru-RU" sz="2000" dirty="0" smtClean="0"/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ru-RU" sz="2000" dirty="0" smtClean="0"/>
                  <a:t>Элемент входа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000" dirty="0" smtClean="0"/>
                  <a:t> </a:t>
                </a:r>
                <a:r>
                  <a:rPr lang="ru-RU" sz="2000" dirty="0"/>
                  <a:t>определяет то на сколько </a:t>
                </a:r>
                <a:r>
                  <a:rPr lang="ru-RU" sz="2000" dirty="0" smtClean="0"/>
                  <a:t> важно текущее внутреннее 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̌"/>
                            <m:ctrlPr>
                              <a:rPr lang="en-US" alt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  <m:sub>
                        <m:r>
                          <a:rPr lang="en-US" alt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000" dirty="0" smtClean="0"/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ru-RU" sz="2000" dirty="0" smtClean="0"/>
                  <a:t>Элемент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  <m:sSub>
                      <m:sSubPr>
                        <m:ctrlPr>
                          <a:rPr lang="en-US" alt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̌"/>
                            <m:ctrlPr>
                              <a:rPr lang="en-US" alt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  <m:sub>
                        <m:r>
                          <a:rPr lang="en-US" alt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000" dirty="0" smtClean="0"/>
                  <a:t> - добавка к памяти.</a:t>
                </a:r>
                <a:endParaRPr lang="en-US" sz="2000" dirty="0"/>
              </a:p>
              <a:p>
                <a:pPr marL="0" lv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endParaRPr lang="en-US" sz="2400" dirty="0" smtClean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4411" y="750669"/>
                <a:ext cx="11455400" cy="5232400"/>
              </a:xfrm>
              <a:blipFill>
                <a:blip r:embed="rId2"/>
                <a:stretch>
                  <a:fillRect l="-692" t="-81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3"/>
          <a:srcRect r="5138" b="20057"/>
          <a:stretch/>
        </p:blipFill>
        <p:spPr>
          <a:xfrm>
            <a:off x="6518787" y="4493707"/>
            <a:ext cx="5417574" cy="2364293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3"/>
          <a:srcRect t="80926"/>
          <a:stretch/>
        </p:blipFill>
        <p:spPr>
          <a:xfrm>
            <a:off x="144412" y="5945547"/>
            <a:ext cx="6669343" cy="658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6690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66968" y="55304"/>
            <a:ext cx="10845800" cy="790575"/>
          </a:xfrm>
        </p:spPr>
        <p:txBody>
          <a:bodyPr/>
          <a:lstStyle/>
          <a:p>
            <a:pPr algn="ctr"/>
            <a:r>
              <a:rPr lang="ru-RU" dirty="0" smtClean="0"/>
              <a:t>Долгосрочно-краткосрочная </a:t>
            </a:r>
            <a:r>
              <a:rPr lang="en-US" dirty="0" smtClean="0"/>
              <a:t>RNN = LSTM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66967" y="713148"/>
                <a:ext cx="11697213" cy="523240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200" dirty="0" smtClean="0"/>
                  <a:t>Выход системы – ее внутреннее состояние. Определяете выходным элементом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ru-RU" sz="220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altLang="ru-RU" sz="2200" b="0" i="1" dirty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𝑂</m:t>
                                  </m:r>
                                </m:sup>
                              </m:sSup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ru-RU" altLang="ru-RU" sz="22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−выход</m:t>
                      </m:r>
                    </m:oMath>
                  </m:oMathPara>
                </a14:m>
                <a:endParaRPr lang="ru-RU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r>
                        <m:rPr>
                          <m:sty m:val="p"/>
                        </m:rPr>
                        <a:rPr lang="en-US" sz="2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tanh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200" dirty="0" smtClean="0"/>
              </a:p>
              <a:p>
                <a:pPr marL="0" lv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400" dirty="0" smtClean="0"/>
                  <a:t>Если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4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ru-RU" sz="24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ru-RU" sz="24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ru-RU" sz="24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400" dirty="0" smtClean="0"/>
                  <a:t> близко к 1 – скрытое состояние задается полностью долгосрочной памятью – важен тренд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400" dirty="0" smtClean="0"/>
                  <a:t>Если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4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ru-RU" sz="24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ru-RU" sz="24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ru-RU" sz="24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400" dirty="0"/>
                  <a:t> близко к </a:t>
                </a:r>
                <a:r>
                  <a:rPr lang="ru-RU" sz="2400" dirty="0" smtClean="0"/>
                  <a:t>0 – скрытое состояние игнорируется – важны текущие колебания.</a:t>
                </a:r>
                <a:endParaRPr lang="en-US" sz="2400" dirty="0" smtClean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6967" y="713148"/>
                <a:ext cx="11697213" cy="5232400"/>
              </a:xfrm>
              <a:blipFill>
                <a:blip r:embed="rId2"/>
                <a:stretch>
                  <a:fillRect l="-782" t="-816" r="-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3"/>
          <a:srcRect t="80926"/>
          <a:stretch/>
        </p:blipFill>
        <p:spPr>
          <a:xfrm>
            <a:off x="144412" y="5945548"/>
            <a:ext cx="6059743" cy="598546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4155" y="4027154"/>
            <a:ext cx="6060511" cy="2830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9687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5807" y="116459"/>
            <a:ext cx="11127658" cy="56894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Долгосрочно-краткосрочная </a:t>
            </a:r>
            <a:r>
              <a:rPr lang="en-US" dirty="0" smtClean="0"/>
              <a:t>RNN = LSTM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45807" y="685399"/>
            <a:ext cx="11715294" cy="34884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 smtClean="0"/>
              <a:t>LSTM </a:t>
            </a:r>
            <a:r>
              <a:rPr lang="ru-RU" sz="2400" dirty="0" smtClean="0"/>
              <a:t>отвечает на вопросы</a:t>
            </a:r>
          </a:p>
          <a:p>
            <a:r>
              <a:rPr lang="ru-RU" sz="2400" dirty="0" smtClean="0"/>
              <a:t>Компактное представление временного ряда (контекст), </a:t>
            </a:r>
            <a:endParaRPr lang="en-US" sz="2400" dirty="0" smtClean="0"/>
          </a:p>
          <a:p>
            <a:r>
              <a:rPr lang="ru-RU" sz="2400" dirty="0" smtClean="0"/>
              <a:t>как объединить новые входные данные с прошлым представлением ряда</a:t>
            </a:r>
            <a:endParaRPr lang="en-US" sz="2400" dirty="0" smtClean="0"/>
          </a:p>
          <a:p>
            <a:r>
              <a:rPr lang="ru-RU" sz="2400" dirty="0" smtClean="0"/>
              <a:t>Что уже нужно забыть о ВР  </a:t>
            </a:r>
          </a:p>
          <a:p>
            <a:r>
              <a:rPr lang="ru-RU" sz="2400" dirty="0" smtClean="0"/>
              <a:t>Что выводить в качестве прогноза для следующего временного шага.</a:t>
            </a:r>
          </a:p>
          <a:p>
            <a:pPr marL="0" indent="0">
              <a:buNone/>
            </a:pPr>
            <a:r>
              <a:rPr lang="en-US" sz="2400" dirty="0" smtClean="0"/>
              <a:t>LSTM </a:t>
            </a:r>
            <a:r>
              <a:rPr lang="ru-RU" sz="2400" dirty="0" smtClean="0"/>
              <a:t>позволяет строить среднесрочные прогнозы с достаточным контекстом. </a:t>
            </a:r>
          </a:p>
          <a:p>
            <a:pPr marL="0" indent="0">
              <a:buNone/>
            </a:pPr>
            <a:r>
              <a:rPr lang="en-US" sz="2400" dirty="0" smtClean="0"/>
              <a:t>LSTM</a:t>
            </a:r>
            <a:r>
              <a:rPr lang="ru-RU" sz="2400" dirty="0" smtClean="0"/>
              <a:t> это </a:t>
            </a:r>
            <a:r>
              <a:rPr lang="ru-RU" sz="2400" dirty="0" err="1" smtClean="0"/>
              <a:t>бейзлайн</a:t>
            </a:r>
            <a:r>
              <a:rPr lang="ru-RU" sz="2400" dirty="0" smtClean="0"/>
              <a:t> </a:t>
            </a:r>
            <a:r>
              <a:rPr lang="en-US" sz="2400" dirty="0" smtClean="0"/>
              <a:t>DL </a:t>
            </a:r>
            <a:r>
              <a:rPr lang="ru-RU" sz="2400" dirty="0" smtClean="0"/>
              <a:t>моделей предсказания ВР</a:t>
            </a:r>
          </a:p>
        </p:txBody>
      </p:sp>
      <p:pic>
        <p:nvPicPr>
          <p:cNvPr id="8194" name="Picture 2" descr="LSTM predic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3017" y="4210381"/>
            <a:ext cx="3895562" cy="2512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ARIMA prediction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8475" y="4173899"/>
            <a:ext cx="3728637" cy="2492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 descr="The train and test subsets of the VWAP time serie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51" y="4267200"/>
            <a:ext cx="3582596" cy="239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6254319" y="6502047"/>
            <a:ext cx="38373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https://neptune.ai/blog/arima-vs-prophet-vs-lstm</a:t>
            </a:r>
          </a:p>
        </p:txBody>
      </p:sp>
    </p:spTree>
    <p:extLst>
      <p:ext uri="{BB962C8B-B14F-4D97-AF65-F5344CB8AC3E}">
        <p14:creationId xmlns:p14="http://schemas.microsoft.com/office/powerpoint/2010/main" val="37887070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5972" y="217642"/>
            <a:ext cx="11117826" cy="726256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Gated Recurrent </a:t>
            </a:r>
            <a:r>
              <a:rPr lang="en-US" dirty="0" smtClean="0"/>
              <a:t>Units (GRU)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27818" y="943898"/>
                <a:ext cx="11523407" cy="533891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</a:t>
                </a:r>
                <a:r>
                  <a:rPr lang="ru-RU" sz="2200" dirty="0" smtClean="0"/>
                  <a:t>: число </a:t>
                </a:r>
                <a:r>
                  <a:rPr lang="ru-RU" sz="2200" dirty="0" err="1" smtClean="0"/>
                  <a:t>гейтов</a:t>
                </a:r>
                <a:r>
                  <a:rPr lang="ru-RU" sz="2200" dirty="0" smtClean="0"/>
                  <a:t> в </a:t>
                </a:r>
                <a:r>
                  <a:rPr lang="en-US" sz="2200" dirty="0" smtClean="0"/>
                  <a:t>LSTM</a:t>
                </a:r>
                <a:r>
                  <a:rPr lang="ru-RU" sz="2200" dirty="0" smtClean="0"/>
                  <a:t> избыточно. Память можно задавать исключительно элементами ее </a:t>
                </a:r>
              </a:p>
              <a:p>
                <a:r>
                  <a:rPr lang="ru-RU" sz="2200" dirty="0" smtClean="0"/>
                  <a:t>обновления (как сильно текущее состояние влияет на контекст – долгосрочная память)</a:t>
                </a:r>
                <a:endParaRPr lang="en-US" sz="2200" dirty="0" smtClean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sup>
                              </m:sSup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ru-RU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𝑢𝑝𝑑𝑎𝑡𝑒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∈[</m:t>
                      </m:r>
                      <m:r>
                        <a:rPr lang="ru-RU" sz="2200" i="1" dirty="0">
                          <a:latin typeface="Cambria Math" panose="02040503050406030204" pitchFamily="18" charset="0"/>
                        </a:rPr>
                        <m:t>0,1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200" dirty="0"/>
              </a:p>
              <a:p>
                <a:r>
                  <a:rPr lang="ru-RU" sz="2200" dirty="0" smtClean="0"/>
                  <a:t>Забвения (на сколько устарел контекст – краткосрочная память)</a:t>
                </a:r>
                <a:endParaRPr lang="ru-RU" sz="2200" dirty="0"/>
              </a:p>
              <a:p>
                <a:pPr marL="0" lv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altLang="ru-RU" sz="2200" b="0" i="1" dirty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sup>
                              </m:sSup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ru-RU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ru-RU" sz="22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𝑟𝑒𝑠𝑒𝑡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∈[</m:t>
                      </m:r>
                      <m:r>
                        <a:rPr lang="ru-RU" sz="2200" i="1" dirty="0">
                          <a:latin typeface="Cambria Math" panose="02040503050406030204" pitchFamily="18" charset="0"/>
                        </a:rPr>
                        <m:t>0,1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200" dirty="0"/>
              </a:p>
              <a:p>
                <a:pPr marL="0" indent="0">
                  <a:buNone/>
                </a:pPr>
                <a:r>
                  <a:rPr lang="ru-RU" sz="2200" dirty="0" smtClean="0"/>
                  <a:t>Интеграция этих функций задет внутреннее состояние</a:t>
                </a:r>
                <a:r>
                  <a:rPr lang="en-US" sz="2200" dirty="0" smtClean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̌"/>
                        <m:ctrlPr>
                          <a:rPr lang="ru-RU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endParaRPr lang="ru-RU" sz="2200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̌"/>
                              <m:ctrlPr>
                                <a:rPr lang="ru-RU" sz="2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200" b="0" i="0" smtClean="0">
                          <a:latin typeface="Cambria Math" panose="02040503050406030204" pitchFamily="18" charset="0"/>
                        </a:rPr>
                        <m:t>tanh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d>
                        <m:d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200" dirty="0" smtClean="0"/>
              </a:p>
              <a:p>
                <a:pPr marL="0" indent="0">
                  <a:buNone/>
                </a:pPr>
                <a:r>
                  <a:rPr lang="ru-RU" sz="2200" dirty="0" smtClean="0"/>
                  <a:t>если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2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ru-RU" sz="22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ru-RU" sz="22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ru-RU" sz="22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 smtClean="0"/>
                  <a:t>=1 получается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(полный учет контекста)</a:t>
                </a:r>
                <a:r>
                  <a:rPr lang="en-US" sz="2200" dirty="0" smtClean="0"/>
                  <a:t>, </a:t>
                </a:r>
              </a:p>
              <a:p>
                <a:pPr marL="0" indent="0">
                  <a:buNone/>
                </a:pPr>
                <a:r>
                  <a:rPr lang="ru-RU" sz="2200" dirty="0" smtClean="0"/>
                  <a:t>если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2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ru-RU" sz="22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ru-RU" sz="22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ru-RU" sz="22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 smtClean="0"/>
                  <a:t>=0 </a:t>
                </a:r>
                <a:r>
                  <a:rPr lang="en-US" sz="2200" dirty="0" smtClean="0"/>
                  <a:t>MLP (reset)</a:t>
                </a:r>
                <a:r>
                  <a:rPr lang="ru-RU" sz="2200" dirty="0" smtClean="0"/>
                  <a:t> </a:t>
                </a:r>
              </a:p>
              <a:p>
                <a:pPr marL="0" indent="0">
                  <a:buNone/>
                </a:pPr>
                <a:r>
                  <a:rPr lang="ru-RU" sz="2200" dirty="0" smtClean="0"/>
                  <a:t>состояние  памяти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 smtClean="0"/>
                  <a:t>– скользящее среднее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200" dirty="0" smtClean="0"/>
                  <a:t> и текущего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̌"/>
                            <m:ctrlPr>
                              <a:rPr lang="ru-RU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200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ru-RU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2200" b="0" i="1" smtClean="0">
                          <a:latin typeface="Cambria Math" panose="02040503050406030204" pitchFamily="18" charset="0"/>
                        </a:rPr>
                        <m:t>+(1−</m:t>
                      </m:r>
                      <m:sSub>
                        <m:sSub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ru-RU" sz="2200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̌"/>
                              <m:ctrlPr>
                                <a:rPr lang="ru-RU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200" dirty="0" smtClean="0"/>
              </a:p>
              <a:p>
                <a:pPr marL="0" indent="0">
                  <a:buNone/>
                </a:pPr>
                <a:r>
                  <a:rPr lang="ru-RU" dirty="0" smtClean="0"/>
                  <a:t>Такая ячейка - </a:t>
                </a:r>
                <a:r>
                  <a:rPr lang="en-US" dirty="0"/>
                  <a:t>Gated Recurrent Units (GRU)</a:t>
                </a: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7818" y="943898"/>
                <a:ext cx="11523407" cy="5338915"/>
              </a:xfrm>
              <a:blipFill>
                <a:blip r:embed="rId2"/>
                <a:stretch>
                  <a:fillRect l="-1111" t="-148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235972" y="6374266"/>
            <a:ext cx="49283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https://d2l.ai/chapter_recurrent-modern/gru.html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l="1643" r="52807"/>
          <a:stretch/>
        </p:blipFill>
        <p:spPr>
          <a:xfrm>
            <a:off x="8229600" y="3930736"/>
            <a:ext cx="3962400" cy="281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5536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95300" y="1913213"/>
            <a:ext cx="6434397" cy="4351338"/>
          </a:xfrm>
        </p:spPr>
        <p:txBody>
          <a:bodyPr/>
          <a:lstStyle/>
          <a:p>
            <a:r>
              <a:rPr lang="ru-RU" dirty="0" smtClean="0"/>
              <a:t>Несмотря на теоретическую обоснованность </a:t>
            </a:r>
            <a:r>
              <a:rPr lang="en-US" dirty="0" smtClean="0"/>
              <a:t>GRU </a:t>
            </a:r>
            <a:r>
              <a:rPr lang="ru-RU" dirty="0" smtClean="0"/>
              <a:t>как правило менее точные чем </a:t>
            </a:r>
            <a:r>
              <a:rPr lang="en-US" dirty="0" smtClean="0"/>
              <a:t>LSTM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6469626" y="6458635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https://github.com/haksorus/walmart-time-series?tab=readme-ov-file</a:t>
            </a:r>
          </a:p>
        </p:txBody>
      </p:sp>
      <p:pic>
        <p:nvPicPr>
          <p:cNvPr id="10242" name="Picture 2" descr="imag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064" y="478495"/>
            <a:ext cx="5207710" cy="2091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0023" y="2851228"/>
            <a:ext cx="4355277" cy="3767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9259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173622"/>
            <a:ext cx="6189031" cy="791736"/>
          </a:xfrm>
        </p:spPr>
        <p:txBody>
          <a:bodyPr/>
          <a:lstStyle/>
          <a:p>
            <a:pPr algn="ctr"/>
            <a:r>
              <a:rPr lang="en-US" dirty="0" smtClean="0"/>
              <a:t>ESRNN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55575" y="1016001"/>
            <a:ext cx="6456533" cy="57721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sz="2400" b="1" dirty="0" smtClean="0"/>
              <a:t>Гибридная модель</a:t>
            </a:r>
          </a:p>
          <a:p>
            <a:r>
              <a:rPr lang="ru-RU" sz="2400" dirty="0" smtClean="0"/>
              <a:t>Часто часть ВР можно описать классически.</a:t>
            </a:r>
          </a:p>
          <a:p>
            <a:r>
              <a:rPr lang="ru-RU" sz="2400" b="1" dirty="0" smtClean="0"/>
              <a:t>Гипотеза</a:t>
            </a:r>
            <a:r>
              <a:rPr lang="ru-RU" sz="2400" dirty="0" smtClean="0"/>
              <a:t>: остаток ВР можно описать </a:t>
            </a:r>
            <a:r>
              <a:rPr lang="en-US" sz="2400" dirty="0" smtClean="0"/>
              <a:t>RNN</a:t>
            </a:r>
          </a:p>
          <a:p>
            <a:r>
              <a:rPr lang="ru-RU" sz="2400" dirty="0" smtClean="0"/>
              <a:t>Модель </a:t>
            </a:r>
            <a:r>
              <a:rPr lang="en-US" sz="2400" dirty="0" smtClean="0"/>
              <a:t>ES RNN </a:t>
            </a:r>
            <a:r>
              <a:rPr lang="ru-RU" sz="2400" dirty="0" smtClean="0"/>
              <a:t> описывает уровень и сезонность при помощи </a:t>
            </a:r>
            <a:r>
              <a:rPr lang="en-US" sz="2400" dirty="0" smtClean="0"/>
              <a:t>ETS (HW).</a:t>
            </a:r>
          </a:p>
          <a:p>
            <a:r>
              <a:rPr lang="ru-RU" sz="2400" dirty="0" smtClean="0"/>
              <a:t>Мультипликативный остаток описывается </a:t>
            </a:r>
            <a:r>
              <a:rPr lang="en-US" sz="2400" dirty="0" smtClean="0"/>
              <a:t>LSTM.</a:t>
            </a:r>
          </a:p>
          <a:p>
            <a:pPr lvl="1"/>
            <a:r>
              <a:rPr lang="en-US" sz="2000" dirty="0" smtClean="0"/>
              <a:t>LSTM temporal</a:t>
            </a:r>
          </a:p>
          <a:p>
            <a:r>
              <a:rPr lang="ru-RU" sz="2400" dirty="0" smtClean="0"/>
              <a:t>Подбор параметров обоих алгоритмов проводится совместно.</a:t>
            </a:r>
          </a:p>
          <a:p>
            <a:pPr marL="0" indent="0">
              <a:buNone/>
            </a:pPr>
            <a:r>
              <a:rPr lang="ru-RU" b="1" dirty="0"/>
              <a:t>Преимущества:</a:t>
            </a:r>
            <a:endParaRPr lang="ru-RU" dirty="0"/>
          </a:p>
          <a:p>
            <a:pPr lvl="1"/>
            <a:r>
              <a:rPr lang="ru-RU" b="1" dirty="0"/>
              <a:t>Интерпретируемость:</a:t>
            </a:r>
            <a:r>
              <a:rPr lang="ru-RU" dirty="0"/>
              <a:t> </a:t>
            </a:r>
            <a:r>
              <a:rPr lang="ru-RU" dirty="0" smtClean="0"/>
              <a:t> </a:t>
            </a:r>
            <a:r>
              <a:rPr lang="ru-RU" dirty="0"/>
              <a:t>в </a:t>
            </a:r>
            <a:r>
              <a:rPr lang="ru-RU" dirty="0" smtClean="0"/>
              <a:t>классическом </a:t>
            </a:r>
            <a:r>
              <a:rPr lang="ru-RU" dirty="0"/>
              <a:t>ETS.</a:t>
            </a:r>
          </a:p>
          <a:p>
            <a:pPr lvl="1"/>
            <a:r>
              <a:rPr lang="ru-RU" b="1" dirty="0"/>
              <a:t>Гибкость:</a:t>
            </a:r>
            <a:r>
              <a:rPr lang="ru-RU" dirty="0"/>
              <a:t> Модель сама учится, какие компоненты (</a:t>
            </a:r>
            <a:r>
              <a:rPr lang="ru-RU" dirty="0" err="1"/>
              <a:t>Error</a:t>
            </a:r>
            <a:r>
              <a:rPr lang="ru-RU" dirty="0"/>
              <a:t>, </a:t>
            </a:r>
            <a:r>
              <a:rPr lang="ru-RU" dirty="0" err="1"/>
              <a:t>Trend</a:t>
            </a:r>
            <a:r>
              <a:rPr lang="ru-RU" dirty="0"/>
              <a:t>, </a:t>
            </a:r>
            <a:r>
              <a:rPr lang="ru-RU" dirty="0" err="1"/>
              <a:t>Seasonality</a:t>
            </a:r>
            <a:r>
              <a:rPr lang="ru-RU" dirty="0"/>
              <a:t>) и их тип </a:t>
            </a:r>
            <a:r>
              <a:rPr lang="ru-RU" dirty="0" smtClean="0"/>
              <a:t>важны </a:t>
            </a:r>
            <a:r>
              <a:rPr lang="ru-RU" dirty="0"/>
              <a:t>для ряда</a:t>
            </a:r>
            <a:r>
              <a:rPr lang="ru-RU" dirty="0" smtClean="0"/>
              <a:t>.</a:t>
            </a:r>
          </a:p>
          <a:p>
            <a:pPr lvl="1"/>
            <a:r>
              <a:rPr lang="ru-RU" b="1" dirty="0" err="1"/>
              <a:t>Н</a:t>
            </a:r>
            <a:r>
              <a:rPr lang="ru-RU" b="1" dirty="0" err="1" smtClean="0"/>
              <a:t>еизбыточность</a:t>
            </a:r>
            <a:r>
              <a:rPr lang="ru-RU" dirty="0" smtClean="0"/>
              <a:t> - </a:t>
            </a:r>
            <a:r>
              <a:rPr lang="en-US" dirty="0" smtClean="0"/>
              <a:t>RNN </a:t>
            </a:r>
            <a:r>
              <a:rPr lang="ru-RU" dirty="0" smtClean="0"/>
              <a:t>только там, где она нужна.</a:t>
            </a:r>
            <a:endParaRPr lang="ru-RU" dirty="0"/>
          </a:p>
        </p:txBody>
      </p:sp>
      <p:sp>
        <p:nvSpPr>
          <p:cNvPr id="4" name="AutoShape 2" descr="https://miro.medium.com/v2/resize:fit:875/1*E-9obpPKnIRRAjZu9drfMg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8838098" y="6511151"/>
            <a:ext cx="297158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dirty="0"/>
              <a:t>https://ar5iv.labs.arxiv.org/html/1907.03329</a:t>
            </a:r>
            <a:endParaRPr lang="ru-RU" sz="1200" dirty="0"/>
          </a:p>
        </p:txBody>
      </p:sp>
      <p:pic>
        <p:nvPicPr>
          <p:cNvPr id="1028" name="Picture 4" descr="Refer to caption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4908" y="2995735"/>
            <a:ext cx="5007437" cy="3515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118277" y="651115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https://www.sciencedirect.com/science/article/abs/pii/S0169207019301153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859" y="160338"/>
            <a:ext cx="5689044" cy="2720074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5055220" y="6434206"/>
            <a:ext cx="6096000" cy="43088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050" dirty="0"/>
              <a:t>https://isf.forecasters.org/wp-content/uploads/gravity_forms/2-dd30f7ae09136fa695c552259bdb3f99/2019/06/M4.pdf</a:t>
            </a:r>
          </a:p>
        </p:txBody>
      </p:sp>
    </p:spTree>
    <p:extLst>
      <p:ext uri="{BB962C8B-B14F-4D97-AF65-F5344CB8AC3E}">
        <p14:creationId xmlns:p14="http://schemas.microsoft.com/office/powerpoint/2010/main" val="11711049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0904" y="52891"/>
            <a:ext cx="6623824" cy="660787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smtClean="0"/>
              <a:t>Deep AR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1235" y="602806"/>
            <a:ext cx="6846849" cy="5985889"/>
          </a:xfrm>
        </p:spPr>
        <p:txBody>
          <a:bodyPr>
            <a:normAutofit fontScale="85000" lnSpcReduction="2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2500" b="1" dirty="0" smtClean="0"/>
              <a:t>Преимущества, особенности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500" dirty="0" smtClean="0"/>
              <a:t>Вероятностное </a:t>
            </a:r>
            <a:r>
              <a:rPr lang="ru-RU" sz="2500" dirty="0"/>
              <a:t>предсказание: </a:t>
            </a:r>
            <a:r>
              <a:rPr lang="ru-RU" sz="2500" dirty="0" smtClean="0"/>
              <a:t>предсказывает </a:t>
            </a:r>
            <a:r>
              <a:rPr lang="ru-RU" sz="2500" dirty="0"/>
              <a:t>распределение (например, нормальное, отрицательное биномиальное</a:t>
            </a:r>
            <a:r>
              <a:rPr lang="ru-RU" sz="2500" dirty="0" smtClean="0"/>
              <a:t>). Предсказание – медиана распределения.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500" dirty="0"/>
              <a:t>Выбор распределение – подстройка к разным типам данных (напр. для счетных данных</a:t>
            </a:r>
            <a:r>
              <a:rPr lang="ru-RU" sz="2500" dirty="0" smtClean="0"/>
              <a:t>)</a:t>
            </a:r>
            <a:endParaRPr lang="en-US" sz="2500" dirty="0" smtClean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500" dirty="0" err="1" smtClean="0"/>
              <a:t>Лосс</a:t>
            </a:r>
            <a:r>
              <a:rPr lang="ru-RU" sz="2500" dirty="0" smtClean="0"/>
              <a:t> – по распределению</a:t>
            </a:r>
            <a:endParaRPr lang="ru-RU" sz="2500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500" dirty="0" smtClean="0"/>
              <a:t>Авторегрессия на основе </a:t>
            </a:r>
            <a:r>
              <a:rPr lang="en-US" sz="2500" dirty="0" smtClean="0"/>
              <a:t>RNN </a:t>
            </a:r>
            <a:r>
              <a:rPr lang="ru-RU" sz="2500" dirty="0" smtClean="0"/>
              <a:t>моделирует динамику от времени.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500" dirty="0" smtClean="0"/>
              <a:t>Можно добавлять экзогенные факторы.</a:t>
            </a:r>
          </a:p>
          <a:p>
            <a:pPr marL="0" lv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2500" b="1" dirty="0"/>
              <a:t>Недостатки </a:t>
            </a:r>
            <a:r>
              <a:rPr lang="ru-RU" sz="2500" b="1" dirty="0" err="1"/>
              <a:t>DeepAR</a:t>
            </a:r>
            <a:endParaRPr lang="ru-RU" sz="25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500" dirty="0"/>
              <a:t>Требуется </a:t>
            </a:r>
            <a:r>
              <a:rPr lang="ru-RU" sz="2500" dirty="0" smtClean="0"/>
              <a:t>много данных для обучения.</a:t>
            </a:r>
            <a:endParaRPr lang="ru-RU" sz="25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500" dirty="0"/>
              <a:t>Нет настройки модели для отдельных </a:t>
            </a:r>
            <a:r>
              <a:rPr lang="ru-RU" sz="2500" dirty="0" smtClean="0"/>
              <a:t>ВР.</a:t>
            </a:r>
            <a:endParaRPr lang="ru-RU" sz="25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500" dirty="0"/>
              <a:t>Данные должны </a:t>
            </a:r>
            <a:r>
              <a:rPr lang="ru-RU" sz="2500" dirty="0" smtClean="0"/>
              <a:t>нормироваться.</a:t>
            </a:r>
            <a:endParaRPr lang="ru-RU" sz="25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500" dirty="0"/>
              <a:t>Позволяют получить сравнительно высокую производительность только на огромном объекте объединенных данных. </a:t>
            </a:r>
          </a:p>
          <a:p>
            <a:endParaRPr lang="ru-RU" sz="2400" dirty="0" smtClean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l="4121"/>
          <a:stretch/>
        </p:blipFill>
        <p:spPr>
          <a:xfrm>
            <a:off x="7002966" y="2738812"/>
            <a:ext cx="5189034" cy="4119188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l="50607"/>
          <a:stretch/>
        </p:blipFill>
        <p:spPr>
          <a:xfrm>
            <a:off x="6969514" y="0"/>
            <a:ext cx="4902454" cy="268810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3855749" y="6631711"/>
            <a:ext cx="403129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https://www.telesens.co/2019/06/08/time-series-prediction/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66905" y="6604084"/>
            <a:ext cx="382348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100" dirty="0"/>
              <a:t>https://blog.dataiku.com/deep-learning-time-series-forecasting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33453" y="6430263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050" dirty="0" smtClean="0"/>
              <a:t>https://readmedium.com/deepar-mastering-time-series-forecasting-with-deep-learning-bc717771ce85</a:t>
            </a:r>
            <a:endParaRPr lang="ru-RU" sz="1050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5743063" y="6422568"/>
            <a:ext cx="226664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https://arxiv.org/pdf/1704.04110</a:t>
            </a:r>
          </a:p>
        </p:txBody>
      </p:sp>
    </p:spTree>
    <p:extLst>
      <p:ext uri="{BB962C8B-B14F-4D97-AF65-F5344CB8AC3E}">
        <p14:creationId xmlns:p14="http://schemas.microsoft.com/office/powerpoint/2010/main" val="133697154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5624</TotalTime>
  <Words>742</Words>
  <Application>Microsoft Office PowerPoint</Application>
  <PresentationFormat>Широкоэкранный</PresentationFormat>
  <Paragraphs>189</Paragraphs>
  <Slides>20</Slides>
  <Notes>0</Notes>
  <HiddenSlides>2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7" baseType="lpstr">
      <vt:lpstr>-apple-system</vt:lpstr>
      <vt:lpstr>Arial</vt:lpstr>
      <vt:lpstr>Calibri</vt:lpstr>
      <vt:lpstr>Calibri Light</vt:lpstr>
      <vt:lpstr>Cambria Math</vt:lpstr>
      <vt:lpstr>var(--jp-code-font-family)</vt:lpstr>
      <vt:lpstr>Тема Office</vt:lpstr>
      <vt:lpstr>Использование методов глубокого обучения в анализе временных рядов</vt:lpstr>
      <vt:lpstr>Проблемы AR – Net подхода</vt:lpstr>
      <vt:lpstr>Проблемы MLP подхода для сложных паттернов</vt:lpstr>
      <vt:lpstr>Рекуррентные подходы.</vt:lpstr>
      <vt:lpstr>Простая рекуррентная нейронные сети</vt:lpstr>
      <vt:lpstr>RNN Интуиция</vt:lpstr>
      <vt:lpstr>RNN типы подходов</vt:lpstr>
      <vt:lpstr>RNN. Особенности обучения </vt:lpstr>
      <vt:lpstr>RNN. Ограниченное обучение</vt:lpstr>
      <vt:lpstr>Расширение контекста RNN</vt:lpstr>
      <vt:lpstr>BiDiretional RNN</vt:lpstr>
      <vt:lpstr>Рекуррентные нейронные сети</vt:lpstr>
      <vt:lpstr>Долгосрочно-краткосрочная RNN = LSTM</vt:lpstr>
      <vt:lpstr>Долгосрочно-краткосрочная RNN = LSTM</vt:lpstr>
      <vt:lpstr>Долгосрочно-краткосрочная RNN = LSTM</vt:lpstr>
      <vt:lpstr>Долгосрочно-краткосрочная RNN = LSTM</vt:lpstr>
      <vt:lpstr>Gated Recurrent Units (GRU)</vt:lpstr>
      <vt:lpstr>Презентация PowerPoint</vt:lpstr>
      <vt:lpstr>ESRNN</vt:lpstr>
      <vt:lpstr>Deep AR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365</cp:revision>
  <dcterms:created xsi:type="dcterms:W3CDTF">2021-11-21T16:45:21Z</dcterms:created>
  <dcterms:modified xsi:type="dcterms:W3CDTF">2025-08-29T05:50:56Z</dcterms:modified>
</cp:coreProperties>
</file>