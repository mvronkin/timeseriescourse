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7" r:id="rId3"/>
    <p:sldId id="409" r:id="rId4"/>
    <p:sldId id="422" r:id="rId5"/>
    <p:sldId id="425" r:id="rId6"/>
    <p:sldId id="426" r:id="rId7"/>
    <p:sldId id="423" r:id="rId8"/>
    <p:sldId id="424" r:id="rId9"/>
    <p:sldId id="408" r:id="rId10"/>
    <p:sldId id="418" r:id="rId11"/>
    <p:sldId id="410" r:id="rId12"/>
    <p:sldId id="411" r:id="rId13"/>
    <p:sldId id="414" r:id="rId14"/>
    <p:sldId id="415" r:id="rId15"/>
    <p:sldId id="413" r:id="rId16"/>
    <p:sldId id="416" r:id="rId17"/>
    <p:sldId id="412" r:id="rId18"/>
    <p:sldId id="419" r:id="rId19"/>
    <p:sldId id="421" r:id="rId20"/>
    <p:sldId id="420" r:id="rId21"/>
    <p:sldId id="406" r:id="rId22"/>
    <p:sldId id="417" r:id="rId23"/>
    <p:sldId id="336" r:id="rId24"/>
    <p:sldId id="397" r:id="rId25"/>
    <p:sldId id="261" r:id="rId26"/>
    <p:sldId id="337" r:id="rId27"/>
    <p:sldId id="339" r:id="rId28"/>
    <p:sldId id="340" r:id="rId29"/>
    <p:sldId id="341" r:id="rId30"/>
    <p:sldId id="342" r:id="rId31"/>
    <p:sldId id="343" r:id="rId32"/>
    <p:sldId id="344" r:id="rId33"/>
    <p:sldId id="345" r:id="rId34"/>
    <p:sldId id="346" r:id="rId35"/>
    <p:sldId id="347" r:id="rId36"/>
    <p:sldId id="348" r:id="rId37"/>
    <p:sldId id="349" r:id="rId38"/>
    <p:sldId id="350" r:id="rId39"/>
    <p:sldId id="351" r:id="rId40"/>
    <p:sldId id="352" r:id="rId41"/>
    <p:sldId id="353" r:id="rId42"/>
    <p:sldId id="354" r:id="rId43"/>
    <p:sldId id="355" r:id="rId44"/>
    <p:sldId id="356" r:id="rId45"/>
    <p:sldId id="357" r:id="rId46"/>
    <p:sldId id="358" r:id="rId47"/>
    <p:sldId id="359" r:id="rId48"/>
    <p:sldId id="360" r:id="rId49"/>
    <p:sldId id="361" r:id="rId50"/>
    <p:sldId id="362" r:id="rId51"/>
    <p:sldId id="363" r:id="rId52"/>
    <p:sldId id="364" r:id="rId53"/>
    <p:sldId id="365" r:id="rId54"/>
    <p:sldId id="366" r:id="rId55"/>
    <p:sldId id="367" r:id="rId56"/>
    <p:sldId id="368" r:id="rId57"/>
    <p:sldId id="369" r:id="rId58"/>
    <p:sldId id="370" r:id="rId59"/>
    <p:sldId id="371" r:id="rId60"/>
    <p:sldId id="372" r:id="rId61"/>
    <p:sldId id="373" r:id="rId62"/>
    <p:sldId id="374" r:id="rId63"/>
    <p:sldId id="375" r:id="rId64"/>
    <p:sldId id="376" r:id="rId65"/>
    <p:sldId id="398" r:id="rId66"/>
    <p:sldId id="399" r:id="rId67"/>
    <p:sldId id="400" r:id="rId68"/>
    <p:sldId id="401" r:id="rId69"/>
    <p:sldId id="402" r:id="rId70"/>
    <p:sldId id="403" r:id="rId71"/>
    <p:sldId id="404" r:id="rId72"/>
    <p:sldId id="377" r:id="rId73"/>
    <p:sldId id="378" r:id="rId74"/>
    <p:sldId id="379" r:id="rId75"/>
    <p:sldId id="381" r:id="rId76"/>
    <p:sldId id="382" r:id="rId77"/>
    <p:sldId id="383" r:id="rId78"/>
    <p:sldId id="384" r:id="rId79"/>
    <p:sldId id="385" r:id="rId80"/>
    <p:sldId id="386" r:id="rId81"/>
    <p:sldId id="387" r:id="rId82"/>
    <p:sldId id="388" r:id="rId83"/>
    <p:sldId id="389" r:id="rId84"/>
    <p:sldId id="390" r:id="rId85"/>
    <p:sldId id="391" r:id="rId86"/>
    <p:sldId id="392" r:id="rId87"/>
    <p:sldId id="393" r:id="rId88"/>
    <p:sldId id="394" r:id="rId89"/>
    <p:sldId id="395" r:id="rId90"/>
    <p:sldId id="396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92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NUL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emf"/><Relationship Id="rId2" Type="http://schemas.openxmlformats.org/officeDocument/2006/relationships/image" Target="../media/image94.emf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pn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l="9877" r="56759" b="16188"/>
          <a:stretch/>
        </p:blipFill>
        <p:spPr>
          <a:xfrm>
            <a:off x="8826499" y="4402754"/>
            <a:ext cx="2717800" cy="218784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7" y="188144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AR – Net </a:t>
            </a:r>
            <a:r>
              <a:rPr lang="ru-RU" b="1" dirty="0" smtClean="0"/>
              <a:t>подхода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8629" y="670962"/>
            <a:ext cx="11887199" cy="524052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Преимущества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Можно использовать </a:t>
            </a:r>
            <a:r>
              <a:rPr lang="ru-RU" sz="2000" b="1" dirty="0" smtClean="0"/>
              <a:t>несколько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Работает </a:t>
            </a:r>
            <a:r>
              <a:rPr lang="ru-RU" sz="2000" b="1" dirty="0" smtClean="0"/>
              <a:t>для сложных паттернов</a:t>
            </a:r>
            <a:r>
              <a:rPr lang="ru-RU" sz="2000" dirty="0" smtClean="0"/>
              <a:t>, несводимых к стационарным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Свобода выбора функции потерь – </a:t>
            </a:r>
            <a:r>
              <a:rPr lang="ru-RU" sz="2000" b="1" dirty="0" smtClean="0"/>
              <a:t>возможность регуляризации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Недостатки </a:t>
            </a:r>
            <a:r>
              <a:rPr lang="en-US" sz="2000" b="1" dirty="0" smtClean="0"/>
              <a:t>AR-Net, NAR</a:t>
            </a:r>
            <a:endParaRPr lang="ru-RU" sz="2000" b="1" dirty="0" smtClean="0"/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err="1" smtClean="0"/>
              <a:t>Полносвязная</a:t>
            </a:r>
            <a:r>
              <a:rPr lang="ru-RU" sz="2000" dirty="0" smtClean="0"/>
              <a:t> структура на длинном окне (несколько периодов, паттернов и </a:t>
            </a:r>
            <a:r>
              <a:rPr lang="ru-RU" sz="2000" dirty="0" err="1" smtClean="0"/>
              <a:t>тд</a:t>
            </a:r>
            <a:r>
              <a:rPr lang="ru-RU" sz="2000" dirty="0" smtClean="0"/>
              <a:t>) </a:t>
            </a:r>
            <a:r>
              <a:rPr lang="ru-RU" sz="2000" b="1" dirty="0" smtClean="0"/>
              <a:t>нарушает казуальную структуру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Связь между положениями окна, проходящего по ВР основывается только на результате предсказания – это может скрыть паттерны ВР </a:t>
            </a:r>
            <a:r>
              <a:rPr lang="ru-RU" sz="2000" b="1" dirty="0" smtClean="0"/>
              <a:t>(неверный учет контекста)</a:t>
            </a:r>
            <a:r>
              <a:rPr lang="ru-RU" sz="2000" dirty="0" smtClean="0"/>
              <a:t>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b="1" dirty="0" smtClean="0"/>
              <a:t>Сложная интерпретация результатов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Нет Возможности </a:t>
            </a:r>
            <a:r>
              <a:rPr lang="ru-RU" sz="2000" dirty="0"/>
              <a:t>предсказания последовательности семплов за один шаг.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Сеть дает хуже результаты если </a:t>
            </a:r>
            <a:r>
              <a:rPr lang="en-US" sz="2000" dirty="0" smtClean="0"/>
              <a:t>AR </a:t>
            </a:r>
            <a:r>
              <a:rPr lang="ru-RU" sz="2000" dirty="0" smtClean="0"/>
              <a:t>работает</a:t>
            </a:r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56596" t="1" r="3952" b="855"/>
          <a:stretch/>
        </p:blipFill>
        <p:spPr>
          <a:xfrm>
            <a:off x="5792666" y="4275057"/>
            <a:ext cx="3033833" cy="244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9580" y="23812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MLP </a:t>
            </a:r>
            <a:r>
              <a:rPr lang="ru-RU" b="1" dirty="0" smtClean="0"/>
              <a:t>подхода для сложных паттернов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smtClean="0"/>
                  <a:t>MLP </a:t>
                </a:r>
                <a:r>
                  <a:rPr lang="ru-RU" sz="2200" dirty="0" smtClean="0"/>
                  <a:t>предсказание</a:t>
                </a:r>
                <a:r>
                  <a:rPr lang="en-US" sz="2200" dirty="0" smtClean="0"/>
                  <a:t> (AR-NET)</a:t>
                </a:r>
                <a:r>
                  <a:rPr lang="ru-RU" sz="2200" dirty="0" smtClean="0"/>
                  <a:t> можно описать как</a:t>
                </a:r>
                <a:endParaRPr lang="en-US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Таким образом предсказание – результат обработки окна размером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Недостаток такой модели – контекст окружения окна  (память) не учитывается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или учитывается неявно, когда заменяем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 smtClean="0"/>
                  <a:t> 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ru-RU" sz="2200" b="0" i="0" dirty="0" smtClean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+mj-lt"/>
                  </a:rPr>
                  <a:t>	</a:t>
                </a:r>
                <a:r>
                  <a:rPr lang="ru-RU" sz="2200" b="0" i="0" dirty="0" smtClean="0">
                    <a:latin typeface="+mj-lt"/>
                  </a:rPr>
                  <a:t>но тогда не учитываются ошибки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r>
                  <a:rPr lang="ru-RU" sz="2200" dirty="0" smtClean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Если во ВР есть сложные паттерны, непопадающие в окно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 smtClean="0"/>
                  <a:t> их влияние не учитывается (а оно есть) – ошибки предсказания растет.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Это особенно плохо для среднесрочных и долгосрочных предсказаний.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2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  <a:blipFill>
                <a:blip r:embed="rId2"/>
                <a:stretch>
                  <a:fillRect l="-677" t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5569526" y="6596390"/>
            <a:ext cx="723207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https://machinelearningmastery.com/time-series-prediction-lstm-recurrent-neural-networks-python-keras/</a:t>
            </a:r>
            <a:endParaRPr lang="ru-RU" sz="11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" y="4206351"/>
            <a:ext cx="4686300" cy="2520844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5141769" y="5078123"/>
            <a:ext cx="577561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Выбор неправильных параметров модели может привести к ошибке.</a:t>
            </a:r>
          </a:p>
          <a:p>
            <a:r>
              <a:rPr lang="ru-RU" dirty="0" smtClean="0"/>
              <a:t>Напр. на коротком окне тренд вместо степенного можно воспринять как линейный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3529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9077" y="21260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Рекуррентные подходы.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 smtClean="0"/>
                  <a:t>MLP </a:t>
                </a:r>
                <a:r>
                  <a:rPr lang="ru-RU" sz="2400" dirty="0" smtClean="0"/>
                  <a:t>предсказание</a:t>
                </a:r>
                <a:r>
                  <a:rPr lang="en-US" sz="2400" dirty="0" smtClean="0"/>
                  <a:t> (AR-NET)</a:t>
                </a:r>
                <a:r>
                  <a:rPr lang="ru-RU" sz="2400" dirty="0" smtClean="0"/>
                  <a:t> можно описать как</a:t>
                </a:r>
                <a:endParaRPr lang="en-US" sz="2400" dirty="0" smtClean="0"/>
              </a:p>
              <a:p>
                <a:pPr marL="0" indent="0" algn="ctr">
                  <a:buNone/>
                </a:pPr>
                <a:r>
                  <a:rPr lang="ru-RU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 smtClean="0"/>
              </a:p>
              <a:p>
                <a:pPr marL="0" indent="0" algn="ctr">
                  <a:buNone/>
                </a:pPr>
                <a:r>
                  <a:rPr lang="ru-RU" sz="2400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-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/>
                  <a:t>типы слоев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ru-RU" sz="2400" dirty="0" smtClean="0"/>
                  <a:t>Пусть мы хотим учитывать предыдущие </a:t>
                </a:r>
                <a:r>
                  <a:rPr lang="ru-RU" sz="2400" dirty="0" smtClean="0"/>
                  <a:t>состояние</a:t>
                </a:r>
                <a:r>
                  <a:rPr lang="en-US" sz="2400" dirty="0" smtClean="0"/>
                  <a:t> </a:t>
                </a:r>
                <a:r>
                  <a:rPr lang="ru-RU" sz="2400" dirty="0" smtClean="0"/>
                  <a:t>слоя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400" dirty="0" smtClean="0"/>
                  <a:t> при моделировании текущего состояния</a:t>
                </a:r>
              </a:p>
              <a:p>
                <a:pPr marL="0" indent="0" algn="ctr">
                  <a:buNone/>
                </a:pPr>
                <a:r>
                  <a:rPr lang="ru-RU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Sup>
                      <m:sSub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, </a:t>
                </a:r>
              </a:p>
              <a:p>
                <a:pPr marL="0" indent="0">
                  <a:buNone/>
                </a:pPr>
                <a:r>
                  <a:rPr lang="ru-RU" sz="2400" dirty="0" smtClean="0">
                    <a:ea typeface="Cambria Math" panose="02040503050406030204" pitchFamily="18" charset="0"/>
                  </a:rPr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ru-RU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 smtClean="0">
                    <a:latin typeface="+mj-lt"/>
                    <a:ea typeface="Cambria Math" panose="02040503050406030204" pitchFamily="18" charset="0"/>
                  </a:rPr>
                  <a:t>влияние 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предыдущего состояния (контекст/память/ функция перехода </a:t>
                </a:r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/ 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скрытое состояние ВР – </a:t>
                </a:r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hidden state (h)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)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ru-RU" sz="2400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ru-RU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ru-RU" sz="24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𝑛𝑖</m:t>
                                    </m:r>
                                  </m:sub>
                                </m:s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</m:nary>
                            <m:sSubSup>
                              <m:sSubSup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p>
                            </m:sSubSup>
                          </m:e>
                        </m:d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𝑅𝑁𝑁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/>
                          <m:t> </m:t>
                        </m:r>
                      </m:e>
                    </m:nary>
                  </m:oMath>
                </a14:m>
                <a:r>
                  <a:rPr lang="ru-RU" sz="2400" dirty="0" smtClean="0"/>
                  <a:t> </a:t>
                </a:r>
                <a:endParaRPr lang="en-US" sz="2400" dirty="0" smtClean="0"/>
              </a:p>
              <a:p>
                <a:pPr marL="0" indent="0">
                  <a:buNone/>
                </a:pPr>
                <a:r>
                  <a:rPr lang="ru-RU" sz="2400" dirty="0" smtClean="0"/>
                  <a:t>где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𝑛𝑖</m:t>
                        </m:r>
                      </m:sub>
                    </m:sSub>
                  </m:oMath>
                </a14:m>
                <a:r>
                  <a:rPr lang="en-US" sz="2400" dirty="0" smtClean="0"/>
                  <a:t> - </a:t>
                </a:r>
                <a:r>
                  <a:rPr lang="ru-RU" sz="2400" dirty="0" smtClean="0"/>
                  <a:t>вектор предыдущих состояний для шага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2400" dirty="0" smtClean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2400" dirty="0" smtClean="0"/>
                  <a:t> - коэффициенты </a:t>
                </a:r>
                <a:r>
                  <a:rPr lang="ru-RU" sz="2400" dirty="0" smtClean="0"/>
                  <a:t>слоя перехода от состояния </a:t>
                </a:r>
                <a:r>
                  <a:rPr lang="en-US" sz="2400" dirty="0" smtClean="0"/>
                  <a:t>n </a:t>
                </a:r>
                <a:r>
                  <a:rPr lang="ru-RU" sz="2400" dirty="0" smtClean="0"/>
                  <a:t>к состоянию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ru-RU" sz="2400" dirty="0" smtClean="0"/>
                  <a:t>.</a:t>
                </a:r>
                <a:endParaRPr lang="en-US" sz="2400" dirty="0" smtClean="0"/>
              </a:p>
              <a:p>
                <a:pPr marL="0" indent="0">
                  <a:buNone/>
                </a:pPr>
                <a:r>
                  <a:rPr lang="ru-RU" sz="2400" dirty="0" smtClean="0"/>
                  <a:t>В  силу использования предыдущего состояния предсказания в текущем зависимость становится рекуррентной. Слой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𝑅𝑁𝑁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dirty="0" smtClean="0"/>
                  <a:t> – </a:t>
                </a:r>
                <a:r>
                  <a:rPr lang="ru-RU" sz="2400" dirty="0" smtClean="0"/>
                  <a:t>рекуррентный слой.</a:t>
                </a:r>
                <a:endParaRPr lang="ru-RU" sz="2400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  <a:blipFill>
                <a:blip r:embed="rId2"/>
                <a:stretch>
                  <a:fillRect l="-833" t="-1496" b="-9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558831" y="6507480"/>
            <a:ext cx="45080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https://d2l.ai/chapter_recurrent-neural-networks/rnn.html</a:t>
            </a:r>
          </a:p>
        </p:txBody>
      </p:sp>
    </p:spTree>
    <p:extLst>
      <p:ext uri="{BB962C8B-B14F-4D97-AF65-F5344CB8AC3E}">
        <p14:creationId xmlns:p14="http://schemas.microsoft.com/office/powerpoint/2010/main" val="590710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6923" y="1317361"/>
            <a:ext cx="10515600" cy="4351338"/>
          </a:xfrm>
        </p:spPr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Элмана</a:t>
            </a:r>
            <a:r>
              <a:rPr lang="ru-RU" dirty="0"/>
              <a:t> </a:t>
            </a:r>
            <a:r>
              <a:rPr lang="ru-RU" dirty="0" smtClean="0"/>
              <a:t>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1947" y="1276350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6" y="1910663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5666" y="2573711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</a:t>
            </a:r>
            <a:r>
              <a:rPr lang="ru-RU" dirty="0" smtClean="0"/>
              <a:t>формулировка</a:t>
            </a:r>
            <a:r>
              <a:rPr lang="en-US" dirty="0" smtClean="0"/>
              <a:t> </a:t>
            </a:r>
            <a:r>
              <a:rPr lang="ru-RU" dirty="0" err="1"/>
              <a:t>Джордана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7675199" y="6367000"/>
            <a:ext cx="38524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https://avrtt.github.io/research/rnn_architecture/</a:t>
            </a:r>
          </a:p>
        </p:txBody>
      </p:sp>
    </p:spTree>
    <p:extLst>
      <p:ext uri="{BB962C8B-B14F-4D97-AF65-F5344CB8AC3E}">
        <p14:creationId xmlns:p14="http://schemas.microsoft.com/office/powerpoint/2010/main" val="30060273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738806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Рекуррентные нейронные сети (RNN)</a:t>
            </a:r>
            <a:r>
              <a:rPr lang="ru-RU" sz="2200" dirty="0"/>
              <a:t>  исторически использовались при моделировании последовательностей, давая хорошие результаты по множеству задач.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1800" dirty="0" smtClean="0"/>
              <a:t>Традиционное </a:t>
            </a:r>
            <a:r>
              <a:rPr lang="ru-RU" sz="1800" dirty="0"/>
              <a:t>применение RNN - обработка естественного языка.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1800" dirty="0"/>
              <a:t>Однако в последние годы для приложений временного прогнозирования было разработано много архитектур на основе RNN.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smtClean="0"/>
              <a:t>Ячейки </a:t>
            </a:r>
            <a:r>
              <a:rPr lang="ru-RU" sz="2200" dirty="0"/>
              <a:t>RNN содержат состояние внутренней памяти, которое действует как сжатое резюме прошлой информации</a:t>
            </a:r>
            <a:r>
              <a:rPr lang="ru-RU" sz="2200" dirty="0" smtClean="0"/>
              <a:t>.</a:t>
            </a:r>
          </a:p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5471" y="3898245"/>
            <a:ext cx="4220804" cy="2837060"/>
          </a:xfrm>
          <a:prstGeom prst="rect">
            <a:avLst/>
          </a:prstGeom>
        </p:spPr>
      </p:pic>
      <p:pic>
        <p:nvPicPr>
          <p:cNvPr id="11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9926" y="4272937"/>
            <a:ext cx="5092698" cy="2523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5" y="4412772"/>
            <a:ext cx="2927561" cy="232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3951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1493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0567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102" y="4073981"/>
            <a:ext cx="6278335" cy="2623342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4405" y="119721"/>
            <a:ext cx="11089395" cy="62639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LTSF-</a:t>
            </a:r>
            <a:r>
              <a:rPr lang="en-US" b="1" dirty="0" err="1" smtClean="0"/>
              <a:t>DLinear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4405" y="746114"/>
            <a:ext cx="11457542" cy="5442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 smtClean="0"/>
              <a:t>Можно повысить интерпретируемость архитектуры НС, если мы будем понимать вклад отдельных компонент в общее предсказание.</a:t>
            </a:r>
          </a:p>
          <a:p>
            <a:r>
              <a:rPr lang="ru-RU" sz="2200" dirty="0" smtClean="0"/>
              <a:t>Даже если формализация компонент не проводится. Вклад компонент виден на глаз.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Гипотеза: </a:t>
            </a:r>
            <a:r>
              <a:rPr lang="en-US" sz="2200" dirty="0" smtClean="0"/>
              <a:t> </a:t>
            </a:r>
            <a:endParaRPr lang="ru-RU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Преобразуем </a:t>
            </a:r>
            <a:r>
              <a:rPr lang="en-US" sz="2200" dirty="0" err="1" smtClean="0"/>
              <a:t>ARNet</a:t>
            </a:r>
            <a:r>
              <a:rPr lang="en-US" sz="2200" dirty="0" smtClean="0"/>
              <a:t> </a:t>
            </a:r>
            <a:r>
              <a:rPr lang="ru-RU" sz="2200" dirty="0" smtClean="0"/>
              <a:t>из итерационной</a:t>
            </a:r>
            <a:r>
              <a:rPr lang="en-US" sz="2200" dirty="0" smtClean="0"/>
              <a:t> </a:t>
            </a:r>
            <a:r>
              <a:rPr lang="ru-RU" sz="2200" dirty="0" smtClean="0"/>
              <a:t>в </a:t>
            </a:r>
            <a:r>
              <a:rPr lang="en-US" sz="2200" dirty="0" smtClean="0"/>
              <a:t>SEQ2SEQ </a:t>
            </a:r>
            <a:r>
              <a:rPr lang="ru-RU" sz="2200" dirty="0" smtClean="0"/>
              <a:t>модель (линейный слой это может).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Чтобы убрать тренд выберем его скользящим средним </a:t>
            </a:r>
            <a:r>
              <a:rPr lang="en-US" sz="2200" dirty="0" smtClean="0"/>
              <a:t>(1d </a:t>
            </a:r>
            <a:r>
              <a:rPr lang="en-US" sz="2200" dirty="0" err="1" smtClean="0"/>
              <a:t>AveragePooling</a:t>
            </a:r>
            <a:r>
              <a:rPr lang="en-US" sz="2200" dirty="0" smtClean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Отдельно будем предсказывать тренд, отдельно остаток при помощи линейных слоев.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Результат – комбинация предсказаний.</a:t>
            </a:r>
          </a:p>
          <a:p>
            <a:pPr marL="0" indent="0">
              <a:buNone/>
            </a:pPr>
            <a:r>
              <a:rPr lang="ru-RU" sz="2200" dirty="0"/>
              <a:t>Модель</a:t>
            </a:r>
            <a:r>
              <a:rPr lang="en-US" sz="2200" dirty="0"/>
              <a:t> Long Term Time Series Forecasting (LTSF) c </a:t>
            </a:r>
            <a:r>
              <a:rPr lang="ru-RU" sz="2200" dirty="0"/>
              <a:t>двойным (</a:t>
            </a:r>
            <a:r>
              <a:rPr lang="en-US" sz="2200" dirty="0"/>
              <a:t>Decomposition</a:t>
            </a:r>
            <a:r>
              <a:rPr lang="ru-RU" sz="2200" dirty="0"/>
              <a:t>) линейным слоем </a:t>
            </a:r>
            <a:r>
              <a:rPr lang="en-US" sz="2200" b="1" dirty="0"/>
              <a:t>LTSF-</a:t>
            </a:r>
            <a:r>
              <a:rPr lang="en-US" sz="2200" b="1" dirty="0" err="1"/>
              <a:t>DLinear</a:t>
            </a:r>
            <a:endParaRPr lang="en-US" sz="2200" b="1" dirty="0"/>
          </a:p>
          <a:p>
            <a:pPr marL="0" indent="0">
              <a:buNone/>
            </a:pPr>
            <a:r>
              <a:rPr lang="en-US" sz="2200" dirty="0" smtClean="0"/>
              <a:t> </a:t>
            </a:r>
            <a:endParaRPr lang="ru-RU" sz="2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55575" y="6494532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https://arxiv.org/pdf/2205.13504</a:t>
            </a:r>
          </a:p>
        </p:txBody>
      </p:sp>
      <p:sp>
        <p:nvSpPr>
          <p:cNvPr id="6" name="AutoShape 6" descr="https://www.researchgate.net/publication/386144058/figure/fig2/AS:11431281292727723@1732696288063/Representation-of-the-DLinear-architecture-showing-how-an-input-sequence-T-z-is_W640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8" descr="LTSF-Linear: Embarrassingly simple time series forecasting models — neural  aspect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676" y="4549593"/>
            <a:ext cx="3206296" cy="1969662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411875" y="6519255"/>
            <a:ext cx="42647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4197704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igure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658" y="4052274"/>
            <a:ext cx="8731045" cy="276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6275" y="158648"/>
            <a:ext cx="11524342" cy="723446"/>
          </a:xfrm>
        </p:spPr>
        <p:txBody>
          <a:bodyPr/>
          <a:lstStyle/>
          <a:p>
            <a:pPr algn="ctr"/>
            <a:r>
              <a:rPr lang="en-US" b="1" dirty="0"/>
              <a:t>LTSF-</a:t>
            </a:r>
            <a:r>
              <a:rPr lang="en-US" b="1" dirty="0" err="1"/>
              <a:t>DLinear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 smtClean="0"/>
                  <a:t>Преимущества</a:t>
                </a:r>
                <a:r>
                  <a:rPr lang="ru-RU" sz="2000" dirty="0" smtClean="0"/>
                  <a:t>:</a:t>
                </a:r>
              </a:p>
              <a:p>
                <a:r>
                  <a:rPr lang="ru-RU" sz="2000" dirty="0" smtClean="0"/>
                  <a:t>Нет параметров в декомпозиции (</a:t>
                </a:r>
                <a:r>
                  <a:rPr lang="en-US" sz="2000" dirty="0" smtClean="0"/>
                  <a:t>1dAvPool - SMA</a:t>
                </a:r>
                <a:r>
                  <a:rPr lang="ru-RU" sz="2000" dirty="0" smtClean="0"/>
                  <a:t>)</a:t>
                </a:r>
                <a:endParaRPr lang="ru-RU" sz="2000" dirty="0"/>
              </a:p>
              <a:p>
                <a:r>
                  <a:rPr lang="ru-RU" sz="2000" dirty="0" smtClean="0"/>
                  <a:t>Обучаемые линейные (</a:t>
                </a:r>
                <a:r>
                  <a:rPr lang="ru-RU" sz="2000" dirty="0" err="1" smtClean="0"/>
                  <a:t>полносвязные</a:t>
                </a:r>
                <a:r>
                  <a:rPr lang="ru-RU" sz="2000" dirty="0" smtClean="0"/>
                  <a:t>) слои, можно легко управлять размерностью и параметрами обучения (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параметров).</a:t>
                </a:r>
                <a:endParaRPr lang="ru-RU" sz="2000" dirty="0"/>
              </a:p>
              <a:p>
                <a:r>
                  <a:rPr lang="ru-RU" sz="2000" dirty="0" smtClean="0"/>
                  <a:t>Отсутствие нелинейностей – высокая интерпретируемость, высокая скорость обучения</a:t>
                </a:r>
              </a:p>
              <a:p>
                <a:r>
                  <a:rPr lang="ru-RU" sz="2000" dirty="0" smtClean="0"/>
                  <a:t>Работа на долгих горизонтах</a:t>
                </a:r>
                <a:endParaRPr lang="ru-RU" sz="2000" dirty="0"/>
              </a:p>
              <a:p>
                <a:r>
                  <a:rPr lang="ru-RU" sz="2000" dirty="0" smtClean="0"/>
                  <a:t>Легко </a:t>
                </a:r>
                <a:r>
                  <a:rPr lang="ru-RU" sz="2000" dirty="0"/>
                  <a:t>масштабируется на тысячи рядов (например, M5, </a:t>
                </a:r>
                <a:r>
                  <a:rPr lang="ru-RU" sz="2000" dirty="0" err="1"/>
                  <a:t>Electricity</a:t>
                </a:r>
                <a:r>
                  <a:rPr lang="ru-RU" sz="2000" dirty="0" smtClean="0"/>
                  <a:t>)</a:t>
                </a:r>
              </a:p>
              <a:p>
                <a:r>
                  <a:rPr lang="ru-RU" sz="2000" dirty="0" smtClean="0"/>
                  <a:t>Превосходит модели трансформеров для простых ВР (регулярные ВР с трендом и простой сезонностью)</a:t>
                </a:r>
              </a:p>
              <a:p>
                <a:pPr marL="0" indent="0">
                  <a:buNone/>
                </a:pPr>
                <a:r>
                  <a:rPr lang="ru-RU" sz="2000" b="1" dirty="0" smtClean="0"/>
                  <a:t>Недостатки</a:t>
                </a:r>
                <a:r>
                  <a:rPr lang="ru-RU" sz="2000" dirty="0" smtClean="0"/>
                  <a:t> – плохо подходит для сложных ВР со случайным трендом и сложной не стационарностью.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  <a:blipFill>
                <a:blip r:embed="rId3"/>
                <a:stretch>
                  <a:fillRect l="-505" t="-12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8086176" y="6507006"/>
            <a:ext cx="377199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644280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975" y="181526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N-BEATS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 smtClean="0"/>
                  <a:t>Гипотеза</a:t>
                </a:r>
                <a:r>
                  <a:rPr lang="ru-RU" sz="2000" dirty="0" smtClean="0"/>
                  <a:t>: пусть проблемы неточности, не учета контекста  – остаток предсказаний содержит информацию</a:t>
                </a:r>
              </a:p>
              <a:p>
                <a:r>
                  <a:rPr lang="ru-RU" sz="2200" b="1" dirty="0" smtClean="0"/>
                  <a:t>Решение</a:t>
                </a:r>
                <a:r>
                  <a:rPr lang="ru-RU" sz="2200" dirty="0" smtClean="0"/>
                  <a:t>: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Проведем предсказание </a:t>
                </a:r>
                <a:r>
                  <a:rPr lang="en-US" sz="1800" dirty="0" smtClean="0"/>
                  <a:t>(</a:t>
                </a:r>
                <a:r>
                  <a:rPr lang="en-US" sz="1800" i="1" dirty="0" smtClean="0"/>
                  <a:t>forecast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sz="1800" dirty="0" smtClean="0"/>
                  <a:t>)</a:t>
                </a:r>
                <a:endParaRPr lang="ru-RU" sz="1800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Проверим остаток </a:t>
                </a:r>
                <a:r>
                  <a:rPr lang="en-US" sz="1800" i="1" dirty="0" err="1" smtClean="0"/>
                  <a:t>backcast</a:t>
                </a:r>
                <a:r>
                  <a:rPr lang="en-US" sz="1800" dirty="0" smtClean="0"/>
                  <a:t> </a:t>
                </a:r>
                <a:r>
                  <a:rPr lang="ru-RU" sz="1800" dirty="0" smtClean="0"/>
                  <a:t>(на данных для предсказания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1800" dirty="0" smtClean="0"/>
                  <a:t>)</a:t>
                </a:r>
              </a:p>
              <a:p>
                <a:pPr lvl="2"/>
                <a:r>
                  <a:rPr lang="en-US" sz="1800" i="1" dirty="0" err="1" smtClean="0"/>
                  <a:t>Backcast</a:t>
                </a:r>
                <a:r>
                  <a:rPr lang="ru-RU" sz="1800" i="1" dirty="0" smtClean="0"/>
                  <a:t> аналогичен </a:t>
                </a:r>
                <a:r>
                  <a:rPr lang="en-US" sz="1800" i="1" dirty="0" smtClean="0"/>
                  <a:t>residual connection</a:t>
                </a:r>
                <a:endParaRPr lang="ru-RU" sz="18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Пусть остаток информативен – предскажем значения остатка (невязка предсказания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000" b="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ru-RU" sz="1800" dirty="0" smtClean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Повторим процедуру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 …,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nor/>
                      </m:rPr>
                      <a:rPr lang="en-US" sz="1800" dirty="0"/>
                      <m:t> 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err="1" smtClean="0"/>
                  <a:t>Суммаризимуем</a:t>
                </a:r>
                <a:r>
                  <a:rPr lang="ru-RU" sz="1800" dirty="0" smtClean="0"/>
                  <a:t> результаты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+…+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  <a:blipFill>
                <a:blip r:embed="rId2"/>
                <a:stretch>
                  <a:fillRect l="-624" t="-1232" r="-4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5955483" y="651813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 smtClean="0"/>
              <a:t>https://tijsvandervelden.medium.com/nhits-interpretable-deep-learning-ts-forecasting-773a8867c795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511113" y="634052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228467" y="6649589"/>
            <a:ext cx="2661306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050" dirty="0"/>
              <a:t>https://arxiv.org/pdf/1905.10437#page=2.00</a:t>
            </a:r>
          </a:p>
        </p:txBody>
      </p:sp>
      <p:pic>
        <p:nvPicPr>
          <p:cNvPr id="2052" name="Picture 4" descr="https://cdn-images-1.readmedium.com/v2/resize:fit:800/1*qgr5wJMd5dfHLi0Fls-Zs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193" y="3667351"/>
            <a:ext cx="3678623" cy="315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dn-images-1.readmedium.com/v2/resize:fit:800/1*a_CeIE0dA1VcwyGi15FxNQ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223" y="3844969"/>
            <a:ext cx="2619375" cy="249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48" r="42042" b="2063"/>
          <a:stretch/>
        </p:blipFill>
        <p:spPr bwMode="auto">
          <a:xfrm>
            <a:off x="7908325" y="3555979"/>
            <a:ext cx="3618470" cy="281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1359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655" y="315060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</a:t>
            </a:r>
            <a:r>
              <a:rPr lang="ru-RU" b="1" dirty="0" smtClean="0"/>
              <a:t> </a:t>
            </a:r>
            <a:r>
              <a:rPr lang="en-US" b="1" dirty="0" smtClean="0"/>
              <a:t>Generic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0" y="662521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100" dirty="0"/>
              <a:t>https://readmedium.com/the-easiest-way-to-forecast-time-series-using-n-beats-d778fcc2ba60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89670" y="630334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219655" y="6448241"/>
            <a:ext cx="347261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https://arxiv.org/pdf/1905.10437#page=2.00</a:t>
            </a:r>
          </a:p>
        </p:txBody>
      </p:sp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0" t="1031" r="1006" b="638"/>
          <a:stretch/>
        </p:blipFill>
        <p:spPr bwMode="auto">
          <a:xfrm>
            <a:off x="6030571" y="2869435"/>
            <a:ext cx="6054337" cy="3982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9670" y="849499"/>
            <a:ext cx="11764579" cy="531340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Модель работает на </a:t>
            </a:r>
            <a:r>
              <a:rPr lang="en-US" sz="2200" dirty="0"/>
              <a:t> lookback period</a:t>
            </a:r>
            <a:r>
              <a:rPr lang="ru-RU" sz="2200" dirty="0"/>
              <a:t> 2-6 горизонтов </a:t>
            </a:r>
            <a:r>
              <a:rPr lang="ru-RU" sz="2200" dirty="0" smtClean="0"/>
              <a:t>предсказания.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Первый блок обрабатывает сами входные значения </a:t>
            </a:r>
            <a:r>
              <a:rPr lang="en-US" sz="2200" dirty="0"/>
              <a:t>lookback period</a:t>
            </a:r>
            <a:r>
              <a:rPr lang="ru-RU" sz="2200" dirty="0"/>
              <a:t> </a:t>
            </a:r>
            <a:r>
              <a:rPr lang="ru-RU" sz="2200" dirty="0" smtClean="0"/>
              <a:t> и предсказывает основную часть  предсказания</a:t>
            </a:r>
            <a:endParaRPr lang="en-US" sz="2200" dirty="0" smtClean="0"/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Каждый следующий блок реализует идеи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(предсказания ошибок одной слабой модели другой слабой моделью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Чтобы избежать проблем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(склонность переобучаться)</a:t>
            </a:r>
            <a:br>
              <a:rPr lang="ru-RU" sz="2200" dirty="0" smtClean="0"/>
            </a:br>
            <a:r>
              <a:rPr lang="ru-RU" sz="2200" dirty="0" smtClean="0"/>
              <a:t>разобьём процесс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на этапы (стеки)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Каждый стек работает с остатком предыдущего стека.</a:t>
            </a:r>
            <a:endParaRPr lang="ru-RU" sz="2200" dirty="0"/>
          </a:p>
        </p:txBody>
      </p:sp>
      <p:sp>
        <p:nvSpPr>
          <p:cNvPr id="11" name="Объект 2"/>
          <p:cNvSpPr txBox="1">
            <a:spLocks/>
          </p:cNvSpPr>
          <p:nvPr/>
        </p:nvSpPr>
        <p:spPr>
          <a:xfrm>
            <a:off x="106700" y="3988423"/>
            <a:ext cx="5710243" cy="2314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dirty="0" smtClean="0"/>
              <a:t>По сути в архитектура подобна </a:t>
            </a:r>
            <a:r>
              <a:rPr lang="en-US" sz="2000" dirty="0" err="1"/>
              <a:t>DenseNet</a:t>
            </a:r>
            <a:r>
              <a:rPr lang="en-US" sz="2000" dirty="0"/>
              <a:t> </a:t>
            </a:r>
            <a:endParaRPr lang="ru-RU" sz="2000" dirty="0" smtClean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 smtClean="0"/>
              <a:t>Каждый стек </a:t>
            </a:r>
            <a:r>
              <a:rPr lang="ru-RU" sz="2000" dirty="0" err="1" smtClean="0"/>
              <a:t>предполается</a:t>
            </a:r>
            <a:r>
              <a:rPr lang="ru-RU" sz="2000" dirty="0" smtClean="0"/>
              <a:t> что выделяет вектор признаков ВР </a:t>
            </a:r>
            <a:r>
              <a:rPr lang="en-US" sz="2000" dirty="0" smtClean="0"/>
              <a:t>(feature map)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 smtClean="0"/>
              <a:t>Стеки подобны блокам архитектур </a:t>
            </a:r>
            <a:r>
              <a:rPr lang="en-US" sz="2000" dirty="0" smtClean="0"/>
              <a:t>CNN </a:t>
            </a:r>
            <a:r>
              <a:rPr lang="ru-RU" sz="2000" dirty="0" smtClean="0"/>
              <a:t>и каждый стек дает свой </a:t>
            </a:r>
            <a:r>
              <a:rPr lang="en-US" sz="2000" dirty="0"/>
              <a:t>partial forecasts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1883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</a:t>
            </a:r>
            <a:r>
              <a:rPr lang="ru-RU" sz="1100" dirty="0" smtClean="0"/>
              <a:t>arxiv.org/pdf/1905.10437</a:t>
            </a:r>
            <a:endParaRPr lang="ru-RU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По сути каждый стек должен выбирать отдельную компоненту ВР.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b="1" dirty="0" smtClean="0"/>
                  <a:t>Гипотеза</a:t>
                </a:r>
                <a:r>
                  <a:rPr lang="ru-RU" sz="2400" dirty="0" smtClean="0"/>
                  <a:t>: можно  подсказать модели как выбирать интерпретируемые компоненты</a:t>
                </a:r>
                <a:endParaRPr lang="en-US" sz="2400" dirty="0" smtClean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Выделим 2 компоненты тренд и сезонность. 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Компоненты значительно отличаются скоростью (характером) изменений, однако Пусть компоненты достаточно сложны чтобы их делить.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 smtClean="0"/>
                  <a:t>Пусть тренд описывается полиномом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400" dirty="0"/>
                  <a:t>, </a:t>
                </a:r>
                <a:r>
                  <a:rPr lang="ru-RU" sz="2400" dirty="0" smtClean="0"/>
                  <a:t/>
                </a:r>
                <a:br>
                  <a:rPr lang="ru-RU" sz="2400" dirty="0" smtClean="0"/>
                </a:br>
                <a:r>
                  <a:rPr lang="ru-RU" sz="2400" dirty="0" smtClean="0"/>
                  <a:t>	где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sz="2400" dirty="0"/>
                  <a:t> – блок </a:t>
                </a:r>
                <a:r>
                  <a:rPr lang="en-US" sz="2400" dirty="0"/>
                  <a:t>l </a:t>
                </a:r>
                <a:r>
                  <a:rPr lang="ru-RU" sz="2400" dirty="0"/>
                  <a:t>стека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коэффициенты </a:t>
                </a:r>
                <a:r>
                  <a:rPr lang="ru-RU" sz="2400" dirty="0" smtClean="0"/>
                  <a:t>полинома</a:t>
                </a:r>
                <a:r>
                  <a:rPr lang="en-US" sz="2400" dirty="0" smtClean="0"/>
                  <a:t> (forward)</a:t>
                </a:r>
                <a:r>
                  <a:rPr lang="ru-RU" sz="2400" dirty="0" smtClean="0"/>
                  <a:t>, </a:t>
                </a:r>
                <a:r>
                  <a:rPr lang="ru-RU" sz="2400" dirty="0"/>
                  <a:t>предсказываемые </a:t>
                </a:r>
                <a:r>
                  <a:rPr lang="ru-RU" sz="2400" dirty="0" smtClean="0"/>
                  <a:t>	соответствующим </a:t>
                </a:r>
                <a:r>
                  <a:rPr lang="ru-RU" sz="2400" dirty="0"/>
                  <a:t>блоком,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максимальное значение полинома (2 или 3).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/>
                  <a:t>Пусть сезонность описывается</a:t>
                </a:r>
                <a:r>
                  <a:rPr lang="en-US" sz="2600" dirty="0"/>
                  <a:t> </a:t>
                </a:r>
                <a:r>
                  <a:rPr lang="ru-RU" sz="2600" dirty="0"/>
                  <a:t>рядом Фурье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num>
                          <m:den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</m:den>
                        </m:f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lin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/2</m:t>
                                </m:r>
                              </m:den>
                            </m:f>
                          </m:sub>
                        </m:sSub>
                        <m:func>
                          <m:func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ru-RU" sz="2600" dirty="0" smtClean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	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  <a:blipFill>
                <a:blip r:embed="rId2"/>
                <a:stretch>
                  <a:fillRect l="-554" t="-904" b="-6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https://cdn-images-1.readmedium.com/v2/resize:fit:800/1*e9DBrgNZXqxwVuYvz5mDT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3628961"/>
            <a:ext cx="4210627" cy="3121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cdn-images-1.readmedium.com/v2/resize:fit:800/1*ZNSHEkR8rQ8PWcWkpX6Fl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962" y="3587719"/>
            <a:ext cx="4296659" cy="322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107349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</a:t>
            </a:r>
            <a:r>
              <a:rPr lang="ru-RU" sz="1100" dirty="0" smtClean="0"/>
              <a:t>arxiv.org/pdf/1905.10437</a:t>
            </a:r>
            <a:endParaRPr lang="ru-RU" sz="11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843692"/>
            <a:ext cx="3559175" cy="603720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400" dirty="0"/>
              <a:t>N-BEATS </a:t>
            </a:r>
            <a:r>
              <a:rPr lang="ru-RU" sz="2400" dirty="0" smtClean="0"/>
              <a:t>бывает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b="1" dirty="0" smtClean="0"/>
              <a:t>G</a:t>
            </a:r>
            <a:r>
              <a:rPr lang="ru-RU" sz="2400" b="1" dirty="0" smtClean="0"/>
              <a:t> -</a:t>
            </a:r>
            <a:r>
              <a:rPr lang="en-US" sz="2400" dirty="0" smtClean="0"/>
              <a:t>generic (</a:t>
            </a:r>
            <a:r>
              <a:rPr lang="ru-RU" sz="2400" dirty="0" smtClean="0"/>
              <a:t>не интерпретируемый), в оригинале 30 стеков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dirty="0" smtClean="0"/>
              <a:t>I – </a:t>
            </a:r>
            <a:r>
              <a:rPr lang="ru-RU" sz="2400" dirty="0" smtClean="0"/>
              <a:t>интерпретируемый (2 стека: стек тренда, стек сезонности)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600" dirty="0" smtClean="0"/>
              <a:t>I+G </a:t>
            </a:r>
            <a:r>
              <a:rPr lang="ru-RU" sz="2600" dirty="0" smtClean="0"/>
              <a:t>(ансамбль двух архитектур)</a:t>
            </a:r>
            <a:endParaRPr lang="ru-RU" sz="26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759" y="674099"/>
            <a:ext cx="8448860" cy="5945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97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92957" y="245746"/>
            <a:ext cx="12173503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 </a:t>
            </a:r>
            <a:r>
              <a:rPr lang="en-US" dirty="0"/>
              <a:t>Neural Hierarchical Interpolation for Time </a:t>
            </a:r>
            <a:r>
              <a:rPr lang="en-US" dirty="0" err="1"/>
              <a:t>Serie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3176581" y="6577589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726633"/>
            <a:ext cx="11676441" cy="1465207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 smtClean="0"/>
              <a:t>Идея: </a:t>
            </a:r>
            <a:r>
              <a:rPr lang="ru-RU" sz="2400" dirty="0" smtClean="0"/>
              <a:t>Вместо задания компонент полиномом и рядом Фурье (фактически вместо будущих </a:t>
            </a:r>
            <a:r>
              <a:rPr lang="ru-RU" sz="2400" dirty="0" err="1" smtClean="0"/>
              <a:t>ковариатов</a:t>
            </a:r>
            <a:r>
              <a:rPr lang="ru-RU" sz="2400" dirty="0" smtClean="0"/>
              <a:t> - экзогенные переменных) зададим каждый стек шагом выборки.</a:t>
            </a:r>
            <a:endParaRPr lang="ru-RU" sz="2400" dirty="0"/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 smtClean="0"/>
              <a:t>Гипотеза</a:t>
            </a:r>
            <a:r>
              <a:rPr lang="ru-RU" sz="2400" dirty="0" smtClean="0"/>
              <a:t>: Будем использовать </a:t>
            </a:r>
            <a:r>
              <a:rPr lang="en-US" sz="2400" dirty="0" err="1" smtClean="0"/>
              <a:t>maxpool</a:t>
            </a:r>
            <a:r>
              <a:rPr lang="en-US" sz="2400" dirty="0" smtClean="0"/>
              <a:t> </a:t>
            </a:r>
            <a:r>
              <a:rPr lang="ru-RU" sz="2400" dirty="0" smtClean="0"/>
              <a:t>для каждого стека прореживая ряд.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286454" y="657748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l="-1" r="22709"/>
          <a:stretch/>
        </p:blipFill>
        <p:spPr>
          <a:xfrm>
            <a:off x="4935922" y="1891773"/>
            <a:ext cx="6797063" cy="4662581"/>
          </a:xfrm>
          <a:prstGeom prst="rect">
            <a:avLst/>
          </a:prstGeom>
        </p:spPr>
      </p:pic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77003" y="6531321"/>
            <a:ext cx="32224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https://www.signalpop.com/2024/05/29/n-hits</a:t>
            </a:r>
            <a:r>
              <a:rPr lang="ru-RU" sz="1400" dirty="0"/>
              <a:t>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1318" y="2359743"/>
            <a:ext cx="4589171" cy="33701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sz="2000" dirty="0" smtClean="0"/>
              <a:t>Например: Предполагаем </a:t>
            </a:r>
            <a:r>
              <a:rPr lang="ru-RU" sz="2000" dirty="0"/>
              <a:t>почасовые прогнозы на следующую неделю</a:t>
            </a:r>
            <a:r>
              <a:rPr lang="ru-RU" sz="2000" dirty="0" smtClean="0"/>
              <a:t>.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Стек </a:t>
            </a:r>
            <a:r>
              <a:rPr lang="ru-RU" sz="2000" dirty="0" smtClean="0"/>
              <a:t>1 Тренд данных</a:t>
            </a:r>
          </a:p>
          <a:p>
            <a:pPr>
              <a:spcBef>
                <a:spcPts val="600"/>
              </a:spcBef>
            </a:pPr>
            <a:r>
              <a:rPr lang="ru-RU" sz="2000" dirty="0" smtClean="0"/>
              <a:t>Стек 2 </a:t>
            </a:r>
            <a:r>
              <a:rPr lang="ru-RU" sz="2000" dirty="0"/>
              <a:t>данные каждые 24 часа. </a:t>
            </a:r>
            <a:endParaRPr lang="ru-RU" sz="2000" dirty="0" smtClean="0"/>
          </a:p>
          <a:p>
            <a:pPr>
              <a:spcBef>
                <a:spcPts val="600"/>
              </a:spcBef>
            </a:pPr>
            <a:r>
              <a:rPr lang="ru-RU" sz="2000" dirty="0" smtClean="0"/>
              <a:t>Стек 3 данные </a:t>
            </a:r>
            <a:r>
              <a:rPr lang="ru-RU" sz="2000" dirty="0"/>
              <a:t>каждые 12 часов, </a:t>
            </a:r>
            <a:endParaRPr lang="ru-RU" sz="2000" dirty="0" smtClean="0"/>
          </a:p>
          <a:p>
            <a:pPr>
              <a:spcBef>
                <a:spcPts val="600"/>
              </a:spcBef>
            </a:pPr>
            <a:r>
              <a:rPr lang="ru-RU" sz="2000" dirty="0"/>
              <a:t>С</a:t>
            </a:r>
            <a:r>
              <a:rPr lang="ru-RU" sz="2000" dirty="0" smtClean="0"/>
              <a:t>тек 4 </a:t>
            </a:r>
            <a:r>
              <a:rPr lang="ru-RU" sz="2000" dirty="0"/>
              <a:t>почасовые </a:t>
            </a:r>
            <a:r>
              <a:rPr lang="ru-RU" sz="2000" dirty="0" smtClean="0"/>
              <a:t>данные. </a:t>
            </a:r>
          </a:p>
          <a:p>
            <a:pPr>
              <a:spcBef>
                <a:spcPts val="600"/>
              </a:spcBef>
            </a:pPr>
            <a:endParaRPr lang="ru-RU" sz="2000" dirty="0"/>
          </a:p>
          <a:p>
            <a:pPr>
              <a:spcBef>
                <a:spcPts val="600"/>
              </a:spcBef>
            </a:pPr>
            <a:r>
              <a:rPr lang="ru-RU" sz="2000" dirty="0" smtClean="0"/>
              <a:t>То есть стеки связаны иерархически</a:t>
            </a:r>
          </a:p>
          <a:p>
            <a:pPr>
              <a:spcBef>
                <a:spcPts val="600"/>
              </a:spcBef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1765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600935" y="276107"/>
            <a:ext cx="11073714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. Стеки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649438" y="6464098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862590" y="6646364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-17633" y="6598128"/>
            <a:ext cx="2970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https://www.signalpop.com/2024/05/29/n-hits</a:t>
            </a:r>
            <a:r>
              <a:rPr lang="ru-RU" sz="1200" dirty="0"/>
              <a:t>/</a:t>
            </a:r>
          </a:p>
        </p:txBody>
      </p:sp>
      <p:pic>
        <p:nvPicPr>
          <p:cNvPr id="11" name="Picture 2" descr="https://substackcdn.com/image/fetch/$s_!-KX6!,w_1456,c_limit,f_auto,q_auto:good,fl_progressive:steep/https%3A%2F%2Fsubstack-post-media.s3.amazonaws.com%2Fpublic%2Fimages%2Fc7587649-d867-46d6-9fde-510144213533_661x39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79427"/>
            <a:ext cx="6203454" cy="374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Прямоугольник 11"/>
          <p:cNvSpPr/>
          <p:nvPr/>
        </p:nvSpPr>
        <p:spPr>
          <a:xfrm>
            <a:off x="300625" y="6450948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https://aihorizonforecast.substack.com/p/forecasting-with-nhits-uniting-deep</a:t>
            </a:r>
            <a:endParaRPr lang="ru-RU" sz="1200" dirty="0"/>
          </a:p>
        </p:txBody>
      </p:sp>
      <p:sp>
        <p:nvSpPr>
          <p:cNvPr id="10" name="Объект 9"/>
          <p:cNvSpPr>
            <a:spLocks noGrp="1"/>
          </p:cNvSpPr>
          <p:nvPr>
            <p:ph idx="1"/>
          </p:nvPr>
        </p:nvSpPr>
        <p:spPr>
          <a:xfrm>
            <a:off x="217639" y="735223"/>
            <a:ext cx="7756322" cy="1621500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dirty="0" smtClean="0"/>
              <a:t>Напр.: почасовые </a:t>
            </a:r>
            <a:r>
              <a:rPr lang="ru-RU" dirty="0"/>
              <a:t>прогнозы на следующую неделю.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1 Тренд данных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2 данные каждые 24 часа.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3 данные каждые 12 часов,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4 почасовые данные. </a:t>
            </a:r>
          </a:p>
          <a:p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4208676" y="1929801"/>
            <a:ext cx="37274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/>
              <a:t>То есть стеки связаны иерархически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818" y="101544"/>
            <a:ext cx="4430014" cy="6737554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77003" y="5978533"/>
            <a:ext cx="810178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system-ui"/>
              </a:rPr>
              <a:t>гибкость в настройке стеков позволяет адаптировать модель под разные типы данных — от энергопотребления до трафика веб-сайтов. 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013144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565972" y="102372"/>
            <a:ext cx="11484077" cy="65743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 </a:t>
            </a:r>
            <a:r>
              <a:rPr lang="en-US" b="1" dirty="0" err="1" smtClean="0"/>
              <a:t>maxpooing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1950" y="632416"/>
            <a:ext cx="7959215" cy="2654710"/>
          </a:xfrm>
        </p:spPr>
        <p:txBody>
          <a:bodyPr>
            <a:normAutofit/>
          </a:bodyPr>
          <a:lstStyle/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меняется через прореживание – </a:t>
            </a:r>
            <a:r>
              <a:rPr lang="en-US" sz="2000" dirty="0" err="1" smtClean="0"/>
              <a:t>Downsampling</a:t>
            </a:r>
            <a:r>
              <a:rPr lang="ru-RU" sz="2000" dirty="0" smtClean="0"/>
              <a:t> + интерполяция</a:t>
            </a:r>
            <a:endParaRPr lang="en-US" sz="2000" dirty="0" smtClean="0"/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</a:t>
            </a:r>
            <a:r>
              <a:rPr lang="ru-RU" sz="2000" dirty="0"/>
              <a:t>большой </a:t>
            </a:r>
            <a:r>
              <a:rPr lang="ru-RU" sz="2000" dirty="0" smtClean="0"/>
              <a:t>–тренд</a:t>
            </a:r>
            <a:r>
              <a:rPr lang="ru-RU" sz="2000" dirty="0"/>
              <a:t>, </a:t>
            </a:r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</a:t>
            </a:r>
            <a:r>
              <a:rPr lang="ru-RU" sz="2000" dirty="0"/>
              <a:t>минимальный </a:t>
            </a:r>
            <a:r>
              <a:rPr lang="ru-RU" sz="2000" dirty="0" smtClean="0"/>
              <a:t>– выберем </a:t>
            </a:r>
            <a:r>
              <a:rPr lang="ru-RU" sz="2000" dirty="0"/>
              <a:t>самый быстроменяющийся процесс </a:t>
            </a:r>
            <a:endParaRPr lang="ru-RU" sz="2000" dirty="0" smtClean="0"/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Вычитая </a:t>
            </a:r>
            <a:r>
              <a:rPr lang="ru-RU" sz="2000" dirty="0"/>
              <a:t>части стека от тренда к быстрому процессу будем фильтровать информацию стека – получим нужную интерпретируемость при нужном числе стеков.</a:t>
            </a:r>
          </a:p>
          <a:p>
            <a:endParaRPr lang="ru-RU" dirty="0"/>
          </a:p>
        </p:txBody>
      </p:sp>
      <p:pic>
        <p:nvPicPr>
          <p:cNvPr id="1028" name="Picture 4" descr="https://cdn-images-1.readmedium.com/v2/resize:fit:800/1*AWy-E9bjrqXJHFDuat7hB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34" y="2673644"/>
            <a:ext cx="5624048" cy="420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5614219" y="6616009"/>
            <a:ext cx="707922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https://readmedium.com/all-about-n-hits-the-latest-breakthrough-in-time-series-forecasting-a8ddcb27b0d5</a:t>
            </a:r>
          </a:p>
        </p:txBody>
      </p:sp>
      <p:pic>
        <p:nvPicPr>
          <p:cNvPr id="1030" name="Picture 6" descr="https://www.signalpop.com/wp-content/uploads/2024/05/5_nhits_hydro_mode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143" y="132046"/>
            <a:ext cx="4345857" cy="648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722374" y="646212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https://aihorizonforecast.substack.com/p/forecasting-with-nhits-uniting-deep</a:t>
            </a:r>
          </a:p>
        </p:txBody>
      </p:sp>
    </p:spTree>
    <p:extLst>
      <p:ext uri="{BB962C8B-B14F-4D97-AF65-F5344CB8AC3E}">
        <p14:creationId xmlns:p14="http://schemas.microsoft.com/office/powerpoint/2010/main" val="3041363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6001" y="136525"/>
            <a:ext cx="11077575" cy="777875"/>
          </a:xfrm>
        </p:spPr>
        <p:txBody>
          <a:bodyPr/>
          <a:lstStyle/>
          <a:p>
            <a:r>
              <a:rPr lang="ru-RU" b="1" dirty="0" smtClean="0"/>
              <a:t>Сравнение подходов</a:t>
            </a:r>
            <a:endParaRPr lang="ru-RU" b="1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1471543"/>
              </p:ext>
            </p:extLst>
          </p:nvPr>
        </p:nvGraphicFramePr>
        <p:xfrm>
          <a:off x="276702" y="914400"/>
          <a:ext cx="11186874" cy="5595262"/>
        </p:xfrm>
        <a:graphic>
          <a:graphicData uri="http://schemas.openxmlformats.org/drawingml/2006/table">
            <a:tbl>
              <a:tblPr/>
              <a:tblGrid>
                <a:gridCol w="2599848">
                  <a:extLst>
                    <a:ext uri="{9D8B030D-6E8A-4147-A177-3AD203B41FA5}">
                      <a16:colId xmlns:a16="http://schemas.microsoft.com/office/drawing/2014/main" val="2543752971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1314498091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3776576183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1136818659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654860631"/>
                    </a:ext>
                  </a:extLst>
                </a:gridCol>
                <a:gridCol w="1729026">
                  <a:extLst>
                    <a:ext uri="{9D8B030D-6E8A-4147-A177-3AD203B41FA5}">
                      <a16:colId xmlns:a16="http://schemas.microsoft.com/office/drawing/2014/main" val="86338239"/>
                    </a:ext>
                  </a:extLst>
                </a:gridCol>
              </a:tblGrid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Критерий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N-BEATS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N-HiTS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DLinear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25900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Интерпретируемость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315696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Требует ручной настройки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 (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p,d,q,P,D,Q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0793603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Обучение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Быстрое 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MLE)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Медленное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быстрое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567072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Масштабируемость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Хорошая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783208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Сезонность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Явная (</a:t>
                      </a:r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</a:t>
                      </a: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стек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сезонные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декомпозицию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831174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Сложные паттерны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Отлично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 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7335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Анализ стационар.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8567139"/>
                  </a:ext>
                </a:extLst>
              </a:tr>
              <a:tr h="34994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тренд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интерполяцию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186078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Количество параметров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762837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456877"/>
                  </a:ext>
                </a:extLst>
              </a:tr>
              <a:tr h="417454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Устойчивость к переобучению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418602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Горизонт прогноза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</a:t>
                      </a:r>
                      <a:r>
                        <a:rPr lang="ru-RU" sz="2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большой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747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6190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Refer to cap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2790" y="1825626"/>
            <a:ext cx="8172748" cy="4894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01854" y="6350328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https://arxiv.org/html/2409.00480v1</a:t>
            </a:r>
          </a:p>
        </p:txBody>
      </p:sp>
    </p:spTree>
    <p:extLst>
      <p:ext uri="{BB962C8B-B14F-4D97-AF65-F5344CB8AC3E}">
        <p14:creationId xmlns:p14="http://schemas.microsoft.com/office/powerpoint/2010/main" val="357097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22663" y="197175"/>
            <a:ext cx="10515600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Интерпретируемый </a:t>
            </a:r>
            <a:r>
              <a:rPr lang="en-US" dirty="0" smtClean="0"/>
              <a:t>N-BEATS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11079" y="746450"/>
            <a:ext cx="6096000" cy="618630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Input: [x_{t-L}, ..., x_{t-1}]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[</a:t>
            </a:r>
            <a:r>
              <a:rPr lang="en-US" dirty="0"/>
              <a:t>Stack 1: Trend]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1: (MLP) → </a:t>
            </a:r>
            <a:r>
              <a:rPr lang="en-US" dirty="0" err="1"/>
              <a:t>Backcast_trend</a:t>
            </a:r>
            <a:r>
              <a:rPr lang="en-US" dirty="0"/>
              <a:t>, </a:t>
            </a:r>
            <a:r>
              <a:rPr lang="en-US" dirty="0" err="1"/>
              <a:t>Forecast_trend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Residual </a:t>
            </a:r>
            <a:r>
              <a:rPr lang="en-US" dirty="0"/>
              <a:t>= Input - </a:t>
            </a:r>
            <a:r>
              <a:rPr lang="en-US" dirty="0" err="1"/>
              <a:t>Backcast_trend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2: </a:t>
            </a:r>
            <a:r>
              <a:rPr lang="ru-RU" dirty="0"/>
              <a:t>учится на остатке → </a:t>
            </a:r>
            <a:r>
              <a:rPr lang="en-US" dirty="0" err="1"/>
              <a:t>Backcast_trend</a:t>
            </a:r>
            <a:r>
              <a:rPr lang="en-US" dirty="0"/>
              <a:t>₂, </a:t>
            </a:r>
            <a:r>
              <a:rPr lang="en-US" dirty="0" err="1"/>
              <a:t>Forecast_trend</a:t>
            </a:r>
            <a:r>
              <a:rPr lang="en-US" dirty="0"/>
              <a:t>₂  </a:t>
            </a:r>
            <a:r>
              <a:rPr lang="en-US" dirty="0" smtClean="0"/>
              <a:t>↓</a:t>
            </a:r>
          </a:p>
          <a:p>
            <a:r>
              <a:rPr lang="en-US" dirty="0" smtClean="0"/>
              <a:t>...  </a:t>
            </a:r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Stack </a:t>
            </a:r>
            <a:r>
              <a:rPr lang="en-US" dirty="0" err="1"/>
              <a:t>Forecast_trend</a:t>
            </a:r>
            <a:r>
              <a:rPr lang="en-US" dirty="0"/>
              <a:t> = sum(</a:t>
            </a:r>
            <a:r>
              <a:rPr lang="en-US" dirty="0" err="1"/>
              <a:t>Forecast_trend_i</a:t>
            </a:r>
            <a:r>
              <a:rPr lang="en-US" dirty="0"/>
              <a:t>)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[</a:t>
            </a:r>
            <a:r>
              <a:rPr lang="en-US" dirty="0"/>
              <a:t>Stack 2: Seasonality]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1: → </a:t>
            </a:r>
            <a:r>
              <a:rPr lang="en-US" dirty="0" err="1"/>
              <a:t>Backcast_season</a:t>
            </a:r>
            <a:r>
              <a:rPr lang="en-US" dirty="0"/>
              <a:t>,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↓.</a:t>
            </a:r>
          </a:p>
          <a:p>
            <a:r>
              <a:rPr lang="en-US" dirty="0" smtClean="0"/>
              <a:t>..  </a:t>
            </a:r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Stack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  <a:r>
              <a:rPr lang="en-US" dirty="0"/>
              <a:t>Final Forecast = </a:t>
            </a:r>
            <a:r>
              <a:rPr lang="en-US" dirty="0" err="1"/>
              <a:t>Forecast_trend</a:t>
            </a:r>
            <a:r>
              <a:rPr lang="en-US" dirty="0"/>
              <a:t> + </a:t>
            </a:r>
            <a:r>
              <a:rPr lang="en-US" dirty="0" err="1"/>
              <a:t>Forecast_season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55" y="4162337"/>
            <a:ext cx="5757232" cy="254504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6450"/>
            <a:ext cx="5906762" cy="36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3600" b="1" dirty="0">
                <a:solidFill>
                  <a:srgbClr val="2C2C36"/>
                </a:solidFill>
                <a:latin typeface="system-ui"/>
              </a:rPr>
              <a:t>Преимущества N-</a:t>
            </a:r>
            <a:r>
              <a:rPr lang="ru-RU" altLang="ru-RU" sz="3600" b="1" dirty="0" err="1">
                <a:solidFill>
                  <a:srgbClr val="2C2C36"/>
                </a:solidFill>
                <a:latin typeface="system-ui"/>
              </a:rPr>
              <a:t>HiTS</a:t>
            </a:r>
            <a:endParaRPr lang="ru-RU" altLang="ru-RU" sz="3600" b="1" dirty="0">
              <a:solidFill>
                <a:srgbClr val="2C2C36"/>
              </a:solidFill>
              <a:latin typeface="system-ui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Интерпретируемость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разложить прогноз на тренд, сезонность и остаток.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Масштабируемость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подходит для тысяч временных рядов (например, M5 </a:t>
            </a:r>
            <a:r>
              <a:rPr lang="ru-RU" altLang="ru-RU" sz="3200" dirty="0" err="1">
                <a:solidFill>
                  <a:srgbClr val="2C2C36"/>
                </a:solidFill>
                <a:latin typeface="system-ui"/>
              </a:rPr>
              <a:t>competition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Эффективность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меньше параметров, быстрее обучение.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Гибкость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настраивать типы стеков под задачу.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Поддержка </a:t>
            </a:r>
            <a:r>
              <a:rPr lang="ru-RU" altLang="ru-RU" sz="3200" dirty="0" err="1">
                <a:solidFill>
                  <a:srgbClr val="111827"/>
                </a:solidFill>
                <a:latin typeface="system-ui"/>
              </a:rPr>
              <a:t>ковариат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улучшает прогноз при наличии внешних данных.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4800" b="1" dirty="0">
                <a:solidFill>
                  <a:srgbClr val="2C2C36"/>
                </a:solidFill>
                <a:latin typeface="system-ui"/>
              </a:rPr>
              <a:t>🚫 Ограничения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Требует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достаточно длинной истории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 для выявления паттернов.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Может быть избыточной для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очень коротких рядов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Интерполяция предполагает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гладкость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, что не всегда верно (например, при резких скачках).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6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44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 smtClean="0">
                <a:solidFill>
                  <a:srgbClr val="2C2C36"/>
                </a:solidFill>
                <a:latin typeface="system-ui"/>
              </a:rPr>
              <a:t>N-</a:t>
            </a:r>
            <a:r>
              <a:rPr lang="ru-RU" altLang="ru-RU" dirty="0" err="1" smtClean="0">
                <a:solidFill>
                  <a:srgbClr val="2C2C36"/>
                </a:solidFill>
                <a:latin typeface="system-ui"/>
              </a:rPr>
              <a:t>HiTS</a:t>
            </a:r>
            <a:r>
              <a:rPr lang="ru-RU" altLang="ru-RU" dirty="0" smtClean="0">
                <a:solidFill>
                  <a:srgbClr val="2C2C36"/>
                </a:solidFill>
                <a:latin typeface="system-ui"/>
              </a:rPr>
              <a:t> 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— это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эволюция N-BEATS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, сочетающая глубокое обучение с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интуитивными временными компонентами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 через интерполяцию. Благодаря своей архитектуре, она особенно хорошо подходит для:</a:t>
            </a:r>
            <a:endParaRPr lang="ru-RU" altLang="ru-RU" sz="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Прогнозирования спроса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Энергопотребления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Финансовых временных рядов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Веб-трафика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800" dirty="0"/>
              <a:t>Как отмечается в статье </a:t>
            </a:r>
            <a:r>
              <a:rPr lang="ru-RU" altLang="ru-RU" sz="1800" dirty="0" err="1"/>
              <a:t>SignalPop</a:t>
            </a:r>
            <a:r>
              <a:rPr lang="ru-RU" altLang="ru-RU" sz="1800" dirty="0"/>
              <a:t>:</a:t>
            </a:r>
            <a:br>
              <a:rPr lang="ru-RU" altLang="ru-RU" sz="1800" dirty="0"/>
            </a:br>
            <a:r>
              <a:rPr lang="ru-RU" altLang="ru-RU" dirty="0">
                <a:latin typeface="Arial" panose="020B0604020202020204" pitchFamily="34" charset="0"/>
              </a:rPr>
              <a:t>"N-</a:t>
            </a:r>
            <a:r>
              <a:rPr lang="ru-RU" altLang="ru-RU" dirty="0" err="1">
                <a:latin typeface="Arial" panose="020B0604020202020204" pitchFamily="34" charset="0"/>
              </a:rPr>
              <a:t>HiTS</a:t>
            </a:r>
            <a:r>
              <a:rPr lang="ru-RU" altLang="ru-RU" dirty="0">
                <a:latin typeface="Arial" panose="020B0604020202020204" pitchFamily="34" charset="0"/>
              </a:rPr>
              <a:t> — это не просто ещё одна </a:t>
            </a:r>
            <a:r>
              <a:rPr lang="ru-RU" altLang="ru-RU" dirty="0" err="1">
                <a:latin typeface="Arial" panose="020B0604020202020204" pitchFamily="34" charset="0"/>
              </a:rPr>
              <a:t>нейросеть</a:t>
            </a:r>
            <a:r>
              <a:rPr lang="ru-RU" altLang="ru-RU" dirty="0">
                <a:latin typeface="Arial" panose="020B0604020202020204" pitchFamily="34" charset="0"/>
              </a:rPr>
              <a:t> для временных рядов. Это шаг к объединению интерпретируемости и высокой точности в одной модели."</a:t>
            </a:r>
            <a:r>
              <a:rPr lang="ru-RU" altLang="ru-RU" sz="1800" dirty="0">
                <a:latin typeface="Arial" panose="020B0604020202020204" pitchFamily="34" charset="0"/>
              </a:rPr>
              <a:t> </a:t>
            </a:r>
            <a:endParaRPr lang="ru-RU" altLang="ru-RU" sz="4000" dirty="0">
              <a:latin typeface="Arial" panose="020B0604020202020204" pitchFamily="34" charset="0"/>
            </a:endParaRPr>
          </a:p>
          <a:p>
            <a:endParaRPr lang="ru-RU"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563175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0"/>
          <p:cNvSpPr>
            <a:spLocks noChangeArrowheads="1"/>
          </p:cNvSpPr>
          <p:nvPr/>
        </p:nvSpPr>
        <p:spPr bwMode="auto">
          <a:xfrm>
            <a:off x="0" y="978560"/>
            <a:ext cx="65" cy="39237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57132" rIns="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79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b="1" dirty="0" err="1" smtClean="0"/>
              <a:t>Полностью</a:t>
            </a:r>
            <a:r>
              <a:rPr lang="en-US" sz="2000" b="1" dirty="0" smtClean="0"/>
              <a:t> </a:t>
            </a:r>
            <a:r>
              <a:rPr lang="ru-RU" sz="2000" b="1" dirty="0" smtClean="0"/>
              <a:t>связанная</a:t>
            </a:r>
            <a:r>
              <a:rPr lang="en-US" sz="2000" b="1" dirty="0" smtClean="0"/>
              <a:t> </a:t>
            </a:r>
            <a:r>
              <a:rPr lang="en-US" sz="2000" b="1" dirty="0"/>
              <a:t>сеть</a:t>
            </a:r>
            <a:r>
              <a:rPr lang="en-US" sz="2000" dirty="0"/>
              <a:t> </a:t>
            </a:r>
            <a:r>
              <a:rPr lang="en-US" sz="2000" dirty="0" smtClean="0"/>
              <a:t>подход </a:t>
            </a:r>
            <a:r>
              <a:rPr lang="en-US" sz="2000" dirty="0"/>
              <a:t>не пользуется популярностью в анализе временных рядов из-за нескольких </a:t>
            </a:r>
            <a:r>
              <a:rPr lang="en-US" sz="2000" b="1" dirty="0"/>
              <a:t>недостатки</a:t>
            </a:r>
            <a:r>
              <a:rPr lang="en-US" sz="2000" dirty="0" smtClean="0"/>
              <a:t>:</a:t>
            </a:r>
            <a:endParaRPr lang="ru-RU" sz="2000" dirty="0" smtClean="0"/>
          </a:p>
          <a:p>
            <a:pPr lvl="0"/>
            <a:r>
              <a:rPr lang="ru-RU" sz="2000" u="sng" dirty="0"/>
              <a:t>Отсутствие учета связности между сегментами</a:t>
            </a:r>
            <a:r>
              <a:rPr lang="ru-RU" sz="2000" dirty="0"/>
              <a:t>  </a:t>
            </a:r>
            <a:r>
              <a:rPr lang="ru-RU" sz="2000" dirty="0" smtClean="0"/>
              <a:t>- </a:t>
            </a:r>
            <a:r>
              <a:rPr lang="ru-RU" sz="2000" dirty="0"/>
              <a:t>сети MLP не </a:t>
            </a:r>
            <a:r>
              <a:rPr lang="ru-RU" sz="2000" dirty="0" smtClean="0"/>
              <a:t>учитывают </a:t>
            </a:r>
            <a:r>
              <a:rPr lang="ru-RU" sz="2000" dirty="0"/>
              <a:t>подобие и </a:t>
            </a:r>
            <a:r>
              <a:rPr lang="ru-RU" sz="2000" dirty="0" smtClean="0"/>
              <a:t>связь поведения </a:t>
            </a:r>
            <a:r>
              <a:rPr lang="ru-RU" sz="2000" dirty="0"/>
              <a:t>последовательных входных данных (например, в скрытом состоянии RNN реализована «память» функций последовательных сегментов). </a:t>
            </a:r>
            <a:endParaRPr lang="ru-RU" sz="2000" dirty="0" smtClean="0"/>
          </a:p>
          <a:p>
            <a:pPr lvl="0"/>
            <a:r>
              <a:rPr lang="ru-RU" sz="2000" u="sng" dirty="0" smtClean="0"/>
              <a:t>Отсутствие учета казуальности – </a:t>
            </a:r>
            <a:r>
              <a:rPr lang="ru-RU" sz="2000" dirty="0" err="1" smtClean="0"/>
              <a:t>полносвязная</a:t>
            </a:r>
            <a:r>
              <a:rPr lang="ru-RU" sz="2000" dirty="0" smtClean="0"/>
              <a:t> сеть </a:t>
            </a:r>
            <a:r>
              <a:rPr lang="ru-RU" sz="2000" dirty="0" err="1" smtClean="0"/>
              <a:t>ненаправлена</a:t>
            </a:r>
            <a:endParaRPr lang="ru-RU" sz="2000" dirty="0" smtClean="0"/>
          </a:p>
          <a:p>
            <a:pPr lvl="0"/>
            <a:r>
              <a:rPr lang="ru-RU" sz="2000" u="sng" dirty="0" smtClean="0"/>
              <a:t>Огромное </a:t>
            </a:r>
            <a:r>
              <a:rPr lang="ru-RU" sz="2000" u="sng" dirty="0"/>
              <a:t>количество параметров </a:t>
            </a:r>
            <a:r>
              <a:rPr lang="ru-RU" sz="2000" dirty="0"/>
              <a:t> (из-за отсутствия повторного использования весов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как </a:t>
            </a:r>
            <a:r>
              <a:rPr lang="ru-RU" sz="2000" dirty="0"/>
              <a:t>в </a:t>
            </a:r>
            <a:r>
              <a:rPr lang="ru-RU" sz="2000" dirty="0" err="1"/>
              <a:t>cnn</a:t>
            </a:r>
            <a:r>
              <a:rPr lang="ru-RU" sz="2000" dirty="0"/>
              <a:t> или </a:t>
            </a:r>
            <a:r>
              <a:rPr lang="ru-RU" sz="2000" dirty="0" err="1"/>
              <a:t>rnn</a:t>
            </a:r>
            <a:r>
              <a:rPr lang="ru-RU" sz="2000" dirty="0"/>
              <a:t>).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Этот недостаток преодолевается с помощью архитектуры </a:t>
            </a:r>
            <a:r>
              <a:rPr lang="ru-RU" sz="2000" dirty="0" err="1"/>
              <a:t>трансформеров</a:t>
            </a:r>
            <a:r>
              <a:rPr lang="ru-RU" sz="2000" dirty="0"/>
              <a:t> (архитектура, основанная на </a:t>
            </a:r>
            <a:r>
              <a:rPr lang="ru-RU" sz="2000" dirty="0" smtClean="0"/>
              <a:t>внимании или миксере и на </a:t>
            </a:r>
            <a:r>
              <a:rPr lang="ru-RU" sz="2000" dirty="0" err="1"/>
              <a:t>полносвязных</a:t>
            </a:r>
            <a:r>
              <a:rPr lang="ru-RU" sz="2000" dirty="0"/>
              <a:t> сетях).</a:t>
            </a:r>
          </a:p>
          <a:p>
            <a:pPr algn="l" rtl="0"/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194" name="Picture 2" descr="Fully Connected vs Convolutional Neural Networks | by Pooja Mahajan | The  Startup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636" y="4546487"/>
            <a:ext cx="3068116" cy="2139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390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FCNN </a:t>
            </a:r>
            <a:r>
              <a:rPr lang="ru-RU" b="1" dirty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Другой подход </a:t>
            </a:r>
            <a:r>
              <a:rPr lang="ru-RU" sz="2000" u="sng" dirty="0" smtClean="0"/>
              <a:t>FCN</a:t>
            </a:r>
            <a:r>
              <a:rPr lang="en-US" sz="2000" u="sng" dirty="0" smtClean="0"/>
              <a:t>N</a:t>
            </a:r>
            <a:r>
              <a:rPr lang="ru-RU" sz="2000" u="sng" dirty="0" smtClean="0"/>
              <a:t> </a:t>
            </a:r>
            <a:r>
              <a:rPr lang="ru-RU" sz="2000" u="sng" dirty="0"/>
              <a:t>использует каждый прогнозируемый выход (или набор выходных данных) как часть входных данных.</a:t>
            </a:r>
            <a:endParaRPr lang="ru-RU" sz="2000" dirty="0"/>
          </a:p>
          <a:p>
            <a:pPr lvl="0"/>
            <a:r>
              <a:rPr lang="ru-RU" sz="2000" dirty="0"/>
              <a:t>В этом случае «</a:t>
            </a:r>
            <a:r>
              <a:rPr lang="ru-RU" sz="2000" dirty="0" err="1"/>
              <a:t>псевдорекуррентное</a:t>
            </a:r>
            <a:r>
              <a:rPr lang="ru-RU" sz="2000" dirty="0"/>
              <a:t> соединение» может быть реализовано посредством обратной связи.</a:t>
            </a:r>
          </a:p>
          <a:p>
            <a:pPr lvl="0"/>
            <a:r>
              <a:rPr lang="ru-RU" sz="2000" dirty="0"/>
              <a:t>Эти сети воплощают идею нелинейной модели авторегрессии (или  </a:t>
            </a:r>
            <a:r>
              <a:rPr lang="ru-RU" sz="2000" b="1" dirty="0"/>
              <a:t>нелинейной сети авторегрессии, NAR</a:t>
            </a:r>
            <a:r>
              <a:rPr lang="ru-RU" sz="2000" dirty="0"/>
              <a:t> ), где веса являются параметрами авторегрессии.</a:t>
            </a:r>
          </a:p>
          <a:p>
            <a:pPr lvl="0"/>
            <a:r>
              <a:rPr lang="ru-RU" sz="2000" dirty="0"/>
              <a:t>Пример нелинейной </a:t>
            </a:r>
            <a:r>
              <a:rPr lang="ru-RU" sz="2000" dirty="0" err="1"/>
              <a:t>авторегрессионной</a:t>
            </a:r>
            <a:r>
              <a:rPr lang="ru-RU" sz="2000" dirty="0"/>
              <a:t> сети.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000" y="3285223"/>
            <a:ext cx="7353521" cy="33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04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Другой популярный подход - «многие к одному», но его можно рассматривать как частный случай «многие ко многим».</a:t>
            </a:r>
          </a:p>
          <a:p>
            <a:pPr lvl="1"/>
            <a:r>
              <a:rPr lang="ru-RU" sz="2000" dirty="0"/>
              <a:t>Пример сети </a:t>
            </a:r>
            <a:r>
              <a:rPr lang="ru-RU" sz="2000" dirty="0" err="1"/>
              <a:t>rnn</a:t>
            </a:r>
            <a:r>
              <a:rPr lang="ru-RU" sz="2000" dirty="0"/>
              <a:t> кодировщика-декодера.</a:t>
            </a:r>
          </a:p>
          <a:p>
            <a:pPr lvl="1"/>
            <a:r>
              <a:rPr lang="ru-RU" sz="2000" dirty="0"/>
              <a:t>Здесь ℎ обозначает скрытое (или латентное, встраиваемое) пространство любого фиксированного измерения.</a:t>
            </a:r>
          </a:p>
          <a:p>
            <a:pPr lvl="1"/>
            <a:r>
              <a:rPr lang="ru-RU" sz="2000" dirty="0"/>
              <a:t>Смысл этого пространства - извлечение признаков (т. Е. Обобщение некоторой значимой информации всей исходной последовательности).</a:t>
            </a:r>
          </a:p>
          <a:p>
            <a:pPr lvl="1"/>
            <a:r>
              <a:rPr lang="ru-RU" sz="2000" dirty="0"/>
              <a:t>Обычно типы кодировщика и декодера могут быть разными.</a:t>
            </a:r>
          </a:p>
          <a:p>
            <a:r>
              <a:rPr lang="ru-RU" sz="2000" dirty="0"/>
              <a:t>Например, кодер CNN и декодер RNN могут быть объединены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848" y="2936815"/>
            <a:ext cx="2421607" cy="3670418"/>
          </a:xfrm>
          <a:prstGeom prst="rect">
            <a:avLst/>
          </a:prstGeom>
        </p:spPr>
      </p:pic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528" y="4253444"/>
            <a:ext cx="5773855" cy="2199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7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dirty="0"/>
              <a:t>Подход </a:t>
            </a:r>
            <a:r>
              <a:rPr lang="ru-RU" sz="2000" b="1" dirty="0" err="1"/>
              <a:t>Force-back</a:t>
            </a:r>
            <a:r>
              <a:rPr lang="ru-RU" sz="2000" b="1" dirty="0"/>
              <a:t> FCN</a:t>
            </a:r>
            <a:r>
              <a:rPr lang="ru-RU" sz="2000" dirty="0"/>
              <a:t> предполагает, </a:t>
            </a:r>
            <a:r>
              <a:rPr lang="ru-RU" sz="2000" dirty="0" smtClean="0"/>
              <a:t>что для каждого сегмента </a:t>
            </a:r>
            <a:r>
              <a:rPr lang="ru-RU" sz="2000" dirty="0"/>
              <a:t>должны быть </a:t>
            </a:r>
            <a:r>
              <a:rPr lang="ru-RU" sz="2000" dirty="0" smtClean="0"/>
              <a:t>предсказаны как следующие, так </a:t>
            </a:r>
            <a:r>
              <a:rPr lang="ru-RU" sz="2000" dirty="0"/>
              <a:t>и предыдущие </a:t>
            </a:r>
            <a:r>
              <a:rPr lang="ru-RU" sz="2000" dirty="0" smtClean="0"/>
              <a:t>значения.</a:t>
            </a:r>
            <a:r>
              <a:rPr lang="ru-RU" sz="2000" dirty="0"/>
              <a:t> Например, обратное прогнозирование может использоваться для вычисления ошибок и </a:t>
            </a:r>
            <a:r>
              <a:rPr lang="ru-RU" sz="2000" dirty="0" smtClean="0"/>
              <a:t>их уменьшения.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Сеть N-BEATS предлагает использовать стек </a:t>
            </a:r>
            <a:r>
              <a:rPr lang="ru-RU" sz="2000" dirty="0" smtClean="0"/>
              <a:t>сетей FCN</a:t>
            </a:r>
            <a:r>
              <a:rPr lang="en-US" sz="2000" dirty="0" smtClean="0"/>
              <a:t>N</a:t>
            </a:r>
            <a:r>
              <a:rPr lang="ru-RU" sz="2000" dirty="0" smtClean="0"/>
              <a:t>, </a:t>
            </a:r>
            <a:r>
              <a:rPr lang="ru-RU" sz="2000" dirty="0"/>
              <a:t>каждая из которых прогнозирует результат на основе ошибки предыдущей.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Пример </a:t>
            </a:r>
            <a:r>
              <a:rPr lang="ru-RU" sz="2000" b="1" dirty="0" err="1" smtClean="0"/>
              <a:t>Полносвязная</a:t>
            </a:r>
            <a:r>
              <a:rPr lang="ru-RU" sz="2000" b="1" dirty="0" smtClean="0"/>
              <a:t> </a:t>
            </a:r>
            <a:r>
              <a:rPr lang="ru-RU" sz="2000" b="1" dirty="0"/>
              <a:t>сеть N-BEATS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Идея  </a:t>
            </a:r>
            <a:r>
              <a:rPr lang="ru-RU" sz="2000" b="1" dirty="0"/>
              <a:t>N-BEATS</a:t>
            </a:r>
            <a:r>
              <a:rPr lang="ru-RU" sz="2000" dirty="0"/>
              <a:t>  заключается в следующем: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1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силы и назад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(</a:t>
            </a:r>
            <a:r>
              <a:rPr lang="ru-RU" sz="2000" dirty="0"/>
              <a:t>в выборке в обратном направлении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и </a:t>
            </a:r>
            <a:r>
              <a:rPr lang="ru-RU" sz="2000" dirty="0"/>
              <a:t>вне выборки в прямом направлении)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обратного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предсказания</a:t>
            </a:r>
            <a:r>
              <a:rPr lang="ru-RU" sz="2000" dirty="0"/>
              <a:t>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2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ошибки в </a:t>
            </a:r>
            <a:r>
              <a:rPr lang="ru-RU" sz="2000" dirty="0" smtClean="0"/>
              <a:t>обратном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направлении</a:t>
            </a:r>
            <a:r>
              <a:rPr lang="en-US" sz="2000" dirty="0" smtClean="0"/>
              <a:t> </a:t>
            </a:r>
            <a:r>
              <a:rPr lang="ru-RU" sz="2000" dirty="0" smtClean="0"/>
              <a:t>и правильный </a:t>
            </a:r>
            <a:r>
              <a:rPr lang="ru-RU" sz="2000" dirty="0"/>
              <a:t>прогноз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вперед </a:t>
            </a:r>
            <a:r>
              <a:rPr lang="ru-RU" sz="2000" dirty="0"/>
              <a:t>(сделанный из блока 1).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предсказания </a:t>
            </a:r>
            <a:endParaRPr lang="ru-RU" sz="2000" dirty="0" smtClean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повторить этап 2 и уточнить прогноз</a:t>
            </a:r>
            <a:br>
              <a:rPr lang="ru-RU" sz="2000" dirty="0" smtClean="0"/>
            </a:br>
            <a:r>
              <a:rPr lang="ru-RU" sz="2000" dirty="0" smtClean="0"/>
              <a:t> вне выборки.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17" y="2506587"/>
            <a:ext cx="5539539" cy="369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139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smtClean="0"/>
              <a:t>FCNN </a:t>
            </a:r>
            <a:r>
              <a:rPr lang="ru-RU" b="1" dirty="0" smtClean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r>
              <a:rPr lang="ru-RU" sz="2000" dirty="0"/>
              <a:t>Если в нелинейной авторегрессии, помимо повторного использования прогнозов в качестве входных данных, используются другие данные, подход можно назвать сетью нелинейной авторегрессии с экзогенными факторами (NARX).</a:t>
            </a:r>
          </a:p>
          <a:p>
            <a:r>
              <a:rPr lang="ru-RU" sz="2000" dirty="0"/>
              <a:t>Подходы NAR и NARX сегодня не популярны из-за низкой устойчивости к проблемам вывода (выбросы, градиентный взрыв и т. Д.).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89" y="2430875"/>
            <a:ext cx="4700036" cy="402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05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Самый популярный подход в применении нейронных сетей к временным </a:t>
                </a:r>
                <a:r>
                  <a:rPr lang="en-US" sz="2000" dirty="0" err="1" smtClean="0"/>
                  <a:t>рядам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для задач классификации </a:t>
                </a:r>
                <a:r>
                  <a:rPr lang="en-US" sz="2000" dirty="0" smtClean="0"/>
                  <a:t>- ​​это сверточные сети.</a:t>
                </a: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Во многих случаях необходима только одномерная свертка (из-за одномерного представления временных рядов). </a:t>
                </a:r>
                <a:endParaRPr lang="en-US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В </a:t>
                </a:r>
                <a:r>
                  <a:rPr lang="en-US" sz="2000" dirty="0"/>
                  <a:t>1d свертку можно описать как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600"/>
                  </a:spcAft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000" dirty="0"/>
                  <a:t> - матрица весов,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,...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это размер ядра.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𝑙𝑎𝑔</m:t>
                        </m:r>
                      </m:sub>
                    </m:sSub>
                  </m:oMath>
                </a14:m>
                <a:r>
                  <a:rPr lang="en-US" sz="2000" dirty="0"/>
                  <a:t> это так называемая матрица свертки или запаздывания входных данных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(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dirty="0"/>
                  <a:t> размер ввода,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Пример 1-мерной свертки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82" t="-5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112" y="5229225"/>
            <a:ext cx="42195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50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pic>
        <p:nvPicPr>
          <p:cNvPr id="2050" name="Picture 2" descr="Simple 1D convolutional neural network (CNN) architecture with two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5" y="1442448"/>
            <a:ext cx="5965825" cy="5158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ulticlass Damage Identification in a Full-Scale Bridge Using Optimally  Tuned One-Dimensional Convolutional Neural Network | Journal of Computing  in Civil Engineering | Vol 36, No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0244" y="2591407"/>
            <a:ext cx="5852160" cy="362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686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One-dimensional convolutional neural network (1D-CNN) models used in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" y="1690688"/>
            <a:ext cx="11564860" cy="434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5512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3074" name="Picture 2" descr="One-dimensional convolutional neural network (1D-CNN) model... | Download 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901" y="204360"/>
            <a:ext cx="8448674" cy="379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1D convolutional neural networks and applications: A survey - ScienceDirec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" y="3700462"/>
            <a:ext cx="4914900" cy="305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791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i="1" dirty="0" err="1">
                <a:solidFill>
                  <a:srgbClr val="000000"/>
                </a:solidFill>
              </a:rPr>
              <a:t>Примечание</a:t>
            </a:r>
            <a:endParaRPr lang="ru-RU" altLang="ru-RU" sz="2000" dirty="0"/>
          </a:p>
          <a:p>
            <a:pPr lvl="0"/>
            <a:r>
              <a:rPr lang="ru-RU" sz="2000" dirty="0"/>
              <a:t>Операция conv-1d соответствует фильтрам с конечной импульсной характеристикой (КИХ) при цифровой обработке сигналов.</a:t>
            </a:r>
          </a:p>
          <a:p>
            <a:pPr lvl="0"/>
            <a:r>
              <a:rPr lang="ru-RU" sz="2000" u="sng" dirty="0"/>
              <a:t>Размер ядра фильтра</a:t>
            </a:r>
            <a:r>
              <a:rPr lang="ru-RU" sz="2000" dirty="0"/>
              <a:t> 𝐾 </a:t>
            </a:r>
            <a:r>
              <a:rPr lang="ru-RU" sz="2000" u="sng" dirty="0"/>
              <a:t> соответствует размеру  рецептивного поля в классическом подходе CNN.</a:t>
            </a:r>
            <a:endParaRPr lang="ru-RU" sz="2000" dirty="0"/>
          </a:p>
          <a:p>
            <a:pPr lvl="0"/>
            <a:r>
              <a:rPr lang="ru-RU" sz="2000" dirty="0"/>
              <a:t>В соответствии с предположениями пространственной инвариантности для стандартных CNN 2d CNN для изображения), временные CNN (1d CNN для временных рядов) предполагают, что отношения не зависят от времени - таким образом, можно использовать один и тот же набор весов фильтра на каждом временном </a:t>
            </a:r>
            <a:r>
              <a:rPr lang="ru-RU" sz="2000" dirty="0" smtClean="0"/>
              <a:t>шаге.</a:t>
            </a:r>
            <a:endParaRPr lang="ru-RU" sz="2000" dirty="0"/>
          </a:p>
          <a:p>
            <a:pPr lvl="0"/>
            <a:r>
              <a:rPr lang="ru-RU" sz="2000" dirty="0"/>
              <a:t>Размер ядра фильтра необходимо тщательно настроить, чтобы модель могла использовать всю важную историческую информацию.</a:t>
            </a:r>
          </a:p>
          <a:p>
            <a:pPr lvl="0"/>
            <a:r>
              <a:rPr lang="ru-RU" sz="2000" dirty="0"/>
              <a:t>Стоит отметить, что один </a:t>
            </a:r>
            <a:r>
              <a:rPr lang="ru-RU" sz="2000" dirty="0" smtClean="0"/>
              <a:t>слой </a:t>
            </a:r>
            <a:r>
              <a:rPr lang="ru-RU" sz="2000" dirty="0"/>
              <a:t>CNN эквивалентен модели авторегрессии (AR).</a:t>
            </a:r>
          </a:p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62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447224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68" y="1310052"/>
            <a:ext cx="6651192" cy="257577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/>
          <a:srcRect t="7110"/>
          <a:stretch/>
        </p:blipFill>
        <p:spPr>
          <a:xfrm>
            <a:off x="4443813" y="3783032"/>
            <a:ext cx="7256698" cy="2892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462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 smtClean="0"/>
                  <a:t>1d свертку можно описать как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 smtClean="0"/>
                  <a:t>где</a:t>
                </a:r>
                <a:r>
                  <a:rPr lang="en-US" sz="1800" dirty="0" smtClean="0"/>
                  <a:t>: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 dirty="0"/>
                  <a:t> вектор весов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 err="1"/>
                  <a:t>размер</a:t>
                </a:r>
                <a:r>
                  <a:rPr lang="en-US" sz="1800" dirty="0"/>
                  <a:t> </a:t>
                </a:r>
                <a:r>
                  <a:rPr lang="en-US" sz="1800" dirty="0" err="1" smtClean="0"/>
                  <a:t>ядра</a:t>
                </a:r>
                <a:r>
                  <a:rPr lang="en-US" sz="1800" dirty="0" smtClean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это входной вектор</a:t>
                </a:r>
                <a:r>
                  <a:rPr lang="en-US" sz="1800" dirty="0" smtClean="0"/>
                  <a:t>,</a:t>
                </a:r>
                <a:br>
                  <a:rPr lang="en-US" sz="1800" dirty="0" smtClean="0"/>
                </a:b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800" dirty="0"/>
                  <a:t> - размер ввода, 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800" dirty="0"/>
                  <a:t>,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1" i="1"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en-US" sz="1800" dirty="0"/>
                  <a:t> матрица свертки. 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9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 smtClean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𝐤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acc>
                              <m:accPr>
                                <m:chr m:val="⃗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9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m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/>
                  <a:t>Пример 1-го </a:t>
                </a:r>
                <a:r>
                  <a:rPr lang="en-US" sz="1800" dirty="0" smtClean="0"/>
                  <a:t>свертка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r>
                  <a:rPr lang="ru-RU" altLang="ru-RU" sz="1800" dirty="0" err="1"/>
                  <a:t>Примечание</a:t>
                </a:r>
                <a:r>
                  <a:rPr lang="ru-RU" altLang="ru-RU" sz="1800" dirty="0"/>
                  <a:t>:</a:t>
                </a:r>
                <a:r>
                  <a:rPr lang="en-US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фильтр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ядро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𝐾 </a:t>
                </a:r>
                <a:r>
                  <a:rPr lang="ru-RU" altLang="ru-RU" sz="1800" dirty="0" err="1"/>
                  <a:t>соответствует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восприимчивый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поле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классический</a:t>
                </a:r>
                <a:r>
                  <a:rPr lang="ru-RU" altLang="ru-RU" sz="1800" dirty="0"/>
                  <a:t> CNN </a:t>
                </a:r>
                <a:r>
                  <a:rPr lang="ru-RU" altLang="ru-RU" sz="1800" dirty="0" err="1"/>
                  <a:t>подход</a:t>
                </a:r>
                <a:r>
                  <a:rPr lang="ru-RU" altLang="ru-RU" sz="1800" dirty="0"/>
                  <a:t>.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endParaRPr lang="ru-RU" altLang="ru-RU" sz="1800" dirty="0">
                  <a:latin typeface="Arial" panose="020B0604020202020204" pitchFamily="34" charset="0"/>
                </a:endParaRP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sz="1800" dirty="0"/>
              </a:p>
              <a:p>
                <a:pPr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29" t="-596" r="-3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466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Помимо 1d свертки, </a:t>
            </a:r>
            <a:r>
              <a:rPr lang="en-US" sz="2000" dirty="0" err="1" smtClean="0"/>
              <a:t>также</a:t>
            </a:r>
            <a:r>
              <a:rPr lang="en-US" sz="2000" dirty="0" smtClean="0"/>
              <a:t> </a:t>
            </a:r>
            <a:r>
              <a:rPr lang="en-US" sz="2000" dirty="0"/>
              <a:t>может </a:t>
            </a:r>
            <a:r>
              <a:rPr lang="en-US" sz="2000" dirty="0" err="1"/>
              <a:t>быть</a:t>
            </a:r>
            <a:r>
              <a:rPr lang="en-US" sz="2000" dirty="0"/>
              <a:t> </a:t>
            </a:r>
            <a:r>
              <a:rPr lang="en-US" sz="2000" b="1" dirty="0" smtClean="0"/>
              <a:t>1-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/>
              <a:t>пул</a:t>
            </a:r>
            <a:r>
              <a:rPr lang="en-US" sz="2000" dirty="0"/>
              <a:t>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102910"/>
            <a:ext cx="3714750" cy="316230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4877631" y="1365588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</a:rPr>
              <a:t>Помимо 1d свертки, </a:t>
            </a:r>
            <a:r>
              <a:rPr lang="en-US" dirty="0" err="1" smtClean="0">
                <a:solidFill>
                  <a:srgbClr val="000000"/>
                </a:solidFill>
              </a:rPr>
              <a:t>также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может быть </a:t>
            </a:r>
            <a:r>
              <a:rPr lang="en-US" b="1" dirty="0">
                <a:solidFill>
                  <a:srgbClr val="000000"/>
                </a:solidFill>
              </a:rPr>
              <a:t>глобальный пул</a:t>
            </a:r>
            <a:r>
              <a:rPr lang="en-US" dirty="0">
                <a:solidFill>
                  <a:srgbClr val="000000"/>
                </a:solidFill>
              </a:rPr>
              <a:t>.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b="1" dirty="0">
                <a:solidFill>
                  <a:srgbClr val="000000"/>
                </a:solidFill>
              </a:rPr>
              <a:t>Средний глобальный пул</a:t>
            </a:r>
            <a:r>
              <a:rPr lang="en-US" dirty="0">
                <a:solidFill>
                  <a:srgbClr val="000000"/>
                </a:solidFill>
              </a:rPr>
              <a:t> используется везде в 1d-cnn, однако вы можете попробовать использовать в качестве </a:t>
            </a:r>
            <a:r>
              <a:rPr lang="en-US" dirty="0" err="1">
                <a:solidFill>
                  <a:srgbClr val="000000"/>
                </a:solidFill>
              </a:rPr>
              <a:t>глобального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smtClean="0">
                <a:solidFill>
                  <a:srgbClr val="000000"/>
                </a:solidFill>
              </a:rPr>
              <a:t>-</a:t>
            </a:r>
            <a:r>
              <a:rPr lang="en-US" dirty="0" err="1" smtClean="0">
                <a:solidFill>
                  <a:srgbClr val="000000"/>
                </a:solidFill>
              </a:rPr>
              <a:t>максимальн</a:t>
            </a:r>
            <a:r>
              <a:rPr lang="ru-RU" dirty="0" err="1" smtClean="0">
                <a:solidFill>
                  <a:srgbClr val="000000"/>
                </a:solidFill>
              </a:rPr>
              <a:t>ый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 err="1" smtClean="0">
                <a:solidFill>
                  <a:srgbClr val="000000"/>
                </a:solidFill>
              </a:rPr>
              <a:t>пул</a:t>
            </a:r>
            <a:r>
              <a:rPr lang="ru-RU" dirty="0" err="1" smtClean="0">
                <a:solidFill>
                  <a:srgbClr val="000000"/>
                </a:solidFill>
              </a:rPr>
              <a:t>инг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ru-RU" dirty="0" smtClean="0">
                <a:solidFill>
                  <a:srgbClr val="000000"/>
                </a:solidFill>
              </a:rPr>
              <a:t>или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flatten и другие слои вместо них.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</a:rPr>
              <a:t>Пример глобального среднего пула (альтернатива сглаженному слою).</a:t>
            </a:r>
            <a:endParaRPr lang="en-US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118" y="3038475"/>
            <a:ext cx="4391025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03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dirty="0" smtClean="0"/>
              <a:t>П</a:t>
            </a:r>
            <a:r>
              <a:rPr lang="en-US" sz="2000" dirty="0" err="1" smtClean="0"/>
              <a:t>ример</a:t>
            </a:r>
            <a:r>
              <a:rPr lang="en-US" sz="2000" dirty="0" smtClean="0"/>
              <a:t> </a:t>
            </a:r>
            <a:r>
              <a:rPr lang="en-US" sz="2000" dirty="0"/>
              <a:t>1-мерной свёрточной сети с </a:t>
            </a:r>
            <a:r>
              <a:rPr lang="en-US" sz="2000" dirty="0" err="1" smtClean="0"/>
              <a:t>dropput</a:t>
            </a:r>
            <a:r>
              <a:rPr lang="en-US" sz="2000" dirty="0" smtClean="0"/>
              <a:t> </a:t>
            </a:r>
            <a:r>
              <a:rPr lang="en-US" sz="2000" dirty="0"/>
              <a:t>входа</a:t>
            </a:r>
            <a:endParaRPr lang="ru-RU" altLang="ru-RU" sz="1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816" y="1302417"/>
            <a:ext cx="9846492" cy="447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4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en-US" sz="4000" b="1" dirty="0"/>
              <a:t>1д </a:t>
            </a:r>
            <a:r>
              <a:rPr lang="en-US" sz="4000" b="1" dirty="0" err="1"/>
              <a:t>ResNet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i="1" dirty="0" err="1" smtClean="0"/>
              <a:t>Примечание</a:t>
            </a:r>
            <a:endParaRPr lang="en-US" sz="2000" i="1" dirty="0" smtClean="0"/>
          </a:p>
          <a:p>
            <a:pPr lvl="0"/>
            <a:r>
              <a:rPr lang="ru-RU" sz="2000" u="sng" dirty="0"/>
              <a:t>Большинство </a:t>
            </a:r>
            <a:r>
              <a:rPr lang="ru-RU" sz="2000" b="1" u="sng" dirty="0"/>
              <a:t>подходов</a:t>
            </a:r>
            <a:r>
              <a:rPr lang="ru-RU" sz="2000" u="sng" dirty="0"/>
              <a:t> к  </a:t>
            </a:r>
            <a:r>
              <a:rPr lang="ru-RU" sz="2000" b="1" u="sng" dirty="0"/>
              <a:t>регуляризации</a:t>
            </a:r>
            <a:r>
              <a:rPr lang="ru-RU" sz="2000" u="sng" dirty="0"/>
              <a:t>  из 2d-сверток применимы к сетям 1-мерных временных рядов, например: </a:t>
            </a:r>
            <a:endParaRPr lang="en-US" sz="2000" u="sng" dirty="0" smtClean="0"/>
          </a:p>
          <a:p>
            <a:pPr lvl="1"/>
            <a:r>
              <a:rPr lang="ru-RU" dirty="0" err="1" smtClean="0"/>
              <a:t>dropput</a:t>
            </a:r>
            <a:r>
              <a:rPr lang="ru-RU" dirty="0"/>
              <a:t>,</a:t>
            </a:r>
          </a:p>
          <a:p>
            <a:pPr lvl="1"/>
            <a:r>
              <a:rPr lang="ru-RU" dirty="0"/>
              <a:t>пропущенные соединения,</a:t>
            </a:r>
          </a:p>
          <a:p>
            <a:pPr lvl="1"/>
            <a:r>
              <a:rPr lang="ru-RU" dirty="0"/>
              <a:t>пакетная нормализация,</a:t>
            </a:r>
          </a:p>
          <a:p>
            <a:pPr lvl="1"/>
            <a:r>
              <a:rPr lang="ru-RU" dirty="0"/>
              <a:t>1x1-свертки и прочее.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096" y="2527435"/>
            <a:ext cx="6772626" cy="1443425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07975" y="522573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1d </a:t>
            </a:r>
            <a:r>
              <a:rPr lang="en-US" b="1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много</a:t>
            </a:r>
            <a:r>
              <a:rPr lang="ru-RU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мерный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georgia" panose="02040502050405020303" pitchFamily="18" charset="0"/>
              </a:rPr>
              <a:t>ResNet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классификация временных рядов.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5826" y="3905988"/>
            <a:ext cx="5707526" cy="2536678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65175" y="3531920"/>
            <a:ext cx="398429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sz="2000" dirty="0" err="1"/>
              <a:t>Пример</a:t>
            </a:r>
            <a:r>
              <a:rPr lang="en-US" sz="2000" dirty="0"/>
              <a:t> </a:t>
            </a:r>
            <a:r>
              <a:rPr lang="en-US" sz="2000" b="1" dirty="0" smtClean="0"/>
              <a:t>1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 err="1"/>
              <a:t>ResNet</a:t>
            </a:r>
            <a:r>
              <a:rPr lang="en-US" sz="2000" b="1" dirty="0"/>
              <a:t> </a:t>
            </a:r>
            <a:r>
              <a:rPr lang="en-US" sz="2000" dirty="0" smtClean="0"/>
              <a:t>для</a:t>
            </a:r>
            <a:br>
              <a:rPr lang="en-US" sz="2000" dirty="0" smtClean="0"/>
            </a:br>
            <a:r>
              <a:rPr lang="en-US" sz="2000" dirty="0" smtClean="0"/>
              <a:t> </a:t>
            </a:r>
            <a:r>
              <a:rPr lang="en-US" sz="2000" dirty="0"/>
              <a:t>классификация временных рядов.</a:t>
            </a:r>
            <a:endParaRPr lang="ru-RU" altLang="ru-RU" sz="1050" dirty="0"/>
          </a:p>
        </p:txBody>
      </p:sp>
    </p:spTree>
    <p:extLst>
      <p:ext uri="{BB962C8B-B14F-4D97-AF65-F5344CB8AC3E}">
        <p14:creationId xmlns:p14="http://schemas.microsoft.com/office/powerpoint/2010/main" val="4224052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4731" y="177119"/>
            <a:ext cx="11151977" cy="540728"/>
          </a:xfrm>
        </p:spPr>
        <p:txBody>
          <a:bodyPr>
            <a:noAutofit/>
          </a:bodyPr>
          <a:lstStyle/>
          <a:p>
            <a:pPr algn="l" rtl="0"/>
            <a:r>
              <a:rPr lang="ru-RU" sz="3600" b="1" dirty="0" smtClean="0"/>
              <a:t>1-мерная </a:t>
            </a:r>
            <a:r>
              <a:rPr lang="ru-RU" sz="3600" b="1" dirty="0" err="1" smtClean="0"/>
              <a:t>сверточная</a:t>
            </a:r>
            <a:r>
              <a:rPr lang="ru-RU" sz="3600" b="1" dirty="0" smtClean="0"/>
              <a:t> нейронная сеть</a:t>
            </a:r>
            <a:r>
              <a:rPr lang="en-US" sz="3600" b="1" dirty="0" smtClean="0"/>
              <a:t>. </a:t>
            </a:r>
            <a:r>
              <a:rPr lang="en-US" sz="3600" b="1" dirty="0" err="1" smtClean="0"/>
              <a:t>InceptionTime</a:t>
            </a:r>
            <a:endParaRPr lang="ru-RU" sz="36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b="1" dirty="0" smtClean="0"/>
              <a:t>1d </a:t>
            </a:r>
            <a:r>
              <a:rPr lang="en-US" b="1" dirty="0" err="1"/>
              <a:t>InceptionTime</a:t>
            </a:r>
            <a:r>
              <a:rPr lang="en-US" b="1" dirty="0"/>
              <a:t> </a:t>
            </a:r>
            <a:r>
              <a:rPr lang="en-US" dirty="0" err="1" smtClean="0"/>
              <a:t>для</a:t>
            </a:r>
            <a:r>
              <a:rPr lang="en-US" dirty="0" smtClean="0"/>
              <a:t> </a:t>
            </a:r>
            <a:r>
              <a:rPr lang="en-US" dirty="0"/>
              <a:t>классификации временных рядов.</a:t>
            </a:r>
            <a:endParaRPr lang="en-US" sz="2000" u="sng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346200"/>
            <a:ext cx="6646178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803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8"/>
            <a:ext cx="10883781" cy="1054781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br>
              <a:rPr lang="en-US" sz="4000" b="1" dirty="0" smtClean="0"/>
            </a:br>
            <a:r>
              <a:rPr lang="en-US" sz="4000" b="1" dirty="0" smtClean="0"/>
              <a:t>Пример с </a:t>
            </a:r>
            <a:r>
              <a:rPr lang="en-US" sz="4000" b="1" dirty="0" err="1" smtClean="0"/>
              <a:t>выбором</a:t>
            </a:r>
            <a:r>
              <a:rPr lang="en-US" sz="4000" b="1" dirty="0" smtClean="0"/>
              <a:t> </a:t>
            </a:r>
            <a:r>
              <a:rPr lang="ru-RU" sz="4000" b="1" dirty="0" smtClean="0"/>
              <a:t>признаков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367518"/>
            <a:ext cx="11374451" cy="5490481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В некоторых случаях  </a:t>
            </a:r>
            <a:r>
              <a:rPr lang="ru-RU" sz="2000" u="sng" dirty="0" smtClean="0"/>
              <a:t> </a:t>
            </a:r>
            <a:r>
              <a:rPr lang="ru-RU" sz="2000" u="sng" dirty="0"/>
              <a:t>вход </a:t>
            </a:r>
            <a:r>
              <a:rPr lang="ru-RU" sz="2000" u="sng" dirty="0" smtClean="0"/>
              <a:t>сети может </a:t>
            </a:r>
            <a:r>
              <a:rPr lang="ru-RU" sz="2000" u="sng" dirty="0"/>
              <a:t>быть сформирован с помощью извлечения некоторой </a:t>
            </a:r>
            <a:r>
              <a:rPr lang="ru-RU" sz="2000" u="sng" dirty="0" smtClean="0"/>
              <a:t>признаков </a:t>
            </a:r>
            <a:r>
              <a:rPr lang="ru-RU" sz="2000" u="sng" dirty="0"/>
              <a:t>из временного </a:t>
            </a:r>
            <a:r>
              <a:rPr lang="ru-RU" sz="2000" u="sng" dirty="0" smtClean="0"/>
              <a:t>ряда</a:t>
            </a:r>
            <a:r>
              <a:rPr lang="ru-RU" sz="2000" dirty="0" smtClean="0"/>
              <a:t>.</a:t>
            </a:r>
            <a:endParaRPr lang="ru-RU" sz="2000" dirty="0"/>
          </a:p>
          <a:p>
            <a:pPr lvl="0"/>
            <a:r>
              <a:rPr lang="ru-RU" sz="2000" dirty="0" smtClean="0"/>
              <a:t>Сами </a:t>
            </a:r>
            <a:r>
              <a:rPr lang="ru-RU" sz="2000" dirty="0"/>
              <a:t>данные могут быть объединены с их спектром, декомпозицией и другими преобразованиями.</a:t>
            </a:r>
          </a:p>
          <a:p>
            <a:pPr lvl="0"/>
            <a:r>
              <a:rPr lang="ru-RU" sz="2000" dirty="0"/>
              <a:t>В этом случае в качестве первого слоя могут применяться так называемые локальные свертки.</a:t>
            </a:r>
          </a:p>
          <a:p>
            <a:pPr lvl="0"/>
            <a:r>
              <a:rPr lang="ru-RU" sz="2000" dirty="0" smtClean="0"/>
              <a:t>Пример </a:t>
            </a:r>
            <a:r>
              <a:rPr lang="ru-RU" sz="2000" b="1" dirty="0" smtClean="0"/>
              <a:t>выбора </a:t>
            </a:r>
            <a:r>
              <a:rPr lang="ru-RU" sz="2000" b="1" dirty="0"/>
              <a:t>функции для слоя локальной свертки.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0" y="3156679"/>
            <a:ext cx="5892800" cy="3277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89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</a:t>
            </a:r>
            <a:r>
              <a:rPr lang="ru-RU" sz="2000" dirty="0" smtClean="0"/>
              <a:t>вычислительно-сложными </a:t>
            </a:r>
            <a:r>
              <a:rPr lang="ru-RU" sz="2000" dirty="0"/>
              <a:t>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</a:t>
            </a:r>
            <a:r>
              <a:rPr lang="ru-RU" sz="2000" dirty="0" smtClean="0"/>
              <a:t>рецептивного </a:t>
            </a:r>
            <a:r>
              <a:rPr lang="ru-RU" sz="2000" dirty="0"/>
              <a:t>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</a:t>
            </a:r>
            <a:r>
              <a:rPr lang="ru-RU" sz="2000" u="sng" dirty="0" smtClean="0"/>
              <a:t> </a:t>
            </a:r>
            <a:r>
              <a:rPr lang="ru-RU" sz="2000" u="sng" dirty="0"/>
              <a:t>поля и </a:t>
            </a:r>
            <a:r>
              <a:rPr lang="ru-RU" sz="2000" u="sng" dirty="0" smtClean="0"/>
              <a:t>обрабатывать </a:t>
            </a:r>
            <a:r>
              <a:rPr lang="ru-RU" sz="2000" u="sng" dirty="0"/>
              <a:t>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</a:t>
            </a:r>
            <a:r>
              <a:rPr lang="ru-RU" sz="2000" i="1" dirty="0" smtClean="0"/>
              <a:t>рецептивное </a:t>
            </a:r>
            <a:r>
              <a:rPr lang="ru-RU" sz="2000" i="1" dirty="0"/>
              <a:t>поле без нарушения последовательности </a:t>
            </a:r>
            <a:r>
              <a:rPr lang="ru-RU" sz="2000" i="1" dirty="0" smtClean="0"/>
              <a:t>временного ряда, </a:t>
            </a:r>
            <a:r>
              <a:rPr lang="ru-RU" sz="2000" i="1" dirty="0"/>
              <a:t>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 smtClean="0"/>
              <a:t>Расширение свертки позволяет </a:t>
            </a:r>
            <a:r>
              <a:rPr lang="ru-RU" sz="2000" i="1" dirty="0" smtClean="0"/>
              <a:t>рецептивному</a:t>
            </a:r>
            <a:r>
              <a:rPr lang="ru-RU" sz="2000" dirty="0" smtClean="0"/>
              <a:t> </a:t>
            </a:r>
            <a:r>
              <a:rPr lang="ru-RU" sz="2000" dirty="0"/>
              <a:t>полю экспоненциально увеличиваться в зависимости от глубины сверточного слоя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lvl="1"/>
            <a:r>
              <a:rPr lang="ru-RU" sz="1600" dirty="0" smtClean="0"/>
              <a:t>Однако, надо понимать, что свертка не должна нарушать теорему Котельникова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 smtClean="0"/>
              <a:t>Также может быть </a:t>
            </a:r>
            <a:r>
              <a:rPr lang="en-US" sz="2000" u="sng" dirty="0" err="1" smtClean="0"/>
              <a:t>двунаправленн</a:t>
            </a:r>
            <a:r>
              <a:rPr lang="ru-RU" sz="2000" u="sng" dirty="0" err="1" smtClean="0"/>
              <a:t>ая</a:t>
            </a:r>
            <a:r>
              <a:rPr lang="ru-RU" sz="2000" u="sng" dirty="0" smtClean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b="1" dirty="0"/>
              <a:t>1-d CNN. </a:t>
            </a:r>
            <a:r>
              <a:rPr lang="ru-RU" sz="3600" b="1" dirty="0"/>
              <a:t>Сеть глубокой временной свертки (</a:t>
            </a:r>
            <a:r>
              <a:rPr lang="ru-RU" sz="3600" b="1" dirty="0" err="1"/>
              <a:t>deepTCN</a:t>
            </a:r>
            <a:r>
              <a:rPr lang="en-US" sz="3600" b="1" dirty="0"/>
              <a:t>)</a:t>
            </a:r>
            <a:r>
              <a:rPr lang="ru-RU" altLang="ru-RU" sz="4000" b="1" dirty="0"/>
              <a:t>.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889726"/>
            <a:ext cx="5820896" cy="515311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Примером </a:t>
            </a:r>
            <a:r>
              <a:rPr lang="ru-RU" sz="2000" dirty="0" smtClean="0"/>
              <a:t>реализации </a:t>
            </a:r>
            <a:r>
              <a:rPr lang="ru-RU" sz="2000" dirty="0"/>
              <a:t>расширенной свертки является </a:t>
            </a:r>
            <a:r>
              <a:rPr lang="ru-RU" sz="2000" b="1" dirty="0"/>
              <a:t>сеть глубокой временной свертки (</a:t>
            </a:r>
            <a:r>
              <a:rPr lang="ru-RU" sz="2000" b="1" dirty="0" err="1"/>
              <a:t>deepTCN</a:t>
            </a:r>
            <a:r>
              <a:rPr lang="ru-RU" sz="2000" b="1" dirty="0"/>
              <a:t>)</a:t>
            </a:r>
            <a:r>
              <a:rPr lang="ru-RU" sz="2000" dirty="0"/>
              <a:t> .</a:t>
            </a:r>
          </a:p>
          <a:p>
            <a:pPr lvl="0"/>
            <a:r>
              <a:rPr lang="ru-RU" sz="2000" b="1" dirty="0"/>
              <a:t>Часть кодировщика: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сложенные расширенные </a:t>
            </a:r>
            <a:r>
              <a:rPr lang="ru-RU" sz="2000" dirty="0" smtClean="0"/>
              <a:t>свертки </a:t>
            </a:r>
            <a:r>
              <a:rPr lang="ru-RU" sz="2000" dirty="0"/>
              <a:t>построены для фиксации долгосрочных временных зависимостей;</a:t>
            </a:r>
          </a:p>
          <a:p>
            <a:pPr lvl="0"/>
            <a:r>
              <a:rPr lang="ru-RU" sz="2000" b="1" dirty="0"/>
              <a:t>Часть декодера: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вариант остаточного блока предназначен для взаимодействия как исторических, так и будущих </a:t>
            </a:r>
            <a:r>
              <a:rPr lang="ru-RU" sz="2000" dirty="0" smtClean="0"/>
              <a:t>данных.</a:t>
            </a:r>
            <a:endParaRPr lang="ru-RU" sz="2000" dirty="0"/>
          </a:p>
          <a:p>
            <a:pPr lvl="0"/>
            <a:r>
              <a:rPr lang="ru-RU" sz="2000" dirty="0"/>
              <a:t>На рисунке ниже 𝑋 - экзогенные факторы, </a:t>
            </a:r>
            <a:r>
              <a:rPr lang="ru-RU" sz="2000" dirty="0" smtClean="0"/>
              <a:t>𝑦 </a:t>
            </a:r>
            <a:r>
              <a:rPr lang="ru-RU" sz="2000" dirty="0"/>
              <a:t>- входы; ℎ - скрытое состояние, а </a:t>
            </a:r>
            <a:r>
              <a:rPr lang="ru-RU" sz="2000" dirty="0" smtClean="0"/>
              <a:t>𝑘 </a:t>
            </a:r>
            <a:r>
              <a:rPr lang="ru-RU" sz="2000" dirty="0"/>
              <a:t>- </a:t>
            </a:r>
            <a:r>
              <a:rPr lang="ru-RU" sz="2000" dirty="0" smtClean="0"/>
              <a:t>рецептивное </a:t>
            </a:r>
            <a:r>
              <a:rPr lang="ru-RU" sz="2000" dirty="0"/>
              <a:t>поле.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65" y="672058"/>
            <a:ext cx="5632450" cy="621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114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</a:t>
            </a:r>
            <a:r>
              <a:rPr lang="ru-RU" sz="2000" dirty="0" smtClean="0"/>
              <a:t>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позволяют реагировать на любые значимые редкие события.</a:t>
            </a:r>
            <a:endParaRPr lang="ru-RU" sz="2000" dirty="0"/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</a:t>
            </a:r>
            <a:r>
              <a:rPr lang="ru-RU" sz="1600" dirty="0" smtClean="0"/>
              <a:t>розничной торговли сюда входят праздничные или рекламные периоды</a:t>
            </a:r>
            <a:r>
              <a:rPr lang="ru-RU" sz="1600" dirty="0"/>
              <a:t>, которые </a:t>
            </a:r>
            <a:r>
              <a:rPr lang="ru-RU" sz="1600" dirty="0" smtClean="0"/>
              <a:t>могут </a:t>
            </a:r>
            <a:r>
              <a:rPr lang="ru-RU" sz="1600" dirty="0"/>
              <a:t>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изучать </a:t>
            </a:r>
            <a:r>
              <a:rPr lang="ru-RU" sz="2000" dirty="0"/>
              <a:t>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</a:t>
            </a:r>
            <a:r>
              <a:rPr lang="ru-RU" sz="2000" dirty="0" smtClean="0"/>
              <a:t>признаки </a:t>
            </a:r>
            <a:r>
              <a:rPr lang="ru-RU" sz="2000" dirty="0"/>
              <a:t>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</a:t>
            </a:r>
            <a:r>
              <a:rPr lang="ru-RU" sz="2000" dirty="0" smtClean="0"/>
              <a:t>создания </a:t>
            </a:r>
            <a:r>
              <a:rPr lang="ru-RU" sz="2000" dirty="0"/>
              <a:t>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</a:t>
            </a:r>
            <a:r>
              <a:rPr lang="ru-RU" sz="2000" u="sng" dirty="0" smtClean="0"/>
              <a:t>декодера,</a:t>
            </a:r>
            <a:r>
              <a:rPr lang="ru-RU" sz="2000" u="sng" dirty="0"/>
              <a:t> однако часто он забывает самую раннюю часть после завершения обработки всего ввода</a:t>
            </a:r>
            <a:r>
              <a:rPr lang="ru-RU" sz="2000" u="sng" dirty="0" smtClean="0"/>
              <a:t>.</a:t>
            </a:r>
          </a:p>
          <a:p>
            <a:pPr>
              <a:spcBef>
                <a:spcPts val="0"/>
              </a:spcBef>
            </a:pPr>
            <a:r>
              <a:rPr lang="ru-RU" sz="2000" i="1" dirty="0" smtClean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</a:t>
            </a:r>
            <a:r>
              <a:rPr lang="ru-RU" sz="2000" i="1" dirty="0" smtClean="0"/>
              <a:t>исходной последовательности в </a:t>
            </a:r>
            <a:r>
              <a:rPr lang="ru-RU" sz="2000" i="1" dirty="0"/>
              <a:t>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  <a:endParaRPr lang="ru-RU" sz="2000" b="1" u="sng" dirty="0" smtClean="0"/>
          </a:p>
          <a:p>
            <a:pPr>
              <a:spcBef>
                <a:spcPts val="0"/>
              </a:spcBef>
            </a:pPr>
            <a:r>
              <a:rPr lang="ru-RU" sz="2000" b="1" dirty="0" smtClean="0"/>
              <a:t>Для </a:t>
            </a:r>
            <a:r>
              <a:rPr lang="ru-RU" sz="2000" b="1" dirty="0"/>
              <a:t>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</a:t>
            </a:r>
            <a:r>
              <a:rPr lang="ru-RU" sz="2000" u="sng" dirty="0" smtClean="0"/>
              <a:t>(для</a:t>
            </a:r>
            <a:r>
              <a:rPr lang="ru-RU" sz="2000" u="sng" dirty="0"/>
              <a:t>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Веса </a:t>
            </a:r>
            <a:r>
              <a:rPr lang="ru-RU" sz="2000" dirty="0"/>
              <a:t>этих </a:t>
            </a:r>
            <a:r>
              <a:rPr lang="ru-RU" sz="2000" dirty="0" smtClean="0"/>
              <a:t>𝑎𝑖𝑗 </a:t>
            </a:r>
            <a:r>
              <a:rPr lang="ru-RU" sz="2000" dirty="0"/>
              <a:t>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 smtClean="0"/>
              <a:t>функци</a:t>
            </a:r>
            <a:r>
              <a:rPr lang="ru-RU" b="1" dirty="0" smtClean="0"/>
              <a:t>й внимания</a:t>
            </a:r>
            <a:r>
              <a:rPr lang="en-US" dirty="0" smtClean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Модификацией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вход</a:t>
                </a:r>
                <a:r>
                  <a:rPr lang="ru-RU" sz="2000" b="1" dirty="0" err="1" smtClean="0"/>
                  <a:t>ных</a:t>
                </a:r>
                <a:r>
                  <a:rPr lang="ru-RU" sz="2000" b="1" dirty="0" smtClean="0"/>
                  <a:t> данных</a:t>
                </a:r>
                <a:r>
                  <a:rPr lang="en-US" sz="2000" b="1" dirty="0" smtClean="0"/>
                  <a:t>.</a:t>
                </a:r>
                <a:r>
                  <a:rPr lang="ru-RU" sz="2000" b="1" dirty="0" smtClean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 smtClean="0"/>
                  <a:t>Главное</a:t>
                </a:r>
                <a:r>
                  <a:rPr lang="en-US" sz="2000" u="sng" dirty="0" smtClean="0"/>
                  <a:t> </a:t>
                </a:r>
                <a:r>
                  <a:rPr lang="en-US" sz="2000" u="sng" dirty="0"/>
                  <a:t>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 smtClean="0"/>
                  <a:t>предварительн</a:t>
                </a:r>
                <a:r>
                  <a:rPr lang="ru-RU" sz="2000" u="sng" dirty="0" smtClean="0"/>
                  <a:t>о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 smtClean="0"/>
                  <a:t>трениров</a:t>
                </a:r>
                <a:r>
                  <a:rPr lang="ru-RU" sz="2000" u="sng" dirty="0" err="1" smtClean="0"/>
                  <a:t>ать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 smtClean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 smtClean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c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Другой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 smtClean="0"/>
                  <a:t>.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2108926"/>
            <a:ext cx="3434735" cy="449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 smtClean="0"/>
                  <a:t>Внимание</a:t>
                </a:r>
                <a:r>
                  <a:rPr lang="en-US" sz="2000" dirty="0" smtClean="0"/>
                  <a:t> "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Ключи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внимания</a:t>
                </a:r>
                <a:r>
                  <a:rPr lang="ru-RU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Затем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Вы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 smtClean="0"/>
                  <a:t>Внимание </a:t>
                </a:r>
                <a:r>
                  <a:rPr lang="en-US" sz="2000" b="1" i="1" dirty="0" err="1" smtClean="0"/>
                  <a:t>Запрос</a:t>
                </a:r>
                <a:r>
                  <a:rPr lang="ru-RU" sz="2000" b="1" i="1" dirty="0" smtClean="0"/>
                  <a:t>-</a:t>
                </a:r>
                <a:r>
                  <a:rPr lang="en-US" sz="2000" b="1" i="1" dirty="0" err="1" smtClean="0"/>
                  <a:t>ключ-значение</a:t>
                </a:r>
                <a:r>
                  <a:rPr lang="en-US" sz="2000" b="1" i="1" dirty="0" smtClean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 smtClean="0"/>
                  <a:t>Самовнимание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запрос</a:t>
                </a:r>
                <a:r>
                  <a:rPr lang="ru-RU" sz="2000" dirty="0" smtClean="0"/>
                  <a:t>-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 smtClean="0"/>
                  <a:t>, </a:t>
                </a:r>
                <a:r>
                  <a:rPr lang="en-US" sz="2000" dirty="0"/>
                  <a:t>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мо</a:t>
                </a:r>
                <a:r>
                  <a:rPr lang="ru-RU" sz="2000" dirty="0" smtClean="0"/>
                  <a:t>г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использоваться в операции внимания тремя различными способами: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 smtClean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 smtClean="0"/>
              </a:p>
              <a:p>
                <a:r>
                  <a:rPr lang="en-US" sz="2000" dirty="0" err="1" smtClean="0"/>
                  <a:t>мы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</a:t>
                </a:r>
                <a:r>
                  <a:rPr lang="en-US" sz="2000" dirty="0" smtClean="0"/>
                  <a:t>масштабированный точечный продукт "</a:t>
                </a:r>
                <a:br>
                  <a:rPr lang="en-US" sz="2000" dirty="0" smtClean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 smtClean="0"/>
              <a:t>Пример </a:t>
            </a:r>
            <a:r>
              <a:rPr lang="en-US" sz="2000" dirty="0"/>
              <a:t>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75" y="1620171"/>
            <a:ext cx="7191375" cy="43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 smtClean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  <a:endParaRPr lang="ru-RU" sz="2000" dirty="0" smtClean="0"/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  <a:endParaRPr lang="ru-RU" sz="2000" dirty="0" smtClean="0"/>
          </a:p>
          <a:p>
            <a:r>
              <a:rPr lang="ru-RU" sz="2000" i="1" dirty="0" smtClean="0"/>
              <a:t>Примечание</a:t>
            </a:r>
            <a:endParaRPr lang="ru-RU" sz="2000" dirty="0"/>
          </a:p>
          <a:p>
            <a:r>
              <a:rPr lang="ru-RU" sz="2000" dirty="0" smtClean="0"/>
              <a:t>можно </a:t>
            </a:r>
            <a:r>
              <a:rPr lang="ru-RU" sz="2000" dirty="0"/>
              <a:t>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</a:t>
            </a:r>
            <a:r>
              <a:rPr lang="ru-RU" sz="2000" dirty="0" smtClean="0"/>
              <a:t>голов </a:t>
            </a:r>
            <a:r>
              <a:rPr lang="ru-RU" sz="2000" dirty="0"/>
              <a:t>внимания, мы разрезаем его на 8 частей по </a:t>
            </a:r>
            <a:r>
              <a:rPr lang="ru-RU" sz="2000" dirty="0" smtClean="0"/>
              <a:t>32 значения).</a:t>
            </a:r>
            <a:endParaRPr lang="ru-RU" sz="2000" dirty="0"/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</a:t>
            </a:r>
            <a:r>
              <a:rPr lang="ru-RU" sz="2000" b="1" dirty="0" smtClean="0"/>
              <a:t>головами</a:t>
            </a:r>
            <a:r>
              <a:rPr lang="ru-RU" sz="2000" dirty="0" smtClean="0"/>
              <a:t>: </a:t>
            </a:r>
            <a:r>
              <a:rPr lang="ru-RU" sz="2000" dirty="0"/>
              <a:t>создание матриц </a:t>
            </a:r>
            <a:r>
              <a:rPr lang="ru-RU" sz="2000" dirty="0" smtClean="0"/>
              <a:t>𝑟 </a:t>
            </a:r>
            <a:r>
              <a:rPr lang="ru-RU" sz="2000" dirty="0"/>
              <a:t>с полным размером </a:t>
            </a:r>
            <a:r>
              <a:rPr lang="ru-RU" sz="2000" dirty="0" smtClean="0"/>
              <a:t>(для </a:t>
            </a:r>
            <a:r>
              <a:rPr lang="ru-RU" sz="2000" dirty="0"/>
              <a:t>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 smtClean="0"/>
              <a:t>.) </a:t>
            </a:r>
            <a:r>
              <a:rPr lang="ru-RU" sz="2000" dirty="0"/>
              <a:t>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В векторе контекста самовнимания с несколькими головами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можно представить как:</a:t>
                </a:r>
                <a:endParaRPr lang="ru-RU" sz="20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 err="1" smtClean="0">
                        <a:latin typeface="Cambria Math" panose="02040503050406030204" pitchFamily="18" charset="0"/>
                      </a:rPr>
                      <m:t>𝑀𝑢𝑙𝑡𝑖𝐻𝑒𝑎𝑑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𝑐𝑜𝑛𝑐𝑎𝑡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; …; </m:t>
                        </m:r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𝐴𝑡𝑡𝑒𝑛𝑡𝑖𝑜𝑛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матрица весов каждого удара головой.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:r>
                  <a:rPr lang="en-US" sz="2000" dirty="0" smtClean="0"/>
                  <a:t>Пример </a:t>
                </a:r>
                <a:r>
                  <a:rPr lang="en-US" sz="2000" dirty="0"/>
                  <a:t>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97" y="3097317"/>
            <a:ext cx="61118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 smtClean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</a:t>
                </a:r>
                <a:r>
                  <a:rPr lang="ru-RU" sz="2000" dirty="0" smtClean="0"/>
                  <a:t> внимания </a:t>
                </a:r>
                <a:r>
                  <a:rPr lang="ru-RU" sz="2000" dirty="0"/>
                  <a:t>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 smtClean="0"/>
              <a:t>Примечание</a:t>
            </a:r>
            <a:r>
              <a:rPr lang="ru-RU" sz="2000" i="1" dirty="0"/>
              <a:t>.</a:t>
            </a:r>
            <a:r>
              <a:rPr lang="ru-RU" sz="2000" dirty="0"/>
              <a:t>  Маскирование </a:t>
            </a:r>
            <a:r>
              <a:rPr lang="ru-RU" sz="2000" dirty="0" err="1" smtClean="0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</a:t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 smtClean="0"/>
              <a:t>самовнимании</a:t>
            </a:r>
            <a:r>
              <a:rPr lang="ru-RU" dirty="0" smtClean="0"/>
              <a:t> </a:t>
            </a:r>
            <a:r>
              <a:rPr lang="ru-RU" dirty="0"/>
              <a:t>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 smtClean="0"/>
              <a:t>объеденяем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 smtClean="0"/>
              <a:t>Блок</a:t>
            </a:r>
            <a:r>
              <a:rPr lang="en-US" sz="3200" b="1" dirty="0" smtClean="0"/>
              <a:t> </a:t>
            </a:r>
            <a:r>
              <a:rPr lang="en-US" sz="3200" b="1" dirty="0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 smtClean="0"/>
              <a:t>Блок </a:t>
            </a:r>
            <a:r>
              <a:rPr lang="ru-RU" sz="2000" dirty="0"/>
              <a:t>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 smtClean="0"/>
              <a:t>не</a:t>
            </a:r>
            <a:r>
              <a:rPr lang="en-US" sz="2000" u="sng" dirty="0" smtClean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 smtClean="0"/>
              <a:t>сверток</a:t>
            </a:r>
            <a:r>
              <a:rPr lang="en-US" sz="2000" u="sng" dirty="0" smtClean="0"/>
              <a:t> </a:t>
            </a:r>
            <a:r>
              <a:rPr lang="en-US" sz="2000" u="sng" dirty="0"/>
              <a:t>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 smtClean="0"/>
              <a:t>позиционное </a:t>
            </a:r>
            <a:r>
              <a:rPr lang="ru-RU" sz="2000" b="1" dirty="0"/>
              <a:t>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</a:t>
            </a:r>
            <a:r>
              <a:rPr lang="ru-RU" sz="2000" u="sng" dirty="0" smtClean="0"/>
              <a:t>можно использовать </a:t>
            </a:r>
            <a:r>
              <a:rPr lang="ru-RU" sz="2000" u="sng" dirty="0"/>
              <a:t>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</a:t>
            </a:r>
            <a:r>
              <a:rPr lang="ru-RU" sz="2000" dirty="0" smtClean="0"/>
              <a:t>таблицей, </a:t>
            </a:r>
            <a:r>
              <a:rPr lang="ru-RU" sz="2000" dirty="0"/>
              <a:t>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обученная кодировка (</a:t>
            </a:r>
            <a:r>
              <a:rPr lang="ru-RU" sz="2000" dirty="0" err="1" smtClean="0"/>
              <a:t>предобученный</a:t>
            </a:r>
            <a:r>
              <a:rPr lang="ru-RU" sz="2000" dirty="0" smtClean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 smtClean="0"/>
                  <a:t>В </a:t>
                </a:r>
                <a:r>
                  <a:rPr lang="en-US" sz="2000" u="sng" dirty="0"/>
                  <a:t>первоначально предложенное представление позиции </a:t>
                </a:r>
                <a:r>
                  <a:rPr lang="en-US" sz="2000" u="sng" dirty="0" smtClean="0"/>
                  <a:t/>
                </a:r>
                <a:br>
                  <a:rPr lang="en-US" sz="2000" u="sng" dirty="0" smtClean="0"/>
                </a:br>
                <a:r>
                  <a:rPr lang="en-US" sz="2000" u="sng" dirty="0" smtClean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 smtClean="0"/>
              <a:t>трансформера</a:t>
            </a:r>
            <a:r>
              <a:rPr lang="ru-RU" sz="2000" dirty="0" smtClean="0"/>
              <a:t> </a:t>
            </a:r>
            <a:r>
              <a:rPr lang="ru-RU" sz="2000" dirty="0"/>
              <a:t>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</a:t>
            </a:r>
            <a:r>
              <a:rPr lang="ru-RU" sz="2000" dirty="0" smtClean="0"/>
              <a:t>карт </a:t>
            </a:r>
            <a:r>
              <a:rPr lang="ru-RU" sz="2000" dirty="0"/>
              <a:t>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</a:t>
            </a:r>
            <a:r>
              <a:rPr lang="ru-RU" sz="2000" b="1" u="sng" dirty="0" smtClean="0"/>
              <a:t>ортогональными, </a:t>
            </a:r>
            <a:r>
              <a:rPr lang="ru-RU" sz="2000" b="1" u="sng" dirty="0"/>
              <a:t>что означает </a:t>
            </a:r>
            <a:r>
              <a:rPr lang="ru-RU" sz="2000" b="1" u="sng" dirty="0" smtClean="0"/>
              <a:t>больше </a:t>
            </a:r>
            <a:r>
              <a:rPr lang="ru-RU" sz="2000" b="1" u="sng" dirty="0"/>
              <a:t>внимание к нескольким </a:t>
            </a:r>
            <a:r>
              <a:rPr lang="ru-RU" sz="2000" b="1" u="sng" dirty="0" smtClean="0"/>
              <a:t>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качестве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5129</TotalTime>
  <Words>2716</Words>
  <Application>Microsoft Office PowerPoint</Application>
  <PresentationFormat>Широкоэкранный</PresentationFormat>
  <Paragraphs>676</Paragraphs>
  <Slides>90</Slides>
  <Notes>0</Notes>
  <HiddenSlides>28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90</vt:i4>
      </vt:variant>
    </vt:vector>
  </HeadingPairs>
  <TitlesOfParts>
    <vt:vector size="103" baseType="lpstr">
      <vt:lpstr>-apple-system</vt:lpstr>
      <vt:lpstr>Arial</vt:lpstr>
      <vt:lpstr>Calibri</vt:lpstr>
      <vt:lpstr>Calibri Light</vt:lpstr>
      <vt:lpstr>Cambria</vt:lpstr>
      <vt:lpstr>Cambria Math</vt:lpstr>
      <vt:lpstr>georgia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Проблемы AR – Net подхода</vt:lpstr>
      <vt:lpstr>Проблемы MLP подхода для сложных паттернов</vt:lpstr>
      <vt:lpstr>Рекуррентные подходы.</vt:lpstr>
      <vt:lpstr>Простая рекуррентная нейронные сети</vt:lpstr>
      <vt:lpstr>Рекуррентные нейронные сети</vt:lpstr>
      <vt:lpstr>Презентация PowerPoint</vt:lpstr>
      <vt:lpstr>Презентация PowerPoint</vt:lpstr>
      <vt:lpstr>LTSF-DLinear</vt:lpstr>
      <vt:lpstr>LTSF-DLinear</vt:lpstr>
      <vt:lpstr>N-BEATS</vt:lpstr>
      <vt:lpstr>N-BEATS Generic</vt:lpstr>
      <vt:lpstr>N-BEATS Interpretable</vt:lpstr>
      <vt:lpstr>N-BEATS Interpretable</vt:lpstr>
      <vt:lpstr>N-HiTS Neural Hierarchical Interpolation for Time Serie</vt:lpstr>
      <vt:lpstr>N-HiTS. Стеки</vt:lpstr>
      <vt:lpstr>N-HiTS maxpooing</vt:lpstr>
      <vt:lpstr>Сравнение подходов</vt:lpstr>
      <vt:lpstr>Презентация PowerPoint</vt:lpstr>
      <vt:lpstr>Презентация PowerPoint</vt:lpstr>
      <vt:lpstr>Интерпретируемый N-BEATS</vt:lpstr>
      <vt:lpstr>Презентация PowerPoint</vt:lpstr>
      <vt:lpstr>Полносвязная сеть</vt:lpstr>
      <vt:lpstr>FCNN Сеть нелинейной авторегрессии (NAR)</vt:lpstr>
      <vt:lpstr>Подходы к временным рядам DL</vt:lpstr>
      <vt:lpstr>полносвязная сеть</vt:lpstr>
      <vt:lpstr>FCNN Сеть нелинейной авторегрессии (NAR)</vt:lpstr>
      <vt:lpstr>1-мерная сверточная нейронная сеть</vt:lpstr>
      <vt:lpstr>примеры</vt:lpstr>
      <vt:lpstr>примеры</vt:lpstr>
      <vt:lpstr>примеры</vt:lpstr>
      <vt:lpstr>1-мерная сверточная нейронная сеть</vt:lpstr>
      <vt:lpstr>1-мерная сверточная нейронная сеть. Расширенная свертка</vt:lpstr>
      <vt:lpstr>1-мерная сверточная нейронная сеть</vt:lpstr>
      <vt:lpstr>1-мерная сверточная нейронная сеть</vt:lpstr>
      <vt:lpstr>1-мерная сверточная нейронная сеть</vt:lpstr>
      <vt:lpstr>1-мерная сверточная нейронная сеть. 1д ResNet</vt:lpstr>
      <vt:lpstr>1-мерная сверточная нейронная сеть. InceptionTime</vt:lpstr>
      <vt:lpstr>1-мерная сверточная нейронная сеть.  Пример с выбором признаков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1-d CNN. Сеть глубокой временной свертки (deepTCN).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329</cp:revision>
  <dcterms:created xsi:type="dcterms:W3CDTF">2021-11-21T16:45:21Z</dcterms:created>
  <dcterms:modified xsi:type="dcterms:W3CDTF">2025-08-15T05:20:17Z</dcterms:modified>
</cp:coreProperties>
</file>