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407" r:id="rId3"/>
    <p:sldId id="409" r:id="rId4"/>
    <p:sldId id="422" r:id="rId5"/>
    <p:sldId id="425" r:id="rId6"/>
    <p:sldId id="426" r:id="rId7"/>
    <p:sldId id="429" r:id="rId8"/>
    <p:sldId id="428" r:id="rId9"/>
    <p:sldId id="444" r:id="rId10"/>
    <p:sldId id="445" r:id="rId11"/>
    <p:sldId id="446" r:id="rId12"/>
    <p:sldId id="447" r:id="rId13"/>
    <p:sldId id="448" r:id="rId14"/>
    <p:sldId id="449" r:id="rId15"/>
    <p:sldId id="450" r:id="rId16"/>
    <p:sldId id="451" r:id="rId17"/>
    <p:sldId id="452" r:id="rId18"/>
    <p:sldId id="453" r:id="rId1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7592" autoAdjust="0"/>
    <p:restoredTop sz="94660"/>
  </p:normalViewPr>
  <p:slideViewPr>
    <p:cSldViewPr snapToGrid="0">
      <p:cViewPr>
        <p:scale>
          <a:sx n="75" d="100"/>
          <a:sy n="75" d="100"/>
        </p:scale>
        <p:origin x="942" y="107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A0671D0-2BDB-45AF-A851-D661F6D3C54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73E451CD-2A5A-4E46-AFCE-79644189A1D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  <a:endParaRPr lang="en-US"/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E991DB95-3757-4C7E-9F81-5F60BF0555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6E1671-358D-4BAB-9EB2-DC8D65251B89}" type="datetimeFigureOut">
              <a:rPr lang="en-US" smtClean="0"/>
              <a:t>8/15/2025</a:t>
            </a:fld>
            <a:endParaRPr lang="en-US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D54EC4B4-1367-4D8E-98C3-AEEF960147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D166ED29-C873-4543-B7E1-E79BD42C11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BD233-594A-4988-B3E0-F12C767C00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305210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1C2B7CF-4E40-4185-8260-B4FC838AA8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DC145DE7-F6E6-4997-8029-9B80694E387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C5606A06-4FF1-422C-8D52-F4C6F4EC43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6E1671-358D-4BAB-9EB2-DC8D65251B89}" type="datetimeFigureOut">
              <a:rPr lang="en-US" smtClean="0"/>
              <a:t>8/15/2025</a:t>
            </a:fld>
            <a:endParaRPr lang="en-US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D0E736CE-F5D0-4002-ADD5-399C629102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735AE779-A848-4796-9479-123BA3A55D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BD233-594A-4988-B3E0-F12C767C00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28723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1842B49-AEBD-4573-84CE-134E86D11E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9953F6D9-0132-470C-8C1F-99E53343B0A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5E877F16-A63D-45E3-9E07-B99763F7E3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6E1671-358D-4BAB-9EB2-DC8D65251B89}" type="datetimeFigureOut">
              <a:rPr lang="en-US" smtClean="0"/>
              <a:t>8/15/2025</a:t>
            </a:fld>
            <a:endParaRPr lang="en-US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19784523-6B3B-4688-A33F-31D12B50A2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82A97AF9-930F-44FA-AE70-F46166F287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BD233-594A-4988-B3E0-F12C767C00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034438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AD1B7ED-3B4D-4CF3-9AF8-DCFA794554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65C7095C-D1F3-448E-A163-D8112359024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8660A3BF-C8DE-4139-AE13-92B32F00394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84B7D209-7CF1-481D-A144-80767B40CE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6E1671-358D-4BAB-9EB2-DC8D65251B89}" type="datetimeFigureOut">
              <a:rPr lang="en-US" smtClean="0"/>
              <a:t>8/15/2025</a:t>
            </a:fld>
            <a:endParaRPr lang="en-US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11B842DF-EF65-4F50-B173-AF57771466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477E9F67-8E18-48D2-8851-11289DBE5C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BD233-594A-4988-B3E0-F12C767C00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049047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2E13AA4-4B3E-47CC-84F7-84A4A91201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516C2EB5-78BA-457C-B172-19C0A1917BE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5330350A-7A80-410B-9621-CD221374470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134978DF-27EF-44A3-8C76-B3143C03098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C9C3C9DE-74D8-4AC4-BC28-30DCC129206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9458EBA5-17CA-4BCA-98D6-C529D9EE43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6E1671-358D-4BAB-9EB2-DC8D65251B89}" type="datetimeFigureOut">
              <a:rPr lang="en-US" smtClean="0"/>
              <a:t>8/15/2025</a:t>
            </a:fld>
            <a:endParaRPr lang="en-US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8D42B907-DAD8-46DF-965D-0B85D9D611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847FE150-31C6-4D57-9A40-2BEEDE2DD4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BD233-594A-4988-B3E0-F12C767C00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874510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1EDD412-A49B-4A60-BDA9-4DE98A6E7C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76332180-815A-4A37-B56E-259D59B731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6E1671-358D-4BAB-9EB2-DC8D65251B89}" type="datetimeFigureOut">
              <a:rPr lang="en-US" smtClean="0"/>
              <a:t>8/15/2025</a:t>
            </a:fld>
            <a:endParaRPr lang="en-US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0352E8DE-1155-454F-BB6A-7FB7A49FF6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A86F4679-CA96-4CE4-872E-B105DE6EB6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BD233-594A-4988-B3E0-F12C767C00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31163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D0E88BB0-CD50-48ED-8CDC-08B1E4C22A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6E1671-358D-4BAB-9EB2-DC8D65251B89}" type="datetimeFigureOut">
              <a:rPr lang="en-US" smtClean="0"/>
              <a:t>8/15/2025</a:t>
            </a:fld>
            <a:endParaRPr lang="en-US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05A81452-4D20-4FB6-84E4-002112616A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A6D58415-FB42-4A51-9C33-5FC3C862E6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BD233-594A-4988-B3E0-F12C767C00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33345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8580E52-EBD8-4698-BC00-B913EC32DB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4580B661-234C-4994-93A0-D2B9787F9E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03FEC5A4-924A-4780-B408-DFCD1F4C389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E4EEA3B6-18B1-4F03-81C0-729F3C08CD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6E1671-358D-4BAB-9EB2-DC8D65251B89}" type="datetimeFigureOut">
              <a:rPr lang="en-US" smtClean="0"/>
              <a:t>8/15/2025</a:t>
            </a:fld>
            <a:endParaRPr lang="en-US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AF8AFA4F-041E-4869-8D5B-C232A4DE71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F4F7C73E-5593-4555-81D8-EE7DEC175E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BD233-594A-4988-B3E0-F12C767C00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176850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03BDD2B-B107-4E97-B23F-240320E0BF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C0284E83-FF34-4A04-ACA2-5913DC0EFCA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1B5989CA-DA16-41CF-9FD1-E3548A24AE5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0633ABB5-76C9-422A-B6D3-931B70C96F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6E1671-358D-4BAB-9EB2-DC8D65251B89}" type="datetimeFigureOut">
              <a:rPr lang="en-US" smtClean="0"/>
              <a:t>8/15/2025</a:t>
            </a:fld>
            <a:endParaRPr lang="en-US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36AECAB4-441B-4BA1-9EB9-CE05AF6BBC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8F852E05-DB3B-4B02-9658-B1682F2DF3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BD233-594A-4988-B3E0-F12C767C00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289149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A84F6BC-9C7D-44E3-8FB3-A5D3FEC50E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5DDFA137-9E72-4D4E-9A9B-9B642B1F51E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68D56E9F-9208-4121-85E1-3069D24C1B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6E1671-358D-4BAB-9EB2-DC8D65251B89}" type="datetimeFigureOut">
              <a:rPr lang="en-US" smtClean="0"/>
              <a:t>8/15/2025</a:t>
            </a:fld>
            <a:endParaRPr lang="en-US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24443664-6186-48C2-95DF-9567CE3B1B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E68714A1-E3E5-42B3-B82F-97C26E3CAF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BD233-594A-4988-B3E0-F12C767C00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513693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04496B09-4BEB-4AD3-BCC9-B01888D24C3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35B18123-2CC5-4AFC-90FD-68FBE07BE8F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C413529F-3052-4090-BDE7-86EAB31967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6E1671-358D-4BAB-9EB2-DC8D65251B89}" type="datetimeFigureOut">
              <a:rPr lang="en-US" smtClean="0"/>
              <a:t>8/15/2025</a:t>
            </a:fld>
            <a:endParaRPr lang="en-US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AB9C83CC-6A2F-4599-A82B-3AA20D976E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145489EC-BA6C-4295-ADF3-CF230364BA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BD233-594A-4988-B3E0-F12C767C00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524491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ED0249F-5E6F-435B-8BA6-2A7715856F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B9024CB9-05D5-4CEB-A431-24500E1B25D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34934E13-6B72-4799-A173-50AE9991F00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76E1671-358D-4BAB-9EB2-DC8D65251B89}" type="datetimeFigureOut">
              <a:rPr lang="en-US" smtClean="0"/>
              <a:t>8/15/2025</a:t>
            </a:fld>
            <a:endParaRPr lang="en-US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42D8DB70-5BC0-49E9-831B-FA9902663C1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D5CCAF82-71F2-4F04-AEC5-AD970EB35F5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9EBD233-594A-4988-B3E0-F12C767C00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998955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.jpeg"/><Relationship Id="rId4" Type="http://schemas.openxmlformats.org/officeDocument/2006/relationships/image" Target="../media/image10.jpe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png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9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2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7BB7B41-7122-497A-A583-FEDA914639D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394166"/>
            <a:ext cx="9144000" cy="3034834"/>
          </a:xfrm>
        </p:spPr>
        <p:txBody>
          <a:bodyPr>
            <a:normAutofit/>
          </a:bodyPr>
          <a:lstStyle/>
          <a:p>
            <a:r>
              <a:rPr lang="ru-RU" b="1" dirty="0"/>
              <a:t>Использование методов глубокого обучения в анализе временных рядов</a:t>
            </a:r>
          </a:p>
        </p:txBody>
      </p:sp>
      <p:sp>
        <p:nvSpPr>
          <p:cNvPr id="4" name="Подзаголовок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1659665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/>
          <p:cNvPicPr>
            <a:picLocks noChangeAspect="1"/>
          </p:cNvPicPr>
          <p:nvPr/>
        </p:nvPicPr>
        <p:blipFill rotWithShape="1">
          <a:blip r:embed="rId2"/>
          <a:srcRect l="9877" r="56759" b="16188"/>
          <a:stretch/>
        </p:blipFill>
        <p:spPr>
          <a:xfrm>
            <a:off x="8826499" y="4402754"/>
            <a:ext cx="2717800" cy="2187849"/>
          </a:xfrm>
          <a:prstGeom prst="rect">
            <a:avLst/>
          </a:prstGeom>
        </p:spPr>
      </p:pic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87287" y="188144"/>
            <a:ext cx="11166513" cy="571309"/>
          </a:xfrm>
        </p:spPr>
        <p:txBody>
          <a:bodyPr>
            <a:normAutofit fontScale="90000"/>
          </a:bodyPr>
          <a:lstStyle/>
          <a:p>
            <a:pPr algn="ctr"/>
            <a:r>
              <a:rPr lang="ru-RU" b="1" dirty="0" smtClean="0"/>
              <a:t>Проблемы </a:t>
            </a:r>
            <a:r>
              <a:rPr lang="en-US" b="1" dirty="0" smtClean="0"/>
              <a:t>AR – Net </a:t>
            </a:r>
            <a:r>
              <a:rPr lang="ru-RU" b="1" dirty="0" smtClean="0"/>
              <a:t>подхода</a:t>
            </a:r>
            <a:endParaRPr lang="ru-RU" b="1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108629" y="670962"/>
            <a:ext cx="11887199" cy="5240529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spcBef>
                <a:spcPts val="200"/>
              </a:spcBef>
              <a:buNone/>
            </a:pPr>
            <a:r>
              <a:rPr lang="ru-RU" sz="2000" b="1" dirty="0" smtClean="0"/>
              <a:t>Преимущества</a:t>
            </a:r>
          </a:p>
          <a:p>
            <a:pPr marL="444500">
              <a:lnSpc>
                <a:spcPct val="100000"/>
              </a:lnSpc>
              <a:spcBef>
                <a:spcPts val="200"/>
              </a:spcBef>
            </a:pPr>
            <a:r>
              <a:rPr lang="ru-RU" sz="2000" dirty="0" smtClean="0"/>
              <a:t>Можно использовать </a:t>
            </a:r>
            <a:r>
              <a:rPr lang="ru-RU" sz="2000" b="1" dirty="0" smtClean="0"/>
              <a:t>несколько ВР</a:t>
            </a:r>
          </a:p>
          <a:p>
            <a:pPr marL="444500">
              <a:lnSpc>
                <a:spcPct val="100000"/>
              </a:lnSpc>
              <a:spcBef>
                <a:spcPts val="200"/>
              </a:spcBef>
            </a:pPr>
            <a:r>
              <a:rPr lang="ru-RU" sz="2000" dirty="0" smtClean="0"/>
              <a:t>Работает </a:t>
            </a:r>
            <a:r>
              <a:rPr lang="ru-RU" sz="2000" b="1" dirty="0" smtClean="0"/>
              <a:t>для сложных паттернов</a:t>
            </a:r>
            <a:r>
              <a:rPr lang="ru-RU" sz="2000" dirty="0" smtClean="0"/>
              <a:t>, несводимых к стационарным ВР</a:t>
            </a:r>
          </a:p>
          <a:p>
            <a:pPr marL="444500">
              <a:lnSpc>
                <a:spcPct val="100000"/>
              </a:lnSpc>
              <a:spcBef>
                <a:spcPts val="200"/>
              </a:spcBef>
            </a:pPr>
            <a:r>
              <a:rPr lang="ru-RU" sz="2000" dirty="0" smtClean="0"/>
              <a:t>Свобода выбора функции потерь – </a:t>
            </a:r>
            <a:r>
              <a:rPr lang="ru-RU" sz="2000" b="1" dirty="0" smtClean="0"/>
              <a:t>возможность регуляризации</a:t>
            </a:r>
            <a:r>
              <a:rPr lang="ru-RU" sz="2000" dirty="0" smtClean="0"/>
              <a:t>.</a:t>
            </a:r>
            <a:endParaRPr lang="en-US" sz="2000" dirty="0" smtClean="0"/>
          </a:p>
          <a:p>
            <a:pPr marL="0" indent="0">
              <a:lnSpc>
                <a:spcPct val="100000"/>
              </a:lnSpc>
              <a:spcBef>
                <a:spcPts val="200"/>
              </a:spcBef>
              <a:buNone/>
            </a:pPr>
            <a:r>
              <a:rPr lang="ru-RU" sz="2000" b="1" dirty="0" smtClean="0"/>
              <a:t>Недостатки </a:t>
            </a:r>
            <a:r>
              <a:rPr lang="en-US" sz="2000" b="1" dirty="0" smtClean="0"/>
              <a:t>AR-Net, NAR</a:t>
            </a:r>
            <a:endParaRPr lang="ru-RU" sz="2000" b="1" dirty="0" smtClean="0"/>
          </a:p>
          <a:p>
            <a:pPr marL="444500">
              <a:lnSpc>
                <a:spcPct val="100000"/>
              </a:lnSpc>
              <a:spcBef>
                <a:spcPts val="200"/>
              </a:spcBef>
            </a:pPr>
            <a:r>
              <a:rPr lang="ru-RU" sz="2000" dirty="0" err="1" smtClean="0"/>
              <a:t>Полносвязная</a:t>
            </a:r>
            <a:r>
              <a:rPr lang="ru-RU" sz="2000" dirty="0" smtClean="0"/>
              <a:t> структура на длинном окне (несколько периодов, паттернов и </a:t>
            </a:r>
            <a:r>
              <a:rPr lang="ru-RU" sz="2000" dirty="0" err="1" smtClean="0"/>
              <a:t>тд</a:t>
            </a:r>
            <a:r>
              <a:rPr lang="ru-RU" sz="2000" dirty="0" smtClean="0"/>
              <a:t>) </a:t>
            </a:r>
            <a:r>
              <a:rPr lang="ru-RU" sz="2000" b="1" dirty="0" smtClean="0"/>
              <a:t>нарушает казуальную структуру ВР</a:t>
            </a:r>
          </a:p>
          <a:p>
            <a:pPr marL="444500">
              <a:lnSpc>
                <a:spcPct val="100000"/>
              </a:lnSpc>
              <a:spcBef>
                <a:spcPts val="200"/>
              </a:spcBef>
            </a:pPr>
            <a:r>
              <a:rPr lang="ru-RU" sz="2000" dirty="0" smtClean="0"/>
              <a:t>Связь между положениями окна, проходящего по ВР основывается только на результате предсказания – это может скрыть паттерны ВР </a:t>
            </a:r>
            <a:r>
              <a:rPr lang="ru-RU" sz="2000" b="1" dirty="0" smtClean="0"/>
              <a:t>(неверный учет контекста)</a:t>
            </a:r>
            <a:r>
              <a:rPr lang="ru-RU" sz="2000" dirty="0" smtClean="0"/>
              <a:t>.</a:t>
            </a:r>
          </a:p>
          <a:p>
            <a:pPr marL="444500">
              <a:lnSpc>
                <a:spcPct val="100000"/>
              </a:lnSpc>
              <a:spcBef>
                <a:spcPts val="200"/>
              </a:spcBef>
            </a:pPr>
            <a:r>
              <a:rPr lang="ru-RU" sz="2000" b="1" dirty="0" smtClean="0"/>
              <a:t>Сложная интерпретация результатов</a:t>
            </a:r>
          </a:p>
          <a:p>
            <a:pPr marL="444500">
              <a:lnSpc>
                <a:spcPct val="100000"/>
              </a:lnSpc>
              <a:spcBef>
                <a:spcPts val="200"/>
              </a:spcBef>
            </a:pPr>
            <a:r>
              <a:rPr lang="ru-RU" sz="2000" dirty="0" smtClean="0"/>
              <a:t>Нет Возможности </a:t>
            </a:r>
            <a:r>
              <a:rPr lang="ru-RU" sz="2000" dirty="0"/>
              <a:t>предсказания последовательности семплов за один шаг.</a:t>
            </a:r>
          </a:p>
          <a:p>
            <a:pPr marL="444500">
              <a:lnSpc>
                <a:spcPct val="100000"/>
              </a:lnSpc>
              <a:spcBef>
                <a:spcPts val="200"/>
              </a:spcBef>
            </a:pPr>
            <a:r>
              <a:rPr lang="ru-RU" sz="2000" dirty="0" smtClean="0"/>
              <a:t>Сеть дает хуже результаты если </a:t>
            </a:r>
            <a:r>
              <a:rPr lang="en-US" sz="2000" dirty="0" smtClean="0"/>
              <a:t>AR </a:t>
            </a:r>
            <a:r>
              <a:rPr lang="ru-RU" sz="2000" dirty="0" smtClean="0"/>
              <a:t>работает</a:t>
            </a:r>
            <a:endParaRPr lang="ru-RU" sz="2000" dirty="0"/>
          </a:p>
        </p:txBody>
      </p:sp>
      <p:pic>
        <p:nvPicPr>
          <p:cNvPr id="5" name="Рисунок 4"/>
          <p:cNvPicPr>
            <a:picLocks noChangeAspect="1"/>
          </p:cNvPicPr>
          <p:nvPr/>
        </p:nvPicPr>
        <p:blipFill rotWithShape="1">
          <a:blip r:embed="rId2"/>
          <a:srcRect l="56596" t="1" r="3952" b="855"/>
          <a:stretch/>
        </p:blipFill>
        <p:spPr>
          <a:xfrm>
            <a:off x="5792666" y="4275057"/>
            <a:ext cx="3033833" cy="24432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4381525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49580" y="238125"/>
            <a:ext cx="11094720" cy="564515"/>
          </a:xfrm>
        </p:spPr>
        <p:txBody>
          <a:bodyPr>
            <a:normAutofit fontScale="90000"/>
          </a:bodyPr>
          <a:lstStyle/>
          <a:p>
            <a:pPr algn="ctr"/>
            <a:r>
              <a:rPr lang="ru-RU" b="1" dirty="0" smtClean="0"/>
              <a:t>Проблемы </a:t>
            </a:r>
            <a:r>
              <a:rPr lang="en-US" b="1" dirty="0" smtClean="0"/>
              <a:t>MLP </a:t>
            </a:r>
            <a:r>
              <a:rPr lang="ru-RU" b="1" dirty="0" smtClean="0"/>
              <a:t>подхода для сложных паттернов</a:t>
            </a:r>
            <a:endParaRPr lang="ru-RU" b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>
              <a:xfrm>
                <a:off x="482600" y="719512"/>
                <a:ext cx="11709400" cy="5704840"/>
              </a:xfrm>
            </p:spPr>
            <p:txBody>
              <a:bodyPr>
                <a:norm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en-US" sz="2200" dirty="0" smtClean="0"/>
                  <a:t>MLP </a:t>
                </a:r>
                <a:r>
                  <a:rPr lang="ru-RU" sz="2200" dirty="0" smtClean="0"/>
                  <a:t>предсказание</a:t>
                </a:r>
                <a:r>
                  <a:rPr lang="en-US" sz="2200" dirty="0" smtClean="0"/>
                  <a:t> (AR-NET)</a:t>
                </a:r>
                <a:r>
                  <a:rPr lang="ru-RU" sz="2200" dirty="0" smtClean="0"/>
                  <a:t> можно описать как</a:t>
                </a:r>
                <a:endParaRPr lang="en-US" sz="2200" dirty="0" smtClean="0"/>
              </a:p>
              <a:p>
                <a:pPr marL="0" indent="0" algn="ctr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ru-RU" sz="2200" dirty="0" smtClean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2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sz="22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200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</m:e>
                      <m:sub>
                        <m:r>
                          <a:rPr lang="en-US" sz="2200" b="0" i="1" dirty="0" smtClean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2200" b="0" i="1" dirty="0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sz="2200" b="0" i="1" dirty="0" smtClean="0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limLoc m:val="subSup"/>
                        <m:ctrlPr>
                          <a:rPr lang="en-US" sz="2200" b="0" i="1" dirty="0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5"/>
                          </m:rPr>
                          <a:rPr lang="en-US" sz="2200" b="0" i="1" dirty="0" smtClean="0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en-US" sz="2200" b="0" i="1" dirty="0" smtClean="0">
                            <a:latin typeface="Cambria Math" panose="02040503050406030204" pitchFamily="18" charset="0"/>
                          </a:rPr>
                          <m:t>=0</m:t>
                        </m:r>
                      </m:sub>
                      <m:sup>
                        <m:sSub>
                          <m:sSubPr>
                            <m:ctrlPr>
                              <a:rPr lang="en-US" sz="2200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b="0" i="1" dirty="0" smtClean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sz="2200" b="0" i="1" dirty="0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sup>
                      <m:e>
                        <m:sSubSup>
                          <m:sSubSupPr>
                            <m:ctrlPr>
                              <a:rPr lang="en-US" sz="2200" b="0" i="1" dirty="0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2200" b="0" i="1" dirty="0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sz="2200" b="0" i="1" dirty="0" smtClean="0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  <m:sup>
                            <m:r>
                              <a:rPr lang="en-US" sz="2200" b="0" i="1" dirty="0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bSup>
                        <m:r>
                          <a:rPr lang="en-US" sz="2200" b="0" i="1" dirty="0" smtClean="0">
                            <a:latin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en-US" sz="2200" b="0" i="1" dirty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nary>
                              <m:naryPr>
                                <m:chr m:val="∑"/>
                                <m:limLoc m:val="subSup"/>
                                <m:ctrlPr>
                                  <a:rPr lang="en-US" sz="2200" b="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naryPr>
                              <m:sub>
                                <m:r>
                                  <m:rPr>
                                    <m:brk m:alnAt="25"/>
                                  </m:rPr>
                                  <a:rPr lang="en-US" sz="2200" b="0" i="1" dirty="0" smtClean="0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  <m:r>
                                  <a:rPr lang="en-US" sz="2200" b="0" i="1" dirty="0" smtClean="0">
                                    <a:latin typeface="Cambria Math" panose="02040503050406030204" pitchFamily="18" charset="0"/>
                                  </a:rPr>
                                  <m:t>=0</m:t>
                                </m:r>
                              </m:sub>
                              <m:sup>
                                <m:sSub>
                                  <m:sSubPr>
                                    <m:ctrlPr>
                                      <a:rPr lang="en-US" sz="2200" b="0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200" b="0" i="1" dirty="0" smtClean="0">
                                        <a:latin typeface="Cambria Math" panose="02040503050406030204" pitchFamily="18" charset="0"/>
                                      </a:rPr>
                                      <m:t>𝑝</m:t>
                                    </m:r>
                                  </m:e>
                                  <m:sub>
                                    <m:r>
                                      <a:rPr lang="en-US" sz="2200" b="0" i="1" dirty="0" smtClean="0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sub>
                                </m:sSub>
                              </m:sup>
                              <m:e>
                                <m:sSubSup>
                                  <m:sSubSupPr>
                                    <m:ctrlPr>
                                      <a:rPr lang="en-US" sz="2200" b="0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sz="2200" b="0" i="1" dirty="0" smtClean="0"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e>
                                  <m:sub>
                                    <m:r>
                                      <a:rPr lang="en-US" sz="2200" b="0" i="1" dirty="0" smtClean="0">
                                        <a:latin typeface="Cambria Math" panose="02040503050406030204" pitchFamily="18" charset="0"/>
                                      </a:rPr>
                                      <m:t>𝑖𝑗</m:t>
                                    </m:r>
                                  </m:sub>
                                  <m:sup>
                                    <m:r>
                                      <a:rPr lang="en-US" sz="2200" b="0" i="1" dirty="0" smtClean="0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sup>
                                </m:sSubSup>
                                <m:sSub>
                                  <m:sSubPr>
                                    <m:ctrlPr>
                                      <a:rPr lang="en-US" sz="2200" b="0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200" b="0" i="1" dirty="0" smtClean="0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  <m:sub>
                                    <m:r>
                                      <a:rPr lang="en-US" sz="2200" b="0" i="1" dirty="0" smtClean="0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  <m:r>
                                      <a:rPr lang="en-US" sz="2200" b="0" i="1" dirty="0" smtClean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en-US" sz="2200" b="0" i="1" dirty="0" smtClean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</m:e>
                            </m:nary>
                          </m:e>
                        </m:d>
                        <m:r>
                          <a:rPr lang="en-US" sz="2200" b="0" i="1" dirty="0" smtClean="0"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nary>
                  </m:oMath>
                </a14:m>
                <a:endParaRPr lang="en-US" sz="2200" dirty="0" smtClean="0"/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ru-RU" sz="2200" dirty="0" smtClean="0"/>
                  <a:t>Таким образом предсказание – результат обработки окна размером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endParaRPr lang="ru-RU" sz="2200" dirty="0" smtClean="0"/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ru-RU" sz="2200" dirty="0" smtClean="0"/>
                  <a:t>Недостаток такой модели – контекст окружения окна  (память) не учитывается 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ru-RU" sz="2200" dirty="0" smtClean="0"/>
                  <a:t>	или учитывается неявно, когда заменяем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ru-RU" sz="2200" dirty="0" smtClean="0"/>
                  <a:t> на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sz="2200" b="0" i="1" dirty="0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200" b="0" i="1" dirty="0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</m:e>
                      <m:sub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ru-RU" sz="2200" b="0" i="0" dirty="0" smtClean="0">
                        <a:latin typeface="Cambria Math" panose="02040503050406030204" pitchFamily="18" charset="0"/>
                      </a:rPr>
                      <m:t>, </m:t>
                    </m:r>
                  </m:oMath>
                </a14:m>
                <a:endParaRPr lang="ru-RU" sz="2200" b="0" i="0" dirty="0" smtClean="0">
                  <a:latin typeface="+mj-lt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ru-RU" sz="2200" dirty="0">
                    <a:latin typeface="+mj-lt"/>
                  </a:rPr>
                  <a:t>	</a:t>
                </a:r>
                <a:r>
                  <a:rPr lang="ru-RU" sz="2200" b="0" i="0" dirty="0" smtClean="0">
                    <a:latin typeface="+mj-lt"/>
                  </a:rPr>
                  <a:t>но тогда не учитываются ошибки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ru-RU" sz="2200" dirty="0"/>
                  <a:t> </a:t>
                </a:r>
                <a:r>
                  <a:rPr lang="ru-RU" sz="2200" dirty="0" smtClean="0"/>
                  <a:t>-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sz="2200" i="1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</m:e>
                      <m:sub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endParaRPr lang="ru-RU" sz="2200" dirty="0" smtClean="0"/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ru-RU" sz="2200" dirty="0" smtClean="0"/>
                  <a:t>Если во ВР есть сложные паттерны, непопадающие в окно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ru-RU" sz="2200" dirty="0" smtClean="0"/>
                  <a:t> их влияние не учитывается (а оно есть) – ошибки предсказания растет. 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ru-RU" sz="2200" dirty="0" smtClean="0"/>
                  <a:t>	Это особенно плохо для среднесрочных и долгосрочных предсказаний.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endParaRPr lang="ru-RU" sz="2200" dirty="0" smtClean="0"/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82600" y="719512"/>
                <a:ext cx="11709400" cy="5704840"/>
              </a:xfrm>
              <a:blipFill>
                <a:blip r:embed="rId2"/>
                <a:stretch>
                  <a:fillRect l="-677" t="-2778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Прямоугольник 5"/>
          <p:cNvSpPr/>
          <p:nvPr/>
        </p:nvSpPr>
        <p:spPr>
          <a:xfrm>
            <a:off x="5569526" y="6596390"/>
            <a:ext cx="7232073" cy="2616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100" dirty="0"/>
              <a:t>https://machinelearningmastery.com/time-series-prediction-lstm-recurrent-neural-networks-python-keras/</a:t>
            </a:r>
            <a:endParaRPr lang="ru-RU" sz="1100" dirty="0"/>
          </a:p>
        </p:txBody>
      </p:sp>
      <p:pic>
        <p:nvPicPr>
          <p:cNvPr id="9" name="Рисунок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5091" y="4206351"/>
            <a:ext cx="4686300" cy="2520844"/>
          </a:xfrm>
          <a:prstGeom prst="rect">
            <a:avLst/>
          </a:prstGeom>
        </p:spPr>
      </p:pic>
      <p:sp>
        <p:nvSpPr>
          <p:cNvPr id="11" name="Прямоугольник 10"/>
          <p:cNvSpPr/>
          <p:nvPr/>
        </p:nvSpPr>
        <p:spPr>
          <a:xfrm>
            <a:off x="5141769" y="5078123"/>
            <a:ext cx="5775614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dirty="0" smtClean="0"/>
              <a:t>Выбор неправильных параметров модели может привести к ошибке.</a:t>
            </a:r>
          </a:p>
          <a:p>
            <a:r>
              <a:rPr lang="ru-RU" dirty="0" smtClean="0"/>
              <a:t>Напр. на коротком окне тренд вместо степенного можно воспринять как линейный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89352920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79077" y="212605"/>
            <a:ext cx="11094720" cy="564515"/>
          </a:xfrm>
        </p:spPr>
        <p:txBody>
          <a:bodyPr>
            <a:normAutofit fontScale="90000"/>
          </a:bodyPr>
          <a:lstStyle/>
          <a:p>
            <a:pPr algn="ctr"/>
            <a:r>
              <a:rPr lang="ru-RU" b="1" dirty="0" smtClean="0"/>
              <a:t>Рекуррентные подходы.</a:t>
            </a:r>
            <a:endParaRPr lang="ru-RU" b="1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>
              <a:xfrm>
                <a:off x="279400" y="802640"/>
                <a:ext cx="11709400" cy="5704840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 smtClean="0"/>
                  <a:t>MLP </a:t>
                </a:r>
                <a:r>
                  <a:rPr lang="ru-RU" sz="2400" dirty="0" smtClean="0"/>
                  <a:t>предсказание</a:t>
                </a:r>
                <a:r>
                  <a:rPr lang="en-US" sz="2400" dirty="0" smtClean="0"/>
                  <a:t> (AR-NET)</a:t>
                </a:r>
                <a:r>
                  <a:rPr lang="ru-RU" sz="2400" dirty="0" smtClean="0"/>
                  <a:t> можно описать как</a:t>
                </a:r>
                <a:endParaRPr lang="en-US" sz="2400" dirty="0" smtClean="0"/>
              </a:p>
              <a:p>
                <a:pPr marL="0" indent="0" algn="ctr">
                  <a:buNone/>
                </a:pPr>
                <a:r>
                  <a:rPr lang="ru-RU" sz="2400" dirty="0" smtClean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</m:e>
                      <m:sub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limLoc m:val="subSup"/>
                        <m:ctrlPr>
                          <a:rPr lang="en-US" sz="2400" b="0" i="1" dirty="0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5"/>
                          </m:rP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  <m:sup>
                        <m:sSub>
                          <m:sSubPr>
                            <m:ctrlPr>
                              <a:rPr lang="en-US" sz="2400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0" i="1" dirty="0" smtClean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sz="2400" b="0" i="1" dirty="0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sup>
                      <m:e>
                        <m:sSubSup>
                          <m:sSubSupPr>
                            <m:ctrlPr>
                              <a:rPr lang="en-US" sz="2400" b="0" i="1" dirty="0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2400" b="0" i="1" dirty="0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sz="2400" b="0" i="1" dirty="0" smtClean="0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  <m:sup>
                            <m:r>
                              <a:rPr lang="en-US" sz="2400" b="0" i="1" dirty="0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bSup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en-US" sz="2400" b="0" i="1" dirty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nary>
                              <m:naryPr>
                                <m:chr m:val="∑"/>
                                <m:limLoc m:val="subSup"/>
                                <m:ctrlPr>
                                  <a:rPr lang="en-US" sz="2400" b="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naryPr>
                              <m:sub>
                                <m:r>
                                  <m:rPr>
                                    <m:brk m:alnAt="25"/>
                                  </m:rPr>
                                  <a:rPr lang="en-US" sz="2400" b="0" i="1" dirty="0" smtClean="0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  <m:r>
                                  <a:rPr lang="en-US" sz="2400" b="0" i="1" dirty="0" smtClean="0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lang="en-US" sz="2400" b="0" i="1" dirty="0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  <m:sup>
                                <m:sSub>
                                  <m:sSubPr>
                                    <m:ctrlPr>
                                      <a:rPr lang="en-US" sz="2400" b="0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b="0" i="1" dirty="0" smtClean="0">
                                        <a:latin typeface="Cambria Math" panose="02040503050406030204" pitchFamily="18" charset="0"/>
                                      </a:rPr>
                                      <m:t>𝑝</m:t>
                                    </m:r>
                                  </m:e>
                                  <m:sub>
                                    <m:r>
                                      <a:rPr lang="en-US" sz="2400" b="0" i="1" dirty="0" smtClean="0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sub>
                                </m:sSub>
                              </m:sup>
                              <m:e>
                                <m:sSubSup>
                                  <m:sSubSupPr>
                                    <m:ctrlPr>
                                      <a:rPr lang="en-US" sz="2400" b="0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sz="2400" b="0" i="1" dirty="0" smtClean="0"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e>
                                  <m:sub>
                                    <m:r>
                                      <a:rPr lang="en-US" sz="2400" b="0" i="1" dirty="0" smtClean="0">
                                        <a:latin typeface="Cambria Math" panose="02040503050406030204" pitchFamily="18" charset="0"/>
                                      </a:rPr>
                                      <m:t>𝑖𝑗</m:t>
                                    </m:r>
                                  </m:sub>
                                  <m:sup>
                                    <m:r>
                                      <a:rPr lang="en-US" sz="2400" b="0" i="1" dirty="0" smtClean="0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sup>
                                </m:sSubSup>
                                <m:sSub>
                                  <m:sSubPr>
                                    <m:ctrlPr>
                                      <a:rPr lang="en-US" sz="2400" b="0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b="0" i="1" dirty="0" smtClean="0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  <m:sub>
                                    <m:r>
                                      <a:rPr lang="en-US" sz="2400" b="0" i="1" dirty="0" smtClean="0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  <m:r>
                                      <a:rPr lang="en-US" sz="2400" b="0" i="1" dirty="0" smtClean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en-US" sz="2400" b="0" i="1" dirty="0" smtClean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</m:e>
                            </m:nary>
                          </m:e>
                        </m:d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nary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→</m:t>
                    </m:r>
                    <m:sSub>
                      <m:sSubPr>
                        <m:ctrlPr>
                          <a:rPr lang="en-US" sz="24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2400" b="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°</m:t>
                    </m:r>
                    <m:sSub>
                      <m:sSubPr>
                        <m:ctrlPr>
                          <a:rPr lang="en-US" sz="24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sz="24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sz="2400" b="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sz="24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sz="24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sz="2400" b="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400" dirty="0" smtClean="0"/>
              </a:p>
              <a:p>
                <a:pPr marL="0" indent="0" algn="ctr">
                  <a:buNone/>
                </a:pPr>
                <a:r>
                  <a:rPr lang="ru-RU" sz="2400" dirty="0" smtClean="0"/>
                  <a:t>где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sz="24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sz="24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sz="2400" b="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400" b="0" i="0" dirty="0" smtClean="0">
                    <a:latin typeface="+mj-lt"/>
                    <a:ea typeface="Cambria Math" panose="02040503050406030204" pitchFamily="18" charset="0"/>
                  </a:rPr>
                  <a:t>-</a:t>
                </a:r>
                <a:r>
                  <a:rPr lang="ru-RU" sz="2400" b="0" i="0" dirty="0" smtClean="0">
                    <a:latin typeface="+mj-lt"/>
                    <a:ea typeface="Cambria Math" panose="02040503050406030204" pitchFamily="18" charset="0"/>
                  </a:rPr>
                  <a:t> </a:t>
                </a:r>
                <a:r>
                  <a:rPr lang="ru-RU" sz="2400" dirty="0"/>
                  <a:t>типы слоев</a:t>
                </a:r>
                <a:endParaRPr lang="en-US" sz="2400" dirty="0"/>
              </a:p>
              <a:p>
                <a:pPr marL="0" indent="0">
                  <a:buNone/>
                </a:pPr>
                <a:r>
                  <a:rPr lang="ru-RU" sz="2400" dirty="0" smtClean="0"/>
                  <a:t>Пусть мы хотим учитывать предыдущие </a:t>
                </a:r>
                <a:r>
                  <a:rPr lang="ru-RU" sz="2400" dirty="0" smtClean="0"/>
                  <a:t>состояние</a:t>
                </a:r>
                <a:r>
                  <a:rPr lang="en-US" sz="2400" dirty="0" smtClean="0"/>
                  <a:t> </a:t>
                </a:r>
                <a:r>
                  <a:rPr lang="ru-RU" sz="2400" dirty="0" smtClean="0"/>
                  <a:t>слоя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sz="24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ru-RU" sz="2400" dirty="0" smtClean="0"/>
                  <a:t> при моделировании текущего состояния</a:t>
                </a:r>
              </a:p>
              <a:p>
                <a:pPr marL="0" indent="0" algn="ctr">
                  <a:buNone/>
                </a:pPr>
                <a:r>
                  <a:rPr lang="ru-RU" sz="2400" dirty="0" smtClean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</m:e>
                      <m:sub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ru-RU" sz="2400" b="0" i="1" dirty="0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24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2400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°</m:t>
                    </m:r>
                    <m:sSubSup>
                      <m:sSubSupPr>
                        <m:ctrlPr>
                          <a:rPr lang="en-US" sz="24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24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a:rPr lang="en-US" sz="24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sz="24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sub>
                      <m:sup>
                        <m:r>
                          <a:rPr lang="en-US" sz="24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sup>
                    </m:sSubSup>
                    <m:d>
                      <m:dPr>
                        <m:ctrlPr>
                          <a:rPr lang="en-US" sz="24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400" i="1" dirty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i="1" dirty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sz="2400" i="1" dirty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  <m:r>
                      <a:rPr lang="en-US" sz="2400" b="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sSubSup>
                      <m:sSubSupPr>
                        <m:ctrlPr>
                          <a:rPr lang="en-US" sz="24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24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sz="24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sub>
                      <m:sup>
                        <m:r>
                          <a:rPr lang="en-US" sz="24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p>
                    </m:sSubSup>
                    <m:d>
                      <m:dPr>
                        <m:ctrlPr>
                          <a:rPr lang="en-US" sz="24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400" i="1" dirty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i="1" dirty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sz="2400" i="1" dirty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  <m:r>
                      <a:rPr lang="en-US" sz="2400" b="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ru-RU" sz="2400" b="0" i="0" dirty="0" smtClean="0">
                    <a:latin typeface="+mj-lt"/>
                    <a:ea typeface="Cambria Math" panose="02040503050406030204" pitchFamily="18" charset="0"/>
                  </a:rPr>
                  <a:t>, </a:t>
                </a:r>
              </a:p>
              <a:p>
                <a:pPr marL="0" indent="0">
                  <a:buNone/>
                </a:pPr>
                <a:r>
                  <a:rPr lang="ru-RU" sz="2400" dirty="0" smtClean="0">
                    <a:ea typeface="Cambria Math" panose="02040503050406030204" pitchFamily="18" charset="0"/>
                  </a:rPr>
                  <a:t>где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24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24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sz="24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sub>
                      <m:sup>
                        <m:r>
                          <a:rPr lang="en-US" sz="24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p>
                    </m:sSubSup>
                    <m:d>
                      <m:dPr>
                        <m:ctrlPr>
                          <a:rPr lang="en-US" sz="24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400" i="1" dirty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i="1" dirty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sz="2400" i="1" dirty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  <m:r>
                      <a:rPr lang="ru-RU" sz="2400" b="0" i="0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−</m:t>
                    </m:r>
                  </m:oMath>
                </a14:m>
                <a:r>
                  <a:rPr lang="ru-RU" sz="2400" b="0" i="0" dirty="0" smtClean="0">
                    <a:latin typeface="+mj-lt"/>
                    <a:ea typeface="Cambria Math" panose="02040503050406030204" pitchFamily="18" charset="0"/>
                  </a:rPr>
                  <a:t> </a:t>
                </a:r>
                <a:r>
                  <a:rPr lang="ru-RU" sz="2400" dirty="0" smtClean="0">
                    <a:latin typeface="+mj-lt"/>
                    <a:ea typeface="Cambria Math" panose="02040503050406030204" pitchFamily="18" charset="0"/>
                  </a:rPr>
                  <a:t>влияние </a:t>
                </a:r>
                <a:r>
                  <a:rPr lang="ru-RU" sz="2400" b="0" i="0" dirty="0" smtClean="0">
                    <a:latin typeface="+mj-lt"/>
                    <a:ea typeface="Cambria Math" panose="02040503050406030204" pitchFamily="18" charset="0"/>
                  </a:rPr>
                  <a:t>предыдущего состояния (контекст/память/ функция перехода </a:t>
                </a:r>
                <a:r>
                  <a:rPr lang="en-US" sz="2400" b="0" i="0" dirty="0" smtClean="0">
                    <a:latin typeface="+mj-lt"/>
                    <a:ea typeface="Cambria Math" panose="02040503050406030204" pitchFamily="18" charset="0"/>
                  </a:rPr>
                  <a:t>/ </a:t>
                </a:r>
                <a:r>
                  <a:rPr lang="ru-RU" sz="2400" b="0" i="0" dirty="0" smtClean="0">
                    <a:latin typeface="+mj-lt"/>
                    <a:ea typeface="Cambria Math" panose="02040503050406030204" pitchFamily="18" charset="0"/>
                  </a:rPr>
                  <a:t>скрытое состояние ВР – </a:t>
                </a:r>
                <a:r>
                  <a:rPr lang="en-US" sz="2400" b="0" i="0" dirty="0" smtClean="0">
                    <a:latin typeface="+mj-lt"/>
                    <a:ea typeface="Cambria Math" panose="02040503050406030204" pitchFamily="18" charset="0"/>
                  </a:rPr>
                  <a:t>hidden state (h)</a:t>
                </a:r>
                <a:r>
                  <a:rPr lang="ru-RU" sz="2400" b="0" i="0" dirty="0" smtClean="0">
                    <a:latin typeface="+mj-lt"/>
                    <a:ea typeface="Cambria Math" panose="02040503050406030204" pitchFamily="18" charset="0"/>
                  </a:rPr>
                  <a:t>)</a:t>
                </a:r>
                <a14:m>
                  <m:oMath xmlns:m="http://schemas.openxmlformats.org/officeDocument/2006/math">
                    <m:r>
                      <a:rPr lang="en-US" sz="2400" b="0" i="0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:</m:t>
                    </m:r>
                  </m:oMath>
                </a14:m>
                <a:endParaRPr lang="ru-RU" sz="2400" dirty="0" smtClean="0"/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</m:e>
                      <m:sub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2400" i="1" dirty="0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limLoc m:val="subSup"/>
                        <m:ctrlPr>
                          <a:rPr lang="en-US" sz="2400" i="1" dirty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5"/>
                          </m:rPr>
                          <a:rPr lang="en-US" sz="2400" i="1" dirty="0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  <m:sup>
                        <m:sSub>
                          <m:sSubPr>
                            <m:ctrlPr>
                              <a:rPr lang="en-US" sz="24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i="1" dirty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sz="24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sup>
                      <m:e>
                        <m:sSubSup>
                          <m:sSubSupPr>
                            <m:ctrlPr>
                              <a:rPr lang="en-US" sz="2400" i="1" dirty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2400" i="1" dirty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sz="2400" i="1" dirty="0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  <m:sup>
                            <m:r>
                              <a:rPr lang="en-US" sz="24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bSup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en-US" sz="24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nary>
                              <m:naryPr>
                                <m:chr m:val="∑"/>
                                <m:limLoc m:val="subSup"/>
                                <m:ctrlPr>
                                  <a:rPr lang="en-US" sz="2400" i="1" dirty="0">
                                    <a:latin typeface="Cambria Math" panose="02040503050406030204" pitchFamily="18" charset="0"/>
                                  </a:rPr>
                                </m:ctrlPr>
                              </m:naryPr>
                              <m:sub>
                                <m:r>
                                  <m:rPr>
                                    <m:brk m:alnAt="25"/>
                                  </m:rPr>
                                  <a:rPr lang="en-US" sz="2400" i="1" dirty="0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  <m:r>
                                  <a:rPr lang="en-US" sz="2400" i="1" dirty="0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lang="ru-RU" sz="2400" b="0" i="1" dirty="0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  <m:sup>
                                <m:sSub>
                                  <m:sSubPr>
                                    <m:ctrlPr>
                                      <a:rPr lang="en-US" sz="2400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i="1" dirty="0">
                                        <a:latin typeface="Cambria Math" panose="02040503050406030204" pitchFamily="18" charset="0"/>
                                      </a:rPr>
                                      <m:t>𝑝</m:t>
                                    </m:r>
                                  </m:e>
                                  <m:sub>
                                    <m:r>
                                      <a:rPr lang="en-US" sz="2400" i="1" dirty="0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sub>
                                </m:sSub>
                              </m:sup>
                              <m:e>
                                <m:sSubSup>
                                  <m:sSubSupPr>
                                    <m:ctrlPr>
                                      <a:rPr lang="en-US" sz="2400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sz="2400" i="1" dirty="0"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e>
                                  <m:sub>
                                    <m:r>
                                      <a:rPr lang="en-US" sz="2400" i="1" dirty="0">
                                        <a:latin typeface="Cambria Math" panose="02040503050406030204" pitchFamily="18" charset="0"/>
                                      </a:rPr>
                                      <m:t>𝑖𝑗</m:t>
                                    </m:r>
                                  </m:sub>
                                  <m:sup>
                                    <m:r>
                                      <a:rPr lang="en-US" sz="2400" i="1" dirty="0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sup>
                                </m:sSubSup>
                                <m:sSub>
                                  <m:sSubPr>
                                    <m:ctrlPr>
                                      <a:rPr lang="en-US" sz="2400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i="1" dirty="0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  <m:sub>
                                    <m:r>
                                      <a:rPr lang="en-US" sz="2400" i="1" dirty="0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  <m:r>
                                      <a:rPr lang="en-US" sz="2400" i="1" dirty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en-US" sz="2400" i="1" dirty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</m:e>
                            </m:nary>
                            <m:r>
                              <a:rPr lang="ru-RU" sz="2400" b="0" i="1" dirty="0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nary>
                              <m:naryPr>
                                <m:chr m:val="∑"/>
                                <m:limLoc m:val="subSup"/>
                                <m:ctrlPr>
                                  <a:rPr lang="en-US" sz="2400" i="1" dirty="0">
                                    <a:latin typeface="Cambria Math" panose="02040503050406030204" pitchFamily="18" charset="0"/>
                                  </a:rPr>
                                </m:ctrlPr>
                              </m:naryPr>
                              <m:sub>
                                <m:r>
                                  <m:rPr>
                                    <m:brk m:alnAt="25"/>
                                  </m:rPr>
                                  <a:rPr lang="en-US" sz="2400" i="1" dirty="0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  <m:r>
                                  <a:rPr lang="en-US" sz="2400" i="1" dirty="0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lang="en-US" sz="2400" b="0" i="1" dirty="0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  <m:sup>
                                <m:sSub>
                                  <m:sSubPr>
                                    <m:ctrlPr>
                                      <a:rPr lang="en-US" sz="2400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i="1" dirty="0">
                                        <a:latin typeface="Cambria Math" panose="02040503050406030204" pitchFamily="18" charset="0"/>
                                      </a:rPr>
                                      <m:t>𝑝</m:t>
                                    </m:r>
                                  </m:e>
                                  <m:sub>
                                    <m:r>
                                      <a:rPr lang="en-US" sz="2400" i="1" dirty="0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sub>
                                </m:sSub>
                              </m:sup>
                              <m:e>
                                <m:sSubSup>
                                  <m:sSubSupPr>
                                    <m:ctrlPr>
                                      <a:rPr lang="en-US" sz="2400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sz="2400" b="0" i="1" dirty="0" smtClean="0">
                                        <a:latin typeface="Cambria Math" panose="02040503050406030204" pitchFamily="18" charset="0"/>
                                      </a:rPr>
                                      <m:t>𝑏</m:t>
                                    </m:r>
                                  </m:e>
                                  <m:sub>
                                    <m:r>
                                      <a:rPr lang="en-US" sz="2400" i="1" dirty="0">
                                        <a:latin typeface="Cambria Math" panose="02040503050406030204" pitchFamily="18" charset="0"/>
                                      </a:rPr>
                                      <m:t>𝑖𝑗</m:t>
                                    </m:r>
                                  </m:sub>
                                  <m:sup>
                                    <m:r>
                                      <a:rPr lang="en-US" sz="2400" i="1" dirty="0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sup>
                                </m:sSubSup>
                                <m:sSub>
                                  <m:sSubPr>
                                    <m:ctrlPr>
                                      <a:rPr lang="en-US" sz="2400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b="0" i="1" dirty="0" smtClean="0">
                                        <a:latin typeface="Cambria Math" panose="02040503050406030204" pitchFamily="18" charset="0"/>
                                      </a:rPr>
                                      <m:t>h</m:t>
                                    </m:r>
                                  </m:e>
                                  <m:sub>
                                    <m:r>
                                      <a:rPr lang="en-US" sz="2400" i="1" dirty="0">
                                        <a:latin typeface="Cambria Math" panose="02040503050406030204" pitchFamily="18" charset="0"/>
                                      </a:rPr>
                                      <m:t>𝑛𝑖</m:t>
                                    </m:r>
                                  </m:sub>
                                </m:sSub>
                              </m:e>
                            </m:nary>
                          </m:e>
                        </m:d>
                        <m:r>
                          <m:rPr>
                            <m:nor/>
                          </m:rPr>
                          <a:rPr lang="en-US" sz="2400" dirty="0"/>
                          <m:t> </m:t>
                        </m:r>
                      </m:e>
                    </m:nary>
                  </m:oMath>
                </a14:m>
                <a:r>
                  <a:rPr lang="ru-RU" sz="2400" dirty="0" smtClean="0"/>
                  <a:t> </a:t>
                </a:r>
                <a:endParaRPr lang="en-US" sz="2400" dirty="0" smtClean="0"/>
              </a:p>
              <a:p>
                <a:pPr marL="0" indent="0">
                  <a:buNone/>
                </a:pPr>
                <a:r>
                  <a:rPr lang="ru-RU" sz="2400" dirty="0" smtClean="0"/>
                  <a:t>где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US" sz="2400" dirty="0" smtClean="0"/>
                  <a:t> - </a:t>
                </a:r>
                <a:r>
                  <a:rPr lang="ru-RU" sz="2400" dirty="0" smtClean="0"/>
                  <a:t>вектор предыдущих состояний для шага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ru-RU" sz="2400" dirty="0" smtClean="0"/>
                  <a:t>,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2400" i="1" dirty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𝑖𝑗</m:t>
                        </m:r>
                      </m:sub>
                      <m:sup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0</m:t>
                        </m:r>
                      </m:sup>
                    </m:sSubSup>
                  </m:oMath>
                </a14:m>
                <a:r>
                  <a:rPr lang="ru-RU" sz="2400" dirty="0" smtClean="0"/>
                  <a:t> - коэффициенты </a:t>
                </a:r>
                <a:r>
                  <a:rPr lang="ru-RU" sz="2400" dirty="0" smtClean="0"/>
                  <a:t>слоя перехода от состояния </a:t>
                </a:r>
                <a:r>
                  <a:rPr lang="en-US" sz="2400" dirty="0" smtClean="0"/>
                  <a:t>n </a:t>
                </a:r>
                <a:r>
                  <a:rPr lang="ru-RU" sz="2400" dirty="0" smtClean="0"/>
                  <a:t>к состоянию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sz="2400" i="1" dirty="0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2400" i="1" dirty="0" smtClean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ru-RU" sz="2400" dirty="0" smtClean="0"/>
                  <a:t>.</a:t>
                </a:r>
                <a:endParaRPr lang="en-US" sz="2400" dirty="0" smtClean="0"/>
              </a:p>
            </p:txBody>
          </p:sp>
        </mc:Choice>
        <mc:Fallback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79400" y="802640"/>
                <a:ext cx="11709400" cy="5704840"/>
              </a:xfrm>
              <a:blipFill>
                <a:blip r:embed="rId2"/>
                <a:stretch>
                  <a:fillRect l="-833" t="-1496" r="-1041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Прямоугольник 3"/>
          <p:cNvSpPr/>
          <p:nvPr/>
        </p:nvSpPr>
        <p:spPr>
          <a:xfrm>
            <a:off x="7558831" y="6507480"/>
            <a:ext cx="4508094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400" dirty="0"/>
              <a:t>https://d2l.ai/chapter_recurrent-neural-networks/rnn.html</a:t>
            </a:r>
          </a:p>
        </p:txBody>
      </p:sp>
    </p:spTree>
    <p:extLst>
      <p:ext uri="{BB962C8B-B14F-4D97-AF65-F5344CB8AC3E}">
        <p14:creationId xmlns:p14="http://schemas.microsoft.com/office/powerpoint/2010/main" val="59071013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>
              <a:xfrm>
                <a:off x="-7374" y="716433"/>
                <a:ext cx="12199374" cy="435133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ru-RU" sz="2200" i="1" dirty="0" smtClean="0">
                    <a:latin typeface="Cambria Math" panose="02040503050406030204" pitchFamily="18" charset="0"/>
                  </a:rPr>
                  <a:t>Перепишем уравнение</a:t>
                </a:r>
                <a:endParaRPr lang="en-US" sz="2200" i="1" dirty="0" smtClean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20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US" sz="22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e>
                        <m:sub>
                          <m:r>
                            <a:rPr lang="en-US" sz="2200" i="1" dirty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2200" i="1" dirty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US" sz="2200" i="1" dirty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limLoc m:val="subSup"/>
                          <m:ctrlPr>
                            <a:rPr lang="en-US" sz="2200" i="1" dirty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5"/>
                            </m:rPr>
                            <a:rPr lang="en-US" sz="2200" i="1" dirty="0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sz="2200" i="1" dirty="0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sSub>
                            <m:sSubPr>
                              <m:ctrlP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sup>
                        <m:e>
                          <m:sSubSup>
                            <m:sSubSupPr>
                              <m:ctrlP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  <m:sup>
                              <m: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bSup>
                          <m:r>
                            <a:rPr lang="en-US" sz="2200" i="1" dirty="0">
                              <a:latin typeface="Cambria Math" panose="02040503050406030204" pitchFamily="18" charset="0"/>
                            </a:rPr>
                            <m:t>𝑓</m:t>
                          </m:r>
                          <m:d>
                            <m:dPr>
                              <m:ctrlP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nary>
                                <m:naryPr>
                                  <m:chr m:val="∑"/>
                                  <m:limLoc m:val="subSup"/>
                                  <m:ctrlPr>
                                    <a:rPr lang="en-US" sz="2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r>
                                    <m:rPr>
                                      <m:brk m:alnAt="25"/>
                                    </m:rPr>
                                    <a:rPr lang="en-US" sz="2200" i="1" dirty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en-US" sz="2200" i="1" dirty="0">
                                      <a:latin typeface="Cambria Math" panose="02040503050406030204" pitchFamily="18" charset="0"/>
                                    </a:rPr>
                                    <m:t>=</m:t>
                                  </m:r>
                                  <m:r>
                                    <a:rPr lang="ru-RU" sz="2200" b="0" i="1" dirty="0" smtClean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  <m:sup>
                                  <m:sSub>
                                    <m:sSubPr>
                                      <m:ctrlPr>
                                        <a:rPr lang="en-US" sz="2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200" i="1" dirty="0">
                                          <a:latin typeface="Cambria Math" panose="02040503050406030204" pitchFamily="18" charset="0"/>
                                        </a:rPr>
                                        <m:t>𝑝</m:t>
                                      </m:r>
                                    </m:e>
                                    <m:sub>
                                      <m:r>
                                        <a:rPr lang="en-US" sz="2200" i="1" dirty="0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sup>
                                <m:e>
                                  <m:sSubSup>
                                    <m:sSubSupPr>
                                      <m:ctrlPr>
                                        <a:rPr lang="en-US" sz="2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en-US" sz="2200" i="1" dirty="0">
                                          <a:latin typeface="Cambria Math" panose="02040503050406030204" pitchFamily="18" charset="0"/>
                                        </a:rPr>
                                        <m:t>𝑎</m:t>
                                      </m:r>
                                    </m:e>
                                    <m:sub>
                                      <m:r>
                                        <a:rPr lang="en-US" sz="2200" i="1" dirty="0">
                                          <a:latin typeface="Cambria Math" panose="02040503050406030204" pitchFamily="18" charset="0"/>
                                        </a:rPr>
                                        <m:t>𝑖𝑗</m:t>
                                      </m:r>
                                    </m:sub>
                                    <m:sup>
                                      <m:r>
                                        <a:rPr lang="en-US" sz="2200" i="1" dirty="0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p>
                                  </m:sSubSup>
                                  <m:sSub>
                                    <m:sSubPr>
                                      <m:ctrlPr>
                                        <a:rPr lang="en-US" sz="2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200" i="1" dirty="0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  <m:sub>
                                      <m:r>
                                        <a:rPr lang="en-US" sz="2200" i="1" dirty="0"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  <m:r>
                                        <a:rPr lang="en-US" sz="2200" i="1" dirty="0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r>
                                        <a:rPr lang="en-US" sz="2200" i="1" dirty="0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e>
                              </m:nary>
                              <m:r>
                                <a:rPr lang="ru-RU" sz="2200" i="1" dirty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nary>
                                <m:naryPr>
                                  <m:chr m:val="∑"/>
                                  <m:limLoc m:val="subSup"/>
                                  <m:ctrlPr>
                                    <a:rPr lang="en-US" sz="2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r>
                                    <m:rPr>
                                      <m:brk m:alnAt="25"/>
                                    </m:rPr>
                                    <a:rPr lang="en-US" sz="2200" i="1" dirty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en-US" sz="2200" i="1" dirty="0">
                                      <a:latin typeface="Cambria Math" panose="02040503050406030204" pitchFamily="18" charset="0"/>
                                    </a:rPr>
                                    <m:t>=</m:t>
                                  </m:r>
                                  <m:r>
                                    <a:rPr lang="en-US" sz="2200" i="1" dirty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  <m:sup>
                                  <m:sSub>
                                    <m:sSubPr>
                                      <m:ctrlPr>
                                        <a:rPr lang="en-US" sz="2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200" i="1" dirty="0">
                                          <a:latin typeface="Cambria Math" panose="02040503050406030204" pitchFamily="18" charset="0"/>
                                        </a:rPr>
                                        <m:t>𝑝</m:t>
                                      </m:r>
                                    </m:e>
                                    <m:sub>
                                      <m:r>
                                        <a:rPr lang="en-US" sz="2200" i="1" dirty="0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sup>
                                <m:e>
                                  <m:sSubSup>
                                    <m:sSubSupPr>
                                      <m:ctrlPr>
                                        <a:rPr lang="en-US" sz="2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en-US" sz="2200" i="1" dirty="0">
                                          <a:latin typeface="Cambria Math" panose="02040503050406030204" pitchFamily="18" charset="0"/>
                                        </a:rPr>
                                        <m:t>𝑏</m:t>
                                      </m:r>
                                    </m:e>
                                    <m:sub>
                                      <m:r>
                                        <a:rPr lang="en-US" sz="2200" i="1" dirty="0">
                                          <a:latin typeface="Cambria Math" panose="02040503050406030204" pitchFamily="18" charset="0"/>
                                        </a:rPr>
                                        <m:t>𝑖𝑗</m:t>
                                      </m:r>
                                    </m:sub>
                                    <m:sup>
                                      <m:r>
                                        <a:rPr lang="en-US" sz="2200" i="1" dirty="0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p>
                                  </m:sSubSup>
                                  <m:sSub>
                                    <m:sSubPr>
                                      <m:ctrlPr>
                                        <a:rPr lang="en-US" sz="2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200" i="1" dirty="0">
                                          <a:latin typeface="Cambria Math" panose="02040503050406030204" pitchFamily="18" charset="0"/>
                                        </a:rPr>
                                        <m:t>h</m:t>
                                      </m:r>
                                    </m:e>
                                    <m:sub>
                                      <m:r>
                                        <a:rPr lang="en-US" sz="2200" i="1" dirty="0">
                                          <a:latin typeface="Cambria Math" panose="02040503050406030204" pitchFamily="18" charset="0"/>
                                        </a:rPr>
                                        <m:t>𝑛𝑖</m:t>
                                      </m:r>
                                    </m:sub>
                                  </m:sSub>
                                  <m:r>
                                    <a:rPr lang="en-US" sz="2200" i="1" dirty="0" smtClean="0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</m:e>
                              </m:nary>
                              <m:sSubSup>
                                <m:sSubSupPr>
                                  <m:ctrlPr>
                                    <a:rPr lang="en-US" sz="220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sz="2200" i="1" dirty="0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en-US" sz="2200" i="1" dirty="0" smtClean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  <m:sup>
                                  <m:r>
                                    <a:rPr lang="en-US" sz="2200" i="1" dirty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p>
                              </m:sSubSup>
                            </m:e>
                          </m:d>
                          <m:r>
                            <a:rPr lang="en-US" sz="2200" i="1" dirty="0">
                              <a:latin typeface="Cambria Math" panose="02040503050406030204" pitchFamily="18" charset="0"/>
                            </a:rPr>
                            <m:t>→</m:t>
                          </m:r>
                          <m:sSub>
                            <m:sSubPr>
                              <m:ctrlP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  <m:sub>
                              <m: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22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°</m:t>
                          </m:r>
                          <m:sSub>
                            <m:sSubPr>
                              <m:ctrlPr>
                                <a:rPr lang="en-US" sz="2200" i="1" dirty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200" i="1" dirty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𝑅𝑁𝑁</m:t>
                              </m:r>
                            </m:e>
                            <m:sub>
                              <m:r>
                                <a:rPr lang="en-US" sz="2200" i="1" dirty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en-US" sz="22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US" sz="2200" i="1" dirty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200" i="1" dirty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sz="2200" i="1" dirty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en-US" sz="22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2200" i="1" dirty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200" i="1" dirty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h</m:t>
                              </m:r>
                            </m:e>
                            <m:sub>
                              <m:r>
                                <a:rPr lang="en-US" sz="2200" i="1" dirty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en-US" sz="22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  <m:r>
                            <m:rPr>
                              <m:nor/>
                            </m:rPr>
                            <a:rPr lang="en-US" sz="2200" dirty="0"/>
                            <m:t> </m:t>
                          </m:r>
                        </m:e>
                      </m:nary>
                    </m:oMath>
                  </m:oMathPara>
                </a14:m>
                <a:endParaRPr lang="en-US" sz="2200" dirty="0" smtClean="0"/>
              </a:p>
              <a:p>
                <a:r>
                  <a:rPr lang="ru-RU" sz="2200" dirty="0" smtClean="0"/>
                  <a:t>Сеть </a:t>
                </a:r>
                <a:r>
                  <a:rPr lang="ru-RU" sz="2200" dirty="0" err="1"/>
                  <a:t>Элмана</a:t>
                </a:r>
                <a:r>
                  <a:rPr lang="ru-RU" sz="2200" dirty="0"/>
                  <a:t> </a:t>
                </a:r>
                <a:r>
                  <a:rPr lang="ru-RU" sz="2200" dirty="0" smtClean="0"/>
                  <a:t>или </a:t>
                </a:r>
                <a:r>
                  <a:rPr lang="en-US" sz="2200" dirty="0"/>
                  <a:t>Simple RNN/Vanilla RNN</a:t>
                </a:r>
                <a:r>
                  <a:rPr lang="ru-RU" sz="2200" dirty="0" smtClean="0"/>
                  <a:t>:</a:t>
                </a:r>
                <a:endParaRPr lang="en-US" sz="2200" dirty="0" smtClean="0"/>
              </a:p>
              <a:p>
                <a:pPr marL="0" indent="0">
                  <a:lnSpc>
                    <a:spcPct val="100000"/>
                  </a:lnSpc>
                  <a:spcBef>
                    <a:spcPts val="6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2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sz="2200" i="1" dirty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2200" i="1" dirty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US" sz="2200" i="1" dirty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200" i="1" dirty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sz="22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nary>
                            <m:naryPr>
                              <m:chr m:val="∑"/>
                              <m:limLoc m:val="subSup"/>
                              <m:ctrlP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5"/>
                                </m:rP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ru-RU" sz="2200" i="1" dirty="0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sSub>
                                <m:sSubPr>
                                  <m:ctrlPr>
                                    <a:rPr lang="en-US" sz="2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200" i="1" dirty="0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</m:e>
                                <m:sub>
                                  <m:r>
                                    <a:rPr lang="en-US" sz="2200" i="1" dirty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sup>
                            <m:e>
                              <m:sSubSup>
                                <m:sSubSupPr>
                                  <m:ctrlPr>
                                    <a:rPr lang="en-US" sz="2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sz="2200" i="1" dirty="0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en-US" sz="2200" i="1" dirty="0">
                                      <a:latin typeface="Cambria Math" panose="02040503050406030204" pitchFamily="18" charset="0"/>
                                    </a:rPr>
                                    <m:t>𝑖𝑗</m:t>
                                  </m:r>
                                </m:sub>
                                <m:sup>
                                  <m:r>
                                    <a:rPr lang="en-US" sz="2200" i="1" dirty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p>
                              </m:sSubSup>
                              <m:sSub>
                                <m:sSubPr>
                                  <m:ctrlPr>
                                    <a:rPr lang="en-US" sz="2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200" i="1" dirty="0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en-US" sz="2200" i="1" dirty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sz="2200" i="1" dirty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sz="2200" i="1" dirty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nary>
                          <m:r>
                            <a:rPr lang="ru-RU" sz="2200" i="1" dirty="0">
                              <a:latin typeface="Cambria Math" panose="02040503050406030204" pitchFamily="18" charset="0"/>
                            </a:rPr>
                            <m:t>+</m:t>
                          </m:r>
                          <m:nary>
                            <m:naryPr>
                              <m:chr m:val="∑"/>
                              <m:limLoc m:val="subSup"/>
                              <m:ctrlP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5"/>
                                </m:rP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sSub>
                                <m:sSubPr>
                                  <m:ctrlPr>
                                    <a:rPr lang="en-US" sz="2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200" i="1" dirty="0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</m:e>
                                <m:sub>
                                  <m:r>
                                    <a:rPr lang="en-US" sz="2200" i="1" dirty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sup>
                            <m:e>
                              <m:sSubSup>
                                <m:sSubSupPr>
                                  <m:ctrlPr>
                                    <a:rPr lang="en-US" sz="2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sz="2200" i="1" dirty="0">
                                      <a:latin typeface="Cambria Math" panose="02040503050406030204" pitchFamily="18" charset="0"/>
                                    </a:rPr>
                                    <m:t>𝑏</m:t>
                                  </m:r>
                                </m:e>
                                <m:sub>
                                  <m:r>
                                    <a:rPr lang="en-US" sz="2200" i="1" dirty="0">
                                      <a:latin typeface="Cambria Math" panose="02040503050406030204" pitchFamily="18" charset="0"/>
                                    </a:rPr>
                                    <m:t>𝑖𝑗</m:t>
                                  </m:r>
                                </m:sub>
                                <m:sup>
                                  <m:r>
                                    <a:rPr lang="en-US" sz="2200" i="1" dirty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p>
                              </m:sSubSup>
                              <m:sSub>
                                <m:sSubPr>
                                  <m:ctrlPr>
                                    <a:rPr lang="en-US" sz="2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200" i="1" dirty="0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en-US" sz="2200" i="1" dirty="0">
                                      <a:latin typeface="Cambria Math" panose="02040503050406030204" pitchFamily="18" charset="0"/>
                                    </a:rPr>
                                    <m:t>𝑛𝑖</m:t>
                                  </m:r>
                                </m:sub>
                              </m:sSub>
                              <m: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</m:e>
                          </m:nary>
                          <m:sSubSup>
                            <m:sSubSupPr>
                              <m:ctrlP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  <m:sup>
                              <m: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p>
                          </m:sSubSup>
                        </m:e>
                      </m:d>
                      <m:r>
                        <a:rPr lang="ru-RU" sz="2200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200" b="0" i="1" dirty="0" smtClean="0"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en-US" sz="2200" b="0" i="1" dirty="0" smtClean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sz="22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200" b="0" i="1" dirty="0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en-US" sz="2200" b="0" i="1" dirty="0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sSub>
                        <m:sSubPr>
                          <m:ctrlPr>
                            <a:rPr lang="en-US" sz="22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200" b="0" i="1" dirty="0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sz="2200" b="0" i="1" dirty="0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en-US" sz="2200" b="0" i="1" dirty="0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200" b="0" i="1" dirty="0" smtClean="0">
                          <a:latin typeface="Cambria Math" panose="02040503050406030204" pitchFamily="18" charset="0"/>
                        </a:rPr>
                        <m:t>𝐵</m:t>
                      </m:r>
                      <m:sSub>
                        <m:sSubPr>
                          <m:ctrlPr>
                            <a:rPr lang="en-US" sz="22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200" b="0" i="1" dirty="0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sz="2200" b="0" i="1" dirty="0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en-US" sz="2200" b="0" i="1" dirty="0" smtClean="0">
                          <a:latin typeface="Cambria Math" panose="02040503050406030204" pitchFamily="18" charset="0"/>
                        </a:rPr>
                        <m:t>+</m:t>
                      </m:r>
                      <m:sSubSup>
                        <m:sSubSupPr>
                          <m:ctrlPr>
                            <a:rPr lang="en-US" sz="2200" i="1" dirty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2200" i="1" dirty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en-US" sz="2200" i="1" dirty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en-US" sz="2200" i="1" dirty="0">
                              <a:latin typeface="Cambria Math" panose="02040503050406030204" pitchFamily="18" charset="0"/>
                            </a:rPr>
                            <m:t>0</m:t>
                          </m:r>
                        </m:sup>
                      </m:sSubSup>
                      <m:r>
                        <a:rPr lang="en-US" sz="2200" b="0" i="1" dirty="0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200" dirty="0"/>
              </a:p>
              <a:p>
                <a:pPr marL="0" indent="0">
                  <a:lnSpc>
                    <a:spcPct val="100000"/>
                  </a:lnSpc>
                  <a:spcBef>
                    <a:spcPts val="6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2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US" sz="22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e>
                        <m:sub>
                          <m:r>
                            <a:rPr lang="en-US" sz="2200" i="1" dirty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2200" i="1" dirty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US" sz="2200" i="1" dirty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limLoc m:val="subSup"/>
                          <m:ctrlPr>
                            <a:rPr lang="en-US" sz="2200" i="1" dirty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5"/>
                            </m:rPr>
                            <a:rPr lang="en-US" sz="2200" i="1" dirty="0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sz="2200" i="1" dirty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US" sz="2200" b="0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sSub>
                            <m:sSubPr>
                              <m:ctrlP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sup>
                        <m:e>
                          <m:sSubSup>
                            <m:sSubSupPr>
                              <m:ctrlP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  <m:sup>
                              <m: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bSup>
                          <m:sSub>
                            <m:sSubPr>
                              <m:ctrlP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  <m:sub>
                              <m: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  <m:r>
                                <a:rPr lang="en-US" sz="2200" b="0" i="1" dirty="0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  <m:r>
                            <a:rPr lang="en-US" sz="2200" b="0" i="1" dirty="0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Sup>
                            <m:sSubSupPr>
                              <m:ctrlP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  <m:sup>
                              <m:r>
                                <a:rPr lang="en-US" sz="2200" b="0" i="1" dirty="0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bSup>
                        </m:e>
                      </m:nary>
                      <m:r>
                        <a:rPr lang="en-US" sz="2200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22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200" b="0" i="1" dirty="0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en-US" sz="2200" b="0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en-US" sz="22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200" b="0" i="1" dirty="0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sz="2200" b="0" i="1" dirty="0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2200" b="0" i="1" dirty="0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US" sz="2200" i="1" dirty="0">
                          <a:latin typeface="Cambria Math" panose="02040503050406030204" pitchFamily="18" charset="0"/>
                        </a:rPr>
                        <m:t>+</m:t>
                      </m:r>
                      <m:sSubSup>
                        <m:sSubSupPr>
                          <m:ctrlPr>
                            <a:rPr lang="en-US" sz="2200" i="1" dirty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2200" i="1" dirty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en-US" sz="2200" i="1" dirty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en-US" sz="22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bSup>
                    </m:oMath>
                  </m:oMathPara>
                </a14:m>
                <a:endParaRPr lang="ru-RU" sz="2200" dirty="0" smtClean="0"/>
              </a:p>
              <a:p>
                <a:pPr marL="0" indent="0">
                  <a:buNone/>
                </a:pPr>
                <a:r>
                  <a:rPr lang="ru-RU" sz="2200" dirty="0"/>
                  <a:t>В  силу использования предыдущего состояния предсказания в текущем зависимость становится рекуррентной. Слой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2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𝑅𝑁𝑁</m:t>
                        </m:r>
                      </m:e>
                      <m:sub>
                        <m:r>
                          <a:rPr lang="en-US" sz="22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sz="2200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sz="22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sz="22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sz="2200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sz="22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sz="22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sz="2200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ru-RU" sz="2200" dirty="0"/>
                  <a:t> – рекуррентный слой.</a:t>
                </a:r>
              </a:p>
              <a:p>
                <a:pPr marL="0" indent="0">
                  <a:buNone/>
                </a:pPr>
                <a:endParaRPr lang="en-US" sz="2200" dirty="0" smtClean="0"/>
              </a:p>
              <a:p>
                <a:pPr/>
                <a:endParaRPr lang="ru-RU" sz="2200" dirty="0"/>
              </a:p>
              <a:p>
                <a:pPr marL="0" indent="0">
                  <a:buNone/>
                </a:pPr>
                <a:endParaRPr lang="ru-RU" sz="2200" dirty="0"/>
              </a:p>
            </p:txBody>
          </p:sp>
        </mc:Choice>
        <mc:Fallback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-7374" y="716433"/>
                <a:ext cx="12199374" cy="4351338"/>
              </a:xfrm>
              <a:blipFill>
                <a:blip r:embed="rId2"/>
                <a:stretch>
                  <a:fillRect l="-650" t="-1823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Заголовок 1"/>
          <p:cNvSpPr>
            <a:spLocks noGrp="1"/>
          </p:cNvSpPr>
          <p:nvPr>
            <p:ph type="title"/>
          </p:nvPr>
        </p:nvSpPr>
        <p:spPr>
          <a:xfrm>
            <a:off x="733567" y="40069"/>
            <a:ext cx="10515600" cy="911225"/>
          </a:xfrm>
        </p:spPr>
        <p:txBody>
          <a:bodyPr/>
          <a:lstStyle/>
          <a:p>
            <a:r>
              <a:rPr lang="ru-RU" b="1" dirty="0"/>
              <a:t>Простая рекуррентная нейронные сети</a:t>
            </a:r>
          </a:p>
        </p:txBody>
      </p:sp>
      <p:sp>
        <p:nvSpPr>
          <p:cNvPr id="15" name="Объект 2"/>
          <p:cNvSpPr txBox="1">
            <a:spLocks/>
          </p:cNvSpPr>
          <p:nvPr/>
        </p:nvSpPr>
        <p:spPr>
          <a:xfrm>
            <a:off x="326923" y="2761299"/>
            <a:ext cx="10515600" cy="62626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ru-RU" dirty="0"/>
          </a:p>
        </p:txBody>
      </p:sp>
      <p:sp>
        <p:nvSpPr>
          <p:cNvPr id="2" name="Прямоугольник 1"/>
          <p:cNvSpPr/>
          <p:nvPr/>
        </p:nvSpPr>
        <p:spPr>
          <a:xfrm>
            <a:off x="0" y="6501487"/>
            <a:ext cx="5842369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dirty="0"/>
              <a:t>https://</a:t>
            </a:r>
            <a:r>
              <a:rPr lang="en-US" sz="1400" dirty="0" smtClean="0"/>
              <a:t>neerc.ifmo.ru/wiki/index.php?title=</a:t>
            </a:r>
            <a:r>
              <a:rPr lang="ru-RU" sz="1400" dirty="0" err="1" smtClean="0"/>
              <a:t>Рекуррентные_нейронные_сети</a:t>
            </a:r>
            <a:endParaRPr lang="ru-RU" sz="1400" dirty="0"/>
          </a:p>
        </p:txBody>
      </p:sp>
      <p:pic>
        <p:nvPicPr>
          <p:cNvPr id="5" name="Рисунок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59681" y="4206004"/>
            <a:ext cx="6048754" cy="2603260"/>
          </a:xfrm>
          <a:prstGeom prst="rect">
            <a:avLst/>
          </a:prstGeom>
        </p:spPr>
      </p:pic>
      <p:sp>
        <p:nvSpPr>
          <p:cNvPr id="6" name="Прямоугольник 5"/>
          <p:cNvSpPr/>
          <p:nvPr/>
        </p:nvSpPr>
        <p:spPr>
          <a:xfrm>
            <a:off x="8512376" y="6562289"/>
            <a:ext cx="3587842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100" dirty="0"/>
              <a:t>https://d2l.ai/chapter_recurrent-neural-networks/rnn.html</a:t>
            </a:r>
            <a:endParaRPr lang="ru-RU" sz="11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6" name="Прямоугольник 15"/>
              <p:cNvSpPr/>
              <p:nvPr/>
            </p:nvSpPr>
            <p:spPr>
              <a:xfrm>
                <a:off x="-7374" y="5610987"/>
                <a:ext cx="6096000" cy="913583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US" i="1" dirty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nary>
                            <m:naryPr>
                              <m:chr m:val="∑"/>
                              <m:limLoc m:val="subSup"/>
                              <m:ctrlPr>
                                <a:rPr lang="en-US" i="1" dirty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5"/>
                                </m:rPr>
                                <a:rPr lang="en-US" i="1" dirty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i="1" dirty="0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ru-RU" i="1" dirty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sSub>
                                <m:sSubPr>
                                  <m:ctrlPr>
                                    <a:rPr lang="en-US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 dirty="0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</m:e>
                                <m:sub>
                                  <m:r>
                                    <a:rPr lang="en-US" i="1" dirty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sup>
                            <m:e>
                              <m:sSubSup>
                                <m:sSubSupPr>
                                  <m:ctrlPr>
                                    <a:rPr lang="en-US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i="1" dirty="0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en-US" i="1" dirty="0">
                                      <a:latin typeface="Cambria Math" panose="02040503050406030204" pitchFamily="18" charset="0"/>
                                    </a:rPr>
                                    <m:t>𝑖𝑗</m:t>
                                  </m:r>
                                </m:sub>
                                <m:sup>
                                  <m:r>
                                    <a:rPr lang="en-US" i="1" dirty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p>
                              </m:sSubSup>
                              <m:sSub>
                                <m:sSubPr>
                                  <m:ctrlPr>
                                    <a:rPr lang="en-US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 dirty="0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en-US" i="1" dirty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i="1" dirty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i="1" dirty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nary>
                          <m:r>
                            <a:rPr lang="ru-RU" i="1" dirty="0">
                              <a:latin typeface="Cambria Math" panose="02040503050406030204" pitchFamily="18" charset="0"/>
                            </a:rPr>
                            <m:t>+</m:t>
                          </m:r>
                          <m:nary>
                            <m:naryPr>
                              <m:chr m:val="∑"/>
                              <m:limLoc m:val="subSup"/>
                              <m:ctrlPr>
                                <a:rPr lang="en-US" i="1" dirty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5"/>
                                </m:rPr>
                                <a:rPr lang="en-US" i="1" dirty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i="1" dirty="0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sSub>
                                <m:sSubPr>
                                  <m:ctrlPr>
                                    <a:rPr lang="en-US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 dirty="0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</m:e>
                                <m:sub>
                                  <m:r>
                                    <a:rPr lang="en-US" i="1" dirty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sup>
                            <m:e>
                              <m:sSubSup>
                                <m:sSubSupPr>
                                  <m:ctrlPr>
                                    <a:rPr lang="en-US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i="1" dirty="0">
                                      <a:latin typeface="Cambria Math" panose="02040503050406030204" pitchFamily="18" charset="0"/>
                                    </a:rPr>
                                    <m:t>𝑏</m:t>
                                  </m:r>
                                </m:e>
                                <m:sub>
                                  <m:r>
                                    <a:rPr lang="en-US" i="1" dirty="0">
                                      <a:latin typeface="Cambria Math" panose="02040503050406030204" pitchFamily="18" charset="0"/>
                                    </a:rPr>
                                    <m:t>𝑖𝑗</m:t>
                                  </m:r>
                                </m:sub>
                                <m:sup>
                                  <m:r>
                                    <a:rPr lang="en-US" i="1" dirty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p>
                              </m:sSubSup>
                              <m:sSub>
                                <m:sSubPr>
                                  <m:ctrlPr>
                                    <a:rPr lang="en-US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acc>
                                    <m:accPr>
                                      <m:chr m:val="̂"/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a:rPr lang="en-US" i="1" dirty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en-US" i="1" dirty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</m:e>
                          </m:nary>
                          <m:sSubSup>
                            <m:sSubSupPr>
                              <m:ctrlPr>
                                <a:rPr lang="en-US" i="1" dirty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i="1" dirty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en-US" i="1" dirty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  <m:sup>
                              <m:r>
                                <a:rPr lang="en-US" i="1" dirty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p>
                          </m:sSubSup>
                        </m:e>
                      </m:d>
                    </m:oMath>
                  </m:oMathPara>
                </a14:m>
                <a:endParaRPr lang="en-US" dirty="0" smtClean="0"/>
              </a:p>
              <a:p>
                <a:endParaRPr lang="ru-RU" dirty="0"/>
              </a:p>
            </p:txBody>
          </p:sp>
        </mc:Choice>
        <mc:Fallback>
          <p:sp>
            <p:nvSpPr>
              <p:cNvPr id="16" name="Прямоугольник 1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7374" y="5610987"/>
                <a:ext cx="6096000" cy="913583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Прямоугольник 7"/>
          <p:cNvSpPr/>
          <p:nvPr/>
        </p:nvSpPr>
        <p:spPr>
          <a:xfrm>
            <a:off x="184079" y="5035483"/>
            <a:ext cx="5807288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i="1" dirty="0" smtClean="0"/>
              <a:t>Могут также быть и другие формулировки </a:t>
            </a:r>
            <a:r>
              <a:rPr lang="en-US" i="1" dirty="0" smtClean="0"/>
              <a:t>RNN, </a:t>
            </a:r>
            <a:r>
              <a:rPr lang="ru-RU" i="1" dirty="0" smtClean="0"/>
              <a:t>например формулировка </a:t>
            </a:r>
            <a:r>
              <a:rPr lang="ru-RU" i="1" dirty="0" err="1" smtClean="0"/>
              <a:t>Джордана</a:t>
            </a:r>
            <a:endParaRPr lang="ru-RU" i="1" dirty="0"/>
          </a:p>
        </p:txBody>
      </p:sp>
    </p:spTree>
    <p:extLst>
      <p:ext uri="{BB962C8B-B14F-4D97-AF65-F5344CB8AC3E}">
        <p14:creationId xmlns:p14="http://schemas.microsoft.com/office/powerpoint/2010/main" val="300602735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pPr algn="l" rtl="0"/>
            <a:r>
              <a:rPr lang="en-US" b="1" dirty="0" smtClean="0"/>
              <a:t>RNN </a:t>
            </a:r>
            <a:r>
              <a:rPr lang="ru-RU" b="1" dirty="0" smtClean="0"/>
              <a:t>Интуиция</a:t>
            </a:r>
            <a:endParaRPr lang="en-US" b="1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>
              <a:xfrm>
                <a:off x="134231" y="889726"/>
                <a:ext cx="11738806" cy="6140153"/>
              </a:xfrm>
            </p:spPr>
            <p:txBody>
              <a:bodyPr>
                <a:noAutofit/>
              </a:bodyPr>
              <a:lstStyle/>
              <a:p>
                <a:pPr lvl="0">
                  <a:lnSpc>
                    <a:spcPct val="100000"/>
                  </a:lnSpc>
                  <a:spcBef>
                    <a:spcPts val="200"/>
                  </a:spcBef>
                </a:pPr>
                <a:r>
                  <a:rPr lang="ru-RU" sz="2200" b="1" dirty="0" smtClean="0"/>
                  <a:t>Рекуррентные нейронные сети (RNN)</a:t>
                </a:r>
                <a:r>
                  <a:rPr lang="ru-RU" sz="2200" dirty="0"/>
                  <a:t>  </a:t>
                </a:r>
                <a:r>
                  <a:rPr lang="ru-RU" sz="2200" dirty="0" smtClean="0"/>
                  <a:t>обрабатывают последовательности:</a:t>
                </a:r>
              </a:p>
              <a:p>
                <a:pPr lvl="1">
                  <a:lnSpc>
                    <a:spcPct val="100000"/>
                  </a:lnSpc>
                  <a:spcBef>
                    <a:spcPts val="200"/>
                  </a:spcBef>
                </a:pPr>
                <a:r>
                  <a:rPr lang="ru-RU" sz="2200" dirty="0" smtClean="0"/>
                  <a:t>На каждом шаге окна одни и те же веса </a:t>
                </a:r>
                <a14:m>
                  <m:oMath xmlns:m="http://schemas.openxmlformats.org/officeDocument/2006/math">
                    <m:r>
                      <a:rPr lang="en-US" sz="2200" b="0" i="0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200" i="1" dirty="0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2200" i="1" dirty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2200" i="1" dirty="0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US" sz="2200" dirty="0" smtClean="0"/>
                  <a:t>)</a:t>
                </a:r>
                <a:r>
                  <a:rPr lang="ru-RU" sz="2200" dirty="0" smtClean="0"/>
                  <a:t>, но разные входные данные </a:t>
                </a:r>
                <a:r>
                  <a:rPr lang="en-US" sz="2200" dirty="0" smtClean="0"/>
                  <a:t>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2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i="1" dirty="0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sz="2200" b="0" i="1" dirty="0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sz="2200" b="0" i="1" dirty="0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sz="22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b="0" i="1" dirty="0" smtClean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sz="2200" b="0" i="1" dirty="0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sz="2200" b="0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ru-RU" sz="2200" dirty="0" smtClean="0"/>
                  <a:t>.</a:t>
                </a:r>
              </a:p>
              <a:p>
                <a:pPr lvl="2">
                  <a:lnSpc>
                    <a:spcPct val="100000"/>
                  </a:lnSpc>
                  <a:spcBef>
                    <a:spcPts val="200"/>
                  </a:spcBef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8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 i="1" dirty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sz="1800" i="1" dirty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US" sz="1800" dirty="0" smtClean="0"/>
                  <a:t> </a:t>
                </a:r>
                <a:r>
                  <a:rPr lang="ru-RU" sz="1800" dirty="0" smtClean="0"/>
                  <a:t>передается в следящее состояние как память.</a:t>
                </a:r>
              </a:p>
              <a:p>
                <a:pPr lvl="1">
                  <a:lnSpc>
                    <a:spcPct val="100000"/>
                  </a:lnSpc>
                  <a:spcBef>
                    <a:spcPts val="200"/>
                  </a:spcBef>
                </a:pPr>
                <a:r>
                  <a:rPr lang="ru-RU" sz="2200" dirty="0"/>
                  <a:t>Ячейки RNN содержат состояние внутренней памяти, которое действует как сжатое резюме прошлой информации.</a:t>
                </a:r>
              </a:p>
              <a:p>
                <a:pPr lvl="2">
                  <a:lnSpc>
                    <a:spcPct val="100000"/>
                  </a:lnSpc>
                  <a:spcBef>
                    <a:spcPts val="200"/>
                  </a:spcBef>
                </a:pPr>
                <a:r>
                  <a:rPr lang="ru-RU" sz="2200" dirty="0" smtClean="0"/>
                  <a:t>Традиционное </a:t>
                </a:r>
                <a:r>
                  <a:rPr lang="ru-RU" sz="2200" dirty="0"/>
                  <a:t>применение RNN - обработка естественного языка.</a:t>
                </a:r>
              </a:p>
              <a:p>
                <a:pPr lvl="2">
                  <a:lnSpc>
                    <a:spcPct val="100000"/>
                  </a:lnSpc>
                  <a:spcBef>
                    <a:spcPts val="200"/>
                  </a:spcBef>
                </a:pPr>
                <a:r>
                  <a:rPr lang="ru-RU" sz="2200" dirty="0" smtClean="0"/>
                  <a:t>В </a:t>
                </a:r>
                <a:r>
                  <a:rPr lang="ru-RU" sz="2200" dirty="0"/>
                  <a:t>последние годы для </a:t>
                </a:r>
                <a:r>
                  <a:rPr lang="ru-RU" sz="2200" dirty="0" smtClean="0"/>
                  <a:t>ВР было </a:t>
                </a:r>
                <a:r>
                  <a:rPr lang="ru-RU" sz="2200" dirty="0"/>
                  <a:t>разработано много архитектур на основе RNN.</a:t>
                </a:r>
              </a:p>
              <a:p>
                <a:pPr lvl="0">
                  <a:lnSpc>
                    <a:spcPct val="100000"/>
                  </a:lnSpc>
                  <a:spcBef>
                    <a:spcPts val="200"/>
                  </a:spcBef>
                </a:pPr>
                <a:endParaRPr lang="ru-RU" sz="2200" dirty="0"/>
              </a:p>
            </p:txBody>
          </p:sp>
        </mc:Choice>
        <mc:Fallback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34231" y="889726"/>
                <a:ext cx="11738806" cy="6140153"/>
              </a:xfrm>
              <a:blipFill>
                <a:blip r:embed="rId2"/>
                <a:stretch>
                  <a:fillRect l="-571" t="-695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12" name="Рисунок 1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5471" y="3898245"/>
            <a:ext cx="4220804" cy="2837060"/>
          </a:xfrm>
          <a:prstGeom prst="rect">
            <a:avLst/>
          </a:prstGeom>
        </p:spPr>
      </p:pic>
      <p:pic>
        <p:nvPicPr>
          <p:cNvPr id="11" name="Picture 2" descr="https://neerc.ifmo.ru/wiki/images/thumb/1/18/RNN_BPTT.jpg/450px-RNN_BPTT.jpg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19926" y="4272937"/>
            <a:ext cx="5092698" cy="25237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" name="Picture 4" descr="https://neerc.ifmo.ru/wiki/images/thumb/a/a6/RNN_BP.jpg/450px-RNN_BP.jpg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365" y="4412772"/>
            <a:ext cx="2927561" cy="23225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8395147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rmAutofit fontScale="90000"/>
          </a:bodyPr>
          <a:lstStyle/>
          <a:p>
            <a:pPr algn="l" rtl="0"/>
            <a:r>
              <a:rPr lang="en-US" b="1" dirty="0" smtClean="0"/>
              <a:t>RNN </a:t>
            </a:r>
            <a:r>
              <a:rPr lang="ru-RU" b="1" dirty="0" smtClean="0"/>
              <a:t>типы подходов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367469" y="717846"/>
            <a:ext cx="11374451" cy="6140153"/>
          </a:xfrm>
        </p:spPr>
        <p:txBody>
          <a:bodyPr>
            <a:noAutofit/>
          </a:bodyPr>
          <a:lstStyle/>
          <a:p>
            <a:pPr lvl="0"/>
            <a:r>
              <a:rPr lang="ru-RU" sz="2000" u="sng" dirty="0"/>
              <a:t>Самый универсальный подход глубокого обучения к анализу временных рядов - это многие ко многим </a:t>
            </a:r>
            <a:r>
              <a:rPr lang="ru-RU" sz="2000" dirty="0"/>
              <a:t> (или  </a:t>
            </a:r>
            <a:r>
              <a:rPr lang="ru-RU" sz="2000" b="1" dirty="0"/>
              <a:t>Sequence2Sequence, Seq2Seq</a:t>
            </a:r>
            <a:r>
              <a:rPr lang="ru-RU" sz="2000" dirty="0"/>
              <a:t> ).</a:t>
            </a:r>
          </a:p>
          <a:p>
            <a:pPr lvl="0"/>
            <a:r>
              <a:rPr lang="ru-RU" sz="2000" b="1" dirty="0"/>
              <a:t>Seq2Seq</a:t>
            </a:r>
            <a:r>
              <a:rPr lang="ru-RU" sz="2000" dirty="0"/>
              <a:t>  подход  </a:t>
            </a:r>
            <a:r>
              <a:rPr lang="ru-RU" sz="2000" u="sng" dirty="0"/>
              <a:t>можно интерпретировать как модель кодера-декодера.</a:t>
            </a:r>
            <a:endParaRPr lang="ru-RU" sz="2000" dirty="0"/>
          </a:p>
          <a:p>
            <a:pPr lvl="0"/>
            <a:r>
              <a:rPr lang="ru-RU" sz="2000" dirty="0"/>
              <a:t>В этом случае кодер используется для суммирования прошлой информации (т. Е. Целей, наблюдаемых входных данных и априори известных входных данных), а декодер - для создания новых прогнозов, классификации, оценки и прочего.</a:t>
            </a:r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2050" name="Picture 2" descr="RNN inputs and outputs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89785" y="2738464"/>
            <a:ext cx="5347007" cy="35961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Прямоугольник 5"/>
          <p:cNvSpPr/>
          <p:nvPr/>
        </p:nvSpPr>
        <p:spPr>
          <a:xfrm>
            <a:off x="5338916" y="6357973"/>
            <a:ext cx="6096000" cy="261610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ru-RU" sz="1100" dirty="0" smtClean="0"/>
              <a:t>https://www.bpesquet.fr/mlhandbook/algorithms/recurrent_neural_networks.html#rnn-fundamentals</a:t>
            </a:r>
            <a:endParaRPr lang="ru-RU" sz="1100" dirty="0"/>
          </a:p>
        </p:txBody>
      </p:sp>
    </p:spTree>
    <p:extLst>
      <p:ext uri="{BB962C8B-B14F-4D97-AF65-F5344CB8AC3E}">
        <p14:creationId xmlns:p14="http://schemas.microsoft.com/office/powerpoint/2010/main" val="415305251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r>
              <a:rPr lang="en-US" b="1" dirty="0" smtClean="0"/>
              <a:t>RNN</a:t>
            </a:r>
            <a:r>
              <a:rPr lang="en-US" b="1" dirty="0" smtClean="0"/>
              <a:t>. </a:t>
            </a:r>
            <a:r>
              <a:rPr lang="ru-RU" b="1" dirty="0" smtClean="0"/>
              <a:t>Особенности обучения</a:t>
            </a:r>
            <a:r>
              <a:rPr lang="en-US" b="1" dirty="0" smtClean="0"/>
              <a:t> </a:t>
            </a:r>
            <a:endParaRPr lang="en-US" b="1" dirty="0"/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8" name="Прямоугольник 7"/>
          <p:cNvSpPr/>
          <p:nvPr/>
        </p:nvSpPr>
        <p:spPr>
          <a:xfrm>
            <a:off x="6096000" y="6596389"/>
            <a:ext cx="6096000" cy="261610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ru-RU" sz="1100" dirty="0"/>
              <a:t>https://education.yandex.ru/handbook/ml/article/nejroseti-dlya-raboty-s-posledovatelnostyami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4" name="Объект 2"/>
              <p:cNvSpPr>
                <a:spLocks noGrp="1"/>
              </p:cNvSpPr>
              <p:nvPr>
                <p:ph idx="1"/>
              </p:nvPr>
            </p:nvSpPr>
            <p:spPr>
              <a:xfrm>
                <a:off x="73912" y="692787"/>
                <a:ext cx="11859444" cy="6088062"/>
              </a:xfrm>
            </p:spPr>
            <p:txBody>
              <a:bodyPr>
                <a:normAutofit fontScale="62500" lnSpcReduction="20000"/>
              </a:bodyPr>
              <a:lstStyle/>
              <a:p>
                <a:pPr marL="0" lvl="0" indent="0">
                  <a:lnSpc>
                    <a:spcPct val="120000"/>
                  </a:lnSpc>
                  <a:spcBef>
                    <a:spcPts val="300"/>
                  </a:spcBef>
                  <a:buNone/>
                </a:pPr>
                <a:r>
                  <a:rPr lang="ru-RU" sz="3400" dirty="0"/>
                  <a:t>При обучении </a:t>
                </a:r>
                <a:r>
                  <a:rPr lang="en-US" sz="3400" dirty="0"/>
                  <a:t>RNN </a:t>
                </a:r>
                <a:r>
                  <a:rPr lang="ru-RU" sz="3400" dirty="0"/>
                  <a:t>функция потерь </a:t>
                </a:r>
                <a14:m>
                  <m:oMath xmlns:m="http://schemas.openxmlformats.org/officeDocument/2006/math">
                    <m:r>
                      <a:rPr lang="en-US" sz="3400" i="1" dirty="0">
                        <a:latin typeface="Cambria Math" panose="02040503050406030204" pitchFamily="18" charset="0"/>
                      </a:rPr>
                      <m:t>𝐿</m:t>
                    </m:r>
                  </m:oMath>
                </a14:m>
                <a:endParaRPr lang="ru-RU" sz="3400" dirty="0"/>
              </a:p>
              <a:p>
                <a:pPr marL="0" lvl="0" indent="0" algn="ctr">
                  <a:lnSpc>
                    <a:spcPct val="120000"/>
                  </a:lnSpc>
                  <a:spcBef>
                    <a:spcPts val="300"/>
                  </a:spcBef>
                  <a:buNone/>
                </a:pPr>
                <a:r>
                  <a:rPr lang="ru-RU" sz="3400" dirty="0"/>
                  <a:t> </a:t>
                </a:r>
                <a14:m>
                  <m:oMath xmlns:m="http://schemas.openxmlformats.org/officeDocument/2006/math">
                    <m:r>
                      <a:rPr lang="en-US" sz="3400" i="1" dirty="0">
                        <a:latin typeface="Cambria Math" panose="02040503050406030204" pitchFamily="18" charset="0"/>
                      </a:rPr>
                      <m:t>𝐿</m:t>
                    </m:r>
                    <m:r>
                      <a:rPr lang="en-US" sz="3400" i="1" dirty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3400" i="1" dirty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sz="34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34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3400" i="1" dirty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sz="3400" i="1" dirty="0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en-US" sz="3400" i="1" dirty="0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  <m:r>
                          <a:rPr lang="en-US" sz="3400" i="1" dirty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sz="34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en-US" sz="3400" i="1" dirty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sz="3400" i="1" dirty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acc>
                          </m:e>
                          <m:sub>
                            <m:r>
                              <a:rPr lang="en-US" sz="3400" i="1" dirty="0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en-US" sz="3400" i="1" dirty="0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</m:e>
                    </m:d>
                    <m:r>
                      <a:rPr lang="en-US" sz="3400" i="1" dirty="0">
                        <a:latin typeface="Cambria Math" panose="02040503050406030204" pitchFamily="18" charset="0"/>
                      </a:rPr>
                      <m:t>→</m:t>
                    </m:r>
                    <m:r>
                      <a:rPr lang="en-US" sz="3400" i="1" dirty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sz="34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34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3400" i="1" dirty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sz="3400" i="1" dirty="0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en-US" sz="3400" i="1" dirty="0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  <m:r>
                          <a:rPr lang="en-US" sz="3400" i="1" dirty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3400" i="1" dirty="0">
                            <a:latin typeface="Cambria Math" panose="02040503050406030204" pitchFamily="18" charset="0"/>
                          </a:rPr>
                          <m:t> (</m:t>
                        </m:r>
                        <m:sSub>
                          <m:sSubPr>
                            <m:ctrlPr>
                              <a:rPr lang="en-US" sz="34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3400" i="1" dirty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sz="3400" i="1" dirty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r>
                          <a:rPr lang="en-US" sz="3400" i="1" dirty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sz="34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3400" i="1" dirty="0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en-US" sz="3400" i="1" dirty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r>
                          <a:rPr lang="en-US" sz="3400" i="1" dirty="0">
                            <a:latin typeface="Cambria Math" panose="02040503050406030204" pitchFamily="18" charset="0"/>
                          </a:rPr>
                          <m:t>) </m:t>
                        </m:r>
                      </m:e>
                    </m:d>
                  </m:oMath>
                </a14:m>
                <a:endParaRPr lang="en-US" sz="3400" dirty="0"/>
              </a:p>
              <a:p>
                <a:pPr marL="0" lvl="0" indent="0">
                  <a:lnSpc>
                    <a:spcPct val="120000"/>
                  </a:lnSpc>
                  <a:spcBef>
                    <a:spcPts val="300"/>
                  </a:spcBef>
                  <a:buNone/>
                </a:pPr>
                <a:r>
                  <a:rPr lang="ru-RU" sz="3400" dirty="0"/>
                  <a:t>Так как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34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3400" i="1" dirty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sz="3400" i="1" dirty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3400" i="1" dirty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ru-RU" sz="3400" i="1" dirty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3400" i="1" dirty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sz="3400" i="1" dirty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sz="34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3400" i="1" dirty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sz="3400" i="1" dirty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sSub>
                      <m:sSubPr>
                        <m:ctrlPr>
                          <a:rPr lang="en-US" sz="34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3400" i="1" dirty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sz="3400" i="1" dirty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sz="3400" i="1" dirty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3400" i="1" dirty="0">
                        <a:latin typeface="Cambria Math" panose="02040503050406030204" pitchFamily="18" charset="0"/>
                      </a:rPr>
                      <m:t>𝐵</m:t>
                    </m:r>
                    <m:sSub>
                      <m:sSubPr>
                        <m:ctrlPr>
                          <a:rPr lang="en-US" sz="34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3400" i="1" dirty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sz="3400" i="1" dirty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sz="3400" i="1" dirty="0">
                        <a:latin typeface="Cambria Math" panose="02040503050406030204" pitchFamily="18" charset="0"/>
                      </a:rPr>
                      <m:t>+</m:t>
                    </m:r>
                    <m:sSubSup>
                      <m:sSubSupPr>
                        <m:ctrlPr>
                          <a:rPr lang="en-US" sz="3400" i="1" dirty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3400" i="1" dirty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sz="3400" i="1" dirty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  <m:sup>
                        <m:r>
                          <a:rPr lang="en-US" sz="3400" i="1" dirty="0">
                            <a:latin typeface="Cambria Math" panose="02040503050406030204" pitchFamily="18" charset="0"/>
                          </a:rPr>
                          <m:t>0</m:t>
                        </m:r>
                      </m:sup>
                    </m:sSubSup>
                    <m:r>
                      <a:rPr lang="en-US" sz="3400" i="1" dirty="0">
                        <a:latin typeface="Cambria Math" panose="02040503050406030204" pitchFamily="18" charset="0"/>
                      </a:rPr>
                      <m:t>)</m:t>
                    </m:r>
                    <m:r>
                      <a:rPr lang="en-US" sz="3400" i="1" dirty="0">
                        <a:latin typeface="Cambria Math" panose="02040503050406030204" pitchFamily="18" charset="0"/>
                      </a:rPr>
                      <m:t>,</m:t>
                    </m:r>
                  </m:oMath>
                </a14:m>
                <a:r>
                  <a:rPr lang="en-US" sz="3400" dirty="0"/>
                  <a:t> </a:t>
                </a:r>
                <a:r>
                  <a:rPr lang="ru-RU" sz="3400" dirty="0"/>
                  <a:t>тогда</a:t>
                </a:r>
                <a:endParaRPr lang="en-US" sz="3400" dirty="0"/>
              </a:p>
              <a:p>
                <a:pPr marL="0" lvl="0" indent="0">
                  <a:lnSpc>
                    <a:spcPct val="120000"/>
                  </a:lnSpc>
                  <a:spcBef>
                    <a:spcPts val="3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400" i="1" dirty="0">
                          <a:latin typeface="Cambria Math" panose="02040503050406030204" pitchFamily="18" charset="0"/>
                        </a:rPr>
                        <m:t>𝐿</m:t>
                      </m:r>
                      <m:r>
                        <a:rPr lang="en-US" sz="3400" i="1" dirty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3400" i="1" dirty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sz="34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34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400" i="1" dirty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sz="3400" i="1" dirty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en-US" sz="3400" i="1" dirty="0"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</m:sub>
                          </m:sSub>
                          <m:r>
                            <a:rPr lang="en-US" sz="3400" i="1" dirty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34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̂"/>
                                  <m:ctrlPr>
                                    <a:rPr lang="en-US" sz="34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sz="3400" i="1" dirty="0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sz="3400" i="1" dirty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en-US" sz="3400" i="1" dirty="0"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</m:sub>
                          </m:sSub>
                        </m:e>
                      </m:d>
                      <m:r>
                        <a:rPr lang="en-US" sz="3400" i="1" dirty="0"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sz="3400" i="1" dirty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sz="34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34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400" i="1" dirty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sz="3400" i="1" dirty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en-US" sz="3400" i="1" dirty="0"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</m:sub>
                          </m:sSub>
                          <m:r>
                            <a:rPr lang="en-US" sz="3400" i="1" dirty="0">
                              <a:latin typeface="Cambria Math" panose="02040503050406030204" pitchFamily="18" charset="0"/>
                            </a:rPr>
                            <m:t>, (</m:t>
                          </m:r>
                          <m:sSub>
                            <m:sSubPr>
                              <m:ctrlPr>
                                <a:rPr lang="en-US" sz="34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400" i="1" dirty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sz="3400" i="1" dirty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en-US" sz="3400" i="1" dirty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34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400" i="1" dirty="0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  <m:sub>
                              <m:r>
                                <a:rPr lang="en-US" sz="3400" i="1" dirty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en-US" sz="3400" i="1" dirty="0">
                              <a:latin typeface="Cambria Math" panose="02040503050406030204" pitchFamily="18" charset="0"/>
                            </a:rPr>
                            <m:t>) </m:t>
                          </m:r>
                        </m:e>
                      </m:d>
                      <m:r>
                        <a:rPr lang="en-US" sz="3400" i="1" dirty="0"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sz="3400" i="1" dirty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sz="34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34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400" i="1" dirty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sz="3400" i="1" dirty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en-US" sz="3400" i="1" dirty="0"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</m:sub>
                          </m:sSub>
                          <m:r>
                            <a:rPr lang="en-US" sz="3400" i="1" dirty="0">
                              <a:latin typeface="Cambria Math" panose="02040503050406030204" pitchFamily="18" charset="0"/>
                            </a:rPr>
                            <m:t>, (</m:t>
                          </m:r>
                          <m:sSub>
                            <m:sSubPr>
                              <m:ctrlPr>
                                <a:rPr lang="en-US" sz="34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400" i="1" dirty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sz="3400" i="1" dirty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en-US" sz="3400" i="1" dirty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3400" i="1" dirty="0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US" sz="34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400" i="1" dirty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sz="3400" i="1" dirty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en-US" sz="3400" i="1" dirty="0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b>
                          </m:sSub>
                          <m:r>
                            <a:rPr lang="en-US" sz="3400" i="1" dirty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34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400" i="1" dirty="0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  <m:sub>
                              <m:r>
                                <a:rPr lang="en-US" sz="3400" i="1" dirty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en-US" sz="3400" i="1" dirty="0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b>
                          </m:sSub>
                          <m:r>
                            <a:rPr lang="en-US" sz="3400" i="1" dirty="0">
                              <a:latin typeface="Cambria Math" panose="02040503050406030204" pitchFamily="18" charset="0"/>
                            </a:rPr>
                            <m:t>)</m:t>
                          </m:r>
                          <m:r>
                            <a:rPr lang="en-US" sz="3400" i="1" dirty="0">
                              <a:latin typeface="Cambria Math" panose="02040503050406030204" pitchFamily="18" charset="0"/>
                            </a:rPr>
                            <m:t>) </m:t>
                          </m:r>
                        </m:e>
                      </m:d>
                      <m:r>
                        <a:rPr lang="en-US" sz="3400" i="1" dirty="0">
                          <a:latin typeface="Cambria Math" panose="02040503050406030204" pitchFamily="18" charset="0"/>
                        </a:rPr>
                        <m:t>→…</m:t>
                      </m:r>
                    </m:oMath>
                  </m:oMathPara>
                </a14:m>
                <a:endParaRPr lang="en-US" sz="3400" dirty="0"/>
              </a:p>
              <a:p>
                <a:pPr marL="0" lvl="0" indent="0">
                  <a:lnSpc>
                    <a:spcPct val="120000"/>
                  </a:lnSpc>
                  <a:spcBef>
                    <a:spcPts val="300"/>
                  </a:spcBef>
                  <a:buNone/>
                </a:pPr>
                <a:r>
                  <a:rPr lang="ru-RU" sz="2600" dirty="0"/>
                  <a:t>Функция потерь оценки предсказания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6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600" i="1" dirty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sz="2600" i="1" dirty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2600" i="1" dirty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</m:oMath>
                </a14:m>
                <a:r>
                  <a:rPr lang="ru-RU" sz="2600" dirty="0"/>
                  <a:t> зависит от всех предыдущих состояний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6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600" i="1" dirty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sz="2600" i="1" dirty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sz="2600" i="1" dirty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sz="26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600" i="1" dirty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sz="2600" i="1" dirty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US" sz="2600" dirty="0"/>
                  <a:t> </a:t>
                </a:r>
                <a:r>
                  <a:rPr lang="ru-RU" sz="2600" dirty="0"/>
                  <a:t>до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6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600" i="1" dirty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ru-RU" sz="2600" i="1" dirty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sz="2600" i="1" dirty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sz="26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600" i="1" dirty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ru-RU" sz="2600" i="1" dirty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ru-RU" sz="2600" dirty="0"/>
                  <a:t>.</a:t>
                </a:r>
              </a:p>
              <a:p>
                <a:pPr lvl="0">
                  <a:lnSpc>
                    <a:spcPct val="120000"/>
                  </a:lnSpc>
                  <a:spcBef>
                    <a:spcPts val="300"/>
                  </a:spcBef>
                </a:pPr>
                <a:r>
                  <a:rPr lang="ru-RU" sz="3400" dirty="0"/>
                  <a:t>Градиент функции потерь (обновление весовых параметров, задающее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34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3400" i="1" dirty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sz="3400" i="1" dirty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ru-RU" sz="3400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ru-RU" sz="3400" dirty="0"/>
                  <a:t> будет также зависеть от состояний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3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3400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sz="3400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3400" i="1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 lang="en-US" sz="3400" i="1">
                        <a:latin typeface="Cambria Math" panose="02040503050406030204" pitchFamily="18" charset="0"/>
                      </a:rPr>
                      <m:t>,…,</m:t>
                    </m:r>
                    <m:sSub>
                      <m:sSubPr>
                        <m:ctrlPr>
                          <a:rPr lang="en-US" sz="3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3400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sz="34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en-US" sz="3400" dirty="0"/>
                  <a:t>.</a:t>
                </a:r>
              </a:p>
              <a:p>
                <a:pPr lvl="0">
                  <a:lnSpc>
                    <a:spcPct val="120000"/>
                  </a:lnSpc>
                  <a:spcBef>
                    <a:spcPts val="300"/>
                  </a:spcBef>
                </a:pPr>
                <a:r>
                  <a:rPr lang="ru-RU" sz="3400" dirty="0"/>
                  <a:t>Обновление весовых параметров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34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3400" i="1" dirty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sz="3400" i="1" dirty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ru-RU" sz="3400" dirty="0"/>
                  <a:t> и </a:t>
                </a:r>
                <a14:m>
                  <m:oMath xmlns:m="http://schemas.openxmlformats.org/officeDocument/2006/math">
                    <m:r>
                      <a:rPr lang="en-US" sz="3400" i="1" dirty="0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ru-RU" sz="3400" dirty="0"/>
                  <a:t> завесит от </a:t>
                </a:r>
                <a:r>
                  <a:rPr lang="ru-RU" sz="3400" dirty="0"/>
                  <a:t>от всех предыдущих состояний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34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3400" i="1" dirty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sz="3400" i="1" dirty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sz="3400" i="1" dirty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sz="34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3400" i="1" dirty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sz="3400" i="1" dirty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US" sz="3400" dirty="0"/>
                  <a:t> </a:t>
                </a:r>
                <a:r>
                  <a:rPr lang="ru-RU" sz="3400" dirty="0"/>
                  <a:t>до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34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3400" i="1" dirty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ru-RU" sz="3400" i="1" dirty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sz="3400" i="1" dirty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sz="34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3400" i="1" dirty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ru-RU" sz="3400" i="1" dirty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endParaRPr lang="ru-RU" sz="3400" dirty="0"/>
              </a:p>
              <a:p>
                <a:pPr marL="0" lvl="0" indent="0">
                  <a:lnSpc>
                    <a:spcPct val="120000"/>
                  </a:lnSpc>
                  <a:spcBef>
                    <a:spcPts val="3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3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34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en-US" sz="3400" i="1">
                              <a:latin typeface="Cambria Math" panose="02040503050406030204" pitchFamily="18" charset="0"/>
                            </a:rPr>
                            <m:t>𝐿</m:t>
                          </m:r>
                        </m:num>
                        <m:den>
                          <m:r>
                            <a:rPr lang="en-US" sz="34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en-US" sz="3400" i="1">
                              <a:latin typeface="Cambria Math" panose="02040503050406030204" pitchFamily="18" charset="0"/>
                            </a:rPr>
                            <m:t>𝐵</m:t>
                          </m:r>
                        </m:den>
                      </m:f>
                      <m:r>
                        <a:rPr lang="en-US" sz="34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3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34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en-US" sz="3400" i="1">
                              <a:latin typeface="Cambria Math" panose="02040503050406030204" pitchFamily="18" charset="0"/>
                            </a:rPr>
                            <m:t>𝐿</m:t>
                          </m:r>
                        </m:num>
                        <m:den>
                          <m:r>
                            <a:rPr lang="en-US" sz="3400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en-US" sz="3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400" i="1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  <m:sub>
                              <m:r>
                                <a:rPr lang="en-US" sz="34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en-US" sz="3400" i="1"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</m:sub>
                          </m:sSub>
                        </m:den>
                      </m:f>
                      <m:f>
                        <m:fPr>
                          <m:ctrlPr>
                            <a:rPr lang="en-US" sz="3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3400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en-US" sz="3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400" i="1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  <m:sub>
                              <m:r>
                                <a:rPr lang="en-US" sz="34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en-US" sz="3400" i="1"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</m:sub>
                          </m:sSub>
                        </m:num>
                        <m:den>
                          <m:r>
                            <a:rPr lang="en-US" sz="34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en-US" sz="3400" i="1">
                              <a:latin typeface="Cambria Math" panose="02040503050406030204" pitchFamily="18" charset="0"/>
                            </a:rPr>
                            <m:t>𝐵</m:t>
                          </m:r>
                        </m:den>
                      </m:f>
                      <m:r>
                        <a:rPr lang="ru-RU" sz="34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3400" i="1"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en-US" sz="3400" i="1">
                          <a:latin typeface="Cambria Math" panose="02040503050406030204" pitchFamily="18" charset="0"/>
                        </a:rPr>
                        <m:t>′</m:t>
                      </m:r>
                      <m:d>
                        <m:dPr>
                          <m:ctrlPr>
                            <a:rPr lang="en-US" sz="3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3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400" i="1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  <m:sub>
                              <m:r>
                                <a:rPr lang="en-US" sz="34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  <m:r>
                        <a:rPr lang="en-US" sz="34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3400" i="1"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en-US" sz="3400" i="1">
                          <a:latin typeface="Cambria Math" panose="02040503050406030204" pitchFamily="18" charset="0"/>
                        </a:rPr>
                        <m:t>′</m:t>
                      </m:r>
                      <m:d>
                        <m:dPr>
                          <m:ctrlPr>
                            <a:rPr lang="en-US" sz="3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34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400" i="1" dirty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sz="3400" i="1" dirty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34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400" i="1" dirty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sz="3400" i="1" dirty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en-US" sz="3400" i="1" dirty="0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b>
                          </m:sSub>
                          <m:r>
                            <a:rPr lang="en-US" sz="3400" i="1" dirty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3400" i="1" dirty="0">
                              <a:latin typeface="Cambria Math" panose="02040503050406030204" pitchFamily="18" charset="0"/>
                            </a:rPr>
                            <m:t>𝐵</m:t>
                          </m:r>
                          <m:sSub>
                            <m:sSubPr>
                              <m:ctrlPr>
                                <a:rPr lang="en-US" sz="34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400" i="1" dirty="0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  <m:sub>
                              <m:r>
                                <a:rPr lang="en-US" sz="3400" i="1" dirty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en-US" sz="3400" i="1" dirty="0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b>
                          </m:sSub>
                          <m:r>
                            <a:rPr lang="en-US" sz="3400" i="1" dirty="0">
                              <a:latin typeface="Cambria Math" panose="02040503050406030204" pitchFamily="18" charset="0"/>
                            </a:rPr>
                            <m:t>+</m:t>
                          </m:r>
                          <m:sSubSup>
                            <m:sSubSupPr>
                              <m:ctrlPr>
                                <a:rPr lang="en-US" sz="3400" i="1" dirty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3400" i="1" dirty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en-US" sz="3400" i="1" dirty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  <m:sup>
                              <m:r>
                                <a:rPr lang="en-US" sz="3400" i="1" dirty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p>
                          </m:sSubSup>
                        </m:e>
                      </m:d>
                      <m:r>
                        <a:rPr lang="en-US" sz="3400" i="1">
                          <a:latin typeface="Cambria Math" panose="02040503050406030204" pitchFamily="18" charset="0"/>
                        </a:rPr>
                        <m:t>;</m:t>
                      </m:r>
                    </m:oMath>
                  </m:oMathPara>
                </a14:m>
                <a:endParaRPr lang="en-US" sz="3400" dirty="0"/>
              </a:p>
              <a:p>
                <a:pPr lvl="1">
                  <a:lnSpc>
                    <a:spcPct val="120000"/>
                  </a:lnSpc>
                  <a:spcBef>
                    <a:spcPts val="300"/>
                  </a:spcBef>
                </a:pPr>
                <a:r>
                  <a:rPr lang="ru-RU" sz="2600" dirty="0" smtClean="0"/>
                  <a:t>Такая </a:t>
                </a:r>
                <a:r>
                  <a:rPr lang="ru-RU" sz="2600" dirty="0"/>
                  <a:t>же рекуррентен зависимость будет при обновлении </a:t>
                </a:r>
                <a14:m>
                  <m:oMath xmlns:m="http://schemas.openxmlformats.org/officeDocument/2006/math">
                    <m:r>
                      <a:rPr lang="en-US" sz="2600" i="1" dirty="0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ru-RU" sz="2600" dirty="0"/>
                  <a:t>  для шага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6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600" i="1" dirty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sz="2600" i="1" dirty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2600" i="1" dirty="0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</m:oMath>
                </a14:m>
                <a:endParaRPr lang="ru-RU" sz="2600" dirty="0"/>
              </a:p>
              <a:p>
                <a:pPr marL="0" lvl="0" indent="0">
                  <a:lnSpc>
                    <a:spcPct val="120000"/>
                  </a:lnSpc>
                  <a:spcBef>
                    <a:spcPts val="300"/>
                  </a:spcBef>
                  <a:buNone/>
                </a:pPr>
                <a:r>
                  <a:rPr lang="ru-RU" sz="3400" dirty="0" smtClean="0"/>
                  <a:t>Для </a:t>
                </a:r>
                <a:r>
                  <a:rPr lang="ru-RU" sz="3400" dirty="0"/>
                  <a:t>вычисления градиента </a:t>
                </a:r>
                <a14:m>
                  <m:oMath xmlns:m="http://schemas.openxmlformats.org/officeDocument/2006/math">
                    <m:r>
                      <a:rPr lang="en-US" sz="3400" i="1">
                        <a:latin typeface="Cambria Math" panose="02040503050406030204" pitchFamily="18" charset="0"/>
                      </a:rPr>
                      <m:t>𝐿</m:t>
                    </m:r>
                  </m:oMath>
                </a14:m>
                <a:r>
                  <a:rPr lang="ru-RU" sz="3400" dirty="0" smtClean="0"/>
                  <a:t> </a:t>
                </a:r>
                <a:r>
                  <a:rPr lang="ru-RU" sz="3400" dirty="0"/>
                  <a:t>на шаге </a:t>
                </a:r>
                <a14:m>
                  <m:oMath xmlns:m="http://schemas.openxmlformats.org/officeDocument/2006/math">
                    <m:r>
                      <a:rPr lang="en-US" sz="3400" i="1" dirty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sz="3400" i="1" dirty="0">
                        <a:latin typeface="Cambria Math" panose="02040503050406030204" pitchFamily="18" charset="0"/>
                      </a:rPr>
                      <m:t>+1</m:t>
                    </m:r>
                  </m:oMath>
                </a14:m>
                <a:r>
                  <a:rPr lang="ru-RU" sz="3400" dirty="0"/>
                  <a:t> нужно </a:t>
                </a:r>
                <a14:m>
                  <m:oMath xmlns:m="http://schemas.openxmlformats.org/officeDocument/2006/math">
                    <m:r>
                      <a:rPr lang="en-US" sz="3400" i="1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3400" dirty="0"/>
                  <a:t> </a:t>
                </a:r>
                <a:r>
                  <a:rPr lang="ru-RU" sz="3400" dirty="0"/>
                  <a:t>раз обновить весовые параметры </a:t>
                </a:r>
                <a14:m>
                  <m:oMath xmlns:m="http://schemas.openxmlformats.org/officeDocument/2006/math">
                    <m:r>
                      <a:rPr lang="en-US" sz="3400" i="1" dirty="0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ru-RU" sz="3400" dirty="0"/>
                  <a:t>. </a:t>
                </a:r>
              </a:p>
              <a:p>
                <a:pPr lvl="1">
                  <a:lnSpc>
                    <a:spcPct val="120000"/>
                  </a:lnSpc>
                  <a:spcBef>
                    <a:spcPts val="300"/>
                  </a:spcBef>
                </a:pPr>
                <a:r>
                  <a:rPr lang="ru-RU" sz="2600" dirty="0" smtClean="0"/>
                  <a:t>Аналогично </a:t>
                </a:r>
                <a:r>
                  <a:rPr lang="ru-RU" sz="2600" dirty="0"/>
                  <a:t>для весовых коэффициентов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6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600" i="1" dirty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sz="2600" i="1" dirty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ru-RU" sz="2600" dirty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ru-RU" sz="2600" dirty="0"/>
              </a:p>
              <a:p>
                <a:pPr marL="0" lvl="0" indent="0">
                  <a:lnSpc>
                    <a:spcPct val="120000"/>
                  </a:lnSpc>
                  <a:spcBef>
                    <a:spcPts val="300"/>
                  </a:spcBef>
                  <a:buNone/>
                </a:pPr>
                <a:r>
                  <a:rPr lang="ru-RU" sz="3400" dirty="0"/>
                  <a:t>Если в одном из шагов </a:t>
                </a:r>
                <a14:m>
                  <m:oMath xmlns:m="http://schemas.openxmlformats.org/officeDocument/2006/math">
                    <m:r>
                      <a:rPr lang="en-US" sz="3400" i="1" dirty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sz="3400" i="1" dirty="0">
                        <a:latin typeface="Cambria Math" panose="02040503050406030204" pitchFamily="18" charset="0"/>
                      </a:rPr>
                      <m:t>∈(0,</m:t>
                    </m:r>
                    <m:r>
                      <a:rPr lang="en-US" sz="3400" i="1" dirty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sz="3400" i="1" dirty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sz="3400" dirty="0"/>
                  <a:t> </a:t>
                </a:r>
                <a:r>
                  <a:rPr lang="ru-RU" sz="3400" dirty="0"/>
                  <a:t>произойдет «взрыв градиента», то на всех последующих шагах градиент будет врываться бесконечно</a:t>
                </a:r>
              </a:p>
              <a:p>
                <a:pPr lvl="1">
                  <a:lnSpc>
                    <a:spcPct val="120000"/>
                  </a:lnSpc>
                  <a:spcBef>
                    <a:spcPts val="300"/>
                  </a:spcBef>
                </a:pPr>
                <a:r>
                  <a:rPr lang="ru-RU" sz="2600" dirty="0" smtClean="0"/>
                  <a:t>Аналогично </a:t>
                </a:r>
                <a:r>
                  <a:rPr lang="ru-RU" sz="2600" dirty="0"/>
                  <a:t>для вымывания градиента.</a:t>
                </a:r>
              </a:p>
              <a:p>
                <a:endParaRPr lang="ru-RU" dirty="0"/>
              </a:p>
            </p:txBody>
          </p:sp>
        </mc:Choice>
        <mc:Fallback>
          <p:sp>
            <p:nvSpPr>
              <p:cNvPr id="14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3912" y="692787"/>
                <a:ext cx="11859444" cy="6088062"/>
              </a:xfrm>
              <a:blipFill>
                <a:blip r:embed="rId2"/>
                <a:stretch>
                  <a:fillRect l="-617" t="-701" r="-617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Прямоугольник 10"/>
          <p:cNvSpPr/>
          <p:nvPr/>
        </p:nvSpPr>
        <p:spPr>
          <a:xfrm>
            <a:off x="1069975" y="6084008"/>
            <a:ext cx="11262796" cy="5847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>
              <a:lnSpc>
                <a:spcPct val="100000"/>
              </a:lnSpc>
              <a:spcBef>
                <a:spcPts val="0"/>
              </a:spcBef>
            </a:pPr>
            <a:r>
              <a:rPr lang="ru-RU" altLang="ru-RU" sz="1600" b="1" dirty="0"/>
              <a:t>отметим, что следствием высокой вероятности переобучения является не возможность сделать рекуррентные сети слишком глубокими. </a:t>
            </a:r>
            <a:r>
              <a:rPr lang="ru-RU" altLang="ru-RU" sz="1600" dirty="0" smtClean="0">
                <a:latin typeface="-apple-system"/>
              </a:rPr>
              <a:t>Архитектуры</a:t>
            </a:r>
            <a:r>
              <a:rPr lang="ru-RU" altLang="ru-RU" sz="1600" dirty="0">
                <a:latin typeface="-apple-system"/>
              </a:rPr>
              <a:t>, содержащие более 4 двунаправленных слоев это редкость</a:t>
            </a:r>
            <a:endParaRPr lang="ru-RU" sz="1600" dirty="0"/>
          </a:p>
        </p:txBody>
      </p:sp>
    </p:spTree>
    <p:extLst>
      <p:ext uri="{BB962C8B-B14F-4D97-AF65-F5344CB8AC3E}">
        <p14:creationId xmlns:p14="http://schemas.microsoft.com/office/powerpoint/2010/main" val="271474315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314210" y="260351"/>
            <a:ext cx="11030065" cy="615950"/>
          </a:xfrm>
        </p:spPr>
        <p:txBody>
          <a:bodyPr>
            <a:normAutofit fontScale="90000"/>
          </a:bodyPr>
          <a:lstStyle/>
          <a:p>
            <a:pPr algn="ctr"/>
            <a:r>
              <a:rPr lang="en-US" b="1" dirty="0"/>
              <a:t>RNN. </a:t>
            </a:r>
            <a:r>
              <a:rPr lang="ru-RU" b="1" dirty="0" smtClean="0"/>
              <a:t>Ограниченное</a:t>
            </a:r>
            <a:r>
              <a:rPr lang="en-US" b="1" dirty="0" smtClean="0"/>
              <a:t> </a:t>
            </a:r>
            <a:r>
              <a:rPr lang="ru-RU" b="1" dirty="0" smtClean="0"/>
              <a:t>обучение</a:t>
            </a:r>
            <a:endParaRPr lang="ru-RU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>
              <a:xfrm>
                <a:off x="0" y="809627"/>
                <a:ext cx="11680722" cy="5195887"/>
              </a:xfrm>
            </p:spPr>
            <p:txBody>
              <a:bodyPr>
                <a:normAutofit/>
              </a:bodyPr>
              <a:lstStyle/>
              <a:p>
                <a:pPr marL="0" lv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r>
                  <a:rPr lang="ru-RU" sz="2200" dirty="0"/>
                  <a:t>Одна из  </a:t>
                </a:r>
                <a:r>
                  <a:rPr lang="ru-RU" sz="2200" b="1" dirty="0"/>
                  <a:t>основных проблем простых RNN (</a:t>
                </a:r>
                <a:r>
                  <a:rPr lang="ru-RU" sz="2200" b="1" dirty="0" err="1"/>
                  <a:t>vanilla</a:t>
                </a:r>
                <a:r>
                  <a:rPr lang="ru-RU" sz="2200" b="1" dirty="0"/>
                  <a:t> RNN)</a:t>
                </a:r>
                <a:r>
                  <a:rPr lang="ru-RU" sz="2200" dirty="0"/>
                  <a:t>  - это </a:t>
                </a:r>
                <a:r>
                  <a:rPr lang="ru-RU" sz="2200" b="1" dirty="0"/>
                  <a:t>взрыв веса (или градиента) и вымывание градиента</a:t>
                </a:r>
                <a:r>
                  <a:rPr lang="ru-RU" sz="2200" dirty="0"/>
                  <a:t>,</a:t>
                </a:r>
              </a:p>
              <a:p>
                <a:pPr lvl="1">
                  <a:lnSpc>
                    <a:spcPct val="100000"/>
                  </a:lnSpc>
                  <a:spcBef>
                    <a:spcPts val="0"/>
                  </a:spcBef>
                </a:pPr>
                <a:r>
                  <a:rPr lang="ru-RU" sz="2200" dirty="0"/>
                  <a:t>Таким образом, только некоторая часть серии может быть обработана как вход RNN. </a:t>
                </a:r>
              </a:p>
              <a:p>
                <a:pPr lvl="1">
                  <a:lnSpc>
                    <a:spcPct val="100000"/>
                  </a:lnSpc>
                  <a:spcBef>
                    <a:spcPts val="0"/>
                  </a:spcBef>
                </a:pPr>
                <a:r>
                  <a:rPr lang="ru-RU" sz="2200" dirty="0"/>
                  <a:t>Другими словами длина контекста </a:t>
                </a:r>
                <a:r>
                  <a:rPr lang="en-US" sz="2200" dirty="0"/>
                  <a:t>RNN </a:t>
                </a:r>
                <a:r>
                  <a:rPr lang="ru-RU" sz="2200" dirty="0"/>
                  <a:t>должна быть ограничена</a:t>
                </a:r>
                <a:r>
                  <a:rPr lang="ru-RU" sz="2200" dirty="0" smtClean="0"/>
                  <a:t>.</a:t>
                </a:r>
              </a:p>
              <a:p>
                <a:pPr marL="342900" lvl="1" indent="-342900">
                  <a:lnSpc>
                    <a:spcPct val="100000"/>
                  </a:lnSpc>
                  <a:spcBef>
                    <a:spcPts val="0"/>
                  </a:spcBef>
                </a:pPr>
                <a:r>
                  <a:rPr lang="ru-RU" sz="2200" b="1" dirty="0" smtClean="0"/>
                  <a:t>Усечение </a:t>
                </a:r>
                <a:r>
                  <a:rPr lang="ru-RU" sz="2200" b="1" dirty="0"/>
                  <a:t>обучение </a:t>
                </a:r>
                <a:r>
                  <a:rPr lang="ru-RU" sz="2200" dirty="0"/>
                  <a:t>(усеченное обратное распространение – </a:t>
                </a:r>
                <a:r>
                  <a:rPr lang="en-US" sz="2200" b="1" dirty="0"/>
                  <a:t>Truncated </a:t>
                </a:r>
                <a:r>
                  <a:rPr lang="en-US" sz="2200" b="1" dirty="0"/>
                  <a:t>Backpropagation</a:t>
                </a:r>
                <a:r>
                  <a:rPr lang="ru-RU" sz="2200" dirty="0"/>
                  <a:t>).</a:t>
                </a:r>
                <a:endParaRPr lang="en-US" sz="2200" dirty="0"/>
              </a:p>
              <a:p>
                <a:pPr marL="914400" lvl="2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r>
                  <a:rPr lang="ru-RU" sz="2200" dirty="0"/>
                  <a:t>Расчет </a:t>
                </a:r>
                <a14:m>
                  <m:oMath xmlns:m="http://schemas.openxmlformats.org/officeDocument/2006/math">
                    <m:r>
                      <a:rPr lang="en-US" sz="2200" i="1" dirty="0">
                        <a:latin typeface="Cambria Math" panose="02040503050406030204" pitchFamily="18" charset="0"/>
                      </a:rPr>
                      <m:t>𝐿</m:t>
                    </m:r>
                    <m:r>
                      <a:rPr lang="en-US" sz="2200" i="1" dirty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200" i="1" dirty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sz="22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2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, (</m:t>
                        </m:r>
                        <m:sSub>
                          <m:sSubPr>
                            <m:ctrlPr>
                              <a:rPr lang="en-US" sz="22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,…,</m:t>
                        </m:r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𝑓</m:t>
                        </m:r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sz="22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sz="22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)) </m:t>
                        </m:r>
                      </m:e>
                    </m:d>
                  </m:oMath>
                </a14:m>
                <a:r>
                  <a:rPr lang="ru-RU" sz="2200" dirty="0"/>
                  <a:t> только</a:t>
                </a:r>
                <a:r>
                  <a:rPr lang="en-US" sz="2200" dirty="0"/>
                  <a:t> </a:t>
                </a:r>
                <a:r>
                  <a:rPr lang="ru-RU" sz="2200" dirty="0"/>
                  <a:t>для </a:t>
                </a:r>
                <a14:m>
                  <m:oMath xmlns:m="http://schemas.openxmlformats.org/officeDocument/2006/math">
                    <m:r>
                      <a:rPr lang="en-US" sz="2200" i="1" dirty="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sz="2200" dirty="0"/>
                  <a:t> </a:t>
                </a:r>
                <a:r>
                  <a:rPr lang="ru-RU" sz="2200" dirty="0" smtClean="0"/>
                  <a:t>шагов</a:t>
                </a:r>
                <a:endParaRPr lang="ru-RU" sz="2200" dirty="0"/>
              </a:p>
              <a:p>
                <a:pPr marL="342900" lvl="2" indent="-342900">
                  <a:lnSpc>
                    <a:spcPct val="100000"/>
                  </a:lnSpc>
                  <a:spcBef>
                    <a:spcPts val="0"/>
                  </a:spcBef>
                </a:pPr>
                <a:r>
                  <a:rPr lang="en-US" sz="2200" b="1" dirty="0"/>
                  <a:t>G</a:t>
                </a:r>
                <a:r>
                  <a:rPr lang="ru-RU" sz="2200" b="1" dirty="0" err="1" smtClean="0"/>
                  <a:t>radient</a:t>
                </a:r>
                <a:r>
                  <a:rPr lang="ru-RU" sz="2200" b="1" dirty="0" smtClean="0"/>
                  <a:t> </a:t>
                </a:r>
                <a:r>
                  <a:rPr lang="ru-RU" sz="2200" b="1" dirty="0" err="1" smtClean="0"/>
                  <a:t>clipping</a:t>
                </a:r>
                <a:r>
                  <a:rPr lang="en-US" sz="2200" b="1" dirty="0" smtClean="0"/>
                  <a:t> </a:t>
                </a:r>
                <a:r>
                  <a:rPr lang="en-US" sz="2200" dirty="0" smtClean="0"/>
                  <a:t>– </a:t>
                </a:r>
                <a:r>
                  <a:rPr lang="ru-RU" sz="2200" dirty="0" smtClean="0"/>
                  <a:t>Ограничение максимально </a:t>
                </a:r>
                <a:r>
                  <a:rPr lang="ru-RU" sz="2200" dirty="0"/>
                  <a:t>возможное значение градиента и заменяет все значения выше выбранного порога на это значение. </a:t>
                </a:r>
                <a:endParaRPr lang="ru-RU" sz="2200" i="1" dirty="0" smtClean="0">
                  <a:latin typeface="Cambria Math" panose="02040503050406030204" pitchFamily="18" charset="0"/>
                </a:endParaRPr>
              </a:p>
              <a:p>
                <a:pPr marL="0" lvl="2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2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d>
                            <m:dPr>
                              <m:begChr m:val="‖"/>
                              <m:endChr m:val="‖"/>
                              <m:ctrlP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200" dirty="0">
                                  <a:latin typeface="Cambria Math" panose="02040503050406030204" pitchFamily="18" charset="0"/>
                                </a:rPr>
                                <m:t>𝛻</m:t>
                              </m:r>
                              <m:r>
                                <m:rPr>
                                  <m:sty m:val="p"/>
                                </m:rPr>
                                <a:rPr lang="en-US" sz="2200" dirty="0">
                                  <a:latin typeface="Cambria Math" panose="02040503050406030204" pitchFamily="18" charset="0"/>
                                </a:rPr>
                                <m:t>L</m:t>
                              </m:r>
                            </m:e>
                          </m:d>
                        </m:e>
                        <m:sub>
                          <m:r>
                            <a:rPr lang="en-US" sz="2200" i="1" dirty="0">
                              <a:latin typeface="Cambria Math" panose="02040503050406030204" pitchFamily="18" charset="0"/>
                            </a:rPr>
                            <m:t>𝑐𝑙𝑖𝑝</m:t>
                          </m:r>
                        </m:sub>
                      </m:sSub>
                      <m:r>
                        <a:rPr lang="en-US" sz="2200" i="1" dirty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en-US" sz="22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d>
                                <m:dPr>
                                  <m:begChr m:val="‖"/>
                                  <m:endChr m:val="‖"/>
                                  <m:ctrlPr>
                                    <a:rPr lang="en-US" sz="2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200" dirty="0">
                                      <a:latin typeface="Cambria Math" panose="02040503050406030204" pitchFamily="18" charset="0"/>
                                    </a:rPr>
                                    <m:t>𝛻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en-US" sz="2200" dirty="0">
                                      <a:latin typeface="Cambria Math" panose="02040503050406030204" pitchFamily="18" charset="0"/>
                                    </a:rPr>
                                    <m:t>L</m:t>
                                  </m:r>
                                </m:e>
                              </m:d>
                              <m: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𝑖𝑓</m:t>
                              </m:r>
                              <m:d>
                                <m:dPr>
                                  <m:begChr m:val="‖"/>
                                  <m:endChr m:val="‖"/>
                                  <m:ctrlPr>
                                    <a:rPr lang="en-US" sz="2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200" dirty="0">
                                      <a:latin typeface="Cambria Math" panose="02040503050406030204" pitchFamily="18" charset="0"/>
                                    </a:rPr>
                                    <m:t>𝛻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en-US" sz="2200" dirty="0">
                                      <a:latin typeface="Cambria Math" panose="02040503050406030204" pitchFamily="18" charset="0"/>
                                    </a:rPr>
                                    <m:t>L</m:t>
                                  </m:r>
                                </m:e>
                              </m:d>
                              <m: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&lt;</m:t>
                              </m:r>
                              <m:sSub>
                                <m:sSubPr>
                                  <m:ctrlPr>
                                    <a:rPr lang="en-US" sz="2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200" i="1" dirty="0">
                                      <a:latin typeface="Cambria Math" panose="02040503050406030204" pitchFamily="18" charset="0"/>
                                    </a:rPr>
                                    <m:t>𝑔</m:t>
                                  </m:r>
                                </m:e>
                                <m:sub>
                                  <m:r>
                                    <a:rPr lang="en-US" sz="2200" i="1" dirty="0">
                                      <a:latin typeface="Cambria Math" panose="02040503050406030204" pitchFamily="18" charset="0"/>
                                    </a:rPr>
                                    <m:t>𝑚𝑎𝑥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US" sz="2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200" i="1" dirty="0">
                                      <a:latin typeface="Cambria Math" panose="02040503050406030204" pitchFamily="18" charset="0"/>
                                    </a:rPr>
                                    <m:t>𝑔</m:t>
                                  </m:r>
                                </m:e>
                                <m:sub>
                                  <m:r>
                                    <a:rPr lang="en-US" sz="2200" i="1" dirty="0">
                                      <a:latin typeface="Cambria Math" panose="02040503050406030204" pitchFamily="18" charset="0"/>
                                    </a:rPr>
                                    <m:t>𝑚𝑎𝑥</m:t>
                                  </m:r>
                                </m:sub>
                              </m:sSub>
                              <m: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𝑜𝑡h𝑒𝑟𝑤𝑖𝑠𝑒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en-US" sz="2200" dirty="0"/>
              </a:p>
            </p:txBody>
          </p:sp>
        </mc:Choice>
        <mc:Fallback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0" y="809627"/>
                <a:ext cx="11680722" cy="5195887"/>
              </a:xfrm>
              <a:blipFill>
                <a:blip r:embed="rId2"/>
                <a:stretch>
                  <a:fillRect l="-678" t="-822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Рисунок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00702" y="4418355"/>
            <a:ext cx="6291470" cy="2203110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6" name="Прямоугольник 5"/>
              <p:cNvSpPr/>
              <p:nvPr/>
            </p:nvSpPr>
            <p:spPr>
              <a:xfrm>
                <a:off x="104776" y="4418355"/>
                <a:ext cx="5391150" cy="1811201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just"/>
                <a:r>
                  <a:rPr lang="ru-RU" sz="2200" dirty="0"/>
                  <a:t>Где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𝑔</m:t>
                        </m:r>
                      </m:e>
                      <m:sub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𝑚𝑎𝑥</m:t>
                        </m:r>
                      </m:sub>
                    </m:sSub>
                  </m:oMath>
                </a14:m>
                <a:r>
                  <a:rPr lang="ru-RU" sz="2200" dirty="0"/>
                  <a:t> - максимальное значение </a:t>
                </a:r>
                <a:r>
                  <a:rPr lang="ru-RU" sz="2200" dirty="0" err="1"/>
                  <a:t>градикента</a:t>
                </a:r>
                <a:r>
                  <a:rPr lang="ru-RU" sz="2200" dirty="0"/>
                  <a:t>,</a:t>
                </a:r>
                <a14:m>
                  <m:oMath xmlns:m="http://schemas.openxmlformats.org/officeDocument/2006/math">
                    <m:d>
                      <m:dPr>
                        <m:begChr m:val="‖"/>
                        <m:endChr m:val="‖"/>
                        <m:ctrlPr>
                          <a:rPr lang="en-US" sz="22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200" dirty="0">
                            <a:latin typeface="Cambria Math" panose="02040503050406030204" pitchFamily="18" charset="0"/>
                          </a:rPr>
                          <m:t>𝛻</m:t>
                        </m:r>
                        <m:r>
                          <m:rPr>
                            <m:sty m:val="p"/>
                          </m:rPr>
                          <a:rPr lang="en-US" sz="2200" dirty="0">
                            <a:latin typeface="Cambria Math" panose="02040503050406030204" pitchFamily="18" charset="0"/>
                          </a:rPr>
                          <m:t>L</m:t>
                        </m:r>
                      </m:e>
                    </m:d>
                    <m:r>
                      <a:rPr lang="ru-RU" sz="2200" i="1" dirty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sz="2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‖"/>
                            <m:endChr m:val="‖"/>
                            <m:ctrlPr>
                              <a:rPr lang="en-US" sz="22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200" dirty="0">
                                <a:latin typeface="Cambria Math" panose="02040503050406030204" pitchFamily="18" charset="0"/>
                              </a:rPr>
                              <m:t>𝛻</m:t>
                            </m:r>
                            <m:r>
                              <m:rPr>
                                <m:sty m:val="p"/>
                              </m:rPr>
                              <a:rPr lang="en-US" sz="2200" dirty="0">
                                <a:latin typeface="Cambria Math" panose="02040503050406030204" pitchFamily="18" charset="0"/>
                              </a:rPr>
                              <m:t>L</m:t>
                            </m:r>
                          </m:e>
                        </m:d>
                      </m:e>
                      <m:sub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𝑐𝑙𝑖𝑝</m:t>
                        </m:r>
                      </m:sub>
                    </m:sSub>
                  </m:oMath>
                </a14:m>
                <a:r>
                  <a:rPr lang="ru-RU" sz="2200" dirty="0"/>
                  <a:t> - норма градиента (до и после </a:t>
                </a:r>
                <a:r>
                  <a:rPr lang="ru-RU" sz="2200" dirty="0" err="1"/>
                  <a:t>органичений</a:t>
                </a:r>
                <a:r>
                  <a:rPr lang="ru-RU" sz="2200" dirty="0"/>
                  <a:t>). Отметим, что</a:t>
                </a:r>
                <a:r>
                  <a:rPr lang="ru-RU" sz="2200" dirty="0"/>
                  <a:t> </a:t>
                </a:r>
                <a:r>
                  <a:rPr lang="ru-RU" sz="2200" dirty="0" err="1"/>
                  <a:t>gradient</a:t>
                </a:r>
                <a:r>
                  <a:rPr lang="ru-RU" sz="2200" dirty="0"/>
                  <a:t> </a:t>
                </a:r>
                <a:r>
                  <a:rPr lang="ru-RU" sz="2200" dirty="0" err="1"/>
                  <a:t>clipping</a:t>
                </a:r>
                <a:r>
                  <a:rPr lang="ru-RU" sz="2200" dirty="0"/>
                  <a:t> это довольно </a:t>
                </a:r>
                <a:r>
                  <a:rPr lang="ru-RU" sz="2200" dirty="0"/>
                  <a:t>грубый </a:t>
                </a:r>
                <a:r>
                  <a:rPr lang="ru-RU" sz="2200" dirty="0"/>
                  <a:t>инструмент</a:t>
                </a:r>
              </a:p>
            </p:txBody>
          </p:sp>
        </mc:Choice>
        <mc:Fallback>
          <p:sp>
            <p:nvSpPr>
              <p:cNvPr id="6" name="Прямоугольник 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4776" y="4418355"/>
                <a:ext cx="5391150" cy="1811201"/>
              </a:xfrm>
              <a:prstGeom prst="rect">
                <a:avLst/>
              </a:prstGeom>
              <a:blipFill>
                <a:blip r:embed="rId4"/>
                <a:stretch>
                  <a:fillRect l="-1469" t="-2357" r="-1356" b="-5724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3698284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28600" y="365126"/>
            <a:ext cx="11258550" cy="720724"/>
          </a:xfrm>
        </p:spPr>
        <p:txBody>
          <a:bodyPr/>
          <a:lstStyle/>
          <a:p>
            <a:r>
              <a:rPr lang="ru-RU" dirty="0" smtClean="0"/>
              <a:t>Расширение контекста </a:t>
            </a:r>
            <a:r>
              <a:rPr lang="en-US" dirty="0" smtClean="0"/>
              <a:t>RNN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228600" y="981075"/>
            <a:ext cx="11582400" cy="374332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dirty="0" smtClean="0"/>
              <a:t>Во временных рядах контекста – это паттерны поведения, влияющие на прогноз ВР. </a:t>
            </a:r>
          </a:p>
          <a:p>
            <a:r>
              <a:rPr lang="ru-RU" sz="2400" dirty="0" smtClean="0"/>
              <a:t>Усечение обучение – потеря контекста. Нужно увеличивать контекст. Подходы:</a:t>
            </a:r>
          </a:p>
          <a:p>
            <a:pPr lvl="1">
              <a:lnSpc>
                <a:spcPct val="100000"/>
              </a:lnSpc>
              <a:spcBef>
                <a:spcPts val="0"/>
              </a:spcBef>
            </a:pPr>
            <a:r>
              <a:rPr lang="ru-RU" dirty="0" smtClean="0"/>
              <a:t>Регуляризация обучения</a:t>
            </a:r>
            <a:r>
              <a:rPr lang="en-US" dirty="0" smtClean="0"/>
              <a:t> </a:t>
            </a:r>
            <a:r>
              <a:rPr lang="ru-RU" dirty="0" smtClean="0"/>
              <a:t>(</a:t>
            </a:r>
            <a:r>
              <a:rPr lang="ru-RU" dirty="0" err="1" smtClean="0"/>
              <a:t>батч</a:t>
            </a:r>
            <a:r>
              <a:rPr lang="ru-RU" dirty="0" smtClean="0"/>
              <a:t>-норма, L1, L2, и т. д.).</a:t>
            </a:r>
          </a:p>
          <a:p>
            <a:pPr lvl="1">
              <a:lnSpc>
                <a:spcPct val="100000"/>
              </a:lnSpc>
              <a:spcBef>
                <a:spcPts val="0"/>
              </a:spcBef>
            </a:pPr>
            <a:r>
              <a:rPr lang="en-US" dirty="0" smtClean="0"/>
              <a:t>Temporal learning </a:t>
            </a:r>
            <a:r>
              <a:rPr lang="ru-RU" dirty="0" smtClean="0"/>
              <a:t>(последовательные слои с разряженным окном)</a:t>
            </a:r>
          </a:p>
          <a:p>
            <a:pPr lvl="1"/>
            <a:r>
              <a:rPr lang="ru-RU" dirty="0" smtClean="0"/>
              <a:t>Специальные модификации рекуррентных ячеек </a:t>
            </a:r>
            <a:endParaRPr lang="en-US" dirty="0" smtClean="0"/>
          </a:p>
        </p:txBody>
      </p:sp>
      <p:pic>
        <p:nvPicPr>
          <p:cNvPr id="9" name="Рисунок 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21786" y="3715927"/>
            <a:ext cx="6794070" cy="2699171"/>
          </a:xfrm>
          <a:prstGeom prst="rect">
            <a:avLst/>
          </a:prstGeom>
        </p:spPr>
      </p:pic>
      <p:pic>
        <p:nvPicPr>
          <p:cNvPr id="5122" name="Picture 2" descr="Time series forecasting with deep stacked unidirectional and bidirectional  LSTMs | by Manohar Battula | TDS Archive | Medium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8600" y="4329067"/>
            <a:ext cx="4978619" cy="20225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7454155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28600" y="365126"/>
            <a:ext cx="11258550" cy="720724"/>
          </a:xfrm>
        </p:spPr>
        <p:txBody>
          <a:bodyPr/>
          <a:lstStyle/>
          <a:p>
            <a:r>
              <a:rPr lang="en-US" dirty="0" err="1" smtClean="0"/>
              <a:t>BiDirextional</a:t>
            </a:r>
            <a:r>
              <a:rPr lang="en-US" dirty="0" smtClean="0"/>
              <a:t> RNN</a:t>
            </a:r>
            <a:endParaRPr lang="ru-RU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>
              <a:xfrm>
                <a:off x="228600" y="981075"/>
                <a:ext cx="11582400" cy="3743325"/>
              </a:xfrm>
            </p:spPr>
            <p:txBody>
              <a:bodyPr>
                <a:normAutofit/>
              </a:bodyPr>
              <a:lstStyle/>
              <a:p>
                <a:pPr marL="88900" lvl="1" indent="0">
                  <a:buNone/>
                </a:pPr>
                <a:r>
                  <a:rPr lang="ru-RU" sz="2200" dirty="0" smtClean="0"/>
                  <a:t>Особенность регуляризации </a:t>
                </a:r>
                <a:r>
                  <a:rPr lang="en-US" sz="2200" dirty="0" smtClean="0"/>
                  <a:t>RNN – </a:t>
                </a:r>
                <a:r>
                  <a:rPr lang="ru-RU" sz="2200" dirty="0" smtClean="0"/>
                  <a:t>можно использовать последовательность данных.</a:t>
                </a:r>
              </a:p>
              <a:p>
                <a:pPr marL="88900" lvl="1" indent="0">
                  <a:buNone/>
                </a:pPr>
                <a:r>
                  <a:rPr lang="ru-RU" sz="2200" dirty="0" smtClean="0"/>
                  <a:t>Пусть</a:t>
                </a:r>
                <a:r>
                  <a:rPr lang="en-US" sz="2200" dirty="0" smtClean="0"/>
                  <a:t> </a:t>
                </a:r>
                <a:r>
                  <a:rPr lang="ru-RU" sz="2200" dirty="0" smtClean="0"/>
                  <a:t>для отрезка ВР длиной </a:t>
                </a:r>
                <a14:m>
                  <m:oMath xmlns:m="http://schemas.openxmlformats.org/officeDocument/2006/math">
                    <m:r>
                      <a:rPr lang="en-US" sz="2200" i="1" dirty="0" smtClean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sz="2200" b="0" i="1" dirty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ru-RU" sz="2200" b="0" i="0" dirty="0" smtClean="0">
                    <a:latin typeface="+mj-lt"/>
                  </a:rPr>
                  <a:t>(контекст)</a:t>
                </a:r>
                <a:r>
                  <a:rPr lang="en-US" sz="2200" b="0" i="0" dirty="0" smtClean="0">
                    <a:latin typeface="+mj-lt"/>
                  </a:rPr>
                  <a:t> </a:t>
                </a:r>
                <a:r>
                  <a:rPr lang="ru-RU" sz="2200" b="0" i="0" dirty="0" smtClean="0">
                    <a:latin typeface="+mj-lt"/>
                  </a:rPr>
                  <a:t> </a:t>
                </a:r>
                <a:endParaRPr lang="ru-RU" sz="2200" dirty="0" smtClean="0"/>
              </a:p>
              <a:p>
                <a:pPr marL="889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sz="2000" i="1" dirty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2000" i="1" dirty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0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sup>
                      </m:sSubSup>
                      <m:r>
                        <a:rPr lang="en-US" sz="2000" i="1" dirty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000" i="1" dirty="0"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en-US" sz="2000" i="1" dirty="0">
                          <a:latin typeface="Cambria Math" panose="02040503050406030204" pitchFamily="18" charset="0"/>
                        </a:rPr>
                        <m:t>(</m:t>
                      </m:r>
                      <m:sSubSup>
                        <m:sSubSupPr>
                          <m:ctrlP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sSub>
                            <m:sSubPr>
                              <m:ctrlPr>
                                <a:rPr lang="en-US" sz="20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i="1" dirty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sz="2000" i="1" dirty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en-US" sz="2000" i="1" dirty="0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en-US" sz="2000" i="1" dirty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sup>
                      </m:sSubSup>
                      <m:r>
                        <a:rPr lang="en-US" sz="2000" i="1" dirty="0"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sSubSup>
                            <m:sSubSupPr>
                              <m:ctrlPr>
                                <a:rPr lang="en-US" sz="2000" i="1" dirty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2000" i="1" dirty="0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  <m:sub>
                              <m:r>
                                <a:rPr lang="en-US" sz="2000" i="1" dirty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  <m:sup>
                              <m:r>
                                <a:rPr lang="en-US" sz="2000" i="1" dirty="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sup>
                          </m:sSubSup>
                          <m:r>
                            <a:rPr lang="en-US" sz="2000" i="1" dirty="0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p>
                          <m: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sup>
                      </m:sSup>
                      <m:r>
                        <a:rPr lang="en-US" sz="2000" i="1" dirty="0">
                          <a:latin typeface="Cambria Math" panose="02040503050406030204" pitchFamily="18" charset="0"/>
                        </a:rPr>
                        <m:t>+</m:t>
                      </m:r>
                      <m:sSubSup>
                        <m:sSubSupPr>
                          <m:ctrlPr>
                            <a:rPr lang="en-US" sz="2000" i="1" dirty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2000" i="1" dirty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en-US" sz="2000" i="1" dirty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en-US" sz="2000" i="1" dirty="0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sup>
                      </m:sSubSup>
                      <m:r>
                        <a:rPr lang="en-US" sz="2000" i="1" dirty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ru-RU" sz="2000" dirty="0" smtClean="0"/>
              </a:p>
              <a:p>
                <a:pPr marL="889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2000" i="1" dirty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sz="2000" i="1" dirty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2000" i="1" dirty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0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sup>
                      </m:sSubSup>
                      <m:r>
                        <a:rPr lang="en-US" sz="2000" i="1" dirty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000" i="1" dirty="0"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en-US" sz="2000" i="1" dirty="0">
                          <a:latin typeface="Cambria Math" panose="02040503050406030204" pitchFamily="18" charset="0"/>
                        </a:rPr>
                        <m:t>(</m:t>
                      </m:r>
                      <m:sSubSup>
                        <m:sSubSupPr>
                          <m:ctrlP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2000" i="1" dirty="0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en-US" sz="2000" i="1" dirty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sup>
                      </m:sSubSup>
                      <m:sSub>
                        <m:sSubPr>
                          <m:ctrlPr>
                            <a:rPr lang="en-US" sz="20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i="1" dirty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sz="2000" i="1" dirty="0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en-US" sz="2000" i="1" dirty="0"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000" i="1" dirty="0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p>
                          <m: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sup>
                      </m:sSup>
                      <m:sSubSup>
                        <m:sSubSupPr>
                          <m:ctrlP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2000" i="1" dirty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sz="2000" i="1" dirty="0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>
                          <m: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sup>
                      </m:sSubSup>
                      <m:r>
                        <a:rPr lang="en-US" sz="2000" i="1" dirty="0">
                          <a:latin typeface="Cambria Math" panose="02040503050406030204" pitchFamily="18" charset="0"/>
                        </a:rPr>
                        <m:t>+</m:t>
                      </m:r>
                      <m:sSubSup>
                        <m:sSubSupPr>
                          <m:ctrlPr>
                            <a:rPr lang="en-US" sz="2000" i="1" dirty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2000" i="1" dirty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en-US" sz="2000" i="1" dirty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en-US" sz="2000" i="1" dirty="0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sup>
                      </m:sSubSup>
                      <m:r>
                        <a:rPr lang="en-US" sz="2000" i="1" dirty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ru-RU" sz="2000" dirty="0" smtClean="0"/>
              </a:p>
              <a:p>
                <a:pPr marL="88900" lvl="1" indent="0" algn="ctr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2000" i="1" dirty="0">
                        <a:latin typeface="Cambria Math" panose="02040503050406030204" pitchFamily="18" charset="0"/>
                      </a:rPr>
                      <m:t>=</m:t>
                    </m:r>
                    <m:sSubSup>
                      <m:sSubSupPr>
                        <m:ctrlPr>
                          <a:rPr lang="en-US" sz="2000" i="1" dirty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𝑓</m:t>
                        </m:r>
                      </m:sup>
                    </m:sSubSup>
                    <m:r>
                      <a:rPr lang="en-US" sz="2000" b="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∪</m:t>
                    </m:r>
                    <m:sSubSup>
                      <m:sSubSupPr>
                        <m:ctrlPr>
                          <a:rPr lang="en-US" sz="2000" i="1" dirty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𝑏</m:t>
                        </m:r>
                      </m:sup>
                    </m:sSubSup>
                  </m:oMath>
                </a14:m>
                <a:r>
                  <a:rPr lang="en-US" sz="2000" dirty="0" smtClean="0"/>
                  <a:t> </a:t>
                </a:r>
                <a:endParaRPr lang="en-US" sz="2000" dirty="0"/>
              </a:p>
            </p:txBody>
          </p:sp>
        </mc:Choice>
        <mc:Fallback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28600" y="981075"/>
                <a:ext cx="11582400" cy="3743325"/>
              </a:xfrm>
              <a:blipFill>
                <a:blip r:embed="rId2"/>
                <a:stretch>
                  <a:fillRect t="-2117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Рисунок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0524" y="4039683"/>
            <a:ext cx="4181475" cy="2451604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8" name="Объект 2"/>
              <p:cNvSpPr txBox="1">
                <a:spLocks/>
              </p:cNvSpPr>
              <p:nvPr/>
            </p:nvSpPr>
            <p:spPr>
              <a:xfrm>
                <a:off x="294658" y="2852737"/>
                <a:ext cx="7334865" cy="2143125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:r>
                  <a:rPr lang="ru-RU" sz="2400" dirty="0" smtClean="0"/>
                  <a:t>где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2000" i="1" dirty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𝑓</m:t>
                        </m:r>
                      </m:sup>
                    </m:sSubSup>
                  </m:oMath>
                </a14:m>
                <a:r>
                  <a:rPr lang="ru-RU" sz="2000" dirty="0" smtClean="0"/>
                  <a:t> - значении вектора состояния рассчитанное слева на право (вперед);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2000" i="1" dirty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𝑏</m:t>
                        </m:r>
                      </m:sup>
                    </m:sSubSup>
                  </m:oMath>
                </a14:m>
                <a:r>
                  <a:rPr lang="ru-RU" sz="2000" dirty="0" smtClean="0"/>
                  <a:t> - значение рассчитанное по выборке </a:t>
                </a:r>
                <a14:m>
                  <m:oMath xmlns:m="http://schemas.openxmlformats.org/officeDocument/2006/math">
                    <m:r>
                      <a:rPr lang="en-US" sz="2000" i="1" dirty="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ru-RU" sz="2000" dirty="0" smtClean="0"/>
                  <a:t> справа на лево (корректировка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2000" i="1" dirty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𝑓</m:t>
                        </m:r>
                      </m:sup>
                    </m:sSubSup>
                  </m:oMath>
                </a14:m>
                <a:r>
                  <a:rPr lang="ru-RU" sz="2000" dirty="0" smtClean="0"/>
                  <a:t> на каждом шаге)</a:t>
                </a:r>
                <a:endParaRPr lang="en-US" sz="2000" dirty="0"/>
              </a:p>
            </p:txBody>
          </p:sp>
        </mc:Choice>
        <mc:Fallback>
          <p:sp>
            <p:nvSpPr>
              <p:cNvPr id="8" name="Объект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4658" y="2852737"/>
                <a:ext cx="7334865" cy="2143125"/>
              </a:xfrm>
              <a:prstGeom prst="rect">
                <a:avLst/>
              </a:prstGeom>
              <a:blipFill>
                <a:blip r:embed="rId4"/>
                <a:stretch>
                  <a:fillRect l="-1246" t="-3693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098" name="Picture 2" descr="A Bidirectional LSTM-RNN and GRU Method to Exon Prediction Using  Splice-Site Mapping"/>
          <p:cNvPicPr>
            <a:picLocks noChangeAspect="1" noChangeArrowheads="1"/>
          </p:cNvPicPr>
          <p:nvPr/>
        </p:nvPicPr>
        <p:blipFill>
          <a:blip r:embed="rId5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95581" y="3267314"/>
            <a:ext cx="3892857" cy="32239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0" name="Picture 4" descr="Time series forecasting with deep stacked unidirectional and bidirectional  LSTMs | by Manohar Battula | TDS Archive | Medium"/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57390" y="5129212"/>
            <a:ext cx="3352800" cy="13620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3657322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58825"/>
          </a:xfrm>
        </p:spPr>
        <p:txBody>
          <a:bodyPr/>
          <a:lstStyle/>
          <a:p>
            <a:r>
              <a:rPr lang="ru-RU" b="1" dirty="0"/>
              <a:t>Рекуррентные нейронные сети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628650" y="1123950"/>
            <a:ext cx="10725150" cy="5476875"/>
          </a:xfrm>
        </p:spPr>
        <p:txBody>
          <a:bodyPr>
            <a:normAutofit/>
          </a:bodyPr>
          <a:lstStyle/>
          <a:p>
            <a:pPr lvl="0">
              <a:lnSpc>
                <a:spcPct val="120000"/>
              </a:lnSpc>
              <a:spcBef>
                <a:spcPts val="600"/>
              </a:spcBef>
            </a:pPr>
            <a:r>
              <a:rPr lang="ru-RU" altLang="ru-RU" sz="2200" dirty="0">
                <a:latin typeface="-apple-system"/>
              </a:rPr>
              <a:t>Недостатком подходов обучения с </a:t>
            </a:r>
            <a:r>
              <a:rPr lang="en-US" altLang="ru-RU" sz="2200" dirty="0">
                <a:latin typeface="-apple-system"/>
              </a:rPr>
              <a:t>RNN </a:t>
            </a:r>
            <a:r>
              <a:rPr lang="ru-RU" altLang="ru-RU" sz="2200" dirty="0">
                <a:latin typeface="-apple-system"/>
              </a:rPr>
              <a:t>является не возможность учета долговременного контекста. </a:t>
            </a:r>
            <a:endParaRPr lang="en-US" altLang="ru-RU" sz="2200" dirty="0">
              <a:latin typeface="-apple-system"/>
            </a:endParaRPr>
          </a:p>
          <a:p>
            <a:pPr lvl="0">
              <a:lnSpc>
                <a:spcPct val="120000"/>
              </a:lnSpc>
              <a:spcBef>
                <a:spcPts val="600"/>
              </a:spcBef>
            </a:pPr>
            <a:r>
              <a:rPr lang="ru-RU" altLang="ru-RU" sz="2200" dirty="0">
                <a:latin typeface="-apple-system"/>
              </a:rPr>
              <a:t>Для решения этой проблемы используются </a:t>
            </a:r>
            <a:r>
              <a:rPr lang="ru-RU" altLang="ru-RU" sz="2200" dirty="0">
                <a:latin typeface="var(--jp-code-font-family)"/>
              </a:rPr>
              <a:t>LSTM</a:t>
            </a:r>
            <a:r>
              <a:rPr lang="ru-RU" altLang="ru-RU" sz="2200" dirty="0">
                <a:latin typeface="-apple-system"/>
              </a:rPr>
              <a:t> и </a:t>
            </a:r>
            <a:r>
              <a:rPr lang="ru-RU" altLang="ru-RU" sz="2200" dirty="0">
                <a:latin typeface="var(--jp-code-font-family)"/>
              </a:rPr>
              <a:t>GRU</a:t>
            </a:r>
            <a:r>
              <a:rPr lang="ru-RU" altLang="ru-RU" sz="2200" dirty="0">
                <a:latin typeface="-apple-system"/>
              </a:rPr>
              <a:t> ячейки, которые имеют учет долговременного контекста. </a:t>
            </a:r>
            <a:endParaRPr lang="en-US" altLang="ru-RU" sz="2200" dirty="0">
              <a:latin typeface="-apple-system"/>
            </a:endParaRPr>
          </a:p>
          <a:p>
            <a:pPr lvl="1">
              <a:lnSpc>
                <a:spcPct val="120000"/>
              </a:lnSpc>
              <a:spcBef>
                <a:spcPts val="600"/>
              </a:spcBef>
            </a:pPr>
            <a:r>
              <a:rPr lang="ru-RU" sz="2200" dirty="0"/>
              <a:t>в литературе можно найти и другие варианты модификаций. </a:t>
            </a:r>
          </a:p>
        </p:txBody>
      </p:sp>
      <p:pic>
        <p:nvPicPr>
          <p:cNvPr id="7" name="Рисунок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5850" y="3450543"/>
            <a:ext cx="9810750" cy="3257550"/>
          </a:xfrm>
          <a:prstGeom prst="rect">
            <a:avLst/>
          </a:prstGeom>
        </p:spPr>
      </p:pic>
      <p:sp>
        <p:nvSpPr>
          <p:cNvPr id="4" name="Прямоугольник 3"/>
          <p:cNvSpPr/>
          <p:nvPr/>
        </p:nvSpPr>
        <p:spPr>
          <a:xfrm>
            <a:off x="5386717" y="6416159"/>
            <a:ext cx="596708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dirty="0"/>
              <a:t>https://colah.github.io/posts/2015-08-Understanding-LSTMs/</a:t>
            </a:r>
          </a:p>
        </p:txBody>
      </p:sp>
      <p:sp>
        <p:nvSpPr>
          <p:cNvPr id="5" name="Прямоугольник 4"/>
          <p:cNvSpPr/>
          <p:nvPr/>
        </p:nvSpPr>
        <p:spPr>
          <a:xfrm>
            <a:off x="193104" y="6382047"/>
            <a:ext cx="331000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dirty="0"/>
              <a:t>https://arxiv.org/pdf/2305.17473</a:t>
            </a:r>
          </a:p>
        </p:txBody>
      </p:sp>
    </p:spTree>
    <p:extLst>
      <p:ext uri="{BB962C8B-B14F-4D97-AF65-F5344CB8AC3E}">
        <p14:creationId xmlns:p14="http://schemas.microsoft.com/office/powerpoint/2010/main" val="49249622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508000" y="365125"/>
            <a:ext cx="10845800" cy="790575"/>
          </a:xfrm>
        </p:spPr>
        <p:txBody>
          <a:bodyPr/>
          <a:lstStyle/>
          <a:p>
            <a:r>
              <a:rPr lang="ru-RU" dirty="0" smtClean="0"/>
              <a:t>Долгосрочно-краткосрочная </a:t>
            </a:r>
            <a:r>
              <a:rPr lang="en-US" dirty="0" smtClean="0"/>
              <a:t>RNN = LSTM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317500" y="1146174"/>
            <a:ext cx="11455400" cy="52324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sz="2300" dirty="0" smtClean="0"/>
              <a:t>Контекст обучения можно увеличить, если частично его забывать.</a:t>
            </a:r>
          </a:p>
          <a:p>
            <a:pPr lvl="1"/>
            <a:r>
              <a:rPr lang="ru-RU" sz="2300" dirty="0" smtClean="0"/>
              <a:t>Однако, как не забывать действительно важный контекст.</a:t>
            </a:r>
          </a:p>
          <a:p>
            <a:pPr marL="0" indent="0">
              <a:buNone/>
            </a:pPr>
            <a:r>
              <a:rPr lang="ru-RU" sz="2300" b="1" dirty="0" smtClean="0"/>
              <a:t>Идея</a:t>
            </a:r>
            <a:r>
              <a:rPr lang="ru-RU" sz="2300" dirty="0" smtClean="0"/>
              <a:t>: ввести краткосрочное и долгоиграющее скрытые состояния. </a:t>
            </a:r>
          </a:p>
          <a:p>
            <a:pPr lvl="1"/>
            <a:r>
              <a:rPr lang="ru-RU" sz="2300" dirty="0" smtClean="0"/>
              <a:t>Долговременный контекст – тренд + цикличность временного ряда</a:t>
            </a:r>
            <a:r>
              <a:rPr lang="en-US" sz="2300" dirty="0" smtClean="0"/>
              <a:t> </a:t>
            </a:r>
            <a:r>
              <a:rPr lang="ru-RU" sz="2300" dirty="0" smtClean="0"/>
              <a:t>(память)</a:t>
            </a:r>
          </a:p>
          <a:p>
            <a:pPr lvl="2"/>
            <a:r>
              <a:rPr lang="ru-RU" sz="1900" dirty="0" smtClean="0"/>
              <a:t>Веса должны меняться медленно</a:t>
            </a:r>
          </a:p>
          <a:p>
            <a:pPr lvl="1"/>
            <a:r>
              <a:rPr lang="ru-RU" sz="2300" dirty="0" smtClean="0"/>
              <a:t>Кратковременный контекст – текущая сезонность ВР (скрытое состояние)</a:t>
            </a:r>
          </a:p>
          <a:p>
            <a:pPr lvl="2"/>
            <a:r>
              <a:rPr lang="ru-RU" sz="1900" dirty="0" smtClean="0"/>
              <a:t>Веся постоянно обновляются</a:t>
            </a:r>
          </a:p>
          <a:p>
            <a:pPr marL="265113" lvl="1"/>
            <a:r>
              <a:rPr lang="ru-RU" sz="2300" dirty="0" smtClean="0"/>
              <a:t>Такая архитектура называется </a:t>
            </a:r>
            <a:r>
              <a:rPr lang="en-US" dirty="0"/>
              <a:t>long short-term memory (LSTM) </a:t>
            </a:r>
            <a:endParaRPr lang="ru-RU" sz="2300" dirty="0" smtClean="0"/>
          </a:p>
        </p:txBody>
      </p:sp>
      <p:pic>
        <p:nvPicPr>
          <p:cNvPr id="6146" name="Picture 2" descr="https://mintlify.s3.us-west-1.amazonaws.com/nixtla/neuralforecast/docs/tutorials/01_getting_started_complete_files/figure-markdown_strict/cell-23-output-1.png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658"/>
          <a:stretch/>
        </p:blipFill>
        <p:spPr bwMode="auto">
          <a:xfrm>
            <a:off x="4955458" y="4876542"/>
            <a:ext cx="7033342" cy="18151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Прямоугольник 3"/>
          <p:cNvSpPr/>
          <p:nvPr/>
        </p:nvSpPr>
        <p:spPr>
          <a:xfrm>
            <a:off x="5676900" y="6553200"/>
            <a:ext cx="6096000" cy="276999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ru-RU" sz="1200" dirty="0"/>
              <a:t>https://nixtlaverse.nixtla.io/neuralforecast/docs/tutorials/getting_started_complete.html</a:t>
            </a:r>
          </a:p>
        </p:txBody>
      </p:sp>
      <p:sp>
        <p:nvSpPr>
          <p:cNvPr id="5" name="Прямоугольник 4"/>
          <p:cNvSpPr/>
          <p:nvPr/>
        </p:nvSpPr>
        <p:spPr>
          <a:xfrm>
            <a:off x="6367463" y="5014913"/>
            <a:ext cx="4233862" cy="1189037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" name="Прямоугольник 6"/>
          <p:cNvSpPr/>
          <p:nvPr/>
        </p:nvSpPr>
        <p:spPr>
          <a:xfrm>
            <a:off x="6678612" y="6137701"/>
            <a:ext cx="3848100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1200" dirty="0" smtClean="0"/>
              <a:t>Долговременный контекст – изменение среднего </a:t>
            </a:r>
            <a:endParaRPr lang="ru-RU" sz="1200" dirty="0"/>
          </a:p>
        </p:txBody>
      </p:sp>
      <p:sp>
        <p:nvSpPr>
          <p:cNvPr id="8" name="Прямоугольник 7"/>
          <p:cNvSpPr/>
          <p:nvPr/>
        </p:nvSpPr>
        <p:spPr>
          <a:xfrm>
            <a:off x="8724900" y="5095363"/>
            <a:ext cx="1226820" cy="995486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" name="Прямоугольник 8"/>
          <p:cNvSpPr/>
          <p:nvPr/>
        </p:nvSpPr>
        <p:spPr>
          <a:xfrm>
            <a:off x="7414260" y="4701789"/>
            <a:ext cx="3848100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1200" dirty="0" smtClean="0"/>
              <a:t>Кратковременный контекст – сезонность</a:t>
            </a:r>
            <a:endParaRPr lang="ru-RU" sz="1200" dirty="0"/>
          </a:p>
        </p:txBody>
      </p:sp>
      <p:sp>
        <p:nvSpPr>
          <p:cNvPr id="6" name="Прямоугольник 5"/>
          <p:cNvSpPr/>
          <p:nvPr/>
        </p:nvSpPr>
        <p:spPr>
          <a:xfrm>
            <a:off x="182678" y="6553199"/>
            <a:ext cx="3399777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200" dirty="0"/>
              <a:t>https://d2l.ai/chapter_recurrent-modern/lstm.html</a:t>
            </a:r>
          </a:p>
        </p:txBody>
      </p:sp>
      <p:pic>
        <p:nvPicPr>
          <p:cNvPr id="11" name="Рисунок 1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7505" y="4411713"/>
            <a:ext cx="4108348" cy="20541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4392657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366968" y="55304"/>
            <a:ext cx="10845800" cy="790575"/>
          </a:xfrm>
        </p:spPr>
        <p:txBody>
          <a:bodyPr/>
          <a:lstStyle/>
          <a:p>
            <a:pPr algn="ctr"/>
            <a:r>
              <a:rPr lang="ru-RU" dirty="0" smtClean="0"/>
              <a:t>Долгосрочно-краткосрочная </a:t>
            </a:r>
            <a:r>
              <a:rPr lang="en-US" dirty="0" smtClean="0"/>
              <a:t>RNN = LSTM</a:t>
            </a:r>
            <a:endParaRPr lang="ru-RU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>
              <a:xfrm>
                <a:off x="144411" y="750669"/>
                <a:ext cx="11455400" cy="5232400"/>
              </a:xfrm>
            </p:spPr>
            <p:txBody>
              <a:bodyPr>
                <a:norm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300"/>
                  </a:spcBef>
                  <a:buNone/>
                </a:pPr>
                <a:r>
                  <a:rPr lang="ru-RU" sz="2200" dirty="0" smtClean="0"/>
                  <a:t>Каждая ячейка памяти оснащена входами </a:t>
                </a:r>
                <a:r>
                  <a:rPr lang="en-US" sz="2200" dirty="0" smtClean="0"/>
                  <a:t>(gates)</a:t>
                </a:r>
                <a:r>
                  <a:rPr lang="ru-RU" sz="2200" dirty="0"/>
                  <a:t> </a:t>
                </a:r>
                <a:r>
                  <a:rPr lang="ru-RU" sz="2200" dirty="0" smtClean="0"/>
                  <a:t>и внутренним состоянием </a:t>
                </a:r>
                <a:r>
                  <a:rPr lang="en-US" sz="2200" dirty="0" smtClean="0"/>
                  <a:t>(node)</a:t>
                </a:r>
                <a:endParaRPr lang="ru-RU" sz="2200" dirty="0" smtClean="0"/>
              </a:p>
              <a:p>
                <a:pPr marL="0" lvl="0" indent="0">
                  <a:lnSpc>
                    <a:spcPct val="100000"/>
                  </a:lnSpc>
                  <a:spcBef>
                    <a:spcPts val="3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ru-RU" sz="2200" b="0" i="1" dirty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ru-RU" sz="22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I</m:t>
                          </m:r>
                        </m:e>
                        <m:sub>
                          <m:r>
                            <a:rPr lang="en-US" altLang="ru-RU" sz="2200" b="0" i="1" dirty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altLang="ru-RU" sz="2200" b="0" i="1" dirty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US" altLang="ru-RU" sz="2200" b="0" i="1" dirty="0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ru-RU" sz="2200" b="0" i="1" dirty="0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𝜎</m:t>
                      </m:r>
                      <m:d>
                        <m:dPr>
                          <m:ctrlPr>
                            <a:rPr lang="en-US" altLang="ru-RU" sz="2200" b="0" i="1" dirty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ru-RU" sz="2200" b="0" i="1" dirty="0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sSup>
                                <m:sSupPr>
                                  <m:ctrlPr>
                                    <a:rPr lang="en-US" altLang="ru-RU" sz="2200" i="1" dirty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altLang="ru-RU" sz="2200" i="1" dirty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p>
                                  <m:r>
                                    <a:rPr lang="en-US" altLang="ru-RU" sz="2200" i="1" dirty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sup>
                              </m:sSup>
                              <m:r>
                                <a:rPr lang="en-US" altLang="ru-RU" sz="2200" b="0" i="1" dirty="0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altLang="ru-RU" sz="2200" b="0" i="1" dirty="0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en-US" altLang="ru-RU" sz="2200" b="0" i="1" dirty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sSup>
                            <m:sSupPr>
                              <m:ctrlPr>
                                <a:rPr lang="en-US" altLang="ru-RU" sz="2200" b="0" i="1" dirty="0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ru-RU" sz="2200" i="1" dirty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p>
                              <m:r>
                                <a:rPr lang="en-US" altLang="ru-RU" sz="2200" b="0" i="1" dirty="0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𝐼</m:t>
                              </m:r>
                            </m:sup>
                          </m:sSup>
                          <m:sSub>
                            <m:sSubPr>
                              <m:ctrlPr>
                                <a:rPr lang="en-US" altLang="ru-RU" sz="2200" b="0" i="1" dirty="0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ru-RU" sz="2200" b="0" i="1" dirty="0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  <m:sub>
                              <m:r>
                                <a:rPr lang="en-US" altLang="ru-RU" sz="2200" b="0" i="1" dirty="0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  <m:r>
                        <a:rPr lang="ru-RU" altLang="ru-RU" sz="2200" b="0" i="1" dirty="0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−вход </m:t>
                      </m:r>
                    </m:oMath>
                  </m:oMathPara>
                </a14:m>
                <a:endParaRPr lang="en-US" sz="2200" dirty="0" smtClean="0"/>
              </a:p>
              <a:p>
                <a:pPr marL="0" lvl="0" indent="0">
                  <a:lnSpc>
                    <a:spcPct val="100000"/>
                  </a:lnSpc>
                  <a:spcBef>
                    <a:spcPts val="3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ru-RU" sz="22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ru-RU" sz="2200" b="0" i="1" dirty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en-US" altLang="ru-RU" sz="22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altLang="ru-RU" sz="2200" b="0" i="1" dirty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US" altLang="ru-RU" sz="2200" i="1" dirty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ru-RU" sz="2200" i="1" dirty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𝜎</m:t>
                      </m:r>
                      <m:d>
                        <m:dPr>
                          <m:ctrlPr>
                            <a:rPr lang="en-US" altLang="ru-RU" sz="22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ru-RU" sz="2200" i="1" dirty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sSup>
                                <m:sSupPr>
                                  <m:ctrlPr>
                                    <a:rPr lang="en-US" altLang="ru-RU" sz="2200" i="1" dirty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altLang="ru-RU" sz="2200" i="1" dirty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p>
                                  <m:r>
                                    <a:rPr lang="en-US" altLang="ru-RU" sz="2200" b="0" i="1" dirty="0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𝐹</m:t>
                                  </m:r>
                                </m:sup>
                              </m:sSup>
                              <m:r>
                                <a:rPr lang="en-US" altLang="ru-RU" sz="2200" i="1" dirty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altLang="ru-RU" sz="2200" i="1" dirty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en-US" altLang="ru-RU" sz="22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sSup>
                            <m:sSupPr>
                              <m:ctrlPr>
                                <a:rPr lang="en-US" altLang="ru-RU" sz="2200" i="1" dirty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ru-RU" sz="2200" i="1" dirty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p>
                              <m:r>
                                <a:rPr lang="en-US" altLang="ru-RU" sz="2200" b="0" i="1" dirty="0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𝐹</m:t>
                              </m:r>
                            </m:sup>
                          </m:sSup>
                          <m:sSub>
                            <m:sSubPr>
                              <m:ctrlPr>
                                <a:rPr lang="en-US" altLang="ru-RU" sz="2200" i="1" dirty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ru-RU" sz="2200" i="1" dirty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  <m:sub>
                              <m:r>
                                <a:rPr lang="en-US" altLang="ru-RU" sz="2200" i="1" dirty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  <m:r>
                        <a:rPr lang="ru-RU" altLang="ru-RU" sz="2200" b="0" i="1" dirty="0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 −забвение</m:t>
                      </m:r>
                    </m:oMath>
                  </m:oMathPara>
                </a14:m>
                <a:endParaRPr lang="en-US" sz="2200" dirty="0" smtClean="0"/>
              </a:p>
              <a:p>
                <a:pPr marL="0" indent="0">
                  <a:lnSpc>
                    <a:spcPct val="100000"/>
                  </a:lnSpc>
                  <a:spcBef>
                    <a:spcPts val="3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ru-RU" sz="22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̌"/>
                              <m:ctrlPr>
                                <a:rPr lang="en-US" altLang="ru-RU" sz="2200" i="1" dirty="0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ru-RU" sz="2200" b="0" i="1" dirty="0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</m:acc>
                        </m:e>
                        <m:sub>
                          <m:r>
                            <a:rPr lang="en-US" altLang="ru-RU" sz="22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altLang="ru-RU" sz="2200" b="0" i="1" dirty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US" altLang="ru-RU" sz="2200" i="1" dirty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altLang="ru-RU" sz="2200" b="0" i="1" dirty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altLang="ru-RU" sz="2200" b="0" i="0" dirty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tanh</m:t>
                          </m:r>
                        </m:fName>
                        <m:e>
                          <m:d>
                            <m:dPr>
                              <m:ctrlPr>
                                <a:rPr lang="en-US" altLang="ru-RU" sz="2200" i="1" dirty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ru-RU" sz="2200" i="1" dirty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sSup>
                                    <m:sSupPr>
                                      <m:ctrlPr>
                                        <a:rPr lang="en-US" altLang="ru-RU" sz="2200" i="1" dirty="0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altLang="ru-RU" sz="2200" i="1" dirty="0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𝐴</m:t>
                                      </m:r>
                                    </m:e>
                                    <m:sup>
                                      <m:r>
                                        <a:rPr lang="en-US" altLang="ru-RU" sz="2200" i="1" dirty="0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𝐶</m:t>
                                      </m:r>
                                    </m:sup>
                                  </m:sSup>
                                  <m:r>
                                    <a:rPr lang="en-US" altLang="ru-RU" sz="2200" i="1" dirty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en-US" altLang="ru-RU" sz="2200" i="1" dirty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en-US" altLang="ru-RU" sz="2200" i="1" dirty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p>
                                <m:sSupPr>
                                  <m:ctrlPr>
                                    <a:rPr lang="en-US" altLang="ru-RU" sz="2200" i="1" dirty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altLang="ru-RU" sz="2200" i="1" dirty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𝐵</m:t>
                                  </m:r>
                                </m:e>
                                <m:sup>
                                  <m:r>
                                    <a:rPr lang="en-US" altLang="ru-RU" sz="2200" i="1" dirty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sup>
                              </m:sSup>
                              <m:sSub>
                                <m:sSubPr>
                                  <m:ctrlPr>
                                    <a:rPr lang="en-US" altLang="ru-RU" sz="2200" i="1" dirty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ru-RU" sz="2200" i="1" dirty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en-US" altLang="ru-RU" sz="2200" i="1" dirty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</m:e>
                          </m:d>
                        </m:e>
                      </m:func>
                      <m:r>
                        <a:rPr lang="ru-RU" altLang="ru-RU" sz="2200" i="1" dirty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ru-RU" altLang="ru-RU" sz="2200" b="0" i="1" dirty="0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внутренее состояние</m:t>
                      </m:r>
                    </m:oMath>
                  </m:oMathPara>
                </a14:m>
                <a:endParaRPr lang="en-US" sz="2200" dirty="0" smtClean="0"/>
              </a:p>
              <a:p>
                <a:pPr marL="0" indent="0">
                  <a:lnSpc>
                    <a:spcPct val="100000"/>
                  </a:lnSpc>
                  <a:spcBef>
                    <a:spcPts val="300"/>
                  </a:spcBef>
                  <a:buNone/>
                </a:pPr>
                <a:r>
                  <a:rPr lang="ru-RU" sz="2200" dirty="0" smtClean="0"/>
                  <a:t>Использование </a:t>
                </a:r>
                <a14:m>
                  <m:oMath xmlns:m="http://schemas.openxmlformats.org/officeDocument/2006/math">
                    <m:r>
                      <a:rPr lang="en-US" altLang="ru-RU" sz="2200" i="1" dirty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𝜎</m:t>
                    </m:r>
                  </m:oMath>
                </a14:m>
                <a:r>
                  <a:rPr lang="ru-RU" sz="2200" dirty="0" smtClean="0"/>
                  <a:t> задает интервалы значений от 0 до 1</a:t>
                </a:r>
                <a:r>
                  <a:rPr lang="en-US" sz="2200" dirty="0" smtClean="0"/>
                  <a:t>, </a:t>
                </a:r>
                <a:r>
                  <a:rPr lang="ru-RU" sz="2200" dirty="0" smtClean="0"/>
                  <a:t>значение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ru-RU" sz="2200" dirty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tanh</m:t>
                    </m:r>
                  </m:oMath>
                </a14:m>
                <a:r>
                  <a:rPr lang="ru-RU" sz="2200" dirty="0" smtClean="0"/>
                  <a:t> от -1 до 1. 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300"/>
                  </a:spcBef>
                  <a:buNone/>
                </a:pPr>
                <a:r>
                  <a:rPr lang="ru-RU" sz="2200" dirty="0" smtClean="0"/>
                  <a:t>Долгосрочная память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2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</m:oMath>
                </a14:m>
                <a:r>
                  <a:rPr lang="ru-RU" sz="2200" dirty="0" smtClean="0"/>
                  <a:t> задается как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3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ru-RU" sz="2200" b="0" i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sz="22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2200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US" sz="22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2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200" b="0" i="1" smtClean="0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en-US" sz="22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2200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US" sz="2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⊙</m:t>
                      </m:r>
                      <m:sSub>
                        <m:sSubPr>
                          <m:ctrlPr>
                            <a:rPr lang="en-US" sz="2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sz="2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en-US" sz="2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2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en-US" sz="2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2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US" sz="2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⊙</m:t>
                      </m:r>
                      <m:sSub>
                        <m:sSubPr>
                          <m:ctrlPr>
                            <a:rPr lang="en-US" altLang="ru-RU" sz="22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̌"/>
                              <m:ctrlPr>
                                <a:rPr lang="en-US" altLang="ru-RU" sz="2200" i="1" dirty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ru-RU" sz="2200" i="1" dirty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</m:acc>
                        </m:e>
                        <m:sub>
                          <m:r>
                            <a:rPr lang="en-US" altLang="ru-RU" sz="22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altLang="ru-RU" sz="22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</m:oMath>
                  </m:oMathPara>
                </a14:m>
                <a:endParaRPr lang="en-US" sz="2200" dirty="0" smtClean="0"/>
              </a:p>
              <a:p>
                <a:pPr marL="0" indent="0">
                  <a:lnSpc>
                    <a:spcPct val="100000"/>
                  </a:lnSpc>
                  <a:spcBef>
                    <a:spcPts val="300"/>
                  </a:spcBef>
                  <a:buNone/>
                </a:pPr>
                <a:r>
                  <a:rPr lang="ru-RU" sz="2200" dirty="0" smtClean="0"/>
                  <a:t>где </a:t>
                </a:r>
                <a14:m>
                  <m:oMath xmlns:m="http://schemas.openxmlformats.org/officeDocument/2006/math">
                    <m:r>
                      <a:rPr lang="en-US" sz="2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⊙</m:t>
                    </m:r>
                  </m:oMath>
                </a14:m>
                <a:r>
                  <a:rPr lang="ru-RU" sz="2200" dirty="0" smtClean="0"/>
                  <a:t> - поэлементное произведение. </a:t>
                </a:r>
              </a:p>
              <a:p>
                <a:pPr>
                  <a:lnSpc>
                    <a:spcPct val="100000"/>
                  </a:lnSpc>
                  <a:spcBef>
                    <a:spcPts val="300"/>
                  </a:spcBef>
                </a:pPr>
                <a:r>
                  <a:rPr lang="ru-RU" sz="2000" dirty="0" smtClean="0"/>
                  <a:t>Элемент забвения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</m:oMath>
                </a14:m>
                <a:r>
                  <a:rPr lang="ru-RU" sz="2000" dirty="0" smtClean="0"/>
                  <a:t> определяет то на сколько важно предыдущее состояние памяти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ru-RU" sz="20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 </m:t>
                    </m:r>
                  </m:oMath>
                </a14:m>
                <a:endParaRPr lang="ru-RU" sz="2000" dirty="0" smtClean="0"/>
              </a:p>
              <a:p>
                <a:pPr>
                  <a:lnSpc>
                    <a:spcPct val="100000"/>
                  </a:lnSpc>
                  <a:spcBef>
                    <a:spcPts val="300"/>
                  </a:spcBef>
                </a:pPr>
                <a:r>
                  <a:rPr lang="ru-RU" sz="2000" dirty="0" smtClean="0"/>
                  <a:t>Элемент входа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𝐼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  <m: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+1</m:t>
                        </m:r>
                      </m:sub>
                    </m:sSub>
                  </m:oMath>
                </a14:m>
                <a:r>
                  <a:rPr lang="ru-RU" sz="2000" dirty="0" smtClean="0"/>
                  <a:t> </a:t>
                </a:r>
                <a:r>
                  <a:rPr lang="ru-RU" sz="2000" dirty="0"/>
                  <a:t>определяет то на сколько </a:t>
                </a:r>
                <a:r>
                  <a:rPr lang="ru-RU" sz="2000" dirty="0" smtClean="0"/>
                  <a:t> важно текущее внутреннее состояние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ru-RU" sz="2000" i="1" dirty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̌"/>
                            <m:ctrlPr>
                              <a:rPr lang="en-US" altLang="ru-RU" sz="2000" i="1" dirty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ru-RU" sz="2000" i="1" dirty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</m:acc>
                      </m:e>
                      <m:sub>
                        <m:r>
                          <a:rPr lang="en-US" altLang="ru-RU" sz="2000" i="1" dirty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altLang="ru-RU" sz="2000" i="1" dirty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</m:oMath>
                </a14:m>
                <a:endParaRPr lang="ru-RU" sz="2000" dirty="0" smtClean="0"/>
              </a:p>
              <a:p>
                <a:pPr>
                  <a:lnSpc>
                    <a:spcPct val="100000"/>
                  </a:lnSpc>
                  <a:spcBef>
                    <a:spcPts val="300"/>
                  </a:spcBef>
                </a:pPr>
                <a:r>
                  <a:rPr lang="ru-RU" sz="2000" dirty="0" smtClean="0"/>
                  <a:t>Элемент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𝐼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  <m: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⊙</m:t>
                    </m:r>
                    <m:sSub>
                      <m:sSubPr>
                        <m:ctrlPr>
                          <a:rPr lang="en-US" altLang="ru-RU" sz="2000" i="1" dirty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̌"/>
                            <m:ctrlPr>
                              <a:rPr lang="en-US" altLang="ru-RU" sz="2000" i="1" dirty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ru-RU" sz="2000" i="1" dirty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</m:acc>
                      </m:e>
                      <m:sub>
                        <m:r>
                          <a:rPr lang="en-US" altLang="ru-RU" sz="2000" i="1" dirty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altLang="ru-RU" sz="2000" i="1" dirty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</m:oMath>
                </a14:m>
                <a:r>
                  <a:rPr lang="ru-RU" sz="2000" dirty="0" smtClean="0"/>
                  <a:t> - добавка к памяти.</a:t>
                </a:r>
                <a:endParaRPr lang="en-US" sz="2000" dirty="0"/>
              </a:p>
              <a:p>
                <a:pPr marL="0" lvl="0" indent="0">
                  <a:lnSpc>
                    <a:spcPct val="100000"/>
                  </a:lnSpc>
                  <a:spcBef>
                    <a:spcPts val="300"/>
                  </a:spcBef>
                  <a:buNone/>
                </a:pPr>
                <a:endParaRPr lang="en-US" sz="2400" dirty="0" smtClean="0"/>
              </a:p>
            </p:txBody>
          </p:sp>
        </mc:Choice>
        <mc:Fallback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44411" y="750669"/>
                <a:ext cx="11455400" cy="5232400"/>
              </a:xfrm>
              <a:blipFill>
                <a:blip r:embed="rId2"/>
                <a:stretch>
                  <a:fillRect l="-692" t="-816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6" name="Рисунок 15"/>
          <p:cNvPicPr>
            <a:picLocks noChangeAspect="1"/>
          </p:cNvPicPr>
          <p:nvPr/>
        </p:nvPicPr>
        <p:blipFill rotWithShape="1">
          <a:blip r:embed="rId3"/>
          <a:srcRect r="5138" b="20057"/>
          <a:stretch/>
        </p:blipFill>
        <p:spPr>
          <a:xfrm>
            <a:off x="6518787" y="4493707"/>
            <a:ext cx="5417574" cy="2364293"/>
          </a:xfrm>
          <a:prstGeom prst="rect">
            <a:avLst/>
          </a:prstGeom>
        </p:spPr>
      </p:pic>
      <p:pic>
        <p:nvPicPr>
          <p:cNvPr id="18" name="Рисунок 17"/>
          <p:cNvPicPr>
            <a:picLocks noChangeAspect="1"/>
          </p:cNvPicPr>
          <p:nvPr/>
        </p:nvPicPr>
        <p:blipFill rotWithShape="1">
          <a:blip r:embed="rId3"/>
          <a:srcRect t="80926"/>
          <a:stretch/>
        </p:blipFill>
        <p:spPr>
          <a:xfrm>
            <a:off x="144412" y="5945547"/>
            <a:ext cx="6669343" cy="6587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0666901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366968" y="55304"/>
            <a:ext cx="10845800" cy="790575"/>
          </a:xfrm>
        </p:spPr>
        <p:txBody>
          <a:bodyPr/>
          <a:lstStyle/>
          <a:p>
            <a:pPr algn="ctr"/>
            <a:r>
              <a:rPr lang="ru-RU" dirty="0" smtClean="0"/>
              <a:t>Долгосрочно-краткосрочная </a:t>
            </a:r>
            <a:r>
              <a:rPr lang="en-US" dirty="0" smtClean="0"/>
              <a:t>RNN = LSTM</a:t>
            </a:r>
            <a:endParaRPr lang="ru-RU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>
              <a:xfrm>
                <a:off x="366967" y="713148"/>
                <a:ext cx="11697213" cy="5232400"/>
              </a:xfrm>
            </p:spPr>
            <p:txBody>
              <a:bodyPr>
                <a:norm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300"/>
                  </a:spcBef>
                  <a:buNone/>
                </a:pPr>
                <a:r>
                  <a:rPr lang="ru-RU" sz="2200" dirty="0" smtClean="0"/>
                  <a:t>Выход системы – ее внутреннее состояние. Определяете выходным элементом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3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ru-RU" sz="22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ru-RU" sz="2200" b="0" i="1" dirty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𝑂</m:t>
                          </m:r>
                        </m:e>
                        <m:sub>
                          <m:r>
                            <a:rPr lang="en-US" altLang="ru-RU" sz="22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altLang="ru-RU" sz="2200" b="0" i="1" dirty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US" altLang="ru-RU" sz="2200" i="1" dirty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ru-RU" sz="2200" i="1" dirty="0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𝜎</m:t>
                      </m:r>
                      <m:d>
                        <m:dPr>
                          <m:ctrlPr>
                            <a:rPr lang="en-US" altLang="ru-RU" sz="22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ru-RU" sz="2200" i="1" dirty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sSup>
                                <m:sSupPr>
                                  <m:ctrlPr>
                                    <a:rPr lang="en-US" altLang="ru-RU" sz="2200" i="1" dirty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altLang="ru-RU" sz="2200" i="1" dirty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p>
                                  <m:r>
                                    <a:rPr lang="en-US" altLang="ru-RU" sz="2200" b="0" i="1" dirty="0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𝑂</m:t>
                                  </m:r>
                                </m:sup>
                              </m:sSup>
                              <m:r>
                                <a:rPr lang="en-US" altLang="ru-RU" sz="2200" i="1" dirty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altLang="ru-RU" sz="2200" i="1" dirty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en-US" altLang="ru-RU" sz="22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sSup>
                            <m:sSupPr>
                              <m:ctrlPr>
                                <a:rPr lang="en-US" altLang="ru-RU" sz="2200" i="1" dirty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ru-RU" sz="2200" i="1" dirty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p>
                              <m:r>
                                <a:rPr lang="en-US" altLang="ru-RU" sz="2200" b="0" i="1" dirty="0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𝑂</m:t>
                              </m:r>
                            </m:sup>
                          </m:sSup>
                          <m:sSub>
                            <m:sSubPr>
                              <m:ctrlPr>
                                <a:rPr lang="en-US" altLang="ru-RU" sz="2200" i="1" dirty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ru-RU" sz="2200" i="1" dirty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  <m:sub>
                              <m:r>
                                <a:rPr lang="en-US" altLang="ru-RU" sz="2200" i="1" dirty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  <m:r>
                        <a:rPr lang="ru-RU" altLang="ru-RU" sz="2200" b="0" i="1" dirty="0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−выход</m:t>
                      </m:r>
                    </m:oMath>
                  </m:oMathPara>
                </a14:m>
                <a:endParaRPr lang="ru-RU" sz="2200" dirty="0" smtClean="0"/>
              </a:p>
              <a:p>
                <a:pPr marL="0" indent="0">
                  <a:lnSpc>
                    <a:spcPct val="100000"/>
                  </a:lnSpc>
                  <a:spcBef>
                    <a:spcPts val="3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2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sz="22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2200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US" sz="22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ru-RU" sz="22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ru-RU" sz="22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𝑂</m:t>
                          </m:r>
                        </m:e>
                        <m:sub>
                          <m:r>
                            <a:rPr lang="en-US" altLang="ru-RU" sz="22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altLang="ru-RU" sz="22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US" sz="2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⊙</m:t>
                      </m:r>
                      <m:r>
                        <m:rPr>
                          <m:sty m:val="p"/>
                        </m:rPr>
                        <a:rPr lang="en-US" sz="22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tanh</m:t>
                      </m:r>
                      <m:r>
                        <a:rPr lang="en-US" sz="2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⁡(</m:t>
                      </m:r>
                      <m:sSub>
                        <m:sSubPr>
                          <m:ctrlPr>
                            <a:rPr lang="ru-RU" sz="2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US" sz="2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ru-RU" sz="2200" dirty="0" smtClean="0"/>
              </a:p>
              <a:p>
                <a:pPr marL="0" lvl="0" indent="0">
                  <a:lnSpc>
                    <a:spcPct val="100000"/>
                  </a:lnSpc>
                  <a:spcBef>
                    <a:spcPts val="300"/>
                  </a:spcBef>
                  <a:buNone/>
                </a:pPr>
                <a:r>
                  <a:rPr lang="ru-RU" sz="2400" dirty="0" smtClean="0"/>
                  <a:t>Если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ru-RU" sz="2400" i="1" dirty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ru-RU" sz="2400" i="1" dirty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𝑂</m:t>
                        </m:r>
                      </m:e>
                      <m:sub>
                        <m:r>
                          <a:rPr lang="en-US" altLang="ru-RU" sz="2400" i="1" dirty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altLang="ru-RU" sz="2400" i="1" dirty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</m:oMath>
                </a14:m>
                <a:r>
                  <a:rPr lang="ru-RU" sz="2400" dirty="0" smtClean="0"/>
                  <a:t> близко к 1 – скрытое состояние задается полностью долгосрочной памятью – важен тренд</a:t>
                </a:r>
              </a:p>
              <a:p>
                <a:pPr marL="0" lvl="0" indent="0">
                  <a:lnSpc>
                    <a:spcPct val="100000"/>
                  </a:lnSpc>
                  <a:spcBef>
                    <a:spcPts val="300"/>
                  </a:spcBef>
                  <a:buNone/>
                </a:pPr>
                <a:r>
                  <a:rPr lang="ru-RU" sz="2400" dirty="0" smtClean="0"/>
                  <a:t>Если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ru-RU" sz="2400" i="1" dirty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ru-RU" sz="2400" i="1" dirty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𝑂</m:t>
                        </m:r>
                      </m:e>
                      <m:sub>
                        <m:r>
                          <a:rPr lang="en-US" altLang="ru-RU" sz="2400" i="1" dirty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altLang="ru-RU" sz="2400" i="1" dirty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</m:oMath>
                </a14:m>
                <a:r>
                  <a:rPr lang="ru-RU" sz="2400" dirty="0"/>
                  <a:t> близко к </a:t>
                </a:r>
                <a:r>
                  <a:rPr lang="ru-RU" sz="2400" dirty="0" smtClean="0"/>
                  <a:t>0 – скрытое состояние игнорируется – важны текущие колебания.</a:t>
                </a:r>
                <a:endParaRPr lang="en-US" sz="2400" dirty="0" smtClean="0"/>
              </a:p>
            </p:txBody>
          </p:sp>
        </mc:Choice>
        <mc:Fallback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66967" y="713148"/>
                <a:ext cx="11697213" cy="5232400"/>
              </a:xfrm>
              <a:blipFill>
                <a:blip r:embed="rId2"/>
                <a:stretch>
                  <a:fillRect l="-782" t="-816" r="-52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8" name="Рисунок 17"/>
          <p:cNvPicPr>
            <a:picLocks noChangeAspect="1"/>
          </p:cNvPicPr>
          <p:nvPr/>
        </p:nvPicPr>
        <p:blipFill rotWithShape="1">
          <a:blip r:embed="rId3"/>
          <a:srcRect t="80926"/>
          <a:stretch/>
        </p:blipFill>
        <p:spPr>
          <a:xfrm>
            <a:off x="144412" y="5945548"/>
            <a:ext cx="6059743" cy="598546"/>
          </a:xfrm>
          <a:prstGeom prst="rect">
            <a:avLst/>
          </a:prstGeom>
        </p:spPr>
      </p:pic>
      <p:pic>
        <p:nvPicPr>
          <p:cNvPr id="4" name="Рисунок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04155" y="4027154"/>
            <a:ext cx="6060511" cy="28308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1796872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45807" y="266804"/>
            <a:ext cx="11127658" cy="568940"/>
          </a:xfrm>
        </p:spPr>
        <p:txBody>
          <a:bodyPr>
            <a:normAutofit fontScale="90000"/>
          </a:bodyPr>
          <a:lstStyle/>
          <a:p>
            <a:pPr algn="ctr"/>
            <a:r>
              <a:rPr lang="ru-RU" dirty="0" smtClean="0"/>
              <a:t>Долгосрочно-краткосрочная </a:t>
            </a:r>
            <a:r>
              <a:rPr lang="en-US" dirty="0" smtClean="0"/>
              <a:t>RNN = LSTM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245807" y="685399"/>
            <a:ext cx="11715294" cy="348849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dirty="0" smtClean="0"/>
              <a:t>LSTM </a:t>
            </a:r>
            <a:r>
              <a:rPr lang="ru-RU" sz="2400" dirty="0" smtClean="0"/>
              <a:t>отвечает на вопросы</a:t>
            </a:r>
          </a:p>
          <a:p>
            <a:r>
              <a:rPr lang="ru-RU" sz="2400" dirty="0" smtClean="0"/>
              <a:t>Компактное представление временного ряда (контекст), </a:t>
            </a:r>
            <a:endParaRPr lang="en-US" sz="2400" dirty="0" smtClean="0"/>
          </a:p>
          <a:p>
            <a:r>
              <a:rPr lang="ru-RU" sz="2400" dirty="0" smtClean="0"/>
              <a:t>как объединить новые входные данные с прошлым представлением ряда</a:t>
            </a:r>
            <a:endParaRPr lang="en-US" sz="2400" dirty="0" smtClean="0"/>
          </a:p>
          <a:p>
            <a:r>
              <a:rPr lang="ru-RU" sz="2400" dirty="0" smtClean="0"/>
              <a:t>Что уже нужно забыть о ВР  </a:t>
            </a:r>
          </a:p>
          <a:p>
            <a:r>
              <a:rPr lang="ru-RU" sz="2400" dirty="0" smtClean="0"/>
              <a:t>Что выводить в качестве прогноза для следующего временного шага.</a:t>
            </a:r>
          </a:p>
          <a:p>
            <a:pPr marL="0" indent="0">
              <a:buNone/>
            </a:pPr>
            <a:r>
              <a:rPr lang="en-US" sz="2400" dirty="0" smtClean="0"/>
              <a:t>LSTM </a:t>
            </a:r>
            <a:r>
              <a:rPr lang="ru-RU" sz="2400" dirty="0" smtClean="0"/>
              <a:t>позволяет строить среднесрочные прогнозы с достаточным контекстом. </a:t>
            </a:r>
          </a:p>
          <a:p>
            <a:pPr marL="0" indent="0">
              <a:buNone/>
            </a:pPr>
            <a:r>
              <a:rPr lang="en-US" sz="2400" dirty="0" smtClean="0"/>
              <a:t>LSTM</a:t>
            </a:r>
            <a:r>
              <a:rPr lang="ru-RU" sz="2400" dirty="0" smtClean="0"/>
              <a:t> это </a:t>
            </a:r>
            <a:r>
              <a:rPr lang="ru-RU" sz="2400" dirty="0" err="1" smtClean="0"/>
              <a:t>бейзлайн</a:t>
            </a:r>
            <a:r>
              <a:rPr lang="ru-RU" sz="2400" dirty="0" smtClean="0"/>
              <a:t> </a:t>
            </a:r>
            <a:r>
              <a:rPr lang="en-US" sz="2400" dirty="0" smtClean="0"/>
              <a:t>DL </a:t>
            </a:r>
            <a:r>
              <a:rPr lang="ru-RU" sz="2400" dirty="0" smtClean="0"/>
              <a:t>моделей предсказания ВР</a:t>
            </a:r>
          </a:p>
        </p:txBody>
      </p:sp>
      <p:pic>
        <p:nvPicPr>
          <p:cNvPr id="8194" name="Picture 2" descr="LSTM prediction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73017" y="4210381"/>
            <a:ext cx="3895562" cy="25128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196" name="Picture 4" descr="ARIMA predictions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98475" y="4173899"/>
            <a:ext cx="3728637" cy="24924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198" name="Picture 6" descr="The train and test subsets of the VWAP time series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751" y="4267200"/>
            <a:ext cx="3582596" cy="239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Прямоугольник 3"/>
          <p:cNvSpPr/>
          <p:nvPr/>
        </p:nvSpPr>
        <p:spPr>
          <a:xfrm>
            <a:off x="6254319" y="6502047"/>
            <a:ext cx="3837397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400" dirty="0"/>
              <a:t>https://neptune.ai/blog/arima-vs-prophet-vs-lstm</a:t>
            </a:r>
          </a:p>
        </p:txBody>
      </p:sp>
    </p:spTree>
    <p:extLst>
      <p:ext uri="{BB962C8B-B14F-4D97-AF65-F5344CB8AC3E}">
        <p14:creationId xmlns:p14="http://schemas.microsoft.com/office/powerpoint/2010/main" val="378870709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35974" y="365126"/>
            <a:ext cx="11117826" cy="726256"/>
          </a:xfrm>
        </p:spPr>
        <p:txBody>
          <a:bodyPr>
            <a:normAutofit/>
          </a:bodyPr>
          <a:lstStyle/>
          <a:p>
            <a:r>
              <a:rPr lang="en-US" dirty="0"/>
              <a:t>Gated Recurrent </a:t>
            </a:r>
            <a:r>
              <a:rPr lang="en-US" dirty="0" smtClean="0"/>
              <a:t>Units (GRU)</a:t>
            </a:r>
            <a:endParaRPr lang="ru-RU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>
              <a:xfrm>
                <a:off x="127818" y="943898"/>
                <a:ext cx="11523407" cy="5338915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ru-RU" sz="2200" b="1" dirty="0" smtClean="0"/>
                  <a:t>Гипотеза</a:t>
                </a:r>
                <a:r>
                  <a:rPr lang="ru-RU" sz="2200" dirty="0" smtClean="0"/>
                  <a:t>: число </a:t>
                </a:r>
                <a:r>
                  <a:rPr lang="ru-RU" sz="2200" dirty="0" err="1" smtClean="0"/>
                  <a:t>гейтов</a:t>
                </a:r>
                <a:r>
                  <a:rPr lang="ru-RU" sz="2200" dirty="0" smtClean="0"/>
                  <a:t> в </a:t>
                </a:r>
                <a:r>
                  <a:rPr lang="en-US" sz="2200" dirty="0" smtClean="0"/>
                  <a:t>LSTM</a:t>
                </a:r>
                <a:r>
                  <a:rPr lang="ru-RU" sz="2200" dirty="0" smtClean="0"/>
                  <a:t> избыточно. Память можно задавать исключительно элементами ее </a:t>
                </a:r>
              </a:p>
              <a:p>
                <a:r>
                  <a:rPr lang="ru-RU" sz="2200" dirty="0" smtClean="0"/>
                  <a:t>обновления (как сильно текущее состояние влияет на контекст – долгосрочная память)</a:t>
                </a:r>
                <a:endParaRPr lang="en-US" sz="2200" dirty="0" smtClean="0"/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ru-RU" sz="22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ru-RU" sz="22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en-US" altLang="ru-RU" sz="22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altLang="ru-RU" sz="22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US" altLang="ru-RU" sz="2200" i="1" dirty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ru-RU" sz="2200" i="1" dirty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𝜎</m:t>
                      </m:r>
                      <m:d>
                        <m:dPr>
                          <m:ctrlPr>
                            <a:rPr lang="en-US" altLang="ru-RU" sz="22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ru-RU" sz="2200" i="1" dirty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sSup>
                                <m:sSupPr>
                                  <m:ctrlPr>
                                    <a:rPr lang="en-US" altLang="ru-RU" sz="2200" i="1" dirty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altLang="ru-RU" sz="2200" i="1" dirty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p>
                                  <m:r>
                                    <a:rPr lang="en-US" altLang="ru-RU" sz="2200" i="1" dirty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𝑈</m:t>
                                  </m:r>
                                </m:sup>
                              </m:sSup>
                              <m:r>
                                <a:rPr lang="en-US" altLang="ru-RU" sz="2200" i="1" dirty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altLang="ru-RU" sz="2200" i="1" dirty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en-US" altLang="ru-RU" sz="22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sSup>
                            <m:sSupPr>
                              <m:ctrlPr>
                                <a:rPr lang="en-US" altLang="ru-RU" sz="2200" i="1" dirty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ru-RU" sz="2200" i="1" dirty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p>
                              <m:r>
                                <a:rPr lang="en-US" altLang="ru-RU" sz="2200" i="1" dirty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𝑈</m:t>
                              </m:r>
                            </m:sup>
                          </m:sSup>
                          <m:sSub>
                            <m:sSubPr>
                              <m:ctrlPr>
                                <a:rPr lang="en-US" altLang="ru-RU" sz="2200" i="1" dirty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ru-RU" sz="2200" i="1" dirty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  <m:sub>
                              <m:r>
                                <a:rPr lang="en-US" altLang="ru-RU" sz="2200" i="1" dirty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  <m:r>
                        <a:rPr lang="ru-RU" altLang="ru-RU" sz="2200" i="1" dirty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 −</m:t>
                      </m:r>
                      <m:r>
                        <a:rPr lang="en-US" altLang="ru-RU" sz="2200" i="1" dirty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𝑢𝑝𝑑𝑎𝑡𝑒</m:t>
                      </m:r>
                      <m:r>
                        <a:rPr lang="en-US" sz="2200" i="1" dirty="0">
                          <a:latin typeface="Cambria Math" panose="02040503050406030204" pitchFamily="18" charset="0"/>
                        </a:rPr>
                        <m:t>∈[</m:t>
                      </m:r>
                      <m:r>
                        <a:rPr lang="ru-RU" sz="2200" i="1" dirty="0">
                          <a:latin typeface="Cambria Math" panose="02040503050406030204" pitchFamily="18" charset="0"/>
                        </a:rPr>
                        <m:t>0,1</m:t>
                      </m:r>
                      <m:r>
                        <a:rPr lang="en-US" sz="2200" i="1" dirty="0"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en-US" sz="2200" dirty="0"/>
              </a:p>
              <a:p>
                <a:r>
                  <a:rPr lang="ru-RU" sz="2200" dirty="0" smtClean="0"/>
                  <a:t>Забвения (на сколько устарел контекст – краткосрочная память)</a:t>
                </a:r>
                <a:endParaRPr lang="ru-RU" sz="2200" dirty="0"/>
              </a:p>
              <a:p>
                <a:pPr marL="0" lvl="0" indent="0">
                  <a:lnSpc>
                    <a:spcPct val="100000"/>
                  </a:lnSpc>
                  <a:spcBef>
                    <a:spcPts val="3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ru-RU" sz="22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ru-RU" sz="2200" b="0" i="1" dirty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altLang="ru-RU" sz="22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altLang="ru-RU" sz="22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US" altLang="ru-RU" sz="2200" i="1" dirty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ru-RU" sz="2200" i="1" dirty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𝜎</m:t>
                      </m:r>
                      <m:d>
                        <m:dPr>
                          <m:ctrlPr>
                            <a:rPr lang="en-US" altLang="ru-RU" sz="22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ru-RU" sz="2200" i="1" dirty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sSup>
                                <m:sSupPr>
                                  <m:ctrlPr>
                                    <a:rPr lang="en-US" altLang="ru-RU" sz="2200" i="1" dirty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altLang="ru-RU" sz="2200" i="1" dirty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p>
                                  <m:r>
                                    <a:rPr lang="en-US" altLang="ru-RU" sz="2200" b="0" i="1" dirty="0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𝑅</m:t>
                                  </m:r>
                                </m:sup>
                              </m:sSup>
                              <m:r>
                                <a:rPr lang="en-US" altLang="ru-RU" sz="2200" i="1" dirty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altLang="ru-RU" sz="2200" i="1" dirty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en-US" altLang="ru-RU" sz="22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sSup>
                            <m:sSupPr>
                              <m:ctrlPr>
                                <a:rPr lang="en-US" altLang="ru-RU" sz="2200" i="1" dirty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ru-RU" sz="2200" i="1" dirty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p>
                              <m:r>
                                <a:rPr lang="en-US" altLang="ru-RU" sz="2200" b="0" i="1" dirty="0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sup>
                          </m:sSup>
                          <m:sSub>
                            <m:sSubPr>
                              <m:ctrlPr>
                                <a:rPr lang="en-US" altLang="ru-RU" sz="2200" i="1" dirty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ru-RU" sz="2200" i="1" dirty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  <m:sub>
                              <m:r>
                                <a:rPr lang="en-US" altLang="ru-RU" sz="2200" i="1" dirty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  <m:r>
                        <a:rPr lang="ru-RU" altLang="ru-RU" sz="2200" i="1" dirty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altLang="ru-RU" sz="2200" b="0" i="1" dirty="0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𝑟𝑒𝑠𝑒𝑡</m:t>
                      </m:r>
                      <m:r>
                        <a:rPr lang="en-US" sz="2200" i="1" dirty="0">
                          <a:latin typeface="Cambria Math" panose="02040503050406030204" pitchFamily="18" charset="0"/>
                        </a:rPr>
                        <m:t>∈[</m:t>
                      </m:r>
                      <m:r>
                        <a:rPr lang="ru-RU" sz="2200" i="1" dirty="0">
                          <a:latin typeface="Cambria Math" panose="02040503050406030204" pitchFamily="18" charset="0"/>
                        </a:rPr>
                        <m:t>0,1</m:t>
                      </m:r>
                      <m:r>
                        <a:rPr lang="en-US" sz="2200" b="0" i="1" dirty="0" smtClean="0"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en-US" sz="2200" dirty="0"/>
              </a:p>
              <a:p>
                <a:pPr marL="0" indent="0">
                  <a:buNone/>
                </a:pPr>
                <a:r>
                  <a:rPr lang="ru-RU" sz="2200" dirty="0" smtClean="0"/>
                  <a:t>Интеграция этих функций задет внутреннее состояние</a:t>
                </a:r>
                <a:r>
                  <a:rPr lang="en-US" sz="2200" dirty="0" smtClean="0"/>
                  <a:t> </a:t>
                </a:r>
                <a14:m>
                  <m:oMath xmlns:m="http://schemas.openxmlformats.org/officeDocument/2006/math">
                    <m:acc>
                      <m:accPr>
                        <m:chr m:val="̌"/>
                        <m:ctrlPr>
                          <a:rPr lang="ru-RU" sz="22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</m:acc>
                  </m:oMath>
                </a14:m>
                <a:endParaRPr lang="ru-RU" sz="2200" dirty="0" smtClean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̌"/>
                              <m:ctrlPr>
                                <a:rPr lang="ru-RU" sz="220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200" b="0" i="1" smtClean="0">
                                  <a:latin typeface="Cambria Math" panose="02040503050406030204" pitchFamily="18" charset="0"/>
                                </a:rPr>
                                <m:t>𝐻</m:t>
                              </m:r>
                            </m:e>
                          </m:acc>
                        </m:e>
                        <m:sub>
                          <m:r>
                            <a:rPr lang="en-US" sz="22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2200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US" sz="22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sz="2200" b="0" i="0" smtClean="0">
                          <a:latin typeface="Cambria Math" panose="02040503050406030204" pitchFamily="18" charset="0"/>
                        </a:rPr>
                        <m:t>tanh</m:t>
                      </m:r>
                      <m:r>
                        <a:rPr lang="en-US" sz="2200" b="0" i="1" smtClean="0">
                          <a:latin typeface="Cambria Math" panose="02040503050406030204" pitchFamily="18" charset="0"/>
                        </a:rPr>
                        <m:t>⁡(</m:t>
                      </m:r>
                      <m:sSup>
                        <m:sSupPr>
                          <m:ctrlPr>
                            <a:rPr lang="en-US" sz="22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200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p>
                          <m:r>
                            <a:rPr lang="en-US" sz="2200" b="0" i="1" smtClean="0">
                              <a:latin typeface="Cambria Math" panose="02040503050406030204" pitchFamily="18" charset="0"/>
                            </a:rPr>
                            <m:t>𝐻</m:t>
                          </m:r>
                        </m:sup>
                      </m:sSup>
                      <m:sSub>
                        <m:sSubPr>
                          <m:ctrlPr>
                            <a:rPr lang="en-US" sz="2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2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sz="22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en-US" sz="2200" b="0" i="1" smtClean="0"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en-US" sz="22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2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p>
                          <m:r>
                            <a:rPr lang="en-US" sz="2200" b="0" i="1" smtClean="0">
                              <a:latin typeface="Cambria Math" panose="02040503050406030204" pitchFamily="18" charset="0"/>
                            </a:rPr>
                            <m:t>𝐻</m:t>
                          </m:r>
                        </m:sup>
                      </m:sSup>
                      <m:d>
                        <m:dPr>
                          <m:ctrlPr>
                            <a:rPr lang="en-US" sz="2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ru-RU" sz="2200" i="1" dirty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ru-RU" sz="2200" i="1" dirty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altLang="ru-RU" sz="2200" i="1" dirty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en-US" altLang="ru-RU" sz="2200" i="1" dirty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</m:sub>
                          </m:sSub>
                          <m:r>
                            <a:rPr lang="en-US" sz="2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⊙</m:t>
                          </m:r>
                          <m:sSub>
                            <m:sSubPr>
                              <m:ctrlPr>
                                <a:rPr lang="en-US" sz="2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𝐻</m:t>
                              </m:r>
                            </m:e>
                            <m:sub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  <m:r>
                        <a:rPr lang="en-US" sz="22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200" dirty="0" smtClean="0"/>
              </a:p>
              <a:p>
                <a:pPr marL="0" indent="0">
                  <a:buNone/>
                </a:pPr>
                <a:r>
                  <a:rPr lang="ru-RU" sz="2200" dirty="0" smtClean="0"/>
                  <a:t>если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ru-RU" sz="2200" i="1" dirty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ru-RU" sz="2200" i="1" dirty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altLang="ru-RU" sz="2200" i="1" dirty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altLang="ru-RU" sz="2200" i="1" dirty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</m:oMath>
                </a14:m>
                <a:r>
                  <a:rPr lang="ru-RU" sz="2200" dirty="0" smtClean="0"/>
                  <a:t>=1 получается </a:t>
                </a:r>
                <a:r>
                  <a:rPr lang="en-US" sz="2200" dirty="0" smtClean="0"/>
                  <a:t>RNN </a:t>
                </a:r>
                <a:r>
                  <a:rPr lang="ru-RU" sz="2200" dirty="0" smtClean="0"/>
                  <a:t>(полный учет контекста)</a:t>
                </a:r>
                <a:r>
                  <a:rPr lang="en-US" sz="2200" dirty="0" smtClean="0"/>
                  <a:t>, </a:t>
                </a:r>
              </a:p>
              <a:p>
                <a:pPr marL="0" indent="0">
                  <a:buNone/>
                </a:pPr>
                <a:r>
                  <a:rPr lang="ru-RU" sz="2200" dirty="0" smtClean="0"/>
                  <a:t>если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ru-RU" sz="2200" i="1" dirty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ru-RU" sz="2200" i="1" dirty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altLang="ru-RU" sz="2200" i="1" dirty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altLang="ru-RU" sz="2200" i="1" dirty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</m:oMath>
                </a14:m>
                <a:r>
                  <a:rPr lang="ru-RU" sz="2200" dirty="0" smtClean="0"/>
                  <a:t>=0 </a:t>
                </a:r>
                <a:r>
                  <a:rPr lang="en-US" sz="2200" dirty="0" smtClean="0"/>
                  <a:t>MLP (reset)</a:t>
                </a:r>
                <a:r>
                  <a:rPr lang="ru-RU" sz="2200" dirty="0" smtClean="0"/>
                  <a:t> </a:t>
                </a:r>
              </a:p>
              <a:p>
                <a:pPr marL="0" indent="0">
                  <a:buNone/>
                </a:pPr>
                <a:r>
                  <a:rPr lang="ru-RU" sz="2200" dirty="0" smtClean="0"/>
                  <a:t>состояние  памяти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ru-RU" sz="2200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</m:oMath>
                </a14:m>
                <a:r>
                  <a:rPr lang="ru-RU" sz="2200" dirty="0" smtClean="0"/>
                  <a:t>– скользящее среднее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ru-RU" sz="2200" dirty="0" smtClean="0"/>
                  <a:t> и текущего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̌"/>
                            <m:ctrlPr>
                              <a:rPr lang="ru-RU" sz="22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200" i="1">
                                <a:latin typeface="Cambria Math" panose="02040503050406030204" pitchFamily="18" charset="0"/>
                              </a:rPr>
                              <m:t>𝐻</m:t>
                            </m:r>
                          </m:e>
                        </m:acc>
                      </m:e>
                      <m:sub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</m:oMath>
                </a14:m>
                <a:endParaRPr lang="ru-RU" sz="2200" dirty="0" smtClean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𝐻</m:t>
                          </m:r>
                        </m:e>
                        <m:sub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ru-RU" sz="2200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ru-RU" sz="22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ru-RU" sz="22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ru-RU" sz="22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en-US" altLang="ru-RU" sz="22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altLang="ru-RU" sz="22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US" sz="2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⊙</m:t>
                      </m:r>
                      <m:sSub>
                        <m:sSubPr>
                          <m:ctrlPr>
                            <a:rPr lang="en-US" sz="2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𝐻</m:t>
                          </m:r>
                        </m:e>
                        <m:sub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ru-RU" sz="2200" b="0" i="1" smtClean="0">
                          <a:latin typeface="Cambria Math" panose="02040503050406030204" pitchFamily="18" charset="0"/>
                        </a:rPr>
                        <m:t>+(1−</m:t>
                      </m:r>
                      <m:sSub>
                        <m:sSubPr>
                          <m:ctrlPr>
                            <a:rPr lang="en-US" altLang="ru-RU" sz="22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ru-RU" sz="22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en-US" altLang="ru-RU" sz="22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altLang="ru-RU" sz="2200" i="1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ru-RU" sz="2200" b="0" i="1" smtClean="0">
                          <a:latin typeface="Cambria Math" panose="02040503050406030204" pitchFamily="18" charset="0"/>
                        </a:rPr>
                        <m:t>)</m:t>
                      </m:r>
                      <m:sSub>
                        <m:sSubPr>
                          <m:ctrlPr>
                            <a:rPr lang="en-US" sz="2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̌"/>
                              <m:ctrlPr>
                                <a:rPr lang="ru-RU" sz="22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𝐻</m:t>
                              </m:r>
                            </m:e>
                          </m:acc>
                        </m:e>
                        <m:sub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</m:oMath>
                  </m:oMathPara>
                </a14:m>
                <a:endParaRPr lang="en-US" sz="2200" dirty="0" smtClean="0"/>
              </a:p>
              <a:p>
                <a:pPr marL="0" indent="0">
                  <a:buNone/>
                </a:pPr>
                <a:r>
                  <a:rPr lang="ru-RU" dirty="0" smtClean="0"/>
                  <a:t>Такая ячейка - </a:t>
                </a:r>
                <a:r>
                  <a:rPr lang="en-US" dirty="0"/>
                  <a:t>Gated Recurrent Units (GRU)</a:t>
                </a:r>
                <a:endParaRPr lang="ru-RU" dirty="0"/>
              </a:p>
            </p:txBody>
          </p:sp>
        </mc:Choice>
        <mc:Fallback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27818" y="943898"/>
                <a:ext cx="11523407" cy="5338915"/>
              </a:xfrm>
              <a:blipFill>
                <a:blip r:embed="rId2"/>
                <a:stretch>
                  <a:fillRect l="-1111" t="-1484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Прямоугольник 3"/>
          <p:cNvSpPr/>
          <p:nvPr/>
        </p:nvSpPr>
        <p:spPr>
          <a:xfrm>
            <a:off x="235972" y="6374266"/>
            <a:ext cx="4928337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dirty="0"/>
              <a:t>https://d2l.ai/chapter_recurrent-modern/gru.html</a:t>
            </a:r>
          </a:p>
        </p:txBody>
      </p:sp>
      <p:pic>
        <p:nvPicPr>
          <p:cNvPr id="5" name="Рисунок 4"/>
          <p:cNvPicPr>
            <a:picLocks noChangeAspect="1"/>
          </p:cNvPicPr>
          <p:nvPr/>
        </p:nvPicPr>
        <p:blipFill rotWithShape="1">
          <a:blip r:embed="rId3"/>
          <a:srcRect l="1643" r="52807"/>
          <a:stretch/>
        </p:blipFill>
        <p:spPr>
          <a:xfrm>
            <a:off x="8229600" y="3930736"/>
            <a:ext cx="3962400" cy="28128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9755361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495300" y="1913213"/>
            <a:ext cx="6434397" cy="4351338"/>
          </a:xfrm>
        </p:spPr>
        <p:txBody>
          <a:bodyPr/>
          <a:lstStyle/>
          <a:p>
            <a:r>
              <a:rPr lang="ru-RU" dirty="0" smtClean="0"/>
              <a:t>Несмотря на теоретическую обоснованность </a:t>
            </a:r>
            <a:r>
              <a:rPr lang="en-US" dirty="0" smtClean="0"/>
              <a:t>GRU </a:t>
            </a:r>
            <a:r>
              <a:rPr lang="ru-RU" dirty="0" smtClean="0"/>
              <a:t>как правило менее точные чем </a:t>
            </a:r>
            <a:r>
              <a:rPr lang="en-US" dirty="0" smtClean="0"/>
              <a:t>LSTM</a:t>
            </a:r>
            <a:endParaRPr lang="ru-RU" dirty="0"/>
          </a:p>
        </p:txBody>
      </p:sp>
      <p:sp>
        <p:nvSpPr>
          <p:cNvPr id="4" name="Прямоугольник 3"/>
          <p:cNvSpPr/>
          <p:nvPr/>
        </p:nvSpPr>
        <p:spPr>
          <a:xfrm>
            <a:off x="6469626" y="6458635"/>
            <a:ext cx="6096000" cy="307777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ru-RU" sz="1400" dirty="0"/>
              <a:t>https://github.com/haksorus/walmart-time-series?tab=readme-ov-file</a:t>
            </a:r>
          </a:p>
        </p:txBody>
      </p:sp>
      <p:pic>
        <p:nvPicPr>
          <p:cNvPr id="10242" name="Picture 2" descr="image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35064" y="478495"/>
            <a:ext cx="5207710" cy="20910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Рисунок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70023" y="2851228"/>
            <a:ext cx="4355277" cy="37671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592598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5568</TotalTime>
  <Words>585</Words>
  <Application>Microsoft Office PowerPoint</Application>
  <PresentationFormat>Широкоэкранный</PresentationFormat>
  <Paragraphs>158</Paragraphs>
  <Slides>18</Slides>
  <Notes>0</Notes>
  <HiddenSlides>2</HiddenSlides>
  <MMClips>0</MMClips>
  <ScaleCrop>false</ScaleCrop>
  <HeadingPairs>
    <vt:vector size="6" baseType="variant">
      <vt:variant>
        <vt:lpstr>Использованные шрифты</vt:lpstr>
      </vt:variant>
      <vt:variant>
        <vt:i4>6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18</vt:i4>
      </vt:variant>
    </vt:vector>
  </HeadingPairs>
  <TitlesOfParts>
    <vt:vector size="25" baseType="lpstr">
      <vt:lpstr>-apple-system</vt:lpstr>
      <vt:lpstr>Arial</vt:lpstr>
      <vt:lpstr>Calibri</vt:lpstr>
      <vt:lpstr>Calibri Light</vt:lpstr>
      <vt:lpstr>Cambria Math</vt:lpstr>
      <vt:lpstr>var(--jp-code-font-family)</vt:lpstr>
      <vt:lpstr>Тема Office</vt:lpstr>
      <vt:lpstr>Использование методов глубокого обучения в анализе временных рядов</vt:lpstr>
      <vt:lpstr>Проблемы AR – Net подхода</vt:lpstr>
      <vt:lpstr>Проблемы MLP подхода для сложных паттернов</vt:lpstr>
      <vt:lpstr>Рекуррентные подходы.</vt:lpstr>
      <vt:lpstr>Простая рекуррентная нейронные сети</vt:lpstr>
      <vt:lpstr>RNN Интуиция</vt:lpstr>
      <vt:lpstr>RNN типы подходов</vt:lpstr>
      <vt:lpstr>RNN. Особенности обучения </vt:lpstr>
      <vt:lpstr>RNN. Ограниченное обучение</vt:lpstr>
      <vt:lpstr>Расширение контекста RNN</vt:lpstr>
      <vt:lpstr>BiDirextional RNN</vt:lpstr>
      <vt:lpstr>Рекуррентные нейронные сети</vt:lpstr>
      <vt:lpstr>Долгосрочно-краткосрочная RNN = LSTM</vt:lpstr>
      <vt:lpstr>Долгосрочно-краткосрочная RNN = LSTM</vt:lpstr>
      <vt:lpstr>Долгосрочно-краткосрочная RNN = LSTM</vt:lpstr>
      <vt:lpstr>Долгосрочно-краткосрочная RNN = LSTM</vt:lpstr>
      <vt:lpstr>Gated Recurrent Units (GRU)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AutoRegressive Moving Average models</dc:title>
  <dc:creator>Ронкин Михаил Владимирович</dc:creator>
  <cp:lastModifiedBy>Ронкин Михаил Владимирович</cp:lastModifiedBy>
  <cp:revision>353</cp:revision>
  <dcterms:created xsi:type="dcterms:W3CDTF">2021-11-21T16:45:21Z</dcterms:created>
  <dcterms:modified xsi:type="dcterms:W3CDTF">2025-08-15T12:39:15Z</dcterms:modified>
</cp:coreProperties>
</file>