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6"/>
  </p:notesMasterIdLst>
  <p:sldIdLst>
    <p:sldId id="256" r:id="rId2"/>
    <p:sldId id="427" r:id="rId3"/>
    <p:sldId id="428" r:id="rId4"/>
    <p:sldId id="430" r:id="rId5"/>
    <p:sldId id="429" r:id="rId6"/>
    <p:sldId id="407" r:id="rId7"/>
    <p:sldId id="409" r:id="rId8"/>
    <p:sldId id="422" r:id="rId9"/>
    <p:sldId id="425" r:id="rId10"/>
    <p:sldId id="426" r:id="rId11"/>
    <p:sldId id="423" r:id="rId12"/>
    <p:sldId id="424" r:id="rId13"/>
    <p:sldId id="408" r:id="rId14"/>
    <p:sldId id="418" r:id="rId15"/>
    <p:sldId id="410" r:id="rId16"/>
    <p:sldId id="411" r:id="rId17"/>
    <p:sldId id="414" r:id="rId18"/>
    <p:sldId id="415" r:id="rId19"/>
    <p:sldId id="413" r:id="rId20"/>
    <p:sldId id="416" r:id="rId21"/>
    <p:sldId id="412" r:id="rId22"/>
    <p:sldId id="419" r:id="rId23"/>
    <p:sldId id="421" r:id="rId24"/>
    <p:sldId id="420" r:id="rId25"/>
    <p:sldId id="406" r:id="rId26"/>
    <p:sldId id="417" r:id="rId27"/>
    <p:sldId id="336" r:id="rId28"/>
    <p:sldId id="397" r:id="rId29"/>
    <p:sldId id="261" r:id="rId30"/>
    <p:sldId id="337"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64" r:id="rId57"/>
    <p:sldId id="365" r:id="rId58"/>
    <p:sldId id="366" r:id="rId59"/>
    <p:sldId id="367" r:id="rId60"/>
    <p:sldId id="368" r:id="rId61"/>
    <p:sldId id="369" r:id="rId62"/>
    <p:sldId id="370" r:id="rId63"/>
    <p:sldId id="371" r:id="rId64"/>
    <p:sldId id="372" r:id="rId65"/>
    <p:sldId id="373" r:id="rId66"/>
    <p:sldId id="374" r:id="rId67"/>
    <p:sldId id="375" r:id="rId68"/>
    <p:sldId id="376" r:id="rId69"/>
    <p:sldId id="398" r:id="rId70"/>
    <p:sldId id="399" r:id="rId71"/>
    <p:sldId id="400" r:id="rId72"/>
    <p:sldId id="401" r:id="rId73"/>
    <p:sldId id="402" r:id="rId74"/>
    <p:sldId id="403" r:id="rId75"/>
    <p:sldId id="404" r:id="rId76"/>
    <p:sldId id="377" r:id="rId77"/>
    <p:sldId id="378" r:id="rId78"/>
    <p:sldId id="379" r:id="rId79"/>
    <p:sldId id="381" r:id="rId80"/>
    <p:sldId id="382" r:id="rId81"/>
    <p:sldId id="383" r:id="rId82"/>
    <p:sldId id="384" r:id="rId83"/>
    <p:sldId id="385" r:id="rId84"/>
    <p:sldId id="386" r:id="rId85"/>
    <p:sldId id="387" r:id="rId86"/>
    <p:sldId id="388" r:id="rId87"/>
    <p:sldId id="389" r:id="rId88"/>
    <p:sldId id="390" r:id="rId89"/>
    <p:sldId id="391" r:id="rId90"/>
    <p:sldId id="392" r:id="rId91"/>
    <p:sldId id="393" r:id="rId92"/>
    <p:sldId id="394" r:id="rId93"/>
    <p:sldId id="395" r:id="rId94"/>
    <p:sldId id="396"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18" autoAdjust="0"/>
    <p:restoredTop sz="62603"/>
  </p:normalViewPr>
  <p:slideViewPr>
    <p:cSldViewPr snapToGrid="0">
      <p:cViewPr varScale="1">
        <p:scale>
          <a:sx n="72" d="100"/>
          <a:sy n="72" d="100"/>
        </p:scale>
        <p:origin x="244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6F0A9E-F878-C24A-9366-0E3E29539F56}" type="datetimeFigureOut">
              <a:rPr lang="ru-RU" smtClean="0"/>
              <a:t>17.08.2025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447EF7-48D7-F44E-B4C5-846915B70A78}" type="slidenum">
              <a:rPr lang="ru-RU" smtClean="0"/>
              <a:t>‹#›</a:t>
            </a:fld>
            <a:endParaRPr lang="ru-RU"/>
          </a:p>
        </p:txBody>
      </p:sp>
    </p:spTree>
    <p:extLst>
      <p:ext uri="{BB962C8B-B14F-4D97-AF65-F5344CB8AC3E}">
        <p14:creationId xmlns:p14="http://schemas.microsoft.com/office/powerpoint/2010/main" val="1386971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lvl="0"/>
            <a:r>
              <a:rPr lang="en-US" sz="1200" b="1" kern="1200" dirty="0">
                <a:solidFill>
                  <a:schemeClr val="tx1"/>
                </a:solidFill>
                <a:effectLst/>
                <a:latin typeface="+mn-lt"/>
                <a:ea typeface="+mn-ea"/>
                <a:cs typeface="+mn-cs"/>
              </a:rPr>
              <a:t>1.1. </a:t>
            </a:r>
            <a:r>
              <a:rPr lang="ru-RU" sz="1200" b="1"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Greedy Search (</a:t>
            </a:r>
            <a:r>
              <a:rPr lang="ru-RU" sz="1200" b="1" kern="1200" dirty="0">
                <a:solidFill>
                  <a:schemeClr val="tx1"/>
                </a:solidFill>
                <a:effectLst/>
                <a:latin typeface="+mn-lt"/>
                <a:ea typeface="+mn-ea"/>
                <a:cs typeface="+mn-cs"/>
              </a:rPr>
              <a:t>Жадный поиск</a:t>
            </a:r>
            <a:r>
              <a:rPr lang="en-US" sz="1200" b="1" kern="1200" dirty="0">
                <a:solidFill>
                  <a:schemeClr val="tx1"/>
                </a:solidFill>
                <a:effectLst/>
                <a:latin typeface="+mn-lt"/>
                <a:ea typeface="+mn-ea"/>
                <a:cs typeface="+mn-cs"/>
              </a:rPr>
              <a:t>)</a:t>
            </a:r>
            <a:endParaRPr lang="ru-RU" sz="1200" kern="1200" dirty="0">
              <a:solidFill>
                <a:schemeClr val="tx1"/>
              </a:solidFill>
              <a:effectLst/>
              <a:latin typeface="+mn-lt"/>
              <a:ea typeface="+mn-ea"/>
              <a:cs typeface="+mn-cs"/>
            </a:endParaRPr>
          </a:p>
          <a:p>
            <a:pPr lvl="0"/>
            <a:r>
              <a:rPr lang="ru-RU" sz="1200" b="1" kern="1200" dirty="0">
                <a:solidFill>
                  <a:schemeClr val="tx1"/>
                </a:solidFill>
                <a:effectLst/>
                <a:latin typeface="+mn-lt"/>
                <a:ea typeface="+mn-ea"/>
                <a:cs typeface="+mn-cs"/>
              </a:rPr>
              <a:t>Как работает:</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На каждом шаге выбирается токен (значение) с максимальной вероятностью:</a:t>
            </a:r>
          </a:p>
          <a:p>
            <a:pPr lvl="0"/>
            <a:r>
              <a:rPr lang="en-US" sz="1200" i="1" kern="1200" dirty="0" err="1">
                <a:solidFill>
                  <a:schemeClr val="tx1"/>
                </a:solidFill>
                <a:effectLst/>
                <a:latin typeface="+mn-lt"/>
                <a:ea typeface="+mn-ea"/>
                <a:cs typeface="+mn-cs"/>
              </a:rPr>
              <a:t>yt</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arg</a:t>
            </a:r>
            <a:r>
              <a:rPr lang="en-US" sz="1200" i="1" kern="1200" dirty="0" err="1">
                <a:solidFill>
                  <a:schemeClr val="tx1"/>
                </a:solidFill>
                <a:effectLst/>
                <a:latin typeface="+mn-lt"/>
                <a:ea typeface="+mn-ea"/>
                <a:cs typeface="+mn-cs"/>
              </a:rPr>
              <a:t>y</a:t>
            </a:r>
            <a:r>
              <a:rPr lang="en-US" sz="1200" kern="12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yt</a:t>
            </a:r>
            <a:r>
              <a:rPr lang="en-US" sz="1200" kern="12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где </a:t>
            </a:r>
            <a:r>
              <a:rPr lang="en-US" sz="1200" b="1" kern="1200" dirty="0">
                <a:solidFill>
                  <a:schemeClr val="tx1"/>
                </a:solidFill>
                <a:effectLst/>
                <a:latin typeface="+mn-lt"/>
                <a:ea typeface="+mn-ea"/>
                <a:cs typeface="+mn-cs"/>
              </a:rPr>
              <a:t>c</a:t>
            </a:r>
            <a:r>
              <a:rPr lang="ru-RU" sz="1200" kern="1200" dirty="0">
                <a:solidFill>
                  <a:schemeClr val="tx1"/>
                </a:solidFill>
                <a:effectLst/>
                <a:latin typeface="+mn-lt"/>
                <a:ea typeface="+mn-ea"/>
                <a:cs typeface="+mn-cs"/>
              </a:rPr>
              <a:t> — контекст (скрытое состояние или вектор внимания).</a:t>
            </a:r>
          </a:p>
          <a:p>
            <a:pPr lvl="0"/>
            <a:r>
              <a:rPr lang="ru-RU" sz="1200" b="1" kern="1200" dirty="0">
                <a:solidFill>
                  <a:schemeClr val="tx1"/>
                </a:solidFill>
                <a:effectLst/>
                <a:latin typeface="+mn-lt"/>
                <a:ea typeface="+mn-ea"/>
                <a:cs typeface="+mn-cs"/>
              </a:rPr>
              <a:t>Пример:</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Пусть на шаге 1:</a:t>
            </a:r>
          </a:p>
          <a:p>
            <a:pPr lvl="0"/>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)=0.6 , </a:t>
            </a:r>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)=0.3 , </a:t>
            </a:r>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)=0.1 → </a:t>
            </a:r>
            <a:r>
              <a:rPr lang="ru-RU" sz="1200" kern="1200" dirty="0">
                <a:solidFill>
                  <a:schemeClr val="tx1"/>
                </a:solidFill>
                <a:effectLst/>
                <a:latin typeface="+mn-lt"/>
                <a:ea typeface="+mn-ea"/>
                <a:cs typeface="+mn-cs"/>
              </a:rPr>
              <a:t>выбираем </a:t>
            </a:r>
            <a:r>
              <a:rPr lang="en-US" sz="1200" kern="1200" dirty="0">
                <a:solidFill>
                  <a:schemeClr val="tx1"/>
                </a:solidFill>
                <a:effectLst/>
                <a:latin typeface="+mn-lt"/>
                <a:ea typeface="+mn-ea"/>
                <a:cs typeface="+mn-cs"/>
              </a:rPr>
              <a:t>A.</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На шаге 2:</a:t>
            </a:r>
          </a:p>
          <a:p>
            <a:pPr lvl="0"/>
            <a:r>
              <a:rPr lang="en-US" sz="1200" i="1" kern="1200" dirty="0">
                <a:solidFill>
                  <a:schemeClr val="tx1"/>
                </a:solidFill>
                <a:effectLst/>
                <a:latin typeface="+mn-lt"/>
                <a:ea typeface="+mn-ea"/>
                <a:cs typeface="+mn-cs"/>
              </a:rPr>
              <a:t>P</a:t>
            </a:r>
            <a:r>
              <a:rPr lang="ru-RU"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B</a:t>
            </a:r>
            <a:r>
              <a:rPr lang="ru-RU"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A</a:t>
            </a:r>
            <a:r>
              <a:rPr lang="ru-RU" sz="1200" kern="1200" dirty="0">
                <a:solidFill>
                  <a:schemeClr val="tx1"/>
                </a:solidFill>
                <a:effectLst/>
                <a:latin typeface="+mn-lt"/>
                <a:ea typeface="+mn-ea"/>
                <a:cs typeface="+mn-cs"/>
              </a:rPr>
              <a:t>)=0.7 , </a:t>
            </a:r>
            <a:r>
              <a:rPr lang="en-US" sz="1200" i="1" kern="1200" dirty="0">
                <a:solidFill>
                  <a:schemeClr val="tx1"/>
                </a:solidFill>
                <a:effectLst/>
                <a:latin typeface="+mn-lt"/>
                <a:ea typeface="+mn-ea"/>
                <a:cs typeface="+mn-cs"/>
              </a:rPr>
              <a:t>P</a:t>
            </a:r>
            <a:r>
              <a:rPr lang="ru-RU"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C</a:t>
            </a:r>
            <a:r>
              <a:rPr lang="ru-RU"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A</a:t>
            </a:r>
            <a:r>
              <a:rPr lang="ru-RU" sz="1200" kern="1200" dirty="0">
                <a:solidFill>
                  <a:schemeClr val="tx1"/>
                </a:solidFill>
                <a:effectLst/>
                <a:latin typeface="+mn-lt"/>
                <a:ea typeface="+mn-ea"/>
                <a:cs typeface="+mn-cs"/>
              </a:rPr>
              <a:t>)=0.2 → выбираем </a:t>
            </a:r>
            <a:r>
              <a:rPr lang="en-US" sz="1200" kern="1200" dirty="0">
                <a:solidFill>
                  <a:schemeClr val="tx1"/>
                </a:solidFill>
                <a:effectLst/>
                <a:latin typeface="+mn-lt"/>
                <a:ea typeface="+mn-ea"/>
                <a:cs typeface="+mn-cs"/>
              </a:rPr>
              <a:t>B</a:t>
            </a:r>
            <a:r>
              <a:rPr lang="ru-RU" sz="1200" kern="1200" dirty="0">
                <a:solidFill>
                  <a:schemeClr val="tx1"/>
                </a:solidFill>
                <a:effectLst/>
                <a:latin typeface="+mn-lt"/>
                <a:ea typeface="+mn-ea"/>
                <a:cs typeface="+mn-cs"/>
              </a:rPr>
              <a:t>.</a:t>
            </a:r>
          </a:p>
          <a:p>
            <a:pPr lvl="0"/>
            <a:r>
              <a:rPr lang="ru-RU" sz="1200" kern="1200" dirty="0">
                <a:solidFill>
                  <a:schemeClr val="tx1"/>
                </a:solidFill>
                <a:effectLst/>
                <a:latin typeface="+mn-lt"/>
                <a:ea typeface="+mn-ea"/>
                <a:cs typeface="+mn-cs"/>
              </a:rPr>
              <a:t>И так далее, пока не выйдет &lt;</a:t>
            </a:r>
            <a:r>
              <a:rPr lang="en-US" sz="1200" kern="1200" dirty="0" err="1">
                <a:solidFill>
                  <a:schemeClr val="tx1"/>
                </a:solidFill>
                <a:effectLst/>
                <a:latin typeface="+mn-lt"/>
                <a:ea typeface="+mn-ea"/>
                <a:cs typeface="+mn-cs"/>
              </a:rPr>
              <a:t>eos</a:t>
            </a:r>
            <a:r>
              <a:rPr lang="ru-RU" sz="1200" kern="1200" dirty="0">
                <a:solidFill>
                  <a:schemeClr val="tx1"/>
                </a:solidFill>
                <a:effectLst/>
                <a:latin typeface="+mn-lt"/>
                <a:ea typeface="+mn-ea"/>
                <a:cs typeface="+mn-cs"/>
              </a:rPr>
              <a:t>&gt; или не достигнем длины прогноза.</a:t>
            </a:r>
          </a:p>
          <a:p>
            <a:pPr lvl="0"/>
            <a:r>
              <a:rPr lang="ru-RU" sz="1200" b="1" kern="1200" dirty="0">
                <a:solidFill>
                  <a:schemeClr val="tx1"/>
                </a:solidFill>
                <a:effectLst/>
                <a:latin typeface="+mn-lt"/>
                <a:ea typeface="+mn-ea"/>
                <a:cs typeface="+mn-cs"/>
              </a:rPr>
              <a:t>Плюсы:</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Очень быстрый.</a:t>
            </a:r>
          </a:p>
          <a:p>
            <a:pPr lvl="0"/>
            <a:r>
              <a:rPr lang="ru-RU" sz="1200" kern="1200" dirty="0">
                <a:solidFill>
                  <a:schemeClr val="tx1"/>
                </a:solidFill>
                <a:effectLst/>
                <a:latin typeface="+mn-lt"/>
                <a:ea typeface="+mn-ea"/>
                <a:cs typeface="+mn-cs"/>
              </a:rPr>
              <a:t>Прост в реализации.</a:t>
            </a:r>
          </a:p>
          <a:p>
            <a:pPr lvl="0"/>
            <a:r>
              <a:rPr lang="ru-RU" sz="1200" b="1" kern="1200" dirty="0">
                <a:solidFill>
                  <a:schemeClr val="tx1"/>
                </a:solidFill>
                <a:effectLst/>
                <a:latin typeface="+mn-lt"/>
                <a:ea typeface="+mn-ea"/>
                <a:cs typeface="+mn-cs"/>
              </a:rPr>
              <a:t>Минусы:</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Не гарантирует наиболее вероятную последовательность.</a:t>
            </a:r>
          </a:p>
          <a:p>
            <a:pPr lvl="0"/>
            <a:r>
              <a:rPr lang="ru-RU" sz="1200" kern="1200" dirty="0">
                <a:solidFill>
                  <a:schemeClr val="tx1"/>
                </a:solidFill>
                <a:effectLst/>
                <a:latin typeface="+mn-lt"/>
                <a:ea typeface="+mn-ea"/>
                <a:cs typeface="+mn-cs"/>
              </a:rPr>
              <a:t>Ошибки накапливаются: выбор </a:t>
            </a:r>
            <a:r>
              <a:rPr lang="ru-RU" sz="1200" kern="1200" dirty="0" err="1">
                <a:solidFill>
                  <a:schemeClr val="tx1"/>
                </a:solidFill>
                <a:effectLst/>
                <a:latin typeface="+mn-lt"/>
                <a:ea typeface="+mn-ea"/>
                <a:cs typeface="+mn-cs"/>
              </a:rPr>
              <a:t>подоптимального</a:t>
            </a:r>
            <a:r>
              <a:rPr lang="ru-RU" sz="1200" kern="1200" dirty="0">
                <a:solidFill>
                  <a:schemeClr val="tx1"/>
                </a:solidFill>
                <a:effectLst/>
                <a:latin typeface="+mn-lt"/>
                <a:ea typeface="+mn-ea"/>
                <a:cs typeface="+mn-cs"/>
              </a:rPr>
              <a:t> первого шага может испортить весь прогноз.</a:t>
            </a:r>
          </a:p>
          <a:p>
            <a:pPr lvl="0"/>
            <a:r>
              <a:rPr lang="ru-RU" sz="1200" kern="1200" dirty="0">
                <a:solidFill>
                  <a:schemeClr val="tx1"/>
                </a:solidFill>
                <a:effectLst/>
                <a:latin typeface="+mn-lt"/>
                <a:ea typeface="+mn-ea"/>
                <a:cs typeface="+mn-cs"/>
              </a:rPr>
              <a:t>💡 Важно: наиболее вероятная последовательность — это не последовательность наиболее вероятных токенов. </a:t>
            </a:r>
          </a:p>
          <a:p>
            <a:pPr lvl="0"/>
            <a:r>
              <a:rPr lang="ru-RU" sz="1200" b="1" kern="1200" dirty="0">
                <a:solidFill>
                  <a:schemeClr val="tx1"/>
                </a:solidFill>
                <a:effectLst/>
                <a:latin typeface="+mn-lt"/>
                <a:ea typeface="+mn-ea"/>
                <a:cs typeface="+mn-cs"/>
              </a:rPr>
              <a:t>1.2. 🔍 </a:t>
            </a:r>
            <a:r>
              <a:rPr lang="en-US" sz="1200" b="1" kern="1200" dirty="0">
                <a:solidFill>
                  <a:schemeClr val="tx1"/>
                </a:solidFill>
                <a:effectLst/>
                <a:latin typeface="+mn-lt"/>
                <a:ea typeface="+mn-ea"/>
                <a:cs typeface="+mn-cs"/>
              </a:rPr>
              <a:t>Exhaustive Search (</a:t>
            </a:r>
            <a:r>
              <a:rPr lang="ru-RU" sz="1200" b="1" kern="1200" dirty="0">
                <a:solidFill>
                  <a:schemeClr val="tx1"/>
                </a:solidFill>
                <a:effectLst/>
                <a:latin typeface="+mn-lt"/>
                <a:ea typeface="+mn-ea"/>
                <a:cs typeface="+mn-cs"/>
              </a:rPr>
              <a:t>Полный перебор)</a:t>
            </a:r>
            <a:endParaRPr lang="ru-RU" sz="1200" kern="1200" dirty="0">
              <a:solidFill>
                <a:schemeClr val="tx1"/>
              </a:solidFill>
              <a:effectLst/>
              <a:latin typeface="+mn-lt"/>
              <a:ea typeface="+mn-ea"/>
              <a:cs typeface="+mn-cs"/>
            </a:endParaRPr>
          </a:p>
          <a:p>
            <a:pPr lvl="0"/>
            <a:r>
              <a:rPr lang="ru-RU" sz="1200" b="1" kern="1200" dirty="0">
                <a:solidFill>
                  <a:schemeClr val="tx1"/>
                </a:solidFill>
                <a:effectLst/>
                <a:latin typeface="+mn-lt"/>
                <a:ea typeface="+mn-ea"/>
                <a:cs typeface="+mn-cs"/>
              </a:rPr>
              <a:t>Как работает:</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Перебираются все возможные выходные последовательности.</a:t>
            </a:r>
          </a:p>
          <a:p>
            <a:pPr lvl="0"/>
            <a:r>
              <a:rPr lang="ru-RU" sz="1200" kern="1200" dirty="0">
                <a:solidFill>
                  <a:schemeClr val="tx1"/>
                </a:solidFill>
                <a:effectLst/>
                <a:latin typeface="+mn-lt"/>
                <a:ea typeface="+mn-ea"/>
                <a:cs typeface="+mn-cs"/>
              </a:rPr>
              <a:t>Выбирается та, у которой максимальна общая условная вероятность:</a:t>
            </a:r>
          </a:p>
          <a:p>
            <a:pPr lvl="0"/>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yt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yt</a:t>
            </a:r>
            <a:r>
              <a:rPr lang="en-US" sz="1200" kern="12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a:t>
            </a:r>
            <a:endParaRPr lang="ru-RU" sz="1200" kern="1200" dirty="0">
              <a:solidFill>
                <a:schemeClr val="tx1"/>
              </a:solidFill>
              <a:effectLst/>
              <a:latin typeface="+mn-lt"/>
              <a:ea typeface="+mn-ea"/>
              <a:cs typeface="+mn-cs"/>
            </a:endParaRPr>
          </a:p>
          <a:p>
            <a:pPr lvl="0"/>
            <a:r>
              <a:rPr lang="ru-RU" sz="1200" b="1" kern="1200" dirty="0">
                <a:solidFill>
                  <a:schemeClr val="tx1"/>
                </a:solidFill>
                <a:effectLst/>
                <a:latin typeface="+mn-lt"/>
                <a:ea typeface="+mn-ea"/>
                <a:cs typeface="+mn-cs"/>
              </a:rPr>
              <a:t>Проблема:</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Если словарь (или число возможных значений) = ∣</a:t>
            </a:r>
            <a:r>
              <a:rPr lang="en-US" sz="1200" kern="1200" dirty="0">
                <a:solidFill>
                  <a:schemeClr val="tx1"/>
                </a:solidFill>
                <a:effectLst/>
                <a:latin typeface="+mn-lt"/>
                <a:ea typeface="+mn-ea"/>
                <a:cs typeface="+mn-cs"/>
              </a:rPr>
              <a:t>Y∣ , </a:t>
            </a:r>
            <a:r>
              <a:rPr lang="ru-RU" sz="1200" kern="1200" dirty="0">
                <a:solidFill>
                  <a:schemeClr val="tx1"/>
                </a:solidFill>
                <a:effectLst/>
                <a:latin typeface="+mn-lt"/>
                <a:ea typeface="+mn-ea"/>
                <a:cs typeface="+mn-cs"/>
              </a:rPr>
              <a:t>а длина прогноза = </a:t>
            </a:r>
            <a:r>
              <a:rPr lang="en-US" sz="1200" i="1" kern="1200" dirty="0">
                <a:solidFill>
                  <a:schemeClr val="tx1"/>
                </a:solidFill>
                <a:effectLst/>
                <a:latin typeface="+mn-lt"/>
                <a:ea typeface="+mn-ea"/>
                <a:cs typeface="+mn-cs"/>
              </a:rPr>
              <a:t>T</a:t>
            </a:r>
            <a:r>
              <a:rPr lang="en-US" sz="1200" kern="1200" dirty="0">
                <a:solidFill>
                  <a:schemeClr val="tx1"/>
                </a:solidFill>
                <a:effectLst/>
                <a:latin typeface="+mn-lt"/>
                <a:ea typeface="+mn-ea"/>
                <a:cs typeface="+mn-cs"/>
              </a:rPr>
              <a:t> , </a:t>
            </a:r>
            <a:r>
              <a:rPr lang="ru-RU" sz="1200" kern="1200" dirty="0">
                <a:solidFill>
                  <a:schemeClr val="tx1"/>
                </a:solidFill>
                <a:effectLst/>
                <a:latin typeface="+mn-lt"/>
                <a:ea typeface="+mn-ea"/>
                <a:cs typeface="+mn-cs"/>
              </a:rPr>
              <a:t>то число последовательностей = ∣</a:t>
            </a:r>
            <a:r>
              <a:rPr lang="en-US" sz="1200" kern="1200" dirty="0">
                <a:solidFill>
                  <a:schemeClr val="tx1"/>
                </a:solidFill>
                <a:effectLst/>
                <a:latin typeface="+mn-lt"/>
                <a:ea typeface="+mn-ea"/>
                <a:cs typeface="+mn-cs"/>
              </a:rPr>
              <a:t>Y∣</a:t>
            </a:r>
            <a:r>
              <a:rPr lang="en-US" sz="1200" i="1" kern="1200" dirty="0">
                <a:solidFill>
                  <a:schemeClr val="tx1"/>
                </a:solidFill>
                <a:effectLst/>
                <a:latin typeface="+mn-lt"/>
                <a:ea typeface="+mn-ea"/>
                <a:cs typeface="+mn-cs"/>
              </a:rPr>
              <a:t>T</a:t>
            </a:r>
            <a:r>
              <a:rPr lang="en-US" sz="1200" kern="1200" dirty="0">
                <a:solidFill>
                  <a:schemeClr val="tx1"/>
                </a:solidFill>
                <a:effectLst/>
                <a:latin typeface="+mn-lt"/>
                <a:ea typeface="+mn-ea"/>
                <a:cs typeface="+mn-cs"/>
              </a:rPr>
              <a:t> .</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При ∣</a:t>
            </a:r>
            <a:r>
              <a:rPr lang="en-US" sz="1200" kern="1200" dirty="0">
                <a:solidFill>
                  <a:schemeClr val="tx1"/>
                </a:solidFill>
                <a:effectLst/>
                <a:latin typeface="+mn-lt"/>
                <a:ea typeface="+mn-ea"/>
                <a:cs typeface="+mn-cs"/>
              </a:rPr>
              <a:t>Y∣=100 , </a:t>
            </a:r>
            <a:r>
              <a:rPr lang="en-US" sz="1200" i="1" kern="1200" dirty="0">
                <a:solidFill>
                  <a:schemeClr val="tx1"/>
                </a:solidFill>
                <a:effectLst/>
                <a:latin typeface="+mn-lt"/>
                <a:ea typeface="+mn-ea"/>
                <a:cs typeface="+mn-cs"/>
              </a:rPr>
              <a:t>T</a:t>
            </a:r>
            <a:r>
              <a:rPr lang="en-US" sz="1200" kern="1200" dirty="0">
                <a:solidFill>
                  <a:schemeClr val="tx1"/>
                </a:solidFill>
                <a:effectLst/>
                <a:latin typeface="+mn-lt"/>
                <a:ea typeface="+mn-ea"/>
                <a:cs typeface="+mn-cs"/>
              </a:rPr>
              <a:t>=24 → 10024 </a:t>
            </a:r>
            <a:r>
              <a:rPr lang="ru-RU" sz="1200" kern="1200" dirty="0">
                <a:solidFill>
                  <a:schemeClr val="tx1"/>
                </a:solidFill>
                <a:effectLst/>
                <a:latin typeface="+mn-lt"/>
                <a:ea typeface="+mn-ea"/>
                <a:cs typeface="+mn-cs"/>
              </a:rPr>
              <a:t>комбинаций → непрактично.</a:t>
            </a:r>
          </a:p>
          <a:p>
            <a:pPr lvl="0"/>
            <a:r>
              <a:rPr lang="ru-RU" sz="1200" b="1" kern="1200" dirty="0">
                <a:solidFill>
                  <a:schemeClr val="tx1"/>
                </a:solidFill>
                <a:effectLst/>
                <a:latin typeface="+mn-lt"/>
                <a:ea typeface="+mn-ea"/>
                <a:cs typeface="+mn-cs"/>
              </a:rPr>
              <a:t>Вывод:</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Идеален с точки зрения точности.</a:t>
            </a:r>
          </a:p>
          <a:p>
            <a:pPr lvl="0"/>
            <a:r>
              <a:rPr lang="ru-RU" sz="1200" kern="1200" dirty="0">
                <a:solidFill>
                  <a:schemeClr val="tx1"/>
                </a:solidFill>
                <a:effectLst/>
                <a:latin typeface="+mn-lt"/>
                <a:ea typeface="+mn-ea"/>
                <a:cs typeface="+mn-cs"/>
              </a:rPr>
              <a:t>Абсолютно неприменим на практике.</a:t>
            </a:r>
          </a:p>
          <a:p>
            <a:pPr lvl="0"/>
            <a:r>
              <a:rPr lang="ru-RU" sz="1200" b="1" kern="1200" dirty="0">
                <a:solidFill>
                  <a:schemeClr val="tx1"/>
                </a:solidFill>
                <a:effectLst/>
                <a:latin typeface="+mn-lt"/>
                <a:ea typeface="+mn-ea"/>
                <a:cs typeface="+mn-cs"/>
              </a:rPr>
              <a:t>1.3. 🔀 </a:t>
            </a:r>
            <a:r>
              <a:rPr lang="en-US" sz="1200" b="1" kern="1200" dirty="0">
                <a:solidFill>
                  <a:schemeClr val="tx1"/>
                </a:solidFill>
                <a:effectLst/>
                <a:latin typeface="+mn-lt"/>
                <a:ea typeface="+mn-ea"/>
                <a:cs typeface="+mn-cs"/>
              </a:rPr>
              <a:t>Beam Search (</a:t>
            </a:r>
            <a:r>
              <a:rPr lang="ru-RU" sz="1200" b="1" kern="1200" dirty="0">
                <a:solidFill>
                  <a:schemeClr val="tx1"/>
                </a:solidFill>
                <a:effectLst/>
                <a:latin typeface="+mn-lt"/>
                <a:ea typeface="+mn-ea"/>
                <a:cs typeface="+mn-cs"/>
              </a:rPr>
              <a:t>Поиск с ветвлением)</a:t>
            </a:r>
            <a:endParaRPr lang="ru-RU" sz="1200" kern="1200" dirty="0">
              <a:solidFill>
                <a:schemeClr val="tx1"/>
              </a:solidFill>
              <a:effectLst/>
              <a:latin typeface="+mn-lt"/>
              <a:ea typeface="+mn-ea"/>
              <a:cs typeface="+mn-cs"/>
            </a:endParaRPr>
          </a:p>
          <a:p>
            <a:pPr lvl="0"/>
            <a:r>
              <a:rPr lang="ru-RU" sz="1200" b="1" kern="1200" dirty="0">
                <a:solidFill>
                  <a:schemeClr val="tx1"/>
                </a:solidFill>
                <a:effectLst/>
                <a:latin typeface="+mn-lt"/>
                <a:ea typeface="+mn-ea"/>
                <a:cs typeface="+mn-cs"/>
              </a:rPr>
              <a:t>Основная идея:</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Компромисс между </a:t>
            </a:r>
            <a:r>
              <a:rPr lang="en-US" sz="1200" kern="1200" dirty="0">
                <a:solidFill>
                  <a:schemeClr val="tx1"/>
                </a:solidFill>
                <a:effectLst/>
                <a:latin typeface="+mn-lt"/>
                <a:ea typeface="+mn-ea"/>
                <a:cs typeface="+mn-cs"/>
              </a:rPr>
              <a:t>greedy </a:t>
            </a:r>
            <a:r>
              <a:rPr lang="ru-RU" sz="1200" kern="1200" dirty="0">
                <a:solidFill>
                  <a:schemeClr val="tx1"/>
                </a:solidFill>
                <a:effectLst/>
                <a:latin typeface="+mn-lt"/>
                <a:ea typeface="+mn-ea"/>
                <a:cs typeface="+mn-cs"/>
              </a:rPr>
              <a:t>и </a:t>
            </a:r>
            <a:r>
              <a:rPr lang="en-US" sz="1200" kern="1200" dirty="0">
                <a:solidFill>
                  <a:schemeClr val="tx1"/>
                </a:solidFill>
                <a:effectLst/>
                <a:latin typeface="+mn-lt"/>
                <a:ea typeface="+mn-ea"/>
                <a:cs typeface="+mn-cs"/>
              </a:rPr>
              <a:t>exhaustive search.</a:t>
            </a:r>
            <a:br>
              <a:rPr lang="en-US" sz="1200" kern="1200" dirty="0">
                <a:solidFill>
                  <a:schemeClr val="tx1"/>
                </a:solidFill>
                <a:effectLst/>
                <a:latin typeface="+mn-lt"/>
                <a:ea typeface="+mn-ea"/>
                <a:cs typeface="+mn-cs"/>
              </a:rPr>
            </a:br>
            <a:r>
              <a:rPr lang="ru-RU" sz="1200" kern="1200" dirty="0">
                <a:solidFill>
                  <a:schemeClr val="tx1"/>
                </a:solidFill>
                <a:effectLst/>
                <a:latin typeface="+mn-lt"/>
                <a:ea typeface="+mn-ea"/>
                <a:cs typeface="+mn-cs"/>
              </a:rPr>
              <a:t>На каждом шаге хранится не один, а топ-</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наиболее вероятных последовательностей.</a:t>
            </a:r>
          </a:p>
          <a:p>
            <a:pPr lvl="0"/>
            <a:r>
              <a:rPr lang="ru-RU" sz="1200" kern="1200" dirty="0">
                <a:solidFill>
                  <a:schemeClr val="tx1"/>
                </a:solidFill>
                <a:effectLst/>
                <a:latin typeface="+mn-lt"/>
                <a:ea typeface="+mn-ea"/>
                <a:cs typeface="+mn-cs"/>
              </a:rPr>
              <a:t>Параметр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называется </a:t>
            </a:r>
            <a:r>
              <a:rPr lang="en-US" sz="1200" kern="1200" dirty="0">
                <a:solidFill>
                  <a:schemeClr val="tx1"/>
                </a:solidFill>
                <a:effectLst/>
                <a:latin typeface="+mn-lt"/>
                <a:ea typeface="+mn-ea"/>
                <a:cs typeface="+mn-cs"/>
              </a:rPr>
              <a:t>beam size.</a:t>
            </a:r>
            <a:endParaRPr lang="ru-RU" sz="1200" kern="1200" dirty="0">
              <a:solidFill>
                <a:schemeClr val="tx1"/>
              </a:solidFill>
              <a:effectLst/>
              <a:latin typeface="+mn-lt"/>
              <a:ea typeface="+mn-ea"/>
              <a:cs typeface="+mn-cs"/>
            </a:endParaRPr>
          </a:p>
          <a:p>
            <a:pPr lvl="0"/>
            <a:r>
              <a:rPr lang="ru-RU" sz="1200" b="1" kern="1200" dirty="0">
                <a:solidFill>
                  <a:schemeClr val="tx1"/>
                </a:solidFill>
                <a:effectLst/>
                <a:latin typeface="+mn-lt"/>
                <a:ea typeface="+mn-ea"/>
                <a:cs typeface="+mn-cs"/>
              </a:rPr>
              <a:t>Алгоритм:</a:t>
            </a:r>
            <a:endParaRPr lang="ru-RU" sz="1200" kern="1200" dirty="0">
              <a:solidFill>
                <a:schemeClr val="tx1"/>
              </a:solidFill>
              <a:effectLst/>
              <a:latin typeface="+mn-lt"/>
              <a:ea typeface="+mn-ea"/>
              <a:cs typeface="+mn-cs"/>
            </a:endParaRPr>
          </a:p>
          <a:p>
            <a:pPr lvl="0"/>
            <a:r>
              <a:rPr lang="ru-RU" sz="1200" kern="1200" dirty="0">
                <a:solidFill>
                  <a:schemeClr val="tx1"/>
                </a:solidFill>
                <a:effectLst/>
                <a:latin typeface="+mn-lt"/>
                <a:ea typeface="+mn-ea"/>
                <a:cs typeface="+mn-cs"/>
              </a:rPr>
              <a:t>На шаге 1: выбираем топ-</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наиболее вероятных первых токенов.</a:t>
            </a:r>
          </a:p>
          <a:p>
            <a:pPr lvl="0"/>
            <a:r>
              <a:rPr lang="ru-RU" sz="1200" kern="1200" dirty="0">
                <a:solidFill>
                  <a:schemeClr val="tx1"/>
                </a:solidFill>
                <a:effectLst/>
                <a:latin typeface="+mn-lt"/>
                <a:ea typeface="+mn-ea"/>
                <a:cs typeface="+mn-cs"/>
              </a:rPr>
              <a:t>На шаге 2: для каждой из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последовательностей генерируем все возможные продолжения → получаем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×∣Y∣ </a:t>
            </a:r>
            <a:r>
              <a:rPr lang="ru-RU" sz="1200" kern="1200" dirty="0">
                <a:solidFill>
                  <a:schemeClr val="tx1"/>
                </a:solidFill>
                <a:effectLst/>
                <a:latin typeface="+mn-lt"/>
                <a:ea typeface="+mn-ea"/>
                <a:cs typeface="+mn-cs"/>
              </a:rPr>
              <a:t>вариантов.</a:t>
            </a:r>
          </a:p>
          <a:p>
            <a:pPr lvl="0"/>
            <a:r>
              <a:rPr lang="ru-RU" sz="1200" kern="1200" dirty="0">
                <a:solidFill>
                  <a:schemeClr val="tx1"/>
                </a:solidFill>
                <a:effectLst/>
                <a:latin typeface="+mn-lt"/>
                <a:ea typeface="+mn-ea"/>
                <a:cs typeface="+mn-cs"/>
              </a:rPr>
              <a:t>Среди них выбираем топ-</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по общей вероятности последовательности.</a:t>
            </a:r>
          </a:p>
          <a:p>
            <a:pPr lvl="0"/>
            <a:r>
              <a:rPr lang="ru-RU" sz="1200" kern="1200" dirty="0">
                <a:solidFill>
                  <a:schemeClr val="tx1"/>
                </a:solidFill>
                <a:effectLst/>
                <a:latin typeface="+mn-lt"/>
                <a:ea typeface="+mn-ea"/>
                <a:cs typeface="+mn-cs"/>
              </a:rPr>
              <a:t>Повторяем до окончания.</a:t>
            </a:r>
          </a:p>
          <a:p>
            <a:pPr lvl="0"/>
            <a:r>
              <a:rPr lang="ru-RU" sz="1200" kern="1200" dirty="0">
                <a:solidFill>
                  <a:schemeClr val="tx1"/>
                </a:solidFill>
                <a:effectLst/>
                <a:latin typeface="+mn-lt"/>
                <a:ea typeface="+mn-ea"/>
                <a:cs typeface="+mn-cs"/>
              </a:rPr>
              <a:t>📌 При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=1 : beam search = greedy search.</a:t>
            </a:r>
            <a:br>
              <a:rPr lang="en-US" sz="1200" kern="1200" dirty="0">
                <a:solidFill>
                  <a:schemeClr val="tx1"/>
                </a:solidFill>
                <a:effectLst/>
                <a:latin typeface="+mn-lt"/>
                <a:ea typeface="+mn-ea"/>
                <a:cs typeface="+mn-cs"/>
              </a:rPr>
            </a:br>
            <a:r>
              <a:rPr lang="ru-RU" sz="1200" kern="1200" dirty="0">
                <a:solidFill>
                  <a:schemeClr val="tx1"/>
                </a:solidFill>
                <a:effectLst/>
                <a:latin typeface="+mn-lt"/>
                <a:ea typeface="+mn-ea"/>
                <a:cs typeface="+mn-cs"/>
              </a:rPr>
              <a:t>При </a:t>
            </a:r>
            <a:r>
              <a:rPr lang="en-US" sz="1200" i="1" kern="1200" dirty="0">
                <a:solidFill>
                  <a:schemeClr val="tx1"/>
                </a:solidFill>
                <a:effectLst/>
                <a:latin typeface="+mn-lt"/>
                <a:ea typeface="+mn-ea"/>
                <a:cs typeface="+mn-cs"/>
              </a:rPr>
              <a:t>k</a:t>
            </a:r>
            <a:r>
              <a:rPr lang="en-US" sz="1200" kern="1200" dirty="0">
                <a:solidFill>
                  <a:schemeClr val="tx1"/>
                </a:solidFill>
                <a:effectLst/>
                <a:latin typeface="+mn-lt"/>
                <a:ea typeface="+mn-ea"/>
                <a:cs typeface="+mn-cs"/>
              </a:rPr>
              <a:t>=∣Y∣</a:t>
            </a:r>
            <a:r>
              <a:rPr lang="en-US" sz="1200" i="1" kern="1200" dirty="0">
                <a:solidFill>
                  <a:schemeClr val="tx1"/>
                </a:solidFill>
                <a:effectLst/>
                <a:latin typeface="+mn-lt"/>
                <a:ea typeface="+mn-ea"/>
                <a:cs typeface="+mn-cs"/>
              </a:rPr>
              <a:t>T</a:t>
            </a:r>
            <a:r>
              <a:rPr lang="en-US" sz="1200" kern="1200" dirty="0">
                <a:solidFill>
                  <a:schemeClr val="tx1"/>
                </a:solidFill>
                <a:effectLst/>
                <a:latin typeface="+mn-lt"/>
                <a:ea typeface="+mn-ea"/>
                <a:cs typeface="+mn-cs"/>
              </a:rPr>
              <a:t> : beam search = exhaustive search. </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 </a:t>
            </a:r>
          </a:p>
          <a:p>
            <a:endParaRPr lang="ru-RU" dirty="0"/>
          </a:p>
        </p:txBody>
      </p:sp>
      <p:sp>
        <p:nvSpPr>
          <p:cNvPr id="4" name="Номер слайда 3"/>
          <p:cNvSpPr>
            <a:spLocks noGrp="1"/>
          </p:cNvSpPr>
          <p:nvPr>
            <p:ph type="sldNum" sz="quarter" idx="5"/>
          </p:nvPr>
        </p:nvSpPr>
        <p:spPr/>
        <p:txBody>
          <a:bodyPr/>
          <a:lstStyle/>
          <a:p>
            <a:fld id="{1D447EF7-48D7-F44E-B4C5-846915B70A78}" type="slidenum">
              <a:rPr lang="ru-RU" smtClean="0"/>
              <a:t>4</a:t>
            </a:fld>
            <a:endParaRPr lang="ru-RU"/>
          </a:p>
        </p:txBody>
      </p:sp>
    </p:spTree>
    <p:extLst>
      <p:ext uri="{BB962C8B-B14F-4D97-AF65-F5344CB8AC3E}">
        <p14:creationId xmlns:p14="http://schemas.microsoft.com/office/powerpoint/2010/main" val="2701579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0671D0-2BDB-45AF-A851-D661F6D3C541}"/>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73E451CD-2A5A-4E46-AFCE-79644189A1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E991DB95-3757-4C7E-9F81-5F60BF055582}"/>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5" name="Нижний колонтитул 4">
            <a:extLst>
              <a:ext uri="{FF2B5EF4-FFF2-40B4-BE49-F238E27FC236}">
                <a16:creationId xmlns:a16="http://schemas.microsoft.com/office/drawing/2014/main" id="{D54EC4B4-1367-4D8E-98C3-AEEF960147F5}"/>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166ED29-C873-4543-B7E1-E79BD42C1191}"/>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299305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C2B7CF-4E40-4185-8260-B4FC838AA82F}"/>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DC145DE7-F6E6-4997-8029-9B80694E387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C5606A06-4FF1-422C-8D52-F4C6F4EC433D}"/>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5" name="Нижний колонтитул 4">
            <a:extLst>
              <a:ext uri="{FF2B5EF4-FFF2-40B4-BE49-F238E27FC236}">
                <a16:creationId xmlns:a16="http://schemas.microsoft.com/office/drawing/2014/main" id="{D0E736CE-F5D0-4002-ADD5-399C6291026B}"/>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735AE779-A848-4796-9479-123BA3A55D12}"/>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312287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42B49-AEBD-4573-84CE-134E86D11E54}"/>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9953F6D9-0132-470C-8C1F-99E53343B0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E877F16-A63D-45E3-9E07-B99763F7E371}"/>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5" name="Нижний колонтитул 4">
            <a:extLst>
              <a:ext uri="{FF2B5EF4-FFF2-40B4-BE49-F238E27FC236}">
                <a16:creationId xmlns:a16="http://schemas.microsoft.com/office/drawing/2014/main" id="{19784523-6B3B-4688-A33F-31D12B50A24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2A97AF9-930F-44FA-AE70-F46166F2876B}"/>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3810344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D1B7ED-3B4D-4CF3-9AF8-DCFA794554DD}"/>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65C7095C-D1F3-448E-A163-D81123590242}"/>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8660A3BF-C8DE-4139-AE13-92B32F003946}"/>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84B7D209-7CF1-481D-A144-80767B40CE56}"/>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6" name="Нижний колонтитул 5">
            <a:extLst>
              <a:ext uri="{FF2B5EF4-FFF2-40B4-BE49-F238E27FC236}">
                <a16:creationId xmlns:a16="http://schemas.microsoft.com/office/drawing/2014/main" id="{11B842DF-EF65-4F50-B173-AF577714663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477E9F67-8E18-48D2-8851-11289DBE5C79}"/>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2520490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E13AA4-4B3E-47CC-84F7-84A4A9120196}"/>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516C2EB5-78BA-457C-B172-19C0A1917B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330350A-7A80-410B-9621-CD2213744703}"/>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134978DF-27EF-44A3-8C76-B3143C0309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9C3C9DE-74D8-4AC4-BC28-30DCC129206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9458EBA5-17CA-4BCA-98D6-C529D9EE43DC}"/>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8" name="Нижний колонтитул 7">
            <a:extLst>
              <a:ext uri="{FF2B5EF4-FFF2-40B4-BE49-F238E27FC236}">
                <a16:creationId xmlns:a16="http://schemas.microsoft.com/office/drawing/2014/main" id="{8D42B907-DAD8-46DF-965D-0B85D9D61108}"/>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847FE150-31C6-4D57-9A40-2BEEDE2DD4B5}"/>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718745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EDD412-A49B-4A60-BDA9-4DE98A6E7C25}"/>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76332180-815A-4A37-B56E-259D59B731DB}"/>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4" name="Нижний колонтитул 3">
            <a:extLst>
              <a:ext uri="{FF2B5EF4-FFF2-40B4-BE49-F238E27FC236}">
                <a16:creationId xmlns:a16="http://schemas.microsoft.com/office/drawing/2014/main" id="{0352E8DE-1155-454F-BB6A-7FB7A49FF6C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A86F4679-CA96-4CE4-872E-B105DE6EB6C4}"/>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352311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D0E88BB0-CD50-48ED-8CDC-08B1E4C22A42}"/>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3" name="Нижний колонтитул 2">
            <a:extLst>
              <a:ext uri="{FF2B5EF4-FFF2-40B4-BE49-F238E27FC236}">
                <a16:creationId xmlns:a16="http://schemas.microsoft.com/office/drawing/2014/main" id="{05A81452-4D20-4FB6-84E4-002112616A8F}"/>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A6D58415-FB42-4A51-9C33-5FC3C862E64B}"/>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2253334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580E52-EBD8-4698-BC00-B913EC32DB7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4580B661-234C-4994-93A0-D2B9787F9E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03FEC5A4-924A-4780-B408-DFCD1F4C38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4EEA3B6-18B1-4F03-81C0-729F3C08CD65}"/>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6" name="Нижний колонтитул 5">
            <a:extLst>
              <a:ext uri="{FF2B5EF4-FFF2-40B4-BE49-F238E27FC236}">
                <a16:creationId xmlns:a16="http://schemas.microsoft.com/office/drawing/2014/main" id="{AF8AFA4F-041E-4869-8D5B-C232A4DE714E}"/>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F4F7C73E-5593-4555-81D8-EE7DEC175ED3}"/>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3351768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3BDD2B-B107-4E97-B23F-240320E0BF98}"/>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C0284E83-FF34-4A04-ACA2-5913DC0EFC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1B5989CA-DA16-41CF-9FD1-E3548A24AE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633ABB5-76C9-422A-B6D3-931B70C96F10}"/>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6" name="Нижний колонтитул 5">
            <a:extLst>
              <a:ext uri="{FF2B5EF4-FFF2-40B4-BE49-F238E27FC236}">
                <a16:creationId xmlns:a16="http://schemas.microsoft.com/office/drawing/2014/main" id="{36AECAB4-441B-4BA1-9EB9-CE05AF6BBC73}"/>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8F852E05-DB3B-4B02-9658-B1682F2DF345}"/>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2902891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84F6BC-9C7D-44E3-8FB3-A5D3FEC50E7C}"/>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5DDFA137-9E72-4D4E-9A9B-9B642B1F51E0}"/>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8D56E9F-9208-4121-85E1-3069D24C1B8A}"/>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5" name="Нижний колонтитул 4">
            <a:extLst>
              <a:ext uri="{FF2B5EF4-FFF2-40B4-BE49-F238E27FC236}">
                <a16:creationId xmlns:a16="http://schemas.microsoft.com/office/drawing/2014/main" id="{24443664-6186-48C2-95DF-9567CE3B1B9C}"/>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E68714A1-E3E5-42B3-B82F-97C26E3CAF80}"/>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715136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04496B09-4BEB-4AD3-BCC9-B01888D24C3C}"/>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35B18123-2CC5-4AFC-90FD-68FBE07BE8F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C413529F-3052-4090-BDE7-86EAB31967F9}"/>
              </a:ext>
            </a:extLst>
          </p:cNvPr>
          <p:cNvSpPr>
            <a:spLocks noGrp="1"/>
          </p:cNvSpPr>
          <p:nvPr>
            <p:ph type="dt" sz="half" idx="10"/>
          </p:nvPr>
        </p:nvSpPr>
        <p:spPr/>
        <p:txBody>
          <a:bodyPr/>
          <a:lstStyle/>
          <a:p>
            <a:fld id="{A76E1671-358D-4BAB-9EB2-DC8D65251B89}" type="datetimeFigureOut">
              <a:rPr lang="en-US" smtClean="0"/>
              <a:t>8/17/25</a:t>
            </a:fld>
            <a:endParaRPr lang="en-US"/>
          </a:p>
        </p:txBody>
      </p:sp>
      <p:sp>
        <p:nvSpPr>
          <p:cNvPr id="5" name="Нижний колонтитул 4">
            <a:extLst>
              <a:ext uri="{FF2B5EF4-FFF2-40B4-BE49-F238E27FC236}">
                <a16:creationId xmlns:a16="http://schemas.microsoft.com/office/drawing/2014/main" id="{AB9C83CC-6A2F-4599-A82B-3AA20D976E23}"/>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145489EC-BA6C-4295-ADF3-CF230364BA4C}"/>
              </a:ext>
            </a:extLst>
          </p:cNvPr>
          <p:cNvSpPr>
            <a:spLocks noGrp="1"/>
          </p:cNvSpPr>
          <p:nvPr>
            <p:ph type="sldNum" sz="quarter" idx="12"/>
          </p:nvPr>
        </p:nvSpPr>
        <p:spPr/>
        <p:txBody>
          <a:bodyPr/>
          <a:lstStyle/>
          <a:p>
            <a:fld id="{69EBD233-594A-4988-B3E0-F12C767C00D3}" type="slidenum">
              <a:rPr lang="en-US" smtClean="0"/>
              <a:t>‹#›</a:t>
            </a:fld>
            <a:endParaRPr lang="en-US"/>
          </a:p>
        </p:txBody>
      </p:sp>
    </p:spTree>
    <p:extLst>
      <p:ext uri="{BB962C8B-B14F-4D97-AF65-F5344CB8AC3E}">
        <p14:creationId xmlns:p14="http://schemas.microsoft.com/office/powerpoint/2010/main" val="305524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D0249F-5E6F-435B-8BA6-2A7715856F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B9024CB9-05D5-4CEB-A431-24500E1B25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34934E13-6B72-4799-A173-50AE9991F0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6E1671-358D-4BAB-9EB2-DC8D65251B89}" type="datetimeFigureOut">
              <a:rPr lang="en-US" smtClean="0"/>
              <a:t>8/17/25</a:t>
            </a:fld>
            <a:endParaRPr lang="en-US"/>
          </a:p>
        </p:txBody>
      </p:sp>
      <p:sp>
        <p:nvSpPr>
          <p:cNvPr id="5" name="Нижний колонтитул 4">
            <a:extLst>
              <a:ext uri="{FF2B5EF4-FFF2-40B4-BE49-F238E27FC236}">
                <a16:creationId xmlns:a16="http://schemas.microsoft.com/office/drawing/2014/main" id="{42D8DB70-5BC0-49E9-831B-FA9902663C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D5CCAF82-71F2-4F04-AEC5-AD970EB35F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BD233-594A-4988-B3E0-F12C767C00D3}" type="slidenum">
              <a:rPr lang="en-US" smtClean="0"/>
              <a:t>‹#›</a:t>
            </a:fld>
            <a:endParaRPr lang="en-US"/>
          </a:p>
        </p:txBody>
      </p:sp>
    </p:spTree>
    <p:extLst>
      <p:ext uri="{BB962C8B-B14F-4D97-AF65-F5344CB8AC3E}">
        <p14:creationId xmlns:p14="http://schemas.microsoft.com/office/powerpoint/2010/main" val="2899989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Makridakis_Competitions" TargetMode="External"/><Relationship Id="rId2" Type="http://schemas.openxmlformats.org/officeDocument/2006/relationships/hyperlink" Target="https://www.uber.com/blog/m4-forecasting-competition/"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en.wikipedia.org/wiki/Teacher_forc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4.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NULL"/></Relationships>
</file>

<file path=ppt/slides/_rels/slide6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94.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BB7B41-7122-497A-A583-FEDA914639DE}"/>
              </a:ext>
            </a:extLst>
          </p:cNvPr>
          <p:cNvSpPr>
            <a:spLocks noGrp="1"/>
          </p:cNvSpPr>
          <p:nvPr>
            <p:ph type="ctrTitle"/>
          </p:nvPr>
        </p:nvSpPr>
        <p:spPr>
          <a:xfrm>
            <a:off x="1524000" y="394166"/>
            <a:ext cx="9144000" cy="3034834"/>
          </a:xfrm>
        </p:spPr>
        <p:txBody>
          <a:bodyPr>
            <a:normAutofit/>
          </a:bodyPr>
          <a:lstStyle/>
          <a:p>
            <a:r>
              <a:rPr lang="ru-RU" b="1" dirty="0"/>
              <a:t>Использование методов глубокого обучения в анализе временных рядов</a:t>
            </a:r>
          </a:p>
        </p:txBody>
      </p:sp>
      <p:sp>
        <p:nvSpPr>
          <p:cNvPr id="4" name="Подзаголовок 3"/>
          <p:cNvSpPr>
            <a:spLocks noGrp="1"/>
          </p:cNvSpPr>
          <p:nvPr>
            <p:ph type="subTitle" idx="1"/>
          </p:nvPr>
        </p:nvSpPr>
        <p:spPr/>
        <p:txBody>
          <a:bodyPr/>
          <a:lstStyle/>
          <a:p>
            <a:endParaRPr lang="ru-RU"/>
          </a:p>
        </p:txBody>
      </p:sp>
    </p:spTree>
    <p:extLst>
      <p:ext uri="{BB962C8B-B14F-4D97-AF65-F5344CB8AC3E}">
        <p14:creationId xmlns:p14="http://schemas.microsoft.com/office/powerpoint/2010/main" val="2316596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7B2208-AE65-0391-DAB4-647FD74BE0F3}"/>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3BA556A-90EB-016D-F3D3-79DD5060E258}"/>
              </a:ext>
            </a:extLst>
          </p:cNvPr>
          <p:cNvSpPr>
            <a:spLocks noGrp="1"/>
          </p:cNvSpPr>
          <p:nvPr>
            <p:ph idx="1"/>
          </p:nvPr>
        </p:nvSpPr>
        <p:spPr/>
        <p:txBody>
          <a:bodyPr>
            <a:normAutofit fontScale="70000" lnSpcReduction="20000"/>
          </a:bodyPr>
          <a:lstStyle/>
          <a:p>
            <a:r>
              <a:rPr lang="en" dirty="0"/>
              <a:t>07-2 </a:t>
            </a:r>
            <a:r>
              <a:rPr lang="en" dirty="0" err="1"/>
              <a:t>RNN.pptx</a:t>
            </a:r>
            <a:r>
              <a:rPr lang="en" dirty="0"/>
              <a:t> 07-2 </a:t>
            </a:r>
            <a:r>
              <a:rPr lang="en" dirty="0" err="1"/>
              <a:t>RNN.pptx</a:t>
            </a:r>
            <a:r>
              <a:rPr lang="en" dirty="0"/>
              <a:t> Additionally, you could attempt to detrend and </a:t>
            </a:r>
            <a:r>
              <a:rPr lang="en" dirty="0" err="1"/>
              <a:t>deseasonalize</a:t>
            </a:r>
            <a:r>
              <a:rPr lang="en" dirty="0"/>
              <a:t> the time series as part of preprocessing but 1) deep learning models tend to be less negatively effected by these properties than traditional auto-regressive models, 2) this would require adding back these properties during prediction time which can be complicated and possibly have a negative effect on performance, and 3) it has been shown through hybrid models (traditional auto-regressive modeling + deep learning) that including trend and seasonality processing </a:t>
            </a:r>
            <a:r>
              <a:rPr lang="en" i="1" dirty="0"/>
              <a:t>within</a:t>
            </a:r>
            <a:r>
              <a:rPr lang="en" dirty="0"/>
              <a:t> the model itself, instead of beforehand as a part of preprocessing, achieves better results and simplifies normalization; the </a:t>
            </a:r>
            <a:r>
              <a:rPr lang="en" u="sng" dirty="0">
                <a:hlinkClick r:id="rId2"/>
              </a:rPr>
              <a:t>ES-RNN model</a:t>
            </a:r>
            <a:r>
              <a:rPr lang="en" dirty="0"/>
              <a:t> that won the all-important </a:t>
            </a:r>
            <a:r>
              <a:rPr lang="en" u="sng" dirty="0">
                <a:hlinkClick r:id="rId3"/>
              </a:rPr>
              <a:t>M4 competition</a:t>
            </a:r>
            <a:r>
              <a:rPr lang="en" dirty="0"/>
              <a:t> is a hybrid model.</a:t>
            </a:r>
          </a:p>
          <a:p>
            <a:r>
              <a:rPr lang="en" dirty="0"/>
              <a:t>From this we can see the internals of the encoder/decoder black boxes. Importantly, the decoder here is “free running” or feeding its previous output back into itself at each timestep. This is used for inference since we would not know the future values (and evaluation since it is meant to mimic inference). However, for training we can take advantage of having this “future” data to help make the training more stable with </a:t>
            </a:r>
            <a:r>
              <a:rPr lang="en" u="sng" dirty="0">
                <a:hlinkClick r:id="rId4"/>
              </a:rPr>
              <a:t>teacher forcing</a:t>
            </a:r>
            <a:r>
              <a:rPr lang="en" dirty="0"/>
              <a:t>.</a:t>
            </a:r>
          </a:p>
          <a:p>
            <a:br>
              <a:rPr lang="en" dirty="0"/>
            </a:br>
            <a:endParaRPr lang="ru-RU" dirty="0"/>
          </a:p>
        </p:txBody>
      </p:sp>
      <p:sp>
        <p:nvSpPr>
          <p:cNvPr id="5" name="TextBox 4">
            <a:extLst>
              <a:ext uri="{FF2B5EF4-FFF2-40B4-BE49-F238E27FC236}">
                <a16:creationId xmlns:a16="http://schemas.microsoft.com/office/drawing/2014/main" id="{2C9DD394-B4EC-F9BE-ED48-B1111D392E17}"/>
              </a:ext>
            </a:extLst>
          </p:cNvPr>
          <p:cNvSpPr txBox="1"/>
          <p:nvPr/>
        </p:nvSpPr>
        <p:spPr>
          <a:xfrm>
            <a:off x="3047134" y="3105835"/>
            <a:ext cx="6094268" cy="646331"/>
          </a:xfrm>
          <a:prstGeom prst="rect">
            <a:avLst/>
          </a:prstGeom>
          <a:noFill/>
        </p:spPr>
        <p:txBody>
          <a:bodyPr wrap="square">
            <a:spAutoFit/>
          </a:bodyPr>
          <a:lstStyle/>
          <a:p>
            <a:r>
              <a:rPr lang="ru-RU" dirty="0" err="1"/>
              <a:t>https</a:t>
            </a:r>
            <a:r>
              <a:rPr lang="ru-RU" dirty="0"/>
              <a:t>://</a:t>
            </a:r>
            <a:r>
              <a:rPr lang="ru-RU" dirty="0" err="1"/>
              <a:t>readmedium.com</a:t>
            </a:r>
            <a:r>
              <a:rPr lang="ru-RU" dirty="0"/>
              <a:t>/implementing-seq2seq-models-for-efficient-time-series-forecasting-88dba1d66187</a:t>
            </a:r>
          </a:p>
        </p:txBody>
      </p:sp>
      <p:pic>
        <p:nvPicPr>
          <p:cNvPr id="1026" name="Picture 2">
            <a:extLst>
              <a:ext uri="{FF2B5EF4-FFF2-40B4-BE49-F238E27FC236}">
                <a16:creationId xmlns:a16="http://schemas.microsoft.com/office/drawing/2014/main" id="{577AAF97-F57A-1084-5D97-335F69CD7E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6850" y="1898650"/>
            <a:ext cx="4178300" cy="306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165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1C8AE3-0AE6-D402-9DAD-97798EDBA8EC}"/>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EE77B62-0EAD-276B-E175-A2F86C50CD1C}"/>
              </a:ext>
            </a:extLst>
          </p:cNvPr>
          <p:cNvSpPr>
            <a:spLocks noGrp="1"/>
          </p:cNvSpPr>
          <p:nvPr>
            <p:ph idx="1"/>
          </p:nvPr>
        </p:nvSpPr>
        <p:spPr/>
        <p:txBody>
          <a:bodyPr>
            <a:normAutofit fontScale="85000" lnSpcReduction="20000"/>
          </a:bodyPr>
          <a:lstStyle/>
          <a:p>
            <a:r>
              <a:rPr lang="en" b="1" dirty="0" err="1"/>
              <a:t>eacher</a:t>
            </a:r>
            <a:r>
              <a:rPr lang="en" b="1" dirty="0"/>
              <a:t> Forcing</a:t>
            </a:r>
          </a:p>
          <a:p>
            <a:r>
              <a:rPr lang="ru-RU" dirty="0"/>
              <a:t>При обучении на вход </a:t>
            </a:r>
            <a:r>
              <a:rPr lang="en" dirty="0"/>
              <a:t>decoder </a:t>
            </a:r>
            <a:r>
              <a:rPr lang="ru-RU" dirty="0"/>
              <a:t>подаётся реальное значение из будущего (</a:t>
            </a:r>
            <a:r>
              <a:rPr lang="en" dirty="0"/>
              <a:t>target), </a:t>
            </a:r>
            <a:r>
              <a:rPr lang="ru-RU" dirty="0"/>
              <a:t>а не собственный прогноз.</a:t>
            </a:r>
          </a:p>
          <a:p>
            <a:r>
              <a:rPr lang="ru-RU" dirty="0"/>
              <a:t>Ускоряет и стабилизирует обучение.</a:t>
            </a:r>
          </a:p>
          <a:p>
            <a:r>
              <a:rPr lang="ru-RU" b="1" dirty="0"/>
              <a:t>🎲 </a:t>
            </a:r>
            <a:r>
              <a:rPr lang="en" b="1" dirty="0"/>
              <a:t>Scheduled Sampling</a:t>
            </a:r>
          </a:p>
          <a:p>
            <a:r>
              <a:rPr lang="ru-RU" dirty="0"/>
              <a:t>Проблема: разрыв между обучением (</a:t>
            </a:r>
            <a:r>
              <a:rPr lang="en" dirty="0"/>
              <a:t>teacher forcing) </a:t>
            </a:r>
            <a:r>
              <a:rPr lang="ru-RU" dirty="0"/>
              <a:t>и </a:t>
            </a:r>
            <a:r>
              <a:rPr lang="ru-RU" dirty="0" err="1"/>
              <a:t>инференсом</a:t>
            </a:r>
            <a:r>
              <a:rPr lang="ru-RU" dirty="0"/>
              <a:t> (</a:t>
            </a:r>
            <a:r>
              <a:rPr lang="en" dirty="0"/>
              <a:t>free running).</a:t>
            </a:r>
          </a:p>
          <a:p>
            <a:r>
              <a:rPr lang="ru-RU" dirty="0"/>
              <a:t>Решение: постепенное снижение вероятности </a:t>
            </a:r>
            <a:r>
              <a:rPr lang="en" dirty="0"/>
              <a:t>teacher forcing </a:t>
            </a:r>
            <a:r>
              <a:rPr lang="ru-RU" dirty="0"/>
              <a:t>в процессе обучения.</a:t>
            </a:r>
          </a:p>
          <a:p>
            <a:r>
              <a:rPr lang="ru-RU" dirty="0"/>
              <a:t>Вероятность </a:t>
            </a:r>
            <a:r>
              <a:rPr lang="en" dirty="0"/>
              <a:t>teacher forcing </a:t>
            </a:r>
            <a:r>
              <a:rPr lang="ru-RU" dirty="0"/>
              <a:t>уменьшается по расписанию (линейно, экспоненциально и т.д.).</a:t>
            </a:r>
          </a:p>
          <a:p>
            <a:r>
              <a:rPr lang="ru-RU" dirty="0"/>
              <a:t>✅ Позволяет модели адаптироваться к "ошибкам" собственных прогнозов. </a:t>
            </a:r>
          </a:p>
          <a:p>
            <a:endParaRPr lang="ru-RU" dirty="0"/>
          </a:p>
        </p:txBody>
      </p:sp>
    </p:spTree>
    <p:extLst>
      <p:ext uri="{BB962C8B-B14F-4D97-AF65-F5344CB8AC3E}">
        <p14:creationId xmlns:p14="http://schemas.microsoft.com/office/powerpoint/2010/main" val="1224611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187FA6-E2A9-1620-4B89-B0968715B10F}"/>
              </a:ext>
            </a:extLst>
          </p:cNvPr>
          <p:cNvSpPr>
            <a:spLocks noGrp="1"/>
          </p:cNvSpPr>
          <p:nvPr>
            <p:ph type="title"/>
          </p:nvPr>
        </p:nvSpPr>
        <p:spPr/>
        <p:txBody>
          <a:bodyPr/>
          <a:lstStyle/>
          <a:p>
            <a:endParaRPr lang="ru-RU"/>
          </a:p>
        </p:txBody>
      </p:sp>
      <p:sp>
        <p:nvSpPr>
          <p:cNvPr id="5" name="Объект 4">
            <a:extLst>
              <a:ext uri="{FF2B5EF4-FFF2-40B4-BE49-F238E27FC236}">
                <a16:creationId xmlns:a16="http://schemas.microsoft.com/office/drawing/2014/main" id="{82D439A3-2DA7-9433-063A-190A249D16C6}"/>
              </a:ext>
            </a:extLst>
          </p:cNvPr>
          <p:cNvSpPr>
            <a:spLocks noGrp="1"/>
          </p:cNvSpPr>
          <p:nvPr>
            <p:ph idx="1"/>
          </p:nvPr>
        </p:nvSpPr>
        <p:spPr/>
        <p:txBody>
          <a:bodyPr>
            <a:normAutofit fontScale="25000" lnSpcReduction="20000"/>
          </a:bodyPr>
          <a:lstStyle/>
          <a:p>
            <a:pPr lvl="0"/>
            <a:r>
              <a:rPr lang="en-US" b="1" dirty="0"/>
              <a:t>1.1. </a:t>
            </a:r>
            <a:r>
              <a:rPr lang="ru-RU" b="1" dirty="0"/>
              <a:t>🎯 </a:t>
            </a:r>
            <a:r>
              <a:rPr lang="en-US" b="1" dirty="0"/>
              <a:t>Greedy Search (</a:t>
            </a:r>
            <a:r>
              <a:rPr lang="ru-RU" b="1" dirty="0"/>
              <a:t>Жадный поиск</a:t>
            </a:r>
            <a:r>
              <a:rPr lang="en-US" b="1" dirty="0"/>
              <a:t>)</a:t>
            </a:r>
            <a:endParaRPr lang="ru-RU" dirty="0"/>
          </a:p>
          <a:p>
            <a:pPr lvl="0"/>
            <a:r>
              <a:rPr lang="ru-RU" b="1" dirty="0"/>
              <a:t>Как работает:</a:t>
            </a:r>
            <a:endParaRPr lang="ru-RU" dirty="0"/>
          </a:p>
          <a:p>
            <a:pPr lvl="0"/>
            <a:r>
              <a:rPr lang="ru-RU" dirty="0"/>
              <a:t>На каждом шаге выбирается токен (значение) с максимальной вероятностью:</a:t>
            </a:r>
          </a:p>
          <a:p>
            <a:pPr lvl="0"/>
            <a:r>
              <a:rPr lang="en-US" i="1" dirty="0" err="1"/>
              <a:t>yt</a:t>
            </a:r>
            <a:r>
              <a:rPr lang="en-US" dirty="0"/>
              <a:t>​=</a:t>
            </a:r>
            <a:r>
              <a:rPr lang="en-US" dirty="0" err="1"/>
              <a:t>arg</a:t>
            </a:r>
            <a:r>
              <a:rPr lang="en-US" i="1" dirty="0" err="1"/>
              <a:t>y</a:t>
            </a:r>
            <a:r>
              <a:rPr lang="en-US" dirty="0" err="1"/>
              <a:t>max</a:t>
            </a:r>
            <a:r>
              <a:rPr lang="en-US" dirty="0"/>
              <a:t>​</a:t>
            </a:r>
            <a:r>
              <a:rPr lang="en-US" i="1" dirty="0"/>
              <a:t>P</a:t>
            </a:r>
            <a:r>
              <a:rPr lang="en-US" dirty="0"/>
              <a:t>(</a:t>
            </a:r>
            <a:r>
              <a:rPr lang="en-US" i="1" dirty="0"/>
              <a:t>y</a:t>
            </a:r>
            <a:r>
              <a:rPr lang="en-US" dirty="0"/>
              <a:t>∣</a:t>
            </a:r>
            <a:r>
              <a:rPr lang="en-US" i="1" dirty="0"/>
              <a:t>y</a:t>
            </a:r>
            <a:r>
              <a:rPr lang="en-US" dirty="0"/>
              <a:t>1​,…,</a:t>
            </a:r>
            <a:r>
              <a:rPr lang="en-US" i="1" dirty="0"/>
              <a:t>yt</a:t>
            </a:r>
            <a:r>
              <a:rPr lang="en-US" dirty="0"/>
              <a:t>−1​,</a:t>
            </a:r>
            <a:r>
              <a:rPr lang="en-US" b="1" dirty="0"/>
              <a:t>c</a:t>
            </a:r>
            <a:r>
              <a:rPr lang="en-US" dirty="0"/>
              <a:t>)</a:t>
            </a:r>
            <a:endParaRPr lang="ru-RU" dirty="0"/>
          </a:p>
          <a:p>
            <a:pPr lvl="0"/>
            <a:r>
              <a:rPr lang="ru-RU" dirty="0"/>
              <a:t>где </a:t>
            </a:r>
            <a:r>
              <a:rPr lang="en-US" b="1" dirty="0"/>
              <a:t>c</a:t>
            </a:r>
            <a:r>
              <a:rPr lang="ru-RU" dirty="0"/>
              <a:t> — контекст (скрытое состояние или вектор внимания).</a:t>
            </a:r>
          </a:p>
          <a:p>
            <a:pPr lvl="0"/>
            <a:r>
              <a:rPr lang="ru-RU" b="1" dirty="0"/>
              <a:t>Пример:</a:t>
            </a:r>
            <a:endParaRPr lang="ru-RU" dirty="0"/>
          </a:p>
          <a:p>
            <a:pPr lvl="0"/>
            <a:r>
              <a:rPr lang="ru-RU" dirty="0"/>
              <a:t>Пусть на шаге 1:</a:t>
            </a:r>
          </a:p>
          <a:p>
            <a:pPr lvl="0"/>
            <a:r>
              <a:rPr lang="en-US" i="1" dirty="0"/>
              <a:t>P</a:t>
            </a:r>
            <a:r>
              <a:rPr lang="en-US" dirty="0"/>
              <a:t>(</a:t>
            </a:r>
            <a:r>
              <a:rPr lang="en-US" i="1" dirty="0"/>
              <a:t>A</a:t>
            </a:r>
            <a:r>
              <a:rPr lang="en-US" dirty="0"/>
              <a:t>)=0.6 , </a:t>
            </a:r>
            <a:r>
              <a:rPr lang="en-US" i="1" dirty="0"/>
              <a:t>P</a:t>
            </a:r>
            <a:r>
              <a:rPr lang="en-US" dirty="0"/>
              <a:t>(</a:t>
            </a:r>
            <a:r>
              <a:rPr lang="en-US" i="1" dirty="0"/>
              <a:t>B</a:t>
            </a:r>
            <a:r>
              <a:rPr lang="en-US" dirty="0"/>
              <a:t>)=0.3 , </a:t>
            </a:r>
            <a:r>
              <a:rPr lang="en-US" i="1" dirty="0"/>
              <a:t>P</a:t>
            </a:r>
            <a:r>
              <a:rPr lang="en-US" dirty="0"/>
              <a:t>(</a:t>
            </a:r>
            <a:r>
              <a:rPr lang="en-US" i="1" dirty="0"/>
              <a:t>C</a:t>
            </a:r>
            <a:r>
              <a:rPr lang="en-US" dirty="0"/>
              <a:t>)=0.1 → </a:t>
            </a:r>
            <a:r>
              <a:rPr lang="ru-RU" dirty="0"/>
              <a:t>выбираем </a:t>
            </a:r>
            <a:r>
              <a:rPr lang="en-US" dirty="0"/>
              <a:t>A.</a:t>
            </a:r>
            <a:endParaRPr lang="ru-RU" dirty="0"/>
          </a:p>
          <a:p>
            <a:pPr lvl="0"/>
            <a:r>
              <a:rPr lang="ru-RU" dirty="0"/>
              <a:t>На шаге 2:</a:t>
            </a:r>
          </a:p>
          <a:p>
            <a:pPr lvl="0"/>
            <a:r>
              <a:rPr lang="en-US" i="1" dirty="0"/>
              <a:t>P</a:t>
            </a:r>
            <a:r>
              <a:rPr lang="ru-RU" dirty="0"/>
              <a:t>(</a:t>
            </a:r>
            <a:r>
              <a:rPr lang="en-US" i="1" dirty="0"/>
              <a:t>B</a:t>
            </a:r>
            <a:r>
              <a:rPr lang="ru-RU" dirty="0"/>
              <a:t>∣</a:t>
            </a:r>
            <a:r>
              <a:rPr lang="en-US" i="1" dirty="0"/>
              <a:t>A</a:t>
            </a:r>
            <a:r>
              <a:rPr lang="ru-RU" dirty="0"/>
              <a:t>)=0.7 , </a:t>
            </a:r>
            <a:r>
              <a:rPr lang="en-US" i="1" dirty="0"/>
              <a:t>P</a:t>
            </a:r>
            <a:r>
              <a:rPr lang="ru-RU" dirty="0"/>
              <a:t>(</a:t>
            </a:r>
            <a:r>
              <a:rPr lang="en-US" i="1" dirty="0"/>
              <a:t>C</a:t>
            </a:r>
            <a:r>
              <a:rPr lang="ru-RU" dirty="0"/>
              <a:t>∣</a:t>
            </a:r>
            <a:r>
              <a:rPr lang="en-US" i="1" dirty="0"/>
              <a:t>A</a:t>
            </a:r>
            <a:r>
              <a:rPr lang="ru-RU" dirty="0"/>
              <a:t>)=0.2 → выбираем </a:t>
            </a:r>
            <a:r>
              <a:rPr lang="en-US" dirty="0"/>
              <a:t>B</a:t>
            </a:r>
            <a:r>
              <a:rPr lang="ru-RU" dirty="0"/>
              <a:t>.</a:t>
            </a:r>
          </a:p>
          <a:p>
            <a:pPr lvl="0"/>
            <a:r>
              <a:rPr lang="ru-RU" dirty="0"/>
              <a:t>И так далее, пока не выйдет &lt;</a:t>
            </a:r>
            <a:r>
              <a:rPr lang="en-US" dirty="0" err="1"/>
              <a:t>eos</a:t>
            </a:r>
            <a:r>
              <a:rPr lang="ru-RU" dirty="0"/>
              <a:t>&gt; или не достигнем длины прогноза.</a:t>
            </a:r>
          </a:p>
          <a:p>
            <a:pPr lvl="0"/>
            <a:r>
              <a:rPr lang="ru-RU" b="1" dirty="0"/>
              <a:t>Плюсы:</a:t>
            </a:r>
            <a:endParaRPr lang="ru-RU" dirty="0"/>
          </a:p>
          <a:p>
            <a:pPr lvl="0"/>
            <a:r>
              <a:rPr lang="ru-RU" dirty="0"/>
              <a:t>Очень быстрый.</a:t>
            </a:r>
          </a:p>
          <a:p>
            <a:pPr lvl="0"/>
            <a:r>
              <a:rPr lang="ru-RU" dirty="0"/>
              <a:t>Прост в реализации.</a:t>
            </a:r>
          </a:p>
          <a:p>
            <a:pPr lvl="0"/>
            <a:r>
              <a:rPr lang="ru-RU" b="1" dirty="0"/>
              <a:t>Минусы:</a:t>
            </a:r>
            <a:endParaRPr lang="ru-RU" dirty="0"/>
          </a:p>
          <a:p>
            <a:pPr lvl="0"/>
            <a:r>
              <a:rPr lang="ru-RU" dirty="0"/>
              <a:t>Не гарантирует наиболее вероятную последовательность.</a:t>
            </a:r>
          </a:p>
          <a:p>
            <a:pPr lvl="0"/>
            <a:r>
              <a:rPr lang="ru-RU" dirty="0"/>
              <a:t>Ошибки накапливаются: выбор </a:t>
            </a:r>
            <a:r>
              <a:rPr lang="ru-RU" dirty="0" err="1"/>
              <a:t>подоптимального</a:t>
            </a:r>
            <a:r>
              <a:rPr lang="ru-RU" dirty="0"/>
              <a:t> первого шага может испортить весь прогноз.</a:t>
            </a:r>
          </a:p>
          <a:p>
            <a:pPr lvl="0"/>
            <a:r>
              <a:rPr lang="ru-RU" dirty="0"/>
              <a:t>💡 Важно: наиболее вероятная последовательность — это не последовательность наиболее вероятных токенов. </a:t>
            </a:r>
          </a:p>
          <a:p>
            <a:pPr lvl="0"/>
            <a:r>
              <a:rPr lang="ru-RU" b="1" dirty="0"/>
              <a:t>1.2. 🔍 </a:t>
            </a:r>
            <a:r>
              <a:rPr lang="en-US" b="1" dirty="0"/>
              <a:t>Exhaustive Search (</a:t>
            </a:r>
            <a:r>
              <a:rPr lang="ru-RU" b="1" dirty="0"/>
              <a:t>Полный перебор)</a:t>
            </a:r>
            <a:endParaRPr lang="ru-RU" dirty="0"/>
          </a:p>
          <a:p>
            <a:pPr lvl="0"/>
            <a:r>
              <a:rPr lang="ru-RU" b="1" dirty="0"/>
              <a:t>Как работает:</a:t>
            </a:r>
            <a:endParaRPr lang="ru-RU" dirty="0"/>
          </a:p>
          <a:p>
            <a:pPr lvl="0"/>
            <a:r>
              <a:rPr lang="ru-RU" dirty="0"/>
              <a:t>Перебираются все возможные выходные последовательности.</a:t>
            </a:r>
          </a:p>
          <a:p>
            <a:pPr lvl="0"/>
            <a:r>
              <a:rPr lang="ru-RU" dirty="0"/>
              <a:t>Выбирается та, у которой максимальна общая условная вероятность:</a:t>
            </a:r>
          </a:p>
          <a:p>
            <a:pPr lvl="0"/>
            <a:r>
              <a:rPr lang="en-US" i="1" dirty="0"/>
              <a:t>P</a:t>
            </a:r>
            <a:r>
              <a:rPr lang="en-US" dirty="0"/>
              <a:t>(</a:t>
            </a:r>
            <a:r>
              <a:rPr lang="en-US" b="1" dirty="0"/>
              <a:t>y</a:t>
            </a:r>
            <a:r>
              <a:rPr lang="en-US" dirty="0"/>
              <a:t>)=</a:t>
            </a:r>
            <a:r>
              <a:rPr lang="en-US" i="1" dirty="0"/>
              <a:t>t</a:t>
            </a:r>
            <a:r>
              <a:rPr lang="en-US" dirty="0"/>
              <a:t>=1∏</a:t>
            </a:r>
            <a:r>
              <a:rPr lang="en-US" i="1" dirty="0"/>
              <a:t>T</a:t>
            </a:r>
            <a:r>
              <a:rPr lang="en-US" dirty="0"/>
              <a:t>​</a:t>
            </a:r>
            <a:r>
              <a:rPr lang="en-US" i="1" dirty="0"/>
              <a:t>P</a:t>
            </a:r>
            <a:r>
              <a:rPr lang="en-US" dirty="0"/>
              <a:t>(</a:t>
            </a:r>
            <a:r>
              <a:rPr lang="en-US" i="1" dirty="0" err="1"/>
              <a:t>yt</a:t>
            </a:r>
            <a:r>
              <a:rPr lang="en-US" dirty="0"/>
              <a:t>​∣</a:t>
            </a:r>
            <a:r>
              <a:rPr lang="en-US" i="1" dirty="0"/>
              <a:t>y</a:t>
            </a:r>
            <a:r>
              <a:rPr lang="en-US" dirty="0"/>
              <a:t>1​,…,</a:t>
            </a:r>
            <a:r>
              <a:rPr lang="en-US" i="1" dirty="0"/>
              <a:t>yt</a:t>
            </a:r>
            <a:r>
              <a:rPr lang="en-US" dirty="0"/>
              <a:t>−1​,</a:t>
            </a:r>
            <a:r>
              <a:rPr lang="en-US" b="1" dirty="0"/>
              <a:t>c</a:t>
            </a:r>
            <a:r>
              <a:rPr lang="en-US" dirty="0"/>
              <a:t>)</a:t>
            </a:r>
            <a:endParaRPr lang="ru-RU" dirty="0"/>
          </a:p>
          <a:p>
            <a:pPr lvl="0"/>
            <a:r>
              <a:rPr lang="ru-RU" b="1" dirty="0"/>
              <a:t>Проблема:</a:t>
            </a:r>
            <a:endParaRPr lang="ru-RU" dirty="0"/>
          </a:p>
          <a:p>
            <a:pPr lvl="0"/>
            <a:r>
              <a:rPr lang="ru-RU" dirty="0"/>
              <a:t>Если словарь (или число возможных значений) = ∣</a:t>
            </a:r>
            <a:r>
              <a:rPr lang="en-US" dirty="0"/>
              <a:t>Y∣ , </a:t>
            </a:r>
            <a:r>
              <a:rPr lang="ru-RU" dirty="0"/>
              <a:t>а длина прогноза = </a:t>
            </a:r>
            <a:r>
              <a:rPr lang="en-US" i="1" dirty="0"/>
              <a:t>T</a:t>
            </a:r>
            <a:r>
              <a:rPr lang="en-US" dirty="0"/>
              <a:t> , </a:t>
            </a:r>
            <a:r>
              <a:rPr lang="ru-RU" dirty="0"/>
              <a:t>то число последовательностей = ∣</a:t>
            </a:r>
            <a:r>
              <a:rPr lang="en-US" dirty="0"/>
              <a:t>Y∣</a:t>
            </a:r>
            <a:r>
              <a:rPr lang="en-US" i="1" dirty="0"/>
              <a:t>T</a:t>
            </a:r>
            <a:r>
              <a:rPr lang="en-US" dirty="0"/>
              <a:t> .</a:t>
            </a:r>
            <a:endParaRPr lang="ru-RU" dirty="0"/>
          </a:p>
          <a:p>
            <a:pPr lvl="0"/>
            <a:r>
              <a:rPr lang="ru-RU" dirty="0"/>
              <a:t>При ∣</a:t>
            </a:r>
            <a:r>
              <a:rPr lang="en-US" dirty="0"/>
              <a:t>Y∣=100 , </a:t>
            </a:r>
            <a:r>
              <a:rPr lang="en-US" i="1" dirty="0"/>
              <a:t>T</a:t>
            </a:r>
            <a:r>
              <a:rPr lang="en-US" dirty="0"/>
              <a:t>=24 → 10024 </a:t>
            </a:r>
            <a:r>
              <a:rPr lang="ru-RU" dirty="0"/>
              <a:t>комбинаций → непрактично.</a:t>
            </a:r>
          </a:p>
          <a:p>
            <a:pPr lvl="0"/>
            <a:r>
              <a:rPr lang="ru-RU" b="1" dirty="0"/>
              <a:t>Вывод:</a:t>
            </a:r>
            <a:endParaRPr lang="ru-RU" dirty="0"/>
          </a:p>
          <a:p>
            <a:pPr lvl="0"/>
            <a:r>
              <a:rPr lang="ru-RU" dirty="0"/>
              <a:t>Идеален с точки зрения точности.</a:t>
            </a:r>
          </a:p>
          <a:p>
            <a:pPr lvl="0"/>
            <a:r>
              <a:rPr lang="ru-RU" dirty="0"/>
              <a:t>Абсолютно неприменим на практике.</a:t>
            </a:r>
          </a:p>
          <a:p>
            <a:pPr lvl="0"/>
            <a:r>
              <a:rPr lang="ru-RU" b="1" dirty="0"/>
              <a:t>1.3. 🔀 </a:t>
            </a:r>
            <a:r>
              <a:rPr lang="en-US" b="1" dirty="0"/>
              <a:t>Beam Search (</a:t>
            </a:r>
            <a:r>
              <a:rPr lang="ru-RU" b="1" dirty="0"/>
              <a:t>Поиск с ветвлением)</a:t>
            </a:r>
            <a:endParaRPr lang="ru-RU" dirty="0"/>
          </a:p>
          <a:p>
            <a:pPr lvl="0"/>
            <a:r>
              <a:rPr lang="ru-RU" b="1" dirty="0"/>
              <a:t>Основная идея:</a:t>
            </a:r>
            <a:endParaRPr lang="ru-RU" dirty="0"/>
          </a:p>
          <a:p>
            <a:pPr lvl="0"/>
            <a:r>
              <a:rPr lang="ru-RU" dirty="0"/>
              <a:t>Компромисс между </a:t>
            </a:r>
            <a:r>
              <a:rPr lang="en-US" dirty="0"/>
              <a:t>greedy </a:t>
            </a:r>
            <a:r>
              <a:rPr lang="ru-RU" dirty="0"/>
              <a:t>и </a:t>
            </a:r>
            <a:r>
              <a:rPr lang="en-US" dirty="0"/>
              <a:t>exhaustive search.</a:t>
            </a:r>
            <a:br>
              <a:rPr lang="en-US" dirty="0"/>
            </a:br>
            <a:r>
              <a:rPr lang="ru-RU" dirty="0"/>
              <a:t>На каждом шаге хранится не один, а топ-</a:t>
            </a:r>
            <a:r>
              <a:rPr lang="en-US" i="1" dirty="0"/>
              <a:t>k</a:t>
            </a:r>
            <a:r>
              <a:rPr lang="en-US" dirty="0"/>
              <a:t> </a:t>
            </a:r>
            <a:r>
              <a:rPr lang="ru-RU" dirty="0"/>
              <a:t>наиболее вероятных последовательностей.</a:t>
            </a:r>
          </a:p>
          <a:p>
            <a:pPr lvl="0"/>
            <a:r>
              <a:rPr lang="ru-RU" dirty="0"/>
              <a:t>Параметр </a:t>
            </a:r>
            <a:r>
              <a:rPr lang="en-US" i="1" dirty="0"/>
              <a:t>k</a:t>
            </a:r>
            <a:r>
              <a:rPr lang="en-US" dirty="0"/>
              <a:t> </a:t>
            </a:r>
            <a:r>
              <a:rPr lang="ru-RU" dirty="0"/>
              <a:t>называется </a:t>
            </a:r>
            <a:r>
              <a:rPr lang="en-US" dirty="0"/>
              <a:t>beam size.</a:t>
            </a:r>
            <a:endParaRPr lang="ru-RU" dirty="0"/>
          </a:p>
          <a:p>
            <a:pPr lvl="0"/>
            <a:r>
              <a:rPr lang="ru-RU" b="1" dirty="0"/>
              <a:t>Алгоритм:</a:t>
            </a:r>
            <a:endParaRPr lang="ru-RU" dirty="0"/>
          </a:p>
          <a:p>
            <a:pPr lvl="0"/>
            <a:r>
              <a:rPr lang="ru-RU" dirty="0"/>
              <a:t>На шаге 1: выбираем топ-</a:t>
            </a:r>
            <a:r>
              <a:rPr lang="en-US" i="1" dirty="0"/>
              <a:t>k</a:t>
            </a:r>
            <a:r>
              <a:rPr lang="en-US" dirty="0"/>
              <a:t> </a:t>
            </a:r>
            <a:r>
              <a:rPr lang="ru-RU" dirty="0"/>
              <a:t>наиболее вероятных первых токенов.</a:t>
            </a:r>
          </a:p>
          <a:p>
            <a:pPr lvl="0"/>
            <a:r>
              <a:rPr lang="ru-RU" dirty="0"/>
              <a:t>На шаге 2: для каждой из </a:t>
            </a:r>
            <a:r>
              <a:rPr lang="en-US" i="1" dirty="0"/>
              <a:t>k</a:t>
            </a:r>
            <a:r>
              <a:rPr lang="en-US" dirty="0"/>
              <a:t> </a:t>
            </a:r>
            <a:r>
              <a:rPr lang="ru-RU" dirty="0"/>
              <a:t>последовательностей генерируем все возможные продолжения → получаем </a:t>
            </a:r>
            <a:r>
              <a:rPr lang="en-US" i="1" dirty="0"/>
              <a:t>k</a:t>
            </a:r>
            <a:r>
              <a:rPr lang="en-US" dirty="0"/>
              <a:t>×∣Y∣ </a:t>
            </a:r>
            <a:r>
              <a:rPr lang="ru-RU" dirty="0"/>
              <a:t>вариантов.</a:t>
            </a:r>
          </a:p>
          <a:p>
            <a:pPr lvl="0"/>
            <a:r>
              <a:rPr lang="ru-RU" dirty="0"/>
              <a:t>Среди них выбираем топ-</a:t>
            </a:r>
            <a:r>
              <a:rPr lang="en-US" i="1" dirty="0"/>
              <a:t>k</a:t>
            </a:r>
            <a:r>
              <a:rPr lang="en-US" dirty="0"/>
              <a:t> </a:t>
            </a:r>
            <a:r>
              <a:rPr lang="ru-RU" dirty="0"/>
              <a:t>по общей вероятности последовательности.</a:t>
            </a:r>
          </a:p>
          <a:p>
            <a:pPr lvl="0"/>
            <a:r>
              <a:rPr lang="ru-RU" dirty="0"/>
              <a:t>Повторяем до окончания.</a:t>
            </a:r>
          </a:p>
          <a:p>
            <a:pPr lvl="0"/>
            <a:r>
              <a:rPr lang="ru-RU" dirty="0"/>
              <a:t>📌 При </a:t>
            </a:r>
            <a:r>
              <a:rPr lang="en-US" i="1" dirty="0"/>
              <a:t>k</a:t>
            </a:r>
            <a:r>
              <a:rPr lang="en-US" dirty="0"/>
              <a:t>=1 : beam search = greedy search.</a:t>
            </a:r>
            <a:br>
              <a:rPr lang="en-US" dirty="0"/>
            </a:br>
            <a:r>
              <a:rPr lang="ru-RU" dirty="0"/>
              <a:t>При </a:t>
            </a:r>
            <a:r>
              <a:rPr lang="en-US" i="1" dirty="0"/>
              <a:t>k</a:t>
            </a:r>
            <a:r>
              <a:rPr lang="en-US" dirty="0"/>
              <a:t>=∣Y∣</a:t>
            </a:r>
            <a:r>
              <a:rPr lang="en-US" i="1" dirty="0"/>
              <a:t>T</a:t>
            </a:r>
            <a:r>
              <a:rPr lang="en-US" dirty="0"/>
              <a:t> : beam search = exhaustive search. </a:t>
            </a:r>
            <a:endParaRPr lang="ru-RU" dirty="0"/>
          </a:p>
          <a:p>
            <a:r>
              <a:rPr lang="ru-RU" dirty="0"/>
              <a:t> </a:t>
            </a:r>
          </a:p>
          <a:p>
            <a:endParaRPr lang="ru-RU" dirty="0"/>
          </a:p>
        </p:txBody>
      </p:sp>
    </p:spTree>
    <p:extLst>
      <p:ext uri="{BB962C8B-B14F-4D97-AF65-F5344CB8AC3E}">
        <p14:creationId xmlns:p14="http://schemas.microsoft.com/office/powerpoint/2010/main" val="444673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C40C98-44FC-A066-E39C-94CEA1C1631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A7ED96E8-C12B-C9DC-E5E3-1A88192A0428}"/>
              </a:ext>
            </a:extLst>
          </p:cNvPr>
          <p:cNvSpPr>
            <a:spLocks noGrp="1"/>
          </p:cNvSpPr>
          <p:nvPr>
            <p:ph idx="1"/>
          </p:nvPr>
        </p:nvSpPr>
        <p:spPr/>
        <p:txBody>
          <a:bodyPr>
            <a:normAutofit fontScale="25000" lnSpcReduction="20000"/>
          </a:bodyPr>
          <a:lstStyle/>
          <a:p>
            <a:r>
              <a:rPr lang="ru-RU" b="1" dirty="0"/>
              <a:t>1.1. 🎯 </a:t>
            </a:r>
            <a:r>
              <a:rPr lang="en" b="1" dirty="0"/>
              <a:t>Greedy Search (</a:t>
            </a:r>
            <a:r>
              <a:rPr lang="ru-RU" b="1" dirty="0"/>
              <a:t>Жадный поиск)</a:t>
            </a:r>
          </a:p>
          <a:p>
            <a:r>
              <a:rPr lang="ru-RU" b="1" dirty="0"/>
              <a:t>Как работает:</a:t>
            </a:r>
          </a:p>
          <a:p>
            <a:r>
              <a:rPr lang="ru-RU" dirty="0"/>
              <a:t>На каждом шаге выбирается токен (значение) с максимальной вероятностью:</a:t>
            </a:r>
          </a:p>
          <a:p>
            <a:r>
              <a:rPr lang="en" i="1" dirty="0" err="1"/>
              <a:t>yt</a:t>
            </a:r>
            <a:r>
              <a:rPr lang="en" dirty="0"/>
              <a:t>​=</a:t>
            </a:r>
            <a:r>
              <a:rPr lang="en" dirty="0" err="1"/>
              <a:t>arg</a:t>
            </a:r>
            <a:r>
              <a:rPr lang="en" i="1" dirty="0" err="1"/>
              <a:t>y</a:t>
            </a:r>
            <a:r>
              <a:rPr lang="en" dirty="0" err="1"/>
              <a:t>max</a:t>
            </a:r>
            <a:r>
              <a:rPr lang="en" dirty="0"/>
              <a:t>​</a:t>
            </a:r>
            <a:r>
              <a:rPr lang="en" i="1" dirty="0"/>
              <a:t>P</a:t>
            </a:r>
            <a:r>
              <a:rPr lang="en" dirty="0"/>
              <a:t>(</a:t>
            </a:r>
            <a:r>
              <a:rPr lang="en" i="1" dirty="0"/>
              <a:t>y</a:t>
            </a:r>
            <a:r>
              <a:rPr lang="en" dirty="0"/>
              <a:t>∣</a:t>
            </a:r>
            <a:r>
              <a:rPr lang="en" i="1" dirty="0"/>
              <a:t>y</a:t>
            </a:r>
            <a:r>
              <a:rPr lang="en" dirty="0"/>
              <a:t>1​,…,</a:t>
            </a:r>
            <a:r>
              <a:rPr lang="en" i="1" dirty="0"/>
              <a:t>yt</a:t>
            </a:r>
            <a:r>
              <a:rPr lang="en" dirty="0"/>
              <a:t>−1​,</a:t>
            </a:r>
            <a:r>
              <a:rPr lang="en" b="1" dirty="0"/>
              <a:t>c</a:t>
            </a:r>
            <a:r>
              <a:rPr lang="en" dirty="0"/>
              <a:t>)</a:t>
            </a:r>
          </a:p>
          <a:p>
            <a:r>
              <a:rPr lang="ru-RU" dirty="0"/>
              <a:t>где </a:t>
            </a:r>
            <a:r>
              <a:rPr lang="en" b="1" dirty="0"/>
              <a:t>c</a:t>
            </a:r>
            <a:r>
              <a:rPr lang="en" dirty="0"/>
              <a:t> — </a:t>
            </a:r>
            <a:r>
              <a:rPr lang="ru-RU" dirty="0"/>
              <a:t>контекст (скрытое состояние или вектор внимания).</a:t>
            </a:r>
          </a:p>
          <a:p>
            <a:r>
              <a:rPr lang="ru-RU" b="1" dirty="0"/>
              <a:t>Пример:</a:t>
            </a:r>
          </a:p>
          <a:p>
            <a:r>
              <a:rPr lang="ru-RU" dirty="0"/>
              <a:t>Пусть на шаге 1:</a:t>
            </a:r>
          </a:p>
          <a:p>
            <a:r>
              <a:rPr lang="en" i="1" dirty="0"/>
              <a:t>P</a:t>
            </a:r>
            <a:r>
              <a:rPr lang="en" dirty="0"/>
              <a:t>(</a:t>
            </a:r>
            <a:r>
              <a:rPr lang="en" i="1" dirty="0"/>
              <a:t>A</a:t>
            </a:r>
            <a:r>
              <a:rPr lang="en" dirty="0"/>
              <a:t>)=0.6 , </a:t>
            </a:r>
            <a:r>
              <a:rPr lang="en" i="1" dirty="0"/>
              <a:t>P</a:t>
            </a:r>
            <a:r>
              <a:rPr lang="en" dirty="0"/>
              <a:t>(</a:t>
            </a:r>
            <a:r>
              <a:rPr lang="en" i="1" dirty="0"/>
              <a:t>B</a:t>
            </a:r>
            <a:r>
              <a:rPr lang="en" dirty="0"/>
              <a:t>)=0.3 , </a:t>
            </a:r>
            <a:r>
              <a:rPr lang="en" i="1" dirty="0"/>
              <a:t>P</a:t>
            </a:r>
            <a:r>
              <a:rPr lang="en" dirty="0"/>
              <a:t>(</a:t>
            </a:r>
            <a:r>
              <a:rPr lang="en" i="1" dirty="0"/>
              <a:t>C</a:t>
            </a:r>
            <a:r>
              <a:rPr lang="en" dirty="0"/>
              <a:t>)=0.1 → </a:t>
            </a:r>
            <a:r>
              <a:rPr lang="ru-RU" dirty="0"/>
              <a:t>выбираем </a:t>
            </a:r>
            <a:r>
              <a:rPr lang="en" dirty="0"/>
              <a:t>A.</a:t>
            </a:r>
          </a:p>
          <a:p>
            <a:r>
              <a:rPr lang="ru-RU" dirty="0"/>
              <a:t>На шаге 2:</a:t>
            </a:r>
          </a:p>
          <a:p>
            <a:r>
              <a:rPr lang="en" i="1" dirty="0"/>
              <a:t>P</a:t>
            </a:r>
            <a:r>
              <a:rPr lang="en" dirty="0"/>
              <a:t>(</a:t>
            </a:r>
            <a:r>
              <a:rPr lang="en" i="1" dirty="0"/>
              <a:t>B</a:t>
            </a:r>
            <a:r>
              <a:rPr lang="en" dirty="0"/>
              <a:t>∣</a:t>
            </a:r>
            <a:r>
              <a:rPr lang="en" i="1" dirty="0"/>
              <a:t>A</a:t>
            </a:r>
            <a:r>
              <a:rPr lang="en" dirty="0"/>
              <a:t>)=0.7 , </a:t>
            </a:r>
            <a:r>
              <a:rPr lang="en" i="1" dirty="0"/>
              <a:t>P</a:t>
            </a:r>
            <a:r>
              <a:rPr lang="en" dirty="0"/>
              <a:t>(</a:t>
            </a:r>
            <a:r>
              <a:rPr lang="en" i="1" dirty="0"/>
              <a:t>C</a:t>
            </a:r>
            <a:r>
              <a:rPr lang="en" dirty="0"/>
              <a:t>∣</a:t>
            </a:r>
            <a:r>
              <a:rPr lang="en" i="1" dirty="0"/>
              <a:t>A</a:t>
            </a:r>
            <a:r>
              <a:rPr lang="en" dirty="0"/>
              <a:t>)=0.2 → </a:t>
            </a:r>
            <a:r>
              <a:rPr lang="ru-RU" dirty="0"/>
              <a:t>выбираем </a:t>
            </a:r>
            <a:r>
              <a:rPr lang="en" dirty="0"/>
              <a:t>B.</a:t>
            </a:r>
          </a:p>
          <a:p>
            <a:r>
              <a:rPr lang="ru-RU" dirty="0"/>
              <a:t>И так далее, пока не выйдет &lt;</a:t>
            </a:r>
            <a:r>
              <a:rPr lang="en" dirty="0" err="1"/>
              <a:t>eos</a:t>
            </a:r>
            <a:r>
              <a:rPr lang="en" dirty="0"/>
              <a:t>&gt; </a:t>
            </a:r>
            <a:r>
              <a:rPr lang="ru-RU" dirty="0"/>
              <a:t>или не достигнем длины прогноза.</a:t>
            </a:r>
          </a:p>
          <a:p>
            <a:r>
              <a:rPr lang="ru-RU" b="1" dirty="0"/>
              <a:t>Плюсы:</a:t>
            </a:r>
          </a:p>
          <a:p>
            <a:r>
              <a:rPr lang="ru-RU" dirty="0"/>
              <a:t>Очень быстрый.</a:t>
            </a:r>
          </a:p>
          <a:p>
            <a:r>
              <a:rPr lang="ru-RU" dirty="0"/>
              <a:t>Прост в реализации.</a:t>
            </a:r>
          </a:p>
          <a:p>
            <a:r>
              <a:rPr lang="ru-RU" b="1" dirty="0"/>
              <a:t>Минусы:</a:t>
            </a:r>
          </a:p>
          <a:p>
            <a:r>
              <a:rPr lang="ru-RU" dirty="0"/>
              <a:t>Не гарантирует наиболее вероятную последовательность.</a:t>
            </a:r>
          </a:p>
          <a:p>
            <a:r>
              <a:rPr lang="ru-RU" dirty="0"/>
              <a:t>Ошибки накапливаются: выбор </a:t>
            </a:r>
            <a:r>
              <a:rPr lang="ru-RU" dirty="0" err="1"/>
              <a:t>подоптимального</a:t>
            </a:r>
            <a:r>
              <a:rPr lang="ru-RU" dirty="0"/>
              <a:t> первого шага может испортить весь прогноз.</a:t>
            </a:r>
          </a:p>
          <a:p>
            <a:r>
              <a:rPr lang="ru-RU" dirty="0"/>
              <a:t>💡 Важно: наиболее вероятная последовательность — это не последовательность наиболее вероятных токенов. </a:t>
            </a:r>
          </a:p>
          <a:p>
            <a:r>
              <a:rPr lang="ru-RU" b="1" dirty="0"/>
              <a:t>1.2. 🔍 </a:t>
            </a:r>
            <a:r>
              <a:rPr lang="en" b="1" dirty="0"/>
              <a:t>Exhaustive Search (</a:t>
            </a:r>
            <a:r>
              <a:rPr lang="ru-RU" b="1" dirty="0"/>
              <a:t>Полный перебор)</a:t>
            </a:r>
          </a:p>
          <a:p>
            <a:r>
              <a:rPr lang="ru-RU" b="1" dirty="0"/>
              <a:t>Как работает:</a:t>
            </a:r>
          </a:p>
          <a:p>
            <a:r>
              <a:rPr lang="ru-RU" dirty="0"/>
              <a:t>Перебираются все возможные выходные последовательности.</a:t>
            </a:r>
          </a:p>
          <a:p>
            <a:r>
              <a:rPr lang="ru-RU" dirty="0"/>
              <a:t>Выбирается та, у которой максимальна общая условная вероятность:</a:t>
            </a:r>
          </a:p>
          <a:p>
            <a:r>
              <a:rPr lang="en" i="1" dirty="0"/>
              <a:t>P</a:t>
            </a:r>
            <a:r>
              <a:rPr lang="en" dirty="0"/>
              <a:t>(</a:t>
            </a:r>
            <a:r>
              <a:rPr lang="en" b="1" dirty="0"/>
              <a:t>y</a:t>
            </a:r>
            <a:r>
              <a:rPr lang="en" dirty="0"/>
              <a:t>)=</a:t>
            </a:r>
            <a:r>
              <a:rPr lang="en" i="1" dirty="0"/>
              <a:t>t</a:t>
            </a:r>
            <a:r>
              <a:rPr lang="en" dirty="0"/>
              <a:t>=1∏</a:t>
            </a:r>
            <a:r>
              <a:rPr lang="en" i="1" dirty="0"/>
              <a:t>T</a:t>
            </a:r>
            <a:r>
              <a:rPr lang="en" dirty="0"/>
              <a:t>​</a:t>
            </a:r>
            <a:r>
              <a:rPr lang="en" i="1" dirty="0"/>
              <a:t>P</a:t>
            </a:r>
            <a:r>
              <a:rPr lang="en" dirty="0"/>
              <a:t>(</a:t>
            </a:r>
            <a:r>
              <a:rPr lang="en" i="1" dirty="0" err="1"/>
              <a:t>yt</a:t>
            </a:r>
            <a:r>
              <a:rPr lang="en" dirty="0"/>
              <a:t>​∣</a:t>
            </a:r>
            <a:r>
              <a:rPr lang="en" i="1" dirty="0"/>
              <a:t>y</a:t>
            </a:r>
            <a:r>
              <a:rPr lang="en" dirty="0"/>
              <a:t>1​,…,</a:t>
            </a:r>
            <a:r>
              <a:rPr lang="en" i="1" dirty="0"/>
              <a:t>yt</a:t>
            </a:r>
            <a:r>
              <a:rPr lang="en" dirty="0"/>
              <a:t>−1​,</a:t>
            </a:r>
            <a:r>
              <a:rPr lang="en" b="1" dirty="0"/>
              <a:t>c</a:t>
            </a:r>
            <a:r>
              <a:rPr lang="en" dirty="0"/>
              <a:t>)</a:t>
            </a:r>
          </a:p>
          <a:p>
            <a:r>
              <a:rPr lang="ru-RU" b="1" dirty="0"/>
              <a:t>Проблема:</a:t>
            </a:r>
          </a:p>
          <a:p>
            <a:r>
              <a:rPr lang="ru-RU" dirty="0"/>
              <a:t>Если словарь (или число возможных значений) = ∣</a:t>
            </a:r>
            <a:r>
              <a:rPr lang="en" dirty="0"/>
              <a:t>Y∣ , </a:t>
            </a:r>
            <a:r>
              <a:rPr lang="ru-RU" dirty="0"/>
              <a:t>а длина прогноза = </a:t>
            </a:r>
            <a:r>
              <a:rPr lang="en" i="1" dirty="0"/>
              <a:t>T</a:t>
            </a:r>
            <a:r>
              <a:rPr lang="en" dirty="0"/>
              <a:t> , </a:t>
            </a:r>
            <a:r>
              <a:rPr lang="ru-RU" dirty="0"/>
              <a:t>то число последовательностей = ∣</a:t>
            </a:r>
            <a:r>
              <a:rPr lang="en" dirty="0"/>
              <a:t>Y∣</a:t>
            </a:r>
            <a:r>
              <a:rPr lang="en" i="1" dirty="0"/>
              <a:t>T</a:t>
            </a:r>
            <a:r>
              <a:rPr lang="en" dirty="0"/>
              <a:t> .</a:t>
            </a:r>
          </a:p>
          <a:p>
            <a:r>
              <a:rPr lang="ru-RU" dirty="0"/>
              <a:t>При ∣</a:t>
            </a:r>
            <a:r>
              <a:rPr lang="en" dirty="0"/>
              <a:t>Y∣=100 , </a:t>
            </a:r>
            <a:r>
              <a:rPr lang="en" i="1" dirty="0"/>
              <a:t>T</a:t>
            </a:r>
            <a:r>
              <a:rPr lang="en" dirty="0"/>
              <a:t>=24 → 10024 </a:t>
            </a:r>
            <a:r>
              <a:rPr lang="ru-RU" dirty="0"/>
              <a:t>комбинаций → непрактично.</a:t>
            </a:r>
          </a:p>
          <a:p>
            <a:r>
              <a:rPr lang="ru-RU" b="1" dirty="0"/>
              <a:t>Вывод:</a:t>
            </a:r>
          </a:p>
          <a:p>
            <a:r>
              <a:rPr lang="ru-RU" dirty="0"/>
              <a:t>Идеален с точки зрения точности.</a:t>
            </a:r>
          </a:p>
          <a:p>
            <a:r>
              <a:rPr lang="ru-RU" dirty="0"/>
              <a:t>Абсолютно неприменим на практике.</a:t>
            </a:r>
          </a:p>
          <a:p>
            <a:r>
              <a:rPr lang="ru-RU" b="1" dirty="0"/>
              <a:t>1.3. 🔀 </a:t>
            </a:r>
            <a:r>
              <a:rPr lang="en" b="1" dirty="0"/>
              <a:t>Beam Search (</a:t>
            </a:r>
            <a:r>
              <a:rPr lang="ru-RU" b="1" dirty="0"/>
              <a:t>Поиск с ветвлением)</a:t>
            </a:r>
          </a:p>
          <a:p>
            <a:r>
              <a:rPr lang="ru-RU" b="1" dirty="0"/>
              <a:t>Основная идея:</a:t>
            </a:r>
          </a:p>
          <a:p>
            <a:r>
              <a:rPr lang="ru-RU" dirty="0"/>
              <a:t>Компромисс между </a:t>
            </a:r>
            <a:r>
              <a:rPr lang="en" dirty="0"/>
              <a:t>greedy </a:t>
            </a:r>
            <a:r>
              <a:rPr lang="ru-RU" dirty="0"/>
              <a:t>и </a:t>
            </a:r>
            <a:r>
              <a:rPr lang="en" dirty="0"/>
              <a:t>exhaustive search.</a:t>
            </a:r>
            <a:br>
              <a:rPr lang="en" dirty="0"/>
            </a:br>
            <a:r>
              <a:rPr lang="ru-RU" dirty="0"/>
              <a:t>На каждом шаге хранится не один, а топ-</a:t>
            </a:r>
            <a:r>
              <a:rPr lang="en" i="1" dirty="0"/>
              <a:t>k</a:t>
            </a:r>
            <a:r>
              <a:rPr lang="en" dirty="0"/>
              <a:t> </a:t>
            </a:r>
            <a:r>
              <a:rPr lang="ru-RU" dirty="0"/>
              <a:t>наиболее вероятных последовательностей.</a:t>
            </a:r>
          </a:p>
          <a:p>
            <a:r>
              <a:rPr lang="ru-RU" dirty="0"/>
              <a:t>Параметр </a:t>
            </a:r>
            <a:r>
              <a:rPr lang="en" i="1" dirty="0"/>
              <a:t>k</a:t>
            </a:r>
            <a:r>
              <a:rPr lang="en" dirty="0"/>
              <a:t> </a:t>
            </a:r>
            <a:r>
              <a:rPr lang="ru-RU" dirty="0"/>
              <a:t>называется </a:t>
            </a:r>
            <a:r>
              <a:rPr lang="en" dirty="0"/>
              <a:t>beam size.</a:t>
            </a:r>
          </a:p>
          <a:p>
            <a:r>
              <a:rPr lang="ru-RU" b="1" dirty="0"/>
              <a:t>Алгоритм:</a:t>
            </a:r>
          </a:p>
          <a:p>
            <a:r>
              <a:rPr lang="ru-RU" dirty="0"/>
              <a:t>На шаге 1: выбираем топ-</a:t>
            </a:r>
            <a:r>
              <a:rPr lang="en" i="1" dirty="0"/>
              <a:t>k</a:t>
            </a:r>
            <a:r>
              <a:rPr lang="en" dirty="0"/>
              <a:t> </a:t>
            </a:r>
            <a:r>
              <a:rPr lang="ru-RU" dirty="0"/>
              <a:t>наиболее вероятных первых токенов.</a:t>
            </a:r>
          </a:p>
          <a:p>
            <a:r>
              <a:rPr lang="ru-RU" dirty="0"/>
              <a:t>На шаге 2: для каждой из </a:t>
            </a:r>
            <a:r>
              <a:rPr lang="en" i="1" dirty="0"/>
              <a:t>k</a:t>
            </a:r>
            <a:r>
              <a:rPr lang="en" dirty="0"/>
              <a:t> </a:t>
            </a:r>
            <a:r>
              <a:rPr lang="ru-RU" dirty="0"/>
              <a:t>последовательностей генерируем все возможные продолжения → получаем </a:t>
            </a:r>
            <a:r>
              <a:rPr lang="en" i="1" dirty="0"/>
              <a:t>k</a:t>
            </a:r>
            <a:r>
              <a:rPr lang="en" dirty="0"/>
              <a:t>×∣Y∣ </a:t>
            </a:r>
            <a:r>
              <a:rPr lang="ru-RU" dirty="0"/>
              <a:t>вариантов.</a:t>
            </a:r>
          </a:p>
          <a:p>
            <a:r>
              <a:rPr lang="ru-RU" dirty="0"/>
              <a:t>Среди них выбираем топ-</a:t>
            </a:r>
            <a:r>
              <a:rPr lang="en" i="1" dirty="0"/>
              <a:t>k</a:t>
            </a:r>
            <a:r>
              <a:rPr lang="en" dirty="0"/>
              <a:t> </a:t>
            </a:r>
            <a:r>
              <a:rPr lang="ru-RU" dirty="0"/>
              <a:t>по общей вероятности последовательности.</a:t>
            </a:r>
          </a:p>
          <a:p>
            <a:r>
              <a:rPr lang="ru-RU" dirty="0"/>
              <a:t>Повторяем до окончания.</a:t>
            </a:r>
          </a:p>
          <a:p>
            <a:r>
              <a:rPr lang="ru-RU" dirty="0"/>
              <a:t>📌 При </a:t>
            </a:r>
            <a:r>
              <a:rPr lang="en" i="1" dirty="0"/>
              <a:t>k</a:t>
            </a:r>
            <a:r>
              <a:rPr lang="en" dirty="0"/>
              <a:t>=1 : beam search = greedy search.</a:t>
            </a:r>
            <a:br>
              <a:rPr lang="en" dirty="0"/>
            </a:br>
            <a:r>
              <a:rPr lang="ru-RU" dirty="0"/>
              <a:t>При </a:t>
            </a:r>
            <a:r>
              <a:rPr lang="en" i="1" dirty="0"/>
              <a:t>k</a:t>
            </a:r>
            <a:r>
              <a:rPr lang="en" dirty="0"/>
              <a:t>=∣Y∣</a:t>
            </a:r>
            <a:r>
              <a:rPr lang="en" i="1" dirty="0"/>
              <a:t>T</a:t>
            </a:r>
            <a:r>
              <a:rPr lang="en" dirty="0"/>
              <a:t> : beam search = exhaustive search. </a:t>
            </a:r>
          </a:p>
          <a:p>
            <a:endParaRPr lang="en" b="0" dirty="0">
              <a:effectLst/>
            </a:endParaRPr>
          </a:p>
        </p:txBody>
      </p:sp>
    </p:spTree>
    <p:extLst>
      <p:ext uri="{BB962C8B-B14F-4D97-AF65-F5344CB8AC3E}">
        <p14:creationId xmlns:p14="http://schemas.microsoft.com/office/powerpoint/2010/main" val="3521640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rotWithShape="1">
          <a:blip r:embed="rId2"/>
          <a:srcRect l="9877" r="56759" b="16188"/>
          <a:stretch/>
        </p:blipFill>
        <p:spPr>
          <a:xfrm>
            <a:off x="8826499" y="4402754"/>
            <a:ext cx="2717800" cy="2187849"/>
          </a:xfrm>
          <a:prstGeom prst="rect">
            <a:avLst/>
          </a:prstGeom>
        </p:spPr>
      </p:pic>
      <p:sp>
        <p:nvSpPr>
          <p:cNvPr id="2" name="Заголовок 1"/>
          <p:cNvSpPr>
            <a:spLocks noGrp="1"/>
          </p:cNvSpPr>
          <p:nvPr>
            <p:ph type="title"/>
          </p:nvPr>
        </p:nvSpPr>
        <p:spPr>
          <a:xfrm>
            <a:off x="187287" y="188144"/>
            <a:ext cx="11166513" cy="571309"/>
          </a:xfrm>
        </p:spPr>
        <p:txBody>
          <a:bodyPr>
            <a:normAutofit fontScale="90000"/>
          </a:bodyPr>
          <a:lstStyle/>
          <a:p>
            <a:pPr algn="ctr"/>
            <a:r>
              <a:rPr lang="ru-RU" b="1" dirty="0"/>
              <a:t>Проблемы </a:t>
            </a:r>
            <a:r>
              <a:rPr lang="en-US" b="1" dirty="0"/>
              <a:t>AR – Net </a:t>
            </a:r>
            <a:r>
              <a:rPr lang="ru-RU" b="1" dirty="0"/>
              <a:t>подхода</a:t>
            </a:r>
          </a:p>
        </p:txBody>
      </p:sp>
      <p:sp>
        <p:nvSpPr>
          <p:cNvPr id="3" name="Объект 2"/>
          <p:cNvSpPr>
            <a:spLocks noGrp="1"/>
          </p:cNvSpPr>
          <p:nvPr>
            <p:ph idx="1"/>
          </p:nvPr>
        </p:nvSpPr>
        <p:spPr>
          <a:xfrm>
            <a:off x="108629" y="670962"/>
            <a:ext cx="11887199" cy="5240529"/>
          </a:xfrm>
        </p:spPr>
        <p:txBody>
          <a:bodyPr>
            <a:normAutofit/>
          </a:bodyPr>
          <a:lstStyle/>
          <a:p>
            <a:pPr marL="0" indent="0">
              <a:lnSpc>
                <a:spcPct val="100000"/>
              </a:lnSpc>
              <a:spcBef>
                <a:spcPts val="200"/>
              </a:spcBef>
              <a:buNone/>
            </a:pPr>
            <a:r>
              <a:rPr lang="ru-RU" sz="2000" b="1" dirty="0"/>
              <a:t>Преимущества</a:t>
            </a:r>
          </a:p>
          <a:p>
            <a:pPr marL="444500">
              <a:lnSpc>
                <a:spcPct val="100000"/>
              </a:lnSpc>
              <a:spcBef>
                <a:spcPts val="200"/>
              </a:spcBef>
            </a:pPr>
            <a:r>
              <a:rPr lang="ru-RU" sz="2000" dirty="0"/>
              <a:t>Можно использовать </a:t>
            </a:r>
            <a:r>
              <a:rPr lang="ru-RU" sz="2000" b="1" dirty="0"/>
              <a:t>несколько ВР</a:t>
            </a:r>
          </a:p>
          <a:p>
            <a:pPr marL="444500">
              <a:lnSpc>
                <a:spcPct val="100000"/>
              </a:lnSpc>
              <a:spcBef>
                <a:spcPts val="200"/>
              </a:spcBef>
            </a:pPr>
            <a:r>
              <a:rPr lang="ru-RU" sz="2000" dirty="0"/>
              <a:t>Работает </a:t>
            </a:r>
            <a:r>
              <a:rPr lang="ru-RU" sz="2000" b="1" dirty="0"/>
              <a:t>для сложных паттернов</a:t>
            </a:r>
            <a:r>
              <a:rPr lang="ru-RU" sz="2000" dirty="0"/>
              <a:t>, несводимых к стационарным ВР</a:t>
            </a:r>
          </a:p>
          <a:p>
            <a:pPr marL="444500">
              <a:lnSpc>
                <a:spcPct val="100000"/>
              </a:lnSpc>
              <a:spcBef>
                <a:spcPts val="200"/>
              </a:spcBef>
            </a:pPr>
            <a:r>
              <a:rPr lang="ru-RU" sz="2000" dirty="0"/>
              <a:t>Свобода выбора функции потерь – </a:t>
            </a:r>
            <a:r>
              <a:rPr lang="ru-RU" sz="2000" b="1" dirty="0"/>
              <a:t>возможность регуляризации</a:t>
            </a:r>
            <a:r>
              <a:rPr lang="ru-RU" sz="2000" dirty="0"/>
              <a:t>.</a:t>
            </a:r>
            <a:endParaRPr lang="en-US" sz="2000" dirty="0"/>
          </a:p>
          <a:p>
            <a:pPr marL="0" indent="0">
              <a:lnSpc>
                <a:spcPct val="100000"/>
              </a:lnSpc>
              <a:spcBef>
                <a:spcPts val="200"/>
              </a:spcBef>
              <a:buNone/>
            </a:pPr>
            <a:r>
              <a:rPr lang="ru-RU" sz="2000" b="1" dirty="0"/>
              <a:t>Недостатки </a:t>
            </a:r>
            <a:r>
              <a:rPr lang="en-US" sz="2000" b="1" dirty="0"/>
              <a:t>AR-Net, NAR</a:t>
            </a:r>
            <a:endParaRPr lang="ru-RU" sz="2000" b="1" dirty="0"/>
          </a:p>
          <a:p>
            <a:pPr marL="444500">
              <a:lnSpc>
                <a:spcPct val="100000"/>
              </a:lnSpc>
              <a:spcBef>
                <a:spcPts val="200"/>
              </a:spcBef>
            </a:pPr>
            <a:r>
              <a:rPr lang="ru-RU" sz="2000" dirty="0" err="1"/>
              <a:t>Полносвязная</a:t>
            </a:r>
            <a:r>
              <a:rPr lang="ru-RU" sz="2000" dirty="0"/>
              <a:t> структура на длинном окне (несколько периодов, паттернов и </a:t>
            </a:r>
            <a:r>
              <a:rPr lang="ru-RU" sz="2000" dirty="0" err="1"/>
              <a:t>тд</a:t>
            </a:r>
            <a:r>
              <a:rPr lang="ru-RU" sz="2000" dirty="0"/>
              <a:t>) </a:t>
            </a:r>
            <a:r>
              <a:rPr lang="ru-RU" sz="2000" b="1" dirty="0"/>
              <a:t>нарушает казуальную структуру ВР</a:t>
            </a:r>
          </a:p>
          <a:p>
            <a:pPr marL="444500">
              <a:lnSpc>
                <a:spcPct val="100000"/>
              </a:lnSpc>
              <a:spcBef>
                <a:spcPts val="200"/>
              </a:spcBef>
            </a:pPr>
            <a:r>
              <a:rPr lang="ru-RU" sz="2000" dirty="0"/>
              <a:t>Связь между положениями окна, проходящего по ВР основывается только на результате предсказания – это может скрыть паттерны ВР </a:t>
            </a:r>
            <a:r>
              <a:rPr lang="ru-RU" sz="2000" b="1" dirty="0"/>
              <a:t>(неверный учет контекста)</a:t>
            </a:r>
            <a:r>
              <a:rPr lang="ru-RU" sz="2000" dirty="0"/>
              <a:t>.</a:t>
            </a:r>
          </a:p>
          <a:p>
            <a:pPr marL="444500">
              <a:lnSpc>
                <a:spcPct val="100000"/>
              </a:lnSpc>
              <a:spcBef>
                <a:spcPts val="200"/>
              </a:spcBef>
            </a:pPr>
            <a:r>
              <a:rPr lang="ru-RU" sz="2000" b="1" dirty="0"/>
              <a:t>Сложная интерпретация результатов</a:t>
            </a:r>
          </a:p>
          <a:p>
            <a:pPr marL="444500">
              <a:lnSpc>
                <a:spcPct val="100000"/>
              </a:lnSpc>
              <a:spcBef>
                <a:spcPts val="200"/>
              </a:spcBef>
            </a:pPr>
            <a:r>
              <a:rPr lang="ru-RU" sz="2000" dirty="0"/>
              <a:t>Нет Возможности предсказания последовательности семплов за один шаг.</a:t>
            </a:r>
          </a:p>
          <a:p>
            <a:pPr marL="444500">
              <a:lnSpc>
                <a:spcPct val="100000"/>
              </a:lnSpc>
              <a:spcBef>
                <a:spcPts val="200"/>
              </a:spcBef>
            </a:pPr>
            <a:r>
              <a:rPr lang="ru-RU" sz="2000" dirty="0"/>
              <a:t>Сеть дает хуже результаты если </a:t>
            </a:r>
            <a:r>
              <a:rPr lang="en-US" sz="2000" dirty="0"/>
              <a:t>AR </a:t>
            </a:r>
            <a:r>
              <a:rPr lang="ru-RU" sz="2000" dirty="0"/>
              <a:t>работает</a:t>
            </a:r>
          </a:p>
        </p:txBody>
      </p:sp>
      <p:pic>
        <p:nvPicPr>
          <p:cNvPr id="5" name="Рисунок 4"/>
          <p:cNvPicPr>
            <a:picLocks noChangeAspect="1"/>
          </p:cNvPicPr>
          <p:nvPr/>
        </p:nvPicPr>
        <p:blipFill rotWithShape="1">
          <a:blip r:embed="rId2"/>
          <a:srcRect l="56596" t="1" r="3952" b="855"/>
          <a:stretch/>
        </p:blipFill>
        <p:spPr>
          <a:xfrm>
            <a:off x="5792666" y="4275057"/>
            <a:ext cx="3033833" cy="2443244"/>
          </a:xfrm>
          <a:prstGeom prst="rect">
            <a:avLst/>
          </a:prstGeom>
        </p:spPr>
      </p:pic>
    </p:spTree>
    <p:extLst>
      <p:ext uri="{BB962C8B-B14F-4D97-AF65-F5344CB8AC3E}">
        <p14:creationId xmlns:p14="http://schemas.microsoft.com/office/powerpoint/2010/main" val="1743815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9580" y="238125"/>
            <a:ext cx="11094720" cy="564515"/>
          </a:xfrm>
        </p:spPr>
        <p:txBody>
          <a:bodyPr>
            <a:normAutofit fontScale="90000"/>
          </a:bodyPr>
          <a:lstStyle/>
          <a:p>
            <a:pPr algn="ctr"/>
            <a:r>
              <a:rPr lang="ru-RU" b="1" dirty="0"/>
              <a:t>Проблемы </a:t>
            </a:r>
            <a:r>
              <a:rPr lang="en-US" b="1" dirty="0"/>
              <a:t>MLP </a:t>
            </a:r>
            <a:r>
              <a:rPr lang="ru-RU" b="1" dirty="0"/>
              <a:t>подхода для сложных паттернов</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482600" y="719512"/>
                <a:ext cx="11709400" cy="5704840"/>
              </a:xfrm>
            </p:spPr>
            <p:txBody>
              <a:bodyPr>
                <a:normAutofit/>
              </a:bodyPr>
              <a:lstStyle/>
              <a:p>
                <a:pPr marL="0" indent="0">
                  <a:lnSpc>
                    <a:spcPct val="100000"/>
                  </a:lnSpc>
                  <a:spcBef>
                    <a:spcPts val="200"/>
                  </a:spcBef>
                  <a:buNone/>
                </a:pPr>
                <a:r>
                  <a:rPr lang="en-US" sz="2200" dirty="0"/>
                  <a:t>MLP </a:t>
                </a:r>
                <a:r>
                  <a:rPr lang="ru-RU" sz="2200" dirty="0"/>
                  <a:t>предсказание</a:t>
                </a:r>
                <a:r>
                  <a:rPr lang="en-US" sz="2200" dirty="0"/>
                  <a:t> (AR-NET)</a:t>
                </a:r>
                <a:r>
                  <a:rPr lang="ru-RU" sz="2200" dirty="0"/>
                  <a:t> можно описать как</a:t>
                </a:r>
                <a:endParaRPr lang="en-US" sz="2200" dirty="0"/>
              </a:p>
              <a:p>
                <a:pPr marL="0" indent="0" algn="ctr">
                  <a:lnSpc>
                    <a:spcPct val="100000"/>
                  </a:lnSpc>
                  <a:spcBef>
                    <a:spcPts val="200"/>
                  </a:spcBef>
                  <a:buNone/>
                </a:pPr>
                <a:r>
                  <a:rPr lang="ru-RU" sz="2200" dirty="0"/>
                  <a:t> </a:t>
                </a:r>
                <a14:m>
                  <m:oMath xmlns:m="http://schemas.openxmlformats.org/officeDocument/2006/math">
                    <m:sSub>
                      <m:sSubPr>
                        <m:ctrlPr>
                          <a:rPr lang="en-US" sz="2200" b="0" i="1" dirty="0" smtClean="0">
                            <a:latin typeface="Cambria Math" panose="02040503050406030204" pitchFamily="18" charset="0"/>
                          </a:rPr>
                        </m:ctrlPr>
                      </m:sSubPr>
                      <m:e>
                        <m:acc>
                          <m:accPr>
                            <m:chr m:val="̂"/>
                            <m:ctrlPr>
                              <a:rPr lang="en-US" sz="2200" b="0" i="1" smtClean="0">
                                <a:latin typeface="Cambria Math" panose="02040503050406030204" pitchFamily="18" charset="0"/>
                              </a:rPr>
                            </m:ctrlPr>
                          </m:accPr>
                          <m:e>
                            <m:r>
                              <a:rPr lang="en-US" sz="2200" b="0" i="1" smtClean="0">
                                <a:latin typeface="Cambria Math" panose="02040503050406030204" pitchFamily="18" charset="0"/>
                              </a:rPr>
                              <m:t>𝑦</m:t>
                            </m:r>
                          </m:e>
                        </m:acc>
                      </m:e>
                      <m:sub>
                        <m:r>
                          <a:rPr lang="en-US" sz="2200" b="0" i="1" dirty="0" smtClean="0">
                            <a:latin typeface="Cambria Math" panose="02040503050406030204" pitchFamily="18" charset="0"/>
                          </a:rPr>
                          <m:t>𝑛</m:t>
                        </m:r>
                        <m:r>
                          <a:rPr lang="en-US" sz="2200" b="0" i="1" dirty="0" smtClean="0">
                            <a:latin typeface="Cambria Math" panose="02040503050406030204" pitchFamily="18" charset="0"/>
                          </a:rPr>
                          <m:t>+1</m:t>
                        </m:r>
                      </m:sub>
                    </m:sSub>
                    <m:r>
                      <a:rPr lang="en-US" sz="2200" b="0" i="1" dirty="0" smtClean="0">
                        <a:latin typeface="Cambria Math" panose="02040503050406030204" pitchFamily="18" charset="0"/>
                      </a:rPr>
                      <m:t>=</m:t>
                    </m:r>
                    <m:nary>
                      <m:naryPr>
                        <m:chr m:val="∑"/>
                        <m:limLoc m:val="subSup"/>
                        <m:ctrlPr>
                          <a:rPr lang="en-US" sz="2200" b="0" i="1" dirty="0" smtClean="0">
                            <a:latin typeface="Cambria Math" panose="02040503050406030204" pitchFamily="18" charset="0"/>
                          </a:rPr>
                        </m:ctrlPr>
                      </m:naryPr>
                      <m:sub>
                        <m:r>
                          <m:rPr>
                            <m:brk m:alnAt="25"/>
                          </m:rPr>
                          <a:rPr lang="en-US" sz="2200" b="0" i="1" dirty="0" smtClean="0">
                            <a:latin typeface="Cambria Math" panose="02040503050406030204" pitchFamily="18" charset="0"/>
                          </a:rPr>
                          <m:t>𝑗</m:t>
                        </m:r>
                        <m:r>
                          <a:rPr lang="en-US" sz="2200" b="0" i="1" dirty="0" smtClean="0">
                            <a:latin typeface="Cambria Math" panose="02040503050406030204" pitchFamily="18" charset="0"/>
                          </a:rPr>
                          <m:t>=0</m:t>
                        </m:r>
                      </m:sub>
                      <m:sup>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𝑝</m:t>
                            </m:r>
                          </m:e>
                          <m:sub>
                            <m:r>
                              <a:rPr lang="en-US" sz="2200" b="0" i="1" dirty="0" smtClean="0">
                                <a:latin typeface="Cambria Math" panose="02040503050406030204" pitchFamily="18" charset="0"/>
                              </a:rPr>
                              <m:t>1</m:t>
                            </m:r>
                          </m:sub>
                        </m:sSub>
                      </m:sup>
                      <m:e>
                        <m:sSubSup>
                          <m:sSubSupPr>
                            <m:ctrlPr>
                              <a:rPr lang="en-US" sz="2200" b="0" i="1" dirty="0" smtClean="0">
                                <a:latin typeface="Cambria Math" panose="02040503050406030204" pitchFamily="18" charset="0"/>
                              </a:rPr>
                            </m:ctrlPr>
                          </m:sSubSupPr>
                          <m:e>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𝑗</m:t>
                            </m:r>
                          </m:sub>
                          <m:sup>
                            <m:r>
                              <a:rPr lang="en-US" sz="2200" b="0" i="1" dirty="0" smtClean="0">
                                <a:latin typeface="Cambria Math" panose="02040503050406030204" pitchFamily="18" charset="0"/>
                              </a:rPr>
                              <m:t>1</m:t>
                            </m:r>
                          </m:sup>
                        </m:sSubSup>
                        <m:r>
                          <a:rPr lang="en-US" sz="2200" b="0" i="1" dirty="0" smtClean="0">
                            <a:latin typeface="Cambria Math" panose="02040503050406030204" pitchFamily="18" charset="0"/>
                          </a:rPr>
                          <m:t>𝑓</m:t>
                        </m:r>
                        <m:d>
                          <m:dPr>
                            <m:ctrlPr>
                              <a:rPr lang="en-US" sz="2200" b="0" i="1" dirty="0" smtClean="0">
                                <a:latin typeface="Cambria Math" panose="02040503050406030204" pitchFamily="18" charset="0"/>
                              </a:rPr>
                            </m:ctrlPr>
                          </m:dPr>
                          <m:e>
                            <m:nary>
                              <m:naryPr>
                                <m:chr m:val="∑"/>
                                <m:limLoc m:val="subSup"/>
                                <m:ctrlPr>
                                  <a:rPr lang="en-US" sz="2200" b="0" i="1" dirty="0" smtClean="0">
                                    <a:latin typeface="Cambria Math" panose="02040503050406030204" pitchFamily="18" charset="0"/>
                                  </a:rPr>
                                </m:ctrlPr>
                              </m:naryPr>
                              <m:sub>
                                <m:r>
                                  <m:rPr>
                                    <m:brk m:alnAt="25"/>
                                  </m:rPr>
                                  <a:rPr lang="en-US" sz="2200" b="0" i="1" dirty="0" smtClean="0">
                                    <a:latin typeface="Cambria Math" panose="02040503050406030204" pitchFamily="18" charset="0"/>
                                  </a:rPr>
                                  <m:t>𝑖</m:t>
                                </m:r>
                                <m:r>
                                  <a:rPr lang="en-US" sz="2200" b="0" i="1" dirty="0" smtClean="0">
                                    <a:latin typeface="Cambria Math" panose="02040503050406030204" pitchFamily="18" charset="0"/>
                                  </a:rPr>
                                  <m:t>=0</m:t>
                                </m:r>
                              </m:sub>
                              <m:sup>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𝑝</m:t>
                                    </m:r>
                                  </m:e>
                                  <m:sub>
                                    <m:r>
                                      <a:rPr lang="en-US" sz="2200" b="0" i="1" dirty="0" smtClean="0">
                                        <a:latin typeface="Cambria Math" panose="02040503050406030204" pitchFamily="18" charset="0"/>
                                      </a:rPr>
                                      <m:t>0</m:t>
                                    </m:r>
                                  </m:sub>
                                </m:sSub>
                              </m:sup>
                              <m:e>
                                <m:sSubSup>
                                  <m:sSubSupPr>
                                    <m:ctrlPr>
                                      <a:rPr lang="en-US" sz="2200" b="0" i="1" dirty="0" smtClean="0">
                                        <a:latin typeface="Cambria Math" panose="02040503050406030204" pitchFamily="18" charset="0"/>
                                      </a:rPr>
                                    </m:ctrlPr>
                                  </m:sSubSupPr>
                                  <m:e>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𝑖𝑗</m:t>
                                    </m:r>
                                  </m:sub>
                                  <m:sup>
                                    <m:r>
                                      <a:rPr lang="en-US" sz="2200" b="0" i="1" dirty="0" smtClean="0">
                                        <a:latin typeface="Cambria Math" panose="02040503050406030204" pitchFamily="18" charset="0"/>
                                      </a:rPr>
                                      <m:t>0</m:t>
                                    </m:r>
                                  </m:sup>
                                </m:sSubSup>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𝑦</m:t>
                                    </m:r>
                                  </m:e>
                                  <m:sub>
                                    <m:r>
                                      <a:rPr lang="en-US" sz="2200" b="0" i="1" dirty="0" smtClean="0">
                                        <a:latin typeface="Cambria Math" panose="02040503050406030204" pitchFamily="18" charset="0"/>
                                      </a:rPr>
                                      <m:t>𝑛</m:t>
                                    </m:r>
                                    <m:r>
                                      <a:rPr lang="en-US" sz="2200" b="0" i="1" dirty="0" smtClean="0">
                                        <a:latin typeface="Cambria Math" panose="02040503050406030204" pitchFamily="18" charset="0"/>
                                      </a:rPr>
                                      <m:t>−</m:t>
                                    </m:r>
                                    <m:r>
                                      <a:rPr lang="en-US" sz="2200" b="0" i="1" dirty="0" smtClean="0">
                                        <a:latin typeface="Cambria Math" panose="02040503050406030204" pitchFamily="18" charset="0"/>
                                      </a:rPr>
                                      <m:t>𝑖</m:t>
                                    </m:r>
                                  </m:sub>
                                </m:sSub>
                              </m:e>
                            </m:nary>
                          </m:e>
                        </m:d>
                        <m:r>
                          <a:rPr lang="en-US" sz="2200" b="0" i="1" dirty="0" smtClean="0">
                            <a:latin typeface="Cambria Math" panose="02040503050406030204" pitchFamily="18" charset="0"/>
                          </a:rPr>
                          <m:t> </m:t>
                        </m:r>
                      </m:e>
                    </m:nary>
                  </m:oMath>
                </a14:m>
                <a:endParaRPr lang="en-US" sz="2200" dirty="0"/>
              </a:p>
              <a:p>
                <a:pPr marL="0" indent="0">
                  <a:lnSpc>
                    <a:spcPct val="100000"/>
                  </a:lnSpc>
                  <a:spcBef>
                    <a:spcPts val="200"/>
                  </a:spcBef>
                  <a:buNone/>
                </a:pPr>
                <a:r>
                  <a:rPr lang="ru-RU" sz="2200" dirty="0"/>
                  <a:t>Таким образом предсказание – результат обработки окна размером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𝑝</m:t>
                        </m:r>
                      </m:e>
                      <m:sub>
                        <m:r>
                          <a:rPr lang="en-US" sz="2200" i="1" dirty="0">
                            <a:latin typeface="Cambria Math" panose="02040503050406030204" pitchFamily="18" charset="0"/>
                          </a:rPr>
                          <m:t>0</m:t>
                        </m:r>
                      </m:sub>
                    </m:sSub>
                  </m:oMath>
                </a14:m>
                <a:endParaRPr lang="ru-RU" sz="2200" dirty="0"/>
              </a:p>
              <a:p>
                <a:pPr marL="0" indent="0">
                  <a:lnSpc>
                    <a:spcPct val="100000"/>
                  </a:lnSpc>
                  <a:spcBef>
                    <a:spcPts val="200"/>
                  </a:spcBef>
                  <a:buNone/>
                </a:pPr>
                <a:r>
                  <a:rPr lang="ru-RU" sz="2200" dirty="0"/>
                  <a:t>Недостаток такой модели – контекст окружения окна  (память) не учитывается </a:t>
                </a:r>
              </a:p>
              <a:p>
                <a:pPr marL="0" indent="0">
                  <a:lnSpc>
                    <a:spcPct val="100000"/>
                  </a:lnSpc>
                  <a:spcBef>
                    <a:spcPts val="200"/>
                  </a:spcBef>
                  <a:buNone/>
                </a:pPr>
                <a:r>
                  <a:rPr lang="ru-RU" sz="2200" dirty="0"/>
                  <a:t>	или учитывается неявно, когда заменяем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𝑦</m:t>
                        </m:r>
                      </m:e>
                      <m:sub>
                        <m:r>
                          <a:rPr lang="en-US" sz="2200" i="1" dirty="0">
                            <a:latin typeface="Cambria Math" panose="02040503050406030204" pitchFamily="18" charset="0"/>
                          </a:rPr>
                          <m:t>𝑛</m:t>
                        </m:r>
                        <m:r>
                          <a:rPr lang="en-US" sz="2200" i="1" dirty="0">
                            <a:latin typeface="Cambria Math" panose="02040503050406030204" pitchFamily="18" charset="0"/>
                          </a:rPr>
                          <m:t>−</m:t>
                        </m:r>
                        <m:r>
                          <a:rPr lang="en-US" sz="2200" i="1" dirty="0">
                            <a:latin typeface="Cambria Math" panose="02040503050406030204" pitchFamily="18" charset="0"/>
                          </a:rPr>
                          <m:t>𝑖</m:t>
                        </m:r>
                      </m:sub>
                    </m:sSub>
                  </m:oMath>
                </a14:m>
                <a:r>
                  <a:rPr lang="ru-RU" sz="2200" dirty="0"/>
                  <a:t> на </a:t>
                </a:r>
                <a14:m>
                  <m:oMath xmlns:m="http://schemas.openxmlformats.org/officeDocument/2006/math">
                    <m:sSub>
                      <m:sSubPr>
                        <m:ctrlPr>
                          <a:rPr lang="en-US" sz="2200" i="1" dirty="0">
                            <a:latin typeface="Cambria Math" panose="02040503050406030204" pitchFamily="18" charset="0"/>
                          </a:rPr>
                        </m:ctrlPr>
                      </m:sSubPr>
                      <m:e>
                        <m:acc>
                          <m:accPr>
                            <m:chr m:val="̂"/>
                            <m:ctrlPr>
                              <a:rPr lang="en-US" sz="2200" b="0" i="1" dirty="0" smtClean="0">
                                <a:latin typeface="Cambria Math" panose="02040503050406030204" pitchFamily="18" charset="0"/>
                              </a:rPr>
                            </m:ctrlPr>
                          </m:accPr>
                          <m:e>
                            <m:r>
                              <a:rPr lang="en-US" sz="2200" b="0" i="1" dirty="0" smtClean="0">
                                <a:latin typeface="Cambria Math" panose="02040503050406030204" pitchFamily="18" charset="0"/>
                              </a:rPr>
                              <m:t>𝑦</m:t>
                            </m:r>
                          </m:e>
                        </m:acc>
                      </m:e>
                      <m:sub>
                        <m:r>
                          <a:rPr lang="en-US" sz="2200" i="1" dirty="0">
                            <a:latin typeface="Cambria Math" panose="02040503050406030204" pitchFamily="18" charset="0"/>
                          </a:rPr>
                          <m:t>𝑛</m:t>
                        </m:r>
                        <m:r>
                          <a:rPr lang="en-US" sz="2200" i="1" dirty="0">
                            <a:latin typeface="Cambria Math" panose="02040503050406030204" pitchFamily="18" charset="0"/>
                          </a:rPr>
                          <m:t>−</m:t>
                        </m:r>
                        <m:r>
                          <a:rPr lang="en-US" sz="2200" i="1" dirty="0">
                            <a:latin typeface="Cambria Math" panose="02040503050406030204" pitchFamily="18" charset="0"/>
                          </a:rPr>
                          <m:t>𝑖</m:t>
                        </m:r>
                      </m:sub>
                    </m:sSub>
                    <m:r>
                      <a:rPr lang="ru-RU" sz="2200" b="0" i="0" dirty="0" smtClean="0">
                        <a:latin typeface="Cambria Math" panose="02040503050406030204" pitchFamily="18" charset="0"/>
                      </a:rPr>
                      <m:t>, </m:t>
                    </m:r>
                  </m:oMath>
                </a14:m>
                <a:endParaRPr lang="ru-RU" sz="2200" b="0" i="0" dirty="0">
                  <a:latin typeface="+mj-lt"/>
                </a:endParaRPr>
              </a:p>
              <a:p>
                <a:pPr marL="0" indent="0">
                  <a:lnSpc>
                    <a:spcPct val="100000"/>
                  </a:lnSpc>
                  <a:spcBef>
                    <a:spcPts val="200"/>
                  </a:spcBef>
                  <a:buNone/>
                </a:pPr>
                <a:r>
                  <a:rPr lang="ru-RU" sz="2200" dirty="0">
                    <a:latin typeface="+mj-lt"/>
                  </a:rPr>
                  <a:t>	</a:t>
                </a:r>
                <a:r>
                  <a:rPr lang="ru-RU" sz="2200" b="0" i="0" dirty="0">
                    <a:latin typeface="+mj-lt"/>
                  </a:rPr>
                  <a:t>но тогда не учитываются ошибки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𝑦</m:t>
                        </m:r>
                      </m:e>
                      <m:sub>
                        <m:r>
                          <a:rPr lang="en-US" sz="2200" i="1" dirty="0">
                            <a:latin typeface="Cambria Math" panose="02040503050406030204" pitchFamily="18" charset="0"/>
                          </a:rPr>
                          <m:t>𝑛</m:t>
                        </m:r>
                        <m:r>
                          <a:rPr lang="en-US" sz="2200" i="1" dirty="0">
                            <a:latin typeface="Cambria Math" panose="02040503050406030204" pitchFamily="18" charset="0"/>
                          </a:rPr>
                          <m:t>−</m:t>
                        </m:r>
                        <m:r>
                          <a:rPr lang="en-US" sz="2200" i="1" dirty="0">
                            <a:latin typeface="Cambria Math" panose="02040503050406030204" pitchFamily="18" charset="0"/>
                          </a:rPr>
                          <m:t>𝑖</m:t>
                        </m:r>
                      </m:sub>
                    </m:sSub>
                  </m:oMath>
                </a14:m>
                <a:r>
                  <a:rPr lang="ru-RU" sz="2200" dirty="0"/>
                  <a:t> - </a:t>
                </a:r>
                <a14:m>
                  <m:oMath xmlns:m="http://schemas.openxmlformats.org/officeDocument/2006/math">
                    <m:sSub>
                      <m:sSubPr>
                        <m:ctrlPr>
                          <a:rPr lang="en-US" sz="2200" i="1" dirty="0">
                            <a:latin typeface="Cambria Math" panose="02040503050406030204" pitchFamily="18" charset="0"/>
                          </a:rPr>
                        </m:ctrlPr>
                      </m:sSubPr>
                      <m:e>
                        <m:acc>
                          <m:accPr>
                            <m:chr m:val="̂"/>
                            <m:ctrlPr>
                              <a:rPr lang="en-US" sz="2200" i="1" dirty="0">
                                <a:latin typeface="Cambria Math" panose="02040503050406030204" pitchFamily="18" charset="0"/>
                              </a:rPr>
                            </m:ctrlPr>
                          </m:accPr>
                          <m:e>
                            <m:r>
                              <a:rPr lang="en-US" sz="2200" i="1" dirty="0">
                                <a:latin typeface="Cambria Math" panose="02040503050406030204" pitchFamily="18" charset="0"/>
                              </a:rPr>
                              <m:t>𝑦</m:t>
                            </m:r>
                          </m:e>
                        </m:acc>
                      </m:e>
                      <m:sub>
                        <m:r>
                          <a:rPr lang="en-US" sz="2200" i="1" dirty="0">
                            <a:latin typeface="Cambria Math" panose="02040503050406030204" pitchFamily="18" charset="0"/>
                          </a:rPr>
                          <m:t>𝑛</m:t>
                        </m:r>
                        <m:r>
                          <a:rPr lang="en-US" sz="2200" i="1" dirty="0">
                            <a:latin typeface="Cambria Math" panose="02040503050406030204" pitchFamily="18" charset="0"/>
                          </a:rPr>
                          <m:t>−</m:t>
                        </m:r>
                        <m:r>
                          <a:rPr lang="en-US" sz="2200" i="1" dirty="0">
                            <a:latin typeface="Cambria Math" panose="02040503050406030204" pitchFamily="18" charset="0"/>
                          </a:rPr>
                          <m:t>𝑖</m:t>
                        </m:r>
                      </m:sub>
                    </m:sSub>
                  </m:oMath>
                </a14:m>
                <a:endParaRPr lang="ru-RU" sz="2200" dirty="0"/>
              </a:p>
              <a:p>
                <a:pPr marL="0" indent="0">
                  <a:lnSpc>
                    <a:spcPct val="100000"/>
                  </a:lnSpc>
                  <a:spcBef>
                    <a:spcPts val="200"/>
                  </a:spcBef>
                  <a:buNone/>
                </a:pPr>
                <a:r>
                  <a:rPr lang="ru-RU" sz="2200" dirty="0"/>
                  <a:t>Если во ВР есть сложные паттерны, непопадающие в окно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𝑝</m:t>
                        </m:r>
                      </m:e>
                      <m:sub>
                        <m:r>
                          <a:rPr lang="en-US" sz="2200" i="1" dirty="0">
                            <a:latin typeface="Cambria Math" panose="02040503050406030204" pitchFamily="18" charset="0"/>
                          </a:rPr>
                          <m:t>0</m:t>
                        </m:r>
                      </m:sub>
                    </m:sSub>
                  </m:oMath>
                </a14:m>
                <a:r>
                  <a:rPr lang="ru-RU" sz="2200" dirty="0"/>
                  <a:t> их влияние не учитывается (а оно есть) – ошибки предсказания растет. </a:t>
                </a:r>
              </a:p>
              <a:p>
                <a:pPr marL="0" indent="0">
                  <a:lnSpc>
                    <a:spcPct val="100000"/>
                  </a:lnSpc>
                  <a:spcBef>
                    <a:spcPts val="200"/>
                  </a:spcBef>
                  <a:buNone/>
                </a:pPr>
                <a:r>
                  <a:rPr lang="ru-RU" sz="2200" dirty="0"/>
                  <a:t>	Это особенно плохо для среднесрочных и долгосрочных предсказаний.</a:t>
                </a:r>
              </a:p>
              <a:p>
                <a:pPr marL="0" indent="0">
                  <a:lnSpc>
                    <a:spcPct val="100000"/>
                  </a:lnSpc>
                  <a:spcBef>
                    <a:spcPts val="200"/>
                  </a:spcBef>
                  <a:buNone/>
                </a:pPr>
                <a:endParaRPr lang="ru-RU" sz="22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482600" y="719512"/>
                <a:ext cx="11709400" cy="5704840"/>
              </a:xfrm>
              <a:blipFill>
                <a:blip r:embed="rId2"/>
                <a:stretch>
                  <a:fillRect l="-677" t="-2778"/>
                </a:stretch>
              </a:blipFill>
            </p:spPr>
            <p:txBody>
              <a:bodyPr/>
              <a:lstStyle/>
              <a:p>
                <a:r>
                  <a:rPr lang="ru-RU">
                    <a:noFill/>
                  </a:rPr>
                  <a:t> </a:t>
                </a:r>
              </a:p>
            </p:txBody>
          </p:sp>
        </mc:Fallback>
      </mc:AlternateContent>
      <p:sp>
        <p:nvSpPr>
          <p:cNvPr id="6" name="Прямоугольник 5"/>
          <p:cNvSpPr/>
          <p:nvPr/>
        </p:nvSpPr>
        <p:spPr>
          <a:xfrm>
            <a:off x="5569526" y="6596390"/>
            <a:ext cx="7232073" cy="261610"/>
          </a:xfrm>
          <a:prstGeom prst="rect">
            <a:avLst/>
          </a:prstGeom>
        </p:spPr>
        <p:txBody>
          <a:bodyPr wrap="square">
            <a:spAutoFit/>
          </a:bodyPr>
          <a:lstStyle/>
          <a:p>
            <a:r>
              <a:rPr lang="en-US" sz="1100" dirty="0"/>
              <a:t>https://machinelearningmastery.com/time-series-prediction-lstm-recurrent-neural-networks-python-keras/</a:t>
            </a:r>
            <a:endParaRPr lang="ru-RU" sz="1100" dirty="0"/>
          </a:p>
        </p:txBody>
      </p:sp>
      <p:pic>
        <p:nvPicPr>
          <p:cNvPr id="9" name="Рисунок 8"/>
          <p:cNvPicPr>
            <a:picLocks noChangeAspect="1"/>
          </p:cNvPicPr>
          <p:nvPr/>
        </p:nvPicPr>
        <p:blipFill>
          <a:blip r:embed="rId3"/>
          <a:stretch>
            <a:fillRect/>
          </a:stretch>
        </p:blipFill>
        <p:spPr>
          <a:xfrm>
            <a:off x="785091" y="4206351"/>
            <a:ext cx="4686300" cy="2520844"/>
          </a:xfrm>
          <a:prstGeom prst="rect">
            <a:avLst/>
          </a:prstGeom>
        </p:spPr>
      </p:pic>
      <p:sp>
        <p:nvSpPr>
          <p:cNvPr id="11" name="Прямоугольник 10"/>
          <p:cNvSpPr/>
          <p:nvPr/>
        </p:nvSpPr>
        <p:spPr>
          <a:xfrm>
            <a:off x="5141769" y="5078123"/>
            <a:ext cx="5775614" cy="1200329"/>
          </a:xfrm>
          <a:prstGeom prst="rect">
            <a:avLst/>
          </a:prstGeom>
        </p:spPr>
        <p:txBody>
          <a:bodyPr wrap="square">
            <a:spAutoFit/>
          </a:bodyPr>
          <a:lstStyle/>
          <a:p>
            <a:r>
              <a:rPr lang="ru-RU" dirty="0"/>
              <a:t>Выбор неправильных параметров модели может привести к ошибке.</a:t>
            </a:r>
          </a:p>
          <a:p>
            <a:r>
              <a:rPr lang="ru-RU" dirty="0"/>
              <a:t>Напр. на коротком окне тренд вместо степенного можно воспринять как линейный</a:t>
            </a:r>
          </a:p>
        </p:txBody>
      </p:sp>
    </p:spTree>
    <p:extLst>
      <p:ext uri="{BB962C8B-B14F-4D97-AF65-F5344CB8AC3E}">
        <p14:creationId xmlns:p14="http://schemas.microsoft.com/office/powerpoint/2010/main" val="3893529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9077" y="212605"/>
            <a:ext cx="11094720" cy="564515"/>
          </a:xfrm>
        </p:spPr>
        <p:txBody>
          <a:bodyPr>
            <a:normAutofit fontScale="90000"/>
          </a:bodyPr>
          <a:lstStyle/>
          <a:p>
            <a:pPr algn="ctr"/>
            <a:r>
              <a:rPr lang="ru-RU" b="1" dirty="0"/>
              <a:t>Рекуррентные подходы.</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79400" y="802640"/>
                <a:ext cx="11709400" cy="5704840"/>
              </a:xfrm>
            </p:spPr>
            <p:txBody>
              <a:bodyPr>
                <a:normAutofit/>
              </a:bodyPr>
              <a:lstStyle/>
              <a:p>
                <a:pPr marL="0" indent="0">
                  <a:buNone/>
                </a:pPr>
                <a:r>
                  <a:rPr lang="en-US" sz="2400" dirty="0"/>
                  <a:t>MLP </a:t>
                </a:r>
                <a:r>
                  <a:rPr lang="ru-RU" sz="2400" dirty="0"/>
                  <a:t>предсказание</a:t>
                </a:r>
                <a:r>
                  <a:rPr lang="en-US" sz="2400" dirty="0"/>
                  <a:t> (AR-NET)</a:t>
                </a:r>
                <a:r>
                  <a:rPr lang="ru-RU" sz="2400" dirty="0"/>
                  <a:t> можно описать как</a:t>
                </a:r>
                <a:endParaRPr lang="en-US" sz="2400" dirty="0"/>
              </a:p>
              <a:p>
                <a:pPr marL="0" indent="0" algn="ctr">
                  <a:buNone/>
                </a:pPr>
                <a:r>
                  <a:rPr lang="ru-RU" sz="2400" dirty="0"/>
                  <a:t> </a:t>
                </a:r>
                <a14:m>
                  <m:oMath xmlns:m="http://schemas.openxmlformats.org/officeDocument/2006/math">
                    <m:sSub>
                      <m:sSubPr>
                        <m:ctrlPr>
                          <a:rPr lang="en-US" sz="2400" b="0" i="1" dirty="0"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e>
                      <m:sub>
                        <m:r>
                          <a:rPr lang="en-US" sz="2400" b="0" i="1" dirty="0" smtClean="0">
                            <a:latin typeface="Cambria Math" panose="02040503050406030204" pitchFamily="18" charset="0"/>
                          </a:rPr>
                          <m:t>𝑛</m:t>
                        </m:r>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m:t>
                    </m:r>
                    <m:nary>
                      <m:naryPr>
                        <m:chr m:val="∑"/>
                        <m:limLoc m:val="subSup"/>
                        <m:ctrlPr>
                          <a:rPr lang="en-US" sz="2400" b="0" i="1" dirty="0" smtClean="0">
                            <a:latin typeface="Cambria Math" panose="02040503050406030204" pitchFamily="18" charset="0"/>
                          </a:rPr>
                        </m:ctrlPr>
                      </m:naryPr>
                      <m:sub>
                        <m:r>
                          <m:rPr>
                            <m:brk m:alnAt="25"/>
                          </m:rPr>
                          <a:rPr lang="en-US" sz="2400" b="0" i="1" dirty="0" smtClean="0">
                            <a:latin typeface="Cambria Math" panose="02040503050406030204" pitchFamily="18" charset="0"/>
                          </a:rPr>
                          <m:t>𝑗</m:t>
                        </m:r>
                        <m:r>
                          <a:rPr lang="en-US" sz="2400" b="0" i="1" dirty="0" smtClean="0">
                            <a:latin typeface="Cambria Math" panose="02040503050406030204" pitchFamily="18" charset="0"/>
                          </a:rPr>
                          <m:t>=0</m:t>
                        </m:r>
                      </m:sub>
                      <m:sup>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1</m:t>
                            </m:r>
                          </m:sub>
                        </m:sSub>
                      </m:sup>
                      <m:e>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𝑎</m:t>
                            </m:r>
                          </m:e>
                          <m:sub>
                            <m:r>
                              <a:rPr lang="en-US" sz="2400" b="0" i="1" dirty="0" smtClean="0">
                                <a:latin typeface="Cambria Math" panose="02040503050406030204" pitchFamily="18" charset="0"/>
                              </a:rPr>
                              <m:t>𝑗</m:t>
                            </m:r>
                          </m:sub>
                          <m:sup>
                            <m:r>
                              <a:rPr lang="en-US" sz="2400" b="0" i="1" dirty="0" smtClean="0">
                                <a:latin typeface="Cambria Math" panose="02040503050406030204" pitchFamily="18" charset="0"/>
                              </a:rPr>
                              <m:t>1</m:t>
                            </m:r>
                          </m:sup>
                        </m:sSubSup>
                        <m:r>
                          <a:rPr lang="en-US" sz="2400" b="0" i="1" dirty="0" smtClean="0">
                            <a:latin typeface="Cambria Math" panose="02040503050406030204" pitchFamily="18" charset="0"/>
                          </a:rPr>
                          <m:t>𝑓</m:t>
                        </m:r>
                        <m:d>
                          <m:dPr>
                            <m:ctrlPr>
                              <a:rPr lang="en-US" sz="2400" b="0" i="1" dirty="0" smtClean="0">
                                <a:latin typeface="Cambria Math" panose="02040503050406030204" pitchFamily="18" charset="0"/>
                              </a:rPr>
                            </m:ctrlPr>
                          </m:dPr>
                          <m:e>
                            <m:nary>
                              <m:naryPr>
                                <m:chr m:val="∑"/>
                                <m:limLoc m:val="subSup"/>
                                <m:ctrlPr>
                                  <a:rPr lang="en-US" sz="2400" b="0" i="1" dirty="0" smtClean="0">
                                    <a:latin typeface="Cambria Math" panose="02040503050406030204" pitchFamily="18" charset="0"/>
                                  </a:rPr>
                                </m:ctrlPr>
                              </m:naryPr>
                              <m:sub>
                                <m:r>
                                  <m:rPr>
                                    <m:brk m:alnAt="25"/>
                                  </m:rPr>
                                  <a:rPr lang="en-US" sz="2400" b="0" i="1" dirty="0" smtClean="0">
                                    <a:latin typeface="Cambria Math" panose="02040503050406030204" pitchFamily="18" charset="0"/>
                                  </a:rPr>
                                  <m:t>𝑖</m:t>
                                </m:r>
                                <m:r>
                                  <a:rPr lang="en-US" sz="2400" b="0" i="1" dirty="0" smtClean="0">
                                    <a:latin typeface="Cambria Math" panose="02040503050406030204" pitchFamily="18" charset="0"/>
                                  </a:rPr>
                                  <m:t>=0</m:t>
                                </m:r>
                              </m:sub>
                              <m:sup>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0</m:t>
                                    </m:r>
                                  </m:sub>
                                </m:sSub>
                              </m:sup>
                              <m:e>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𝑎</m:t>
                                    </m:r>
                                  </m:e>
                                  <m:sub>
                                    <m:r>
                                      <a:rPr lang="en-US" sz="2400" b="0" i="1" dirty="0" smtClean="0">
                                        <a:latin typeface="Cambria Math" panose="02040503050406030204" pitchFamily="18" charset="0"/>
                                      </a:rPr>
                                      <m:t>𝑖𝑗</m:t>
                                    </m:r>
                                  </m:sub>
                                  <m:sup>
                                    <m:r>
                                      <a:rPr lang="en-US" sz="2400" b="0" i="1" dirty="0" smtClean="0">
                                        <a:latin typeface="Cambria Math" panose="02040503050406030204" pitchFamily="18" charset="0"/>
                                      </a:rPr>
                                      <m:t>0</m:t>
                                    </m:r>
                                  </m:sup>
                                </m:sSubSup>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𝑦</m:t>
                                    </m:r>
                                  </m:e>
                                  <m:sub>
                                    <m:r>
                                      <a:rPr lang="en-US" sz="2400" b="0" i="1" dirty="0" smtClean="0">
                                        <a:latin typeface="Cambria Math" panose="02040503050406030204" pitchFamily="18" charset="0"/>
                                      </a:rPr>
                                      <m:t>𝑛</m:t>
                                    </m:r>
                                    <m:r>
                                      <a:rPr lang="en-US" sz="2400" b="0" i="1" dirty="0" smtClean="0">
                                        <a:latin typeface="Cambria Math" panose="02040503050406030204" pitchFamily="18" charset="0"/>
                                      </a:rPr>
                                      <m:t>−</m:t>
                                    </m:r>
                                    <m:r>
                                      <a:rPr lang="en-US" sz="2400" b="0" i="1" dirty="0" smtClean="0">
                                        <a:latin typeface="Cambria Math" panose="02040503050406030204" pitchFamily="18" charset="0"/>
                                      </a:rPr>
                                      <m:t>𝑖</m:t>
                                    </m:r>
                                  </m:sub>
                                </m:sSub>
                              </m:e>
                            </m:nary>
                          </m:e>
                        </m:d>
                        <m:r>
                          <a:rPr lang="en-US" sz="2400" b="0" i="1" dirty="0" smtClean="0">
                            <a:latin typeface="Cambria Math" panose="02040503050406030204" pitchFamily="18" charset="0"/>
                          </a:rPr>
                          <m:t> </m:t>
                        </m:r>
                      </m:e>
                    </m:nary>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𝐿</m:t>
                        </m:r>
                      </m:e>
                      <m:sub>
                        <m:r>
                          <a:rPr lang="en-US" sz="2400" b="0" i="1" dirty="0" smtClean="0">
                            <a:latin typeface="Cambria Math" panose="02040503050406030204" pitchFamily="18" charset="0"/>
                          </a:rPr>
                          <m:t>1</m:t>
                        </m:r>
                      </m:sub>
                    </m:sSub>
                    <m:r>
                      <a:rPr lang="en-US" sz="2400" b="0" i="1"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𝐿</m:t>
                        </m:r>
                      </m:e>
                      <m:sub>
                        <m:r>
                          <a:rPr lang="en-US" sz="2400" b="0" i="1" dirty="0" smtClean="0">
                            <a:latin typeface="Cambria Math" panose="02040503050406030204" pitchFamily="18" charset="0"/>
                            <a:ea typeface="Cambria Math" panose="02040503050406030204" pitchFamily="18" charset="0"/>
                          </a:rPr>
                          <m:t>0</m:t>
                        </m:r>
                      </m:sub>
                    </m:sSub>
                    <m:r>
                      <a:rPr lang="en-US" sz="2400" b="0" i="1"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𝑦</m:t>
                        </m:r>
                      </m:e>
                      <m:sub>
                        <m:r>
                          <a:rPr lang="en-US" sz="2400" b="0" i="1" dirty="0" smtClean="0">
                            <a:latin typeface="Cambria Math" panose="02040503050406030204" pitchFamily="18" charset="0"/>
                            <a:ea typeface="Cambria Math" panose="02040503050406030204" pitchFamily="18" charset="0"/>
                          </a:rPr>
                          <m:t>𝑛</m:t>
                        </m:r>
                      </m:sub>
                    </m:sSub>
                    <m:r>
                      <a:rPr lang="en-US" sz="2400" b="0" i="1" dirty="0" smtClean="0">
                        <a:latin typeface="Cambria Math" panose="02040503050406030204" pitchFamily="18" charset="0"/>
                        <a:ea typeface="Cambria Math" panose="02040503050406030204" pitchFamily="18" charset="0"/>
                      </a:rPr>
                      <m:t>)</m:t>
                    </m:r>
                  </m:oMath>
                </a14:m>
                <a:endParaRPr lang="en-US" sz="2400" dirty="0"/>
              </a:p>
              <a:p>
                <a:pPr marL="0" indent="0" algn="ctr">
                  <a:buNone/>
                </a:pPr>
                <a:r>
                  <a:rPr lang="ru-RU" sz="2400" dirty="0"/>
                  <a:t>где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𝐿</m:t>
                        </m:r>
                      </m:e>
                      <m:sub>
                        <m:r>
                          <a:rPr lang="en-US" sz="2400" i="1" dirty="0">
                            <a:latin typeface="Cambria Math" panose="02040503050406030204" pitchFamily="18" charset="0"/>
                          </a:rPr>
                          <m:t>1</m:t>
                        </m:r>
                      </m:sub>
                    </m:sSub>
                    <m:r>
                      <a:rPr lang="en-US" sz="2400" b="0" i="1" dirty="0" smtClean="0">
                        <a:latin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𝐿</m:t>
                        </m:r>
                      </m:e>
                      <m:sub>
                        <m:r>
                          <a:rPr lang="en-US" sz="2400" i="1" dirty="0">
                            <a:latin typeface="Cambria Math" panose="02040503050406030204" pitchFamily="18" charset="0"/>
                            <a:ea typeface="Cambria Math" panose="02040503050406030204" pitchFamily="18" charset="0"/>
                          </a:rPr>
                          <m:t>0</m:t>
                        </m:r>
                      </m:sub>
                    </m:sSub>
                    <m:r>
                      <a:rPr lang="en-US" sz="2400" b="0" i="1" dirty="0" smtClean="0">
                        <a:latin typeface="Cambria Math" panose="02040503050406030204" pitchFamily="18" charset="0"/>
                        <a:ea typeface="Cambria Math" panose="02040503050406030204" pitchFamily="18" charset="0"/>
                      </a:rPr>
                      <m:t> </m:t>
                    </m:r>
                  </m:oMath>
                </a14:m>
                <a:r>
                  <a:rPr lang="en-US" sz="2400" b="0" i="0" dirty="0">
                    <a:latin typeface="+mj-lt"/>
                    <a:ea typeface="Cambria Math" panose="02040503050406030204" pitchFamily="18" charset="0"/>
                  </a:rPr>
                  <a:t>-</a:t>
                </a:r>
                <a:r>
                  <a:rPr lang="ru-RU" sz="2400" b="0" i="0" dirty="0">
                    <a:latin typeface="+mj-lt"/>
                    <a:ea typeface="Cambria Math" panose="02040503050406030204" pitchFamily="18" charset="0"/>
                  </a:rPr>
                  <a:t> </a:t>
                </a:r>
                <a:r>
                  <a:rPr lang="ru-RU" sz="2400" dirty="0"/>
                  <a:t>типы слоев</a:t>
                </a:r>
                <a:endParaRPr lang="en-US" sz="2400" dirty="0"/>
              </a:p>
              <a:p>
                <a:pPr marL="0" indent="0">
                  <a:buNone/>
                </a:pPr>
                <a:r>
                  <a:rPr lang="ru-RU" sz="2400" dirty="0"/>
                  <a:t>Пусть мы хотим учитывать предыдущие состояние</a:t>
                </a:r>
                <a:r>
                  <a:rPr lang="en-US" sz="2400" dirty="0"/>
                  <a:t> </a:t>
                </a:r>
                <a:r>
                  <a:rPr lang="ru-RU" sz="2400" dirty="0"/>
                  <a:t>слоя </a:t>
                </a:r>
                <a14:m>
                  <m:oMath xmlns:m="http://schemas.openxmlformats.org/officeDocument/2006/math">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𝐿</m:t>
                        </m:r>
                      </m:e>
                      <m:sub>
                        <m:r>
                          <a:rPr lang="en-US" sz="2400" i="1" dirty="0">
                            <a:latin typeface="Cambria Math" panose="02040503050406030204" pitchFamily="18" charset="0"/>
                            <a:ea typeface="Cambria Math" panose="02040503050406030204" pitchFamily="18" charset="0"/>
                          </a:rPr>
                          <m:t>0</m:t>
                        </m:r>
                      </m:sub>
                    </m:sSub>
                  </m:oMath>
                </a14:m>
                <a:r>
                  <a:rPr lang="ru-RU" sz="2400" dirty="0"/>
                  <a:t> при моделировании текущего состояния</a:t>
                </a:r>
              </a:p>
              <a:p>
                <a:pPr marL="0" indent="0" algn="ctr">
                  <a:buNone/>
                </a:pPr>
                <a:r>
                  <a:rPr lang="ru-RU" sz="2400" dirty="0"/>
                  <a:t> </a:t>
                </a:r>
                <a14:m>
                  <m:oMath xmlns:m="http://schemas.openxmlformats.org/officeDocument/2006/math">
                    <m:sSub>
                      <m:sSubPr>
                        <m:ctrlPr>
                          <a:rPr lang="en-US" sz="2400" i="1" dirty="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dirty="0">
                            <a:latin typeface="Cambria Math" panose="02040503050406030204" pitchFamily="18" charset="0"/>
                          </a:rPr>
                          <m:t>𝑛</m:t>
                        </m:r>
                        <m:r>
                          <a:rPr lang="en-US" sz="2400" i="1" dirty="0">
                            <a:latin typeface="Cambria Math" panose="02040503050406030204" pitchFamily="18" charset="0"/>
                          </a:rPr>
                          <m:t>+1</m:t>
                        </m:r>
                      </m:sub>
                    </m:sSub>
                    <m:r>
                      <a:rPr lang="ru-RU" sz="2400" b="0" i="1" dirty="0" smtClean="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𝐿</m:t>
                        </m:r>
                      </m:e>
                      <m:sub>
                        <m:r>
                          <a:rPr lang="en-US" sz="2400" i="1" dirty="0">
                            <a:latin typeface="Cambria Math" panose="02040503050406030204" pitchFamily="18" charset="0"/>
                          </a:rPr>
                          <m:t>1</m:t>
                        </m:r>
                      </m:sub>
                    </m:sSub>
                    <m:r>
                      <a:rPr lang="en-US" sz="2400" i="1" dirty="0">
                        <a:latin typeface="Cambria Math" panose="02040503050406030204" pitchFamily="18" charset="0"/>
                        <a:ea typeface="Cambria Math" panose="02040503050406030204" pitchFamily="18" charset="0"/>
                      </a:rPr>
                      <m:t>°</m:t>
                    </m:r>
                    <m:sSubSup>
                      <m:sSubSupPr>
                        <m:ctrlPr>
                          <a:rPr lang="en-US" sz="2400" b="0" i="1" dirty="0" smtClean="0">
                            <a:latin typeface="Cambria Math" panose="02040503050406030204" pitchFamily="18" charset="0"/>
                            <a:ea typeface="Cambria Math" panose="02040503050406030204" pitchFamily="18" charset="0"/>
                          </a:rPr>
                        </m:ctrlPr>
                      </m:sSubSupPr>
                      <m:e>
                        <m:r>
                          <a:rPr lang="en-US" sz="2400" b="0" i="1" dirty="0" smtClean="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𝐿</m:t>
                        </m:r>
                      </m:e>
                      <m:sub>
                        <m:r>
                          <a:rPr lang="en-US" sz="2400" i="1" dirty="0">
                            <a:latin typeface="Cambria Math" panose="02040503050406030204" pitchFamily="18" charset="0"/>
                            <a:ea typeface="Cambria Math" panose="02040503050406030204" pitchFamily="18" charset="0"/>
                          </a:rPr>
                          <m:t>0</m:t>
                        </m:r>
                      </m:sub>
                      <m:sup>
                        <m:r>
                          <a:rPr lang="en-US" sz="2400" b="0" i="1" dirty="0" smtClean="0">
                            <a:latin typeface="Cambria Math" panose="02040503050406030204" pitchFamily="18" charset="0"/>
                            <a:ea typeface="Cambria Math" panose="02040503050406030204" pitchFamily="18" charset="0"/>
                          </a:rPr>
                          <m:t>0</m:t>
                        </m:r>
                      </m:sup>
                    </m:sSubSup>
                    <m:d>
                      <m:dPr>
                        <m:ctrlPr>
                          <a:rPr lang="en-US" sz="2400" i="1" dirty="0">
                            <a:latin typeface="Cambria Math" panose="02040503050406030204" pitchFamily="18" charset="0"/>
                            <a:ea typeface="Cambria Math" panose="02040503050406030204" pitchFamily="18" charset="0"/>
                          </a:rPr>
                        </m:ctrlPr>
                      </m:dPr>
                      <m:e>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𝑦</m:t>
                            </m:r>
                          </m:e>
                          <m:sub>
                            <m:r>
                              <a:rPr lang="en-US" sz="2400" i="1" dirty="0">
                                <a:latin typeface="Cambria Math" panose="02040503050406030204" pitchFamily="18" charset="0"/>
                                <a:ea typeface="Cambria Math" panose="02040503050406030204" pitchFamily="18" charset="0"/>
                              </a:rPr>
                              <m:t>𝑛</m:t>
                            </m:r>
                          </m:sub>
                        </m:sSub>
                      </m:e>
                    </m:d>
                    <m:r>
                      <a:rPr lang="en-US" sz="2400" b="0" i="1" dirty="0" smtClean="0">
                        <a:latin typeface="Cambria Math" panose="02040503050406030204" pitchFamily="18" charset="0"/>
                        <a:ea typeface="Cambria Math" panose="02040503050406030204" pitchFamily="18" charset="0"/>
                      </a:rPr>
                      <m:t>+</m:t>
                    </m:r>
                    <m:sSubSup>
                      <m:sSubSupPr>
                        <m:ctrlPr>
                          <a:rPr lang="en-US" sz="2400" i="1" dirty="0">
                            <a:latin typeface="Cambria Math" panose="02040503050406030204" pitchFamily="18" charset="0"/>
                            <a:ea typeface="Cambria Math" panose="02040503050406030204" pitchFamily="18" charset="0"/>
                          </a:rPr>
                        </m:ctrlPr>
                      </m:sSubSupPr>
                      <m:e>
                        <m:r>
                          <a:rPr lang="en-US" sz="2400" i="1" dirty="0">
                            <a:latin typeface="Cambria Math" panose="02040503050406030204" pitchFamily="18" charset="0"/>
                            <a:ea typeface="Cambria Math" panose="02040503050406030204" pitchFamily="18" charset="0"/>
                          </a:rPr>
                          <m:t>𝐿</m:t>
                        </m:r>
                      </m:e>
                      <m:sub>
                        <m:r>
                          <a:rPr lang="en-US" sz="2400" i="1" dirty="0">
                            <a:latin typeface="Cambria Math" panose="02040503050406030204" pitchFamily="18" charset="0"/>
                            <a:ea typeface="Cambria Math" panose="02040503050406030204" pitchFamily="18" charset="0"/>
                          </a:rPr>
                          <m:t>0</m:t>
                        </m:r>
                      </m:sub>
                      <m:sup>
                        <m:r>
                          <a:rPr lang="en-US" sz="2400" b="0" i="1" dirty="0" smtClean="0">
                            <a:latin typeface="Cambria Math" panose="02040503050406030204" pitchFamily="18" charset="0"/>
                            <a:ea typeface="Cambria Math" panose="02040503050406030204" pitchFamily="18" charset="0"/>
                          </a:rPr>
                          <m:t>1</m:t>
                        </m:r>
                      </m:sup>
                    </m:sSubSup>
                    <m:d>
                      <m:dPr>
                        <m:ctrlPr>
                          <a:rPr lang="en-US" sz="2400" i="1" dirty="0">
                            <a:latin typeface="Cambria Math" panose="02040503050406030204" pitchFamily="18" charset="0"/>
                            <a:ea typeface="Cambria Math" panose="02040503050406030204" pitchFamily="18" charset="0"/>
                          </a:rPr>
                        </m:ctrlPr>
                      </m:dPr>
                      <m:e>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𝑦</m:t>
                            </m:r>
                          </m:e>
                          <m:sub>
                            <m:r>
                              <a:rPr lang="en-US" sz="2400" i="1" dirty="0">
                                <a:latin typeface="Cambria Math" panose="02040503050406030204" pitchFamily="18" charset="0"/>
                                <a:ea typeface="Cambria Math" panose="02040503050406030204" pitchFamily="18" charset="0"/>
                              </a:rPr>
                              <m:t>𝑛</m:t>
                            </m:r>
                          </m:sub>
                        </m:sSub>
                      </m:e>
                    </m:d>
                    <m:r>
                      <a:rPr lang="en-US" sz="2400" b="0" i="1" dirty="0" smtClean="0">
                        <a:latin typeface="Cambria Math" panose="02040503050406030204" pitchFamily="18" charset="0"/>
                        <a:ea typeface="Cambria Math" panose="02040503050406030204" pitchFamily="18" charset="0"/>
                      </a:rPr>
                      <m:t>)</m:t>
                    </m:r>
                  </m:oMath>
                </a14:m>
                <a:r>
                  <a:rPr lang="ru-RU" sz="2400" b="0" i="0" dirty="0">
                    <a:latin typeface="+mj-lt"/>
                    <a:ea typeface="Cambria Math" panose="02040503050406030204" pitchFamily="18" charset="0"/>
                  </a:rPr>
                  <a:t>, </a:t>
                </a:r>
              </a:p>
              <a:p>
                <a:pPr marL="0" indent="0">
                  <a:buNone/>
                </a:pPr>
                <a:r>
                  <a:rPr lang="ru-RU" sz="2400" dirty="0">
                    <a:ea typeface="Cambria Math" panose="02040503050406030204" pitchFamily="18" charset="0"/>
                  </a:rPr>
                  <a:t>где </a:t>
                </a:r>
                <a14:m>
                  <m:oMath xmlns:m="http://schemas.openxmlformats.org/officeDocument/2006/math">
                    <m:sSubSup>
                      <m:sSubSupPr>
                        <m:ctrlPr>
                          <a:rPr lang="en-US" sz="2400" i="1" dirty="0">
                            <a:latin typeface="Cambria Math" panose="02040503050406030204" pitchFamily="18" charset="0"/>
                            <a:ea typeface="Cambria Math" panose="02040503050406030204" pitchFamily="18" charset="0"/>
                          </a:rPr>
                        </m:ctrlPr>
                      </m:sSubSupPr>
                      <m:e>
                        <m:r>
                          <a:rPr lang="en-US" sz="2400" i="1" dirty="0">
                            <a:latin typeface="Cambria Math" panose="02040503050406030204" pitchFamily="18" charset="0"/>
                            <a:ea typeface="Cambria Math" panose="02040503050406030204" pitchFamily="18" charset="0"/>
                          </a:rPr>
                          <m:t>𝐿</m:t>
                        </m:r>
                      </m:e>
                      <m:sub>
                        <m:r>
                          <a:rPr lang="en-US" sz="2400" i="1" dirty="0">
                            <a:latin typeface="Cambria Math" panose="02040503050406030204" pitchFamily="18" charset="0"/>
                            <a:ea typeface="Cambria Math" panose="02040503050406030204" pitchFamily="18" charset="0"/>
                          </a:rPr>
                          <m:t>0</m:t>
                        </m:r>
                      </m:sub>
                      <m:sup>
                        <m:r>
                          <a:rPr lang="en-US" sz="2400" i="1" dirty="0">
                            <a:latin typeface="Cambria Math" panose="02040503050406030204" pitchFamily="18" charset="0"/>
                            <a:ea typeface="Cambria Math" panose="02040503050406030204" pitchFamily="18" charset="0"/>
                          </a:rPr>
                          <m:t>1</m:t>
                        </m:r>
                      </m:sup>
                    </m:sSubSup>
                    <m:d>
                      <m:dPr>
                        <m:ctrlPr>
                          <a:rPr lang="en-US" sz="2400" i="1" dirty="0">
                            <a:latin typeface="Cambria Math" panose="02040503050406030204" pitchFamily="18" charset="0"/>
                            <a:ea typeface="Cambria Math" panose="02040503050406030204" pitchFamily="18" charset="0"/>
                          </a:rPr>
                        </m:ctrlPr>
                      </m:dPr>
                      <m:e>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𝑦</m:t>
                            </m:r>
                          </m:e>
                          <m:sub>
                            <m:r>
                              <a:rPr lang="en-US" sz="2400" i="1" dirty="0">
                                <a:latin typeface="Cambria Math" panose="02040503050406030204" pitchFamily="18" charset="0"/>
                                <a:ea typeface="Cambria Math" panose="02040503050406030204" pitchFamily="18" charset="0"/>
                              </a:rPr>
                              <m:t>𝑛</m:t>
                            </m:r>
                          </m:sub>
                        </m:sSub>
                      </m:e>
                    </m:d>
                    <m:r>
                      <a:rPr lang="ru-RU" sz="2400" b="0" i="0" dirty="0" smtClean="0">
                        <a:latin typeface="Cambria Math" panose="02040503050406030204" pitchFamily="18" charset="0"/>
                        <a:ea typeface="Cambria Math" panose="02040503050406030204" pitchFamily="18" charset="0"/>
                      </a:rPr>
                      <m:t> −</m:t>
                    </m:r>
                  </m:oMath>
                </a14:m>
                <a:r>
                  <a:rPr lang="ru-RU" sz="2400" b="0" i="0" dirty="0">
                    <a:latin typeface="+mj-lt"/>
                    <a:ea typeface="Cambria Math" panose="02040503050406030204" pitchFamily="18" charset="0"/>
                  </a:rPr>
                  <a:t> </a:t>
                </a:r>
                <a:r>
                  <a:rPr lang="ru-RU" sz="2400" dirty="0">
                    <a:latin typeface="+mj-lt"/>
                    <a:ea typeface="Cambria Math" panose="02040503050406030204" pitchFamily="18" charset="0"/>
                  </a:rPr>
                  <a:t>влияние </a:t>
                </a:r>
                <a:r>
                  <a:rPr lang="ru-RU" sz="2400" b="0" i="0" dirty="0">
                    <a:latin typeface="+mj-lt"/>
                    <a:ea typeface="Cambria Math" panose="02040503050406030204" pitchFamily="18" charset="0"/>
                  </a:rPr>
                  <a:t>предыдущего состояния (контекст/память/ функция перехода </a:t>
                </a:r>
                <a:r>
                  <a:rPr lang="en-US" sz="2400" b="0" i="0" dirty="0">
                    <a:latin typeface="+mj-lt"/>
                    <a:ea typeface="Cambria Math" panose="02040503050406030204" pitchFamily="18" charset="0"/>
                  </a:rPr>
                  <a:t>/ </a:t>
                </a:r>
                <a:r>
                  <a:rPr lang="ru-RU" sz="2400" b="0" i="0" dirty="0">
                    <a:latin typeface="+mj-lt"/>
                    <a:ea typeface="Cambria Math" panose="02040503050406030204" pitchFamily="18" charset="0"/>
                  </a:rPr>
                  <a:t>скрытое состояние ВР – </a:t>
                </a:r>
                <a:r>
                  <a:rPr lang="en-US" sz="2400" b="0" i="0" dirty="0">
                    <a:latin typeface="+mj-lt"/>
                    <a:ea typeface="Cambria Math" panose="02040503050406030204" pitchFamily="18" charset="0"/>
                  </a:rPr>
                  <a:t>hidden state (h)</a:t>
                </a:r>
                <a:r>
                  <a:rPr lang="ru-RU" sz="2400" b="0" i="0" dirty="0">
                    <a:latin typeface="+mj-lt"/>
                    <a:ea typeface="Cambria Math" panose="02040503050406030204" pitchFamily="18" charset="0"/>
                  </a:rPr>
                  <a:t>)</a:t>
                </a:r>
                <a14:m>
                  <m:oMath xmlns:m="http://schemas.openxmlformats.org/officeDocument/2006/math">
                    <m:r>
                      <a:rPr lang="en-US" sz="2400" b="0" i="0" dirty="0" smtClean="0">
                        <a:latin typeface="Cambria Math" panose="02040503050406030204" pitchFamily="18" charset="0"/>
                        <a:ea typeface="Cambria Math" panose="02040503050406030204" pitchFamily="18" charset="0"/>
                      </a:rPr>
                      <m:t>:</m:t>
                    </m:r>
                  </m:oMath>
                </a14:m>
                <a:endParaRPr lang="ru-RU" sz="2400" dirty="0"/>
              </a:p>
              <a:p>
                <a:pPr marL="0" indent="0" algn="ctr">
                  <a:buNone/>
                </a:pPr>
                <a14:m>
                  <m:oMath xmlns:m="http://schemas.openxmlformats.org/officeDocument/2006/math">
                    <m:sSub>
                      <m:sSubPr>
                        <m:ctrlPr>
                          <a:rPr lang="en-US" sz="2400" i="1" dirty="0">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dirty="0">
                            <a:latin typeface="Cambria Math" panose="02040503050406030204" pitchFamily="18" charset="0"/>
                          </a:rPr>
                          <m:t>𝑛</m:t>
                        </m:r>
                        <m:r>
                          <a:rPr lang="en-US" sz="2400" i="1" dirty="0">
                            <a:latin typeface="Cambria Math" panose="02040503050406030204" pitchFamily="18" charset="0"/>
                          </a:rPr>
                          <m:t>+1</m:t>
                        </m:r>
                      </m:sub>
                    </m:sSub>
                    <m:r>
                      <a:rPr lang="en-US" sz="2400" i="1" dirty="0">
                        <a:latin typeface="Cambria Math" panose="02040503050406030204" pitchFamily="18" charset="0"/>
                      </a:rPr>
                      <m:t>=</m:t>
                    </m:r>
                    <m:nary>
                      <m:naryPr>
                        <m:chr m:val="∑"/>
                        <m:limLoc m:val="subSup"/>
                        <m:ctrlPr>
                          <a:rPr lang="en-US" sz="2400" i="1" dirty="0">
                            <a:latin typeface="Cambria Math" panose="02040503050406030204" pitchFamily="18" charset="0"/>
                          </a:rPr>
                        </m:ctrlPr>
                      </m:naryPr>
                      <m:sub>
                        <m:r>
                          <m:rPr>
                            <m:brk m:alnAt="25"/>
                          </m:rPr>
                          <a:rPr lang="en-US" sz="2400" i="1" dirty="0">
                            <a:latin typeface="Cambria Math" panose="02040503050406030204" pitchFamily="18" charset="0"/>
                          </a:rPr>
                          <m:t>𝑗</m:t>
                        </m:r>
                        <m:r>
                          <a:rPr lang="en-US" sz="2400" i="1" dirty="0">
                            <a:latin typeface="Cambria Math" panose="02040503050406030204" pitchFamily="18" charset="0"/>
                          </a:rPr>
                          <m:t>=0</m:t>
                        </m:r>
                      </m:sub>
                      <m:sup>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1</m:t>
                            </m:r>
                          </m:sub>
                        </m:sSub>
                      </m:sup>
                      <m:e>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𝑎</m:t>
                            </m:r>
                          </m:e>
                          <m:sub>
                            <m:r>
                              <a:rPr lang="en-US" sz="2400" i="1" dirty="0">
                                <a:latin typeface="Cambria Math" panose="02040503050406030204" pitchFamily="18" charset="0"/>
                              </a:rPr>
                              <m:t>𝑗</m:t>
                            </m:r>
                          </m:sub>
                          <m:sup>
                            <m:r>
                              <a:rPr lang="en-US" sz="2400" i="1" dirty="0">
                                <a:latin typeface="Cambria Math" panose="02040503050406030204" pitchFamily="18" charset="0"/>
                              </a:rPr>
                              <m:t>1</m:t>
                            </m:r>
                          </m:sup>
                        </m:sSubSup>
                        <m:r>
                          <a:rPr lang="en-US" sz="2400" i="1" dirty="0">
                            <a:latin typeface="Cambria Math" panose="02040503050406030204" pitchFamily="18" charset="0"/>
                          </a:rPr>
                          <m:t>𝑓</m:t>
                        </m:r>
                        <m:d>
                          <m:dPr>
                            <m:ctrlPr>
                              <a:rPr lang="en-US" sz="2400" i="1" dirty="0">
                                <a:latin typeface="Cambria Math" panose="02040503050406030204" pitchFamily="18" charset="0"/>
                              </a:rPr>
                            </m:ctrlPr>
                          </m:dPr>
                          <m:e>
                            <m:nary>
                              <m:naryPr>
                                <m:chr m:val="∑"/>
                                <m:limLoc m:val="subSup"/>
                                <m:ctrlPr>
                                  <a:rPr lang="en-US" sz="2400" i="1" dirty="0">
                                    <a:latin typeface="Cambria Math" panose="02040503050406030204" pitchFamily="18" charset="0"/>
                                  </a:rPr>
                                </m:ctrlPr>
                              </m:naryPr>
                              <m:sub>
                                <m:r>
                                  <m:rPr>
                                    <m:brk m:alnAt="25"/>
                                  </m:rPr>
                                  <a:rPr lang="en-US" sz="2400" i="1" dirty="0">
                                    <a:latin typeface="Cambria Math" panose="02040503050406030204" pitchFamily="18" charset="0"/>
                                  </a:rPr>
                                  <m:t>𝑖</m:t>
                                </m:r>
                                <m:r>
                                  <a:rPr lang="en-US" sz="2400" i="1" dirty="0">
                                    <a:latin typeface="Cambria Math" panose="02040503050406030204" pitchFamily="18" charset="0"/>
                                  </a:rPr>
                                  <m:t>=</m:t>
                                </m:r>
                                <m:r>
                                  <a:rPr lang="ru-RU" sz="2400" b="0" i="1" dirty="0" smtClean="0">
                                    <a:latin typeface="Cambria Math" panose="02040503050406030204" pitchFamily="18" charset="0"/>
                                  </a:rPr>
                                  <m:t>1</m:t>
                                </m:r>
                              </m:sub>
                              <m:sup>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0</m:t>
                                    </m:r>
                                  </m:sub>
                                </m:sSub>
                              </m:sup>
                              <m:e>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𝑎</m:t>
                                    </m:r>
                                  </m:e>
                                  <m:sub>
                                    <m:r>
                                      <a:rPr lang="en-US" sz="2400" i="1" dirty="0">
                                        <a:latin typeface="Cambria Math" panose="02040503050406030204" pitchFamily="18" charset="0"/>
                                      </a:rPr>
                                      <m:t>𝑖𝑗</m:t>
                                    </m:r>
                                  </m:sub>
                                  <m:sup>
                                    <m:r>
                                      <a:rPr lang="en-US" sz="2400" i="1" dirty="0">
                                        <a:latin typeface="Cambria Math" panose="02040503050406030204" pitchFamily="18" charset="0"/>
                                      </a:rPr>
                                      <m:t>0</m:t>
                                    </m:r>
                                  </m:sup>
                                </m:sSubSup>
                                <m:sSub>
                                  <m:sSubPr>
                                    <m:ctrlPr>
                                      <a:rPr lang="en-US" sz="2400" i="1" dirty="0">
                                        <a:latin typeface="Cambria Math" panose="02040503050406030204" pitchFamily="18" charset="0"/>
                                      </a:rPr>
                                    </m:ctrlPr>
                                  </m:sSubPr>
                                  <m:e>
                                    <m:r>
                                      <a:rPr lang="en-US" sz="2400" i="1" dirty="0">
                                        <a:latin typeface="Cambria Math" panose="02040503050406030204" pitchFamily="18" charset="0"/>
                                      </a:rPr>
                                      <m:t>𝑦</m:t>
                                    </m:r>
                                  </m:e>
                                  <m:sub>
                                    <m:r>
                                      <a:rPr lang="en-US" sz="2400" i="1" dirty="0">
                                        <a:latin typeface="Cambria Math" panose="02040503050406030204" pitchFamily="18" charset="0"/>
                                      </a:rPr>
                                      <m:t>𝑛</m:t>
                                    </m:r>
                                    <m:r>
                                      <a:rPr lang="en-US" sz="2400" i="1" dirty="0">
                                        <a:latin typeface="Cambria Math" panose="02040503050406030204" pitchFamily="18" charset="0"/>
                                      </a:rPr>
                                      <m:t>−</m:t>
                                    </m:r>
                                    <m:r>
                                      <a:rPr lang="en-US" sz="2400" i="1" dirty="0">
                                        <a:latin typeface="Cambria Math" panose="02040503050406030204" pitchFamily="18" charset="0"/>
                                      </a:rPr>
                                      <m:t>𝑖</m:t>
                                    </m:r>
                                  </m:sub>
                                </m:sSub>
                              </m:e>
                            </m:nary>
                            <m:r>
                              <a:rPr lang="ru-RU" sz="2400" b="0" i="1" dirty="0" smtClean="0">
                                <a:latin typeface="Cambria Math" panose="02040503050406030204" pitchFamily="18" charset="0"/>
                              </a:rPr>
                              <m:t>+</m:t>
                            </m:r>
                            <m:nary>
                              <m:naryPr>
                                <m:chr m:val="∑"/>
                                <m:limLoc m:val="subSup"/>
                                <m:ctrlPr>
                                  <a:rPr lang="en-US" sz="2400" i="1" dirty="0">
                                    <a:latin typeface="Cambria Math" panose="02040503050406030204" pitchFamily="18" charset="0"/>
                                  </a:rPr>
                                </m:ctrlPr>
                              </m:naryPr>
                              <m:sub>
                                <m:r>
                                  <m:rPr>
                                    <m:brk m:alnAt="25"/>
                                  </m:rPr>
                                  <a:rPr lang="en-US" sz="2400" i="1" dirty="0">
                                    <a:latin typeface="Cambria Math" panose="02040503050406030204" pitchFamily="18" charset="0"/>
                                  </a:rPr>
                                  <m:t>𝑖</m:t>
                                </m:r>
                                <m:r>
                                  <a:rPr lang="en-US" sz="2400" i="1" dirty="0">
                                    <a:latin typeface="Cambria Math" panose="02040503050406030204" pitchFamily="18" charset="0"/>
                                  </a:rPr>
                                  <m:t>=</m:t>
                                </m:r>
                                <m:r>
                                  <a:rPr lang="en-US" sz="2400" b="0" i="1" dirty="0" smtClean="0">
                                    <a:latin typeface="Cambria Math" panose="02040503050406030204" pitchFamily="18" charset="0"/>
                                  </a:rPr>
                                  <m:t>1</m:t>
                                </m:r>
                              </m:sub>
                              <m:sup>
                                <m:sSub>
                                  <m:sSubPr>
                                    <m:ctrlPr>
                                      <a:rPr lang="en-US" sz="2400" i="1" dirty="0">
                                        <a:latin typeface="Cambria Math" panose="02040503050406030204" pitchFamily="18" charset="0"/>
                                      </a:rPr>
                                    </m:ctrlPr>
                                  </m:sSubPr>
                                  <m:e>
                                    <m:r>
                                      <a:rPr lang="en-US" sz="2400" i="1" dirty="0">
                                        <a:latin typeface="Cambria Math" panose="02040503050406030204" pitchFamily="18" charset="0"/>
                                      </a:rPr>
                                      <m:t>𝑝</m:t>
                                    </m:r>
                                  </m:e>
                                  <m:sub>
                                    <m:r>
                                      <a:rPr lang="en-US" sz="2400" i="1" dirty="0">
                                        <a:latin typeface="Cambria Math" panose="02040503050406030204" pitchFamily="18" charset="0"/>
                                      </a:rPr>
                                      <m:t>0</m:t>
                                    </m:r>
                                  </m:sub>
                                </m:sSub>
                              </m:sup>
                              <m:e>
                                <m:sSubSup>
                                  <m:sSubSupPr>
                                    <m:ctrlPr>
                                      <a:rPr lang="en-US" sz="2400" i="1" dirty="0">
                                        <a:latin typeface="Cambria Math" panose="02040503050406030204" pitchFamily="18" charset="0"/>
                                      </a:rPr>
                                    </m:ctrlPr>
                                  </m:sSubSupPr>
                                  <m:e>
                                    <m:r>
                                      <a:rPr lang="en-US" sz="2400" b="0" i="1" dirty="0" smtClean="0">
                                        <a:latin typeface="Cambria Math" panose="02040503050406030204" pitchFamily="18" charset="0"/>
                                      </a:rPr>
                                      <m:t>𝑏</m:t>
                                    </m:r>
                                  </m:e>
                                  <m:sub>
                                    <m:r>
                                      <a:rPr lang="en-US" sz="2400" i="1" dirty="0">
                                        <a:latin typeface="Cambria Math" panose="02040503050406030204" pitchFamily="18" charset="0"/>
                                      </a:rPr>
                                      <m:t>𝑖𝑗</m:t>
                                    </m:r>
                                  </m:sub>
                                  <m:sup>
                                    <m:r>
                                      <a:rPr lang="en-US" sz="2400" i="1" dirty="0">
                                        <a:latin typeface="Cambria Math" panose="02040503050406030204" pitchFamily="18" charset="0"/>
                                      </a:rPr>
                                      <m:t>0</m:t>
                                    </m:r>
                                  </m:sup>
                                </m:sSubSup>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h</m:t>
                                    </m:r>
                                  </m:e>
                                  <m:sub>
                                    <m:r>
                                      <a:rPr lang="en-US" sz="2400" i="1" dirty="0">
                                        <a:latin typeface="Cambria Math" panose="02040503050406030204" pitchFamily="18" charset="0"/>
                                      </a:rPr>
                                      <m:t>𝑛𝑖</m:t>
                                    </m:r>
                                  </m:sub>
                                </m:sSub>
                                <m:r>
                                  <a:rPr lang="en-US" sz="2400" b="0" i="1" dirty="0" smtClean="0">
                                    <a:latin typeface="Cambria Math" panose="02040503050406030204" pitchFamily="18" charset="0"/>
                                  </a:rPr>
                                  <m:t>+</m:t>
                                </m:r>
                              </m:e>
                            </m:nary>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𝑎</m:t>
                                </m:r>
                              </m:e>
                              <m:sub>
                                <m:r>
                                  <a:rPr lang="en-US" sz="2400" b="0" i="1" dirty="0" smtClean="0">
                                    <a:latin typeface="Cambria Math" panose="02040503050406030204" pitchFamily="18" charset="0"/>
                                  </a:rPr>
                                  <m:t>0</m:t>
                                </m:r>
                              </m:sub>
                              <m:sup>
                                <m:r>
                                  <a:rPr lang="en-US" sz="2400" i="1" dirty="0">
                                    <a:latin typeface="Cambria Math" panose="02040503050406030204" pitchFamily="18" charset="0"/>
                                  </a:rPr>
                                  <m:t>0</m:t>
                                </m:r>
                              </m:sup>
                            </m:sSubSup>
                          </m:e>
                        </m:d>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𝐿</m:t>
                            </m:r>
                          </m:e>
                          <m:sub>
                            <m:r>
                              <a:rPr lang="en-US" sz="2400" i="1" dirty="0">
                                <a:latin typeface="Cambria Math" panose="02040503050406030204" pitchFamily="18" charset="0"/>
                              </a:rPr>
                              <m:t>1</m:t>
                            </m:r>
                          </m:sub>
                        </m:sSub>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𝑅𝑁𝑁</m:t>
                            </m:r>
                          </m:e>
                          <m:sub>
                            <m:r>
                              <a:rPr lang="en-US" sz="2400" i="1" dirty="0">
                                <a:latin typeface="Cambria Math" panose="02040503050406030204" pitchFamily="18" charset="0"/>
                                <a:ea typeface="Cambria Math" panose="02040503050406030204" pitchFamily="18" charset="0"/>
                              </a:rPr>
                              <m:t>0</m:t>
                            </m:r>
                          </m:sub>
                        </m:sSub>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𝑦</m:t>
                            </m:r>
                          </m:e>
                          <m:sub>
                            <m:r>
                              <a:rPr lang="en-US" sz="2400" i="1" dirty="0">
                                <a:latin typeface="Cambria Math" panose="02040503050406030204" pitchFamily="18" charset="0"/>
                                <a:ea typeface="Cambria Math" panose="02040503050406030204" pitchFamily="18" charset="0"/>
                              </a:rPr>
                              <m:t>𝑛</m:t>
                            </m:r>
                          </m:sub>
                        </m:sSub>
                        <m:r>
                          <a:rPr lang="en-US" sz="2400" i="1" dirty="0">
                            <a:latin typeface="Cambria Math" panose="02040503050406030204" pitchFamily="18" charset="0"/>
                            <a:ea typeface="Cambria Math" panose="02040503050406030204" pitchFamily="18" charset="0"/>
                          </a:rPr>
                          <m:t>)</m:t>
                        </m:r>
                        <m:r>
                          <m:rPr>
                            <m:nor/>
                          </m:rPr>
                          <a:rPr lang="en-US" sz="2400" dirty="0"/>
                          <m:t> </m:t>
                        </m:r>
                      </m:e>
                    </m:nary>
                  </m:oMath>
                </a14:m>
                <a:r>
                  <a:rPr lang="ru-RU" sz="2400" dirty="0"/>
                  <a:t> </a:t>
                </a:r>
                <a:endParaRPr lang="en-US" sz="2400" dirty="0"/>
              </a:p>
              <a:p>
                <a:pPr marL="0" indent="0">
                  <a:buNone/>
                </a:pPr>
                <a:r>
                  <a:rPr lang="ru-RU" sz="2400" dirty="0"/>
                  <a:t>где</a:t>
                </a:r>
                <a14:m>
                  <m:oMath xmlns:m="http://schemas.openxmlformats.org/officeDocument/2006/math">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 </m:t>
                        </m:r>
                        <m:r>
                          <a:rPr lang="en-US" sz="2400" i="1" dirty="0">
                            <a:latin typeface="Cambria Math" panose="02040503050406030204" pitchFamily="18" charset="0"/>
                          </a:rPr>
                          <m:t>h</m:t>
                        </m:r>
                      </m:e>
                      <m:sub>
                        <m:r>
                          <a:rPr lang="en-US" sz="2400" i="1" dirty="0">
                            <a:latin typeface="Cambria Math" panose="02040503050406030204" pitchFamily="18" charset="0"/>
                          </a:rPr>
                          <m:t>𝑛𝑖</m:t>
                        </m:r>
                      </m:sub>
                    </m:sSub>
                  </m:oMath>
                </a14:m>
                <a:r>
                  <a:rPr lang="en-US" sz="2400" dirty="0"/>
                  <a:t> - </a:t>
                </a:r>
                <a:r>
                  <a:rPr lang="ru-RU" sz="2400" dirty="0"/>
                  <a:t>вектор предыдущих состояний для шага </a:t>
                </a:r>
                <a14:m>
                  <m:oMath xmlns:m="http://schemas.openxmlformats.org/officeDocument/2006/math">
                    <m:r>
                      <a:rPr lang="en-US" sz="2400" i="1" dirty="0" smtClean="0">
                        <a:latin typeface="Cambria Math" panose="02040503050406030204" pitchFamily="18" charset="0"/>
                      </a:rPr>
                      <m:t>𝑛</m:t>
                    </m:r>
                  </m:oMath>
                </a14:m>
                <a:r>
                  <a:rPr lang="ru-RU" sz="2400" dirty="0"/>
                  <a:t>, </a:t>
                </a:r>
                <a14:m>
                  <m:oMath xmlns:m="http://schemas.openxmlformats.org/officeDocument/2006/math">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𝑏</m:t>
                        </m:r>
                      </m:e>
                      <m:sub>
                        <m:r>
                          <a:rPr lang="en-US" sz="2400" i="1" dirty="0">
                            <a:latin typeface="Cambria Math" panose="02040503050406030204" pitchFamily="18" charset="0"/>
                          </a:rPr>
                          <m:t>𝑖𝑗</m:t>
                        </m:r>
                      </m:sub>
                      <m:sup>
                        <m:r>
                          <a:rPr lang="en-US" sz="2400" i="1" dirty="0">
                            <a:latin typeface="Cambria Math" panose="02040503050406030204" pitchFamily="18" charset="0"/>
                          </a:rPr>
                          <m:t>0</m:t>
                        </m:r>
                      </m:sup>
                    </m:sSubSup>
                  </m:oMath>
                </a14:m>
                <a:r>
                  <a:rPr lang="ru-RU" sz="2400" dirty="0"/>
                  <a:t> - коэффициенты слоя перехода от состояния </a:t>
                </a:r>
                <a:r>
                  <a:rPr lang="en-US" sz="2400" dirty="0"/>
                  <a:t>n </a:t>
                </a:r>
                <a:r>
                  <a:rPr lang="ru-RU" sz="2400" dirty="0"/>
                  <a:t>к состоянию </a:t>
                </a: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rPr>
                      <m:t>+1</m:t>
                    </m:r>
                  </m:oMath>
                </a14:m>
                <a:r>
                  <a:rPr lang="ru-RU" sz="2400" dirty="0"/>
                  <a:t>.</a:t>
                </a:r>
                <a:endParaRPr lang="en-US" sz="2400" dirty="0"/>
              </a:p>
              <a:p>
                <a:pPr marL="0" indent="0">
                  <a:buNone/>
                </a:pPr>
                <a:r>
                  <a:rPr lang="ru-RU" sz="2400" dirty="0"/>
                  <a:t>В  силу использования предыдущего состояния предсказания в текущем зависимость становится рекуррентной. Слой </a:t>
                </a:r>
                <a14:m>
                  <m:oMath xmlns:m="http://schemas.openxmlformats.org/officeDocument/2006/math">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𝑅𝑁𝑁</m:t>
                        </m:r>
                      </m:e>
                      <m:sub>
                        <m:r>
                          <a:rPr lang="en-US" sz="2400" i="1" dirty="0">
                            <a:latin typeface="Cambria Math" panose="02040503050406030204" pitchFamily="18" charset="0"/>
                            <a:ea typeface="Cambria Math" panose="02040503050406030204" pitchFamily="18" charset="0"/>
                          </a:rPr>
                          <m:t>0</m:t>
                        </m:r>
                      </m:sub>
                    </m:sSub>
                    <m:r>
                      <a:rPr lang="en-US" sz="2400" i="1" dirty="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𝑦</m:t>
                        </m:r>
                      </m:e>
                      <m:sub>
                        <m:r>
                          <a:rPr lang="en-US" sz="2400" i="1" dirty="0">
                            <a:latin typeface="Cambria Math" panose="02040503050406030204" pitchFamily="18" charset="0"/>
                            <a:ea typeface="Cambria Math" panose="02040503050406030204" pitchFamily="18" charset="0"/>
                          </a:rPr>
                          <m:t>𝑛</m:t>
                        </m:r>
                      </m:sub>
                    </m:sSub>
                    <m:r>
                      <a:rPr lang="en-US" sz="2400" i="1" dirty="0">
                        <a:latin typeface="Cambria Math" panose="02040503050406030204" pitchFamily="18" charset="0"/>
                        <a:ea typeface="Cambria Math" panose="02040503050406030204" pitchFamily="18" charset="0"/>
                      </a:rPr>
                      <m:t>)</m:t>
                    </m:r>
                  </m:oMath>
                </a14:m>
                <a:r>
                  <a:rPr lang="ru-RU" sz="2400" dirty="0"/>
                  <a:t> – рекуррентный слой.</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79400" y="802640"/>
                <a:ext cx="11709400" cy="5704840"/>
              </a:xfrm>
              <a:blipFill>
                <a:blip r:embed="rId2"/>
                <a:stretch>
                  <a:fillRect l="-833" t="-1496" b="-962"/>
                </a:stretch>
              </a:blipFill>
            </p:spPr>
            <p:txBody>
              <a:bodyPr/>
              <a:lstStyle/>
              <a:p>
                <a:r>
                  <a:rPr lang="ru-RU">
                    <a:noFill/>
                  </a:rPr>
                  <a:t> </a:t>
                </a:r>
              </a:p>
            </p:txBody>
          </p:sp>
        </mc:Fallback>
      </mc:AlternateContent>
      <p:sp>
        <p:nvSpPr>
          <p:cNvPr id="4" name="Прямоугольник 3"/>
          <p:cNvSpPr/>
          <p:nvPr/>
        </p:nvSpPr>
        <p:spPr>
          <a:xfrm>
            <a:off x="7558831" y="6507480"/>
            <a:ext cx="4508094" cy="307777"/>
          </a:xfrm>
          <a:prstGeom prst="rect">
            <a:avLst/>
          </a:prstGeom>
        </p:spPr>
        <p:txBody>
          <a:bodyPr wrap="none">
            <a:spAutoFit/>
          </a:bodyPr>
          <a:lstStyle/>
          <a:p>
            <a:r>
              <a:rPr lang="ru-RU" sz="1400" dirty="0"/>
              <a:t>https://d2l.ai/chapter_recurrent-neural-networks/rnn.html</a:t>
            </a:r>
          </a:p>
        </p:txBody>
      </p:sp>
    </p:spTree>
    <p:extLst>
      <p:ext uri="{BB962C8B-B14F-4D97-AF65-F5344CB8AC3E}">
        <p14:creationId xmlns:p14="http://schemas.microsoft.com/office/powerpoint/2010/main" val="590710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26923" y="1317361"/>
            <a:ext cx="10515600" cy="4351338"/>
          </a:xfrm>
        </p:spPr>
        <p:txBody>
          <a:bodyPr/>
          <a:lstStyle/>
          <a:p>
            <a:r>
              <a:rPr lang="ru-RU" dirty="0"/>
              <a:t>Сеть </a:t>
            </a:r>
            <a:r>
              <a:rPr lang="ru-RU" dirty="0" err="1"/>
              <a:t>Элмана</a:t>
            </a:r>
            <a:r>
              <a:rPr lang="ru-RU" dirty="0"/>
              <a:t> или </a:t>
            </a:r>
            <a:r>
              <a:rPr lang="en-US" dirty="0"/>
              <a:t>Simple RNN/Vanilla RNN</a:t>
            </a:r>
            <a:r>
              <a:rPr lang="ru-RU" dirty="0"/>
              <a:t>:</a:t>
            </a:r>
          </a:p>
        </p:txBody>
      </p:sp>
      <p:pic>
        <p:nvPicPr>
          <p:cNvPr id="2050" name="Picture 2" descr="https://stanford.edu/~shervine/teaching/cs-230/illustrations/description-block-rnn-ltr.png?74e25518f882f8758439bcb3637715e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1947" y="1276350"/>
            <a:ext cx="4838971" cy="2419486"/>
          </a:xfrm>
          <a:prstGeom prst="rect">
            <a:avLst/>
          </a:prstGeom>
          <a:noFill/>
          <a:extLst>
            <a:ext uri="{909E8E84-426E-40DD-AFC4-6F175D3DCCD1}">
              <a14:hiddenFill xmlns:a14="http://schemas.microsoft.com/office/drawing/2010/main">
                <a:solidFill>
                  <a:srgbClr val="FFFFFF"/>
                </a:solidFill>
              </a14:hiddenFill>
            </a:ext>
          </a:extLst>
        </p:spPr>
      </p:pic>
      <p:pic>
        <p:nvPicPr>
          <p:cNvPr id="9" name="Рисунок 8"/>
          <p:cNvPicPr>
            <a:picLocks noChangeAspect="1"/>
          </p:cNvPicPr>
          <p:nvPr/>
        </p:nvPicPr>
        <p:blipFill>
          <a:blip r:embed="rId3"/>
          <a:stretch>
            <a:fillRect/>
          </a:stretch>
        </p:blipFill>
        <p:spPr>
          <a:xfrm>
            <a:off x="714376" y="1910663"/>
            <a:ext cx="4162425" cy="809625"/>
          </a:xfrm>
          <a:prstGeom prst="rect">
            <a:avLst/>
          </a:prstGeom>
        </p:spPr>
      </p:pic>
      <p:pic>
        <p:nvPicPr>
          <p:cNvPr id="10" name="Рисунок 9"/>
          <p:cNvPicPr>
            <a:picLocks noChangeAspect="1"/>
          </p:cNvPicPr>
          <p:nvPr/>
        </p:nvPicPr>
        <p:blipFill>
          <a:blip r:embed="rId4"/>
          <a:stretch>
            <a:fillRect/>
          </a:stretch>
        </p:blipFill>
        <p:spPr>
          <a:xfrm>
            <a:off x="714376" y="5259124"/>
            <a:ext cx="4029075" cy="819150"/>
          </a:xfrm>
          <a:prstGeom prst="rect">
            <a:avLst/>
          </a:prstGeom>
        </p:spPr>
      </p:pic>
      <p:pic>
        <p:nvPicPr>
          <p:cNvPr id="2061" name="Picture 13" descr="Illustration of the vanilla recurrent neural network. | Download Scientific  Diagra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5666" y="2573711"/>
            <a:ext cx="4298113" cy="1838638"/>
          </a:xfrm>
          <a:prstGeom prst="rect">
            <a:avLst/>
          </a:prstGeom>
          <a:noFill/>
          <a:extLst>
            <a:ext uri="{909E8E84-426E-40DD-AFC4-6F175D3DCCD1}">
              <a14:hiddenFill xmlns:a14="http://schemas.microsoft.com/office/drawing/2010/main">
                <a:solidFill>
                  <a:srgbClr val="FFFFFF"/>
                </a:solidFill>
              </a14:hiddenFill>
            </a:ext>
          </a:extLst>
        </p:spPr>
      </p:pic>
      <p:sp>
        <p:nvSpPr>
          <p:cNvPr id="14" name="Заголовок 1"/>
          <p:cNvSpPr>
            <a:spLocks noGrp="1"/>
          </p:cNvSpPr>
          <p:nvPr>
            <p:ph type="title"/>
          </p:nvPr>
        </p:nvSpPr>
        <p:spPr>
          <a:xfrm>
            <a:off x="838200" y="365125"/>
            <a:ext cx="10515600" cy="911225"/>
          </a:xfrm>
        </p:spPr>
        <p:txBody>
          <a:bodyPr/>
          <a:lstStyle/>
          <a:p>
            <a:r>
              <a:rPr lang="ru-RU" b="1" dirty="0"/>
              <a:t>Простая рекуррентная нейронные сети</a:t>
            </a:r>
          </a:p>
        </p:txBody>
      </p:sp>
      <p:sp>
        <p:nvSpPr>
          <p:cNvPr id="15" name="Объект 2"/>
          <p:cNvSpPr txBox="1">
            <a:spLocks/>
          </p:cNvSpPr>
          <p:nvPr/>
        </p:nvSpPr>
        <p:spPr>
          <a:xfrm>
            <a:off x="453149" y="4736659"/>
            <a:ext cx="10515600" cy="626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Может быть и формулировка</a:t>
            </a:r>
            <a:r>
              <a:rPr lang="en-US" dirty="0"/>
              <a:t> </a:t>
            </a:r>
            <a:r>
              <a:rPr lang="ru-RU" dirty="0" err="1"/>
              <a:t>Джордана</a:t>
            </a:r>
            <a:endParaRPr lang="ru-RU" dirty="0"/>
          </a:p>
        </p:txBody>
      </p:sp>
      <p:sp>
        <p:nvSpPr>
          <p:cNvPr id="2" name="Прямоугольник 1"/>
          <p:cNvSpPr/>
          <p:nvPr/>
        </p:nvSpPr>
        <p:spPr>
          <a:xfrm>
            <a:off x="7675199" y="6367000"/>
            <a:ext cx="3852465" cy="307777"/>
          </a:xfrm>
          <a:prstGeom prst="rect">
            <a:avLst/>
          </a:prstGeom>
        </p:spPr>
        <p:txBody>
          <a:bodyPr wrap="none">
            <a:spAutoFit/>
          </a:bodyPr>
          <a:lstStyle/>
          <a:p>
            <a:r>
              <a:rPr lang="ru-RU" sz="1400" dirty="0"/>
              <a:t>https://avrtt.github.io/research/rnn_architecture/</a:t>
            </a:r>
          </a:p>
        </p:txBody>
      </p:sp>
    </p:spTree>
    <p:extLst>
      <p:ext uri="{BB962C8B-B14F-4D97-AF65-F5344CB8AC3E}">
        <p14:creationId xmlns:p14="http://schemas.microsoft.com/office/powerpoint/2010/main" val="3006027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en-US" b="1" dirty="0"/>
              <a:t>Рекуррентные нейронные сети</a:t>
            </a:r>
          </a:p>
        </p:txBody>
      </p:sp>
      <p:sp>
        <p:nvSpPr>
          <p:cNvPr id="3" name="Объект 2"/>
          <p:cNvSpPr>
            <a:spLocks noGrp="1"/>
          </p:cNvSpPr>
          <p:nvPr>
            <p:ph idx="1"/>
          </p:nvPr>
        </p:nvSpPr>
        <p:spPr>
          <a:xfrm>
            <a:off x="367469" y="717846"/>
            <a:ext cx="11738806" cy="6140153"/>
          </a:xfrm>
        </p:spPr>
        <p:txBody>
          <a:bodyPr>
            <a:noAutofit/>
          </a:bodyPr>
          <a:lstStyle/>
          <a:p>
            <a:pPr lvl="0">
              <a:lnSpc>
                <a:spcPct val="100000"/>
              </a:lnSpc>
              <a:spcBef>
                <a:spcPts val="600"/>
              </a:spcBef>
            </a:pPr>
            <a:r>
              <a:rPr lang="ru-RU" sz="2200" b="1" dirty="0"/>
              <a:t>Рекуррентные нейронные сети (RNN)</a:t>
            </a:r>
            <a:r>
              <a:rPr lang="ru-RU" sz="2200" dirty="0"/>
              <a:t>  исторически использовались при моделировании последовательностей, давая хорошие результаты по множеству задач.</a:t>
            </a:r>
          </a:p>
          <a:p>
            <a:pPr lvl="1">
              <a:lnSpc>
                <a:spcPct val="100000"/>
              </a:lnSpc>
              <a:spcBef>
                <a:spcPts val="600"/>
              </a:spcBef>
            </a:pPr>
            <a:r>
              <a:rPr lang="ru-RU" sz="1800" dirty="0"/>
              <a:t>Традиционное применение RNN - обработка естественного языка.</a:t>
            </a:r>
          </a:p>
          <a:p>
            <a:pPr lvl="1">
              <a:lnSpc>
                <a:spcPct val="100000"/>
              </a:lnSpc>
              <a:spcBef>
                <a:spcPts val="600"/>
              </a:spcBef>
            </a:pPr>
            <a:r>
              <a:rPr lang="ru-RU" sz="1800" dirty="0"/>
              <a:t>Однако в последние годы для приложений временного прогнозирования было разработано много архитектур на основе RNN.</a:t>
            </a:r>
          </a:p>
          <a:p>
            <a:pPr lvl="0">
              <a:lnSpc>
                <a:spcPct val="100000"/>
              </a:lnSpc>
              <a:spcBef>
                <a:spcPts val="600"/>
              </a:spcBef>
            </a:pPr>
            <a:r>
              <a:rPr lang="ru-RU" sz="2200"/>
              <a:t>Ячейки </a:t>
            </a:r>
            <a:r>
              <a:rPr lang="ru-RU" sz="2200" dirty="0"/>
              <a:t>RNN содержат состояние внутренней памяти, которое действует как сжатое резюме прошлой информации.</a:t>
            </a:r>
          </a:p>
          <a:p>
            <a:r>
              <a:rPr lang="ru-RU" sz="2100" dirty="0"/>
              <a:t>Другая интерпретация сети – мы движемся окном по временному ряду. </a:t>
            </a:r>
          </a:p>
          <a:p>
            <a:r>
              <a:rPr lang="ru-RU" sz="2100" dirty="0"/>
              <a:t>Но корме результата для каждого положения окна мы сохраняем внутреннее состояние </a:t>
            </a:r>
          </a:p>
          <a:p>
            <a:pPr lvl="1"/>
            <a:r>
              <a:rPr lang="ru-RU" sz="2100" dirty="0"/>
              <a:t>состояние используется в следующем положении окна</a:t>
            </a:r>
          </a:p>
          <a:p>
            <a:pPr lvl="0">
              <a:lnSpc>
                <a:spcPct val="100000"/>
              </a:lnSpc>
              <a:spcBef>
                <a:spcPts val="600"/>
              </a:spcBef>
            </a:pPr>
            <a:endParaRPr lang="ru-RU" sz="22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12" name="Рисунок 11"/>
          <p:cNvPicPr>
            <a:picLocks noChangeAspect="1"/>
          </p:cNvPicPr>
          <p:nvPr/>
        </p:nvPicPr>
        <p:blipFill>
          <a:blip r:embed="rId2"/>
          <a:stretch>
            <a:fillRect/>
          </a:stretch>
        </p:blipFill>
        <p:spPr>
          <a:xfrm>
            <a:off x="7885471" y="3898245"/>
            <a:ext cx="4220804" cy="2837060"/>
          </a:xfrm>
          <a:prstGeom prst="rect">
            <a:avLst/>
          </a:prstGeom>
        </p:spPr>
      </p:pic>
      <p:pic>
        <p:nvPicPr>
          <p:cNvPr id="11" name="Picture 2" descr="https://neerc.ifmo.ru/wiki/images/thumb/1/18/RNN_BPTT.jpg/450px-RNN_BPT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926" y="4272937"/>
            <a:ext cx="5092698" cy="252371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https://neerc.ifmo.ru/wiki/images/thumb/a/a6/RNN_BP.jpg/450px-RNN_BP.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65" y="4412772"/>
            <a:ext cx="2927561" cy="232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951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Tree>
    <p:extLst>
      <p:ext uri="{BB962C8B-B14F-4D97-AF65-F5344CB8AC3E}">
        <p14:creationId xmlns:p14="http://schemas.microsoft.com/office/powerpoint/2010/main" val="3451149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Tree>
    <p:extLst>
      <p:ext uri="{BB962C8B-B14F-4D97-AF65-F5344CB8AC3E}">
        <p14:creationId xmlns:p14="http://schemas.microsoft.com/office/powerpoint/2010/main" val="2730567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a:picLocks noChangeAspect="1"/>
          </p:cNvPicPr>
          <p:nvPr/>
        </p:nvPicPr>
        <p:blipFill>
          <a:blip r:embed="rId2"/>
          <a:stretch>
            <a:fillRect/>
          </a:stretch>
        </p:blipFill>
        <p:spPr>
          <a:xfrm>
            <a:off x="5809102" y="4073981"/>
            <a:ext cx="6278335" cy="2623342"/>
          </a:xfrm>
          <a:prstGeom prst="rect">
            <a:avLst/>
          </a:prstGeom>
        </p:spPr>
      </p:pic>
      <p:sp>
        <p:nvSpPr>
          <p:cNvPr id="2" name="Заголовок 1"/>
          <p:cNvSpPr>
            <a:spLocks noGrp="1"/>
          </p:cNvSpPr>
          <p:nvPr>
            <p:ph type="title"/>
          </p:nvPr>
        </p:nvSpPr>
        <p:spPr>
          <a:xfrm>
            <a:off x="264405" y="119721"/>
            <a:ext cx="11089395" cy="626393"/>
          </a:xfrm>
        </p:spPr>
        <p:txBody>
          <a:bodyPr>
            <a:normAutofit fontScale="90000"/>
          </a:bodyPr>
          <a:lstStyle/>
          <a:p>
            <a:pPr algn="ctr"/>
            <a:r>
              <a:rPr lang="en-US" b="1" dirty="0"/>
              <a:t>LTSF-</a:t>
            </a:r>
            <a:r>
              <a:rPr lang="en-US" b="1" dirty="0" err="1"/>
              <a:t>DLinear</a:t>
            </a:r>
            <a:endParaRPr lang="ru-RU" b="1" dirty="0"/>
          </a:p>
        </p:txBody>
      </p:sp>
      <p:sp>
        <p:nvSpPr>
          <p:cNvPr id="3" name="Объект 2"/>
          <p:cNvSpPr>
            <a:spLocks noGrp="1"/>
          </p:cNvSpPr>
          <p:nvPr>
            <p:ph idx="1"/>
          </p:nvPr>
        </p:nvSpPr>
        <p:spPr>
          <a:xfrm>
            <a:off x="264405" y="746114"/>
            <a:ext cx="11457542" cy="5442332"/>
          </a:xfrm>
        </p:spPr>
        <p:txBody>
          <a:bodyPr>
            <a:normAutofit/>
          </a:bodyPr>
          <a:lstStyle/>
          <a:p>
            <a:pPr marL="0" indent="0">
              <a:buNone/>
            </a:pPr>
            <a:r>
              <a:rPr lang="ru-RU" sz="2200" dirty="0"/>
              <a:t>Можно повысить интерпретируемость архитектуры НС, если мы будем понимать вклад отдельных компонент в общее предсказание.</a:t>
            </a:r>
          </a:p>
          <a:p>
            <a:r>
              <a:rPr lang="ru-RU" sz="2200" dirty="0"/>
              <a:t>Даже если формализация компонент не проводится. Вклад компонент виден на глаз.</a:t>
            </a:r>
            <a:endParaRPr lang="en-US" sz="2200" dirty="0"/>
          </a:p>
          <a:p>
            <a:pPr marL="0" indent="0">
              <a:buNone/>
            </a:pPr>
            <a:r>
              <a:rPr lang="ru-RU" sz="2200" dirty="0"/>
              <a:t>Гипотеза: </a:t>
            </a:r>
            <a:r>
              <a:rPr lang="en-US" sz="2200" dirty="0"/>
              <a:t> </a:t>
            </a:r>
            <a:endParaRPr lang="ru-RU" sz="2200" dirty="0"/>
          </a:p>
          <a:p>
            <a:pPr marL="457200" indent="-457200">
              <a:buFont typeface="+mj-lt"/>
              <a:buAutoNum type="arabicPeriod"/>
            </a:pPr>
            <a:r>
              <a:rPr lang="ru-RU" sz="2200" dirty="0"/>
              <a:t>Преобразуем </a:t>
            </a:r>
            <a:r>
              <a:rPr lang="en-US" sz="2200" dirty="0" err="1"/>
              <a:t>ARNet</a:t>
            </a:r>
            <a:r>
              <a:rPr lang="en-US" sz="2200" dirty="0"/>
              <a:t> </a:t>
            </a:r>
            <a:r>
              <a:rPr lang="ru-RU" sz="2200" dirty="0"/>
              <a:t>из итерационной</a:t>
            </a:r>
            <a:r>
              <a:rPr lang="en-US" sz="2200" dirty="0"/>
              <a:t> </a:t>
            </a:r>
            <a:r>
              <a:rPr lang="ru-RU" sz="2200" dirty="0"/>
              <a:t>в </a:t>
            </a:r>
            <a:r>
              <a:rPr lang="en-US" sz="2200" dirty="0"/>
              <a:t>SEQ2SEQ </a:t>
            </a:r>
            <a:r>
              <a:rPr lang="ru-RU" sz="2200" dirty="0"/>
              <a:t>модель (линейный слой это может).</a:t>
            </a:r>
          </a:p>
          <a:p>
            <a:pPr marL="457200" indent="-457200">
              <a:buFont typeface="+mj-lt"/>
              <a:buAutoNum type="arabicPeriod"/>
            </a:pPr>
            <a:r>
              <a:rPr lang="ru-RU" sz="2200" dirty="0"/>
              <a:t>Чтобы убрать тренд выберем его скользящим средним </a:t>
            </a:r>
            <a:r>
              <a:rPr lang="en-US" sz="2200" dirty="0"/>
              <a:t>(1d </a:t>
            </a:r>
            <a:r>
              <a:rPr lang="en-US" sz="2200" dirty="0" err="1"/>
              <a:t>AveragePooling</a:t>
            </a:r>
            <a:r>
              <a:rPr lang="en-US" sz="2200" dirty="0"/>
              <a:t>)</a:t>
            </a:r>
          </a:p>
          <a:p>
            <a:pPr marL="457200" indent="-457200">
              <a:buFont typeface="+mj-lt"/>
              <a:buAutoNum type="arabicPeriod"/>
            </a:pPr>
            <a:r>
              <a:rPr lang="ru-RU" sz="2200" dirty="0"/>
              <a:t>Отдельно будем предсказывать тренд, отдельно остаток при помощи линейных слоев.</a:t>
            </a:r>
          </a:p>
          <a:p>
            <a:pPr marL="457200" indent="-457200">
              <a:buFont typeface="+mj-lt"/>
              <a:buAutoNum type="arabicPeriod"/>
            </a:pPr>
            <a:r>
              <a:rPr lang="ru-RU" sz="2200" dirty="0"/>
              <a:t>Результат – комбинация предсказаний.</a:t>
            </a:r>
          </a:p>
          <a:p>
            <a:pPr marL="0" indent="0">
              <a:buNone/>
            </a:pPr>
            <a:r>
              <a:rPr lang="ru-RU" sz="2200" dirty="0"/>
              <a:t>Модель</a:t>
            </a:r>
            <a:r>
              <a:rPr lang="en-US" sz="2200" dirty="0"/>
              <a:t> Long Term Time Series Forecasting (LTSF) c </a:t>
            </a:r>
            <a:r>
              <a:rPr lang="ru-RU" sz="2200" dirty="0"/>
              <a:t>двойным (</a:t>
            </a:r>
            <a:r>
              <a:rPr lang="en-US" sz="2200" dirty="0"/>
              <a:t>Decomposition</a:t>
            </a:r>
            <a:r>
              <a:rPr lang="ru-RU" sz="2200" dirty="0"/>
              <a:t>) линейным слоем </a:t>
            </a:r>
            <a:r>
              <a:rPr lang="en-US" sz="2200" b="1" dirty="0"/>
              <a:t>LTSF-</a:t>
            </a:r>
            <a:r>
              <a:rPr lang="en-US" sz="2200" b="1" dirty="0" err="1"/>
              <a:t>DLinear</a:t>
            </a:r>
            <a:endParaRPr lang="en-US" sz="2200" b="1" dirty="0"/>
          </a:p>
          <a:p>
            <a:pPr marL="0" indent="0">
              <a:buNone/>
            </a:pPr>
            <a:r>
              <a:rPr lang="en-US" sz="2200" dirty="0"/>
              <a:t> </a:t>
            </a:r>
            <a:endParaRPr lang="ru-RU" sz="2200" dirty="0"/>
          </a:p>
        </p:txBody>
      </p:sp>
      <p:sp>
        <p:nvSpPr>
          <p:cNvPr id="4" name="Прямоугольник 3"/>
          <p:cNvSpPr/>
          <p:nvPr/>
        </p:nvSpPr>
        <p:spPr>
          <a:xfrm>
            <a:off x="155575" y="6494532"/>
            <a:ext cx="2619692" cy="307777"/>
          </a:xfrm>
          <a:prstGeom prst="rect">
            <a:avLst/>
          </a:prstGeom>
        </p:spPr>
        <p:txBody>
          <a:bodyPr wrap="none">
            <a:spAutoFit/>
          </a:bodyPr>
          <a:lstStyle/>
          <a:p>
            <a:r>
              <a:rPr lang="ru-RU" sz="1400" dirty="0"/>
              <a:t>https://arxiv.org/pdf/2205.13504</a:t>
            </a:r>
          </a:p>
        </p:txBody>
      </p:sp>
      <p:sp>
        <p:nvSpPr>
          <p:cNvPr id="6" name="AutoShape 6" descr="https://www.researchgate.net/publication/386144058/figure/fig2/AS:11431281292727723@1732696288063/Representation-of-the-DLinear-architecture-showing-how-an-input-sequence-T-z-is_W64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8" descr="LTSF-Linear: Embarrassingly simple time series forecasting models — neural  aspec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p:cNvPicPr>
            <a:picLocks noChangeAspect="1"/>
          </p:cNvPicPr>
          <p:nvPr/>
        </p:nvPicPr>
        <p:blipFill>
          <a:blip r:embed="rId3"/>
          <a:stretch>
            <a:fillRect/>
          </a:stretch>
        </p:blipFill>
        <p:spPr>
          <a:xfrm>
            <a:off x="2352676" y="4549593"/>
            <a:ext cx="3206296" cy="1969662"/>
          </a:xfrm>
          <a:prstGeom prst="rect">
            <a:avLst/>
          </a:prstGeom>
        </p:spPr>
      </p:pic>
      <p:sp>
        <p:nvSpPr>
          <p:cNvPr id="10" name="Прямоугольник 9"/>
          <p:cNvSpPr/>
          <p:nvPr/>
        </p:nvSpPr>
        <p:spPr>
          <a:xfrm>
            <a:off x="3411875" y="6519255"/>
            <a:ext cx="4264757" cy="338554"/>
          </a:xfrm>
          <a:prstGeom prst="rect">
            <a:avLst/>
          </a:prstGeom>
        </p:spPr>
        <p:txBody>
          <a:bodyPr wrap="none">
            <a:spAutoFit/>
          </a:bodyPr>
          <a:lstStyle/>
          <a:p>
            <a:r>
              <a:rPr lang="ru-RU" sz="1600" dirty="0"/>
              <a:t>https://seunghan96.github.io/ts/(paper)DLinear/</a:t>
            </a:r>
          </a:p>
        </p:txBody>
      </p:sp>
    </p:spTree>
    <p:extLst>
      <p:ext uri="{BB962C8B-B14F-4D97-AF65-F5344CB8AC3E}">
        <p14:creationId xmlns:p14="http://schemas.microsoft.com/office/powerpoint/2010/main" val="4197704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igure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658" y="4052274"/>
            <a:ext cx="8731045" cy="2762509"/>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p:cNvSpPr>
            <a:spLocks noGrp="1"/>
          </p:cNvSpPr>
          <p:nvPr>
            <p:ph type="title"/>
          </p:nvPr>
        </p:nvSpPr>
        <p:spPr>
          <a:xfrm>
            <a:off x="396275" y="158648"/>
            <a:ext cx="11524342" cy="723446"/>
          </a:xfrm>
        </p:spPr>
        <p:txBody>
          <a:bodyPr/>
          <a:lstStyle/>
          <a:p>
            <a:pPr algn="ctr"/>
            <a:r>
              <a:rPr lang="en-US" b="1" dirty="0"/>
              <a:t>LTSF-</a:t>
            </a:r>
            <a:r>
              <a:rPr lang="en-US" b="1" dirty="0" err="1"/>
              <a:t>DLinear</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24893" y="631082"/>
                <a:ext cx="12067107" cy="5254171"/>
              </a:xfrm>
            </p:spPr>
            <p:txBody>
              <a:bodyPr>
                <a:normAutofit/>
              </a:bodyPr>
              <a:lstStyle/>
              <a:p>
                <a:pPr marL="0" indent="0">
                  <a:buNone/>
                </a:pPr>
                <a:r>
                  <a:rPr lang="ru-RU" sz="2000" b="1" dirty="0"/>
                  <a:t>Преимущества</a:t>
                </a:r>
                <a:r>
                  <a:rPr lang="ru-RU" sz="2000" dirty="0"/>
                  <a:t>:</a:t>
                </a:r>
              </a:p>
              <a:p>
                <a:r>
                  <a:rPr lang="ru-RU" sz="2000" dirty="0"/>
                  <a:t>Нет параметров в декомпозиции (</a:t>
                </a:r>
                <a:r>
                  <a:rPr lang="en-US" sz="2000" dirty="0"/>
                  <a:t>1dAvPool - SMA</a:t>
                </a:r>
                <a:r>
                  <a:rPr lang="ru-RU" sz="2000" dirty="0"/>
                  <a:t>)</a:t>
                </a:r>
              </a:p>
              <a:p>
                <a:r>
                  <a:rPr lang="ru-RU" sz="2000" dirty="0"/>
                  <a:t>Обучаемые линейные (</a:t>
                </a:r>
                <a:r>
                  <a:rPr lang="ru-RU" sz="2000" dirty="0" err="1"/>
                  <a:t>полносвязные</a:t>
                </a:r>
                <a:r>
                  <a:rPr lang="ru-RU" sz="2000" dirty="0"/>
                  <a:t>) слои, можно легко управлять размерностью и параметрами обучения (</a:t>
                </a:r>
                <a14:m>
                  <m:oMath xmlns:m="http://schemas.openxmlformats.org/officeDocument/2006/math">
                    <m:r>
                      <a:rPr lang="ru-RU" sz="2000" i="1" dirty="0" smtClean="0">
                        <a:latin typeface="Cambria Math" panose="02040503050406030204" pitchFamily="18" charset="0"/>
                      </a:rPr>
                      <m:t>2</m:t>
                    </m:r>
                    <m:r>
                      <a:rPr lang="en-US" sz="2000" b="0" i="1" dirty="0" smtClean="0">
                        <a:latin typeface="Cambria Math" panose="02040503050406030204" pitchFamily="18" charset="0"/>
                      </a:rPr>
                      <m:t>×</m:t>
                    </m:r>
                    <m:r>
                      <a:rPr lang="en-US" sz="2000" b="0" i="1" dirty="0" smtClean="0">
                        <a:latin typeface="Cambria Math" panose="02040503050406030204" pitchFamily="18" charset="0"/>
                      </a:rPr>
                      <m:t>𝑊</m:t>
                    </m:r>
                    <m:r>
                      <a:rPr lang="en-US" sz="2000" b="0" i="1" dirty="0" smtClean="0">
                        <a:latin typeface="Cambria Math" panose="02040503050406030204" pitchFamily="18" charset="0"/>
                      </a:rPr>
                      <m:t>×</m:t>
                    </m:r>
                    <m:r>
                      <a:rPr lang="en-US" sz="2000" b="0" i="1" dirty="0" smtClean="0">
                        <a:latin typeface="Cambria Math" panose="02040503050406030204" pitchFamily="18" charset="0"/>
                      </a:rPr>
                      <m:t>𝐻</m:t>
                    </m:r>
                  </m:oMath>
                </a14:m>
                <a:r>
                  <a:rPr lang="en-US" sz="2000" dirty="0"/>
                  <a:t> </a:t>
                </a:r>
                <a:r>
                  <a:rPr lang="ru-RU" sz="2000" dirty="0"/>
                  <a:t>параметров).</a:t>
                </a:r>
              </a:p>
              <a:p>
                <a:r>
                  <a:rPr lang="ru-RU" sz="2000" dirty="0"/>
                  <a:t>Отсутствие нелинейностей – высокая интерпретируемость, высокая скорость обучения</a:t>
                </a:r>
              </a:p>
              <a:p>
                <a:r>
                  <a:rPr lang="ru-RU" sz="2000" dirty="0"/>
                  <a:t>Работа на долгих горизонтах</a:t>
                </a:r>
              </a:p>
              <a:p>
                <a:r>
                  <a:rPr lang="ru-RU" sz="2000" dirty="0"/>
                  <a:t>Легко масштабируется на тысячи рядов (например, M5, </a:t>
                </a:r>
                <a:r>
                  <a:rPr lang="ru-RU" sz="2000" dirty="0" err="1"/>
                  <a:t>Electricity</a:t>
                </a:r>
                <a:r>
                  <a:rPr lang="ru-RU" sz="2000" dirty="0"/>
                  <a:t>)</a:t>
                </a:r>
              </a:p>
              <a:p>
                <a:r>
                  <a:rPr lang="ru-RU" sz="2000" dirty="0"/>
                  <a:t>Превосходит модели трансформеров для простых ВР (регулярные ВР с трендом и простой сезонностью)</a:t>
                </a:r>
              </a:p>
              <a:p>
                <a:pPr marL="0" indent="0">
                  <a:buNone/>
                </a:pPr>
                <a:r>
                  <a:rPr lang="ru-RU" sz="2000" b="1" dirty="0"/>
                  <a:t>Недостатки</a:t>
                </a:r>
                <a:r>
                  <a:rPr lang="ru-RU" sz="2000" dirty="0"/>
                  <a:t> – плохо подходит для сложных ВР со случайным трендом и сложной не стационарностью.</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24893" y="631082"/>
                <a:ext cx="12067107" cy="5254171"/>
              </a:xfrm>
              <a:blipFill>
                <a:blip r:embed="rId3"/>
                <a:stretch>
                  <a:fillRect l="-505" t="-1278"/>
                </a:stretch>
              </a:blipFill>
            </p:spPr>
            <p:txBody>
              <a:bodyPr/>
              <a:lstStyle/>
              <a:p>
                <a:r>
                  <a:rPr lang="ru-RU">
                    <a:noFill/>
                  </a:rPr>
                  <a:t> </a:t>
                </a:r>
              </a:p>
            </p:txBody>
          </p:sp>
        </mc:Fallback>
      </mc:AlternateContent>
      <p:sp>
        <p:nvSpPr>
          <p:cNvPr id="5" name="Прямоугольник 4"/>
          <p:cNvSpPr/>
          <p:nvPr/>
        </p:nvSpPr>
        <p:spPr>
          <a:xfrm>
            <a:off x="8086176" y="6507006"/>
            <a:ext cx="3771995" cy="307777"/>
          </a:xfrm>
          <a:prstGeom prst="rect">
            <a:avLst/>
          </a:prstGeom>
        </p:spPr>
        <p:txBody>
          <a:bodyPr wrap="none">
            <a:spAutoFit/>
          </a:bodyPr>
          <a:lstStyle/>
          <a:p>
            <a:r>
              <a:rPr lang="ru-RU" sz="1400" dirty="0"/>
              <a:t>https://seunghan96.github.io/ts/(paper)DLinear/</a:t>
            </a:r>
          </a:p>
        </p:txBody>
      </p:sp>
    </p:spTree>
    <p:extLst>
      <p:ext uri="{BB962C8B-B14F-4D97-AF65-F5344CB8AC3E}">
        <p14:creationId xmlns:p14="http://schemas.microsoft.com/office/powerpoint/2010/main" val="644280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975" y="181526"/>
            <a:ext cx="11073714" cy="615178"/>
          </a:xfrm>
        </p:spPr>
        <p:txBody>
          <a:bodyPr>
            <a:normAutofit fontScale="90000"/>
          </a:bodyPr>
          <a:lstStyle/>
          <a:p>
            <a:pPr algn="ctr"/>
            <a:r>
              <a:rPr lang="en-US" b="1" dirty="0"/>
              <a:t>N-BEATS</a:t>
            </a:r>
            <a:endParaRPr lang="ru-RU" b="1"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89670" y="717755"/>
                <a:ext cx="11731625" cy="5445147"/>
              </a:xfrm>
            </p:spPr>
            <p:txBody>
              <a:bodyPr>
                <a:normAutofit/>
              </a:bodyPr>
              <a:lstStyle/>
              <a:p>
                <a:pPr marL="0" indent="0">
                  <a:buNone/>
                </a:pPr>
                <a:r>
                  <a:rPr lang="ru-RU" sz="2000" b="1" dirty="0"/>
                  <a:t>Гипотеза</a:t>
                </a:r>
                <a:r>
                  <a:rPr lang="ru-RU" sz="2000" dirty="0"/>
                  <a:t>: пусть проблемы неточности, не учета контекста  – остаток предсказаний содержит информацию</a:t>
                </a:r>
              </a:p>
              <a:p>
                <a:r>
                  <a:rPr lang="ru-RU" sz="2200" b="1" dirty="0"/>
                  <a:t>Решение</a:t>
                </a:r>
                <a:r>
                  <a:rPr lang="ru-RU" sz="2200" dirty="0"/>
                  <a:t>:  </a:t>
                </a:r>
              </a:p>
              <a:p>
                <a:pPr marL="914400" lvl="1" indent="-457200">
                  <a:buFont typeface="+mj-lt"/>
                  <a:buAutoNum type="arabicPeriod"/>
                </a:pPr>
                <a:r>
                  <a:rPr lang="ru-RU" sz="1800" dirty="0"/>
                  <a:t>Проведем предсказание </a:t>
                </a:r>
                <a:r>
                  <a:rPr lang="en-US" sz="1800" dirty="0"/>
                  <a:t>(</a:t>
                </a:r>
                <a:r>
                  <a:rPr lang="en-US" sz="1800" i="1" dirty="0"/>
                  <a:t>forecast</a:t>
                </a:r>
                <a:r>
                  <a:rPr lang="en-US" sz="1800" dirty="0"/>
                  <a:t> </a:t>
                </a:r>
                <a14:m>
                  <m:oMath xmlns:m="http://schemas.openxmlformats.org/officeDocument/2006/math">
                    <m:sSubSup>
                      <m:sSubSupPr>
                        <m:ctrlPr>
                          <a:rPr lang="en-US" sz="1800" i="1" dirty="0" smtClean="0">
                            <a:latin typeface="Cambria Math" panose="02040503050406030204" pitchFamily="18" charset="0"/>
                          </a:rPr>
                        </m:ctrlPr>
                      </m:sSubSupPr>
                      <m:e>
                        <m:acc>
                          <m:accPr>
                            <m:chr m:val="̂"/>
                            <m:ctrlPr>
                              <a:rPr lang="en-US" sz="1800" i="1" dirty="0" smtClean="0">
                                <a:latin typeface="Cambria Math" panose="02040503050406030204" pitchFamily="18" charset="0"/>
                              </a:rPr>
                            </m:ctrlPr>
                          </m:accPr>
                          <m:e>
                            <m:r>
                              <a:rPr lang="en-US" sz="1800" b="0" i="1" dirty="0" smtClean="0">
                                <a:latin typeface="Cambria Math" panose="02040503050406030204" pitchFamily="18" charset="0"/>
                              </a:rPr>
                              <m:t>𝑦</m:t>
                            </m:r>
                          </m:e>
                        </m:acc>
                      </m:e>
                      <m:sub>
                        <m:r>
                          <a:rPr lang="en-US" sz="1800" b="0" i="1" dirty="0" smtClean="0">
                            <a:latin typeface="Cambria Math" panose="02040503050406030204" pitchFamily="18" charset="0"/>
                          </a:rPr>
                          <m:t>𝑇</m:t>
                        </m:r>
                        <m:r>
                          <a:rPr lang="en-US" sz="1800" b="0" i="1" dirty="0" smtClean="0">
                            <a:latin typeface="Cambria Math" panose="02040503050406030204" pitchFamily="18" charset="0"/>
                          </a:rPr>
                          <m:t>+1</m:t>
                        </m:r>
                      </m:sub>
                      <m:sup>
                        <m:r>
                          <a:rPr lang="en-US" sz="1800" b="0" i="1" dirty="0" smtClean="0">
                            <a:latin typeface="Cambria Math" panose="02040503050406030204" pitchFamily="18" charset="0"/>
                          </a:rPr>
                          <m:t>0</m:t>
                        </m:r>
                      </m:sup>
                    </m:sSubSup>
                    <m:r>
                      <a:rPr lang="en-US" sz="1800" b="0" i="1" dirty="0" smtClean="0">
                        <a:latin typeface="Cambria Math" panose="02040503050406030204" pitchFamily="18" charset="0"/>
                      </a:rPr>
                      <m:t>,…,</m:t>
                    </m:r>
                    <m:sSubSup>
                      <m:sSubSupPr>
                        <m:ctrlPr>
                          <a:rPr lang="en-US" sz="1800" i="1" dirty="0" smtClean="0">
                            <a:latin typeface="Cambria Math" panose="02040503050406030204" pitchFamily="18" charset="0"/>
                          </a:rPr>
                        </m:ctrlPr>
                      </m:sSubSupPr>
                      <m:e>
                        <m:acc>
                          <m:accPr>
                            <m:chr m:val="̂"/>
                            <m:ctrlPr>
                              <a:rPr lang="en-US" sz="1800" i="1" dirty="0">
                                <a:latin typeface="Cambria Math" panose="02040503050406030204" pitchFamily="18" charset="0"/>
                              </a:rPr>
                            </m:ctrlPr>
                          </m:accPr>
                          <m:e>
                            <m:r>
                              <a:rPr lang="en-US" sz="1800" b="0" i="1" dirty="0">
                                <a:latin typeface="Cambria Math" panose="02040503050406030204" pitchFamily="18" charset="0"/>
                              </a:rPr>
                              <m:t>𝑦</m:t>
                            </m:r>
                          </m:e>
                        </m:acc>
                      </m:e>
                      <m:sub>
                        <m:r>
                          <a:rPr lang="en-US" sz="1800" b="0" i="1" dirty="0">
                            <a:latin typeface="Cambria Math" panose="02040503050406030204" pitchFamily="18" charset="0"/>
                          </a:rPr>
                          <m:t>𝑇</m:t>
                        </m:r>
                        <m:r>
                          <a:rPr lang="en-US" sz="1800" b="0" i="1" dirty="0" smtClean="0">
                            <a:latin typeface="Cambria Math" panose="02040503050406030204" pitchFamily="18" charset="0"/>
                          </a:rPr>
                          <m:t>+</m:t>
                        </m:r>
                        <m:r>
                          <a:rPr lang="en-US" sz="1800" b="0" i="1" dirty="0" smtClean="0">
                            <a:latin typeface="Cambria Math" panose="02040503050406030204" pitchFamily="18" charset="0"/>
                          </a:rPr>
                          <m:t>h</m:t>
                        </m:r>
                      </m:sub>
                      <m:sup>
                        <m:r>
                          <a:rPr lang="en-US" sz="1800" b="0" i="1" dirty="0" smtClean="0">
                            <a:latin typeface="Cambria Math" panose="02040503050406030204" pitchFamily="18" charset="0"/>
                          </a:rPr>
                          <m:t>0</m:t>
                        </m:r>
                      </m:sup>
                    </m:sSubSup>
                  </m:oMath>
                </a14:m>
                <a:r>
                  <a:rPr lang="en-US" sz="1800" dirty="0"/>
                  <a:t>)</a:t>
                </a:r>
                <a:endParaRPr lang="ru-RU" sz="1800" dirty="0"/>
              </a:p>
              <a:p>
                <a:pPr marL="914400" lvl="1" indent="-457200">
                  <a:buFont typeface="+mj-lt"/>
                  <a:buAutoNum type="arabicPeriod"/>
                </a:pPr>
                <a:r>
                  <a:rPr lang="ru-RU" sz="1800" dirty="0"/>
                  <a:t>Проверим остаток </a:t>
                </a:r>
                <a:r>
                  <a:rPr lang="en-US" sz="1800" i="1" dirty="0" err="1"/>
                  <a:t>backcast</a:t>
                </a:r>
                <a:r>
                  <a:rPr lang="en-US" sz="1800" dirty="0"/>
                  <a:t> </a:t>
                </a:r>
                <a:r>
                  <a:rPr lang="ru-RU" sz="1800" dirty="0"/>
                  <a:t>(на данных для предсказания</a:t>
                </a:r>
                <a:r>
                  <a:rPr lang="en-US" sz="1800" dirty="0"/>
                  <a:t> </a:t>
                </a:r>
                <a14:m>
                  <m:oMath xmlns:m="http://schemas.openxmlformats.org/officeDocument/2006/math">
                    <m:sSubSup>
                      <m:sSubSupPr>
                        <m:ctrlPr>
                          <a:rPr lang="en-US" sz="1800" b="0" i="1" smtClean="0">
                            <a:latin typeface="Cambria Math" panose="02040503050406030204" pitchFamily="18" charset="0"/>
                          </a:rPr>
                        </m:ctrlPr>
                      </m:sSubSupPr>
                      <m:e>
                        <m:r>
                          <m:rPr>
                            <m:sty m:val="p"/>
                          </m:rPr>
                          <a:rPr lang="en-US" sz="1800" b="0" i="0" smtClean="0">
                            <a:latin typeface="Cambria Math" panose="02040503050406030204" pitchFamily="18" charset="0"/>
                          </a:rPr>
                          <m:t>e</m:t>
                        </m:r>
                      </m:e>
                      <m:sub>
                        <m:r>
                          <a:rPr lang="en-US" sz="1800" b="0" i="1" smtClean="0">
                            <a:latin typeface="Cambria Math" panose="02040503050406030204" pitchFamily="18" charset="0"/>
                          </a:rPr>
                          <m:t>𝑇</m:t>
                        </m:r>
                        <m:r>
                          <a:rPr lang="en-US" sz="1800" b="0" i="1" smtClean="0">
                            <a:latin typeface="Cambria Math" panose="02040503050406030204" pitchFamily="18" charset="0"/>
                          </a:rPr>
                          <m:t>−</m:t>
                        </m:r>
                        <m:r>
                          <a:rPr lang="en-US" sz="1800" b="0" i="1" smtClean="0">
                            <a:latin typeface="Cambria Math" panose="02040503050406030204" pitchFamily="18" charset="0"/>
                          </a:rPr>
                          <m:t>𝑤</m:t>
                        </m:r>
                      </m:sub>
                      <m:sup>
                        <m:r>
                          <a:rPr lang="en-US" sz="1800" b="0" i="1" smtClean="0">
                            <a:latin typeface="Cambria Math" panose="02040503050406030204" pitchFamily="18" charset="0"/>
                          </a:rPr>
                          <m:t>1</m:t>
                        </m:r>
                      </m:sup>
                    </m:sSubSup>
                    <m:r>
                      <a:rPr lang="en-US" sz="1800" b="0" i="1" smtClean="0">
                        <a:latin typeface="Cambria Math" panose="02040503050406030204" pitchFamily="18" charset="0"/>
                      </a:rPr>
                      <m:t>,…,</m:t>
                    </m:r>
                    <m:sSubSup>
                      <m:sSubSupPr>
                        <m:ctrlPr>
                          <a:rPr lang="en-US" sz="1800" i="1">
                            <a:latin typeface="Cambria Math" panose="02040503050406030204" pitchFamily="18" charset="0"/>
                          </a:rPr>
                        </m:ctrlPr>
                      </m:sSubSupPr>
                      <m:e>
                        <m:r>
                          <m:rPr>
                            <m:sty m:val="p"/>
                          </m:rPr>
                          <a:rPr lang="en-US" sz="1800">
                            <a:latin typeface="Cambria Math" panose="02040503050406030204" pitchFamily="18" charset="0"/>
                          </a:rPr>
                          <m:t>e</m:t>
                        </m:r>
                      </m:e>
                      <m:sub>
                        <m:r>
                          <a:rPr lang="en-US" sz="1800" i="1">
                            <a:latin typeface="Cambria Math" panose="02040503050406030204" pitchFamily="18" charset="0"/>
                          </a:rPr>
                          <m:t>𝑇</m:t>
                        </m:r>
                        <m:r>
                          <a:rPr lang="en-US" sz="1800" i="1">
                            <a:latin typeface="Cambria Math" panose="02040503050406030204" pitchFamily="18" charset="0"/>
                          </a:rPr>
                          <m:t>−</m:t>
                        </m:r>
                        <m:r>
                          <a:rPr lang="en-US" sz="1800" i="1">
                            <a:latin typeface="Cambria Math" panose="02040503050406030204" pitchFamily="18" charset="0"/>
                          </a:rPr>
                          <m:t>𝑤</m:t>
                        </m:r>
                      </m:sub>
                      <m:sup>
                        <m:r>
                          <a:rPr lang="en-US" sz="1800" i="1">
                            <a:latin typeface="Cambria Math" panose="02040503050406030204" pitchFamily="18" charset="0"/>
                          </a:rPr>
                          <m:t>1</m:t>
                        </m:r>
                      </m:sup>
                    </m:sSubSup>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smtClean="0">
                            <a:latin typeface="Cambria Math" panose="02040503050406030204" pitchFamily="18" charset="0"/>
                          </a:rPr>
                          <m:t>𝑦</m:t>
                        </m:r>
                      </m:e>
                      <m:sub>
                        <m:r>
                          <a:rPr lang="en-US" sz="1800" i="1">
                            <a:latin typeface="Cambria Math" panose="02040503050406030204" pitchFamily="18" charset="0"/>
                          </a:rPr>
                          <m:t>𝑇</m:t>
                        </m:r>
                        <m:r>
                          <a:rPr lang="en-US" sz="1800" i="1">
                            <a:latin typeface="Cambria Math" panose="02040503050406030204" pitchFamily="18" charset="0"/>
                          </a:rPr>
                          <m:t>−</m:t>
                        </m:r>
                        <m:r>
                          <a:rPr lang="en-US" sz="1800" i="1">
                            <a:latin typeface="Cambria Math" panose="02040503050406030204" pitchFamily="18" charset="0"/>
                          </a:rPr>
                          <m:t>𝑤</m:t>
                        </m:r>
                      </m:sub>
                    </m:sSub>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𝑦</m:t>
                            </m:r>
                          </m:e>
                        </m:acc>
                      </m:e>
                      <m:sub>
                        <m:r>
                          <a:rPr lang="en-US" sz="1800" b="0" i="1" smtClean="0">
                            <a:latin typeface="Cambria Math" panose="02040503050406030204" pitchFamily="18" charset="0"/>
                          </a:rPr>
                          <m:t>𝑇</m:t>
                        </m:r>
                        <m:r>
                          <a:rPr lang="en-US" sz="1800" b="0" i="1" smtClean="0">
                            <a:latin typeface="Cambria Math" panose="02040503050406030204" pitchFamily="18" charset="0"/>
                          </a:rPr>
                          <m:t>−</m:t>
                        </m:r>
                        <m:r>
                          <a:rPr lang="en-US" sz="1800" b="0" i="1" smtClean="0">
                            <a:latin typeface="Cambria Math" panose="02040503050406030204" pitchFamily="18" charset="0"/>
                          </a:rPr>
                          <m:t>𝑤</m:t>
                        </m:r>
                      </m:sub>
                      <m:sup>
                        <m:r>
                          <a:rPr lang="en-US" sz="1800" b="0" i="1" smtClean="0">
                            <a:latin typeface="Cambria Math" panose="02040503050406030204" pitchFamily="18" charset="0"/>
                          </a:rPr>
                          <m:t>0</m:t>
                        </m:r>
                      </m:sup>
                    </m:sSubSup>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𝑇</m:t>
                        </m:r>
                      </m:sub>
                    </m:sSub>
                    <m:r>
                      <a:rPr lang="en-US" sz="1800" i="1">
                        <a:latin typeface="Cambria Math" panose="02040503050406030204" pitchFamily="18" charset="0"/>
                      </a:rPr>
                      <m:t>−</m:t>
                    </m:r>
                    <m:sSubSup>
                      <m:sSubSupPr>
                        <m:ctrlPr>
                          <a:rPr lang="en-US" sz="1800" b="0" i="1" smtClean="0">
                            <a:latin typeface="Cambria Math" panose="02040503050406030204" pitchFamily="18" charset="0"/>
                          </a:rPr>
                        </m:ctrlPr>
                      </m:sSubSupPr>
                      <m:e>
                        <m:acc>
                          <m:accPr>
                            <m:chr m:val="̂"/>
                            <m:ctrlPr>
                              <a:rPr lang="en-US" sz="1800" i="1">
                                <a:latin typeface="Cambria Math" panose="02040503050406030204" pitchFamily="18" charset="0"/>
                              </a:rPr>
                            </m:ctrlPr>
                          </m:accPr>
                          <m:e>
                            <m:r>
                              <a:rPr lang="en-US" sz="1800" i="1">
                                <a:latin typeface="Cambria Math" panose="02040503050406030204" pitchFamily="18" charset="0"/>
                              </a:rPr>
                              <m:t>𝑦</m:t>
                            </m:r>
                          </m:e>
                        </m:acc>
                      </m:e>
                      <m:sub>
                        <m:r>
                          <a:rPr lang="en-US" sz="1800" i="1">
                            <a:latin typeface="Cambria Math" panose="02040503050406030204" pitchFamily="18" charset="0"/>
                          </a:rPr>
                          <m:t>𝑇</m:t>
                        </m:r>
                      </m:sub>
                      <m:sup>
                        <m:r>
                          <a:rPr lang="en-US" sz="1800" b="0" i="1" smtClean="0">
                            <a:latin typeface="Cambria Math" panose="02040503050406030204" pitchFamily="18" charset="0"/>
                          </a:rPr>
                          <m:t>0</m:t>
                        </m:r>
                      </m:sup>
                    </m:sSubSup>
                  </m:oMath>
                </a14:m>
                <a:r>
                  <a:rPr lang="ru-RU" sz="1800" dirty="0"/>
                  <a:t>)</a:t>
                </a:r>
              </a:p>
              <a:p>
                <a:pPr lvl="2"/>
                <a:r>
                  <a:rPr lang="en-US" sz="1800" i="1" dirty="0" err="1"/>
                  <a:t>Backcast</a:t>
                </a:r>
                <a:r>
                  <a:rPr lang="ru-RU" sz="1800" i="1" dirty="0"/>
                  <a:t> аналогичен </a:t>
                </a:r>
                <a:r>
                  <a:rPr lang="en-US" sz="1800" i="1" dirty="0"/>
                  <a:t>residual connection</a:t>
                </a:r>
                <a:endParaRPr lang="ru-RU" sz="1800" dirty="0"/>
              </a:p>
              <a:p>
                <a:pPr marL="914400" lvl="1" indent="-457200">
                  <a:buFont typeface="+mj-lt"/>
                  <a:buAutoNum type="arabicPeriod"/>
                </a:pPr>
                <a:r>
                  <a:rPr lang="ru-RU" sz="1800" dirty="0"/>
                  <a:t>Пусть остаток информативен – предскажем значения остатка (невязка предсказания </a:t>
                </a:r>
                <a14:m>
                  <m:oMath xmlns:m="http://schemas.openxmlformats.org/officeDocument/2006/math">
                    <m:sSubSup>
                      <m:sSubSupPr>
                        <m:ctrlPr>
                          <a:rPr lang="en-US" sz="2000" b="0" i="1" dirty="0" smtClean="0">
                            <a:latin typeface="Cambria Math" panose="02040503050406030204" pitchFamily="18" charset="0"/>
                          </a:rPr>
                        </m:ctrlPr>
                      </m:sSubSup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𝑒</m:t>
                            </m:r>
                          </m:e>
                        </m:acc>
                      </m:e>
                      <m:sub>
                        <m:r>
                          <a:rPr lang="en-US" sz="2000" b="0" i="1" dirty="0" smtClean="0">
                            <a:latin typeface="Cambria Math" panose="02040503050406030204" pitchFamily="18" charset="0"/>
                          </a:rPr>
                          <m:t>𝑇</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1</m:t>
                        </m:r>
                      </m:sup>
                    </m:sSubSup>
                    <m:r>
                      <a:rPr lang="en-US" sz="2000" b="0" i="1" dirty="0">
                        <a:latin typeface="Cambria Math" panose="02040503050406030204" pitchFamily="18" charset="0"/>
                      </a:rPr>
                      <m:t>,…,</m:t>
                    </m:r>
                  </m:oMath>
                </a14:m>
                <a:r>
                  <a:rPr lang="en-US" sz="2000" dirty="0"/>
                  <a:t> </a:t>
                </a:r>
                <a14:m>
                  <m:oMath xmlns:m="http://schemas.openxmlformats.org/officeDocument/2006/math">
                    <m:sSubSup>
                      <m:sSubSupPr>
                        <m:ctrlPr>
                          <a:rPr lang="en-US" sz="2000" b="0" i="1" dirty="0" smtClean="0">
                            <a:latin typeface="Cambria Math" panose="02040503050406030204" pitchFamily="18" charset="0"/>
                          </a:rPr>
                        </m:ctrlPr>
                      </m:sSubSupPr>
                      <m:e>
                        <m:acc>
                          <m:accPr>
                            <m:chr m:val="̂"/>
                            <m:ctrlPr>
                              <a:rPr lang="en-US" sz="2000" i="1">
                                <a:latin typeface="Cambria Math" panose="02040503050406030204" pitchFamily="18" charset="0"/>
                              </a:rPr>
                            </m:ctrlPr>
                          </m:accPr>
                          <m:e>
                            <m:r>
                              <a:rPr lang="en-US" sz="2000" b="0" i="1">
                                <a:latin typeface="Cambria Math" panose="02040503050406030204" pitchFamily="18" charset="0"/>
                              </a:rPr>
                              <m:t>𝑒</m:t>
                            </m:r>
                          </m:e>
                        </m:acc>
                      </m:e>
                      <m:sub>
                        <m:r>
                          <a:rPr lang="en-US" sz="2000" b="0" i="1" dirty="0">
                            <a:latin typeface="Cambria Math" panose="02040503050406030204" pitchFamily="18" charset="0"/>
                          </a:rPr>
                          <m:t>𝑇</m:t>
                        </m:r>
                        <m:r>
                          <a:rPr lang="en-US" sz="2000" b="0" i="1" dirty="0">
                            <a:latin typeface="Cambria Math" panose="02040503050406030204" pitchFamily="18" charset="0"/>
                          </a:rPr>
                          <m:t>+</m:t>
                        </m:r>
                        <m:r>
                          <a:rPr lang="en-US" sz="2000" b="0" i="1" dirty="0">
                            <a:latin typeface="Cambria Math" panose="02040503050406030204" pitchFamily="18" charset="0"/>
                          </a:rPr>
                          <m:t>h</m:t>
                        </m:r>
                      </m:sub>
                      <m:sup>
                        <m:r>
                          <a:rPr lang="en-US" sz="2000" b="0" i="1" dirty="0" smtClean="0">
                            <a:latin typeface="Cambria Math" panose="02040503050406030204" pitchFamily="18" charset="0"/>
                          </a:rPr>
                          <m:t>1</m:t>
                        </m:r>
                      </m:sup>
                    </m:sSubSup>
                  </m:oMath>
                </a14:m>
                <a:r>
                  <a:rPr lang="ru-RU" sz="1800" dirty="0"/>
                  <a:t>)</a:t>
                </a:r>
              </a:p>
              <a:p>
                <a:pPr marL="914400" lvl="1" indent="-457200">
                  <a:buFont typeface="+mj-lt"/>
                  <a:buAutoNum type="arabicPeriod"/>
                </a:pPr>
                <a:r>
                  <a:rPr lang="ru-RU" sz="1800" dirty="0"/>
                  <a:t>Повторим процедуру</a:t>
                </a:r>
                <a:r>
                  <a:rPr lang="en-US" sz="1800" dirty="0"/>
                  <a:t> </a:t>
                </a:r>
                <a14:m>
                  <m:oMath xmlns:m="http://schemas.openxmlformats.org/officeDocument/2006/math">
                    <m:r>
                      <a:rPr lang="en-US" sz="1800" b="0" i="1" smtClean="0">
                        <a:latin typeface="Cambria Math" panose="02040503050406030204" pitchFamily="18" charset="0"/>
                      </a:rPr>
                      <m:t>→</m:t>
                    </m:r>
                    <m:sSubSup>
                      <m:sSubSupPr>
                        <m:ctrlPr>
                          <a:rPr lang="en-US" sz="1800" i="1" dirty="0">
                            <a:latin typeface="Cambria Math" panose="02040503050406030204" pitchFamily="18" charset="0"/>
                          </a:rPr>
                        </m:ctrlPr>
                      </m:sSubSupPr>
                      <m:e>
                        <m:acc>
                          <m:accPr>
                            <m:chr m:val="̂"/>
                            <m:ctrlPr>
                              <a:rPr lang="en-US" sz="1800" i="1">
                                <a:latin typeface="Cambria Math" panose="02040503050406030204" pitchFamily="18" charset="0"/>
                              </a:rPr>
                            </m:ctrlPr>
                          </m:accPr>
                          <m:e>
                            <m:r>
                              <a:rPr lang="en-US" sz="1800" i="1">
                                <a:latin typeface="Cambria Math" panose="02040503050406030204" pitchFamily="18" charset="0"/>
                              </a:rPr>
                              <m:t>𝑒</m:t>
                            </m:r>
                          </m:e>
                        </m:acc>
                      </m:e>
                      <m:sub>
                        <m:r>
                          <a:rPr lang="en-US" sz="1800" i="1" dirty="0">
                            <a:latin typeface="Cambria Math" panose="02040503050406030204" pitchFamily="18" charset="0"/>
                          </a:rPr>
                          <m:t>𝑇</m:t>
                        </m:r>
                        <m:r>
                          <a:rPr lang="en-US" sz="1800" i="1" dirty="0">
                            <a:latin typeface="Cambria Math" panose="02040503050406030204" pitchFamily="18" charset="0"/>
                          </a:rPr>
                          <m:t>+1</m:t>
                        </m:r>
                      </m:sub>
                      <m:sup>
                        <m:r>
                          <a:rPr lang="en-US" sz="1800" b="0" i="1" dirty="0" smtClean="0">
                            <a:latin typeface="Cambria Math" panose="02040503050406030204" pitchFamily="18" charset="0"/>
                          </a:rPr>
                          <m:t>2</m:t>
                        </m:r>
                      </m:sup>
                    </m:sSubSup>
                    <m:r>
                      <a:rPr lang="en-US" sz="1800" i="1" dirty="0">
                        <a:latin typeface="Cambria Math" panose="02040503050406030204" pitchFamily="18" charset="0"/>
                      </a:rPr>
                      <m:t>,…,</m:t>
                    </m:r>
                  </m:oMath>
                </a14:m>
                <a:r>
                  <a:rPr lang="en-US" sz="1800" dirty="0"/>
                  <a:t> </a:t>
                </a:r>
                <a14:m>
                  <m:oMath xmlns:m="http://schemas.openxmlformats.org/officeDocument/2006/math">
                    <m:sSubSup>
                      <m:sSubSupPr>
                        <m:ctrlPr>
                          <a:rPr lang="en-US" sz="1800" i="1" dirty="0">
                            <a:latin typeface="Cambria Math" panose="02040503050406030204" pitchFamily="18" charset="0"/>
                          </a:rPr>
                        </m:ctrlPr>
                      </m:sSubSupPr>
                      <m:e>
                        <m:acc>
                          <m:accPr>
                            <m:chr m:val="̂"/>
                            <m:ctrlPr>
                              <a:rPr lang="en-US" sz="1800" i="1">
                                <a:latin typeface="Cambria Math" panose="02040503050406030204" pitchFamily="18" charset="0"/>
                              </a:rPr>
                            </m:ctrlPr>
                          </m:accPr>
                          <m:e>
                            <m:r>
                              <a:rPr lang="en-US" sz="1800" i="1">
                                <a:latin typeface="Cambria Math" panose="02040503050406030204" pitchFamily="18" charset="0"/>
                              </a:rPr>
                              <m:t>𝑒</m:t>
                            </m:r>
                          </m:e>
                        </m:acc>
                      </m:e>
                      <m:sub>
                        <m:r>
                          <a:rPr lang="en-US" sz="1800" i="1" dirty="0">
                            <a:latin typeface="Cambria Math" panose="02040503050406030204" pitchFamily="18" charset="0"/>
                          </a:rPr>
                          <m:t>𝑇</m:t>
                        </m:r>
                        <m:r>
                          <a:rPr lang="en-US" sz="1800" i="1" dirty="0">
                            <a:latin typeface="Cambria Math" panose="02040503050406030204" pitchFamily="18" charset="0"/>
                          </a:rPr>
                          <m:t>+</m:t>
                        </m:r>
                        <m:r>
                          <a:rPr lang="en-US" sz="1800" i="1" dirty="0">
                            <a:latin typeface="Cambria Math" panose="02040503050406030204" pitchFamily="18" charset="0"/>
                          </a:rPr>
                          <m:t>h</m:t>
                        </m:r>
                      </m:sub>
                      <m:sup>
                        <m:r>
                          <a:rPr lang="en-US" sz="1800" b="0" i="1" dirty="0" smtClean="0">
                            <a:latin typeface="Cambria Math" panose="02040503050406030204" pitchFamily="18" charset="0"/>
                          </a:rPr>
                          <m:t>2</m:t>
                        </m:r>
                      </m:sup>
                    </m:sSubSup>
                    <m:r>
                      <a:rPr lang="en-US" sz="1800" b="0" i="1" dirty="0" smtClean="0">
                        <a:latin typeface="Cambria Math" panose="02040503050406030204" pitchFamily="18" charset="0"/>
                      </a:rPr>
                      <m:t>, …,</m:t>
                    </m:r>
                    <m:sSubSup>
                      <m:sSubSupPr>
                        <m:ctrlPr>
                          <a:rPr lang="en-US" sz="1800" i="1" dirty="0">
                            <a:latin typeface="Cambria Math" panose="02040503050406030204" pitchFamily="18" charset="0"/>
                          </a:rPr>
                        </m:ctrlPr>
                      </m:sSubSupPr>
                      <m:e>
                        <m:acc>
                          <m:accPr>
                            <m:chr m:val="̂"/>
                            <m:ctrlPr>
                              <a:rPr lang="en-US" sz="1800" i="1">
                                <a:latin typeface="Cambria Math" panose="02040503050406030204" pitchFamily="18" charset="0"/>
                              </a:rPr>
                            </m:ctrlPr>
                          </m:accPr>
                          <m:e>
                            <m:r>
                              <a:rPr lang="en-US" sz="1800" i="1">
                                <a:latin typeface="Cambria Math" panose="02040503050406030204" pitchFamily="18" charset="0"/>
                              </a:rPr>
                              <m:t>𝑒</m:t>
                            </m:r>
                          </m:e>
                        </m:acc>
                      </m:e>
                      <m:sub>
                        <m:r>
                          <a:rPr lang="en-US" sz="1800" i="1" dirty="0">
                            <a:latin typeface="Cambria Math" panose="02040503050406030204" pitchFamily="18" charset="0"/>
                          </a:rPr>
                          <m:t>𝑇</m:t>
                        </m:r>
                        <m:r>
                          <a:rPr lang="en-US" sz="1800" i="1" dirty="0">
                            <a:latin typeface="Cambria Math" panose="02040503050406030204" pitchFamily="18" charset="0"/>
                          </a:rPr>
                          <m:t>+1</m:t>
                        </m:r>
                      </m:sub>
                      <m:sup>
                        <m:r>
                          <a:rPr lang="en-US" sz="1800" b="0" i="1" dirty="0" smtClean="0">
                            <a:latin typeface="Cambria Math" panose="02040503050406030204" pitchFamily="18" charset="0"/>
                          </a:rPr>
                          <m:t>𝑀</m:t>
                        </m:r>
                      </m:sup>
                    </m:sSubSup>
                    <m:r>
                      <a:rPr lang="en-US" sz="1800" i="1" dirty="0">
                        <a:latin typeface="Cambria Math" panose="02040503050406030204" pitchFamily="18" charset="0"/>
                      </a:rPr>
                      <m:t>,…,</m:t>
                    </m:r>
                    <m:r>
                      <m:rPr>
                        <m:nor/>
                      </m:rPr>
                      <a:rPr lang="en-US" sz="1800" dirty="0"/>
                      <m:t> </m:t>
                    </m:r>
                    <m:sSubSup>
                      <m:sSubSupPr>
                        <m:ctrlPr>
                          <a:rPr lang="en-US" sz="1800" i="1" dirty="0">
                            <a:latin typeface="Cambria Math" panose="02040503050406030204" pitchFamily="18" charset="0"/>
                          </a:rPr>
                        </m:ctrlPr>
                      </m:sSubSupPr>
                      <m:e>
                        <m:acc>
                          <m:accPr>
                            <m:chr m:val="̂"/>
                            <m:ctrlPr>
                              <a:rPr lang="en-US" sz="1800" i="1">
                                <a:latin typeface="Cambria Math" panose="02040503050406030204" pitchFamily="18" charset="0"/>
                              </a:rPr>
                            </m:ctrlPr>
                          </m:accPr>
                          <m:e>
                            <m:r>
                              <a:rPr lang="en-US" sz="1800" i="1">
                                <a:latin typeface="Cambria Math" panose="02040503050406030204" pitchFamily="18" charset="0"/>
                              </a:rPr>
                              <m:t>𝑒</m:t>
                            </m:r>
                          </m:e>
                        </m:acc>
                      </m:e>
                      <m:sub>
                        <m:r>
                          <a:rPr lang="en-US" sz="1800" i="1" dirty="0">
                            <a:latin typeface="Cambria Math" panose="02040503050406030204" pitchFamily="18" charset="0"/>
                          </a:rPr>
                          <m:t>𝑇</m:t>
                        </m:r>
                        <m:r>
                          <a:rPr lang="en-US" sz="1800" i="1" dirty="0">
                            <a:latin typeface="Cambria Math" panose="02040503050406030204" pitchFamily="18" charset="0"/>
                          </a:rPr>
                          <m:t>+</m:t>
                        </m:r>
                        <m:r>
                          <a:rPr lang="en-US" sz="1800" i="1" dirty="0">
                            <a:latin typeface="Cambria Math" panose="02040503050406030204" pitchFamily="18" charset="0"/>
                          </a:rPr>
                          <m:t>h</m:t>
                        </m:r>
                      </m:sub>
                      <m:sup>
                        <m:r>
                          <a:rPr lang="en-US" sz="1800" b="0" i="1" dirty="0" smtClean="0">
                            <a:latin typeface="Cambria Math" panose="02040503050406030204" pitchFamily="18" charset="0"/>
                          </a:rPr>
                          <m:t>𝑀</m:t>
                        </m:r>
                      </m:sup>
                    </m:sSubSup>
                  </m:oMath>
                </a14:m>
                <a:endParaRPr lang="ru-RU" sz="1800" dirty="0"/>
              </a:p>
              <a:p>
                <a:pPr marL="914400" lvl="1" indent="-457200">
                  <a:buFont typeface="+mj-lt"/>
                  <a:buAutoNum type="arabicPeriod"/>
                </a:pPr>
                <a:r>
                  <a:rPr lang="ru-RU" sz="1800" dirty="0" err="1"/>
                  <a:t>Суммаризимуем</a:t>
                </a:r>
                <a:r>
                  <a:rPr lang="ru-RU" sz="1800" dirty="0"/>
                  <a:t> результаты </a:t>
                </a:r>
                <a14:m>
                  <m:oMath xmlns:m="http://schemas.openxmlformats.org/officeDocument/2006/math">
                    <m:sSub>
                      <m:sSubPr>
                        <m:ctrlPr>
                          <a:rPr lang="en-US" sz="1800" i="1" dirty="0">
                            <a:latin typeface="Cambria Math" panose="02040503050406030204" pitchFamily="18" charset="0"/>
                          </a:rPr>
                        </m:ctrlPr>
                      </m:sSubPr>
                      <m:e>
                        <m:acc>
                          <m:accPr>
                            <m:chr m:val="̂"/>
                            <m:ctrlPr>
                              <a:rPr lang="en-US" sz="1800" i="1" dirty="0">
                                <a:latin typeface="Cambria Math" panose="02040503050406030204" pitchFamily="18" charset="0"/>
                              </a:rPr>
                            </m:ctrlPr>
                          </m:accPr>
                          <m:e>
                            <m:r>
                              <a:rPr lang="en-US" sz="1800" i="1" dirty="0">
                                <a:latin typeface="Cambria Math" panose="02040503050406030204" pitchFamily="18" charset="0"/>
                              </a:rPr>
                              <m:t>𝑦</m:t>
                            </m:r>
                          </m:e>
                        </m:acc>
                      </m:e>
                      <m:sub>
                        <m:r>
                          <a:rPr lang="en-US" sz="1800" i="1" dirty="0">
                            <a:latin typeface="Cambria Math" panose="02040503050406030204" pitchFamily="18" charset="0"/>
                          </a:rPr>
                          <m:t>𝑇</m:t>
                        </m:r>
                        <m:r>
                          <a:rPr lang="en-US" sz="1800" i="1" dirty="0">
                            <a:latin typeface="Cambria Math" panose="02040503050406030204" pitchFamily="18" charset="0"/>
                          </a:rPr>
                          <m:t>+1</m:t>
                        </m:r>
                      </m:sub>
                    </m:sSub>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acc>
                          <m:accPr>
                            <m:chr m:val="̂"/>
                            <m:ctrlPr>
                              <a:rPr lang="en-US" sz="1800" i="1" dirty="0">
                                <a:latin typeface="Cambria Math" panose="02040503050406030204" pitchFamily="18" charset="0"/>
                              </a:rPr>
                            </m:ctrlPr>
                          </m:accPr>
                          <m:e>
                            <m:r>
                              <a:rPr lang="en-US" sz="1800" i="1" dirty="0">
                                <a:latin typeface="Cambria Math" panose="02040503050406030204" pitchFamily="18" charset="0"/>
                              </a:rPr>
                              <m:t>𝑦</m:t>
                            </m:r>
                          </m:e>
                        </m:acc>
                      </m:e>
                      <m:sub>
                        <m:r>
                          <a:rPr lang="en-US" sz="1800" i="1" dirty="0">
                            <a:latin typeface="Cambria Math" panose="02040503050406030204" pitchFamily="18" charset="0"/>
                          </a:rPr>
                          <m:t>𝑇</m:t>
                        </m:r>
                        <m:r>
                          <a:rPr lang="en-US" sz="1800" i="1" dirty="0">
                            <a:latin typeface="Cambria Math" panose="02040503050406030204" pitchFamily="18" charset="0"/>
                          </a:rPr>
                          <m:t>+1</m:t>
                        </m:r>
                      </m:sub>
                      <m:sup>
                        <m:r>
                          <a:rPr lang="en-US" sz="1800" i="1" dirty="0">
                            <a:latin typeface="Cambria Math" panose="02040503050406030204" pitchFamily="18" charset="0"/>
                          </a:rPr>
                          <m:t>0</m:t>
                        </m:r>
                      </m:sup>
                    </m:sSubSup>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acc>
                          <m:accPr>
                            <m:chr m:val="̂"/>
                            <m:ctrlPr>
                              <a:rPr lang="en-US" sz="1800" i="1">
                                <a:latin typeface="Cambria Math" panose="02040503050406030204" pitchFamily="18" charset="0"/>
                              </a:rPr>
                            </m:ctrlPr>
                          </m:accPr>
                          <m:e>
                            <m:r>
                              <a:rPr lang="en-US" sz="1800" i="1">
                                <a:latin typeface="Cambria Math" panose="02040503050406030204" pitchFamily="18" charset="0"/>
                              </a:rPr>
                              <m:t>𝑒</m:t>
                            </m:r>
                          </m:e>
                        </m:acc>
                      </m:e>
                      <m:sub>
                        <m:r>
                          <a:rPr lang="en-US" sz="1800" i="1" dirty="0">
                            <a:latin typeface="Cambria Math" panose="02040503050406030204" pitchFamily="18" charset="0"/>
                          </a:rPr>
                          <m:t>𝑇</m:t>
                        </m:r>
                        <m:r>
                          <a:rPr lang="en-US" sz="1800" i="1" dirty="0">
                            <a:latin typeface="Cambria Math" panose="02040503050406030204" pitchFamily="18" charset="0"/>
                          </a:rPr>
                          <m:t>+1</m:t>
                        </m:r>
                      </m:sub>
                      <m:sup>
                        <m:r>
                          <a:rPr lang="en-US" sz="1800" i="1" dirty="0">
                            <a:latin typeface="Cambria Math" panose="02040503050406030204" pitchFamily="18" charset="0"/>
                          </a:rPr>
                          <m:t>1</m:t>
                        </m:r>
                      </m:sup>
                    </m:sSubSup>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acc>
                          <m:accPr>
                            <m:chr m:val="̂"/>
                            <m:ctrlPr>
                              <a:rPr lang="en-US" sz="1800" i="1">
                                <a:latin typeface="Cambria Math" panose="02040503050406030204" pitchFamily="18" charset="0"/>
                              </a:rPr>
                            </m:ctrlPr>
                          </m:accPr>
                          <m:e>
                            <m:r>
                              <a:rPr lang="en-US" sz="1800" i="1">
                                <a:latin typeface="Cambria Math" panose="02040503050406030204" pitchFamily="18" charset="0"/>
                              </a:rPr>
                              <m:t>𝑒</m:t>
                            </m:r>
                          </m:e>
                        </m:acc>
                      </m:e>
                      <m:sub>
                        <m:r>
                          <a:rPr lang="en-US" sz="1800" i="1" dirty="0">
                            <a:latin typeface="Cambria Math" panose="02040503050406030204" pitchFamily="18" charset="0"/>
                          </a:rPr>
                          <m:t>𝑇</m:t>
                        </m:r>
                        <m:r>
                          <a:rPr lang="en-US" sz="1800" i="1" dirty="0">
                            <a:latin typeface="Cambria Math" panose="02040503050406030204" pitchFamily="18" charset="0"/>
                          </a:rPr>
                          <m:t>+1</m:t>
                        </m:r>
                      </m:sub>
                      <m:sup>
                        <m:r>
                          <a:rPr lang="en-US" sz="1800" i="1" dirty="0">
                            <a:latin typeface="Cambria Math" panose="02040503050406030204" pitchFamily="18" charset="0"/>
                          </a:rPr>
                          <m:t>2</m:t>
                        </m:r>
                      </m:sup>
                    </m:sSubSup>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acc>
                          <m:accPr>
                            <m:chr m:val="̂"/>
                            <m:ctrlPr>
                              <a:rPr lang="en-US" sz="1800" i="1">
                                <a:latin typeface="Cambria Math" panose="02040503050406030204" pitchFamily="18" charset="0"/>
                              </a:rPr>
                            </m:ctrlPr>
                          </m:accPr>
                          <m:e>
                            <m:r>
                              <a:rPr lang="en-US" sz="1800" i="1">
                                <a:latin typeface="Cambria Math" panose="02040503050406030204" pitchFamily="18" charset="0"/>
                              </a:rPr>
                              <m:t>𝑒</m:t>
                            </m:r>
                          </m:e>
                        </m:acc>
                      </m:e>
                      <m:sub>
                        <m:r>
                          <a:rPr lang="en-US" sz="1800" i="1" dirty="0">
                            <a:latin typeface="Cambria Math" panose="02040503050406030204" pitchFamily="18" charset="0"/>
                          </a:rPr>
                          <m:t>𝑇</m:t>
                        </m:r>
                        <m:r>
                          <a:rPr lang="en-US" sz="1800" i="1" dirty="0">
                            <a:latin typeface="Cambria Math" panose="02040503050406030204" pitchFamily="18" charset="0"/>
                          </a:rPr>
                          <m:t>+</m:t>
                        </m:r>
                        <m:r>
                          <a:rPr lang="en-US" sz="1800" i="1" dirty="0">
                            <a:latin typeface="Cambria Math" panose="02040503050406030204" pitchFamily="18" charset="0"/>
                          </a:rPr>
                          <m:t>h</m:t>
                        </m:r>
                      </m:sub>
                      <m:sup>
                        <m:r>
                          <a:rPr lang="en-US" sz="1800" i="1" dirty="0">
                            <a:latin typeface="Cambria Math" panose="02040503050406030204" pitchFamily="18" charset="0"/>
                          </a:rPr>
                          <m:t>𝑀</m:t>
                        </m:r>
                      </m:sup>
                    </m:sSubSup>
                  </m:oMath>
                </a14:m>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89670" y="717755"/>
                <a:ext cx="11731625" cy="5445147"/>
              </a:xfrm>
              <a:blipFill>
                <a:blip r:embed="rId2"/>
                <a:stretch>
                  <a:fillRect l="-624" t="-1232" r="-468"/>
                </a:stretch>
              </a:blipFill>
            </p:spPr>
            <p:txBody>
              <a:bodyPr/>
              <a:lstStyle/>
              <a:p>
                <a:r>
                  <a:rPr lang="ru-RU">
                    <a:noFill/>
                  </a:rPr>
                  <a:t> </a:t>
                </a:r>
              </a:p>
            </p:txBody>
          </p:sp>
        </mc:Fallback>
      </mc:AlternateContent>
      <p:sp>
        <p:nvSpPr>
          <p:cNvPr id="4" name="AutoShape 2" descr="https://miro.medium.com/v2/resize:fit:604/1*Tvog-eDemXlZbcNQNrvfSw.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Прямоугольник 5"/>
          <p:cNvSpPr/>
          <p:nvPr/>
        </p:nvSpPr>
        <p:spPr>
          <a:xfrm>
            <a:off x="5955483" y="6518138"/>
            <a:ext cx="6096000" cy="261610"/>
          </a:xfrm>
          <a:prstGeom prst="rect">
            <a:avLst/>
          </a:prstGeom>
        </p:spPr>
        <p:txBody>
          <a:bodyPr>
            <a:spAutoFit/>
          </a:bodyPr>
          <a:lstStyle/>
          <a:p>
            <a:r>
              <a:rPr lang="ru-RU" sz="1100" dirty="0"/>
              <a:t>https://tijsvandervelden.medium.com/nhits-interpretable-deep-learning-ts-forecasting-773a8867c795</a:t>
            </a:r>
          </a:p>
        </p:txBody>
      </p:sp>
      <p:sp>
        <p:nvSpPr>
          <p:cNvPr id="7" name="Прямоугольник 6"/>
          <p:cNvSpPr/>
          <p:nvPr/>
        </p:nvSpPr>
        <p:spPr>
          <a:xfrm>
            <a:off x="5511113" y="6340520"/>
            <a:ext cx="6096000" cy="261610"/>
          </a:xfrm>
          <a:prstGeom prst="rect">
            <a:avLst/>
          </a:prstGeom>
        </p:spPr>
        <p:txBody>
          <a:bodyPr>
            <a:spAutoFit/>
          </a:bodyPr>
          <a:lstStyle/>
          <a:p>
            <a:r>
              <a:rPr lang="ru-RU" sz="1100" dirty="0"/>
              <a:t>https://readmedium.com/n-beats-time-series-forecasting-with-neural-basis-expansion-af09ea39f538</a:t>
            </a:r>
          </a:p>
        </p:txBody>
      </p:sp>
      <p:sp>
        <p:nvSpPr>
          <p:cNvPr id="8" name="Прямоугольник 7"/>
          <p:cNvSpPr/>
          <p:nvPr/>
        </p:nvSpPr>
        <p:spPr>
          <a:xfrm>
            <a:off x="6228467" y="6649589"/>
            <a:ext cx="2661306" cy="253916"/>
          </a:xfrm>
          <a:prstGeom prst="rect">
            <a:avLst/>
          </a:prstGeom>
        </p:spPr>
        <p:txBody>
          <a:bodyPr wrap="none">
            <a:spAutoFit/>
          </a:bodyPr>
          <a:lstStyle/>
          <a:p>
            <a:r>
              <a:rPr lang="ru-RU" sz="1050" dirty="0"/>
              <a:t>https://arxiv.org/pdf/1905.10437#page=2.00</a:t>
            </a:r>
          </a:p>
        </p:txBody>
      </p:sp>
      <p:pic>
        <p:nvPicPr>
          <p:cNvPr id="2052" name="Picture 4" descr="https://cdn-images-1.readmedium.com/v2/resize:fit:800/1*qgr5wJMd5dfHLi0Fls-Zs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193" y="3667351"/>
            <a:ext cx="3678623" cy="31531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cdn-images-1.readmedium.com/v2/resize:fit:800/1*a_CeIE0dA1VcwyGi15FxNQ.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2223" y="3844969"/>
            <a:ext cx="2619375" cy="249555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cdn-images-1.readmedium.com/v2/resize:fit:800/1*wgLibCLYo7cSyO6moaK2Hg.png"/>
          <p:cNvPicPr>
            <a:picLocks noChangeAspect="1" noChangeArrowheads="1"/>
          </p:cNvPicPr>
          <p:nvPr/>
        </p:nvPicPr>
        <p:blipFill rotWithShape="1">
          <a:blip r:embed="rId5">
            <a:extLst>
              <a:ext uri="{28A0092B-C50C-407E-A947-70E740481C1C}">
                <a14:useLocalDpi xmlns:a14="http://schemas.microsoft.com/office/drawing/2010/main" val="0"/>
              </a:ext>
            </a:extLst>
          </a:blip>
          <a:srcRect t="28448" r="42042" b="2063"/>
          <a:stretch/>
        </p:blipFill>
        <p:spPr bwMode="auto">
          <a:xfrm>
            <a:off x="7908325" y="3555979"/>
            <a:ext cx="3618470" cy="2814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1359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9655" y="315060"/>
            <a:ext cx="11073714" cy="615178"/>
          </a:xfrm>
        </p:spPr>
        <p:txBody>
          <a:bodyPr>
            <a:normAutofit fontScale="90000"/>
          </a:bodyPr>
          <a:lstStyle/>
          <a:p>
            <a:pPr algn="ctr"/>
            <a:r>
              <a:rPr lang="en-US" b="1" dirty="0"/>
              <a:t>N-BEATS</a:t>
            </a:r>
            <a:r>
              <a:rPr lang="ru-RU" b="1" dirty="0"/>
              <a:t> </a:t>
            </a:r>
            <a:r>
              <a:rPr lang="en-US" b="1" dirty="0"/>
              <a:t>Generic</a:t>
            </a:r>
            <a:endParaRPr lang="ru-RU" b="1" dirty="0"/>
          </a:p>
        </p:txBody>
      </p:sp>
      <p:sp>
        <p:nvSpPr>
          <p:cNvPr id="4" name="AutoShape 2" descr="https://miro.medium.com/v2/resize:fit:604/1*Tvog-eDemXlZbcNQNrvfSw.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Прямоугольник 5"/>
          <p:cNvSpPr/>
          <p:nvPr/>
        </p:nvSpPr>
        <p:spPr>
          <a:xfrm>
            <a:off x="0" y="6625213"/>
            <a:ext cx="6096000" cy="261610"/>
          </a:xfrm>
          <a:prstGeom prst="rect">
            <a:avLst/>
          </a:prstGeom>
        </p:spPr>
        <p:txBody>
          <a:bodyPr>
            <a:spAutoFit/>
          </a:bodyPr>
          <a:lstStyle/>
          <a:p>
            <a:r>
              <a:rPr lang="en-US" sz="1100" dirty="0"/>
              <a:t>https://readmedium.com/the-easiest-way-to-forecast-time-series-using-n-beats-d778fcc2ba60</a:t>
            </a:r>
            <a:endParaRPr lang="ru-RU" sz="1100" dirty="0"/>
          </a:p>
        </p:txBody>
      </p:sp>
      <p:sp>
        <p:nvSpPr>
          <p:cNvPr id="7" name="Прямоугольник 6"/>
          <p:cNvSpPr/>
          <p:nvPr/>
        </p:nvSpPr>
        <p:spPr>
          <a:xfrm>
            <a:off x="89670" y="6303340"/>
            <a:ext cx="6096000" cy="261610"/>
          </a:xfrm>
          <a:prstGeom prst="rect">
            <a:avLst/>
          </a:prstGeom>
        </p:spPr>
        <p:txBody>
          <a:bodyPr>
            <a:spAutoFit/>
          </a:bodyPr>
          <a:lstStyle/>
          <a:p>
            <a:r>
              <a:rPr lang="ru-RU" sz="1100" dirty="0"/>
              <a:t>https://readmedium.com/n-beats-time-series-forecasting-with-neural-basis-expansion-af09ea39f538</a:t>
            </a:r>
          </a:p>
        </p:txBody>
      </p:sp>
      <p:sp>
        <p:nvSpPr>
          <p:cNvPr id="8" name="Прямоугольник 7"/>
          <p:cNvSpPr/>
          <p:nvPr/>
        </p:nvSpPr>
        <p:spPr>
          <a:xfrm>
            <a:off x="219655" y="6448241"/>
            <a:ext cx="3472617" cy="307777"/>
          </a:xfrm>
          <a:prstGeom prst="rect">
            <a:avLst/>
          </a:prstGeom>
        </p:spPr>
        <p:txBody>
          <a:bodyPr wrap="none">
            <a:spAutoFit/>
          </a:bodyPr>
          <a:lstStyle/>
          <a:p>
            <a:r>
              <a:rPr lang="ru-RU" sz="1400" dirty="0"/>
              <a:t>https://arxiv.org/pdf/1905.10437#page=2.00</a:t>
            </a:r>
          </a:p>
        </p:txBody>
      </p:sp>
      <p:pic>
        <p:nvPicPr>
          <p:cNvPr id="2056" name="Picture 8" descr="https://cdn-images-1.readmedium.com/v2/resize:fit:800/1*wgLibCLYo7cSyO6moaK2Hg.png"/>
          <p:cNvPicPr>
            <a:picLocks noChangeAspect="1" noChangeArrowheads="1"/>
          </p:cNvPicPr>
          <p:nvPr/>
        </p:nvPicPr>
        <p:blipFill rotWithShape="1">
          <a:blip r:embed="rId2">
            <a:extLst>
              <a:ext uri="{28A0092B-C50C-407E-A947-70E740481C1C}">
                <a14:useLocalDpi xmlns:a14="http://schemas.microsoft.com/office/drawing/2010/main" val="0"/>
              </a:ext>
            </a:extLst>
          </a:blip>
          <a:srcRect l="2020" t="1031" r="1006" b="638"/>
          <a:stretch/>
        </p:blipFill>
        <p:spPr bwMode="auto">
          <a:xfrm>
            <a:off x="6030571" y="2869435"/>
            <a:ext cx="6054337" cy="3982628"/>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p:cNvSpPr>
            <a:spLocks noGrp="1"/>
          </p:cNvSpPr>
          <p:nvPr>
            <p:ph idx="1"/>
          </p:nvPr>
        </p:nvSpPr>
        <p:spPr>
          <a:xfrm>
            <a:off x="89670" y="849499"/>
            <a:ext cx="11764579" cy="5313403"/>
          </a:xfrm>
        </p:spPr>
        <p:txBody>
          <a:bodyPr>
            <a:normAutofit/>
          </a:bodyPr>
          <a:lstStyle/>
          <a:p>
            <a:pPr>
              <a:lnSpc>
                <a:spcPct val="100000"/>
              </a:lnSpc>
              <a:spcBef>
                <a:spcPts val="300"/>
              </a:spcBef>
            </a:pPr>
            <a:r>
              <a:rPr lang="ru-RU" sz="2200" dirty="0"/>
              <a:t>Модель работает на </a:t>
            </a:r>
            <a:r>
              <a:rPr lang="en-US" sz="2200" dirty="0"/>
              <a:t> lookback period</a:t>
            </a:r>
            <a:r>
              <a:rPr lang="ru-RU" sz="2200" dirty="0"/>
              <a:t> 2-6 горизонтов предсказания.</a:t>
            </a:r>
          </a:p>
          <a:p>
            <a:pPr>
              <a:lnSpc>
                <a:spcPct val="100000"/>
              </a:lnSpc>
              <a:spcBef>
                <a:spcPts val="300"/>
              </a:spcBef>
            </a:pPr>
            <a:r>
              <a:rPr lang="ru-RU" sz="2200" dirty="0"/>
              <a:t>Первый блок обрабатывает сами входные значения </a:t>
            </a:r>
            <a:r>
              <a:rPr lang="en-US" sz="2200" dirty="0"/>
              <a:t>lookback period</a:t>
            </a:r>
            <a:r>
              <a:rPr lang="ru-RU" sz="2200" dirty="0"/>
              <a:t>  и предсказывает основную часть  предсказания</a:t>
            </a:r>
            <a:endParaRPr lang="en-US" sz="2200" dirty="0"/>
          </a:p>
          <a:p>
            <a:pPr>
              <a:lnSpc>
                <a:spcPct val="100000"/>
              </a:lnSpc>
              <a:spcBef>
                <a:spcPts val="300"/>
              </a:spcBef>
            </a:pPr>
            <a:r>
              <a:rPr lang="ru-RU" sz="2200" dirty="0"/>
              <a:t>Каждый следующий блок реализует идеи </a:t>
            </a:r>
            <a:r>
              <a:rPr lang="ru-RU" sz="2200" dirty="0" err="1"/>
              <a:t>бустинга</a:t>
            </a:r>
            <a:r>
              <a:rPr lang="ru-RU" sz="2200" dirty="0"/>
              <a:t> (предсказания ошибок одной слабой модели другой слабой моделью </a:t>
            </a:r>
          </a:p>
          <a:p>
            <a:pPr>
              <a:lnSpc>
                <a:spcPct val="100000"/>
              </a:lnSpc>
              <a:spcBef>
                <a:spcPts val="300"/>
              </a:spcBef>
            </a:pPr>
            <a:r>
              <a:rPr lang="ru-RU" sz="2200" dirty="0"/>
              <a:t>Чтобы избежать проблем </a:t>
            </a:r>
            <a:r>
              <a:rPr lang="ru-RU" sz="2200" dirty="0" err="1"/>
              <a:t>бустинга</a:t>
            </a:r>
            <a:r>
              <a:rPr lang="ru-RU" sz="2200" dirty="0"/>
              <a:t> (склонность переобучаться)</a:t>
            </a:r>
            <a:br>
              <a:rPr lang="ru-RU" sz="2200" dirty="0"/>
            </a:br>
            <a:r>
              <a:rPr lang="ru-RU" sz="2200" dirty="0"/>
              <a:t>разобьём процесс </a:t>
            </a:r>
            <a:r>
              <a:rPr lang="ru-RU" sz="2200" dirty="0" err="1"/>
              <a:t>бустинга</a:t>
            </a:r>
            <a:r>
              <a:rPr lang="ru-RU" sz="2200" dirty="0"/>
              <a:t> на этапы (стеки)</a:t>
            </a:r>
          </a:p>
          <a:p>
            <a:pPr>
              <a:lnSpc>
                <a:spcPct val="100000"/>
              </a:lnSpc>
              <a:spcBef>
                <a:spcPts val="300"/>
              </a:spcBef>
            </a:pPr>
            <a:r>
              <a:rPr lang="ru-RU" sz="2200" dirty="0"/>
              <a:t>Каждый стек работает с остатком предыдущего стека.</a:t>
            </a:r>
          </a:p>
        </p:txBody>
      </p:sp>
      <p:sp>
        <p:nvSpPr>
          <p:cNvPr id="11" name="Объект 2"/>
          <p:cNvSpPr txBox="1">
            <a:spLocks/>
          </p:cNvSpPr>
          <p:nvPr/>
        </p:nvSpPr>
        <p:spPr>
          <a:xfrm>
            <a:off x="106700" y="3988423"/>
            <a:ext cx="5710243" cy="23149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ru-RU" sz="2000" dirty="0"/>
              <a:t>По сути в архитектура подобна </a:t>
            </a:r>
            <a:r>
              <a:rPr lang="en-US" sz="2000" dirty="0" err="1"/>
              <a:t>DenseNet</a:t>
            </a:r>
            <a:r>
              <a:rPr lang="en-US" sz="2000" dirty="0"/>
              <a:t> </a:t>
            </a:r>
            <a:endParaRPr lang="ru-RU" sz="2000" dirty="0"/>
          </a:p>
          <a:p>
            <a:pPr>
              <a:lnSpc>
                <a:spcPct val="100000"/>
              </a:lnSpc>
              <a:spcBef>
                <a:spcPts val="0"/>
              </a:spcBef>
            </a:pPr>
            <a:r>
              <a:rPr lang="ru-RU" sz="2000" dirty="0"/>
              <a:t>Каждый стек </a:t>
            </a:r>
            <a:r>
              <a:rPr lang="ru-RU" sz="2000" dirty="0" err="1"/>
              <a:t>предполается</a:t>
            </a:r>
            <a:r>
              <a:rPr lang="ru-RU" sz="2000" dirty="0"/>
              <a:t> что выделяет вектор признаков ВР </a:t>
            </a:r>
            <a:r>
              <a:rPr lang="en-US" sz="2000" dirty="0"/>
              <a:t>(feature map)</a:t>
            </a:r>
          </a:p>
          <a:p>
            <a:pPr>
              <a:lnSpc>
                <a:spcPct val="100000"/>
              </a:lnSpc>
              <a:spcBef>
                <a:spcPts val="0"/>
              </a:spcBef>
            </a:pPr>
            <a:r>
              <a:rPr lang="ru-RU" sz="2000" dirty="0"/>
              <a:t>Стеки подобны блокам архитектур </a:t>
            </a:r>
            <a:r>
              <a:rPr lang="en-US" sz="2000" dirty="0"/>
              <a:t>CNN </a:t>
            </a:r>
            <a:r>
              <a:rPr lang="ru-RU" sz="2000" dirty="0"/>
              <a:t>и каждый стек дает свой </a:t>
            </a:r>
            <a:r>
              <a:rPr lang="en-US" sz="2000" dirty="0"/>
              <a:t>partial forecasts</a:t>
            </a:r>
            <a:endParaRPr lang="ru-RU" sz="2000" dirty="0"/>
          </a:p>
        </p:txBody>
      </p:sp>
    </p:spTree>
    <p:extLst>
      <p:ext uri="{BB962C8B-B14F-4D97-AF65-F5344CB8AC3E}">
        <p14:creationId xmlns:p14="http://schemas.microsoft.com/office/powerpoint/2010/main" val="1981883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100903"/>
            <a:ext cx="11073714" cy="615178"/>
          </a:xfrm>
        </p:spPr>
        <p:txBody>
          <a:bodyPr>
            <a:normAutofit fontScale="90000"/>
          </a:bodyPr>
          <a:lstStyle/>
          <a:p>
            <a:pPr algn="ctr"/>
            <a:r>
              <a:rPr lang="en-US" b="1" dirty="0"/>
              <a:t>N-BEATS Interpretable</a:t>
            </a:r>
            <a:endParaRPr lang="ru-RU" b="1" dirty="0"/>
          </a:p>
        </p:txBody>
      </p:sp>
      <p:sp>
        <p:nvSpPr>
          <p:cNvPr id="4" name="AutoShape 2" descr="https://miro.medium.com/v2/resize:fit:604/1*Tvog-eDemXlZbcNQNrvfSw.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5244690" y="6548604"/>
            <a:ext cx="2109873" cy="261610"/>
          </a:xfrm>
          <a:prstGeom prst="rect">
            <a:avLst/>
          </a:prstGeom>
        </p:spPr>
        <p:txBody>
          <a:bodyPr wrap="none">
            <a:spAutoFit/>
          </a:bodyPr>
          <a:lstStyle/>
          <a:p>
            <a:r>
              <a:rPr lang="ru-RU" sz="1100" dirty="0"/>
              <a:t>https://arxiv.org/pdf/1905.10437</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34505" y="582082"/>
                <a:ext cx="12102330" cy="3370794"/>
              </a:xfrm>
            </p:spPr>
            <p:txBody>
              <a:bodyPr>
                <a:normAutofit fontScale="85000" lnSpcReduction="20000"/>
              </a:bodyPr>
              <a:lstStyle/>
              <a:p>
                <a:pPr marL="0" indent="0">
                  <a:lnSpc>
                    <a:spcPct val="120000"/>
                  </a:lnSpc>
                  <a:spcBef>
                    <a:spcPts val="0"/>
                  </a:spcBef>
                  <a:buNone/>
                </a:pPr>
                <a:r>
                  <a:rPr lang="ru-RU" sz="2200" dirty="0"/>
                  <a:t>По сути каждый стек должен выбирать отдельную компоненту ВР.</a:t>
                </a:r>
              </a:p>
              <a:p>
                <a:pPr>
                  <a:lnSpc>
                    <a:spcPct val="120000"/>
                  </a:lnSpc>
                  <a:spcBef>
                    <a:spcPts val="0"/>
                  </a:spcBef>
                </a:pPr>
                <a:r>
                  <a:rPr lang="ru-RU" sz="2400" b="1" dirty="0"/>
                  <a:t>Гипотеза</a:t>
                </a:r>
                <a:r>
                  <a:rPr lang="ru-RU" sz="2400" dirty="0"/>
                  <a:t>: можно  подсказать модели как выбирать интерпретируемые компоненты</a:t>
                </a:r>
                <a:endParaRPr lang="en-US" sz="2400" dirty="0"/>
              </a:p>
              <a:p>
                <a:pPr>
                  <a:lnSpc>
                    <a:spcPct val="120000"/>
                  </a:lnSpc>
                  <a:spcBef>
                    <a:spcPts val="0"/>
                  </a:spcBef>
                </a:pPr>
                <a:r>
                  <a:rPr lang="ru-RU" sz="2400" dirty="0"/>
                  <a:t>Выделим 2 компоненты тренд и сезонность. </a:t>
                </a:r>
              </a:p>
              <a:p>
                <a:pPr lvl="1">
                  <a:lnSpc>
                    <a:spcPct val="120000"/>
                  </a:lnSpc>
                  <a:spcBef>
                    <a:spcPts val="0"/>
                  </a:spcBef>
                </a:pPr>
                <a:r>
                  <a:rPr lang="ru-RU" sz="2200" dirty="0"/>
                  <a:t>Компоненты значительно отличаются скоростью (характером) изменений, однако Пусть компоненты достаточно сложны чтобы их делить.</a:t>
                </a:r>
              </a:p>
              <a:p>
                <a:pPr>
                  <a:lnSpc>
                    <a:spcPct val="120000"/>
                  </a:lnSpc>
                  <a:spcBef>
                    <a:spcPts val="0"/>
                  </a:spcBef>
                </a:pPr>
                <a:r>
                  <a:rPr lang="ru-RU" sz="2600" dirty="0"/>
                  <a:t>Пусть тренд описывается полиномом</a:t>
                </a:r>
                <a14:m>
                  <m:oMath xmlns:m="http://schemas.openxmlformats.org/officeDocument/2006/math">
                    <m:r>
                      <a:rPr lang="ru-RU" sz="2400" b="0" i="0" smtClean="0">
                        <a:latin typeface="Cambria Math" panose="02040503050406030204" pitchFamily="18" charset="0"/>
                      </a:rPr>
                      <m:t> </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𝑙</m:t>
                        </m:r>
                      </m:sub>
                    </m:sSub>
                    <m:r>
                      <a:rPr lang="en-US" sz="2400" i="1">
                        <a:latin typeface="Cambria Math" panose="02040503050406030204" pitchFamily="18" charset="0"/>
                      </a:rPr>
                      <m:t>=</m:t>
                    </m:r>
                    <m:nary>
                      <m:naryPr>
                        <m:chr m:val="∑"/>
                        <m:limLoc m:val="subSup"/>
                        <m:ctrlPr>
                          <a:rPr lang="en-US" sz="2400" i="1">
                            <a:latin typeface="Cambria Math" panose="02040503050406030204" pitchFamily="18" charset="0"/>
                          </a:rPr>
                        </m:ctrlPr>
                      </m:naryPr>
                      <m:sub>
                        <m:r>
                          <m:rPr>
                            <m:brk m:alnAt="25"/>
                          </m:rPr>
                          <a:rPr lang="en-US" sz="2400" i="1">
                            <a:latin typeface="Cambria Math" panose="02040503050406030204" pitchFamily="18" charset="0"/>
                          </a:rPr>
                          <m:t>𝑖</m:t>
                        </m:r>
                        <m:r>
                          <a:rPr lang="en-US" sz="2400" i="1">
                            <a:latin typeface="Cambria Math" panose="02040503050406030204" pitchFamily="18" charset="0"/>
                          </a:rPr>
                          <m:t>=0</m:t>
                        </m:r>
                      </m:sub>
                      <m:sup>
                        <m:r>
                          <a:rPr lang="en-US" sz="2400" i="1">
                            <a:latin typeface="Cambria Math" panose="02040503050406030204" pitchFamily="18" charset="0"/>
                          </a:rPr>
                          <m:t>𝑝</m:t>
                        </m:r>
                      </m:sup>
                      <m:e>
                        <m:sSup>
                          <m:sSupPr>
                            <m:ctrlPr>
                              <a:rPr lang="en-US"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𝑙</m:t>
                                </m:r>
                                <m:r>
                                  <a:rPr lang="en-US" sz="2400" b="0" i="1" smtClean="0">
                                    <a:latin typeface="Cambria Math" panose="02040503050406030204" pitchFamily="18" charset="0"/>
                                  </a:rPr>
                                  <m:t>,</m:t>
                                </m:r>
                                <m:r>
                                  <a:rPr lang="en-US" sz="2400" b="0" i="1" smtClean="0">
                                    <a:latin typeface="Cambria Math" panose="02040503050406030204" pitchFamily="18" charset="0"/>
                                  </a:rPr>
                                  <m:t>𝑖</m:t>
                                </m:r>
                              </m:sub>
                            </m:sSub>
                            <m:r>
                              <a:rPr lang="en-US" sz="2400" i="1">
                                <a:latin typeface="Cambria Math" panose="02040503050406030204" pitchFamily="18" charset="0"/>
                              </a:rPr>
                              <m:t>𝑡</m:t>
                            </m:r>
                          </m:e>
                          <m:sup>
                            <m:r>
                              <a:rPr lang="en-US" sz="2400" i="1">
                                <a:latin typeface="Cambria Math" panose="02040503050406030204" pitchFamily="18" charset="0"/>
                              </a:rPr>
                              <m:t>𝑖</m:t>
                            </m:r>
                          </m:sup>
                        </m:sSup>
                      </m:e>
                    </m:nary>
                  </m:oMath>
                </a14:m>
                <a:r>
                  <a:rPr lang="en-US" sz="2400" dirty="0"/>
                  <a:t>, </a:t>
                </a:r>
                <a:br>
                  <a:rPr lang="ru-RU" sz="2400" dirty="0"/>
                </a:br>
                <a:r>
                  <a:rPr lang="ru-RU" sz="2400" dirty="0"/>
                  <a:t>	где </a:t>
                </a:r>
                <a14:m>
                  <m:oMath xmlns:m="http://schemas.openxmlformats.org/officeDocument/2006/math">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𝑙</m:t>
                    </m:r>
                  </m:oMath>
                </a14:m>
                <a:r>
                  <a:rPr lang="ru-RU" sz="2400" dirty="0"/>
                  <a:t> – блок </a:t>
                </a:r>
                <a:r>
                  <a:rPr lang="en-US" sz="2400" dirty="0"/>
                  <a:t>l </a:t>
                </a:r>
                <a:r>
                  <a:rPr lang="ru-RU" sz="2400" dirty="0"/>
                  <a:t>стека </a:t>
                </a:r>
                <a14:m>
                  <m:oMath xmlns:m="http://schemas.openxmlformats.org/officeDocument/2006/math">
                    <m:r>
                      <a:rPr lang="en-US" sz="2400" i="1">
                        <a:latin typeface="Cambria Math" panose="02040503050406030204" pitchFamily="18" charset="0"/>
                      </a:rPr>
                      <m:t>𝑠</m:t>
                    </m:r>
                    <m:r>
                      <a:rPr lang="en-US" sz="2400" i="1">
                        <a:latin typeface="Cambria Math" panose="02040503050406030204" pitchFamily="18" charset="0"/>
                      </a:rPr>
                      <m:t>,</m:t>
                    </m:r>
                    <m:r>
                      <a:rPr lang="en-US" sz="2400">
                        <a:latin typeface="Cambria Math" panose="02040503050406030204" pitchFamily="18" charset="0"/>
                      </a:rPr>
                      <m:t> </m:t>
                    </m:r>
                    <m:r>
                      <a:rPr lang="en-US" sz="2400" i="1">
                        <a:latin typeface="Cambria Math" panose="02040503050406030204" pitchFamily="18" charset="0"/>
                      </a:rPr>
                      <m:t>𝑎</m:t>
                    </m:r>
                  </m:oMath>
                </a14:m>
                <a:r>
                  <a:rPr lang="en-US" sz="2400" dirty="0"/>
                  <a:t> – </a:t>
                </a:r>
                <a:r>
                  <a:rPr lang="ru-RU" sz="2400" dirty="0"/>
                  <a:t>коэффициенты полинома</a:t>
                </a:r>
                <a:r>
                  <a:rPr lang="en-US" sz="2400" dirty="0"/>
                  <a:t> (forward)</a:t>
                </a:r>
                <a:r>
                  <a:rPr lang="ru-RU" sz="2400" dirty="0"/>
                  <a:t>, предсказываемые 	соответствующим блоком, </a:t>
                </a:r>
                <a14:m>
                  <m:oMath xmlns:m="http://schemas.openxmlformats.org/officeDocument/2006/math">
                    <m:r>
                      <a:rPr lang="en-US" sz="2400" i="1" dirty="0">
                        <a:latin typeface="Cambria Math" panose="02040503050406030204" pitchFamily="18" charset="0"/>
                      </a:rPr>
                      <m:t>𝑝</m:t>
                    </m:r>
                  </m:oMath>
                </a14:m>
                <a:r>
                  <a:rPr lang="en-US" sz="2400" dirty="0"/>
                  <a:t> – </a:t>
                </a:r>
                <a:r>
                  <a:rPr lang="ru-RU" sz="2400" dirty="0"/>
                  <a:t>максимальное значение полинома (2 или 3).</a:t>
                </a:r>
              </a:p>
              <a:p>
                <a:pPr>
                  <a:lnSpc>
                    <a:spcPct val="120000"/>
                  </a:lnSpc>
                  <a:spcBef>
                    <a:spcPts val="0"/>
                  </a:spcBef>
                </a:pPr>
                <a:r>
                  <a:rPr lang="ru-RU" sz="2600" dirty="0"/>
                  <a:t>Пусть сезонность описывается</a:t>
                </a:r>
                <a:r>
                  <a:rPr lang="en-US" sz="2600" dirty="0"/>
                  <a:t> </a:t>
                </a:r>
                <a:r>
                  <a:rPr lang="ru-RU" sz="2600" dirty="0"/>
                  <a:t>рядом Фурье </a:t>
                </a:r>
                <a14:m>
                  <m:oMath xmlns:m="http://schemas.openxmlformats.org/officeDocument/2006/math">
                    <m:sSub>
                      <m:sSubPr>
                        <m:ctrlPr>
                          <a:rPr lang="en-US" sz="2200" i="1">
                            <a:latin typeface="Cambria Math" panose="02040503050406030204" pitchFamily="18" charset="0"/>
                          </a:rPr>
                        </m:ctrlPr>
                      </m:sSubPr>
                      <m:e>
                        <m:acc>
                          <m:accPr>
                            <m:chr m:val="̂"/>
                            <m:ctrlPr>
                              <a:rPr lang="en-US" sz="2200" i="1">
                                <a:latin typeface="Cambria Math" panose="02040503050406030204" pitchFamily="18" charset="0"/>
                              </a:rPr>
                            </m:ctrlPr>
                          </m:accPr>
                          <m:e>
                            <m:r>
                              <a:rPr lang="en-US" sz="2200" i="1">
                                <a:latin typeface="Cambria Math" panose="02040503050406030204" pitchFamily="18" charset="0"/>
                              </a:rPr>
                              <m:t>𝑦</m:t>
                            </m:r>
                          </m:e>
                        </m:acc>
                      </m:e>
                      <m:sub>
                        <m:r>
                          <a:rPr lang="en-US" sz="2200" i="1">
                            <a:latin typeface="Cambria Math" panose="02040503050406030204" pitchFamily="18" charset="0"/>
                          </a:rPr>
                          <m:t>𝑠</m:t>
                        </m:r>
                        <m:r>
                          <a:rPr lang="en-US" sz="2200" i="1">
                            <a:latin typeface="Cambria Math" panose="02040503050406030204" pitchFamily="18" charset="0"/>
                          </a:rPr>
                          <m:t>,</m:t>
                        </m:r>
                        <m:r>
                          <a:rPr lang="en-US" sz="2200" i="1">
                            <a:latin typeface="Cambria Math" panose="02040503050406030204" pitchFamily="18" charset="0"/>
                          </a:rPr>
                          <m:t>𝑙</m:t>
                        </m:r>
                      </m:sub>
                    </m:sSub>
                    <m:r>
                      <a:rPr lang="ru-RU" sz="2200" b="0" i="1" smtClean="0">
                        <a:latin typeface="Cambria Math" panose="02040503050406030204" pitchFamily="18" charset="0"/>
                      </a:rPr>
                      <m:t>=</m:t>
                    </m:r>
                    <m:nary>
                      <m:naryPr>
                        <m:chr m:val="∑"/>
                        <m:limLoc m:val="subSup"/>
                        <m:ctrlPr>
                          <a:rPr lang="en-US" sz="2200" i="1">
                            <a:latin typeface="Cambria Math" panose="02040503050406030204" pitchFamily="18" charset="0"/>
                          </a:rPr>
                        </m:ctrlPr>
                      </m:naryPr>
                      <m:sub>
                        <m:r>
                          <m:rPr>
                            <m:brk m:alnAt="25"/>
                          </m:rPr>
                          <a:rPr lang="en-US" sz="2200" i="1">
                            <a:latin typeface="Cambria Math" panose="02040503050406030204" pitchFamily="18" charset="0"/>
                          </a:rPr>
                          <m:t>𝑖</m:t>
                        </m:r>
                        <m:r>
                          <a:rPr lang="en-US" sz="2200" i="1">
                            <a:latin typeface="Cambria Math" panose="02040503050406030204" pitchFamily="18" charset="0"/>
                          </a:rPr>
                          <m:t>=0</m:t>
                        </m:r>
                      </m:sub>
                      <m:sup>
                        <m:f>
                          <m:fPr>
                            <m:type m:val="lin"/>
                            <m:ctrlPr>
                              <a:rPr lang="en-US" sz="2200" b="0" i="1" smtClean="0">
                                <a:latin typeface="Cambria Math" panose="02040503050406030204" pitchFamily="18" charset="0"/>
                              </a:rPr>
                            </m:ctrlPr>
                          </m:fPr>
                          <m:num>
                            <m:r>
                              <a:rPr lang="en-US" sz="2200" b="0" i="1" smtClean="0">
                                <a:latin typeface="Cambria Math" panose="02040503050406030204" pitchFamily="18" charset="0"/>
                              </a:rPr>
                              <m:t>𝐻</m:t>
                            </m:r>
                          </m:num>
                          <m:den>
                            <m:r>
                              <a:rPr lang="en-US" sz="2200" b="0" i="1" smtClean="0">
                                <a:latin typeface="Cambria Math" panose="02040503050406030204" pitchFamily="18" charset="0"/>
                              </a:rPr>
                              <m:t>/2</m:t>
                            </m:r>
                          </m:den>
                        </m:f>
                        <m:r>
                          <a:rPr lang="en-US" sz="2200" b="0" i="1" smtClean="0">
                            <a:latin typeface="Cambria Math" panose="02040503050406030204" pitchFamily="18" charset="0"/>
                          </a:rPr>
                          <m:t>−1</m:t>
                        </m:r>
                      </m:sup>
                      <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𝑠</m:t>
                            </m:r>
                            <m:r>
                              <a:rPr lang="en-US" sz="2200" i="1">
                                <a:latin typeface="Cambria Math" panose="02040503050406030204" pitchFamily="18" charset="0"/>
                              </a:rPr>
                              <m:t>,</m:t>
                            </m:r>
                            <m:r>
                              <a:rPr lang="en-US" sz="2200" i="1">
                                <a:latin typeface="Cambria Math" panose="02040503050406030204" pitchFamily="18" charset="0"/>
                              </a:rPr>
                              <m:t>𝑙</m:t>
                            </m:r>
                            <m:r>
                              <a:rPr lang="en-US" sz="2200" i="1">
                                <a:latin typeface="Cambria Math" panose="02040503050406030204" pitchFamily="18" charset="0"/>
                              </a:rPr>
                              <m:t>,</m:t>
                            </m:r>
                            <m:r>
                              <a:rPr lang="en-US" sz="2200" i="1">
                                <a:latin typeface="Cambria Math" panose="02040503050406030204" pitchFamily="18" charset="0"/>
                              </a:rPr>
                              <m:t>𝑖</m:t>
                            </m:r>
                          </m:sub>
                        </m:sSub>
                        <m:func>
                          <m:funcPr>
                            <m:ctrlPr>
                              <a:rPr lang="en-US" sz="2200" b="0" i="1" smtClean="0">
                                <a:latin typeface="Cambria Math" panose="02040503050406030204" pitchFamily="18" charset="0"/>
                              </a:rPr>
                            </m:ctrlPr>
                          </m:funcPr>
                          <m:fName>
                            <m:r>
                              <m:rPr>
                                <m:sty m:val="p"/>
                              </m:rPr>
                              <a:rPr lang="en-US" sz="2200" b="0" i="0" smtClean="0">
                                <a:latin typeface="Cambria Math" panose="02040503050406030204" pitchFamily="18" charset="0"/>
                              </a:rPr>
                              <m:t>cos</m:t>
                            </m:r>
                          </m:fName>
                          <m:e>
                            <m:d>
                              <m:dPr>
                                <m:ctrlPr>
                                  <a:rPr lang="en-US" sz="2200" b="0" i="1" smtClean="0">
                                    <a:latin typeface="Cambria Math" panose="02040503050406030204" pitchFamily="18" charset="0"/>
                                  </a:rPr>
                                </m:ctrlPr>
                              </m:dPr>
                              <m:e>
                                <m:r>
                                  <a:rPr lang="en-US" sz="2200" b="0" i="1" smtClean="0">
                                    <a:latin typeface="Cambria Math" panose="02040503050406030204" pitchFamily="18" charset="0"/>
                                  </a:rPr>
                                  <m:t>2</m:t>
                                </m:r>
                                <m:r>
                                  <a:rPr lang="en-US" sz="2200" b="0" i="1" smtClean="0">
                                    <a:latin typeface="Cambria Math" panose="02040503050406030204" pitchFamily="18" charset="0"/>
                                  </a:rPr>
                                  <m:t>𝜋</m:t>
                                </m:r>
                                <m:r>
                                  <a:rPr lang="en-US" sz="2200" b="0" i="1" smtClean="0">
                                    <a:latin typeface="Cambria Math" panose="02040503050406030204" pitchFamily="18" charset="0"/>
                                  </a:rPr>
                                  <m:t>𝑖𝑡</m:t>
                                </m:r>
                              </m:e>
                            </m:d>
                          </m:e>
                        </m:func>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𝑠</m:t>
                            </m:r>
                            <m:r>
                              <a:rPr lang="en-US" sz="2200" i="1">
                                <a:latin typeface="Cambria Math" panose="02040503050406030204" pitchFamily="18" charset="0"/>
                              </a:rPr>
                              <m:t>,</m:t>
                            </m:r>
                            <m:r>
                              <a:rPr lang="en-US" sz="2200" i="1">
                                <a:latin typeface="Cambria Math" panose="02040503050406030204" pitchFamily="18" charset="0"/>
                              </a:rPr>
                              <m:t>𝑙</m:t>
                            </m:r>
                            <m:r>
                              <a:rPr lang="en-US" sz="2200" i="1">
                                <a:latin typeface="Cambria Math" panose="02040503050406030204" pitchFamily="18" charset="0"/>
                              </a:rPr>
                              <m:t>,</m:t>
                            </m:r>
                            <m:r>
                              <a:rPr lang="en-US" sz="2200" i="1">
                                <a:latin typeface="Cambria Math" panose="02040503050406030204" pitchFamily="18" charset="0"/>
                              </a:rPr>
                              <m:t>𝑖</m:t>
                            </m:r>
                            <m:r>
                              <a:rPr lang="en-US" sz="2200" b="0" i="1" smtClean="0">
                                <a:latin typeface="Cambria Math" panose="02040503050406030204" pitchFamily="18" charset="0"/>
                              </a:rPr>
                              <m:t>+</m:t>
                            </m:r>
                            <m:f>
                              <m:fPr>
                                <m:type m:val="lin"/>
                                <m:ctrlPr>
                                  <a:rPr lang="en-US" sz="2200" i="1">
                                    <a:latin typeface="Cambria Math" panose="02040503050406030204" pitchFamily="18" charset="0"/>
                                  </a:rPr>
                                </m:ctrlPr>
                              </m:fPr>
                              <m:num>
                                <m:r>
                                  <a:rPr lang="en-US" sz="2200" i="1">
                                    <a:latin typeface="Cambria Math" panose="02040503050406030204" pitchFamily="18" charset="0"/>
                                  </a:rPr>
                                  <m:t>𝐻</m:t>
                                </m:r>
                              </m:num>
                              <m:den>
                                <m:r>
                                  <a:rPr lang="en-US" sz="2200" i="1">
                                    <a:latin typeface="Cambria Math" panose="02040503050406030204" pitchFamily="18" charset="0"/>
                                  </a:rPr>
                                  <m:t>/2</m:t>
                                </m:r>
                              </m:den>
                            </m:f>
                          </m:sub>
                        </m:sSub>
                        <m:func>
                          <m:funcPr>
                            <m:ctrlPr>
                              <a:rPr lang="en-US" sz="2200" i="1">
                                <a:latin typeface="Cambria Math" panose="02040503050406030204" pitchFamily="18" charset="0"/>
                              </a:rPr>
                            </m:ctrlPr>
                          </m:funcPr>
                          <m:fName>
                            <m:r>
                              <m:rPr>
                                <m:sty m:val="p"/>
                              </m:rPr>
                              <a:rPr lang="en-US" sz="2200" b="0" i="0" smtClean="0">
                                <a:latin typeface="Cambria Math" panose="02040503050406030204" pitchFamily="18" charset="0"/>
                              </a:rPr>
                              <m:t>sin</m:t>
                            </m:r>
                          </m:fName>
                          <m:e>
                            <m:d>
                              <m:dPr>
                                <m:ctrlPr>
                                  <a:rPr lang="en-US" sz="2200" i="1">
                                    <a:latin typeface="Cambria Math" panose="02040503050406030204" pitchFamily="18" charset="0"/>
                                  </a:rPr>
                                </m:ctrlPr>
                              </m:dPr>
                              <m:e>
                                <m:r>
                                  <a:rPr lang="en-US" sz="2200" i="1">
                                    <a:latin typeface="Cambria Math" panose="02040503050406030204" pitchFamily="18" charset="0"/>
                                  </a:rPr>
                                  <m:t>2</m:t>
                                </m:r>
                                <m:r>
                                  <a:rPr lang="en-US" sz="2200" i="1">
                                    <a:latin typeface="Cambria Math" panose="02040503050406030204" pitchFamily="18" charset="0"/>
                                  </a:rPr>
                                  <m:t>𝜋</m:t>
                                </m:r>
                                <m:r>
                                  <a:rPr lang="en-US" sz="2200" i="1">
                                    <a:latin typeface="Cambria Math" panose="02040503050406030204" pitchFamily="18" charset="0"/>
                                  </a:rPr>
                                  <m:t>𝑖𝑡</m:t>
                                </m:r>
                              </m:e>
                            </m:d>
                          </m:e>
                        </m:func>
                      </m:e>
                    </m:nary>
                  </m:oMath>
                </a14:m>
                <a:endParaRPr lang="ru-RU" sz="2600" dirty="0"/>
              </a:p>
              <a:p>
                <a:pPr marL="0" indent="0">
                  <a:lnSpc>
                    <a:spcPct val="120000"/>
                  </a:lnSpc>
                  <a:spcBef>
                    <a:spcPts val="0"/>
                  </a:spcBef>
                  <a:buNone/>
                </a:pPr>
                <a:r>
                  <a:rPr lang="ru-RU" sz="2600" dirty="0"/>
                  <a:t>	</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34505" y="582082"/>
                <a:ext cx="12102330" cy="3370794"/>
              </a:xfrm>
              <a:blipFill>
                <a:blip r:embed="rId2"/>
                <a:stretch>
                  <a:fillRect l="-554" t="-904" b="-6148"/>
                </a:stretch>
              </a:blipFill>
            </p:spPr>
            <p:txBody>
              <a:bodyPr/>
              <a:lstStyle/>
              <a:p>
                <a:r>
                  <a:rPr lang="ru-RU">
                    <a:noFill/>
                  </a:rPr>
                  <a:t> </a:t>
                </a:r>
              </a:p>
            </p:txBody>
          </p:sp>
        </mc:Fallback>
      </mc:AlternateContent>
      <p:pic>
        <p:nvPicPr>
          <p:cNvPr id="3074" name="Picture 2" descr="https://cdn-images-1.readmedium.com/v2/resize:fit:800/1*e9DBrgNZXqxwVuYvz5mDT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3628961"/>
            <a:ext cx="4210627" cy="312112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cdn-images-1.readmedium.com/v2/resize:fit:800/1*ZNSHEkR8rQ8PWcWkpX6Fl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7962" y="3587719"/>
            <a:ext cx="4296659" cy="3222495"/>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5438089" y="6619283"/>
            <a:ext cx="6096000" cy="261610"/>
          </a:xfrm>
          <a:prstGeom prst="rect">
            <a:avLst/>
          </a:prstGeom>
        </p:spPr>
        <p:txBody>
          <a:bodyPr>
            <a:spAutoFit/>
          </a:bodyPr>
          <a:lstStyle/>
          <a:p>
            <a:r>
              <a:rPr lang="ru-RU" sz="1100" dirty="0"/>
              <a:t>https://</a:t>
            </a:r>
            <a:r>
              <a:rPr lang="ru-RU" sz="900" dirty="0"/>
              <a:t>readmedium.com/n-beats-time-series-forecasting-with-neural-basis-expansion-af09ea39f538</a:t>
            </a:r>
            <a:endParaRPr lang="ru-RU" sz="1100" dirty="0"/>
          </a:p>
        </p:txBody>
      </p:sp>
    </p:spTree>
    <p:extLst>
      <p:ext uri="{BB962C8B-B14F-4D97-AF65-F5344CB8AC3E}">
        <p14:creationId xmlns:p14="http://schemas.microsoft.com/office/powerpoint/2010/main" val="2107349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100903"/>
            <a:ext cx="11073714" cy="615178"/>
          </a:xfrm>
        </p:spPr>
        <p:txBody>
          <a:bodyPr>
            <a:normAutofit fontScale="90000"/>
          </a:bodyPr>
          <a:lstStyle/>
          <a:p>
            <a:pPr algn="ctr"/>
            <a:r>
              <a:rPr lang="en-US" b="1" dirty="0"/>
              <a:t>N-BEATS Interpretable</a:t>
            </a:r>
            <a:endParaRPr lang="ru-RU" b="1" dirty="0"/>
          </a:p>
        </p:txBody>
      </p:sp>
      <p:sp>
        <p:nvSpPr>
          <p:cNvPr id="4" name="AutoShape 2" descr="https://miro.medium.com/v2/resize:fit:604/1*Tvog-eDemXlZbcNQNrvfSw.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5244690" y="6548604"/>
            <a:ext cx="2109873" cy="261610"/>
          </a:xfrm>
          <a:prstGeom prst="rect">
            <a:avLst/>
          </a:prstGeom>
        </p:spPr>
        <p:txBody>
          <a:bodyPr wrap="none">
            <a:spAutoFit/>
          </a:bodyPr>
          <a:lstStyle/>
          <a:p>
            <a:r>
              <a:rPr lang="ru-RU" sz="1100" dirty="0"/>
              <a:t>https://arxiv.org/pdf/1905.10437</a:t>
            </a:r>
          </a:p>
        </p:txBody>
      </p:sp>
      <p:sp>
        <p:nvSpPr>
          <p:cNvPr id="3" name="Объект 2"/>
          <p:cNvSpPr>
            <a:spLocks noGrp="1"/>
          </p:cNvSpPr>
          <p:nvPr>
            <p:ph idx="1"/>
          </p:nvPr>
        </p:nvSpPr>
        <p:spPr>
          <a:xfrm>
            <a:off x="155575" y="843692"/>
            <a:ext cx="3559175" cy="6037201"/>
          </a:xfrm>
        </p:spPr>
        <p:txBody>
          <a:bodyPr>
            <a:normAutofit/>
          </a:bodyPr>
          <a:lstStyle/>
          <a:p>
            <a:pPr marL="0" indent="0">
              <a:lnSpc>
                <a:spcPct val="100000"/>
              </a:lnSpc>
              <a:spcBef>
                <a:spcPts val="300"/>
              </a:spcBef>
              <a:buNone/>
            </a:pPr>
            <a:r>
              <a:rPr lang="en-US" sz="2400" dirty="0"/>
              <a:t>N-BEATS </a:t>
            </a:r>
            <a:r>
              <a:rPr lang="ru-RU" sz="2400" dirty="0"/>
              <a:t>бывает </a:t>
            </a:r>
          </a:p>
          <a:p>
            <a:pPr>
              <a:lnSpc>
                <a:spcPct val="100000"/>
              </a:lnSpc>
              <a:spcBef>
                <a:spcPts val="300"/>
              </a:spcBef>
            </a:pPr>
            <a:r>
              <a:rPr lang="en-US" sz="2400" b="1" dirty="0"/>
              <a:t>G</a:t>
            </a:r>
            <a:r>
              <a:rPr lang="ru-RU" sz="2400" b="1" dirty="0"/>
              <a:t> -</a:t>
            </a:r>
            <a:r>
              <a:rPr lang="en-US" sz="2400" dirty="0"/>
              <a:t>generic (</a:t>
            </a:r>
            <a:r>
              <a:rPr lang="ru-RU" sz="2400" dirty="0"/>
              <a:t>не интерпретируемый), в оригинале 30 стеков</a:t>
            </a:r>
          </a:p>
          <a:p>
            <a:pPr>
              <a:lnSpc>
                <a:spcPct val="100000"/>
              </a:lnSpc>
              <a:spcBef>
                <a:spcPts val="300"/>
              </a:spcBef>
            </a:pPr>
            <a:r>
              <a:rPr lang="en-US" sz="2400" dirty="0"/>
              <a:t>I – </a:t>
            </a:r>
            <a:r>
              <a:rPr lang="ru-RU" sz="2400" dirty="0"/>
              <a:t>интерпретируемый (2 стека: стек тренда, стек сезонности)</a:t>
            </a:r>
          </a:p>
          <a:p>
            <a:pPr>
              <a:lnSpc>
                <a:spcPct val="100000"/>
              </a:lnSpc>
              <a:spcBef>
                <a:spcPts val="300"/>
              </a:spcBef>
            </a:pPr>
            <a:r>
              <a:rPr lang="en-US" sz="2600" dirty="0"/>
              <a:t>I+G </a:t>
            </a:r>
            <a:r>
              <a:rPr lang="ru-RU" sz="2600" dirty="0"/>
              <a:t>(ансамбль двух архитектур)</a:t>
            </a:r>
          </a:p>
        </p:txBody>
      </p:sp>
      <p:sp>
        <p:nvSpPr>
          <p:cNvPr id="7" name="Прямоугольник 6"/>
          <p:cNvSpPr/>
          <p:nvPr/>
        </p:nvSpPr>
        <p:spPr>
          <a:xfrm>
            <a:off x="5438089" y="6619283"/>
            <a:ext cx="6096000" cy="261610"/>
          </a:xfrm>
          <a:prstGeom prst="rect">
            <a:avLst/>
          </a:prstGeom>
        </p:spPr>
        <p:txBody>
          <a:bodyPr>
            <a:spAutoFit/>
          </a:bodyPr>
          <a:lstStyle/>
          <a:p>
            <a:r>
              <a:rPr lang="ru-RU" sz="1100" dirty="0"/>
              <a:t>https://</a:t>
            </a:r>
            <a:r>
              <a:rPr lang="ru-RU" sz="900" dirty="0"/>
              <a:t>readmedium.com/n-beats-time-series-forecasting-with-neural-basis-expansion-af09ea39f538</a:t>
            </a:r>
            <a:endParaRPr lang="ru-RU" sz="1100" dirty="0"/>
          </a:p>
        </p:txBody>
      </p:sp>
      <p:pic>
        <p:nvPicPr>
          <p:cNvPr id="5" name="Рисунок 4"/>
          <p:cNvPicPr>
            <a:picLocks noChangeAspect="1"/>
          </p:cNvPicPr>
          <p:nvPr/>
        </p:nvPicPr>
        <p:blipFill>
          <a:blip r:embed="rId2"/>
          <a:stretch>
            <a:fillRect/>
          </a:stretch>
        </p:blipFill>
        <p:spPr>
          <a:xfrm>
            <a:off x="3630759" y="674099"/>
            <a:ext cx="8448860" cy="5945184"/>
          </a:xfrm>
          <a:prstGeom prst="rect">
            <a:avLst/>
          </a:prstGeom>
        </p:spPr>
      </p:pic>
    </p:spTree>
    <p:extLst>
      <p:ext uri="{BB962C8B-B14F-4D97-AF65-F5344CB8AC3E}">
        <p14:creationId xmlns:p14="http://schemas.microsoft.com/office/powerpoint/2010/main" val="2059973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2957" y="245746"/>
            <a:ext cx="12173503" cy="502074"/>
          </a:xfrm>
        </p:spPr>
        <p:txBody>
          <a:bodyPr>
            <a:normAutofit fontScale="90000"/>
          </a:bodyPr>
          <a:lstStyle/>
          <a:p>
            <a:pPr algn="ctr"/>
            <a:r>
              <a:rPr lang="en-US" b="1" dirty="0"/>
              <a:t>N-</a:t>
            </a:r>
            <a:r>
              <a:rPr lang="en-US" b="1" dirty="0" err="1"/>
              <a:t>HiTS</a:t>
            </a:r>
            <a:r>
              <a:rPr lang="ru-RU" b="1" dirty="0"/>
              <a:t> </a:t>
            </a:r>
            <a:r>
              <a:rPr lang="en-US" dirty="0"/>
              <a:t>Neural Hierarchical Interpolation for Time </a:t>
            </a:r>
            <a:r>
              <a:rPr lang="en-US" dirty="0" err="1"/>
              <a:t>Serie</a:t>
            </a:r>
            <a:endParaRPr lang="ru-RU" b="1" dirty="0"/>
          </a:p>
        </p:txBody>
      </p:sp>
      <p:sp>
        <p:nvSpPr>
          <p:cNvPr id="4" name="AutoShape 2" descr="https://miro.medium.com/v2/resize:fit:604/1*Tvog-eDemXlZbcNQNrvfSw.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3176581" y="6577589"/>
            <a:ext cx="2109873" cy="261610"/>
          </a:xfrm>
          <a:prstGeom prst="rect">
            <a:avLst/>
          </a:prstGeom>
        </p:spPr>
        <p:txBody>
          <a:bodyPr wrap="none">
            <a:spAutoFit/>
          </a:bodyPr>
          <a:lstStyle/>
          <a:p>
            <a:r>
              <a:rPr lang="en-US" sz="1100" dirty="0"/>
              <a:t>https://arxiv.org/pdf/2201.12886</a:t>
            </a:r>
            <a:endParaRPr lang="ru-RU" sz="1100" dirty="0"/>
          </a:p>
        </p:txBody>
      </p:sp>
      <p:sp>
        <p:nvSpPr>
          <p:cNvPr id="3" name="Объект 2"/>
          <p:cNvSpPr>
            <a:spLocks noGrp="1"/>
          </p:cNvSpPr>
          <p:nvPr>
            <p:ph idx="1"/>
          </p:nvPr>
        </p:nvSpPr>
        <p:spPr>
          <a:xfrm>
            <a:off x="155575" y="726633"/>
            <a:ext cx="11676441" cy="1465207"/>
          </a:xfrm>
        </p:spPr>
        <p:txBody>
          <a:bodyPr>
            <a:normAutofit/>
          </a:bodyPr>
          <a:lstStyle/>
          <a:p>
            <a:pPr marL="0" indent="0" algn="just">
              <a:lnSpc>
                <a:spcPct val="100000"/>
              </a:lnSpc>
              <a:spcBef>
                <a:spcPts val="600"/>
              </a:spcBef>
              <a:buNone/>
            </a:pPr>
            <a:r>
              <a:rPr lang="ru-RU" sz="2400" b="1" dirty="0"/>
              <a:t>Идея: </a:t>
            </a:r>
            <a:r>
              <a:rPr lang="ru-RU" sz="2400" dirty="0"/>
              <a:t>Вместо задания компонент полиномом и рядом Фурье (фактически вместо будущих </a:t>
            </a:r>
            <a:r>
              <a:rPr lang="ru-RU" sz="2400" dirty="0" err="1"/>
              <a:t>ковариатов</a:t>
            </a:r>
            <a:r>
              <a:rPr lang="ru-RU" sz="2400" dirty="0"/>
              <a:t> - экзогенные переменных) зададим каждый стек шагом выборки.</a:t>
            </a:r>
          </a:p>
          <a:p>
            <a:pPr marL="0" indent="0" algn="just">
              <a:lnSpc>
                <a:spcPct val="100000"/>
              </a:lnSpc>
              <a:spcBef>
                <a:spcPts val="600"/>
              </a:spcBef>
              <a:buNone/>
            </a:pPr>
            <a:r>
              <a:rPr lang="ru-RU" sz="2400" b="1" dirty="0"/>
              <a:t>Гипотеза</a:t>
            </a:r>
            <a:r>
              <a:rPr lang="ru-RU" sz="2400" dirty="0"/>
              <a:t>: Будем использовать </a:t>
            </a:r>
            <a:r>
              <a:rPr lang="en-US" sz="2400" dirty="0" err="1"/>
              <a:t>maxpool</a:t>
            </a:r>
            <a:r>
              <a:rPr lang="en-US" sz="2400" dirty="0"/>
              <a:t> </a:t>
            </a:r>
            <a:r>
              <a:rPr lang="ru-RU" sz="2400" dirty="0"/>
              <a:t>для каждого стека прореживая ряд.</a:t>
            </a:r>
          </a:p>
        </p:txBody>
      </p:sp>
      <p:sp>
        <p:nvSpPr>
          <p:cNvPr id="7" name="Прямоугольник 6"/>
          <p:cNvSpPr/>
          <p:nvPr/>
        </p:nvSpPr>
        <p:spPr>
          <a:xfrm>
            <a:off x="5286454" y="6577488"/>
            <a:ext cx="6096000" cy="261610"/>
          </a:xfrm>
          <a:prstGeom prst="rect">
            <a:avLst/>
          </a:prstGeom>
        </p:spPr>
        <p:txBody>
          <a:bodyPr>
            <a:spAutoFit/>
          </a:bodyPr>
          <a:lstStyle/>
          <a:p>
            <a:r>
              <a:rPr lang="ru-RU" sz="1100" dirty="0"/>
              <a:t>https://tijsvandervelden.medium.com/nhits-interpretable-deep-learning-ts-forecasting-773a8867c795</a:t>
            </a:r>
          </a:p>
        </p:txBody>
      </p:sp>
      <p:pic>
        <p:nvPicPr>
          <p:cNvPr id="9" name="Рисунок 8"/>
          <p:cNvPicPr>
            <a:picLocks noChangeAspect="1"/>
          </p:cNvPicPr>
          <p:nvPr/>
        </p:nvPicPr>
        <p:blipFill rotWithShape="1">
          <a:blip r:embed="rId2"/>
          <a:srcRect l="-1" r="22709"/>
          <a:stretch/>
        </p:blipFill>
        <p:spPr>
          <a:xfrm>
            <a:off x="4935922" y="1891773"/>
            <a:ext cx="6797063" cy="4662581"/>
          </a:xfrm>
          <a:prstGeom prst="rect">
            <a:avLst/>
          </a:prstGeom>
        </p:spPr>
      </p:pic>
      <p:sp>
        <p:nvSpPr>
          <p:cNvPr id="14" name="Объект 2"/>
          <p:cNvSpPr txBox="1">
            <a:spLocks/>
          </p:cNvSpPr>
          <p:nvPr/>
        </p:nvSpPr>
        <p:spPr>
          <a:xfrm>
            <a:off x="77003" y="2043191"/>
            <a:ext cx="4323026" cy="41675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9700" indent="-139700">
              <a:lnSpc>
                <a:spcPct val="100000"/>
              </a:lnSpc>
              <a:spcBef>
                <a:spcPts val="300"/>
              </a:spcBef>
            </a:pPr>
            <a:endParaRPr lang="ru-RU" sz="2100" dirty="0"/>
          </a:p>
        </p:txBody>
      </p:sp>
      <p:sp>
        <p:nvSpPr>
          <p:cNvPr id="5" name="Прямоугольник 4"/>
          <p:cNvSpPr/>
          <p:nvPr/>
        </p:nvSpPr>
        <p:spPr>
          <a:xfrm>
            <a:off x="77003" y="6531321"/>
            <a:ext cx="3222421" cy="307777"/>
          </a:xfrm>
          <a:prstGeom prst="rect">
            <a:avLst/>
          </a:prstGeom>
        </p:spPr>
        <p:txBody>
          <a:bodyPr wrap="none">
            <a:spAutoFit/>
          </a:bodyPr>
          <a:lstStyle/>
          <a:p>
            <a:r>
              <a:rPr lang="ru-RU" sz="1200" dirty="0"/>
              <a:t>https://www.signalpop.com/2024/05/29/n-hits</a:t>
            </a:r>
            <a:r>
              <a:rPr lang="ru-RU" sz="1400" dirty="0"/>
              <a:t>/</a:t>
            </a:r>
          </a:p>
        </p:txBody>
      </p:sp>
      <p:sp>
        <p:nvSpPr>
          <p:cNvPr id="6" name="Прямоугольник 5"/>
          <p:cNvSpPr/>
          <p:nvPr/>
        </p:nvSpPr>
        <p:spPr>
          <a:xfrm>
            <a:off x="71318" y="2359743"/>
            <a:ext cx="4589171" cy="3370153"/>
          </a:xfrm>
          <a:prstGeom prst="rect">
            <a:avLst/>
          </a:prstGeom>
        </p:spPr>
        <p:txBody>
          <a:bodyPr wrap="square">
            <a:spAutoFit/>
          </a:bodyPr>
          <a:lstStyle/>
          <a:p>
            <a:pPr>
              <a:spcBef>
                <a:spcPts val="600"/>
              </a:spcBef>
            </a:pPr>
            <a:r>
              <a:rPr lang="ru-RU" sz="2000" dirty="0"/>
              <a:t>Например: Предполагаем почасовые прогнозы на следующую неделю.</a:t>
            </a:r>
          </a:p>
          <a:p>
            <a:pPr>
              <a:spcBef>
                <a:spcPts val="600"/>
              </a:spcBef>
            </a:pPr>
            <a:r>
              <a:rPr lang="ru-RU" sz="2000" dirty="0"/>
              <a:t>Стек 1 Тренд данных</a:t>
            </a:r>
          </a:p>
          <a:p>
            <a:pPr>
              <a:spcBef>
                <a:spcPts val="600"/>
              </a:spcBef>
            </a:pPr>
            <a:r>
              <a:rPr lang="ru-RU" sz="2000" dirty="0"/>
              <a:t>Стек 2 данные каждые 24 часа. </a:t>
            </a:r>
          </a:p>
          <a:p>
            <a:pPr>
              <a:spcBef>
                <a:spcPts val="600"/>
              </a:spcBef>
            </a:pPr>
            <a:r>
              <a:rPr lang="ru-RU" sz="2000" dirty="0"/>
              <a:t>Стек 3 данные каждые 12 часов, </a:t>
            </a:r>
          </a:p>
          <a:p>
            <a:pPr>
              <a:spcBef>
                <a:spcPts val="600"/>
              </a:spcBef>
            </a:pPr>
            <a:r>
              <a:rPr lang="ru-RU" sz="2000" dirty="0"/>
              <a:t>Стек 4 почасовые данные. </a:t>
            </a:r>
          </a:p>
          <a:p>
            <a:pPr>
              <a:spcBef>
                <a:spcPts val="600"/>
              </a:spcBef>
            </a:pPr>
            <a:endParaRPr lang="ru-RU" sz="2000" dirty="0"/>
          </a:p>
          <a:p>
            <a:pPr>
              <a:spcBef>
                <a:spcPts val="600"/>
              </a:spcBef>
            </a:pPr>
            <a:r>
              <a:rPr lang="ru-RU" sz="2000" dirty="0"/>
              <a:t>То есть стеки связаны иерархически</a:t>
            </a:r>
          </a:p>
          <a:p>
            <a:pPr>
              <a:spcBef>
                <a:spcPts val="600"/>
              </a:spcBef>
            </a:pPr>
            <a:endParaRPr lang="ru-RU" dirty="0"/>
          </a:p>
        </p:txBody>
      </p:sp>
    </p:spTree>
    <p:extLst>
      <p:ext uri="{BB962C8B-B14F-4D97-AF65-F5344CB8AC3E}">
        <p14:creationId xmlns:p14="http://schemas.microsoft.com/office/powerpoint/2010/main" val="1461765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0935" y="276107"/>
            <a:ext cx="11073714" cy="502074"/>
          </a:xfrm>
        </p:spPr>
        <p:txBody>
          <a:bodyPr>
            <a:normAutofit fontScale="90000"/>
          </a:bodyPr>
          <a:lstStyle/>
          <a:p>
            <a:pPr algn="ctr"/>
            <a:r>
              <a:rPr lang="en-US" b="1" dirty="0"/>
              <a:t>N-</a:t>
            </a:r>
            <a:r>
              <a:rPr lang="en-US" b="1" dirty="0" err="1"/>
              <a:t>HiTS</a:t>
            </a:r>
            <a:r>
              <a:rPr lang="ru-RU" b="1" dirty="0"/>
              <a:t>. Стеки</a:t>
            </a:r>
          </a:p>
        </p:txBody>
      </p:sp>
      <p:sp>
        <p:nvSpPr>
          <p:cNvPr id="4" name="AutoShape 2" descr="https://miro.medium.com/v2/resize:fit:604/1*Tvog-eDemXlZbcNQNrvfSw.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5649438" y="6464098"/>
            <a:ext cx="2109873" cy="261610"/>
          </a:xfrm>
          <a:prstGeom prst="rect">
            <a:avLst/>
          </a:prstGeom>
        </p:spPr>
        <p:txBody>
          <a:bodyPr wrap="none">
            <a:spAutoFit/>
          </a:bodyPr>
          <a:lstStyle/>
          <a:p>
            <a:r>
              <a:rPr lang="en-US" sz="1100" dirty="0"/>
              <a:t>https://arxiv.org/pdf/2201.12886</a:t>
            </a:r>
            <a:endParaRPr lang="ru-RU" sz="1100" dirty="0"/>
          </a:p>
        </p:txBody>
      </p:sp>
      <p:sp>
        <p:nvSpPr>
          <p:cNvPr id="7" name="Прямоугольник 6"/>
          <p:cNvSpPr/>
          <p:nvPr/>
        </p:nvSpPr>
        <p:spPr>
          <a:xfrm>
            <a:off x="2862590" y="6646364"/>
            <a:ext cx="6096000" cy="261610"/>
          </a:xfrm>
          <a:prstGeom prst="rect">
            <a:avLst/>
          </a:prstGeom>
        </p:spPr>
        <p:txBody>
          <a:bodyPr>
            <a:spAutoFit/>
          </a:bodyPr>
          <a:lstStyle/>
          <a:p>
            <a:r>
              <a:rPr lang="ru-RU" sz="1100" dirty="0"/>
              <a:t>https://tijsvandervelden.medium.com/nhits-interpretable-deep-learning-ts-forecasting-773a8867c795</a:t>
            </a:r>
          </a:p>
        </p:txBody>
      </p:sp>
      <p:sp>
        <p:nvSpPr>
          <p:cNvPr id="14" name="Объект 2"/>
          <p:cNvSpPr txBox="1">
            <a:spLocks/>
          </p:cNvSpPr>
          <p:nvPr/>
        </p:nvSpPr>
        <p:spPr>
          <a:xfrm>
            <a:off x="77003" y="2043191"/>
            <a:ext cx="4323026" cy="41675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9700" indent="-139700">
              <a:lnSpc>
                <a:spcPct val="100000"/>
              </a:lnSpc>
              <a:spcBef>
                <a:spcPts val="300"/>
              </a:spcBef>
            </a:pPr>
            <a:endParaRPr lang="ru-RU" sz="2100" dirty="0"/>
          </a:p>
        </p:txBody>
      </p:sp>
      <p:sp>
        <p:nvSpPr>
          <p:cNvPr id="5" name="Прямоугольник 4"/>
          <p:cNvSpPr/>
          <p:nvPr/>
        </p:nvSpPr>
        <p:spPr>
          <a:xfrm>
            <a:off x="-17633" y="6598128"/>
            <a:ext cx="2970685" cy="276999"/>
          </a:xfrm>
          <a:prstGeom prst="rect">
            <a:avLst/>
          </a:prstGeom>
        </p:spPr>
        <p:txBody>
          <a:bodyPr wrap="none">
            <a:spAutoFit/>
          </a:bodyPr>
          <a:lstStyle/>
          <a:p>
            <a:r>
              <a:rPr lang="ru-RU" sz="1100" dirty="0"/>
              <a:t>https://www.signalpop.com/2024/05/29/n-hits</a:t>
            </a:r>
            <a:r>
              <a:rPr lang="ru-RU" sz="1200" dirty="0"/>
              <a:t>/</a:t>
            </a:r>
          </a:p>
        </p:txBody>
      </p:sp>
      <p:pic>
        <p:nvPicPr>
          <p:cNvPr id="11" name="Picture 2" descr="https://substackcdn.com/image/fetch/$s_!-KX6!,w_1456,c_limit,f_auto,q_auto:good,fl_progressive:steep/https%3A%2F%2Fsubstack-post-media.s3.amazonaws.com%2Fpublic%2Fimages%2Fc7587649-d867-46d6-9fde-510144213533_661x39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79427"/>
            <a:ext cx="6203454" cy="3744597"/>
          </a:xfrm>
          <a:prstGeom prst="rect">
            <a:avLst/>
          </a:prstGeom>
          <a:noFill/>
          <a:extLst>
            <a:ext uri="{909E8E84-426E-40DD-AFC4-6F175D3DCCD1}">
              <a14:hiddenFill xmlns:a14="http://schemas.microsoft.com/office/drawing/2010/main">
                <a:solidFill>
                  <a:srgbClr val="FFFFFF"/>
                </a:solidFill>
              </a14:hiddenFill>
            </a:ext>
          </a:extLst>
        </p:spPr>
      </p:pic>
      <p:sp>
        <p:nvSpPr>
          <p:cNvPr id="12" name="Прямоугольник 11"/>
          <p:cNvSpPr/>
          <p:nvPr/>
        </p:nvSpPr>
        <p:spPr>
          <a:xfrm>
            <a:off x="300625" y="6450948"/>
            <a:ext cx="6096000" cy="276999"/>
          </a:xfrm>
          <a:prstGeom prst="rect">
            <a:avLst/>
          </a:prstGeom>
        </p:spPr>
        <p:txBody>
          <a:bodyPr>
            <a:spAutoFit/>
          </a:bodyPr>
          <a:lstStyle/>
          <a:p>
            <a:r>
              <a:rPr lang="en-US" sz="1200" dirty="0"/>
              <a:t>https://aihorizonforecast.substack.com/p/forecasting-with-nhits-uniting-deep</a:t>
            </a:r>
            <a:endParaRPr lang="ru-RU" sz="1200" dirty="0"/>
          </a:p>
        </p:txBody>
      </p:sp>
      <p:sp>
        <p:nvSpPr>
          <p:cNvPr id="10" name="Объект 9"/>
          <p:cNvSpPr>
            <a:spLocks noGrp="1"/>
          </p:cNvSpPr>
          <p:nvPr>
            <p:ph idx="1"/>
          </p:nvPr>
        </p:nvSpPr>
        <p:spPr>
          <a:xfrm>
            <a:off x="217639" y="735223"/>
            <a:ext cx="7756322" cy="1621500"/>
          </a:xfrm>
        </p:spPr>
        <p:txBody>
          <a:bodyPr>
            <a:normAutofit fontScale="77500" lnSpcReduction="20000"/>
          </a:bodyPr>
          <a:lstStyle/>
          <a:p>
            <a:pPr marL="0" indent="0">
              <a:spcBef>
                <a:spcPts val="600"/>
              </a:spcBef>
              <a:buNone/>
            </a:pPr>
            <a:r>
              <a:rPr lang="ru-RU" dirty="0"/>
              <a:t>Напр.: почасовые прогнозы на следующую неделю.</a:t>
            </a:r>
          </a:p>
          <a:p>
            <a:pPr>
              <a:spcBef>
                <a:spcPts val="600"/>
              </a:spcBef>
            </a:pPr>
            <a:r>
              <a:rPr lang="ru-RU" dirty="0"/>
              <a:t>Стек 1 Тренд данных</a:t>
            </a:r>
          </a:p>
          <a:p>
            <a:pPr>
              <a:spcBef>
                <a:spcPts val="600"/>
              </a:spcBef>
            </a:pPr>
            <a:r>
              <a:rPr lang="ru-RU" dirty="0"/>
              <a:t>Стек 2 данные каждые 24 часа. </a:t>
            </a:r>
          </a:p>
          <a:p>
            <a:pPr>
              <a:spcBef>
                <a:spcPts val="600"/>
              </a:spcBef>
            </a:pPr>
            <a:r>
              <a:rPr lang="ru-RU" dirty="0"/>
              <a:t>Стек 3 данные каждые 12 часов, </a:t>
            </a:r>
          </a:p>
          <a:p>
            <a:pPr>
              <a:spcBef>
                <a:spcPts val="600"/>
              </a:spcBef>
            </a:pPr>
            <a:r>
              <a:rPr lang="ru-RU" dirty="0"/>
              <a:t>Стек 4 почасовые данные. </a:t>
            </a:r>
          </a:p>
          <a:p>
            <a:endParaRPr lang="ru-RU" dirty="0"/>
          </a:p>
        </p:txBody>
      </p:sp>
      <p:sp>
        <p:nvSpPr>
          <p:cNvPr id="13" name="Прямоугольник 12"/>
          <p:cNvSpPr/>
          <p:nvPr/>
        </p:nvSpPr>
        <p:spPr>
          <a:xfrm>
            <a:off x="4208676" y="1929801"/>
            <a:ext cx="3727495" cy="369332"/>
          </a:xfrm>
          <a:prstGeom prst="rect">
            <a:avLst/>
          </a:prstGeom>
        </p:spPr>
        <p:txBody>
          <a:bodyPr wrap="none">
            <a:spAutoFit/>
          </a:bodyPr>
          <a:lstStyle/>
          <a:p>
            <a:pPr>
              <a:spcBef>
                <a:spcPts val="600"/>
              </a:spcBef>
            </a:pPr>
            <a:r>
              <a:rPr lang="ru-RU" dirty="0"/>
              <a:t>То есть стеки связаны иерархически</a:t>
            </a:r>
          </a:p>
        </p:txBody>
      </p:sp>
      <p:pic>
        <p:nvPicPr>
          <p:cNvPr id="15" name="Рисунок 14"/>
          <p:cNvPicPr>
            <a:picLocks noChangeAspect="1"/>
          </p:cNvPicPr>
          <p:nvPr/>
        </p:nvPicPr>
        <p:blipFill>
          <a:blip r:embed="rId3"/>
          <a:stretch>
            <a:fillRect/>
          </a:stretch>
        </p:blipFill>
        <p:spPr>
          <a:xfrm>
            <a:off x="7744818" y="101544"/>
            <a:ext cx="4430014" cy="6737554"/>
          </a:xfrm>
          <a:prstGeom prst="rect">
            <a:avLst/>
          </a:prstGeom>
        </p:spPr>
      </p:pic>
      <p:sp>
        <p:nvSpPr>
          <p:cNvPr id="16" name="Прямоугольник 15"/>
          <p:cNvSpPr/>
          <p:nvPr/>
        </p:nvSpPr>
        <p:spPr>
          <a:xfrm>
            <a:off x="77003" y="5978533"/>
            <a:ext cx="8101781" cy="584775"/>
          </a:xfrm>
          <a:prstGeom prst="rect">
            <a:avLst/>
          </a:prstGeom>
        </p:spPr>
        <p:txBody>
          <a:bodyPr wrap="square">
            <a:spAutoFit/>
          </a:bodyPr>
          <a:lstStyle/>
          <a:p>
            <a:r>
              <a:rPr lang="ru-RU" sz="1600" dirty="0">
                <a:latin typeface="system-ui"/>
              </a:rPr>
              <a:t>гибкость в настройке стеков позволяет адаптировать модель под разные типы данных — от энергопотребления до трафика веб-сайтов. </a:t>
            </a:r>
            <a:endParaRPr lang="ru-RU" sz="1600" dirty="0"/>
          </a:p>
        </p:txBody>
      </p:sp>
    </p:spTree>
    <p:extLst>
      <p:ext uri="{BB962C8B-B14F-4D97-AF65-F5344CB8AC3E}">
        <p14:creationId xmlns:p14="http://schemas.microsoft.com/office/powerpoint/2010/main" val="4013144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65972" y="102372"/>
            <a:ext cx="11484077" cy="657430"/>
          </a:xfrm>
        </p:spPr>
        <p:txBody>
          <a:bodyPr>
            <a:normAutofit fontScale="90000"/>
          </a:bodyPr>
          <a:lstStyle/>
          <a:p>
            <a:pPr algn="ctr"/>
            <a:r>
              <a:rPr lang="en-US" b="1" dirty="0"/>
              <a:t>N-</a:t>
            </a:r>
            <a:r>
              <a:rPr lang="en-US" b="1" dirty="0" err="1"/>
              <a:t>HiTS</a:t>
            </a:r>
            <a:r>
              <a:rPr lang="ru-RU" b="1" dirty="0"/>
              <a:t> </a:t>
            </a:r>
            <a:r>
              <a:rPr lang="en-US" b="1" dirty="0" err="1"/>
              <a:t>maxpooing</a:t>
            </a:r>
            <a:endParaRPr lang="ru-RU" dirty="0"/>
          </a:p>
        </p:txBody>
      </p:sp>
      <p:sp>
        <p:nvSpPr>
          <p:cNvPr id="3" name="Объект 2"/>
          <p:cNvSpPr>
            <a:spLocks noGrp="1"/>
          </p:cNvSpPr>
          <p:nvPr>
            <p:ph idx="1"/>
          </p:nvPr>
        </p:nvSpPr>
        <p:spPr>
          <a:xfrm>
            <a:off x="141950" y="632416"/>
            <a:ext cx="7959215" cy="2654710"/>
          </a:xfrm>
        </p:spPr>
        <p:txBody>
          <a:bodyPr>
            <a:normAutofit/>
          </a:bodyPr>
          <a:lstStyle/>
          <a:p>
            <a:pPr marL="139700" indent="-139700">
              <a:lnSpc>
                <a:spcPct val="100000"/>
              </a:lnSpc>
              <a:spcBef>
                <a:spcPts val="300"/>
              </a:spcBef>
            </a:pPr>
            <a:r>
              <a:rPr lang="ru-RU" sz="2000" dirty="0"/>
              <a:t>Шаг меняется через прореживание – </a:t>
            </a:r>
            <a:r>
              <a:rPr lang="en-US" sz="2000" dirty="0" err="1"/>
              <a:t>Downsampling</a:t>
            </a:r>
            <a:r>
              <a:rPr lang="ru-RU" sz="2000" dirty="0"/>
              <a:t> + интерполяция</a:t>
            </a:r>
            <a:endParaRPr lang="en-US" sz="2000" dirty="0"/>
          </a:p>
          <a:p>
            <a:pPr marL="139700" indent="-139700">
              <a:lnSpc>
                <a:spcPct val="100000"/>
              </a:lnSpc>
              <a:spcBef>
                <a:spcPts val="300"/>
              </a:spcBef>
            </a:pPr>
            <a:r>
              <a:rPr lang="ru-RU" sz="2000" dirty="0"/>
              <a:t>шаг большой –тренд, </a:t>
            </a:r>
          </a:p>
          <a:p>
            <a:pPr marL="139700" indent="-139700">
              <a:lnSpc>
                <a:spcPct val="100000"/>
              </a:lnSpc>
              <a:spcBef>
                <a:spcPts val="300"/>
              </a:spcBef>
            </a:pPr>
            <a:r>
              <a:rPr lang="ru-RU" sz="2000" dirty="0"/>
              <a:t>шаг минимальный – выберем самый быстроменяющийся процесс </a:t>
            </a:r>
          </a:p>
          <a:p>
            <a:pPr marL="139700" indent="-139700">
              <a:lnSpc>
                <a:spcPct val="100000"/>
              </a:lnSpc>
              <a:spcBef>
                <a:spcPts val="300"/>
              </a:spcBef>
            </a:pPr>
            <a:r>
              <a:rPr lang="ru-RU" sz="2000" dirty="0"/>
              <a:t>Вычитая части стека от тренда к быстрому процессу будем фильтровать информацию стека – получим нужную интерпретируемость при нужном числе стеков.</a:t>
            </a:r>
          </a:p>
          <a:p>
            <a:endParaRPr lang="ru-RU" dirty="0"/>
          </a:p>
        </p:txBody>
      </p:sp>
      <p:pic>
        <p:nvPicPr>
          <p:cNvPr id="1028" name="Picture 4" descr="https://cdn-images-1.readmedium.com/v2/resize:fit:800/1*AWy-E9bjrqXJHFDuat7hB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634" y="2673644"/>
            <a:ext cx="5624048" cy="4203976"/>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5614219" y="6616009"/>
            <a:ext cx="7079226" cy="261610"/>
          </a:xfrm>
          <a:prstGeom prst="rect">
            <a:avLst/>
          </a:prstGeom>
        </p:spPr>
        <p:txBody>
          <a:bodyPr wrap="square">
            <a:spAutoFit/>
          </a:bodyPr>
          <a:lstStyle/>
          <a:p>
            <a:r>
              <a:rPr lang="ru-RU" sz="1100" dirty="0"/>
              <a:t>https://readmedium.com/all-about-n-hits-the-latest-breakthrough-in-time-series-forecasting-a8ddcb27b0d5</a:t>
            </a:r>
          </a:p>
        </p:txBody>
      </p:sp>
      <p:pic>
        <p:nvPicPr>
          <p:cNvPr id="1030" name="Picture 6" descr="https://www.signalpop.com/wp-content/uploads/2024/05/5_nhits_hydro_mode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6143" y="132046"/>
            <a:ext cx="4345857" cy="6483963"/>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5722374" y="6462121"/>
            <a:ext cx="6096000" cy="276999"/>
          </a:xfrm>
          <a:prstGeom prst="rect">
            <a:avLst/>
          </a:prstGeom>
        </p:spPr>
        <p:txBody>
          <a:bodyPr>
            <a:spAutoFit/>
          </a:bodyPr>
          <a:lstStyle/>
          <a:p>
            <a:r>
              <a:rPr lang="ru-RU" sz="1200" dirty="0"/>
              <a:t>https://aihorizonforecast.substack.com/p/forecasting-with-nhits-uniting-deep</a:t>
            </a:r>
          </a:p>
        </p:txBody>
      </p:sp>
    </p:spTree>
    <p:extLst>
      <p:ext uri="{BB962C8B-B14F-4D97-AF65-F5344CB8AC3E}">
        <p14:creationId xmlns:p14="http://schemas.microsoft.com/office/powerpoint/2010/main" val="3041363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86001" y="136525"/>
            <a:ext cx="11077575" cy="777875"/>
          </a:xfrm>
        </p:spPr>
        <p:txBody>
          <a:bodyPr/>
          <a:lstStyle/>
          <a:p>
            <a:r>
              <a:rPr lang="ru-RU" b="1" dirty="0"/>
              <a:t>Сравнение подходов</a:t>
            </a:r>
          </a:p>
        </p:txBody>
      </p:sp>
      <p:graphicFrame>
        <p:nvGraphicFramePr>
          <p:cNvPr id="7" name="Объект 6"/>
          <p:cNvGraphicFramePr>
            <a:graphicFrameLocks noGrp="1"/>
          </p:cNvGraphicFramePr>
          <p:nvPr>
            <p:ph idx="1"/>
            <p:extLst>
              <p:ext uri="{D42A27DB-BD31-4B8C-83A1-F6EECF244321}">
                <p14:modId xmlns:p14="http://schemas.microsoft.com/office/powerpoint/2010/main" val="1941471543"/>
              </p:ext>
            </p:extLst>
          </p:nvPr>
        </p:nvGraphicFramePr>
        <p:xfrm>
          <a:off x="276702" y="914400"/>
          <a:ext cx="11186874" cy="5595262"/>
        </p:xfrm>
        <a:graphic>
          <a:graphicData uri="http://schemas.openxmlformats.org/drawingml/2006/table">
            <a:tbl>
              <a:tblPr/>
              <a:tblGrid>
                <a:gridCol w="2599848">
                  <a:extLst>
                    <a:ext uri="{9D8B030D-6E8A-4147-A177-3AD203B41FA5}">
                      <a16:colId xmlns:a16="http://schemas.microsoft.com/office/drawing/2014/main" val="2543752971"/>
                    </a:ext>
                  </a:extLst>
                </a:gridCol>
                <a:gridCol w="1885950">
                  <a:extLst>
                    <a:ext uri="{9D8B030D-6E8A-4147-A177-3AD203B41FA5}">
                      <a16:colId xmlns:a16="http://schemas.microsoft.com/office/drawing/2014/main" val="1314498091"/>
                    </a:ext>
                  </a:extLst>
                </a:gridCol>
                <a:gridCol w="1514475">
                  <a:extLst>
                    <a:ext uri="{9D8B030D-6E8A-4147-A177-3AD203B41FA5}">
                      <a16:colId xmlns:a16="http://schemas.microsoft.com/office/drawing/2014/main" val="3776576183"/>
                    </a:ext>
                  </a:extLst>
                </a:gridCol>
                <a:gridCol w="1495425">
                  <a:extLst>
                    <a:ext uri="{9D8B030D-6E8A-4147-A177-3AD203B41FA5}">
                      <a16:colId xmlns:a16="http://schemas.microsoft.com/office/drawing/2014/main" val="1136818659"/>
                    </a:ext>
                  </a:extLst>
                </a:gridCol>
                <a:gridCol w="1962150">
                  <a:extLst>
                    <a:ext uri="{9D8B030D-6E8A-4147-A177-3AD203B41FA5}">
                      <a16:colId xmlns:a16="http://schemas.microsoft.com/office/drawing/2014/main" val="2654860631"/>
                    </a:ext>
                  </a:extLst>
                </a:gridCol>
                <a:gridCol w="1729026">
                  <a:extLst>
                    <a:ext uri="{9D8B030D-6E8A-4147-A177-3AD203B41FA5}">
                      <a16:colId xmlns:a16="http://schemas.microsoft.com/office/drawing/2014/main" val="86338239"/>
                    </a:ext>
                  </a:extLst>
                </a:gridCol>
              </a:tblGrid>
              <a:tr h="214308">
                <a:tc>
                  <a:txBody>
                    <a:bodyPr/>
                    <a:lstStyle/>
                    <a:p>
                      <a:pPr algn="ctr" fontAlgn="b"/>
                      <a:r>
                        <a:rPr lang="ru-RU" sz="2000" b="0" i="0" u="none" strike="noStrike" dirty="0">
                          <a:solidFill>
                            <a:srgbClr val="000000"/>
                          </a:solidFill>
                          <a:effectLst/>
                          <a:latin typeface="Calibri" panose="020F0502020204030204" pitchFamily="34" charset="0"/>
                        </a:rPr>
                        <a:t>Критерий</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SARIMA</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err="1">
                          <a:solidFill>
                            <a:srgbClr val="000000"/>
                          </a:solidFill>
                          <a:effectLst/>
                          <a:latin typeface="Calibri" panose="020F0502020204030204" pitchFamily="34" charset="0"/>
                        </a:rPr>
                        <a:t>ARNet</a:t>
                      </a:r>
                      <a:endParaRPr lang="en-US" sz="2000" b="0" i="0" u="none" strike="noStrike" dirty="0">
                        <a:solidFill>
                          <a:srgbClr val="000000"/>
                        </a:solidFill>
                        <a:effectLst/>
                        <a:latin typeface="Calibri" panose="020F0502020204030204" pitchFamily="34" charset="0"/>
                      </a:endParaRP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N-BEATS</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N-HiTS</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a:solidFill>
                            <a:srgbClr val="000000"/>
                          </a:solidFill>
                          <a:effectLst/>
                          <a:latin typeface="Calibri" panose="020F0502020204030204" pitchFamily="34" charset="0"/>
                        </a:rPr>
                        <a:t>DLinear</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259008"/>
                  </a:ext>
                </a:extLst>
              </a:tr>
              <a:tr h="235396">
                <a:tc>
                  <a:txBody>
                    <a:bodyPr/>
                    <a:lstStyle/>
                    <a:p>
                      <a:pPr algn="ctr" fontAlgn="b"/>
                      <a:r>
                        <a:rPr lang="ru-RU" sz="2000" b="0" i="0" u="none" strike="noStrike" dirty="0">
                          <a:solidFill>
                            <a:srgbClr val="000000"/>
                          </a:solidFill>
                          <a:effectLst/>
                          <a:latin typeface="Calibri" panose="020F0502020204030204" pitchFamily="34" charset="0"/>
                        </a:rPr>
                        <a:t>Интерпретируемость</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Высокая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низкая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Средняя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Средняя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Средняя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156963"/>
                  </a:ext>
                </a:extLst>
              </a:tr>
              <a:tr h="235396">
                <a:tc>
                  <a:txBody>
                    <a:bodyPr/>
                    <a:lstStyle/>
                    <a:p>
                      <a:pPr algn="ctr" fontAlgn="b"/>
                      <a:r>
                        <a:rPr lang="ru-RU" sz="2000" b="0" i="0" u="none" strike="noStrike" dirty="0">
                          <a:solidFill>
                            <a:srgbClr val="000000"/>
                          </a:solidFill>
                          <a:effectLst/>
                          <a:latin typeface="Calibri" panose="020F0502020204030204" pitchFamily="34" charset="0"/>
                        </a:rPr>
                        <a:t>Требует ручной настройки</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Да (</a:t>
                      </a:r>
                      <a:r>
                        <a:rPr lang="en-US" sz="2000" b="0" i="0" u="none" strike="noStrike" dirty="0" err="1">
                          <a:solidFill>
                            <a:srgbClr val="000000"/>
                          </a:solidFill>
                          <a:effectLst/>
                          <a:latin typeface="Calibri" panose="020F0502020204030204" pitchFamily="34" charset="0"/>
                        </a:rPr>
                        <a:t>p,d,q,P,D,Q</a:t>
                      </a:r>
                      <a:r>
                        <a:rPr lang="en-US" sz="2000" b="0" i="0" u="none" strike="noStrike" dirty="0">
                          <a:solidFill>
                            <a:srgbClr val="000000"/>
                          </a:solidFill>
                          <a:effectLst/>
                          <a:latin typeface="Calibri" panose="020F0502020204030204" pitchFamily="34" charset="0"/>
                        </a:rPr>
                        <a:t>)</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нет</a:t>
                      </a:r>
                      <a:endParaRPr lang="en-US" sz="2000" b="0" i="0" u="none" strike="noStrike" dirty="0">
                        <a:solidFill>
                          <a:srgbClr val="000000"/>
                        </a:solidFill>
                        <a:effectLst/>
                        <a:latin typeface="Calibri" panose="020F0502020204030204" pitchFamily="34" charset="0"/>
                      </a:endParaRP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Нет</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Нет</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Нет</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0793603"/>
                  </a:ext>
                </a:extLst>
              </a:tr>
              <a:tr h="214308">
                <a:tc>
                  <a:txBody>
                    <a:bodyPr/>
                    <a:lstStyle/>
                    <a:p>
                      <a:pPr algn="ctr" fontAlgn="b"/>
                      <a:r>
                        <a:rPr lang="ru-RU" sz="2000" b="0" i="0" u="none" strike="noStrike" dirty="0">
                          <a:solidFill>
                            <a:srgbClr val="000000"/>
                          </a:solidFill>
                          <a:effectLst/>
                          <a:latin typeface="Calibri" panose="020F0502020204030204" pitchFamily="34" charset="0"/>
                        </a:rPr>
                        <a:t>Обучение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Быстрое (</a:t>
                      </a:r>
                      <a:r>
                        <a:rPr lang="en-US" sz="2000" b="0" i="0" u="none" strike="noStrike" dirty="0">
                          <a:solidFill>
                            <a:srgbClr val="000000"/>
                          </a:solidFill>
                          <a:effectLst/>
                          <a:latin typeface="Calibri" panose="020F0502020204030204" pitchFamily="34" charset="0"/>
                        </a:rPr>
                        <a:t>MLE)</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среднее</a:t>
                      </a:r>
                      <a:endParaRPr lang="en-US" sz="2000" b="0" i="0" u="none" strike="noStrike" dirty="0">
                        <a:solidFill>
                          <a:srgbClr val="000000"/>
                        </a:solidFill>
                        <a:effectLst/>
                        <a:latin typeface="Calibri" panose="020F0502020204030204" pitchFamily="34" charset="0"/>
                      </a:endParaRP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a:solidFill>
                            <a:srgbClr val="000000"/>
                          </a:solidFill>
                          <a:effectLst/>
                          <a:latin typeface="Calibri" panose="020F0502020204030204" pitchFamily="34" charset="0"/>
                        </a:rPr>
                        <a:t>Медленное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a:solidFill>
                            <a:srgbClr val="000000"/>
                          </a:solidFill>
                          <a:effectLst/>
                          <a:latin typeface="Calibri" panose="020F0502020204030204" pitchFamily="34" charset="0"/>
                        </a:rPr>
                        <a:t>Среднее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a:solidFill>
                            <a:srgbClr val="000000"/>
                          </a:solidFill>
                          <a:effectLst/>
                          <a:latin typeface="Calibri" panose="020F0502020204030204" pitchFamily="34" charset="0"/>
                        </a:rPr>
                        <a:t>Очень быстрое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5670728"/>
                  </a:ext>
                </a:extLst>
              </a:tr>
              <a:tr h="235396">
                <a:tc>
                  <a:txBody>
                    <a:bodyPr/>
                    <a:lstStyle/>
                    <a:p>
                      <a:pPr algn="ctr" fontAlgn="b"/>
                      <a:r>
                        <a:rPr lang="ru-RU" sz="2000" b="0" i="0" u="none" strike="noStrike" dirty="0">
                          <a:solidFill>
                            <a:srgbClr val="000000"/>
                          </a:solidFill>
                          <a:effectLst/>
                          <a:latin typeface="Calibri" panose="020F0502020204030204" pitchFamily="34" charset="0"/>
                        </a:rPr>
                        <a:t>Масштабируемость</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Плохая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Плохая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Хорошая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Отличная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Отличная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7832083"/>
                  </a:ext>
                </a:extLst>
              </a:tr>
              <a:tr h="235396">
                <a:tc>
                  <a:txBody>
                    <a:bodyPr/>
                    <a:lstStyle/>
                    <a:p>
                      <a:pPr algn="ctr" fontAlgn="b"/>
                      <a:r>
                        <a:rPr lang="ru-RU" sz="2000" b="0" i="0" u="none" strike="noStrike" dirty="0">
                          <a:solidFill>
                            <a:srgbClr val="000000"/>
                          </a:solidFill>
                          <a:effectLst/>
                          <a:latin typeface="Calibri" panose="020F0502020204030204" pitchFamily="34" charset="0"/>
                        </a:rPr>
                        <a:t>Сезонность</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Явная (</a:t>
                      </a:r>
                      <a:r>
                        <a:rPr lang="en-US" sz="2000" b="0" i="0" u="none" strike="noStrike" dirty="0">
                          <a:solidFill>
                            <a:srgbClr val="000000"/>
                          </a:solidFill>
                          <a:effectLst/>
                          <a:latin typeface="Calibri" panose="020F0502020204030204" pitchFamily="34" charset="0"/>
                        </a:rPr>
                        <a:t>S</a:t>
                      </a:r>
                      <a:r>
                        <a:rPr lang="ru-RU" sz="2000" b="0" i="0" u="none" strike="noStrike" dirty="0">
                          <a:solidFill>
                            <a:srgbClr val="000000"/>
                          </a:solidFill>
                          <a:effectLst/>
                          <a:latin typeface="Calibri" panose="020F0502020204030204" pitchFamily="34" charset="0"/>
                        </a:rPr>
                        <a:t>)</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нет</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Через стек</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Через сезонные стеки</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Через декомпозицию</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8311743"/>
                  </a:ext>
                </a:extLst>
              </a:tr>
              <a:tr h="235396">
                <a:tc>
                  <a:txBody>
                    <a:bodyPr/>
                    <a:lstStyle/>
                    <a:p>
                      <a:pPr algn="ctr" fontAlgn="b"/>
                      <a:r>
                        <a:rPr lang="ru-RU" sz="2000" b="0" i="0" u="none" strike="noStrike" dirty="0">
                          <a:solidFill>
                            <a:srgbClr val="000000"/>
                          </a:solidFill>
                          <a:effectLst/>
                          <a:latin typeface="Calibri" panose="020F0502020204030204" pitchFamily="34" charset="0"/>
                        </a:rPr>
                        <a:t>Сложные паттерны</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плохо</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нет</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Средне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Отлично</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Плохо </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3617335"/>
                  </a:ext>
                </a:extLst>
              </a:tr>
              <a:tr h="235396">
                <a:tc>
                  <a:txBody>
                    <a:bodyPr/>
                    <a:lstStyle/>
                    <a:p>
                      <a:pPr algn="ctr" fontAlgn="b"/>
                      <a:r>
                        <a:rPr lang="ru-RU" sz="2000" b="0" i="0" u="none" strike="noStrike" dirty="0">
                          <a:solidFill>
                            <a:srgbClr val="000000"/>
                          </a:solidFill>
                          <a:effectLst/>
                          <a:latin typeface="Calibri" panose="020F0502020204030204" pitchFamily="34" charset="0"/>
                        </a:rPr>
                        <a:t>Анализ стационар.</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важен</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важен</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нет</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a:solidFill>
                            <a:srgbClr val="000000"/>
                          </a:solidFill>
                          <a:effectLst/>
                          <a:latin typeface="Calibri" panose="020F0502020204030204" pitchFamily="34" charset="0"/>
                        </a:rPr>
                        <a:t>нет</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a:solidFill>
                            <a:srgbClr val="000000"/>
                          </a:solidFill>
                          <a:effectLst/>
                          <a:latin typeface="Calibri" panose="020F0502020204030204" pitchFamily="34" charset="0"/>
                        </a:rPr>
                        <a:t>нет</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8567139"/>
                  </a:ext>
                </a:extLst>
              </a:tr>
              <a:tr h="349946">
                <a:tc>
                  <a:txBody>
                    <a:bodyPr/>
                    <a:lstStyle/>
                    <a:p>
                      <a:pPr algn="ctr" fontAlgn="b"/>
                      <a:r>
                        <a:rPr lang="ru-RU" sz="2000" b="0" i="0" u="none" strike="noStrike" dirty="0">
                          <a:solidFill>
                            <a:srgbClr val="000000"/>
                          </a:solidFill>
                          <a:effectLst/>
                          <a:latin typeface="Calibri" panose="020F0502020204030204" pitchFamily="34" charset="0"/>
                        </a:rPr>
                        <a:t>тренд</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дифференцирование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a:solidFill>
                            <a:srgbClr val="000000"/>
                          </a:solidFill>
                          <a:effectLst/>
                          <a:latin typeface="Calibri" panose="020F0502020204030204" pitchFamily="34" charset="0"/>
                        </a:rPr>
                        <a:t>дифференцирование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Через стеки</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Через интерполяцию</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Через </a:t>
                      </a:r>
                      <a:r>
                        <a:rPr lang="en-US" sz="2000" b="0" i="0" u="none" strike="noStrike" dirty="0">
                          <a:solidFill>
                            <a:srgbClr val="000000"/>
                          </a:solidFill>
                          <a:effectLst/>
                          <a:latin typeface="Calibri" panose="020F0502020204030204" pitchFamily="34" charset="0"/>
                        </a:rPr>
                        <a:t>SMA</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1860788"/>
                  </a:ext>
                </a:extLst>
              </a:tr>
              <a:tr h="235396">
                <a:tc>
                  <a:txBody>
                    <a:bodyPr/>
                    <a:lstStyle/>
                    <a:p>
                      <a:pPr algn="ctr" fontAlgn="b"/>
                      <a:r>
                        <a:rPr lang="ru-RU" sz="2000" b="0" i="0" u="none" strike="noStrike" dirty="0">
                          <a:solidFill>
                            <a:srgbClr val="000000"/>
                          </a:solidFill>
                          <a:effectLst/>
                          <a:latin typeface="Calibri" panose="020F0502020204030204" pitchFamily="34" charset="0"/>
                        </a:rPr>
                        <a:t>Количество параметров</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Очень низкое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среднее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Очень высокое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Среднее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Очень низкое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9762837"/>
                  </a:ext>
                </a:extLst>
              </a:tr>
              <a:tr h="235396">
                <a:tc>
                  <a:txBody>
                    <a:bodyPr/>
                    <a:lstStyle/>
                    <a:p>
                      <a:pPr algn="ctr" fontAlgn="b"/>
                      <a:r>
                        <a:rPr lang="ru-RU" sz="2000" b="0" i="0" u="none" strike="noStrike" dirty="0">
                          <a:solidFill>
                            <a:srgbClr val="000000"/>
                          </a:solidFill>
                          <a:effectLst/>
                          <a:latin typeface="Calibri" panose="020F0502020204030204" pitchFamily="34" charset="0"/>
                        </a:rPr>
                        <a:t>Прогнозирование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Рекурсивное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Рекурсивное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Прямое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Прямое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Прямое</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456877"/>
                  </a:ext>
                </a:extLst>
              </a:tr>
              <a:tr h="417454">
                <a:tc>
                  <a:txBody>
                    <a:bodyPr/>
                    <a:lstStyle/>
                    <a:p>
                      <a:pPr algn="ctr" fontAlgn="b"/>
                      <a:r>
                        <a:rPr lang="ru-RU" sz="2000" b="0" i="0" u="none" strike="noStrike" dirty="0">
                          <a:solidFill>
                            <a:srgbClr val="000000"/>
                          </a:solidFill>
                          <a:effectLst/>
                          <a:latin typeface="Calibri" panose="020F0502020204030204" pitchFamily="34" charset="0"/>
                        </a:rPr>
                        <a:t>Устойчивость к переобучению</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Высокая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Низкая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Низкая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Средняя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Очень высокая</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9418602"/>
                  </a:ext>
                </a:extLst>
              </a:tr>
              <a:tr h="214308">
                <a:tc>
                  <a:txBody>
                    <a:bodyPr/>
                    <a:lstStyle/>
                    <a:p>
                      <a:pPr algn="ctr" fontAlgn="b"/>
                      <a:r>
                        <a:rPr lang="ru-RU" sz="2000" b="0" i="0" u="none" strike="noStrike" dirty="0">
                          <a:solidFill>
                            <a:srgbClr val="000000"/>
                          </a:solidFill>
                          <a:effectLst/>
                          <a:latin typeface="Calibri" panose="020F0502020204030204" pitchFamily="34" charset="0"/>
                        </a:rPr>
                        <a:t>Горизонт прогноза</a:t>
                      </a:r>
                      <a:endParaRPr lang="en-US" sz="2000" b="0" i="0" u="none" strike="noStrike" dirty="0">
                        <a:solidFill>
                          <a:srgbClr val="000000"/>
                        </a:solidFill>
                        <a:effectLst/>
                        <a:latin typeface="Calibri" panose="020F0502020204030204" pitchFamily="34" charset="0"/>
                      </a:endParaRP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Короткий</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Короткий</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большой</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большой</a:t>
                      </a: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Очень</a:t>
                      </a:r>
                      <a:r>
                        <a:rPr lang="ru-RU" sz="2000" b="0" i="0" u="none" strike="noStrike" baseline="0" dirty="0">
                          <a:solidFill>
                            <a:srgbClr val="000000"/>
                          </a:solidFill>
                          <a:effectLst/>
                          <a:latin typeface="Calibri" panose="020F0502020204030204" pitchFamily="34" charset="0"/>
                        </a:rPr>
                        <a:t> большой</a:t>
                      </a:r>
                      <a:endParaRPr lang="en-US" sz="2000" b="0" i="0" u="none" strike="noStrike" dirty="0">
                        <a:solidFill>
                          <a:srgbClr val="000000"/>
                        </a:solidFill>
                        <a:effectLst/>
                        <a:latin typeface="Calibri" panose="020F0502020204030204" pitchFamily="34" charset="0"/>
                      </a:endParaRPr>
                    </a:p>
                  </a:txBody>
                  <a:tcPr marL="8374" marR="8374" marT="837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2747408"/>
                  </a:ext>
                </a:extLst>
              </a:tr>
            </a:tbl>
          </a:graphicData>
        </a:graphic>
      </p:graphicFrame>
    </p:spTree>
    <p:extLst>
      <p:ext uri="{BB962C8B-B14F-4D97-AF65-F5344CB8AC3E}">
        <p14:creationId xmlns:p14="http://schemas.microsoft.com/office/powerpoint/2010/main" val="26561905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1026" name="Picture 2" descr="Refer to ca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2790" y="1825626"/>
            <a:ext cx="8172748" cy="4894034"/>
          </a:xfrm>
          <a:prstGeom prst="rect">
            <a:avLst/>
          </a:prstGeom>
          <a:noFill/>
          <a:extLst>
            <a:ext uri="{909E8E84-426E-40DD-AFC4-6F175D3DCCD1}">
              <a14:hiddenFill xmlns:a14="http://schemas.microsoft.com/office/drawing/2010/main">
                <a:solidFill>
                  <a:srgbClr val="FFFFFF"/>
                </a:solidFill>
              </a14:hiddenFill>
            </a:ext>
          </a:extLst>
        </p:spPr>
      </p:pic>
      <p:sp>
        <p:nvSpPr>
          <p:cNvPr id="3" name="Объект 2"/>
          <p:cNvSpPr>
            <a:spLocks noGrp="1"/>
          </p:cNvSpPr>
          <p:nvPr>
            <p:ph idx="1"/>
          </p:nvPr>
        </p:nvSpPr>
        <p:spPr/>
        <p:txBody>
          <a:bodyPr/>
          <a:lstStyle/>
          <a:p>
            <a:endParaRPr lang="ru-RU"/>
          </a:p>
        </p:txBody>
      </p:sp>
      <p:sp>
        <p:nvSpPr>
          <p:cNvPr id="4" name="Прямоугольник 3"/>
          <p:cNvSpPr/>
          <p:nvPr/>
        </p:nvSpPr>
        <p:spPr>
          <a:xfrm>
            <a:off x="201854" y="6350328"/>
            <a:ext cx="3650936" cy="369332"/>
          </a:xfrm>
          <a:prstGeom prst="rect">
            <a:avLst/>
          </a:prstGeom>
        </p:spPr>
        <p:txBody>
          <a:bodyPr wrap="none">
            <a:spAutoFit/>
          </a:bodyPr>
          <a:lstStyle/>
          <a:p>
            <a:r>
              <a:rPr lang="ru-RU" dirty="0"/>
              <a:t>https://arxiv.org/html/2409.00480v1</a:t>
            </a:r>
          </a:p>
        </p:txBody>
      </p:sp>
    </p:spTree>
    <p:extLst>
      <p:ext uri="{BB962C8B-B14F-4D97-AF65-F5344CB8AC3E}">
        <p14:creationId xmlns:p14="http://schemas.microsoft.com/office/powerpoint/2010/main" val="357097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4" name="Рисунок 3"/>
          <p:cNvPicPr>
            <a:picLocks noChangeAspect="1"/>
          </p:cNvPicPr>
          <p:nvPr/>
        </p:nvPicPr>
        <p:blipFill rotWithShape="1">
          <a:blip r:embed="rId2"/>
          <a:srcRect r="1456"/>
          <a:stretch/>
        </p:blipFill>
        <p:spPr>
          <a:xfrm>
            <a:off x="1" y="2415715"/>
            <a:ext cx="12192000" cy="4442285"/>
          </a:xfrm>
          <a:prstGeom prst="rect">
            <a:avLst/>
          </a:prstGeom>
        </p:spPr>
      </p:pic>
      <p:sp>
        <p:nvSpPr>
          <p:cNvPr id="5" name="Прямоугольник 4"/>
          <p:cNvSpPr/>
          <p:nvPr/>
        </p:nvSpPr>
        <p:spPr>
          <a:xfrm>
            <a:off x="4270532" y="3244334"/>
            <a:ext cx="3650936" cy="369332"/>
          </a:xfrm>
          <a:prstGeom prst="rect">
            <a:avLst/>
          </a:prstGeom>
        </p:spPr>
        <p:txBody>
          <a:bodyPr wrap="none">
            <a:spAutoFit/>
          </a:bodyPr>
          <a:lstStyle/>
          <a:p>
            <a:r>
              <a:rPr lang="ru-RU" dirty="0"/>
              <a:t>https://arxiv.org/html/2411.05793v1</a:t>
            </a:r>
          </a:p>
        </p:txBody>
      </p:sp>
    </p:spTree>
    <p:extLst>
      <p:ext uri="{BB962C8B-B14F-4D97-AF65-F5344CB8AC3E}">
        <p14:creationId xmlns:p14="http://schemas.microsoft.com/office/powerpoint/2010/main" val="2792336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22663" y="197175"/>
            <a:ext cx="10515600" cy="549275"/>
          </a:xfrm>
        </p:spPr>
        <p:txBody>
          <a:bodyPr>
            <a:normAutofit fontScale="90000"/>
          </a:bodyPr>
          <a:lstStyle/>
          <a:p>
            <a:r>
              <a:rPr lang="ru-RU" dirty="0"/>
              <a:t>Интерпретируемый </a:t>
            </a:r>
            <a:r>
              <a:rPr lang="en-US" dirty="0"/>
              <a:t>N-BEATS</a:t>
            </a:r>
            <a:endParaRPr lang="ru-RU" dirty="0"/>
          </a:p>
        </p:txBody>
      </p:sp>
      <p:sp>
        <p:nvSpPr>
          <p:cNvPr id="5" name="Прямоугольник 4"/>
          <p:cNvSpPr/>
          <p:nvPr/>
        </p:nvSpPr>
        <p:spPr>
          <a:xfrm>
            <a:off x="6011079" y="746450"/>
            <a:ext cx="6096000" cy="6186309"/>
          </a:xfrm>
          <a:prstGeom prst="rect">
            <a:avLst/>
          </a:prstGeom>
        </p:spPr>
        <p:txBody>
          <a:bodyPr>
            <a:spAutoFit/>
          </a:bodyPr>
          <a:lstStyle/>
          <a:p>
            <a:r>
              <a:rPr lang="en-US" dirty="0"/>
              <a:t>Input: [x_{t-L}, ..., x_{t-1}]  </a:t>
            </a:r>
          </a:p>
          <a:p>
            <a:r>
              <a:rPr lang="en-US" dirty="0"/>
              <a:t>↓</a:t>
            </a:r>
          </a:p>
          <a:p>
            <a:r>
              <a:rPr lang="en-US" dirty="0"/>
              <a:t>[Stack 1: Trend]  </a:t>
            </a:r>
          </a:p>
          <a:p>
            <a:r>
              <a:rPr lang="en-US" dirty="0"/>
              <a:t>↓</a:t>
            </a:r>
          </a:p>
          <a:p>
            <a:r>
              <a:rPr lang="en-US" dirty="0"/>
              <a:t>Block 1: (MLP) → </a:t>
            </a:r>
            <a:r>
              <a:rPr lang="en-US" dirty="0" err="1"/>
              <a:t>Backcast_trend</a:t>
            </a:r>
            <a:r>
              <a:rPr lang="en-US" dirty="0"/>
              <a:t>, </a:t>
            </a:r>
            <a:r>
              <a:rPr lang="en-US" dirty="0" err="1"/>
              <a:t>Forecast_trend</a:t>
            </a:r>
            <a:r>
              <a:rPr lang="en-US" dirty="0"/>
              <a:t>  </a:t>
            </a:r>
          </a:p>
          <a:p>
            <a:r>
              <a:rPr lang="en-US" dirty="0"/>
              <a:t>↓</a:t>
            </a:r>
          </a:p>
          <a:p>
            <a:r>
              <a:rPr lang="en-US" dirty="0"/>
              <a:t>Residual = Input - </a:t>
            </a:r>
            <a:r>
              <a:rPr lang="en-US" dirty="0" err="1"/>
              <a:t>Backcast_trend</a:t>
            </a:r>
            <a:r>
              <a:rPr lang="en-US" dirty="0"/>
              <a:t>  </a:t>
            </a:r>
          </a:p>
          <a:p>
            <a:r>
              <a:rPr lang="en-US" dirty="0"/>
              <a:t>↓</a:t>
            </a:r>
          </a:p>
          <a:p>
            <a:r>
              <a:rPr lang="en-US" dirty="0"/>
              <a:t>Block 2: </a:t>
            </a:r>
            <a:r>
              <a:rPr lang="ru-RU" dirty="0"/>
              <a:t>учится на остатке → </a:t>
            </a:r>
            <a:r>
              <a:rPr lang="en-US" dirty="0" err="1"/>
              <a:t>Backcast_trend</a:t>
            </a:r>
            <a:r>
              <a:rPr lang="en-US" dirty="0"/>
              <a:t>₂, </a:t>
            </a:r>
            <a:r>
              <a:rPr lang="en-US" dirty="0" err="1"/>
              <a:t>Forecast_trend</a:t>
            </a:r>
            <a:r>
              <a:rPr lang="en-US" dirty="0"/>
              <a:t>₂  ↓</a:t>
            </a:r>
          </a:p>
          <a:p>
            <a:r>
              <a:rPr lang="en-US" dirty="0"/>
              <a:t>...  </a:t>
            </a:r>
          </a:p>
          <a:p>
            <a:r>
              <a:rPr lang="en-US" dirty="0"/>
              <a:t>↓</a:t>
            </a:r>
          </a:p>
          <a:p>
            <a:r>
              <a:rPr lang="en-US" dirty="0"/>
              <a:t>Stack </a:t>
            </a:r>
            <a:r>
              <a:rPr lang="en-US" dirty="0" err="1"/>
              <a:t>Forecast_trend</a:t>
            </a:r>
            <a:r>
              <a:rPr lang="en-US" dirty="0"/>
              <a:t> = sum(</a:t>
            </a:r>
            <a:r>
              <a:rPr lang="en-US" dirty="0" err="1"/>
              <a:t>Forecast_trend_i</a:t>
            </a:r>
            <a:r>
              <a:rPr lang="en-US" dirty="0"/>
              <a:t>)  </a:t>
            </a:r>
          </a:p>
          <a:p>
            <a:r>
              <a:rPr lang="en-US" dirty="0"/>
              <a:t>↓</a:t>
            </a:r>
          </a:p>
          <a:p>
            <a:r>
              <a:rPr lang="en-US" dirty="0"/>
              <a:t>[Stack 2: Seasonality] </a:t>
            </a:r>
          </a:p>
          <a:p>
            <a:r>
              <a:rPr lang="en-US" dirty="0"/>
              <a:t>↓</a:t>
            </a:r>
          </a:p>
          <a:p>
            <a:r>
              <a:rPr lang="en-US" dirty="0"/>
              <a:t>Block 1: → </a:t>
            </a:r>
            <a:r>
              <a:rPr lang="en-US" dirty="0" err="1"/>
              <a:t>Backcast_season</a:t>
            </a:r>
            <a:r>
              <a:rPr lang="en-US" dirty="0"/>
              <a:t>, </a:t>
            </a:r>
            <a:r>
              <a:rPr lang="en-US" dirty="0" err="1"/>
              <a:t>Forecast_season</a:t>
            </a:r>
            <a:r>
              <a:rPr lang="en-US" dirty="0"/>
              <a:t>  </a:t>
            </a:r>
          </a:p>
          <a:p>
            <a:r>
              <a:rPr lang="en-US" dirty="0"/>
              <a:t>↓.</a:t>
            </a:r>
          </a:p>
          <a:p>
            <a:r>
              <a:rPr lang="en-US" dirty="0"/>
              <a:t>..  </a:t>
            </a:r>
          </a:p>
          <a:p>
            <a:r>
              <a:rPr lang="en-US" dirty="0"/>
              <a:t>↓</a:t>
            </a:r>
          </a:p>
          <a:p>
            <a:r>
              <a:rPr lang="en-US" dirty="0"/>
              <a:t>Stack </a:t>
            </a:r>
            <a:r>
              <a:rPr lang="en-US" dirty="0" err="1"/>
              <a:t>Forecast_season</a:t>
            </a:r>
            <a:r>
              <a:rPr lang="en-US" dirty="0"/>
              <a:t>  </a:t>
            </a:r>
          </a:p>
          <a:p>
            <a:r>
              <a:rPr lang="en-US" dirty="0"/>
              <a:t>↓Final Forecast = </a:t>
            </a:r>
            <a:r>
              <a:rPr lang="en-US" dirty="0" err="1"/>
              <a:t>Forecast_trend</a:t>
            </a:r>
            <a:r>
              <a:rPr lang="en-US" dirty="0"/>
              <a:t> + </a:t>
            </a:r>
            <a:r>
              <a:rPr lang="en-US" dirty="0" err="1"/>
              <a:t>Forecast_season</a:t>
            </a:r>
            <a:endParaRPr lang="ru-RU" dirty="0"/>
          </a:p>
        </p:txBody>
      </p:sp>
      <p:pic>
        <p:nvPicPr>
          <p:cNvPr id="8" name="Рисунок 7"/>
          <p:cNvPicPr>
            <a:picLocks noChangeAspect="1"/>
          </p:cNvPicPr>
          <p:nvPr/>
        </p:nvPicPr>
        <p:blipFill>
          <a:blip r:embed="rId2"/>
          <a:stretch>
            <a:fillRect/>
          </a:stretch>
        </p:blipFill>
        <p:spPr>
          <a:xfrm>
            <a:off x="169155" y="4162337"/>
            <a:ext cx="5757232" cy="2545042"/>
          </a:xfrm>
          <a:prstGeom prst="rect">
            <a:avLst/>
          </a:prstGeom>
        </p:spPr>
      </p:pic>
      <p:pic>
        <p:nvPicPr>
          <p:cNvPr id="10" name="Рисунок 9"/>
          <p:cNvPicPr>
            <a:picLocks noChangeAspect="1"/>
          </p:cNvPicPr>
          <p:nvPr/>
        </p:nvPicPr>
        <p:blipFill>
          <a:blip r:embed="rId3"/>
          <a:stretch>
            <a:fillRect/>
          </a:stretch>
        </p:blipFill>
        <p:spPr>
          <a:xfrm>
            <a:off x="0" y="746450"/>
            <a:ext cx="5906762" cy="3667076"/>
          </a:xfrm>
          <a:prstGeom prst="rect">
            <a:avLst/>
          </a:prstGeom>
        </p:spPr>
      </p:pic>
    </p:spTree>
    <p:extLst>
      <p:ext uri="{BB962C8B-B14F-4D97-AF65-F5344CB8AC3E}">
        <p14:creationId xmlns:p14="http://schemas.microsoft.com/office/powerpoint/2010/main" val="9425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40000" lnSpcReduction="20000"/>
          </a:bodyPr>
          <a:lstStyle/>
          <a:p>
            <a:pPr marL="0" lvl="0" indent="0" eaLnBrk="0" fontAlgn="base" hangingPunct="0">
              <a:lnSpc>
                <a:spcPct val="100000"/>
              </a:lnSpc>
              <a:spcBef>
                <a:spcPct val="0"/>
              </a:spcBef>
              <a:spcAft>
                <a:spcPct val="0"/>
              </a:spcAft>
              <a:buNone/>
            </a:pPr>
            <a:r>
              <a:rPr lang="ru-RU" altLang="ru-RU" sz="3600" b="1" dirty="0">
                <a:solidFill>
                  <a:srgbClr val="2C2C36"/>
                </a:solidFill>
                <a:latin typeface="system-ui"/>
              </a:rPr>
              <a:t>Преимущества N-</a:t>
            </a:r>
            <a:r>
              <a:rPr lang="ru-RU" altLang="ru-RU" sz="3600" b="1" dirty="0" err="1">
                <a:solidFill>
                  <a:srgbClr val="2C2C36"/>
                </a:solidFill>
                <a:latin typeface="system-ui"/>
              </a:rPr>
              <a:t>HiTS</a:t>
            </a:r>
            <a:endParaRPr lang="ru-RU" altLang="ru-RU" sz="3600" b="1" dirty="0">
              <a:solidFill>
                <a:srgbClr val="2C2C36"/>
              </a:solidFill>
              <a:latin typeface="system-ui"/>
            </a:endParaRPr>
          </a:p>
          <a:p>
            <a:pPr marL="0" lvl="0" indent="0" eaLnBrk="0" fontAlgn="base" hangingPunct="0">
              <a:lnSpc>
                <a:spcPct val="100000"/>
              </a:lnSpc>
              <a:spcBef>
                <a:spcPct val="0"/>
              </a:spcBef>
              <a:spcAft>
                <a:spcPct val="0"/>
              </a:spcAft>
              <a:buFontTx/>
              <a:buChar char="•"/>
            </a:pPr>
            <a:r>
              <a:rPr lang="ru-RU" altLang="ru-RU" sz="3200" dirty="0">
                <a:solidFill>
                  <a:srgbClr val="2C2C36"/>
                </a:solidFill>
                <a:latin typeface="system-ui"/>
              </a:rPr>
              <a:t>✅ </a:t>
            </a:r>
            <a:r>
              <a:rPr lang="ru-RU" altLang="ru-RU" sz="3200" dirty="0">
                <a:solidFill>
                  <a:srgbClr val="111827"/>
                </a:solidFill>
                <a:latin typeface="system-ui"/>
              </a:rPr>
              <a:t>Интерпретируемость</a:t>
            </a:r>
            <a:r>
              <a:rPr lang="ru-RU" altLang="ru-RU" sz="3200" dirty="0">
                <a:solidFill>
                  <a:srgbClr val="2C2C36"/>
                </a:solidFill>
                <a:latin typeface="system-ui"/>
              </a:rPr>
              <a:t> — можно разложить прогноз на тренд, сезонность и остаток.</a:t>
            </a:r>
          </a:p>
          <a:p>
            <a:pPr marL="0" lvl="0" indent="0" eaLnBrk="0" fontAlgn="base" hangingPunct="0">
              <a:lnSpc>
                <a:spcPct val="100000"/>
              </a:lnSpc>
              <a:spcBef>
                <a:spcPct val="0"/>
              </a:spcBef>
              <a:spcAft>
                <a:spcPct val="0"/>
              </a:spcAft>
              <a:buFontTx/>
              <a:buChar char="•"/>
            </a:pPr>
            <a:r>
              <a:rPr lang="ru-RU" altLang="ru-RU" sz="3200" dirty="0">
                <a:solidFill>
                  <a:srgbClr val="2C2C36"/>
                </a:solidFill>
                <a:latin typeface="system-ui"/>
              </a:rPr>
              <a:t>✅ </a:t>
            </a:r>
            <a:r>
              <a:rPr lang="ru-RU" altLang="ru-RU" sz="3200" dirty="0">
                <a:solidFill>
                  <a:srgbClr val="111827"/>
                </a:solidFill>
                <a:latin typeface="system-ui"/>
              </a:rPr>
              <a:t>Масштабируемость</a:t>
            </a:r>
            <a:r>
              <a:rPr lang="ru-RU" altLang="ru-RU" sz="3200" dirty="0">
                <a:solidFill>
                  <a:srgbClr val="2C2C36"/>
                </a:solidFill>
                <a:latin typeface="system-ui"/>
              </a:rPr>
              <a:t> — подходит для тысяч временных рядов (например, M5 </a:t>
            </a:r>
            <a:r>
              <a:rPr lang="ru-RU" altLang="ru-RU" sz="3200" dirty="0" err="1">
                <a:solidFill>
                  <a:srgbClr val="2C2C36"/>
                </a:solidFill>
                <a:latin typeface="system-ui"/>
              </a:rPr>
              <a:t>competition</a:t>
            </a:r>
            <a:r>
              <a:rPr lang="ru-RU" altLang="ru-RU" sz="3200" dirty="0">
                <a:solidFill>
                  <a:srgbClr val="2C2C36"/>
                </a:solidFill>
                <a:latin typeface="system-ui"/>
              </a:rPr>
              <a:t>).</a:t>
            </a:r>
          </a:p>
          <a:p>
            <a:pPr marL="0" lvl="0" indent="0" eaLnBrk="0" fontAlgn="base" hangingPunct="0">
              <a:lnSpc>
                <a:spcPct val="100000"/>
              </a:lnSpc>
              <a:spcBef>
                <a:spcPct val="0"/>
              </a:spcBef>
              <a:spcAft>
                <a:spcPct val="0"/>
              </a:spcAft>
              <a:buFontTx/>
              <a:buChar char="•"/>
            </a:pPr>
            <a:r>
              <a:rPr lang="ru-RU" altLang="ru-RU" sz="3200" dirty="0">
                <a:solidFill>
                  <a:srgbClr val="2C2C36"/>
                </a:solidFill>
                <a:latin typeface="system-ui"/>
              </a:rPr>
              <a:t>✅ </a:t>
            </a:r>
            <a:r>
              <a:rPr lang="ru-RU" altLang="ru-RU" sz="3200" dirty="0">
                <a:solidFill>
                  <a:srgbClr val="111827"/>
                </a:solidFill>
                <a:latin typeface="system-ui"/>
              </a:rPr>
              <a:t>Эффективность</a:t>
            </a:r>
            <a:r>
              <a:rPr lang="ru-RU" altLang="ru-RU" sz="3200" dirty="0">
                <a:solidFill>
                  <a:srgbClr val="2C2C36"/>
                </a:solidFill>
                <a:latin typeface="system-ui"/>
              </a:rPr>
              <a:t> — меньше параметров, быстрее обучение.</a:t>
            </a:r>
          </a:p>
          <a:p>
            <a:pPr marL="0" lvl="0" indent="0" eaLnBrk="0" fontAlgn="base" hangingPunct="0">
              <a:lnSpc>
                <a:spcPct val="100000"/>
              </a:lnSpc>
              <a:spcBef>
                <a:spcPct val="0"/>
              </a:spcBef>
              <a:spcAft>
                <a:spcPct val="0"/>
              </a:spcAft>
              <a:buFontTx/>
              <a:buChar char="•"/>
            </a:pPr>
            <a:r>
              <a:rPr lang="ru-RU" altLang="ru-RU" sz="3200" dirty="0">
                <a:solidFill>
                  <a:srgbClr val="2C2C36"/>
                </a:solidFill>
                <a:latin typeface="system-ui"/>
              </a:rPr>
              <a:t>✅ </a:t>
            </a:r>
            <a:r>
              <a:rPr lang="ru-RU" altLang="ru-RU" sz="3200" dirty="0">
                <a:solidFill>
                  <a:srgbClr val="111827"/>
                </a:solidFill>
                <a:latin typeface="system-ui"/>
              </a:rPr>
              <a:t>Гибкость</a:t>
            </a:r>
            <a:r>
              <a:rPr lang="ru-RU" altLang="ru-RU" sz="3200" dirty="0">
                <a:solidFill>
                  <a:srgbClr val="2C2C36"/>
                </a:solidFill>
                <a:latin typeface="system-ui"/>
              </a:rPr>
              <a:t> — можно настраивать типы стеков под задачу.</a:t>
            </a:r>
          </a:p>
          <a:p>
            <a:pPr marL="0" lvl="0" indent="0" eaLnBrk="0" fontAlgn="base" hangingPunct="0">
              <a:lnSpc>
                <a:spcPct val="100000"/>
              </a:lnSpc>
              <a:spcBef>
                <a:spcPct val="0"/>
              </a:spcBef>
              <a:spcAft>
                <a:spcPct val="0"/>
              </a:spcAft>
              <a:buFontTx/>
              <a:buChar char="•"/>
            </a:pPr>
            <a:r>
              <a:rPr lang="ru-RU" altLang="ru-RU" sz="3200" dirty="0">
                <a:solidFill>
                  <a:srgbClr val="2C2C36"/>
                </a:solidFill>
                <a:latin typeface="system-ui"/>
              </a:rPr>
              <a:t>✅ </a:t>
            </a:r>
            <a:r>
              <a:rPr lang="ru-RU" altLang="ru-RU" sz="3200" dirty="0">
                <a:solidFill>
                  <a:srgbClr val="111827"/>
                </a:solidFill>
                <a:latin typeface="system-ui"/>
              </a:rPr>
              <a:t>Поддержка </a:t>
            </a:r>
            <a:r>
              <a:rPr lang="ru-RU" altLang="ru-RU" sz="3200" dirty="0" err="1">
                <a:solidFill>
                  <a:srgbClr val="111827"/>
                </a:solidFill>
                <a:latin typeface="system-ui"/>
              </a:rPr>
              <a:t>ковариат</a:t>
            </a:r>
            <a:r>
              <a:rPr lang="ru-RU" altLang="ru-RU" sz="3200" dirty="0">
                <a:solidFill>
                  <a:srgbClr val="2C2C36"/>
                </a:solidFill>
                <a:latin typeface="system-ui"/>
              </a:rPr>
              <a:t> — улучшает прогноз при наличии внешних данных.</a:t>
            </a:r>
          </a:p>
          <a:p>
            <a:pPr marL="0" lvl="0" indent="0" eaLnBrk="0" fontAlgn="base" hangingPunct="0">
              <a:lnSpc>
                <a:spcPct val="100000"/>
              </a:lnSpc>
              <a:spcBef>
                <a:spcPct val="0"/>
              </a:spcBef>
              <a:spcAft>
                <a:spcPct val="0"/>
              </a:spcAft>
              <a:buNone/>
            </a:pPr>
            <a:r>
              <a:rPr lang="ru-RU" altLang="ru-RU" sz="4800" b="1" dirty="0">
                <a:solidFill>
                  <a:srgbClr val="2C2C36"/>
                </a:solidFill>
                <a:latin typeface="system-ui"/>
              </a:rPr>
              <a:t>🚫 Ограничения</a:t>
            </a:r>
          </a:p>
          <a:p>
            <a:pPr marL="0" lvl="0" indent="0" eaLnBrk="0" fontAlgn="base" hangingPunct="0">
              <a:lnSpc>
                <a:spcPct val="100000"/>
              </a:lnSpc>
              <a:spcBef>
                <a:spcPct val="0"/>
              </a:spcBef>
              <a:spcAft>
                <a:spcPct val="0"/>
              </a:spcAft>
              <a:buFontTx/>
              <a:buChar char="•"/>
            </a:pPr>
            <a:r>
              <a:rPr lang="ru-RU" altLang="ru-RU" sz="4400" dirty="0">
                <a:solidFill>
                  <a:srgbClr val="2C2C36"/>
                </a:solidFill>
                <a:latin typeface="system-ui"/>
              </a:rPr>
              <a:t>❌ Требует </a:t>
            </a:r>
            <a:r>
              <a:rPr lang="ru-RU" altLang="ru-RU" sz="4400" dirty="0">
                <a:solidFill>
                  <a:srgbClr val="111827"/>
                </a:solidFill>
                <a:latin typeface="system-ui"/>
              </a:rPr>
              <a:t>достаточно длинной истории</a:t>
            </a:r>
            <a:r>
              <a:rPr lang="ru-RU" altLang="ru-RU" sz="4400" dirty="0">
                <a:solidFill>
                  <a:srgbClr val="2C2C36"/>
                </a:solidFill>
                <a:latin typeface="system-ui"/>
              </a:rPr>
              <a:t> для выявления паттернов.</a:t>
            </a:r>
          </a:p>
          <a:p>
            <a:pPr marL="0" lvl="0" indent="0" eaLnBrk="0" fontAlgn="base" hangingPunct="0">
              <a:lnSpc>
                <a:spcPct val="100000"/>
              </a:lnSpc>
              <a:spcBef>
                <a:spcPct val="0"/>
              </a:spcBef>
              <a:spcAft>
                <a:spcPct val="0"/>
              </a:spcAft>
              <a:buFontTx/>
              <a:buChar char="•"/>
            </a:pPr>
            <a:r>
              <a:rPr lang="ru-RU" altLang="ru-RU" sz="4400" dirty="0">
                <a:solidFill>
                  <a:srgbClr val="2C2C36"/>
                </a:solidFill>
                <a:latin typeface="system-ui"/>
              </a:rPr>
              <a:t>❌ Может быть избыточной для </a:t>
            </a:r>
            <a:r>
              <a:rPr lang="ru-RU" altLang="ru-RU" sz="4400" dirty="0">
                <a:solidFill>
                  <a:srgbClr val="111827"/>
                </a:solidFill>
                <a:latin typeface="system-ui"/>
              </a:rPr>
              <a:t>очень коротких рядов</a:t>
            </a:r>
            <a:r>
              <a:rPr lang="ru-RU" altLang="ru-RU" sz="4400" dirty="0">
                <a:solidFill>
                  <a:srgbClr val="2C2C36"/>
                </a:solidFill>
                <a:latin typeface="system-ui"/>
              </a:rPr>
              <a:t>.</a:t>
            </a:r>
          </a:p>
          <a:p>
            <a:pPr marL="0" lvl="0" indent="0" eaLnBrk="0" fontAlgn="base" hangingPunct="0">
              <a:lnSpc>
                <a:spcPct val="100000"/>
              </a:lnSpc>
              <a:spcBef>
                <a:spcPct val="0"/>
              </a:spcBef>
              <a:spcAft>
                <a:spcPct val="0"/>
              </a:spcAft>
              <a:buFontTx/>
              <a:buChar char="•"/>
            </a:pPr>
            <a:r>
              <a:rPr lang="ru-RU" altLang="ru-RU" sz="4400" dirty="0">
                <a:solidFill>
                  <a:srgbClr val="2C2C36"/>
                </a:solidFill>
                <a:latin typeface="system-ui"/>
              </a:rPr>
              <a:t>❌ Интерполяция предполагает </a:t>
            </a:r>
            <a:r>
              <a:rPr lang="ru-RU" altLang="ru-RU" sz="4400" dirty="0">
                <a:solidFill>
                  <a:srgbClr val="111827"/>
                </a:solidFill>
                <a:latin typeface="system-ui"/>
              </a:rPr>
              <a:t>гладкость</a:t>
            </a:r>
            <a:r>
              <a:rPr lang="ru-RU" altLang="ru-RU" sz="4400" dirty="0">
                <a:solidFill>
                  <a:srgbClr val="2C2C36"/>
                </a:solidFill>
                <a:latin typeface="system-ui"/>
              </a:rPr>
              <a:t>, что не всегда верно (например, при резких скачках).</a:t>
            </a:r>
          </a:p>
          <a:p>
            <a:pPr marL="0" lvl="0" indent="0" eaLnBrk="0" fontAlgn="base" hangingPunct="0">
              <a:lnSpc>
                <a:spcPct val="100000"/>
              </a:lnSpc>
              <a:spcBef>
                <a:spcPct val="0"/>
              </a:spcBef>
              <a:spcAft>
                <a:spcPct val="0"/>
              </a:spcAft>
              <a:buNone/>
            </a:pPr>
            <a:endParaRPr lang="ru-RU" altLang="ru-RU" sz="6000" dirty="0">
              <a:latin typeface="Arial" panose="020B0604020202020204" pitchFamily="34" charset="0"/>
            </a:endParaRPr>
          </a:p>
          <a:p>
            <a:pPr marL="0" lvl="0" indent="0" eaLnBrk="0" fontAlgn="base" hangingPunct="0">
              <a:lnSpc>
                <a:spcPct val="100000"/>
              </a:lnSpc>
              <a:spcBef>
                <a:spcPct val="0"/>
              </a:spcBef>
              <a:spcAft>
                <a:spcPct val="0"/>
              </a:spcAft>
              <a:buNone/>
            </a:pPr>
            <a:endParaRPr lang="ru-RU" altLang="ru-RU" sz="4400" dirty="0">
              <a:latin typeface="Arial" panose="020B0604020202020204" pitchFamily="34" charset="0"/>
            </a:endParaRPr>
          </a:p>
          <a:p>
            <a:pPr marL="0" lvl="0" indent="0" eaLnBrk="0" fontAlgn="base" hangingPunct="0">
              <a:lnSpc>
                <a:spcPct val="100000"/>
              </a:lnSpc>
              <a:spcBef>
                <a:spcPct val="0"/>
              </a:spcBef>
              <a:spcAft>
                <a:spcPct val="0"/>
              </a:spcAft>
              <a:buNone/>
            </a:pPr>
            <a:r>
              <a:rPr lang="ru-RU" altLang="ru-RU" dirty="0">
                <a:solidFill>
                  <a:srgbClr val="2C2C36"/>
                </a:solidFill>
                <a:latin typeface="system-ui"/>
              </a:rPr>
              <a:t>N-</a:t>
            </a:r>
            <a:r>
              <a:rPr lang="ru-RU" altLang="ru-RU" dirty="0" err="1">
                <a:solidFill>
                  <a:srgbClr val="2C2C36"/>
                </a:solidFill>
                <a:latin typeface="system-ui"/>
              </a:rPr>
              <a:t>HiTS</a:t>
            </a:r>
            <a:r>
              <a:rPr lang="ru-RU" altLang="ru-RU" dirty="0">
                <a:solidFill>
                  <a:srgbClr val="2C2C36"/>
                </a:solidFill>
                <a:latin typeface="system-ui"/>
              </a:rPr>
              <a:t> — это </a:t>
            </a:r>
            <a:r>
              <a:rPr lang="ru-RU" altLang="ru-RU" dirty="0">
                <a:solidFill>
                  <a:srgbClr val="111827"/>
                </a:solidFill>
                <a:latin typeface="system-ui"/>
              </a:rPr>
              <a:t>эволюция N-BEATS</a:t>
            </a:r>
            <a:r>
              <a:rPr lang="ru-RU" altLang="ru-RU" dirty="0">
                <a:solidFill>
                  <a:srgbClr val="2C2C36"/>
                </a:solidFill>
                <a:latin typeface="system-ui"/>
              </a:rPr>
              <a:t>, сочетающая глубокое обучение с </a:t>
            </a:r>
            <a:r>
              <a:rPr lang="ru-RU" altLang="ru-RU" dirty="0">
                <a:solidFill>
                  <a:srgbClr val="111827"/>
                </a:solidFill>
                <a:latin typeface="system-ui"/>
              </a:rPr>
              <a:t>интуитивными временными компонентами</a:t>
            </a:r>
            <a:r>
              <a:rPr lang="ru-RU" altLang="ru-RU" dirty="0">
                <a:solidFill>
                  <a:srgbClr val="2C2C36"/>
                </a:solidFill>
                <a:latin typeface="system-ui"/>
              </a:rPr>
              <a:t> через интерполяцию. Благодаря своей архитектуре, она особенно хорошо подходит для:</a:t>
            </a:r>
            <a:endParaRPr lang="ru-RU" altLang="ru-RU" sz="800" dirty="0"/>
          </a:p>
          <a:p>
            <a:pPr marL="0" lvl="0" indent="0" eaLnBrk="0" fontAlgn="base" hangingPunct="0">
              <a:lnSpc>
                <a:spcPct val="100000"/>
              </a:lnSpc>
              <a:spcBef>
                <a:spcPct val="0"/>
              </a:spcBef>
              <a:spcAft>
                <a:spcPct val="0"/>
              </a:spcAft>
              <a:buFontTx/>
              <a:buChar char="•"/>
            </a:pPr>
            <a:r>
              <a:rPr lang="ru-RU" altLang="ru-RU" dirty="0">
                <a:solidFill>
                  <a:srgbClr val="2C2C36"/>
                </a:solidFill>
                <a:latin typeface="system-ui"/>
              </a:rPr>
              <a:t>Прогнозирования спроса</a:t>
            </a:r>
          </a:p>
          <a:p>
            <a:pPr marL="0" lvl="0" indent="0" eaLnBrk="0" fontAlgn="base" hangingPunct="0">
              <a:lnSpc>
                <a:spcPct val="100000"/>
              </a:lnSpc>
              <a:spcBef>
                <a:spcPct val="0"/>
              </a:spcBef>
              <a:spcAft>
                <a:spcPct val="0"/>
              </a:spcAft>
              <a:buFontTx/>
              <a:buChar char="•"/>
            </a:pPr>
            <a:r>
              <a:rPr lang="ru-RU" altLang="ru-RU" dirty="0">
                <a:solidFill>
                  <a:srgbClr val="2C2C36"/>
                </a:solidFill>
                <a:latin typeface="system-ui"/>
              </a:rPr>
              <a:t>Энергопотребления</a:t>
            </a:r>
          </a:p>
          <a:p>
            <a:pPr marL="0" lvl="0" indent="0" eaLnBrk="0" fontAlgn="base" hangingPunct="0">
              <a:lnSpc>
                <a:spcPct val="100000"/>
              </a:lnSpc>
              <a:spcBef>
                <a:spcPct val="0"/>
              </a:spcBef>
              <a:spcAft>
                <a:spcPct val="0"/>
              </a:spcAft>
              <a:buFontTx/>
              <a:buChar char="•"/>
            </a:pPr>
            <a:r>
              <a:rPr lang="ru-RU" altLang="ru-RU" dirty="0">
                <a:solidFill>
                  <a:srgbClr val="2C2C36"/>
                </a:solidFill>
                <a:latin typeface="system-ui"/>
              </a:rPr>
              <a:t>Финансовых временных рядов</a:t>
            </a:r>
          </a:p>
          <a:p>
            <a:pPr marL="0" lvl="0" indent="0" eaLnBrk="0" fontAlgn="base" hangingPunct="0">
              <a:lnSpc>
                <a:spcPct val="100000"/>
              </a:lnSpc>
              <a:spcBef>
                <a:spcPct val="0"/>
              </a:spcBef>
              <a:spcAft>
                <a:spcPct val="0"/>
              </a:spcAft>
              <a:buFontTx/>
              <a:buChar char="•"/>
            </a:pPr>
            <a:r>
              <a:rPr lang="ru-RU" altLang="ru-RU" dirty="0">
                <a:solidFill>
                  <a:srgbClr val="2C2C36"/>
                </a:solidFill>
                <a:latin typeface="system-ui"/>
              </a:rPr>
              <a:t>Веб-трафика</a:t>
            </a:r>
          </a:p>
          <a:p>
            <a:pPr marL="0" lvl="0" indent="0" eaLnBrk="0" fontAlgn="base" hangingPunct="0">
              <a:lnSpc>
                <a:spcPct val="100000"/>
              </a:lnSpc>
              <a:spcBef>
                <a:spcPct val="0"/>
              </a:spcBef>
              <a:spcAft>
                <a:spcPct val="0"/>
              </a:spcAft>
              <a:buNone/>
            </a:pPr>
            <a:r>
              <a:rPr lang="ru-RU" altLang="ru-RU" sz="1800" dirty="0"/>
              <a:t>Как отмечается в статье </a:t>
            </a:r>
            <a:r>
              <a:rPr lang="ru-RU" altLang="ru-RU" sz="1800" dirty="0" err="1"/>
              <a:t>SignalPop</a:t>
            </a:r>
            <a:r>
              <a:rPr lang="ru-RU" altLang="ru-RU" sz="1800" dirty="0"/>
              <a:t>:</a:t>
            </a:r>
            <a:br>
              <a:rPr lang="ru-RU" altLang="ru-RU" sz="1800" dirty="0"/>
            </a:br>
            <a:r>
              <a:rPr lang="ru-RU" altLang="ru-RU" dirty="0">
                <a:latin typeface="Arial" panose="020B0604020202020204" pitchFamily="34" charset="0"/>
              </a:rPr>
              <a:t>"N-</a:t>
            </a:r>
            <a:r>
              <a:rPr lang="ru-RU" altLang="ru-RU" dirty="0" err="1">
                <a:latin typeface="Arial" panose="020B0604020202020204" pitchFamily="34" charset="0"/>
              </a:rPr>
              <a:t>HiTS</a:t>
            </a:r>
            <a:r>
              <a:rPr lang="ru-RU" altLang="ru-RU" dirty="0">
                <a:latin typeface="Arial" panose="020B0604020202020204" pitchFamily="34" charset="0"/>
              </a:rPr>
              <a:t> — это не просто ещё одна </a:t>
            </a:r>
            <a:r>
              <a:rPr lang="ru-RU" altLang="ru-RU" dirty="0" err="1">
                <a:latin typeface="Arial" panose="020B0604020202020204" pitchFamily="34" charset="0"/>
              </a:rPr>
              <a:t>нейросеть</a:t>
            </a:r>
            <a:r>
              <a:rPr lang="ru-RU" altLang="ru-RU" dirty="0">
                <a:latin typeface="Arial" panose="020B0604020202020204" pitchFamily="34" charset="0"/>
              </a:rPr>
              <a:t> для временных рядов. Это шаг к объединению интерпретируемости и высокой точности в одной модели."</a:t>
            </a:r>
            <a:r>
              <a:rPr lang="ru-RU" altLang="ru-RU" sz="1800" dirty="0">
                <a:latin typeface="Arial" panose="020B0604020202020204" pitchFamily="34" charset="0"/>
              </a:rPr>
              <a:t> </a:t>
            </a:r>
            <a:endParaRPr lang="ru-RU" altLang="ru-RU" sz="4000" dirty="0">
              <a:latin typeface="Arial" panose="020B0604020202020204" pitchFamily="34" charset="0"/>
            </a:endParaRPr>
          </a:p>
          <a:p>
            <a:endParaRPr lang="ru-RU" dirty="0"/>
          </a:p>
        </p:txBody>
      </p:sp>
      <p:sp>
        <p:nvSpPr>
          <p:cNvPr id="9" name="Rectangle 6"/>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1" name="Rectangle 8"/>
          <p:cNvSpPr>
            <a:spLocks noChangeArrowheads="1"/>
          </p:cNvSpPr>
          <p:nvPr/>
        </p:nvSpPr>
        <p:spPr bwMode="auto">
          <a:xfrm>
            <a:off x="0" y="563175"/>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3" name="Rectangle 10"/>
          <p:cNvSpPr>
            <a:spLocks noChangeArrowheads="1"/>
          </p:cNvSpPr>
          <p:nvPr/>
        </p:nvSpPr>
        <p:spPr bwMode="auto">
          <a:xfrm>
            <a:off x="0" y="978560"/>
            <a:ext cx="65" cy="392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7132" rIns="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37959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rmAutofit fontScale="90000"/>
          </a:bodyPr>
          <a:lstStyle/>
          <a:p>
            <a:pPr algn="l" rtl="0"/>
            <a:r>
              <a:rPr lang="ru-RU" b="1" dirty="0" err="1"/>
              <a:t>Полносвязная</a:t>
            </a:r>
            <a:r>
              <a:rPr lang="ru-RU" b="1" dirty="0"/>
              <a:t> сеть</a:t>
            </a:r>
            <a:endParaRPr lang="ru-RU" dirty="0"/>
          </a:p>
        </p:txBody>
      </p:sp>
      <p:sp>
        <p:nvSpPr>
          <p:cNvPr id="3" name="Объект 2"/>
          <p:cNvSpPr>
            <a:spLocks noGrp="1"/>
          </p:cNvSpPr>
          <p:nvPr>
            <p:ph idx="1"/>
          </p:nvPr>
        </p:nvSpPr>
        <p:spPr>
          <a:xfrm>
            <a:off x="367469" y="717846"/>
            <a:ext cx="11374451" cy="6140153"/>
          </a:xfrm>
        </p:spPr>
        <p:txBody>
          <a:bodyPr>
            <a:noAutofit/>
          </a:bodyPr>
          <a:lstStyle/>
          <a:p>
            <a:pPr algn="l" rtl="0"/>
            <a:r>
              <a:rPr lang="en-US" sz="2000" b="1" dirty="0" err="1"/>
              <a:t>Полностью</a:t>
            </a:r>
            <a:r>
              <a:rPr lang="en-US" sz="2000" b="1" dirty="0"/>
              <a:t> </a:t>
            </a:r>
            <a:r>
              <a:rPr lang="ru-RU" sz="2000" b="1" dirty="0"/>
              <a:t>связанная</a:t>
            </a:r>
            <a:r>
              <a:rPr lang="en-US" sz="2000" b="1" dirty="0"/>
              <a:t> сеть</a:t>
            </a:r>
            <a:r>
              <a:rPr lang="en-US" sz="2000" dirty="0"/>
              <a:t> подход не пользуется популярностью в анализе временных рядов из-за нескольких </a:t>
            </a:r>
            <a:r>
              <a:rPr lang="en-US" sz="2000" b="1" dirty="0"/>
              <a:t>недостатки</a:t>
            </a:r>
            <a:r>
              <a:rPr lang="en-US" sz="2000" dirty="0"/>
              <a:t>:</a:t>
            </a:r>
            <a:endParaRPr lang="ru-RU" sz="2000" dirty="0"/>
          </a:p>
          <a:p>
            <a:pPr lvl="0"/>
            <a:r>
              <a:rPr lang="ru-RU" sz="2000" u="sng" dirty="0"/>
              <a:t>Отсутствие учета связности между сегментами</a:t>
            </a:r>
            <a:r>
              <a:rPr lang="ru-RU" sz="2000" dirty="0"/>
              <a:t>  - сети MLP не учитывают подобие и связь поведения последовательных входных данных (например, в скрытом состоянии RNN реализована «память» функций последовательных сегментов). </a:t>
            </a:r>
          </a:p>
          <a:p>
            <a:pPr lvl="0"/>
            <a:r>
              <a:rPr lang="ru-RU" sz="2000" u="sng" dirty="0"/>
              <a:t>Отсутствие учета казуальности – </a:t>
            </a:r>
            <a:r>
              <a:rPr lang="ru-RU" sz="2000" dirty="0" err="1"/>
              <a:t>полносвязная</a:t>
            </a:r>
            <a:r>
              <a:rPr lang="ru-RU" sz="2000" dirty="0"/>
              <a:t> сеть </a:t>
            </a:r>
            <a:r>
              <a:rPr lang="ru-RU" sz="2000" dirty="0" err="1"/>
              <a:t>ненаправлена</a:t>
            </a:r>
            <a:endParaRPr lang="ru-RU" sz="2000" dirty="0"/>
          </a:p>
          <a:p>
            <a:pPr lvl="0"/>
            <a:r>
              <a:rPr lang="ru-RU" sz="2000" u="sng" dirty="0"/>
              <a:t>Огромное количество параметров </a:t>
            </a:r>
            <a:r>
              <a:rPr lang="ru-RU" sz="2000" dirty="0"/>
              <a:t> (из-за отсутствия повторного использования весов </a:t>
            </a:r>
            <a:br>
              <a:rPr lang="ru-RU" sz="2000" dirty="0"/>
            </a:br>
            <a:r>
              <a:rPr lang="ru-RU" sz="2000" dirty="0"/>
              <a:t>как в </a:t>
            </a:r>
            <a:r>
              <a:rPr lang="ru-RU" sz="2000" dirty="0" err="1"/>
              <a:t>cnn</a:t>
            </a:r>
            <a:r>
              <a:rPr lang="ru-RU" sz="2000" dirty="0"/>
              <a:t> или </a:t>
            </a:r>
            <a:r>
              <a:rPr lang="ru-RU" sz="2000" dirty="0" err="1"/>
              <a:t>rnn</a:t>
            </a:r>
            <a:r>
              <a:rPr lang="ru-RU" sz="2000" dirty="0"/>
              <a:t>).</a:t>
            </a:r>
          </a:p>
          <a:p>
            <a:pPr lvl="0"/>
            <a:r>
              <a:rPr lang="ru-RU" sz="2000" i="1" dirty="0"/>
              <a:t>Примечание</a:t>
            </a:r>
            <a:endParaRPr lang="ru-RU" sz="2000" dirty="0"/>
          </a:p>
          <a:p>
            <a:pPr lvl="1"/>
            <a:r>
              <a:rPr lang="ru-RU" sz="2000" dirty="0"/>
              <a:t>Этот недостаток преодолевается с помощью архитектуры </a:t>
            </a:r>
            <a:r>
              <a:rPr lang="ru-RU" sz="2000" dirty="0" err="1"/>
              <a:t>трансформеров</a:t>
            </a:r>
            <a:r>
              <a:rPr lang="ru-RU" sz="2000" dirty="0"/>
              <a:t> (архитектура, основанная на внимании или миксере и на </a:t>
            </a:r>
            <a:r>
              <a:rPr lang="ru-RU" sz="2000" dirty="0" err="1"/>
              <a:t>полносвязных</a:t>
            </a:r>
            <a:r>
              <a:rPr lang="ru-RU" sz="2000" dirty="0"/>
              <a:t> сетях).</a:t>
            </a:r>
          </a:p>
          <a:p>
            <a:pPr algn="l" rtl="0"/>
            <a:endParaRPr lang="en-US"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8194" name="Picture 2" descr="Fully Connected vs Convolutional Neural Networks | by Pooja Mahajan | The  Startup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6636" y="4546487"/>
            <a:ext cx="3068116" cy="2139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9390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rmAutofit fontScale="90000"/>
          </a:bodyPr>
          <a:lstStyle/>
          <a:p>
            <a:r>
              <a:rPr lang="en-US" b="1" dirty="0"/>
              <a:t>FCNN </a:t>
            </a:r>
            <a:r>
              <a:rPr lang="ru-RU" b="1" dirty="0"/>
              <a:t>Сеть нелинейной авторегрессии </a:t>
            </a:r>
            <a:r>
              <a:rPr lang="en-US" b="1" dirty="0"/>
              <a:t>(NAR)</a:t>
            </a:r>
            <a:endParaRPr lang="ru-RU" dirty="0"/>
          </a:p>
        </p:txBody>
      </p:sp>
      <p:sp>
        <p:nvSpPr>
          <p:cNvPr id="3" name="Объект 2"/>
          <p:cNvSpPr>
            <a:spLocks noGrp="1"/>
          </p:cNvSpPr>
          <p:nvPr>
            <p:ph idx="1"/>
          </p:nvPr>
        </p:nvSpPr>
        <p:spPr>
          <a:xfrm>
            <a:off x="367469" y="717846"/>
            <a:ext cx="11374451" cy="6140153"/>
          </a:xfrm>
        </p:spPr>
        <p:txBody>
          <a:bodyPr>
            <a:noAutofit/>
          </a:bodyPr>
          <a:lstStyle/>
          <a:p>
            <a:pPr lvl="0"/>
            <a:r>
              <a:rPr lang="ru-RU" sz="2000" u="sng" dirty="0"/>
              <a:t>Другой подход FCN</a:t>
            </a:r>
            <a:r>
              <a:rPr lang="en-US" sz="2000" u="sng" dirty="0"/>
              <a:t>N</a:t>
            </a:r>
            <a:r>
              <a:rPr lang="ru-RU" sz="2000" u="sng" dirty="0"/>
              <a:t> использует каждый прогнозируемый выход (или набор выходных данных) как часть входных данных.</a:t>
            </a:r>
            <a:endParaRPr lang="ru-RU" sz="2000" dirty="0"/>
          </a:p>
          <a:p>
            <a:pPr lvl="0"/>
            <a:r>
              <a:rPr lang="ru-RU" sz="2000" dirty="0"/>
              <a:t>В этом случае «</a:t>
            </a:r>
            <a:r>
              <a:rPr lang="ru-RU" sz="2000" dirty="0" err="1"/>
              <a:t>псевдорекуррентное</a:t>
            </a:r>
            <a:r>
              <a:rPr lang="ru-RU" sz="2000" dirty="0"/>
              <a:t> соединение» может быть реализовано посредством обратной связи.</a:t>
            </a:r>
          </a:p>
          <a:p>
            <a:pPr lvl="0"/>
            <a:r>
              <a:rPr lang="ru-RU" sz="2000" dirty="0"/>
              <a:t>Эти сети воплощают идею нелинейной модели авторегрессии (или  </a:t>
            </a:r>
            <a:r>
              <a:rPr lang="ru-RU" sz="2000" b="1" dirty="0"/>
              <a:t>нелинейной сети авторегрессии, NAR</a:t>
            </a:r>
            <a:r>
              <a:rPr lang="ru-RU" sz="2000" dirty="0"/>
              <a:t> ), где веса являются параметрами авторегрессии.</a:t>
            </a:r>
          </a:p>
          <a:p>
            <a:pPr lvl="0"/>
            <a:r>
              <a:rPr lang="ru-RU" sz="2000" dirty="0"/>
              <a:t>Пример нелинейной </a:t>
            </a:r>
            <a:r>
              <a:rPr lang="ru-RU" sz="2000" dirty="0" err="1"/>
              <a:t>авторегрессионной</a:t>
            </a:r>
            <a:r>
              <a:rPr lang="ru-RU" sz="2000" dirty="0"/>
              <a:t> сети.</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2" name="Рисунок 11"/>
          <p:cNvPicPr>
            <a:picLocks noChangeAspect="1"/>
          </p:cNvPicPr>
          <p:nvPr/>
        </p:nvPicPr>
        <p:blipFill>
          <a:blip r:embed="rId2"/>
          <a:stretch>
            <a:fillRect/>
          </a:stretch>
        </p:blipFill>
        <p:spPr>
          <a:xfrm>
            <a:off x="1589000" y="3285223"/>
            <a:ext cx="7353521" cy="3367751"/>
          </a:xfrm>
          <a:prstGeom prst="rect">
            <a:avLst/>
          </a:prstGeom>
        </p:spPr>
      </p:pic>
    </p:spTree>
    <p:extLst>
      <p:ext uri="{BB962C8B-B14F-4D97-AF65-F5344CB8AC3E}">
        <p14:creationId xmlns:p14="http://schemas.microsoft.com/office/powerpoint/2010/main" val="3691104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rmAutofit fontScale="90000"/>
          </a:bodyPr>
          <a:lstStyle/>
          <a:p>
            <a:pPr algn="l" rtl="0"/>
            <a:r>
              <a:rPr lang="en-US" b="1" dirty="0"/>
              <a:t>Подходы к временным рядам DL</a:t>
            </a:r>
            <a:endParaRPr lang="ru-RU" dirty="0"/>
          </a:p>
        </p:txBody>
      </p:sp>
      <p:sp>
        <p:nvSpPr>
          <p:cNvPr id="3" name="Объект 2"/>
          <p:cNvSpPr>
            <a:spLocks noGrp="1"/>
          </p:cNvSpPr>
          <p:nvPr>
            <p:ph idx="1"/>
          </p:nvPr>
        </p:nvSpPr>
        <p:spPr>
          <a:xfrm>
            <a:off x="367469" y="717846"/>
            <a:ext cx="11374451" cy="6140153"/>
          </a:xfrm>
        </p:spPr>
        <p:txBody>
          <a:bodyPr>
            <a:noAutofit/>
          </a:bodyPr>
          <a:lstStyle/>
          <a:p>
            <a:pPr lvl="0"/>
            <a:r>
              <a:rPr lang="ru-RU" sz="2000" i="1" dirty="0"/>
              <a:t>Примечание</a:t>
            </a:r>
            <a:endParaRPr lang="ru-RU" sz="2000" dirty="0"/>
          </a:p>
          <a:p>
            <a:pPr lvl="1"/>
            <a:r>
              <a:rPr lang="ru-RU" sz="2000" dirty="0"/>
              <a:t>Другой популярный подход - «многие к одному», но его можно рассматривать как частный случай «многие ко многим».</a:t>
            </a:r>
          </a:p>
          <a:p>
            <a:pPr lvl="1"/>
            <a:r>
              <a:rPr lang="ru-RU" sz="2000" dirty="0"/>
              <a:t>Пример сети </a:t>
            </a:r>
            <a:r>
              <a:rPr lang="ru-RU" sz="2000" dirty="0" err="1"/>
              <a:t>rnn</a:t>
            </a:r>
            <a:r>
              <a:rPr lang="ru-RU" sz="2000" dirty="0"/>
              <a:t> кодировщика-декодера.</a:t>
            </a:r>
          </a:p>
          <a:p>
            <a:pPr lvl="1"/>
            <a:r>
              <a:rPr lang="ru-RU" sz="2000" dirty="0"/>
              <a:t>Здесь ℎ обозначает скрытое (или латентное, встраиваемое) пространство любого фиксированного измерения.</a:t>
            </a:r>
          </a:p>
          <a:p>
            <a:pPr lvl="1"/>
            <a:r>
              <a:rPr lang="ru-RU" sz="2000" dirty="0"/>
              <a:t>Смысл этого пространства - извлечение признаков (т. Е. Обобщение некоторой значимой информации всей исходной последовательности).</a:t>
            </a:r>
          </a:p>
          <a:p>
            <a:pPr lvl="1"/>
            <a:r>
              <a:rPr lang="ru-RU" sz="2000" dirty="0"/>
              <a:t>Обычно типы кодировщика и декодера могут быть разными.</a:t>
            </a:r>
          </a:p>
          <a:p>
            <a:r>
              <a:rPr lang="ru-RU" sz="2000" dirty="0"/>
              <a:t>Например, кодер CNN и декодер RNN могут быть объединены</a:t>
            </a:r>
            <a:endParaRPr lang="en-US"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8" name="Рисунок 7"/>
          <p:cNvPicPr>
            <a:picLocks noChangeAspect="1"/>
          </p:cNvPicPr>
          <p:nvPr/>
        </p:nvPicPr>
        <p:blipFill>
          <a:blip r:embed="rId2"/>
          <a:stretch>
            <a:fillRect/>
          </a:stretch>
        </p:blipFill>
        <p:spPr>
          <a:xfrm>
            <a:off x="8482848" y="2936815"/>
            <a:ext cx="2421607" cy="3670418"/>
          </a:xfrm>
          <a:prstGeom prst="rect">
            <a:avLst/>
          </a:prstGeom>
        </p:spPr>
      </p:pic>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0" name="Рисунок 9"/>
          <p:cNvPicPr>
            <a:picLocks noChangeAspect="1"/>
          </p:cNvPicPr>
          <p:nvPr/>
        </p:nvPicPr>
        <p:blipFill>
          <a:blip r:embed="rId3"/>
          <a:stretch>
            <a:fillRect/>
          </a:stretch>
        </p:blipFill>
        <p:spPr>
          <a:xfrm>
            <a:off x="1871528" y="4253444"/>
            <a:ext cx="5773855" cy="2199965"/>
          </a:xfrm>
          <a:prstGeom prst="rect">
            <a:avLst/>
          </a:prstGeom>
        </p:spPr>
      </p:pic>
    </p:spTree>
    <p:extLst>
      <p:ext uri="{BB962C8B-B14F-4D97-AF65-F5344CB8AC3E}">
        <p14:creationId xmlns:p14="http://schemas.microsoft.com/office/powerpoint/2010/main" val="217187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rmAutofit fontScale="90000"/>
          </a:bodyPr>
          <a:lstStyle/>
          <a:p>
            <a:pPr algn="l" rtl="0"/>
            <a:r>
              <a:rPr lang="ru-RU" b="1" dirty="0" err="1"/>
              <a:t>полносвязная</a:t>
            </a:r>
            <a:r>
              <a:rPr lang="ru-RU" b="1" dirty="0"/>
              <a:t> сеть</a:t>
            </a:r>
            <a:endParaRPr lang="ru-RU" dirty="0"/>
          </a:p>
        </p:txBody>
      </p:sp>
      <p:sp>
        <p:nvSpPr>
          <p:cNvPr id="3" name="Объект 2"/>
          <p:cNvSpPr>
            <a:spLocks noGrp="1"/>
          </p:cNvSpPr>
          <p:nvPr>
            <p:ph idx="1"/>
          </p:nvPr>
        </p:nvSpPr>
        <p:spPr>
          <a:xfrm>
            <a:off x="367469" y="717846"/>
            <a:ext cx="11374451" cy="6140153"/>
          </a:xfrm>
        </p:spPr>
        <p:txBody>
          <a:bodyPr>
            <a:noAutofit/>
          </a:bodyPr>
          <a:lstStyle/>
          <a:p>
            <a:pPr lvl="0">
              <a:spcBef>
                <a:spcPts val="0"/>
              </a:spcBef>
            </a:pPr>
            <a:r>
              <a:rPr lang="ru-RU" sz="2000" dirty="0"/>
              <a:t>Подход </a:t>
            </a:r>
            <a:r>
              <a:rPr lang="ru-RU" sz="2000" b="1" dirty="0" err="1"/>
              <a:t>Force-back</a:t>
            </a:r>
            <a:r>
              <a:rPr lang="ru-RU" sz="2000" b="1" dirty="0"/>
              <a:t> FCN</a:t>
            </a:r>
            <a:r>
              <a:rPr lang="ru-RU" sz="2000" dirty="0"/>
              <a:t> предполагает, что для каждого сегмента должны быть предсказаны как следующие, так и предыдущие значения. Например, обратное прогнозирование может использоваться для вычисления ошибок и их уменьшения.</a:t>
            </a:r>
          </a:p>
          <a:p>
            <a:pPr lvl="0">
              <a:spcBef>
                <a:spcPts val="0"/>
              </a:spcBef>
            </a:pPr>
            <a:r>
              <a:rPr lang="ru-RU" sz="2000" dirty="0"/>
              <a:t>Сеть N-BEATS предлагает использовать стек сетей FCN</a:t>
            </a:r>
            <a:r>
              <a:rPr lang="en-US" sz="2000" dirty="0"/>
              <a:t>N</a:t>
            </a:r>
            <a:r>
              <a:rPr lang="ru-RU" sz="2000" dirty="0"/>
              <a:t>, каждая из которых прогнозирует результат на основе ошибки предыдущей.</a:t>
            </a:r>
          </a:p>
          <a:p>
            <a:pPr lvl="0">
              <a:spcBef>
                <a:spcPts val="0"/>
              </a:spcBef>
            </a:pPr>
            <a:r>
              <a:rPr lang="ru-RU" sz="2000" dirty="0"/>
              <a:t>Пример </a:t>
            </a:r>
            <a:r>
              <a:rPr lang="ru-RU" sz="2000" b="1" dirty="0" err="1"/>
              <a:t>Полносвязная</a:t>
            </a:r>
            <a:r>
              <a:rPr lang="ru-RU" sz="2000" b="1" dirty="0"/>
              <a:t> сеть N-BEATS</a:t>
            </a:r>
            <a:endParaRPr lang="ru-RU" sz="2000" dirty="0"/>
          </a:p>
          <a:p>
            <a:pPr lvl="0">
              <a:spcBef>
                <a:spcPts val="0"/>
              </a:spcBef>
            </a:pPr>
            <a:r>
              <a:rPr lang="ru-RU" sz="2000" dirty="0"/>
              <a:t>Идея  </a:t>
            </a:r>
            <a:r>
              <a:rPr lang="ru-RU" sz="2000" b="1" dirty="0"/>
              <a:t>N-BEATS</a:t>
            </a:r>
            <a:r>
              <a:rPr lang="ru-RU" sz="2000" dirty="0"/>
              <a:t>  заключается в следующем:</a:t>
            </a:r>
          </a:p>
          <a:p>
            <a:pPr lvl="0">
              <a:spcBef>
                <a:spcPts val="0"/>
              </a:spcBef>
            </a:pPr>
            <a:r>
              <a:rPr lang="ru-RU" sz="2000" b="1" dirty="0"/>
              <a:t>1 блок</a:t>
            </a:r>
            <a:r>
              <a:rPr lang="ru-RU" sz="2000" dirty="0"/>
              <a:t> -</a:t>
            </a:r>
          </a:p>
          <a:p>
            <a:pPr lvl="1">
              <a:spcBef>
                <a:spcPts val="0"/>
              </a:spcBef>
            </a:pPr>
            <a:r>
              <a:rPr lang="ru-RU" sz="2000" dirty="0"/>
              <a:t>сделать прогноз силы и назад </a:t>
            </a:r>
            <a:br>
              <a:rPr lang="en-US" sz="2000" dirty="0"/>
            </a:br>
            <a:r>
              <a:rPr lang="ru-RU" sz="2000" dirty="0"/>
              <a:t>(в выборке в обратном направлении </a:t>
            </a:r>
            <a:br>
              <a:rPr lang="en-US" sz="2000" dirty="0"/>
            </a:br>
            <a:r>
              <a:rPr lang="ru-RU" sz="2000" dirty="0"/>
              <a:t>и вне выборки в прямом направлении)</a:t>
            </a:r>
          </a:p>
          <a:p>
            <a:pPr lvl="1">
              <a:spcBef>
                <a:spcPts val="0"/>
              </a:spcBef>
            </a:pPr>
            <a:r>
              <a:rPr lang="ru-RU" sz="2000" dirty="0"/>
              <a:t>вычислить ошибку обратного </a:t>
            </a:r>
            <a:br>
              <a:rPr lang="en-US" sz="2000" dirty="0"/>
            </a:br>
            <a:r>
              <a:rPr lang="ru-RU" sz="2000" dirty="0"/>
              <a:t>предсказания.</a:t>
            </a:r>
          </a:p>
          <a:p>
            <a:pPr lvl="0">
              <a:spcBef>
                <a:spcPts val="0"/>
              </a:spcBef>
            </a:pPr>
            <a:r>
              <a:rPr lang="ru-RU" sz="2000" b="1" dirty="0"/>
              <a:t>2 блок</a:t>
            </a:r>
            <a:r>
              <a:rPr lang="ru-RU" sz="2000" dirty="0"/>
              <a:t> -</a:t>
            </a:r>
          </a:p>
          <a:p>
            <a:pPr lvl="1">
              <a:spcBef>
                <a:spcPts val="0"/>
              </a:spcBef>
            </a:pPr>
            <a:r>
              <a:rPr lang="ru-RU" sz="2000" dirty="0"/>
              <a:t>сделать прогноз ошибки в обратном </a:t>
            </a:r>
            <a:br>
              <a:rPr lang="en-US" sz="2000" dirty="0"/>
            </a:br>
            <a:r>
              <a:rPr lang="ru-RU" sz="2000" dirty="0"/>
              <a:t>направлении</a:t>
            </a:r>
            <a:r>
              <a:rPr lang="en-US" sz="2000" dirty="0"/>
              <a:t> </a:t>
            </a:r>
            <a:r>
              <a:rPr lang="ru-RU" sz="2000" dirty="0"/>
              <a:t>и правильный прогноз </a:t>
            </a:r>
            <a:br>
              <a:rPr lang="ru-RU" sz="2000" dirty="0"/>
            </a:br>
            <a:r>
              <a:rPr lang="ru-RU" sz="2000" dirty="0"/>
              <a:t>вперед (сделанный из блока 1).</a:t>
            </a:r>
          </a:p>
          <a:p>
            <a:pPr lvl="1">
              <a:spcBef>
                <a:spcPts val="0"/>
              </a:spcBef>
            </a:pPr>
            <a:r>
              <a:rPr lang="ru-RU" sz="2000" dirty="0"/>
              <a:t>вычислить ошибку предсказания </a:t>
            </a:r>
          </a:p>
          <a:p>
            <a:pPr lvl="0">
              <a:spcBef>
                <a:spcPts val="0"/>
              </a:spcBef>
            </a:pPr>
            <a:r>
              <a:rPr lang="ru-RU" sz="2000" dirty="0"/>
              <a:t>повторить этап 2 и уточнить прогноз</a:t>
            </a:r>
            <a:br>
              <a:rPr lang="ru-RU" sz="2000" dirty="0"/>
            </a:br>
            <a:r>
              <a:rPr lang="ru-RU" sz="2000" dirty="0"/>
              <a:t> вне выборки.</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6" name="Рисунок 5"/>
          <p:cNvPicPr>
            <a:picLocks noChangeAspect="1"/>
          </p:cNvPicPr>
          <p:nvPr/>
        </p:nvPicPr>
        <p:blipFill>
          <a:blip r:embed="rId2"/>
          <a:stretch>
            <a:fillRect/>
          </a:stretch>
        </p:blipFill>
        <p:spPr>
          <a:xfrm>
            <a:off x="5894817" y="2506587"/>
            <a:ext cx="5539539" cy="3690937"/>
          </a:xfrm>
          <a:prstGeom prst="rect">
            <a:avLst/>
          </a:prstGeom>
        </p:spPr>
      </p:pic>
    </p:spTree>
    <p:extLst>
      <p:ext uri="{BB962C8B-B14F-4D97-AF65-F5344CB8AC3E}">
        <p14:creationId xmlns:p14="http://schemas.microsoft.com/office/powerpoint/2010/main" val="1020139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rmAutofit fontScale="90000"/>
          </a:bodyPr>
          <a:lstStyle/>
          <a:p>
            <a:pPr algn="l" rtl="0"/>
            <a:r>
              <a:rPr lang="en-US" b="1" dirty="0"/>
              <a:t>FCNN </a:t>
            </a:r>
            <a:r>
              <a:rPr lang="ru-RU" b="1" dirty="0"/>
              <a:t>Сеть нелинейной авторегрессии </a:t>
            </a:r>
            <a:r>
              <a:rPr lang="en-US" b="1" dirty="0"/>
              <a:t>(NAR)</a:t>
            </a:r>
            <a:endParaRPr lang="ru-RU" dirty="0"/>
          </a:p>
        </p:txBody>
      </p:sp>
      <p:sp>
        <p:nvSpPr>
          <p:cNvPr id="3" name="Объект 2"/>
          <p:cNvSpPr>
            <a:spLocks noGrp="1"/>
          </p:cNvSpPr>
          <p:nvPr>
            <p:ph idx="1"/>
          </p:nvPr>
        </p:nvSpPr>
        <p:spPr>
          <a:xfrm>
            <a:off x="367469" y="717846"/>
            <a:ext cx="11374451" cy="6140153"/>
          </a:xfrm>
        </p:spPr>
        <p:txBody>
          <a:bodyPr>
            <a:noAutofit/>
          </a:bodyPr>
          <a:lstStyle/>
          <a:p>
            <a:r>
              <a:rPr lang="ru-RU" sz="2000" dirty="0"/>
              <a:t>Если в нелинейной авторегрессии, помимо повторного использования прогнозов в качестве входных данных, используются другие данные, подход можно назвать сетью нелинейной авторегрессии с экзогенными факторами (NARX).</a:t>
            </a:r>
          </a:p>
          <a:p>
            <a:r>
              <a:rPr lang="ru-RU" sz="2000" dirty="0"/>
              <a:t>Подходы NAR и NARX сегодня не популярны из-за низкой устойчивости к проблемам вывода (выбросы, градиентный взрыв и т. Д.).</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8" name="Рисунок 7"/>
          <p:cNvPicPr>
            <a:picLocks noChangeAspect="1"/>
          </p:cNvPicPr>
          <p:nvPr/>
        </p:nvPicPr>
        <p:blipFill>
          <a:blip r:embed="rId2"/>
          <a:stretch>
            <a:fillRect/>
          </a:stretch>
        </p:blipFill>
        <p:spPr>
          <a:xfrm>
            <a:off x="3297089" y="2430875"/>
            <a:ext cx="4700036" cy="4029743"/>
          </a:xfrm>
          <a:prstGeom prst="rect">
            <a:avLst/>
          </a:prstGeom>
        </p:spPr>
      </p:pic>
    </p:spTree>
    <p:extLst>
      <p:ext uri="{BB962C8B-B14F-4D97-AF65-F5344CB8AC3E}">
        <p14:creationId xmlns:p14="http://schemas.microsoft.com/office/powerpoint/2010/main" val="712105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367469" y="717846"/>
                <a:ext cx="11374451" cy="6140153"/>
              </a:xfrm>
            </p:spPr>
            <p:txBody>
              <a:bodyPr>
                <a:noAutofit/>
              </a:bodyPr>
              <a:lstStyle/>
              <a:p>
                <a:pPr algn="l" rtl="0">
                  <a:lnSpc>
                    <a:spcPct val="100000"/>
                  </a:lnSpc>
                  <a:spcBef>
                    <a:spcPts val="300"/>
                  </a:spcBef>
                </a:pPr>
                <a:r>
                  <a:rPr lang="en-US" sz="2000" dirty="0"/>
                  <a:t>Самый популярный подход в применении нейронных сетей к временным </a:t>
                </a:r>
                <a:r>
                  <a:rPr lang="en-US" sz="2000" dirty="0" err="1"/>
                  <a:t>рядам</a:t>
                </a:r>
                <a:r>
                  <a:rPr lang="en-US" sz="2000" dirty="0"/>
                  <a:t> </a:t>
                </a:r>
                <a:r>
                  <a:rPr lang="ru-RU" sz="2000" dirty="0"/>
                  <a:t>для задач классификации </a:t>
                </a:r>
                <a:r>
                  <a:rPr lang="en-US" sz="2000" dirty="0"/>
                  <a:t>- ​​это сверточные сети.</a:t>
                </a:r>
              </a:p>
              <a:p>
                <a:pPr algn="l" rtl="0">
                  <a:lnSpc>
                    <a:spcPct val="100000"/>
                  </a:lnSpc>
                  <a:spcBef>
                    <a:spcPts val="300"/>
                  </a:spcBef>
                </a:pPr>
                <a:r>
                  <a:rPr lang="en-US" sz="2000" dirty="0"/>
                  <a:t> Во многих случаях необходима только одномерная свертка (из-за одномерного представления временных рядов). </a:t>
                </a:r>
              </a:p>
              <a:p>
                <a:pPr algn="l" rtl="0">
                  <a:lnSpc>
                    <a:spcPct val="100000"/>
                  </a:lnSpc>
                  <a:spcBef>
                    <a:spcPts val="300"/>
                  </a:spcBef>
                </a:pPr>
                <a:r>
                  <a:rPr lang="en-US" sz="2000" dirty="0"/>
                  <a:t>В 1d свертку можно описать как</a:t>
                </a:r>
                <a:endParaRPr lang="ru-RU" sz="2000" dirty="0"/>
              </a:p>
              <a:p>
                <a:pPr marL="0" indent="0" algn="l" rtl="0">
                  <a:lnSpc>
                    <a:spcPct val="100000"/>
                  </a:lnSpc>
                  <a:spcBef>
                    <a:spcPts val="300"/>
                  </a:spcBef>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𝑊</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𝑙𝑎𝑔</m:t>
                          </m:r>
                        </m:sub>
                      </m:sSub>
                      <m:r>
                        <a:rPr lang="en-US" sz="2000" i="1">
                          <a:latin typeface="Cambria Math" panose="02040503050406030204" pitchFamily="18" charset="0"/>
                        </a:rPr>
                        <m:t>,</m:t>
                      </m:r>
                    </m:oMath>
                  </m:oMathPara>
                </a14:m>
                <a:endParaRPr lang="ru-RU" sz="2000" dirty="0"/>
              </a:p>
              <a:p>
                <a:pPr algn="l" rtl="0">
                  <a:lnSpc>
                    <a:spcPct val="100000"/>
                  </a:lnSpc>
                  <a:spcBef>
                    <a:spcPts val="300"/>
                  </a:spcBef>
                  <a:spcAft>
                    <a:spcPts val="600"/>
                  </a:spcAft>
                </a:pPr>
                <a:r>
                  <a:rPr lang="ru-RU" sz="2000" dirty="0"/>
                  <a:t>где</a:t>
                </a:r>
                <a:r>
                  <a:rPr lang="en-US" sz="2000" dirty="0"/>
                  <a:t>: </a:t>
                </a:r>
                <a14:m>
                  <m:oMath xmlns:m="http://schemas.openxmlformats.org/officeDocument/2006/math">
                    <m:r>
                      <a:rPr lang="en-US" sz="2000" i="1">
                        <a:latin typeface="Cambria Math" panose="02040503050406030204" pitchFamily="18" charset="0"/>
                      </a:rPr>
                      <m:t>𝑊</m:t>
                    </m:r>
                  </m:oMath>
                </a14:m>
                <a:r>
                  <a:rPr lang="en-US" sz="2000" dirty="0"/>
                  <a:t> - матрица весов, </a:t>
                </a:r>
                <a14:m>
                  <m:oMath xmlns:m="http://schemas.openxmlformats.org/officeDocument/2006/math">
                    <m:r>
                      <a:rPr lang="en-US" sz="2000" i="1">
                        <a:latin typeface="Cambria Math" panose="02040503050406030204" pitchFamily="18" charset="0"/>
                      </a:rPr>
                      <m:t>𝑊</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𝐾</m:t>
                        </m:r>
                        <m:r>
                          <a:rPr lang="en-US" sz="2000" i="1">
                            <a:latin typeface="Cambria Math" panose="02040503050406030204" pitchFamily="18" charset="0"/>
                          </a:rPr>
                          <m:t>−1</m:t>
                        </m:r>
                      </m:sub>
                    </m:sSub>
                    <m:r>
                      <a:rPr lang="en-US" sz="2000" i="1">
                        <a:latin typeface="Cambria Math" panose="02040503050406030204" pitchFamily="18" charset="0"/>
                      </a:rPr>
                      <m:t>)</m:t>
                    </m:r>
                  </m:oMath>
                </a14:m>
                <a:r>
                  <a:rPr lang="en-US" sz="2000" dirty="0"/>
                  <a:t>, </a:t>
                </a:r>
                <a14:m>
                  <m:oMath xmlns:m="http://schemas.openxmlformats.org/officeDocument/2006/math">
                    <m:r>
                      <a:rPr lang="en-US" sz="2000" i="1">
                        <a:latin typeface="Cambria Math" panose="02040503050406030204" pitchFamily="18" charset="0"/>
                      </a:rPr>
                      <m:t>𝐾</m:t>
                    </m:r>
                  </m:oMath>
                </a14:m>
                <a:r>
                  <a:rPr lang="en-US" sz="2000" dirty="0"/>
                  <a:t> это размер ядра.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𝑙𝑎𝑔</m:t>
                        </m:r>
                      </m:sub>
                    </m:sSub>
                  </m:oMath>
                </a14:m>
                <a:r>
                  <a:rPr lang="en-US" sz="2000" dirty="0"/>
                  <a:t> это так называемая матрица свертки или запаздывания входных данных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 = (</m:t>
                    </m:r>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𝑥</m:t>
                        </m:r>
                      </m:e>
                      <m:sub>
                        <m:r>
                          <a:rPr lang="en-US" sz="2000" i="1" dirty="0" smtClean="0">
                            <a:latin typeface="Cambria Math" panose="02040503050406030204" pitchFamily="18" charset="0"/>
                          </a:rPr>
                          <m:t>0</m:t>
                        </m:r>
                      </m:sub>
                    </m:sSub>
                    <m:r>
                      <a:rPr lang="en-US" sz="2000" i="1" dirty="0" smtClean="0">
                        <a:latin typeface="Cambria Math" panose="02040503050406030204" pitchFamily="18" charset="0"/>
                      </a:rPr>
                      <m:t>, </m:t>
                    </m:r>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𝑥</m:t>
                        </m:r>
                      </m:e>
                      <m:sub>
                        <m:r>
                          <a:rPr lang="en-US" sz="2000" i="1" dirty="0" smtClean="0">
                            <a:latin typeface="Cambria Math" panose="02040503050406030204" pitchFamily="18" charset="0"/>
                          </a:rPr>
                          <m:t>1</m:t>
                        </m:r>
                      </m:sub>
                    </m:sSub>
                    <m:r>
                      <a:rPr lang="en-US" sz="2000" i="1" dirty="0" smtClean="0">
                        <a:latin typeface="Cambria Math" panose="02040503050406030204" pitchFamily="18" charset="0"/>
                      </a:rPr>
                      <m:t>, …</m:t>
                    </m:r>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𝑥</m:t>
                        </m:r>
                      </m:e>
                      <m:sub>
                        <m:r>
                          <a:rPr lang="en-US" sz="2000" i="1" dirty="0" smtClean="0">
                            <a:latin typeface="Cambria Math" panose="02040503050406030204" pitchFamily="18" charset="0"/>
                          </a:rPr>
                          <m:t>𝑁</m:t>
                        </m:r>
                        <m:r>
                          <a:rPr lang="en-US" sz="2000" i="1" dirty="0" smtClean="0">
                            <a:latin typeface="Cambria Math" panose="02040503050406030204" pitchFamily="18" charset="0"/>
                          </a:rPr>
                          <m:t>−1</m:t>
                        </m:r>
                      </m:sub>
                    </m:sSub>
                    <m:r>
                      <a:rPr lang="en-US" sz="2000" b="0" i="1" dirty="0" smtClean="0">
                        <a:latin typeface="Cambria Math" panose="02040503050406030204" pitchFamily="18" charset="0"/>
                      </a:rPr>
                      <m:t>)</m:t>
                    </m:r>
                    <m:r>
                      <a:rPr lang="en-US" sz="2000" i="1" dirty="0" smtClean="0">
                        <a:latin typeface="Cambria Math" panose="02040503050406030204" pitchFamily="18" charset="0"/>
                      </a:rPr>
                      <m:t>, </m:t>
                    </m:r>
                    <m:r>
                      <a:rPr lang="en-US" sz="2000" b="0" i="1" dirty="0" smtClean="0">
                        <a:latin typeface="Cambria Math" panose="02040503050406030204" pitchFamily="18" charset="0"/>
                      </a:rPr>
                      <m:t> </m:t>
                    </m:r>
                    <m:r>
                      <a:rPr lang="en-US" sz="2000" i="1">
                        <a:latin typeface="Cambria Math" panose="02040503050406030204" pitchFamily="18" charset="0"/>
                      </a:rPr>
                      <m:t>𝑁</m:t>
                    </m:r>
                  </m:oMath>
                </a14:m>
                <a:r>
                  <a:rPr lang="en-US" sz="2000" dirty="0"/>
                  <a:t> размер ввода,</a:t>
                </a:r>
                <a:endParaRPr lang="ru-RU" sz="2000" dirty="0"/>
              </a:p>
              <a:p>
                <a:pPr marL="0" indent="0" algn="l" rtl="0">
                  <a:lnSpc>
                    <a:spcPct val="100000"/>
                  </a:lnSpc>
                  <a:spcBef>
                    <a:spcPts val="300"/>
                  </a:spcBef>
                  <a:buNone/>
                </a:pPr>
                <a14:m>
                  <m:oMathPara xmlns:m="http://schemas.openxmlformats.org/officeDocument/2006/math">
                    <m:oMathParaPr>
                      <m:jc m:val="centerGroup"/>
                    </m:oMathParaPr>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𝑙𝑎𝑔</m:t>
                          </m:r>
                        </m:sub>
                      </m:sSub>
                      <m:r>
                        <a:rPr lang="en-US" sz="2000" i="1">
                          <a:latin typeface="Cambria Math" panose="02040503050406030204" pitchFamily="18" charset="0"/>
                        </a:rPr>
                        <m:t>=</m:t>
                      </m:r>
                      <m:d>
                        <m:dPr>
                          <m:begChr m:val="["/>
                          <m:endChr m:val="]"/>
                          <m:ctrlPr>
                            <a:rPr lang="ru-RU" sz="2000" i="1">
                              <a:latin typeface="Cambria Math" panose="02040503050406030204" pitchFamily="18" charset="0"/>
                            </a:rPr>
                          </m:ctrlPr>
                        </m:dPr>
                        <m:e>
                          <m:m>
                            <m:mPr>
                              <m:plcHide m:val="on"/>
                              <m:mcs>
                                <m:mc>
                                  <m:mcPr>
                                    <m:count m:val="5"/>
                                    <m:mcJc m:val="center"/>
                                  </m:mcPr>
                                </m:mc>
                              </m:mcs>
                              <m:ctrlPr>
                                <a:rPr lang="ru-RU" sz="2000" i="1">
                                  <a:latin typeface="Cambria Math" panose="02040503050406030204" pitchFamily="18" charset="0"/>
                                </a:rPr>
                              </m:ctrlPr>
                            </m:mPr>
                            <m:mr>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0</m:t>
                                    </m:r>
                                  </m:sub>
                                </m:sSub>
                              </m:e>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e>
                              <m:e>
                                <m:r>
                                  <a:rPr lang="en-US" sz="2000" i="1">
                                    <a:latin typeface="Cambria Math" panose="02040503050406030204" pitchFamily="18" charset="0"/>
                                  </a:rPr>
                                  <m:t>…</m:t>
                                </m:r>
                              </m:e>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𝑁</m:t>
                                    </m:r>
                                    <m:r>
                                      <a:rPr lang="en-US" sz="2000" i="1">
                                        <a:latin typeface="Cambria Math" panose="02040503050406030204" pitchFamily="18" charset="0"/>
                                      </a:rPr>
                                      <m:t>−2</m:t>
                                    </m:r>
                                  </m:sub>
                                </m:sSub>
                              </m:e>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𝑁</m:t>
                                    </m:r>
                                    <m:r>
                                      <a:rPr lang="en-US" sz="2000" i="1">
                                        <a:latin typeface="Cambria Math" panose="02040503050406030204" pitchFamily="18" charset="0"/>
                                      </a:rPr>
                                      <m:t>−1</m:t>
                                    </m:r>
                                  </m:sub>
                                </m:sSub>
                              </m:e>
                            </m:mr>
                            <m:mr>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e>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e>
                              <m:e>
                                <m:r>
                                  <a:rPr lang="en-US" sz="2000" i="1">
                                    <a:latin typeface="Cambria Math" panose="02040503050406030204" pitchFamily="18" charset="0"/>
                                  </a:rPr>
                                  <m:t>…</m:t>
                                </m:r>
                              </m:e>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𝑁</m:t>
                                    </m:r>
                                    <m:r>
                                      <a:rPr lang="en-US" sz="2000" i="1">
                                        <a:latin typeface="Cambria Math" panose="02040503050406030204" pitchFamily="18" charset="0"/>
                                      </a:rPr>
                                      <m:t>−1</m:t>
                                    </m:r>
                                  </m:sub>
                                </m:sSub>
                              </m:e>
                              <m:e>
                                <m:r>
                                  <a:rPr lang="en-US" sz="2000" i="1">
                                    <a:latin typeface="Cambria Math" panose="02040503050406030204" pitchFamily="18" charset="0"/>
                                  </a:rPr>
                                  <m:t>0</m:t>
                                </m:r>
                              </m:e>
                            </m:mr>
                            <m:mr>
                              <m:e/>
                              <m:e/>
                              <m:e/>
                              <m:e/>
                              <m:e>
                                <m:r>
                                  <a:rPr lang="en-US" sz="2000" i="1">
                                    <a:latin typeface="Cambria Math" panose="02040503050406030204" pitchFamily="18" charset="0"/>
                                  </a:rPr>
                                  <m:t>…</m:t>
                                </m:r>
                              </m:e>
                            </m:mr>
                            <m:mr>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𝐾</m:t>
                                    </m:r>
                                    <m:r>
                                      <a:rPr lang="en-US" sz="2000" i="1">
                                        <a:latin typeface="Cambria Math" panose="02040503050406030204" pitchFamily="18" charset="0"/>
                                      </a:rPr>
                                      <m:t>−1</m:t>
                                    </m:r>
                                  </m:sub>
                                </m:sSub>
                              </m:e>
                              <m:e>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𝐾</m:t>
                                    </m:r>
                                  </m:sub>
                                </m:sSub>
                              </m:e>
                              <m:e>
                                <m:r>
                                  <a:rPr lang="en-US" sz="2000" i="1">
                                    <a:latin typeface="Cambria Math" panose="02040503050406030204" pitchFamily="18" charset="0"/>
                                  </a:rPr>
                                  <m:t>…</m:t>
                                </m:r>
                              </m:e>
                              <m:e>
                                <m:r>
                                  <a:rPr lang="en-US" sz="2000" i="1">
                                    <a:latin typeface="Cambria Math" panose="02040503050406030204" pitchFamily="18" charset="0"/>
                                  </a:rPr>
                                  <m:t>0</m:t>
                                </m:r>
                              </m:e>
                              <m:e>
                                <m:r>
                                  <a:rPr lang="en-US" sz="2000" i="1">
                                    <a:latin typeface="Cambria Math" panose="02040503050406030204" pitchFamily="18" charset="0"/>
                                  </a:rPr>
                                  <m:t>0</m:t>
                                </m:r>
                              </m:e>
                            </m:mr>
                          </m:m>
                        </m:e>
                      </m:d>
                    </m:oMath>
                  </m:oMathPara>
                </a14:m>
                <a:endParaRPr lang="ru-RU" sz="2000" dirty="0"/>
              </a:p>
              <a:p>
                <a:pPr algn="l" rtl="0">
                  <a:lnSpc>
                    <a:spcPct val="100000"/>
                  </a:lnSpc>
                  <a:spcBef>
                    <a:spcPts val="300"/>
                  </a:spcBef>
                </a:pPr>
                <a:r>
                  <a:rPr lang="en-US" sz="2000" dirty="0"/>
                  <a:t>Пример 1-мерной свертки</a:t>
                </a:r>
                <a:endParaRPr lang="ru-RU" sz="20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367469" y="717846"/>
                <a:ext cx="11374451" cy="6140153"/>
              </a:xfrm>
              <a:blipFill>
                <a:blip r:embed="rId2"/>
                <a:stretch>
                  <a:fillRect l="-482" t="-596"/>
                </a:stretch>
              </a:blipFill>
            </p:spPr>
            <p:txBody>
              <a:bodyPr/>
              <a:lstStyle/>
              <a:p>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2" name="Рисунок 11"/>
          <p:cNvPicPr>
            <a:picLocks noChangeAspect="1"/>
          </p:cNvPicPr>
          <p:nvPr/>
        </p:nvPicPr>
        <p:blipFill>
          <a:blip r:embed="rId3"/>
          <a:stretch>
            <a:fillRect/>
          </a:stretch>
        </p:blipFill>
        <p:spPr>
          <a:xfrm>
            <a:off x="3567112" y="5229225"/>
            <a:ext cx="4219575" cy="1085850"/>
          </a:xfrm>
          <a:prstGeom prst="rect">
            <a:avLst/>
          </a:prstGeom>
        </p:spPr>
      </p:pic>
    </p:spTree>
    <p:extLst>
      <p:ext uri="{BB962C8B-B14F-4D97-AF65-F5344CB8AC3E}">
        <p14:creationId xmlns:p14="http://schemas.microsoft.com/office/powerpoint/2010/main" val="38321505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примеры</a:t>
            </a:r>
          </a:p>
        </p:txBody>
      </p:sp>
      <p:pic>
        <p:nvPicPr>
          <p:cNvPr id="2050" name="Picture 2" descr="Simple 1D convolutional neural network (CNN) architecture with two...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 y="1442448"/>
            <a:ext cx="5965825" cy="515868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ulticlass Damage Identification in a Full-Scale Bridge Using Optimally  Tuned One-Dimensional Convolutional Neural Network | Journal of Computing  in Civil Engineering | Vol 36, No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50244" y="2591407"/>
            <a:ext cx="5852160" cy="362712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Прямая соединительная линия 4"/>
          <p:cNvCxnSpPr/>
          <p:nvPr/>
        </p:nvCxnSpPr>
        <p:spPr>
          <a:xfrm flipV="1">
            <a:off x="2286000" y="4886325"/>
            <a:ext cx="1533525" cy="98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a:off x="1743075" y="4259953"/>
            <a:ext cx="2076450" cy="6791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1686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примеры</a:t>
            </a:r>
          </a:p>
        </p:txBody>
      </p:sp>
      <p:cxnSp>
        <p:nvCxnSpPr>
          <p:cNvPr id="5" name="Прямая соединительная линия 4"/>
          <p:cNvCxnSpPr/>
          <p:nvPr/>
        </p:nvCxnSpPr>
        <p:spPr>
          <a:xfrm flipV="1">
            <a:off x="2286000" y="4886325"/>
            <a:ext cx="1533525" cy="98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p:nvPr/>
        </p:nvCxnSpPr>
        <p:spPr>
          <a:xfrm>
            <a:off x="1743075" y="4259953"/>
            <a:ext cx="2076450" cy="67916"/>
          </a:xfrm>
          <a:prstGeom prst="line">
            <a:avLst/>
          </a:prstGeom>
        </p:spPr>
        <p:style>
          <a:lnRef idx="1">
            <a:schemeClr val="accent1"/>
          </a:lnRef>
          <a:fillRef idx="0">
            <a:schemeClr val="accent1"/>
          </a:fillRef>
          <a:effectRef idx="0">
            <a:schemeClr val="accent1"/>
          </a:effectRef>
          <a:fontRef idx="minor">
            <a:schemeClr val="tx1"/>
          </a:fontRef>
        </p:style>
      </p:cxnSp>
      <p:pic>
        <p:nvPicPr>
          <p:cNvPr id="2052" name="Picture 4" descr="One-dimensional convolutional neural network (1D-CNN) models used in...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1690688"/>
            <a:ext cx="11564860" cy="434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55122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примеры</a:t>
            </a:r>
          </a:p>
        </p:txBody>
      </p:sp>
      <p:sp>
        <p:nvSpPr>
          <p:cNvPr id="3" name="Объект 2"/>
          <p:cNvSpPr>
            <a:spLocks noGrp="1"/>
          </p:cNvSpPr>
          <p:nvPr>
            <p:ph idx="1"/>
          </p:nvPr>
        </p:nvSpPr>
        <p:spPr/>
        <p:txBody>
          <a:bodyPr/>
          <a:lstStyle/>
          <a:p>
            <a:endParaRPr lang="ru-RU" dirty="0"/>
          </a:p>
        </p:txBody>
      </p:sp>
      <p:pic>
        <p:nvPicPr>
          <p:cNvPr id="3074" name="Picture 2" descr="One-dimensional convolutional neural network (1D-CNN) model...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4901" y="204360"/>
            <a:ext cx="8448674" cy="37969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1D convolutional neural networks and applications: A survey - ScienceDirec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25" y="3700462"/>
            <a:ext cx="4914900" cy="3057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7910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p>
        </p:txBody>
      </p:sp>
      <p:sp>
        <p:nvSpPr>
          <p:cNvPr id="3" name="Объект 2"/>
          <p:cNvSpPr>
            <a:spLocks noGrp="1"/>
          </p:cNvSpPr>
          <p:nvPr>
            <p:ph idx="1"/>
          </p:nvPr>
        </p:nvSpPr>
        <p:spPr>
          <a:xfrm>
            <a:off x="367469" y="717846"/>
            <a:ext cx="11374451" cy="6140153"/>
          </a:xfrm>
        </p:spPr>
        <p:txBody>
          <a:bodyPr>
            <a:noAutofit/>
          </a:bodyPr>
          <a:lstStyle/>
          <a:p>
            <a:pPr algn="l" rtl="0" eaLnBrk="0" fontAlgn="base" hangingPunct="0">
              <a:lnSpc>
                <a:spcPct val="100000"/>
              </a:lnSpc>
              <a:spcBef>
                <a:spcPct val="0"/>
              </a:spcBef>
              <a:spcAft>
                <a:spcPct val="0"/>
              </a:spcAft>
            </a:pPr>
            <a:r>
              <a:rPr lang="ru-RU" altLang="ru-RU" sz="2000" i="1" dirty="0" err="1">
                <a:solidFill>
                  <a:srgbClr val="000000"/>
                </a:solidFill>
              </a:rPr>
              <a:t>Примечание</a:t>
            </a:r>
            <a:endParaRPr lang="ru-RU" altLang="ru-RU" sz="2000" dirty="0"/>
          </a:p>
          <a:p>
            <a:pPr lvl="0"/>
            <a:r>
              <a:rPr lang="ru-RU" sz="2000" dirty="0"/>
              <a:t>Операция conv-1d соответствует фильтрам с конечной импульсной характеристикой (КИХ) при цифровой обработке сигналов.</a:t>
            </a:r>
          </a:p>
          <a:p>
            <a:pPr lvl="0"/>
            <a:r>
              <a:rPr lang="ru-RU" sz="2000" u="sng" dirty="0"/>
              <a:t>Размер ядра фильтра</a:t>
            </a:r>
            <a:r>
              <a:rPr lang="ru-RU" sz="2000" dirty="0"/>
              <a:t> 𝐾 </a:t>
            </a:r>
            <a:r>
              <a:rPr lang="ru-RU" sz="2000" u="sng" dirty="0"/>
              <a:t> соответствует размеру  рецептивного поля в классическом подходе CNN.</a:t>
            </a:r>
            <a:endParaRPr lang="ru-RU" sz="2000" dirty="0"/>
          </a:p>
          <a:p>
            <a:pPr lvl="0"/>
            <a:r>
              <a:rPr lang="ru-RU" sz="2000" dirty="0"/>
              <a:t>В соответствии с предположениями пространственной инвариантности для стандартных CNN 2d CNN для изображения), временные CNN (1d CNN для временных рядов) предполагают, что отношения не зависят от времени - таким образом, можно использовать один и тот же набор весов фильтра на каждом временном шаге.</a:t>
            </a:r>
          </a:p>
          <a:p>
            <a:pPr lvl="0"/>
            <a:r>
              <a:rPr lang="ru-RU" sz="2000" dirty="0"/>
              <a:t>Размер ядра фильтра необходимо тщательно настроить, чтобы модель могла использовать всю важную историческую информацию.</a:t>
            </a:r>
          </a:p>
          <a:p>
            <a:pPr lvl="0"/>
            <a:r>
              <a:rPr lang="ru-RU" sz="2000" dirty="0"/>
              <a:t>Стоит отметить, что один слой CNN эквивалентен модели авторегрессии (AR).</a:t>
            </a:r>
          </a:p>
          <a:p>
            <a:pPr algn="l" rtl="0" eaLnBrk="0" fontAlgn="base" hangingPunct="0">
              <a:lnSpc>
                <a:spcPct val="100000"/>
              </a:lnSpc>
              <a:spcBef>
                <a:spcPct val="0"/>
              </a:spcBef>
              <a:spcAft>
                <a:spcPct val="0"/>
              </a:spcAft>
            </a:pPr>
            <a:endParaRPr lang="ru-RU" altLang="ru-RU"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0262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447224"/>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r>
              <a:rPr lang="en-US" sz="4000" b="1" dirty="0"/>
              <a:t>. </a:t>
            </a:r>
            <a:r>
              <a:rPr lang="ru-RU" sz="4000" b="1" dirty="0"/>
              <a:t>Расширенная свертка</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0" name="Рисунок 9"/>
          <p:cNvPicPr>
            <a:picLocks noChangeAspect="1"/>
          </p:cNvPicPr>
          <p:nvPr/>
        </p:nvPicPr>
        <p:blipFill>
          <a:blip r:embed="rId2"/>
          <a:stretch>
            <a:fillRect/>
          </a:stretch>
        </p:blipFill>
        <p:spPr>
          <a:xfrm>
            <a:off x="1486968" y="1310052"/>
            <a:ext cx="6651192" cy="2575774"/>
          </a:xfrm>
          <a:prstGeom prst="rect">
            <a:avLst/>
          </a:prstGeom>
        </p:spPr>
      </p:pic>
      <p:pic>
        <p:nvPicPr>
          <p:cNvPr id="11" name="Рисунок 10"/>
          <p:cNvPicPr>
            <a:picLocks noChangeAspect="1"/>
          </p:cNvPicPr>
          <p:nvPr/>
        </p:nvPicPr>
        <p:blipFill rotWithShape="1">
          <a:blip r:embed="rId3"/>
          <a:srcRect t="7110"/>
          <a:stretch/>
        </p:blipFill>
        <p:spPr>
          <a:xfrm>
            <a:off x="4443813" y="3783032"/>
            <a:ext cx="7256698" cy="2892087"/>
          </a:xfrm>
          <a:prstGeom prst="rect">
            <a:avLst/>
          </a:prstGeom>
        </p:spPr>
      </p:pic>
    </p:spTree>
    <p:extLst>
      <p:ext uri="{BB962C8B-B14F-4D97-AF65-F5344CB8AC3E}">
        <p14:creationId xmlns:p14="http://schemas.microsoft.com/office/powerpoint/2010/main" val="12974625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367469" y="717846"/>
                <a:ext cx="11374451" cy="6140153"/>
              </a:xfrm>
            </p:spPr>
            <p:txBody>
              <a:bodyPr>
                <a:noAutofit/>
              </a:bodyPr>
              <a:lstStyle/>
              <a:p>
                <a:pPr algn="l" rtl="0">
                  <a:lnSpc>
                    <a:spcPct val="100000"/>
                  </a:lnSpc>
                  <a:spcBef>
                    <a:spcPts val="300"/>
                  </a:spcBef>
                  <a:spcAft>
                    <a:spcPts val="300"/>
                  </a:spcAft>
                </a:pPr>
                <a:r>
                  <a:rPr lang="en-US" sz="1800" dirty="0"/>
                  <a:t>1d свертку можно описать как</a:t>
                </a:r>
                <a:endParaRPr lang="ru-RU" sz="1800" dirty="0"/>
              </a:p>
              <a:p>
                <a:pPr marL="0" indent="0" algn="l" rtl="0">
                  <a:lnSpc>
                    <a:spcPct val="100000"/>
                  </a:lnSpc>
                  <a:spcBef>
                    <a:spcPts val="300"/>
                  </a:spcBef>
                  <a:spcAft>
                    <a:spcPts val="300"/>
                  </a:spcAft>
                  <a:buNone/>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𝑟</m:t>
                      </m:r>
                      <m:r>
                        <a:rPr lang="en-US" sz="1800" i="1">
                          <a:latin typeface="Cambria Math" panose="02040503050406030204" pitchFamily="18" charset="0"/>
                        </a:rPr>
                        <m:t>=</m:t>
                      </m:r>
                      <m:r>
                        <a:rPr lang="en-US" sz="1800" i="1">
                          <a:latin typeface="Cambria Math" panose="02040503050406030204" pitchFamily="18" charset="0"/>
                        </a:rPr>
                        <m:t>𝑘</m:t>
                      </m:r>
                      <m:r>
                        <a:rPr lang="en-US" sz="1800" i="1">
                          <a:latin typeface="Cambria Math" panose="02040503050406030204" pitchFamily="18" charset="0"/>
                        </a:rPr>
                        <m:t>∗</m:t>
                      </m:r>
                      <m:r>
                        <a:rPr lang="en-US" sz="1800" i="1">
                          <a:latin typeface="Cambria Math" panose="02040503050406030204" pitchFamily="18" charset="0"/>
                        </a:rPr>
                        <m:t>𝑥</m:t>
                      </m:r>
                      <m:r>
                        <a:rPr lang="en-US" sz="1800" i="1">
                          <a:latin typeface="Cambria Math" panose="02040503050406030204" pitchFamily="18" charset="0"/>
                        </a:rPr>
                        <m:t>=</m:t>
                      </m:r>
                      <m:r>
                        <a:rPr lang="en-US" sz="1800" b="1" i="1">
                          <a:latin typeface="Cambria Math" panose="02040503050406030204" pitchFamily="18" charset="0"/>
                        </a:rPr>
                        <m:t>𝐤</m:t>
                      </m:r>
                      <m:r>
                        <a:rPr lang="en-US" sz="1800" i="1">
                          <a:latin typeface="Cambria Math" panose="02040503050406030204" pitchFamily="18" charset="0"/>
                        </a:rPr>
                        <m:t>⋅</m:t>
                      </m:r>
                      <m:acc>
                        <m:accPr>
                          <m:chr m:val="⃗"/>
                          <m:ctrlPr>
                            <a:rPr lang="ru-RU" sz="1800" i="1">
                              <a:latin typeface="Cambria Math" panose="02040503050406030204" pitchFamily="18" charset="0"/>
                            </a:rPr>
                          </m:ctrlPr>
                        </m:accPr>
                        <m:e>
                          <m:r>
                            <a:rPr lang="en-US" sz="1800" i="1">
                              <a:latin typeface="Cambria Math" panose="02040503050406030204" pitchFamily="18" charset="0"/>
                            </a:rPr>
                            <m:t>𝑥</m:t>
                          </m:r>
                        </m:e>
                      </m:acc>
                      <m:r>
                        <a:rPr lang="en-US" sz="1800" i="1">
                          <a:latin typeface="Cambria Math" panose="02040503050406030204" pitchFamily="18" charset="0"/>
                        </a:rPr>
                        <m:t>,</m:t>
                      </m:r>
                    </m:oMath>
                  </m:oMathPara>
                </a14:m>
                <a:endParaRPr lang="ru-RU" sz="1800" dirty="0"/>
              </a:p>
              <a:p>
                <a:pPr algn="l" rtl="0">
                  <a:lnSpc>
                    <a:spcPct val="100000"/>
                  </a:lnSpc>
                  <a:spcBef>
                    <a:spcPts val="300"/>
                  </a:spcBef>
                  <a:spcAft>
                    <a:spcPts val="300"/>
                  </a:spcAft>
                </a:pPr>
                <a:r>
                  <a:rPr lang="ru-RU" sz="1800" dirty="0"/>
                  <a:t>где</a:t>
                </a:r>
                <a:r>
                  <a:rPr lang="en-US" sz="1800" dirty="0"/>
                  <a:t>: </a:t>
                </a:r>
                <a14:m>
                  <m:oMath xmlns:m="http://schemas.openxmlformats.org/officeDocument/2006/math">
                    <m:r>
                      <a:rPr lang="en-US" sz="1800" i="1">
                        <a:latin typeface="Cambria Math" panose="02040503050406030204" pitchFamily="18" charset="0"/>
                      </a:rPr>
                      <m:t>𝑘</m:t>
                    </m:r>
                  </m:oMath>
                </a14:m>
                <a:r>
                  <a:rPr lang="en-US" sz="1800" dirty="0"/>
                  <a:t> вектор весов </a:t>
                </a:r>
                <a14:m>
                  <m:oMath xmlns:m="http://schemas.openxmlformats.org/officeDocument/2006/math">
                    <m:r>
                      <a:rPr lang="en-US" sz="1800" i="1">
                        <a:latin typeface="Cambria Math" panose="02040503050406030204" pitchFamily="18" charset="0"/>
                      </a:rPr>
                      <m:t>𝑘</m:t>
                    </m:r>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r>
                      <a:rPr lang="en-US" sz="1800" i="1">
                        <a:latin typeface="Cambria Math" panose="02040503050406030204" pitchFamily="18" charset="0"/>
                      </a:rPr>
                      <m:t>)</m:t>
                    </m:r>
                  </m:oMath>
                </a14:m>
                <a:r>
                  <a:rPr lang="en-US" sz="1800" dirty="0"/>
                  <a:t>, </a:t>
                </a:r>
                <a14:m>
                  <m:oMath xmlns:m="http://schemas.openxmlformats.org/officeDocument/2006/math">
                    <m:r>
                      <a:rPr lang="en-US" sz="1800" i="1">
                        <a:latin typeface="Cambria Math" panose="02040503050406030204" pitchFamily="18" charset="0"/>
                      </a:rPr>
                      <m:t>𝐾</m:t>
                    </m:r>
                  </m:oMath>
                </a14:m>
                <a:r>
                  <a:rPr lang="en-US" sz="1800" dirty="0"/>
                  <a:t> </a:t>
                </a:r>
                <a:r>
                  <a:rPr lang="en-US" sz="1800" dirty="0" err="1"/>
                  <a:t>размер</a:t>
                </a:r>
                <a:r>
                  <a:rPr lang="en-US" sz="1800" dirty="0"/>
                  <a:t> </a:t>
                </a:r>
                <a:r>
                  <a:rPr lang="en-US" sz="1800" dirty="0" err="1"/>
                  <a:t>ядра</a:t>
                </a:r>
                <a:r>
                  <a:rPr lang="en-US" sz="1800" dirty="0"/>
                  <a:t>, </a:t>
                </a:r>
                <a14:m>
                  <m:oMath xmlns:m="http://schemas.openxmlformats.org/officeDocument/2006/math">
                    <m:r>
                      <a:rPr lang="en-US" sz="1800" i="1">
                        <a:latin typeface="Cambria Math" panose="02040503050406030204" pitchFamily="18" charset="0"/>
                      </a:rPr>
                      <m:t>𝑥</m:t>
                    </m:r>
                  </m:oMath>
                </a14:m>
                <a:r>
                  <a:rPr lang="en-US" sz="1800" dirty="0"/>
                  <a:t> это входной вектор,</a:t>
                </a:r>
                <a:br>
                  <a:rPr lang="en-US" sz="1800" dirty="0"/>
                </a:br>
                <a:r>
                  <a:rPr lang="en-US" sz="1800" dirty="0"/>
                  <a:t> </a:t>
                </a:r>
                <a14:m>
                  <m:oMath xmlns:m="http://schemas.openxmlformats.org/officeDocument/2006/math">
                    <m:r>
                      <a:rPr lang="en-US" sz="1800" i="1">
                        <a:latin typeface="Cambria Math" panose="02040503050406030204" pitchFamily="18" charset="0"/>
                      </a:rPr>
                      <m:t>𝑥</m:t>
                    </m:r>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𝑁</m:t>
                        </m:r>
                        <m:r>
                          <a:rPr lang="en-US" sz="1800" i="1">
                            <a:latin typeface="Cambria Math" panose="02040503050406030204" pitchFamily="18" charset="0"/>
                          </a:rPr>
                          <m:t>−1</m:t>
                        </m:r>
                      </m:sub>
                    </m:sSub>
                    <m:r>
                      <a:rPr lang="en-US" sz="1800" i="1">
                        <a:latin typeface="Cambria Math" panose="02040503050406030204" pitchFamily="18" charset="0"/>
                      </a:rPr>
                      <m:t>)</m:t>
                    </m:r>
                  </m:oMath>
                </a14:m>
                <a:r>
                  <a:rPr lang="en-US" sz="1800" dirty="0"/>
                  <a:t>, </a:t>
                </a:r>
                <a14:m>
                  <m:oMath xmlns:m="http://schemas.openxmlformats.org/officeDocument/2006/math">
                    <m:r>
                      <a:rPr lang="en-US" sz="1800" i="1">
                        <a:latin typeface="Cambria Math" panose="02040503050406030204" pitchFamily="18" charset="0"/>
                      </a:rPr>
                      <m:t>𝑁</m:t>
                    </m:r>
                  </m:oMath>
                </a14:m>
                <a:r>
                  <a:rPr lang="en-US" sz="1800" dirty="0"/>
                  <a:t> - размер ввода, а </a:t>
                </a:r>
                <a14:m>
                  <m:oMath xmlns:m="http://schemas.openxmlformats.org/officeDocument/2006/math">
                    <m:acc>
                      <m:accPr>
                        <m:chr m:val="⃗"/>
                        <m:ctrlPr>
                          <a:rPr lang="ru-RU" sz="1800" i="1">
                            <a:latin typeface="Cambria Math" panose="02040503050406030204" pitchFamily="18" charset="0"/>
                          </a:rPr>
                        </m:ctrlPr>
                      </m:accPr>
                      <m:e>
                        <m:r>
                          <a:rPr lang="en-US" sz="1800" i="1">
                            <a:latin typeface="Cambria Math" panose="02040503050406030204" pitchFamily="18" charset="0"/>
                          </a:rPr>
                          <m:t>𝑥</m:t>
                        </m:r>
                      </m:e>
                    </m:acc>
                    <m:r>
                      <a:rPr lang="en-US" sz="1800" i="1">
                        <a:latin typeface="Cambria Math" panose="02040503050406030204" pitchFamily="18" charset="0"/>
                      </a:rPr>
                      <m:t>=</m:t>
                    </m:r>
                    <m:sSup>
                      <m:sSupPr>
                        <m:ctrlPr>
                          <a:rPr lang="ru-RU" sz="1800" i="1">
                            <a:latin typeface="Cambria Math" panose="02040503050406030204" pitchFamily="18" charset="0"/>
                          </a:rPr>
                        </m:ctrlPr>
                      </m:sSupPr>
                      <m:e>
                        <m:r>
                          <a:rPr lang="en-US" sz="1800" i="1">
                            <a:latin typeface="Cambria Math" panose="02040503050406030204" pitchFamily="18" charset="0"/>
                          </a:rPr>
                          <m:t>𝑥</m:t>
                        </m:r>
                      </m:e>
                      <m:sup>
                        <m:r>
                          <a:rPr lang="en-US" sz="1800" i="1">
                            <a:latin typeface="Cambria Math" panose="02040503050406030204" pitchFamily="18" charset="0"/>
                          </a:rPr>
                          <m:t>𝑇</m:t>
                        </m:r>
                      </m:sup>
                    </m:sSup>
                  </m:oMath>
                </a14:m>
                <a:r>
                  <a:rPr lang="en-US" sz="1800" dirty="0"/>
                  <a:t>,</a:t>
                </a:r>
                <a14:m>
                  <m:oMath xmlns:m="http://schemas.openxmlformats.org/officeDocument/2006/math">
                    <m:r>
                      <a:rPr lang="en-US" sz="1800" b="0" i="0" smtClean="0">
                        <a:latin typeface="Cambria Math" panose="02040503050406030204" pitchFamily="18" charset="0"/>
                      </a:rPr>
                      <m:t> </m:t>
                    </m:r>
                    <m:r>
                      <a:rPr lang="en-US" sz="1800" b="1" i="1">
                        <a:latin typeface="Cambria Math" panose="02040503050406030204" pitchFamily="18" charset="0"/>
                      </a:rPr>
                      <m:t>𝐤</m:t>
                    </m:r>
                  </m:oMath>
                </a14:m>
                <a:r>
                  <a:rPr lang="en-US" sz="1800" dirty="0"/>
                  <a:t> матрица свертки. </a:t>
                </a:r>
                <a:endParaRPr lang="ru-RU" sz="1800" dirty="0"/>
              </a:p>
              <a:p>
                <a:pPr marL="0" indent="0" algn="l" rtl="0">
                  <a:lnSpc>
                    <a:spcPct val="100000"/>
                  </a:lnSpc>
                  <a:spcBef>
                    <a:spcPts val="300"/>
                  </a:spcBef>
                  <a:spcAft>
                    <a:spcPts val="300"/>
                  </a:spcAft>
                  <a:buNone/>
                </a:pPr>
                <a14:m>
                  <m:oMathPara xmlns:m="http://schemas.openxmlformats.org/officeDocument/2006/math">
                    <m:oMathParaPr>
                      <m:jc m:val="centerGroup"/>
                    </m:oMathParaPr>
                    <m:oMath xmlns:m="http://schemas.openxmlformats.org/officeDocument/2006/math">
                      <m:r>
                        <a:rPr lang="en-US" sz="1800" b="1" i="1">
                          <a:latin typeface="Cambria Math" panose="02040503050406030204" pitchFamily="18" charset="0"/>
                        </a:rPr>
                        <m:t>𝐤</m:t>
                      </m:r>
                      <m:r>
                        <a:rPr lang="en-US" sz="1800" i="1">
                          <a:latin typeface="Cambria Math" panose="02040503050406030204" pitchFamily="18" charset="0"/>
                        </a:rPr>
                        <m:t>=</m:t>
                      </m:r>
                      <m:d>
                        <m:dPr>
                          <m:begChr m:val="["/>
                          <m:endChr m:val="]"/>
                          <m:ctrlPr>
                            <a:rPr lang="ru-RU" sz="1800" i="1">
                              <a:latin typeface="Cambria Math" panose="02040503050406030204" pitchFamily="18" charset="0"/>
                            </a:rPr>
                          </m:ctrlPr>
                        </m:dPr>
                        <m:e>
                          <m:m>
                            <m:mPr>
                              <m:plcHide m:val="on"/>
                              <m:mcs>
                                <m:mc>
                                  <m:mcPr>
                                    <m:count m:val="9"/>
                                    <m:mcJc m:val="center"/>
                                  </m:mcPr>
                                </m:mc>
                              </m:mcs>
                              <m:ctrlPr>
                                <a:rPr lang="ru-RU" sz="1800" i="1">
                                  <a:latin typeface="Cambria Math" panose="02040503050406030204" pitchFamily="18" charset="0"/>
                                </a:rPr>
                              </m:ctrlPr>
                            </m:mPr>
                            <m:mr>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1</m:t>
                                    </m:r>
                                  </m:sub>
                                </m:sSub>
                              </m:e>
                              <m:e>
                                <m:r>
                                  <a:rPr lang="en-US" sz="1800" i="1">
                                    <a:latin typeface="Cambria Math" panose="02040503050406030204" pitchFamily="18" charset="0"/>
                                  </a:rPr>
                                  <m:t>…</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e>
                              <m:e>
                                <m:r>
                                  <a:rPr lang="en-US" sz="1800" i="1">
                                    <a:latin typeface="Cambria Math" panose="02040503050406030204" pitchFamily="18" charset="0"/>
                                  </a:rPr>
                                  <m:t>0</m:t>
                                </m:r>
                              </m:e>
                              <m:e>
                                <m:r>
                                  <a:rPr lang="en-US" sz="1800" i="1">
                                    <a:latin typeface="Cambria Math" panose="02040503050406030204" pitchFamily="18" charset="0"/>
                                  </a:rPr>
                                  <m:t>…</m:t>
                                </m:r>
                              </m:e>
                              <m:e>
                                <m:r>
                                  <a:rPr lang="en-US" sz="1800" i="1">
                                    <a:latin typeface="Cambria Math" panose="02040503050406030204" pitchFamily="18" charset="0"/>
                                  </a:rPr>
                                  <m:t>0</m:t>
                                </m:r>
                              </m:e>
                              <m:e>
                                <m:r>
                                  <a:rPr lang="en-US" sz="1800" i="1">
                                    <a:latin typeface="Cambria Math" panose="02040503050406030204" pitchFamily="18" charset="0"/>
                                  </a:rPr>
                                  <m:t>…</m:t>
                                </m:r>
                              </m:e>
                              <m:e>
                                <m:r>
                                  <a:rPr lang="en-US" sz="1800" i="1">
                                    <a:latin typeface="Cambria Math" panose="02040503050406030204" pitchFamily="18" charset="0"/>
                                  </a:rPr>
                                  <m:t>0</m:t>
                                </m:r>
                              </m:e>
                            </m:mr>
                            <m:mr>
                              <m:e>
                                <m:r>
                                  <a:rPr lang="en-US" sz="1800" i="1">
                                    <a:latin typeface="Cambria Math" panose="02040503050406030204" pitchFamily="18" charset="0"/>
                                  </a:rPr>
                                  <m:t>0</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e>
                              <m:e>
                                <m:r>
                                  <a:rPr lang="en-US" sz="1800" i="1">
                                    <a:latin typeface="Cambria Math" panose="02040503050406030204" pitchFamily="18" charset="0"/>
                                  </a:rPr>
                                  <m:t>…</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−2</m:t>
                                    </m:r>
                                  </m:sub>
                                </m:sSub>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e>
                              <m:e>
                                <m:r>
                                  <a:rPr lang="en-US" sz="1800" i="1">
                                    <a:latin typeface="Cambria Math" panose="02040503050406030204" pitchFamily="18" charset="0"/>
                                  </a:rPr>
                                  <m:t>…</m:t>
                                </m:r>
                              </m:e>
                              <m:e>
                                <m:r>
                                  <a:rPr lang="en-US" sz="1800" i="1">
                                    <a:latin typeface="Cambria Math" panose="02040503050406030204" pitchFamily="18" charset="0"/>
                                  </a:rPr>
                                  <m:t>0</m:t>
                                </m:r>
                              </m:e>
                              <m:e>
                                <m:r>
                                  <a:rPr lang="en-US" sz="1800" i="1">
                                    <a:latin typeface="Cambria Math" panose="02040503050406030204" pitchFamily="18" charset="0"/>
                                  </a:rPr>
                                  <m:t>…</m:t>
                                </m:r>
                              </m:e>
                              <m:e>
                                <m:r>
                                  <a:rPr lang="en-US" sz="1800" i="1">
                                    <a:latin typeface="Cambria Math" panose="02040503050406030204" pitchFamily="18" charset="0"/>
                                  </a:rPr>
                                  <m:t>0</m:t>
                                </m:r>
                              </m:e>
                            </m:mr>
                            <m:mr>
                              <m:e/>
                              <m:e/>
                              <m:e/>
                              <m:e/>
                              <m:e/>
                              <m:e/>
                              <m:e/>
                              <m:e/>
                              <m:e>
                                <m:r>
                                  <a:rPr lang="en-US" sz="1800" i="1">
                                    <a:latin typeface="Cambria Math" panose="02040503050406030204" pitchFamily="18" charset="0"/>
                                  </a:rPr>
                                  <m:t>…</m:t>
                                </m:r>
                              </m:e>
                            </m:mr>
                            <m:mr>
                              <m:e>
                                <m: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m:t>
                                </m:r>
                              </m:e>
                              <m:e>
                                <m: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e>
                              <m:e>
                                <m:r>
                                  <a:rPr lang="en-US" sz="1800" i="1">
                                    <a:latin typeface="Cambria Math" panose="02040503050406030204" pitchFamily="18" charset="0"/>
                                  </a:rPr>
                                  <m:t>…</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e>
                            </m:mr>
                          </m:m>
                        </m:e>
                      </m:d>
                    </m:oMath>
                  </m:oMathPara>
                </a14:m>
                <a:endParaRPr lang="en-US" sz="1800" dirty="0"/>
              </a:p>
              <a:p>
                <a:pPr marL="0" indent="0" algn="l" rtl="0">
                  <a:lnSpc>
                    <a:spcPct val="100000"/>
                  </a:lnSpc>
                  <a:spcBef>
                    <a:spcPts val="300"/>
                  </a:spcBef>
                  <a:spcAft>
                    <a:spcPts val="300"/>
                  </a:spcAft>
                  <a:buNone/>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ru-RU" sz="1800" i="1">
                              <a:latin typeface="Cambria Math" panose="02040503050406030204" pitchFamily="18" charset="0"/>
                            </a:rPr>
                          </m:ctrlPr>
                        </m:mPr>
                        <m:mr>
                          <m:e/>
                          <m:e>
                            <m:r>
                              <a:rPr lang="en-US" sz="1800" i="1">
                                <a:latin typeface="Cambria Math" panose="02040503050406030204" pitchFamily="18" charset="0"/>
                              </a:rPr>
                              <m:t>𝑟</m:t>
                            </m:r>
                            <m:r>
                              <a:rPr lang="en-US" sz="1800" i="1">
                                <a:latin typeface="Cambria Math" panose="02040503050406030204" pitchFamily="18" charset="0"/>
                              </a:rPr>
                              <m:t>=</m:t>
                            </m:r>
                            <m:r>
                              <a:rPr lang="en-US" sz="1800" i="1">
                                <a:latin typeface="Cambria Math" panose="02040503050406030204" pitchFamily="18" charset="0"/>
                              </a:rPr>
                              <m:t>𝑘</m:t>
                            </m:r>
                            <m:r>
                              <a:rPr lang="en-US" sz="1800" i="1">
                                <a:latin typeface="Cambria Math" panose="02040503050406030204" pitchFamily="18" charset="0"/>
                              </a:rPr>
                              <m:t>∗</m:t>
                            </m:r>
                            <m:r>
                              <a:rPr lang="en-US" sz="1800" i="1">
                                <a:latin typeface="Cambria Math" panose="02040503050406030204" pitchFamily="18" charset="0"/>
                              </a:rPr>
                              <m:t>𝑥</m:t>
                            </m:r>
                            <m:r>
                              <a:rPr lang="en-US" sz="1800" i="1">
                                <a:latin typeface="Cambria Math" panose="02040503050406030204" pitchFamily="18" charset="0"/>
                              </a:rPr>
                              <m:t>=</m:t>
                            </m:r>
                            <m:r>
                              <a:rPr lang="en-US" sz="1800" b="1" i="1">
                                <a:latin typeface="Cambria Math" panose="02040503050406030204" pitchFamily="18" charset="0"/>
                              </a:rPr>
                              <m:t>𝐤</m:t>
                            </m:r>
                            <m:r>
                              <a:rPr lang="en-US" sz="1800" i="1">
                                <a:latin typeface="Cambria Math" panose="02040503050406030204" pitchFamily="18" charset="0"/>
                              </a:rPr>
                              <m:t>⋅</m:t>
                            </m:r>
                            <m:acc>
                              <m:accPr>
                                <m:chr m:val="⃗"/>
                                <m:ctrlPr>
                                  <a:rPr lang="ru-RU" sz="1800" i="1">
                                    <a:latin typeface="Cambria Math" panose="02040503050406030204" pitchFamily="18" charset="0"/>
                                  </a:rPr>
                                </m:ctrlPr>
                              </m:accPr>
                              <m:e>
                                <m:r>
                                  <a:rPr lang="en-US" sz="1800" i="1">
                                    <a:latin typeface="Cambria Math" panose="02040503050406030204" pitchFamily="18" charset="0"/>
                                  </a:rPr>
                                  <m:t>𝑥</m:t>
                                </m:r>
                              </m:e>
                            </m:acc>
                            <m:r>
                              <a:rPr lang="en-US" sz="1800" i="1">
                                <a:latin typeface="Cambria Math" panose="02040503050406030204" pitchFamily="18" charset="0"/>
                              </a:rPr>
                              <m:t>=</m:t>
                            </m:r>
                            <m:d>
                              <m:dPr>
                                <m:begChr m:val="["/>
                                <m:endChr m:val="]"/>
                                <m:ctrlPr>
                                  <a:rPr lang="ru-RU" sz="1800" i="1">
                                    <a:latin typeface="Cambria Math" panose="02040503050406030204" pitchFamily="18" charset="0"/>
                                  </a:rPr>
                                </m:ctrlPr>
                              </m:dPr>
                              <m:e>
                                <m:m>
                                  <m:mPr>
                                    <m:plcHide m:val="on"/>
                                    <m:mcs>
                                      <m:mc>
                                        <m:mcPr>
                                          <m:count m:val="9"/>
                                          <m:mcJc m:val="center"/>
                                        </m:mcPr>
                                      </m:mc>
                                    </m:mcs>
                                    <m:ctrlPr>
                                      <a:rPr lang="ru-RU" sz="1800" i="1">
                                        <a:latin typeface="Cambria Math" panose="02040503050406030204" pitchFamily="18" charset="0"/>
                                      </a:rPr>
                                    </m:ctrlPr>
                                  </m:mPr>
                                  <m:mr>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1</m:t>
                                          </m:r>
                                        </m:sub>
                                      </m:sSub>
                                    </m:e>
                                    <m:e>
                                      <m:r>
                                        <a:rPr lang="en-US" sz="1800" i="1">
                                          <a:latin typeface="Cambria Math" panose="02040503050406030204" pitchFamily="18" charset="0"/>
                                        </a:rPr>
                                        <m:t>…</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e>
                                    <m:e>
                                      <m:r>
                                        <a:rPr lang="en-US" sz="1800" i="1">
                                          <a:latin typeface="Cambria Math" panose="02040503050406030204" pitchFamily="18" charset="0"/>
                                        </a:rPr>
                                        <m:t>0</m:t>
                                      </m:r>
                                    </m:e>
                                    <m:e>
                                      <m:r>
                                        <a:rPr lang="en-US" sz="1800" i="1">
                                          <a:latin typeface="Cambria Math" panose="02040503050406030204" pitchFamily="18" charset="0"/>
                                        </a:rPr>
                                        <m:t>…</m:t>
                                      </m:r>
                                    </m:e>
                                    <m:e>
                                      <m:r>
                                        <a:rPr lang="en-US" sz="1800" i="1">
                                          <a:latin typeface="Cambria Math" panose="02040503050406030204" pitchFamily="18" charset="0"/>
                                        </a:rPr>
                                        <m:t>0</m:t>
                                      </m:r>
                                    </m:e>
                                    <m:e>
                                      <m:r>
                                        <a:rPr lang="en-US" sz="1800" i="1">
                                          <a:latin typeface="Cambria Math" panose="02040503050406030204" pitchFamily="18" charset="0"/>
                                        </a:rPr>
                                        <m:t>…</m:t>
                                      </m:r>
                                    </m:e>
                                    <m:e>
                                      <m:r>
                                        <a:rPr lang="en-US" sz="1800" i="1">
                                          <a:latin typeface="Cambria Math" panose="02040503050406030204" pitchFamily="18" charset="0"/>
                                        </a:rPr>
                                        <m:t>0</m:t>
                                      </m:r>
                                    </m:e>
                                  </m:mr>
                                  <m:mr>
                                    <m:e>
                                      <m:r>
                                        <a:rPr lang="en-US" sz="1800" i="1">
                                          <a:latin typeface="Cambria Math" panose="02040503050406030204" pitchFamily="18" charset="0"/>
                                        </a:rPr>
                                        <m:t>0</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e>
                                    <m:e>
                                      <m:r>
                                        <a:rPr lang="en-US" sz="1800" i="1">
                                          <a:latin typeface="Cambria Math" panose="02040503050406030204" pitchFamily="18" charset="0"/>
                                        </a:rPr>
                                        <m:t>…</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−2</m:t>
                                          </m:r>
                                        </m:sub>
                                      </m:sSub>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e>
                                    <m:e>
                                      <m:r>
                                        <a:rPr lang="en-US" sz="1800" i="1">
                                          <a:latin typeface="Cambria Math" panose="02040503050406030204" pitchFamily="18" charset="0"/>
                                        </a:rPr>
                                        <m:t>…</m:t>
                                      </m:r>
                                    </m:e>
                                    <m:e>
                                      <m:r>
                                        <a:rPr lang="en-US" sz="1800" i="1">
                                          <a:latin typeface="Cambria Math" panose="02040503050406030204" pitchFamily="18" charset="0"/>
                                        </a:rPr>
                                        <m:t>0</m:t>
                                      </m:r>
                                    </m:e>
                                    <m:e>
                                      <m:r>
                                        <a:rPr lang="en-US" sz="1800" i="1">
                                          <a:latin typeface="Cambria Math" panose="02040503050406030204" pitchFamily="18" charset="0"/>
                                        </a:rPr>
                                        <m:t>…</m:t>
                                      </m:r>
                                    </m:e>
                                    <m:e>
                                      <m:r>
                                        <a:rPr lang="en-US" sz="1800" i="1">
                                          <a:latin typeface="Cambria Math" panose="02040503050406030204" pitchFamily="18" charset="0"/>
                                        </a:rPr>
                                        <m:t>0</m:t>
                                      </m:r>
                                    </m:e>
                                  </m:mr>
                                  <m:mr>
                                    <m:e/>
                                    <m:e/>
                                    <m:e/>
                                    <m:e/>
                                    <m:e/>
                                    <m:e/>
                                    <m:e/>
                                    <m:e/>
                                    <m:e>
                                      <m:r>
                                        <a:rPr lang="en-US" sz="1800" i="1">
                                          <a:latin typeface="Cambria Math" panose="02040503050406030204" pitchFamily="18" charset="0"/>
                                        </a:rPr>
                                        <m:t>…</m:t>
                                      </m:r>
                                    </m:e>
                                  </m:mr>
                                  <m:mr>
                                    <m:e>
                                      <m: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m:t>
                                      </m:r>
                                    </m:e>
                                    <m:e>
                                      <m: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e>
                                    <m:e>
                                      <m:r>
                                        <a:rPr lang="en-US" sz="1800" i="1">
                                          <a:latin typeface="Cambria Math" panose="02040503050406030204" pitchFamily="18" charset="0"/>
                                        </a:rPr>
                                        <m:t>…</m:t>
                                      </m:r>
                                    </m:e>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e>
                                  </m:mr>
                                </m:m>
                              </m:e>
                            </m:d>
                            <m:r>
                              <a:rPr lang="en-US" sz="1800" i="1">
                                <a:latin typeface="Cambria Math" panose="02040503050406030204" pitchFamily="18" charset="0"/>
                              </a:rPr>
                              <m:t>⋅</m:t>
                            </m:r>
                            <m:d>
                              <m:dPr>
                                <m:begChr m:val="["/>
                                <m:endChr m:val="]"/>
                                <m:ctrlPr>
                                  <a:rPr lang="ru-RU" sz="1800" i="1">
                                    <a:latin typeface="Cambria Math" panose="02040503050406030204" pitchFamily="18" charset="0"/>
                                  </a:rPr>
                                </m:ctrlPr>
                              </m:dPr>
                              <m:e>
                                <m:m>
                                  <m:mPr>
                                    <m:plcHide m:val="on"/>
                                    <m:mcs>
                                      <m:mc>
                                        <m:mcPr>
                                          <m:count m:val="1"/>
                                          <m:mcJc m:val="center"/>
                                        </m:mcPr>
                                      </m:mc>
                                    </m:mcs>
                                    <m:ctrlPr>
                                      <a:rPr lang="ru-RU" sz="1800" i="1">
                                        <a:latin typeface="Cambria Math" panose="02040503050406030204" pitchFamily="18" charset="0"/>
                                      </a:rPr>
                                    </m:ctrlPr>
                                  </m:mPr>
                                  <m:mr>
                                    <m:e>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0</m:t>
                                          </m:r>
                                        </m:sub>
                                      </m:sSub>
                                    </m:e>
                                  </m:mr>
                                  <m:mr>
                                    <m:e>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sub>
                                      </m:sSub>
                                    </m:e>
                                  </m:mr>
                                  <m:mr>
                                    <m:e>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sub>
                                      </m:sSub>
                                    </m:e>
                                  </m:mr>
                                  <m:mr>
                                    <m:e>
                                      <m:r>
                                        <a:rPr lang="en-US" sz="1800" i="1">
                                          <a:latin typeface="Cambria Math" panose="02040503050406030204" pitchFamily="18" charset="0"/>
                                        </a:rPr>
                                        <m:t>⋮</m:t>
                                      </m:r>
                                    </m:e>
                                  </m:mr>
                                  <m:mr>
                                    <m:e>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𝑛</m:t>
                                          </m:r>
                                          <m:r>
                                            <a:rPr lang="en-US" sz="1800" i="1">
                                              <a:latin typeface="Cambria Math" panose="02040503050406030204" pitchFamily="18" charset="0"/>
                                            </a:rPr>
                                            <m:t>−1</m:t>
                                          </m:r>
                                        </m:sub>
                                      </m:sSub>
                                    </m:e>
                                  </m:mr>
                                </m:m>
                              </m:e>
                            </m:d>
                            <m:r>
                              <a:rPr lang="en-US" sz="1800" i="1">
                                <a:latin typeface="Cambria Math" panose="02040503050406030204" pitchFamily="18" charset="0"/>
                              </a:rPr>
                              <m:t>=</m:t>
                            </m:r>
                          </m:e>
                        </m:mr>
                        <m:mr>
                          <m:e/>
                          <m:e>
                            <m:r>
                              <a:rPr lang="en-US" sz="1800" i="1">
                                <a:latin typeface="Cambria Math" panose="02040503050406030204" pitchFamily="18" charset="0"/>
                              </a:rPr>
                              <m:t>=</m:t>
                            </m:r>
                            <m:d>
                              <m:dPr>
                                <m:begChr m:val="["/>
                                <m:endChr m:val="]"/>
                                <m:ctrlPr>
                                  <a:rPr lang="ru-RU" sz="1800" i="1">
                                    <a:latin typeface="Cambria Math" panose="02040503050406030204" pitchFamily="18" charset="0"/>
                                  </a:rPr>
                                </m:ctrlPr>
                              </m:dPr>
                              <m:e>
                                <m:m>
                                  <m:mPr>
                                    <m:plcHide m:val="on"/>
                                    <m:mcs>
                                      <m:mc>
                                        <m:mcPr>
                                          <m:count m:val="1"/>
                                          <m:mcJc m:val="center"/>
                                        </m:mcPr>
                                      </m:mc>
                                    </m:mcs>
                                    <m:ctrlPr>
                                      <a:rPr lang="ru-RU" sz="1800" i="1">
                                        <a:latin typeface="Cambria Math" panose="02040503050406030204" pitchFamily="18" charset="0"/>
                                      </a:rPr>
                                    </m:ctrlPr>
                                  </m:mPr>
                                  <m:mr>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𝐾</m:t>
                                          </m:r>
                                          <m:r>
                                            <a:rPr lang="en-US" sz="1800" i="1">
                                              <a:latin typeface="Cambria Math" panose="02040503050406030204" pitchFamily="18" charset="0"/>
                                            </a:rPr>
                                            <m:t>−1</m:t>
                                          </m:r>
                                        </m:sub>
                                      </m:sSub>
                                    </m:e>
                                  </m:mr>
                                  <m:mr>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𝐾</m:t>
                                          </m:r>
                                        </m:sub>
                                      </m:sSub>
                                    </m:e>
                                  </m:mr>
                                  <m:mr>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𝐾</m:t>
                                          </m:r>
                                          <m:r>
                                            <a:rPr lang="en-US" sz="1800" i="1">
                                              <a:latin typeface="Cambria Math" panose="02040503050406030204" pitchFamily="18" charset="0"/>
                                            </a:rPr>
                                            <m:t>+1</m:t>
                                          </m:r>
                                        </m:sub>
                                      </m:sSub>
                                    </m:e>
                                  </m:mr>
                                  <m:mr>
                                    <m:e>
                                      <m:r>
                                        <a:rPr lang="en-US" sz="1800" i="1">
                                          <a:latin typeface="Cambria Math" panose="02040503050406030204" pitchFamily="18" charset="0"/>
                                        </a:rPr>
                                        <m:t>⋮</m:t>
                                      </m:r>
                                    </m:e>
                                  </m:mr>
                                  <m:mr>
                                    <m:e>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0</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𝑛</m:t>
                                          </m:r>
                                          <m:r>
                                            <a:rPr lang="en-US" sz="1800" i="1">
                                              <a:latin typeface="Cambria Math" panose="02040503050406030204" pitchFamily="18" charset="0"/>
                                            </a:rPr>
                                            <m:t>−1−</m:t>
                                          </m:r>
                                          <m:r>
                                            <a:rPr lang="en-US" sz="1800" i="1">
                                              <a:latin typeface="Cambria Math" panose="02040503050406030204" pitchFamily="18" charset="0"/>
                                            </a:rPr>
                                            <m:t>𝐾</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𝑛</m:t>
                                          </m:r>
                                          <m:r>
                                            <a:rPr lang="en-US" sz="1800" i="1">
                                              <a:latin typeface="Cambria Math" panose="02040503050406030204" pitchFamily="18" charset="0"/>
                                            </a:rPr>
                                            <m:t>−</m:t>
                                          </m:r>
                                          <m:r>
                                            <a:rPr lang="en-US" sz="1800" i="1">
                                              <a:latin typeface="Cambria Math" panose="02040503050406030204" pitchFamily="18" charset="0"/>
                                            </a:rPr>
                                            <m:t>𝐾</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𝑘</m:t>
                                          </m:r>
                                        </m:e>
                                        <m:sub>
                                          <m:r>
                                            <a:rPr lang="en-US" sz="1800" i="1">
                                              <a:latin typeface="Cambria Math" panose="02040503050406030204" pitchFamily="18" charset="0"/>
                                            </a:rPr>
                                            <m:t>𝐾</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ru-RU"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𝑛</m:t>
                                          </m:r>
                                          <m:r>
                                            <a:rPr lang="en-US" sz="1800" i="1">
                                              <a:latin typeface="Cambria Math" panose="02040503050406030204" pitchFamily="18" charset="0"/>
                                            </a:rPr>
                                            <m:t>−1</m:t>
                                          </m:r>
                                        </m:sub>
                                      </m:sSub>
                                    </m:e>
                                  </m:mr>
                                </m:m>
                              </m:e>
                            </m:d>
                            <m:r>
                              <a:rPr lang="en-US" sz="1800" i="1">
                                <a:latin typeface="Cambria Math" panose="02040503050406030204" pitchFamily="18" charset="0"/>
                              </a:rPr>
                              <m:t>=</m:t>
                            </m:r>
                            <m:d>
                              <m:dPr>
                                <m:begChr m:val="["/>
                                <m:endChr m:val="]"/>
                                <m:ctrlPr>
                                  <a:rPr lang="ru-RU" sz="1800" i="1">
                                    <a:latin typeface="Cambria Math" panose="02040503050406030204" pitchFamily="18" charset="0"/>
                                  </a:rPr>
                                </m:ctrlPr>
                              </m:dPr>
                              <m:e>
                                <m:m>
                                  <m:mPr>
                                    <m:plcHide m:val="on"/>
                                    <m:mcs>
                                      <m:mc>
                                        <m:mcPr>
                                          <m:count m:val="1"/>
                                          <m:mcJc m:val="center"/>
                                        </m:mcPr>
                                      </m:mc>
                                    </m:mcs>
                                    <m:ctrlPr>
                                      <a:rPr lang="ru-RU" sz="1800" i="1">
                                        <a:latin typeface="Cambria Math" panose="02040503050406030204" pitchFamily="18" charset="0"/>
                                      </a:rPr>
                                    </m:ctrlPr>
                                  </m:mPr>
                                  <m:mr>
                                    <m:e>
                                      <m:sSub>
                                        <m:sSubPr>
                                          <m:ctrlPr>
                                            <a:rPr lang="ru-RU" sz="1800" i="1">
                                              <a:latin typeface="Cambria Math" panose="02040503050406030204" pitchFamily="18" charset="0"/>
                                            </a:rPr>
                                          </m:ctrlPr>
                                        </m:sSubPr>
                                        <m:e>
                                          <m:r>
                                            <a:rPr lang="en-US" sz="1800" i="1">
                                              <a:latin typeface="Cambria Math" panose="02040503050406030204" pitchFamily="18" charset="0"/>
                                            </a:rPr>
                                            <m:t>𝑟</m:t>
                                          </m:r>
                                        </m:e>
                                        <m:sub>
                                          <m:r>
                                            <a:rPr lang="en-US" sz="1800" i="1">
                                              <a:latin typeface="Cambria Math" panose="02040503050406030204" pitchFamily="18" charset="0"/>
                                            </a:rPr>
                                            <m:t>0</m:t>
                                          </m:r>
                                        </m:sub>
                                      </m:sSub>
                                    </m:e>
                                  </m:mr>
                                  <m:mr>
                                    <m:e>
                                      <m:sSub>
                                        <m:sSubPr>
                                          <m:ctrlPr>
                                            <a:rPr lang="ru-RU" sz="1800" i="1">
                                              <a:latin typeface="Cambria Math" panose="02040503050406030204" pitchFamily="18" charset="0"/>
                                            </a:rPr>
                                          </m:ctrlPr>
                                        </m:sSubPr>
                                        <m:e>
                                          <m:r>
                                            <a:rPr lang="en-US" sz="1800" i="1">
                                              <a:latin typeface="Cambria Math" panose="02040503050406030204" pitchFamily="18" charset="0"/>
                                            </a:rPr>
                                            <m:t>𝑟</m:t>
                                          </m:r>
                                        </m:e>
                                        <m:sub>
                                          <m:r>
                                            <a:rPr lang="en-US" sz="1800" i="1">
                                              <a:latin typeface="Cambria Math" panose="02040503050406030204" pitchFamily="18" charset="0"/>
                                            </a:rPr>
                                            <m:t>1</m:t>
                                          </m:r>
                                        </m:sub>
                                      </m:sSub>
                                    </m:e>
                                  </m:mr>
                                  <m:mr>
                                    <m:e>
                                      <m:sSub>
                                        <m:sSubPr>
                                          <m:ctrlPr>
                                            <a:rPr lang="ru-RU" sz="1800" i="1">
                                              <a:latin typeface="Cambria Math" panose="02040503050406030204" pitchFamily="18" charset="0"/>
                                            </a:rPr>
                                          </m:ctrlPr>
                                        </m:sSubPr>
                                        <m:e>
                                          <m:r>
                                            <a:rPr lang="en-US" sz="1800" i="1">
                                              <a:latin typeface="Cambria Math" panose="02040503050406030204" pitchFamily="18" charset="0"/>
                                            </a:rPr>
                                            <m:t>𝑟</m:t>
                                          </m:r>
                                        </m:e>
                                        <m:sub>
                                          <m:r>
                                            <a:rPr lang="en-US" sz="1800" i="1">
                                              <a:latin typeface="Cambria Math" panose="02040503050406030204" pitchFamily="18" charset="0"/>
                                            </a:rPr>
                                            <m:t>2</m:t>
                                          </m:r>
                                        </m:sub>
                                      </m:sSub>
                                    </m:e>
                                  </m:mr>
                                  <m:mr>
                                    <m:e>
                                      <m:r>
                                        <a:rPr lang="en-US" sz="1800" i="1">
                                          <a:latin typeface="Cambria Math" panose="02040503050406030204" pitchFamily="18" charset="0"/>
                                        </a:rPr>
                                        <m:t>⋮</m:t>
                                      </m:r>
                                    </m:e>
                                  </m:mr>
                                  <m:mr>
                                    <m:e>
                                      <m:sSub>
                                        <m:sSubPr>
                                          <m:ctrlPr>
                                            <a:rPr lang="ru-RU" sz="1800" i="1">
                                              <a:latin typeface="Cambria Math" panose="02040503050406030204" pitchFamily="18" charset="0"/>
                                            </a:rPr>
                                          </m:ctrlPr>
                                        </m:sSubPr>
                                        <m:e>
                                          <m:r>
                                            <a:rPr lang="en-US" sz="1800" i="1">
                                              <a:latin typeface="Cambria Math" panose="02040503050406030204" pitchFamily="18" charset="0"/>
                                            </a:rPr>
                                            <m:t>𝑟</m:t>
                                          </m:r>
                                        </m:e>
                                        <m:sub>
                                          <m:r>
                                            <a:rPr lang="en-US" sz="1800" i="1">
                                              <a:latin typeface="Cambria Math" panose="02040503050406030204" pitchFamily="18" charset="0"/>
                                            </a:rPr>
                                            <m:t>𝑛</m:t>
                                          </m:r>
                                          <m:r>
                                            <a:rPr lang="en-US" sz="1800" i="1">
                                              <a:latin typeface="Cambria Math" panose="02040503050406030204" pitchFamily="18" charset="0"/>
                                            </a:rPr>
                                            <m:t>−1</m:t>
                                          </m:r>
                                        </m:sub>
                                      </m:sSub>
                                    </m:e>
                                  </m:mr>
                                </m:m>
                              </m:e>
                            </m:d>
                          </m:e>
                        </m:mr>
                      </m:m>
                    </m:oMath>
                  </m:oMathPara>
                </a14:m>
                <a:endParaRPr lang="ru-RU" sz="1800" dirty="0"/>
              </a:p>
              <a:p>
                <a:pPr algn="l" rtl="0">
                  <a:lnSpc>
                    <a:spcPct val="100000"/>
                  </a:lnSpc>
                  <a:spcBef>
                    <a:spcPts val="300"/>
                  </a:spcBef>
                  <a:spcAft>
                    <a:spcPts val="300"/>
                  </a:spcAft>
                </a:pPr>
                <a:r>
                  <a:rPr lang="en-US" sz="1800" dirty="0"/>
                  <a:t>Пример 1-го свертка</a:t>
                </a:r>
              </a:p>
              <a:p>
                <a:pPr marL="0" lvl="0" indent="0" algn="l" rtl="0" eaLnBrk="0" fontAlgn="base" hangingPunct="0">
                  <a:lnSpc>
                    <a:spcPct val="100000"/>
                  </a:lnSpc>
                  <a:spcBef>
                    <a:spcPts val="300"/>
                  </a:spcBef>
                  <a:spcAft>
                    <a:spcPts val="300"/>
                  </a:spcAft>
                  <a:buNone/>
                </a:pPr>
                <a:r>
                  <a:rPr lang="ru-RU" altLang="ru-RU" sz="1800" dirty="0" err="1"/>
                  <a:t>Примечание</a:t>
                </a:r>
                <a:r>
                  <a:rPr lang="ru-RU" altLang="ru-RU" sz="1800" dirty="0"/>
                  <a:t>:</a:t>
                </a:r>
                <a:r>
                  <a:rPr lang="en-US" altLang="ru-RU" sz="1800" dirty="0"/>
                  <a:t> </a:t>
                </a:r>
                <a:r>
                  <a:rPr lang="ru-RU" altLang="ru-RU" sz="1800" dirty="0" err="1"/>
                  <a:t>В</a:t>
                </a:r>
                <a:r>
                  <a:rPr lang="ru-RU" altLang="ru-RU" sz="1800" dirty="0"/>
                  <a:t> </a:t>
                </a:r>
                <a:r>
                  <a:rPr lang="ru-RU" altLang="ru-RU" sz="1800" dirty="0" err="1"/>
                  <a:t>фильтр</a:t>
                </a:r>
                <a:r>
                  <a:rPr lang="ru-RU" altLang="ru-RU" sz="1800" dirty="0"/>
                  <a:t> </a:t>
                </a:r>
                <a:r>
                  <a:rPr lang="ru-RU" altLang="ru-RU" sz="1800" dirty="0" err="1"/>
                  <a:t>ядро</a:t>
                </a:r>
                <a:r>
                  <a:rPr lang="ru-RU" altLang="ru-RU" sz="1800" dirty="0"/>
                  <a:t> </a:t>
                </a:r>
                <a:r>
                  <a:rPr lang="ru-RU" altLang="ru-RU" sz="1800" dirty="0" err="1"/>
                  <a:t>размер</a:t>
                </a:r>
                <a:r>
                  <a:rPr lang="ru-RU" altLang="ru-RU" sz="1800" dirty="0"/>
                  <a:t> 𝐾 </a:t>
                </a:r>
                <a:r>
                  <a:rPr lang="ru-RU" altLang="ru-RU" sz="1800" dirty="0" err="1"/>
                  <a:t>соответствует</a:t>
                </a:r>
                <a:r>
                  <a:rPr lang="ru-RU" altLang="ru-RU" sz="1800" dirty="0"/>
                  <a:t> </a:t>
                </a:r>
                <a:r>
                  <a:rPr lang="ru-RU" altLang="ru-RU" sz="1800" dirty="0" err="1"/>
                  <a:t>к</a:t>
                </a:r>
                <a:r>
                  <a:rPr lang="ru-RU" altLang="ru-RU" sz="1800" dirty="0"/>
                  <a:t> </a:t>
                </a:r>
                <a:r>
                  <a:rPr lang="ru-RU" altLang="ru-RU" sz="1800" dirty="0" err="1"/>
                  <a:t>в</a:t>
                </a:r>
                <a:r>
                  <a:rPr lang="ru-RU" altLang="ru-RU" sz="1800" dirty="0"/>
                  <a:t> </a:t>
                </a:r>
                <a:r>
                  <a:rPr lang="ru-RU" altLang="ru-RU" sz="1800" dirty="0" err="1"/>
                  <a:t>восприимчивый</a:t>
                </a:r>
                <a:r>
                  <a:rPr lang="ru-RU" altLang="ru-RU" sz="1800" dirty="0"/>
                  <a:t> </a:t>
                </a:r>
                <a:r>
                  <a:rPr lang="ru-RU" altLang="ru-RU" sz="1800" dirty="0" err="1"/>
                  <a:t>поле</a:t>
                </a:r>
                <a:r>
                  <a:rPr lang="ru-RU" altLang="ru-RU" sz="1800" dirty="0"/>
                  <a:t> </a:t>
                </a:r>
                <a:r>
                  <a:rPr lang="ru-RU" altLang="ru-RU" sz="1800" dirty="0" err="1"/>
                  <a:t>размер</a:t>
                </a:r>
                <a:r>
                  <a:rPr lang="ru-RU" altLang="ru-RU" sz="1800" dirty="0"/>
                  <a:t> </a:t>
                </a:r>
                <a:r>
                  <a:rPr lang="ru-RU" altLang="ru-RU" sz="1800" dirty="0" err="1"/>
                  <a:t>в</a:t>
                </a:r>
                <a:r>
                  <a:rPr lang="ru-RU" altLang="ru-RU" sz="1800" dirty="0"/>
                  <a:t> </a:t>
                </a:r>
                <a:r>
                  <a:rPr lang="ru-RU" altLang="ru-RU" sz="1800" dirty="0" err="1"/>
                  <a:t>классический</a:t>
                </a:r>
                <a:r>
                  <a:rPr lang="ru-RU" altLang="ru-RU" sz="1800" dirty="0"/>
                  <a:t> CNN </a:t>
                </a:r>
                <a:r>
                  <a:rPr lang="ru-RU" altLang="ru-RU" sz="1800" dirty="0" err="1"/>
                  <a:t>подход</a:t>
                </a:r>
                <a:r>
                  <a:rPr lang="ru-RU" altLang="ru-RU" sz="1800" dirty="0"/>
                  <a:t>.</a:t>
                </a:r>
              </a:p>
              <a:p>
                <a:pPr marL="0" lvl="0" indent="0" algn="l" rtl="0" eaLnBrk="0" fontAlgn="base" hangingPunct="0">
                  <a:lnSpc>
                    <a:spcPct val="100000"/>
                  </a:lnSpc>
                  <a:spcBef>
                    <a:spcPts val="300"/>
                  </a:spcBef>
                  <a:spcAft>
                    <a:spcPts val="300"/>
                  </a:spcAft>
                  <a:buNone/>
                </a:pPr>
                <a:endParaRPr lang="ru-RU" altLang="ru-RU" sz="1800" dirty="0">
                  <a:latin typeface="Arial" panose="020B0604020202020204" pitchFamily="34" charset="0"/>
                </a:endParaRPr>
              </a:p>
              <a:p>
                <a:pPr algn="l" rtl="0">
                  <a:lnSpc>
                    <a:spcPct val="100000"/>
                  </a:lnSpc>
                  <a:spcBef>
                    <a:spcPts val="300"/>
                  </a:spcBef>
                  <a:spcAft>
                    <a:spcPts val="300"/>
                  </a:spcAft>
                </a:pPr>
                <a:endParaRPr lang="ru-RU" sz="1800" dirty="0"/>
              </a:p>
              <a:p>
                <a:pPr algn="l" rtl="0" eaLnBrk="0" fontAlgn="base" hangingPunct="0">
                  <a:lnSpc>
                    <a:spcPct val="100000"/>
                  </a:lnSpc>
                  <a:spcBef>
                    <a:spcPts val="300"/>
                  </a:spcBef>
                  <a:spcAft>
                    <a:spcPts val="300"/>
                  </a:spcAft>
                </a:pPr>
                <a:endParaRPr lang="ru-RU" alt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367469" y="717846"/>
                <a:ext cx="11374451" cy="6140153"/>
              </a:xfrm>
              <a:blipFill>
                <a:blip r:embed="rId2"/>
                <a:stretch>
                  <a:fillRect l="-429" t="-596" r="-322"/>
                </a:stretch>
              </a:blipFill>
            </p:spPr>
            <p:txBody>
              <a:bodyPr/>
              <a:lstStyle/>
              <a:p>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14663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p>
        </p:txBody>
      </p:sp>
      <p:sp>
        <p:nvSpPr>
          <p:cNvPr id="3" name="Объект 2"/>
          <p:cNvSpPr>
            <a:spLocks noGrp="1"/>
          </p:cNvSpPr>
          <p:nvPr>
            <p:ph idx="1"/>
          </p:nvPr>
        </p:nvSpPr>
        <p:spPr>
          <a:xfrm>
            <a:off x="367469" y="717846"/>
            <a:ext cx="11374451" cy="6140153"/>
          </a:xfrm>
        </p:spPr>
        <p:txBody>
          <a:bodyPr>
            <a:noAutofit/>
          </a:bodyPr>
          <a:lstStyle/>
          <a:p>
            <a:pPr algn="l" rtl="0" eaLnBrk="0" fontAlgn="base" hangingPunct="0">
              <a:lnSpc>
                <a:spcPct val="100000"/>
              </a:lnSpc>
              <a:spcBef>
                <a:spcPct val="0"/>
              </a:spcBef>
              <a:spcAft>
                <a:spcPct val="0"/>
              </a:spcAft>
            </a:pPr>
            <a:r>
              <a:rPr lang="en-US" sz="2000" dirty="0"/>
              <a:t>Помимо 1d свертки, </a:t>
            </a:r>
            <a:r>
              <a:rPr lang="en-US" sz="2000" dirty="0" err="1"/>
              <a:t>также</a:t>
            </a:r>
            <a:r>
              <a:rPr lang="en-US" sz="2000" dirty="0"/>
              <a:t> может </a:t>
            </a:r>
            <a:r>
              <a:rPr lang="en-US" sz="2000" dirty="0" err="1"/>
              <a:t>быть</a:t>
            </a:r>
            <a:r>
              <a:rPr lang="en-US" sz="2000" dirty="0"/>
              <a:t> </a:t>
            </a:r>
            <a:r>
              <a:rPr lang="en-US" sz="2000" b="1" dirty="0"/>
              <a:t>1-d пул</a:t>
            </a:r>
            <a:r>
              <a:rPr lang="en-US" sz="2000" dirty="0"/>
              <a:t>.</a:t>
            </a:r>
            <a:endParaRPr lang="ru-RU" altLang="ru-RU" sz="16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7" name="Рисунок 6"/>
          <p:cNvPicPr>
            <a:picLocks noChangeAspect="1"/>
          </p:cNvPicPr>
          <p:nvPr/>
        </p:nvPicPr>
        <p:blipFill>
          <a:blip r:embed="rId2"/>
          <a:stretch>
            <a:fillRect/>
          </a:stretch>
        </p:blipFill>
        <p:spPr>
          <a:xfrm>
            <a:off x="765175" y="1102910"/>
            <a:ext cx="3714750" cy="3162300"/>
          </a:xfrm>
          <a:prstGeom prst="rect">
            <a:avLst/>
          </a:prstGeom>
        </p:spPr>
      </p:pic>
      <p:sp>
        <p:nvSpPr>
          <p:cNvPr id="8" name="Прямоугольник 7"/>
          <p:cNvSpPr/>
          <p:nvPr/>
        </p:nvSpPr>
        <p:spPr>
          <a:xfrm>
            <a:off x="4877631" y="1365588"/>
            <a:ext cx="6096000" cy="2031325"/>
          </a:xfrm>
          <a:prstGeom prst="rect">
            <a:avLst/>
          </a:prstGeom>
        </p:spPr>
        <p:txBody>
          <a:bodyPr>
            <a:spAutoFit/>
          </a:bodyPr>
          <a:lstStyle/>
          <a:p>
            <a:pPr algn="l" rtl="0"/>
            <a:r>
              <a:rPr lang="en-US" dirty="0">
                <a:solidFill>
                  <a:srgbClr val="000000"/>
                </a:solidFill>
              </a:rPr>
              <a:t>Помимо 1d свертки, </a:t>
            </a:r>
            <a:r>
              <a:rPr lang="en-US" dirty="0" err="1">
                <a:solidFill>
                  <a:srgbClr val="000000"/>
                </a:solidFill>
              </a:rPr>
              <a:t>также</a:t>
            </a:r>
            <a:r>
              <a:rPr lang="en-US" dirty="0">
                <a:solidFill>
                  <a:srgbClr val="000000"/>
                </a:solidFill>
              </a:rPr>
              <a:t> может быть </a:t>
            </a:r>
            <a:r>
              <a:rPr lang="en-US" b="1" dirty="0">
                <a:solidFill>
                  <a:srgbClr val="000000"/>
                </a:solidFill>
              </a:rPr>
              <a:t>глобальный пул</a:t>
            </a:r>
            <a:r>
              <a:rPr lang="en-US" dirty="0">
                <a:solidFill>
                  <a:srgbClr val="000000"/>
                </a:solidFill>
              </a:rPr>
              <a:t>.</a:t>
            </a:r>
            <a:br>
              <a:rPr lang="en-US" dirty="0">
                <a:solidFill>
                  <a:srgbClr val="000000"/>
                </a:solidFill>
              </a:rPr>
            </a:br>
            <a:r>
              <a:rPr lang="en-US" b="1" dirty="0">
                <a:solidFill>
                  <a:srgbClr val="000000"/>
                </a:solidFill>
              </a:rPr>
              <a:t>Средний глобальный пул</a:t>
            </a:r>
            <a:r>
              <a:rPr lang="en-US" dirty="0">
                <a:solidFill>
                  <a:srgbClr val="000000"/>
                </a:solidFill>
              </a:rPr>
              <a:t> используется везде в 1d-cnn, однако вы можете попробовать использовать в качестве </a:t>
            </a:r>
            <a:r>
              <a:rPr lang="en-US" dirty="0" err="1">
                <a:solidFill>
                  <a:srgbClr val="000000"/>
                </a:solidFill>
              </a:rPr>
              <a:t>глобального</a:t>
            </a:r>
            <a:r>
              <a:rPr lang="en-US" dirty="0">
                <a:solidFill>
                  <a:srgbClr val="000000"/>
                </a:solidFill>
              </a:rPr>
              <a:t> -</a:t>
            </a:r>
            <a:r>
              <a:rPr lang="en-US" dirty="0" err="1">
                <a:solidFill>
                  <a:srgbClr val="000000"/>
                </a:solidFill>
              </a:rPr>
              <a:t>максимальн</a:t>
            </a:r>
            <a:r>
              <a:rPr lang="ru-RU" dirty="0" err="1">
                <a:solidFill>
                  <a:srgbClr val="000000"/>
                </a:solidFill>
              </a:rPr>
              <a:t>ый</a:t>
            </a:r>
            <a:r>
              <a:rPr lang="en-US" dirty="0">
                <a:solidFill>
                  <a:srgbClr val="000000"/>
                </a:solidFill>
              </a:rPr>
              <a:t> </a:t>
            </a:r>
            <a:r>
              <a:rPr lang="en-US" dirty="0" err="1">
                <a:solidFill>
                  <a:srgbClr val="000000"/>
                </a:solidFill>
              </a:rPr>
              <a:t>пул</a:t>
            </a:r>
            <a:r>
              <a:rPr lang="ru-RU" dirty="0" err="1">
                <a:solidFill>
                  <a:srgbClr val="000000"/>
                </a:solidFill>
              </a:rPr>
              <a:t>инг</a:t>
            </a:r>
            <a:r>
              <a:rPr lang="en-US" dirty="0">
                <a:solidFill>
                  <a:srgbClr val="000000"/>
                </a:solidFill>
              </a:rPr>
              <a:t> </a:t>
            </a:r>
            <a:r>
              <a:rPr lang="ru-RU" dirty="0">
                <a:solidFill>
                  <a:srgbClr val="000000"/>
                </a:solidFill>
              </a:rPr>
              <a:t>или</a:t>
            </a:r>
            <a:r>
              <a:rPr lang="en-US" dirty="0">
                <a:solidFill>
                  <a:srgbClr val="000000"/>
                </a:solidFill>
              </a:rPr>
              <a:t> flatten и другие слои вместо них.</a:t>
            </a:r>
          </a:p>
          <a:p>
            <a:pPr algn="l" rtl="0"/>
            <a:r>
              <a:rPr lang="en-US" dirty="0">
                <a:solidFill>
                  <a:srgbClr val="000000"/>
                </a:solidFill>
              </a:rPr>
              <a:t>Пример глобального среднего пула (альтернатива сглаженному слою).</a:t>
            </a:r>
            <a:endParaRPr lang="en-US" b="0" i="0" dirty="0">
              <a:solidFill>
                <a:srgbClr val="000000"/>
              </a:solidFill>
              <a:effectLst/>
            </a:endParaRPr>
          </a:p>
        </p:txBody>
      </p:sp>
      <p:pic>
        <p:nvPicPr>
          <p:cNvPr id="10" name="Рисунок 9"/>
          <p:cNvPicPr>
            <a:picLocks noChangeAspect="1"/>
          </p:cNvPicPr>
          <p:nvPr/>
        </p:nvPicPr>
        <p:blipFill>
          <a:blip r:embed="rId3"/>
          <a:stretch>
            <a:fillRect/>
          </a:stretch>
        </p:blipFill>
        <p:spPr>
          <a:xfrm>
            <a:off x="5730118" y="3038475"/>
            <a:ext cx="4391025" cy="3505200"/>
          </a:xfrm>
          <a:prstGeom prst="rect">
            <a:avLst/>
          </a:prstGeom>
        </p:spPr>
      </p:pic>
    </p:spTree>
    <p:extLst>
      <p:ext uri="{BB962C8B-B14F-4D97-AF65-F5344CB8AC3E}">
        <p14:creationId xmlns:p14="http://schemas.microsoft.com/office/powerpoint/2010/main" val="2478303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p>
        </p:txBody>
      </p:sp>
      <p:sp>
        <p:nvSpPr>
          <p:cNvPr id="3" name="Объект 2"/>
          <p:cNvSpPr>
            <a:spLocks noGrp="1"/>
          </p:cNvSpPr>
          <p:nvPr>
            <p:ph idx="1"/>
          </p:nvPr>
        </p:nvSpPr>
        <p:spPr>
          <a:xfrm>
            <a:off x="367469" y="717846"/>
            <a:ext cx="11374451" cy="6140153"/>
          </a:xfrm>
        </p:spPr>
        <p:txBody>
          <a:bodyPr>
            <a:noAutofit/>
          </a:bodyPr>
          <a:lstStyle/>
          <a:p>
            <a:pPr algn="l" rtl="0" eaLnBrk="0" fontAlgn="base" hangingPunct="0">
              <a:lnSpc>
                <a:spcPct val="100000"/>
              </a:lnSpc>
              <a:spcBef>
                <a:spcPct val="0"/>
              </a:spcBef>
              <a:spcAft>
                <a:spcPct val="0"/>
              </a:spcAft>
            </a:pPr>
            <a:r>
              <a:rPr lang="ru-RU" sz="2000" dirty="0"/>
              <a:t>П</a:t>
            </a:r>
            <a:r>
              <a:rPr lang="en-US" sz="2000" dirty="0" err="1"/>
              <a:t>ример</a:t>
            </a:r>
            <a:r>
              <a:rPr lang="en-US" sz="2000" dirty="0"/>
              <a:t> 1-мерной свёрточной сети с </a:t>
            </a:r>
            <a:r>
              <a:rPr lang="en-US" sz="2000" dirty="0" err="1"/>
              <a:t>dropput</a:t>
            </a:r>
            <a:r>
              <a:rPr lang="en-US" sz="2000" dirty="0"/>
              <a:t> входа</a:t>
            </a:r>
            <a:endParaRPr lang="ru-RU" altLang="ru-RU" sz="12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12" name="Рисунок 11"/>
          <p:cNvPicPr>
            <a:picLocks noChangeAspect="1"/>
          </p:cNvPicPr>
          <p:nvPr/>
        </p:nvPicPr>
        <p:blipFill>
          <a:blip r:embed="rId2"/>
          <a:stretch>
            <a:fillRect/>
          </a:stretch>
        </p:blipFill>
        <p:spPr>
          <a:xfrm>
            <a:off x="884816" y="1302417"/>
            <a:ext cx="9846492" cy="4476779"/>
          </a:xfrm>
          <a:prstGeom prst="rect">
            <a:avLst/>
          </a:prstGeom>
        </p:spPr>
      </p:pic>
    </p:spTree>
    <p:extLst>
      <p:ext uri="{BB962C8B-B14F-4D97-AF65-F5344CB8AC3E}">
        <p14:creationId xmlns:p14="http://schemas.microsoft.com/office/powerpoint/2010/main" val="3907564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r>
              <a:rPr lang="en-US" sz="4000" b="1" dirty="0"/>
              <a:t>. 1д </a:t>
            </a:r>
            <a:r>
              <a:rPr lang="en-US" sz="4000" b="1" dirty="0" err="1"/>
              <a:t>ResNet</a:t>
            </a:r>
            <a:endParaRPr lang="ru-RU" sz="4000" b="1" dirty="0"/>
          </a:p>
        </p:txBody>
      </p:sp>
      <p:sp>
        <p:nvSpPr>
          <p:cNvPr id="3" name="Объект 2"/>
          <p:cNvSpPr>
            <a:spLocks noGrp="1"/>
          </p:cNvSpPr>
          <p:nvPr>
            <p:ph idx="1"/>
          </p:nvPr>
        </p:nvSpPr>
        <p:spPr>
          <a:xfrm>
            <a:off x="367469" y="717846"/>
            <a:ext cx="11374451" cy="6140153"/>
          </a:xfrm>
        </p:spPr>
        <p:txBody>
          <a:bodyPr>
            <a:noAutofit/>
          </a:bodyPr>
          <a:lstStyle/>
          <a:p>
            <a:pPr algn="l" rtl="0"/>
            <a:r>
              <a:rPr lang="en-US" sz="2000" i="1" dirty="0" err="1"/>
              <a:t>Примечание</a:t>
            </a:r>
            <a:endParaRPr lang="en-US" sz="2000" i="1" dirty="0"/>
          </a:p>
          <a:p>
            <a:pPr lvl="0"/>
            <a:r>
              <a:rPr lang="ru-RU" sz="2000" u="sng" dirty="0"/>
              <a:t>Большинство </a:t>
            </a:r>
            <a:r>
              <a:rPr lang="ru-RU" sz="2000" b="1" u="sng" dirty="0"/>
              <a:t>подходов</a:t>
            </a:r>
            <a:r>
              <a:rPr lang="ru-RU" sz="2000" u="sng" dirty="0"/>
              <a:t> к  </a:t>
            </a:r>
            <a:r>
              <a:rPr lang="ru-RU" sz="2000" b="1" u="sng" dirty="0"/>
              <a:t>регуляризации</a:t>
            </a:r>
            <a:r>
              <a:rPr lang="ru-RU" sz="2000" u="sng" dirty="0"/>
              <a:t>  из 2d-сверток применимы к сетям 1-мерных временных рядов, например: </a:t>
            </a:r>
            <a:endParaRPr lang="en-US" sz="2000" u="sng" dirty="0"/>
          </a:p>
          <a:p>
            <a:pPr lvl="1"/>
            <a:r>
              <a:rPr lang="ru-RU" dirty="0" err="1"/>
              <a:t>dropput</a:t>
            </a:r>
            <a:r>
              <a:rPr lang="ru-RU" dirty="0"/>
              <a:t>,</a:t>
            </a:r>
          </a:p>
          <a:p>
            <a:pPr lvl="1"/>
            <a:r>
              <a:rPr lang="ru-RU" dirty="0"/>
              <a:t>пропущенные соединения,</a:t>
            </a:r>
          </a:p>
          <a:p>
            <a:pPr lvl="1"/>
            <a:r>
              <a:rPr lang="ru-RU" dirty="0"/>
              <a:t>пакетная нормализация,</a:t>
            </a:r>
          </a:p>
          <a:p>
            <a:pPr lvl="1"/>
            <a:r>
              <a:rPr lang="ru-RU" dirty="0"/>
              <a:t>1x1-свертки и прочее.</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8" name="Рисунок 7"/>
          <p:cNvPicPr>
            <a:picLocks noChangeAspect="1"/>
          </p:cNvPicPr>
          <p:nvPr/>
        </p:nvPicPr>
        <p:blipFill>
          <a:blip r:embed="rId2"/>
          <a:stretch>
            <a:fillRect/>
          </a:stretch>
        </p:blipFill>
        <p:spPr>
          <a:xfrm>
            <a:off x="4683096" y="2527435"/>
            <a:ext cx="6772626" cy="1443425"/>
          </a:xfrm>
          <a:prstGeom prst="rect">
            <a:avLst/>
          </a:prstGeom>
        </p:spPr>
      </p:pic>
      <p:sp>
        <p:nvSpPr>
          <p:cNvPr id="10" name="Прямоугольник 9"/>
          <p:cNvSpPr/>
          <p:nvPr/>
        </p:nvSpPr>
        <p:spPr>
          <a:xfrm>
            <a:off x="307975" y="5225737"/>
            <a:ext cx="6096000" cy="646331"/>
          </a:xfrm>
          <a:prstGeom prst="rect">
            <a:avLst/>
          </a:prstGeom>
        </p:spPr>
        <p:txBody>
          <a:bodyPr>
            <a:spAutoFit/>
          </a:bodyPr>
          <a:lstStyle/>
          <a:p>
            <a:pPr algn="l" rtl="0"/>
            <a:r>
              <a:rPr lang="en-US" dirty="0">
                <a:solidFill>
                  <a:srgbClr val="000000"/>
                </a:solidFill>
                <a:latin typeface="Georgia" panose="02040502050405020303" pitchFamily="18" charset="0"/>
              </a:rPr>
              <a:t>Пример </a:t>
            </a:r>
            <a:r>
              <a:rPr lang="en-US" b="1" dirty="0">
                <a:solidFill>
                  <a:srgbClr val="000000"/>
                </a:solidFill>
                <a:latin typeface="Georgia" panose="02040502050405020303" pitchFamily="18" charset="0"/>
              </a:rPr>
              <a:t>1d </a:t>
            </a:r>
            <a:r>
              <a:rPr lang="en-US" b="1" dirty="0" err="1">
                <a:solidFill>
                  <a:srgbClr val="000000"/>
                </a:solidFill>
                <a:latin typeface="Georgia" panose="02040502050405020303" pitchFamily="18" charset="0"/>
              </a:rPr>
              <a:t>много</a:t>
            </a:r>
            <a:r>
              <a:rPr lang="ru-RU" b="1" dirty="0">
                <a:solidFill>
                  <a:srgbClr val="000000"/>
                </a:solidFill>
                <a:latin typeface="Georgia" panose="02040502050405020303" pitchFamily="18" charset="0"/>
              </a:rPr>
              <a:t>мерный</a:t>
            </a:r>
            <a:r>
              <a:rPr lang="en-US" b="1" dirty="0">
                <a:solidFill>
                  <a:srgbClr val="000000"/>
                </a:solidFill>
                <a:latin typeface="Georgia" panose="02040502050405020303" pitchFamily="18" charset="0"/>
              </a:rPr>
              <a:t> </a:t>
            </a:r>
            <a:r>
              <a:rPr lang="en-US" b="1" dirty="0" err="1">
                <a:solidFill>
                  <a:srgbClr val="000000"/>
                </a:solidFill>
                <a:latin typeface="Georgia" panose="02040502050405020303" pitchFamily="18" charset="0"/>
              </a:rPr>
              <a:t>ResNet</a:t>
            </a:r>
            <a:r>
              <a:rPr lang="en-US" b="1" dirty="0">
                <a:solidFill>
                  <a:srgbClr val="000000"/>
                </a:solidFill>
                <a:latin typeface="Georgia" panose="02040502050405020303" pitchFamily="18" charset="0"/>
              </a:rPr>
              <a:t> </a:t>
            </a:r>
            <a:br>
              <a:rPr lang="en-US" b="1" dirty="0">
                <a:solidFill>
                  <a:srgbClr val="000000"/>
                </a:solidFill>
                <a:latin typeface="Georgia" panose="02040502050405020303" pitchFamily="18" charset="0"/>
              </a:rPr>
            </a:br>
            <a:r>
              <a:rPr lang="en-US" dirty="0">
                <a:solidFill>
                  <a:srgbClr val="000000"/>
                </a:solidFill>
                <a:latin typeface="Georgia" panose="02040502050405020303" pitchFamily="18" charset="0"/>
              </a:rPr>
              <a:t>для классификация временных рядов.</a:t>
            </a:r>
            <a:endParaRPr lang="ru-RU" dirty="0"/>
          </a:p>
        </p:txBody>
      </p:sp>
      <p:pic>
        <p:nvPicPr>
          <p:cNvPr id="11" name="Рисунок 10"/>
          <p:cNvPicPr>
            <a:picLocks noChangeAspect="1"/>
          </p:cNvPicPr>
          <p:nvPr/>
        </p:nvPicPr>
        <p:blipFill>
          <a:blip r:embed="rId3"/>
          <a:stretch>
            <a:fillRect/>
          </a:stretch>
        </p:blipFill>
        <p:spPr>
          <a:xfrm>
            <a:off x="5585826" y="3905988"/>
            <a:ext cx="5707526" cy="2536678"/>
          </a:xfrm>
          <a:prstGeom prst="rect">
            <a:avLst/>
          </a:prstGeom>
        </p:spPr>
      </p:pic>
      <p:sp>
        <p:nvSpPr>
          <p:cNvPr id="13" name="Прямоугольник 12"/>
          <p:cNvSpPr/>
          <p:nvPr/>
        </p:nvSpPr>
        <p:spPr>
          <a:xfrm>
            <a:off x="765175" y="3531920"/>
            <a:ext cx="3984296" cy="707886"/>
          </a:xfrm>
          <a:prstGeom prst="rect">
            <a:avLst/>
          </a:prstGeom>
        </p:spPr>
        <p:txBody>
          <a:bodyPr wrap="none">
            <a:spAutoFit/>
          </a:bodyPr>
          <a:lstStyle/>
          <a:p>
            <a:pPr algn="l" rtl="0"/>
            <a:r>
              <a:rPr lang="en-US" sz="2000" dirty="0" err="1"/>
              <a:t>Пример</a:t>
            </a:r>
            <a:r>
              <a:rPr lang="en-US" sz="2000" dirty="0"/>
              <a:t> </a:t>
            </a:r>
            <a:r>
              <a:rPr lang="en-US" sz="2000" b="1" dirty="0"/>
              <a:t>1d </a:t>
            </a:r>
            <a:r>
              <a:rPr lang="en-US" sz="2000" b="1" dirty="0" err="1"/>
              <a:t>ResNet</a:t>
            </a:r>
            <a:r>
              <a:rPr lang="en-US" sz="2000" b="1" dirty="0"/>
              <a:t> </a:t>
            </a:r>
            <a:r>
              <a:rPr lang="en-US" sz="2000" dirty="0"/>
              <a:t>для</a:t>
            </a:r>
            <a:br>
              <a:rPr lang="en-US" sz="2000" dirty="0"/>
            </a:br>
            <a:r>
              <a:rPr lang="en-US" sz="2000" dirty="0"/>
              <a:t> классификация временных рядов.</a:t>
            </a:r>
            <a:endParaRPr lang="ru-RU" altLang="ru-RU" sz="1050" dirty="0"/>
          </a:p>
        </p:txBody>
      </p:sp>
    </p:spTree>
    <p:extLst>
      <p:ext uri="{BB962C8B-B14F-4D97-AF65-F5344CB8AC3E}">
        <p14:creationId xmlns:p14="http://schemas.microsoft.com/office/powerpoint/2010/main" val="4224052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4731" y="177119"/>
            <a:ext cx="11151977" cy="540728"/>
          </a:xfrm>
        </p:spPr>
        <p:txBody>
          <a:bodyPr>
            <a:noAutofit/>
          </a:bodyPr>
          <a:lstStyle/>
          <a:p>
            <a:pPr algn="l" rtl="0"/>
            <a:r>
              <a:rPr lang="ru-RU" sz="3600" b="1" dirty="0"/>
              <a:t>1-мерная </a:t>
            </a:r>
            <a:r>
              <a:rPr lang="ru-RU" sz="3600" b="1" dirty="0" err="1"/>
              <a:t>сверточная</a:t>
            </a:r>
            <a:r>
              <a:rPr lang="ru-RU" sz="3600" b="1" dirty="0"/>
              <a:t> нейронная сеть</a:t>
            </a:r>
            <a:r>
              <a:rPr lang="en-US" sz="3600" b="1" dirty="0"/>
              <a:t>. </a:t>
            </a:r>
            <a:r>
              <a:rPr lang="en-US" sz="3600" b="1" dirty="0" err="1"/>
              <a:t>InceptionTime</a:t>
            </a:r>
            <a:endParaRPr lang="ru-RU" sz="3600" b="1" dirty="0"/>
          </a:p>
        </p:txBody>
      </p:sp>
      <p:sp>
        <p:nvSpPr>
          <p:cNvPr id="3" name="Объект 2"/>
          <p:cNvSpPr>
            <a:spLocks noGrp="1"/>
          </p:cNvSpPr>
          <p:nvPr>
            <p:ph idx="1"/>
          </p:nvPr>
        </p:nvSpPr>
        <p:spPr>
          <a:xfrm>
            <a:off x="367469" y="717846"/>
            <a:ext cx="11374451" cy="6140153"/>
          </a:xfrm>
        </p:spPr>
        <p:txBody>
          <a:bodyPr>
            <a:noAutofit/>
          </a:bodyPr>
          <a:lstStyle/>
          <a:p>
            <a:pPr algn="l" rtl="0"/>
            <a:r>
              <a:rPr lang="en-US" dirty="0" err="1"/>
              <a:t>Пример</a:t>
            </a:r>
            <a:r>
              <a:rPr lang="en-US" dirty="0"/>
              <a:t> </a:t>
            </a:r>
            <a:r>
              <a:rPr lang="en-US" b="1" dirty="0"/>
              <a:t>1d </a:t>
            </a:r>
            <a:r>
              <a:rPr lang="en-US" b="1" dirty="0" err="1"/>
              <a:t>InceptionTime</a:t>
            </a:r>
            <a:r>
              <a:rPr lang="en-US" b="1" dirty="0"/>
              <a:t> </a:t>
            </a:r>
            <a:r>
              <a:rPr lang="en-US" dirty="0" err="1"/>
              <a:t>для</a:t>
            </a:r>
            <a:r>
              <a:rPr lang="en-US" dirty="0"/>
              <a:t> классификации временных рядов.</a:t>
            </a:r>
            <a:endParaRPr lang="en-US" sz="2000" u="sng"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2" name="Рисунок 11"/>
          <p:cNvPicPr>
            <a:picLocks noChangeAspect="1"/>
          </p:cNvPicPr>
          <p:nvPr/>
        </p:nvPicPr>
        <p:blipFill>
          <a:blip r:embed="rId2"/>
          <a:stretch>
            <a:fillRect/>
          </a:stretch>
        </p:blipFill>
        <p:spPr>
          <a:xfrm>
            <a:off x="765175" y="1346200"/>
            <a:ext cx="6646178" cy="5270500"/>
          </a:xfrm>
          <a:prstGeom prst="rect">
            <a:avLst/>
          </a:prstGeom>
        </p:spPr>
      </p:pic>
    </p:spTree>
    <p:extLst>
      <p:ext uri="{BB962C8B-B14F-4D97-AF65-F5344CB8AC3E}">
        <p14:creationId xmlns:p14="http://schemas.microsoft.com/office/powerpoint/2010/main" val="29168031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8"/>
            <a:ext cx="10883781" cy="1054781"/>
          </a:xfrm>
        </p:spPr>
        <p:txBody>
          <a:bodyPr>
            <a:noAutofit/>
          </a:bodyPr>
          <a:lstStyle/>
          <a:p>
            <a:pPr algn="l" rtl="0"/>
            <a:r>
              <a:rPr lang="ru-RU" sz="4000" b="1" dirty="0"/>
              <a:t>1-мерная </a:t>
            </a:r>
            <a:r>
              <a:rPr lang="ru-RU" sz="4000" b="1" dirty="0" err="1"/>
              <a:t>сверточная</a:t>
            </a:r>
            <a:r>
              <a:rPr lang="ru-RU" sz="4000" b="1" dirty="0"/>
              <a:t> нейронная сеть</a:t>
            </a:r>
            <a:r>
              <a:rPr lang="en-US" sz="4000" b="1" dirty="0"/>
              <a:t>. </a:t>
            </a:r>
            <a:br>
              <a:rPr lang="en-US" sz="4000" b="1" dirty="0"/>
            </a:br>
            <a:r>
              <a:rPr lang="en-US" sz="4000" b="1" dirty="0"/>
              <a:t>Пример с </a:t>
            </a:r>
            <a:r>
              <a:rPr lang="en-US" sz="4000" b="1" dirty="0" err="1"/>
              <a:t>выбором</a:t>
            </a:r>
            <a:r>
              <a:rPr lang="en-US" sz="4000" b="1" dirty="0"/>
              <a:t> </a:t>
            </a:r>
            <a:r>
              <a:rPr lang="ru-RU" sz="4000" b="1" dirty="0"/>
              <a:t>признаков</a:t>
            </a:r>
          </a:p>
        </p:txBody>
      </p:sp>
      <p:sp>
        <p:nvSpPr>
          <p:cNvPr id="3" name="Объект 2"/>
          <p:cNvSpPr>
            <a:spLocks noGrp="1"/>
          </p:cNvSpPr>
          <p:nvPr>
            <p:ph idx="1"/>
          </p:nvPr>
        </p:nvSpPr>
        <p:spPr>
          <a:xfrm>
            <a:off x="367469" y="1367518"/>
            <a:ext cx="11374451" cy="5490481"/>
          </a:xfrm>
        </p:spPr>
        <p:txBody>
          <a:bodyPr>
            <a:noAutofit/>
          </a:bodyPr>
          <a:lstStyle/>
          <a:p>
            <a:pPr lvl="0"/>
            <a:r>
              <a:rPr lang="ru-RU" sz="2000" dirty="0"/>
              <a:t>В некоторых случаях  </a:t>
            </a:r>
            <a:r>
              <a:rPr lang="ru-RU" sz="2000" u="sng" dirty="0"/>
              <a:t> вход сети может быть сформирован с помощью извлечения некоторой признаков из временного ряда</a:t>
            </a:r>
            <a:r>
              <a:rPr lang="ru-RU" sz="2000" dirty="0"/>
              <a:t>.</a:t>
            </a:r>
          </a:p>
          <a:p>
            <a:pPr lvl="0"/>
            <a:r>
              <a:rPr lang="ru-RU" sz="2000" dirty="0"/>
              <a:t>Сами данные могут быть объединены с их спектром, декомпозицией и другими преобразованиями.</a:t>
            </a:r>
          </a:p>
          <a:p>
            <a:pPr lvl="0"/>
            <a:r>
              <a:rPr lang="ru-RU" sz="2000" dirty="0"/>
              <a:t>В этом случае в качестве первого слоя могут применяться так называемые локальные свертки.</a:t>
            </a:r>
          </a:p>
          <a:p>
            <a:pPr lvl="0"/>
            <a:r>
              <a:rPr lang="ru-RU" sz="2000" dirty="0"/>
              <a:t>Пример </a:t>
            </a:r>
            <a:r>
              <a:rPr lang="ru-RU" sz="2000" b="1" dirty="0"/>
              <a:t>выбора функции для слоя локальной свертки.</a:t>
            </a:r>
            <a:endParaRPr lang="ru-RU"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8" name="Рисунок 7"/>
          <p:cNvPicPr>
            <a:picLocks noChangeAspect="1"/>
          </p:cNvPicPr>
          <p:nvPr/>
        </p:nvPicPr>
        <p:blipFill>
          <a:blip r:embed="rId2"/>
          <a:stretch>
            <a:fillRect/>
          </a:stretch>
        </p:blipFill>
        <p:spPr>
          <a:xfrm>
            <a:off x="5232400" y="3156679"/>
            <a:ext cx="5892800" cy="3277118"/>
          </a:xfrm>
          <a:prstGeom prst="rect">
            <a:avLst/>
          </a:prstGeom>
        </p:spPr>
      </p:pic>
    </p:spTree>
    <p:extLst>
      <p:ext uri="{BB962C8B-B14F-4D97-AF65-F5344CB8AC3E}">
        <p14:creationId xmlns:p14="http://schemas.microsoft.com/office/powerpoint/2010/main" val="3461989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312737"/>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r>
              <a:rPr lang="en-US" sz="4000" b="1" dirty="0"/>
              <a:t>. </a:t>
            </a:r>
            <a:r>
              <a:rPr lang="ru-RU" sz="4000" b="1" dirty="0"/>
              <a:t>Расширенная свертка</a:t>
            </a:r>
          </a:p>
        </p:txBody>
      </p:sp>
      <p:sp>
        <p:nvSpPr>
          <p:cNvPr id="3" name="Объект 2"/>
          <p:cNvSpPr>
            <a:spLocks noGrp="1"/>
          </p:cNvSpPr>
          <p:nvPr>
            <p:ph idx="1"/>
          </p:nvPr>
        </p:nvSpPr>
        <p:spPr>
          <a:xfrm>
            <a:off x="307975" y="1040130"/>
            <a:ext cx="11374451" cy="5687225"/>
          </a:xfrm>
        </p:spPr>
        <p:txBody>
          <a:bodyPr>
            <a:noAutofit/>
          </a:bodyPr>
          <a:lstStyle/>
          <a:p>
            <a:pPr lvl="0"/>
            <a:r>
              <a:rPr lang="ru-RU" sz="2000" dirty="0"/>
              <a:t>Стандартные 1d-сверточные слои могут быть вычислительно-сложными задачами, если долгосрочные зависимости значительны.</a:t>
            </a:r>
          </a:p>
          <a:p>
            <a:pPr lvl="1"/>
            <a:r>
              <a:rPr lang="ru-RU" sz="2000" dirty="0"/>
              <a:t>Количество параметров напрямую зависит от размера рецептивного поля.</a:t>
            </a:r>
          </a:p>
          <a:p>
            <a:pPr lvl="0"/>
            <a:r>
              <a:rPr lang="ru-RU" sz="2000" u="sng" dirty="0"/>
              <a:t>Чтобы преодолеть проблему размера рецептивного поля и обрабатывать долгосрочные зависимости, применяются расширенные сверточные слои.</a:t>
            </a:r>
            <a:endParaRPr lang="ru-RU" sz="2000" dirty="0"/>
          </a:p>
          <a:p>
            <a:pPr lvl="0"/>
            <a:r>
              <a:rPr lang="ru-RU" sz="2000" i="1" dirty="0"/>
              <a:t>Расширенная свертка позволяет увеличить рецептивное поле без нарушения последовательности временного ряда, но за счет увеличения глубины сети.</a:t>
            </a:r>
            <a:endParaRPr lang="ru-RU" sz="2000" dirty="0"/>
          </a:p>
          <a:p>
            <a:pPr lvl="0"/>
            <a:r>
              <a:rPr lang="ru-RU" sz="2000" dirty="0"/>
              <a:t>В простой каузальной свертке на графике ниже вы можете видеть, что только 5 последних временных шагов могут повлиять на выделенный результат.</a:t>
            </a:r>
          </a:p>
          <a:p>
            <a:pPr lvl="0"/>
            <a:r>
              <a:rPr lang="ru-RU" sz="2000" dirty="0"/>
              <a:t>Расширение свертки позволяет </a:t>
            </a:r>
            <a:r>
              <a:rPr lang="ru-RU" sz="2000" i="1" dirty="0"/>
              <a:t>рецептивному</a:t>
            </a:r>
            <a:r>
              <a:rPr lang="ru-RU" sz="2000" dirty="0"/>
              <a:t> полю экспоненциально увеличиваться в зависимости от глубины сверточного слоя.</a:t>
            </a:r>
            <a:endParaRPr lang="en-US" sz="2000" dirty="0"/>
          </a:p>
          <a:p>
            <a:pPr lvl="1"/>
            <a:r>
              <a:rPr lang="ru-RU" sz="1600" dirty="0"/>
              <a:t>Однако, надо понимать, что свертка не должна нарушать теорему Котельникова</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0" name="Рисунок 9"/>
          <p:cNvPicPr>
            <a:picLocks noChangeAspect="1"/>
          </p:cNvPicPr>
          <p:nvPr/>
        </p:nvPicPr>
        <p:blipFill>
          <a:blip r:embed="rId2"/>
          <a:stretch>
            <a:fillRect/>
          </a:stretch>
        </p:blipFill>
        <p:spPr>
          <a:xfrm>
            <a:off x="917575" y="4954762"/>
            <a:ext cx="4914558" cy="1903237"/>
          </a:xfrm>
          <a:prstGeom prst="rect">
            <a:avLst/>
          </a:prstGeom>
        </p:spPr>
      </p:pic>
      <p:pic>
        <p:nvPicPr>
          <p:cNvPr id="11" name="Рисунок 10"/>
          <p:cNvPicPr>
            <a:picLocks noChangeAspect="1"/>
          </p:cNvPicPr>
          <p:nvPr/>
        </p:nvPicPr>
        <p:blipFill>
          <a:blip r:embed="rId3"/>
          <a:stretch>
            <a:fillRect/>
          </a:stretch>
        </p:blipFill>
        <p:spPr>
          <a:xfrm>
            <a:off x="7204105" y="4980186"/>
            <a:ext cx="4376750" cy="1877813"/>
          </a:xfrm>
          <a:prstGeom prst="rect">
            <a:avLst/>
          </a:prstGeom>
        </p:spPr>
      </p:pic>
    </p:spTree>
    <p:extLst>
      <p:ext uri="{BB962C8B-B14F-4D97-AF65-F5344CB8AC3E}">
        <p14:creationId xmlns:p14="http://schemas.microsoft.com/office/powerpoint/2010/main" val="2529392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356852"/>
            <a:ext cx="10883781" cy="540728"/>
          </a:xfrm>
        </p:spPr>
        <p:txBody>
          <a:bodyPr>
            <a:noAutofit/>
          </a:bodyPr>
          <a:lstStyle/>
          <a:p>
            <a:pPr algn="l" rtl="0"/>
            <a:r>
              <a:rPr lang="ru-RU" sz="4000" b="1" dirty="0"/>
              <a:t>1-мерная </a:t>
            </a:r>
            <a:r>
              <a:rPr lang="ru-RU" sz="4000" b="1" dirty="0" err="1"/>
              <a:t>сверточная</a:t>
            </a:r>
            <a:r>
              <a:rPr lang="ru-RU" sz="4000" b="1" dirty="0"/>
              <a:t> нейронная сеть</a:t>
            </a:r>
            <a:r>
              <a:rPr lang="en-US" sz="4000" b="1" dirty="0"/>
              <a:t>. </a:t>
            </a:r>
            <a:r>
              <a:rPr lang="ru-RU" sz="4000" b="1" dirty="0"/>
              <a:t>Расширенная свертка</a:t>
            </a:r>
          </a:p>
        </p:txBody>
      </p:sp>
      <p:sp>
        <p:nvSpPr>
          <p:cNvPr id="3" name="Объект 2"/>
          <p:cNvSpPr>
            <a:spLocks noGrp="1"/>
          </p:cNvSpPr>
          <p:nvPr>
            <p:ph idx="1"/>
          </p:nvPr>
        </p:nvSpPr>
        <p:spPr>
          <a:xfrm>
            <a:off x="367469" y="1230593"/>
            <a:ext cx="11374451" cy="5627405"/>
          </a:xfrm>
        </p:spPr>
        <p:txBody>
          <a:bodyPr>
            <a:noAutofit/>
          </a:bodyPr>
          <a:lstStyle/>
          <a:p>
            <a:pPr algn="l" rtl="0"/>
            <a:r>
              <a:rPr lang="ru-RU" sz="2000" dirty="0"/>
              <a:t>Также может быть </a:t>
            </a:r>
            <a:r>
              <a:rPr lang="en-US" sz="2000" u="sng" dirty="0" err="1"/>
              <a:t>двунаправленн</a:t>
            </a:r>
            <a:r>
              <a:rPr lang="ru-RU" sz="2000" u="sng" dirty="0" err="1"/>
              <a:t>ая</a:t>
            </a:r>
            <a:r>
              <a:rPr lang="ru-RU" sz="2000" u="sng" dirty="0"/>
              <a:t> расширенная свертка. </a:t>
            </a:r>
            <a:endParaRPr lang="en-US" sz="16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2" name="Рисунок 11"/>
          <p:cNvPicPr>
            <a:picLocks noChangeAspect="1"/>
          </p:cNvPicPr>
          <p:nvPr/>
        </p:nvPicPr>
        <p:blipFill>
          <a:blip r:embed="rId2"/>
          <a:stretch>
            <a:fillRect/>
          </a:stretch>
        </p:blipFill>
        <p:spPr>
          <a:xfrm>
            <a:off x="1055584" y="1822053"/>
            <a:ext cx="9374392" cy="1988568"/>
          </a:xfrm>
          <a:prstGeom prst="rect">
            <a:avLst/>
          </a:prstGeom>
        </p:spPr>
      </p:pic>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Прямоугольник 14"/>
          <p:cNvSpPr/>
          <p:nvPr/>
        </p:nvSpPr>
        <p:spPr>
          <a:xfrm>
            <a:off x="463721" y="3810622"/>
            <a:ext cx="7311617" cy="369332"/>
          </a:xfrm>
          <a:prstGeom prst="rect">
            <a:avLst/>
          </a:prstGeom>
        </p:spPr>
        <p:txBody>
          <a:bodyPr wrap="none">
            <a:spAutoFit/>
          </a:bodyPr>
          <a:lstStyle/>
          <a:p>
            <a:pPr algn="l" rtl="0"/>
            <a:r>
              <a:rPr lang="en-US" dirty="0">
                <a:solidFill>
                  <a:srgbClr val="000000"/>
                </a:solidFill>
                <a:latin typeface="Georgia" panose="02040502050405020303" pitchFamily="18" charset="0"/>
              </a:rPr>
              <a:t>Пример многомасштабного </a:t>
            </a:r>
            <a:r>
              <a:rPr lang="en-US" dirty="0" err="1">
                <a:solidFill>
                  <a:srgbClr val="000000"/>
                </a:solidFill>
                <a:latin typeface="Georgia" panose="02040502050405020303" pitchFamily="18" charset="0"/>
              </a:rPr>
              <a:t>предсказания</a:t>
            </a:r>
            <a:r>
              <a:rPr lang="en-US" dirty="0">
                <a:solidFill>
                  <a:srgbClr val="000000"/>
                </a:solidFill>
                <a:latin typeface="Georgia" panose="02040502050405020303" pitchFamily="18" charset="0"/>
              </a:rPr>
              <a:t> </a:t>
            </a:r>
            <a:r>
              <a:rPr lang="ru-RU" dirty="0">
                <a:solidFill>
                  <a:srgbClr val="000000"/>
                </a:solidFill>
                <a:latin typeface="Georgia" panose="02040502050405020303" pitchFamily="18" charset="0"/>
              </a:rPr>
              <a:t>расширенной </a:t>
            </a:r>
            <a:r>
              <a:rPr lang="en-US" dirty="0" err="1">
                <a:solidFill>
                  <a:srgbClr val="000000"/>
                </a:solidFill>
                <a:latin typeface="Georgia" panose="02040502050405020303" pitchFamily="18" charset="0"/>
              </a:rPr>
              <a:t>свертк</a:t>
            </a:r>
            <a:r>
              <a:rPr lang="ru-RU" dirty="0">
                <a:solidFill>
                  <a:srgbClr val="000000"/>
                </a:solidFill>
                <a:latin typeface="Georgia" panose="02040502050405020303" pitchFamily="18" charset="0"/>
              </a:rPr>
              <a:t>ой</a:t>
            </a:r>
            <a:endParaRPr lang="ru-RU" dirty="0"/>
          </a:p>
        </p:txBody>
      </p:sp>
      <p:pic>
        <p:nvPicPr>
          <p:cNvPr id="16" name="Рисунок 15"/>
          <p:cNvPicPr>
            <a:picLocks noChangeAspect="1"/>
          </p:cNvPicPr>
          <p:nvPr/>
        </p:nvPicPr>
        <p:blipFill>
          <a:blip r:embed="rId3"/>
          <a:stretch>
            <a:fillRect/>
          </a:stretch>
        </p:blipFill>
        <p:spPr>
          <a:xfrm>
            <a:off x="1055584" y="4252110"/>
            <a:ext cx="7959726" cy="2343638"/>
          </a:xfrm>
          <a:prstGeom prst="rect">
            <a:avLst/>
          </a:prstGeom>
        </p:spPr>
      </p:pic>
    </p:spTree>
    <p:extLst>
      <p:ext uri="{BB962C8B-B14F-4D97-AF65-F5344CB8AC3E}">
        <p14:creationId xmlns:p14="http://schemas.microsoft.com/office/powerpoint/2010/main" val="17610748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vert="horz" lIns="91440" tIns="45720" rIns="91440" bIns="45720" rtlCol="0" anchor="ctr">
            <a:noAutofit/>
          </a:bodyPr>
          <a:lstStyle/>
          <a:p>
            <a:r>
              <a:rPr lang="en-US" sz="3600" b="1" dirty="0"/>
              <a:t>1-d CNN. </a:t>
            </a:r>
            <a:r>
              <a:rPr lang="ru-RU" sz="3600" b="1" dirty="0"/>
              <a:t>Сеть глубокой временной свертки (</a:t>
            </a:r>
            <a:r>
              <a:rPr lang="ru-RU" sz="3600" b="1" dirty="0" err="1"/>
              <a:t>deepTCN</a:t>
            </a:r>
            <a:r>
              <a:rPr lang="en-US" sz="3600" b="1" dirty="0"/>
              <a:t>)</a:t>
            </a:r>
            <a:r>
              <a:rPr lang="ru-RU" altLang="ru-RU" sz="4000" b="1" dirty="0"/>
              <a:t>.</a:t>
            </a:r>
            <a:endParaRPr lang="ru-RU" sz="4000" b="1" dirty="0"/>
          </a:p>
        </p:txBody>
      </p:sp>
      <p:sp>
        <p:nvSpPr>
          <p:cNvPr id="3" name="Объект 2"/>
          <p:cNvSpPr>
            <a:spLocks noGrp="1"/>
          </p:cNvSpPr>
          <p:nvPr>
            <p:ph idx="1"/>
          </p:nvPr>
        </p:nvSpPr>
        <p:spPr>
          <a:xfrm>
            <a:off x="367469" y="889726"/>
            <a:ext cx="5820896" cy="5153115"/>
          </a:xfrm>
        </p:spPr>
        <p:txBody>
          <a:bodyPr>
            <a:noAutofit/>
          </a:bodyPr>
          <a:lstStyle/>
          <a:p>
            <a:pPr lvl="0"/>
            <a:r>
              <a:rPr lang="ru-RU" sz="2000" dirty="0"/>
              <a:t>Примером реализации расширенной свертки является </a:t>
            </a:r>
            <a:r>
              <a:rPr lang="ru-RU" sz="2000" b="1" dirty="0"/>
              <a:t>сеть глубокой временной свертки (</a:t>
            </a:r>
            <a:r>
              <a:rPr lang="ru-RU" sz="2000" b="1" dirty="0" err="1"/>
              <a:t>deepTCN</a:t>
            </a:r>
            <a:r>
              <a:rPr lang="ru-RU" sz="2000" b="1" dirty="0"/>
              <a:t>)</a:t>
            </a:r>
            <a:r>
              <a:rPr lang="ru-RU" sz="2000" dirty="0"/>
              <a:t> .</a:t>
            </a:r>
          </a:p>
          <a:p>
            <a:pPr lvl="0"/>
            <a:r>
              <a:rPr lang="ru-RU" sz="2000" b="1" dirty="0"/>
              <a:t>Часть кодировщика:</a:t>
            </a:r>
            <a:r>
              <a:rPr lang="ru-RU" sz="2000" dirty="0"/>
              <a:t> </a:t>
            </a:r>
          </a:p>
          <a:p>
            <a:pPr lvl="0"/>
            <a:r>
              <a:rPr lang="ru-RU" sz="2000" dirty="0"/>
              <a:t>сложенные расширенные свертки построены для фиксации долгосрочных временных зависимостей;</a:t>
            </a:r>
          </a:p>
          <a:p>
            <a:pPr lvl="0"/>
            <a:r>
              <a:rPr lang="ru-RU" sz="2000" b="1" dirty="0"/>
              <a:t>Часть декодера:</a:t>
            </a:r>
            <a:r>
              <a:rPr lang="ru-RU" sz="2000" dirty="0"/>
              <a:t> </a:t>
            </a:r>
          </a:p>
          <a:p>
            <a:pPr lvl="0"/>
            <a:r>
              <a:rPr lang="ru-RU" sz="2000" dirty="0"/>
              <a:t>вариант остаточного блока предназначен для взаимодействия как исторических, так и будущих данных.</a:t>
            </a:r>
          </a:p>
          <a:p>
            <a:pPr lvl="0"/>
            <a:r>
              <a:rPr lang="ru-RU" sz="2000" dirty="0"/>
              <a:t>На рисунке ниже 𝑋 - экзогенные факторы, 𝑦 - входы; ℎ - скрытое состояние, а 𝑘 - рецептивное поле.</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10" name="Рисунок 9"/>
          <p:cNvPicPr>
            <a:picLocks noChangeAspect="1"/>
          </p:cNvPicPr>
          <p:nvPr/>
        </p:nvPicPr>
        <p:blipFill>
          <a:blip r:embed="rId2"/>
          <a:stretch>
            <a:fillRect/>
          </a:stretch>
        </p:blipFill>
        <p:spPr>
          <a:xfrm>
            <a:off x="6188365" y="672058"/>
            <a:ext cx="5632450" cy="6211788"/>
          </a:xfrm>
          <a:prstGeom prst="rect">
            <a:avLst/>
          </a:prstGeom>
        </p:spPr>
      </p:pic>
    </p:spTree>
    <p:extLst>
      <p:ext uri="{BB962C8B-B14F-4D97-AF65-F5344CB8AC3E}">
        <p14:creationId xmlns:p14="http://schemas.microsoft.com/office/powerpoint/2010/main" val="27891145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b="1" dirty="0"/>
              <a:t>Сеть на основе внимания</a:t>
            </a:r>
            <a:endParaRPr lang="ru-RU" dirty="0"/>
          </a:p>
        </p:txBody>
      </p:sp>
      <p:sp>
        <p:nvSpPr>
          <p:cNvPr id="3" name="Объект 2"/>
          <p:cNvSpPr>
            <a:spLocks noGrp="1"/>
          </p:cNvSpPr>
          <p:nvPr>
            <p:ph idx="1"/>
          </p:nvPr>
        </p:nvSpPr>
        <p:spPr>
          <a:xfrm>
            <a:off x="92365" y="672058"/>
            <a:ext cx="11832935" cy="6140153"/>
          </a:xfrm>
        </p:spPr>
        <p:txBody>
          <a:bodyPr>
            <a:noAutofit/>
          </a:bodyPr>
          <a:lstStyle/>
          <a:p>
            <a:pPr>
              <a:spcBef>
                <a:spcPts val="0"/>
              </a:spcBef>
            </a:pPr>
            <a:r>
              <a:rPr lang="ru-RU" sz="2000" u="sng" dirty="0"/>
              <a:t>Внимание - механизм улучшения долгосрочного обучения зависимостям в нейронной сети.</a:t>
            </a:r>
            <a:endParaRPr lang="ru-RU" sz="2000" dirty="0"/>
          </a:p>
          <a:p>
            <a:pPr>
              <a:spcBef>
                <a:spcPts val="0"/>
              </a:spcBef>
            </a:pPr>
            <a:r>
              <a:rPr lang="ru-RU" sz="2000" dirty="0"/>
              <a:t>Механизм внимания дает несколько ключевых преимуществ – </a:t>
            </a:r>
          </a:p>
          <a:p>
            <a:pPr lvl="1">
              <a:spcBef>
                <a:spcPts val="0"/>
              </a:spcBef>
            </a:pPr>
            <a:r>
              <a:rPr lang="ru-RU" sz="2000" dirty="0"/>
              <a:t>позволяют реагировать на любые значимые редкие события.</a:t>
            </a:r>
          </a:p>
          <a:p>
            <a:pPr lvl="2">
              <a:spcBef>
                <a:spcPts val="0"/>
              </a:spcBef>
            </a:pPr>
            <a:r>
              <a:rPr lang="ru-RU" sz="1600" dirty="0"/>
              <a:t>Например, в приложениях для прогнозирования розничной торговли сюда входят праздничные или рекламные периоды, которые могут положительно повлиять на продажи.</a:t>
            </a:r>
          </a:p>
          <a:p>
            <a:pPr lvl="1">
              <a:spcBef>
                <a:spcPts val="0"/>
              </a:spcBef>
            </a:pPr>
            <a:r>
              <a:rPr lang="ru-RU" sz="2000" dirty="0"/>
              <a:t>изучать последовательности контролируемой длины (довольно длинные последовательности)</a:t>
            </a:r>
          </a:p>
          <a:p>
            <a:pPr lvl="1">
              <a:spcBef>
                <a:spcPts val="0"/>
              </a:spcBef>
            </a:pPr>
            <a:r>
              <a:rPr lang="ru-RU" sz="2000" dirty="0"/>
              <a:t>работать как регуляризация, чтобы избежать исчезновения градиента и взрыва</a:t>
            </a:r>
          </a:p>
          <a:p>
            <a:pPr lvl="1">
              <a:spcBef>
                <a:spcPts val="0"/>
              </a:spcBef>
            </a:pPr>
            <a:r>
              <a:rPr lang="ru-RU" sz="2000" dirty="0"/>
              <a:t>позволяет исключить повторяющиеся признаки (в трансформаторах), заменив его на кодировку позиций</a:t>
            </a:r>
          </a:p>
          <a:p>
            <a:pPr>
              <a:spcBef>
                <a:spcPts val="0"/>
              </a:spcBef>
            </a:pPr>
            <a:r>
              <a:rPr lang="ru-RU" sz="2000" dirty="0"/>
              <a:t>Первой попыткой создания внимание было  </a:t>
            </a:r>
            <a:r>
              <a:rPr lang="ru-RU" sz="2000" dirty="0" err="1"/>
              <a:t>Attention</a:t>
            </a:r>
            <a:r>
              <a:rPr lang="ru-RU" sz="2000" dirty="0"/>
              <a:t> </a:t>
            </a:r>
            <a:r>
              <a:rPr lang="ru-RU" sz="2000" dirty="0" err="1"/>
              <a:t>for</a:t>
            </a:r>
            <a:r>
              <a:rPr lang="ru-RU" sz="2000" dirty="0"/>
              <a:t> Seq2Seq RNN </a:t>
            </a:r>
            <a:r>
              <a:rPr lang="ru-RU" sz="2000" dirty="0" err="1"/>
              <a:t>Model</a:t>
            </a:r>
            <a:r>
              <a:rPr lang="ru-RU" sz="2000" dirty="0"/>
              <a:t> ( модель кодировщика-декодера </a:t>
            </a:r>
            <a:r>
              <a:rPr lang="ru-RU" sz="2000" dirty="0" err="1"/>
              <a:t>rnn</a:t>
            </a:r>
            <a:r>
              <a:rPr lang="ru-RU" sz="2000" dirty="0"/>
              <a:t>)</a:t>
            </a:r>
          </a:p>
          <a:p>
            <a:pPr>
              <a:spcBef>
                <a:spcPts val="0"/>
              </a:spcBef>
            </a:pPr>
            <a:r>
              <a:rPr lang="ru-RU" sz="2000" dirty="0"/>
              <a:t>В простой (или наивной) реализации seq2seq модель состоит из двух частей:</a:t>
            </a:r>
          </a:p>
          <a:p>
            <a:pPr lvl="1">
              <a:spcBef>
                <a:spcPts val="0"/>
              </a:spcBef>
            </a:pPr>
            <a:r>
              <a:rPr lang="ru-RU" sz="2000" dirty="0"/>
              <a:t>кодировщик (извлечение признаков)</a:t>
            </a:r>
          </a:p>
          <a:p>
            <a:pPr lvl="1">
              <a:spcBef>
                <a:spcPts val="0"/>
              </a:spcBef>
            </a:pPr>
            <a:r>
              <a:rPr lang="ru-RU" sz="2000" dirty="0"/>
              <a:t>и декодер, который инициализируется вектором контекста для выдачи преобразованного вывода.</a:t>
            </a:r>
          </a:p>
          <a:p>
            <a:pPr>
              <a:spcBef>
                <a:spcPts val="0"/>
              </a:spcBef>
            </a:pPr>
            <a:r>
              <a:rPr lang="ru-RU" sz="2000" u="sng" dirty="0"/>
              <a:t>В простейшем случае последние состояния сети кодера используются в качестве состояния дополнительной информации декодера, однако часто он забывает самую раннюю часть после завершения обработки всего ввода.</a:t>
            </a:r>
          </a:p>
          <a:p>
            <a:pPr>
              <a:spcBef>
                <a:spcPts val="0"/>
              </a:spcBef>
            </a:pPr>
            <a:r>
              <a:rPr lang="ru-RU" sz="2000" i="1" dirty="0"/>
              <a:t>Примечание</a:t>
            </a:r>
            <a:endParaRPr lang="ru-RU" sz="2000" dirty="0"/>
          </a:p>
          <a:p>
            <a:pPr>
              <a:spcBef>
                <a:spcPts val="0"/>
              </a:spcBef>
            </a:pPr>
            <a:r>
              <a:rPr lang="ru-RU" sz="2000" i="1" dirty="0"/>
              <a:t>Потенциальная проблема с этим подходом кодер-декодер заключается в том, что нейронная сеть должна иметь возможность сжимать всю необходимую информацию исходной последовательности в вектор фиксированной длины.</a:t>
            </a:r>
            <a:endParaRPr lang="ru-RU"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Tree>
    <p:extLst>
      <p:ext uri="{BB962C8B-B14F-4D97-AF65-F5344CB8AC3E}">
        <p14:creationId xmlns:p14="http://schemas.microsoft.com/office/powerpoint/2010/main" val="3473598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algn="l" rtl="0" eaLnBrk="0" fontAlgn="base" hangingPunct="0">
              <a:lnSpc>
                <a:spcPct val="100000"/>
              </a:lnSpc>
              <a:spcAft>
                <a:spcPct val="0"/>
              </a:spcAft>
            </a:pPr>
            <a:r>
              <a:rPr lang="ru-RU" altLang="ru-RU" sz="4000" b="1" dirty="0">
                <a:solidFill>
                  <a:srgbClr val="000000"/>
                </a:solidFill>
              </a:rPr>
              <a:t>Сети на основе внимания</a:t>
            </a:r>
          </a:p>
        </p:txBody>
      </p:sp>
      <p:sp>
        <p:nvSpPr>
          <p:cNvPr id="3" name="Объект 2"/>
          <p:cNvSpPr>
            <a:spLocks noGrp="1"/>
          </p:cNvSpPr>
          <p:nvPr>
            <p:ph idx="1"/>
          </p:nvPr>
        </p:nvSpPr>
        <p:spPr>
          <a:xfrm>
            <a:off x="92365" y="672058"/>
            <a:ext cx="11832935" cy="6140153"/>
          </a:xfrm>
        </p:spPr>
        <p:txBody>
          <a:bodyPr>
            <a:noAutofit/>
          </a:bodyPr>
          <a:lstStyle/>
          <a:p>
            <a:pPr>
              <a:spcBef>
                <a:spcPts val="0"/>
              </a:spcBef>
            </a:pPr>
            <a:r>
              <a:rPr lang="ru-RU" sz="2000" b="1" u="sng" dirty="0"/>
              <a:t>Механизм внимания был разработан, чтобы помочь запомнить длинные исходные предложения в нейронном машинном переводе. </a:t>
            </a:r>
          </a:p>
          <a:p>
            <a:pPr>
              <a:spcBef>
                <a:spcPts val="0"/>
              </a:spcBef>
            </a:pPr>
            <a:r>
              <a:rPr lang="ru-RU" sz="2000" b="1" dirty="0"/>
              <a:t>Для понимания внимания предположим, что у вас есть:</a:t>
            </a:r>
            <a:endParaRPr lang="ru-RU" sz="2000" dirty="0"/>
          </a:p>
          <a:p>
            <a:pPr lvl="0">
              <a:spcBef>
                <a:spcPts val="0"/>
              </a:spcBef>
            </a:pPr>
            <a:r>
              <a:rPr lang="ru-RU" sz="2000" dirty="0"/>
              <a:t>последовательная модель для прогнозирования результатов 𝑦𝑖,</a:t>
            </a:r>
          </a:p>
          <a:p>
            <a:pPr lvl="0">
              <a:spcBef>
                <a:spcPts val="0"/>
              </a:spcBef>
            </a:pPr>
            <a:r>
              <a:rPr lang="ru-RU" sz="2000" dirty="0"/>
              <a:t>последовательный ввод модели ℎ𝑖;</a:t>
            </a:r>
          </a:p>
          <a:p>
            <a:pPr lvl="0">
              <a:spcBef>
                <a:spcPts val="0"/>
              </a:spcBef>
            </a:pPr>
            <a:r>
              <a:rPr lang="ru-RU" sz="2000" dirty="0"/>
              <a:t>может быть как 𝑦𝑖 − 1, так и его комбинация с другими данными (на рисунке ниже это 𝑦𝑖 − 1;</a:t>
            </a:r>
          </a:p>
          <a:p>
            <a:pPr lvl="0">
              <a:spcBef>
                <a:spcPts val="0"/>
              </a:spcBef>
            </a:pPr>
            <a:r>
              <a:rPr lang="ru-RU" sz="2000" dirty="0"/>
              <a:t>декодер сохраняет свое скрытое состояние 𝑠𝑖 − 1 и передает его на каждый следующий шаг для предсказания 𝑦𝑖</a:t>
            </a:r>
          </a:p>
          <a:p>
            <a:pPr lvl="0">
              <a:spcBef>
                <a:spcPts val="0"/>
              </a:spcBef>
            </a:pPr>
            <a:r>
              <a:rPr lang="ru-RU" sz="2000" dirty="0"/>
              <a:t>кроме того, декодер имеет в качестве входного вектора контекста 𝑐𝑖, который указывает на коэффициент воздействия временного шага −.</a:t>
            </a:r>
          </a:p>
          <a:p>
            <a:pPr>
              <a:spcBef>
                <a:spcPts val="0"/>
              </a:spcBef>
            </a:pPr>
            <a:r>
              <a:rPr lang="ru-RU" sz="2000" dirty="0"/>
              <a:t>Давайте теперь рассмотрим </a:t>
            </a:r>
            <a:r>
              <a:rPr lang="ru-RU" sz="2000" b="1" dirty="0"/>
              <a:t>модель </a:t>
            </a:r>
            <a:r>
              <a:rPr lang="ru-RU" sz="2000" b="1" dirty="0" err="1"/>
              <a:t>Attention</a:t>
            </a:r>
            <a:r>
              <a:rPr lang="ru-RU" sz="2000" b="1" dirty="0"/>
              <a:t> </a:t>
            </a:r>
            <a:r>
              <a:rPr lang="ru-RU" sz="2000" b="1" dirty="0" err="1"/>
              <a:t>Encoder-Decoder</a:t>
            </a:r>
            <a:r>
              <a:rPr lang="ru-RU" sz="2000" b="1" dirty="0"/>
              <a:t> (seq2seq).</a:t>
            </a:r>
            <a:endParaRPr lang="ru-RU" altLang="ru-RU" sz="16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16" name="Рисунок 15"/>
          <p:cNvPicPr>
            <a:picLocks noChangeAspect="1"/>
          </p:cNvPicPr>
          <p:nvPr/>
        </p:nvPicPr>
        <p:blipFill>
          <a:blip r:embed="rId2"/>
          <a:stretch>
            <a:fillRect/>
          </a:stretch>
        </p:blipFill>
        <p:spPr>
          <a:xfrm>
            <a:off x="184731" y="4082308"/>
            <a:ext cx="3781425" cy="2305050"/>
          </a:xfrm>
          <a:prstGeom prst="rect">
            <a:avLst/>
          </a:prstGeom>
        </p:spPr>
      </p:pic>
      <p:pic>
        <p:nvPicPr>
          <p:cNvPr id="17" name="Рисунок 16"/>
          <p:cNvPicPr>
            <a:picLocks noChangeAspect="1"/>
          </p:cNvPicPr>
          <p:nvPr/>
        </p:nvPicPr>
        <p:blipFill>
          <a:blip r:embed="rId3"/>
          <a:stretch>
            <a:fillRect/>
          </a:stretch>
        </p:blipFill>
        <p:spPr>
          <a:xfrm>
            <a:off x="6003634" y="3742134"/>
            <a:ext cx="5209801" cy="2941248"/>
          </a:xfrm>
          <a:prstGeom prst="rect">
            <a:avLst/>
          </a:prstGeom>
        </p:spPr>
      </p:pic>
    </p:spTree>
    <p:extLst>
      <p:ext uri="{BB962C8B-B14F-4D97-AF65-F5344CB8AC3E}">
        <p14:creationId xmlns:p14="http://schemas.microsoft.com/office/powerpoint/2010/main" val="1462597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algn="l" rtl="0" eaLnBrk="0" fontAlgn="base" hangingPunct="0">
              <a:lnSpc>
                <a:spcPct val="100000"/>
              </a:lnSpc>
              <a:spcAft>
                <a:spcPct val="0"/>
              </a:spcAft>
            </a:pPr>
            <a:r>
              <a:rPr lang="ru-RU" altLang="ru-RU" sz="4000" b="1" dirty="0">
                <a:solidFill>
                  <a:srgbClr val="000000"/>
                </a:solidFill>
              </a:rPr>
              <a:t>Сети на основе внимания</a:t>
            </a:r>
          </a:p>
        </p:txBody>
      </p:sp>
      <p:sp>
        <p:nvSpPr>
          <p:cNvPr id="3" name="Объект 2"/>
          <p:cNvSpPr>
            <a:spLocks noGrp="1"/>
          </p:cNvSpPr>
          <p:nvPr>
            <p:ph idx="1"/>
          </p:nvPr>
        </p:nvSpPr>
        <p:spPr>
          <a:xfrm>
            <a:off x="92365" y="672058"/>
            <a:ext cx="11832935" cy="6140153"/>
          </a:xfrm>
        </p:spPr>
        <p:txBody>
          <a:bodyPr>
            <a:noAutofit/>
          </a:bodyPr>
          <a:lstStyle/>
          <a:p>
            <a:pPr lvl="0">
              <a:spcBef>
                <a:spcPts val="0"/>
              </a:spcBef>
            </a:pPr>
            <a:r>
              <a:rPr lang="ru-RU" sz="2000" b="1" dirty="0"/>
              <a:t>В изначальной задумке</a:t>
            </a:r>
            <a:r>
              <a:rPr lang="ru-RU" sz="2000" u="sng" dirty="0"/>
              <a:t> было предложено использовать персептрон с выходом </a:t>
            </a:r>
            <a:r>
              <a:rPr lang="ru-RU" sz="2000" u="sng" dirty="0" err="1"/>
              <a:t>soft-max</a:t>
            </a:r>
            <a:r>
              <a:rPr lang="ru-RU" sz="2000" u="sng" dirty="0"/>
              <a:t> (для </a:t>
            </a:r>
            <a:r>
              <a:rPr lang="ru-RU" sz="2000" dirty="0"/>
              <a:t> 𝑐𝑖 </a:t>
            </a:r>
            <a:r>
              <a:rPr lang="ru-RU" sz="2000" u="sng" dirty="0"/>
              <a:t>) над вектором скрытого пространства модели seq2seq (последний слой кодировщика).</a:t>
            </a:r>
            <a:endParaRPr lang="ru-RU" sz="2000" dirty="0"/>
          </a:p>
          <a:p>
            <a:pPr lvl="0">
              <a:spcBef>
                <a:spcPts val="0"/>
              </a:spcBef>
            </a:pPr>
            <a:r>
              <a:rPr lang="ru-RU" sz="2000" dirty="0"/>
              <a:t>Веса этих 𝑎𝑖𝑗 настраивается для каждого выходного элемента.</a:t>
            </a:r>
          </a:p>
          <a:p>
            <a:pPr lvl="0">
              <a:spcBef>
                <a:spcPts val="0"/>
              </a:spcBef>
            </a:pPr>
            <a:r>
              <a:rPr lang="ru-RU" sz="2000" dirty="0"/>
              <a:t>Другими словами</a:t>
            </a:r>
          </a:p>
          <a:p>
            <a:pPr lvl="0">
              <a:spcBef>
                <a:spcPts val="0"/>
              </a:spcBef>
            </a:pPr>
            <a:r>
              <a:rPr lang="ru-RU" sz="2000" b="1" u="sng" dirty="0"/>
              <a:t>Сеть внимания (или слой) представляет собой отношение между скрытым вектором и всей входной последовательностью.</a:t>
            </a:r>
            <a:endParaRPr lang="ru-RU" sz="2000" dirty="0"/>
          </a:p>
          <a:p>
            <a:pPr lvl="0">
              <a:spcBef>
                <a:spcPts val="0"/>
              </a:spcBef>
            </a:pPr>
            <a:r>
              <a:rPr lang="ru-RU" sz="2000" dirty="0"/>
              <a:t>В соответствии с исходной идеей вектор скрытого состояния 𝑐𝑡 для каждого выходного шага 𝑡 может быть вычислен как</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0" name="Рисунок 19"/>
          <p:cNvPicPr>
            <a:picLocks noChangeAspect="1"/>
          </p:cNvPicPr>
          <p:nvPr/>
        </p:nvPicPr>
        <p:blipFill>
          <a:blip r:embed="rId2"/>
          <a:stretch>
            <a:fillRect/>
          </a:stretch>
        </p:blipFill>
        <p:spPr>
          <a:xfrm>
            <a:off x="92365" y="3448050"/>
            <a:ext cx="5802452" cy="2724150"/>
          </a:xfrm>
          <a:prstGeom prst="rect">
            <a:avLst/>
          </a:prstGeom>
        </p:spPr>
      </p:pic>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22" name="Прямоугольник 21"/>
              <p:cNvSpPr/>
              <p:nvPr/>
            </p:nvSpPr>
            <p:spPr>
              <a:xfrm>
                <a:off x="5894817" y="3089782"/>
                <a:ext cx="6096000" cy="3717684"/>
              </a:xfrm>
              <a:prstGeom prst="rect">
                <a:avLst/>
              </a:prstGeom>
            </p:spPr>
            <p:txBody>
              <a:bodyPr>
                <a:spAutoFit/>
              </a:bodyPr>
              <a:lstStyle/>
              <a:p>
                <a:pPr algn="l" rtl="0">
                  <a:spcBef>
                    <a:spcPts val="900"/>
                  </a:spcBef>
                  <a:spcAft>
                    <a:spcPts val="900"/>
                  </a:spcAft>
                </a:pPr>
                <a:r>
                  <a:rPr lang="ru-RU" dirty="0">
                    <a:latin typeface="Cambria" panose="02040503050406030204" pitchFamily="18" charset="0"/>
                    <a:ea typeface="Cambria" panose="02040503050406030204" pitchFamily="18" charset="0"/>
                    <a:cs typeface="Times New Roman" panose="02020603050405020304" pitchFamily="18" charset="0"/>
                  </a:rPr>
                  <a:t>где</a:t>
                </a:r>
                <a:r>
                  <a:rPr lang="en-US" dirty="0">
                    <a:latin typeface="Cambria" panose="02040503050406030204" pitchFamily="18" charset="0"/>
                    <a:ea typeface="Cambria" panose="02040503050406030204" pitchFamily="18" charset="0"/>
                    <a:cs typeface="Times New Roman" panose="02020603050405020304" pitchFamily="18" charset="0"/>
                  </a:rPr>
                  <a:t> </a:t>
                </a:r>
                <a14:m>
                  <m:oMath xmlns:m="http://schemas.openxmlformats.org/officeDocument/2006/math">
                    <m:sSub>
                      <m:sSubPr>
                        <m:ctrlPr>
                          <a:rPr lang="ru-RU" i="1">
                            <a:latin typeface="Cambria Math" panose="02040503050406030204" pitchFamily="18" charset="0"/>
                            <a:ea typeface="Cambria" panose="02040503050406030204" pitchFamily="18" charset="0"/>
                            <a:cs typeface="Times New Roman" panose="02020603050405020304" pitchFamily="18" charset="0"/>
                          </a:rPr>
                        </m:ctrlPr>
                      </m:sSubPr>
                      <m:e>
                        <m:r>
                          <a:rPr lang="en-US" i="1">
                            <a:latin typeface="Cambria Math" panose="02040503050406030204" pitchFamily="18" charset="0"/>
                            <a:ea typeface="Cambria" panose="02040503050406030204" pitchFamily="18" charset="0"/>
                            <a:cs typeface="Times New Roman" panose="02020603050405020304" pitchFamily="18" charset="0"/>
                          </a:rPr>
                          <m:t>𝑐</m:t>
                        </m:r>
                      </m:e>
                      <m:sub>
                        <m:r>
                          <a:rPr lang="en-US" i="1">
                            <a:latin typeface="Cambria Math" panose="02040503050406030204" pitchFamily="18" charset="0"/>
                            <a:ea typeface="Cambria" panose="02040503050406030204" pitchFamily="18" charset="0"/>
                            <a:cs typeface="Times New Roman" panose="02020603050405020304" pitchFamily="18" charset="0"/>
                          </a:rPr>
                          <m:t>𝑡</m:t>
                        </m:r>
                      </m:sub>
                    </m:sSub>
                  </m:oMath>
                </a14:m>
                <a:r>
                  <a:rPr lang="en-US" dirty="0">
                    <a:latin typeface="Cambria" panose="02040503050406030204" pitchFamily="18" charset="0"/>
                    <a:ea typeface="Cambria" panose="02040503050406030204" pitchFamily="18" charset="0"/>
                    <a:cs typeface="Times New Roman" panose="02020603050405020304" pitchFamily="18" charset="0"/>
                  </a:rPr>
                  <a:t> - вектор контекста - сумма скрытых состояний </a:t>
                </a:r>
                <a14:m>
                  <m:oMath xmlns:m="http://schemas.openxmlformats.org/officeDocument/2006/math">
                    <m:sSub>
                      <m:sSubPr>
                        <m:ctrlPr>
                          <a:rPr lang="ru-RU" i="1">
                            <a:latin typeface="Cambria Math" panose="02040503050406030204" pitchFamily="18" charset="0"/>
                            <a:ea typeface="Cambria" panose="02040503050406030204" pitchFamily="18" charset="0"/>
                            <a:cs typeface="Times New Roman" panose="02020603050405020304" pitchFamily="18" charset="0"/>
                          </a:rPr>
                        </m:ctrlPr>
                      </m:sSubPr>
                      <m:e>
                        <m:r>
                          <a:rPr lang="en-US" i="1">
                            <a:latin typeface="Cambria Math" panose="02040503050406030204" pitchFamily="18" charset="0"/>
                            <a:ea typeface="Cambria" panose="02040503050406030204" pitchFamily="18" charset="0"/>
                            <a:cs typeface="Times New Roman" panose="02020603050405020304" pitchFamily="18" charset="0"/>
                          </a:rPr>
                          <m:t>h</m:t>
                        </m:r>
                      </m:e>
                      <m:sub>
                        <m:r>
                          <a:rPr lang="en-US" i="1">
                            <a:latin typeface="Cambria Math" panose="02040503050406030204" pitchFamily="18" charset="0"/>
                            <a:ea typeface="Cambria" panose="02040503050406030204" pitchFamily="18" charset="0"/>
                            <a:cs typeface="Times New Roman" panose="02020603050405020304" pitchFamily="18" charset="0"/>
                          </a:rPr>
                          <m:t>𝑖</m:t>
                        </m:r>
                      </m:sub>
                    </m:sSub>
                  </m:oMath>
                </a14:m>
                <a:r>
                  <a:rPr lang="en-US" dirty="0">
                    <a:latin typeface="Cambria" panose="02040503050406030204" pitchFamily="18" charset="0"/>
                    <a:ea typeface="Cambria" panose="02040503050406030204" pitchFamily="18" charset="0"/>
                    <a:cs typeface="Times New Roman" panose="02020603050405020304" pitchFamily="18" charset="0"/>
                  </a:rPr>
                  <a:t> входной последовательности, взвешенной по оценкам выравнивания </a:t>
                </a:r>
                <a14:m>
                  <m:oMath xmlns:m="http://schemas.openxmlformats.org/officeDocument/2006/math">
                    <m:sSub>
                      <m:sSubPr>
                        <m:ctrlPr>
                          <a:rPr lang="ru-RU" i="1">
                            <a:latin typeface="Cambria Math" panose="02040503050406030204" pitchFamily="18" charset="0"/>
                            <a:ea typeface="Cambria" panose="02040503050406030204" pitchFamily="18" charset="0"/>
                            <a:cs typeface="Times New Roman" panose="02020603050405020304" pitchFamily="18" charset="0"/>
                          </a:rPr>
                        </m:ctrlPr>
                      </m:sSubPr>
                      <m:e>
                        <m:r>
                          <a:rPr lang="en-US" i="1">
                            <a:latin typeface="Cambria Math" panose="02040503050406030204" pitchFamily="18" charset="0"/>
                            <a:ea typeface="Cambria" panose="02040503050406030204" pitchFamily="18" charset="0"/>
                            <a:cs typeface="Times New Roman" panose="02020603050405020304" pitchFamily="18" charset="0"/>
                          </a:rPr>
                          <m:t>𝑎</m:t>
                        </m:r>
                      </m:e>
                      <m:sub>
                        <m:r>
                          <a:rPr lang="en-US" i="1">
                            <a:latin typeface="Cambria Math" panose="02040503050406030204" pitchFamily="18" charset="0"/>
                            <a:ea typeface="Cambria" panose="02040503050406030204" pitchFamily="18" charset="0"/>
                            <a:cs typeface="Times New Roman" panose="02020603050405020304" pitchFamily="18" charset="0"/>
                          </a:rPr>
                          <m:t>𝑡</m:t>
                        </m:r>
                        <m:r>
                          <a:rPr lang="en-US" i="1">
                            <a:latin typeface="Cambria Math" panose="02040503050406030204" pitchFamily="18" charset="0"/>
                            <a:ea typeface="Cambria" panose="02040503050406030204" pitchFamily="18" charset="0"/>
                            <a:cs typeface="Times New Roman" panose="02020603050405020304" pitchFamily="18" charset="0"/>
                          </a:rPr>
                          <m:t>,</m:t>
                        </m:r>
                        <m:r>
                          <a:rPr lang="en-US" i="1">
                            <a:latin typeface="Cambria Math" panose="02040503050406030204" pitchFamily="18" charset="0"/>
                            <a:ea typeface="Cambria" panose="02040503050406030204" pitchFamily="18" charset="0"/>
                            <a:cs typeface="Times New Roman" panose="02020603050405020304" pitchFamily="18" charset="0"/>
                          </a:rPr>
                          <m:t>𝑖</m:t>
                        </m:r>
                      </m:sub>
                    </m:sSub>
                  </m:oMath>
                </a14:m>
                <a:r>
                  <a:rPr lang="en-US" dirty="0">
                    <a:latin typeface="Cambria" panose="02040503050406030204" pitchFamily="18" charset="0"/>
                    <a:ea typeface="Cambria" panose="02040503050406030204" pitchFamily="18" charset="0"/>
                    <a:cs typeface="Times New Roman" panose="02020603050405020304" pitchFamily="18" charset="0"/>
                  </a:rPr>
                  <a:t>.  </a:t>
                </a:r>
                <a14:m>
                  <m:oMath xmlns:m="http://schemas.openxmlformats.org/officeDocument/2006/math">
                    <m:sSub>
                      <m:sSubPr>
                        <m:ctrlPr>
                          <a:rPr lang="ru-RU" i="1">
                            <a:latin typeface="Cambria Math" panose="02040503050406030204" pitchFamily="18" charset="0"/>
                            <a:ea typeface="Cambria" panose="02040503050406030204" pitchFamily="18" charset="0"/>
                            <a:cs typeface="Times New Roman" panose="02020603050405020304" pitchFamily="18" charset="0"/>
                          </a:rPr>
                        </m:ctrlPr>
                      </m:sSubPr>
                      <m:e>
                        <m:r>
                          <a:rPr lang="en-US" i="1">
                            <a:latin typeface="Cambria Math" panose="02040503050406030204" pitchFamily="18" charset="0"/>
                            <a:ea typeface="Cambria" panose="02040503050406030204" pitchFamily="18" charset="0"/>
                            <a:cs typeface="Times New Roman" panose="02020603050405020304" pitchFamily="18" charset="0"/>
                          </a:rPr>
                          <m:t>h</m:t>
                        </m:r>
                      </m:e>
                      <m:sub>
                        <m:r>
                          <a:rPr lang="en-US" i="1">
                            <a:latin typeface="Cambria Math" panose="02040503050406030204" pitchFamily="18" charset="0"/>
                            <a:ea typeface="Cambria" panose="02040503050406030204" pitchFamily="18" charset="0"/>
                            <a:cs typeface="Times New Roman" panose="02020603050405020304" pitchFamily="18" charset="0"/>
                          </a:rPr>
                          <m:t>𝑖</m:t>
                        </m:r>
                      </m:sub>
                    </m:sSub>
                  </m:oMath>
                </a14:m>
                <a:r>
                  <a:rPr lang="en-US" dirty="0">
                    <a:latin typeface="Cambria" panose="02040503050406030204" pitchFamily="18" charset="0"/>
                    <a:ea typeface="Cambria" panose="02040503050406030204" pitchFamily="18" charset="0"/>
                    <a:cs typeface="Times New Roman" panose="02020603050405020304" pitchFamily="18" charset="0"/>
                  </a:rPr>
                  <a:t> скрытое состояние кодировщика на </a:t>
                </a:r>
                <a14:m>
                  <m:oMath xmlns:m="http://schemas.openxmlformats.org/officeDocument/2006/math">
                    <m:r>
                      <a:rPr lang="en-US" i="1">
                        <a:latin typeface="Cambria Math" panose="02040503050406030204" pitchFamily="18" charset="0"/>
                        <a:ea typeface="Cambria" panose="02040503050406030204" pitchFamily="18" charset="0"/>
                        <a:cs typeface="Times New Roman" panose="02020603050405020304" pitchFamily="18" charset="0"/>
                      </a:rPr>
                      <m:t>𝑖</m:t>
                    </m:r>
                  </m:oMath>
                </a14:m>
                <a:r>
                  <a:rPr lang="en-US" dirty="0">
                    <a:latin typeface="Cambria" panose="02040503050406030204" pitchFamily="18" charset="0"/>
                    <a:ea typeface="Cambria" panose="02040503050406030204" pitchFamily="18" charset="0"/>
                    <a:cs typeface="Times New Roman" panose="02020603050405020304" pitchFamily="18" charset="0"/>
                  </a:rPr>
                  <a:t>-</a:t>
                </a:r>
                <a:r>
                  <a:rPr lang="en-US" dirty="0" err="1">
                    <a:latin typeface="Cambria" panose="02040503050406030204" pitchFamily="18" charset="0"/>
                    <a:ea typeface="Cambria" panose="02040503050406030204" pitchFamily="18" charset="0"/>
                    <a:cs typeface="Times New Roman" panose="02020603050405020304" pitchFamily="18" charset="0"/>
                  </a:rPr>
                  <a:t>th</a:t>
                </a:r>
                <a:r>
                  <a:rPr lang="en-US" dirty="0">
                    <a:latin typeface="Cambria" panose="02040503050406030204" pitchFamily="18" charset="0"/>
                    <a:ea typeface="Cambria" panose="02040503050406030204" pitchFamily="18" charset="0"/>
                    <a:cs typeface="Times New Roman" panose="02020603050405020304" pitchFamily="18" charset="0"/>
                  </a:rPr>
                  <a:t> шаг времени. </a:t>
                </a:r>
                <a14:m>
                  <m:oMath xmlns:m="http://schemas.openxmlformats.org/officeDocument/2006/math">
                    <m:sSub>
                      <m:sSubPr>
                        <m:ctrlPr>
                          <a:rPr lang="ru-RU" i="1">
                            <a:latin typeface="Cambria Math" panose="02040503050406030204" pitchFamily="18" charset="0"/>
                            <a:ea typeface="Cambria" panose="02040503050406030204" pitchFamily="18" charset="0"/>
                            <a:cs typeface="Times New Roman" panose="02020603050405020304" pitchFamily="18" charset="0"/>
                          </a:rPr>
                        </m:ctrlPr>
                      </m:sSubPr>
                      <m:e>
                        <m:r>
                          <a:rPr lang="en-US" i="1">
                            <a:latin typeface="Cambria Math" panose="02040503050406030204" pitchFamily="18" charset="0"/>
                            <a:ea typeface="Cambria" panose="02040503050406030204" pitchFamily="18" charset="0"/>
                            <a:cs typeface="Times New Roman" panose="02020603050405020304" pitchFamily="18" charset="0"/>
                          </a:rPr>
                          <m:t>𝑠</m:t>
                        </m:r>
                      </m:e>
                      <m:sub>
                        <m:r>
                          <a:rPr lang="en-US" i="1">
                            <a:latin typeface="Cambria Math" panose="02040503050406030204" pitchFamily="18" charset="0"/>
                            <a:ea typeface="Cambria" panose="02040503050406030204" pitchFamily="18" charset="0"/>
                            <a:cs typeface="Times New Roman" panose="02020603050405020304" pitchFamily="18" charset="0"/>
                          </a:rPr>
                          <m:t>𝑡</m:t>
                        </m:r>
                      </m:sub>
                    </m:sSub>
                  </m:oMath>
                </a14:m>
                <a:r>
                  <a:rPr lang="en-US" dirty="0">
                    <a:latin typeface="Cambria" panose="02040503050406030204" pitchFamily="18" charset="0"/>
                    <a:ea typeface="Cambria" panose="02040503050406030204" pitchFamily="18" charset="0"/>
                    <a:cs typeface="Times New Roman" panose="02020603050405020304" pitchFamily="18" charset="0"/>
                  </a:rPr>
                  <a:t> скрытое состояние декодера на </a:t>
                </a:r>
                <a14:m>
                  <m:oMath xmlns:m="http://schemas.openxmlformats.org/officeDocument/2006/math">
                    <m:r>
                      <a:rPr lang="en-US" i="1">
                        <a:latin typeface="Cambria Math" panose="02040503050406030204" pitchFamily="18" charset="0"/>
                        <a:ea typeface="Cambria" panose="02040503050406030204" pitchFamily="18" charset="0"/>
                        <a:cs typeface="Times New Roman" panose="02020603050405020304" pitchFamily="18" charset="0"/>
                      </a:rPr>
                      <m:t>𝑡</m:t>
                    </m:r>
                  </m:oMath>
                </a14:m>
                <a:r>
                  <a:rPr lang="en-US" dirty="0">
                    <a:latin typeface="Cambria" panose="02040503050406030204" pitchFamily="18" charset="0"/>
                    <a:ea typeface="Cambria" panose="02040503050406030204" pitchFamily="18" charset="0"/>
                    <a:cs typeface="Times New Roman" panose="02020603050405020304" pitchFamily="18" charset="0"/>
                  </a:rPr>
                  <a:t>-</a:t>
                </a:r>
                <a:r>
                  <a:rPr lang="en-US" dirty="0" err="1">
                    <a:latin typeface="Cambria" panose="02040503050406030204" pitchFamily="18" charset="0"/>
                    <a:ea typeface="Cambria" panose="02040503050406030204" pitchFamily="18" charset="0"/>
                    <a:cs typeface="Times New Roman" panose="02020603050405020304" pitchFamily="18" charset="0"/>
                  </a:rPr>
                  <a:t>th</a:t>
                </a:r>
                <a:r>
                  <a:rPr lang="en-US" dirty="0">
                    <a:latin typeface="Cambria" panose="02040503050406030204" pitchFamily="18" charset="0"/>
                    <a:ea typeface="Cambria" panose="02040503050406030204" pitchFamily="18" charset="0"/>
                    <a:cs typeface="Times New Roman" panose="02020603050405020304" pitchFamily="18" charset="0"/>
                  </a:rPr>
                  <a:t> шаг времени. </a:t>
                </a:r>
                <a14:m>
                  <m:oMath xmlns:m="http://schemas.openxmlformats.org/officeDocument/2006/math">
                    <m:sSub>
                      <m:sSubPr>
                        <m:ctrlPr>
                          <a:rPr lang="ru-RU" i="1">
                            <a:latin typeface="Cambria Math" panose="02040503050406030204" pitchFamily="18" charset="0"/>
                            <a:ea typeface="Cambria" panose="02040503050406030204" pitchFamily="18" charset="0"/>
                            <a:cs typeface="Times New Roman" panose="02020603050405020304" pitchFamily="18" charset="0"/>
                          </a:rPr>
                        </m:ctrlPr>
                      </m:sSubPr>
                      <m:e>
                        <m:r>
                          <a:rPr lang="en-US" i="1">
                            <a:latin typeface="Cambria Math" panose="02040503050406030204" pitchFamily="18" charset="0"/>
                            <a:ea typeface="Cambria" panose="02040503050406030204" pitchFamily="18" charset="0"/>
                            <a:cs typeface="Times New Roman" panose="02020603050405020304" pitchFamily="18" charset="0"/>
                          </a:rPr>
                          <m:t>𝑎</m:t>
                        </m:r>
                      </m:e>
                      <m:sub>
                        <m:r>
                          <a:rPr lang="en-US" i="1">
                            <a:latin typeface="Cambria Math" panose="02040503050406030204" pitchFamily="18" charset="0"/>
                            <a:ea typeface="Cambria" panose="02040503050406030204" pitchFamily="18" charset="0"/>
                            <a:cs typeface="Times New Roman" panose="02020603050405020304" pitchFamily="18" charset="0"/>
                          </a:rPr>
                          <m:t>𝑡</m:t>
                        </m:r>
                        <m:r>
                          <a:rPr lang="en-US" i="1">
                            <a:latin typeface="Cambria Math" panose="02040503050406030204" pitchFamily="18" charset="0"/>
                            <a:ea typeface="Cambria" panose="02040503050406030204" pitchFamily="18" charset="0"/>
                            <a:cs typeface="Times New Roman" panose="02020603050405020304" pitchFamily="18" charset="0"/>
                          </a:rPr>
                          <m:t>,</m:t>
                        </m:r>
                        <m:r>
                          <a:rPr lang="en-US" i="1">
                            <a:latin typeface="Cambria Math" panose="02040503050406030204" pitchFamily="18" charset="0"/>
                            <a:ea typeface="Cambria" panose="02040503050406030204" pitchFamily="18" charset="0"/>
                            <a:cs typeface="Times New Roman" panose="02020603050405020304" pitchFamily="18" charset="0"/>
                          </a:rPr>
                          <m:t>𝑖</m:t>
                        </m:r>
                      </m:sub>
                    </m:sSub>
                  </m:oMath>
                </a14:m>
                <a:r>
                  <a:rPr lang="en-US" dirty="0">
                    <a:latin typeface="Cambria" panose="02040503050406030204" pitchFamily="18" charset="0"/>
                    <a:ea typeface="Cambria" panose="02040503050406030204" pitchFamily="18" charset="0"/>
                    <a:cs typeface="Times New Roman" panose="02020603050405020304" pitchFamily="18" charset="0"/>
                  </a:rPr>
                  <a:t> баллы выравнивания присваиваются как балл - это степень обучения, в которой каждый результат </a:t>
                </a:r>
                <a14:m>
                  <m:oMath xmlns:m="http://schemas.openxmlformats.org/officeDocument/2006/math">
                    <m:sSub>
                      <m:sSubPr>
                        <m:ctrlPr>
                          <a:rPr lang="ru-RU" i="1">
                            <a:latin typeface="Cambria Math" panose="02040503050406030204" pitchFamily="18" charset="0"/>
                            <a:ea typeface="Cambria" panose="02040503050406030204" pitchFamily="18" charset="0"/>
                            <a:cs typeface="Times New Roman" panose="02020603050405020304" pitchFamily="18" charset="0"/>
                          </a:rPr>
                        </m:ctrlPr>
                      </m:sSubPr>
                      <m:e>
                        <m:r>
                          <a:rPr lang="en-US" i="1">
                            <a:latin typeface="Cambria Math" panose="02040503050406030204" pitchFamily="18" charset="0"/>
                            <a:ea typeface="Cambria" panose="02040503050406030204" pitchFamily="18" charset="0"/>
                            <a:cs typeface="Times New Roman" panose="02020603050405020304" pitchFamily="18" charset="0"/>
                          </a:rPr>
                          <m:t>𝑦</m:t>
                        </m:r>
                      </m:e>
                      <m:sub>
                        <m:r>
                          <a:rPr lang="en-US" i="1">
                            <a:latin typeface="Cambria Math" panose="02040503050406030204" pitchFamily="18" charset="0"/>
                            <a:ea typeface="Cambria" panose="02040503050406030204" pitchFamily="18" charset="0"/>
                            <a:cs typeface="Times New Roman" panose="02020603050405020304" pitchFamily="18" charset="0"/>
                          </a:rPr>
                          <m:t>𝑡</m:t>
                        </m:r>
                      </m:sub>
                    </m:sSub>
                  </m:oMath>
                </a14:m>
                <a:r>
                  <a:rPr lang="en-US" dirty="0">
                    <a:latin typeface="Cambria" panose="02040503050406030204" pitchFamily="18" charset="0"/>
                    <a:ea typeface="Cambria" panose="02040503050406030204" pitchFamily="18" charset="0"/>
                    <a:cs typeface="Times New Roman" panose="02020603050405020304" pitchFamily="18" charset="0"/>
                  </a:rPr>
                  <a:t> соответствует каждому входу </a:t>
                </a:r>
                <a14:m>
                  <m:oMath xmlns:m="http://schemas.openxmlformats.org/officeDocument/2006/math">
                    <m:sSub>
                      <m:sSubPr>
                        <m:ctrlPr>
                          <a:rPr lang="ru-RU" i="1">
                            <a:latin typeface="Cambria Math" panose="02040503050406030204" pitchFamily="18" charset="0"/>
                            <a:ea typeface="Cambria" panose="02040503050406030204" pitchFamily="18" charset="0"/>
                            <a:cs typeface="Times New Roman" panose="02020603050405020304" pitchFamily="18" charset="0"/>
                          </a:rPr>
                        </m:ctrlPr>
                      </m:sSubPr>
                      <m:e>
                        <m:r>
                          <a:rPr lang="en-US" i="1">
                            <a:latin typeface="Cambria Math" panose="02040503050406030204" pitchFamily="18" charset="0"/>
                            <a:ea typeface="Cambria" panose="02040503050406030204" pitchFamily="18" charset="0"/>
                            <a:cs typeface="Times New Roman" panose="02020603050405020304" pitchFamily="18" charset="0"/>
                          </a:rPr>
                          <m:t>𝑥</m:t>
                        </m:r>
                      </m:e>
                      <m:sub>
                        <m:r>
                          <a:rPr lang="en-US" i="1">
                            <a:latin typeface="Cambria Math" panose="02040503050406030204" pitchFamily="18" charset="0"/>
                            <a:ea typeface="Cambria" panose="02040503050406030204" pitchFamily="18" charset="0"/>
                            <a:cs typeface="Times New Roman" panose="02020603050405020304" pitchFamily="18" charset="0"/>
                          </a:rPr>
                          <m:t>𝑖</m:t>
                        </m:r>
                      </m:sub>
                    </m:sSub>
                  </m:oMath>
                </a14:m>
                <a:r>
                  <a:rPr lang="en-US" dirty="0">
                    <a:latin typeface="Cambria" panose="02040503050406030204" pitchFamily="18" charset="0"/>
                    <a:ea typeface="Cambria" panose="02040503050406030204" pitchFamily="18" charset="0"/>
                    <a:cs typeface="Times New Roman" panose="02020603050405020304" pitchFamily="18" charset="0"/>
                  </a:rPr>
                  <a:t>. </a:t>
                </a:r>
                <a14:m>
                  <m:oMath xmlns:m="http://schemas.openxmlformats.org/officeDocument/2006/math">
                    <m:r>
                      <a:rPr lang="en-US" i="1">
                        <a:latin typeface="Cambria Math" panose="02040503050406030204" pitchFamily="18" charset="0"/>
                        <a:ea typeface="Cambria" panose="02040503050406030204" pitchFamily="18" charset="0"/>
                        <a:cs typeface="Times New Roman" panose="02020603050405020304" pitchFamily="18" charset="0"/>
                      </a:rPr>
                      <m:t>𝑠𝑐𝑜𝑟𝑒</m:t>
                    </m:r>
                  </m:oMath>
                </a14:m>
                <a:r>
                  <a:rPr lang="en-US" dirty="0">
                    <a:latin typeface="Cambria" panose="02040503050406030204" pitchFamily="18" charset="0"/>
                    <a:ea typeface="Cambria" panose="02040503050406030204" pitchFamily="18" charset="0"/>
                    <a:cs typeface="Times New Roman" panose="02020603050405020304" pitchFamily="18" charset="0"/>
                  </a:rPr>
                  <a:t> - функция оценки, которая может быть разной, но здесь изначально предлагается одна показана (так называемое аддитивное внимание или </a:t>
                </a:r>
                <a:r>
                  <a:rPr lang="en-US" dirty="0" err="1">
                    <a:latin typeface="Cambria" panose="02040503050406030204" pitchFamily="18" charset="0"/>
                    <a:ea typeface="Cambria" panose="02040503050406030204" pitchFamily="18" charset="0"/>
                    <a:cs typeface="Times New Roman" panose="02020603050405020304" pitchFamily="18" charset="0"/>
                  </a:rPr>
                  <a:t>Bahdanau</a:t>
                </a:r>
                <a:r>
                  <a:rPr lang="en-US" dirty="0">
                    <a:latin typeface="Cambria" panose="02040503050406030204" pitchFamily="18" charset="0"/>
                    <a:ea typeface="Cambria" panose="02040503050406030204" pitchFamily="18" charset="0"/>
                    <a:cs typeface="Times New Roman" panose="02020603050405020304" pitchFamily="18" charset="0"/>
                  </a:rPr>
                  <a:t>внимание). Декодер использует эти оценки внимания, чтобы решить, сколько внимания уделять вводу на каждом временном шаге декодирования.</a:t>
                </a:r>
                <a:endParaRPr lang="ru-RU" dirty="0">
                  <a:latin typeface="Cambria" panose="02040503050406030204" pitchFamily="18" charset="0"/>
                  <a:ea typeface="Cambria" panose="02040503050406030204" pitchFamily="18" charset="0"/>
                  <a:cs typeface="Times New Roman" panose="02020603050405020304" pitchFamily="18" charset="0"/>
                </a:endParaRPr>
              </a:p>
            </p:txBody>
          </p:sp>
        </mc:Choice>
        <mc:Fallback xmlns="">
          <p:sp>
            <p:nvSpPr>
              <p:cNvPr id="22" name="Прямоугольник 21"/>
              <p:cNvSpPr>
                <a:spLocks noRot="1" noChangeAspect="1" noMove="1" noResize="1" noEditPoints="1" noAdjustHandles="1" noChangeArrowheads="1" noChangeShapeType="1" noTextEdit="1"/>
              </p:cNvSpPr>
              <p:nvPr/>
            </p:nvSpPr>
            <p:spPr>
              <a:xfrm>
                <a:off x="5894817" y="3089782"/>
                <a:ext cx="6096000" cy="3717684"/>
              </a:xfrm>
              <a:prstGeom prst="rect">
                <a:avLst/>
              </a:prstGeom>
              <a:blipFill>
                <a:blip r:embed="rId3"/>
                <a:stretch>
                  <a:fillRect l="-900" t="-1148" r="-500" b="-1475"/>
                </a:stretch>
              </a:blipFill>
            </p:spPr>
            <p:txBody>
              <a:bodyPr/>
              <a:lstStyle/>
              <a:p>
                <a:r>
                  <a:rPr lang="ru-RU">
                    <a:noFill/>
                  </a:rPr>
                  <a:t> </a:t>
                </a:r>
              </a:p>
            </p:txBody>
          </p:sp>
        </mc:Fallback>
      </mc:AlternateContent>
    </p:spTree>
    <p:extLst>
      <p:ext uri="{BB962C8B-B14F-4D97-AF65-F5344CB8AC3E}">
        <p14:creationId xmlns:p14="http://schemas.microsoft.com/office/powerpoint/2010/main" val="3307887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algn="l" rtl="0" eaLnBrk="0" fontAlgn="base" hangingPunct="0">
              <a:lnSpc>
                <a:spcPct val="100000"/>
              </a:lnSpc>
              <a:spcAft>
                <a:spcPct val="0"/>
              </a:spcAft>
            </a:pPr>
            <a:r>
              <a:rPr lang="ru-RU" altLang="ru-RU" sz="4000" b="1" dirty="0">
                <a:solidFill>
                  <a:srgbClr val="000000"/>
                </a:solidFill>
              </a:rPr>
              <a:t>Сети на основе внимания</a:t>
            </a:r>
          </a:p>
        </p:txBody>
      </p:sp>
      <p:sp>
        <p:nvSpPr>
          <p:cNvPr id="3" name="Объект 2"/>
          <p:cNvSpPr>
            <a:spLocks noGrp="1"/>
          </p:cNvSpPr>
          <p:nvPr>
            <p:ph idx="1"/>
          </p:nvPr>
        </p:nvSpPr>
        <p:spPr>
          <a:xfrm>
            <a:off x="92365" y="672058"/>
            <a:ext cx="11832935" cy="6140153"/>
          </a:xfrm>
        </p:spPr>
        <p:txBody>
          <a:bodyPr>
            <a:noAutofit/>
          </a:bodyPr>
          <a:lstStyle/>
          <a:p>
            <a:pPr lvl="0" algn="l" rtl="0" eaLnBrk="0" fontAlgn="base" hangingPunct="0">
              <a:spcBef>
                <a:spcPct val="0"/>
              </a:spcBef>
              <a:spcAft>
                <a:spcPct val="0"/>
              </a:spcAft>
            </a:pPr>
            <a:r>
              <a:rPr lang="en-US" b="1" dirty="0"/>
              <a:t>Несколько </a:t>
            </a:r>
            <a:r>
              <a:rPr lang="en-US" b="1" dirty="0" err="1"/>
              <a:t>популярных</a:t>
            </a:r>
            <a:r>
              <a:rPr lang="en-US" b="1" dirty="0"/>
              <a:t> </a:t>
            </a:r>
            <a:r>
              <a:rPr lang="en-US" b="1" dirty="0" err="1"/>
              <a:t>функци</a:t>
            </a:r>
            <a:r>
              <a:rPr lang="ru-RU" b="1" dirty="0"/>
              <a:t>й внимания</a:t>
            </a:r>
            <a:r>
              <a:rPr lang="en-US" dirty="0"/>
              <a:t>:</a:t>
            </a:r>
            <a:endParaRPr lang="ru-RU" altLang="ru-RU" sz="2000" dirty="0">
              <a:latin typeface="Arial" panose="020B0604020202020204" pitchFamily="34" charset="0"/>
            </a:endParaRP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8" name="Рисунок 17"/>
          <p:cNvPicPr>
            <a:picLocks noChangeAspect="1"/>
          </p:cNvPicPr>
          <p:nvPr/>
        </p:nvPicPr>
        <p:blipFill>
          <a:blip r:embed="rId2"/>
          <a:stretch>
            <a:fillRect/>
          </a:stretch>
        </p:blipFill>
        <p:spPr>
          <a:xfrm>
            <a:off x="917575" y="1042126"/>
            <a:ext cx="7345851" cy="5685383"/>
          </a:xfrm>
          <a:prstGeom prst="rect">
            <a:avLst/>
          </a:prstGeom>
        </p:spPr>
      </p:pic>
    </p:spTree>
    <p:extLst>
      <p:ext uri="{BB962C8B-B14F-4D97-AF65-F5344CB8AC3E}">
        <p14:creationId xmlns:p14="http://schemas.microsoft.com/office/powerpoint/2010/main" val="37258236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eaLnBrk="0" fontAlgn="base" hangingPunct="0">
              <a:lnSpc>
                <a:spcPct val="100000"/>
              </a:lnSpc>
              <a:spcAft>
                <a:spcPct val="0"/>
              </a:spcAft>
            </a:pPr>
            <a:r>
              <a:rPr lang="ru-RU" altLang="ru-RU" sz="4000" b="1" dirty="0">
                <a:solidFill>
                  <a:srgbClr val="000000"/>
                </a:solidFill>
              </a:rPr>
              <a:t>Сети на основе внимания. </a:t>
            </a:r>
            <a:r>
              <a:rPr lang="en-US" sz="4000" b="1" dirty="0" err="1"/>
              <a:t>Самовнимание</a:t>
            </a:r>
            <a:endParaRPr lang="ru-RU" altLang="ru-RU" sz="4000" b="1" dirty="0">
              <a:solidFill>
                <a:srgbClr val="000000"/>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92365" y="672058"/>
                <a:ext cx="11832935" cy="6140153"/>
              </a:xfrm>
            </p:spPr>
            <p:txBody>
              <a:bodyPr>
                <a:noAutofit/>
              </a:bodyPr>
              <a:lstStyle/>
              <a:p>
                <a:pPr algn="l" rtl="0">
                  <a:lnSpc>
                    <a:spcPct val="100000"/>
                  </a:lnSpc>
                  <a:spcBef>
                    <a:spcPts val="0"/>
                  </a:spcBef>
                </a:pPr>
                <a:r>
                  <a:rPr lang="en-US" sz="2000" dirty="0" err="1"/>
                  <a:t>Модификацией</a:t>
                </a:r>
                <a:r>
                  <a:rPr lang="en-US" sz="2000" dirty="0"/>
                  <a:t> подхода простого внимания является </a:t>
                </a:r>
                <a:r>
                  <a:rPr lang="en-US" sz="2000" b="1" dirty="0"/>
                  <a:t>слой самовнимания</a:t>
                </a:r>
                <a:r>
                  <a:rPr lang="en-US" sz="2000" dirty="0"/>
                  <a:t>.</a:t>
                </a:r>
                <a:br>
                  <a:rPr lang="en-US" sz="2000" dirty="0"/>
                </a:br>
                <a:r>
                  <a:rPr lang="en-US" sz="2000" b="1" dirty="0"/>
                  <a:t>Основная идея </a:t>
                </a:r>
                <a:r>
                  <a:rPr lang="en-US" sz="2000" b="1" dirty="0" err="1"/>
                  <a:t>Self_attention</a:t>
                </a:r>
                <a:r>
                  <a:rPr lang="en-US" sz="2000" b="1" dirty="0"/>
                  <a:t> это учиться </a:t>
                </a:r>
                <a:r>
                  <a:rPr lang="en-US" sz="2000" b="1" dirty="0" err="1"/>
                  <a:t>из</a:t>
                </a:r>
                <a:r>
                  <a:rPr lang="en-US" sz="2000" b="1" dirty="0"/>
                  <a:t> </a:t>
                </a:r>
                <a:r>
                  <a:rPr lang="en-US" sz="2000" b="1" dirty="0" err="1"/>
                  <a:t>вход</a:t>
                </a:r>
                <a:r>
                  <a:rPr lang="ru-RU" sz="2000" b="1" dirty="0" err="1"/>
                  <a:t>ных</a:t>
                </a:r>
                <a:r>
                  <a:rPr lang="ru-RU" sz="2000" b="1" dirty="0"/>
                  <a:t> данных</a:t>
                </a:r>
                <a:r>
                  <a:rPr lang="en-US" sz="2000" b="1" dirty="0"/>
                  <a:t>.</a:t>
                </a:r>
                <a:r>
                  <a:rPr lang="ru-RU" sz="2000" b="1" dirty="0"/>
                  <a:t> </a:t>
                </a:r>
                <a:endParaRPr lang="en-US" sz="2000" dirty="0"/>
              </a:p>
              <a:p>
                <a:pPr algn="l" rtl="0">
                  <a:lnSpc>
                    <a:spcPct val="100000"/>
                  </a:lnSpc>
                  <a:spcBef>
                    <a:spcPts val="0"/>
                  </a:spcBef>
                </a:pPr>
                <a:r>
                  <a:rPr lang="en-US" sz="2000" dirty="0"/>
                  <a:t>Метод Самовнимания успешно использовался в самых разных задачах.</a:t>
                </a:r>
                <a:br>
                  <a:rPr lang="en-US" sz="2000" dirty="0"/>
                </a:br>
                <a:r>
                  <a:rPr lang="en-US" sz="2000" u="sng" dirty="0" err="1"/>
                  <a:t>Главное</a:t>
                </a:r>
                <a:r>
                  <a:rPr lang="en-US" sz="2000" u="sng" dirty="0"/>
                  <a:t> преимущество здесь в том, что вы </a:t>
                </a:r>
                <a:r>
                  <a:rPr lang="en-US" sz="2000" u="sng" dirty="0" err="1"/>
                  <a:t>можете</a:t>
                </a:r>
                <a:r>
                  <a:rPr lang="en-US" sz="2000" u="sng" dirty="0"/>
                  <a:t> </a:t>
                </a:r>
                <a:r>
                  <a:rPr lang="en-US" sz="2000" u="sng" dirty="0" err="1"/>
                  <a:t>предварительн</a:t>
                </a:r>
                <a:r>
                  <a:rPr lang="ru-RU" sz="2000" u="sng" dirty="0"/>
                  <a:t>о</a:t>
                </a:r>
                <a:r>
                  <a:rPr lang="en-US" sz="2000" u="sng" dirty="0"/>
                  <a:t> </a:t>
                </a:r>
                <a:r>
                  <a:rPr lang="en-US" sz="2000" u="sng" dirty="0" err="1"/>
                  <a:t>трениров</a:t>
                </a:r>
                <a:r>
                  <a:rPr lang="ru-RU" sz="2000" u="sng" dirty="0" err="1"/>
                  <a:t>ать</a:t>
                </a:r>
                <a:r>
                  <a:rPr lang="en-US" sz="2000" u="sng" dirty="0"/>
                  <a:t> </a:t>
                </a:r>
                <a:r>
                  <a:rPr lang="en-US" sz="2000" u="sng" dirty="0" err="1"/>
                  <a:t>кодировщик</a:t>
                </a:r>
                <a:r>
                  <a:rPr lang="en-US" sz="2000" u="sng" dirty="0"/>
                  <a:t> </a:t>
                </a:r>
                <a:r>
                  <a:rPr lang="ru-RU" sz="2000" u="sng" dirty="0"/>
                  <a:t>без учителя</a:t>
                </a:r>
                <a:endParaRPr lang="en-US" sz="2000" dirty="0"/>
              </a:p>
              <a:p>
                <a:pPr algn="l" rtl="0">
                  <a:lnSpc>
                    <a:spcPct val="100000"/>
                  </a:lnSpc>
                  <a:spcBef>
                    <a:spcPts val="0"/>
                  </a:spcBef>
                </a:pPr>
                <a:r>
                  <a:rPr lang="en-US" sz="2000" dirty="0"/>
                  <a:t>В случае самовнимания мы можем упростить аддитивное внимание следующим </a:t>
                </a:r>
                <a:r>
                  <a:rPr lang="en-US" sz="2000" dirty="0" err="1"/>
                  <a:t>образом</a:t>
                </a:r>
                <a:r>
                  <a:rPr lang="en-US" sz="2000" dirty="0"/>
                  <a:t>:</a:t>
                </a:r>
              </a:p>
              <a:p>
                <a:pPr marL="0" indent="0" algn="l" rtl="0">
                  <a:lnSpc>
                    <a:spcPct val="100000"/>
                  </a:lnSpc>
                  <a:spcBef>
                    <a:spcPts val="0"/>
                  </a:spcBef>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𝑠𝑐𝑜𝑟𝑒</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𝐡</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𝐯</m:t>
                          </m:r>
                        </m:e>
                        <m:sub>
                          <m:r>
                            <a:rPr lang="en-US" sz="2000" i="1">
                              <a:latin typeface="Cambria Math" panose="02040503050406030204" pitchFamily="18" charset="0"/>
                            </a:rPr>
                            <m:t>𝑎</m:t>
                          </m:r>
                        </m:sub>
                      </m:sSub>
                      <m:sSup>
                        <m:sSupPr>
                          <m:ctrlPr>
                            <a:rPr lang="ru-RU" sz="2000" i="1">
                              <a:latin typeface="Cambria Math" panose="02040503050406030204" pitchFamily="18" charset="0"/>
                            </a:rPr>
                          </m:ctrlPr>
                        </m:sSupPr>
                        <m:e>
                          <m:r>
                            <a:rPr lang="en-US" sz="2000" i="1">
                              <a:latin typeface="Cambria Math" panose="02040503050406030204" pitchFamily="18" charset="0"/>
                            </a:rPr>
                            <m:t>​</m:t>
                          </m:r>
                        </m:e>
                        <m:sup>
                          <m:r>
                            <a:rPr lang="en-US" sz="2000" i="1">
                              <a:latin typeface="Cambria Math" panose="02040503050406030204" pitchFamily="18" charset="0"/>
                            </a:rPr>
                            <m:t>⊤</m:t>
                          </m:r>
                        </m:sup>
                      </m:sSup>
                      <m:r>
                        <m:rPr>
                          <m:nor/>
                        </m:rPr>
                        <a:rPr lang="en-US" sz="2000"/>
                        <m:t>tanh</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𝐖</m:t>
                          </m:r>
                        </m:e>
                        <m:sub>
                          <m:r>
                            <a:rPr lang="en-US" sz="2000" i="1">
                              <a:latin typeface="Cambria Math" panose="02040503050406030204" pitchFamily="18" charset="0"/>
                            </a:rPr>
                            <m:t>𝑎</m:t>
                          </m:r>
                        </m:sub>
                      </m:sSub>
                      <m:sSub>
                        <m:sSubPr>
                          <m:ctrlPr>
                            <a:rPr lang="ru-RU" sz="2000" i="1">
                              <a:latin typeface="Cambria Math" panose="02040503050406030204" pitchFamily="18" charset="0"/>
                            </a:rPr>
                          </m:ctrlPr>
                        </m:sSubPr>
                        <m:e>
                          <m:r>
                            <a:rPr lang="en-US" sz="2000" b="1" i="1">
                              <a:latin typeface="Cambria Math" panose="02040503050406030204" pitchFamily="18" charset="0"/>
                            </a:rPr>
                            <m:t>𝐡</m:t>
                          </m:r>
                        </m:e>
                        <m:sub>
                          <m:r>
                            <a:rPr lang="en-US" sz="2000" i="1">
                              <a:latin typeface="Cambria Math" panose="02040503050406030204" pitchFamily="18" charset="0"/>
                            </a:rPr>
                            <m:t>𝑖</m:t>
                          </m:r>
                        </m:sub>
                      </m:sSub>
                      <m:r>
                        <a:rPr lang="en-US" sz="2000" i="1">
                          <a:latin typeface="Cambria Math" panose="02040503050406030204" pitchFamily="18" charset="0"/>
                        </a:rPr>
                        <m:t>)</m:t>
                      </m:r>
                    </m:oMath>
                  </m:oMathPara>
                </a14:m>
                <a:endParaRPr lang="ru-RU" sz="2000" dirty="0"/>
              </a:p>
              <a:p>
                <a:pPr algn="l" rtl="0">
                  <a:lnSpc>
                    <a:spcPct val="100000"/>
                  </a:lnSpc>
                  <a:spcBef>
                    <a:spcPts val="0"/>
                  </a:spcBef>
                </a:pPr>
                <a:r>
                  <a:rPr lang="en-US" sz="2000" dirty="0"/>
                  <a:t>Таким образом, мы можем вычислить </a:t>
                </a:r>
                <a:r>
                  <a:rPr lang="en-US" sz="2000" dirty="0" err="1"/>
                  <a:t>представление</a:t>
                </a:r>
                <a:r>
                  <a:rPr lang="en-US" sz="2000" dirty="0"/>
                  <a:t>  c  в матричной форме следующим образом:</a:t>
                </a:r>
                <a:br>
                  <a:rPr lang="en-US" sz="2000" dirty="0"/>
                </a:br>
                <a14:m>
                  <m:oMath xmlns:m="http://schemas.openxmlformats.org/officeDocument/2006/math">
                    <m:m>
                      <m:mPr>
                        <m:plcHide m:val="on"/>
                        <m:mcs>
                          <m:mc>
                            <m:mcPr>
                              <m:count m:val="1"/>
                              <m:mcJc m:val="center"/>
                            </m:mcPr>
                          </m:mc>
                        </m:mcs>
                        <m:ctrlPr>
                          <a:rPr lang="ru-RU" sz="2000" i="1">
                            <a:latin typeface="Cambria Math" panose="02040503050406030204" pitchFamily="18" charset="0"/>
                          </a:rPr>
                        </m:ctrlPr>
                      </m:mPr>
                      <m:mr>
                        <m:e>
                          <m:m>
                            <m:mPr>
                              <m:plcHide m:val="on"/>
                              <m:mcs>
                                <m:mc>
                                  <m:mcPr>
                                    <m:count m:val="2"/>
                                    <m:mcJc m:val="center"/>
                                  </m:mcPr>
                                </m:mc>
                              </m:mcs>
                              <m:ctrlPr>
                                <a:rPr lang="ru-RU" sz="2000" i="1">
                                  <a:latin typeface="Cambria Math" panose="02040503050406030204" pitchFamily="18" charset="0"/>
                                </a:rPr>
                              </m:ctrlPr>
                            </m:mPr>
                            <m:mr>
                              <m:e>
                                <m:r>
                                  <a:rPr lang="en-US" sz="2000" b="1" i="1">
                                    <a:latin typeface="Cambria Math" panose="02040503050406030204" pitchFamily="18" charset="0"/>
                                  </a:rPr>
                                  <m:t>𝐚</m:t>
                                </m:r>
                              </m:e>
                              <m:e>
                                <m:r>
                                  <a:rPr lang="en-US" sz="2000" i="1">
                                    <a:latin typeface="Cambria Math" panose="02040503050406030204" pitchFamily="18" charset="0"/>
                                  </a:rPr>
                                  <m:t>=</m:t>
                                </m:r>
                                <m:r>
                                  <m:rPr>
                                    <m:nor/>
                                  </m:rPr>
                                  <a:rPr lang="en-US" sz="2000"/>
                                  <m:t>softmax</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𝐯</m:t>
                                    </m:r>
                                  </m:e>
                                  <m:sub>
                                    <m:r>
                                      <a:rPr lang="en-US" sz="2000" i="1">
                                        <a:latin typeface="Cambria Math" panose="02040503050406030204" pitchFamily="18" charset="0"/>
                                      </a:rPr>
                                      <m:t>𝑎</m:t>
                                    </m:r>
                                  </m:sub>
                                </m:sSub>
                                <m:r>
                                  <m:rPr>
                                    <m:nor/>
                                  </m:rPr>
                                  <a:rPr lang="en-US" sz="2000"/>
                                  <m:t>tanh</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𝐖</m:t>
                                    </m:r>
                                  </m:e>
                                  <m:sub>
                                    <m:r>
                                      <a:rPr lang="en-US" sz="2000" i="1">
                                        <a:latin typeface="Cambria Math" panose="02040503050406030204" pitchFamily="18" charset="0"/>
                                      </a:rPr>
                                      <m:t>𝑎</m:t>
                                    </m:r>
                                  </m:sub>
                                </m:sSub>
                                <m:sSup>
                                  <m:sSupPr>
                                    <m:ctrlPr>
                                      <a:rPr lang="ru-RU" sz="2000" i="1">
                                        <a:latin typeface="Cambria Math" panose="02040503050406030204" pitchFamily="18" charset="0"/>
                                      </a:rPr>
                                    </m:ctrlPr>
                                  </m:sSupPr>
                                  <m:e>
                                    <m:r>
                                      <a:rPr lang="en-US" sz="2000" b="1" i="1">
                                        <a:latin typeface="Cambria Math" panose="02040503050406030204" pitchFamily="18" charset="0"/>
                                      </a:rPr>
                                      <m:t>𝐇</m:t>
                                    </m:r>
                                  </m:e>
                                  <m:sup>
                                    <m:r>
                                      <a:rPr lang="en-US" sz="2000" i="1">
                                        <a:latin typeface="Cambria Math" panose="02040503050406030204" pitchFamily="18" charset="0"/>
                                      </a:rPr>
                                      <m:t>⊤</m:t>
                                    </m:r>
                                  </m:sup>
                                </m:sSup>
                                <m:r>
                                  <a:rPr lang="en-US" sz="2000" i="1">
                                    <a:latin typeface="Cambria Math" panose="02040503050406030204" pitchFamily="18" charset="0"/>
                                  </a:rPr>
                                  <m:t>))</m:t>
                                </m:r>
                              </m:e>
                            </m:mr>
                            <m:mr>
                              <m:e>
                                <m:r>
                                  <a:rPr lang="en-US" sz="2000" b="1" i="1">
                                    <a:latin typeface="Cambria Math" panose="02040503050406030204" pitchFamily="18" charset="0"/>
                                  </a:rPr>
                                  <m:t>𝐜</m:t>
                                </m:r>
                              </m:e>
                              <m:e>
                                <m:r>
                                  <a:rPr lang="en-US" sz="2000" i="1">
                                    <a:latin typeface="Cambria Math" panose="02040503050406030204" pitchFamily="18" charset="0"/>
                                  </a:rPr>
                                  <m:t>=</m:t>
                                </m:r>
                                <m:r>
                                  <a:rPr lang="en-US" sz="2000" b="1" i="1">
                                    <a:latin typeface="Cambria Math" panose="02040503050406030204" pitchFamily="18" charset="0"/>
                                  </a:rPr>
                                  <m:t>𝐇</m:t>
                                </m:r>
                                <m:sSup>
                                  <m:sSupPr>
                                    <m:ctrlPr>
                                      <a:rPr lang="ru-RU" sz="2000" i="1">
                                        <a:latin typeface="Cambria Math" panose="02040503050406030204" pitchFamily="18" charset="0"/>
                                      </a:rPr>
                                    </m:ctrlPr>
                                  </m:sSupPr>
                                  <m:e>
                                    <m:r>
                                      <a:rPr lang="en-US" sz="2000" b="1" i="1">
                                        <a:latin typeface="Cambria Math" panose="02040503050406030204" pitchFamily="18" charset="0"/>
                                      </a:rPr>
                                      <m:t>𝐚</m:t>
                                    </m:r>
                                  </m:e>
                                  <m:sup>
                                    <m:r>
                                      <a:rPr lang="en-US" sz="2000" i="1">
                                        <a:latin typeface="Cambria Math" panose="02040503050406030204" pitchFamily="18" charset="0"/>
                                      </a:rPr>
                                      <m:t>⊤</m:t>
                                    </m:r>
                                  </m:sup>
                                </m:sSup>
                              </m:e>
                            </m:mr>
                          </m:m>
                        </m:e>
                      </m:mr>
                    </m:m>
                    <m:r>
                      <a:rPr lang="en-US" sz="2000" i="1">
                        <a:latin typeface="Cambria Math" panose="02040503050406030204" pitchFamily="18" charset="0"/>
                      </a:rPr>
                      <m:t>,</m:t>
                    </m:r>
                  </m:oMath>
                </a14:m>
                <a:endParaRPr lang="ru-RU" sz="2000" dirty="0"/>
              </a:p>
              <a:p>
                <a:pPr algn="l" rtl="0">
                  <a:lnSpc>
                    <a:spcPct val="100000"/>
                  </a:lnSpc>
                  <a:spcBef>
                    <a:spcPts val="0"/>
                  </a:spcBef>
                </a:pPr>
                <a:r>
                  <a:rPr lang="ru-RU" sz="2000" dirty="0"/>
                  <a:t>где</a:t>
                </a:r>
                <a:r>
                  <a:rPr lang="en-US" sz="2000" dirty="0"/>
                  <a:t>: </a:t>
                </a:r>
                <a14:m>
                  <m:oMath xmlns:m="http://schemas.openxmlformats.org/officeDocument/2006/math">
                    <m:r>
                      <a:rPr lang="en-US" sz="2000" i="1">
                        <a:latin typeface="Cambria Math" panose="02040503050406030204" pitchFamily="18" charset="0"/>
                      </a:rPr>
                      <m:t>𝐻</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h</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h</m:t>
                        </m:r>
                      </m:e>
                      <m:sub>
                        <m:r>
                          <a:rPr lang="en-US" sz="2000" i="1">
                            <a:latin typeface="Cambria Math" panose="02040503050406030204" pitchFamily="18" charset="0"/>
                          </a:rPr>
                          <m:t>𝑛</m:t>
                        </m:r>
                      </m:sub>
                    </m:sSub>
                  </m:oMath>
                </a14:m>
                <a:r>
                  <a:rPr lang="en-US" sz="2000" dirty="0"/>
                  <a:t> - матрица скрытых состояний; </a:t>
                </a:r>
                <a14:m>
                  <m:oMath xmlns:m="http://schemas.openxmlformats.org/officeDocument/2006/math">
                    <m:r>
                      <a:rPr lang="en-US" sz="2000" i="1">
                        <a:latin typeface="Cambria Math" panose="02040503050406030204" pitchFamily="18" charset="0"/>
                      </a:rPr>
                      <m:t>𝑎</m:t>
                    </m:r>
                  </m:oMath>
                </a14:m>
                <a:r>
                  <a:rPr lang="en-US" sz="2000" dirty="0"/>
                  <a:t> вектор внимания; </a:t>
                </a:r>
                <a14:m>
                  <m:oMath xmlns:m="http://schemas.openxmlformats.org/officeDocument/2006/math">
                    <m:r>
                      <a:rPr lang="en-US" sz="2000" i="1">
                        <a:latin typeface="Cambria Math" panose="02040503050406030204" pitchFamily="18" charset="0"/>
                      </a:rPr>
                      <m:t>𝑐</m:t>
                    </m:r>
                  </m:oMath>
                </a14:m>
                <a:r>
                  <a:rPr lang="en-US" sz="2000" dirty="0"/>
                  <a:t> - представление последовательности (вектор контекста). </a:t>
                </a:r>
                <a:endParaRPr lang="ru-RU" sz="2000" dirty="0"/>
              </a:p>
              <a:p>
                <a:pPr algn="l" rtl="0">
                  <a:lnSpc>
                    <a:spcPct val="100000"/>
                  </a:lnSpc>
                  <a:spcBef>
                    <a:spcPts val="0"/>
                  </a:spcBef>
                </a:pPr>
                <a:r>
                  <a:rPr lang="en-US" sz="2000" dirty="0"/>
                  <a:t> </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92365" y="672058"/>
                <a:ext cx="11832935" cy="6140153"/>
              </a:xfrm>
              <a:blipFill>
                <a:blip r:embed="rId2"/>
                <a:stretch>
                  <a:fillRect l="-464" t="-497"/>
                </a:stretch>
              </a:blipFill>
            </p:spPr>
            <p:txBody>
              <a:bodyPr/>
              <a:lstStyle/>
              <a:p>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Tree>
    <p:extLst>
      <p:ext uri="{BB962C8B-B14F-4D97-AF65-F5344CB8AC3E}">
        <p14:creationId xmlns:p14="http://schemas.microsoft.com/office/powerpoint/2010/main" val="7989623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eaLnBrk="0" fontAlgn="base" hangingPunct="0">
              <a:lnSpc>
                <a:spcPct val="100000"/>
              </a:lnSpc>
              <a:spcAft>
                <a:spcPct val="0"/>
              </a:spcAft>
            </a:pPr>
            <a:r>
              <a:rPr lang="ru-RU" altLang="ru-RU" sz="4000" b="1" dirty="0">
                <a:solidFill>
                  <a:srgbClr val="000000"/>
                </a:solidFill>
              </a:rPr>
              <a:t>Сети на основе внимания. </a:t>
            </a:r>
            <a:r>
              <a:rPr lang="en-US" sz="4000" b="1" dirty="0" err="1"/>
              <a:t>Самовнимание</a:t>
            </a:r>
            <a:endParaRPr lang="ru-RU" altLang="ru-RU" sz="4000" b="1" dirty="0">
              <a:solidFill>
                <a:srgbClr val="000000"/>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92365" y="672058"/>
                <a:ext cx="11832935" cy="6140153"/>
              </a:xfrm>
            </p:spPr>
            <p:txBody>
              <a:bodyPr>
                <a:noAutofit/>
              </a:bodyPr>
              <a:lstStyle/>
              <a:p>
                <a:pPr algn="l" rtl="0">
                  <a:lnSpc>
                    <a:spcPct val="100000"/>
                  </a:lnSpc>
                  <a:spcBef>
                    <a:spcPts val="0"/>
                  </a:spcBef>
                </a:pPr>
                <a:r>
                  <a:rPr lang="en-US" sz="2000" dirty="0" err="1"/>
                  <a:t>Примечание</a:t>
                </a:r>
                <a:r>
                  <a:rPr lang="en-US" sz="2000" dirty="0"/>
                  <a:t>. </a:t>
                </a:r>
                <a:endParaRPr lang="ru-RU" sz="2000" dirty="0"/>
              </a:p>
              <a:p>
                <a:pPr algn="l" rtl="0">
                  <a:lnSpc>
                    <a:spcPct val="100000"/>
                  </a:lnSpc>
                  <a:spcBef>
                    <a:spcPts val="0"/>
                  </a:spcBef>
                </a:pPr>
                <a:r>
                  <a:rPr lang="en-US" sz="2000" dirty="0" err="1"/>
                  <a:t>Другой</a:t>
                </a:r>
                <a:r>
                  <a:rPr lang="en-US" sz="2000" dirty="0"/>
                  <a:t> способ объяснения самовнимания для каждого вектора контекста.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oMath>
                </a14:m>
                <a:r>
                  <a:rPr lang="en-US" sz="2000" dirty="0"/>
                  <a:t>:</a:t>
                </a:r>
                <a:br>
                  <a:rPr lang="en-US" sz="2000" dirty="0"/>
                </a:b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r>
                      <a:rPr lang="en-US" sz="2000" i="1">
                        <a:latin typeface="Cambria Math" panose="02040503050406030204" pitchFamily="18" charset="0"/>
                      </a:rPr>
                      <m:t>=</m:t>
                    </m:r>
                    <m:nary>
                      <m:naryPr>
                        <m:chr m:val="∑"/>
                        <m:limLoc m:val="undOvr"/>
                        <m:ctrlPr>
                          <a:rPr lang="ru-RU" sz="2000" i="1">
                            <a:latin typeface="Cambria Math" panose="02040503050406030204" pitchFamily="18" charset="0"/>
                          </a:rPr>
                        </m:ctrlPr>
                      </m:naryPr>
                      <m:sub>
                        <m:r>
                          <a:rPr lang="en-US" sz="2000" i="1">
                            <a:latin typeface="Cambria Math" panose="02040503050406030204" pitchFamily="18" charset="0"/>
                          </a:rPr>
                          <m:t>𝑗</m:t>
                        </m:r>
                      </m:sub>
                      <m:sup>
                        <m:r>
                          <a:rPr lang="en-US" sz="2000" i="1">
                            <a:latin typeface="Cambria Math" panose="02040503050406030204" pitchFamily="18" charset="0"/>
                          </a:rPr>
                          <m:t>​</m:t>
                        </m:r>
                      </m:sup>
                      <m:e>
                        <m:sSub>
                          <m:sSubPr>
                            <m:ctrlPr>
                              <a:rPr lang="ru-RU"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𝑖𝑗</m:t>
                            </m:r>
                          </m:sub>
                        </m:sSub>
                      </m:e>
                    </m:nary>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𝑗</m:t>
                        </m:r>
                      </m:sub>
                    </m:sSub>
                  </m:oMath>
                </a14:m>
                <a:endParaRPr lang="ru-RU" sz="2000" dirty="0"/>
              </a:p>
              <a:p>
                <a:pPr algn="l" rtl="0">
                  <a:lnSpc>
                    <a:spcPct val="100000"/>
                  </a:lnSpc>
                  <a:spcBef>
                    <a:spcPts val="0"/>
                  </a:spcBef>
                </a:pPr>
                <a:r>
                  <a:rPr lang="ru-RU" sz="2000" dirty="0"/>
                  <a:t>где</a:t>
                </a:r>
                <a:r>
                  <a:rPr lang="en-US" sz="2000" dirty="0"/>
                  <a:t> </a:t>
                </a:r>
                <a14:m>
                  <m:oMath xmlns:m="http://schemas.openxmlformats.org/officeDocument/2006/math">
                    <m:r>
                      <a:rPr lang="en-US" sz="2000" i="1">
                        <a:latin typeface="Cambria Math" panose="02040503050406030204" pitchFamily="18" charset="0"/>
                      </a:rPr>
                      <m:t>𝑗</m:t>
                    </m:r>
                  </m:oMath>
                </a14:m>
                <a:r>
                  <a:rPr lang="en-US" sz="2000" dirty="0"/>
                  <a:t> индексы по всей входной последовательности (здесь </a:t>
                </a:r>
                <a14:m>
                  <m:oMath xmlns:m="http://schemas.openxmlformats.org/officeDocument/2006/math">
                    <m:r>
                      <a:rPr lang="en-US" sz="2000" i="1">
                        <a:latin typeface="Cambria Math" panose="02040503050406030204" pitchFamily="18" charset="0"/>
                      </a:rPr>
                      <m:t>𝑥</m:t>
                    </m:r>
                  </m:oMath>
                </a14:m>
                <a:r>
                  <a:rPr lang="en-US" sz="2000" dirty="0"/>
                  <a:t>). </a:t>
                </a:r>
                <a:endParaRPr lang="ru-RU" sz="2000" dirty="0"/>
              </a:p>
              <a:p>
                <a:pPr algn="l" rtl="0">
                  <a:lnSpc>
                    <a:spcPct val="100000"/>
                  </a:lnSpc>
                  <a:spcBef>
                    <a:spcPts val="0"/>
                  </a:spcBef>
                </a:pPr>
                <a:r>
                  <a:rPr lang="en-US" sz="2000" dirty="0" err="1"/>
                  <a:t>Вес</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𝑖𝑗</m:t>
                        </m:r>
                      </m:sub>
                    </m:sSub>
                  </m:oMath>
                </a14:m>
                <a:r>
                  <a:rPr lang="en-US" sz="2000" dirty="0"/>
                  <a:t> не является параметром, как в обычной нейронной сети, а является производным от функции над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oMath>
                </a14:m>
                <a:r>
                  <a:rPr lang="en-US" sz="2000" dirty="0"/>
                  <a:t> а также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𝑗</m:t>
                        </m:r>
                      </m:sub>
                    </m:sSub>
                  </m:oMath>
                </a14:m>
                <a:r>
                  <a:rPr lang="en-US" sz="2000" dirty="0"/>
                  <a:t>.</a:t>
                </a:r>
                <a:endParaRPr lang="ru-RU" sz="2000" dirty="0"/>
              </a:p>
              <a:p>
                <a:pPr algn="l" rtl="0">
                  <a:lnSpc>
                    <a:spcPct val="100000"/>
                  </a:lnSpc>
                  <a:spcBef>
                    <a:spcPts val="0"/>
                  </a:spcBef>
                </a:pPr>
                <a:r>
                  <a:rPr lang="en-US" sz="2000" dirty="0"/>
                  <a:t> Например,</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𝑖𝑗</m:t>
                        </m:r>
                      </m:sub>
                    </m:sSub>
                    <m:r>
                      <a:rPr lang="en-US" sz="2000" i="1">
                        <a:latin typeface="Cambria Math" panose="02040503050406030204" pitchFamily="18" charset="0"/>
                      </a:rPr>
                      <m:t>=</m:t>
                    </m:r>
                    <m:r>
                      <a:rPr lang="en-US" sz="2000" i="1">
                        <a:latin typeface="Cambria Math" panose="02040503050406030204" pitchFamily="18" charset="0"/>
                      </a:rPr>
                      <m:t>𝑠𝑜𝑓𝑡𝑚𝑎𝑥</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𝑗</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m:t>
                    </m:r>
                  </m:oMath>
                </a14:m>
                <a:r>
                  <a:rPr lang="en-US" sz="2000" dirty="0"/>
                  <a:t> </a:t>
                </a:r>
                <a:endParaRPr lang="ru-RU" sz="2000" dirty="0"/>
              </a:p>
              <a:p>
                <a:pPr algn="l" rtl="0">
                  <a:lnSpc>
                    <a:spcPct val="100000"/>
                  </a:lnSpc>
                  <a:spcBef>
                    <a:spcPts val="0"/>
                  </a:spcBef>
                </a:pPr>
                <a:endParaRPr lang="en-US" sz="20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92365" y="672058"/>
                <a:ext cx="11832935" cy="6140153"/>
              </a:xfrm>
              <a:blipFill>
                <a:blip r:embed="rId2"/>
                <a:stretch>
                  <a:fillRect l="-464" t="-497"/>
                </a:stretch>
              </a:blipFill>
            </p:spPr>
            <p:txBody>
              <a:bodyPr/>
              <a:lstStyle/>
              <a:p>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Tree>
    <p:extLst>
      <p:ext uri="{BB962C8B-B14F-4D97-AF65-F5344CB8AC3E}">
        <p14:creationId xmlns:p14="http://schemas.microsoft.com/office/powerpoint/2010/main" val="22123437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algn="l" rtl="0" eaLnBrk="0" fontAlgn="base" hangingPunct="0">
              <a:lnSpc>
                <a:spcPct val="100000"/>
              </a:lnSpc>
              <a:spcAft>
                <a:spcPct val="0"/>
              </a:spcAft>
            </a:pPr>
            <a:r>
              <a:rPr lang="ru-RU" altLang="ru-RU" sz="4000" b="1" dirty="0">
                <a:solidFill>
                  <a:srgbClr val="000000"/>
                </a:solidFill>
              </a:rPr>
              <a:t>Сети на основе внимания</a:t>
            </a:r>
          </a:p>
        </p:txBody>
      </p:sp>
      <p:sp>
        <p:nvSpPr>
          <p:cNvPr id="3" name="Объект 2"/>
          <p:cNvSpPr>
            <a:spLocks noGrp="1"/>
          </p:cNvSpPr>
          <p:nvPr>
            <p:ph idx="1"/>
          </p:nvPr>
        </p:nvSpPr>
        <p:spPr>
          <a:xfrm>
            <a:off x="92365" y="672058"/>
            <a:ext cx="11832935" cy="6140153"/>
          </a:xfrm>
        </p:spPr>
        <p:txBody>
          <a:bodyPr>
            <a:noAutofit/>
          </a:bodyPr>
          <a:lstStyle/>
          <a:p>
            <a:pPr algn="l" rtl="0">
              <a:lnSpc>
                <a:spcPct val="100000"/>
              </a:lnSpc>
              <a:spcBef>
                <a:spcPts val="0"/>
              </a:spcBef>
            </a:pPr>
            <a:endParaRPr lang="en-US"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8" name="Рисунок 17"/>
          <p:cNvPicPr>
            <a:picLocks noChangeAspect="1"/>
          </p:cNvPicPr>
          <p:nvPr/>
        </p:nvPicPr>
        <p:blipFill>
          <a:blip r:embed="rId2"/>
          <a:stretch>
            <a:fillRect/>
          </a:stretch>
        </p:blipFill>
        <p:spPr>
          <a:xfrm>
            <a:off x="107475" y="663470"/>
            <a:ext cx="4162425" cy="2809875"/>
          </a:xfrm>
          <a:prstGeom prst="rect">
            <a:avLst/>
          </a:prstGeom>
        </p:spPr>
      </p:pic>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0" name="Рисунок 19"/>
          <p:cNvPicPr>
            <a:picLocks noChangeAspect="1"/>
          </p:cNvPicPr>
          <p:nvPr/>
        </p:nvPicPr>
        <p:blipFill>
          <a:blip r:embed="rId3"/>
          <a:stretch>
            <a:fillRect/>
          </a:stretch>
        </p:blipFill>
        <p:spPr>
          <a:xfrm>
            <a:off x="765175" y="4658816"/>
            <a:ext cx="5373260" cy="1896444"/>
          </a:xfrm>
          <a:prstGeom prst="rect">
            <a:avLst/>
          </a:prstGeom>
        </p:spPr>
      </p:pic>
      <p:sp>
        <p:nvSpPr>
          <p:cNvPr id="22" name="Прямоугольник 21"/>
          <p:cNvSpPr/>
          <p:nvPr/>
        </p:nvSpPr>
        <p:spPr>
          <a:xfrm>
            <a:off x="155575" y="3702285"/>
            <a:ext cx="6096000" cy="646331"/>
          </a:xfrm>
          <a:prstGeom prst="rect">
            <a:avLst/>
          </a:prstGeom>
        </p:spPr>
        <p:txBody>
          <a:bodyPr>
            <a:spAutoFit/>
          </a:bodyPr>
          <a:lstStyle/>
          <a:p>
            <a:pPr algn="l" rtl="0"/>
            <a:r>
              <a:rPr lang="en-US" dirty="0">
                <a:solidFill>
                  <a:srgbClr val="000000"/>
                </a:solidFill>
                <a:latin typeface="Georgia" panose="02040502050405020303" pitchFamily="18" charset="0"/>
              </a:rPr>
              <a:t>Пример сети самовосприятия для прогнозирования клинической диагностики на основе показателей пациента.</a:t>
            </a:r>
            <a:endParaRPr lang="ru-RU" dirty="0"/>
          </a:p>
        </p:txBody>
      </p:sp>
      <p:sp>
        <p:nvSpPr>
          <p:cNvPr id="23" name="Прямоугольник 22"/>
          <p:cNvSpPr/>
          <p:nvPr/>
        </p:nvSpPr>
        <p:spPr>
          <a:xfrm>
            <a:off x="5181214" y="1038007"/>
            <a:ext cx="6096000" cy="646331"/>
          </a:xfrm>
          <a:prstGeom prst="rect">
            <a:avLst/>
          </a:prstGeom>
        </p:spPr>
        <p:txBody>
          <a:bodyPr>
            <a:spAutoFit/>
          </a:bodyPr>
          <a:lstStyle/>
          <a:p>
            <a:pPr algn="l" rtl="0"/>
            <a:r>
              <a:rPr lang="en-US" dirty="0">
                <a:solidFill>
                  <a:srgbClr val="000000"/>
                </a:solidFill>
                <a:latin typeface="Georgia" panose="02040502050405020303" pitchFamily="18" charset="0"/>
              </a:rPr>
              <a:t>Схема кодера, основанная на самовнимании, для создания значений контекстного вектора для многомерных временных рядов.</a:t>
            </a:r>
            <a:endParaRPr lang="ru-RU" dirty="0"/>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5" name="Рисунок 24"/>
          <p:cNvPicPr>
            <a:picLocks noChangeAspect="1"/>
          </p:cNvPicPr>
          <p:nvPr/>
        </p:nvPicPr>
        <p:blipFill>
          <a:blip r:embed="rId4"/>
          <a:stretch>
            <a:fillRect/>
          </a:stretch>
        </p:blipFill>
        <p:spPr>
          <a:xfrm>
            <a:off x="7314500" y="2108926"/>
            <a:ext cx="3434735" cy="4493387"/>
          </a:xfrm>
          <a:prstGeom prst="rect">
            <a:avLst/>
          </a:prstGeom>
        </p:spPr>
      </p:pic>
    </p:spTree>
    <p:extLst>
      <p:ext uri="{BB962C8B-B14F-4D97-AF65-F5344CB8AC3E}">
        <p14:creationId xmlns:p14="http://schemas.microsoft.com/office/powerpoint/2010/main" val="17049162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algn="l" rtl="0" eaLnBrk="0" fontAlgn="base" hangingPunct="0">
              <a:lnSpc>
                <a:spcPct val="100000"/>
              </a:lnSpc>
              <a:spcAft>
                <a:spcPct val="0"/>
              </a:spcAft>
            </a:pPr>
            <a:r>
              <a:rPr lang="ru-RU" altLang="ru-RU" sz="4000" b="1" dirty="0">
                <a:solidFill>
                  <a:srgbClr val="000000"/>
                </a:solidFill>
              </a:rPr>
              <a:t>Сети на основе внимания</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92365" y="672058"/>
                <a:ext cx="11832935" cy="6140153"/>
              </a:xfrm>
            </p:spPr>
            <p:txBody>
              <a:bodyPr>
                <a:noAutofit/>
              </a:bodyPr>
              <a:lstStyle/>
              <a:p>
                <a:pPr algn="l" rtl="0"/>
                <a:r>
                  <a:rPr lang="en-US" sz="2000" dirty="0" err="1"/>
                  <a:t>Внимание</a:t>
                </a:r>
                <a:r>
                  <a:rPr lang="en-US" sz="2000" dirty="0"/>
                  <a:t> "</a:t>
                </a:r>
                <a:r>
                  <a:rPr lang="en-US" sz="2000" dirty="0" err="1"/>
                  <a:t>ключ-значение</a:t>
                </a:r>
                <a:r>
                  <a:rPr lang="en-US" sz="2000" dirty="0"/>
                  <a:t>" - это модификация самовнимания, предлагающая разбить каждый скрытый вектор.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h</m:t>
                        </m:r>
                      </m:e>
                      <m:sub>
                        <m:r>
                          <a:rPr lang="en-US" sz="2000" i="1">
                            <a:latin typeface="Cambria Math" panose="02040503050406030204" pitchFamily="18" charset="0"/>
                          </a:rPr>
                          <m:t>𝑖</m:t>
                        </m:r>
                      </m:sub>
                    </m:sSub>
                  </m:oMath>
                </a14:m>
                <a:r>
                  <a:rPr lang="en-US" sz="2000" dirty="0"/>
                  <a:t> в ключ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𝑘</m:t>
                        </m:r>
                      </m:e>
                      <m:sub>
                        <m:r>
                          <a:rPr lang="en-US" sz="2000" i="1">
                            <a:latin typeface="Cambria Math" panose="02040503050406030204" pitchFamily="18" charset="0"/>
                          </a:rPr>
                          <m:t>𝑖</m:t>
                        </m:r>
                      </m:sub>
                    </m:sSub>
                  </m:oMath>
                </a14:m>
                <a:r>
                  <a:rPr lang="en-US" sz="2000" dirty="0"/>
                  <a:t> и значение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𝑖</m:t>
                        </m:r>
                      </m:sub>
                    </m:sSub>
                  </m:oMath>
                </a14:m>
                <a:r>
                  <a:rPr lang="en-US" sz="2000" dirty="0"/>
                  <a:t> такой, что </a:t>
                </a:r>
                <a14:m>
                  <m:oMath xmlns:m="http://schemas.openxmlformats.org/officeDocument/2006/math">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𝑘</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h</m:t>
                        </m:r>
                      </m:e>
                      <m:sub>
                        <m:r>
                          <a:rPr lang="en-US" sz="2000" i="1">
                            <a:latin typeface="Cambria Math" panose="02040503050406030204" pitchFamily="18" charset="0"/>
                          </a:rPr>
                          <m:t>𝑖</m:t>
                        </m:r>
                      </m:sub>
                    </m:sSub>
                  </m:oMath>
                </a14:m>
                <a:r>
                  <a:rPr lang="en-US" sz="2000" dirty="0"/>
                  <a:t>. </a:t>
                </a:r>
                <a:endParaRPr lang="ru-RU" sz="2000" dirty="0"/>
              </a:p>
              <a:p>
                <a:pPr algn="l" rtl="0"/>
                <a:r>
                  <a:rPr lang="en-US" sz="2000" dirty="0" err="1"/>
                  <a:t>Ключи</a:t>
                </a:r>
                <a:r>
                  <a:rPr lang="en-US" sz="2000" dirty="0"/>
                  <a:t> используются для расчета </a:t>
                </a:r>
                <a:r>
                  <a:rPr lang="en-US" sz="2000" dirty="0" err="1"/>
                  <a:t>распределения</a:t>
                </a:r>
                <a:r>
                  <a:rPr lang="en-US" sz="2000" dirty="0"/>
                  <a:t> </a:t>
                </a:r>
                <a:r>
                  <a:rPr lang="en-US" sz="2000" dirty="0" err="1"/>
                  <a:t>внимания</a:t>
                </a:r>
                <a:r>
                  <a:rPr lang="ru-RU" sz="2000" dirty="0"/>
                  <a:t>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𝑖</m:t>
                        </m:r>
                      </m:sub>
                    </m:sSub>
                  </m:oMath>
                </a14:m>
                <a:r>
                  <a:rPr lang="en-US" sz="2000" dirty="0"/>
                  <a:t> с дополнительным вниманием:</a:t>
                </a:r>
                <a:br>
                  <a:rPr lang="en-US" sz="2000" dirty="0"/>
                </a:br>
                <a:endParaRPr lang="ru-RU" sz="2000" dirty="0"/>
              </a:p>
              <a:p>
                <a:pPr algn="l" rtl="0"/>
                <a14:m>
                  <m:oMath xmlns:m="http://schemas.openxmlformats.org/officeDocument/2006/math">
                    <m:sSub>
                      <m:sSubPr>
                        <m:ctrlPr>
                          <a:rPr lang="ru-RU" sz="2000" i="1">
                            <a:latin typeface="Cambria Math" panose="02040503050406030204" pitchFamily="18" charset="0"/>
                          </a:rPr>
                        </m:ctrlPr>
                      </m:sSubPr>
                      <m:e>
                        <m:r>
                          <a:rPr lang="en-US" sz="2000" b="1" i="1">
                            <a:latin typeface="Cambria Math" panose="02040503050406030204" pitchFamily="18" charset="0"/>
                          </a:rPr>
                          <m:t>𝐚</m:t>
                        </m:r>
                      </m:e>
                      <m:sub>
                        <m:r>
                          <a:rPr lang="en-US" sz="2000" i="1">
                            <a:latin typeface="Cambria Math" panose="02040503050406030204" pitchFamily="18" charset="0"/>
                          </a:rPr>
                          <m:t>𝑖</m:t>
                        </m:r>
                      </m:sub>
                    </m:sSub>
                    <m:r>
                      <a:rPr lang="en-US" sz="2000" i="1">
                        <a:latin typeface="Cambria Math" panose="02040503050406030204" pitchFamily="18" charset="0"/>
                      </a:rPr>
                      <m:t>=</m:t>
                    </m:r>
                    <m:r>
                      <m:rPr>
                        <m:nor/>
                      </m:rPr>
                      <a:rPr lang="en-US" sz="2000"/>
                      <m:t>softmax</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𝐯</m:t>
                        </m:r>
                      </m:e>
                      <m:sub>
                        <m:r>
                          <a:rPr lang="en-US" sz="2000" i="1">
                            <a:latin typeface="Cambria Math" panose="02040503050406030204" pitchFamily="18" charset="0"/>
                          </a:rPr>
                          <m:t>𝑎</m:t>
                        </m:r>
                      </m:sub>
                    </m:sSub>
                    <m:sSup>
                      <m:sSupPr>
                        <m:ctrlPr>
                          <a:rPr lang="ru-RU" sz="2000" i="1">
                            <a:latin typeface="Cambria Math" panose="02040503050406030204" pitchFamily="18" charset="0"/>
                          </a:rPr>
                        </m:ctrlPr>
                      </m:sSupPr>
                      <m:e>
                        <m:r>
                          <a:rPr lang="en-US" sz="2000" i="1">
                            <a:latin typeface="Cambria Math" panose="02040503050406030204" pitchFamily="18" charset="0"/>
                          </a:rPr>
                          <m:t>​</m:t>
                        </m:r>
                      </m:e>
                      <m:sup>
                        <m:r>
                          <a:rPr lang="en-US" sz="2000" i="1">
                            <a:latin typeface="Cambria Math" panose="02040503050406030204" pitchFamily="18" charset="0"/>
                          </a:rPr>
                          <m:t>⊤</m:t>
                        </m:r>
                      </m:sup>
                    </m:sSup>
                    <m:r>
                      <m:rPr>
                        <m:nor/>
                      </m:rPr>
                      <a:rPr lang="en-US" sz="2000"/>
                      <m:t>tanh</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𝐖</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𝐤</m:t>
                        </m:r>
                      </m:e>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𝐿</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𝐤</m:t>
                        </m:r>
                      </m:e>
                      <m:sub>
                        <m:r>
                          <a:rPr lang="en-US" sz="2000" i="1">
                            <a:latin typeface="Cambria Math" panose="02040503050406030204" pitchFamily="18" charset="0"/>
                          </a:rPr>
                          <m:t>𝑖</m:t>
                        </m:r>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𝐖</m:t>
                        </m:r>
                      </m:e>
                      <m:sub>
                        <m:r>
                          <a:rPr lang="en-US" sz="2000" i="1">
                            <a:latin typeface="Cambria Math" panose="02040503050406030204" pitchFamily="18" charset="0"/>
                          </a:rPr>
                          <m:t>2</m:t>
                        </m:r>
                      </m:sub>
                    </m:sSub>
                    <m:sSub>
                      <m:sSubPr>
                        <m:ctrlPr>
                          <a:rPr lang="ru-RU" sz="2000" i="1">
                            <a:latin typeface="Cambria Math" panose="02040503050406030204" pitchFamily="18" charset="0"/>
                          </a:rPr>
                        </m:ctrlPr>
                      </m:sSubPr>
                      <m:e>
                        <m:r>
                          <a:rPr lang="en-US" sz="2000" b="1" i="1">
                            <a:latin typeface="Cambria Math" panose="02040503050406030204" pitchFamily="18" charset="0"/>
                          </a:rPr>
                          <m:t>𝐤</m:t>
                        </m:r>
                      </m:e>
                      <m:sub>
                        <m:r>
                          <a:rPr lang="en-US" sz="2000" i="1">
                            <a:latin typeface="Cambria Math" panose="02040503050406030204" pitchFamily="18" charset="0"/>
                          </a:rPr>
                          <m:t>𝑖</m:t>
                        </m:r>
                      </m:sub>
                    </m:sSub>
                    <m:r>
                      <a:rPr lang="en-US" sz="2000" i="1">
                        <a:latin typeface="Cambria Math" panose="02040503050406030204" pitchFamily="18" charset="0"/>
                      </a:rPr>
                      <m:t>)</m:t>
                    </m:r>
                    <m:sSup>
                      <m:sSupPr>
                        <m:ctrlPr>
                          <a:rPr lang="ru-RU" sz="2000" i="1">
                            <a:latin typeface="Cambria Math" panose="02040503050406030204" pitchFamily="18" charset="0"/>
                          </a:rPr>
                        </m:ctrlPr>
                      </m:sSupPr>
                      <m:e>
                        <m:acc>
                          <m:accPr>
                            <m:chr m:val="̂"/>
                            <m:ctrlPr>
                              <a:rPr lang="ru-RU" sz="2000" i="1">
                                <a:latin typeface="Cambria Math" panose="02040503050406030204" pitchFamily="18" charset="0"/>
                              </a:rPr>
                            </m:ctrlPr>
                          </m:accPr>
                          <m:e>
                            <m:r>
                              <a:rPr lang="en-US" sz="2000" b="1" i="1">
                                <a:latin typeface="Cambria Math" panose="02040503050406030204" pitchFamily="18" charset="0"/>
                              </a:rPr>
                              <m:t>𝟏</m:t>
                            </m:r>
                          </m:e>
                        </m:acc>
                      </m:e>
                      <m:sup>
                        <m:r>
                          <a:rPr lang="en-US" sz="2000" i="1">
                            <a:latin typeface="Cambria Math" panose="02040503050406030204" pitchFamily="18" charset="0"/>
                          </a:rPr>
                          <m:t>⊤</m:t>
                        </m:r>
                      </m:sup>
                    </m:sSup>
                    <m:r>
                      <a:rPr lang="en-US" sz="2000" i="1">
                        <a:latin typeface="Cambria Math" panose="02040503050406030204" pitchFamily="18" charset="0"/>
                      </a:rPr>
                      <m:t>))</m:t>
                    </m:r>
                  </m:oMath>
                </a14:m>
                <a:endParaRPr lang="ru-RU" sz="2000" dirty="0"/>
              </a:p>
              <a:p>
                <a:pPr algn="l" rtl="0"/>
                <a:br>
                  <a:rPr lang="en-US" sz="2000" dirty="0"/>
                </a:br>
                <a:r>
                  <a:rPr lang="ru-RU" sz="2000" dirty="0"/>
                  <a:t>где</a:t>
                </a:r>
                <a:r>
                  <a:rPr lang="en-US" sz="2000" dirty="0"/>
                  <a:t> </a:t>
                </a:r>
                <a14:m>
                  <m:oMath xmlns:m="http://schemas.openxmlformats.org/officeDocument/2006/math">
                    <m:r>
                      <a:rPr lang="en-US" sz="2000" i="1">
                        <a:latin typeface="Cambria Math" panose="02040503050406030204" pitchFamily="18" charset="0"/>
                      </a:rPr>
                      <m:t>𝐿</m:t>
                    </m:r>
                  </m:oMath>
                </a14:m>
                <a:r>
                  <a:rPr lang="en-US" sz="2000" dirty="0"/>
                  <a:t> длина окна внимания и </a:t>
                </a:r>
                <a14:m>
                  <m:oMath xmlns:m="http://schemas.openxmlformats.org/officeDocument/2006/math">
                    <m:acc>
                      <m:accPr>
                        <m:chr m:val="̂"/>
                        <m:ctrlPr>
                          <a:rPr lang="ru-RU" sz="2000" i="1">
                            <a:latin typeface="Cambria Math" panose="02040503050406030204" pitchFamily="18" charset="0"/>
                          </a:rPr>
                        </m:ctrlPr>
                      </m:accPr>
                      <m:e>
                        <m:r>
                          <a:rPr lang="en-US" sz="2000" b="1" i="1">
                            <a:latin typeface="Cambria Math" panose="02040503050406030204" pitchFamily="18" charset="0"/>
                          </a:rPr>
                          <m:t>𝟏</m:t>
                        </m:r>
                      </m:e>
                    </m:acc>
                  </m:oMath>
                </a14:m>
                <a:r>
                  <a:rPr lang="en-US" sz="2000" dirty="0"/>
                  <a:t>вектор единиц. </a:t>
                </a:r>
                <a:endParaRPr lang="ru-RU" sz="2000" dirty="0"/>
              </a:p>
              <a:p>
                <a:pPr algn="l" rtl="0"/>
                <a:r>
                  <a:rPr lang="en-US" sz="2000" dirty="0" err="1"/>
                  <a:t>Затем</a:t>
                </a:r>
                <a:r>
                  <a:rPr lang="en-US" sz="2000" dirty="0"/>
                  <a:t> часть значений используется для получения контекстного представления.</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𝑐</m:t>
                        </m:r>
                      </m:e>
                      <m:sub>
                        <m:r>
                          <a:rPr lang="en-US" sz="2000" i="1">
                            <a:latin typeface="Cambria Math" panose="02040503050406030204" pitchFamily="18" charset="0"/>
                          </a:rPr>
                          <m:t>𝑖</m:t>
                        </m:r>
                      </m:sub>
                    </m:sSub>
                  </m:oMath>
                </a14:m>
                <a:r>
                  <a:rPr lang="en-US" sz="2000" dirty="0"/>
                  <a:t>:</a:t>
                </a:r>
                <a:br>
                  <a:rPr lang="en-US" sz="2000" dirty="0"/>
                </a:br>
                <a:endParaRPr lang="ru-RU" sz="2000" dirty="0"/>
              </a:p>
              <a:p>
                <a:pPr algn="l" rtl="0"/>
                <a14:m>
                  <m:oMath xmlns:m="http://schemas.openxmlformats.org/officeDocument/2006/math">
                    <m:sSub>
                      <m:sSubPr>
                        <m:ctrlPr>
                          <a:rPr lang="ru-RU" sz="2000" i="1">
                            <a:latin typeface="Cambria Math" panose="02040503050406030204" pitchFamily="18" charset="0"/>
                          </a:rPr>
                        </m:ctrlPr>
                      </m:sSubPr>
                      <m:e>
                        <m:r>
                          <a:rPr lang="en-US" sz="2000" b="1" i="1">
                            <a:latin typeface="Cambria Math" panose="02040503050406030204" pitchFamily="18" charset="0"/>
                          </a:rPr>
                          <m:t>𝐜</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𝐯</m:t>
                        </m:r>
                      </m:e>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𝐿</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b="1" i="1">
                            <a:latin typeface="Cambria Math" panose="02040503050406030204" pitchFamily="18" charset="0"/>
                          </a:rPr>
                          <m:t>𝐯</m:t>
                        </m:r>
                      </m:e>
                      <m:sub>
                        <m:r>
                          <a:rPr lang="en-US" sz="2000" i="1">
                            <a:latin typeface="Cambria Math" panose="02040503050406030204" pitchFamily="18" charset="0"/>
                          </a:rPr>
                          <m:t>𝑖</m:t>
                        </m:r>
                        <m:r>
                          <a:rPr lang="en-US" sz="2000" i="1">
                            <a:latin typeface="Cambria Math" panose="02040503050406030204" pitchFamily="18" charset="0"/>
                          </a:rPr>
                          <m:t>−1</m:t>
                        </m:r>
                      </m:sub>
                    </m:sSub>
                    <m:r>
                      <a:rPr lang="en-US" sz="2000" i="1">
                        <a:latin typeface="Cambria Math" panose="02040503050406030204" pitchFamily="18" charset="0"/>
                      </a:rPr>
                      <m:t>]</m:t>
                    </m:r>
                    <m:sSup>
                      <m:sSupPr>
                        <m:ctrlPr>
                          <a:rPr lang="ru-RU" sz="2000" i="1">
                            <a:latin typeface="Cambria Math" panose="02040503050406030204" pitchFamily="18" charset="0"/>
                          </a:rPr>
                        </m:ctrlPr>
                      </m:sSupPr>
                      <m:e>
                        <m:r>
                          <a:rPr lang="en-US" sz="2000" b="1" i="1">
                            <a:latin typeface="Cambria Math" panose="02040503050406030204" pitchFamily="18" charset="0"/>
                          </a:rPr>
                          <m:t>𝐚</m:t>
                        </m:r>
                      </m:e>
                      <m:sup>
                        <m:r>
                          <a:rPr lang="en-US" sz="2000" i="1">
                            <a:latin typeface="Cambria Math" panose="02040503050406030204" pitchFamily="18" charset="0"/>
                          </a:rPr>
                          <m:t>⊤</m:t>
                        </m:r>
                      </m:sup>
                    </m:sSup>
                  </m:oMath>
                </a14:m>
                <a:endParaRPr lang="ru-RU" sz="2000" dirty="0"/>
              </a:p>
              <a:p>
                <a:pPr algn="l" rtl="0"/>
                <a:r>
                  <a:rPr lang="en-US" sz="2000" dirty="0"/>
                  <a:t>Таким образом, мы вводим отдельные веса для текущего ввода и предыдущих вводов. </a:t>
                </a:r>
                <a:endParaRPr lang="ru-RU" sz="2000" dirty="0"/>
              </a:p>
              <a:p>
                <a:pPr algn="l" rtl="0"/>
                <a:r>
                  <a:rPr lang="en-US" sz="2000" dirty="0" err="1"/>
                  <a:t>Примечание</a:t>
                </a:r>
                <a:r>
                  <a:rPr lang="en-US" sz="2000" dirty="0"/>
                  <a:t>. </a:t>
                </a:r>
                <a:endParaRPr lang="ru-RU" sz="2000" dirty="0"/>
              </a:p>
              <a:p>
                <a:pPr algn="l" rtl="0"/>
                <a:r>
                  <a:rPr lang="en-US" sz="2000" dirty="0" err="1"/>
                  <a:t>Вы</a:t>
                </a:r>
                <a:r>
                  <a:rPr lang="en-US" sz="2000" dirty="0"/>
                  <a:t> можете выбрать в качестве </a:t>
                </a:r>
                <a:r>
                  <a:rPr lang="en-US" sz="2000" dirty="0" err="1"/>
                  <a:t>ключаответзначение</a:t>
                </a:r>
                <a:r>
                  <a:rPr lang="en-US" sz="2000" dirty="0"/>
                  <a:t> исходя из вашей задачи. например, ключом может быть все, кроме последних значений, а значение - последнее значение последовательности.</a:t>
                </a:r>
                <a:endParaRPr lang="ru-RU" sz="2000" dirty="0"/>
              </a:p>
              <a:p>
                <a:pPr algn="l" rtl="0">
                  <a:lnSpc>
                    <a:spcPct val="100000"/>
                  </a:lnSpc>
                  <a:spcBef>
                    <a:spcPts val="0"/>
                  </a:spcBef>
                </a:pPr>
                <a:endParaRPr lang="en-US" sz="20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92365" y="672058"/>
                <a:ext cx="11832935" cy="6140153"/>
              </a:xfrm>
              <a:blipFill>
                <a:blip r:embed="rId2"/>
                <a:stretch>
                  <a:fillRect l="-464" t="-993" r="-155"/>
                </a:stretch>
              </a:blipFill>
            </p:spPr>
            <p:txBody>
              <a:bodyPr/>
              <a:lstStyle/>
              <a:p>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Tree>
    <p:extLst>
      <p:ext uri="{BB962C8B-B14F-4D97-AF65-F5344CB8AC3E}">
        <p14:creationId xmlns:p14="http://schemas.microsoft.com/office/powerpoint/2010/main" val="36521432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algn="l" rtl="0" eaLnBrk="0" fontAlgn="base" hangingPunct="0">
              <a:lnSpc>
                <a:spcPct val="100000"/>
              </a:lnSpc>
              <a:spcAft>
                <a:spcPct val="0"/>
              </a:spcAft>
            </a:pPr>
            <a:r>
              <a:rPr lang="ru-RU" altLang="ru-RU" sz="4000" b="1" dirty="0">
                <a:solidFill>
                  <a:srgbClr val="000000"/>
                </a:solidFill>
              </a:rPr>
              <a:t>Сети на основе внимания</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92365" y="672058"/>
                <a:ext cx="11832935" cy="6140153"/>
              </a:xfrm>
            </p:spPr>
            <p:txBody>
              <a:bodyPr>
                <a:noAutofit/>
              </a:bodyPr>
              <a:lstStyle/>
              <a:p>
                <a:pPr algn="l" rtl="0"/>
                <a:r>
                  <a:rPr lang="ru-RU" sz="2000" b="1" i="1" dirty="0"/>
                  <a:t>Внимание </a:t>
                </a:r>
                <a:r>
                  <a:rPr lang="en-US" sz="2000" b="1" i="1" dirty="0" err="1"/>
                  <a:t>Запрос</a:t>
                </a:r>
                <a:r>
                  <a:rPr lang="ru-RU" sz="2000" b="1" i="1" dirty="0"/>
                  <a:t>-</a:t>
                </a:r>
                <a:r>
                  <a:rPr lang="en-US" sz="2000" b="1" i="1" dirty="0" err="1"/>
                  <a:t>ключ-значение</a:t>
                </a:r>
                <a:r>
                  <a:rPr lang="en-US" sz="2000" b="1" i="1" dirty="0"/>
                  <a:t>  </a:t>
                </a:r>
                <a:endParaRPr lang="ru-RU" sz="2000" b="1" i="1" dirty="0"/>
              </a:p>
              <a:p>
                <a:pPr algn="l" rtl="0"/>
                <a:r>
                  <a:rPr lang="en-US" sz="2000" dirty="0" err="1"/>
                  <a:t>Самовнимание</a:t>
                </a:r>
                <a:r>
                  <a:rPr lang="en-US" sz="2000" dirty="0"/>
                  <a:t> </a:t>
                </a:r>
                <a:r>
                  <a:rPr lang="en-US" sz="2000" dirty="0" err="1"/>
                  <a:t>запрос</a:t>
                </a:r>
                <a:r>
                  <a:rPr lang="ru-RU" sz="2000" dirty="0"/>
                  <a:t>-</a:t>
                </a:r>
                <a:r>
                  <a:rPr lang="en-US" sz="2000" dirty="0" err="1"/>
                  <a:t>ключ-значение</a:t>
                </a:r>
                <a:r>
                  <a:rPr lang="en-US" sz="2000" dirty="0"/>
                  <a:t>, было предложено, чтобы каждый входной вектор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oMath>
                </a14:m>
                <a:r>
                  <a:rPr lang="en-US" sz="2000" dirty="0"/>
                  <a:t> мо</a:t>
                </a:r>
                <a:r>
                  <a:rPr lang="ru-RU" sz="2000" dirty="0"/>
                  <a:t>г</a:t>
                </a:r>
                <a:r>
                  <a:rPr lang="en-US" sz="2000" dirty="0"/>
                  <a:t> использоваться в операции внимания тремя различными способами: </a:t>
                </a:r>
                <a:endParaRPr lang="ru-RU" sz="2000" dirty="0"/>
              </a:p>
              <a:p>
                <a:pPr algn="l" rtl="0"/>
                <a:r>
                  <a:rPr lang="en-US" sz="2000" dirty="0" err="1"/>
                  <a:t>Запрос</a:t>
                </a:r>
                <a:r>
                  <a:rPr lang="en-US" sz="2000" dirty="0"/>
                  <a:t>: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oMath>
                </a14:m>
                <a:r>
                  <a:rPr lang="en-US" sz="2000" dirty="0"/>
                  <a:t> сравнивается с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𝑛</m:t>
                        </m:r>
                      </m:sub>
                    </m:sSub>
                  </m:oMath>
                </a14:m>
                <a:r>
                  <a:rPr lang="en-US" sz="2000" dirty="0"/>
                  <a:t>  для вычисления весов для собственного вывода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𝑖</m:t>
                        </m:r>
                      </m:sub>
                    </m:sSub>
                  </m:oMath>
                </a14:m>
                <a:r>
                  <a:rPr lang="en-US" sz="2000" dirty="0"/>
                  <a:t>. </a:t>
                </a:r>
                <a:endParaRPr lang="ru-RU" sz="2000" dirty="0"/>
              </a:p>
              <a:p>
                <a:pPr algn="l" rtl="0"/>
                <a:r>
                  <a:rPr lang="en-US" sz="2000" dirty="0" err="1"/>
                  <a:t>ключ</a:t>
                </a:r>
                <a:r>
                  <a:rPr lang="en-US" sz="2000" dirty="0"/>
                  <a:t>:</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oMath>
                </a14:m>
                <a:r>
                  <a:rPr lang="en-US" sz="2000" dirty="0"/>
                  <a:t> сравнивается с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𝑛</m:t>
                        </m:r>
                      </m:sub>
                    </m:sSub>
                  </m:oMath>
                </a14:m>
                <a:r>
                  <a:rPr lang="en-US" sz="2000" dirty="0"/>
                  <a:t> для расчета весов для выхода </a:t>
                </a:r>
                <a14:m>
                  <m:oMath xmlns:m="http://schemas.openxmlformats.org/officeDocument/2006/math">
                    <m:r>
                      <a:rPr lang="en-US" sz="2000" i="1">
                        <a:latin typeface="Cambria Math" panose="02040503050406030204" pitchFamily="18" charset="0"/>
                      </a:rPr>
                      <m:t>𝑗</m:t>
                    </m:r>
                  </m:oMath>
                </a14:m>
                <a:r>
                  <a:rPr lang="en-US" sz="2000" dirty="0"/>
                  <a:t>-</a:t>
                </a:r>
                <a:r>
                  <a:rPr lang="en-US" sz="2000" dirty="0" err="1"/>
                  <a:t>th</a:t>
                </a:r>
                <a:r>
                  <a:rPr lang="en-US" sz="2000" dirty="0"/>
                  <a:t> вектор </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𝑗</m:t>
                        </m:r>
                      </m:sub>
                    </m:sSub>
                  </m:oMath>
                </a14:m>
                <a:r>
                  <a:rPr lang="en-US" sz="2000" dirty="0"/>
                  <a:t>; </a:t>
                </a:r>
                <a14:m>
                  <m:oMath xmlns:m="http://schemas.openxmlformats.org/officeDocument/2006/math">
                    <m:r>
                      <a:rPr lang="en-US" sz="2000" i="1">
                        <a:latin typeface="Cambria Math" panose="02040503050406030204" pitchFamily="18" charset="0"/>
                      </a:rPr>
                      <m:t>𝑗</m:t>
                    </m:r>
                    <m:r>
                      <a:rPr lang="en-US" sz="2000" i="1">
                        <a:latin typeface="Cambria Math" panose="02040503050406030204" pitchFamily="18" charset="0"/>
                      </a:rPr>
                      <m:t>≠</m:t>
                    </m:r>
                    <m:r>
                      <a:rPr lang="en-US" sz="2000" i="1">
                        <a:latin typeface="Cambria Math" panose="02040503050406030204" pitchFamily="18" charset="0"/>
                      </a:rPr>
                      <m:t>𝑖</m:t>
                    </m:r>
                  </m:oMath>
                </a14:m>
                <a:r>
                  <a:rPr lang="en-US" sz="2000" dirty="0"/>
                  <a:t>. </a:t>
                </a:r>
                <a:endParaRPr lang="ru-RU" sz="2000" dirty="0"/>
              </a:p>
              <a:p>
                <a:r>
                  <a:rPr lang="en-US" sz="2000" b="1" i="1" dirty="0" err="1"/>
                  <a:t>значение</a:t>
                </a:r>
                <a:r>
                  <a:rPr lang="en-US" sz="2000" dirty="0"/>
                  <a:t>:</a:t>
                </a:r>
                <a14:m>
                  <m:oMath xmlns:m="http://schemas.openxmlformats.org/officeDocument/2006/math">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oMath>
                </a14:m>
                <a:r>
                  <a:rPr lang="en-US" sz="2000" dirty="0"/>
                  <a:t>используется как часть взвешенной суммы для вычисления каждого выходного вектора после вычисления весов. </a:t>
                </a:r>
                <a:endParaRPr lang="ru-RU" sz="2000" dirty="0"/>
              </a:p>
              <a:p>
                <a:r>
                  <a:rPr lang="en-US" sz="2000" dirty="0" err="1"/>
                  <a:t>мы</a:t>
                </a:r>
                <a:r>
                  <a:rPr lang="en-US" sz="2000" dirty="0"/>
                  <a:t> можем ввести три вектора (полученные матрицей трех весов):</a:t>
                </a:r>
                <a:endParaRPr lang="ru-RU" sz="2000" dirty="0"/>
              </a:p>
              <a:p>
                <a:pPr marL="0" indent="0" algn="l" rtl="0">
                  <a:buNone/>
                </a:pPr>
                <a14:m>
                  <m:oMathPara xmlns:m="http://schemas.openxmlformats.org/officeDocument/2006/math">
                    <m:oMathParaPr>
                      <m:jc m:val="centerGroup"/>
                    </m:oMathParaPr>
                    <m:oMath xmlns:m="http://schemas.openxmlformats.org/officeDocument/2006/math">
                      <m:m>
                        <m:mPr>
                          <m:plcHide m:val="on"/>
                          <m:mcs>
                            <m:mc>
                              <m:mcPr>
                                <m:count m:val="6"/>
                                <m:mcJc m:val="center"/>
                              </m:mcPr>
                            </m:mc>
                          </m:mcs>
                          <m:ctrlPr>
                            <a:rPr lang="ru-RU" sz="2000" i="1">
                              <a:latin typeface="Cambria Math" panose="02040503050406030204" pitchFamily="18" charset="0"/>
                            </a:rPr>
                          </m:ctrlPr>
                        </m:mPr>
                        <m:mr>
                          <m:e>
                            <m:sSub>
                              <m:sSubPr>
                                <m:ctrlPr>
                                  <a:rPr lang="ru-RU" sz="2000" i="1">
                                    <a:latin typeface="Cambria Math" panose="02040503050406030204" pitchFamily="18" charset="0"/>
                                  </a:rPr>
                                </m:ctrlPr>
                              </m:sSubPr>
                              <m:e>
                                <m:r>
                                  <a:rPr lang="en-US" sz="2000" i="1">
                                    <a:latin typeface="Cambria Math" panose="02040503050406030204" pitchFamily="18" charset="0"/>
                                  </a:rPr>
                                  <m:t>𝑞</m:t>
                                </m:r>
                              </m:e>
                              <m:sub>
                                <m:r>
                                  <a:rPr lang="en-US" sz="2000" i="1">
                                    <a:latin typeface="Cambria Math" panose="02040503050406030204" pitchFamily="18" charset="0"/>
                                  </a:rPr>
                                  <m:t>𝑖</m:t>
                                </m:r>
                              </m:sub>
                            </m:sSub>
                          </m:e>
                          <m:e>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𝑞</m:t>
                                </m:r>
                              </m:sub>
                            </m:sSub>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e>
                          <m:e>
                            <m:sSub>
                              <m:sSubPr>
                                <m:ctrlPr>
                                  <a:rPr lang="ru-RU" sz="2000" i="1">
                                    <a:latin typeface="Cambria Math" panose="02040503050406030204" pitchFamily="18" charset="0"/>
                                  </a:rPr>
                                </m:ctrlPr>
                              </m:sSubPr>
                              <m:e>
                                <m:r>
                                  <a:rPr lang="en-US" sz="2000" i="1">
                                    <a:latin typeface="Cambria Math" panose="02040503050406030204" pitchFamily="18" charset="0"/>
                                  </a:rPr>
                                  <m:t>𝑘</m:t>
                                </m:r>
                              </m:e>
                              <m:sub>
                                <m:r>
                                  <a:rPr lang="en-US" sz="2000" i="1">
                                    <a:latin typeface="Cambria Math" panose="02040503050406030204" pitchFamily="18" charset="0"/>
                                  </a:rPr>
                                  <m:t>𝑖</m:t>
                                </m:r>
                              </m:sub>
                            </m:sSub>
                          </m:e>
                          <m:e>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𝑘</m:t>
                                </m:r>
                              </m:sub>
                            </m:sSub>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e>
                          <m:e>
                            <m:sSub>
                              <m:sSubPr>
                                <m:ctrlPr>
                                  <a:rPr lang="ru-RU"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𝑖</m:t>
                                </m:r>
                              </m:sub>
                            </m:sSub>
                          </m:e>
                          <m:e>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𝑣</m:t>
                                </m:r>
                              </m:sub>
                            </m:sSub>
                            <m:sSub>
                              <m:sSubPr>
                                <m:ctrlPr>
                                  <a:rPr lang="ru-RU"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e>
                        </m:mr>
                      </m:m>
                    </m:oMath>
                  </m:oMathPara>
                </a14:m>
                <a:endParaRPr lang="ru-RU" sz="2000" dirty="0"/>
              </a:p>
              <a:p>
                <a:pPr algn="l" rtl="0"/>
                <a:r>
                  <a:rPr lang="en-US" sz="2000" dirty="0"/>
                  <a:t>Все три матрицы весов должны иметь размерность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𝑛</m:t>
                    </m:r>
                  </m:oMath>
                </a14:m>
                <a:r>
                  <a:rPr lang="en-US" sz="2000" dirty="0"/>
                  <a:t>, </a:t>
                </a:r>
                <a:r>
                  <a:rPr lang="ru-RU" sz="2000" dirty="0"/>
                  <a:t>где</a:t>
                </a:r>
                <a:r>
                  <a:rPr lang="en-US" sz="2000" dirty="0"/>
                  <a:t> </a:t>
                </a:r>
                <a14:m>
                  <m:oMath xmlns:m="http://schemas.openxmlformats.org/officeDocument/2006/math">
                    <m:r>
                      <a:rPr lang="en-US" sz="2000" i="1">
                        <a:latin typeface="Cambria Math" panose="02040503050406030204" pitchFamily="18" charset="0"/>
                      </a:rPr>
                      <m:t>𝑛</m:t>
                    </m:r>
                  </m:oMath>
                </a14:m>
                <a:r>
                  <a:rPr lang="en-US" sz="2000" dirty="0"/>
                  <a:t>размер окна (или входа). В этом случае выходной вектор можно рассчитать как "масштабированный точечный продукт "</a:t>
                </a:r>
                <a:br>
                  <a:rPr lang="en-US" sz="2000" dirty="0"/>
                </a:br>
                <a:endParaRPr lang="ru-RU" sz="20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92365" y="672058"/>
                <a:ext cx="11832935" cy="6140153"/>
              </a:xfrm>
              <a:blipFill>
                <a:blip r:embed="rId2"/>
                <a:stretch>
                  <a:fillRect l="-464" t="-993"/>
                </a:stretch>
              </a:blipFill>
            </p:spPr>
            <p:txBody>
              <a:bodyPr/>
              <a:lstStyle/>
              <a:p>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0"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5" name="Рисунок 24"/>
          <p:cNvPicPr>
            <a:picLocks noChangeAspect="1"/>
          </p:cNvPicPr>
          <p:nvPr/>
        </p:nvPicPr>
        <p:blipFill>
          <a:blip r:embed="rId3"/>
          <a:stretch>
            <a:fillRect/>
          </a:stretch>
        </p:blipFill>
        <p:spPr>
          <a:xfrm>
            <a:off x="8084321" y="4554691"/>
            <a:ext cx="3387643" cy="2100480"/>
          </a:xfrm>
          <a:prstGeom prst="rect">
            <a:avLst/>
          </a:prstGeom>
        </p:spPr>
      </p:pic>
    </p:spTree>
    <p:extLst>
      <p:ext uri="{BB962C8B-B14F-4D97-AF65-F5344CB8AC3E}">
        <p14:creationId xmlns:p14="http://schemas.microsoft.com/office/powerpoint/2010/main" val="27880913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eaLnBrk="0" fontAlgn="base" hangingPunct="0">
              <a:lnSpc>
                <a:spcPct val="100000"/>
              </a:lnSpc>
              <a:spcAft>
                <a:spcPct val="0"/>
              </a:spcAft>
            </a:pPr>
            <a:r>
              <a:rPr lang="ru-RU" altLang="ru-RU" sz="3300" b="1" dirty="0">
                <a:solidFill>
                  <a:srgbClr val="000000"/>
                </a:solidFill>
              </a:rPr>
              <a:t>Внимание </a:t>
            </a:r>
            <a:r>
              <a:rPr lang="ru-RU" sz="3300" b="1" dirty="0"/>
              <a:t>Пример временной свертки - </a:t>
            </a:r>
            <a:r>
              <a:rPr lang="ru-RU" sz="3300" b="1" dirty="0" err="1"/>
              <a:t>самовнимание</a:t>
            </a:r>
            <a:endParaRPr lang="ru-RU" altLang="ru-RU" sz="3300" b="1" dirty="0">
              <a:solidFill>
                <a:srgbClr val="000000"/>
              </a:solidFill>
            </a:endParaRPr>
          </a:p>
        </p:txBody>
      </p:sp>
      <p:sp>
        <p:nvSpPr>
          <p:cNvPr id="3" name="Объект 2"/>
          <p:cNvSpPr>
            <a:spLocks noGrp="1"/>
          </p:cNvSpPr>
          <p:nvPr>
            <p:ph idx="1"/>
          </p:nvPr>
        </p:nvSpPr>
        <p:spPr>
          <a:xfrm>
            <a:off x="92365" y="672058"/>
            <a:ext cx="11832935" cy="6140153"/>
          </a:xfrm>
        </p:spPr>
        <p:txBody>
          <a:bodyPr>
            <a:noAutofit/>
          </a:bodyPr>
          <a:lstStyle/>
          <a:p>
            <a:pPr algn="l" rtl="0"/>
            <a:r>
              <a:rPr lang="en-US" sz="2000" dirty="0"/>
              <a:t>Пример Temporal-convolution - сеть самовнимания (запрос-ключ-значение) для многомерной классификации временных рядов.</a:t>
            </a:r>
            <a:endParaRPr lang="ru-RU" sz="16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0" name="Рисунок 19"/>
          <p:cNvPicPr>
            <a:picLocks noChangeAspect="1"/>
          </p:cNvPicPr>
          <p:nvPr/>
        </p:nvPicPr>
        <p:blipFill>
          <a:blip r:embed="rId2"/>
          <a:stretch>
            <a:fillRect/>
          </a:stretch>
        </p:blipFill>
        <p:spPr>
          <a:xfrm>
            <a:off x="2289175" y="1620171"/>
            <a:ext cx="7191375" cy="4310264"/>
          </a:xfrm>
          <a:prstGeom prst="rect">
            <a:avLst/>
          </a:prstGeom>
        </p:spPr>
      </p:pic>
    </p:spTree>
    <p:extLst>
      <p:ext uri="{BB962C8B-B14F-4D97-AF65-F5344CB8AC3E}">
        <p14:creationId xmlns:p14="http://schemas.microsoft.com/office/powerpoint/2010/main" val="4089367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eaLnBrk="0" fontAlgn="base" hangingPunct="0">
              <a:lnSpc>
                <a:spcPct val="100000"/>
              </a:lnSpc>
              <a:spcAft>
                <a:spcPct val="0"/>
              </a:spcAft>
            </a:pPr>
            <a:r>
              <a:rPr lang="ru-RU" altLang="ru-RU" sz="3200" b="1" dirty="0">
                <a:solidFill>
                  <a:srgbClr val="000000"/>
                </a:solidFill>
              </a:rPr>
              <a:t>Сеть с вниманием. </a:t>
            </a:r>
            <a:r>
              <a:rPr lang="ru-RU" sz="3200" b="1" dirty="0"/>
              <a:t>Многоголовое внимание</a:t>
            </a:r>
            <a:endParaRPr lang="ru-RU" altLang="ru-RU" sz="3200" b="1" dirty="0">
              <a:solidFill>
                <a:srgbClr val="000000"/>
              </a:solidFill>
            </a:endParaRPr>
          </a:p>
        </p:txBody>
      </p:sp>
      <p:sp>
        <p:nvSpPr>
          <p:cNvPr id="3" name="Объект 2"/>
          <p:cNvSpPr>
            <a:spLocks noGrp="1"/>
          </p:cNvSpPr>
          <p:nvPr>
            <p:ph idx="1"/>
          </p:nvPr>
        </p:nvSpPr>
        <p:spPr>
          <a:xfrm>
            <a:off x="92365" y="672058"/>
            <a:ext cx="11832935" cy="6140153"/>
          </a:xfrm>
        </p:spPr>
        <p:txBody>
          <a:bodyPr>
            <a:noAutofit/>
          </a:bodyPr>
          <a:lstStyle/>
          <a:p>
            <a:r>
              <a:rPr lang="ru-RU" sz="2000" b="1" dirty="0"/>
              <a:t>Многоголовое внимание</a:t>
            </a:r>
            <a:endParaRPr lang="ru-RU" sz="2000" dirty="0"/>
          </a:p>
          <a:p>
            <a:r>
              <a:rPr lang="ru-RU" sz="2000" dirty="0"/>
              <a:t>Различительную силу </a:t>
            </a:r>
            <a:r>
              <a:rPr lang="ru-RU" sz="2000" dirty="0" err="1"/>
              <a:t>самовнимания</a:t>
            </a:r>
            <a:r>
              <a:rPr lang="ru-RU" sz="2000" dirty="0"/>
              <a:t> можно повысить, используя его ансамбль. Объединение может быть реализовано путем объединения нескольких слоев </a:t>
            </a:r>
            <a:r>
              <a:rPr lang="ru-RU" sz="2000" dirty="0" err="1"/>
              <a:t>самовнимания</a:t>
            </a:r>
            <a:r>
              <a:rPr lang="ru-RU" sz="2000" dirty="0"/>
              <a:t> параллельно (которые мы будем индексировать с помощью 𝑟), каждый с различной матрицей весов 𝑊𝑟𝑞, 𝑊𝑟𝑘, 𝑊𝑟𝑣. </a:t>
            </a:r>
          </a:p>
          <a:p>
            <a:r>
              <a:rPr lang="ru-RU" sz="2000" dirty="0"/>
              <a:t>Для каждого входа 𝑥𝑖 каждая голова внимания производит другой выходной вектор 𝑦𝑟𝑖. Мы объединяем их и передаем через линейное преобразование, чтобы уменьшить размерность до. </a:t>
            </a:r>
          </a:p>
          <a:p>
            <a:r>
              <a:rPr lang="ru-RU" sz="2000" i="1" dirty="0"/>
              <a:t>Примечание</a:t>
            </a:r>
            <a:endParaRPr lang="ru-RU" sz="2000" dirty="0"/>
          </a:p>
          <a:p>
            <a:r>
              <a:rPr lang="ru-RU" sz="2000" dirty="0"/>
              <a:t>можно выделить:</a:t>
            </a:r>
          </a:p>
          <a:p>
            <a:pPr lvl="3"/>
            <a:r>
              <a:rPr lang="ru-RU" sz="2000" b="1" dirty="0"/>
              <a:t>Узкое</a:t>
            </a:r>
            <a:r>
              <a:rPr lang="ru-RU" sz="2000" dirty="0"/>
              <a:t> </a:t>
            </a:r>
            <a:r>
              <a:rPr lang="ru-RU" sz="2000" dirty="0" err="1"/>
              <a:t>самовнимание</a:t>
            </a:r>
            <a:r>
              <a:rPr lang="ru-RU" sz="2000" dirty="0"/>
              <a:t> с </a:t>
            </a:r>
            <a:r>
              <a:rPr lang="ru-RU" sz="2000" b="1" dirty="0"/>
              <a:t>несколькими головами</a:t>
            </a:r>
            <a:r>
              <a:rPr lang="ru-RU" sz="2000" dirty="0"/>
              <a:t> : разрезать входной вектор на r частей (если вектор имеет 256 измерений, и у нас есть 8 голов внимания, мы разрезаем его на 8 частей по 32 значения).</a:t>
            </a:r>
          </a:p>
          <a:p>
            <a:pPr lvl="3"/>
            <a:r>
              <a:rPr lang="ru-RU" sz="2000" b="1" dirty="0"/>
              <a:t>широкое</a:t>
            </a:r>
            <a:r>
              <a:rPr lang="ru-RU" sz="2000" dirty="0"/>
              <a:t> </a:t>
            </a:r>
            <a:r>
              <a:rPr lang="ru-RU" sz="2000" dirty="0" err="1"/>
              <a:t>самовнимание</a:t>
            </a:r>
            <a:r>
              <a:rPr lang="ru-RU" sz="2000" dirty="0"/>
              <a:t> с </a:t>
            </a:r>
            <a:r>
              <a:rPr lang="ru-RU" sz="2000" b="1" dirty="0"/>
              <a:t>несколькими головами</a:t>
            </a:r>
            <a:r>
              <a:rPr lang="ru-RU" sz="2000" dirty="0"/>
              <a:t>: создание матриц 𝑟 с полным размером (для 256 </a:t>
            </a:r>
            <a:r>
              <a:rPr lang="ru-RU" sz="2000" dirty="0" err="1"/>
              <a:t>dim</a:t>
            </a:r>
            <a:r>
              <a:rPr lang="ru-RU" sz="2000" dirty="0"/>
              <a:t> создайте 8 головок внимания, с 256 × 256 </a:t>
            </a:r>
            <a:r>
              <a:rPr lang="ru-RU" sz="2000" dirty="0" err="1"/>
              <a:t>dim</a:t>
            </a:r>
            <a:r>
              <a:rPr lang="ru-RU" sz="2000" dirty="0"/>
              <a:t>.) - Таким образом вы получите лучший результат за счет большего объема памяти и времени.</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Tree>
    <p:extLst>
      <p:ext uri="{BB962C8B-B14F-4D97-AF65-F5344CB8AC3E}">
        <p14:creationId xmlns:p14="http://schemas.microsoft.com/office/powerpoint/2010/main" val="39280412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eaLnBrk="0" fontAlgn="base" hangingPunct="0">
              <a:lnSpc>
                <a:spcPct val="100000"/>
              </a:lnSpc>
              <a:spcAft>
                <a:spcPct val="0"/>
              </a:spcAft>
            </a:pPr>
            <a:r>
              <a:rPr lang="ru-RU" altLang="ru-RU" sz="3200" b="1" dirty="0">
                <a:solidFill>
                  <a:srgbClr val="000000"/>
                </a:solidFill>
              </a:rPr>
              <a:t>Сеть с вниманием. </a:t>
            </a:r>
            <a:r>
              <a:rPr lang="ru-RU" sz="3200" b="1" dirty="0"/>
              <a:t>Многоголовое внимание</a:t>
            </a:r>
            <a:endParaRPr lang="ru-RU" altLang="ru-RU" sz="3200" b="1" dirty="0">
              <a:solidFill>
                <a:srgbClr val="000000"/>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92365" y="672058"/>
                <a:ext cx="11832935" cy="6140153"/>
              </a:xfrm>
            </p:spPr>
            <p:txBody>
              <a:bodyPr>
                <a:noAutofit/>
              </a:bodyPr>
              <a:lstStyle/>
              <a:p>
                <a:pPr algn="l" rtl="0">
                  <a:lnSpc>
                    <a:spcPct val="120000"/>
                  </a:lnSpc>
                  <a:spcBef>
                    <a:spcPts val="0"/>
                  </a:spcBef>
                </a:pPr>
                <a:r>
                  <a:rPr lang="en-US" sz="2000" dirty="0"/>
                  <a:t> В векторе контекста самовнимания с несколькими головами </a:t>
                </a:r>
                <a14:m>
                  <m:oMath xmlns:m="http://schemas.openxmlformats.org/officeDocument/2006/math">
                    <m:r>
                      <a:rPr lang="en-US" sz="2000" i="1">
                        <a:latin typeface="Cambria Math" panose="02040503050406030204" pitchFamily="18" charset="0"/>
                      </a:rPr>
                      <m:t>𝑐</m:t>
                    </m:r>
                  </m:oMath>
                </a14:m>
                <a:r>
                  <a:rPr lang="en-US" sz="2000" dirty="0"/>
                  <a:t> можно представить как:</a:t>
                </a:r>
                <a:endParaRPr lang="ru-RU" sz="2000" dirty="0"/>
              </a:p>
              <a:p>
                <a:pPr marL="0" indent="0" algn="ctr" rtl="0">
                  <a:lnSpc>
                    <a:spcPct val="120000"/>
                  </a:lnSpc>
                  <a:spcBef>
                    <a:spcPts val="0"/>
                  </a:spcBef>
                  <a:buNone/>
                </a:pPr>
                <a:r>
                  <a:rPr lang="en-US" sz="2000" dirty="0"/>
                  <a:t> </a:t>
                </a:r>
                <a14:m>
                  <m:oMath xmlns:m="http://schemas.openxmlformats.org/officeDocument/2006/math">
                    <m:r>
                      <a:rPr lang="en-US" sz="2000" i="1" dirty="0" smtClean="0">
                        <a:latin typeface="Cambria Math" panose="02040503050406030204" pitchFamily="18" charset="0"/>
                      </a:rPr>
                      <m:t>𝑐</m:t>
                    </m:r>
                    <m:r>
                      <a:rPr lang="en-US" sz="2000" i="1" dirty="0" smtClean="0">
                        <a:latin typeface="Cambria Math" panose="02040503050406030204" pitchFamily="18" charset="0"/>
                      </a:rPr>
                      <m:t> = </m:t>
                    </m:r>
                    <m:r>
                      <a:rPr lang="en-US" sz="2000" i="1" dirty="0" err="1" smtClean="0">
                        <a:latin typeface="Cambria Math" panose="02040503050406030204" pitchFamily="18" charset="0"/>
                      </a:rPr>
                      <m:t>𝑀𝑢𝑙𝑡𝑖𝐻𝑒𝑎𝑑</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𝑄</m:t>
                        </m:r>
                        <m:r>
                          <a:rPr lang="en-US" sz="2000" i="1" dirty="0">
                            <a:latin typeface="Cambria Math" panose="02040503050406030204" pitchFamily="18" charset="0"/>
                          </a:rPr>
                          <m:t>, </m:t>
                        </m:r>
                        <m:r>
                          <a:rPr lang="en-US" sz="2000" i="1" dirty="0">
                            <a:latin typeface="Cambria Math" panose="02040503050406030204" pitchFamily="18" charset="0"/>
                          </a:rPr>
                          <m:t>𝐾</m:t>
                        </m:r>
                        <m:r>
                          <a:rPr lang="en-US" sz="2000" i="1" dirty="0">
                            <a:latin typeface="Cambria Math" panose="02040503050406030204" pitchFamily="18" charset="0"/>
                          </a:rPr>
                          <m:t>, </m:t>
                        </m:r>
                        <m:r>
                          <a:rPr lang="en-US" sz="2000" i="1" dirty="0">
                            <a:latin typeface="Cambria Math" panose="02040503050406030204" pitchFamily="18" charset="0"/>
                          </a:rPr>
                          <m:t>𝑉</m:t>
                        </m:r>
                      </m:e>
                    </m:d>
                    <m:r>
                      <a:rPr lang="en-US" sz="2000" i="1" dirty="0">
                        <a:latin typeface="Cambria Math" panose="02040503050406030204" pitchFamily="18" charset="0"/>
                      </a:rPr>
                      <m:t>= </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𝑊</m:t>
                        </m:r>
                      </m:e>
                      <m:sup>
                        <m:r>
                          <a:rPr lang="en-US" sz="2000" i="1" dirty="0">
                            <a:latin typeface="Cambria Math" panose="02040503050406030204" pitchFamily="18" charset="0"/>
                          </a:rPr>
                          <m:t>𝑂</m:t>
                        </m:r>
                      </m:sup>
                    </m:sSup>
                    <m:r>
                      <a:rPr lang="en-US" sz="2000" i="1" dirty="0">
                        <a:latin typeface="Cambria Math" panose="02040503050406030204" pitchFamily="18" charset="0"/>
                      </a:rPr>
                      <m:t>⋅</m:t>
                    </m:r>
                    <m:r>
                      <a:rPr lang="en-US" sz="2000" i="1" dirty="0" err="1">
                        <a:latin typeface="Cambria Math" panose="02040503050406030204" pitchFamily="18" charset="0"/>
                      </a:rPr>
                      <m:t>𝑐𝑜𝑛𝑐𝑎𝑡</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h𝑒𝑎</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𝑑</m:t>
                            </m:r>
                          </m:e>
                          <m:sub>
                            <m:r>
                              <a:rPr lang="en-US" sz="2000" i="1" dirty="0">
                                <a:latin typeface="Cambria Math" panose="02040503050406030204" pitchFamily="18" charset="0"/>
                              </a:rPr>
                              <m:t>1</m:t>
                            </m:r>
                          </m:sub>
                        </m:sSub>
                        <m:r>
                          <a:rPr lang="en-US" sz="2000" i="1" dirty="0">
                            <a:latin typeface="Cambria Math" panose="02040503050406030204" pitchFamily="18" charset="0"/>
                          </a:rPr>
                          <m:t>; …; </m:t>
                        </m:r>
                        <m:r>
                          <a:rPr lang="en-US" sz="2000" i="1" dirty="0" err="1">
                            <a:latin typeface="Cambria Math" panose="02040503050406030204" pitchFamily="18" charset="0"/>
                          </a:rPr>
                          <m:t>h𝑒𝑎</m:t>
                        </m:r>
                        <m:sSub>
                          <m:sSubPr>
                            <m:ctrlPr>
                              <a:rPr lang="en-US" sz="2000" i="1" dirty="0" err="1">
                                <a:latin typeface="Cambria Math" panose="02040503050406030204" pitchFamily="18" charset="0"/>
                              </a:rPr>
                            </m:ctrlPr>
                          </m:sSubPr>
                          <m:e>
                            <m:r>
                              <a:rPr lang="en-US" sz="2000" i="1" dirty="0" err="1">
                                <a:latin typeface="Cambria Math" panose="02040503050406030204" pitchFamily="18" charset="0"/>
                              </a:rPr>
                              <m:t>𝑑</m:t>
                            </m:r>
                          </m:e>
                          <m:sub>
                            <m:r>
                              <a:rPr lang="en-US" sz="2000" i="1" dirty="0" err="1">
                                <a:latin typeface="Cambria Math" panose="02040503050406030204" pitchFamily="18" charset="0"/>
                              </a:rPr>
                              <m:t>h</m:t>
                            </m:r>
                          </m:sub>
                        </m:sSub>
                      </m:e>
                    </m:d>
                    <m:r>
                      <a:rPr lang="en-US" sz="2000" i="1" dirty="0">
                        <a:latin typeface="Cambria Math" panose="02040503050406030204" pitchFamily="18" charset="0"/>
                      </a:rPr>
                      <m:t>,  </m:t>
                    </m:r>
                  </m:oMath>
                </a14:m>
                <a:endParaRPr lang="ru-RU" sz="2000" dirty="0"/>
              </a:p>
              <a:p>
                <a:pPr algn="l" rtl="0">
                  <a:lnSpc>
                    <a:spcPct val="120000"/>
                  </a:lnSpc>
                  <a:spcBef>
                    <a:spcPts val="0"/>
                  </a:spcBef>
                </a:pPr>
                <a:r>
                  <a:rPr lang="ru-RU" sz="2000" dirty="0"/>
                  <a:t>где</a:t>
                </a:r>
                <a:r>
                  <a:rPr lang="en-US" sz="2000" dirty="0"/>
                  <a:t>:  </a:t>
                </a:r>
                <a14:m>
                  <m:oMath xmlns:m="http://schemas.openxmlformats.org/officeDocument/2006/math">
                    <m:r>
                      <a:rPr lang="en-US" sz="2000" i="1" dirty="0" smtClean="0">
                        <a:latin typeface="Cambria Math" panose="02040503050406030204" pitchFamily="18" charset="0"/>
                      </a:rPr>
                      <m:t>h𝑒𝑎</m:t>
                    </m:r>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𝑑</m:t>
                        </m:r>
                      </m:e>
                      <m:sub>
                        <m:r>
                          <a:rPr lang="en-US" sz="2000" i="1" dirty="0" smtClean="0">
                            <a:latin typeface="Cambria Math" panose="02040503050406030204" pitchFamily="18" charset="0"/>
                          </a:rPr>
                          <m:t>𝑖</m:t>
                        </m:r>
                      </m:sub>
                    </m:sSub>
                    <m:r>
                      <a:rPr lang="en-US" sz="2000" i="1" dirty="0">
                        <a:latin typeface="Cambria Math" panose="02040503050406030204" pitchFamily="18" charset="0"/>
                      </a:rPr>
                      <m:t>= </m:t>
                    </m:r>
                    <m:r>
                      <a:rPr lang="en-US" sz="2000" i="1" dirty="0">
                        <a:latin typeface="Cambria Math" panose="02040503050406030204" pitchFamily="18" charset="0"/>
                      </a:rPr>
                      <m:t>𝐴𝑡𝑡𝑒𝑛𝑡𝑖𝑜𝑛</m:t>
                    </m:r>
                    <m:d>
                      <m:dPr>
                        <m:ctrlPr>
                          <a:rPr lang="en-US" sz="2000" i="1" dirty="0">
                            <a:latin typeface="Cambria Math" panose="02040503050406030204" pitchFamily="18" charset="0"/>
                          </a:rPr>
                        </m:ctrlPr>
                      </m:dPr>
                      <m:e>
                        <m:sSub>
                          <m:sSubPr>
                            <m:ctrlPr>
                              <a:rPr lang="en-US" sz="2000" i="1" dirty="0" err="1">
                                <a:latin typeface="Cambria Math" panose="02040503050406030204" pitchFamily="18" charset="0"/>
                              </a:rPr>
                            </m:ctrlPr>
                          </m:sSubPr>
                          <m:e>
                            <m:r>
                              <a:rPr lang="en-US" sz="2000" i="1" dirty="0" err="1">
                                <a:latin typeface="Cambria Math" panose="02040503050406030204" pitchFamily="18" charset="0"/>
                              </a:rPr>
                              <m:t>𝑄</m:t>
                            </m:r>
                          </m:e>
                          <m:sub>
                            <m:r>
                              <a:rPr lang="en-US" sz="2000" i="1" dirty="0" err="1">
                                <a:latin typeface="Cambria Math" panose="02040503050406030204" pitchFamily="18" charset="0"/>
                              </a:rPr>
                              <m:t>𝑖</m:t>
                            </m:r>
                          </m:sub>
                        </m:sSub>
                        <m:r>
                          <a:rPr lang="en-US" sz="2000" i="1" dirty="0">
                            <a:latin typeface="Cambria Math" panose="02040503050406030204" pitchFamily="18" charset="0"/>
                          </a:rPr>
                          <m:t>, </m:t>
                        </m:r>
                        <m:sSub>
                          <m:sSubPr>
                            <m:ctrlPr>
                              <a:rPr lang="en-US" sz="2000" i="1" dirty="0" err="1">
                                <a:latin typeface="Cambria Math" panose="02040503050406030204" pitchFamily="18" charset="0"/>
                              </a:rPr>
                            </m:ctrlPr>
                          </m:sSubPr>
                          <m:e>
                            <m:r>
                              <a:rPr lang="en-US" sz="2000" i="1" dirty="0" err="1">
                                <a:latin typeface="Cambria Math" panose="02040503050406030204" pitchFamily="18" charset="0"/>
                              </a:rPr>
                              <m:t>𝐾</m:t>
                            </m:r>
                          </m:e>
                          <m:sub>
                            <m:r>
                              <a:rPr lang="en-US" sz="2000" i="1" dirty="0" err="1">
                                <a:latin typeface="Cambria Math" panose="02040503050406030204" pitchFamily="18" charset="0"/>
                              </a:rPr>
                              <m:t>𝑖</m:t>
                            </m:r>
                          </m:sub>
                        </m:sSub>
                        <m:r>
                          <a:rPr lang="en-US" sz="2000" i="1" dirty="0">
                            <a:latin typeface="Cambria Math" panose="02040503050406030204" pitchFamily="18" charset="0"/>
                          </a:rPr>
                          <m:t>, </m:t>
                        </m:r>
                        <m:sSub>
                          <m:sSubPr>
                            <m:ctrlPr>
                              <a:rPr lang="en-US" sz="2000" i="1" dirty="0" err="1">
                                <a:latin typeface="Cambria Math" panose="02040503050406030204" pitchFamily="18" charset="0"/>
                              </a:rPr>
                            </m:ctrlPr>
                          </m:sSubPr>
                          <m:e>
                            <m:r>
                              <a:rPr lang="en-US" sz="2000" i="1" dirty="0" err="1">
                                <a:latin typeface="Cambria Math" panose="02040503050406030204" pitchFamily="18" charset="0"/>
                              </a:rPr>
                              <m:t>𝑉</m:t>
                            </m:r>
                          </m:e>
                          <m:sub>
                            <m:r>
                              <a:rPr lang="en-US" sz="2000" i="1" dirty="0" err="1">
                                <a:latin typeface="Cambria Math" panose="02040503050406030204" pitchFamily="18" charset="0"/>
                              </a:rPr>
                              <m:t>𝑖</m:t>
                            </m:r>
                          </m:sub>
                        </m:sSub>
                      </m:e>
                    </m:d>
                  </m:oMath>
                </a14:m>
                <a:endParaRPr lang="ru-RU" sz="2000" dirty="0"/>
              </a:p>
              <a:p>
                <a:pPr marL="0" indent="0" algn="l" rtl="0">
                  <a:lnSpc>
                    <a:spcPct val="120000"/>
                  </a:lnSpc>
                  <a:spcBef>
                    <a:spcPts val="0"/>
                  </a:spcBef>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𝐴𝑡𝑡𝑒𝑛𝑡𝑖𝑜𝑛</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𝑄</m:t>
                          </m:r>
                          <m:r>
                            <a:rPr lang="en-US" sz="2000" i="1" dirty="0">
                              <a:latin typeface="Cambria Math" panose="02040503050406030204" pitchFamily="18" charset="0"/>
                            </a:rPr>
                            <m:t>, </m:t>
                          </m:r>
                          <m:r>
                            <a:rPr lang="en-US" sz="2000" i="1" dirty="0">
                              <a:latin typeface="Cambria Math" panose="02040503050406030204" pitchFamily="18" charset="0"/>
                            </a:rPr>
                            <m:t>𝐾</m:t>
                          </m:r>
                          <m:r>
                            <a:rPr lang="en-US" sz="2000" i="1" dirty="0">
                              <a:latin typeface="Cambria Math" panose="02040503050406030204" pitchFamily="18" charset="0"/>
                            </a:rPr>
                            <m:t>, </m:t>
                          </m:r>
                          <m:r>
                            <a:rPr lang="en-US" sz="2000" i="1" dirty="0">
                              <a:latin typeface="Cambria Math" panose="02040503050406030204" pitchFamily="18" charset="0"/>
                            </a:rPr>
                            <m:t>𝑉</m:t>
                          </m:r>
                        </m:e>
                      </m:d>
                      <m:r>
                        <a:rPr lang="en-US" sz="2000" i="1" dirty="0">
                          <a:latin typeface="Cambria Math" panose="02040503050406030204" pitchFamily="18" charset="0"/>
                        </a:rPr>
                        <m:t>= </m:t>
                      </m:r>
                      <m:r>
                        <a:rPr lang="en-US" sz="2000" i="1" dirty="0" err="1">
                          <a:latin typeface="Cambria Math" panose="02040503050406030204" pitchFamily="18" charset="0"/>
                        </a:rPr>
                        <m:t>𝑠𝑜𝑓𝑡𝑚𝑎𝑥</m:t>
                      </m:r>
                      <m:d>
                        <m:dPr>
                          <m:ctrlPr>
                            <a:rPr lang="en-US" sz="2000" i="1" dirty="0">
                              <a:latin typeface="Cambria Math" panose="02040503050406030204" pitchFamily="18" charset="0"/>
                            </a:rPr>
                          </m:ctrlPr>
                        </m:dPr>
                        <m:e>
                          <m:r>
                            <a:rPr lang="en-US" sz="2000" i="1" dirty="0">
                              <a:latin typeface="Cambria Math" panose="02040503050406030204" pitchFamily="18" charset="0"/>
                            </a:rPr>
                            <m:t>𝑄</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𝐾</m:t>
                              </m:r>
                            </m:e>
                            <m:sup>
                              <m:r>
                                <a:rPr lang="en-US" sz="2000" i="1" dirty="0">
                                  <a:latin typeface="Cambria Math" panose="02040503050406030204" pitchFamily="18" charset="0"/>
                                </a:rPr>
                                <m:t>⊤</m:t>
                              </m:r>
                            </m:sup>
                          </m:sSup>
                          <m:r>
                            <a:rPr lang="en-US" sz="2000" b="0" i="1" dirty="0" smtClean="0">
                              <a:latin typeface="Cambria Math" panose="02040503050406030204" pitchFamily="18" charset="0"/>
                            </a:rPr>
                            <m:t>/</m:t>
                          </m:r>
                          <m:rad>
                            <m:radPr>
                              <m:degHide m:val="on"/>
                              <m:ctrlPr>
                                <a:rPr lang="en-US" sz="2000" b="0" i="1" dirty="0" smtClean="0">
                                  <a:latin typeface="Cambria Math" panose="02040503050406030204" pitchFamily="18" charset="0"/>
                                </a:rPr>
                              </m:ctrlPr>
                            </m:radPr>
                            <m:deg/>
                            <m:e>
                              <m:r>
                                <a:rPr lang="en-US" sz="2000" b="0" i="1" dirty="0" smtClean="0">
                                  <a:latin typeface="Cambria Math" panose="02040503050406030204" pitchFamily="18" charset="0"/>
                                </a:rPr>
                                <m:t>𝑛</m:t>
                              </m:r>
                            </m:e>
                          </m:rad>
                        </m:e>
                      </m:d>
                      <m:r>
                        <a:rPr lang="en-US" sz="2000" i="1" dirty="0">
                          <a:latin typeface="Cambria Math" panose="02040503050406030204" pitchFamily="18" charset="0"/>
                        </a:rPr>
                        <m:t>𝑉</m:t>
                      </m:r>
                      <m:r>
                        <a:rPr lang="en-US" sz="2000" i="1" dirty="0">
                          <a:latin typeface="Cambria Math" panose="02040503050406030204" pitchFamily="18" charset="0"/>
                        </a:rPr>
                        <m:t> </m:t>
                      </m:r>
                    </m:oMath>
                  </m:oMathPara>
                </a14:m>
                <a:endParaRPr lang="ru-RU" sz="2000" dirty="0"/>
              </a:p>
              <a:p>
                <a:pPr algn="l" rtl="0">
                  <a:lnSpc>
                    <a:spcPct val="120000"/>
                  </a:lnSpc>
                  <a:spcBef>
                    <a:spcPts val="0"/>
                  </a:spcBef>
                </a:pPr>
                <a:r>
                  <a:rPr lang="en-US" sz="2000" dirty="0"/>
                  <a:t> </a:t>
                </a:r>
                <a14:m>
                  <m:oMath xmlns:m="http://schemas.openxmlformats.org/officeDocument/2006/math">
                    <m:sSup>
                      <m:sSupPr>
                        <m:ctrlPr>
                          <a:rPr lang="ru-RU" sz="2000" i="1">
                            <a:latin typeface="Cambria Math" panose="02040503050406030204" pitchFamily="18" charset="0"/>
                          </a:rPr>
                        </m:ctrlPr>
                      </m:sSupPr>
                      <m:e>
                        <m:r>
                          <a:rPr lang="en-US" sz="2000" i="1">
                            <a:latin typeface="Cambria Math" panose="02040503050406030204" pitchFamily="18" charset="0"/>
                          </a:rPr>
                          <m:t>𝑊</m:t>
                        </m:r>
                      </m:e>
                      <m:sup>
                        <m:r>
                          <a:rPr lang="en-US" sz="2000" i="1">
                            <a:latin typeface="Cambria Math" panose="02040503050406030204" pitchFamily="18" charset="0"/>
                          </a:rPr>
                          <m:t>𝑂</m:t>
                        </m:r>
                      </m:sup>
                    </m:sSup>
                  </m:oMath>
                </a14:m>
                <a:r>
                  <a:rPr lang="en-US" sz="2000" dirty="0"/>
                  <a:t> - матрица весов каждого удара головой.</a:t>
                </a:r>
                <a:endParaRPr lang="ru-RU" sz="2000" dirty="0"/>
              </a:p>
              <a:p>
                <a:pPr algn="l" rtl="0">
                  <a:lnSpc>
                    <a:spcPct val="120000"/>
                  </a:lnSpc>
                  <a:spcBef>
                    <a:spcPts val="0"/>
                  </a:spcBef>
                </a:pPr>
                <a:r>
                  <a:rPr lang="en-US" sz="2000" dirty="0"/>
                  <a:t> Пример простой сети с многоголовым вниманием</a:t>
                </a:r>
                <a:endParaRPr lang="ru-RU" sz="20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92365" y="672058"/>
                <a:ext cx="11832935" cy="6140153"/>
              </a:xfrm>
              <a:blipFill>
                <a:blip r:embed="rId2"/>
                <a:stretch>
                  <a:fillRect l="-464"/>
                </a:stretch>
              </a:blipFill>
            </p:spPr>
            <p:txBody>
              <a:bodyPr/>
              <a:lstStyle/>
              <a:p>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0" name="Рисунок 19"/>
          <p:cNvPicPr>
            <a:picLocks noChangeAspect="1"/>
          </p:cNvPicPr>
          <p:nvPr/>
        </p:nvPicPr>
        <p:blipFill>
          <a:blip r:embed="rId3"/>
          <a:stretch>
            <a:fillRect/>
          </a:stretch>
        </p:blipFill>
        <p:spPr>
          <a:xfrm>
            <a:off x="4636597" y="3097317"/>
            <a:ext cx="6111875" cy="3562350"/>
          </a:xfrm>
          <a:prstGeom prst="rect">
            <a:avLst/>
          </a:prstGeom>
        </p:spPr>
      </p:pic>
    </p:spTree>
    <p:extLst>
      <p:ext uri="{BB962C8B-B14F-4D97-AF65-F5344CB8AC3E}">
        <p14:creationId xmlns:p14="http://schemas.microsoft.com/office/powerpoint/2010/main" val="3137318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eaLnBrk="0" fontAlgn="base" hangingPunct="0">
              <a:lnSpc>
                <a:spcPct val="100000"/>
              </a:lnSpc>
              <a:spcAft>
                <a:spcPct val="0"/>
              </a:spcAft>
            </a:pPr>
            <a:r>
              <a:rPr lang="ru-RU" altLang="ru-RU" sz="3200" b="1" dirty="0">
                <a:solidFill>
                  <a:srgbClr val="000000"/>
                </a:solidFill>
              </a:rPr>
              <a:t>Сеть с вниманием. </a:t>
            </a:r>
            <a:r>
              <a:rPr lang="ru-RU" sz="3200" b="1" dirty="0"/>
              <a:t>Многоголовое внимание с маской</a:t>
            </a:r>
            <a:endParaRPr lang="ru-RU" altLang="ru-RU" sz="3200" dirty="0">
              <a:solidFill>
                <a:srgbClr val="000000"/>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92365" y="672058"/>
                <a:ext cx="11832935" cy="6140153"/>
              </a:xfrm>
            </p:spPr>
            <p:txBody>
              <a:bodyPr>
                <a:noAutofit/>
              </a:bodyPr>
              <a:lstStyle/>
              <a:p>
                <a:pPr>
                  <a:lnSpc>
                    <a:spcPct val="120000"/>
                  </a:lnSpc>
                </a:pPr>
                <a:r>
                  <a:rPr lang="ru-RU" sz="2000" dirty="0"/>
                  <a:t>Недостаток простого </a:t>
                </a:r>
                <a:r>
                  <a:rPr lang="ru-RU" sz="2000" dirty="0" err="1"/>
                  <a:t>самовнимания</a:t>
                </a:r>
                <a:r>
                  <a:rPr lang="ru-RU" sz="2000" dirty="0"/>
                  <a:t> состоит в том, что оно сопровождается влиянием прямого и предыдущего входов на каждый выход. Это приводит к нарушению требований причинно-следственной связи. Чтобы избежать этого, матрица весов должна быть преобразована в случайную форму (т.е. матрицу треугольника). Такую операцию можно выполнить путем его умножения на соответствующую матрицу-маску. Маскирование </a:t>
                </a:r>
                <a:r>
                  <a:rPr lang="ru-RU" sz="2000" dirty="0" err="1"/>
                  <a:t>самовнимания</a:t>
                </a:r>
                <a:r>
                  <a:rPr lang="ru-RU" sz="2000" dirty="0"/>
                  <a:t> позволяет использовать его как аналог модели авторегрессии.  Маскирование внимания можно представить как</a:t>
                </a:r>
              </a:p>
              <a:p>
                <a:pPr marL="0" indent="0" algn="l" rtl="0">
                  <a:lnSpc>
                    <a:spcPct val="120000"/>
                  </a:lnSpc>
                  <a:spcBef>
                    <a:spcPts val="0"/>
                  </a:spcBef>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 </m:t>
                      </m:r>
                      <m:r>
                        <a:rPr lang="en-US" sz="2000" i="1" dirty="0">
                          <a:latin typeface="Cambria Math" panose="02040503050406030204" pitchFamily="18" charset="0"/>
                        </a:rPr>
                        <m:t>𝐴𝑡𝑡𝑒𝑛𝑡𝑖𝑜𝑛</m:t>
                      </m:r>
                      <m:d>
                        <m:dPr>
                          <m:ctrlPr>
                            <a:rPr lang="en-US" sz="2000" i="1" dirty="0">
                              <a:latin typeface="Cambria Math" panose="02040503050406030204" pitchFamily="18" charset="0"/>
                            </a:rPr>
                          </m:ctrlPr>
                        </m:dPr>
                        <m:e>
                          <m:r>
                            <a:rPr lang="en-US" sz="2000" i="1" dirty="0">
                              <a:latin typeface="Cambria Math" panose="02040503050406030204" pitchFamily="18" charset="0"/>
                            </a:rPr>
                            <m:t>𝑄</m:t>
                          </m:r>
                          <m:r>
                            <a:rPr lang="en-US" sz="2000" i="1" dirty="0">
                              <a:latin typeface="Cambria Math" panose="02040503050406030204" pitchFamily="18" charset="0"/>
                            </a:rPr>
                            <m:t>, </m:t>
                          </m:r>
                          <m:r>
                            <a:rPr lang="en-US" sz="2000" i="1" dirty="0">
                              <a:latin typeface="Cambria Math" panose="02040503050406030204" pitchFamily="18" charset="0"/>
                            </a:rPr>
                            <m:t>𝐾</m:t>
                          </m:r>
                          <m:r>
                            <a:rPr lang="en-US" sz="2000" i="1" dirty="0">
                              <a:latin typeface="Cambria Math" panose="02040503050406030204" pitchFamily="18" charset="0"/>
                            </a:rPr>
                            <m:t>, </m:t>
                          </m:r>
                          <m:r>
                            <a:rPr lang="en-US" sz="2000" i="1" dirty="0">
                              <a:latin typeface="Cambria Math" panose="02040503050406030204" pitchFamily="18" charset="0"/>
                            </a:rPr>
                            <m:t>𝑉</m:t>
                          </m:r>
                        </m:e>
                      </m:d>
                      <m:r>
                        <a:rPr lang="en-US" sz="2000" i="1" dirty="0">
                          <a:latin typeface="Cambria Math" panose="02040503050406030204" pitchFamily="18" charset="0"/>
                        </a:rPr>
                        <m:t>= </m:t>
                      </m:r>
                      <m:r>
                        <a:rPr lang="en-US" sz="2000" i="1" dirty="0" err="1" smtClean="0">
                          <a:latin typeface="Cambria Math" panose="02040503050406030204" pitchFamily="18" charset="0"/>
                        </a:rPr>
                        <m:t>𝑠𝑜𝑓𝑡𝑚𝑎𝑥</m:t>
                      </m:r>
                      <m:d>
                        <m:dPr>
                          <m:ctrlPr>
                            <a:rPr lang="en-US" sz="2000" i="1" dirty="0" smtClean="0">
                              <a:latin typeface="Cambria Math" panose="02040503050406030204" pitchFamily="18" charset="0"/>
                            </a:rPr>
                          </m:ctrlPr>
                        </m:dPr>
                        <m:e>
                          <m:f>
                            <m:fPr>
                              <m:ctrlPr>
                                <a:rPr lang="en-US" sz="2000" i="1" dirty="0" smtClean="0">
                                  <a:latin typeface="Cambria Math" panose="02040503050406030204" pitchFamily="18" charset="0"/>
                                </a:rPr>
                              </m:ctrlPr>
                            </m:fPr>
                            <m:num>
                              <m:r>
                                <a:rPr lang="en-US" sz="2000" i="1" dirty="0" smtClean="0">
                                  <a:latin typeface="Cambria Math" panose="02040503050406030204" pitchFamily="18" charset="0"/>
                                </a:rPr>
                                <m:t>𝑀𝑄</m:t>
                              </m:r>
                              <m:sSup>
                                <m:sSupPr>
                                  <m:ctrlPr>
                                    <a:rPr lang="en-US" sz="2000" i="1" dirty="0">
                                      <a:latin typeface="Cambria Math" panose="02040503050406030204" pitchFamily="18" charset="0"/>
                                    </a:rPr>
                                  </m:ctrlPr>
                                </m:sSupPr>
                                <m:e>
                                  <m:r>
                                    <a:rPr lang="en-US" sz="2000" i="1" dirty="0" smtClean="0">
                                      <a:latin typeface="Cambria Math" panose="02040503050406030204" pitchFamily="18" charset="0"/>
                                    </a:rPr>
                                    <m:t>𝐾</m:t>
                                  </m:r>
                                </m:e>
                                <m:sup>
                                  <m:r>
                                    <a:rPr lang="en-US" sz="2000" i="1" dirty="0">
                                      <a:latin typeface="Cambria Math" panose="02040503050406030204" pitchFamily="18" charset="0"/>
                                    </a:rPr>
                                    <m:t>⊤</m:t>
                                  </m:r>
                                </m:sup>
                              </m:sSup>
                            </m:num>
                            <m:den>
                              <m:rad>
                                <m:radPr>
                                  <m:degHide m:val="on"/>
                                  <m:ctrlPr>
                                    <a:rPr lang="en-US" sz="2000" i="1" dirty="0" smtClean="0">
                                      <a:latin typeface="Cambria Math" panose="02040503050406030204" pitchFamily="18" charset="0"/>
                                    </a:rPr>
                                  </m:ctrlPr>
                                </m:radPr>
                                <m:deg/>
                                <m:e>
                                  <m:r>
                                    <m:rPr>
                                      <m:sty m:val="p"/>
                                    </m:rPr>
                                    <a:rPr lang="en-US" sz="2000" i="1" dirty="0" err="1" smtClean="0">
                                      <a:latin typeface="Cambria Math" panose="02040503050406030204" pitchFamily="18" charset="0"/>
                                    </a:rPr>
                                    <m:t>n</m:t>
                                  </m:r>
                                </m:e>
                              </m:rad>
                            </m:den>
                          </m:f>
                        </m:e>
                      </m:d>
                      <m:r>
                        <a:rPr lang="en-US" sz="2000" i="1" dirty="0" smtClean="0">
                          <a:latin typeface="Cambria Math" panose="02040503050406030204" pitchFamily="18" charset="0"/>
                        </a:rPr>
                        <m:t>𝑉</m:t>
                      </m:r>
                      <m:r>
                        <a:rPr lang="en-US" sz="2000" i="1" dirty="0" smtClean="0">
                          <a:latin typeface="Cambria Math" panose="02040503050406030204" pitchFamily="18" charset="0"/>
                        </a:rPr>
                        <m:t> </m:t>
                      </m:r>
                    </m:oMath>
                  </m:oMathPara>
                </a14:m>
                <a:endParaRPr lang="ru-RU" sz="2000" dirty="0"/>
              </a:p>
              <a:p>
                <a:pPr algn="l" rtl="0">
                  <a:lnSpc>
                    <a:spcPct val="120000"/>
                  </a:lnSpc>
                  <a:spcBef>
                    <a:spcPts val="0"/>
                  </a:spcBef>
                </a:pPr>
                <a:r>
                  <a:rPr lang="ru-RU" sz="2000" dirty="0"/>
                  <a:t>где</a:t>
                </a:r>
                <a:r>
                  <a:rPr lang="en-US" sz="2000" dirty="0"/>
                  <a:t> </a:t>
                </a:r>
                <a14:m>
                  <m:oMath xmlns:m="http://schemas.openxmlformats.org/officeDocument/2006/math">
                    <m:r>
                      <a:rPr lang="en-US" sz="2000" i="1">
                        <a:latin typeface="Cambria Math" panose="02040503050406030204" pitchFamily="18" charset="0"/>
                      </a:rPr>
                      <m:t>𝑀</m:t>
                    </m:r>
                  </m:oMath>
                </a14:m>
                <a:r>
                  <a:rPr lang="en-US" sz="2000" dirty="0"/>
                  <a:t> маскирующая матрица - верхний треугольник, в следующем виде</a:t>
                </a:r>
                <a:endParaRPr lang="ru-RU" sz="2000" dirty="0"/>
              </a:p>
              <a:p>
                <a:pPr marL="0" indent="0" algn="l" rtl="0">
                  <a:lnSpc>
                    <a:spcPct val="12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ru-RU" sz="2000" i="1">
                              <a:latin typeface="Cambria Math" panose="02040503050406030204" pitchFamily="18" charset="0"/>
                            </a:rPr>
                          </m:ctrlPr>
                        </m:dPr>
                        <m:e>
                          <m:m>
                            <m:mPr>
                              <m:plcHide m:val="on"/>
                              <m:mcs>
                                <m:mc>
                                  <m:mcPr>
                                    <m:count m:val="5"/>
                                    <m:mcJc m:val="center"/>
                                  </m:mcPr>
                                </m:mc>
                              </m:mcs>
                              <m:ctrlPr>
                                <a:rPr lang="ru-RU" sz="2000" i="1">
                                  <a:latin typeface="Cambria Math" panose="02040503050406030204" pitchFamily="18" charset="0"/>
                                </a:rPr>
                              </m:ctrlPr>
                            </m:mPr>
                            <m:mr>
                              <m:e>
                                <m:r>
                                  <a:rPr lang="en-US" sz="2000" i="1">
                                    <a:latin typeface="Cambria Math" panose="02040503050406030204" pitchFamily="18" charset="0"/>
                                  </a:rPr>
                                  <m:t>0</m:t>
                                </m:r>
                              </m:e>
                              <m:e>
                                <m:r>
                                  <a:rPr lang="en-US" sz="2000" i="1">
                                    <a:latin typeface="Cambria Math" panose="02040503050406030204" pitchFamily="18" charset="0"/>
                                  </a:rPr>
                                  <m:t>−∞</m:t>
                                </m:r>
                              </m:e>
                              <m:e>
                                <m:r>
                                  <a:rPr lang="en-US" sz="2000" i="1">
                                    <a:latin typeface="Cambria Math" panose="02040503050406030204" pitchFamily="18" charset="0"/>
                                  </a:rPr>
                                  <m:t>−∞</m:t>
                                </m:r>
                              </m:e>
                              <m:e>
                                <m:r>
                                  <a:rPr lang="en-US" sz="2000" i="1">
                                    <a:latin typeface="Cambria Math" panose="02040503050406030204" pitchFamily="18" charset="0"/>
                                  </a:rPr>
                                  <m:t>…</m:t>
                                </m:r>
                              </m:e>
                              <m:e>
                                <m:r>
                                  <a:rPr lang="en-US" sz="2000" i="1">
                                    <a:latin typeface="Cambria Math" panose="02040503050406030204" pitchFamily="18" charset="0"/>
                                  </a:rPr>
                                  <m:t>−∞</m:t>
                                </m:r>
                              </m:e>
                            </m:mr>
                            <m:mr>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m:t>
                                </m:r>
                              </m:e>
                              <m:e>
                                <m:r>
                                  <a:rPr lang="en-US" sz="2000" i="1">
                                    <a:latin typeface="Cambria Math" panose="02040503050406030204" pitchFamily="18" charset="0"/>
                                  </a:rPr>
                                  <m:t>…</m:t>
                                </m:r>
                              </m:e>
                              <m:e>
                                <m:r>
                                  <a:rPr lang="en-US" sz="2000" i="1">
                                    <a:latin typeface="Cambria Math" panose="02040503050406030204" pitchFamily="18" charset="0"/>
                                  </a:rPr>
                                  <m:t>−∞</m:t>
                                </m:r>
                              </m:e>
                            </m:mr>
                            <m:mr>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m:t>
                                </m:r>
                              </m:e>
                              <m:e>
                                <m:r>
                                  <a:rPr lang="en-US" sz="2000" i="1">
                                    <a:latin typeface="Cambria Math" panose="02040503050406030204" pitchFamily="18" charset="0"/>
                                  </a:rPr>
                                  <m:t>−∞</m:t>
                                </m:r>
                              </m:e>
                            </m:mr>
                            <m:mr>
                              <m:e>
                                <m:r>
                                  <a:rPr lang="en-US" sz="2000" i="1">
                                    <a:latin typeface="Cambria Math" panose="02040503050406030204" pitchFamily="18" charset="0"/>
                                  </a:rPr>
                                  <m:t>⋮</m:t>
                                </m:r>
                              </m:e>
                              <m:e>
                                <m:r>
                                  <a:rPr lang="en-US" sz="2000" i="1">
                                    <a:latin typeface="Cambria Math" panose="02040503050406030204" pitchFamily="18" charset="0"/>
                                  </a:rPr>
                                  <m:t>⋮</m:t>
                                </m:r>
                              </m:e>
                              <m:e>
                                <m:r>
                                  <a:rPr lang="en-US" sz="2000" i="1">
                                    <a:latin typeface="Cambria Math" panose="02040503050406030204" pitchFamily="18" charset="0"/>
                                  </a:rPr>
                                  <m:t>⋮</m:t>
                                </m:r>
                              </m:e>
                              <m:e>
                                <m:r>
                                  <a:rPr lang="en-US" sz="2000" i="1">
                                    <a:latin typeface="Cambria Math" panose="02040503050406030204" pitchFamily="18" charset="0"/>
                                  </a:rPr>
                                  <m:t>⋱</m:t>
                                </m:r>
                              </m:e>
                              <m:e>
                                <m:r>
                                  <a:rPr lang="en-US" sz="2000" i="1">
                                    <a:latin typeface="Cambria Math" panose="02040503050406030204" pitchFamily="18" charset="0"/>
                                  </a:rPr>
                                  <m:t>⋮</m:t>
                                </m:r>
                              </m:e>
                            </m:mr>
                            <m:mr>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0</m:t>
                                </m:r>
                              </m:e>
                              <m:e>
                                <m:r>
                                  <a:rPr lang="en-US" sz="2000" i="1">
                                    <a:latin typeface="Cambria Math" panose="02040503050406030204" pitchFamily="18" charset="0"/>
                                  </a:rPr>
                                  <m:t>…</m:t>
                                </m:r>
                              </m:e>
                              <m:e>
                                <m:r>
                                  <a:rPr lang="en-US" sz="2000" i="1">
                                    <a:latin typeface="Cambria Math" panose="02040503050406030204" pitchFamily="18" charset="0"/>
                                  </a:rPr>
                                  <m:t>0</m:t>
                                </m:r>
                              </m:e>
                            </m:mr>
                          </m:m>
                        </m:e>
                      </m:d>
                    </m:oMath>
                  </m:oMathPara>
                </a14:m>
                <a:endParaRPr lang="ru-RU" sz="2000" dirty="0"/>
              </a:p>
              <a:p>
                <a:pPr algn="l" rtl="0">
                  <a:lnSpc>
                    <a:spcPct val="120000"/>
                  </a:lnSpc>
                  <a:spcBef>
                    <a:spcPts val="0"/>
                  </a:spcBef>
                </a:pPr>
                <a:r>
                  <a:rPr lang="en-US" sz="2000" dirty="0"/>
                  <a:t>Где мы используем </a:t>
                </a:r>
                <a14:m>
                  <m:oMath xmlns:m="http://schemas.openxmlformats.org/officeDocument/2006/math">
                    <m:r>
                      <a:rPr lang="en-US" sz="2000" i="1">
                        <a:latin typeface="Cambria Math" panose="02040503050406030204" pitchFamily="18" charset="0"/>
                      </a:rPr>
                      <m:t>−∞</m:t>
                    </m:r>
                  </m:oMath>
                </a14:m>
                <a:r>
                  <a:rPr lang="en-US" sz="2000" dirty="0"/>
                  <a:t> поскольку мы хотим, чтобы эти элементы были равны нулю после </a:t>
                </a:r>
                <a:r>
                  <a:rPr lang="en-US" sz="2000" dirty="0" err="1"/>
                  <a:t>softmax</a:t>
                </a:r>
                <a:r>
                  <a:rPr lang="en-US" sz="2000" dirty="0"/>
                  <a:t>.</a:t>
                </a:r>
                <a:endParaRPr lang="ru-RU" sz="2000" dirty="0"/>
              </a:p>
              <a:p>
                <a:pPr marL="0" lvl="0" indent="0" algn="l" rtl="0" eaLnBrk="0" fontAlgn="base" hangingPunct="0">
                  <a:lnSpc>
                    <a:spcPct val="120000"/>
                  </a:lnSpc>
                  <a:spcBef>
                    <a:spcPct val="0"/>
                  </a:spcBef>
                  <a:spcAft>
                    <a:spcPct val="0"/>
                  </a:spcAft>
                  <a:buNone/>
                </a:pPr>
                <a:endParaRPr lang="ru-RU" altLang="ru-RU" sz="2000" dirty="0"/>
              </a:p>
              <a:p>
                <a:pPr algn="l" rtl="0">
                  <a:lnSpc>
                    <a:spcPct val="120000"/>
                  </a:lnSpc>
                </a:pPr>
                <a:endParaRPr lang="ru-RU" sz="20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92365" y="672058"/>
                <a:ext cx="11832935" cy="6140153"/>
              </a:xfrm>
              <a:blipFill>
                <a:blip r:embed="rId2"/>
                <a:stretch>
                  <a:fillRect l="-464" r="-515"/>
                </a:stretch>
              </a:blipFill>
            </p:spPr>
            <p:txBody>
              <a:bodyPr/>
              <a:lstStyle/>
              <a:p>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99556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eaLnBrk="0" fontAlgn="base" hangingPunct="0">
              <a:lnSpc>
                <a:spcPct val="100000"/>
              </a:lnSpc>
              <a:spcAft>
                <a:spcPct val="0"/>
              </a:spcAft>
            </a:pPr>
            <a:r>
              <a:rPr lang="ru-RU" altLang="ru-RU" sz="3200" b="1" dirty="0">
                <a:solidFill>
                  <a:srgbClr val="000000"/>
                </a:solidFill>
              </a:rPr>
              <a:t>Сеть с вниманием. </a:t>
            </a:r>
            <a:r>
              <a:rPr lang="ru-RU" sz="3200" b="1" dirty="0"/>
              <a:t>Многоголовое внимание с маской</a:t>
            </a:r>
            <a:endParaRPr lang="ru-RU" altLang="ru-RU" sz="3200" b="1" dirty="0">
              <a:solidFill>
                <a:srgbClr val="000000"/>
              </a:solidFill>
            </a:endParaRPr>
          </a:p>
        </p:txBody>
      </p:sp>
      <p:sp>
        <p:nvSpPr>
          <p:cNvPr id="3" name="Объект 2"/>
          <p:cNvSpPr>
            <a:spLocks noGrp="1"/>
          </p:cNvSpPr>
          <p:nvPr>
            <p:ph idx="1"/>
          </p:nvPr>
        </p:nvSpPr>
        <p:spPr>
          <a:xfrm>
            <a:off x="92365" y="672058"/>
            <a:ext cx="11832935" cy="6140153"/>
          </a:xfrm>
        </p:spPr>
        <p:txBody>
          <a:bodyPr>
            <a:noAutofit/>
          </a:bodyPr>
          <a:lstStyle/>
          <a:p>
            <a:r>
              <a:rPr lang="ru-RU" sz="2000" i="1" dirty="0"/>
              <a:t>Примечание.</a:t>
            </a:r>
            <a:r>
              <a:rPr lang="ru-RU" sz="2000" dirty="0"/>
              <a:t>  Маскирование </a:t>
            </a:r>
            <a:r>
              <a:rPr lang="ru-RU" sz="2000" dirty="0" err="1"/>
              <a:t>самовнимания</a:t>
            </a:r>
            <a:r>
              <a:rPr lang="ru-RU" sz="2000" dirty="0"/>
              <a:t>, чтобы элементы могли обращаться только к входным элементам, которые предшествуют им в последовательности. Обратите внимание, что символ умножения немного вводит в заблуждение: мы фактически устанавливаем замаскированные элементы (белые квадраты) на -∞.</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3" name="Рисунок 22"/>
          <p:cNvPicPr>
            <a:picLocks noChangeAspect="1"/>
          </p:cNvPicPr>
          <p:nvPr/>
        </p:nvPicPr>
        <p:blipFill>
          <a:blip r:embed="rId2"/>
          <a:stretch>
            <a:fillRect/>
          </a:stretch>
        </p:blipFill>
        <p:spPr>
          <a:xfrm>
            <a:off x="460588" y="2001808"/>
            <a:ext cx="5486400" cy="1981200"/>
          </a:xfrm>
          <a:prstGeom prst="rect">
            <a:avLst/>
          </a:prstGeom>
        </p:spPr>
      </p:pic>
      <p:sp>
        <p:nvSpPr>
          <p:cNvPr id="25" name="Прямоугольник 24"/>
          <p:cNvSpPr/>
          <p:nvPr/>
        </p:nvSpPr>
        <p:spPr>
          <a:xfrm>
            <a:off x="7201700" y="3484373"/>
            <a:ext cx="4135008" cy="1200329"/>
          </a:xfrm>
          <a:prstGeom prst="rect">
            <a:avLst/>
          </a:prstGeom>
        </p:spPr>
        <p:txBody>
          <a:bodyPr wrap="square">
            <a:spAutoFit/>
          </a:bodyPr>
          <a:lstStyle/>
          <a:p>
            <a:pPr algn="l" rtl="0"/>
            <a:r>
              <a:rPr lang="en-US" dirty="0">
                <a:solidFill>
                  <a:srgbClr val="000000"/>
                </a:solidFill>
                <a:latin typeface="Georgia" panose="02040502050405020303" pitchFamily="18" charset="0"/>
              </a:rPr>
              <a:t>Пример нескольких подходов для</a:t>
            </a:r>
            <a:br>
              <a:rPr lang="en-US" dirty="0">
                <a:solidFill>
                  <a:srgbClr val="000000"/>
                </a:solidFill>
                <a:latin typeface="Georgia" panose="02040502050405020303" pitchFamily="18" charset="0"/>
              </a:rPr>
            </a:br>
            <a:r>
              <a:rPr lang="en-US" dirty="0">
                <a:solidFill>
                  <a:srgbClr val="000000"/>
                </a:solidFill>
                <a:latin typeface="Georgia" panose="02040502050405020303" pitchFamily="18" charset="0"/>
              </a:rPr>
              <a:t> многоголовое замаскированное самовнимание.</a:t>
            </a:r>
          </a:p>
          <a:p>
            <a:pPr algn="l" rtl="0"/>
            <a:br>
              <a:rPr lang="en-US" dirty="0">
                <a:solidFill>
                  <a:srgbClr val="000000"/>
                </a:solidFill>
                <a:latin typeface="Helvetica Neue"/>
              </a:rPr>
            </a:br>
            <a:endParaRPr lang="ru-RU" dirty="0"/>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7" name="Рисунок 26"/>
          <p:cNvPicPr>
            <a:picLocks noChangeAspect="1"/>
          </p:cNvPicPr>
          <p:nvPr/>
        </p:nvPicPr>
        <p:blipFill>
          <a:blip r:embed="rId3"/>
          <a:stretch>
            <a:fillRect/>
          </a:stretch>
        </p:blipFill>
        <p:spPr>
          <a:xfrm>
            <a:off x="6188365" y="4304852"/>
            <a:ext cx="5618666" cy="2165416"/>
          </a:xfrm>
          <a:prstGeom prst="rect">
            <a:avLst/>
          </a:prstGeom>
        </p:spPr>
      </p:pic>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9" name="Прямоугольник 28"/>
          <p:cNvSpPr/>
          <p:nvPr/>
        </p:nvSpPr>
        <p:spPr>
          <a:xfrm>
            <a:off x="142542" y="4247659"/>
            <a:ext cx="6096000" cy="2031325"/>
          </a:xfrm>
          <a:prstGeom prst="rect">
            <a:avLst/>
          </a:prstGeom>
        </p:spPr>
        <p:txBody>
          <a:bodyPr>
            <a:spAutoFit/>
          </a:bodyPr>
          <a:lstStyle/>
          <a:p>
            <a:r>
              <a:rPr lang="ru-RU" dirty="0"/>
              <a:t>В памяти сжатого внимания </a:t>
            </a:r>
            <a:r>
              <a:rPr lang="ru-RU" dirty="0" err="1"/>
              <a:t>case</a:t>
            </a:r>
            <a:r>
              <a:rPr lang="ru-RU" dirty="0"/>
              <a:t> </a:t>
            </a:r>
            <a:r>
              <a:rPr lang="ru-RU" dirty="0" err="1"/>
              <a:t>conv</a:t>
            </a:r>
            <a:r>
              <a:rPr lang="ru-RU" dirty="0"/>
              <a:t> - означает 1𝑥1conv для уменьшения количества сверток при </a:t>
            </a:r>
            <a:r>
              <a:rPr lang="ru-RU" dirty="0" err="1"/>
              <a:t>самовнимании</a:t>
            </a:r>
            <a:r>
              <a:rPr lang="ru-RU" dirty="0"/>
              <a:t>. Это похоже на шумоподавление - вы теряете элементы данных. В </a:t>
            </a:r>
            <a:r>
              <a:rPr lang="ru-RU" dirty="0" err="1"/>
              <a:t>самовнимании</a:t>
            </a:r>
            <a:r>
              <a:rPr lang="ru-RU" dirty="0"/>
              <a:t> декодера вы обрабатываете все данные вместе. При локальном внимании вы обрабатываете данные из каждой позиции скользящего окна отдельно и результаты </a:t>
            </a:r>
            <a:r>
              <a:rPr lang="ru-RU" dirty="0" err="1"/>
              <a:t>объеденяем</a:t>
            </a:r>
            <a:r>
              <a:rPr lang="ru-RU" dirty="0"/>
              <a:t>.</a:t>
            </a:r>
          </a:p>
        </p:txBody>
      </p:sp>
    </p:spTree>
    <p:extLst>
      <p:ext uri="{BB962C8B-B14F-4D97-AF65-F5344CB8AC3E}">
        <p14:creationId xmlns:p14="http://schemas.microsoft.com/office/powerpoint/2010/main" val="42350752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altLang="ru-RU" sz="3200" b="1" dirty="0">
                <a:solidFill>
                  <a:srgbClr val="000000"/>
                </a:solidFill>
              </a:rPr>
              <a:t>Сеть с вниманием. </a:t>
            </a:r>
            <a:r>
              <a:rPr lang="en-US" sz="3200" b="1" dirty="0" err="1"/>
              <a:t>Блок</a:t>
            </a:r>
            <a:r>
              <a:rPr lang="en-US" sz="3200" b="1" dirty="0"/>
              <a:t> трансформатора</a:t>
            </a:r>
            <a:endParaRPr lang="ru-RU" sz="3200" b="1" dirty="0"/>
          </a:p>
        </p:txBody>
      </p:sp>
      <p:sp>
        <p:nvSpPr>
          <p:cNvPr id="3" name="Объект 2"/>
          <p:cNvSpPr>
            <a:spLocks noGrp="1"/>
          </p:cNvSpPr>
          <p:nvPr>
            <p:ph idx="1"/>
          </p:nvPr>
        </p:nvSpPr>
        <p:spPr>
          <a:xfrm>
            <a:off x="92365" y="672058"/>
            <a:ext cx="11832935" cy="6140153"/>
          </a:xfrm>
        </p:spPr>
        <p:txBody>
          <a:bodyPr>
            <a:noAutofit/>
          </a:bodyPr>
          <a:lstStyle/>
          <a:p>
            <a:pPr lvl="0"/>
            <a:r>
              <a:rPr lang="ru-RU" sz="2000" dirty="0"/>
              <a:t>Блок трансформаторов состоит из:</a:t>
            </a:r>
          </a:p>
          <a:p>
            <a:pPr lvl="1"/>
            <a:r>
              <a:rPr lang="ru-RU" sz="2000" dirty="0"/>
              <a:t>слой </a:t>
            </a:r>
            <a:r>
              <a:rPr lang="ru-RU" sz="2000" dirty="0" err="1"/>
              <a:t>самовнимания</a:t>
            </a:r>
            <a:r>
              <a:rPr lang="ru-RU" sz="2000" dirty="0"/>
              <a:t>,</a:t>
            </a:r>
          </a:p>
          <a:p>
            <a:pPr lvl="1"/>
            <a:r>
              <a:rPr lang="ru-RU" sz="2000" dirty="0"/>
              <a:t>нормализация слоя,</a:t>
            </a:r>
          </a:p>
          <a:p>
            <a:pPr lvl="1"/>
            <a:r>
              <a:rPr lang="ru-RU" sz="2000" dirty="0"/>
              <a:t>слой прямой связи (один MLP применяется независимо к каждому вектору),</a:t>
            </a:r>
          </a:p>
          <a:p>
            <a:pPr lvl="1"/>
            <a:r>
              <a:rPr lang="ru-RU" sz="2000" dirty="0"/>
              <a:t>и еще одна нормализация слоя.</a:t>
            </a:r>
          </a:p>
          <a:p>
            <a:pPr lvl="1"/>
            <a:r>
              <a:rPr lang="ru-RU" sz="2000" dirty="0"/>
              <a:t>Остаточные соединения добавляются вокруг обоих перед нормализацией.</a:t>
            </a:r>
          </a:p>
          <a:p>
            <a:pPr lvl="0"/>
            <a:r>
              <a:rPr lang="ru-RU" sz="2000" i="1" dirty="0"/>
              <a:t>Примечание</a:t>
            </a:r>
            <a:endParaRPr lang="ru-RU" sz="2000" dirty="0"/>
          </a:p>
          <a:p>
            <a:pPr lvl="0"/>
            <a:r>
              <a:rPr lang="ru-RU" sz="2000" dirty="0"/>
              <a:t>Порядок различных компонентов не высечен на камне;</a:t>
            </a:r>
          </a:p>
          <a:p>
            <a:pPr lvl="0"/>
            <a:r>
              <a:rPr lang="ru-RU" sz="2000" dirty="0"/>
              <a:t>важно объединить </a:t>
            </a:r>
            <a:r>
              <a:rPr lang="ru-RU" sz="2000" dirty="0" err="1"/>
              <a:t>самовнимание</a:t>
            </a:r>
            <a:r>
              <a:rPr lang="ru-RU" sz="2000" dirty="0"/>
              <a:t> с локальной прямой связью, а также добавить нормализацию и остаточные связи.</a:t>
            </a:r>
          </a:p>
          <a:p>
            <a:pPr lvl="0"/>
            <a:r>
              <a:rPr lang="ru-RU" sz="2000" dirty="0"/>
              <a:t>в трансформаторе у вас может быть многоголовое внимание, и каждый MLP будет работать с другой головой.</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7" name="Рисунок 26"/>
          <p:cNvPicPr>
            <a:picLocks noChangeAspect="1"/>
          </p:cNvPicPr>
          <p:nvPr/>
        </p:nvPicPr>
        <p:blipFill>
          <a:blip r:embed="rId2"/>
          <a:stretch>
            <a:fillRect/>
          </a:stretch>
        </p:blipFill>
        <p:spPr>
          <a:xfrm>
            <a:off x="2136775" y="4582730"/>
            <a:ext cx="5016263" cy="2284001"/>
          </a:xfrm>
          <a:prstGeom prst="rect">
            <a:avLst/>
          </a:prstGeom>
        </p:spPr>
      </p:pic>
    </p:spTree>
    <p:extLst>
      <p:ext uri="{BB962C8B-B14F-4D97-AF65-F5344CB8AC3E}">
        <p14:creationId xmlns:p14="http://schemas.microsoft.com/office/powerpoint/2010/main" val="31836642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altLang="ru-RU" sz="3200" b="1" dirty="0">
                <a:solidFill>
                  <a:srgbClr val="000000"/>
                </a:solidFill>
              </a:rPr>
              <a:t>Сеть с вниманием. </a:t>
            </a:r>
            <a:r>
              <a:rPr lang="en-US" sz="3200" b="1" dirty="0" err="1"/>
              <a:t>Блок</a:t>
            </a:r>
            <a:r>
              <a:rPr lang="en-US" sz="3200" b="1" dirty="0"/>
              <a:t> </a:t>
            </a:r>
            <a:r>
              <a:rPr lang="en-US" sz="3200" b="1" dirty="0" err="1"/>
              <a:t>трансформатора</a:t>
            </a:r>
            <a:endParaRPr lang="ru-RU" sz="3200" b="1" dirty="0"/>
          </a:p>
        </p:txBody>
      </p:sp>
      <p:sp>
        <p:nvSpPr>
          <p:cNvPr id="3" name="Объект 2"/>
          <p:cNvSpPr>
            <a:spLocks noGrp="1"/>
          </p:cNvSpPr>
          <p:nvPr>
            <p:ph idx="1"/>
          </p:nvPr>
        </p:nvSpPr>
        <p:spPr>
          <a:xfrm>
            <a:off x="92365" y="672058"/>
            <a:ext cx="11832935" cy="6140153"/>
          </a:xfrm>
        </p:spPr>
        <p:txBody>
          <a:bodyPr>
            <a:noAutofit/>
          </a:bodyPr>
          <a:lstStyle/>
          <a:p>
            <a:pPr algn="l" rtl="0"/>
            <a:r>
              <a:rPr lang="en-US" sz="2000" u="sng" dirty="0"/>
              <a:t>Архитектура </a:t>
            </a:r>
            <a:r>
              <a:rPr lang="en-US" sz="2000" u="sng" dirty="0" err="1"/>
              <a:t>блока</a:t>
            </a:r>
            <a:r>
              <a:rPr lang="en-US" sz="2000" u="sng" dirty="0"/>
              <a:t> </a:t>
            </a:r>
            <a:r>
              <a:rPr lang="en-US" sz="2000" u="sng" dirty="0" err="1"/>
              <a:t>не</a:t>
            </a:r>
            <a:r>
              <a:rPr lang="en-US" sz="2000" u="sng" dirty="0"/>
              <a:t> </a:t>
            </a:r>
            <a:r>
              <a:rPr lang="en-US" sz="2000" u="sng" dirty="0" err="1"/>
              <a:t>содержит</a:t>
            </a:r>
            <a:r>
              <a:rPr lang="en-US" sz="2000" u="sng" dirty="0"/>
              <a:t> </a:t>
            </a:r>
            <a:r>
              <a:rPr lang="ru-RU" sz="2000" u="sng" dirty="0"/>
              <a:t>сверток</a:t>
            </a:r>
            <a:r>
              <a:rPr lang="en-US" sz="2000" u="sng" dirty="0"/>
              <a:t> - это полносвязная архитектура в исходной идее.</a:t>
            </a:r>
            <a:endParaRPr lang="en-US"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3" name="Рисунок 22"/>
          <p:cNvPicPr>
            <a:picLocks noChangeAspect="1"/>
          </p:cNvPicPr>
          <p:nvPr/>
        </p:nvPicPr>
        <p:blipFill>
          <a:blip r:embed="rId2"/>
          <a:stretch>
            <a:fillRect/>
          </a:stretch>
        </p:blipFill>
        <p:spPr>
          <a:xfrm>
            <a:off x="1984375" y="1229567"/>
            <a:ext cx="6715125" cy="3057525"/>
          </a:xfrm>
          <a:prstGeom prst="rect">
            <a:avLst/>
          </a:prstGeom>
        </p:spPr>
      </p:pic>
      <p:sp>
        <p:nvSpPr>
          <p:cNvPr id="25" name="Прямоугольник 24"/>
          <p:cNvSpPr/>
          <p:nvPr/>
        </p:nvSpPr>
        <p:spPr>
          <a:xfrm>
            <a:off x="307975" y="4932001"/>
            <a:ext cx="6096000" cy="923330"/>
          </a:xfrm>
          <a:prstGeom prst="rect">
            <a:avLst/>
          </a:prstGeom>
        </p:spPr>
        <p:txBody>
          <a:bodyPr>
            <a:spAutoFit/>
          </a:bodyPr>
          <a:lstStyle/>
          <a:p>
            <a:pPr algn="l" rtl="0"/>
            <a:r>
              <a:rPr lang="en-US" dirty="0">
                <a:solidFill>
                  <a:srgbClr val="000000"/>
                </a:solidFill>
                <a:latin typeface="Georgia" panose="02040502050405020303" pitchFamily="18" charset="0"/>
              </a:rPr>
              <a:t>Обратите внимание, что классическая реализация трансформатора использует нормализацию слоя вместо пакетной нормализации.</a:t>
            </a:r>
            <a:endParaRPr lang="ru-RU" dirty="0"/>
          </a:p>
        </p:txBody>
      </p:sp>
      <p:sp>
        <p:nvSpPr>
          <p:cNvPr id="27" name="AutoShape 2" descr="image.png"/>
          <p:cNvSpPr>
            <a:spLocks noChangeAspect="1" noChangeArrowheads="1"/>
          </p:cNvSpPr>
          <p:nvPr/>
        </p:nvSpPr>
        <p:spPr bwMode="auto">
          <a:xfrm>
            <a:off x="2289175" y="1989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9" name="Рисунок 28"/>
          <p:cNvPicPr>
            <a:picLocks noChangeAspect="1"/>
          </p:cNvPicPr>
          <p:nvPr/>
        </p:nvPicPr>
        <p:blipFill rotWithShape="1">
          <a:blip r:embed="rId3"/>
          <a:srcRect r="49746"/>
          <a:stretch/>
        </p:blipFill>
        <p:spPr>
          <a:xfrm>
            <a:off x="6188365" y="4859089"/>
            <a:ext cx="2450810" cy="1381125"/>
          </a:xfrm>
          <a:prstGeom prst="rect">
            <a:avLst/>
          </a:prstGeom>
        </p:spPr>
      </p:pic>
    </p:spTree>
    <p:extLst>
      <p:ext uri="{BB962C8B-B14F-4D97-AF65-F5344CB8AC3E}">
        <p14:creationId xmlns:p14="http://schemas.microsoft.com/office/powerpoint/2010/main" val="18371019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altLang="ru-RU" sz="3200" b="1" dirty="0">
                <a:solidFill>
                  <a:srgbClr val="000000"/>
                </a:solidFill>
              </a:rPr>
              <a:t>Сеть с вниманием. </a:t>
            </a:r>
            <a:r>
              <a:rPr lang="en-US" sz="3200" b="1" dirty="0" err="1"/>
              <a:t>Блок</a:t>
            </a:r>
            <a:r>
              <a:rPr lang="en-US" sz="3200" b="1" dirty="0"/>
              <a:t> </a:t>
            </a:r>
            <a:r>
              <a:rPr lang="en-US" sz="3200" b="1" dirty="0" err="1"/>
              <a:t>трансформатора</a:t>
            </a:r>
            <a:endParaRPr lang="ru-RU" sz="3200" b="1" dirty="0"/>
          </a:p>
        </p:txBody>
      </p:sp>
      <p:sp>
        <p:nvSpPr>
          <p:cNvPr id="3" name="Объект 2"/>
          <p:cNvSpPr>
            <a:spLocks noGrp="1"/>
          </p:cNvSpPr>
          <p:nvPr>
            <p:ph idx="1"/>
          </p:nvPr>
        </p:nvSpPr>
        <p:spPr>
          <a:xfrm>
            <a:off x="92365" y="672058"/>
            <a:ext cx="11832935" cy="6140153"/>
          </a:xfrm>
        </p:spPr>
        <p:txBody>
          <a:bodyPr>
            <a:noAutofit/>
          </a:bodyPr>
          <a:lstStyle/>
          <a:p>
            <a:pPr algn="l" rtl="0"/>
            <a:r>
              <a:rPr lang="en-US" dirty="0"/>
              <a:t>Архитектура блоков преобразования в стеке.</a:t>
            </a:r>
            <a:endParaRPr lang="en-US"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7" name="AutoShape 2" descr="image.png"/>
          <p:cNvSpPr>
            <a:spLocks noChangeAspect="1" noChangeArrowheads="1"/>
          </p:cNvSpPr>
          <p:nvPr/>
        </p:nvSpPr>
        <p:spPr bwMode="auto">
          <a:xfrm>
            <a:off x="2289175" y="1989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30" name="Рисунок 29"/>
          <p:cNvPicPr>
            <a:picLocks noChangeAspect="1"/>
          </p:cNvPicPr>
          <p:nvPr/>
        </p:nvPicPr>
        <p:blipFill>
          <a:blip r:embed="rId2"/>
          <a:stretch>
            <a:fillRect/>
          </a:stretch>
        </p:blipFill>
        <p:spPr>
          <a:xfrm>
            <a:off x="452927" y="1346926"/>
            <a:ext cx="9148559" cy="4565423"/>
          </a:xfrm>
          <a:prstGeom prst="rect">
            <a:avLst/>
          </a:prstGeom>
        </p:spPr>
      </p:pic>
    </p:spTree>
    <p:extLst>
      <p:ext uri="{BB962C8B-B14F-4D97-AF65-F5344CB8AC3E}">
        <p14:creationId xmlns:p14="http://schemas.microsoft.com/office/powerpoint/2010/main" val="28901039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altLang="ru-RU" sz="3200" b="1" dirty="0">
                <a:solidFill>
                  <a:srgbClr val="000000"/>
                </a:solidFill>
              </a:rPr>
              <a:t>Сеть с вниманием. </a:t>
            </a:r>
            <a:r>
              <a:rPr lang="en-US" sz="3200" b="1" dirty="0" err="1"/>
              <a:t>Блок</a:t>
            </a:r>
            <a:r>
              <a:rPr lang="en-US" sz="3200" b="1" dirty="0"/>
              <a:t> </a:t>
            </a:r>
            <a:r>
              <a:rPr lang="en-US" sz="3200" b="1" dirty="0" err="1"/>
              <a:t>трансформатора</a:t>
            </a:r>
            <a:endParaRPr lang="ru-RU" sz="3200" b="1" dirty="0"/>
          </a:p>
        </p:txBody>
      </p:sp>
      <p:sp>
        <p:nvSpPr>
          <p:cNvPr id="3" name="Объект 2"/>
          <p:cNvSpPr>
            <a:spLocks noGrp="1"/>
          </p:cNvSpPr>
          <p:nvPr>
            <p:ph idx="1"/>
          </p:nvPr>
        </p:nvSpPr>
        <p:spPr>
          <a:xfrm>
            <a:off x="92365" y="672058"/>
            <a:ext cx="11832935" cy="6140153"/>
          </a:xfrm>
        </p:spPr>
        <p:txBody>
          <a:bodyPr>
            <a:noAutofit/>
          </a:bodyPr>
          <a:lstStyle/>
          <a:p>
            <a:pPr lvl="0">
              <a:spcBef>
                <a:spcPts val="0"/>
              </a:spcBef>
            </a:pPr>
            <a:r>
              <a:rPr lang="ru-RU" sz="2000" b="1" dirty="0"/>
              <a:t>Преобразователь с позиционным кодированием</a:t>
            </a:r>
            <a:r>
              <a:rPr lang="ru-RU" sz="2000" dirty="0"/>
              <a:t> . Главный недостаток реализации простого преобразователя (FC) в том, что он не может изменить порядок последовательности.</a:t>
            </a:r>
          </a:p>
          <a:p>
            <a:pPr lvl="0">
              <a:spcBef>
                <a:spcPts val="0"/>
              </a:spcBef>
            </a:pPr>
            <a:r>
              <a:rPr lang="ru-RU" sz="2000" dirty="0"/>
              <a:t>Одно из возможных решений - наделить модель определенным порядком - добавить информацию о ее положении к каждому образцу в серии. Мы называем это «информацией», </a:t>
            </a:r>
            <a:r>
              <a:rPr lang="ru-RU" sz="2000" b="1" dirty="0"/>
              <a:t>позиционное кодирование.</a:t>
            </a:r>
            <a:endParaRPr lang="ru-RU" sz="2000" dirty="0"/>
          </a:p>
          <a:p>
            <a:pPr lvl="0">
              <a:spcBef>
                <a:spcPts val="0"/>
              </a:spcBef>
            </a:pPr>
            <a:r>
              <a:rPr lang="ru-RU" sz="2000" u="sng" dirty="0"/>
              <a:t>Чтобы включить информацию о порядке последовательности, в архитектуру преобразователя можно использовать кодирование положения.</a:t>
            </a:r>
            <a:endParaRPr lang="ru-RU" sz="2000" dirty="0"/>
          </a:p>
          <a:p>
            <a:pPr lvl="0">
              <a:spcBef>
                <a:spcPts val="0"/>
              </a:spcBef>
            </a:pPr>
            <a:r>
              <a:rPr lang="ru-RU" sz="2000" dirty="0"/>
              <a:t>Кодирование выполняется путем сопоставления значений временных шагов 𝑡: 𝑡 + 𝜏 с таблицей, которая позволяет получить d-мерный код для каждого временного шага.</a:t>
            </a:r>
          </a:p>
          <a:p>
            <a:pPr lvl="0">
              <a:spcBef>
                <a:spcPts val="0"/>
              </a:spcBef>
            </a:pPr>
            <a:r>
              <a:rPr lang="ru-RU" sz="2000" dirty="0"/>
              <a:t>Позиционное кодирование должно выполняться как во время обучения, так и во время оценки.</a:t>
            </a:r>
          </a:p>
          <a:p>
            <a:pPr lvl="0">
              <a:spcBef>
                <a:spcPts val="0"/>
              </a:spcBef>
            </a:pPr>
            <a:r>
              <a:rPr lang="ru-RU" sz="2000" dirty="0"/>
              <a:t>Позиционное кодирование может быть выполнено как:</a:t>
            </a:r>
          </a:p>
          <a:p>
            <a:pPr lvl="1">
              <a:spcBef>
                <a:spcPts val="0"/>
              </a:spcBef>
            </a:pPr>
            <a:r>
              <a:rPr lang="ru-RU" sz="2000" dirty="0" err="1"/>
              <a:t>рандомизированная</a:t>
            </a:r>
            <a:r>
              <a:rPr lang="ru-RU" sz="2000" dirty="0"/>
              <a:t> кодировка (фиксируется как </a:t>
            </a:r>
            <a:r>
              <a:rPr lang="ru-RU" sz="2000" dirty="0" err="1"/>
              <a:t>гиперпараметр</a:t>
            </a:r>
            <a:r>
              <a:rPr lang="ru-RU" sz="2000" dirty="0"/>
              <a:t>).</a:t>
            </a:r>
          </a:p>
          <a:p>
            <a:pPr lvl="1">
              <a:spcBef>
                <a:spcPts val="0"/>
              </a:spcBef>
            </a:pPr>
            <a:r>
              <a:rPr lang="ru-RU" sz="2000" dirty="0"/>
              <a:t>обученная кодировка (</a:t>
            </a:r>
            <a:r>
              <a:rPr lang="ru-RU" sz="2000" dirty="0" err="1"/>
              <a:t>предобученный</a:t>
            </a:r>
            <a:r>
              <a:rPr lang="ru-RU" sz="2000" dirty="0"/>
              <a:t> </a:t>
            </a:r>
            <a:r>
              <a:rPr lang="ru-RU" sz="2000" dirty="0" err="1"/>
              <a:t>гиперпараметр</a:t>
            </a:r>
            <a:r>
              <a:rPr lang="ru-RU" sz="2000" dirty="0"/>
              <a:t>).</a:t>
            </a:r>
          </a:p>
          <a:p>
            <a:pPr lvl="1">
              <a:spcBef>
                <a:spcPts val="0"/>
              </a:spcBef>
            </a:pPr>
            <a:r>
              <a:rPr lang="ru-RU" sz="2000" dirty="0"/>
              <a:t>фиксированное кодирование функции (в исходном предложении)</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7" name="AutoShape 2" descr="image.png"/>
          <p:cNvSpPr>
            <a:spLocks noChangeAspect="1" noChangeArrowheads="1"/>
          </p:cNvSpPr>
          <p:nvPr/>
        </p:nvSpPr>
        <p:spPr bwMode="auto">
          <a:xfrm>
            <a:off x="2289175" y="1989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3"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5" name="Рисунок 24"/>
          <p:cNvPicPr>
            <a:picLocks noChangeAspect="1"/>
          </p:cNvPicPr>
          <p:nvPr/>
        </p:nvPicPr>
        <p:blipFill>
          <a:blip r:embed="rId2"/>
          <a:stretch>
            <a:fillRect/>
          </a:stretch>
        </p:blipFill>
        <p:spPr>
          <a:xfrm>
            <a:off x="6956633" y="4635782"/>
            <a:ext cx="4038600" cy="1876425"/>
          </a:xfrm>
          <a:prstGeom prst="rect">
            <a:avLst/>
          </a:prstGeom>
        </p:spPr>
      </p:pic>
    </p:spTree>
    <p:extLst>
      <p:ext uri="{BB962C8B-B14F-4D97-AF65-F5344CB8AC3E}">
        <p14:creationId xmlns:p14="http://schemas.microsoft.com/office/powerpoint/2010/main" val="31879399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altLang="ru-RU" sz="3200" b="1" dirty="0">
                <a:solidFill>
                  <a:srgbClr val="000000"/>
                </a:solidFill>
              </a:rPr>
              <a:t>Сеть с вниманием. </a:t>
            </a:r>
            <a:r>
              <a:rPr lang="en-US" sz="3200" b="1" dirty="0" err="1"/>
              <a:t>Блок</a:t>
            </a:r>
            <a:r>
              <a:rPr lang="en-US" sz="3200" b="1" dirty="0"/>
              <a:t> </a:t>
            </a:r>
            <a:r>
              <a:rPr lang="en-US" sz="3200" b="1" dirty="0" err="1"/>
              <a:t>трансформатора</a:t>
            </a:r>
            <a:endParaRPr lang="ru-RU" sz="3200" b="1"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87166" y="692112"/>
                <a:ext cx="11832935" cy="6140153"/>
              </a:xfrm>
            </p:spPr>
            <p:txBody>
              <a:bodyPr>
                <a:noAutofit/>
              </a:bodyPr>
              <a:lstStyle/>
              <a:p>
                <a:pPr lvl="1" algn="l" rtl="0" eaLnBrk="0" fontAlgn="base" hangingPunct="0">
                  <a:lnSpc>
                    <a:spcPct val="100000"/>
                  </a:lnSpc>
                  <a:spcBef>
                    <a:spcPct val="0"/>
                  </a:spcBef>
                  <a:spcAft>
                    <a:spcPct val="0"/>
                  </a:spcAft>
                </a:pPr>
                <a:r>
                  <a:rPr lang="en-US" sz="2000" u="sng" dirty="0"/>
                  <a:t>В первоначально предложенное представление позиции </a:t>
                </a:r>
                <a:br>
                  <a:rPr lang="en-US" sz="2000" u="sng" dirty="0"/>
                </a:br>
                <a:r>
                  <a:rPr lang="en-US" sz="2000" u="sng" dirty="0"/>
                  <a:t>кодирование</a:t>
                </a:r>
              </a:p>
              <a:p>
                <a:pPr marL="457200" lvl="1" indent="0" algn="l" rtl="0" eaLnBrk="0" fontAlgn="base" hangingPunct="0">
                  <a:lnSpc>
                    <a:spcPct val="100000"/>
                  </a:lnSpc>
                  <a:spcBef>
                    <a:spcPct val="0"/>
                  </a:spcBef>
                  <a:spcAft>
                    <a:spcPct val="0"/>
                  </a:spcAft>
                  <a:buNone/>
                </a:pPr>
                <a14:m>
                  <m:oMathPara xmlns:m="http://schemas.openxmlformats.org/officeDocument/2006/math">
                    <m:oMathParaPr>
                      <m:jc m:val="left"/>
                    </m:oMathParaPr>
                    <m:oMath xmlns:m="http://schemas.openxmlformats.org/officeDocument/2006/math">
                      <m:r>
                        <a:rPr lang="en-US" sz="2000" b="0" i="0" smtClean="0">
                          <a:latin typeface="Cambria Math" panose="02040503050406030204" pitchFamily="18" charset="0"/>
                        </a:rPr>
                        <m:t> </m:t>
                      </m:r>
                      <m:acc>
                        <m:accPr>
                          <m:chr m:val="⃗"/>
                          <m:ctrlPr>
                            <a:rPr lang="ru-RU" sz="2000" i="1">
                              <a:latin typeface="Cambria Math" panose="02040503050406030204" pitchFamily="18" charset="0"/>
                            </a:rPr>
                          </m:ctrlPr>
                        </m:accPr>
                        <m:e>
                          <m:sSub>
                            <m:sSubPr>
                              <m:ctrlPr>
                                <a:rPr lang="ru-RU"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𝑡</m:t>
                              </m:r>
                            </m:sub>
                          </m:sSub>
                        </m:e>
                      </m:acc>
                      <m:r>
                        <a:rPr lang="en-US" sz="2000" i="1">
                          <a:latin typeface="Cambria Math" panose="02040503050406030204" pitchFamily="18" charset="0"/>
                        </a:rPr>
                        <m:t>=</m:t>
                      </m:r>
                      <m:sSub>
                        <m:sSubPr>
                          <m:ctrlPr>
                            <a:rPr lang="ru-RU" sz="2000" i="1">
                              <a:latin typeface="Cambria Math" panose="02040503050406030204" pitchFamily="18" charset="0"/>
                            </a:rPr>
                          </m:ctrlPr>
                        </m:sSubPr>
                        <m:e>
                          <m:d>
                            <m:dPr>
                              <m:begChr m:val="["/>
                              <m:endChr m:val="]"/>
                              <m:ctrlPr>
                                <a:rPr lang="ru-RU" sz="2000" i="1">
                                  <a:latin typeface="Cambria Math" panose="02040503050406030204" pitchFamily="18" charset="0"/>
                                </a:rPr>
                              </m:ctrlPr>
                            </m:dPr>
                            <m:e>
                              <m:m>
                                <m:mPr>
                                  <m:plcHide m:val="on"/>
                                  <m:mcs>
                                    <m:mc>
                                      <m:mcPr>
                                        <m:count m:val="1"/>
                                        <m:mcJc m:val="center"/>
                                      </m:mcPr>
                                    </m:mc>
                                  </m:mcs>
                                  <m:ctrlPr>
                                    <a:rPr lang="ru-RU" sz="2000" i="1">
                                      <a:latin typeface="Cambria Math" panose="02040503050406030204" pitchFamily="18" charset="0"/>
                                    </a:rPr>
                                  </m:ctrlPr>
                                </m:mPr>
                                <m:mr>
                                  <m:e>
                                    <m:r>
                                      <m:rPr>
                                        <m:nor/>
                                      </m:rPr>
                                      <a:rPr lang="en-US" sz="2000"/>
                                      <m:t>sin</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e>
                                </m:mr>
                                <m:mr>
                                  <m:e>
                                    <m:r>
                                      <m:rPr>
                                        <m:nor/>
                                      </m:rPr>
                                      <a:rPr lang="en-US" sz="2000"/>
                                      <m:t>cos</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e>
                                </m:mr>
                                <m:mr>
                                  <m:e/>
                                </m:mr>
                                <m:mr>
                                  <m:e>
                                    <m:r>
                                      <m:rPr>
                                        <m:nor/>
                                      </m:rPr>
                                      <a:rPr lang="en-US" sz="2000"/>
                                      <m:t>sin</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e>
                                </m:mr>
                                <m:mr>
                                  <m:e>
                                    <m:r>
                                      <m:rPr>
                                        <m:nor/>
                                      </m:rPr>
                                      <a:rPr lang="en-US" sz="2000"/>
                                      <m:t>cos</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e>
                                </m:mr>
                                <m:mr>
                                  <m:e/>
                                </m:mr>
                                <m:mr>
                                  <m:e>
                                    <m:r>
                                      <a:rPr lang="en-US" sz="2000" i="1">
                                        <a:latin typeface="Cambria Math" panose="02040503050406030204" pitchFamily="18" charset="0"/>
                                      </a:rPr>
                                      <m:t>⋮</m:t>
                                    </m:r>
                                  </m:e>
                                </m:mr>
                                <m:mr>
                                  <m:e/>
                                </m:mr>
                                <m:mr>
                                  <m:e>
                                    <m:r>
                                      <m:rPr>
                                        <m:nor/>
                                      </m:rPr>
                                      <a:rPr lang="en-US" sz="2000"/>
                                      <m:t>sin</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𝑑</m:t>
                                        </m:r>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e>
                                </m:mr>
                                <m:mr>
                                  <m:e>
                                    <m:r>
                                      <m:rPr>
                                        <m:nor/>
                                      </m:rPr>
                                      <a:rPr lang="en-US" sz="2000"/>
                                      <m:t>cos</m:t>
                                    </m:r>
                                    <m:r>
                                      <a:rPr lang="en-US" sz="2000" i="1">
                                        <a:latin typeface="Cambria Math" panose="02040503050406030204" pitchFamily="18" charset="0"/>
                                      </a:rPr>
                                      <m:t>(</m:t>
                                    </m:r>
                                    <m:sSub>
                                      <m:sSubPr>
                                        <m:ctrlPr>
                                          <a:rPr lang="ru-RU" sz="2000" i="1">
                                            <a:latin typeface="Cambria Math" panose="02040503050406030204" pitchFamily="18" charset="0"/>
                                          </a:rPr>
                                        </m:ctrlPr>
                                      </m:sSubPr>
                                      <m:e>
                                        <m:r>
                                          <a:rPr lang="en-US" sz="2000" i="1">
                                            <a:latin typeface="Cambria Math" panose="02040503050406030204" pitchFamily="18" charset="0"/>
                                          </a:rPr>
                                          <m:t>𝜔</m:t>
                                        </m:r>
                                      </m:e>
                                      <m:sub>
                                        <m:r>
                                          <a:rPr lang="en-US" sz="2000" i="1">
                                            <a:latin typeface="Cambria Math" panose="02040503050406030204" pitchFamily="18" charset="0"/>
                                          </a:rPr>
                                          <m:t>𝑑</m:t>
                                        </m:r>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e>
                                </m:mr>
                              </m:m>
                            </m:e>
                          </m:d>
                        </m:e>
                        <m:sub>
                          <m:r>
                            <a:rPr lang="en-US" sz="2000" i="1">
                              <a:latin typeface="Cambria Math" panose="02040503050406030204" pitchFamily="18" charset="0"/>
                            </a:rPr>
                            <m:t>𝑑</m:t>
                          </m:r>
                          <m:r>
                            <a:rPr lang="en-US" sz="2000" i="1">
                              <a:latin typeface="Cambria Math" panose="02040503050406030204" pitchFamily="18" charset="0"/>
                            </a:rPr>
                            <m:t>×1</m:t>
                          </m:r>
                        </m:sub>
                      </m:sSub>
                    </m:oMath>
                  </m:oMathPara>
                </a14:m>
                <a:endParaRPr lang="ru-RU" sz="2000" dirty="0"/>
              </a:p>
              <a:p>
                <a:pPr algn="l" rtl="0"/>
                <a:endParaRPr lang="ru-RU" sz="2000" dirty="0"/>
              </a:p>
              <a:p>
                <a:pPr marL="457200" lvl="1" indent="0" algn="l" rtl="0" eaLnBrk="0" fontAlgn="base" hangingPunct="0">
                  <a:lnSpc>
                    <a:spcPct val="100000"/>
                  </a:lnSpc>
                  <a:spcBef>
                    <a:spcPct val="0"/>
                  </a:spcBef>
                  <a:spcAft>
                    <a:spcPct val="0"/>
                  </a:spcAft>
                  <a:buNone/>
                </a:pPr>
                <a:endParaRPr lang="ru-RU" altLang="ru-RU" sz="20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87166" y="692112"/>
                <a:ext cx="11832935" cy="6140153"/>
              </a:xfrm>
              <a:blipFill>
                <a:blip r:embed="rId2"/>
                <a:stretch>
                  <a:fillRect t="-596"/>
                </a:stretch>
              </a:blipFill>
            </p:spPr>
            <p:txBody>
              <a:bodyPr/>
              <a:lstStyle/>
              <a:p>
                <a:pPr rtl="0" algn="l"/>
                <a:r>
                  <a:rPr lang="ru-RU">
                    <a:noFill/>
                  </a:rPr>
                  <a:t> </a:t>
                </a:r>
              </a:p>
            </p:txBody>
          </p:sp>
        </mc:Fallback>
      </mc:AlternateContent>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7" name="AutoShape 2" descr="image.png"/>
          <p:cNvSpPr>
            <a:spLocks noChangeAspect="1" noChangeArrowheads="1"/>
          </p:cNvSpPr>
          <p:nvPr/>
        </p:nvSpPr>
        <p:spPr bwMode="auto">
          <a:xfrm>
            <a:off x="2289175" y="1989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3"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29" name="Рисунок 28"/>
          <p:cNvPicPr>
            <a:picLocks noChangeAspect="1"/>
          </p:cNvPicPr>
          <p:nvPr/>
        </p:nvPicPr>
        <p:blipFill>
          <a:blip r:embed="rId3"/>
          <a:stretch>
            <a:fillRect/>
          </a:stretch>
        </p:blipFill>
        <p:spPr>
          <a:xfrm>
            <a:off x="4913831" y="3973239"/>
            <a:ext cx="5970395" cy="2884761"/>
          </a:xfrm>
          <a:prstGeom prst="rect">
            <a:avLst/>
          </a:prstGeom>
        </p:spPr>
      </p:pic>
      <mc:AlternateContent xmlns:mc="http://schemas.openxmlformats.org/markup-compatibility/2006" xmlns:a14="http://schemas.microsoft.com/office/drawing/2010/main">
        <mc:Choice Requires="a14">
          <p:sp>
            <p:nvSpPr>
              <p:cNvPr id="30" name="Прямоугольник 29"/>
              <p:cNvSpPr/>
              <p:nvPr/>
            </p:nvSpPr>
            <p:spPr>
              <a:xfrm>
                <a:off x="155575" y="4847410"/>
                <a:ext cx="4689890" cy="1200329"/>
              </a:xfrm>
              <a:prstGeom prst="rect">
                <a:avLst/>
              </a:prstGeom>
            </p:spPr>
            <p:txBody>
              <a:bodyPr wrap="square">
                <a:spAutoFit/>
              </a:bodyPr>
              <a:lstStyle/>
              <a:p>
                <a:pPr algn="l" rtl="0"/>
                <a:r>
                  <a:rPr lang="en-US" dirty="0"/>
                  <a:t>Пример 128-мерного позиционного кодирования для последовательности с максимальной длиной 50. Каждая строка представляет вектор внедрения </a:t>
                </a:r>
                <a14:m>
                  <m:oMath xmlns:m="http://schemas.openxmlformats.org/officeDocument/2006/math">
                    <m:acc>
                      <m:accPr>
                        <m:chr m:val="⃗"/>
                        <m:ctrlPr>
                          <a:rPr lang="ru-RU" i="1">
                            <a:latin typeface="Cambria Math" panose="02040503050406030204" pitchFamily="18" charset="0"/>
                          </a:rPr>
                        </m:ctrlPr>
                      </m:accPr>
                      <m:e>
                        <m:sSub>
                          <m:sSubPr>
                            <m:ctrlPr>
                              <a:rPr lang="ru-RU"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e>
                    </m:acc>
                  </m:oMath>
                </a14:m>
                <a:endParaRPr lang="ru-RU" dirty="0"/>
              </a:p>
            </p:txBody>
          </p:sp>
        </mc:Choice>
        <mc:Fallback xmlns="">
          <p:sp>
            <p:nvSpPr>
              <p:cNvPr id="30" name="Прямоугольник 29"/>
              <p:cNvSpPr>
                <a:spLocks noRot="1" noChangeAspect="1" noMove="1" noResize="1" noEditPoints="1" noAdjustHandles="1" noChangeArrowheads="1" noChangeShapeType="1" noTextEdit="1"/>
              </p:cNvSpPr>
              <p:nvPr/>
            </p:nvSpPr>
            <p:spPr>
              <a:xfrm>
                <a:off x="155575" y="4847410"/>
                <a:ext cx="4689890" cy="1200329"/>
              </a:xfrm>
              <a:prstGeom prst="rect">
                <a:avLst/>
              </a:prstGeom>
              <a:blipFill>
                <a:blip r:embed="rId4"/>
                <a:stretch>
                  <a:fillRect l="-1170" t="-2538" b="-7107"/>
                </a:stretch>
              </a:blipFill>
            </p:spPr>
            <p:txBody>
              <a:bodyPr/>
              <a:lstStyle/>
              <a:p>
                <a:pPr rtl="0" algn="l"/>
                <a:r>
                  <a:rPr lang="ru-RU">
                    <a:noFill/>
                  </a:rPr>
                  <a:t> </a:t>
                </a:r>
              </a:p>
            </p:txBody>
          </p:sp>
        </mc:Fallback>
      </mc:AlternateContent>
      <p:sp>
        <p:nvSpPr>
          <p:cNvPr id="31" name="AutoShape 2" descr="%D0%B8%D0%B7%D0%BE%D0%B1%D1%80%D0%B0%D0%B6%D0%B5%D0%BD%D0%B8%D0%B5.png"/>
          <p:cNvSpPr>
            <a:spLocks noChangeAspect="1" noChangeArrowheads="1"/>
          </p:cNvSpPr>
          <p:nvPr/>
        </p:nvSpPr>
        <p:spPr bwMode="auto">
          <a:xfrm>
            <a:off x="2441575" y="2141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32" name="Рисунок 31"/>
          <p:cNvPicPr>
            <a:picLocks noChangeAspect="1"/>
          </p:cNvPicPr>
          <p:nvPr/>
        </p:nvPicPr>
        <p:blipFill>
          <a:blip r:embed="rId5"/>
          <a:stretch>
            <a:fillRect/>
          </a:stretch>
        </p:blipFill>
        <p:spPr>
          <a:xfrm>
            <a:off x="7650878" y="184666"/>
            <a:ext cx="3501544" cy="3914413"/>
          </a:xfrm>
          <a:prstGeom prst="rect">
            <a:avLst/>
          </a:prstGeom>
        </p:spPr>
      </p:pic>
    </p:spTree>
    <p:extLst>
      <p:ext uri="{BB962C8B-B14F-4D97-AF65-F5344CB8AC3E}">
        <p14:creationId xmlns:p14="http://schemas.microsoft.com/office/powerpoint/2010/main" val="20473732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altLang="ru-RU" sz="3200" b="1" dirty="0">
                <a:solidFill>
                  <a:srgbClr val="000000"/>
                </a:solidFill>
              </a:rPr>
              <a:t>Сеть с вниманием. </a:t>
            </a:r>
            <a:r>
              <a:rPr lang="en-US" sz="3200" b="1" dirty="0" err="1"/>
              <a:t>Блок</a:t>
            </a:r>
            <a:r>
              <a:rPr lang="en-US" sz="3200" b="1" dirty="0"/>
              <a:t> </a:t>
            </a:r>
            <a:r>
              <a:rPr lang="en-US" sz="3200" b="1" dirty="0" err="1"/>
              <a:t>трансформатора</a:t>
            </a:r>
            <a:endParaRPr lang="ru-RU" sz="3200" b="1" dirty="0"/>
          </a:p>
        </p:txBody>
      </p:sp>
      <p:sp>
        <p:nvSpPr>
          <p:cNvPr id="3" name="Объект 2"/>
          <p:cNvSpPr>
            <a:spLocks noGrp="1"/>
          </p:cNvSpPr>
          <p:nvPr>
            <p:ph idx="1"/>
          </p:nvPr>
        </p:nvSpPr>
        <p:spPr>
          <a:xfrm>
            <a:off x="87166" y="692112"/>
            <a:ext cx="11832935" cy="6140153"/>
          </a:xfrm>
        </p:spPr>
        <p:txBody>
          <a:bodyPr>
            <a:noAutofit/>
          </a:bodyPr>
          <a:lstStyle/>
          <a:p>
            <a:endParaRPr lang="ru-RU" sz="2000" dirty="0"/>
          </a:p>
          <a:p>
            <a:pPr lvl="1"/>
            <a:r>
              <a:rPr lang="ru-RU" sz="2000" u="sng" dirty="0"/>
              <a:t>Как показано выше,</a:t>
            </a:r>
            <a:r>
              <a:rPr lang="ru-RU" sz="2000" dirty="0"/>
              <a:t>  извлечение признаков на основе </a:t>
            </a:r>
            <a:r>
              <a:rPr lang="ru-RU" sz="2000" dirty="0" err="1"/>
              <a:t>трансформера</a:t>
            </a:r>
            <a:r>
              <a:rPr lang="ru-RU" sz="2000" dirty="0"/>
              <a:t> временных рядов состоит из встраивания входных данных, выполняемого полностью 1-мерной </a:t>
            </a:r>
            <a:r>
              <a:rPr lang="ru-RU" sz="2000" dirty="0" err="1"/>
              <a:t>сверточной</a:t>
            </a:r>
            <a:r>
              <a:rPr lang="ru-RU" sz="2000" dirty="0"/>
              <a:t> сетью и кодировщиком положения.</a:t>
            </a:r>
          </a:p>
          <a:p>
            <a:pPr lvl="1"/>
            <a:r>
              <a:rPr lang="ru-RU" sz="2000" dirty="0"/>
              <a:t>Причина, по которой кодирование позиций добавляется (вместо конкатенации), связана с высокой размерностью входных данных (N карт - встраивание признаков).</a:t>
            </a:r>
          </a:p>
          <a:p>
            <a:pPr lvl="1"/>
            <a:r>
              <a:rPr lang="ru-RU" sz="2000" b="1" u="sng" dirty="0"/>
              <a:t>Добавив матрицу кодирования позиций, вы получите признаки ортогональными, что означает больше внимание к нескольким головам.</a:t>
            </a:r>
            <a:endParaRPr lang="ru-RU" sz="2000" dirty="0"/>
          </a:p>
          <a:p>
            <a:pPr lvl="1"/>
            <a:r>
              <a:rPr lang="ru-RU" sz="2000" b="1" u="sng" dirty="0"/>
              <a:t>Кодирование позиции добавляет к данным лишь небольшие фрагменты выводов (например, шумы) - ожидается, что это не повлияет на полученную точность.</a:t>
            </a:r>
            <a:endParaRPr lang="ru-RU" sz="2000" dirty="0"/>
          </a:p>
          <a:p>
            <a:r>
              <a:rPr lang="ru-RU" sz="2000" dirty="0"/>
              <a:t>Пример многоголовой сети внимания для классификации временных рядов</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7" name="AutoShape 2" descr="image.png"/>
          <p:cNvSpPr>
            <a:spLocks noChangeAspect="1" noChangeArrowheads="1"/>
          </p:cNvSpPr>
          <p:nvPr/>
        </p:nvSpPr>
        <p:spPr bwMode="auto">
          <a:xfrm>
            <a:off x="2289175" y="1989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3"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31" name="AutoShape 2" descr="%D0%B8%D0%B7%D0%BE%D0%B1%D1%80%D0%B0%D0%B6%D0%B5%D0%BD%D0%B8%D0%B5.png"/>
          <p:cNvSpPr>
            <a:spLocks noChangeAspect="1" noChangeArrowheads="1"/>
          </p:cNvSpPr>
          <p:nvPr/>
        </p:nvSpPr>
        <p:spPr bwMode="auto">
          <a:xfrm>
            <a:off x="2441575" y="2141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32" name="Рисунок 31"/>
          <p:cNvPicPr>
            <a:picLocks noChangeAspect="1"/>
          </p:cNvPicPr>
          <p:nvPr/>
        </p:nvPicPr>
        <p:blipFill>
          <a:blip r:embed="rId2"/>
          <a:stretch>
            <a:fillRect/>
          </a:stretch>
        </p:blipFill>
        <p:spPr>
          <a:xfrm>
            <a:off x="1374775" y="4210216"/>
            <a:ext cx="9730471" cy="1798833"/>
          </a:xfrm>
          <a:prstGeom prst="rect">
            <a:avLst/>
          </a:prstGeom>
        </p:spPr>
      </p:pic>
    </p:spTree>
    <p:extLst>
      <p:ext uri="{BB962C8B-B14F-4D97-AF65-F5344CB8AC3E}">
        <p14:creationId xmlns:p14="http://schemas.microsoft.com/office/powerpoint/2010/main" val="39237245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altLang="ru-RU" sz="3200" b="1" dirty="0">
                <a:solidFill>
                  <a:srgbClr val="000000"/>
                </a:solidFill>
              </a:rPr>
              <a:t>Сеть с вниманием. </a:t>
            </a:r>
            <a:r>
              <a:rPr lang="en-US" sz="3200" b="1" dirty="0" err="1"/>
              <a:t>Блок</a:t>
            </a:r>
            <a:r>
              <a:rPr lang="en-US" sz="3200" b="1" dirty="0"/>
              <a:t> </a:t>
            </a:r>
            <a:r>
              <a:rPr lang="en-US" sz="3200" b="1" dirty="0" err="1"/>
              <a:t>трансформатора</a:t>
            </a:r>
            <a:endParaRPr lang="ru-RU" sz="3200" b="1" dirty="0"/>
          </a:p>
        </p:txBody>
      </p:sp>
      <p:sp>
        <p:nvSpPr>
          <p:cNvPr id="3" name="Объект 2"/>
          <p:cNvSpPr>
            <a:spLocks noGrp="1"/>
          </p:cNvSpPr>
          <p:nvPr>
            <p:ph idx="1"/>
          </p:nvPr>
        </p:nvSpPr>
        <p:spPr>
          <a:xfrm>
            <a:off x="87166" y="692112"/>
            <a:ext cx="11832935" cy="6140153"/>
          </a:xfrm>
        </p:spPr>
        <p:txBody>
          <a:bodyPr>
            <a:noAutofit/>
          </a:bodyPr>
          <a:lstStyle/>
          <a:p>
            <a:pPr lvl="1" algn="l" rtl="0" eaLnBrk="0" fontAlgn="base" hangingPunct="0">
              <a:lnSpc>
                <a:spcPct val="100000"/>
              </a:lnSpc>
              <a:spcBef>
                <a:spcPct val="0"/>
              </a:spcBef>
              <a:spcAft>
                <a:spcPct val="0"/>
              </a:spcAft>
            </a:pPr>
            <a:r>
              <a:rPr lang="en-US" sz="2000" i="1" dirty="0">
                <a:solidFill>
                  <a:srgbClr val="000000"/>
                </a:solidFill>
              </a:rPr>
              <a:t>Примечание. </a:t>
            </a:r>
            <a:r>
              <a:rPr lang="en-US" sz="2000" dirty="0">
                <a:solidFill>
                  <a:srgbClr val="000000"/>
                </a:solidFill>
              </a:rPr>
              <a:t>Блок трансформатора следует отличать от </a:t>
            </a:r>
            <a:r>
              <a:rPr lang="en-US" sz="2000" b="1" dirty="0">
                <a:solidFill>
                  <a:srgbClr val="000000"/>
                </a:solidFill>
              </a:rPr>
              <a:t>модель кодера-декодера трансформатора </a:t>
            </a:r>
            <a:r>
              <a:rPr lang="en-US" sz="2000" dirty="0">
                <a:solidFill>
                  <a:srgbClr val="000000"/>
                </a:solidFill>
              </a:rPr>
              <a:t>Пример модели кодера-декодера преобразователя прогнозирования временных рядов</a:t>
            </a:r>
          </a:p>
          <a:p>
            <a:pPr lvl="1" algn="l" rtl="0" eaLnBrk="0" fontAlgn="base" hangingPunct="0">
              <a:lnSpc>
                <a:spcPct val="100000"/>
              </a:lnSpc>
              <a:spcBef>
                <a:spcPct val="0"/>
              </a:spcBef>
              <a:spcAft>
                <a:spcPct val="0"/>
              </a:spcAft>
            </a:pPr>
            <a:endParaRPr lang="ru-RU" altLang="ru-RU"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7" name="AutoShape 2" descr="image.png"/>
          <p:cNvSpPr>
            <a:spLocks noChangeAspect="1" noChangeArrowheads="1"/>
          </p:cNvSpPr>
          <p:nvPr/>
        </p:nvSpPr>
        <p:spPr bwMode="auto">
          <a:xfrm>
            <a:off x="2289175" y="1989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3"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31" name="AutoShape 2" descr="%D0%B8%D0%B7%D0%BE%D0%B1%D1%80%D0%B0%D0%B6%D0%B5%D0%BD%D0%B8%D0%B5.png"/>
          <p:cNvSpPr>
            <a:spLocks noChangeAspect="1" noChangeArrowheads="1"/>
          </p:cNvSpPr>
          <p:nvPr/>
        </p:nvSpPr>
        <p:spPr bwMode="auto">
          <a:xfrm>
            <a:off x="2441575" y="2141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9" name="Рисунок 28"/>
          <p:cNvPicPr>
            <a:picLocks noChangeAspect="1"/>
          </p:cNvPicPr>
          <p:nvPr/>
        </p:nvPicPr>
        <p:blipFill>
          <a:blip r:embed="rId2"/>
          <a:stretch>
            <a:fillRect/>
          </a:stretch>
        </p:blipFill>
        <p:spPr>
          <a:xfrm>
            <a:off x="188660" y="2433780"/>
            <a:ext cx="6140450" cy="3419423"/>
          </a:xfrm>
          <a:prstGeom prst="rect">
            <a:avLst/>
          </a:prstGeom>
        </p:spPr>
      </p:pic>
      <p:pic>
        <p:nvPicPr>
          <p:cNvPr id="30" name="Рисунок 29"/>
          <p:cNvPicPr>
            <a:picLocks noChangeAspect="1"/>
          </p:cNvPicPr>
          <p:nvPr/>
        </p:nvPicPr>
        <p:blipFill>
          <a:blip r:embed="rId3"/>
          <a:stretch>
            <a:fillRect/>
          </a:stretch>
        </p:blipFill>
        <p:spPr>
          <a:xfrm>
            <a:off x="6949776" y="2873431"/>
            <a:ext cx="4686300" cy="3714750"/>
          </a:xfrm>
          <a:prstGeom prst="rect">
            <a:avLst/>
          </a:prstGeom>
        </p:spPr>
      </p:pic>
      <p:sp>
        <p:nvSpPr>
          <p:cNvPr id="33" name="Прямоугольник 32"/>
          <p:cNvSpPr/>
          <p:nvPr/>
        </p:nvSpPr>
        <p:spPr>
          <a:xfrm>
            <a:off x="5003219" y="1541372"/>
            <a:ext cx="6496631" cy="1477328"/>
          </a:xfrm>
          <a:prstGeom prst="rect">
            <a:avLst/>
          </a:prstGeom>
        </p:spPr>
        <p:txBody>
          <a:bodyPr wrap="square">
            <a:spAutoFit/>
          </a:bodyPr>
          <a:lstStyle/>
          <a:p>
            <a:pPr algn="l" rtl="0"/>
            <a:r>
              <a:rPr lang="en-US" i="1" dirty="0">
                <a:solidFill>
                  <a:srgbClr val="000000"/>
                </a:solidFill>
                <a:latin typeface="Georgia" panose="02040502050405020303" pitchFamily="18" charset="0"/>
              </a:rPr>
              <a:t>Примечание. </a:t>
            </a:r>
            <a:r>
              <a:rPr lang="en-US" dirty="0">
                <a:solidFill>
                  <a:srgbClr val="000000"/>
                </a:solidFill>
                <a:latin typeface="Georgia" panose="02040502050405020303" pitchFamily="18" charset="0"/>
              </a:rPr>
              <a:t>В запрос внимания декодер-кодировщик и ключ получены от кодировщика, а значение - из входных данных декодера.</a:t>
            </a:r>
          </a:p>
          <a:p>
            <a:pPr algn="l" rtl="0"/>
            <a:r>
              <a:rPr lang="en-US" dirty="0">
                <a:solidFill>
                  <a:srgbClr val="000000"/>
                </a:solidFill>
                <a:latin typeface="Georgia" panose="02040502050405020303" pitchFamily="18" charset="0"/>
              </a:rPr>
              <a:t>Пример модели кодировщика-декодера с пакетным преобразователем прогнозирования временных рядов</a:t>
            </a:r>
            <a:endParaRPr lang="en-US" b="0" i="0" dirty="0">
              <a:solidFill>
                <a:srgbClr val="000000"/>
              </a:solidFill>
              <a:effectLst/>
              <a:latin typeface="Georgia" panose="02040502050405020303" pitchFamily="18" charset="0"/>
            </a:endParaRPr>
          </a:p>
        </p:txBody>
      </p:sp>
    </p:spTree>
    <p:extLst>
      <p:ext uri="{BB962C8B-B14F-4D97-AF65-F5344CB8AC3E}">
        <p14:creationId xmlns:p14="http://schemas.microsoft.com/office/powerpoint/2010/main" val="13496452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altLang="ru-RU" sz="3200" b="1" dirty="0">
                <a:solidFill>
                  <a:srgbClr val="000000"/>
                </a:solidFill>
              </a:rPr>
              <a:t>Сеть с вниманием. </a:t>
            </a:r>
            <a:r>
              <a:rPr lang="en-US" sz="3200" b="1" dirty="0" err="1"/>
              <a:t>Блок</a:t>
            </a:r>
            <a:r>
              <a:rPr lang="en-US" sz="3200" b="1" dirty="0"/>
              <a:t> </a:t>
            </a:r>
            <a:r>
              <a:rPr lang="en-US" sz="3200" b="1" dirty="0" err="1"/>
              <a:t>трансформатора</a:t>
            </a:r>
            <a:endParaRPr lang="ru-RU" sz="3200" b="1" dirty="0"/>
          </a:p>
        </p:txBody>
      </p:sp>
      <p:sp>
        <p:nvSpPr>
          <p:cNvPr id="3" name="Объект 2"/>
          <p:cNvSpPr>
            <a:spLocks noGrp="1"/>
          </p:cNvSpPr>
          <p:nvPr>
            <p:ph idx="1"/>
          </p:nvPr>
        </p:nvSpPr>
        <p:spPr>
          <a:xfrm>
            <a:off x="87166" y="692112"/>
            <a:ext cx="11832935" cy="6140153"/>
          </a:xfrm>
        </p:spPr>
        <p:txBody>
          <a:bodyPr>
            <a:noAutofit/>
          </a:bodyPr>
          <a:lstStyle/>
          <a:p>
            <a:pPr lvl="1" algn="l" rtl="0" eaLnBrk="0" fontAlgn="base" hangingPunct="0">
              <a:lnSpc>
                <a:spcPct val="100000"/>
              </a:lnSpc>
              <a:spcBef>
                <a:spcPct val="0"/>
              </a:spcBef>
              <a:spcAft>
                <a:spcPct val="0"/>
              </a:spcAft>
            </a:pPr>
            <a:r>
              <a:rPr lang="en-US" sz="2000" dirty="0"/>
              <a:t>Несколько статей предложили ряд модификаций внимания для временных рядов.</a:t>
            </a:r>
            <a:br>
              <a:rPr lang="en-US" sz="2000" dirty="0"/>
            </a:br>
            <a:r>
              <a:rPr lang="en-US" sz="2000" dirty="0"/>
              <a:t>Один из самых популярных - </a:t>
            </a:r>
            <a:r>
              <a:rPr lang="en-US" sz="2000" b="1" dirty="0"/>
              <a:t>Закрытый линейный блок</a:t>
            </a:r>
            <a:endParaRPr lang="ru-RU" altLang="ru-RU" sz="20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4" name="Rectangle 1"/>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1" name="Rectangle 2"/>
          <p:cNvSpPr>
            <a:spLocks noChangeArrowheads="1"/>
          </p:cNvSpPr>
          <p:nvPr/>
        </p:nvSpPr>
        <p:spPr bwMode="auto">
          <a:xfrm>
            <a:off x="0" y="90100"/>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7" name="AutoShape 2" descr="image.pn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6" name="AutoShape 2" descr="image.pn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AutoShape 4" descr="image.pn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4" name="AutoShape 6" descr="image-4.pn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8" name="AutoShape 2" descr="%D0%B8%D0%B7%D0%BE%D0%B1%D1%80%D0%B0%D0%B6%D0%B5%D0%BD%D0%B8%D0%B5.pn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2"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0" name="Rectangle 1"/>
          <p:cNvSpPr>
            <a:spLocks noChangeArrowheads="1"/>
          </p:cNvSpPr>
          <p:nvPr/>
        </p:nvSpPr>
        <p:spPr bwMode="auto">
          <a:xfrm>
            <a:off x="6003634"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6" name="AutoShape 3" descr="image.png"/>
          <p:cNvSpPr>
            <a:spLocks noChangeAspect="1" noChangeArrowheads="1"/>
          </p:cNvSpPr>
          <p:nvPr/>
        </p:nvSpPr>
        <p:spPr bwMode="auto">
          <a:xfrm>
            <a:off x="2136775" y="1836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8" name="Rectangle 4"/>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27" name="AutoShape 2" descr="image.png"/>
          <p:cNvSpPr>
            <a:spLocks noChangeAspect="1" noChangeArrowheads="1"/>
          </p:cNvSpPr>
          <p:nvPr/>
        </p:nvSpPr>
        <p:spPr bwMode="auto">
          <a:xfrm>
            <a:off x="2289175" y="1989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3" name="Rectangle 1"/>
          <p:cNvSpPr>
            <a:spLocks noChangeArrowheads="1"/>
          </p:cNvSpPr>
          <p:nvPr/>
        </p:nvSpPr>
        <p:spPr bwMode="auto">
          <a:xfrm>
            <a:off x="0" y="-188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31" name="AutoShape 2" descr="%D0%B8%D0%B7%D0%BE%D0%B1%D1%80%D0%B0%D0%B6%D0%B5%D0%BD%D0%B8%D0%B5.png"/>
          <p:cNvSpPr>
            <a:spLocks noChangeAspect="1" noChangeArrowheads="1"/>
          </p:cNvSpPr>
          <p:nvPr/>
        </p:nvSpPr>
        <p:spPr bwMode="auto">
          <a:xfrm>
            <a:off x="2441575" y="2141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5" name="Рисунок 24"/>
          <p:cNvPicPr>
            <a:picLocks noChangeAspect="1"/>
          </p:cNvPicPr>
          <p:nvPr/>
        </p:nvPicPr>
        <p:blipFill>
          <a:blip r:embed="rId2"/>
          <a:stretch>
            <a:fillRect/>
          </a:stretch>
        </p:blipFill>
        <p:spPr>
          <a:xfrm>
            <a:off x="612775" y="1496051"/>
            <a:ext cx="5962650" cy="4000500"/>
          </a:xfrm>
          <a:prstGeom prst="rect">
            <a:avLst/>
          </a:prstGeom>
        </p:spPr>
      </p:pic>
      <p:sp>
        <p:nvSpPr>
          <p:cNvPr id="32" name="Прямоугольник 31"/>
          <p:cNvSpPr/>
          <p:nvPr/>
        </p:nvSpPr>
        <p:spPr>
          <a:xfrm>
            <a:off x="6727825" y="1684337"/>
            <a:ext cx="4823756" cy="369332"/>
          </a:xfrm>
          <a:prstGeom prst="rect">
            <a:avLst/>
          </a:prstGeom>
        </p:spPr>
        <p:txBody>
          <a:bodyPr wrap="none">
            <a:spAutoFit/>
          </a:bodyPr>
          <a:lstStyle/>
          <a:p>
            <a:pPr algn="l" rtl="0"/>
            <a:r>
              <a:rPr lang="en-US" dirty="0">
                <a:solidFill>
                  <a:srgbClr val="000000"/>
                </a:solidFill>
                <a:latin typeface="Georgia" panose="02040502050405020303" pitchFamily="18" charset="0"/>
              </a:rPr>
              <a:t>Другой - блок временного внимания.</a:t>
            </a:r>
            <a:endParaRPr lang="ru-RU" dirty="0"/>
          </a:p>
        </p:txBody>
      </p:sp>
      <p:pic>
        <p:nvPicPr>
          <p:cNvPr id="34" name="Рисунок 33"/>
          <p:cNvPicPr>
            <a:picLocks noChangeAspect="1"/>
          </p:cNvPicPr>
          <p:nvPr/>
        </p:nvPicPr>
        <p:blipFill>
          <a:blip r:embed="rId3"/>
          <a:stretch>
            <a:fillRect/>
          </a:stretch>
        </p:blipFill>
        <p:spPr>
          <a:xfrm>
            <a:off x="6651625" y="2007364"/>
            <a:ext cx="4976156" cy="2077059"/>
          </a:xfrm>
          <a:prstGeom prst="rect">
            <a:avLst/>
          </a:prstGeom>
        </p:spPr>
      </p:pic>
      <p:sp>
        <p:nvSpPr>
          <p:cNvPr id="29" name="Прямоугольник 28"/>
          <p:cNvSpPr/>
          <p:nvPr/>
        </p:nvSpPr>
        <p:spPr>
          <a:xfrm>
            <a:off x="7189143" y="4083888"/>
            <a:ext cx="3320140" cy="646331"/>
          </a:xfrm>
          <a:prstGeom prst="rect">
            <a:avLst/>
          </a:prstGeom>
        </p:spPr>
        <p:txBody>
          <a:bodyPr wrap="none">
            <a:spAutoFit/>
          </a:bodyPr>
          <a:lstStyle/>
          <a:p>
            <a:pPr algn="l" rtl="0"/>
            <a:r>
              <a:rPr lang="en-US" dirty="0">
                <a:solidFill>
                  <a:srgbClr val="000000"/>
                </a:solidFill>
                <a:latin typeface="Georgia" panose="02040502050405020303" pitchFamily="18" charset="0"/>
              </a:rPr>
              <a:t>Блок сжатия и возбуждения </a:t>
            </a:r>
            <a:br>
              <a:rPr lang="en-US" dirty="0">
                <a:solidFill>
                  <a:srgbClr val="000000"/>
                </a:solidFill>
                <a:latin typeface="Georgia" panose="02040502050405020303" pitchFamily="18" charset="0"/>
              </a:rPr>
            </a:br>
            <a:r>
              <a:rPr lang="en-US" dirty="0">
                <a:solidFill>
                  <a:srgbClr val="000000"/>
                </a:solidFill>
                <a:latin typeface="Georgia" panose="02040502050405020303" pitchFamily="18" charset="0"/>
              </a:rPr>
              <a:t>в качестве альтернативное внимание</a:t>
            </a:r>
            <a:endParaRPr lang="ru-RU" dirty="0"/>
          </a:p>
        </p:txBody>
      </p:sp>
      <p:sp>
        <p:nvSpPr>
          <p:cNvPr id="30" name="AutoShape 2" descr="image.png"/>
          <p:cNvSpPr>
            <a:spLocks noChangeAspect="1" noChangeArrowheads="1"/>
          </p:cNvSpPr>
          <p:nvPr/>
        </p:nvSpPr>
        <p:spPr bwMode="auto">
          <a:xfrm>
            <a:off x="2593975" y="2293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33" name="Рисунок 32"/>
          <p:cNvPicPr>
            <a:picLocks noChangeAspect="1"/>
          </p:cNvPicPr>
          <p:nvPr/>
        </p:nvPicPr>
        <p:blipFill>
          <a:blip r:embed="rId4"/>
          <a:stretch>
            <a:fillRect/>
          </a:stretch>
        </p:blipFill>
        <p:spPr>
          <a:xfrm>
            <a:off x="6607122" y="4730219"/>
            <a:ext cx="4944459" cy="1948699"/>
          </a:xfrm>
          <a:prstGeom prst="rect">
            <a:avLst/>
          </a:prstGeom>
        </p:spPr>
      </p:pic>
    </p:spTree>
    <p:extLst>
      <p:ext uri="{BB962C8B-B14F-4D97-AF65-F5344CB8AC3E}">
        <p14:creationId xmlns:p14="http://schemas.microsoft.com/office/powerpoint/2010/main" val="35702449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223" y="365125"/>
            <a:ext cx="11151577" cy="725121"/>
          </a:xfrm>
        </p:spPr>
        <p:txBody>
          <a:bodyPr/>
          <a:lstStyle/>
          <a:p>
            <a:endParaRPr lang="ru-RU" dirty="0"/>
          </a:p>
        </p:txBody>
      </p:sp>
      <p:sp>
        <p:nvSpPr>
          <p:cNvPr id="3" name="Объект 2"/>
          <p:cNvSpPr>
            <a:spLocks noGrp="1"/>
          </p:cNvSpPr>
          <p:nvPr>
            <p:ph idx="1"/>
          </p:nvPr>
        </p:nvSpPr>
        <p:spPr>
          <a:xfrm>
            <a:off x="272562" y="1222131"/>
            <a:ext cx="11081238" cy="4954832"/>
          </a:xfrm>
        </p:spPr>
        <p:txBody>
          <a:bodyPr/>
          <a:lstStyle/>
          <a:p>
            <a:endParaRPr lang="ru-RU" dirty="0"/>
          </a:p>
        </p:txBody>
      </p:sp>
    </p:spTree>
    <p:extLst>
      <p:ext uri="{BB962C8B-B14F-4D97-AF65-F5344CB8AC3E}">
        <p14:creationId xmlns:p14="http://schemas.microsoft.com/office/powerpoint/2010/main" val="20412031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6374" y="365125"/>
            <a:ext cx="11097426" cy="566367"/>
          </a:xfrm>
        </p:spPr>
        <p:txBody>
          <a:bodyPr>
            <a:noAutofit/>
          </a:bodyPr>
          <a:lstStyle/>
          <a:p>
            <a:pPr algn="l" rtl="0">
              <a:lnSpc>
                <a:spcPct val="100000"/>
              </a:lnSpc>
              <a:spcBef>
                <a:spcPts val="0"/>
              </a:spcBef>
            </a:pPr>
            <a:r>
              <a:rPr lang="ru-RU" sz="3200" b="1" dirty="0"/>
              <a:t>Методы машинного обучения на основе моделей</a:t>
            </a:r>
            <a:endParaRPr lang="en-US" sz="3200" b="1" dirty="0"/>
          </a:p>
        </p:txBody>
      </p:sp>
      <p:sp>
        <p:nvSpPr>
          <p:cNvPr id="3" name="Объект 2"/>
          <p:cNvSpPr>
            <a:spLocks noGrp="1"/>
          </p:cNvSpPr>
          <p:nvPr>
            <p:ph idx="1"/>
          </p:nvPr>
        </p:nvSpPr>
        <p:spPr>
          <a:xfrm>
            <a:off x="256374" y="846034"/>
            <a:ext cx="11528276" cy="5503491"/>
          </a:xfrm>
        </p:spPr>
        <p:txBody>
          <a:bodyPr>
            <a:noAutofit/>
          </a:bodyPr>
          <a:lstStyle/>
          <a:p>
            <a:pPr lvl="0">
              <a:lnSpc>
                <a:spcPct val="100000"/>
              </a:lnSpc>
              <a:spcBef>
                <a:spcPts val="600"/>
              </a:spcBef>
            </a:pPr>
            <a:r>
              <a:rPr lang="ru-RU" sz="2000" b="1" dirty="0"/>
              <a:t>непараметрические,</a:t>
            </a:r>
            <a:r>
              <a:rPr lang="ru-RU" sz="2000" dirty="0"/>
              <a:t>  такие как скользящее среднее, </a:t>
            </a:r>
            <a:r>
              <a:rPr lang="ru-RU" sz="2000" dirty="0" err="1"/>
              <a:t>Холта</a:t>
            </a:r>
            <a:r>
              <a:rPr lang="ru-RU" sz="2000" dirty="0"/>
              <a:t>-Винтера, простая регрессия:</a:t>
            </a:r>
          </a:p>
          <a:p>
            <a:pPr lvl="1">
              <a:lnSpc>
                <a:spcPct val="100000"/>
              </a:lnSpc>
              <a:spcBef>
                <a:spcPts val="600"/>
              </a:spcBef>
            </a:pPr>
            <a:r>
              <a:rPr lang="ru-RU" sz="2000" dirty="0"/>
              <a:t>В основе аналитической модели поведения ряда,</a:t>
            </a:r>
          </a:p>
          <a:p>
            <a:pPr lvl="1">
              <a:lnSpc>
                <a:spcPct val="100000"/>
              </a:lnSpc>
              <a:spcBef>
                <a:spcPts val="600"/>
              </a:spcBef>
            </a:pPr>
            <a:r>
              <a:rPr lang="ru-RU" sz="2000" dirty="0"/>
              <a:t>легко обучаться и </a:t>
            </a:r>
            <a:r>
              <a:rPr lang="ru-RU" sz="2000" dirty="0" err="1"/>
              <a:t>дообучаться</a:t>
            </a:r>
            <a:r>
              <a:rPr lang="ru-RU" sz="2000" dirty="0"/>
              <a:t>,</a:t>
            </a:r>
          </a:p>
          <a:p>
            <a:pPr lvl="1">
              <a:lnSpc>
                <a:spcPct val="100000"/>
              </a:lnSpc>
              <a:spcBef>
                <a:spcPts val="600"/>
              </a:spcBef>
            </a:pPr>
            <a:r>
              <a:rPr lang="ru-RU" sz="2000" dirty="0"/>
              <a:t>низкая вероятность переобучения,</a:t>
            </a:r>
          </a:p>
          <a:p>
            <a:pPr lvl="1">
              <a:lnSpc>
                <a:spcPct val="100000"/>
              </a:lnSpc>
              <a:spcBef>
                <a:spcPts val="600"/>
              </a:spcBef>
            </a:pPr>
            <a:r>
              <a:rPr lang="ru-RU" sz="2000" dirty="0"/>
              <a:t>обеспечивают наилучшую точность для сравнительно простых данных </a:t>
            </a:r>
          </a:p>
          <a:p>
            <a:pPr lvl="2">
              <a:lnSpc>
                <a:spcPct val="100000"/>
              </a:lnSpc>
              <a:spcBef>
                <a:spcPts val="600"/>
              </a:spcBef>
            </a:pPr>
            <a:r>
              <a:rPr lang="ru-RU" dirty="0"/>
              <a:t>стационарных с гауссовыми шумами или некоторыми простыми шумами, такими как симметрично распределенные.</a:t>
            </a:r>
          </a:p>
          <a:p>
            <a:pPr lvl="1">
              <a:lnSpc>
                <a:spcPct val="100000"/>
              </a:lnSpc>
              <a:spcBef>
                <a:spcPts val="600"/>
              </a:spcBef>
            </a:pPr>
            <a:r>
              <a:rPr lang="ru-RU" sz="2000" dirty="0"/>
              <a:t>Легко интерпретируется.</a:t>
            </a:r>
          </a:p>
          <a:p>
            <a:pPr lvl="1">
              <a:lnSpc>
                <a:spcPct val="100000"/>
              </a:lnSpc>
              <a:spcBef>
                <a:spcPts val="600"/>
              </a:spcBef>
            </a:pPr>
            <a:r>
              <a:rPr lang="ru-RU" sz="2000" dirty="0"/>
              <a:t>Может иметь аналитическое решение (например, для линейной регрессии).</a:t>
            </a:r>
          </a:p>
          <a:p>
            <a:pPr marL="228600" lvl="1">
              <a:lnSpc>
                <a:spcPct val="100000"/>
              </a:lnSpc>
              <a:spcBef>
                <a:spcPts val="600"/>
              </a:spcBef>
            </a:pPr>
            <a:r>
              <a:rPr lang="ru-RU" sz="2000" b="1" dirty="0"/>
              <a:t>НО</a:t>
            </a:r>
          </a:p>
          <a:p>
            <a:pPr lvl="1">
              <a:lnSpc>
                <a:spcPct val="100000"/>
              </a:lnSpc>
              <a:spcBef>
                <a:spcPts val="600"/>
              </a:spcBef>
            </a:pPr>
            <a:r>
              <a:rPr lang="ru-RU" sz="2000" dirty="0"/>
              <a:t>точность сильно зависит от количества данных для обучения.</a:t>
            </a:r>
          </a:p>
          <a:p>
            <a:pPr lvl="1">
              <a:lnSpc>
                <a:spcPct val="100000"/>
              </a:lnSpc>
              <a:spcBef>
                <a:spcPts val="600"/>
              </a:spcBef>
            </a:pPr>
            <a:r>
              <a:rPr lang="ru-RU" sz="2000" dirty="0"/>
              <a:t>производительность резко снижается, если поведение данных отличается от предполагаемого (формируют предполагаемую статистическую гипотезу).</a:t>
            </a:r>
          </a:p>
          <a:p>
            <a:pPr lvl="1">
              <a:lnSpc>
                <a:spcPct val="100000"/>
              </a:lnSpc>
              <a:spcBef>
                <a:spcPts val="600"/>
              </a:spcBef>
            </a:pPr>
            <a:r>
              <a:rPr lang="ru-RU" sz="2000" dirty="0"/>
              <a:t>Хорошо работает только в одномерном случае.</a:t>
            </a:r>
          </a:p>
          <a:p>
            <a:pPr lvl="1">
              <a:lnSpc>
                <a:spcPct val="100000"/>
              </a:lnSpc>
              <a:spcBef>
                <a:spcPts val="600"/>
              </a:spcBef>
            </a:pPr>
            <a:r>
              <a:rPr lang="ru-RU" sz="2000" dirty="0"/>
              <a:t>Для работы нам нужно знать тип распределения или делать серьезные предположения о нем.</a:t>
            </a:r>
          </a:p>
        </p:txBody>
      </p:sp>
    </p:spTree>
    <p:extLst>
      <p:ext uri="{BB962C8B-B14F-4D97-AF65-F5344CB8AC3E}">
        <p14:creationId xmlns:p14="http://schemas.microsoft.com/office/powerpoint/2010/main" val="34231430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6374" y="365125"/>
            <a:ext cx="11097426" cy="566367"/>
          </a:xfrm>
        </p:spPr>
        <p:txBody>
          <a:bodyPr>
            <a:noAutofit/>
          </a:bodyPr>
          <a:lstStyle/>
          <a:p>
            <a:r>
              <a:rPr lang="ru-RU" sz="3200" b="1" dirty="0"/>
              <a:t>Методы машинного обучения на основе моделей</a:t>
            </a:r>
          </a:p>
        </p:txBody>
      </p:sp>
      <p:sp>
        <p:nvSpPr>
          <p:cNvPr id="3" name="Объект 2"/>
          <p:cNvSpPr>
            <a:spLocks noGrp="1"/>
          </p:cNvSpPr>
          <p:nvPr>
            <p:ph idx="1"/>
          </p:nvPr>
        </p:nvSpPr>
        <p:spPr>
          <a:xfrm>
            <a:off x="256373" y="846034"/>
            <a:ext cx="11835925" cy="5503491"/>
          </a:xfrm>
        </p:spPr>
        <p:txBody>
          <a:bodyPr>
            <a:noAutofit/>
          </a:bodyPr>
          <a:lstStyle/>
          <a:p>
            <a:pPr lvl="0"/>
            <a:r>
              <a:rPr lang="ru-RU" sz="2000" b="1" dirty="0"/>
              <a:t>Параметрические методы,</a:t>
            </a:r>
            <a:r>
              <a:rPr lang="ru-RU" sz="2000" dirty="0"/>
              <a:t>  такие как ARIMA, GARCH, </a:t>
            </a:r>
            <a:r>
              <a:rPr lang="ru-RU" sz="2000" dirty="0" err="1"/>
              <a:t>Prophet</a:t>
            </a:r>
            <a:r>
              <a:rPr lang="ru-RU" sz="2000" dirty="0"/>
              <a:t> и т. д.</a:t>
            </a:r>
          </a:p>
          <a:p>
            <a:pPr lvl="1"/>
            <a:r>
              <a:rPr lang="ru-RU" sz="2000" dirty="0"/>
              <a:t>Строиться на основе аналитико-параметрической модели поведения ряда,</a:t>
            </a:r>
          </a:p>
          <a:p>
            <a:pPr lvl="1"/>
            <a:r>
              <a:rPr lang="ru-RU" sz="2000" dirty="0"/>
              <a:t>прост для понимания и реализации,</a:t>
            </a:r>
          </a:p>
          <a:p>
            <a:pPr lvl="1"/>
            <a:r>
              <a:rPr lang="ru-RU" sz="2000" dirty="0"/>
              <a:t>легко обучаться и </a:t>
            </a:r>
            <a:r>
              <a:rPr lang="ru-RU" sz="2000" dirty="0" err="1"/>
              <a:t>дообучаться</a:t>
            </a:r>
            <a:r>
              <a:rPr lang="ru-RU" sz="2000" dirty="0"/>
              <a:t>,</a:t>
            </a:r>
          </a:p>
          <a:p>
            <a:pPr lvl="1"/>
            <a:r>
              <a:rPr lang="ru-RU" sz="2000" dirty="0"/>
              <a:t>обеспечивают достаточно высокую точность прогноза,</a:t>
            </a:r>
          </a:p>
          <a:p>
            <a:pPr lvl="1"/>
            <a:r>
              <a:rPr lang="ru-RU" sz="2000" dirty="0"/>
              <a:t>лучше работать с одномерными данными,</a:t>
            </a:r>
          </a:p>
          <a:p>
            <a:pPr lvl="1"/>
            <a:r>
              <a:rPr lang="ru-RU" sz="2000" dirty="0"/>
              <a:t>лучше при относительно простых </a:t>
            </a:r>
            <a:r>
              <a:rPr lang="ru-RU" sz="2000" dirty="0" err="1"/>
              <a:t>нестационарностях</a:t>
            </a:r>
            <a:r>
              <a:rPr lang="ru-RU" sz="2000" dirty="0"/>
              <a:t> в </a:t>
            </a:r>
            <a:r>
              <a:rPr lang="ru-RU" sz="2000" dirty="0" err="1"/>
              <a:t>даннных</a:t>
            </a:r>
            <a:r>
              <a:rPr lang="ru-RU" sz="2000" dirty="0"/>
              <a:t>,</a:t>
            </a:r>
          </a:p>
          <a:p>
            <a:pPr lvl="1"/>
            <a:r>
              <a:rPr lang="ru-RU" sz="2000" dirty="0"/>
              <a:t>Легко интерпретируется.</a:t>
            </a:r>
          </a:p>
          <a:p>
            <a:pPr lvl="1"/>
            <a:r>
              <a:rPr lang="ru-RU" sz="2000" dirty="0"/>
              <a:t>Более устойчивый к выбросам в случае хорошо выбранной модели </a:t>
            </a:r>
          </a:p>
          <a:p>
            <a:pPr lvl="1"/>
            <a:r>
              <a:rPr lang="ru-RU" sz="2000" dirty="0"/>
              <a:t>Лучше для небольших наборов данных, чем другие подходы.</a:t>
            </a:r>
          </a:p>
          <a:p>
            <a:pPr marL="342900" lvl="1" indent="-342900"/>
            <a:r>
              <a:rPr lang="ru-RU" sz="2000" b="1" dirty="0"/>
              <a:t>НО</a:t>
            </a:r>
          </a:p>
          <a:p>
            <a:pPr lvl="1"/>
            <a:r>
              <a:rPr lang="ru-RU" sz="2000" dirty="0"/>
              <a:t>точность сильно зависит от количества данных для обучения,</a:t>
            </a:r>
          </a:p>
          <a:p>
            <a:pPr lvl="1"/>
            <a:r>
              <a:rPr lang="ru-RU" sz="2000" dirty="0"/>
              <a:t>точность сильно зависит от выбора значений </a:t>
            </a:r>
            <a:r>
              <a:rPr lang="ru-RU" sz="2000" dirty="0" err="1"/>
              <a:t>гиперпараметров</a:t>
            </a:r>
            <a:r>
              <a:rPr lang="ru-RU" sz="2000" dirty="0"/>
              <a:t> (здесь </a:t>
            </a:r>
            <a:r>
              <a:rPr lang="ru-RU" sz="2000" dirty="0" err="1"/>
              <a:t>гиперпараметры</a:t>
            </a:r>
            <a:r>
              <a:rPr lang="ru-RU" sz="2000" dirty="0"/>
              <a:t> являются аналогом статистической гипотезы в непараметрическом подходе),</a:t>
            </a:r>
          </a:p>
          <a:p>
            <a:pPr lvl="1"/>
            <a:r>
              <a:rPr lang="ru-RU" sz="2000" dirty="0"/>
              <a:t>не может справиться со сложной нелинейной зависимостью между данными,</a:t>
            </a:r>
          </a:p>
          <a:p>
            <a:pPr lvl="1"/>
            <a:r>
              <a:rPr lang="ru-RU" sz="2000" dirty="0"/>
              <a:t>низкая производительность для огромных многомерных нестационарных рядов </a:t>
            </a:r>
            <a:br>
              <a:rPr lang="ru-RU" sz="2000" dirty="0"/>
            </a:br>
            <a:r>
              <a:rPr lang="ru-RU" sz="2000" dirty="0"/>
              <a:t>(особенно в случае данных с различным поведением и т. д.).</a:t>
            </a:r>
          </a:p>
        </p:txBody>
      </p:sp>
    </p:spTree>
    <p:extLst>
      <p:ext uri="{BB962C8B-B14F-4D97-AF65-F5344CB8AC3E}">
        <p14:creationId xmlns:p14="http://schemas.microsoft.com/office/powerpoint/2010/main" val="27618463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6374" y="365125"/>
            <a:ext cx="11097426" cy="566367"/>
          </a:xfrm>
        </p:spPr>
        <p:txBody>
          <a:bodyPr>
            <a:noAutofit/>
          </a:bodyPr>
          <a:lstStyle/>
          <a:p>
            <a:r>
              <a:rPr lang="ru-RU" sz="3200" b="1" dirty="0"/>
              <a:t>Методы машинного обучения на основе данных</a:t>
            </a:r>
          </a:p>
        </p:txBody>
      </p:sp>
      <p:sp>
        <p:nvSpPr>
          <p:cNvPr id="3" name="Объект 2"/>
          <p:cNvSpPr>
            <a:spLocks noGrp="1"/>
          </p:cNvSpPr>
          <p:nvPr>
            <p:ph idx="1"/>
          </p:nvPr>
        </p:nvSpPr>
        <p:spPr>
          <a:xfrm>
            <a:off x="256373" y="846034"/>
            <a:ext cx="11835925" cy="5862415"/>
          </a:xfrm>
        </p:spPr>
        <p:txBody>
          <a:bodyPr>
            <a:noAutofit/>
          </a:bodyPr>
          <a:lstStyle/>
          <a:p>
            <a:pPr lvl="0">
              <a:lnSpc>
                <a:spcPct val="100000"/>
              </a:lnSpc>
            </a:pPr>
            <a:r>
              <a:rPr lang="ru-RU" sz="2200" b="1" dirty="0"/>
              <a:t>Классические модели, управляемые данными (или подход машинного обучения)</a:t>
            </a:r>
            <a:r>
              <a:rPr lang="ru-RU" sz="2200" dirty="0"/>
              <a:t> .</a:t>
            </a:r>
          </a:p>
          <a:p>
            <a:pPr lvl="0">
              <a:lnSpc>
                <a:spcPct val="100000"/>
              </a:lnSpc>
            </a:pPr>
            <a:r>
              <a:rPr lang="ru-RU" sz="2200" dirty="0"/>
              <a:t>Такие методы, как опорные вектора (SV</a:t>
            </a:r>
            <a:r>
              <a:rPr lang="en-US" sz="2200" dirty="0"/>
              <a:t>M</a:t>
            </a:r>
            <a:r>
              <a:rPr lang="ru-RU" sz="2200" dirty="0"/>
              <a:t>), случайный лес, </a:t>
            </a:r>
            <a:r>
              <a:rPr lang="ru-RU" sz="2200" dirty="0" err="1"/>
              <a:t>XGBoost</a:t>
            </a:r>
            <a:r>
              <a:rPr lang="en-US" sz="2200" dirty="0"/>
              <a:t>, TSF, ROCKET, </a:t>
            </a:r>
            <a:r>
              <a:rPr lang="ru-RU" sz="2200" dirty="0"/>
              <a:t>и </a:t>
            </a:r>
            <a:r>
              <a:rPr lang="ru-RU" sz="2200" dirty="0" err="1"/>
              <a:t>тд</a:t>
            </a:r>
            <a:r>
              <a:rPr lang="ru-RU" sz="2200" dirty="0"/>
              <a:t>.</a:t>
            </a:r>
          </a:p>
          <a:p>
            <a:pPr lvl="1">
              <a:lnSpc>
                <a:spcPct val="100000"/>
              </a:lnSpc>
            </a:pPr>
            <a:r>
              <a:rPr lang="ru-RU" sz="2200" dirty="0"/>
              <a:t>Позволяют работать с сильно нелинейными данными.</a:t>
            </a:r>
          </a:p>
          <a:p>
            <a:pPr lvl="1">
              <a:lnSpc>
                <a:spcPct val="100000"/>
              </a:lnSpc>
            </a:pPr>
            <a:r>
              <a:rPr lang="ru-RU" sz="2200" dirty="0"/>
              <a:t>Нет необходимости в статистической гипотезе для модели.</a:t>
            </a:r>
          </a:p>
          <a:p>
            <a:pPr lvl="1">
              <a:lnSpc>
                <a:spcPct val="100000"/>
              </a:lnSpc>
            </a:pPr>
            <a:r>
              <a:rPr lang="ru-RU" sz="2200" dirty="0"/>
              <a:t>Хорошо справляется с нестационарными отношениями между данными.</a:t>
            </a:r>
          </a:p>
          <a:p>
            <a:pPr lvl="1">
              <a:lnSpc>
                <a:spcPct val="100000"/>
              </a:lnSpc>
            </a:pPr>
            <a:r>
              <a:rPr lang="ru-RU" sz="2200" dirty="0"/>
              <a:t>Легко тренировать.</a:t>
            </a:r>
            <a:endParaRPr lang="en-US" sz="2200" dirty="0"/>
          </a:p>
          <a:p>
            <a:pPr lvl="1">
              <a:lnSpc>
                <a:spcPct val="100000"/>
              </a:lnSpc>
            </a:pPr>
            <a:r>
              <a:rPr lang="ru-RU" sz="2200" dirty="0"/>
              <a:t>Иногда но всегда и не полностью результаты интерпретируются.</a:t>
            </a:r>
            <a:endParaRPr lang="en-US" sz="2200" dirty="0"/>
          </a:p>
          <a:p>
            <a:pPr marL="358775" lvl="1">
              <a:lnSpc>
                <a:spcPct val="100000"/>
              </a:lnSpc>
            </a:pPr>
            <a:r>
              <a:rPr lang="ru-RU" sz="2200" b="1" dirty="0"/>
              <a:t>Но</a:t>
            </a:r>
          </a:p>
          <a:p>
            <a:pPr lvl="1">
              <a:lnSpc>
                <a:spcPct val="100000"/>
              </a:lnSpc>
            </a:pPr>
            <a:r>
              <a:rPr lang="ru-RU" sz="2200" dirty="0"/>
              <a:t>Точность сильно зависит от выбора значений </a:t>
            </a:r>
            <a:r>
              <a:rPr lang="ru-RU" sz="2200" dirty="0" err="1"/>
              <a:t>гиперпараметров</a:t>
            </a:r>
            <a:r>
              <a:rPr lang="ru-RU" sz="2200" dirty="0"/>
              <a:t>.</a:t>
            </a:r>
          </a:p>
          <a:p>
            <a:pPr lvl="1">
              <a:lnSpc>
                <a:spcPct val="100000"/>
              </a:lnSpc>
            </a:pPr>
            <a:r>
              <a:rPr lang="ru-RU" sz="2200" dirty="0"/>
              <a:t>Неявная зависимость выбранной модели и данных от результатов прогноза.</a:t>
            </a:r>
          </a:p>
          <a:p>
            <a:pPr lvl="1">
              <a:lnSpc>
                <a:spcPct val="100000"/>
              </a:lnSpc>
            </a:pPr>
            <a:r>
              <a:rPr lang="ru-RU" sz="2200" dirty="0"/>
              <a:t>Точность сильно зависит от сходства между обученными данными и данными вывода.</a:t>
            </a:r>
          </a:p>
          <a:p>
            <a:pPr lvl="1">
              <a:lnSpc>
                <a:spcPct val="100000"/>
              </a:lnSpc>
            </a:pPr>
            <a:r>
              <a:rPr lang="ru-RU" sz="2200" dirty="0"/>
              <a:t>Трудно достичь сопоставимой точности с подходом на основе модели для относительно простых данных.</a:t>
            </a:r>
          </a:p>
          <a:p>
            <a:pPr lvl="1">
              <a:lnSpc>
                <a:spcPct val="100000"/>
              </a:lnSpc>
            </a:pPr>
            <a:r>
              <a:rPr lang="ru-RU" sz="2200" dirty="0"/>
              <a:t>Часто нужно использовать ансамбль методов для достижения приемлемой точности</a:t>
            </a:r>
          </a:p>
          <a:p>
            <a:pPr lvl="1">
              <a:lnSpc>
                <a:spcPct val="100000"/>
              </a:lnSpc>
            </a:pPr>
            <a:r>
              <a:rPr lang="ru-RU" sz="2200" dirty="0"/>
              <a:t>Вычислительная сложность работы значительно выше, чем для модельных подходов</a:t>
            </a:r>
          </a:p>
        </p:txBody>
      </p:sp>
    </p:spTree>
    <p:extLst>
      <p:ext uri="{BB962C8B-B14F-4D97-AF65-F5344CB8AC3E}">
        <p14:creationId xmlns:p14="http://schemas.microsoft.com/office/powerpoint/2010/main" val="8078693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6374" y="365125"/>
            <a:ext cx="11097426" cy="566367"/>
          </a:xfrm>
        </p:spPr>
        <p:txBody>
          <a:bodyPr>
            <a:noAutofit/>
          </a:bodyPr>
          <a:lstStyle/>
          <a:p>
            <a:r>
              <a:rPr lang="ru-RU" sz="3200" b="1" dirty="0"/>
              <a:t>Методы машинного обучения на основе данных</a:t>
            </a:r>
          </a:p>
        </p:txBody>
      </p:sp>
      <p:sp>
        <p:nvSpPr>
          <p:cNvPr id="3" name="Объект 2"/>
          <p:cNvSpPr>
            <a:spLocks noGrp="1"/>
          </p:cNvSpPr>
          <p:nvPr>
            <p:ph idx="1"/>
          </p:nvPr>
        </p:nvSpPr>
        <p:spPr>
          <a:xfrm>
            <a:off x="256373" y="846034"/>
            <a:ext cx="11835925" cy="5245471"/>
          </a:xfrm>
        </p:spPr>
        <p:txBody>
          <a:bodyPr>
            <a:noAutofit/>
          </a:bodyPr>
          <a:lstStyle/>
          <a:p>
            <a:pPr lvl="0"/>
            <a:r>
              <a:rPr lang="ru-RU" sz="2000" b="1" dirty="0"/>
              <a:t>Глубокая нейронная сеть</a:t>
            </a:r>
            <a:r>
              <a:rPr lang="ru-RU" sz="2000" dirty="0"/>
              <a:t> .</a:t>
            </a:r>
          </a:p>
          <a:p>
            <a:pPr marL="685800" lvl="2"/>
            <a:r>
              <a:rPr lang="ru-RU" sz="2200" dirty="0"/>
              <a:t>Нет необходимости в статистической гипотезе или конкретной форме модели.</a:t>
            </a:r>
          </a:p>
          <a:p>
            <a:pPr marL="685800" lvl="2"/>
            <a:r>
              <a:rPr lang="ru-RU" sz="2200" dirty="0"/>
              <a:t>Может аппроксимировать любую функцию с пропущенными данными, аномалиями и другими нерегулярными шаблонами.</a:t>
            </a:r>
          </a:p>
          <a:p>
            <a:pPr marL="685800" lvl="2"/>
            <a:r>
              <a:rPr lang="ru-RU" sz="2200" dirty="0"/>
              <a:t>Позволяют работать с огромными многомерными рядами данных со сложной взаимосвязью поведения между данными.</a:t>
            </a:r>
          </a:p>
          <a:p>
            <a:pPr marL="685800" lvl="2"/>
            <a:r>
              <a:rPr lang="ru-RU" sz="2200" dirty="0"/>
              <a:t>Автоматически извлекают и обрабатывают сложные признаки и отношения между ними.</a:t>
            </a:r>
          </a:p>
          <a:p>
            <a:pPr marL="685800" lvl="2"/>
            <a:r>
              <a:rPr lang="ru-RU" sz="2200" dirty="0"/>
              <a:t>Для сложных и многомерных данных в большом количестве модели, управляемые данными, могут обеспечить лучшую производительность.</a:t>
            </a:r>
          </a:p>
          <a:p>
            <a:pPr marL="228600" lvl="1"/>
            <a:r>
              <a:rPr lang="ru-RU" sz="2000" b="1" dirty="0"/>
              <a:t>НО</a:t>
            </a:r>
          </a:p>
          <a:p>
            <a:pPr marL="685800" lvl="2"/>
            <a:r>
              <a:rPr lang="ru-RU" sz="2200" dirty="0"/>
              <a:t>Требуется тщательная настройка </a:t>
            </a:r>
            <a:r>
              <a:rPr lang="ru-RU" sz="2200" dirty="0" err="1"/>
              <a:t>гиперпараметров</a:t>
            </a:r>
            <a:r>
              <a:rPr lang="ru-RU" sz="2200" dirty="0"/>
              <a:t>.</a:t>
            </a:r>
          </a:p>
          <a:p>
            <a:pPr marL="685800" lvl="2"/>
            <a:r>
              <a:rPr lang="ru-RU" sz="2200" dirty="0"/>
              <a:t>Часто требуется ансамбль сетей для получения высокой точности.</a:t>
            </a:r>
          </a:p>
          <a:p>
            <a:pPr marL="685800" lvl="2"/>
            <a:r>
              <a:rPr lang="ru-RU" sz="2200" dirty="0"/>
              <a:t>Тяжело перетренировать.</a:t>
            </a:r>
          </a:p>
          <a:p>
            <a:pPr marL="685800" lvl="2"/>
            <a:r>
              <a:rPr lang="ru-RU" sz="2200" dirty="0"/>
              <a:t>Трудно достичь сопоставимой точности с подходом на основе модели для относительно простых рядов.</a:t>
            </a:r>
          </a:p>
          <a:p>
            <a:pPr lvl="1"/>
            <a:r>
              <a:rPr lang="ru-RU" sz="2200" dirty="0"/>
              <a:t>Выбор конкретных методов зависит от поставленной задачи.</a:t>
            </a:r>
          </a:p>
          <a:p>
            <a:pPr lvl="1"/>
            <a:r>
              <a:rPr lang="ru-RU" sz="2200" dirty="0"/>
              <a:t>Для простых и одномерных данных работает хуже остальных методов.</a:t>
            </a:r>
          </a:p>
        </p:txBody>
      </p:sp>
    </p:spTree>
    <p:extLst>
      <p:ext uri="{BB962C8B-B14F-4D97-AF65-F5344CB8AC3E}">
        <p14:creationId xmlns:p14="http://schemas.microsoft.com/office/powerpoint/2010/main" val="42845650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rmAutofit fontScale="90000"/>
          </a:bodyPr>
          <a:lstStyle/>
          <a:p>
            <a:pPr algn="l" rtl="0"/>
            <a:r>
              <a:rPr lang="en-US" b="1" dirty="0"/>
              <a:t>Подходы к временным рядам DL</a:t>
            </a:r>
            <a:endParaRPr lang="ru-RU" dirty="0"/>
          </a:p>
        </p:txBody>
      </p:sp>
      <p:sp>
        <p:nvSpPr>
          <p:cNvPr id="3" name="Объект 2"/>
          <p:cNvSpPr>
            <a:spLocks noGrp="1"/>
          </p:cNvSpPr>
          <p:nvPr>
            <p:ph idx="1"/>
          </p:nvPr>
        </p:nvSpPr>
        <p:spPr>
          <a:xfrm>
            <a:off x="367469" y="717846"/>
            <a:ext cx="11374451" cy="6140153"/>
          </a:xfrm>
        </p:spPr>
        <p:txBody>
          <a:bodyPr>
            <a:noAutofit/>
          </a:bodyPr>
          <a:lstStyle/>
          <a:p>
            <a:pPr lvl="0">
              <a:spcBef>
                <a:spcPts val="0"/>
              </a:spcBef>
            </a:pPr>
            <a:r>
              <a:rPr lang="ru-RU" sz="2000" b="1" dirty="0"/>
              <a:t>Один к одному (а)</a:t>
            </a:r>
            <a:r>
              <a:rPr lang="ru-RU" sz="2000" dirty="0"/>
              <a:t> :</a:t>
            </a:r>
          </a:p>
          <a:p>
            <a:pPr lvl="1">
              <a:spcBef>
                <a:spcPts val="0"/>
              </a:spcBef>
            </a:pPr>
            <a:r>
              <a:rPr lang="ru-RU" sz="2000" dirty="0"/>
              <a:t>один вход и один выход. Типичным примером является случай, когда у вас есть полный сегмент (или полный временной ряд) в качестве входных данных, и вы хотите спрогнозировать единственную метку для сегмента.</a:t>
            </a:r>
          </a:p>
          <a:p>
            <a:pPr lvl="0">
              <a:spcBef>
                <a:spcPts val="0"/>
              </a:spcBef>
            </a:pPr>
            <a:r>
              <a:rPr lang="ru-RU" sz="2000" b="1" dirty="0"/>
              <a:t>Один ко многим (б)</a:t>
            </a:r>
            <a:r>
              <a:rPr lang="ru-RU" sz="2000" dirty="0"/>
              <a:t> :</a:t>
            </a:r>
          </a:p>
          <a:p>
            <a:pPr lvl="1">
              <a:spcBef>
                <a:spcPts val="0"/>
              </a:spcBef>
            </a:pPr>
            <a:r>
              <a:rPr lang="ru-RU" sz="2000" dirty="0"/>
              <a:t>полный сегмент (или полный временной ряд) в качестве входных данных и последовательность выходных данных. Типичным примером является входной сегмент и соответствующие ему показатели, параметры или его разложение.</a:t>
            </a:r>
          </a:p>
          <a:p>
            <a:pPr lvl="0">
              <a:spcBef>
                <a:spcPts val="0"/>
              </a:spcBef>
            </a:pPr>
            <a:r>
              <a:rPr lang="ru-RU" sz="2000" b="1" dirty="0"/>
              <a:t>Многие-к-одному (c)</a:t>
            </a:r>
            <a:r>
              <a:rPr lang="ru-RU" sz="2000" dirty="0"/>
              <a:t> :</a:t>
            </a:r>
          </a:p>
          <a:p>
            <a:pPr lvl="1">
              <a:spcBef>
                <a:spcPts val="0"/>
              </a:spcBef>
            </a:pPr>
            <a:r>
              <a:rPr lang="ru-RU" sz="2000" dirty="0"/>
              <a:t>последовательность данных в качестве входных данных, и мы должны предсказать единственный выход. Типичный пример, когда у нас есть входной набор сегментов (или полученный с помощью скользящего окна), и мы хотим предсказать единственный выходной тег (прогноз или метка).</a:t>
            </a:r>
          </a:p>
          <a:p>
            <a:pPr lvl="0">
              <a:spcBef>
                <a:spcPts val="0"/>
              </a:spcBef>
            </a:pPr>
            <a:r>
              <a:rPr lang="ru-RU" sz="2000" b="1" dirty="0"/>
              <a:t>Последовательные многие-ко-многим (d)</a:t>
            </a:r>
            <a:r>
              <a:rPr lang="ru-RU" sz="2000" dirty="0"/>
              <a:t> :</a:t>
            </a:r>
          </a:p>
          <a:p>
            <a:pPr lvl="1">
              <a:spcBef>
                <a:spcPts val="0"/>
              </a:spcBef>
            </a:pPr>
            <a:r>
              <a:rPr lang="ru-RU" sz="2000" dirty="0"/>
              <a:t>вход последовательности и выход последовательности. Например, цены акций за 7 дней в качестве входных данных и цены акций следующих 7 дней в качестве выходных данных.</a:t>
            </a:r>
          </a:p>
          <a:p>
            <a:pPr lvl="0">
              <a:spcBef>
                <a:spcPts val="0"/>
              </a:spcBef>
            </a:pPr>
            <a:r>
              <a:rPr lang="ru-RU" sz="2000" b="1" dirty="0"/>
              <a:t>Синхронные многие-ко-многим (e)</a:t>
            </a:r>
            <a:r>
              <a:rPr lang="ru-RU" sz="2000" dirty="0"/>
              <a:t> :</a:t>
            </a:r>
          </a:p>
          <a:p>
            <a:pPr lvl="1">
              <a:spcBef>
                <a:spcPts val="0"/>
              </a:spcBef>
            </a:pPr>
            <a:r>
              <a:rPr lang="ru-RU" sz="2000" dirty="0"/>
              <a:t>вход последовательности и выход последовательности. Например, обработка видео как проблема временных рядов или любая онлайн-проблема.</a:t>
            </a:r>
          </a:p>
        </p:txBody>
      </p:sp>
    </p:spTree>
    <p:extLst>
      <p:ext uri="{BB962C8B-B14F-4D97-AF65-F5344CB8AC3E}">
        <p14:creationId xmlns:p14="http://schemas.microsoft.com/office/powerpoint/2010/main" val="15523233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rmAutofit fontScale="90000"/>
          </a:bodyPr>
          <a:lstStyle/>
          <a:p>
            <a:pPr algn="l" rtl="0"/>
            <a:r>
              <a:rPr lang="en-US" b="1" dirty="0"/>
              <a:t>Подходы к временным рядам DL</a:t>
            </a:r>
            <a:endParaRPr lang="ru-RU" dirty="0"/>
          </a:p>
        </p:txBody>
      </p:sp>
      <p:sp>
        <p:nvSpPr>
          <p:cNvPr id="3" name="Объект 2"/>
          <p:cNvSpPr>
            <a:spLocks noGrp="1"/>
          </p:cNvSpPr>
          <p:nvPr>
            <p:ph idx="1"/>
          </p:nvPr>
        </p:nvSpPr>
        <p:spPr>
          <a:xfrm>
            <a:off x="367469" y="717846"/>
            <a:ext cx="11374451" cy="6140153"/>
          </a:xfrm>
        </p:spPr>
        <p:txBody>
          <a:bodyPr>
            <a:noAutofit/>
          </a:bodyPr>
          <a:lstStyle/>
          <a:p>
            <a:pPr lvl="0"/>
            <a:r>
              <a:rPr lang="ru-RU" sz="2000" u="sng" dirty="0"/>
              <a:t>Самый универсальный подход глубокого обучения к анализу временных рядов - это многие ко многим </a:t>
            </a:r>
            <a:r>
              <a:rPr lang="ru-RU" sz="2000" dirty="0"/>
              <a:t> (или  </a:t>
            </a:r>
            <a:r>
              <a:rPr lang="ru-RU" sz="2000" b="1" dirty="0"/>
              <a:t>Sequence2Sequence, Seq2Seq</a:t>
            </a:r>
            <a:r>
              <a:rPr lang="ru-RU" sz="2000" dirty="0"/>
              <a:t> ).</a:t>
            </a:r>
          </a:p>
          <a:p>
            <a:pPr lvl="0"/>
            <a:r>
              <a:rPr lang="ru-RU" sz="2000" b="1" dirty="0"/>
              <a:t>Seq2Seq</a:t>
            </a:r>
            <a:r>
              <a:rPr lang="ru-RU" sz="2000" dirty="0"/>
              <a:t>  подход  </a:t>
            </a:r>
            <a:r>
              <a:rPr lang="ru-RU" sz="2000" u="sng" dirty="0"/>
              <a:t>можно интерпретировать как модель кодера-декодера.</a:t>
            </a:r>
            <a:endParaRPr lang="ru-RU" sz="2000" dirty="0"/>
          </a:p>
          <a:p>
            <a:pPr lvl="0"/>
            <a:r>
              <a:rPr lang="ru-RU" sz="2000" dirty="0"/>
              <a:t>В этом случае кодер используется для суммирования прошлой информации (т. Е. Целей, наблюдаемых входных данных и априори известных входных данных), а декодер - для создания новых прогнозов, классификации, оценки и прочего.</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5" name="Рисунок 4"/>
          <p:cNvPicPr>
            <a:picLocks noChangeAspect="1"/>
          </p:cNvPicPr>
          <p:nvPr/>
        </p:nvPicPr>
        <p:blipFill rotWithShape="1">
          <a:blip r:embed="rId2"/>
          <a:srcRect b="51061"/>
          <a:stretch/>
        </p:blipFill>
        <p:spPr>
          <a:xfrm>
            <a:off x="564348" y="3046981"/>
            <a:ext cx="5584960" cy="3310992"/>
          </a:xfrm>
          <a:prstGeom prst="rect">
            <a:avLst/>
          </a:prstGeom>
        </p:spPr>
      </p:pic>
      <p:pic>
        <p:nvPicPr>
          <p:cNvPr id="7" name="Рисунок 6"/>
          <p:cNvPicPr>
            <a:picLocks noChangeAspect="1"/>
          </p:cNvPicPr>
          <p:nvPr/>
        </p:nvPicPr>
        <p:blipFill rotWithShape="1">
          <a:blip r:embed="rId2"/>
          <a:srcRect t="49793"/>
          <a:stretch/>
        </p:blipFill>
        <p:spPr>
          <a:xfrm>
            <a:off x="6520720" y="3047079"/>
            <a:ext cx="5443717" cy="3310894"/>
          </a:xfrm>
          <a:prstGeom prst="rect">
            <a:avLst/>
          </a:prstGeom>
        </p:spPr>
      </p:pic>
    </p:spTree>
    <p:extLst>
      <p:ext uri="{BB962C8B-B14F-4D97-AF65-F5344CB8AC3E}">
        <p14:creationId xmlns:p14="http://schemas.microsoft.com/office/powerpoint/2010/main" val="5734098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45828"/>
          </a:xfrm>
        </p:spPr>
        <p:txBody>
          <a:bodyPr/>
          <a:lstStyle/>
          <a:p>
            <a:r>
              <a:rPr lang="ru-RU" b="1" dirty="0"/>
              <a:t>Рекуррентные нейронные сети</a:t>
            </a:r>
          </a:p>
        </p:txBody>
      </p:sp>
      <p:sp>
        <p:nvSpPr>
          <p:cNvPr id="3" name="Объект 2"/>
          <p:cNvSpPr>
            <a:spLocks noGrp="1"/>
          </p:cNvSpPr>
          <p:nvPr>
            <p:ph idx="1"/>
          </p:nvPr>
        </p:nvSpPr>
        <p:spPr>
          <a:xfrm>
            <a:off x="538385" y="1102409"/>
            <a:ext cx="10815415" cy="4980552"/>
          </a:xfrm>
        </p:spPr>
        <p:txBody>
          <a:bodyPr>
            <a:normAutofit/>
          </a:bodyPr>
          <a:lstStyle/>
          <a:p>
            <a:pPr>
              <a:lnSpc>
                <a:spcPct val="100000"/>
              </a:lnSpc>
            </a:pPr>
            <a:r>
              <a:rPr lang="ru-RU" sz="2200" dirty="0"/>
              <a:t>Рекуррентные нейронные сети это тип сетей, основанный на </a:t>
            </a:r>
            <a:r>
              <a:rPr lang="ru-RU" sz="2200" dirty="0" err="1"/>
              <a:t>переиспользовании</a:t>
            </a:r>
            <a:r>
              <a:rPr lang="ru-RU" sz="2200" dirty="0"/>
              <a:t> одних и тех же весовых параметров, но изменяющегося вектора состояний для последовательных участков данных . </a:t>
            </a:r>
          </a:p>
          <a:p>
            <a:pPr lvl="1">
              <a:lnSpc>
                <a:spcPct val="100000"/>
              </a:lnSpc>
            </a:pPr>
            <a:r>
              <a:rPr lang="ru-RU" sz="2000" dirty="0"/>
              <a:t>При этом сеть как бы скользит по данным.</a:t>
            </a:r>
          </a:p>
          <a:p>
            <a:pPr lvl="1">
              <a:lnSpc>
                <a:spcPct val="100000"/>
              </a:lnSpc>
            </a:pPr>
            <a:r>
              <a:rPr lang="ru-RU" sz="2000" dirty="0"/>
              <a:t>Вектор состояний – это модель памяти</a:t>
            </a:r>
          </a:p>
          <a:p>
            <a:pPr>
              <a:lnSpc>
                <a:spcPct val="100000"/>
              </a:lnSpc>
            </a:pPr>
            <a:r>
              <a:rPr lang="ru-RU" sz="2200" dirty="0"/>
              <a:t>Отличие рекуррентной сети от обычно полносвязаной в использовании скрытого состояния, которое передается из одной позиции окна в другую. </a:t>
            </a:r>
          </a:p>
          <a:p>
            <a:endParaRPr lang="ru-RU" sz="2200" dirty="0"/>
          </a:p>
        </p:txBody>
      </p:sp>
      <p:pic>
        <p:nvPicPr>
          <p:cNvPr id="1026" name="Picture 2" descr="https://res.cloudinary.com/dyd911kmh/image/upload/v1647442110/image2_ysmal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017" y="3841744"/>
            <a:ext cx="6582785" cy="194731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ime series forecasting | TensorFlow Co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4841" y="3804875"/>
            <a:ext cx="4464704" cy="2797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1261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839832"/>
          </a:xfrm>
        </p:spPr>
        <p:txBody>
          <a:bodyPr/>
          <a:lstStyle/>
          <a:p>
            <a:r>
              <a:rPr lang="ru-RU" b="1" dirty="0"/>
              <a:t>Рекуррентные нейронные сети</a:t>
            </a:r>
          </a:p>
        </p:txBody>
      </p:sp>
      <p:sp>
        <p:nvSpPr>
          <p:cNvPr id="3" name="Объект 2"/>
          <p:cNvSpPr>
            <a:spLocks noGrp="1"/>
          </p:cNvSpPr>
          <p:nvPr>
            <p:ph idx="1"/>
          </p:nvPr>
        </p:nvSpPr>
        <p:spPr>
          <a:xfrm>
            <a:off x="607464" y="1204958"/>
            <a:ext cx="10515600" cy="4351338"/>
          </a:xfrm>
        </p:spPr>
        <p:txBody>
          <a:bodyPr>
            <a:normAutofit/>
          </a:bodyPr>
          <a:lstStyle/>
          <a:p>
            <a:r>
              <a:rPr lang="ru-RU" sz="2100" dirty="0"/>
              <a:t>Другая интерпретация сети – мы движемся окном по временному ряду. </a:t>
            </a:r>
          </a:p>
          <a:p>
            <a:r>
              <a:rPr lang="ru-RU" sz="2100" dirty="0"/>
              <a:t>Но корме результата для каждого положения окна мы сохраняем внутреннее состояние </a:t>
            </a:r>
          </a:p>
          <a:p>
            <a:pPr lvl="1"/>
            <a:r>
              <a:rPr lang="ru-RU" sz="2100" dirty="0"/>
              <a:t>состояние используется в следующем положении окна</a:t>
            </a:r>
          </a:p>
        </p:txBody>
      </p:sp>
      <p:pic>
        <p:nvPicPr>
          <p:cNvPr id="3074" name="Picture 2" descr="https://neerc.ifmo.ru/wiki/images/thumb/1/18/RNN_BPTT.jpg/450px-RNN_BPT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4569" y="2508410"/>
            <a:ext cx="5700045" cy="28246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neerc.ifmo.ru/wiki/images/thumb/a/a6/RNN_BP.jpg/450px-RNN_B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10" y="2361527"/>
            <a:ext cx="3516669" cy="2789892"/>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p:cNvPicPr>
            <a:picLocks noChangeAspect="1"/>
          </p:cNvPicPr>
          <p:nvPr/>
        </p:nvPicPr>
        <p:blipFill>
          <a:blip r:embed="rId4"/>
          <a:stretch>
            <a:fillRect/>
          </a:stretch>
        </p:blipFill>
        <p:spPr>
          <a:xfrm>
            <a:off x="2646114" y="4221016"/>
            <a:ext cx="3814508" cy="2563964"/>
          </a:xfrm>
          <a:prstGeom prst="rect">
            <a:avLst/>
          </a:prstGeom>
        </p:spPr>
      </p:pic>
    </p:spTree>
    <p:extLst>
      <p:ext uri="{BB962C8B-B14F-4D97-AF65-F5344CB8AC3E}">
        <p14:creationId xmlns:p14="http://schemas.microsoft.com/office/powerpoint/2010/main" val="28876428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r>
              <a:rPr lang="ru-RU" dirty="0"/>
              <a:t>Сеть </a:t>
            </a:r>
            <a:r>
              <a:rPr lang="ru-RU" dirty="0" err="1"/>
              <a:t>Джордана</a:t>
            </a:r>
            <a:r>
              <a:rPr lang="ru-RU" dirty="0"/>
              <a:t> или </a:t>
            </a:r>
            <a:r>
              <a:rPr lang="en-US" dirty="0"/>
              <a:t>Simple RNN/Vanilla RNN</a:t>
            </a:r>
            <a:r>
              <a:rPr lang="ru-RU" dirty="0"/>
              <a:t>:</a:t>
            </a:r>
          </a:p>
        </p:txBody>
      </p:sp>
      <p:pic>
        <p:nvPicPr>
          <p:cNvPr id="2050" name="Picture 2" descr="https://stanford.edu/~shervine/teaching/cs-230/illustrations/description-block-rnn-ltr.png?74e25518f882f8758439bcb3637715e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4463" y="1957497"/>
            <a:ext cx="4838971" cy="2419486"/>
          </a:xfrm>
          <a:prstGeom prst="rect">
            <a:avLst/>
          </a:prstGeom>
          <a:noFill/>
          <a:extLst>
            <a:ext uri="{909E8E84-426E-40DD-AFC4-6F175D3DCCD1}">
              <a14:hiddenFill xmlns:a14="http://schemas.microsoft.com/office/drawing/2010/main">
                <a:solidFill>
                  <a:srgbClr val="FFFFFF"/>
                </a:solidFill>
              </a14:hiddenFill>
            </a:ext>
          </a:extLst>
        </p:spPr>
      </p:pic>
      <p:pic>
        <p:nvPicPr>
          <p:cNvPr id="9" name="Рисунок 8"/>
          <p:cNvPicPr>
            <a:picLocks noChangeAspect="1"/>
          </p:cNvPicPr>
          <p:nvPr/>
        </p:nvPicPr>
        <p:blipFill>
          <a:blip r:embed="rId3"/>
          <a:stretch>
            <a:fillRect/>
          </a:stretch>
        </p:blipFill>
        <p:spPr>
          <a:xfrm>
            <a:off x="838200" y="2357615"/>
            <a:ext cx="4162425" cy="809625"/>
          </a:xfrm>
          <a:prstGeom prst="rect">
            <a:avLst/>
          </a:prstGeom>
        </p:spPr>
      </p:pic>
      <p:pic>
        <p:nvPicPr>
          <p:cNvPr id="10" name="Рисунок 9"/>
          <p:cNvPicPr>
            <a:picLocks noChangeAspect="1"/>
          </p:cNvPicPr>
          <p:nvPr/>
        </p:nvPicPr>
        <p:blipFill>
          <a:blip r:embed="rId4"/>
          <a:stretch>
            <a:fillRect/>
          </a:stretch>
        </p:blipFill>
        <p:spPr>
          <a:xfrm>
            <a:off x="847726" y="5259124"/>
            <a:ext cx="4029075" cy="819150"/>
          </a:xfrm>
          <a:prstGeom prst="rect">
            <a:avLst/>
          </a:prstGeom>
        </p:spPr>
      </p:pic>
      <p:pic>
        <p:nvPicPr>
          <p:cNvPr id="2061" name="Picture 13" descr="Illustration of the vanilla recurrent neural network. | Download Scientific  Diagra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4508855"/>
            <a:ext cx="4298113" cy="1838638"/>
          </a:xfrm>
          <a:prstGeom prst="rect">
            <a:avLst/>
          </a:prstGeom>
          <a:noFill/>
          <a:extLst>
            <a:ext uri="{909E8E84-426E-40DD-AFC4-6F175D3DCCD1}">
              <a14:hiddenFill xmlns:a14="http://schemas.microsoft.com/office/drawing/2010/main">
                <a:solidFill>
                  <a:srgbClr val="FFFFFF"/>
                </a:solidFill>
              </a14:hiddenFill>
            </a:ext>
          </a:extLst>
        </p:spPr>
      </p:pic>
      <p:sp>
        <p:nvSpPr>
          <p:cNvPr id="14" name="Заголовок 1"/>
          <p:cNvSpPr>
            <a:spLocks noGrp="1"/>
          </p:cNvSpPr>
          <p:nvPr>
            <p:ph type="title"/>
          </p:nvPr>
        </p:nvSpPr>
        <p:spPr>
          <a:xfrm>
            <a:off x="838200" y="365125"/>
            <a:ext cx="10515600" cy="911225"/>
          </a:xfrm>
        </p:spPr>
        <p:txBody>
          <a:bodyPr/>
          <a:lstStyle/>
          <a:p>
            <a:r>
              <a:rPr lang="ru-RU" b="1" dirty="0"/>
              <a:t>Простая рекуррентная нейронные сети</a:t>
            </a:r>
          </a:p>
        </p:txBody>
      </p:sp>
      <p:sp>
        <p:nvSpPr>
          <p:cNvPr id="15" name="Объект 2"/>
          <p:cNvSpPr txBox="1">
            <a:spLocks/>
          </p:cNvSpPr>
          <p:nvPr/>
        </p:nvSpPr>
        <p:spPr>
          <a:xfrm>
            <a:off x="453149" y="4736659"/>
            <a:ext cx="10515600" cy="626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Может быть и формулировка </a:t>
            </a:r>
            <a:r>
              <a:rPr lang="ru-RU" dirty="0" err="1"/>
              <a:t>Элмана</a:t>
            </a:r>
            <a:endParaRPr lang="ru-RU" dirty="0"/>
          </a:p>
        </p:txBody>
      </p:sp>
    </p:spTree>
    <p:extLst>
      <p:ext uri="{BB962C8B-B14F-4D97-AF65-F5344CB8AC3E}">
        <p14:creationId xmlns:p14="http://schemas.microsoft.com/office/powerpoint/2010/main" val="14430982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b="1" dirty="0"/>
              <a:t>Рекуррентные нейронные сети</a:t>
            </a:r>
            <a:endParaRPr lang="en-US" b="1" dirty="0"/>
          </a:p>
        </p:txBody>
      </p:sp>
      <p:sp>
        <p:nvSpPr>
          <p:cNvPr id="3" name="Объект 2"/>
          <p:cNvSpPr>
            <a:spLocks noGrp="1"/>
          </p:cNvSpPr>
          <p:nvPr>
            <p:ph idx="1"/>
          </p:nvPr>
        </p:nvSpPr>
        <p:spPr>
          <a:xfrm>
            <a:off x="367469" y="717846"/>
            <a:ext cx="11459910" cy="6140153"/>
          </a:xfrm>
        </p:spPr>
        <p:txBody>
          <a:bodyPr>
            <a:noAutofit/>
          </a:bodyPr>
          <a:lstStyle/>
          <a:p>
            <a:pPr lvl="0">
              <a:lnSpc>
                <a:spcPct val="100000"/>
              </a:lnSpc>
              <a:spcBef>
                <a:spcPts val="600"/>
              </a:spcBef>
            </a:pPr>
            <a:r>
              <a:rPr lang="ru-RU" sz="2200" dirty="0"/>
              <a:t>Одна из  </a:t>
            </a:r>
            <a:r>
              <a:rPr lang="ru-RU" sz="2200" b="1" dirty="0"/>
              <a:t>основных проблем простых RNN (</a:t>
            </a:r>
            <a:r>
              <a:rPr lang="ru-RU" sz="2200" b="1" dirty="0" err="1"/>
              <a:t>vanilla</a:t>
            </a:r>
            <a:r>
              <a:rPr lang="ru-RU" sz="2200" b="1" dirty="0"/>
              <a:t> RNN)</a:t>
            </a:r>
            <a:r>
              <a:rPr lang="ru-RU" sz="2200" dirty="0"/>
              <a:t>  - это </a:t>
            </a:r>
            <a:r>
              <a:rPr lang="ru-RU" sz="2200" b="1" dirty="0"/>
              <a:t>взрыв веса (или градиента) и вымывание градиента</a:t>
            </a:r>
            <a:r>
              <a:rPr lang="ru-RU" sz="2200" dirty="0"/>
              <a:t>,</a:t>
            </a:r>
          </a:p>
          <a:p>
            <a:pPr lvl="1">
              <a:lnSpc>
                <a:spcPct val="100000"/>
              </a:lnSpc>
              <a:spcBef>
                <a:spcPts val="600"/>
              </a:spcBef>
            </a:pPr>
            <a:r>
              <a:rPr lang="ru-RU" sz="2200" dirty="0"/>
              <a:t>когда обрабатывается длинная последовательность.</a:t>
            </a:r>
          </a:p>
          <a:p>
            <a:pPr lvl="0">
              <a:lnSpc>
                <a:spcPct val="100000"/>
              </a:lnSpc>
              <a:spcBef>
                <a:spcPts val="600"/>
              </a:spcBef>
            </a:pPr>
            <a:r>
              <a:rPr lang="ru-RU" sz="2200" dirty="0"/>
              <a:t>Таким образом, только некоторая часть серии может быть обработана как вход RNN.</a:t>
            </a:r>
            <a:endParaRPr lang="en-US" sz="2200" dirty="0"/>
          </a:p>
          <a:p>
            <a:pPr lvl="0">
              <a:lnSpc>
                <a:spcPct val="100000"/>
              </a:lnSpc>
              <a:spcBef>
                <a:spcPts val="600"/>
              </a:spcBef>
            </a:pPr>
            <a:r>
              <a:rPr lang="ru-RU" sz="2200" b="1" dirty="0"/>
              <a:t>Решением этой простой проблемы RNN</a:t>
            </a:r>
            <a:r>
              <a:rPr lang="ru-RU" sz="2200" dirty="0"/>
              <a:t>  являются:</a:t>
            </a:r>
          </a:p>
          <a:p>
            <a:pPr lvl="1">
              <a:lnSpc>
                <a:spcPct val="100000"/>
              </a:lnSpc>
              <a:spcBef>
                <a:spcPts val="600"/>
              </a:spcBef>
            </a:pPr>
            <a:r>
              <a:rPr lang="ru-RU" sz="2200" dirty="0"/>
              <a:t>усечение обучение (усеченное обратное распространение).</a:t>
            </a:r>
          </a:p>
          <a:p>
            <a:pPr lvl="2">
              <a:lnSpc>
                <a:spcPct val="100000"/>
              </a:lnSpc>
              <a:spcBef>
                <a:spcPts val="600"/>
              </a:spcBef>
            </a:pPr>
            <a:r>
              <a:rPr lang="ru-RU" dirty="0"/>
              <a:t>двунаправленное обучение (если возможно).</a:t>
            </a:r>
          </a:p>
          <a:p>
            <a:pPr lvl="1">
              <a:lnSpc>
                <a:spcPct val="100000"/>
              </a:lnSpc>
              <a:spcBef>
                <a:spcPts val="600"/>
              </a:spcBef>
            </a:pPr>
            <a:r>
              <a:rPr lang="ru-RU" sz="2200" dirty="0"/>
              <a:t>использование продвинутых </a:t>
            </a:r>
            <a:r>
              <a:rPr lang="en-US" sz="2200" dirty="0"/>
              <a:t> </a:t>
            </a:r>
            <a:r>
              <a:rPr lang="ru-RU" sz="2200" dirty="0"/>
              <a:t>архитектур рекуррентных сетей (LSTM, GRU и др.).</a:t>
            </a:r>
          </a:p>
          <a:p>
            <a:pPr lvl="1">
              <a:lnSpc>
                <a:spcPct val="100000"/>
              </a:lnSpc>
              <a:spcBef>
                <a:spcPts val="600"/>
              </a:spcBef>
            </a:pPr>
            <a:r>
              <a:rPr lang="ru-RU" sz="2200" dirty="0"/>
              <a:t>регуляризация обучения (</a:t>
            </a:r>
            <a:r>
              <a:rPr lang="ru-RU" sz="2200" dirty="0" err="1"/>
              <a:t>батч</a:t>
            </a:r>
            <a:r>
              <a:rPr lang="ru-RU" sz="2200" dirty="0"/>
              <a:t>-норма, L1, L2,ограничение  градиентные (или его нормы), функции активации с </a:t>
            </a:r>
            <a:r>
              <a:rPr lang="ru-RU" sz="2200" dirty="0" err="1"/>
              <a:t>самонормализацией</a:t>
            </a:r>
            <a:r>
              <a:rPr lang="ru-RU" sz="2200" dirty="0"/>
              <a:t> и т. д.).</a:t>
            </a:r>
          </a:p>
          <a:p>
            <a:pPr lvl="0">
              <a:lnSpc>
                <a:spcPct val="120000"/>
              </a:lnSpc>
              <a:spcBef>
                <a:spcPts val="600"/>
              </a:spcBef>
            </a:pPr>
            <a:r>
              <a:rPr lang="ru-RU" altLang="ru-RU" sz="2200" b="1" dirty="0">
                <a:latin typeface="-apple-system"/>
              </a:rPr>
              <a:t>Также отметим, что следствием высокой вероятности переобучения является не возможность сделать рекуррентные сети слишком глубокими. </a:t>
            </a:r>
          </a:p>
          <a:p>
            <a:pPr lvl="1">
              <a:lnSpc>
                <a:spcPct val="120000"/>
              </a:lnSpc>
              <a:spcBef>
                <a:spcPts val="600"/>
              </a:spcBef>
            </a:pPr>
            <a:r>
              <a:rPr lang="ru-RU" altLang="ru-RU" sz="2200" dirty="0">
                <a:latin typeface="-apple-system"/>
              </a:rPr>
              <a:t>Архитектуры, содержащие более 4 двунаправленных слоев это редкость.</a:t>
            </a:r>
            <a:r>
              <a:rPr lang="ru-RU" altLang="ru-RU" sz="2200" dirty="0"/>
              <a:t> </a:t>
            </a:r>
            <a:endParaRPr lang="ru-RU" altLang="ru-RU" sz="2200" dirty="0">
              <a:latin typeface="Arial" panose="020B0604020202020204" pitchFamily="34" charset="0"/>
            </a:endParaRPr>
          </a:p>
          <a:p>
            <a:pPr lvl="0">
              <a:lnSpc>
                <a:spcPct val="100000"/>
              </a:lnSpc>
              <a:spcBef>
                <a:spcPts val="600"/>
              </a:spcBef>
            </a:pPr>
            <a:endParaRPr lang="ru-RU" sz="22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Tree>
    <p:extLst>
      <p:ext uri="{BB962C8B-B14F-4D97-AF65-F5344CB8AC3E}">
        <p14:creationId xmlns:p14="http://schemas.microsoft.com/office/powerpoint/2010/main" val="15812014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b="1" dirty="0"/>
              <a:t>Рекуррентные нейронные сети</a:t>
            </a:r>
            <a:endParaRPr lang="en-US" b="1"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Прямоугольник 9"/>
          <p:cNvSpPr/>
          <p:nvPr/>
        </p:nvSpPr>
        <p:spPr>
          <a:xfrm>
            <a:off x="805019" y="879998"/>
            <a:ext cx="5687776" cy="369332"/>
          </a:xfrm>
          <a:prstGeom prst="rect">
            <a:avLst/>
          </a:prstGeom>
        </p:spPr>
        <p:txBody>
          <a:bodyPr wrap="none">
            <a:spAutoFit/>
          </a:bodyPr>
          <a:lstStyle/>
          <a:p>
            <a:pPr marL="285750" indent="-285750" algn="l" rtl="0">
              <a:buFont typeface="Arial" panose="020B0604020202020204" pitchFamily="34" charset="0"/>
              <a:buChar char="•"/>
            </a:pPr>
            <a:r>
              <a:rPr lang="en-US" dirty="0">
                <a:solidFill>
                  <a:srgbClr val="000000"/>
                </a:solidFill>
                <a:latin typeface="Georgia" panose="02040502050405020303" pitchFamily="18" charset="0"/>
              </a:rPr>
              <a:t>Пример усеченного обратного распространения</a:t>
            </a:r>
            <a:endParaRPr lang="ru-RU" dirty="0"/>
          </a:p>
        </p:txBody>
      </p:sp>
      <p:pic>
        <p:nvPicPr>
          <p:cNvPr id="11" name="Рисунок 10"/>
          <p:cNvPicPr>
            <a:picLocks noChangeAspect="1"/>
          </p:cNvPicPr>
          <p:nvPr/>
        </p:nvPicPr>
        <p:blipFill>
          <a:blip r:embed="rId2"/>
          <a:stretch>
            <a:fillRect/>
          </a:stretch>
        </p:blipFill>
        <p:spPr>
          <a:xfrm>
            <a:off x="307975" y="1418734"/>
            <a:ext cx="5735504" cy="2008425"/>
          </a:xfrm>
          <a:prstGeom prst="rect">
            <a:avLst/>
          </a:prstGeom>
        </p:spPr>
      </p:pic>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9" name="Прямоугольник 18"/>
          <p:cNvSpPr/>
          <p:nvPr/>
        </p:nvSpPr>
        <p:spPr>
          <a:xfrm>
            <a:off x="5067052" y="3537486"/>
            <a:ext cx="4479111" cy="369332"/>
          </a:xfrm>
          <a:prstGeom prst="rect">
            <a:avLst/>
          </a:prstGeom>
        </p:spPr>
        <p:txBody>
          <a:bodyPr wrap="none">
            <a:spAutoFit/>
          </a:bodyPr>
          <a:lstStyle/>
          <a:p>
            <a:pPr marL="285750" indent="-285750" algn="l" rtl="0">
              <a:buFont typeface="Arial" panose="020B0604020202020204" pitchFamily="34" charset="0"/>
              <a:buChar char="•"/>
            </a:pPr>
            <a:r>
              <a:rPr lang="en-US" dirty="0">
                <a:solidFill>
                  <a:srgbClr val="000000"/>
                </a:solidFill>
                <a:latin typeface="Georgia" panose="02040502050405020303" pitchFamily="18" charset="0"/>
              </a:rPr>
              <a:t>Пример двунаправленного обучения</a:t>
            </a:r>
            <a:endParaRPr lang="ru-RU" dirty="0"/>
          </a:p>
        </p:txBody>
      </p:sp>
      <p:pic>
        <p:nvPicPr>
          <p:cNvPr id="20" name="Рисунок 19"/>
          <p:cNvPicPr>
            <a:picLocks noChangeAspect="1"/>
          </p:cNvPicPr>
          <p:nvPr/>
        </p:nvPicPr>
        <p:blipFill>
          <a:blip r:embed="rId3"/>
          <a:stretch>
            <a:fillRect/>
          </a:stretch>
        </p:blipFill>
        <p:spPr>
          <a:xfrm>
            <a:off x="4609852" y="4075955"/>
            <a:ext cx="7251411" cy="2639914"/>
          </a:xfrm>
          <a:prstGeom prst="rect">
            <a:avLst/>
          </a:prstGeom>
        </p:spPr>
      </p:pic>
    </p:spTree>
    <p:extLst>
      <p:ext uri="{BB962C8B-B14F-4D97-AF65-F5344CB8AC3E}">
        <p14:creationId xmlns:p14="http://schemas.microsoft.com/office/powerpoint/2010/main" val="15406616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ru-RU" b="1" dirty="0"/>
              <a:t>Рекуррентные нейронные сети</a:t>
            </a:r>
            <a:endParaRPr lang="en-US" b="1"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7" name="Рисунок 16"/>
          <p:cNvPicPr>
            <a:picLocks noChangeAspect="1"/>
          </p:cNvPicPr>
          <p:nvPr/>
        </p:nvPicPr>
        <p:blipFill>
          <a:blip r:embed="rId2"/>
          <a:stretch>
            <a:fillRect/>
          </a:stretch>
        </p:blipFill>
        <p:spPr>
          <a:xfrm>
            <a:off x="5143500" y="3247782"/>
            <a:ext cx="6794070" cy="2699171"/>
          </a:xfrm>
          <a:prstGeom prst="rect">
            <a:avLst/>
          </a:prstGeom>
        </p:spPr>
      </p:pic>
      <p:sp>
        <p:nvSpPr>
          <p:cNvPr id="18" name="Объект 2"/>
          <p:cNvSpPr>
            <a:spLocks noGrp="1"/>
          </p:cNvSpPr>
          <p:nvPr>
            <p:ph idx="1"/>
          </p:nvPr>
        </p:nvSpPr>
        <p:spPr>
          <a:xfrm>
            <a:off x="6003634" y="2228242"/>
            <a:ext cx="4921541" cy="357763"/>
          </a:xfrm>
        </p:spPr>
        <p:txBody>
          <a:bodyPr>
            <a:noAutofit/>
          </a:bodyPr>
          <a:lstStyle/>
          <a:p>
            <a:pPr algn="l" rtl="0">
              <a:lnSpc>
                <a:spcPct val="100000"/>
              </a:lnSpc>
              <a:spcBef>
                <a:spcPts val="0"/>
              </a:spcBef>
            </a:pPr>
            <a:r>
              <a:rPr lang="en-US" sz="2000" dirty="0"/>
              <a:t>Пример </a:t>
            </a:r>
            <a:r>
              <a:rPr lang="en-US" sz="2000" dirty="0" err="1"/>
              <a:t>расширенного</a:t>
            </a:r>
            <a:r>
              <a:rPr lang="en-US" sz="2000" dirty="0"/>
              <a:t> </a:t>
            </a:r>
            <a:r>
              <a:rPr lang="en-US" sz="2000" dirty="0" err="1"/>
              <a:t>обучения</a:t>
            </a:r>
            <a:r>
              <a:rPr lang="en-US" sz="2000" dirty="0"/>
              <a:t> RNN</a:t>
            </a:r>
          </a:p>
          <a:p>
            <a:pPr algn="l" rtl="0">
              <a:lnSpc>
                <a:spcPct val="100000"/>
              </a:lnSpc>
              <a:spcBef>
                <a:spcPts val="0"/>
              </a:spcBef>
            </a:pPr>
            <a:r>
              <a:rPr lang="ru-RU" sz="2000" dirty="0"/>
              <a:t> </a:t>
            </a:r>
            <a:r>
              <a:rPr lang="en-US" sz="2000" dirty="0"/>
              <a:t>(temporal learning)</a:t>
            </a:r>
            <a:endParaRPr lang="en-US" sz="1600" dirty="0"/>
          </a:p>
        </p:txBody>
      </p:sp>
      <p:pic>
        <p:nvPicPr>
          <p:cNvPr id="12" name="Рисунок 11"/>
          <p:cNvPicPr>
            <a:picLocks noChangeAspect="1"/>
          </p:cNvPicPr>
          <p:nvPr/>
        </p:nvPicPr>
        <p:blipFill>
          <a:blip r:embed="rId3"/>
          <a:stretch>
            <a:fillRect/>
          </a:stretch>
        </p:blipFill>
        <p:spPr>
          <a:xfrm>
            <a:off x="603250" y="1267010"/>
            <a:ext cx="4810125" cy="5289786"/>
          </a:xfrm>
          <a:prstGeom prst="rect">
            <a:avLst/>
          </a:prstGeom>
        </p:spPr>
      </p:pic>
      <p:sp>
        <p:nvSpPr>
          <p:cNvPr id="19" name="Объект 2"/>
          <p:cNvSpPr txBox="1">
            <a:spLocks/>
          </p:cNvSpPr>
          <p:nvPr/>
        </p:nvSpPr>
        <p:spPr>
          <a:xfrm>
            <a:off x="1660234" y="717847"/>
            <a:ext cx="4921541" cy="3577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ru-RU" sz="2000" dirty="0"/>
              <a:t>Глубокая сеть</a:t>
            </a:r>
            <a:endParaRPr lang="en-US" sz="1600" dirty="0"/>
          </a:p>
        </p:txBody>
      </p:sp>
    </p:spTree>
    <p:extLst>
      <p:ext uri="{BB962C8B-B14F-4D97-AF65-F5344CB8AC3E}">
        <p14:creationId xmlns:p14="http://schemas.microsoft.com/office/powerpoint/2010/main" val="14281651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58825"/>
          </a:xfrm>
        </p:spPr>
        <p:txBody>
          <a:bodyPr/>
          <a:lstStyle/>
          <a:p>
            <a:r>
              <a:rPr lang="ru-RU" b="1" dirty="0"/>
              <a:t>Рекуррентные нейронные сети</a:t>
            </a:r>
            <a:endParaRPr lang="ru-RU" dirty="0"/>
          </a:p>
        </p:txBody>
      </p:sp>
      <p:sp>
        <p:nvSpPr>
          <p:cNvPr id="3" name="Объект 2"/>
          <p:cNvSpPr>
            <a:spLocks noGrp="1"/>
          </p:cNvSpPr>
          <p:nvPr>
            <p:ph idx="1"/>
          </p:nvPr>
        </p:nvSpPr>
        <p:spPr>
          <a:xfrm>
            <a:off x="628650" y="1123950"/>
            <a:ext cx="10725150" cy="5476875"/>
          </a:xfrm>
        </p:spPr>
        <p:txBody>
          <a:bodyPr>
            <a:normAutofit/>
          </a:bodyPr>
          <a:lstStyle/>
          <a:p>
            <a:pPr lvl="0">
              <a:lnSpc>
                <a:spcPct val="120000"/>
              </a:lnSpc>
              <a:spcBef>
                <a:spcPts val="600"/>
              </a:spcBef>
            </a:pPr>
            <a:r>
              <a:rPr lang="ru-RU" altLang="ru-RU" sz="2200" dirty="0">
                <a:latin typeface="-apple-system"/>
              </a:rPr>
              <a:t>Недостатком подходов обучения с </a:t>
            </a:r>
            <a:r>
              <a:rPr lang="en-US" altLang="ru-RU" sz="2200" dirty="0">
                <a:latin typeface="-apple-system"/>
              </a:rPr>
              <a:t>RNN </a:t>
            </a:r>
            <a:r>
              <a:rPr lang="ru-RU" altLang="ru-RU" sz="2200" dirty="0">
                <a:latin typeface="-apple-system"/>
              </a:rPr>
              <a:t>является не возможность учета долговременного контекста. </a:t>
            </a:r>
            <a:endParaRPr lang="en-US" altLang="ru-RU" sz="2200" dirty="0">
              <a:latin typeface="-apple-system"/>
            </a:endParaRPr>
          </a:p>
          <a:p>
            <a:pPr lvl="0">
              <a:lnSpc>
                <a:spcPct val="120000"/>
              </a:lnSpc>
              <a:spcBef>
                <a:spcPts val="600"/>
              </a:spcBef>
            </a:pPr>
            <a:r>
              <a:rPr lang="ru-RU" altLang="ru-RU" sz="2200" dirty="0">
                <a:latin typeface="-apple-system"/>
              </a:rPr>
              <a:t>Для решения этой проблемы используются </a:t>
            </a:r>
            <a:r>
              <a:rPr lang="ru-RU" altLang="ru-RU" sz="2200" dirty="0">
                <a:latin typeface="var(--jp-code-font-family)"/>
              </a:rPr>
              <a:t>LSTM</a:t>
            </a:r>
            <a:r>
              <a:rPr lang="ru-RU" altLang="ru-RU" sz="2200" dirty="0">
                <a:latin typeface="-apple-system"/>
              </a:rPr>
              <a:t> и </a:t>
            </a:r>
            <a:r>
              <a:rPr lang="ru-RU" altLang="ru-RU" sz="2200" dirty="0">
                <a:latin typeface="var(--jp-code-font-family)"/>
              </a:rPr>
              <a:t>GRU</a:t>
            </a:r>
            <a:r>
              <a:rPr lang="ru-RU" altLang="ru-RU" sz="2200" dirty="0">
                <a:latin typeface="-apple-system"/>
              </a:rPr>
              <a:t> ячейки, которые имеют учет долговременного контекста. </a:t>
            </a:r>
            <a:endParaRPr lang="en-US" altLang="ru-RU" sz="2200" dirty="0">
              <a:latin typeface="-apple-system"/>
            </a:endParaRPr>
          </a:p>
          <a:p>
            <a:pPr lvl="1">
              <a:lnSpc>
                <a:spcPct val="120000"/>
              </a:lnSpc>
              <a:spcBef>
                <a:spcPts val="600"/>
              </a:spcBef>
            </a:pPr>
            <a:r>
              <a:rPr lang="ru-RU" sz="2200" dirty="0"/>
              <a:t>в литературе можно найти и другие варианты модификаций. </a:t>
            </a:r>
          </a:p>
        </p:txBody>
      </p:sp>
      <p:pic>
        <p:nvPicPr>
          <p:cNvPr id="7" name="Рисунок 6"/>
          <p:cNvPicPr>
            <a:picLocks noChangeAspect="1"/>
          </p:cNvPicPr>
          <p:nvPr/>
        </p:nvPicPr>
        <p:blipFill>
          <a:blip r:embed="rId2"/>
          <a:stretch>
            <a:fillRect/>
          </a:stretch>
        </p:blipFill>
        <p:spPr>
          <a:xfrm>
            <a:off x="1085850" y="3450543"/>
            <a:ext cx="9810750" cy="3257550"/>
          </a:xfrm>
          <a:prstGeom prst="rect">
            <a:avLst/>
          </a:prstGeom>
        </p:spPr>
      </p:pic>
    </p:spTree>
    <p:extLst>
      <p:ext uri="{BB962C8B-B14F-4D97-AF65-F5344CB8AC3E}">
        <p14:creationId xmlns:p14="http://schemas.microsoft.com/office/powerpoint/2010/main" val="40836935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58825"/>
          </a:xfrm>
        </p:spPr>
        <p:txBody>
          <a:bodyPr/>
          <a:lstStyle/>
          <a:p>
            <a:r>
              <a:rPr lang="ru-RU" b="1" dirty="0"/>
              <a:t>Рекуррентные нейронные сети</a:t>
            </a:r>
            <a:endParaRPr lang="ru-RU" dirty="0"/>
          </a:p>
        </p:txBody>
      </p:sp>
      <p:sp>
        <p:nvSpPr>
          <p:cNvPr id="3" name="Объект 2"/>
          <p:cNvSpPr>
            <a:spLocks noGrp="1"/>
          </p:cNvSpPr>
          <p:nvPr>
            <p:ph idx="1"/>
          </p:nvPr>
        </p:nvSpPr>
        <p:spPr>
          <a:xfrm>
            <a:off x="472168" y="996950"/>
            <a:ext cx="10725150" cy="5476875"/>
          </a:xfrm>
        </p:spPr>
        <p:txBody>
          <a:bodyPr>
            <a:normAutofit/>
          </a:bodyPr>
          <a:lstStyle/>
          <a:p>
            <a:pPr eaLnBrk="0" fontAlgn="base" hangingPunct="0">
              <a:lnSpc>
                <a:spcPct val="100000"/>
              </a:lnSpc>
              <a:spcBef>
                <a:spcPct val="0"/>
              </a:spcBef>
              <a:spcAft>
                <a:spcPct val="0"/>
              </a:spcAft>
            </a:pPr>
            <a:r>
              <a:rPr lang="ru-RU" altLang="ru-RU" sz="2200" dirty="0"/>
              <a:t>Особенностью LSTM ячейки является раздельный учет скрытых состояний. </a:t>
            </a:r>
          </a:p>
          <a:p>
            <a:pPr lvl="1" eaLnBrk="0" fontAlgn="base" hangingPunct="0">
              <a:lnSpc>
                <a:spcPct val="100000"/>
              </a:lnSpc>
              <a:spcBef>
                <a:spcPct val="0"/>
              </a:spcBef>
              <a:spcAft>
                <a:spcPct val="0"/>
              </a:spcAft>
            </a:pPr>
            <a:r>
              <a:rPr lang="ru-RU" altLang="ru-RU" sz="2000" dirty="0"/>
              <a:t>Первое соответствует кратковременному контексту (например так мы можем учесть сезонность), </a:t>
            </a:r>
          </a:p>
          <a:p>
            <a:pPr lvl="1" eaLnBrk="0" fontAlgn="base" hangingPunct="0">
              <a:lnSpc>
                <a:spcPct val="100000"/>
              </a:lnSpc>
              <a:spcBef>
                <a:spcPct val="0"/>
              </a:spcBef>
              <a:spcAft>
                <a:spcPct val="0"/>
              </a:spcAft>
            </a:pPr>
            <a:r>
              <a:rPr lang="ru-RU" altLang="ru-RU" sz="2000" dirty="0"/>
              <a:t>а второе состояние учитывает долговременный контекст (так мы сможем учесть тренд).</a:t>
            </a:r>
          </a:p>
          <a:p>
            <a:pPr lvl="1" eaLnBrk="0" fontAlgn="base" hangingPunct="0">
              <a:lnSpc>
                <a:spcPct val="100000"/>
              </a:lnSpc>
              <a:spcBef>
                <a:spcPct val="0"/>
              </a:spcBef>
              <a:spcAft>
                <a:spcPct val="0"/>
              </a:spcAft>
            </a:pPr>
            <a:r>
              <a:rPr lang="ru-RU" altLang="ru-RU" sz="2000" dirty="0"/>
              <a:t>Долговременный контекст – это контекст с долгим затуханием</a:t>
            </a:r>
          </a:p>
          <a:p>
            <a:pPr eaLnBrk="0" fontAlgn="base" hangingPunct="0">
              <a:lnSpc>
                <a:spcPct val="100000"/>
              </a:lnSpc>
              <a:spcBef>
                <a:spcPct val="0"/>
              </a:spcBef>
              <a:spcAft>
                <a:spcPct val="0"/>
              </a:spcAft>
            </a:pPr>
            <a:r>
              <a:rPr lang="ru-RU" altLang="ru-RU" sz="2000" dirty="0"/>
              <a:t> Идея GRU ячейки объединить оба скрытых состояния вместе и передавать их одним параметром. </a:t>
            </a:r>
          </a:p>
          <a:p>
            <a:pPr lvl="1" eaLnBrk="0" fontAlgn="base" hangingPunct="0">
              <a:lnSpc>
                <a:spcPct val="100000"/>
              </a:lnSpc>
              <a:spcBef>
                <a:spcPct val="0"/>
              </a:spcBef>
              <a:spcAft>
                <a:spcPct val="0"/>
              </a:spcAft>
            </a:pPr>
            <a:r>
              <a:rPr lang="ru-RU" altLang="ru-RU" sz="2000" dirty="0"/>
              <a:t>За счет этого общее число параметров будет меньше. </a:t>
            </a:r>
          </a:p>
        </p:txBody>
      </p:sp>
      <p:pic>
        <p:nvPicPr>
          <p:cNvPr id="6146" name="Picture 2" descr="Recurrent Neural Networks - Combination of RNN and CNN - Convolutional  Neural Networks for Image and Video Processing - TUM Wiki"/>
          <p:cNvPicPr>
            <a:picLocks noChangeAspect="1" noChangeArrowheads="1"/>
          </p:cNvPicPr>
          <p:nvPr/>
        </p:nvPicPr>
        <p:blipFill rotWithShape="1">
          <a:blip r:embed="rId2">
            <a:extLst>
              <a:ext uri="{28A0092B-C50C-407E-A947-70E740481C1C}">
                <a14:useLocalDpi xmlns:a14="http://schemas.microsoft.com/office/drawing/2010/main" val="0"/>
              </a:ext>
            </a:extLst>
          </a:blip>
          <a:srcRect t="9443" b="12224"/>
          <a:stretch/>
        </p:blipFill>
        <p:spPr bwMode="auto">
          <a:xfrm>
            <a:off x="832605" y="3974214"/>
            <a:ext cx="5002138" cy="2499611"/>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IJGI | Free Full-Text | Bidirectional Gated Recurrent Unit Neural Network  for Chinese Address Element Segment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2107" y="3735387"/>
            <a:ext cx="4225925" cy="2666175"/>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14" descr="Review: Empirical Evaluation of Gated Recurrent Neural Networks on Sequence  Modeling (GRU) | by Sik-Ho Tsang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16" descr="https://miro.medium.com/v2/resize:fit:875/0*c3WksH9kuFrQy7rz"/>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1573982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en-US" b="1" dirty="0" err="1"/>
              <a:t>Рекуррентные</a:t>
            </a:r>
            <a:r>
              <a:rPr lang="en-US" b="1" dirty="0"/>
              <a:t> нейронные сети. </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7" name="Прямоугольник 16"/>
          <p:cNvSpPr/>
          <p:nvPr/>
        </p:nvSpPr>
        <p:spPr>
          <a:xfrm>
            <a:off x="460375" y="717847"/>
            <a:ext cx="10833931" cy="923330"/>
          </a:xfrm>
          <a:prstGeom prst="rect">
            <a:avLst/>
          </a:prstGeom>
        </p:spPr>
        <p:txBody>
          <a:bodyPr wrap="square">
            <a:spAutoFit/>
          </a:bodyPr>
          <a:lstStyle/>
          <a:p>
            <a:pPr algn="l" rtl="0"/>
            <a:r>
              <a:rPr lang="en-US" b="1" dirty="0">
                <a:solidFill>
                  <a:srgbClr val="000000"/>
                </a:solidFill>
              </a:rPr>
              <a:t>Сети с долгой краткосрочной памятью (LSTM) </a:t>
            </a:r>
            <a:r>
              <a:rPr lang="en-US" dirty="0">
                <a:solidFill>
                  <a:srgbClr val="000000"/>
                </a:solidFill>
              </a:rPr>
              <a:t>были разработаны для устранения ограничений длинной памяти RNN. Это достигается за счет использования состояния ячейки, в котором хранится отдельная долгосрочная и краткосрочная информация, модулируемая через серию вентилей.</a:t>
            </a:r>
            <a:endParaRPr lang="ru-RU" dirty="0"/>
          </a:p>
        </p:txBody>
      </p:sp>
      <p:pic>
        <p:nvPicPr>
          <p:cNvPr id="19" name="Рисунок 18"/>
          <p:cNvPicPr>
            <a:picLocks noChangeAspect="1"/>
          </p:cNvPicPr>
          <p:nvPr/>
        </p:nvPicPr>
        <p:blipFill>
          <a:blip r:embed="rId2"/>
          <a:stretch>
            <a:fillRect/>
          </a:stretch>
        </p:blipFill>
        <p:spPr>
          <a:xfrm>
            <a:off x="817057" y="2111554"/>
            <a:ext cx="10477249" cy="3821114"/>
          </a:xfrm>
          <a:prstGeom prst="rect">
            <a:avLst/>
          </a:prstGeom>
        </p:spPr>
      </p:pic>
      <p:sp>
        <p:nvSpPr>
          <p:cNvPr id="20" name="AutoShape 2" descr="image-2.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Tree>
    <p:extLst>
      <p:ext uri="{BB962C8B-B14F-4D97-AF65-F5344CB8AC3E}">
        <p14:creationId xmlns:p14="http://schemas.microsoft.com/office/powerpoint/2010/main" val="10798653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en-US" b="1" dirty="0" err="1"/>
              <a:t>Рекуррентные</a:t>
            </a:r>
            <a:r>
              <a:rPr lang="en-US" b="1" dirty="0"/>
              <a:t> нейронные сети. </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20" name="AutoShape 2" descr="image-2.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21" name="Рисунок 20"/>
          <p:cNvPicPr>
            <a:picLocks noChangeAspect="1"/>
          </p:cNvPicPr>
          <p:nvPr/>
        </p:nvPicPr>
        <p:blipFill>
          <a:blip r:embed="rId2"/>
          <a:stretch>
            <a:fillRect/>
          </a:stretch>
        </p:blipFill>
        <p:spPr>
          <a:xfrm>
            <a:off x="290221" y="1362756"/>
            <a:ext cx="11426825" cy="3694981"/>
          </a:xfrm>
          <a:prstGeom prst="rect">
            <a:avLst/>
          </a:prstGeom>
        </p:spPr>
      </p:pic>
      <p:sp>
        <p:nvSpPr>
          <p:cNvPr id="22" name="Прямоугольник 21"/>
          <p:cNvSpPr/>
          <p:nvPr/>
        </p:nvSpPr>
        <p:spPr>
          <a:xfrm>
            <a:off x="1069974" y="835099"/>
            <a:ext cx="7515225" cy="369332"/>
          </a:xfrm>
          <a:prstGeom prst="rect">
            <a:avLst/>
          </a:prstGeom>
        </p:spPr>
        <p:txBody>
          <a:bodyPr wrap="square">
            <a:spAutoFit/>
          </a:bodyPr>
          <a:lstStyle/>
          <a:p>
            <a:r>
              <a:rPr lang="en-US" dirty="0"/>
              <a:t>GRU </a:t>
            </a:r>
            <a:r>
              <a:rPr lang="ru-RU" dirty="0"/>
              <a:t>может рассматриваться как альтернатива</a:t>
            </a:r>
            <a:r>
              <a:rPr lang="en-US" dirty="0"/>
              <a:t> </a:t>
            </a:r>
            <a:r>
              <a:rPr lang="ru-RU" dirty="0"/>
              <a:t>для LSTM</a:t>
            </a:r>
          </a:p>
        </p:txBody>
      </p:sp>
      <p:sp>
        <p:nvSpPr>
          <p:cNvPr id="14" name="Прямоугольник 13"/>
          <p:cNvSpPr/>
          <p:nvPr/>
        </p:nvSpPr>
        <p:spPr>
          <a:xfrm>
            <a:off x="1317802" y="5216062"/>
            <a:ext cx="7515225" cy="646331"/>
          </a:xfrm>
          <a:prstGeom prst="rect">
            <a:avLst/>
          </a:prstGeom>
        </p:spPr>
        <p:txBody>
          <a:bodyPr wrap="square">
            <a:spAutoFit/>
          </a:bodyPr>
          <a:lstStyle/>
          <a:p>
            <a:r>
              <a:rPr lang="ru-RU" dirty="0"/>
              <a:t>По сути долговременный контекст передается совместно с кратковременным – среднее время учета контекста</a:t>
            </a:r>
          </a:p>
        </p:txBody>
      </p:sp>
    </p:spTree>
    <p:extLst>
      <p:ext uri="{BB962C8B-B14F-4D97-AF65-F5344CB8AC3E}">
        <p14:creationId xmlns:p14="http://schemas.microsoft.com/office/powerpoint/2010/main" val="35140879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algn="l" rtl="0"/>
            <a:r>
              <a:rPr lang="en-US" sz="4000" b="1" dirty="0"/>
              <a:t>RNN. </a:t>
            </a:r>
            <a:r>
              <a:rPr lang="ru-RU" sz="4000" b="1" dirty="0"/>
              <a:t>Итеративная </a:t>
            </a:r>
            <a:r>
              <a:rPr lang="ru-RU" altLang="ru-RU" sz="4000" b="1" dirty="0"/>
              <a:t>Авторегрессия</a:t>
            </a:r>
            <a:endParaRPr lang="en-US" b="1" dirty="0"/>
          </a:p>
        </p:txBody>
      </p:sp>
      <p:sp>
        <p:nvSpPr>
          <p:cNvPr id="3" name="Объект 2"/>
          <p:cNvSpPr>
            <a:spLocks noGrp="1"/>
          </p:cNvSpPr>
          <p:nvPr>
            <p:ph idx="1"/>
          </p:nvPr>
        </p:nvSpPr>
        <p:spPr>
          <a:xfrm>
            <a:off x="92365" y="1005865"/>
            <a:ext cx="11832935" cy="5806346"/>
          </a:xfrm>
        </p:spPr>
        <p:txBody>
          <a:bodyPr>
            <a:noAutofit/>
          </a:bodyPr>
          <a:lstStyle/>
          <a:p>
            <a:pPr lvl="0">
              <a:lnSpc>
                <a:spcPct val="100000"/>
              </a:lnSpc>
              <a:spcBef>
                <a:spcPts val="600"/>
              </a:spcBef>
            </a:pPr>
            <a:r>
              <a:rPr lang="ru-RU" sz="2000" b="1" dirty="0"/>
              <a:t>Прямой подход</a:t>
            </a:r>
            <a:r>
              <a:rPr lang="ru-RU" sz="2000" dirty="0"/>
              <a:t>  (традиционный) обычно представляет собой архитектуру «</a:t>
            </a:r>
            <a:r>
              <a:rPr lang="en-US" sz="2000" dirty="0"/>
              <a:t>seq2seq</a:t>
            </a:r>
            <a:r>
              <a:rPr lang="ru-RU" sz="2000" dirty="0"/>
              <a:t>», в которой используется кодер для обобщения прошлой информации и декодер для объединения их с известными будущими входными данными.</a:t>
            </a:r>
          </a:p>
          <a:p>
            <a:pPr lvl="0">
              <a:lnSpc>
                <a:spcPct val="100000"/>
              </a:lnSpc>
              <a:spcBef>
                <a:spcPts val="600"/>
              </a:spcBef>
            </a:pPr>
            <a:r>
              <a:rPr lang="ru-RU" sz="2000" dirty="0"/>
              <a:t>Недостаток прямого подхода </a:t>
            </a:r>
            <a:endParaRPr lang="en-US" sz="2000" dirty="0"/>
          </a:p>
          <a:p>
            <a:pPr lvl="1">
              <a:lnSpc>
                <a:spcPct val="100000"/>
              </a:lnSpc>
              <a:spcBef>
                <a:spcPts val="600"/>
              </a:spcBef>
            </a:pPr>
            <a:r>
              <a:rPr lang="ru-RU" sz="2200" u="sng" dirty="0"/>
              <a:t>устранении необходимости в рекурсии прямые методы требуют указания максимального горизонта прогноза, </a:t>
            </a:r>
            <a:endParaRPr lang="en-US" sz="2200" u="sng" dirty="0"/>
          </a:p>
          <a:p>
            <a:pPr lvl="1">
              <a:lnSpc>
                <a:spcPct val="100000"/>
              </a:lnSpc>
              <a:spcBef>
                <a:spcPts val="600"/>
              </a:spcBef>
            </a:pPr>
            <a:r>
              <a:rPr lang="ru-RU" sz="2200" u="sng" dirty="0"/>
              <a:t>причем прогнозы делаются только через заранее определенные дискретные интервалы.</a:t>
            </a:r>
            <a:endParaRPr lang="ru-RU" sz="2200" dirty="0"/>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4" name="Рисунок 13"/>
          <p:cNvPicPr>
            <a:picLocks noChangeAspect="1"/>
          </p:cNvPicPr>
          <p:nvPr/>
        </p:nvPicPr>
        <p:blipFill rotWithShape="1">
          <a:blip r:embed="rId2"/>
          <a:srcRect b="48945"/>
          <a:stretch/>
        </p:blipFill>
        <p:spPr>
          <a:xfrm>
            <a:off x="527631" y="3667698"/>
            <a:ext cx="4793993" cy="2101468"/>
          </a:xfrm>
          <a:prstGeom prst="rect">
            <a:avLst/>
          </a:prstGeom>
        </p:spPr>
      </p:pic>
      <p:pic>
        <p:nvPicPr>
          <p:cNvPr id="20" name="Рисунок 19"/>
          <p:cNvPicPr>
            <a:picLocks noChangeAspect="1"/>
          </p:cNvPicPr>
          <p:nvPr/>
        </p:nvPicPr>
        <p:blipFill rotWithShape="1">
          <a:blip r:embed="rId2"/>
          <a:srcRect t="52746"/>
          <a:stretch/>
        </p:blipFill>
        <p:spPr>
          <a:xfrm>
            <a:off x="5499333" y="3667698"/>
            <a:ext cx="4991846" cy="2025268"/>
          </a:xfrm>
          <a:prstGeom prst="rect">
            <a:avLst/>
          </a:prstGeom>
        </p:spPr>
      </p:pic>
    </p:spTree>
    <p:extLst>
      <p:ext uri="{BB962C8B-B14F-4D97-AF65-F5344CB8AC3E}">
        <p14:creationId xmlns:p14="http://schemas.microsoft.com/office/powerpoint/2010/main" val="27450976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lvl="0" algn="l" rtl="0"/>
            <a:r>
              <a:rPr lang="en-US" sz="4000" b="1" dirty="0"/>
              <a:t>RNN. </a:t>
            </a:r>
            <a:r>
              <a:rPr lang="ru-RU" sz="4000" b="1" dirty="0"/>
              <a:t>Итеративная </a:t>
            </a:r>
            <a:r>
              <a:rPr lang="ru-RU" altLang="ru-RU" sz="4000" b="1" dirty="0"/>
              <a:t>Авторегрессия</a:t>
            </a:r>
            <a:endParaRPr lang="en-US" b="1" dirty="0"/>
          </a:p>
        </p:txBody>
      </p:sp>
      <p:sp>
        <p:nvSpPr>
          <p:cNvPr id="3" name="Объект 2"/>
          <p:cNvSpPr>
            <a:spLocks noGrp="1"/>
          </p:cNvSpPr>
          <p:nvPr>
            <p:ph idx="1"/>
          </p:nvPr>
        </p:nvSpPr>
        <p:spPr>
          <a:xfrm>
            <a:off x="92365" y="672058"/>
            <a:ext cx="11832935" cy="6140153"/>
          </a:xfrm>
        </p:spPr>
        <p:txBody>
          <a:bodyPr>
            <a:noAutofit/>
          </a:bodyPr>
          <a:lstStyle/>
          <a:p>
            <a:pPr lvl="0">
              <a:lnSpc>
                <a:spcPct val="100000"/>
              </a:lnSpc>
              <a:spcBef>
                <a:spcPts val="600"/>
              </a:spcBef>
            </a:pPr>
            <a:r>
              <a:rPr lang="ru-RU" sz="2200" b="1" dirty="0"/>
              <a:t>Итеративное обучение</a:t>
            </a:r>
            <a:r>
              <a:rPr lang="ru-RU" sz="2200" dirty="0"/>
              <a:t>  - это развитие идеи повторяющегося обучения для временных рядов.</a:t>
            </a:r>
          </a:p>
          <a:p>
            <a:pPr lvl="0">
              <a:lnSpc>
                <a:spcPct val="100000"/>
              </a:lnSpc>
              <a:spcBef>
                <a:spcPts val="600"/>
              </a:spcBef>
            </a:pPr>
            <a:r>
              <a:rPr lang="ru-RU" sz="2200" b="1" dirty="0"/>
              <a:t>Основная идея итеративного обучения</a:t>
            </a:r>
            <a:r>
              <a:rPr lang="ru-RU" sz="2200" dirty="0"/>
              <a:t>  заключается в использовании принципа авторегрессии в рекуррентной сетевой структуре.</a:t>
            </a:r>
          </a:p>
          <a:p>
            <a:pPr lvl="1">
              <a:lnSpc>
                <a:spcPct val="100000"/>
              </a:lnSpc>
              <a:spcBef>
                <a:spcPts val="600"/>
              </a:spcBef>
            </a:pPr>
            <a:r>
              <a:rPr lang="ru-RU" sz="2200" dirty="0"/>
              <a:t>В отличие от традиционного (прямого) метода в итеративном обучении, модель учит предсказывать только на один шаг вперед на этапе обучения (обратите внимание, что скрытое состояние также сохраняется).</a:t>
            </a:r>
          </a:p>
          <a:p>
            <a:pPr lvl="1">
              <a:lnSpc>
                <a:spcPct val="100000"/>
              </a:lnSpc>
              <a:spcBef>
                <a:spcPts val="600"/>
              </a:spcBef>
            </a:pPr>
            <a:r>
              <a:rPr lang="ru-RU" sz="2200" b="1" dirty="0"/>
              <a:t>На этапе проверки сеть использует свои предыдущие прогнозы в качестве дополнительных входных данных.</a:t>
            </a:r>
          </a:p>
          <a:p>
            <a:pPr lvl="1">
              <a:lnSpc>
                <a:spcPct val="100000"/>
              </a:lnSpc>
              <a:spcBef>
                <a:spcPts val="600"/>
              </a:spcBef>
            </a:pPr>
            <a:r>
              <a:rPr lang="ru-RU" sz="2200" dirty="0" err="1"/>
              <a:t>Многогоризонтные</a:t>
            </a:r>
            <a:r>
              <a:rPr lang="ru-RU" sz="2200" dirty="0"/>
              <a:t> прогнозы создаются путем рекурсивной подачи выборок (одношаговый прогноз) в будущие временные шаги (повторение процедуры вывода).</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4" name="Рисунок 13"/>
          <p:cNvPicPr>
            <a:picLocks noChangeAspect="1"/>
          </p:cNvPicPr>
          <p:nvPr/>
        </p:nvPicPr>
        <p:blipFill rotWithShape="1">
          <a:blip r:embed="rId2"/>
          <a:srcRect b="48945"/>
          <a:stretch/>
        </p:blipFill>
        <p:spPr>
          <a:xfrm>
            <a:off x="612775" y="4379799"/>
            <a:ext cx="4904594" cy="2149951"/>
          </a:xfrm>
          <a:prstGeom prst="rect">
            <a:avLst/>
          </a:prstGeom>
        </p:spPr>
      </p:pic>
      <p:pic>
        <p:nvPicPr>
          <p:cNvPr id="20" name="Рисунок 19"/>
          <p:cNvPicPr>
            <a:picLocks noChangeAspect="1"/>
          </p:cNvPicPr>
          <p:nvPr/>
        </p:nvPicPr>
        <p:blipFill rotWithShape="1">
          <a:blip r:embed="rId2"/>
          <a:srcRect t="52746"/>
          <a:stretch/>
        </p:blipFill>
        <p:spPr>
          <a:xfrm>
            <a:off x="6248334" y="4379799"/>
            <a:ext cx="5088374" cy="2064431"/>
          </a:xfrm>
          <a:prstGeom prst="rect">
            <a:avLst/>
          </a:prstGeom>
        </p:spPr>
      </p:pic>
    </p:spTree>
    <p:extLst>
      <p:ext uri="{BB962C8B-B14F-4D97-AF65-F5344CB8AC3E}">
        <p14:creationId xmlns:p14="http://schemas.microsoft.com/office/powerpoint/2010/main" val="42560846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en-US" sz="4000" b="1" dirty="0" err="1"/>
              <a:t>Глубокая</a:t>
            </a:r>
            <a:r>
              <a:rPr lang="en-US" sz="4000" b="1" dirty="0"/>
              <a:t> AR </a:t>
            </a:r>
            <a:r>
              <a:rPr lang="ru-RU" sz="4000" b="1" dirty="0"/>
              <a:t>сеть</a:t>
            </a:r>
            <a:endParaRPr lang="en-US" sz="4000" b="1" dirty="0"/>
          </a:p>
        </p:txBody>
      </p:sp>
      <p:sp>
        <p:nvSpPr>
          <p:cNvPr id="3" name="Объект 2"/>
          <p:cNvSpPr>
            <a:spLocks noGrp="1"/>
          </p:cNvSpPr>
          <p:nvPr>
            <p:ph idx="1"/>
          </p:nvPr>
        </p:nvSpPr>
        <p:spPr>
          <a:xfrm>
            <a:off x="92365" y="672058"/>
            <a:ext cx="11832935" cy="6140153"/>
          </a:xfrm>
        </p:spPr>
        <p:txBody>
          <a:bodyPr>
            <a:noAutofit/>
          </a:bodyPr>
          <a:lstStyle/>
          <a:p>
            <a:pPr lvl="0"/>
            <a:r>
              <a:rPr lang="ru-RU" sz="2000" dirty="0"/>
              <a:t>Сеть </a:t>
            </a:r>
            <a:r>
              <a:rPr lang="ru-RU" sz="2000" dirty="0" err="1"/>
              <a:t>Deep</a:t>
            </a:r>
            <a:r>
              <a:rPr lang="ru-RU" sz="2000" dirty="0"/>
              <a:t> AR - самая известная реализация  </a:t>
            </a:r>
            <a:r>
              <a:rPr lang="ru-RU" sz="2000" u="sng" dirty="0"/>
              <a:t>итеративного обучения в сочетании с </a:t>
            </a:r>
            <a:r>
              <a:rPr lang="ru-RU" sz="2000" u="sng" dirty="0" err="1"/>
              <a:t>lstm</a:t>
            </a:r>
            <a:r>
              <a:rPr lang="ru-RU" sz="2000" u="sng" dirty="0"/>
              <a:t>-ячейками и так называемым </a:t>
            </a:r>
            <a:r>
              <a:rPr lang="ru-RU" sz="2000" b="1" u="sng" dirty="0"/>
              <a:t>вероятностным обучением</a:t>
            </a:r>
            <a:r>
              <a:rPr lang="ru-RU" sz="2000" u="sng" dirty="0"/>
              <a:t> с учителем </a:t>
            </a:r>
            <a:r>
              <a:rPr lang="ru-RU" sz="2000" b="1" u="sng" dirty="0"/>
              <a:t>.</a:t>
            </a:r>
            <a:endParaRPr lang="en-US" sz="2000" b="1" u="sng" dirty="0"/>
          </a:p>
          <a:p>
            <a:r>
              <a:rPr lang="ru-RU" sz="2000" dirty="0"/>
              <a:t>В  </a:t>
            </a:r>
            <a:r>
              <a:rPr lang="ru-RU" sz="2000" b="1" dirty="0"/>
              <a:t>вероятностном обучении</a:t>
            </a:r>
            <a:r>
              <a:rPr lang="ru-RU" sz="2000" dirty="0"/>
              <a:t>  мы пытаемся не само значение прогноза, но его среднее ожидание и его дисперсию, подчиняющиеся распределению. Другими словами, мы пытаемся построить какое-то распределение и минимизировать сумму его значений</a:t>
            </a:r>
          </a:p>
          <a:p>
            <a:pPr lvl="1"/>
            <a:r>
              <a:rPr lang="ru-RU" sz="2000" dirty="0"/>
              <a:t>Чаще всего моделируется нормальное распределение</a:t>
            </a:r>
          </a:p>
          <a:p>
            <a:pPr lvl="1"/>
            <a:r>
              <a:rPr lang="ru-RU" sz="2000" dirty="0"/>
              <a:t>Теоретически могут быть и другие виды распределений</a:t>
            </a:r>
          </a:p>
          <a:p>
            <a:pPr lvl="1"/>
            <a:r>
              <a:rPr lang="ru-RU" sz="2000" dirty="0"/>
              <a:t>Конкретный результат предсказания генерируется из распределения </a:t>
            </a:r>
          </a:p>
          <a:p>
            <a:pPr lvl="1"/>
            <a:r>
              <a:rPr lang="ru-RU" sz="2000" dirty="0"/>
              <a:t>Для нормального распределения среднее значение максимизирует правдоподобие, </a:t>
            </a:r>
          </a:p>
          <a:p>
            <a:pPr lvl="1"/>
            <a:r>
              <a:rPr lang="ru-RU" sz="2000" dirty="0"/>
              <a:t>но мы управляем не только средним, но и дисперсией его предсказаний</a:t>
            </a:r>
          </a:p>
          <a:p>
            <a:pPr lvl="2"/>
            <a:r>
              <a:rPr lang="ru-RU" dirty="0"/>
              <a:t>В этом отношении вероятностное обучение является аналогом регуляризации</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0" name="Рисунок 9"/>
          <p:cNvPicPr>
            <a:picLocks noChangeAspect="1"/>
          </p:cNvPicPr>
          <p:nvPr/>
        </p:nvPicPr>
        <p:blipFill rotWithShape="1">
          <a:blip r:embed="rId2"/>
          <a:srcRect r="50098"/>
          <a:stretch/>
        </p:blipFill>
        <p:spPr>
          <a:xfrm>
            <a:off x="765175" y="4202976"/>
            <a:ext cx="4511004" cy="2448285"/>
          </a:xfrm>
          <a:prstGeom prst="rect">
            <a:avLst/>
          </a:prstGeom>
        </p:spPr>
      </p:pic>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8" name="Рисунок 17"/>
          <p:cNvPicPr>
            <a:picLocks noChangeAspect="1"/>
          </p:cNvPicPr>
          <p:nvPr/>
        </p:nvPicPr>
        <p:blipFill rotWithShape="1">
          <a:blip r:embed="rId2"/>
          <a:srcRect l="50607"/>
          <a:stretch/>
        </p:blipFill>
        <p:spPr>
          <a:xfrm>
            <a:off x="7024643" y="4286880"/>
            <a:ext cx="4312065" cy="2364381"/>
          </a:xfrm>
          <a:prstGeom prst="rect">
            <a:avLst/>
          </a:prstGeom>
        </p:spPr>
      </p:pic>
      <p:sp>
        <p:nvSpPr>
          <p:cNvPr id="8" name="AutoShape 2" descr="https://miro.medium.com/v2/resize:fit:852/0*RpUovvN5BT2_sbMF.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656224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1071534"/>
          </a:xfrm>
        </p:spPr>
        <p:txBody>
          <a:bodyPr/>
          <a:lstStyle/>
          <a:p>
            <a:r>
              <a:rPr lang="en-US" b="1" dirty="0" err="1"/>
              <a:t>Глубокая</a:t>
            </a:r>
            <a:r>
              <a:rPr lang="en-US" b="1" dirty="0"/>
              <a:t> AR </a:t>
            </a:r>
            <a:r>
              <a:rPr lang="ru-RU" b="1" dirty="0"/>
              <a:t>сеть</a:t>
            </a:r>
            <a:endParaRPr lang="ru-RU" dirty="0"/>
          </a:p>
        </p:txBody>
      </p:sp>
      <p:sp>
        <p:nvSpPr>
          <p:cNvPr id="3" name="Объект 2"/>
          <p:cNvSpPr>
            <a:spLocks noGrp="1"/>
          </p:cNvSpPr>
          <p:nvPr>
            <p:ph idx="1"/>
          </p:nvPr>
        </p:nvSpPr>
        <p:spPr>
          <a:xfrm>
            <a:off x="838200" y="1295399"/>
            <a:ext cx="6308558" cy="4881563"/>
          </a:xfrm>
        </p:spPr>
        <p:txBody>
          <a:bodyPr/>
          <a:lstStyle/>
          <a:p>
            <a:r>
              <a:rPr lang="ru-RU" dirty="0"/>
              <a:t>Из </a:t>
            </a:r>
            <a:r>
              <a:rPr lang="en-US" dirty="0" err="1"/>
              <a:t>ht</a:t>
            </a:r>
            <a:r>
              <a:rPr lang="en-US" dirty="0"/>
              <a:t> </a:t>
            </a:r>
            <a:r>
              <a:rPr lang="ru-RU" dirty="0"/>
              <a:t>при помощи двух </a:t>
            </a:r>
            <a:r>
              <a:rPr lang="ru-RU" dirty="0" err="1"/>
              <a:t>полносвязных</a:t>
            </a:r>
            <a:r>
              <a:rPr lang="ru-RU" dirty="0"/>
              <a:t> слоев оцениваются μ создается гауссово распределение с этими параметрами </a:t>
            </a:r>
          </a:p>
          <a:p>
            <a:r>
              <a:rPr lang="ru-RU" dirty="0"/>
              <a:t>Из созданного распределения берется выборку. </a:t>
            </a:r>
          </a:p>
          <a:p>
            <a:r>
              <a:rPr lang="ru-RU" dirty="0"/>
              <a:t>На этапе тренировки модель проверяет, насколько эта выборка близка к реальному наблюдению.</a:t>
            </a:r>
          </a:p>
          <a:p>
            <a:endParaRPr lang="ru-RU" dirty="0"/>
          </a:p>
        </p:txBody>
      </p:sp>
      <p:pic>
        <p:nvPicPr>
          <p:cNvPr id="6" name="Рисунок 5"/>
          <p:cNvPicPr>
            <a:picLocks noChangeAspect="1"/>
          </p:cNvPicPr>
          <p:nvPr/>
        </p:nvPicPr>
        <p:blipFill>
          <a:blip r:embed="rId2"/>
          <a:stretch>
            <a:fillRect/>
          </a:stretch>
        </p:blipFill>
        <p:spPr>
          <a:xfrm>
            <a:off x="7080253" y="2885932"/>
            <a:ext cx="4835019" cy="3679996"/>
          </a:xfrm>
          <a:prstGeom prst="rect">
            <a:avLst/>
          </a:prstGeom>
        </p:spPr>
      </p:pic>
      <p:pic>
        <p:nvPicPr>
          <p:cNvPr id="7" name="Рисунок 6"/>
          <p:cNvPicPr>
            <a:picLocks noChangeAspect="1"/>
          </p:cNvPicPr>
          <p:nvPr/>
        </p:nvPicPr>
        <p:blipFill>
          <a:blip r:embed="rId3"/>
          <a:stretch>
            <a:fillRect/>
          </a:stretch>
        </p:blipFill>
        <p:spPr>
          <a:xfrm>
            <a:off x="7254349" y="1436660"/>
            <a:ext cx="4486825" cy="1282168"/>
          </a:xfrm>
          <a:prstGeom prst="rect">
            <a:avLst/>
          </a:prstGeom>
        </p:spPr>
      </p:pic>
    </p:spTree>
    <p:extLst>
      <p:ext uri="{BB962C8B-B14F-4D97-AF65-F5344CB8AC3E}">
        <p14:creationId xmlns:p14="http://schemas.microsoft.com/office/powerpoint/2010/main" val="30641475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pPr algn="l" rtl="0"/>
            <a:r>
              <a:rPr lang="en-US" sz="4000" b="1" dirty="0" err="1"/>
              <a:t>Глубокая</a:t>
            </a:r>
            <a:r>
              <a:rPr lang="en-US" sz="4000" b="1" dirty="0"/>
              <a:t> AR </a:t>
            </a:r>
            <a:r>
              <a:rPr lang="ru-RU" sz="4000" b="1" dirty="0"/>
              <a:t>сеть</a:t>
            </a:r>
            <a:endParaRPr lang="en-US" sz="4000" b="1" dirty="0"/>
          </a:p>
        </p:txBody>
      </p:sp>
      <p:sp>
        <p:nvSpPr>
          <p:cNvPr id="3" name="Объект 2"/>
          <p:cNvSpPr>
            <a:spLocks noGrp="1"/>
          </p:cNvSpPr>
          <p:nvPr>
            <p:ph idx="1"/>
          </p:nvPr>
        </p:nvSpPr>
        <p:spPr>
          <a:xfrm>
            <a:off x="92365" y="672058"/>
            <a:ext cx="11832935" cy="6140153"/>
          </a:xfrm>
        </p:spPr>
        <p:txBody>
          <a:bodyPr>
            <a:noAutofit/>
          </a:bodyPr>
          <a:lstStyle/>
          <a:p>
            <a:pPr lvl="0"/>
            <a:r>
              <a:rPr lang="ru-RU" sz="2000" dirty="0"/>
              <a:t>Сеть </a:t>
            </a:r>
            <a:r>
              <a:rPr lang="ru-RU" sz="2000" dirty="0" err="1"/>
              <a:t>Deep</a:t>
            </a:r>
            <a:r>
              <a:rPr lang="ru-RU" sz="2000" dirty="0"/>
              <a:t> AR - самая известная реализация  </a:t>
            </a:r>
            <a:r>
              <a:rPr lang="ru-RU" sz="2000" u="sng" dirty="0"/>
              <a:t>итеративного обучения в сочетании с </a:t>
            </a:r>
            <a:r>
              <a:rPr lang="ru-RU" sz="2000" u="sng" dirty="0" err="1"/>
              <a:t>lstm</a:t>
            </a:r>
            <a:r>
              <a:rPr lang="ru-RU" sz="2000" u="sng" dirty="0"/>
              <a:t>-ячейками и так называемым </a:t>
            </a:r>
            <a:r>
              <a:rPr lang="ru-RU" sz="2000" b="1" u="sng" dirty="0"/>
              <a:t>вероятностным обучением</a:t>
            </a:r>
            <a:r>
              <a:rPr lang="ru-RU" sz="2000" u="sng" dirty="0"/>
              <a:t> с учителем </a:t>
            </a:r>
            <a:r>
              <a:rPr lang="ru-RU" sz="2000" b="1" u="sng" dirty="0"/>
              <a:t>.</a:t>
            </a:r>
            <a:endParaRPr lang="ru-RU" sz="2000" dirty="0"/>
          </a:p>
          <a:p>
            <a:pPr lvl="0"/>
            <a:r>
              <a:rPr lang="ru-RU" sz="2000" dirty="0"/>
              <a:t>Официальное представление архитектуры </a:t>
            </a:r>
            <a:r>
              <a:rPr lang="ru-RU" sz="2000" dirty="0" err="1"/>
              <a:t>Deep</a:t>
            </a:r>
            <a:r>
              <a:rPr lang="ru-RU" sz="2000" dirty="0"/>
              <a:t> AR слева, обучение (выше) и тестирование (ниже).</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pic>
        <p:nvPicPr>
          <p:cNvPr id="16" name="Рисунок 15"/>
          <p:cNvPicPr>
            <a:picLocks noChangeAspect="1"/>
          </p:cNvPicPr>
          <p:nvPr/>
        </p:nvPicPr>
        <p:blipFill>
          <a:blip r:embed="rId2"/>
          <a:stretch>
            <a:fillRect/>
          </a:stretch>
        </p:blipFill>
        <p:spPr>
          <a:xfrm>
            <a:off x="1557580" y="1759646"/>
            <a:ext cx="8751710" cy="4800245"/>
          </a:xfrm>
          <a:prstGeom prst="rect">
            <a:avLst/>
          </a:prstGeom>
        </p:spPr>
      </p:pic>
    </p:spTree>
    <p:extLst>
      <p:ext uri="{BB962C8B-B14F-4D97-AF65-F5344CB8AC3E}">
        <p14:creationId xmlns:p14="http://schemas.microsoft.com/office/powerpoint/2010/main" val="37544239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en-US" sz="4000" b="1" dirty="0"/>
              <a:t>RNN. Deep AR</a:t>
            </a:r>
          </a:p>
        </p:txBody>
      </p:sp>
      <p:sp>
        <p:nvSpPr>
          <p:cNvPr id="3" name="Объект 2"/>
          <p:cNvSpPr>
            <a:spLocks noGrp="1"/>
          </p:cNvSpPr>
          <p:nvPr>
            <p:ph idx="1"/>
          </p:nvPr>
        </p:nvSpPr>
        <p:spPr>
          <a:xfrm>
            <a:off x="92365" y="672058"/>
            <a:ext cx="11832935" cy="6140153"/>
          </a:xfrm>
        </p:spPr>
        <p:txBody>
          <a:bodyPr>
            <a:noAutofit/>
          </a:bodyPr>
          <a:lstStyle/>
          <a:p>
            <a:pPr marL="0" lvl="0" indent="0" eaLnBrk="0" fontAlgn="base" hangingPunct="0">
              <a:lnSpc>
                <a:spcPct val="100000"/>
              </a:lnSpc>
              <a:spcBef>
                <a:spcPct val="0"/>
              </a:spcBef>
              <a:spcAft>
                <a:spcPct val="0"/>
              </a:spcAft>
              <a:buNone/>
            </a:pPr>
            <a:endParaRPr lang="ru-RU" altLang="ru-RU" sz="2000" dirty="0">
              <a:latin typeface="Arial" panose="020B0604020202020204" pitchFamily="34" charset="0"/>
            </a:endParaRP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14" name="Рисунок 13"/>
          <p:cNvPicPr>
            <a:picLocks noChangeAspect="1"/>
          </p:cNvPicPr>
          <p:nvPr/>
        </p:nvPicPr>
        <p:blipFill>
          <a:blip r:embed="rId2"/>
          <a:stretch>
            <a:fillRect/>
          </a:stretch>
        </p:blipFill>
        <p:spPr>
          <a:xfrm>
            <a:off x="0" y="582842"/>
            <a:ext cx="7235902" cy="5083175"/>
          </a:xfrm>
          <a:prstGeom prst="rect">
            <a:avLst/>
          </a:prstGeom>
        </p:spPr>
      </p:pic>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6" name="Рисунок 15"/>
          <p:cNvPicPr>
            <a:picLocks noChangeAspect="1"/>
          </p:cNvPicPr>
          <p:nvPr/>
        </p:nvPicPr>
        <p:blipFill>
          <a:blip r:embed="rId3"/>
          <a:stretch>
            <a:fillRect/>
          </a:stretch>
        </p:blipFill>
        <p:spPr>
          <a:xfrm>
            <a:off x="2940190" y="5651511"/>
            <a:ext cx="8776154" cy="1018890"/>
          </a:xfrm>
          <a:prstGeom prst="rect">
            <a:avLst/>
          </a:prstGeom>
        </p:spPr>
      </p:pic>
      <p:sp>
        <p:nvSpPr>
          <p:cNvPr id="17" name="Прямоугольник 16"/>
          <p:cNvSpPr/>
          <p:nvPr/>
        </p:nvSpPr>
        <p:spPr>
          <a:xfrm>
            <a:off x="587375" y="5925957"/>
            <a:ext cx="2278188" cy="584775"/>
          </a:xfrm>
          <a:prstGeom prst="rect">
            <a:avLst/>
          </a:prstGeom>
        </p:spPr>
        <p:txBody>
          <a:bodyPr wrap="none">
            <a:spAutoFit/>
          </a:bodyPr>
          <a:lstStyle/>
          <a:p>
            <a:r>
              <a:rPr lang="en-US" sz="1600" b="1" dirty="0">
                <a:solidFill>
                  <a:srgbClr val="000000"/>
                </a:solidFill>
                <a:latin typeface="Georgia" panose="02040502050405020303" pitchFamily="18" charset="0"/>
              </a:rPr>
              <a:t>Gaussian likelihood</a:t>
            </a:r>
            <a:br>
              <a:rPr lang="en-US" sz="1600" b="1" dirty="0">
                <a:solidFill>
                  <a:srgbClr val="000000"/>
                </a:solidFill>
                <a:latin typeface="Georgia" panose="02040502050405020303" pitchFamily="18" charset="0"/>
              </a:rPr>
            </a:br>
            <a:r>
              <a:rPr lang="en-US" sz="1600" b="1" dirty="0">
                <a:solidFill>
                  <a:srgbClr val="000000"/>
                </a:solidFill>
                <a:latin typeface="Georgia" panose="02040502050405020303" pitchFamily="18" charset="0"/>
              </a:rPr>
              <a:t> loss function</a:t>
            </a:r>
            <a:endParaRPr lang="ru-RU" sz="1600" dirty="0"/>
          </a:p>
        </p:txBody>
      </p:sp>
      <p:pic>
        <p:nvPicPr>
          <p:cNvPr id="19" name="Рисунок 18"/>
          <p:cNvPicPr>
            <a:picLocks noChangeAspect="1"/>
          </p:cNvPicPr>
          <p:nvPr/>
        </p:nvPicPr>
        <p:blipFill rotWithShape="1">
          <a:blip r:embed="rId4"/>
          <a:srcRect r="37032" b="35255"/>
          <a:stretch/>
        </p:blipFill>
        <p:spPr>
          <a:xfrm>
            <a:off x="7167766" y="1053219"/>
            <a:ext cx="4548578" cy="685696"/>
          </a:xfrm>
          <a:prstGeom prst="rect">
            <a:avLst/>
          </a:prstGeom>
        </p:spPr>
      </p:pic>
      <p:pic>
        <p:nvPicPr>
          <p:cNvPr id="20" name="Рисунок 19"/>
          <p:cNvPicPr>
            <a:picLocks noChangeAspect="1"/>
          </p:cNvPicPr>
          <p:nvPr/>
        </p:nvPicPr>
        <p:blipFill rotWithShape="1">
          <a:blip r:embed="rId4"/>
          <a:srcRect l="5591" t="61220" r="52222" b="-1440"/>
          <a:stretch/>
        </p:blipFill>
        <p:spPr>
          <a:xfrm>
            <a:off x="7315685" y="1883737"/>
            <a:ext cx="3047438" cy="425959"/>
          </a:xfrm>
          <a:prstGeom prst="rect">
            <a:avLst/>
          </a:prstGeom>
        </p:spPr>
      </p:pic>
      <p:pic>
        <p:nvPicPr>
          <p:cNvPr id="21" name="Рисунок 20"/>
          <p:cNvPicPr>
            <a:picLocks noChangeAspect="1"/>
          </p:cNvPicPr>
          <p:nvPr/>
        </p:nvPicPr>
        <p:blipFill rotWithShape="1">
          <a:blip r:embed="rId4"/>
          <a:srcRect l="55803" t="55464" r="2010" b="4316"/>
          <a:stretch/>
        </p:blipFill>
        <p:spPr>
          <a:xfrm>
            <a:off x="7328267" y="2378676"/>
            <a:ext cx="3047438" cy="425959"/>
          </a:xfrm>
          <a:prstGeom prst="rect">
            <a:avLst/>
          </a:prstGeom>
        </p:spPr>
      </p:pic>
      <p:sp>
        <p:nvSpPr>
          <p:cNvPr id="22" name="Прямоугольник 21"/>
          <p:cNvSpPr/>
          <p:nvPr/>
        </p:nvSpPr>
        <p:spPr>
          <a:xfrm>
            <a:off x="6648896" y="695417"/>
            <a:ext cx="5307863" cy="369332"/>
          </a:xfrm>
          <a:prstGeom prst="rect">
            <a:avLst/>
          </a:prstGeom>
        </p:spPr>
        <p:txBody>
          <a:bodyPr wrap="none">
            <a:spAutoFit/>
          </a:bodyPr>
          <a:lstStyle/>
          <a:p>
            <a:r>
              <a:rPr lang="en-US" b="1" dirty="0">
                <a:solidFill>
                  <a:srgbClr val="000000"/>
                </a:solidFill>
                <a:latin typeface="Georgia" panose="02040502050405020303" pitchFamily="18" charset="0"/>
              </a:rPr>
              <a:t>Negative Binomial Likelihood loss function</a:t>
            </a:r>
            <a:endParaRPr lang="ru-RU" dirty="0"/>
          </a:p>
        </p:txBody>
      </p:sp>
    </p:spTree>
    <p:extLst>
      <p:ext uri="{BB962C8B-B14F-4D97-AF65-F5344CB8AC3E}">
        <p14:creationId xmlns:p14="http://schemas.microsoft.com/office/powerpoint/2010/main" val="42651255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en-US" sz="4000" b="1" dirty="0"/>
              <a:t>RNN. Deep AR</a:t>
            </a:r>
          </a:p>
        </p:txBody>
      </p:sp>
      <p:sp>
        <p:nvSpPr>
          <p:cNvPr id="3" name="Объект 2"/>
          <p:cNvSpPr>
            <a:spLocks noGrp="1"/>
          </p:cNvSpPr>
          <p:nvPr>
            <p:ph idx="1"/>
          </p:nvPr>
        </p:nvSpPr>
        <p:spPr>
          <a:xfrm>
            <a:off x="452927" y="672059"/>
            <a:ext cx="11028733" cy="5805654"/>
          </a:xfrm>
        </p:spPr>
        <p:txBody>
          <a:bodyPr>
            <a:noAutofit/>
          </a:bodyPr>
          <a:lstStyle/>
          <a:p>
            <a:pPr eaLnBrk="0" fontAlgn="base" hangingPunct="0">
              <a:lnSpc>
                <a:spcPct val="100000"/>
              </a:lnSpc>
              <a:spcBef>
                <a:spcPct val="0"/>
              </a:spcBef>
              <a:spcAft>
                <a:spcPct val="0"/>
              </a:spcAft>
            </a:pPr>
            <a:r>
              <a:rPr lang="ru-RU" altLang="ru-RU" sz="2000" dirty="0" err="1">
                <a:solidFill>
                  <a:srgbClr val="000000"/>
                </a:solidFill>
              </a:rPr>
              <a:t>In</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b="1" dirty="0" err="1">
                <a:solidFill>
                  <a:srgbClr val="000000"/>
                </a:solidFill>
              </a:rPr>
              <a:t>Probabilistic</a:t>
            </a:r>
            <a:r>
              <a:rPr lang="ru-RU" altLang="ru-RU" sz="2000" b="1" dirty="0">
                <a:solidFill>
                  <a:srgbClr val="000000"/>
                </a:solidFill>
              </a:rPr>
              <a:t> </a:t>
            </a:r>
            <a:r>
              <a:rPr lang="ru-RU" altLang="ru-RU" sz="2000" b="1" dirty="0" err="1">
                <a:solidFill>
                  <a:srgbClr val="000000"/>
                </a:solidFill>
              </a:rPr>
              <a:t>learning</a:t>
            </a:r>
            <a:r>
              <a:rPr lang="ru-RU" altLang="ru-RU" sz="2000" dirty="0">
                <a:solidFill>
                  <a:srgbClr val="000000"/>
                </a:solidFill>
              </a:rPr>
              <a:t> </a:t>
            </a:r>
            <a:r>
              <a:rPr lang="ru-RU" altLang="ru-RU" sz="2000" dirty="0" err="1">
                <a:solidFill>
                  <a:srgbClr val="000000"/>
                </a:solidFill>
              </a:rPr>
              <a:t>we</a:t>
            </a:r>
            <a:r>
              <a:rPr lang="ru-RU" altLang="ru-RU" sz="2000" dirty="0">
                <a:solidFill>
                  <a:srgbClr val="000000"/>
                </a:solidFill>
              </a:rPr>
              <a:t> </a:t>
            </a:r>
            <a:r>
              <a:rPr lang="ru-RU" altLang="ru-RU" sz="2000" dirty="0" err="1">
                <a:solidFill>
                  <a:srgbClr val="000000"/>
                </a:solidFill>
              </a:rPr>
              <a:t>are</a:t>
            </a:r>
            <a:r>
              <a:rPr lang="ru-RU" altLang="ru-RU" sz="2000" dirty="0">
                <a:solidFill>
                  <a:srgbClr val="000000"/>
                </a:solidFill>
              </a:rPr>
              <a:t> </a:t>
            </a:r>
            <a:r>
              <a:rPr lang="ru-RU" altLang="ru-RU" sz="2000" dirty="0" err="1">
                <a:solidFill>
                  <a:srgbClr val="000000"/>
                </a:solidFill>
              </a:rPr>
              <a:t>not</a:t>
            </a:r>
            <a:r>
              <a:rPr lang="ru-RU" altLang="ru-RU" sz="2000" dirty="0">
                <a:solidFill>
                  <a:srgbClr val="000000"/>
                </a:solidFill>
              </a:rPr>
              <a:t> </a:t>
            </a:r>
            <a:r>
              <a:rPr lang="ru-RU" altLang="ru-RU" sz="2000" dirty="0" err="1">
                <a:solidFill>
                  <a:srgbClr val="000000"/>
                </a:solidFill>
              </a:rPr>
              <a:t>only</a:t>
            </a:r>
            <a:r>
              <a:rPr lang="ru-RU" altLang="ru-RU" sz="2000" dirty="0">
                <a:solidFill>
                  <a:srgbClr val="000000"/>
                </a:solidFill>
              </a:rPr>
              <a:t> </a:t>
            </a:r>
            <a:r>
              <a:rPr lang="ru-RU" altLang="ru-RU" sz="2000" dirty="0" err="1">
                <a:solidFill>
                  <a:srgbClr val="000000"/>
                </a:solidFill>
              </a:rPr>
              <a:t>try</a:t>
            </a:r>
            <a:r>
              <a:rPr lang="ru-RU" altLang="ru-RU" sz="2000" dirty="0">
                <a:solidFill>
                  <a:srgbClr val="000000"/>
                </a:solidFill>
              </a:rPr>
              <a:t> </a:t>
            </a:r>
            <a:r>
              <a:rPr lang="ru-RU" altLang="ru-RU" sz="2000" dirty="0" err="1">
                <a:solidFill>
                  <a:srgbClr val="000000"/>
                </a:solidFill>
              </a:rPr>
              <a:t>to</a:t>
            </a:r>
            <a:r>
              <a:rPr lang="ru-RU" altLang="ru-RU" sz="2000" dirty="0">
                <a:solidFill>
                  <a:srgbClr val="000000"/>
                </a:solidFill>
              </a:rPr>
              <a:t> </a:t>
            </a:r>
            <a:r>
              <a:rPr lang="ru-RU" altLang="ru-RU" sz="2000" dirty="0" err="1">
                <a:solidFill>
                  <a:srgbClr val="000000"/>
                </a:solidFill>
              </a:rPr>
              <a:t>forecast</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dirty="0" err="1">
                <a:solidFill>
                  <a:srgbClr val="000000"/>
                </a:solidFill>
              </a:rPr>
              <a:t>one</a:t>
            </a:r>
            <a:r>
              <a:rPr lang="ru-RU" altLang="ru-RU" sz="2000" dirty="0">
                <a:solidFill>
                  <a:srgbClr val="000000"/>
                </a:solidFill>
              </a:rPr>
              <a:t> </a:t>
            </a:r>
            <a:r>
              <a:rPr lang="ru-RU" altLang="ru-RU" sz="2000" dirty="0" err="1">
                <a:solidFill>
                  <a:srgbClr val="000000"/>
                </a:solidFill>
              </a:rPr>
              <a:t>prediction</a:t>
            </a:r>
            <a:r>
              <a:rPr lang="ru-RU" altLang="ru-RU" sz="2000" dirty="0">
                <a:solidFill>
                  <a:srgbClr val="000000"/>
                </a:solidFill>
              </a:rPr>
              <a:t> </a:t>
            </a:r>
            <a:r>
              <a:rPr lang="ru-RU" altLang="ru-RU" sz="2000" dirty="0" err="1">
                <a:solidFill>
                  <a:srgbClr val="000000"/>
                </a:solidFill>
              </a:rPr>
              <a:t>value</a:t>
            </a:r>
            <a:r>
              <a:rPr lang="ru-RU" altLang="ru-RU" sz="2000" dirty="0">
                <a:solidFill>
                  <a:srgbClr val="000000"/>
                </a:solidFill>
              </a:rPr>
              <a:t>, </a:t>
            </a:r>
            <a:r>
              <a:rPr lang="ru-RU" altLang="ru-RU" sz="2000" dirty="0" err="1">
                <a:solidFill>
                  <a:srgbClr val="000000"/>
                </a:solidFill>
              </a:rPr>
              <a:t>but</a:t>
            </a:r>
            <a:r>
              <a:rPr lang="ru-RU" altLang="ru-RU" sz="2000" dirty="0">
                <a:solidFill>
                  <a:srgbClr val="000000"/>
                </a:solidFill>
              </a:rPr>
              <a:t> </a:t>
            </a:r>
            <a:r>
              <a:rPr lang="ru-RU" altLang="ru-RU" sz="2000" dirty="0" err="1">
                <a:solidFill>
                  <a:srgbClr val="000000"/>
                </a:solidFill>
              </a:rPr>
              <a:t>also</a:t>
            </a:r>
            <a:r>
              <a:rPr lang="ru-RU" altLang="ru-RU" sz="2000" dirty="0">
                <a:solidFill>
                  <a:srgbClr val="000000"/>
                </a:solidFill>
              </a:rPr>
              <a:t> </a:t>
            </a:r>
            <a:r>
              <a:rPr lang="ru-RU" altLang="ru-RU" sz="2000" dirty="0" err="1">
                <a:solidFill>
                  <a:srgbClr val="000000"/>
                </a:solidFill>
              </a:rPr>
              <a:t>its</a:t>
            </a:r>
            <a:r>
              <a:rPr lang="ru-RU" altLang="ru-RU" sz="2000" dirty="0">
                <a:solidFill>
                  <a:srgbClr val="000000"/>
                </a:solidFill>
              </a:rPr>
              <a:t> </a:t>
            </a:r>
            <a:r>
              <a:rPr lang="ru-RU" altLang="ru-RU" sz="2000" dirty="0" err="1">
                <a:solidFill>
                  <a:srgbClr val="000000"/>
                </a:solidFill>
              </a:rPr>
              <a:t>variance</a:t>
            </a:r>
            <a:r>
              <a:rPr lang="ru-RU" altLang="ru-RU" sz="2000" dirty="0">
                <a:solidFill>
                  <a:srgbClr val="000000"/>
                </a:solidFill>
              </a:rPr>
              <a:t>.</a:t>
            </a:r>
            <a:br>
              <a:rPr lang="ru-RU" altLang="ru-RU" sz="2000" dirty="0"/>
            </a:br>
            <a:r>
              <a:rPr lang="ru-RU" altLang="ru-RU" sz="2000" dirty="0" err="1">
                <a:solidFill>
                  <a:srgbClr val="000000"/>
                </a:solidFill>
              </a:rPr>
              <a:t>In</a:t>
            </a:r>
            <a:r>
              <a:rPr lang="ru-RU" altLang="ru-RU" sz="2000" dirty="0">
                <a:solidFill>
                  <a:srgbClr val="000000"/>
                </a:solidFill>
              </a:rPr>
              <a:t> </a:t>
            </a:r>
            <a:r>
              <a:rPr lang="ru-RU" altLang="ru-RU" sz="2000" dirty="0" err="1">
                <a:solidFill>
                  <a:srgbClr val="000000"/>
                </a:solidFill>
              </a:rPr>
              <a:t>other</a:t>
            </a:r>
            <a:r>
              <a:rPr lang="ru-RU" altLang="ru-RU" sz="2000" dirty="0">
                <a:solidFill>
                  <a:srgbClr val="000000"/>
                </a:solidFill>
              </a:rPr>
              <a:t> </a:t>
            </a:r>
            <a:r>
              <a:rPr lang="ru-RU" altLang="ru-RU" sz="2000" dirty="0" err="1">
                <a:solidFill>
                  <a:srgbClr val="000000"/>
                </a:solidFill>
              </a:rPr>
              <a:t>words</a:t>
            </a:r>
            <a:r>
              <a:rPr lang="ru-RU" altLang="ru-RU" sz="2000" dirty="0">
                <a:solidFill>
                  <a:srgbClr val="000000"/>
                </a:solidFill>
              </a:rPr>
              <a:t> </a:t>
            </a:r>
            <a:r>
              <a:rPr lang="ru-RU" altLang="ru-RU" sz="2000" dirty="0" err="1">
                <a:solidFill>
                  <a:srgbClr val="000000"/>
                </a:solidFill>
              </a:rPr>
              <a:t>we</a:t>
            </a:r>
            <a:r>
              <a:rPr lang="ru-RU" altLang="ru-RU" sz="2000" dirty="0">
                <a:solidFill>
                  <a:srgbClr val="000000"/>
                </a:solidFill>
              </a:rPr>
              <a:t> </a:t>
            </a:r>
            <a:r>
              <a:rPr lang="ru-RU" altLang="ru-RU" sz="2000" dirty="0" err="1">
                <a:solidFill>
                  <a:srgbClr val="000000"/>
                </a:solidFill>
              </a:rPr>
              <a:t>try</a:t>
            </a:r>
            <a:r>
              <a:rPr lang="ru-RU" altLang="ru-RU" sz="2000" dirty="0">
                <a:solidFill>
                  <a:srgbClr val="000000"/>
                </a:solidFill>
              </a:rPr>
              <a:t> </a:t>
            </a:r>
            <a:r>
              <a:rPr lang="ru-RU" altLang="ru-RU" sz="2000" dirty="0" err="1">
                <a:solidFill>
                  <a:srgbClr val="000000"/>
                </a:solidFill>
              </a:rPr>
              <a:t>to</a:t>
            </a:r>
            <a:r>
              <a:rPr lang="ru-RU" altLang="ru-RU" sz="2000" dirty="0">
                <a:solidFill>
                  <a:srgbClr val="000000"/>
                </a:solidFill>
              </a:rPr>
              <a:t> </a:t>
            </a:r>
            <a:r>
              <a:rPr lang="ru-RU" altLang="ru-RU" sz="2000" dirty="0" err="1">
                <a:solidFill>
                  <a:srgbClr val="000000"/>
                </a:solidFill>
              </a:rPr>
              <a:t>build</a:t>
            </a:r>
            <a:r>
              <a:rPr lang="ru-RU" altLang="ru-RU" sz="2000" dirty="0">
                <a:solidFill>
                  <a:srgbClr val="000000"/>
                </a:solidFill>
              </a:rPr>
              <a:t> </a:t>
            </a:r>
            <a:r>
              <a:rPr lang="ru-RU" altLang="ru-RU" sz="2000" dirty="0" err="1">
                <a:solidFill>
                  <a:srgbClr val="000000"/>
                </a:solidFill>
              </a:rPr>
              <a:t>some</a:t>
            </a:r>
            <a:r>
              <a:rPr lang="ru-RU" altLang="ru-RU" sz="2000" dirty="0">
                <a:solidFill>
                  <a:srgbClr val="000000"/>
                </a:solidFill>
              </a:rPr>
              <a:t> </a:t>
            </a:r>
            <a:r>
              <a:rPr lang="ru-RU" altLang="ru-RU" sz="2000" dirty="0" err="1">
                <a:solidFill>
                  <a:srgbClr val="000000"/>
                </a:solidFill>
              </a:rPr>
              <a:t>distribution</a:t>
            </a:r>
            <a:r>
              <a:rPr lang="ru-RU" altLang="ru-RU" sz="2000" dirty="0">
                <a:solidFill>
                  <a:srgbClr val="000000"/>
                </a:solidFill>
              </a:rPr>
              <a:t> </a:t>
            </a:r>
            <a:r>
              <a:rPr lang="ru-RU" altLang="ru-RU" sz="2000" dirty="0" err="1">
                <a:solidFill>
                  <a:srgbClr val="000000"/>
                </a:solidFill>
              </a:rPr>
              <a:t>and</a:t>
            </a:r>
            <a:r>
              <a:rPr lang="ru-RU" altLang="ru-RU" sz="2000" dirty="0">
                <a:solidFill>
                  <a:srgbClr val="000000"/>
                </a:solidFill>
              </a:rPr>
              <a:t> </a:t>
            </a:r>
            <a:r>
              <a:rPr lang="ru-RU" altLang="ru-RU" sz="2000" dirty="0" err="1">
                <a:solidFill>
                  <a:srgbClr val="000000"/>
                </a:solidFill>
              </a:rPr>
              <a:t>minimize</a:t>
            </a:r>
            <a:r>
              <a:rPr lang="ru-RU" altLang="ru-RU" sz="2000" dirty="0">
                <a:solidFill>
                  <a:srgbClr val="000000"/>
                </a:solidFill>
              </a:rPr>
              <a:t> </a:t>
            </a:r>
            <a:r>
              <a:rPr lang="ru-RU" altLang="ru-RU" sz="2000" dirty="0" err="1">
                <a:solidFill>
                  <a:srgbClr val="000000"/>
                </a:solidFill>
              </a:rPr>
              <a:t>its</a:t>
            </a:r>
            <a:r>
              <a:rPr lang="ru-RU" altLang="ru-RU" sz="2000" dirty="0">
                <a:solidFill>
                  <a:srgbClr val="000000"/>
                </a:solidFill>
              </a:rPr>
              <a:t> </a:t>
            </a:r>
            <a:r>
              <a:rPr lang="ru-RU" altLang="ru-RU" sz="2000" dirty="0" err="1">
                <a:solidFill>
                  <a:srgbClr val="000000"/>
                </a:solidFill>
              </a:rPr>
              <a:t>likelihood</a:t>
            </a:r>
            <a:r>
              <a:rPr lang="ru-RU" altLang="ru-RU" sz="2000" dirty="0">
                <a:solidFill>
                  <a:srgbClr val="000000"/>
                </a:solidFill>
              </a:rPr>
              <a:t> (</a:t>
            </a:r>
            <a:r>
              <a:rPr lang="ru-RU" altLang="ru-RU" sz="2000" dirty="0" err="1">
                <a:solidFill>
                  <a:srgbClr val="000000"/>
                </a:solidFill>
              </a:rPr>
              <a:t>sum</a:t>
            </a:r>
            <a:r>
              <a:rPr lang="ru-RU" altLang="ru-RU" sz="2000" dirty="0">
                <a:solidFill>
                  <a:srgbClr val="000000"/>
                </a:solidFill>
              </a:rPr>
              <a:t> </a:t>
            </a:r>
            <a:r>
              <a:rPr lang="ru-RU" altLang="ru-RU" sz="2000" dirty="0" err="1">
                <a:solidFill>
                  <a:srgbClr val="000000"/>
                </a:solidFill>
              </a:rPr>
              <a:t>of</a:t>
            </a:r>
            <a:r>
              <a:rPr lang="ru-RU" altLang="ru-RU" sz="2000" dirty="0">
                <a:solidFill>
                  <a:srgbClr val="000000"/>
                </a:solidFill>
              </a:rPr>
              <a:t> </a:t>
            </a:r>
            <a:r>
              <a:rPr lang="ru-RU" altLang="ru-RU" sz="2000" dirty="0" err="1">
                <a:solidFill>
                  <a:srgbClr val="000000"/>
                </a:solidFill>
              </a:rPr>
              <a:t>its</a:t>
            </a:r>
            <a:r>
              <a:rPr lang="ru-RU" altLang="ru-RU" sz="2000" dirty="0">
                <a:solidFill>
                  <a:srgbClr val="000000"/>
                </a:solidFill>
              </a:rPr>
              <a:t> </a:t>
            </a:r>
            <a:r>
              <a:rPr lang="ru-RU" altLang="ru-RU" sz="2000" dirty="0" err="1">
                <a:solidFill>
                  <a:srgbClr val="000000"/>
                </a:solidFill>
              </a:rPr>
              <a:t>values</a:t>
            </a:r>
            <a:r>
              <a:rPr lang="ru-RU" altLang="ru-RU" sz="2000" dirty="0">
                <a:solidFill>
                  <a:srgbClr val="000000"/>
                </a:solidFill>
              </a:rPr>
              <a:t>).</a:t>
            </a:r>
            <a:br>
              <a:rPr lang="ru-RU" altLang="ru-RU" sz="2000" dirty="0"/>
            </a:br>
            <a:endParaRPr lang="ru-RU" altLang="ru-RU" sz="2000" dirty="0"/>
          </a:p>
          <a:p>
            <a:pPr marL="0" indent="0" eaLnBrk="0" fontAlgn="base" hangingPunct="0">
              <a:lnSpc>
                <a:spcPct val="100000"/>
              </a:lnSpc>
              <a:spcBef>
                <a:spcPct val="0"/>
              </a:spcBef>
              <a:spcAft>
                <a:spcPct val="0"/>
              </a:spcAft>
              <a:buNone/>
            </a:pPr>
            <a:r>
              <a:rPr lang="ru-RU" altLang="ru-RU" sz="2000" dirty="0" err="1">
                <a:solidFill>
                  <a:srgbClr val="000000"/>
                </a:solidFill>
              </a:rPr>
              <a:t>In</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b="1" dirty="0" err="1">
                <a:solidFill>
                  <a:srgbClr val="000000"/>
                </a:solidFill>
              </a:rPr>
              <a:t>Probabilistic</a:t>
            </a:r>
            <a:r>
              <a:rPr lang="ru-RU" altLang="ru-RU" sz="2000" b="1" dirty="0">
                <a:solidFill>
                  <a:srgbClr val="000000"/>
                </a:solidFill>
              </a:rPr>
              <a:t> </a:t>
            </a:r>
            <a:r>
              <a:rPr lang="ru-RU" altLang="ru-RU" sz="2000" b="1" dirty="0" err="1">
                <a:solidFill>
                  <a:srgbClr val="000000"/>
                </a:solidFill>
              </a:rPr>
              <a:t>iterative</a:t>
            </a:r>
            <a:r>
              <a:rPr lang="ru-RU" altLang="ru-RU" sz="2000" b="1" dirty="0">
                <a:solidFill>
                  <a:srgbClr val="000000"/>
                </a:solidFill>
              </a:rPr>
              <a:t> </a:t>
            </a:r>
            <a:r>
              <a:rPr lang="ru-RU" altLang="ru-RU" sz="2000" b="1" dirty="0" err="1">
                <a:solidFill>
                  <a:srgbClr val="000000"/>
                </a:solidFill>
              </a:rPr>
              <a:t>learning</a:t>
            </a:r>
            <a:endParaRPr lang="ru-RU" altLang="ru-RU" sz="2000" dirty="0"/>
          </a:p>
          <a:p>
            <a:pPr eaLnBrk="0" fontAlgn="base" hangingPunct="0">
              <a:lnSpc>
                <a:spcPct val="100000"/>
              </a:lnSpc>
              <a:spcBef>
                <a:spcPct val="0"/>
              </a:spcBef>
              <a:spcAft>
                <a:spcPct val="0"/>
              </a:spcAft>
            </a:pPr>
            <a:r>
              <a:rPr lang="ru-RU" altLang="ru-RU" sz="2000" dirty="0" err="1">
                <a:solidFill>
                  <a:srgbClr val="000000"/>
                </a:solidFill>
              </a:rPr>
              <a:t>On</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b="1" dirty="0" err="1">
                <a:solidFill>
                  <a:srgbClr val="000000"/>
                </a:solidFill>
              </a:rPr>
              <a:t>training</a:t>
            </a:r>
            <a:r>
              <a:rPr lang="ru-RU" altLang="ru-RU" sz="2000" b="1" dirty="0">
                <a:solidFill>
                  <a:srgbClr val="000000"/>
                </a:solidFill>
              </a:rPr>
              <a:t> </a:t>
            </a:r>
            <a:r>
              <a:rPr lang="ru-RU" altLang="ru-RU" sz="2000" b="1" dirty="0" err="1">
                <a:solidFill>
                  <a:srgbClr val="000000"/>
                </a:solidFill>
              </a:rPr>
              <a:t>stage</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dirty="0" err="1">
                <a:solidFill>
                  <a:srgbClr val="000000"/>
                </a:solidFill>
              </a:rPr>
              <a:t>goal</a:t>
            </a:r>
            <a:r>
              <a:rPr lang="ru-RU" altLang="ru-RU" sz="2000" dirty="0">
                <a:solidFill>
                  <a:srgbClr val="000000"/>
                </a:solidFill>
              </a:rPr>
              <a:t> </a:t>
            </a:r>
            <a:r>
              <a:rPr lang="ru-RU" altLang="ru-RU" sz="2000" dirty="0" err="1">
                <a:solidFill>
                  <a:srgbClr val="000000"/>
                </a:solidFill>
              </a:rPr>
              <a:t>is</a:t>
            </a:r>
            <a:r>
              <a:rPr lang="ru-RU" altLang="ru-RU" sz="2000" dirty="0">
                <a:solidFill>
                  <a:srgbClr val="000000"/>
                </a:solidFill>
              </a:rPr>
              <a:t> </a:t>
            </a:r>
            <a:r>
              <a:rPr lang="ru-RU" altLang="ru-RU" sz="2000" dirty="0" err="1">
                <a:solidFill>
                  <a:srgbClr val="000000"/>
                </a:solidFill>
              </a:rPr>
              <a:t>to</a:t>
            </a:r>
            <a:r>
              <a:rPr lang="ru-RU" altLang="ru-RU" sz="2000" dirty="0">
                <a:solidFill>
                  <a:srgbClr val="000000"/>
                </a:solidFill>
              </a:rPr>
              <a:t> </a:t>
            </a:r>
            <a:r>
              <a:rPr lang="ru-RU" altLang="ru-RU" sz="2000" dirty="0" err="1">
                <a:solidFill>
                  <a:srgbClr val="000000"/>
                </a:solidFill>
              </a:rPr>
              <a:t>predict</a:t>
            </a:r>
            <a:r>
              <a:rPr lang="ru-RU" altLang="ru-RU" sz="2000" dirty="0">
                <a:solidFill>
                  <a:srgbClr val="000000"/>
                </a:solidFill>
              </a:rPr>
              <a:t> </a:t>
            </a:r>
            <a:r>
              <a:rPr lang="ru-RU" altLang="ru-RU" sz="2000" dirty="0" err="1">
                <a:solidFill>
                  <a:srgbClr val="000000"/>
                </a:solidFill>
              </a:rPr>
              <a:t>at</a:t>
            </a:r>
            <a:r>
              <a:rPr lang="ru-RU" altLang="ru-RU" sz="2000" dirty="0">
                <a:solidFill>
                  <a:srgbClr val="000000"/>
                </a:solidFill>
              </a:rPr>
              <a:t> </a:t>
            </a:r>
            <a:r>
              <a:rPr lang="ru-RU" altLang="ru-RU" sz="2000" dirty="0" err="1">
                <a:solidFill>
                  <a:srgbClr val="000000"/>
                </a:solidFill>
              </a:rPr>
              <a:t>each</a:t>
            </a:r>
            <a:r>
              <a:rPr lang="ru-RU" altLang="ru-RU" sz="2000" dirty="0">
                <a:solidFill>
                  <a:srgbClr val="000000"/>
                </a:solidFill>
              </a:rPr>
              <a:t> </a:t>
            </a:r>
            <a:r>
              <a:rPr lang="ru-RU" altLang="ru-RU" sz="2000" dirty="0" err="1">
                <a:solidFill>
                  <a:srgbClr val="000000"/>
                </a:solidFill>
              </a:rPr>
              <a:t>time</a:t>
            </a:r>
            <a:r>
              <a:rPr lang="ru-RU" altLang="ru-RU" sz="2000" dirty="0">
                <a:solidFill>
                  <a:srgbClr val="000000"/>
                </a:solidFill>
              </a:rPr>
              <a:t> </a:t>
            </a:r>
            <a:r>
              <a:rPr lang="ru-RU" altLang="ru-RU" sz="2000" dirty="0" err="1">
                <a:solidFill>
                  <a:srgbClr val="000000"/>
                </a:solidFill>
              </a:rPr>
              <a:t>step</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dirty="0" err="1">
                <a:solidFill>
                  <a:srgbClr val="000000"/>
                </a:solidFill>
              </a:rPr>
              <a:t>following</a:t>
            </a:r>
            <a:r>
              <a:rPr lang="ru-RU" altLang="ru-RU" sz="2000" dirty="0">
                <a:solidFill>
                  <a:srgbClr val="000000"/>
                </a:solidFill>
              </a:rPr>
              <a:t> </a:t>
            </a:r>
            <a:r>
              <a:rPr lang="ru-RU" altLang="ru-RU" sz="2000" dirty="0" err="1">
                <a:solidFill>
                  <a:srgbClr val="000000"/>
                </a:solidFill>
              </a:rPr>
              <a:t>one</a:t>
            </a:r>
            <a:r>
              <a:rPr lang="ru-RU" altLang="ru-RU" sz="2000" dirty="0">
                <a:solidFill>
                  <a:srgbClr val="000000"/>
                </a:solidFill>
              </a:rPr>
              <a:t> </a:t>
            </a:r>
            <a:r>
              <a:rPr lang="ru-RU" altLang="ru-RU" sz="2000" dirty="0" err="1">
                <a:solidFill>
                  <a:srgbClr val="000000"/>
                </a:solidFill>
              </a:rPr>
              <a:t>value</a:t>
            </a:r>
            <a:r>
              <a:rPr lang="ru-RU" altLang="ru-RU" sz="2000" dirty="0">
                <a:solidFill>
                  <a:srgbClr val="000000"/>
                </a:solidFill>
              </a:rPr>
              <a:t> </a:t>
            </a:r>
            <a:r>
              <a:rPr lang="ru-RU" altLang="ru-RU" sz="2000" dirty="0" err="1">
                <a:solidFill>
                  <a:srgbClr val="000000"/>
                </a:solidFill>
              </a:rPr>
              <a:t>and</a:t>
            </a:r>
            <a:r>
              <a:rPr lang="ru-RU" altLang="ru-RU" sz="2000" dirty="0">
                <a:solidFill>
                  <a:srgbClr val="000000"/>
                </a:solidFill>
              </a:rPr>
              <a:t> </a:t>
            </a:r>
            <a:r>
              <a:rPr lang="ru-RU" altLang="ru-RU" sz="2000" dirty="0" err="1">
                <a:solidFill>
                  <a:srgbClr val="000000"/>
                </a:solidFill>
              </a:rPr>
              <a:t>its</a:t>
            </a:r>
            <a:r>
              <a:rPr lang="ru-RU" altLang="ru-RU" sz="2000" dirty="0">
                <a:solidFill>
                  <a:srgbClr val="000000"/>
                </a:solidFill>
              </a:rPr>
              <a:t> </a:t>
            </a:r>
            <a:r>
              <a:rPr lang="ru-RU" altLang="ru-RU" sz="2000" dirty="0" err="1">
                <a:solidFill>
                  <a:srgbClr val="000000"/>
                </a:solidFill>
              </a:rPr>
              <a:t>distribution</a:t>
            </a:r>
            <a:r>
              <a:rPr lang="ru-RU" altLang="ru-RU" sz="2000" dirty="0">
                <a:solidFill>
                  <a:srgbClr val="000000"/>
                </a:solidFill>
              </a:rPr>
              <a:t> </a:t>
            </a:r>
            <a:r>
              <a:rPr lang="ru-RU" altLang="ru-RU" sz="2000" dirty="0" err="1">
                <a:solidFill>
                  <a:srgbClr val="000000"/>
                </a:solidFill>
              </a:rPr>
              <a:t>parameters</a:t>
            </a:r>
            <a:r>
              <a:rPr lang="ru-RU" altLang="ru-RU" sz="2000" dirty="0">
                <a:solidFill>
                  <a:srgbClr val="000000"/>
                </a:solidFill>
              </a:rPr>
              <a:t> (𝜇 </a:t>
            </a:r>
            <a:r>
              <a:rPr lang="ru-RU" altLang="ru-RU" sz="2000" dirty="0" err="1">
                <a:solidFill>
                  <a:srgbClr val="000000"/>
                </a:solidFill>
              </a:rPr>
              <a:t>and</a:t>
            </a:r>
            <a:r>
              <a:rPr lang="ru-RU" altLang="ru-RU" sz="2000" dirty="0">
                <a:solidFill>
                  <a:srgbClr val="000000"/>
                </a:solidFill>
              </a:rPr>
              <a:t> 𝛼-</a:t>
            </a:r>
            <a:r>
              <a:rPr lang="ru-RU" altLang="ru-RU" sz="2000" dirty="0" err="1">
                <a:solidFill>
                  <a:srgbClr val="000000"/>
                </a:solidFill>
              </a:rPr>
              <a:t>variance</a:t>
            </a:r>
            <a:r>
              <a:rPr lang="ru-RU" altLang="ru-RU" sz="2000" dirty="0">
                <a:solidFill>
                  <a:srgbClr val="000000"/>
                </a:solidFill>
              </a:rPr>
              <a:t> </a:t>
            </a:r>
            <a:r>
              <a:rPr lang="ru-RU" altLang="ru-RU" sz="2000" dirty="0" err="1">
                <a:solidFill>
                  <a:srgbClr val="000000"/>
                </a:solidFill>
              </a:rPr>
              <a:t>for</a:t>
            </a:r>
            <a:r>
              <a:rPr lang="ru-RU" altLang="ru-RU" sz="2000" dirty="0">
                <a:solidFill>
                  <a:srgbClr val="000000"/>
                </a:solidFill>
              </a:rPr>
              <a:t> </a:t>
            </a:r>
            <a:r>
              <a:rPr lang="ru-RU" altLang="ru-RU" sz="2000" dirty="0" err="1">
                <a:solidFill>
                  <a:srgbClr val="000000"/>
                </a:solidFill>
              </a:rPr>
              <a:t>Gaussian</a:t>
            </a:r>
            <a:r>
              <a:rPr lang="ru-RU" altLang="ru-RU" sz="2000" dirty="0">
                <a:solidFill>
                  <a:srgbClr val="000000"/>
                </a:solidFill>
              </a:rPr>
              <a:t> </a:t>
            </a:r>
            <a:r>
              <a:rPr lang="ru-RU" altLang="ru-RU" sz="2000" dirty="0" err="1">
                <a:solidFill>
                  <a:srgbClr val="000000"/>
                </a:solidFill>
              </a:rPr>
              <a:t>distribution</a:t>
            </a:r>
            <a:r>
              <a:rPr lang="ru-RU" altLang="ru-RU" sz="2000" dirty="0">
                <a:solidFill>
                  <a:srgbClr val="000000"/>
                </a:solidFill>
              </a:rPr>
              <a:t>, </a:t>
            </a:r>
            <a:r>
              <a:rPr lang="ru-RU" altLang="ru-RU" sz="2000" dirty="0" err="1">
                <a:solidFill>
                  <a:srgbClr val="000000"/>
                </a:solidFill>
              </a:rPr>
              <a:t>horizon</a:t>
            </a:r>
            <a:r>
              <a:rPr lang="ru-RU" altLang="ru-RU" sz="2000" dirty="0">
                <a:solidFill>
                  <a:srgbClr val="000000"/>
                </a:solidFill>
              </a:rPr>
              <a:t>=1).</a:t>
            </a:r>
          </a:p>
          <a:p>
            <a:pPr eaLnBrk="0" fontAlgn="base" hangingPunct="0">
              <a:lnSpc>
                <a:spcPct val="100000"/>
              </a:lnSpc>
              <a:spcBef>
                <a:spcPct val="0"/>
              </a:spcBef>
              <a:spcAft>
                <a:spcPct val="0"/>
              </a:spcAft>
            </a:pPr>
            <a:r>
              <a:rPr lang="ru-RU" altLang="ru-RU" sz="2000" dirty="0" err="1">
                <a:solidFill>
                  <a:srgbClr val="000000"/>
                </a:solidFill>
              </a:rPr>
              <a:t>The</a:t>
            </a:r>
            <a:r>
              <a:rPr lang="ru-RU" altLang="ru-RU" sz="2000" dirty="0">
                <a:solidFill>
                  <a:srgbClr val="000000"/>
                </a:solidFill>
              </a:rPr>
              <a:t> </a:t>
            </a:r>
            <a:r>
              <a:rPr lang="ru-RU" altLang="ru-RU" sz="2000" dirty="0" err="1">
                <a:solidFill>
                  <a:srgbClr val="000000"/>
                </a:solidFill>
              </a:rPr>
              <a:t>information</a:t>
            </a:r>
            <a:r>
              <a:rPr lang="ru-RU" altLang="ru-RU" sz="2000" dirty="0">
                <a:solidFill>
                  <a:srgbClr val="000000"/>
                </a:solidFill>
              </a:rPr>
              <a:t> </a:t>
            </a:r>
            <a:r>
              <a:rPr lang="ru-RU" altLang="ru-RU" sz="2000" dirty="0" err="1">
                <a:solidFill>
                  <a:srgbClr val="000000"/>
                </a:solidFill>
              </a:rPr>
              <a:t>is</a:t>
            </a:r>
            <a:r>
              <a:rPr lang="ru-RU" altLang="ru-RU" sz="2000" dirty="0">
                <a:solidFill>
                  <a:srgbClr val="000000"/>
                </a:solidFill>
              </a:rPr>
              <a:t> </a:t>
            </a:r>
            <a:r>
              <a:rPr lang="ru-RU" altLang="ru-RU" sz="2000" dirty="0" err="1">
                <a:solidFill>
                  <a:srgbClr val="000000"/>
                </a:solidFill>
              </a:rPr>
              <a:t>propagated</a:t>
            </a:r>
            <a:r>
              <a:rPr lang="ru-RU" altLang="ru-RU" sz="2000" dirty="0">
                <a:solidFill>
                  <a:srgbClr val="000000"/>
                </a:solidFill>
              </a:rPr>
              <a:t> </a:t>
            </a:r>
            <a:r>
              <a:rPr lang="ru-RU" altLang="ru-RU" sz="2000" dirty="0" err="1">
                <a:solidFill>
                  <a:srgbClr val="000000"/>
                </a:solidFill>
              </a:rPr>
              <a:t>to</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dirty="0" err="1">
                <a:solidFill>
                  <a:srgbClr val="000000"/>
                </a:solidFill>
              </a:rPr>
              <a:t>hidden</a:t>
            </a:r>
            <a:r>
              <a:rPr lang="ru-RU" altLang="ru-RU" sz="2000" dirty="0">
                <a:solidFill>
                  <a:srgbClr val="000000"/>
                </a:solidFill>
              </a:rPr>
              <a:t> </a:t>
            </a:r>
            <a:r>
              <a:rPr lang="ru-RU" altLang="ru-RU" sz="2000" dirty="0" err="1">
                <a:solidFill>
                  <a:srgbClr val="000000"/>
                </a:solidFill>
              </a:rPr>
              <a:t>layer</a:t>
            </a:r>
            <a:r>
              <a:rPr lang="ru-RU" altLang="ru-RU" sz="2000" dirty="0">
                <a:solidFill>
                  <a:srgbClr val="000000"/>
                </a:solidFill>
              </a:rPr>
              <a:t> (ℎ) </a:t>
            </a:r>
            <a:r>
              <a:rPr lang="ru-RU" altLang="ru-RU" sz="2000" dirty="0" err="1">
                <a:solidFill>
                  <a:srgbClr val="000000"/>
                </a:solidFill>
              </a:rPr>
              <a:t>and</a:t>
            </a:r>
            <a:r>
              <a:rPr lang="ru-RU" altLang="ru-RU" sz="2000" dirty="0">
                <a:solidFill>
                  <a:srgbClr val="000000"/>
                </a:solidFill>
              </a:rPr>
              <a:t> </a:t>
            </a:r>
            <a:r>
              <a:rPr lang="ru-RU" altLang="ru-RU" sz="2000" dirty="0" err="1">
                <a:solidFill>
                  <a:srgbClr val="000000"/>
                </a:solidFill>
              </a:rPr>
              <a:t>up</a:t>
            </a:r>
            <a:r>
              <a:rPr lang="ru-RU" altLang="ru-RU" sz="2000" dirty="0">
                <a:solidFill>
                  <a:srgbClr val="000000"/>
                </a:solidFill>
              </a:rPr>
              <a:t> </a:t>
            </a:r>
            <a:r>
              <a:rPr lang="ru-RU" altLang="ru-RU" sz="2000" dirty="0" err="1">
                <a:solidFill>
                  <a:srgbClr val="000000"/>
                </a:solidFill>
              </a:rPr>
              <a:t>to</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dirty="0" err="1">
                <a:solidFill>
                  <a:srgbClr val="000000"/>
                </a:solidFill>
              </a:rPr>
              <a:t>loss</a:t>
            </a:r>
            <a:r>
              <a:rPr lang="ru-RU" altLang="ru-RU" sz="2000" dirty="0">
                <a:solidFill>
                  <a:srgbClr val="000000"/>
                </a:solidFill>
              </a:rPr>
              <a:t> </a:t>
            </a:r>
            <a:r>
              <a:rPr lang="ru-RU" altLang="ru-RU" sz="2000" dirty="0" err="1">
                <a:solidFill>
                  <a:srgbClr val="000000"/>
                </a:solidFill>
              </a:rPr>
              <a:t>function</a:t>
            </a:r>
            <a:r>
              <a:rPr lang="ru-RU" altLang="ru-RU" sz="2000" dirty="0">
                <a:solidFill>
                  <a:srgbClr val="000000"/>
                </a:solidFill>
              </a:rPr>
              <a:t> (</a:t>
            </a:r>
            <a:r>
              <a:rPr lang="ru-RU" altLang="ru-RU" sz="2000" dirty="0" err="1">
                <a:solidFill>
                  <a:srgbClr val="000000"/>
                </a:solidFill>
              </a:rPr>
              <a:t>likelihood</a:t>
            </a:r>
            <a:r>
              <a:rPr lang="ru-RU" altLang="ru-RU" sz="2000" dirty="0">
                <a:solidFill>
                  <a:srgbClr val="000000"/>
                </a:solidFill>
              </a:rPr>
              <a:t> </a:t>
            </a:r>
            <a:r>
              <a:rPr lang="ru-RU" altLang="ru-RU" sz="2000" dirty="0" err="1">
                <a:solidFill>
                  <a:srgbClr val="000000"/>
                </a:solidFill>
              </a:rPr>
              <a:t>function</a:t>
            </a:r>
            <a:r>
              <a:rPr lang="ru-RU" altLang="ru-RU" sz="2000" dirty="0">
                <a:solidFill>
                  <a:srgbClr val="000000"/>
                </a:solidFill>
              </a:rPr>
              <a:t>, </a:t>
            </a:r>
            <a:r>
              <a:rPr lang="ru-RU" altLang="ru-RU" sz="2000" dirty="0" err="1">
                <a:solidFill>
                  <a:srgbClr val="000000"/>
                </a:solidFill>
              </a:rPr>
              <a:t>which</a:t>
            </a:r>
            <a:r>
              <a:rPr lang="ru-RU" altLang="ru-RU" sz="2000" dirty="0">
                <a:solidFill>
                  <a:srgbClr val="000000"/>
                </a:solidFill>
              </a:rPr>
              <a:t> </a:t>
            </a:r>
            <a:r>
              <a:rPr lang="ru-RU" altLang="ru-RU" sz="2000" dirty="0" err="1">
                <a:solidFill>
                  <a:srgbClr val="000000"/>
                </a:solidFill>
              </a:rPr>
              <a:t>is</a:t>
            </a:r>
            <a:r>
              <a:rPr lang="ru-RU" altLang="ru-RU" sz="2000" dirty="0">
                <a:solidFill>
                  <a:srgbClr val="000000"/>
                </a:solidFill>
              </a:rPr>
              <a:t> a </a:t>
            </a:r>
            <a:r>
              <a:rPr lang="ru-RU" altLang="ru-RU" sz="2000" dirty="0" err="1">
                <a:solidFill>
                  <a:srgbClr val="000000"/>
                </a:solidFill>
              </a:rPr>
              <a:t>score</a:t>
            </a:r>
            <a:r>
              <a:rPr lang="ru-RU" altLang="ru-RU" sz="2000" dirty="0">
                <a:solidFill>
                  <a:srgbClr val="000000"/>
                </a:solidFill>
              </a:rPr>
              <a:t> </a:t>
            </a:r>
            <a:r>
              <a:rPr lang="ru-RU" altLang="ru-RU" sz="2000" dirty="0" err="1">
                <a:solidFill>
                  <a:srgbClr val="000000"/>
                </a:solidFill>
              </a:rPr>
              <a:t>function</a:t>
            </a:r>
            <a:r>
              <a:rPr lang="ru-RU" altLang="ru-RU" sz="2000" dirty="0">
                <a:solidFill>
                  <a:srgbClr val="000000"/>
                </a:solidFill>
              </a:rPr>
              <a:t>).</a:t>
            </a:r>
            <a:br>
              <a:rPr lang="ru-RU" altLang="ru-RU" sz="2000" dirty="0">
                <a:solidFill>
                  <a:srgbClr val="000000"/>
                </a:solidFill>
              </a:rPr>
            </a:br>
            <a:r>
              <a:rPr lang="ru-RU" altLang="ru-RU" sz="2000" dirty="0" err="1">
                <a:solidFill>
                  <a:srgbClr val="000000"/>
                </a:solidFill>
              </a:rPr>
              <a:t>The</a:t>
            </a:r>
            <a:r>
              <a:rPr lang="ru-RU" altLang="ru-RU" sz="2000" dirty="0">
                <a:solidFill>
                  <a:srgbClr val="000000"/>
                </a:solidFill>
              </a:rPr>
              <a:t> </a:t>
            </a:r>
            <a:r>
              <a:rPr lang="ru-RU" altLang="ru-RU" sz="2000" dirty="0" err="1">
                <a:solidFill>
                  <a:srgbClr val="000000"/>
                </a:solidFill>
              </a:rPr>
              <a:t>likelihood</a:t>
            </a:r>
            <a:r>
              <a:rPr lang="ru-RU" altLang="ru-RU" sz="2000" dirty="0">
                <a:solidFill>
                  <a:srgbClr val="000000"/>
                </a:solidFill>
              </a:rPr>
              <a:t> </a:t>
            </a:r>
            <a:r>
              <a:rPr lang="ru-RU" altLang="ru-RU" sz="2000" dirty="0" err="1">
                <a:solidFill>
                  <a:srgbClr val="000000"/>
                </a:solidFill>
              </a:rPr>
              <a:t>function</a:t>
            </a:r>
            <a:r>
              <a:rPr lang="ru-RU" altLang="ru-RU" sz="2000" dirty="0">
                <a:solidFill>
                  <a:srgbClr val="000000"/>
                </a:solidFill>
              </a:rPr>
              <a:t> </a:t>
            </a:r>
            <a:r>
              <a:rPr lang="ru-RU" altLang="ru-RU" sz="2000" dirty="0" err="1">
                <a:solidFill>
                  <a:srgbClr val="000000"/>
                </a:solidFill>
              </a:rPr>
              <a:t>can</a:t>
            </a:r>
            <a:r>
              <a:rPr lang="ru-RU" altLang="ru-RU" sz="2000" dirty="0">
                <a:solidFill>
                  <a:srgbClr val="000000"/>
                </a:solidFill>
              </a:rPr>
              <a:t> </a:t>
            </a:r>
            <a:r>
              <a:rPr lang="ru-RU" altLang="ru-RU" sz="2000" dirty="0" err="1">
                <a:solidFill>
                  <a:srgbClr val="000000"/>
                </a:solidFill>
              </a:rPr>
              <a:t>be</a:t>
            </a:r>
            <a:r>
              <a:rPr lang="ru-RU" altLang="ru-RU" sz="2000" dirty="0">
                <a:solidFill>
                  <a:srgbClr val="000000"/>
                </a:solidFill>
              </a:rPr>
              <a:t> </a:t>
            </a:r>
            <a:r>
              <a:rPr lang="ru-RU" altLang="ru-RU" sz="2000" dirty="0" err="1">
                <a:solidFill>
                  <a:srgbClr val="000000"/>
                </a:solidFill>
              </a:rPr>
              <a:t>Gaussian</a:t>
            </a:r>
            <a:r>
              <a:rPr lang="ru-RU" altLang="ru-RU" sz="2000" dirty="0">
                <a:solidFill>
                  <a:srgbClr val="000000"/>
                </a:solidFill>
              </a:rPr>
              <a:t> </a:t>
            </a:r>
            <a:r>
              <a:rPr lang="ru-RU" altLang="ru-RU" sz="2000" dirty="0" err="1">
                <a:solidFill>
                  <a:srgbClr val="000000"/>
                </a:solidFill>
              </a:rPr>
              <a:t>or</a:t>
            </a:r>
            <a:r>
              <a:rPr lang="ru-RU" altLang="ru-RU" sz="2000" dirty="0">
                <a:solidFill>
                  <a:srgbClr val="000000"/>
                </a:solidFill>
              </a:rPr>
              <a:t> </a:t>
            </a:r>
            <a:r>
              <a:rPr lang="ru-RU" altLang="ru-RU" sz="2000" dirty="0" err="1">
                <a:solidFill>
                  <a:srgbClr val="000000"/>
                </a:solidFill>
              </a:rPr>
              <a:t>Negative</a:t>
            </a:r>
            <a:r>
              <a:rPr lang="ru-RU" altLang="ru-RU" sz="2000" dirty="0">
                <a:solidFill>
                  <a:srgbClr val="000000"/>
                </a:solidFill>
              </a:rPr>
              <a:t> </a:t>
            </a:r>
            <a:r>
              <a:rPr lang="ru-RU" altLang="ru-RU" sz="2000" dirty="0" err="1">
                <a:solidFill>
                  <a:srgbClr val="000000"/>
                </a:solidFill>
              </a:rPr>
              <a:t>Binomial</a:t>
            </a:r>
            <a:r>
              <a:rPr lang="ru-RU" altLang="ru-RU" sz="2000" dirty="0">
                <a:solidFill>
                  <a:srgbClr val="000000"/>
                </a:solidFill>
              </a:rPr>
              <a:t>.</a:t>
            </a:r>
          </a:p>
          <a:p>
            <a:pPr eaLnBrk="0" fontAlgn="base" hangingPunct="0">
              <a:lnSpc>
                <a:spcPct val="100000"/>
              </a:lnSpc>
              <a:spcBef>
                <a:spcPct val="0"/>
              </a:spcBef>
              <a:spcAft>
                <a:spcPct val="0"/>
              </a:spcAft>
            </a:pPr>
            <a:r>
              <a:rPr lang="ru-RU" altLang="ru-RU" sz="2000" dirty="0" err="1">
                <a:solidFill>
                  <a:srgbClr val="000000"/>
                </a:solidFill>
              </a:rPr>
              <a:t>On</a:t>
            </a:r>
            <a:r>
              <a:rPr lang="ru-RU" altLang="ru-RU" sz="2000" dirty="0">
                <a:solidFill>
                  <a:srgbClr val="000000"/>
                </a:solidFill>
              </a:rPr>
              <a:t> </a:t>
            </a:r>
            <a:r>
              <a:rPr lang="ru-RU" altLang="ru-RU" sz="2000" dirty="0" err="1">
                <a:solidFill>
                  <a:srgbClr val="000000"/>
                </a:solidFill>
              </a:rPr>
              <a:t>the</a:t>
            </a:r>
            <a:r>
              <a:rPr lang="ru-RU" altLang="ru-RU" sz="2000" dirty="0">
                <a:solidFill>
                  <a:srgbClr val="000000"/>
                </a:solidFill>
              </a:rPr>
              <a:t> </a:t>
            </a:r>
            <a:r>
              <a:rPr lang="ru-RU" altLang="ru-RU" sz="2000" b="1" dirty="0" err="1">
                <a:solidFill>
                  <a:srgbClr val="000000"/>
                </a:solidFill>
              </a:rPr>
              <a:t>validate</a:t>
            </a:r>
            <a:r>
              <a:rPr lang="ru-RU" altLang="ru-RU" sz="2000" b="1" dirty="0">
                <a:solidFill>
                  <a:srgbClr val="000000"/>
                </a:solidFill>
              </a:rPr>
              <a:t> </a:t>
            </a:r>
            <a:r>
              <a:rPr lang="ru-RU" altLang="ru-RU" sz="2000" b="1" dirty="0" err="1">
                <a:solidFill>
                  <a:srgbClr val="000000"/>
                </a:solidFill>
              </a:rPr>
              <a:t>stage</a:t>
            </a:r>
            <a:r>
              <a:rPr lang="ru-RU" altLang="ru-RU" sz="2000" dirty="0">
                <a:solidFill>
                  <a:srgbClr val="000000"/>
                </a:solidFill>
              </a:rPr>
              <a:t> </a:t>
            </a:r>
            <a:r>
              <a:rPr lang="ru-RU" altLang="ru-RU" sz="2000" dirty="0" err="1">
                <a:solidFill>
                  <a:srgbClr val="000000"/>
                </a:solidFill>
              </a:rPr>
              <a:t>forward</a:t>
            </a:r>
            <a:r>
              <a:rPr lang="ru-RU" altLang="ru-RU" sz="2000" dirty="0">
                <a:solidFill>
                  <a:srgbClr val="000000"/>
                </a:solidFill>
              </a:rPr>
              <a:t> </a:t>
            </a:r>
            <a:r>
              <a:rPr lang="ru-RU" altLang="ru-RU" sz="2000" dirty="0" err="1">
                <a:solidFill>
                  <a:srgbClr val="000000"/>
                </a:solidFill>
              </a:rPr>
              <a:t>propagation</a:t>
            </a:r>
            <a:r>
              <a:rPr lang="ru-RU" altLang="ru-RU" sz="2000" dirty="0">
                <a:solidFill>
                  <a:srgbClr val="000000"/>
                </a:solidFill>
              </a:rPr>
              <a:t> </a:t>
            </a:r>
            <a:r>
              <a:rPr lang="ru-RU" altLang="ru-RU" sz="2000" dirty="0" err="1">
                <a:solidFill>
                  <a:srgbClr val="000000"/>
                </a:solidFill>
              </a:rPr>
              <a:t>is</a:t>
            </a:r>
            <a:r>
              <a:rPr lang="ru-RU" altLang="ru-RU" sz="2000" dirty="0">
                <a:solidFill>
                  <a:srgbClr val="000000"/>
                </a:solidFill>
              </a:rPr>
              <a:t> </a:t>
            </a:r>
            <a:r>
              <a:rPr lang="ru-RU" altLang="ru-RU" sz="2000" dirty="0" err="1">
                <a:solidFill>
                  <a:srgbClr val="000000"/>
                </a:solidFill>
              </a:rPr>
              <a:t>carried</a:t>
            </a:r>
            <a:r>
              <a:rPr lang="ru-RU" altLang="ru-RU" sz="2000" dirty="0">
                <a:solidFill>
                  <a:srgbClr val="000000"/>
                </a:solidFill>
              </a:rPr>
              <a:t> </a:t>
            </a:r>
            <a:r>
              <a:rPr lang="ru-RU" altLang="ru-RU" sz="2000" dirty="0" err="1">
                <a:solidFill>
                  <a:srgbClr val="000000"/>
                </a:solidFill>
              </a:rPr>
              <a:t>out</a:t>
            </a:r>
            <a:r>
              <a:rPr lang="ru-RU" altLang="ru-RU" sz="2000" dirty="0">
                <a:solidFill>
                  <a:srgbClr val="000000"/>
                </a:solidFill>
              </a:rPr>
              <a:t> </a:t>
            </a:r>
            <a:r>
              <a:rPr lang="ru-RU" altLang="ru-RU" sz="2000" dirty="0" err="1">
                <a:solidFill>
                  <a:srgbClr val="000000"/>
                </a:solidFill>
              </a:rPr>
              <a:t>using</a:t>
            </a:r>
            <a:r>
              <a:rPr lang="ru-RU" altLang="ru-RU" sz="2000" dirty="0">
                <a:solidFill>
                  <a:srgbClr val="000000"/>
                </a:solidFill>
              </a:rPr>
              <a:t> </a:t>
            </a:r>
            <a:r>
              <a:rPr lang="ru-RU" altLang="ru-RU" sz="2000" dirty="0" err="1">
                <a:solidFill>
                  <a:srgbClr val="000000"/>
                </a:solidFill>
              </a:rPr>
              <a:t>input</a:t>
            </a:r>
            <a:r>
              <a:rPr lang="ru-RU" altLang="ru-RU" sz="2000" dirty="0">
                <a:solidFill>
                  <a:srgbClr val="000000"/>
                </a:solidFill>
              </a:rPr>
              <a:t> 𝑧𝑖−1 (</a:t>
            </a:r>
            <a:r>
              <a:rPr lang="ru-RU" altLang="ru-RU" sz="2000" dirty="0" err="1">
                <a:solidFill>
                  <a:srgbClr val="000000"/>
                </a:solidFill>
              </a:rPr>
              <a:t>along</a:t>
            </a:r>
            <a:r>
              <a:rPr lang="ru-RU" altLang="ru-RU" sz="2000" dirty="0">
                <a:solidFill>
                  <a:srgbClr val="000000"/>
                </a:solidFill>
              </a:rPr>
              <a:t> </a:t>
            </a:r>
            <a:r>
              <a:rPr lang="ru-RU" altLang="ru-RU" sz="2000" dirty="0" err="1">
                <a:solidFill>
                  <a:srgbClr val="000000"/>
                </a:solidFill>
              </a:rPr>
              <a:t>with</a:t>
            </a:r>
            <a:r>
              <a:rPr lang="ru-RU" altLang="ru-RU" sz="2000" dirty="0">
                <a:solidFill>
                  <a:srgbClr val="000000"/>
                </a:solidFill>
              </a:rPr>
              <a:t> [</a:t>
            </a:r>
            <a:r>
              <a:rPr lang="ru-RU" altLang="ru-RU" sz="2000" dirty="0" err="1">
                <a:solidFill>
                  <a:srgbClr val="000000"/>
                </a:solidFill>
              </a:rPr>
              <a:t>optional</a:t>
            </a:r>
            <a:r>
              <a:rPr lang="ru-RU" altLang="ru-RU" sz="2000" dirty="0">
                <a:solidFill>
                  <a:srgbClr val="000000"/>
                </a:solidFill>
              </a:rPr>
              <a:t>] </a:t>
            </a:r>
            <a:r>
              <a:rPr lang="ru-RU" altLang="ru-RU" sz="2000" dirty="0" err="1">
                <a:solidFill>
                  <a:srgbClr val="000000"/>
                </a:solidFill>
              </a:rPr>
              <a:t>covariates</a:t>
            </a:r>
            <a:r>
              <a:rPr lang="en-US" altLang="ru-RU" sz="2000" dirty="0">
                <a:solidFill>
                  <a:srgbClr val="000000"/>
                </a:solidFill>
              </a:rPr>
              <a:t> (exogenous factors)</a:t>
            </a:r>
            <a:r>
              <a:rPr lang="ru-RU" altLang="ru-RU" sz="2000" dirty="0">
                <a:solidFill>
                  <a:srgbClr val="000000"/>
                </a:solidFill>
              </a:rPr>
              <a:t> </a:t>
            </a:r>
            <a:r>
              <a:rPr lang="ru-RU" altLang="ru-RU" sz="2000" dirty="0" err="1">
                <a:solidFill>
                  <a:srgbClr val="000000"/>
                </a:solidFill>
              </a:rPr>
              <a:t>or</a:t>
            </a:r>
            <a:r>
              <a:rPr lang="ru-RU" altLang="ru-RU" sz="2000" dirty="0">
                <a:solidFill>
                  <a:srgbClr val="000000"/>
                </a:solidFill>
              </a:rPr>
              <a:t> </a:t>
            </a:r>
            <a:r>
              <a:rPr lang="ru-RU" altLang="ru-RU" sz="2000" dirty="0" err="1">
                <a:solidFill>
                  <a:srgbClr val="000000"/>
                </a:solidFill>
              </a:rPr>
              <a:t>one-hot-encoded</a:t>
            </a:r>
            <a:r>
              <a:rPr lang="ru-RU" altLang="ru-RU" sz="2000" dirty="0">
                <a:solidFill>
                  <a:srgbClr val="000000"/>
                </a:solidFill>
              </a:rPr>
              <a:t> </a:t>
            </a:r>
            <a:r>
              <a:rPr lang="ru-RU" altLang="ru-RU" sz="2000" dirty="0" err="1">
                <a:solidFill>
                  <a:srgbClr val="000000"/>
                </a:solidFill>
              </a:rPr>
              <a:t>categorical</a:t>
            </a:r>
            <a:r>
              <a:rPr lang="ru-RU" altLang="ru-RU" sz="2000" dirty="0">
                <a:solidFill>
                  <a:srgbClr val="000000"/>
                </a:solidFill>
              </a:rPr>
              <a:t> </a:t>
            </a:r>
            <a:r>
              <a:rPr lang="ru-RU" altLang="ru-RU" sz="2000" dirty="0" err="1">
                <a:solidFill>
                  <a:srgbClr val="000000"/>
                </a:solidFill>
              </a:rPr>
              <a:t>features</a:t>
            </a:r>
            <a:r>
              <a:rPr lang="ru-RU" altLang="ru-RU" sz="2000" dirty="0">
                <a:solidFill>
                  <a:srgbClr val="000000"/>
                </a:solidFill>
              </a:rPr>
              <a:t>) </a:t>
            </a:r>
            <a:r>
              <a:rPr lang="ru-RU" altLang="ru-RU" sz="2000" dirty="0" err="1">
                <a:solidFill>
                  <a:srgbClr val="000000"/>
                </a:solidFill>
              </a:rPr>
              <a:t>and</a:t>
            </a:r>
            <a:r>
              <a:rPr lang="ru-RU" altLang="ru-RU" sz="2000" dirty="0">
                <a:solidFill>
                  <a:srgbClr val="000000"/>
                </a:solidFill>
              </a:rPr>
              <a:t> </a:t>
            </a:r>
            <a:r>
              <a:rPr lang="ru-RU" altLang="ru-RU" sz="2000" dirty="0" err="1">
                <a:solidFill>
                  <a:srgbClr val="000000"/>
                </a:solidFill>
              </a:rPr>
              <a:t>obtained</a:t>
            </a:r>
            <a:r>
              <a:rPr lang="ru-RU" altLang="ru-RU" sz="2000" dirty="0">
                <a:solidFill>
                  <a:srgbClr val="000000"/>
                </a:solidFill>
              </a:rPr>
              <a:t> </a:t>
            </a:r>
            <a:r>
              <a:rPr lang="ru-RU" altLang="ru-RU" sz="2000" dirty="0" err="1">
                <a:solidFill>
                  <a:srgbClr val="000000"/>
                </a:solidFill>
              </a:rPr>
              <a:t>on</a:t>
            </a:r>
            <a:r>
              <a:rPr lang="ru-RU" altLang="ru-RU" sz="2000" dirty="0">
                <a:solidFill>
                  <a:srgbClr val="000000"/>
                </a:solidFill>
              </a:rPr>
              <a:t> </a:t>
            </a:r>
            <a:r>
              <a:rPr lang="ru-RU" altLang="ru-RU" sz="2000" dirty="0" err="1">
                <a:solidFill>
                  <a:srgbClr val="000000"/>
                </a:solidFill>
              </a:rPr>
              <a:t>training</a:t>
            </a:r>
            <a:r>
              <a:rPr lang="ru-RU" altLang="ru-RU" sz="2000" dirty="0">
                <a:solidFill>
                  <a:srgbClr val="000000"/>
                </a:solidFill>
              </a:rPr>
              <a:t> </a:t>
            </a:r>
            <a:r>
              <a:rPr lang="ru-RU" altLang="ru-RU" sz="2000" dirty="0" err="1">
                <a:solidFill>
                  <a:srgbClr val="000000"/>
                </a:solidFill>
              </a:rPr>
              <a:t>stage</a:t>
            </a:r>
            <a:r>
              <a:rPr lang="ru-RU" altLang="ru-RU" sz="2000" dirty="0">
                <a:solidFill>
                  <a:srgbClr val="000000"/>
                </a:solidFill>
              </a:rPr>
              <a:t> </a:t>
            </a:r>
            <a:r>
              <a:rPr lang="ru-RU" altLang="ru-RU" sz="2000" dirty="0" err="1">
                <a:solidFill>
                  <a:srgbClr val="000000"/>
                </a:solidFill>
              </a:rPr>
              <a:t>parameters</a:t>
            </a:r>
            <a:r>
              <a:rPr lang="ru-RU" altLang="ru-RU" sz="2000" dirty="0">
                <a:solidFill>
                  <a:srgbClr val="000000"/>
                </a:solidFill>
              </a:rPr>
              <a:t> 𝜇 </a:t>
            </a:r>
            <a:r>
              <a:rPr lang="ru-RU" altLang="ru-RU" sz="2000" dirty="0" err="1">
                <a:solidFill>
                  <a:srgbClr val="000000"/>
                </a:solidFill>
              </a:rPr>
              <a:t>and</a:t>
            </a:r>
            <a:r>
              <a:rPr lang="ru-RU" altLang="ru-RU" sz="2000" dirty="0">
                <a:solidFill>
                  <a:srgbClr val="000000"/>
                </a:solidFill>
              </a:rPr>
              <a:t> 𝛼.</a:t>
            </a:r>
          </a:p>
          <a:p>
            <a:pPr marL="0" lvl="0" indent="0" eaLnBrk="0" fontAlgn="base" hangingPunct="0">
              <a:lnSpc>
                <a:spcPct val="100000"/>
              </a:lnSpc>
              <a:spcBef>
                <a:spcPct val="0"/>
              </a:spcBef>
              <a:spcAft>
                <a:spcPct val="0"/>
              </a:spcAft>
              <a:buNone/>
            </a:pPr>
            <a:endParaRPr lang="ru-RU" altLang="ru-RU" sz="2000" dirty="0">
              <a:latin typeface="Arial" panose="020B0604020202020204" pitchFamily="34" charset="0"/>
            </a:endParaRP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29039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2927" y="177119"/>
            <a:ext cx="10883781" cy="540728"/>
          </a:xfrm>
        </p:spPr>
        <p:txBody>
          <a:bodyPr>
            <a:noAutofit/>
          </a:bodyPr>
          <a:lstStyle/>
          <a:p>
            <a:r>
              <a:rPr lang="en-US" sz="4000" b="1" dirty="0"/>
              <a:t>RNN. </a:t>
            </a:r>
            <a:r>
              <a:rPr lang="en-US" sz="4000" b="1" dirty="0" err="1"/>
              <a:t>Глубокая</a:t>
            </a:r>
            <a:r>
              <a:rPr lang="en-US" sz="4000" b="1" dirty="0"/>
              <a:t> AR </a:t>
            </a:r>
            <a:r>
              <a:rPr lang="ru-RU" sz="4000" b="1" dirty="0"/>
              <a:t>сеть Для справки</a:t>
            </a:r>
            <a:endParaRPr lang="en-US" sz="4000" b="1" dirty="0"/>
          </a:p>
        </p:txBody>
      </p:sp>
      <p:sp>
        <p:nvSpPr>
          <p:cNvPr id="3" name="Объект 2"/>
          <p:cNvSpPr>
            <a:spLocks noGrp="1"/>
          </p:cNvSpPr>
          <p:nvPr>
            <p:ph idx="1"/>
          </p:nvPr>
        </p:nvSpPr>
        <p:spPr>
          <a:xfrm>
            <a:off x="92365" y="672058"/>
            <a:ext cx="11832935" cy="6140153"/>
          </a:xfrm>
        </p:spPr>
        <p:txBody>
          <a:bodyPr>
            <a:noAutofit/>
          </a:bodyPr>
          <a:lstStyle/>
          <a:p>
            <a:pPr lvl="0"/>
            <a:r>
              <a:rPr lang="ru-RU" sz="2000" b="1" dirty="0"/>
              <a:t>Преимущества </a:t>
            </a:r>
            <a:r>
              <a:rPr lang="ru-RU" sz="2000" b="1" dirty="0" err="1"/>
              <a:t>DeepAR</a:t>
            </a:r>
            <a:endParaRPr lang="ru-RU" sz="2000" dirty="0"/>
          </a:p>
          <a:p>
            <a:pPr lvl="1"/>
            <a:r>
              <a:rPr lang="ru-RU" sz="2200" dirty="0"/>
              <a:t>возможность обучения нескольких сотен или тысяч временных рядов одновременно, значительная масштабируемость модели.</a:t>
            </a:r>
          </a:p>
          <a:p>
            <a:pPr lvl="1"/>
            <a:r>
              <a:rPr lang="ru-RU" sz="2200" dirty="0"/>
              <a:t>Модель может </a:t>
            </a:r>
            <a:r>
              <a:rPr lang="ru-RU" sz="2200" dirty="0" err="1"/>
              <a:t>предсказыать</a:t>
            </a:r>
            <a:r>
              <a:rPr lang="ru-RU" sz="2200" dirty="0"/>
              <a:t> данные с небольшой историей.</a:t>
            </a:r>
          </a:p>
          <a:p>
            <a:pPr lvl="1"/>
            <a:r>
              <a:rPr lang="ru-RU" sz="2200" dirty="0"/>
              <a:t>Разнообразие функций правдоподобия: </a:t>
            </a:r>
            <a:r>
              <a:rPr lang="ru-RU" sz="2200" dirty="0" err="1"/>
              <a:t>DeepAR</a:t>
            </a:r>
            <a:r>
              <a:rPr lang="ru-RU" sz="2200" dirty="0"/>
              <a:t> не использует </a:t>
            </a:r>
            <a:r>
              <a:rPr lang="ru-RU" sz="2200" dirty="0" err="1"/>
              <a:t>гауссовский</a:t>
            </a:r>
            <a:r>
              <a:rPr lang="ru-RU" sz="2200" dirty="0"/>
              <a:t> шум для обеспечения гибкости данных.</a:t>
            </a:r>
          </a:p>
          <a:p>
            <a:pPr lvl="0"/>
            <a:r>
              <a:rPr lang="ru-RU" sz="2000" b="1" dirty="0"/>
              <a:t>Недостатки </a:t>
            </a:r>
            <a:r>
              <a:rPr lang="ru-RU" sz="2000" b="1" dirty="0" err="1"/>
              <a:t>DeepAR</a:t>
            </a:r>
            <a:endParaRPr lang="ru-RU" sz="2000" dirty="0"/>
          </a:p>
          <a:p>
            <a:pPr lvl="1"/>
            <a:r>
              <a:rPr lang="ru-RU" sz="2200" dirty="0"/>
              <a:t>Требуется полный набор данных при создании новых прогнозов.</a:t>
            </a:r>
          </a:p>
          <a:p>
            <a:pPr lvl="1"/>
            <a:r>
              <a:rPr lang="ru-RU" sz="2200" dirty="0"/>
              <a:t>Нет настройки модели для отдельных временных рядов.</a:t>
            </a:r>
          </a:p>
          <a:p>
            <a:pPr lvl="1"/>
            <a:r>
              <a:rPr lang="ru-RU" sz="2200" dirty="0"/>
              <a:t>Данные должны быть отформатированы определенным образом, рекомендованным разработчиком.</a:t>
            </a:r>
          </a:p>
          <a:p>
            <a:pPr lvl="1"/>
            <a:r>
              <a:rPr lang="ru-RU" sz="2200" dirty="0"/>
              <a:t>Позволяют получить сравнительно высокую производительность только на огромном объекте объединенных данных. </a:t>
            </a:r>
          </a:p>
          <a:p>
            <a:pPr lvl="1"/>
            <a:r>
              <a:rPr lang="ru-RU" sz="2200" dirty="0"/>
              <a:t>Точность для определенных рядов данных (или небольшого количества рядов) ниже, чем для ARIMA и ETS.</a:t>
            </a:r>
          </a:p>
        </p:txBody>
      </p:sp>
      <p:sp>
        <p:nvSpPr>
          <p:cNvPr id="4" name="AutoShape 2" descr="image-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9" name="AutoShape 5"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5" name="AutoShape 2" descr="image-2.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6" name="Rectangle 1"/>
          <p:cNvSpPr>
            <a:spLocks noChangeArrowheads="1"/>
          </p:cNvSpPr>
          <p:nvPr/>
        </p:nvSpPr>
        <p:spPr bwMode="auto">
          <a:xfrm>
            <a:off x="0" y="9975"/>
            <a:ext cx="184731" cy="437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AutoShape 2" descr="image-2.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3" name="Rectangle 1"/>
          <p:cNvSpPr>
            <a:spLocks noChangeArrowheads="1"/>
          </p:cNvSpPr>
          <p:nvPr/>
        </p:nvSpPr>
        <p:spPr bwMode="auto">
          <a:xfrm>
            <a:off x="6003634"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5" name="AutoShape 2" descr="image.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1" name="AutoShape 3" descr="image.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12" name="AutoShape 2" descr="image.pn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
        <p:nvSpPr>
          <p:cNvPr id="8"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AutoShape 2" descr="image.pn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rtl="0"/>
            <a:endParaRPr lang="ru-RU"/>
          </a:p>
        </p:txBody>
      </p:sp>
    </p:spTree>
    <p:extLst>
      <p:ext uri="{BB962C8B-B14F-4D97-AF65-F5344CB8AC3E}">
        <p14:creationId xmlns:p14="http://schemas.microsoft.com/office/powerpoint/2010/main" val="41508463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BB7B41-7122-497A-A583-FEDA914639DE}"/>
              </a:ext>
            </a:extLst>
          </p:cNvPr>
          <p:cNvSpPr>
            <a:spLocks noGrp="1"/>
          </p:cNvSpPr>
          <p:nvPr>
            <p:ph type="ctrTitle"/>
          </p:nvPr>
        </p:nvSpPr>
        <p:spPr>
          <a:xfrm>
            <a:off x="1524000" y="394166"/>
            <a:ext cx="9144000" cy="3034834"/>
          </a:xfrm>
        </p:spPr>
        <p:txBody>
          <a:bodyPr>
            <a:normAutofit/>
          </a:bodyPr>
          <a:lstStyle/>
          <a:p>
            <a:r>
              <a:rPr lang="ru-RU" b="1" dirty="0"/>
              <a:t>Использование методов глубокого обучения в анализе временных рядов</a:t>
            </a:r>
          </a:p>
        </p:txBody>
      </p:sp>
      <p:sp>
        <p:nvSpPr>
          <p:cNvPr id="4" name="Подзаголовок 3"/>
          <p:cNvSpPr>
            <a:spLocks noGrp="1"/>
          </p:cNvSpPr>
          <p:nvPr>
            <p:ph type="subTitle" idx="1"/>
          </p:nvPr>
        </p:nvSpPr>
        <p:spPr/>
        <p:txBody>
          <a:bodyPr/>
          <a:lstStyle/>
          <a:p>
            <a:endParaRPr lang="ru-RU"/>
          </a:p>
        </p:txBody>
      </p:sp>
    </p:spTree>
    <p:extLst>
      <p:ext uri="{BB962C8B-B14F-4D97-AF65-F5344CB8AC3E}">
        <p14:creationId xmlns:p14="http://schemas.microsoft.com/office/powerpoint/2010/main" val="335394426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5218</TotalTime>
  <Words>8235</Words>
  <Application>Microsoft Macintosh PowerPoint</Application>
  <PresentationFormat>Широкоэкранный</PresentationFormat>
  <Paragraphs>808</Paragraphs>
  <Slides>94</Slides>
  <Notes>1</Notes>
  <HiddenSlides>28</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94</vt:i4>
      </vt:variant>
    </vt:vector>
  </HeadingPairs>
  <TitlesOfParts>
    <vt:vector size="106" baseType="lpstr">
      <vt:lpstr>-apple-system</vt:lpstr>
      <vt:lpstr>Aptos</vt:lpstr>
      <vt:lpstr>Arial</vt:lpstr>
      <vt:lpstr>Calibri</vt:lpstr>
      <vt:lpstr>Calibri Light</vt:lpstr>
      <vt:lpstr>Cambria</vt:lpstr>
      <vt:lpstr>Cambria Math</vt:lpstr>
      <vt:lpstr>Georgia</vt:lpstr>
      <vt:lpstr>Helvetica Neue</vt:lpstr>
      <vt:lpstr>system-ui</vt:lpstr>
      <vt:lpstr>var(--jp-code-font-family)</vt:lpstr>
      <vt:lpstr>Тема Office</vt:lpstr>
      <vt:lpstr>Использование методов глубокого обучения в анализе временных рядов</vt:lpstr>
      <vt:lpstr>Презентация PowerPoint</vt:lpstr>
      <vt:lpstr>Презентация PowerPoint</vt:lpstr>
      <vt:lpstr>Презентация PowerPoint</vt:lpstr>
      <vt:lpstr>Презентация PowerPoint</vt:lpstr>
      <vt:lpstr>Проблемы AR – Net подхода</vt:lpstr>
      <vt:lpstr>Проблемы MLP подхода для сложных паттернов</vt:lpstr>
      <vt:lpstr>Рекуррентные подходы.</vt:lpstr>
      <vt:lpstr>Простая рекуррентная нейронные сети</vt:lpstr>
      <vt:lpstr>Рекуррентные нейронные сети</vt:lpstr>
      <vt:lpstr>Презентация PowerPoint</vt:lpstr>
      <vt:lpstr>Презентация PowerPoint</vt:lpstr>
      <vt:lpstr>LTSF-DLinear</vt:lpstr>
      <vt:lpstr>LTSF-DLinear</vt:lpstr>
      <vt:lpstr>N-BEATS</vt:lpstr>
      <vt:lpstr>N-BEATS Generic</vt:lpstr>
      <vt:lpstr>N-BEATS Interpretable</vt:lpstr>
      <vt:lpstr>N-BEATS Interpretable</vt:lpstr>
      <vt:lpstr>N-HiTS Neural Hierarchical Interpolation for Time Serie</vt:lpstr>
      <vt:lpstr>N-HiTS. Стеки</vt:lpstr>
      <vt:lpstr>N-HiTS maxpooing</vt:lpstr>
      <vt:lpstr>Сравнение подходов</vt:lpstr>
      <vt:lpstr>Презентация PowerPoint</vt:lpstr>
      <vt:lpstr>Презентация PowerPoint</vt:lpstr>
      <vt:lpstr>Интерпретируемый N-BEATS</vt:lpstr>
      <vt:lpstr>Презентация PowerPoint</vt:lpstr>
      <vt:lpstr>Полносвязная сеть</vt:lpstr>
      <vt:lpstr>FCNN Сеть нелинейной авторегрессии (NAR)</vt:lpstr>
      <vt:lpstr>Подходы к временным рядам DL</vt:lpstr>
      <vt:lpstr>полносвязная сеть</vt:lpstr>
      <vt:lpstr>FCNN Сеть нелинейной авторегрессии (NAR)</vt:lpstr>
      <vt:lpstr>1-мерная сверточная нейронная сеть</vt:lpstr>
      <vt:lpstr>примеры</vt:lpstr>
      <vt:lpstr>примеры</vt:lpstr>
      <vt:lpstr>примеры</vt:lpstr>
      <vt:lpstr>1-мерная сверточная нейронная сеть</vt:lpstr>
      <vt:lpstr>1-мерная сверточная нейронная сеть. Расширенная свертка</vt:lpstr>
      <vt:lpstr>1-мерная сверточная нейронная сеть</vt:lpstr>
      <vt:lpstr>1-мерная сверточная нейронная сеть</vt:lpstr>
      <vt:lpstr>1-мерная сверточная нейронная сеть</vt:lpstr>
      <vt:lpstr>1-мерная сверточная нейронная сеть. 1д ResNet</vt:lpstr>
      <vt:lpstr>1-мерная сверточная нейронная сеть. InceptionTime</vt:lpstr>
      <vt:lpstr>1-мерная сверточная нейронная сеть.  Пример с выбором признаков</vt:lpstr>
      <vt:lpstr>1-мерная сверточная нейронная сеть. Расширенная свертка</vt:lpstr>
      <vt:lpstr>1-мерная сверточная нейронная сеть. Расширенная свертка</vt:lpstr>
      <vt:lpstr>1-d CNN. Сеть глубокой временной свертки (deepTCN).</vt:lpstr>
      <vt:lpstr>Сеть на основе внимания</vt:lpstr>
      <vt:lpstr>Сети на основе внимания</vt:lpstr>
      <vt:lpstr>Сети на основе внимания</vt:lpstr>
      <vt:lpstr>Сети на основе внимания</vt:lpstr>
      <vt:lpstr>Сети на основе внимания. Самовнимание</vt:lpstr>
      <vt:lpstr>Сети на основе внимания. Самовнимание</vt:lpstr>
      <vt:lpstr>Сети на основе внимания</vt:lpstr>
      <vt:lpstr>Сети на основе внимания</vt:lpstr>
      <vt:lpstr>Сети на основе внимания</vt:lpstr>
      <vt:lpstr>Внимание Пример временной свертки - самовнимание</vt:lpstr>
      <vt:lpstr>Сеть с вниманием. Многоголовое внимание</vt:lpstr>
      <vt:lpstr>Сеть с вниманием. Многоголовое внимание</vt:lpstr>
      <vt:lpstr>Сеть с вниманием. Многоголовое внимание с маской</vt:lpstr>
      <vt:lpstr>Сеть с вниманием. Многоголовое внимание с маской</vt:lpstr>
      <vt:lpstr>Сеть с вниманием. Блок трансформатора</vt:lpstr>
      <vt:lpstr>Сеть с вниманием. Блок трансформатора</vt:lpstr>
      <vt:lpstr>Сеть с вниманием. Блок трансформатора</vt:lpstr>
      <vt:lpstr>Сеть с вниманием. Блок трансформатора</vt:lpstr>
      <vt:lpstr>Сеть с вниманием. Блок трансформатора</vt:lpstr>
      <vt:lpstr>Сеть с вниманием. Блок трансформатора</vt:lpstr>
      <vt:lpstr>Сеть с вниманием. Блок трансформатора</vt:lpstr>
      <vt:lpstr>Сеть с вниманием. Блок трансформатора</vt:lpstr>
      <vt:lpstr>Презентация PowerPoint</vt:lpstr>
      <vt:lpstr>Методы машинного обучения на основе моделей</vt:lpstr>
      <vt:lpstr>Методы машинного обучения на основе моделей</vt:lpstr>
      <vt:lpstr>Методы машинного обучения на основе данных</vt:lpstr>
      <vt:lpstr>Методы машинного обучения на основе данных</vt:lpstr>
      <vt:lpstr>Подходы к временным рядам DL</vt:lpstr>
      <vt:lpstr>Подходы к временным рядам DL</vt:lpstr>
      <vt:lpstr>Рекуррентные нейронные сети</vt:lpstr>
      <vt:lpstr>Рекуррентные нейронные сети</vt:lpstr>
      <vt:lpstr>Простая рекуррентная нейронные сети</vt:lpstr>
      <vt:lpstr>Рекуррентные нейронные сети</vt:lpstr>
      <vt:lpstr>Рекуррентные нейронные сети</vt:lpstr>
      <vt:lpstr>Рекуррентные нейронные сети</vt:lpstr>
      <vt:lpstr>Рекуррентные нейронные сети</vt:lpstr>
      <vt:lpstr>Рекуррентные нейронные сети</vt:lpstr>
      <vt:lpstr>Рекуррентные нейронные сети. </vt:lpstr>
      <vt:lpstr>Рекуррентные нейронные сети. </vt:lpstr>
      <vt:lpstr>RNN. Итеративная Авторегрессия</vt:lpstr>
      <vt:lpstr>RNN. Итеративная Авторегрессия</vt:lpstr>
      <vt:lpstr>Глубокая AR сеть</vt:lpstr>
      <vt:lpstr>Глубокая AR сеть</vt:lpstr>
      <vt:lpstr>Глубокая AR сеть</vt:lpstr>
      <vt:lpstr>RNN. Deep AR</vt:lpstr>
      <vt:lpstr>RNN. Deep AR</vt:lpstr>
      <vt:lpstr>RNN. Глубокая AR сеть Для справки</vt:lpstr>
      <vt:lpstr>Использование методов глубокого обучения в анализе временных рядов</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AutoRegressive Moving Average models</dc:title>
  <dc:creator>Ронкин Михаил Владимирович</dc:creator>
  <cp:lastModifiedBy>Ронкин Михаил Владимирович</cp:lastModifiedBy>
  <cp:revision>332</cp:revision>
  <dcterms:created xsi:type="dcterms:W3CDTF">2021-11-21T16:45:21Z</dcterms:created>
  <dcterms:modified xsi:type="dcterms:W3CDTF">2025-08-17T08:34:34Z</dcterms:modified>
</cp:coreProperties>
</file>