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3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366" r:id="rId9"/>
    <p:sldId id="443" r:id="rId10"/>
    <p:sldId id="454" r:id="rId11"/>
    <p:sldId id="450" r:id="rId12"/>
    <p:sldId id="453" r:id="rId13"/>
    <p:sldId id="455" r:id="rId14"/>
    <p:sldId id="452" r:id="rId15"/>
    <p:sldId id="445" r:id="rId16"/>
    <p:sldId id="451" r:id="rId17"/>
    <p:sldId id="449" r:id="rId18"/>
    <p:sldId id="447" r:id="rId19"/>
    <p:sldId id="448" r:id="rId20"/>
    <p:sldId id="444" r:id="rId21"/>
    <p:sldId id="442" r:id="rId22"/>
    <p:sldId id="439" r:id="rId23"/>
    <p:sldId id="440" r:id="rId24"/>
    <p:sldId id="431" r:id="rId25"/>
    <p:sldId id="437" r:id="rId26"/>
    <p:sldId id="407" r:id="rId27"/>
    <p:sldId id="436" r:id="rId28"/>
    <p:sldId id="430" r:id="rId29"/>
    <p:sldId id="435" r:id="rId30"/>
    <p:sldId id="427" r:id="rId31"/>
    <p:sldId id="420" r:id="rId32"/>
    <p:sldId id="352" r:id="rId33"/>
    <p:sldId id="353" r:id="rId34"/>
    <p:sldId id="355" r:id="rId35"/>
    <p:sldId id="356" r:id="rId36"/>
    <p:sldId id="357" r:id="rId37"/>
    <p:sldId id="358" r:id="rId38"/>
    <p:sldId id="359" r:id="rId39"/>
    <p:sldId id="360" r:id="rId40"/>
    <p:sldId id="361" r:id="rId41"/>
    <p:sldId id="362" r:id="rId42"/>
    <p:sldId id="363" r:id="rId43"/>
    <p:sldId id="364" r:id="rId44"/>
    <p:sldId id="365" r:id="rId45"/>
    <p:sldId id="367" r:id="rId46"/>
    <p:sldId id="368" r:id="rId47"/>
    <p:sldId id="369" r:id="rId48"/>
    <p:sldId id="370" r:id="rId49"/>
    <p:sldId id="371" r:id="rId50"/>
    <p:sldId id="372" r:id="rId51"/>
    <p:sldId id="373" r:id="rId52"/>
    <p:sldId id="374" r:id="rId53"/>
    <p:sldId id="375" r:id="rId54"/>
    <p:sldId id="376" r:id="rId55"/>
    <p:sldId id="446" r:id="rId56"/>
    <p:sldId id="398" r:id="rId57"/>
    <p:sldId id="399" r:id="rId58"/>
    <p:sldId id="400" r:id="rId59"/>
    <p:sldId id="401" r:id="rId60"/>
    <p:sldId id="402" r:id="rId61"/>
    <p:sldId id="403" r:id="rId62"/>
    <p:sldId id="404" r:id="rId63"/>
    <p:sldId id="377" r:id="rId64"/>
    <p:sldId id="378" r:id="rId65"/>
    <p:sldId id="379" r:id="rId66"/>
    <p:sldId id="381" r:id="rId67"/>
    <p:sldId id="382" r:id="rId68"/>
    <p:sldId id="383" r:id="rId69"/>
    <p:sldId id="384" r:id="rId70"/>
    <p:sldId id="385" r:id="rId71"/>
    <p:sldId id="386" r:id="rId72"/>
    <p:sldId id="387" r:id="rId73"/>
    <p:sldId id="388" r:id="rId74"/>
    <p:sldId id="389" r:id="rId75"/>
    <p:sldId id="390" r:id="rId76"/>
    <p:sldId id="391" r:id="rId77"/>
    <p:sldId id="392" r:id="rId78"/>
    <p:sldId id="393" r:id="rId79"/>
    <p:sldId id="394" r:id="rId80"/>
    <p:sldId id="395" r:id="rId81"/>
    <p:sldId id="396" r:id="rId8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247"/>
  </p:normalViewPr>
  <p:slideViewPr>
    <p:cSldViewPr snapToGrid="0">
      <p:cViewPr varScale="1">
        <p:scale>
          <a:sx n="97" d="100"/>
          <a:sy n="97" d="100"/>
        </p:scale>
        <p:origin x="102" y="192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22.08.2025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34678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2405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7763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527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238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92515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59883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9123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NUL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jpeg"/><Relationship Id="rId2" Type="http://schemas.openxmlformats.org/officeDocument/2006/relationships/image" Target="../media/image78.jpe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emf"/><Relationship Id="rId2" Type="http://schemas.openxmlformats.org/officeDocument/2006/relationships/image" Target="../media/image85.emf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/>
                  <a:t>Пусть есть </a:t>
                </a:r>
                <a:r>
                  <a:rPr lang="ru-RU" sz="1900" dirty="0"/>
                  <a:t>временной </a:t>
                </a:r>
                <a:r>
                  <a:rPr lang="ru-RU" sz="1900" dirty="0" smtClean="0"/>
                  <a:t>ряд:</a:t>
                </a:r>
                <a:r>
                  <a:rPr lang="en-US" sz="19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</a:t>
                </a:r>
                <a:r>
                  <a:rPr lang="en" sz="1900" dirty="0" smtClean="0"/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/>
                  <a:t>хотим </a:t>
                </a:r>
                <a:r>
                  <a:rPr lang="ru-RU" sz="1900" dirty="0"/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/>
                  <a:t>, </a:t>
                </a:r>
                <a:r>
                  <a:rPr lang="ru-RU" sz="1900" dirty="0"/>
                  <a:t>используя историю из 3 шагов:</a:t>
                </a:r>
              </a:p>
              <a:p>
                <a:r>
                  <a:rPr lang="en" sz="1900" dirty="0"/>
                  <a:t>Encoder: RNN </a:t>
                </a:r>
                <a:r>
                  <a:rPr lang="en" sz="1900" dirty="0" smtClean="0"/>
                  <a:t>, </a:t>
                </a:r>
                <a:r>
                  <a:rPr lang="ru-RU" sz="1900" dirty="0"/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/>
                  <a:t>​</a:t>
                </a:r>
                <a:endParaRPr lang="ru-RU" sz="1900" dirty="0" smtClean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1​</m:t>
                      </m:r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2​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3​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=[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" sz="1900" dirty="0"/>
              </a:p>
              <a:p>
                <a:r>
                  <a:rPr lang="en" sz="1900" dirty="0"/>
                  <a:t>Decoder: </a:t>
                </a:r>
                <a:r>
                  <a:rPr lang="ru-RU" sz="1900" dirty="0"/>
                  <a:t>генерирует </a:t>
                </a:r>
                <a:r>
                  <a:rPr lang="ru-RU" sz="1900" dirty="0" smtClean="0"/>
                  <a:t>прогнозы </a:t>
                </a:r>
                <a:r>
                  <a:rPr lang="ru-RU" sz="1900" dirty="0" err="1" smtClean="0"/>
                  <a:t>авторегрессионно</a:t>
                </a:r>
                <a:r>
                  <a:rPr lang="ru-RU" sz="1900" dirty="0" smtClean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/>
                  <a:t> - </a:t>
                </a:r>
                <a:r>
                  <a:rPr lang="ru-RU" sz="1600" dirty="0"/>
                  <a:t>веса </a:t>
                </a:r>
                <a:r>
                  <a:rPr lang="ru-RU" sz="1600" dirty="0" err="1"/>
                  <a:t>полносвязного</a:t>
                </a:r>
                <a:r>
                  <a:rPr lang="ru-RU" sz="1600" dirty="0"/>
                  <a:t> </a:t>
                </a:r>
                <a:r>
                  <a:rPr lang="ru-RU" sz="1600" dirty="0" smtClean="0"/>
                  <a:t>слоя</a:t>
                </a:r>
                <a:endParaRPr lang="ru-RU" sz="1500" dirty="0" smtClean="0"/>
              </a:p>
              <a:p>
                <a:r>
                  <a:rPr lang="ru-RU" sz="1900" dirty="0" smtClean="0"/>
                  <a:t>Пусть </a:t>
                </a:r>
                <a:r>
                  <a:rPr lang="ru-RU" sz="1900" dirty="0"/>
                  <a:t>размерность скрытых состояний </a:t>
                </a:r>
                <a:r>
                  <a:rPr lang="en" sz="1900" i="1" dirty="0"/>
                  <a:t>d</a:t>
                </a:r>
                <a:r>
                  <a:rPr lang="en" sz="1900" dirty="0"/>
                  <a:t>=2 ,</a:t>
                </a:r>
                <a:endParaRPr lang="ru-RU" sz="1900" dirty="0"/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​=[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" sz="1900" dirty="0" smtClean="0"/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28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38</m:t>
                        </m:r>
                      </m:e>
                    </m:d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rgbClr val="2C2C36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28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]+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32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]+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38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 =[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92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04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" sz="1900" dirty="0" smtClean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92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04</m:t>
                    </m:r>
                  </m:oMath>
                </a14:m>
                <a:r>
                  <a:rPr lang="en-US" sz="1900" dirty="0" smtClean="0"/>
                  <a:t>, </a:t>
                </a:r>
                <a:endParaRPr lang="ru-RU" sz="1900" dirty="0" smtClean="0"/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2C2C36"/>
                </a:solidFill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V="1">
            <a:off x="7141915" y="4739148"/>
            <a:ext cx="29158" cy="2118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</a:t>
                </a:r>
                <a:r>
                  <a:rPr lang="ru-RU" sz="2200" dirty="0" smtClean="0"/>
                  <a:t>если кросс-внимание – дает предсказание, то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дает анализ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5068504" cy="2259039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sp>
        <p:nvSpPr>
          <p:cNvPr id="26" name="TextBox 25"/>
          <p:cNvSpPr txBox="1"/>
          <p:nvPr/>
        </p:nvSpPr>
        <p:spPr>
          <a:xfrm>
            <a:off x="155576" y="6154197"/>
            <a:ext cx="11769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Самовнимание</a:t>
            </a:r>
            <a:r>
              <a:rPr lang="ru-RU" dirty="0" smtClean="0"/>
              <a:t> аналогично адаптивной ядерной фильтрации ВР – цель фильтрации выделение одного паттерна</a:t>
            </a:r>
          </a:p>
          <a:p>
            <a:r>
              <a:rPr lang="ru-RU" dirty="0" smtClean="0"/>
              <a:t>Цель многоголового </a:t>
            </a:r>
            <a:r>
              <a:rPr lang="ru-RU" dirty="0" err="1" smtClean="0"/>
              <a:t>самовнимания</a:t>
            </a:r>
            <a:r>
              <a:rPr lang="ru-RU" dirty="0" smtClean="0"/>
              <a:t> – выделение набора паттернов во ВР</a:t>
            </a:r>
            <a:endParaRPr lang="ru-RU" dirty="0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0375" y="2490929"/>
            <a:ext cx="5155621" cy="367513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856173" y="5542906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b="1" dirty="0" smtClean="0"/>
                  <a:t>Рассмотрим слой </a:t>
                </a:r>
                <a:r>
                  <a:rPr lang="en-US" sz="2200" b="1" dirty="0" smtClean="0"/>
                  <a:t>RNN c </a:t>
                </a:r>
                <a:r>
                  <a:rPr lang="ru-RU" sz="2200" b="1" dirty="0" err="1" smtClean="0"/>
                  <a:t>самовниманием</a:t>
                </a:r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 smtClean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 smtClean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– </a:t>
                </a:r>
                <a:r>
                  <a:rPr lang="ru-RU" sz="2200" dirty="0" smtClean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 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По сути это выражение представляет собой </a:t>
                </a:r>
                <a:r>
                  <a:rPr lang="en-US" sz="2200" dirty="0" smtClean="0"/>
                  <a:t>AR-NET </a:t>
                </a:r>
                <a:r>
                  <a:rPr lang="ru-RU" sz="2200" dirty="0" smtClean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200" dirty="0" smtClean="0"/>
              </a:p>
              <a:p>
                <a:pPr marL="0" indent="0">
                  <a:buNone/>
                </a:pPr>
                <a:r>
                  <a:rPr lang="ru-RU" sz="2200" b="1" dirty="0"/>
                  <a:t>Гипотеза</a:t>
                </a:r>
                <a:r>
                  <a:rPr lang="ru-RU" sz="2200" dirty="0"/>
                  <a:t>: Если есть </a:t>
                </a:r>
                <a:r>
                  <a:rPr lang="ru-RU" sz="2200" dirty="0" err="1"/>
                  <a:t>самовнимание</a:t>
                </a:r>
                <a:r>
                  <a:rPr lang="ru-RU" sz="2200" dirty="0"/>
                  <a:t> и кросс-внимание,</a:t>
                </a:r>
                <a:r>
                  <a:rPr lang="en-US" sz="2200" dirty="0"/>
                  <a:t> </a:t>
                </a:r>
                <a:r>
                  <a:rPr lang="ru-RU" sz="2200" dirty="0"/>
                  <a:t>то </a:t>
                </a:r>
                <a:r>
                  <a:rPr lang="en-US" sz="2200" dirty="0"/>
                  <a:t>RNN </a:t>
                </a:r>
                <a:r>
                  <a:rPr lang="ru-RU" sz="2200" dirty="0"/>
                  <a:t>не нужно.</a:t>
                </a:r>
              </a:p>
              <a:p>
                <a:pPr marL="0" indent="0">
                  <a:buNone/>
                </a:pPr>
                <a:r>
                  <a:rPr lang="ru-RU" sz="2200" dirty="0"/>
                  <a:t/>
                </a:r>
                <a:br>
                  <a:rPr lang="ru-RU" sz="2200" dirty="0"/>
                </a:br>
                <a:endParaRPr lang="ru-RU" sz="22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  <a:blipFill>
                <a:blip r:embed="rId3"/>
                <a:stretch>
                  <a:fillRect l="-667" t="-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88491" y="5960228"/>
            <a:ext cx="941930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760540" y="6514495"/>
            <a:ext cx="34314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https://ar5iv.labs.arxiv.org/html/2304.04912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521110" y="2906773"/>
            <a:ext cx="3647767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228600" y="659169"/>
            <a:ext cx="11668432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200" b="1" dirty="0"/>
              <a:t>Гипотеза</a:t>
            </a:r>
            <a:r>
              <a:rPr lang="ru-RU" sz="2200" dirty="0"/>
              <a:t>: Если есть </a:t>
            </a:r>
            <a:r>
              <a:rPr lang="ru-RU" sz="2200" dirty="0" err="1"/>
              <a:t>самовнимание</a:t>
            </a:r>
            <a:r>
              <a:rPr lang="ru-RU" sz="2200" dirty="0"/>
              <a:t> и кросс-внимание,</a:t>
            </a:r>
            <a:r>
              <a:rPr lang="en-US" sz="2200" dirty="0"/>
              <a:t> </a:t>
            </a:r>
            <a:r>
              <a:rPr lang="ru-RU" sz="2200" dirty="0"/>
              <a:t>то </a:t>
            </a:r>
            <a:r>
              <a:rPr lang="en-US" sz="2200" dirty="0"/>
              <a:t>RNN </a:t>
            </a:r>
            <a:r>
              <a:rPr lang="ru-RU" sz="2200" dirty="0"/>
              <a:t>не нужно.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Внимание уже задает необходимый контекст.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en-US" sz="2200" dirty="0"/>
              <a:t>MLP </a:t>
            </a:r>
            <a:r>
              <a:rPr lang="ru-RU" sz="2200" dirty="0"/>
              <a:t>слой удобнее – позволяет обрабатывать данные параллельно,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Нет проблем с рекуррентным обучением.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b="1" dirty="0"/>
              <a:t>Однако</a:t>
            </a:r>
            <a:r>
              <a:rPr lang="ru-RU" sz="2200" dirty="0"/>
              <a:t>, нужно учитывать последовательный характер данных.</a:t>
            </a:r>
          </a:p>
          <a:p>
            <a:pPr lvl="3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Для этого можно «пометить» позицию каждого положения окна, идущего по ВР</a:t>
            </a:r>
          </a:p>
          <a:p>
            <a:endParaRPr lang="ru-RU" dirty="0"/>
          </a:p>
        </p:txBody>
      </p:sp>
      <p:pic>
        <p:nvPicPr>
          <p:cNvPr id="10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4650659" y="3060931"/>
            <a:ext cx="5992328" cy="3642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023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8" y="766915"/>
            <a:ext cx="9383752" cy="56142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 smtClean="0"/>
              <a:t>Входной поток </a:t>
            </a:r>
            <a:r>
              <a:rPr lang="en-US" sz="2200" dirty="0" smtClean="0"/>
              <a:t>(</a:t>
            </a:r>
            <a:r>
              <a:rPr lang="en-US" sz="2200" b="1" dirty="0" smtClean="0"/>
              <a:t>Encoder</a:t>
            </a:r>
            <a:r>
              <a:rPr lang="en-US" sz="2200" dirty="0" smtClean="0"/>
              <a:t>)</a:t>
            </a:r>
            <a:r>
              <a:rPr lang="ru-RU" sz="2200" dirty="0" smtClean="0"/>
              <a:t>. </a:t>
            </a:r>
            <a:r>
              <a:rPr lang="ru-RU" sz="2200" b="1" dirty="0"/>
              <a:t>Цель: </a:t>
            </a:r>
            <a:r>
              <a:rPr lang="ru-RU" sz="2200" dirty="0"/>
              <a:t>обработка последовательности  с сохранением порядка без рекуррентных связей</a:t>
            </a:r>
            <a:endParaRPr lang="ru-RU" sz="2200" dirty="0" smtClean="0"/>
          </a:p>
          <a:p>
            <a:r>
              <a:rPr lang="en-US" sz="2200" b="1" dirty="0" smtClean="0"/>
              <a:t>Pathing</a:t>
            </a:r>
            <a:r>
              <a:rPr lang="en-US" sz="2200" dirty="0" smtClean="0"/>
              <a:t>: </a:t>
            </a:r>
            <a:r>
              <a:rPr lang="ru-RU" sz="2200" dirty="0" smtClean="0"/>
              <a:t>разбиваем входную последовательность на элементы.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усреднение (снижение избыточности)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выделить локальные признаки по каждому </a:t>
            </a:r>
            <a:r>
              <a:rPr lang="en-US" sz="2200" dirty="0" smtClean="0"/>
              <a:t>path</a:t>
            </a:r>
            <a:r>
              <a:rPr lang="ru-RU" sz="2200" dirty="0" smtClean="0"/>
              <a:t>.</a:t>
            </a:r>
          </a:p>
          <a:p>
            <a:pPr lvl="2">
              <a:lnSpc>
                <a:spcPct val="100000"/>
              </a:lnSpc>
            </a:pP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r>
              <a:rPr lang="en-US" sz="2200" b="1" dirty="0" smtClean="0"/>
              <a:t>Embedding</a:t>
            </a:r>
            <a:r>
              <a:rPr lang="en-US" sz="2200" dirty="0" smtClean="0"/>
              <a:t> (input layer)</a:t>
            </a:r>
            <a:r>
              <a:rPr lang="ru-RU" sz="2200" dirty="0" smtClean="0"/>
              <a:t>: вс</a:t>
            </a:r>
            <a:r>
              <a:rPr lang="ru-RU" sz="2200" dirty="0" smtClean="0"/>
              <a:t>траивание, представление </a:t>
            </a:r>
            <a:r>
              <a:rPr lang="ru-RU" sz="2200" dirty="0" err="1" smtClean="0"/>
              <a:t>патча</a:t>
            </a:r>
            <a:r>
              <a:rPr lang="ru-RU" sz="2200" dirty="0" smtClean="0"/>
              <a:t> многомерным массивом.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  <a:endParaRPr lang="ru-RU" sz="2200" dirty="0" smtClean="0"/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Модель сама учит какое представление признаков лучше.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Более содержательное пространство признаков</a:t>
            </a:r>
            <a:r>
              <a:rPr lang="ru-RU" sz="2200" dirty="0" smtClean="0"/>
              <a:t>.</a:t>
            </a:r>
            <a:endParaRPr lang="ru-RU" sz="2200" dirty="0" smtClean="0"/>
          </a:p>
          <a:p>
            <a:r>
              <a:rPr lang="en-US" sz="2200" b="1" dirty="0" smtClean="0"/>
              <a:t>Positional Encoding</a:t>
            </a:r>
            <a:r>
              <a:rPr lang="en-US" sz="2200" dirty="0"/>
              <a:t> </a:t>
            </a:r>
            <a:r>
              <a:rPr lang="en-US" sz="2200" dirty="0" smtClean="0"/>
              <a:t>: </a:t>
            </a:r>
            <a:r>
              <a:rPr lang="ru-RU" sz="2200" dirty="0"/>
              <a:t>Добавляет к вектору каждого </a:t>
            </a:r>
            <a:r>
              <a:rPr lang="ru-RU" sz="2200" dirty="0" err="1"/>
              <a:t>патча</a:t>
            </a:r>
            <a:r>
              <a:rPr lang="ru-RU" sz="2200" dirty="0"/>
              <a:t> информацию о его абсолютной позиции во всей последовательности</a:t>
            </a:r>
            <a:r>
              <a:rPr lang="ru-RU" sz="2200" dirty="0" smtClean="0"/>
              <a:t>.</a:t>
            </a:r>
            <a:r>
              <a:rPr lang="ru-RU" sz="2200" dirty="0"/>
              <a:t>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  <a:endParaRPr lang="en-US" sz="2200" dirty="0" smtClean="0"/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Задание последовательного порядка в </a:t>
            </a:r>
            <a:r>
              <a:rPr lang="ru-RU" sz="2200" dirty="0" err="1" smtClean="0"/>
              <a:t>полносвязной</a:t>
            </a:r>
            <a:r>
              <a:rPr lang="ru-RU" sz="2200" dirty="0" smtClean="0"/>
              <a:t> структуре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Экзогенная переменная(напр. при синусоидальном порядке </a:t>
            </a:r>
            <a:r>
              <a:rPr lang="ru-RU" sz="2200" dirty="0" err="1"/>
              <a:t>патч</a:t>
            </a:r>
            <a:r>
              <a:rPr lang="ru-RU" sz="2200" dirty="0"/>
              <a:t> на позиции 5 так же относится к позиции 10, как </a:t>
            </a:r>
            <a:r>
              <a:rPr lang="ru-RU" sz="2200" dirty="0" err="1"/>
              <a:t>патч</a:t>
            </a:r>
            <a:r>
              <a:rPr lang="ru-RU" sz="2200" dirty="0"/>
              <a:t> 15 к позиции </a:t>
            </a:r>
            <a:r>
              <a:rPr lang="ru-RU" sz="2200" dirty="0" smtClean="0"/>
              <a:t>20)</a:t>
            </a:r>
            <a:endParaRPr lang="ru-RU" sz="2200" b="1" dirty="0" smtClean="0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488130" y="917923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R="0" lvl="0" indent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= [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₁, ..., 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₁₀₀] ∈ ℝ¹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9488130" y="1660881"/>
            <a:ext cx="2504212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404040"/>
                </a:solidFill>
                <a:latin typeface="Menlo"/>
              </a:rPr>
              <a:t>P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₁ = [x₁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, 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..., x₁₀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],</a:t>
            </a:r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P₂ 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= 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[x₆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, 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..., x₁₅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]</a:t>
            </a:r>
          </a:p>
          <a:p>
            <a:r>
              <a:rPr lang="ru-RU" dirty="0" smtClean="0"/>
              <a:t>...</a:t>
            </a:r>
            <a:endParaRPr lang="en-US" dirty="0" smtClean="0"/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P₁₉ = [x₉₁, x₉₂, ..., x₁₀₀]</a:t>
            </a:r>
            <a:endParaRPr lang="ru-RU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9526619" y="3065645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W</a:t>
            </a:r>
            <a:r>
              <a:rPr lang="en-US" altLang="ru-RU" baseline="30000" dirty="0" err="1" smtClean="0">
                <a:solidFill>
                  <a:srgbClr val="404040"/>
                </a:solidFill>
                <a:latin typeface="Menlo"/>
              </a:rPr>
              <a:t>p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 P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i 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∈ ℝ</a:t>
            </a:r>
            <a:r>
              <a:rPr lang="en-US" altLang="ru-RU" baseline="30000" dirty="0" smtClean="0">
                <a:solidFill>
                  <a:srgbClr val="404040"/>
                </a:solidFill>
                <a:latin typeface="Menlo"/>
              </a:rPr>
              <a:t>D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baseline="-25000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6" name="Rectangle 1"/>
          <p:cNvSpPr>
            <a:spLocks noChangeArrowheads="1"/>
          </p:cNvSpPr>
          <p:nvPr/>
        </p:nvSpPr>
        <p:spPr bwMode="auto">
          <a:xfrm>
            <a:off x="9659480" y="4633730"/>
            <a:ext cx="1347018" cy="4001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sz="2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+PE 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sz="2000" baseline="-25000" dirty="0">
              <a:solidFill>
                <a:srgbClr val="404040"/>
              </a:solidFill>
              <a:latin typeface="Menlo"/>
            </a:endParaRPr>
          </a:p>
        </p:txBody>
      </p:sp>
      <p:cxnSp>
        <p:nvCxnSpPr>
          <p:cNvPr id="17" name="Прямая соединительная линия 16"/>
          <p:cNvCxnSpPr/>
          <p:nvPr/>
        </p:nvCxnSpPr>
        <p:spPr>
          <a:xfrm>
            <a:off x="9379974" y="76691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1"/>
              <p:cNvSpPr>
                <a:spLocks noChangeArrowheads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ru-RU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ru-RU" b="0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ru-RU" b="0" i="1" dirty="0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b="0" i="1" dirty="0" smtClean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чет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i="1" dirty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нечет</m:t>
                                  </m:r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ru-RU" altLang="ru-RU" dirty="0">
                  <a:solidFill>
                    <a:srgbClr val="404040"/>
                  </a:solidFill>
                  <a:latin typeface="Menlo"/>
                </a:endParaRPr>
              </a:p>
            </p:txBody>
          </p:sp>
        </mc:Choice>
        <mc:Fallback>
          <p:sp>
            <p:nvSpPr>
              <p:cNvPr id="21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blipFill>
                <a:blip r:embed="rId3"/>
                <a:stretch>
                  <a:fillRect r="-714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Прямоугольник 18"/>
          <p:cNvSpPr/>
          <p:nvPr/>
        </p:nvSpPr>
        <p:spPr>
          <a:xfrm>
            <a:off x="9336150" y="5058580"/>
            <a:ext cx="262437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PE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может быть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Синусоидальный,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Обучаемый,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 smtClean="0"/>
              <a:t>Эмбединг</a:t>
            </a:r>
            <a:r>
              <a:rPr lang="ru-RU" dirty="0" smtClean="0"/>
              <a:t> </a:t>
            </a:r>
            <a:r>
              <a:rPr lang="ru-RU" dirty="0" err="1" smtClean="0"/>
              <a:t>ковариатов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7433187" y="1497560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7579955" y="3065645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7579955" y="4658470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8957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7" y="691494"/>
            <a:ext cx="11884921" cy="57390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 smtClean="0"/>
              <a:t>Блок – </a:t>
            </a:r>
            <a:r>
              <a:rPr lang="ru-RU" sz="2200" b="1" dirty="0" err="1" smtClean="0"/>
              <a:t>трансформер</a:t>
            </a:r>
            <a:r>
              <a:rPr lang="ru-RU" sz="2200" dirty="0" smtClean="0"/>
              <a:t>:  </a:t>
            </a:r>
          </a:p>
          <a:p>
            <a:r>
              <a:rPr lang="ru-RU" sz="2600" b="1" dirty="0" err="1" smtClean="0"/>
              <a:t>Самованимание</a:t>
            </a:r>
            <a:r>
              <a:rPr lang="ru-RU" sz="2600" dirty="0" smtClean="0"/>
              <a:t> </a:t>
            </a:r>
            <a:r>
              <a:rPr lang="en-US" sz="2600" dirty="0" smtClean="0"/>
              <a:t>MHSA</a:t>
            </a:r>
            <a:r>
              <a:rPr lang="ru-RU" sz="2600" dirty="0" smtClean="0"/>
              <a:t>: Цель:</a:t>
            </a:r>
            <a:r>
              <a:rPr lang="en-US" sz="2600" dirty="0" smtClean="0"/>
              <a:t> </a:t>
            </a:r>
            <a:endParaRPr lang="ru-RU" sz="2600" dirty="0" smtClean="0"/>
          </a:p>
          <a:p>
            <a:pPr lvl="1"/>
            <a:r>
              <a:rPr lang="ru-RU" sz="1800" dirty="0" smtClean="0"/>
              <a:t>Выявить важные </a:t>
            </a:r>
            <a:r>
              <a:rPr lang="ru-RU" sz="1800" dirty="0" err="1" smtClean="0"/>
              <a:t>патчи</a:t>
            </a:r>
            <a:r>
              <a:rPr lang="ru-RU" sz="1800" dirty="0" smtClean="0"/>
              <a:t> каждой головы – локальные связи, </a:t>
            </a:r>
            <a:endParaRPr lang="en-US" sz="1800" dirty="0" smtClean="0"/>
          </a:p>
          <a:p>
            <a:pPr lvl="1"/>
            <a:r>
              <a:rPr lang="ru-RU" sz="1800" dirty="0" smtClean="0"/>
              <a:t>Каждая голова – тип признака, напр. тренд, сезон, новизна и т.д.</a:t>
            </a:r>
            <a:endParaRPr lang="ru-RU" sz="1800" dirty="0" smtClean="0"/>
          </a:p>
          <a:p>
            <a:pPr lvl="1"/>
            <a:r>
              <a:rPr lang="ru-RU" sz="1800" dirty="0" smtClean="0"/>
              <a:t>Обмен информацией между </a:t>
            </a:r>
            <a:r>
              <a:rPr lang="ru-RU" sz="1800" dirty="0" err="1" smtClean="0"/>
              <a:t>патчами</a:t>
            </a:r>
            <a:r>
              <a:rPr lang="ru-RU" sz="1800" dirty="0" smtClean="0"/>
              <a:t> – глобальные связи.</a:t>
            </a:r>
          </a:p>
          <a:p>
            <a:r>
              <a:rPr lang="ru-RU" sz="2600" b="1" dirty="0" smtClean="0"/>
              <a:t>Нормировка</a:t>
            </a:r>
            <a:r>
              <a:rPr lang="en-US" sz="2600" dirty="0" smtClean="0"/>
              <a:t> (shift, scale)</a:t>
            </a:r>
            <a:r>
              <a:rPr lang="ru-RU" sz="2600" dirty="0" smtClean="0"/>
              <a:t> + </a:t>
            </a:r>
            <a:r>
              <a:rPr lang="en-US" sz="2600" dirty="0" smtClean="0"/>
              <a:t>Residual </a:t>
            </a:r>
            <a:r>
              <a:rPr lang="ru-RU" sz="2600" dirty="0" smtClean="0"/>
              <a:t> </a:t>
            </a:r>
          </a:p>
          <a:p>
            <a:r>
              <a:rPr lang="ru-RU" sz="2600" b="1" dirty="0" err="1" smtClean="0"/>
              <a:t>Полносвязная</a:t>
            </a:r>
            <a:r>
              <a:rPr lang="ru-RU" sz="2600" dirty="0" smtClean="0"/>
              <a:t> сеть цель </a:t>
            </a:r>
            <a:r>
              <a:rPr lang="ru-RU" dirty="0"/>
              <a:t>обогащение контекста</a:t>
            </a:r>
            <a:endParaRPr lang="ru-RU" sz="2600" dirty="0" smtClean="0"/>
          </a:p>
          <a:p>
            <a:pPr lvl="1"/>
            <a:r>
              <a:rPr lang="en-US" sz="2200" dirty="0" smtClean="0"/>
              <a:t>MLP - </a:t>
            </a:r>
            <a:r>
              <a:rPr lang="en-US" sz="2200" dirty="0" smtClean="0"/>
              <a:t>AE </a:t>
            </a:r>
            <a:r>
              <a:rPr lang="ru-RU" sz="2200" dirty="0" smtClean="0"/>
              <a:t>по каждому </a:t>
            </a:r>
            <a:r>
              <a:rPr lang="ru-RU" sz="2200" dirty="0" err="1" smtClean="0"/>
              <a:t>патчу</a:t>
            </a:r>
            <a:endParaRPr lang="ru-RU" sz="2200" dirty="0" smtClean="0"/>
          </a:p>
          <a:p>
            <a:pPr lvl="1"/>
            <a:r>
              <a:rPr lang="ru-RU" sz="2200" dirty="0" err="1" smtClean="0"/>
              <a:t>денойзинг</a:t>
            </a:r>
            <a:r>
              <a:rPr lang="ru-RU" sz="2200" dirty="0" smtClean="0"/>
              <a:t>, </a:t>
            </a:r>
          </a:p>
          <a:p>
            <a:pPr lvl="1"/>
            <a:r>
              <a:rPr lang="ru-RU" sz="2200" dirty="0" smtClean="0"/>
              <a:t>концентрация на важной информации </a:t>
            </a:r>
            <a:r>
              <a:rPr lang="en-US" sz="2200" dirty="0" smtClean="0"/>
              <a:t> </a:t>
            </a:r>
            <a:r>
              <a:rPr lang="ru-RU" sz="2200" dirty="0" smtClean="0"/>
              <a:t> </a:t>
            </a:r>
          </a:p>
          <a:p>
            <a:pPr lvl="1"/>
            <a:r>
              <a:rPr lang="ru-RU" sz="2200" dirty="0" smtClean="0"/>
              <a:t>Повышение нелинейностей – абстрактности признаков.</a:t>
            </a:r>
          </a:p>
          <a:p>
            <a:r>
              <a:rPr lang="ru-RU" sz="2600" b="1" dirty="0"/>
              <a:t>Нормировка</a:t>
            </a:r>
            <a:r>
              <a:rPr lang="en-US" sz="2600" dirty="0"/>
              <a:t> (shift, scale)</a:t>
            </a:r>
            <a:r>
              <a:rPr lang="ru-RU" sz="2600" dirty="0"/>
              <a:t> + </a:t>
            </a:r>
            <a:r>
              <a:rPr lang="en-US" sz="2600" dirty="0"/>
              <a:t>Residual </a:t>
            </a:r>
            <a:r>
              <a:rPr lang="ru-RU" sz="2600" dirty="0"/>
              <a:t> </a:t>
            </a:r>
          </a:p>
          <a:p>
            <a:r>
              <a:rPr lang="ru-RU" sz="2600" dirty="0" smtClean="0"/>
              <a:t>Выход </a:t>
            </a:r>
            <a:r>
              <a:rPr lang="ru-RU" sz="2600" dirty="0" err="1" smtClean="0"/>
              <a:t>энкодера</a:t>
            </a:r>
            <a:r>
              <a:rPr lang="ru-RU" sz="2600" dirty="0" smtClean="0"/>
              <a:t> – скрытое состояние входного окна</a:t>
            </a:r>
            <a:endParaRPr lang="en-US" sz="2600" dirty="0" smtClean="0"/>
          </a:p>
          <a:p>
            <a:pPr lvl="1"/>
            <a:r>
              <a:rPr lang="ru-RU" sz="2200" dirty="0" smtClean="0"/>
              <a:t>Каждый </a:t>
            </a:r>
            <a:r>
              <a:rPr lang="en-US" sz="2200" dirty="0" smtClean="0"/>
              <a:t>path -</a:t>
            </a:r>
            <a:r>
              <a:rPr lang="ru-RU" sz="2200" dirty="0" smtClean="0"/>
              <a:t> это некоторое представление. </a:t>
            </a:r>
            <a:endParaRPr lang="ru-RU" sz="2200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26" r="50902"/>
          <a:stretch/>
        </p:blipFill>
        <p:spPr bwMode="auto">
          <a:xfrm>
            <a:off x="9296689" y="3749750"/>
            <a:ext cx="2692609" cy="2944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Прямая соединительная линия 6"/>
          <p:cNvCxnSpPr/>
          <p:nvPr/>
        </p:nvCxnSpPr>
        <p:spPr>
          <a:xfrm>
            <a:off x="7914967" y="67842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Прямоугольник 3"/>
              <p:cNvSpPr/>
              <p:nvPr/>
            </p:nvSpPr>
            <p:spPr>
              <a:xfrm>
                <a:off x="7984772" y="740276"/>
                <a:ext cx="4094904" cy="153663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𝑠𝑝𝑙𝑖𝑡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 smtClean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𝑒𝑎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𝑄𝐾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p>
                    </m:oMath>
                  </m:oMathPara>
                </a14:m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/</m:t>
                    </m:r>
                    <m:rad>
                      <m:radPr>
                        <m:degHide m:val="on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𝑐𝑜𝑛𝑐𝑎𝑡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772" y="740276"/>
                <a:ext cx="4094904" cy="1536639"/>
              </a:xfrm>
              <a:prstGeom prst="rect">
                <a:avLst/>
              </a:prstGeom>
              <a:blipFill>
                <a:blip r:embed="rId4"/>
                <a:stretch>
                  <a:fillRect l="-298" b="-27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Прямоугольник 5"/>
              <p:cNvSpPr/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𝐿𝑎𝑦𝑒𝑟𝑁𝑜𝑟𝑚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Прямоугольник 11"/>
              <p:cNvSpPr/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Прямая соединительная линия 8"/>
          <p:cNvCxnSpPr/>
          <p:nvPr/>
        </p:nvCxnSpPr>
        <p:spPr>
          <a:xfrm>
            <a:off x="6410632" y="2539780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6410632" y="3021077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/>
        </p:nvCxnSpPr>
        <p:spPr>
          <a:xfrm>
            <a:off x="6327058" y="5051922"/>
            <a:ext cx="27530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804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6796391" y="3513721"/>
            <a:ext cx="5192907" cy="3156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277677" y="6204514"/>
            <a:ext cx="60357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&lt;SOS&gt;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47856" y="3738834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  <p:sp>
        <p:nvSpPr>
          <p:cNvPr id="9" name="Объект 2"/>
          <p:cNvSpPr txBox="1">
            <a:spLocks/>
          </p:cNvSpPr>
          <p:nvPr/>
        </p:nvSpPr>
        <p:spPr>
          <a:xfrm>
            <a:off x="256777" y="830826"/>
            <a:ext cx="11884921" cy="26014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ru-RU" sz="2200" dirty="0" smtClean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437534" y="856411"/>
            <a:ext cx="11856563" cy="2423504"/>
          </a:xfrm>
        </p:spPr>
        <p:txBody>
          <a:bodyPr/>
          <a:lstStyle/>
          <a:p>
            <a:pPr marL="0" indent="0">
              <a:buNone/>
            </a:pPr>
            <a:r>
              <a:rPr lang="ru-RU" sz="2200" b="1" dirty="0"/>
              <a:t>Цель: </a:t>
            </a:r>
            <a:r>
              <a:rPr lang="ru-RU" sz="2200" dirty="0"/>
              <a:t>добавляем декодер чтобы из скрытого состояния получить предсказание</a:t>
            </a:r>
            <a:endParaRPr lang="en-US" sz="2200" dirty="0"/>
          </a:p>
          <a:p>
            <a:pPr marL="0" indent="0">
              <a:buNone/>
            </a:pPr>
            <a:r>
              <a:rPr lang="ru-RU" sz="2200" b="1" dirty="0"/>
              <a:t>Выход </a:t>
            </a:r>
            <a:r>
              <a:rPr lang="en-US" sz="2200" b="1" dirty="0"/>
              <a:t>Encoder</a:t>
            </a:r>
            <a:r>
              <a:rPr lang="ru-RU" sz="2200" b="1" dirty="0"/>
              <a:t> </a:t>
            </a:r>
            <a:r>
              <a:rPr lang="ru-RU" sz="2200" dirty="0"/>
              <a:t>подается на блок </a:t>
            </a:r>
            <a:r>
              <a:rPr lang="ru-RU" sz="2200" dirty="0" err="1"/>
              <a:t>трансформер</a:t>
            </a:r>
            <a:r>
              <a:rPr lang="ru-RU" sz="2200" dirty="0"/>
              <a:t> декодера.  Цель – создание кросс-внимания.</a:t>
            </a:r>
          </a:p>
          <a:p>
            <a:pPr marL="0" indent="0">
              <a:buNone/>
            </a:pPr>
            <a:r>
              <a:rPr lang="ru-RU" sz="2200" b="1" dirty="0"/>
              <a:t>Вход декодера</a:t>
            </a:r>
            <a:r>
              <a:rPr lang="ru-RU" sz="2200" dirty="0"/>
              <a:t>: в режиме обучения – сдвинутая входная последовательность. Цель</a:t>
            </a:r>
          </a:p>
          <a:p>
            <a:r>
              <a:rPr lang="en-US" sz="2200" b="1" dirty="0"/>
              <a:t>Teaching forcing</a:t>
            </a:r>
            <a:r>
              <a:rPr lang="ru-RU" sz="2200" b="1" dirty="0"/>
              <a:t> </a:t>
            </a:r>
            <a:r>
              <a:rPr lang="ru-RU" sz="2200" dirty="0"/>
              <a:t>– мы генерируем выход </a:t>
            </a:r>
            <a:r>
              <a:rPr lang="ru-RU" sz="2200" dirty="0" err="1"/>
              <a:t>декодра</a:t>
            </a:r>
            <a:r>
              <a:rPr lang="ru-RU" sz="2200" dirty="0"/>
              <a:t> не только из информации </a:t>
            </a:r>
            <a:r>
              <a:rPr lang="ru-RU" sz="2200" dirty="0" err="1"/>
              <a:t>энкодера</a:t>
            </a:r>
            <a:r>
              <a:rPr lang="ru-RU" sz="2200" dirty="0"/>
              <a:t>, но и из последних известных данных. Это попытка коррекции ошибок обучения (ускорение обучения)</a:t>
            </a:r>
            <a:endParaRPr lang="en-US" sz="2200" dirty="0"/>
          </a:p>
          <a:p>
            <a:pPr lvl="1"/>
            <a:r>
              <a:rPr lang="ru-RU" sz="2200" dirty="0"/>
              <a:t>В режиме работы </a:t>
            </a:r>
            <a:r>
              <a:rPr lang="ru-RU" sz="2200" dirty="0" err="1"/>
              <a:t>авторегрессионно</a:t>
            </a:r>
            <a:r>
              <a:rPr lang="ru-RU" sz="2200" dirty="0"/>
              <a:t> генерируются </a:t>
            </a:r>
            <a:r>
              <a:rPr lang="en-US" sz="2200" dirty="0"/>
              <a:t>[&lt;</a:t>
            </a:r>
            <a:r>
              <a:rPr lang="en-US" sz="2200" dirty="0" err="1"/>
              <a:t>sos</a:t>
            </a:r>
            <a:r>
              <a:rPr lang="en-US" sz="2200" dirty="0"/>
              <a:t>&gt;</a:t>
            </a:r>
            <a:r>
              <a:rPr lang="ru-RU" sz="2200" dirty="0"/>
              <a:t>-</a:t>
            </a:r>
            <a:r>
              <a:rPr lang="en-US" sz="2200" dirty="0"/>
              <a:t>&gt; ŷ₁], [[&lt;</a:t>
            </a:r>
            <a:r>
              <a:rPr lang="en-US" sz="2200" dirty="0" err="1"/>
              <a:t>sos</a:t>
            </a:r>
            <a:r>
              <a:rPr lang="en-US" sz="2200" dirty="0"/>
              <a:t>&gt; ŷ₁ </a:t>
            </a:r>
            <a:r>
              <a:rPr lang="ru-RU" sz="2200" dirty="0"/>
              <a:t>-</a:t>
            </a:r>
            <a:r>
              <a:rPr lang="en-US" sz="2200" dirty="0"/>
              <a:t>&gt; ŷ₁ ŷ₂] </a:t>
            </a:r>
            <a:r>
              <a:rPr lang="ru-RU" sz="2200" dirty="0"/>
              <a:t>И </a:t>
            </a:r>
            <a:r>
              <a:rPr lang="ru-RU" sz="2200" dirty="0" smtClean="0"/>
              <a:t>ТД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234187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04377" y="794217"/>
                <a:ext cx="11884921" cy="379744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Блок декодера</a:t>
                </a:r>
                <a:r>
                  <a:rPr lang="ru-RU" sz="2200" dirty="0" smtClean="0"/>
                  <a:t>: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Маскированное </a:t>
                </a:r>
                <a:r>
                  <a:rPr lang="ru-RU" sz="2200" b="1" dirty="0" err="1" smtClean="0"/>
                  <a:t>самовнимание</a:t>
                </a:r>
                <a:r>
                  <a:rPr lang="ru-RU" sz="2200" dirty="0" smtClean="0"/>
                  <a:t>. Цель</a:t>
                </a:r>
              </a:p>
              <a:p>
                <a:r>
                  <a:rPr lang="ru-RU" sz="2200" dirty="0" smtClean="0"/>
                  <a:t>Маска закрывает будущие значения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𝑒𝑎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𝑄𝐾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200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200" dirty="0"/>
              </a:p>
              <a:p>
                <a:r>
                  <a:rPr lang="ru-RU" sz="2200" dirty="0" smtClean="0"/>
                  <a:t>внимание становится последовательным</a:t>
                </a:r>
                <a:endParaRPr lang="en-US" sz="2200" dirty="0"/>
              </a:p>
              <a:p>
                <a:pPr lvl="1"/>
                <a:r>
                  <a:rPr lang="ru-RU" sz="2200" dirty="0" err="1" smtClean="0"/>
                  <a:t>Патчи</a:t>
                </a:r>
                <a:r>
                  <a:rPr lang="ru-RU" sz="2200" dirty="0" smtClean="0"/>
                  <a:t> смотрят только на свои прошлые значения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Перекрестное внимание (</a:t>
                </a:r>
                <a:r>
                  <a:rPr lang="en-US" sz="2200" b="1" dirty="0"/>
                  <a:t>Encoder-Decoder Attention):</a:t>
                </a:r>
                <a:r>
                  <a:rPr lang="en-US" sz="2200" dirty="0"/>
                  <a:t> </a:t>
                </a:r>
                <a:endParaRPr lang="ru-RU" sz="2200" dirty="0" smtClean="0"/>
              </a:p>
              <a:p>
                <a:r>
                  <a:rPr lang="en-US" sz="2200" dirty="0" smtClean="0"/>
                  <a:t>Q – </a:t>
                </a:r>
                <a:r>
                  <a:rPr lang="ru-RU" sz="2200" dirty="0" smtClean="0"/>
                  <a:t>из декодера, </a:t>
                </a:r>
                <a:r>
                  <a:rPr lang="en-US" sz="2200" dirty="0" smtClean="0"/>
                  <a:t>K,V</a:t>
                </a:r>
                <a:r>
                  <a:rPr lang="ru-RU" sz="2200" dirty="0" smtClean="0"/>
                  <a:t> из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 – учет взаимной информации.</a:t>
                </a:r>
              </a:p>
              <a:p>
                <a:endParaRPr lang="ru-RU" sz="2200" dirty="0" smtClean="0"/>
              </a:p>
              <a:p>
                <a:pPr marL="0" indent="0">
                  <a:buNone/>
                </a:pPr>
                <a:endParaRPr lang="en-US" sz="2200" dirty="0" smtClean="0"/>
              </a:p>
              <a:p>
                <a:pPr marL="0" indent="0">
                  <a:buNone/>
                </a:pPr>
                <a:r>
                  <a:rPr lang="en-US" sz="2200" dirty="0" smtClean="0"/>
                  <a:t> </a:t>
                </a:r>
                <a:endParaRPr lang="ru-RU" sz="22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377" y="794217"/>
                <a:ext cx="11884921" cy="3797448"/>
              </a:xfrm>
              <a:blipFill>
                <a:blip r:embed="rId3"/>
                <a:stretch>
                  <a:fillRect l="-667" t="-1926" b="-41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587" r="139" b="-587"/>
          <a:stretch/>
        </p:blipFill>
        <p:spPr bwMode="auto">
          <a:xfrm>
            <a:off x="9547123" y="3513721"/>
            <a:ext cx="2442175" cy="3156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231157" y="6270530"/>
            <a:ext cx="60357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&lt;SOS&gt;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01336" y="3655211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</p:spTree>
    <p:extLst>
      <p:ext uri="{BB962C8B-B14F-4D97-AF65-F5344CB8AC3E}">
        <p14:creationId xmlns:p14="http://schemas.microsoft.com/office/powerpoint/2010/main" val="1514476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smtClean="0"/>
              <a:t>Encoder Only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5862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</a:t>
            </a:r>
            <a:r>
              <a:rPr lang="ru-RU" sz="2200" dirty="0" smtClean="0"/>
              <a:t>связей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Входной поток:</a:t>
            </a:r>
          </a:p>
          <a:p>
            <a:pPr marL="0" indent="0">
              <a:buNone/>
            </a:pPr>
            <a:r>
              <a:rPr lang="en-US" sz="2200" dirty="0" smtClean="0"/>
              <a:t>Pathing: </a:t>
            </a:r>
            <a:r>
              <a:rPr lang="ru-RU" sz="2200" dirty="0" smtClean="0"/>
              <a:t>разбиваем входную последовательность на элементы 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Усреднять и выделить признаки можно по каждому </a:t>
            </a:r>
            <a:r>
              <a:rPr lang="ru-RU" sz="2200" dirty="0" err="1" smtClean="0"/>
              <a:t>патчу</a:t>
            </a:r>
            <a:r>
              <a:rPr lang="ru-RU" sz="2200" dirty="0" smtClean="0"/>
              <a:t>.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pPr marL="0" indent="0">
              <a:buNone/>
            </a:pPr>
            <a:r>
              <a:rPr lang="en-US" sz="2200" dirty="0" err="1" smtClean="0"/>
              <a:t>Emedding</a:t>
            </a:r>
            <a:r>
              <a:rPr lang="en-US" sz="2200" dirty="0" smtClean="0"/>
              <a:t> (input layer)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pic>
        <p:nvPicPr>
          <p:cNvPr id="2050" name="Picture 2" descr="https://cdn-images-1.readmedium.com/v2/resize:fit:800/1*C_VbWh6Fl6ID3-Gcp71UE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2348" y="3019980"/>
            <a:ext cx="4620445" cy="324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8617684" y="6488668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https://arxiv.org/pdf/2211.14730</a:t>
            </a:r>
          </a:p>
        </p:txBody>
      </p:sp>
    </p:spTree>
    <p:extLst>
      <p:ext uri="{BB962C8B-B14F-4D97-AF65-F5344CB8AC3E}">
        <p14:creationId xmlns:p14="http://schemas.microsoft.com/office/powerpoint/2010/main" val="283152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5862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</a:t>
            </a:r>
            <a:r>
              <a:rPr lang="ru-RU" sz="2200" dirty="0" smtClean="0"/>
              <a:t>связей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Входной поток:</a:t>
            </a:r>
          </a:p>
          <a:p>
            <a:pPr marL="0" indent="0">
              <a:buNone/>
            </a:pPr>
            <a:r>
              <a:rPr lang="en-US" sz="2200" dirty="0" smtClean="0"/>
              <a:t>Pathing: </a:t>
            </a:r>
            <a:r>
              <a:rPr lang="ru-RU" sz="2200" dirty="0" smtClean="0"/>
              <a:t>разбиваем входную последовательность на элементы 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Усреднять и выделить признаки можно по каждому </a:t>
            </a:r>
            <a:r>
              <a:rPr lang="ru-RU" sz="2200" dirty="0" err="1" smtClean="0"/>
              <a:t>патчу</a:t>
            </a:r>
            <a:r>
              <a:rPr lang="ru-RU" sz="2200" dirty="0" smtClean="0"/>
              <a:t>.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pPr marL="0" indent="0">
              <a:buNone/>
            </a:pPr>
            <a:r>
              <a:rPr lang="en-US" sz="2200" dirty="0" err="1" smtClean="0"/>
              <a:t>Emedding</a:t>
            </a:r>
            <a:r>
              <a:rPr lang="en-US" sz="2200" dirty="0" smtClean="0"/>
              <a:t> (input layer)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pic>
        <p:nvPicPr>
          <p:cNvPr id="2050" name="Picture 2" descr="https://cdn-images-1.readmedium.com/v2/resize:fit:800/1*C_VbWh6Fl6ID3-Gcp71UE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2348" y="3019980"/>
            <a:ext cx="4620445" cy="324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8617684" y="6488668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https://arxiv.org/pdf/2211.14730</a:t>
            </a:r>
          </a:p>
        </p:txBody>
      </p:sp>
    </p:spTree>
    <p:extLst>
      <p:ext uri="{BB962C8B-B14F-4D97-AF65-F5344CB8AC3E}">
        <p14:creationId xmlns:p14="http://schemas.microsoft.com/office/powerpoint/2010/main" val="1976730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Блока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325" y="757084"/>
            <a:ext cx="5462832" cy="5899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выделить набор признаков</a:t>
            </a:r>
            <a:endParaRPr lang="ru-RU" sz="2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772" y="1858298"/>
            <a:ext cx="6395948" cy="4808090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645022" y="884962"/>
            <a:ext cx="43543" cy="59581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3638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5135" y="884903"/>
            <a:ext cx="6046839" cy="413938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46493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78" name="Picture 6" descr="fig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557" y="1010408"/>
            <a:ext cx="6524625" cy="509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55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311" y="365125"/>
            <a:ext cx="7340951" cy="6223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3371" y="6311900"/>
            <a:ext cx="29704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i="1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10119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блок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.</a:t>
                </a:r>
                <a:endParaRPr lang="ru-RU" sz="2200" dirty="0" smtClean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dirty="0" smtClean="0"/>
                  <a:t>многоголовое-</a:t>
                </a:r>
                <a:r>
                  <a:rPr lang="ru-RU" sz="2200" b="1" dirty="0" smtClean="0"/>
                  <a:t>само-внимание</a:t>
                </a:r>
                <a:r>
                  <a:rPr lang="en-US" sz="2200" b="1" dirty="0" smtClean="0"/>
                  <a:t> (multi-head self 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 smtClean="0">
                    <a:latin typeface="Cambria Math" panose="02040503050406030204" pitchFamily="18" charset="0"/>
                  </a:rPr>
                  <a:t>Пу</a:t>
                </a:r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https://substackcdn.com/image/fetch/$s_!9GjC!,w_1456,c_limit,f_auto,q_auto:good,fl_progressive:steep/https%3A%2F%2Fsubstack-post-media.s3.amazonaws.com%2Fpublic%2Fimages%2F213de2f6-4c8b-4bf3-b686-2a23795081dc_917x53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75" y="1027906"/>
            <a:ext cx="8734425" cy="511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00350" y="6311900"/>
            <a:ext cx="93916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https://aihorizonforecast.substack.com/p/will-transformers-revolutionize-time</a:t>
            </a:r>
          </a:p>
        </p:txBody>
      </p:sp>
    </p:spTree>
    <p:extLst>
      <p:ext uri="{BB962C8B-B14F-4D97-AF65-F5344CB8AC3E}">
        <p14:creationId xmlns:p14="http://schemas.microsoft.com/office/powerpoint/2010/main" val="625491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Mathematics 13 00814 g00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051103"/>
            <a:ext cx="10039350" cy="512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401604" y="6308848"/>
            <a:ext cx="4456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/>
              <a:t>https://www.mdpi.com/2227-7390/13/5/814</a:t>
            </a:r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8153</TotalTime>
  <Words>2993</Words>
  <Application>Microsoft Office PowerPoint</Application>
  <PresentationFormat>Широкоэкранный</PresentationFormat>
  <Paragraphs>722</Paragraphs>
  <Slides>81</Slides>
  <Notes>23</Notes>
  <HiddenSlides>28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81</vt:i4>
      </vt:variant>
    </vt:vector>
  </HeadingPairs>
  <TitlesOfParts>
    <vt:vector size="95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Menlo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перехода от RNN к авторегрессии</vt:lpstr>
      <vt:lpstr>Идеи архитектуры Трансформер. Encoder</vt:lpstr>
      <vt:lpstr>Идеи архитектуры Трансформер. Encoder</vt:lpstr>
      <vt:lpstr>Идеи архитектуры Трансформер. Decoder</vt:lpstr>
      <vt:lpstr>Идеи архитектуры Трансформер. Decoder</vt:lpstr>
      <vt:lpstr>Идеи архитектуры Трансформер. Encoder Only</vt:lpstr>
      <vt:lpstr>Идеи архитектуры Трансформер</vt:lpstr>
      <vt:lpstr>Идеи Блока Трансформер</vt:lpstr>
      <vt:lpstr>Идеи архитектуры Трансформер</vt:lpstr>
      <vt:lpstr>Презентация PowerPoint</vt:lpstr>
      <vt:lpstr>Особенности RNN в режиме одного блока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383</cp:revision>
  <dcterms:created xsi:type="dcterms:W3CDTF">2021-11-21T16:45:21Z</dcterms:created>
  <dcterms:modified xsi:type="dcterms:W3CDTF">2025-08-22T12:22:35Z</dcterms:modified>
</cp:coreProperties>
</file>