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56" r:id="rId2"/>
    <p:sldId id="428" r:id="rId3"/>
    <p:sldId id="433" r:id="rId4"/>
    <p:sldId id="429" r:id="rId5"/>
    <p:sldId id="431" r:id="rId6"/>
    <p:sldId id="432" r:id="rId7"/>
    <p:sldId id="438" r:id="rId8"/>
    <p:sldId id="439" r:id="rId9"/>
    <p:sldId id="437" r:id="rId10"/>
    <p:sldId id="407" r:id="rId11"/>
    <p:sldId id="434" r:id="rId12"/>
    <p:sldId id="436" r:id="rId13"/>
    <p:sldId id="430" r:id="rId14"/>
    <p:sldId id="435" r:id="rId15"/>
    <p:sldId id="427" r:id="rId16"/>
    <p:sldId id="420" r:id="rId17"/>
    <p:sldId id="352" r:id="rId18"/>
    <p:sldId id="353" r:id="rId19"/>
    <p:sldId id="355" r:id="rId20"/>
    <p:sldId id="356" r:id="rId21"/>
    <p:sldId id="357" r:id="rId22"/>
    <p:sldId id="358" r:id="rId23"/>
    <p:sldId id="359" r:id="rId24"/>
    <p:sldId id="360" r:id="rId25"/>
    <p:sldId id="361" r:id="rId26"/>
    <p:sldId id="362" r:id="rId27"/>
    <p:sldId id="363" r:id="rId28"/>
    <p:sldId id="364" r:id="rId29"/>
    <p:sldId id="365" r:id="rId30"/>
    <p:sldId id="366" r:id="rId31"/>
    <p:sldId id="367" r:id="rId32"/>
    <p:sldId id="368" r:id="rId33"/>
    <p:sldId id="369" r:id="rId34"/>
    <p:sldId id="370" r:id="rId35"/>
    <p:sldId id="371" r:id="rId36"/>
    <p:sldId id="372" r:id="rId37"/>
    <p:sldId id="373" r:id="rId38"/>
    <p:sldId id="374" r:id="rId39"/>
    <p:sldId id="375" r:id="rId40"/>
    <p:sldId id="376" r:id="rId41"/>
    <p:sldId id="398" r:id="rId42"/>
    <p:sldId id="399" r:id="rId43"/>
    <p:sldId id="400" r:id="rId44"/>
    <p:sldId id="401" r:id="rId45"/>
    <p:sldId id="402" r:id="rId46"/>
    <p:sldId id="403" r:id="rId47"/>
    <p:sldId id="404" r:id="rId48"/>
    <p:sldId id="377" r:id="rId49"/>
    <p:sldId id="378" r:id="rId50"/>
    <p:sldId id="379" r:id="rId51"/>
    <p:sldId id="381" r:id="rId52"/>
    <p:sldId id="382" r:id="rId53"/>
    <p:sldId id="383" r:id="rId54"/>
    <p:sldId id="384" r:id="rId55"/>
    <p:sldId id="385" r:id="rId56"/>
    <p:sldId id="386" r:id="rId57"/>
    <p:sldId id="387" r:id="rId58"/>
    <p:sldId id="388" r:id="rId59"/>
    <p:sldId id="389" r:id="rId60"/>
    <p:sldId id="390" r:id="rId61"/>
    <p:sldId id="391" r:id="rId62"/>
    <p:sldId id="392" r:id="rId63"/>
    <p:sldId id="393" r:id="rId64"/>
    <p:sldId id="394" r:id="rId65"/>
    <p:sldId id="395" r:id="rId66"/>
    <p:sldId id="396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247"/>
  </p:normalViewPr>
  <p:slideViewPr>
    <p:cSldViewPr snapToGrid="0">
      <p:cViewPr>
        <p:scale>
          <a:sx n="105" d="100"/>
          <a:sy n="105" d="100"/>
        </p:scale>
        <p:origin x="-3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17.08.2025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NUL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emf"/><Relationship Id="rId2" Type="http://schemas.openxmlformats.org/officeDocument/2006/relationships/image" Target="../media/image68.emf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5CDBE23-C4F6-ED7B-CBC2-E0DE13724D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6705" y="5131989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39486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Пусть требуется предсказать последовательность значений по входным данным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:r>
                  <a:rPr lang="en-US" sz="2200" dirty="0"/>
                  <a:t>n – </a:t>
                </a:r>
                <a:r>
                  <a:rPr lang="ru-RU" sz="2200" dirty="0"/>
                  <a:t>последнее известное состояние системы, то</a:t>
                </a:r>
                <a:br>
                  <a:rPr lang="ru-RU" sz="22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компактное представление системы.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Проблемы RNN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Ограниченный контекст из-за </a:t>
                </a:r>
                <a:r>
                  <a:rPr lang="ru-RU" sz="2200" dirty="0" err="1"/>
                  <a:t>переиспользования</a:t>
                </a:r>
                <a:r>
                  <a:rPr lang="ru-RU" sz="2200" dirty="0"/>
                  <a:t> единого вектора скрытых состояний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Последнее скрытое состояние </a:t>
                </a:r>
                <a:r>
                  <a:rPr lang="ru-RU" sz="2200" dirty="0" err="1"/>
                  <a:t>энкодера</a:t>
                </a:r>
                <a:r>
                  <a:rPr lang="ru-RU" sz="2200" dirty="0"/>
                  <a:t> задает все состояния декодера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ограниченный горизонт предсказаний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Проблема долгого обучения (веса или затухают или взрываются)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деталей.</a:t>
                </a: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39486"/>
                <a:ext cx="11731086" cy="5683828"/>
              </a:xfrm>
              <a:blipFill>
                <a:blip r:embed="rId3"/>
                <a:stretch>
                  <a:fillRect l="-649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12A3EB-2F64-0781-E5D5-840697FBD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Задачу можно разделить на две части: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Часть 1 – </a:t>
            </a:r>
            <a:r>
              <a:rPr lang="ru-RU" sz="2200" dirty="0" err="1"/>
              <a:t>энкодер</a:t>
            </a:r>
            <a:r>
              <a:rPr lang="ru-RU" sz="2200" dirty="0"/>
              <a:t>: формирование вектора скрытого состояния (контекст, память) на основе движения окна по известным данным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Часть 2 – декодер: формирование последовательности предсказаний (</a:t>
            </a:r>
            <a:r>
              <a:rPr lang="ru-RU" sz="2200" dirty="0" err="1"/>
              <a:t>авторегрессионной</a:t>
            </a:r>
            <a:r>
              <a:rPr lang="ru-RU" sz="2200" dirty="0"/>
              <a:t>/итеративно) на основе последнего положения окна и скрытого состояния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Прогноз производится последовательно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4366" y="2911397"/>
            <a:ext cx="3013364" cy="1696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1289375" y="3489298"/>
            <a:ext cx="64678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8F91A8"/>
                </a:solidFill>
                <a:effectLst/>
                <a:latin typeface="system-ui"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6231800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57" y="1643993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</a:t>
                </a:r>
                <a:br>
                  <a:rPr lang="ru-RU" sz="2200" b="1" dirty="0"/>
                </a:br>
                <a:r>
                  <a:rPr lang="ru-RU" sz="2200" b="1" dirty="0"/>
                  <a:t>на все прошлые шаги,</a:t>
                </a:r>
                <a:br>
                  <a:rPr lang="ru-RU" sz="2200" b="1" dirty="0"/>
                </a:br>
                <a:r>
                  <a:rPr lang="ru-RU" sz="2200" b="1" dirty="0"/>
                  <a:t> а не только на их сжатый контекст </a:t>
                </a:r>
                <a:r>
                  <a:rPr lang="ru-RU" sz="2200" b="1" dirty="0" err="1"/>
                  <a:t>h</a:t>
                </a:r>
                <a:r>
                  <a:rPr lang="en-US" sz="2200" b="1" dirty="0"/>
                  <a:t>n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57" y="1643993"/>
                <a:ext cx="11731086" cy="5087918"/>
              </a:xfrm>
              <a:blipFill>
                <a:blip r:embed="rId3"/>
                <a:stretch>
                  <a:fillRect l="-649" t="-14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26089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0320" y="3594336"/>
            <a:ext cx="5394960" cy="269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BF1636-2DA0-7742-4955-36DE649D7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76D328B-8FAE-883F-3F50-A0C78BE1D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sz="2000" i="1" dirty="0"/>
              <a:t>x</a:t>
            </a:r>
            <a:r>
              <a:rPr lang="en" sz="2000" dirty="0"/>
              <a:t>0​,</a:t>
            </a:r>
            <a:r>
              <a:rPr lang="en" sz="2000" i="1" dirty="0"/>
              <a:t>x</a:t>
            </a:r>
            <a:r>
              <a:rPr lang="en" sz="2000" dirty="0"/>
              <a:t>1​,</a:t>
            </a:r>
            <a:r>
              <a:rPr lang="en" sz="2000" i="1" dirty="0"/>
              <a:t>x</a:t>
            </a:r>
            <a:r>
              <a:rPr lang="en" sz="2000" dirty="0"/>
              <a:t>2​,</a:t>
            </a:r>
            <a:r>
              <a:rPr lang="en" sz="2000" i="1" dirty="0"/>
              <a:t>x</a:t>
            </a:r>
            <a:r>
              <a:rPr lang="en" sz="2000" dirty="0"/>
              <a:t>3​,</a:t>
            </a:r>
            <a:r>
              <a:rPr lang="en" sz="2000" i="1" dirty="0"/>
              <a:t>x</a:t>
            </a:r>
            <a:r>
              <a:rPr lang="en" sz="2000" dirty="0"/>
              <a:t>4​</a:t>
            </a:r>
          </a:p>
          <a:p>
            <a:r>
              <a:rPr lang="ru-RU" sz="2000" dirty="0"/>
              <a:t>Мы хотим спрогнозировать </a:t>
            </a:r>
            <a:r>
              <a:rPr lang="en" sz="2000" i="1" dirty="0"/>
              <a:t>x</a:t>
            </a:r>
            <a:r>
              <a:rPr lang="en" sz="2000" dirty="0"/>
              <a:t>4​ , </a:t>
            </a:r>
            <a:r>
              <a:rPr lang="ru-RU" sz="2000" dirty="0"/>
              <a:t>используя историю из 3 шагов:</a:t>
            </a:r>
          </a:p>
          <a:p>
            <a:r>
              <a:rPr lang="en" sz="2000" dirty="0"/>
              <a:t>Encoder: RNN (</a:t>
            </a:r>
            <a:r>
              <a:rPr lang="ru-RU" sz="2000" dirty="0"/>
              <a:t>например, </a:t>
            </a:r>
            <a:r>
              <a:rPr lang="en" sz="2000" dirty="0"/>
              <a:t>LSTM), </a:t>
            </a:r>
            <a:r>
              <a:rPr lang="ru-RU" sz="2000" dirty="0"/>
              <a:t>обрабатывает </a:t>
            </a:r>
            <a:r>
              <a:rPr lang="en" sz="2000" i="1" dirty="0"/>
              <a:t>x</a:t>
            </a:r>
            <a:r>
              <a:rPr lang="en" sz="2000" dirty="0"/>
              <a:t>1​,</a:t>
            </a:r>
            <a:r>
              <a:rPr lang="en" sz="2000" i="1" dirty="0"/>
              <a:t>x</a:t>
            </a:r>
            <a:r>
              <a:rPr lang="en" sz="2000" dirty="0"/>
              <a:t>2​,</a:t>
            </a:r>
            <a:r>
              <a:rPr lang="en" sz="2000" i="1" dirty="0"/>
              <a:t>x</a:t>
            </a:r>
            <a:r>
              <a:rPr lang="en" sz="2000" dirty="0"/>
              <a:t>3</a:t>
            </a:r>
            <a:endParaRPr lang="ru-RU" sz="2000" dirty="0"/>
          </a:p>
          <a:p>
            <a:pPr lvl="1"/>
            <a:r>
              <a:rPr lang="en" sz="2000" i="1" dirty="0"/>
              <a:t>h</a:t>
            </a:r>
            <a:r>
              <a:rPr lang="en" sz="2000" dirty="0"/>
              <a:t>1​=[0.1,0.9],</a:t>
            </a:r>
            <a:r>
              <a:rPr lang="en" sz="2000" i="1" dirty="0"/>
              <a:t>h</a:t>
            </a:r>
            <a:r>
              <a:rPr lang="en" sz="2000" dirty="0"/>
              <a:t>2​=[0.4,0.6],</a:t>
            </a:r>
            <a:r>
              <a:rPr lang="en" sz="2000" i="1" dirty="0"/>
              <a:t>h</a:t>
            </a:r>
            <a:r>
              <a:rPr lang="en" sz="2000" dirty="0"/>
              <a:t>3​=[0.8,0.2]</a:t>
            </a:r>
          </a:p>
          <a:p>
            <a:r>
              <a:rPr lang="en" sz="2000" dirty="0"/>
              <a:t>​Decoder: </a:t>
            </a:r>
            <a:r>
              <a:rPr lang="ru-RU" sz="2000" dirty="0"/>
              <a:t>генерирует прогноз </a:t>
            </a:r>
            <a:r>
              <a:rPr lang="en" sz="2000" i="1" dirty="0"/>
              <a:t>x</a:t>
            </a:r>
            <a:r>
              <a:rPr lang="en" sz="2000" dirty="0"/>
              <a:t>^4​</a:t>
            </a:r>
            <a:br>
              <a:rPr lang="en" sz="2000" dirty="0"/>
            </a:br>
            <a:r>
              <a:rPr lang="ru-RU" sz="2000" dirty="0"/>
              <a:t>Пусть размерность скрытых состояний </a:t>
            </a:r>
            <a:r>
              <a:rPr lang="en" sz="2000" i="1" dirty="0"/>
              <a:t>d</a:t>
            </a:r>
            <a:r>
              <a:rPr lang="en" sz="2000" dirty="0"/>
              <a:t>=2 ,</a:t>
            </a:r>
            <a:endParaRPr lang="ru-RU" sz="2000" dirty="0"/>
          </a:p>
          <a:p>
            <a:r>
              <a:rPr lang="en" sz="2000" i="1" dirty="0"/>
              <a:t>WQ</a:t>
            </a:r>
            <a:r>
              <a:rPr lang="en" sz="2000" dirty="0"/>
              <a:t>​=[10</a:t>
            </a:r>
            <a:r>
              <a:rPr lang="ru-RU" sz="2000" dirty="0"/>
              <a:t>//</a:t>
            </a:r>
            <a:r>
              <a:rPr lang="en" sz="2000" dirty="0"/>
              <a:t>​01​],</a:t>
            </a:r>
            <a:r>
              <a:rPr lang="en" sz="2000" i="1" dirty="0"/>
              <a:t>WK</a:t>
            </a:r>
            <a:r>
              <a:rPr lang="en" sz="2000" dirty="0"/>
              <a:t>​=[10</a:t>
            </a:r>
            <a:r>
              <a:rPr lang="ru-RU" sz="2000" dirty="0"/>
              <a:t>//</a:t>
            </a:r>
            <a:r>
              <a:rPr lang="en" sz="2000" dirty="0"/>
              <a:t>​01​],</a:t>
            </a:r>
            <a:r>
              <a:rPr lang="en" sz="2000" i="1" dirty="0"/>
              <a:t>WV</a:t>
            </a:r>
            <a:r>
              <a:rPr lang="en" sz="2000" dirty="0"/>
              <a:t>​=[20​</a:t>
            </a:r>
            <a:r>
              <a:rPr lang="ru-RU" sz="2000" dirty="0"/>
              <a:t>//</a:t>
            </a:r>
            <a:r>
              <a:rPr lang="en" sz="2000" dirty="0"/>
              <a:t>02​]</a:t>
            </a:r>
          </a:p>
          <a:p>
            <a:r>
              <a:rPr lang="en" sz="2000" i="1" dirty="0"/>
              <a:t>Q</a:t>
            </a:r>
            <a:r>
              <a:rPr lang="en" sz="2000" dirty="0"/>
              <a:t>=</a:t>
            </a:r>
            <a:r>
              <a:rPr lang="en" sz="2000" i="1" dirty="0"/>
              <a:t>W</a:t>
            </a:r>
            <a:r>
              <a:rPr lang="ru-RU" sz="2000" i="1" dirty="0"/>
              <a:t>_</a:t>
            </a:r>
            <a:r>
              <a:rPr lang="en" sz="2000" i="1" dirty="0"/>
              <a:t>Q</a:t>
            </a:r>
            <a:r>
              <a:rPr lang="en" sz="2000" dirty="0"/>
              <a:t>​⋅</a:t>
            </a:r>
            <a:r>
              <a:rPr lang="en" sz="2000" i="1" dirty="0"/>
              <a:t>h</a:t>
            </a:r>
            <a:r>
              <a:rPr lang="en" sz="2000" dirty="0"/>
              <a:t>3​=[0.8,0.2]</a:t>
            </a:r>
          </a:p>
          <a:p>
            <a:endParaRPr lang="en" dirty="0"/>
          </a:p>
          <a:p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FD90C77-D651-7342-3656-DE9B812F9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031820"/>
              </p:ext>
            </p:extLst>
          </p:nvPr>
        </p:nvGraphicFramePr>
        <p:xfrm>
          <a:off x="6096000" y="2947462"/>
          <a:ext cx="5029758" cy="1318872"/>
        </p:xfrm>
        <a:graphic>
          <a:graphicData uri="http://schemas.openxmlformats.org/drawingml/2006/table">
            <a:tbl>
              <a:tblPr/>
              <a:tblGrid>
                <a:gridCol w="360223">
                  <a:extLst>
                    <a:ext uri="{9D8B030D-6E8A-4147-A177-3AD203B41FA5}">
                      <a16:colId xmlns:a16="http://schemas.microsoft.com/office/drawing/2014/main" val="1320026483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1746600729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505491945"/>
                    </a:ext>
                  </a:extLst>
                </a:gridCol>
                <a:gridCol w="2036063">
                  <a:extLst>
                    <a:ext uri="{9D8B030D-6E8A-4147-A177-3AD203B41FA5}">
                      <a16:colId xmlns:a16="http://schemas.microsoft.com/office/drawing/2014/main" val="2173584354"/>
                    </a:ext>
                  </a:extLst>
                </a:gridCol>
              </a:tblGrid>
              <a:tr h="1564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7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7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</a:t>
                      </a:r>
                      <a:r>
                        <a:rPr lang="en" sz="1700" b="1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h_t</a:t>
                      </a:r>
                      <a:r>
                        <a:rPr lang="en" sz="17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</a:t>
                      </a:r>
                      <a:endParaRPr lang="en" sz="1700" dirty="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7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</a:t>
                      </a:r>
                      <a:r>
                        <a:rPr lang="en" sz="1700" b="1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K_t</a:t>
                      </a:r>
                      <a:r>
                        <a:rPr lang="en" sz="17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= W_K </a:t>
                      </a:r>
                      <a:r>
                        <a:rPr lang="en" sz="1700" b="1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h_t</a:t>
                      </a:r>
                      <a:r>
                        <a:rPr lang="en" sz="17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</a:t>
                      </a:r>
                      <a:endParaRPr lang="en" sz="1700" dirty="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7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</a:t>
                      </a:r>
                      <a:r>
                        <a:rPr lang="en" sz="1700" b="1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V_t</a:t>
                      </a:r>
                      <a:r>
                        <a:rPr lang="en" sz="17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= W_V </a:t>
                      </a:r>
                      <a:r>
                        <a:rPr lang="en" sz="1700" b="1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h_t</a:t>
                      </a:r>
                      <a:r>
                        <a:rPr lang="en" sz="17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</a:t>
                      </a:r>
                      <a:endParaRPr lang="en" sz="1700" dirty="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8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1913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[0.4, 0.6]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[0.4, 0.6]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1.2]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6800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70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7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[1.6, 0.4]</a:t>
                      </a:r>
                      <a:endParaRPr lang="ru-RU" sz="1700" dirty="0">
                        <a:effectLst/>
                      </a:endParaRPr>
                    </a:p>
                  </a:txBody>
                  <a:tcPr marL="35319" marR="35319" marT="35319" marB="3531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13969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1442C4C-E073-FACA-5661-729D6FCED71F}"/>
              </a:ext>
            </a:extLst>
          </p:cNvPr>
          <p:cNvSpPr txBox="1"/>
          <p:nvPr/>
        </p:nvSpPr>
        <p:spPr>
          <a:xfrm>
            <a:off x="316992" y="4357774"/>
            <a:ext cx="610209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score1​=[0.8,0.2]⋅[0.1,0.9]=0.8×0.1+0.2×0.9=0.08+0.18=0.26</a:t>
            </a:r>
            <a:endParaRPr lang="en" b="0" i="0" dirty="0">
              <a:solidFill>
                <a:srgbClr val="2C2C36"/>
              </a:solidFill>
              <a:effectLst/>
              <a:latin typeface="system-ui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score2​=[0.8,0.2]⋅[0.4,0.6]=0.8×0.4+0.2×0.6=0.32+0.12=0.44</a:t>
            </a:r>
            <a:endParaRPr lang="en" b="0" i="0" dirty="0">
              <a:solidFill>
                <a:srgbClr val="2C2C36"/>
              </a:solidFill>
              <a:effectLst/>
              <a:latin typeface="system-ui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score3​=[0.8,0.2]⋅[0.8,0.2]=0.8×0.8+0.2×0.2=0.64+0.04=0.68</a:t>
            </a:r>
            <a:endParaRPr lang="en" b="0" i="0" dirty="0">
              <a:solidFill>
                <a:srgbClr val="2C2C36"/>
              </a:solidFill>
              <a:effectLst/>
              <a:latin typeface="system-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B8A68F-B9A9-FE4D-67A9-FD2F949ACAC1}"/>
              </a:ext>
            </a:extLst>
          </p:cNvPr>
          <p:cNvSpPr txBox="1"/>
          <p:nvPr/>
        </p:nvSpPr>
        <p:spPr>
          <a:xfrm>
            <a:off x="417576" y="5740983"/>
            <a:ext cx="610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b="0" i="1" dirty="0">
                <a:solidFill>
                  <a:srgbClr val="2C2C36"/>
                </a:solidFill>
                <a:effectLst/>
                <a:latin typeface="KaTeX_Math"/>
              </a:rPr>
              <a:t>α</a:t>
            </a:r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t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​=</a:t>
            </a:r>
            <a:r>
              <a:rPr lang="en" b="0" i="0" dirty="0" err="1">
                <a:solidFill>
                  <a:srgbClr val="2C2C36"/>
                </a:solidFill>
                <a:effectLst/>
                <a:latin typeface="KaTeX_Main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(</a:t>
            </a:r>
            <a:r>
              <a:rPr lang="en" b="0" i="0" dirty="0" err="1">
                <a:solidFill>
                  <a:srgbClr val="2C2C36"/>
                </a:solidFill>
                <a:effectLst/>
                <a:latin typeface="KaTeX_Main"/>
              </a:rPr>
              <a:t>score</a:t>
            </a:r>
            <a:r>
              <a:rPr lang="en" b="0" i="1" dirty="0" err="1">
                <a:solidFill>
                  <a:srgbClr val="2C2C36"/>
                </a:solidFill>
                <a:effectLst/>
                <a:latin typeface="KaTeX_Math"/>
              </a:rPr>
              <a:t>t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​)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C75F5-8EA4-EE27-8A28-B94A5CEDF65E}"/>
              </a:ext>
            </a:extLst>
          </p:cNvPr>
          <p:cNvSpPr txBox="1"/>
          <p:nvPr/>
        </p:nvSpPr>
        <p:spPr>
          <a:xfrm>
            <a:off x="2729484" y="5687167"/>
            <a:ext cx="61020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c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=</a:t>
            </a:r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t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=1</a:t>
            </a:r>
            <a:r>
              <a:rPr lang="en" b="0" i="0" dirty="0">
                <a:solidFill>
                  <a:srgbClr val="2C2C36"/>
                </a:solidFill>
                <a:effectLst/>
                <a:latin typeface="KaTeX_Size2"/>
              </a:rPr>
              <a:t>∑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3​</a:t>
            </a:r>
            <a:r>
              <a:rPr lang="el-GR" b="0" i="1" dirty="0">
                <a:solidFill>
                  <a:srgbClr val="2C2C36"/>
                </a:solidFill>
                <a:effectLst/>
                <a:latin typeface="KaTeX_Math"/>
              </a:rPr>
              <a:t>α</a:t>
            </a:r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t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​</a:t>
            </a:r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Vt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​</a:t>
            </a:r>
            <a:endParaRPr lang="en" b="0" i="0" dirty="0">
              <a:solidFill>
                <a:srgbClr val="2C2C36"/>
              </a:solidFill>
              <a:effectLst/>
              <a:latin typeface="system-ui"/>
            </a:endParaRPr>
          </a:p>
          <a:p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c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=0.27⋅[0.2,1.8]+0.32⋅[0.8,1.2]+0.41⋅[1.6,0.4]</a:t>
            </a:r>
            <a:r>
              <a:rPr lang="ru-RU" dirty="0"/>
              <a:t> =[0.966,1.034]</a:t>
            </a:r>
            <a:endParaRPr lang="en" b="0" i="0" dirty="0">
              <a:solidFill>
                <a:srgbClr val="2C2C36"/>
              </a:solidFill>
              <a:effectLst/>
              <a:latin typeface="system-u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63BE98-8582-D86F-BA03-718E50E0FC45}"/>
              </a:ext>
            </a:extLst>
          </p:cNvPr>
          <p:cNvSpPr txBox="1"/>
          <p:nvPr/>
        </p:nvSpPr>
        <p:spPr>
          <a:xfrm>
            <a:off x="5559831" y="6430232"/>
            <a:ext cx="610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2C2C36"/>
                </a:solidFill>
                <a:latin typeface="KaTeX_Main"/>
              </a:rPr>
              <a:t>x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^4​=Linear(</a:t>
            </a:r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c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)=</a:t>
            </a:r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w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1​⋅0.966+</a:t>
            </a:r>
            <a:r>
              <a:rPr lang="en" b="0" i="1" dirty="0">
                <a:solidFill>
                  <a:srgbClr val="2C2C36"/>
                </a:solidFill>
                <a:effectLst/>
                <a:latin typeface="KaTeX_Math"/>
              </a:rPr>
              <a:t>w</a:t>
            </a:r>
            <a:r>
              <a:rPr lang="en" b="0" i="0" dirty="0">
                <a:solidFill>
                  <a:srgbClr val="2C2C36"/>
                </a:solidFill>
                <a:effectLst/>
                <a:latin typeface="KaTeX_Main"/>
              </a:rPr>
              <a:t>2​⋅1.034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546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71977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20047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200" b="0" dirty="0"/>
                  <a:t> и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есть 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набор</m:t>
                    </m:r>
                    <m:r>
                      <a:rPr lang="ru-RU" sz="2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2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. </a:t>
                </a:r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полученных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состояний  позволяет </a:t>
                </a:r>
                <a:r>
                  <a:rPr lang="ru-RU" sz="2200" dirty="0"/>
                  <a:t>выявить внутренние зависимости ВР:</a:t>
                </a:r>
                <a:br>
                  <a:rPr lang="ru-RU" sz="2200" dirty="0"/>
                </a:br>
                <a:r>
                  <a:rPr lang="ru-RU" sz="2200" dirty="0"/>
                  <a:t>— Какие паттерны похожи (регулярность, сезонность)?</a:t>
                </a:r>
                <a:br>
                  <a:rPr lang="ru-RU" sz="2200" dirty="0"/>
                </a:br>
                <a:r>
                  <a:rPr lang="ru-RU" sz="2200" dirty="0"/>
                  <a:t>— Как прошлые паттерны влияют на будущее (тренд, новизна, цикличность)?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Какие паттерны наименее общие (аномалии)?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ве</a:t>
                </a:r>
                <a:r>
                  <a:rPr lang="ru-RU" sz="2200" dirty="0"/>
                  <a:t>с каждого скрытого состояния</a:t>
                </a:r>
                <a:r>
                  <a:rPr lang="en-US" sz="22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Такая гипотеза называется </a:t>
                </a:r>
                <a:r>
                  <a:rPr lang="ru-RU" sz="2200" b="1" dirty="0"/>
                  <a:t>внимание</a:t>
                </a: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2004712" cy="5683828"/>
              </a:xfrm>
              <a:blipFill>
                <a:blip r:embed="rId3"/>
                <a:stretch>
                  <a:fillRect l="-634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710876" y="4775283"/>
            <a:ext cx="3840480" cy="181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706DF6B-AD59-A011-9894-54776250AE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5" t="49642" r="25397" b="-3450"/>
          <a:stretch>
            <a:fillRect/>
          </a:stretch>
        </p:blipFill>
        <p:spPr bwMode="auto">
          <a:xfrm>
            <a:off x="6096000" y="4584192"/>
            <a:ext cx="3840480" cy="1962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2108926"/>
            <a:ext cx="3434735" cy="4493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75" y="1620171"/>
            <a:ext cx="7191375" cy="43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В векторе контекста самовнимания с несколькими головами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можно представить как:</a:t>
                </a:r>
                <a:endParaRPr lang="ru-RU" sz="20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 err="1" smtClean="0">
                        <a:latin typeface="Cambria Math" panose="02040503050406030204" pitchFamily="18" charset="0"/>
                      </a:rPr>
                      <m:t>𝑀𝑢𝑙𝑡𝑖𝐻𝑒𝑎𝑑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𝑐𝑜𝑛𝑐𝑎𝑡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; …; </m:t>
                        </m:r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𝐴𝑡𝑡𝑒𝑛𝑡𝑖𝑜𝑛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матрица весов каждого удара головой.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97" y="3097317"/>
            <a:ext cx="6111875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5788</TotalTime>
  <Words>6075</Words>
  <Application>Microsoft Macintosh PowerPoint</Application>
  <PresentationFormat>Широкоэкранный</PresentationFormat>
  <Paragraphs>557</Paragraphs>
  <Slides>66</Slides>
  <Notes>11</Notes>
  <HiddenSlides>26</HiddenSlides>
  <MMClips>0</MMClips>
  <ScaleCrop>false</ScaleCrop>
  <HeadingPairs>
    <vt:vector size="6" baseType="variant">
      <vt:variant>
        <vt:lpstr>Использованные шрифты</vt:lpstr>
      </vt:variant>
      <vt:variant>
        <vt:i4>14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66</vt:i4>
      </vt:variant>
    </vt:vector>
  </HeadingPairs>
  <TitlesOfParts>
    <vt:vector size="81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KaTeX_Main</vt:lpstr>
      <vt:lpstr>KaTeX_Math</vt:lpstr>
      <vt:lpstr>KaTeX_Size2</vt:lpstr>
      <vt:lpstr>system-ui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Пример расчета внимания на 1 шаг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encoder only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331</cp:revision>
  <dcterms:created xsi:type="dcterms:W3CDTF">2021-11-21T16:45:21Z</dcterms:created>
  <dcterms:modified xsi:type="dcterms:W3CDTF">2025-08-17T17:38:55Z</dcterms:modified>
</cp:coreProperties>
</file>