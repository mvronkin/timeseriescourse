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54" r:id="rId11"/>
    <p:sldId id="450" r:id="rId12"/>
    <p:sldId id="453" r:id="rId13"/>
    <p:sldId id="455" r:id="rId14"/>
    <p:sldId id="452" r:id="rId15"/>
    <p:sldId id="458" r:id="rId16"/>
    <p:sldId id="456" r:id="rId17"/>
    <p:sldId id="459" r:id="rId18"/>
    <p:sldId id="461" r:id="rId19"/>
    <p:sldId id="463" r:id="rId20"/>
    <p:sldId id="460" r:id="rId21"/>
    <p:sldId id="457" r:id="rId22"/>
    <p:sldId id="46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29" autoAdjust="0"/>
    <p:restoredTop sz="84524" autoAdjust="0"/>
  </p:normalViewPr>
  <p:slideViewPr>
    <p:cSldViewPr snapToGrid="0">
      <p:cViewPr varScale="1">
        <p:scale>
          <a:sx n="86" d="100"/>
          <a:sy n="86" d="100"/>
        </p:scale>
        <p:origin x="126" y="46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800" dirty="0" smtClean="0"/>
              <a:t>- Различные головы могут фокусироваться на разных аспектах: - Краткосрочные паттерны - Долгосрочные тренды - Сезонные циклы - Взаимодействия между переменными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3467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405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7763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527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23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9251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167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96854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48857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https://nixtlaverse.nixtla.io/neuralforecast/docs/capabilities/overview.html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3332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758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Пусть есть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временной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ряд:</a:t>
                </a:r>
                <a:r>
                  <a:rPr lang="en-US" sz="19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>
                    <a:solidFill>
                      <a:schemeClr val="tx1"/>
                    </a:solidFill>
                  </a:rPr>
                  <a:t>​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хотим </a:t>
                </a:r>
                <a:r>
                  <a:rPr lang="ru-RU" sz="1900" dirty="0">
                    <a:solidFill>
                      <a:schemeClr val="tx1"/>
                    </a:solidFill>
                  </a:rPr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используя историю из 3 шагов:</a:t>
                </a: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Encoder: RNN 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​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Decoder: </a:t>
                </a:r>
                <a:r>
                  <a:rPr lang="ru-RU" sz="1900" dirty="0">
                    <a:solidFill>
                      <a:schemeClr val="tx1"/>
                    </a:solidFill>
                  </a:rPr>
                  <a:t>генерирует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прогнозы </a:t>
                </a:r>
                <a:r>
                  <a:rPr lang="ru-RU" sz="1900" dirty="0" err="1" smtClean="0">
                    <a:solidFill>
                      <a:schemeClr val="tx1"/>
                    </a:solidFill>
                  </a:rPr>
                  <a:t>авторегрессионно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- </a:t>
                </a:r>
                <a:r>
                  <a:rPr lang="ru-RU" sz="1600" dirty="0">
                    <a:solidFill>
                      <a:schemeClr val="tx1"/>
                    </a:solidFill>
                  </a:rPr>
                  <a:t>веса </a:t>
                </a:r>
                <a:r>
                  <a:rPr lang="ru-RU" sz="1600" dirty="0" err="1">
                    <a:solidFill>
                      <a:schemeClr val="tx1"/>
                    </a:solidFill>
                  </a:rPr>
                  <a:t>полносвязного</a:t>
                </a:r>
                <a:r>
                  <a:rPr lang="ru-RU" sz="1600" dirty="0">
                    <a:solidFill>
                      <a:schemeClr val="tx1"/>
                    </a:solidFill>
                  </a:rPr>
                  <a:t> </a:t>
                </a:r>
                <a:r>
                  <a:rPr lang="ru-RU" sz="1600" dirty="0" smtClean="0">
                    <a:solidFill>
                      <a:schemeClr val="tx1"/>
                    </a:solidFill>
                  </a:rPr>
                  <a:t>слоя</a:t>
                </a:r>
                <a:endParaRPr lang="ru-RU" sz="1500" dirty="0" smtClean="0">
                  <a:solidFill>
                    <a:schemeClr val="tx1"/>
                  </a:solidFill>
                </a:endParaRPr>
              </a:p>
              <a:p>
                <a:r>
                  <a:rPr lang="ru-RU" sz="1900" dirty="0" smtClean="0">
                    <a:solidFill>
                      <a:schemeClr val="tx1"/>
                    </a:solidFill>
                  </a:rPr>
                  <a:t>Пусть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размерность скрытых состояний </a:t>
                </a:r>
                <a:r>
                  <a:rPr lang="en" sz="1900" i="1" dirty="0">
                    <a:solidFill>
                      <a:schemeClr val="tx1"/>
                    </a:solidFill>
                  </a:rPr>
                  <a:t>d</a:t>
                </a:r>
                <a:r>
                  <a:rPr lang="en" sz="1900" dirty="0">
                    <a:solidFill>
                      <a:schemeClr val="tx1"/>
                    </a:solidFill>
                  </a:rPr>
                  <a:t>=2 ,</a:t>
                </a:r>
                <a:endParaRPr lang="ru-RU" sz="1900" dirty="0">
                  <a:solidFill>
                    <a:schemeClr val="tx1"/>
                  </a:solidFill>
                </a:endParaRPr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​⋅0.92+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 smtClean="0">
                    <a:solidFill>
                      <a:schemeClr val="tx1"/>
                    </a:solidFill>
                  </a:rPr>
                  <a:t>, 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H="1" flipV="1">
            <a:off x="7197213" y="4896465"/>
            <a:ext cx="9833" cy="1961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3966659" cy="176794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2502612"/>
            <a:ext cx="6045665" cy="430959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943163" y="6218301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65" y="5591662"/>
            <a:ext cx="6550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фильтрации</a:t>
            </a:r>
            <a:br>
              <a:rPr lang="ru-RU" dirty="0" smtClean="0"/>
            </a:br>
            <a:r>
              <a:rPr lang="ru-RU" dirty="0" smtClean="0"/>
              <a:t> 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По сути это выражение представляет собой </a:t>
                </a:r>
                <a:r>
                  <a:rPr lang="en-US" sz="2200" dirty="0" smtClean="0"/>
                  <a:t>AR-NET </a:t>
                </a:r>
                <a:r>
                  <a:rPr lang="ru-RU" sz="22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sz="2200" b="1" dirty="0"/>
                  <a:t>Гипотеза</a:t>
                </a:r>
                <a:r>
                  <a:rPr lang="ru-RU" sz="2200" dirty="0"/>
                  <a:t>: Если есть </a:t>
                </a:r>
                <a:r>
                  <a:rPr lang="ru-RU" sz="2200" dirty="0" err="1"/>
                  <a:t>самовнимание</a:t>
                </a:r>
                <a:r>
                  <a:rPr lang="ru-RU" sz="2200" dirty="0"/>
                  <a:t> и кросс-внимание,</a:t>
                </a:r>
                <a:r>
                  <a:rPr lang="en-US" sz="2200" dirty="0"/>
                  <a:t> </a:t>
                </a:r>
                <a:r>
                  <a:rPr lang="ru-RU" sz="2200" dirty="0"/>
                  <a:t>то </a:t>
                </a:r>
                <a:r>
                  <a:rPr lang="en-US" sz="2200" dirty="0"/>
                  <a:t>RNN </a:t>
                </a:r>
                <a:r>
                  <a:rPr lang="ru-RU" sz="2200" dirty="0"/>
                  <a:t>не нужно.</a:t>
                </a:r>
              </a:p>
              <a:p>
                <a:pPr marL="0" indent="0">
                  <a:buNone/>
                </a:pPr>
                <a:r>
                  <a:rPr lang="ru-RU" sz="2200" dirty="0"/>
                  <a:t/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  <a:blipFill>
                <a:blip r:embed="rId3"/>
                <a:stretch>
                  <a:fillRect l="-667" t="-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88491" y="5960228"/>
            <a:ext cx="941930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760540" y="6514495"/>
            <a:ext cx="34314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https://ar5iv.labs.arxiv.org/html/2304.04912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521110" y="2906773"/>
            <a:ext cx="3647767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228600" y="659169"/>
            <a:ext cx="11668432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b="1" dirty="0"/>
              <a:t>Гипотеза</a:t>
            </a:r>
            <a:r>
              <a:rPr lang="ru-RU" sz="2200" dirty="0"/>
              <a:t>: Если есть </a:t>
            </a:r>
            <a:r>
              <a:rPr lang="ru-RU" sz="2200" dirty="0" err="1"/>
              <a:t>самовнимание</a:t>
            </a:r>
            <a:r>
              <a:rPr lang="ru-RU" sz="2200" dirty="0"/>
              <a:t> и кросс-внимание,</a:t>
            </a:r>
            <a:r>
              <a:rPr lang="en-US" sz="2200" dirty="0"/>
              <a:t> </a:t>
            </a:r>
            <a:r>
              <a:rPr lang="ru-RU" sz="2200" dirty="0"/>
              <a:t>то </a:t>
            </a:r>
            <a:r>
              <a:rPr lang="en-US" sz="2200" dirty="0"/>
              <a:t>RNN </a:t>
            </a:r>
            <a:r>
              <a:rPr lang="ru-RU" sz="2200" dirty="0"/>
              <a:t>не нужно.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Внимание уже задает необходимый контекст.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en-US" sz="2200" dirty="0"/>
              <a:t>MLP </a:t>
            </a:r>
            <a:r>
              <a:rPr lang="ru-RU" sz="2200" dirty="0"/>
              <a:t>слой удобнее – позволяет обрабатывать данные параллельно,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Нет проблем с рекуррентным обучением.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b="1" dirty="0"/>
              <a:t>Однако</a:t>
            </a:r>
            <a:r>
              <a:rPr lang="ru-RU" sz="2200" dirty="0"/>
              <a:t>, нужно учитывать последовательный характер данных.</a:t>
            </a:r>
          </a:p>
          <a:p>
            <a:pPr lvl="3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этого можно «пометить» позицию каждого положения окна, идущего по ВР</a:t>
            </a:r>
          </a:p>
          <a:p>
            <a:endParaRPr lang="ru-RU" dirty="0"/>
          </a:p>
        </p:txBody>
      </p:sp>
      <p:pic>
        <p:nvPicPr>
          <p:cNvPr id="10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4650659" y="3060931"/>
            <a:ext cx="5992328" cy="3642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023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8" y="766915"/>
            <a:ext cx="9383752" cy="56142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 smtClean="0"/>
              <a:t>Входной поток </a:t>
            </a:r>
            <a:r>
              <a:rPr lang="en-US" sz="2200" dirty="0" smtClean="0"/>
              <a:t>(</a:t>
            </a:r>
            <a:r>
              <a:rPr lang="en-US" sz="2200" b="1" dirty="0" smtClean="0"/>
              <a:t>Encoder</a:t>
            </a:r>
            <a:r>
              <a:rPr lang="en-US" sz="2200" dirty="0" smtClean="0"/>
              <a:t>)</a:t>
            </a:r>
            <a:r>
              <a:rPr lang="ru-RU" sz="2200" dirty="0" smtClean="0"/>
              <a:t>. </a:t>
            </a:r>
            <a:r>
              <a:rPr lang="ru-RU" sz="2200" b="1" dirty="0"/>
              <a:t>Цель: </a:t>
            </a:r>
            <a:r>
              <a:rPr lang="ru-RU" sz="2200" dirty="0"/>
              <a:t>обработка последовательности  с сохранением порядка без рекуррентных связей</a:t>
            </a:r>
            <a:endParaRPr lang="ru-RU" sz="2200" dirty="0" smtClean="0"/>
          </a:p>
          <a:p>
            <a:r>
              <a:rPr lang="en-US" sz="2200" b="1" dirty="0" smtClean="0"/>
              <a:t>Pathing</a:t>
            </a:r>
            <a:r>
              <a:rPr lang="en-US" sz="2200" dirty="0" smtClean="0"/>
              <a:t>: </a:t>
            </a:r>
            <a:r>
              <a:rPr lang="ru-RU" sz="2200" dirty="0" smtClean="0"/>
              <a:t>разбиваем входную последовательность на элементы.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усреднение (снижение избыточности)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выделить локальные признаки по каждому </a:t>
            </a:r>
            <a:r>
              <a:rPr lang="en-US" sz="2200" dirty="0" smtClean="0"/>
              <a:t>path</a:t>
            </a:r>
            <a:r>
              <a:rPr lang="ru-RU" sz="2200" dirty="0" smtClean="0"/>
              <a:t>.</a:t>
            </a:r>
          </a:p>
          <a:p>
            <a:pPr lvl="2">
              <a:lnSpc>
                <a:spcPct val="100000"/>
              </a:lnSpc>
            </a:pP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r>
              <a:rPr lang="en-US" sz="2200" b="1" dirty="0" smtClean="0"/>
              <a:t>Embedding</a:t>
            </a:r>
            <a:r>
              <a:rPr lang="en-US" sz="2200" dirty="0" smtClean="0"/>
              <a:t> (input layer)</a:t>
            </a:r>
            <a:r>
              <a:rPr lang="ru-RU" sz="2200" dirty="0" smtClean="0"/>
              <a:t>: встраивание, представление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 многомерным массивом.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Модель сама учит какое представление признаков лучше.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Более содержательное пространство признаков</a:t>
            </a:r>
            <a:r>
              <a:rPr lang="ru-RU" sz="2200" dirty="0" smtClean="0"/>
              <a:t>.</a:t>
            </a:r>
          </a:p>
          <a:p>
            <a:r>
              <a:rPr lang="en-US" sz="2200" b="1" dirty="0" smtClean="0"/>
              <a:t>Positional Encoding</a:t>
            </a:r>
            <a:r>
              <a:rPr lang="en-US" sz="2200" dirty="0"/>
              <a:t> </a:t>
            </a:r>
            <a:r>
              <a:rPr lang="en-US" sz="2200" dirty="0" smtClean="0"/>
              <a:t>: </a:t>
            </a:r>
            <a:r>
              <a:rPr lang="ru-RU" sz="2200" dirty="0"/>
              <a:t>Добавляет к вектору каждого </a:t>
            </a:r>
            <a:r>
              <a:rPr lang="ru-RU" sz="2200" dirty="0" err="1"/>
              <a:t>патча</a:t>
            </a:r>
            <a:r>
              <a:rPr lang="ru-RU" sz="2200" dirty="0"/>
              <a:t> информацию о его абсолютной позиции во всей последовательности</a:t>
            </a:r>
            <a:r>
              <a:rPr lang="ru-RU" sz="2200" dirty="0" smtClean="0"/>
              <a:t>.</a:t>
            </a:r>
            <a:r>
              <a:rPr lang="ru-RU" sz="2200" dirty="0"/>
              <a:t>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  <a:endParaRPr lang="en-US" sz="2200" dirty="0" smtClean="0"/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Задание последовательного порядка в </a:t>
            </a:r>
            <a:r>
              <a:rPr lang="ru-RU" sz="2200" dirty="0" err="1" smtClean="0"/>
              <a:t>полносвязной</a:t>
            </a:r>
            <a:r>
              <a:rPr lang="ru-RU" sz="2200" dirty="0" smtClean="0"/>
              <a:t> структуре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Экзогенная переменная(напр. при синусоидальном порядке </a:t>
            </a:r>
            <a:r>
              <a:rPr lang="ru-RU" sz="2200" dirty="0" err="1"/>
              <a:t>патч</a:t>
            </a:r>
            <a:r>
              <a:rPr lang="ru-RU" sz="2200" dirty="0"/>
              <a:t> на позиции 5 так же относится к позиции 10, как </a:t>
            </a:r>
            <a:r>
              <a:rPr lang="ru-RU" sz="2200" dirty="0" err="1"/>
              <a:t>патч</a:t>
            </a:r>
            <a:r>
              <a:rPr lang="ru-RU" sz="2200" dirty="0"/>
              <a:t> 15 к позиции </a:t>
            </a:r>
            <a:r>
              <a:rPr lang="ru-RU" sz="2200" dirty="0" smtClean="0"/>
              <a:t>20)</a:t>
            </a:r>
            <a:endParaRPr lang="ru-RU" sz="2200" b="1" dirty="0" smtClean="0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423799" y="576715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indent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= [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₁, ...,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₁₀₀] ∈ ℝ¹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9488130" y="1660881"/>
            <a:ext cx="2504212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404040"/>
                </a:solidFill>
                <a:latin typeface="Menlo"/>
              </a:rPr>
              <a:t>P₁ = [x₁, ..., x₁₀],</a:t>
            </a:r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P₂ 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= 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[x₆, ..., x₁₅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]</a:t>
            </a:r>
          </a:p>
          <a:p>
            <a:r>
              <a:rPr lang="ru-RU" dirty="0" smtClean="0"/>
              <a:t>...</a:t>
            </a:r>
            <a:endParaRPr lang="en-US" dirty="0" smtClean="0"/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P₁₉ = [x₉₁, x₉₂, ..., x₁₀₀]</a:t>
            </a:r>
            <a:endParaRPr lang="ru-RU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9531954" y="3143417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 smtClean="0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 P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 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∈ ℝ</a:t>
            </a:r>
            <a:r>
              <a:rPr lang="en-US" altLang="ru-RU" baseline="30000" dirty="0" smtClean="0">
                <a:solidFill>
                  <a:srgbClr val="404040"/>
                </a:solidFill>
                <a:latin typeface="Menlo"/>
              </a:rPr>
              <a:t>D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6" name="Rectangle 1"/>
          <p:cNvSpPr>
            <a:spLocks noChangeArrowheads="1"/>
          </p:cNvSpPr>
          <p:nvPr/>
        </p:nvSpPr>
        <p:spPr bwMode="auto">
          <a:xfrm>
            <a:off x="9659480" y="4633730"/>
            <a:ext cx="1347018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sz="2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+PE 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sz="2000" baseline="-25000" dirty="0">
              <a:solidFill>
                <a:srgbClr val="404040"/>
              </a:solidFill>
              <a:latin typeface="Menlo"/>
            </a:endParaRPr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>
            <a:off x="9379974" y="76691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1"/>
              <p:cNvSpPr>
                <a:spLocks noChangeArrowheads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ru-RU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ru-RU" b="0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ru-RU" b="0" i="1" dirty="0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b="0" i="1" dirty="0" smtClean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чет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i="1" dirty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нечет</m:t>
                                  </m:r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ru-RU" altLang="ru-RU" dirty="0">
                  <a:solidFill>
                    <a:srgbClr val="404040"/>
                  </a:solidFill>
                  <a:latin typeface="Menlo"/>
                </a:endParaRPr>
              </a:p>
            </p:txBody>
          </p:sp>
        </mc:Choice>
        <mc:Fallback xmlns="">
          <p:sp>
            <p:nvSpPr>
              <p:cNvPr id="21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blipFill>
                <a:blip r:embed="rId3"/>
                <a:stretch>
                  <a:fillRect r="-714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Прямоугольник 18"/>
          <p:cNvSpPr/>
          <p:nvPr/>
        </p:nvSpPr>
        <p:spPr>
          <a:xfrm>
            <a:off x="9336150" y="5058580"/>
            <a:ext cx="262437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PE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может быть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Синусоидальный,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Обучаемый,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 smtClean="0"/>
              <a:t>Эмбединг</a:t>
            </a:r>
            <a:r>
              <a:rPr lang="ru-RU" dirty="0" smtClean="0"/>
              <a:t> </a:t>
            </a:r>
            <a:r>
              <a:rPr lang="ru-RU" dirty="0" err="1" smtClean="0"/>
              <a:t>ковариатов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285135" y="1497560"/>
            <a:ext cx="114347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285135" y="3065645"/>
            <a:ext cx="114347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285135" y="4658470"/>
            <a:ext cx="1128983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Прямоугольник 17"/>
              <p:cNvSpPr/>
              <p:nvPr/>
            </p:nvSpPr>
            <p:spPr>
              <a:xfrm>
                <a:off x="9379974" y="856281"/>
                <a:ext cx="2563845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type m:val="lin"/>
                        <m:ctrlPr>
                          <a:rPr lang="en-US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b="0" i="1" dirty="0" smtClean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 dirty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dirty="0" smtClean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num>
                      <m:den>
                        <m:r>
                          <a:rPr lang="en-US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=</a:t>
                </a:r>
                <a:r>
                  <a:rPr lang="en-US" dirty="0" err="1"/>
                  <a:t>std</a:t>
                </a:r>
                <a:r>
                  <a:rPr lang="en-US" dirty="0"/>
                  <a:t> or </a:t>
                </a:r>
                <a:r>
                  <a:rPr lang="en-US" dirty="0" smtClean="0"/>
                  <a:t>MAD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=mean or median </a:t>
                </a:r>
                <a:endParaRPr lang="ru-RU" dirty="0"/>
              </a:p>
            </p:txBody>
          </p:sp>
        </mc:Choice>
        <mc:Fallback xmlns="">
          <p:sp>
            <p:nvSpPr>
              <p:cNvPr id="18" name="Прямоугольник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9974" y="856281"/>
                <a:ext cx="2563845" cy="646331"/>
              </a:xfrm>
              <a:prstGeom prst="rect">
                <a:avLst/>
              </a:prstGeom>
              <a:blipFill>
                <a:blip r:embed="rId4"/>
                <a:stretch>
                  <a:fillRect l="-2143" t="-66981" r="-3571" b="-584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 1"/>
          <p:cNvSpPr>
            <a:spLocks noChangeArrowheads="1"/>
          </p:cNvSpPr>
          <p:nvPr/>
        </p:nvSpPr>
        <p:spPr bwMode="auto">
          <a:xfrm>
            <a:off x="9455965" y="3470939"/>
            <a:ext cx="2477728" cy="9233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В некоторых арх. </a:t>
            </a:r>
            <a:r>
              <a:rPr lang="ru-RU" altLang="ru-RU" dirty="0" err="1" smtClean="0">
                <a:solidFill>
                  <a:srgbClr val="404040"/>
                </a:solidFill>
                <a:latin typeface="Menlo"/>
              </a:rPr>
              <a:t>Патчей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нет! тогда</a:t>
            </a:r>
          </a:p>
          <a:p>
            <a:pPr eaLnBrk="1" hangingPunct="1"/>
            <a:r>
              <a:rPr lang="en-US" altLang="ru-RU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 x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538957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6" r="50902"/>
          <a:stretch/>
        </p:blipFill>
        <p:spPr bwMode="auto">
          <a:xfrm>
            <a:off x="9316423" y="3825172"/>
            <a:ext cx="2692609" cy="2944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7" y="691494"/>
            <a:ext cx="11884921" cy="57390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 smtClean="0"/>
              <a:t>Блок – </a:t>
            </a:r>
            <a:r>
              <a:rPr lang="ru-RU" sz="2200" b="1" dirty="0" err="1" smtClean="0"/>
              <a:t>трансформер</a:t>
            </a:r>
            <a:r>
              <a:rPr lang="ru-RU" sz="2200" dirty="0" smtClean="0"/>
              <a:t>:  </a:t>
            </a:r>
          </a:p>
          <a:p>
            <a:r>
              <a:rPr lang="ru-RU" sz="2600" b="1" dirty="0" err="1" smtClean="0"/>
              <a:t>Самованимание</a:t>
            </a:r>
            <a:r>
              <a:rPr lang="ru-RU" sz="2600" dirty="0" smtClean="0"/>
              <a:t> </a:t>
            </a:r>
            <a:r>
              <a:rPr lang="en-US" sz="2600" dirty="0" smtClean="0"/>
              <a:t>MHSA</a:t>
            </a:r>
            <a:r>
              <a:rPr lang="ru-RU" sz="2600" dirty="0" smtClean="0"/>
              <a:t>: Цель:</a:t>
            </a:r>
            <a:r>
              <a:rPr lang="en-US" sz="2600" dirty="0" smtClean="0"/>
              <a:t> </a:t>
            </a:r>
            <a:endParaRPr lang="ru-RU" sz="2600" dirty="0" smtClean="0"/>
          </a:p>
          <a:p>
            <a:pPr lvl="1"/>
            <a:r>
              <a:rPr lang="ru-RU" sz="1800" dirty="0" smtClean="0"/>
              <a:t>Выявить важные </a:t>
            </a:r>
            <a:r>
              <a:rPr lang="ru-RU" sz="1800" dirty="0" err="1" smtClean="0"/>
              <a:t>патчи</a:t>
            </a:r>
            <a:r>
              <a:rPr lang="ru-RU" sz="1800" dirty="0" smtClean="0"/>
              <a:t> каждой головы – локальные связи, </a:t>
            </a:r>
            <a:endParaRPr lang="en-US" sz="1800" dirty="0" smtClean="0"/>
          </a:p>
          <a:p>
            <a:pPr lvl="1"/>
            <a:r>
              <a:rPr lang="ru-RU" sz="1800" dirty="0" smtClean="0"/>
              <a:t>Каждая голова – тип признака, напр. тренд, сезон, новизна и т.д.</a:t>
            </a:r>
          </a:p>
          <a:p>
            <a:pPr lvl="1"/>
            <a:r>
              <a:rPr lang="ru-RU" sz="1800" dirty="0" smtClean="0"/>
              <a:t>Обмен информацией между </a:t>
            </a:r>
            <a:r>
              <a:rPr lang="ru-RU" sz="1800" dirty="0" err="1" smtClean="0"/>
              <a:t>патчами</a:t>
            </a:r>
            <a:r>
              <a:rPr lang="ru-RU" sz="1800" dirty="0" smtClean="0"/>
              <a:t> – глобальные связи.</a:t>
            </a:r>
          </a:p>
          <a:p>
            <a:r>
              <a:rPr lang="ru-RU" sz="2600" b="1" dirty="0" smtClean="0"/>
              <a:t>Нормировка</a:t>
            </a:r>
            <a:r>
              <a:rPr lang="en-US" sz="2600" dirty="0" smtClean="0"/>
              <a:t> (shift, scale)</a:t>
            </a:r>
            <a:r>
              <a:rPr lang="ru-RU" sz="2600" dirty="0" smtClean="0"/>
              <a:t> + </a:t>
            </a:r>
            <a:r>
              <a:rPr lang="en-US" sz="2600" dirty="0" smtClean="0"/>
              <a:t>Residual </a:t>
            </a:r>
            <a:r>
              <a:rPr lang="ru-RU" sz="2600" dirty="0" smtClean="0"/>
              <a:t> </a:t>
            </a:r>
          </a:p>
          <a:p>
            <a:r>
              <a:rPr lang="ru-RU" sz="2600" b="1" dirty="0" err="1" smtClean="0"/>
              <a:t>Полносвязная</a:t>
            </a:r>
            <a:r>
              <a:rPr lang="ru-RU" sz="2600" dirty="0" smtClean="0"/>
              <a:t> сеть цель </a:t>
            </a:r>
            <a:r>
              <a:rPr lang="ru-RU" dirty="0"/>
              <a:t>обогащение контекста</a:t>
            </a:r>
            <a:endParaRPr lang="ru-RU" sz="2600" dirty="0" smtClean="0"/>
          </a:p>
          <a:p>
            <a:pPr lvl="1"/>
            <a:r>
              <a:rPr lang="en-US" sz="2200" dirty="0" smtClean="0"/>
              <a:t>MLP - AE </a:t>
            </a:r>
            <a:r>
              <a:rPr lang="ru-RU" sz="2200" dirty="0" smtClean="0"/>
              <a:t>по каждому </a:t>
            </a:r>
            <a:r>
              <a:rPr lang="ru-RU" sz="2200" dirty="0" err="1" smtClean="0"/>
              <a:t>патчу</a:t>
            </a:r>
            <a:endParaRPr lang="ru-RU" sz="2200" dirty="0" smtClean="0"/>
          </a:p>
          <a:p>
            <a:pPr lvl="1"/>
            <a:r>
              <a:rPr lang="ru-RU" sz="2200" dirty="0" err="1" smtClean="0"/>
              <a:t>денойзинг</a:t>
            </a:r>
            <a:r>
              <a:rPr lang="ru-RU" sz="2200" dirty="0" smtClean="0"/>
              <a:t>, </a:t>
            </a:r>
          </a:p>
          <a:p>
            <a:pPr lvl="1"/>
            <a:r>
              <a:rPr lang="ru-RU" sz="2200" dirty="0" smtClean="0"/>
              <a:t>концентрация на важной информации </a:t>
            </a:r>
            <a:r>
              <a:rPr lang="en-US" sz="2200" dirty="0" smtClean="0"/>
              <a:t> </a:t>
            </a:r>
            <a:r>
              <a:rPr lang="ru-RU" sz="2200" dirty="0" smtClean="0"/>
              <a:t> </a:t>
            </a:r>
          </a:p>
          <a:p>
            <a:pPr lvl="1"/>
            <a:r>
              <a:rPr lang="ru-RU" sz="2200" dirty="0" smtClean="0"/>
              <a:t>Повышение нелинейностей – абстрактности признаков.</a:t>
            </a:r>
          </a:p>
          <a:p>
            <a:r>
              <a:rPr lang="ru-RU" sz="2600" b="1" dirty="0"/>
              <a:t>Нормировка</a:t>
            </a:r>
            <a:r>
              <a:rPr lang="en-US" sz="2600" dirty="0"/>
              <a:t> (shift, scale)</a:t>
            </a:r>
            <a:r>
              <a:rPr lang="ru-RU" sz="2600" dirty="0"/>
              <a:t> + </a:t>
            </a:r>
            <a:r>
              <a:rPr lang="en-US" sz="2600" dirty="0"/>
              <a:t>Residual </a:t>
            </a:r>
            <a:r>
              <a:rPr lang="ru-RU" sz="2600" dirty="0"/>
              <a:t> </a:t>
            </a:r>
          </a:p>
          <a:p>
            <a:r>
              <a:rPr lang="ru-RU" sz="2600" dirty="0" smtClean="0"/>
              <a:t>Выход </a:t>
            </a:r>
            <a:r>
              <a:rPr lang="ru-RU" sz="2600" dirty="0" err="1" smtClean="0"/>
              <a:t>энкодера</a:t>
            </a:r>
            <a:r>
              <a:rPr lang="ru-RU" sz="2600" dirty="0" smtClean="0"/>
              <a:t> – скрытые состояния входного окна</a:t>
            </a:r>
            <a:endParaRPr lang="en-US" sz="2600" dirty="0" smtClean="0"/>
          </a:p>
          <a:p>
            <a:pPr lvl="1"/>
            <a:r>
              <a:rPr lang="ru-RU" sz="2200" dirty="0" smtClean="0"/>
              <a:t>Каждый </a:t>
            </a:r>
            <a:r>
              <a:rPr lang="en-US" sz="2200" dirty="0" smtClean="0"/>
              <a:t>path -</a:t>
            </a:r>
            <a:r>
              <a:rPr lang="ru-RU" sz="2200" dirty="0" smtClean="0"/>
              <a:t> это некоторое представление. </a:t>
            </a:r>
            <a:endParaRPr lang="ru-RU" sz="2200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7914967" y="67842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8035053" y="728513"/>
                <a:ext cx="3546088" cy="12596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defTabSz="446088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𝑠𝑝𝑙𝑖𝑡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𝑄𝐾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=1/</m:t>
                    </m:r>
                    <m:rad>
                      <m:radPr>
                        <m:deg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 smtClean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5053" y="728513"/>
                <a:ext cx="3546088" cy="1259640"/>
              </a:xfrm>
              <a:prstGeom prst="rect">
                <a:avLst/>
              </a:prstGeom>
              <a:blipFill>
                <a:blip r:embed="rId4"/>
                <a:stretch>
                  <a:fillRect l="-344" b="-63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𝐿𝑎𝑦𝑒𝑟𝑁𝑜𝑟𝑚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Прямая соединительная линия 8"/>
          <p:cNvCxnSpPr/>
          <p:nvPr/>
        </p:nvCxnSpPr>
        <p:spPr>
          <a:xfrm>
            <a:off x="423746" y="2539780"/>
            <a:ext cx="105825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423746" y="3021077"/>
            <a:ext cx="109195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/>
        </p:nvCxnSpPr>
        <p:spPr>
          <a:xfrm>
            <a:off x="423746" y="5051922"/>
            <a:ext cx="75610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Прямоугольник 19"/>
              <p:cNvSpPr/>
              <p:nvPr/>
            </p:nvSpPr>
            <p:spPr>
              <a:xfrm>
                <a:off x="7954437" y="2073667"/>
                <a:ext cx="409490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𝑐𝑜𝑛𝑐𝑎𝑡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Прямоугольник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437" y="2073667"/>
                <a:ext cx="409490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5804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6545703" y="3361321"/>
            <a:ext cx="5443596" cy="330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155151" y="6204514"/>
            <a:ext cx="72610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</a:t>
            </a:r>
            <a:r>
              <a:rPr lang="en-US" sz="1000" dirty="0"/>
              <a:t> mask </a:t>
            </a:r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47856" y="3738834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256777" y="830826"/>
            <a:ext cx="11884921" cy="26014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ru-RU" sz="2200" dirty="0" smtClean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256778" y="856411"/>
            <a:ext cx="12037320" cy="2423504"/>
          </a:xfrm>
        </p:spPr>
        <p:txBody>
          <a:bodyPr/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добавляем декодер чтобы из скрытого состояния получить предсказание</a:t>
            </a:r>
            <a:endParaRPr lang="en-US" sz="2200" dirty="0"/>
          </a:p>
          <a:p>
            <a:pPr marL="0" indent="0">
              <a:buNone/>
            </a:pPr>
            <a:r>
              <a:rPr lang="ru-RU" sz="2200" b="1" dirty="0"/>
              <a:t>Выход </a:t>
            </a:r>
            <a:r>
              <a:rPr lang="en-US" sz="2200" b="1" dirty="0"/>
              <a:t>Encoder</a:t>
            </a:r>
            <a:r>
              <a:rPr lang="ru-RU" sz="2200" b="1" dirty="0"/>
              <a:t> </a:t>
            </a:r>
            <a:r>
              <a:rPr lang="ru-RU" sz="2200" dirty="0"/>
              <a:t>подается на блок </a:t>
            </a:r>
            <a:r>
              <a:rPr lang="ru-RU" sz="2200" dirty="0" err="1"/>
              <a:t>трансформер</a:t>
            </a:r>
            <a:r>
              <a:rPr lang="ru-RU" sz="2200" dirty="0"/>
              <a:t> декодера.  </a:t>
            </a:r>
            <a:r>
              <a:rPr lang="ru-RU" sz="2200" b="1" dirty="0"/>
              <a:t>Цель</a:t>
            </a:r>
            <a:r>
              <a:rPr lang="ru-RU" sz="2200" dirty="0"/>
              <a:t> – создание кросс-внимания.</a:t>
            </a:r>
          </a:p>
          <a:p>
            <a:pPr marL="0" indent="0">
              <a:buNone/>
            </a:pPr>
            <a:r>
              <a:rPr lang="ru-RU" sz="2200" b="1" dirty="0"/>
              <a:t>Вход декодера</a:t>
            </a:r>
            <a:r>
              <a:rPr lang="ru-RU" sz="2200" dirty="0"/>
              <a:t>: в режиме обучения – сдвинутая входная последовательность. </a:t>
            </a:r>
            <a:r>
              <a:rPr lang="ru-RU" sz="2200" b="1" dirty="0"/>
              <a:t>Цель</a:t>
            </a:r>
          </a:p>
          <a:p>
            <a:r>
              <a:rPr lang="en-US" sz="2200" b="1" dirty="0"/>
              <a:t>Teaching forcing</a:t>
            </a:r>
            <a:r>
              <a:rPr lang="ru-RU" sz="2200" b="1" dirty="0"/>
              <a:t> </a:t>
            </a:r>
            <a:r>
              <a:rPr lang="ru-RU" sz="2200" dirty="0"/>
              <a:t>– мы генерируем выход </a:t>
            </a:r>
            <a:r>
              <a:rPr lang="ru-RU" sz="2200" dirty="0" err="1"/>
              <a:t>декодра</a:t>
            </a:r>
            <a:r>
              <a:rPr lang="ru-RU" sz="2200" dirty="0"/>
              <a:t> не только из информации </a:t>
            </a:r>
            <a:r>
              <a:rPr lang="ru-RU" sz="2200" dirty="0" err="1"/>
              <a:t>энкодера</a:t>
            </a:r>
            <a:r>
              <a:rPr lang="ru-RU" sz="2200" dirty="0"/>
              <a:t>, но и из последних известных данных. Это попытка коррекции ошибок обучения (ускорение обучения)</a:t>
            </a:r>
            <a:endParaRPr lang="en-US" sz="2200" dirty="0"/>
          </a:p>
          <a:p>
            <a:pPr lvl="1"/>
            <a:r>
              <a:rPr lang="ru-RU" sz="2200" dirty="0"/>
              <a:t>В режиме работы </a:t>
            </a:r>
            <a:r>
              <a:rPr lang="ru-RU" sz="2200" dirty="0" err="1"/>
              <a:t>авторегрессионно</a:t>
            </a:r>
            <a:r>
              <a:rPr lang="ru-RU" sz="2200" dirty="0"/>
              <a:t> генерируются </a:t>
            </a:r>
            <a:r>
              <a:rPr lang="en-US" sz="2200" dirty="0" smtClean="0"/>
              <a:t>[&lt;mask&gt;</a:t>
            </a:r>
            <a:r>
              <a:rPr lang="ru-RU" sz="2200" dirty="0"/>
              <a:t>-</a:t>
            </a:r>
            <a:r>
              <a:rPr lang="en-US" sz="2200" dirty="0"/>
              <a:t>&gt; ŷ₁], [&lt; mask &gt; ŷ₁ </a:t>
            </a:r>
            <a:r>
              <a:rPr lang="ru-RU" sz="2200" dirty="0"/>
              <a:t>-</a:t>
            </a:r>
            <a:r>
              <a:rPr lang="en-US" sz="2200" dirty="0"/>
              <a:t>&gt; ŷ₁ ŷ₂] </a:t>
            </a:r>
            <a:r>
              <a:rPr lang="ru-RU" sz="2200" dirty="0"/>
              <a:t>И </a:t>
            </a:r>
            <a:r>
              <a:rPr lang="ru-RU" sz="2200" dirty="0" smtClean="0"/>
              <a:t>ТД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234187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Блок декодера</a:t>
                </a:r>
                <a:r>
                  <a:rPr lang="ru-RU" sz="2200" dirty="0" smtClean="0"/>
                  <a:t>: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Маскированное </a:t>
                </a:r>
                <a:r>
                  <a:rPr lang="ru-RU" sz="2200" b="1" dirty="0" err="1" smtClean="0"/>
                  <a:t>самовнимание</a:t>
                </a:r>
                <a:r>
                  <a:rPr lang="en-US" sz="2200" b="1" dirty="0" smtClean="0"/>
                  <a:t> (</a:t>
                </a:r>
                <a:r>
                  <a:rPr lang="en-US" dirty="0"/>
                  <a:t>Causal Multi-Head </a:t>
                </a:r>
                <a:r>
                  <a:rPr lang="en-US" dirty="0" smtClean="0"/>
                  <a:t>Attention)</a:t>
                </a:r>
                <a:r>
                  <a:rPr lang="ru-RU" sz="2200" dirty="0" smtClean="0"/>
                  <a:t>. Цель</a:t>
                </a:r>
              </a:p>
              <a:p>
                <a:r>
                  <a:rPr lang="ru-RU" sz="2200" dirty="0" smtClean="0"/>
                  <a:t>Маска закрывает будущие значения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𝑄𝐾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2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200" dirty="0"/>
              </a:p>
              <a:p>
                <a:r>
                  <a:rPr lang="ru-RU" sz="2200" dirty="0" smtClean="0"/>
                  <a:t>внимание становится последовательным</a:t>
                </a:r>
                <a:endParaRPr lang="en-US" sz="2200" dirty="0"/>
              </a:p>
              <a:p>
                <a:pPr lvl="1"/>
                <a:r>
                  <a:rPr lang="ru-RU" sz="2200" dirty="0" err="1" smtClean="0"/>
                  <a:t>Патчи</a:t>
                </a:r>
                <a:r>
                  <a:rPr lang="ru-RU" sz="2200" dirty="0" smtClean="0"/>
                  <a:t> смотрят только на свои прошлые значения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Перекрестное внимание (</a:t>
                </a:r>
                <a:r>
                  <a:rPr lang="en-US" sz="2200" b="1" dirty="0"/>
                  <a:t>Encoder-Decoder Attention):</a:t>
                </a:r>
                <a:r>
                  <a:rPr lang="en-US" sz="2200" dirty="0"/>
                  <a:t> </a:t>
                </a:r>
                <a:endParaRPr lang="ru-RU" sz="2200" dirty="0" smtClean="0"/>
              </a:p>
              <a:p>
                <a:r>
                  <a:rPr lang="en-US" sz="2200" dirty="0" smtClean="0"/>
                  <a:t>Q – </a:t>
                </a:r>
                <a:r>
                  <a:rPr lang="ru-RU" sz="2200" dirty="0" smtClean="0"/>
                  <a:t>из декодера, </a:t>
                </a:r>
                <a:r>
                  <a:rPr lang="en-US" sz="2200" dirty="0" smtClean="0"/>
                  <a:t>K,V</a:t>
                </a:r>
                <a:r>
                  <a:rPr lang="ru-RU" sz="2200" dirty="0" smtClean="0"/>
                  <a:t> из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 – учет взаимной информации.</a:t>
                </a:r>
              </a:p>
              <a:p>
                <a:r>
                  <a:rPr lang="ru-RU" sz="2200" dirty="0" smtClean="0"/>
                  <a:t>Каждый шаг – предсказание скрытого состояния </a:t>
                </a:r>
                <a:r>
                  <a:rPr lang="ru-RU" sz="2200" dirty="0" err="1" smtClean="0"/>
                  <a:t>патча</a:t>
                </a:r>
                <a:r>
                  <a:rPr lang="ru-RU" sz="2200" dirty="0" smtClean="0"/>
                  <a:t> в слоях декодера</a:t>
                </a:r>
              </a:p>
              <a:p>
                <a:r>
                  <a:rPr lang="ru-RU" sz="2200" dirty="0" smtClean="0"/>
                  <a:t>На выходе декодирование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𝑊</m:t>
                    </m:r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dirty="0"/>
              </a:p>
              <a:p>
                <a:r>
                  <a:rPr lang="ru-RU" sz="2200" dirty="0" err="1" smtClean="0"/>
                  <a:t>autoregressive</a:t>
                </a:r>
                <a:r>
                  <a:rPr lang="ru-RU" sz="2200" dirty="0" smtClean="0"/>
                  <a:t> </a:t>
                </a:r>
                <a:r>
                  <a:rPr lang="ru-RU" sz="2200" dirty="0"/>
                  <a:t>генерация (по </a:t>
                </a:r>
                <a:r>
                  <a:rPr lang="ru-RU" sz="2200" dirty="0" smtClean="0"/>
                  <a:t>одному</a:t>
                </a:r>
                <a:r>
                  <a:rPr lang="en-US" sz="2200" dirty="0" smtClean="0"/>
                  <a:t> </a:t>
                </a:r>
                <a:r>
                  <a:rPr lang="ru-RU" sz="2200" dirty="0" err="1" smtClean="0"/>
                  <a:t>патчу</a:t>
                </a:r>
                <a:r>
                  <a:rPr lang="ru-RU" sz="2200" dirty="0" smtClean="0"/>
                  <a:t> за шаг)</a:t>
                </a:r>
                <a:endParaRPr lang="ru-RU" sz="2200" b="1" dirty="0"/>
              </a:p>
              <a:p>
                <a:endParaRPr lang="ru-RU" sz="2200" dirty="0" smtClean="0"/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pPr marL="0" indent="0">
                  <a:buNone/>
                </a:pPr>
                <a:r>
                  <a:rPr lang="en-US" sz="2200" dirty="0" smtClean="0"/>
                  <a:t> </a:t>
                </a: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  <a:blipFill>
                <a:blip r:embed="rId3"/>
                <a:stretch>
                  <a:fillRect l="-667" t="-1502" b="-92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587" r="139" b="-587"/>
          <a:stretch/>
        </p:blipFill>
        <p:spPr bwMode="auto">
          <a:xfrm>
            <a:off x="9547123" y="3513721"/>
            <a:ext cx="2442175" cy="3156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31157" y="6270530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01336" y="3655211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</p:spTree>
    <p:extLst>
      <p:ext uri="{BB962C8B-B14F-4D97-AF65-F5344CB8AC3E}">
        <p14:creationId xmlns:p14="http://schemas.microsoft.com/office/powerpoint/2010/main" val="1514476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237CF4-19DA-26A8-E312-B89F88BEE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193" y="365126"/>
            <a:ext cx="11012607" cy="6540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Архитектуры </a:t>
            </a:r>
            <a:r>
              <a:rPr lang="ru-RU" dirty="0" err="1" smtClean="0"/>
              <a:t>Энкодер</a:t>
            </a:r>
            <a:r>
              <a:rPr lang="ru-RU" dirty="0" smtClean="0"/>
              <a:t>-Декодер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F3927E-D387-C8EB-1B29-A859C067C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71" y="952500"/>
            <a:ext cx="11525249" cy="59054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 smtClean="0"/>
              <a:t> </a:t>
            </a:r>
            <a:r>
              <a:rPr lang="ru-RU" sz="2200" b="1" dirty="0" err="1" smtClean="0"/>
              <a:t>Энкодер</a:t>
            </a:r>
            <a:r>
              <a:rPr lang="ru-RU" sz="2200" dirty="0" smtClean="0"/>
              <a:t> – анализ входной последовательности (пересечение </a:t>
            </a:r>
            <a:r>
              <a:rPr lang="ru-RU" sz="2200" dirty="0" err="1" smtClean="0"/>
              <a:t>пачтей</a:t>
            </a:r>
            <a:r>
              <a:rPr lang="ru-RU" sz="2200" dirty="0" smtClean="0"/>
              <a:t>, на выходе скрытое состояние для всех </a:t>
            </a:r>
            <a:r>
              <a:rPr lang="ru-RU" sz="2200" dirty="0" err="1" smtClean="0"/>
              <a:t>патчей</a:t>
            </a:r>
            <a:r>
              <a:rPr lang="ru-RU" sz="2200" dirty="0" smtClean="0"/>
              <a:t>) . </a:t>
            </a:r>
          </a:p>
          <a:p>
            <a:pPr lvl="1"/>
            <a:r>
              <a:rPr lang="ru-RU" sz="2200" dirty="0" smtClean="0"/>
              <a:t>Цель скрытого состояния – выделение признаков</a:t>
            </a:r>
          </a:p>
          <a:p>
            <a:pPr marL="0" indent="0">
              <a:buNone/>
            </a:pPr>
            <a:r>
              <a:rPr lang="ru-RU" sz="2200" b="1" dirty="0" smtClean="0"/>
              <a:t>Декодер</a:t>
            </a:r>
            <a:r>
              <a:rPr lang="ru-RU" sz="2200" dirty="0" smtClean="0"/>
              <a:t> – </a:t>
            </a:r>
            <a:r>
              <a:rPr lang="ru-RU" sz="2200" dirty="0" err="1" smtClean="0"/>
              <a:t>авторегрессионное</a:t>
            </a:r>
            <a:r>
              <a:rPr lang="ru-RU" sz="2200" dirty="0" smtClean="0"/>
              <a:t> предсказание значений на основе входных данных и скрытого состояния, полученного из </a:t>
            </a:r>
            <a:r>
              <a:rPr lang="ru-RU" sz="2200" dirty="0" err="1" smtClean="0"/>
              <a:t>энкодера</a:t>
            </a:r>
            <a:r>
              <a:rPr lang="ru-RU" sz="2200" dirty="0" smtClean="0"/>
              <a:t>.</a:t>
            </a:r>
          </a:p>
          <a:p>
            <a:pPr lvl="1"/>
            <a:r>
              <a:rPr lang="ru-RU" sz="2200" dirty="0" smtClean="0"/>
              <a:t>Цель декодера предсказания следующего </a:t>
            </a:r>
            <a:r>
              <a:rPr lang="ru-RU" sz="2200" dirty="0" err="1" smtClean="0"/>
              <a:t>патча</a:t>
            </a:r>
            <a:r>
              <a:rPr lang="en-US" sz="2200" dirty="0" smtClean="0"/>
              <a:t> </a:t>
            </a:r>
            <a:r>
              <a:rPr lang="ru-RU" sz="2200" dirty="0" smtClean="0"/>
              <a:t>на основе предыстории и запроса.</a:t>
            </a:r>
          </a:p>
          <a:p>
            <a:pPr marL="0" indent="0">
              <a:buNone/>
            </a:pPr>
            <a:r>
              <a:rPr lang="ru-RU" sz="2200" b="1" dirty="0" smtClean="0"/>
              <a:t>Однако </a:t>
            </a:r>
            <a:r>
              <a:rPr lang="ru-RU" sz="2200" dirty="0"/>
              <a:t>Архитектуры </a:t>
            </a:r>
            <a:r>
              <a:rPr lang="ru-RU" sz="2200" dirty="0" err="1" smtClean="0"/>
              <a:t>энкодер</a:t>
            </a:r>
            <a:r>
              <a:rPr lang="ru-RU" sz="2200" dirty="0" smtClean="0"/>
              <a:t>-декодер:</a:t>
            </a:r>
            <a:endParaRPr lang="ru-RU" sz="2200" b="1" dirty="0" smtClean="0"/>
          </a:p>
          <a:p>
            <a:r>
              <a:rPr lang="ru-RU" sz="2200" dirty="0" smtClean="0"/>
              <a:t>Архитектуры объемы.</a:t>
            </a:r>
          </a:p>
          <a:p>
            <a:pPr lvl="1"/>
            <a:r>
              <a:rPr lang="ru-RU" sz="2000" dirty="0" err="1"/>
              <a:t>энкодер</a:t>
            </a:r>
            <a:r>
              <a:rPr lang="ru-RU" sz="2000" dirty="0"/>
              <a:t>-декодер</a:t>
            </a:r>
            <a:r>
              <a:rPr lang="ru-RU" sz="2000" dirty="0" smtClean="0"/>
              <a:t> </a:t>
            </a:r>
            <a:r>
              <a:rPr lang="ru-RU" sz="2000" dirty="0"/>
              <a:t>имеет </a:t>
            </a:r>
            <a:r>
              <a:rPr lang="en-US" sz="2000" dirty="0"/>
              <a:t>&gt;2 </a:t>
            </a:r>
            <a:r>
              <a:rPr lang="ru-RU" sz="2000" dirty="0"/>
              <a:t>раза больше </a:t>
            </a:r>
            <a:r>
              <a:rPr lang="ru-RU" sz="2000" dirty="0" smtClean="0"/>
              <a:t>параметров чем </a:t>
            </a:r>
            <a:r>
              <a:rPr lang="ru-RU" sz="2000" dirty="0" err="1" smtClean="0"/>
              <a:t>энкодер</a:t>
            </a:r>
            <a:r>
              <a:rPr lang="ru-RU" sz="2000" dirty="0" smtClean="0"/>
              <a:t> </a:t>
            </a:r>
            <a:endParaRPr lang="ru-RU" sz="2000" dirty="0"/>
          </a:p>
          <a:p>
            <a:pPr lvl="1"/>
            <a:r>
              <a:rPr lang="ru-RU" sz="2000" dirty="0"/>
              <a:t>Внимание в декодере </a:t>
            </a:r>
            <a:r>
              <a:rPr lang="en-US" sz="2000" dirty="0"/>
              <a:t>O(T</a:t>
            </a:r>
            <a:r>
              <a:rPr lang="en-US" sz="2000" baseline="30000" dirty="0"/>
              <a:t>2</a:t>
            </a:r>
            <a:r>
              <a:rPr lang="en-US" sz="2000" dirty="0"/>
              <a:t>)</a:t>
            </a:r>
            <a:r>
              <a:rPr lang="ru-RU" sz="2000" dirty="0"/>
              <a:t>, в </a:t>
            </a:r>
            <a:r>
              <a:rPr lang="ru-RU" sz="2000" dirty="0" err="1"/>
              <a:t>энкодере</a:t>
            </a:r>
            <a:r>
              <a:rPr lang="ru-RU" sz="2000" dirty="0"/>
              <a:t> доступны варианты </a:t>
            </a:r>
            <a:endParaRPr lang="ru-RU" sz="2000" dirty="0" smtClean="0"/>
          </a:p>
          <a:p>
            <a:r>
              <a:rPr lang="en-US" sz="2200" dirty="0" smtClean="0"/>
              <a:t>Exposure bias</a:t>
            </a:r>
            <a:endParaRPr lang="ru-RU" sz="2200" dirty="0" smtClean="0"/>
          </a:p>
          <a:p>
            <a:pPr lvl="1"/>
            <a:r>
              <a:rPr lang="ru-RU" sz="1800" dirty="0" smtClean="0"/>
              <a:t>На </a:t>
            </a:r>
            <a:r>
              <a:rPr lang="ru-RU" sz="1800" dirty="0"/>
              <a:t>обучении — </a:t>
            </a:r>
            <a:r>
              <a:rPr lang="en-US" sz="1800" dirty="0"/>
              <a:t>teacher forcing, </a:t>
            </a:r>
            <a:r>
              <a:rPr lang="ru-RU" sz="1800" dirty="0"/>
              <a:t>на </a:t>
            </a:r>
            <a:r>
              <a:rPr lang="ru-RU" sz="1800" dirty="0" err="1"/>
              <a:t>инференсе</a:t>
            </a:r>
            <a:r>
              <a:rPr lang="ru-RU" sz="1800" dirty="0"/>
              <a:t> — </a:t>
            </a:r>
            <a:r>
              <a:rPr lang="en-US" sz="1800" dirty="0"/>
              <a:t>autoregressive → </a:t>
            </a:r>
            <a:r>
              <a:rPr lang="ru-RU" sz="1800" dirty="0"/>
              <a:t>разница в </a:t>
            </a:r>
            <a:r>
              <a:rPr lang="ru-RU" sz="1800" dirty="0" smtClean="0"/>
              <a:t>динамике</a:t>
            </a:r>
          </a:p>
          <a:p>
            <a:r>
              <a:rPr lang="ru-RU" sz="2200" dirty="0" smtClean="0"/>
              <a:t>Сложность масштабирования</a:t>
            </a:r>
          </a:p>
          <a:p>
            <a:pPr lvl="1"/>
            <a:r>
              <a:rPr lang="ru-RU" sz="1800" dirty="0" smtClean="0"/>
              <a:t>Требует длинной предыстории для каждого </a:t>
            </a:r>
            <a:r>
              <a:rPr lang="ru-RU" sz="1800" dirty="0" err="1" smtClean="0"/>
              <a:t>патча</a:t>
            </a:r>
            <a:endParaRPr lang="ru-RU" sz="1800" dirty="0" smtClean="0"/>
          </a:p>
        </p:txBody>
      </p:sp>
      <p:pic>
        <p:nvPicPr>
          <p:cNvPr id="4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10187802" y="5929313"/>
            <a:ext cx="1297954" cy="78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7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9250" y="5687"/>
            <a:ext cx="11029950" cy="65404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Использование сокращенных трансформеров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294" y="497913"/>
            <a:ext cx="6010714" cy="3144653"/>
          </a:xfrm>
        </p:spPr>
        <p:txBody>
          <a:bodyPr>
            <a:normAutofit fontScale="47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600" b="1" dirty="0" smtClean="0"/>
              <a:t>Encoder-only transformers</a:t>
            </a:r>
            <a:endParaRPr lang="ru-RU" sz="4600" b="1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600" dirty="0" smtClean="0"/>
              <a:t>Возможен </a:t>
            </a:r>
            <a:r>
              <a:rPr lang="en-US" sz="4600" dirty="0" smtClean="0"/>
              <a:t>non-</a:t>
            </a:r>
            <a:r>
              <a:rPr lang="en-US" sz="4600" dirty="0"/>
              <a:t> autoregressive</a:t>
            </a:r>
            <a:r>
              <a:rPr lang="en-US" sz="4600" dirty="0" smtClean="0"/>
              <a:t> forecasting (</a:t>
            </a:r>
            <a:r>
              <a:rPr lang="ru-RU" sz="4600" dirty="0" smtClean="0"/>
              <a:t>скорость)</a:t>
            </a:r>
            <a:endParaRPr lang="ru-RU" sz="46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600" dirty="0" smtClean="0"/>
              <a:t>Доступно упрощенное внимание: </a:t>
            </a:r>
            <a:r>
              <a:rPr lang="en-US" sz="4600" dirty="0" smtClean="0"/>
              <a:t/>
            </a:r>
            <a:br>
              <a:rPr lang="en-US" sz="4600" dirty="0" smtClean="0"/>
            </a:br>
            <a:r>
              <a:rPr lang="en-US" sz="4600" dirty="0" smtClean="0"/>
              <a:t>linear </a:t>
            </a:r>
            <a:r>
              <a:rPr lang="en-US" sz="4600" dirty="0" err="1" smtClean="0"/>
              <a:t>att</a:t>
            </a:r>
            <a:r>
              <a:rPr lang="en-US" sz="4600" dirty="0" smtClean="0"/>
              <a:t>, sparse </a:t>
            </a:r>
            <a:r>
              <a:rPr lang="en-US" sz="4600" dirty="0" err="1" smtClean="0"/>
              <a:t>att</a:t>
            </a:r>
            <a:r>
              <a:rPr lang="en-US" sz="4600" dirty="0" smtClean="0"/>
              <a:t>,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600" dirty="0"/>
              <a:t>Self training </a:t>
            </a:r>
            <a:r>
              <a:rPr lang="ru-RU" sz="4600" dirty="0"/>
              <a:t>через </a:t>
            </a:r>
            <a:r>
              <a:rPr lang="en-US" sz="4600" dirty="0"/>
              <a:t> masking (</a:t>
            </a:r>
            <a:r>
              <a:rPr lang="ru-RU" sz="4600" dirty="0"/>
              <a:t>закрываем часть </a:t>
            </a:r>
            <a:r>
              <a:rPr lang="ru-RU" sz="4600" dirty="0" err="1"/>
              <a:t>патчей</a:t>
            </a:r>
            <a:r>
              <a:rPr lang="ru-RU" sz="4600" dirty="0"/>
              <a:t>, учим их восстанавливать</a:t>
            </a:r>
            <a:r>
              <a:rPr lang="ru-RU" sz="4600" dirty="0" smtClean="0"/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600" dirty="0" smtClean="0"/>
              <a:t>Анализ глубокой предыстории ВР</a:t>
            </a:r>
            <a:endParaRPr lang="en-US" sz="4600" dirty="0" smtClean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endParaRPr lang="ru-RU" sz="2200" dirty="0"/>
          </a:p>
        </p:txBody>
      </p:sp>
      <p:pic>
        <p:nvPicPr>
          <p:cNvPr id="1026" name="Picture 2" descr="https://www.signalpop.com/wp-content/uploads/2023/11/1_patchtst_overview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352" b="1"/>
          <a:stretch/>
        </p:blipFill>
        <p:spPr bwMode="auto">
          <a:xfrm>
            <a:off x="4688643" y="3100039"/>
            <a:ext cx="7185446" cy="3297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36794" y="6624486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https://www.signalpop.com/2023/11/06/understanding-the-patchtst-model-for-time-series-prediction/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459794" y="659639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https://research.google/blog/a-decoder-only-foundation-model-for-time-series-forecasting/</a:t>
            </a:r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5863374" y="488357"/>
            <a:ext cx="6166625" cy="3530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ru-RU" sz="2200" dirty="0" smtClean="0"/>
              <a:t> </a:t>
            </a:r>
            <a:endParaRPr lang="ru-RU" sz="2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14225" y="669292"/>
            <a:ext cx="6096000" cy="193899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20000"/>
              </a:lnSpc>
            </a:pPr>
            <a:r>
              <a:rPr lang="ru-RU" sz="2000" b="1" dirty="0"/>
              <a:t>Примеры </a:t>
            </a:r>
            <a:r>
              <a:rPr lang="en-US" sz="2000" b="1" dirty="0" err="1"/>
              <a:t>PathTST</a:t>
            </a:r>
            <a:r>
              <a:rPr lang="en-US" sz="2000" b="1" dirty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000" dirty="0"/>
              <a:t>Пересекающиеся </a:t>
            </a:r>
            <a:r>
              <a:rPr lang="ru-RU" sz="2000" dirty="0" err="1"/>
              <a:t>патчи</a:t>
            </a:r>
            <a:r>
              <a:rPr lang="ru-RU" sz="2000" dirty="0"/>
              <a:t> по каждой переменной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Linear attention (MLP)</a:t>
            </a:r>
            <a:endParaRPr lang="ru-RU" sz="20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Self training </a:t>
            </a:r>
            <a:r>
              <a:rPr lang="ru-RU" sz="2000" dirty="0"/>
              <a:t>через </a:t>
            </a:r>
            <a:r>
              <a:rPr lang="en-US" sz="2000" dirty="0"/>
              <a:t> masking</a:t>
            </a:r>
            <a:endParaRPr lang="ru-RU" sz="20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Non-autoregressive forecasting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228357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9250" y="5687"/>
            <a:ext cx="11029950" cy="65404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Использование сокращенных трансформеров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294" y="497914"/>
            <a:ext cx="6010714" cy="3731856"/>
          </a:xfrm>
        </p:spPr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b="1" dirty="0"/>
              <a:t>Decoder-only transformers</a:t>
            </a:r>
            <a:endParaRPr lang="ru-RU" sz="4400" b="1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400" dirty="0"/>
              <a:t>autoregressive forecasting – </a:t>
            </a:r>
            <a:r>
              <a:rPr lang="ru-RU" sz="4400" dirty="0"/>
              <a:t>для дальних горизонтов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400" dirty="0"/>
              <a:t>Masked/casual self-attention,</a:t>
            </a:r>
            <a:endParaRPr lang="ru-RU" sz="44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400" dirty="0"/>
              <a:t>Вероятностное предсказание</a:t>
            </a:r>
            <a:endParaRPr lang="en-US" sz="44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400" dirty="0"/>
              <a:t>Генеративный подход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400" dirty="0"/>
              <a:t>Доступен </a:t>
            </a:r>
            <a:r>
              <a:rPr lang="en-US" sz="4400" dirty="0"/>
              <a:t>Zero-shot </a:t>
            </a:r>
            <a:r>
              <a:rPr lang="ru-RU" sz="4400" dirty="0"/>
              <a:t>и подключение </a:t>
            </a:r>
            <a:r>
              <a:rPr lang="ru-RU" sz="4400" dirty="0" err="1"/>
              <a:t>промпта</a:t>
            </a:r>
            <a:endParaRPr lang="ru-RU" sz="44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endParaRPr lang="ru-RU" sz="2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459794" y="659639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https://research.google/blog/a-decoder-only-foundation-model-for-time-series-forecasting/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8349"/>
          <a:stretch/>
        </p:blipFill>
        <p:spPr>
          <a:xfrm>
            <a:off x="0" y="3532440"/>
            <a:ext cx="5607374" cy="3194755"/>
          </a:xfrm>
          <a:prstGeom prst="rect">
            <a:avLst/>
          </a:prstGeom>
        </p:spPr>
      </p:pic>
      <p:sp>
        <p:nvSpPr>
          <p:cNvPr id="9" name="Объект 2"/>
          <p:cNvSpPr txBox="1">
            <a:spLocks/>
          </p:cNvSpPr>
          <p:nvPr/>
        </p:nvSpPr>
        <p:spPr>
          <a:xfrm>
            <a:off x="5815669" y="497914"/>
            <a:ext cx="6376331" cy="4213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200" b="1" dirty="0" smtClean="0"/>
              <a:t>Примеры </a:t>
            </a:r>
            <a:r>
              <a:rPr lang="en-US" sz="2200" b="1" dirty="0" err="1" smtClean="0"/>
              <a:t>TimesFM</a:t>
            </a:r>
            <a:r>
              <a:rPr lang="en-US" sz="2200" b="1" dirty="0" smtClean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Выходной </a:t>
            </a:r>
            <a:r>
              <a:rPr lang="ru-RU" sz="2200" dirty="0" err="1" smtClean="0"/>
              <a:t>патч</a:t>
            </a:r>
            <a:r>
              <a:rPr lang="ru-RU" sz="2200" dirty="0" smtClean="0"/>
              <a:t> можно варьировать от 32 до 128 (шире входного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)</a:t>
            </a:r>
            <a:endParaRPr lang="en-US" sz="2200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 </a:t>
            </a:r>
            <a:r>
              <a:rPr lang="ru-RU" sz="2200" dirty="0"/>
              <a:t>остаток идет в контекст </a:t>
            </a:r>
            <a:r>
              <a:rPr lang="ru-RU" sz="2200" dirty="0" smtClean="0"/>
              <a:t>семплов. </a:t>
            </a:r>
            <a:r>
              <a:rPr lang="ru-RU" sz="2200" dirty="0"/>
              <a:t>( шаг </a:t>
            </a:r>
            <a:r>
              <a:rPr lang="ru-RU" sz="2200" dirty="0" err="1"/>
              <a:t>авторегресси</a:t>
            </a:r>
            <a:r>
              <a:rPr lang="ru-RU" sz="2200" dirty="0"/>
              <a:t> 1 </a:t>
            </a:r>
            <a:r>
              <a:rPr lang="ru-RU" sz="2200" dirty="0" err="1"/>
              <a:t>патч</a:t>
            </a:r>
            <a:r>
              <a:rPr lang="ru-RU" sz="2200" dirty="0"/>
              <a:t>) </a:t>
            </a:r>
            <a:endParaRPr lang="en-US" sz="2200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Можно </a:t>
            </a:r>
            <a:r>
              <a:rPr lang="ru-RU" sz="2200" dirty="0" err="1" smtClean="0"/>
              <a:t>ансаблить</a:t>
            </a:r>
            <a:r>
              <a:rPr lang="ru-RU" sz="2200" dirty="0" smtClean="0"/>
              <a:t> предсказания разным размером </a:t>
            </a:r>
            <a:r>
              <a:rPr lang="ru-RU" sz="2200" dirty="0" err="1" smtClean="0"/>
              <a:t>патча</a:t>
            </a:r>
            <a:endParaRPr lang="ru-RU" sz="2200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Self </a:t>
            </a:r>
            <a:r>
              <a:rPr lang="en-US" sz="2200" dirty="0" smtClean="0"/>
              <a:t>training</a:t>
            </a:r>
            <a:r>
              <a:rPr lang="ru-RU" sz="2200" dirty="0" smtClean="0"/>
              <a:t> через маскировку семплов в </a:t>
            </a:r>
            <a:r>
              <a:rPr lang="ru-RU" sz="2200" dirty="0" err="1" smtClean="0"/>
              <a:t>патче</a:t>
            </a:r>
            <a:endParaRPr lang="ru-RU" sz="2200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Доступен </a:t>
            </a:r>
            <a:r>
              <a:rPr lang="en-US" sz="2200" dirty="0" smtClean="0"/>
              <a:t>Zero-shot</a:t>
            </a:r>
            <a:r>
              <a:rPr lang="ru-RU" sz="2200" dirty="0" smtClean="0"/>
              <a:t>, вход и выход переменной длины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ru-RU" sz="2200" dirty="0" smtClean="0"/>
              <a:t> 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263113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9571" y="365125"/>
            <a:ext cx="11164229" cy="749997"/>
          </a:xfrm>
        </p:spPr>
        <p:txBody>
          <a:bodyPr/>
          <a:lstStyle/>
          <a:p>
            <a:r>
              <a:rPr lang="ru-RU" dirty="0" smtClean="0"/>
              <a:t>Некоторые модели </a:t>
            </a:r>
            <a:r>
              <a:rPr lang="ru-RU" dirty="0" err="1" smtClean="0"/>
              <a:t>трансформеры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3964128"/>
              </p:ext>
            </p:extLst>
          </p:nvPr>
        </p:nvGraphicFramePr>
        <p:xfrm>
          <a:off x="189571" y="1115122"/>
          <a:ext cx="11654419" cy="51041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38507">
                  <a:extLst>
                    <a:ext uri="{9D8B030D-6E8A-4147-A177-3AD203B41FA5}">
                      <a16:colId xmlns:a16="http://schemas.microsoft.com/office/drawing/2014/main" val="3249311741"/>
                    </a:ext>
                  </a:extLst>
                </a:gridCol>
                <a:gridCol w="1282088">
                  <a:extLst>
                    <a:ext uri="{9D8B030D-6E8A-4147-A177-3AD203B41FA5}">
                      <a16:colId xmlns:a16="http://schemas.microsoft.com/office/drawing/2014/main" val="1989492488"/>
                    </a:ext>
                  </a:extLst>
                </a:gridCol>
                <a:gridCol w="4661307">
                  <a:extLst>
                    <a:ext uri="{9D8B030D-6E8A-4147-A177-3AD203B41FA5}">
                      <a16:colId xmlns:a16="http://schemas.microsoft.com/office/drawing/2014/main" val="4075952491"/>
                    </a:ext>
                  </a:extLst>
                </a:gridCol>
                <a:gridCol w="3420228">
                  <a:extLst>
                    <a:ext uri="{9D8B030D-6E8A-4147-A177-3AD203B41FA5}">
                      <a16:colId xmlns:a16="http://schemas.microsoft.com/office/drawing/2014/main" val="1485279407"/>
                    </a:ext>
                  </a:extLst>
                </a:gridCol>
                <a:gridCol w="852289">
                  <a:extLst>
                    <a:ext uri="{9D8B030D-6E8A-4147-A177-3AD203B41FA5}">
                      <a16:colId xmlns:a16="http://schemas.microsoft.com/office/drawing/2014/main" val="1073697996"/>
                    </a:ext>
                  </a:extLst>
                </a:gridCol>
              </a:tblGrid>
              <a:tr h="148576">
                <a:tc>
                  <a:txBody>
                    <a:bodyPr/>
                    <a:lstStyle/>
                    <a:p>
                      <a:r>
                        <a:rPr lang="ru-RU" sz="2000" dirty="0"/>
                        <a:t>Модель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сложность</a:t>
                      </a:r>
                      <a:endParaRPr lang="ru-RU" sz="2000" dirty="0"/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Ключевые особенности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Применение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Год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1286795480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000" b="1" dirty="0"/>
                        <a:t>Vanilla Transformer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O(N²)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Стандартная архитектура </a:t>
                      </a:r>
                      <a:r>
                        <a:rPr lang="ru-RU" sz="2000" dirty="0" err="1"/>
                        <a:t>трансформера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Base</a:t>
                      </a:r>
                      <a:r>
                        <a:rPr lang="en-US" sz="2000" baseline="0" dirty="0" smtClean="0"/>
                        <a:t> line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2017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520311545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TFT</a:t>
                      </a:r>
                      <a:endParaRPr lang="en-US" sz="2000" b="1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O(N²)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рекуррентные сети + </a:t>
                      </a:r>
                      <a:r>
                        <a:rPr lang="ru-RU" sz="2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трансформер</a:t>
                      </a:r>
                      <a:r>
                        <a:rPr lang="en-US" sz="2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интерпр</a:t>
                      </a:r>
                      <a:r>
                        <a:rPr lang="ru-RU" sz="2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 smtClean="0"/>
                        <a:t>Heterogen</a:t>
                      </a:r>
                      <a:r>
                        <a:rPr lang="en-US" sz="2000" dirty="0" smtClean="0"/>
                        <a:t> data</a:t>
                      </a:r>
                      <a:r>
                        <a:rPr lang="en-US" sz="2000" baseline="0" dirty="0" smtClean="0"/>
                        <a:t>, </a:t>
                      </a:r>
                      <a:r>
                        <a:rPr lang="en-US" sz="2000" baseline="0" dirty="0" err="1" smtClean="0"/>
                        <a:t>exogen</a:t>
                      </a:r>
                      <a:endParaRPr lang="ru-RU" sz="20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2022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1960122855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2000" b="1" dirty="0"/>
                        <a:t>Informer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O(N log 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ProbSparse</a:t>
                      </a:r>
                      <a:r>
                        <a:rPr lang="en-US" sz="2000" dirty="0"/>
                        <a:t> </a:t>
                      </a:r>
                      <a:r>
                        <a:rPr lang="ru-RU" sz="2000" dirty="0"/>
                        <a:t>внимание, генеративный декодер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Long</a:t>
                      </a:r>
                      <a:r>
                        <a:rPr lang="en-US" sz="2000" baseline="0" dirty="0" smtClean="0"/>
                        <a:t> horizon, low </a:t>
                      </a:r>
                      <a:r>
                        <a:rPr lang="en-US" sz="2000" baseline="0" dirty="0" err="1" smtClean="0"/>
                        <a:t>comput</a:t>
                      </a:r>
                      <a:r>
                        <a:rPr lang="en-US" sz="2000" baseline="0" dirty="0" smtClean="0"/>
                        <a:t>. require</a:t>
                      </a:r>
                      <a:endParaRPr lang="ru-RU" sz="20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2021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08783238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2000" b="1" dirty="0" err="1"/>
                        <a:t>Autoformer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O(N log 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Авто-корреляция, декомпозиция сезон-тренд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Long</a:t>
                      </a:r>
                      <a:r>
                        <a:rPr lang="en-US" sz="2000" baseline="0" dirty="0" smtClean="0"/>
                        <a:t> horizon, complex patterns</a:t>
                      </a:r>
                      <a:endParaRPr lang="ru-RU" sz="20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2021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704454812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000" b="1" dirty="0" err="1"/>
                        <a:t>PatchTST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O(N)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 err="1"/>
                        <a:t>Патч</a:t>
                      </a:r>
                      <a:r>
                        <a:rPr lang="ru-RU" sz="2000" dirty="0"/>
                        <a:t>-сегментация, канально-независимое обучение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Long</a:t>
                      </a:r>
                      <a:r>
                        <a:rPr lang="en-US" sz="2000" baseline="0" dirty="0" smtClean="0"/>
                        <a:t> horizon, multivariate</a:t>
                      </a:r>
                      <a:endParaRPr lang="ru-RU" sz="20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2023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302619383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000" b="1" dirty="0" err="1"/>
                        <a:t>iTransformer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O(N²)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Инвертированная архитектура, переменные как </a:t>
                      </a:r>
                      <a:r>
                        <a:rPr lang="ru-RU" sz="2000" dirty="0" err="1" smtClean="0"/>
                        <a:t>патчи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Многомерное прогнозирование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2024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557155647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000" b="1" dirty="0" err="1"/>
                        <a:t>TimeMixer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O(N)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Декомпозируемое многомасштабное </a:t>
                      </a:r>
                      <a:r>
                        <a:rPr lang="ru-RU" sz="2000" dirty="0" smtClean="0"/>
                        <a:t>смешивание</a:t>
                      </a:r>
                      <a:r>
                        <a:rPr lang="en-US" sz="2000" dirty="0" smtClean="0"/>
                        <a:t> (</a:t>
                      </a:r>
                      <a:r>
                        <a:rPr lang="ru-RU" sz="2000" b="1" dirty="0" smtClean="0"/>
                        <a:t>Миксер</a:t>
                      </a:r>
                      <a:r>
                        <a:rPr lang="ru-RU" sz="2000" b="1" baseline="0" dirty="0" smtClean="0"/>
                        <a:t>, не </a:t>
                      </a:r>
                      <a:r>
                        <a:rPr lang="ru-RU" sz="2000" b="1" baseline="0" dirty="0" err="1" smtClean="0"/>
                        <a:t>трансформер</a:t>
                      </a:r>
                      <a:r>
                        <a:rPr lang="ru-RU" sz="2000" baseline="0" dirty="0" smtClean="0"/>
                        <a:t>!)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Универсальный анализ временных рядов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2024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2621592546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000" b="1" dirty="0" err="1" smtClean="0"/>
                        <a:t>Dlinear</a:t>
                      </a:r>
                      <a:endParaRPr lang="en-US" sz="2000" b="1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-</a:t>
                      </a:r>
                      <a:endParaRPr lang="en-US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Не</a:t>
                      </a:r>
                      <a:r>
                        <a:rPr lang="ru-RU" sz="2000" baseline="0" dirty="0" smtClean="0"/>
                        <a:t> </a:t>
                      </a:r>
                      <a:r>
                        <a:rPr lang="ru-RU" sz="2000" baseline="0" dirty="0" err="1" smtClean="0"/>
                        <a:t>трансформер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Base</a:t>
                      </a:r>
                      <a:r>
                        <a:rPr lang="en-US" sz="2000" baseline="0" dirty="0" smtClean="0"/>
                        <a:t> line</a:t>
                      </a:r>
                      <a:r>
                        <a:rPr lang="ru-RU" sz="2000" baseline="0" dirty="0" smtClean="0"/>
                        <a:t> </a:t>
                      </a:r>
                      <a:r>
                        <a:rPr lang="en-US" sz="2000" baseline="0" dirty="0" smtClean="0"/>
                        <a:t>for </a:t>
                      </a:r>
                      <a:r>
                        <a:rPr lang="en-US" sz="2000" dirty="0" smtClean="0"/>
                        <a:t>Long</a:t>
                      </a:r>
                      <a:r>
                        <a:rPr lang="en-US" sz="2000" baseline="0" dirty="0" smtClean="0"/>
                        <a:t> horizon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2023</a:t>
                      </a:r>
                      <a:endParaRPr lang="ru-RU" sz="20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115333207"/>
                  </a:ext>
                </a:extLst>
              </a:tr>
            </a:tbl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110350" y="6519446"/>
            <a:ext cx="96246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https://readmedium.com/a-brief-history-of-time-series-models-38455c2cd78d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527180" y="651944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https://nixtlaverse.nixtla.io/neuralforecast/docs/capabilities/overview.html</a:t>
            </a:r>
          </a:p>
        </p:txBody>
      </p:sp>
    </p:spTree>
    <p:extLst>
      <p:ext uri="{BB962C8B-B14F-4D97-AF65-F5344CB8AC3E}">
        <p14:creationId xmlns:p14="http://schemas.microsoft.com/office/powerpoint/2010/main" val="3857978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8420" y="365126"/>
            <a:ext cx="11175380" cy="816904"/>
          </a:xfrm>
        </p:spPr>
        <p:txBody>
          <a:bodyPr/>
          <a:lstStyle/>
          <a:p>
            <a:r>
              <a:rPr lang="ru-RU" dirty="0"/>
              <a:t>Некоторые модели </a:t>
            </a:r>
            <a:r>
              <a:rPr lang="en-US" dirty="0" smtClean="0"/>
              <a:t>foundation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78420" y="6504056"/>
            <a:ext cx="383137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https://otexts.com/fpppy/nbs/15-foundation-models.html</a:t>
            </a:r>
          </a:p>
        </p:txBody>
      </p:sp>
      <p:graphicFrame>
        <p:nvGraphicFramePr>
          <p:cNvPr id="5" name="Объект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1876592"/>
              </p:ext>
            </p:extLst>
          </p:nvPr>
        </p:nvGraphicFramePr>
        <p:xfrm>
          <a:off x="301083" y="1741345"/>
          <a:ext cx="11552663" cy="420368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08267">
                  <a:extLst>
                    <a:ext uri="{9D8B030D-6E8A-4147-A177-3AD203B41FA5}">
                      <a16:colId xmlns:a16="http://schemas.microsoft.com/office/drawing/2014/main" val="3249311741"/>
                    </a:ext>
                  </a:extLst>
                </a:gridCol>
                <a:gridCol w="4356552">
                  <a:extLst>
                    <a:ext uri="{9D8B030D-6E8A-4147-A177-3AD203B41FA5}">
                      <a16:colId xmlns:a16="http://schemas.microsoft.com/office/drawing/2014/main" val="4075952491"/>
                    </a:ext>
                  </a:extLst>
                </a:gridCol>
                <a:gridCol w="4938568">
                  <a:extLst>
                    <a:ext uri="{9D8B030D-6E8A-4147-A177-3AD203B41FA5}">
                      <a16:colId xmlns:a16="http://schemas.microsoft.com/office/drawing/2014/main" val="1485279407"/>
                    </a:ext>
                  </a:extLst>
                </a:gridCol>
                <a:gridCol w="949276">
                  <a:extLst>
                    <a:ext uri="{9D8B030D-6E8A-4147-A177-3AD203B41FA5}">
                      <a16:colId xmlns:a16="http://schemas.microsoft.com/office/drawing/2014/main" val="1073697996"/>
                    </a:ext>
                  </a:extLst>
                </a:gridCol>
              </a:tblGrid>
              <a:tr h="148576">
                <a:tc>
                  <a:txBody>
                    <a:bodyPr/>
                    <a:lstStyle/>
                    <a:p>
                      <a:r>
                        <a:rPr lang="ru-RU" sz="2200" dirty="0"/>
                        <a:t>Модель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2200" dirty="0"/>
                        <a:t>Ключевые особенности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2200" dirty="0"/>
                        <a:t>Применение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2200" dirty="0"/>
                        <a:t>Год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1286795480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TimeGPT-1</a:t>
                      </a:r>
                      <a:endParaRPr lang="en-US" sz="2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Transformer (encoder-decoder),</a:t>
                      </a:r>
                      <a:r>
                        <a:rPr lang="en-US" sz="22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&gt;1B </a:t>
                      </a:r>
                      <a:r>
                        <a:rPr lang="ru-RU" sz="22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парамеров</a:t>
                      </a:r>
                      <a:r>
                        <a:rPr lang="ru-RU" sz="22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local positional encoding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200" dirty="0" smtClean="0"/>
                        <a:t>Закрытая модель (</a:t>
                      </a:r>
                      <a:r>
                        <a:rPr lang="en-US" sz="2200" dirty="0" smtClean="0"/>
                        <a:t>API)</a:t>
                      </a:r>
                      <a:r>
                        <a:rPr lang="ru-RU" sz="2200" baseline="0" dirty="0" smtClean="0"/>
                        <a:t> для </a:t>
                      </a:r>
                      <a:r>
                        <a:rPr lang="ru-RU" sz="2200" baseline="0" dirty="0" err="1" smtClean="0"/>
                        <a:t>деплоя</a:t>
                      </a:r>
                      <a:r>
                        <a:rPr lang="ru-RU" sz="2200" baseline="0" dirty="0" smtClean="0"/>
                        <a:t>, </a:t>
                      </a:r>
                      <a:r>
                        <a:rPr lang="en-US" sz="2200" baseline="0" dirty="0" smtClean="0"/>
                        <a:t>long horizon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200" dirty="0" smtClean="0"/>
                        <a:t>2023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520311545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22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TimesFM</a:t>
                      </a:r>
                      <a:endParaRPr lang="en-US" sz="2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decoder-only</a:t>
                      </a: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переменные</a:t>
                      </a:r>
                      <a:r>
                        <a:rPr lang="ru-RU" sz="22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2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патчи</a:t>
                      </a:r>
                      <a:r>
                        <a:rPr lang="ru-RU" sz="22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200M </a:t>
                      </a: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параметров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Zero-shot,</a:t>
                      </a:r>
                      <a:r>
                        <a:rPr lang="en-US" sz="2200" baseline="0" dirty="0" smtClean="0"/>
                        <a:t> </a:t>
                      </a:r>
                      <a:r>
                        <a:rPr lang="ru-RU" sz="2200" baseline="0" dirty="0" smtClean="0"/>
                        <a:t>средний горизонт</a:t>
                      </a:r>
                      <a:endParaRPr lang="ru-RU" sz="22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200" dirty="0" smtClean="0"/>
                        <a:t>2024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1960122855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Lag-Llama</a:t>
                      </a:r>
                      <a:endParaRPr lang="en-US" sz="2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decoder-only </a:t>
                      </a: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лаги как </a:t>
                      </a:r>
                      <a:r>
                        <a:rPr lang="ru-RU" sz="22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ковариаты</a:t>
                      </a:r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(контекст),</a:t>
                      </a:r>
                      <a:r>
                        <a:rPr lang="ru-RU" sz="22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легковесная архитектура, вероятностные предсказания (</a:t>
                      </a:r>
                      <a:r>
                        <a:rPr lang="en-US" sz="22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&lt;150M)</a:t>
                      </a:r>
                      <a:r>
                        <a:rPr lang="ru-RU" sz="22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короткие/средние ряды горизонты</a:t>
                      </a:r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fine-tune</a:t>
                      </a:r>
                      <a:endParaRPr lang="ru-RU" sz="22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200" dirty="0" smtClean="0"/>
                        <a:t>2023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08783238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22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Moria</a:t>
                      </a:r>
                      <a:endParaRPr lang="en-US" sz="22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Encoder-only,</a:t>
                      </a:r>
                      <a:r>
                        <a:rPr lang="en-US" sz="2200" baseline="0" dirty="0" smtClean="0"/>
                        <a:t> </a:t>
                      </a: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mixture distribution</a:t>
                      </a:r>
                      <a:endParaRPr lang="en-US" sz="22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Предсказание, </a:t>
                      </a:r>
                      <a:r>
                        <a:rPr lang="ru-RU" sz="22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Детекция</a:t>
                      </a:r>
                      <a:r>
                        <a:rPr lang="ru-RU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аномалий</a:t>
                      </a:r>
                      <a:endParaRPr lang="ru-RU" sz="22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200" dirty="0" smtClean="0"/>
                        <a:t>2023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704454812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2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Chornos</a:t>
                      </a:r>
                      <a:endParaRPr lang="en-US" sz="2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Decoder-only</a:t>
                      </a:r>
                      <a:r>
                        <a:rPr lang="ru-RU" sz="2200" dirty="0" smtClean="0"/>
                        <a:t> </a:t>
                      </a:r>
                      <a:r>
                        <a:rPr lang="en-US" sz="2200" dirty="0" smtClean="0"/>
                        <a:t>–</a:t>
                      </a:r>
                      <a:r>
                        <a:rPr lang="en-US" sz="2200" baseline="0" dirty="0" smtClean="0"/>
                        <a:t> </a:t>
                      </a:r>
                      <a:r>
                        <a:rPr lang="ru-RU" sz="2200" baseline="0" dirty="0" smtClean="0"/>
                        <a:t>ВР как текст, </a:t>
                      </a:r>
                      <a:r>
                        <a:rPr lang="en-US" sz="2200" baseline="0" dirty="0" smtClean="0"/>
                        <a:t> (200M)</a:t>
                      </a:r>
                      <a:r>
                        <a:rPr lang="ru-RU" sz="2200" dirty="0" smtClean="0"/>
                        <a:t>, 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Zero-shot,</a:t>
                      </a:r>
                      <a:r>
                        <a:rPr lang="en-US" sz="2200" baseline="0" dirty="0" smtClean="0"/>
                        <a:t> </a:t>
                      </a:r>
                      <a:r>
                        <a:rPr lang="ru-RU" sz="2200" baseline="0" dirty="0" smtClean="0"/>
                        <a:t>средний горизонт</a:t>
                      </a:r>
                      <a:endParaRPr lang="ru-RU" sz="22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2200" dirty="0" smtClean="0"/>
                        <a:t>2023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302619383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22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TTM</a:t>
                      </a:r>
                      <a:endParaRPr lang="en-US" sz="2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Tiny Time Mixers </a:t>
                      </a:r>
                      <a:r>
                        <a:rPr lang="ru-RU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</a:t>
                      </a:r>
                      <a:r>
                        <a:rPr lang="ru-RU" sz="18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1М</a:t>
                      </a:r>
                      <a:r>
                        <a:rPr lang="en-US" sz="18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параметров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Zero-shot in Poor</a:t>
                      </a:r>
                      <a:r>
                        <a:rPr lang="en-US" sz="2200" baseline="0" dirty="0" smtClean="0"/>
                        <a:t> performance devices</a:t>
                      </a:r>
                      <a:endParaRPr lang="ru-RU" sz="22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2024</a:t>
                      </a:r>
                      <a:endParaRPr lang="ru-RU" sz="22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2067914610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4513370" y="650405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https://arxiv.org/pdf/2403.14735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7133062" y="653483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https://readmedium.com/a-brief-history-of-time-series-models-38455c2cd78d</a:t>
            </a:r>
          </a:p>
        </p:txBody>
      </p:sp>
    </p:spTree>
    <p:extLst>
      <p:ext uri="{BB962C8B-B14F-4D97-AF65-F5344CB8AC3E}">
        <p14:creationId xmlns:p14="http://schemas.microsoft.com/office/powerpoint/2010/main" val="29872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5036" y="86345"/>
            <a:ext cx="10515600" cy="917265"/>
          </a:xfrm>
        </p:spPr>
        <p:txBody>
          <a:bodyPr/>
          <a:lstStyle/>
          <a:p>
            <a:r>
              <a:rPr lang="ru-RU" b="1" dirty="0"/>
              <a:t>Когда использовать </a:t>
            </a:r>
            <a:r>
              <a:rPr lang="ru-RU" b="1" dirty="0" err="1"/>
              <a:t>Foundation</a:t>
            </a:r>
            <a:r>
              <a:rPr lang="ru-RU" b="1" dirty="0"/>
              <a:t> </a:t>
            </a:r>
            <a:r>
              <a:rPr lang="ru-RU" b="1" dirty="0" err="1"/>
              <a:t>Models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5687" y="1003610"/>
            <a:ext cx="11508059" cy="5497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 smtClean="0"/>
              <a:t>Преимущества:</a:t>
            </a:r>
            <a:endParaRPr lang="ru-RU" sz="2400" b="1" dirty="0"/>
          </a:p>
          <a:p>
            <a:r>
              <a:rPr lang="ru-RU" sz="2400" dirty="0" smtClean="0"/>
              <a:t>Малые </a:t>
            </a:r>
            <a:r>
              <a:rPr lang="ru-RU" sz="2400" dirty="0"/>
              <a:t>данные</a:t>
            </a:r>
            <a:r>
              <a:rPr lang="ru-RU" sz="2400" dirty="0" smtClean="0"/>
              <a:t>: </a:t>
            </a:r>
            <a:r>
              <a:rPr lang="ru-RU" sz="2400" dirty="0"/>
              <a:t>эффективны при ограниченных исторических данных</a:t>
            </a:r>
          </a:p>
          <a:p>
            <a:r>
              <a:rPr lang="ru-RU" sz="2400" dirty="0" smtClean="0"/>
              <a:t>Новые домены:</a:t>
            </a:r>
            <a:r>
              <a:rPr lang="en-US" sz="2400" dirty="0" smtClean="0"/>
              <a:t> </a:t>
            </a:r>
            <a:r>
              <a:rPr lang="ru-RU" sz="2400" dirty="0" smtClean="0"/>
              <a:t>быстрая </a:t>
            </a:r>
            <a:r>
              <a:rPr lang="ru-RU" sz="2400" dirty="0"/>
              <a:t>адаптация к новым типам временных </a:t>
            </a:r>
            <a:r>
              <a:rPr lang="ru-RU" sz="2400" dirty="0" smtClean="0"/>
              <a:t>рядов</a:t>
            </a:r>
            <a:r>
              <a:rPr lang="en-US" sz="2400" dirty="0" smtClean="0"/>
              <a:t> (</a:t>
            </a:r>
            <a:r>
              <a:rPr lang="ru-RU" sz="2400" dirty="0" err="1"/>
              <a:t>Cold</a:t>
            </a:r>
            <a:r>
              <a:rPr lang="ru-RU" sz="2400" dirty="0"/>
              <a:t> </a:t>
            </a:r>
            <a:r>
              <a:rPr lang="ru-RU" sz="2400" dirty="0" err="1" smtClean="0"/>
              <a:t>start</a:t>
            </a:r>
            <a:r>
              <a:rPr lang="en-US" sz="2400" dirty="0" smtClean="0"/>
              <a:t>)</a:t>
            </a:r>
            <a:endParaRPr lang="ru-RU" sz="2400" dirty="0"/>
          </a:p>
          <a:p>
            <a:r>
              <a:rPr lang="ru-RU" sz="2400" dirty="0" smtClean="0"/>
              <a:t>Множественные </a:t>
            </a:r>
            <a:r>
              <a:rPr lang="ru-RU" sz="2400" dirty="0"/>
              <a:t>задачи</a:t>
            </a:r>
            <a:r>
              <a:rPr lang="ru-RU" sz="2400" dirty="0" smtClean="0"/>
              <a:t>: </a:t>
            </a:r>
            <a:r>
              <a:rPr lang="ru-RU" sz="2400" dirty="0"/>
              <a:t>одна модель для различных </a:t>
            </a:r>
            <a:r>
              <a:rPr lang="ru-RU" sz="2400" dirty="0" err="1"/>
              <a:t>forecasting</a:t>
            </a:r>
            <a:r>
              <a:rPr lang="ru-RU" sz="2400" dirty="0"/>
              <a:t> задач</a:t>
            </a:r>
          </a:p>
          <a:p>
            <a:pPr marL="0" indent="0">
              <a:buNone/>
            </a:pPr>
            <a:r>
              <a:rPr lang="ru-RU" sz="2400" b="1" dirty="0" smtClean="0"/>
              <a:t>Ограничения:</a:t>
            </a:r>
            <a:endParaRPr lang="ru-RU" sz="2400" b="1" dirty="0"/>
          </a:p>
          <a:p>
            <a:r>
              <a:rPr lang="ru-RU" sz="2400" dirty="0" smtClean="0"/>
              <a:t>Вычислительные </a:t>
            </a:r>
            <a:r>
              <a:rPr lang="ru-RU" sz="2400" dirty="0"/>
              <a:t>требования</a:t>
            </a:r>
            <a:r>
              <a:rPr lang="ru-RU" sz="2400" dirty="0" smtClean="0"/>
              <a:t>: </a:t>
            </a:r>
            <a:r>
              <a:rPr lang="ru-RU" sz="2400" dirty="0"/>
              <a:t>высокие требования к GPU/TPU</a:t>
            </a:r>
          </a:p>
          <a:p>
            <a:r>
              <a:rPr lang="ru-RU" sz="2400" dirty="0" smtClean="0"/>
              <a:t>Интерпретируемость:</a:t>
            </a:r>
            <a:r>
              <a:rPr lang="en-US" sz="2400" dirty="0" smtClean="0"/>
              <a:t> </a:t>
            </a:r>
            <a:r>
              <a:rPr lang="ru-RU" sz="2400" dirty="0" smtClean="0"/>
              <a:t>сложно </a:t>
            </a:r>
            <a:r>
              <a:rPr lang="ru-RU" sz="2400" dirty="0"/>
              <a:t>понять логику принятия решений</a:t>
            </a:r>
          </a:p>
          <a:p>
            <a:r>
              <a:rPr lang="ru-RU" sz="2400" dirty="0" err="1" smtClean="0"/>
              <a:t>Domain</a:t>
            </a:r>
            <a:r>
              <a:rPr lang="ru-RU" sz="2400" dirty="0" smtClean="0"/>
              <a:t> </a:t>
            </a:r>
            <a:r>
              <a:rPr lang="ru-RU" sz="2400" dirty="0" err="1" smtClean="0"/>
              <a:t>expertise</a:t>
            </a:r>
            <a:r>
              <a:rPr lang="ru-RU" sz="2400" dirty="0" smtClean="0"/>
              <a:t>: </a:t>
            </a:r>
            <a:r>
              <a:rPr lang="ru-RU" sz="2400" dirty="0"/>
              <a:t>могут пропускать специфичные для домена знания</a:t>
            </a:r>
          </a:p>
          <a:p>
            <a:r>
              <a:rPr lang="ru-RU" sz="2400" dirty="0" smtClean="0"/>
              <a:t>Калибровка </a:t>
            </a:r>
            <a:r>
              <a:rPr lang="ru-RU" sz="2400" dirty="0"/>
              <a:t>неопределенности</a:t>
            </a:r>
            <a:r>
              <a:rPr lang="ru-RU" sz="2400" dirty="0" smtClean="0"/>
              <a:t>: </a:t>
            </a:r>
            <a:r>
              <a:rPr lang="ru-RU" sz="2400" dirty="0"/>
              <a:t>сложность в оценке </a:t>
            </a:r>
            <a:r>
              <a:rPr lang="ru-RU" sz="2400" dirty="0" err="1"/>
              <a:t>confidence</a:t>
            </a:r>
            <a:r>
              <a:rPr lang="ru-RU" sz="2400" dirty="0"/>
              <a:t> </a:t>
            </a:r>
            <a:r>
              <a:rPr lang="ru-RU" sz="2400" dirty="0" err="1"/>
              <a:t>intervals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611066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0639" y="1589176"/>
            <a:ext cx="5815361" cy="4351338"/>
          </a:xfrm>
        </p:spPr>
        <p:txBody>
          <a:bodyPr>
            <a:normAutofit fontScale="25000" lnSpcReduction="20000"/>
          </a:bodyPr>
          <a:lstStyle/>
          <a:p>
            <a:r>
              <a:rPr lang="ru-RU" b="1" dirty="0"/>
              <a:t>Новые ключевые разделы:</a:t>
            </a:r>
          </a:p>
          <a:p>
            <a:r>
              <a:rPr lang="ru-RU" sz="7200" b="1" dirty="0"/>
              <a:t>1. </a:t>
            </a:r>
            <a:r>
              <a:rPr lang="en-US" sz="7200" b="1" dirty="0"/>
              <a:t>Decoder-Only </a:t>
            </a:r>
            <a:r>
              <a:rPr lang="ru-RU" sz="7200" b="1" dirty="0"/>
              <a:t>архитектура</a:t>
            </a:r>
          </a:p>
          <a:p>
            <a:r>
              <a:rPr lang="ru-RU" sz="7200" dirty="0"/>
              <a:t>Принципы </a:t>
            </a:r>
            <a:r>
              <a:rPr lang="en-US" sz="7200" dirty="0"/>
              <a:t>causal modeling </a:t>
            </a:r>
            <a:r>
              <a:rPr lang="ru-RU" sz="7200" dirty="0"/>
              <a:t>с маскированием</a:t>
            </a:r>
          </a:p>
          <a:p>
            <a:r>
              <a:rPr lang="ru-RU" sz="7200" dirty="0"/>
              <a:t>Различие между </a:t>
            </a:r>
            <a:r>
              <a:rPr lang="en-US" sz="7200" dirty="0"/>
              <a:t>training </a:t>
            </a:r>
            <a:r>
              <a:rPr lang="ru-RU" sz="7200" dirty="0"/>
              <a:t>и </a:t>
            </a:r>
            <a:r>
              <a:rPr lang="en-US" sz="7200" dirty="0"/>
              <a:t>inference </a:t>
            </a:r>
            <a:r>
              <a:rPr lang="ru-RU" sz="7200" dirty="0"/>
              <a:t>режимами</a:t>
            </a:r>
          </a:p>
          <a:p>
            <a:r>
              <a:rPr lang="ru-RU" sz="7200" dirty="0"/>
              <a:t>Автоматическая генерация последовательности</a:t>
            </a:r>
          </a:p>
          <a:p>
            <a:r>
              <a:rPr lang="ru-RU" sz="7200" b="1" dirty="0"/>
              <a:t>2. </a:t>
            </a:r>
            <a:r>
              <a:rPr lang="en-US" sz="7200" b="1" dirty="0"/>
              <a:t>Foundation Models </a:t>
            </a:r>
            <a:r>
              <a:rPr lang="ru-RU" sz="7200" b="1" dirty="0"/>
              <a:t>для временных рядов</a:t>
            </a:r>
          </a:p>
          <a:p>
            <a:r>
              <a:rPr lang="ru-RU" sz="7200" b="1" dirty="0" err="1"/>
              <a:t>Токенизация</a:t>
            </a:r>
            <a:r>
              <a:rPr lang="ru-RU" sz="7200" b="1" dirty="0"/>
              <a:t>:</a:t>
            </a:r>
            <a:r>
              <a:rPr lang="ru-RU" sz="7200" dirty="0"/>
              <a:t> </a:t>
            </a:r>
            <a:r>
              <a:rPr lang="en-US" sz="7200" dirty="0"/>
              <a:t>Value binning, patch tokenization, scalar embedding</a:t>
            </a:r>
          </a:p>
          <a:p>
            <a:r>
              <a:rPr lang="en-US" sz="7200" b="1" dirty="0"/>
              <a:t>Multi-scale representation:</a:t>
            </a:r>
            <a:r>
              <a:rPr lang="en-US" sz="7200" dirty="0"/>
              <a:t> </a:t>
            </a:r>
            <a:r>
              <a:rPr lang="ru-RU" sz="7200" dirty="0"/>
              <a:t>обработка на разных временных масштабах</a:t>
            </a:r>
          </a:p>
          <a:p>
            <a:r>
              <a:rPr lang="en-US" sz="7200" b="1" dirty="0"/>
              <a:t>Cross-series attention:</a:t>
            </a:r>
            <a:r>
              <a:rPr lang="en-US" sz="7200" dirty="0"/>
              <a:t> </a:t>
            </a:r>
            <a:r>
              <a:rPr lang="ru-RU" sz="7200" dirty="0"/>
              <a:t>обмен информацией между рядами</a:t>
            </a:r>
          </a:p>
          <a:p>
            <a:r>
              <a:rPr lang="ru-RU" sz="7200" b="1" dirty="0"/>
              <a:t>3. Различные режимы работы</a:t>
            </a:r>
          </a:p>
          <a:p>
            <a:r>
              <a:rPr lang="en-US" sz="7200" b="1" dirty="0"/>
              <a:t>Pre-training:</a:t>
            </a:r>
            <a:r>
              <a:rPr lang="en-US" sz="7200" dirty="0"/>
              <a:t> </a:t>
            </a:r>
            <a:r>
              <a:rPr lang="ru-RU" sz="7200" dirty="0"/>
              <a:t>самообучение на больших корпусах данных</a:t>
            </a:r>
          </a:p>
          <a:p>
            <a:r>
              <a:rPr lang="en-US" sz="7200" b="1" dirty="0"/>
              <a:t>Fine-tuning:</a:t>
            </a:r>
            <a:r>
              <a:rPr lang="en-US" sz="7200" dirty="0"/>
              <a:t> </a:t>
            </a:r>
            <a:r>
              <a:rPr lang="ru-RU" sz="7200" dirty="0"/>
              <a:t>адаптация к конкретным задачам (</a:t>
            </a:r>
            <a:r>
              <a:rPr lang="en-US" sz="7200" dirty="0"/>
              <a:t>few-shot, </a:t>
            </a:r>
            <a:r>
              <a:rPr lang="en-US" sz="7200" dirty="0" err="1"/>
              <a:t>LoRA</a:t>
            </a:r>
            <a:r>
              <a:rPr lang="en-US" sz="7200" dirty="0"/>
              <a:t>, adapters)</a:t>
            </a:r>
          </a:p>
          <a:p>
            <a:r>
              <a:rPr lang="en-US" sz="7200" b="1" dirty="0"/>
              <a:t>Inference:</a:t>
            </a:r>
            <a:r>
              <a:rPr lang="en-US" sz="7200" dirty="0"/>
              <a:t> zero-shot, in-context learning, </a:t>
            </a:r>
            <a:r>
              <a:rPr lang="en-US" sz="7200" dirty="0" smtClean="0"/>
              <a:t>chain-of-thought</a:t>
            </a:r>
            <a:endParaRPr lang="en-US" sz="7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096000" y="671691"/>
            <a:ext cx="6096000" cy="618630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4. </a:t>
            </a:r>
            <a:r>
              <a:rPr lang="ru-RU" b="1" dirty="0"/>
              <a:t>Продвинутые техники</a:t>
            </a:r>
          </a:p>
          <a:p>
            <a:r>
              <a:rPr lang="en-US" b="1" dirty="0"/>
              <a:t>Mixture of Experts (</a:t>
            </a:r>
            <a:r>
              <a:rPr lang="en-US" b="1" dirty="0" err="1"/>
              <a:t>MoE</a:t>
            </a:r>
            <a:r>
              <a:rPr lang="en-US" b="1" dirty="0"/>
              <a:t>):</a:t>
            </a:r>
            <a:r>
              <a:rPr lang="en-US" dirty="0"/>
              <a:t> </a:t>
            </a:r>
            <a:r>
              <a:rPr lang="ru-RU" dirty="0"/>
              <a:t>разные эксперты для разных типов рядов</a:t>
            </a:r>
          </a:p>
          <a:p>
            <a:r>
              <a:rPr lang="en-US" b="1" dirty="0"/>
              <a:t>Retrieval-Augmented Forecasting:</a:t>
            </a:r>
            <a:r>
              <a:rPr lang="en-US" dirty="0"/>
              <a:t> </a:t>
            </a:r>
            <a:r>
              <a:rPr lang="ru-RU" dirty="0"/>
              <a:t>использование похожих рядов из базы</a:t>
            </a:r>
          </a:p>
          <a:p>
            <a:r>
              <a:rPr lang="en-US" b="1" dirty="0"/>
              <a:t>Multi-Modal Integration:</a:t>
            </a:r>
            <a:r>
              <a:rPr lang="en-US" dirty="0"/>
              <a:t> </a:t>
            </a:r>
            <a:r>
              <a:rPr lang="ru-RU" dirty="0"/>
              <a:t>объединение числовых данных с текстом</a:t>
            </a:r>
          </a:p>
          <a:p>
            <a:r>
              <a:rPr lang="en-US" b="1" dirty="0"/>
              <a:t>Uncertainty Quantification:</a:t>
            </a:r>
            <a:r>
              <a:rPr lang="en-US" dirty="0"/>
              <a:t> </a:t>
            </a:r>
            <a:r>
              <a:rPr lang="ru-RU" dirty="0"/>
              <a:t>вероятностное прогнозирование</a:t>
            </a:r>
          </a:p>
          <a:p>
            <a:r>
              <a:rPr lang="ru-RU" b="1" dirty="0"/>
              <a:t>5. </a:t>
            </a:r>
            <a:r>
              <a:rPr lang="ru-RU" b="1" dirty="0" err="1"/>
              <a:t>Мультивариантные</a:t>
            </a:r>
            <a:r>
              <a:rPr lang="ru-RU" b="1" dirty="0"/>
              <a:t> ряды</a:t>
            </a:r>
          </a:p>
          <a:p>
            <a:r>
              <a:rPr lang="en-US" dirty="0"/>
              <a:t>Channel-independent processing</a:t>
            </a:r>
          </a:p>
          <a:p>
            <a:r>
              <a:rPr lang="en-US" dirty="0"/>
              <a:t>Interleaved channel processing</a:t>
            </a:r>
          </a:p>
          <a:p>
            <a:r>
              <a:rPr lang="en-US" dirty="0"/>
              <a:t>Cross-attention </a:t>
            </a:r>
            <a:r>
              <a:rPr lang="ru-RU" dirty="0"/>
              <a:t>между каналами</a:t>
            </a:r>
          </a:p>
          <a:p>
            <a:r>
              <a:rPr lang="ru-RU" b="1" dirty="0"/>
              <a:t>Особенности добавленного материала:</a:t>
            </a:r>
            <a:endParaRPr lang="ru-RU" dirty="0"/>
          </a:p>
          <a:p>
            <a:r>
              <a:rPr lang="ru-RU" dirty="0"/>
              <a:t>Конкретные примеры кода для каждого режима</a:t>
            </a:r>
          </a:p>
          <a:p>
            <a:r>
              <a:rPr lang="ru-RU" dirty="0"/>
              <a:t>Математические формулировки ключевых концепций</a:t>
            </a:r>
          </a:p>
          <a:p>
            <a:r>
              <a:rPr lang="ru-RU" dirty="0"/>
              <a:t>Практические стратегии реализации</a:t>
            </a:r>
          </a:p>
          <a:p>
            <a:r>
              <a:rPr lang="ru-RU" dirty="0"/>
              <a:t>Связь с современными </a:t>
            </a:r>
            <a:r>
              <a:rPr lang="en-US" dirty="0"/>
              <a:t>LLM (GPT-</a:t>
            </a:r>
            <a:r>
              <a:rPr lang="ru-RU" dirty="0"/>
              <a:t>подобные модели)</a:t>
            </a:r>
          </a:p>
          <a:p>
            <a:r>
              <a:rPr lang="ru-RU" dirty="0"/>
              <a:t>Теперь лекция покрывает полный спектр современных подходов - от базовых трансформеров до </a:t>
            </a:r>
            <a:r>
              <a:rPr lang="en-US" dirty="0"/>
              <a:t>foundation models </a:t>
            </a:r>
            <a:r>
              <a:rPr lang="ru-RU" dirty="0"/>
              <a:t>уровня </a:t>
            </a:r>
            <a:r>
              <a:rPr lang="en-US" dirty="0" err="1"/>
              <a:t>TimeGPT</a:t>
            </a:r>
            <a:r>
              <a:rPr lang="en-US" dirty="0"/>
              <a:t>. </a:t>
            </a:r>
            <a:r>
              <a:rPr lang="ru-RU" dirty="0"/>
              <a:t>Нужны ли дополнительные уточнения по каким-то аспектам?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79945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b="1" dirty="0"/>
              <a:t>Лучшие модели по категориям:</a:t>
            </a:r>
          </a:p>
          <a:p>
            <a:r>
              <a:rPr lang="ru-RU" b="1" dirty="0"/>
              <a:t>Для коротких временных рядов (&lt;100 точек):</a:t>
            </a:r>
          </a:p>
          <a:p>
            <a:r>
              <a:rPr lang="en-US" b="1" dirty="0"/>
              <a:t>ARIMA/Exponential Smoothing</a:t>
            </a:r>
            <a:r>
              <a:rPr lang="en-US" dirty="0"/>
              <a:t> - </a:t>
            </a:r>
            <a:r>
              <a:rPr lang="ru-RU" dirty="0"/>
              <a:t>статистические методы</a:t>
            </a:r>
          </a:p>
          <a:p>
            <a:r>
              <a:rPr lang="en-US" b="1" dirty="0"/>
              <a:t>Theta Model</a:t>
            </a:r>
            <a:r>
              <a:rPr lang="en-US" dirty="0"/>
              <a:t> - </a:t>
            </a:r>
            <a:r>
              <a:rPr lang="ru-RU" dirty="0"/>
              <a:t>простота и эффективность</a:t>
            </a:r>
          </a:p>
          <a:p>
            <a:r>
              <a:rPr lang="en-US" b="1" dirty="0"/>
              <a:t>Prophet</a:t>
            </a:r>
            <a:r>
              <a:rPr lang="en-US" dirty="0"/>
              <a:t> - </a:t>
            </a:r>
            <a:r>
              <a:rPr lang="ru-RU" dirty="0"/>
              <a:t>при наличии сезонности</a:t>
            </a:r>
          </a:p>
          <a:p>
            <a:r>
              <a:rPr lang="ru-RU" b="1" dirty="0"/>
              <a:t>Для средних временных рядов (100-1000 точек):</a:t>
            </a:r>
          </a:p>
          <a:p>
            <a:r>
              <a:rPr lang="en-US" b="1" dirty="0" err="1"/>
              <a:t>TSMixer</a:t>
            </a:r>
            <a:r>
              <a:rPr lang="en-US" dirty="0"/>
              <a:t> - </a:t>
            </a:r>
            <a:r>
              <a:rPr lang="ru-RU" dirty="0"/>
              <a:t>баланс качества и скорости</a:t>
            </a:r>
          </a:p>
          <a:p>
            <a:r>
              <a:rPr lang="en-US" b="1" dirty="0" err="1"/>
              <a:t>TiDE</a:t>
            </a:r>
            <a:r>
              <a:rPr lang="en-US" dirty="0"/>
              <a:t> - </a:t>
            </a:r>
            <a:r>
              <a:rPr lang="ru-RU" dirty="0"/>
              <a:t>при наличии </a:t>
            </a:r>
            <a:r>
              <a:rPr lang="en-US" dirty="0"/>
              <a:t>covariates</a:t>
            </a:r>
          </a:p>
          <a:p>
            <a:r>
              <a:rPr lang="en-US" b="1" dirty="0"/>
              <a:t>N-BEATS</a:t>
            </a:r>
            <a:r>
              <a:rPr lang="en-US" dirty="0"/>
              <a:t> - </a:t>
            </a:r>
            <a:r>
              <a:rPr lang="ru-RU" dirty="0"/>
              <a:t>для </a:t>
            </a:r>
            <a:r>
              <a:rPr lang="en-US" dirty="0"/>
              <a:t>univariate forecasting</a:t>
            </a:r>
          </a:p>
          <a:p>
            <a:r>
              <a:rPr lang="ru-RU" b="1" dirty="0"/>
              <a:t>Для длинных временных рядов (&gt;1000 точек):</a:t>
            </a:r>
          </a:p>
          <a:p>
            <a:r>
              <a:rPr lang="en-US" b="1" dirty="0" err="1"/>
              <a:t>PatchTST</a:t>
            </a:r>
            <a:r>
              <a:rPr lang="en-US" dirty="0"/>
              <a:t> - </a:t>
            </a:r>
            <a:r>
              <a:rPr lang="ru-RU" dirty="0"/>
              <a:t>эффективная обработка длинных последовательностей</a:t>
            </a:r>
          </a:p>
          <a:p>
            <a:r>
              <a:rPr lang="en-US" b="1" dirty="0"/>
              <a:t>Timer</a:t>
            </a:r>
            <a:r>
              <a:rPr lang="en-US" dirty="0"/>
              <a:t> - foundation model </a:t>
            </a:r>
            <a:r>
              <a:rPr lang="ru-RU" dirty="0"/>
              <a:t>подход</a:t>
            </a:r>
          </a:p>
          <a:p>
            <a:r>
              <a:rPr lang="en-US" b="1" dirty="0"/>
              <a:t>Lag-Llama</a:t>
            </a:r>
            <a:r>
              <a:rPr lang="en-US" dirty="0"/>
              <a:t> - </a:t>
            </a:r>
            <a:r>
              <a:rPr lang="ru-RU" dirty="0"/>
              <a:t>для </a:t>
            </a:r>
            <a:r>
              <a:rPr lang="en-US" dirty="0"/>
              <a:t>probabilistic forecasting</a:t>
            </a:r>
          </a:p>
          <a:p>
            <a:r>
              <a:rPr lang="ru-RU" b="1" dirty="0"/>
              <a:t>Для </a:t>
            </a:r>
            <a:r>
              <a:rPr lang="ru-RU" b="1" dirty="0" err="1"/>
              <a:t>мультивариантных</a:t>
            </a:r>
            <a:r>
              <a:rPr lang="ru-RU" b="1" dirty="0"/>
              <a:t> рядов с </a:t>
            </a:r>
            <a:r>
              <a:rPr lang="en-US" b="1" dirty="0"/>
              <a:t>covariates:</a:t>
            </a:r>
          </a:p>
          <a:p>
            <a:r>
              <a:rPr lang="en-US" b="1" dirty="0"/>
              <a:t>TFT</a:t>
            </a:r>
            <a:r>
              <a:rPr lang="en-US" dirty="0"/>
              <a:t> - </a:t>
            </a:r>
            <a:r>
              <a:rPr lang="ru-RU" dirty="0"/>
              <a:t>лучшая интерпретируемость</a:t>
            </a:r>
          </a:p>
          <a:p>
            <a:r>
              <a:rPr lang="en-US" b="1" dirty="0" err="1"/>
              <a:t>TiDE</a:t>
            </a:r>
            <a:r>
              <a:rPr lang="en-US" dirty="0"/>
              <a:t> - </a:t>
            </a:r>
            <a:r>
              <a:rPr lang="ru-RU" dirty="0"/>
              <a:t>эффективная обработка </a:t>
            </a:r>
            <a:r>
              <a:rPr lang="en-US" dirty="0"/>
              <a:t>covariates</a:t>
            </a:r>
          </a:p>
          <a:p>
            <a:r>
              <a:rPr lang="en-US" b="1" dirty="0" err="1"/>
              <a:t>TimeGPT</a:t>
            </a:r>
            <a:r>
              <a:rPr lang="en-US" dirty="0"/>
              <a:t> - foundation model </a:t>
            </a:r>
            <a:r>
              <a:rPr lang="ru-RU" dirty="0"/>
              <a:t>качество</a:t>
            </a:r>
          </a:p>
          <a:p>
            <a:r>
              <a:rPr lang="en-US" b="1" dirty="0"/>
              <a:t>Zero-shot </a:t>
            </a:r>
            <a:r>
              <a:rPr lang="ru-RU" b="1" dirty="0"/>
              <a:t>способности:</a:t>
            </a:r>
          </a:p>
          <a:p>
            <a:r>
              <a:rPr lang="en-US" b="1" dirty="0"/>
              <a:t>TimeGPT-1</a:t>
            </a:r>
            <a:r>
              <a:rPr lang="en-US" dirty="0"/>
              <a:t> - </a:t>
            </a:r>
            <a:r>
              <a:rPr lang="ru-RU" dirty="0"/>
              <a:t>коммерческое решение</a:t>
            </a:r>
          </a:p>
          <a:p>
            <a:r>
              <a:rPr lang="en-US" b="1" dirty="0" err="1"/>
              <a:t>Chronos</a:t>
            </a:r>
            <a:r>
              <a:rPr lang="en-US" dirty="0"/>
              <a:t> - open source </a:t>
            </a:r>
            <a:r>
              <a:rPr lang="ru-RU" dirty="0"/>
              <a:t>альтернатива</a:t>
            </a:r>
          </a:p>
          <a:p>
            <a:r>
              <a:rPr lang="en-US" b="1" dirty="0" err="1"/>
              <a:t>TimesFM</a:t>
            </a:r>
            <a:r>
              <a:rPr lang="en-US" dirty="0"/>
              <a:t> - Google </a:t>
            </a:r>
            <a:r>
              <a:rPr lang="ru-RU" dirty="0"/>
              <a:t>решение</a:t>
            </a:r>
          </a:p>
          <a:p>
            <a:r>
              <a:rPr lang="en-US" b="1" dirty="0"/>
              <a:t>MOIRAI</a:t>
            </a:r>
            <a:r>
              <a:rPr lang="en-US" dirty="0"/>
              <a:t> - Salesforce solution</a:t>
            </a:r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-1049149"/>
            <a:ext cx="6096000" cy="895629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6. </a:t>
            </a:r>
            <a:r>
              <a:rPr lang="ru-RU" b="1" dirty="0"/>
              <a:t>Практические рекомендации</a:t>
            </a:r>
          </a:p>
          <a:p>
            <a:r>
              <a:rPr lang="ru-RU" b="1" dirty="0"/>
              <a:t>Выбор модели в зависимости от задачи:</a:t>
            </a:r>
          </a:p>
          <a:p>
            <a:r>
              <a:rPr lang="ru-RU" b="1" dirty="0"/>
              <a:t>Финансовые временные ряды:</a:t>
            </a:r>
          </a:p>
          <a:p>
            <a:r>
              <a:rPr lang="ru-RU" b="1" dirty="0"/>
              <a:t>Краткосрочные</a:t>
            </a:r>
            <a:r>
              <a:rPr lang="ru-RU" dirty="0"/>
              <a:t>: </a:t>
            </a:r>
            <a:r>
              <a:rPr lang="en-US" dirty="0"/>
              <a:t>GARCH, ARIMA-GARCH</a:t>
            </a:r>
          </a:p>
          <a:p>
            <a:r>
              <a:rPr lang="ru-RU" b="1" dirty="0"/>
              <a:t>Долгосрочные</a:t>
            </a:r>
            <a:r>
              <a:rPr lang="ru-RU" dirty="0"/>
              <a:t>: </a:t>
            </a:r>
            <a:r>
              <a:rPr lang="en-US" dirty="0"/>
              <a:t>TFT, Timer</a:t>
            </a:r>
          </a:p>
          <a:p>
            <a:r>
              <a:rPr lang="en-US" b="1" dirty="0"/>
              <a:t>High-frequency</a:t>
            </a:r>
            <a:r>
              <a:rPr lang="en-US" dirty="0"/>
              <a:t>: </a:t>
            </a:r>
            <a:r>
              <a:rPr lang="ru-RU" dirty="0"/>
              <a:t>Специализированные модели</a:t>
            </a:r>
          </a:p>
          <a:p>
            <a:r>
              <a:rPr lang="ru-RU" b="1" dirty="0"/>
              <a:t>Энергетика и </a:t>
            </a:r>
            <a:r>
              <a:rPr lang="en-US" b="1" dirty="0" err="1"/>
              <a:t>IoT</a:t>
            </a:r>
            <a:r>
              <a:rPr lang="en-US" b="1" dirty="0"/>
              <a:t>:</a:t>
            </a:r>
          </a:p>
          <a:p>
            <a:r>
              <a:rPr lang="ru-RU" b="1" dirty="0"/>
              <a:t>Нагрузочные прогнозы</a:t>
            </a:r>
            <a:r>
              <a:rPr lang="ru-RU" dirty="0"/>
              <a:t>: </a:t>
            </a:r>
            <a:r>
              <a:rPr lang="en-US" dirty="0" err="1"/>
              <a:t>TiDE</a:t>
            </a:r>
            <a:r>
              <a:rPr lang="en-US" dirty="0"/>
              <a:t>, </a:t>
            </a:r>
            <a:r>
              <a:rPr lang="en-US" dirty="0" err="1"/>
              <a:t>TSMixer</a:t>
            </a:r>
            <a:endParaRPr lang="en-US" dirty="0"/>
          </a:p>
          <a:p>
            <a:r>
              <a:rPr lang="en-US" b="1" dirty="0"/>
              <a:t>Renewable energy</a:t>
            </a:r>
            <a:r>
              <a:rPr lang="en-US" dirty="0"/>
              <a:t>: TFT </a:t>
            </a:r>
            <a:r>
              <a:rPr lang="ru-RU" dirty="0"/>
              <a:t>с </a:t>
            </a:r>
            <a:r>
              <a:rPr lang="en-US" dirty="0"/>
              <a:t>weather covariates</a:t>
            </a:r>
          </a:p>
          <a:p>
            <a:r>
              <a:rPr lang="en-US" b="1" dirty="0"/>
              <a:t>Demand forecasting</a:t>
            </a:r>
            <a:r>
              <a:rPr lang="en-US" dirty="0"/>
              <a:t>: N-BEATS, ESRNN</a:t>
            </a:r>
          </a:p>
          <a:p>
            <a:r>
              <a:rPr lang="en-US" b="1" dirty="0"/>
              <a:t>E-commerce </a:t>
            </a:r>
            <a:r>
              <a:rPr lang="ru-RU" b="1" dirty="0"/>
              <a:t>и </a:t>
            </a:r>
            <a:r>
              <a:rPr lang="en-US" b="1" dirty="0"/>
              <a:t>retail:</a:t>
            </a:r>
          </a:p>
          <a:p>
            <a:r>
              <a:rPr lang="ru-RU" b="1" dirty="0"/>
              <a:t>Продажи с сезонностью</a:t>
            </a:r>
            <a:r>
              <a:rPr lang="ru-RU" dirty="0"/>
              <a:t>: </a:t>
            </a:r>
            <a:r>
              <a:rPr lang="en-US" dirty="0"/>
              <a:t>Prophet, TFT</a:t>
            </a:r>
          </a:p>
          <a:p>
            <a:r>
              <a:rPr lang="en-US" b="1" dirty="0"/>
              <a:t>Hierarchical forecasting</a:t>
            </a:r>
            <a:r>
              <a:rPr lang="en-US" dirty="0"/>
              <a:t>: ESRNN approach</a:t>
            </a:r>
          </a:p>
          <a:p>
            <a:r>
              <a:rPr lang="en-US" b="1" dirty="0"/>
              <a:t>Promotional effects</a:t>
            </a:r>
            <a:r>
              <a:rPr lang="en-US" dirty="0"/>
              <a:t>: </a:t>
            </a:r>
            <a:r>
              <a:rPr lang="en-US" dirty="0" err="1"/>
              <a:t>TiDE</a:t>
            </a:r>
            <a:r>
              <a:rPr lang="en-US" dirty="0"/>
              <a:t> </a:t>
            </a:r>
            <a:r>
              <a:rPr lang="ru-RU" dirty="0"/>
              <a:t>с </a:t>
            </a:r>
            <a:r>
              <a:rPr lang="en-US" dirty="0"/>
              <a:t>event covariates</a:t>
            </a:r>
          </a:p>
          <a:p>
            <a:r>
              <a:rPr lang="ru-RU" b="1" dirty="0"/>
              <a:t>Здравоохранение:</a:t>
            </a:r>
          </a:p>
          <a:p>
            <a:r>
              <a:rPr lang="ru-RU" b="1" dirty="0"/>
              <a:t>Эпидемиологические модели</a:t>
            </a:r>
            <a:r>
              <a:rPr lang="ru-RU" dirty="0"/>
              <a:t>: </a:t>
            </a:r>
            <a:r>
              <a:rPr lang="en-US" dirty="0"/>
              <a:t>Compartmental + NN</a:t>
            </a:r>
          </a:p>
          <a:p>
            <a:r>
              <a:rPr lang="en-US" b="1" dirty="0"/>
              <a:t>Vital signs monitoring</a:t>
            </a:r>
            <a:r>
              <a:rPr lang="en-US" dirty="0"/>
              <a:t>: </a:t>
            </a:r>
            <a:r>
              <a:rPr lang="ru-RU" dirty="0"/>
              <a:t>Специализированные подходы</a:t>
            </a:r>
          </a:p>
          <a:p>
            <a:r>
              <a:rPr lang="en-US" b="1" dirty="0"/>
              <a:t>Drug demand</a:t>
            </a:r>
            <a:r>
              <a:rPr lang="en-US" dirty="0"/>
              <a:t>: Traditional + ML hybrid</a:t>
            </a:r>
          </a:p>
          <a:p>
            <a:r>
              <a:rPr lang="en-US" b="1" dirty="0"/>
              <a:t>7. </a:t>
            </a:r>
            <a:r>
              <a:rPr lang="ru-RU" b="1" dirty="0"/>
              <a:t>Будущие направления развития</a:t>
            </a:r>
          </a:p>
          <a:p>
            <a:r>
              <a:rPr lang="ru-RU" b="1" dirty="0"/>
              <a:t>Архитектурные инновации:</a:t>
            </a:r>
          </a:p>
          <a:p>
            <a:r>
              <a:rPr lang="en-US" b="1" dirty="0"/>
              <a:t>Mamba/State Space Models</a:t>
            </a:r>
            <a:r>
              <a:rPr lang="en-US" dirty="0"/>
              <a:t>: </a:t>
            </a:r>
            <a:r>
              <a:rPr lang="ru-RU" dirty="0"/>
              <a:t>Линейная сложность</a:t>
            </a:r>
          </a:p>
          <a:p>
            <a:r>
              <a:rPr lang="en-US" b="1" dirty="0"/>
              <a:t>Liquid Neural Networks</a:t>
            </a:r>
            <a:r>
              <a:rPr lang="en-US" dirty="0"/>
              <a:t>: </a:t>
            </a:r>
            <a:r>
              <a:rPr lang="ru-RU" dirty="0"/>
              <a:t>Адаптивность</a:t>
            </a:r>
          </a:p>
          <a:p>
            <a:r>
              <a:rPr lang="en-US" b="1" dirty="0"/>
              <a:t>Kolmogorov-Arnold Networks</a:t>
            </a:r>
            <a:r>
              <a:rPr lang="en-US" dirty="0"/>
              <a:t>: </a:t>
            </a:r>
            <a:r>
              <a:rPr lang="ru-RU" dirty="0"/>
              <a:t>Новая парадигма</a:t>
            </a:r>
          </a:p>
          <a:p>
            <a:r>
              <a:rPr lang="ru-RU" b="1" dirty="0"/>
              <a:t>Методологические улучшения:</a:t>
            </a:r>
          </a:p>
          <a:p>
            <a:r>
              <a:rPr lang="en-US" b="1" dirty="0"/>
              <a:t>Multi-modal fusion</a:t>
            </a:r>
            <a:r>
              <a:rPr lang="en-US" dirty="0"/>
              <a:t>: </a:t>
            </a:r>
            <a:r>
              <a:rPr lang="ru-RU" dirty="0"/>
              <a:t>Интеграция текста, изображений</a:t>
            </a:r>
          </a:p>
          <a:p>
            <a:r>
              <a:rPr lang="en-US" b="1" dirty="0"/>
              <a:t>Causal discovery</a:t>
            </a:r>
            <a:r>
              <a:rPr lang="en-US" dirty="0"/>
              <a:t>: </a:t>
            </a:r>
            <a:r>
              <a:rPr lang="ru-RU" dirty="0"/>
              <a:t>Причинно-следственные связи</a:t>
            </a:r>
          </a:p>
          <a:p>
            <a:r>
              <a:rPr lang="en-US" b="1" dirty="0"/>
              <a:t>Uncertainty quantification</a:t>
            </a:r>
            <a:r>
              <a:rPr lang="en-US" dirty="0"/>
              <a:t>: </a:t>
            </a:r>
            <a:r>
              <a:rPr lang="ru-RU" dirty="0"/>
              <a:t>Улучшенная оценка неопределенности</a:t>
            </a:r>
          </a:p>
          <a:p>
            <a:r>
              <a:rPr lang="ru-RU" b="1" dirty="0"/>
              <a:t>Практические аспекты:</a:t>
            </a:r>
          </a:p>
          <a:p>
            <a:r>
              <a:rPr lang="en-US" b="1" dirty="0"/>
              <a:t>Edge deployment</a:t>
            </a:r>
            <a:r>
              <a:rPr lang="en-US" dirty="0"/>
              <a:t>: </a:t>
            </a:r>
            <a:r>
              <a:rPr lang="ru-RU" dirty="0"/>
              <a:t>Модели для </a:t>
            </a:r>
            <a:r>
              <a:rPr lang="en-US" dirty="0" err="1"/>
              <a:t>IoT</a:t>
            </a:r>
            <a:r>
              <a:rPr lang="en-US" dirty="0"/>
              <a:t> </a:t>
            </a:r>
            <a:r>
              <a:rPr lang="ru-RU" dirty="0"/>
              <a:t>устройств</a:t>
            </a:r>
          </a:p>
          <a:p>
            <a:r>
              <a:rPr lang="en-US" b="1" dirty="0"/>
              <a:t>Federated learning</a:t>
            </a:r>
            <a:r>
              <a:rPr lang="en-US" dirty="0"/>
              <a:t>: </a:t>
            </a:r>
            <a:r>
              <a:rPr lang="ru-RU" dirty="0"/>
              <a:t>Приватность данных</a:t>
            </a:r>
          </a:p>
          <a:p>
            <a:r>
              <a:rPr lang="en-US" b="1" dirty="0" err="1"/>
              <a:t>AutoML</a:t>
            </a:r>
            <a:r>
              <a:rPr lang="en-US" b="1" dirty="0"/>
              <a:t> for time series</a:t>
            </a:r>
            <a:r>
              <a:rPr lang="en-US" dirty="0"/>
              <a:t>: </a:t>
            </a:r>
            <a:r>
              <a:rPr lang="ru-RU" dirty="0"/>
              <a:t>Автоматизация выбора моделей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2247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9020</TotalTime>
  <Words>2004</Words>
  <Application>Microsoft Office PowerPoint</Application>
  <PresentationFormat>Широкоэкранный</PresentationFormat>
  <Paragraphs>449</Paragraphs>
  <Slides>22</Slides>
  <Notes>17</Notes>
  <HiddenSlides>3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31" baseType="lpstr">
      <vt:lpstr>Aptos</vt:lpstr>
      <vt:lpstr>Arial</vt:lpstr>
      <vt:lpstr>Calibri</vt:lpstr>
      <vt:lpstr>Calibri Light</vt:lpstr>
      <vt:lpstr>Cambria Math</vt:lpstr>
      <vt:lpstr>Helvetica Neue</vt:lpstr>
      <vt:lpstr>Menlo</vt:lpstr>
      <vt:lpstr>system-ui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перехода от RNN к авторегрессии</vt:lpstr>
      <vt:lpstr>Идеи архитектуры Трансформер. Encoder</vt:lpstr>
      <vt:lpstr>Идеи архитектуры Трансформер. Encoder</vt:lpstr>
      <vt:lpstr>Идеи архитектуры Трансформер. Decoder</vt:lpstr>
      <vt:lpstr>Идеи архитектуры Трансформер. Decoder</vt:lpstr>
      <vt:lpstr>Архитектуры Энкодер-Декодер</vt:lpstr>
      <vt:lpstr>Использование сокращенных трансформеров</vt:lpstr>
      <vt:lpstr>Использование сокращенных трансформеров</vt:lpstr>
      <vt:lpstr>Некоторые модели трансформеры</vt:lpstr>
      <vt:lpstr>Некоторые модели foundation</vt:lpstr>
      <vt:lpstr>Когда использовать Foundation Models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418</cp:revision>
  <dcterms:created xsi:type="dcterms:W3CDTF">2021-11-21T16:45:21Z</dcterms:created>
  <dcterms:modified xsi:type="dcterms:W3CDTF">2025-08-29T06:44:41Z</dcterms:modified>
</cp:coreProperties>
</file>