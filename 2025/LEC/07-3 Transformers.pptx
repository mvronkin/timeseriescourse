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7"/>
  </p:notesMasterIdLst>
  <p:sldIdLst>
    <p:sldId id="256" r:id="rId2"/>
    <p:sldId id="428" r:id="rId3"/>
    <p:sldId id="433" r:id="rId4"/>
    <p:sldId id="429" r:id="rId5"/>
    <p:sldId id="432" r:id="rId6"/>
    <p:sldId id="441" r:id="rId7"/>
    <p:sldId id="434" r:id="rId8"/>
    <p:sldId id="366" r:id="rId9"/>
    <p:sldId id="443" r:id="rId10"/>
    <p:sldId id="449" r:id="rId11"/>
    <p:sldId id="445" r:id="rId12"/>
    <p:sldId id="447" r:id="rId13"/>
    <p:sldId id="448" r:id="rId14"/>
    <p:sldId id="444" r:id="rId15"/>
    <p:sldId id="442" r:id="rId16"/>
    <p:sldId id="439" r:id="rId17"/>
    <p:sldId id="440" r:id="rId18"/>
    <p:sldId id="431" r:id="rId19"/>
    <p:sldId id="437" r:id="rId20"/>
    <p:sldId id="407" r:id="rId21"/>
    <p:sldId id="436" r:id="rId22"/>
    <p:sldId id="430" r:id="rId23"/>
    <p:sldId id="435" r:id="rId24"/>
    <p:sldId id="427" r:id="rId25"/>
    <p:sldId id="420" r:id="rId26"/>
    <p:sldId id="352" r:id="rId27"/>
    <p:sldId id="353" r:id="rId28"/>
    <p:sldId id="355" r:id="rId29"/>
    <p:sldId id="356" r:id="rId30"/>
    <p:sldId id="357" r:id="rId31"/>
    <p:sldId id="358" r:id="rId32"/>
    <p:sldId id="359" r:id="rId33"/>
    <p:sldId id="360" r:id="rId34"/>
    <p:sldId id="361" r:id="rId35"/>
    <p:sldId id="362" r:id="rId36"/>
    <p:sldId id="363" r:id="rId37"/>
    <p:sldId id="364" r:id="rId38"/>
    <p:sldId id="365" r:id="rId39"/>
    <p:sldId id="367" r:id="rId40"/>
    <p:sldId id="368" r:id="rId41"/>
    <p:sldId id="369" r:id="rId42"/>
    <p:sldId id="370" r:id="rId43"/>
    <p:sldId id="371" r:id="rId44"/>
    <p:sldId id="372" r:id="rId45"/>
    <p:sldId id="373" r:id="rId46"/>
    <p:sldId id="374" r:id="rId47"/>
    <p:sldId id="375" r:id="rId48"/>
    <p:sldId id="376" r:id="rId49"/>
    <p:sldId id="446" r:id="rId50"/>
    <p:sldId id="398" r:id="rId51"/>
    <p:sldId id="399" r:id="rId52"/>
    <p:sldId id="400" r:id="rId53"/>
    <p:sldId id="401" r:id="rId54"/>
    <p:sldId id="402" r:id="rId55"/>
    <p:sldId id="403" r:id="rId56"/>
    <p:sldId id="404" r:id="rId57"/>
    <p:sldId id="377" r:id="rId58"/>
    <p:sldId id="378" r:id="rId59"/>
    <p:sldId id="379" r:id="rId60"/>
    <p:sldId id="381" r:id="rId61"/>
    <p:sldId id="382" r:id="rId62"/>
    <p:sldId id="383" r:id="rId63"/>
    <p:sldId id="384" r:id="rId64"/>
    <p:sldId id="385" r:id="rId65"/>
    <p:sldId id="386" r:id="rId66"/>
    <p:sldId id="387" r:id="rId67"/>
    <p:sldId id="388" r:id="rId68"/>
    <p:sldId id="389" r:id="rId69"/>
    <p:sldId id="390" r:id="rId70"/>
    <p:sldId id="391" r:id="rId71"/>
    <p:sldId id="392" r:id="rId72"/>
    <p:sldId id="393" r:id="rId73"/>
    <p:sldId id="394" r:id="rId74"/>
    <p:sldId id="395" r:id="rId75"/>
    <p:sldId id="396" r:id="rId7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629" autoAdjust="0"/>
    <p:restoredTop sz="84247"/>
  </p:normalViewPr>
  <p:slideViewPr>
    <p:cSldViewPr snapToGrid="0">
      <p:cViewPr varScale="1">
        <p:scale>
          <a:sx n="97" d="100"/>
          <a:sy n="97" d="100"/>
        </p:scale>
        <p:origin x="102" y="162"/>
      </p:cViewPr>
      <p:guideLst/>
    </p:cSldViewPr>
  </p:slideViewPr>
  <p:notesTextViewPr>
    <p:cViewPr>
      <p:scale>
        <a:sx n="50" d="100"/>
        <a:sy n="5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presProps" Target="presProps.xml"/><Relationship Id="rId8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D3D302D-D8E5-5146-B626-737F192C3BD3}" type="datetimeFigureOut">
              <a:rPr lang="ru-RU" smtClean="0"/>
              <a:t>21.08.2025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6180E86-9708-4F42-A49B-C22D9D956F1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183428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4FC39F-7386-47E9-0BB9-547BA99498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78BEE13-2BE9-58A6-4DB3-E461BBA6C7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5CC42B24-BAF7-E64C-8D52-F383FAA676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Локальная нормализация</a:t>
            </a: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Вместо глобальной нормализации (по всему ряду) — нормализация на уровне окна.</a:t>
            </a: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Для каждого входного окна:</a:t>
            </a:r>
          </a:p>
          <a:p>
            <a:pPr lvl="1"/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Вычисляется среднее и </a:t>
            </a:r>
            <a:r>
              <a:rPr lang="e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std 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только по </a:t>
            </a:r>
            <a:r>
              <a:rPr lang="e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encoder-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части.</a:t>
            </a:r>
          </a:p>
          <a:p>
            <a:pPr lvl="1"/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Эти параметры применяются и к </a:t>
            </a:r>
            <a:r>
              <a:rPr lang="e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encoder, 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 к </a:t>
            </a:r>
            <a:r>
              <a:rPr lang="e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decoder.</a:t>
            </a: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Преимущества:</a:t>
            </a:r>
          </a:p>
          <a:p>
            <a:pPr lvl="1"/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Устойчивость к трендам и сдвигам.</a:t>
            </a:r>
          </a:p>
          <a:p>
            <a:pPr lvl="1"/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 требует "возврата" шкалы при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инференсе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ru-RU" b="0" dirty="0">
                <a:effectLst/>
              </a:rPr>
              <a:t>Рекомендация: не удаляйте тренд и сезонность заранее — современные модели (включая глубокие) лучше справляются с этим внутри себя (см. </a:t>
            </a:r>
            <a:r>
              <a:rPr lang="en" b="0" dirty="0">
                <a:effectLst/>
              </a:rPr>
              <a:t>ES-RNN, </a:t>
            </a:r>
            <a:r>
              <a:rPr lang="ru-RU" b="0" dirty="0">
                <a:effectLst/>
              </a:rPr>
              <a:t>победитель </a:t>
            </a:r>
            <a:r>
              <a:rPr lang="en" b="0" dirty="0">
                <a:effectLst/>
              </a:rPr>
              <a:t>M4). </a:t>
            </a:r>
          </a:p>
          <a:p>
            <a:r>
              <a:rPr lang="en" dirty="0"/>
              <a:t/>
            </a:r>
            <a:br>
              <a:rPr lang="en" dirty="0"/>
            </a:b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C49BCA0-50D7-DA83-EE4F-EAB19877C9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125883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28794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E71F5F-C4B4-2A5D-54F8-FF8A3F4C0A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D236B792-CA68-DA1E-B2F4-86193ED09A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A7442F3B-58BB-5C2E-ACD3-1ECAD11E37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7584F9ED-7EE5-D087-84B1-BE4061758B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203054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8252772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FCA455-73D2-E92A-4379-F8C16EB81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18A75659-4989-2AB3-2E65-9F6333285A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2AC9B71-B0DA-E3D8-B706-8F227AEEDF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7E1B65B8-8D85-438A-5F21-DA63A6BF0F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265908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5211357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9598830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FCA455-73D2-E92A-4379-F8C16EB81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18A75659-4989-2AB3-2E65-9F6333285A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2AC9B71-B0DA-E3D8-B706-8F227AEEDF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7E1B65B8-8D85-438A-5F21-DA63A6BF0F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825100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1603428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2763826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6102B-FD59-8D75-1700-ABB47E40F6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C5B5FA6F-6FA8-9095-6986-E35BD31D9B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0097D1E-56AC-B818-ED78-6F8372E97B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8FA8025-AEFD-D172-651C-7ACB11DACA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0621971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B454A3-3581-8509-87F3-77523AC44D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412192C9-9F54-2824-CFDB-9F37C6DA17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B3AC887F-D8BD-3AE0-64C9-633E53B436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13869E6-AF19-38CD-A988-52A2CC5673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8630636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Локальная нормализация</a:t>
            </a: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Вместо глобальной нормализации (по всему ряду) — нормализация на уровне окна.</a:t>
            </a: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Для каждого входного окна:</a:t>
            </a:r>
          </a:p>
          <a:p>
            <a:pPr lvl="1"/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Вычисляется среднее и </a:t>
            </a:r>
            <a:r>
              <a:rPr lang="e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std 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только по </a:t>
            </a:r>
            <a:r>
              <a:rPr lang="e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encoder-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части.</a:t>
            </a:r>
          </a:p>
          <a:p>
            <a:pPr lvl="1"/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Эти параметры применяются и к </a:t>
            </a:r>
            <a:r>
              <a:rPr lang="e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encoder, 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 к </a:t>
            </a:r>
            <a:r>
              <a:rPr lang="e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decoder.</a:t>
            </a: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Преимущества:</a:t>
            </a:r>
          </a:p>
          <a:p>
            <a:pPr lvl="1"/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Устойчивость к трендам и сдвигам.</a:t>
            </a:r>
          </a:p>
          <a:p>
            <a:pPr lvl="1"/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 требует "возврата" шкалы при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инференсе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ru-RU" b="0" dirty="0">
                <a:effectLst/>
              </a:rPr>
              <a:t>Рекомендация: не удаляйте тренд и сезонность заранее — современные модели (включая глубокие) лучше справляются с этим внутри себя (см. </a:t>
            </a:r>
            <a:r>
              <a:rPr lang="en" b="0" dirty="0">
                <a:effectLst/>
              </a:rPr>
              <a:t>ES-RNN, </a:t>
            </a:r>
            <a:r>
              <a:rPr lang="ru-RU" b="0" dirty="0">
                <a:effectLst/>
              </a:rPr>
              <a:t>победитель </a:t>
            </a:r>
            <a:r>
              <a:rPr lang="en" b="0" dirty="0">
                <a:effectLst/>
              </a:rPr>
              <a:t>M4). </a:t>
            </a:r>
          </a:p>
          <a:p>
            <a:r>
              <a:rPr lang="en" dirty="0"/>
              <a:t/>
            </a:r>
            <a:br>
              <a:rPr lang="en" dirty="0"/>
            </a:b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049091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CE6BCE-7482-4318-D679-8B50C45487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10BFDB1B-9F82-BFEA-7010-DD2E2B5D6F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1817FE60-1995-77FD-D4B2-E99B170D91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spcBef>
                <a:spcPts val="900"/>
              </a:spcBef>
              <a:spcAft>
                <a:spcPts val="900"/>
              </a:spcAft>
              <a:buNone/>
            </a:pPr>
            <a:r>
              <a:rPr lang="en" b="1" i="0" dirty="0">
                <a:solidFill>
                  <a:srgbClr val="2C2C36"/>
                </a:solidFill>
                <a:effectLst/>
                <a:latin typeface="system-ui"/>
              </a:rPr>
              <a:t>RNN: "</a:t>
            </a:r>
            <a:r>
              <a:rPr lang="ru-RU" b="1" i="0" dirty="0">
                <a:solidFill>
                  <a:srgbClr val="2C2C36"/>
                </a:solidFill>
                <a:effectLst/>
                <a:latin typeface="system-ui"/>
              </a:rPr>
              <a:t>Я помню только то, что успел пропустить через ворота"</a:t>
            </a:r>
          </a:p>
          <a:p>
            <a:pPr algn="l">
              <a:spcBef>
                <a:spcPts val="900"/>
              </a:spcBef>
              <a:spcAft>
                <a:spcPts val="900"/>
              </a:spcAft>
              <a:buNone/>
            </a:pPr>
            <a:r>
              <a:rPr lang="en" b="0" i="0" dirty="0">
                <a:solidFill>
                  <a:srgbClr val="2C2C36"/>
                </a:solidFill>
                <a:effectLst/>
                <a:latin typeface="system-ui"/>
              </a:rPr>
              <a:t>RNN — </a:t>
            </a: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это человек, который читает книгу по одной главе в день.</a:t>
            </a:r>
            <a:br>
              <a:rPr lang="ru-RU" b="0" i="0" dirty="0">
                <a:solidFill>
                  <a:srgbClr val="2C2C36"/>
                </a:solidFill>
                <a:effectLst/>
                <a:latin typeface="system-ui"/>
              </a:rPr>
            </a:b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Каждый вечер он пишет </a:t>
            </a:r>
            <a:r>
              <a:rPr lang="ru-RU" b="0" i="0" dirty="0">
                <a:solidFill>
                  <a:srgbClr val="111827"/>
                </a:solidFill>
                <a:effectLst/>
                <a:latin typeface="system-ui"/>
              </a:rPr>
              <a:t>одно предложение</a:t>
            </a: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, резюмирующее всё, что он помнит.</a:t>
            </a:r>
            <a:br>
              <a:rPr lang="ru-RU" b="0" i="0" dirty="0">
                <a:solidFill>
                  <a:srgbClr val="2C2C36"/>
                </a:solidFill>
                <a:effectLst/>
                <a:latin typeface="system-ui"/>
              </a:rPr>
            </a:b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На следующий день он читает новую главу, </a:t>
            </a:r>
            <a:r>
              <a:rPr lang="ru-RU" b="0" i="0" dirty="0">
                <a:solidFill>
                  <a:srgbClr val="111827"/>
                </a:solidFill>
                <a:effectLst/>
                <a:latin typeface="system-ui"/>
              </a:rPr>
              <a:t>используя только это предложение</a:t>
            </a: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.</a:t>
            </a:r>
          </a:p>
          <a:p>
            <a:pPr>
              <a:spcBef>
                <a:spcPts val="900"/>
              </a:spcBef>
              <a:spcAft>
                <a:spcPts val="900"/>
              </a:spcAft>
            </a:pPr>
            <a:r>
              <a:rPr lang="ru-RU" b="0" dirty="0">
                <a:effectLst/>
              </a:rPr>
              <a:t>Он не может вернуться к прошлым главам.</a:t>
            </a:r>
            <a:br>
              <a:rPr lang="ru-RU" b="0" dirty="0">
                <a:effectLst/>
              </a:rPr>
            </a:br>
            <a:r>
              <a:rPr lang="ru-RU" b="0" dirty="0">
                <a:effectLst/>
              </a:rPr>
              <a:t>Важные детали теряются, если не вошли в резюме. 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62A9930-AAAB-5A93-B364-EF91588CE0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2052888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4D4C1B-8F4F-05FC-CDFA-A1BD6142F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195ED534-063C-EF50-5751-57FA7271F9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F0687931-CF2F-9B41-EB83-723E74AECA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8C31813-A216-5F53-0EA8-1C92652898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3469688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ABC9C-1138-7591-3F2B-736F46A78F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84FBBA32-AF7F-E690-8812-FE23E5D0FA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E3D06853-D8CD-A9FC-52E8-705424115B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DEDDFD-A6E2-1E65-C5BF-37BD17FA6E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23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273319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A0671D0-2BDB-45AF-A851-D661F6D3C5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73E451CD-2A5A-4E46-AFCE-79644189A1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991DB95-3757-4C7E-9F81-5F60BF0555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8/21/2025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54EC4B4-1367-4D8E-98C3-AEEF960147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166ED29-C873-4543-B7E1-E79BD42C1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30521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1C2B7CF-4E40-4185-8260-B4FC838AA8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C145DE7-F6E6-4997-8029-9B80694E38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5606A06-4FF1-422C-8D52-F4C6F4EC43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8/21/2025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0E736CE-F5D0-4002-ADD5-399C629102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35AE779-A848-4796-9479-123BA3A55D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723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1842B49-AEBD-4573-84CE-134E86D11E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953F6D9-0132-470C-8C1F-99E53343B0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E877F16-A63D-45E3-9E07-B99763F7E3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8/21/2025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9784523-6B3B-4688-A33F-31D12B50A2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2A97AF9-930F-44FA-AE70-F46166F287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03443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AD1B7ED-3B4D-4CF3-9AF8-DCFA79455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5C7095C-D1F3-448E-A163-D8112359024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8660A3BF-C8DE-4139-AE13-92B32F003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84B7D209-7CF1-481D-A144-80767B40CE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8/21/2025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11B842DF-EF65-4F50-B173-AF57771466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77E9F67-8E18-48D2-8851-11289DBE5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04904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2E13AA4-4B3E-47CC-84F7-84A4A91201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16C2EB5-78BA-457C-B172-19C0A1917B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5330350A-7A80-410B-9621-CD221374470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134978DF-27EF-44A3-8C76-B3143C03098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C9C3C9DE-74D8-4AC4-BC28-30DCC129206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9458EBA5-17CA-4BCA-98D6-C529D9EE43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8/21/2025</a:t>
            </a:fld>
            <a:endParaRPr lang="en-US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8D42B907-DAD8-46DF-965D-0B85D9D611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847FE150-31C6-4D57-9A40-2BEEDE2DD4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7451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1EDD412-A49B-4A60-BDA9-4DE98A6E7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76332180-815A-4A37-B56E-259D59B731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8/21/2025</a:t>
            </a:fld>
            <a:endParaRPr lang="en-US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0352E8DE-1155-454F-BB6A-7FB7A49FF6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A86F4679-CA96-4CE4-872E-B105DE6EB6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3116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D0E88BB0-CD50-48ED-8CDC-08B1E4C22A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8/21/2025</a:t>
            </a:fld>
            <a:endParaRPr lang="en-US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05A81452-4D20-4FB6-84E4-002112616A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6D58415-FB42-4A51-9C33-5FC3C862E6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33345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580E52-EBD8-4698-BC00-B913EC32DB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580B661-234C-4994-93A0-D2B9787F9E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03FEC5A4-924A-4780-B408-DFCD1F4C38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E4EEA3B6-18B1-4F03-81C0-729F3C08CD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8/21/2025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F8AFA4F-041E-4869-8D5B-C232A4DE71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F4F7C73E-5593-4555-81D8-EE7DEC175E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17685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03BDD2B-B107-4E97-B23F-240320E0BF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C0284E83-FF34-4A04-ACA2-5913DC0EFCA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B5989CA-DA16-41CF-9FD1-E3548A24AE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0633ABB5-76C9-422A-B6D3-931B70C96F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8/21/2025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6AECAB4-441B-4BA1-9EB9-CE05AF6BBC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F852E05-DB3B-4B02-9658-B1682F2DF3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28914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A84F6BC-9C7D-44E3-8FB3-A5D3FEC50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5DDFA137-9E72-4D4E-9A9B-9B642B1F51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8D56E9F-9208-4121-85E1-3069D24C1B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8/21/2025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4443664-6186-48C2-95DF-9567CE3B1B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68714A1-E3E5-42B3-B82F-97C26E3CA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51369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04496B09-4BEB-4AD3-BCC9-B01888D24C3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35B18123-2CC5-4AFC-90FD-68FBE07BE8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413529F-3052-4090-BDE7-86EAB3196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8/21/2025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B9C83CC-6A2F-4599-A82B-3AA20D976E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45489EC-BA6C-4295-ADF3-CF230364BA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52449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ED0249F-5E6F-435B-8BA6-2A7715856F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9024CB9-05D5-4CEB-A431-24500E1B25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4934E13-6B72-4799-A173-50AE9991F0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6E1671-358D-4BAB-9EB2-DC8D65251B89}" type="datetimeFigureOut">
              <a:rPr lang="en-US" smtClean="0"/>
              <a:t>8/21/2025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2D8DB70-5BC0-49E9-831B-FA9902663C1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5CCAF82-71F2-4F04-AEC5-AD970EB35F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99895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jpeg"/><Relationship Id="rId5" Type="http://schemas.openxmlformats.org/officeDocument/2006/relationships/image" Target="../media/image5.png"/><Relationship Id="rId4" Type="http://schemas.openxmlformats.org/officeDocument/2006/relationships/image" Target="../media/image3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emf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emf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emf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3.jpeg"/><Relationship Id="rId4" Type="http://schemas.openxmlformats.org/officeDocument/2006/relationships/image" Target="../media/image2.jpe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png"/><Relationship Id="rId4" Type="http://schemas.openxmlformats.org/officeDocument/2006/relationships/image" Target="../media/image14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e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0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0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440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0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NUL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8.png"/><Relationship Id="rId4" Type="http://schemas.openxmlformats.org/officeDocument/2006/relationships/image" Target="NUL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4.png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jpe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jpeg"/><Relationship Id="rId2" Type="http://schemas.openxmlformats.org/officeDocument/2006/relationships/image" Target="../media/image60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2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6.png"/><Relationship Id="rId4" Type="http://schemas.openxmlformats.org/officeDocument/2006/relationships/image" Target="../media/image65.png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jpeg"/><Relationship Id="rId2" Type="http://schemas.openxmlformats.org/officeDocument/2006/relationships/image" Target="../media/image72.jpe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emf"/><Relationship Id="rId2" Type="http://schemas.openxmlformats.org/officeDocument/2006/relationships/image" Target="../media/image78.emf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4.png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7BB7B41-7122-497A-A583-FEDA914639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94166"/>
            <a:ext cx="9144000" cy="3034834"/>
          </a:xfrm>
        </p:spPr>
        <p:txBody>
          <a:bodyPr>
            <a:normAutofit/>
          </a:bodyPr>
          <a:lstStyle/>
          <a:p>
            <a:r>
              <a:rPr lang="ru-RU" b="1" dirty="0"/>
              <a:t>Использование методов глубокого обучения в анализе временных рядов</a:t>
            </a:r>
          </a:p>
        </p:txBody>
      </p:sp>
      <p:sp>
        <p:nvSpPr>
          <p:cNvPr id="4" name="Подзаголовок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165966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004F54-9DA4-3637-B7F6-B2C1519127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13DFAFD-0F73-242A-2215-9CF55804E9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26" y="149031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ru-RU" dirty="0" err="1"/>
              <a:t>Seq</a:t>
            </a:r>
            <a:r>
              <a:rPr lang="en-US" dirty="0"/>
              <a:t>2Seq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517ED8B-EC79-48E8-1D5D-73DBF850021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62862" y="587086"/>
                <a:ext cx="11942800" cy="5683828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500"/>
                  </a:spcBef>
                  <a:buNone/>
                </a:pPr>
                <a:r>
                  <a:rPr lang="ru-RU" sz="2200" dirty="0" smtClean="0"/>
                  <a:t>Пусть требуется предсказать последовательность значений</a:t>
                </a:r>
                <a:r>
                  <a:rPr lang="en-US" sz="2200" dirty="0" smtClean="0"/>
                  <a:t> </a:t>
                </a:r>
                <a:r>
                  <a:rPr lang="ru-RU" sz="2200" dirty="0" smtClean="0"/>
                  <a:t>ВР </a:t>
                </a:r>
                <a:r>
                  <a:rPr lang="ru-RU" sz="2200" dirty="0"/>
                  <a:t>по входным данным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ru-RU" sz="2200" dirty="0"/>
                  <a:t>горизонт </a:t>
                </a:r>
                <a:r>
                  <a:rPr lang="en-US" sz="2200" dirty="0"/>
                  <a:t>H</a:t>
                </a:r>
                <a:r>
                  <a:rPr lang="ru-RU" sz="2200" dirty="0"/>
                  <a:t> большой – предсказывается итеративно 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ru-RU" sz="2200" dirty="0" smtClean="0"/>
                  <a:t>Напомним: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200" i="1" dirty="0">
                        <a:latin typeface="Cambria Math" panose="02040503050406030204" pitchFamily="18" charset="0"/>
                      </a:rPr>
                      <m:t>R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𝑁𝑁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: 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ru-RU" sz="2200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ru-RU" sz="2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sz="2200" i="1" dirty="0">
                            <a:latin typeface="Cambria Math" panose="02040503050406030204" pitchFamily="18" charset="0"/>
                          </a:rPr>
                          <m:t>𝐴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ru-RU" sz="220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𝐵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ru-RU" sz="2200" dirty="0"/>
                  <a:t> </a:t>
                </a:r>
                <a:r>
                  <a:rPr lang="en-US" sz="2200" dirty="0"/>
                  <a:t>;</a:t>
                </a:r>
              </a:p>
              <a:p>
                <a:pPr lvl="1">
                  <a:lnSpc>
                    <a:spcPct val="10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ru-RU" sz="2200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sz="2200" dirty="0"/>
                  <a:t> –</a:t>
                </a:r>
                <a:r>
                  <a:rPr lang="ru-RU" sz="2200" dirty="0"/>
                  <a:t> выход слоя (</a:t>
                </a:r>
                <a:r>
                  <a:rPr lang="en-US" sz="2200" dirty="0" err="1"/>
                  <a:t>ко</a:t>
                </a:r>
                <a:r>
                  <a:rPr lang="ru-RU" sz="2200" dirty="0" err="1"/>
                  <a:t>нтекст</a:t>
                </a:r>
                <a:r>
                  <a:rPr lang="en-US" sz="2200" dirty="0"/>
                  <a:t>)</a:t>
                </a:r>
                <a:r>
                  <a:rPr lang="ru-RU" sz="2200" dirty="0"/>
                  <a:t> для предсказания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ru-RU" sz="2200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endParaRPr lang="en-US" sz="2200" dirty="0"/>
              </a:p>
              <a:p>
                <a:pPr>
                  <a:lnSpc>
                    <a:spcPct val="100000"/>
                  </a:lnSpc>
                  <a:spcBef>
                    <a:spcPts val="500"/>
                  </a:spcBef>
                </a:pPr>
                <a:r>
                  <a:rPr lang="en-US" sz="2200" dirty="0" err="1"/>
                  <a:t>Если</a:t>
                </a:r>
                <a:r>
                  <a:rPr lang="ru-RU" sz="2200" dirty="0"/>
                  <a:t>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200" dirty="0"/>
                  <a:t> – </a:t>
                </a:r>
                <a:r>
                  <a:rPr lang="ru-RU" sz="2200" dirty="0"/>
                  <a:t>последнее известное состояние системы, </a:t>
                </a:r>
                <a:r>
                  <a:rPr lang="ru-RU" sz="2200" dirty="0" smtClean="0"/>
                  <a:t>то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100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100" b="1" i="1" dirty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en-US" sz="2100" b="1" i="1" dirty="0"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  <m:r>
                      <a:rPr lang="ru-RU" sz="2100" b="1" i="1" dirty="0" smtClean="0">
                        <a:latin typeface="Cambria Math" panose="02040503050406030204" pitchFamily="18" charset="0"/>
                      </a:rPr>
                      <m:t>− </m:t>
                    </m:r>
                  </m:oMath>
                </a14:m>
                <a:r>
                  <a:rPr lang="ru-RU" sz="2100" b="1" dirty="0"/>
                  <a:t>компактное представление системы</a:t>
                </a:r>
                <a:r>
                  <a:rPr lang="ru-RU" sz="2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b="1" dirty="0"/>
                  <a:t>Проблемы RNN</a:t>
                </a:r>
                <a:endParaRPr lang="en-US" sz="2200" b="1" dirty="0"/>
              </a:p>
              <a:p>
                <a:pPr lvl="1"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000" dirty="0"/>
                  <a:t>Ограниченный контекст из-за </a:t>
                </a:r>
                <a:r>
                  <a:rPr lang="ru-RU" sz="2000" dirty="0" err="1"/>
                  <a:t>переиспользования</a:t>
                </a:r>
                <a:r>
                  <a:rPr lang="ru-RU" sz="2000" dirty="0"/>
                  <a:t> единого вектора </a:t>
                </a:r>
                <a:r>
                  <a:rPr lang="ru-RU" sz="2000" dirty="0" smtClean="0"/>
                  <a:t>скрытых состояний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b="1" i="1" dirty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en-US" b="1" i="1" dirty="0"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</m:oMath>
                </a14:m>
                <a:endParaRPr lang="ru-RU" sz="2000" dirty="0"/>
              </a:p>
              <a:p>
                <a:pPr lvl="2"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dirty="0" smtClean="0"/>
                  <a:t>Последние</a:t>
                </a:r>
                <a:r>
                  <a:rPr lang="en-US" dirty="0" smtClean="0"/>
                  <a:t> </a:t>
                </a:r>
                <a:r>
                  <a:rPr lang="ru-RU" dirty="0" smtClean="0"/>
                  <a:t>известные </a:t>
                </a:r>
                <a:r>
                  <a:rPr lang="ru-RU" dirty="0"/>
                  <a:t>скрытое </a:t>
                </a:r>
                <a:r>
                  <a:rPr lang="ru-RU" dirty="0" smtClean="0"/>
                  <a:t>состояние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1800" b="1" i="1" dirty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en-US" sz="1800" b="1" i="1" dirty="0"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</m:oMath>
                </a14:m>
                <a:r>
                  <a:rPr lang="ru-RU" dirty="0" smtClean="0"/>
                  <a:t> 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ru-RU" dirty="0" smtClean="0"/>
                  <a:t> задают </a:t>
                </a:r>
                <a:r>
                  <a:rPr lang="ru-RU" dirty="0"/>
                  <a:t>все состояния </a:t>
                </a:r>
                <a:r>
                  <a:rPr lang="ru-RU" dirty="0" smtClean="0"/>
                  <a:t>предсказания</a:t>
                </a:r>
              </a:p>
              <a:p>
                <a:pPr lvl="3"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dirty="0"/>
                  <a:t>Скрытое состояние – это "бутылочное горлышко": вся информация из прошлого сжимается в фиксированный вектор, что приводит к потере деталей</a:t>
                </a:r>
                <a:r>
                  <a:rPr lang="ru-RU" dirty="0" smtClean="0"/>
                  <a:t>.</a:t>
                </a:r>
                <a:endParaRPr lang="ru-RU" dirty="0"/>
              </a:p>
              <a:p>
                <a:pPr lvl="2"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dirty="0" smtClean="0"/>
                  <a:t>Ограниченный </a:t>
                </a:r>
                <a:r>
                  <a:rPr lang="ru-RU" dirty="0"/>
                  <a:t>горизонт предсказаний</a:t>
                </a:r>
              </a:p>
              <a:p>
                <a:pPr lvl="1"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000" dirty="0" smtClean="0"/>
                  <a:t>Проблема </a:t>
                </a:r>
                <a:r>
                  <a:rPr lang="ru-RU" sz="2000" dirty="0"/>
                  <a:t>долгого обучения (веса или затухают или взрываются</a:t>
                </a:r>
                <a:r>
                  <a:rPr lang="ru-RU" sz="2000" dirty="0" smtClean="0"/>
                  <a:t>)</a:t>
                </a:r>
                <a:endParaRPr lang="ru-RU" sz="20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517ED8B-EC79-48E8-1D5D-73DBF850021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62862" y="587086"/>
                <a:ext cx="11942800" cy="5683828"/>
              </a:xfrm>
              <a:blipFill>
                <a:blip r:embed="rId2"/>
                <a:stretch>
                  <a:fillRect l="-664" t="-64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3CE0A56B-0917-A450-C416-08AAC828BE3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97720C5C-7990-C77A-277B-D0F34C8589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90367" y="4933454"/>
            <a:ext cx="5528007" cy="17260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8">
            <a:extLst>
              <a:ext uri="{FF2B5EF4-FFF2-40B4-BE49-F238E27FC236}">
                <a16:creationId xmlns:a16="http://schemas.microsoft.com/office/drawing/2014/main" id="{B06905D7-D972-1816-3D45-1AAC8CA8E1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72452" y="4815131"/>
            <a:ext cx="5333210" cy="15446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220668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FA1BBB-E711-8264-4033-23630B4BDF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4F893B7-7D0B-85C1-0A0D-2192CEA18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7288" y="232406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ru-RU" dirty="0" err="1"/>
              <a:t>Seq</a:t>
            </a:r>
            <a:r>
              <a:rPr lang="en-US" dirty="0"/>
              <a:t>2Seq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2912A3EB-2F64-0781-E5D5-840697FBDDA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87288" y="691837"/>
                <a:ext cx="11731086" cy="5683828"/>
              </a:xfrm>
            </p:spPr>
            <p:txBody>
              <a:bodyPr>
                <a:normAutofit/>
              </a:bodyPr>
              <a:lstStyle/>
              <a:p>
                <a:pPr marL="0" indent="0" algn="ctr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300" dirty="0" smtClean="0"/>
                  <a:t>Задача </a:t>
                </a:r>
                <a:r>
                  <a:rPr lang="ru-RU" sz="2300" dirty="0" err="1"/>
                  <a:t>seq</a:t>
                </a:r>
                <a:r>
                  <a:rPr lang="en-US" sz="2300" dirty="0" err="1"/>
                  <a:t>uence</a:t>
                </a:r>
                <a:r>
                  <a:rPr lang="en-US" sz="2300" dirty="0"/>
                  <a:t>-to-sequence (Seq2Seq</a:t>
                </a:r>
                <a:r>
                  <a:rPr lang="en-US" sz="2300" dirty="0" smtClean="0"/>
                  <a:t>) –</a:t>
                </a:r>
                <a:r>
                  <a:rPr lang="ru-RU" sz="2300" dirty="0" smtClean="0"/>
                  <a:t> это </a:t>
                </a:r>
                <a:r>
                  <a:rPr lang="ru-RU" sz="2300" dirty="0" err="1" smtClean="0"/>
                  <a:t>задачапредсказания</a:t>
                </a:r>
                <a:r>
                  <a:rPr lang="ru-RU" sz="2300" dirty="0" smtClean="0"/>
                  <a:t> набора будущих </a:t>
                </a:r>
                <a:br>
                  <a:rPr lang="ru-RU" sz="2300" dirty="0" smtClean="0"/>
                </a:br>
                <a:r>
                  <a:rPr lang="ru-RU" sz="2300" dirty="0" smtClean="0"/>
                  <a:t>значений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300" b="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300" b="0" i="1" dirty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300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300" b="0" i="1" dirty="0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2300" b="0" i="1" dirty="0" smtClean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sz="23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3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300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3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30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300" b="0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2300" dirty="0" smtClean="0"/>
                  <a:t> </a:t>
                </a:r>
                <a:r>
                  <a:rPr lang="ru-RU" sz="2300" dirty="0" smtClean="0"/>
                  <a:t>по </a:t>
                </a:r>
                <a:r>
                  <a:rPr lang="ru-RU" sz="2300" dirty="0"/>
                  <a:t>входным </a:t>
                </a:r>
                <a:r>
                  <a:rPr lang="ru-RU" sz="2300" dirty="0" smtClean="0"/>
                  <a:t>данным</a:t>
                </a:r>
                <a:r>
                  <a:rPr lang="en-US" sz="2300" dirty="0" smtClean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3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3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300" b="0" i="1" smtClean="0">
                        <a:latin typeface="Cambria Math" panose="02040503050406030204" pitchFamily="18" charset="0"/>
                      </a:rPr>
                      <m:t>,…</m:t>
                    </m:r>
                  </m:oMath>
                </a14:m>
                <a:endParaRPr lang="ru-RU" sz="2300" dirty="0"/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200" dirty="0"/>
                  <a:t>Задачу можно разделить на две части: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200" dirty="0"/>
                  <a:t>Часть 1 – </a:t>
                </a:r>
                <a:r>
                  <a:rPr lang="ru-RU" sz="2200" b="1" dirty="0" err="1"/>
                  <a:t>энкодер</a:t>
                </a:r>
                <a:r>
                  <a:rPr lang="ru-RU" sz="2200" dirty="0"/>
                  <a:t>: формирование вектора скрытого состояния (контекст, память) на основе движения окна по известным данным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200" dirty="0"/>
                  <a:t>Часть 2 – </a:t>
                </a:r>
                <a:r>
                  <a:rPr lang="ru-RU" sz="2200" b="1" dirty="0"/>
                  <a:t>декодер</a:t>
                </a:r>
                <a:r>
                  <a:rPr lang="ru-RU" sz="2200" dirty="0"/>
                  <a:t>: формирование последовательности предсказаний (</a:t>
                </a:r>
                <a:r>
                  <a:rPr lang="ru-RU" sz="2200" dirty="0" err="1"/>
                  <a:t>авторегрессионной</a:t>
                </a:r>
                <a:r>
                  <a:rPr lang="ru-RU" sz="2200" dirty="0"/>
                  <a:t>/итеративно) на основе последнего положения окна и скрытого состояния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200" dirty="0"/>
                  <a:t>Прогноз производится последовательно</a:t>
                </a:r>
                <a:endParaRPr lang="en-US" sz="2200" dirty="0"/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endParaRPr lang="ru-RU" sz="24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2912A3EB-2F64-0781-E5D5-840697FBDDA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7288" y="691837"/>
                <a:ext cx="11731086" cy="5683828"/>
              </a:xfrm>
              <a:blipFill>
                <a:blip r:embed="rId3"/>
                <a:stretch>
                  <a:fillRect l="-624" t="-750" r="-36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30" name="Picture 6">
            <a:extLst>
              <a:ext uri="{FF2B5EF4-FFF2-40B4-BE49-F238E27FC236}">
                <a16:creationId xmlns:a16="http://schemas.microsoft.com/office/drawing/2014/main" id="{3BA25769-C260-84C0-F3F1-1A61003ADC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394" y="4231595"/>
            <a:ext cx="6852953" cy="25355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E1A10BCC-061E-806F-50B1-2D5EBEAB32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1396" y="4730927"/>
            <a:ext cx="3810218" cy="19224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FADCBF9-6474-CB34-8E67-423567137B8D}"/>
              </a:ext>
            </a:extLst>
          </p:cNvPr>
          <p:cNvSpPr txBox="1"/>
          <p:nvPr/>
        </p:nvSpPr>
        <p:spPr>
          <a:xfrm>
            <a:off x="6839594" y="6659465"/>
            <a:ext cx="609382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800" dirty="0" err="1"/>
              <a:t>https</a:t>
            </a:r>
            <a:r>
              <a:rPr lang="ru-RU" sz="800" dirty="0"/>
              <a:t>://</a:t>
            </a:r>
            <a:r>
              <a:rPr lang="ru-RU" sz="800" dirty="0" err="1"/>
              <a:t>readmedium.com</a:t>
            </a:r>
            <a:r>
              <a:rPr lang="ru-RU" sz="800" dirty="0"/>
              <a:t>/implementing-seq2seq-models-for-efficient-time-series-forecasting-88dba1d66187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D5D9B53-6450-E64F-372F-ECC27BD8C313}"/>
              </a:ext>
            </a:extLst>
          </p:cNvPr>
          <p:cNvSpPr txBox="1"/>
          <p:nvPr/>
        </p:nvSpPr>
        <p:spPr>
          <a:xfrm>
            <a:off x="840047" y="3487584"/>
            <a:ext cx="741433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i="0" dirty="0">
                <a:effectLst/>
              </a:rPr>
              <a:t>Ключевая идея: модель принимает последовательность → преобразует в компактное представление → генерирует другую последовательность. </a:t>
            </a:r>
            <a:endParaRPr lang="ru-RU" dirty="0"/>
          </a:p>
        </p:txBody>
      </p:sp>
      <p:pic>
        <p:nvPicPr>
          <p:cNvPr id="1032" name="Picture 8">
            <a:extLst>
              <a:ext uri="{FF2B5EF4-FFF2-40B4-BE49-F238E27FC236}">
                <a16:creationId xmlns:a16="http://schemas.microsoft.com/office/drawing/2014/main" id="{B06905D7-D972-1816-3D45-1AAC8CA8E1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18161" y="4038108"/>
            <a:ext cx="4040368" cy="11701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495252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535183-457B-4563-0A7E-271B755117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6699C88-3961-C5D9-AAED-2F377BA512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3890" y="256380"/>
            <a:ext cx="10344219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</a:t>
            </a:r>
            <a:r>
              <a:rPr lang="ru-RU" b="1" dirty="0" smtClean="0"/>
              <a:t>режиме </a:t>
            </a:r>
            <a:r>
              <a:rPr lang="ru-RU" dirty="0" err="1" smtClean="0"/>
              <a:t>Seq</a:t>
            </a:r>
            <a:r>
              <a:rPr lang="en-US" dirty="0"/>
              <a:t>2Seq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E043784-8F80-5804-0527-435AD8BB706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35207" y="732641"/>
                <a:ext cx="11731086" cy="508791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ru-RU" sz="2200" b="1" dirty="0" smtClean="0"/>
                  <a:t>Гипотеза: </a:t>
                </a:r>
                <a:r>
                  <a:rPr lang="ru-RU" sz="2200" dirty="0" smtClean="0"/>
                  <a:t>Регуляризация переобучения </a:t>
                </a:r>
                <a:r>
                  <a:rPr lang="en-US" sz="2200" dirty="0" smtClean="0"/>
                  <a:t>RNN </a:t>
                </a:r>
                <a:r>
                  <a:rPr lang="ru-RU" sz="2200" dirty="0" smtClean="0"/>
                  <a:t>возможна, если расширить скрытое представление</a:t>
                </a:r>
              </a:p>
              <a:p>
                <a:r>
                  <a:rPr lang="ru-RU" sz="2200" dirty="0" smtClean="0"/>
                  <a:t>по сути требуется расширить контекст</a:t>
                </a:r>
                <a:r>
                  <a:rPr lang="ru-RU" sz="2200" b="1" dirty="0" smtClean="0"/>
                  <a:t> </a:t>
                </a:r>
                <a:endParaRPr lang="en-US" sz="2200" b="1" dirty="0" smtClean="0"/>
              </a:p>
              <a:p>
                <a:pPr marL="0" indent="0">
                  <a:buNone/>
                </a:pPr>
                <a:r>
                  <a:rPr lang="ru-RU" sz="2200" b="1" dirty="0" smtClean="0"/>
                  <a:t>Идея: модель </a:t>
                </a:r>
                <a:r>
                  <a:rPr lang="ru-RU" sz="2200" b="1" dirty="0"/>
                  <a:t>могла бы </a:t>
                </a:r>
                <a:r>
                  <a:rPr lang="ru-RU" sz="2200" dirty="0" smtClean="0"/>
                  <a:t>смотреть</a:t>
                </a:r>
                <a:r>
                  <a:rPr lang="ru-RU" sz="2200" b="1" dirty="0" smtClean="0"/>
                  <a:t> на набор значений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200" b="1" i="1" dirty="0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en-US" sz="2200" b="1" i="1" dirty="0"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  <m:r>
                      <a:rPr lang="en-US" sz="2200" b="1" i="1" dirty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200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1" i="1" dirty="0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en-US" sz="2200" b="1" i="1" dirty="0" smtClean="0">
                            <a:latin typeface="Cambria Math" panose="02040503050406030204" pitchFamily="18" charset="0"/>
                          </a:rPr>
                          <m:t>𝒏</m:t>
                        </m:r>
                        <m:r>
                          <a:rPr lang="en-US" sz="2200" b="1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200" b="1" i="1" dirty="0" smtClean="0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n-US" sz="2200" b="1" i="1" dirty="0" smtClean="0">
                        <a:latin typeface="Cambria Math" panose="02040503050406030204" pitchFamily="18" charset="0"/>
                      </a:rPr>
                      <m:t>,…</m:t>
                    </m:r>
                  </m:oMath>
                </a14:m>
                <a:r>
                  <a:rPr lang="en-US" sz="2200" b="1" dirty="0" smtClean="0"/>
                  <a:t> </a:t>
                </a:r>
              </a:p>
              <a:p>
                <a:pPr marL="0" indent="0">
                  <a:buNone/>
                </a:pPr>
                <a:r>
                  <a:rPr lang="ru-RU" sz="2200" b="1" dirty="0" smtClean="0"/>
                  <a:t>Реализация:</a:t>
                </a:r>
                <a:r>
                  <a:rPr lang="en-US" sz="2200" b="1" dirty="0" smtClean="0"/>
                  <a:t> </a:t>
                </a:r>
                <a:r>
                  <a:rPr lang="ru-RU" sz="2200" dirty="0" smtClean="0"/>
                  <a:t>Пусть </a:t>
                </a:r>
                <a:r>
                  <a:rPr lang="ru-RU" sz="2200" dirty="0" err="1" smtClean="0"/>
                  <a:t>энкодер</a:t>
                </a:r>
                <a:r>
                  <a:rPr lang="ru-RU" sz="2200" dirty="0" smtClean="0"/>
                  <a:t> глубины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2200" dirty="0" smtClean="0"/>
                  <a:t> </a:t>
                </a:r>
                <a:r>
                  <a:rPr lang="ru-RU" sz="2200" dirty="0" smtClean="0"/>
                  <a:t>и  горизонт предсказания </a:t>
                </a:r>
                <a14:m>
                  <m:oMath xmlns:m="http://schemas.openxmlformats.org/officeDocument/2006/math"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endParaRPr lang="ru-RU" sz="2200" dirty="0" smtClean="0"/>
              </a:p>
              <a:p>
                <a:pPr marL="0" indent="0">
                  <a:buNone/>
                </a:pPr>
                <a:r>
                  <a:rPr lang="ru-RU" sz="2200" b="1" dirty="0" smtClean="0"/>
                  <a:t>Перепишем</a:t>
                </a:r>
                <a:r>
                  <a:rPr lang="en-US" sz="2200" b="1" dirty="0" smtClean="0"/>
                  <a:t> </a:t>
                </a:r>
                <a:r>
                  <a:rPr lang="ru-RU" sz="2200" b="1" dirty="0" smtClean="0"/>
                  <a:t>скрытое состояние декодер </a:t>
                </a:r>
                <a:r>
                  <a:rPr lang="en-US" sz="2200" b="1" dirty="0" smtClean="0"/>
                  <a:t>Seq2Seq RNN</a:t>
                </a:r>
                <a:endParaRPr lang="ru-RU" sz="2200" i="1" dirty="0" smtClean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200" b="1" i="1" dirty="0" smtClean="0"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sub>
                          </m:sSub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ru-RU" sz="2200" b="1" dirty="0" smtClean="0"/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en-US" sz="2200" i="1" dirty="0" err="1">
                    <a:latin typeface="Cambria Math" panose="02040503050406030204" pitchFamily="18" charset="0"/>
                  </a:rPr>
                  <a:t>гд</a:t>
                </a:r>
                <a:r>
                  <a:rPr lang="ru-RU" sz="2200" i="1" dirty="0" smtClean="0">
                    <a:latin typeface="Cambria Math" panose="02040503050406030204" pitchFamily="18" charset="0"/>
                  </a:rPr>
                  <a:t>е</a:t>
                </a:r>
                <a14:m>
                  <m:oMath xmlns:m="http://schemas.openxmlformats.org/officeDocument/2006/math">
                    <m:r>
                      <a:rPr lang="en-US" sz="2200" b="0" i="0" dirty="0" smtClean="0">
                        <a:latin typeface="Cambria Math" panose="02040503050406030204" pitchFamily="18" charset="0"/>
                      </a:rPr>
                      <m:t>   </m:t>
                    </m:r>
                    <m:sSub>
                      <m:sSubPr>
                        <m:ctrlPr>
                          <a:rPr lang="en-US" sz="2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brk m:alnAt="25"/>
                          </m:rPr>
                          <a:rPr lang="en-US" sz="2200" i="1" dirty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brk m:alnAt="25"/>
                          </m:rPr>
                          <a:rPr lang="en-US" sz="2200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d>
                      <m:d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e>
                    </m:d>
                  </m:oMath>
                </a14:m>
                <a:r>
                  <a:rPr lang="ru-RU" sz="2200" i="1" dirty="0">
                    <a:latin typeface="Cambria Math" panose="02040503050406030204" pitchFamily="18" charset="0"/>
                  </a:rPr>
                  <a:t>- текущее скрытое состояние</a:t>
                </a:r>
                <a:r>
                  <a:rPr lang="en-US" sz="2200" i="1" dirty="0">
                    <a:latin typeface="Cambria Math" panose="02040503050406030204" pitchFamily="18" charset="0"/>
                  </a:rPr>
                  <a:t> </a:t>
                </a:r>
                <a:r>
                  <a:rPr lang="en-US" sz="2200" i="1" dirty="0" smtClean="0">
                    <a:latin typeface="Cambria Math" panose="02040503050406030204" pitchFamily="18" charset="0"/>
                  </a:rPr>
                  <a:t>(</a:t>
                </a:r>
                <a:r>
                  <a:rPr lang="ru-RU" sz="2200" i="1" dirty="0" smtClean="0">
                    <a:latin typeface="Cambria Math" panose="02040503050406030204" pitchFamily="18" charset="0"/>
                  </a:rPr>
                  <a:t>контекст), 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как результат предыдущих (</a:t>
                </a:r>
                <a:r>
                  <a:rPr lang="en-US" sz="2200" i="1" dirty="0" err="1">
                    <a:latin typeface="Cambria Math" panose="02040503050406030204" pitchFamily="18" charset="0"/>
                  </a:rPr>
                  <a:t>p,q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) состояний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en-US" sz="2200" i="1" dirty="0" err="1">
                    <a:latin typeface="Cambria Math" panose="02040503050406030204" pitchFamily="18" charset="0"/>
                  </a:rPr>
                  <a:t>Та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кая идея </a:t>
                </a:r>
                <a:r>
                  <a:rPr lang="ru-RU" sz="2200" i="1" dirty="0" smtClean="0">
                    <a:latin typeface="Cambria Math" panose="02040503050406030204" pitchFamily="18" charset="0"/>
                  </a:rPr>
                  <a:t>называется 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внимание</a:t>
                </a:r>
                <a:r>
                  <a:rPr lang="ru-RU" sz="2200" i="1" dirty="0" smtClean="0">
                    <a:latin typeface="Cambria Math" panose="02040503050406030204" pitchFamily="18" charset="0"/>
                  </a:rPr>
                  <a:t> </a:t>
                </a:r>
                <a:r>
                  <a:rPr lang="ru-RU" sz="2200" i="1" dirty="0" err="1" smtClean="0">
                    <a:latin typeface="Cambria Math" panose="02040503050406030204" pitchFamily="18" charset="0"/>
                  </a:rPr>
                  <a:t>энкодер</a:t>
                </a:r>
                <a:r>
                  <a:rPr lang="ru-RU" sz="2200" i="1" dirty="0" smtClean="0">
                    <a:latin typeface="Cambria Math" panose="02040503050406030204" pitchFamily="18" charset="0"/>
                  </a:rPr>
                  <a:t>-декодер</a:t>
                </a:r>
                <a:endParaRPr lang="ru-RU" sz="22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ru-RU" sz="2200" b="1" dirty="0" smtClean="0"/>
              </a:p>
              <a:p>
                <a:pPr marL="0" indent="0">
                  <a:buNone/>
                </a:pPr>
                <a:endParaRPr lang="ru-RU" sz="2200" b="1" dirty="0"/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endParaRPr lang="ru-RU" sz="22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E043784-8F80-5804-0527-435AD8BB706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35207" y="732641"/>
                <a:ext cx="11731086" cy="5087918"/>
              </a:xfrm>
              <a:blipFill>
                <a:blip r:embed="rId3"/>
                <a:stretch>
                  <a:fillRect l="-675" t="-1557" r="-26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AB187092-B5EF-33CC-9675-B208B075D2B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Прямоугольник 6"/>
              <p:cNvSpPr/>
              <p:nvPr/>
            </p:nvSpPr>
            <p:spPr>
              <a:xfrm>
                <a:off x="580579" y="5278390"/>
                <a:ext cx="6203680" cy="64633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spcBef>
                    <a:spcPts val="200"/>
                  </a:spcBef>
                </a:pPr>
                <a:r>
                  <a:rPr lang="ru-RU" i="1" dirty="0" smtClean="0">
                    <a:latin typeface="Cambria Math" panose="02040503050406030204" pitchFamily="18" charset="0"/>
                  </a:rPr>
                  <a:t>В примере из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ru-RU" b="0" i="1" dirty="0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ru-RU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ru-RU" i="1" dirty="0" smtClean="0">
                    <a:latin typeface="Cambria Math" panose="02040503050406030204" pitchFamily="18" charset="0"/>
                  </a:rPr>
                  <a:t>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ru-RU" b="0" i="1" dirty="0" smtClean="0">
                            <a:latin typeface="Cambria Math" panose="02040503050406030204" pitchFamily="18" charset="0"/>
                          </a:rPr>
                          <m:t>7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ru-RU" b="0" i="1" dirty="0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</m:oMath>
                </a14:m>
                <a:r>
                  <a:rPr lang="ru-RU" i="1" dirty="0" smtClean="0">
                    <a:latin typeface="Cambria Math" panose="02040503050406030204" pitchFamily="18" charset="0"/>
                  </a:rPr>
                  <a:t> </a:t>
                </a:r>
                <a:r>
                  <a:rPr lang="en-US" i="1" dirty="0" smtClean="0">
                    <a:latin typeface="Cambria Math" panose="02040503050406030204" pitchFamily="18" charset="0"/>
                  </a:rPr>
                  <a:t/>
                </a:r>
                <a:br>
                  <a:rPr lang="en-US" i="1" dirty="0" smtClean="0">
                    <a:latin typeface="Cambria Math" panose="02040503050406030204" pitchFamily="18" charset="0"/>
                  </a:rPr>
                </a:br>
                <a:r>
                  <a:rPr lang="ru-RU" i="1" dirty="0" smtClean="0">
                    <a:latin typeface="Cambria Math" panose="02040503050406030204" pitchFamily="18" charset="0"/>
                  </a:rPr>
                  <a:t>создается новый вектор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ru-RU" i="1" dirty="0" smtClean="0">
                            <a:latin typeface="Cambria Math" panose="02040503050406030204" pitchFamily="18" charset="0"/>
                          </a:rPr>
                          <m:t>7</m:t>
                        </m:r>
                      </m:sub>
                    </m:sSub>
                  </m:oMath>
                </a14:m>
                <a:r>
                  <a:rPr lang="ru-RU" i="1" dirty="0" smtClean="0">
                    <a:latin typeface="Cambria Math" panose="02040503050406030204" pitchFamily="18" charset="0"/>
                  </a:rPr>
                  <a:t> для  предсказания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7</m:t>
                        </m:r>
                      </m:sub>
                    </m:sSub>
                  </m:oMath>
                </a14:m>
                <a:endParaRPr lang="ru-RU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7" name="Прямоугольник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0579" y="5278390"/>
                <a:ext cx="6203680" cy="646331"/>
              </a:xfrm>
              <a:prstGeom prst="rect">
                <a:avLst/>
              </a:prstGeom>
              <a:blipFill>
                <a:blip r:embed="rId4"/>
                <a:stretch>
                  <a:fillRect l="-786" t="-6604" b="-1320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Рисунок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33589" y="3676479"/>
            <a:ext cx="4987738" cy="3005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29479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0790A6-B18E-84C1-CEF6-BD3F4BD073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E5488-89EB-0E0A-4510-645ACDFDEE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7288" y="232406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ru-RU" b="1" dirty="0" smtClean="0"/>
              <a:t>блока внимания </a:t>
            </a:r>
            <a:r>
              <a:rPr lang="ru-RU" dirty="0" err="1"/>
              <a:t>Seq</a:t>
            </a:r>
            <a:r>
              <a:rPr lang="en-US" dirty="0"/>
              <a:t>2Seq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6CB84CAF-915D-223E-8BD5-3C8A6DF034A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87288" y="752422"/>
                <a:ext cx="11731086" cy="5683828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i="1" dirty="0" smtClean="0"/>
                  <a:t>Зададим блок внимания: </a:t>
                </a:r>
                <a:endParaRPr lang="ru-RU" sz="2200" i="1" dirty="0"/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ru-RU" sz="2200" b="0" i="1" dirty="0" smtClean="0">
                          <a:latin typeface="Cambria Math" panose="02040503050406030204" pitchFamily="18" charset="0"/>
                        </a:rPr>
                        <m:t>𝑠𝑜𝑓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𝑡𝑚𝑎𝑥</m:t>
                      </m:r>
                      <m:d>
                        <m:dPr>
                          <m:ctrlP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𝑄</m:t>
                          </m:r>
                          <m:sSup>
                            <m:sSup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p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</m:e>
                      </m:d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ru-RU" sz="2200" i="1" dirty="0"/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ru-RU" sz="2200" b="0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ru-RU" sz="22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2200" b="0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ru-RU" sz="2200" b="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</m:sup>
                    </m:sSup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sz="2200" dirty="0" smtClean="0"/>
                  <a:t> </a:t>
                </a:r>
                <a:r>
                  <a:rPr lang="en-US" sz="2200" dirty="0"/>
                  <a:t> – </a:t>
                </a:r>
                <a14:m>
                  <m:oMath xmlns:m="http://schemas.openxmlformats.org/officeDocument/2006/math">
                    <m:r>
                      <a:rPr lang="en-US" sz="2200" b="1" i="1" dirty="0" smtClean="0">
                        <a:latin typeface="Cambria Math" panose="02040503050406030204" pitchFamily="18" charset="0"/>
                      </a:rPr>
                      <m:t>𝒒𝒖𝒆𝒓𝒚</m:t>
                    </m:r>
                  </m:oMath>
                </a14:m>
                <a:r>
                  <a:rPr lang="en-US" sz="2200" dirty="0" smtClean="0"/>
                  <a:t> </a:t>
                </a:r>
                <a:r>
                  <a:rPr lang="en-US" sz="2200" dirty="0"/>
                  <a:t>– </a:t>
                </a:r>
                <a:r>
                  <a:rPr lang="en-US" sz="2200" dirty="0" err="1"/>
                  <a:t>запро</a:t>
                </a:r>
                <a:r>
                  <a:rPr lang="ru-RU" sz="2200" dirty="0"/>
                  <a:t>с (важность информации декодера</a:t>
                </a:r>
                <a:r>
                  <a:rPr lang="ru-RU" sz="2200" dirty="0" smtClean="0"/>
                  <a:t>)</a:t>
                </a:r>
                <a:r>
                  <a:rPr lang="en-US" sz="2200" dirty="0" smtClean="0"/>
                  <a:t>, </a:t>
                </a:r>
                <a14:m>
                  <m:oMath xmlns:m="http://schemas.openxmlformats.org/officeDocument/2006/math">
                    <m:r>
                      <a:rPr lang="en-US" sz="2200" i="1" dirty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={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2200" i="1" dirty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ru-RU" sz="2200" dirty="0"/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r>
                      <a:rPr lang="en-US" sz="2200" i="1" dirty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2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</m:sSup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 −</m:t>
                    </m:r>
                  </m:oMath>
                </a14:m>
                <a:r>
                  <a:rPr lang="en-US" sz="2200" dirty="0" smtClean="0"/>
                  <a:t>  </a:t>
                </a:r>
                <a14:m>
                  <m:oMath xmlns:m="http://schemas.openxmlformats.org/officeDocument/2006/math">
                    <m:r>
                      <a:rPr lang="en-US" sz="2200" b="1" i="1" dirty="0" smtClean="0">
                        <a:latin typeface="Cambria Math" panose="02040503050406030204" pitchFamily="18" charset="0"/>
                      </a:rPr>
                      <m:t>𝒌𝒆𝒚</m:t>
                    </m:r>
                  </m:oMath>
                </a14:m>
                <a:r>
                  <a:rPr lang="en-US" sz="2200" dirty="0"/>
                  <a:t> –</a:t>
                </a:r>
                <a:r>
                  <a:rPr lang="ru-RU" sz="2200" dirty="0"/>
                  <a:t> </a:t>
                </a:r>
                <a:r>
                  <a:rPr lang="ru-RU" sz="2200" dirty="0" err="1"/>
                  <a:t>ключь</a:t>
                </a:r>
                <a:r>
                  <a:rPr lang="ru-RU" sz="2200" dirty="0"/>
                  <a:t> – важность информации </a:t>
                </a:r>
                <a:r>
                  <a:rPr lang="ru-RU" sz="2200" dirty="0" err="1" smtClean="0"/>
                  <a:t>энкодера</a:t>
                </a:r>
                <a:r>
                  <a:rPr lang="ru-RU" sz="2200" dirty="0" smtClean="0"/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200" i="1" dirty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={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200" i="1" dirty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en-US" sz="2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ru-RU" sz="2200" dirty="0"/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r>
                      <a:rPr lang="en-US" sz="2200" i="1" dirty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ru-RU" sz="2200" b="0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ru-RU" sz="22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2200" b="0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ru-RU" sz="2200" b="0" i="1" dirty="0" smtClean="0">
                            <a:latin typeface="Cambria Math" panose="02040503050406030204" pitchFamily="18" charset="0"/>
                          </a:rPr>
                          <m:t>𝑉</m:t>
                        </m:r>
                      </m:sup>
                    </m:sSup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 −</m:t>
                    </m:r>
                  </m:oMath>
                </a14:m>
                <a:r>
                  <a:rPr lang="ru-RU" sz="2200" i="1" dirty="0"/>
                  <a:t> </a:t>
                </a:r>
                <a14:m>
                  <m:oMath xmlns:m="http://schemas.openxmlformats.org/officeDocument/2006/math">
                    <m:r>
                      <a:rPr lang="en-US" sz="2200" b="1" i="1" dirty="0" smtClean="0">
                        <a:latin typeface="Cambria Math" panose="02040503050406030204" pitchFamily="18" charset="0"/>
                      </a:rPr>
                      <m:t>𝒗𝒂𝒍𝒖𝒆</m:t>
                    </m:r>
                  </m:oMath>
                </a14:m>
                <a:r>
                  <a:rPr lang="en-US" sz="2200" dirty="0"/>
                  <a:t> </a:t>
                </a:r>
                <a:r>
                  <a:rPr lang="ru-RU" sz="2200" dirty="0"/>
                  <a:t>важность информации </a:t>
                </a:r>
                <a:r>
                  <a:rPr lang="ru-RU" sz="2200" dirty="0" err="1"/>
                  <a:t>энкодара</a:t>
                </a:r>
                <a:r>
                  <a:rPr lang="ru-RU" sz="2200" dirty="0"/>
                  <a:t> на текущем шаге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r>
                      <a:rPr lang="en-US" sz="2200" i="1" dirty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ru-RU" sz="2200" b="0" i="0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sz="2200" dirty="0"/>
                  <a:t>важность значений</a:t>
                </a:r>
                <a:r>
                  <a:rPr lang="en-US" sz="2200" dirty="0" smtClean="0"/>
                  <a:t> </a:t>
                </a:r>
                <a14:m>
                  <m:oMath xmlns:m="http://schemas.openxmlformats.org/officeDocument/2006/math">
                    <m:r>
                      <a:rPr lang="en-US" sz="2200" i="1" dirty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ru-RU" sz="2200" dirty="0"/>
                  <a:t> для текущего </a:t>
                </a:r>
                <a:r>
                  <a:rPr lang="ru-RU" sz="2200" dirty="0" err="1"/>
                  <a:t>предсказкания</a:t>
                </a:r>
                <a:r>
                  <a:rPr lang="ru-RU" sz="2200" dirty="0"/>
                  <a:t> </a:t>
                </a:r>
                <a:r>
                  <a:rPr lang="ru-RU" sz="2200" i="1" dirty="0"/>
                  <a:t>(вес от 0 до 1) </a:t>
                </a:r>
                <a:endParaRPr lang="ru-RU" sz="2200" dirty="0"/>
              </a:p>
              <a:p>
                <a:pPr lvl="1"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200" b="1" dirty="0" smtClean="0"/>
                  <a:t>Интуиция</a:t>
                </a:r>
                <a:r>
                  <a:rPr lang="en-US" sz="2200" b="1" dirty="0" smtClean="0"/>
                  <a:t> </a:t>
                </a:r>
                <a14:m>
                  <m:oMath xmlns:m="http://schemas.openxmlformats.org/officeDocument/2006/math">
                    <m:r>
                      <a:rPr lang="en-US" sz="2200" i="1" dirty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sz="2200" dirty="0" smtClean="0"/>
                  <a:t>: если </a:t>
                </a:r>
                <a:r>
                  <a:rPr lang="en" sz="2200" dirty="0" smtClean="0"/>
                  <a:t>decoder</a:t>
                </a:r>
                <a:r>
                  <a:rPr lang="ru-RU" sz="2200" dirty="0" smtClean="0"/>
                  <a:t> (</a:t>
                </a:r>
                <a14:m>
                  <m:oMath xmlns:m="http://schemas.openxmlformats.org/officeDocument/2006/math">
                    <m:r>
                      <a:rPr lang="en-US" sz="2200" i="1" dirty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ru-RU" sz="2200" dirty="0" smtClean="0"/>
                  <a:t>)</a:t>
                </a:r>
                <a:r>
                  <a:rPr lang="en" sz="2200" dirty="0" smtClean="0"/>
                  <a:t> </a:t>
                </a:r>
                <a:r>
                  <a:rPr lang="ru-RU" sz="2200" dirty="0"/>
                  <a:t>прогнозирует </a:t>
                </a:r>
                <a:r>
                  <a:rPr lang="ru-RU" sz="2200" dirty="0" smtClean="0"/>
                  <a:t>трафик в пятницу, </a:t>
                </a:r>
                <a:r>
                  <a:rPr lang="ru-RU" sz="2200" i="1" dirty="0" smtClean="0"/>
                  <a:t>важность</a:t>
                </a:r>
                <a:r>
                  <a:rPr lang="en-US" sz="2200" i="1" dirty="0" smtClean="0"/>
                  <a:t> </a:t>
                </a:r>
                <a:r>
                  <a:rPr lang="ru-RU" sz="2200" i="1" dirty="0" smtClean="0"/>
                  <a:t>предыдущих значений </a:t>
                </a:r>
                <a:r>
                  <a:rPr lang="ru-RU" sz="2200" dirty="0" smtClean="0"/>
                  <a:t>пятниц </a:t>
                </a:r>
                <a:r>
                  <a:rPr lang="en-US" sz="2200" dirty="0" smtClean="0"/>
                  <a:t>(K)</a:t>
                </a:r>
                <a:r>
                  <a:rPr lang="ru-RU" sz="2200" dirty="0" smtClean="0"/>
                  <a:t> будет большой.</a:t>
                </a:r>
                <a:endParaRPr lang="en-US" sz="2200" dirty="0"/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r>
                      <a:rPr lang="en-US" sz="2200" i="1" dirty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=1/√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ru-RU" sz="2200" i="1" dirty="0">
                        <a:latin typeface="Cambria Math" panose="02040503050406030204" pitchFamily="18" charset="0"/>
                      </a:rPr>
                      <m:t> − </m:t>
                    </m:r>
                  </m:oMath>
                </a14:m>
                <a:r>
                  <a:rPr lang="ru-RU" sz="2200" dirty="0"/>
                  <a:t>размерность векторов</a:t>
                </a:r>
                <a:r>
                  <a:rPr lang="en-US" sz="2200" dirty="0"/>
                  <a:t> </a:t>
                </a:r>
                <a:endParaRPr lang="ru-RU" sz="2200" dirty="0"/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200" dirty="0"/>
                  <a:t>Интерпретация </a:t>
                </a:r>
                <a14:m>
                  <m:oMath xmlns:m="http://schemas.openxmlformats.org/officeDocument/2006/math">
                    <m:r>
                      <a:rPr lang="en-US" sz="2200" i="1" dirty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ru-RU" sz="2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ru-RU" sz="2200" dirty="0"/>
                  <a:t> – может меняться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200" dirty="0"/>
                  <a:t>Указанная </a:t>
                </a:r>
                <a:r>
                  <a:rPr lang="ru-RU" sz="2200" dirty="0" err="1"/>
                  <a:t>трактова</a:t>
                </a:r>
                <a:r>
                  <a:rPr lang="ru-RU" sz="2200" dirty="0"/>
                  <a:t> внимания – это т.н. </a:t>
                </a:r>
                <a:br>
                  <a:rPr lang="ru-RU" sz="2200" dirty="0"/>
                </a:br>
                <a:r>
                  <a:rPr lang="en-US" sz="2200" b="1" dirty="0"/>
                  <a:t>Encoder-decoder attention (</a:t>
                </a:r>
                <a:r>
                  <a:rPr lang="en-US" sz="2200" b="1" dirty="0" err="1"/>
                  <a:t>corss</a:t>
                </a:r>
                <a:r>
                  <a:rPr lang="en-US" sz="2200" b="1" dirty="0"/>
                  <a:t>-attention</a:t>
                </a:r>
                <a:r>
                  <a:rPr lang="en-US" sz="2200" b="1" dirty="0">
                    <a:latin typeface="Cambria Math" panose="02040503050406030204" pitchFamily="18" charset="0"/>
                  </a:rPr>
                  <a:t>)</a:t>
                </a:r>
                <a:endParaRPr lang="ru-RU" sz="2200" b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endParaRPr lang="ru-RU" sz="22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6CB84CAF-915D-223E-8BD5-3C8A6DF034A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7288" y="752422"/>
                <a:ext cx="11731086" cy="5683828"/>
              </a:xfrm>
              <a:blipFill>
                <a:blip r:embed="rId3"/>
                <a:stretch>
                  <a:fillRect l="-676" t="-64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72783A13-7FFF-46B6-5D83-5A332A10CBF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E3C1DC0-275A-F3EA-23CC-B8D7831E937A}"/>
              </a:ext>
            </a:extLst>
          </p:cNvPr>
          <p:cNvSpPr txBox="1"/>
          <p:nvPr/>
        </p:nvSpPr>
        <p:spPr>
          <a:xfrm>
            <a:off x="2013204" y="6436250"/>
            <a:ext cx="786079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1100" dirty="0"/>
              <a:t>https://</a:t>
            </a:r>
            <a:r>
              <a:rPr lang="en" sz="1100" dirty="0" err="1"/>
              <a:t>epichka.com</a:t>
            </a:r>
            <a:r>
              <a:rPr lang="en" sz="1100" dirty="0"/>
              <a:t>/blog/2023/</a:t>
            </a:r>
            <a:r>
              <a:rPr lang="en" sz="1100" dirty="0" err="1"/>
              <a:t>qkv</a:t>
            </a:r>
            <a:r>
              <a:rPr lang="en" sz="1100" dirty="0"/>
              <a:t>-transformer/</a:t>
            </a:r>
            <a:endParaRPr lang="ru-RU" sz="1100" dirty="0"/>
          </a:p>
        </p:txBody>
      </p:sp>
      <p:pic>
        <p:nvPicPr>
          <p:cNvPr id="5128" name="Picture 8" descr="cross_attention_">
            <a:extLst>
              <a:ext uri="{FF2B5EF4-FFF2-40B4-BE49-F238E27FC236}">
                <a16:creationId xmlns:a16="http://schemas.microsoft.com/office/drawing/2014/main" id="{CF4795A2-3425-32D3-4F1E-532AF0D13F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52831" y="3429000"/>
            <a:ext cx="5708609" cy="28543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5B14CF6-1C52-7877-66A6-9D30E8804FE6}"/>
              </a:ext>
            </a:extLst>
          </p:cNvPr>
          <p:cNvSpPr txBox="1"/>
          <p:nvPr/>
        </p:nvSpPr>
        <p:spPr>
          <a:xfrm>
            <a:off x="6248400" y="6436250"/>
            <a:ext cx="609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100" dirty="0" err="1"/>
              <a:t>https</a:t>
            </a:r>
            <a:r>
              <a:rPr lang="ru-RU" sz="1100" dirty="0"/>
              <a:t>://</a:t>
            </a:r>
            <a:r>
              <a:rPr lang="ru-RU" sz="1100" dirty="0" err="1"/>
              <a:t>www.geeksforgeeks.org</a:t>
            </a:r>
            <a:r>
              <a:rPr lang="ru-RU" sz="1100" dirty="0"/>
              <a:t>/</a:t>
            </a:r>
            <a:r>
              <a:rPr lang="ru-RU" sz="1100" dirty="0" err="1"/>
              <a:t>nlp</a:t>
            </a:r>
            <a:r>
              <a:rPr lang="ru-RU" sz="1100" dirty="0"/>
              <a:t>/</a:t>
            </a:r>
            <a:r>
              <a:rPr lang="ru-RU" sz="1100" dirty="0" err="1"/>
              <a:t>cross-attention-mechanism-in-transformers</a:t>
            </a:r>
            <a:r>
              <a:rPr lang="ru-RU" sz="1100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17482316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41554" y="149226"/>
            <a:ext cx="10515600" cy="529610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Пример работы слоя внимания </a:t>
            </a:r>
            <a:r>
              <a:rPr lang="en-US" b="1" dirty="0"/>
              <a:t>Encoder-decoder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137650" y="678836"/>
                <a:ext cx="11307098" cy="6045814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ru-RU" sz="1900" dirty="0" smtClean="0"/>
                  <a:t>Пусть есть </a:t>
                </a:r>
                <a:r>
                  <a:rPr lang="ru-RU" sz="1900" dirty="0"/>
                  <a:t>временной </a:t>
                </a:r>
                <a:r>
                  <a:rPr lang="ru-RU" sz="1900" dirty="0" smtClean="0"/>
                  <a:t>ряд:</a:t>
                </a:r>
                <a:r>
                  <a:rPr lang="en-US" sz="1900" dirty="0" smtClean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9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" sz="190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" sz="1900" i="1" dirty="0">
                        <a:latin typeface="Cambria Math" panose="02040503050406030204" pitchFamily="18" charset="0"/>
                      </a:rPr>
                      <m:t>​</m:t>
                    </m:r>
                    <m:r>
                      <a:rPr lang="en" sz="1900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ru-RU" sz="19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" sz="190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" sz="1900" i="1" dirty="0">
                            <a:latin typeface="Cambria Math" panose="02040503050406030204" pitchFamily="18" charset="0"/>
                          </a:rPr>
                          <m:t>​</m:t>
                        </m:r>
                      </m:sub>
                    </m:sSub>
                    <m:r>
                      <a:rPr lang="en" sz="1900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ru-RU" sz="19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" sz="190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" sz="1900" dirty="0"/>
                  <a:t>​</a:t>
                </a:r>
                <a:r>
                  <a:rPr lang="en" sz="1900" dirty="0" smtClean="0"/>
                  <a:t>,</a:t>
                </a:r>
              </a:p>
              <a:p>
                <a:pPr marL="0" indent="0">
                  <a:buNone/>
                </a:pPr>
                <a:r>
                  <a:rPr lang="ru-RU" sz="1900" dirty="0" smtClean="0"/>
                  <a:t>хотим </a:t>
                </a:r>
                <a:r>
                  <a:rPr lang="ru-RU" sz="1900" dirty="0"/>
                  <a:t>спрогнозировать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9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" sz="1900" i="1" dirty="0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en" sz="1900" dirty="0" smtClean="0"/>
                  <a:t>, </a:t>
                </a:r>
                <a:r>
                  <a:rPr lang="ru-RU" sz="1900" dirty="0"/>
                  <a:t>используя историю из 3 шагов:</a:t>
                </a:r>
              </a:p>
              <a:p>
                <a:r>
                  <a:rPr lang="en" sz="1900" dirty="0"/>
                  <a:t>Encoder: RNN </a:t>
                </a:r>
                <a:r>
                  <a:rPr lang="en" sz="1900" dirty="0" smtClean="0"/>
                  <a:t>, </a:t>
                </a:r>
                <a:r>
                  <a:rPr lang="ru-RU" sz="1900" dirty="0"/>
                  <a:t>обрабатывает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9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" sz="1900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" sz="1900" i="1" dirty="0">
                        <a:latin typeface="Cambria Math" panose="02040503050406030204" pitchFamily="18" charset="0"/>
                      </a:rPr>
                      <m:t>​,</m:t>
                    </m:r>
                    <m:sSub>
                      <m:sSubPr>
                        <m:ctrlPr>
                          <a:rPr lang="ru-RU" sz="19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" sz="1900" i="1" dirty="0">
                            <a:latin typeface="Cambria Math" panose="02040503050406030204" pitchFamily="18" charset="0"/>
                          </a:rPr>
                          <m:t>2​</m:t>
                        </m:r>
                      </m:sub>
                    </m:sSub>
                    <m:r>
                      <a:rPr lang="en" sz="1900" i="1" dirty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ru-RU" sz="19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" sz="1900" i="1" dirty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" sz="1900" dirty="0" smtClean="0"/>
                  <a:t>​</a:t>
                </a:r>
                <a:endParaRPr lang="ru-RU" sz="1900" dirty="0" smtClean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" sz="1900" i="1" dirty="0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" sz="1900" i="1" dirty="0" smtClean="0">
                          <a:latin typeface="Cambria Math" panose="02040503050406030204" pitchFamily="18" charset="0"/>
                        </a:rPr>
                        <m:t>1​=</m:t>
                      </m:r>
                      <m:d>
                        <m:dPr>
                          <m:begChr m:val="["/>
                          <m:endChr m:val="]"/>
                          <m:ctrlPr>
                            <a:rPr lang="en" sz="19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" sz="1900" i="1" dirty="0">
                              <a:latin typeface="Cambria Math" panose="02040503050406030204" pitchFamily="18" charset="0"/>
                            </a:rPr>
                            <m:t>0.1,0.9</m:t>
                          </m:r>
                        </m:e>
                      </m:d>
                      <m:r>
                        <a:rPr lang="en" sz="1900" i="1" dirty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ru-RU" sz="1900" b="0" i="1" dirty="0" smtClean="0"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" sz="1900" i="1" dirty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" sz="1900" i="1" dirty="0">
                          <a:latin typeface="Cambria Math" panose="02040503050406030204" pitchFamily="18" charset="0"/>
                        </a:rPr>
                        <m:t>2​=</m:t>
                      </m:r>
                      <m:d>
                        <m:dPr>
                          <m:begChr m:val="["/>
                          <m:endChr m:val="]"/>
                          <m:ctrlPr>
                            <a:rPr lang="en" sz="19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" sz="1900" i="1" dirty="0">
                              <a:latin typeface="Cambria Math" panose="02040503050406030204" pitchFamily="18" charset="0"/>
                            </a:rPr>
                            <m:t>0.4,0.6</m:t>
                          </m:r>
                        </m:e>
                      </m:d>
                      <m:r>
                        <a:rPr lang="en" sz="1900" i="1" dirty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ru-RU" sz="1900" b="0" i="1" dirty="0" smtClean="0"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" sz="1900" i="1" dirty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" sz="1900" i="1" dirty="0">
                          <a:latin typeface="Cambria Math" panose="02040503050406030204" pitchFamily="18" charset="0"/>
                        </a:rPr>
                        <m:t>3​=[0.8,0.2]</m:t>
                      </m:r>
                    </m:oMath>
                  </m:oMathPara>
                </a14:m>
                <a:endParaRPr lang="en" sz="1900" dirty="0"/>
              </a:p>
              <a:p>
                <a:r>
                  <a:rPr lang="en" sz="1900" dirty="0"/>
                  <a:t>Decoder: </a:t>
                </a:r>
                <a:r>
                  <a:rPr lang="ru-RU" sz="1900" dirty="0"/>
                  <a:t>генерирует </a:t>
                </a:r>
                <a:r>
                  <a:rPr lang="ru-RU" sz="1900" dirty="0" smtClean="0"/>
                  <a:t>прогнозы </a:t>
                </a:r>
                <a:r>
                  <a:rPr lang="ru-RU" sz="1900" dirty="0" err="1" smtClean="0"/>
                  <a:t>авторегрессионно</a:t>
                </a:r>
                <a:r>
                  <a:rPr lang="ru-RU" sz="1900" dirty="0" smtClean="0"/>
                  <a:t> 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ru-RU" sz="15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5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" sz="1500" i="1" dirty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ru-RU" sz="15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" sz="15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𝐿𝑖𝑛𝑒𝑎𝑟</m:t>
                    </m:r>
                    <m:d>
                      <m:dPr>
                        <m:ctrlPr>
                          <a:rPr lang="en" sz="15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" sz="15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</m:d>
                    <m:r>
                      <a:rPr lang="ru-RU" sz="1500" b="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ru-RU" sz="15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15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15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15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  <m:e>
                        <m:sSub>
                          <m:sSubPr>
                            <m:ctrlPr>
                              <a:rPr lang="en-US" sz="1500" b="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500" b="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1500" b="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sz="1500" b="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500" b="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sz="1500" b="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1500" dirty="0" smtClean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6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/>
                    </m:sSub>
                  </m:oMath>
                </a14:m>
                <a:r>
                  <a:rPr lang="en-US" sz="1600" dirty="0"/>
                  <a:t> - </a:t>
                </a:r>
                <a:r>
                  <a:rPr lang="ru-RU" sz="1600" dirty="0"/>
                  <a:t>веса </a:t>
                </a:r>
                <a:r>
                  <a:rPr lang="ru-RU" sz="1600" dirty="0" err="1"/>
                  <a:t>полносвязного</a:t>
                </a:r>
                <a:r>
                  <a:rPr lang="ru-RU" sz="1600" dirty="0"/>
                  <a:t> </a:t>
                </a:r>
                <a:r>
                  <a:rPr lang="ru-RU" sz="1600" dirty="0" smtClean="0"/>
                  <a:t>слоя</a:t>
                </a:r>
                <a:endParaRPr lang="ru-RU" sz="1500" dirty="0" smtClean="0"/>
              </a:p>
              <a:p>
                <a:r>
                  <a:rPr lang="ru-RU" sz="1900" dirty="0" smtClean="0"/>
                  <a:t>Пусть </a:t>
                </a:r>
                <a:r>
                  <a:rPr lang="ru-RU" sz="1900" dirty="0"/>
                  <a:t>размерность скрытых состояний </a:t>
                </a:r>
                <a:r>
                  <a:rPr lang="en" sz="1900" i="1" dirty="0"/>
                  <a:t>d</a:t>
                </a:r>
                <a:r>
                  <a:rPr lang="en" sz="1900" dirty="0"/>
                  <a:t>=2 ,</a:t>
                </a:r>
                <a:endParaRPr lang="ru-RU" sz="1900" dirty="0"/>
              </a:p>
              <a:p>
                <a:pPr marL="452438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sz="19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" sz="1900" i="1" dirty="0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" sz="1900" i="1" dirty="0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sub>
                      </m:sSub>
                      <m:r>
                        <a:rPr lang="en" sz="1900" i="1" dirty="0" smtClean="0">
                          <a:latin typeface="Cambria Math" panose="02040503050406030204" pitchFamily="18" charset="0"/>
                        </a:rPr>
                        <m:t>​=</m:t>
                      </m:r>
                      <m:d>
                        <m:dPr>
                          <m:begChr m:val="|"/>
                          <m:endChr m:val="|"/>
                          <m:ctrlP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" sz="1900" i="1" dirty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" sz="1900" i="1" dirty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" sz="1900" i="1" dirty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" sz="1900" i="1" dirty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" sz="1900" i="1" dirty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en" sz="1900" i="1" dirty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" sz="1900" i="1" dirty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" sz="1900" i="1" dirty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" sz="1900" i="1" dirty="0">
                              <a:latin typeface="Cambria Math" panose="02040503050406030204" pitchFamily="18" charset="0"/>
                            </a:rPr>
                            <m:t>​</m:t>
                          </m:r>
                        </m:sub>
                      </m:sSub>
                      <m:d>
                        <m:dPr>
                          <m:begChr m:val="|"/>
                          <m:endChr m:val="|"/>
                          <m:ctrlPr>
                            <a:rPr lang="en-US" sz="19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" sz="1900" i="1" dirty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" sz="1900" i="1" dirty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" sz="1900" i="1" dirty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" sz="1900" i="1" dirty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" sz="1900" i="1" dirty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en" sz="1900" i="1" dirty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" sz="1900" i="1" dirty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" sz="1900" i="1" dirty="0">
                              <a:latin typeface="Cambria Math" panose="02040503050406030204" pitchFamily="18" charset="0"/>
                            </a:rPr>
                            <m:t>𝑉</m:t>
                          </m:r>
                        </m:sub>
                      </m:sSub>
                      <m:r>
                        <a:rPr lang="en" sz="1900" i="1" dirty="0">
                          <a:latin typeface="Cambria Math" panose="02040503050406030204" pitchFamily="18" charset="0"/>
                        </a:rPr>
                        <m:t>​=</m:t>
                      </m:r>
                      <m:d>
                        <m:dPr>
                          <m:begChr m:val="|"/>
                          <m:endChr m:val="|"/>
                          <m:ctrlPr>
                            <a:rPr lang="en-US" sz="19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" sz="1900" i="1" dirty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900" b="0" i="1" dirty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en" sz="1900" i="1" dirty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" sz="1900" i="1" dirty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1900" b="0" i="1" dirty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" sz="1900" dirty="0"/>
              </a:p>
              <a:p>
                <a14:m>
                  <m:oMath xmlns:m="http://schemas.openxmlformats.org/officeDocument/2006/math">
                    <m:r>
                      <a:rPr lang="en" sz="1900" i="1" dirty="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" sz="1900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ru-RU" sz="19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" sz="1900" i="1" dirty="0">
                            <a:latin typeface="Cambria Math" panose="02040503050406030204" pitchFamily="18" charset="0"/>
                          </a:rPr>
                          <m:t>𝑄</m:t>
                        </m:r>
                      </m:sub>
                    </m:sSub>
                    <m:r>
                      <a:rPr lang="en" sz="1900" i="1" dirty="0">
                        <a:latin typeface="Cambria Math" panose="02040503050406030204" pitchFamily="18" charset="0"/>
                      </a:rPr>
                      <m:t>​⋅</m:t>
                    </m:r>
                    <m:sSub>
                      <m:sSubPr>
                        <m:ctrlPr>
                          <a:rPr lang="en-US" sz="19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" sz="1900" i="1" dirty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" sz="1900" i="1" dirty="0">
                        <a:latin typeface="Cambria Math" panose="02040503050406030204" pitchFamily="18" charset="0"/>
                      </a:rPr>
                      <m:t>​=[0.8,0.2]</m:t>
                    </m:r>
                  </m:oMath>
                </a14:m>
                <a:endParaRPr lang="en" sz="1900" dirty="0" smtClean="0"/>
              </a:p>
              <a:p>
                <a14:m>
                  <m:oMath xmlns:m="http://schemas.openxmlformats.org/officeDocument/2006/math">
                    <m:r>
                      <a:rPr lang="en-US" sz="1900" i="1" dirty="0">
                        <a:latin typeface="Cambria Math" panose="02040503050406030204" pitchFamily="18" charset="0"/>
                      </a:rPr>
                      <m:t>𝑠𝑐𝑜𝑟</m:t>
                    </m:r>
                    <m:sSub>
                      <m:sSubPr>
                        <m:ctrlPr>
                          <a:rPr lang="en-US" sz="19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900" i="1" dirty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1900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900" i="1" dirty="0">
                        <a:latin typeface="Cambria Math" panose="02040503050406030204" pitchFamily="18" charset="0"/>
                      </a:rPr>
                      <m:t> =</m:t>
                    </m:r>
                    <m:r>
                      <a:rPr lang="en-US" sz="1900" b="0" i="1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900" i="1" dirty="0">
                        <a:latin typeface="Cambria Math" panose="02040503050406030204" pitchFamily="18" charset="0"/>
                      </a:rPr>
                      <m:t>𝑄</m:t>
                    </m:r>
                    <m:sSubSup>
                      <m:sSubSupPr>
                        <m:ctrlPr>
                          <a:rPr lang="en-US" sz="1900" b="0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900" i="1" dirty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sz="1900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sz="1900" i="1" dirty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bSup>
                    <m:r>
                      <a:rPr lang="en-US" sz="1900" i="1" dirty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endParaRPr lang="en" sz="1900" dirty="0"/>
              </a:p>
              <a:p>
                <a:pPr lvl="1">
                  <a:lnSpc>
                    <a:spcPct val="100000"/>
                  </a:lnSpc>
                  <a:spcBef>
                    <a:spcPts val="0"/>
                  </a:spcBef>
                </a:pPr>
                <a14:m>
                  <m:oMath xmlns:m="http://schemas.openxmlformats.org/officeDocument/2006/math"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𝑠𝑐𝑜𝑟</m:t>
                    </m:r>
                    <m:sSub>
                      <m:sSubPr>
                        <m:ctrlP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" sz="190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​=</m:t>
                    </m:r>
                    <m:r>
                      <a:rPr lang="en-US" sz="1900" b="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0.707⋅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[0.8,0.2]⋅</m:t>
                    </m:r>
                    <m:sSup>
                      <m:sSupPr>
                        <m:ctrlP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" sz="190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" sz="190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0.1,0.9</m:t>
                            </m:r>
                          </m:e>
                        </m:d>
                      </m:e>
                      <m:sup>
                        <m: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0.707⋅</m:t>
                    </m:r>
                    <m:r>
                      <a:rPr lang="en-US" sz="1900" b="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0.8×0.1+0.2×0.9</m:t>
                    </m:r>
                    <m:r>
                      <a:rPr lang="en-US" sz="1900" b="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=0.</m:t>
                    </m:r>
                    <m:r>
                      <a:rPr lang="en-US" sz="1900" b="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8</m:t>
                    </m:r>
                  </m:oMath>
                </a14:m>
                <a:endParaRPr lang="en" sz="1900" dirty="0">
                  <a:solidFill>
                    <a:srgbClr val="2C2C36"/>
                  </a:solidFill>
                  <a:latin typeface="system-ui"/>
                </a:endParaRPr>
              </a:p>
              <a:p>
                <a:pPr lvl="1">
                  <a:lnSpc>
                    <a:spcPct val="100000"/>
                  </a:lnSpc>
                  <a:spcBef>
                    <a:spcPts val="0"/>
                  </a:spcBef>
                </a:pPr>
                <a14:m>
                  <m:oMath xmlns:m="http://schemas.openxmlformats.org/officeDocument/2006/math"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𝑠𝑐𝑜𝑟</m:t>
                    </m:r>
                    <m:sSub>
                      <m:sSubPr>
                        <m:ctrlP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" sz="190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​=</m:t>
                    </m:r>
                    <m:r>
                      <a:rPr lang="en-US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0.707⋅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[0.8,0.2]⋅</m:t>
                    </m:r>
                    <m:sSup>
                      <m:sSupPr>
                        <m:ctrlP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" sz="190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" sz="190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0.4,0.6</m:t>
                            </m:r>
                          </m:e>
                        </m:d>
                      </m:e>
                      <m:sup>
                        <m:r>
                          <a:rPr lang="en-US" sz="19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=0.</m:t>
                    </m:r>
                    <m:r>
                      <a:rPr lang="en-US" sz="1900" b="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311</m:t>
                    </m:r>
                  </m:oMath>
                </a14:m>
                <a:endParaRPr lang="en" sz="1900" dirty="0">
                  <a:solidFill>
                    <a:srgbClr val="2C2C36"/>
                  </a:solidFill>
                  <a:latin typeface="system-ui"/>
                </a:endParaRPr>
              </a:p>
              <a:p>
                <a:pPr lvl="1">
                  <a:lnSpc>
                    <a:spcPct val="100000"/>
                  </a:lnSpc>
                  <a:spcBef>
                    <a:spcPts val="0"/>
                  </a:spcBef>
                </a:pPr>
                <a14:m>
                  <m:oMath xmlns:m="http://schemas.openxmlformats.org/officeDocument/2006/math"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𝑠𝑐𝑜𝑟</m:t>
                    </m:r>
                    <m:sSub>
                      <m:sSubPr>
                        <m:ctrlP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" sz="190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​=</m:t>
                    </m:r>
                    <m:r>
                      <a:rPr lang="en-US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0.707⋅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[0.8,0.2]⋅</m:t>
                    </m:r>
                    <m:sSup>
                      <m:sSupPr>
                        <m:ctrlP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" sz="190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" sz="190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0.8,0.2</m:t>
                            </m:r>
                          </m:e>
                        </m:d>
                      </m:e>
                      <m:sup>
                        <m: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=0.</m:t>
                    </m:r>
                    <m:r>
                      <a:rPr lang="en-US" sz="1900" b="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4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8</m:t>
                    </m:r>
                  </m:oMath>
                </a14:m>
                <a:endParaRPr lang="en" sz="1900" dirty="0">
                  <a:solidFill>
                    <a:srgbClr val="2C2C36"/>
                  </a:solidFill>
                  <a:latin typeface="system-ui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sz="190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​=</m:t>
                    </m:r>
                    <m:r>
                      <a:rPr lang="en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𝑠𝑜𝑓𝑡𝑚𝑎𝑥</m:t>
                    </m:r>
                    <m:d>
                      <m:dPr>
                        <m:ctrlPr>
                          <a:rPr lang="en" sz="19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" sz="19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𝑠𝑐𝑜𝑟</m:t>
                        </m:r>
                        <m:sSub>
                          <m:sSubPr>
                            <m:ctrlPr>
                              <a:rPr lang="en-US" sz="1900" b="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" sz="1900" i="1" dirty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en-US" sz="1900" b="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" sz="19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​</m:t>
                        </m:r>
                      </m:e>
                    </m:d>
                    <m:r>
                      <a:rPr lang="en-US" sz="1900" b="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​</m:t>
                    </m:r>
                    <m:r>
                      <a:rPr lang="en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​</m:t>
                    </m:r>
                    <m:r>
                      <a:rPr lang="en-US" sz="1900" b="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1900" b="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0.28,0.32.0.38</m:t>
                        </m:r>
                      </m:e>
                    </m:d>
                  </m:oMath>
                </a14:m>
                <a:endParaRPr lang="en" sz="1900" dirty="0">
                  <a:solidFill>
                    <a:srgbClr val="2C2C36"/>
                  </a:solidFill>
                  <a:latin typeface="system-ui"/>
                </a:endParaRPr>
              </a:p>
              <a:p>
                <a14:m>
                  <m:oMath xmlns:m="http://schemas.openxmlformats.org/officeDocument/2006/math">
                    <m:r>
                      <a:rPr lang="en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en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" sz="19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19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19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  <m:e>
                        <m:sSub>
                          <m:sSubPr>
                            <m:ctrlPr>
                              <a:rPr lang="en-US" sz="1900" i="1" dirty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sz="1900" i="1" dirty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sz="1900" b="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sz="1900" i="1" dirty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900" i="1" dirty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US" sz="1900" b="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lang="ru-RU" sz="1900" i="1" dirty="0" smtClean="0">
                  <a:solidFill>
                    <a:srgbClr val="2C2C36"/>
                  </a:solidFill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" sz="1900" i="1" spc="-50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en" sz="1900" i="1" spc="-50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=0.28⋅[0.2,1.8]+0.32⋅[0.8,1.2]+0.38⋅[1.6,0.4] =[0.92,1.04]</m:t>
                    </m:r>
                  </m:oMath>
                </a14:m>
                <a:endParaRPr lang="en" sz="1900" dirty="0" smtClean="0">
                  <a:solidFill>
                    <a:srgbClr val="2C2C36"/>
                  </a:solidFill>
                  <a:latin typeface="system-ui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ru-RU" sz="19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" sz="1900" i="1" dirty="0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" sz="1900" i="1" dirty="0" smtClean="0">
                        <a:latin typeface="Cambria Math" panose="02040503050406030204" pitchFamily="18" charset="0"/>
                      </a:rPr>
                      <m:t>​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= 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𝐿𝑖𝑛𝑒𝑎𝑟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en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)=</m:t>
                    </m:r>
                    <m:sSub>
                      <m:sSubPr>
                        <m:ctrlP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" sz="19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​⋅0.9</m:t>
                    </m:r>
                    <m:r>
                      <a:rPr lang="en-US" sz="1900" b="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en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" sz="19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​⋅1.04</m:t>
                    </m:r>
                  </m:oMath>
                </a14:m>
                <a:r>
                  <a:rPr lang="en-US" sz="1900" dirty="0" smtClean="0"/>
                  <a:t>, </a:t>
                </a:r>
                <a:endParaRPr lang="ru-RU" sz="1900" dirty="0" smtClean="0"/>
              </a:p>
              <a:p>
                <a:endParaRPr lang="ru-RU" sz="1900" dirty="0"/>
              </a:p>
              <a:p>
                <a:endParaRPr lang="ru-RU" sz="19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37650" y="678836"/>
                <a:ext cx="11307098" cy="6045814"/>
              </a:xfrm>
              <a:blipFill>
                <a:blip r:embed="rId3"/>
                <a:stretch>
                  <a:fillRect l="-539" t="-131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Таблица 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4527878"/>
                  </p:ext>
                </p:extLst>
              </p:nvPr>
            </p:nvGraphicFramePr>
            <p:xfrm>
              <a:off x="6523145" y="2420068"/>
              <a:ext cx="5029758" cy="1318872"/>
            </p:xfrm>
            <a:graphic>
              <a:graphicData uri="http://schemas.openxmlformats.org/drawingml/2006/table">
                <a:tbl>
                  <a:tblPr/>
                  <a:tblGrid>
                    <a:gridCol w="360223">
                      <a:extLst>
                        <a:ext uri="{9D8B030D-6E8A-4147-A177-3AD203B41FA5}">
                          <a16:colId xmlns:a16="http://schemas.microsoft.com/office/drawing/2014/main" val="2299429922"/>
                        </a:ext>
                      </a:extLst>
                    </a:gridCol>
                    <a:gridCol w="987552">
                      <a:extLst>
                        <a:ext uri="{9D8B030D-6E8A-4147-A177-3AD203B41FA5}">
                          <a16:colId xmlns:a16="http://schemas.microsoft.com/office/drawing/2014/main" val="7508714"/>
                        </a:ext>
                      </a:extLst>
                    </a:gridCol>
                    <a:gridCol w="1645920">
                      <a:extLst>
                        <a:ext uri="{9D8B030D-6E8A-4147-A177-3AD203B41FA5}">
                          <a16:colId xmlns:a16="http://schemas.microsoft.com/office/drawing/2014/main" val="844120334"/>
                        </a:ext>
                      </a:extLst>
                    </a:gridCol>
                    <a:gridCol w="2036063">
                      <a:extLst>
                        <a:ext uri="{9D8B030D-6E8A-4147-A177-3AD203B41FA5}">
                          <a16:colId xmlns:a16="http://schemas.microsoft.com/office/drawing/2014/main" val="3342140378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" sz="1700" b="1" dirty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 </a:t>
                          </a:r>
                          <a:r>
                            <a:rPr lang="en" sz="1700" b="1" dirty="0" smtClean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n</a:t>
                          </a:r>
                          <a:r>
                            <a:rPr lang="en" sz="1700" b="1" dirty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 </a:t>
                          </a:r>
                          <a:endParaRPr lang="en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B0B3B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" sz="1700" b="1" dirty="0" smtClean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 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𝒉</m:t>
                                  </m:r>
                                </m:e>
                                <m:sub>
                                  <m:r>
                                    <a:rPr lang="en-US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𝒏</m:t>
                                  </m:r>
                                </m:sub>
                              </m:sSub>
                            </m:oMath>
                          </a14:m>
                          <a:r>
                            <a:rPr lang="en" sz="1700" b="1" dirty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 </a:t>
                          </a:r>
                          <a:endParaRPr lang="en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B0B3B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" sz="1700" b="1" dirty="0" smtClean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 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𝑲</m:t>
                                  </m:r>
                                </m:e>
                                <m:sub>
                                  <m:r>
                                    <a:rPr lang="en-US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𝒏</m:t>
                                  </m:r>
                                </m:sub>
                              </m:sSub>
                              <m:r>
                                <a:rPr lang="en" sz="1700" b="1" i="1" dirty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 = </m:t>
                              </m:r>
                              <m:sSub>
                                <m:sSubPr>
                                  <m:ctrlPr>
                                    <a:rPr lang="en" sz="1700" b="1" i="1" dirty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" sz="1700" b="1" i="1" dirty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𝑾</m:t>
                                  </m:r>
                                </m:e>
                                <m:sub>
                                  <m:r>
                                    <a:rPr lang="en" sz="1700" b="1" i="1" dirty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𝑲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𝒉</m:t>
                                  </m:r>
                                </m:e>
                                <m:sub>
                                  <m:r>
                                    <a:rPr lang="en-US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𝒏</m:t>
                                  </m:r>
                                </m:sub>
                              </m:sSub>
                            </m:oMath>
                          </a14:m>
                          <a:r>
                            <a:rPr lang="en" sz="1700" b="1" dirty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 </a:t>
                          </a:r>
                          <a:endParaRPr lang="en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B0B3B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" sz="1700" b="1" dirty="0" smtClean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 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𝑽</m:t>
                                  </m:r>
                                </m:e>
                                <m:sub>
                                  <m:r>
                                    <a:rPr lang="en-US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𝒏</m:t>
                                  </m:r>
                                </m:sub>
                              </m:sSub>
                              <m:r>
                                <a:rPr lang="en" sz="1700" b="1" i="1" dirty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 = </m:t>
                              </m:r>
                              <m:sSub>
                                <m:sSubPr>
                                  <m:ctrlPr>
                                    <a:rPr lang="en" sz="1700" b="1" i="1" dirty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" sz="1700" b="1" i="1" dirty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𝑾</m:t>
                                  </m:r>
                                </m:e>
                                <m:sub>
                                  <m:r>
                                    <a:rPr lang="en" sz="1700" b="1" i="1" dirty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𝑽</m:t>
                                  </m:r>
                                </m:sub>
                              </m:sSub>
                              <m:r>
                                <a:rPr lang="en" sz="1700" b="1" i="1" dirty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sSub>
                                <m:sSubPr>
                                  <m:ctrlPr>
                                    <a:rPr lang="en" sz="1700" b="1" i="1" dirty="0" err="1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" sz="1700" b="1" i="1" dirty="0" err="1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𝒉</m:t>
                                  </m:r>
                                </m:e>
                                <m:sub>
                                  <m:r>
                                    <a:rPr lang="en-US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𝒏</m:t>
                                  </m:r>
                                </m:sub>
                              </m:sSub>
                              <m:r>
                                <a:rPr lang="en" sz="1700" b="1" i="1" dirty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oMath>
                          </a14:m>
                          <a:endParaRPr lang="en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B0B3B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94546755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ru-RU" sz="1700" b="1" dirty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1</a:t>
                          </a:r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4D4D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[0.1, 0.9]</m:t>
                                </m:r>
                              </m:oMath>
                            </m:oMathPara>
                          </a14:m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[0.1, 0.9]</m:t>
                                </m:r>
                              </m:oMath>
                            </m:oMathPara>
                          </a14:m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[0.2, 1.8]</m:t>
                                </m:r>
                              </m:oMath>
                            </m:oMathPara>
                          </a14:m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48219310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ru-RU" sz="1700" b="1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2</a:t>
                          </a:r>
                          <a:endParaRPr lang="ru-RU" sz="170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4D4D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[0.4, 0.6]</m:t>
                                </m:r>
                              </m:oMath>
                            </m:oMathPara>
                          </a14:m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[0.4, 0.6]</m:t>
                                </m:r>
                              </m:oMath>
                            </m:oMathPara>
                          </a14:m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[0.8, 1.2]</m:t>
                                </m:r>
                              </m:oMath>
                            </m:oMathPara>
                          </a14:m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966234226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ru-RU" sz="1700" b="1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3</a:t>
                          </a:r>
                          <a:endParaRPr lang="ru-RU" sz="170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4D4D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[0.8, 0.2]</m:t>
                                </m:r>
                              </m:oMath>
                            </m:oMathPara>
                          </a14:m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[0.8, 0.2]</m:t>
                                </m:r>
                              </m:oMath>
                            </m:oMathPara>
                          </a14:m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[1.6, 0.4]</m:t>
                                </m:r>
                              </m:oMath>
                            </m:oMathPara>
                          </a14:m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1820328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Таблица 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4527878"/>
                  </p:ext>
                </p:extLst>
              </p:nvPr>
            </p:nvGraphicFramePr>
            <p:xfrm>
              <a:off x="6523145" y="2420068"/>
              <a:ext cx="5029758" cy="1350495"/>
            </p:xfrm>
            <a:graphic>
              <a:graphicData uri="http://schemas.openxmlformats.org/drawingml/2006/table">
                <a:tbl>
                  <a:tblPr/>
                  <a:tblGrid>
                    <a:gridCol w="360223">
                      <a:extLst>
                        <a:ext uri="{9D8B030D-6E8A-4147-A177-3AD203B41FA5}">
                          <a16:colId xmlns:a16="http://schemas.microsoft.com/office/drawing/2014/main" val="2299429922"/>
                        </a:ext>
                      </a:extLst>
                    </a:gridCol>
                    <a:gridCol w="987552">
                      <a:extLst>
                        <a:ext uri="{9D8B030D-6E8A-4147-A177-3AD203B41FA5}">
                          <a16:colId xmlns:a16="http://schemas.microsoft.com/office/drawing/2014/main" val="7508714"/>
                        </a:ext>
                      </a:extLst>
                    </a:gridCol>
                    <a:gridCol w="1645920">
                      <a:extLst>
                        <a:ext uri="{9D8B030D-6E8A-4147-A177-3AD203B41FA5}">
                          <a16:colId xmlns:a16="http://schemas.microsoft.com/office/drawing/2014/main" val="844120334"/>
                        </a:ext>
                      </a:extLst>
                    </a:gridCol>
                    <a:gridCol w="2036063">
                      <a:extLst>
                        <a:ext uri="{9D8B030D-6E8A-4147-A177-3AD203B41FA5}">
                          <a16:colId xmlns:a16="http://schemas.microsoft.com/office/drawing/2014/main" val="3342140378"/>
                        </a:ext>
                      </a:extLst>
                    </a:gridCol>
                  </a:tblGrid>
                  <a:tr h="361341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" sz="1700" b="1" dirty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 </a:t>
                          </a:r>
                          <a:r>
                            <a:rPr lang="en" sz="1700" b="1" dirty="0" smtClean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n</a:t>
                          </a:r>
                          <a:r>
                            <a:rPr lang="en" sz="1700" b="1" dirty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 </a:t>
                          </a:r>
                          <a:endParaRPr lang="en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B0B3B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37037" t="-5000" r="-374074" b="-298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81919" t="-5000" r="-123616" b="-298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47605" t="-5000" r="-299" b="-2983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94546755"/>
                      </a:ext>
                    </a:extLst>
                  </a:tr>
                  <a:tr h="329718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ru-RU" sz="1700" b="1" dirty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1</a:t>
                          </a:r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4D4D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37037" t="-116667" r="-374074" b="-23148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81919" t="-116667" r="-123616" b="-23148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47605" t="-116667" r="-299" b="-23148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48219310"/>
                      </a:ext>
                    </a:extLst>
                  </a:tr>
                  <a:tr h="329718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ru-RU" sz="1700" b="1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2</a:t>
                          </a:r>
                          <a:endParaRPr lang="ru-RU" sz="170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4D4D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37037" t="-212727" r="-374074" b="-12727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81919" t="-212727" r="-123616" b="-12727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47605" t="-212727" r="-299" b="-12727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66234226"/>
                      </a:ext>
                    </a:extLst>
                  </a:tr>
                  <a:tr h="329718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ru-RU" sz="1700" b="1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3</a:t>
                          </a:r>
                          <a:endParaRPr lang="ru-RU" sz="170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4D4D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37037" t="-318519" r="-374074" b="-2963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81919" t="-318519" r="-123616" b="-2963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47605" t="-318519" r="-299" b="-2963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1820328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46913A18-E42E-DC4F-696D-7667DB03A85C}"/>
              </a:ext>
            </a:extLst>
          </p:cNvPr>
          <p:cNvSpPr txBox="1"/>
          <p:nvPr/>
        </p:nvSpPr>
        <p:spPr>
          <a:xfrm>
            <a:off x="7286625" y="4992951"/>
            <a:ext cx="490537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b="0" i="0" dirty="0">
                <a:solidFill>
                  <a:srgbClr val="2C2C36"/>
                </a:solidFill>
                <a:effectLst/>
              </a:rPr>
              <a:t>При прогнозировании нагрузки на электросеть в 18:00, модель может "обратить внимание" на:</a:t>
            </a:r>
          </a:p>
          <a:p>
            <a:pPr marL="285750" lvl="1" indent="-285750"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2C2C36"/>
                </a:solidFill>
                <a:effectLst/>
              </a:rPr>
              <a:t>аналогичное время вчера,</a:t>
            </a:r>
          </a:p>
          <a:p>
            <a:pPr marL="285750" lvl="1" indent="-285750"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2C2C36"/>
                </a:solidFill>
                <a:effectLst/>
              </a:rPr>
              <a:t>пик в 19:00 прошлой пятницы (выходные),</a:t>
            </a:r>
          </a:p>
          <a:p>
            <a:pPr marL="285750" lvl="1" indent="-285750"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2C2C36"/>
                </a:solidFill>
                <a:effectLst/>
              </a:rPr>
              <a:t>резкий скачок из-за шторма неделю назад.</a:t>
            </a:r>
          </a:p>
        </p:txBody>
      </p:sp>
      <p:cxnSp>
        <p:nvCxnSpPr>
          <p:cNvPr id="7" name="Прямая соединительная линия 6"/>
          <p:cNvCxnSpPr/>
          <p:nvPr/>
        </p:nvCxnSpPr>
        <p:spPr>
          <a:xfrm flipV="1">
            <a:off x="7141915" y="4739148"/>
            <a:ext cx="29158" cy="211885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31645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46B2C3-9014-036C-C47A-00FDD26180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46AC2F7-7DD6-4F4B-39E7-F28DCA46B0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044" y="236131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ru-RU" dirty="0" smtClean="0"/>
              <a:t>одного блока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C35C589-C055-E0E5-21C6-39FDA2A3D68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87288" y="671449"/>
                <a:ext cx="11738012" cy="5683828"/>
              </a:xfrm>
            </p:spPr>
            <p:txBody>
              <a:bodyPr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b="1" dirty="0" smtClean="0">
                    <a:latin typeface="Cambria Math" panose="02040503050406030204" pitchFamily="18" charset="0"/>
                  </a:rPr>
                  <a:t>Гипотеза</a:t>
                </a:r>
                <a:r>
                  <a:rPr lang="ru-RU" sz="2200" dirty="0">
                    <a:latin typeface="Cambria Math" panose="02040503050406030204" pitchFamily="18" charset="0"/>
                  </a:rPr>
                  <a:t>: анализ набора скрытых </a:t>
                </a:r>
                <a:r>
                  <a:rPr lang="ru-RU" sz="2200" dirty="0" smtClean="0">
                    <a:latin typeface="Cambria Math" panose="02040503050406030204" pitchFamily="18" charset="0"/>
                  </a:rPr>
                  <a:t>состояний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200" i="1" dirty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ru-RU" sz="2200" dirty="0" smtClean="0">
                    <a:latin typeface="Cambria Math" panose="02040503050406030204" pitchFamily="18" charset="0"/>
                  </a:rPr>
                  <a:t>  </a:t>
                </a:r>
                <a:r>
                  <a:rPr lang="ru-RU" sz="2200" dirty="0">
                    <a:latin typeface="Cambria Math" panose="02040503050406030204" pitchFamily="18" charset="0"/>
                  </a:rPr>
                  <a:t>позволяет </a:t>
                </a:r>
                <a:r>
                  <a:rPr lang="ru-RU" sz="2200" dirty="0"/>
                  <a:t>выявить внутренние зависимости </a:t>
                </a:r>
                <a:r>
                  <a:rPr lang="ru-RU" sz="2200" dirty="0" smtClean="0"/>
                  <a:t>ВР при формировании состояния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200" dirty="0" smtClean="0"/>
                  <a:t> </a:t>
                </a:r>
                <a:r>
                  <a:rPr lang="ru-RU" sz="2200" dirty="0" smtClean="0"/>
                  <a:t>в </a:t>
                </a:r>
                <a:r>
                  <a:rPr lang="ru-RU" sz="2200" dirty="0" err="1" smtClean="0"/>
                  <a:t>энкодере</a:t>
                </a:r>
                <a:r>
                  <a:rPr lang="ru-RU" sz="2200" dirty="0" smtClean="0"/>
                  <a:t>. В том числе:</a:t>
                </a:r>
                <a:endParaRPr lang="en-US" sz="2200" dirty="0" smtClean="0"/>
              </a:p>
              <a:p>
                <a:pPr marL="457200" lvl="1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 smtClean="0"/>
                  <a:t>— Схожесть паттернов(регулярность</a:t>
                </a:r>
                <a:r>
                  <a:rPr lang="ru-RU" sz="2200" dirty="0"/>
                  <a:t>, сезонность)?</a:t>
                </a:r>
                <a:br>
                  <a:rPr lang="ru-RU" sz="2200" dirty="0"/>
                </a:br>
                <a:r>
                  <a:rPr lang="ru-RU" sz="2200" dirty="0"/>
                  <a:t>— </a:t>
                </a:r>
                <a:r>
                  <a:rPr lang="ru-RU" sz="2200" dirty="0" smtClean="0"/>
                  <a:t>Влияние прошлых паттернов на будущее (тренд</a:t>
                </a:r>
                <a:r>
                  <a:rPr lang="ru-RU" sz="2200" dirty="0"/>
                  <a:t>, новизна, цикличность)?</a:t>
                </a:r>
              </a:p>
              <a:p>
                <a:pPr marL="457200" lvl="1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/>
                  <a:t>— </a:t>
                </a:r>
                <a:r>
                  <a:rPr lang="ru-RU" sz="2200" dirty="0" smtClean="0"/>
                  <a:t>Выявление нерегулярных паттернов(аномалии)?</a:t>
                </a:r>
              </a:p>
              <a:p>
                <a:pPr marL="0" lvl="1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 smtClean="0"/>
                  <a:t>Такая </a:t>
                </a:r>
                <a:r>
                  <a:rPr lang="ru-RU" sz="2200" dirty="0"/>
                  <a:t>гипотеза называется </a:t>
                </a:r>
                <a:r>
                  <a:rPr lang="ru-RU" sz="2200" b="1" dirty="0" smtClean="0"/>
                  <a:t>само-внимание </a:t>
                </a:r>
                <a:r>
                  <a:rPr lang="en-US" sz="2200" b="1" dirty="0" smtClean="0"/>
                  <a:t>(self-attention)</a:t>
                </a:r>
                <a:r>
                  <a:rPr lang="ru-RU" sz="2200" b="1" dirty="0" smtClean="0"/>
                  <a:t>:</a:t>
                </a:r>
                <a:endParaRPr lang="ru-RU" sz="2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2200" b="0" i="1" dirty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sz="2200" dirty="0"/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en-US" sz="2200" dirty="0" err="1"/>
                  <a:t>где</a:t>
                </a:r>
                <a:r>
                  <a:rPr lang="ru-RU" sz="22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brk m:alnAt="25"/>
                          </m:rPr>
                          <a:rPr lang="en-US" sz="2200" i="1" dirty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brk m:alnAt="25"/>
                          </m:rPr>
                          <a:rPr lang="en-US" sz="2200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d>
                      <m:d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200" dirty="0"/>
                  <a:t> - </a:t>
                </a:r>
                <a:r>
                  <a:rPr lang="en-US" sz="2200" dirty="0" err="1"/>
                  <a:t>слой</a:t>
                </a:r>
                <a:r>
                  <a:rPr lang="ru-RU" sz="2200" dirty="0"/>
                  <a:t> задающий вектор текущих скрытых состояний из предыдущих </a:t>
                </a:r>
                <a14:m>
                  <m:oMath xmlns:m="http://schemas.openxmlformats.org/officeDocument/2006/math"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ru-RU" sz="2200" dirty="0"/>
                  <a:t> скрытых состояний</a:t>
                </a:r>
                <a:r>
                  <a:rPr lang="en-US" sz="2200" dirty="0" smtClean="0"/>
                  <a:t>;</a:t>
                </a:r>
                <a:endParaRPr lang="ru-RU" sz="2200" dirty="0" smtClean="0"/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/>
                  <a:t>	</a:t>
                </a:r>
                <a:r>
                  <a:rPr lang="ru-RU" sz="2200" dirty="0" smtClean="0"/>
                  <a:t>если кросс-внимание – дает предсказание, то </a:t>
                </a:r>
                <a:r>
                  <a:rPr lang="ru-RU" sz="2200" dirty="0" err="1" smtClean="0"/>
                  <a:t>самовнимание</a:t>
                </a:r>
                <a:r>
                  <a:rPr lang="ru-RU" sz="2200" dirty="0" smtClean="0"/>
                  <a:t> дает анализ</a:t>
                </a:r>
                <a:endParaRPr lang="en-US" sz="22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C35C589-C055-E0E5-21C6-39FDA2A3D68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7288" y="671449"/>
                <a:ext cx="11738012" cy="5683828"/>
              </a:xfrm>
              <a:blipFill>
                <a:blip r:embed="rId3"/>
                <a:stretch>
                  <a:fillRect l="-675" t="-85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D82902AE-9B6E-75B2-2701-491882EDFA7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F6009909-BBC8-0B2C-31DD-9B714C9E22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448" t="4920" r="24994" b="50310"/>
          <a:stretch/>
        </p:blipFill>
        <p:spPr bwMode="auto">
          <a:xfrm>
            <a:off x="40255" y="4522839"/>
            <a:ext cx="4782373" cy="20338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4501E1B-7386-56D1-CE84-9BC1335DEE1A}"/>
              </a:ext>
            </a:extLst>
          </p:cNvPr>
          <p:cNvSpPr txBox="1"/>
          <p:nvPr/>
        </p:nvSpPr>
        <p:spPr>
          <a:xfrm>
            <a:off x="1018799" y="6544271"/>
            <a:ext cx="609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100" dirty="0" err="1"/>
              <a:t>https</a:t>
            </a:r>
            <a:r>
              <a:rPr lang="ru-RU" sz="1100" dirty="0"/>
              <a:t>://</a:t>
            </a:r>
            <a:r>
              <a:rPr lang="ru-RU" sz="1100" dirty="0" err="1"/>
              <a:t>readmedium.com</a:t>
            </a:r>
            <a:r>
              <a:rPr lang="ru-RU" sz="1100" dirty="0"/>
              <a:t>/transformer-implementation-for-time-series-forecasting-a9db2db5c820</a:t>
            </a:r>
          </a:p>
        </p:txBody>
      </p:sp>
      <p:grpSp>
        <p:nvGrpSpPr>
          <p:cNvPr id="17" name="Группа 16"/>
          <p:cNvGrpSpPr/>
          <p:nvPr/>
        </p:nvGrpSpPr>
        <p:grpSpPr>
          <a:xfrm>
            <a:off x="4679778" y="4510746"/>
            <a:ext cx="4363558" cy="2216449"/>
            <a:chOff x="6096000" y="4584192"/>
            <a:chExt cx="3840480" cy="1962958"/>
          </a:xfrm>
        </p:grpSpPr>
        <p:pic>
          <p:nvPicPr>
            <p:cNvPr id="5" name="Picture 2">
              <a:extLst>
                <a:ext uri="{FF2B5EF4-FFF2-40B4-BE49-F238E27FC236}">
                  <a16:creationId xmlns:a16="http://schemas.microsoft.com/office/drawing/2014/main" id="{3706DF6B-AD59-A011-9894-54776250AE6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1045" t="49642" r="25397" b="-3450"/>
            <a:stretch>
              <a:fillRect/>
            </a:stretch>
          </p:blipFill>
          <p:spPr bwMode="auto">
            <a:xfrm>
              <a:off x="6096000" y="4584192"/>
              <a:ext cx="3840480" cy="19629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8" name="Прямая со стрелкой 7"/>
            <p:cNvCxnSpPr/>
            <p:nvPr/>
          </p:nvCxnSpPr>
          <p:spPr>
            <a:xfrm flipV="1">
              <a:off x="6815138" y="5181601"/>
              <a:ext cx="242887" cy="952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Прямая со стрелкой 10"/>
            <p:cNvCxnSpPr/>
            <p:nvPr/>
          </p:nvCxnSpPr>
          <p:spPr>
            <a:xfrm>
              <a:off x="7548563" y="5191126"/>
              <a:ext cx="21907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Прямая со стрелкой 11"/>
            <p:cNvCxnSpPr/>
            <p:nvPr/>
          </p:nvCxnSpPr>
          <p:spPr>
            <a:xfrm>
              <a:off x="8239125" y="5162551"/>
              <a:ext cx="2238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Прямая со стрелкой 15"/>
            <p:cNvCxnSpPr/>
            <p:nvPr/>
          </p:nvCxnSpPr>
          <p:spPr>
            <a:xfrm>
              <a:off x="8967787" y="5167314"/>
              <a:ext cx="2238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8" name="Picture 2">
              <a:extLst>
                <a:ext uri="{FF2B5EF4-FFF2-40B4-BE49-F238E27FC236}">
                  <a16:creationId xmlns:a16="http://schemas.microsoft.com/office/drawing/2014/main" id="{F6009909-BBC8-0B2C-31DD-9B714C9E223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5481" t="4258" r="48032" b="90371"/>
            <a:stretch/>
          </p:blipFill>
          <p:spPr bwMode="auto">
            <a:xfrm>
              <a:off x="8528049" y="4584192"/>
              <a:ext cx="503341" cy="21205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9" name="Стрелка вправо 18"/>
          <p:cNvSpPr/>
          <p:nvPr/>
        </p:nvSpPr>
        <p:spPr>
          <a:xfrm>
            <a:off x="4242125" y="5618970"/>
            <a:ext cx="711200" cy="23417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26" name="Picture 2" descr="Understanding and Coding the Self-Attention Mechanism of Large Language  Models From Scratch"/>
          <p:cNvPicPr>
            <a:picLocks noChangeAspect="1" noChangeArrowheads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54468" y="4397192"/>
            <a:ext cx="3134725" cy="2285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Прямоугольник 19"/>
          <p:cNvSpPr/>
          <p:nvPr/>
        </p:nvSpPr>
        <p:spPr>
          <a:xfrm>
            <a:off x="7114799" y="6587743"/>
            <a:ext cx="4810501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100" dirty="0"/>
              <a:t>https://sebastianraschka.com/blog/2023/self-attention-from-scratch.html</a:t>
            </a:r>
          </a:p>
        </p:txBody>
      </p:sp>
    </p:spTree>
    <p:extLst>
      <p:ext uri="{BB962C8B-B14F-4D97-AF65-F5344CB8AC3E}">
        <p14:creationId xmlns:p14="http://schemas.microsoft.com/office/powerpoint/2010/main" val="33014382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ru-RU" sz="3200" b="1" dirty="0"/>
              <a:t>Многоголовое внимание</a:t>
            </a:r>
            <a:endParaRPr lang="ru-RU" altLang="ru-RU" sz="3200" b="1" dirty="0">
              <a:solidFill>
                <a:srgbClr val="0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</p:spPr>
            <p:txBody>
              <a:bodyPr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b="1" dirty="0" smtClean="0">
                    <a:latin typeface="Cambria Math" panose="02040503050406030204" pitchFamily="18" charset="0"/>
                  </a:rPr>
                  <a:t>Гипотеза</a:t>
                </a:r>
                <a:r>
                  <a:rPr lang="ru-RU" sz="2200" dirty="0">
                    <a:latin typeface="Cambria Math" panose="02040503050406030204" pitchFamily="18" charset="0"/>
                  </a:rPr>
                  <a:t>: блок </a:t>
                </a:r>
                <a:r>
                  <a:rPr lang="ru-RU" sz="2200" dirty="0" err="1">
                    <a:latin typeface="Cambria Math" panose="02040503050406030204" pitchFamily="18" charset="0"/>
                  </a:rPr>
                  <a:t>самовнимания</a:t>
                </a:r>
                <a:r>
                  <a:rPr lang="ru-RU" sz="2200" dirty="0">
                    <a:latin typeface="Cambria Math" panose="02040503050406030204" pitchFamily="18" charset="0"/>
                  </a:rPr>
                  <a:t> формирует контекст как один признак временного ряда.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>
                    <a:latin typeface="Cambria Math" panose="02040503050406030204" pitchFamily="18" charset="0"/>
                  </a:rPr>
                  <a:t>По аналогии с  ансамблями (или каналами карт признаков в сверточных сетях) -  число формируемых признаков задается числом параллельных блоков </a:t>
                </a:r>
                <a:r>
                  <a:rPr lang="ru-RU" sz="2200" dirty="0" err="1">
                    <a:latin typeface="Cambria Math" panose="02040503050406030204" pitchFamily="18" charset="0"/>
                  </a:rPr>
                  <a:t>самовнимания</a:t>
                </a:r>
                <a:r>
                  <a:rPr lang="ru-RU" sz="2200" dirty="0">
                    <a:latin typeface="Cambria Math" panose="02040503050406030204" pitchFamily="18" charset="0"/>
                  </a:rPr>
                  <a:t>.</a:t>
                </a:r>
                <a:endParaRPr lang="ru-RU" sz="2200" dirty="0"/>
              </a:p>
              <a:p>
                <a:pPr marL="0" lvl="1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/>
                  <a:t>Такая гипотеза называется многоголовое-</a:t>
                </a:r>
                <a:r>
                  <a:rPr lang="ru-RU" sz="2200" b="1" dirty="0"/>
                  <a:t>само-внимание</a:t>
                </a:r>
                <a:r>
                  <a:rPr lang="en-US" sz="2200" b="1" dirty="0"/>
                  <a:t> (multi-head self attention)</a:t>
                </a:r>
                <a:r>
                  <a:rPr lang="ru-RU" sz="2200" b="1" dirty="0"/>
                  <a:t>:</a:t>
                </a:r>
                <a:endParaRPr lang="ru-RU" sz="2200" i="1" dirty="0">
                  <a:latin typeface="Cambria Math" panose="02040503050406030204" pitchFamily="18" charset="0"/>
                </a:endParaRPr>
              </a:p>
              <a:p>
                <a:pPr marL="0" indent="0" algn="l" rtl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n-US" sz="2000" i="1" dirty="0" err="1" smtClean="0">
                          <a:latin typeface="Cambria Math" panose="02040503050406030204" pitchFamily="18" charset="0"/>
                        </a:rPr>
                        <m:t>𝑀𝑢𝑙𝑡𝑖𝐻𝑒𝑎𝑑</m:t>
                      </m:r>
                      <m:d>
                        <m:dPr>
                          <m:ctrlPr>
                            <a:rPr lang="en-US" sz="20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 dirty="0" smtClean="0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</m:d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= </m:t>
                      </m:r>
                      <m:sSup>
                        <m:sSupPr>
                          <m:ctrlPr>
                            <a:rPr lang="en-US" sz="20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p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𝑂</m:t>
                          </m:r>
                        </m:sup>
                      </m:sSup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sz="2000" i="1" dirty="0" err="1">
                          <a:latin typeface="Cambria Math" panose="02040503050406030204" pitchFamily="18" charset="0"/>
                        </a:rPr>
                        <m:t>𝑐𝑜𝑛𝑐𝑎𝑡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𝑒𝑎</m:t>
                          </m:r>
                          <m:sSub>
                            <m:sSubPr>
                              <m:ctrlP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; …; </m:t>
                          </m:r>
                          <m:r>
                            <a:rPr lang="en-US" sz="2000" i="1" dirty="0" err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2000" i="1" dirty="0" err="1">
                              <a:latin typeface="Cambria Math" panose="02040503050406030204" pitchFamily="18" charset="0"/>
                            </a:rPr>
                            <m:t>𝑒𝑎</m:t>
                          </m:r>
                          <m:sSub>
                            <m:sSubPr>
                              <m:ctrlPr>
                                <a:rPr lang="en-US" sz="2000" i="1" dirty="0" err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 dirty="0" err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sz="2000" i="1" dirty="0" err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e>
                      </m:d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,  </m:t>
                      </m:r>
                    </m:oMath>
                  </m:oMathPara>
                </a14:m>
                <a:endParaRPr lang="ru-RU" sz="2000" dirty="0"/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ru-RU" sz="2000" dirty="0"/>
                  <a:t>где</a:t>
                </a:r>
                <a:r>
                  <a:rPr lang="en-US" sz="2000" dirty="0"/>
                  <a:t>: 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𝑒𝑎</m:t>
                    </m:r>
                    <m:sSub>
                      <m:sSubPr>
                        <m:ctrlPr>
                          <a:rPr lang="en-US" sz="20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 dirty="0">
                        <a:latin typeface="Cambria Math" panose="02040503050406030204" pitchFamily="18" charset="0"/>
                      </a:rPr>
                      <m:t>= </m:t>
                    </m:r>
                    <m:r>
                      <a:rPr lang="en-US" sz="2000" i="1" dirty="0" err="1">
                        <a:latin typeface="Cambria Math" panose="02040503050406030204" pitchFamily="18" charset="0"/>
                      </a:rPr>
                      <m:t>𝑠𝑜𝑓𝑡𝑚𝑎𝑥</m:t>
                    </m:r>
                    <m:d>
                      <m:d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𝜆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𝑄</m:t>
                        </m:r>
                        <m:sSup>
                          <m:sSup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p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⊤</m:t>
                            </m:r>
                          </m:sup>
                        </m:sSup>
                      </m:e>
                    </m:d>
                    <m:r>
                      <a:rPr lang="en-US" sz="2000" i="1" dirty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ru-RU" sz="2000" dirty="0"/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𝑂</m:t>
                        </m:r>
                      </m:sup>
                    </m:sSup>
                  </m:oMath>
                </a14:m>
                <a:r>
                  <a:rPr lang="en-US" sz="2000" dirty="0"/>
                  <a:t> - </a:t>
                </a:r>
                <a:r>
                  <a:rPr lang="en-US" sz="2000" dirty="0" err="1"/>
                  <a:t>матрица</a:t>
                </a:r>
                <a:r>
                  <a:rPr lang="en-US" sz="2000" dirty="0"/>
                  <a:t> </a:t>
                </a:r>
                <a:r>
                  <a:rPr lang="en-US" sz="2000" dirty="0" err="1" smtClean="0"/>
                  <a:t>весов</a:t>
                </a:r>
                <a:r>
                  <a:rPr lang="ru-RU" sz="2000" dirty="0" smtClean="0"/>
                  <a:t> каждой головы</a:t>
                </a:r>
                <a:r>
                  <a:rPr lang="en-US" sz="2000" dirty="0" smtClean="0"/>
                  <a:t>.</a:t>
                </a:r>
                <a:endParaRPr lang="ru-RU" sz="2000" dirty="0"/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en-US" sz="2000" dirty="0"/>
                  <a:t> Пример простой сети с многоголовым вниманием</a:t>
                </a:r>
                <a:endParaRPr lang="ru-RU" sz="20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  <a:blipFill>
                <a:blip r:embed="rId3"/>
                <a:stretch>
                  <a:fillRect l="-670" t="-69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5935" y="3185651"/>
            <a:ext cx="5320757" cy="3101241"/>
          </a:xfrm>
          <a:prstGeom prst="rect">
            <a:avLst/>
          </a:prstGeom>
        </p:spPr>
      </p:pic>
      <p:sp>
        <p:nvSpPr>
          <p:cNvPr id="22" name="Прямоугольник 21"/>
          <p:cNvSpPr/>
          <p:nvPr/>
        </p:nvSpPr>
        <p:spPr>
          <a:xfrm>
            <a:off x="8856173" y="2834858"/>
            <a:ext cx="319356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200" dirty="0"/>
              <a:t>https://www.mdpi.com/1996-1073/13/18/4722</a:t>
            </a:r>
          </a:p>
        </p:txBody>
      </p:sp>
      <p:pic>
        <p:nvPicPr>
          <p:cNvPr id="23" name="Рисунок 2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0375" y="3630484"/>
            <a:ext cx="5068504" cy="2259039"/>
          </a:xfrm>
          <a:prstGeom prst="rect">
            <a:avLst/>
          </a:prstGeom>
        </p:spPr>
      </p:pic>
      <p:sp>
        <p:nvSpPr>
          <p:cNvPr id="25" name="Прямоугольник 24"/>
          <p:cNvSpPr/>
          <p:nvPr/>
        </p:nvSpPr>
        <p:spPr>
          <a:xfrm>
            <a:off x="8239506" y="2946465"/>
            <a:ext cx="289053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solidFill>
                  <a:srgbClr val="111827"/>
                </a:solidFill>
                <a:latin typeface="system-ui"/>
              </a:rPr>
              <a:t>Attention-augmented RNN</a:t>
            </a:r>
            <a:endParaRPr lang="ru-RU" dirty="0"/>
          </a:p>
        </p:txBody>
      </p:sp>
      <p:sp>
        <p:nvSpPr>
          <p:cNvPr id="26" name="TextBox 25"/>
          <p:cNvSpPr txBox="1"/>
          <p:nvPr/>
        </p:nvSpPr>
        <p:spPr>
          <a:xfrm>
            <a:off x="155576" y="6154197"/>
            <a:ext cx="117697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err="1" smtClean="0"/>
              <a:t>Самовнимание</a:t>
            </a:r>
            <a:r>
              <a:rPr lang="ru-RU" dirty="0" smtClean="0"/>
              <a:t> аналогично адаптивной ядерной фильтрации ВР – цель фильтрации выделение одного паттерна</a:t>
            </a:r>
          </a:p>
          <a:p>
            <a:r>
              <a:rPr lang="ru-RU" dirty="0" smtClean="0"/>
              <a:t>Цель многоголового </a:t>
            </a:r>
            <a:r>
              <a:rPr lang="ru-RU" dirty="0" err="1" smtClean="0"/>
              <a:t>самовнимания</a:t>
            </a:r>
            <a:r>
              <a:rPr lang="ru-RU" dirty="0" smtClean="0"/>
              <a:t> – выделение набора паттернов во ВР</a:t>
            </a:r>
            <a:endParaRPr lang="ru-RU" dirty="0"/>
          </a:p>
        </p:txBody>
      </p:sp>
      <p:pic>
        <p:nvPicPr>
          <p:cNvPr id="27" name="Рисунок 2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10375" y="2490929"/>
            <a:ext cx="5155621" cy="3675139"/>
          </a:xfrm>
          <a:prstGeom prst="rect">
            <a:avLst/>
          </a:prstGeom>
        </p:spPr>
      </p:pic>
      <p:sp>
        <p:nvSpPr>
          <p:cNvPr id="28" name="Прямоугольник 27"/>
          <p:cNvSpPr/>
          <p:nvPr/>
        </p:nvSpPr>
        <p:spPr>
          <a:xfrm>
            <a:off x="8856173" y="5542906"/>
            <a:ext cx="2619692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400" dirty="0"/>
              <a:t>https://arxiv.org/pdf/2205.01138</a:t>
            </a:r>
          </a:p>
        </p:txBody>
      </p:sp>
    </p:spTree>
    <p:extLst>
      <p:ext uri="{BB962C8B-B14F-4D97-AF65-F5344CB8AC3E}">
        <p14:creationId xmlns:p14="http://schemas.microsoft.com/office/powerpoint/2010/main" val="3137318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28600" y="177801"/>
            <a:ext cx="11125200" cy="635000"/>
          </a:xfrm>
        </p:spPr>
        <p:txBody>
          <a:bodyPr>
            <a:normAutofit fontScale="90000"/>
          </a:bodyPr>
          <a:lstStyle/>
          <a:p>
            <a:pPr algn="ctr"/>
            <a:r>
              <a:rPr lang="ru-RU" dirty="0" smtClean="0"/>
              <a:t>Идеи перехода от </a:t>
            </a:r>
            <a:r>
              <a:rPr lang="en-US" dirty="0" smtClean="0"/>
              <a:t>RNN </a:t>
            </a:r>
            <a:r>
              <a:rPr lang="ru-RU" dirty="0" smtClean="0"/>
              <a:t>к авторегрессии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228600" y="812801"/>
                <a:ext cx="11884742" cy="563183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ru-RU" sz="2200" b="1" dirty="0" smtClean="0"/>
                  <a:t>Рассмотрим слой </a:t>
                </a:r>
                <a:r>
                  <a:rPr lang="en-US" sz="2200" b="1" dirty="0" smtClean="0"/>
                  <a:t>RNN c </a:t>
                </a:r>
                <a:r>
                  <a:rPr lang="ru-RU" sz="2200" b="1" dirty="0" err="1" smtClean="0"/>
                  <a:t>самовниманием</a:t>
                </a:r>
                <a:endParaRPr lang="ru-RU" sz="2200" b="1" dirty="0" smtClean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</m:e>
                      </m:d>
                      <m:r>
                        <a:rPr lang="ru-RU" sz="22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</m:d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limLoc m:val="subSup"/>
                              <m:ctrlPr>
                                <a:rPr lang="ru-RU" sz="2200" i="1" dirty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sub>
                            <m:sup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nary>
                            <m:naryPr>
                              <m:chr m:val="∑"/>
                              <m:limLoc m:val="subSup"/>
                              <m:ctrlPr>
                                <a:rPr lang="ru-RU" sz="2200" i="1" dirty="0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5"/>
                                </m:rP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m:rPr>
                                  <m:brk m:alnAt="25"/>
                                </m:rP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</m:oMath>
                  </m:oMathPara>
                </a14:m>
                <a:endParaRPr lang="ru-RU" sz="2200" dirty="0" smtClean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sz="22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3"/>
                          </m:rPr>
                          <a:rPr lang="en-US" sz="2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p>
                      <m:e>
                        <m:sSub>
                          <m:sSubPr>
                            <m:ctrlP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ru-RU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+1</m:t>
                            </m:r>
                            <m:r>
                              <a:rPr lang="en-US" sz="22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200" dirty="0" smtClean="0"/>
                  <a:t>, </a:t>
                </a:r>
                <a:endParaRPr lang="ru-RU" sz="2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sz="2200" dirty="0" smtClean="0"/>
                  <a:t>где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2200" dirty="0" smtClean="0"/>
                  <a:t> – </a:t>
                </a:r>
                <a:r>
                  <a:rPr lang="ru-RU" sz="2200" dirty="0" smtClean="0"/>
                  <a:t>размер вектора </a:t>
                </a:r>
                <a14:m>
                  <m:oMath xmlns:m="http://schemas.openxmlformats.org/officeDocument/2006/math">
                    <m:r>
                      <a:rPr lang="ru-RU" sz="2200" i="1" dirty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2200" b="0" i="0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200" b="0" i="0" dirty="0" smtClean="0">
                        <a:latin typeface="Cambria Math" panose="02040503050406030204" pitchFamily="18" charset="0"/>
                      </a:rPr>
                      <m:t> −</m:t>
                    </m:r>
                    <m:r>
                      <a:rPr lang="ru-RU" sz="2200" b="0" i="0" dirty="0" smtClean="0">
                        <a:latin typeface="Cambria Math" panose="02040503050406030204" pitchFamily="18" charset="0"/>
                      </a:rPr>
                      <m:t>коэффициент учитывающий</m:t>
                    </m:r>
                    <m:r>
                      <a:rPr lang="ru-RU" sz="22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𝛼</m:t>
                    </m:r>
                    <m:sSup>
                      <m:sSupPr>
                        <m:ctrlPr>
                          <a:rPr lang="en-US" sz="22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200" b="0" i="0" dirty="0" smtClean="0">
                            <a:latin typeface="Cambria Math" panose="02040503050406030204" pitchFamily="18" charset="0"/>
                          </a:rPr>
                          <m:t>W</m:t>
                        </m:r>
                      </m:e>
                      <m:sup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𝑉</m:t>
                        </m:r>
                      </m:sup>
                    </m:sSup>
                    <m:r>
                      <a:rPr lang="ru-RU" sz="2200" b="0" i="0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ru-RU" sz="2200" dirty="0" smtClean="0"/>
              </a:p>
              <a:p>
                <a:pPr lvl="1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000" dirty="0" smtClean="0"/>
                  <a:t>По сути это выражение представляет собой </a:t>
                </a:r>
                <a:r>
                  <a:rPr lang="en-US" sz="2000" dirty="0" smtClean="0"/>
                  <a:t>AR-NET </a:t>
                </a:r>
                <a:r>
                  <a:rPr lang="ru-RU" sz="2000" dirty="0" smtClean="0"/>
                  <a:t>с экзогенными факторами </a:t>
                </a:r>
              </a:p>
              <a:p>
                <a:pPr lvl="1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000" dirty="0" smtClean="0"/>
                  <a:t>и динамически рассчитываемыми коэффициентами </a:t>
                </a:r>
                <a14:m>
                  <m:oMath xmlns:m="http://schemas.openxmlformats.org/officeDocument/2006/math">
                    <m:r>
                      <a:rPr lang="en-US" sz="2000" i="1" dirty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endParaRPr lang="en-US" sz="2000" dirty="0" smtClean="0"/>
              </a:p>
              <a:p>
                <a:pPr marL="0" indent="0">
                  <a:buNone/>
                </a:pPr>
                <a:r>
                  <a:rPr lang="ru-RU" sz="2200" b="1" dirty="0" smtClean="0"/>
                  <a:t>Гипотеза</a:t>
                </a:r>
                <a:r>
                  <a:rPr lang="ru-RU" sz="2200" dirty="0" smtClean="0"/>
                  <a:t>: Если есть </a:t>
                </a:r>
                <a:r>
                  <a:rPr lang="ru-RU" sz="2200" dirty="0" err="1" smtClean="0"/>
                  <a:t>самовнимание</a:t>
                </a:r>
                <a:r>
                  <a:rPr lang="ru-RU" sz="2200" dirty="0" smtClean="0"/>
                  <a:t> и кросс-внимание, </a:t>
                </a:r>
                <a:r>
                  <a:rPr lang="en-US" sz="2200" dirty="0" smtClean="0"/>
                  <a:t>RNN </a:t>
                </a:r>
                <a:r>
                  <a:rPr lang="ru-RU" sz="2200" dirty="0" smtClean="0"/>
                  <a:t>не нужно.</a:t>
                </a:r>
              </a:p>
              <a:p>
                <a:pPr lvl="2"/>
                <a:r>
                  <a:rPr lang="ru-RU" sz="2200" dirty="0"/>
                  <a:t>Внимание уже задает необходимый контекст.</a:t>
                </a:r>
              </a:p>
              <a:p>
                <a:pPr lvl="2"/>
                <a:r>
                  <a:rPr lang="en-US" sz="2200" dirty="0"/>
                  <a:t>MLP </a:t>
                </a:r>
                <a:r>
                  <a:rPr lang="ru-RU" sz="2200" dirty="0"/>
                  <a:t>слой удобнее – позволяет </a:t>
                </a:r>
                <a:r>
                  <a:rPr lang="ru-RU" sz="2200" dirty="0" smtClean="0"/>
                  <a:t>обрабатывать </a:t>
                </a:r>
                <a:r>
                  <a:rPr lang="ru-RU" sz="2200" dirty="0"/>
                  <a:t>данные параллельно,</a:t>
                </a:r>
              </a:p>
              <a:p>
                <a:pPr lvl="2"/>
                <a:r>
                  <a:rPr lang="ru-RU" sz="2200" dirty="0"/>
                  <a:t>Нет проблем с рекуррентным обучением</a:t>
                </a:r>
                <a:r>
                  <a:rPr lang="ru-RU" sz="2200" dirty="0" smtClean="0"/>
                  <a:t>.</a:t>
                </a:r>
              </a:p>
              <a:p>
                <a:pPr lvl="2"/>
                <a:r>
                  <a:rPr lang="ru-RU" sz="2200" b="1" dirty="0" smtClean="0"/>
                  <a:t>Однако</a:t>
                </a:r>
                <a:r>
                  <a:rPr lang="ru-RU" sz="2200" dirty="0" smtClean="0"/>
                  <a:t>, нужно учитывать последовательный характер данных.</a:t>
                </a:r>
              </a:p>
              <a:p>
                <a:pPr lvl="3"/>
                <a:r>
                  <a:rPr lang="ru-RU" sz="2000" dirty="0" smtClean="0"/>
                  <a:t>Для этого можно «пометить» позицию каждого положения окна, идущего по ВР</a:t>
                </a:r>
                <a:endParaRPr lang="ru-RU" sz="2000" dirty="0"/>
              </a:p>
              <a:p>
                <a:pPr marL="0" indent="0">
                  <a:buNone/>
                </a:pPr>
                <a:r>
                  <a:rPr lang="ru-RU" sz="2200" dirty="0" smtClean="0"/>
                  <a:t>Реализация гипотезы – идея архитектуры </a:t>
                </a:r>
                <a:r>
                  <a:rPr lang="ru-RU" sz="2200" b="1" dirty="0" err="1"/>
                  <a:t>Трансформер</a:t>
                </a:r>
                <a:r>
                  <a:rPr lang="ru-RU" sz="2200" b="1" dirty="0"/>
                  <a:t> </a:t>
                </a:r>
                <a:r>
                  <a:rPr lang="ru-RU" sz="2200" dirty="0"/>
                  <a:t>(</a:t>
                </a:r>
                <a:r>
                  <a:rPr lang="en-US" sz="2200" dirty="0"/>
                  <a:t>Transformer Architecture</a:t>
                </a:r>
                <a:r>
                  <a:rPr lang="ru-RU" sz="2200" dirty="0"/>
                  <a:t>)</a:t>
                </a:r>
                <a:br>
                  <a:rPr lang="ru-RU" sz="2200" dirty="0"/>
                </a:br>
                <a:endParaRPr lang="ru-RU" sz="22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28600" y="812801"/>
                <a:ext cx="11884742" cy="5631835"/>
              </a:xfrm>
              <a:blipFill>
                <a:blip r:embed="rId2"/>
                <a:stretch>
                  <a:fillRect l="-667" t="-129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248081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85135" y="206477"/>
            <a:ext cx="11523407" cy="560439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 smtClean="0"/>
              <a:t>Идеи Блока </a:t>
            </a:r>
            <a:r>
              <a:rPr lang="ru-RU" b="1" dirty="0" err="1" smtClean="0"/>
              <a:t>Трансформер</a:t>
            </a:r>
            <a:endParaRPr lang="ru-RU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7325" y="757084"/>
            <a:ext cx="5462832" cy="589947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200" b="1" dirty="0" smtClean="0"/>
              <a:t>Цель: </a:t>
            </a:r>
            <a:r>
              <a:rPr lang="ru-RU" sz="2200" dirty="0" smtClean="0"/>
              <a:t>выделить набор признаков</a:t>
            </a:r>
            <a:endParaRPr lang="ru-RU" sz="2200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4772" y="1858298"/>
            <a:ext cx="6395948" cy="4808090"/>
          </a:xfrm>
          <a:prstGeom prst="rect">
            <a:avLst/>
          </a:prstGeom>
        </p:spPr>
      </p:pic>
      <p:cxnSp>
        <p:nvCxnSpPr>
          <p:cNvPr id="9" name="Прямая соединительная линия 8"/>
          <p:cNvCxnSpPr/>
          <p:nvPr/>
        </p:nvCxnSpPr>
        <p:spPr>
          <a:xfrm>
            <a:off x="5645022" y="884962"/>
            <a:ext cx="43543" cy="595811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983638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85135" y="206477"/>
            <a:ext cx="11523407" cy="560439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 smtClean="0"/>
              <a:t>Идеи архитектуры </a:t>
            </a:r>
            <a:r>
              <a:rPr lang="ru-RU" b="1" dirty="0" err="1" smtClean="0"/>
              <a:t>Трансформер</a:t>
            </a:r>
            <a:endParaRPr lang="ru-RU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65982" y="766916"/>
            <a:ext cx="11761711" cy="254655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200" b="1" dirty="0" smtClean="0"/>
              <a:t>Цель: </a:t>
            </a:r>
            <a:r>
              <a:rPr lang="ru-RU" sz="2200" dirty="0" smtClean="0"/>
              <a:t>обработка последовательности  с сохранением порядка без рекуррентных связей</a:t>
            </a:r>
          </a:p>
          <a:p>
            <a:pPr marL="0" indent="0">
              <a:buNone/>
            </a:pPr>
            <a:r>
              <a:rPr lang="ru-RU" sz="2200" dirty="0" smtClean="0"/>
              <a:t>Слой составим из блоков </a:t>
            </a:r>
            <a:r>
              <a:rPr lang="ru-RU" sz="2200" dirty="0" err="1" smtClean="0"/>
              <a:t>самованимание</a:t>
            </a:r>
            <a:r>
              <a:rPr lang="ru-RU" sz="2200" dirty="0" smtClean="0"/>
              <a:t>-</a:t>
            </a:r>
            <a:r>
              <a:rPr lang="en-US" sz="2200" dirty="0" smtClean="0"/>
              <a:t>&gt;</a:t>
            </a:r>
            <a:r>
              <a:rPr lang="ru-RU" sz="2200" dirty="0" smtClean="0"/>
              <a:t>нормировка -</a:t>
            </a:r>
            <a:r>
              <a:rPr lang="en-US" sz="2200" dirty="0" smtClean="0"/>
              <a:t>&gt; </a:t>
            </a:r>
            <a:r>
              <a:rPr lang="ru-RU" sz="2200" dirty="0" err="1" smtClean="0"/>
              <a:t>полносвязная</a:t>
            </a:r>
            <a:r>
              <a:rPr lang="ru-RU" sz="2200" dirty="0" smtClean="0"/>
              <a:t> сеть</a:t>
            </a:r>
            <a:r>
              <a:rPr lang="ru-RU" sz="2200" dirty="0"/>
              <a:t>-</a:t>
            </a:r>
            <a:r>
              <a:rPr lang="en-US" sz="2200" dirty="0"/>
              <a:t>&gt;</a:t>
            </a:r>
            <a:r>
              <a:rPr lang="ru-RU" sz="2200" dirty="0" smtClean="0"/>
              <a:t>нормировка</a:t>
            </a:r>
            <a:endParaRPr lang="ru-RU" sz="2200" dirty="0"/>
          </a:p>
        </p:txBody>
      </p:sp>
      <p:sp>
        <p:nvSpPr>
          <p:cNvPr id="5" name="Прямоугольник 4"/>
          <p:cNvSpPr/>
          <p:nvPr/>
        </p:nvSpPr>
        <p:spPr>
          <a:xfrm>
            <a:off x="5842692" y="6396821"/>
            <a:ext cx="6096000" cy="461665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200" dirty="0"/>
              <a:t>https://www.researchgate.net/publication/354541471_Evaluation_of_the_Transformer_Architecture_for_Univariate_Time_Series_Forecasting</a:t>
            </a:r>
          </a:p>
        </p:txBody>
      </p:sp>
      <p:grpSp>
        <p:nvGrpSpPr>
          <p:cNvPr id="7" name="Группа 6"/>
          <p:cNvGrpSpPr/>
          <p:nvPr/>
        </p:nvGrpSpPr>
        <p:grpSpPr>
          <a:xfrm>
            <a:off x="6341806" y="3200108"/>
            <a:ext cx="5683045" cy="3196713"/>
            <a:chOff x="6277278" y="3313470"/>
            <a:chExt cx="5683045" cy="3196713"/>
          </a:xfrm>
        </p:grpSpPr>
        <p:pic>
          <p:nvPicPr>
            <p:cNvPr id="3080" name="Picture 8" descr="PDF] Deep Transformer Models for Time Series Forecasting: The Influenza  Prevalence Case | Semantic Scholar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277278" y="3313470"/>
              <a:ext cx="5683045" cy="31967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Овал 5"/>
            <p:cNvSpPr/>
            <p:nvPr/>
          </p:nvSpPr>
          <p:spPr>
            <a:xfrm>
              <a:off x="9890760" y="3427095"/>
              <a:ext cx="457200" cy="381000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pic>
        <p:nvPicPr>
          <p:cNvPr id="4" name="Рисунок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982" y="2185162"/>
            <a:ext cx="5663382" cy="42116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1521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85135" y="206477"/>
            <a:ext cx="11523407" cy="560439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 smtClean="0"/>
              <a:t>Идеи архитектуры </a:t>
            </a:r>
            <a:r>
              <a:rPr lang="ru-RU" b="1" dirty="0" err="1" smtClean="0"/>
              <a:t>Трансформер</a:t>
            </a:r>
            <a:endParaRPr lang="ru-RU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85135" y="884903"/>
            <a:ext cx="6046839" cy="4139381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5" name="Прямоугольник 4"/>
          <p:cNvSpPr/>
          <p:nvPr/>
        </p:nvSpPr>
        <p:spPr>
          <a:xfrm>
            <a:off x="5842692" y="6464935"/>
            <a:ext cx="6096000" cy="461665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200" dirty="0"/>
              <a:t>https://www.researchgate.net/publication/354541471_Evaluation_of_the_Transformer_Architecture_for_Univariate_Time_Series_Forecasting</a:t>
            </a:r>
          </a:p>
        </p:txBody>
      </p:sp>
      <p:pic>
        <p:nvPicPr>
          <p:cNvPr id="3078" name="Picture 6" descr="figure 1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02557" y="1010408"/>
            <a:ext cx="6524625" cy="50958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255501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8311" y="365125"/>
            <a:ext cx="7340951" cy="6223000"/>
          </a:xfrm>
          <a:prstGeom prst="rect">
            <a:avLst/>
          </a:prstGeom>
        </p:spPr>
      </p:pic>
      <p:sp>
        <p:nvSpPr>
          <p:cNvPr id="5" name="Прямоугольник 4"/>
          <p:cNvSpPr/>
          <p:nvPr/>
        </p:nvSpPr>
        <p:spPr>
          <a:xfrm>
            <a:off x="8383371" y="6311900"/>
            <a:ext cx="2970429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i="1" dirty="0"/>
              <a:t>https://arxiv.org/pdf/2205.01138</a:t>
            </a:r>
          </a:p>
        </p:txBody>
      </p:sp>
    </p:spTree>
    <p:extLst>
      <p:ext uri="{BB962C8B-B14F-4D97-AF65-F5344CB8AC3E}">
        <p14:creationId xmlns:p14="http://schemas.microsoft.com/office/powerpoint/2010/main" val="31101195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746B2C3-9014-036C-C47A-00FDD26180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46AC2F7-7DD6-4F4B-39E7-F28DCA46B0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044" y="236131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ru-RU" dirty="0" smtClean="0"/>
              <a:t>одного блока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C35C589-C055-E0E5-21C6-39FDA2A3D68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87288" y="807440"/>
                <a:ext cx="11738012" cy="5683828"/>
              </a:xfrm>
            </p:spPr>
            <p:txBody>
              <a:bodyPr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b="1" dirty="0" smtClean="0">
                    <a:latin typeface="Cambria Math" panose="02040503050406030204" pitchFamily="18" charset="0"/>
                  </a:rPr>
                  <a:t>Гипотеза</a:t>
                </a:r>
                <a:r>
                  <a:rPr lang="ru-RU" sz="2200" dirty="0">
                    <a:latin typeface="Cambria Math" panose="02040503050406030204" pitchFamily="18" charset="0"/>
                  </a:rPr>
                  <a:t>: </a:t>
                </a:r>
                <a:r>
                  <a:rPr lang="ru-RU" sz="2200" dirty="0" smtClean="0">
                    <a:latin typeface="Cambria Math" panose="02040503050406030204" pitchFamily="18" charset="0"/>
                  </a:rPr>
                  <a:t>блок </a:t>
                </a:r>
                <a:r>
                  <a:rPr lang="ru-RU" sz="2200" dirty="0" err="1" smtClean="0">
                    <a:latin typeface="Cambria Math" panose="02040503050406030204" pitchFamily="18" charset="0"/>
                  </a:rPr>
                  <a:t>самовнимания</a:t>
                </a:r>
                <a:r>
                  <a:rPr lang="ru-RU" sz="2200" dirty="0" smtClean="0">
                    <a:latin typeface="Cambria Math" panose="02040503050406030204" pitchFamily="18" charset="0"/>
                  </a:rPr>
                  <a:t> формирует контекст как один признак временного ряда.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 smtClean="0">
                    <a:latin typeface="Cambria Math" panose="02040503050406030204" pitchFamily="18" charset="0"/>
                  </a:rPr>
                  <a:t>По аналогии с  ансамблями (или каналами карт признаков в сверточных сетях) -  число формируемых признаков задается числом параллельных блоков </a:t>
                </a:r>
                <a:r>
                  <a:rPr lang="ru-RU" sz="2200" dirty="0" err="1" smtClean="0">
                    <a:latin typeface="Cambria Math" panose="02040503050406030204" pitchFamily="18" charset="0"/>
                  </a:rPr>
                  <a:t>самовнимания</a:t>
                </a:r>
                <a:r>
                  <a:rPr lang="ru-RU" sz="2200" dirty="0" smtClean="0">
                    <a:latin typeface="Cambria Math" panose="02040503050406030204" pitchFamily="18" charset="0"/>
                  </a:rPr>
                  <a:t>.</a:t>
                </a:r>
                <a:endParaRPr lang="ru-RU" sz="2200" dirty="0" smtClean="0"/>
              </a:p>
              <a:p>
                <a:pPr marL="0" lvl="1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 smtClean="0"/>
                  <a:t>Такая </a:t>
                </a:r>
                <a:r>
                  <a:rPr lang="ru-RU" sz="2200" dirty="0"/>
                  <a:t>гипотеза называется </a:t>
                </a:r>
                <a:r>
                  <a:rPr lang="ru-RU" sz="2200" dirty="0" smtClean="0"/>
                  <a:t>многоголовое-</a:t>
                </a:r>
                <a:r>
                  <a:rPr lang="ru-RU" sz="2200" b="1" dirty="0" smtClean="0"/>
                  <a:t>само-внимание</a:t>
                </a:r>
                <a:r>
                  <a:rPr lang="en-US" sz="2200" b="1" dirty="0" smtClean="0"/>
                  <a:t> (multi-head self attention)</a:t>
                </a:r>
                <a:r>
                  <a:rPr lang="ru-RU" sz="2200" b="1" dirty="0" smtClean="0"/>
                  <a:t>:</a:t>
                </a:r>
                <a:endParaRPr lang="ru-RU" sz="2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2200" b="0" i="1" dirty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sz="2200" dirty="0"/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en-US" sz="2200" dirty="0" err="1"/>
                  <a:t>где</a:t>
                </a:r>
                <a:r>
                  <a:rPr lang="ru-RU" sz="22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brk m:alnAt="25"/>
                          </m:rPr>
                          <a:rPr lang="en-US" sz="2200" i="1" dirty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brk m:alnAt="25"/>
                          </m:rPr>
                          <a:rPr lang="en-US" sz="2200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d>
                      <m:d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200" dirty="0"/>
                  <a:t> - </a:t>
                </a:r>
                <a:r>
                  <a:rPr lang="en-US" sz="2200" dirty="0" err="1"/>
                  <a:t>слой</a:t>
                </a:r>
                <a:r>
                  <a:rPr lang="ru-RU" sz="2200" dirty="0"/>
                  <a:t> задающий вектор текущих скрытых состояний из предыдущих </a:t>
                </a:r>
                <a14:m>
                  <m:oMath xmlns:m="http://schemas.openxmlformats.org/officeDocument/2006/math"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ru-RU" sz="2200" dirty="0"/>
                  <a:t> скрытых состояний</a:t>
                </a:r>
                <a:r>
                  <a:rPr lang="en-US" sz="2200" dirty="0" smtClean="0"/>
                  <a:t>;</a:t>
                </a:r>
                <a:endParaRPr lang="en-US" sz="22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C35C589-C055-E0E5-21C6-39FDA2A3D68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7288" y="807440"/>
                <a:ext cx="11738012" cy="5683828"/>
              </a:xfrm>
              <a:blipFill>
                <a:blip r:embed="rId3"/>
                <a:stretch>
                  <a:fillRect l="-675" t="-64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D82902AE-9B6E-75B2-2701-491882EDFA7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F6009909-BBC8-0B2C-31DD-9B714C9E22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448" r="24994" b="50310"/>
          <a:stretch>
            <a:fillRect/>
          </a:stretch>
        </p:blipFill>
        <p:spPr bwMode="auto">
          <a:xfrm>
            <a:off x="40255" y="4299343"/>
            <a:ext cx="4782373" cy="22573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4501E1B-7386-56D1-CE84-9BC1335DEE1A}"/>
              </a:ext>
            </a:extLst>
          </p:cNvPr>
          <p:cNvSpPr txBox="1"/>
          <p:nvPr/>
        </p:nvSpPr>
        <p:spPr>
          <a:xfrm>
            <a:off x="1018799" y="6544271"/>
            <a:ext cx="609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100" dirty="0" err="1"/>
              <a:t>https</a:t>
            </a:r>
            <a:r>
              <a:rPr lang="ru-RU" sz="1100" dirty="0"/>
              <a:t>://</a:t>
            </a:r>
            <a:r>
              <a:rPr lang="ru-RU" sz="1100" dirty="0" err="1"/>
              <a:t>readmedium.com</a:t>
            </a:r>
            <a:r>
              <a:rPr lang="ru-RU" sz="1100" dirty="0"/>
              <a:t>/transformer-implementation-for-time-series-forecasting-a9db2db5c820</a:t>
            </a:r>
          </a:p>
        </p:txBody>
      </p:sp>
      <p:grpSp>
        <p:nvGrpSpPr>
          <p:cNvPr id="17" name="Группа 16"/>
          <p:cNvGrpSpPr/>
          <p:nvPr/>
        </p:nvGrpSpPr>
        <p:grpSpPr>
          <a:xfrm>
            <a:off x="4679778" y="4510746"/>
            <a:ext cx="4363558" cy="2216449"/>
            <a:chOff x="6096000" y="4584192"/>
            <a:chExt cx="3840480" cy="1962958"/>
          </a:xfrm>
        </p:grpSpPr>
        <p:pic>
          <p:nvPicPr>
            <p:cNvPr id="5" name="Picture 2">
              <a:extLst>
                <a:ext uri="{FF2B5EF4-FFF2-40B4-BE49-F238E27FC236}">
                  <a16:creationId xmlns:a16="http://schemas.microsoft.com/office/drawing/2014/main" id="{3706DF6B-AD59-A011-9894-54776250AE6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1045" t="49642" r="25397" b="-3450"/>
            <a:stretch>
              <a:fillRect/>
            </a:stretch>
          </p:blipFill>
          <p:spPr bwMode="auto">
            <a:xfrm>
              <a:off x="6096000" y="4584192"/>
              <a:ext cx="3840480" cy="19629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8" name="Прямая со стрелкой 7"/>
            <p:cNvCxnSpPr/>
            <p:nvPr/>
          </p:nvCxnSpPr>
          <p:spPr>
            <a:xfrm flipV="1">
              <a:off x="6815138" y="5181601"/>
              <a:ext cx="242887" cy="952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Прямая со стрелкой 10"/>
            <p:cNvCxnSpPr/>
            <p:nvPr/>
          </p:nvCxnSpPr>
          <p:spPr>
            <a:xfrm>
              <a:off x="7548563" y="5191126"/>
              <a:ext cx="21907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Прямая со стрелкой 11"/>
            <p:cNvCxnSpPr/>
            <p:nvPr/>
          </p:nvCxnSpPr>
          <p:spPr>
            <a:xfrm>
              <a:off x="8239125" y="5162551"/>
              <a:ext cx="2238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Прямая со стрелкой 15"/>
            <p:cNvCxnSpPr/>
            <p:nvPr/>
          </p:nvCxnSpPr>
          <p:spPr>
            <a:xfrm>
              <a:off x="8967787" y="5167314"/>
              <a:ext cx="2238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8" name="Picture 2">
              <a:extLst>
                <a:ext uri="{FF2B5EF4-FFF2-40B4-BE49-F238E27FC236}">
                  <a16:creationId xmlns:a16="http://schemas.microsoft.com/office/drawing/2014/main" id="{F6009909-BBC8-0B2C-31DD-9B714C9E223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5481" t="4258" r="48032" b="90371"/>
            <a:stretch/>
          </p:blipFill>
          <p:spPr bwMode="auto">
            <a:xfrm>
              <a:off x="8528049" y="4584192"/>
              <a:ext cx="503341" cy="21205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9" name="Стрелка вправо 18"/>
          <p:cNvSpPr/>
          <p:nvPr/>
        </p:nvSpPr>
        <p:spPr>
          <a:xfrm>
            <a:off x="4242125" y="5618970"/>
            <a:ext cx="711200" cy="23417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26" name="Picture 2" descr="Understanding and Coding the Self-Attention Mechanism of Large Language  Models From Scratch"/>
          <p:cNvPicPr>
            <a:picLocks noChangeAspect="1" noChangeArrowheads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2148" y="4180459"/>
            <a:ext cx="3134725" cy="2285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Прямоугольник 19"/>
          <p:cNvSpPr/>
          <p:nvPr/>
        </p:nvSpPr>
        <p:spPr>
          <a:xfrm>
            <a:off x="7114799" y="6587743"/>
            <a:ext cx="4810501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100" dirty="0"/>
              <a:t>https://sebastianraschka.com/blog/2023/self-attention-from-scratch.html</a:t>
            </a:r>
          </a:p>
        </p:txBody>
      </p:sp>
    </p:spTree>
    <p:extLst>
      <p:ext uri="{BB962C8B-B14F-4D97-AF65-F5344CB8AC3E}">
        <p14:creationId xmlns:p14="http://schemas.microsoft.com/office/powerpoint/2010/main" val="19214029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85135" y="365126"/>
            <a:ext cx="11068665" cy="500114"/>
          </a:xfrm>
        </p:spPr>
        <p:txBody>
          <a:bodyPr>
            <a:normAutofit fontScale="90000"/>
          </a:bodyPr>
          <a:lstStyle/>
          <a:p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285135" y="1022555"/>
                <a:ext cx="11068665" cy="5154408"/>
              </a:xfrm>
            </p:spPr>
            <p:txBody>
              <a:bodyPr/>
              <a:lstStyle/>
              <a:p>
                <a:r>
                  <a:rPr lang="ru-RU" i="1" dirty="0" err="1" smtClean="0">
                    <a:latin typeface="Cambria Math" panose="02040503050406030204" pitchFamily="18" charset="0"/>
                  </a:rPr>
                  <a:t>Пу</a:t>
                </a:r>
                <a:endParaRPr lang="en-US" i="1" dirty="0" smtClean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i="1" dirty="0">
                            <a:latin typeface="Cambria Math" panose="02040503050406030204" pitchFamily="18" charset="0"/>
                          </a:rPr>
                          <m:t>𝐴</m:t>
                        </m:r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i="1" dirty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1" dirty="0"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</m:e>
                            </m:acc>
                          </m:e>
                          <m:sub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ru-RU" i="1" dirty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brk m:alnAt="25"/>
                              </m:rPr>
                              <a:rPr lang="en-US" i="1" dirty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m:rPr>
                                <m:brk m:alnAt="25"/>
                              </m:rPr>
                              <a:rPr lang="en-US" i="1" dirty="0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d>
                          <m:d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,…,</m:t>
                            </m:r>
                            <m:sSub>
                              <m:sSubPr>
                                <m:ctrlPr>
                                  <a:rPr lang="en-US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sub>
                            </m:sSub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 dirty="0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d>
                      </m:e>
                    </m:d>
                  </m:oMath>
                </a14:m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85135" y="1022555"/>
                <a:ext cx="11068665" cy="5154408"/>
              </a:xfrm>
              <a:blipFill>
                <a:blip r:embed="rId2"/>
                <a:stretch>
                  <a:fillRect l="-991" t="-213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253355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41A74F-D1C1-0C5D-5A9E-8BAA1304EF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522BA20-C8FF-8C4B-7BE8-3489C585E1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7264" y="365125"/>
            <a:ext cx="11146536" cy="537083"/>
          </a:xfrm>
        </p:spPr>
        <p:txBody>
          <a:bodyPr>
            <a:normAutofit fontScale="90000"/>
          </a:bodyPr>
          <a:lstStyle/>
          <a:p>
            <a:r>
              <a:rPr lang="ru-RU" dirty="0"/>
              <a:t>Пример расчета внимания на 1 шаг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DE5B266-EBEC-DE10-2949-FC93367EB3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6992" y="1085088"/>
            <a:ext cx="11146536" cy="5291328"/>
          </a:xfrm>
        </p:spPr>
        <p:txBody>
          <a:bodyPr/>
          <a:lstStyle/>
          <a:p>
            <a:r>
              <a:rPr lang="ru-RU" sz="2000" dirty="0"/>
              <a:t>У нас есть временной ряд:</a:t>
            </a:r>
            <a:r>
              <a:rPr lang="en-US" sz="2000" dirty="0"/>
              <a:t> </a:t>
            </a:r>
            <a:r>
              <a:rPr lang="en" i="1" dirty="0"/>
              <a:t>x</a:t>
            </a:r>
            <a:r>
              <a:rPr lang="en" sz="2000" dirty="0"/>
              <a:t>0​,</a:t>
            </a:r>
            <a:r>
              <a:rPr lang="en" i="1" dirty="0"/>
              <a:t>x</a:t>
            </a:r>
            <a:r>
              <a:rPr lang="en" sz="2000" dirty="0"/>
              <a:t>1​,</a:t>
            </a:r>
            <a:r>
              <a:rPr lang="en" i="1" dirty="0"/>
              <a:t>x</a:t>
            </a:r>
            <a:r>
              <a:rPr lang="en" sz="2000" dirty="0"/>
              <a:t>2​,</a:t>
            </a:r>
            <a:r>
              <a:rPr lang="en" i="1" dirty="0"/>
              <a:t>x</a:t>
            </a:r>
            <a:r>
              <a:rPr lang="en" sz="2000" dirty="0"/>
              <a:t>3​,</a:t>
            </a:r>
            <a:r>
              <a:rPr lang="en" i="1" dirty="0"/>
              <a:t>x</a:t>
            </a:r>
            <a:r>
              <a:rPr lang="en" sz="2000" dirty="0"/>
              <a:t>4​,</a:t>
            </a:r>
            <a:r>
              <a:rPr lang="en" i="1" dirty="0"/>
              <a:t>x</a:t>
            </a:r>
            <a:r>
              <a:rPr lang="en" sz="2000" dirty="0"/>
              <a:t>5​,</a:t>
            </a:r>
            <a:r>
              <a:rPr lang="en" i="1" dirty="0"/>
              <a:t>x</a:t>
            </a:r>
            <a:r>
              <a:rPr lang="en" sz="2000" dirty="0"/>
              <a:t>6​,</a:t>
            </a:r>
            <a:r>
              <a:rPr lang="en" i="1" dirty="0"/>
              <a:t>x</a:t>
            </a:r>
            <a:r>
              <a:rPr lang="en" dirty="0"/>
              <a:t>7​</a:t>
            </a:r>
            <a:br>
              <a:rPr lang="en" dirty="0"/>
            </a:br>
            <a:r>
              <a:rPr lang="ru-RU" sz="2000" dirty="0"/>
              <a:t>Мы хотим спрогнозировать </a:t>
            </a:r>
            <a:r>
              <a:rPr lang="en" dirty="0"/>
              <a:t>[</a:t>
            </a:r>
            <a:r>
              <a:rPr lang="en" i="1" dirty="0"/>
              <a:t>x</a:t>
            </a:r>
            <a:r>
              <a:rPr lang="en" dirty="0"/>
              <a:t>0​,</a:t>
            </a:r>
            <a:r>
              <a:rPr lang="en" i="1" dirty="0"/>
              <a:t>x</a:t>
            </a:r>
            <a:r>
              <a:rPr lang="en" dirty="0"/>
              <a:t>1​,</a:t>
            </a:r>
            <a:r>
              <a:rPr lang="en" i="1" dirty="0"/>
              <a:t>x</a:t>
            </a:r>
            <a:r>
              <a:rPr lang="en" dirty="0"/>
              <a:t>2​,</a:t>
            </a:r>
            <a:r>
              <a:rPr lang="en" i="1" dirty="0"/>
              <a:t>x</a:t>
            </a:r>
            <a:r>
              <a:rPr lang="en" dirty="0"/>
              <a:t>3​,</a:t>
            </a:r>
            <a:r>
              <a:rPr lang="en" i="1" dirty="0"/>
              <a:t>x</a:t>
            </a:r>
            <a:r>
              <a:rPr lang="en" dirty="0"/>
              <a:t>4​]</a:t>
            </a:r>
            <a:r>
              <a:rPr lang="en" sz="2000" dirty="0"/>
              <a:t>​ , </a:t>
            </a:r>
            <a:r>
              <a:rPr lang="ru-RU" sz="2000" dirty="0"/>
              <a:t>: </a:t>
            </a:r>
            <a:r>
              <a:rPr lang="en" dirty="0"/>
              <a:t>Decoder</a:t>
            </a:r>
            <a:r>
              <a:rPr lang="en" sz="2000" dirty="0"/>
              <a:t>: </a:t>
            </a:r>
            <a:r>
              <a:rPr lang="ru-RU" sz="2000" dirty="0"/>
              <a:t>генерирует прогноз </a:t>
            </a:r>
            <a:r>
              <a:rPr lang="en" i="1" dirty="0"/>
              <a:t>x</a:t>
            </a:r>
            <a:r>
              <a:rPr lang="en" dirty="0"/>
              <a:t>^5​,</a:t>
            </a:r>
            <a:r>
              <a:rPr lang="en" i="1" dirty="0"/>
              <a:t>x</a:t>
            </a:r>
            <a:r>
              <a:rPr lang="en" dirty="0"/>
              <a:t>^6​,</a:t>
            </a:r>
            <a:r>
              <a:rPr lang="en" i="1" dirty="0"/>
              <a:t>x</a:t>
            </a:r>
            <a:r>
              <a:rPr lang="en" dirty="0"/>
              <a:t>^7</a:t>
            </a:r>
            <a:endParaRPr lang="ru-RU" sz="2000" dirty="0"/>
          </a:p>
          <a:p>
            <a:r>
              <a:rPr lang="en" i="1" dirty="0"/>
              <a:t>h</a:t>
            </a:r>
            <a:r>
              <a:rPr lang="en" dirty="0"/>
              <a:t>0​=[0.1,0.9],</a:t>
            </a:r>
            <a:r>
              <a:rPr lang="en" i="1" dirty="0"/>
              <a:t>h</a:t>
            </a:r>
            <a:r>
              <a:rPr lang="en" dirty="0"/>
              <a:t>1​=[0.3,0.7],</a:t>
            </a:r>
            <a:r>
              <a:rPr lang="en" i="1" dirty="0"/>
              <a:t>h</a:t>
            </a:r>
            <a:r>
              <a:rPr lang="en" dirty="0"/>
              <a:t>2​=[0.5,0.5],</a:t>
            </a:r>
            <a:r>
              <a:rPr lang="en" i="1" dirty="0"/>
              <a:t>h</a:t>
            </a:r>
            <a:r>
              <a:rPr lang="en" dirty="0"/>
              <a:t>3​=[0.7,0.3],</a:t>
            </a:r>
            <a:r>
              <a:rPr lang="en" i="1" dirty="0"/>
              <a:t>h</a:t>
            </a:r>
            <a:r>
              <a:rPr lang="en" dirty="0"/>
              <a:t>4​=[0.9,0.1]</a:t>
            </a:r>
            <a:r>
              <a:rPr lang="ru-RU" dirty="0"/>
              <a:t>ъ</a:t>
            </a:r>
          </a:p>
          <a:p>
            <a:r>
              <a:rPr lang="en" i="1" dirty="0"/>
              <a:t>s</a:t>
            </a:r>
            <a:r>
              <a:rPr lang="en" dirty="0"/>
              <a:t>5​=</a:t>
            </a:r>
            <a:r>
              <a:rPr lang="en" i="1" dirty="0"/>
              <a:t>h</a:t>
            </a:r>
            <a:r>
              <a:rPr lang="en" dirty="0"/>
              <a:t>4​=[0.9,0.1]</a:t>
            </a:r>
            <a:r>
              <a:rPr lang="ru-RU" dirty="0"/>
              <a:t> </a:t>
            </a:r>
            <a:r>
              <a:rPr lang="en" sz="2000" dirty="0"/>
              <a:t>​</a:t>
            </a:r>
            <a:r>
              <a:rPr lang="en" i="1" dirty="0"/>
              <a:t>Q</a:t>
            </a:r>
            <a:r>
              <a:rPr lang="en" dirty="0"/>
              <a:t>5​=</a:t>
            </a:r>
            <a:r>
              <a:rPr lang="en" i="1" dirty="0"/>
              <a:t>WQ</a:t>
            </a:r>
            <a:r>
              <a:rPr lang="en" dirty="0"/>
              <a:t>​⋅</a:t>
            </a:r>
            <a:r>
              <a:rPr lang="en" i="1" dirty="0"/>
              <a:t>s</a:t>
            </a:r>
            <a:r>
              <a:rPr lang="en" dirty="0"/>
              <a:t>5​=[0.9,0.1] (</a:t>
            </a:r>
            <a:r>
              <a:rPr lang="ru-RU" dirty="0"/>
              <a:t>пусть </a:t>
            </a:r>
            <a:r>
              <a:rPr lang="en" i="1" dirty="0"/>
              <a:t>WQ</a:t>
            </a:r>
            <a:r>
              <a:rPr lang="en" dirty="0"/>
              <a:t>​=</a:t>
            </a:r>
            <a:r>
              <a:rPr lang="en" i="1" dirty="0"/>
              <a:t>I</a:t>
            </a:r>
            <a:r>
              <a:rPr lang="en" dirty="0"/>
              <a:t> )</a:t>
            </a:r>
          </a:p>
          <a:p>
            <a:r>
              <a:rPr lang="en" i="1" dirty="0"/>
              <a:t>c</a:t>
            </a:r>
            <a:r>
              <a:rPr lang="en" dirty="0"/>
              <a:t>5​=[1.128,0.872]</a:t>
            </a:r>
            <a:endParaRPr lang="ru-RU" dirty="0"/>
          </a:p>
          <a:p>
            <a:r>
              <a:rPr lang="en" i="1" dirty="0"/>
              <a:t>s</a:t>
            </a:r>
            <a:r>
              <a:rPr lang="en" dirty="0"/>
              <a:t>6​=[0.8,0.2]</a:t>
            </a:r>
            <a:r>
              <a:rPr lang="ru-RU" dirty="0"/>
              <a:t> –</a:t>
            </a:r>
            <a:r>
              <a:rPr lang="en-US" dirty="0"/>
              <a:t>&gt; </a:t>
            </a:r>
            <a:r>
              <a:rPr lang="en" i="1" dirty="0"/>
              <a:t>Q</a:t>
            </a:r>
            <a:r>
              <a:rPr lang="en" dirty="0"/>
              <a:t>6​=[0.8,0.2]</a:t>
            </a:r>
            <a:r>
              <a:rPr lang="ru-RU" dirty="0"/>
              <a:t>, </a:t>
            </a:r>
            <a:r>
              <a:rPr lang="en" i="1" dirty="0"/>
              <a:t>s</a:t>
            </a:r>
            <a:r>
              <a:rPr lang="en" dirty="0"/>
              <a:t>7​=[0.7,0.3]</a:t>
            </a:r>
          </a:p>
          <a:p>
            <a:endParaRPr lang="ru-RU" dirty="0"/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EB2DDE71-7626-5E3F-3CAC-7BA2B15394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8737243"/>
              </p:ext>
            </p:extLst>
          </p:nvPr>
        </p:nvGraphicFramePr>
        <p:xfrm>
          <a:off x="8332293" y="2987928"/>
          <a:ext cx="2542971" cy="1485647"/>
        </p:xfrm>
        <a:graphic>
          <a:graphicData uri="http://schemas.openxmlformats.org/drawingml/2006/table">
            <a:tbl>
              <a:tblPr/>
              <a:tblGrid>
                <a:gridCol w="259987">
                  <a:extLst>
                    <a:ext uri="{9D8B030D-6E8A-4147-A177-3AD203B41FA5}">
                      <a16:colId xmlns:a16="http://schemas.microsoft.com/office/drawing/2014/main" val="1425509526"/>
                    </a:ext>
                  </a:extLst>
                </a:gridCol>
                <a:gridCol w="836131">
                  <a:extLst>
                    <a:ext uri="{9D8B030D-6E8A-4147-A177-3AD203B41FA5}">
                      <a16:colId xmlns:a16="http://schemas.microsoft.com/office/drawing/2014/main" val="1293811299"/>
                    </a:ext>
                  </a:extLst>
                </a:gridCol>
                <a:gridCol w="769885">
                  <a:extLst>
                    <a:ext uri="{9D8B030D-6E8A-4147-A177-3AD203B41FA5}">
                      <a16:colId xmlns:a16="http://schemas.microsoft.com/office/drawing/2014/main" val="3088215621"/>
                    </a:ext>
                  </a:extLst>
                </a:gridCol>
                <a:gridCol w="676968">
                  <a:extLst>
                    <a:ext uri="{9D8B030D-6E8A-4147-A177-3AD203B41FA5}">
                      <a16:colId xmlns:a16="http://schemas.microsoft.com/office/drawing/2014/main" val="3709151912"/>
                    </a:ext>
                  </a:extLst>
                </a:gridCol>
              </a:tblGrid>
              <a:tr h="1332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 t </a:t>
                      </a:r>
                      <a:endParaRPr lang="en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 h_t </a:t>
                      </a:r>
                      <a:endParaRPr lang="en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 K_t </a:t>
                      </a:r>
                      <a:endParaRPr lang="en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 V_t </a:t>
                      </a:r>
                      <a:endParaRPr lang="en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1313509"/>
                  </a:ext>
                </a:extLst>
              </a:tr>
              <a:tr h="2503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0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[0.1, 0.9]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[0.1, 0.9]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[0.2, 1.8]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56134817"/>
                  </a:ext>
                </a:extLst>
              </a:tr>
              <a:tr h="2503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1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[0.3, 0.7]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[0.3, 0.7]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[0.6, 1.4]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50176793"/>
                  </a:ext>
                </a:extLst>
              </a:tr>
              <a:tr h="2503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2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[0.5, 0.5]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[0.5, 0.5]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[1.0, 1.0]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6942023"/>
                  </a:ext>
                </a:extLst>
              </a:tr>
              <a:tr h="2503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3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[0.7, 0.3]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[0.7, 0.3]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[1.4, 0.6]</a:t>
                      </a:r>
                      <a:endParaRPr lang="ru-RU" sz="1200" dirty="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4133149"/>
                  </a:ext>
                </a:extLst>
              </a:tr>
              <a:tr h="2503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4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[0.9, 0.1]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[0.9, 0.1]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[1.8, 0.2]</a:t>
                      </a:r>
                      <a:endParaRPr lang="ru-RU" sz="1200" dirty="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31838449"/>
                  </a:ext>
                </a:extLst>
              </a:tr>
            </a:tbl>
          </a:graphicData>
        </a:graphic>
      </p:graphicFrame>
      <p:graphicFrame>
        <p:nvGraphicFramePr>
          <p:cNvPr id="7" name="Таблица 6">
            <a:extLst>
              <a:ext uri="{FF2B5EF4-FFF2-40B4-BE49-F238E27FC236}">
                <a16:creationId xmlns:a16="http://schemas.microsoft.com/office/drawing/2014/main" id="{F99F261F-6D92-2D23-C40B-F229D4772C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2443143"/>
              </p:ext>
            </p:extLst>
          </p:nvPr>
        </p:nvGraphicFramePr>
        <p:xfrm>
          <a:off x="3364992" y="4748171"/>
          <a:ext cx="7867166" cy="1445457"/>
        </p:xfrm>
        <a:graphic>
          <a:graphicData uri="http://schemas.openxmlformats.org/drawingml/2006/table">
            <a:tbl>
              <a:tblPr/>
              <a:tblGrid>
                <a:gridCol w="1292352">
                  <a:extLst>
                    <a:ext uri="{9D8B030D-6E8A-4147-A177-3AD203B41FA5}">
                      <a16:colId xmlns:a16="http://schemas.microsoft.com/office/drawing/2014/main" val="136976433"/>
                    </a:ext>
                  </a:extLst>
                </a:gridCol>
                <a:gridCol w="1133856">
                  <a:extLst>
                    <a:ext uri="{9D8B030D-6E8A-4147-A177-3AD203B41FA5}">
                      <a16:colId xmlns:a16="http://schemas.microsoft.com/office/drawing/2014/main" val="3356334983"/>
                    </a:ext>
                  </a:extLst>
                </a:gridCol>
                <a:gridCol w="2908714">
                  <a:extLst>
                    <a:ext uri="{9D8B030D-6E8A-4147-A177-3AD203B41FA5}">
                      <a16:colId xmlns:a16="http://schemas.microsoft.com/office/drawing/2014/main" val="2390527674"/>
                    </a:ext>
                  </a:extLst>
                </a:gridCol>
                <a:gridCol w="2532244">
                  <a:extLst>
                    <a:ext uri="{9D8B030D-6E8A-4147-A177-3AD203B41FA5}">
                      <a16:colId xmlns:a16="http://schemas.microsoft.com/office/drawing/2014/main" val="2139495247"/>
                    </a:ext>
                  </a:extLst>
                </a:gridCol>
              </a:tblGrid>
              <a:tr h="2799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8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Шаг</a:t>
                      </a:r>
                      <a:endParaRPr lang="ru-RU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Query (Q)</a:t>
                      </a:r>
                      <a:endParaRPr lang="en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8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Наиболее важный момент</a:t>
                      </a:r>
                      <a:endParaRPr lang="ru-RU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8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Контекстный вектор</a:t>
                      </a:r>
                      <a:endParaRPr lang="ru-RU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0884295"/>
                  </a:ext>
                </a:extLst>
              </a:tr>
              <a:tr h="3653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\hat{x}_5</a:t>
                      </a:r>
                      <a:endParaRPr lang="en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[0.9, 0.1]</a:t>
                      </a:r>
                      <a:endParaRPr lang="ru-RU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t=4  (</a:t>
                      </a:r>
                      <a:r>
                        <a:rPr lang="ru-RU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последний)</a:t>
                      </a:r>
                      <a:endParaRPr lang="ru-RU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c_5 = [1.128, 0.872]</a:t>
                      </a:r>
                      <a:endParaRPr lang="en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3632162"/>
                  </a:ext>
                </a:extLst>
              </a:tr>
              <a:tr h="3653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\hat{x}_6</a:t>
                      </a:r>
                      <a:endParaRPr lang="en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[0.8, 0.2]</a:t>
                      </a:r>
                      <a:endParaRPr lang="ru-RU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t=4</a:t>
                      </a:r>
                      <a:endParaRPr lang="en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c_6 ≈ [1.1, 0.9]</a:t>
                      </a:r>
                      <a:endParaRPr lang="en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09085638"/>
                  </a:ext>
                </a:extLst>
              </a:tr>
              <a:tr h="3653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 b="1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\hat{x}_7</a:t>
                      </a:r>
                      <a:endParaRPr lang="en" sz="1800" dirty="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[0.7, 0.3]</a:t>
                      </a:r>
                      <a:endParaRPr lang="ru-RU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t=4</a:t>
                      </a:r>
                      <a:endParaRPr lang="en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c_7 ≈ [1.0, 1.0]</a:t>
                      </a:r>
                      <a:endParaRPr lang="en" sz="1800" dirty="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00239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367208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535183-457B-4563-0A7E-271B755117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6699C88-3961-C5D9-AAED-2F377BA512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3890" y="256380"/>
            <a:ext cx="10344219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</a:t>
            </a:r>
            <a:r>
              <a:rPr lang="ru-RU" b="1" dirty="0" smtClean="0"/>
              <a:t>режиме </a:t>
            </a:r>
            <a:r>
              <a:rPr lang="ru-RU" dirty="0" err="1" smtClean="0"/>
              <a:t>Seq</a:t>
            </a:r>
            <a:r>
              <a:rPr lang="en-US" dirty="0"/>
              <a:t>2Seq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E043784-8F80-5804-0527-435AD8BB706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35207" y="732641"/>
                <a:ext cx="11731086" cy="508791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ru-RU" sz="2200" b="1" dirty="0" smtClean="0"/>
                  <a:t>Гипотеза: </a:t>
                </a:r>
                <a:r>
                  <a:rPr lang="ru-RU" sz="2200" dirty="0" smtClean="0"/>
                  <a:t>Регуляризация переобучения </a:t>
                </a:r>
                <a:r>
                  <a:rPr lang="en-US" sz="2200" dirty="0" smtClean="0"/>
                  <a:t>RNN </a:t>
                </a:r>
                <a:r>
                  <a:rPr lang="ru-RU" sz="2200" dirty="0" smtClean="0"/>
                  <a:t>возможна, если расширить скрытое представление</a:t>
                </a:r>
              </a:p>
              <a:p>
                <a:r>
                  <a:rPr lang="ru-RU" sz="2200" dirty="0" smtClean="0"/>
                  <a:t>по сути требуется расширить контекст</a:t>
                </a:r>
                <a:r>
                  <a:rPr lang="ru-RU" sz="2200" b="1" dirty="0" smtClean="0"/>
                  <a:t> </a:t>
                </a:r>
                <a:endParaRPr lang="en-US" sz="2200" b="1" dirty="0" smtClean="0"/>
              </a:p>
              <a:p>
                <a:pPr marL="0" indent="0">
                  <a:buNone/>
                </a:pPr>
                <a:r>
                  <a:rPr lang="ru-RU" sz="2200" b="1" dirty="0" smtClean="0"/>
                  <a:t>Идея: модель </a:t>
                </a:r>
                <a:r>
                  <a:rPr lang="ru-RU" sz="2200" b="1" dirty="0"/>
                  <a:t>могла бы </a:t>
                </a:r>
                <a:r>
                  <a:rPr lang="ru-RU" sz="2200" dirty="0" smtClean="0"/>
                  <a:t>смотреть</a:t>
                </a:r>
                <a:r>
                  <a:rPr lang="ru-RU" sz="2200" b="1" dirty="0" smtClean="0"/>
                  <a:t> на набор значений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200" b="1" i="1" dirty="0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en-US" sz="2200" b="1" i="1" dirty="0"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  <m:r>
                      <a:rPr lang="en-US" sz="2200" b="1" i="1" dirty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200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1" i="1" dirty="0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en-US" sz="2200" b="1" i="1" dirty="0" smtClean="0">
                            <a:latin typeface="Cambria Math" panose="02040503050406030204" pitchFamily="18" charset="0"/>
                          </a:rPr>
                          <m:t>𝒏</m:t>
                        </m:r>
                        <m:r>
                          <a:rPr lang="en-US" sz="2200" b="1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200" b="1" i="1" dirty="0" smtClean="0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n-US" sz="2200" b="1" i="1" dirty="0" smtClean="0">
                        <a:latin typeface="Cambria Math" panose="02040503050406030204" pitchFamily="18" charset="0"/>
                      </a:rPr>
                      <m:t>,…</m:t>
                    </m:r>
                  </m:oMath>
                </a14:m>
                <a:r>
                  <a:rPr lang="en-US" sz="2200" b="1" dirty="0" smtClean="0"/>
                  <a:t> </a:t>
                </a:r>
                <a:endParaRPr lang="ru-RU" sz="2200" b="1" dirty="0"/>
              </a:p>
              <a:p>
                <a:pPr marL="0" indent="0">
                  <a:buNone/>
                </a:pPr>
                <a:r>
                  <a:rPr lang="ru-RU" sz="2200" dirty="0"/>
                  <a:t>Реализация идеи - механизму внимания (</a:t>
                </a:r>
                <a:r>
                  <a:rPr lang="en" sz="2200" dirty="0"/>
                  <a:t>Attention Mechanism).</a:t>
                </a:r>
                <a:endParaRPr lang="ru-RU" sz="2200" dirty="0"/>
              </a:p>
              <a:p>
                <a:pPr marL="0" indent="0">
                  <a:buNone/>
                </a:pPr>
                <a:r>
                  <a:rPr lang="ru-RU" sz="2200" b="1" dirty="0"/>
                  <a:t>Внимание</a:t>
                </a:r>
                <a:r>
                  <a:rPr lang="ru-RU" sz="2200" dirty="0"/>
                  <a:t> — это способность модели взвешенно обращаться к разным частям входной последовательности, в зависимости от того, насколько они важны для текущего предсказания.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/>
                  <a:t>П</a:t>
                </a:r>
                <a14:m>
                  <m:oMath xmlns:m="http://schemas.openxmlformats.org/officeDocument/2006/math">
                    <m:r>
                      <a:rPr lang="ru-RU" sz="2200" dirty="0">
                        <a:latin typeface="Cambria Math" panose="02040503050406030204" pitchFamily="18" charset="0"/>
                      </a:rPr>
                      <m:t>у</m:t>
                    </m:r>
                    <m:r>
                      <a:rPr lang="ru-RU" sz="2200" b="0" i="0" dirty="0" smtClean="0">
                        <a:latin typeface="Cambria Math" panose="02040503050406030204" pitchFamily="18" charset="0"/>
                      </a:rPr>
                      <m:t>сть есть буфер 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ru-RU" sz="2200" b="0" i="0" dirty="0" smtClean="0">
                        <a:latin typeface="Cambria Math" panose="02040503050406030204" pitchFamily="18" charset="0"/>
                      </a:rPr>
                      <m:t> скрытых состояний </m:t>
                    </m:r>
                    <m:sSub>
                      <m:sSubPr>
                        <m:ctrlPr>
                          <a:rPr lang="en-US" sz="2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𝑛𝑗</m:t>
                        </m:r>
                      </m:sub>
                    </m:sSub>
                    <m:r>
                      <a:rPr lang="ru-RU" sz="2200" b="0" i="1" dirty="0" smtClean="0">
                        <a:latin typeface="Cambria Math" panose="02040503050406030204" pitchFamily="18" charset="0"/>
                      </a:rPr>
                      <m:t> энкодера</m:t>
                    </m:r>
                  </m:oMath>
                </a14:m>
                <a:r>
                  <a:rPr lang="ru-RU" sz="2200" b="0" i="1" dirty="0">
                    <a:latin typeface="Cambria Math" panose="02040503050406030204" pitchFamily="18" charset="0"/>
                  </a:rPr>
                  <a:t> и </a:t>
                </a:r>
                <a14:m>
                  <m:oMath xmlns:m="http://schemas.openxmlformats.org/officeDocument/2006/math"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ru-RU" sz="2200" dirty="0"/>
                  <a:t> </a:t>
                </a:r>
                <a14:m>
                  <m:oMath xmlns:m="http://schemas.openxmlformats.org/officeDocument/2006/math">
                    <m:r>
                      <a:rPr lang="ru-RU" sz="2200" dirty="0">
                        <a:latin typeface="Cambria Math" panose="02040503050406030204" pitchFamily="18" charset="0"/>
                      </a:rPr>
                      <m:t>скрытых состояний 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𝑛𝑗</m:t>
                        </m:r>
                      </m:sub>
                    </m:sSub>
                    <m:r>
                      <a:rPr lang="ru-RU" sz="2200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ru-RU" sz="2200" b="0" i="1" dirty="0" smtClean="0">
                        <a:latin typeface="Cambria Math" panose="02040503050406030204" pitchFamily="18" charset="0"/>
                      </a:rPr>
                      <m:t>декодера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ru-RU" sz="2200" b="0" i="1" dirty="0" smtClean="0">
                        <a:latin typeface="Cambria Math" panose="02040503050406030204" pitchFamily="18" charset="0"/>
                      </a:rPr>
                      <m:t> требуется предсказать 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2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endParaRPr lang="ru-RU" sz="2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𝐵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𝐴</m:t>
                      </m:r>
                      <m:sSub>
                        <m:sSubPr>
                          <m:ctrlP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ru-RU" sz="2200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en-US" sz="2200" i="1" dirty="0" err="1">
                    <a:latin typeface="Cambria Math" panose="02040503050406030204" pitchFamily="18" charset="0"/>
                  </a:rPr>
                  <a:t>гд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brk m:alnAt="25"/>
                          </m:rPr>
                          <a:rPr lang="en-US" sz="2200" i="1" dirty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brk m:alnAt="25"/>
                          </m:rPr>
                          <a:rPr lang="en-US" sz="2200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d>
                      <m:d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e>
                    </m:d>
                  </m:oMath>
                </a14:m>
                <a:r>
                  <a:rPr lang="ru-RU" sz="2200" i="1" dirty="0">
                    <a:latin typeface="Cambria Math" panose="02040503050406030204" pitchFamily="18" charset="0"/>
                  </a:rPr>
                  <a:t> - текущее скрытое состояние</a:t>
                </a:r>
                <a:r>
                  <a:rPr lang="en-US" sz="2200" i="1" dirty="0">
                    <a:latin typeface="Cambria Math" panose="02040503050406030204" pitchFamily="18" charset="0"/>
                  </a:rPr>
                  <a:t> (</a:t>
                </a:r>
                <a:r>
                  <a:rPr lang="en-US" sz="2200" i="1" dirty="0" err="1">
                    <a:latin typeface="Cambria Math" panose="02040503050406030204" pitchFamily="18" charset="0"/>
                  </a:rPr>
                  <a:t>вектор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), как результат предыдущих (</a:t>
                </a:r>
                <a:r>
                  <a:rPr lang="en-US" sz="2200" i="1" dirty="0" err="1">
                    <a:latin typeface="Cambria Math" panose="02040503050406030204" pitchFamily="18" charset="0"/>
                  </a:rPr>
                  <a:t>p,q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) состояний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en-US" sz="2200" i="1" dirty="0" err="1">
                    <a:latin typeface="Cambria Math" panose="02040503050406030204" pitchFamily="18" charset="0"/>
                  </a:rPr>
                  <a:t>Та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кая идея называется </a:t>
                </a:r>
                <a:r>
                  <a:rPr lang="ru-RU" sz="2200" i="1" dirty="0" err="1">
                    <a:latin typeface="Cambria Math" panose="02040503050406030204" pitchFamily="18" charset="0"/>
                  </a:rPr>
                  <a:t>энкодер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-декодер внимание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endParaRPr lang="ru-RU" sz="22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E043784-8F80-5804-0527-435AD8BB706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35207" y="732641"/>
                <a:ext cx="11731086" cy="5087918"/>
              </a:xfrm>
              <a:blipFill>
                <a:blip r:embed="rId3"/>
                <a:stretch>
                  <a:fillRect l="-675" t="-1557" r="-26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AB187092-B5EF-33CC-9675-B208B075D2B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1721C348-AB4D-1694-ED40-9B893E5DE4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7038" y="3644158"/>
            <a:ext cx="5469303" cy="3087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39513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C69E47-67F3-EC2B-E037-EFC25792C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BB9A365-3F4F-2913-5258-FEB99C5204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7288" y="232406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ru-RU" dirty="0" err="1"/>
              <a:t>Seq</a:t>
            </a:r>
            <a:r>
              <a:rPr lang="en-US" dirty="0"/>
              <a:t>2Seq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AAFE05D0-50E3-5DBD-DB0E-34B9C49446C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87288" y="883227"/>
                <a:ext cx="11731086" cy="5683828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400" i="1" dirty="0">
                    <a:latin typeface="Cambria Math" panose="02040503050406030204" pitchFamily="18" charset="0"/>
                  </a:rPr>
                  <a:t>Например: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𝑠𝑜𝑓𝑡𝑚𝑎𝑥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(</m:t>
                    </m:r>
                    <m:nary>
                      <m:naryPr>
                        <m:chr m:val="∑"/>
                        <m:limLoc m:val="subSup"/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𝑞</m:t>
                        </m:r>
                      </m:sup>
                      <m:e>
                        <m:sSub>
                          <m:sSub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sSub>
                          <m:sSub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𝑛𝑗</m:t>
                            </m:r>
                          </m:sub>
                        </m:sSub>
                      </m:e>
                    </m:nary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limLoc m:val="subSup"/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𝑝</m:t>
                        </m:r>
                      </m:sup>
                      <m:e>
                        <m:sSub>
                          <m:sSub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sSub>
                          <m:sSub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𝑛𝑗</m:t>
                            </m:r>
                          </m:sub>
                        </m:sSub>
                      </m:e>
                    </m:nary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i="1" dirty="0">
                    <a:latin typeface="Cambria Math" panose="02040503050406030204" pitchFamily="18" charset="0"/>
                  </a:rPr>
                  <a:t> – </a:t>
                </a:r>
                <a:r>
                  <a:rPr lang="en-US" sz="2400" i="1" dirty="0" err="1">
                    <a:latin typeface="Cambria Math" panose="02040503050406030204" pitchFamily="18" charset="0"/>
                  </a:rPr>
                  <a:t>зна</a:t>
                </a:r>
                <a:r>
                  <a:rPr lang="ru-RU" sz="2400" i="1" dirty="0" err="1">
                    <a:latin typeface="Cambria Math" panose="02040503050406030204" pitchFamily="18" charset="0"/>
                  </a:rPr>
                  <a:t>чимость</a:t>
                </a:r>
                <a:r>
                  <a:rPr lang="ru-RU" sz="2400" i="1" dirty="0">
                    <a:latin typeface="Cambria Math" panose="02040503050406030204" pitchFamily="18" charset="0"/>
                  </a:rPr>
                  <a:t> пред</a:t>
                </a:r>
                <a:r>
                  <a:rPr lang="en-US" sz="2400" i="1" dirty="0" err="1">
                    <a:latin typeface="Cambria Math" panose="02040503050406030204" pitchFamily="18" charset="0"/>
                  </a:rPr>
                  <a:t>ыдущих</a:t>
                </a:r>
                <a:r>
                  <a:rPr lang="ru-RU" sz="2400" i="1" dirty="0">
                    <a:latin typeface="Cambria Math" panose="02040503050406030204" pitchFamily="18" charset="0"/>
                  </a:rPr>
                  <a:t> состояний </a:t>
                </a:r>
                <a:r>
                  <a:rPr lang="ru-RU" sz="2400" i="1" dirty="0" err="1">
                    <a:latin typeface="Cambria Math" panose="02040503050406030204" pitchFamily="18" charset="0"/>
                  </a:rPr>
                  <a:t>энкодера</a:t>
                </a:r>
                <a:r>
                  <a:rPr lang="ru-RU" sz="2400" i="1" dirty="0">
                    <a:latin typeface="Cambria Math" panose="02040503050406030204" pitchFamily="18" charset="0"/>
                  </a:rPr>
                  <a:t> и декодера</a:t>
                </a:r>
                <a:endParaRPr lang="en-US" sz="24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ru-RU" sz="2400" i="1" dirty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𝑝</m:t>
                        </m:r>
                      </m:sup>
                      <m:e>
                        <m:sSub>
                          <m:sSub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sSub>
                          <m:sSub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𝑛𝑗</m:t>
                            </m:r>
                          </m:sub>
                        </m:sSub>
                      </m:e>
                    </m:nary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ru-RU" sz="2400" i="1" dirty="0">
                    <a:latin typeface="Cambria Math" panose="02040503050406030204" pitchFamily="18" charset="0"/>
                  </a:rPr>
                  <a:t> взвешивание состояний декодер</a:t>
                </a:r>
                <a:r>
                  <a:rPr lang="en-US" sz="2400" i="1" dirty="0" err="1">
                    <a:latin typeface="Cambria Math" panose="02040503050406030204" pitchFamily="18" charset="0"/>
                  </a:rPr>
                  <a:t>а</a:t>
                </a:r>
                <a:r>
                  <a:rPr lang="ru-RU" sz="2400" i="1" dirty="0">
                    <a:latin typeface="Cambria Math" panose="02040503050406030204" pitchFamily="18" charset="0"/>
                  </a:rPr>
                  <a:t> (контекст)</a:t>
                </a:r>
                <a:endParaRPr lang="en-US" sz="24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endParaRPr lang="ru-RU" sz="2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endParaRPr lang="ru-RU" sz="24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AAFE05D0-50E3-5DBD-DB0E-34B9C49446C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7288" y="883227"/>
                <a:ext cx="11731086" cy="5683828"/>
              </a:xfrm>
              <a:blipFill>
                <a:blip r:embed="rId3"/>
                <a:stretch>
                  <a:fillRect l="-757" t="-334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2729525D-AEBB-195C-FFC9-3C8BCDD1595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44D4546A-52B2-BA21-AE35-107A15EF2A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5600" y="3706368"/>
            <a:ext cx="5359111" cy="302554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6913A18-E42E-DC4F-696D-7667DB03A85C}"/>
              </a:ext>
            </a:extLst>
          </p:cNvPr>
          <p:cNvSpPr txBox="1"/>
          <p:nvPr/>
        </p:nvSpPr>
        <p:spPr>
          <a:xfrm>
            <a:off x="100950" y="4397230"/>
            <a:ext cx="6248400" cy="2169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При прогнозировании нагрузки на электросеть в 18:00, модель может "обратить внимание" на:</a:t>
            </a:r>
          </a:p>
          <a:p>
            <a:pPr marL="742950" lvl="1" indent="-285750" algn="l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аналогичное время вчера,</a:t>
            </a:r>
          </a:p>
          <a:p>
            <a:pPr marL="742950" lvl="1" indent="-285750" algn="l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пик в 19:00 прошлой пятницы (выходные),</a:t>
            </a:r>
          </a:p>
          <a:p>
            <a:pPr marL="742950" lvl="1" indent="-285750" algn="l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резкий скачок из-за шторма неделю назад.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5BE0EE-1550-432E-5B0F-AA7D23A9133C}"/>
              </a:ext>
            </a:extLst>
          </p:cNvPr>
          <p:cNvSpPr txBox="1"/>
          <p:nvPr/>
        </p:nvSpPr>
        <p:spPr>
          <a:xfrm>
            <a:off x="187288" y="2847379"/>
            <a:ext cx="10152889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900"/>
              </a:spcBef>
              <a:spcAft>
                <a:spcPts val="900"/>
              </a:spcAft>
              <a:buFont typeface="+mj-lt"/>
              <a:buAutoNum type="arabicPeriod"/>
            </a:pP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На каждом шаге </a:t>
            </a:r>
            <a:r>
              <a:rPr lang="en" b="0" i="0" dirty="0">
                <a:solidFill>
                  <a:srgbClr val="2C2C36"/>
                </a:solidFill>
                <a:effectLst/>
                <a:latin typeface="system-ui"/>
              </a:rPr>
              <a:t>decoder </a:t>
            </a: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вычисляет </a:t>
            </a:r>
            <a:r>
              <a:rPr lang="ru-RU" b="0" i="0" dirty="0">
                <a:solidFill>
                  <a:srgbClr val="111827"/>
                </a:solidFill>
                <a:effectLst/>
                <a:latin typeface="system-ui"/>
              </a:rPr>
              <a:t>важность (вес)</a:t>
            </a: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 каждого временного шага </a:t>
            </a:r>
            <a:r>
              <a:rPr lang="en" b="0" i="0" dirty="0">
                <a:solidFill>
                  <a:srgbClr val="2C2C36"/>
                </a:solidFill>
                <a:effectLst/>
                <a:latin typeface="system-ui"/>
              </a:rPr>
              <a:t>encoder.</a:t>
            </a:r>
          </a:p>
          <a:p>
            <a:pPr algn="l">
              <a:spcBef>
                <a:spcPts val="900"/>
              </a:spcBef>
              <a:spcAft>
                <a:spcPts val="900"/>
              </a:spcAft>
              <a:buFont typeface="+mj-lt"/>
              <a:buAutoNum type="arabicPeriod"/>
            </a:pP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Веса нормализуются через </a:t>
            </a:r>
            <a:r>
              <a:rPr lang="en" b="0" i="0" dirty="0" err="1">
                <a:solidFill>
                  <a:srgbClr val="2C2C36"/>
                </a:solidFill>
                <a:effectLst/>
                <a:latin typeface="system-ui"/>
              </a:rPr>
              <a:t>softmax</a:t>
            </a:r>
            <a:r>
              <a:rPr lang="en" b="0" i="0" dirty="0">
                <a:solidFill>
                  <a:srgbClr val="2C2C36"/>
                </a:solidFill>
                <a:effectLst/>
                <a:latin typeface="system-ui"/>
              </a:rPr>
              <a:t> → </a:t>
            </a:r>
            <a:r>
              <a:rPr lang="ru-RU" b="0" i="0" dirty="0">
                <a:solidFill>
                  <a:srgbClr val="111827"/>
                </a:solidFill>
                <a:effectLst/>
                <a:latin typeface="system-ui"/>
              </a:rPr>
              <a:t>вектор внимания</a:t>
            </a: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.</a:t>
            </a:r>
          </a:p>
          <a:p>
            <a:pPr algn="l">
              <a:spcBef>
                <a:spcPts val="900"/>
              </a:spcBef>
              <a:spcAft>
                <a:spcPts val="900"/>
              </a:spcAft>
              <a:buFont typeface="+mj-lt"/>
              <a:buAutoNum type="arabicPeriod"/>
            </a:pP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Взвешенная сумма </a:t>
            </a:r>
            <a:r>
              <a:rPr lang="en" b="0" i="0" dirty="0">
                <a:solidFill>
                  <a:srgbClr val="2C2C36"/>
                </a:solidFill>
                <a:effectLst/>
                <a:latin typeface="system-ui"/>
              </a:rPr>
              <a:t>encoder-</a:t>
            </a: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состояний добавляется в </a:t>
            </a:r>
            <a:r>
              <a:rPr lang="en" b="0" i="0" dirty="0">
                <a:solidFill>
                  <a:srgbClr val="2C2C36"/>
                </a:solidFill>
                <a:effectLst/>
                <a:latin typeface="system-ui"/>
              </a:rPr>
              <a:t>input decoder.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6C7B807-AA61-5871-BA47-0CF89C607BE2}"/>
              </a:ext>
            </a:extLst>
          </p:cNvPr>
          <p:cNvSpPr txBox="1"/>
          <p:nvPr/>
        </p:nvSpPr>
        <p:spPr>
          <a:xfrm>
            <a:off x="2013204" y="6436250"/>
            <a:ext cx="786079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100" dirty="0" err="1"/>
              <a:t>https</a:t>
            </a:r>
            <a:r>
              <a:rPr lang="ru-RU" sz="1100" dirty="0"/>
              <a:t>://</a:t>
            </a:r>
            <a:r>
              <a:rPr lang="ru-RU" sz="1100" dirty="0" err="1"/>
              <a:t>readmedium.com</a:t>
            </a:r>
            <a:r>
              <a:rPr lang="ru-RU" sz="1100" dirty="0"/>
              <a:t>/implementing-seq2seq-models-for-efficient-time-series-forecasting-88dba1d66187</a:t>
            </a:r>
          </a:p>
        </p:txBody>
      </p:sp>
    </p:spTree>
    <p:extLst>
      <p:ext uri="{BB962C8B-B14F-4D97-AF65-F5344CB8AC3E}">
        <p14:creationId xmlns:p14="http://schemas.microsoft.com/office/powerpoint/2010/main" val="27577643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CCDCC2-729D-4C9A-B134-6E40388ED2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2080B88-7A5C-1DF9-B4FB-4804991959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7288" y="232406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ru-RU" dirty="0" err="1"/>
              <a:t>Seq</a:t>
            </a:r>
            <a:r>
              <a:rPr lang="en-US" dirty="0"/>
              <a:t>2Seq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55608E0D-F445-A6F1-71F0-87266CC61D2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87288" y="752422"/>
                <a:ext cx="11731086" cy="5683828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en-US" sz="2400" i="1" dirty="0">
                    <a:latin typeface="Cambria Math" panose="02040503050406030204" pitchFamily="18" charset="0"/>
                  </a:rPr>
                  <a:t>Б</a:t>
                </a:r>
                <a:r>
                  <a:rPr lang="ru-RU" sz="2400" i="1" dirty="0" err="1">
                    <a:latin typeface="Cambria Math" panose="02040503050406030204" pitchFamily="18" charset="0"/>
                  </a:rPr>
                  <a:t>олее</a:t>
                </a:r>
                <a:r>
                  <a:rPr lang="ru-RU" sz="2400" i="1" dirty="0">
                    <a:latin typeface="Cambria Math" panose="02040503050406030204" pitchFamily="18" charset="0"/>
                  </a:rPr>
                  <a:t> современная </a:t>
                </a:r>
                <a:r>
                  <a:rPr lang="ru-RU" sz="2400" i="1" dirty="0" err="1">
                    <a:latin typeface="Cambria Math" panose="02040503050406030204" pitchFamily="18" charset="0"/>
                  </a:rPr>
                  <a:t>трактова</a:t>
                </a:r>
                <a:r>
                  <a:rPr lang="ru-RU" sz="2400" i="1" dirty="0">
                    <a:latin typeface="Cambria Math" panose="02040503050406030204" pitchFamily="18" charset="0"/>
                  </a:rPr>
                  <a:t> внимания: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ru-RU" sz="2400" i="1" dirty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𝑎𝑡</m:t>
                          </m:r>
                        </m:sub>
                      </m:sSub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ru-RU" sz="2400" b="0" i="1" dirty="0" smtClean="0">
                          <a:latin typeface="Cambria Math" panose="02040503050406030204" pitchFamily="18" charset="0"/>
                        </a:rPr>
                        <m:t>𝑠𝑜𝑓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𝑡𝑚𝑎𝑥</m:t>
                      </m:r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sSup>
                                <m:sSup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p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e>
                              </m:rad>
                            </m:den>
                          </m:f>
                        </m:e>
                      </m:d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ru-RU" sz="2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ru-RU" sz="24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2400" b="0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ru-RU" sz="2400" b="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</m:sup>
                    </m:sSup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sz="2400" dirty="0"/>
                  <a:t> – query – </a:t>
                </a:r>
                <a:r>
                  <a:rPr lang="en-US" sz="2400" dirty="0" err="1"/>
                  <a:t>запро</a:t>
                </a:r>
                <a:r>
                  <a:rPr lang="ru-RU" sz="2400" dirty="0"/>
                  <a:t>с (важность информации декодера)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</m:sSup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 −</m:t>
                    </m:r>
                  </m:oMath>
                </a14:m>
                <a:r>
                  <a:rPr lang="en-US" sz="2400" dirty="0"/>
                  <a:t>  key –</a:t>
                </a:r>
                <a:r>
                  <a:rPr lang="ru-RU" sz="2400" dirty="0"/>
                  <a:t> </a:t>
                </a:r>
                <a:r>
                  <a:rPr lang="ru-RU" sz="2400" dirty="0" err="1"/>
                  <a:t>ключь</a:t>
                </a:r>
                <a:r>
                  <a:rPr lang="ru-RU" sz="2400" dirty="0"/>
                  <a:t> – важность информации </a:t>
                </a:r>
                <a:r>
                  <a:rPr lang="ru-RU" sz="2400" dirty="0" err="1"/>
                  <a:t>энкодера</a:t>
                </a:r>
                <a:endParaRPr lang="ru-RU" sz="2400" dirty="0"/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ru-RU" sz="24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2400" b="0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ru-RU" sz="2400" b="0" i="1" dirty="0" smtClean="0">
                            <a:latin typeface="Cambria Math" panose="02040503050406030204" pitchFamily="18" charset="0"/>
                          </a:rPr>
                          <m:t>𝑉</m:t>
                        </m:r>
                      </m:sup>
                    </m:sSup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 −</m:t>
                    </m:r>
                  </m:oMath>
                </a14:m>
                <a:r>
                  <a:rPr lang="ru-RU" sz="2400" i="1" dirty="0">
                    <a:latin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</a:rPr>
                  <a:t>value </a:t>
                </a:r>
                <a:r>
                  <a:rPr lang="ru-RU" sz="2400" dirty="0">
                    <a:latin typeface="Cambria Math" panose="02040503050406030204" pitchFamily="18" charset="0"/>
                  </a:rPr>
                  <a:t>важность информации </a:t>
                </a:r>
                <a:r>
                  <a:rPr lang="ru-RU" sz="2400" dirty="0" err="1">
                    <a:latin typeface="Cambria Math" panose="02040503050406030204" pitchFamily="18" charset="0"/>
                  </a:rPr>
                  <a:t>энкодара</a:t>
                </a:r>
                <a:r>
                  <a:rPr lang="ru-RU" sz="2400" dirty="0">
                    <a:latin typeface="Cambria Math" panose="02040503050406030204" pitchFamily="18" charset="0"/>
                  </a:rPr>
                  <a:t> на текущем шаге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𝑎𝑡</m:t>
                        </m:r>
                      </m:sub>
                    </m:sSub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 −</m:t>
                    </m:r>
                    <m:r>
                      <a:rPr lang="ru-RU" sz="2400" b="0" i="0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sz="2400" dirty="0">
                    <a:latin typeface="Cambria Math" panose="02040503050406030204" pitchFamily="18" charset="0"/>
                  </a:rPr>
                  <a:t>важность значений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ru-RU" sz="2400" dirty="0">
                    <a:latin typeface="Cambria Math" panose="02040503050406030204" pitchFamily="18" charset="0"/>
                  </a:rPr>
                  <a:t> для текущего </a:t>
                </a:r>
                <a:r>
                  <a:rPr lang="ru-RU" sz="2400" dirty="0" err="1">
                    <a:latin typeface="Cambria Math" panose="02040503050406030204" pitchFamily="18" charset="0"/>
                  </a:rPr>
                  <a:t>предсказкания</a:t>
                </a:r>
                <a:r>
                  <a:rPr lang="ru-RU" sz="2400" dirty="0">
                    <a:latin typeface="Cambria Math" panose="02040503050406030204" pitchFamily="18" charset="0"/>
                  </a:rPr>
                  <a:t> </a:t>
                </a:r>
                <a:r>
                  <a:rPr lang="ru-RU" sz="2400" i="1" dirty="0"/>
                  <a:t>(вес от 0 до 1) </a:t>
                </a:r>
                <a:endParaRPr lang="ru-RU" sz="2400" dirty="0">
                  <a:latin typeface="Cambria Math" panose="02040503050406030204" pitchFamily="18" charset="0"/>
                </a:endParaRPr>
              </a:p>
              <a:p>
                <a:pPr lvl="1"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dirty="0"/>
                  <a:t>если </a:t>
                </a:r>
                <a:r>
                  <a:rPr lang="en" dirty="0"/>
                  <a:t>decoder </a:t>
                </a:r>
                <a:r>
                  <a:rPr lang="ru-RU" dirty="0"/>
                  <a:t>прогнозирует пик в пятницу вечером, </a:t>
                </a:r>
                <a:r>
                  <a:rPr lang="ru-RU" i="1" dirty="0"/>
                  <a:t>важность значения </a:t>
                </a:r>
                <a:r>
                  <a:rPr lang="ru-RU" dirty="0"/>
                  <a:t>пятница-вчера​ будет большим.</a:t>
                </a:r>
                <a:endParaRPr lang="en-US" sz="2000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ru-RU" sz="2400" i="1" dirty="0">
                        <a:latin typeface="Cambria Math" panose="02040503050406030204" pitchFamily="18" charset="0"/>
                      </a:rPr>
                      <m:t> − </m:t>
                    </m:r>
                  </m:oMath>
                </a14:m>
                <a:r>
                  <a:rPr lang="ru-RU" sz="2400" dirty="0">
                    <a:latin typeface="Cambria Math" panose="02040503050406030204" pitchFamily="18" charset="0"/>
                  </a:rPr>
                  <a:t>размерность векторов</a:t>
                </a:r>
                <a:r>
                  <a:rPr lang="en-US" sz="2400" dirty="0">
                    <a:latin typeface="Cambria Math" panose="02040503050406030204" pitchFamily="18" charset="0"/>
                  </a:rPr>
                  <a:t> </a:t>
                </a:r>
                <a:endParaRPr lang="ru-RU" sz="2400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400" dirty="0">
                    <a:latin typeface="Cambria Math" panose="02040503050406030204" pitchFamily="18" charset="0"/>
                  </a:rPr>
                  <a:t>Интерпретация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ru-RU" sz="24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ru-RU" sz="2400" dirty="0">
                    <a:latin typeface="Cambria Math" panose="02040503050406030204" pitchFamily="18" charset="0"/>
                  </a:rPr>
                  <a:t> – может меняться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400" dirty="0">
                    <a:latin typeface="Cambria Math" panose="02040503050406030204" pitchFamily="18" charset="0"/>
                  </a:rPr>
                  <a:t>Указанная </a:t>
                </a:r>
                <a:r>
                  <a:rPr lang="ru-RU" sz="2400" dirty="0" err="1">
                    <a:latin typeface="Cambria Math" panose="02040503050406030204" pitchFamily="18" charset="0"/>
                  </a:rPr>
                  <a:t>трактова</a:t>
                </a:r>
                <a:r>
                  <a:rPr lang="ru-RU" sz="2400" dirty="0">
                    <a:latin typeface="Cambria Math" panose="02040503050406030204" pitchFamily="18" charset="0"/>
                  </a:rPr>
                  <a:t> внимания – это т.н. </a:t>
                </a:r>
                <a:br>
                  <a:rPr lang="ru-RU" sz="2400" dirty="0">
                    <a:latin typeface="Cambria Math" panose="02040503050406030204" pitchFamily="18" charset="0"/>
                  </a:rPr>
                </a:br>
                <a:r>
                  <a:rPr lang="en-US" sz="2400" dirty="0">
                    <a:latin typeface="Cambria Math" panose="02040503050406030204" pitchFamily="18" charset="0"/>
                  </a:rPr>
                  <a:t>Encoder-decoder attention (</a:t>
                </a:r>
                <a:r>
                  <a:rPr lang="en-US" sz="2400" dirty="0" err="1">
                    <a:latin typeface="Cambria Math" panose="02040503050406030204" pitchFamily="18" charset="0"/>
                  </a:rPr>
                  <a:t>corss</a:t>
                </a:r>
                <a:r>
                  <a:rPr lang="en-US" sz="2400" dirty="0">
                    <a:latin typeface="Cambria Math" panose="02040503050406030204" pitchFamily="18" charset="0"/>
                  </a:rPr>
                  <a:t>-attention)</a:t>
                </a:r>
                <a:endParaRPr lang="ru-RU" sz="2400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endParaRPr lang="ru-RU" sz="24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55608E0D-F445-A6F1-71F0-87266CC61D2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7288" y="752422"/>
                <a:ext cx="11731086" cy="5683828"/>
              </a:xfrm>
              <a:blipFill>
                <a:blip r:embed="rId3"/>
                <a:stretch>
                  <a:fillRect l="-757" t="-89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1A00C0CD-0613-58BA-836F-4B5A99DD62C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74D6A68-41E1-2E0D-60DC-A84614F34825}"/>
              </a:ext>
            </a:extLst>
          </p:cNvPr>
          <p:cNvSpPr txBox="1"/>
          <p:nvPr/>
        </p:nvSpPr>
        <p:spPr>
          <a:xfrm>
            <a:off x="2013204" y="6436250"/>
            <a:ext cx="786079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1100" dirty="0"/>
              <a:t>https://</a:t>
            </a:r>
            <a:r>
              <a:rPr lang="en" sz="1100" dirty="0" err="1"/>
              <a:t>epichka.com</a:t>
            </a:r>
            <a:r>
              <a:rPr lang="en" sz="1100" dirty="0"/>
              <a:t>/blog/2023/</a:t>
            </a:r>
            <a:r>
              <a:rPr lang="en" sz="1100" dirty="0" err="1"/>
              <a:t>qkv</a:t>
            </a:r>
            <a:r>
              <a:rPr lang="en" sz="1100" dirty="0"/>
              <a:t>-transformer/</a:t>
            </a:r>
            <a:endParaRPr lang="ru-RU" sz="1100" dirty="0"/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F2969BF6-1E24-E25B-A390-AD107395B5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17536" y="4027958"/>
            <a:ext cx="4287176" cy="27228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10614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2871F23C-397D-5391-FC1C-27AFED8AD2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90367" y="4933454"/>
            <a:ext cx="5528007" cy="17260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EDD9DD8A-C887-FFC3-D923-0FB0B032EF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71502" y="4815131"/>
            <a:ext cx="5333210" cy="15446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7288" y="232406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ru-RU" dirty="0" err="1"/>
              <a:t>Seq</a:t>
            </a:r>
            <a:r>
              <a:rPr lang="en-US" dirty="0"/>
              <a:t>2Seq</a:t>
            </a:r>
            <a:endParaRPr lang="ru-RU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87288" y="691837"/>
            <a:ext cx="11731086" cy="5683828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Пусть требуется предсказать последовательность значений по входным данным</a:t>
            </a:r>
          </a:p>
          <a:p>
            <a:pPr lvl="1">
              <a:lnSpc>
                <a:spcPct val="100000"/>
              </a:lnSpc>
              <a:spcBef>
                <a:spcPts val="200"/>
              </a:spcBef>
            </a:pPr>
            <a:r>
              <a:rPr lang="ru-RU" sz="1800" dirty="0"/>
              <a:t>Эта задача </a:t>
            </a:r>
            <a:r>
              <a:rPr lang="ru-RU" sz="1800" dirty="0" err="1"/>
              <a:t>seq</a:t>
            </a:r>
            <a:r>
              <a:rPr lang="en-US" sz="1800" dirty="0" err="1"/>
              <a:t>uence</a:t>
            </a:r>
            <a:r>
              <a:rPr lang="en-US" sz="1800" dirty="0"/>
              <a:t>-to-sequence (Seq2Seq)</a:t>
            </a:r>
            <a:endParaRPr lang="ru-RU" sz="1800" dirty="0"/>
          </a:p>
          <a:p>
            <a:pPr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RNN</a:t>
            </a:r>
            <a:r>
              <a:rPr lang="en-US" sz="2200" dirty="0"/>
              <a:t> </a:t>
            </a:r>
            <a:r>
              <a:rPr lang="ru-RU" sz="2200" dirty="0"/>
              <a:t>предполагает что мы идем окном по известной последовательности пока не дойдем до последнего известного значения. </a:t>
            </a:r>
          </a:p>
          <a:p>
            <a:pPr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На выходе последнее известное значение </a:t>
            </a:r>
            <a:r>
              <a:rPr lang="en-US" sz="2200" dirty="0" err="1"/>
              <a:t>y_n</a:t>
            </a:r>
            <a:r>
              <a:rPr lang="en-US" sz="2200" dirty="0"/>
              <a:t> </a:t>
            </a:r>
            <a:r>
              <a:rPr lang="ru-RU" sz="2200" dirty="0"/>
              <a:t>и</a:t>
            </a:r>
            <a:r>
              <a:rPr lang="en-US" sz="2200" dirty="0"/>
              <a:t> </a:t>
            </a:r>
            <a:r>
              <a:rPr lang="en-US" sz="2200" dirty="0" err="1"/>
              <a:t>h_n</a:t>
            </a:r>
            <a:endParaRPr lang="en-US" sz="2200" dirty="0"/>
          </a:p>
          <a:p>
            <a:pPr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В последующих прогнозах</a:t>
            </a:r>
            <a:r>
              <a:rPr lang="en-US" sz="2200" dirty="0"/>
              <a:t> h_(</a:t>
            </a:r>
            <a:r>
              <a:rPr lang="en-US" sz="2200" dirty="0" err="1"/>
              <a:t>n+i</a:t>
            </a:r>
            <a:r>
              <a:rPr lang="en-US" sz="2200" dirty="0"/>
              <a:t>) </a:t>
            </a:r>
            <a:r>
              <a:rPr lang="ru-RU" sz="2200" dirty="0"/>
              <a:t>и </a:t>
            </a:r>
            <a:r>
              <a:rPr lang="en-US" sz="2200" dirty="0"/>
              <a:t>\hat y_(</a:t>
            </a:r>
            <a:r>
              <a:rPr lang="en-US" sz="2200" dirty="0" err="1"/>
              <a:t>n+i</a:t>
            </a:r>
            <a:r>
              <a:rPr lang="en-US" sz="2200" dirty="0"/>
              <a:t>)</a:t>
            </a:r>
            <a:r>
              <a:rPr lang="ru-RU" sz="2200" dirty="0"/>
              <a:t> будет зависеть от оценки </a:t>
            </a:r>
            <a:r>
              <a:rPr lang="en-US" sz="2200" dirty="0"/>
              <a:t>\hat y_(n+i-1) </a:t>
            </a:r>
            <a:endParaRPr lang="ru-RU" sz="2200" dirty="0"/>
          </a:p>
          <a:p>
            <a:pPr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Тогда условно можно разделить архитектуру на </a:t>
            </a:r>
          </a:p>
          <a:p>
            <a:pPr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кодирующую часть (</a:t>
            </a:r>
            <a:r>
              <a:rPr lang="ru-RU" sz="2200" dirty="0" err="1"/>
              <a:t>Энкодер</a:t>
            </a:r>
            <a:r>
              <a:rPr lang="ru-RU" sz="2200" dirty="0"/>
              <a:t>) – создает  </a:t>
            </a:r>
            <a:r>
              <a:rPr lang="en-US" sz="2200" dirty="0" err="1"/>
              <a:t>h_n</a:t>
            </a:r>
            <a:endParaRPr lang="ru-RU" sz="2200" dirty="0"/>
          </a:p>
          <a:p>
            <a:pPr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Декодирующую часть (декодер) – </a:t>
            </a:r>
            <a:r>
              <a:rPr lang="ru-RU" sz="2200" dirty="0" err="1"/>
              <a:t>прогназирует</a:t>
            </a:r>
            <a:r>
              <a:rPr lang="ru-RU" sz="2200" dirty="0"/>
              <a:t> </a:t>
            </a:r>
            <a:r>
              <a:rPr lang="en-US" sz="2200" dirty="0"/>
              <a:t>\hat y_(</a:t>
            </a:r>
            <a:r>
              <a:rPr lang="en-US" sz="2200" dirty="0" err="1"/>
              <a:t>n+i</a:t>
            </a:r>
            <a:r>
              <a:rPr lang="en-US" sz="2200" dirty="0"/>
              <a:t>)</a:t>
            </a:r>
            <a:endParaRPr lang="ru-RU" sz="2200" dirty="0"/>
          </a:p>
          <a:p>
            <a:pPr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Вектор </a:t>
            </a:r>
            <a:r>
              <a:rPr lang="en-US" sz="2200" dirty="0" err="1"/>
              <a:t>h_n</a:t>
            </a:r>
            <a:r>
              <a:rPr lang="ru-RU" sz="2200" dirty="0"/>
              <a:t> – компактное представление известного состояния системы</a:t>
            </a:r>
          </a:p>
          <a:p>
            <a:pPr>
              <a:lnSpc>
                <a:spcPct val="100000"/>
              </a:lnSpc>
              <a:spcBef>
                <a:spcPts val="200"/>
              </a:spcBef>
            </a:pPr>
            <a:endParaRPr lang="ru-RU" sz="2200" dirty="0"/>
          </a:p>
          <a:p>
            <a:pPr>
              <a:lnSpc>
                <a:spcPct val="100000"/>
              </a:lnSpc>
              <a:spcBef>
                <a:spcPts val="200"/>
              </a:spcBef>
            </a:pPr>
            <a:endParaRPr lang="ru-RU" sz="2400" dirty="0"/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BC6AA1D1-94FA-D72D-BEB2-5A9E356F87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7288" y="4341769"/>
            <a:ext cx="6732807" cy="24911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0BB0F624-8637-AE31-D116-DD08F96AF6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31808" y="3047912"/>
            <a:ext cx="2872904" cy="16173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3AFA44F-1F99-7162-F8FB-E393AF39B088}"/>
              </a:ext>
            </a:extLst>
          </p:cNvPr>
          <p:cNvSpPr txBox="1"/>
          <p:nvPr/>
        </p:nvSpPr>
        <p:spPr>
          <a:xfrm>
            <a:off x="6839594" y="6659465"/>
            <a:ext cx="609382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800" dirty="0" err="1"/>
              <a:t>https</a:t>
            </a:r>
            <a:r>
              <a:rPr lang="ru-RU" sz="800" dirty="0"/>
              <a:t>://</a:t>
            </a:r>
            <a:r>
              <a:rPr lang="ru-RU" sz="800" dirty="0" err="1"/>
              <a:t>readmedium.com</a:t>
            </a:r>
            <a:r>
              <a:rPr lang="ru-RU" sz="800" dirty="0"/>
              <a:t>/implementing-seq2seq-models-for-efficient-time-series-forecasting-88dba1d66187</a:t>
            </a:r>
          </a:p>
        </p:txBody>
      </p:sp>
    </p:spTree>
    <p:extLst>
      <p:ext uri="{BB962C8B-B14F-4D97-AF65-F5344CB8AC3E}">
        <p14:creationId xmlns:p14="http://schemas.microsoft.com/office/powerpoint/2010/main" val="17438152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C1A4C7-7DF5-2566-BF73-7ED6D22A9C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6CA9A12-8A9E-CB8E-F027-DF89EB366D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35800" y="426149"/>
            <a:ext cx="10084472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RNN</a:t>
            </a:r>
            <a:r>
              <a:rPr lang="en-US" b="1" dirty="0"/>
              <a:t> c </a:t>
            </a:r>
            <a:r>
              <a:rPr lang="ru-RU" b="1" dirty="0"/>
              <a:t>вниманием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778FA63F-6E14-00EE-8E4B-1B9C6497EEB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30457" y="1037440"/>
                <a:ext cx="11731086" cy="549747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ru-RU" sz="2200" b="1" dirty="0"/>
                  <a:t>Идея: </a:t>
                </a:r>
              </a:p>
              <a:p>
                <a:pPr marL="0" indent="0">
                  <a:buNone/>
                </a:pPr>
                <a:r>
                  <a:rPr lang="ru-RU" sz="2200" b="1" dirty="0"/>
                  <a:t>модель могла бы </a:t>
                </a:r>
                <a:r>
                  <a:rPr lang="ru-RU" sz="2200" dirty="0"/>
                  <a:t>внимательно смотреть</a:t>
                </a:r>
                <a:r>
                  <a:rPr lang="ru-RU" sz="2200" b="1" dirty="0"/>
                  <a:t> на все прошлые шаги, а не только "сжимать" их</a:t>
                </a:r>
              </a:p>
              <a:p>
                <a:pPr marL="0" indent="0">
                  <a:buNone/>
                </a:pPr>
                <a:r>
                  <a:rPr lang="ru-RU" sz="2200" dirty="0"/>
                  <a:t>Реализация идеи - механизму внимания (</a:t>
                </a:r>
                <a:r>
                  <a:rPr lang="en" sz="2200" dirty="0"/>
                  <a:t>Attention Mechanism).</a:t>
                </a:r>
                <a:endParaRPr lang="ru-RU" sz="2200" dirty="0"/>
              </a:p>
              <a:p>
                <a:pPr marL="457200" lvl="1" indent="0">
                  <a:buNone/>
                </a:pPr>
                <a:r>
                  <a:rPr lang="ru-RU" sz="2200" b="1" dirty="0"/>
                  <a:t>Внимание</a:t>
                </a:r>
                <a:r>
                  <a:rPr lang="ru-RU" sz="2200" dirty="0"/>
                  <a:t> — это способность модели взвешенно обращаться к разным частям входной последовательности, в зависимости от того, насколько они важны для текущего предсказания.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/>
                  <a:t> </a:t>
                </a:r>
                <a:r>
                  <a:rPr lang="en" sz="2200" b="1" dirty="0">
                    <a:solidFill>
                      <a:srgbClr val="2C2C36"/>
                    </a:solidFill>
                    <a:latin typeface="system-ui"/>
                  </a:rPr>
                  <a:t>RNN</a:t>
                </a:r>
                <a:r>
                  <a:rPr lang="ru-RU" sz="2200" b="1" dirty="0">
                    <a:solidFill>
                      <a:srgbClr val="2C2C36"/>
                    </a:solidFill>
                    <a:latin typeface="system-ui"/>
                  </a:rPr>
                  <a:t> с вниманием  - обработка параллельно набора предыдущих состояний</a:t>
                </a:r>
                <a:endParaRPr lang="ru-RU" sz="2200" dirty="0"/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i="1" dirty="0">
                    <a:latin typeface="Cambria Math" panose="02040503050406030204" pitchFamily="18" charset="0"/>
                  </a:rPr>
                  <a:t>	Цель – выделить наиболее важные состояния и «подсветить» в текущем векторе состояний на что обратить внимание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i="1" dirty="0">
                    <a:latin typeface="Cambria Math" panose="02040503050406030204" pitchFamily="18" charset="0"/>
                  </a:rPr>
                  <a:t>Для этого введем </a:t>
                </a:r>
                <a:r>
                  <a:rPr lang="en-US" sz="2200" i="1" dirty="0">
                    <a:latin typeface="Cambria Math" panose="02040503050406030204" pitchFamily="18" charset="0"/>
                  </a:rPr>
                  <a:t>score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 состояний, например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i="1" dirty="0">
                    <a:latin typeface="Cambria Math" panose="02040503050406030204" pitchFamily="18" charset="0"/>
                  </a:rPr>
                  <a:t>Пусть </a:t>
                </a:r>
                <a:r>
                  <a:rPr lang="ru-RU" sz="2200" i="1" dirty="0" err="1">
                    <a:latin typeface="Cambria Math" panose="02040503050406030204" pitchFamily="18" charset="0"/>
                  </a:rPr>
                  <a:t>Q</a:t>
                </a:r>
                <a:r>
                  <a:rPr lang="en-US" sz="2200" i="1" dirty="0">
                    <a:latin typeface="Cambria Math" panose="02040503050406030204" pitchFamily="18" charset="0"/>
                  </a:rPr>
                  <a:t> – 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вектор скрытых состояний в </a:t>
                </a:r>
                <a:r>
                  <a:rPr lang="ru-RU" sz="2200" i="1" dirty="0" err="1">
                    <a:latin typeface="Cambria Math" panose="02040503050406030204" pitchFamily="18" charset="0"/>
                  </a:rPr>
                  <a:t>режме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 предсказания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𝑠𝑐𝑜𝑟𝑒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𝐻</m:t>
                          </m:r>
                          <m:sSup>
                            <m:sSupPr>
                              <m:ctrlP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p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sup>
                          </m:sSup>
                        </m:e>
                      </m:d>
                      <m:sSup>
                        <m:sSupPr>
                          <m:ctrlP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  <m:sSup>
                                <m:sSup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p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sup>
                              </m:sSup>
                            </m:e>
                          </m:d>
                        </m:e>
                        <m:sup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en-US" sz="2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𝑄</m:t>
                        </m:r>
                      </m:sup>
                    </m:sSup>
                    <m:r>
                      <a:rPr lang="en-US" sz="22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" sz="2200" dirty="0"/>
                  <a:t>​,</a:t>
                </a:r>
                <a:r>
                  <a:rPr lang="en-US" sz="22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</m:sSup>
                    <m:r>
                      <a:rPr lang="en-US" sz="22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" sz="2200" dirty="0"/>
                  <a:t>​— </a:t>
                </a:r>
                <a:r>
                  <a:rPr lang="en-US" sz="2200" dirty="0" err="1"/>
                  <a:t>мат</a:t>
                </a:r>
                <a:r>
                  <a:rPr lang="ru-RU" sz="2200" dirty="0" err="1"/>
                  <a:t>рицы</a:t>
                </a:r>
                <a:r>
                  <a:rPr lang="ru-RU" sz="2200" dirty="0"/>
                  <a:t> параметров (</a:t>
                </a:r>
                <a:r>
                  <a:rPr lang="ru-RU" sz="2200" dirty="0" err="1"/>
                  <a:t>полносвязные</a:t>
                </a:r>
                <a:r>
                  <a:rPr lang="ru-RU" sz="2200" dirty="0"/>
                  <a:t> слои) для обучения сложных зависимостей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ru-RU" sz="2200" i="1" dirty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200" i="1" dirty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ru-RU" sz="2200" b="0" i="1" dirty="0" smtClean="0">
                        <a:latin typeface="Cambria Math" panose="02040503050406030204" pitchFamily="18" charset="0"/>
                      </a:rPr>
                      <m:t> −</m:t>
                    </m:r>
                  </m:oMath>
                </a14:m>
                <a:r>
                  <a:rPr lang="ru-RU" sz="2200" i="1" dirty="0">
                    <a:latin typeface="Cambria Math" panose="02040503050406030204" pitchFamily="18" charset="0"/>
                  </a:rPr>
                  <a:t> </a:t>
                </a:r>
                <a:r>
                  <a:rPr lang="ru-RU" sz="2200" dirty="0">
                    <a:latin typeface="Cambria Math" panose="02040503050406030204" pitchFamily="18" charset="0"/>
                  </a:rPr>
                  <a:t>матрица состояний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i="1" dirty="0">
                    <a:latin typeface="Cambria Math" panose="02040503050406030204" pitchFamily="18" charset="0"/>
                  </a:rPr>
                  <a:t>По </a:t>
                </a:r>
                <a:r>
                  <a:rPr lang="ru-RU" sz="2200" i="1" dirty="0" err="1">
                    <a:latin typeface="Cambria Math" panose="02040503050406030204" pitchFamily="18" charset="0"/>
                  </a:rPr>
                  <a:t>анологии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 с текстами:  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endParaRPr lang="ru-RU" sz="22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778FA63F-6E14-00EE-8E4B-1B9C6497EE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30457" y="1037440"/>
                <a:ext cx="11731086" cy="5497471"/>
              </a:xfrm>
              <a:blipFill>
                <a:blip r:embed="rId3"/>
                <a:stretch>
                  <a:fillRect l="-649" t="-1382" b="-92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9B6AB84A-4269-D9CB-21BC-C8E121909E5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855396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40E190-CA5A-A613-8ACC-464845AE88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260A761-4246-BBFF-D959-A530B9490F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7288" y="290945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en-US" dirty="0"/>
              <a:t>encoder only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DC207B75-866E-EFFA-F593-7DF7DB08E86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87288" y="883227"/>
                <a:ext cx="11731086" cy="5683828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400" dirty="0"/>
                  <a:t>П</a:t>
                </a:r>
                <a14:m>
                  <m:oMath xmlns:m="http://schemas.openxmlformats.org/officeDocument/2006/math">
                    <m:r>
                      <a:rPr lang="ru-RU" sz="2400" dirty="0">
                        <a:latin typeface="Cambria Math" panose="02040503050406030204" pitchFamily="18" charset="0"/>
                      </a:rPr>
                      <m:t>у</m:t>
                    </m:r>
                    <m:r>
                      <a:rPr lang="ru-RU" sz="2400" b="0" i="0" dirty="0" smtClean="0">
                        <a:latin typeface="Cambria Math" panose="02040503050406030204" pitchFamily="18" charset="0"/>
                      </a:rPr>
                      <m:t>сть есть буфер 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ru-RU" sz="2400" b="0" i="0" dirty="0" smtClean="0">
                        <a:latin typeface="Cambria Math" panose="02040503050406030204" pitchFamily="18" charset="0"/>
                      </a:rPr>
                      <m:t> скрытых состояний </m:t>
                    </m:r>
                    <m:sSub>
                      <m:sSub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𝑛𝑗</m:t>
                        </m:r>
                      </m:sub>
                    </m:sSub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 энкодера</m:t>
                    </m:r>
                  </m:oMath>
                </a14:m>
                <a:r>
                  <a:rPr lang="ru-RU" sz="2400" b="0" i="1" dirty="0">
                    <a:latin typeface="Cambria Math" panose="02040503050406030204" pitchFamily="18" charset="0"/>
                  </a:rPr>
                  <a:t> и 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ru-RU" sz="2400" dirty="0"/>
                  <a:t> </a:t>
                </a:r>
                <a14:m>
                  <m:oMath xmlns:m="http://schemas.openxmlformats.org/officeDocument/2006/math">
                    <m:r>
                      <a:rPr lang="ru-RU" sz="2400" dirty="0">
                        <a:latin typeface="Cambria Math" panose="02040503050406030204" pitchFamily="18" charset="0"/>
                      </a:rPr>
                      <m:t>скрытых состояний </m:t>
                    </m:r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𝑛𝑗</m:t>
                        </m:r>
                      </m:sub>
                    </m:sSub>
                    <m:r>
                      <a:rPr lang="ru-RU" sz="2400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декодера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 требуется предсказать </m:t>
                    </m:r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4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ru-RU" sz="24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4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ru-RU" sz="24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𝐵</m:t>
                          </m:r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5"/>
                                </m:r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brk m:alnAt="25"/>
                                </m:r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ru-RU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endParaRPr lang="ru-RU" sz="24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4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ru-RU" sz="24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5"/>
                                </m:r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brk m:alnAt="25"/>
                                </m:r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limLoc m:val="subSup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5"/>
                                    </m:r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=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p>
                                <m:e>
                                  <m:sSub>
                                    <m:sSubPr>
                                      <m:ctrlPr>
                                        <a:rPr lang="en-US" sz="2400" b="0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b="0" i="1" dirty="0" smtClean="0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sz="2400" b="0" i="1" dirty="0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en-US" sz="24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 dirty="0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2400" i="1" dirty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en-US" sz="2400" b="0" i="1" dirty="0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nary>
                            </m:e>
                          </m:d>
                        </m:e>
                      </m:d>
                    </m:oMath>
                  </m:oMathPara>
                </a14:m>
                <a:endParaRPr lang="en-US" sz="2400" dirty="0"/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en-US" sz="2400" dirty="0" err="1"/>
                  <a:t>где</a:t>
                </a:r>
                <a:r>
                  <a:rPr lang="ru-RU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d>
                      <m:d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limLoc m:val="subSup"/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5"/>
                              </m:rP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𝑛𝑗</m:t>
                                </m:r>
                              </m:sub>
                            </m:sSub>
                          </m:e>
                        </m:nary>
                      </m:e>
                    </m:d>
                  </m:oMath>
                </a14:m>
                <a:r>
                  <a:rPr lang="en-US" sz="2400" dirty="0"/>
                  <a:t> - </a:t>
                </a:r>
                <a:r>
                  <a:rPr lang="en-US" sz="2400" dirty="0" err="1"/>
                  <a:t>слой</a:t>
                </a:r>
                <a:r>
                  <a:rPr lang="ru-RU" sz="2400" dirty="0"/>
                  <a:t> задающий вектор текущих скрытых состояний из предыдущих 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ru-RU" sz="2400" dirty="0"/>
                  <a:t> скрытых состояний</a:t>
                </a:r>
                <a:r>
                  <a:rPr lang="en-US" sz="2400" dirty="0"/>
                  <a:t>;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400" dirty="0"/>
                  <a:t> - </a:t>
                </a:r>
                <a:r>
                  <a:rPr lang="en-US" sz="2400" dirty="0" err="1"/>
                  <a:t>ве</a:t>
                </a:r>
                <a:r>
                  <a:rPr lang="ru-RU" sz="2400" dirty="0"/>
                  <a:t>с каждого скрытого состояния</a:t>
                </a:r>
                <a:r>
                  <a:rPr lang="en-US" sz="2400" dirty="0"/>
                  <a:t>;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endParaRPr lang="ru-RU" sz="24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DC207B75-866E-EFFA-F593-7DF7DB08E86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7288" y="883227"/>
                <a:ext cx="11731086" cy="5683828"/>
              </a:xfrm>
              <a:blipFill>
                <a:blip r:embed="rId3"/>
                <a:stretch>
                  <a:fillRect l="-757" t="-67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8A313DC5-9669-D072-FD04-7E4FCF7987F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619631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BF3182-FE82-096C-7415-EC2FFA2AAE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A7D898F-94B0-55B1-BE33-B1E6B7AAC8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7288" y="290945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en-US" dirty="0"/>
              <a:t>encoder only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BD91C02F-8378-5B65-2179-2A34ECD52A2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87288" y="883227"/>
                <a:ext cx="11731086" cy="5683828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400" dirty="0"/>
                  <a:t>П</a:t>
                </a:r>
                <a14:m>
                  <m:oMath xmlns:m="http://schemas.openxmlformats.org/officeDocument/2006/math">
                    <m:r>
                      <a:rPr lang="ru-RU" sz="2400" dirty="0">
                        <a:latin typeface="Cambria Math" panose="02040503050406030204" pitchFamily="18" charset="0"/>
                      </a:rPr>
                      <m:t>у</m:t>
                    </m:r>
                    <m:r>
                      <a:rPr lang="ru-RU" sz="2400" b="0" i="0" dirty="0" smtClean="0">
                        <a:latin typeface="Cambria Math" panose="02040503050406030204" pitchFamily="18" charset="0"/>
                      </a:rPr>
                      <m:t>сть </m:t>
                    </m:r>
                    <m:r>
                      <a:rPr lang="en-US" sz="2400" b="0" i="0" dirty="0" smtClean="0">
                        <a:latin typeface="Cambria Math" panose="02040503050406030204" pitchFamily="18" charset="0"/>
                      </a:rPr>
                      <m:t>есть</m:t>
                    </m:r>
                    <m:r>
                      <a:rPr lang="ru-RU" sz="2400" b="0" i="0" dirty="0" smtClean="0">
                        <a:latin typeface="Cambria Math" panose="02040503050406030204" pitchFamily="18" charset="0"/>
                      </a:rPr>
                      <m:t> задача итеративного предсказания</m:t>
                    </m:r>
                  </m:oMath>
                </a14:m>
                <a:r>
                  <a:rPr lang="ru-RU" sz="2400" b="0" dirty="0"/>
                  <a:t> и </a:t>
                </a:r>
                <a14:m>
                  <m:oMath xmlns:m="http://schemas.openxmlformats.org/officeDocument/2006/math">
                    <m:r>
                      <a:rPr lang="ru-RU" sz="2400" dirty="0">
                        <a:latin typeface="Cambria Math" panose="02040503050406030204" pitchFamily="18" charset="0"/>
                      </a:rPr>
                      <m:t>есть буфер 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ru-RU" sz="2400" dirty="0">
                        <a:latin typeface="Cambria Math" panose="02040503050406030204" pitchFamily="18" charset="0"/>
                      </a:rPr>
                      <m:t> скрытых состояний</m:t>
                    </m:r>
                  </m:oMath>
                </a14:m>
                <a:r>
                  <a:rPr lang="ru-RU" sz="2400" b="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𝑛𝑗</m:t>
                        </m:r>
                      </m:sub>
                    </m:sSub>
                  </m:oMath>
                </a14:m>
                <a:r>
                  <a:rPr lang="ru-RU" sz="2400" i="1" dirty="0">
                    <a:latin typeface="Cambria Math" panose="02040503050406030204" pitchFamily="18" charset="0"/>
                  </a:rPr>
                  <a:t>. Полученных последовательно при прохождении известной последовательности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400" i="1" dirty="0">
                    <a:latin typeface="Cambria Math" panose="02040503050406030204" pitchFamily="18" charset="0"/>
                  </a:rPr>
                  <a:t>Гипотеза: анализ набора скрытых состояний  позволяет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4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ru-RU" sz="24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𝐵</m:t>
                          </m:r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5"/>
                                </m:r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brk m:alnAt="25"/>
                                </m:r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ru-RU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endParaRPr lang="ru-RU" sz="24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4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ru-RU" sz="24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5"/>
                                </m:r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brk m:alnAt="25"/>
                                </m:r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limLoc m:val="subSup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5"/>
                                    </m:r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=0</m:t>
                                  </m:r>
                                </m:sub>
                                <m:sup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p>
                                <m:e>
                                  <m:sSub>
                                    <m:sSubPr>
                                      <m:ctrlPr>
                                        <a:rPr lang="en-US" sz="2400" b="0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b="0" i="1" dirty="0" smtClean="0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sz="2400" b="0" i="1" dirty="0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en-US" sz="24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 dirty="0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2400" i="1" dirty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en-US" sz="2400" b="0" i="1" dirty="0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nary>
                            </m:e>
                          </m:d>
                        </m:e>
                      </m:d>
                    </m:oMath>
                  </m:oMathPara>
                </a14:m>
                <a:endParaRPr lang="en-US" sz="2400" dirty="0"/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en-US" sz="2400" dirty="0" err="1"/>
                  <a:t>где</a:t>
                </a:r>
                <a:r>
                  <a:rPr lang="ru-RU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d>
                      <m:d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limLoc m:val="subSup"/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5"/>
                              </m:rP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𝑛𝑗</m:t>
                                </m:r>
                              </m:sub>
                            </m:sSub>
                          </m:e>
                        </m:nary>
                      </m:e>
                    </m:d>
                  </m:oMath>
                </a14:m>
                <a:r>
                  <a:rPr lang="en-US" sz="2400" dirty="0"/>
                  <a:t> - </a:t>
                </a:r>
                <a:r>
                  <a:rPr lang="en-US" sz="2400" dirty="0" err="1"/>
                  <a:t>слой</a:t>
                </a:r>
                <a:r>
                  <a:rPr lang="ru-RU" sz="2400" dirty="0"/>
                  <a:t> задающий вектор текущих скрытых состояний из предыдущих 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ru-RU" sz="2400" dirty="0"/>
                  <a:t> скрытых состояний</a:t>
                </a:r>
                <a:r>
                  <a:rPr lang="en-US" sz="2400" dirty="0"/>
                  <a:t>;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400" dirty="0"/>
                  <a:t> - </a:t>
                </a:r>
                <a:r>
                  <a:rPr lang="en-US" sz="2400" dirty="0" err="1"/>
                  <a:t>ве</a:t>
                </a:r>
                <a:r>
                  <a:rPr lang="ru-RU" sz="2400" dirty="0"/>
                  <a:t>с каждого скрытого состояния</a:t>
                </a:r>
                <a:r>
                  <a:rPr lang="en-US" sz="2400" dirty="0"/>
                  <a:t>;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endParaRPr lang="ru-RU" sz="24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BD91C02F-8378-5B65-2179-2A34ECD52A2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7288" y="883227"/>
                <a:ext cx="11731086" cy="5683828"/>
              </a:xfrm>
              <a:blipFill>
                <a:blip r:embed="rId3"/>
                <a:stretch>
                  <a:fillRect l="-757" t="-670" b="-89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AC3F6A35-DFC1-1C04-EA39-6E9CEA1FF73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5DAA2D3F-52EB-345B-6FAE-8E35D3054D1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448" r="24994" b="43139"/>
          <a:stretch>
            <a:fillRect/>
          </a:stretch>
        </p:blipFill>
        <p:spPr bwMode="auto">
          <a:xfrm>
            <a:off x="8164232" y="2636111"/>
            <a:ext cx="3840480" cy="20743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>
            <a:extLst>
              <a:ext uri="{FF2B5EF4-FFF2-40B4-BE49-F238E27FC236}">
                <a16:creationId xmlns:a16="http://schemas.microsoft.com/office/drawing/2014/main" id="{11AE47F9-C980-98EB-83D7-D1075D961CD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747" r="21887"/>
          <a:stretch>
            <a:fillRect/>
          </a:stretch>
        </p:blipFill>
        <p:spPr bwMode="auto">
          <a:xfrm>
            <a:off x="7998646" y="4710466"/>
            <a:ext cx="3998976" cy="20982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9BC2E69-ADDB-F884-2EED-102E96A3FB41}"/>
              </a:ext>
            </a:extLst>
          </p:cNvPr>
          <p:cNvSpPr txBox="1"/>
          <p:nvPr/>
        </p:nvSpPr>
        <p:spPr>
          <a:xfrm>
            <a:off x="4363558" y="6547150"/>
            <a:ext cx="609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100" dirty="0" err="1"/>
              <a:t>https</a:t>
            </a:r>
            <a:r>
              <a:rPr lang="ru-RU" sz="1100" dirty="0"/>
              <a:t>://</a:t>
            </a:r>
            <a:r>
              <a:rPr lang="ru-RU" sz="1100" dirty="0" err="1"/>
              <a:t>readmedium.com</a:t>
            </a:r>
            <a:r>
              <a:rPr lang="ru-RU" sz="1100" dirty="0"/>
              <a:t>/transformer-implementation-for-time-series-forecasting-a9db2db5c820</a:t>
            </a:r>
          </a:p>
        </p:txBody>
      </p:sp>
    </p:spTree>
    <p:extLst>
      <p:ext uri="{BB962C8B-B14F-4D97-AF65-F5344CB8AC3E}">
        <p14:creationId xmlns:p14="http://schemas.microsoft.com/office/powerpoint/2010/main" val="22280144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0897EB-1A9B-734A-42D3-27817A09A8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7E2BC826-B948-4E3D-7154-381EE85EC4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90367" y="4933454"/>
            <a:ext cx="5528007" cy="17260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BB207D49-87E1-FE65-7FFB-726BC18CE3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71502" y="4815131"/>
            <a:ext cx="5333210" cy="15446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D16D6C-7C51-AB2B-49D4-BA9B5FA18A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7288" y="232406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ru-RU" dirty="0" err="1"/>
              <a:t>Seq</a:t>
            </a:r>
            <a:r>
              <a:rPr lang="en-US" dirty="0"/>
              <a:t>2Seq</a:t>
            </a:r>
            <a:endParaRPr lang="ru-RU" b="1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0DBBE34-53FD-D444-DECC-21FCE1A503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7288" y="883227"/>
            <a:ext cx="11731086" cy="5683828"/>
          </a:xfrm>
        </p:spPr>
        <p:txBody>
          <a:bodyPr>
            <a:normAutofit/>
          </a:bodyPr>
          <a:lstStyle/>
          <a:p>
            <a:r>
              <a:rPr lang="ru-RU" b="1" dirty="0"/>
              <a:t>Идея: модель могла бы </a:t>
            </a:r>
            <a:r>
              <a:rPr lang="ru-RU" dirty="0"/>
              <a:t>внимательно смотреть</a:t>
            </a:r>
            <a:r>
              <a:rPr lang="ru-RU" b="1" dirty="0"/>
              <a:t> на все прошлые шаги, а не только "сжимать" их?</a:t>
            </a:r>
          </a:p>
          <a:p>
            <a:r>
              <a:rPr lang="ru-RU" dirty="0"/>
              <a:t>Реализация идеи - механизму внимания (</a:t>
            </a:r>
            <a:r>
              <a:rPr lang="en" dirty="0"/>
              <a:t>Attention Mechanism).</a:t>
            </a:r>
          </a:p>
          <a:p>
            <a:pPr marL="0" indent="0">
              <a:lnSpc>
                <a:spcPct val="100000"/>
              </a:lnSpc>
              <a:spcBef>
                <a:spcPts val="200"/>
              </a:spcBef>
              <a:buNone/>
            </a:pPr>
            <a:endParaRPr lang="ru-RU" sz="2400" dirty="0"/>
          </a:p>
          <a:p>
            <a:pPr marL="0" indent="0">
              <a:lnSpc>
                <a:spcPct val="100000"/>
              </a:lnSpc>
              <a:spcBef>
                <a:spcPts val="200"/>
              </a:spcBef>
              <a:buNone/>
            </a:pPr>
            <a:r>
              <a:rPr lang="ru-RU" sz="2400" dirty="0"/>
              <a:t>Пусть у нас есть буфер сохранения состояний </a:t>
            </a:r>
          </a:p>
          <a:p>
            <a:pPr marL="0" indent="0">
              <a:lnSpc>
                <a:spcPct val="100000"/>
              </a:lnSpc>
              <a:spcBef>
                <a:spcPts val="200"/>
              </a:spcBef>
              <a:buNone/>
            </a:pPr>
            <a:r>
              <a:rPr lang="en-US" sz="2400" dirty="0"/>
              <a:t>𝑦 ̂_(𝑛+1)=𝐴^1 𝑓(𝐴𝑦_𝑛+𝐵</a:t>
            </a:r>
            <a:r>
              <a:rPr lang="en-US" sz="2400" dirty="0" err="1"/>
              <a:t>ℎ</a:t>
            </a:r>
            <a:r>
              <a:rPr lang="en-US" sz="2400" dirty="0"/>
              <a:t>_𝑛 )</a:t>
            </a:r>
          </a:p>
          <a:p>
            <a:pPr marL="0" indent="0">
              <a:lnSpc>
                <a:spcPct val="100000"/>
              </a:lnSpc>
              <a:spcBef>
                <a:spcPts val="200"/>
              </a:spcBef>
              <a:buNone/>
            </a:pPr>
            <a:endParaRPr lang="en-US" sz="2400" dirty="0"/>
          </a:p>
          <a:p>
            <a:pPr marL="0" indent="0">
              <a:lnSpc>
                <a:spcPct val="100000"/>
              </a:lnSpc>
              <a:spcBef>
                <a:spcPts val="200"/>
              </a:spcBef>
              <a:buNone/>
            </a:pPr>
            <a:endParaRPr lang="en-US" sz="2400" dirty="0"/>
          </a:p>
          <a:p>
            <a:pPr>
              <a:lnSpc>
                <a:spcPct val="100000"/>
              </a:lnSpc>
              <a:spcBef>
                <a:spcPts val="200"/>
              </a:spcBef>
            </a:pPr>
            <a:endParaRPr lang="ru-RU" sz="2400" dirty="0"/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93ED7432-7BF1-BE78-A538-C45942C6C8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4217353"/>
            <a:ext cx="6920095" cy="25604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AutoShape 2">
            <a:extLst>
              <a:ext uri="{FF2B5EF4-FFF2-40B4-BE49-F238E27FC236}">
                <a16:creationId xmlns:a16="http://schemas.microsoft.com/office/drawing/2014/main" id="{039FFE87-7379-E30C-1080-AB46E92476F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287239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2"/>
          <a:srcRect r="1456"/>
          <a:stretch/>
        </p:blipFill>
        <p:spPr>
          <a:xfrm>
            <a:off x="1" y="2415715"/>
            <a:ext cx="12192000" cy="4442285"/>
          </a:xfrm>
          <a:prstGeom prst="rect">
            <a:avLst/>
          </a:prstGeom>
        </p:spPr>
      </p:pic>
      <p:sp>
        <p:nvSpPr>
          <p:cNvPr id="5" name="Прямоугольник 4"/>
          <p:cNvSpPr/>
          <p:nvPr/>
        </p:nvSpPr>
        <p:spPr>
          <a:xfrm>
            <a:off x="4270532" y="3244334"/>
            <a:ext cx="365093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https://arxiv.org/html/2411.05793v1</a:t>
            </a:r>
          </a:p>
        </p:txBody>
      </p:sp>
    </p:spTree>
    <p:extLst>
      <p:ext uri="{BB962C8B-B14F-4D97-AF65-F5344CB8AC3E}">
        <p14:creationId xmlns:p14="http://schemas.microsoft.com/office/powerpoint/2010/main" val="27923366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60375" y="312737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ru-RU" sz="4000" b="1" dirty="0"/>
              <a:t>1-мерная </a:t>
            </a:r>
            <a:r>
              <a:rPr lang="ru-RU" sz="4000" b="1" dirty="0" err="1"/>
              <a:t>сверточная</a:t>
            </a:r>
            <a:r>
              <a:rPr lang="ru-RU" sz="4000" b="1" dirty="0"/>
              <a:t> нейронная сеть</a:t>
            </a:r>
            <a:r>
              <a:rPr lang="en-US" sz="4000" b="1" dirty="0"/>
              <a:t>. </a:t>
            </a:r>
            <a:r>
              <a:rPr lang="ru-RU" sz="4000" b="1" dirty="0"/>
              <a:t>Расширенная свертка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07975" y="1040130"/>
            <a:ext cx="11374451" cy="5687225"/>
          </a:xfrm>
        </p:spPr>
        <p:txBody>
          <a:bodyPr>
            <a:noAutofit/>
          </a:bodyPr>
          <a:lstStyle/>
          <a:p>
            <a:pPr lvl="0"/>
            <a:r>
              <a:rPr lang="ru-RU" sz="2000" dirty="0"/>
              <a:t>Стандартные 1d-сверточные слои могут быть вычислительно-сложными задачами, если долгосрочные зависимости значительны.</a:t>
            </a:r>
          </a:p>
          <a:p>
            <a:pPr lvl="1"/>
            <a:r>
              <a:rPr lang="ru-RU" sz="2000" dirty="0"/>
              <a:t>Количество параметров напрямую зависит от размера рецептивного поля.</a:t>
            </a:r>
          </a:p>
          <a:p>
            <a:pPr lvl="0"/>
            <a:r>
              <a:rPr lang="ru-RU" sz="2000" u="sng" dirty="0"/>
              <a:t>Чтобы преодолеть проблему размера рецептивного поля и обрабатывать долгосрочные зависимости, применяются расширенные сверточные слои.</a:t>
            </a:r>
            <a:endParaRPr lang="ru-RU" sz="2000" dirty="0"/>
          </a:p>
          <a:p>
            <a:pPr lvl="0"/>
            <a:r>
              <a:rPr lang="ru-RU" sz="2000" i="1" dirty="0"/>
              <a:t>Расширенная свертка позволяет увеличить рецептивное поле без нарушения последовательности временного ряда, но за счет увеличения глубины сети.</a:t>
            </a:r>
            <a:endParaRPr lang="ru-RU" sz="2000" dirty="0"/>
          </a:p>
          <a:p>
            <a:pPr lvl="0"/>
            <a:r>
              <a:rPr lang="ru-RU" sz="2000" dirty="0"/>
              <a:t>В простой каузальной свертке на графике ниже вы можете видеть, что только 5 последних временных шагов могут повлиять на выделенный результат.</a:t>
            </a:r>
          </a:p>
          <a:p>
            <a:pPr lvl="0"/>
            <a:r>
              <a:rPr lang="ru-RU" sz="2000" dirty="0"/>
              <a:t>Расширение свертки позволяет </a:t>
            </a:r>
            <a:r>
              <a:rPr lang="ru-RU" sz="2000" i="1" dirty="0"/>
              <a:t>рецептивному</a:t>
            </a:r>
            <a:r>
              <a:rPr lang="ru-RU" sz="2000" dirty="0"/>
              <a:t> полю экспоненциально увеличиваться в зависимости от глубины сверточного слоя.</a:t>
            </a:r>
            <a:endParaRPr lang="en-US" sz="2000" dirty="0"/>
          </a:p>
          <a:p>
            <a:pPr lvl="1"/>
            <a:r>
              <a:rPr lang="ru-RU" sz="1600" dirty="0"/>
              <a:t>Однако, надо понимать, что свертка не должна нарушать теорему Котельникова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7575" y="4954762"/>
            <a:ext cx="4914558" cy="1903237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4105" y="4980186"/>
            <a:ext cx="4376750" cy="1877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93924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60375" y="356852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ru-RU" sz="4000" b="1" dirty="0"/>
              <a:t>1-мерная </a:t>
            </a:r>
            <a:r>
              <a:rPr lang="ru-RU" sz="4000" b="1" dirty="0" err="1"/>
              <a:t>сверточная</a:t>
            </a:r>
            <a:r>
              <a:rPr lang="ru-RU" sz="4000" b="1" dirty="0"/>
              <a:t> нейронная сеть</a:t>
            </a:r>
            <a:r>
              <a:rPr lang="en-US" sz="4000" b="1" dirty="0"/>
              <a:t>. </a:t>
            </a:r>
            <a:r>
              <a:rPr lang="ru-RU" sz="4000" b="1" dirty="0"/>
              <a:t>Расширенная свертка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1230593"/>
            <a:ext cx="11374451" cy="5627405"/>
          </a:xfrm>
        </p:spPr>
        <p:txBody>
          <a:bodyPr>
            <a:noAutofit/>
          </a:bodyPr>
          <a:lstStyle/>
          <a:p>
            <a:pPr algn="l" rtl="0"/>
            <a:r>
              <a:rPr lang="ru-RU" sz="2000" dirty="0"/>
              <a:t>Также может быть </a:t>
            </a:r>
            <a:r>
              <a:rPr lang="en-US" sz="2000" u="sng" dirty="0" err="1"/>
              <a:t>двунаправленн</a:t>
            </a:r>
            <a:r>
              <a:rPr lang="ru-RU" sz="2000" u="sng" dirty="0" err="1"/>
              <a:t>ая</a:t>
            </a:r>
            <a:r>
              <a:rPr lang="ru-RU" sz="2000" u="sng" dirty="0"/>
              <a:t> расширенная свертка. </a:t>
            </a:r>
            <a:endParaRPr lang="en-US" sz="16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5584" y="1822053"/>
            <a:ext cx="9374392" cy="1988568"/>
          </a:xfrm>
          <a:prstGeom prst="rect">
            <a:avLst/>
          </a:prstGeom>
        </p:spPr>
      </p:pic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Прямоугольник 14"/>
          <p:cNvSpPr/>
          <p:nvPr/>
        </p:nvSpPr>
        <p:spPr>
          <a:xfrm>
            <a:off x="463721" y="3810622"/>
            <a:ext cx="731161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Пример многомасштабного </a:t>
            </a:r>
            <a:r>
              <a:rPr lang="en-US" dirty="0" err="1">
                <a:solidFill>
                  <a:srgbClr val="000000"/>
                </a:solidFill>
                <a:latin typeface="Georgia" panose="02040502050405020303" pitchFamily="18" charset="0"/>
              </a:rPr>
              <a:t>предсказания</a:t>
            </a: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 </a:t>
            </a:r>
            <a:r>
              <a:rPr lang="ru-RU" dirty="0">
                <a:solidFill>
                  <a:srgbClr val="000000"/>
                </a:solidFill>
                <a:latin typeface="Georgia" panose="02040502050405020303" pitchFamily="18" charset="0"/>
              </a:rPr>
              <a:t>расширенной </a:t>
            </a:r>
            <a:r>
              <a:rPr lang="en-US" dirty="0" err="1">
                <a:solidFill>
                  <a:srgbClr val="000000"/>
                </a:solidFill>
                <a:latin typeface="Georgia" panose="02040502050405020303" pitchFamily="18" charset="0"/>
              </a:rPr>
              <a:t>свертк</a:t>
            </a:r>
            <a:r>
              <a:rPr lang="ru-RU" dirty="0">
                <a:solidFill>
                  <a:srgbClr val="000000"/>
                </a:solidFill>
                <a:latin typeface="Georgia" panose="02040502050405020303" pitchFamily="18" charset="0"/>
              </a:rPr>
              <a:t>ой</a:t>
            </a:r>
            <a:endParaRPr lang="ru-RU" dirty="0"/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5584" y="4252110"/>
            <a:ext cx="7959726" cy="2343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10748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b="1" dirty="0"/>
              <a:t>Сеть на основе внимания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ru-RU" sz="2000" u="sng" dirty="0"/>
              <a:t>Внимание - механизм улучшения долгосрочного обучения зависимостям в нейронной сети.</a:t>
            </a:r>
            <a:endParaRPr lang="ru-RU" sz="2000" dirty="0"/>
          </a:p>
          <a:p>
            <a:pPr>
              <a:spcBef>
                <a:spcPts val="0"/>
              </a:spcBef>
            </a:pPr>
            <a:r>
              <a:rPr lang="ru-RU" sz="2000" dirty="0"/>
              <a:t>Механизм внимания дает несколько ключевых преимуществ – 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позволяют реагировать на любые значимые редкие события.</a:t>
            </a:r>
          </a:p>
          <a:p>
            <a:pPr lvl="2">
              <a:spcBef>
                <a:spcPts val="0"/>
              </a:spcBef>
            </a:pPr>
            <a:r>
              <a:rPr lang="ru-RU" sz="1600" dirty="0"/>
              <a:t>Например, в приложениях для прогнозирования розничной торговли сюда входят праздничные или рекламные периоды, которые могут положительно повлиять на продажи.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изучать последовательности контролируемой длины (довольно длинные последовательности)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работать как регуляризация, чтобы избежать исчезновения градиента и взрыва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позволяет исключить повторяющиеся признаки (в трансформаторах), заменив его на кодировку позиций</a:t>
            </a:r>
          </a:p>
          <a:p>
            <a:pPr>
              <a:spcBef>
                <a:spcPts val="0"/>
              </a:spcBef>
            </a:pPr>
            <a:r>
              <a:rPr lang="ru-RU" sz="2000" dirty="0"/>
              <a:t>Первой попыткой создания внимание было  </a:t>
            </a:r>
            <a:r>
              <a:rPr lang="ru-RU" sz="2000" dirty="0" err="1"/>
              <a:t>Attention</a:t>
            </a:r>
            <a:r>
              <a:rPr lang="ru-RU" sz="2000" dirty="0"/>
              <a:t> </a:t>
            </a:r>
            <a:r>
              <a:rPr lang="ru-RU" sz="2000" dirty="0" err="1"/>
              <a:t>for</a:t>
            </a:r>
            <a:r>
              <a:rPr lang="ru-RU" sz="2000" dirty="0"/>
              <a:t> Seq2Seq RNN </a:t>
            </a:r>
            <a:r>
              <a:rPr lang="ru-RU" sz="2000" dirty="0" err="1"/>
              <a:t>Model</a:t>
            </a:r>
            <a:r>
              <a:rPr lang="ru-RU" sz="2000" dirty="0"/>
              <a:t> ( модель кодировщика-декодера </a:t>
            </a:r>
            <a:r>
              <a:rPr lang="ru-RU" sz="2000" dirty="0" err="1"/>
              <a:t>rnn</a:t>
            </a:r>
            <a:r>
              <a:rPr lang="ru-RU" sz="2000" dirty="0"/>
              <a:t>)</a:t>
            </a:r>
          </a:p>
          <a:p>
            <a:pPr>
              <a:spcBef>
                <a:spcPts val="0"/>
              </a:spcBef>
            </a:pPr>
            <a:r>
              <a:rPr lang="ru-RU" sz="2000" dirty="0"/>
              <a:t>В простой (или наивной) реализации seq2seq модель состоит из двух частей: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кодировщик (извлечение признаков)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и декодер, который инициализируется вектором контекста для выдачи преобразованного вывода.</a:t>
            </a:r>
          </a:p>
          <a:p>
            <a:pPr>
              <a:spcBef>
                <a:spcPts val="0"/>
              </a:spcBef>
            </a:pPr>
            <a:r>
              <a:rPr lang="ru-RU" sz="2000" u="sng" dirty="0"/>
              <a:t>В простейшем случае последние состояния сети кодера используются в качестве состояния дополнительной информации декодера, однако часто он забывает самую раннюю часть после завершения обработки всего ввода.</a:t>
            </a:r>
          </a:p>
          <a:p>
            <a:pPr>
              <a:spcBef>
                <a:spcPts val="0"/>
              </a:spcBef>
            </a:pPr>
            <a:r>
              <a:rPr lang="ru-RU" sz="2000" i="1" dirty="0"/>
              <a:t>Примечание</a:t>
            </a:r>
            <a:endParaRPr lang="ru-RU" sz="2000" dirty="0"/>
          </a:p>
          <a:p>
            <a:pPr>
              <a:spcBef>
                <a:spcPts val="0"/>
              </a:spcBef>
            </a:pPr>
            <a:r>
              <a:rPr lang="ru-RU" sz="2000" i="1" dirty="0"/>
              <a:t>Потенциальная проблема с этим подходом кодер-декодер заключается в том, что нейронная сеть должна иметь возможность сжимать всю необходимую информацию исходной последовательности в вектор фиксированной длины.</a:t>
            </a:r>
            <a:endParaRPr lang="ru-RU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73598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>
                <a:solidFill>
                  <a:srgbClr val="000000"/>
                </a:solidFill>
              </a:rPr>
              <a:t>Сети на основе внимания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ru-RU" sz="2000" b="1" u="sng" dirty="0"/>
              <a:t>Механизм внимания был разработан, чтобы помочь запомнить длинные исходные предложения в нейронном машинном переводе. </a:t>
            </a:r>
          </a:p>
          <a:p>
            <a:pPr>
              <a:spcBef>
                <a:spcPts val="0"/>
              </a:spcBef>
            </a:pPr>
            <a:r>
              <a:rPr lang="ru-RU" sz="2000" b="1" dirty="0"/>
              <a:t>Для понимания внимания предположим, что у вас есть:</a:t>
            </a:r>
            <a:endParaRPr lang="ru-RU" sz="2000" dirty="0"/>
          </a:p>
          <a:p>
            <a:pPr lvl="0">
              <a:spcBef>
                <a:spcPts val="0"/>
              </a:spcBef>
            </a:pPr>
            <a:r>
              <a:rPr lang="ru-RU" sz="2000" dirty="0"/>
              <a:t>последовательная модель для прогнозирования результатов 𝑦𝑖,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последовательный ввод модели ℎ𝑖;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может быть как 𝑦𝑖 − 1, так и его комбинация с другими данными (на рисунке ниже это 𝑦𝑖 − 1;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декодер сохраняет свое скрытое состояние 𝑠𝑖 − 1 и передает его на каждый следующий шаг для предсказания 𝑦𝑖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кроме того, декодер имеет в качестве входного вектора контекста 𝑐𝑖, который указывает на коэффициент воздействия временного шага −.</a:t>
            </a:r>
          </a:p>
          <a:p>
            <a:pPr>
              <a:spcBef>
                <a:spcPts val="0"/>
              </a:spcBef>
            </a:pPr>
            <a:r>
              <a:rPr lang="ru-RU" sz="2000" dirty="0"/>
              <a:t>Давайте теперь рассмотрим </a:t>
            </a:r>
            <a:r>
              <a:rPr lang="ru-RU" sz="2000" b="1" dirty="0"/>
              <a:t>модель </a:t>
            </a:r>
            <a:r>
              <a:rPr lang="ru-RU" sz="2000" b="1" dirty="0" err="1"/>
              <a:t>Attention</a:t>
            </a:r>
            <a:r>
              <a:rPr lang="ru-RU" sz="2000" b="1" dirty="0"/>
              <a:t> </a:t>
            </a:r>
            <a:r>
              <a:rPr lang="ru-RU" sz="2000" b="1" dirty="0" err="1"/>
              <a:t>Encoder-Decoder</a:t>
            </a:r>
            <a:r>
              <a:rPr lang="ru-RU" sz="2000" b="1" dirty="0"/>
              <a:t> (seq2seq).</a:t>
            </a:r>
            <a:endParaRPr lang="ru-RU" altLang="ru-RU" sz="16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731" y="4082308"/>
            <a:ext cx="3781425" cy="2305050"/>
          </a:xfrm>
          <a:prstGeom prst="rect">
            <a:avLst/>
          </a:prstGeom>
        </p:spPr>
      </p:pic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3634" y="3742134"/>
            <a:ext cx="5209801" cy="29412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25977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>
                <a:solidFill>
                  <a:srgbClr val="000000"/>
                </a:solidFill>
              </a:rPr>
              <a:t>Сети на основе внимания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>
              <a:spcBef>
                <a:spcPts val="0"/>
              </a:spcBef>
            </a:pPr>
            <a:r>
              <a:rPr lang="ru-RU" sz="2000" b="1" dirty="0"/>
              <a:t>В изначальной задумке</a:t>
            </a:r>
            <a:r>
              <a:rPr lang="ru-RU" sz="2000" u="sng" dirty="0"/>
              <a:t> было предложено использовать персептрон с выходом </a:t>
            </a:r>
            <a:r>
              <a:rPr lang="ru-RU" sz="2000" u="sng" dirty="0" err="1"/>
              <a:t>soft-max</a:t>
            </a:r>
            <a:r>
              <a:rPr lang="ru-RU" sz="2000" u="sng" dirty="0"/>
              <a:t> (для </a:t>
            </a:r>
            <a:r>
              <a:rPr lang="ru-RU" sz="2000" dirty="0"/>
              <a:t> 𝑐𝑖 </a:t>
            </a:r>
            <a:r>
              <a:rPr lang="ru-RU" sz="2000" u="sng" dirty="0"/>
              <a:t>) над вектором скрытого пространства модели seq2seq (последний слой кодировщика).</a:t>
            </a:r>
            <a:endParaRPr lang="ru-RU" sz="2000" dirty="0"/>
          </a:p>
          <a:p>
            <a:pPr lvl="0">
              <a:spcBef>
                <a:spcPts val="0"/>
              </a:spcBef>
            </a:pPr>
            <a:r>
              <a:rPr lang="ru-RU" sz="2000" dirty="0"/>
              <a:t>Веса этих 𝑎𝑖𝑗 настраивается для каждого выходного элемента.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Другими словами</a:t>
            </a:r>
          </a:p>
          <a:p>
            <a:pPr lvl="0">
              <a:spcBef>
                <a:spcPts val="0"/>
              </a:spcBef>
            </a:pPr>
            <a:r>
              <a:rPr lang="ru-RU" sz="2000" b="1" u="sng" dirty="0"/>
              <a:t>Сеть внимания (или слой) представляет собой отношение между скрытым вектором и всей входной последовательностью.</a:t>
            </a:r>
            <a:endParaRPr lang="ru-RU" sz="2000" dirty="0"/>
          </a:p>
          <a:p>
            <a:pPr lvl="0">
              <a:spcBef>
                <a:spcPts val="0"/>
              </a:spcBef>
            </a:pPr>
            <a:r>
              <a:rPr lang="ru-RU" sz="2000" dirty="0"/>
              <a:t>В соответствии с исходной идеей вектор скрытого состояния 𝑐𝑡 для каждого выходного шага 𝑡 может быть вычислен как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65" y="3448050"/>
            <a:ext cx="5802452" cy="2724150"/>
          </a:xfrm>
          <a:prstGeom prst="rect">
            <a:avLst/>
          </a:prstGeom>
        </p:spPr>
      </p:pic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Прямоугольник 21"/>
              <p:cNvSpPr/>
              <p:nvPr/>
            </p:nvSpPr>
            <p:spPr>
              <a:xfrm>
                <a:off x="5894817" y="3089782"/>
                <a:ext cx="6096000" cy="3717684"/>
              </a:xfrm>
              <a:prstGeom prst="rect">
                <a:avLst/>
              </a:prstGeom>
            </p:spPr>
            <p:txBody>
              <a:bodyPr>
                <a:spAutoFit/>
              </a:bodyPr>
              <a:lstStyle/>
              <a:p>
                <a:pPr algn="l" rtl="0">
                  <a:spcBef>
                    <a:spcPts val="900"/>
                  </a:spcBef>
                  <a:spcAft>
                    <a:spcPts val="900"/>
                  </a:spcAft>
                </a:pPr>
                <a:r>
                  <a:rPr lang="ru-RU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где</a:t>
                </a:r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- вектор контекста - сумма скрытых состояний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входной последовательности, взвешенной по оценкам выравнивания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.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скрытое состояние кодировщика на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rPr>
                      <m:t>𝑖</m:t>
                    </m:r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-</a:t>
                </a:r>
                <a:r>
                  <a:rPr lang="en-US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th</a:t>
                </a:r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шаг времени.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скрытое состояние декодера на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rPr>
                      <m:t>𝑡</m:t>
                    </m:r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-</a:t>
                </a:r>
                <a:r>
                  <a:rPr lang="en-US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th</a:t>
                </a:r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шаг времени.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баллы выравнивания присваиваются как балл - это степень обучения, в которой каждый результат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соответствует каждому входу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.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rPr>
                      <m:t>𝑠𝑐𝑜𝑟𝑒</m:t>
                    </m:r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- функция оценки, которая может быть разной, но здесь изначально предлагается одна показана (так называемое аддитивное внимание или </a:t>
                </a:r>
                <a:r>
                  <a:rPr lang="en-US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Bahdanau</a:t>
                </a:r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внимание). Декодер использует эти оценки внимания, чтобы решить, сколько внимания уделять вводу на каждом временном шаге декодирования.</a:t>
                </a:r>
                <a:endParaRPr lang="ru-RU" dirty="0">
                  <a:latin typeface="Cambria" panose="02040503050406030204" pitchFamily="18" charset="0"/>
                  <a:ea typeface="Cambria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2" name="Прямоугольник 2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4817" y="3089782"/>
                <a:ext cx="6096000" cy="3717684"/>
              </a:xfrm>
              <a:prstGeom prst="rect">
                <a:avLst/>
              </a:prstGeom>
              <a:blipFill>
                <a:blip r:embed="rId3"/>
                <a:stretch>
                  <a:fillRect l="-900" t="-1148" r="-500" b="-147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078879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>
                <a:solidFill>
                  <a:srgbClr val="000000"/>
                </a:solidFill>
              </a:rPr>
              <a:t>Сети на основе внимания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 algn="l" rt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b="1" dirty="0"/>
              <a:t>Несколько </a:t>
            </a:r>
            <a:r>
              <a:rPr lang="en-US" b="1" dirty="0" err="1"/>
              <a:t>популярных</a:t>
            </a:r>
            <a:r>
              <a:rPr lang="en-US" b="1" dirty="0"/>
              <a:t> </a:t>
            </a:r>
            <a:r>
              <a:rPr lang="en-US" b="1" dirty="0" err="1"/>
              <a:t>функци</a:t>
            </a:r>
            <a:r>
              <a:rPr lang="ru-RU" b="1" dirty="0"/>
              <a:t>й внимания</a:t>
            </a:r>
            <a:r>
              <a:rPr lang="en-US" dirty="0"/>
              <a:t>:</a:t>
            </a:r>
            <a:endParaRPr lang="ru-RU" altLang="ru-RU" sz="2000" dirty="0">
              <a:latin typeface="Arial" panose="020B0604020202020204" pitchFamily="34" charset="0"/>
            </a:endParaRP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8" name="Рисунок 1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7575" y="1042126"/>
            <a:ext cx="7345851" cy="5685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58236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>
                <a:solidFill>
                  <a:srgbClr val="000000"/>
                </a:solidFill>
              </a:rPr>
              <a:t>Сети на основе внимания. </a:t>
            </a:r>
            <a:r>
              <a:rPr lang="en-US" sz="4000" b="1" dirty="0" err="1"/>
              <a:t>Самовнимание</a:t>
            </a:r>
            <a:endParaRPr lang="ru-RU" altLang="ru-RU" sz="4000" b="1" dirty="0">
              <a:solidFill>
                <a:srgbClr val="0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</p:spPr>
            <p:txBody>
              <a:bodyPr>
                <a:noAutofit/>
              </a:bodyPr>
              <a:lstStyle/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 err="1"/>
                  <a:t>Модификацией</a:t>
                </a:r>
                <a:r>
                  <a:rPr lang="en-US" sz="2000" dirty="0"/>
                  <a:t> подхода простого внимания является </a:t>
                </a:r>
                <a:r>
                  <a:rPr lang="en-US" sz="2000" b="1" dirty="0"/>
                  <a:t>слой самовнимания</a:t>
                </a:r>
                <a:r>
                  <a:rPr lang="en-US" sz="2000" dirty="0"/>
                  <a:t>.</a:t>
                </a:r>
                <a:br>
                  <a:rPr lang="en-US" sz="2000" dirty="0"/>
                </a:br>
                <a:r>
                  <a:rPr lang="en-US" sz="2000" b="1" dirty="0"/>
                  <a:t>Основная идея </a:t>
                </a:r>
                <a:r>
                  <a:rPr lang="en-US" sz="2000" b="1" dirty="0" err="1"/>
                  <a:t>Self_attention</a:t>
                </a:r>
                <a:r>
                  <a:rPr lang="en-US" sz="2000" b="1" dirty="0"/>
                  <a:t> это учиться </a:t>
                </a:r>
                <a:r>
                  <a:rPr lang="en-US" sz="2000" b="1" dirty="0" err="1"/>
                  <a:t>из</a:t>
                </a:r>
                <a:r>
                  <a:rPr lang="en-US" sz="2000" b="1" dirty="0"/>
                  <a:t> </a:t>
                </a:r>
                <a:r>
                  <a:rPr lang="en-US" sz="2000" b="1" dirty="0" err="1"/>
                  <a:t>вход</a:t>
                </a:r>
                <a:r>
                  <a:rPr lang="ru-RU" sz="2000" b="1" dirty="0" err="1"/>
                  <a:t>ных</a:t>
                </a:r>
                <a:r>
                  <a:rPr lang="ru-RU" sz="2000" b="1" dirty="0"/>
                  <a:t> данных</a:t>
                </a:r>
                <a:r>
                  <a:rPr lang="en-US" sz="2000" b="1" dirty="0"/>
                  <a:t>.</a:t>
                </a:r>
                <a:r>
                  <a:rPr lang="ru-RU" sz="2000" b="1" dirty="0"/>
                  <a:t> </a:t>
                </a:r>
                <a:endParaRPr lang="en-US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/>
                  <a:t>Метод Самовнимания успешно использовался в самых разных задачах.</a:t>
                </a:r>
                <a:br>
                  <a:rPr lang="en-US" sz="2000" dirty="0"/>
                </a:br>
                <a:r>
                  <a:rPr lang="en-US" sz="2000" u="sng" dirty="0" err="1"/>
                  <a:t>Главное</a:t>
                </a:r>
                <a:r>
                  <a:rPr lang="en-US" sz="2000" u="sng" dirty="0"/>
                  <a:t> преимущество здесь в том, что вы </a:t>
                </a:r>
                <a:r>
                  <a:rPr lang="en-US" sz="2000" u="sng" dirty="0" err="1"/>
                  <a:t>можете</a:t>
                </a:r>
                <a:r>
                  <a:rPr lang="en-US" sz="2000" u="sng" dirty="0"/>
                  <a:t> </a:t>
                </a:r>
                <a:r>
                  <a:rPr lang="en-US" sz="2000" u="sng" dirty="0" err="1"/>
                  <a:t>предварительн</a:t>
                </a:r>
                <a:r>
                  <a:rPr lang="ru-RU" sz="2000" u="sng" dirty="0"/>
                  <a:t>о</a:t>
                </a:r>
                <a:r>
                  <a:rPr lang="en-US" sz="2000" u="sng" dirty="0"/>
                  <a:t> </a:t>
                </a:r>
                <a:r>
                  <a:rPr lang="en-US" sz="2000" u="sng" dirty="0" err="1"/>
                  <a:t>трениров</a:t>
                </a:r>
                <a:r>
                  <a:rPr lang="ru-RU" sz="2000" u="sng" dirty="0" err="1"/>
                  <a:t>ать</a:t>
                </a:r>
                <a:r>
                  <a:rPr lang="en-US" sz="2000" u="sng" dirty="0"/>
                  <a:t> </a:t>
                </a:r>
                <a:r>
                  <a:rPr lang="en-US" sz="2000" u="sng" dirty="0" err="1"/>
                  <a:t>кодировщик</a:t>
                </a:r>
                <a:r>
                  <a:rPr lang="en-US" sz="2000" u="sng" dirty="0"/>
                  <a:t> </a:t>
                </a:r>
                <a:r>
                  <a:rPr lang="ru-RU" sz="2000" u="sng" dirty="0"/>
                  <a:t>без учителя</a:t>
                </a:r>
                <a:endParaRPr lang="en-US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/>
                  <a:t>В случае самовнимания мы можем упростить аддитивное внимание следующим </a:t>
                </a:r>
                <a:r>
                  <a:rPr lang="en-US" sz="2000" dirty="0" err="1"/>
                  <a:t>образом</a:t>
                </a:r>
                <a:r>
                  <a:rPr lang="en-US" sz="2000" dirty="0"/>
                  <a:t>:</a:t>
                </a:r>
              </a:p>
              <a:p>
                <a:pPr marL="0" indent="0" algn="l" rtl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𝑠𝑐𝑜𝑟𝑒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𝐡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𝐯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sSup>
                        <m:sSup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​</m:t>
                          </m:r>
                        </m:e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p>
                      <m:r>
                        <m:rPr>
                          <m:nor/>
                        </m:rPr>
                        <a:rPr lang="en-US" sz="2000"/>
                        <m:t>tanh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𝐖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sSub>
                        <m:sSub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𝐡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/>
                  <a:t>Таким образом, мы можем вычислить </a:t>
                </a:r>
                <a:r>
                  <a:rPr lang="en-US" sz="2000" dirty="0" err="1"/>
                  <a:t>представление</a:t>
                </a:r>
                <a:r>
                  <a:rPr lang="en-US" sz="2000" dirty="0"/>
                  <a:t>  c  в матричной форме следующим образом:</a:t>
                </a:r>
                <a:br>
                  <a:rPr lang="en-US" sz="2000" dirty="0"/>
                </a:br>
                <a14:m>
                  <m:oMath xmlns:m="http://schemas.openxmlformats.org/officeDocument/2006/math">
                    <m:m>
                      <m:mPr>
                        <m:plcHide m:val="on"/>
                        <m:mcs>
                          <m:mc>
                            <m:mcPr>
                              <m:count m:val="1"/>
                              <m:mcJc m:val="center"/>
                            </m:mcPr>
                          </m:mc>
                        </m:mcs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mPr>
                      <m:m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ru-RU" sz="20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2000" b="1" i="1">
                                    <a:latin typeface="Cambria Math" panose="02040503050406030204" pitchFamily="18" charset="0"/>
                                  </a:rPr>
                                  <m:t>𝐚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m:rPr>
                                    <m:nor/>
                                  </m:rPr>
                                  <a:rPr lang="en-US" sz="2000"/>
                                  <m:t>softmax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>
                                        <a:latin typeface="Cambria Math" panose="02040503050406030204" pitchFamily="18" charset="0"/>
                                      </a:rPr>
                                      <m:t>𝐯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en-US" sz="2000"/>
                                  <m:t>tanh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>
                                        <a:latin typeface="Cambria Math" panose="02040503050406030204" pitchFamily="18" charset="0"/>
                                      </a:rPr>
                                      <m:t>𝐖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</m:sSub>
                                <m:sSup>
                                  <m:sSupPr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000" b="1" i="1">
                                        <a:latin typeface="Cambria Math" panose="02040503050406030204" pitchFamily="18" charset="0"/>
                                      </a:rPr>
                                      <m:t>𝐇</m:t>
                                    </m:r>
                                  </m:e>
                                  <m:sup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⊤</m:t>
                                    </m:r>
                                  </m:sup>
                                </m:sSup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))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 b="1" i="1">
                                    <a:latin typeface="Cambria Math" panose="02040503050406030204" pitchFamily="18" charset="0"/>
                                  </a:rPr>
                                  <m:t>𝐜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2000" b="1" i="1">
                                    <a:latin typeface="Cambria Math" panose="02040503050406030204" pitchFamily="18" charset="0"/>
                                  </a:rPr>
                                  <m:t>𝐇</m:t>
                                </m:r>
                                <m:sSup>
                                  <m:sSupPr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000" b="1" i="1">
                                        <a:latin typeface="Cambria Math" panose="02040503050406030204" pitchFamily="18" charset="0"/>
                                      </a:rPr>
                                      <m:t>𝐚</m:t>
                                    </m:r>
                                  </m:e>
                                  <m:sup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⊤</m:t>
                                    </m:r>
                                  </m:sup>
                                </m:sSup>
                              </m:e>
                            </m:mr>
                          </m:m>
                        </m:e>
                      </m:mr>
                    </m:m>
                    <m:r>
                      <a:rPr lang="en-US" sz="2000" i="1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000" dirty="0"/>
                  <a:t>где</a:t>
                </a:r>
                <a:r>
                  <a:rPr lang="en-US" sz="2000" dirty="0"/>
                  <a:t>: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2000" dirty="0"/>
                  <a:t> - матрица скрытых состояний;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2000" dirty="0"/>
                  <a:t> вектор внимания;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sz="2000" dirty="0"/>
                  <a:t> - представление последовательности (вектор контекста). </a:t>
                </a:r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/>
                  <a:t> </a:t>
                </a:r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  <a:blipFill>
                <a:blip r:embed="rId2"/>
                <a:stretch>
                  <a:fillRect l="-464" t="-49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989623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>
                <a:solidFill>
                  <a:srgbClr val="000000"/>
                </a:solidFill>
              </a:rPr>
              <a:t>Сети на основе внимания. </a:t>
            </a:r>
            <a:r>
              <a:rPr lang="en-US" sz="4000" b="1" dirty="0" err="1"/>
              <a:t>Самовнимание</a:t>
            </a:r>
            <a:endParaRPr lang="ru-RU" altLang="ru-RU" sz="4000" b="1" dirty="0">
              <a:solidFill>
                <a:srgbClr val="0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</p:spPr>
            <p:txBody>
              <a:bodyPr>
                <a:noAutofit/>
              </a:bodyPr>
              <a:lstStyle/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 err="1"/>
                  <a:t>Примечание</a:t>
                </a:r>
                <a:r>
                  <a:rPr lang="en-US" sz="2000" dirty="0"/>
                  <a:t>. </a:t>
                </a:r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 err="1"/>
                  <a:t>Другой</a:t>
                </a:r>
                <a:r>
                  <a:rPr lang="en-US" sz="2000" dirty="0"/>
                  <a:t> способ объяснения самовнимания для каждого вектора контекста.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:</a:t>
                </a:r>
                <a:br>
                  <a:rPr lang="en-US" sz="2000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undOvr"/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​</m:t>
                        </m:r>
                      </m:sup>
                      <m:e>
                        <m:sSub>
                          <m:sSubPr>
                            <m:ctrlPr>
                              <a:rPr lang="ru-RU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000" dirty="0"/>
                  <a:t>где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2000" dirty="0"/>
                  <a:t> индексы по всей входной последовательности (здесь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000" dirty="0"/>
                  <a:t>). </a:t>
                </a:r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 err="1"/>
                  <a:t>Вес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 sz="2000" dirty="0"/>
                  <a:t> не является параметром, как в обычной нейронной сети, а является производным от функции над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а также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000" dirty="0"/>
                  <a:t>.</a:t>
                </a:r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/>
                  <a:t> Например,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𝑠𝑜𝑓𝑡𝑚𝑎𝑥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/>
                  <a:t> </a:t>
                </a:r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endParaRPr lang="en-US" sz="20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  <a:blipFill>
                <a:blip r:embed="rId2"/>
                <a:stretch>
                  <a:fillRect l="-464" t="-49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123437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>
                <a:solidFill>
                  <a:srgbClr val="000000"/>
                </a:solidFill>
              </a:rPr>
              <a:t>Сети на основе внимания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algn="l" rtl="0">
              <a:lnSpc>
                <a:spcPct val="100000"/>
              </a:lnSpc>
              <a:spcBef>
                <a:spcPts val="0"/>
              </a:spcBef>
            </a:pPr>
            <a:endParaRPr lang="en-US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8" name="Рисунок 1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75" y="663470"/>
            <a:ext cx="4162425" cy="2809875"/>
          </a:xfrm>
          <a:prstGeom prst="rect">
            <a:avLst/>
          </a:prstGeom>
        </p:spPr>
      </p:pic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175" y="4658816"/>
            <a:ext cx="5373260" cy="1896444"/>
          </a:xfrm>
          <a:prstGeom prst="rect">
            <a:avLst/>
          </a:prstGeom>
        </p:spPr>
      </p:pic>
      <p:sp>
        <p:nvSpPr>
          <p:cNvPr id="22" name="Прямоугольник 21"/>
          <p:cNvSpPr/>
          <p:nvPr/>
        </p:nvSpPr>
        <p:spPr>
          <a:xfrm>
            <a:off x="155575" y="3702285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Пример сети самовосприятия для прогнозирования клинической диагностики на основе показателей пациента.</a:t>
            </a:r>
            <a:endParaRPr lang="ru-RU" dirty="0"/>
          </a:p>
        </p:txBody>
      </p:sp>
      <p:sp>
        <p:nvSpPr>
          <p:cNvPr id="23" name="Прямоугольник 22"/>
          <p:cNvSpPr/>
          <p:nvPr/>
        </p:nvSpPr>
        <p:spPr>
          <a:xfrm>
            <a:off x="5181214" y="1038007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Схема кодера, основанная на самовнимании, для создания значений контекстного вектора для многомерных временных рядов.</a:t>
            </a:r>
            <a:endParaRPr lang="ru-RU" dirty="0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5" name="Рисунок 2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4500" y="-915642"/>
            <a:ext cx="5746708" cy="7517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49162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>
                <a:solidFill>
                  <a:srgbClr val="000000"/>
                </a:solidFill>
              </a:rPr>
              <a:t>Сети на основе внимания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</p:spPr>
            <p:txBody>
              <a:bodyPr>
                <a:noAutofit/>
              </a:bodyPr>
              <a:lstStyle/>
              <a:p>
                <a:pPr algn="l" rtl="0"/>
                <a:r>
                  <a:rPr lang="en-US" sz="2000" dirty="0" err="1"/>
                  <a:t>Внимание</a:t>
                </a:r>
                <a:r>
                  <a:rPr lang="en-US" sz="2000" dirty="0"/>
                  <a:t> "</a:t>
                </a:r>
                <a:r>
                  <a:rPr lang="en-US" sz="2000" dirty="0" err="1"/>
                  <a:t>ключ-значение</a:t>
                </a:r>
                <a:r>
                  <a:rPr lang="en-US" sz="2000" dirty="0"/>
                  <a:t>" - это модификация самовнимания, предлагающая разбить каждый скрытый вектор.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в ключ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и значение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такой, что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;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]=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. </a:t>
                </a:r>
                <a:endParaRPr lang="ru-RU" sz="2000" dirty="0"/>
              </a:p>
              <a:p>
                <a:pPr algn="l" rtl="0"/>
                <a:r>
                  <a:rPr lang="en-US" sz="2000" dirty="0" err="1"/>
                  <a:t>Ключи</a:t>
                </a:r>
                <a:r>
                  <a:rPr lang="en-US" sz="2000" dirty="0"/>
                  <a:t> используются для расчета </a:t>
                </a:r>
                <a:r>
                  <a:rPr lang="en-US" sz="2000" dirty="0" err="1"/>
                  <a:t>распределения</a:t>
                </a:r>
                <a:r>
                  <a:rPr lang="en-US" sz="2000" dirty="0"/>
                  <a:t> </a:t>
                </a:r>
                <a:r>
                  <a:rPr lang="en-US" sz="2000" dirty="0" err="1"/>
                  <a:t>внимания</a:t>
                </a:r>
                <a:r>
                  <a:rPr lang="ru-RU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с дополнительным вниманием:</a:t>
                </a:r>
                <a:br>
                  <a:rPr lang="en-US" sz="2000" dirty="0"/>
                </a:br>
                <a:endParaRPr lang="ru-RU" sz="2000" dirty="0"/>
              </a:p>
              <a:p>
                <a:pPr algn="l" rtl="0"/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sz="2000"/>
                      <m:t>softmax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𝐯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sSup>
                      <m:sSup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​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  <m:r>
                      <m:rPr>
                        <m:nor/>
                      </m:rPr>
                      <a:rPr lang="en-US" sz="2000"/>
                      <m:t>tanh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𝐤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;…;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𝐤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]+(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𝐤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)</m:t>
                    </m:r>
                    <m:sSup>
                      <m:sSup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ru-RU" sz="20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b="1" i="1"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</m:acc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  <m:r>
                      <a:rPr lang="en-US" sz="2000" i="1"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endParaRPr lang="ru-RU" sz="2000" dirty="0"/>
              </a:p>
              <a:p>
                <a:pPr algn="l" rtl="0"/>
                <a:r>
                  <a:rPr lang="en-US" sz="2000" dirty="0"/>
                  <a:t/>
                </a:r>
                <a:br>
                  <a:rPr lang="en-US" sz="2000" dirty="0"/>
                </a:br>
                <a:r>
                  <a:rPr lang="ru-RU" sz="2000" dirty="0"/>
                  <a:t>где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sz="2000" dirty="0"/>
                  <a:t> длина окна внимания и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𝟏</m:t>
                        </m:r>
                      </m:e>
                    </m:acc>
                  </m:oMath>
                </a14:m>
                <a:r>
                  <a:rPr lang="en-US" sz="2000" dirty="0"/>
                  <a:t>вектор единиц. </a:t>
                </a:r>
                <a:endParaRPr lang="ru-RU" sz="2000" dirty="0"/>
              </a:p>
              <a:p>
                <a:pPr algn="l" rtl="0"/>
                <a:r>
                  <a:rPr lang="en-US" sz="2000" dirty="0" err="1"/>
                  <a:t>Затем</a:t>
                </a:r>
                <a:r>
                  <a:rPr lang="en-US" sz="2000" dirty="0"/>
                  <a:t> часть значений используется для получения контекстного представления.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:</a:t>
                </a:r>
                <a:br>
                  <a:rPr lang="en-US" sz="2000" dirty="0"/>
                </a:br>
                <a:endParaRPr lang="ru-RU" sz="2000" dirty="0"/>
              </a:p>
              <a:p>
                <a:pPr algn="l" rtl="0"/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𝐜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=[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𝐯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;…;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𝐯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]</m:t>
                    </m:r>
                    <m:sSup>
                      <m:sSup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</m:oMath>
                </a14:m>
                <a:endParaRPr lang="ru-RU" sz="2000" dirty="0"/>
              </a:p>
              <a:p>
                <a:pPr algn="l" rtl="0"/>
                <a:r>
                  <a:rPr lang="en-US" sz="2000" dirty="0"/>
                  <a:t>Таким образом, мы вводим отдельные веса для текущего ввода и предыдущих вводов. </a:t>
                </a:r>
                <a:endParaRPr lang="ru-RU" sz="2000" dirty="0"/>
              </a:p>
              <a:p>
                <a:pPr algn="l" rtl="0"/>
                <a:r>
                  <a:rPr lang="en-US" sz="2000" dirty="0" err="1"/>
                  <a:t>Примечание</a:t>
                </a:r>
                <a:r>
                  <a:rPr lang="en-US" sz="2000" dirty="0"/>
                  <a:t>. </a:t>
                </a:r>
                <a:endParaRPr lang="ru-RU" sz="2000" dirty="0"/>
              </a:p>
              <a:p>
                <a:pPr algn="l" rtl="0"/>
                <a:r>
                  <a:rPr lang="en-US" sz="2000" dirty="0" err="1"/>
                  <a:t>Вы</a:t>
                </a:r>
                <a:r>
                  <a:rPr lang="en-US" sz="2000" dirty="0"/>
                  <a:t> можете выбрать в качестве </a:t>
                </a:r>
                <a:r>
                  <a:rPr lang="en-US" sz="2000" dirty="0" err="1"/>
                  <a:t>ключаответзначение</a:t>
                </a:r>
                <a:r>
                  <a:rPr lang="en-US" sz="2000" dirty="0"/>
                  <a:t> исходя из вашей задачи. например, ключом может быть все, кроме последних значений, а значение - последнее значение последовательности.</a:t>
                </a:r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endParaRPr lang="en-US" sz="20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  <a:blipFill>
                <a:blip r:embed="rId2"/>
                <a:stretch>
                  <a:fillRect l="-464" t="-993" r="-15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521432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>
                <a:solidFill>
                  <a:srgbClr val="000000"/>
                </a:solidFill>
              </a:rPr>
              <a:t>Сети на основе внимания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</p:spPr>
            <p:txBody>
              <a:bodyPr>
                <a:noAutofit/>
              </a:bodyPr>
              <a:lstStyle/>
              <a:p>
                <a:pPr algn="l" rtl="0"/>
                <a:r>
                  <a:rPr lang="ru-RU" sz="2000" b="1" i="1" dirty="0"/>
                  <a:t>Внимание </a:t>
                </a:r>
                <a:r>
                  <a:rPr lang="en-US" sz="2000" b="1" i="1" dirty="0" err="1"/>
                  <a:t>Запрос</a:t>
                </a:r>
                <a:r>
                  <a:rPr lang="ru-RU" sz="2000" b="1" i="1" dirty="0"/>
                  <a:t>-</a:t>
                </a:r>
                <a:r>
                  <a:rPr lang="en-US" sz="2000" b="1" i="1" dirty="0" err="1"/>
                  <a:t>ключ-значение</a:t>
                </a:r>
                <a:r>
                  <a:rPr lang="en-US" sz="2000" b="1" i="1" dirty="0"/>
                  <a:t>  </a:t>
                </a:r>
                <a:endParaRPr lang="ru-RU" sz="2000" b="1" i="1" dirty="0"/>
              </a:p>
              <a:p>
                <a:pPr algn="l" rtl="0"/>
                <a:r>
                  <a:rPr lang="en-US" sz="2000" dirty="0" err="1"/>
                  <a:t>Самовнимание</a:t>
                </a:r>
                <a:r>
                  <a:rPr lang="en-US" sz="2000" dirty="0"/>
                  <a:t> </a:t>
                </a:r>
                <a:r>
                  <a:rPr lang="en-US" sz="2000" dirty="0" err="1"/>
                  <a:t>запрос</a:t>
                </a:r>
                <a:r>
                  <a:rPr lang="ru-RU" sz="2000" dirty="0"/>
                  <a:t>-</a:t>
                </a:r>
                <a:r>
                  <a:rPr lang="en-US" sz="2000" dirty="0" err="1"/>
                  <a:t>ключ-значение</a:t>
                </a:r>
                <a:r>
                  <a:rPr lang="en-US" sz="2000" dirty="0"/>
                  <a:t>, было предложено, чтобы каждый входной вектор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мо</a:t>
                </a:r>
                <a:r>
                  <a:rPr lang="ru-RU" sz="2000" dirty="0"/>
                  <a:t>г</a:t>
                </a:r>
                <a:r>
                  <a:rPr lang="en-US" sz="2000" dirty="0"/>
                  <a:t> использоваться в операции внимания тремя различными способами: </a:t>
                </a:r>
                <a:endParaRPr lang="ru-RU" sz="2000" dirty="0"/>
              </a:p>
              <a:p>
                <a:pPr algn="l" rtl="0"/>
                <a:r>
                  <a:rPr lang="en-US" sz="2000" dirty="0" err="1"/>
                  <a:t>Запрос</a:t>
                </a:r>
                <a:r>
                  <a:rPr lang="en-US" sz="2000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сравнивается с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: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2000" dirty="0"/>
                  <a:t>  для вычисления весов для собственного вывода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. </a:t>
                </a:r>
                <a:endParaRPr lang="ru-RU" sz="2000" dirty="0"/>
              </a:p>
              <a:p>
                <a:pPr algn="l" rtl="0"/>
                <a:r>
                  <a:rPr lang="en-US" sz="2000" dirty="0" err="1"/>
                  <a:t>ключ</a:t>
                </a:r>
                <a:r>
                  <a:rPr lang="en-US" sz="2000" dirty="0"/>
                  <a:t>: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сравнивается с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: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2000" dirty="0"/>
                  <a:t> для расчета весов для выхода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2000" dirty="0"/>
                  <a:t>-</a:t>
                </a:r>
                <a:r>
                  <a:rPr lang="en-US" sz="2000" dirty="0" err="1"/>
                  <a:t>th</a:t>
                </a:r>
                <a:r>
                  <a:rPr lang="en-US" sz="2000" dirty="0"/>
                  <a:t> вектор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000" dirty="0"/>
                  <a:t>;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000" dirty="0"/>
                  <a:t>. </a:t>
                </a:r>
                <a:endParaRPr lang="ru-RU" sz="2000" dirty="0"/>
              </a:p>
              <a:p>
                <a:r>
                  <a:rPr lang="en-US" sz="2000" b="1" i="1" dirty="0" err="1"/>
                  <a:t>значение</a:t>
                </a:r>
                <a:r>
                  <a:rPr lang="en-US" sz="2000" dirty="0"/>
                  <a:t>: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используется как часть взвешенной суммы для вычисления каждого выходного вектора после вычисления весов. </a:t>
                </a:r>
                <a:endParaRPr lang="ru-RU" sz="2000" dirty="0"/>
              </a:p>
              <a:p>
                <a:r>
                  <a:rPr lang="en-US" sz="2000" dirty="0" err="1"/>
                  <a:t>мы</a:t>
                </a:r>
                <a:r>
                  <a:rPr lang="en-US" sz="2000" dirty="0"/>
                  <a:t> можем ввести три вектора (полученные матрицей трех весов):</a:t>
                </a:r>
                <a:endParaRPr lang="ru-RU" sz="2000" dirty="0"/>
              </a:p>
              <a:p>
                <a:pPr marL="0" indent="0" algn="l" rtl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plcHide m:val="on"/>
                          <m:mcs>
                            <m:mc>
                              <m:mcPr>
                                <m:count m:val="6"/>
                                <m:mcJc m:val="center"/>
                              </m:mcPr>
                            </m:mc>
                          </m:mcs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mr>
                      </m:m>
                    </m:oMath>
                  </m:oMathPara>
                </a14:m>
                <a:endParaRPr lang="ru-RU" sz="2000" dirty="0"/>
              </a:p>
              <a:p>
                <a:pPr algn="l" rtl="0"/>
                <a:r>
                  <a:rPr lang="en-US" sz="2000" dirty="0"/>
                  <a:t>Все три матрицы весов должны иметь размерность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000" dirty="0"/>
                  <a:t>, </a:t>
                </a:r>
                <a:r>
                  <a:rPr lang="ru-RU" sz="2000" dirty="0"/>
                  <a:t>где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000" dirty="0"/>
                  <a:t>размер окна (или входа). В этом случае выходной вектор можно рассчитать как "масштабированный точечный продукт "</a:t>
                </a:r>
                <a:br>
                  <a:rPr lang="en-US" sz="2000" dirty="0"/>
                </a:br>
                <a:endParaRPr lang="ru-RU" sz="20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  <a:blipFill>
                <a:blip r:embed="rId2"/>
                <a:stretch>
                  <a:fillRect l="-464" t="-99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5" name="Рисунок 2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4321" y="4554691"/>
            <a:ext cx="3387643" cy="2100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80913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3300" b="1" dirty="0">
                <a:solidFill>
                  <a:srgbClr val="000000"/>
                </a:solidFill>
              </a:rPr>
              <a:t>Внимание </a:t>
            </a:r>
            <a:r>
              <a:rPr lang="ru-RU" sz="3300" b="1" dirty="0"/>
              <a:t>Пример временной свертки - </a:t>
            </a:r>
            <a:r>
              <a:rPr lang="ru-RU" sz="3300" b="1" dirty="0" err="1"/>
              <a:t>самовнимание</a:t>
            </a:r>
            <a:endParaRPr lang="ru-RU" altLang="ru-RU" sz="3300" b="1" dirty="0">
              <a:solidFill>
                <a:srgbClr val="000000"/>
              </a:solidFill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algn="l" rtl="0"/>
            <a:r>
              <a:rPr lang="en-US" sz="2000" dirty="0"/>
              <a:t>Пример Temporal-convolution - сеть самовнимания (запрос-ключ-значение) для многомерной классификации временных рядов.</a:t>
            </a:r>
            <a:endParaRPr lang="ru-RU" sz="16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82564" y="-452876"/>
            <a:ext cx="12557125" cy="75263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9367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ru-RU" sz="3200" b="1" dirty="0"/>
              <a:t>Многоголовое внимание</a:t>
            </a:r>
            <a:endParaRPr lang="ru-RU" altLang="ru-RU" sz="3200" b="1" dirty="0">
              <a:solidFill>
                <a:srgbClr val="000000"/>
              </a:solidFill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r>
              <a:rPr lang="ru-RU" sz="2000" b="1" dirty="0"/>
              <a:t>Многоголовое внимание</a:t>
            </a:r>
            <a:endParaRPr lang="ru-RU" sz="2000" dirty="0"/>
          </a:p>
          <a:p>
            <a:r>
              <a:rPr lang="ru-RU" sz="2000" dirty="0"/>
              <a:t>Различительную силу </a:t>
            </a:r>
            <a:r>
              <a:rPr lang="ru-RU" sz="2000" dirty="0" err="1"/>
              <a:t>самовнимания</a:t>
            </a:r>
            <a:r>
              <a:rPr lang="ru-RU" sz="2000" dirty="0"/>
              <a:t> можно повысить, используя его ансамбль. Объединение может быть реализовано путем объединения нескольких слоев </a:t>
            </a:r>
            <a:r>
              <a:rPr lang="ru-RU" sz="2000" dirty="0" err="1"/>
              <a:t>самовнимания</a:t>
            </a:r>
            <a:r>
              <a:rPr lang="ru-RU" sz="2000" dirty="0"/>
              <a:t> параллельно (которые мы будем индексировать с помощью 𝑟), каждый с различной матрицей весов 𝑊𝑟𝑞, 𝑊𝑟𝑘, 𝑊𝑟𝑣. </a:t>
            </a:r>
          </a:p>
          <a:p>
            <a:r>
              <a:rPr lang="ru-RU" sz="2000" dirty="0"/>
              <a:t>Для каждого входа 𝑥𝑖 каждая голова внимания производит другой выходной вектор 𝑦𝑟𝑖. Мы объединяем их и передаем через линейное преобразование, чтобы уменьшить размерность до. </a:t>
            </a:r>
          </a:p>
          <a:p>
            <a:r>
              <a:rPr lang="ru-RU" sz="2000" i="1" dirty="0"/>
              <a:t>Примечание</a:t>
            </a:r>
            <a:endParaRPr lang="ru-RU" sz="2000" dirty="0"/>
          </a:p>
          <a:p>
            <a:r>
              <a:rPr lang="ru-RU" sz="2000" dirty="0"/>
              <a:t>можно выделить:</a:t>
            </a:r>
          </a:p>
          <a:p>
            <a:pPr lvl="3"/>
            <a:r>
              <a:rPr lang="ru-RU" sz="2000" b="1" dirty="0"/>
              <a:t>Узкое</a:t>
            </a:r>
            <a:r>
              <a:rPr lang="ru-RU" sz="2000" dirty="0"/>
              <a:t> </a:t>
            </a:r>
            <a:r>
              <a:rPr lang="ru-RU" sz="2000" dirty="0" err="1"/>
              <a:t>самовнимание</a:t>
            </a:r>
            <a:r>
              <a:rPr lang="ru-RU" sz="2000" dirty="0"/>
              <a:t> с </a:t>
            </a:r>
            <a:r>
              <a:rPr lang="ru-RU" sz="2000" b="1" dirty="0"/>
              <a:t>несколькими головами</a:t>
            </a:r>
            <a:r>
              <a:rPr lang="ru-RU" sz="2000" dirty="0"/>
              <a:t> : разрезать входной вектор на r частей (если вектор имеет 256 измерений, и у нас есть 8 голов внимания, мы разрезаем его на 8 частей по 32 значения).</a:t>
            </a:r>
          </a:p>
          <a:p>
            <a:pPr lvl="3"/>
            <a:r>
              <a:rPr lang="ru-RU" sz="2000" b="1" dirty="0"/>
              <a:t>широкое</a:t>
            </a:r>
            <a:r>
              <a:rPr lang="ru-RU" sz="2000" dirty="0"/>
              <a:t> </a:t>
            </a:r>
            <a:r>
              <a:rPr lang="ru-RU" sz="2000" dirty="0" err="1"/>
              <a:t>самовнимание</a:t>
            </a:r>
            <a:r>
              <a:rPr lang="ru-RU" sz="2000" dirty="0"/>
              <a:t> с </a:t>
            </a:r>
            <a:r>
              <a:rPr lang="ru-RU" sz="2000" b="1" dirty="0"/>
              <a:t>несколькими головами</a:t>
            </a:r>
            <a:r>
              <a:rPr lang="ru-RU" sz="2000" dirty="0"/>
              <a:t>: создание матриц 𝑟 с полным размером (для 256 </a:t>
            </a:r>
            <a:r>
              <a:rPr lang="ru-RU" sz="2000" dirty="0" err="1"/>
              <a:t>dim</a:t>
            </a:r>
            <a:r>
              <a:rPr lang="ru-RU" sz="2000" dirty="0"/>
              <a:t> создайте 8 головок внимания, с 256 × 256 </a:t>
            </a:r>
            <a:r>
              <a:rPr lang="ru-RU" sz="2000" dirty="0" err="1"/>
              <a:t>dim</a:t>
            </a:r>
            <a:r>
              <a:rPr lang="ru-RU" sz="2000" dirty="0"/>
              <a:t>.) - Таким образом вы получите лучший результат за счет большего объема памяти и времени.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280412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ru-RU" sz="3200" b="1" dirty="0"/>
              <a:t>Многоголовое внимание с маской</a:t>
            </a:r>
            <a:endParaRPr lang="ru-RU" altLang="ru-RU" sz="3200" dirty="0">
              <a:solidFill>
                <a:srgbClr val="0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</p:spPr>
            <p:txBody>
              <a:bodyPr>
                <a:no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ru-RU" sz="2000" dirty="0"/>
                  <a:t>Недостаток простого </a:t>
                </a:r>
                <a:r>
                  <a:rPr lang="ru-RU" sz="2000" dirty="0" err="1"/>
                  <a:t>самовнимания</a:t>
                </a:r>
                <a:r>
                  <a:rPr lang="ru-RU" sz="2000" dirty="0"/>
                  <a:t> состоит в том, что оно сопровождается влиянием прямого и предыдущего входов на каждый выход. Это приводит к нарушению требований причинно-следственной связи. Чтобы избежать этого, матрица весов должна быть преобразована в случайную форму (т.е. матрицу треугольника). Такую операцию можно выполнить путем его умножения на соответствующую матрицу-маску. Маскирование </a:t>
                </a:r>
                <a:r>
                  <a:rPr lang="ru-RU" sz="2000" dirty="0" err="1"/>
                  <a:t>самовнимания</a:t>
                </a:r>
                <a:r>
                  <a:rPr lang="ru-RU" sz="2000" dirty="0"/>
                  <a:t> позволяет использовать его как аналог модели авторегрессии.  Маскирование внимания можно представить как</a:t>
                </a:r>
              </a:p>
              <a:p>
                <a:pPr marL="0" indent="0" algn="l" rtl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𝐴𝑡𝑡𝑒𝑛𝑡𝑖𝑜𝑛</m:t>
                      </m:r>
                      <m:d>
                        <m:dPr>
                          <m:ctrlPr>
                            <a:rPr lang="en-US" sz="2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</m:d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n-US" sz="2000" i="1" dirty="0" err="1" smtClean="0">
                          <a:latin typeface="Cambria Math" panose="02040503050406030204" pitchFamily="18" charset="0"/>
                        </a:rPr>
                        <m:t>𝑠𝑜𝑓𝑡𝑚𝑎𝑥</m:t>
                      </m:r>
                      <m:d>
                        <m:dPr>
                          <m:ctrlPr>
                            <a:rPr lang="en-US" sz="20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000" i="1" dirty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 dirty="0" smtClean="0">
                                  <a:latin typeface="Cambria Math" panose="02040503050406030204" pitchFamily="18" charset="0"/>
                                </a:rPr>
                                <m:t>𝑀𝑄</m:t>
                              </m:r>
                              <m:sSup>
                                <m:sSupPr>
                                  <m:ctrlPr>
                                    <a:rPr lang="en-US" sz="20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i="1" dirty="0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p>
                                  <m:r>
                                    <a:rPr lang="en-US" sz="2000" i="1" dirty="0">
                                      <a:latin typeface="Cambria Math" panose="02040503050406030204" pitchFamily="18" charset="0"/>
                                    </a:rPr>
                                    <m:t>⊤</m:t>
                                  </m:r>
                                </m:sup>
                              </m:sSup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000" i="1" dirty="0" err="1" smtClean="0">
                                      <a:latin typeface="Cambria Math" panose="02040503050406030204" pitchFamily="18" charset="0"/>
                                    </a:rPr>
                                    <m:t>n</m:t>
                                  </m:r>
                                </m:e>
                              </m:rad>
                            </m:den>
                          </m:f>
                        </m:e>
                      </m:d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ru-RU" sz="2000" dirty="0"/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ru-RU" sz="2000" dirty="0"/>
                  <a:t>где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sz="2000" dirty="0"/>
                  <a:t> маскирующая матрица - верхний треугольник, в следующем виде</a:t>
                </a:r>
                <a:endParaRPr lang="ru-RU" sz="2000" dirty="0"/>
              </a:p>
              <a:p>
                <a:pPr marL="0" indent="0" algn="l" rtl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5"/>
                                    <m:mcJc m:val="center"/>
                                  </m:mcPr>
                                </m:mc>
                              </m:mcs>
                              <m:ctrlPr>
                                <a:rPr lang="ru-RU" sz="20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∞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∞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∞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∞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∞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∞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ru-RU" sz="2000" dirty="0"/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en-US" sz="2000" dirty="0"/>
                  <a:t>Где мы используем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∞</m:t>
                    </m:r>
                  </m:oMath>
                </a14:m>
                <a:r>
                  <a:rPr lang="en-US" sz="2000" dirty="0"/>
                  <a:t> поскольку мы хотим, чтобы эти элементы были равны нулю после </a:t>
                </a:r>
                <a:r>
                  <a:rPr lang="en-US" sz="2000" dirty="0" err="1"/>
                  <a:t>softmax</a:t>
                </a:r>
                <a:r>
                  <a:rPr lang="en-US" sz="2000" dirty="0"/>
                  <a:t>.</a:t>
                </a:r>
                <a:endParaRPr lang="ru-RU" sz="2000" dirty="0"/>
              </a:p>
              <a:p>
                <a:pPr marL="0" lvl="0" indent="0" algn="l" rtl="0" eaLnBrk="0" fontAlgn="base" hangingPunct="0">
                  <a:lnSpc>
                    <a:spcPct val="12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lang="ru-RU" altLang="ru-RU" sz="2000" dirty="0"/>
              </a:p>
              <a:p>
                <a:pPr algn="l" rtl="0">
                  <a:lnSpc>
                    <a:spcPct val="120000"/>
                  </a:lnSpc>
                </a:pPr>
                <a:endParaRPr lang="ru-RU" sz="20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  <a:blipFill>
                <a:blip r:embed="rId2"/>
                <a:stretch>
                  <a:fillRect l="-464" r="-51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99556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ru-RU" sz="3200" b="1" dirty="0"/>
              <a:t>Многоголовое внимание с маской</a:t>
            </a:r>
            <a:endParaRPr lang="ru-RU" altLang="ru-RU" sz="3200" b="1" dirty="0">
              <a:solidFill>
                <a:srgbClr val="000000"/>
              </a:solidFill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r>
              <a:rPr lang="ru-RU" sz="2000" i="1" dirty="0"/>
              <a:t>Примечание.</a:t>
            </a:r>
            <a:r>
              <a:rPr lang="ru-RU" sz="2000" dirty="0"/>
              <a:t>  Маскирование </a:t>
            </a:r>
            <a:r>
              <a:rPr lang="ru-RU" sz="2000" dirty="0" err="1"/>
              <a:t>самовнимания</a:t>
            </a:r>
            <a:r>
              <a:rPr lang="ru-RU" sz="2000" dirty="0"/>
              <a:t>, чтобы элементы могли обращаться только к входным элементам, которые предшествуют им в последовательности. Обратите внимание, что символ умножения немного вводит в заблуждение: мы фактически устанавливаем замаскированные элементы (белые квадраты) на -∞.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3" name="Рисунок 2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588" y="2001808"/>
            <a:ext cx="5486400" cy="1981200"/>
          </a:xfrm>
          <a:prstGeom prst="rect">
            <a:avLst/>
          </a:prstGeom>
        </p:spPr>
      </p:pic>
      <p:sp>
        <p:nvSpPr>
          <p:cNvPr id="25" name="Прямоугольник 24"/>
          <p:cNvSpPr/>
          <p:nvPr/>
        </p:nvSpPr>
        <p:spPr>
          <a:xfrm>
            <a:off x="7201700" y="3484373"/>
            <a:ext cx="4135008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Пример нескольких подходов для</a:t>
            </a:r>
            <a:b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</a:b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 многоголовое замаскированное самовнимание.</a:t>
            </a:r>
          </a:p>
          <a:p>
            <a:pPr algn="l" rtl="0"/>
            <a:r>
              <a:rPr lang="en-US" dirty="0">
                <a:solidFill>
                  <a:srgbClr val="000000"/>
                </a:solidFill>
                <a:latin typeface="Helvetica Neue"/>
              </a:rPr>
              <a:t/>
            </a:r>
            <a:br>
              <a:rPr lang="en-US" dirty="0">
                <a:solidFill>
                  <a:srgbClr val="000000"/>
                </a:solidFill>
                <a:latin typeface="Helvetica Neue"/>
              </a:rPr>
            </a:br>
            <a:endParaRPr lang="ru-RU" dirty="0"/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7" name="Рисунок 2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8365" y="4304852"/>
            <a:ext cx="5618666" cy="2165416"/>
          </a:xfrm>
          <a:prstGeom prst="rect">
            <a:avLst/>
          </a:prstGeom>
        </p:spPr>
      </p:pic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9" name="Прямоугольник 28"/>
          <p:cNvSpPr/>
          <p:nvPr/>
        </p:nvSpPr>
        <p:spPr>
          <a:xfrm>
            <a:off x="142542" y="4247659"/>
            <a:ext cx="6096000" cy="2031325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dirty="0"/>
              <a:t>В памяти сжатого внимания </a:t>
            </a:r>
            <a:r>
              <a:rPr lang="ru-RU" dirty="0" err="1"/>
              <a:t>case</a:t>
            </a:r>
            <a:r>
              <a:rPr lang="ru-RU" dirty="0"/>
              <a:t> </a:t>
            </a:r>
            <a:r>
              <a:rPr lang="ru-RU" dirty="0" err="1"/>
              <a:t>conv</a:t>
            </a:r>
            <a:r>
              <a:rPr lang="ru-RU" dirty="0"/>
              <a:t> - означает 1𝑥1conv для уменьшения количества сверток при </a:t>
            </a:r>
            <a:r>
              <a:rPr lang="ru-RU" dirty="0" err="1"/>
              <a:t>самовнимании</a:t>
            </a:r>
            <a:r>
              <a:rPr lang="ru-RU" dirty="0"/>
              <a:t>. Это похоже на шумоподавление - вы теряете элементы данных. В </a:t>
            </a:r>
            <a:r>
              <a:rPr lang="ru-RU" dirty="0" err="1"/>
              <a:t>самовнимании</a:t>
            </a:r>
            <a:r>
              <a:rPr lang="ru-RU" dirty="0"/>
              <a:t> декодера вы обрабатываете все данные вместе. При локальном внимании вы обрабатываете данные из каждой позиции скользящего окна отдельно и результаты </a:t>
            </a:r>
            <a:r>
              <a:rPr lang="ru-RU" dirty="0" err="1"/>
              <a:t>объеденяем</a:t>
            </a:r>
            <a:r>
              <a:rPr lang="ru-RU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350752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/>
            <a:r>
              <a:rPr lang="ru-RU" sz="2000" dirty="0"/>
              <a:t>Блок трансформаторов состоит из:</a:t>
            </a:r>
          </a:p>
          <a:p>
            <a:pPr lvl="1"/>
            <a:r>
              <a:rPr lang="ru-RU" sz="2000" dirty="0"/>
              <a:t>слой </a:t>
            </a:r>
            <a:r>
              <a:rPr lang="ru-RU" sz="2000" dirty="0" err="1"/>
              <a:t>самовнимания</a:t>
            </a:r>
            <a:r>
              <a:rPr lang="ru-RU" sz="2000" dirty="0"/>
              <a:t>,</a:t>
            </a:r>
          </a:p>
          <a:p>
            <a:pPr lvl="1"/>
            <a:r>
              <a:rPr lang="ru-RU" sz="2000" dirty="0"/>
              <a:t>нормализация слоя,</a:t>
            </a:r>
          </a:p>
          <a:p>
            <a:pPr lvl="1"/>
            <a:r>
              <a:rPr lang="ru-RU" sz="2000" dirty="0"/>
              <a:t>слой прямой связи (один MLP применяется независимо к каждому вектору),</a:t>
            </a:r>
          </a:p>
          <a:p>
            <a:pPr lvl="1"/>
            <a:r>
              <a:rPr lang="ru-RU" sz="2000" dirty="0"/>
              <a:t>и еще одна нормализация слоя.</a:t>
            </a:r>
          </a:p>
          <a:p>
            <a:pPr lvl="1"/>
            <a:r>
              <a:rPr lang="ru-RU" sz="2000" dirty="0"/>
              <a:t>Остаточные соединения добавляются вокруг обоих перед нормализацией.</a:t>
            </a:r>
          </a:p>
          <a:p>
            <a:pPr lvl="0"/>
            <a:r>
              <a:rPr lang="ru-RU" sz="2000" i="1" dirty="0"/>
              <a:t>Примечание</a:t>
            </a:r>
            <a:endParaRPr lang="ru-RU" sz="2000" dirty="0"/>
          </a:p>
          <a:p>
            <a:pPr lvl="0"/>
            <a:r>
              <a:rPr lang="ru-RU" sz="2000" dirty="0"/>
              <a:t>Порядок различных компонентов не высечен на камне;</a:t>
            </a:r>
          </a:p>
          <a:p>
            <a:pPr lvl="0"/>
            <a:r>
              <a:rPr lang="ru-RU" sz="2000" dirty="0"/>
              <a:t>важно объединить </a:t>
            </a:r>
            <a:r>
              <a:rPr lang="ru-RU" sz="2000" dirty="0" err="1"/>
              <a:t>самовнимание</a:t>
            </a:r>
            <a:r>
              <a:rPr lang="ru-RU" sz="2000" dirty="0"/>
              <a:t> с локальной прямой связью, а также добавить нормализацию и остаточные связи.</a:t>
            </a:r>
          </a:p>
          <a:p>
            <a:pPr lvl="0"/>
            <a:r>
              <a:rPr lang="ru-RU" sz="2000" dirty="0"/>
              <a:t>в трансформаторе у вас может быть многоголовое внимание, и каждый MLP будет работать с другой головой.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7" name="Рисунок 2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6775" y="4582730"/>
            <a:ext cx="5016263" cy="2284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36642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algn="l" rtl="0"/>
            <a:r>
              <a:rPr lang="en-US" sz="2000" u="sng" dirty="0"/>
              <a:t>Архитектура </a:t>
            </a:r>
            <a:r>
              <a:rPr lang="en-US" sz="2000" u="sng" dirty="0" err="1"/>
              <a:t>блока</a:t>
            </a:r>
            <a:r>
              <a:rPr lang="en-US" sz="2000" u="sng" dirty="0"/>
              <a:t> </a:t>
            </a:r>
            <a:r>
              <a:rPr lang="en-US" sz="2000" u="sng" dirty="0" err="1"/>
              <a:t>не</a:t>
            </a:r>
            <a:r>
              <a:rPr lang="en-US" sz="2000" u="sng" dirty="0"/>
              <a:t> </a:t>
            </a:r>
            <a:r>
              <a:rPr lang="en-US" sz="2000" u="sng" dirty="0" err="1"/>
              <a:t>содержит</a:t>
            </a:r>
            <a:r>
              <a:rPr lang="en-US" sz="2000" u="sng" dirty="0"/>
              <a:t> </a:t>
            </a:r>
            <a:r>
              <a:rPr lang="ru-RU" sz="2000" u="sng" dirty="0"/>
              <a:t>сверток</a:t>
            </a:r>
            <a:r>
              <a:rPr lang="en-US" sz="2000" u="sng" dirty="0"/>
              <a:t> - это полносвязная архитектура в исходной идее.</a:t>
            </a:r>
            <a:endParaRPr lang="en-US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3" name="Рисунок 2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4375" y="1229567"/>
            <a:ext cx="6715125" cy="3057525"/>
          </a:xfrm>
          <a:prstGeom prst="rect">
            <a:avLst/>
          </a:prstGeom>
        </p:spPr>
      </p:pic>
      <p:sp>
        <p:nvSpPr>
          <p:cNvPr id="25" name="Прямоугольник 24"/>
          <p:cNvSpPr/>
          <p:nvPr/>
        </p:nvSpPr>
        <p:spPr>
          <a:xfrm>
            <a:off x="307975" y="4932001"/>
            <a:ext cx="6096000" cy="923330"/>
          </a:xfrm>
          <a:prstGeom prst="rect">
            <a:avLst/>
          </a:prstGeom>
        </p:spPr>
        <p:txBody>
          <a:bodyPr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Обратите внимание, что классическая реализация трансформатора использует нормализацию слоя вместо пакетной нормализации.</a:t>
            </a:r>
            <a:endParaRPr lang="ru-RU" dirty="0"/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9" name="Рисунок 28"/>
          <p:cNvPicPr>
            <a:picLocks noChangeAspect="1"/>
          </p:cNvPicPr>
          <p:nvPr/>
        </p:nvPicPr>
        <p:blipFill rotWithShape="1">
          <a:blip r:embed="rId3"/>
          <a:srcRect r="49746"/>
          <a:stretch/>
        </p:blipFill>
        <p:spPr>
          <a:xfrm>
            <a:off x="6188365" y="4859089"/>
            <a:ext cx="2450810" cy="1381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71019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algn="l" rtl="0"/>
            <a:r>
              <a:rPr lang="en-US" dirty="0"/>
              <a:t>Архитектура блоков преобразования в стеке.</a:t>
            </a:r>
            <a:endParaRPr lang="en-US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30" name="Рисунок 2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927" y="1346926"/>
            <a:ext cx="9148559" cy="4565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01039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>
              <a:spcBef>
                <a:spcPts val="0"/>
              </a:spcBef>
            </a:pPr>
            <a:r>
              <a:rPr lang="ru-RU" sz="2000" b="1" dirty="0"/>
              <a:t>Преобразователь с позиционным кодированием</a:t>
            </a:r>
            <a:r>
              <a:rPr lang="ru-RU" sz="2000" dirty="0"/>
              <a:t> . Главный недостаток реализации простого преобразователя (FC) в том, что он не может изменить порядок последовательности.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Одно из возможных решений - наделить модель определенным порядком - добавить информацию о ее положении к каждому образцу в серии. Мы называем это «информацией», </a:t>
            </a:r>
            <a:r>
              <a:rPr lang="ru-RU" sz="2000" b="1" dirty="0"/>
              <a:t>позиционное кодирование.</a:t>
            </a:r>
            <a:endParaRPr lang="ru-RU" sz="2000" dirty="0"/>
          </a:p>
          <a:p>
            <a:pPr lvl="0">
              <a:spcBef>
                <a:spcPts val="0"/>
              </a:spcBef>
            </a:pPr>
            <a:r>
              <a:rPr lang="ru-RU" sz="2000" u="sng" dirty="0"/>
              <a:t>Чтобы включить информацию о порядке последовательности, в архитектуру преобразователя можно использовать кодирование положения.</a:t>
            </a:r>
            <a:endParaRPr lang="ru-RU" sz="2000" dirty="0"/>
          </a:p>
          <a:p>
            <a:pPr lvl="0">
              <a:spcBef>
                <a:spcPts val="0"/>
              </a:spcBef>
            </a:pPr>
            <a:r>
              <a:rPr lang="ru-RU" sz="2000" dirty="0"/>
              <a:t>Кодирование выполняется путем сопоставления значений временных шагов 𝑡: 𝑡 + 𝜏 с таблицей, которая позволяет получить d-мерный код для каждого временного шага.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Позиционное кодирование должно выполняться как во время обучения, так и во время оценки.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Позиционное кодирование может быть выполнено как:</a:t>
            </a:r>
          </a:p>
          <a:p>
            <a:pPr lvl="1">
              <a:spcBef>
                <a:spcPts val="0"/>
              </a:spcBef>
            </a:pPr>
            <a:r>
              <a:rPr lang="ru-RU" sz="2000" dirty="0" err="1"/>
              <a:t>рандомизированная</a:t>
            </a:r>
            <a:r>
              <a:rPr lang="ru-RU" sz="2000" dirty="0"/>
              <a:t> кодировка (фиксируется как </a:t>
            </a:r>
            <a:r>
              <a:rPr lang="ru-RU" sz="2000" dirty="0" err="1"/>
              <a:t>гиперпараметр</a:t>
            </a:r>
            <a:r>
              <a:rPr lang="ru-RU" sz="2000" dirty="0"/>
              <a:t>).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обученная кодировка (</a:t>
            </a:r>
            <a:r>
              <a:rPr lang="ru-RU" sz="2000" dirty="0" err="1"/>
              <a:t>предобученный</a:t>
            </a:r>
            <a:r>
              <a:rPr lang="ru-RU" sz="2000" dirty="0"/>
              <a:t> </a:t>
            </a:r>
            <a:r>
              <a:rPr lang="ru-RU" sz="2000" dirty="0" err="1"/>
              <a:t>гиперпараметр</a:t>
            </a:r>
            <a:r>
              <a:rPr lang="ru-RU" sz="2000" dirty="0"/>
              <a:t>).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фиксированное кодирование функции (в исходном предложении)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3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5" name="Рисунок 2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6633" y="4635782"/>
            <a:ext cx="4038600" cy="1876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79399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87166" y="692112"/>
                <a:ext cx="11832935" cy="6140153"/>
              </a:xfrm>
            </p:spPr>
            <p:txBody>
              <a:bodyPr>
                <a:noAutofit/>
              </a:bodyPr>
              <a:lstStyle/>
              <a:p>
                <a:pPr lvl="1" algn="l" rtl="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2000" u="sng" dirty="0"/>
                  <a:t>В первоначально предложенное представление позиции </a:t>
                </a:r>
                <a:br>
                  <a:rPr lang="en-US" sz="2000" u="sng" dirty="0"/>
                </a:br>
                <a:r>
                  <a:rPr lang="en-US" sz="2000" u="sng" dirty="0"/>
                  <a:t>кодирование</a:t>
                </a:r>
              </a:p>
              <a:p>
                <a:pPr marL="457200" lvl="1" indent="0" algn="l" rtl="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 b="0" i="0" smtClean="0">
                          <a:latin typeface="Cambria Math" panose="02040503050406030204" pitchFamily="18" charset="0"/>
                        </a:rPr>
                        <m:t> </m:t>
                      </m:r>
                      <m:acc>
                        <m:accPr>
                          <m:chr m:val="⃗"/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ru-RU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acc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ru-RU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plcHide m:val="on"/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ru-RU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sz="2000"/>
                                      <m:t>sin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ru-RU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.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sz="2000"/>
                                      <m:t>cos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ru-RU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.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/>
                                </m:mr>
                                <m:m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sz="2000"/>
                                      <m:t>sin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ru-RU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.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sz="2000"/>
                                      <m:t>cos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ru-RU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.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/>
                                </m:mr>
                                <m:m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</m:mr>
                                <m:mr>
                                  <m:e/>
                                </m:mr>
                                <m:m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sz="2000"/>
                                      <m:t>sin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ru-RU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𝑑</m:t>
                                        </m:r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/2</m:t>
                                        </m:r>
                                      </m:sub>
                                    </m:s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.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sz="2000"/>
                                      <m:t>cos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ru-RU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𝑑</m:t>
                                        </m:r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/2</m:t>
                                        </m:r>
                                      </m:sub>
                                    </m:s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.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×1</m:t>
                          </m:r>
                        </m:sub>
                      </m:sSub>
                    </m:oMath>
                  </m:oMathPara>
                </a14:m>
                <a:endParaRPr lang="ru-RU" sz="2000" dirty="0"/>
              </a:p>
              <a:p>
                <a:pPr algn="l" rtl="0"/>
                <a:endParaRPr lang="ru-RU" sz="2000" dirty="0"/>
              </a:p>
              <a:p>
                <a:pPr marL="457200" lvl="1" indent="0" algn="l" rtl="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lang="ru-RU" altLang="ru-RU" sz="20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7166" y="692112"/>
                <a:ext cx="11832935" cy="6140153"/>
              </a:xfrm>
              <a:blipFill>
                <a:blip r:embed="rId2"/>
                <a:stretch>
                  <a:fillRect t="-596"/>
                </a:stretch>
              </a:blipFill>
            </p:spPr>
            <p:txBody>
              <a:bodyPr/>
              <a:lstStyle/>
              <a:p>
                <a:pPr rtl="0" algn="l"/>
                <a:r>
                  <a:rPr lang="ru-RU">
                    <a:noFill/>
                  </a:rPr>
                  <a:t> 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3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9" name="Рисунок 2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3831" y="3973239"/>
            <a:ext cx="5970395" cy="288476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0" name="Прямоугольник 29"/>
              <p:cNvSpPr/>
              <p:nvPr/>
            </p:nvSpPr>
            <p:spPr>
              <a:xfrm>
                <a:off x="155575" y="4847410"/>
                <a:ext cx="4689890" cy="120032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l" rtl="0"/>
                <a:r>
                  <a:rPr lang="en-US" dirty="0"/>
                  <a:t>Пример 128-мерного позиционного кодирования для последовательности с максимальной длиной 50. Каждая строка представляет вектор внедрения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ru-RU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acc>
                  </m:oMath>
                </a14:m>
                <a:endParaRPr lang="ru-RU" dirty="0"/>
              </a:p>
            </p:txBody>
          </p:sp>
        </mc:Choice>
        <mc:Fallback xmlns="">
          <p:sp>
            <p:nvSpPr>
              <p:cNvPr id="30" name="Прямоугольник 2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5575" y="4847410"/>
                <a:ext cx="4689890" cy="1200329"/>
              </a:xfrm>
              <a:prstGeom prst="rect">
                <a:avLst/>
              </a:prstGeom>
              <a:blipFill>
                <a:blip r:embed="rId4"/>
                <a:stretch>
                  <a:fillRect l="-1170" t="-2538" b="-7107"/>
                </a:stretch>
              </a:blipFill>
            </p:spPr>
            <p:txBody>
              <a:bodyPr/>
              <a:lstStyle/>
              <a:p>
                <a:pPr rtl="0" algn="l"/>
                <a:r>
                  <a:rPr lang="ru-RU">
                    <a:noFill/>
                  </a:rPr>
                  <a:t> </a:t>
                </a:r>
              </a:p>
            </p:txBody>
          </p:sp>
        </mc:Fallback>
      </mc:AlternateContent>
      <p:sp>
        <p:nvSpPr>
          <p:cNvPr id="31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2441575" y="2141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50878" y="184666"/>
            <a:ext cx="3501544" cy="3914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73732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7166" y="692112"/>
            <a:ext cx="11832935" cy="6140153"/>
          </a:xfrm>
        </p:spPr>
        <p:txBody>
          <a:bodyPr>
            <a:noAutofit/>
          </a:bodyPr>
          <a:lstStyle/>
          <a:p>
            <a:endParaRPr lang="ru-RU" sz="2000" dirty="0"/>
          </a:p>
          <a:p>
            <a:pPr lvl="1"/>
            <a:r>
              <a:rPr lang="ru-RU" sz="2000" u="sng" dirty="0"/>
              <a:t>Как показано выше,</a:t>
            </a:r>
            <a:r>
              <a:rPr lang="ru-RU" sz="2000" dirty="0"/>
              <a:t>  извлечение признаков на основе </a:t>
            </a:r>
            <a:r>
              <a:rPr lang="ru-RU" sz="2000" dirty="0" err="1"/>
              <a:t>трансформера</a:t>
            </a:r>
            <a:r>
              <a:rPr lang="ru-RU" sz="2000" dirty="0"/>
              <a:t> временных рядов состоит из встраивания входных данных, выполняемого полностью 1-мерной </a:t>
            </a:r>
            <a:r>
              <a:rPr lang="ru-RU" sz="2000" dirty="0" err="1"/>
              <a:t>сверточной</a:t>
            </a:r>
            <a:r>
              <a:rPr lang="ru-RU" sz="2000" dirty="0"/>
              <a:t> сетью и кодировщиком положения.</a:t>
            </a:r>
          </a:p>
          <a:p>
            <a:pPr lvl="1"/>
            <a:r>
              <a:rPr lang="ru-RU" sz="2000" dirty="0"/>
              <a:t>Причина, по которой кодирование позиций добавляется (вместо конкатенации), связана с высокой размерностью входных данных (N карт - встраивание признаков).</a:t>
            </a:r>
          </a:p>
          <a:p>
            <a:pPr lvl="1"/>
            <a:r>
              <a:rPr lang="ru-RU" sz="2000" b="1" u="sng" dirty="0"/>
              <a:t>Добавив матрицу кодирования позиций, вы получите признаки ортогональными, что означает больше внимание к нескольким головам.</a:t>
            </a:r>
            <a:endParaRPr lang="ru-RU" sz="2000" dirty="0"/>
          </a:p>
          <a:p>
            <a:pPr lvl="1"/>
            <a:r>
              <a:rPr lang="ru-RU" sz="2000" b="1" u="sng" dirty="0"/>
              <a:t>Кодирование позиции добавляет к данным лишь небольшие фрагменты выводов (например, шумы) - ожидается, что это не повлияет на полученную точность.</a:t>
            </a:r>
            <a:endParaRPr lang="ru-RU" sz="2000" dirty="0"/>
          </a:p>
          <a:p>
            <a:r>
              <a:rPr lang="ru-RU" sz="2000" dirty="0"/>
              <a:t>Пример многоголовой сети внимания для классификации временных рядов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3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1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2441575" y="2141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4775" y="4210216"/>
            <a:ext cx="9730471" cy="17988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37245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7166" y="692112"/>
            <a:ext cx="11832935" cy="6140153"/>
          </a:xfrm>
        </p:spPr>
        <p:txBody>
          <a:bodyPr>
            <a:noAutofit/>
          </a:bodyPr>
          <a:lstStyle/>
          <a:p>
            <a:pPr lvl="1"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000" i="1" dirty="0">
                <a:solidFill>
                  <a:srgbClr val="000000"/>
                </a:solidFill>
              </a:rPr>
              <a:t>Примечание. </a:t>
            </a:r>
            <a:r>
              <a:rPr lang="en-US" sz="2000" dirty="0">
                <a:solidFill>
                  <a:srgbClr val="000000"/>
                </a:solidFill>
              </a:rPr>
              <a:t>Блок трансформатора следует отличать от </a:t>
            </a:r>
            <a:r>
              <a:rPr lang="en-US" sz="2000" b="1" dirty="0">
                <a:solidFill>
                  <a:srgbClr val="000000"/>
                </a:solidFill>
              </a:rPr>
              <a:t>модель кодера-декодера трансформатора </a:t>
            </a:r>
            <a:r>
              <a:rPr lang="en-US" sz="2000" dirty="0">
                <a:solidFill>
                  <a:srgbClr val="000000"/>
                </a:solidFill>
              </a:rPr>
              <a:t>Пример модели кодера-декодера преобразователя прогнозирования временных рядов</a:t>
            </a:r>
          </a:p>
          <a:p>
            <a:pPr lvl="1"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ru-RU" altLang="ru-RU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3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1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2441575" y="2141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9" name="Рисунок 2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660" y="2433780"/>
            <a:ext cx="6140450" cy="3419423"/>
          </a:xfrm>
          <a:prstGeom prst="rect">
            <a:avLst/>
          </a:prstGeom>
        </p:spPr>
      </p:pic>
      <p:pic>
        <p:nvPicPr>
          <p:cNvPr id="30" name="Рисунок 2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776" y="2873431"/>
            <a:ext cx="4686300" cy="3714750"/>
          </a:xfrm>
          <a:prstGeom prst="rect">
            <a:avLst/>
          </a:prstGeom>
        </p:spPr>
      </p:pic>
      <p:sp>
        <p:nvSpPr>
          <p:cNvPr id="33" name="Прямоугольник 32"/>
          <p:cNvSpPr/>
          <p:nvPr/>
        </p:nvSpPr>
        <p:spPr>
          <a:xfrm>
            <a:off x="5003219" y="1541372"/>
            <a:ext cx="6496631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rtl="0"/>
            <a:r>
              <a:rPr lang="en-US" i="1" dirty="0">
                <a:solidFill>
                  <a:srgbClr val="000000"/>
                </a:solidFill>
                <a:latin typeface="Georgia" panose="02040502050405020303" pitchFamily="18" charset="0"/>
              </a:rPr>
              <a:t>Примечание. </a:t>
            </a: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В запрос внимания декодер-кодировщик и ключ получены от кодировщика, а значение - из входных данных декодера.</a:t>
            </a:r>
          </a:p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Пример модели кодировщика-декодера с пакетным преобразователем прогнозирования временных рядов</a:t>
            </a:r>
            <a:endParaRPr lang="en-US" b="0" i="0" dirty="0">
              <a:solidFill>
                <a:srgbClr val="000000"/>
              </a:solidFill>
              <a:effectLst/>
              <a:latin typeface="Georgia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96452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7166" y="692112"/>
            <a:ext cx="11832935" cy="6140153"/>
          </a:xfrm>
        </p:spPr>
        <p:txBody>
          <a:bodyPr>
            <a:noAutofit/>
          </a:bodyPr>
          <a:lstStyle/>
          <a:p>
            <a:pPr lvl="1"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000" dirty="0"/>
              <a:t>Несколько статей предложили ряд модификаций внимания для временных рядов.</a:t>
            </a:r>
            <a:br>
              <a:rPr lang="en-US" sz="2000" dirty="0"/>
            </a:br>
            <a:r>
              <a:rPr lang="en-US" sz="2000" dirty="0"/>
              <a:t>Один из самых популярных - </a:t>
            </a:r>
            <a:r>
              <a:rPr lang="en-US" sz="2000" b="1" dirty="0"/>
              <a:t>Закрытый линейный блок</a:t>
            </a:r>
            <a:endParaRPr lang="ru-RU" altLang="ru-RU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3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1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2441575" y="2141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5" name="Рисунок 2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775" y="1496051"/>
            <a:ext cx="5962650" cy="4000500"/>
          </a:xfrm>
          <a:prstGeom prst="rect">
            <a:avLst/>
          </a:prstGeom>
        </p:spPr>
      </p:pic>
      <p:sp>
        <p:nvSpPr>
          <p:cNvPr id="32" name="Прямоугольник 31"/>
          <p:cNvSpPr/>
          <p:nvPr/>
        </p:nvSpPr>
        <p:spPr>
          <a:xfrm>
            <a:off x="6727825" y="1684337"/>
            <a:ext cx="482375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Другой - блок временного внимания.</a:t>
            </a:r>
            <a:endParaRPr lang="ru-RU" dirty="0"/>
          </a:p>
        </p:txBody>
      </p:sp>
      <p:pic>
        <p:nvPicPr>
          <p:cNvPr id="34" name="Рисунок 3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1625" y="2007364"/>
            <a:ext cx="4976156" cy="2077059"/>
          </a:xfrm>
          <a:prstGeom prst="rect">
            <a:avLst/>
          </a:prstGeom>
        </p:spPr>
      </p:pic>
      <p:sp>
        <p:nvSpPr>
          <p:cNvPr id="29" name="Прямоугольник 28"/>
          <p:cNvSpPr/>
          <p:nvPr/>
        </p:nvSpPr>
        <p:spPr>
          <a:xfrm>
            <a:off x="7189143" y="4083888"/>
            <a:ext cx="3320140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Блок сжатия и возбуждения </a:t>
            </a:r>
            <a:b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</a:b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в качестве альтернативное внимание</a:t>
            </a:r>
            <a:endParaRPr lang="ru-RU" dirty="0"/>
          </a:p>
        </p:txBody>
      </p:sp>
      <p:sp>
        <p:nvSpPr>
          <p:cNvPr id="30" name="AutoShape 2" descr="image.png"/>
          <p:cNvSpPr>
            <a:spLocks noChangeAspect="1" noChangeArrowheads="1"/>
          </p:cNvSpPr>
          <p:nvPr/>
        </p:nvSpPr>
        <p:spPr bwMode="auto">
          <a:xfrm>
            <a:off x="2593975" y="2293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33" name="Рисунок 3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7122" y="4730219"/>
            <a:ext cx="4944459" cy="19486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02449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2050" name="Picture 2" descr="https://substackcdn.com/image/fetch/$s_!9GjC!,w_1456,c_limit,f_auto,q_auto:good,fl_progressive:steep/https%3A%2F%2Fsubstack-post-media.s3.amazonaws.com%2Fpublic%2Fimages%2F213de2f6-4c8b-4bf3-b686-2a23795081dc_917x537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51175" y="1027906"/>
            <a:ext cx="8734425" cy="51149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Прямоугольник 3"/>
          <p:cNvSpPr/>
          <p:nvPr/>
        </p:nvSpPr>
        <p:spPr>
          <a:xfrm>
            <a:off x="2800350" y="6311900"/>
            <a:ext cx="939165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/>
              <a:t>https://aihorizonforecast.substack.com/p/will-transformers-revolutionize-time</a:t>
            </a:r>
          </a:p>
        </p:txBody>
      </p:sp>
    </p:spTree>
    <p:extLst>
      <p:ext uri="{BB962C8B-B14F-4D97-AF65-F5344CB8AC3E}">
        <p14:creationId xmlns:p14="http://schemas.microsoft.com/office/powerpoint/2010/main" val="6254915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02223" y="365125"/>
            <a:ext cx="11151577" cy="725121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72562" y="1222131"/>
            <a:ext cx="11081238" cy="4954832"/>
          </a:xfrm>
        </p:spPr>
        <p:txBody>
          <a:bodyPr/>
          <a:lstStyle/>
          <a:p>
            <a:endParaRPr lang="ru-RU" dirty="0"/>
          </a:p>
        </p:txBody>
      </p:sp>
      <p:pic>
        <p:nvPicPr>
          <p:cNvPr id="1026" name="Picture 2" descr="Mathematics 13 00814 g001"/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00200" y="1051103"/>
            <a:ext cx="10039350" cy="51258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Прямоугольник 3"/>
          <p:cNvSpPr/>
          <p:nvPr/>
        </p:nvSpPr>
        <p:spPr>
          <a:xfrm>
            <a:off x="6401604" y="6308848"/>
            <a:ext cx="445609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/>
              <a:t>https://www.mdpi.com/2227-7390/13/5/814</a:t>
            </a:r>
          </a:p>
        </p:txBody>
      </p:sp>
    </p:spTree>
    <p:extLst>
      <p:ext uri="{BB962C8B-B14F-4D97-AF65-F5344CB8AC3E}">
        <p14:creationId xmlns:p14="http://schemas.microsoft.com/office/powerpoint/2010/main" val="20412031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56374" y="365125"/>
            <a:ext cx="11097426" cy="566367"/>
          </a:xfrm>
        </p:spPr>
        <p:txBody>
          <a:bodyPr>
            <a:noAutofit/>
          </a:bodyPr>
          <a:lstStyle/>
          <a:p>
            <a:pPr algn="l" rtl="0">
              <a:lnSpc>
                <a:spcPct val="100000"/>
              </a:lnSpc>
              <a:spcBef>
                <a:spcPts val="0"/>
              </a:spcBef>
            </a:pPr>
            <a:r>
              <a:rPr lang="ru-RU" sz="3200" b="1" dirty="0"/>
              <a:t>Методы машинного обучения на основе моделей</a:t>
            </a:r>
            <a:endParaRPr lang="en-US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56374" y="846034"/>
            <a:ext cx="11528276" cy="5503491"/>
          </a:xfrm>
        </p:spPr>
        <p:txBody>
          <a:bodyPr>
            <a:no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000" b="1" dirty="0"/>
              <a:t>непараметрические,</a:t>
            </a:r>
            <a:r>
              <a:rPr lang="ru-RU" sz="2000" dirty="0"/>
              <a:t>  такие как скользящее среднее, </a:t>
            </a:r>
            <a:r>
              <a:rPr lang="ru-RU" sz="2000" dirty="0" err="1"/>
              <a:t>Холта</a:t>
            </a:r>
            <a:r>
              <a:rPr lang="ru-RU" sz="2000" dirty="0"/>
              <a:t>-Винтера, простая регрессия: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В основе аналитической модели поведения ряда,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легко обучаться и </a:t>
            </a:r>
            <a:r>
              <a:rPr lang="ru-RU" sz="2000" dirty="0" err="1"/>
              <a:t>дообучаться</a:t>
            </a:r>
            <a:r>
              <a:rPr lang="ru-RU" sz="2000" dirty="0"/>
              <a:t>,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низкая вероятность переобучения,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обеспечивают наилучшую точность для сравнительно простых данных </a:t>
            </a:r>
          </a:p>
          <a:p>
            <a:pPr lvl="2">
              <a:lnSpc>
                <a:spcPct val="100000"/>
              </a:lnSpc>
              <a:spcBef>
                <a:spcPts val="600"/>
              </a:spcBef>
            </a:pPr>
            <a:r>
              <a:rPr lang="ru-RU" dirty="0"/>
              <a:t>стационарных с гауссовыми шумами или некоторыми простыми шумами, такими как симметрично распределенные.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Легко интерпретируется.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Может иметь аналитическое решение (например, для линейной регрессии).</a:t>
            </a:r>
          </a:p>
          <a:p>
            <a:pPr marL="228600" lvl="1">
              <a:lnSpc>
                <a:spcPct val="100000"/>
              </a:lnSpc>
              <a:spcBef>
                <a:spcPts val="600"/>
              </a:spcBef>
            </a:pPr>
            <a:r>
              <a:rPr lang="ru-RU" sz="2000" b="1" dirty="0"/>
              <a:t>НО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точность сильно зависит от количества данных для обучения.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производительность резко снижается, если поведение данных отличается от предполагаемого (формируют предполагаемую статистическую гипотезу).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Хорошо работает только в одномерном случае.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Для работы нам нужно знать тип распределения или делать серьезные предположения о нем.</a:t>
            </a:r>
          </a:p>
        </p:txBody>
      </p:sp>
    </p:spTree>
    <p:extLst>
      <p:ext uri="{BB962C8B-B14F-4D97-AF65-F5344CB8AC3E}">
        <p14:creationId xmlns:p14="http://schemas.microsoft.com/office/powerpoint/2010/main" val="34231430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56374" y="365125"/>
            <a:ext cx="11097426" cy="566367"/>
          </a:xfrm>
        </p:spPr>
        <p:txBody>
          <a:bodyPr>
            <a:noAutofit/>
          </a:bodyPr>
          <a:lstStyle/>
          <a:p>
            <a:r>
              <a:rPr lang="ru-RU" sz="3200" b="1" dirty="0"/>
              <a:t>Методы машинного обучения на основе моделей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56373" y="846034"/>
            <a:ext cx="11835925" cy="5503491"/>
          </a:xfrm>
        </p:spPr>
        <p:txBody>
          <a:bodyPr>
            <a:noAutofit/>
          </a:bodyPr>
          <a:lstStyle/>
          <a:p>
            <a:pPr lvl="0"/>
            <a:r>
              <a:rPr lang="ru-RU" sz="2000" b="1" dirty="0"/>
              <a:t>Параметрические методы,</a:t>
            </a:r>
            <a:r>
              <a:rPr lang="ru-RU" sz="2000" dirty="0"/>
              <a:t>  такие как ARIMA, GARCH, </a:t>
            </a:r>
            <a:r>
              <a:rPr lang="ru-RU" sz="2000" dirty="0" err="1"/>
              <a:t>Prophet</a:t>
            </a:r>
            <a:r>
              <a:rPr lang="ru-RU" sz="2000" dirty="0"/>
              <a:t> и т. д.</a:t>
            </a:r>
          </a:p>
          <a:p>
            <a:pPr lvl="1"/>
            <a:r>
              <a:rPr lang="ru-RU" sz="2000" dirty="0"/>
              <a:t>Строиться на основе аналитико-параметрической модели поведения ряда,</a:t>
            </a:r>
          </a:p>
          <a:p>
            <a:pPr lvl="1"/>
            <a:r>
              <a:rPr lang="ru-RU" sz="2000" dirty="0"/>
              <a:t>прост для понимания и реализации,</a:t>
            </a:r>
          </a:p>
          <a:p>
            <a:pPr lvl="1"/>
            <a:r>
              <a:rPr lang="ru-RU" sz="2000" dirty="0"/>
              <a:t>легко обучаться и </a:t>
            </a:r>
            <a:r>
              <a:rPr lang="ru-RU" sz="2000" dirty="0" err="1"/>
              <a:t>дообучаться</a:t>
            </a:r>
            <a:r>
              <a:rPr lang="ru-RU" sz="2000" dirty="0"/>
              <a:t>,</a:t>
            </a:r>
          </a:p>
          <a:p>
            <a:pPr lvl="1"/>
            <a:r>
              <a:rPr lang="ru-RU" sz="2000" dirty="0"/>
              <a:t>обеспечивают достаточно высокую точность прогноза,</a:t>
            </a:r>
          </a:p>
          <a:p>
            <a:pPr lvl="1"/>
            <a:r>
              <a:rPr lang="ru-RU" sz="2000" dirty="0"/>
              <a:t>лучше работать с одномерными данными,</a:t>
            </a:r>
          </a:p>
          <a:p>
            <a:pPr lvl="1"/>
            <a:r>
              <a:rPr lang="ru-RU" sz="2000" dirty="0"/>
              <a:t>лучше при относительно простых </a:t>
            </a:r>
            <a:r>
              <a:rPr lang="ru-RU" sz="2000" dirty="0" err="1"/>
              <a:t>нестационарностях</a:t>
            </a:r>
            <a:r>
              <a:rPr lang="ru-RU" sz="2000" dirty="0"/>
              <a:t> в </a:t>
            </a:r>
            <a:r>
              <a:rPr lang="ru-RU" sz="2000" dirty="0" err="1"/>
              <a:t>даннных</a:t>
            </a:r>
            <a:r>
              <a:rPr lang="ru-RU" sz="2000" dirty="0"/>
              <a:t>,</a:t>
            </a:r>
          </a:p>
          <a:p>
            <a:pPr lvl="1"/>
            <a:r>
              <a:rPr lang="ru-RU" sz="2000" dirty="0"/>
              <a:t>Легко интерпретируется.</a:t>
            </a:r>
          </a:p>
          <a:p>
            <a:pPr lvl="1"/>
            <a:r>
              <a:rPr lang="ru-RU" sz="2000" dirty="0"/>
              <a:t>Более устойчивый к выбросам в случае хорошо выбранной модели </a:t>
            </a:r>
          </a:p>
          <a:p>
            <a:pPr lvl="1"/>
            <a:r>
              <a:rPr lang="ru-RU" sz="2000" dirty="0"/>
              <a:t>Лучше для небольших наборов данных, чем другие подходы.</a:t>
            </a:r>
          </a:p>
          <a:p>
            <a:pPr marL="342900" lvl="1" indent="-342900"/>
            <a:r>
              <a:rPr lang="ru-RU" sz="2000" b="1" dirty="0"/>
              <a:t>НО</a:t>
            </a:r>
          </a:p>
          <a:p>
            <a:pPr lvl="1"/>
            <a:r>
              <a:rPr lang="ru-RU" sz="2000" dirty="0"/>
              <a:t>точность сильно зависит от количества данных для обучения,</a:t>
            </a:r>
          </a:p>
          <a:p>
            <a:pPr lvl="1"/>
            <a:r>
              <a:rPr lang="ru-RU" sz="2000" dirty="0"/>
              <a:t>точность сильно зависит от выбора значений </a:t>
            </a:r>
            <a:r>
              <a:rPr lang="ru-RU" sz="2000" dirty="0" err="1"/>
              <a:t>гиперпараметров</a:t>
            </a:r>
            <a:r>
              <a:rPr lang="ru-RU" sz="2000" dirty="0"/>
              <a:t> (здесь </a:t>
            </a:r>
            <a:r>
              <a:rPr lang="ru-RU" sz="2000" dirty="0" err="1"/>
              <a:t>гиперпараметры</a:t>
            </a:r>
            <a:r>
              <a:rPr lang="ru-RU" sz="2000" dirty="0"/>
              <a:t> являются аналогом статистической гипотезы в непараметрическом подходе),</a:t>
            </a:r>
          </a:p>
          <a:p>
            <a:pPr lvl="1"/>
            <a:r>
              <a:rPr lang="ru-RU" sz="2000" dirty="0"/>
              <a:t>не может справиться со сложной нелинейной зависимостью между данными,</a:t>
            </a:r>
          </a:p>
          <a:p>
            <a:pPr lvl="1"/>
            <a:r>
              <a:rPr lang="ru-RU" sz="2000" dirty="0"/>
              <a:t>низкая производительность для огромных многомерных нестационарных рядов </a:t>
            </a:r>
            <a:br>
              <a:rPr lang="ru-RU" sz="2000" dirty="0"/>
            </a:br>
            <a:r>
              <a:rPr lang="ru-RU" sz="2000" dirty="0"/>
              <a:t>(особенно в случае данных с различным поведением и т. д.).</a:t>
            </a:r>
          </a:p>
        </p:txBody>
      </p:sp>
    </p:spTree>
    <p:extLst>
      <p:ext uri="{BB962C8B-B14F-4D97-AF65-F5344CB8AC3E}">
        <p14:creationId xmlns:p14="http://schemas.microsoft.com/office/powerpoint/2010/main" val="27618463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56374" y="365125"/>
            <a:ext cx="11097426" cy="566367"/>
          </a:xfrm>
        </p:spPr>
        <p:txBody>
          <a:bodyPr>
            <a:noAutofit/>
          </a:bodyPr>
          <a:lstStyle/>
          <a:p>
            <a:r>
              <a:rPr lang="ru-RU" sz="3200" b="1" dirty="0"/>
              <a:t>Методы машинного обучения на основе данных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56373" y="846034"/>
            <a:ext cx="11835925" cy="5862415"/>
          </a:xfrm>
        </p:spPr>
        <p:txBody>
          <a:bodyPr>
            <a:noAutofit/>
          </a:bodyPr>
          <a:lstStyle/>
          <a:p>
            <a:pPr lvl="0">
              <a:lnSpc>
                <a:spcPct val="100000"/>
              </a:lnSpc>
            </a:pPr>
            <a:r>
              <a:rPr lang="ru-RU" sz="2200" b="1" dirty="0"/>
              <a:t>Классические модели, управляемые данными (или подход машинного обучения)</a:t>
            </a:r>
            <a:r>
              <a:rPr lang="ru-RU" sz="2200" dirty="0"/>
              <a:t> .</a:t>
            </a:r>
          </a:p>
          <a:p>
            <a:pPr lvl="0">
              <a:lnSpc>
                <a:spcPct val="100000"/>
              </a:lnSpc>
            </a:pPr>
            <a:r>
              <a:rPr lang="ru-RU" sz="2200" dirty="0"/>
              <a:t>Такие методы, как опорные вектора (SV</a:t>
            </a:r>
            <a:r>
              <a:rPr lang="en-US" sz="2200" dirty="0"/>
              <a:t>M</a:t>
            </a:r>
            <a:r>
              <a:rPr lang="ru-RU" sz="2200" dirty="0"/>
              <a:t>), случайный лес, </a:t>
            </a:r>
            <a:r>
              <a:rPr lang="ru-RU" sz="2200" dirty="0" err="1"/>
              <a:t>XGBoost</a:t>
            </a:r>
            <a:r>
              <a:rPr lang="en-US" sz="2200" dirty="0"/>
              <a:t>, TSF, ROCKET, </a:t>
            </a:r>
            <a:r>
              <a:rPr lang="ru-RU" sz="2200" dirty="0"/>
              <a:t>и </a:t>
            </a:r>
            <a:r>
              <a:rPr lang="ru-RU" sz="2200" dirty="0" err="1"/>
              <a:t>тд</a:t>
            </a:r>
            <a:r>
              <a:rPr lang="ru-RU" sz="2200" dirty="0"/>
              <a:t>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Позволяют работать с сильно нелинейными данными.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Нет необходимости в статистической гипотезе для модели.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Хорошо справляется с нестационарными отношениями между данными.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Легко тренировать.</a:t>
            </a:r>
            <a:endParaRPr lang="en-US" sz="2200" dirty="0"/>
          </a:p>
          <a:p>
            <a:pPr lvl="1">
              <a:lnSpc>
                <a:spcPct val="100000"/>
              </a:lnSpc>
            </a:pPr>
            <a:r>
              <a:rPr lang="ru-RU" sz="2200" dirty="0"/>
              <a:t>Иногда но всегда и не полностью результаты интерпретируются.</a:t>
            </a:r>
            <a:endParaRPr lang="en-US" sz="2200" dirty="0"/>
          </a:p>
          <a:p>
            <a:pPr marL="358775" lvl="1">
              <a:lnSpc>
                <a:spcPct val="100000"/>
              </a:lnSpc>
            </a:pPr>
            <a:r>
              <a:rPr lang="ru-RU" sz="2200" b="1" dirty="0"/>
              <a:t>Но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Точность сильно зависит от выбора значений </a:t>
            </a:r>
            <a:r>
              <a:rPr lang="ru-RU" sz="2200" dirty="0" err="1"/>
              <a:t>гиперпараметров</a:t>
            </a:r>
            <a:r>
              <a:rPr lang="ru-RU" sz="2200" dirty="0"/>
              <a:t>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Неявная зависимость выбранной модели и данных от результатов прогноза.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Точность сильно зависит от сходства между обученными данными и данными вывода.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Трудно достичь сопоставимой точности с подходом на основе модели для относительно простых данных.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Часто нужно использовать ансамбль методов для достижения приемлемой точности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Вычислительная сложность работы значительно выше, чем для модельных подходов</a:t>
            </a:r>
          </a:p>
        </p:txBody>
      </p:sp>
    </p:spTree>
    <p:extLst>
      <p:ext uri="{BB962C8B-B14F-4D97-AF65-F5344CB8AC3E}">
        <p14:creationId xmlns:p14="http://schemas.microsoft.com/office/powerpoint/2010/main" val="8078693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56374" y="365125"/>
            <a:ext cx="11097426" cy="566367"/>
          </a:xfrm>
        </p:spPr>
        <p:txBody>
          <a:bodyPr>
            <a:noAutofit/>
          </a:bodyPr>
          <a:lstStyle/>
          <a:p>
            <a:r>
              <a:rPr lang="ru-RU" sz="3200" b="1" dirty="0"/>
              <a:t>Методы машинного обучения на основе данных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56373" y="846034"/>
            <a:ext cx="11835925" cy="5245471"/>
          </a:xfrm>
        </p:spPr>
        <p:txBody>
          <a:bodyPr>
            <a:noAutofit/>
          </a:bodyPr>
          <a:lstStyle/>
          <a:p>
            <a:pPr lvl="0"/>
            <a:r>
              <a:rPr lang="ru-RU" sz="2000" b="1" dirty="0"/>
              <a:t>Глубокая нейронная сеть</a:t>
            </a:r>
            <a:r>
              <a:rPr lang="ru-RU" sz="2000" dirty="0"/>
              <a:t> .</a:t>
            </a:r>
          </a:p>
          <a:p>
            <a:pPr marL="685800" lvl="2"/>
            <a:r>
              <a:rPr lang="ru-RU" sz="2200" dirty="0"/>
              <a:t>Нет необходимости в статистической гипотезе или конкретной форме модели.</a:t>
            </a:r>
          </a:p>
          <a:p>
            <a:pPr marL="685800" lvl="2"/>
            <a:r>
              <a:rPr lang="ru-RU" sz="2200" dirty="0"/>
              <a:t>Может аппроксимировать любую функцию с пропущенными данными, аномалиями и другими нерегулярными шаблонами.</a:t>
            </a:r>
          </a:p>
          <a:p>
            <a:pPr marL="685800" lvl="2"/>
            <a:r>
              <a:rPr lang="ru-RU" sz="2200" dirty="0"/>
              <a:t>Позволяют работать с огромными многомерными рядами данных со сложной взаимосвязью поведения между данными.</a:t>
            </a:r>
          </a:p>
          <a:p>
            <a:pPr marL="685800" lvl="2"/>
            <a:r>
              <a:rPr lang="ru-RU" sz="2200" dirty="0"/>
              <a:t>Автоматически извлекают и обрабатывают сложные признаки и отношения между ними.</a:t>
            </a:r>
          </a:p>
          <a:p>
            <a:pPr marL="685800" lvl="2"/>
            <a:r>
              <a:rPr lang="ru-RU" sz="2200" dirty="0"/>
              <a:t>Для сложных и многомерных данных в большом количестве модели, управляемые данными, могут обеспечить лучшую производительность.</a:t>
            </a:r>
          </a:p>
          <a:p>
            <a:pPr marL="228600" lvl="1"/>
            <a:r>
              <a:rPr lang="ru-RU" sz="2000" b="1" dirty="0"/>
              <a:t>НО</a:t>
            </a:r>
          </a:p>
          <a:p>
            <a:pPr marL="685800" lvl="2"/>
            <a:r>
              <a:rPr lang="ru-RU" sz="2200" dirty="0"/>
              <a:t>Требуется тщательная настройка </a:t>
            </a:r>
            <a:r>
              <a:rPr lang="ru-RU" sz="2200" dirty="0" err="1"/>
              <a:t>гиперпараметров</a:t>
            </a:r>
            <a:r>
              <a:rPr lang="ru-RU" sz="2200" dirty="0"/>
              <a:t>.</a:t>
            </a:r>
          </a:p>
          <a:p>
            <a:pPr marL="685800" lvl="2"/>
            <a:r>
              <a:rPr lang="ru-RU" sz="2200" dirty="0"/>
              <a:t>Часто требуется ансамбль сетей для получения высокой точности.</a:t>
            </a:r>
          </a:p>
          <a:p>
            <a:pPr marL="685800" lvl="2"/>
            <a:r>
              <a:rPr lang="ru-RU" sz="2200" dirty="0"/>
              <a:t>Тяжело перетренировать.</a:t>
            </a:r>
          </a:p>
          <a:p>
            <a:pPr marL="685800" lvl="2"/>
            <a:r>
              <a:rPr lang="ru-RU" sz="2200" dirty="0"/>
              <a:t>Трудно достичь сопоставимой точности с подходом на основе модели для относительно простых рядов.</a:t>
            </a:r>
          </a:p>
          <a:p>
            <a:pPr lvl="1"/>
            <a:r>
              <a:rPr lang="ru-RU" sz="2200" dirty="0"/>
              <a:t>Выбор конкретных методов зависит от поставленной задачи.</a:t>
            </a:r>
          </a:p>
          <a:p>
            <a:pPr lvl="1"/>
            <a:r>
              <a:rPr lang="ru-RU" sz="2200" dirty="0"/>
              <a:t>Для простых и одномерных данных работает хуже остальных методов.</a:t>
            </a:r>
          </a:p>
        </p:txBody>
      </p:sp>
    </p:spTree>
    <p:extLst>
      <p:ext uri="{BB962C8B-B14F-4D97-AF65-F5344CB8AC3E}">
        <p14:creationId xmlns:p14="http://schemas.microsoft.com/office/powerpoint/2010/main" val="42845650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rmAutofit fontScale="90000"/>
          </a:bodyPr>
          <a:lstStyle/>
          <a:p>
            <a:pPr algn="l" rtl="0"/>
            <a:r>
              <a:rPr lang="en-US" b="1" dirty="0"/>
              <a:t>Подходы к временным рядам DL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717846"/>
            <a:ext cx="11374451" cy="6140153"/>
          </a:xfrm>
        </p:spPr>
        <p:txBody>
          <a:bodyPr>
            <a:noAutofit/>
          </a:bodyPr>
          <a:lstStyle/>
          <a:p>
            <a:pPr lvl="0">
              <a:spcBef>
                <a:spcPts val="0"/>
              </a:spcBef>
            </a:pPr>
            <a:r>
              <a:rPr lang="ru-RU" sz="2000" b="1" dirty="0"/>
              <a:t>Один к одному (а)</a:t>
            </a:r>
            <a:r>
              <a:rPr lang="ru-RU" sz="2000" dirty="0"/>
              <a:t> :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один вход и один выход. Типичным примером является случай, когда у вас есть полный сегмент (или полный временной ряд) в качестве входных данных, и вы хотите спрогнозировать единственную метку для сегмента.</a:t>
            </a:r>
          </a:p>
          <a:p>
            <a:pPr lvl="0">
              <a:spcBef>
                <a:spcPts val="0"/>
              </a:spcBef>
            </a:pPr>
            <a:r>
              <a:rPr lang="ru-RU" sz="2000" b="1" dirty="0"/>
              <a:t>Один ко многим (б)</a:t>
            </a:r>
            <a:r>
              <a:rPr lang="ru-RU" sz="2000" dirty="0"/>
              <a:t> :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полный сегмент (или полный временной ряд) в качестве входных данных и последовательность выходных данных. Типичным примером является входной сегмент и соответствующие ему показатели, параметры или его разложение.</a:t>
            </a:r>
          </a:p>
          <a:p>
            <a:pPr lvl="0">
              <a:spcBef>
                <a:spcPts val="0"/>
              </a:spcBef>
            </a:pPr>
            <a:r>
              <a:rPr lang="ru-RU" sz="2000" b="1" dirty="0"/>
              <a:t>Многие-к-одному (c)</a:t>
            </a:r>
            <a:r>
              <a:rPr lang="ru-RU" sz="2000" dirty="0"/>
              <a:t> :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последовательность данных в качестве входных данных, и мы должны предсказать единственный выход. Типичный пример, когда у нас есть входной набор сегментов (или полученный с помощью скользящего окна), и мы хотим предсказать единственный выходной тег (прогноз или метка).</a:t>
            </a:r>
          </a:p>
          <a:p>
            <a:pPr lvl="0">
              <a:spcBef>
                <a:spcPts val="0"/>
              </a:spcBef>
            </a:pPr>
            <a:r>
              <a:rPr lang="ru-RU" sz="2000" b="1" dirty="0"/>
              <a:t>Последовательные многие-ко-многим (d)</a:t>
            </a:r>
            <a:r>
              <a:rPr lang="ru-RU" sz="2000" dirty="0"/>
              <a:t> :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вход последовательности и выход последовательности. Например, цены акций за 7 дней в качестве входных данных и цены акций следующих 7 дней в качестве выходных данных.</a:t>
            </a:r>
          </a:p>
          <a:p>
            <a:pPr lvl="0">
              <a:spcBef>
                <a:spcPts val="0"/>
              </a:spcBef>
            </a:pPr>
            <a:r>
              <a:rPr lang="ru-RU" sz="2000" b="1" dirty="0"/>
              <a:t>Синхронные многие-ко-многим (e)</a:t>
            </a:r>
            <a:r>
              <a:rPr lang="ru-RU" sz="2000" dirty="0"/>
              <a:t> :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вход последовательности и выход последовательности. Например, обработка видео как проблема временных рядов или любая онлайн-проблема.</a:t>
            </a:r>
          </a:p>
        </p:txBody>
      </p:sp>
    </p:spTree>
    <p:extLst>
      <p:ext uri="{BB962C8B-B14F-4D97-AF65-F5344CB8AC3E}">
        <p14:creationId xmlns:p14="http://schemas.microsoft.com/office/powerpoint/2010/main" val="15523233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rmAutofit fontScale="90000"/>
          </a:bodyPr>
          <a:lstStyle/>
          <a:p>
            <a:pPr algn="l" rtl="0"/>
            <a:r>
              <a:rPr lang="en-US" b="1" dirty="0"/>
              <a:t>Подходы к временным рядам DL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717846"/>
            <a:ext cx="11374451" cy="6140153"/>
          </a:xfrm>
        </p:spPr>
        <p:txBody>
          <a:bodyPr>
            <a:noAutofit/>
          </a:bodyPr>
          <a:lstStyle/>
          <a:p>
            <a:pPr lvl="0"/>
            <a:r>
              <a:rPr lang="ru-RU" sz="2000" u="sng" dirty="0"/>
              <a:t>Самый универсальный подход глубокого обучения к анализу временных рядов - это многие ко многим </a:t>
            </a:r>
            <a:r>
              <a:rPr lang="ru-RU" sz="2000" dirty="0"/>
              <a:t> (или  </a:t>
            </a:r>
            <a:r>
              <a:rPr lang="ru-RU" sz="2000" b="1" dirty="0"/>
              <a:t>Sequence2Sequence, Seq2Seq</a:t>
            </a:r>
            <a:r>
              <a:rPr lang="ru-RU" sz="2000" dirty="0"/>
              <a:t> ).</a:t>
            </a:r>
          </a:p>
          <a:p>
            <a:pPr lvl="0"/>
            <a:r>
              <a:rPr lang="ru-RU" sz="2000" b="1" dirty="0"/>
              <a:t>Seq2Seq</a:t>
            </a:r>
            <a:r>
              <a:rPr lang="ru-RU" sz="2000" dirty="0"/>
              <a:t>  подход  </a:t>
            </a:r>
            <a:r>
              <a:rPr lang="ru-RU" sz="2000" u="sng" dirty="0"/>
              <a:t>можно интерпретировать как модель кодера-декодера.</a:t>
            </a:r>
            <a:endParaRPr lang="ru-RU" sz="2000" dirty="0"/>
          </a:p>
          <a:p>
            <a:pPr lvl="0"/>
            <a:r>
              <a:rPr lang="ru-RU" sz="2000" dirty="0"/>
              <a:t>В этом случае кодер используется для суммирования прошлой информации (т. Е. Целей, наблюдаемых входных данных и априори известных входных данных), а декодер - для создания новых прогнозов, классификации, оценки и прочего.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2"/>
          <a:srcRect b="51061"/>
          <a:stretch/>
        </p:blipFill>
        <p:spPr>
          <a:xfrm>
            <a:off x="564348" y="3046981"/>
            <a:ext cx="5584960" cy="3310992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 rotWithShape="1">
          <a:blip r:embed="rId2"/>
          <a:srcRect t="49793"/>
          <a:stretch/>
        </p:blipFill>
        <p:spPr>
          <a:xfrm>
            <a:off x="6520720" y="3047079"/>
            <a:ext cx="5443717" cy="33108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34098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45828"/>
          </a:xfrm>
        </p:spPr>
        <p:txBody>
          <a:bodyPr/>
          <a:lstStyle/>
          <a:p>
            <a:r>
              <a:rPr lang="ru-RU" b="1" dirty="0"/>
              <a:t>Рекуррентные нейронные сети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38385" y="1102409"/>
            <a:ext cx="10815415" cy="4980552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ru-RU" sz="2200" dirty="0"/>
              <a:t>Рекуррентные нейронные сети это тип сетей, основанный на </a:t>
            </a:r>
            <a:r>
              <a:rPr lang="ru-RU" sz="2200" dirty="0" err="1"/>
              <a:t>переиспользовании</a:t>
            </a:r>
            <a:r>
              <a:rPr lang="ru-RU" sz="2200" dirty="0"/>
              <a:t> одних и тех же весовых параметров, но изменяющегося вектора состояний для последовательных участков данных . </a:t>
            </a:r>
          </a:p>
          <a:p>
            <a:pPr lvl="1">
              <a:lnSpc>
                <a:spcPct val="100000"/>
              </a:lnSpc>
            </a:pPr>
            <a:r>
              <a:rPr lang="ru-RU" sz="2000" dirty="0"/>
              <a:t>При этом сеть как бы скользит по данным.</a:t>
            </a:r>
          </a:p>
          <a:p>
            <a:pPr lvl="1">
              <a:lnSpc>
                <a:spcPct val="100000"/>
              </a:lnSpc>
            </a:pPr>
            <a:r>
              <a:rPr lang="ru-RU" sz="2000" dirty="0"/>
              <a:t>Вектор состояний – это модель памяти</a:t>
            </a:r>
          </a:p>
          <a:p>
            <a:pPr>
              <a:lnSpc>
                <a:spcPct val="100000"/>
              </a:lnSpc>
            </a:pPr>
            <a:r>
              <a:rPr lang="ru-RU" sz="2200" dirty="0"/>
              <a:t>Отличие рекуррентной сети от обычно полносвязаной в использовании скрытого состояния, которое передается из одной позиции окна в другую. </a:t>
            </a:r>
          </a:p>
          <a:p>
            <a:endParaRPr lang="ru-RU" sz="2200" dirty="0"/>
          </a:p>
        </p:txBody>
      </p:sp>
      <p:pic>
        <p:nvPicPr>
          <p:cNvPr id="1026" name="Picture 2" descr="https://res.cloudinary.com/dyd911kmh/image/upload/v1647442110/image2_ysmali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8017" y="3841744"/>
            <a:ext cx="6582785" cy="19473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Time series forecasting | TensorFlow Core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34841" y="3804875"/>
            <a:ext cx="4464704" cy="27975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391261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39832"/>
          </a:xfrm>
        </p:spPr>
        <p:txBody>
          <a:bodyPr/>
          <a:lstStyle/>
          <a:p>
            <a:r>
              <a:rPr lang="ru-RU" b="1" dirty="0"/>
              <a:t>Рекуррентные нейронные сети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607464" y="1204958"/>
            <a:ext cx="10515600" cy="4351338"/>
          </a:xfrm>
        </p:spPr>
        <p:txBody>
          <a:bodyPr>
            <a:normAutofit/>
          </a:bodyPr>
          <a:lstStyle/>
          <a:p>
            <a:r>
              <a:rPr lang="ru-RU" sz="2100" dirty="0"/>
              <a:t>Другая интерпретация сети – мы движемся окном по временному ряду. </a:t>
            </a:r>
          </a:p>
          <a:p>
            <a:r>
              <a:rPr lang="ru-RU" sz="2100" dirty="0"/>
              <a:t>Но корме результата для каждого положения окна мы сохраняем внутреннее состояние </a:t>
            </a:r>
          </a:p>
          <a:p>
            <a:pPr lvl="1"/>
            <a:r>
              <a:rPr lang="ru-RU" sz="2100" dirty="0"/>
              <a:t>состояние используется в следующем положении окна</a:t>
            </a:r>
          </a:p>
        </p:txBody>
      </p:sp>
      <p:pic>
        <p:nvPicPr>
          <p:cNvPr id="3074" name="Picture 2" descr="https://neerc.ifmo.ru/wiki/images/thumb/1/18/RNN_BPTT.jpg/450px-RNN_BPTT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4569" y="2508410"/>
            <a:ext cx="5700045" cy="28246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https://neerc.ifmo.ru/wiki/images/thumb/a/a6/RNN_BP.jpg/450px-RNN_BP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10" y="2361527"/>
            <a:ext cx="3516669" cy="27898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46114" y="4221016"/>
            <a:ext cx="3814508" cy="2563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764286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Сеть </a:t>
            </a:r>
            <a:r>
              <a:rPr lang="ru-RU" dirty="0" err="1"/>
              <a:t>Джордана</a:t>
            </a:r>
            <a:r>
              <a:rPr lang="ru-RU" dirty="0"/>
              <a:t> или </a:t>
            </a:r>
            <a:r>
              <a:rPr lang="en-US" dirty="0"/>
              <a:t>Simple RNN/Vanilla RNN</a:t>
            </a:r>
            <a:r>
              <a:rPr lang="ru-RU" dirty="0"/>
              <a:t>:</a:t>
            </a:r>
          </a:p>
        </p:txBody>
      </p:sp>
      <p:pic>
        <p:nvPicPr>
          <p:cNvPr id="2050" name="Picture 2" descr="https://stanford.edu/~shervine/teaching/cs-230/illustrations/description-block-rnn-ltr.png?74e25518f882f8758439bcb3637715e5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34463" y="1957497"/>
            <a:ext cx="4838971" cy="24194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357615"/>
            <a:ext cx="4162425" cy="809625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726" y="5259124"/>
            <a:ext cx="4029075" cy="819150"/>
          </a:xfrm>
          <a:prstGeom prst="rect">
            <a:avLst/>
          </a:prstGeom>
        </p:spPr>
      </p:pic>
      <p:pic>
        <p:nvPicPr>
          <p:cNvPr id="2061" name="Picture 13" descr="Illustration of the vanilla recurrent neural network. | Download Scientific  Diagram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5200" y="4508855"/>
            <a:ext cx="4298113" cy="18386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11225"/>
          </a:xfrm>
        </p:spPr>
        <p:txBody>
          <a:bodyPr/>
          <a:lstStyle/>
          <a:p>
            <a:r>
              <a:rPr lang="ru-RU" b="1" dirty="0"/>
              <a:t>Простая рекуррентная нейронные сети</a:t>
            </a:r>
          </a:p>
        </p:txBody>
      </p:sp>
      <p:sp>
        <p:nvSpPr>
          <p:cNvPr id="15" name="Объект 2"/>
          <p:cNvSpPr txBox="1">
            <a:spLocks/>
          </p:cNvSpPr>
          <p:nvPr/>
        </p:nvSpPr>
        <p:spPr>
          <a:xfrm>
            <a:off x="453149" y="4736659"/>
            <a:ext cx="10515600" cy="6262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Может быть и формулировка </a:t>
            </a:r>
            <a:r>
              <a:rPr lang="ru-RU" dirty="0" err="1"/>
              <a:t>Элмана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430982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b="1" dirty="0"/>
              <a:t>Рекуррентные нейронные сети</a:t>
            </a:r>
            <a:endParaRPr lang="en-US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717846"/>
            <a:ext cx="11459910" cy="6140153"/>
          </a:xfrm>
        </p:spPr>
        <p:txBody>
          <a:bodyPr>
            <a:no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Одна из  </a:t>
            </a:r>
            <a:r>
              <a:rPr lang="ru-RU" sz="2200" b="1" dirty="0"/>
              <a:t>основных проблем простых RNN (</a:t>
            </a:r>
            <a:r>
              <a:rPr lang="ru-RU" sz="2200" b="1" dirty="0" err="1"/>
              <a:t>vanilla</a:t>
            </a:r>
            <a:r>
              <a:rPr lang="ru-RU" sz="2200" b="1" dirty="0"/>
              <a:t> RNN)</a:t>
            </a:r>
            <a:r>
              <a:rPr lang="ru-RU" sz="2200" dirty="0"/>
              <a:t>  - это </a:t>
            </a:r>
            <a:r>
              <a:rPr lang="ru-RU" sz="2200" b="1" dirty="0"/>
              <a:t>взрыв веса (или градиента) и вымывание градиента</a:t>
            </a:r>
            <a:r>
              <a:rPr lang="ru-RU" sz="2200" dirty="0"/>
              <a:t>,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когда обрабатывается длинная последовательность.</a:t>
            </a:r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Таким образом, только некоторая часть серии может быть обработана как вход RNN.</a:t>
            </a:r>
            <a:endParaRPr lang="en-US" sz="2200" dirty="0"/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200" b="1" dirty="0"/>
              <a:t>Решением этой простой проблемы RNN</a:t>
            </a:r>
            <a:r>
              <a:rPr lang="ru-RU" sz="2200" dirty="0"/>
              <a:t>  являются: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усечение обучение (усеченное обратное распространение).</a:t>
            </a:r>
          </a:p>
          <a:p>
            <a:pPr lvl="2">
              <a:lnSpc>
                <a:spcPct val="100000"/>
              </a:lnSpc>
              <a:spcBef>
                <a:spcPts val="600"/>
              </a:spcBef>
            </a:pPr>
            <a:r>
              <a:rPr lang="ru-RU" dirty="0"/>
              <a:t>двунаправленное обучение (если возможно).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использование продвинутых </a:t>
            </a:r>
            <a:r>
              <a:rPr lang="en-US" sz="2200" dirty="0"/>
              <a:t> </a:t>
            </a:r>
            <a:r>
              <a:rPr lang="ru-RU" sz="2200" dirty="0"/>
              <a:t>архитектур рекуррентных сетей (LSTM, GRU и др.).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регуляризация обучения (</a:t>
            </a:r>
            <a:r>
              <a:rPr lang="ru-RU" sz="2200" dirty="0" err="1"/>
              <a:t>батч</a:t>
            </a:r>
            <a:r>
              <a:rPr lang="ru-RU" sz="2200" dirty="0"/>
              <a:t>-норма, L1, L2,ограничение  градиентные (или его нормы), функции активации с </a:t>
            </a:r>
            <a:r>
              <a:rPr lang="ru-RU" sz="2200" dirty="0" err="1"/>
              <a:t>самонормализацией</a:t>
            </a:r>
            <a:r>
              <a:rPr lang="ru-RU" sz="2200" dirty="0"/>
              <a:t> и т. д.).</a:t>
            </a:r>
          </a:p>
          <a:p>
            <a:pPr lvl="0">
              <a:lnSpc>
                <a:spcPct val="120000"/>
              </a:lnSpc>
              <a:spcBef>
                <a:spcPts val="600"/>
              </a:spcBef>
            </a:pPr>
            <a:r>
              <a:rPr lang="ru-RU" altLang="ru-RU" sz="2200" b="1" dirty="0">
                <a:latin typeface="-apple-system"/>
              </a:rPr>
              <a:t>Также отметим, что следствием высокой вероятности переобучения является не возможность сделать рекуррентные сети слишком глубокими. </a:t>
            </a:r>
          </a:p>
          <a:p>
            <a:pPr lvl="1">
              <a:lnSpc>
                <a:spcPct val="120000"/>
              </a:lnSpc>
              <a:spcBef>
                <a:spcPts val="600"/>
              </a:spcBef>
            </a:pPr>
            <a:r>
              <a:rPr lang="ru-RU" altLang="ru-RU" sz="2200" dirty="0">
                <a:latin typeface="-apple-system"/>
              </a:rPr>
              <a:t>Архитектуры, содержащие более 4 двунаправленных слоев это редкость.</a:t>
            </a:r>
            <a:r>
              <a:rPr lang="ru-RU" altLang="ru-RU" sz="2200" dirty="0"/>
              <a:t> </a:t>
            </a:r>
            <a:endParaRPr lang="ru-RU" altLang="ru-RU" sz="2200" dirty="0">
              <a:latin typeface="Arial" panose="020B0604020202020204" pitchFamily="34" charset="0"/>
            </a:endParaRPr>
          </a:p>
          <a:p>
            <a:pPr lvl="0">
              <a:lnSpc>
                <a:spcPct val="100000"/>
              </a:lnSpc>
              <a:spcBef>
                <a:spcPts val="600"/>
              </a:spcBef>
            </a:pPr>
            <a:endParaRPr lang="ru-RU" sz="22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812014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b="1" dirty="0"/>
              <a:t>Рекуррентные нейронные сети</a:t>
            </a:r>
            <a:endParaRPr lang="en-US" b="1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Прямоугольник 9"/>
          <p:cNvSpPr/>
          <p:nvPr/>
        </p:nvSpPr>
        <p:spPr>
          <a:xfrm>
            <a:off x="805019" y="879998"/>
            <a:ext cx="56877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 algn="l" rtl="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Пример усеченного обратного распространения</a:t>
            </a:r>
            <a:endParaRPr lang="ru-RU" dirty="0"/>
          </a:p>
        </p:txBody>
      </p:sp>
      <p:pic>
        <p:nvPicPr>
          <p:cNvPr id="11" name="Рисунок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975" y="1418734"/>
            <a:ext cx="5735504" cy="2008425"/>
          </a:xfrm>
          <a:prstGeom prst="rect">
            <a:avLst/>
          </a:prstGeom>
        </p:spPr>
      </p:pic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Прямоугольник 18"/>
          <p:cNvSpPr/>
          <p:nvPr/>
        </p:nvSpPr>
        <p:spPr>
          <a:xfrm>
            <a:off x="5067052" y="3537486"/>
            <a:ext cx="447911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 algn="l" rtl="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Пример двунаправленного обучения</a:t>
            </a:r>
            <a:endParaRPr lang="ru-RU" dirty="0"/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9852" y="4075955"/>
            <a:ext cx="7251411" cy="2639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06616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b="1" dirty="0"/>
              <a:t>Рекуррентные нейронные сети</a:t>
            </a:r>
            <a:endParaRPr lang="en-US" b="1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7" name="Рисунок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0" y="3247782"/>
            <a:ext cx="6794070" cy="2699171"/>
          </a:xfrm>
          <a:prstGeom prst="rect">
            <a:avLst/>
          </a:prstGeom>
        </p:spPr>
      </p:pic>
      <p:sp>
        <p:nvSpPr>
          <p:cNvPr id="18" name="Объект 2"/>
          <p:cNvSpPr>
            <a:spLocks noGrp="1"/>
          </p:cNvSpPr>
          <p:nvPr>
            <p:ph idx="1"/>
          </p:nvPr>
        </p:nvSpPr>
        <p:spPr>
          <a:xfrm>
            <a:off x="6003634" y="2228242"/>
            <a:ext cx="4921541" cy="357763"/>
          </a:xfrm>
        </p:spPr>
        <p:txBody>
          <a:bodyPr>
            <a:noAutofit/>
          </a:bodyPr>
          <a:lstStyle/>
          <a:p>
            <a:pPr algn="l" rtl="0">
              <a:lnSpc>
                <a:spcPct val="100000"/>
              </a:lnSpc>
              <a:spcBef>
                <a:spcPts val="0"/>
              </a:spcBef>
            </a:pPr>
            <a:r>
              <a:rPr lang="en-US" sz="2000" dirty="0"/>
              <a:t>Пример </a:t>
            </a:r>
            <a:r>
              <a:rPr lang="en-US" sz="2000" dirty="0" err="1"/>
              <a:t>расширенного</a:t>
            </a:r>
            <a:r>
              <a:rPr lang="en-US" sz="2000" dirty="0"/>
              <a:t> </a:t>
            </a:r>
            <a:r>
              <a:rPr lang="en-US" sz="2000" dirty="0" err="1"/>
              <a:t>обучения</a:t>
            </a:r>
            <a:r>
              <a:rPr lang="en-US" sz="2000" dirty="0"/>
              <a:t> RNN</a:t>
            </a:r>
          </a:p>
          <a:p>
            <a:pPr algn="l" rtl="0">
              <a:lnSpc>
                <a:spcPct val="100000"/>
              </a:lnSpc>
              <a:spcBef>
                <a:spcPts val="0"/>
              </a:spcBef>
            </a:pPr>
            <a:r>
              <a:rPr lang="ru-RU" sz="2000" dirty="0"/>
              <a:t> </a:t>
            </a:r>
            <a:r>
              <a:rPr lang="en-US" sz="2000" dirty="0"/>
              <a:t>(temporal learning)</a:t>
            </a:r>
            <a:endParaRPr lang="en-US" sz="1600" dirty="0"/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250" y="1267010"/>
            <a:ext cx="4810125" cy="5289786"/>
          </a:xfrm>
          <a:prstGeom prst="rect">
            <a:avLst/>
          </a:prstGeom>
        </p:spPr>
      </p:pic>
      <p:sp>
        <p:nvSpPr>
          <p:cNvPr id="19" name="Объект 2"/>
          <p:cNvSpPr txBox="1">
            <a:spLocks/>
          </p:cNvSpPr>
          <p:nvPr/>
        </p:nvSpPr>
        <p:spPr>
          <a:xfrm>
            <a:off x="1660234" y="717847"/>
            <a:ext cx="4921541" cy="35776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2000" dirty="0"/>
              <a:t>Глубокая сеть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4281651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58825"/>
          </a:xfrm>
        </p:spPr>
        <p:txBody>
          <a:bodyPr/>
          <a:lstStyle/>
          <a:p>
            <a:r>
              <a:rPr lang="ru-RU" b="1" dirty="0"/>
              <a:t>Рекуррентные нейронные сети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628650" y="1123950"/>
            <a:ext cx="10725150" cy="5476875"/>
          </a:xfrm>
        </p:spPr>
        <p:txBody>
          <a:bodyPr>
            <a:normAutofit/>
          </a:bodyPr>
          <a:lstStyle/>
          <a:p>
            <a:pPr lvl="0">
              <a:lnSpc>
                <a:spcPct val="120000"/>
              </a:lnSpc>
              <a:spcBef>
                <a:spcPts val="600"/>
              </a:spcBef>
            </a:pPr>
            <a:r>
              <a:rPr lang="ru-RU" altLang="ru-RU" sz="2200" dirty="0">
                <a:latin typeface="-apple-system"/>
              </a:rPr>
              <a:t>Недостатком подходов обучения с </a:t>
            </a:r>
            <a:r>
              <a:rPr lang="en-US" altLang="ru-RU" sz="2200" dirty="0">
                <a:latin typeface="-apple-system"/>
              </a:rPr>
              <a:t>RNN </a:t>
            </a:r>
            <a:r>
              <a:rPr lang="ru-RU" altLang="ru-RU" sz="2200" dirty="0">
                <a:latin typeface="-apple-system"/>
              </a:rPr>
              <a:t>является не возможность учета долговременного контекста. </a:t>
            </a:r>
            <a:endParaRPr lang="en-US" altLang="ru-RU" sz="2200" dirty="0">
              <a:latin typeface="-apple-system"/>
            </a:endParaRPr>
          </a:p>
          <a:p>
            <a:pPr lvl="0">
              <a:lnSpc>
                <a:spcPct val="120000"/>
              </a:lnSpc>
              <a:spcBef>
                <a:spcPts val="600"/>
              </a:spcBef>
            </a:pPr>
            <a:r>
              <a:rPr lang="ru-RU" altLang="ru-RU" sz="2200" dirty="0">
                <a:latin typeface="-apple-system"/>
              </a:rPr>
              <a:t>Для решения этой проблемы используются </a:t>
            </a:r>
            <a:r>
              <a:rPr lang="ru-RU" altLang="ru-RU" sz="2200" dirty="0">
                <a:latin typeface="var(--jp-code-font-family)"/>
              </a:rPr>
              <a:t>LSTM</a:t>
            </a:r>
            <a:r>
              <a:rPr lang="ru-RU" altLang="ru-RU" sz="2200" dirty="0">
                <a:latin typeface="-apple-system"/>
              </a:rPr>
              <a:t> и </a:t>
            </a:r>
            <a:r>
              <a:rPr lang="ru-RU" altLang="ru-RU" sz="2200" dirty="0">
                <a:latin typeface="var(--jp-code-font-family)"/>
              </a:rPr>
              <a:t>GRU</a:t>
            </a:r>
            <a:r>
              <a:rPr lang="ru-RU" altLang="ru-RU" sz="2200" dirty="0">
                <a:latin typeface="-apple-system"/>
              </a:rPr>
              <a:t> ячейки, которые имеют учет долговременного контекста. </a:t>
            </a:r>
            <a:endParaRPr lang="en-US" altLang="ru-RU" sz="2200" dirty="0">
              <a:latin typeface="-apple-system"/>
            </a:endParaRPr>
          </a:p>
          <a:p>
            <a:pPr lvl="1">
              <a:lnSpc>
                <a:spcPct val="120000"/>
              </a:lnSpc>
              <a:spcBef>
                <a:spcPts val="600"/>
              </a:spcBef>
            </a:pPr>
            <a:r>
              <a:rPr lang="ru-RU" sz="2200" dirty="0"/>
              <a:t>в литературе можно найти и другие варианты модификаций. </a:t>
            </a:r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850" y="3450543"/>
            <a:ext cx="9810750" cy="3257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36935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58825"/>
          </a:xfrm>
        </p:spPr>
        <p:txBody>
          <a:bodyPr/>
          <a:lstStyle/>
          <a:p>
            <a:r>
              <a:rPr lang="ru-RU" b="1" dirty="0"/>
              <a:t>Рекуррентные нейронные сети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72168" y="996950"/>
            <a:ext cx="10725150" cy="5476875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200" dirty="0"/>
              <a:t>Особенностью LSTM ячейки является раздельный учет скрытых состояний.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/>
              <a:t>Первое соответствует кратковременному контексту (например так мы можем учесть сезонность),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/>
              <a:t>а второе состояние учитывает долговременный контекст (так мы сможем учесть тренд).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/>
              <a:t>Долговременный контекст – это контекст с долгим затуханием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/>
              <a:t> Идея GRU ячейки объединить оба скрытых состояния вместе и передавать их одним параметром.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/>
              <a:t>За счет этого общее число параметров будет меньше. </a:t>
            </a:r>
          </a:p>
        </p:txBody>
      </p:sp>
      <p:pic>
        <p:nvPicPr>
          <p:cNvPr id="6146" name="Picture 2" descr="Recurrent Neural Networks - Combination of RNN and CNN - Convolutional  Neural Networks for Image and Video Processing - TUM Wiki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443" b="12224"/>
          <a:stretch/>
        </p:blipFill>
        <p:spPr bwMode="auto">
          <a:xfrm>
            <a:off x="832605" y="3974214"/>
            <a:ext cx="5002138" cy="24996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6" name="Picture 12" descr="IJGI | Free Full-Text | Bidirectional Gated Recurrent Unit Neural Network  for Chinese Address Element Segmentation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52107" y="3735387"/>
            <a:ext cx="4225925" cy="2666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AutoShape 14" descr="Review: Empirical Evaluation of Gated Recurrent Neural Networks on Sequence  Modeling (GRU) | by Sik-Ho Tsang | Medium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7" name="AutoShape 16" descr="https://miro.medium.com/v2/resize:fit:875/0*c3WksH9kuFrQy7rz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573982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en-US" b="1" dirty="0" err="1"/>
              <a:t>Рекуррентные</a:t>
            </a:r>
            <a:r>
              <a:rPr lang="en-US" b="1" dirty="0"/>
              <a:t> нейронные сети. 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7" name="Прямоугольник 16"/>
          <p:cNvSpPr/>
          <p:nvPr/>
        </p:nvSpPr>
        <p:spPr>
          <a:xfrm>
            <a:off x="460375" y="717847"/>
            <a:ext cx="10833931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rtl="0"/>
            <a:r>
              <a:rPr lang="en-US" b="1" dirty="0">
                <a:solidFill>
                  <a:srgbClr val="000000"/>
                </a:solidFill>
              </a:rPr>
              <a:t>Сети с долгой краткосрочной памятью (LSTM) </a:t>
            </a:r>
            <a:r>
              <a:rPr lang="en-US" dirty="0">
                <a:solidFill>
                  <a:srgbClr val="000000"/>
                </a:solidFill>
              </a:rPr>
              <a:t>были разработаны для устранения ограничений длинной памяти RNN. Это достигается за счет использования состояния ячейки, в котором хранится отдельная долгосрочная и краткосрочная информация, модулируемая через серию вентилей.</a:t>
            </a:r>
            <a:endParaRPr lang="ru-RU" dirty="0"/>
          </a:p>
        </p:txBody>
      </p:sp>
      <p:pic>
        <p:nvPicPr>
          <p:cNvPr id="19" name="Рисунок 1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057" y="2111554"/>
            <a:ext cx="10477249" cy="3821114"/>
          </a:xfrm>
          <a:prstGeom prst="rect">
            <a:avLst/>
          </a:prstGeom>
        </p:spPr>
      </p:pic>
      <p:sp>
        <p:nvSpPr>
          <p:cNvPr id="20" name="AutoShape 2" descr="image-2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798653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en-US" b="1" dirty="0" err="1"/>
              <a:t>Рекуррентные</a:t>
            </a:r>
            <a:r>
              <a:rPr lang="en-US" b="1" dirty="0"/>
              <a:t> нейронные сети. 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0" name="AutoShape 2" descr="image-2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221" y="1362756"/>
            <a:ext cx="11426825" cy="3694981"/>
          </a:xfrm>
          <a:prstGeom prst="rect">
            <a:avLst/>
          </a:prstGeom>
        </p:spPr>
      </p:pic>
      <p:sp>
        <p:nvSpPr>
          <p:cNvPr id="22" name="Прямоугольник 21"/>
          <p:cNvSpPr/>
          <p:nvPr/>
        </p:nvSpPr>
        <p:spPr>
          <a:xfrm>
            <a:off x="1069974" y="835099"/>
            <a:ext cx="751522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GRU </a:t>
            </a:r>
            <a:r>
              <a:rPr lang="ru-RU" dirty="0"/>
              <a:t>может рассматриваться как альтернатива</a:t>
            </a:r>
            <a:r>
              <a:rPr lang="en-US" dirty="0"/>
              <a:t> </a:t>
            </a:r>
            <a:r>
              <a:rPr lang="ru-RU" dirty="0"/>
              <a:t>для LSTM</a:t>
            </a:r>
          </a:p>
        </p:txBody>
      </p:sp>
      <p:sp>
        <p:nvSpPr>
          <p:cNvPr id="14" name="Прямоугольник 13"/>
          <p:cNvSpPr/>
          <p:nvPr/>
        </p:nvSpPr>
        <p:spPr>
          <a:xfrm>
            <a:off x="1317802" y="5216062"/>
            <a:ext cx="7515225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/>
              <a:t>По сути долговременный контекст передается совместно с кратковременным – среднее время учета контекста</a:t>
            </a:r>
          </a:p>
        </p:txBody>
      </p:sp>
    </p:spTree>
    <p:extLst>
      <p:ext uri="{BB962C8B-B14F-4D97-AF65-F5344CB8AC3E}">
        <p14:creationId xmlns:p14="http://schemas.microsoft.com/office/powerpoint/2010/main" val="35140879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/>
            <a:r>
              <a:rPr lang="en-US" sz="4000" b="1" dirty="0"/>
              <a:t>RNN. </a:t>
            </a:r>
            <a:r>
              <a:rPr lang="ru-RU" sz="4000" b="1" dirty="0"/>
              <a:t>Итеративная </a:t>
            </a:r>
            <a:r>
              <a:rPr lang="ru-RU" altLang="ru-RU" sz="4000" b="1" dirty="0"/>
              <a:t>Авторегрессия</a:t>
            </a:r>
            <a:endParaRPr lang="en-US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1005865"/>
            <a:ext cx="11832935" cy="5806346"/>
          </a:xfrm>
        </p:spPr>
        <p:txBody>
          <a:bodyPr>
            <a:no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000" b="1" dirty="0"/>
              <a:t>Прямой подход</a:t>
            </a:r>
            <a:r>
              <a:rPr lang="ru-RU" sz="2000" dirty="0"/>
              <a:t>  (традиционный) обычно представляет собой архитектуру «</a:t>
            </a:r>
            <a:r>
              <a:rPr lang="en-US" sz="2000" dirty="0"/>
              <a:t>seq2seq</a:t>
            </a:r>
            <a:r>
              <a:rPr lang="ru-RU" sz="2000" dirty="0"/>
              <a:t>», в которой используется кодер для обобщения прошлой информации и декодер для объединения их с известными будущими входными данными.</a:t>
            </a:r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Недостаток прямого подхода </a:t>
            </a:r>
            <a:endParaRPr lang="en-US" sz="2000" dirty="0"/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u="sng" dirty="0"/>
              <a:t>устранении необходимости в рекурсии прямые методы требуют указания максимального горизонта прогноза, </a:t>
            </a:r>
            <a:endParaRPr lang="en-US" sz="2200" u="sng" dirty="0"/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u="sng" dirty="0"/>
              <a:t>причем прогнозы делаются только через заранее определенные дискретные интервалы.</a:t>
            </a:r>
            <a:endParaRPr lang="ru-RU" sz="22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 rotWithShape="1">
          <a:blip r:embed="rId2"/>
          <a:srcRect b="48945"/>
          <a:stretch/>
        </p:blipFill>
        <p:spPr>
          <a:xfrm>
            <a:off x="527631" y="3667698"/>
            <a:ext cx="4793993" cy="2101468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 rotWithShape="1">
          <a:blip r:embed="rId2"/>
          <a:srcRect t="52746"/>
          <a:stretch/>
        </p:blipFill>
        <p:spPr>
          <a:xfrm>
            <a:off x="5499333" y="3667698"/>
            <a:ext cx="4991846" cy="2025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50976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/>
            <a:r>
              <a:rPr lang="en-US" sz="4000" b="1" dirty="0"/>
              <a:t>RNN. </a:t>
            </a:r>
            <a:r>
              <a:rPr lang="ru-RU" sz="4000" b="1" dirty="0"/>
              <a:t>Итеративная </a:t>
            </a:r>
            <a:r>
              <a:rPr lang="ru-RU" altLang="ru-RU" sz="4000" b="1" dirty="0"/>
              <a:t>Авторегрессия</a:t>
            </a:r>
            <a:endParaRPr lang="en-US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200" b="1" dirty="0"/>
              <a:t>Итеративное обучение</a:t>
            </a:r>
            <a:r>
              <a:rPr lang="ru-RU" sz="2200" dirty="0"/>
              <a:t>  - это развитие идеи повторяющегося обучения для временных рядов.</a:t>
            </a:r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200" b="1" dirty="0"/>
              <a:t>Основная идея итеративного обучения</a:t>
            </a:r>
            <a:r>
              <a:rPr lang="ru-RU" sz="2200" dirty="0"/>
              <a:t>  заключается в использовании принципа авторегрессии в рекуррентной сетевой структуре.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В отличие от традиционного (прямого) метода в итеративном обучении, модель учит предсказывать только на один шаг вперед на этапе обучения (обратите внимание, что скрытое состояние также сохраняется).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b="1" dirty="0"/>
              <a:t>На этапе проверки сеть использует свои предыдущие прогнозы в качестве дополнительных входных данных.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dirty="0" err="1"/>
              <a:t>Многогоризонтные</a:t>
            </a:r>
            <a:r>
              <a:rPr lang="ru-RU" sz="2200" dirty="0"/>
              <a:t> прогнозы создаются путем рекурсивной подачи выборок (одношаговый прогноз) в будущие временные шаги (повторение процедуры вывода).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 rotWithShape="1">
          <a:blip r:embed="rId2"/>
          <a:srcRect b="48945"/>
          <a:stretch/>
        </p:blipFill>
        <p:spPr>
          <a:xfrm>
            <a:off x="612775" y="4379799"/>
            <a:ext cx="4904594" cy="2149951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 rotWithShape="1">
          <a:blip r:embed="rId2"/>
          <a:srcRect t="52746"/>
          <a:stretch/>
        </p:blipFill>
        <p:spPr>
          <a:xfrm>
            <a:off x="6248334" y="4379799"/>
            <a:ext cx="5088374" cy="2064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60846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en-US" sz="4000" b="1" dirty="0" err="1"/>
              <a:t>Глубокая</a:t>
            </a:r>
            <a:r>
              <a:rPr lang="en-US" sz="4000" b="1" dirty="0"/>
              <a:t> AR </a:t>
            </a:r>
            <a:r>
              <a:rPr lang="ru-RU" sz="4000" b="1" dirty="0"/>
              <a:t>сеть</a:t>
            </a:r>
            <a:endParaRPr lang="en-US" sz="40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/>
            <a:r>
              <a:rPr lang="ru-RU" sz="2000" dirty="0"/>
              <a:t>Сеть </a:t>
            </a:r>
            <a:r>
              <a:rPr lang="ru-RU" sz="2000" dirty="0" err="1"/>
              <a:t>Deep</a:t>
            </a:r>
            <a:r>
              <a:rPr lang="ru-RU" sz="2000" dirty="0"/>
              <a:t> AR - самая известная реализация  </a:t>
            </a:r>
            <a:r>
              <a:rPr lang="ru-RU" sz="2000" u="sng" dirty="0"/>
              <a:t>итеративного обучения в сочетании с </a:t>
            </a:r>
            <a:r>
              <a:rPr lang="ru-RU" sz="2000" u="sng" dirty="0" err="1"/>
              <a:t>lstm</a:t>
            </a:r>
            <a:r>
              <a:rPr lang="ru-RU" sz="2000" u="sng" dirty="0"/>
              <a:t>-ячейками и так называемым </a:t>
            </a:r>
            <a:r>
              <a:rPr lang="ru-RU" sz="2000" b="1" u="sng" dirty="0"/>
              <a:t>вероятностным обучением</a:t>
            </a:r>
            <a:r>
              <a:rPr lang="ru-RU" sz="2000" u="sng" dirty="0"/>
              <a:t> с учителем </a:t>
            </a:r>
            <a:r>
              <a:rPr lang="ru-RU" sz="2000" b="1" u="sng" dirty="0"/>
              <a:t>.</a:t>
            </a:r>
            <a:endParaRPr lang="en-US" sz="2000" b="1" u="sng" dirty="0"/>
          </a:p>
          <a:p>
            <a:r>
              <a:rPr lang="ru-RU" sz="2000" dirty="0"/>
              <a:t>В  </a:t>
            </a:r>
            <a:r>
              <a:rPr lang="ru-RU" sz="2000" b="1" dirty="0"/>
              <a:t>вероятностном обучении</a:t>
            </a:r>
            <a:r>
              <a:rPr lang="ru-RU" sz="2000" dirty="0"/>
              <a:t>  мы пытаемся не само значение прогноза, но его среднее ожидание и его дисперсию, подчиняющиеся распределению. Другими словами, мы пытаемся построить какое-то распределение и минимизировать сумму его значений</a:t>
            </a:r>
          </a:p>
          <a:p>
            <a:pPr lvl="1"/>
            <a:r>
              <a:rPr lang="ru-RU" sz="2000" dirty="0"/>
              <a:t>Чаще всего моделируется нормальное распределение</a:t>
            </a:r>
          </a:p>
          <a:p>
            <a:pPr lvl="1"/>
            <a:r>
              <a:rPr lang="ru-RU" sz="2000" dirty="0"/>
              <a:t>Теоретически могут быть и другие виды распределений</a:t>
            </a:r>
          </a:p>
          <a:p>
            <a:pPr lvl="1"/>
            <a:r>
              <a:rPr lang="ru-RU" sz="2000" dirty="0"/>
              <a:t>Конкретный результат предсказания генерируется из распределения </a:t>
            </a:r>
          </a:p>
          <a:p>
            <a:pPr lvl="1"/>
            <a:r>
              <a:rPr lang="ru-RU" sz="2000" dirty="0"/>
              <a:t>Для нормального распределения среднее значение максимизирует правдоподобие, </a:t>
            </a:r>
          </a:p>
          <a:p>
            <a:pPr lvl="1"/>
            <a:r>
              <a:rPr lang="ru-RU" sz="2000" dirty="0"/>
              <a:t>но мы управляем не только средним, но и дисперсией его предсказаний</a:t>
            </a:r>
          </a:p>
          <a:p>
            <a:pPr lvl="2"/>
            <a:r>
              <a:rPr lang="ru-RU" dirty="0"/>
              <a:t>В этом отношении вероятностное обучение является аналогом регуляризации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 rotWithShape="1">
          <a:blip r:embed="rId2"/>
          <a:srcRect r="50098"/>
          <a:stretch/>
        </p:blipFill>
        <p:spPr>
          <a:xfrm>
            <a:off x="765175" y="4202976"/>
            <a:ext cx="4511004" cy="2448285"/>
          </a:xfrm>
          <a:prstGeom prst="rect">
            <a:avLst/>
          </a:prstGeom>
        </p:spPr>
      </p:pic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8" name="Рисунок 17"/>
          <p:cNvPicPr>
            <a:picLocks noChangeAspect="1"/>
          </p:cNvPicPr>
          <p:nvPr/>
        </p:nvPicPr>
        <p:blipFill rotWithShape="1">
          <a:blip r:embed="rId2"/>
          <a:srcRect l="50607"/>
          <a:stretch/>
        </p:blipFill>
        <p:spPr>
          <a:xfrm>
            <a:off x="7024643" y="4286880"/>
            <a:ext cx="4312065" cy="2364381"/>
          </a:xfrm>
          <a:prstGeom prst="rect">
            <a:avLst/>
          </a:prstGeom>
        </p:spPr>
      </p:pic>
      <p:sp>
        <p:nvSpPr>
          <p:cNvPr id="8" name="AutoShape 2" descr="https://miro.medium.com/v2/resize:fit:852/0*RpUovvN5BT2_sbMF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56224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71534"/>
          </a:xfrm>
        </p:spPr>
        <p:txBody>
          <a:bodyPr/>
          <a:lstStyle/>
          <a:p>
            <a:r>
              <a:rPr lang="en-US" b="1" dirty="0" err="1"/>
              <a:t>Глубокая</a:t>
            </a:r>
            <a:r>
              <a:rPr lang="en-US" b="1" dirty="0"/>
              <a:t> AR </a:t>
            </a:r>
            <a:r>
              <a:rPr lang="ru-RU" b="1" dirty="0"/>
              <a:t>сеть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295399"/>
            <a:ext cx="6308558" cy="4881563"/>
          </a:xfrm>
        </p:spPr>
        <p:txBody>
          <a:bodyPr/>
          <a:lstStyle/>
          <a:p>
            <a:r>
              <a:rPr lang="ru-RU" dirty="0"/>
              <a:t>Из </a:t>
            </a:r>
            <a:r>
              <a:rPr lang="en-US" dirty="0" err="1"/>
              <a:t>ht</a:t>
            </a:r>
            <a:r>
              <a:rPr lang="en-US" dirty="0"/>
              <a:t> </a:t>
            </a:r>
            <a:r>
              <a:rPr lang="ru-RU" dirty="0"/>
              <a:t>при помощи двух </a:t>
            </a:r>
            <a:r>
              <a:rPr lang="ru-RU" dirty="0" err="1"/>
              <a:t>полносвязных</a:t>
            </a:r>
            <a:r>
              <a:rPr lang="ru-RU" dirty="0"/>
              <a:t> слоев оцениваются μ создается гауссово распределение с этими параметрами </a:t>
            </a:r>
          </a:p>
          <a:p>
            <a:r>
              <a:rPr lang="ru-RU" dirty="0"/>
              <a:t>Из созданного распределения берется выборку. </a:t>
            </a:r>
          </a:p>
          <a:p>
            <a:r>
              <a:rPr lang="ru-RU" dirty="0"/>
              <a:t>На этапе тренировки модель проверяет, насколько эта выборка близка к реальному наблюдению.</a:t>
            </a:r>
          </a:p>
          <a:p>
            <a:endParaRPr lang="ru-RU" dirty="0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0253" y="2885932"/>
            <a:ext cx="4835019" cy="3679996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54349" y="1436660"/>
            <a:ext cx="4486825" cy="1282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41475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en-US" sz="4000" b="1" dirty="0" err="1"/>
              <a:t>Глубокая</a:t>
            </a:r>
            <a:r>
              <a:rPr lang="en-US" sz="4000" b="1" dirty="0"/>
              <a:t> AR </a:t>
            </a:r>
            <a:r>
              <a:rPr lang="ru-RU" sz="4000" b="1" dirty="0"/>
              <a:t>сеть</a:t>
            </a:r>
            <a:endParaRPr lang="en-US" sz="40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/>
            <a:r>
              <a:rPr lang="ru-RU" sz="2000" dirty="0"/>
              <a:t>Сеть </a:t>
            </a:r>
            <a:r>
              <a:rPr lang="ru-RU" sz="2000" dirty="0" err="1"/>
              <a:t>Deep</a:t>
            </a:r>
            <a:r>
              <a:rPr lang="ru-RU" sz="2000" dirty="0"/>
              <a:t> AR - самая известная реализация  </a:t>
            </a:r>
            <a:r>
              <a:rPr lang="ru-RU" sz="2000" u="sng" dirty="0"/>
              <a:t>итеративного обучения в сочетании с </a:t>
            </a:r>
            <a:r>
              <a:rPr lang="ru-RU" sz="2000" u="sng" dirty="0" err="1"/>
              <a:t>lstm</a:t>
            </a:r>
            <a:r>
              <a:rPr lang="ru-RU" sz="2000" u="sng" dirty="0"/>
              <a:t>-ячейками и так называемым </a:t>
            </a:r>
            <a:r>
              <a:rPr lang="ru-RU" sz="2000" b="1" u="sng" dirty="0"/>
              <a:t>вероятностным обучением</a:t>
            </a:r>
            <a:r>
              <a:rPr lang="ru-RU" sz="2000" u="sng" dirty="0"/>
              <a:t> с учителем </a:t>
            </a:r>
            <a:r>
              <a:rPr lang="ru-RU" sz="2000" b="1" u="sng" dirty="0"/>
              <a:t>.</a:t>
            </a:r>
            <a:endParaRPr lang="ru-RU" sz="2000" dirty="0"/>
          </a:p>
          <a:p>
            <a:pPr lvl="0"/>
            <a:r>
              <a:rPr lang="ru-RU" sz="2000" dirty="0"/>
              <a:t>Официальное представление архитектуры </a:t>
            </a:r>
            <a:r>
              <a:rPr lang="ru-RU" sz="2000" dirty="0" err="1"/>
              <a:t>Deep</a:t>
            </a:r>
            <a:r>
              <a:rPr lang="ru-RU" sz="2000" dirty="0"/>
              <a:t> AR слева, обучение (выше) и тестирование (ниже).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7580" y="1759646"/>
            <a:ext cx="8751710" cy="48002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44239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en-US" sz="4000" b="1" dirty="0"/>
              <a:t>RNN. Deep AR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ru-RU" altLang="ru-RU" sz="2000" dirty="0">
              <a:latin typeface="Arial" panose="020B0604020202020204" pitchFamily="34" charset="0"/>
            </a:endParaRP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82842"/>
            <a:ext cx="7235902" cy="5083175"/>
          </a:xfrm>
          <a:prstGeom prst="rect">
            <a:avLst/>
          </a:prstGeom>
        </p:spPr>
      </p:pic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0190" y="5651511"/>
            <a:ext cx="8776154" cy="1018890"/>
          </a:xfrm>
          <a:prstGeom prst="rect">
            <a:avLst/>
          </a:prstGeom>
        </p:spPr>
      </p:pic>
      <p:sp>
        <p:nvSpPr>
          <p:cNvPr id="17" name="Прямоугольник 16"/>
          <p:cNvSpPr/>
          <p:nvPr/>
        </p:nvSpPr>
        <p:spPr>
          <a:xfrm>
            <a:off x="587375" y="5925957"/>
            <a:ext cx="2278188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600" b="1" dirty="0">
                <a:solidFill>
                  <a:srgbClr val="000000"/>
                </a:solidFill>
                <a:latin typeface="Georgia" panose="02040502050405020303" pitchFamily="18" charset="0"/>
              </a:rPr>
              <a:t>Gaussian likelihood</a:t>
            </a:r>
            <a:br>
              <a:rPr lang="en-US" sz="1600" b="1" dirty="0">
                <a:solidFill>
                  <a:srgbClr val="000000"/>
                </a:solidFill>
                <a:latin typeface="Georgia" panose="02040502050405020303" pitchFamily="18" charset="0"/>
              </a:rPr>
            </a:br>
            <a:r>
              <a:rPr lang="en-US" sz="1600" b="1" dirty="0">
                <a:solidFill>
                  <a:srgbClr val="000000"/>
                </a:solidFill>
                <a:latin typeface="Georgia" panose="02040502050405020303" pitchFamily="18" charset="0"/>
              </a:rPr>
              <a:t> loss function</a:t>
            </a:r>
            <a:endParaRPr lang="ru-RU" sz="1600" dirty="0"/>
          </a:p>
        </p:txBody>
      </p:sp>
      <p:pic>
        <p:nvPicPr>
          <p:cNvPr id="19" name="Рисунок 18"/>
          <p:cNvPicPr>
            <a:picLocks noChangeAspect="1"/>
          </p:cNvPicPr>
          <p:nvPr/>
        </p:nvPicPr>
        <p:blipFill rotWithShape="1">
          <a:blip r:embed="rId4"/>
          <a:srcRect r="37032" b="35255"/>
          <a:stretch/>
        </p:blipFill>
        <p:spPr>
          <a:xfrm>
            <a:off x="7167766" y="1053219"/>
            <a:ext cx="4548578" cy="685696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 rotWithShape="1">
          <a:blip r:embed="rId4"/>
          <a:srcRect l="5591" t="61220" r="52222" b="-1440"/>
          <a:stretch/>
        </p:blipFill>
        <p:spPr>
          <a:xfrm>
            <a:off x="7315685" y="1883737"/>
            <a:ext cx="3047438" cy="425959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 rotWithShape="1">
          <a:blip r:embed="rId4"/>
          <a:srcRect l="55803" t="55464" r="2010" b="4316"/>
          <a:stretch/>
        </p:blipFill>
        <p:spPr>
          <a:xfrm>
            <a:off x="7328267" y="2378676"/>
            <a:ext cx="3047438" cy="425959"/>
          </a:xfrm>
          <a:prstGeom prst="rect">
            <a:avLst/>
          </a:prstGeom>
        </p:spPr>
      </p:pic>
      <p:sp>
        <p:nvSpPr>
          <p:cNvPr id="22" name="Прямоугольник 21"/>
          <p:cNvSpPr/>
          <p:nvPr/>
        </p:nvSpPr>
        <p:spPr>
          <a:xfrm>
            <a:off x="6648896" y="695417"/>
            <a:ext cx="53078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000000"/>
                </a:solidFill>
                <a:latin typeface="Georgia" panose="02040502050405020303" pitchFamily="18" charset="0"/>
              </a:rPr>
              <a:t>Negative Binomial Likelihood loss function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651255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en-US" sz="4000" b="1" dirty="0"/>
              <a:t>RNN. Deep AR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52927" y="672059"/>
            <a:ext cx="11028733" cy="5805654"/>
          </a:xfrm>
        </p:spPr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 err="1">
                <a:solidFill>
                  <a:srgbClr val="000000"/>
                </a:solidFill>
              </a:rPr>
              <a:t>In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b="1" dirty="0" err="1">
                <a:solidFill>
                  <a:srgbClr val="000000"/>
                </a:solidFill>
              </a:rPr>
              <a:t>Probabilistic</a:t>
            </a:r>
            <a:r>
              <a:rPr lang="ru-RU" altLang="ru-RU" sz="2000" b="1" dirty="0">
                <a:solidFill>
                  <a:srgbClr val="000000"/>
                </a:solidFill>
              </a:rPr>
              <a:t> </a:t>
            </a:r>
            <a:r>
              <a:rPr lang="ru-RU" altLang="ru-RU" sz="2000" b="1" dirty="0" err="1">
                <a:solidFill>
                  <a:srgbClr val="000000"/>
                </a:solidFill>
              </a:rPr>
              <a:t>learning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dirty="0" err="1">
                <a:solidFill>
                  <a:srgbClr val="000000"/>
                </a:solidFill>
              </a:rPr>
              <a:t>we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are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not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only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try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to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forecast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one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prediction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value</a:t>
            </a:r>
            <a:r>
              <a:rPr lang="ru-RU" altLang="ru-RU" sz="2000" dirty="0">
                <a:solidFill>
                  <a:srgbClr val="000000"/>
                </a:solidFill>
              </a:rPr>
              <a:t>, </a:t>
            </a:r>
            <a:r>
              <a:rPr lang="ru-RU" altLang="ru-RU" sz="2000" dirty="0" err="1">
                <a:solidFill>
                  <a:srgbClr val="000000"/>
                </a:solidFill>
              </a:rPr>
              <a:t>but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also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its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variance</a:t>
            </a:r>
            <a:r>
              <a:rPr lang="ru-RU" altLang="ru-RU" sz="2000" dirty="0">
                <a:solidFill>
                  <a:srgbClr val="000000"/>
                </a:solidFill>
              </a:rPr>
              <a:t>.</a:t>
            </a:r>
            <a:r>
              <a:rPr lang="ru-RU" altLang="ru-RU" sz="2000" dirty="0"/>
              <a:t/>
            </a:r>
            <a:br>
              <a:rPr lang="ru-RU" altLang="ru-RU" sz="2000" dirty="0"/>
            </a:br>
            <a:r>
              <a:rPr lang="ru-RU" altLang="ru-RU" sz="2000" dirty="0" err="1">
                <a:solidFill>
                  <a:srgbClr val="000000"/>
                </a:solidFill>
              </a:rPr>
              <a:t>In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other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words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we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try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to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build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some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distribution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and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minimize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its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likelihood</a:t>
            </a:r>
            <a:r>
              <a:rPr lang="ru-RU" altLang="ru-RU" sz="2000" dirty="0">
                <a:solidFill>
                  <a:srgbClr val="000000"/>
                </a:solidFill>
              </a:rPr>
              <a:t> (</a:t>
            </a:r>
            <a:r>
              <a:rPr lang="ru-RU" altLang="ru-RU" sz="2000" dirty="0" err="1">
                <a:solidFill>
                  <a:srgbClr val="000000"/>
                </a:solidFill>
              </a:rPr>
              <a:t>sum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of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its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values</a:t>
            </a:r>
            <a:r>
              <a:rPr lang="ru-RU" altLang="ru-RU" sz="2000" dirty="0">
                <a:solidFill>
                  <a:srgbClr val="000000"/>
                </a:solidFill>
              </a:rPr>
              <a:t>).</a:t>
            </a:r>
            <a:r>
              <a:rPr lang="ru-RU" altLang="ru-RU" sz="2000" dirty="0"/>
              <a:t/>
            </a:r>
            <a:br>
              <a:rPr lang="ru-RU" altLang="ru-RU" sz="2000" dirty="0"/>
            </a:br>
            <a:endParaRPr lang="ru-RU" altLang="ru-RU" sz="20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ru-RU" altLang="ru-RU" sz="2000" dirty="0" err="1">
                <a:solidFill>
                  <a:srgbClr val="000000"/>
                </a:solidFill>
              </a:rPr>
              <a:t>In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b="1" dirty="0" err="1">
                <a:solidFill>
                  <a:srgbClr val="000000"/>
                </a:solidFill>
              </a:rPr>
              <a:t>Probabilistic</a:t>
            </a:r>
            <a:r>
              <a:rPr lang="ru-RU" altLang="ru-RU" sz="2000" b="1" dirty="0">
                <a:solidFill>
                  <a:srgbClr val="000000"/>
                </a:solidFill>
              </a:rPr>
              <a:t> </a:t>
            </a:r>
            <a:r>
              <a:rPr lang="ru-RU" altLang="ru-RU" sz="2000" b="1" dirty="0" err="1">
                <a:solidFill>
                  <a:srgbClr val="000000"/>
                </a:solidFill>
              </a:rPr>
              <a:t>iterative</a:t>
            </a:r>
            <a:r>
              <a:rPr lang="ru-RU" altLang="ru-RU" sz="2000" b="1" dirty="0">
                <a:solidFill>
                  <a:srgbClr val="000000"/>
                </a:solidFill>
              </a:rPr>
              <a:t> </a:t>
            </a:r>
            <a:r>
              <a:rPr lang="ru-RU" altLang="ru-RU" sz="2000" b="1" dirty="0" err="1">
                <a:solidFill>
                  <a:srgbClr val="000000"/>
                </a:solidFill>
              </a:rPr>
              <a:t>learning</a:t>
            </a:r>
            <a:endParaRPr lang="ru-RU" altLang="ru-RU" sz="200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 err="1">
                <a:solidFill>
                  <a:srgbClr val="000000"/>
                </a:solidFill>
              </a:rPr>
              <a:t>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b="1" dirty="0" err="1">
                <a:solidFill>
                  <a:srgbClr val="000000"/>
                </a:solidFill>
              </a:rPr>
              <a:t>training</a:t>
            </a:r>
            <a:r>
              <a:rPr lang="ru-RU" altLang="ru-RU" sz="2000" b="1" dirty="0">
                <a:solidFill>
                  <a:srgbClr val="000000"/>
                </a:solidFill>
              </a:rPr>
              <a:t> </a:t>
            </a:r>
            <a:r>
              <a:rPr lang="ru-RU" altLang="ru-RU" sz="2000" b="1" dirty="0" err="1">
                <a:solidFill>
                  <a:srgbClr val="000000"/>
                </a:solidFill>
              </a:rPr>
              <a:t>stage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goal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to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predict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at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each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time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step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following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one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value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and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its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distribution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parameters</a:t>
            </a:r>
            <a:r>
              <a:rPr lang="ru-RU" altLang="ru-RU" sz="2000" dirty="0">
                <a:solidFill>
                  <a:srgbClr val="000000"/>
                </a:solidFill>
              </a:rPr>
              <a:t> (𝜇 </a:t>
            </a:r>
            <a:r>
              <a:rPr lang="ru-RU" altLang="ru-RU" sz="2000" dirty="0" err="1">
                <a:solidFill>
                  <a:srgbClr val="000000"/>
                </a:solidFill>
              </a:rPr>
              <a:t>and</a:t>
            </a:r>
            <a:r>
              <a:rPr lang="ru-RU" altLang="ru-RU" sz="2000" dirty="0">
                <a:solidFill>
                  <a:srgbClr val="000000"/>
                </a:solidFill>
              </a:rPr>
              <a:t> 𝛼-</a:t>
            </a:r>
            <a:r>
              <a:rPr lang="ru-RU" altLang="ru-RU" sz="2000" dirty="0" err="1">
                <a:solidFill>
                  <a:srgbClr val="000000"/>
                </a:solidFill>
              </a:rPr>
              <a:t>variance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for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Gaussian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distribution</a:t>
            </a:r>
            <a:r>
              <a:rPr lang="ru-RU" altLang="ru-RU" sz="2000" dirty="0">
                <a:solidFill>
                  <a:srgbClr val="000000"/>
                </a:solidFill>
              </a:rPr>
              <a:t>, </a:t>
            </a:r>
            <a:r>
              <a:rPr lang="ru-RU" altLang="ru-RU" sz="2000" dirty="0" err="1">
                <a:solidFill>
                  <a:srgbClr val="000000"/>
                </a:solidFill>
              </a:rPr>
              <a:t>horizon</a:t>
            </a:r>
            <a:r>
              <a:rPr lang="ru-RU" altLang="ru-RU" sz="2000" dirty="0">
                <a:solidFill>
                  <a:srgbClr val="000000"/>
                </a:solidFill>
              </a:rPr>
              <a:t>=1).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information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propagated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to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hidden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layer</a:t>
            </a:r>
            <a:r>
              <a:rPr lang="ru-RU" altLang="ru-RU" sz="2000" dirty="0">
                <a:solidFill>
                  <a:srgbClr val="000000"/>
                </a:solidFill>
              </a:rPr>
              <a:t> (ℎ) </a:t>
            </a:r>
            <a:r>
              <a:rPr lang="ru-RU" altLang="ru-RU" sz="2000" dirty="0" err="1">
                <a:solidFill>
                  <a:srgbClr val="000000"/>
                </a:solidFill>
              </a:rPr>
              <a:t>and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up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to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loss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function</a:t>
            </a:r>
            <a:r>
              <a:rPr lang="ru-RU" altLang="ru-RU" sz="2000" dirty="0">
                <a:solidFill>
                  <a:srgbClr val="000000"/>
                </a:solidFill>
              </a:rPr>
              <a:t> (</a:t>
            </a:r>
            <a:r>
              <a:rPr lang="ru-RU" altLang="ru-RU" sz="2000" dirty="0" err="1">
                <a:solidFill>
                  <a:srgbClr val="000000"/>
                </a:solidFill>
              </a:rPr>
              <a:t>likelihood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function</a:t>
            </a:r>
            <a:r>
              <a:rPr lang="ru-RU" altLang="ru-RU" sz="2000" dirty="0">
                <a:solidFill>
                  <a:srgbClr val="000000"/>
                </a:solidFill>
              </a:rPr>
              <a:t>, </a:t>
            </a:r>
            <a:r>
              <a:rPr lang="ru-RU" altLang="ru-RU" sz="2000" dirty="0" err="1">
                <a:solidFill>
                  <a:srgbClr val="000000"/>
                </a:solidFill>
              </a:rPr>
              <a:t>which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is</a:t>
            </a:r>
            <a:r>
              <a:rPr lang="ru-RU" altLang="ru-RU" sz="2000" dirty="0">
                <a:solidFill>
                  <a:srgbClr val="000000"/>
                </a:solidFill>
              </a:rPr>
              <a:t> a </a:t>
            </a:r>
            <a:r>
              <a:rPr lang="ru-RU" altLang="ru-RU" sz="2000" dirty="0" err="1">
                <a:solidFill>
                  <a:srgbClr val="000000"/>
                </a:solidFill>
              </a:rPr>
              <a:t>score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function</a:t>
            </a:r>
            <a:r>
              <a:rPr lang="ru-RU" altLang="ru-RU" sz="2000" dirty="0">
                <a:solidFill>
                  <a:srgbClr val="000000"/>
                </a:solidFill>
              </a:rPr>
              <a:t>).</a:t>
            </a:r>
            <a:br>
              <a:rPr lang="ru-RU" altLang="ru-RU" sz="2000" dirty="0">
                <a:solidFill>
                  <a:srgbClr val="000000"/>
                </a:solidFill>
              </a:rPr>
            </a:b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likelihood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function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can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be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Gaussian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or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Negative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Binomial</a:t>
            </a:r>
            <a:r>
              <a:rPr lang="ru-RU" altLang="ru-RU" sz="2000" dirty="0">
                <a:solidFill>
                  <a:srgbClr val="000000"/>
                </a:solidFill>
              </a:rPr>
              <a:t>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 err="1">
                <a:solidFill>
                  <a:srgbClr val="000000"/>
                </a:solidFill>
              </a:rPr>
              <a:t>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b="1" dirty="0" err="1">
                <a:solidFill>
                  <a:srgbClr val="000000"/>
                </a:solidFill>
              </a:rPr>
              <a:t>validate</a:t>
            </a:r>
            <a:r>
              <a:rPr lang="ru-RU" altLang="ru-RU" sz="2000" b="1" dirty="0">
                <a:solidFill>
                  <a:srgbClr val="000000"/>
                </a:solidFill>
              </a:rPr>
              <a:t> </a:t>
            </a:r>
            <a:r>
              <a:rPr lang="ru-RU" altLang="ru-RU" sz="2000" b="1" dirty="0" err="1">
                <a:solidFill>
                  <a:srgbClr val="000000"/>
                </a:solidFill>
              </a:rPr>
              <a:t>stage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dirty="0" err="1">
                <a:solidFill>
                  <a:srgbClr val="000000"/>
                </a:solidFill>
              </a:rPr>
              <a:t>forward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propagation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carried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out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using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input</a:t>
            </a:r>
            <a:r>
              <a:rPr lang="ru-RU" altLang="ru-RU" sz="2000" dirty="0">
                <a:solidFill>
                  <a:srgbClr val="000000"/>
                </a:solidFill>
              </a:rPr>
              <a:t> 𝑧𝑖−1 (</a:t>
            </a:r>
            <a:r>
              <a:rPr lang="ru-RU" altLang="ru-RU" sz="2000" dirty="0" err="1">
                <a:solidFill>
                  <a:srgbClr val="000000"/>
                </a:solidFill>
              </a:rPr>
              <a:t>along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with</a:t>
            </a:r>
            <a:r>
              <a:rPr lang="ru-RU" altLang="ru-RU" sz="2000" dirty="0">
                <a:solidFill>
                  <a:srgbClr val="000000"/>
                </a:solidFill>
              </a:rPr>
              <a:t> [</a:t>
            </a:r>
            <a:r>
              <a:rPr lang="ru-RU" altLang="ru-RU" sz="2000" dirty="0" err="1">
                <a:solidFill>
                  <a:srgbClr val="000000"/>
                </a:solidFill>
              </a:rPr>
              <a:t>optional</a:t>
            </a:r>
            <a:r>
              <a:rPr lang="ru-RU" altLang="ru-RU" sz="2000" dirty="0">
                <a:solidFill>
                  <a:srgbClr val="000000"/>
                </a:solidFill>
              </a:rPr>
              <a:t>] </a:t>
            </a:r>
            <a:r>
              <a:rPr lang="ru-RU" altLang="ru-RU" sz="2000" dirty="0" err="1">
                <a:solidFill>
                  <a:srgbClr val="000000"/>
                </a:solidFill>
              </a:rPr>
              <a:t>covariates</a:t>
            </a:r>
            <a:r>
              <a:rPr lang="en-US" altLang="ru-RU" sz="2000" dirty="0">
                <a:solidFill>
                  <a:srgbClr val="000000"/>
                </a:solidFill>
              </a:rPr>
              <a:t> (exogenous factors)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or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one-hot-encoded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categorical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features</a:t>
            </a:r>
            <a:r>
              <a:rPr lang="ru-RU" altLang="ru-RU" sz="2000" dirty="0">
                <a:solidFill>
                  <a:srgbClr val="000000"/>
                </a:solidFill>
              </a:rPr>
              <a:t>) </a:t>
            </a:r>
            <a:r>
              <a:rPr lang="ru-RU" altLang="ru-RU" sz="2000" dirty="0" err="1">
                <a:solidFill>
                  <a:srgbClr val="000000"/>
                </a:solidFill>
              </a:rPr>
              <a:t>and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obtained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training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stage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parameters</a:t>
            </a:r>
            <a:r>
              <a:rPr lang="ru-RU" altLang="ru-RU" sz="2000" dirty="0">
                <a:solidFill>
                  <a:srgbClr val="000000"/>
                </a:solidFill>
              </a:rPr>
              <a:t> 𝜇 </a:t>
            </a:r>
            <a:r>
              <a:rPr lang="ru-RU" altLang="ru-RU" sz="2000" dirty="0" err="1">
                <a:solidFill>
                  <a:srgbClr val="000000"/>
                </a:solidFill>
              </a:rPr>
              <a:t>and</a:t>
            </a:r>
            <a:r>
              <a:rPr lang="ru-RU" altLang="ru-RU" sz="2000" dirty="0">
                <a:solidFill>
                  <a:srgbClr val="000000"/>
                </a:solidFill>
              </a:rPr>
              <a:t> 𝛼.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ru-RU" altLang="ru-RU" sz="2000" dirty="0">
              <a:latin typeface="Arial" panose="020B0604020202020204" pitchFamily="34" charset="0"/>
            </a:endParaRP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29039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en-US" sz="4000" b="1" dirty="0"/>
              <a:t>RNN. </a:t>
            </a:r>
            <a:r>
              <a:rPr lang="en-US" sz="4000" b="1" dirty="0" err="1"/>
              <a:t>Глубокая</a:t>
            </a:r>
            <a:r>
              <a:rPr lang="en-US" sz="4000" b="1" dirty="0"/>
              <a:t> AR </a:t>
            </a:r>
            <a:r>
              <a:rPr lang="ru-RU" sz="4000" b="1" dirty="0"/>
              <a:t>сеть Для справки</a:t>
            </a:r>
            <a:endParaRPr lang="en-US" sz="40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/>
            <a:r>
              <a:rPr lang="ru-RU" sz="2000" b="1" dirty="0"/>
              <a:t>Преимущества </a:t>
            </a:r>
            <a:r>
              <a:rPr lang="ru-RU" sz="2000" b="1" dirty="0" err="1"/>
              <a:t>DeepAR</a:t>
            </a:r>
            <a:endParaRPr lang="ru-RU" sz="2000" dirty="0"/>
          </a:p>
          <a:p>
            <a:pPr lvl="1"/>
            <a:r>
              <a:rPr lang="ru-RU" sz="2200" dirty="0"/>
              <a:t>возможность обучения нескольких сотен или тысяч временных рядов одновременно, значительная масштабируемость модели.</a:t>
            </a:r>
          </a:p>
          <a:p>
            <a:pPr lvl="1"/>
            <a:r>
              <a:rPr lang="ru-RU" sz="2200" dirty="0"/>
              <a:t>Модель может </a:t>
            </a:r>
            <a:r>
              <a:rPr lang="ru-RU" sz="2200" dirty="0" err="1"/>
              <a:t>предсказыать</a:t>
            </a:r>
            <a:r>
              <a:rPr lang="ru-RU" sz="2200" dirty="0"/>
              <a:t> данные с небольшой историей.</a:t>
            </a:r>
          </a:p>
          <a:p>
            <a:pPr lvl="1"/>
            <a:r>
              <a:rPr lang="ru-RU" sz="2200" dirty="0"/>
              <a:t>Разнообразие функций правдоподобия: </a:t>
            </a:r>
            <a:r>
              <a:rPr lang="ru-RU" sz="2200" dirty="0" err="1"/>
              <a:t>DeepAR</a:t>
            </a:r>
            <a:r>
              <a:rPr lang="ru-RU" sz="2200" dirty="0"/>
              <a:t> не использует </a:t>
            </a:r>
            <a:r>
              <a:rPr lang="ru-RU" sz="2200" dirty="0" err="1"/>
              <a:t>гауссовский</a:t>
            </a:r>
            <a:r>
              <a:rPr lang="ru-RU" sz="2200" dirty="0"/>
              <a:t> шум для обеспечения гибкости данных.</a:t>
            </a:r>
          </a:p>
          <a:p>
            <a:pPr lvl="0"/>
            <a:r>
              <a:rPr lang="ru-RU" sz="2000" b="1" dirty="0"/>
              <a:t>Недостатки </a:t>
            </a:r>
            <a:r>
              <a:rPr lang="ru-RU" sz="2000" b="1" dirty="0" err="1"/>
              <a:t>DeepAR</a:t>
            </a:r>
            <a:endParaRPr lang="ru-RU" sz="2000" dirty="0"/>
          </a:p>
          <a:p>
            <a:pPr lvl="1"/>
            <a:r>
              <a:rPr lang="ru-RU" sz="2200" dirty="0"/>
              <a:t>Требуется полный набор данных при создании новых прогнозов.</a:t>
            </a:r>
          </a:p>
          <a:p>
            <a:pPr lvl="1"/>
            <a:r>
              <a:rPr lang="ru-RU" sz="2200" dirty="0"/>
              <a:t>Нет настройки модели для отдельных временных рядов.</a:t>
            </a:r>
          </a:p>
          <a:p>
            <a:pPr lvl="1"/>
            <a:r>
              <a:rPr lang="ru-RU" sz="2200" dirty="0"/>
              <a:t>Данные должны быть отформатированы определенным образом, рекомендованным разработчиком.</a:t>
            </a:r>
          </a:p>
          <a:p>
            <a:pPr lvl="1"/>
            <a:r>
              <a:rPr lang="ru-RU" sz="2200" dirty="0"/>
              <a:t>Позволяют получить сравнительно высокую производительность только на огромном объекте объединенных данных. </a:t>
            </a:r>
          </a:p>
          <a:p>
            <a:pPr lvl="1"/>
            <a:r>
              <a:rPr lang="ru-RU" sz="2200" dirty="0"/>
              <a:t>Точность для определенных рядов данных (или небольшого количества рядов) ниже, чем для ARIMA и ETS.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508463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7BB7B41-7122-497A-A583-FEDA914639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94166"/>
            <a:ext cx="9144000" cy="3034834"/>
          </a:xfrm>
        </p:spPr>
        <p:txBody>
          <a:bodyPr>
            <a:normAutofit/>
          </a:bodyPr>
          <a:lstStyle/>
          <a:p>
            <a:r>
              <a:rPr lang="ru-RU" b="1" dirty="0"/>
              <a:t>Использование методов глубокого обучения в анализе временных рядов</a:t>
            </a:r>
          </a:p>
        </p:txBody>
      </p:sp>
      <p:sp>
        <p:nvSpPr>
          <p:cNvPr id="4" name="Подзаголовок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539442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7338</TotalTime>
  <Words>2432</Words>
  <Application>Microsoft Office PowerPoint</Application>
  <PresentationFormat>Широкоэкранный</PresentationFormat>
  <Paragraphs>623</Paragraphs>
  <Slides>75</Slides>
  <Notes>16</Notes>
  <HiddenSlides>27</HiddenSlides>
  <MMClips>0</MMClips>
  <ScaleCrop>false</ScaleCrop>
  <HeadingPairs>
    <vt:vector size="6" baseType="variant">
      <vt:variant>
        <vt:lpstr>Использованные шрифты</vt:lpstr>
      </vt:variant>
      <vt:variant>
        <vt:i4>12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75</vt:i4>
      </vt:variant>
    </vt:vector>
  </HeadingPairs>
  <TitlesOfParts>
    <vt:vector size="88" baseType="lpstr">
      <vt:lpstr>-apple-system</vt:lpstr>
      <vt:lpstr>Aptos</vt:lpstr>
      <vt:lpstr>Arial</vt:lpstr>
      <vt:lpstr>Calibri</vt:lpstr>
      <vt:lpstr>Calibri Light</vt:lpstr>
      <vt:lpstr>Cambria</vt:lpstr>
      <vt:lpstr>Cambria Math</vt:lpstr>
      <vt:lpstr>Georgia</vt:lpstr>
      <vt:lpstr>Helvetica Neue</vt:lpstr>
      <vt:lpstr>system-ui</vt:lpstr>
      <vt:lpstr>Times New Roman</vt:lpstr>
      <vt:lpstr>var(--jp-code-font-family)</vt:lpstr>
      <vt:lpstr>Тема Office</vt:lpstr>
      <vt:lpstr>Использование методов глубокого обучения в анализе временных рядов</vt:lpstr>
      <vt:lpstr>Особенности RNN в режиме Seq2Seq</vt:lpstr>
      <vt:lpstr>Особенности RNN в режиме Seq2Seq</vt:lpstr>
      <vt:lpstr>Особенности RNN в режиме Seq2Seq</vt:lpstr>
      <vt:lpstr>Особенности блока внимания Seq2Seq</vt:lpstr>
      <vt:lpstr>Пример работы слоя внимания Encoder-decoder</vt:lpstr>
      <vt:lpstr>Особенности RNN в режиме одного блока</vt:lpstr>
      <vt:lpstr>Сеть с вниманием. Многоголовое внимание</vt:lpstr>
      <vt:lpstr>Идеи перехода от RNN к авторегрессии</vt:lpstr>
      <vt:lpstr>Идеи Блока Трансформер</vt:lpstr>
      <vt:lpstr>Идеи архитектуры Трансформер</vt:lpstr>
      <vt:lpstr>Идеи архитектуры Трансформер</vt:lpstr>
      <vt:lpstr>Презентация PowerPoint</vt:lpstr>
      <vt:lpstr>Особенности RNN в режиме одного блока</vt:lpstr>
      <vt:lpstr>Презентация PowerPoint</vt:lpstr>
      <vt:lpstr>Пример расчета внимания на 1 шаг</vt:lpstr>
      <vt:lpstr>Особенности RNN в режиме Seq2Seq</vt:lpstr>
      <vt:lpstr>Особенности RNN в режиме Seq2Seq</vt:lpstr>
      <vt:lpstr>Особенности RNN в режиме Seq2Seq</vt:lpstr>
      <vt:lpstr>Особенности RNN в режиме Seq2Seq</vt:lpstr>
      <vt:lpstr>Особенности RNN c вниманием</vt:lpstr>
      <vt:lpstr>Особенности RNN в режиме encoder only</vt:lpstr>
      <vt:lpstr>Особенности RNN в режиме encoder only</vt:lpstr>
      <vt:lpstr>Особенности RNN в режиме Seq2Seq</vt:lpstr>
      <vt:lpstr>Презентация PowerPoint</vt:lpstr>
      <vt:lpstr>1-мерная сверточная нейронная сеть. Расширенная свертка</vt:lpstr>
      <vt:lpstr>1-мерная сверточная нейронная сеть. Расширенная свертка</vt:lpstr>
      <vt:lpstr>Сеть на основе внимания</vt:lpstr>
      <vt:lpstr>Сети на основе внимания</vt:lpstr>
      <vt:lpstr>Сети на основе внимания</vt:lpstr>
      <vt:lpstr>Сети на основе внимания</vt:lpstr>
      <vt:lpstr>Сети на основе внимания. Самовнимание</vt:lpstr>
      <vt:lpstr>Сети на основе внимания. Самовнимание</vt:lpstr>
      <vt:lpstr>Сети на основе внимания</vt:lpstr>
      <vt:lpstr>Сети на основе внимания</vt:lpstr>
      <vt:lpstr>Сети на основе внимания</vt:lpstr>
      <vt:lpstr>Внимание Пример временной свертки - самовнимание</vt:lpstr>
      <vt:lpstr>Сеть с вниманием. Многоголовое внимание</vt:lpstr>
      <vt:lpstr>Сеть с вниманием. Многоголовое внимание с маской</vt:lpstr>
      <vt:lpstr>Сеть с вниманием. Многоголовое внимание с маской</vt:lpstr>
      <vt:lpstr>Сеть с вниманием. Блок трансформатора</vt:lpstr>
      <vt:lpstr>Сеть с вниманием. Блок трансформатора</vt:lpstr>
      <vt:lpstr>Сеть с вниманием. Блок трансформатора</vt:lpstr>
      <vt:lpstr>Сеть с вниманием. Блок трансформатора</vt:lpstr>
      <vt:lpstr>Сеть с вниманием. Блок трансформатора</vt:lpstr>
      <vt:lpstr>Сеть с вниманием. Блок трансформатора</vt:lpstr>
      <vt:lpstr>Сеть с вниманием. Блок трансформатора</vt:lpstr>
      <vt:lpstr>Сеть с вниманием. Блок трансформатора</vt:lpstr>
      <vt:lpstr>Презентация PowerPoint</vt:lpstr>
      <vt:lpstr>Презентация PowerPoint</vt:lpstr>
      <vt:lpstr>Методы машинного обучения на основе моделей</vt:lpstr>
      <vt:lpstr>Методы машинного обучения на основе моделей</vt:lpstr>
      <vt:lpstr>Методы машинного обучения на основе данных</vt:lpstr>
      <vt:lpstr>Методы машинного обучения на основе данных</vt:lpstr>
      <vt:lpstr>Подходы к временным рядам DL</vt:lpstr>
      <vt:lpstr>Подходы к временным рядам DL</vt:lpstr>
      <vt:lpstr>Рекуррентные нейронные сети</vt:lpstr>
      <vt:lpstr>Рекуррентные нейронные сети</vt:lpstr>
      <vt:lpstr>Простая рекуррентная нейронные сети</vt:lpstr>
      <vt:lpstr>Рекуррентные нейронные сети</vt:lpstr>
      <vt:lpstr>Рекуррентные нейронные сети</vt:lpstr>
      <vt:lpstr>Рекуррентные нейронные сети</vt:lpstr>
      <vt:lpstr>Рекуррентные нейронные сети</vt:lpstr>
      <vt:lpstr>Рекуррентные нейронные сети</vt:lpstr>
      <vt:lpstr>Рекуррентные нейронные сети. </vt:lpstr>
      <vt:lpstr>Рекуррентные нейронные сети. </vt:lpstr>
      <vt:lpstr>RNN. Итеративная Авторегрессия</vt:lpstr>
      <vt:lpstr>RNN. Итеративная Авторегрессия</vt:lpstr>
      <vt:lpstr>Глубокая AR сеть</vt:lpstr>
      <vt:lpstr>Глубокая AR сеть</vt:lpstr>
      <vt:lpstr>Глубокая AR сеть</vt:lpstr>
      <vt:lpstr>RNN. Deep AR</vt:lpstr>
      <vt:lpstr>RNN. Deep AR</vt:lpstr>
      <vt:lpstr>RNN. Глубокая AR сеть Для справки</vt:lpstr>
      <vt:lpstr>Использование методов глубокого обучения в анализе временных рядов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AutoRegressive Moving Average models</dc:title>
  <dc:creator>Ронкин Михаил Владимирович</dc:creator>
  <cp:lastModifiedBy>Ронкин Михаил Владимирович</cp:lastModifiedBy>
  <cp:revision>369</cp:revision>
  <dcterms:created xsi:type="dcterms:W3CDTF">2021-11-21T16:45:21Z</dcterms:created>
  <dcterms:modified xsi:type="dcterms:W3CDTF">2025-08-21T06:46:25Z</dcterms:modified>
</cp:coreProperties>
</file>