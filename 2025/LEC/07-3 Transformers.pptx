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444" r:id="rId9"/>
    <p:sldId id="366" r:id="rId10"/>
    <p:sldId id="443" r:id="rId11"/>
    <p:sldId id="442" r:id="rId12"/>
    <p:sldId id="439" r:id="rId13"/>
    <p:sldId id="440" r:id="rId14"/>
    <p:sldId id="431" r:id="rId15"/>
    <p:sldId id="437" r:id="rId16"/>
    <p:sldId id="407" r:id="rId17"/>
    <p:sldId id="436" r:id="rId18"/>
    <p:sldId id="430" r:id="rId19"/>
    <p:sldId id="435" r:id="rId20"/>
    <p:sldId id="427" r:id="rId21"/>
    <p:sldId id="420" r:id="rId22"/>
    <p:sldId id="352" r:id="rId23"/>
    <p:sldId id="353" r:id="rId24"/>
    <p:sldId id="355" r:id="rId25"/>
    <p:sldId id="356" r:id="rId26"/>
    <p:sldId id="357" r:id="rId27"/>
    <p:sldId id="358" r:id="rId28"/>
    <p:sldId id="359" r:id="rId29"/>
    <p:sldId id="360" r:id="rId30"/>
    <p:sldId id="361" r:id="rId31"/>
    <p:sldId id="362" r:id="rId32"/>
    <p:sldId id="363" r:id="rId33"/>
    <p:sldId id="364" r:id="rId34"/>
    <p:sldId id="365" r:id="rId35"/>
    <p:sldId id="367" r:id="rId36"/>
    <p:sldId id="368" r:id="rId37"/>
    <p:sldId id="369" r:id="rId38"/>
    <p:sldId id="370" r:id="rId39"/>
    <p:sldId id="371" r:id="rId40"/>
    <p:sldId id="372" r:id="rId41"/>
    <p:sldId id="373" r:id="rId42"/>
    <p:sldId id="374" r:id="rId43"/>
    <p:sldId id="375" r:id="rId44"/>
    <p:sldId id="376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377" r:id="rId53"/>
    <p:sldId id="378" r:id="rId54"/>
    <p:sldId id="379" r:id="rId55"/>
    <p:sldId id="381" r:id="rId56"/>
    <p:sldId id="382" r:id="rId57"/>
    <p:sldId id="383" r:id="rId58"/>
    <p:sldId id="384" r:id="rId59"/>
    <p:sldId id="385" r:id="rId60"/>
    <p:sldId id="386" r:id="rId61"/>
    <p:sldId id="387" r:id="rId62"/>
    <p:sldId id="388" r:id="rId63"/>
    <p:sldId id="389" r:id="rId64"/>
    <p:sldId id="390" r:id="rId65"/>
    <p:sldId id="391" r:id="rId66"/>
    <p:sldId id="392" r:id="rId67"/>
    <p:sldId id="393" r:id="rId68"/>
    <p:sldId id="394" r:id="rId69"/>
    <p:sldId id="395" r:id="rId70"/>
    <p:sldId id="396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 varScale="1">
        <p:scale>
          <a:sx n="97" d="100"/>
          <a:sy n="97" d="100"/>
        </p:scale>
        <p:origin x="102" y="16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18.08.2025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emf"/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</a:t>
                </a:r>
                <a:r>
                  <a:rPr lang="ru-RU" dirty="0" smtClean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</a:t>
                </a:r>
                <a:r>
                  <a:rPr lang="ru-RU" sz="2200" b="1" dirty="0" smtClean="0"/>
                  <a:t>на набор значений </a:t>
                </a:r>
                <a:r>
                  <a:rPr lang="ru-RU" sz="2200" b="1" dirty="0" smtClean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749" y="3810131"/>
            <a:ext cx="4873544" cy="293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/>
                        <m:t>𝑐</m:t>
                      </m:r>
                      <m:r>
                        <a:rPr lang="en-US" sz="2200" b="0" i="1" dirty="0" smtClean="0"/>
                        <m:t>=</m:t>
                      </m:r>
                      <m:r>
                        <a:rPr lang="ru-RU" sz="2200" b="0" i="1" dirty="0" smtClean="0"/>
                        <m:t>𝑠𝑜𝑓</m:t>
                      </m:r>
                      <m:r>
                        <a:rPr lang="en-US" sz="2200" b="0" i="1" dirty="0" smtClean="0"/>
                        <m:t>𝑡𝑚𝑎𝑥</m:t>
                      </m:r>
                      <m:d>
                        <m:dPr>
                          <m:ctrlPr>
                            <a:rPr lang="en-US" sz="2200" b="0" i="1" dirty="0" smtClean="0"/>
                          </m:ctrlPr>
                        </m:dPr>
                        <m:e>
                          <m:r>
                            <a:rPr lang="en-US" sz="2200" b="0" i="1" dirty="0" smtClean="0"/>
                            <m:t>𝜆</m:t>
                          </m:r>
                          <m:r>
                            <a:rPr lang="en-US" sz="2200" i="1" dirty="0"/>
                            <m:t>𝑄</m:t>
                          </m:r>
                          <m:sSup>
                            <m:sSupPr>
                              <m:ctrlPr>
                                <a:rPr lang="en-US" sz="2200" i="1" dirty="0"/>
                              </m:ctrlPr>
                            </m:sSupPr>
                            <m:e>
                              <m:r>
                                <a:rPr lang="en-US" sz="2200" i="1" dirty="0"/>
                                <m:t>𝐾</m:t>
                              </m:r>
                            </m:e>
                            <m:sup>
                              <m:r>
                                <a:rPr lang="en-US" sz="2200" i="1" dirty="0"/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/>
                        <m:t>𝑉</m:t>
                      </m:r>
                      <m:r>
                        <a:rPr lang="en-US" sz="2200" b="0" i="1" dirty="0" smtClean="0"/>
                        <m:t>=</m:t>
                      </m:r>
                      <m:r>
                        <a:rPr lang="en-US" sz="2200" b="0" i="1" dirty="0" smtClean="0"/>
                        <m:t>𝛼</m:t>
                      </m:r>
                      <m:r>
                        <a:rPr lang="en-US" sz="2200" b="0" i="1" dirty="0" smtClean="0"/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/>
                      <m:t>𝑄</m:t>
                    </m:r>
                    <m:r>
                      <a:rPr lang="ru-RU" sz="2200" b="0" i="1" dirty="0" smtClean="0"/>
                      <m:t>=</m:t>
                    </m:r>
                    <m:sSup>
                      <m:sSupPr>
                        <m:ctrlPr>
                          <a:rPr lang="ru-RU" sz="2200" b="0" i="1" dirty="0" smtClean="0"/>
                        </m:ctrlPr>
                      </m:sSupPr>
                      <m:e>
                        <m:r>
                          <a:rPr lang="ru-RU" sz="2200" b="0" i="1" dirty="0" smtClean="0"/>
                          <m:t>𝑊</m:t>
                        </m:r>
                      </m:e>
                      <m:sup>
                        <m:r>
                          <a:rPr lang="ru-RU" sz="2200" b="0" i="1" dirty="0" smtClean="0"/>
                          <m:t>𝑄</m:t>
                        </m:r>
                      </m:sup>
                    </m:sSup>
                    <m:r>
                      <a:rPr lang="en-US" sz="2200" b="0" i="1" dirty="0" smtClean="0"/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/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/>
                      <m:t>𝑆</m:t>
                    </m:r>
                    <m:r>
                      <a:rPr lang="en-US" sz="2200" b="0" i="1" dirty="0" smtClean="0"/>
                      <m:t>={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  <m:r>
                          <a:rPr lang="en-US" sz="2200" i="1" dirty="0"/>
                          <m:t>+1</m:t>
                        </m:r>
                      </m:sub>
                    </m:sSub>
                    <m:r>
                      <a:rPr lang="en-US" sz="2200" i="1" dirty="0"/>
                      <m:t>,…,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  <m:r>
                          <a:rPr lang="en-US" sz="2200" i="1" dirty="0"/>
                          <m:t>+</m:t>
                        </m:r>
                        <m:r>
                          <a:rPr lang="en-US" sz="2200" i="1" dirty="0"/>
                          <m:t>𝑞</m:t>
                        </m:r>
                      </m:sub>
                    </m:sSub>
                    <m:r>
                      <a:rPr lang="en-US" sz="2200" b="0" i="1" dirty="0" smtClean="0"/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𝐾</m:t>
                    </m:r>
                    <m:r>
                      <a:rPr lang="en-US" sz="2200" b="0" i="1" dirty="0" smtClean="0"/>
                      <m:t>=</m:t>
                    </m:r>
                    <m:sSup>
                      <m:sSupPr>
                        <m:ctrlPr>
                          <a:rPr lang="en-US" sz="2200" b="0" i="1" dirty="0" smtClean="0"/>
                        </m:ctrlPr>
                      </m:sSupPr>
                      <m:e>
                        <m:r>
                          <a:rPr lang="en-US" sz="2200" b="0" i="1" dirty="0" smtClean="0"/>
                          <m:t>𝑊</m:t>
                        </m:r>
                      </m:e>
                      <m:sup>
                        <m:r>
                          <a:rPr lang="en-US" sz="2200" b="0" i="1" dirty="0" smtClean="0"/>
                          <m:t>𝐾</m:t>
                        </m:r>
                      </m:sup>
                    </m:sSup>
                    <m:r>
                      <a:rPr lang="en-US" sz="2200" b="0" i="1" dirty="0" smtClean="0"/>
                      <m:t>𝐻</m:t>
                    </m:r>
                    <m:r>
                      <a:rPr lang="en-US" sz="2200" b="0" i="1" dirty="0" smtClean="0"/>
                      <m:t> </m:t>
                    </m:r>
                    <m:r>
                      <a:rPr lang="en-US" sz="2200" b="0" i="1" dirty="0" smtClean="0"/>
                      <m:t>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/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/>
                      <m:t>H</m:t>
                    </m:r>
                    <m:r>
                      <a:rPr lang="en-US" sz="2200" i="1" dirty="0"/>
                      <m:t>={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</m:sub>
                    </m:sSub>
                    <m:r>
                      <a:rPr lang="en-US" sz="2200" i="1" dirty="0"/>
                      <m:t>,…,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  <m:r>
                          <a:rPr lang="en-US" sz="2200" b="0" i="1" dirty="0" smtClean="0"/>
                          <m:t>−</m:t>
                        </m:r>
                        <m:r>
                          <a:rPr lang="en-US" sz="2200" b="0" i="1" dirty="0" smtClean="0"/>
                          <m:t>𝑝</m:t>
                        </m:r>
                      </m:sub>
                    </m:sSub>
                    <m:r>
                      <a:rPr lang="en-US" sz="2200" i="1" dirty="0"/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𝑉</m:t>
                    </m:r>
                    <m:r>
                      <a:rPr lang="ru-RU" sz="2200" b="0" i="1" dirty="0" smtClean="0"/>
                      <m:t>=</m:t>
                    </m:r>
                    <m:sSup>
                      <m:sSupPr>
                        <m:ctrlPr>
                          <a:rPr lang="ru-RU" sz="2200" b="0" i="1" dirty="0" smtClean="0"/>
                        </m:ctrlPr>
                      </m:sSupPr>
                      <m:e>
                        <m:r>
                          <a:rPr lang="ru-RU" sz="2200" b="0" i="1" dirty="0" smtClean="0"/>
                          <m:t>𝑊</m:t>
                        </m:r>
                      </m:e>
                      <m:sup>
                        <m:r>
                          <a:rPr lang="ru-RU" sz="2200" b="0" i="1" dirty="0" smtClean="0"/>
                          <m:t>𝑉</m:t>
                        </m:r>
                      </m:sup>
                    </m:sSup>
                    <m:r>
                      <a:rPr lang="en-US" sz="2200" b="0" i="1" dirty="0" smtClean="0"/>
                      <m:t>𝐻</m:t>
                    </m:r>
                    <m:r>
                      <a:rPr lang="en-US" sz="2200" b="0" i="1" dirty="0" smtClean="0"/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/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𝛼</m:t>
                    </m:r>
                    <m:r>
                      <a:rPr lang="en-US" sz="2200" b="0" i="1" dirty="0" smtClean="0"/>
                      <m:t>−</m:t>
                    </m:r>
                    <m:r>
                      <a:rPr lang="ru-RU" sz="2200" b="0" i="0" dirty="0" smtClean="0"/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/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/>
                      <m:t>𝛼</m:t>
                    </m:r>
                    <m:r>
                      <a:rPr lang="en-US" sz="2200" i="1" dirty="0"/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/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𝜆</m:t>
                    </m:r>
                    <m:r>
                      <a:rPr lang="en-US" sz="2200" b="0" i="1" dirty="0" smtClean="0"/>
                      <m:t>=1/√</m:t>
                    </m:r>
                    <m:r>
                      <a:rPr lang="en-US" sz="2200" b="0" i="1" dirty="0" smtClean="0"/>
                      <m:t>𝑑</m:t>
                    </m:r>
                    <m:r>
                      <a:rPr lang="en-US" sz="2200" b="0" i="1" dirty="0" smtClean="0"/>
                      <m:t>,</m:t>
                    </m:r>
                    <m:r>
                      <a:rPr lang="en-US" sz="2200" i="1" dirty="0"/>
                      <m:t>𝑑</m:t>
                    </m:r>
                    <m:r>
                      <a:rPr lang="ru-RU" sz="2200" i="1" dirty="0"/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/>
                      <m:t>𝑄</m:t>
                    </m:r>
                    <m:r>
                      <a:rPr lang="ru-RU" sz="2200" i="1" dirty="0"/>
                      <m:t>, </m:t>
                    </m:r>
                    <m:r>
                      <a:rPr lang="en-US" sz="2200" i="1" dirty="0"/>
                      <m:t>𝑉</m:t>
                    </m:r>
                    <m:r>
                      <a:rPr lang="en-US" sz="2200" i="1" dirty="0"/>
                      <m:t>, </m:t>
                    </m:r>
                    <m:r>
                      <a:rPr lang="en-US" sz="2200" i="1" dirty="0"/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/>
                  <a:t>Пусть есть </a:t>
                </a:r>
                <a:r>
                  <a:rPr lang="ru-RU" sz="1900" dirty="0"/>
                  <a:t>временной </a:t>
                </a:r>
                <a:r>
                  <a:rPr lang="ru-RU" sz="1900" dirty="0" smtClean="0"/>
                  <a:t>ряд:</a:t>
                </a:r>
                <a:r>
                  <a:rPr lang="en-US" sz="19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r>
                  <a:rPr lang="en" sz="1900" dirty="0" smtClean="0"/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/>
                  <a:t>хотим </a:t>
                </a:r>
                <a:r>
                  <a:rPr lang="ru-RU" sz="1900" dirty="0"/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</a:t>
                </a:r>
                <a:r>
                  <a:rPr lang="en" sz="1900" dirty="0" smtClean="0"/>
                  <a:t>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/>
                  <a:t>​</a:t>
                </a:r>
                <a:endParaRPr lang="ru-RU" sz="1900" dirty="0" smtClean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=[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</a:t>
                </a:r>
                <a:r>
                  <a:rPr lang="ru-RU" sz="1900" dirty="0" smtClean="0"/>
                  <a:t>прогнозы </a:t>
                </a:r>
                <a:r>
                  <a:rPr lang="ru-RU" sz="1900" dirty="0" err="1" smtClean="0"/>
                  <a:t>авторегрессионно</a:t>
                </a:r>
                <a:r>
                  <a:rPr lang="ru-RU" sz="1900" dirty="0" smtClean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</a:t>
                </a:r>
                <a:r>
                  <a:rPr lang="ru-RU" sz="1600" dirty="0" smtClean="0"/>
                  <a:t>слоя</a:t>
                </a:r>
                <a:endParaRPr lang="ru-RU" sz="1500" dirty="0" smtClean="0"/>
              </a:p>
              <a:p>
                <a:r>
                  <a:rPr lang="ru-RU" sz="1900" dirty="0" smtClean="0"/>
                  <a:t>Пусть </a:t>
                </a:r>
                <a:r>
                  <a:rPr lang="ru-RU" sz="1900" dirty="0"/>
                  <a:t>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28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]+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]+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 =[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92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04</m:t>
                    </m:r>
                    <m:r>
                      <a:rPr lang="ru-RU" sz="19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92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04</m:t>
                    </m:r>
                  </m:oMath>
                </a14:m>
                <a:r>
                  <a:rPr lang="en-US" sz="1900" dirty="0" smtClean="0"/>
                  <a:t>, </a:t>
                </a:r>
                <a:endParaRPr lang="ru-RU" sz="1900" dirty="0" smtClean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</a:t>
                </a:r>
                <a:r>
                  <a:rPr lang="ru-RU" sz="2200" dirty="0" smtClean="0"/>
                  <a:t>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7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7587" y="3185651"/>
            <a:ext cx="5859105" cy="341502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356483" y="6497399"/>
            <a:ext cx="46901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175" y="3994277"/>
            <a:ext cx="5068504" cy="225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1028700"/>
            <a:ext cx="11658600" cy="5537200"/>
          </a:xfrm>
        </p:spPr>
        <p:txBody>
          <a:bodyPr>
            <a:normAutofit/>
          </a:bodyPr>
          <a:lstStyle/>
          <a:p>
            <a:r>
              <a:rPr lang="ru-RU" sz="2200" b="1" dirty="0"/>
              <a:t>Гипотеза</a:t>
            </a:r>
            <a:r>
              <a:rPr lang="ru-RU" sz="2200" dirty="0" smtClean="0"/>
              <a:t>: Если есть </a:t>
            </a:r>
            <a:r>
              <a:rPr lang="ru-RU" sz="2200" dirty="0" err="1" smtClean="0"/>
              <a:t>самовнимание</a:t>
            </a:r>
            <a:r>
              <a:rPr lang="ru-RU" sz="2200" dirty="0" smtClean="0"/>
              <a:t> и кросс-внимание, </a:t>
            </a:r>
            <a:r>
              <a:rPr lang="en-US" sz="2200" dirty="0" smtClean="0"/>
              <a:t>RNN </a:t>
            </a:r>
            <a:r>
              <a:rPr lang="ru-RU" sz="2200" dirty="0" smtClean="0"/>
              <a:t>не нужно.</a:t>
            </a:r>
          </a:p>
          <a:p>
            <a:pPr lvl="2"/>
            <a:r>
              <a:rPr lang="ru-RU" sz="2200" dirty="0"/>
              <a:t>Внимание </a:t>
            </a:r>
            <a:r>
              <a:rPr lang="ru-RU" sz="2200" dirty="0"/>
              <a:t>уже задает необходимый контекст.</a:t>
            </a:r>
          </a:p>
          <a:p>
            <a:pPr lvl="2"/>
            <a:r>
              <a:rPr lang="en-US" sz="2200" dirty="0"/>
              <a:t>MLP </a:t>
            </a:r>
            <a:r>
              <a:rPr lang="ru-RU" sz="2200" dirty="0"/>
              <a:t>слой удобнее – позволяет </a:t>
            </a:r>
            <a:r>
              <a:rPr lang="ru-RU" sz="2200" dirty="0" smtClean="0"/>
              <a:t>обрабатывать </a:t>
            </a:r>
            <a:r>
              <a:rPr lang="ru-RU" sz="2200" dirty="0"/>
              <a:t>данные параллельно,</a:t>
            </a:r>
          </a:p>
          <a:p>
            <a:pPr lvl="2"/>
            <a:r>
              <a:rPr lang="ru-RU" sz="2200" dirty="0"/>
              <a:t>Нет проблем с рекуррентным обучением.</a:t>
            </a:r>
          </a:p>
          <a:p>
            <a:r>
              <a:rPr lang="ru-RU" sz="2200" dirty="0" smtClean="0"/>
              <a:t>Реализация гипотезы – идея архитектуры </a:t>
            </a:r>
            <a:r>
              <a:rPr lang="ru-RU" sz="2200" dirty="0" err="1" smtClean="0"/>
              <a:t>Трансформер</a:t>
            </a:r>
            <a:r>
              <a:rPr lang="ru-RU" sz="2200" dirty="0" smtClean="0"/>
              <a:t/>
            </a:r>
            <a:br>
              <a:rPr lang="ru-RU" sz="2200" dirty="0" smtClean="0"/>
            </a:br>
            <a:endParaRPr lang="ru-RU" sz="2200" dirty="0" smtClean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</a:t>
                </a:r>
                <a:r>
                  <a:rPr lang="ru-RU" sz="2200" b="1" dirty="0" smtClean="0"/>
                  <a:t>на набор значений </a:t>
                </a:r>
                <a:r>
                  <a:rPr lang="ru-RU" sz="2200" b="1" dirty="0" smtClean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6236</TotalTime>
  <Words>2380</Words>
  <Application>Microsoft Office PowerPoint</Application>
  <PresentationFormat>Широкоэкранный</PresentationFormat>
  <Paragraphs>596</Paragraphs>
  <Slides>70</Slides>
  <Notes>14</Notes>
  <HiddenSlides>26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70</vt:i4>
      </vt:variant>
    </vt:vector>
  </HeadingPairs>
  <TitlesOfParts>
    <vt:vector size="83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Особенности RNN в режиме одного блока</vt:lpstr>
      <vt:lpstr>Сеть с вниманием. Многоголовое внимание</vt:lpstr>
      <vt:lpstr>Презентация PowerPoint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350</cp:revision>
  <dcterms:created xsi:type="dcterms:W3CDTF">2021-11-21T16:45:21Z</dcterms:created>
  <dcterms:modified xsi:type="dcterms:W3CDTF">2025-08-18T12:11:10Z</dcterms:modified>
</cp:coreProperties>
</file>