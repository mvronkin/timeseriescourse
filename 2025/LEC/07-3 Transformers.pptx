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256" r:id="rId2"/>
    <p:sldId id="428" r:id="rId3"/>
    <p:sldId id="433" r:id="rId4"/>
    <p:sldId id="429" r:id="rId5"/>
    <p:sldId id="432" r:id="rId6"/>
    <p:sldId id="441" r:id="rId7"/>
    <p:sldId id="434" r:id="rId8"/>
    <p:sldId id="366" r:id="rId9"/>
    <p:sldId id="443" r:id="rId10"/>
    <p:sldId id="445" r:id="rId11"/>
    <p:sldId id="449" r:id="rId12"/>
    <p:sldId id="447" r:id="rId13"/>
    <p:sldId id="448" r:id="rId14"/>
    <p:sldId id="444" r:id="rId15"/>
    <p:sldId id="442" r:id="rId16"/>
    <p:sldId id="439" r:id="rId17"/>
    <p:sldId id="440" r:id="rId18"/>
    <p:sldId id="431" r:id="rId19"/>
    <p:sldId id="437" r:id="rId20"/>
    <p:sldId id="407" r:id="rId21"/>
    <p:sldId id="436" r:id="rId22"/>
    <p:sldId id="430" r:id="rId23"/>
    <p:sldId id="435" r:id="rId24"/>
    <p:sldId id="427" r:id="rId25"/>
    <p:sldId id="420" r:id="rId26"/>
    <p:sldId id="352" r:id="rId27"/>
    <p:sldId id="353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67" r:id="rId40"/>
    <p:sldId id="368" r:id="rId41"/>
    <p:sldId id="369" r:id="rId42"/>
    <p:sldId id="370" r:id="rId43"/>
    <p:sldId id="371" r:id="rId44"/>
    <p:sldId id="372" r:id="rId45"/>
    <p:sldId id="373" r:id="rId46"/>
    <p:sldId id="374" r:id="rId47"/>
    <p:sldId id="375" r:id="rId48"/>
    <p:sldId id="376" r:id="rId49"/>
    <p:sldId id="446" r:id="rId50"/>
    <p:sldId id="398" r:id="rId51"/>
    <p:sldId id="399" r:id="rId52"/>
    <p:sldId id="400" r:id="rId53"/>
    <p:sldId id="401" r:id="rId54"/>
    <p:sldId id="402" r:id="rId55"/>
    <p:sldId id="403" r:id="rId56"/>
    <p:sldId id="404" r:id="rId57"/>
    <p:sldId id="377" r:id="rId58"/>
    <p:sldId id="378" r:id="rId59"/>
    <p:sldId id="379" r:id="rId60"/>
    <p:sldId id="381" r:id="rId61"/>
    <p:sldId id="382" r:id="rId62"/>
    <p:sldId id="383" r:id="rId63"/>
    <p:sldId id="384" r:id="rId64"/>
    <p:sldId id="385" r:id="rId65"/>
    <p:sldId id="386" r:id="rId66"/>
    <p:sldId id="387" r:id="rId67"/>
    <p:sldId id="388" r:id="rId68"/>
    <p:sldId id="389" r:id="rId69"/>
    <p:sldId id="390" r:id="rId70"/>
    <p:sldId id="391" r:id="rId71"/>
    <p:sldId id="392" r:id="rId72"/>
    <p:sldId id="393" r:id="rId73"/>
    <p:sldId id="394" r:id="rId74"/>
    <p:sldId id="395" r:id="rId75"/>
    <p:sldId id="396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9" autoAdjust="0"/>
    <p:restoredTop sz="84247"/>
  </p:normalViewPr>
  <p:slideViewPr>
    <p:cSldViewPr snapToGrid="0">
      <p:cViewPr varScale="1">
        <p:scale>
          <a:sx n="97" d="100"/>
          <a:sy n="97" d="100"/>
        </p:scale>
        <p:origin x="102" y="162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D302D-D8E5-5146-B626-737F192C3BD3}" type="datetimeFigureOut">
              <a:rPr lang="ru-RU" smtClean="0"/>
              <a:t>22.08.2025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80E86-9708-4F42-A49B-C22D9D956F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342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C39F-7386-47E9-0BB9-547BA9949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78BEE13-2BE9-58A6-4DB3-E461BBA6C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CC42B24-BAF7-E64C-8D52-F383FAA67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Локальная нормализация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 глобальной нормализации (по всему ряду) — нормализация на уровне окна.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входного окна: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Вычисляется среднее и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 по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encoder-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части.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 параметры применяются и к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encoder,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к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decoder.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Преимущества: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Устойчивость к трендам и сдвигам.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"возврата" шкалы при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инференсе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b="0" dirty="0">
                <a:effectLst/>
              </a:rPr>
              <a:t>Рекомендация: не удаляйте тренд и сезонность заранее — современные модели (включая глубокие) лучше справляются с этим внутри себя (см. </a:t>
            </a:r>
            <a:r>
              <a:rPr lang="en" b="0" dirty="0">
                <a:effectLst/>
              </a:rPr>
              <a:t>ES-RNN, </a:t>
            </a:r>
            <a:r>
              <a:rPr lang="ru-RU" b="0" dirty="0">
                <a:effectLst/>
              </a:rPr>
              <a:t>победитель </a:t>
            </a:r>
            <a:r>
              <a:rPr lang="en" b="0" dirty="0">
                <a:effectLst/>
              </a:rPr>
              <a:t>M4). </a:t>
            </a:r>
          </a:p>
          <a:p>
            <a:r>
              <a:rPr lang="en" dirty="0"/>
              <a:t/>
            </a:r>
            <a:br>
              <a:rPr lang="en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49BCA0-50D7-DA83-EE4F-EAB19877C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588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79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71F5F-C4B4-2A5D-54F8-FF8A3F4C0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236B792-CA68-DA1E-B2F4-86193ED09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7442F3B-58BB-5C2E-ACD3-1ECAD11E3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84F9ED-7EE5-D087-84B1-BE4061758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30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527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CA455-73D2-E92A-4379-F8C16EB81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8A75659-4989-2AB3-2E65-9F6333285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2AC9B71-B0DA-E3D8-B706-8F227AEED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1B65B8-8D85-438A-5F21-DA63A6BF0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590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113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467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5988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CA455-73D2-E92A-4379-F8C16EB81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8A75659-4989-2AB3-2E65-9F6333285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2AC9B71-B0DA-E3D8-B706-8F227AEED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1B65B8-8D85-438A-5F21-DA63A6BF0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51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034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7638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6102B-FD59-8D75-1700-ABB47E40F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5B5FA6F-6FA8-9095-6986-E35BD31D9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0097D1E-56AC-B818-ED78-6F8372E97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FA8025-AEFD-D172-651C-7ACB11DAC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2197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454A3-3581-8509-87F3-77523AC44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12192C9-9F54-2824-CFDB-9F37C6DA1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3AC887F-D8BD-3AE0-64C9-633E53B43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3869E6-AF19-38CD-A988-52A2CC567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63063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Локальная нормализация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 глобальной нормализации (по всему ряду) — нормализация на уровне окна.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входного окна: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Вычисляется среднее и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 по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encoder-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части.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 параметры применяются и к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encoder,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к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decoder.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Преимущества: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Устойчивость к трендам и сдвигам.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"возврата" шкалы при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инференсе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b="0" dirty="0">
                <a:effectLst/>
              </a:rPr>
              <a:t>Рекомендация: не удаляйте тренд и сезонность заранее — современные модели (включая глубокие) лучше справляются с этим внутри себя (см. </a:t>
            </a:r>
            <a:r>
              <a:rPr lang="en" b="0" dirty="0">
                <a:effectLst/>
              </a:rPr>
              <a:t>ES-RNN, </a:t>
            </a:r>
            <a:r>
              <a:rPr lang="ru-RU" b="0" dirty="0">
                <a:effectLst/>
              </a:rPr>
              <a:t>победитель </a:t>
            </a:r>
            <a:r>
              <a:rPr lang="en" b="0" dirty="0">
                <a:effectLst/>
              </a:rPr>
              <a:t>M4). </a:t>
            </a:r>
          </a:p>
          <a:p>
            <a:r>
              <a:rPr lang="en" dirty="0"/>
              <a:t/>
            </a:r>
            <a:br>
              <a:rPr lang="en" dirty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490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6BCE-7482-4318-D679-8B50C4548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0BFDB1B-9F82-BFEA-7010-DD2E2B5D6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817FE60-1995-77FD-D4B2-E99B170D9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" b="1" i="0" dirty="0">
                <a:solidFill>
                  <a:srgbClr val="2C2C36"/>
                </a:solidFill>
                <a:effectLst/>
                <a:latin typeface="system-ui"/>
              </a:rPr>
              <a:t>RNN: "</a:t>
            </a:r>
            <a:r>
              <a:rPr lang="ru-RU" b="1" i="0" dirty="0">
                <a:solidFill>
                  <a:srgbClr val="2C2C36"/>
                </a:solidFill>
                <a:effectLst/>
                <a:latin typeface="system-ui"/>
              </a:rPr>
              <a:t>Я помню только то, что успел пропустить через ворота"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" b="0" i="0" dirty="0">
                <a:solidFill>
                  <a:srgbClr val="2C2C36"/>
                </a:solidFill>
                <a:effectLst/>
                <a:latin typeface="system-ui"/>
              </a:rPr>
              <a:t>RNN — 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это человек, который читает книгу по одной главе в день.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Каждый вечер он пишет </a:t>
            </a: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одно предложение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, резюмирующее всё, что он помнит.</a:t>
            </a:r>
            <a:br>
              <a:rPr lang="ru-RU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На следующий день он читает новую главу, </a:t>
            </a: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используя только это предложение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ru-RU" b="0" dirty="0">
                <a:effectLst/>
              </a:rPr>
              <a:t>Он не может вернуться к прошлым главам.</a:t>
            </a:r>
            <a:br>
              <a:rPr lang="ru-RU" b="0" dirty="0">
                <a:effectLst/>
              </a:rPr>
            </a:br>
            <a:r>
              <a:rPr lang="ru-RU" b="0" dirty="0">
                <a:effectLst/>
              </a:rPr>
              <a:t>Важные детали теряются, если не вошли в резюме.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2A9930-AAAB-5A93-B364-EF91588CE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05288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D4C1B-8F4F-05FC-CDFA-A1BD6142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95ED534-063C-EF50-5751-57FA7271F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0687931-CF2F-9B41-EB83-723E74AEC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C31813-A216-5F53-0EA8-1C9265289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6968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ABC9C-1138-7591-3F2B-736F46A78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4FBBA32-AF7F-E690-8812-FE23E5D0F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3D06853-D8CD-A9FC-52E8-705424115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DEDDFD-A6E2-1E65-C5BF-37BD17FA6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331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671D0-2BDB-45AF-A851-D661F6D3C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E451CD-2A5A-4E46-AFCE-79644189A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1DB95-3757-4C7E-9F81-5F60BF05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EC4B4-1367-4D8E-98C3-AEEF9601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66ED29-C873-4543-B7E1-E79BD42C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2B7CF-4E40-4185-8260-B4FC838A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45DE7-F6E6-4997-8029-9B80694E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06A06-4FF1-422C-8D52-F4C6F4EC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736CE-F5D0-4002-ADD5-399C6291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AE779-A848-4796-9479-123BA3A5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42B49-AEBD-4573-84CE-134E86D1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53F6D9-0132-470C-8C1F-99E53343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877F16-A63D-45E3-9E07-B99763F7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84523-6B3B-4688-A33F-31D12B50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A97AF9-930F-44FA-AE70-F46166F2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4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1B7ED-3B4D-4CF3-9AF8-DCFA7945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7095C-D1F3-448E-A163-D81123590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60A3BF-C8DE-4139-AE13-92B32F003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7D209-7CF1-481D-A144-80767B40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B842DF-EF65-4F50-B173-AF577714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7E9F67-8E18-48D2-8851-11289DBE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9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13AA4-4B3E-47CC-84F7-84A4A912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6C2EB5-78BA-457C-B172-19C0A1917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30350A-7A80-410B-9621-CD221374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4978DF-27EF-44A3-8C76-B3143C03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C3C9DE-74D8-4AC4-BC28-30DCC1292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58EBA5-17CA-4BCA-98D6-C529D9EE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42B907-DAD8-46DF-965D-0B85D9D6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7FE150-31C6-4D57-9A40-2BEEDE2D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4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DD412-A49B-4A60-BDA9-4DE98A6E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332180-815A-4A37-B56E-259D59B7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52E8DE-1155-454F-BB6A-7FB7A49F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F4679-CA96-4CE4-872E-B105DE6E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E88BB0-CD50-48ED-8CDC-08B1E4C2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A81452-4D20-4FB6-84E4-00211261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D58415-FB42-4A51-9C33-5FC3C862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34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80E52-EBD8-4698-BC00-B913EC32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0B661-234C-4994-93A0-D2B9787F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EC5A4-924A-4780-B408-DFCD1F4C3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EEA3B6-18B1-4F03-81C0-729F3C08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8AFA4F-041E-4869-8D5B-C232A4DE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F7C73E-5593-4555-81D8-EE7DEC1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6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BDD2B-B107-4E97-B23F-240320E0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284E83-FF34-4A04-ACA2-5913DC0EF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5989CA-DA16-41CF-9FD1-E3548A24A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3ABB5-76C9-422A-B6D3-931B70C9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ECAB4-441B-4BA1-9EB9-CE05AF6B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852E05-DB3B-4B02-9658-B1682F2D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9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4F6BC-9C7D-44E3-8FB3-A5D3FEC5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DFA137-9E72-4D4E-9A9B-9B642B1F5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56E9F-9208-4121-85E1-3069D24C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443664-6186-48C2-95DF-9567CE3B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8714A1-E3E5-42B3-B82F-97C26E3C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3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4496B09-4BEB-4AD3-BCC9-B01888D24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B18123-2CC5-4AFC-90FD-68FBE07B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3529F-3052-4090-BDE7-86EAB319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9C83CC-6A2F-4599-A82B-3AA20D97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5489EC-BA6C-4295-ADF3-CF230364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4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0249F-5E6F-435B-8BA6-2A771585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024CB9-05D5-4CEB-A431-24500E1B2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34E13-6B72-4799-A173-50AE9991F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E1671-358D-4BAB-9EB2-DC8D65251B8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D8DB70-5BC0-49E9-831B-FA9902663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CAF82-71F2-4F04-AEC5-AD970EB3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8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NUL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Использование методов глубокого обучения в анализе временных рядов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9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04F54-9DA4-3637-B7F6-B2C151912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3DFAFD-0F73-242A-2215-9CF55804E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26" y="149031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режиме </a:t>
            </a:r>
            <a:r>
              <a:rPr lang="ru-RU" dirty="0" err="1"/>
              <a:t>Seq</a:t>
            </a:r>
            <a:r>
              <a:rPr lang="en-US" dirty="0"/>
              <a:t>2Seq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517ED8B-EC79-48E8-1D5D-73DBF85002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2862" y="587086"/>
                <a:ext cx="11942800" cy="568382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500"/>
                  </a:spcBef>
                  <a:buNone/>
                </a:pPr>
                <a:r>
                  <a:rPr lang="ru-RU" sz="2200" dirty="0" smtClean="0"/>
                  <a:t>Пусть требуется предсказать последовательность значений</a:t>
                </a:r>
                <a:r>
                  <a:rPr lang="en-US" sz="2200" dirty="0" smtClean="0"/>
                  <a:t> </a:t>
                </a:r>
                <a:r>
                  <a:rPr lang="ru-RU" sz="2200" dirty="0" smtClean="0"/>
                  <a:t>ВР </a:t>
                </a:r>
                <a:r>
                  <a:rPr lang="ru-RU" sz="2200" dirty="0"/>
                  <a:t>по входным данным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2200" dirty="0"/>
                  <a:t>горизонт </a:t>
                </a:r>
                <a:r>
                  <a:rPr lang="en-US" sz="2200" dirty="0"/>
                  <a:t>H</a:t>
                </a:r>
                <a:r>
                  <a:rPr lang="ru-RU" sz="2200" dirty="0"/>
                  <a:t> большой – предсказывается итеративно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2200" dirty="0" smtClean="0"/>
                  <a:t>Напомним: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1" dirty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𝑁𝑁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ru-RU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𝐵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200" dirty="0"/>
                  <a:t> </a:t>
                </a:r>
                <a:r>
                  <a:rPr lang="en-US" sz="2200" dirty="0"/>
                  <a:t>;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200" dirty="0"/>
                  <a:t> –</a:t>
                </a:r>
                <a:r>
                  <a:rPr lang="ru-RU" sz="2200" dirty="0"/>
                  <a:t> выход слоя (</a:t>
                </a:r>
                <a:r>
                  <a:rPr lang="en-US" sz="2200" dirty="0" err="1"/>
                  <a:t>ко</a:t>
                </a:r>
                <a:r>
                  <a:rPr lang="ru-RU" sz="2200" dirty="0" err="1"/>
                  <a:t>нтекст</a:t>
                </a:r>
                <a:r>
                  <a:rPr lang="en-US" sz="2200" dirty="0"/>
                  <a:t>)</a:t>
                </a:r>
                <a:r>
                  <a:rPr lang="ru-RU" sz="2200" dirty="0"/>
                  <a:t> для предсказания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500"/>
                  </a:spcBef>
                </a:pPr>
                <a:r>
                  <a:rPr lang="en-US" sz="2200" dirty="0" err="1"/>
                  <a:t>Если</a:t>
                </a: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 – </a:t>
                </a:r>
                <a:r>
                  <a:rPr lang="ru-RU" sz="2200" dirty="0"/>
                  <a:t>последнее известное состояние системы, </a:t>
                </a:r>
                <a:r>
                  <a:rPr lang="ru-RU" sz="2200" dirty="0" smtClean="0"/>
                  <a:t>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100" b="1" i="1" dirty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1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ru-RU" sz="2100" b="1" i="1" dirty="0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ru-RU" sz="2100" b="1" dirty="0"/>
                  <a:t>компактное представление системы</a:t>
                </a:r>
                <a:r>
                  <a:rPr lang="ru-RU" sz="2200" dirty="0"/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b="1" dirty="0"/>
                  <a:t>Проблемы RNN</a:t>
                </a:r>
                <a:endParaRPr lang="en-US" sz="2200" b="1" dirty="0"/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/>
                  <a:t>Ограниченный контекст из-за </a:t>
                </a:r>
                <a:r>
                  <a:rPr lang="ru-RU" sz="2000" dirty="0" err="1"/>
                  <a:t>переиспользования</a:t>
                </a:r>
                <a:r>
                  <a:rPr lang="ru-RU" sz="2000" dirty="0"/>
                  <a:t> единого вектора </a:t>
                </a:r>
                <a:r>
                  <a:rPr lang="ru-RU" sz="2000" dirty="0" smtClean="0"/>
                  <a:t>скрытых состояний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 dirty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sz="2000" dirty="0"/>
              </a:p>
              <a:p>
                <a:pPr lvl="2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dirty="0" smtClean="0"/>
                  <a:t>Последние</a:t>
                </a:r>
                <a:r>
                  <a:rPr lang="en-US" dirty="0" smtClean="0"/>
                  <a:t> </a:t>
                </a:r>
                <a:r>
                  <a:rPr lang="ru-RU" dirty="0" smtClean="0"/>
                  <a:t>известные </a:t>
                </a:r>
                <a:r>
                  <a:rPr lang="ru-RU" dirty="0"/>
                  <a:t>скрытое </a:t>
                </a:r>
                <a:r>
                  <a:rPr lang="ru-RU" dirty="0" smtClean="0"/>
                  <a:t>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b="1" i="1" dirty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18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ru-RU" dirty="0" smtClean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 smtClean="0"/>
                  <a:t> задают </a:t>
                </a:r>
                <a:r>
                  <a:rPr lang="ru-RU" dirty="0"/>
                  <a:t>все состояния </a:t>
                </a:r>
                <a:r>
                  <a:rPr lang="ru-RU" dirty="0" smtClean="0"/>
                  <a:t>предсказания</a:t>
                </a:r>
              </a:p>
              <a:p>
                <a:pPr lvl="3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dirty="0"/>
                  <a:t>Скрытое состояние – это "бутылочное горлышко": вся информация из прошлого сжимается в фиксированный вектор, что приводит к потере деталей</a:t>
                </a:r>
                <a:r>
                  <a:rPr lang="ru-RU" dirty="0" smtClean="0"/>
                  <a:t>.</a:t>
                </a:r>
                <a:endParaRPr lang="ru-RU" dirty="0"/>
              </a:p>
              <a:p>
                <a:pPr lvl="2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dirty="0" smtClean="0"/>
                  <a:t>Ограниченный </a:t>
                </a:r>
                <a:r>
                  <a:rPr lang="ru-RU" dirty="0"/>
                  <a:t>горизонт предсказаний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 smtClean="0"/>
                  <a:t>Проблема </a:t>
                </a:r>
                <a:r>
                  <a:rPr lang="ru-RU" sz="2000" dirty="0"/>
                  <a:t>долгого обучения (веса или затухают или взрываются</a:t>
                </a:r>
                <a:r>
                  <a:rPr lang="ru-RU" sz="2000" dirty="0" smtClean="0"/>
                  <a:t>)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517ED8B-EC79-48E8-1D5D-73DBF85002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862" y="587086"/>
                <a:ext cx="11942800" cy="5683828"/>
              </a:xfrm>
              <a:blipFill>
                <a:blip r:embed="rId2"/>
                <a:stretch>
                  <a:fillRect l="-664" t="-6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3CE0A56B-0917-A450-C416-08AAC828BE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7720C5C-7990-C77A-277B-D0F34C858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367" y="4933454"/>
            <a:ext cx="5528007" cy="172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B06905D7-D972-1816-3D45-1AAC8CA8E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452" y="4815131"/>
            <a:ext cx="5333210" cy="154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066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A1BBB-E711-8264-4033-23630B4BD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893B7-7D0B-85C1-0A0D-2192CEA18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8" y="232406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режиме </a:t>
            </a:r>
            <a:r>
              <a:rPr lang="ru-RU" dirty="0" err="1"/>
              <a:t>Seq</a:t>
            </a:r>
            <a:r>
              <a:rPr lang="en-US" dirty="0"/>
              <a:t>2Seq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912A3EB-2F64-0781-E5D5-840697FBDD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288" y="691837"/>
                <a:ext cx="11731086" cy="568382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300" dirty="0" smtClean="0"/>
                  <a:t>Задача </a:t>
                </a:r>
                <a:r>
                  <a:rPr lang="ru-RU" sz="2300" dirty="0" err="1"/>
                  <a:t>seq</a:t>
                </a:r>
                <a:r>
                  <a:rPr lang="en-US" sz="2300" dirty="0" err="1"/>
                  <a:t>uence</a:t>
                </a:r>
                <a:r>
                  <a:rPr lang="en-US" sz="2300" dirty="0"/>
                  <a:t>-to-sequence (Seq2Seq</a:t>
                </a:r>
                <a:r>
                  <a:rPr lang="en-US" sz="2300" dirty="0" smtClean="0"/>
                  <a:t>) –</a:t>
                </a:r>
                <a:r>
                  <a:rPr lang="ru-RU" sz="2300" dirty="0" smtClean="0"/>
                  <a:t> это </a:t>
                </a:r>
                <a:r>
                  <a:rPr lang="ru-RU" sz="2300" dirty="0" err="1" smtClean="0"/>
                  <a:t>задачапредсказания</a:t>
                </a:r>
                <a:r>
                  <a:rPr lang="ru-RU" sz="2300" dirty="0" smtClean="0"/>
                  <a:t> набора будущих </a:t>
                </a:r>
                <a:br>
                  <a:rPr lang="ru-RU" sz="2300" dirty="0" smtClean="0"/>
                </a:br>
                <a:r>
                  <a:rPr lang="ru-RU" sz="2300" dirty="0" smtClean="0"/>
                  <a:t>значений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3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3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3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3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3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3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3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3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3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3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3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3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300" dirty="0" smtClean="0"/>
                  <a:t> </a:t>
                </a:r>
                <a:r>
                  <a:rPr lang="ru-RU" sz="2300" dirty="0" smtClean="0"/>
                  <a:t>по </a:t>
                </a:r>
                <a:r>
                  <a:rPr lang="ru-RU" sz="2300" dirty="0"/>
                  <a:t>входным </a:t>
                </a:r>
                <a:r>
                  <a:rPr lang="ru-RU" sz="2300" dirty="0" smtClean="0"/>
                  <a:t>данным</a:t>
                </a:r>
                <a:r>
                  <a:rPr lang="en-US" sz="23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ru-RU" sz="23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Задачу можно разделить на две части: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Часть 1 – </a:t>
                </a:r>
                <a:r>
                  <a:rPr lang="ru-RU" sz="2200" b="1" dirty="0" err="1"/>
                  <a:t>энкодер</a:t>
                </a:r>
                <a:r>
                  <a:rPr lang="ru-RU" sz="2200" dirty="0"/>
                  <a:t>: формирование вектора скрытого состояния (контекст, память) на основе движения окна по известным данным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Часть 2 – </a:t>
                </a:r>
                <a:r>
                  <a:rPr lang="ru-RU" sz="2200" b="1" dirty="0"/>
                  <a:t>декодер</a:t>
                </a:r>
                <a:r>
                  <a:rPr lang="ru-RU" sz="2200" dirty="0"/>
                  <a:t>: формирование последовательности предсказаний (</a:t>
                </a:r>
                <a:r>
                  <a:rPr lang="ru-RU" sz="2200" dirty="0" err="1"/>
                  <a:t>авторегрессионной</a:t>
                </a:r>
                <a:r>
                  <a:rPr lang="ru-RU" sz="2200" dirty="0"/>
                  <a:t>/итеративно) на основе последнего положения окна и скрытого состояния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Прогноз производится последовательно</a:t>
                </a:r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912A3EB-2F64-0781-E5D5-840697FBD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288" y="691837"/>
                <a:ext cx="11731086" cy="5683828"/>
              </a:xfrm>
              <a:blipFill>
                <a:blip r:embed="rId3"/>
                <a:stretch>
                  <a:fillRect l="-624" t="-750" r="-3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0" name="Picture 6">
            <a:extLst>
              <a:ext uri="{FF2B5EF4-FFF2-40B4-BE49-F238E27FC236}">
                <a16:creationId xmlns:a16="http://schemas.microsoft.com/office/drawing/2014/main" id="{3BA25769-C260-84C0-F3F1-1A61003AD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94" y="4231595"/>
            <a:ext cx="6852953" cy="253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1A10BCC-061E-806F-50B1-2D5EBEAB3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1396" y="4730927"/>
            <a:ext cx="3810218" cy="1922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ADCBF9-6474-CB34-8E67-423567137B8D}"/>
              </a:ext>
            </a:extLst>
          </p:cNvPr>
          <p:cNvSpPr txBox="1"/>
          <p:nvPr/>
        </p:nvSpPr>
        <p:spPr>
          <a:xfrm>
            <a:off x="6839594" y="6659465"/>
            <a:ext cx="60938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https</a:t>
            </a:r>
            <a:r>
              <a:rPr lang="ru-RU" sz="800" dirty="0"/>
              <a:t>://</a:t>
            </a:r>
            <a:r>
              <a:rPr lang="ru-RU" sz="800" dirty="0" err="1"/>
              <a:t>readmedium.com</a:t>
            </a:r>
            <a:r>
              <a:rPr lang="ru-RU" sz="800" dirty="0"/>
              <a:t>/implementing-seq2seq-models-for-efficient-time-series-forecasting-88dba1d66187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5D9B53-6450-E64F-372F-ECC27BD8C313}"/>
              </a:ext>
            </a:extLst>
          </p:cNvPr>
          <p:cNvSpPr txBox="1"/>
          <p:nvPr/>
        </p:nvSpPr>
        <p:spPr>
          <a:xfrm>
            <a:off x="840047" y="3487584"/>
            <a:ext cx="74143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</a:rPr>
              <a:t>Ключевая идея: модель принимает последовательность → преобразует в компактное представление → генерирует другую последовательность. </a:t>
            </a:r>
            <a:endParaRPr lang="ru-RU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B06905D7-D972-1816-3D45-1AAC8CA8E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161" y="4038108"/>
            <a:ext cx="4040368" cy="1170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52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35183-457B-4563-0A7E-271B7551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699C88-3961-C5D9-AAED-2F377BA5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890" y="256380"/>
            <a:ext cx="10344219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</a:t>
            </a:r>
            <a:r>
              <a:rPr lang="ru-RU" b="1" dirty="0" smtClean="0"/>
              <a:t>режиме </a:t>
            </a:r>
            <a:r>
              <a:rPr lang="ru-RU" dirty="0" err="1" smtClean="0"/>
              <a:t>Seq</a:t>
            </a:r>
            <a:r>
              <a:rPr lang="en-US" dirty="0"/>
              <a:t>2Seq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E043784-8F80-5804-0527-435AD8BB70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5207" y="732641"/>
                <a:ext cx="11731086" cy="50879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b="1" dirty="0" smtClean="0"/>
                  <a:t>Гипотеза: </a:t>
                </a:r>
                <a:r>
                  <a:rPr lang="ru-RU" sz="2200" dirty="0" smtClean="0"/>
                  <a:t>Регуляризация переобучения </a:t>
                </a:r>
                <a:r>
                  <a:rPr lang="en-US" sz="2200" dirty="0" smtClean="0"/>
                  <a:t>RNN </a:t>
                </a:r>
                <a:r>
                  <a:rPr lang="ru-RU" sz="2200" dirty="0" smtClean="0"/>
                  <a:t>возможна, если расширить скрытое представление</a:t>
                </a:r>
              </a:p>
              <a:p>
                <a:r>
                  <a:rPr lang="ru-RU" sz="2200" dirty="0" smtClean="0"/>
                  <a:t>по сути требуется расширить контекст</a:t>
                </a:r>
                <a:r>
                  <a:rPr lang="ru-RU" sz="2200" b="1" dirty="0" smtClean="0"/>
                  <a:t> </a:t>
                </a:r>
                <a:endParaRPr lang="en-US" sz="2200" b="1" dirty="0" smtClean="0"/>
              </a:p>
              <a:p>
                <a:pPr marL="0" indent="0">
                  <a:buNone/>
                </a:pPr>
                <a:r>
                  <a:rPr lang="ru-RU" sz="2200" b="1" dirty="0" smtClean="0"/>
                  <a:t>Идея: модель </a:t>
                </a:r>
                <a:r>
                  <a:rPr lang="ru-RU" sz="2200" b="1" dirty="0"/>
                  <a:t>могла бы </a:t>
                </a:r>
                <a:r>
                  <a:rPr lang="ru-RU" sz="2200" dirty="0" smtClean="0"/>
                  <a:t>смотреть</a:t>
                </a:r>
                <a:r>
                  <a:rPr lang="ru-RU" sz="2200" b="1" dirty="0" smtClean="0"/>
                  <a:t> на набор значений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b="1" i="1" dirty="0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sz="2200" b="1" dirty="0" smtClean="0"/>
                  <a:t> </a:t>
                </a:r>
              </a:p>
              <a:p>
                <a:pPr marL="0" indent="0">
                  <a:buNone/>
                </a:pPr>
                <a:r>
                  <a:rPr lang="ru-RU" sz="2200" b="1" dirty="0" smtClean="0"/>
                  <a:t>Реализация:</a:t>
                </a:r>
                <a:r>
                  <a:rPr lang="en-US" sz="2200" b="1" dirty="0" smtClean="0"/>
                  <a:t> </a:t>
                </a:r>
                <a:r>
                  <a:rPr lang="ru-RU" sz="2200" dirty="0" smtClean="0"/>
                  <a:t>Пусть </a:t>
                </a:r>
                <a:r>
                  <a:rPr lang="ru-RU" sz="2200" dirty="0" err="1" smtClean="0"/>
                  <a:t>энкодер</a:t>
                </a:r>
                <a:r>
                  <a:rPr lang="ru-RU" sz="2200" dirty="0" smtClean="0"/>
                  <a:t> глубины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00" dirty="0" smtClean="0"/>
                  <a:t> </a:t>
                </a:r>
                <a:r>
                  <a:rPr lang="ru-RU" sz="2200" dirty="0" smtClean="0"/>
                  <a:t>и  горизонт предсказания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ru-RU" sz="2200" dirty="0" smtClean="0"/>
              </a:p>
              <a:p>
                <a:pPr marL="0" indent="0">
                  <a:buNone/>
                </a:pPr>
                <a:r>
                  <a:rPr lang="ru-RU" sz="2200" b="1" dirty="0" smtClean="0"/>
                  <a:t>Перепишем</a:t>
                </a:r>
                <a:r>
                  <a:rPr lang="en-US" sz="2200" b="1" dirty="0" smtClean="0"/>
                  <a:t> </a:t>
                </a:r>
                <a:r>
                  <a:rPr lang="ru-RU" sz="2200" b="1" dirty="0" smtClean="0"/>
                  <a:t>скрытое состояние декодер </a:t>
                </a:r>
                <a:r>
                  <a:rPr lang="en-US" sz="2200" b="1" dirty="0" smtClean="0"/>
                  <a:t>Seq2Seq RNN</a:t>
                </a:r>
                <a:endParaRPr lang="ru-RU" sz="22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1" i="1" dirty="0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ru-RU" sz="2200" b="1" dirty="0" smtClean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2200" i="1" dirty="0" err="1">
                    <a:latin typeface="Cambria Math" panose="02040503050406030204" pitchFamily="18" charset="0"/>
                  </a:rPr>
                  <a:t>гд</a:t>
                </a:r>
                <a:r>
                  <a:rPr lang="ru-RU" sz="2200" i="1" dirty="0" smtClean="0">
                    <a:latin typeface="Cambria Math" panose="02040503050406030204" pitchFamily="18" charset="0"/>
                  </a:rPr>
                  <a:t>е</a:t>
                </a:r>
                <a14:m>
                  <m:oMath xmlns:m="http://schemas.openxmlformats.org/officeDocument/2006/math"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25"/>
                          </m:rPr>
                          <a:rPr lang="en-US" sz="22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brk m:alnAt="25"/>
                          </m:rPr>
                          <a:rPr lang="en-US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200" i="1" dirty="0">
                    <a:latin typeface="Cambria Math" panose="02040503050406030204" pitchFamily="18" charset="0"/>
                  </a:rPr>
                  <a:t>- текущее скрытое состояние</a:t>
                </a:r>
                <a:r>
                  <a:rPr lang="en-US" sz="22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200" i="1" dirty="0" smtClean="0">
                    <a:latin typeface="Cambria Math" panose="02040503050406030204" pitchFamily="18" charset="0"/>
                  </a:rPr>
                  <a:t>(</a:t>
                </a:r>
                <a:r>
                  <a:rPr lang="ru-RU" sz="2200" i="1" dirty="0" smtClean="0">
                    <a:latin typeface="Cambria Math" panose="02040503050406030204" pitchFamily="18" charset="0"/>
                  </a:rPr>
                  <a:t>контекст), 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как результат предыдущих (</a:t>
                </a:r>
                <a:r>
                  <a:rPr lang="en-US" sz="2200" i="1" dirty="0" err="1">
                    <a:latin typeface="Cambria Math" panose="02040503050406030204" pitchFamily="18" charset="0"/>
                  </a:rPr>
                  <a:t>p,q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) состояний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2200" i="1" dirty="0" err="1">
                    <a:latin typeface="Cambria Math" panose="02040503050406030204" pitchFamily="18" charset="0"/>
                  </a:rPr>
                  <a:t>Та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кая идея </a:t>
                </a:r>
                <a:r>
                  <a:rPr lang="ru-RU" sz="2200" i="1" dirty="0" smtClean="0">
                    <a:latin typeface="Cambria Math" panose="02040503050406030204" pitchFamily="18" charset="0"/>
                  </a:rPr>
                  <a:t>называется 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внимание</a:t>
                </a:r>
                <a:r>
                  <a:rPr lang="ru-RU" sz="2200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ru-RU" sz="2200" i="1" dirty="0" err="1" smtClean="0">
                    <a:latin typeface="Cambria Math" panose="02040503050406030204" pitchFamily="18" charset="0"/>
                  </a:rPr>
                  <a:t>энкодер</a:t>
                </a:r>
                <a:r>
                  <a:rPr lang="ru-RU" sz="2200" i="1" dirty="0" smtClean="0">
                    <a:latin typeface="Cambria Math" panose="02040503050406030204" pitchFamily="18" charset="0"/>
                  </a:rPr>
                  <a:t>-декодер</a:t>
                </a:r>
                <a:endParaRPr lang="ru-RU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sz="2200" b="1" dirty="0" smtClean="0"/>
              </a:p>
              <a:p>
                <a:pPr marL="0" indent="0">
                  <a:buNone/>
                </a:pPr>
                <a:endParaRPr lang="ru-RU" sz="2200" b="1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E043784-8F80-5804-0527-435AD8BB70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207" y="732641"/>
                <a:ext cx="11731086" cy="5087918"/>
              </a:xfrm>
              <a:blipFill>
                <a:blip r:embed="rId3"/>
                <a:stretch>
                  <a:fillRect l="-675" t="-1557" r="-2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AB187092-B5EF-33CC-9675-B208B075D2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580579" y="5278390"/>
                <a:ext cx="620368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200"/>
                  </a:spcBef>
                </a:pPr>
                <a:r>
                  <a:rPr lang="ru-RU" i="1" dirty="0" smtClean="0">
                    <a:latin typeface="Cambria Math" panose="02040503050406030204" pitchFamily="18" charset="0"/>
                  </a:rPr>
                  <a:t>В примере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i="1" dirty="0" smtClean="0">
                    <a:latin typeface="Cambria Math" panose="02040503050406030204" pitchFamily="18" charset="0"/>
                  </a:rPr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ru-RU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en-US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i="1" dirty="0" smtClean="0">
                    <a:latin typeface="Cambria Math" panose="02040503050406030204" pitchFamily="18" charset="0"/>
                  </a:rPr>
                </a:br>
                <a:r>
                  <a:rPr lang="ru-RU" i="1" dirty="0" smtClean="0">
                    <a:latin typeface="Cambria Math" panose="02040503050406030204" pitchFamily="18" charset="0"/>
                  </a:rPr>
                  <a:t>создается новый вектор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ru-RU" i="1" dirty="0" smtClean="0">
                    <a:latin typeface="Cambria Math" panose="02040503050406030204" pitchFamily="18" charset="0"/>
                  </a:rPr>
                  <a:t> для  предсказания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ru-RU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79" y="5278390"/>
                <a:ext cx="6203680" cy="646331"/>
              </a:xfrm>
              <a:prstGeom prst="rect">
                <a:avLst/>
              </a:prstGeom>
              <a:blipFill>
                <a:blip r:embed="rId4"/>
                <a:stretch>
                  <a:fillRect l="-786" t="-6604" b="-132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3589" y="3676479"/>
            <a:ext cx="4987738" cy="30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4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790A6-B18E-84C1-CEF6-BD3F4BD07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E5488-89EB-0E0A-4510-645ACDFDE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8" y="232406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ru-RU" b="1" dirty="0" smtClean="0"/>
              <a:t>блока внимания </a:t>
            </a:r>
            <a:r>
              <a:rPr lang="ru-RU" dirty="0" err="1"/>
              <a:t>Seq</a:t>
            </a:r>
            <a:r>
              <a:rPr lang="en-US" dirty="0"/>
              <a:t>2Seq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CB84CAF-915D-223E-8BD5-3C8A6DF034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288" y="752422"/>
                <a:ext cx="11731086" cy="568382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i="1" dirty="0" smtClean="0"/>
                  <a:t>Зададим блок внимания: </a:t>
                </a:r>
                <a:endParaRPr lang="ru-RU" sz="2200" i="1" dirty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200" b="0" i="1" dirty="0" smtClean="0">
                          <a:latin typeface="Cambria Math" panose="02040503050406030204" pitchFamily="18" charset="0"/>
                        </a:rPr>
                        <m:t>𝑠𝑜𝑓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𝑡𝑚𝑎𝑥</m:t>
                      </m:r>
                      <m:d>
                        <m:d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  <m:sSup>
                            <m:sSup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ru-RU" sz="2200" i="1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2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ru-RU" sz="22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00" dirty="0" smtClean="0"/>
                  <a:t> </a:t>
                </a:r>
                <a:r>
                  <a:rPr lang="en-US" sz="2200" dirty="0"/>
                  <a:t> –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𝒒𝒖𝒆𝒓𝒚</m:t>
                    </m:r>
                  </m:oMath>
                </a14:m>
                <a:r>
                  <a:rPr lang="en-US" sz="2200" dirty="0" smtClean="0"/>
                  <a:t> </a:t>
                </a:r>
                <a:r>
                  <a:rPr lang="en-US" sz="2200" dirty="0"/>
                  <a:t>– </a:t>
                </a:r>
                <a:r>
                  <a:rPr lang="en-US" sz="2200" dirty="0" err="1"/>
                  <a:t>запро</a:t>
                </a:r>
                <a:r>
                  <a:rPr lang="ru-RU" sz="2200" dirty="0"/>
                  <a:t>с (важность информации декодера</a:t>
                </a:r>
                <a:r>
                  <a:rPr lang="ru-RU" sz="2200" dirty="0" smtClean="0"/>
                  <a:t>)</a:t>
                </a:r>
                <a:r>
                  <a:rPr lang="en-US" sz="2200" dirty="0" smtClean="0"/>
                  <a:t>,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ru-RU" sz="22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US" sz="2200" dirty="0" smtClean="0"/>
                  <a:t> 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𝒌𝒆𝒚</m:t>
                    </m:r>
                  </m:oMath>
                </a14:m>
                <a:r>
                  <a:rPr lang="en-US" sz="2200" dirty="0"/>
                  <a:t> –</a:t>
                </a:r>
                <a:r>
                  <a:rPr lang="ru-RU" sz="2200" dirty="0"/>
                  <a:t> </a:t>
                </a:r>
                <a:r>
                  <a:rPr lang="ru-RU" sz="2200" dirty="0" err="1"/>
                  <a:t>ключь</a:t>
                </a:r>
                <a:r>
                  <a:rPr lang="ru-RU" sz="2200" dirty="0"/>
                  <a:t> – важность информации </a:t>
                </a:r>
                <a:r>
                  <a:rPr lang="ru-RU" sz="2200" dirty="0" err="1" smtClean="0"/>
                  <a:t>энкодера</a:t>
                </a:r>
                <a:r>
                  <a:rPr lang="ru-RU" sz="2200" dirty="0" smtClean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ru-RU" sz="22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2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ru-RU" sz="22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200" i="1" dirty="0"/>
                  <a:t>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𝒗𝒂𝒍𝒖𝒆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важность информации </a:t>
                </a:r>
                <a:r>
                  <a:rPr lang="ru-RU" sz="2200" dirty="0" err="1"/>
                  <a:t>энкодара</a:t>
                </a:r>
                <a:r>
                  <a:rPr lang="ru-RU" sz="2200" dirty="0"/>
                  <a:t> на текущем шаге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22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/>
                  <a:t>важность значений</a:t>
                </a:r>
                <a:r>
                  <a:rPr lang="en-US" sz="22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u-RU" sz="2200" dirty="0"/>
                  <a:t> для текущего </a:t>
                </a:r>
                <a:r>
                  <a:rPr lang="ru-RU" sz="2200" dirty="0" err="1"/>
                  <a:t>предсказкания</a:t>
                </a:r>
                <a:r>
                  <a:rPr lang="ru-RU" sz="2200" dirty="0"/>
                  <a:t> </a:t>
                </a:r>
                <a:r>
                  <a:rPr lang="ru-RU" sz="2200" i="1" dirty="0"/>
                  <a:t>(вес от 0 до 1) </a:t>
                </a:r>
                <a:endParaRPr lang="ru-RU" sz="2200" dirty="0"/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b="1" dirty="0" smtClean="0"/>
                  <a:t>Интуиция</a:t>
                </a:r>
                <a:r>
                  <a:rPr lang="en-US" sz="2200" b="1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 smtClean="0"/>
                  <a:t>: если </a:t>
                </a:r>
                <a:r>
                  <a:rPr lang="en" sz="2200" dirty="0" smtClean="0"/>
                  <a:t>decoder</a:t>
                </a:r>
                <a:r>
                  <a:rPr lang="ru-RU" sz="2200" dirty="0" smtClean="0"/>
                  <a:t> (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sz="2200" dirty="0" smtClean="0"/>
                  <a:t>)</a:t>
                </a:r>
                <a:r>
                  <a:rPr lang="en" sz="2200" dirty="0" smtClean="0"/>
                  <a:t> </a:t>
                </a:r>
                <a:r>
                  <a:rPr lang="ru-RU" sz="2200" dirty="0"/>
                  <a:t>прогнозирует </a:t>
                </a:r>
                <a:r>
                  <a:rPr lang="ru-RU" sz="2200" dirty="0" smtClean="0"/>
                  <a:t>трафик в пятницу, </a:t>
                </a:r>
                <a:r>
                  <a:rPr lang="ru-RU" sz="2200" i="1" dirty="0" smtClean="0"/>
                  <a:t>важность</a:t>
                </a:r>
                <a:r>
                  <a:rPr lang="en-US" sz="2200" i="1" dirty="0" smtClean="0"/>
                  <a:t> </a:t>
                </a:r>
                <a:r>
                  <a:rPr lang="ru-RU" sz="2200" i="1" dirty="0" smtClean="0"/>
                  <a:t>предыдущих значений </a:t>
                </a:r>
                <a:r>
                  <a:rPr lang="ru-RU" sz="2200" dirty="0" smtClean="0"/>
                  <a:t>пятниц </a:t>
                </a:r>
                <a:r>
                  <a:rPr lang="en-US" sz="2200" dirty="0" smtClean="0"/>
                  <a:t>(K)</a:t>
                </a:r>
                <a:r>
                  <a:rPr lang="ru-RU" sz="2200" dirty="0" smtClean="0"/>
                  <a:t> будет большой.</a:t>
                </a:r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=1/√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2200" i="1" dirty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200" dirty="0"/>
                  <a:t>размерность векторов</a:t>
                </a:r>
                <a:r>
                  <a:rPr lang="en-US" sz="2200" dirty="0"/>
                  <a:t> </a:t>
                </a:r>
                <a:endParaRPr lang="ru-RU" sz="22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Интерпретация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ru-RU" sz="2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sz="2200" dirty="0"/>
                  <a:t> – может меняться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Указанная </a:t>
                </a:r>
                <a:r>
                  <a:rPr lang="ru-RU" sz="2200" dirty="0" err="1"/>
                  <a:t>трактова</a:t>
                </a:r>
                <a:r>
                  <a:rPr lang="ru-RU" sz="2200" dirty="0"/>
                  <a:t> внимания – это т.н. </a:t>
                </a:r>
                <a:br>
                  <a:rPr lang="ru-RU" sz="2200" dirty="0"/>
                </a:br>
                <a:r>
                  <a:rPr lang="en-US" sz="2200" b="1" dirty="0"/>
                  <a:t>Encoder-decoder attention (</a:t>
                </a:r>
                <a:r>
                  <a:rPr lang="en-US" sz="2200" b="1" dirty="0" err="1"/>
                  <a:t>corss</a:t>
                </a:r>
                <a:r>
                  <a:rPr lang="en-US" sz="2200" b="1" dirty="0"/>
                  <a:t>-attention</a:t>
                </a:r>
                <a:r>
                  <a:rPr lang="en-US" sz="2200" b="1" dirty="0">
                    <a:latin typeface="Cambria Math" panose="02040503050406030204" pitchFamily="18" charset="0"/>
                  </a:rPr>
                  <a:t>)</a:t>
                </a:r>
                <a:endParaRPr lang="ru-RU" sz="2200" b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CB84CAF-915D-223E-8BD5-3C8A6DF034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288" y="752422"/>
                <a:ext cx="11731086" cy="5683828"/>
              </a:xfrm>
              <a:blipFill>
                <a:blip r:embed="rId3"/>
                <a:stretch>
                  <a:fillRect l="-676" t="-6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72783A13-7FFF-46B6-5D83-5A332A10CB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C1DC0-275A-F3EA-23CC-B8D7831E937A}"/>
              </a:ext>
            </a:extLst>
          </p:cNvPr>
          <p:cNvSpPr txBox="1"/>
          <p:nvPr/>
        </p:nvSpPr>
        <p:spPr>
          <a:xfrm>
            <a:off x="2013204" y="6436250"/>
            <a:ext cx="78607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100" dirty="0"/>
              <a:t>https://</a:t>
            </a:r>
            <a:r>
              <a:rPr lang="en" sz="1100" dirty="0" err="1"/>
              <a:t>epichka.com</a:t>
            </a:r>
            <a:r>
              <a:rPr lang="en" sz="1100" dirty="0"/>
              <a:t>/blog/2023/</a:t>
            </a:r>
            <a:r>
              <a:rPr lang="en" sz="1100" dirty="0" err="1"/>
              <a:t>qkv</a:t>
            </a:r>
            <a:r>
              <a:rPr lang="en" sz="1100" dirty="0"/>
              <a:t>-transformer/</a:t>
            </a:r>
            <a:endParaRPr lang="ru-RU" sz="1100" dirty="0"/>
          </a:p>
        </p:txBody>
      </p:sp>
      <p:pic>
        <p:nvPicPr>
          <p:cNvPr id="5128" name="Picture 8" descr="cross_attention_">
            <a:extLst>
              <a:ext uri="{FF2B5EF4-FFF2-40B4-BE49-F238E27FC236}">
                <a16:creationId xmlns:a16="http://schemas.microsoft.com/office/drawing/2014/main" id="{CF4795A2-3425-32D3-4F1E-532AF0D13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831" y="3429000"/>
            <a:ext cx="5708609" cy="2854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5B14CF6-1C52-7877-66A6-9D30E8804FE6}"/>
              </a:ext>
            </a:extLst>
          </p:cNvPr>
          <p:cNvSpPr txBox="1"/>
          <p:nvPr/>
        </p:nvSpPr>
        <p:spPr>
          <a:xfrm>
            <a:off x="6248400" y="643625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www.geeksforgeeks.org</a:t>
            </a:r>
            <a:r>
              <a:rPr lang="ru-RU" sz="1100" dirty="0"/>
              <a:t>/</a:t>
            </a:r>
            <a:r>
              <a:rPr lang="ru-RU" sz="1100" dirty="0" err="1"/>
              <a:t>nlp</a:t>
            </a:r>
            <a:r>
              <a:rPr lang="ru-RU" sz="1100" dirty="0"/>
              <a:t>/</a:t>
            </a:r>
            <a:r>
              <a:rPr lang="ru-RU" sz="1100" dirty="0" err="1"/>
              <a:t>cross-attention-mechanism-in-transformers</a:t>
            </a:r>
            <a:r>
              <a:rPr lang="ru-RU" sz="11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748231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1554" y="149226"/>
            <a:ext cx="10515600" cy="52961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Пример работы слоя внимания </a:t>
            </a:r>
            <a:r>
              <a:rPr lang="en-US" b="1" dirty="0"/>
              <a:t>Encoder-decoder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7650" y="678836"/>
                <a:ext cx="11307098" cy="604581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1900" dirty="0" smtClean="0"/>
                  <a:t>Пусть есть </a:t>
                </a:r>
                <a:r>
                  <a:rPr lang="ru-RU" sz="1900" dirty="0"/>
                  <a:t>временной </a:t>
                </a:r>
                <a:r>
                  <a:rPr lang="ru-RU" sz="1900" dirty="0" smtClean="0"/>
                  <a:t>ряд:</a:t>
                </a:r>
                <a:r>
                  <a:rPr lang="en-US" sz="19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19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" sz="19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" sz="1900" i="1" dirty="0">
                            <a:latin typeface="Cambria Math" panose="02040503050406030204" pitchFamily="18" charset="0"/>
                          </a:rPr>
                          <m:t>​</m:t>
                        </m:r>
                      </m:sub>
                    </m:sSub>
                    <m:r>
                      <a:rPr lang="en" sz="19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" sz="1900" dirty="0"/>
                  <a:t>​</a:t>
                </a:r>
                <a:r>
                  <a:rPr lang="en" sz="1900" dirty="0" smtClean="0"/>
                  <a:t>,</a:t>
                </a:r>
              </a:p>
              <a:p>
                <a:pPr marL="0" indent="0">
                  <a:buNone/>
                </a:pPr>
                <a:r>
                  <a:rPr lang="ru-RU" sz="1900" dirty="0" smtClean="0"/>
                  <a:t>хотим </a:t>
                </a:r>
                <a:r>
                  <a:rPr lang="ru-RU" sz="1900" dirty="0"/>
                  <a:t>спрогнозировать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" sz="1900" dirty="0" smtClean="0"/>
                  <a:t>, </a:t>
                </a:r>
                <a:r>
                  <a:rPr lang="ru-RU" sz="1900" dirty="0"/>
                  <a:t>используя историю из 3 шагов:</a:t>
                </a:r>
              </a:p>
              <a:p>
                <a:r>
                  <a:rPr lang="en" sz="1900" dirty="0"/>
                  <a:t>Encoder: RNN </a:t>
                </a:r>
                <a:r>
                  <a:rPr lang="en" sz="1900" dirty="0" smtClean="0"/>
                  <a:t>, </a:t>
                </a:r>
                <a:r>
                  <a:rPr lang="ru-RU" sz="1900" dirty="0"/>
                  <a:t>обрабатывает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9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1900" i="1" dirty="0">
                        <a:latin typeface="Cambria Math" panose="02040503050406030204" pitchFamily="18" charset="0"/>
                      </a:rPr>
                      <m:t>​,</m:t>
                    </m:r>
                    <m:sSub>
                      <m:sSubPr>
                        <m:ctrlPr>
                          <a:rPr lang="ru-RU" sz="19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>
                            <a:latin typeface="Cambria Math" panose="02040503050406030204" pitchFamily="18" charset="0"/>
                          </a:rPr>
                          <m:t>2​</m:t>
                        </m:r>
                      </m:sub>
                    </m:sSub>
                    <m:r>
                      <a:rPr lang="en" sz="19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9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" sz="1900" dirty="0" smtClean="0"/>
                  <a:t>​</a:t>
                </a:r>
                <a:endParaRPr lang="ru-RU" sz="1900" dirty="0" smtClean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" sz="19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" sz="1900" i="1" dirty="0" smtClean="0">
                          <a:latin typeface="Cambria Math" panose="02040503050406030204" pitchFamily="18" charset="0"/>
                        </a:rPr>
                        <m:t>1​=</m:t>
                      </m:r>
                      <m:d>
                        <m:dPr>
                          <m:begChr m:val="["/>
                          <m:endChr m:val="]"/>
                          <m:ctrlPr>
                            <a:rPr lang="en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sz="1900" i="1" dirty="0">
                              <a:latin typeface="Cambria Math" panose="02040503050406030204" pitchFamily="18" charset="0"/>
                            </a:rPr>
                            <m:t>0.1,0.9</m:t>
                          </m:r>
                        </m:e>
                      </m:d>
                      <m:r>
                        <a:rPr lang="en" sz="19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19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" sz="1900" i="1" dirty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" sz="1900" i="1" dirty="0">
                          <a:latin typeface="Cambria Math" panose="02040503050406030204" pitchFamily="18" charset="0"/>
                        </a:rPr>
                        <m:t>2​=</m:t>
                      </m:r>
                      <m:d>
                        <m:dPr>
                          <m:begChr m:val="["/>
                          <m:endChr m:val="]"/>
                          <m:ctrlPr>
                            <a:rPr lang="en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sz="1900" i="1" dirty="0">
                              <a:latin typeface="Cambria Math" panose="02040503050406030204" pitchFamily="18" charset="0"/>
                            </a:rPr>
                            <m:t>0.4,0.6</m:t>
                          </m:r>
                        </m:e>
                      </m:d>
                      <m:r>
                        <a:rPr lang="en" sz="19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19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" sz="1900" i="1" dirty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" sz="1900" i="1" dirty="0">
                          <a:latin typeface="Cambria Math" panose="02040503050406030204" pitchFamily="18" charset="0"/>
                        </a:rPr>
                        <m:t>3​=[0.8,0.2]</m:t>
                      </m:r>
                    </m:oMath>
                  </m:oMathPara>
                </a14:m>
                <a:endParaRPr lang="en" sz="1900" dirty="0"/>
              </a:p>
              <a:p>
                <a:r>
                  <a:rPr lang="en" sz="1900" dirty="0"/>
                  <a:t>Decoder: </a:t>
                </a:r>
                <a:r>
                  <a:rPr lang="ru-RU" sz="1900" dirty="0"/>
                  <a:t>генерирует </a:t>
                </a:r>
                <a:r>
                  <a:rPr lang="ru-RU" sz="1900" dirty="0" smtClean="0"/>
                  <a:t>прогнозы </a:t>
                </a:r>
                <a:r>
                  <a:rPr lang="ru-RU" sz="1900" dirty="0" err="1" smtClean="0"/>
                  <a:t>авторегрессионно</a:t>
                </a:r>
                <a:r>
                  <a:rPr lang="ru-RU" sz="1900" dirty="0" smtClean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5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500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ru-RU" sz="15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" sz="1500" i="1" dirty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𝐿𝑖𝑛𝑒𝑎𝑟</m:t>
                    </m:r>
                    <m:d>
                      <m:dPr>
                        <m:ctrlPr>
                          <a:rPr lang="en" sz="1500" i="1" dirty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" sz="1500" i="1" dirty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ru-RU" sz="1500" b="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ru-RU" sz="15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5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5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5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b>
                          <m:sSubPr>
                            <m:ctrlPr>
                              <a:rPr lang="en-US" sz="1500" b="0" i="1" dirty="0" smtClean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dirty="0" smtClean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500" b="0" i="1" dirty="0" smtClean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500" b="0" i="1" dirty="0" smtClean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dirty="0" smtClean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b="0" i="1" dirty="0" smtClean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15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600" i="1" dirty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/>
                    </m:sSub>
                  </m:oMath>
                </a14:m>
                <a:r>
                  <a:rPr lang="en-US" sz="1600" dirty="0"/>
                  <a:t> - </a:t>
                </a:r>
                <a:r>
                  <a:rPr lang="ru-RU" sz="1600" dirty="0"/>
                  <a:t>веса </a:t>
                </a:r>
                <a:r>
                  <a:rPr lang="ru-RU" sz="1600" dirty="0" err="1"/>
                  <a:t>полносвязного</a:t>
                </a:r>
                <a:r>
                  <a:rPr lang="ru-RU" sz="1600" dirty="0"/>
                  <a:t> </a:t>
                </a:r>
                <a:r>
                  <a:rPr lang="ru-RU" sz="1600" dirty="0" smtClean="0"/>
                  <a:t>слоя</a:t>
                </a:r>
                <a:endParaRPr lang="ru-RU" sz="1500" dirty="0" smtClean="0"/>
              </a:p>
              <a:p>
                <a:r>
                  <a:rPr lang="ru-RU" sz="1900" dirty="0" smtClean="0"/>
                  <a:t>Пусть </a:t>
                </a:r>
                <a:r>
                  <a:rPr lang="ru-RU" sz="1900" dirty="0"/>
                  <a:t>размерность скрытых состояний </a:t>
                </a:r>
                <a:r>
                  <a:rPr lang="en" sz="1900" i="1" dirty="0"/>
                  <a:t>d</a:t>
                </a:r>
                <a:r>
                  <a:rPr lang="en" sz="1900" dirty="0"/>
                  <a:t>=2 ,</a:t>
                </a:r>
                <a:endParaRPr lang="ru-RU" sz="1900" dirty="0"/>
              </a:p>
              <a:p>
                <a:pPr marL="452438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190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" sz="190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" sz="1900" i="1" dirty="0" smtClean="0">
                          <a:latin typeface="Cambria Math" panose="02040503050406030204" pitchFamily="18" charset="0"/>
                        </a:rPr>
                        <m:t>​=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" sz="19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" sz="19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" sz="19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" sz="19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" sz="19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" sz="19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1900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" sz="19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" sz="1900" i="1" dirty="0">
                              <a:latin typeface="Cambria Math" panose="02040503050406030204" pitchFamily="18" charset="0"/>
                            </a:rPr>
                            <m:t>​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" sz="19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" sz="19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" sz="19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" sz="19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" sz="19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" sz="19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1900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" sz="19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" sz="1900" i="1" dirty="0">
                          <a:latin typeface="Cambria Math" panose="02040503050406030204" pitchFamily="18" charset="0"/>
                        </a:rPr>
                        <m:t>​=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" sz="19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9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" sz="19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" sz="19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9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" sz="1900" dirty="0"/>
              </a:p>
              <a:p>
                <a14:m>
                  <m:oMath xmlns:m="http://schemas.openxmlformats.org/officeDocument/2006/math">
                    <m:r>
                      <a:rPr lang="en" sz="19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" sz="19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9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" sz="1900" i="1" dirty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" sz="1900" i="1" dirty="0">
                        <a:latin typeface="Cambria Math" panose="02040503050406030204" pitchFamily="18" charset="0"/>
                      </a:rPr>
                      <m:t>​⋅</m:t>
                    </m:r>
                    <m:sSub>
                      <m:sSubPr>
                        <m:ctrlPr>
                          <a:rPr lang="en-US" sz="1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" sz="19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" sz="1900" i="1" dirty="0">
                        <a:latin typeface="Cambria Math" panose="02040503050406030204" pitchFamily="18" charset="0"/>
                      </a:rPr>
                      <m:t>​=[0.8,0.2]</m:t>
                    </m:r>
                  </m:oMath>
                </a14:m>
                <a:endParaRPr lang="en" sz="1900" dirty="0" smtClean="0"/>
              </a:p>
              <a:p>
                <a14:m>
                  <m:oMath xmlns:m="http://schemas.openxmlformats.org/officeDocument/2006/math">
                    <m:r>
                      <a:rPr lang="en-US" sz="1900" i="1" dirty="0">
                        <a:latin typeface="Cambria Math" panose="02040503050406030204" pitchFamily="18" charset="0"/>
                      </a:rPr>
                      <m:t>𝑠𝑐𝑜𝑟</m:t>
                    </m:r>
                    <m:sSub>
                      <m:sSubPr>
                        <m:ctrlPr>
                          <a:rPr lang="en-US" sz="1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00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1900" b="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900" i="1" dirty="0">
                        <a:latin typeface="Cambria Math" panose="02040503050406030204" pitchFamily="18" charset="0"/>
                      </a:rPr>
                      <m:t>𝑄</m:t>
                    </m:r>
                    <m:sSubSup>
                      <m:sSubSupPr>
                        <m:ctrlPr>
                          <a:rPr lang="en-US" sz="19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1900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" sz="1900" dirty="0"/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𝑠𝑐𝑜𝑟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1900" b="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0.707⋅</m:t>
                    </m:r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[0.8,0.2]⋅</m:t>
                    </m:r>
                    <m:sSup>
                      <m:sSupPr>
                        <m:ctrlPr>
                          <a:rPr lang="en-US" sz="19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" sz="1900" i="1" dirty="0" smtClean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" sz="1900" i="1" dirty="0" smtClean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  <m:t>0.1,0.9</m:t>
                            </m:r>
                          </m:e>
                        </m:d>
                      </m:e>
                      <m:sup>
                        <m:r>
                          <a:rPr lang="en-US" sz="19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i="1" dirty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0.707⋅</m:t>
                    </m:r>
                    <m:r>
                      <a:rPr lang="en-US" sz="1900" b="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0.8×0.1+0.2×0.9</m:t>
                    </m:r>
                    <m:r>
                      <a:rPr lang="en-US" sz="1900" b="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1900" b="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" sz="1900" dirty="0">
                  <a:solidFill>
                    <a:srgbClr val="2C2C36"/>
                  </a:solidFill>
                  <a:latin typeface="system-ui"/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𝑠𝑐𝑜𝑟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1900" i="1" dirty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0.707⋅</m:t>
                    </m:r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[0.8,0.2]⋅</m:t>
                    </m:r>
                    <m:sSup>
                      <m:sSupPr>
                        <m:ctrlPr>
                          <a:rPr lang="en-US" sz="19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" sz="1900" i="1" dirty="0" smtClean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" sz="1900" i="1" dirty="0" smtClean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  <m:t>0.4,0.6</m:t>
                            </m:r>
                          </m:e>
                        </m:d>
                      </m:e>
                      <m:sup>
                        <m:r>
                          <a:rPr lang="en-US" sz="1900" i="1" dirty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1900" b="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311</m:t>
                    </m:r>
                  </m:oMath>
                </a14:m>
                <a:endParaRPr lang="en" sz="1900" dirty="0">
                  <a:solidFill>
                    <a:srgbClr val="2C2C36"/>
                  </a:solidFill>
                  <a:latin typeface="system-ui"/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𝑠𝑐𝑜𝑟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1900" i="1" dirty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0.707⋅</m:t>
                    </m:r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[0.8,0.2]⋅</m:t>
                    </m:r>
                    <m:sSup>
                      <m:sSupPr>
                        <m:ctrlPr>
                          <a:rPr lang="en-US" sz="19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" sz="1900" i="1" dirty="0" smtClean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" sz="1900" i="1" dirty="0" smtClean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  <m:t>0.8,0.2</m:t>
                            </m:r>
                          </m:e>
                        </m:d>
                      </m:e>
                      <m:sup>
                        <m:r>
                          <a:rPr lang="en-US" sz="19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1900" b="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" sz="1900" dirty="0">
                  <a:solidFill>
                    <a:srgbClr val="2C2C36"/>
                  </a:solidFill>
                  <a:latin typeface="system-ui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90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9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" sz="1900" i="1" dirty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​=</m:t>
                    </m:r>
                    <m:r>
                      <a:rPr lang="en" sz="1900" i="1" dirty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" sz="1900" i="1" dirty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" sz="1900" i="1" dirty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𝑠𝑐𝑜𝑟</m:t>
                        </m:r>
                        <m:sSub>
                          <m:sSubPr>
                            <m:ctrlPr>
                              <a:rPr lang="en-US" sz="1900" b="0" i="1" dirty="0" smtClean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" sz="1900" i="1" dirty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900" b="0" i="1" dirty="0" smtClean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" sz="1900" i="1" dirty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sz="1900" b="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a:rPr lang="en" sz="1900" i="1" dirty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1900" b="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900" b="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9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0.28,0.32.0.38</m:t>
                        </m:r>
                      </m:e>
                    </m:d>
                  </m:oMath>
                </a14:m>
                <a:endParaRPr lang="en" sz="1900" dirty="0">
                  <a:solidFill>
                    <a:srgbClr val="2C2C36"/>
                  </a:solidFill>
                  <a:latin typeface="system-ui"/>
                </a:endParaRPr>
              </a:p>
              <a:p>
                <a14:m>
                  <m:oMath xmlns:m="http://schemas.openxmlformats.org/officeDocument/2006/math">
                    <m:r>
                      <a:rPr lang="en" sz="1900" i="1" dirty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" sz="1900" i="1" dirty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" sz="1900" i="1" dirty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9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900" i="1" dirty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900" i="1" dirty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b>
                          <m:sSubPr>
                            <m:ctrlPr>
                              <a:rPr lang="en-US" sz="1900" i="1" dirty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900" i="1" dirty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900" b="0" i="1" dirty="0" smtClean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900" i="1" dirty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 dirty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900" b="0" i="1" dirty="0" smtClean="0">
                                <a:solidFill>
                                  <a:srgbClr val="2C2C36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ru-RU" sz="1900" i="1" dirty="0" smtClean="0">
                  <a:solidFill>
                    <a:srgbClr val="2C2C36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" sz="1900" i="1" spc="-50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" sz="1900" i="1" spc="-50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=0.28⋅[0.2,1.8]+0.32⋅[0.8,1.2]+0.38⋅[1.6,0.4] =[0.92,1.04]</m:t>
                    </m:r>
                  </m:oMath>
                </a14:m>
                <a:endParaRPr lang="en" sz="1900" dirty="0" smtClean="0">
                  <a:solidFill>
                    <a:srgbClr val="2C2C36"/>
                  </a:solidFill>
                  <a:latin typeface="system-ui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9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" sz="1900" i="1" dirty="0" smtClean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𝐿𝑖𝑛𝑒𝑎𝑟</m:t>
                    </m:r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" sz="190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" sz="1900" i="1" dirty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" sz="1900" i="1" dirty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1900" i="1" dirty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​⋅0.9</m:t>
                    </m:r>
                    <m:r>
                      <a:rPr lang="en-US" sz="1900" b="0" i="1" dirty="0" smtClean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" sz="1900" i="1" dirty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" sz="1900" i="1" dirty="0">
                            <a:solidFill>
                              <a:srgbClr val="2C2C3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1900" i="1" dirty="0">
                        <a:solidFill>
                          <a:srgbClr val="2C2C36"/>
                        </a:solidFill>
                        <a:latin typeface="Cambria Math" panose="02040503050406030204" pitchFamily="18" charset="0"/>
                      </a:rPr>
                      <m:t>​⋅1.04</m:t>
                    </m:r>
                  </m:oMath>
                </a14:m>
                <a:r>
                  <a:rPr lang="en-US" sz="1900" dirty="0" smtClean="0"/>
                  <a:t>, </a:t>
                </a:r>
                <a:endParaRPr lang="ru-RU" sz="1900" dirty="0" smtClean="0"/>
              </a:p>
              <a:p>
                <a:endParaRPr lang="ru-RU" sz="1900" dirty="0"/>
              </a:p>
              <a:p>
                <a:endParaRPr lang="ru-RU" sz="19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650" y="678836"/>
                <a:ext cx="11307098" cy="6045814"/>
              </a:xfrm>
              <a:blipFill>
                <a:blip r:embed="rId3"/>
                <a:stretch>
                  <a:fillRect l="-539" t="-13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527878"/>
                  </p:ext>
                </p:extLst>
              </p:nvPr>
            </p:nvGraphicFramePr>
            <p:xfrm>
              <a:off x="6523145" y="2420068"/>
              <a:ext cx="5029758" cy="1318872"/>
            </p:xfrm>
            <a:graphic>
              <a:graphicData uri="http://schemas.openxmlformats.org/drawingml/2006/table">
                <a:tbl>
                  <a:tblPr/>
                  <a:tblGrid>
                    <a:gridCol w="360223">
                      <a:extLst>
                        <a:ext uri="{9D8B030D-6E8A-4147-A177-3AD203B41FA5}">
                          <a16:colId xmlns:a16="http://schemas.microsoft.com/office/drawing/2014/main" val="2299429922"/>
                        </a:ext>
                      </a:extLst>
                    </a:gridCol>
                    <a:gridCol w="987552">
                      <a:extLst>
                        <a:ext uri="{9D8B030D-6E8A-4147-A177-3AD203B41FA5}">
                          <a16:colId xmlns:a16="http://schemas.microsoft.com/office/drawing/2014/main" val="7508714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844120334"/>
                        </a:ext>
                      </a:extLst>
                    </a:gridCol>
                    <a:gridCol w="2036063">
                      <a:extLst>
                        <a:ext uri="{9D8B030D-6E8A-4147-A177-3AD203B41FA5}">
                          <a16:colId xmlns:a16="http://schemas.microsoft.com/office/drawing/2014/main" val="334214037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:r>
                            <a:rPr lang="en" sz="1700" b="1" dirty="0" smtClean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n</a:t>
                          </a:r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:endParaRPr lang="en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0B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1700" b="1" dirty="0" smtClean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oMath>
                          </a14:m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:endParaRPr lang="en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0B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1700" b="1" dirty="0" smtClean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US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" sz="1700" b="1" i="1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sSub>
                                <m:sSubPr>
                                  <m:ctrlP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oMath>
                          </a14:m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:endParaRPr lang="en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0B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1700" b="1" dirty="0" smtClean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" sz="1700" b="1" i="1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sSub>
                                <m:sSubPr>
                                  <m:ctrlP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sub>
                              </m:sSub>
                              <m:r>
                                <a:rPr lang="en" sz="1700" b="1" i="1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" sz="1700" b="1" i="1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" sz="1700" b="1" i="1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0B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45467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1</a:t>
                          </a:r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[0.1, 0.9]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[0.1, 0.9]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[0.2, 1.8]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821931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2</a:t>
                          </a:r>
                          <a:endParaRPr lang="ru-RU" sz="170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[0.4, 0.6]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[0.4, 0.6]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[0.8, 1.2]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62342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3</a:t>
                          </a:r>
                          <a:endParaRPr lang="ru-RU" sz="170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[0.8, 0.2]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[0.8, 0.2]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[1.6, 0.4]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182032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527878"/>
                  </p:ext>
                </p:extLst>
              </p:nvPr>
            </p:nvGraphicFramePr>
            <p:xfrm>
              <a:off x="6523145" y="2420068"/>
              <a:ext cx="5029758" cy="1350495"/>
            </p:xfrm>
            <a:graphic>
              <a:graphicData uri="http://schemas.openxmlformats.org/drawingml/2006/table">
                <a:tbl>
                  <a:tblPr/>
                  <a:tblGrid>
                    <a:gridCol w="360223">
                      <a:extLst>
                        <a:ext uri="{9D8B030D-6E8A-4147-A177-3AD203B41FA5}">
                          <a16:colId xmlns:a16="http://schemas.microsoft.com/office/drawing/2014/main" val="2299429922"/>
                        </a:ext>
                      </a:extLst>
                    </a:gridCol>
                    <a:gridCol w="987552">
                      <a:extLst>
                        <a:ext uri="{9D8B030D-6E8A-4147-A177-3AD203B41FA5}">
                          <a16:colId xmlns:a16="http://schemas.microsoft.com/office/drawing/2014/main" val="7508714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844120334"/>
                        </a:ext>
                      </a:extLst>
                    </a:gridCol>
                    <a:gridCol w="2036063">
                      <a:extLst>
                        <a:ext uri="{9D8B030D-6E8A-4147-A177-3AD203B41FA5}">
                          <a16:colId xmlns:a16="http://schemas.microsoft.com/office/drawing/2014/main" val="3342140378"/>
                        </a:ext>
                      </a:extLst>
                    </a:gridCol>
                  </a:tblGrid>
                  <a:tr h="36134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:r>
                            <a:rPr lang="en" sz="1700" b="1" dirty="0" smtClean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n</a:t>
                          </a:r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:endParaRPr lang="en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0B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037" t="-5000" r="-374074" b="-29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1919" t="-5000" r="-123616" b="-29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7605" t="-5000" r="-299" b="-29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4546755"/>
                      </a:ext>
                    </a:extLst>
                  </a:tr>
                  <a:tr h="32971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1</a:t>
                          </a:r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037" t="-116667" r="-374074" b="-23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1919" t="-116667" r="-123616" b="-23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7605" t="-116667" r="-299" b="-2314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8219310"/>
                      </a:ext>
                    </a:extLst>
                  </a:tr>
                  <a:tr h="32971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2</a:t>
                          </a:r>
                          <a:endParaRPr lang="ru-RU" sz="170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037" t="-212727" r="-374074" b="-1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1919" t="-212727" r="-123616" b="-1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7605" t="-212727" r="-299" b="-12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6234226"/>
                      </a:ext>
                    </a:extLst>
                  </a:tr>
                  <a:tr h="32971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3</a:t>
                          </a:r>
                          <a:endParaRPr lang="ru-RU" sz="170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037" t="-318519" r="-374074" b="-29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1919" t="-318519" r="-123616" b="-29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7605" t="-318519" r="-299" b="-296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82032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6913A18-E42E-DC4F-696D-7667DB03A85C}"/>
              </a:ext>
            </a:extLst>
          </p:cNvPr>
          <p:cNvSpPr txBox="1"/>
          <p:nvPr/>
        </p:nvSpPr>
        <p:spPr>
          <a:xfrm>
            <a:off x="7286625" y="4992951"/>
            <a:ext cx="49053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solidFill>
                  <a:srgbClr val="2C2C36"/>
                </a:solidFill>
                <a:effectLst/>
              </a:rPr>
              <a:t>При прогнозировании нагрузки на электросеть в 18:00, модель может "обратить внимание" на:</a:t>
            </a:r>
          </a:p>
          <a:p>
            <a:pPr marL="2857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C2C36"/>
                </a:solidFill>
                <a:effectLst/>
              </a:rPr>
              <a:t>аналогичное время вчера,</a:t>
            </a:r>
          </a:p>
          <a:p>
            <a:pPr marL="2857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C2C36"/>
                </a:solidFill>
                <a:effectLst/>
              </a:rPr>
              <a:t>пик в 19:00 прошлой пятницы (выходные),</a:t>
            </a:r>
          </a:p>
          <a:p>
            <a:pPr marL="2857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C2C36"/>
                </a:solidFill>
                <a:effectLst/>
              </a:rPr>
              <a:t>резкий скачок из-за шторма неделю назад.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 flipV="1">
            <a:off x="7141915" y="4739148"/>
            <a:ext cx="29158" cy="2118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64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6B2C3-9014-036C-C47A-00FDD261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AC2F7-7DD6-4F4B-39E7-F28DCA46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44" y="236131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режиме </a:t>
            </a:r>
            <a:r>
              <a:rPr lang="ru-RU" dirty="0" smtClean="0"/>
              <a:t>одного блока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C35C589-C055-E0E5-21C6-39FDA2A3D6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288" y="671449"/>
                <a:ext cx="11738012" cy="568382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b="1" dirty="0" smtClean="0">
                    <a:latin typeface="Cambria Math" panose="02040503050406030204" pitchFamily="18" charset="0"/>
                  </a:rPr>
                  <a:t>Гипотеза</a:t>
                </a:r>
                <a:r>
                  <a:rPr lang="ru-RU" sz="2200" dirty="0">
                    <a:latin typeface="Cambria Math" panose="02040503050406030204" pitchFamily="18" charset="0"/>
                  </a:rPr>
                  <a:t>: анализ набора скрытых </a:t>
                </a:r>
                <a:r>
                  <a:rPr lang="ru-RU" sz="2200" dirty="0" smtClean="0">
                    <a:latin typeface="Cambria Math" panose="02040503050406030204" pitchFamily="18" charset="0"/>
                  </a:rPr>
                  <a:t>состояний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ru-RU" sz="2200" dirty="0" smtClean="0">
                    <a:latin typeface="Cambria Math" panose="02040503050406030204" pitchFamily="18" charset="0"/>
                  </a:rPr>
                  <a:t>  </a:t>
                </a:r>
                <a:r>
                  <a:rPr lang="ru-RU" sz="2200" dirty="0">
                    <a:latin typeface="Cambria Math" panose="02040503050406030204" pitchFamily="18" charset="0"/>
                  </a:rPr>
                  <a:t>позволяет </a:t>
                </a:r>
                <a:r>
                  <a:rPr lang="ru-RU" sz="2200" dirty="0"/>
                  <a:t>выявить внутренние зависимости </a:t>
                </a:r>
                <a:r>
                  <a:rPr lang="ru-RU" sz="2200" dirty="0" smtClean="0"/>
                  <a:t>ВР при формировании состояния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200" dirty="0" smtClean="0"/>
                  <a:t> </a:t>
                </a:r>
                <a:r>
                  <a:rPr lang="ru-RU" sz="2200" dirty="0" smtClean="0"/>
                  <a:t>в </a:t>
                </a:r>
                <a:r>
                  <a:rPr lang="ru-RU" sz="2200" dirty="0" err="1" smtClean="0"/>
                  <a:t>энкодере</a:t>
                </a:r>
                <a:r>
                  <a:rPr lang="ru-RU" sz="2200" dirty="0" smtClean="0"/>
                  <a:t>. В том числе:</a:t>
                </a:r>
                <a:endParaRPr lang="en-US" sz="2200" dirty="0" smtClean="0"/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 smtClean="0"/>
                  <a:t>— Схожесть паттернов(регулярность</a:t>
                </a:r>
                <a:r>
                  <a:rPr lang="ru-RU" sz="2200" dirty="0"/>
                  <a:t>, сезонность)?</a:t>
                </a:r>
                <a:br>
                  <a:rPr lang="ru-RU" sz="2200" dirty="0"/>
                </a:br>
                <a:r>
                  <a:rPr lang="ru-RU" sz="2200" dirty="0"/>
                  <a:t>— </a:t>
                </a:r>
                <a:r>
                  <a:rPr lang="ru-RU" sz="2200" dirty="0" smtClean="0"/>
                  <a:t>Влияние прошлых паттернов на будущее (тренд</a:t>
                </a:r>
                <a:r>
                  <a:rPr lang="ru-RU" sz="2200" dirty="0"/>
                  <a:t>, новизна, цикличность)?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— </a:t>
                </a:r>
                <a:r>
                  <a:rPr lang="ru-RU" sz="2200" dirty="0" smtClean="0"/>
                  <a:t>Выявление нерегулярных паттернов(аномалии)?</a:t>
                </a:r>
              </a:p>
              <a:p>
                <a:pPr marL="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 smtClean="0"/>
                  <a:t>Такая </a:t>
                </a:r>
                <a:r>
                  <a:rPr lang="ru-RU" sz="2200" dirty="0"/>
                  <a:t>гипотеза называется </a:t>
                </a:r>
                <a:r>
                  <a:rPr lang="ru-RU" sz="2200" b="1" dirty="0" smtClean="0"/>
                  <a:t>само-внимание </a:t>
                </a:r>
                <a:r>
                  <a:rPr lang="en-US" sz="2200" b="1" dirty="0" smtClean="0"/>
                  <a:t>(self-attention)</a:t>
                </a:r>
                <a:r>
                  <a:rPr lang="ru-RU" sz="2200" b="1" dirty="0" smtClean="0"/>
                  <a:t>:</a:t>
                </a:r>
                <a:endParaRPr lang="ru-RU" sz="2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2200" dirty="0" err="1"/>
                  <a:t>где</a:t>
                </a: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25"/>
                          </m:rPr>
                          <a:rPr lang="en-US" sz="22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brk m:alnAt="25"/>
                          </m:rPr>
                          <a:rPr lang="en-US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 - </a:t>
                </a:r>
                <a:r>
                  <a:rPr lang="en-US" sz="2200" dirty="0" err="1"/>
                  <a:t>слой</a:t>
                </a:r>
                <a:r>
                  <a:rPr lang="ru-RU" sz="2200" dirty="0"/>
                  <a:t> задающий вектор текущих скрытых состояний из предыдущих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200" dirty="0"/>
                  <a:t> скрытых состояний</a:t>
                </a:r>
                <a:r>
                  <a:rPr lang="en-US" sz="2200" dirty="0" smtClean="0"/>
                  <a:t>;</a:t>
                </a:r>
                <a:endParaRPr lang="ru-RU" sz="2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	</a:t>
                </a:r>
                <a:r>
                  <a:rPr lang="ru-RU" sz="2200" dirty="0" smtClean="0"/>
                  <a:t>если кросс-внимание – дает предсказание, то </a:t>
                </a:r>
                <a:r>
                  <a:rPr lang="ru-RU" sz="2200" dirty="0" err="1" smtClean="0"/>
                  <a:t>самовнимание</a:t>
                </a:r>
                <a:r>
                  <a:rPr lang="ru-RU" sz="2200" dirty="0" smtClean="0"/>
                  <a:t> дает анализ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C35C589-C055-E0E5-21C6-39FDA2A3D6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288" y="671449"/>
                <a:ext cx="11738012" cy="5683828"/>
              </a:xfrm>
              <a:blipFill>
                <a:blip r:embed="rId3"/>
                <a:stretch>
                  <a:fillRect l="-675" t="-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D82902AE-9B6E-75B2-2701-491882EDFA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6009909-BBC8-0B2C-31DD-9B714C9E22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8" t="4920" r="24994" b="50310"/>
          <a:stretch/>
        </p:blipFill>
        <p:spPr bwMode="auto">
          <a:xfrm>
            <a:off x="40255" y="4522839"/>
            <a:ext cx="4782373" cy="203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501E1B-7386-56D1-CE84-9BC1335DEE1A}"/>
              </a:ext>
            </a:extLst>
          </p:cNvPr>
          <p:cNvSpPr txBox="1"/>
          <p:nvPr/>
        </p:nvSpPr>
        <p:spPr>
          <a:xfrm>
            <a:off x="1018799" y="6544271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readmedium.com</a:t>
            </a:r>
            <a:r>
              <a:rPr lang="ru-RU" sz="1100" dirty="0"/>
              <a:t>/transformer-implementation-for-time-series-forecasting-a9db2db5c820</a:t>
            </a:r>
          </a:p>
        </p:txBody>
      </p:sp>
      <p:grpSp>
        <p:nvGrpSpPr>
          <p:cNvPr id="17" name="Группа 16"/>
          <p:cNvGrpSpPr/>
          <p:nvPr/>
        </p:nvGrpSpPr>
        <p:grpSpPr>
          <a:xfrm>
            <a:off x="4679778" y="4510746"/>
            <a:ext cx="4363558" cy="2216449"/>
            <a:chOff x="6096000" y="4584192"/>
            <a:chExt cx="3840480" cy="1962958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3706DF6B-AD59-A011-9894-54776250AE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45" t="49642" r="25397" b="-3450"/>
            <a:stretch>
              <a:fillRect/>
            </a:stretch>
          </p:blipFill>
          <p:spPr bwMode="auto">
            <a:xfrm>
              <a:off x="6096000" y="4584192"/>
              <a:ext cx="3840480" cy="1962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Прямая со стрелкой 7"/>
            <p:cNvCxnSpPr/>
            <p:nvPr/>
          </p:nvCxnSpPr>
          <p:spPr>
            <a:xfrm flipV="1">
              <a:off x="6815138" y="5181601"/>
              <a:ext cx="242887" cy="95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 стрелкой 10"/>
            <p:cNvCxnSpPr/>
            <p:nvPr/>
          </p:nvCxnSpPr>
          <p:spPr>
            <a:xfrm>
              <a:off x="7548563" y="5191126"/>
              <a:ext cx="2190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 стрелкой 11"/>
            <p:cNvCxnSpPr/>
            <p:nvPr/>
          </p:nvCxnSpPr>
          <p:spPr>
            <a:xfrm>
              <a:off x="8239125" y="5162551"/>
              <a:ext cx="2238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 стрелкой 15"/>
            <p:cNvCxnSpPr/>
            <p:nvPr/>
          </p:nvCxnSpPr>
          <p:spPr>
            <a:xfrm>
              <a:off x="8967787" y="5167314"/>
              <a:ext cx="2238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F6009909-BBC8-0B2C-31DD-9B714C9E223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481" t="4258" r="48032" b="90371"/>
            <a:stretch/>
          </p:blipFill>
          <p:spPr bwMode="auto">
            <a:xfrm>
              <a:off x="8528049" y="4584192"/>
              <a:ext cx="503341" cy="2120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Стрелка вправо 18"/>
          <p:cNvSpPr/>
          <p:nvPr/>
        </p:nvSpPr>
        <p:spPr>
          <a:xfrm>
            <a:off x="4242125" y="5618970"/>
            <a:ext cx="711200" cy="234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Understanding and Coding the Self-Attention Mechanism of Large Language  Models From Scratch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468" y="4397192"/>
            <a:ext cx="3134725" cy="228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Прямоугольник 19"/>
          <p:cNvSpPr/>
          <p:nvPr/>
        </p:nvSpPr>
        <p:spPr>
          <a:xfrm>
            <a:off x="7114799" y="6587743"/>
            <a:ext cx="481050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https://sebastianraschka.com/blog/2023/self-attention-from-scratch.html</a:t>
            </a:r>
          </a:p>
        </p:txBody>
      </p:sp>
    </p:spTree>
    <p:extLst>
      <p:ext uri="{BB962C8B-B14F-4D97-AF65-F5344CB8AC3E}">
        <p14:creationId xmlns:p14="http://schemas.microsoft.com/office/powerpoint/2010/main" val="3301438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внимание</a:t>
            </a:r>
            <a:endParaRPr lang="ru-RU" altLang="ru-RU" sz="32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b="1" dirty="0" smtClean="0">
                    <a:latin typeface="Cambria Math" panose="02040503050406030204" pitchFamily="18" charset="0"/>
                  </a:rPr>
                  <a:t>Гипотеза</a:t>
                </a:r>
                <a:r>
                  <a:rPr lang="ru-RU" sz="2200" dirty="0">
                    <a:latin typeface="Cambria Math" panose="02040503050406030204" pitchFamily="18" charset="0"/>
                  </a:rPr>
                  <a:t>: блок </a:t>
                </a:r>
                <a:r>
                  <a:rPr lang="ru-RU" sz="2200" dirty="0" err="1">
                    <a:latin typeface="Cambria Math" panose="02040503050406030204" pitchFamily="18" charset="0"/>
                  </a:rPr>
                  <a:t>самовнимания</a:t>
                </a:r>
                <a:r>
                  <a:rPr lang="ru-RU" sz="2200" dirty="0">
                    <a:latin typeface="Cambria Math" panose="02040503050406030204" pitchFamily="18" charset="0"/>
                  </a:rPr>
                  <a:t> формирует контекст как один признак временного ряда.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>
                    <a:latin typeface="Cambria Math" panose="02040503050406030204" pitchFamily="18" charset="0"/>
                  </a:rPr>
                  <a:t>По аналогии с  ансамблями (или каналами карт признаков в сверточных сетях) -  число формируемых признаков задается числом параллельных блоков </a:t>
                </a:r>
                <a:r>
                  <a:rPr lang="ru-RU" sz="2200" dirty="0" err="1">
                    <a:latin typeface="Cambria Math" panose="02040503050406030204" pitchFamily="18" charset="0"/>
                  </a:rPr>
                  <a:t>самовнимания</a:t>
                </a:r>
                <a:r>
                  <a:rPr lang="ru-RU" sz="2200" dirty="0">
                    <a:latin typeface="Cambria Math" panose="02040503050406030204" pitchFamily="18" charset="0"/>
                  </a:rPr>
                  <a:t>.</a:t>
                </a:r>
                <a:endParaRPr lang="ru-RU" sz="2200" dirty="0"/>
              </a:p>
              <a:p>
                <a:pPr marL="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Такая гипотеза называется многоголовое-</a:t>
                </a:r>
                <a:r>
                  <a:rPr lang="ru-RU" sz="2200" b="1" dirty="0"/>
                  <a:t>само-внимание</a:t>
                </a:r>
                <a:r>
                  <a:rPr lang="en-US" sz="2200" b="1" dirty="0"/>
                  <a:t> (multi-head self attention)</a:t>
                </a:r>
                <a:r>
                  <a:rPr lang="ru-RU" sz="2200" b="1" dirty="0"/>
                  <a:t>:</a:t>
                </a:r>
                <a:endParaRPr lang="ru-RU" sz="2200" i="1" dirty="0">
                  <a:latin typeface="Cambria Math" panose="02040503050406030204" pitchFamily="18" charset="0"/>
                </a:endParaRP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dirty="0" err="1" smtClean="0">
                          <a:latin typeface="Cambria Math" panose="02040503050406030204" pitchFamily="18" charset="0"/>
                        </a:rPr>
                        <m:t>𝑀𝑢𝑙𝑡𝑖𝐻𝑒𝑎𝑑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𝑂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𝑐𝑜𝑛𝑐𝑎𝑡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h𝑒𝑎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; …; 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h𝑒𝑎</m:t>
                          </m:r>
                          <m:sSub>
                            <m:sSubPr>
                              <m:ctrlP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  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где</a:t>
                </a:r>
                <a:r>
                  <a:rPr lang="en-US" sz="2000" dirty="0"/>
                  <a:t>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  <a:r>
                  <a:rPr lang="en-US" sz="2000" dirty="0"/>
                  <a:t> - </a:t>
                </a:r>
                <a:r>
                  <a:rPr lang="en-US" sz="2000" dirty="0" err="1"/>
                  <a:t>матрица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весов</a:t>
                </a:r>
                <a:r>
                  <a:rPr lang="ru-RU" sz="2000" dirty="0" smtClean="0"/>
                  <a:t> каждой головы</a:t>
                </a:r>
                <a:r>
                  <a:rPr lang="en-US" sz="2000" dirty="0" smtClean="0"/>
                  <a:t>.</a:t>
                </a:r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 Пример простой сети с многоголовым вниманием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3"/>
                <a:stretch>
                  <a:fillRect l="-670" t="-6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935" y="3185651"/>
            <a:ext cx="5320757" cy="3101241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8856173" y="2834858"/>
            <a:ext cx="31935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https://www.mdpi.com/1996-1073/13/18/4722</a:t>
            </a: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75" y="3630484"/>
            <a:ext cx="5068504" cy="2259039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8239506" y="2946465"/>
            <a:ext cx="2890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111827"/>
                </a:solidFill>
                <a:latin typeface="system-ui"/>
              </a:rPr>
              <a:t>Attention-augmented RNN</a:t>
            </a:r>
            <a:endParaRPr lang="ru-RU" dirty="0"/>
          </a:p>
        </p:txBody>
      </p:sp>
      <p:sp>
        <p:nvSpPr>
          <p:cNvPr id="26" name="TextBox 25"/>
          <p:cNvSpPr txBox="1"/>
          <p:nvPr/>
        </p:nvSpPr>
        <p:spPr>
          <a:xfrm>
            <a:off x="155576" y="6154197"/>
            <a:ext cx="11769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/>
              <a:t>Самовнимание</a:t>
            </a:r>
            <a:r>
              <a:rPr lang="ru-RU" dirty="0" smtClean="0"/>
              <a:t> аналогично адаптивной ядерной фильтрации ВР – цель фильтрации выделение одного паттерна</a:t>
            </a:r>
          </a:p>
          <a:p>
            <a:r>
              <a:rPr lang="ru-RU" dirty="0" smtClean="0"/>
              <a:t>Цель многоголового </a:t>
            </a:r>
            <a:r>
              <a:rPr lang="ru-RU" dirty="0" err="1" smtClean="0"/>
              <a:t>самовнимания</a:t>
            </a:r>
            <a:r>
              <a:rPr lang="ru-RU" dirty="0" smtClean="0"/>
              <a:t> – выделение набора паттернов во ВР</a:t>
            </a:r>
            <a:endParaRPr lang="ru-RU" dirty="0"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0375" y="2490929"/>
            <a:ext cx="5155621" cy="3675139"/>
          </a:xfrm>
          <a:prstGeom prst="rect">
            <a:avLst/>
          </a:prstGeom>
        </p:spPr>
      </p:pic>
      <p:sp>
        <p:nvSpPr>
          <p:cNvPr id="28" name="Прямоугольник 27"/>
          <p:cNvSpPr/>
          <p:nvPr/>
        </p:nvSpPr>
        <p:spPr>
          <a:xfrm>
            <a:off x="8856173" y="5542906"/>
            <a:ext cx="26196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https://arxiv.org/pdf/2205.01138</a:t>
            </a:r>
          </a:p>
        </p:txBody>
      </p:sp>
    </p:spTree>
    <p:extLst>
      <p:ext uri="{BB962C8B-B14F-4D97-AF65-F5344CB8AC3E}">
        <p14:creationId xmlns:p14="http://schemas.microsoft.com/office/powerpoint/2010/main" val="31373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177801"/>
            <a:ext cx="11125200" cy="635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Идеи перехода от </a:t>
            </a:r>
            <a:r>
              <a:rPr lang="en-US" dirty="0" smtClean="0"/>
              <a:t>RNN </a:t>
            </a:r>
            <a:r>
              <a:rPr lang="ru-RU" dirty="0" smtClean="0"/>
              <a:t>к авторегрессии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591651"/>
                <a:ext cx="11884742" cy="563183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b="1" dirty="0" smtClean="0"/>
                  <a:t>Рассмотрим слой </a:t>
                </a:r>
                <a:r>
                  <a:rPr lang="en-US" sz="2200" b="1" dirty="0" smtClean="0"/>
                  <a:t>RNN c </a:t>
                </a:r>
                <a:r>
                  <a:rPr lang="ru-RU" sz="2200" b="1" dirty="0" err="1" smtClean="0"/>
                  <a:t>самовниманием</a:t>
                </a:r>
                <a:endParaRPr lang="ru-RU" sz="2200" b="1" dirty="0" smtClean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  <m:r>
                        <a:rPr lang="ru-RU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ru-RU" sz="22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ru-RU" sz="220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5"/>
                                </m:r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ru-RU" sz="2200" dirty="0" smtClean="0"/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200" dirty="0" smtClean="0"/>
                  <a:t>, </a:t>
                </a:r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 smtClean="0"/>
                  <a:t>где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00" dirty="0" smtClean="0"/>
                  <a:t> – </a:t>
                </a:r>
                <a:r>
                  <a:rPr lang="ru-RU" sz="2200" dirty="0" smtClean="0"/>
                  <a:t>размер вектора </a:t>
                </a:r>
                <a14:m>
                  <m:oMath xmlns:m="http://schemas.openxmlformats.org/officeDocument/2006/math">
                    <m:r>
                      <a:rPr lang="ru-RU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ru-RU" sz="2200" b="0" i="0" dirty="0" smtClean="0">
                        <a:latin typeface="Cambria Math" panose="02040503050406030204" pitchFamily="18" charset="0"/>
                      </a:rPr>
                      <m:t>коэффициент учитывающий</m:t>
                    </m:r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 b="0" i="0" dirty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  <m:r>
                      <a:rPr lang="ru-RU" sz="2200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200" dirty="0" smtClean="0"/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 smtClean="0"/>
                  <a:t>По сути это выражение представляет собой </a:t>
                </a:r>
                <a:r>
                  <a:rPr lang="en-US" sz="2200" dirty="0" smtClean="0"/>
                  <a:t>AR-NET </a:t>
                </a:r>
                <a:r>
                  <a:rPr lang="ru-RU" sz="2200" dirty="0" smtClean="0"/>
                  <a:t>с экзогенными факторами 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 smtClean="0"/>
                  <a:t>и динамически рассчитываемыми коэффициентами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2200" dirty="0" smtClean="0"/>
              </a:p>
              <a:p>
                <a:pPr marL="0" indent="0">
                  <a:buNone/>
                </a:pPr>
                <a:r>
                  <a:rPr lang="ru-RU" sz="2200" dirty="0"/>
                  <a:t/>
                </a:r>
                <a:br>
                  <a:rPr lang="ru-RU" sz="2200" dirty="0"/>
                </a:br>
                <a:endParaRPr lang="ru-RU" sz="2200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591651"/>
                <a:ext cx="11884742" cy="5631835"/>
              </a:xfrm>
              <a:blipFill>
                <a:blip r:embed="rId3"/>
                <a:stretch>
                  <a:fillRect l="-667" t="-7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Объект 2"/>
          <p:cNvSpPr txBox="1">
            <a:spLocks/>
          </p:cNvSpPr>
          <p:nvPr/>
        </p:nvSpPr>
        <p:spPr>
          <a:xfrm>
            <a:off x="149942" y="3060931"/>
            <a:ext cx="9989574" cy="3664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None/>
            </a:pPr>
            <a:r>
              <a:rPr lang="ru-RU" sz="2200" b="1" dirty="0" smtClean="0"/>
              <a:t>Гипотеза</a:t>
            </a:r>
            <a:r>
              <a:rPr lang="ru-RU" sz="2200" dirty="0" smtClean="0"/>
              <a:t>: Если есть </a:t>
            </a:r>
            <a:r>
              <a:rPr lang="ru-RU" sz="2200" dirty="0" err="1" smtClean="0"/>
              <a:t>самовнимание</a:t>
            </a:r>
            <a:r>
              <a:rPr lang="ru-RU" sz="2200" dirty="0" smtClean="0"/>
              <a:t> и кросс-внимание,</a:t>
            </a:r>
            <a:r>
              <a:rPr lang="en-US" sz="2200" dirty="0" smtClean="0"/>
              <a:t> </a:t>
            </a:r>
            <a:r>
              <a:rPr lang="ru-RU" sz="2200" dirty="0" smtClean="0"/>
              <a:t>то </a:t>
            </a:r>
            <a:r>
              <a:rPr lang="en-US" sz="2200" dirty="0" smtClean="0"/>
              <a:t>RNN </a:t>
            </a:r>
            <a:r>
              <a:rPr lang="ru-RU" sz="2200" dirty="0" smtClean="0"/>
              <a:t>не нужно.</a:t>
            </a:r>
          </a:p>
          <a:p>
            <a:pPr lvl="2">
              <a:lnSpc>
                <a:spcPct val="120000"/>
              </a:lnSpc>
              <a:spcBef>
                <a:spcPts val="200"/>
              </a:spcBef>
            </a:pPr>
            <a:r>
              <a:rPr lang="ru-RU" sz="2200" dirty="0" smtClean="0"/>
              <a:t>Внимание уже задает необходимый контекст.</a:t>
            </a:r>
          </a:p>
          <a:p>
            <a:pPr lvl="2">
              <a:lnSpc>
                <a:spcPct val="120000"/>
              </a:lnSpc>
              <a:spcBef>
                <a:spcPts val="200"/>
              </a:spcBef>
            </a:pPr>
            <a:r>
              <a:rPr lang="en-US" sz="2200" dirty="0" smtClean="0"/>
              <a:t>MLP </a:t>
            </a:r>
            <a:r>
              <a:rPr lang="ru-RU" sz="2200" dirty="0" smtClean="0"/>
              <a:t>слой удобнее – позволяет обрабатывать данные параллельно,</a:t>
            </a:r>
          </a:p>
          <a:p>
            <a:pPr lvl="2">
              <a:lnSpc>
                <a:spcPct val="120000"/>
              </a:lnSpc>
              <a:spcBef>
                <a:spcPts val="200"/>
              </a:spcBef>
            </a:pPr>
            <a:r>
              <a:rPr lang="ru-RU" sz="2200" dirty="0" smtClean="0"/>
              <a:t>Нет проблем с рекуррентным обучением.</a:t>
            </a:r>
          </a:p>
          <a:p>
            <a:pPr lvl="2">
              <a:lnSpc>
                <a:spcPct val="120000"/>
              </a:lnSpc>
              <a:spcBef>
                <a:spcPts val="200"/>
              </a:spcBef>
            </a:pPr>
            <a:r>
              <a:rPr lang="ru-RU" sz="2200" b="1" dirty="0" smtClean="0"/>
              <a:t>Однако</a:t>
            </a:r>
            <a:r>
              <a:rPr lang="ru-RU" sz="2200" dirty="0" smtClean="0"/>
              <a:t>, нужно учитывать последовательный характер данных.</a:t>
            </a:r>
          </a:p>
          <a:p>
            <a:pPr lvl="3">
              <a:lnSpc>
                <a:spcPct val="120000"/>
              </a:lnSpc>
              <a:spcBef>
                <a:spcPts val="200"/>
              </a:spcBef>
            </a:pPr>
            <a:r>
              <a:rPr lang="ru-RU" sz="2200" dirty="0" smtClean="0"/>
              <a:t>Для этого можно «пометить» позицию каждого положения окна, идущего по ВР</a:t>
            </a:r>
            <a:endParaRPr lang="ru-RU" sz="2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57316" y="6473176"/>
            <a:ext cx="941930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Реализация гипотезы – архитектуры </a:t>
            </a:r>
            <a:r>
              <a:rPr lang="ru-RU" sz="2000" b="1" dirty="0" err="1"/>
              <a:t>Трансформер</a:t>
            </a:r>
            <a:r>
              <a:rPr lang="ru-RU" sz="2000" b="1" dirty="0"/>
              <a:t> </a:t>
            </a:r>
            <a:r>
              <a:rPr lang="ru-RU" sz="2000" dirty="0"/>
              <a:t>(</a:t>
            </a:r>
            <a:r>
              <a:rPr lang="en-US" sz="2000" dirty="0"/>
              <a:t>Transformer Architecture</a:t>
            </a:r>
            <a:r>
              <a:rPr lang="ru-RU" dirty="0"/>
              <a:t>)</a:t>
            </a:r>
            <a:br>
              <a:rPr lang="ru-RU" dirty="0"/>
            </a:br>
            <a:endParaRPr lang="ru-RU" dirty="0"/>
          </a:p>
        </p:txBody>
      </p:sp>
      <p:pic>
        <p:nvPicPr>
          <p:cNvPr id="1026" name="Picture 2" descr="2304.04912] Financial Time Series Forecasting using CNN and Transforme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21" t="11021"/>
          <a:stretch/>
        </p:blipFill>
        <p:spPr bwMode="auto">
          <a:xfrm>
            <a:off x="9655278" y="2712244"/>
            <a:ext cx="2310581" cy="414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/>
              <a:t>https://link.springer.com/chapter/10.1007/978-3-030-77964-1_17</a:t>
            </a:r>
          </a:p>
        </p:txBody>
      </p:sp>
    </p:spTree>
    <p:extLst>
      <p:ext uri="{BB962C8B-B14F-4D97-AF65-F5344CB8AC3E}">
        <p14:creationId xmlns:p14="http://schemas.microsoft.com/office/powerpoint/2010/main" val="292480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135" y="206477"/>
            <a:ext cx="11523407" cy="56043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Идеи архитектуры </a:t>
            </a:r>
            <a:r>
              <a:rPr lang="ru-RU" b="1" dirty="0" err="1" smtClean="0"/>
              <a:t>Трансформер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5982" y="766916"/>
            <a:ext cx="11761711" cy="2546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 smtClean="0"/>
              <a:t>Цель: </a:t>
            </a:r>
            <a:r>
              <a:rPr lang="ru-RU" sz="2200" dirty="0" smtClean="0"/>
              <a:t>обработка последовательности  с сохранением порядка без рекуррентных связей</a:t>
            </a:r>
          </a:p>
          <a:p>
            <a:pPr marL="0" indent="0">
              <a:buNone/>
            </a:pPr>
            <a:r>
              <a:rPr lang="ru-RU" sz="2200" dirty="0" smtClean="0"/>
              <a:t>Слой составим из блоков </a:t>
            </a:r>
            <a:r>
              <a:rPr lang="ru-RU" sz="2200" dirty="0" err="1" smtClean="0"/>
              <a:t>самованимание</a:t>
            </a:r>
            <a:r>
              <a:rPr lang="ru-RU" sz="2200" dirty="0" smtClean="0"/>
              <a:t>-</a:t>
            </a:r>
            <a:r>
              <a:rPr lang="en-US" sz="2200" dirty="0" smtClean="0"/>
              <a:t>&gt;</a:t>
            </a:r>
            <a:r>
              <a:rPr lang="ru-RU" sz="2200" dirty="0" smtClean="0"/>
              <a:t>нормировка -</a:t>
            </a:r>
            <a:r>
              <a:rPr lang="en-US" sz="2200" dirty="0" smtClean="0"/>
              <a:t>&gt; </a:t>
            </a:r>
            <a:r>
              <a:rPr lang="ru-RU" sz="2200" dirty="0" err="1" smtClean="0"/>
              <a:t>полносвязная</a:t>
            </a:r>
            <a:r>
              <a:rPr lang="ru-RU" sz="2200" dirty="0" smtClean="0"/>
              <a:t> сеть</a:t>
            </a:r>
            <a:r>
              <a:rPr lang="ru-RU" sz="2200" dirty="0"/>
              <a:t>-</a:t>
            </a:r>
            <a:r>
              <a:rPr lang="en-US" sz="2200" dirty="0"/>
              <a:t>&gt;</a:t>
            </a:r>
            <a:r>
              <a:rPr lang="ru-RU" sz="2200" dirty="0" smtClean="0"/>
              <a:t>нормировка</a:t>
            </a:r>
            <a:endParaRPr lang="ru-RU" sz="2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42692" y="6396821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https://www.researchgate.net/publication/354541471_Evaluation_of_the_Transformer_Architecture_for_Univariate_Time_Series_Forecasting</a:t>
            </a:r>
          </a:p>
        </p:txBody>
      </p:sp>
      <p:grpSp>
        <p:nvGrpSpPr>
          <p:cNvPr id="7" name="Группа 6"/>
          <p:cNvGrpSpPr/>
          <p:nvPr/>
        </p:nvGrpSpPr>
        <p:grpSpPr>
          <a:xfrm>
            <a:off x="6096000" y="2812026"/>
            <a:ext cx="5928851" cy="3584795"/>
            <a:chOff x="6277278" y="3313470"/>
            <a:chExt cx="5683045" cy="3196713"/>
          </a:xfrm>
        </p:grpSpPr>
        <p:pic>
          <p:nvPicPr>
            <p:cNvPr id="3080" name="Picture 8" descr="PDF] Deep Transformer Models for Time Series Forecasting: The Influenza  Prevalence Case | Semantic Schola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7278" y="3313470"/>
              <a:ext cx="5683045" cy="3196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Овал 5"/>
            <p:cNvSpPr/>
            <p:nvPr/>
          </p:nvSpPr>
          <p:spPr>
            <a:xfrm>
              <a:off x="9890760" y="3427095"/>
              <a:ext cx="457200" cy="381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83152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135" y="206477"/>
            <a:ext cx="11523407" cy="56043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Идеи Блока </a:t>
            </a:r>
            <a:r>
              <a:rPr lang="ru-RU" b="1" dirty="0" err="1" smtClean="0"/>
              <a:t>Трансформер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325" y="757084"/>
            <a:ext cx="5462832" cy="5899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 smtClean="0"/>
              <a:t>Цель: </a:t>
            </a:r>
            <a:r>
              <a:rPr lang="ru-RU" sz="2200" dirty="0" smtClean="0"/>
              <a:t>выделить набор признаков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772" y="1858298"/>
            <a:ext cx="6395948" cy="4808090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/>
        </p:nvCxnSpPr>
        <p:spPr>
          <a:xfrm>
            <a:off x="5645022" y="884962"/>
            <a:ext cx="43543" cy="5958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36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135" y="206477"/>
            <a:ext cx="11523407" cy="56043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Идеи архитектуры </a:t>
            </a:r>
            <a:r>
              <a:rPr lang="ru-RU" b="1" dirty="0" err="1" smtClean="0"/>
              <a:t>Трансформер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5135" y="884903"/>
            <a:ext cx="6046839" cy="413938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42692" y="6464935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https://www.researchgate.net/publication/354541471_Evaluation_of_the_Transformer_Architecture_for_Univariate_Time_Series_Forecasting</a:t>
            </a:r>
          </a:p>
        </p:txBody>
      </p:sp>
      <p:pic>
        <p:nvPicPr>
          <p:cNvPr id="3078" name="Picture 6" descr="fig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557" y="1010408"/>
            <a:ext cx="6524625" cy="509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5550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311" y="365125"/>
            <a:ext cx="7340951" cy="6223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383371" y="6311900"/>
            <a:ext cx="29704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i="1" dirty="0"/>
              <a:t>https://arxiv.org/pdf/2205.01138</a:t>
            </a:r>
          </a:p>
        </p:txBody>
      </p:sp>
    </p:spTree>
    <p:extLst>
      <p:ext uri="{BB962C8B-B14F-4D97-AF65-F5344CB8AC3E}">
        <p14:creationId xmlns:p14="http://schemas.microsoft.com/office/powerpoint/2010/main" val="3110119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46B2C3-9014-036C-C47A-00FDD261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AC2F7-7DD6-4F4B-39E7-F28DCA46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44" y="236131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режиме </a:t>
            </a:r>
            <a:r>
              <a:rPr lang="ru-RU" dirty="0" smtClean="0"/>
              <a:t>одного блока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C35C589-C055-E0E5-21C6-39FDA2A3D6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288" y="807440"/>
                <a:ext cx="11738012" cy="568382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b="1" dirty="0" smtClean="0">
                    <a:latin typeface="Cambria Math" panose="02040503050406030204" pitchFamily="18" charset="0"/>
                  </a:rPr>
                  <a:t>Гипотеза</a:t>
                </a:r>
                <a:r>
                  <a:rPr lang="ru-RU" sz="2200" dirty="0">
                    <a:latin typeface="Cambria Math" panose="02040503050406030204" pitchFamily="18" charset="0"/>
                  </a:rPr>
                  <a:t>: </a:t>
                </a:r>
                <a:r>
                  <a:rPr lang="ru-RU" sz="2200" dirty="0" smtClean="0">
                    <a:latin typeface="Cambria Math" panose="02040503050406030204" pitchFamily="18" charset="0"/>
                  </a:rPr>
                  <a:t>блок </a:t>
                </a:r>
                <a:r>
                  <a:rPr lang="ru-RU" sz="2200" dirty="0" err="1" smtClean="0">
                    <a:latin typeface="Cambria Math" panose="02040503050406030204" pitchFamily="18" charset="0"/>
                  </a:rPr>
                  <a:t>самовнимания</a:t>
                </a:r>
                <a:r>
                  <a:rPr lang="ru-RU" sz="2200" dirty="0" smtClean="0">
                    <a:latin typeface="Cambria Math" panose="02040503050406030204" pitchFamily="18" charset="0"/>
                  </a:rPr>
                  <a:t> формирует контекст как один признак временного ряда.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 smtClean="0">
                    <a:latin typeface="Cambria Math" panose="02040503050406030204" pitchFamily="18" charset="0"/>
                  </a:rPr>
                  <a:t>По аналогии с  ансамблями (или каналами карт признаков в сверточных сетях) -  число формируемых признаков задается числом параллельных блоков </a:t>
                </a:r>
                <a:r>
                  <a:rPr lang="ru-RU" sz="2200" dirty="0" err="1" smtClean="0">
                    <a:latin typeface="Cambria Math" panose="02040503050406030204" pitchFamily="18" charset="0"/>
                  </a:rPr>
                  <a:t>самовнимания</a:t>
                </a:r>
                <a:r>
                  <a:rPr lang="ru-RU" sz="2200" dirty="0" smtClean="0">
                    <a:latin typeface="Cambria Math" panose="02040503050406030204" pitchFamily="18" charset="0"/>
                  </a:rPr>
                  <a:t>.</a:t>
                </a:r>
                <a:endParaRPr lang="ru-RU" sz="2200" dirty="0" smtClean="0"/>
              </a:p>
              <a:p>
                <a:pPr marL="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 smtClean="0"/>
                  <a:t>Такая </a:t>
                </a:r>
                <a:r>
                  <a:rPr lang="ru-RU" sz="2200" dirty="0"/>
                  <a:t>гипотеза называется </a:t>
                </a:r>
                <a:r>
                  <a:rPr lang="ru-RU" sz="2200" dirty="0" smtClean="0"/>
                  <a:t>многоголовое-</a:t>
                </a:r>
                <a:r>
                  <a:rPr lang="ru-RU" sz="2200" b="1" dirty="0" smtClean="0"/>
                  <a:t>само-внимание</a:t>
                </a:r>
                <a:r>
                  <a:rPr lang="en-US" sz="2200" b="1" dirty="0" smtClean="0"/>
                  <a:t> (multi-head self attention)</a:t>
                </a:r>
                <a:r>
                  <a:rPr lang="ru-RU" sz="2200" b="1" dirty="0" smtClean="0"/>
                  <a:t>:</a:t>
                </a:r>
                <a:endParaRPr lang="ru-RU" sz="2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2200" dirty="0" err="1"/>
                  <a:t>где</a:t>
                </a: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25"/>
                          </m:rPr>
                          <a:rPr lang="en-US" sz="22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brk m:alnAt="25"/>
                          </m:rPr>
                          <a:rPr lang="en-US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 - </a:t>
                </a:r>
                <a:r>
                  <a:rPr lang="en-US" sz="2200" dirty="0" err="1"/>
                  <a:t>слой</a:t>
                </a:r>
                <a:r>
                  <a:rPr lang="ru-RU" sz="2200" dirty="0"/>
                  <a:t> задающий вектор текущих скрытых состояний из предыдущих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200" dirty="0"/>
                  <a:t> скрытых состояний</a:t>
                </a:r>
                <a:r>
                  <a:rPr lang="en-US" sz="2200" dirty="0" smtClean="0"/>
                  <a:t>;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C35C589-C055-E0E5-21C6-39FDA2A3D6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288" y="807440"/>
                <a:ext cx="11738012" cy="5683828"/>
              </a:xfrm>
              <a:blipFill>
                <a:blip r:embed="rId3"/>
                <a:stretch>
                  <a:fillRect l="-675" t="-6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D82902AE-9B6E-75B2-2701-491882EDFA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6009909-BBC8-0B2C-31DD-9B714C9E22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8" r="24994" b="50310"/>
          <a:stretch>
            <a:fillRect/>
          </a:stretch>
        </p:blipFill>
        <p:spPr bwMode="auto">
          <a:xfrm>
            <a:off x="40255" y="4299343"/>
            <a:ext cx="4782373" cy="225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501E1B-7386-56D1-CE84-9BC1335DEE1A}"/>
              </a:ext>
            </a:extLst>
          </p:cNvPr>
          <p:cNvSpPr txBox="1"/>
          <p:nvPr/>
        </p:nvSpPr>
        <p:spPr>
          <a:xfrm>
            <a:off x="1018799" y="6544271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readmedium.com</a:t>
            </a:r>
            <a:r>
              <a:rPr lang="ru-RU" sz="1100" dirty="0"/>
              <a:t>/transformer-implementation-for-time-series-forecasting-a9db2db5c820</a:t>
            </a:r>
          </a:p>
        </p:txBody>
      </p:sp>
      <p:grpSp>
        <p:nvGrpSpPr>
          <p:cNvPr id="17" name="Группа 16"/>
          <p:cNvGrpSpPr/>
          <p:nvPr/>
        </p:nvGrpSpPr>
        <p:grpSpPr>
          <a:xfrm>
            <a:off x="4679778" y="4510746"/>
            <a:ext cx="4363558" cy="2216449"/>
            <a:chOff x="6096000" y="4584192"/>
            <a:chExt cx="3840480" cy="1962958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3706DF6B-AD59-A011-9894-54776250AE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45" t="49642" r="25397" b="-3450"/>
            <a:stretch>
              <a:fillRect/>
            </a:stretch>
          </p:blipFill>
          <p:spPr bwMode="auto">
            <a:xfrm>
              <a:off x="6096000" y="4584192"/>
              <a:ext cx="3840480" cy="1962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Прямая со стрелкой 7"/>
            <p:cNvCxnSpPr/>
            <p:nvPr/>
          </p:nvCxnSpPr>
          <p:spPr>
            <a:xfrm flipV="1">
              <a:off x="6815138" y="5181601"/>
              <a:ext cx="242887" cy="95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 стрелкой 10"/>
            <p:cNvCxnSpPr/>
            <p:nvPr/>
          </p:nvCxnSpPr>
          <p:spPr>
            <a:xfrm>
              <a:off x="7548563" y="5191126"/>
              <a:ext cx="2190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 стрелкой 11"/>
            <p:cNvCxnSpPr/>
            <p:nvPr/>
          </p:nvCxnSpPr>
          <p:spPr>
            <a:xfrm>
              <a:off x="8239125" y="5162551"/>
              <a:ext cx="2238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 стрелкой 15"/>
            <p:cNvCxnSpPr/>
            <p:nvPr/>
          </p:nvCxnSpPr>
          <p:spPr>
            <a:xfrm>
              <a:off x="8967787" y="5167314"/>
              <a:ext cx="2238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F6009909-BBC8-0B2C-31DD-9B714C9E223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481" t="4258" r="48032" b="90371"/>
            <a:stretch/>
          </p:blipFill>
          <p:spPr bwMode="auto">
            <a:xfrm>
              <a:off x="8528049" y="4584192"/>
              <a:ext cx="503341" cy="2120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Стрелка вправо 18"/>
          <p:cNvSpPr/>
          <p:nvPr/>
        </p:nvSpPr>
        <p:spPr>
          <a:xfrm>
            <a:off x="4242125" y="5618970"/>
            <a:ext cx="711200" cy="234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Understanding and Coding the Self-Attention Mechanism of Large Language  Models From Scratch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148" y="4180459"/>
            <a:ext cx="3134725" cy="228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Прямоугольник 19"/>
          <p:cNvSpPr/>
          <p:nvPr/>
        </p:nvSpPr>
        <p:spPr>
          <a:xfrm>
            <a:off x="7114799" y="6587743"/>
            <a:ext cx="481050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https://sebastianraschka.com/blog/2023/self-attention-from-scratch.html</a:t>
            </a:r>
          </a:p>
        </p:txBody>
      </p:sp>
    </p:spTree>
    <p:extLst>
      <p:ext uri="{BB962C8B-B14F-4D97-AF65-F5344CB8AC3E}">
        <p14:creationId xmlns:p14="http://schemas.microsoft.com/office/powerpoint/2010/main" val="1921402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135" y="365126"/>
            <a:ext cx="11068665" cy="500114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85135" y="1022555"/>
                <a:ext cx="11068665" cy="5154408"/>
              </a:xfrm>
            </p:spPr>
            <p:txBody>
              <a:bodyPr/>
              <a:lstStyle/>
              <a:p>
                <a:r>
                  <a:rPr lang="ru-RU" i="1" dirty="0" err="1" smtClean="0">
                    <a:latin typeface="Cambria Math" panose="02040503050406030204" pitchFamily="18" charset="0"/>
                  </a:rPr>
                  <a:t>Пу</a:t>
                </a:r>
                <a:endParaRPr lang="en-US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5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m:rPr>
                                <m:brk m:alnAt="25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135" y="1022555"/>
                <a:ext cx="11068665" cy="5154408"/>
              </a:xfrm>
              <a:blipFill>
                <a:blip r:embed="rId2"/>
                <a:stretch>
                  <a:fillRect l="-991" t="-21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533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1A74F-D1C1-0C5D-5A9E-8BAA1304E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22BA20-C8FF-8C4B-7BE8-3489C585E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264" y="365125"/>
            <a:ext cx="11146536" cy="53708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расчета внимания на 1 шаг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E5B266-EBEC-DE10-2949-FC93367EB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992" y="1085088"/>
            <a:ext cx="11146536" cy="5291328"/>
          </a:xfrm>
        </p:spPr>
        <p:txBody>
          <a:bodyPr/>
          <a:lstStyle/>
          <a:p>
            <a:r>
              <a:rPr lang="ru-RU" sz="2000" dirty="0"/>
              <a:t>У нас есть временной ряд:</a:t>
            </a:r>
            <a:r>
              <a:rPr lang="en-US" sz="2000" dirty="0"/>
              <a:t> </a:t>
            </a:r>
            <a:r>
              <a:rPr lang="en" i="1" dirty="0"/>
              <a:t>x</a:t>
            </a:r>
            <a:r>
              <a:rPr lang="en" sz="2000" dirty="0"/>
              <a:t>0​,</a:t>
            </a:r>
            <a:r>
              <a:rPr lang="en" i="1" dirty="0"/>
              <a:t>x</a:t>
            </a:r>
            <a:r>
              <a:rPr lang="en" sz="2000" dirty="0"/>
              <a:t>1​,</a:t>
            </a:r>
            <a:r>
              <a:rPr lang="en" i="1" dirty="0"/>
              <a:t>x</a:t>
            </a:r>
            <a:r>
              <a:rPr lang="en" sz="2000" dirty="0"/>
              <a:t>2​,</a:t>
            </a:r>
            <a:r>
              <a:rPr lang="en" i="1" dirty="0"/>
              <a:t>x</a:t>
            </a:r>
            <a:r>
              <a:rPr lang="en" sz="2000" dirty="0"/>
              <a:t>3​,</a:t>
            </a:r>
            <a:r>
              <a:rPr lang="en" i="1" dirty="0"/>
              <a:t>x</a:t>
            </a:r>
            <a:r>
              <a:rPr lang="en" sz="2000" dirty="0"/>
              <a:t>4​,</a:t>
            </a:r>
            <a:r>
              <a:rPr lang="en" i="1" dirty="0"/>
              <a:t>x</a:t>
            </a:r>
            <a:r>
              <a:rPr lang="en" sz="2000" dirty="0"/>
              <a:t>5​,</a:t>
            </a:r>
            <a:r>
              <a:rPr lang="en" i="1" dirty="0"/>
              <a:t>x</a:t>
            </a:r>
            <a:r>
              <a:rPr lang="en" sz="2000" dirty="0"/>
              <a:t>6​,</a:t>
            </a:r>
            <a:r>
              <a:rPr lang="en" i="1" dirty="0"/>
              <a:t>x</a:t>
            </a:r>
            <a:r>
              <a:rPr lang="en" dirty="0"/>
              <a:t>7​</a:t>
            </a:r>
            <a:br>
              <a:rPr lang="en" dirty="0"/>
            </a:br>
            <a:r>
              <a:rPr lang="ru-RU" sz="2000" dirty="0"/>
              <a:t>Мы хотим спрогнозировать </a:t>
            </a:r>
            <a:r>
              <a:rPr lang="en" dirty="0"/>
              <a:t>[</a:t>
            </a:r>
            <a:r>
              <a:rPr lang="en" i="1" dirty="0"/>
              <a:t>x</a:t>
            </a:r>
            <a:r>
              <a:rPr lang="en" dirty="0"/>
              <a:t>0​,</a:t>
            </a:r>
            <a:r>
              <a:rPr lang="en" i="1" dirty="0"/>
              <a:t>x</a:t>
            </a:r>
            <a:r>
              <a:rPr lang="en" dirty="0"/>
              <a:t>1​,</a:t>
            </a:r>
            <a:r>
              <a:rPr lang="en" i="1" dirty="0"/>
              <a:t>x</a:t>
            </a:r>
            <a:r>
              <a:rPr lang="en" dirty="0"/>
              <a:t>2​,</a:t>
            </a:r>
            <a:r>
              <a:rPr lang="en" i="1" dirty="0"/>
              <a:t>x</a:t>
            </a:r>
            <a:r>
              <a:rPr lang="en" dirty="0"/>
              <a:t>3​,</a:t>
            </a:r>
            <a:r>
              <a:rPr lang="en" i="1" dirty="0"/>
              <a:t>x</a:t>
            </a:r>
            <a:r>
              <a:rPr lang="en" dirty="0"/>
              <a:t>4​]</a:t>
            </a:r>
            <a:r>
              <a:rPr lang="en" sz="2000" dirty="0"/>
              <a:t>​ , </a:t>
            </a:r>
            <a:r>
              <a:rPr lang="ru-RU" sz="2000" dirty="0"/>
              <a:t>: </a:t>
            </a:r>
            <a:r>
              <a:rPr lang="en" dirty="0"/>
              <a:t>Decoder</a:t>
            </a:r>
            <a:r>
              <a:rPr lang="en" sz="2000" dirty="0"/>
              <a:t>: </a:t>
            </a:r>
            <a:r>
              <a:rPr lang="ru-RU" sz="2000" dirty="0"/>
              <a:t>генерирует прогноз </a:t>
            </a:r>
            <a:r>
              <a:rPr lang="en" i="1" dirty="0"/>
              <a:t>x</a:t>
            </a:r>
            <a:r>
              <a:rPr lang="en" dirty="0"/>
              <a:t>^5​,</a:t>
            </a:r>
            <a:r>
              <a:rPr lang="en" i="1" dirty="0"/>
              <a:t>x</a:t>
            </a:r>
            <a:r>
              <a:rPr lang="en" dirty="0"/>
              <a:t>^6​,</a:t>
            </a:r>
            <a:r>
              <a:rPr lang="en" i="1" dirty="0"/>
              <a:t>x</a:t>
            </a:r>
            <a:r>
              <a:rPr lang="en" dirty="0"/>
              <a:t>^7</a:t>
            </a:r>
            <a:endParaRPr lang="ru-RU" sz="2000" dirty="0"/>
          </a:p>
          <a:p>
            <a:r>
              <a:rPr lang="en" i="1" dirty="0"/>
              <a:t>h</a:t>
            </a:r>
            <a:r>
              <a:rPr lang="en" dirty="0"/>
              <a:t>0​=[0.1,0.9],</a:t>
            </a:r>
            <a:r>
              <a:rPr lang="en" i="1" dirty="0"/>
              <a:t>h</a:t>
            </a:r>
            <a:r>
              <a:rPr lang="en" dirty="0"/>
              <a:t>1​=[0.3,0.7],</a:t>
            </a:r>
            <a:r>
              <a:rPr lang="en" i="1" dirty="0"/>
              <a:t>h</a:t>
            </a:r>
            <a:r>
              <a:rPr lang="en" dirty="0"/>
              <a:t>2​=[0.5,0.5],</a:t>
            </a:r>
            <a:r>
              <a:rPr lang="en" i="1" dirty="0"/>
              <a:t>h</a:t>
            </a:r>
            <a:r>
              <a:rPr lang="en" dirty="0"/>
              <a:t>3​=[0.7,0.3],</a:t>
            </a:r>
            <a:r>
              <a:rPr lang="en" i="1" dirty="0"/>
              <a:t>h</a:t>
            </a:r>
            <a:r>
              <a:rPr lang="en" dirty="0"/>
              <a:t>4​=[0.9,0.1]</a:t>
            </a:r>
            <a:r>
              <a:rPr lang="ru-RU" dirty="0"/>
              <a:t>ъ</a:t>
            </a:r>
          </a:p>
          <a:p>
            <a:r>
              <a:rPr lang="en" i="1" dirty="0"/>
              <a:t>s</a:t>
            </a:r>
            <a:r>
              <a:rPr lang="en" dirty="0"/>
              <a:t>5​=</a:t>
            </a:r>
            <a:r>
              <a:rPr lang="en" i="1" dirty="0"/>
              <a:t>h</a:t>
            </a:r>
            <a:r>
              <a:rPr lang="en" dirty="0"/>
              <a:t>4​=[0.9,0.1]</a:t>
            </a:r>
            <a:r>
              <a:rPr lang="ru-RU" dirty="0"/>
              <a:t> </a:t>
            </a:r>
            <a:r>
              <a:rPr lang="en" sz="2000" dirty="0"/>
              <a:t>​</a:t>
            </a:r>
            <a:r>
              <a:rPr lang="en" i="1" dirty="0"/>
              <a:t>Q</a:t>
            </a:r>
            <a:r>
              <a:rPr lang="en" dirty="0"/>
              <a:t>5​=</a:t>
            </a:r>
            <a:r>
              <a:rPr lang="en" i="1" dirty="0"/>
              <a:t>WQ</a:t>
            </a:r>
            <a:r>
              <a:rPr lang="en" dirty="0"/>
              <a:t>​⋅</a:t>
            </a:r>
            <a:r>
              <a:rPr lang="en" i="1" dirty="0"/>
              <a:t>s</a:t>
            </a:r>
            <a:r>
              <a:rPr lang="en" dirty="0"/>
              <a:t>5​=[0.9,0.1] (</a:t>
            </a:r>
            <a:r>
              <a:rPr lang="ru-RU" dirty="0"/>
              <a:t>пусть </a:t>
            </a:r>
            <a:r>
              <a:rPr lang="en" i="1" dirty="0"/>
              <a:t>WQ</a:t>
            </a:r>
            <a:r>
              <a:rPr lang="en" dirty="0"/>
              <a:t>​=</a:t>
            </a:r>
            <a:r>
              <a:rPr lang="en" i="1" dirty="0"/>
              <a:t>I</a:t>
            </a:r>
            <a:r>
              <a:rPr lang="en" dirty="0"/>
              <a:t> )</a:t>
            </a:r>
          </a:p>
          <a:p>
            <a:r>
              <a:rPr lang="en" i="1" dirty="0"/>
              <a:t>c</a:t>
            </a:r>
            <a:r>
              <a:rPr lang="en" dirty="0"/>
              <a:t>5​=[1.128,0.872]</a:t>
            </a:r>
            <a:endParaRPr lang="ru-RU" dirty="0"/>
          </a:p>
          <a:p>
            <a:r>
              <a:rPr lang="en" i="1" dirty="0"/>
              <a:t>s</a:t>
            </a:r>
            <a:r>
              <a:rPr lang="en" dirty="0"/>
              <a:t>6​=[0.8,0.2]</a:t>
            </a:r>
            <a:r>
              <a:rPr lang="ru-RU" dirty="0"/>
              <a:t> –</a:t>
            </a:r>
            <a:r>
              <a:rPr lang="en-US" dirty="0"/>
              <a:t>&gt; </a:t>
            </a:r>
            <a:r>
              <a:rPr lang="en" i="1" dirty="0"/>
              <a:t>Q</a:t>
            </a:r>
            <a:r>
              <a:rPr lang="en" dirty="0"/>
              <a:t>6​=[0.8,0.2]</a:t>
            </a:r>
            <a:r>
              <a:rPr lang="ru-RU" dirty="0"/>
              <a:t>, </a:t>
            </a:r>
            <a:r>
              <a:rPr lang="en" i="1" dirty="0"/>
              <a:t>s</a:t>
            </a:r>
            <a:r>
              <a:rPr lang="en" dirty="0"/>
              <a:t>7​=[0.7,0.3]</a:t>
            </a:r>
          </a:p>
          <a:p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B2DDE71-7626-5E3F-3CAC-7BA2B1539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737243"/>
              </p:ext>
            </p:extLst>
          </p:nvPr>
        </p:nvGraphicFramePr>
        <p:xfrm>
          <a:off x="8332293" y="2987928"/>
          <a:ext cx="2542971" cy="1485647"/>
        </p:xfrm>
        <a:graphic>
          <a:graphicData uri="http://schemas.openxmlformats.org/drawingml/2006/table">
            <a:tbl>
              <a:tblPr/>
              <a:tblGrid>
                <a:gridCol w="259987">
                  <a:extLst>
                    <a:ext uri="{9D8B030D-6E8A-4147-A177-3AD203B41FA5}">
                      <a16:colId xmlns:a16="http://schemas.microsoft.com/office/drawing/2014/main" val="1425509526"/>
                    </a:ext>
                  </a:extLst>
                </a:gridCol>
                <a:gridCol w="836131">
                  <a:extLst>
                    <a:ext uri="{9D8B030D-6E8A-4147-A177-3AD203B41FA5}">
                      <a16:colId xmlns:a16="http://schemas.microsoft.com/office/drawing/2014/main" val="1293811299"/>
                    </a:ext>
                  </a:extLst>
                </a:gridCol>
                <a:gridCol w="769885">
                  <a:extLst>
                    <a:ext uri="{9D8B030D-6E8A-4147-A177-3AD203B41FA5}">
                      <a16:colId xmlns:a16="http://schemas.microsoft.com/office/drawing/2014/main" val="3088215621"/>
                    </a:ext>
                  </a:extLst>
                </a:gridCol>
                <a:gridCol w="676968">
                  <a:extLst>
                    <a:ext uri="{9D8B030D-6E8A-4147-A177-3AD203B41FA5}">
                      <a16:colId xmlns:a16="http://schemas.microsoft.com/office/drawing/2014/main" val="3709151912"/>
                    </a:ext>
                  </a:extLst>
                </a:gridCol>
              </a:tblGrid>
              <a:tr h="133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 t </a:t>
                      </a:r>
                      <a:endParaRPr lang="e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 h_t </a:t>
                      </a:r>
                      <a:endParaRPr lang="e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 K_t </a:t>
                      </a:r>
                      <a:endParaRPr lang="e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 V_t </a:t>
                      </a:r>
                      <a:endParaRPr lang="e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313509"/>
                  </a:ext>
                </a:extLst>
              </a:tr>
              <a:tr h="250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[0.1, 0.9]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[0.1, 0.9]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[0.2, 1.8]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134817"/>
                  </a:ext>
                </a:extLst>
              </a:tr>
              <a:tr h="250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[0.3, 0.7]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[0.3, 0.7]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[0.6, 1.4]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176793"/>
                  </a:ext>
                </a:extLst>
              </a:tr>
              <a:tr h="250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[0.5, 0.5]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[0.5, 0.5]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[1.0, 1.0]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942023"/>
                  </a:ext>
                </a:extLst>
              </a:tr>
              <a:tr h="250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[0.7, 0.3]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[0.7, 0.3]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[1.4, 0.6]</a:t>
                      </a:r>
                      <a:endParaRPr lang="ru-RU" sz="1200" dirty="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133149"/>
                  </a:ext>
                </a:extLst>
              </a:tr>
              <a:tr h="250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[0.9, 0.1]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[0.9, 0.1]</a:t>
                      </a:r>
                      <a:endParaRPr lang="ru-RU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[1.8, 0.2]</a:t>
                      </a:r>
                      <a:endParaRPr lang="ru-RU" sz="1200" dirty="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38449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F99F261F-6D92-2D23-C40B-F229D4772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443143"/>
              </p:ext>
            </p:extLst>
          </p:nvPr>
        </p:nvGraphicFramePr>
        <p:xfrm>
          <a:off x="3364992" y="4748171"/>
          <a:ext cx="7867166" cy="1445457"/>
        </p:xfrm>
        <a:graphic>
          <a:graphicData uri="http://schemas.openxmlformats.org/drawingml/2006/table">
            <a:tbl>
              <a:tblPr/>
              <a:tblGrid>
                <a:gridCol w="1292352">
                  <a:extLst>
                    <a:ext uri="{9D8B030D-6E8A-4147-A177-3AD203B41FA5}">
                      <a16:colId xmlns:a16="http://schemas.microsoft.com/office/drawing/2014/main" val="13697643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3356334983"/>
                    </a:ext>
                  </a:extLst>
                </a:gridCol>
                <a:gridCol w="2908714">
                  <a:extLst>
                    <a:ext uri="{9D8B030D-6E8A-4147-A177-3AD203B41FA5}">
                      <a16:colId xmlns:a16="http://schemas.microsoft.com/office/drawing/2014/main" val="2390527674"/>
                    </a:ext>
                  </a:extLst>
                </a:gridCol>
                <a:gridCol w="2532244">
                  <a:extLst>
                    <a:ext uri="{9D8B030D-6E8A-4147-A177-3AD203B41FA5}">
                      <a16:colId xmlns:a16="http://schemas.microsoft.com/office/drawing/2014/main" val="2139495247"/>
                    </a:ext>
                  </a:extLst>
                </a:gridCol>
              </a:tblGrid>
              <a:tr h="279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Шаг</a:t>
                      </a:r>
                      <a:endParaRPr lang="ru-RU" sz="1800">
                        <a:effectLst/>
                      </a:endParaRPr>
                    </a:p>
                  </a:txBody>
                  <a:tcPr marL="37512" marR="37512" marT="37512" marB="3751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Query (Q)</a:t>
                      </a:r>
                      <a:endParaRPr lang="en" sz="1800">
                        <a:effectLst/>
                      </a:endParaRPr>
                    </a:p>
                  </a:txBody>
                  <a:tcPr marL="37512" marR="37512" marT="37512" marB="3751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Наиболее важный момент</a:t>
                      </a:r>
                      <a:endParaRPr lang="ru-RU" sz="1800">
                        <a:effectLst/>
                      </a:endParaRPr>
                    </a:p>
                  </a:txBody>
                  <a:tcPr marL="37512" marR="37512" marT="37512" marB="3751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Контекстный вектор</a:t>
                      </a:r>
                      <a:endParaRPr lang="ru-RU" sz="1800">
                        <a:effectLst/>
                      </a:endParaRPr>
                    </a:p>
                  </a:txBody>
                  <a:tcPr marL="37512" marR="37512" marT="37512" marB="3751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884295"/>
                  </a:ext>
                </a:extLst>
              </a:tr>
              <a:tr h="365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\hat{x}_5</a:t>
                      </a:r>
                      <a:endParaRPr lang="en" sz="1800">
                        <a:effectLst/>
                      </a:endParaRPr>
                    </a:p>
                  </a:txBody>
                  <a:tcPr marL="37512" marR="37512" marT="37512" marB="3751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[0.9, 0.1]</a:t>
                      </a:r>
                      <a:endParaRPr lang="ru-RU" sz="1800">
                        <a:effectLst/>
                      </a:endParaRPr>
                    </a:p>
                  </a:txBody>
                  <a:tcPr marL="37512" marR="37512" marT="37512" marB="3751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t=4  (</a:t>
                      </a: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последний)</a:t>
                      </a:r>
                      <a:endParaRPr lang="ru-RU" sz="1800">
                        <a:effectLst/>
                      </a:endParaRPr>
                    </a:p>
                  </a:txBody>
                  <a:tcPr marL="37512" marR="37512" marT="37512" marB="3751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c_5 = [1.128, 0.872]</a:t>
                      </a:r>
                      <a:endParaRPr lang="en" sz="1800">
                        <a:effectLst/>
                      </a:endParaRPr>
                    </a:p>
                  </a:txBody>
                  <a:tcPr marL="37512" marR="37512" marT="37512" marB="3751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632162"/>
                  </a:ext>
                </a:extLst>
              </a:tr>
              <a:tr h="365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\hat{x}_6</a:t>
                      </a:r>
                      <a:endParaRPr lang="en" sz="1800">
                        <a:effectLst/>
                      </a:endParaRPr>
                    </a:p>
                  </a:txBody>
                  <a:tcPr marL="37512" marR="37512" marT="37512" marB="3751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[0.8, 0.2]</a:t>
                      </a:r>
                      <a:endParaRPr lang="ru-RU" sz="1800">
                        <a:effectLst/>
                      </a:endParaRPr>
                    </a:p>
                  </a:txBody>
                  <a:tcPr marL="37512" marR="37512" marT="37512" marB="3751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t=4</a:t>
                      </a:r>
                      <a:endParaRPr lang="en" sz="1800">
                        <a:effectLst/>
                      </a:endParaRPr>
                    </a:p>
                  </a:txBody>
                  <a:tcPr marL="37512" marR="37512" marT="37512" marB="3751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c_6 ≈ [1.1, 0.9]</a:t>
                      </a:r>
                      <a:endParaRPr lang="en" sz="1800">
                        <a:effectLst/>
                      </a:endParaRPr>
                    </a:p>
                  </a:txBody>
                  <a:tcPr marL="37512" marR="37512" marT="37512" marB="3751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085638"/>
                  </a:ext>
                </a:extLst>
              </a:tr>
              <a:tr h="365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\hat{x}_7</a:t>
                      </a:r>
                      <a:endParaRPr lang="en" sz="1800" dirty="0">
                        <a:effectLst/>
                      </a:endParaRPr>
                    </a:p>
                  </a:txBody>
                  <a:tcPr marL="37512" marR="37512" marT="37512" marB="3751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[0.7, 0.3]</a:t>
                      </a:r>
                      <a:endParaRPr lang="ru-RU" sz="1800">
                        <a:effectLst/>
                      </a:endParaRPr>
                    </a:p>
                  </a:txBody>
                  <a:tcPr marL="37512" marR="37512" marT="37512" marB="3751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t=4</a:t>
                      </a:r>
                      <a:endParaRPr lang="en" sz="1800">
                        <a:effectLst/>
                      </a:endParaRPr>
                    </a:p>
                  </a:txBody>
                  <a:tcPr marL="37512" marR="37512" marT="37512" marB="3751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c_7 ≈ [1.0, 1.0]</a:t>
                      </a:r>
                      <a:endParaRPr lang="en" sz="1800" dirty="0">
                        <a:effectLst/>
                      </a:endParaRPr>
                    </a:p>
                  </a:txBody>
                  <a:tcPr marL="37512" marR="37512" marT="37512" marB="3751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023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72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35183-457B-4563-0A7E-271B7551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699C88-3961-C5D9-AAED-2F377BA5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890" y="256380"/>
            <a:ext cx="10344219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</a:t>
            </a:r>
            <a:r>
              <a:rPr lang="ru-RU" b="1" dirty="0" smtClean="0"/>
              <a:t>режиме </a:t>
            </a:r>
            <a:r>
              <a:rPr lang="ru-RU" dirty="0" err="1" smtClean="0"/>
              <a:t>Seq</a:t>
            </a:r>
            <a:r>
              <a:rPr lang="en-US" dirty="0"/>
              <a:t>2Seq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E043784-8F80-5804-0527-435AD8BB70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5207" y="732641"/>
                <a:ext cx="11731086" cy="50879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b="1" dirty="0" smtClean="0"/>
                  <a:t>Гипотеза: </a:t>
                </a:r>
                <a:r>
                  <a:rPr lang="ru-RU" sz="2200" dirty="0" smtClean="0"/>
                  <a:t>Регуляризация переобучения </a:t>
                </a:r>
                <a:r>
                  <a:rPr lang="en-US" sz="2200" dirty="0" smtClean="0"/>
                  <a:t>RNN </a:t>
                </a:r>
                <a:r>
                  <a:rPr lang="ru-RU" sz="2200" dirty="0" smtClean="0"/>
                  <a:t>возможна, если расширить скрытое представление</a:t>
                </a:r>
              </a:p>
              <a:p>
                <a:r>
                  <a:rPr lang="ru-RU" sz="2200" dirty="0" smtClean="0"/>
                  <a:t>по сути требуется расширить контекст</a:t>
                </a:r>
                <a:r>
                  <a:rPr lang="ru-RU" sz="2200" b="1" dirty="0" smtClean="0"/>
                  <a:t> </a:t>
                </a:r>
                <a:endParaRPr lang="en-US" sz="2200" b="1" dirty="0" smtClean="0"/>
              </a:p>
              <a:p>
                <a:pPr marL="0" indent="0">
                  <a:buNone/>
                </a:pPr>
                <a:r>
                  <a:rPr lang="ru-RU" sz="2200" b="1" dirty="0" smtClean="0"/>
                  <a:t>Идея: модель </a:t>
                </a:r>
                <a:r>
                  <a:rPr lang="ru-RU" sz="2200" b="1" dirty="0"/>
                  <a:t>могла бы </a:t>
                </a:r>
                <a:r>
                  <a:rPr lang="ru-RU" sz="2200" dirty="0" smtClean="0"/>
                  <a:t>смотреть</a:t>
                </a:r>
                <a:r>
                  <a:rPr lang="ru-RU" sz="2200" b="1" dirty="0" smtClean="0"/>
                  <a:t> на набор значений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b="1" i="1" dirty="0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sz="2200" b="1" dirty="0" smtClean="0"/>
                  <a:t> </a:t>
                </a:r>
                <a:endParaRPr lang="ru-RU" sz="2200" b="1" dirty="0"/>
              </a:p>
              <a:p>
                <a:pPr marL="0" indent="0">
                  <a:buNone/>
                </a:pPr>
                <a:r>
                  <a:rPr lang="ru-RU" sz="2200" dirty="0"/>
                  <a:t>Реализация идеи - механизму внимания (</a:t>
                </a:r>
                <a:r>
                  <a:rPr lang="en" sz="2200" dirty="0"/>
                  <a:t>Attention Mechanism).</a:t>
                </a:r>
                <a:endParaRPr lang="ru-RU" sz="2200" dirty="0"/>
              </a:p>
              <a:p>
                <a:pPr marL="0" indent="0">
                  <a:buNone/>
                </a:pPr>
                <a:r>
                  <a:rPr lang="ru-RU" sz="2200" b="1" dirty="0"/>
                  <a:t>Внимание</a:t>
                </a:r>
                <a:r>
                  <a:rPr lang="ru-RU" sz="2200" dirty="0"/>
                  <a:t> — это способность модели взвешенно обращаться к разным частям входной последовательности, в зависимости от того, насколько они важны для текущего предсказания.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П</a:t>
                </a:r>
                <a14:m>
                  <m:oMath xmlns:m="http://schemas.openxmlformats.org/officeDocument/2006/math">
                    <m:r>
                      <a:rPr lang="ru-RU" sz="2200" dirty="0">
                        <a:latin typeface="Cambria Math" panose="02040503050406030204" pitchFamily="18" charset="0"/>
                      </a:rPr>
                      <m:t>у</m:t>
                    </m:r>
                    <m:r>
                      <a:rPr lang="ru-RU" sz="2200" b="0" i="0" dirty="0" smtClean="0">
                        <a:latin typeface="Cambria Math" panose="02040503050406030204" pitchFamily="18" charset="0"/>
                      </a:rPr>
                      <m:t>сть есть буфер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2200" b="0" i="0" dirty="0" smtClean="0">
                        <a:latin typeface="Cambria Math" panose="02040503050406030204" pitchFamily="18" charset="0"/>
                      </a:rPr>
                      <m:t> скрытых состояний 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𝑛𝑗</m:t>
                        </m:r>
                      </m:sub>
                    </m:sSub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 энкодера</m:t>
                    </m:r>
                  </m:oMath>
                </a14:m>
                <a:r>
                  <a:rPr lang="ru-RU" sz="2200" b="0" i="1" dirty="0">
                    <a:latin typeface="Cambria Math" panose="020405030504060302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ru-RU" sz="2200" dirty="0">
                        <a:latin typeface="Cambria Math" panose="02040503050406030204" pitchFamily="18" charset="0"/>
                      </a:rPr>
                      <m:t>скрытых состояний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𝑛𝑗</m:t>
                        </m:r>
                      </m:sub>
                    </m:sSub>
                    <m:r>
                      <a:rPr lang="ru-RU" sz="2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декодера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 требуется предсказать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ru-RU" sz="2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2200" i="1" dirty="0" err="1">
                    <a:latin typeface="Cambria Math" panose="02040503050406030204" pitchFamily="18" charset="0"/>
                  </a:rPr>
                  <a:t>гд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25"/>
                          </m:rPr>
                          <a:rPr lang="en-US" sz="22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brk m:alnAt="25"/>
                          </m:rPr>
                          <a:rPr lang="en-US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200" i="1" dirty="0">
                    <a:latin typeface="Cambria Math" panose="02040503050406030204" pitchFamily="18" charset="0"/>
                  </a:rPr>
                  <a:t> - текущее скрытое состояние</a:t>
                </a:r>
                <a:r>
                  <a:rPr lang="en-US" sz="2200" i="1" dirty="0">
                    <a:latin typeface="Cambria Math" panose="02040503050406030204" pitchFamily="18" charset="0"/>
                  </a:rPr>
                  <a:t> (</a:t>
                </a:r>
                <a:r>
                  <a:rPr lang="en-US" sz="2200" i="1" dirty="0" err="1">
                    <a:latin typeface="Cambria Math" panose="02040503050406030204" pitchFamily="18" charset="0"/>
                  </a:rPr>
                  <a:t>вектор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), как результат предыдущих (</a:t>
                </a:r>
                <a:r>
                  <a:rPr lang="en-US" sz="2200" i="1" dirty="0" err="1">
                    <a:latin typeface="Cambria Math" panose="02040503050406030204" pitchFamily="18" charset="0"/>
                  </a:rPr>
                  <a:t>p,q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) состояний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2200" i="1" dirty="0" err="1">
                    <a:latin typeface="Cambria Math" panose="02040503050406030204" pitchFamily="18" charset="0"/>
                  </a:rPr>
                  <a:t>Та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кая идея называется </a:t>
                </a:r>
                <a:r>
                  <a:rPr lang="ru-RU" sz="2200" i="1" dirty="0" err="1">
                    <a:latin typeface="Cambria Math" panose="02040503050406030204" pitchFamily="18" charset="0"/>
                  </a:rPr>
                  <a:t>энкодер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-декодер внимание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E043784-8F80-5804-0527-435AD8BB70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207" y="732641"/>
                <a:ext cx="11731086" cy="5087918"/>
              </a:xfrm>
              <a:blipFill>
                <a:blip r:embed="rId3"/>
                <a:stretch>
                  <a:fillRect l="-675" t="-1557" r="-2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AB187092-B5EF-33CC-9675-B208B075D2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21C348-AB4D-1694-ED40-9B893E5DE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038" y="3644158"/>
            <a:ext cx="5469303" cy="308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5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69E47-67F3-EC2B-E037-EFC25792C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B9A365-3F4F-2913-5258-FEB99C520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8" y="232406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режиме </a:t>
            </a:r>
            <a:r>
              <a:rPr lang="ru-RU" dirty="0" err="1"/>
              <a:t>Seq</a:t>
            </a:r>
            <a:r>
              <a:rPr lang="en-US" dirty="0"/>
              <a:t>2Seq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AFE05D0-50E3-5DBD-DB0E-34B9C49446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288" y="883227"/>
                <a:ext cx="11731086" cy="568382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400" i="1" dirty="0">
                    <a:latin typeface="Cambria Math" panose="02040503050406030204" pitchFamily="18" charset="0"/>
                  </a:rPr>
                  <a:t>Например: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𝑛𝑗</m:t>
                            </m:r>
                          </m:sub>
                        </m:sSub>
                      </m:e>
                    </m:nary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𝑛𝑗</m:t>
                            </m:r>
                          </m:sub>
                        </m:sSub>
                      </m:e>
                    </m:nary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– </a:t>
                </a:r>
                <a:r>
                  <a:rPr lang="en-US" sz="2400" i="1" dirty="0" err="1">
                    <a:latin typeface="Cambria Math" panose="02040503050406030204" pitchFamily="18" charset="0"/>
                  </a:rPr>
                  <a:t>зна</a:t>
                </a:r>
                <a:r>
                  <a:rPr lang="ru-RU" sz="2400" i="1" dirty="0" err="1">
                    <a:latin typeface="Cambria Math" panose="02040503050406030204" pitchFamily="18" charset="0"/>
                  </a:rPr>
                  <a:t>чимость</a:t>
                </a:r>
                <a:r>
                  <a:rPr lang="ru-RU" sz="2400" i="1" dirty="0">
                    <a:latin typeface="Cambria Math" panose="02040503050406030204" pitchFamily="18" charset="0"/>
                  </a:rPr>
                  <a:t> пред</a:t>
                </a:r>
                <a:r>
                  <a:rPr lang="en-US" sz="2400" i="1" dirty="0" err="1">
                    <a:latin typeface="Cambria Math" panose="02040503050406030204" pitchFamily="18" charset="0"/>
                  </a:rPr>
                  <a:t>ыдущих</a:t>
                </a:r>
                <a:r>
                  <a:rPr lang="ru-RU" sz="2400" i="1" dirty="0">
                    <a:latin typeface="Cambria Math" panose="02040503050406030204" pitchFamily="18" charset="0"/>
                  </a:rPr>
                  <a:t> состояний </a:t>
                </a:r>
                <a:r>
                  <a:rPr lang="ru-RU" sz="2400" i="1" dirty="0" err="1">
                    <a:latin typeface="Cambria Math" panose="02040503050406030204" pitchFamily="18" charset="0"/>
                  </a:rPr>
                  <a:t>энкодера</a:t>
                </a:r>
                <a:r>
                  <a:rPr lang="ru-RU" sz="2400" i="1" dirty="0">
                    <a:latin typeface="Cambria Math" panose="02040503050406030204" pitchFamily="18" charset="0"/>
                  </a:rPr>
                  <a:t> и декодера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𝑛𝑗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400" i="1" dirty="0">
                    <a:latin typeface="Cambria Math" panose="02040503050406030204" pitchFamily="18" charset="0"/>
                  </a:rPr>
                  <a:t> взвешивание состояний декодер</a:t>
                </a:r>
                <a:r>
                  <a:rPr lang="en-US" sz="2400" i="1" dirty="0" err="1">
                    <a:latin typeface="Cambria Math" panose="02040503050406030204" pitchFamily="18" charset="0"/>
                  </a:rPr>
                  <a:t>а</a:t>
                </a:r>
                <a:r>
                  <a:rPr lang="ru-RU" sz="2400" i="1" dirty="0">
                    <a:latin typeface="Cambria Math" panose="02040503050406030204" pitchFamily="18" charset="0"/>
                  </a:rPr>
                  <a:t> (контекст)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endParaRPr lang="ru-RU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AFE05D0-50E3-5DBD-DB0E-34B9C49446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288" y="883227"/>
                <a:ext cx="11731086" cy="5683828"/>
              </a:xfrm>
              <a:blipFill>
                <a:blip r:embed="rId3"/>
                <a:stretch>
                  <a:fillRect l="-757" t="-3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2729525D-AEBB-195C-FFC9-3C8BCDD159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4D4546A-52B2-BA21-AE35-107A15EF2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600" y="3706368"/>
            <a:ext cx="5359111" cy="30255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913A18-E42E-DC4F-696D-7667DB03A85C}"/>
              </a:ext>
            </a:extLst>
          </p:cNvPr>
          <p:cNvSpPr txBox="1"/>
          <p:nvPr/>
        </p:nvSpPr>
        <p:spPr>
          <a:xfrm>
            <a:off x="100950" y="4397230"/>
            <a:ext cx="62484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При прогнозировании нагрузки на электросеть в 18:00, модель может "обратить внимание" на:</a:t>
            </a:r>
          </a:p>
          <a:p>
            <a:pPr marL="742950" lvl="1" indent="-28575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аналогичное время вчера,</a:t>
            </a:r>
          </a:p>
          <a:p>
            <a:pPr marL="742950" lvl="1" indent="-28575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пик в 19:00 прошлой пятницы (выходные),</a:t>
            </a:r>
          </a:p>
          <a:p>
            <a:pPr marL="742950" lvl="1" indent="-28575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резкий скачок из-за шторма неделю назад.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5BE0EE-1550-432E-5B0F-AA7D23A9133C}"/>
              </a:ext>
            </a:extLst>
          </p:cNvPr>
          <p:cNvSpPr txBox="1"/>
          <p:nvPr/>
        </p:nvSpPr>
        <p:spPr>
          <a:xfrm>
            <a:off x="187288" y="2847379"/>
            <a:ext cx="1015288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На каждом шаге </a:t>
            </a:r>
            <a:r>
              <a:rPr lang="en" b="0" i="0" dirty="0">
                <a:solidFill>
                  <a:srgbClr val="2C2C36"/>
                </a:solidFill>
                <a:effectLst/>
                <a:latin typeface="system-ui"/>
              </a:rPr>
              <a:t>decoder 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вычисляет </a:t>
            </a: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важность (вес)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 каждого временного шага </a:t>
            </a:r>
            <a:r>
              <a:rPr lang="en" b="0" i="0" dirty="0">
                <a:solidFill>
                  <a:srgbClr val="2C2C36"/>
                </a:solidFill>
                <a:effectLst/>
                <a:latin typeface="system-ui"/>
              </a:rPr>
              <a:t>encoder.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Веса нормализуются через </a:t>
            </a:r>
            <a:r>
              <a:rPr lang="en" b="0" i="0" dirty="0" err="1">
                <a:solidFill>
                  <a:srgbClr val="2C2C36"/>
                </a:solidFill>
                <a:effectLst/>
                <a:latin typeface="system-ui"/>
              </a:rPr>
              <a:t>softmax</a:t>
            </a:r>
            <a:r>
              <a:rPr lang="en" b="0" i="0" dirty="0">
                <a:solidFill>
                  <a:srgbClr val="2C2C36"/>
                </a:solidFill>
                <a:effectLst/>
                <a:latin typeface="system-ui"/>
              </a:rPr>
              <a:t> → </a:t>
            </a: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вектор внимания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.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Взвешенная сумма </a:t>
            </a:r>
            <a:r>
              <a:rPr lang="en" b="0" i="0" dirty="0">
                <a:solidFill>
                  <a:srgbClr val="2C2C36"/>
                </a:solidFill>
                <a:effectLst/>
                <a:latin typeface="system-ui"/>
              </a:rPr>
              <a:t>encoder-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состояний добавляется в </a:t>
            </a:r>
            <a:r>
              <a:rPr lang="en" b="0" i="0" dirty="0">
                <a:solidFill>
                  <a:srgbClr val="2C2C36"/>
                </a:solidFill>
                <a:effectLst/>
                <a:latin typeface="system-ui"/>
              </a:rPr>
              <a:t>input decoder.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C7B807-AA61-5871-BA47-0CF89C607BE2}"/>
              </a:ext>
            </a:extLst>
          </p:cNvPr>
          <p:cNvSpPr txBox="1"/>
          <p:nvPr/>
        </p:nvSpPr>
        <p:spPr>
          <a:xfrm>
            <a:off x="2013204" y="6436250"/>
            <a:ext cx="78607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readmedium.com</a:t>
            </a:r>
            <a:r>
              <a:rPr lang="ru-RU" sz="1100" dirty="0"/>
              <a:t>/implementing-seq2seq-models-for-efficient-time-series-forecasting-88dba1d66187</a:t>
            </a:r>
          </a:p>
        </p:txBody>
      </p:sp>
    </p:spTree>
    <p:extLst>
      <p:ext uri="{BB962C8B-B14F-4D97-AF65-F5344CB8AC3E}">
        <p14:creationId xmlns:p14="http://schemas.microsoft.com/office/powerpoint/2010/main" val="275776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CDCC2-729D-4C9A-B134-6E40388ED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080B88-7A5C-1DF9-B4FB-480499195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8" y="232406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режиме </a:t>
            </a:r>
            <a:r>
              <a:rPr lang="ru-RU" dirty="0" err="1"/>
              <a:t>Seq</a:t>
            </a:r>
            <a:r>
              <a:rPr lang="en-US" dirty="0"/>
              <a:t>2Seq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5608E0D-F445-A6F1-71F0-87266CC61D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288" y="752422"/>
                <a:ext cx="11731086" cy="568382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2400" i="1" dirty="0">
                    <a:latin typeface="Cambria Math" panose="02040503050406030204" pitchFamily="18" charset="0"/>
                  </a:rPr>
                  <a:t>Б</a:t>
                </a:r>
                <a:r>
                  <a:rPr lang="ru-RU" sz="2400" i="1" dirty="0" err="1">
                    <a:latin typeface="Cambria Math" panose="02040503050406030204" pitchFamily="18" charset="0"/>
                  </a:rPr>
                  <a:t>олее</a:t>
                </a:r>
                <a:r>
                  <a:rPr lang="ru-RU" sz="2400" i="1" dirty="0">
                    <a:latin typeface="Cambria Math" panose="02040503050406030204" pitchFamily="18" charset="0"/>
                  </a:rPr>
                  <a:t> современная </a:t>
                </a:r>
                <a:r>
                  <a:rPr lang="ru-RU" sz="2400" i="1" dirty="0" err="1">
                    <a:latin typeface="Cambria Math" panose="02040503050406030204" pitchFamily="18" charset="0"/>
                  </a:rPr>
                  <a:t>трактова</a:t>
                </a:r>
                <a:r>
                  <a:rPr lang="ru-RU" sz="2400" i="1" dirty="0">
                    <a:latin typeface="Cambria Math" panose="02040503050406030204" pitchFamily="18" charset="0"/>
                  </a:rPr>
                  <a:t> внимания: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ru-RU" sz="24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 b="0" i="1" dirty="0" smtClean="0">
                          <a:latin typeface="Cambria Math" panose="02040503050406030204" pitchFamily="18" charset="0"/>
                        </a:rPr>
                        <m:t>𝑠𝑜𝑓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𝑡𝑚𝑎𝑥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ru-RU" sz="24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 – query – </a:t>
                </a:r>
                <a:r>
                  <a:rPr lang="en-US" sz="2400" dirty="0" err="1"/>
                  <a:t>запро</a:t>
                </a:r>
                <a:r>
                  <a:rPr lang="ru-RU" sz="2400" dirty="0"/>
                  <a:t>с (важность информации декодера)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US" sz="2400" dirty="0"/>
                  <a:t>  key –</a:t>
                </a:r>
                <a:r>
                  <a:rPr lang="ru-RU" sz="2400" dirty="0"/>
                  <a:t> </a:t>
                </a:r>
                <a:r>
                  <a:rPr lang="ru-RU" sz="2400" dirty="0" err="1"/>
                  <a:t>ключь</a:t>
                </a:r>
                <a:r>
                  <a:rPr lang="ru-RU" sz="2400" dirty="0"/>
                  <a:t> – важность информации </a:t>
                </a:r>
                <a:r>
                  <a:rPr lang="ru-RU" sz="2400" dirty="0" err="1"/>
                  <a:t>энкодера</a:t>
                </a:r>
                <a:endParaRPr lang="ru-RU" sz="24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ru-RU" sz="24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4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</a:rPr>
                  <a:t>value </a:t>
                </a:r>
                <a:r>
                  <a:rPr lang="ru-RU" sz="2400" dirty="0">
                    <a:latin typeface="Cambria Math" panose="02040503050406030204" pitchFamily="18" charset="0"/>
                  </a:rPr>
                  <a:t>важность информации </a:t>
                </a:r>
                <a:r>
                  <a:rPr lang="ru-RU" sz="2400" dirty="0" err="1">
                    <a:latin typeface="Cambria Math" panose="02040503050406030204" pitchFamily="18" charset="0"/>
                  </a:rPr>
                  <a:t>энкодара</a:t>
                </a:r>
                <a:r>
                  <a:rPr lang="ru-RU" sz="2400" dirty="0">
                    <a:latin typeface="Cambria Math" panose="02040503050406030204" pitchFamily="18" charset="0"/>
                  </a:rPr>
                  <a:t> на текущем шаге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𝑎𝑡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ru-RU" sz="2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Cambria Math" panose="02040503050406030204" pitchFamily="18" charset="0"/>
                  </a:rPr>
                  <a:t>важность значений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u-RU" sz="2400" dirty="0">
                    <a:latin typeface="Cambria Math" panose="02040503050406030204" pitchFamily="18" charset="0"/>
                  </a:rPr>
                  <a:t> для текущего </a:t>
                </a:r>
                <a:r>
                  <a:rPr lang="ru-RU" sz="2400" dirty="0" err="1">
                    <a:latin typeface="Cambria Math" panose="02040503050406030204" pitchFamily="18" charset="0"/>
                  </a:rPr>
                  <a:t>предсказкания</a:t>
                </a:r>
                <a:r>
                  <a:rPr lang="ru-RU" sz="2400" dirty="0">
                    <a:latin typeface="Cambria Math" panose="02040503050406030204" pitchFamily="18" charset="0"/>
                  </a:rPr>
                  <a:t> </a:t>
                </a:r>
                <a:r>
                  <a:rPr lang="ru-RU" sz="2400" i="1" dirty="0"/>
                  <a:t>(вес от 0 до 1) </a:t>
                </a:r>
                <a:endParaRPr lang="ru-RU" sz="2400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dirty="0"/>
                  <a:t>если </a:t>
                </a:r>
                <a:r>
                  <a:rPr lang="en" dirty="0"/>
                  <a:t>decoder </a:t>
                </a:r>
                <a:r>
                  <a:rPr lang="ru-RU" dirty="0"/>
                  <a:t>прогнозирует пик в пятницу вечером, </a:t>
                </a:r>
                <a:r>
                  <a:rPr lang="ru-RU" i="1" dirty="0"/>
                  <a:t>важность значения </a:t>
                </a:r>
                <a:r>
                  <a:rPr lang="ru-RU" dirty="0"/>
                  <a:t>пятница-вчера​ будет большим.</a:t>
                </a:r>
                <a:endParaRPr lang="en-US" sz="200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400" dirty="0">
                    <a:latin typeface="Cambria Math" panose="02040503050406030204" pitchFamily="18" charset="0"/>
                  </a:rPr>
                  <a:t>размерность векторов</a:t>
                </a:r>
                <a:r>
                  <a:rPr lang="en-US" sz="2400" dirty="0">
                    <a:latin typeface="Cambria Math" panose="02040503050406030204" pitchFamily="18" charset="0"/>
                  </a:rPr>
                  <a:t> </a:t>
                </a:r>
                <a:endParaRPr lang="ru-RU" sz="240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400" dirty="0">
                    <a:latin typeface="Cambria Math" panose="02040503050406030204" pitchFamily="18" charset="0"/>
                  </a:rPr>
                  <a:t>Интерпретация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sz="2400" dirty="0">
                    <a:latin typeface="Cambria Math" panose="02040503050406030204" pitchFamily="18" charset="0"/>
                  </a:rPr>
                  <a:t> – может меняться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400" dirty="0">
                    <a:latin typeface="Cambria Math" panose="02040503050406030204" pitchFamily="18" charset="0"/>
                  </a:rPr>
                  <a:t>Указанная </a:t>
                </a:r>
                <a:r>
                  <a:rPr lang="ru-RU" sz="2400" dirty="0" err="1">
                    <a:latin typeface="Cambria Math" panose="02040503050406030204" pitchFamily="18" charset="0"/>
                  </a:rPr>
                  <a:t>трактова</a:t>
                </a:r>
                <a:r>
                  <a:rPr lang="ru-RU" sz="2400" dirty="0">
                    <a:latin typeface="Cambria Math" panose="02040503050406030204" pitchFamily="18" charset="0"/>
                  </a:rPr>
                  <a:t> внимания – это т.н. </a:t>
                </a:r>
                <a:br>
                  <a:rPr lang="ru-RU" sz="2400" dirty="0">
                    <a:latin typeface="Cambria Math" panose="02040503050406030204" pitchFamily="18" charset="0"/>
                  </a:rPr>
                </a:br>
                <a:r>
                  <a:rPr lang="en-US" sz="2400" dirty="0">
                    <a:latin typeface="Cambria Math" panose="02040503050406030204" pitchFamily="18" charset="0"/>
                  </a:rPr>
                  <a:t>Encoder-decoder attention (</a:t>
                </a:r>
                <a:r>
                  <a:rPr lang="en-US" sz="2400" dirty="0" err="1">
                    <a:latin typeface="Cambria Math" panose="02040503050406030204" pitchFamily="18" charset="0"/>
                  </a:rPr>
                  <a:t>corss</a:t>
                </a:r>
                <a:r>
                  <a:rPr lang="en-US" sz="2400" dirty="0">
                    <a:latin typeface="Cambria Math" panose="02040503050406030204" pitchFamily="18" charset="0"/>
                  </a:rPr>
                  <a:t>-attention)</a:t>
                </a:r>
                <a:endParaRPr lang="ru-RU" sz="240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5608E0D-F445-A6F1-71F0-87266CC61D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288" y="752422"/>
                <a:ext cx="11731086" cy="5683828"/>
              </a:xfrm>
              <a:blipFill>
                <a:blip r:embed="rId3"/>
                <a:stretch>
                  <a:fillRect l="-757" t="-8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1A00C0CD-0613-58BA-836F-4B5A99DD62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4D6A68-41E1-2E0D-60DC-A84614F34825}"/>
              </a:ext>
            </a:extLst>
          </p:cNvPr>
          <p:cNvSpPr txBox="1"/>
          <p:nvPr/>
        </p:nvSpPr>
        <p:spPr>
          <a:xfrm>
            <a:off x="2013204" y="6436250"/>
            <a:ext cx="78607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100" dirty="0"/>
              <a:t>https://</a:t>
            </a:r>
            <a:r>
              <a:rPr lang="en" sz="1100" dirty="0" err="1"/>
              <a:t>epichka.com</a:t>
            </a:r>
            <a:r>
              <a:rPr lang="en" sz="1100" dirty="0"/>
              <a:t>/blog/2023/</a:t>
            </a:r>
            <a:r>
              <a:rPr lang="en" sz="1100" dirty="0" err="1"/>
              <a:t>qkv</a:t>
            </a:r>
            <a:r>
              <a:rPr lang="en" sz="1100" dirty="0"/>
              <a:t>-transformer/</a:t>
            </a:r>
            <a:endParaRPr lang="ru-RU" sz="11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2969BF6-1E24-E25B-A390-AD107395B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6" y="4027958"/>
            <a:ext cx="4287176" cy="272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6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871F23C-397D-5391-FC1C-27AFED8AD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367" y="4933454"/>
            <a:ext cx="5528007" cy="172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DD9DD8A-C887-FFC3-D923-0FB0B032E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1502" y="4815131"/>
            <a:ext cx="5333210" cy="154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7288" y="232406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режиме </a:t>
            </a:r>
            <a:r>
              <a:rPr lang="ru-RU" dirty="0" err="1"/>
              <a:t>Seq</a:t>
            </a:r>
            <a:r>
              <a:rPr lang="en-US" dirty="0"/>
              <a:t>2Seq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7288" y="691837"/>
            <a:ext cx="11731086" cy="56838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Пусть требуется предсказать последовательность значений по входным данным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1800" dirty="0"/>
              <a:t>Эта задача </a:t>
            </a:r>
            <a:r>
              <a:rPr lang="ru-RU" sz="1800" dirty="0" err="1"/>
              <a:t>seq</a:t>
            </a:r>
            <a:r>
              <a:rPr lang="en-US" sz="1800" dirty="0" err="1"/>
              <a:t>uence</a:t>
            </a:r>
            <a:r>
              <a:rPr lang="en-US" sz="1800" dirty="0"/>
              <a:t>-to-sequence (Seq2Seq)</a:t>
            </a:r>
            <a:endParaRPr lang="ru-RU" sz="1800" dirty="0"/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RNN</a:t>
            </a:r>
            <a:r>
              <a:rPr lang="en-US" sz="2200" dirty="0"/>
              <a:t> </a:t>
            </a:r>
            <a:r>
              <a:rPr lang="ru-RU" sz="2200" dirty="0"/>
              <a:t>предполагает что мы идем окном по известной последовательности пока не дойдем до последнего известного значения.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На выходе последнее известное значение </a:t>
            </a:r>
            <a:r>
              <a:rPr lang="en-US" sz="2200" dirty="0" err="1"/>
              <a:t>y_n</a:t>
            </a:r>
            <a:r>
              <a:rPr lang="en-US" sz="2200" dirty="0"/>
              <a:t> </a:t>
            </a:r>
            <a:r>
              <a:rPr lang="ru-RU" sz="2200" dirty="0"/>
              <a:t>и</a:t>
            </a:r>
            <a:r>
              <a:rPr lang="en-US" sz="2200" dirty="0"/>
              <a:t> </a:t>
            </a:r>
            <a:r>
              <a:rPr lang="en-US" sz="2200" dirty="0" err="1"/>
              <a:t>h_n</a:t>
            </a:r>
            <a:endParaRPr lang="en-US" sz="2200" dirty="0"/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 последующих прогнозах</a:t>
            </a:r>
            <a:r>
              <a:rPr lang="en-US" sz="2200" dirty="0"/>
              <a:t> h_(</a:t>
            </a:r>
            <a:r>
              <a:rPr lang="en-US" sz="2200" dirty="0" err="1"/>
              <a:t>n+i</a:t>
            </a:r>
            <a:r>
              <a:rPr lang="en-US" sz="2200" dirty="0"/>
              <a:t>) </a:t>
            </a:r>
            <a:r>
              <a:rPr lang="ru-RU" sz="2200" dirty="0"/>
              <a:t>и </a:t>
            </a:r>
            <a:r>
              <a:rPr lang="en-US" sz="2200" dirty="0"/>
              <a:t>\hat y_(</a:t>
            </a:r>
            <a:r>
              <a:rPr lang="en-US" sz="2200" dirty="0" err="1"/>
              <a:t>n+i</a:t>
            </a:r>
            <a:r>
              <a:rPr lang="en-US" sz="2200" dirty="0"/>
              <a:t>)</a:t>
            </a:r>
            <a:r>
              <a:rPr lang="ru-RU" sz="2200" dirty="0"/>
              <a:t> будет зависеть от оценки </a:t>
            </a:r>
            <a:r>
              <a:rPr lang="en-US" sz="2200" dirty="0"/>
              <a:t>\hat y_(n+i-1) </a:t>
            </a:r>
            <a:endParaRPr lang="ru-RU" sz="2200" dirty="0"/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Тогда условно можно разделить архитектуру на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кодирующую часть (</a:t>
            </a:r>
            <a:r>
              <a:rPr lang="ru-RU" sz="2200" dirty="0" err="1"/>
              <a:t>Энкодер</a:t>
            </a:r>
            <a:r>
              <a:rPr lang="ru-RU" sz="2200" dirty="0"/>
              <a:t>) – создает  </a:t>
            </a:r>
            <a:r>
              <a:rPr lang="en-US" sz="2200" dirty="0" err="1"/>
              <a:t>h_n</a:t>
            </a:r>
            <a:endParaRPr lang="ru-RU" sz="2200" dirty="0"/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Декодирующую часть (декодер) – </a:t>
            </a:r>
            <a:r>
              <a:rPr lang="ru-RU" sz="2200" dirty="0" err="1"/>
              <a:t>прогназирует</a:t>
            </a:r>
            <a:r>
              <a:rPr lang="ru-RU" sz="2200" dirty="0"/>
              <a:t> </a:t>
            </a:r>
            <a:r>
              <a:rPr lang="en-US" sz="2200" dirty="0"/>
              <a:t>\hat y_(</a:t>
            </a:r>
            <a:r>
              <a:rPr lang="en-US" sz="2200" dirty="0" err="1"/>
              <a:t>n+i</a:t>
            </a:r>
            <a:r>
              <a:rPr lang="en-US" sz="2200" dirty="0"/>
              <a:t>)</a:t>
            </a:r>
            <a:endParaRPr lang="ru-RU" sz="2200" dirty="0"/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Вектор </a:t>
            </a:r>
            <a:r>
              <a:rPr lang="en-US" sz="2200" dirty="0" err="1"/>
              <a:t>h_n</a:t>
            </a:r>
            <a:r>
              <a:rPr lang="ru-RU" sz="2200" dirty="0"/>
              <a:t> – компактное представление известного состояния системы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ru-RU" sz="2200" dirty="0"/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ru-RU" sz="24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BC6AA1D1-94FA-D72D-BEB2-5A9E356F8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88" y="4341769"/>
            <a:ext cx="6732807" cy="249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BB0F624-8637-AE31-D116-DD08F96AF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1808" y="3047912"/>
            <a:ext cx="2872904" cy="161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AFA44F-1F99-7162-F8FB-E393AF39B088}"/>
              </a:ext>
            </a:extLst>
          </p:cNvPr>
          <p:cNvSpPr txBox="1"/>
          <p:nvPr/>
        </p:nvSpPr>
        <p:spPr>
          <a:xfrm>
            <a:off x="6839594" y="6659465"/>
            <a:ext cx="60938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https</a:t>
            </a:r>
            <a:r>
              <a:rPr lang="ru-RU" sz="800" dirty="0"/>
              <a:t>://</a:t>
            </a:r>
            <a:r>
              <a:rPr lang="ru-RU" sz="800" dirty="0" err="1"/>
              <a:t>readmedium.com</a:t>
            </a:r>
            <a:r>
              <a:rPr lang="ru-RU" sz="800" dirty="0"/>
              <a:t>/implementing-seq2seq-models-for-efficient-time-series-forecasting-88dba1d66187</a:t>
            </a:r>
          </a:p>
        </p:txBody>
      </p:sp>
    </p:spTree>
    <p:extLst>
      <p:ext uri="{BB962C8B-B14F-4D97-AF65-F5344CB8AC3E}">
        <p14:creationId xmlns:p14="http://schemas.microsoft.com/office/powerpoint/2010/main" val="1743815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1A4C7-7DF5-2566-BF73-7ED6D22A9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A9A12-8A9E-CB8E-F027-DF89EB366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5800" y="426149"/>
            <a:ext cx="10084472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RNN</a:t>
            </a:r>
            <a:r>
              <a:rPr lang="en-US" b="1" dirty="0"/>
              <a:t> c </a:t>
            </a:r>
            <a:r>
              <a:rPr lang="ru-RU" b="1" dirty="0"/>
              <a:t>вниманием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78FA63F-6E14-00EE-8E4B-1B9C6497EE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0457" y="1037440"/>
                <a:ext cx="11731086" cy="54974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b="1" dirty="0"/>
                  <a:t>Идея: </a:t>
                </a:r>
              </a:p>
              <a:p>
                <a:pPr marL="0" indent="0">
                  <a:buNone/>
                </a:pPr>
                <a:r>
                  <a:rPr lang="ru-RU" sz="2200" b="1" dirty="0"/>
                  <a:t>модель могла бы </a:t>
                </a:r>
                <a:r>
                  <a:rPr lang="ru-RU" sz="2200" dirty="0"/>
                  <a:t>внимательно смотреть</a:t>
                </a:r>
                <a:r>
                  <a:rPr lang="ru-RU" sz="2200" b="1" dirty="0"/>
                  <a:t> на все прошлые шаги, а не только "сжимать" их</a:t>
                </a:r>
              </a:p>
              <a:p>
                <a:pPr marL="0" indent="0">
                  <a:buNone/>
                </a:pPr>
                <a:r>
                  <a:rPr lang="ru-RU" sz="2200" dirty="0"/>
                  <a:t>Реализация идеи - механизму внимания (</a:t>
                </a:r>
                <a:r>
                  <a:rPr lang="en" sz="2200" dirty="0"/>
                  <a:t>Attention Mechanism).</a:t>
                </a:r>
                <a:endParaRPr lang="ru-RU" sz="2200" dirty="0"/>
              </a:p>
              <a:p>
                <a:pPr marL="457200" lvl="1" indent="0">
                  <a:buNone/>
                </a:pPr>
                <a:r>
                  <a:rPr lang="ru-RU" sz="2200" b="1" dirty="0"/>
                  <a:t>Внимание</a:t>
                </a:r>
                <a:r>
                  <a:rPr lang="ru-RU" sz="2200" dirty="0"/>
                  <a:t> — это способность модели взвешенно обращаться к разным частям входной последовательности, в зависимости от того, насколько они важны для текущего предсказания.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 </a:t>
                </a:r>
                <a:r>
                  <a:rPr lang="en" sz="2200" b="1" dirty="0">
                    <a:solidFill>
                      <a:srgbClr val="2C2C36"/>
                    </a:solidFill>
                    <a:latin typeface="system-ui"/>
                  </a:rPr>
                  <a:t>RNN</a:t>
                </a:r>
                <a:r>
                  <a:rPr lang="ru-RU" sz="2200" b="1" dirty="0">
                    <a:solidFill>
                      <a:srgbClr val="2C2C36"/>
                    </a:solidFill>
                    <a:latin typeface="system-ui"/>
                  </a:rPr>
                  <a:t> с вниманием  - обработка параллельно набора предыдущих состояний</a:t>
                </a:r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i="1" dirty="0">
                    <a:latin typeface="Cambria Math" panose="02040503050406030204" pitchFamily="18" charset="0"/>
                  </a:rPr>
                  <a:t>	Цель – выделить наиболее важные состояния и «подсветить» в текущем векторе состояний на что обратить внимание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i="1" dirty="0">
                    <a:latin typeface="Cambria Math" panose="02040503050406030204" pitchFamily="18" charset="0"/>
                  </a:rPr>
                  <a:t>Для этого введем </a:t>
                </a:r>
                <a:r>
                  <a:rPr lang="en-US" sz="2200" i="1" dirty="0">
                    <a:latin typeface="Cambria Math" panose="02040503050406030204" pitchFamily="18" charset="0"/>
                  </a:rPr>
                  <a:t>score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 состояний, например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i="1" dirty="0">
                    <a:latin typeface="Cambria Math" panose="02040503050406030204" pitchFamily="18" charset="0"/>
                  </a:rPr>
                  <a:t>Пусть </a:t>
                </a:r>
                <a:r>
                  <a:rPr lang="ru-RU" sz="2200" i="1" dirty="0" err="1">
                    <a:latin typeface="Cambria Math" panose="02040503050406030204" pitchFamily="18" charset="0"/>
                  </a:rPr>
                  <a:t>Q</a:t>
                </a:r>
                <a:r>
                  <a:rPr lang="en-US" sz="2200" i="1" dirty="0">
                    <a:latin typeface="Cambria Math" panose="02040503050406030204" pitchFamily="18" charset="0"/>
                  </a:rPr>
                  <a:t> – 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вектор скрытых состояний в </a:t>
                </a:r>
                <a:r>
                  <a:rPr lang="ru-RU" sz="2200" i="1" dirty="0" err="1">
                    <a:latin typeface="Cambria Math" panose="02040503050406030204" pitchFamily="18" charset="0"/>
                  </a:rPr>
                  <a:t>режме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 предсказания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sSup>
                            <m:sSup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sz="2200" dirty="0"/>
                  <a:t>​,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sz="2200" dirty="0"/>
                  <a:t>​— </a:t>
                </a:r>
                <a:r>
                  <a:rPr lang="en-US" sz="2200" dirty="0" err="1"/>
                  <a:t>мат</a:t>
                </a:r>
                <a:r>
                  <a:rPr lang="ru-RU" sz="2200" dirty="0" err="1"/>
                  <a:t>рицы</a:t>
                </a:r>
                <a:r>
                  <a:rPr lang="ru-RU" sz="2200" dirty="0"/>
                  <a:t> параметров (</a:t>
                </a:r>
                <a:r>
                  <a:rPr lang="ru-RU" sz="2200" dirty="0" err="1"/>
                  <a:t>полносвязные</a:t>
                </a:r>
                <a:r>
                  <a:rPr lang="ru-RU" sz="2200" dirty="0"/>
                  <a:t> слои) для обучения сложных зависимостей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200" i="1" dirty="0">
                    <a:latin typeface="Cambria Math" panose="02040503050406030204" pitchFamily="18" charset="0"/>
                  </a:rPr>
                  <a:t> </a:t>
                </a:r>
                <a:r>
                  <a:rPr lang="ru-RU" sz="2200" dirty="0">
                    <a:latin typeface="Cambria Math" panose="02040503050406030204" pitchFamily="18" charset="0"/>
                  </a:rPr>
                  <a:t>матрица состояний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i="1" dirty="0">
                    <a:latin typeface="Cambria Math" panose="02040503050406030204" pitchFamily="18" charset="0"/>
                  </a:rPr>
                  <a:t>По </a:t>
                </a:r>
                <a:r>
                  <a:rPr lang="ru-RU" sz="2200" i="1" dirty="0" err="1">
                    <a:latin typeface="Cambria Math" panose="02040503050406030204" pitchFamily="18" charset="0"/>
                  </a:rPr>
                  <a:t>анологии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 с текстами:  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78FA63F-6E14-00EE-8E4B-1B9C6497EE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0457" y="1037440"/>
                <a:ext cx="11731086" cy="5497471"/>
              </a:xfrm>
              <a:blipFill>
                <a:blip r:embed="rId3"/>
                <a:stretch>
                  <a:fillRect l="-649" t="-1382" b="-9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9B6AB84A-4269-D9CB-21BC-C8E121909E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5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0E190-CA5A-A613-8ACC-464845AE8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0A761-4246-BBFF-D959-A530B9490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8" y="290945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режиме </a:t>
            </a:r>
            <a:r>
              <a:rPr lang="en-US" dirty="0"/>
              <a:t>encoder only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C207B75-866E-EFFA-F593-7DF7DB08E8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288" y="883227"/>
                <a:ext cx="11731086" cy="568382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400" dirty="0"/>
                  <a:t>П</a:t>
                </a:r>
                <a14:m>
                  <m:oMath xmlns:m="http://schemas.openxmlformats.org/officeDocument/2006/math">
                    <m:r>
                      <a:rPr lang="ru-RU" sz="2400" dirty="0">
                        <a:latin typeface="Cambria Math" panose="02040503050406030204" pitchFamily="18" charset="0"/>
                      </a:rPr>
                      <m:t>у</m:t>
                    </m:r>
                    <m:r>
                      <a:rPr lang="ru-RU" sz="2400" b="0" i="0" dirty="0" smtClean="0">
                        <a:latin typeface="Cambria Math" panose="02040503050406030204" pitchFamily="18" charset="0"/>
                      </a:rPr>
                      <m:t>сть есть буфер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2400" b="0" i="0" dirty="0" smtClean="0">
                        <a:latin typeface="Cambria Math" panose="02040503050406030204" pitchFamily="18" charset="0"/>
                      </a:rPr>
                      <m:t> скрытых состояний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𝑛𝑗</m:t>
                        </m:r>
                      </m:sub>
                    </m:sSub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 энкодера</m:t>
                    </m:r>
                  </m:oMath>
                </a14:m>
                <a:r>
                  <a:rPr lang="ru-RU" sz="2400" b="0" i="1" dirty="0">
                    <a:latin typeface="Cambria Math" panose="020405030504060302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ru-RU" sz="2400" dirty="0">
                        <a:latin typeface="Cambria Math" panose="02040503050406030204" pitchFamily="18" charset="0"/>
                      </a:rPr>
                      <m:t>скрытых состояний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𝑛𝑗</m:t>
                        </m:r>
                      </m:sub>
                    </m:sSub>
                    <m:r>
                      <a:rPr lang="ru-RU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декодера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 требуется предсказать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ru-RU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5"/>
                                </m:r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brk m:alnAt="25"/>
                                </m:r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ru-RU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endParaRPr lang="ru-RU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5"/>
                                </m:r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brk m:alnAt="25"/>
                                </m:r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2400" dirty="0" err="1"/>
                  <a:t>где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𝑛𝑗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r>
                  <a:rPr lang="en-US" sz="2400" dirty="0"/>
                  <a:t> - </a:t>
                </a:r>
                <a:r>
                  <a:rPr lang="en-US" sz="2400" dirty="0" err="1"/>
                  <a:t>слой</a:t>
                </a:r>
                <a:r>
                  <a:rPr lang="ru-RU" sz="2400" dirty="0"/>
                  <a:t> задающий вектор текущих скрытых состояний из предыдущих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400" dirty="0"/>
                  <a:t> скрытых состояний</a:t>
                </a:r>
                <a:r>
                  <a:rPr lang="en-US" sz="24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:r>
                  <a:rPr lang="en-US" sz="2400" dirty="0" err="1"/>
                  <a:t>ве</a:t>
                </a:r>
                <a:r>
                  <a:rPr lang="ru-RU" sz="2400" dirty="0"/>
                  <a:t>с каждого скрытого состояния</a:t>
                </a:r>
                <a:r>
                  <a:rPr lang="en-US" sz="2400" dirty="0"/>
                  <a:t>;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C207B75-866E-EFFA-F593-7DF7DB08E8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288" y="883227"/>
                <a:ext cx="11731086" cy="5683828"/>
              </a:xfrm>
              <a:blipFill>
                <a:blip r:embed="rId3"/>
                <a:stretch>
                  <a:fillRect l="-757" t="-6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8A313DC5-9669-D072-FD04-7E4FCF7987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1963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F3182-FE82-096C-7415-EC2FFA2AA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7D898F-94B0-55B1-BE33-B1E6B7AAC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8" y="290945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режиме </a:t>
            </a:r>
            <a:r>
              <a:rPr lang="en-US" dirty="0"/>
              <a:t>encoder only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D91C02F-8378-5B65-2179-2A34ECD52A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288" y="883227"/>
                <a:ext cx="11731086" cy="568382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400" dirty="0"/>
                  <a:t>П</a:t>
                </a:r>
                <a14:m>
                  <m:oMath xmlns:m="http://schemas.openxmlformats.org/officeDocument/2006/math">
                    <m:r>
                      <a:rPr lang="ru-RU" sz="2400" dirty="0">
                        <a:latin typeface="Cambria Math" panose="02040503050406030204" pitchFamily="18" charset="0"/>
                      </a:rPr>
                      <m:t>у</m:t>
                    </m:r>
                    <m:r>
                      <a:rPr lang="ru-RU" sz="2400" b="0" i="0" dirty="0" smtClean="0">
                        <a:latin typeface="Cambria Math" panose="02040503050406030204" pitchFamily="18" charset="0"/>
                      </a:rPr>
                      <m:t>сть 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есть</m:t>
                    </m:r>
                    <m:r>
                      <a:rPr lang="ru-RU" sz="2400" b="0" i="0" dirty="0" smtClean="0">
                        <a:latin typeface="Cambria Math" panose="02040503050406030204" pitchFamily="18" charset="0"/>
                      </a:rPr>
                      <m:t> задача итеративного предсказания</m:t>
                    </m:r>
                  </m:oMath>
                </a14:m>
                <a:r>
                  <a:rPr lang="ru-RU" sz="2400" b="0" dirty="0"/>
                  <a:t> и </a:t>
                </a:r>
                <a14:m>
                  <m:oMath xmlns:m="http://schemas.openxmlformats.org/officeDocument/2006/math">
                    <m:r>
                      <a:rPr lang="ru-RU" sz="2400" dirty="0">
                        <a:latin typeface="Cambria Math" panose="02040503050406030204" pitchFamily="18" charset="0"/>
                      </a:rPr>
                      <m:t>есть буфер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2400" dirty="0">
                        <a:latin typeface="Cambria Math" panose="02040503050406030204" pitchFamily="18" charset="0"/>
                      </a:rPr>
                      <m:t> скрытых состояний</m:t>
                    </m:r>
                  </m:oMath>
                </a14:m>
                <a:r>
                  <a:rPr lang="ru-RU" sz="2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𝑛𝑗</m:t>
                        </m:r>
                      </m:sub>
                    </m:sSub>
                  </m:oMath>
                </a14:m>
                <a:r>
                  <a:rPr lang="ru-RU" sz="2400" i="1" dirty="0">
                    <a:latin typeface="Cambria Math" panose="02040503050406030204" pitchFamily="18" charset="0"/>
                  </a:rPr>
                  <a:t>. Полученных последовательно при прохождении известной последовательности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400" i="1" dirty="0">
                    <a:latin typeface="Cambria Math" panose="02040503050406030204" pitchFamily="18" charset="0"/>
                  </a:rPr>
                  <a:t>Гипотеза: анализ набора скрытых состояний  позволяет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5"/>
                                </m:r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brk m:alnAt="25"/>
                                </m:r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ru-RU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endParaRPr lang="ru-RU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5"/>
                                </m:r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brk m:alnAt="25"/>
                                </m:r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2400" dirty="0" err="1"/>
                  <a:t>где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𝑛𝑗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r>
                  <a:rPr lang="en-US" sz="2400" dirty="0"/>
                  <a:t> - </a:t>
                </a:r>
                <a:r>
                  <a:rPr lang="en-US" sz="2400" dirty="0" err="1"/>
                  <a:t>слой</a:t>
                </a:r>
                <a:r>
                  <a:rPr lang="ru-RU" sz="2400" dirty="0"/>
                  <a:t> задающий вектор текущих скрытых состояний из предыдущих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400" dirty="0"/>
                  <a:t> скрытых состояний</a:t>
                </a:r>
                <a:r>
                  <a:rPr lang="en-US" sz="24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:r>
                  <a:rPr lang="en-US" sz="2400" dirty="0" err="1"/>
                  <a:t>ве</a:t>
                </a:r>
                <a:r>
                  <a:rPr lang="ru-RU" sz="2400" dirty="0"/>
                  <a:t>с каждого скрытого состояния</a:t>
                </a:r>
                <a:r>
                  <a:rPr lang="en-US" sz="2400" dirty="0"/>
                  <a:t>;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D91C02F-8378-5B65-2179-2A34ECD52A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288" y="883227"/>
                <a:ext cx="11731086" cy="5683828"/>
              </a:xfrm>
              <a:blipFill>
                <a:blip r:embed="rId3"/>
                <a:stretch>
                  <a:fillRect l="-757" t="-670" b="-8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AC3F6A35-DFC1-1C04-EA39-6E9CEA1FF7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DAA2D3F-52EB-345B-6FAE-8E35D3054D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8" r="24994" b="43139"/>
          <a:stretch>
            <a:fillRect/>
          </a:stretch>
        </p:blipFill>
        <p:spPr bwMode="auto">
          <a:xfrm>
            <a:off x="8164232" y="2636111"/>
            <a:ext cx="3840480" cy="207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11AE47F9-C980-98EB-83D7-D1075D961C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47" r="21887"/>
          <a:stretch>
            <a:fillRect/>
          </a:stretch>
        </p:blipFill>
        <p:spPr bwMode="auto">
          <a:xfrm>
            <a:off x="7998646" y="4710466"/>
            <a:ext cx="3998976" cy="2098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BC2E69-ADDB-F884-2EED-102E96A3FB41}"/>
              </a:ext>
            </a:extLst>
          </p:cNvPr>
          <p:cNvSpPr txBox="1"/>
          <p:nvPr/>
        </p:nvSpPr>
        <p:spPr>
          <a:xfrm>
            <a:off x="4363558" y="654715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readmedium.com</a:t>
            </a:r>
            <a:r>
              <a:rPr lang="ru-RU" sz="1100" dirty="0"/>
              <a:t>/transformer-implementation-for-time-series-forecasting-a9db2db5c820</a:t>
            </a:r>
          </a:p>
        </p:txBody>
      </p:sp>
    </p:spTree>
    <p:extLst>
      <p:ext uri="{BB962C8B-B14F-4D97-AF65-F5344CB8AC3E}">
        <p14:creationId xmlns:p14="http://schemas.microsoft.com/office/powerpoint/2010/main" val="222801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897EB-1A9B-734A-42D3-27817A09A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E2BC826-B948-4E3D-7154-381EE85EC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367" y="4933454"/>
            <a:ext cx="5528007" cy="172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B207D49-87E1-FE65-7FFB-726BC18CE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1502" y="4815131"/>
            <a:ext cx="5333210" cy="154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16D6C-7C51-AB2B-49D4-BA9B5FA18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8" y="232406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режиме </a:t>
            </a:r>
            <a:r>
              <a:rPr lang="ru-RU" dirty="0" err="1"/>
              <a:t>Seq</a:t>
            </a:r>
            <a:r>
              <a:rPr lang="en-US" dirty="0"/>
              <a:t>2Seq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DBBE34-53FD-D444-DECC-21FCE1A50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288" y="883227"/>
            <a:ext cx="11731086" cy="5683828"/>
          </a:xfrm>
        </p:spPr>
        <p:txBody>
          <a:bodyPr>
            <a:normAutofit/>
          </a:bodyPr>
          <a:lstStyle/>
          <a:p>
            <a:r>
              <a:rPr lang="ru-RU" b="1" dirty="0"/>
              <a:t>Идея: модель могла бы </a:t>
            </a:r>
            <a:r>
              <a:rPr lang="ru-RU" dirty="0"/>
              <a:t>внимательно смотреть</a:t>
            </a:r>
            <a:r>
              <a:rPr lang="ru-RU" b="1" dirty="0"/>
              <a:t> на все прошлые шаги, а не только "сжимать" их?</a:t>
            </a:r>
          </a:p>
          <a:p>
            <a:r>
              <a:rPr lang="ru-RU" dirty="0"/>
              <a:t>Реализация идеи - механизму внимания (</a:t>
            </a:r>
            <a:r>
              <a:rPr lang="en" dirty="0"/>
              <a:t>Attention Mechanism).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400" dirty="0"/>
              <a:t>Пусть у нас есть буфер сохранения состояний 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400" dirty="0"/>
              <a:t>𝑦 ̂_(𝑛+1)=𝐴^1 𝑓(𝐴𝑦_𝑛+𝐵</a:t>
            </a:r>
            <a:r>
              <a:rPr lang="en-US" sz="2400" dirty="0" err="1"/>
              <a:t>ℎ</a:t>
            </a:r>
            <a:r>
              <a:rPr lang="en-US" sz="2400" dirty="0"/>
              <a:t>_𝑛 )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ru-RU" sz="24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3ED7432-7BF1-BE78-A538-C45942C6C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17353"/>
            <a:ext cx="6920095" cy="2560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039FFE87-7379-E30C-1080-AB46E92476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723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r="1456"/>
          <a:stretch/>
        </p:blipFill>
        <p:spPr>
          <a:xfrm>
            <a:off x="1" y="2415715"/>
            <a:ext cx="12192000" cy="444228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270532" y="3244334"/>
            <a:ext cx="3650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https://arxiv.org/html/2411.05793v1</a:t>
            </a:r>
          </a:p>
        </p:txBody>
      </p:sp>
    </p:spTree>
    <p:extLst>
      <p:ext uri="{BB962C8B-B14F-4D97-AF65-F5344CB8AC3E}">
        <p14:creationId xmlns:p14="http://schemas.microsoft.com/office/powerpoint/2010/main" val="279233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312737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/>
              <a:t>1-мерная </a:t>
            </a:r>
            <a:r>
              <a:rPr lang="ru-RU" sz="4000" b="1" dirty="0" err="1"/>
              <a:t>сверточная</a:t>
            </a:r>
            <a:r>
              <a:rPr lang="ru-RU" sz="4000" b="1" dirty="0"/>
              <a:t> нейронная сеть</a:t>
            </a:r>
            <a:r>
              <a:rPr lang="en-US" sz="4000" b="1" dirty="0"/>
              <a:t>. </a:t>
            </a:r>
            <a:r>
              <a:rPr lang="ru-RU" sz="4000" b="1" dirty="0"/>
              <a:t>Расширенная свертка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7975" y="1040130"/>
            <a:ext cx="11374451" cy="5687225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Стандартные 1d-сверточные слои могут быть вычислительно-сложными задачами, если долгосрочные зависимости значительны.</a:t>
            </a:r>
          </a:p>
          <a:p>
            <a:pPr lvl="1"/>
            <a:r>
              <a:rPr lang="ru-RU" sz="2000" dirty="0"/>
              <a:t>Количество параметров напрямую зависит от размера рецептивного поля.</a:t>
            </a:r>
          </a:p>
          <a:p>
            <a:pPr lvl="0"/>
            <a:r>
              <a:rPr lang="ru-RU" sz="2000" u="sng" dirty="0"/>
              <a:t>Чтобы преодолеть проблему размера рецептивного поля и обрабатывать долгосрочные зависимости, применяются расширенные сверточные слои.</a:t>
            </a:r>
            <a:endParaRPr lang="ru-RU" sz="2000" dirty="0"/>
          </a:p>
          <a:p>
            <a:pPr lvl="0"/>
            <a:r>
              <a:rPr lang="ru-RU" sz="2000" i="1" dirty="0"/>
              <a:t>Расширенная свертка позволяет увеличить рецептивное поле без нарушения последовательности временного ряда, но за счет увеличения глубины сети.</a:t>
            </a:r>
            <a:endParaRPr lang="ru-RU" sz="2000" dirty="0"/>
          </a:p>
          <a:p>
            <a:pPr lvl="0"/>
            <a:r>
              <a:rPr lang="ru-RU" sz="2000" dirty="0"/>
              <a:t>В простой каузальной свертке на графике ниже вы можете видеть, что только 5 последних временных шагов могут повлиять на выделенный результат.</a:t>
            </a:r>
          </a:p>
          <a:p>
            <a:pPr lvl="0"/>
            <a:r>
              <a:rPr lang="ru-RU" sz="2000" dirty="0"/>
              <a:t>Расширение свертки позволяет </a:t>
            </a:r>
            <a:r>
              <a:rPr lang="ru-RU" sz="2000" i="1" dirty="0"/>
              <a:t>рецептивному</a:t>
            </a:r>
            <a:r>
              <a:rPr lang="ru-RU" sz="2000" dirty="0"/>
              <a:t> полю экспоненциально увеличиваться в зависимости от глубины сверточного слоя.</a:t>
            </a:r>
            <a:endParaRPr lang="en-US" sz="2000" dirty="0"/>
          </a:p>
          <a:p>
            <a:pPr lvl="1"/>
            <a:r>
              <a:rPr lang="ru-RU" sz="1600" dirty="0"/>
              <a:t>Однако, надо понимать, что свертка не должна нарушать теорему Котельникова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75" y="4954762"/>
            <a:ext cx="4914558" cy="190323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105" y="4980186"/>
            <a:ext cx="4376750" cy="187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9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356852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/>
              <a:t>1-мерная </a:t>
            </a:r>
            <a:r>
              <a:rPr lang="ru-RU" sz="4000" b="1" dirty="0" err="1"/>
              <a:t>сверточная</a:t>
            </a:r>
            <a:r>
              <a:rPr lang="ru-RU" sz="4000" b="1" dirty="0"/>
              <a:t> нейронная сеть</a:t>
            </a:r>
            <a:r>
              <a:rPr lang="en-US" sz="4000" b="1" dirty="0"/>
              <a:t>. </a:t>
            </a:r>
            <a:r>
              <a:rPr lang="ru-RU" sz="4000" b="1" dirty="0"/>
              <a:t>Расширенная свертка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1230593"/>
            <a:ext cx="11374451" cy="5627405"/>
          </a:xfrm>
        </p:spPr>
        <p:txBody>
          <a:bodyPr>
            <a:noAutofit/>
          </a:bodyPr>
          <a:lstStyle/>
          <a:p>
            <a:pPr algn="l" rtl="0"/>
            <a:r>
              <a:rPr lang="ru-RU" sz="2000" dirty="0"/>
              <a:t>Также может быть </a:t>
            </a:r>
            <a:r>
              <a:rPr lang="en-US" sz="2000" u="sng" dirty="0" err="1"/>
              <a:t>двунаправленн</a:t>
            </a:r>
            <a:r>
              <a:rPr lang="ru-RU" sz="2000" u="sng" dirty="0" err="1"/>
              <a:t>ая</a:t>
            </a:r>
            <a:r>
              <a:rPr lang="ru-RU" sz="2000" u="sng" dirty="0"/>
              <a:t> расширенная свертка. </a:t>
            </a:r>
            <a:endParaRPr lang="en-US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584" y="1822053"/>
            <a:ext cx="9374392" cy="1988568"/>
          </a:xfrm>
          <a:prstGeom prst="rect">
            <a:avLst/>
          </a:prstGeom>
        </p:spPr>
      </p:pic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463721" y="3810622"/>
            <a:ext cx="7311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многомасштабного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предсказания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расширенной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свертк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ой</a:t>
            </a:r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584" y="4252110"/>
            <a:ext cx="7959726" cy="234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7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Сеть на основе внимания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000" u="sng" dirty="0"/>
              <a:t>Внимание - механизм улучшения долгосрочного обучения зависимостям в нейронной сети.</a:t>
            </a:r>
            <a:endParaRPr lang="ru-RU" sz="2000" dirty="0"/>
          </a:p>
          <a:p>
            <a:pPr>
              <a:spcBef>
                <a:spcPts val="0"/>
              </a:spcBef>
            </a:pPr>
            <a:r>
              <a:rPr lang="ru-RU" sz="2000" dirty="0"/>
              <a:t>Механизм внимания дает несколько ключевых преимуществ – 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позволяют реагировать на любые значимые редкие события.</a:t>
            </a:r>
          </a:p>
          <a:p>
            <a:pPr lvl="2">
              <a:spcBef>
                <a:spcPts val="0"/>
              </a:spcBef>
            </a:pPr>
            <a:r>
              <a:rPr lang="ru-RU" sz="1600" dirty="0"/>
              <a:t>Например, в приложениях для прогнозирования розничной торговли сюда входят праздничные или рекламные периоды, которые могут положительно повлиять на продажи.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изучать последовательности контролируемой длины (довольно длинные последовательности)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работать как регуляризация, чтобы избежать исчезновения градиента и взрыва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позволяет исключить повторяющиеся признаки (в трансформаторах), заменив его на кодировку позиций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Первой попыткой создания внимание было  </a:t>
            </a:r>
            <a:r>
              <a:rPr lang="ru-RU" sz="2000" dirty="0" err="1"/>
              <a:t>Attention</a:t>
            </a:r>
            <a:r>
              <a:rPr lang="ru-RU" sz="2000" dirty="0"/>
              <a:t> </a:t>
            </a:r>
            <a:r>
              <a:rPr lang="ru-RU" sz="2000" dirty="0" err="1"/>
              <a:t>for</a:t>
            </a:r>
            <a:r>
              <a:rPr lang="ru-RU" sz="2000" dirty="0"/>
              <a:t> Seq2Seq RNN </a:t>
            </a:r>
            <a:r>
              <a:rPr lang="ru-RU" sz="2000" dirty="0" err="1"/>
              <a:t>Model</a:t>
            </a:r>
            <a:r>
              <a:rPr lang="ru-RU" sz="2000" dirty="0"/>
              <a:t> ( модель кодировщика-декодера </a:t>
            </a:r>
            <a:r>
              <a:rPr lang="ru-RU" sz="2000" dirty="0" err="1"/>
              <a:t>rnn</a:t>
            </a:r>
            <a:r>
              <a:rPr lang="ru-RU" sz="2000" dirty="0"/>
              <a:t>)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В простой (или наивной) реализации seq2seq модель состоит из двух частей: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кодировщик (извлечение признаков)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и декодер, который инициализируется вектором контекста для выдачи преобразованного вывода.</a:t>
            </a:r>
          </a:p>
          <a:p>
            <a:pPr>
              <a:spcBef>
                <a:spcPts val="0"/>
              </a:spcBef>
            </a:pPr>
            <a:r>
              <a:rPr lang="ru-RU" sz="2000" u="sng" dirty="0"/>
              <a:t>В простейшем случае последние состояния сети кодера используются в качестве состояния дополнительной информации декодера, однако часто он забывает самую раннюю часть после завершения обработки всего ввода.</a:t>
            </a:r>
          </a:p>
          <a:p>
            <a:pPr>
              <a:spcBef>
                <a:spcPts val="0"/>
              </a:spcBef>
            </a:pPr>
            <a:r>
              <a:rPr lang="ru-RU" sz="2000" i="1" dirty="0"/>
              <a:t>Примечание</a:t>
            </a:r>
            <a:endParaRPr lang="ru-RU" sz="2000" dirty="0"/>
          </a:p>
          <a:p>
            <a:pPr>
              <a:spcBef>
                <a:spcPts val="0"/>
              </a:spcBef>
            </a:pPr>
            <a:r>
              <a:rPr lang="ru-RU" sz="2000" i="1" dirty="0"/>
              <a:t>Потенциальная проблема с этим подходом кодер-декодер заключается в том, что нейронная сеть должна иметь возможность сжимать всю необходимую информацию исходной последовательности в вектор фиксированной длины.</a:t>
            </a:r>
            <a:endParaRPr 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59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>
                <a:solidFill>
                  <a:srgbClr val="000000"/>
                </a:solidFill>
              </a:rPr>
              <a:t>Сети на основе внимания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000" b="1" u="sng" dirty="0"/>
              <a:t>Механизм внимания был разработан, чтобы помочь запомнить длинные исходные предложения в нейронном машинном переводе. </a:t>
            </a:r>
          </a:p>
          <a:p>
            <a:pPr>
              <a:spcBef>
                <a:spcPts val="0"/>
              </a:spcBef>
            </a:pPr>
            <a:r>
              <a:rPr lang="ru-RU" sz="2000" b="1" dirty="0"/>
              <a:t>Для понимания внимания предположим, что у вас есть: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последовательная модель для прогнозирования результатов 𝑦𝑖,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последовательный ввод модели ℎ𝑖;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может быть как 𝑦𝑖 − 1, так и его комбинация с другими данными (на рисунке ниже это 𝑦𝑖 − 1;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декодер сохраняет свое скрытое состояние 𝑠𝑖 − 1 и передает его на каждый следующий шаг для предсказания 𝑦𝑖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кроме того, декодер имеет в качестве входного вектора контекста 𝑐𝑖, который указывает на коэффициент воздействия временного шага −.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Давайте теперь рассмотрим </a:t>
            </a:r>
            <a:r>
              <a:rPr lang="ru-RU" sz="2000" b="1" dirty="0"/>
              <a:t>модель </a:t>
            </a:r>
            <a:r>
              <a:rPr lang="ru-RU" sz="2000" b="1" dirty="0" err="1"/>
              <a:t>Attention</a:t>
            </a:r>
            <a:r>
              <a:rPr lang="ru-RU" sz="2000" b="1" dirty="0"/>
              <a:t> </a:t>
            </a:r>
            <a:r>
              <a:rPr lang="ru-RU" sz="2000" b="1" dirty="0" err="1"/>
              <a:t>Encoder-Decoder</a:t>
            </a:r>
            <a:r>
              <a:rPr lang="ru-RU" sz="2000" b="1" dirty="0"/>
              <a:t> (seq2seq).</a:t>
            </a:r>
            <a:endParaRPr lang="ru-RU" alt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31" y="4082308"/>
            <a:ext cx="3781425" cy="230505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634" y="3742134"/>
            <a:ext cx="5209801" cy="29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9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>
                <a:solidFill>
                  <a:srgbClr val="000000"/>
                </a:solidFill>
              </a:rPr>
              <a:t>Сети на основе внимания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b="1" dirty="0"/>
              <a:t>В изначальной задумке</a:t>
            </a:r>
            <a:r>
              <a:rPr lang="ru-RU" sz="2000" u="sng" dirty="0"/>
              <a:t> было предложено использовать персептрон с выходом </a:t>
            </a:r>
            <a:r>
              <a:rPr lang="ru-RU" sz="2000" u="sng" dirty="0" err="1"/>
              <a:t>soft-max</a:t>
            </a:r>
            <a:r>
              <a:rPr lang="ru-RU" sz="2000" u="sng" dirty="0"/>
              <a:t> (для </a:t>
            </a:r>
            <a:r>
              <a:rPr lang="ru-RU" sz="2000" dirty="0"/>
              <a:t> 𝑐𝑖 </a:t>
            </a:r>
            <a:r>
              <a:rPr lang="ru-RU" sz="2000" u="sng" dirty="0"/>
              <a:t>) над вектором скрытого пространства модели seq2seq (последний слой кодировщика).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Веса этих 𝑎𝑖𝑗 настраивается для каждого выходного элемента.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Другими словами</a:t>
            </a:r>
          </a:p>
          <a:p>
            <a:pPr lvl="0">
              <a:spcBef>
                <a:spcPts val="0"/>
              </a:spcBef>
            </a:pPr>
            <a:r>
              <a:rPr lang="ru-RU" sz="2000" b="1" u="sng" dirty="0"/>
              <a:t>Сеть внимания (или слой) представляет собой отношение между скрытым вектором и всей входной последовательностью.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В соответствии с исходной идеей вектор скрытого состояния 𝑐𝑡 для каждого выходного шага 𝑡 может быть вычислен как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5" y="3448050"/>
            <a:ext cx="5802452" cy="2724150"/>
          </a:xfrm>
          <a:prstGeom prst="rect">
            <a:avLst/>
          </a:prstGeom>
        </p:spPr>
      </p:pic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5894817" y="3089782"/>
                <a:ext cx="6096000" cy="371768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ru-RU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где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- вектор контекста - сумма скрытых состояний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входной последовательности, взвешенной по оценкам выравнивания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скрытое состояние кодировщика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шаг времени.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скрытое состояние декодера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шаг времени.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баллы выравнивания присваиваются как балл - это степень обучения, в которой каждый результат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соответствует каждому входу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𝑠𝑐𝑜𝑟𝑒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- функция оценки, которая может быть разной, но здесь изначально предлагается одна показана (так называемое аддитивное внимание или </a:t>
                </a:r>
                <a:r>
                  <a:rPr lang="en-US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Bahdanau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внимание). Декодер использует эти оценки внимания, чтобы решить, сколько внимания уделять вводу на каждом временном шаге декодирования.</a:t>
                </a:r>
                <a:endParaRPr lang="ru-RU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817" y="3089782"/>
                <a:ext cx="6096000" cy="3717684"/>
              </a:xfrm>
              <a:prstGeom prst="rect">
                <a:avLst/>
              </a:prstGeom>
              <a:blipFill>
                <a:blip r:embed="rId3"/>
                <a:stretch>
                  <a:fillRect l="-900" t="-1148" r="-500" b="-1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88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>
                <a:solidFill>
                  <a:srgbClr val="000000"/>
                </a:solidFill>
              </a:rPr>
              <a:t>Сети на основе внимания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Несколько </a:t>
            </a:r>
            <a:r>
              <a:rPr lang="en-US" b="1" dirty="0" err="1"/>
              <a:t>популярных</a:t>
            </a:r>
            <a:r>
              <a:rPr lang="en-US" b="1" dirty="0"/>
              <a:t> </a:t>
            </a:r>
            <a:r>
              <a:rPr lang="en-US" b="1" dirty="0" err="1"/>
              <a:t>функци</a:t>
            </a:r>
            <a:r>
              <a:rPr lang="ru-RU" b="1" dirty="0"/>
              <a:t>й внимания</a:t>
            </a:r>
            <a:r>
              <a:rPr lang="en-US" dirty="0"/>
              <a:t>: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75" y="1042126"/>
            <a:ext cx="7345851" cy="568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2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>
                <a:solidFill>
                  <a:srgbClr val="000000"/>
                </a:solidFill>
              </a:rPr>
              <a:t>Сети на основе внимания. </a:t>
            </a:r>
            <a:r>
              <a:rPr lang="en-US" sz="4000" b="1" dirty="0" err="1"/>
              <a:t>Самовнимание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/>
                  <a:t>Модификацией</a:t>
                </a:r>
                <a:r>
                  <a:rPr lang="en-US" sz="2000" dirty="0"/>
                  <a:t> подхода простого внимания является </a:t>
                </a:r>
                <a:r>
                  <a:rPr lang="en-US" sz="2000" b="1" dirty="0"/>
                  <a:t>слой самовнимания</a:t>
                </a:r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b="1" dirty="0"/>
                  <a:t>Основная идея </a:t>
                </a:r>
                <a:r>
                  <a:rPr lang="en-US" sz="2000" b="1" dirty="0" err="1"/>
                  <a:t>Self_attention</a:t>
                </a:r>
                <a:r>
                  <a:rPr lang="en-US" sz="2000" b="1" dirty="0"/>
                  <a:t> это учиться </a:t>
                </a:r>
                <a:r>
                  <a:rPr lang="en-US" sz="2000" b="1" dirty="0" err="1"/>
                  <a:t>из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вход</a:t>
                </a:r>
                <a:r>
                  <a:rPr lang="ru-RU" sz="2000" b="1" dirty="0" err="1"/>
                  <a:t>ных</a:t>
                </a:r>
                <a:r>
                  <a:rPr lang="ru-RU" sz="2000" b="1" dirty="0"/>
                  <a:t> данных</a:t>
                </a:r>
                <a:r>
                  <a:rPr lang="en-US" sz="2000" b="1" dirty="0"/>
                  <a:t>.</a:t>
                </a:r>
                <a:r>
                  <a:rPr lang="ru-RU" sz="2000" b="1" dirty="0"/>
                  <a:t> </a:t>
                </a:r>
                <a:endParaRPr lang="en-US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Метод Самовнимания успешно использовался в самых разных задачах.</a:t>
                </a:r>
                <a:br>
                  <a:rPr lang="en-US" sz="2000" dirty="0"/>
                </a:br>
                <a:r>
                  <a:rPr lang="en-US" sz="2000" u="sng" dirty="0" err="1"/>
                  <a:t>Главное</a:t>
                </a:r>
                <a:r>
                  <a:rPr lang="en-US" sz="2000" u="sng" dirty="0"/>
                  <a:t> преимущество здесь в том, что вы </a:t>
                </a:r>
                <a:r>
                  <a:rPr lang="en-US" sz="2000" u="sng" dirty="0" err="1"/>
                  <a:t>можете</a:t>
                </a:r>
                <a:r>
                  <a:rPr lang="en-US" sz="2000" u="sng" dirty="0"/>
                  <a:t> </a:t>
                </a:r>
                <a:r>
                  <a:rPr lang="en-US" sz="2000" u="sng" dirty="0" err="1"/>
                  <a:t>предварительн</a:t>
                </a:r>
                <a:r>
                  <a:rPr lang="ru-RU" sz="2000" u="sng" dirty="0"/>
                  <a:t>о</a:t>
                </a:r>
                <a:r>
                  <a:rPr lang="en-US" sz="2000" u="sng" dirty="0"/>
                  <a:t> </a:t>
                </a:r>
                <a:r>
                  <a:rPr lang="en-US" sz="2000" u="sng" dirty="0" err="1"/>
                  <a:t>трениров</a:t>
                </a:r>
                <a:r>
                  <a:rPr lang="ru-RU" sz="2000" u="sng" dirty="0" err="1"/>
                  <a:t>ать</a:t>
                </a:r>
                <a:r>
                  <a:rPr lang="en-US" sz="2000" u="sng" dirty="0"/>
                  <a:t> </a:t>
                </a:r>
                <a:r>
                  <a:rPr lang="en-US" sz="2000" u="sng" dirty="0" err="1"/>
                  <a:t>кодировщик</a:t>
                </a:r>
                <a:r>
                  <a:rPr lang="en-US" sz="2000" u="sng" dirty="0"/>
                  <a:t> </a:t>
                </a:r>
                <a:r>
                  <a:rPr lang="ru-RU" sz="2000" u="sng" dirty="0"/>
                  <a:t>без учителя</a:t>
                </a:r>
                <a:endParaRPr lang="en-US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В случае самовнимания мы можем упростить аддитивное внимание следующим </a:t>
                </a:r>
                <a:r>
                  <a:rPr lang="en-US" sz="2000" dirty="0" err="1"/>
                  <a:t>образом</a:t>
                </a:r>
                <a:r>
                  <a:rPr lang="en-US" sz="2000" dirty="0"/>
                  <a:t>:</a:t>
                </a:r>
              </a:p>
              <a:p>
                <a:pPr marL="0" indent="0" algn="l" rtl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p>
                        <m:sSup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000"/>
                        <m:t>tanh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Таким образом, мы можем вычислить </a:t>
                </a:r>
                <a:r>
                  <a:rPr lang="en-US" sz="2000" dirty="0" err="1"/>
                  <a:t>представление</a:t>
                </a:r>
                <a:r>
                  <a:rPr lang="en-US" sz="2000" dirty="0"/>
                  <a:t>  c  в матричной форме следующим образом: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sz="2000"/>
                                  <m:t>softmax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𝐯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/>
                                  <m:t>tanh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𝐜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  <m:sSup>
                                  <m:sSup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𝐚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mr>
                    </m:m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где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- матрица скрытых состояний;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вектор внимания;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 - представление последовательности (вектор контекста). 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4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96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>
                <a:solidFill>
                  <a:srgbClr val="000000"/>
                </a:solidFill>
              </a:rPr>
              <a:t>Сети на основе внимания. </a:t>
            </a:r>
            <a:r>
              <a:rPr lang="en-US" sz="4000" b="1" dirty="0" err="1"/>
              <a:t>Самовнимание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/>
                  <a:t>Примечание</a:t>
                </a:r>
                <a:r>
                  <a:rPr lang="en-US" sz="2000" dirty="0"/>
                  <a:t>. 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/>
                  <a:t>Другой</a:t>
                </a:r>
                <a:r>
                  <a:rPr lang="en-US" sz="2000" dirty="0"/>
                  <a:t> способ объяснения самовнимания для каждого вектора контекста.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: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 индексы по всей входной последовательности (здесь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). 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/>
                  <a:t>Вес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 не является параметром, как в обычной нейронной сети, а является производным от функции над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а также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 Например,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4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343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>
                <a:solidFill>
                  <a:srgbClr val="000000"/>
                </a:solidFill>
              </a:rPr>
              <a:t>Сети на основе внимания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75" y="663470"/>
            <a:ext cx="4162425" cy="2809875"/>
          </a:xfrm>
          <a:prstGeom prst="rect">
            <a:avLst/>
          </a:prstGeom>
        </p:spPr>
      </p:pic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75" y="4658816"/>
            <a:ext cx="5373260" cy="1896444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155575" y="370228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сети самовосприятия для прогнозирования клинической диагностики на основе показателей пациента.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5181214" y="103800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Схема кодера, основанная на самовнимании, для создания значений контекстного вектора для многомерных временных рядов.</a:t>
            </a:r>
            <a:endParaRPr lang="ru-RU" dirty="0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500" y="-915642"/>
            <a:ext cx="5746708" cy="751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1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>
                <a:solidFill>
                  <a:srgbClr val="000000"/>
                </a:solidFill>
              </a:rPr>
              <a:t>Сети на основе внимания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/>
                <a:r>
                  <a:rPr lang="en-US" sz="2000" dirty="0" err="1"/>
                  <a:t>Внимание</a:t>
                </a:r>
                <a:r>
                  <a:rPr lang="en-US" sz="2000" dirty="0"/>
                  <a:t> "</a:t>
                </a:r>
                <a:r>
                  <a:rPr lang="en-US" sz="2000" dirty="0" err="1"/>
                  <a:t>ключ-значение</a:t>
                </a:r>
                <a:r>
                  <a:rPr lang="en-US" sz="2000" dirty="0"/>
                  <a:t>" - это модификация самовнимания, предлагающая разбить каждый скрытый вектор.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в ключ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и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такой, что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]=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  <a:endParaRPr lang="ru-RU" sz="2000" dirty="0"/>
              </a:p>
              <a:p>
                <a:pPr algn="l" rtl="0"/>
                <a:r>
                  <a:rPr lang="en-US" sz="2000" dirty="0" err="1"/>
                  <a:t>Ключи</a:t>
                </a:r>
                <a:r>
                  <a:rPr lang="en-US" sz="2000" dirty="0"/>
                  <a:t> используются для расчета </a:t>
                </a:r>
                <a:r>
                  <a:rPr lang="en-US" sz="2000" dirty="0" err="1"/>
                  <a:t>распределения</a:t>
                </a:r>
                <a:r>
                  <a:rPr lang="en-US" sz="2000" dirty="0"/>
                  <a:t> </a:t>
                </a:r>
                <a:r>
                  <a:rPr lang="en-US" sz="2000" dirty="0" err="1"/>
                  <a:t>внимания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с дополнительным вниманием:</a:t>
                </a:r>
                <a:br>
                  <a:rPr lang="en-US" sz="2000" dirty="0"/>
                </a:br>
                <a:endParaRPr lang="ru-RU" sz="2000" dirty="0"/>
              </a:p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/>
                      <m:t>softmax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m:rPr>
                        <m:nor/>
                      </m:rPr>
                      <a:rPr lang="en-US" sz="2000"/>
                      <m:t>tanh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;…;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]+(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ru-RU" sz="2000" dirty="0"/>
              </a:p>
              <a:p>
                <a:pPr algn="l" rtl="0"/>
                <a:r>
                  <a:rPr lang="en-US" sz="2000" dirty="0"/>
                  <a:t/>
                </a:r>
                <a:br>
                  <a:rPr lang="en-US" sz="2000" dirty="0"/>
                </a:b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 длина окна внимания 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acc>
                  </m:oMath>
                </a14:m>
                <a:r>
                  <a:rPr lang="en-US" sz="2000" dirty="0"/>
                  <a:t>вектор единиц. </a:t>
                </a:r>
                <a:endParaRPr lang="ru-RU" sz="2000" dirty="0"/>
              </a:p>
              <a:p>
                <a:pPr algn="l" rtl="0"/>
                <a:r>
                  <a:rPr lang="en-US" sz="2000" dirty="0" err="1"/>
                  <a:t>Затем</a:t>
                </a:r>
                <a:r>
                  <a:rPr lang="en-US" sz="2000" dirty="0"/>
                  <a:t> часть значений используется для получения контекстного представления.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:</a:t>
                </a:r>
                <a:br>
                  <a:rPr lang="en-US" sz="2000" dirty="0"/>
                </a:br>
                <a:endParaRPr lang="ru-RU" sz="2000" dirty="0"/>
              </a:p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;…;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ru-RU" sz="2000" dirty="0"/>
              </a:p>
              <a:p>
                <a:pPr algn="l" rtl="0"/>
                <a:r>
                  <a:rPr lang="en-US" sz="2000" dirty="0"/>
                  <a:t>Таким образом, мы вводим отдельные веса для текущего ввода и предыдущих вводов. </a:t>
                </a:r>
                <a:endParaRPr lang="ru-RU" sz="2000" dirty="0"/>
              </a:p>
              <a:p>
                <a:pPr algn="l" rtl="0"/>
                <a:r>
                  <a:rPr lang="en-US" sz="2000" dirty="0" err="1"/>
                  <a:t>Примечание</a:t>
                </a:r>
                <a:r>
                  <a:rPr lang="en-US" sz="2000" dirty="0"/>
                  <a:t>. </a:t>
                </a:r>
                <a:endParaRPr lang="ru-RU" sz="2000" dirty="0"/>
              </a:p>
              <a:p>
                <a:pPr algn="l" rtl="0"/>
                <a:r>
                  <a:rPr lang="en-US" sz="2000" dirty="0" err="1"/>
                  <a:t>Вы</a:t>
                </a:r>
                <a:r>
                  <a:rPr lang="en-US" sz="2000" dirty="0"/>
                  <a:t> можете выбрать в качестве </a:t>
                </a:r>
                <a:r>
                  <a:rPr lang="en-US" sz="2000" dirty="0" err="1"/>
                  <a:t>ключаответзначение</a:t>
                </a:r>
                <a:r>
                  <a:rPr lang="en-US" sz="2000" dirty="0"/>
                  <a:t> исходя из вашей задачи. например, ключом может быть все, кроме последних значений, а значение - последнее значение последовательности.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993" r="-1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143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>
                <a:solidFill>
                  <a:srgbClr val="000000"/>
                </a:solidFill>
              </a:rPr>
              <a:t>Сети на основе внимания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/>
                <a:r>
                  <a:rPr lang="ru-RU" sz="2000" b="1" i="1" dirty="0"/>
                  <a:t>Внимание </a:t>
                </a:r>
                <a:r>
                  <a:rPr lang="en-US" sz="2000" b="1" i="1" dirty="0" err="1"/>
                  <a:t>Запрос</a:t>
                </a:r>
                <a:r>
                  <a:rPr lang="ru-RU" sz="2000" b="1" i="1" dirty="0"/>
                  <a:t>-</a:t>
                </a:r>
                <a:r>
                  <a:rPr lang="en-US" sz="2000" b="1" i="1" dirty="0" err="1"/>
                  <a:t>ключ-значение</a:t>
                </a:r>
                <a:r>
                  <a:rPr lang="en-US" sz="2000" b="1" i="1" dirty="0"/>
                  <a:t>  </a:t>
                </a:r>
                <a:endParaRPr lang="ru-RU" sz="2000" b="1" i="1" dirty="0"/>
              </a:p>
              <a:p>
                <a:pPr algn="l" rtl="0"/>
                <a:r>
                  <a:rPr lang="en-US" sz="2000" dirty="0" err="1"/>
                  <a:t>Самовнимание</a:t>
                </a:r>
                <a:r>
                  <a:rPr lang="en-US" sz="2000" dirty="0"/>
                  <a:t> </a:t>
                </a:r>
                <a:r>
                  <a:rPr lang="en-US" sz="2000" dirty="0" err="1"/>
                  <a:t>запрос</a:t>
                </a:r>
                <a:r>
                  <a:rPr lang="ru-RU" sz="2000" dirty="0"/>
                  <a:t>-</a:t>
                </a:r>
                <a:r>
                  <a:rPr lang="en-US" sz="2000" dirty="0" err="1"/>
                  <a:t>ключ-значение</a:t>
                </a:r>
                <a:r>
                  <a:rPr lang="en-US" sz="2000" dirty="0"/>
                  <a:t>, было предложено, чтобы каждый входной вектор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мо</a:t>
                </a:r>
                <a:r>
                  <a:rPr lang="ru-RU" sz="2000" dirty="0"/>
                  <a:t>г</a:t>
                </a:r>
                <a:r>
                  <a:rPr lang="en-US" sz="2000" dirty="0"/>
                  <a:t> использоваться в операции внимания тремя различными способами: </a:t>
                </a:r>
                <a:endParaRPr lang="ru-RU" sz="2000" dirty="0"/>
              </a:p>
              <a:p>
                <a:pPr algn="l" rtl="0"/>
                <a:r>
                  <a:rPr lang="en-US" sz="2000" dirty="0" err="1"/>
                  <a:t>Запрос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сравнивается 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 для вычисления весов для собственного вывода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  <a:endParaRPr lang="ru-RU" sz="2000" dirty="0"/>
              </a:p>
              <a:p>
                <a:pPr algn="l" rtl="0"/>
                <a:r>
                  <a:rPr lang="en-US" sz="2000" dirty="0" err="1"/>
                  <a:t>ключ</a:t>
                </a:r>
                <a:r>
                  <a:rPr lang="en-US" sz="2000" dirty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сравнивается 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для расчета весов для выхода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-</a:t>
                </a:r>
                <a:r>
                  <a:rPr lang="en-US" sz="2000" dirty="0" err="1"/>
                  <a:t>th</a:t>
                </a:r>
                <a:r>
                  <a:rPr lang="en-US" sz="2000" dirty="0"/>
                  <a:t> вектор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. </a:t>
                </a:r>
                <a:endParaRPr lang="ru-RU" sz="2000" dirty="0"/>
              </a:p>
              <a:p>
                <a:r>
                  <a:rPr lang="en-US" sz="2000" b="1" i="1" dirty="0" err="1"/>
                  <a:t>значение</a:t>
                </a:r>
                <a:r>
                  <a:rPr lang="en-US" sz="2000" dirty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используется как часть взвешенной суммы для вычисления каждого выходного вектора после вычисления весов. </a:t>
                </a:r>
                <a:endParaRPr lang="ru-RU" sz="2000" dirty="0"/>
              </a:p>
              <a:p>
                <a:r>
                  <a:rPr lang="en-US" sz="2000" dirty="0" err="1"/>
                  <a:t>мы</a:t>
                </a:r>
                <a:r>
                  <a:rPr lang="en-US" sz="2000" dirty="0"/>
                  <a:t> можем ввести три вектора (полученные матрицей трех весов):</a:t>
                </a:r>
                <a:endParaRPr lang="ru-RU" sz="2000" dirty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ru-RU" sz="2000" dirty="0"/>
              </a:p>
              <a:p>
                <a:pPr algn="l" rtl="0"/>
                <a:r>
                  <a:rPr lang="en-US" sz="2000" dirty="0"/>
                  <a:t>Все три матрицы весов должны иметь размерность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, </a:t>
                </a: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размер окна (или входа). В этом случае выходной вектор можно рассчитать как "масштабированный точечный продукт "</a:t>
                </a:r>
                <a:br>
                  <a:rPr lang="en-US" sz="2000" dirty="0"/>
                </a:b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9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321" y="4554691"/>
            <a:ext cx="3387643" cy="210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9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300" b="1" dirty="0">
                <a:solidFill>
                  <a:srgbClr val="000000"/>
                </a:solidFill>
              </a:rPr>
              <a:t>Внимание </a:t>
            </a:r>
            <a:r>
              <a:rPr lang="ru-RU" sz="3300" b="1" dirty="0"/>
              <a:t>Пример временной свертки - </a:t>
            </a:r>
            <a:r>
              <a:rPr lang="ru-RU" sz="3300" b="1" dirty="0" err="1"/>
              <a:t>самовнимание</a:t>
            </a:r>
            <a:endParaRPr lang="ru-RU" altLang="ru-RU" sz="33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dirty="0"/>
              <a:t>Пример Temporal-convolution - сеть самовнимания (запрос-ключ-значение) для многомерной классификации временных рядов.</a:t>
            </a:r>
            <a:endParaRPr 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564" y="-452876"/>
            <a:ext cx="12557125" cy="752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внимание</a:t>
            </a:r>
            <a:endParaRPr lang="ru-RU" altLang="ru-RU" sz="32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r>
              <a:rPr lang="ru-RU" sz="2000" b="1" dirty="0"/>
              <a:t>Многоголовое внимание</a:t>
            </a:r>
            <a:endParaRPr lang="ru-RU" sz="2000" dirty="0"/>
          </a:p>
          <a:p>
            <a:r>
              <a:rPr lang="ru-RU" sz="2000" dirty="0"/>
              <a:t>Различительную силу </a:t>
            </a:r>
            <a:r>
              <a:rPr lang="ru-RU" sz="2000" dirty="0" err="1"/>
              <a:t>самовнимания</a:t>
            </a:r>
            <a:r>
              <a:rPr lang="ru-RU" sz="2000" dirty="0"/>
              <a:t> можно повысить, используя его ансамбль. Объединение может быть реализовано путем объединения нескольких слоев </a:t>
            </a:r>
            <a:r>
              <a:rPr lang="ru-RU" sz="2000" dirty="0" err="1"/>
              <a:t>самовнимания</a:t>
            </a:r>
            <a:r>
              <a:rPr lang="ru-RU" sz="2000" dirty="0"/>
              <a:t> параллельно (которые мы будем индексировать с помощью 𝑟), каждый с различной матрицей весов 𝑊𝑟𝑞, 𝑊𝑟𝑘, 𝑊𝑟𝑣. </a:t>
            </a:r>
          </a:p>
          <a:p>
            <a:r>
              <a:rPr lang="ru-RU" sz="2000" dirty="0"/>
              <a:t>Для каждого входа 𝑥𝑖 каждая голова внимания производит другой выходной вектор 𝑦𝑟𝑖. Мы объединяем их и передаем через линейное преобразование, чтобы уменьшить размерность до. </a:t>
            </a:r>
          </a:p>
          <a:p>
            <a:r>
              <a:rPr lang="ru-RU" sz="2000" i="1" dirty="0"/>
              <a:t>Примечание</a:t>
            </a:r>
            <a:endParaRPr lang="ru-RU" sz="2000" dirty="0"/>
          </a:p>
          <a:p>
            <a:r>
              <a:rPr lang="ru-RU" sz="2000" dirty="0"/>
              <a:t>можно выделить:</a:t>
            </a:r>
          </a:p>
          <a:p>
            <a:pPr lvl="3"/>
            <a:r>
              <a:rPr lang="ru-RU" sz="2000" b="1" dirty="0"/>
              <a:t>Узкое</a:t>
            </a:r>
            <a:r>
              <a:rPr lang="ru-RU" sz="2000" dirty="0"/>
              <a:t> </a:t>
            </a:r>
            <a:r>
              <a:rPr lang="ru-RU" sz="2000" dirty="0" err="1"/>
              <a:t>самовнимание</a:t>
            </a:r>
            <a:r>
              <a:rPr lang="ru-RU" sz="2000" dirty="0"/>
              <a:t> с </a:t>
            </a:r>
            <a:r>
              <a:rPr lang="ru-RU" sz="2000" b="1" dirty="0"/>
              <a:t>несколькими головами</a:t>
            </a:r>
            <a:r>
              <a:rPr lang="ru-RU" sz="2000" dirty="0"/>
              <a:t> : разрезать входной вектор на r частей (если вектор имеет 256 измерений, и у нас есть 8 голов внимания, мы разрезаем его на 8 частей по 32 значения).</a:t>
            </a:r>
          </a:p>
          <a:p>
            <a:pPr lvl="3"/>
            <a:r>
              <a:rPr lang="ru-RU" sz="2000" b="1" dirty="0"/>
              <a:t>широкое</a:t>
            </a:r>
            <a:r>
              <a:rPr lang="ru-RU" sz="2000" dirty="0"/>
              <a:t> </a:t>
            </a:r>
            <a:r>
              <a:rPr lang="ru-RU" sz="2000" dirty="0" err="1"/>
              <a:t>самовнимание</a:t>
            </a:r>
            <a:r>
              <a:rPr lang="ru-RU" sz="2000" dirty="0"/>
              <a:t> с </a:t>
            </a:r>
            <a:r>
              <a:rPr lang="ru-RU" sz="2000" b="1" dirty="0"/>
              <a:t>несколькими головами</a:t>
            </a:r>
            <a:r>
              <a:rPr lang="ru-RU" sz="2000" dirty="0"/>
              <a:t>: создание матриц 𝑟 с полным размером (для 256 </a:t>
            </a:r>
            <a:r>
              <a:rPr lang="ru-RU" sz="2000" dirty="0" err="1"/>
              <a:t>dim</a:t>
            </a:r>
            <a:r>
              <a:rPr lang="ru-RU" sz="2000" dirty="0"/>
              <a:t> создайте 8 головок внимания, с 256 × 256 </a:t>
            </a:r>
            <a:r>
              <a:rPr lang="ru-RU" sz="2000" dirty="0" err="1"/>
              <a:t>dim</a:t>
            </a:r>
            <a:r>
              <a:rPr lang="ru-RU" sz="2000" dirty="0"/>
              <a:t>.) - Таким образом вы получите лучший результат за счет большего объема памяти и времени.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04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внимание с маской</a:t>
            </a:r>
            <a:endParaRPr lang="ru-RU" altLang="ru-RU" sz="32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ru-RU" sz="2000" dirty="0"/>
                  <a:t>Недостаток простого </a:t>
                </a:r>
                <a:r>
                  <a:rPr lang="ru-RU" sz="2000" dirty="0" err="1"/>
                  <a:t>самовнимания</a:t>
                </a:r>
                <a:r>
                  <a:rPr lang="ru-RU" sz="2000" dirty="0"/>
                  <a:t> состоит в том, что оно сопровождается влиянием прямого и предыдущего входов на каждый выход. Это приводит к нарушению требований причинно-следственной связи. Чтобы избежать этого, матрица весов должна быть преобразована в случайную форму (т.е. матрицу треугольника). Такую операцию можно выполнить путем его умножения на соответствующую матрицу-маску. Маскирование </a:t>
                </a:r>
                <a:r>
                  <a:rPr lang="ru-RU" sz="2000" dirty="0" err="1"/>
                  <a:t>самовнимания</a:t>
                </a:r>
                <a:r>
                  <a:rPr lang="ru-RU" sz="2000" dirty="0"/>
                  <a:t> позволяет использовать его как аналог модели авторегрессии.  Маскирование внимания можно представить как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 dirty="0" err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  <m:t>𝑀𝑄</m:t>
                              </m:r>
                              <m:sSup>
                                <m:sSup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1" dirty="0" err="1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маскирующая матрица - верхний треугольник, в следующем виде</a:t>
                </a:r>
                <a:endParaRPr lang="ru-RU" sz="2000" dirty="0"/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Где мы используем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sz="2000" dirty="0"/>
                  <a:t> поскольку мы хотим, чтобы эти элементы были равны нулю после </a:t>
                </a:r>
                <a:r>
                  <a:rPr lang="en-US" sz="2000" dirty="0" err="1"/>
                  <a:t>softmax</a:t>
                </a:r>
                <a:r>
                  <a:rPr lang="en-US" sz="2000" dirty="0"/>
                  <a:t>.</a:t>
                </a:r>
                <a:endParaRPr lang="ru-RU" sz="2000" dirty="0"/>
              </a:p>
              <a:p>
                <a:pPr marL="0" lvl="0" indent="0" algn="l" rt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2000" dirty="0"/>
              </a:p>
              <a:p>
                <a:pPr algn="l" rtl="0">
                  <a:lnSpc>
                    <a:spcPct val="120000"/>
                  </a:lnSpc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r="-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95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внимание с маской</a:t>
            </a:r>
            <a:endParaRPr lang="ru-RU" altLang="ru-RU" sz="32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r>
              <a:rPr lang="ru-RU" sz="2000" i="1" dirty="0"/>
              <a:t>Примечание.</a:t>
            </a:r>
            <a:r>
              <a:rPr lang="ru-RU" sz="2000" dirty="0"/>
              <a:t>  Маскирование </a:t>
            </a:r>
            <a:r>
              <a:rPr lang="ru-RU" sz="2000" dirty="0" err="1"/>
              <a:t>самовнимания</a:t>
            </a:r>
            <a:r>
              <a:rPr lang="ru-RU" sz="2000" dirty="0"/>
              <a:t>, чтобы элементы могли обращаться только к входным элементам, которые предшествуют им в последовательности. Обратите внимание, что символ умножения немного вводит в заблуждение: мы фактически устанавливаем замаскированные элементы (белые квадраты) на -∞.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88" y="2001808"/>
            <a:ext cx="5486400" cy="1981200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7201700" y="3484373"/>
            <a:ext cx="41350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нескольких подходов для</a:t>
            </a:r>
            <a:b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многоголовое замаскированное самовнимание.</a:t>
            </a:r>
          </a:p>
          <a:p>
            <a:pPr algn="l" rtl="0"/>
            <a:r>
              <a:rPr lang="en-US" dirty="0">
                <a:solidFill>
                  <a:srgbClr val="000000"/>
                </a:solidFill>
                <a:latin typeface="Helvetica Neue"/>
              </a:rPr>
              <a:t/>
            </a:r>
            <a:br>
              <a:rPr lang="en-US" dirty="0">
                <a:solidFill>
                  <a:srgbClr val="000000"/>
                </a:solidFill>
                <a:latin typeface="Helvetica Neue"/>
              </a:rPr>
            </a:br>
            <a:endParaRPr lang="ru-RU" dirty="0"/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365" y="4304852"/>
            <a:ext cx="5618666" cy="2165416"/>
          </a:xfrm>
          <a:prstGeom prst="rect">
            <a:avLst/>
          </a:prstGeom>
        </p:spPr>
      </p:pic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142542" y="4247659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В памяти сжатого внимания </a:t>
            </a:r>
            <a:r>
              <a:rPr lang="ru-RU" dirty="0" err="1"/>
              <a:t>case</a:t>
            </a:r>
            <a:r>
              <a:rPr lang="ru-RU" dirty="0"/>
              <a:t> </a:t>
            </a:r>
            <a:r>
              <a:rPr lang="ru-RU" dirty="0" err="1"/>
              <a:t>conv</a:t>
            </a:r>
            <a:r>
              <a:rPr lang="ru-RU" dirty="0"/>
              <a:t> - означает 1𝑥1conv для уменьшения количества сверток при </a:t>
            </a:r>
            <a:r>
              <a:rPr lang="ru-RU" dirty="0" err="1"/>
              <a:t>самовнимании</a:t>
            </a:r>
            <a:r>
              <a:rPr lang="ru-RU" dirty="0"/>
              <a:t>. Это похоже на шумоподавление - вы теряете элементы данных. В </a:t>
            </a:r>
            <a:r>
              <a:rPr lang="ru-RU" dirty="0" err="1"/>
              <a:t>самовнимании</a:t>
            </a:r>
            <a:r>
              <a:rPr lang="ru-RU" dirty="0"/>
              <a:t> декодера вы обрабатываете все данные вместе. При локальном внимании вы обрабатываете данные из каждой позиции скользящего окна отдельно и результаты </a:t>
            </a:r>
            <a:r>
              <a:rPr lang="ru-RU" dirty="0" err="1"/>
              <a:t>объеденяем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507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Блок трансформаторов состоит из:</a:t>
            </a:r>
          </a:p>
          <a:p>
            <a:pPr lvl="1"/>
            <a:r>
              <a:rPr lang="ru-RU" sz="2000" dirty="0"/>
              <a:t>слой </a:t>
            </a:r>
            <a:r>
              <a:rPr lang="ru-RU" sz="2000" dirty="0" err="1"/>
              <a:t>самовнимания</a:t>
            </a:r>
            <a:r>
              <a:rPr lang="ru-RU" sz="2000" dirty="0"/>
              <a:t>,</a:t>
            </a:r>
          </a:p>
          <a:p>
            <a:pPr lvl="1"/>
            <a:r>
              <a:rPr lang="ru-RU" sz="2000" dirty="0"/>
              <a:t>нормализация слоя,</a:t>
            </a:r>
          </a:p>
          <a:p>
            <a:pPr lvl="1"/>
            <a:r>
              <a:rPr lang="ru-RU" sz="2000" dirty="0"/>
              <a:t>слой прямой связи (один MLP применяется независимо к каждому вектору),</a:t>
            </a:r>
          </a:p>
          <a:p>
            <a:pPr lvl="1"/>
            <a:r>
              <a:rPr lang="ru-RU" sz="2000" dirty="0"/>
              <a:t>и еще одна нормализация слоя.</a:t>
            </a:r>
          </a:p>
          <a:p>
            <a:pPr lvl="1"/>
            <a:r>
              <a:rPr lang="ru-RU" sz="2000" dirty="0"/>
              <a:t>Остаточные соединения добавляются вокруг обоих перед нормализацией.</a:t>
            </a:r>
          </a:p>
          <a:p>
            <a:pPr lvl="0"/>
            <a:r>
              <a:rPr lang="ru-RU" sz="2000" i="1" dirty="0"/>
              <a:t>Примечание</a:t>
            </a:r>
            <a:endParaRPr lang="ru-RU" sz="2000" dirty="0"/>
          </a:p>
          <a:p>
            <a:pPr lvl="0"/>
            <a:r>
              <a:rPr lang="ru-RU" sz="2000" dirty="0"/>
              <a:t>Порядок различных компонентов не высечен на камне;</a:t>
            </a:r>
          </a:p>
          <a:p>
            <a:pPr lvl="0"/>
            <a:r>
              <a:rPr lang="ru-RU" sz="2000" dirty="0"/>
              <a:t>важно объединить </a:t>
            </a:r>
            <a:r>
              <a:rPr lang="ru-RU" sz="2000" dirty="0" err="1"/>
              <a:t>самовнимание</a:t>
            </a:r>
            <a:r>
              <a:rPr lang="ru-RU" sz="2000" dirty="0"/>
              <a:t> с локальной прямой связью, а также добавить нормализацию и остаточные связи.</a:t>
            </a:r>
          </a:p>
          <a:p>
            <a:pPr lvl="0"/>
            <a:r>
              <a:rPr lang="ru-RU" sz="2000" dirty="0"/>
              <a:t>в трансформаторе у вас может быть многоголовое внимание, и каждый MLP будет работать с другой головой.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75" y="4582730"/>
            <a:ext cx="5016263" cy="228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6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u="sng" dirty="0"/>
              <a:t>Архитектура </a:t>
            </a:r>
            <a:r>
              <a:rPr lang="en-US" sz="2000" u="sng" dirty="0" err="1"/>
              <a:t>блока</a:t>
            </a:r>
            <a:r>
              <a:rPr lang="en-US" sz="2000" u="sng" dirty="0"/>
              <a:t> </a:t>
            </a:r>
            <a:r>
              <a:rPr lang="en-US" sz="2000" u="sng" dirty="0" err="1"/>
              <a:t>не</a:t>
            </a:r>
            <a:r>
              <a:rPr lang="en-US" sz="2000" u="sng" dirty="0"/>
              <a:t> </a:t>
            </a:r>
            <a:r>
              <a:rPr lang="en-US" sz="2000" u="sng" dirty="0" err="1"/>
              <a:t>содержит</a:t>
            </a:r>
            <a:r>
              <a:rPr lang="en-US" sz="2000" u="sng" dirty="0"/>
              <a:t> </a:t>
            </a:r>
            <a:r>
              <a:rPr lang="ru-RU" sz="2000" u="sng" dirty="0"/>
              <a:t>сверток</a:t>
            </a:r>
            <a:r>
              <a:rPr lang="en-US" sz="2000" u="sng" dirty="0"/>
              <a:t> - это полносвязная архитектура в исходной идее.</a:t>
            </a: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75" y="1229567"/>
            <a:ext cx="6715125" cy="3057525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307975" y="493200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Обратите внимание, что классическая реализация трансформатора использует нормализацию слоя вместо пакетной нормализации.</a:t>
            </a:r>
            <a:endParaRPr lang="ru-RU" dirty="0"/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 rotWithShape="1">
          <a:blip r:embed="rId3"/>
          <a:srcRect r="49746"/>
          <a:stretch/>
        </p:blipFill>
        <p:spPr>
          <a:xfrm>
            <a:off x="6188365" y="4859089"/>
            <a:ext cx="245081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0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/>
            <a:r>
              <a:rPr lang="en-US" dirty="0"/>
              <a:t>Архитектура блоков преобразования в стеке.</a:t>
            </a: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27" y="1346926"/>
            <a:ext cx="9148559" cy="456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10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b="1" dirty="0"/>
              <a:t>Преобразователь с позиционным кодированием</a:t>
            </a:r>
            <a:r>
              <a:rPr lang="ru-RU" sz="2000" dirty="0"/>
              <a:t> . Главный недостаток реализации простого преобразователя (FC) в том, что он не может изменить порядок последовательности.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Одно из возможных решений - наделить модель определенным порядком - добавить информацию о ее положении к каждому образцу в серии. Мы называем это «информацией», </a:t>
            </a:r>
            <a:r>
              <a:rPr lang="ru-RU" sz="2000" b="1" dirty="0"/>
              <a:t>позиционное кодирование.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u="sng" dirty="0"/>
              <a:t>Чтобы включить информацию о порядке последовательности, в архитектуру преобразователя можно использовать кодирование положения.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Кодирование выполняется путем сопоставления значений временных шагов 𝑡: 𝑡 + 𝜏 с таблицей, которая позволяет получить d-мерный код для каждого временного шага.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Позиционное кодирование должно выполняться как во время обучения, так и во время оценки.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Позиционное кодирование может быть выполнено как:</a:t>
            </a:r>
          </a:p>
          <a:p>
            <a:pPr lvl="1">
              <a:spcBef>
                <a:spcPts val="0"/>
              </a:spcBef>
            </a:pPr>
            <a:r>
              <a:rPr lang="ru-RU" sz="2000" dirty="0" err="1"/>
              <a:t>рандомизированная</a:t>
            </a:r>
            <a:r>
              <a:rPr lang="ru-RU" sz="2000" dirty="0"/>
              <a:t> кодировка (фиксируется как </a:t>
            </a:r>
            <a:r>
              <a:rPr lang="ru-RU" sz="2000" dirty="0" err="1"/>
              <a:t>гиперпараметр</a:t>
            </a:r>
            <a:r>
              <a:rPr lang="ru-RU" sz="2000" dirty="0"/>
              <a:t>).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обученная кодировка (</a:t>
            </a:r>
            <a:r>
              <a:rPr lang="ru-RU" sz="2000" dirty="0" err="1"/>
              <a:t>предобученный</a:t>
            </a:r>
            <a:r>
              <a:rPr lang="ru-RU" sz="2000" dirty="0"/>
              <a:t> </a:t>
            </a:r>
            <a:r>
              <a:rPr lang="ru-RU" sz="2000" dirty="0" err="1"/>
              <a:t>гиперпараметр</a:t>
            </a:r>
            <a:r>
              <a:rPr lang="ru-RU" sz="2000" dirty="0"/>
              <a:t>).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фиксированное кодирование функции (в исходном предложении)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633" y="4635782"/>
            <a:ext cx="403860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7166" y="692112"/>
                <a:ext cx="11832935" cy="6140153"/>
              </a:xfrm>
            </p:spPr>
            <p:txBody>
              <a:bodyPr>
                <a:noAutofit/>
              </a:bodyPr>
              <a:lstStyle/>
              <a:p>
                <a:pPr lvl="1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u="sng" dirty="0"/>
                  <a:t>В первоначально предложенное представление позиции </a:t>
                </a:r>
                <a:br>
                  <a:rPr lang="en-US" sz="2000" u="sng" dirty="0"/>
                </a:br>
                <a:r>
                  <a:rPr lang="en-US" sz="2000" u="sng" dirty="0"/>
                  <a:t>кодирование</a:t>
                </a:r>
              </a:p>
              <a:p>
                <a:pPr marL="457200" lvl="1" indent="0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sin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cos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sin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cos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  <m:m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sin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cos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</m:oMath>
                  </m:oMathPara>
                </a14:m>
                <a:endParaRPr lang="ru-RU" sz="2000" dirty="0"/>
              </a:p>
              <a:p>
                <a:pPr algn="l" rtl="0"/>
                <a:endParaRPr lang="ru-RU" sz="2000" dirty="0"/>
              </a:p>
              <a:p>
                <a:pPr marL="457200" lvl="1" indent="0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166" y="692112"/>
                <a:ext cx="11832935" cy="6140153"/>
              </a:xfrm>
              <a:blipFill>
                <a:blip r:embed="rId2"/>
                <a:stretch>
                  <a:fillRect t="-596"/>
                </a:stretch>
              </a:blipFill>
            </p:spPr>
            <p:txBody>
              <a:bodyPr/>
              <a:lstStyle/>
              <a:p>
                <a:pPr rtl="0" algn="l"/>
                <a:r>
                  <a:rPr lang="ru-RU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831" y="3973239"/>
            <a:ext cx="5970395" cy="28847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Прямоугольник 29"/>
              <p:cNvSpPr/>
              <p:nvPr/>
            </p:nvSpPr>
            <p:spPr>
              <a:xfrm>
                <a:off x="155575" y="4847410"/>
                <a:ext cx="468989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/>
                <a:r>
                  <a:rPr lang="en-US" dirty="0"/>
                  <a:t>Пример 128-мерного позиционного кодирования для последовательности с максимальной длиной 50. Каждая строка представляет вектор внедрения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0" name="Прямоугольник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75" y="4847410"/>
                <a:ext cx="4689890" cy="1200329"/>
              </a:xfrm>
              <a:prstGeom prst="rect">
                <a:avLst/>
              </a:prstGeom>
              <a:blipFill>
                <a:blip r:embed="rId4"/>
                <a:stretch>
                  <a:fillRect l="-1170" t="-2538" b="-7107"/>
                </a:stretch>
              </a:blipFill>
            </p:spPr>
            <p:txBody>
              <a:bodyPr/>
              <a:lstStyle/>
              <a:p>
                <a:pPr rtl="0" algn="l"/>
                <a:r>
                  <a:rPr lang="ru-RU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878" y="184666"/>
            <a:ext cx="3501544" cy="391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7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166" y="692112"/>
            <a:ext cx="11832935" cy="6140153"/>
          </a:xfrm>
        </p:spPr>
        <p:txBody>
          <a:bodyPr>
            <a:noAutofit/>
          </a:bodyPr>
          <a:lstStyle/>
          <a:p>
            <a:endParaRPr lang="ru-RU" sz="2000" dirty="0"/>
          </a:p>
          <a:p>
            <a:pPr lvl="1"/>
            <a:r>
              <a:rPr lang="ru-RU" sz="2000" u="sng" dirty="0"/>
              <a:t>Как показано выше,</a:t>
            </a:r>
            <a:r>
              <a:rPr lang="ru-RU" sz="2000" dirty="0"/>
              <a:t>  извлечение признаков на основе </a:t>
            </a:r>
            <a:r>
              <a:rPr lang="ru-RU" sz="2000" dirty="0" err="1"/>
              <a:t>трансформера</a:t>
            </a:r>
            <a:r>
              <a:rPr lang="ru-RU" sz="2000" dirty="0"/>
              <a:t> временных рядов состоит из встраивания входных данных, выполняемого полностью 1-мерной </a:t>
            </a:r>
            <a:r>
              <a:rPr lang="ru-RU" sz="2000" dirty="0" err="1"/>
              <a:t>сверточной</a:t>
            </a:r>
            <a:r>
              <a:rPr lang="ru-RU" sz="2000" dirty="0"/>
              <a:t> сетью и кодировщиком положения.</a:t>
            </a:r>
          </a:p>
          <a:p>
            <a:pPr lvl="1"/>
            <a:r>
              <a:rPr lang="ru-RU" sz="2000" dirty="0"/>
              <a:t>Причина, по которой кодирование позиций добавляется (вместо конкатенации), связана с высокой размерностью входных данных (N карт - встраивание признаков).</a:t>
            </a:r>
          </a:p>
          <a:p>
            <a:pPr lvl="1"/>
            <a:r>
              <a:rPr lang="ru-RU" sz="2000" b="1" u="sng" dirty="0"/>
              <a:t>Добавив матрицу кодирования позиций, вы получите признаки ортогональными, что означает больше внимание к нескольким головам.</a:t>
            </a:r>
            <a:endParaRPr lang="ru-RU" sz="2000" dirty="0"/>
          </a:p>
          <a:p>
            <a:pPr lvl="1"/>
            <a:r>
              <a:rPr lang="ru-RU" sz="2000" b="1" u="sng" dirty="0"/>
              <a:t>Кодирование позиции добавляет к данным лишь небольшие фрагменты выводов (например, шумы) - ожидается, что это не повлияет на полученную точность.</a:t>
            </a:r>
            <a:endParaRPr lang="ru-RU" sz="2000" dirty="0"/>
          </a:p>
          <a:p>
            <a:r>
              <a:rPr lang="ru-RU" sz="2000" dirty="0"/>
              <a:t>Пример многоголовой сети внимания для классификации временных рядов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775" y="4210216"/>
            <a:ext cx="9730471" cy="179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2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166" y="692112"/>
            <a:ext cx="11832935" cy="6140153"/>
          </a:xfrm>
        </p:spPr>
        <p:txBody>
          <a:bodyPr>
            <a:noAutofit/>
          </a:bodyPr>
          <a:lstStyle/>
          <a:p>
            <a:pPr lvl="1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i="1" dirty="0">
                <a:solidFill>
                  <a:srgbClr val="000000"/>
                </a:solidFill>
              </a:rPr>
              <a:t>Примечание. </a:t>
            </a:r>
            <a:r>
              <a:rPr lang="en-US" sz="2000" dirty="0">
                <a:solidFill>
                  <a:srgbClr val="000000"/>
                </a:solidFill>
              </a:rPr>
              <a:t>Блок трансформатора следует отличать от </a:t>
            </a:r>
            <a:r>
              <a:rPr lang="en-US" sz="2000" b="1" dirty="0">
                <a:solidFill>
                  <a:srgbClr val="000000"/>
                </a:solidFill>
              </a:rPr>
              <a:t>модель кодера-декодера трансформатора </a:t>
            </a:r>
            <a:r>
              <a:rPr lang="en-US" sz="2000" dirty="0">
                <a:solidFill>
                  <a:srgbClr val="000000"/>
                </a:solidFill>
              </a:rPr>
              <a:t>Пример модели кодера-декодера преобразователя прогнозирования временных рядов</a:t>
            </a:r>
          </a:p>
          <a:p>
            <a:pPr lvl="1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60" y="2433780"/>
            <a:ext cx="6140450" cy="3419423"/>
          </a:xfrm>
          <a:prstGeom prst="rect">
            <a:avLst/>
          </a:prstGeom>
        </p:spPr>
      </p:pic>
      <p:pic>
        <p:nvPicPr>
          <p:cNvPr id="30" name="Рисунок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776" y="2873431"/>
            <a:ext cx="4686300" cy="3714750"/>
          </a:xfrm>
          <a:prstGeom prst="rect">
            <a:avLst/>
          </a:prstGeom>
        </p:spPr>
      </p:pic>
      <p:sp>
        <p:nvSpPr>
          <p:cNvPr id="33" name="Прямоугольник 32"/>
          <p:cNvSpPr/>
          <p:nvPr/>
        </p:nvSpPr>
        <p:spPr>
          <a:xfrm>
            <a:off x="5003219" y="1541372"/>
            <a:ext cx="649663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i="1" dirty="0">
                <a:solidFill>
                  <a:srgbClr val="000000"/>
                </a:solidFill>
                <a:latin typeface="Georgia" panose="02040502050405020303" pitchFamily="18" charset="0"/>
              </a:rPr>
              <a:t>Примечание.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В запрос внимания декодер-кодировщик и ключ получены от кодировщика, а значение - из входных данных декодера.</a:t>
            </a:r>
          </a:p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модели кодировщика-декодера с пакетным преобразователем прогнозирования временных рядов</a:t>
            </a:r>
            <a:endParaRPr lang="en-US" b="0" i="0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64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166" y="692112"/>
            <a:ext cx="11832935" cy="6140153"/>
          </a:xfrm>
        </p:spPr>
        <p:txBody>
          <a:bodyPr>
            <a:noAutofit/>
          </a:bodyPr>
          <a:lstStyle/>
          <a:p>
            <a:pPr lvl="1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Несколько статей предложили ряд модификаций внимания для временных рядов.</a:t>
            </a:r>
            <a:br>
              <a:rPr lang="en-US" sz="2000" dirty="0"/>
            </a:br>
            <a:r>
              <a:rPr lang="en-US" sz="2000" dirty="0"/>
              <a:t>Один из самых популярных - </a:t>
            </a:r>
            <a:r>
              <a:rPr lang="en-US" sz="2000" b="1" dirty="0"/>
              <a:t>Закрытый линейный блок</a:t>
            </a:r>
            <a:endParaRPr lang="ru-RU" alt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1496051"/>
            <a:ext cx="5962650" cy="4000500"/>
          </a:xfrm>
          <a:prstGeom prst="rect">
            <a:avLst/>
          </a:prstGeom>
        </p:spPr>
      </p:pic>
      <p:sp>
        <p:nvSpPr>
          <p:cNvPr id="32" name="Прямоугольник 31"/>
          <p:cNvSpPr/>
          <p:nvPr/>
        </p:nvSpPr>
        <p:spPr>
          <a:xfrm>
            <a:off x="6727825" y="1684337"/>
            <a:ext cx="4823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Другой - блок временного внимания.</a:t>
            </a:r>
            <a:endParaRPr lang="ru-RU" dirty="0"/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625" y="2007364"/>
            <a:ext cx="4976156" cy="2077059"/>
          </a:xfrm>
          <a:prstGeom prst="rect">
            <a:avLst/>
          </a:prstGeom>
        </p:spPr>
      </p:pic>
      <p:sp>
        <p:nvSpPr>
          <p:cNvPr id="29" name="Прямоугольник 28"/>
          <p:cNvSpPr/>
          <p:nvPr/>
        </p:nvSpPr>
        <p:spPr>
          <a:xfrm>
            <a:off x="7189143" y="4083888"/>
            <a:ext cx="33201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Блок сжатия и возбуждения </a:t>
            </a:r>
            <a:b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в качестве альтернативное внимание</a:t>
            </a:r>
            <a:endParaRPr lang="ru-RU" dirty="0"/>
          </a:p>
        </p:txBody>
      </p:sp>
      <p:sp>
        <p:nvSpPr>
          <p:cNvPr id="30" name="AutoShape 2" descr="image.png"/>
          <p:cNvSpPr>
            <a:spLocks noChangeAspect="1" noChangeArrowheads="1"/>
          </p:cNvSpPr>
          <p:nvPr/>
        </p:nvSpPr>
        <p:spPr bwMode="auto">
          <a:xfrm>
            <a:off x="2593975" y="2293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122" y="4730219"/>
            <a:ext cx="4944459" cy="194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44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https://substackcdn.com/image/fetch/$s_!9GjC!,w_1456,c_limit,f_auto,q_auto:good,fl_progressive:steep/https%3A%2F%2Fsubstack-post-media.s3.amazonaws.com%2Fpublic%2Fimages%2F213de2f6-4c8b-4bf3-b686-2a23795081dc_917x53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175" y="1027906"/>
            <a:ext cx="8734425" cy="5114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800350" y="6311900"/>
            <a:ext cx="93916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https://aihorizonforecast.substack.com/p/will-transformers-revolutionize-time</a:t>
            </a:r>
          </a:p>
        </p:txBody>
      </p:sp>
    </p:spTree>
    <p:extLst>
      <p:ext uri="{BB962C8B-B14F-4D97-AF65-F5344CB8AC3E}">
        <p14:creationId xmlns:p14="http://schemas.microsoft.com/office/powerpoint/2010/main" val="62549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223" y="365125"/>
            <a:ext cx="11151577" cy="72512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2562" y="1222131"/>
            <a:ext cx="11081238" cy="4954832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026" name="Picture 2" descr="Mathematics 13 00814 g001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051103"/>
            <a:ext cx="10039350" cy="512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401604" y="6308848"/>
            <a:ext cx="445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/>
              <a:t>https://www.mdpi.com/2227-7390/13/5/814</a:t>
            </a:r>
          </a:p>
        </p:txBody>
      </p:sp>
    </p:spTree>
    <p:extLst>
      <p:ext uri="{BB962C8B-B14F-4D97-AF65-F5344CB8AC3E}">
        <p14:creationId xmlns:p14="http://schemas.microsoft.com/office/powerpoint/2010/main" val="204120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ru-RU" sz="3200" b="1" dirty="0"/>
              <a:t>Методы машинного обучения на основе моделей</a:t>
            </a:r>
            <a:endParaRPr lang="en-US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4" y="846034"/>
            <a:ext cx="11528276" cy="5503491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непараметрические,</a:t>
            </a:r>
            <a:r>
              <a:rPr lang="ru-RU" sz="2000" dirty="0"/>
              <a:t>  такие как скользящее среднее, </a:t>
            </a:r>
            <a:r>
              <a:rPr lang="ru-RU" sz="2000" dirty="0" err="1"/>
              <a:t>Холта</a:t>
            </a:r>
            <a:r>
              <a:rPr lang="ru-RU" sz="2000" dirty="0"/>
              <a:t>-Винтера, простая регрессия: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В основе аналитической модели поведения ряда,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легко обучаться и </a:t>
            </a:r>
            <a:r>
              <a:rPr lang="ru-RU" sz="2000" dirty="0" err="1"/>
              <a:t>дообучаться</a:t>
            </a:r>
            <a:r>
              <a:rPr lang="ru-RU" sz="2000" dirty="0"/>
              <a:t>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низкая вероятность переобучения,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обеспечивают наилучшую точность для сравнительно простых данных 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стационарных с гауссовыми шумами или некоторыми простыми шумами, такими как симметрично распределенные.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Легко интерпретируется.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Может иметь аналитическое решение (например, для линейной регрессии).</a:t>
            </a:r>
          </a:p>
          <a:p>
            <a:pPr marL="228600" lvl="1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НО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точность сильно зависит от количества данных для обучения.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производительность резко снижается, если поведение данных отличается от предполагаемого (формируют предполагаемую статистическую гипотезу).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Хорошо работает только в одномерном случае.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Для работы нам нужно знать тип распределения или делать серьезные предположения о нем.</a:t>
            </a:r>
          </a:p>
        </p:txBody>
      </p:sp>
    </p:spTree>
    <p:extLst>
      <p:ext uri="{BB962C8B-B14F-4D97-AF65-F5344CB8AC3E}">
        <p14:creationId xmlns:p14="http://schemas.microsoft.com/office/powerpoint/2010/main" val="342314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200" b="1" dirty="0"/>
              <a:t>Методы машинного обучения на основе моделей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846034"/>
            <a:ext cx="11835925" cy="5503491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Параметрические методы,</a:t>
            </a:r>
            <a:r>
              <a:rPr lang="ru-RU" sz="2000" dirty="0"/>
              <a:t>  такие как ARIMA, GARCH, </a:t>
            </a:r>
            <a:r>
              <a:rPr lang="ru-RU" sz="2000" dirty="0" err="1"/>
              <a:t>Prophet</a:t>
            </a:r>
            <a:r>
              <a:rPr lang="ru-RU" sz="2000" dirty="0"/>
              <a:t> и т. д.</a:t>
            </a:r>
          </a:p>
          <a:p>
            <a:pPr lvl="1"/>
            <a:r>
              <a:rPr lang="ru-RU" sz="2000" dirty="0"/>
              <a:t>Строиться на основе аналитико-параметрической модели поведения ряда,</a:t>
            </a:r>
          </a:p>
          <a:p>
            <a:pPr lvl="1"/>
            <a:r>
              <a:rPr lang="ru-RU" sz="2000" dirty="0"/>
              <a:t>прост для понимания и реализации,</a:t>
            </a:r>
          </a:p>
          <a:p>
            <a:pPr lvl="1"/>
            <a:r>
              <a:rPr lang="ru-RU" sz="2000" dirty="0"/>
              <a:t>легко обучаться и </a:t>
            </a:r>
            <a:r>
              <a:rPr lang="ru-RU" sz="2000" dirty="0" err="1"/>
              <a:t>дообучаться</a:t>
            </a:r>
            <a:r>
              <a:rPr lang="ru-RU" sz="2000" dirty="0"/>
              <a:t>,</a:t>
            </a:r>
          </a:p>
          <a:p>
            <a:pPr lvl="1"/>
            <a:r>
              <a:rPr lang="ru-RU" sz="2000" dirty="0"/>
              <a:t>обеспечивают достаточно высокую точность прогноза,</a:t>
            </a:r>
          </a:p>
          <a:p>
            <a:pPr lvl="1"/>
            <a:r>
              <a:rPr lang="ru-RU" sz="2000" dirty="0"/>
              <a:t>лучше работать с одномерными данными,</a:t>
            </a:r>
          </a:p>
          <a:p>
            <a:pPr lvl="1"/>
            <a:r>
              <a:rPr lang="ru-RU" sz="2000" dirty="0"/>
              <a:t>лучше при относительно простых </a:t>
            </a:r>
            <a:r>
              <a:rPr lang="ru-RU" sz="2000" dirty="0" err="1"/>
              <a:t>нестационарностях</a:t>
            </a:r>
            <a:r>
              <a:rPr lang="ru-RU" sz="2000" dirty="0"/>
              <a:t> в </a:t>
            </a:r>
            <a:r>
              <a:rPr lang="ru-RU" sz="2000" dirty="0" err="1"/>
              <a:t>даннных</a:t>
            </a:r>
            <a:r>
              <a:rPr lang="ru-RU" sz="2000" dirty="0"/>
              <a:t>,</a:t>
            </a:r>
          </a:p>
          <a:p>
            <a:pPr lvl="1"/>
            <a:r>
              <a:rPr lang="ru-RU" sz="2000" dirty="0"/>
              <a:t>Легко интерпретируется.</a:t>
            </a:r>
          </a:p>
          <a:p>
            <a:pPr lvl="1"/>
            <a:r>
              <a:rPr lang="ru-RU" sz="2000" dirty="0"/>
              <a:t>Более устойчивый к выбросам в случае хорошо выбранной модели </a:t>
            </a:r>
          </a:p>
          <a:p>
            <a:pPr lvl="1"/>
            <a:r>
              <a:rPr lang="ru-RU" sz="2000" dirty="0"/>
              <a:t>Лучше для небольших наборов данных, чем другие подходы.</a:t>
            </a:r>
          </a:p>
          <a:p>
            <a:pPr marL="342900" lvl="1" indent="-342900"/>
            <a:r>
              <a:rPr lang="ru-RU" sz="2000" b="1" dirty="0"/>
              <a:t>НО</a:t>
            </a:r>
          </a:p>
          <a:p>
            <a:pPr lvl="1"/>
            <a:r>
              <a:rPr lang="ru-RU" sz="2000" dirty="0"/>
              <a:t>точность сильно зависит от количества данных для обучения,</a:t>
            </a:r>
          </a:p>
          <a:p>
            <a:pPr lvl="1"/>
            <a:r>
              <a:rPr lang="ru-RU" sz="2000" dirty="0"/>
              <a:t>точность сильно зависит от выбора значений </a:t>
            </a:r>
            <a:r>
              <a:rPr lang="ru-RU" sz="2000" dirty="0" err="1"/>
              <a:t>гиперпараметров</a:t>
            </a:r>
            <a:r>
              <a:rPr lang="ru-RU" sz="2000" dirty="0"/>
              <a:t> (здесь </a:t>
            </a:r>
            <a:r>
              <a:rPr lang="ru-RU" sz="2000" dirty="0" err="1"/>
              <a:t>гиперпараметры</a:t>
            </a:r>
            <a:r>
              <a:rPr lang="ru-RU" sz="2000" dirty="0"/>
              <a:t> являются аналогом статистической гипотезы в непараметрическом подходе),</a:t>
            </a:r>
          </a:p>
          <a:p>
            <a:pPr lvl="1"/>
            <a:r>
              <a:rPr lang="ru-RU" sz="2000" dirty="0"/>
              <a:t>не может справиться со сложной нелинейной зависимостью между данными,</a:t>
            </a:r>
          </a:p>
          <a:p>
            <a:pPr lvl="1"/>
            <a:r>
              <a:rPr lang="ru-RU" sz="2000" dirty="0"/>
              <a:t>низкая производительность для огромных многомерных нестационарных рядов </a:t>
            </a:r>
            <a:br>
              <a:rPr lang="ru-RU" sz="2000" dirty="0"/>
            </a:br>
            <a:r>
              <a:rPr lang="ru-RU" sz="2000" dirty="0"/>
              <a:t>(особенно в случае данных с различным поведением и т. д.).</a:t>
            </a:r>
          </a:p>
        </p:txBody>
      </p:sp>
    </p:spTree>
    <p:extLst>
      <p:ext uri="{BB962C8B-B14F-4D97-AF65-F5344CB8AC3E}">
        <p14:creationId xmlns:p14="http://schemas.microsoft.com/office/powerpoint/2010/main" val="276184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200" b="1" dirty="0"/>
              <a:t>Методы машинного обучения на основе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846034"/>
            <a:ext cx="11835925" cy="5862415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</a:pPr>
            <a:r>
              <a:rPr lang="ru-RU" sz="2200" b="1" dirty="0"/>
              <a:t>Классические модели, управляемые данными (или подход машинного обучения)</a:t>
            </a:r>
            <a:r>
              <a:rPr lang="ru-RU" sz="2200" dirty="0"/>
              <a:t> .</a:t>
            </a:r>
          </a:p>
          <a:p>
            <a:pPr lvl="0">
              <a:lnSpc>
                <a:spcPct val="100000"/>
              </a:lnSpc>
            </a:pPr>
            <a:r>
              <a:rPr lang="ru-RU" sz="2200" dirty="0"/>
              <a:t>Такие методы, как опорные вектора (SV</a:t>
            </a:r>
            <a:r>
              <a:rPr lang="en-US" sz="2200" dirty="0"/>
              <a:t>M</a:t>
            </a:r>
            <a:r>
              <a:rPr lang="ru-RU" sz="2200" dirty="0"/>
              <a:t>), случайный лес, </a:t>
            </a:r>
            <a:r>
              <a:rPr lang="ru-RU" sz="2200" dirty="0" err="1"/>
              <a:t>XGBoost</a:t>
            </a:r>
            <a:r>
              <a:rPr lang="en-US" sz="2200" dirty="0"/>
              <a:t>, TSF, ROCKET, </a:t>
            </a:r>
            <a:r>
              <a:rPr lang="ru-RU" sz="2200" dirty="0"/>
              <a:t>и </a:t>
            </a:r>
            <a:r>
              <a:rPr lang="ru-RU" sz="2200" dirty="0" err="1"/>
              <a:t>тд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Позволяют работать с сильно нелинейными данными.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Нет необходимости в статистической гипотезе для модели.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Хорошо справляется с нестационарными отношениями между данными.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Легко тренировать.</a:t>
            </a:r>
            <a:endParaRPr lang="en-US" sz="2200" dirty="0"/>
          </a:p>
          <a:p>
            <a:pPr lvl="1">
              <a:lnSpc>
                <a:spcPct val="100000"/>
              </a:lnSpc>
            </a:pPr>
            <a:r>
              <a:rPr lang="ru-RU" sz="2200" dirty="0"/>
              <a:t>Иногда но всегда и не полностью результаты интерпретируются.</a:t>
            </a:r>
            <a:endParaRPr lang="en-US" sz="2200" dirty="0"/>
          </a:p>
          <a:p>
            <a:pPr marL="358775" lvl="1">
              <a:lnSpc>
                <a:spcPct val="100000"/>
              </a:lnSpc>
            </a:pPr>
            <a:r>
              <a:rPr lang="ru-RU" sz="2200" b="1" dirty="0"/>
              <a:t>Но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Точность сильно зависит от выбора значений </a:t>
            </a:r>
            <a:r>
              <a:rPr lang="ru-RU" sz="2200" dirty="0" err="1"/>
              <a:t>гиперпараметров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Неявная зависимость выбранной модели и данных от результатов прогноза.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Точность сильно зависит от сходства между обученными данными и данными вывода.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Трудно достичь сопоставимой точности с подходом на основе модели для относительно простых данных.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Часто нужно использовать ансамбль методов для достижения приемлемой точности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Вычислительная сложность работы значительно выше, чем для модельных подходов</a:t>
            </a:r>
          </a:p>
        </p:txBody>
      </p:sp>
    </p:spTree>
    <p:extLst>
      <p:ext uri="{BB962C8B-B14F-4D97-AF65-F5344CB8AC3E}">
        <p14:creationId xmlns:p14="http://schemas.microsoft.com/office/powerpoint/2010/main" val="80786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200" b="1" dirty="0"/>
              <a:t>Методы машинного обучения на основе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846034"/>
            <a:ext cx="11835925" cy="5245471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Глубокая нейронная сеть</a:t>
            </a:r>
            <a:r>
              <a:rPr lang="ru-RU" sz="2000" dirty="0"/>
              <a:t> .</a:t>
            </a:r>
          </a:p>
          <a:p>
            <a:pPr marL="685800" lvl="2"/>
            <a:r>
              <a:rPr lang="ru-RU" sz="2200" dirty="0"/>
              <a:t>Нет необходимости в статистической гипотезе или конкретной форме модели.</a:t>
            </a:r>
          </a:p>
          <a:p>
            <a:pPr marL="685800" lvl="2"/>
            <a:r>
              <a:rPr lang="ru-RU" sz="2200" dirty="0"/>
              <a:t>Может аппроксимировать любую функцию с пропущенными данными, аномалиями и другими нерегулярными шаблонами.</a:t>
            </a:r>
          </a:p>
          <a:p>
            <a:pPr marL="685800" lvl="2"/>
            <a:r>
              <a:rPr lang="ru-RU" sz="2200" dirty="0"/>
              <a:t>Позволяют работать с огромными многомерными рядами данных со сложной взаимосвязью поведения между данными.</a:t>
            </a:r>
          </a:p>
          <a:p>
            <a:pPr marL="685800" lvl="2"/>
            <a:r>
              <a:rPr lang="ru-RU" sz="2200" dirty="0"/>
              <a:t>Автоматически извлекают и обрабатывают сложные признаки и отношения между ними.</a:t>
            </a:r>
          </a:p>
          <a:p>
            <a:pPr marL="685800" lvl="2"/>
            <a:r>
              <a:rPr lang="ru-RU" sz="2200" dirty="0"/>
              <a:t>Для сложных и многомерных данных в большом количестве модели, управляемые данными, могут обеспечить лучшую производительность.</a:t>
            </a:r>
          </a:p>
          <a:p>
            <a:pPr marL="228600" lvl="1"/>
            <a:r>
              <a:rPr lang="ru-RU" sz="2000" b="1" dirty="0"/>
              <a:t>НО</a:t>
            </a:r>
          </a:p>
          <a:p>
            <a:pPr marL="685800" lvl="2"/>
            <a:r>
              <a:rPr lang="ru-RU" sz="2200" dirty="0"/>
              <a:t>Требуется тщательная настройка </a:t>
            </a:r>
            <a:r>
              <a:rPr lang="ru-RU" sz="2200" dirty="0" err="1"/>
              <a:t>гиперпараметров</a:t>
            </a:r>
            <a:r>
              <a:rPr lang="ru-RU" sz="2200" dirty="0"/>
              <a:t>.</a:t>
            </a:r>
          </a:p>
          <a:p>
            <a:pPr marL="685800" lvl="2"/>
            <a:r>
              <a:rPr lang="ru-RU" sz="2200" dirty="0"/>
              <a:t>Часто требуется ансамбль сетей для получения высокой точности.</a:t>
            </a:r>
          </a:p>
          <a:p>
            <a:pPr marL="685800" lvl="2"/>
            <a:r>
              <a:rPr lang="ru-RU" sz="2200" dirty="0"/>
              <a:t>Тяжело перетренировать.</a:t>
            </a:r>
          </a:p>
          <a:p>
            <a:pPr marL="685800" lvl="2"/>
            <a:r>
              <a:rPr lang="ru-RU" sz="2200" dirty="0"/>
              <a:t>Трудно достичь сопоставимой точности с подходом на основе модели для относительно простых рядов.</a:t>
            </a:r>
          </a:p>
          <a:p>
            <a:pPr lvl="1"/>
            <a:r>
              <a:rPr lang="ru-RU" sz="2200" dirty="0"/>
              <a:t>Выбор конкретных методов зависит от поставленной задачи.</a:t>
            </a:r>
          </a:p>
          <a:p>
            <a:pPr lvl="1"/>
            <a:r>
              <a:rPr lang="ru-RU" sz="2200" dirty="0"/>
              <a:t>Для простых и одномерных данных работает хуже остальных методов.</a:t>
            </a:r>
          </a:p>
        </p:txBody>
      </p:sp>
    </p:spTree>
    <p:extLst>
      <p:ext uri="{BB962C8B-B14F-4D97-AF65-F5344CB8AC3E}">
        <p14:creationId xmlns:p14="http://schemas.microsoft.com/office/powerpoint/2010/main" val="428456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Подходы к временным рядам DL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b="1" dirty="0"/>
              <a:t>Один к одному (а)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один вход и один выход. Типичным примером является случай, когда у вас есть полный сегмент (или полный временной ряд) в качестве входных данных, и вы хотите спрогнозировать единственную метку для сегмента.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Один ко многим (б)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полный сегмент (или полный временной ряд) в качестве входных данных и последовательность выходных данных. Типичным примером является входной сегмент и соответствующие ему показатели, параметры или его разложение.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Многие-к-одному (c)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последовательность данных в качестве входных данных, и мы должны предсказать единственный выход. Типичный пример, когда у нас есть входной набор сегментов (или полученный с помощью скользящего окна), и мы хотим предсказать единственный выходной тег (прогноз или метка).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Последовательные многие-ко-многим (d)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вход последовательности и выход последовательности. Например, цены акций за 7 дней в качестве входных данных и цены акций следующих 7 дней в качестве выходных данных.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Синхронные многие-ко-многим (e)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вход последовательности и выход последовательности. Например, обработка видео как проблема временных рядов или любая онлайн-проблема.</a:t>
            </a:r>
          </a:p>
        </p:txBody>
      </p:sp>
    </p:spTree>
    <p:extLst>
      <p:ext uri="{BB962C8B-B14F-4D97-AF65-F5344CB8AC3E}">
        <p14:creationId xmlns:p14="http://schemas.microsoft.com/office/powerpoint/2010/main" val="155232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Подходы к временным рядам DL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/>
            <a:r>
              <a:rPr lang="ru-RU" sz="2000" u="sng" dirty="0"/>
              <a:t>Самый универсальный подход глубокого обучения к анализу временных рядов - это многие ко многим </a:t>
            </a:r>
            <a:r>
              <a:rPr lang="ru-RU" sz="2000" dirty="0"/>
              <a:t> (или  </a:t>
            </a:r>
            <a:r>
              <a:rPr lang="ru-RU" sz="2000" b="1" dirty="0"/>
              <a:t>Sequence2Sequence, Seq2Seq</a:t>
            </a:r>
            <a:r>
              <a:rPr lang="ru-RU" sz="2000" dirty="0"/>
              <a:t> ).</a:t>
            </a:r>
          </a:p>
          <a:p>
            <a:pPr lvl="0"/>
            <a:r>
              <a:rPr lang="ru-RU" sz="2000" b="1" dirty="0"/>
              <a:t>Seq2Seq</a:t>
            </a:r>
            <a:r>
              <a:rPr lang="ru-RU" sz="2000" dirty="0"/>
              <a:t>  подход  </a:t>
            </a:r>
            <a:r>
              <a:rPr lang="ru-RU" sz="2000" u="sng" dirty="0"/>
              <a:t>можно интерпретировать как модель кодера-декодера.</a:t>
            </a:r>
            <a:endParaRPr lang="ru-RU" sz="2000" dirty="0"/>
          </a:p>
          <a:p>
            <a:pPr lvl="0"/>
            <a:r>
              <a:rPr lang="ru-RU" sz="2000" dirty="0"/>
              <a:t>В этом случае кодер используется для суммирования прошлой информации (т. Е. Целей, наблюдаемых входных данных и априори известных входных данных), а декодер - для создания новых прогнозов, классификации, оценки и прочего.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51061"/>
          <a:stretch/>
        </p:blipFill>
        <p:spPr>
          <a:xfrm>
            <a:off x="564348" y="3046981"/>
            <a:ext cx="5584960" cy="331099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t="49793"/>
          <a:stretch/>
        </p:blipFill>
        <p:spPr>
          <a:xfrm>
            <a:off x="6520720" y="3047079"/>
            <a:ext cx="5443717" cy="331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40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828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8385" y="1102409"/>
            <a:ext cx="10815415" cy="49805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200" dirty="0"/>
              <a:t>Рекуррентные нейронные сети это тип сетей, основанный на </a:t>
            </a:r>
            <a:r>
              <a:rPr lang="ru-RU" sz="2200" dirty="0" err="1"/>
              <a:t>переиспользовании</a:t>
            </a:r>
            <a:r>
              <a:rPr lang="ru-RU" sz="2200" dirty="0"/>
              <a:t> одних и тех же весовых параметров, но изменяющегося вектора состояний для последовательных участков данных . </a:t>
            </a:r>
          </a:p>
          <a:p>
            <a:pPr lvl="1">
              <a:lnSpc>
                <a:spcPct val="100000"/>
              </a:lnSpc>
            </a:pPr>
            <a:r>
              <a:rPr lang="ru-RU" sz="2000" dirty="0"/>
              <a:t>При этом сеть как бы скользит по данным.</a:t>
            </a:r>
          </a:p>
          <a:p>
            <a:pPr lvl="1">
              <a:lnSpc>
                <a:spcPct val="100000"/>
              </a:lnSpc>
            </a:pPr>
            <a:r>
              <a:rPr lang="ru-RU" sz="2000" dirty="0"/>
              <a:t>Вектор состояний – это модель памяти</a:t>
            </a:r>
          </a:p>
          <a:p>
            <a:pPr>
              <a:lnSpc>
                <a:spcPct val="100000"/>
              </a:lnSpc>
            </a:pPr>
            <a:r>
              <a:rPr lang="ru-RU" sz="2200" dirty="0"/>
              <a:t>Отличие рекуррентной сети от обычно полносвязаной в использовании скрытого состояния, которое передается из одной позиции окна в другую. </a:t>
            </a:r>
          </a:p>
          <a:p>
            <a:endParaRPr lang="ru-RU" sz="2200" dirty="0"/>
          </a:p>
        </p:txBody>
      </p:sp>
      <p:pic>
        <p:nvPicPr>
          <p:cNvPr id="1026" name="Picture 2" descr="https://res.cloudinary.com/dyd911kmh/image/upload/v1647442110/image2_ysmal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17" y="3841744"/>
            <a:ext cx="6582785" cy="194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ime series forecasting | TensorFlow Co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841" y="3804875"/>
            <a:ext cx="4464704" cy="279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912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9832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7464" y="1204958"/>
            <a:ext cx="10515600" cy="4351338"/>
          </a:xfrm>
        </p:spPr>
        <p:txBody>
          <a:bodyPr>
            <a:normAutofit/>
          </a:bodyPr>
          <a:lstStyle/>
          <a:p>
            <a:r>
              <a:rPr lang="ru-RU" sz="2100" dirty="0"/>
              <a:t>Другая интерпретация сети – мы движемся окном по временному ряду. </a:t>
            </a:r>
          </a:p>
          <a:p>
            <a:r>
              <a:rPr lang="ru-RU" sz="2100" dirty="0"/>
              <a:t>Но корме результата для каждого положения окна мы сохраняем внутреннее состояние </a:t>
            </a:r>
          </a:p>
          <a:p>
            <a:pPr lvl="1"/>
            <a:r>
              <a:rPr lang="ru-RU" sz="2100" dirty="0"/>
              <a:t>состояние используется в следующем положении окна</a:t>
            </a:r>
          </a:p>
        </p:txBody>
      </p:sp>
      <p:pic>
        <p:nvPicPr>
          <p:cNvPr id="3074" name="Picture 2" descr="https://neerc.ifmo.ru/wiki/images/thumb/1/18/RNN_BPTT.jpg/450px-RNN_BPT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569" y="2508410"/>
            <a:ext cx="5700045" cy="2824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neerc.ifmo.ru/wiki/images/thumb/a/a6/RNN_BP.jpg/450px-RNN_BP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0" y="2361527"/>
            <a:ext cx="3516669" cy="278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114" y="4221016"/>
            <a:ext cx="3814508" cy="256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428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Сеть </a:t>
            </a:r>
            <a:r>
              <a:rPr lang="ru-RU" dirty="0" err="1"/>
              <a:t>Джордана</a:t>
            </a:r>
            <a:r>
              <a:rPr lang="ru-RU" dirty="0"/>
              <a:t> или </a:t>
            </a:r>
            <a:r>
              <a:rPr lang="en-US" dirty="0"/>
              <a:t>Simple RNN/Vanilla RNN</a:t>
            </a:r>
            <a:r>
              <a:rPr lang="ru-RU" dirty="0"/>
              <a:t>:</a:t>
            </a:r>
          </a:p>
        </p:txBody>
      </p:sp>
      <p:pic>
        <p:nvPicPr>
          <p:cNvPr id="2050" name="Picture 2" descr="https://stanford.edu/~shervine/teaching/cs-230/illustrations/description-block-rnn-ltr.png?74e25518f882f8758439bcb3637715e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463" y="1957497"/>
            <a:ext cx="4838971" cy="241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57615"/>
            <a:ext cx="4162425" cy="8096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6" y="5259124"/>
            <a:ext cx="4029075" cy="819150"/>
          </a:xfrm>
          <a:prstGeom prst="rect">
            <a:avLst/>
          </a:prstGeom>
        </p:spPr>
      </p:pic>
      <p:pic>
        <p:nvPicPr>
          <p:cNvPr id="2061" name="Picture 13" descr="Illustration of the vanilla recurrent neural network. | Download Scientific  Diagra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508855"/>
            <a:ext cx="4298113" cy="183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1225"/>
          </a:xfrm>
        </p:spPr>
        <p:txBody>
          <a:bodyPr/>
          <a:lstStyle/>
          <a:p>
            <a:r>
              <a:rPr lang="ru-RU" b="1" dirty="0"/>
              <a:t>Простая рекуррентная нейронные сети</a:t>
            </a:r>
          </a:p>
        </p:txBody>
      </p:sp>
      <p:sp>
        <p:nvSpPr>
          <p:cNvPr id="15" name="Объект 2"/>
          <p:cNvSpPr txBox="1">
            <a:spLocks/>
          </p:cNvSpPr>
          <p:nvPr/>
        </p:nvSpPr>
        <p:spPr>
          <a:xfrm>
            <a:off x="453149" y="4736659"/>
            <a:ext cx="10515600" cy="6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Может быть и формулировка </a:t>
            </a:r>
            <a:r>
              <a:rPr lang="ru-RU" dirty="0" err="1"/>
              <a:t>Элмана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309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Рекуррентные нейронные сети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459910" cy="614015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Одна из  </a:t>
            </a:r>
            <a:r>
              <a:rPr lang="ru-RU" sz="2200" b="1" dirty="0"/>
              <a:t>основных проблем простых RNN (</a:t>
            </a:r>
            <a:r>
              <a:rPr lang="ru-RU" sz="2200" b="1" dirty="0" err="1"/>
              <a:t>vanilla</a:t>
            </a:r>
            <a:r>
              <a:rPr lang="ru-RU" sz="2200" b="1" dirty="0"/>
              <a:t> RNN)</a:t>
            </a:r>
            <a:r>
              <a:rPr lang="ru-RU" sz="2200" dirty="0"/>
              <a:t>  - это </a:t>
            </a:r>
            <a:r>
              <a:rPr lang="ru-RU" sz="2200" b="1" dirty="0"/>
              <a:t>взрыв веса (или градиента) и вымывание градиента</a:t>
            </a:r>
            <a:r>
              <a:rPr lang="ru-RU" sz="2200" dirty="0"/>
              <a:t>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когда обрабатывается длинная последовательность.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Таким образом, только некоторая часть серии может быть обработана как вход RNN.</a:t>
            </a:r>
            <a:endParaRPr lang="en-US" sz="2200" dirty="0"/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Решением этой простой проблемы RNN</a:t>
            </a:r>
            <a:r>
              <a:rPr lang="ru-RU" sz="2200" dirty="0"/>
              <a:t>  являются: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усечение обучение (усеченное обратное распространение).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двунаправленное обучение (если возможно).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использование продвинутых </a:t>
            </a:r>
            <a:r>
              <a:rPr lang="en-US" sz="2200" dirty="0"/>
              <a:t> </a:t>
            </a:r>
            <a:r>
              <a:rPr lang="ru-RU" sz="2200" dirty="0"/>
              <a:t>архитектур рекуррентных сетей (LSTM, GRU и др.).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регуляризация обучения (</a:t>
            </a:r>
            <a:r>
              <a:rPr lang="ru-RU" sz="2200" dirty="0" err="1"/>
              <a:t>батч</a:t>
            </a:r>
            <a:r>
              <a:rPr lang="ru-RU" sz="2200" dirty="0"/>
              <a:t>-норма, L1, L2,ограничение  градиентные (или его нормы), функции активации с </a:t>
            </a:r>
            <a:r>
              <a:rPr lang="ru-RU" sz="2200" dirty="0" err="1"/>
              <a:t>самонормализацией</a:t>
            </a:r>
            <a:r>
              <a:rPr lang="ru-RU" sz="2200" dirty="0"/>
              <a:t> и т. д.).</a:t>
            </a:r>
          </a:p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b="1" dirty="0">
                <a:latin typeface="-apple-system"/>
              </a:rPr>
              <a:t>Также отметим, что следствием высокой вероятности переобучения является не возможность сделать рекуррентные сети слишком глубокими.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Архитектуры, содержащие более 4 двунаправленных слоев это редкость.</a:t>
            </a:r>
            <a:r>
              <a:rPr lang="ru-RU" altLang="ru-RU" sz="2200" dirty="0"/>
              <a:t> </a:t>
            </a:r>
            <a:endParaRPr lang="ru-RU" altLang="ru-RU" sz="2200" dirty="0">
              <a:latin typeface="Arial" panose="020B0604020202020204" pitchFamily="34" charset="0"/>
            </a:endParaRPr>
          </a:p>
          <a:p>
            <a:pPr lvl="0">
              <a:lnSpc>
                <a:spcPct val="100000"/>
              </a:lnSpc>
              <a:spcBef>
                <a:spcPts val="600"/>
              </a:spcBef>
            </a:pPr>
            <a:endParaRPr lang="ru-RU" sz="22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20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Рекуррентные нейронные сети</a:t>
            </a:r>
            <a:endParaRPr lang="en-US" b="1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805019" y="879998"/>
            <a:ext cx="5687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усеченного обратного распространения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1418734"/>
            <a:ext cx="5735504" cy="2008425"/>
          </a:xfrm>
          <a:prstGeom prst="rect">
            <a:avLst/>
          </a:prstGeom>
        </p:spPr>
      </p:pic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5067052" y="3537486"/>
            <a:ext cx="4479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двунаправленного обучения</a:t>
            </a:r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852" y="4075955"/>
            <a:ext cx="7251411" cy="26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66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Рекуррентные нейронные сети</a:t>
            </a:r>
            <a:endParaRPr lang="en-US" b="1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3247782"/>
            <a:ext cx="6794070" cy="2699171"/>
          </a:xfrm>
          <a:prstGeom prst="rect">
            <a:avLst/>
          </a:prstGeom>
        </p:spPr>
      </p:pic>
      <p:sp>
        <p:nvSpPr>
          <p:cNvPr id="18" name="Объект 2"/>
          <p:cNvSpPr>
            <a:spLocks noGrp="1"/>
          </p:cNvSpPr>
          <p:nvPr>
            <p:ph idx="1"/>
          </p:nvPr>
        </p:nvSpPr>
        <p:spPr>
          <a:xfrm>
            <a:off x="6003634" y="2228242"/>
            <a:ext cx="4921541" cy="357763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Пример </a:t>
            </a:r>
            <a:r>
              <a:rPr lang="en-US" sz="2000" dirty="0" err="1"/>
              <a:t>расширенного</a:t>
            </a:r>
            <a:r>
              <a:rPr lang="en-US" sz="2000" dirty="0"/>
              <a:t> </a:t>
            </a:r>
            <a:r>
              <a:rPr lang="en-US" sz="2000" dirty="0" err="1"/>
              <a:t>обучения</a:t>
            </a:r>
            <a:r>
              <a:rPr lang="en-US" sz="2000" dirty="0"/>
              <a:t> RNN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 </a:t>
            </a:r>
            <a:r>
              <a:rPr lang="en-US" sz="2000" dirty="0"/>
              <a:t>(temporal learning)</a:t>
            </a:r>
            <a:endParaRPr lang="en-US" sz="160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" y="1267010"/>
            <a:ext cx="4810125" cy="5289786"/>
          </a:xfrm>
          <a:prstGeom prst="rect">
            <a:avLst/>
          </a:prstGeom>
        </p:spPr>
      </p:pic>
      <p:sp>
        <p:nvSpPr>
          <p:cNvPr id="19" name="Объект 2"/>
          <p:cNvSpPr txBox="1">
            <a:spLocks/>
          </p:cNvSpPr>
          <p:nvPr/>
        </p:nvSpPr>
        <p:spPr>
          <a:xfrm>
            <a:off x="1660234" y="717847"/>
            <a:ext cx="4921541" cy="357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Глубокая сеть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2816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825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123950"/>
            <a:ext cx="10725150" cy="5476875"/>
          </a:xfrm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Недостатком подходов обучения с </a:t>
            </a:r>
            <a:r>
              <a:rPr lang="en-US" altLang="ru-RU" sz="2200" dirty="0">
                <a:latin typeface="-apple-system"/>
              </a:rPr>
              <a:t>RNN </a:t>
            </a:r>
            <a:r>
              <a:rPr lang="ru-RU" altLang="ru-RU" sz="2200" dirty="0">
                <a:latin typeface="-apple-system"/>
              </a:rPr>
              <a:t>является не возможность учета долговременного контекста. </a:t>
            </a:r>
            <a:endParaRPr lang="en-US" altLang="ru-RU" sz="2200" dirty="0">
              <a:latin typeface="-apple-system"/>
            </a:endParaRPr>
          </a:p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Для решения этой проблемы используются </a:t>
            </a:r>
            <a:r>
              <a:rPr lang="ru-RU" altLang="ru-RU" sz="2200" dirty="0">
                <a:latin typeface="var(--jp-code-font-family)"/>
              </a:rPr>
              <a:t>LSTM</a:t>
            </a:r>
            <a:r>
              <a:rPr lang="ru-RU" altLang="ru-RU" sz="2200" dirty="0">
                <a:latin typeface="-apple-system"/>
              </a:rPr>
              <a:t> и </a:t>
            </a:r>
            <a:r>
              <a:rPr lang="ru-RU" altLang="ru-RU" sz="2200" dirty="0">
                <a:latin typeface="var(--jp-code-font-family)"/>
              </a:rPr>
              <a:t>GRU</a:t>
            </a:r>
            <a:r>
              <a:rPr lang="ru-RU" altLang="ru-RU" sz="2200" dirty="0">
                <a:latin typeface="-apple-system"/>
              </a:rPr>
              <a:t> ячейки, которые имеют учет долговременного контекста. </a:t>
            </a:r>
            <a:endParaRPr lang="en-US" altLang="ru-RU" sz="2200" dirty="0">
              <a:latin typeface="-apple-system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sz="2200" dirty="0"/>
              <a:t>в литературе можно найти и другие варианты модификаций. 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3450543"/>
            <a:ext cx="981075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9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825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2168" y="996950"/>
            <a:ext cx="10725150" cy="547687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dirty="0"/>
              <a:t>Особенностью LSTM ячейки является раздельный учет скрытых состояний.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Первое соответствует кратковременному контексту (например так мы можем учесть сезонность),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а второе состояние учитывает долговременный контекст (так мы сможем учесть тренд).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Долговременный контекст – это контекст с долгим затуханием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 Идея GRU ячейки объединить оба скрытых состояния вместе и передавать их одним параметром.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За счет этого общее число параметров будет меньше. </a:t>
            </a:r>
          </a:p>
        </p:txBody>
      </p:sp>
      <p:pic>
        <p:nvPicPr>
          <p:cNvPr id="6146" name="Picture 2" descr="Recurrent Neural Networks - Combination of RNN and CNN - Convolutional  Neural Networks for Image and Video Processing - TUM Wik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3" b="12224"/>
          <a:stretch/>
        </p:blipFill>
        <p:spPr bwMode="auto">
          <a:xfrm>
            <a:off x="832605" y="3974214"/>
            <a:ext cx="5002138" cy="2499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IJGI | Free Full-Text | Bidirectional Gated Recurrent Unit Neural Network  for Chinese Address Element Segment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107" y="3735387"/>
            <a:ext cx="4225925" cy="266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4" descr="Review: Empirical Evaluation of Gated Recurrent Neural Networks on Sequence  Modeling (GRU) | by Sik-Ho Tsang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16" descr="https://miro.medium.com/v2/resize:fit:875/0*c3WksH9kuFrQy7rz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39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b="1" dirty="0" err="1"/>
              <a:t>Рекуррентные</a:t>
            </a:r>
            <a:r>
              <a:rPr lang="en-US" b="1" dirty="0"/>
              <a:t> нейронные сети. 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60375" y="717847"/>
            <a:ext cx="10833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b="1" dirty="0">
                <a:solidFill>
                  <a:srgbClr val="000000"/>
                </a:solidFill>
              </a:rPr>
              <a:t>Сети с долгой краткосрочной памятью (LSTM) </a:t>
            </a:r>
            <a:r>
              <a:rPr lang="en-US" dirty="0">
                <a:solidFill>
                  <a:srgbClr val="000000"/>
                </a:solidFill>
              </a:rPr>
              <a:t>были разработаны для устранения ограничений длинной памяти RNN. Это достигается за счет использования состояния ячейки, в котором хранится отдельная долгосрочная и краткосрочная информация, модулируемая через серию вентилей.</a:t>
            </a:r>
            <a:endParaRPr lang="ru-RU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57" y="2111554"/>
            <a:ext cx="10477249" cy="3821114"/>
          </a:xfrm>
          <a:prstGeom prst="rect">
            <a:avLst/>
          </a:prstGeom>
        </p:spPr>
      </p:pic>
      <p:sp>
        <p:nvSpPr>
          <p:cNvPr id="20" name="AutoShape 2" descr="image-2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86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b="1" dirty="0" err="1"/>
              <a:t>Рекуррентные</a:t>
            </a:r>
            <a:r>
              <a:rPr lang="en-US" b="1" dirty="0"/>
              <a:t> нейронные сети. 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AutoShape 2" descr="image-2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21" y="1362756"/>
            <a:ext cx="11426825" cy="3694981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1069974" y="835099"/>
            <a:ext cx="75152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GRU </a:t>
            </a:r>
            <a:r>
              <a:rPr lang="ru-RU" dirty="0"/>
              <a:t>может рассматриваться как альтернатива</a:t>
            </a:r>
            <a:r>
              <a:rPr lang="en-US" dirty="0"/>
              <a:t> </a:t>
            </a:r>
            <a:r>
              <a:rPr lang="ru-RU" dirty="0"/>
              <a:t>для LSTM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317802" y="5216062"/>
            <a:ext cx="75152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 сути долговременный контекст передается совместно с кратковременным – среднее время учета контекста</a:t>
            </a:r>
          </a:p>
        </p:txBody>
      </p:sp>
    </p:spTree>
    <p:extLst>
      <p:ext uri="{BB962C8B-B14F-4D97-AF65-F5344CB8AC3E}">
        <p14:creationId xmlns:p14="http://schemas.microsoft.com/office/powerpoint/2010/main" val="351408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/>
            <a:r>
              <a:rPr lang="en-US" sz="4000" b="1" dirty="0"/>
              <a:t>RNN. </a:t>
            </a:r>
            <a:r>
              <a:rPr lang="ru-RU" sz="4000" b="1" dirty="0"/>
              <a:t>Итеративная </a:t>
            </a:r>
            <a:r>
              <a:rPr lang="ru-RU" altLang="ru-RU" sz="4000" b="1" dirty="0"/>
              <a:t>Авторегрессия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1005865"/>
            <a:ext cx="11832935" cy="5806346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Прямой подход</a:t>
            </a:r>
            <a:r>
              <a:rPr lang="ru-RU" sz="2000" dirty="0"/>
              <a:t>  (традиционный) обычно представляет собой архитектуру «</a:t>
            </a:r>
            <a:r>
              <a:rPr lang="en-US" sz="2000" dirty="0"/>
              <a:t>seq2seq</a:t>
            </a:r>
            <a:r>
              <a:rPr lang="ru-RU" sz="2000" dirty="0"/>
              <a:t>», в которой используется кодер для обобщения прошлой информации и декодер для объединения их с известными будущими входными данными.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Недостаток прямого подхода </a:t>
            </a:r>
            <a:endParaRPr lang="en-US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u="sng" dirty="0"/>
              <a:t>устранении необходимости в рекурсии прямые методы требуют указания максимального горизонта прогноза, </a:t>
            </a:r>
            <a:endParaRPr lang="en-US" sz="2200" u="sng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u="sng" dirty="0"/>
              <a:t>причем прогнозы делаются только через заранее определенные дискретные интервалы.</a:t>
            </a:r>
            <a:endParaRPr lang="ru-RU" sz="22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2"/>
          <a:srcRect b="48945"/>
          <a:stretch/>
        </p:blipFill>
        <p:spPr>
          <a:xfrm>
            <a:off x="527631" y="3667698"/>
            <a:ext cx="4793993" cy="2101468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2"/>
          <a:srcRect t="52746"/>
          <a:stretch/>
        </p:blipFill>
        <p:spPr>
          <a:xfrm>
            <a:off x="5499333" y="3667698"/>
            <a:ext cx="4991846" cy="202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9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/>
            <a:r>
              <a:rPr lang="en-US" sz="4000" b="1" dirty="0"/>
              <a:t>RNN. </a:t>
            </a:r>
            <a:r>
              <a:rPr lang="ru-RU" sz="4000" b="1" dirty="0"/>
              <a:t>Итеративная </a:t>
            </a:r>
            <a:r>
              <a:rPr lang="ru-RU" altLang="ru-RU" sz="4000" b="1" dirty="0"/>
              <a:t>Авторегрессия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Итеративное обучение</a:t>
            </a:r>
            <a:r>
              <a:rPr lang="ru-RU" sz="2200" dirty="0"/>
              <a:t>  - это развитие идеи повторяющегося обучения для временных рядов.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Основная идея итеративного обучения</a:t>
            </a:r>
            <a:r>
              <a:rPr lang="ru-RU" sz="2200" dirty="0"/>
              <a:t>  заключается в использовании принципа авторегрессии в рекуррентной сетевой структуре.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В отличие от традиционного (прямого) метода в итеративном обучении, модель учит предсказывать только на один шаг вперед на этапе обучения (обратите внимание, что скрытое состояние также сохраняется).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На этапе проверки сеть использует свои предыдущие прогнозы в качестве дополнительных входных данных.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 err="1"/>
              <a:t>Многогоризонтные</a:t>
            </a:r>
            <a:r>
              <a:rPr lang="ru-RU" sz="2200" dirty="0"/>
              <a:t> прогнозы создаются путем рекурсивной подачи выборок (одношаговый прогноз) в будущие временные шаги (повторение процедуры вывода).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2"/>
          <a:srcRect b="48945"/>
          <a:stretch/>
        </p:blipFill>
        <p:spPr>
          <a:xfrm>
            <a:off x="612775" y="4379799"/>
            <a:ext cx="4904594" cy="214995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2"/>
          <a:srcRect t="52746"/>
          <a:stretch/>
        </p:blipFill>
        <p:spPr>
          <a:xfrm>
            <a:off x="6248334" y="4379799"/>
            <a:ext cx="5088374" cy="206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8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sz="4000" b="1" dirty="0" err="1"/>
              <a:t>Глубокая</a:t>
            </a:r>
            <a:r>
              <a:rPr lang="en-US" sz="4000" b="1" dirty="0"/>
              <a:t> AR </a:t>
            </a:r>
            <a:r>
              <a:rPr lang="ru-RU" sz="4000" b="1" dirty="0"/>
              <a:t>сеть</a:t>
            </a:r>
            <a:endParaRPr lang="en-US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Сеть </a:t>
            </a:r>
            <a:r>
              <a:rPr lang="ru-RU" sz="2000" dirty="0" err="1"/>
              <a:t>Deep</a:t>
            </a:r>
            <a:r>
              <a:rPr lang="ru-RU" sz="2000" dirty="0"/>
              <a:t> AR - самая известная реализация  </a:t>
            </a:r>
            <a:r>
              <a:rPr lang="ru-RU" sz="2000" u="sng" dirty="0"/>
              <a:t>итеративного обучения в сочетании с </a:t>
            </a:r>
            <a:r>
              <a:rPr lang="ru-RU" sz="2000" u="sng" dirty="0" err="1"/>
              <a:t>lstm</a:t>
            </a:r>
            <a:r>
              <a:rPr lang="ru-RU" sz="2000" u="sng" dirty="0"/>
              <a:t>-ячейками и так называемым </a:t>
            </a:r>
            <a:r>
              <a:rPr lang="ru-RU" sz="2000" b="1" u="sng" dirty="0"/>
              <a:t>вероятностным обучением</a:t>
            </a:r>
            <a:r>
              <a:rPr lang="ru-RU" sz="2000" u="sng" dirty="0"/>
              <a:t> с учителем </a:t>
            </a:r>
            <a:r>
              <a:rPr lang="ru-RU" sz="2000" b="1" u="sng" dirty="0"/>
              <a:t>.</a:t>
            </a:r>
            <a:endParaRPr lang="en-US" sz="2000" b="1" u="sng" dirty="0"/>
          </a:p>
          <a:p>
            <a:r>
              <a:rPr lang="ru-RU" sz="2000" dirty="0"/>
              <a:t>В  </a:t>
            </a:r>
            <a:r>
              <a:rPr lang="ru-RU" sz="2000" b="1" dirty="0"/>
              <a:t>вероятностном обучении</a:t>
            </a:r>
            <a:r>
              <a:rPr lang="ru-RU" sz="2000" dirty="0"/>
              <a:t>  мы пытаемся не само значение прогноза, но его среднее ожидание и его дисперсию, подчиняющиеся распределению. Другими словами, мы пытаемся построить какое-то распределение и минимизировать сумму его значений</a:t>
            </a:r>
          </a:p>
          <a:p>
            <a:pPr lvl="1"/>
            <a:r>
              <a:rPr lang="ru-RU" sz="2000" dirty="0"/>
              <a:t>Чаще всего моделируется нормальное распределение</a:t>
            </a:r>
          </a:p>
          <a:p>
            <a:pPr lvl="1"/>
            <a:r>
              <a:rPr lang="ru-RU" sz="2000" dirty="0"/>
              <a:t>Теоретически могут быть и другие виды распределений</a:t>
            </a:r>
          </a:p>
          <a:p>
            <a:pPr lvl="1"/>
            <a:r>
              <a:rPr lang="ru-RU" sz="2000" dirty="0"/>
              <a:t>Конкретный результат предсказания генерируется из распределения </a:t>
            </a:r>
          </a:p>
          <a:p>
            <a:pPr lvl="1"/>
            <a:r>
              <a:rPr lang="ru-RU" sz="2000" dirty="0"/>
              <a:t>Для нормального распределения среднее значение максимизирует правдоподобие, </a:t>
            </a:r>
          </a:p>
          <a:p>
            <a:pPr lvl="1"/>
            <a:r>
              <a:rPr lang="ru-RU" sz="2000" dirty="0"/>
              <a:t>но мы управляем не только средним, но и дисперсией его предсказаний</a:t>
            </a:r>
          </a:p>
          <a:p>
            <a:pPr lvl="2"/>
            <a:r>
              <a:rPr lang="ru-RU" dirty="0"/>
              <a:t>В этом отношении вероятностное обучение является аналогом регуляризации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r="50098"/>
          <a:stretch/>
        </p:blipFill>
        <p:spPr>
          <a:xfrm>
            <a:off x="765175" y="4202976"/>
            <a:ext cx="4511004" cy="2448285"/>
          </a:xfrm>
          <a:prstGeom prst="rect">
            <a:avLst/>
          </a:prstGeom>
        </p:spPr>
      </p:pic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 rotWithShape="1">
          <a:blip r:embed="rId2"/>
          <a:srcRect l="50607"/>
          <a:stretch/>
        </p:blipFill>
        <p:spPr>
          <a:xfrm>
            <a:off x="7024643" y="4286880"/>
            <a:ext cx="4312065" cy="2364381"/>
          </a:xfrm>
          <a:prstGeom prst="rect">
            <a:avLst/>
          </a:prstGeom>
        </p:spPr>
      </p:pic>
      <p:sp>
        <p:nvSpPr>
          <p:cNvPr id="8" name="AutoShape 2" descr="https://miro.medium.com/v2/resize:fit:852/0*RpUovvN5BT2_sbMF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22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1534"/>
          </a:xfrm>
        </p:spPr>
        <p:txBody>
          <a:bodyPr/>
          <a:lstStyle/>
          <a:p>
            <a:r>
              <a:rPr lang="en-US" b="1" dirty="0" err="1"/>
              <a:t>Глубокая</a:t>
            </a:r>
            <a:r>
              <a:rPr lang="en-US" b="1" dirty="0"/>
              <a:t> AR </a:t>
            </a:r>
            <a:r>
              <a:rPr lang="ru-RU" b="1" dirty="0"/>
              <a:t>сеть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95399"/>
            <a:ext cx="6308558" cy="4881563"/>
          </a:xfrm>
        </p:spPr>
        <p:txBody>
          <a:bodyPr/>
          <a:lstStyle/>
          <a:p>
            <a:r>
              <a:rPr lang="ru-RU" dirty="0"/>
              <a:t>Из </a:t>
            </a:r>
            <a:r>
              <a:rPr lang="en-US" dirty="0" err="1"/>
              <a:t>ht</a:t>
            </a:r>
            <a:r>
              <a:rPr lang="en-US" dirty="0"/>
              <a:t> </a:t>
            </a:r>
            <a:r>
              <a:rPr lang="ru-RU" dirty="0"/>
              <a:t>при помощи двух </a:t>
            </a:r>
            <a:r>
              <a:rPr lang="ru-RU" dirty="0" err="1"/>
              <a:t>полносвязных</a:t>
            </a:r>
            <a:r>
              <a:rPr lang="ru-RU" dirty="0"/>
              <a:t> слоев оцениваются μ создается гауссово распределение с этими параметрами </a:t>
            </a:r>
          </a:p>
          <a:p>
            <a:r>
              <a:rPr lang="ru-RU" dirty="0"/>
              <a:t>Из созданного распределения берется выборку. </a:t>
            </a:r>
          </a:p>
          <a:p>
            <a:r>
              <a:rPr lang="ru-RU" dirty="0"/>
              <a:t>На этапе тренировки модель проверяет, насколько эта выборка близка к реальному наблюдению.</a:t>
            </a:r>
          </a:p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53" y="2885932"/>
            <a:ext cx="4835019" cy="367999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349" y="1436660"/>
            <a:ext cx="4486825" cy="128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47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sz="4000" b="1" dirty="0" err="1"/>
              <a:t>Глубокая</a:t>
            </a:r>
            <a:r>
              <a:rPr lang="en-US" sz="4000" b="1" dirty="0"/>
              <a:t> AR </a:t>
            </a:r>
            <a:r>
              <a:rPr lang="ru-RU" sz="4000" b="1" dirty="0"/>
              <a:t>сеть</a:t>
            </a:r>
            <a:endParaRPr lang="en-US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Сеть </a:t>
            </a:r>
            <a:r>
              <a:rPr lang="ru-RU" sz="2000" dirty="0" err="1"/>
              <a:t>Deep</a:t>
            </a:r>
            <a:r>
              <a:rPr lang="ru-RU" sz="2000" dirty="0"/>
              <a:t> AR - самая известная реализация  </a:t>
            </a:r>
            <a:r>
              <a:rPr lang="ru-RU" sz="2000" u="sng" dirty="0"/>
              <a:t>итеративного обучения в сочетании с </a:t>
            </a:r>
            <a:r>
              <a:rPr lang="ru-RU" sz="2000" u="sng" dirty="0" err="1"/>
              <a:t>lstm</a:t>
            </a:r>
            <a:r>
              <a:rPr lang="ru-RU" sz="2000" u="sng" dirty="0"/>
              <a:t>-ячейками и так называемым </a:t>
            </a:r>
            <a:r>
              <a:rPr lang="ru-RU" sz="2000" b="1" u="sng" dirty="0"/>
              <a:t>вероятностным обучением</a:t>
            </a:r>
            <a:r>
              <a:rPr lang="ru-RU" sz="2000" u="sng" dirty="0"/>
              <a:t> с учителем </a:t>
            </a:r>
            <a:r>
              <a:rPr lang="ru-RU" sz="2000" b="1" u="sng" dirty="0"/>
              <a:t>.</a:t>
            </a:r>
            <a:endParaRPr lang="ru-RU" sz="2000" dirty="0"/>
          </a:p>
          <a:p>
            <a:pPr lvl="0"/>
            <a:r>
              <a:rPr lang="ru-RU" sz="2000" dirty="0"/>
              <a:t>Официальное представление архитектуры </a:t>
            </a:r>
            <a:r>
              <a:rPr lang="ru-RU" sz="2000" dirty="0" err="1"/>
              <a:t>Deep</a:t>
            </a:r>
            <a:r>
              <a:rPr lang="ru-RU" sz="2000" dirty="0"/>
              <a:t> AR слева, обучение (выше) и тестирование (ниже).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580" y="1759646"/>
            <a:ext cx="8751710" cy="480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42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en-US" sz="4000" b="1" dirty="0"/>
              <a:t>RNN. Deep AR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>
              <a:latin typeface="Arial" panose="020B0604020202020204" pitchFamily="34" charset="0"/>
            </a:endParaRP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2842"/>
            <a:ext cx="7235902" cy="5083175"/>
          </a:xfrm>
          <a:prstGeom prst="rect">
            <a:avLst/>
          </a:prstGeom>
        </p:spPr>
      </p:pic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190" y="5651511"/>
            <a:ext cx="8776154" cy="1018890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587375" y="5925957"/>
            <a:ext cx="22781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Georgia" panose="02040502050405020303" pitchFamily="18" charset="0"/>
              </a:rPr>
              <a:t>Gaussian likelihood</a:t>
            </a:r>
            <a:br>
              <a:rPr lang="en-US" sz="1600" b="1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sz="1600" b="1" dirty="0">
                <a:solidFill>
                  <a:srgbClr val="000000"/>
                </a:solidFill>
                <a:latin typeface="Georgia" panose="02040502050405020303" pitchFamily="18" charset="0"/>
              </a:rPr>
              <a:t> loss function</a:t>
            </a:r>
            <a:endParaRPr lang="ru-RU" sz="1600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 rotWithShape="1">
          <a:blip r:embed="rId4"/>
          <a:srcRect r="37032" b="35255"/>
          <a:stretch/>
        </p:blipFill>
        <p:spPr>
          <a:xfrm>
            <a:off x="7167766" y="1053219"/>
            <a:ext cx="4548578" cy="685696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4"/>
          <a:srcRect l="5591" t="61220" r="52222" b="-1440"/>
          <a:stretch/>
        </p:blipFill>
        <p:spPr>
          <a:xfrm>
            <a:off x="7315685" y="1883737"/>
            <a:ext cx="3047438" cy="425959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 rotWithShape="1">
          <a:blip r:embed="rId4"/>
          <a:srcRect l="55803" t="55464" r="2010" b="4316"/>
          <a:stretch/>
        </p:blipFill>
        <p:spPr>
          <a:xfrm>
            <a:off x="7328267" y="2378676"/>
            <a:ext cx="3047438" cy="425959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6648896" y="695417"/>
            <a:ext cx="5307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</a:rPr>
              <a:t>Negative Binomial Likelihood loss function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512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en-US" sz="4000" b="1" dirty="0"/>
              <a:t>RNN. Deep AR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2927" y="672059"/>
            <a:ext cx="11028733" cy="5805654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In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Probabilistic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learning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dirty="0" err="1">
                <a:solidFill>
                  <a:srgbClr val="000000"/>
                </a:solidFill>
              </a:rPr>
              <a:t>we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are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not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only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try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forecast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prediction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value</a:t>
            </a:r>
            <a:r>
              <a:rPr lang="ru-RU" altLang="ru-RU" sz="2000" dirty="0">
                <a:solidFill>
                  <a:srgbClr val="000000"/>
                </a:solidFill>
              </a:rPr>
              <a:t>, </a:t>
            </a:r>
            <a:r>
              <a:rPr lang="ru-RU" altLang="ru-RU" sz="2000" dirty="0" err="1">
                <a:solidFill>
                  <a:srgbClr val="000000"/>
                </a:solidFill>
              </a:rPr>
              <a:t>but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also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variance</a:t>
            </a:r>
            <a:r>
              <a:rPr lang="ru-RU" altLang="ru-RU" sz="2000" dirty="0">
                <a:solidFill>
                  <a:srgbClr val="000000"/>
                </a:solidFill>
              </a:rPr>
              <a:t>.</a:t>
            </a:r>
            <a:r>
              <a:rPr lang="ru-RU" altLang="ru-RU" sz="2000" dirty="0"/>
              <a:t/>
            </a:r>
            <a:br>
              <a:rPr lang="ru-RU" altLang="ru-RU" sz="2000" dirty="0"/>
            </a:br>
            <a:r>
              <a:rPr lang="ru-RU" altLang="ru-RU" sz="2000" dirty="0" err="1">
                <a:solidFill>
                  <a:srgbClr val="000000"/>
                </a:solidFill>
              </a:rPr>
              <a:t>In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other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words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we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try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build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some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distribution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minimize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likelihood</a:t>
            </a:r>
            <a:r>
              <a:rPr lang="ru-RU" altLang="ru-RU" sz="2000" dirty="0">
                <a:solidFill>
                  <a:srgbClr val="000000"/>
                </a:solidFill>
              </a:rPr>
              <a:t> (</a:t>
            </a:r>
            <a:r>
              <a:rPr lang="ru-RU" altLang="ru-RU" sz="2000" dirty="0" err="1">
                <a:solidFill>
                  <a:srgbClr val="000000"/>
                </a:solidFill>
              </a:rPr>
              <a:t>sum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of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values</a:t>
            </a:r>
            <a:r>
              <a:rPr lang="ru-RU" altLang="ru-RU" sz="2000" dirty="0">
                <a:solidFill>
                  <a:srgbClr val="000000"/>
                </a:solidFill>
              </a:rPr>
              <a:t>).</a:t>
            </a:r>
            <a:r>
              <a:rPr lang="ru-RU" altLang="ru-RU" sz="2000" dirty="0"/>
              <a:t/>
            </a:r>
            <a:br>
              <a:rPr lang="ru-RU" altLang="ru-RU" sz="2000" dirty="0"/>
            </a:br>
            <a:endParaRPr lang="ru-RU" altLang="ru-RU" sz="20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 err="1">
                <a:solidFill>
                  <a:srgbClr val="000000"/>
                </a:solidFill>
              </a:rPr>
              <a:t>In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Probabilistic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iterative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learning</a:t>
            </a:r>
            <a:endParaRPr lang="ru-RU" altLang="ru-RU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training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stage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goal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predict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each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time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step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following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value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distribution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parameters</a:t>
            </a:r>
            <a:r>
              <a:rPr lang="ru-RU" altLang="ru-RU" sz="2000" dirty="0">
                <a:solidFill>
                  <a:srgbClr val="000000"/>
                </a:solidFill>
              </a:rPr>
              <a:t> (𝜇 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 𝛼-</a:t>
            </a:r>
            <a:r>
              <a:rPr lang="ru-RU" altLang="ru-RU" sz="2000" dirty="0" err="1">
                <a:solidFill>
                  <a:srgbClr val="000000"/>
                </a:solidFill>
              </a:rPr>
              <a:t>variance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for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Gaussian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distribution</a:t>
            </a:r>
            <a:r>
              <a:rPr lang="ru-RU" altLang="ru-RU" sz="2000" dirty="0">
                <a:solidFill>
                  <a:srgbClr val="000000"/>
                </a:solidFill>
              </a:rPr>
              <a:t>, </a:t>
            </a:r>
            <a:r>
              <a:rPr lang="ru-RU" altLang="ru-RU" sz="2000" dirty="0" err="1">
                <a:solidFill>
                  <a:srgbClr val="000000"/>
                </a:solidFill>
              </a:rPr>
              <a:t>horizon</a:t>
            </a:r>
            <a:r>
              <a:rPr lang="ru-RU" altLang="ru-RU" sz="2000" dirty="0">
                <a:solidFill>
                  <a:srgbClr val="000000"/>
                </a:solidFill>
              </a:rPr>
              <a:t>=1).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information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propagated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hidden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layer</a:t>
            </a:r>
            <a:r>
              <a:rPr lang="ru-RU" altLang="ru-RU" sz="2000" dirty="0">
                <a:solidFill>
                  <a:srgbClr val="000000"/>
                </a:solidFill>
              </a:rPr>
              <a:t> (ℎ)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up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loss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 (</a:t>
            </a:r>
            <a:r>
              <a:rPr lang="ru-RU" altLang="ru-RU" sz="2000" dirty="0" err="1">
                <a:solidFill>
                  <a:srgbClr val="000000"/>
                </a:solidFill>
              </a:rPr>
              <a:t>likelihood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, </a:t>
            </a:r>
            <a:r>
              <a:rPr lang="ru-RU" altLang="ru-RU" sz="2000" dirty="0" err="1">
                <a:solidFill>
                  <a:srgbClr val="000000"/>
                </a:solidFill>
              </a:rPr>
              <a:t>which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a </a:t>
            </a:r>
            <a:r>
              <a:rPr lang="ru-RU" altLang="ru-RU" sz="2000" dirty="0" err="1">
                <a:solidFill>
                  <a:srgbClr val="000000"/>
                </a:solidFill>
              </a:rPr>
              <a:t>score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).</a:t>
            </a:r>
            <a:br>
              <a:rPr lang="ru-RU" altLang="ru-RU" sz="2000" dirty="0">
                <a:solidFill>
                  <a:srgbClr val="000000"/>
                </a:solidFill>
              </a:rPr>
            </a:b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likelihood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can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be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Gaussian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Negative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Binomial</a:t>
            </a:r>
            <a:r>
              <a:rPr lang="ru-RU" altLang="ru-RU" sz="2000" dirty="0">
                <a:solidFill>
                  <a:srgbClr val="000000"/>
                </a:solidFill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validate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stage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dirty="0" err="1">
                <a:solidFill>
                  <a:srgbClr val="000000"/>
                </a:solidFill>
              </a:rPr>
              <a:t>forward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propagation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carried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out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using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input</a:t>
            </a:r>
            <a:r>
              <a:rPr lang="ru-RU" altLang="ru-RU" sz="2000" dirty="0">
                <a:solidFill>
                  <a:srgbClr val="000000"/>
                </a:solidFill>
              </a:rPr>
              <a:t> 𝑧𝑖−1 (</a:t>
            </a:r>
            <a:r>
              <a:rPr lang="ru-RU" altLang="ru-RU" sz="2000" dirty="0" err="1">
                <a:solidFill>
                  <a:srgbClr val="000000"/>
                </a:solidFill>
              </a:rPr>
              <a:t>along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with</a:t>
            </a:r>
            <a:r>
              <a:rPr lang="ru-RU" altLang="ru-RU" sz="2000" dirty="0">
                <a:solidFill>
                  <a:srgbClr val="000000"/>
                </a:solidFill>
              </a:rPr>
              <a:t> [</a:t>
            </a:r>
            <a:r>
              <a:rPr lang="ru-RU" altLang="ru-RU" sz="2000" dirty="0" err="1">
                <a:solidFill>
                  <a:srgbClr val="000000"/>
                </a:solidFill>
              </a:rPr>
              <a:t>optional</a:t>
            </a:r>
            <a:r>
              <a:rPr lang="ru-RU" altLang="ru-RU" sz="2000" dirty="0">
                <a:solidFill>
                  <a:srgbClr val="000000"/>
                </a:solidFill>
              </a:rPr>
              <a:t>] </a:t>
            </a:r>
            <a:r>
              <a:rPr lang="ru-RU" altLang="ru-RU" sz="2000" dirty="0" err="1">
                <a:solidFill>
                  <a:srgbClr val="000000"/>
                </a:solidFill>
              </a:rPr>
              <a:t>covariates</a:t>
            </a:r>
            <a:r>
              <a:rPr lang="en-US" altLang="ru-RU" sz="2000" dirty="0">
                <a:solidFill>
                  <a:srgbClr val="000000"/>
                </a:solidFill>
              </a:rPr>
              <a:t> (exogenous factors)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one-hot-encoded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categorical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features</a:t>
            </a:r>
            <a:r>
              <a:rPr lang="ru-RU" altLang="ru-RU" sz="2000" dirty="0">
                <a:solidFill>
                  <a:srgbClr val="000000"/>
                </a:solidFill>
              </a:rPr>
              <a:t>)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obtained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training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stage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parameters</a:t>
            </a:r>
            <a:r>
              <a:rPr lang="ru-RU" altLang="ru-RU" sz="2000" dirty="0">
                <a:solidFill>
                  <a:srgbClr val="000000"/>
                </a:solidFill>
              </a:rPr>
              <a:t> 𝜇 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 𝛼.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>
              <a:latin typeface="Arial" panose="020B0604020202020204" pitchFamily="34" charset="0"/>
            </a:endParaRP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903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en-US" sz="4000" b="1" dirty="0"/>
              <a:t>RNN. </a:t>
            </a:r>
            <a:r>
              <a:rPr lang="en-US" sz="4000" b="1" dirty="0" err="1"/>
              <a:t>Глубокая</a:t>
            </a:r>
            <a:r>
              <a:rPr lang="en-US" sz="4000" b="1" dirty="0"/>
              <a:t> AR </a:t>
            </a:r>
            <a:r>
              <a:rPr lang="ru-RU" sz="4000" b="1" dirty="0"/>
              <a:t>сеть Для справки</a:t>
            </a:r>
            <a:endParaRPr lang="en-US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Преимущества </a:t>
            </a:r>
            <a:r>
              <a:rPr lang="ru-RU" sz="2000" b="1" dirty="0" err="1"/>
              <a:t>DeepAR</a:t>
            </a:r>
            <a:endParaRPr lang="ru-RU" sz="2000" dirty="0"/>
          </a:p>
          <a:p>
            <a:pPr lvl="1"/>
            <a:r>
              <a:rPr lang="ru-RU" sz="2200" dirty="0"/>
              <a:t>возможность обучения нескольких сотен или тысяч временных рядов одновременно, значительная масштабируемость модели.</a:t>
            </a:r>
          </a:p>
          <a:p>
            <a:pPr lvl="1"/>
            <a:r>
              <a:rPr lang="ru-RU" sz="2200" dirty="0"/>
              <a:t>Модель может </a:t>
            </a:r>
            <a:r>
              <a:rPr lang="ru-RU" sz="2200" dirty="0" err="1"/>
              <a:t>предсказыать</a:t>
            </a:r>
            <a:r>
              <a:rPr lang="ru-RU" sz="2200" dirty="0"/>
              <a:t> данные с небольшой историей.</a:t>
            </a:r>
          </a:p>
          <a:p>
            <a:pPr lvl="1"/>
            <a:r>
              <a:rPr lang="ru-RU" sz="2200" dirty="0"/>
              <a:t>Разнообразие функций правдоподобия: </a:t>
            </a:r>
            <a:r>
              <a:rPr lang="ru-RU" sz="2200" dirty="0" err="1"/>
              <a:t>DeepAR</a:t>
            </a:r>
            <a:r>
              <a:rPr lang="ru-RU" sz="2200" dirty="0"/>
              <a:t> не использует </a:t>
            </a:r>
            <a:r>
              <a:rPr lang="ru-RU" sz="2200" dirty="0" err="1"/>
              <a:t>гауссовский</a:t>
            </a:r>
            <a:r>
              <a:rPr lang="ru-RU" sz="2200" dirty="0"/>
              <a:t> шум для обеспечения гибкости данных.</a:t>
            </a:r>
          </a:p>
          <a:p>
            <a:pPr lvl="0"/>
            <a:r>
              <a:rPr lang="ru-RU" sz="2000" b="1" dirty="0"/>
              <a:t>Недостатки </a:t>
            </a:r>
            <a:r>
              <a:rPr lang="ru-RU" sz="2000" b="1" dirty="0" err="1"/>
              <a:t>DeepAR</a:t>
            </a:r>
            <a:endParaRPr lang="ru-RU" sz="2000" dirty="0"/>
          </a:p>
          <a:p>
            <a:pPr lvl="1"/>
            <a:r>
              <a:rPr lang="ru-RU" sz="2200" dirty="0"/>
              <a:t>Требуется полный набор данных при создании новых прогнозов.</a:t>
            </a:r>
          </a:p>
          <a:p>
            <a:pPr lvl="1"/>
            <a:r>
              <a:rPr lang="ru-RU" sz="2200" dirty="0"/>
              <a:t>Нет настройки модели для отдельных временных рядов.</a:t>
            </a:r>
          </a:p>
          <a:p>
            <a:pPr lvl="1"/>
            <a:r>
              <a:rPr lang="ru-RU" sz="2200" dirty="0"/>
              <a:t>Данные должны быть отформатированы определенным образом, рекомендованным разработчиком.</a:t>
            </a:r>
          </a:p>
          <a:p>
            <a:pPr lvl="1"/>
            <a:r>
              <a:rPr lang="ru-RU" sz="2200" dirty="0"/>
              <a:t>Позволяют получить сравнительно высокую производительность только на огромном объекте объединенных данных. </a:t>
            </a:r>
          </a:p>
          <a:p>
            <a:pPr lvl="1"/>
            <a:r>
              <a:rPr lang="ru-RU" sz="2200" dirty="0"/>
              <a:t>Точность для определенных рядов данных (или небольшого количества рядов) ниже, чем для ARIMA и ETS.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84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Использование методов глубокого обучения в анализе временных рядов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94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7726</TotalTime>
  <Words>2501</Words>
  <Application>Microsoft Office PowerPoint</Application>
  <PresentationFormat>Широкоэкранный</PresentationFormat>
  <Paragraphs>626</Paragraphs>
  <Slides>75</Slides>
  <Notes>17</Notes>
  <HiddenSlides>27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75</vt:i4>
      </vt:variant>
    </vt:vector>
  </HeadingPairs>
  <TitlesOfParts>
    <vt:vector size="88" baseType="lpstr">
      <vt:lpstr>-apple-system</vt:lpstr>
      <vt:lpstr>Aptos</vt:lpstr>
      <vt:lpstr>Arial</vt:lpstr>
      <vt:lpstr>Calibri</vt:lpstr>
      <vt:lpstr>Calibri Light</vt:lpstr>
      <vt:lpstr>Cambria</vt:lpstr>
      <vt:lpstr>Cambria Math</vt:lpstr>
      <vt:lpstr>Georgia</vt:lpstr>
      <vt:lpstr>Helvetica Neue</vt:lpstr>
      <vt:lpstr>system-ui</vt:lpstr>
      <vt:lpstr>Times New Roman</vt:lpstr>
      <vt:lpstr>var(--jp-code-font-family)</vt:lpstr>
      <vt:lpstr>Тема Office</vt:lpstr>
      <vt:lpstr>Использование методов глубокого обучения в анализе временных рядов</vt:lpstr>
      <vt:lpstr>Особенности RNN в режиме Seq2Seq</vt:lpstr>
      <vt:lpstr>Особенности RNN в режиме Seq2Seq</vt:lpstr>
      <vt:lpstr>Особенности RNN в режиме Seq2Seq</vt:lpstr>
      <vt:lpstr>Особенности блока внимания Seq2Seq</vt:lpstr>
      <vt:lpstr>Пример работы слоя внимания Encoder-decoder</vt:lpstr>
      <vt:lpstr>Особенности RNN в режиме одного блока</vt:lpstr>
      <vt:lpstr>Сеть с вниманием. Многоголовое внимание</vt:lpstr>
      <vt:lpstr>Идеи перехода от RNN к авторегрессии</vt:lpstr>
      <vt:lpstr>Идеи архитектуры Трансформер</vt:lpstr>
      <vt:lpstr>Идеи Блока Трансформер</vt:lpstr>
      <vt:lpstr>Идеи архитектуры Трансформер</vt:lpstr>
      <vt:lpstr>Презентация PowerPoint</vt:lpstr>
      <vt:lpstr>Особенности RNN в режиме одного блока</vt:lpstr>
      <vt:lpstr>Презентация PowerPoint</vt:lpstr>
      <vt:lpstr>Пример расчета внимания на 1 шаг</vt:lpstr>
      <vt:lpstr>Особенности RNN в режиме Seq2Seq</vt:lpstr>
      <vt:lpstr>Особенности RNN в режиме Seq2Seq</vt:lpstr>
      <vt:lpstr>Особенности RNN в режиме Seq2Seq</vt:lpstr>
      <vt:lpstr>Особенности RNN в режиме Seq2Seq</vt:lpstr>
      <vt:lpstr>Особенности RNN c вниманием</vt:lpstr>
      <vt:lpstr>Особенности RNN в режиме encoder only</vt:lpstr>
      <vt:lpstr>Особенности RNN в режиме encoder only</vt:lpstr>
      <vt:lpstr>Особенности RNN в режиме Seq2Seq</vt:lpstr>
      <vt:lpstr>Презентация PowerPoint</vt:lpstr>
      <vt:lpstr>1-мерная сверточная нейронная сеть. Расширенная свертка</vt:lpstr>
      <vt:lpstr>1-мерная сверточная нейронная сеть. Расширенная свертка</vt:lpstr>
      <vt:lpstr>Сеть на основе внимания</vt:lpstr>
      <vt:lpstr>Сети на основе внимания</vt:lpstr>
      <vt:lpstr>Сети на основе внимания</vt:lpstr>
      <vt:lpstr>Сети на основе внимания</vt:lpstr>
      <vt:lpstr>Сети на основе внимания. Самовнимание</vt:lpstr>
      <vt:lpstr>Сети на основе внимания. Самовнимание</vt:lpstr>
      <vt:lpstr>Сети на основе внимания</vt:lpstr>
      <vt:lpstr>Сети на основе внимания</vt:lpstr>
      <vt:lpstr>Сети на основе внимания</vt:lpstr>
      <vt:lpstr>Внимание Пример временной свертки - самовнимание</vt:lpstr>
      <vt:lpstr>Сеть с вниманием. Многоголовое внимание</vt:lpstr>
      <vt:lpstr>Сеть с вниманием. Многоголовое внимание с маской</vt:lpstr>
      <vt:lpstr>Сеть с вниманием. Многоголовое внимание с маской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Презентация PowerPoint</vt:lpstr>
      <vt:lpstr>Презентация PowerPoint</vt:lpstr>
      <vt:lpstr>Методы машинного обучения на основе моделей</vt:lpstr>
      <vt:lpstr>Методы машинного обучения на основе моделей</vt:lpstr>
      <vt:lpstr>Методы машинного обучения на основе данных</vt:lpstr>
      <vt:lpstr>Методы машинного обучения на основе данных</vt:lpstr>
      <vt:lpstr>Подходы к временным рядам DL</vt:lpstr>
      <vt:lpstr>Подходы к временным рядам DL</vt:lpstr>
      <vt:lpstr>Рекуррентные нейронные сети</vt:lpstr>
      <vt:lpstr>Рекуррентные нейронные сети</vt:lpstr>
      <vt:lpstr>Простая рекуррентная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сети. </vt:lpstr>
      <vt:lpstr>Рекуррентные нейронные сети. </vt:lpstr>
      <vt:lpstr>RNN. Итеративная Авторегрессия</vt:lpstr>
      <vt:lpstr>RNN. Итеративная Авторегрессия</vt:lpstr>
      <vt:lpstr>Глубокая AR сеть</vt:lpstr>
      <vt:lpstr>Глубокая AR сеть</vt:lpstr>
      <vt:lpstr>Глубокая AR сеть</vt:lpstr>
      <vt:lpstr>RNN. Deep AR</vt:lpstr>
      <vt:lpstr>RNN. Deep AR</vt:lpstr>
      <vt:lpstr>RNN. Глубокая AR сеть Для справки</vt:lpstr>
      <vt:lpstr>Использование методов глубокого обучения в анализе временных рядов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AutoRegressive Moving Average models</dc:title>
  <dc:creator>Ронкин Михаил Владимирович</dc:creator>
  <cp:lastModifiedBy>Ронкин Михаил Владимирович</cp:lastModifiedBy>
  <cp:revision>371</cp:revision>
  <dcterms:created xsi:type="dcterms:W3CDTF">2021-11-21T16:45:21Z</dcterms:created>
  <dcterms:modified xsi:type="dcterms:W3CDTF">2025-08-22T05:15:31Z</dcterms:modified>
</cp:coreProperties>
</file>