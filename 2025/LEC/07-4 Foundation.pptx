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sldIdLst>
    <p:sldId id="256" r:id="rId2"/>
    <p:sldId id="450" r:id="rId3"/>
    <p:sldId id="451" r:id="rId4"/>
    <p:sldId id="455" r:id="rId5"/>
    <p:sldId id="452" r:id="rId6"/>
    <p:sldId id="456" r:id="rId7"/>
    <p:sldId id="453" r:id="rId8"/>
    <p:sldId id="454" r:id="rId9"/>
    <p:sldId id="457" r:id="rId10"/>
    <p:sldId id="458" r:id="rId11"/>
    <p:sldId id="428" r:id="rId12"/>
    <p:sldId id="433" r:id="rId13"/>
    <p:sldId id="429" r:id="rId14"/>
    <p:sldId id="432" r:id="rId15"/>
    <p:sldId id="441" r:id="rId16"/>
    <p:sldId id="434" r:id="rId17"/>
    <p:sldId id="366" r:id="rId18"/>
    <p:sldId id="443" r:id="rId19"/>
    <p:sldId id="445" r:id="rId20"/>
    <p:sldId id="449" r:id="rId21"/>
    <p:sldId id="447" r:id="rId22"/>
    <p:sldId id="448" r:id="rId23"/>
    <p:sldId id="444" r:id="rId24"/>
    <p:sldId id="442" r:id="rId25"/>
    <p:sldId id="439" r:id="rId26"/>
    <p:sldId id="440" r:id="rId27"/>
    <p:sldId id="431" r:id="rId28"/>
    <p:sldId id="437" r:id="rId29"/>
    <p:sldId id="407" r:id="rId30"/>
    <p:sldId id="436" r:id="rId31"/>
    <p:sldId id="430" r:id="rId32"/>
    <p:sldId id="435" r:id="rId33"/>
    <p:sldId id="427" r:id="rId34"/>
    <p:sldId id="420" r:id="rId35"/>
    <p:sldId id="352" r:id="rId36"/>
    <p:sldId id="353" r:id="rId37"/>
    <p:sldId id="355" r:id="rId38"/>
    <p:sldId id="356" r:id="rId39"/>
    <p:sldId id="357" r:id="rId40"/>
    <p:sldId id="358" r:id="rId41"/>
    <p:sldId id="359" r:id="rId42"/>
    <p:sldId id="360" r:id="rId43"/>
    <p:sldId id="361" r:id="rId44"/>
    <p:sldId id="362" r:id="rId45"/>
    <p:sldId id="363" r:id="rId46"/>
    <p:sldId id="364" r:id="rId47"/>
    <p:sldId id="365" r:id="rId48"/>
    <p:sldId id="367" r:id="rId49"/>
    <p:sldId id="368" r:id="rId50"/>
    <p:sldId id="369" r:id="rId51"/>
    <p:sldId id="370" r:id="rId52"/>
    <p:sldId id="371" r:id="rId53"/>
    <p:sldId id="372" r:id="rId54"/>
    <p:sldId id="373" r:id="rId55"/>
    <p:sldId id="374" r:id="rId56"/>
    <p:sldId id="375" r:id="rId57"/>
    <p:sldId id="376" r:id="rId58"/>
    <p:sldId id="446" r:id="rId59"/>
    <p:sldId id="398" r:id="rId60"/>
    <p:sldId id="399" r:id="rId61"/>
    <p:sldId id="400" r:id="rId62"/>
    <p:sldId id="401" r:id="rId63"/>
    <p:sldId id="402" r:id="rId64"/>
    <p:sldId id="403" r:id="rId65"/>
    <p:sldId id="404" r:id="rId66"/>
    <p:sldId id="377" r:id="rId67"/>
    <p:sldId id="378" r:id="rId68"/>
    <p:sldId id="379" r:id="rId69"/>
    <p:sldId id="381" r:id="rId70"/>
    <p:sldId id="382" r:id="rId71"/>
    <p:sldId id="383" r:id="rId72"/>
    <p:sldId id="384" r:id="rId73"/>
    <p:sldId id="385" r:id="rId74"/>
    <p:sldId id="386" r:id="rId75"/>
    <p:sldId id="387" r:id="rId76"/>
    <p:sldId id="388" r:id="rId77"/>
    <p:sldId id="389" r:id="rId78"/>
    <p:sldId id="390" r:id="rId79"/>
    <p:sldId id="391" r:id="rId80"/>
    <p:sldId id="392" r:id="rId81"/>
    <p:sldId id="393" r:id="rId82"/>
    <p:sldId id="394" r:id="rId83"/>
    <p:sldId id="395" r:id="rId84"/>
    <p:sldId id="396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40" autoAdjust="0"/>
    <p:restoredTop sz="84247"/>
  </p:normalViewPr>
  <p:slideViewPr>
    <p:cSldViewPr snapToGrid="0">
      <p:cViewPr varScale="1">
        <p:scale>
          <a:sx n="94" d="100"/>
          <a:sy n="94" d="100"/>
        </p:scale>
        <p:origin x="232" y="35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24.08.2025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8335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34678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59883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jpeg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NUL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emf"/><Relationship Id="rId2" Type="http://schemas.openxmlformats.org/officeDocument/2006/relationships/image" Target="../media/image79.emf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0E75A-17E2-4A0F-70D4-74958816C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E2F6C6C-B19C-6340-55CF-9355B4B84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" i="1" dirty="0"/>
              <a:t>vanilla</a:t>
            </a:r>
            <a:r>
              <a:rPr lang="en" dirty="0"/>
              <a:t> </a:t>
            </a:r>
            <a:r>
              <a:rPr lang="ru-RU" dirty="0"/>
              <a:t>трансформер, как он описан в оригинальной статье, не работает на временных рядах. Почему?</a:t>
            </a:r>
          </a:p>
          <a:p>
            <a:r>
              <a:rPr lang="ru-RU" dirty="0"/>
              <a:t>Сложность внимания — </a:t>
            </a:r>
            <a:r>
              <a:rPr lang="en" dirty="0"/>
              <a:t>O(n²) </a:t>
            </a:r>
            <a:r>
              <a:rPr lang="ru-RU" dirty="0"/>
              <a:t>по времени и памяти. Для ряда длиной 1000 точек — это уже миллион операций.</a:t>
            </a:r>
          </a:p>
          <a:p>
            <a:r>
              <a:rPr lang="ru-RU" dirty="0"/>
              <a:t>Отсутствие индуктивных смещений. Временные ряды — это не слова. Они упорядочены, имеют тренды, сезонность, шум. Трансформеру это не очевидно.</a:t>
            </a:r>
          </a:p>
          <a:p>
            <a:r>
              <a:rPr lang="ru-RU" dirty="0"/>
              <a:t>Переобучение. На малых и средних наборах данных (а таких — большинство) трансформер быстро переобучается.</a:t>
            </a:r>
          </a:p>
          <a:p>
            <a:r>
              <a:rPr lang="ru-RU" dirty="0"/>
              <a:t>Так что первые попытки применить </a:t>
            </a:r>
            <a:r>
              <a:rPr lang="en" i="1" dirty="0"/>
              <a:t>vanilla</a:t>
            </a:r>
            <a:r>
              <a:rPr lang="en" dirty="0"/>
              <a:t> </a:t>
            </a:r>
            <a:r>
              <a:rPr lang="ru-RU" dirty="0"/>
              <a:t>трансформер к временным рядам… были скромными. Иногда — хуже, чем простая </a:t>
            </a:r>
            <a:r>
              <a:rPr lang="en" dirty="0"/>
              <a:t>LSTM.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0175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2C5484-DF28-166D-C3A3-91A3D1A68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8D8B94-2997-E2B9-7BBC-3782861845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 err="1"/>
              <a:t>лючевые</a:t>
            </a:r>
            <a:r>
              <a:rPr lang="ru-RU" b="1" dirty="0"/>
              <a:t> модификации:</a:t>
            </a:r>
          </a:p>
          <a:p>
            <a:r>
              <a:rPr lang="en" dirty="0"/>
              <a:t>Informer (2021): </a:t>
            </a:r>
            <a:r>
              <a:rPr lang="ru-RU" dirty="0"/>
              <a:t>заменил полное внимание на </a:t>
            </a:r>
            <a:r>
              <a:rPr lang="en" dirty="0" err="1"/>
              <a:t>ProbSparse</a:t>
            </a:r>
            <a:r>
              <a:rPr lang="en" dirty="0"/>
              <a:t> Self-Attention, </a:t>
            </a:r>
            <a:r>
              <a:rPr lang="ru-RU" dirty="0"/>
              <a:t>чтобы уменьшить вычислительную нагрузку. Появилась возможность прогнозировать на 512 шагов вперёд — и быстро.</a:t>
            </a:r>
          </a:p>
          <a:p>
            <a:r>
              <a:rPr lang="en" dirty="0" err="1"/>
              <a:t>Autoformer</a:t>
            </a:r>
            <a:r>
              <a:rPr lang="en" dirty="0"/>
              <a:t> (2021): </a:t>
            </a:r>
            <a:r>
              <a:rPr lang="ru-RU" dirty="0"/>
              <a:t>внедрил сезонно-трендовую декомпозицию внутрь модели. Впервые трансформер стал </a:t>
            </a:r>
            <a:r>
              <a:rPr lang="ru-RU" i="1" dirty="0"/>
              <a:t>понимать</a:t>
            </a:r>
            <a:r>
              <a:rPr lang="ru-RU" dirty="0"/>
              <a:t> структуру временного ряда.</a:t>
            </a:r>
          </a:p>
          <a:p>
            <a:r>
              <a:rPr lang="en" dirty="0" err="1"/>
              <a:t>FEDformer</a:t>
            </a:r>
            <a:r>
              <a:rPr lang="en" dirty="0"/>
              <a:t> (2022): </a:t>
            </a:r>
            <a:r>
              <a:rPr lang="ru-RU" dirty="0"/>
              <a:t>вынес анализ паттернов в частотную область (через </a:t>
            </a:r>
            <a:r>
              <a:rPr lang="en" dirty="0"/>
              <a:t>FFT), </a:t>
            </a:r>
            <a:r>
              <a:rPr lang="ru-RU" dirty="0"/>
              <a:t>что позволило фильтровать шум и выявлять скрытые циклы.</a:t>
            </a:r>
          </a:p>
          <a:p>
            <a:r>
              <a:rPr lang="ru-RU" dirty="0"/>
              <a:t>Мы научились:</a:t>
            </a:r>
          </a:p>
          <a:p>
            <a:r>
              <a:rPr lang="ru-RU" dirty="0"/>
              <a:t>уменьшать сложность,</a:t>
            </a:r>
          </a:p>
          <a:p>
            <a:r>
              <a:rPr lang="ru-RU" dirty="0"/>
              <a:t>встраивать знания о временных рядах (сезонность, тренды),</a:t>
            </a:r>
          </a:p>
          <a:p>
            <a:r>
              <a:rPr lang="ru-RU" dirty="0"/>
              <a:t>и, главное — интерпретировать внимание как меру важности прошлых точек.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050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84043-C589-8DC1-37BF-B503C6516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C6CDCF2-F269-6A14-FD5E-331F24221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" dirty="0"/>
              <a:t>Informer — </a:t>
            </a:r>
            <a:r>
              <a:rPr lang="ru-RU" dirty="0"/>
              <a:t>ввёл </a:t>
            </a:r>
            <a:r>
              <a:rPr lang="ru-RU" i="1" dirty="0"/>
              <a:t>разреженное внимание</a:t>
            </a:r>
            <a:r>
              <a:rPr lang="ru-RU" dirty="0"/>
              <a:t>, чтобы не сравнивать каждую точку с каждой. Это как </a:t>
            </a:r>
            <a:r>
              <a:rPr lang="en" dirty="0"/>
              <a:t>AIC </a:t>
            </a:r>
            <a:r>
              <a:rPr lang="ru-RU" dirty="0"/>
              <a:t>в </a:t>
            </a:r>
            <a:r>
              <a:rPr lang="en" dirty="0"/>
              <a:t>ARIMA: </a:t>
            </a:r>
            <a:r>
              <a:rPr lang="ru-RU" dirty="0"/>
              <a:t>борьба с избыточностью.</a:t>
            </a:r>
          </a:p>
          <a:p>
            <a:r>
              <a:rPr lang="en" dirty="0" err="1"/>
              <a:t>Autoformer</a:t>
            </a:r>
            <a:r>
              <a:rPr lang="en" dirty="0"/>
              <a:t> — </a:t>
            </a:r>
            <a:r>
              <a:rPr lang="ru-RU" dirty="0"/>
              <a:t>внедрил сезонно-трендовую декомпозицию внутрь архитектуры. Теперь модель сама выделяет компоненты — как в классической декомпозиции, но обучаемо.</a:t>
            </a:r>
          </a:p>
          <a:p>
            <a:r>
              <a:rPr lang="en" dirty="0" err="1"/>
              <a:t>FEDformer</a:t>
            </a:r>
            <a:r>
              <a:rPr lang="en" dirty="0"/>
              <a:t> — </a:t>
            </a:r>
            <a:r>
              <a:rPr lang="ru-RU" dirty="0"/>
              <a:t>перешёл в частотную область (через </a:t>
            </a:r>
            <a:r>
              <a:rPr lang="en" dirty="0"/>
              <a:t>FFT). </a:t>
            </a:r>
            <a:r>
              <a:rPr lang="ru-RU" dirty="0"/>
              <a:t>Это как спектральный анализ, но в нейросети.</a:t>
            </a:r>
          </a:p>
          <a:p>
            <a:r>
              <a:rPr lang="en" dirty="0" err="1"/>
              <a:t>PatchTST</a:t>
            </a:r>
            <a:r>
              <a:rPr lang="en" dirty="0"/>
              <a:t> — </a:t>
            </a:r>
            <a:r>
              <a:rPr lang="ru-RU" dirty="0"/>
              <a:t>разбил ряд на "патчи", как если бы мы анализировали временные окна. Это возвращает нас к идее локальной стационарности.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92378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C916DD-7AAD-834D-0EB0-67D8AE8D3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7E50435-2A39-A770-B97E-2F93BFEBE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" dirty="0" err="1"/>
              <a:t>PatchTST</a:t>
            </a:r>
            <a:r>
              <a:rPr lang="en" dirty="0"/>
              <a:t> </a:t>
            </a:r>
            <a:r>
              <a:rPr lang="ru-RU" dirty="0"/>
              <a:t>показал, что если разбить временной ряд на "патчи" (как изображение на токены), то трансформер работает </a:t>
            </a:r>
            <a:r>
              <a:rPr lang="ru-RU" i="1" dirty="0"/>
              <a:t>гораздо</a:t>
            </a:r>
            <a:r>
              <a:rPr lang="ru-RU" dirty="0"/>
              <a:t> лучше.</a:t>
            </a:r>
          </a:p>
          <a:p>
            <a:r>
              <a:rPr lang="en" dirty="0" err="1"/>
              <a:t>DLinear</a:t>
            </a:r>
            <a:r>
              <a:rPr lang="en" dirty="0"/>
              <a:t> </a:t>
            </a:r>
            <a:r>
              <a:rPr lang="ru-RU" dirty="0"/>
              <a:t>и </a:t>
            </a:r>
            <a:r>
              <a:rPr lang="en" dirty="0" err="1"/>
              <a:t>TSMixer</a:t>
            </a:r>
            <a:r>
              <a:rPr lang="en" dirty="0"/>
              <a:t> </a:t>
            </a:r>
            <a:r>
              <a:rPr lang="ru-RU" dirty="0"/>
              <a:t>шокировали сообщество: оказывается, линейные модели и </a:t>
            </a:r>
            <a:r>
              <a:rPr lang="en" dirty="0"/>
              <a:t>MLP </a:t>
            </a:r>
            <a:r>
              <a:rPr lang="ru-RU" dirty="0"/>
              <a:t>могут превосходить трансформеры, если правильно структурировать данные.</a:t>
            </a:r>
          </a:p>
          <a:p>
            <a:r>
              <a:rPr lang="en" dirty="0" err="1"/>
              <a:t>iTransformer</a:t>
            </a:r>
            <a:r>
              <a:rPr lang="en" dirty="0"/>
              <a:t> </a:t>
            </a:r>
            <a:r>
              <a:rPr lang="ru-RU" dirty="0"/>
              <a:t>перевернул парадигму: вместо обработки последовательности по времени — он обрабатывает по признакам. И это работает.</a:t>
            </a:r>
          </a:p>
          <a:p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6315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F579E1-7AB4-6082-5FD2-0956F517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F71945-422F-E154-01B4-EE0A96DC4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" dirty="0"/>
              <a:t>https://</a:t>
            </a:r>
            <a:r>
              <a:rPr lang="en" dirty="0" err="1"/>
              <a:t>arxiv.org</a:t>
            </a:r>
            <a:r>
              <a:rPr lang="en" dirty="0"/>
              <a:t>/pdf/2403.14587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408207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7A6ACE-02E7-DB7E-C222-A0FFC0C62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727" y="231733"/>
            <a:ext cx="10990545" cy="315912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Модели трансформеры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F320CA-A7E7-C277-770A-06D8195EC5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255" y="681038"/>
            <a:ext cx="5436296" cy="6045439"/>
          </a:xfrm>
        </p:spPr>
        <p:txBody>
          <a:bodyPr>
            <a:normAutofit fontScale="92500"/>
          </a:bodyPr>
          <a:lstStyle/>
          <a:p>
            <a:pPr marL="0" indent="0" algn="just">
              <a:buNone/>
            </a:pPr>
            <a:r>
              <a:rPr lang="ru-RU" sz="2200" b="1" dirty="0"/>
              <a:t>Достоинства:</a:t>
            </a:r>
          </a:p>
          <a:p>
            <a:pPr algn="just"/>
            <a:r>
              <a:rPr lang="ru-RU" sz="2200" dirty="0"/>
              <a:t>Параллелизм: возможность обучаться на больших объемах данных без ограничений </a:t>
            </a:r>
            <a:r>
              <a:rPr lang="en-US" sz="2200" dirty="0"/>
              <a:t>RNN</a:t>
            </a:r>
          </a:p>
          <a:p>
            <a:pPr algn="just"/>
            <a:r>
              <a:rPr lang="en-US" sz="2200" dirty="0" err="1"/>
              <a:t>М</a:t>
            </a:r>
            <a:r>
              <a:rPr lang="ru-RU" sz="2200" dirty="0" err="1"/>
              <a:t>оделирование</a:t>
            </a:r>
            <a:r>
              <a:rPr lang="ru-RU" sz="2200" dirty="0"/>
              <a:t> долгосрочных зависимостей</a:t>
            </a:r>
          </a:p>
          <a:p>
            <a:pPr lvl="1" algn="just"/>
            <a:r>
              <a:rPr lang="ru-RU" sz="1300" dirty="0"/>
              <a:t>SOTA</a:t>
            </a:r>
            <a:r>
              <a:rPr lang="en-US" sz="1300" dirty="0"/>
              <a:t> </a:t>
            </a:r>
            <a:r>
              <a:rPr lang="en" sz="1300" dirty="0"/>
              <a:t>Informer, </a:t>
            </a:r>
            <a:r>
              <a:rPr lang="en" sz="1300" dirty="0" err="1"/>
              <a:t>FEDformer</a:t>
            </a:r>
            <a:r>
              <a:rPr lang="en" sz="1300" dirty="0"/>
              <a:t>, </a:t>
            </a:r>
            <a:r>
              <a:rPr lang="en" sz="1300" dirty="0" err="1"/>
              <a:t>iTransformer</a:t>
            </a:r>
            <a:endParaRPr lang="ru-RU" sz="1100" dirty="0"/>
          </a:p>
          <a:p>
            <a:pPr algn="just"/>
            <a:r>
              <a:rPr lang="ru-RU" sz="2200" dirty="0"/>
              <a:t>Выявление глобальных связей (особенно в МВР)</a:t>
            </a:r>
          </a:p>
          <a:p>
            <a:pPr algn="just"/>
            <a:r>
              <a:rPr lang="ru-RU" sz="2200" b="1" dirty="0"/>
              <a:t>Интерпретируемость </a:t>
            </a:r>
            <a:r>
              <a:rPr lang="ru-RU" sz="2200" dirty="0"/>
              <a:t>Матрицы внимания (</a:t>
            </a:r>
            <a:r>
              <a:rPr lang="en" sz="2200" dirty="0"/>
              <a:t>Attention Maps) — </a:t>
            </a:r>
            <a:r>
              <a:rPr lang="ru-RU" sz="2200" dirty="0"/>
              <a:t>это, по сути, цифровое воплощение ваших автокорреляционных и кросс-корреляционных функций. Мы можем </a:t>
            </a:r>
            <a:r>
              <a:rPr lang="ru-RU" sz="2200" i="1" dirty="0"/>
              <a:t>посмотреть</a:t>
            </a:r>
            <a:r>
              <a:rPr lang="ru-RU" sz="2200" dirty="0"/>
              <a:t>, на какие предыдущие моменты времени модель обращает внимание для прогноза в точке </a:t>
            </a:r>
            <a:r>
              <a:rPr lang="en" sz="2200" dirty="0"/>
              <a:t>t. </a:t>
            </a:r>
            <a:endParaRPr lang="ru-RU" sz="2200" dirty="0"/>
          </a:p>
          <a:p>
            <a:pPr algn="just"/>
            <a:r>
              <a:rPr lang="ru-RU" sz="2200" dirty="0"/>
              <a:t>Архитектуры, адаптированные к структуре ВР</a:t>
            </a:r>
            <a:endParaRPr lang="en-US" sz="2200" dirty="0"/>
          </a:p>
          <a:p>
            <a:pPr algn="just"/>
            <a:r>
              <a:rPr lang="en-US" sz="2200" dirty="0"/>
              <a:t>Representation learning </a:t>
            </a:r>
            <a:r>
              <a:rPr lang="en-US" sz="2200" dirty="0" err="1"/>
              <a:t>пар</a:t>
            </a:r>
            <a:r>
              <a:rPr lang="ru-RU" sz="2200" dirty="0" err="1"/>
              <a:t>адигма</a:t>
            </a:r>
            <a:r>
              <a:rPr lang="ru-RU" sz="2200" dirty="0"/>
              <a:t> ( напр. доступно Самообучение)</a:t>
            </a:r>
          </a:p>
          <a:p>
            <a:pPr algn="just"/>
            <a:endParaRPr lang="ru-RU" sz="2200" dirty="0"/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C4D4BD83-AF06-56E3-BE66-EDEB459E4F1C}"/>
              </a:ext>
            </a:extLst>
          </p:cNvPr>
          <p:cNvSpPr txBox="1">
            <a:spLocks/>
          </p:cNvSpPr>
          <p:nvPr/>
        </p:nvSpPr>
        <p:spPr>
          <a:xfrm>
            <a:off x="5917503" y="681038"/>
            <a:ext cx="5911241" cy="59452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r>
              <a:rPr lang="ru-RU" sz="2200" b="1" dirty="0"/>
              <a:t>Недостатки:</a:t>
            </a:r>
          </a:p>
          <a:p>
            <a:pPr algn="just"/>
            <a:r>
              <a:rPr lang="ru-RU" sz="2200" dirty="0"/>
              <a:t>Т</a:t>
            </a:r>
            <a:r>
              <a:rPr lang="en-US" sz="2200" dirty="0" err="1"/>
              <a:t>ре</a:t>
            </a:r>
            <a:r>
              <a:rPr lang="ru-RU" sz="2200" dirty="0" err="1"/>
              <a:t>бует</a:t>
            </a:r>
            <a:r>
              <a:rPr lang="ru-RU" sz="2200" dirty="0"/>
              <a:t> много данных особенно для выучивания локальных связей. Дообучение под задачу обязательно</a:t>
            </a:r>
          </a:p>
          <a:p>
            <a:pPr algn="just"/>
            <a:r>
              <a:rPr lang="ru-RU" sz="2200" dirty="0"/>
              <a:t>Избыточная сложность для коротких горизонтов и сравнительно простых ВР</a:t>
            </a:r>
          </a:p>
          <a:p>
            <a:pPr algn="just"/>
            <a:r>
              <a:rPr lang="ru-RU" sz="2200" dirty="0"/>
              <a:t>Требуется опты настройки (патчи и </a:t>
            </a:r>
            <a:r>
              <a:rPr lang="ru-RU" sz="2200" dirty="0" err="1"/>
              <a:t>тд</a:t>
            </a:r>
            <a:r>
              <a:rPr lang="ru-RU" sz="2200" dirty="0"/>
              <a:t> особенно на очень больших объемах данных)</a:t>
            </a:r>
          </a:p>
          <a:p>
            <a:pPr algn="just"/>
            <a:r>
              <a:rPr lang="ru-RU" sz="2200" dirty="0"/>
              <a:t>Внимание может дать артефакты особенно на коротких ВР</a:t>
            </a:r>
          </a:p>
          <a:p>
            <a:pPr algn="just"/>
            <a:r>
              <a:rPr lang="ru-RU" sz="2200" dirty="0"/>
              <a:t>Требуется регулярность ВР. На ВР с явным трендом могут дать смещенную оценку</a:t>
            </a:r>
          </a:p>
          <a:p>
            <a:pPr algn="just"/>
            <a:endParaRPr lang="ru-RU" sz="2200" dirty="0"/>
          </a:p>
          <a:p>
            <a:pPr algn="just"/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826701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F2F9A6-08CD-1B1F-9E86-0948B009B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989" y="365125"/>
            <a:ext cx="10877811" cy="687061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6D7AA4A-C0B2-EDEF-7DDC-0D92E792A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625" y="1177447"/>
            <a:ext cx="11461315" cy="5315428"/>
          </a:xfrm>
        </p:spPr>
        <p:txBody>
          <a:bodyPr>
            <a:normAutofit/>
          </a:bodyPr>
          <a:lstStyle/>
          <a:p>
            <a:r>
              <a:rPr lang="ru-RU" sz="2200" b="1" dirty="0"/>
              <a:t>Трансформеры</a:t>
            </a:r>
            <a:r>
              <a:rPr lang="ru-RU" sz="2200" dirty="0"/>
              <a:t>: </a:t>
            </a:r>
          </a:p>
          <a:p>
            <a:pPr lvl="1"/>
            <a:r>
              <a:rPr lang="ru-RU" sz="2200" dirty="0"/>
              <a:t>способность автоматически извлекать значимые представления из необработанных данных, позволяя им фиксировать сложные нелинейные взаимосвязи во временных зависимостях</a:t>
            </a:r>
          </a:p>
          <a:p>
            <a:pPr lvl="1"/>
            <a:r>
              <a:rPr lang="ru-RU" sz="2200" dirty="0"/>
              <a:t>механизм </a:t>
            </a:r>
            <a:r>
              <a:rPr lang="ru-RU" sz="2200" dirty="0" err="1"/>
              <a:t>самовнимания</a:t>
            </a:r>
            <a:r>
              <a:rPr lang="ru-RU" sz="2200" dirty="0"/>
              <a:t> позволяет модели оценивать важность различных входных элементов, даже если они расположены далеко друг от друга в последовательности - эффективно для долгосрочных зависимостей</a:t>
            </a:r>
          </a:p>
          <a:p>
            <a:pPr lvl="1"/>
            <a:r>
              <a:rPr lang="ru-RU" sz="2200" dirty="0"/>
              <a:t>Используя набор блоков-</a:t>
            </a:r>
            <a:r>
              <a:rPr lang="ru-RU" sz="2200" dirty="0" err="1"/>
              <a:t>трасформеров</a:t>
            </a:r>
            <a:r>
              <a:rPr lang="ru-RU" sz="2200" dirty="0"/>
              <a:t> (</a:t>
            </a:r>
            <a:r>
              <a:rPr lang="ru-RU" sz="2200" dirty="0" err="1"/>
              <a:t>самовнимание</a:t>
            </a:r>
            <a:r>
              <a:rPr lang="ru-RU" sz="2200" dirty="0"/>
              <a:t> + </a:t>
            </a:r>
            <a:r>
              <a:rPr lang="en-US" sz="2200" dirty="0"/>
              <a:t>MLP</a:t>
            </a:r>
            <a:r>
              <a:rPr lang="ru-RU" sz="2200" dirty="0"/>
              <a:t>) модели выучивают сложные иерархические представления данных, что делает их мощными инструментами для решения различных последовательных задач</a:t>
            </a:r>
            <a:r>
              <a:rPr lang="ru-RU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4B01CE-81B0-6AC1-B1D5-77137FA6002E}"/>
              </a:ext>
            </a:extLst>
          </p:cNvPr>
          <p:cNvSpPr txBox="1"/>
          <p:nvPr/>
        </p:nvSpPr>
        <p:spPr>
          <a:xfrm>
            <a:off x="5914894" y="6123543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/15-foundation-models.html</a:t>
            </a:r>
          </a:p>
        </p:txBody>
      </p:sp>
    </p:spTree>
    <p:extLst>
      <p:ext uri="{BB962C8B-B14F-4D97-AF65-F5344CB8AC3E}">
        <p14:creationId xmlns:p14="http://schemas.microsoft.com/office/powerpoint/2010/main" val="31393520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8FB28-F0A6-C205-12F2-94B5061BC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E88F0C-9F44-3159-36DC-87061338F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989" y="365125"/>
            <a:ext cx="10877811" cy="687061"/>
          </a:xfrm>
        </p:spPr>
        <p:txBody>
          <a:bodyPr>
            <a:normAutofit fontScale="90000"/>
          </a:bodyPr>
          <a:lstStyle/>
          <a:p>
            <a:r>
              <a:rPr lang="ru-RU" b="1" dirty="0"/>
              <a:t>Гипотезы</a:t>
            </a:r>
            <a:r>
              <a:rPr lang="ru-RU" dirty="0"/>
              <a:t>: </a:t>
            </a:r>
            <a:br>
              <a:rPr lang="ru-RU" dirty="0"/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9BC521-45CF-B615-5578-EF7A59217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0625" y="701458"/>
            <a:ext cx="11461315" cy="57914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100" dirty="0"/>
              <a:t>Использование гетерогенного набор датасетов позволяет модели выучить (обобщить) широкий набор представлений ВР.</a:t>
            </a:r>
          </a:p>
          <a:p>
            <a:pPr lvl="1"/>
            <a:r>
              <a:rPr lang="en-US" sz="2100" b="1" dirty="0"/>
              <a:t>Scaling-low</a:t>
            </a:r>
            <a:r>
              <a:rPr lang="en-US" sz="2100" dirty="0"/>
              <a:t> </a:t>
            </a:r>
            <a:r>
              <a:rPr lang="ru-RU" sz="2100" dirty="0"/>
              <a:t>(обобщение достаточного количества наборов данных позволяет обобщать любые похожие (между ними) наборы данных если параметров достаточно</a:t>
            </a:r>
          </a:p>
          <a:p>
            <a:pPr lvl="2"/>
            <a:r>
              <a:rPr lang="ru-RU" sz="2100" dirty="0"/>
              <a:t>В том числе на коротких данных</a:t>
            </a:r>
          </a:p>
          <a:p>
            <a:pPr lvl="2"/>
            <a:r>
              <a:rPr lang="en" sz="2100" b="1" dirty="0"/>
              <a:t>zero-shot</a:t>
            </a:r>
            <a:r>
              <a:rPr lang="en" sz="2100" dirty="0"/>
              <a:t> </a:t>
            </a:r>
            <a:r>
              <a:rPr lang="ru-RU" sz="2100" dirty="0"/>
              <a:t>подход – модель может работать даже если не видела данных</a:t>
            </a:r>
          </a:p>
          <a:p>
            <a:r>
              <a:rPr lang="en-US" sz="2100" b="1" dirty="0"/>
              <a:t>In-context forecasting</a:t>
            </a:r>
            <a:r>
              <a:rPr lang="ru-RU" sz="2100" b="1" dirty="0"/>
              <a:t>  </a:t>
            </a:r>
            <a:r>
              <a:rPr lang="ru-RU" sz="2100" dirty="0"/>
              <a:t>– каждое предсказание есть наиболее вероятное значение своего контекста. </a:t>
            </a:r>
          </a:p>
          <a:p>
            <a:pPr lvl="1"/>
            <a:r>
              <a:rPr lang="ru-RU" sz="2100" dirty="0"/>
              <a:t>Будем говорить о входных данных </a:t>
            </a:r>
            <a:r>
              <a:rPr lang="ru-RU" sz="2100" dirty="0" err="1"/>
              <a:t>промпте</a:t>
            </a:r>
            <a:r>
              <a:rPr lang="ru-RU" sz="2100" dirty="0"/>
              <a:t> – запрос предсказания. </a:t>
            </a:r>
            <a:r>
              <a:rPr lang="ru-RU" sz="2100" dirty="0" err="1"/>
              <a:t>Промпт</a:t>
            </a:r>
            <a:r>
              <a:rPr lang="ru-RU" sz="2100" dirty="0"/>
              <a:t> может быть любым: текст, ВР, видео и </a:t>
            </a:r>
            <a:r>
              <a:rPr lang="ru-RU" sz="2100" dirty="0" err="1"/>
              <a:t>тд</a:t>
            </a:r>
            <a:r>
              <a:rPr lang="ru-RU" sz="2100" dirty="0"/>
              <a:t>.</a:t>
            </a:r>
          </a:p>
          <a:p>
            <a:r>
              <a:rPr lang="ru-RU" sz="2100" dirty="0"/>
              <a:t>Предсказания можно выучить как результат представления </a:t>
            </a:r>
            <a:r>
              <a:rPr lang="en-US" sz="2100" b="1" dirty="0"/>
              <a:t>(representation learning)</a:t>
            </a:r>
            <a:endParaRPr lang="ru-RU" sz="2100" b="1" dirty="0"/>
          </a:p>
          <a:p>
            <a:pPr lvl="1"/>
            <a:r>
              <a:rPr lang="ru-RU" sz="2100" dirty="0"/>
              <a:t>можно выучивать без полноценной разметки например </a:t>
            </a:r>
            <a:r>
              <a:rPr lang="ru-RU" sz="2100" dirty="0" err="1"/>
              <a:t>авторегрессионно</a:t>
            </a:r>
            <a:r>
              <a:rPr lang="ru-RU" sz="2100" dirty="0"/>
              <a:t> или восстановлением частей зависимости</a:t>
            </a:r>
          </a:p>
          <a:p>
            <a:pPr lvl="1"/>
            <a:r>
              <a:rPr lang="ru-RU" sz="2100" dirty="0"/>
              <a:t>Все еще доступно дообучение для отдельных задач</a:t>
            </a:r>
          </a:p>
          <a:p>
            <a:r>
              <a:rPr lang="en-US" sz="2500" dirty="0" err="1"/>
              <a:t>Для</a:t>
            </a:r>
            <a:r>
              <a:rPr lang="ru-RU" sz="2500" dirty="0"/>
              <a:t> </a:t>
            </a:r>
            <a:r>
              <a:rPr lang="ru-RU" sz="2500" dirty="0" err="1"/>
              <a:t>авторегрессионного</a:t>
            </a:r>
            <a:r>
              <a:rPr lang="ru-RU" sz="2500" dirty="0"/>
              <a:t> предсказания достаточно декодера и закодированный контекст</a:t>
            </a:r>
          </a:p>
          <a:p>
            <a:endParaRPr lang="ru-RU" sz="2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B63D47-E653-1B59-1915-0968E9136859}"/>
              </a:ext>
            </a:extLst>
          </p:cNvPr>
          <p:cNvSpPr txBox="1"/>
          <p:nvPr/>
        </p:nvSpPr>
        <p:spPr>
          <a:xfrm>
            <a:off x="5914894" y="6123543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otexts.com</a:t>
            </a:r>
            <a:r>
              <a:rPr lang="ru-RU" dirty="0"/>
              <a:t>/</a:t>
            </a:r>
            <a:r>
              <a:rPr lang="ru-RU" dirty="0" err="1"/>
              <a:t>fpppy</a:t>
            </a:r>
            <a:r>
              <a:rPr lang="ru-RU" dirty="0"/>
              <a:t>/</a:t>
            </a:r>
            <a:r>
              <a:rPr lang="ru-RU" dirty="0" err="1"/>
              <a:t>nbs</a:t>
            </a:r>
            <a:r>
              <a:rPr lang="ru-RU" dirty="0"/>
              <a:t>/15-foundation-models.html</a:t>
            </a:r>
          </a:p>
        </p:txBody>
      </p:sp>
    </p:spTree>
    <p:extLst>
      <p:ext uri="{BB962C8B-B14F-4D97-AF65-F5344CB8AC3E}">
        <p14:creationId xmlns:p14="http://schemas.microsoft.com/office/powerpoint/2010/main" val="3661176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F0FCB8-AF5D-D012-FBBF-1437AFC57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E7465A6-EBA8-0E19-E9E2-CB3EDD2B9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474" y="1825624"/>
            <a:ext cx="6409690" cy="4807187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Что делает декодер?</a:t>
            </a:r>
          </a:p>
          <a:p>
            <a:r>
              <a:rPr lang="ru-RU" dirty="0"/>
              <a:t>Принимает последовательность токенов (например, "Продажи в марте выросли, значит в апреле...").</a:t>
            </a:r>
          </a:p>
          <a:p>
            <a:r>
              <a:rPr lang="ru-RU" dirty="0"/>
              <a:t>На каждом шаге предсказывает следующий токен, используя:</a:t>
            </a:r>
          </a:p>
          <a:p>
            <a:pPr lvl="1"/>
            <a:r>
              <a:rPr lang="ru-RU" dirty="0"/>
              <a:t>Само-внимание (</a:t>
            </a:r>
            <a:r>
              <a:rPr lang="en" dirty="0"/>
              <a:t>self-attention) — </a:t>
            </a:r>
            <a:r>
              <a:rPr lang="ru-RU" dirty="0"/>
              <a:t>смотрит на все предыдущие токены.</a:t>
            </a:r>
          </a:p>
          <a:p>
            <a:pPr lvl="1"/>
            <a:r>
              <a:rPr lang="ru-RU" dirty="0"/>
              <a:t>Маскированное внимание (</a:t>
            </a:r>
            <a:r>
              <a:rPr lang="en" dirty="0"/>
              <a:t>causal attention) — </a:t>
            </a:r>
            <a:r>
              <a:rPr lang="ru-RU" dirty="0"/>
              <a:t>не видит будущее (как в прогнозировании ВР!).</a:t>
            </a:r>
          </a:p>
          <a:p>
            <a:pPr lvl="1"/>
            <a:r>
              <a:rPr lang="ru-RU" dirty="0"/>
              <a:t>Позиционные кодировки — знает порядок (аналог времени в ВР).</a:t>
            </a:r>
          </a:p>
          <a:p>
            <a:r>
              <a:rPr lang="ru-RU" dirty="0"/>
              <a:t>📌 Интуиция:</a:t>
            </a:r>
            <a:br>
              <a:rPr lang="ru-RU" dirty="0"/>
            </a:br>
            <a:r>
              <a:rPr lang="ru-RU" dirty="0"/>
              <a:t>Декодер — это как </a:t>
            </a:r>
            <a:r>
              <a:rPr lang="en" dirty="0"/>
              <a:t>LSTM, </a:t>
            </a:r>
            <a:r>
              <a:rPr lang="ru-RU" dirty="0"/>
              <a:t>но с более гибкой памятью через </a:t>
            </a:r>
            <a:r>
              <a:rPr lang="en" dirty="0"/>
              <a:t>attention.</a:t>
            </a:r>
          </a:p>
          <a:p>
            <a:endParaRPr lang="ru-RU" dirty="0"/>
          </a:p>
        </p:txBody>
      </p:sp>
      <p:pic>
        <p:nvPicPr>
          <p:cNvPr id="1026" name="Picture 2" descr="TimesFM: Google's Foundation Model For Time-Series Forecasting | by Nikos  Kafritsas | TDS Archive | Medium">
            <a:extLst>
              <a:ext uri="{FF2B5EF4-FFF2-40B4-BE49-F238E27FC236}">
                <a16:creationId xmlns:a16="http://schemas.microsoft.com/office/drawing/2014/main" id="{4A48AAF9-981D-81F2-D305-03B854C8A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4698" y="3677925"/>
            <a:ext cx="5009941" cy="2814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61614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/>
                  <a:t>Пусть требуется предсказать последовательность значений</a:t>
                </a:r>
                <a:r>
                  <a:rPr lang="en-US" sz="2200" dirty="0"/>
                  <a:t> </a:t>
                </a:r>
                <a:r>
                  <a:rPr lang="ru-RU" sz="2200" dirty="0"/>
                  <a:t>ВР 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Последние</a:t>
                </a:r>
                <a:r>
                  <a:rPr lang="en-US" dirty="0"/>
                  <a:t> </a:t>
                </a:r>
                <a:r>
                  <a:rPr lang="ru-RU" dirty="0"/>
                  <a:t>известные скрытое 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задают все состояния 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деталей.</a:t>
                </a:r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Ограниченный 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Проблема долгого обучения (веса или затухают или взрываются)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(Seq2Seq) –</a:t>
                </a:r>
                <a:r>
                  <a:rPr lang="ru-RU" sz="2300" dirty="0"/>
                  <a:t> это </a:t>
                </a:r>
                <a:r>
                  <a:rPr lang="ru-RU" sz="2300" dirty="0" err="1"/>
                  <a:t>задачапредсказания</a:t>
                </a:r>
                <a:r>
                  <a:rPr lang="ru-RU" sz="2300" dirty="0"/>
                  <a:t> набора будущих </a:t>
                </a:r>
                <a:br>
                  <a:rPr lang="ru-RU" sz="2300" dirty="0"/>
                </a:br>
                <a:r>
                  <a:rPr lang="ru-RU" sz="2300" dirty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/>
                  <a:t> </a:t>
                </a:r>
                <a:r>
                  <a:rPr lang="ru-RU" sz="2300" dirty="0"/>
                  <a:t>по входным данным</a:t>
                </a:r>
                <a:r>
                  <a:rPr lang="en-US" sz="23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Гипотеза: </a:t>
                </a:r>
                <a:r>
                  <a:rPr lang="ru-RU" sz="2200" dirty="0"/>
                  <a:t>Регуляризация переобучения </a:t>
                </a:r>
                <a:r>
                  <a:rPr lang="en-US" sz="2200" dirty="0"/>
                  <a:t>RNN </a:t>
                </a:r>
                <a:r>
                  <a:rPr lang="ru-RU" sz="2200" dirty="0"/>
                  <a:t>возможна, если расширить скрытое представление</a:t>
                </a:r>
              </a:p>
              <a:p>
                <a:r>
                  <a:rPr lang="ru-RU" sz="2200" dirty="0"/>
                  <a:t>по сути требуется расширить контекст</a:t>
                </a:r>
                <a:r>
                  <a:rPr lang="ru-RU" sz="2200" b="1" dirty="0"/>
                  <a:t> </a:t>
                </a:r>
                <a:endParaRPr lang="en-US" sz="2200" b="1" dirty="0"/>
              </a:p>
              <a:p>
                <a:pPr marL="0" indent="0">
                  <a:buNone/>
                </a:pPr>
                <a:r>
                  <a:rPr lang="ru-RU" sz="2200" b="1" dirty="0"/>
                  <a:t>Идея: модель могла бы </a:t>
                </a:r>
                <a:r>
                  <a:rPr lang="ru-RU" sz="2200" dirty="0"/>
                  <a:t>смотреть</a:t>
                </a:r>
                <a:r>
                  <a:rPr lang="ru-RU" sz="2200" b="1" dirty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Реализация:</a:t>
                </a:r>
                <a:r>
                  <a:rPr lang="en-US" sz="2200" b="1" dirty="0"/>
                  <a:t> </a:t>
                </a:r>
                <a:r>
                  <a:rPr lang="ru-RU" sz="2200" dirty="0"/>
                  <a:t>Пусть </a:t>
                </a:r>
                <a:r>
                  <a:rPr lang="ru-RU" sz="2200" dirty="0" err="1"/>
                  <a:t>энкодер</a:t>
                </a:r>
                <a:r>
                  <a:rPr lang="ru-RU" sz="2200" dirty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Перепишем</a:t>
                </a:r>
                <a:r>
                  <a:rPr lang="en-US" sz="2200" b="1" dirty="0"/>
                  <a:t> </a:t>
                </a:r>
                <a:r>
                  <a:rPr lang="ru-RU" sz="2200" b="1" dirty="0"/>
                  <a:t>скрытое состояние декодер </a:t>
                </a:r>
                <a:r>
                  <a:rPr lang="en-US" sz="2200" b="1" dirty="0"/>
                  <a:t>Seq2Seq RNN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контекст),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внимание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</a:t>
                </a:r>
              </a:p>
              <a:p>
                <a:pPr marL="0" indent="0">
                  <a:buNone/>
                </a:pPr>
                <a:endParaRPr lang="ru-RU" sz="2200" b="1" dirty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r>
                  <a:rPr lang="ru-RU" i="1" dirty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/>
                  <a:t>Зададим блок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/>
                  <a:t> 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декодера)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/>
                  <a:t>энкодера</a:t>
                </a:r>
                <a:r>
                  <a:rPr lang="ru-RU" sz="22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/>
                  <a:t>Интуиция</a:t>
                </a:r>
                <a:r>
                  <a:rPr lang="en-US" sz="2200" b="1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: если </a:t>
                </a:r>
                <a:r>
                  <a:rPr lang="en" sz="2200" dirty="0"/>
                  <a:t>decoder</a:t>
                </a:r>
                <a:r>
                  <a:rPr lang="ru-RU" sz="2200" dirty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/>
                  <a:t>)</a:t>
                </a:r>
                <a:r>
                  <a:rPr lang="en" sz="2200" dirty="0"/>
                  <a:t> </a:t>
                </a:r>
                <a:r>
                  <a:rPr lang="ru-RU" sz="2200" dirty="0"/>
                  <a:t>прогнозирует трафик в пятницу, </a:t>
                </a:r>
                <a:r>
                  <a:rPr lang="ru-RU" sz="2200" i="1" dirty="0"/>
                  <a:t>важность</a:t>
                </a:r>
                <a:r>
                  <a:rPr lang="en-US" sz="2200" i="1" dirty="0"/>
                  <a:t> </a:t>
                </a:r>
                <a:r>
                  <a:rPr lang="ru-RU" sz="2200" i="1" dirty="0"/>
                  <a:t>предыдущих значений </a:t>
                </a:r>
                <a:r>
                  <a:rPr lang="ru-RU" sz="2200" dirty="0"/>
                  <a:t>пятниц </a:t>
                </a:r>
                <a:r>
                  <a:rPr lang="en-US" sz="2200" dirty="0"/>
                  <a:t>(K)</a:t>
                </a:r>
                <a:r>
                  <a:rPr lang="ru-RU" sz="2200" dirty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/>
                  <a:t>Пусть есть временной ряд:</a:t>
                </a:r>
                <a:r>
                  <a:rPr lang="en-US" sz="19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​,</a:t>
                </a:r>
              </a:p>
              <a:p>
                <a:pPr marL="0" indent="0">
                  <a:buNone/>
                </a:pPr>
                <a:r>
                  <a:rPr lang="ru-RU" sz="1900" dirty="0"/>
                  <a:t>хотим 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/>
                  <a:t>, </a:t>
                </a:r>
                <a:r>
                  <a:rPr lang="ru-RU" sz="1900" dirty="0"/>
                  <a:t>используя историю из 3 шагов:</a:t>
                </a:r>
              </a:p>
              <a:p>
                <a:r>
                  <a:rPr lang="en" sz="1900" dirty="0"/>
                  <a:t>Encoder: RNN , </a:t>
                </a:r>
                <a:r>
                  <a:rPr lang="ru-RU" sz="1900" dirty="0"/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/>
                  <a:t>​</a:t>
                </a:r>
                <a:endParaRPr lang="ru-RU" sz="19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1​=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0.1,0.9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2​=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0.4,0.6</m:t>
                          </m:r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3​=[0.8,0.2]</m:t>
                      </m:r>
                    </m:oMath>
                  </m:oMathPara>
                </a14:m>
                <a:endParaRPr lang="en" sz="1900" dirty="0"/>
              </a:p>
              <a:p>
                <a:r>
                  <a:rPr lang="en" sz="1900" dirty="0"/>
                  <a:t>Decoder: </a:t>
                </a:r>
                <a:r>
                  <a:rPr lang="ru-RU" sz="1900" dirty="0"/>
                  <a:t>генерирует прогнозы </a:t>
                </a:r>
                <a:r>
                  <a:rPr lang="ru-RU" sz="1900" dirty="0" err="1"/>
                  <a:t>авторегрессионно</a:t>
                </a:r>
                <a:r>
                  <a:rPr lang="ru-RU" sz="1900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/>
                  <a:t> - </a:t>
                </a:r>
                <a:r>
                  <a:rPr lang="ru-RU" sz="1600" dirty="0"/>
                  <a:t>веса </a:t>
                </a:r>
                <a:r>
                  <a:rPr lang="ru-RU" sz="1600" dirty="0" err="1"/>
                  <a:t>полносвязного</a:t>
                </a:r>
                <a:r>
                  <a:rPr lang="ru-RU" sz="1600" dirty="0"/>
                  <a:t> слоя</a:t>
                </a:r>
                <a:endParaRPr lang="ru-RU" sz="1500" dirty="0"/>
              </a:p>
              <a:p>
                <a:r>
                  <a:rPr lang="ru-RU" sz="1900" dirty="0"/>
                  <a:t>Пусть размерность скрытых состояний </a:t>
                </a:r>
                <a:r>
                  <a:rPr lang="en" sz="1900" i="1" dirty="0"/>
                  <a:t>d</a:t>
                </a:r>
                <a:r>
                  <a:rPr lang="en" sz="1900" dirty="0"/>
                  <a:t>=2 ,</a:t>
                </a:r>
                <a:endParaRPr lang="ru-RU" sz="1900" dirty="0"/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latin typeface="Cambria Math" panose="02040503050406030204" pitchFamily="18" charset="0"/>
                      </a:rPr>
                      <m:t>​=[0.8,0.2]</m:t>
                    </m:r>
                  </m:oMath>
                </a14:m>
                <a:endParaRPr lang="en" sz="1900" dirty="0"/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0.1,0.9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0.8×0.1+0.2×0.9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0.4,0.6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0.707⋅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[0.8,0.2]⋅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0.8,0.2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0.28,0.32.0.38</m:t>
                        </m:r>
                      </m:e>
                    </m:d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rgbClr val="2C2C36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>
                  <a:solidFill>
                    <a:srgbClr val="2C2C36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=0.28⋅[0.2,1.8]+0.32⋅[0.8,1.2]+0.38⋅[1.6,0.4] =[0.92,1.04]</m:t>
                    </m:r>
                  </m:oMath>
                </a14:m>
                <a:endParaRPr lang="en" sz="1900" dirty="0">
                  <a:solidFill>
                    <a:srgbClr val="2C2C36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​⋅0.9</m:t>
                    </m:r>
                    <m:r>
                      <a:rPr lang="en-US" sz="1900" b="0" i="1" dirty="0" smtClean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rgbClr val="2C2C3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rgbClr val="2C2C36"/>
                        </a:solidFill>
                        <a:latin typeface="Cambria Math" panose="02040503050406030204" pitchFamily="18" charset="0"/>
                      </a:rPr>
                      <m:t>​⋅1.04</m:t>
                    </m:r>
                  </m:oMath>
                </a14:m>
                <a:r>
                  <a:rPr lang="en-US" sz="1900" dirty="0"/>
                  <a:t>, </a:t>
                </a:r>
                <a:endParaRPr lang="ru-RU" sz="1900" dirty="0"/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n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[0.1, 0.9]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[0.2, 1.8]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[0.4, 0.6]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1.2]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[0.8, 0.2]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[1.6, 0.4]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solidFill>
                  <a:srgbClr val="2C2C36"/>
                </a:solidFill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V="1">
            <a:off x="7141915" y="4739148"/>
            <a:ext cx="29158" cy="211885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>
                    <a:latin typeface="Cambria Math" panose="02040503050406030204" pitchFamily="18" charset="0"/>
                  </a:rPr>
                  <a:t>  позволяет </a:t>
                </a:r>
                <a:r>
                  <a:rPr lang="ru-RU" sz="2200" dirty="0"/>
                  <a:t>выявить внутренние зависимости 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 </a:t>
                </a:r>
                <a:r>
                  <a:rPr lang="ru-RU" sz="2200" dirty="0" err="1"/>
                  <a:t>энкодере</a:t>
                </a:r>
                <a:r>
                  <a:rPr lang="ru-RU" sz="2200" dirty="0"/>
                  <a:t>. В том числе:</a:t>
                </a:r>
                <a:endParaRPr lang="en-US" sz="2200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Схожесть паттернов(регулярность, сезонность)?</a:t>
                </a:r>
                <a:br>
                  <a:rPr lang="ru-RU" sz="2200" dirty="0"/>
                </a:br>
                <a:r>
                  <a:rPr lang="ru-RU" sz="2200" dirty="0"/>
                  <a:t>— Влияние прошлых паттернов на будущее (тренд,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</a:t>
                </a:r>
                <a:r>
                  <a:rPr lang="ru-RU" sz="2200" b="1" dirty="0"/>
                  <a:t>само-внимание </a:t>
                </a:r>
                <a:r>
                  <a:rPr lang="en-US" sz="2200" b="1" dirty="0"/>
                  <a:t>(self-attention)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/>
                  <a:t>;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если кросс-внимание – дает предсказание, то </a:t>
                </a:r>
                <a:r>
                  <a:rPr lang="ru-RU" sz="2200" dirty="0" err="1"/>
                  <a:t>самовнимание</a:t>
                </a:r>
                <a:r>
                  <a:rPr lang="ru-RU" sz="2200" dirty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весов</a:t>
                </a:r>
                <a:r>
                  <a:rPr lang="ru-RU" sz="2000" dirty="0"/>
                  <a:t> каждой головы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5068504" cy="2259039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sp>
        <p:nvSpPr>
          <p:cNvPr id="26" name="TextBox 25"/>
          <p:cNvSpPr txBox="1"/>
          <p:nvPr/>
        </p:nvSpPr>
        <p:spPr>
          <a:xfrm>
            <a:off x="155576" y="6154197"/>
            <a:ext cx="117697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/>
              <a:t>Самовнимание</a:t>
            </a:r>
            <a:r>
              <a:rPr lang="ru-RU" dirty="0"/>
              <a:t> аналогично адаптивной ядерной фильтрации ВР – цель фильтрации выделение одного паттерна</a:t>
            </a:r>
          </a:p>
          <a:p>
            <a:r>
              <a:rPr lang="ru-RU" dirty="0"/>
              <a:t>Цель многоголового </a:t>
            </a:r>
            <a:r>
              <a:rPr lang="ru-RU" dirty="0" err="1"/>
              <a:t>самовнимания</a:t>
            </a:r>
            <a:r>
              <a:rPr lang="ru-RU" dirty="0"/>
              <a:t> – выделение набора паттернов во ВР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0375" y="2490929"/>
            <a:ext cx="5155621" cy="367513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856173" y="5542906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Идеи перехода от </a:t>
            </a:r>
            <a:r>
              <a:rPr lang="en-US" dirty="0"/>
              <a:t>RNN </a:t>
            </a:r>
            <a:r>
              <a:rPr lang="ru-RU" dirty="0"/>
              <a:t>к авторегрессии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b="1" dirty="0"/>
                  <a:t>Рассмотрим слой </a:t>
                </a:r>
                <a:r>
                  <a:rPr lang="en-US" sz="2200" b="1" dirty="0"/>
                  <a:t>RNN c </a:t>
                </a:r>
                <a:r>
                  <a:rPr lang="ru-RU" sz="2200" b="1" dirty="0" err="1"/>
                  <a:t>самовниманием</a:t>
                </a:r>
                <a:endParaRPr lang="ru-RU" sz="2200" b="1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По сути это выражение представляет собой </a:t>
                </a:r>
                <a:r>
                  <a:rPr lang="en-US" sz="2200" dirty="0"/>
                  <a:t>AR-NET </a:t>
                </a:r>
                <a:r>
                  <a:rPr lang="ru-RU" sz="2200" dirty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200" dirty="0"/>
              </a:p>
              <a:p>
                <a:pPr marL="0" indent="0">
                  <a:buNone/>
                </a:pP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  <a:blipFill>
                <a:blip r:embed="rId3"/>
                <a:stretch>
                  <a:fillRect l="-667" t="-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r>
              <a:rPr lang="ru-RU" sz="2200" b="1" dirty="0"/>
              <a:t>Гипотеза</a:t>
            </a:r>
            <a:r>
              <a:rPr lang="ru-RU" sz="2200" dirty="0"/>
              <a:t>: Если есть </a:t>
            </a:r>
            <a:r>
              <a:rPr lang="ru-RU" sz="2200" dirty="0" err="1"/>
              <a:t>самовнимание</a:t>
            </a:r>
            <a:r>
              <a:rPr lang="ru-RU" sz="2200" dirty="0"/>
              <a:t> и кросс-внимание,</a:t>
            </a:r>
            <a:r>
              <a:rPr lang="en-US" sz="2200" dirty="0"/>
              <a:t> </a:t>
            </a:r>
            <a:r>
              <a:rPr lang="ru-RU" sz="2200" dirty="0"/>
              <a:t>то </a:t>
            </a:r>
            <a:r>
              <a:rPr lang="en-US" sz="2200" dirty="0"/>
              <a:t>RNN </a:t>
            </a:r>
            <a:r>
              <a:rPr lang="ru-RU" sz="2200" dirty="0"/>
              <a:t>не нужно.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ru-RU" sz="2200" dirty="0"/>
              <a:t>Внимание уже задает необходимый контекст.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en-US" sz="2200" dirty="0"/>
              <a:t>MLP </a:t>
            </a:r>
            <a:r>
              <a:rPr lang="ru-RU" sz="2200" dirty="0"/>
              <a:t>слой удобнее – позволяет обрабатывать данные параллельно,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ru-RU" sz="2200" dirty="0"/>
              <a:t>Нет проблем с рекуррентным обучением.</a:t>
            </a:r>
          </a:p>
          <a:p>
            <a:pPr lvl="2">
              <a:lnSpc>
                <a:spcPct val="120000"/>
              </a:lnSpc>
              <a:spcBef>
                <a:spcPts val="200"/>
              </a:spcBef>
            </a:pPr>
            <a:r>
              <a:rPr lang="ru-RU" sz="2200" b="1" dirty="0"/>
              <a:t>Однако</a:t>
            </a:r>
            <a:r>
              <a:rPr lang="ru-RU" sz="2200" dirty="0"/>
              <a:t>, нужно учитывать последовательный характер данных.</a:t>
            </a:r>
          </a:p>
          <a:p>
            <a:pPr lvl="3">
              <a:lnSpc>
                <a:spcPct val="120000"/>
              </a:lnSpc>
              <a:spcBef>
                <a:spcPts val="200"/>
              </a:spcBef>
            </a:pPr>
            <a:r>
              <a:rPr lang="ru-RU" sz="2200" dirty="0"/>
              <a:t>Для этого можно «пометить» позицию каждого положения окна, идущего по ВР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57316" y="6473176"/>
            <a:ext cx="941930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pic>
        <p:nvPicPr>
          <p:cNvPr id="1026" name="Picture 2" descr="2304.04912] Financial Time Series Forecasting using CNN and Transformer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21" t="11021"/>
          <a:stretch/>
        </p:blipFill>
        <p:spPr bwMode="auto">
          <a:xfrm>
            <a:off x="9655278" y="2712244"/>
            <a:ext cx="2310581" cy="4145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3048000" y="310583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/>
              <a:t>https://link.springer.com/chapter/10.1007/978-3-030-77964-1_17</a:t>
            </a:r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Идеи архитектуры </a:t>
            </a:r>
            <a:r>
              <a:rPr lang="ru-RU" b="1" dirty="0" err="1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25465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обработка последовательности  с сохранением порядка без рекуррентных связей</a:t>
            </a:r>
          </a:p>
          <a:p>
            <a:pPr marL="0" indent="0">
              <a:buNone/>
            </a:pPr>
            <a:r>
              <a:rPr lang="ru-RU" sz="2200" dirty="0"/>
              <a:t>Слой составим из блоков </a:t>
            </a:r>
            <a:r>
              <a:rPr lang="ru-RU" sz="2200" dirty="0" err="1"/>
              <a:t>самованимание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/>
              <a:t>нормировка -</a:t>
            </a:r>
            <a:r>
              <a:rPr lang="en-US" sz="2200" dirty="0"/>
              <a:t>&gt; </a:t>
            </a:r>
            <a:r>
              <a:rPr lang="ru-RU" sz="2200" dirty="0" err="1"/>
              <a:t>полносвязная</a:t>
            </a:r>
            <a:r>
              <a:rPr lang="ru-RU" sz="2200" dirty="0"/>
              <a:t> сеть-</a:t>
            </a:r>
            <a:r>
              <a:rPr lang="en-US" sz="2200" dirty="0"/>
              <a:t>&gt;</a:t>
            </a:r>
            <a:r>
              <a:rPr lang="ru-RU" sz="2200" dirty="0"/>
              <a:t>нормировка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396821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grpSp>
        <p:nvGrpSpPr>
          <p:cNvPr id="7" name="Группа 6"/>
          <p:cNvGrpSpPr/>
          <p:nvPr/>
        </p:nvGrpSpPr>
        <p:grpSpPr>
          <a:xfrm>
            <a:off x="6096000" y="2812026"/>
            <a:ext cx="5928851" cy="3584795"/>
            <a:chOff x="6277278" y="3313470"/>
            <a:chExt cx="5683045" cy="3196713"/>
          </a:xfrm>
        </p:grpSpPr>
        <p:pic>
          <p:nvPicPr>
            <p:cNvPr id="3080" name="Picture 8" descr="PDF] Deep Transformer Models for Time Series Forecasting: The Influenza  Prevalence Case | Semantic Scholar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77278" y="3313470"/>
              <a:ext cx="5683045" cy="31967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Овал 5"/>
            <p:cNvSpPr/>
            <p:nvPr/>
          </p:nvSpPr>
          <p:spPr>
            <a:xfrm>
              <a:off x="9890760" y="3427095"/>
              <a:ext cx="457200" cy="38100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Идеи Блока </a:t>
            </a:r>
            <a:r>
              <a:rPr lang="ru-RU" b="1" dirty="0" err="1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25" y="757084"/>
            <a:ext cx="5462832" cy="5899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выделить набор признаков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72" y="1858298"/>
            <a:ext cx="6395948" cy="4808090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645022" y="884962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Идеи архитектуры </a:t>
            </a:r>
            <a:r>
              <a:rPr lang="ru-RU" b="1" dirty="0" err="1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/>
                  <a:t>;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>
                    <a:latin typeface="Cambria Math" panose="02040503050406030204" pitchFamily="18" charset="0"/>
                  </a:rPr>
                  <a:t>Пу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Гипотеза: </a:t>
                </a:r>
                <a:r>
                  <a:rPr lang="ru-RU" sz="2200" dirty="0"/>
                  <a:t>Регуляризация переобучения </a:t>
                </a:r>
                <a:r>
                  <a:rPr lang="en-US" sz="2200" dirty="0"/>
                  <a:t>RNN </a:t>
                </a:r>
                <a:r>
                  <a:rPr lang="ru-RU" sz="2200" dirty="0"/>
                  <a:t>возможна, если расширить скрытое представление</a:t>
                </a:r>
              </a:p>
              <a:p>
                <a:r>
                  <a:rPr lang="ru-RU" sz="2200" dirty="0"/>
                  <a:t>по сути требуется расширить контекст</a:t>
                </a:r>
                <a:r>
                  <a:rPr lang="ru-RU" sz="2200" b="1" dirty="0"/>
                  <a:t> </a:t>
                </a:r>
                <a:endParaRPr lang="en-US" sz="2200" b="1" dirty="0"/>
              </a:p>
              <a:p>
                <a:pPr marL="0" indent="0">
                  <a:buNone/>
                </a:pPr>
                <a:r>
                  <a:rPr lang="ru-RU" sz="2200" b="1" dirty="0"/>
                  <a:t>Идея: модель могла бы </a:t>
                </a:r>
                <a:r>
                  <a:rPr lang="ru-RU" sz="2200" dirty="0"/>
                  <a:t>смотреть</a:t>
                </a:r>
                <a:r>
                  <a:rPr lang="ru-RU" sz="2200" b="1" dirty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8128</TotalTime>
  <Words>7513</Words>
  <Application>Microsoft Macintosh PowerPoint</Application>
  <PresentationFormat>Широкоэкранный</PresentationFormat>
  <Paragraphs>688</Paragraphs>
  <Slides>84</Slides>
  <Notes>18</Notes>
  <HiddenSlides>27</HiddenSlides>
  <MMClips>0</MMClips>
  <ScaleCrop>false</ScaleCrop>
  <HeadingPairs>
    <vt:vector size="6" baseType="variant">
      <vt:variant>
        <vt:lpstr>Использованные шрифты</vt:lpstr>
      </vt:variant>
      <vt:variant>
        <vt:i4>11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84</vt:i4>
      </vt:variant>
    </vt:vector>
  </HeadingPairs>
  <TitlesOfParts>
    <vt:vector size="96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system-ui</vt:lpstr>
      <vt:lpstr>var(--jp-code-font-family)</vt:lpstr>
      <vt:lpstr>Тема Office</vt:lpstr>
      <vt:lpstr>Использование методов глубокого обучения в анализе временных рядов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Модели трансформеры </vt:lpstr>
      <vt:lpstr>Презентация PowerPoint</vt:lpstr>
      <vt:lpstr>Гипотезы:  </vt:lpstr>
      <vt:lpstr>Презентация PowerPoint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архитектуры Трансформер</vt:lpstr>
      <vt:lpstr>Идеи Блока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374</cp:revision>
  <dcterms:created xsi:type="dcterms:W3CDTF">2021-11-21T16:45:21Z</dcterms:created>
  <dcterms:modified xsi:type="dcterms:W3CDTF">2025-08-24T14:54:00Z</dcterms:modified>
</cp:coreProperties>
</file>