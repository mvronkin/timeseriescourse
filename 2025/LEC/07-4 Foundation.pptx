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45" r:id="rId11"/>
    <p:sldId id="449" r:id="rId12"/>
    <p:sldId id="447" r:id="rId13"/>
    <p:sldId id="448" r:id="rId14"/>
    <p:sldId id="444" r:id="rId15"/>
    <p:sldId id="442" r:id="rId16"/>
    <p:sldId id="439" r:id="rId17"/>
    <p:sldId id="440" r:id="rId18"/>
    <p:sldId id="431" r:id="rId19"/>
    <p:sldId id="437" r:id="rId20"/>
    <p:sldId id="407" r:id="rId21"/>
    <p:sldId id="436" r:id="rId22"/>
    <p:sldId id="430" r:id="rId23"/>
    <p:sldId id="435" r:id="rId24"/>
    <p:sldId id="427" r:id="rId25"/>
    <p:sldId id="420" r:id="rId26"/>
    <p:sldId id="352" r:id="rId27"/>
    <p:sldId id="353" r:id="rId28"/>
    <p:sldId id="355" r:id="rId29"/>
    <p:sldId id="356" r:id="rId30"/>
    <p:sldId id="357" r:id="rId31"/>
    <p:sldId id="358" r:id="rId32"/>
    <p:sldId id="359" r:id="rId33"/>
    <p:sldId id="360" r:id="rId34"/>
    <p:sldId id="361" r:id="rId35"/>
    <p:sldId id="362" r:id="rId36"/>
    <p:sldId id="363" r:id="rId37"/>
    <p:sldId id="364" r:id="rId38"/>
    <p:sldId id="365" r:id="rId39"/>
    <p:sldId id="367" r:id="rId40"/>
    <p:sldId id="368" r:id="rId41"/>
    <p:sldId id="369" r:id="rId42"/>
    <p:sldId id="370" r:id="rId43"/>
    <p:sldId id="371" r:id="rId44"/>
    <p:sldId id="372" r:id="rId45"/>
    <p:sldId id="373" r:id="rId46"/>
    <p:sldId id="374" r:id="rId47"/>
    <p:sldId id="375" r:id="rId48"/>
    <p:sldId id="376" r:id="rId49"/>
    <p:sldId id="446" r:id="rId50"/>
    <p:sldId id="398" r:id="rId51"/>
    <p:sldId id="399" r:id="rId52"/>
    <p:sldId id="400" r:id="rId53"/>
    <p:sldId id="401" r:id="rId54"/>
    <p:sldId id="402" r:id="rId55"/>
    <p:sldId id="403" r:id="rId56"/>
    <p:sldId id="404" r:id="rId57"/>
    <p:sldId id="377" r:id="rId58"/>
    <p:sldId id="378" r:id="rId59"/>
    <p:sldId id="379" r:id="rId60"/>
    <p:sldId id="381" r:id="rId61"/>
    <p:sldId id="382" r:id="rId62"/>
    <p:sldId id="383" r:id="rId63"/>
    <p:sldId id="384" r:id="rId64"/>
    <p:sldId id="385" r:id="rId65"/>
    <p:sldId id="386" r:id="rId66"/>
    <p:sldId id="387" r:id="rId67"/>
    <p:sldId id="388" r:id="rId68"/>
    <p:sldId id="389" r:id="rId69"/>
    <p:sldId id="390" r:id="rId70"/>
    <p:sldId id="391" r:id="rId71"/>
    <p:sldId id="392" r:id="rId72"/>
    <p:sldId id="393" r:id="rId73"/>
    <p:sldId id="394" r:id="rId74"/>
    <p:sldId id="395" r:id="rId75"/>
    <p:sldId id="396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84247"/>
  </p:normalViewPr>
  <p:slideViewPr>
    <p:cSldViewPr snapToGrid="0">
      <p:cViewPr varScale="1">
        <p:scale>
          <a:sx n="102" d="100"/>
          <a:sy n="102" d="100"/>
        </p:scale>
        <p:origin x="1272" y="168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3467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59883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image" Target="../media/image79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/>
                  <a:t>Пусть требуется предсказать последовательность значений</a:t>
                </a:r>
                <a:r>
                  <a:rPr lang="en-US" sz="2200" dirty="0"/>
                  <a:t> </a:t>
                </a:r>
                <a:r>
                  <a:rPr lang="ru-RU" sz="2200" dirty="0"/>
                  <a:t>ВР 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Последние</a:t>
                </a:r>
                <a:r>
                  <a:rPr lang="en-US" dirty="0"/>
                  <a:t> </a:t>
                </a:r>
                <a:r>
                  <a:rPr lang="ru-RU" dirty="0"/>
                  <a:t>известные скрытое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задают все состояния 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Ограниченный 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Проблема долгого обучения (веса или затухают или взрываются)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(Seq2Seq) –</a:t>
                </a:r>
                <a:r>
                  <a:rPr lang="ru-RU" sz="2300" dirty="0"/>
                  <a:t> это </a:t>
                </a:r>
                <a:r>
                  <a:rPr lang="ru-RU" sz="2300" dirty="0" err="1"/>
                  <a:t>задачапредсказания</a:t>
                </a:r>
                <a:r>
                  <a:rPr lang="ru-RU" sz="2300" dirty="0"/>
                  <a:t> набора будущих </a:t>
                </a:r>
                <a:br>
                  <a:rPr lang="ru-RU" sz="2300" dirty="0"/>
                </a:br>
                <a:r>
                  <a:rPr lang="ru-RU" sz="2300" dirty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/>
                  <a:t> </a:t>
                </a:r>
                <a:r>
                  <a:rPr lang="ru-RU" sz="2300" dirty="0"/>
                  <a:t>по входным данным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Гипотеза: </a:t>
                </a:r>
                <a:r>
                  <a:rPr lang="ru-RU" sz="2200" dirty="0"/>
                  <a:t>Регуляризация переобучения </a:t>
                </a:r>
                <a:r>
                  <a:rPr lang="en-US" sz="2200" dirty="0"/>
                  <a:t>RNN </a:t>
                </a:r>
                <a:r>
                  <a:rPr lang="ru-RU" sz="2200" dirty="0"/>
                  <a:t>возможна, если расширить скрытое представление</a:t>
                </a:r>
              </a:p>
              <a:p>
                <a:r>
                  <a:rPr lang="ru-RU" sz="2200" dirty="0"/>
                  <a:t>по сути требуется расширить контекст</a:t>
                </a:r>
                <a:r>
                  <a:rPr lang="ru-RU" sz="2200" b="1" dirty="0"/>
                  <a:t> </a:t>
                </a:r>
                <a:endParaRPr lang="en-US" sz="2200" b="1" dirty="0"/>
              </a:p>
              <a:p>
                <a:pPr marL="0" indent="0">
                  <a:buNone/>
                </a:pPr>
                <a:r>
                  <a:rPr lang="ru-RU" sz="2200" b="1" dirty="0"/>
                  <a:t>Идея: модель могла бы </a:t>
                </a:r>
                <a:r>
                  <a:rPr lang="ru-RU" sz="2200" dirty="0"/>
                  <a:t>смотреть</a:t>
                </a:r>
                <a:r>
                  <a:rPr lang="ru-RU" sz="2200" b="1" dirty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Реализация:</a:t>
                </a:r>
                <a:r>
                  <a:rPr lang="en-US" sz="2200" b="1" dirty="0"/>
                  <a:t> </a:t>
                </a:r>
                <a:r>
                  <a:rPr lang="ru-RU" sz="2200" dirty="0"/>
                  <a:t>Пусть </a:t>
                </a:r>
                <a:r>
                  <a:rPr lang="ru-RU" sz="2200" dirty="0" err="1"/>
                  <a:t>энкодер</a:t>
                </a:r>
                <a:r>
                  <a:rPr lang="ru-RU" sz="2200" dirty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Перепишем</a:t>
                </a:r>
                <a:r>
                  <a:rPr lang="en-US" sz="2200" b="1" dirty="0"/>
                  <a:t> </a:t>
                </a:r>
                <a:r>
                  <a:rPr lang="ru-RU" sz="2200" b="1" dirty="0"/>
                  <a:t>скрытое состояние декодер </a:t>
                </a:r>
                <a:r>
                  <a:rPr lang="en-US" sz="2200" b="1" dirty="0"/>
                  <a:t>Seq2Seq RNN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контекст),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внимание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</a:t>
                </a:r>
              </a:p>
              <a:p>
                <a:pPr marL="0" indent="0">
                  <a:buNone/>
                </a:pPr>
                <a:endParaRPr lang="ru-RU" sz="2200" b="1" dirty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r>
                  <a:rPr lang="ru-RU" i="1" dirty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/>
                  <a:t>Зададим блок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/>
                  <a:t> 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декодера)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/>
                  <a:t>энкодера</a:t>
                </a:r>
                <a:r>
                  <a:rPr lang="ru-RU" sz="22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/>
                  <a:t>Интуиция</a:t>
                </a:r>
                <a:r>
                  <a:rPr lang="en-US" sz="2200" b="1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: если </a:t>
                </a:r>
                <a:r>
                  <a:rPr lang="en" sz="2200" dirty="0"/>
                  <a:t>decoder</a:t>
                </a:r>
                <a:r>
                  <a:rPr lang="ru-RU" sz="2200" dirty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/>
                  <a:t>)</a:t>
                </a:r>
                <a:r>
                  <a:rPr lang="en" sz="2200" dirty="0"/>
                  <a:t> </a:t>
                </a:r>
                <a:r>
                  <a:rPr lang="ru-RU" sz="2200" dirty="0"/>
                  <a:t>прогнозирует трафик в пятницу, </a:t>
                </a:r>
                <a:r>
                  <a:rPr lang="ru-RU" sz="2200" i="1" dirty="0"/>
                  <a:t>важность</a:t>
                </a:r>
                <a:r>
                  <a:rPr lang="en-US" sz="2200" i="1" dirty="0"/>
                  <a:t> </a:t>
                </a:r>
                <a:r>
                  <a:rPr lang="ru-RU" sz="2200" i="1" dirty="0"/>
                  <a:t>предыдущих значений </a:t>
                </a:r>
                <a:r>
                  <a:rPr lang="ru-RU" sz="2200" dirty="0"/>
                  <a:t>пятниц </a:t>
                </a:r>
                <a:r>
                  <a:rPr lang="en-US" sz="2200" dirty="0"/>
                  <a:t>(K)</a:t>
                </a:r>
                <a:r>
                  <a:rPr lang="ru-RU" sz="2200" dirty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/>
                  <a:t>Пусть есть временной ряд:</a:t>
                </a:r>
                <a:r>
                  <a:rPr lang="en-US" sz="19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​,</a:t>
                </a:r>
              </a:p>
              <a:p>
                <a:pPr marL="0" indent="0">
                  <a:buNone/>
                </a:pPr>
                <a:r>
                  <a:rPr lang="ru-RU" sz="1900" dirty="0"/>
                  <a:t>хотим 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endParaRPr lang="ru-RU" sz="19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прогнозы </a:t>
                </a:r>
                <a:r>
                  <a:rPr lang="ru-RU" sz="1900" dirty="0" err="1"/>
                  <a:t>авторегрессионно</a:t>
                </a:r>
                <a:r>
                  <a:rPr lang="ru-RU" sz="1900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слоя</a:t>
                </a:r>
                <a:endParaRPr lang="ru-RU" sz="1500" dirty="0"/>
              </a:p>
              <a:p>
                <a:r>
                  <a:rPr lang="ru-RU" sz="1900" dirty="0"/>
                  <a:t>Пусть 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=[0.92,1.04]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/>
                  <a:t>, </a:t>
                </a:r>
                <a:endParaRPr lang="ru-RU" sz="1900" dirty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n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>
                    <a:latin typeface="Cambria Math" panose="02040503050406030204" pitchFamily="18" charset="0"/>
                  </a:rPr>
                  <a:t>  позволяет </a:t>
                </a:r>
                <a:r>
                  <a:rPr lang="ru-RU" sz="2200" dirty="0"/>
                  <a:t>выявить внутренние зависимости 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 </a:t>
                </a:r>
                <a:r>
                  <a:rPr lang="ru-RU" sz="2200" dirty="0" err="1"/>
                  <a:t>энкодере</a:t>
                </a:r>
                <a:r>
                  <a:rPr lang="ru-RU" sz="2200" dirty="0"/>
                  <a:t>. В том числе:</a:t>
                </a:r>
                <a:endParaRPr lang="en-US" sz="2200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Схожесть паттернов(регулярность, сезонность)?</a:t>
                </a:r>
                <a:br>
                  <a:rPr lang="ru-RU" sz="2200" dirty="0"/>
                </a:br>
                <a:r>
                  <a:rPr lang="ru-RU" sz="2200" dirty="0"/>
                  <a:t>— Влияние прошлых паттернов на будущее (тренд,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</a:t>
                </a:r>
                <a:r>
                  <a:rPr lang="ru-RU" sz="2200" b="1" dirty="0"/>
                  <a:t>само-внимание </a:t>
                </a:r>
                <a:r>
                  <a:rPr lang="en-US" sz="2200" b="1" dirty="0"/>
                  <a:t>(self-attention)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/>
                  <a:t>;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если кросс-внимание – дает предсказание, то </a:t>
                </a:r>
                <a:r>
                  <a:rPr lang="ru-RU" sz="2200" dirty="0" err="1"/>
                  <a:t>самовнимание</a:t>
                </a:r>
                <a:r>
                  <a:rPr lang="ru-RU" sz="2200" dirty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весов</a:t>
                </a:r>
                <a:r>
                  <a:rPr lang="ru-RU" sz="2000" dirty="0"/>
                  <a:t> каждой головы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155576" y="6154197"/>
            <a:ext cx="11769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Самовнимание</a:t>
            </a:r>
            <a:r>
              <a:rPr lang="ru-RU" dirty="0"/>
              <a:t> аналогично адаптивной ядерной фильтрации ВР – цель фильтрации выделение одного паттерна</a:t>
            </a:r>
          </a:p>
          <a:p>
            <a:r>
              <a:rPr lang="ru-RU" dirty="0"/>
              <a:t>Цель многоголового </a:t>
            </a:r>
            <a:r>
              <a:rPr lang="ru-RU" dirty="0" err="1"/>
              <a:t>самовнимания</a:t>
            </a:r>
            <a:r>
              <a:rPr lang="ru-RU" dirty="0"/>
              <a:t> – выделение набора паттернов во ВР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75" y="2490929"/>
            <a:ext cx="5155621" cy="367513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856173" y="554290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Идеи перехода от </a:t>
            </a:r>
            <a:r>
              <a:rPr lang="en-US" dirty="0"/>
              <a:t>RNN </a:t>
            </a:r>
            <a:r>
              <a:rPr lang="ru-RU" dirty="0"/>
              <a:t>к авторегрессии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b="1" dirty="0"/>
                  <a:t>Рассмотрим слой </a:t>
                </a:r>
                <a:r>
                  <a:rPr lang="en-US" sz="2200" b="1" dirty="0"/>
                  <a:t>RNN c </a:t>
                </a:r>
                <a:r>
                  <a:rPr lang="ru-RU" sz="2200" b="1" dirty="0" err="1"/>
                  <a:t>самовниманием</a:t>
                </a:r>
                <a:endParaRPr lang="ru-RU" sz="2200" b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По сути это выражение представляет собой </a:t>
                </a:r>
                <a:r>
                  <a:rPr lang="en-US" sz="2200" dirty="0"/>
                  <a:t>AR-NET </a:t>
                </a:r>
                <a:r>
                  <a:rPr lang="ru-RU" sz="2200" dirty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200" dirty="0"/>
              </a:p>
              <a:p>
                <a:pPr marL="0" indent="0">
                  <a:buNone/>
                </a:pP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  <a:blipFill>
                <a:blip r:embed="rId3"/>
                <a:stretch>
                  <a:fillRect l="-667" t="-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r>
              <a:rPr lang="ru-RU" sz="2200" b="1" dirty="0"/>
              <a:t>Гипотеза</a:t>
            </a:r>
            <a:r>
              <a:rPr lang="ru-RU" sz="2200" dirty="0"/>
              <a:t>: Если есть </a:t>
            </a:r>
            <a:r>
              <a:rPr lang="ru-RU" sz="2200" dirty="0" err="1"/>
              <a:t>самовнимание</a:t>
            </a:r>
            <a:r>
              <a:rPr lang="ru-RU" sz="2200" dirty="0"/>
              <a:t> и кросс-внимание,</a:t>
            </a:r>
            <a:r>
              <a:rPr lang="en-US" sz="2200" dirty="0"/>
              <a:t> </a:t>
            </a:r>
            <a:r>
              <a:rPr lang="ru-RU" sz="2200" dirty="0"/>
              <a:t>то </a:t>
            </a:r>
            <a:r>
              <a:rPr lang="en-US" sz="2200" dirty="0"/>
              <a:t>RNN </a:t>
            </a:r>
            <a:r>
              <a:rPr lang="ru-RU" sz="2200" dirty="0"/>
              <a:t>не нужно.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ru-RU" sz="2200" dirty="0"/>
              <a:t>Внимание уже задает необходимый контекст.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en-US" sz="2200" dirty="0"/>
              <a:t>MLP </a:t>
            </a:r>
            <a:r>
              <a:rPr lang="ru-RU" sz="2200" dirty="0"/>
              <a:t>слой удобнее – позволяет обрабатывать данные параллельно,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ru-RU" sz="2200" dirty="0"/>
              <a:t>Нет проблем с рекуррентным обучением.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ru-RU" sz="2200" b="1" dirty="0"/>
              <a:t>Однако</a:t>
            </a:r>
            <a:r>
              <a:rPr lang="ru-RU" sz="2200" dirty="0"/>
              <a:t>, нужно учитывать последовательный характер данных.</a:t>
            </a:r>
          </a:p>
          <a:p>
            <a:pPr lvl="3">
              <a:lnSpc>
                <a:spcPct val="120000"/>
              </a:lnSpc>
              <a:spcBef>
                <a:spcPts val="200"/>
              </a:spcBef>
            </a:pPr>
            <a:r>
              <a:rPr lang="ru-RU" sz="2200" dirty="0"/>
              <a:t>Для этого можно «пометить» позицию каждого положения окна, идущего по ВР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57316" y="6473176"/>
            <a:ext cx="941930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pic>
        <p:nvPicPr>
          <p:cNvPr id="1026" name="Picture 2" descr="2304.04912] Financial Time Series Forecasting using CNN and Transformer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21" t="11021"/>
          <a:stretch/>
        </p:blipFill>
        <p:spPr bwMode="auto">
          <a:xfrm>
            <a:off x="9655278" y="2712244"/>
            <a:ext cx="2310581" cy="4145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/>
              <a:t>https://link.springer.com/chapter/10.1007/978-3-030-77964-1_17</a:t>
            </a:r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Идеи архитектуры </a:t>
            </a:r>
            <a:r>
              <a:rPr lang="ru-RU" b="1" dirty="0" err="1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2546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обработка последовательности  с сохранением порядка без рекуррентных связей</a:t>
            </a:r>
          </a:p>
          <a:p>
            <a:pPr marL="0" indent="0">
              <a:buNone/>
            </a:pPr>
            <a:r>
              <a:rPr lang="ru-RU" sz="2200" dirty="0"/>
              <a:t>Слой составим из блоков </a:t>
            </a:r>
            <a:r>
              <a:rPr lang="ru-RU" sz="2200" dirty="0" err="1"/>
              <a:t>самованимание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/>
              <a:t>нормировка -</a:t>
            </a:r>
            <a:r>
              <a:rPr lang="en-US" sz="2200" dirty="0"/>
              <a:t>&gt; </a:t>
            </a:r>
            <a:r>
              <a:rPr lang="ru-RU" sz="2200" dirty="0" err="1"/>
              <a:t>полносвязная</a:t>
            </a:r>
            <a:r>
              <a:rPr lang="ru-RU" sz="2200" dirty="0"/>
              <a:t> сеть-</a:t>
            </a:r>
            <a:r>
              <a:rPr lang="en-US" sz="2200" dirty="0"/>
              <a:t>&gt;</a:t>
            </a:r>
            <a:r>
              <a:rPr lang="ru-RU" sz="2200" dirty="0"/>
              <a:t>нормировка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396821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6096000" y="2812026"/>
            <a:ext cx="5928851" cy="3584795"/>
            <a:chOff x="6277278" y="3313470"/>
            <a:chExt cx="5683045" cy="3196713"/>
          </a:xfrm>
        </p:grpSpPr>
        <p:pic>
          <p:nvPicPr>
            <p:cNvPr id="3080" name="Picture 8" descr="PDF] Deep Transformer Models for Time Series Forecasting: The Influenza  Prevalence Case | Semantic Scholar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7278" y="3313470"/>
              <a:ext cx="5683045" cy="31967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Овал 5"/>
            <p:cNvSpPr/>
            <p:nvPr/>
          </p:nvSpPr>
          <p:spPr>
            <a:xfrm>
              <a:off x="9890760" y="3427095"/>
              <a:ext cx="457200" cy="38100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Идеи Блока </a:t>
            </a:r>
            <a:r>
              <a:rPr lang="ru-RU" b="1" dirty="0" err="1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25" y="757084"/>
            <a:ext cx="5462832" cy="5899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выделить набор признаков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72" y="1858298"/>
            <a:ext cx="6395948" cy="4808090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645022" y="884962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Идеи архитектуры </a:t>
            </a:r>
            <a:r>
              <a:rPr lang="ru-RU" b="1" dirty="0" err="1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/>
                  <a:t>;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>
                    <a:latin typeface="Cambria Math" panose="02040503050406030204" pitchFamily="18" charset="0"/>
                  </a:rPr>
                  <a:t>Пу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Гипотеза: </a:t>
                </a:r>
                <a:r>
                  <a:rPr lang="ru-RU" sz="2200" dirty="0"/>
                  <a:t>Регуляризация переобучения </a:t>
                </a:r>
                <a:r>
                  <a:rPr lang="en-US" sz="2200" dirty="0"/>
                  <a:t>RNN </a:t>
                </a:r>
                <a:r>
                  <a:rPr lang="ru-RU" sz="2200" dirty="0"/>
                  <a:t>возможна, если расширить скрытое представление</a:t>
                </a:r>
              </a:p>
              <a:p>
                <a:r>
                  <a:rPr lang="ru-RU" sz="2200" dirty="0"/>
                  <a:t>по сути требуется расширить контекст</a:t>
                </a:r>
                <a:r>
                  <a:rPr lang="ru-RU" sz="2200" b="1" dirty="0"/>
                  <a:t> </a:t>
                </a:r>
                <a:endParaRPr lang="en-US" sz="2200" b="1" dirty="0"/>
              </a:p>
              <a:p>
                <a:pPr marL="0" indent="0">
                  <a:buNone/>
                </a:pPr>
                <a:r>
                  <a:rPr lang="ru-RU" sz="2200" b="1" dirty="0"/>
                  <a:t>Идея: модель могла бы </a:t>
                </a:r>
                <a:r>
                  <a:rPr lang="ru-RU" sz="2200" dirty="0"/>
                  <a:t>смотреть</a:t>
                </a:r>
                <a:r>
                  <a:rPr lang="ru-RU" sz="2200" b="1" dirty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задача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итеративного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буфер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7726</TotalTime>
  <Words>6686</Words>
  <Application>Microsoft Macintosh PowerPoint</Application>
  <PresentationFormat>Широкоэкранный</PresentationFormat>
  <Paragraphs>626</Paragraphs>
  <Slides>75</Slides>
  <Notes>17</Notes>
  <HiddenSlides>27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75</vt:i4>
      </vt:variant>
    </vt:vector>
  </HeadingPairs>
  <TitlesOfParts>
    <vt:vector size="87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архитектуры Трансформер</vt:lpstr>
      <vt:lpstr>Идеи Блока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371</cp:revision>
  <dcterms:created xsi:type="dcterms:W3CDTF">2021-11-21T16:45:21Z</dcterms:created>
  <dcterms:modified xsi:type="dcterms:W3CDTF">2025-08-24T08:11:54Z</dcterms:modified>
</cp:coreProperties>
</file>