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6" r:id="rId9"/>
    <p:sldId id="262" r:id="rId10"/>
    <p:sldId id="264" r:id="rId11"/>
    <p:sldId id="267" r:id="rId12"/>
    <p:sldId id="265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01" d="100"/>
          <a:sy n="101" d="100"/>
        </p:scale>
        <p:origin x="144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261137-3209-437C-83DC-F965E582BD8E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A3954E-70F5-4A80-9064-71FC5C1DF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5645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3903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6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лекции 14 из курса по анализу временных рядов для магистров изучающих статистику и имеющему следующее </a:t>
            </a:r>
            <a:r>
              <a:rPr lang="ru-RU" dirty="0" err="1"/>
              <a:t>содержение</a:t>
            </a:r>
            <a:endParaRPr lang="ru-RU" dirty="0"/>
          </a:p>
          <a:p>
            <a:r>
              <a:rPr lang="ru-RU" dirty="0"/>
              <a:t>из лекционных презентаций по следующим темам</a:t>
            </a:r>
          </a:p>
          <a:p>
            <a:r>
              <a:rPr lang="ru-RU" dirty="0"/>
              <a:t>1.1. Введение в предмет анализ временных рядов</a:t>
            </a:r>
          </a:p>
          <a:p>
            <a:r>
              <a:rPr lang="ru-RU" dirty="0"/>
              <a:t>1.2. Модели ВР и постановка задач предсказания значений ВР</a:t>
            </a:r>
          </a:p>
          <a:p>
            <a:r>
              <a:rPr lang="ru-RU" dirty="0"/>
              <a:t>1.3. Статистические свойства ВР</a:t>
            </a:r>
          </a:p>
          <a:p>
            <a:r>
              <a:rPr lang="ru-RU" dirty="0"/>
              <a:t>1.4. Разложение ВР и наивные методы предсказания</a:t>
            </a:r>
          </a:p>
          <a:p>
            <a:r>
              <a:rPr lang="ru-RU" dirty="0"/>
              <a:t>1.5. Методы на основе экспоненциального сглаживания</a:t>
            </a:r>
          </a:p>
          <a:p>
            <a:r>
              <a:rPr lang="ru-RU" dirty="0"/>
              <a:t>1.6. Методы авторегрессии-скользящего среднего.</a:t>
            </a:r>
          </a:p>
          <a:p>
            <a:r>
              <a:rPr lang="ru-RU" dirty="0"/>
              <a:t>1.7. Оценка качества предсказания ВР (метрики)</a:t>
            </a:r>
          </a:p>
          <a:p>
            <a:r>
              <a:rPr lang="ru-RU" dirty="0"/>
              <a:t>1.8. Анализ невязок предсказаний ВР (остаточная часть)</a:t>
            </a:r>
          </a:p>
          <a:p>
            <a:r>
              <a:rPr lang="ru-RU" dirty="0"/>
              <a:t>1.9. Оценка надежности предсказаний ВР</a:t>
            </a:r>
          </a:p>
          <a:p>
            <a:r>
              <a:rPr lang="ru-RU" dirty="0"/>
              <a:t>1.10. Методы предсказания ВР с использованием машинного обучения.</a:t>
            </a:r>
          </a:p>
          <a:p>
            <a:r>
              <a:rPr lang="ru-RU" dirty="0"/>
              <a:t>1.11. Методы работы с многомерными ВР</a:t>
            </a:r>
          </a:p>
          <a:p>
            <a:r>
              <a:rPr lang="ru-RU" dirty="0"/>
              <a:t>1.12. Обнаружение аномалий Во ВР</a:t>
            </a:r>
          </a:p>
          <a:p>
            <a:r>
              <a:rPr lang="ru-RU" dirty="0"/>
              <a:t>1.13. Глубокое обучение нейронных сетей в приложениях анализа ВР</a:t>
            </a:r>
          </a:p>
          <a:p>
            <a:r>
              <a:rPr lang="ru-RU" dirty="0"/>
              <a:t>1.14. Особенности работы с индустриальными ВР</a:t>
            </a:r>
          </a:p>
          <a:p>
            <a:r>
              <a:rPr lang="ru-RU" dirty="0"/>
              <a:t>1.15. Задача классификации ВР (доп. Раздел)</a:t>
            </a:r>
          </a:p>
          <a:p>
            <a:r>
              <a:rPr lang="ru-RU" dirty="0"/>
              <a:t>1.16. Задачи непараметрического анализа </a:t>
            </a:r>
            <a:r>
              <a:rPr lang="ru-RU" dirty="0" err="1"/>
              <a:t>слжных</a:t>
            </a:r>
            <a:r>
              <a:rPr lang="ru-RU" dirty="0"/>
              <a:t> ВР (доп. Раздел).</a:t>
            </a:r>
          </a:p>
          <a:p>
            <a:endParaRPr lang="ru-RU" dirty="0"/>
          </a:p>
          <a:p>
            <a:r>
              <a:rPr lang="ru-RU" dirty="0"/>
              <a:t>добавь следующие </a:t>
            </a:r>
            <a:r>
              <a:rPr lang="ru-RU" dirty="0" err="1"/>
              <a:t>подтемы</a:t>
            </a:r>
            <a:r>
              <a:rPr lang="ru-RU" dirty="0"/>
              <a:t>:</a:t>
            </a:r>
          </a:p>
          <a:p>
            <a:r>
              <a:rPr lang="ru-RU" dirty="0"/>
              <a:t>Проблема "холодного старта". </a:t>
            </a:r>
          </a:p>
          <a:p>
            <a:r>
              <a:rPr lang="ru-RU" dirty="0"/>
              <a:t>Проблема EDA – как отбирать признаки, снимать общие зависимости</a:t>
            </a:r>
          </a:p>
          <a:p>
            <a:r>
              <a:rPr lang="ru-RU" dirty="0"/>
              <a:t>Проблема больших данных – как работать с 100-нями наборов данных</a:t>
            </a:r>
          </a:p>
          <a:p>
            <a:r>
              <a:rPr lang="ru-RU" dirty="0" err="1"/>
              <a:t>АвтоМЛ</a:t>
            </a:r>
            <a:r>
              <a:rPr lang="ru-RU" dirty="0"/>
              <a:t> – как автоматизировать мониторинг</a:t>
            </a:r>
          </a:p>
          <a:p>
            <a:r>
              <a:rPr lang="ru-RU" dirty="0"/>
              <a:t>Настройка </a:t>
            </a:r>
            <a:r>
              <a:rPr lang="ru-RU" dirty="0" err="1"/>
              <a:t>пайплайна</a:t>
            </a:r>
            <a:r>
              <a:rPr lang="ru-RU" dirty="0"/>
              <a:t> предсказания ВР в поде</a:t>
            </a:r>
          </a:p>
          <a:p>
            <a:r>
              <a:rPr lang="ru-RU" dirty="0"/>
              <a:t>мониторинг моделей</a:t>
            </a:r>
          </a:p>
          <a:p>
            <a:r>
              <a:rPr lang="ru-RU" dirty="0"/>
              <a:t>Сложные данные: пространственно-временны ряды (поля)</a:t>
            </a:r>
          </a:p>
          <a:p>
            <a:r>
              <a:rPr lang="ru-RU" dirty="0"/>
              <a:t>Иерархические, групповые и другие типы ВР</a:t>
            </a:r>
          </a:p>
          <a:p>
            <a:r>
              <a:rPr lang="ru-RU" dirty="0" err="1"/>
              <a:t>TRiSM</a:t>
            </a:r>
            <a:r>
              <a:rPr lang="ru-RU" dirty="0"/>
              <a:t>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</a:t>
            </a:r>
            <a:r>
              <a:rPr lang="ru-RU" dirty="0" err="1"/>
              <a:t>Series</a:t>
            </a:r>
            <a:r>
              <a:rPr lang="ru-RU" dirty="0"/>
              <a:t> </a:t>
            </a:r>
            <a:r>
              <a:rPr lang="ru-RU" dirty="0" err="1"/>
              <a:t>Forecasting</a:t>
            </a:r>
            <a:endParaRPr lang="ru-RU" dirty="0"/>
          </a:p>
          <a:p>
            <a:endParaRPr lang="ru-RU" dirty="0"/>
          </a:p>
          <a:p>
            <a:r>
              <a:rPr lang="ru-RU" dirty="0"/>
              <a:t>в результате я хочу чтобы студенты поняли как работать с реальными задачами, которые они могут встретить в индустрии. в ответе должны быть интуиция и </a:t>
            </a:r>
            <a:r>
              <a:rPr lang="ru-RU" dirty="0" err="1"/>
              <a:t>слонжые</a:t>
            </a:r>
            <a:r>
              <a:rPr lang="ru-RU" dirty="0"/>
              <a:t> неочевидные </a:t>
            </a:r>
            <a:r>
              <a:rPr lang="ru-RU" dirty="0" err="1"/>
              <a:t>инсайты</a:t>
            </a:r>
            <a:r>
              <a:rPr lang="ru-RU" dirty="0"/>
              <a:t>. текст должен быть в строгом стиле изложения. можно делать выкладки формул. можно давать интуицию и примеры. нужно давать </a:t>
            </a:r>
            <a:r>
              <a:rPr lang="ru-RU" dirty="0" err="1"/>
              <a:t>определния</a:t>
            </a:r>
            <a:r>
              <a:rPr lang="ru-RU" dirty="0"/>
              <a:t> и ссылки на литературу 2022-2025 годов.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Цель -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формирование системного понимания промышленного прогнозирования временных рядов в задачах финансового сектора и индустрии (напр.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 отопления ЦОД – показания датчиков , задача прогноз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энергоэффективности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Тут нужно и отобрать нужные признаки и снять общие зависимости (напр. температура воздуха) и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учесть что в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цод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есть зоны охлаждения и отопления – то есть нужно </a:t>
            </a:r>
            <a:r>
              <a:rPr lang="ru-RU" sz="1200" b="0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пространнственно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временные ряды анализировать. </a:t>
            </a:r>
            <a:b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Контекст аудитории -это магистранты по прикладной статистике, 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будут работать и аналитиками и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инженеры, поэтому нужен баланс между теорией и практикой.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Акцент на неочевидные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инсайты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требование не просто пересказать методы, а объяснить, почему они работают (или не работают) в промышленности.</a:t>
            </a:r>
          </a:p>
          <a:p>
            <a:endParaRPr lang="ru-RU" dirty="0"/>
          </a:p>
          <a:p>
            <a:r>
              <a:rPr lang="ru-RU" dirty="0"/>
              <a:t>допиши </a:t>
            </a:r>
            <a:r>
              <a:rPr lang="ru-RU" dirty="0" err="1"/>
              <a:t>промпт</a:t>
            </a:r>
            <a:r>
              <a:rPr lang="ru-RU" dirty="0"/>
              <a:t> чтобы он лучше </a:t>
            </a:r>
            <a:r>
              <a:rPr lang="ru-RU" dirty="0" err="1"/>
              <a:t>соотвествовал</a:t>
            </a:r>
            <a:r>
              <a:rPr lang="ru-RU" dirty="0"/>
              <a:t> цели, уточни что еще не хватает в запросе.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A3954E-70F5-4A80-9064-71FC5C1DFC45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9511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E7DE57-E710-7372-3A8F-EF8DBB852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EE984B3-9B2F-0046-2028-291D979263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EDA703-E666-9BD7-439C-DDF1F8D22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EA4854-B9F0-57A0-2A10-4A0F816AD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60C7E2-4660-5F76-EE28-8AB3049A6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933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3EA735-34A6-735D-E519-DB9A2C909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8E56A6-4ED5-0F45-C1A4-75FCD28C8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6B8B4C-020D-66A8-2C7E-6803293D3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0A37C-19FA-222B-1453-F0CBA3EAD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8065AD-57D3-1468-430E-D3C25383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904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A663BD-720D-A16C-65F8-3738BC8EA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F9ED8A-260A-CCE0-89C9-4345E76F7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91603A-AB1C-F57E-49E0-7FE8C6774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59B26-6B4E-6DE0-2F46-63E6FE86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5CE5C1-7AC0-F795-9FFA-C224E3ABD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765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4FBCD-F6AF-3E29-FDB5-CB7363EB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60DE0C-3291-16E4-D2D9-5D5CE7928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A09A1BB-B131-439A-D713-E599B432F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74F2E39-DBB7-7415-EAED-560FFAB16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6C8353-8E8D-BC86-6C50-68105A49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652885-2B92-6663-9A89-62FB438B8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817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8F6E68-30A7-2E10-4653-950A34623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97F476-5F8C-7251-6624-81A88EB54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CF1BD9-A2EF-1F6C-F02B-46A4BBBD9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A794184-94AE-4EF1-67D0-D58890923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FE412C-1225-B0DF-E6E7-A623F9D986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98BE793-B499-3CE6-575F-3B2449E50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95F9DDE-7B43-9602-220F-A3D04CF0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F630DFF-4CB8-AD0D-35FD-DD10706F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6315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C2A1A-23ED-355D-7960-B048877C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9101F07-BA4F-3D43-CD0C-4CCD9D29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3E56143-5BF8-FE6C-9441-A1D35C0D7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4418FDF-2557-88F0-46DE-AF5F8E4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67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68527EF-A040-CDA5-1191-67068138A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D5CC8FA-46CC-4969-7DD0-DD6DBBF8E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B47FFE-BC21-0E04-D5BD-8BE9F2FF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891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41CFFE-51D6-C70E-2BE9-801E2E88F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3B57C3-0275-F84E-BB5D-CE1F2E5A6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38C01B-16B6-F0F3-A915-956274D73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F448423-F212-AF27-CCA5-421B4E188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0A5C40-DAF7-22D7-C1D6-C441D4FAA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B2811-805A-FBB1-952D-483DFB26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2591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3CC46-0E53-5FAF-31C4-386A327BC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3984A37-08FE-83E0-492F-AC14C3602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1B8996-4588-3814-5D8E-59E05A1596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F2C7F6D-7AC3-FDDF-E953-AE3E29B24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69CE0-D3CE-7AEE-178F-5AC5F810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8CA1DF-7637-6070-7074-AF242D66C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862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E0A886-3B6F-8E8A-0AD9-58F9AA0EE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5BBCB7-5BB4-C304-7BF3-FF294DCB6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DFDC2D-40C6-7013-04BD-59C828371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83C5AD-1DED-AE75-3884-30AE712B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CD4E1F-DC8F-590C-C742-5173F7C03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022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A3C1039-079F-CC64-6A4F-92EAD5B0F4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F68EC78-EDD6-423E-300B-7EA7F4E21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8D8581-E15D-3CB2-A26D-6CED5B8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D57A51-4E95-DC73-872E-07732556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515205-5DBA-FF0D-47F3-8CAC7D5B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97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289C76-70A2-444C-F128-9DF7F80E4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129CFF-0C02-A5E4-A9EE-3D0F64EB5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B16354-71F0-C81A-25B4-0F03D102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92AF9-DBCE-5A47-95E7-A99A7754377C}" type="datetimeFigureOut">
              <a:rPr lang="ru-RU" smtClean="0"/>
              <a:t>31.08.2025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F960F7-7518-F021-5134-D715536424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9D990F-6C61-E16B-45F2-C921F905A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744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D148FE-9743-29DF-6A5A-330BC9AE1A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F82B099-5C7C-1878-477D-E67AB61D83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466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3095BF-413A-BEEB-7AD9-C0EADEB3C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046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Проблема "холодного старта"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B4D110-6AC9-B872-162D-A45F91454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353" y="1189822"/>
            <a:ext cx="11809165" cy="5303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Как делать прогноз для нового объекта (нового магазина, нового пациента), по которому есть всего 10 точек данных? (напр. Запуск нового продукта на рынок)</a:t>
            </a:r>
            <a:endParaRPr lang="en-US" sz="2400" dirty="0"/>
          </a:p>
          <a:p>
            <a:r>
              <a:rPr lang="ru-RU" sz="2400" dirty="0"/>
              <a:t>Наивные методы (чем меньше параметров в модели- тем меньше данных нужно)</a:t>
            </a:r>
            <a:endParaRPr lang="en-US" sz="2400" dirty="0"/>
          </a:p>
          <a:p>
            <a:r>
              <a:rPr lang="ru-RU" sz="2400" dirty="0" err="1"/>
              <a:t>Zer</a:t>
            </a:r>
            <a:r>
              <a:rPr lang="en-US" sz="2400" dirty="0"/>
              <a:t>o-Shot forecasting (foundation models)</a:t>
            </a:r>
            <a:endParaRPr lang="ru-RU" sz="2400" dirty="0"/>
          </a:p>
          <a:p>
            <a:r>
              <a:rPr lang="ru-RU" sz="2400" dirty="0"/>
              <a:t>Использование экспертных суждений</a:t>
            </a:r>
          </a:p>
          <a:p>
            <a:r>
              <a:rPr lang="ru-RU" sz="2400" dirty="0"/>
              <a:t>Синтез данных для первоначальной модели</a:t>
            </a:r>
            <a:r>
              <a:rPr lang="en-US" sz="2400" dirty="0"/>
              <a:t> ()</a:t>
            </a:r>
          </a:p>
          <a:p>
            <a:pPr lvl="1"/>
            <a:r>
              <a:rPr lang="ru-RU" sz="2000" dirty="0"/>
              <a:t>Базисные модели как правило сами обучаются с использованием синтетических данных</a:t>
            </a:r>
          </a:p>
          <a:p>
            <a:r>
              <a:rPr lang="ru-RU" sz="2400" dirty="0"/>
              <a:t>Использование байесовских подходов, в т.ч. Если есть длинный ряд экзогенных факторов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3DF27-4574-F014-29FE-18AC4EC6A18B}"/>
              </a:ext>
            </a:extLst>
          </p:cNvPr>
          <p:cNvSpPr txBox="1"/>
          <p:nvPr/>
        </p:nvSpPr>
        <p:spPr>
          <a:xfrm>
            <a:off x="151482" y="648866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800" dirty="0"/>
              <a:t>://</a:t>
            </a:r>
            <a:r>
              <a:rPr lang="ru-RU" sz="1100" dirty="0" err="1"/>
              <a:t>arxiv.org</a:t>
            </a:r>
            <a:r>
              <a:rPr lang="ru-RU" sz="1100" dirty="0"/>
              <a:t>/</a:t>
            </a:r>
            <a:r>
              <a:rPr lang="ru-RU" sz="1100" dirty="0" err="1"/>
              <a:t>pdf</a:t>
            </a:r>
            <a:r>
              <a:rPr lang="ru-RU" sz="1100" dirty="0"/>
              <a:t>/2503.11411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021AD-3509-6791-B7D6-E5EA22FBE5FF}"/>
              </a:ext>
            </a:extLst>
          </p:cNvPr>
          <p:cNvSpPr txBox="1"/>
          <p:nvPr/>
        </p:nvSpPr>
        <p:spPr>
          <a:xfrm>
            <a:off x="3522644" y="6462445"/>
            <a:ext cx="60978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juanitorduz.github.io</a:t>
            </a:r>
            <a:r>
              <a:rPr lang="ru-RU" sz="1400" dirty="0"/>
              <a:t>/</a:t>
            </a:r>
            <a:r>
              <a:rPr lang="ru-RU" sz="1400" dirty="0" err="1"/>
              <a:t>short_time_series_pymc</a:t>
            </a:r>
            <a:r>
              <a:rPr lang="ru-RU" sz="1400" dirty="0"/>
              <a:t>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5312A2-BC60-C6FC-DD98-2A4056643CF0}"/>
              </a:ext>
            </a:extLst>
          </p:cNvPr>
          <p:cNvSpPr txBox="1"/>
          <p:nvPr/>
        </p:nvSpPr>
        <p:spPr>
          <a:xfrm>
            <a:off x="3522644" y="6088211"/>
            <a:ext cx="609783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www.pymc.io</a:t>
            </a:r>
            <a:r>
              <a:rPr lang="ru-RU" sz="1100" dirty="0"/>
              <a:t>/</a:t>
            </a:r>
            <a:r>
              <a:rPr lang="ru-RU" sz="1100" dirty="0" err="1"/>
              <a:t>projects</a:t>
            </a:r>
            <a:r>
              <a:rPr lang="ru-RU" sz="1100" dirty="0"/>
              <a:t>/</a:t>
            </a:r>
            <a:r>
              <a:rPr lang="ru-RU" sz="1100" dirty="0" err="1"/>
              <a:t>examples</a:t>
            </a:r>
            <a:r>
              <a:rPr lang="ru-RU" sz="1100" dirty="0"/>
              <a:t>/</a:t>
            </a:r>
            <a:r>
              <a:rPr lang="ru-RU" sz="1100" dirty="0" err="1"/>
              <a:t>en</a:t>
            </a:r>
            <a:r>
              <a:rPr lang="ru-RU" sz="1100" dirty="0"/>
              <a:t>/</a:t>
            </a:r>
            <a:r>
              <a:rPr lang="ru-RU" sz="1100" dirty="0" err="1"/>
              <a:t>latest</a:t>
            </a:r>
            <a:r>
              <a:rPr lang="ru-RU" sz="1100" dirty="0"/>
              <a:t>/</a:t>
            </a:r>
            <a:r>
              <a:rPr lang="ru-RU" sz="1100" dirty="0" err="1"/>
              <a:t>time_series</a:t>
            </a:r>
            <a:r>
              <a:rPr lang="ru-RU" sz="1100" dirty="0"/>
              <a:t>/</a:t>
            </a:r>
            <a:r>
              <a:rPr lang="ru-RU" sz="1100" dirty="0" err="1"/>
              <a:t>Air_passengers-Prophet_with_Bayesian_workflow.html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93488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4573" y="365126"/>
            <a:ext cx="10979227" cy="582326"/>
          </a:xfrm>
        </p:spPr>
        <p:txBody>
          <a:bodyPr>
            <a:normAutofit fontScale="90000"/>
          </a:bodyPr>
          <a:lstStyle/>
          <a:p>
            <a:r>
              <a:rPr lang="ru-RU" sz="3100" dirty="0"/>
              <a:t>Проблема </a:t>
            </a:r>
            <a:r>
              <a:rPr lang="en-US" sz="3100" dirty="0"/>
              <a:t>EDA</a:t>
            </a:r>
            <a:r>
              <a:rPr lang="ru-RU" sz="3100" dirty="0"/>
              <a:t> – как отбирать признаки, снимать общие зависимости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321" y="947452"/>
            <a:ext cx="11365908" cy="5229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Пусть есть очень многомерный временной ряд - например набор показаний 1000 датчиков. не ясно на сколько синхронно собираются данные, не ясно где пропуски или выбросы, например кто то дергал провод. как провести </a:t>
            </a:r>
            <a:r>
              <a:rPr lang="en" sz="2000" dirty="0"/>
              <a:t>EDA </a:t>
            </a:r>
            <a:r>
              <a:rPr lang="ru-RU" sz="2000" dirty="0"/>
              <a:t>такого набора. Если есть целевая переменная - например энергопотребление для датчиков системы отопления, то как отобрать нужные для нее ВР. Как проверить связи в этом всем?</a:t>
            </a:r>
          </a:p>
          <a:p>
            <a:pPr marL="0" indent="0">
              <a:buNone/>
            </a:pPr>
            <a:r>
              <a:rPr lang="ru-RU" sz="2000" dirty="0"/>
              <a:t>1. Используйте физическое описание системы: связи между ВР, физически осмысленные диапазоны значений, периоды динамики системы (</a:t>
            </a:r>
            <a:r>
              <a:rPr lang="ru-RU" sz="2000" dirty="0" err="1"/>
              <a:t>ресемплинг</a:t>
            </a:r>
            <a:r>
              <a:rPr lang="ru-RU" sz="2000" dirty="0"/>
              <a:t> с нужным шагом)</a:t>
            </a:r>
          </a:p>
          <a:p>
            <a:pPr marL="0" indent="0">
              <a:buNone/>
            </a:pPr>
            <a:r>
              <a:rPr lang="ru-RU" sz="2000" dirty="0"/>
              <a:t>2. Интерполяция и </a:t>
            </a:r>
            <a:r>
              <a:rPr lang="ru-RU" sz="2000" dirty="0" err="1"/>
              <a:t>ресемплинг</a:t>
            </a:r>
            <a:r>
              <a:rPr lang="ru-RU" sz="2000" dirty="0"/>
              <a:t> ВР, поиск аномалий и выбросов, </a:t>
            </a:r>
            <a:r>
              <a:rPr lang="ru-RU" sz="2000" dirty="0" err="1"/>
              <a:t>импутация</a:t>
            </a:r>
            <a:r>
              <a:rPr lang="ru-RU" sz="2000" dirty="0"/>
              <a:t> через интерполяцию, связи между ВР и простые модели (локальные </a:t>
            </a:r>
            <a:r>
              <a:rPr lang="en-US" sz="2000" dirty="0"/>
              <a:t>AR, ETS, </a:t>
            </a:r>
            <a:r>
              <a:rPr lang="ru-RU" sz="2000" dirty="0"/>
              <a:t>фильтрация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3. </a:t>
            </a:r>
            <a:r>
              <a:rPr lang="en-US" sz="2000" dirty="0" err="1"/>
              <a:t>А</a:t>
            </a:r>
            <a:r>
              <a:rPr lang="ru-RU" sz="2000" dirty="0" err="1"/>
              <a:t>нализ</a:t>
            </a:r>
            <a:r>
              <a:rPr lang="ru-RU" sz="2000" dirty="0"/>
              <a:t> связей между ВР и кластеризация ВР по группам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C4F738-89DA-F350-9B76-6DC6EACDA088}"/>
              </a:ext>
            </a:extLst>
          </p:cNvPr>
          <p:cNvSpPr txBox="1"/>
          <p:nvPr/>
        </p:nvSpPr>
        <p:spPr>
          <a:xfrm>
            <a:off x="209321" y="6488668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arxiv.org</a:t>
            </a:r>
            <a:r>
              <a:rPr lang="ru-RU" dirty="0"/>
              <a:t>/</a:t>
            </a:r>
            <a:r>
              <a:rPr lang="ru-RU" dirty="0" err="1"/>
              <a:t>html</a:t>
            </a:r>
            <a:r>
              <a:rPr lang="ru-RU" dirty="0"/>
              <a:t>/2403.00869v1</a:t>
            </a:r>
          </a:p>
        </p:txBody>
      </p:sp>
    </p:spTree>
    <p:extLst>
      <p:ext uri="{BB962C8B-B14F-4D97-AF65-F5344CB8AC3E}">
        <p14:creationId xmlns:p14="http://schemas.microsoft.com/office/powerpoint/2010/main" val="242796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422" y="136525"/>
            <a:ext cx="11611776" cy="727075"/>
          </a:xfrm>
        </p:spPr>
        <p:txBody>
          <a:bodyPr>
            <a:normAutofit/>
          </a:bodyPr>
          <a:lstStyle/>
          <a:p>
            <a:r>
              <a:rPr lang="ru-RU" sz="3600" dirty="0"/>
              <a:t>Проблема больших данных –с 100-нями ВР</a:t>
            </a:r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A4697383-BD24-534F-1C03-3C8FE822B8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5473711"/>
              </p:ext>
            </p:extLst>
          </p:nvPr>
        </p:nvGraphicFramePr>
        <p:xfrm>
          <a:off x="275422" y="963614"/>
          <a:ext cx="11611777" cy="10731964"/>
        </p:xfrm>
        <a:graphic>
          <a:graphicData uri="http://schemas.openxmlformats.org/drawingml/2006/table">
            <a:tbl>
              <a:tblPr/>
              <a:tblGrid>
                <a:gridCol w="1800478">
                  <a:extLst>
                    <a:ext uri="{9D8B030D-6E8A-4147-A177-3AD203B41FA5}">
                      <a16:colId xmlns:a16="http://schemas.microsoft.com/office/drawing/2014/main" val="1751435229"/>
                    </a:ext>
                  </a:extLst>
                </a:gridCol>
                <a:gridCol w="4279397">
                  <a:extLst>
                    <a:ext uri="{9D8B030D-6E8A-4147-A177-3AD203B41FA5}">
                      <a16:colId xmlns:a16="http://schemas.microsoft.com/office/drawing/2014/main" val="4134708588"/>
                    </a:ext>
                  </a:extLst>
                </a:gridCol>
                <a:gridCol w="3244338">
                  <a:extLst>
                    <a:ext uri="{9D8B030D-6E8A-4147-A177-3AD203B41FA5}">
                      <a16:colId xmlns:a16="http://schemas.microsoft.com/office/drawing/2014/main" val="1212520601"/>
                    </a:ext>
                  </a:extLst>
                </a:gridCol>
                <a:gridCol w="2287564">
                  <a:extLst>
                    <a:ext uri="{9D8B030D-6E8A-4147-A177-3AD203B41FA5}">
                      <a16:colId xmlns:a16="http://schemas.microsoft.com/office/drawing/2014/main" val="1746203298"/>
                    </a:ext>
                  </a:extLst>
                </a:gridCol>
              </a:tblGrid>
              <a:tr h="2548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Модель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Плюсы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Минусы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дообучения?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764080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ARIMA / SARIMA</a:t>
                      </a:r>
                      <a:endParaRPr lang="en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Интерпретируемость, контролируемое качество для каждого ВР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Масштабирование сложно, не учитывает </a:t>
                      </a: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межрядовые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связи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Только переобучение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562427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Prophet (</a:t>
                      </a:r>
                      <a:r>
                        <a:rPr lang="ru-RU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включая </a:t>
                      </a:r>
                      <a:r>
                        <a:rPr lang="en" sz="20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Neural Prophet)</a:t>
                      </a:r>
                      <a:endParaRPr lang="en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Хорошо с сезонностью, трендами, праздниками; устойчива к пропускам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Сложно масштабировать на 100+ рядов, медленно обучается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⚠️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Только переобучение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3820422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Exponential Smoothing (ETS)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Проста, интерпретируема, хороша для трендов/сезонности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Только для одного ряда, не учитывает внешние факторы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⚠️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Только переобучение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4476391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Linear Regression / Ridge / Lasso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Быстро, интерпретируемо, легко </a:t>
                      </a: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дообучать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(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SGD)</a:t>
                      </a:r>
                      <a:endParaRPr lang="en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Требует ручной инженерии признаков (лаги, скользящие окна)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✅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Да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SGD, partial_fit)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1547339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XGBoost / LightGBM / CatBoost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Высокая точность, работает с пропусками, нелинейности, 100+ признаков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Не "нативно" временная модель; дообучение = переобучение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⚠️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Частичное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LightGBM: init_model)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933435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LSTM / GRU (RNN)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Улавливает долгосрочные зависимости, работает с последовательностями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Сложно настраивать, требует 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GPU,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риск переобучения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⚠️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Да, но с осторожностью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drift, catastrophic forgetting)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553983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N-BEATS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State-of-the-art,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интерпретируемые компоненты (тренд, сезонность)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Требует больших данных, сложно настраивать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✅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Да (если реализовать)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257738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TFT (Temporal Fusion Transformer)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Отлично работает с статическими и динамическими признаками, интерпретация через внимательность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Очень сложна в настройке, требует большого объёма данных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✅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Да (с полным циклом)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113033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PatchTST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Простая, эффективная, устойчивая к шуму, масштабируется на 100+ рядов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Новая, требует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GPU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для больших данных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✅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Да (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fine-tuning)</a:t>
                      </a:r>
                      <a:endParaRPr lang="en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972704"/>
                  </a:ext>
                </a:extLst>
              </a:tr>
              <a:tr h="454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20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TimeGPT / Informer / Autoformer / Chronos</a:t>
                      </a:r>
                      <a:endParaRPr lang="en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Предобучена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на миллионах временных рядов,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zero-shot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прогнозирование, масштабируема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Ограниченный доступ (</a:t>
                      </a:r>
                      <a:r>
                        <a:rPr lang="en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TimeGPT — API), </a:t>
                      </a:r>
                      <a:r>
                        <a:rPr lang="ru-RU" sz="20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высокая стоимость, "чёрный ящик"</a:t>
                      </a:r>
                      <a:endParaRPr lang="ru-RU" sz="200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Apple Color Emoji" pitchFamily="2" charset="0"/>
                        </a:rPr>
                        <a:t>⚠️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Нет (только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inference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или </a:t>
                      </a:r>
                      <a:r>
                        <a:rPr lang="en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fine-tuning, </a:t>
                      </a:r>
                      <a:r>
                        <a:rPr lang="ru-RU" sz="20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если доступно)</a:t>
                      </a:r>
                      <a:endParaRPr lang="ru-RU" sz="2000" dirty="0">
                        <a:effectLst/>
                      </a:endParaRPr>
                    </a:p>
                  </a:txBody>
                  <a:tcPr marL="16762" marR="16762" marT="16762" marB="1676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222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3757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АвтоМЛ</a:t>
            </a:r>
            <a:r>
              <a:rPr lang="ru-RU" dirty="0"/>
              <a:t> – как автоматизировать мониторинг</a:t>
            </a:r>
          </a:p>
        </p:txBody>
      </p:sp>
    </p:spTree>
    <p:extLst>
      <p:ext uri="{BB962C8B-B14F-4D97-AF65-F5344CB8AC3E}">
        <p14:creationId xmlns:p14="http://schemas.microsoft.com/office/powerpoint/2010/main" val="70015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66078" y="1836382"/>
            <a:ext cx="10515600" cy="4351338"/>
          </a:xfrm>
        </p:spPr>
        <p:txBody>
          <a:bodyPr/>
          <a:lstStyle/>
          <a:p>
            <a:r>
              <a:rPr lang="ru-RU" dirty="0"/>
              <a:t>Настройка </a:t>
            </a:r>
            <a:r>
              <a:rPr lang="ru-RU" dirty="0" err="1"/>
              <a:t>пайплайна</a:t>
            </a:r>
            <a:r>
              <a:rPr lang="ru-RU" dirty="0"/>
              <a:t> предсказания ВР</a:t>
            </a:r>
          </a:p>
        </p:txBody>
      </p:sp>
    </p:spTree>
    <p:extLst>
      <p:ext uri="{BB962C8B-B14F-4D97-AF65-F5344CB8AC3E}">
        <p14:creationId xmlns:p14="http://schemas.microsoft.com/office/powerpoint/2010/main" val="158459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Сложные данные: пространственно-временны ряды (поля)</a:t>
            </a:r>
          </a:p>
        </p:txBody>
      </p:sp>
    </p:spTree>
    <p:extLst>
      <p:ext uri="{BB962C8B-B14F-4D97-AF65-F5344CB8AC3E}">
        <p14:creationId xmlns:p14="http://schemas.microsoft.com/office/powerpoint/2010/main" val="3304283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6668" y="365125"/>
            <a:ext cx="11117132" cy="54927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Вопросы мониторинга моделей</a:t>
            </a:r>
          </a:p>
        </p:txBody>
      </p:sp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887244"/>
              </p:ext>
            </p:extLst>
          </p:nvPr>
        </p:nvGraphicFramePr>
        <p:xfrm>
          <a:off x="128962" y="914400"/>
          <a:ext cx="11898088" cy="49245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69240">
                  <a:extLst>
                    <a:ext uri="{9D8B030D-6E8A-4147-A177-3AD203B41FA5}">
                      <a16:colId xmlns:a16="http://schemas.microsoft.com/office/drawing/2014/main" val="1935975110"/>
                    </a:ext>
                  </a:extLst>
                </a:gridCol>
                <a:gridCol w="5970494">
                  <a:extLst>
                    <a:ext uri="{9D8B030D-6E8A-4147-A177-3AD203B41FA5}">
                      <a16:colId xmlns:a16="http://schemas.microsoft.com/office/drawing/2014/main" val="2622498994"/>
                    </a:ext>
                  </a:extLst>
                </a:gridCol>
                <a:gridCol w="2958354">
                  <a:extLst>
                    <a:ext uri="{9D8B030D-6E8A-4147-A177-3AD203B41FA5}">
                      <a16:colId xmlns:a16="http://schemas.microsoft.com/office/drawing/2014/main" val="3563236697"/>
                    </a:ext>
                  </a:extLst>
                </a:gridCol>
              </a:tblGrid>
              <a:tr h="11603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Элемент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Почему важен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Методы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анализа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453931446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Explainability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 интерпретируемость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 индустрии модели должны быть понятны бизнесу. Особенно для регулируемых отраслей (финансы, здравоохранение).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SHAP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LIME, </a:t>
                      </a:r>
                      <a:r>
                        <a:rPr lang="en-US" sz="2000" u="none" strike="noStrike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att.weights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другие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984908693"/>
                  </a:ext>
                </a:extLst>
              </a:tr>
              <a:tr h="3421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Cost-sensitive forecasting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 все ошибки одинаково дороги. Например, недооценка спроса в ритейле дороже переоценки.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Включить в метрики: асимметричные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лоссы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pinball loss,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</a:t>
                      </a:r>
                      <a:r>
                        <a:rPr lang="ru-RU" sz="2000" u="none" strike="noStrike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3628180001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Интерактивная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валидация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и A/B-тестирование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нельзя полагаться только на RMSE. Нужно тестирование на реальных решениях.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Добавить: </a:t>
                      </a:r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A/B-</a:t>
                      </a:r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тесты, скрытые тесты и </a:t>
                      </a:r>
                      <a:r>
                        <a:rPr lang="ru-RU" sz="20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2713287584"/>
                  </a:ext>
                </a:extLst>
              </a:tr>
              <a:tr h="45527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Работа с разреженными и нерегулярными временными рядами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Например, датчики с пропусками, события с переменной частотой.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Методы интерполяции,</a:t>
                      </a:r>
                      <a:r>
                        <a:rPr lang="ru-RU" sz="2000" u="none" strike="noStrike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заполнение пропусков, поиск выбросов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152925224"/>
                  </a:ext>
                </a:extLst>
              </a:tr>
              <a:tr h="568350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Культурные и организационные аспекты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Даже лучшая модель провалится, если бизнес её не принимает.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collaboration between data scientists and domain experts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964" marR="7964" marT="7964" marB="0" anchor="b"/>
                </a:tc>
                <a:extLst>
                  <a:ext uri="{0D108BD9-81ED-4DB2-BD59-A6C34878D82A}">
                    <a16:rowId xmlns:a16="http://schemas.microsoft.com/office/drawing/2014/main" val="1004849099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128962" y="6336830"/>
            <a:ext cx="34120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https://arxiv.org/pdf/2407.15909</a:t>
            </a:r>
          </a:p>
        </p:txBody>
      </p:sp>
    </p:spTree>
    <p:extLst>
      <p:ext uri="{BB962C8B-B14F-4D97-AF65-F5344CB8AC3E}">
        <p14:creationId xmlns:p14="http://schemas.microsoft.com/office/powerpoint/2010/main" val="3665195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Иерархические, групповые и другие типы ВР</a:t>
            </a:r>
          </a:p>
        </p:txBody>
      </p:sp>
    </p:spTree>
    <p:extLst>
      <p:ext uri="{BB962C8B-B14F-4D97-AF65-F5344CB8AC3E}">
        <p14:creationId xmlns:p14="http://schemas.microsoft.com/office/powerpoint/2010/main" val="1590225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TRiSM</a:t>
            </a:r>
            <a:r>
              <a:rPr lang="en-US" dirty="0"/>
              <a:t> of Time Series Forecasting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4626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Синтетические данные, </a:t>
            </a:r>
            <a:r>
              <a:rPr lang="en-US" dirty="0"/>
              <a:t>zero-shot, </a:t>
            </a:r>
            <a:r>
              <a:rPr lang="ru-RU" dirty="0"/>
              <a:t>цифровые двойники</a:t>
            </a:r>
          </a:p>
        </p:txBody>
      </p:sp>
    </p:spTree>
    <p:extLst>
      <p:ext uri="{BB962C8B-B14F-4D97-AF65-F5344CB8AC3E}">
        <p14:creationId xmlns:p14="http://schemas.microsoft.com/office/powerpoint/2010/main" val="191314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05916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1211</Words>
  <Application>Microsoft Macintosh PowerPoint</Application>
  <PresentationFormat>Широкоэкранный</PresentationFormat>
  <Paragraphs>126</Paragraphs>
  <Slides>12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Apple Color Emoji</vt:lpstr>
      <vt:lpstr>Aptos</vt:lpstr>
      <vt:lpstr>Aptos Display</vt:lpstr>
      <vt:lpstr>Arial</vt:lpstr>
      <vt:lpstr>Calibri</vt:lpstr>
      <vt:lpstr>Helvetica Neue</vt:lpstr>
      <vt:lpstr>Тема Office</vt:lpstr>
      <vt:lpstr>Презентация PowerPoint</vt:lpstr>
      <vt:lpstr>Проблема "холодного старта"</vt:lpstr>
      <vt:lpstr>Проблема EDA – как отбирать признаки, снимать общие зависимости</vt:lpstr>
      <vt:lpstr>Проблема больших данных –с 100-нями ВР</vt:lpstr>
      <vt:lpstr>Презентация PowerPoint</vt:lpstr>
      <vt:lpstr>Презентация PowerPoint</vt:lpstr>
      <vt:lpstr>Презентация PowerPoint</vt:lpstr>
      <vt:lpstr>Вопросы мониторинга моделей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11</cp:revision>
  <dcterms:created xsi:type="dcterms:W3CDTF">2025-08-24T09:08:13Z</dcterms:created>
  <dcterms:modified xsi:type="dcterms:W3CDTF">2025-08-31T08:51:01Z</dcterms:modified>
</cp:coreProperties>
</file>