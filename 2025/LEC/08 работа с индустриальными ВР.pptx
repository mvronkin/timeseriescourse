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6" r:id="rId9"/>
    <p:sldId id="262" r:id="rId10"/>
    <p:sldId id="264" r:id="rId11"/>
    <p:sldId id="267" r:id="rId12"/>
    <p:sldId id="265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>
        <p:scale>
          <a:sx n="75" d="100"/>
          <a:sy n="75" d="100"/>
        </p:scale>
        <p:origin x="612" y="9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261137-3209-437C-83DC-F965E582BD8E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A3954E-70F5-4A80-9064-71FC5C1DF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5645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для лекции 14 из курса по анализу временных рядов для магистров изучающих статистику и имеющему следующее </a:t>
            </a:r>
            <a:r>
              <a:rPr lang="ru-RU" dirty="0" err="1" smtClean="0"/>
              <a:t>содержение</a:t>
            </a:r>
            <a:endParaRPr lang="ru-RU" dirty="0" smtClean="0"/>
          </a:p>
          <a:p>
            <a:r>
              <a:rPr lang="ru-RU" dirty="0" smtClean="0"/>
              <a:t>из лекционных презентаций по следующим темам</a:t>
            </a:r>
          </a:p>
          <a:p>
            <a:r>
              <a:rPr lang="ru-RU" dirty="0" smtClean="0"/>
              <a:t>1.1. Введение в предмет анализ временных рядов</a:t>
            </a:r>
          </a:p>
          <a:p>
            <a:r>
              <a:rPr lang="ru-RU" dirty="0" smtClean="0"/>
              <a:t>1.2. Модели ВР и постановка задач предсказания значений ВР</a:t>
            </a:r>
          </a:p>
          <a:p>
            <a:r>
              <a:rPr lang="ru-RU" dirty="0" smtClean="0"/>
              <a:t>1.3. Статистические свойства ВР</a:t>
            </a:r>
          </a:p>
          <a:p>
            <a:r>
              <a:rPr lang="ru-RU" dirty="0" smtClean="0"/>
              <a:t>1.4. Разложение ВР и наивные методы предсказания</a:t>
            </a:r>
          </a:p>
          <a:p>
            <a:r>
              <a:rPr lang="ru-RU" dirty="0" smtClean="0"/>
              <a:t>1.5. Методы на основе экспоненциального сглаживания</a:t>
            </a:r>
          </a:p>
          <a:p>
            <a:r>
              <a:rPr lang="ru-RU" dirty="0" smtClean="0"/>
              <a:t>1.6. Методы авторегрессии-скользящего среднего.</a:t>
            </a:r>
          </a:p>
          <a:p>
            <a:r>
              <a:rPr lang="ru-RU" dirty="0" smtClean="0"/>
              <a:t>1.7. Оценка качества предсказания ВР (метрики)</a:t>
            </a:r>
          </a:p>
          <a:p>
            <a:r>
              <a:rPr lang="ru-RU" dirty="0" smtClean="0"/>
              <a:t>1.8. Анализ невязок предсказаний ВР (остаточная часть)</a:t>
            </a:r>
          </a:p>
          <a:p>
            <a:r>
              <a:rPr lang="ru-RU" dirty="0" smtClean="0"/>
              <a:t>1.9. Оценка надежности предсказаний ВР</a:t>
            </a:r>
          </a:p>
          <a:p>
            <a:r>
              <a:rPr lang="ru-RU" dirty="0" smtClean="0"/>
              <a:t>1.10. Методы предсказания ВР с использованием машинного обучения.</a:t>
            </a:r>
          </a:p>
          <a:p>
            <a:r>
              <a:rPr lang="ru-RU" dirty="0" smtClean="0"/>
              <a:t>1.11. Методы работы с многомерными ВР</a:t>
            </a:r>
          </a:p>
          <a:p>
            <a:r>
              <a:rPr lang="ru-RU" dirty="0" smtClean="0"/>
              <a:t>1.12. Обнаружение аномалий Во ВР</a:t>
            </a:r>
          </a:p>
          <a:p>
            <a:r>
              <a:rPr lang="ru-RU" dirty="0" smtClean="0"/>
              <a:t>1.13. Глубокое обучение нейронных сетей в приложениях анализа ВР</a:t>
            </a:r>
          </a:p>
          <a:p>
            <a:r>
              <a:rPr lang="ru-RU" dirty="0" smtClean="0"/>
              <a:t>1.14. Особенности работы с индустриальными ВР</a:t>
            </a:r>
          </a:p>
          <a:p>
            <a:r>
              <a:rPr lang="ru-RU" dirty="0" smtClean="0"/>
              <a:t>1.15. Задача классификации ВР (доп. Раздел)</a:t>
            </a:r>
          </a:p>
          <a:p>
            <a:r>
              <a:rPr lang="ru-RU" dirty="0" smtClean="0"/>
              <a:t>1.16. Задачи непараметрического анализа </a:t>
            </a:r>
            <a:r>
              <a:rPr lang="ru-RU" dirty="0" err="1" smtClean="0"/>
              <a:t>слжных</a:t>
            </a:r>
            <a:r>
              <a:rPr lang="ru-RU" dirty="0" smtClean="0"/>
              <a:t> ВР (доп. Раздел).</a:t>
            </a:r>
          </a:p>
          <a:p>
            <a:endParaRPr lang="ru-RU" dirty="0" smtClean="0"/>
          </a:p>
          <a:p>
            <a:r>
              <a:rPr lang="ru-RU" dirty="0" smtClean="0"/>
              <a:t>добавь следующие </a:t>
            </a:r>
            <a:r>
              <a:rPr lang="ru-RU" dirty="0" err="1" smtClean="0"/>
              <a:t>подтемы</a:t>
            </a:r>
            <a:r>
              <a:rPr lang="ru-RU" dirty="0" smtClean="0"/>
              <a:t>:</a:t>
            </a:r>
          </a:p>
          <a:p>
            <a:r>
              <a:rPr lang="ru-RU" dirty="0" smtClean="0"/>
              <a:t>Проблема "холодного старта". </a:t>
            </a:r>
          </a:p>
          <a:p>
            <a:r>
              <a:rPr lang="ru-RU" dirty="0" smtClean="0"/>
              <a:t>Проблема EDA – как отбирать признаки, снимать общие зависимости</a:t>
            </a:r>
          </a:p>
          <a:p>
            <a:r>
              <a:rPr lang="ru-RU" dirty="0" smtClean="0"/>
              <a:t>Проблема больших данных – как работать с 100-нями наборов данных</a:t>
            </a:r>
          </a:p>
          <a:p>
            <a:r>
              <a:rPr lang="ru-RU" dirty="0" err="1" smtClean="0"/>
              <a:t>АвтоМЛ</a:t>
            </a:r>
            <a:r>
              <a:rPr lang="ru-RU" dirty="0" smtClean="0"/>
              <a:t> – как автоматизировать мониторинг</a:t>
            </a:r>
          </a:p>
          <a:p>
            <a:r>
              <a:rPr lang="ru-RU" dirty="0" smtClean="0"/>
              <a:t>Настройка </a:t>
            </a:r>
            <a:r>
              <a:rPr lang="ru-RU" dirty="0" err="1" smtClean="0"/>
              <a:t>пайплайна</a:t>
            </a:r>
            <a:r>
              <a:rPr lang="ru-RU" dirty="0" smtClean="0"/>
              <a:t> предсказания ВР в поде</a:t>
            </a:r>
          </a:p>
          <a:p>
            <a:r>
              <a:rPr lang="ru-RU" dirty="0" smtClean="0"/>
              <a:t>мониторинг моделей</a:t>
            </a:r>
          </a:p>
          <a:p>
            <a:r>
              <a:rPr lang="ru-RU" dirty="0" smtClean="0"/>
              <a:t>Сложные данные: пространственно-временны ряды (поля)</a:t>
            </a:r>
          </a:p>
          <a:p>
            <a:r>
              <a:rPr lang="ru-RU" dirty="0" smtClean="0"/>
              <a:t>Иерархические, групповые и другие типы ВР</a:t>
            </a:r>
          </a:p>
          <a:p>
            <a:r>
              <a:rPr lang="ru-RU" dirty="0" err="1" smtClean="0"/>
              <a:t>TRiSM</a:t>
            </a:r>
            <a:r>
              <a:rPr lang="ru-RU" dirty="0" smtClean="0"/>
              <a:t> </a:t>
            </a:r>
            <a:r>
              <a:rPr lang="ru-RU" dirty="0" err="1" smtClean="0"/>
              <a:t>of</a:t>
            </a:r>
            <a:r>
              <a:rPr lang="ru-RU" dirty="0" smtClean="0"/>
              <a:t> </a:t>
            </a:r>
            <a:r>
              <a:rPr lang="ru-RU" dirty="0" err="1" smtClean="0"/>
              <a:t>Time</a:t>
            </a:r>
            <a:r>
              <a:rPr lang="ru-RU" dirty="0" smtClean="0"/>
              <a:t> </a:t>
            </a:r>
            <a:r>
              <a:rPr lang="ru-RU" dirty="0" err="1" smtClean="0"/>
              <a:t>Series</a:t>
            </a:r>
            <a:r>
              <a:rPr lang="ru-RU" dirty="0" smtClean="0"/>
              <a:t> </a:t>
            </a:r>
            <a:r>
              <a:rPr lang="ru-RU" dirty="0" err="1" smtClean="0"/>
              <a:t>Forecasting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в результате я хочу чтобы студенты поняли как работать с реальными задачами, которые они могут встретить в индустрии. в ответе должны быть интуиция и </a:t>
            </a:r>
            <a:r>
              <a:rPr lang="ru-RU" dirty="0" err="1" smtClean="0"/>
              <a:t>слонжые</a:t>
            </a:r>
            <a:r>
              <a:rPr lang="ru-RU" dirty="0" smtClean="0"/>
              <a:t> неочевидные </a:t>
            </a:r>
            <a:r>
              <a:rPr lang="ru-RU" dirty="0" err="1" smtClean="0"/>
              <a:t>инсайты</a:t>
            </a:r>
            <a:r>
              <a:rPr lang="ru-RU" dirty="0" smtClean="0"/>
              <a:t>. текст должен быть в строгом стиле изложения. можно делать выкладки формул. можно давать интуицию и примеры. нужно давать </a:t>
            </a:r>
            <a:r>
              <a:rPr lang="ru-RU" dirty="0" err="1" smtClean="0"/>
              <a:t>определния</a:t>
            </a:r>
            <a:r>
              <a:rPr lang="ru-RU" dirty="0" smtClean="0"/>
              <a:t> и ссылки на литературу 2022-2025 годов.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Цель -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формирование системного понимания промышленного прогнозирования временных рядов в задачах финансового сектора и индустрии (напр.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системы отопления ЦОД – показания датчиков , задача прогноз </a:t>
            </a:r>
            <a:r>
              <a:rPr lang="ru-RU" sz="1200" b="0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энергоэффективности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Тут нужно и отобрать нужные признаки и снять общие зависимости (напр. температура воздуха) и </a:t>
            </a:r>
            <a:r>
              <a:rPr lang="ru-RU" sz="1200" b="0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можнт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быть учесть что в </a:t>
            </a:r>
            <a:r>
              <a:rPr lang="ru-RU" sz="1200" b="0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цод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есть зоны охлаждения и отопления – то есть нужно </a:t>
            </a:r>
            <a:r>
              <a:rPr lang="ru-RU" sz="1200" b="0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пространнственно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временные ряды анализировать. </a:t>
            </a:r>
            <a:b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Контекст аудитории -это магистранты по прикладной статистике, но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будут работать и аналитиками и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инженеры, поэтому нужен баланс между теорией и практикой.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Акцент на неочевидные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инсайты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требование не просто пересказать методы, а объяснить, почему они работают (или не работают) в промышленности.</a:t>
            </a:r>
          </a:p>
          <a:p>
            <a:endParaRPr lang="ru-RU" dirty="0" smtClean="0"/>
          </a:p>
          <a:p>
            <a:r>
              <a:rPr lang="ru-RU" dirty="0" smtClean="0"/>
              <a:t>допиши </a:t>
            </a:r>
            <a:r>
              <a:rPr lang="ru-RU" dirty="0" err="1" smtClean="0"/>
              <a:t>промпт</a:t>
            </a:r>
            <a:r>
              <a:rPr lang="ru-RU" dirty="0" smtClean="0"/>
              <a:t> чтобы он лучше </a:t>
            </a:r>
            <a:r>
              <a:rPr lang="ru-RU" dirty="0" err="1" smtClean="0"/>
              <a:t>соотвествовал</a:t>
            </a:r>
            <a:r>
              <a:rPr lang="ru-RU" dirty="0" smtClean="0"/>
              <a:t> цели, уточни что еще не хватает в запросе.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A3954E-70F5-4A80-9064-71FC5C1DFC45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9511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E7DE57-E710-7372-3A8F-EF8DBB8528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EE984B3-9B2F-0046-2028-291D979263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EDA703-E666-9BD7-439C-DDF1F8D22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92AF9-DBCE-5A47-95E7-A99A7754377C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EA4854-B9F0-57A0-2A10-4A0F816AD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60C7E2-4660-5F76-EE28-8AB3049A6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49B28-DCAB-1C43-8F90-A3A5A76638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9336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3EA735-34A6-735D-E519-DB9A2C909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8E56A6-4ED5-0F45-C1A4-75FCD28C8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6B8B4C-020D-66A8-2C7E-6803293D3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92AF9-DBCE-5A47-95E7-A99A7754377C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10A37C-19FA-222B-1453-F0CBA3EAD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8065AD-57D3-1468-430E-D3C253839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49B28-DCAB-1C43-8F90-A3A5A76638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904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A663BD-720D-A16C-65F8-3738BC8EA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5F9ED8A-260A-CCE0-89C9-4345E76F7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91603A-AB1C-F57E-49E0-7FE8C6774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92AF9-DBCE-5A47-95E7-A99A7754377C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559B26-6B4E-6DE0-2F46-63E6FE86A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5CE5C1-7AC0-F795-9FFA-C224E3ABD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49B28-DCAB-1C43-8F90-A3A5A76638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0765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B4FBCD-F6AF-3E29-FDB5-CB7363EB5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60DE0C-3291-16E4-D2D9-5D5CE7928D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A09A1BB-B131-439A-D713-E599B432F7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74F2E39-DBB7-7415-EAED-560FFAB16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92AF9-DBCE-5A47-95E7-A99A7754377C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C6C8353-8E8D-BC86-6C50-68105A499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E652885-2B92-6663-9A89-62FB438B8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49B28-DCAB-1C43-8F90-A3A5A76638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8174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8F6E68-30A7-2E10-4653-950A34623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97F476-5F8C-7251-6624-81A88EB54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3CF1BD9-A2EF-1F6C-F02B-46A4BBBD9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A794184-94AE-4EF1-67D0-D58890923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0FE412C-1225-B0DF-E6E7-A623F9D986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98BE793-B499-3CE6-575F-3B2449E50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92AF9-DBCE-5A47-95E7-A99A7754377C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95F9DDE-7B43-9602-220F-A3D04CF02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F630DFF-4CB8-AD0D-35FD-DD10706F4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49B28-DCAB-1C43-8F90-A3A5A76638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6315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C2A1A-23ED-355D-7960-B048877CA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9101F07-BA4F-3D43-CD0C-4CCD9D29B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92AF9-DBCE-5A47-95E7-A99A7754377C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3E56143-5BF8-FE6C-9441-A1D35C0D7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4418FDF-2557-88F0-46DE-AF5F8E45B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49B28-DCAB-1C43-8F90-A3A5A76638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6671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68527EF-A040-CDA5-1191-67068138A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92AF9-DBCE-5A47-95E7-A99A7754377C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D5CC8FA-46CC-4969-7DD0-DD6DBBF8E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B47FFE-BC21-0E04-D5BD-8BE9F2FF9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49B28-DCAB-1C43-8F90-A3A5A76638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891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41CFFE-51D6-C70E-2BE9-801E2E88F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3B57C3-0275-F84E-BB5D-CE1F2E5A6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A38C01B-16B6-F0F3-A915-956274D73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F448423-F212-AF27-CCA5-421B4E188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92AF9-DBCE-5A47-95E7-A99A7754377C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B0A5C40-DAF7-22D7-C1D6-C441D4FAA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EAB2811-805A-FBB1-952D-483DFB261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49B28-DCAB-1C43-8F90-A3A5A76638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2591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3CC46-0E53-5FAF-31C4-386A327BC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3984A37-08FE-83E0-492F-AC14C36027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81B8996-4588-3814-5D8E-59E05A1596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F2C7F6D-7AC3-FDDF-E953-AE3E29B24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92AF9-DBCE-5A47-95E7-A99A7754377C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F069CE0-D3CE-7AEE-178F-5AC5F810F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8CA1DF-7637-6070-7074-AF242D66C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49B28-DCAB-1C43-8F90-A3A5A76638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9862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E0A886-3B6F-8E8A-0AD9-58F9AA0EE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75BBCB7-5BB4-C304-7BF3-FF294DCB6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DFDC2D-40C6-7013-04BD-59C828371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92AF9-DBCE-5A47-95E7-A99A7754377C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83C5AD-1DED-AE75-3884-30AE712BE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CD4E1F-DC8F-590C-C742-5173F7C03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49B28-DCAB-1C43-8F90-A3A5A76638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0225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A3C1039-079F-CC64-6A4F-92EAD5B0F4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F68EC78-EDD6-423E-300B-7EA7F4E21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8D8581-E15D-3CB2-A26D-6CED5B81A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92AF9-DBCE-5A47-95E7-A99A7754377C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D57A51-4E95-DC73-872E-07732556A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515205-5DBA-FF0D-47F3-8CAC7D5BE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49B28-DCAB-1C43-8F90-A3A5A76638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897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289C76-70A2-444C-F128-9DF7F80E4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129CFF-0C02-A5E4-A9EE-3D0F64EB5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B16354-71F0-C81A-25B4-0F03D10259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392AF9-DBCE-5A47-95E7-A99A7754377C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F960F7-7518-F021-5134-D715536424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9D990F-6C61-E16B-45F2-C921F905A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649B28-DCAB-1C43-8F90-A3A5A76638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7443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D148FE-9743-29DF-6A5A-330BC9AE1A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F82B099-5C7C-1878-477D-E67AB61D83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6466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3095BF-413A-BEEB-7AD9-C0EADEB3C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B4D110-6AC9-B872-162D-A45F91454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Проблема "холодного </a:t>
            </a:r>
            <a:r>
              <a:rPr lang="ru-RU" dirty="0" smtClean="0"/>
              <a:t>старта</a:t>
            </a:r>
            <a:r>
              <a:rPr lang="ru-RU" dirty="0"/>
              <a:t>". Как делать прогноз для нового объекта (нового магазина, нового пациента), по которому есть всего 10 точек данных?</a:t>
            </a:r>
          </a:p>
        </p:txBody>
      </p:sp>
    </p:spTree>
    <p:extLst>
      <p:ext uri="{BB962C8B-B14F-4D97-AF65-F5344CB8AC3E}">
        <p14:creationId xmlns:p14="http://schemas.microsoft.com/office/powerpoint/2010/main" val="1934884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737028" cy="4351338"/>
          </a:xfrm>
        </p:spPr>
        <p:txBody>
          <a:bodyPr/>
          <a:lstStyle/>
          <a:p>
            <a:r>
              <a:rPr lang="ru-RU" dirty="0" smtClean="0"/>
              <a:t>Проблема </a:t>
            </a:r>
            <a:r>
              <a:rPr lang="en-US" dirty="0" smtClean="0"/>
              <a:t>EDA</a:t>
            </a:r>
            <a:r>
              <a:rPr lang="ru-RU" dirty="0" smtClean="0"/>
              <a:t> – как отбирать признаки, снимать общие зависимости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7968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Проблема больших данных – как работать с 100-нями наборов данных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3757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 smtClean="0"/>
              <a:t>АвтоМЛ</a:t>
            </a:r>
            <a:r>
              <a:rPr lang="ru-RU" dirty="0" smtClean="0"/>
              <a:t> – как автоматизировать мониторинг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0151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66078" y="1836382"/>
            <a:ext cx="10515600" cy="4351338"/>
          </a:xfrm>
        </p:spPr>
        <p:txBody>
          <a:bodyPr/>
          <a:lstStyle/>
          <a:p>
            <a:r>
              <a:rPr lang="ru-RU" dirty="0" smtClean="0"/>
              <a:t>Настройка </a:t>
            </a:r>
            <a:r>
              <a:rPr lang="ru-RU" dirty="0" err="1" smtClean="0"/>
              <a:t>пайплайна</a:t>
            </a:r>
            <a:r>
              <a:rPr lang="ru-RU" dirty="0" smtClean="0"/>
              <a:t> предсказания ВР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4594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Сложные данные: пространственно-временны ряды (поля)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4283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6668" y="365125"/>
            <a:ext cx="11117132" cy="549275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Вопросы мониторинга моделей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887244"/>
              </p:ext>
            </p:extLst>
          </p:nvPr>
        </p:nvGraphicFramePr>
        <p:xfrm>
          <a:off x="128962" y="914400"/>
          <a:ext cx="11898088" cy="492458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969240">
                  <a:extLst>
                    <a:ext uri="{9D8B030D-6E8A-4147-A177-3AD203B41FA5}">
                      <a16:colId xmlns:a16="http://schemas.microsoft.com/office/drawing/2014/main" val="1935975110"/>
                    </a:ext>
                  </a:extLst>
                </a:gridCol>
                <a:gridCol w="5970494">
                  <a:extLst>
                    <a:ext uri="{9D8B030D-6E8A-4147-A177-3AD203B41FA5}">
                      <a16:colId xmlns:a16="http://schemas.microsoft.com/office/drawing/2014/main" val="2622498994"/>
                    </a:ext>
                  </a:extLst>
                </a:gridCol>
                <a:gridCol w="2958354">
                  <a:extLst>
                    <a:ext uri="{9D8B030D-6E8A-4147-A177-3AD203B41FA5}">
                      <a16:colId xmlns:a16="http://schemas.microsoft.com/office/drawing/2014/main" val="3563236697"/>
                    </a:ext>
                  </a:extLst>
                </a:gridCol>
              </a:tblGrid>
              <a:tr h="116034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Элемент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964" marR="7964" marT="79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Почему важен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964" marR="7964" marT="79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Методы</a:t>
                      </a:r>
                      <a:r>
                        <a:rPr lang="ru-RU" sz="2000" u="none" strike="noStrike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анализа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964" marR="7964" marT="7964" marB="0" anchor="b"/>
                </a:tc>
                <a:extLst>
                  <a:ext uri="{0D108BD9-81ED-4DB2-BD59-A6C34878D82A}">
                    <a16:rowId xmlns:a16="http://schemas.microsoft.com/office/drawing/2014/main" val="1453931446"/>
                  </a:ext>
                </a:extLst>
              </a:tr>
              <a:tr h="4552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Explainability</a:t>
                      </a:r>
                      <a:r>
                        <a:rPr lang="en-US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 интерпретируемость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964" marR="7964" marT="79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 индустрии модели должны быть понятны бизнесу. Особенно для регулируемых отраслей (финансы, здравоохранение).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964" marR="7964" marT="79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SHAP</a:t>
                      </a:r>
                      <a:r>
                        <a:rPr lang="ru-RU" sz="20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  <a:r>
                        <a:rPr lang="ru-RU" sz="2000" u="none" strike="noStrike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u="none" strike="noStrike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LIME, </a:t>
                      </a:r>
                      <a:r>
                        <a:rPr lang="en-US" sz="2000" u="none" strike="noStrike" baseline="0" dirty="0" err="1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att.weights</a:t>
                      </a:r>
                      <a:r>
                        <a:rPr lang="ru-RU" sz="2000" u="none" strike="noStrike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и другие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964" marR="7964" marT="7964" marB="0" anchor="b"/>
                </a:tc>
                <a:extLst>
                  <a:ext uri="{0D108BD9-81ED-4DB2-BD59-A6C34878D82A}">
                    <a16:rowId xmlns:a16="http://schemas.microsoft.com/office/drawing/2014/main" val="1984908693"/>
                  </a:ext>
                </a:extLst>
              </a:tr>
              <a:tr h="3421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Cost-sensitive forecasting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964" marR="7964" marT="79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 все ошибки одинаково дороги. Например, недооценка спроса в ритейле дороже переоценки.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964" marR="7964" marT="79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Включить в метрики: </a:t>
                      </a:r>
                      <a:r>
                        <a:rPr lang="ru-RU" sz="20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асимметричные </a:t>
                      </a:r>
                      <a:r>
                        <a:rPr lang="ru-RU" sz="20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лоссы</a:t>
                      </a:r>
                      <a:r>
                        <a:rPr lang="ru-RU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pinball loss,</a:t>
                      </a:r>
                      <a:r>
                        <a:rPr lang="ru-RU" sz="2000" u="none" strike="noStrike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и </a:t>
                      </a:r>
                      <a:r>
                        <a:rPr lang="ru-RU" sz="2000" u="none" strike="noStrike" baseline="0" dirty="0" err="1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тд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964" marR="7964" marT="7964" marB="0" anchor="b"/>
                </a:tc>
                <a:extLst>
                  <a:ext uri="{0D108BD9-81ED-4DB2-BD59-A6C34878D82A}">
                    <a16:rowId xmlns:a16="http://schemas.microsoft.com/office/drawing/2014/main" val="3628180001"/>
                  </a:ext>
                </a:extLst>
              </a:tr>
              <a:tr h="455271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Интерактивная </a:t>
                      </a:r>
                      <a:r>
                        <a:rPr lang="ru-RU" sz="20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валидация</a:t>
                      </a:r>
                      <a:r>
                        <a:rPr lang="ru-RU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и A/B-тестирование моделей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964" marR="7964" marT="79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 </a:t>
                      </a:r>
                      <a:r>
                        <a:rPr lang="ru-RU" sz="20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production</a:t>
                      </a:r>
                      <a:r>
                        <a:rPr lang="ru-RU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нельзя полагаться только на RMSE. Нужно тестирование на реальных решениях.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964" marR="7964" marT="79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Добавить: </a:t>
                      </a:r>
                      <a:r>
                        <a:rPr lang="en-US" sz="20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A/B-</a:t>
                      </a:r>
                      <a:r>
                        <a:rPr lang="ru-RU" sz="20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тесты, скрытые тесты и </a:t>
                      </a:r>
                      <a:r>
                        <a:rPr lang="ru-RU" sz="2000" u="none" strike="noStrike" dirty="0" err="1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тд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964" marR="7964" marT="7964" marB="0" anchor="b"/>
                </a:tc>
                <a:extLst>
                  <a:ext uri="{0D108BD9-81ED-4DB2-BD59-A6C34878D82A}">
                    <a16:rowId xmlns:a16="http://schemas.microsoft.com/office/drawing/2014/main" val="2713287584"/>
                  </a:ext>
                </a:extLst>
              </a:tr>
              <a:tr h="455271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Работа с разреженными и нерегулярными временными рядами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964" marR="7964" marT="79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Например, датчики с пропусками, события с переменной частотой.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964" marR="7964" marT="79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Методы интерполяции,</a:t>
                      </a:r>
                      <a:r>
                        <a:rPr lang="ru-RU" sz="2000" u="none" strike="noStrike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заполнение пропусков, поиск выбросов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964" marR="7964" marT="7964" marB="0" anchor="b"/>
                </a:tc>
                <a:extLst>
                  <a:ext uri="{0D108BD9-81ED-4DB2-BD59-A6C34878D82A}">
                    <a16:rowId xmlns:a16="http://schemas.microsoft.com/office/drawing/2014/main" val="1152925224"/>
                  </a:ext>
                </a:extLst>
              </a:tr>
              <a:tr h="56835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Культурные и организационные аспекты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964" marR="7964" marT="79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Даже лучшая модель провалится, если бизнес её не принимает.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964" marR="7964" marT="79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collaboration </a:t>
                      </a:r>
                      <a:r>
                        <a:rPr lang="en-US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between data scientists and domain experts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964" marR="7964" marT="7964" marB="0" anchor="b"/>
                </a:tc>
                <a:extLst>
                  <a:ext uri="{0D108BD9-81ED-4DB2-BD59-A6C34878D82A}">
                    <a16:rowId xmlns:a16="http://schemas.microsoft.com/office/drawing/2014/main" val="1004849099"/>
                  </a:ext>
                </a:extLst>
              </a:tr>
            </a:tbl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128962" y="6336830"/>
            <a:ext cx="34120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https://arxiv.org/pdf/2407.15909</a:t>
            </a:r>
          </a:p>
        </p:txBody>
      </p:sp>
    </p:spTree>
    <p:extLst>
      <p:ext uri="{BB962C8B-B14F-4D97-AF65-F5344CB8AC3E}">
        <p14:creationId xmlns:p14="http://schemas.microsoft.com/office/powerpoint/2010/main" val="3665195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Иерархические, групповые и другие типы ВР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0225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TRiSM</a:t>
            </a:r>
            <a:r>
              <a:rPr lang="en-US" dirty="0" smtClean="0"/>
              <a:t> of Time Series Forecasting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4626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Синтетические данные, </a:t>
            </a:r>
            <a:r>
              <a:rPr lang="en-US" dirty="0" smtClean="0"/>
              <a:t>zero-shot, </a:t>
            </a:r>
            <a:r>
              <a:rPr lang="ru-RU" dirty="0" smtClean="0"/>
              <a:t>цифровые двойники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3143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0591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566</Words>
  <Application>Microsoft Office PowerPoint</Application>
  <PresentationFormat>Широкоэкранный</PresentationFormat>
  <Paragraphs>65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Вопросы мониторинга моделей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Ронкин Михаил Владимирович</dc:creator>
  <cp:lastModifiedBy>Ронкин Михаил Владимирович</cp:lastModifiedBy>
  <cp:revision>9</cp:revision>
  <dcterms:created xsi:type="dcterms:W3CDTF">2025-08-24T09:08:13Z</dcterms:created>
  <dcterms:modified xsi:type="dcterms:W3CDTF">2025-08-29T13:23:08Z</dcterms:modified>
</cp:coreProperties>
</file>