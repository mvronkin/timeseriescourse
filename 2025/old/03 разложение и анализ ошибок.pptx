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466" r:id="rId3"/>
    <p:sldId id="425" r:id="rId4"/>
    <p:sldId id="467" r:id="rId5"/>
    <p:sldId id="417" r:id="rId6"/>
    <p:sldId id="437" r:id="rId7"/>
    <p:sldId id="444" r:id="rId8"/>
    <p:sldId id="468" r:id="rId9"/>
    <p:sldId id="469" r:id="rId10"/>
    <p:sldId id="412" r:id="rId11"/>
    <p:sldId id="432" r:id="rId12"/>
    <p:sldId id="433" r:id="rId13"/>
    <p:sldId id="436" r:id="rId14"/>
    <p:sldId id="448" r:id="rId15"/>
    <p:sldId id="445" r:id="rId16"/>
    <p:sldId id="454" r:id="rId17"/>
    <p:sldId id="462" r:id="rId18"/>
    <p:sldId id="463" r:id="rId19"/>
    <p:sldId id="455" r:id="rId20"/>
    <p:sldId id="464" r:id="rId21"/>
    <p:sldId id="446" r:id="rId22"/>
    <p:sldId id="451" r:id="rId23"/>
    <p:sldId id="450" r:id="rId24"/>
    <p:sldId id="452" r:id="rId25"/>
    <p:sldId id="393" r:id="rId26"/>
    <p:sldId id="456" r:id="rId27"/>
    <p:sldId id="458" r:id="rId28"/>
    <p:sldId id="457" r:id="rId29"/>
    <p:sldId id="394" r:id="rId30"/>
    <p:sldId id="395" r:id="rId31"/>
    <p:sldId id="460" r:id="rId32"/>
    <p:sldId id="461" r:id="rId33"/>
    <p:sldId id="459" r:id="rId34"/>
    <p:sldId id="465" r:id="rId35"/>
    <p:sldId id="470" r:id="rId36"/>
    <p:sldId id="396" r:id="rId37"/>
    <p:sldId id="397" r:id="rId38"/>
    <p:sldId id="398" r:id="rId39"/>
    <p:sldId id="399" r:id="rId40"/>
    <p:sldId id="400" r:id="rId41"/>
    <p:sldId id="401" r:id="rId42"/>
    <p:sldId id="402" r:id="rId43"/>
    <p:sldId id="403" r:id="rId44"/>
    <p:sldId id="404" r:id="rId45"/>
    <p:sldId id="405" r:id="rId46"/>
    <p:sldId id="406" r:id="rId47"/>
    <p:sldId id="407" r:id="rId48"/>
    <p:sldId id="408" r:id="rId49"/>
    <p:sldId id="409" r:id="rId50"/>
    <p:sldId id="410" r:id="rId51"/>
    <p:sldId id="411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66"/>
            <p14:sldId id="425"/>
            <p14:sldId id="467"/>
            <p14:sldId id="417"/>
            <p14:sldId id="437"/>
            <p14:sldId id="444"/>
            <p14:sldId id="468"/>
            <p14:sldId id="469"/>
            <p14:sldId id="412"/>
            <p14:sldId id="432"/>
            <p14:sldId id="433"/>
            <p14:sldId id="436"/>
            <p14:sldId id="448"/>
            <p14:sldId id="445"/>
            <p14:sldId id="454"/>
            <p14:sldId id="462"/>
            <p14:sldId id="463"/>
            <p14:sldId id="455"/>
            <p14:sldId id="464"/>
            <p14:sldId id="446"/>
            <p14:sldId id="451"/>
            <p14:sldId id="450"/>
            <p14:sldId id="452"/>
            <p14:sldId id="393"/>
            <p14:sldId id="456"/>
            <p14:sldId id="458"/>
            <p14:sldId id="457"/>
            <p14:sldId id="394"/>
            <p14:sldId id="395"/>
            <p14:sldId id="460"/>
            <p14:sldId id="461"/>
            <p14:sldId id="459"/>
            <p14:sldId id="465"/>
            <p14:sldId id="470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75" autoAdjust="0"/>
    <p:restoredTop sz="96324"/>
  </p:normalViewPr>
  <p:slideViewPr>
    <p:cSldViewPr snapToGrid="0">
      <p:cViewPr varScale="1">
        <p:scale>
          <a:sx n="177" d="100"/>
          <a:sy n="177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13.07.2025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60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94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650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41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55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DB-29AD-A6EA-7DBD-86547287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ADD6A5-D3D6-4A70-AF6A-A6CBCEB2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FE5A9-91E7-A266-B827-688E615D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DF6AE-A657-7E28-E060-6391DA63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719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8DE3-421F-9369-B969-96AF417F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7D5C4E-9A2A-F4FE-B21D-4E0E16216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D539B72-AE1D-7E9E-35F7-8A785741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D18F52-729B-19B9-BD3F-4007E1DD1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934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39C5-8272-A8D3-F8C0-D4F3FE1E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548805-8939-69A3-7BEB-A142B5FBD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60DF7B-907E-C471-360A-09C4FE5C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96C246-CF5A-0798-5874-2A636DA97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564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56DB-A6B7-BA43-BC09-B24B6F63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95D7DC2-80F6-1D50-182E-B30351336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8B86DC-C35E-1F44-8BCC-3D6D90471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DD1165-FD1E-359F-5761-E30A6442B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147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038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549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19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 descr="https://i0.wp.com/semiengineering.com/wp-content/uploads/Fraunhofer_data-augmentation-industrial-AI-fig1.jpg?resize=605%2C155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80" y="1098101"/>
            <a:ext cx="5762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446695" y="407073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https://semiengineering.com/enhancing-datasets-for-artificial-intelligence-through-model-based-methods/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17342" y="2389473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Бизнес процесс – </a:t>
            </a:r>
            <a:r>
              <a:rPr lang="en-US" sz="1400" dirty="0"/>
              <a:t>Prophet, </a:t>
            </a:r>
            <a:r>
              <a:rPr lang="ru-RU" sz="1400" dirty="0"/>
              <a:t> разложение и процесс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030516" y="2775989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Prophet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090621" y="3102525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Network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3722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49" y="1001486"/>
            <a:ext cx="8024157" cy="36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8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9" y="1366839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	</a:t>
                </a:r>
                <a:r>
                  <a:rPr lang="ru-RU" sz="2400" b="1" dirty="0"/>
                  <a:t>Пример</a:t>
                </a:r>
                <a:r>
                  <a:rPr lang="ru-RU" sz="2400" dirty="0"/>
                  <a:t> 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Простое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Также может быть, например среднее 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3123174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402036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4944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569845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300443" y="587484"/>
          <a:ext cx="11521444" cy="57727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+mn-lt"/>
                        </a:rPr>
                        <a:t>PatchTST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Electricity</a:t>
                      </a:r>
                      <a:r>
                        <a:rPr lang="en-US" sz="1800" baseline="0" dirty="0"/>
                        <a:t> Load E</a:t>
                      </a:r>
                      <a:r>
                        <a:rPr lang="en-US" sz="1800" dirty="0"/>
                        <a:t>CL</a:t>
                      </a:r>
                      <a:r>
                        <a:rPr lang="ru-RU" sz="1800" dirty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Multivariate</a:t>
                      </a:r>
                      <a:r>
                        <a:rPr lang="ru-RU" sz="1800" dirty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Эксперименты с </a:t>
                      </a:r>
                      <a:r>
                        <a:rPr lang="en-US" sz="1800" dirty="0">
                          <a:effectLst/>
                        </a:rPr>
                        <a:t>DL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ru-RU" sz="1800" baseline="0" dirty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N-HITS,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DLinear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ru-RU" sz="1800" dirty="0">
                          <a:effectLst/>
                        </a:rPr>
                        <a:t> TS </a:t>
                      </a:r>
                      <a:r>
                        <a:rPr lang="ru-RU" sz="1800" dirty="0" err="1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academic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MASE,</a:t>
                      </a:r>
                      <a:r>
                        <a:rPr lang="en-US" sz="1800" baseline="0" dirty="0">
                          <a:effectLst/>
                        </a:rPr>
                        <a:t> MAE, SMAPE,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en-US" sz="1800" dirty="0">
                          <a:effectLst/>
                        </a:rPr>
                        <a:t>+3 </a:t>
                      </a:r>
                      <a:r>
                        <a:rPr lang="ru-RU" sz="1800" dirty="0">
                          <a:effectLst/>
                        </a:rPr>
                        <a:t>бенча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1736517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040291" cy="5210311"/>
          </a:xfrm>
        </p:spPr>
        <p:txBody>
          <a:bodyPr/>
          <a:lstStyle/>
          <a:p>
            <a:r>
              <a:rPr lang="en-US" dirty="0"/>
              <a:t>ARIMA, ETS</a:t>
            </a:r>
            <a:r>
              <a:rPr lang="en-US"/>
              <a:t>, Prophet  </a:t>
            </a:r>
            <a:r>
              <a:rPr lang="ru-RU" dirty="0" err="1"/>
              <a:t>бейзлайны</a:t>
            </a:r>
            <a:r>
              <a:rPr lang="ru-RU" dirty="0"/>
              <a:t> + </a:t>
            </a:r>
            <a:r>
              <a:rPr lang="en-US" dirty="0"/>
              <a:t>LSTM </a:t>
            </a:r>
            <a:r>
              <a:rPr lang="ru-RU" dirty="0"/>
              <a:t>(для многомерных ВР)</a:t>
            </a:r>
          </a:p>
          <a:p>
            <a:r>
              <a:rPr lang="ru-RU" dirty="0"/>
              <a:t>Часто необходимо вероятностное </a:t>
            </a:r>
            <a:r>
              <a:rPr lang="ru-RU" dirty="0" err="1"/>
              <a:t>прогназирование</a:t>
            </a:r>
            <a:endParaRPr lang="ru-RU" dirty="0"/>
          </a:p>
          <a:p>
            <a:r>
              <a:rPr lang="ru-RU" dirty="0"/>
              <a:t>Для коротких горизонтов и простых ВР стат. Методы работают отлично даже для </a:t>
            </a:r>
            <a:r>
              <a:rPr lang="ru-RU" dirty="0" err="1"/>
              <a:t>многопеременных</a:t>
            </a:r>
            <a:r>
              <a:rPr lang="ru-RU" dirty="0"/>
              <a:t> ВР</a:t>
            </a:r>
          </a:p>
          <a:p>
            <a:r>
              <a:rPr lang="ru-RU" dirty="0"/>
              <a:t>Для более сложных ВР гибридные методы: </a:t>
            </a:r>
            <a:r>
              <a:rPr lang="ru-RU" dirty="0" err="1"/>
              <a:t>стат.методы</a:t>
            </a:r>
            <a:r>
              <a:rPr lang="ru-RU" dirty="0"/>
              <a:t> + </a:t>
            </a:r>
            <a:r>
              <a:rPr lang="en-US" dirty="0"/>
              <a:t>DL </a:t>
            </a:r>
          </a:p>
          <a:p>
            <a:r>
              <a:rPr lang="ru-RU" dirty="0"/>
              <a:t>Для средних горизонтов </a:t>
            </a:r>
            <a:r>
              <a:rPr lang="en-US" dirty="0"/>
              <a:t>DL </a:t>
            </a:r>
            <a:r>
              <a:rPr lang="ru-RU" dirty="0"/>
              <a:t>можно заменить на </a:t>
            </a:r>
            <a:r>
              <a:rPr lang="en-US" dirty="0"/>
              <a:t>ML </a:t>
            </a:r>
            <a:r>
              <a:rPr lang="ru-RU" dirty="0"/>
              <a:t>с инженерией признаков</a:t>
            </a:r>
          </a:p>
          <a:p>
            <a:r>
              <a:rPr lang="ru-RU" dirty="0"/>
              <a:t>Для длинных горизонтов и сложных ВР – </a:t>
            </a:r>
            <a:r>
              <a:rPr lang="en-US" dirty="0"/>
              <a:t>DL </a:t>
            </a:r>
            <a:r>
              <a:rPr lang="ru-RU" dirty="0"/>
              <a:t>(</a:t>
            </a:r>
            <a:r>
              <a:rPr lang="ru-RU" dirty="0" err="1"/>
              <a:t>трансфомеры</a:t>
            </a:r>
            <a:r>
              <a:rPr lang="ru-RU" dirty="0"/>
              <a:t>, современные </a:t>
            </a:r>
            <a:r>
              <a:rPr lang="en-US" dirty="0"/>
              <a:t>RNN)</a:t>
            </a:r>
          </a:p>
          <a:p>
            <a:r>
              <a:rPr lang="ru-RU" dirty="0"/>
              <a:t>Для больших объемов ВР и длинных горизонтов </a:t>
            </a:r>
            <a:r>
              <a:rPr lang="en-US" dirty="0"/>
              <a:t>LLM</a:t>
            </a:r>
            <a:endParaRPr lang="ru-RU" dirty="0"/>
          </a:p>
          <a:p>
            <a:r>
              <a:rPr lang="en-US" dirty="0"/>
              <a:t>SOTA: </a:t>
            </a:r>
            <a:r>
              <a:rPr lang="ru-RU" dirty="0"/>
              <a:t>вероятностное прогнозирование при помощи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805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50" y="747822"/>
            <a:ext cx="7796825" cy="3426877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68745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10319"/>
              </p:ext>
            </p:extLst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Prophet)</a:t>
                      </a:r>
                      <a:r>
                        <a:rPr lang="ru-RU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Очень 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Учет сезонности 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 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ru-RU" sz="1800" b="1" u="none" strike="noStrike" dirty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>
                          <a:effectLst/>
                        </a:rPr>
                        <a:t>prompt</a:t>
                      </a:r>
                      <a:r>
                        <a:rPr lang="ru-RU" sz="1900" u="none" strike="noStrike" dirty="0">
                          <a:effectLst/>
                        </a:rPr>
                        <a:t> </a:t>
                      </a:r>
                      <a:r>
                        <a:rPr lang="ru-RU" sz="1900" u="none" strike="noStrike" dirty="0" err="1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5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709626"/>
              </p:ext>
            </p:extLst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STL</a:t>
                      </a:r>
                      <a:r>
                        <a:rPr lang="ru-RU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ru-RU" sz="1600" u="none" strike="noStrike" dirty="0">
                          <a:effectLst/>
                        </a:rPr>
                        <a:t>более 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ETS</a:t>
                      </a:r>
                      <a:r>
                        <a:rPr lang="ru-RU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или 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>
                          <a:effectLst/>
                        </a:rPr>
                        <a:t>σ-</a:t>
                      </a:r>
                      <a:r>
                        <a:rPr lang="en-US" sz="1800" u="none" strike="noStrike" dirty="0" err="1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руками 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Сложная </a:t>
                      </a:r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Prophet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Слабый БГШ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выбор точек перегиба,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ост.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STL</a:t>
                </a:r>
                <a:r>
                  <a:rPr lang="ru-RU" sz="1600" dirty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/>
                  <a:t> – </a:t>
                </a:r>
                <a:r>
                  <a:rPr lang="ru-RU" sz="1600" dirty="0" err="1"/>
                  <a:t>гетеросекдостичный</a:t>
                </a:r>
                <a:r>
                  <a:rPr lang="ru-RU" sz="1600" dirty="0"/>
                  <a:t> шум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к дифференцированию (</a:t>
            </a:r>
            <a:r>
              <a:rPr lang="en-US" sz="1600" dirty="0"/>
              <a:t>usual, seasonal </a:t>
            </a:r>
            <a:r>
              <a:rPr lang="en-US" sz="1600" dirty="0" err="1"/>
              <a:t>dif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121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5399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 Экспоненциальное сглаживание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840761"/>
            <a:ext cx="11449049" cy="56201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Часто требуется предсказание будущих значений достаточно простых временных рядов, состоящий преимущественно из одной трендовой и сезонной составляющих понятного вида.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Данные кажутся достаточно шумными, возникает необходимость сглаживания</a:t>
            </a:r>
            <a:endParaRPr lang="en-US" sz="2400" dirty="0"/>
          </a:p>
        </p:txBody>
      </p:sp>
      <p:pic>
        <p:nvPicPr>
          <p:cNvPr id="2050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9" t="30766" r="279" b="36461"/>
          <a:stretch/>
        </p:blipFill>
        <p:spPr bwMode="auto">
          <a:xfrm>
            <a:off x="5164108" y="2531961"/>
            <a:ext cx="2028826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r="22857"/>
          <a:stretch/>
        </p:blipFill>
        <p:spPr bwMode="auto">
          <a:xfrm>
            <a:off x="109842" y="3498799"/>
            <a:ext cx="4322284" cy="29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3" t="39470" r="158" b="39260"/>
          <a:stretch/>
        </p:blipFill>
        <p:spPr bwMode="auto">
          <a:xfrm>
            <a:off x="523875" y="2860940"/>
            <a:ext cx="1676400" cy="78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" t="257" r="30252" b="864"/>
          <a:stretch/>
        </p:blipFill>
        <p:spPr bwMode="auto">
          <a:xfrm>
            <a:off x="4249131" y="3564797"/>
            <a:ext cx="4158410" cy="295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6001" y="3414394"/>
            <a:ext cx="4433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Fira Sans"/>
              </a:rPr>
              <a:t>Forecasts of daily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pageviews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on the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Hyndsight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blog.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49" y="6501786"/>
            <a:ext cx="4178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https://otexts.com/fpp2/holt-winters.html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2753" y="6460924"/>
            <a:ext cx="78200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9" name="AutoShape 6" descr="es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r="36289"/>
          <a:stretch/>
        </p:blipFill>
        <p:spPr>
          <a:xfrm>
            <a:off x="8133048" y="3783857"/>
            <a:ext cx="3828620" cy="252139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8848621" y="3498799"/>
            <a:ext cx="3215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Fira Sans"/>
              </a:rPr>
              <a:t>Температурные показания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6991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(шумы), </a:t>
                </a:r>
                <a:br>
                  <a:rPr lang="en-US" altLang="ru-RU" sz="1800" dirty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ctr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ширина окна</a:t>
                </a:r>
              </a:p>
              <a:p>
                <a:pPr algn="ctr"/>
                <a:r>
                  <a:rPr lang="ru-RU" dirty="0"/>
                  <a:t>Такая операция будет называться </a:t>
                </a:r>
                <a:r>
                  <a:rPr lang="en-US" dirty="0"/>
                  <a:t>W-MA </a:t>
                </a:r>
                <a:r>
                  <a:rPr lang="ru-RU" dirty="0"/>
                  <a:t>(скользящее среднее)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193475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1 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(MA)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 -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сезонности </a:t>
                </a:r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значений одного периода сезонной составляющей 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>
                    <a:cs typeface="Times New Roman" panose="02020603050405020304" pitchFamily="18" charset="0"/>
                  </a:rPr>
                  <a:t>,</a:t>
                </a:r>
                <a:br>
                  <a:rPr lang="ru-RU" altLang="ru-RU" sz="2000" i="1" dirty="0"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https://www.geeksforgeeks.org/python/time-series-decomposition-techniques/</a:t>
            </a:r>
            <a:r>
              <a:rPr lang="ru-RU" sz="1200" dirty="0"/>
              <a:t> </a:t>
            </a:r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</a:t>
            </a:r>
            <a:r>
              <a:rPr lang="en-US" dirty="0" err="1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По сути – это все методы низкочастотной фильтрации ВР.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EB16-C35E-202E-8536-7792933B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365126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328E7-EB78-2758-0370-70EE4D9D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44" y="983848"/>
            <a:ext cx="11470512" cy="5590572"/>
          </a:xfrm>
        </p:spPr>
        <p:txBody>
          <a:bodyPr/>
          <a:lstStyle/>
          <a:p>
            <a:r>
              <a:rPr lang="ru-RU" sz="2200" dirty="0"/>
              <a:t>Тренд может быть</a:t>
            </a:r>
          </a:p>
          <a:p>
            <a:pPr lvl="1"/>
            <a:r>
              <a:rPr lang="ru-RU" sz="2200" dirty="0"/>
              <a:t>детерминированным</a:t>
            </a:r>
          </a:p>
          <a:p>
            <a:pPr lvl="2"/>
            <a:r>
              <a:rPr lang="ru-RU" sz="2200" dirty="0" err="1"/>
              <a:t>Мнотонный</a:t>
            </a:r>
            <a:r>
              <a:rPr lang="ru-RU" sz="2200" dirty="0"/>
              <a:t> ( в т.ч. с насыщением)</a:t>
            </a:r>
          </a:p>
          <a:p>
            <a:pPr lvl="2"/>
            <a:r>
              <a:rPr lang="ru-RU" sz="2200" dirty="0"/>
              <a:t>Цикличным</a:t>
            </a:r>
          </a:p>
          <a:p>
            <a:pPr lvl="2"/>
            <a:r>
              <a:rPr lang="ru-RU" sz="2200" dirty="0"/>
              <a:t>Иметь точки перегиба</a:t>
            </a:r>
          </a:p>
          <a:p>
            <a:pPr lvl="1"/>
            <a:r>
              <a:rPr lang="ru-RU" sz="2200" dirty="0"/>
              <a:t>Или может быть случайным</a:t>
            </a:r>
          </a:p>
          <a:p>
            <a:pPr lvl="1"/>
            <a:r>
              <a:rPr lang="ru-RU" sz="2200" dirty="0"/>
              <a:t>комбинированным</a:t>
            </a:r>
          </a:p>
          <a:p>
            <a:r>
              <a:rPr lang="ru-RU" sz="2200" dirty="0"/>
              <a:t>Тренд важно понимать, так как он виляет на </a:t>
            </a:r>
          </a:p>
          <a:p>
            <a:pPr lvl="1"/>
            <a:r>
              <a:rPr lang="ru-RU" sz="2200" dirty="0"/>
              <a:t>стационарность (TS</a:t>
            </a:r>
            <a:r>
              <a:rPr lang="en-US" sz="2200" dirty="0"/>
              <a:t>, DS </a:t>
            </a:r>
            <a:r>
              <a:rPr lang="ru-RU" sz="2200" dirty="0"/>
              <a:t>тренды), </a:t>
            </a:r>
          </a:p>
          <a:p>
            <a:pPr lvl="1"/>
            <a:r>
              <a:rPr lang="ru-RU" sz="2200" dirty="0"/>
              <a:t>выбор модели (напр. В моделях </a:t>
            </a:r>
            <a:r>
              <a:rPr lang="en-US" sz="2200" dirty="0"/>
              <a:t>ARIMA</a:t>
            </a:r>
            <a:r>
              <a:rPr lang="ru-RU" sz="2200" dirty="0"/>
              <a:t> порядок дифференцирования это параметр)</a:t>
            </a:r>
          </a:p>
          <a:p>
            <a:pPr lvl="1"/>
            <a:r>
              <a:rPr lang="ru-RU" sz="2200" dirty="0"/>
              <a:t>Интерпретацию данных – тренд + цикличность могут маскировать сезонность и другие факторы</a:t>
            </a:r>
          </a:p>
          <a:p>
            <a:pPr lvl="1"/>
            <a:r>
              <a:rPr lang="ru-RU" sz="2200" dirty="0"/>
              <a:t>Часто тренд – это основной источник изменений во ВР, правильный учет тренда – это львиная доля высокой точности предсказания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643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69DE-F34F-0E45-FF63-CADE8DB4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E655-C84E-B3C4-A33C-00B65DAD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111018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 Тесты на наличие тренда: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3880A-ED24-EAB9-9093-23A12A73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7" y="729740"/>
            <a:ext cx="11566967" cy="5774709"/>
          </a:xfrm>
        </p:spPr>
        <p:txBody>
          <a:bodyPr>
            <a:normAutofit/>
          </a:bodyPr>
          <a:lstStyle/>
          <a:p>
            <a:r>
              <a:rPr lang="ru-RU" sz="2200" b="1" dirty="0"/>
              <a:t>Тест Дика-Фуллера (</a:t>
            </a:r>
            <a:r>
              <a:rPr lang="en" sz="2200" b="1" dirty="0"/>
              <a:t>Augmented Dickey–Fuller test</a:t>
            </a:r>
            <a:r>
              <a:rPr lang="en-US" sz="2200" b="1" dirty="0"/>
              <a:t>, ADF) </a:t>
            </a:r>
            <a:r>
              <a:rPr lang="en-US" sz="2200" dirty="0"/>
              <a:t>– </a:t>
            </a:r>
            <a:r>
              <a:rPr lang="ru-RU" sz="2200" dirty="0"/>
              <a:t>стохастический тренд</a:t>
            </a:r>
          </a:p>
          <a:p>
            <a:pPr lvl="1"/>
            <a:r>
              <a:rPr lang="ru-RU" sz="2200" dirty="0"/>
              <a:t>Идея: текущее изменение значений ВР связано с дрейфом или предыдущими изменениями значений ВР</a:t>
            </a:r>
          </a:p>
          <a:p>
            <a:pPr lvl="1"/>
            <a:r>
              <a:rPr lang="en-US" sz="2200" b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не стационарен (стохастический тренд).</a:t>
            </a:r>
          </a:p>
          <a:p>
            <a:pPr lvl="1"/>
            <a:r>
              <a:rPr lang="en" sz="2200" b="1" i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стационарен (тренда нет).</a:t>
            </a:r>
          </a:p>
          <a:p>
            <a:r>
              <a:rPr lang="ru-RU" sz="2200" b="1" dirty="0"/>
              <a:t>Тест Квятковского-Филлипса-Шмидта-Шина (</a:t>
            </a:r>
            <a:r>
              <a:rPr lang="en" sz="2200" b="1" dirty="0"/>
              <a:t>KPSS)</a:t>
            </a:r>
            <a:r>
              <a:rPr lang="ru-RU" sz="2200" b="1" dirty="0"/>
              <a:t> </a:t>
            </a:r>
            <a:r>
              <a:rPr lang="ru-RU" sz="2200" dirty="0"/>
              <a:t>– детерминированный тренд (кроме циклического)</a:t>
            </a:r>
          </a:p>
          <a:p>
            <a:pPr lvl="1"/>
            <a:r>
              <a:rPr lang="ru-RU" sz="2200" dirty="0"/>
              <a:t>Идея: остатки от описания ВР регрессией колеблются вокруг нуля</a:t>
            </a:r>
          </a:p>
          <a:p>
            <a:pPr lvl="1"/>
            <a:r>
              <a:rPr lang="en-US" sz="2200" b="1" i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стационарен (нет тренда или тренд колеблется вокруг нуля).</a:t>
            </a:r>
          </a:p>
          <a:p>
            <a:pPr lvl="1"/>
            <a:r>
              <a:rPr lang="en" sz="2200" b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не стационарен (тренд детерминирован).</a:t>
            </a:r>
          </a:p>
          <a:p>
            <a:r>
              <a:rPr lang="ru-RU" sz="2200" dirty="0"/>
              <a:t>ADF</a:t>
            </a:r>
            <a:r>
              <a:rPr lang="en-US" sz="2200" dirty="0"/>
              <a:t> </a:t>
            </a:r>
            <a:r>
              <a:rPr lang="ru-RU" sz="2200" dirty="0"/>
              <a:t>+ KPSS</a:t>
            </a:r>
            <a:r>
              <a:rPr lang="en-US" sz="2200" dirty="0"/>
              <a:t> </a:t>
            </a:r>
            <a:r>
              <a:rPr lang="ru-RU" sz="2200" dirty="0"/>
              <a:t>лучше вместе использовать, если есть противоречие, используйте доп. Визуальный анализ или </a:t>
            </a:r>
            <a:r>
              <a:rPr lang="ru-RU" sz="2200" b="1" dirty="0"/>
              <a:t>альтернативные тесты</a:t>
            </a:r>
            <a:r>
              <a:rPr lang="ru-RU" sz="2200" dirty="0"/>
              <a:t>:</a:t>
            </a:r>
          </a:p>
          <a:p>
            <a:pPr lvl="1"/>
            <a:r>
              <a:rPr lang="ru-RU" sz="2200" u="sng" dirty="0" err="1"/>
              <a:t>гетеросекдостичность</a:t>
            </a:r>
            <a:r>
              <a:rPr lang="ru-RU" sz="2200" u="sng" dirty="0"/>
              <a:t>, шумы</a:t>
            </a:r>
            <a:r>
              <a:rPr lang="ru-RU" sz="2200" dirty="0"/>
              <a:t>: тест Филлипса-Перрона (</a:t>
            </a:r>
            <a:r>
              <a:rPr lang="en" sz="2200" dirty="0"/>
              <a:t>PP Test)</a:t>
            </a:r>
            <a:r>
              <a:rPr lang="ru-RU" sz="2200" dirty="0"/>
              <a:t> - модификация </a:t>
            </a:r>
            <a:r>
              <a:rPr lang="en-US" sz="2200" dirty="0"/>
              <a:t>ADF</a:t>
            </a:r>
          </a:p>
          <a:p>
            <a:pPr lvl="1"/>
            <a:r>
              <a:rPr lang="ru-RU" sz="2200" u="sng" dirty="0"/>
              <a:t>выбросы и </a:t>
            </a:r>
            <a:r>
              <a:rPr lang="ru-RU" sz="2200" u="sng" dirty="0" err="1"/>
              <a:t>тд</a:t>
            </a:r>
            <a:r>
              <a:rPr lang="ru-RU" sz="2200" dirty="0"/>
              <a:t>: тест  Манна-</a:t>
            </a:r>
            <a:r>
              <a:rPr lang="ru-RU" sz="2200" dirty="0" err="1"/>
              <a:t>Кенделла</a:t>
            </a:r>
            <a:r>
              <a:rPr lang="ru-RU" sz="2200" dirty="0"/>
              <a:t> дополняет </a:t>
            </a:r>
            <a:r>
              <a:rPr lang="en-US" sz="2200" dirty="0"/>
              <a:t>KPSS </a:t>
            </a:r>
            <a:r>
              <a:rPr lang="ru-RU" sz="2200" dirty="0"/>
              <a:t>(тест на монотонный тренд)</a:t>
            </a:r>
          </a:p>
          <a:p>
            <a:pPr lvl="1"/>
            <a:r>
              <a:rPr lang="ru-RU" sz="2200" u="sng" dirty="0"/>
              <a:t>В случае сложной цикличности </a:t>
            </a:r>
            <a:r>
              <a:rPr lang="ru-RU" sz="2200" dirty="0"/>
              <a:t>нужно использовать время-частотный анализ или тест Бартлетта (проверка значимости сглаженных частотных компонент)</a:t>
            </a:r>
            <a:endParaRPr lang="en" sz="2200" dirty="0"/>
          </a:p>
          <a:p>
            <a:pPr lvl="1"/>
            <a:endParaRPr lang="ru-RU" sz="2200" dirty="0"/>
          </a:p>
          <a:p>
            <a:pPr lvl="1"/>
            <a:endParaRPr lang="ru-RU" sz="2200" dirty="0"/>
          </a:p>
          <a:p>
            <a:pPr lvl="1"/>
            <a:endParaRPr lang="en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3711-1273-54BF-D631-0C53D2AC9A0C}"/>
              </a:ext>
            </a:extLst>
          </p:cNvPr>
          <p:cNvSpPr txBox="1"/>
          <p:nvPr/>
        </p:nvSpPr>
        <p:spPr>
          <a:xfrm>
            <a:off x="227082" y="6504449"/>
            <a:ext cx="546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ДЗ: Постройте разные типы ВР, проверьте их на тестах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17F06-257B-EBEE-7ED6-D54B68D8FADF}"/>
              </a:ext>
            </a:extLst>
          </p:cNvPr>
          <p:cNvSpPr txBox="1"/>
          <p:nvPr/>
        </p:nvSpPr>
        <p:spPr>
          <a:xfrm>
            <a:off x="8060902" y="2966542"/>
            <a:ext cx="390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Обратите внимание, </a:t>
            </a:r>
            <a:r>
              <a:rPr lang="ru-RU" dirty="0" err="1"/>
              <a:t>H</a:t>
            </a:r>
            <a:r>
              <a:rPr lang="en-US" dirty="0"/>
              <a:t>0,H1 </a:t>
            </a:r>
            <a:r>
              <a:rPr lang="en-US" dirty="0" err="1"/>
              <a:t>на</a:t>
            </a:r>
            <a:r>
              <a:rPr lang="ru-RU" dirty="0"/>
              <a:t>оборот!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5AEF8-83B6-F2E9-D73D-8333FE7CF253}"/>
              </a:ext>
            </a:extLst>
          </p:cNvPr>
          <p:cNvSpPr txBox="1"/>
          <p:nvPr/>
        </p:nvSpPr>
        <p:spPr>
          <a:xfrm>
            <a:off x="5870848" y="6504449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www.eviews.com</a:t>
            </a:r>
            <a:r>
              <a:rPr lang="ru-RU" sz="1100" dirty="0"/>
              <a:t>/</a:t>
            </a:r>
            <a:r>
              <a:rPr lang="ru-RU" sz="1100" dirty="0" err="1"/>
              <a:t>help</a:t>
            </a:r>
            <a:r>
              <a:rPr lang="ru-RU" sz="1100" dirty="0"/>
              <a:t>/</a:t>
            </a:r>
            <a:r>
              <a:rPr lang="ru-RU" sz="1100" dirty="0" err="1"/>
              <a:t>helpintro.html#page</a:t>
            </a:r>
            <a:r>
              <a:rPr lang="ru-RU" sz="1100" dirty="0"/>
              <a:t>/content%2Fadvtimeser-Unit_Root_Testing.html</a:t>
            </a:r>
          </a:p>
        </p:txBody>
      </p:sp>
    </p:spTree>
    <p:extLst>
      <p:ext uri="{BB962C8B-B14F-4D97-AF65-F5344CB8AC3E}">
        <p14:creationId xmlns:p14="http://schemas.microsoft.com/office/powerpoint/2010/main" val="3141272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970" y="795277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известно, что сезонность переменная (например, месяцы в году), то каждый сезон можно учесть 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Напр. потребление </a:t>
            </a:r>
            <a:r>
              <a:rPr lang="ru-RU" sz="2200" dirty="0" err="1"/>
              <a:t>электроэенегрии</a:t>
            </a:r>
            <a:r>
              <a:rPr lang="ru-RU" sz="2200" dirty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Выходные </a:t>
            </a:r>
            <a:r>
              <a:rPr lang="en-US" sz="2200" dirty="0"/>
              <a:t>(weekends) </a:t>
            </a:r>
            <a:r>
              <a:rPr lang="ru-RU" sz="2200" dirty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Праздники могут быть промоделированы как годовая сезонность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D8807-A2BA-7E65-7866-02687C92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365126"/>
            <a:ext cx="11157030" cy="49140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Тесты на 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EB802-C960-8359-EB65-D8FFEC9C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1" y="949124"/>
            <a:ext cx="11620982" cy="5227839"/>
          </a:xfrm>
        </p:spPr>
        <p:txBody>
          <a:bodyPr>
            <a:normAutofit/>
          </a:bodyPr>
          <a:lstStyle/>
          <a:p>
            <a:r>
              <a:rPr lang="ru-RU" sz="2200" dirty="0"/>
              <a:t>Сезонность не всегда очевидна, </a:t>
            </a:r>
          </a:p>
          <a:p>
            <a:pPr lvl="1"/>
            <a:r>
              <a:rPr lang="ru-RU" sz="2200" dirty="0"/>
              <a:t>компоненты сезонности могут быть визуально скрыты другими компонентами</a:t>
            </a:r>
          </a:p>
          <a:p>
            <a:pPr lvl="1"/>
            <a:r>
              <a:rPr lang="ru-RU" sz="2200" dirty="0"/>
              <a:t>Сезонность важно не спутать с цикличностью особенно для коротких ВР</a:t>
            </a:r>
          </a:p>
          <a:p>
            <a:r>
              <a:rPr lang="ru-RU" sz="2200" dirty="0"/>
              <a:t>Сезонность можно определить </a:t>
            </a:r>
          </a:p>
          <a:p>
            <a:pPr lvl="1"/>
            <a:r>
              <a:rPr lang="ru-RU" sz="1800" dirty="0"/>
              <a:t>при сравнении сегментов размером с 1 или несколько сезонов (визуально</a:t>
            </a:r>
            <a:r>
              <a:rPr lang="en-US" sz="1800" dirty="0"/>
              <a:t> </a:t>
            </a:r>
            <a:r>
              <a:rPr lang="ru-RU" sz="1800" dirty="0"/>
              <a:t>разброс, </a:t>
            </a:r>
            <a:r>
              <a:rPr lang="ru-RU" sz="1800" dirty="0" err="1"/>
              <a:t>box</a:t>
            </a:r>
            <a:r>
              <a:rPr lang="en-US" sz="1800" dirty="0"/>
              <a:t>plot,</a:t>
            </a:r>
            <a:r>
              <a:rPr lang="ru-RU" sz="1800" dirty="0"/>
              <a:t> сравнение остатков вычитания сезонностей)</a:t>
            </a:r>
          </a:p>
          <a:p>
            <a:pPr lvl="1"/>
            <a:r>
              <a:rPr lang="ru-RU" sz="1800" dirty="0"/>
              <a:t>Анализом ВР после сезонного дифференцирования</a:t>
            </a:r>
          </a:p>
          <a:p>
            <a:pPr lvl="1"/>
            <a:r>
              <a:rPr lang="ru-RU" sz="1800" dirty="0"/>
              <a:t>Путем разложения ВР на сезонные компоненты</a:t>
            </a:r>
          </a:p>
          <a:p>
            <a:r>
              <a:rPr lang="ru-RU" sz="2200" dirty="0"/>
              <a:t>Сезонность видна по графикам ACF</a:t>
            </a:r>
            <a:r>
              <a:rPr lang="en-US" sz="2200" dirty="0"/>
              <a:t>/PACF </a:t>
            </a:r>
            <a:r>
              <a:rPr lang="ru-RU" sz="2200" dirty="0"/>
              <a:t>как всплески лагов на соответствующих периодах</a:t>
            </a:r>
          </a:p>
          <a:p>
            <a:pPr lvl="1"/>
            <a:r>
              <a:rPr lang="ru-RU" sz="2200" dirty="0"/>
              <a:t>Чтобы не спутать с цикличностью можно провести </a:t>
            </a:r>
            <a:r>
              <a:rPr lang="ru-RU" sz="2200" dirty="0" err="1"/>
              <a:t>модицфицированный</a:t>
            </a:r>
            <a:r>
              <a:rPr lang="ru-RU" sz="2200" dirty="0"/>
              <a:t> тест </a:t>
            </a:r>
            <a:r>
              <a:rPr lang="ru-RU" sz="2200" dirty="0" err="1"/>
              <a:t>Льюнга</a:t>
            </a:r>
            <a:r>
              <a:rPr lang="ru-RU" sz="2200" dirty="0"/>
              <a:t>-Бокса. Основная идея – нормировка для лагов сезонности (</a:t>
            </a:r>
            <a:r>
              <a:rPr lang="ru-RU" sz="2200" dirty="0" err="1"/>
              <a:t>напр</a:t>
            </a:r>
            <a:r>
              <a:rPr lang="ru-RU" sz="2200" dirty="0"/>
              <a:t> 12,24)</a:t>
            </a:r>
          </a:p>
          <a:p>
            <a:pPr lvl="1"/>
            <a:r>
              <a:rPr lang="ru-RU" sz="1800" b="1" dirty="0"/>
              <a:t>QS</a:t>
            </a:r>
            <a:r>
              <a:rPr lang="en-US" sz="1800" b="1" dirty="0"/>
              <a:t> </a:t>
            </a:r>
            <a:r>
              <a:rPr lang="en-US" sz="1800" b="1" dirty="0" err="1"/>
              <a:t>те</a:t>
            </a:r>
            <a:r>
              <a:rPr lang="ru-RU" sz="1800" b="1" dirty="0" err="1"/>
              <a:t>ст</a:t>
            </a:r>
            <a:r>
              <a:rPr lang="ru-RU" sz="1800" b="1" dirty="0"/>
              <a:t>: вариант </a:t>
            </a:r>
            <a:r>
              <a:rPr lang="ru-RU" sz="1800" dirty="0"/>
              <a:t>тест </a:t>
            </a:r>
            <a:r>
              <a:rPr lang="ru-RU" sz="1800" dirty="0" err="1"/>
              <a:t>Льюнга</a:t>
            </a:r>
            <a:r>
              <a:rPr lang="ru-RU" sz="1800" dirty="0"/>
              <a:t>-Бокса только на позитивных лага</a:t>
            </a:r>
            <a:endParaRPr lang="ru-RU" sz="1800" b="1" dirty="0"/>
          </a:p>
          <a:p>
            <a:pPr lvl="1"/>
            <a:r>
              <a:rPr lang="ru-RU" sz="1800" b="1" dirty="0"/>
              <a:t>Тест Кановы-Хансена (</a:t>
            </a:r>
            <a:r>
              <a:rPr lang="en" sz="1800" b="1" dirty="0"/>
              <a:t>Canova-Hansen Test</a:t>
            </a:r>
            <a:r>
              <a:rPr lang="ru-RU" sz="1800" b="1" dirty="0"/>
              <a:t>, </a:t>
            </a:r>
            <a:r>
              <a:rPr lang="en" b="1" dirty="0" err="1"/>
              <a:t>CHTest</a:t>
            </a:r>
            <a:r>
              <a:rPr lang="en" sz="1800" b="1" dirty="0"/>
              <a:t>)</a:t>
            </a:r>
            <a:r>
              <a:rPr lang="ru-RU" sz="1800" b="1" dirty="0"/>
              <a:t>:</a:t>
            </a:r>
          </a:p>
          <a:p>
            <a:pPr lvl="2"/>
            <a:r>
              <a:rPr lang="ru-RU" sz="1400" b="1" dirty="0"/>
              <a:t>Стабильность сезонных компонент во времени – отбор нужных компонент и анализ их изменчивости</a:t>
            </a:r>
            <a:endParaRPr lang="en" sz="14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3BF57-7151-38B7-A636-B65F4C1D9F93}"/>
              </a:ext>
            </a:extLst>
          </p:cNvPr>
          <p:cNvSpPr txBox="1"/>
          <p:nvPr/>
        </p:nvSpPr>
        <p:spPr>
          <a:xfrm>
            <a:off x="196770" y="6415302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palatej.github.io</a:t>
            </a:r>
            <a:r>
              <a:rPr lang="ru-RU" dirty="0"/>
              <a:t>/</a:t>
            </a:r>
            <a:r>
              <a:rPr lang="ru-RU" dirty="0" err="1"/>
              <a:t>pages</a:t>
            </a:r>
            <a:r>
              <a:rPr lang="ru-RU" dirty="0"/>
              <a:t>/</a:t>
            </a:r>
            <a:r>
              <a:rPr lang="ru-RU" dirty="0" err="1"/>
              <a:t>stats</a:t>
            </a:r>
            <a:r>
              <a:rPr lang="ru-RU" dirty="0"/>
              <a:t>/</a:t>
            </a:r>
            <a:r>
              <a:rPr lang="ru-RU" dirty="0" err="1"/>
              <a:t>tests</a:t>
            </a:r>
            <a:r>
              <a:rPr lang="ru-RU" dirty="0"/>
              <a:t>/</a:t>
            </a:r>
            <a:r>
              <a:rPr lang="ru-RU" dirty="0" err="1"/>
              <a:t>seasonality</a:t>
            </a:r>
            <a:r>
              <a:rPr lang="ru-RU" dirty="0"/>
              <a:t>/</a:t>
            </a:r>
            <a:r>
              <a:rPr lang="ru-RU" dirty="0" err="1"/>
              <a:t>qs.html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8E14-AB86-A0CC-3C84-7F4555AC3A50}"/>
              </a:ext>
            </a:extLst>
          </p:cNvPr>
          <p:cNvSpPr txBox="1"/>
          <p:nvPr/>
        </p:nvSpPr>
        <p:spPr>
          <a:xfrm>
            <a:off x="145166" y="5807631"/>
            <a:ext cx="119016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www.hse.ru</a:t>
            </a:r>
            <a:r>
              <a:rPr lang="en" sz="1050" dirty="0"/>
              <a:t>/data/2014/11/13/1311639964/%D0%9C%D0%B5%D1%82%D0%BE%D0%B4%D1%8B%20%D1%81%D0%BE%D1%86%D0%B8%D0%B0%D0%BB%D1%8C%D0%BD%D0%BE-%D1%8D%D0%BA%D0%BE%D0%BD%D0%BE%D0%BC%D0%B8%D1%87%D0%B5%D1%81%D0%BA%D0%BE%D0%B3%D0%BE%20%D0%BF%D1%80%D0%BE%D0%B3%D0%BD%D0%BE%D0%B7%D0%B8%D1%80%D0%BE%D0%B2%D0%B0%D0%BD%D0%B8%D1%8F%20%D0%B2%202%D1%82.%20%D1%82.2%20-%20%D0%A1%D0%B2%D0%B5%D1%82%D1%83%D0%BD%D1%8C%D0%BA%D0%BE%D0%B2%20-%20%D0%B1%D1%82.pdf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2622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результаты.</a:t>
            </a:r>
          </a:p>
          <a:p>
            <a:pPr lvl="1"/>
            <a:r>
              <a:rPr lang="ru-RU" sz="2000" dirty="0"/>
              <a:t>Если есть </a:t>
            </a:r>
            <a:r>
              <a:rPr lang="ru-RU" sz="2000" b="1" dirty="0"/>
              <a:t>выбросы</a:t>
            </a:r>
            <a:r>
              <a:rPr lang="ru-RU" sz="2000" dirty="0"/>
              <a:t> – это смещает результат скользящего среднего</a:t>
            </a:r>
          </a:p>
          <a:p>
            <a:pPr lvl="1"/>
            <a:r>
              <a:rPr lang="ru-RU" sz="2000" dirty="0"/>
              <a:t>Сложная форма </a:t>
            </a:r>
            <a:r>
              <a:rPr lang="ru-RU" sz="2000" b="1" dirty="0"/>
              <a:t>цикличности тренда </a:t>
            </a:r>
            <a:r>
              <a:rPr lang="ru-RU" sz="2000" dirty="0"/>
              <a:t>может быть искажена скользящим средним</a:t>
            </a:r>
          </a:p>
          <a:p>
            <a:r>
              <a:rPr lang="ru-RU" sz="2000" dirty="0"/>
              <a:t>Решение:</a:t>
            </a:r>
          </a:p>
          <a:p>
            <a:pPr lvl="1"/>
            <a:r>
              <a:rPr lang="ru-RU" sz="2000" dirty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/>
              <a:t> </a:t>
            </a:r>
            <a:r>
              <a:rPr lang="ru-RU" sz="2000" dirty="0"/>
              <a:t>и сделать </a:t>
            </a:r>
            <a:r>
              <a:rPr lang="ru-RU" sz="2000" dirty="0" err="1"/>
              <a:t>уго</a:t>
            </a:r>
            <a:r>
              <a:rPr lang="ru-RU" sz="2000" dirty="0"/>
              <a:t> устойчивым к выбросам и другим проблемам ВР</a:t>
            </a:r>
          </a:p>
          <a:p>
            <a:pPr lvl="1"/>
            <a:r>
              <a:rPr lang="ru-RU" sz="2000" dirty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9008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Остаток в среднем меньше, видны выбросы,</a:t>
            </a:r>
          </a:p>
        </p:txBody>
      </p:sp>
    </p:spTree>
    <p:extLst>
      <p:ext uri="{BB962C8B-B14F-4D97-AF65-F5344CB8AC3E}">
        <p14:creationId xmlns:p14="http://schemas.microsoft.com/office/powerpoint/2010/main" val="664290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/>
                  <a:t>Этап 2 – внутренний цикл (Разложение на тренд и сезонность)</a:t>
                </a:r>
              </a:p>
              <a:p>
                <a:pPr lvl="1"/>
                <a:r>
                  <a:rPr lang="ru-RU" sz="2600" dirty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ВР</a:t>
                </a:r>
              </a:p>
              <a:p>
                <a:pPr lvl="1"/>
                <a:r>
                  <a:rPr lang="ru-RU" sz="2600" dirty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на </a:t>
                </a:r>
                <a:r>
                  <a:rPr lang="ru-RU" sz="2600" dirty="0" err="1"/>
                  <a:t>подциклы</a:t>
                </a:r>
                <a:r>
                  <a:rPr lang="ru-RU" sz="2600" dirty="0"/>
                  <a:t> с заданной сезонностью, сглаживание каждого </a:t>
                </a:r>
                <a:r>
                  <a:rPr lang="ru-RU" sz="2600" dirty="0" err="1"/>
                  <a:t>подцикла</a:t>
                </a:r>
                <a:r>
                  <a:rPr lang="ru-RU" sz="2600" dirty="0"/>
                  <a:t> </a:t>
                </a:r>
                <a:r>
                  <a:rPr lang="en-US" sz="2600" dirty="0"/>
                  <a:t>LOESS</a:t>
                </a:r>
                <a:r>
                  <a:rPr lang="ru-RU" sz="2600" dirty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низкочастотного и нормировка</a:t>
                </a:r>
              </a:p>
              <a:p>
                <a:pPr lvl="1"/>
                <a:r>
                  <a:rPr lang="ru-RU" sz="2600" dirty="0" err="1"/>
                  <a:t>Формироирование</a:t>
                </a:r>
                <a:r>
                  <a:rPr lang="ru-RU" sz="2600" dirty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/>
              </a:p>
              <a:p>
                <a:pPr lvl="1"/>
                <a:r>
                  <a:rPr lang="ru-RU" sz="2600" dirty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/>
                  <a:t>Этап 3 -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 lvl="1"/>
                <a:r>
                  <a:rPr lang="ru-RU" sz="2600" dirty="0"/>
                  <a:t>Устранение выбросов в остатке.</a:t>
                </a:r>
              </a:p>
              <a:p>
                <a:pPr lvl="1"/>
                <a:r>
                  <a:rPr lang="ru-RU" sz="2600" dirty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и переход к этапу 2.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вариант </a:t>
            </a:r>
            <a:r>
              <a:rPr lang="ru-RU" sz="2000" dirty="0" err="1"/>
              <a:t>многосезонного</a:t>
            </a:r>
            <a:r>
              <a:rPr lang="ru-RU" sz="2000" dirty="0"/>
              <a:t> </a:t>
            </a:r>
            <a:r>
              <a:rPr lang="en-US" sz="2000" dirty="0"/>
              <a:t>STL  - MSTL</a:t>
            </a:r>
            <a:endParaRPr lang="ru-RU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</a:t>
            </a:r>
            <a:r>
              <a:rPr lang="en-US" sz="2000" dirty="0" err="1"/>
              <a:t>STLForecast</a:t>
            </a:r>
            <a:r>
              <a:rPr lang="ru-RU" sz="2000" dirty="0"/>
              <a:t>: предсказание тренда заданной моделью и экстраполяция сезонной компоненты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Loess – </a:t>
            </a:r>
            <a:r>
              <a:rPr lang="ru-RU" dirty="0"/>
              <a:t>взвешенная локальная регрессия с коном вида: для точки </a:t>
            </a:r>
            <a:r>
              <a:rPr lang="en-US" dirty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</a:t>
            </a:r>
            <a:r>
              <a:rPr lang="en-US" dirty="0"/>
              <a:t>d – </a:t>
            </a:r>
            <a:r>
              <a:rPr lang="ru-RU" dirty="0"/>
              <a:t>расстояние между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53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другие</a:t>
            </a:r>
            <a:r>
              <a:rPr lang="en-US" b="1" dirty="0"/>
              <a:t> </a:t>
            </a:r>
            <a:r>
              <a:rPr lang="ru-RU" b="1" dirty="0"/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293993"/>
          </a:xfrm>
        </p:spPr>
        <p:txBody>
          <a:bodyPr>
            <a:normAutofit/>
          </a:bodyPr>
          <a:lstStyle/>
          <a:p>
            <a:r>
              <a:rPr lang="en-US" sz="2200" dirty="0"/>
              <a:t>STL – </a:t>
            </a:r>
            <a:r>
              <a:rPr lang="ru-RU" sz="2200" dirty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среднее особенно для длинных ВР.</a:t>
            </a:r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компоненты.</a:t>
            </a:r>
          </a:p>
          <a:p>
            <a:pPr lvl="1"/>
            <a:r>
              <a:rPr lang="ru-RU" sz="2200" dirty="0"/>
              <a:t>Для </a:t>
            </a:r>
            <a:r>
              <a:rPr lang="en-US" sz="2200" dirty="0"/>
              <a:t>MSTL </a:t>
            </a:r>
            <a:r>
              <a:rPr lang="ru-RU" sz="2200" dirty="0"/>
              <a:t>настройка еще сложнее</a:t>
            </a:r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/>
              <a:t>STL </a:t>
            </a:r>
            <a:r>
              <a:rPr lang="ru-RU" sz="2200" dirty="0"/>
              <a:t> может воспринимать </a:t>
            </a:r>
            <a:r>
              <a:rPr lang="en-US" sz="2200" dirty="0"/>
              <a:t>holidays</a:t>
            </a:r>
            <a:r>
              <a:rPr lang="ru-RU" sz="2200" dirty="0"/>
              <a:t> за выбросы</a:t>
            </a:r>
          </a:p>
          <a:p>
            <a:pPr lvl="1"/>
            <a:r>
              <a:rPr lang="ru-RU" sz="2200" dirty="0"/>
              <a:t>Высокочастотные шумы (зашумленность) может затмить выбросы.</a:t>
            </a:r>
            <a:endParaRPr lang="en-US" sz="2200" dirty="0"/>
          </a:p>
          <a:p>
            <a:r>
              <a:rPr lang="ru-RU" sz="2200" dirty="0"/>
              <a:t>Если модель ВР уточнена, например </a:t>
            </a:r>
            <a:r>
              <a:rPr lang="en-US" sz="2200" dirty="0"/>
              <a:t>holidays</a:t>
            </a:r>
            <a:r>
              <a:rPr lang="ru-RU" sz="2200" dirty="0"/>
              <a:t>, четкая </a:t>
            </a:r>
            <a:r>
              <a:rPr lang="ru-RU" sz="2200" dirty="0" err="1"/>
              <a:t>структра</a:t>
            </a:r>
            <a:r>
              <a:rPr lang="ru-RU" sz="2200" dirty="0"/>
              <a:t> могут быть более точные методы, например</a:t>
            </a:r>
          </a:p>
          <a:p>
            <a:pPr lvl="1"/>
            <a:r>
              <a:rPr lang="en-US" sz="2200" dirty="0"/>
              <a:t>SETA (</a:t>
            </a:r>
            <a:r>
              <a:rPr lang="en-US" sz="2200" b="1" dirty="0"/>
              <a:t>X-13ARIMA-SEATS</a:t>
            </a:r>
            <a:r>
              <a:rPr lang="en-US" sz="2200" dirty="0"/>
              <a:t>) – </a:t>
            </a:r>
            <a:r>
              <a:rPr lang="ru-RU" sz="2200" dirty="0"/>
              <a:t>для </a:t>
            </a:r>
            <a:r>
              <a:rPr lang="ru-RU" sz="2200" dirty="0" err="1"/>
              <a:t>бизнесс</a:t>
            </a:r>
            <a:r>
              <a:rPr lang="ru-RU" sz="2200" dirty="0"/>
              <a:t>-процессов ВР</a:t>
            </a:r>
          </a:p>
          <a:p>
            <a:pPr lvl="1"/>
            <a:r>
              <a:rPr lang="en-US" sz="2200" dirty="0"/>
              <a:t>X11 </a:t>
            </a:r>
            <a:r>
              <a:rPr lang="ru-RU" sz="2200" dirty="0"/>
              <a:t>для сезонной корректировки в экономических данных (глобальная экономика)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998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D5575-DFF3-BD8D-CF65-DDF1E5FC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003D25-900F-FA3D-1F4B-56E22584A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6600" dirty="0"/>
              <a:t>Анализ остатков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5762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7B0A-4178-A219-949C-C53496E9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E9446-2598-50CE-8430-2769801C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0B8ECF-1F96-4C49-794E-05B51C0754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913" y="881744"/>
                <a:ext cx="11636829" cy="5747656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выполнения декомпозиции временного ряда или прогноза важно проверить поведение ошибки. </a:t>
                </a:r>
              </a:p>
              <a:p>
                <a:r>
                  <a:rPr lang="ru-RU" sz="2200" dirty="0"/>
                  <a:t>В наиболее простом случае ошибка это отличие истинных данных и результатов предсказания модели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ru-RU" sz="2200" dirty="0"/>
              </a:p>
              <a:p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- значение ошибки для выборки;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ru-RU" sz="2200" dirty="0"/>
                  <a:t> - прогнозируемое значение</a:t>
                </a:r>
                <a:r>
                  <a:rPr lang="ru-RU" sz="2200" b="1" dirty="0"/>
                  <a:t>.</a:t>
                </a:r>
                <a:r>
                  <a:rPr lang="en-US" sz="2200" b="1" dirty="0"/>
                  <a:t> </a:t>
                </a:r>
                <a:r>
                  <a:rPr lang="en-US" sz="2200" b="1" dirty="0" err="1"/>
                  <a:t>Так</a:t>
                </a:r>
                <a:r>
                  <a:rPr lang="ru-RU" sz="2200" b="1" dirty="0"/>
                  <a:t>ую ошибку будем называть невязкой (остатком)</a:t>
                </a:r>
              </a:p>
              <a:p>
                <a:r>
                  <a:rPr lang="ru-RU" sz="2200" b="1" dirty="0"/>
                  <a:t>Зачем анализировать остатки (</a:t>
                </a:r>
                <a:r>
                  <a:rPr lang="ru-RU" sz="2200" b="1" dirty="0" err="1"/>
                  <a:t>re</a:t>
                </a:r>
                <a:r>
                  <a:rPr lang="en-US" sz="2200" b="1" dirty="0" err="1"/>
                  <a:t>sidual</a:t>
                </a:r>
                <a:r>
                  <a:rPr lang="en-US" sz="2200" b="1" dirty="0"/>
                  <a:t> analysis)</a:t>
                </a:r>
                <a:r>
                  <a:rPr lang="ru-RU" sz="2200" b="1" dirty="0"/>
                  <a:t>?</a:t>
                </a:r>
                <a:endParaRPr lang="ru-RU" sz="2200" dirty="0"/>
              </a:p>
              <a:p>
                <a:pPr lvl="1"/>
                <a:r>
                  <a:rPr lang="ru-RU" sz="2200" dirty="0"/>
                  <a:t>Проверить, не осталось ли в них закономерностей (если остатки не случайны – модель плохая).</a:t>
                </a:r>
              </a:p>
              <a:p>
                <a:pPr lvl="1"/>
                <a:r>
                  <a:rPr lang="ru-RU" sz="2200" dirty="0"/>
                  <a:t>Убедиться, что они соответствуют гипотезам модели (например, нормальность, гомоскедастичность, другие типы нестационарности).</a:t>
                </a:r>
              </a:p>
              <a:p>
                <a:pPr lvl="1"/>
                <a:r>
                  <a:rPr lang="ru-RU" sz="2200" dirty="0"/>
                  <a:t>В </a:t>
                </a:r>
                <a:r>
                  <a:rPr lang="en-US" sz="2200" dirty="0"/>
                  <a:t>online</a:t>
                </a:r>
                <a:r>
                  <a:rPr lang="ru-RU" sz="2200" dirty="0"/>
                  <a:t> </a:t>
                </a:r>
                <a:r>
                  <a:rPr lang="en-US" sz="2200" dirty="0"/>
                  <a:t>inference</a:t>
                </a:r>
                <a:r>
                  <a:rPr lang="ru-RU" sz="2200" dirty="0"/>
                  <a:t> (</a:t>
                </a:r>
                <a:r>
                  <a:rPr lang="en-US" sz="2200" dirty="0"/>
                  <a:t>forecasting) </a:t>
                </a:r>
                <a:r>
                  <a:rPr lang="en-US" sz="2200" dirty="0" err="1"/>
                  <a:t>о</a:t>
                </a:r>
                <a:r>
                  <a:rPr lang="ru-RU" sz="2200" dirty="0" err="1"/>
                  <a:t>статки</a:t>
                </a:r>
                <a:r>
                  <a:rPr lang="ru-RU" sz="2200" dirty="0"/>
                  <a:t> модели – это объясняющие факторы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0B8ECF-1F96-4C49-794E-05B51C075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913" y="881744"/>
                <a:ext cx="11636829" cy="5747656"/>
              </a:xfrm>
              <a:blipFill>
                <a:blip r:embed="rId3"/>
                <a:stretch>
                  <a:fillRect l="-654" t="-1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6C34D58-72CA-AC54-75F8-ADC9F608EE94}"/>
              </a:ext>
            </a:extLst>
          </p:cNvPr>
          <p:cNvSpPr txBox="1"/>
          <p:nvPr/>
        </p:nvSpPr>
        <p:spPr>
          <a:xfrm>
            <a:off x="261258" y="6384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residuals.html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2444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0B77-F503-47A5-3B6E-F801D8E3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06613-F3A4-430B-8F6F-EABD92D6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527" y="103870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1AF62-A9CD-C1BA-7D0F-1CD9834CE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03" y="6282497"/>
            <a:ext cx="11823394" cy="517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u="sng" dirty="0"/>
              <a:t>Остатки вычисляются на всей обучающей выборке и используются для проверки адекватности модели. </a:t>
            </a:r>
          </a:p>
          <a:p>
            <a:endParaRPr lang="ru-RU" sz="18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C00E3-8E3B-8844-B48C-1ED9D608A51E}"/>
              </a:ext>
            </a:extLst>
          </p:cNvPr>
          <p:cNvSpPr txBox="1"/>
          <p:nvPr/>
        </p:nvSpPr>
        <p:spPr>
          <a:xfrm>
            <a:off x="0" y="6541481"/>
            <a:ext cx="3713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47C509-0B01-68AA-B7F1-A7A969F1E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481" y="3026833"/>
            <a:ext cx="5345926" cy="33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F4D72-DD13-A09D-4DFD-4EBF8CD4EBD1}"/>
              </a:ext>
            </a:extLst>
          </p:cNvPr>
          <p:cNvSpPr txBox="1"/>
          <p:nvPr/>
        </p:nvSpPr>
        <p:spPr>
          <a:xfrm>
            <a:off x="9014400" y="6543562"/>
            <a:ext cx="31119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otexts.com</a:t>
            </a:r>
            <a:r>
              <a:rPr lang="ru-RU" sz="1200" dirty="0"/>
              <a:t>/</a:t>
            </a:r>
            <a:r>
              <a:rPr lang="ru-RU" sz="1200" dirty="0" err="1"/>
              <a:t>fpppy</a:t>
            </a:r>
            <a:r>
              <a:rPr lang="ru-RU" sz="1200" dirty="0"/>
              <a:t>/</a:t>
            </a:r>
            <a:r>
              <a:rPr lang="ru-RU" sz="1200" dirty="0" err="1"/>
              <a:t>nbs</a:t>
            </a:r>
            <a:r>
              <a:rPr lang="ru-RU" sz="1200" dirty="0"/>
              <a:t>/05-toolbox.html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556864E-2BD5-B4CD-67C2-B138220A1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3" y="3131008"/>
            <a:ext cx="5163201" cy="318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80% and 95% prediction intervals for the Google closing stock price based on a naïve method.">
            <a:extLst>
              <a:ext uri="{FF2B5EF4-FFF2-40B4-BE49-F238E27FC236}">
                <a16:creationId xmlns:a16="http://schemas.microsoft.com/office/drawing/2014/main" id="{75316353-9121-65CD-E730-949E73866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4"/>
          <a:stretch>
            <a:fillRect/>
          </a:stretch>
        </p:blipFill>
        <p:spPr bwMode="auto">
          <a:xfrm>
            <a:off x="370113" y="659805"/>
            <a:ext cx="4841132" cy="25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3D047BE-B8F9-836C-9330-E010AF64D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590" y="659805"/>
            <a:ext cx="4909457" cy="251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788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6648-C5C3-F36D-8CB7-C5CA3D81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C2E03-4ACF-964A-1384-ABFA0987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63DFD0-6B78-BB74-1A97-F8EF2A89B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3" y="881744"/>
            <a:ext cx="11636829" cy="5747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/>
              <a:t>Оста</a:t>
            </a:r>
            <a:r>
              <a:rPr lang="ru-RU" sz="2200" b="1" dirty="0"/>
              <a:t>тки должны иметь </a:t>
            </a:r>
          </a:p>
          <a:p>
            <a:pPr lvl="1"/>
            <a:r>
              <a:rPr lang="ru-RU" sz="2200" dirty="0"/>
              <a:t>0 среднее, </a:t>
            </a:r>
          </a:p>
          <a:p>
            <a:pPr lvl="1"/>
            <a:r>
              <a:rPr lang="ru-RU" sz="2200" dirty="0"/>
              <a:t>постоянную дисперсию (</a:t>
            </a:r>
            <a:r>
              <a:rPr lang="ru-RU" sz="2200" dirty="0" err="1"/>
              <a:t>гомосекдостичность</a:t>
            </a:r>
            <a:r>
              <a:rPr lang="ru-RU" sz="2200" dirty="0"/>
              <a:t>),</a:t>
            </a:r>
          </a:p>
          <a:p>
            <a:pPr lvl="1"/>
            <a:r>
              <a:rPr lang="ru-RU" sz="2200" dirty="0"/>
              <a:t>Отсутствие паттернов (не иметь корреляций)</a:t>
            </a:r>
          </a:p>
          <a:p>
            <a:pPr lvl="1"/>
            <a:r>
              <a:rPr lang="ru-RU" sz="2200" dirty="0"/>
              <a:t>нормальное распределение</a:t>
            </a:r>
          </a:p>
          <a:p>
            <a:pPr marL="0" indent="0">
              <a:buNone/>
            </a:pPr>
            <a:r>
              <a:rPr lang="ru-RU" sz="2200" i="1" dirty="0"/>
              <a:t>Методы предсказания ВР, особенно нелинейные не гарантируют этих свойств даже для лучших метрик.</a:t>
            </a:r>
          </a:p>
          <a:p>
            <a:pPr marL="0" indent="0">
              <a:buNone/>
            </a:pPr>
            <a:r>
              <a:rPr lang="ru-RU" sz="2200" dirty="0"/>
              <a:t>Нарушение требований к остаткам модели означает что:</a:t>
            </a:r>
          </a:p>
          <a:p>
            <a:pPr lvl="1"/>
            <a:r>
              <a:rPr lang="ru-RU" sz="2200" dirty="0"/>
              <a:t>Модель не полностью объясняет ВР</a:t>
            </a:r>
          </a:p>
          <a:p>
            <a:pPr lvl="2"/>
            <a:r>
              <a:rPr lang="ru-RU" dirty="0"/>
              <a:t>Ошибка предсказаний на длинном горизонте будет расти</a:t>
            </a:r>
          </a:p>
          <a:p>
            <a:pPr lvl="3"/>
            <a:r>
              <a:rPr lang="ru-RU" sz="2000" dirty="0"/>
              <a:t>Напр. данные остаются нестационарными или не учтена сезонность 2 порядка</a:t>
            </a:r>
          </a:p>
          <a:p>
            <a:pPr lvl="1"/>
            <a:r>
              <a:rPr lang="ru-RU" sz="2200" dirty="0"/>
              <a:t>В остатках могут быть выбросы и другие локальные проблемы</a:t>
            </a:r>
          </a:p>
          <a:p>
            <a:pPr lvl="2"/>
            <a:r>
              <a:rPr lang="ru-RU" sz="1800" dirty="0"/>
              <a:t>Требуется предобработка данных</a:t>
            </a:r>
          </a:p>
          <a:p>
            <a:pPr lvl="1"/>
            <a:r>
              <a:rPr lang="ru-RU" sz="2200" dirty="0"/>
              <a:t>В модели появились новые факторы</a:t>
            </a:r>
          </a:p>
          <a:p>
            <a:pPr lvl="2"/>
            <a:r>
              <a:rPr lang="ru-RU" sz="1800" dirty="0"/>
              <a:t>Требуется обновление модели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68A46-4F83-75EF-9AC5-50C84FBEBAB3}"/>
              </a:ext>
            </a:extLst>
          </p:cNvPr>
          <p:cNvSpPr txBox="1"/>
          <p:nvPr/>
        </p:nvSpPr>
        <p:spPr>
          <a:xfrm>
            <a:off x="261258" y="6384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residuals.html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5DE72-9611-356D-D4E5-91346D2DA8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" b="56121"/>
          <a:stretch>
            <a:fillRect/>
          </a:stretch>
        </p:blipFill>
        <p:spPr bwMode="auto">
          <a:xfrm>
            <a:off x="5627360" y="4946052"/>
            <a:ext cx="6270727" cy="17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612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остатков. Замечания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43" y="731272"/>
            <a:ext cx="11781113" cy="593574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b="1" dirty="0"/>
              <a:t>Состоятельное предсказание (</a:t>
            </a:r>
            <a:r>
              <a:rPr lang="en" sz="2200" b="1" dirty="0"/>
              <a:t>prediction consistency</a:t>
            </a:r>
            <a:r>
              <a:rPr lang="ru-RU" sz="2200" b="1" dirty="0"/>
              <a:t>) </a:t>
            </a:r>
            <a:r>
              <a:rPr lang="ru-RU" sz="2200" dirty="0"/>
              <a:t>– это предсказание сходящееся к истинным значениям </a:t>
            </a:r>
            <a:r>
              <a:rPr lang="en-US" sz="2200" dirty="0"/>
              <a:t>ВР</a:t>
            </a:r>
            <a:r>
              <a:rPr lang="ru-RU" sz="2200" dirty="0"/>
              <a:t> для случая бесконечной выборки.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ru-RU" sz="2200" dirty="0"/>
              <a:t>Качество прогноза улучшается по мере увеличения объема обучающих данных и стремится к оптимальному (или теоретически достижимому минимуму ошибки).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ru-RU" sz="2200" u="sng" dirty="0"/>
              <a:t>Остатки модели -  представляют собой Белый гауссов шум (БГШ).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ru-RU" sz="2200" i="1" dirty="0"/>
              <a:t>БГШ - случайные флуктуации во временном ряду, которые не могут быть смоделированы (или объяснил).</a:t>
            </a:r>
          </a:p>
          <a:p>
            <a:pPr lvl="4">
              <a:lnSpc>
                <a:spcPct val="120000"/>
              </a:lnSpc>
              <a:spcBef>
                <a:spcPts val="200"/>
              </a:spcBef>
            </a:pPr>
            <a:r>
              <a:rPr lang="ru-RU" sz="2000" i="1" dirty="0"/>
              <a:t>Для некоторых линейных моделей можно оценить минимальную дисперсию БГШ (</a:t>
            </a:r>
            <a:r>
              <a:rPr lang="ru-RU" sz="2000" i="1" dirty="0" err="1"/>
              <a:t>напр</a:t>
            </a:r>
            <a:r>
              <a:rPr lang="ru-RU" sz="2000" i="1" dirty="0"/>
              <a:t>, граница Крамера-</a:t>
            </a:r>
            <a:r>
              <a:rPr lang="ru-RU" sz="2000" i="1" dirty="0" err="1"/>
              <a:t>Рао</a:t>
            </a:r>
            <a:r>
              <a:rPr lang="ru-RU" sz="2000" i="1" dirty="0"/>
              <a:t>)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ru-RU" sz="2200" dirty="0"/>
              <a:t>Если предсказания сходятся к истинным значениям "в среднем квадратичном» (RMSE</a:t>
            </a:r>
            <a:r>
              <a:rPr lang="en-US" sz="2200" dirty="0"/>
              <a:t>)</a:t>
            </a:r>
            <a:r>
              <a:rPr lang="ru-RU" sz="2200" dirty="0"/>
              <a:t> или если предсказания асимптотически несмещенные </a:t>
            </a:r>
            <a:r>
              <a:rPr lang="en-US" sz="2200" dirty="0"/>
              <a:t>(MAE) </a:t>
            </a:r>
            <a:r>
              <a:rPr lang="ru-RU" sz="2200" dirty="0"/>
              <a:t>и их дисперсия стремится к нулю, то такие предсказания будут состоятельными.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ru-RU" sz="2000" dirty="0"/>
              <a:t>Состоятельное предсказание означает, что с ростом обучающей выборки информативность будет расти, дисперсия падать, вероятность переобучения падать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ru-RU" sz="2000" dirty="0"/>
              <a:t>Состоятельность означает асимптотическую эффективность модели.  Лучше использовать состоятельные модели если есть выбор.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b="1" dirty="0"/>
              <a:t>Если предсказание состоятельно – вся инфа учтена, это не значит что инфы достаточно. Анализ остатков должны сопровождаться независимыми методами проверки модели (например кросс-валидация)!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i="1" dirty="0"/>
              <a:t>	чем значимей компонента в модели ВР, тем меньше выборка (информация) нужна для ее 	предсказания (проще предсказать годовой тренд, чем колебания в выходные)</a:t>
            </a:r>
          </a:p>
        </p:txBody>
      </p:sp>
    </p:spTree>
    <p:extLst>
      <p:ext uri="{BB962C8B-B14F-4D97-AF65-F5344CB8AC3E}">
        <p14:creationId xmlns:p14="http://schemas.microsoft.com/office/powerpoint/2010/main" val="2940444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951517"/>
            <a:ext cx="11759879" cy="53743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Существует несколько </a:t>
            </a:r>
            <a:r>
              <a:rPr lang="ru-RU" sz="2200" b="1" dirty="0"/>
              <a:t>методов остаточного анализа</a:t>
            </a:r>
            <a:r>
              <a:rPr lang="ru-RU" sz="2200" dirty="0"/>
              <a:t> 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Визуальный анализ остатков </a:t>
            </a:r>
            <a:r>
              <a:rPr lang="ru-RU" sz="2200" dirty="0"/>
              <a:t>(во временной или частотной области) – глобальные тенденции ВР, </a:t>
            </a:r>
            <a:r>
              <a:rPr lang="ru-RU" sz="2200" i="1" dirty="0"/>
              <a:t>скользящее среднее и дисперсия </a:t>
            </a:r>
            <a:r>
              <a:rPr lang="ru-RU" sz="2200" dirty="0"/>
              <a:t>– проверка новизны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График гистограммы </a:t>
            </a:r>
            <a:r>
              <a:rPr lang="ru-RU" sz="2200" dirty="0"/>
              <a:t>– оценка нормальности распределения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График Q-Q </a:t>
            </a:r>
            <a:r>
              <a:rPr lang="ru-RU" sz="2200" dirty="0"/>
              <a:t>(графическое сравнение распределения вероятностей)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en-US" sz="2200" b="1" dirty="0"/>
              <a:t>ACF/PACF </a:t>
            </a:r>
            <a:r>
              <a:rPr lang="ru-RU" sz="2200" b="1" dirty="0"/>
              <a:t>графики </a:t>
            </a:r>
            <a:r>
              <a:rPr lang="ru-RU" sz="2200" dirty="0"/>
              <a:t>– анализ значимых корреляций (+ Тест Линга Бокса).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2449CEE-6B6C-F355-A9BB-E35D0406A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97" y="3106546"/>
            <a:ext cx="5212751" cy="321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7386FB2-EBDE-B4B7-CA58-004879DB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441" y="3114939"/>
            <a:ext cx="3940142" cy="328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4CD57-BFCA-F91B-5F8D-D501D6254A3E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72BED-3762-75DE-071A-DA491D2E0DFA}"/>
              </a:ext>
            </a:extLst>
          </p:cNvPr>
          <p:cNvSpPr txBox="1"/>
          <p:nvPr/>
        </p:nvSpPr>
        <p:spPr>
          <a:xfrm>
            <a:off x="263538" y="6466818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851525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68D4-4AB3-E5C6-678C-21B428EC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7E9A1-9327-2969-057D-7A621C55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45D54-E197-E316-0736-653FEE0D5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51517"/>
            <a:ext cx="6659302" cy="5477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Метод дает прогнозы, по-видимому, учитывают всю доступную информацию. 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Среднее значение остатков близко к нулю 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нет существенной корреляции.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Временной график имеет выброс, в остальном дисперсия постоянная.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Гистограмма - остатки могут быть ненормальными — правый хвост кажется слишком длинным, даже если мы игнорируем выброс.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 Следовательно, прогнозы с помощью этого метода, вероятно, будут довольно хорошими, но интервалы прогнозирования, рассчитанные с учетом нормального распределения, могут быть неточными.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700DB4B-4E96-F6D6-331B-7E1F04C61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89" y="3428999"/>
            <a:ext cx="4993628" cy="308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BD83CE-9D31-8503-6841-D35EB6A8E066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9827E-617A-7EC0-7BCA-33C1A94E3117}"/>
              </a:ext>
            </a:extLst>
          </p:cNvPr>
          <p:cNvSpPr txBox="1"/>
          <p:nvPr/>
        </p:nvSpPr>
        <p:spPr>
          <a:xfrm>
            <a:off x="885463" y="6429200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5" name="Picture 6" descr="80% and 95% prediction intervals for the Google closing stock price based on a naïve method.">
            <a:extLst>
              <a:ext uri="{FF2B5EF4-FFF2-40B4-BE49-F238E27FC236}">
                <a16:creationId xmlns:a16="http://schemas.microsoft.com/office/drawing/2014/main" id="{F3B4D2EE-5CDF-B7CE-C848-9C03E30888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4"/>
          <a:stretch>
            <a:fillRect/>
          </a:stretch>
        </p:blipFill>
        <p:spPr bwMode="auto">
          <a:xfrm>
            <a:off x="6927847" y="849883"/>
            <a:ext cx="4776486" cy="254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443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C08E-D9C4-08D6-0DFE-24FF7A5C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D014D-6EB6-51A5-D4AE-A42BFAC4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C7F30-7606-9AC7-851B-5FBACBF6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51517"/>
            <a:ext cx="6659302" cy="5477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Метод дает не качественный прогноз.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Визуально в остатках видна нестационарность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100" dirty="0"/>
              <a:t>ACF </a:t>
            </a:r>
            <a:r>
              <a:rPr lang="ru-RU" sz="2100" dirty="0"/>
              <a:t>показывает нестационарность до 13 лага – вероятно не учтена сезонность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Гистограмма имеет скос – нестационарность, тенденция к изменению во времени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Требуется усложнить модель. Вероятно учесть годовую сезонность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AFD8A-C6F4-2461-F510-7D4BCF84E9E0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DD977-7C27-5ECC-362E-DDC91B195E43}"/>
              </a:ext>
            </a:extLst>
          </p:cNvPr>
          <p:cNvSpPr txBox="1"/>
          <p:nvPr/>
        </p:nvSpPr>
        <p:spPr>
          <a:xfrm>
            <a:off x="885463" y="6429200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A314BF8-1C00-7125-7346-6F9CF9737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392" y="3189498"/>
            <a:ext cx="5376817" cy="332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1F232D-EC30-C70D-47D9-0836239B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363" y="867732"/>
            <a:ext cx="4909457" cy="251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137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8041-8563-02ED-9643-8BB1B47D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20444-14CF-FBE0-65E3-FAA9E408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19" y="228601"/>
            <a:ext cx="11353800" cy="99751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 </a:t>
            </a:r>
            <a:r>
              <a:rPr lang="en-US" b="1" dirty="0" err="1"/>
              <a:t>пр</a:t>
            </a:r>
            <a:r>
              <a:rPr lang="ru-RU" b="1" dirty="0"/>
              <a:t>и помощи тестов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62E242-928E-234E-22B9-FC8811A06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1025018"/>
            <a:ext cx="11759879" cy="5374341"/>
          </a:xfrm>
        </p:spPr>
        <p:txBody>
          <a:bodyPr>
            <a:normAutofit fontScale="92500" lnSpcReduction="10000"/>
          </a:bodyPr>
          <a:lstStyle/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300" b="1" dirty="0"/>
              <a:t>Непараметрическая проверка статистических гипотез </a:t>
            </a:r>
            <a:r>
              <a:rPr lang="ru-RU" sz="2300" dirty="0"/>
              <a:t>(ADF-критерий, критерий Линга – Бокса, тест Уайта и </a:t>
            </a:r>
            <a:r>
              <a:rPr lang="ru-RU" sz="2300" dirty="0" err="1"/>
              <a:t>тд</a:t>
            </a:r>
            <a:r>
              <a:rPr lang="ru-RU" sz="2300" dirty="0"/>
              <a:t>).</a:t>
            </a:r>
          </a:p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300" dirty="0" err="1"/>
              <a:t>Тест</a:t>
            </a:r>
            <a:r>
              <a:rPr lang="ru-RU" sz="2300" dirty="0"/>
              <a:t> Линга – Бокса</a:t>
            </a:r>
          </a:p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300" dirty="0"/>
              <a:t>Идея теста: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300" b="1" i="1" dirty="0"/>
              <a:t>H</a:t>
            </a:r>
            <a:r>
              <a:rPr lang="en" sz="2300" b="1" dirty="0"/>
              <a:t>0​</a:t>
            </a:r>
            <a:r>
              <a:rPr lang="en" sz="2300" dirty="0"/>
              <a:t>: </a:t>
            </a:r>
            <a:r>
              <a:rPr lang="ru-RU" sz="2300" dirty="0"/>
              <a:t>Остатки независимы (нет автокорреляции)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300" b="1" i="1" dirty="0"/>
              <a:t>H</a:t>
            </a:r>
            <a:r>
              <a:rPr lang="en" sz="2300" b="1" dirty="0"/>
              <a:t>1​</a:t>
            </a:r>
            <a:r>
              <a:rPr lang="en" sz="2300" dirty="0"/>
              <a:t>: </a:t>
            </a:r>
            <a:r>
              <a:rPr lang="ru-RU" sz="2300" dirty="0"/>
              <a:t>Присутствует автокорреляция (остатки не случайны)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тест зависит от выбора числа степеней свободы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Тест выявляет неучтенные паттерны или цикличность в остатках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Часто тест дает результаты на границе выбора гипотез – требуются дополнительные исследования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900" dirty="0">
                <a:solidFill>
                  <a:srgbClr val="2C2C36"/>
                </a:solidFill>
                <a:latin typeface="system-ui"/>
              </a:rPr>
              <a:t>Порядок модели </a:t>
            </a:r>
            <a:r>
              <a:rPr lang="ru-RU" sz="1900" dirty="0">
                <a:solidFill>
                  <a:srgbClr val="2C2C36"/>
                </a:solidFill>
                <a:latin typeface="KaTeX_Main"/>
              </a:rPr>
              <a:t>ℓ=10 или </a:t>
            </a:r>
            <a:r>
              <a:rPr lang="ru-RU" sz="1900" dirty="0" err="1">
                <a:solidFill>
                  <a:srgbClr val="2C2C36"/>
                </a:solidFill>
                <a:latin typeface="KaTeX_Main"/>
              </a:rPr>
              <a:t>ln</a:t>
            </a:r>
            <a:r>
              <a:rPr lang="en-US" sz="1900" dirty="0">
                <a:solidFill>
                  <a:srgbClr val="2C2C36"/>
                </a:solidFill>
                <a:latin typeface="KaTeX_Main"/>
              </a:rPr>
              <a:t>(n)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 .</a:t>
            </a:r>
            <a:r>
              <a:rPr lang="ru-RU" sz="1900" dirty="0">
                <a:solidFill>
                  <a:srgbClr val="2C2C36"/>
                </a:solidFill>
                <a:latin typeface="KaTeX_Main"/>
              </a:rPr>
              <a:t>ℓ=2</a:t>
            </a:r>
            <a:r>
              <a:rPr lang="en" sz="1900" i="1" dirty="0">
                <a:solidFill>
                  <a:srgbClr val="2C2C36"/>
                </a:solidFill>
                <a:latin typeface="KaTeX_Math"/>
              </a:rPr>
              <a:t>m</a:t>
            </a:r>
            <a:r>
              <a:rPr lang="en" sz="1900" dirty="0">
                <a:solidFill>
                  <a:srgbClr val="2C2C36"/>
                </a:solidFill>
                <a:latin typeface="system-ui"/>
              </a:rPr>
              <a:t> , 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где </a:t>
            </a:r>
            <a:r>
              <a:rPr lang="en" sz="1900" i="1" dirty="0">
                <a:solidFill>
                  <a:srgbClr val="2C2C36"/>
                </a:solidFill>
                <a:latin typeface="KaTeX_Math"/>
              </a:rPr>
              <a:t>m</a:t>
            </a:r>
            <a:r>
              <a:rPr lang="en" sz="1900" dirty="0">
                <a:solidFill>
                  <a:srgbClr val="2C2C36"/>
                </a:solidFill>
                <a:latin typeface="system-ui"/>
              </a:rPr>
              <a:t> — 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сезонный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Не используйте </a:t>
            </a:r>
            <a:r>
              <a:rPr lang="ru-RU" sz="1900" dirty="0">
                <a:latin typeface="KaTeX_Main"/>
              </a:rPr>
              <a:t>ℓ</a:t>
            </a:r>
            <a:r>
              <a:rPr lang="ru-RU" sz="1900" dirty="0"/>
              <a:t> больше </a:t>
            </a:r>
            <a:r>
              <a:rPr lang="en" sz="1900" i="1" dirty="0">
                <a:latin typeface="KaTeX_Math"/>
              </a:rPr>
              <a:t>T</a:t>
            </a:r>
            <a:r>
              <a:rPr lang="en" sz="1900" dirty="0">
                <a:latin typeface="KaTeX_Main"/>
              </a:rPr>
              <a:t>/5</a:t>
            </a:r>
            <a:r>
              <a:rPr lang="en" sz="1900" dirty="0"/>
              <a:t> , </a:t>
            </a:r>
            <a:r>
              <a:rPr lang="ru-RU" sz="1900" dirty="0"/>
              <a:t>так как это может привести к завышенной статистике.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Если лагов выбрано мало – пропуск автокорреляций, если много- мощность теста падает. </a:t>
            </a:r>
            <a:endParaRPr lang="en-US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Если в данных структурный разрыв (новизна) может дать ложный результат, также тест может не показать тяжелые хвосты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Тест не реагирует не </a:t>
            </a:r>
            <a:r>
              <a:rPr lang="ru-RU" sz="2300" dirty="0" err="1"/>
              <a:t>гетероскдостичноть</a:t>
            </a:r>
            <a:endParaRPr lang="ru-RU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Аномалии создают ложные корреляции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DF016-F8D2-9577-027C-B1A5E6ECACED}"/>
              </a:ext>
            </a:extLst>
          </p:cNvPr>
          <p:cNvSpPr txBox="1"/>
          <p:nvPr/>
        </p:nvSpPr>
        <p:spPr>
          <a:xfrm>
            <a:off x="258502" y="6380256"/>
            <a:ext cx="957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www.numberanalytics.com</a:t>
            </a:r>
            <a:r>
              <a:rPr lang="ru-RU" dirty="0"/>
              <a:t>/</a:t>
            </a:r>
            <a:r>
              <a:rPr lang="ru-RU" dirty="0" err="1"/>
              <a:t>blog</a:t>
            </a:r>
            <a:r>
              <a:rPr lang="ru-RU" dirty="0"/>
              <a:t>/</a:t>
            </a:r>
            <a:r>
              <a:rPr lang="ru-RU" dirty="0" err="1"/>
              <a:t>mastering-residual-analysis-in-time-series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BBFD0D-37A5-1291-9EAC-A9AA43533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372" y="1773290"/>
            <a:ext cx="3820580" cy="141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92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B5B2-53D0-C087-5403-91186C37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E6D2B-517F-34D9-313F-456CA21F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19" y="228601"/>
            <a:ext cx="11353800" cy="99751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 </a:t>
            </a:r>
            <a:r>
              <a:rPr lang="en-US" b="1" dirty="0" err="1"/>
              <a:t>пр</a:t>
            </a:r>
            <a:r>
              <a:rPr lang="ru-RU" b="1" dirty="0"/>
              <a:t>и помощи тестов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A1F197-1A9F-E6C6-6FEB-3782311A6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1025018"/>
            <a:ext cx="11802321" cy="5458078"/>
          </a:xfrm>
        </p:spPr>
        <p:txBody>
          <a:bodyPr>
            <a:normAutofit/>
          </a:bodyPr>
          <a:lstStyle/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100" b="1" dirty="0"/>
              <a:t>Дополнительные тесты. Основные идеи</a:t>
            </a:r>
            <a:endParaRPr lang="ru-RU" sz="2100" dirty="0"/>
          </a:p>
          <a:p>
            <a:pPr lvl="1"/>
            <a:r>
              <a:rPr lang="ru-RU" sz="2100" dirty="0"/>
              <a:t>Тест сезонность и цикличность: </a:t>
            </a:r>
            <a:r>
              <a:rPr lang="en" sz="2100" dirty="0"/>
              <a:t>Portmanteau </a:t>
            </a:r>
            <a:r>
              <a:rPr lang="ru-RU" sz="2100" dirty="0"/>
              <a:t>Махди тест (Линг-Бокс на сезонных лагах)</a:t>
            </a:r>
          </a:p>
          <a:p>
            <a:pPr lvl="1"/>
            <a:r>
              <a:rPr lang="ru-RU" sz="2100" dirty="0"/>
              <a:t>Тест на </a:t>
            </a:r>
            <a:r>
              <a:rPr lang="ru-RU" sz="2100" dirty="0" err="1"/>
              <a:t>гетеросекдостичность</a:t>
            </a:r>
            <a:r>
              <a:rPr lang="ru-RU" sz="2100" dirty="0"/>
              <a:t>:  </a:t>
            </a:r>
            <a:r>
              <a:rPr lang="en" sz="2100" dirty="0"/>
              <a:t>Breusch-Pagan Test</a:t>
            </a:r>
            <a:r>
              <a:rPr lang="ru-RU" sz="2100" dirty="0"/>
              <a:t> (сравнение квадрата остатков и средней дисперсии)</a:t>
            </a:r>
          </a:p>
          <a:p>
            <a:pPr lvl="1"/>
            <a:r>
              <a:rPr lang="ru-RU" sz="2100" dirty="0"/>
              <a:t>Тест на новизну и точки перегиба в данных: </a:t>
            </a:r>
            <a:r>
              <a:rPr lang="en-US" sz="2100" dirty="0"/>
              <a:t>CUSUM – </a:t>
            </a:r>
            <a:r>
              <a:rPr lang="en-US" sz="2100" dirty="0" err="1"/>
              <a:t>на</a:t>
            </a:r>
            <a:r>
              <a:rPr lang="ru-RU" sz="2100" dirty="0" err="1"/>
              <a:t>копление</a:t>
            </a:r>
            <a:r>
              <a:rPr lang="ru-RU" sz="2100" dirty="0"/>
              <a:t> отклонений от среднего, Тест </a:t>
            </a:r>
            <a:r>
              <a:rPr lang="ru-RU" sz="2100" dirty="0" err="1"/>
              <a:t>Петтита</a:t>
            </a:r>
            <a:r>
              <a:rPr lang="ru-RU" sz="2100" dirty="0"/>
              <a:t> – изменение среднего значения ранговой корреляции, через анализ медианы и ширины распределения</a:t>
            </a:r>
          </a:p>
          <a:p>
            <a:pPr lvl="1"/>
            <a:r>
              <a:rPr lang="ru-RU" sz="2100" dirty="0"/>
              <a:t>Тест на нормальное распределение: Тест Шапиро- </a:t>
            </a:r>
            <a:r>
              <a:rPr lang="ru-RU" sz="2100" dirty="0" err="1"/>
              <a:t>Уилка</a:t>
            </a:r>
            <a:r>
              <a:rPr lang="ru-RU" sz="2100" dirty="0"/>
              <a:t> (для небольших выборок подобно </a:t>
            </a:r>
            <a:r>
              <a:rPr lang="ru-RU" sz="2100" dirty="0" err="1"/>
              <a:t>Q</a:t>
            </a:r>
            <a:r>
              <a:rPr lang="ru-RU" sz="2100" dirty="0"/>
              <a:t>-</a:t>
            </a:r>
            <a:r>
              <a:rPr lang="en-US" sz="2100" dirty="0"/>
              <a:t>Q</a:t>
            </a:r>
            <a:r>
              <a:rPr lang="ru-RU" sz="2100" dirty="0"/>
              <a:t>), тест </a:t>
            </a:r>
            <a:r>
              <a:rPr lang="ru-RU" sz="2100" dirty="0" err="1"/>
              <a:t>Калмогорова</a:t>
            </a:r>
            <a:r>
              <a:rPr lang="ru-RU" sz="2100" dirty="0"/>
              <a:t> Смирнова (сравнение эмпирической </a:t>
            </a:r>
            <a:r>
              <a:rPr lang="ru-RU" sz="2100" dirty="0" err="1"/>
              <a:t>cd</a:t>
            </a:r>
            <a:r>
              <a:rPr lang="en-US" sz="2100" dirty="0"/>
              <a:t>f </a:t>
            </a:r>
            <a:r>
              <a:rPr lang="ru-RU" sz="2100" dirty="0"/>
              <a:t>и </a:t>
            </a:r>
            <a:r>
              <a:rPr lang="en-US" sz="2100" dirty="0" err="1"/>
              <a:t>cdf</a:t>
            </a:r>
            <a:r>
              <a:rPr lang="ru-RU" sz="2100" dirty="0"/>
              <a:t> нормального распределения)</a:t>
            </a:r>
          </a:p>
          <a:p>
            <a:r>
              <a:rPr lang="ru-RU" sz="2100" b="1" dirty="0"/>
              <a:t>Помимо тестов рекомендуется </a:t>
            </a:r>
          </a:p>
          <a:p>
            <a:r>
              <a:rPr lang="ru-RU" sz="2100" dirty="0"/>
              <a:t>проводить визуальный анализ остатков, в том числе разделенных на сегменты,</a:t>
            </a:r>
          </a:p>
          <a:p>
            <a:r>
              <a:rPr lang="ru-RU" sz="2100" dirty="0"/>
              <a:t>Перекрестную проверку модели</a:t>
            </a:r>
          </a:p>
          <a:p>
            <a:r>
              <a:rPr lang="ru-RU" sz="2100" dirty="0"/>
              <a:t>Сравнивать несколько моделей между собой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A9143-0271-03F5-094F-9ADCBE266A95}"/>
              </a:ext>
            </a:extLst>
          </p:cNvPr>
          <p:cNvSpPr txBox="1"/>
          <p:nvPr/>
        </p:nvSpPr>
        <p:spPr>
          <a:xfrm>
            <a:off x="258502" y="6380256"/>
            <a:ext cx="957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www.numberanalytics.com</a:t>
            </a:r>
            <a:r>
              <a:rPr lang="ru-RU" dirty="0"/>
              <a:t>/</a:t>
            </a:r>
            <a:r>
              <a:rPr lang="ru-RU" dirty="0" err="1"/>
              <a:t>blog</a:t>
            </a:r>
            <a:r>
              <a:rPr lang="ru-RU" dirty="0"/>
              <a:t>/</a:t>
            </a:r>
            <a:r>
              <a:rPr lang="ru-RU" dirty="0" err="1"/>
              <a:t>mastering-residual-analysis-in-time-series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8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285BC-9494-FE18-3BF8-43AC28D6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53FB2A8-1743-28F9-9B55-9A676F8FA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96059"/>
              </p:ext>
            </p:extLst>
          </p:nvPr>
        </p:nvGraphicFramePr>
        <p:xfrm>
          <a:off x="356924" y="1589887"/>
          <a:ext cx="11230494" cy="3396800"/>
        </p:xfrm>
        <a:graphic>
          <a:graphicData uri="http://schemas.openxmlformats.org/drawingml/2006/table">
            <a:tbl>
              <a:tblPr/>
              <a:tblGrid>
                <a:gridCol w="3055876">
                  <a:extLst>
                    <a:ext uri="{9D8B030D-6E8A-4147-A177-3AD203B41FA5}">
                      <a16:colId xmlns:a16="http://schemas.microsoft.com/office/drawing/2014/main" val="2032119108"/>
                    </a:ext>
                  </a:extLst>
                </a:gridCol>
                <a:gridCol w="3189600">
                  <a:extLst>
                    <a:ext uri="{9D8B030D-6E8A-4147-A177-3AD203B41FA5}">
                      <a16:colId xmlns:a16="http://schemas.microsoft.com/office/drawing/2014/main" val="1693817792"/>
                    </a:ext>
                  </a:extLst>
                </a:gridCol>
                <a:gridCol w="4985018">
                  <a:extLst>
                    <a:ext uri="{9D8B030D-6E8A-4147-A177-3AD203B41FA5}">
                      <a16:colId xmlns:a16="http://schemas.microsoft.com/office/drawing/2014/main" val="2769332843"/>
                    </a:ext>
                  </a:extLst>
                </a:gridCol>
              </a:tblGrid>
              <a:tr h="104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Задача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Комментарий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140635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Автокорреляция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Ljung–Box, Box–Pierce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Наиболее популярные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939497"/>
                  </a:ext>
                </a:extLst>
              </a:tr>
              <a:tr h="11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Гетероскедастичность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McLeod–Li, ArchTest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 квадратах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181400"/>
                  </a:ext>
                </a:extLst>
              </a:tr>
              <a:tr h="11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Выбросы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IQR, Grubbs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 остатках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4133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Стационарность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ADF, KPSS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проверки стационарности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68200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Нормальность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Shapiro–Wilk, Jarque–Bera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построения доверительных интервалов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403402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Наличие структурных сдвигов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CUSUM, Chow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анализа стабильности модели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64147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Смещение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t-</a:t>
                      </a: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 на среднее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проверки систематической ошибки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265252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Вероятностные прогнозы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CRPS, Winkler score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оценки качества интервалов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001306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Эмпирическая надёжность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Conformal Prediction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построения интервалов без предположений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46771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Сезонные остатки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Mahdi’s seasonal portmanteau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Альтернатива </a:t>
                      </a: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Ljung–Box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сезонных </a:t>
                      </a: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ARIMA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005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E4A131-C456-B79F-CE24-13C6CA33A17F}"/>
              </a:ext>
            </a:extLst>
          </p:cNvPr>
          <p:cNvSpPr txBox="1"/>
          <p:nvPr/>
        </p:nvSpPr>
        <p:spPr>
          <a:xfrm>
            <a:off x="356924" y="5138607"/>
            <a:ext cx="1089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Ljung–Box </a:t>
            </a:r>
            <a:r>
              <a:rPr lang="ru-RU" b="0" i="0" dirty="0">
                <a:solidFill>
                  <a:srgbClr val="111827"/>
                </a:solidFill>
                <a:effectLst/>
              </a:rPr>
              <a:t>и </a:t>
            </a:r>
            <a:r>
              <a:rPr lang="en" b="0" i="0" dirty="0">
                <a:solidFill>
                  <a:srgbClr val="111827"/>
                </a:solidFill>
                <a:effectLst/>
              </a:rPr>
              <a:t>Box–Pierce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хороши для проверки автокорреляции в остатках.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McLeod–Li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есть подозрения на </a:t>
            </a:r>
            <a:r>
              <a:rPr lang="ru-RU" b="0" i="0" dirty="0" err="1">
                <a:solidFill>
                  <a:srgbClr val="2C2C36"/>
                </a:solidFill>
                <a:effectLst/>
              </a:rPr>
              <a:t>гетероскедастичность</a:t>
            </a:r>
            <a:r>
              <a:rPr lang="ru-RU" b="0" i="0" dirty="0">
                <a:solidFill>
                  <a:srgbClr val="2C2C36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CUSUM/Chow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есть подозрения на структурные изменения.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Shapiro–Wilk/Jarque–Bera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планируете строить доверительные интервалы на основе нормальности.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CRPS/Winkler score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работаете с вероятностными прогнозами.</a:t>
            </a:r>
          </a:p>
        </p:txBody>
      </p:sp>
    </p:spTree>
    <p:extLst>
      <p:ext uri="{BB962C8B-B14F-4D97-AF65-F5344CB8AC3E}">
        <p14:creationId xmlns:p14="http://schemas.microsoft.com/office/powerpoint/2010/main" val="3202543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АКФ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2203627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13141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Гистограмма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Здесь показана гистограмма и ее нормализованное приближение. Мы можем видеть некоторую погрешность среднего значения и наличие асимметрии (статистический момент 3-го порядка, некоторая асимметрия распределения).</a:t>
            </a:r>
          </a:p>
          <a:p>
            <a:r>
              <a:rPr lang="ru-RU" sz="2000" i="1" dirty="0"/>
              <a:t>Небольшая асимметрия</a:t>
            </a:r>
            <a:r>
              <a:rPr lang="ru-RU" sz="2000" dirty="0"/>
              <a:t>  позволяет предположить, что требуется некоторое улучшение модели.</a:t>
            </a:r>
          </a:p>
          <a:p>
            <a:r>
              <a:rPr lang="ru-RU" sz="2000" i="1" dirty="0"/>
              <a:t>Большая асимметрия</a:t>
            </a:r>
            <a:r>
              <a:rPr lang="ru-RU" sz="2000" dirty="0"/>
              <a:t>  позволяет предположить, что необходимо проверить другую модель или что перед прогнозом (или разложением) необходима некоторая предварительная обработка (логарифм, квадратный корень из данных).</a:t>
            </a: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73E0B2CF-6E5B-4C0D-80B3-950B557E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16" y="3856290"/>
            <a:ext cx="727710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6629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46224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График Q-Q или график квантилей - это метод графического сравнения двух распределений.</a:t>
            </a:r>
          </a:p>
          <a:p>
            <a:r>
              <a:rPr lang="ru-RU" sz="2000" dirty="0"/>
              <a:t>Этот метод можно использовать для визуальной оценки того, насколько похожим или отличным может быть распределение. </a:t>
            </a:r>
          </a:p>
          <a:p>
            <a:r>
              <a:rPr lang="ru-RU" sz="2000" u="sng" dirty="0"/>
              <a:t>В остаточном анализе полученные значения распределения упорядочиваются и сравниваются с идеализированным распределением Гаусса. </a:t>
            </a:r>
          </a:p>
          <a:p>
            <a:r>
              <a:rPr lang="ru-RU" sz="2000" dirty="0"/>
              <a:t>Сравнение отображается как диаграмма рассеяния (теоретическая по оси x и наблюдаемая по оси y), где соответствие между двумя распределениями показано диагональной линией от нижнего левого угла до верхнего правого угла графика (с угол 45 градусов 𝑦 = 𝑥).</a:t>
            </a:r>
          </a:p>
          <a:p>
            <a:r>
              <a:rPr lang="ru-RU" sz="2000" dirty="0"/>
              <a:t> График Q-Q может помочь быстро показать отклонения от этого ожидания.</a:t>
            </a:r>
          </a:p>
        </p:txBody>
      </p:sp>
      <p:pic>
        <p:nvPicPr>
          <p:cNvPr id="18434" name="Picture 2" descr="image.png">
            <a:extLst>
              <a:ext uri="{FF2B5EF4-FFF2-40B4-BE49-F238E27FC236}">
                <a16:creationId xmlns:a16="http://schemas.microsoft.com/office/drawing/2014/main" id="{03477BD5-BC06-4399-9AB6-491E5925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576" y="4186720"/>
            <a:ext cx="323850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991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65125"/>
            <a:ext cx="11536456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9458" name="Picture 2" descr="image.png">
            <a:extLst>
              <a:ext uri="{FF2B5EF4-FFF2-40B4-BE49-F238E27FC236}">
                <a16:creationId xmlns:a16="http://schemas.microsoft.com/office/drawing/2014/main" id="{704DEF0B-6378-4183-AF25-947553EC6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77951"/>
            <a:ext cx="4191000" cy="48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image.png">
            <a:extLst>
              <a:ext uri="{FF2B5EF4-FFF2-40B4-BE49-F238E27FC236}">
                <a16:creationId xmlns:a16="http://schemas.microsoft.com/office/drawing/2014/main" id="{F379DE72-FD54-43DA-9E77-A032D7596B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1"/>
          <a:stretch/>
        </p:blipFill>
        <p:spPr bwMode="auto">
          <a:xfrm>
            <a:off x="8172450" y="1435169"/>
            <a:ext cx="3384046" cy="286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123D101A-0C41-4918-90D4-57904B409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25"/>
          <a:stretch/>
        </p:blipFill>
        <p:spPr bwMode="auto">
          <a:xfrm>
            <a:off x="4638675" y="1253331"/>
            <a:ext cx="3533775" cy="323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87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93" y="365125"/>
            <a:ext cx="10832507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Методы на основе статистических тестов. </a:t>
            </a:r>
            <a:r>
              <a:rPr lang="ru-RU" altLang="en-US" dirty="0"/>
              <a:t>Непараметрические методы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59" y="1419784"/>
            <a:ext cx="11458574" cy="4739889"/>
          </a:xfrm>
        </p:spPr>
        <p:txBody>
          <a:bodyPr>
            <a:noAutofit/>
          </a:bodyPr>
          <a:lstStyle/>
          <a:p>
            <a:r>
              <a:rPr lang="ru-RU" sz="2000" dirty="0"/>
              <a:t>Линии на рисунке показывают уровни, ниже которых (или между + </a:t>
            </a:r>
            <a:r>
              <a:rPr lang="ru-RU" sz="2000" dirty="0" err="1"/>
              <a:t>level</a:t>
            </a:r>
            <a:r>
              <a:rPr lang="ru-RU" sz="2000" dirty="0"/>
              <a:t> и -</a:t>
            </a:r>
            <a:r>
              <a:rPr lang="ru-RU" sz="2000" dirty="0" err="1"/>
              <a:t>level</a:t>
            </a:r>
            <a:r>
              <a:rPr lang="ru-RU" sz="2000" dirty="0"/>
              <a:t>) с достоверностью 95% для непрерывных и 99% для штриховых линий образцы принадлежат белому шуму.</a:t>
            </a:r>
          </a:p>
          <a:p>
            <a:r>
              <a:rPr lang="ru-RU" sz="2000" dirty="0"/>
              <a:t>Значения этих линий получены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 - Бокса - теста, проверяющего, принадлежат ли m лаг ряда АКФ белому </a:t>
            </a:r>
            <a:r>
              <a:rPr lang="ru-RU" sz="2000" dirty="0" err="1"/>
              <a:t>гауссовскому</a:t>
            </a:r>
            <a:r>
              <a:rPr lang="ru-RU" sz="2000" dirty="0"/>
              <a:t> шуму с заданным уровнем достоверности. </a:t>
            </a:r>
          </a:p>
          <a:p>
            <a:r>
              <a:rPr lang="ru-RU" sz="2000" dirty="0"/>
              <a:t>Расчетное значение, вычисленное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-Бокса, является так называемым p-значением (статистической значимостью) по тесту </a:t>
            </a:r>
            <a:r>
              <a:rPr lang="ru-RU" sz="2000" dirty="0" err="1"/>
              <a:t>Льюнга</a:t>
            </a:r>
            <a:r>
              <a:rPr lang="ru-RU" sz="2000" dirty="0"/>
              <a:t>-Бокса.</a:t>
            </a:r>
          </a:p>
        </p:txBody>
      </p:sp>
      <p:pic>
        <p:nvPicPr>
          <p:cNvPr id="21506" name="Picture 2" descr="image.png">
            <a:extLst>
              <a:ext uri="{FF2B5EF4-FFF2-40B4-BE49-F238E27FC236}">
                <a16:creationId xmlns:a16="http://schemas.microsoft.com/office/drawing/2014/main" id="{BD34C626-9B45-4906-9527-88B5670D3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825" y="3385155"/>
            <a:ext cx="4570665" cy="34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06452" y="3621827"/>
            <a:ext cx="6036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Обратите внимание, что может случиться, что доверительный интервал 95% соответствует нормальному распределению, а 99% не соответствует, тогда нужны дополнительные меры анализа, но иногда это значит, что точки с такой ситуацией – это выбросы.  </a:t>
            </a:r>
          </a:p>
        </p:txBody>
      </p:sp>
    </p:spTree>
    <p:extLst>
      <p:ext uri="{BB962C8B-B14F-4D97-AF65-F5344CB8AC3E}">
        <p14:creationId xmlns:p14="http://schemas.microsoft.com/office/powerpoint/2010/main" val="27642563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Сводный </a:t>
            </a:r>
            <a:r>
              <a:rPr lang="ru-RU" dirty="0" err="1"/>
              <a:t>статичесический</a:t>
            </a:r>
            <a:r>
              <a:rPr lang="ru-RU" dirty="0"/>
              <a:t> анализ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1722452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5"/>
            <a:ext cx="10906125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Методы визуальной оценки. </a:t>
            </a:r>
            <a:br>
              <a:rPr lang="ru-RU" dirty="0"/>
            </a:br>
            <a:r>
              <a:rPr lang="ru-RU" dirty="0"/>
              <a:t>Частичная автокорреляция (</a:t>
            </a:r>
            <a:r>
              <a:rPr lang="en-US" dirty="0"/>
              <a:t>PACF</a:t>
            </a:r>
            <a:r>
              <a:rPr lang="ru-R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Один из методов проверки стационарности  - с помощью так называемой функции частичной автокорреляции (PACF):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𝑃𝐴𝐶𝐹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sz="2000" dirty="0"/>
                  <a:t> -</a:t>
                </a:r>
                <a:r>
                  <a:rPr lang="ru-RU" sz="2000" dirty="0"/>
                  <a:t> значение, предсказанное как результат линейной регрессии </a:t>
                </a:r>
                <a:r>
                  <a:rPr lang="en-US" sz="2000" dirty="0"/>
                  <a:t> </a:t>
                </a:r>
                <a:r>
                  <a:rPr lang="ru-RU" sz="2000" dirty="0"/>
                  <a:t>по лагам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Частичная корреляция снимает (</a:t>
                </a:r>
                <a:r>
                  <a:rPr lang="ru-RU" sz="2000" dirty="0" err="1"/>
                  <a:t>устраняте</a:t>
                </a:r>
                <a:r>
                  <a:rPr lang="ru-RU" sz="2000" dirty="0"/>
                  <a:t>) линейную зависимость от промежуточных лагов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«Частичная» корреляция между двумя переменными - это степень корреляции между ними, которая не объясняется их взаимной корреляцией с заданным набором других переменных. 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Например, если мы регрессируем переменную Y по переменным X1, X2 и X3, частичная корреляция между Y и X3 - это степень корреляции между Y и X3, которая не объясняется их общими корреляциями с X1 и X2.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  <a:blipFill>
                <a:blip r:embed="rId2"/>
                <a:stretch>
                  <a:fillRect l="-445" t="-7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936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5"/>
            <a:ext cx="10906125" cy="911225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 (</a:t>
            </a:r>
            <a:r>
              <a:rPr lang="en-US" dirty="0"/>
              <a:t>PACF</a:t>
            </a:r>
            <a:r>
              <a:rPr lang="ru-R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Один из методов проверки стационарности  - с помощью так называемой функции частичной автокорреляции (PACF):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)⋅(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𝑃𝐴𝐶𝑉𝐹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  <a:blipFill>
                <a:blip r:embed="rId2"/>
                <a:stretch>
                  <a:fillRect l="-481" t="-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46" y="4122544"/>
            <a:ext cx="4489207" cy="228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296" y="4065301"/>
            <a:ext cx="4248149" cy="20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898021" y="3880635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7070221" y="3695969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</p:spTree>
    <p:extLst>
      <p:ext uri="{BB962C8B-B14F-4D97-AF65-F5344CB8AC3E}">
        <p14:creationId xmlns:p14="http://schemas.microsoft.com/office/powerpoint/2010/main" val="1917817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729" y="1360505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нестационарного случая ACF и PACF</a:t>
            </a:r>
          </a:p>
        </p:txBody>
      </p:sp>
      <p:pic>
        <p:nvPicPr>
          <p:cNvPr id="25602" name="Picture 2" descr="image.png">
            <a:extLst>
              <a:ext uri="{FF2B5EF4-FFF2-40B4-BE49-F238E27FC236}">
                <a16:creationId xmlns:a16="http://schemas.microsoft.com/office/drawing/2014/main" id="{0BED12D2-FF26-425C-AE2D-D5ED29E5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479" y="2319742"/>
            <a:ext cx="7981950" cy="428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2560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  <a:endParaRPr lang="en-US" b="1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004" y="1360506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стационарного случая ACF и PACF</a:t>
            </a:r>
          </a:p>
        </p:txBody>
      </p:sp>
      <p:pic>
        <p:nvPicPr>
          <p:cNvPr id="26626" name="Picture 2" descr="image.png">
            <a:extLst>
              <a:ext uri="{FF2B5EF4-FFF2-40B4-BE49-F238E27FC236}">
                <a16:creationId xmlns:a16="http://schemas.microsoft.com/office/drawing/2014/main" id="{6E25DC88-C46A-4B6F-993D-F126A272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4" y="2225109"/>
            <a:ext cx="8582025" cy="460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7987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</a:t>
            </a:r>
            <a:r>
              <a:rPr lang="en-US" dirty="0" err="1"/>
              <a:t>qq</a:t>
            </a:r>
            <a:r>
              <a:rPr lang="en-US" dirty="0"/>
              <a:t> plot</a:t>
            </a:r>
            <a:r>
              <a:rPr lang="ru-RU" dirty="0"/>
              <a:t> нормального распределения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BEEC89-8DAD-DA8F-353A-8B7CB1B9A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6" name="Picture 8" descr="Normal Q-Q plots. a Normal Q-Q plot for uncontaminated measurements on... |  Download Scientific Diagram">
            <a:extLst>
              <a:ext uri="{FF2B5EF4-FFF2-40B4-BE49-F238E27FC236}">
                <a16:creationId xmlns:a16="http://schemas.microsoft.com/office/drawing/2014/main" id="{6180CD17-D30B-0B44-7596-D41A986F5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172" y="1825625"/>
            <a:ext cx="4910558" cy="483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0289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</a:t>
            </a:r>
            <a:r>
              <a:rPr lang="en-US" dirty="0" err="1"/>
              <a:t>н</a:t>
            </a:r>
            <a:r>
              <a:rPr lang="ru-RU" dirty="0"/>
              <a:t>нормальное распределение</a:t>
            </a:r>
          </a:p>
        </p:txBody>
      </p:sp>
      <p:pic>
        <p:nvPicPr>
          <p:cNvPr id="9218" name="Picture 2" descr="Q-Q Plots Explained. Explore the powers of Q-Q plots. | by Paras Varshney |  Towards Data Science">
            <a:extLst>
              <a:ext uri="{FF2B5EF4-FFF2-40B4-BE49-F238E27FC236}">
                <a16:creationId xmlns:a16="http://schemas.microsoft.com/office/drawing/2014/main" id="{47A333E8-7C11-53C3-FC39-65095FB45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0" r="51268" b="70032"/>
          <a:stretch/>
        </p:blipFill>
        <p:spPr bwMode="auto">
          <a:xfrm>
            <a:off x="838200" y="1825625"/>
            <a:ext cx="3168725" cy="163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Q-Q Plots Explained. Explore the powers of Q-Q plots. | by Paras Varshney |  Towards Data Science">
            <a:extLst>
              <a:ext uri="{FF2B5EF4-FFF2-40B4-BE49-F238E27FC236}">
                <a16:creationId xmlns:a16="http://schemas.microsoft.com/office/drawing/2014/main" id="{6043C92A-C1A0-1DAF-2627-784C276876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2" t="38245" r="51930" b="34987"/>
          <a:stretch/>
        </p:blipFill>
        <p:spPr bwMode="auto">
          <a:xfrm>
            <a:off x="4099560" y="1825625"/>
            <a:ext cx="3168725" cy="163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Q-Q Plots Explained. Explore the powers of Q-Q plots. | by Paras Varshney |  Towards Data Science">
            <a:extLst>
              <a:ext uri="{FF2B5EF4-FFF2-40B4-BE49-F238E27FC236}">
                <a16:creationId xmlns:a16="http://schemas.microsoft.com/office/drawing/2014/main" id="{E8F87B29-08BA-2ED1-2FAD-FD639DB40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8" t="71712" r="51646" b="1520"/>
          <a:stretch/>
        </p:blipFill>
        <p:spPr bwMode="auto">
          <a:xfrm>
            <a:off x="7745798" y="1825625"/>
            <a:ext cx="2775034" cy="142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982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случай правильной остаточной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93330-E39A-9B18-C02A-931A4418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C9C6C-9009-A931-38B3-3598198C6F8A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6397D-8183-0A4F-A0FD-52EE4F8DFF76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1268" name="Picture 4" descr="The residuals vs fitted values plot of ARIMA model in r - Stack Overflow">
            <a:extLst>
              <a:ext uri="{FF2B5EF4-FFF2-40B4-BE49-F238E27FC236}">
                <a16:creationId xmlns:a16="http://schemas.microsoft.com/office/drawing/2014/main" id="{CD19B211-4D80-6419-EA4C-ABB50533C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28" y="1655611"/>
            <a:ext cx="5404529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esson 3: Identifying and Estimating ARIMA models; Using ARIMA models to  forecast future values">
            <a:extLst>
              <a:ext uri="{FF2B5EF4-FFF2-40B4-BE49-F238E27FC236}">
                <a16:creationId xmlns:a16="http://schemas.microsoft.com/office/drawing/2014/main" id="{183B192D-7E6C-03B9-62D0-66FF03E08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257" y="1367480"/>
            <a:ext cx="5359400" cy="49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207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случай правильной остаточной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93330-E39A-9B18-C02A-931A4418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C9C6C-9009-A931-38B3-3598198C6F8A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6397D-8183-0A4F-A0FD-52EE4F8DFF76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1266" name="Picture 2" descr="time series - handling spikes in ARIMA model residual components - Cross  Validated">
            <a:extLst>
              <a:ext uri="{FF2B5EF4-FFF2-40B4-BE49-F238E27FC236}">
                <a16:creationId xmlns:a16="http://schemas.microsoft.com/office/drawing/2014/main" id="{B564CBD1-AC76-4BBB-CC5E-BD98A05C0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785" y="1169688"/>
            <a:ext cx="5323187" cy="532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Entropy | Free Full-Text | Network Autoregressive Model for the Prediction  of COVID-19 Considering the Disease Interaction in Neighboring Countries |  HTML">
            <a:extLst>
              <a:ext uri="{FF2B5EF4-FFF2-40B4-BE49-F238E27FC236}">
                <a16:creationId xmlns:a16="http://schemas.microsoft.com/office/drawing/2014/main" id="{2A812E91-D488-55CD-0E81-B0508907E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23" y="1825625"/>
            <a:ext cx="5350416" cy="373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3307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случай правильной остаточной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93330-E39A-9B18-C02A-931A4418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C9C6C-9009-A931-38B3-3598198C6F8A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6397D-8183-0A4F-A0FD-52EE4F8DFF76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3314" name="Picture 2" descr="Residual analysis of ARIMA (3,2,3). | Download Scientific Diagram">
            <a:extLst>
              <a:ext uri="{FF2B5EF4-FFF2-40B4-BE49-F238E27FC236}">
                <a16:creationId xmlns:a16="http://schemas.microsoft.com/office/drawing/2014/main" id="{AB297215-6299-63C1-79D6-5627B06CC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50053"/>
            <a:ext cx="5353175" cy="27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ARIMA Model - Complete Guide to Time Series Forecasting in Python | ML+">
            <a:extLst>
              <a:ext uri="{FF2B5EF4-FFF2-40B4-BE49-F238E27FC236}">
                <a16:creationId xmlns:a16="http://schemas.microsoft.com/office/drawing/2014/main" id="{EEC8461E-3A7D-99B3-0F68-4406186B6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91" y="2181732"/>
            <a:ext cx="5439803" cy="399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995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случай правильной остаточной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93330-E39A-9B18-C02A-931A4418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C9C6C-9009-A931-38B3-3598198C6F8A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6397D-8183-0A4F-A0FD-52EE4F8DFF76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5362" name="Picture 2" descr="Time Series Forecasting with ARIMA Models In Python [Part 2] – Towards AI">
            <a:extLst>
              <a:ext uri="{FF2B5EF4-FFF2-40B4-BE49-F238E27FC236}">
                <a16:creationId xmlns:a16="http://schemas.microsoft.com/office/drawing/2014/main" id="{8BEAE50D-E30D-7FCF-88F6-FA508A68D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9" y="1603524"/>
            <a:ext cx="3683991" cy="488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A Guide to Time Series Forecasting with ARIMA in Python 3 | DigitalOcean">
            <a:extLst>
              <a:ext uri="{FF2B5EF4-FFF2-40B4-BE49-F238E27FC236}">
                <a16:creationId xmlns:a16="http://schemas.microsoft.com/office/drawing/2014/main" id="{5798EABF-518D-8A7B-E94E-5071C7FCD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92" y="1080895"/>
            <a:ext cx="3952539" cy="305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 descr="Python Auto ARIMA model not working correctly - Stack Overflow">
            <a:extLst>
              <a:ext uri="{FF2B5EF4-FFF2-40B4-BE49-F238E27FC236}">
                <a16:creationId xmlns:a16="http://schemas.microsoft.com/office/drawing/2014/main" id="{D9AC97C7-0BB1-2B70-EAA8-73572DBB9A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 t="7466" r="6189" b="5545"/>
          <a:stretch/>
        </p:blipFill>
        <p:spPr bwMode="auto">
          <a:xfrm>
            <a:off x="3771697" y="3477932"/>
            <a:ext cx="4308695" cy="296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2915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4318</TotalTime>
  <Words>5448</Words>
  <Application>Microsoft Macintosh PowerPoint</Application>
  <PresentationFormat>Широкоэкранный</PresentationFormat>
  <Paragraphs>664</Paragraphs>
  <Slides>51</Slides>
  <Notes>12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Consolas</vt:lpstr>
      <vt:lpstr>Fira Sans</vt:lpstr>
      <vt:lpstr>KaTeX_Main</vt:lpstr>
      <vt:lpstr>KaTeX_Math</vt:lpstr>
      <vt:lpstr>Open Sans</vt:lpstr>
      <vt:lpstr>system-ui</vt:lpstr>
      <vt:lpstr>Times New Roman</vt:lpstr>
      <vt:lpstr>Тема Office</vt:lpstr>
      <vt:lpstr>Предсказания ВР с явной TS моделью</vt:lpstr>
      <vt:lpstr>Методы предсказания в курсе</vt:lpstr>
      <vt:lpstr>Методы предсказания в курсе</vt:lpstr>
      <vt:lpstr>Подходы к предсказанию временных рядов</vt:lpstr>
      <vt:lpstr>Наивное предсказание </vt:lpstr>
      <vt:lpstr>Наивное предсказание 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Статистические методы</vt:lpstr>
      <vt:lpstr>Статистические методы</vt:lpstr>
      <vt:lpstr>Статистические методы</vt:lpstr>
      <vt:lpstr> Экспоненциальное сглаживание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Проверка на тренд</vt:lpstr>
      <vt:lpstr>Проверка на тренд Тесты на наличие тренда:</vt:lpstr>
      <vt:lpstr>Классический подход к Deseasonalizer</vt:lpstr>
      <vt:lpstr>Тесты на сезонность</vt:lpstr>
      <vt:lpstr>STL разложение</vt:lpstr>
      <vt:lpstr>STL разложение</vt:lpstr>
      <vt:lpstr>STL разложение</vt:lpstr>
      <vt:lpstr>другие разложения</vt:lpstr>
      <vt:lpstr>Презентация PowerPoint</vt:lpstr>
      <vt:lpstr>Анализ невязок (остатков).</vt:lpstr>
      <vt:lpstr>Анализ невязок (остатков).</vt:lpstr>
      <vt:lpstr>Анализ невязок (остатков).</vt:lpstr>
      <vt:lpstr>Анализ остатков. Замечания</vt:lpstr>
      <vt:lpstr>Визуальный Анализ невязок (остатков).</vt:lpstr>
      <vt:lpstr>Визуальный Анализ невязок (остатков).</vt:lpstr>
      <vt:lpstr>Визуальный Анализ невязок (остатков).</vt:lpstr>
      <vt:lpstr>Анализ невязок (остатков) при помощи тестов.</vt:lpstr>
      <vt:lpstr>Анализ невязок (остатков) при помощи тестов.</vt:lpstr>
      <vt:lpstr>Презентация PowerPoint</vt:lpstr>
      <vt:lpstr>Методы на основе визуальной оценки. АКФ</vt:lpstr>
      <vt:lpstr>Методы на основе визуальной оценки. Гистограмма</vt:lpstr>
      <vt:lpstr>Методы на основе визуальной оценки. Q-Q график</vt:lpstr>
      <vt:lpstr>Методы на основе визуальной оценки. Q-Q график</vt:lpstr>
      <vt:lpstr>Методы на основе статистических тестов. Непараметрические методы</vt:lpstr>
      <vt:lpstr>Сводный статичесический анализ</vt:lpstr>
      <vt:lpstr>Методы визуальной оценки.  Частичная автокорреляция (PACF)</vt:lpstr>
      <vt:lpstr>Частичная автокорреляция (PACF)</vt:lpstr>
      <vt:lpstr>Остаточный анализ. Стационарность остатков. Графический метод</vt:lpstr>
      <vt:lpstr>Остаточный анализ. Стационарность остатков. Графический метод</vt:lpstr>
      <vt:lpstr>Выберите qq plot нормального распределения</vt:lpstr>
      <vt:lpstr>Выберите ннормальное распределение</vt:lpstr>
      <vt:lpstr>Выберите случай правильной остаточной части</vt:lpstr>
      <vt:lpstr>Выберите случай правильной остаточной части</vt:lpstr>
      <vt:lpstr>Выберите случай правильной остаточной части</vt:lpstr>
      <vt:lpstr>Выберите случай правильной остаточной части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223</cp:revision>
  <dcterms:created xsi:type="dcterms:W3CDTF">2021-10-31T10:57:36Z</dcterms:created>
  <dcterms:modified xsi:type="dcterms:W3CDTF">2025-07-13T15:05:11Z</dcterms:modified>
</cp:coreProperties>
</file>