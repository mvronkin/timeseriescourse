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50" r:id="rId3"/>
    <p:sldId id="451" r:id="rId4"/>
    <p:sldId id="455" r:id="rId5"/>
    <p:sldId id="452" r:id="rId6"/>
    <p:sldId id="456" r:id="rId7"/>
    <p:sldId id="453" r:id="rId8"/>
    <p:sldId id="454" r:id="rId9"/>
    <p:sldId id="457" r:id="rId10"/>
    <p:sldId id="458" r:id="rId11"/>
    <p:sldId id="459" r:id="rId12"/>
    <p:sldId id="460" r:id="rId13"/>
    <p:sldId id="461" r:id="rId14"/>
    <p:sldId id="462" r:id="rId15"/>
    <p:sldId id="4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84247"/>
  </p:normalViewPr>
  <p:slideViewPr>
    <p:cSldViewPr snapToGrid="0">
      <p:cViewPr varScale="1">
        <p:scale>
          <a:sx n="95" d="100"/>
          <a:sy n="95" d="100"/>
        </p:scale>
        <p:origin x="84" y="252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D302D-D8E5-5146-B626-737F192C3BD3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80E86-9708-4F42-A49B-C22D9D956F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4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80E86-9708-4F42-A49B-C22D9D956F1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335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0E75A-17E2-4A0F-70D4-74958816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2F6C6C-B19C-6340-55CF-9355B4B84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" i="1" dirty="0"/>
              <a:t>vanilla</a:t>
            </a:r>
            <a:r>
              <a:rPr lang="en" dirty="0"/>
              <a:t> </a:t>
            </a:r>
            <a:r>
              <a:rPr lang="ru-RU" dirty="0"/>
              <a:t>трансформер, как он описан в оригинальной статье, не работает на временных рядах. Почему?</a:t>
            </a:r>
          </a:p>
          <a:p>
            <a:r>
              <a:rPr lang="ru-RU" dirty="0"/>
              <a:t>Сложность внимания — </a:t>
            </a:r>
            <a:r>
              <a:rPr lang="en" dirty="0"/>
              <a:t>O(n²) </a:t>
            </a:r>
            <a:r>
              <a:rPr lang="ru-RU" dirty="0"/>
              <a:t>по времени и памяти. Для ряда длиной 1000 точек — это уже миллион операций.</a:t>
            </a:r>
          </a:p>
          <a:p>
            <a:r>
              <a:rPr lang="ru-RU" dirty="0"/>
              <a:t>Отсутствие индуктивных смещений. Временные ряды — это не слова. Они упорядочены, имеют тренды, сезонность, шум. Трансформеру это не очевидно.</a:t>
            </a:r>
          </a:p>
          <a:p>
            <a:r>
              <a:rPr lang="ru-RU" dirty="0"/>
              <a:t>Переобучение. На малых и средних наборах данных (а таких — большинство) трансформер быстро переобучается.</a:t>
            </a:r>
          </a:p>
          <a:p>
            <a:r>
              <a:rPr lang="ru-RU" dirty="0"/>
              <a:t>Так что первые попытки применить </a:t>
            </a:r>
            <a:r>
              <a:rPr lang="en" i="1" dirty="0"/>
              <a:t>vanilla</a:t>
            </a:r>
            <a:r>
              <a:rPr lang="en" dirty="0"/>
              <a:t> </a:t>
            </a:r>
            <a:r>
              <a:rPr lang="ru-RU" dirty="0"/>
              <a:t>трансформер к временным рядам… были скромными. Иногда — хуже, чем простая </a:t>
            </a:r>
            <a:r>
              <a:rPr lang="en" dirty="0"/>
              <a:t>LSTM.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017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C5484-DF28-166D-C3A3-91A3D1A6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8D8B94-2997-E2B9-7BBC-378286184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лючевые</a:t>
            </a:r>
            <a:r>
              <a:rPr lang="ru-RU" b="1" dirty="0"/>
              <a:t> модификации:</a:t>
            </a:r>
          </a:p>
          <a:p>
            <a:r>
              <a:rPr lang="en" dirty="0"/>
              <a:t>Informer (2021): </a:t>
            </a:r>
            <a:r>
              <a:rPr lang="ru-RU" dirty="0"/>
              <a:t>заменил полное внимание на </a:t>
            </a:r>
            <a:r>
              <a:rPr lang="en" dirty="0" err="1"/>
              <a:t>ProbSparse</a:t>
            </a:r>
            <a:r>
              <a:rPr lang="en" dirty="0"/>
              <a:t> Self-Attention, </a:t>
            </a:r>
            <a:r>
              <a:rPr lang="ru-RU" dirty="0"/>
              <a:t>чтобы уменьшить вычислительную нагрузку. Появилась возможность прогнозировать на 512 шагов вперёд — и быстро.</a:t>
            </a:r>
          </a:p>
          <a:p>
            <a:r>
              <a:rPr lang="en" dirty="0" err="1"/>
              <a:t>Autoformer</a:t>
            </a:r>
            <a:r>
              <a:rPr lang="en" dirty="0"/>
              <a:t> (2021): </a:t>
            </a:r>
            <a:r>
              <a:rPr lang="ru-RU" dirty="0"/>
              <a:t>внедрил сезонно-трендовую декомпозицию внутрь модели. Впервые трансформер стал </a:t>
            </a:r>
            <a:r>
              <a:rPr lang="ru-RU" i="1" dirty="0"/>
              <a:t>понимать</a:t>
            </a:r>
            <a:r>
              <a:rPr lang="ru-RU" dirty="0"/>
              <a:t> структуру временного ряда.</a:t>
            </a:r>
          </a:p>
          <a:p>
            <a:r>
              <a:rPr lang="en" dirty="0" err="1"/>
              <a:t>FEDformer</a:t>
            </a:r>
            <a:r>
              <a:rPr lang="en" dirty="0"/>
              <a:t> (2022): </a:t>
            </a:r>
            <a:r>
              <a:rPr lang="ru-RU" dirty="0"/>
              <a:t>вынес анализ паттернов в частотную область (через </a:t>
            </a:r>
            <a:r>
              <a:rPr lang="en" dirty="0"/>
              <a:t>FFT), </a:t>
            </a:r>
            <a:r>
              <a:rPr lang="ru-RU" dirty="0"/>
              <a:t>что позволило фильтровать шум и выявлять скрытые циклы.</a:t>
            </a:r>
          </a:p>
          <a:p>
            <a:r>
              <a:rPr lang="ru-RU" dirty="0"/>
              <a:t>Мы научились:</a:t>
            </a:r>
          </a:p>
          <a:p>
            <a:r>
              <a:rPr lang="ru-RU" dirty="0"/>
              <a:t>уменьшать сложность,</a:t>
            </a:r>
          </a:p>
          <a:p>
            <a:r>
              <a:rPr lang="ru-RU" dirty="0"/>
              <a:t>встраивать знания о временных рядах (сезонность, тренды),</a:t>
            </a:r>
          </a:p>
          <a:p>
            <a:r>
              <a:rPr lang="ru-RU" dirty="0"/>
              <a:t>и, главное — интерпретировать внимание как меру важности прошлых точек.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05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84043-C589-8DC1-37BF-B503C651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6CDCF2-F269-6A14-FD5E-331F24221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" dirty="0"/>
              <a:t>Informer — </a:t>
            </a:r>
            <a:r>
              <a:rPr lang="ru-RU" dirty="0"/>
              <a:t>ввёл </a:t>
            </a:r>
            <a:r>
              <a:rPr lang="ru-RU" i="1" dirty="0"/>
              <a:t>разреженное внимание</a:t>
            </a:r>
            <a:r>
              <a:rPr lang="ru-RU" dirty="0"/>
              <a:t>, чтобы не сравнивать каждую точку с каждой. Это как </a:t>
            </a:r>
            <a:r>
              <a:rPr lang="en" dirty="0"/>
              <a:t>AIC </a:t>
            </a:r>
            <a:r>
              <a:rPr lang="ru-RU" dirty="0"/>
              <a:t>в </a:t>
            </a:r>
            <a:r>
              <a:rPr lang="en" dirty="0"/>
              <a:t>ARIMA: </a:t>
            </a:r>
            <a:r>
              <a:rPr lang="ru-RU" dirty="0"/>
              <a:t>борьба с избыточностью.</a:t>
            </a:r>
          </a:p>
          <a:p>
            <a:r>
              <a:rPr lang="en" dirty="0" err="1"/>
              <a:t>Autoformer</a:t>
            </a:r>
            <a:r>
              <a:rPr lang="en" dirty="0"/>
              <a:t> — </a:t>
            </a:r>
            <a:r>
              <a:rPr lang="ru-RU" dirty="0"/>
              <a:t>внедрил сезонно-трендовую декомпозицию внутрь архитектуры. Теперь модель сама выделяет компоненты — как в классической декомпозиции, но обучаемо.</a:t>
            </a:r>
          </a:p>
          <a:p>
            <a:r>
              <a:rPr lang="en" dirty="0" err="1"/>
              <a:t>FEDformer</a:t>
            </a:r>
            <a:r>
              <a:rPr lang="en" dirty="0"/>
              <a:t> — </a:t>
            </a:r>
            <a:r>
              <a:rPr lang="ru-RU" dirty="0"/>
              <a:t>перешёл в частотную область (через </a:t>
            </a:r>
            <a:r>
              <a:rPr lang="en" dirty="0"/>
              <a:t>FFT). </a:t>
            </a:r>
            <a:r>
              <a:rPr lang="ru-RU" dirty="0"/>
              <a:t>Это как спектральный анализ, но в нейросети.</a:t>
            </a:r>
          </a:p>
          <a:p>
            <a:r>
              <a:rPr lang="en" dirty="0" err="1"/>
              <a:t>PatchTST</a:t>
            </a:r>
            <a:r>
              <a:rPr lang="en" dirty="0"/>
              <a:t> — </a:t>
            </a:r>
            <a:r>
              <a:rPr lang="ru-RU" dirty="0"/>
              <a:t>разбил ряд на "патчи", как если бы мы анализировали временные окна. Это возвращает нас к идее локальной стационарности.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237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916DD-7AAD-834D-0EB0-67D8AE8D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50435-2A39-A770-B97E-2F93BFEBE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" dirty="0" err="1"/>
              <a:t>PatchTST</a:t>
            </a:r>
            <a:r>
              <a:rPr lang="en" dirty="0"/>
              <a:t> </a:t>
            </a:r>
            <a:r>
              <a:rPr lang="ru-RU" dirty="0"/>
              <a:t>показал, что если разбить временной ряд на "патчи" (как изображение на токены), то трансформер работает </a:t>
            </a:r>
            <a:r>
              <a:rPr lang="ru-RU" i="1" dirty="0"/>
              <a:t>гораздо</a:t>
            </a:r>
            <a:r>
              <a:rPr lang="ru-RU" dirty="0"/>
              <a:t> лучше.</a:t>
            </a:r>
          </a:p>
          <a:p>
            <a:r>
              <a:rPr lang="en" dirty="0" err="1"/>
              <a:t>DLinear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 err="1"/>
              <a:t>TSMixer</a:t>
            </a:r>
            <a:r>
              <a:rPr lang="en" dirty="0"/>
              <a:t> </a:t>
            </a:r>
            <a:r>
              <a:rPr lang="ru-RU" dirty="0"/>
              <a:t>шокировали сообщество: оказывается, линейные модели и </a:t>
            </a:r>
            <a:r>
              <a:rPr lang="en" dirty="0"/>
              <a:t>MLP </a:t>
            </a:r>
            <a:r>
              <a:rPr lang="ru-RU" dirty="0"/>
              <a:t>могут превосходить трансформеры, если правильно структурировать данные.</a:t>
            </a:r>
          </a:p>
          <a:p>
            <a:r>
              <a:rPr lang="en" dirty="0" err="1"/>
              <a:t>iTransformer</a:t>
            </a:r>
            <a:r>
              <a:rPr lang="en" dirty="0"/>
              <a:t> </a:t>
            </a:r>
            <a:r>
              <a:rPr lang="ru-RU" dirty="0"/>
              <a:t>перевернул парадигму: вместо обработки последовательности по времени — он обрабатывает по признакам. И это работает.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631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579E1-7AB4-6082-5FD2-0956F517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71945-422F-E154-01B4-EE0A96DC4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dirty="0"/>
              <a:t>https://</a:t>
            </a:r>
            <a:r>
              <a:rPr lang="en" dirty="0" err="1"/>
              <a:t>arxiv.org</a:t>
            </a:r>
            <a:r>
              <a:rPr lang="en" dirty="0"/>
              <a:t>/pdf/2403.14587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820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A6ACE-02E7-DB7E-C222-A0FFC0C6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27" y="231733"/>
            <a:ext cx="10990545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Модели трансформеры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F320CA-A7E7-C277-770A-06D8195EC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60" y="681038"/>
            <a:ext cx="5558391" cy="604543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200" b="1" dirty="0"/>
              <a:t>Достоинства:</a:t>
            </a:r>
          </a:p>
          <a:p>
            <a:pPr algn="just"/>
            <a:r>
              <a:rPr lang="ru-RU" sz="2200" dirty="0"/>
              <a:t>Параллелизм: возможность обучаться на больших объемах данных без ограничений </a:t>
            </a:r>
            <a:r>
              <a:rPr lang="en-US" sz="2200" dirty="0"/>
              <a:t>RNN</a:t>
            </a:r>
          </a:p>
          <a:p>
            <a:pPr algn="just"/>
            <a:r>
              <a:rPr lang="en-US" sz="2200" dirty="0" err="1"/>
              <a:t>М</a:t>
            </a:r>
            <a:r>
              <a:rPr lang="ru-RU" sz="2200" dirty="0" err="1"/>
              <a:t>оделирование</a:t>
            </a:r>
            <a:r>
              <a:rPr lang="ru-RU" sz="2200" dirty="0"/>
              <a:t> долгосрочных зависимостей</a:t>
            </a:r>
          </a:p>
          <a:p>
            <a:pPr lvl="1" algn="just"/>
            <a:r>
              <a:rPr lang="ru-RU" sz="1700" dirty="0"/>
              <a:t>SOTA</a:t>
            </a:r>
            <a:r>
              <a:rPr lang="en-US" sz="1700" dirty="0"/>
              <a:t> </a:t>
            </a:r>
            <a:r>
              <a:rPr lang="en" sz="1700" dirty="0"/>
              <a:t>Informer, </a:t>
            </a:r>
            <a:r>
              <a:rPr lang="en" sz="1700" dirty="0" err="1"/>
              <a:t>FEDformer</a:t>
            </a:r>
            <a:r>
              <a:rPr lang="en" sz="1700" dirty="0"/>
              <a:t>, </a:t>
            </a:r>
            <a:r>
              <a:rPr lang="en" sz="1700" dirty="0" err="1"/>
              <a:t>iTransformer</a:t>
            </a:r>
            <a:endParaRPr lang="ru-RU" sz="1300" dirty="0"/>
          </a:p>
          <a:p>
            <a:pPr algn="just"/>
            <a:r>
              <a:rPr lang="ru-RU" sz="2200" dirty="0"/>
              <a:t>Выявление глобальных связей (особенно в МВР)</a:t>
            </a:r>
          </a:p>
          <a:p>
            <a:pPr algn="just"/>
            <a:r>
              <a:rPr lang="ru-RU" sz="2200" b="1" dirty="0"/>
              <a:t>Интерпретируемость </a:t>
            </a:r>
            <a:r>
              <a:rPr lang="ru-RU" sz="2200" dirty="0"/>
              <a:t>Матрицы внимания (</a:t>
            </a:r>
            <a:r>
              <a:rPr lang="en" sz="2200" dirty="0"/>
              <a:t>Attention Maps) — </a:t>
            </a:r>
            <a:r>
              <a:rPr lang="ru-RU" sz="2200" dirty="0"/>
              <a:t>это, по сути, цифровое воплощение ваших автокорреляционных и кросс-корреляционных функций. Мы можем </a:t>
            </a:r>
            <a:r>
              <a:rPr lang="ru-RU" sz="2200" i="1" dirty="0"/>
              <a:t>посмотреть</a:t>
            </a:r>
            <a:r>
              <a:rPr lang="ru-RU" sz="2200" dirty="0"/>
              <a:t>, на какие предыдущие моменты времени модель обращает внимание для прогноза в точке </a:t>
            </a:r>
            <a:r>
              <a:rPr lang="en" sz="2200" dirty="0"/>
              <a:t>t. </a:t>
            </a:r>
            <a:endParaRPr lang="ru-RU" sz="2200" dirty="0"/>
          </a:p>
          <a:p>
            <a:pPr algn="just"/>
            <a:r>
              <a:rPr lang="ru-RU" sz="2200" dirty="0"/>
              <a:t>Архитектуры, адаптированные к структуре ВР</a:t>
            </a:r>
            <a:endParaRPr lang="en-US" sz="2200" dirty="0"/>
          </a:p>
          <a:p>
            <a:pPr algn="just"/>
            <a:r>
              <a:rPr lang="en-US" sz="2200" dirty="0"/>
              <a:t>Representation learning </a:t>
            </a:r>
            <a:r>
              <a:rPr lang="en-US" sz="2200" dirty="0" err="1"/>
              <a:t>пар</a:t>
            </a:r>
            <a:r>
              <a:rPr lang="ru-RU" sz="2200" dirty="0" err="1"/>
              <a:t>адигма</a:t>
            </a:r>
            <a:r>
              <a:rPr lang="ru-RU" sz="2200" dirty="0"/>
              <a:t> ( напр. доступно Самообучение)</a:t>
            </a:r>
          </a:p>
          <a:p>
            <a:pPr algn="just"/>
            <a:endParaRPr lang="ru-RU" sz="22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4D4BD83-AF06-56E3-BE66-EDEB459E4F1C}"/>
              </a:ext>
            </a:extLst>
          </p:cNvPr>
          <p:cNvSpPr txBox="1">
            <a:spLocks/>
          </p:cNvSpPr>
          <p:nvPr/>
        </p:nvSpPr>
        <p:spPr>
          <a:xfrm>
            <a:off x="5917503" y="681038"/>
            <a:ext cx="5911241" cy="5945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200" b="1" dirty="0"/>
              <a:t>Недостатки:</a:t>
            </a:r>
          </a:p>
          <a:p>
            <a:pPr algn="just"/>
            <a:r>
              <a:rPr lang="ru-RU" sz="2200" dirty="0"/>
              <a:t>Т</a:t>
            </a:r>
            <a:r>
              <a:rPr lang="en-US" sz="2200" dirty="0" err="1"/>
              <a:t>ре</a:t>
            </a:r>
            <a:r>
              <a:rPr lang="ru-RU" sz="2200" dirty="0" err="1"/>
              <a:t>бует</a:t>
            </a:r>
            <a:r>
              <a:rPr lang="ru-RU" sz="2200" dirty="0"/>
              <a:t> много данных особенно для выучивания локальных связей. Дообучение под задачу обязательно</a:t>
            </a:r>
          </a:p>
          <a:p>
            <a:pPr algn="just"/>
            <a:r>
              <a:rPr lang="ru-RU" sz="2200" dirty="0"/>
              <a:t>Избыточная сложность для коротких горизонтов и сравнительно простых ВР</a:t>
            </a:r>
          </a:p>
          <a:p>
            <a:pPr algn="just"/>
            <a:r>
              <a:rPr lang="ru-RU" sz="2200" dirty="0"/>
              <a:t>Требуется опты настройки (патчи и </a:t>
            </a:r>
            <a:r>
              <a:rPr lang="ru-RU" sz="2200" dirty="0" err="1"/>
              <a:t>тд</a:t>
            </a:r>
            <a:r>
              <a:rPr lang="ru-RU" sz="2200" dirty="0"/>
              <a:t> особенно на очень больших объемах данных)</a:t>
            </a:r>
          </a:p>
          <a:p>
            <a:pPr algn="just"/>
            <a:r>
              <a:rPr lang="ru-RU" sz="2200" dirty="0"/>
              <a:t>Внимание может дать артефакты особенно на коротких ВР</a:t>
            </a:r>
          </a:p>
          <a:p>
            <a:pPr algn="just"/>
            <a:r>
              <a:rPr lang="ru-RU" sz="2200" dirty="0"/>
              <a:t>Требуется регулярность ВР. На ВР с явным трендом могут дать смещенную оценку</a:t>
            </a:r>
          </a:p>
          <a:p>
            <a:pPr algn="just"/>
            <a:endParaRPr lang="ru-RU" sz="2200" dirty="0"/>
          </a:p>
          <a:p>
            <a:pPr algn="just"/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8267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2F9A6-08CD-1B1F-9E86-0948B009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89" y="365125"/>
            <a:ext cx="10877811" cy="687061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D7AA4A-C0B2-EDEF-7DDC-0D92E792A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1177447"/>
            <a:ext cx="11461315" cy="5315428"/>
          </a:xfrm>
        </p:spPr>
        <p:txBody>
          <a:bodyPr>
            <a:normAutofit/>
          </a:bodyPr>
          <a:lstStyle/>
          <a:p>
            <a:r>
              <a:rPr lang="ru-RU" sz="2200" b="1" dirty="0"/>
              <a:t>Трансформеры</a:t>
            </a:r>
            <a:r>
              <a:rPr lang="ru-RU" sz="2200" dirty="0"/>
              <a:t>: </a:t>
            </a:r>
          </a:p>
          <a:p>
            <a:pPr lvl="1"/>
            <a:r>
              <a:rPr lang="ru-RU" sz="2200" dirty="0"/>
              <a:t>способность автоматически извлекать значимые представления из необработанных данных, позволяя им фиксировать сложные нелинейные взаимосвязи во временных зависимостях</a:t>
            </a:r>
          </a:p>
          <a:p>
            <a:pPr lvl="1"/>
            <a:r>
              <a:rPr lang="ru-RU" sz="2200" dirty="0"/>
              <a:t>механизм </a:t>
            </a:r>
            <a:r>
              <a:rPr lang="ru-RU" sz="2200" dirty="0" err="1"/>
              <a:t>самовнимания</a:t>
            </a:r>
            <a:r>
              <a:rPr lang="ru-RU" sz="2200" dirty="0"/>
              <a:t> позволяет модели оценивать важность различных входных элементов, даже если они расположены далеко друг от друга в последовательности - эффективно для долгосрочных зависимостей</a:t>
            </a:r>
          </a:p>
          <a:p>
            <a:pPr lvl="1"/>
            <a:r>
              <a:rPr lang="ru-RU" sz="2200" dirty="0"/>
              <a:t>Используя набор блоков-</a:t>
            </a:r>
            <a:r>
              <a:rPr lang="ru-RU" sz="2200" dirty="0" err="1"/>
              <a:t>трасформеров</a:t>
            </a:r>
            <a:r>
              <a:rPr lang="ru-RU" sz="2200" dirty="0"/>
              <a:t> (</a:t>
            </a:r>
            <a:r>
              <a:rPr lang="ru-RU" sz="2200" dirty="0" err="1"/>
              <a:t>самовнимание</a:t>
            </a:r>
            <a:r>
              <a:rPr lang="ru-RU" sz="2200" dirty="0"/>
              <a:t> + </a:t>
            </a:r>
            <a:r>
              <a:rPr lang="en-US" sz="2200" dirty="0"/>
              <a:t>MLP</a:t>
            </a:r>
            <a:r>
              <a:rPr lang="ru-RU" sz="2200" dirty="0"/>
              <a:t>) модели выучивают сложные иерархические представления данных, что делает их мощными инструментами для решения различных последовательных задач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01CE-81B0-6AC1-B1D5-77137FA6002E}"/>
              </a:ext>
            </a:extLst>
          </p:cNvPr>
          <p:cNvSpPr txBox="1"/>
          <p:nvPr/>
        </p:nvSpPr>
        <p:spPr>
          <a:xfrm>
            <a:off x="5914894" y="6123543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313935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8FB28-F0A6-C205-12F2-94B5061B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88F0C-9F44-3159-36DC-87061338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89" y="365125"/>
            <a:ext cx="10877811" cy="68706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Гипотезы</a:t>
            </a:r>
            <a:r>
              <a:rPr lang="ru-RU" dirty="0"/>
              <a:t>: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9BC521-45CF-B615-5578-EF7A59217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625" y="701458"/>
            <a:ext cx="11461315" cy="5791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dirty="0"/>
              <a:t>Использование гетерогенного набор датасетов позволяет модели выучить (обобщить) широкий набор представлений ВР.</a:t>
            </a:r>
          </a:p>
          <a:p>
            <a:pPr lvl="1"/>
            <a:r>
              <a:rPr lang="en-US" sz="2100" b="1" dirty="0"/>
              <a:t>Scaling-low</a:t>
            </a:r>
            <a:r>
              <a:rPr lang="en-US" sz="2100" dirty="0"/>
              <a:t> </a:t>
            </a:r>
            <a:r>
              <a:rPr lang="ru-RU" sz="2100" dirty="0"/>
              <a:t>(обобщение достаточного количества наборов данных позволяет обобщать любые похожие (между ними) наборы данных если параметров достаточно</a:t>
            </a:r>
          </a:p>
          <a:p>
            <a:pPr lvl="2"/>
            <a:r>
              <a:rPr lang="ru-RU" sz="2100" dirty="0"/>
              <a:t>В том числе на коротких данных</a:t>
            </a:r>
          </a:p>
          <a:p>
            <a:pPr lvl="2"/>
            <a:r>
              <a:rPr lang="en" sz="2100" b="1" dirty="0"/>
              <a:t>zero-shot</a:t>
            </a:r>
            <a:r>
              <a:rPr lang="en" sz="2100" dirty="0"/>
              <a:t> </a:t>
            </a:r>
            <a:r>
              <a:rPr lang="ru-RU" sz="2100" dirty="0"/>
              <a:t>подход – модель может работать даже если не видела данных</a:t>
            </a:r>
          </a:p>
          <a:p>
            <a:r>
              <a:rPr lang="en-US" sz="2100" b="1" dirty="0"/>
              <a:t>In-context forecasting</a:t>
            </a:r>
            <a:r>
              <a:rPr lang="ru-RU" sz="2100" b="1" dirty="0"/>
              <a:t>  </a:t>
            </a:r>
            <a:r>
              <a:rPr lang="ru-RU" sz="2100" dirty="0"/>
              <a:t>– каждое предсказание есть наиболее вероятное значение своего контекста. </a:t>
            </a:r>
          </a:p>
          <a:p>
            <a:pPr lvl="1"/>
            <a:r>
              <a:rPr lang="ru-RU" sz="2100" dirty="0"/>
              <a:t>Будем говорить о входных данных </a:t>
            </a:r>
            <a:r>
              <a:rPr lang="ru-RU" sz="2100" dirty="0" err="1"/>
              <a:t>промпте</a:t>
            </a:r>
            <a:r>
              <a:rPr lang="ru-RU" sz="2100" dirty="0"/>
              <a:t> – запрос предсказания. </a:t>
            </a:r>
            <a:r>
              <a:rPr lang="ru-RU" sz="2100" dirty="0" err="1"/>
              <a:t>Промпт</a:t>
            </a:r>
            <a:r>
              <a:rPr lang="ru-RU" sz="2100" dirty="0"/>
              <a:t> может быть любым: текст, ВР, видео и </a:t>
            </a:r>
            <a:r>
              <a:rPr lang="ru-RU" sz="2100" dirty="0" err="1"/>
              <a:t>тд</a:t>
            </a:r>
            <a:r>
              <a:rPr lang="ru-RU" sz="2100" dirty="0"/>
              <a:t>.</a:t>
            </a:r>
          </a:p>
          <a:p>
            <a:r>
              <a:rPr lang="ru-RU" sz="2100" dirty="0"/>
              <a:t>Предсказания можно выучить как результат представления </a:t>
            </a:r>
            <a:r>
              <a:rPr lang="en-US" sz="2100" b="1" dirty="0"/>
              <a:t>(representation learning)</a:t>
            </a:r>
            <a:endParaRPr lang="ru-RU" sz="2100" b="1" dirty="0"/>
          </a:p>
          <a:p>
            <a:pPr lvl="1"/>
            <a:r>
              <a:rPr lang="ru-RU" sz="2100" dirty="0"/>
              <a:t>можно выучивать без полноценной разметки например </a:t>
            </a:r>
            <a:r>
              <a:rPr lang="ru-RU" sz="2100" dirty="0" err="1"/>
              <a:t>авторегрессионно</a:t>
            </a:r>
            <a:r>
              <a:rPr lang="ru-RU" sz="2100" dirty="0"/>
              <a:t> или восстановлением частей зависимости</a:t>
            </a:r>
          </a:p>
          <a:p>
            <a:pPr lvl="1"/>
            <a:r>
              <a:rPr lang="ru-RU" sz="2100" dirty="0"/>
              <a:t>Все еще доступно дообучение для отдельных задач</a:t>
            </a:r>
          </a:p>
          <a:p>
            <a:r>
              <a:rPr lang="en-US" sz="2500" dirty="0" err="1"/>
              <a:t>Для</a:t>
            </a:r>
            <a:r>
              <a:rPr lang="ru-RU" sz="2500" dirty="0"/>
              <a:t> </a:t>
            </a:r>
            <a:r>
              <a:rPr lang="ru-RU" sz="2500" dirty="0" err="1"/>
              <a:t>авторегрессионного</a:t>
            </a:r>
            <a:r>
              <a:rPr lang="ru-RU" sz="2500" dirty="0"/>
              <a:t> предсказания достаточно декодера и закодированный контекст</a:t>
            </a:r>
          </a:p>
          <a:p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63D47-E653-1B59-1915-0968E9136859}"/>
              </a:ext>
            </a:extLst>
          </p:cNvPr>
          <p:cNvSpPr txBox="1"/>
          <p:nvPr/>
        </p:nvSpPr>
        <p:spPr>
          <a:xfrm>
            <a:off x="5914894" y="6123543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/15-foundation-models.html</a:t>
            </a:r>
          </a:p>
        </p:txBody>
      </p:sp>
    </p:spTree>
    <p:extLst>
      <p:ext uri="{BB962C8B-B14F-4D97-AF65-F5344CB8AC3E}">
        <p14:creationId xmlns:p14="http://schemas.microsoft.com/office/powerpoint/2010/main" val="366117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0FCB8-AF5D-D012-FBBF-1437AFC5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7465A6-EBA8-0E19-E9E2-CB3EDD2B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74" y="1825624"/>
            <a:ext cx="6409690" cy="4807187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Что делает декодер?</a:t>
            </a:r>
          </a:p>
          <a:p>
            <a:r>
              <a:rPr lang="ru-RU" dirty="0"/>
              <a:t>Принимает последовательность токенов (например, "Продажи в марте выросли, значит в апреле...").</a:t>
            </a:r>
          </a:p>
          <a:p>
            <a:r>
              <a:rPr lang="ru-RU" dirty="0"/>
              <a:t>На каждом шаге предсказывает следующий токен, используя:</a:t>
            </a:r>
          </a:p>
          <a:p>
            <a:pPr lvl="1"/>
            <a:r>
              <a:rPr lang="ru-RU" dirty="0"/>
              <a:t>Само-внимание (</a:t>
            </a:r>
            <a:r>
              <a:rPr lang="en" dirty="0"/>
              <a:t>self-attention) — </a:t>
            </a:r>
            <a:r>
              <a:rPr lang="ru-RU" dirty="0"/>
              <a:t>смотрит на все предыдущие токены.</a:t>
            </a:r>
          </a:p>
          <a:p>
            <a:pPr lvl="1"/>
            <a:r>
              <a:rPr lang="ru-RU" dirty="0"/>
              <a:t>Маскированное внимание (</a:t>
            </a:r>
            <a:r>
              <a:rPr lang="en" dirty="0"/>
              <a:t>causal attention) — </a:t>
            </a:r>
            <a:r>
              <a:rPr lang="ru-RU" dirty="0"/>
              <a:t>не видит будущее (как в прогнозировании ВР!).</a:t>
            </a:r>
          </a:p>
          <a:p>
            <a:pPr lvl="1"/>
            <a:r>
              <a:rPr lang="ru-RU" dirty="0"/>
              <a:t>Позиционные кодировки — знает порядок (аналог времени в ВР).</a:t>
            </a:r>
          </a:p>
          <a:p>
            <a:r>
              <a:rPr lang="ru-RU" dirty="0"/>
              <a:t>📌 Интуиция:</a:t>
            </a:r>
            <a:br>
              <a:rPr lang="ru-RU" dirty="0"/>
            </a:br>
            <a:r>
              <a:rPr lang="ru-RU" dirty="0"/>
              <a:t>Декодер — это как </a:t>
            </a:r>
            <a:r>
              <a:rPr lang="en" dirty="0"/>
              <a:t>LSTM, </a:t>
            </a:r>
            <a:r>
              <a:rPr lang="ru-RU" dirty="0"/>
              <a:t>но с более гибкой памятью через </a:t>
            </a:r>
            <a:r>
              <a:rPr lang="en" dirty="0"/>
              <a:t>attention.</a:t>
            </a:r>
          </a:p>
          <a:p>
            <a:endParaRPr lang="ru-RU" dirty="0"/>
          </a:p>
        </p:txBody>
      </p:sp>
      <p:pic>
        <p:nvPicPr>
          <p:cNvPr id="1026" name="Picture 2" descr="TimesFM: Google's Foundation Model For Time-Series Forecasting | by Nikos  Kafritsas | TDS Archive | Medium">
            <a:extLst>
              <a:ext uri="{FF2B5EF4-FFF2-40B4-BE49-F238E27FC236}">
                <a16:creationId xmlns:a16="http://schemas.microsoft.com/office/drawing/2014/main" id="{4A48AAF9-981D-81F2-D305-03B854C8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698" y="3677925"/>
            <a:ext cx="5009941" cy="28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16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AE2F2-15D5-49BE-0EEC-A8F6B4A5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5EE6FA-A813-F522-8F5F-A2C18F13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00" y="1825625"/>
            <a:ext cx="5104262" cy="466725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2. </a:t>
            </a:r>
            <a:r>
              <a:rPr lang="ru-RU" dirty="0"/>
              <a:t>Ключевые принципы архитектуры </a:t>
            </a:r>
            <a:r>
              <a:rPr lang="en" dirty="0" err="1"/>
              <a:t>TimesFM</a:t>
            </a:r>
            <a:endParaRPr lang="en" b="1" dirty="0"/>
          </a:p>
          <a:p>
            <a:r>
              <a:rPr lang="ru-RU" b="1" dirty="0"/>
              <a:t>✅ 2.1. </a:t>
            </a:r>
            <a:r>
              <a:rPr lang="en" dirty="0"/>
              <a:t>Patching (</a:t>
            </a:r>
            <a:r>
              <a:rPr lang="ru-RU" dirty="0"/>
              <a:t>разбиение на фрагменты)</a:t>
            </a:r>
            <a:endParaRPr lang="ru-RU" b="1" dirty="0"/>
          </a:p>
          <a:p>
            <a:r>
              <a:rPr lang="ru-RU" dirty="0"/>
              <a:t>Входной ряд разбивается на неперекрывающиеся патчи длины </a:t>
            </a:r>
            <a:r>
              <a:rPr lang="en" dirty="0" err="1"/>
              <a:t>input_patch_len</a:t>
            </a:r>
            <a:r>
              <a:rPr lang="en" dirty="0"/>
              <a:t>.</a:t>
            </a:r>
          </a:p>
          <a:p>
            <a:r>
              <a:rPr lang="ru-RU" dirty="0"/>
              <a:t>Каждый патч — аналог токена в языковой модели.</a:t>
            </a:r>
          </a:p>
          <a:p>
            <a:r>
              <a:rPr lang="ru-RU" dirty="0"/>
              <a:t>Зачем?</a:t>
            </a:r>
          </a:p>
          <a:p>
            <a:pPr lvl="1"/>
            <a:r>
              <a:rPr lang="ru-RU" dirty="0"/>
              <a:t>Уменьшает число "токенов" → ускоряет вычисления.</a:t>
            </a:r>
          </a:p>
          <a:p>
            <a:pPr lvl="1"/>
            <a:r>
              <a:rPr lang="ru-RU" dirty="0"/>
              <a:t>Позволяет модели улавливать локальные паттерны (сезонность, тренды).</a:t>
            </a:r>
          </a:p>
          <a:p>
            <a:pPr lvl="1"/>
            <a:r>
              <a:rPr lang="ru-RU" dirty="0"/>
              <a:t>Улучшает обобщение (вдохновлено </a:t>
            </a:r>
            <a:r>
              <a:rPr lang="en" dirty="0" err="1"/>
              <a:t>PatchTST</a:t>
            </a:r>
            <a:r>
              <a:rPr lang="en" dirty="0"/>
              <a:t>).</a:t>
            </a:r>
          </a:p>
          <a:p>
            <a:r>
              <a:rPr lang="ru-RU" dirty="0"/>
              <a:t>📌 Пример:</a:t>
            </a:r>
            <a:br>
              <a:rPr lang="ru-RU" dirty="0"/>
            </a:br>
            <a:r>
              <a:rPr lang="ru-RU" dirty="0"/>
              <a:t>Ряд длины 512 → патчи по 32 → 16 токенов вместо 512. </a:t>
            </a: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7F3F283-3F96-84BC-C6E4-B50F22F92CA1}"/>
              </a:ext>
            </a:extLst>
          </p:cNvPr>
          <p:cNvSpPr txBox="1">
            <a:spLocks/>
          </p:cNvSpPr>
          <p:nvPr/>
        </p:nvSpPr>
        <p:spPr>
          <a:xfrm>
            <a:off x="5761631" y="1825625"/>
            <a:ext cx="5104262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b="1" dirty="0"/>
              <a:t>2.2. </a:t>
            </a:r>
            <a:r>
              <a:rPr lang="en" dirty="0"/>
              <a:t>Decoder-only </a:t>
            </a:r>
            <a:r>
              <a:rPr lang="ru-RU" dirty="0"/>
              <a:t>архитектура (только декодер)</a:t>
            </a:r>
            <a:endParaRPr lang="ru-RU" b="1" dirty="0"/>
          </a:p>
          <a:p>
            <a:r>
              <a:rPr lang="ru-RU" dirty="0"/>
              <a:t>В отличие от </a:t>
            </a:r>
            <a:r>
              <a:rPr lang="en" dirty="0"/>
              <a:t>encoder-decoder </a:t>
            </a:r>
            <a:r>
              <a:rPr lang="ru-RU" dirty="0"/>
              <a:t>моделей (как в </a:t>
            </a:r>
            <a:r>
              <a:rPr lang="en" dirty="0"/>
              <a:t>Seq2Seq), </a:t>
            </a:r>
            <a:r>
              <a:rPr lang="en" dirty="0" err="1"/>
              <a:t>TimesFM</a:t>
            </a:r>
            <a:r>
              <a:rPr lang="en" dirty="0"/>
              <a:t> — </a:t>
            </a:r>
            <a:r>
              <a:rPr lang="ru-RU" dirty="0"/>
              <a:t>только декодер трансформера.</a:t>
            </a:r>
          </a:p>
          <a:p>
            <a:r>
              <a:rPr lang="ru-RU" dirty="0"/>
              <a:t>Обучается </a:t>
            </a:r>
            <a:r>
              <a:rPr lang="ru-RU" dirty="0" err="1"/>
              <a:t>авторегрессивно</a:t>
            </a:r>
            <a:r>
              <a:rPr lang="ru-RU" dirty="0"/>
              <a:t>: по предыдущим патчам предсказывает следующий.</a:t>
            </a:r>
          </a:p>
          <a:p>
            <a:r>
              <a:rPr lang="ru-RU" dirty="0"/>
              <a:t>Аналогично </a:t>
            </a:r>
            <a:r>
              <a:rPr lang="en" dirty="0"/>
              <a:t>LLM: P(</a:t>
            </a:r>
            <a:r>
              <a:rPr lang="en" dirty="0" err="1"/>
              <a:t>y_t</a:t>
            </a:r>
            <a:r>
              <a:rPr lang="en" dirty="0"/>
              <a:t> | y_{&lt;t}).</a:t>
            </a:r>
          </a:p>
          <a:p>
            <a:r>
              <a:rPr lang="ru-RU" dirty="0"/>
              <a:t>✅ Преимущества: </a:t>
            </a:r>
          </a:p>
          <a:p>
            <a:r>
              <a:rPr lang="ru-RU" dirty="0"/>
              <a:t>Можно обрабатывать любую длину контекста.</a:t>
            </a:r>
          </a:p>
          <a:p>
            <a:r>
              <a:rPr lang="ru-RU" dirty="0"/>
              <a:t>Эффективное обучение: все предсказания в контексте — параллельно.</a:t>
            </a:r>
          </a:p>
          <a:p>
            <a:r>
              <a:rPr lang="ru-RU" dirty="0"/>
              <a:t>Готов к </a:t>
            </a:r>
            <a:r>
              <a:rPr lang="en" dirty="0"/>
              <a:t>zero-shot inference</a:t>
            </a:r>
          </a:p>
        </p:txBody>
      </p:sp>
    </p:spTree>
    <p:extLst>
      <p:ext uri="{BB962C8B-B14F-4D97-AF65-F5344CB8AC3E}">
        <p14:creationId xmlns:p14="http://schemas.microsoft.com/office/powerpoint/2010/main" val="112185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8B65-03CD-D93E-D9A8-7411DBE6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932FE-AEDC-52D8-F4C4-A1373EF9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FF9642-2E25-D64A-8FBE-FCB538EEB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00" y="1825625"/>
            <a:ext cx="5104262" cy="4667250"/>
          </a:xfrm>
        </p:spPr>
        <p:txBody>
          <a:bodyPr>
            <a:normAutofit fontScale="55000" lnSpcReduction="20000"/>
          </a:bodyPr>
          <a:lstStyle/>
          <a:p>
            <a:r>
              <a:rPr lang="ru-RU" b="1" dirty="0"/>
              <a:t>2.3. </a:t>
            </a:r>
            <a:r>
              <a:rPr lang="ru-RU" dirty="0"/>
              <a:t>Длинные выходные патчи (</a:t>
            </a:r>
            <a:r>
              <a:rPr lang="en" dirty="0"/>
              <a:t>Longer output patches)</a:t>
            </a:r>
            <a:endParaRPr lang="en" b="1" dirty="0"/>
          </a:p>
          <a:p>
            <a:r>
              <a:rPr lang="ru-RU" dirty="0"/>
              <a:t>Проблема: при долгосрочном прогнозировании (</a:t>
            </a:r>
            <a:r>
              <a:rPr lang="en" dirty="0"/>
              <a:t>long-horizon) </a:t>
            </a:r>
            <a:r>
              <a:rPr lang="ru-RU" dirty="0" err="1"/>
              <a:t>автогрессивный</a:t>
            </a:r>
            <a:r>
              <a:rPr lang="ru-RU" dirty="0"/>
              <a:t> пошаговый вывод накапливает ошибки.</a:t>
            </a:r>
          </a:p>
          <a:p>
            <a:r>
              <a:rPr lang="ru-RU" dirty="0"/>
              <a:t>Решение: предсказывать целый блок будущего за один шаг, но длиннее входного патча.</a:t>
            </a:r>
          </a:p>
          <a:p>
            <a:r>
              <a:rPr lang="ru-RU" dirty="0"/>
              <a:t>🔁 Пример: </a:t>
            </a:r>
          </a:p>
          <a:p>
            <a:r>
              <a:rPr lang="ru-RU" dirty="0"/>
              <a:t>Входной патч: 32</a:t>
            </a:r>
          </a:p>
          <a:p>
            <a:r>
              <a:rPr lang="ru-RU" dirty="0"/>
              <a:t>Выходной патч: 128</a:t>
            </a:r>
          </a:p>
          <a:p>
            <a:r>
              <a:rPr lang="ru-RU" dirty="0"/>
              <a:t>Модель учится:</a:t>
            </a:r>
          </a:p>
          <a:p>
            <a:pPr lvl="1"/>
            <a:r>
              <a:rPr lang="ru-RU" dirty="0"/>
              <a:t>по первым 32 точкам → предсказать следующие 128</a:t>
            </a:r>
          </a:p>
          <a:p>
            <a:pPr lvl="1"/>
            <a:r>
              <a:rPr lang="ru-RU" dirty="0"/>
              <a:t>по первым 64 → предсказать 65–192 и т.д.</a:t>
            </a:r>
          </a:p>
          <a:p>
            <a:r>
              <a:rPr lang="ru-RU" dirty="0"/>
              <a:t>✅ При выводе:</a:t>
            </a:r>
            <a:br>
              <a:rPr lang="ru-RU" dirty="0"/>
            </a:br>
            <a:r>
              <a:rPr lang="ru-RU" dirty="0"/>
              <a:t>Прогноз строится блоками по 128, а не по 32 → меньше шагов → меньше ошибок. </a:t>
            </a:r>
          </a:p>
          <a:p>
            <a:r>
              <a:rPr lang="ru-RU" dirty="0"/>
              <a:t>💡 Сравнение: </a:t>
            </a:r>
          </a:p>
          <a:p>
            <a:r>
              <a:rPr lang="en" dirty="0"/>
              <a:t>ARIMA: </a:t>
            </a:r>
            <a:r>
              <a:rPr lang="ru-RU" dirty="0"/>
              <a:t>шаг за шагом → накопление ошибки.</a:t>
            </a:r>
          </a:p>
          <a:p>
            <a:r>
              <a:rPr lang="en" dirty="0" err="1"/>
              <a:t>TimesFM</a:t>
            </a:r>
            <a:r>
              <a:rPr lang="en" dirty="0"/>
              <a:t>: </a:t>
            </a:r>
            <a:r>
              <a:rPr lang="ru-RU" dirty="0"/>
              <a:t>блоками → более точный </a:t>
            </a:r>
            <a:r>
              <a:rPr lang="en" dirty="0"/>
              <a:t>long-horizon </a:t>
            </a:r>
            <a:r>
              <a:rPr lang="ru-RU" dirty="0"/>
              <a:t>прогноз.</a:t>
            </a:r>
            <a:endParaRPr lang="ru-RU" dirty="0">
              <a:effectLst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2CD47E9-3227-4F3D-EC91-D90431D73F02}"/>
              </a:ext>
            </a:extLst>
          </p:cNvPr>
          <p:cNvSpPr txBox="1">
            <a:spLocks/>
          </p:cNvSpPr>
          <p:nvPr/>
        </p:nvSpPr>
        <p:spPr>
          <a:xfrm>
            <a:off x="5761631" y="1825625"/>
            <a:ext cx="5104262" cy="466725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b="1" dirty="0"/>
              <a:t>2.4. </a:t>
            </a:r>
            <a:r>
              <a:rPr lang="en" dirty="0"/>
              <a:t>Patch Masking (</a:t>
            </a:r>
            <a:r>
              <a:rPr lang="ru-RU" dirty="0"/>
              <a:t>маскирование патчей)</a:t>
            </a:r>
            <a:endParaRPr lang="ru-RU" b="1" dirty="0"/>
          </a:p>
          <a:p>
            <a:r>
              <a:rPr lang="ru-RU" dirty="0"/>
              <a:t>Чтобы модель не зависела от кратности длины контекста патчу, используется рандомизированное маскирование.</a:t>
            </a:r>
          </a:p>
          <a:p>
            <a:r>
              <a:rPr lang="ru-RU" dirty="0"/>
              <a:t>На каждом шаге обучения:</a:t>
            </a:r>
          </a:p>
          <a:p>
            <a:pPr lvl="1"/>
            <a:r>
              <a:rPr lang="ru-RU" dirty="0"/>
              <a:t>Случайно маскируется начало первого патча (от 0 до </a:t>
            </a:r>
            <a:r>
              <a:rPr lang="en" dirty="0"/>
              <a:t>p-1 </a:t>
            </a:r>
            <a:r>
              <a:rPr lang="ru-RU" dirty="0"/>
              <a:t>точек).</a:t>
            </a:r>
          </a:p>
          <a:p>
            <a:pPr lvl="1"/>
            <a:r>
              <a:rPr lang="ru-RU" dirty="0"/>
              <a:t>Это позволяет модели видеть контексты любой длины от 1 до </a:t>
            </a:r>
            <a:r>
              <a:rPr lang="en" dirty="0" err="1"/>
              <a:t>max_len</a:t>
            </a:r>
            <a:r>
              <a:rPr lang="en" dirty="0"/>
              <a:t>.</a:t>
            </a:r>
          </a:p>
          <a:p>
            <a:r>
              <a:rPr lang="ru-RU" dirty="0"/>
              <a:t>📌 Пример:</a:t>
            </a:r>
            <a:br>
              <a:rPr lang="ru-RU" dirty="0"/>
            </a:br>
            <a:r>
              <a:rPr lang="ru-RU" dirty="0"/>
              <a:t>При </a:t>
            </a:r>
            <a:r>
              <a:rPr lang="en" dirty="0"/>
              <a:t>p=32, </a:t>
            </a:r>
            <a:r>
              <a:rPr lang="en" dirty="0" err="1"/>
              <a:t>max_len</a:t>
            </a:r>
            <a:r>
              <a:rPr lang="en" dirty="0"/>
              <a:t>=512, r=4: </a:t>
            </a:r>
          </a:p>
          <a:p>
            <a:r>
              <a:rPr lang="ru-RU" dirty="0"/>
              <a:t>Модель "видит" 28 точек первого патча → обучается прогнозировать после 28 точек.</a:t>
            </a:r>
          </a:p>
          <a:p>
            <a:r>
              <a:rPr lang="ru-RU" dirty="0"/>
              <a:t>При другом </a:t>
            </a:r>
            <a:r>
              <a:rPr lang="en" dirty="0"/>
              <a:t>r — </a:t>
            </a:r>
            <a:r>
              <a:rPr lang="ru-RU" dirty="0"/>
              <a:t>после 15, 30 и т.д.</a:t>
            </a:r>
          </a:p>
          <a:p>
            <a:r>
              <a:rPr lang="ru-RU" dirty="0"/>
              <a:t>✅ Итог: модель становится инвариантной к длине контекста — ключевое для </a:t>
            </a:r>
            <a:r>
              <a:rPr lang="en" dirty="0"/>
              <a:t>zero-shot. </a:t>
            </a:r>
          </a:p>
          <a:p>
            <a:r>
              <a:rPr lang="en" dirty="0"/>
              <a:t/>
            </a:r>
            <a:br>
              <a:rPr lang="en" dirty="0"/>
            </a:b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98327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A70B4-180B-C625-8324-67BECA2A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0B874-7B6C-BA26-D8E4-093A31EA4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" dirty="0"/>
              <a:t>Training (</a:t>
            </a:r>
            <a:r>
              <a:rPr lang="ru-RU" dirty="0"/>
              <a:t>обучение)</a:t>
            </a:r>
            <a:endParaRPr lang="ru-RU" b="1" dirty="0"/>
          </a:p>
          <a:p>
            <a:r>
              <a:rPr lang="ru-RU" dirty="0"/>
              <a:t>Обучение в </a:t>
            </a:r>
            <a:r>
              <a:rPr lang="en" dirty="0"/>
              <a:t>mini-batch </a:t>
            </a:r>
            <a:r>
              <a:rPr lang="ru-RU" dirty="0"/>
              <a:t>режиме, </a:t>
            </a:r>
            <a:r>
              <a:rPr lang="en" dirty="0"/>
              <a:t>decoder-only fashion.</a:t>
            </a:r>
          </a:p>
          <a:p>
            <a:r>
              <a:rPr lang="ru-RU" dirty="0"/>
              <a:t>Ключевая техника: рандомизированное маскирование начала ряда.</a:t>
            </a:r>
          </a:p>
          <a:p>
            <a:r>
              <a:rPr lang="ru-RU" dirty="0"/>
              <a:t>Модель учится прогнозировать при любой длине контекста.</a:t>
            </a:r>
          </a:p>
          <a:p>
            <a:r>
              <a:rPr lang="ru-RU" dirty="0"/>
              <a:t>Обучается на огромном разнообразии временных рядов (предположительно — миллионы рядов из разных доменов).</a:t>
            </a:r>
          </a:p>
          <a:p>
            <a:r>
              <a:rPr lang="cy-GB" dirty="0"/>
              <a:t>Inference (вывод / прогнозирование)</a:t>
            </a:r>
            <a:endParaRPr lang="cy-GB" b="1" dirty="0"/>
          </a:p>
          <a:p>
            <a:r>
              <a:rPr lang="cy-GB" dirty="0"/>
              <a:t>Авторегрессивный декодинг, как в LLM:</a:t>
            </a:r>
          </a:p>
          <a:p>
            <a:pPr lvl="1"/>
            <a:r>
              <a:rPr lang="cy-GB" dirty="0"/>
              <a:t>Дан ряд y_{1:L} → предсказать ŷ_{L+1:L+h}</a:t>
            </a:r>
          </a:p>
          <a:p>
            <a:pPr lvl="1"/>
            <a:r>
              <a:rPr lang="cy-GB" dirty="0"/>
              <a:t>Сконкатенировать: ỹ = [y_{1:L}; ŷ_{L+1:L+h}]</a:t>
            </a:r>
          </a:p>
          <a:p>
            <a:pPr lvl="1"/>
            <a:r>
              <a:rPr lang="cy-GB" dirty="0"/>
              <a:t>Подать как новый вход → предсказать ŷ_{L+h+1:L+2h}</a:t>
            </a:r>
          </a:p>
          <a:p>
            <a:pPr lvl="1"/>
            <a:r>
              <a:rPr lang="cy-GB" dirty="0"/>
              <a:t>Повторять до нужного горизонта.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20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8F8A7-5CC0-266B-1ADA-B28C60E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F03B492-A93F-79A0-9018-0D649BA9A7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98535" y="1788044"/>
          <a:ext cx="3194929" cy="4426500"/>
        </p:xfrm>
        <a:graphic>
          <a:graphicData uri="http://schemas.openxmlformats.org/drawingml/2006/table">
            <a:tbl>
              <a:tblPr/>
              <a:tblGrid>
                <a:gridCol w="646778">
                  <a:extLst>
                    <a:ext uri="{9D8B030D-6E8A-4147-A177-3AD203B41FA5}">
                      <a16:colId xmlns:a16="http://schemas.microsoft.com/office/drawing/2014/main" val="1878481353"/>
                    </a:ext>
                  </a:extLst>
                </a:gridCol>
                <a:gridCol w="366248">
                  <a:extLst>
                    <a:ext uri="{9D8B030D-6E8A-4147-A177-3AD203B41FA5}">
                      <a16:colId xmlns:a16="http://schemas.microsoft.com/office/drawing/2014/main" val="2460111256"/>
                    </a:ext>
                  </a:extLst>
                </a:gridCol>
                <a:gridCol w="911724">
                  <a:extLst>
                    <a:ext uri="{9D8B030D-6E8A-4147-A177-3AD203B41FA5}">
                      <a16:colId xmlns:a16="http://schemas.microsoft.com/office/drawing/2014/main" val="3429394796"/>
                    </a:ext>
                  </a:extLst>
                </a:gridCol>
                <a:gridCol w="826006">
                  <a:extLst>
                    <a:ext uri="{9D8B030D-6E8A-4147-A177-3AD203B41FA5}">
                      <a16:colId xmlns:a16="http://schemas.microsoft.com/office/drawing/2014/main" val="3510223744"/>
                    </a:ext>
                  </a:extLst>
                </a:gridCol>
                <a:gridCol w="444173">
                  <a:extLst>
                    <a:ext uri="{9D8B030D-6E8A-4147-A177-3AD203B41FA5}">
                      <a16:colId xmlns:a16="http://schemas.microsoft.com/office/drawing/2014/main" val="1985132172"/>
                    </a:ext>
                  </a:extLst>
                </a:gridCol>
              </a:tblGrid>
              <a:tr h="96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Метод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Zero-shot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Точность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Интерпретируемость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Сложность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705090"/>
                  </a:ext>
                </a:extLst>
              </a:tr>
              <a:tr h="73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Reprogramming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Да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🟢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Низкая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51115"/>
                  </a:ext>
                </a:extLst>
              </a:tr>
              <a:tr h="73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Prompt-based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Да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–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🟢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Средняя/высокая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🟢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Низкая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751088"/>
                  </a:ext>
                </a:extLst>
              </a:tr>
              <a:tr h="96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Fine-tuned LLM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❌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Нет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🔴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984015"/>
                  </a:ext>
                </a:extLst>
              </a:tr>
              <a:tr h="9600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as Reasoner</a:t>
                      </a:r>
                      <a:endParaRPr lang="en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Да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(зависит от модели)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✅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Очень высокая</a:t>
                      </a:r>
                      <a:endParaRPr lang="ru-RU" sz="150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Apple Color Emoji" pitchFamily="2" charset="0"/>
                        </a:rPr>
                        <a:t>🟡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 Средняя</a:t>
                      </a:r>
                      <a:endParaRPr lang="ru-RU" sz="1500" dirty="0">
                        <a:effectLst/>
                      </a:endParaRPr>
                    </a:p>
                  </a:txBody>
                  <a:tcPr marL="31170" marR="31170" marT="31170" marB="3117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749222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6D86D18-1E97-1B99-C47A-B83DB3E5D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67081"/>
              </p:ext>
            </p:extLst>
          </p:nvPr>
        </p:nvGraphicFramePr>
        <p:xfrm>
          <a:off x="8168641" y="1690572"/>
          <a:ext cx="2347392" cy="4401817"/>
        </p:xfrm>
        <a:graphic>
          <a:graphicData uri="http://schemas.openxmlformats.org/drawingml/2006/table">
            <a:tbl>
              <a:tblPr/>
              <a:tblGrid>
                <a:gridCol w="929176">
                  <a:extLst>
                    <a:ext uri="{9D8B030D-6E8A-4147-A177-3AD203B41FA5}">
                      <a16:colId xmlns:a16="http://schemas.microsoft.com/office/drawing/2014/main" val="1362117442"/>
                    </a:ext>
                  </a:extLst>
                </a:gridCol>
                <a:gridCol w="1418216">
                  <a:extLst>
                    <a:ext uri="{9D8B030D-6E8A-4147-A177-3AD203B41FA5}">
                      <a16:colId xmlns:a16="http://schemas.microsoft.com/office/drawing/2014/main" val="1009975454"/>
                    </a:ext>
                  </a:extLst>
                </a:gridCol>
              </a:tblGrid>
              <a:tr h="53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Задача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Рекомендация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086981"/>
                  </a:ext>
                </a:extLst>
              </a:tr>
              <a:tr h="1012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Мало данных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Prompt-based / Reprogramming</a:t>
                      </a:r>
                      <a:endParaRPr lang="en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013242"/>
                  </a:ext>
                </a:extLst>
              </a:tr>
              <a:tr h="775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Нужно объяснение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as Reasoner</a:t>
                      </a:r>
                      <a:endParaRPr lang="en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438014"/>
                  </a:ext>
                </a:extLst>
              </a:tr>
              <a:tr h="1012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 точность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Fine-tuned LLM</a:t>
                      </a:r>
                      <a:endParaRPr lang="en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362902"/>
                  </a:ext>
                </a:extLst>
              </a:tr>
              <a:tr h="1012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Быстрый прототип</a:t>
                      </a:r>
                      <a:endParaRPr lang="ru-RU" sz="160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Zero-shot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промптами</a:t>
                      </a:r>
                      <a:endParaRPr lang="ru-RU" sz="1600" dirty="0">
                        <a:effectLst/>
                      </a:endParaRPr>
                    </a:p>
                  </a:txBody>
                  <a:tcPr marL="32865" marR="32865" marT="32865" marB="3286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17641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331F6C5-BB99-73C3-CBAB-94ED8E404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592384"/>
              </p:ext>
            </p:extLst>
          </p:nvPr>
        </p:nvGraphicFramePr>
        <p:xfrm>
          <a:off x="90335" y="1863206"/>
          <a:ext cx="4170611" cy="4351338"/>
        </p:xfrm>
        <a:graphic>
          <a:graphicData uri="http://schemas.openxmlformats.org/drawingml/2006/table">
            <a:tbl>
              <a:tblPr/>
              <a:tblGrid>
                <a:gridCol w="1077408">
                  <a:extLst>
                    <a:ext uri="{9D8B030D-6E8A-4147-A177-3AD203B41FA5}">
                      <a16:colId xmlns:a16="http://schemas.microsoft.com/office/drawing/2014/main" val="2294123063"/>
                    </a:ext>
                  </a:extLst>
                </a:gridCol>
                <a:gridCol w="3093203">
                  <a:extLst>
                    <a:ext uri="{9D8B030D-6E8A-4147-A177-3AD203B41FA5}">
                      <a16:colId xmlns:a16="http://schemas.microsoft.com/office/drawing/2014/main" val="2708118615"/>
                    </a:ext>
                  </a:extLst>
                </a:gridCol>
              </a:tblGrid>
              <a:tr h="569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Категория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Описание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343309"/>
                  </a:ext>
                </a:extLst>
              </a:tr>
              <a:tr h="1070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1. Reprogramming LLM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Перевод числовых рядов в текстовый формат, который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может понять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17969"/>
                  </a:ext>
                </a:extLst>
              </a:tr>
              <a:tr h="1070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2. Prompt-based Learning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Использование промптов для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few-shot/zero-shot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прогнозирования</a:t>
                      </a:r>
                      <a:endParaRPr lang="ru-RU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24293"/>
                  </a:ext>
                </a:extLst>
              </a:tr>
              <a:tr h="820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3. LLM as a Predictor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Прямое использование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как модели прогноза (с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fine-tuning)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026632"/>
                  </a:ext>
                </a:extLst>
              </a:tr>
              <a:tr h="820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4. LLM as a Reasoner</a:t>
                      </a:r>
                      <a:endParaRPr lang="en" sz="160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Использование 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LLM 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для интерпретации, объяснения и принятия решений</a:t>
                      </a:r>
                      <a:endParaRPr lang="ru-RU" sz="1600" dirty="0">
                        <a:effectLst/>
                      </a:endParaRPr>
                    </a:p>
                  </a:txBody>
                  <a:tcPr marL="34755" marR="34755" marT="34755" marB="3475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099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43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37CF4-19DA-26A8-E312-B89F88BE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F3927E-D387-C8EB-1B29-A859C067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828799"/>
            <a:ext cx="11012606" cy="4348163"/>
          </a:xfrm>
        </p:spPr>
        <p:txBody>
          <a:bodyPr/>
          <a:lstStyle/>
          <a:p>
            <a:r>
              <a:rPr lang="ru-RU" dirty="0"/>
              <a:t>Полный </a:t>
            </a:r>
            <a:r>
              <a:rPr lang="ru-RU" dirty="0" err="1"/>
              <a:t>трасформер</a:t>
            </a:r>
            <a:r>
              <a:rPr lang="ru-RU" dirty="0"/>
              <a:t> можно проинтерпретировать:</a:t>
            </a:r>
          </a:p>
          <a:p>
            <a:r>
              <a:rPr lang="ru-RU" dirty="0" err="1"/>
              <a:t>Энкодер</a:t>
            </a:r>
            <a:r>
              <a:rPr lang="ru-RU" dirty="0"/>
              <a:t> – анализ входной </a:t>
            </a:r>
            <a:r>
              <a:rPr lang="ru-RU" dirty="0" err="1"/>
              <a:t>последоватнельности</a:t>
            </a:r>
            <a:r>
              <a:rPr lang="ru-RU" dirty="0"/>
              <a:t> (пересечение </a:t>
            </a:r>
            <a:r>
              <a:rPr lang="ru-RU" dirty="0" err="1"/>
              <a:t>пачтей</a:t>
            </a:r>
            <a:r>
              <a:rPr lang="ru-RU" dirty="0"/>
              <a:t>, на выходе скрытое состояние для всех патчей) . Цель скрытого состояния – выделение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203226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9328</TotalTime>
  <Words>1187</Words>
  <Application>Microsoft Office PowerPoint</Application>
  <PresentationFormat>Широкоэкранный</PresentationFormat>
  <Paragraphs>161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Apple Color Emoji</vt:lpstr>
      <vt:lpstr>Aptos</vt:lpstr>
      <vt:lpstr>Arial</vt:lpstr>
      <vt:lpstr>Calibri</vt:lpstr>
      <vt:lpstr>Calibri Light</vt:lpstr>
      <vt:lpstr>Helvetica Neue</vt:lpstr>
      <vt:lpstr>Тема Office</vt:lpstr>
      <vt:lpstr>Использование методов глубокого обучения в анализе временных рядов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Модели трансформеры </vt:lpstr>
      <vt:lpstr>Презентация PowerPoint</vt:lpstr>
      <vt:lpstr>Гипотезы: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378</cp:revision>
  <dcterms:created xsi:type="dcterms:W3CDTF">2021-11-21T16:45:21Z</dcterms:created>
  <dcterms:modified xsi:type="dcterms:W3CDTF">2025-08-29T10:05:08Z</dcterms:modified>
</cp:coreProperties>
</file>