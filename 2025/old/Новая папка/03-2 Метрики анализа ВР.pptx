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338" r:id="rId2"/>
    <p:sldId id="412" r:id="rId3"/>
    <p:sldId id="438" r:id="rId4"/>
    <p:sldId id="411" r:id="rId5"/>
    <p:sldId id="413" r:id="rId6"/>
    <p:sldId id="419" r:id="rId7"/>
    <p:sldId id="440" r:id="rId8"/>
    <p:sldId id="439" r:id="rId9"/>
    <p:sldId id="414" r:id="rId10"/>
    <p:sldId id="427" r:id="rId11"/>
    <p:sldId id="433" r:id="rId12"/>
    <p:sldId id="430" r:id="rId13"/>
    <p:sldId id="431" r:id="rId14"/>
    <p:sldId id="432" r:id="rId15"/>
    <p:sldId id="428" r:id="rId16"/>
    <p:sldId id="434" r:id="rId17"/>
    <p:sldId id="424" r:id="rId18"/>
    <p:sldId id="435" r:id="rId19"/>
    <p:sldId id="42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83973" autoAdjust="0"/>
  </p:normalViewPr>
  <p:slideViewPr>
    <p:cSldViewPr snapToGrid="0">
      <p:cViewPr varScale="1">
        <p:scale>
          <a:sx n="110" d="100"/>
          <a:sy n="110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8589-07B6-8B7C-50EB-9BE2AA949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B8CE22-3444-6B30-2178-AB78F7632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34F76AA-F72E-9F7F-3CF1-9FC95397C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A forecast “error” is the difference between an observed value and its forecast. Here “error” does not mean a mistake, it means the unpredictable part of an observation. It can be written as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eT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=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−^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h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where the training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1,…,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and the test data is given by 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{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+1,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th-I"/>
              </a:rPr>
              <a:t>yT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JXc-TeX-main-R"/>
              </a:rPr>
              <a:t>+2,…}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Note that forecast errors are different from residuals in two ways. First, residuals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training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 while forecast errors are calculated on the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test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set. Second, residuals are based on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one-step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 while forecast errors can involve </a:t>
            </a:r>
            <a:r>
              <a:rPr lang="en" sz="900" b="0" i="1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multi-step</a:t>
            </a: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 forecasts.</a:t>
            </a:r>
          </a:p>
          <a:p>
            <a:pPr algn="l">
              <a:buNone/>
            </a:pPr>
            <a:r>
              <a:rPr lang="en" sz="900" b="0" i="0" dirty="0">
                <a:solidFill>
                  <a:srgbClr val="333333"/>
                </a:solidFill>
                <a:effectLst/>
                <a:latin typeface="Merriweather" panose="020F0502020204030204" pitchFamily="34" charset="0"/>
              </a:rPr>
              <a:t>We can measure forecast accuracy by summarising the forecast errors in different ways.</a:t>
            </a:r>
          </a:p>
          <a:p>
            <a:pPr algn="l"/>
            <a:r>
              <a:rPr lang="en" sz="900" b="0" i="0" dirty="0">
                <a:solidFill>
                  <a:srgbClr val="333333"/>
                </a:solidFill>
                <a:effectLst/>
                <a:latin typeface="Merriweather" pitchFamily="2" charset="0"/>
              </a:rPr>
              <a:t/>
            </a:r>
            <a:br>
              <a:rPr lang="en" sz="900" b="0" i="0" dirty="0">
                <a:solidFill>
                  <a:srgbClr val="333333"/>
                </a:solidFill>
                <a:effectLst/>
                <a:latin typeface="Merriweather" pitchFamily="2" charset="0"/>
              </a:rPr>
            </a:br>
            <a:endParaRPr lang="en" sz="900" b="0" i="0" dirty="0">
              <a:solidFill>
                <a:srgbClr val="333333"/>
              </a:solidFill>
              <a:effectLst/>
              <a:latin typeface="Merriweather" pitchFamily="2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E91898-4BBC-42B5-0F12-4D00C54CB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114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334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097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931E-A559-E5CC-CC4E-400B87F4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B2FA56-70D8-F030-D5E4-CE3E92B57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903E08-D920-29C6-FBE8-03126D7CA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76FA5C5-B974-93D0-7BA2-505334F7B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360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2D1B-903A-8E8F-18C0-4F6E3639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FA67A7-B988-F52C-6EB8-BE0713DC8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F6590F-FCBF-CB3D-5FCD-55B30ED65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MSLE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0F5443-305A-3F75-45CD-A44A01C23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678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203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🔍 Что такое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Conformal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(Конформное прогнозирование) — это метод непараметрической оценки неопределенности , который позволяет строить калиброванные доверительные интервалы для прогнозов, полученных с помощью любой модели машинного обучения.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Особенность этого подхода в том, что он: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предполагает нормальности распределения ошибок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требует повторного обучения модели 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с любыми моделями (линейными, деревьями решений,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нейросетями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т.д.).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 калибровку : например, 95% интервал действительно покроет 95% реальных значений при условии, что данные независимы и одинаково распределены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i.i.d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Основная идея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Конформное прогнозирование использует перекрестную проверку или разделение на обучающую и калибровочную выборки , чтобы определить, насколько "конформны" новые наблюдения по сравнению с уже известными.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работы: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Обучите модель на обучающей выборке.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Используйте отдельную часть данных (калибровочную) для вычисления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nonconformity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scores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меры того, насколько новое значение отличается от предсказанного.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основе этих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неконформностей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постройте доверительный интервал , который будет содержать будущее значение с заданной вероятностью (например, 90%, 95%).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📊 Пример: регрессия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Предположим, у нас есть временной ряд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. Мы хотим построить прогноз на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шагов вперед с 95% доверительным интервалом.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Этапы конформного прогнозирования: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Разделение данных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Калибровочная выборка :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+1​,...,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Обучение модели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Обучаем любую модель (например,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LightGBM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ARIMA и др.) на обучающей выборке.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Вычисление </a:t>
            </a:r>
            <a:r>
              <a:rPr lang="ru-RU" sz="9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endParaRPr lang="ru-RU" sz="9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каждого элемента из калибровочной выборки вычисляем ошибку прогноза (например, абсолютную):</a:t>
            </a:r>
          </a:p>
          <a:p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​=∣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^​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​∣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 есть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неконформности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</a:p>
          <a:p>
            <a:r>
              <a:rPr lang="ru-RU" sz="9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Нахождение квантили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Вычисляем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— (1−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-квантиль всех значений </a:t>
            </a:r>
            <a:r>
              <a:rPr lang="ru-RU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</a:t>
            </a:r>
            <a:r>
              <a:rPr lang="ru-RU" sz="9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 , где </a:t>
            </a:r>
            <a:r>
              <a:rPr lang="ru-RU" sz="9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α</a:t>
            </a:r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уровень доверия.</a:t>
            </a:r>
          </a:p>
          <a:p>
            <a:r>
              <a:rPr lang="ru-RU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Например: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112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34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377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25.07.2025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25.07.2025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25.07.2025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25.07.2025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25.07.2025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25.07.2025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25.07.2025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25.07.2025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25.07.2025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25.07.2025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25.07.2025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25.07.2025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hyperlink" Target="https://www.lokad.com/ru/&#1074;&#1077;&#1088;&#1086;&#1103;&#1090;&#1085;&#1086;&#1089;&#1090;&#1085;&#1086;&#1077;-&#1087;&#1088;&#1086;&#1075;&#1085;&#1086;&#1079;&#1080;&#1088;&#1086;&#1074;&#1072;&#1085;&#1080;&#1077;-&#1086;&#1087;&#1088;&#1077;&#1076;&#1077;&#1083;&#1077;&#1085;&#1080;&#1077;/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an-introduction-to-quantile-loss-a-k-a-the-pinball-loss-33cccac378a9/" TargetMode="External"/><Relationship Id="rId5" Type="http://schemas.openxmlformats.org/officeDocument/2006/relationships/image" Target="../media/image61.png"/><Relationship Id="rId4" Type="http://schemas.openxmlformats.org/officeDocument/2006/relationships/hyperlink" Target="https://www.lokad.com/pinball-loss-function-definition/" TargetMode="External"/><Relationship Id="rId9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7320" y="1224565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 smtClean="0"/>
              <a:t>Метрики анализа ВР</a:t>
            </a:r>
            <a:endParaRPr lang="en-US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A19EF5-ACCD-EF26-C88D-A3ED3DC9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43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6BE4D-D647-5D38-F396-4B40B501D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7E1D3-BF41-2282-67E2-E30D42BF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102885"/>
            <a:ext cx="11092543" cy="656153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Остатки и метрики модели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100" dirty="0"/>
                  <a:t>Можно спрогнозировать</a:t>
                </a:r>
                <a:r>
                  <a:rPr lang="en-US" sz="2100" dirty="0"/>
                  <a:t> </a:t>
                </a:r>
                <a:r>
                  <a:rPr lang="ru-RU" sz="2100" dirty="0"/>
                  <a:t>значения ВР, используя все предыдущие наблюдения.</a:t>
                </a:r>
                <a:r>
                  <a:rPr lang="en-US" sz="2100" dirty="0"/>
                  <a:t> </a:t>
                </a:r>
                <a:endParaRPr lang="ru-RU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100" dirty="0"/>
                  <a:t>Е</a:t>
                </a:r>
                <a:r>
                  <a:rPr lang="ru-RU" sz="2100" dirty="0" err="1"/>
                  <a:t>сли</a:t>
                </a:r>
                <a:r>
                  <a:rPr lang="ru-RU" sz="2100" dirty="0"/>
                  <a:t> наблюдения содержат необъясненные составляющие (шум), и их число ограничено, то результат прогноза не является истинным. </a:t>
                </a:r>
                <a:endParaRPr lang="en-US" sz="21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Остаток от предсказания модели на каждом шаге можно оценить как: </a:t>
                </a:r>
                <a:endParaRPr lang="ru-RU" sz="21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100" i="1" dirty="0" smtClean="0">
                        <a:latin typeface="Cambria Math" panose="02040503050406030204" pitchFamily="18" charset="0"/>
                      </a:rPr>
                      <m:t>е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1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ru-RU" sz="2100" i="1" dirty="0">
                        <a:latin typeface="Cambria Math" panose="02040503050406030204" pitchFamily="18" charset="0"/>
                      </a:rPr>
                      <m:t>​−</m:t>
                    </m:r>
                    <m:acc>
                      <m:accPr>
                        <m:chr m:val="̂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100" dirty="0"/>
                  <a:t>​ 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/>
                  <a:t>Ошибку работы модели на всем горизонте предсказаний</a:t>
                </a:r>
                <a:r>
                  <a:rPr lang="en-US" sz="2100" dirty="0"/>
                  <a:t> </a:t>
                </a:r>
                <a14:m>
                  <m:oMath xmlns:m="http://schemas.openxmlformats.org/officeDocument/2006/math"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ru-RU" sz="2100" dirty="0"/>
                  <a:t>  можно оценить как функционал от остатков модели</a:t>
                </a:r>
                <a:r>
                  <a:rPr lang="en-US" sz="2100" dirty="0"/>
                  <a:t> - </a:t>
                </a:r>
                <a:r>
                  <a:rPr lang="ru-RU" sz="2100" b="1" dirty="0"/>
                  <a:t>метрика прогноза</a:t>
                </a:r>
                <a:endParaRPr lang="ru-RU" sz="21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𝑚𝑒𝑡𝑟𝑖𝑐</m:t>
                      </m:r>
                      <m:r>
                        <a:rPr lang="en-US" sz="21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1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en-US" sz="21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1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е(</m:t>
                              </m:r>
                              <m:r>
                                <a:rPr lang="en-US" sz="21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sz="21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a:rPr lang="en-US" sz="2100" b="0" i="0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ru-RU" sz="2100" b="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Выбор метрики определяет, как модель оптимизирует прогноз. </a:t>
                </a:r>
                <a:endParaRPr lang="en-US" sz="18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Неправильная метрика = риск неверного решения.</a:t>
                </a:r>
                <a:endParaRPr lang="ru-RU" sz="2000" i="1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i="1" dirty="0"/>
                  <a:t>Задача: Предсказать количество пациентов в отделении скорой помощи.</a:t>
                </a:r>
                <a:endParaRPr lang="ru-RU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A: MAE = </a:t>
                </a:r>
                <a:r>
                  <a:rPr lang="ru-RU" sz="1800" dirty="0"/>
                  <a:t>4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пациентов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dirty="0"/>
                  <a:t>Модель </a:t>
                </a:r>
                <a:r>
                  <a:rPr lang="en" sz="1800" dirty="0"/>
                  <a:t>B: MAE = </a:t>
                </a:r>
                <a:r>
                  <a:rPr lang="ru-RU" sz="1800" dirty="0"/>
                  <a:t>3</a:t>
                </a:r>
                <a:r>
                  <a:rPr lang="en" sz="1800" dirty="0"/>
                  <a:t> </a:t>
                </a:r>
                <a:r>
                  <a:rPr lang="ru-RU" sz="1800" dirty="0"/>
                  <a:t>пациента, но в 10% случаев ошибка &gt; 10 пациентов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1800" dirty="0"/>
                  <a:t>Если перегрузка приводит к отказам в помощи → важнее избегать катастрофических ошибок (выбираем модель В</a:t>
                </a:r>
                <a:r>
                  <a:rPr lang="en" sz="1800" dirty="0"/>
                  <a:t>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" sz="1800" dirty="0"/>
                  <a:t>MAE </a:t>
                </a:r>
                <a:r>
                  <a:rPr lang="ru-RU" sz="1800" dirty="0"/>
                  <a:t>не показывает риск экстремальных событий.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800" b="1" dirty="0"/>
                  <a:t>Решение:</a:t>
                </a:r>
                <a:r>
                  <a:rPr lang="ru-RU" sz="1800" dirty="0"/>
                  <a:t> Добавляем метрики на максимум ошибки (например, </a:t>
                </a:r>
                <a:r>
                  <a:rPr lang="en" sz="1800" dirty="0"/>
                  <a:t>Worst-case Error).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7C5010-63F7-CB9C-F30D-144136F66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729452"/>
                <a:ext cx="11513051" cy="5850534"/>
              </a:xfrm>
              <a:blipFill>
                <a:blip r:embed="rId3"/>
                <a:stretch>
                  <a:fillRect l="-636" t="-730" r="-47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9E1D40-11B9-B9C3-FE0E-3DD69498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EF28C-A98B-A6AE-9DEE-2F9E5FE143CD}"/>
              </a:ext>
            </a:extLst>
          </p:cNvPr>
          <p:cNvSpPr txBox="1"/>
          <p:nvPr/>
        </p:nvSpPr>
        <p:spPr>
          <a:xfrm>
            <a:off x="126499" y="6523567"/>
            <a:ext cx="1139833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apxml.com</a:t>
            </a:r>
            <a:r>
              <a:rPr lang="ru-RU" sz="1500" dirty="0"/>
              <a:t>/</a:t>
            </a:r>
            <a:r>
              <a:rPr lang="ru-RU" sz="1500" dirty="0" err="1"/>
              <a:t>courses</a:t>
            </a:r>
            <a:r>
              <a:rPr lang="ru-RU" sz="1500" dirty="0"/>
              <a:t>/</a:t>
            </a:r>
            <a:r>
              <a:rPr lang="ru-RU" sz="1500" dirty="0" err="1"/>
              <a:t>time-series-analysis-forecasting</a:t>
            </a:r>
            <a:r>
              <a:rPr lang="ru-RU" sz="1500" dirty="0"/>
              <a:t>/chapter-6-model-evaluation-selection/</a:t>
            </a:r>
            <a:r>
              <a:rPr lang="ru-RU" sz="1500" dirty="0" err="1"/>
              <a:t>evaluation-metrics-mae-mse-rmse</a:t>
            </a:r>
            <a:endParaRPr lang="ru-RU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18F84-76DE-6B24-3A90-DDA824A24A4B}"/>
              </a:ext>
            </a:extLst>
          </p:cNvPr>
          <p:cNvSpPr txBox="1"/>
          <p:nvPr/>
        </p:nvSpPr>
        <p:spPr>
          <a:xfrm>
            <a:off x="3330743" y="6347855"/>
            <a:ext cx="60979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arxiv.org</a:t>
            </a:r>
            <a:r>
              <a:rPr lang="ru-RU" sz="1500" dirty="0"/>
              <a:t>/</a:t>
            </a:r>
            <a:r>
              <a:rPr lang="ru-RU" sz="1500" dirty="0" err="1"/>
              <a:t>pdf</a:t>
            </a:r>
            <a:r>
              <a:rPr lang="ru-RU" sz="1500" dirty="0"/>
              <a:t>/2211.02989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A853A3-E146-7BC4-408E-A62E24EACAEA}"/>
              </a:ext>
            </a:extLst>
          </p:cNvPr>
          <p:cNvSpPr txBox="1"/>
          <p:nvPr/>
        </p:nvSpPr>
        <p:spPr>
          <a:xfrm>
            <a:off x="126499" y="6350000"/>
            <a:ext cx="39106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dirty="0" err="1"/>
              <a:t>https</a:t>
            </a:r>
            <a:r>
              <a:rPr lang="ru-RU" sz="1500" dirty="0"/>
              <a:t>://</a:t>
            </a:r>
            <a:r>
              <a:rPr lang="ru-RU" sz="1500" dirty="0" err="1"/>
              <a:t>otexts.com</a:t>
            </a:r>
            <a:r>
              <a:rPr lang="ru-RU" sz="1500" dirty="0"/>
              <a:t>/fpp2/</a:t>
            </a:r>
            <a:r>
              <a:rPr lang="ru-RU" sz="1500" dirty="0" err="1"/>
              <a:t>accuracy.html</a:t>
            </a:r>
            <a:endParaRPr lang="ru-RU" sz="15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079789" y="6341047"/>
            <a:ext cx="471956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https://dl.leima.is/time-series/timeseries-metrics.forecasting/</a:t>
            </a:r>
          </a:p>
        </p:txBody>
      </p:sp>
    </p:spTree>
    <p:extLst>
      <p:ext uri="{BB962C8B-B14F-4D97-AF65-F5344CB8AC3E}">
        <p14:creationId xmlns:p14="http://schemas.microsoft.com/office/powerpoint/2010/main" val="2611345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Типы метрик во временных рядах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>
                              <a:effectLst/>
                            </a:rPr>
                            <a:t> 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6205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20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20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2000" kern="100"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Таблица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6244280"/>
                  </p:ext>
                </p:extLst>
              </p:nvPr>
            </p:nvGraphicFramePr>
            <p:xfrm>
              <a:off x="117258" y="946513"/>
              <a:ext cx="11652504" cy="5592399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1851391">
                      <a:extLst>
                        <a:ext uri="{9D8B030D-6E8A-4147-A177-3AD203B41FA5}">
                          <a16:colId xmlns:a16="http://schemas.microsoft.com/office/drawing/2014/main" val="1179540234"/>
                        </a:ext>
                      </a:extLst>
                    </a:gridCol>
                    <a:gridCol w="2706893">
                      <a:extLst>
                        <a:ext uri="{9D8B030D-6E8A-4147-A177-3AD203B41FA5}">
                          <a16:colId xmlns:a16="http://schemas.microsoft.com/office/drawing/2014/main" val="1726485903"/>
                        </a:ext>
                      </a:extLst>
                    </a:gridCol>
                    <a:gridCol w="2753958">
                      <a:extLst>
                        <a:ext uri="{9D8B030D-6E8A-4147-A177-3AD203B41FA5}">
                          <a16:colId xmlns:a16="http://schemas.microsoft.com/office/drawing/2014/main" val="347437075"/>
                        </a:ext>
                      </a:extLst>
                    </a:gridCol>
                    <a:gridCol w="1487103">
                      <a:extLst>
                        <a:ext uri="{9D8B030D-6E8A-4147-A177-3AD203B41FA5}">
                          <a16:colId xmlns:a16="http://schemas.microsoft.com/office/drawing/2014/main" val="4165201017"/>
                        </a:ext>
                      </a:extLst>
                    </a:gridCol>
                    <a:gridCol w="2853159">
                      <a:extLst>
                        <a:ext uri="{9D8B030D-6E8A-4147-A177-3AD203B41FA5}">
                          <a16:colId xmlns:a16="http://schemas.microsoft.com/office/drawing/2014/main" val="479462170"/>
                        </a:ext>
                      </a:extLst>
                    </a:gridCol>
                  </a:tblGrid>
                  <a:tr h="36021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Тип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Оценка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Цель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Метрики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Особенности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849000017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Точечный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Наилучшая оценка модели (часто средняя, мода и </a:t>
                          </a:r>
                          <a:r>
                            <a:rPr lang="ru-RU" sz="2000" kern="100" dirty="0" err="1">
                              <a:effectLst/>
                            </a:rPr>
                            <a:t>тд</a:t>
                          </a:r>
                          <a:r>
                            <a:rPr lang="ru-RU" sz="2000" kern="100" dirty="0">
                              <a:effectLst/>
                            </a:rPr>
                            <a:t>)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наиболее ожидаемое значение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>
                              <a:effectLst/>
                            </a:rPr>
                            <a:t>MAE, RMSE, MAPE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err="1" smtClean="0">
                              <a:effectLst/>
                            </a:rPr>
                            <a:t>неучитывает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 </a:t>
                          </a:r>
                          <a:r>
                            <a:rPr lang="ru-RU" sz="2000" kern="100" dirty="0">
                              <a:effectLst/>
                            </a:rPr>
                            <a:t>особенности разброса оценки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906028580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Дисперсия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СКО и </a:t>
                          </a:r>
                          <a:r>
                            <a:rPr lang="ru-RU" sz="2000" kern="100" dirty="0" smtClean="0">
                              <a:effectLst/>
                            </a:rPr>
                            <a:t>неопределенность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1800" kern="1200" dirty="0" smtClean="0">
                              <a:effectLst/>
                            </a:rPr>
                            <a:t>Оценить разброс и надежность прогноза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 smtClean="0">
                              <a:effectLst/>
                            </a:rPr>
                            <a:t>R2,</a:t>
                          </a:r>
                          <a:r>
                            <a:rPr lang="en-US" sz="2000" kern="100" baseline="0" dirty="0" smtClean="0">
                              <a:effectLst/>
                            </a:rPr>
                            <a:t>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 smtClean="0">
                              <a:effectLst/>
                            </a:rPr>
                            <a:t>Используется в дополнение</a:t>
                          </a:r>
                          <a:r>
                            <a:rPr lang="ru-RU" sz="2000" kern="100" baseline="0" dirty="0" smtClean="0">
                              <a:effectLst/>
                            </a:rPr>
                            <a:t> к остальным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167853513"/>
                      </a:ext>
                    </a:extLst>
                  </a:tr>
                  <a:tr h="12303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Интервальный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207921" r="-262613" b="-162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Определить ширину и покрытие интервалов 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Coverage, Mean Width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Легко интерпретировать, но не покрывает выбросы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624244439"/>
                      </a:ext>
                    </a:extLst>
                  </a:tr>
                  <a:tr h="92549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Квантильный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411921" r="-262613" b="-117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точность определения квантилей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Pinball Loss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Анализ хвостов, не покрывает интервалы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3660764479"/>
                      </a:ext>
                    </a:extLst>
                  </a:tr>
                  <a:tr h="9229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Вероятностный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545" marR="8545" marT="8545" marB="0" anchor="ctr">
                        <a:blipFill>
                          <a:blip r:embed="rId3"/>
                          <a:stretch>
                            <a:fillRect l="-68694" t="-508553" r="-262613" b="-164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>
                              <a:effectLst/>
                            </a:rPr>
                            <a:t>качество всего прогнозного распределения </a:t>
                          </a:r>
                          <a:endParaRPr lang="ru-RU" sz="2000" kern="10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effectLst/>
                            </a:rPr>
                            <a:t>Log Score, CRPS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ru-RU" sz="2000" kern="100" dirty="0">
                              <a:effectLst/>
                            </a:rPr>
                            <a:t>Сложная реализация</a:t>
                          </a:r>
                          <a:endParaRPr lang="ru-RU" sz="20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545" marR="8545" marT="8545" marB="0" anchor="ctr"/>
                    </a:tc>
                    <a:extLst>
                      <a:ext uri="{0D108BD9-81ED-4DB2-BD59-A6C34878D82A}">
                        <a16:rowId xmlns:a16="http://schemas.microsoft.com/office/drawing/2014/main" val="23810454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4053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DE966-D6B4-DE62-38D1-BB83A3D1A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96077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абсолютные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sz="2400" i="1" dirty="0" smtClean="0"/>
                      <m:t>MAE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ru-RU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ru-RU" sz="2400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" sz="2300" dirty="0"/>
                  <a:t> </a:t>
                </a:r>
                <a:endParaRPr lang="ru-RU" sz="2300" i="1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dirty="0"/>
                  <a:t>Лего интерпретировать (и ML</a:t>
                </a:r>
                <a:r>
                  <a:rPr lang="en-US" sz="2300" dirty="0"/>
                  <a:t> </a:t>
                </a:r>
                <a:r>
                  <a:rPr lang="ru-RU" sz="2300" dirty="0"/>
                  <a:t>и в домене)</a:t>
                </a:r>
              </a:p>
              <a:p>
                <a:r>
                  <a:rPr lang="ru-RU" sz="2300" dirty="0"/>
                  <a:t>Менее чувствителен к выбросам</a:t>
                </a:r>
              </a:p>
              <a:p>
                <a:r>
                  <a:rPr lang="ru-RU" sz="2300" dirty="0"/>
                  <a:t>Значение в единицах измерения</a:t>
                </a:r>
              </a:p>
              <a:p>
                <a:r>
                  <a:rPr lang="ru-RU" sz="2300" dirty="0"/>
                  <a:t>Оценка смещения предсказания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dirty="0"/>
                  <a:t>Одинаковый вес любым ошибкам, </a:t>
                </a:r>
                <a:br>
                  <a:rPr lang="ru-RU" sz="2300" dirty="0"/>
                </a:br>
                <a:r>
                  <a:rPr lang="ru-RU" sz="2300" dirty="0"/>
                  <a:t>крупные ошибки, выбросы иногда дороже мелких</a:t>
                </a:r>
              </a:p>
              <a:p>
                <a:r>
                  <a:rPr lang="ru-RU" sz="2300" dirty="0"/>
                  <a:t>Не дифференцируема в 0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Задачи, где все ошибки одинаково важны </a:t>
                </a:r>
                <a:endParaRPr lang="ru-RU" sz="23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D62B209-107C-7236-EFA3-803460B71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6222" y="778882"/>
                <a:ext cx="5459855" cy="5061937"/>
              </a:xfrm>
              <a:blipFill>
                <a:blip r:embed="rId3"/>
                <a:stretch>
                  <a:fillRect l="-13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2B547B-6046-CB83-8CC3-94933B47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1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en-US" sz="2100" b="0" i="1" dirty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m:rPr>
                        <m:nor/>
                      </m:rPr>
                      <a:rPr lang="en" sz="2100" dirty="0" smtClean="0"/>
                      <m:t>=</m:t>
                    </m:r>
                    <m:f>
                      <m:fPr>
                        <m:ctrlPr>
                          <a:rPr lang="en" sz="21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sz="21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1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1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1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1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1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  <m:r>
                      <m:rPr>
                        <m:nor/>
                      </m:rPr>
                      <a:rPr lang="en-US" sz="2100" b="0" i="0" dirty="0" smtClean="0"/>
                      <m:t>  </m:t>
                    </m:r>
                  </m:oMath>
                </a14:m>
                <a:r>
                  <a:rPr lang="en" sz="2100" dirty="0"/>
                  <a:t> </a:t>
                </a:r>
                <a:endParaRPr lang="ru-RU" sz="2100" dirty="0"/>
              </a:p>
              <a:p>
                <a:pPr marL="0" indent="0">
                  <a:buNone/>
                </a:pPr>
                <a:r>
                  <a:rPr lang="ru-RU" sz="2100" b="1" i="1" dirty="0"/>
                  <a:t>Плюсы:</a:t>
                </a:r>
              </a:p>
              <a:p>
                <a:r>
                  <a:rPr lang="ru-RU" sz="2100" dirty="0"/>
                  <a:t>За большие ошибки больший штраф</a:t>
                </a:r>
              </a:p>
              <a:p>
                <a:r>
                  <a:rPr lang="ru-RU" sz="2100" dirty="0"/>
                  <a:t>Оценка дисперсии предсказаний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100" b="1" i="1" dirty="0"/>
                  <a:t>Минусы:</a:t>
                </a:r>
              </a:p>
              <a:p>
                <a:r>
                  <a:rPr lang="ru-RU" sz="2100" dirty="0"/>
                  <a:t>Сложнее интерпретировать в предметной области</a:t>
                </a:r>
              </a:p>
              <a:p>
                <a:r>
                  <a:rPr lang="ru-RU" sz="2100" dirty="0"/>
                  <a:t>Чувствительность к выбросам</a:t>
                </a:r>
              </a:p>
              <a:p>
                <a:pPr marL="0" indent="0">
                  <a:buNone/>
                </a:pPr>
                <a:r>
                  <a:rPr lang="ru-RU" sz="2100" b="1" dirty="0"/>
                  <a:t>Применение:</a:t>
                </a:r>
                <a:r>
                  <a:rPr lang="ru-RU" sz="2100" dirty="0"/>
                  <a:t> Задачи, где разброс ошибок критически важен</a:t>
                </a:r>
                <a:endParaRPr lang="ru-RU" sz="2100" i="1" dirty="0"/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34A136EE-3C9A-E9F8-9D5A-A94BC44CB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077" y="955614"/>
                <a:ext cx="6008914" cy="5061937"/>
              </a:xfrm>
              <a:prstGeom prst="rect">
                <a:avLst/>
              </a:prstGeom>
              <a:blipFill>
                <a:blip r:embed="rId4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3352800" y="6423624"/>
            <a:ext cx="81501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https://towardsdatascience.com/an-overview-of-forecasting-performance-metrics-ef548dad0134/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690795" y="955614"/>
            <a:ext cx="0" cy="54007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856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9E32-AFFB-624E-12E5-9A6B2A04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C4AAED-7759-603C-1920-D8D4E7089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109408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Точечные относительные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sz="2200" i="1" dirty="0" smtClean="0"/>
                        <m:t>MA</m:t>
                      </m:r>
                      <m:r>
                        <m:rPr>
                          <m:nor/>
                        </m:rPr>
                        <a:rPr lang="en-US" sz="2200" b="0" i="1" dirty="0" smtClean="0"/>
                        <m:t>P</m:t>
                      </m:r>
                      <m:r>
                        <m:rPr>
                          <m:nor/>
                        </m:rPr>
                        <a:rPr lang="en" sz="2200" i="1" dirty="0" smtClean="0"/>
                        <m:t>E</m:t>
                      </m:r>
                      <m:r>
                        <m:rPr>
                          <m:nor/>
                        </m:rPr>
                        <a:rPr lang="en" sz="2200" dirty="0" smtClean="0"/>
                        <m:t>=</m:t>
                      </m:r>
                      <m:f>
                        <m:fPr>
                          <m:ctrlPr>
                            <a:rPr lang="en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f>
                            <m:f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ru-RU" sz="2200" i="1" dirty="0"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Не зависит от масштаба</a:t>
                </a:r>
              </a:p>
              <a:p>
                <a:r>
                  <a:rPr lang="ru-RU" sz="2300" i="1" dirty="0"/>
                  <a:t>Интуитивно понятна в предметной области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Деление на 0</a:t>
                </a:r>
              </a:p>
              <a:p>
                <a:r>
                  <a:rPr lang="ru-RU" sz="2300" i="1" dirty="0"/>
                  <a:t>Не симметрично (за прогнозы выше значения  - штрафует сильнее)</a:t>
                </a:r>
                <a:endParaRPr lang="en-US" sz="2300" i="1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&gt;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ru-RU" sz="2000" dirty="0"/>
                  <a:t> </a:t>
                </a:r>
                <a:endParaRPr lang="en-US" sz="2000" dirty="0"/>
              </a:p>
              <a:p>
                <a:pPr lvl="1"/>
                <a:r>
                  <a:rPr lang="ru-RU" sz="2000" dirty="0"/>
                  <a:t>Если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ru-RU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u-RU" sz="2000" i="1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dirty="0"/>
                  <a:t> </a:t>
                </a:r>
                <a:r>
                  <a:rPr lang="en-US" sz="2000" dirty="0"/>
                  <a:t>MAPE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sz="2000" b="0" i="0" dirty="0">
                    <a:latin typeface="+mj-lt"/>
                  </a:rPr>
                  <a:t>значения могут </a:t>
                </a:r>
                <a:r>
                  <a:rPr lang="ru-RU" sz="2000" dirty="0">
                    <a:latin typeface="+mj-lt"/>
                  </a:rPr>
                  <a:t>быть занижены</a:t>
                </a:r>
                <a:endParaRPr lang="en-US" sz="2000" dirty="0">
                  <a:latin typeface="+mj-lt"/>
                </a:endParaRPr>
              </a:p>
              <a:p>
                <a:pPr lvl="2"/>
                <a:r>
                  <a:rPr lang="fr-FR" sz="1900" i="1" dirty="0"/>
                  <a:t>y</a:t>
                </a:r>
                <a:r>
                  <a:rPr lang="fr-FR" sz="1900" dirty="0"/>
                  <a:t>​=150,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9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​​=100⇒MAPE=33%</a:t>
                </a:r>
              </a:p>
              <a:p>
                <a:pPr lvl="2"/>
                <a:r>
                  <a:rPr lang="fr-FR" sz="1900" i="1" dirty="0"/>
                  <a:t>yt</a:t>
                </a:r>
                <a:r>
                  <a:rPr lang="fr-FR" sz="1900" dirty="0"/>
                  <a:t>​=100,</a:t>
                </a:r>
                <a:r>
                  <a:rPr lang="fr-FR" sz="19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fr-FR" sz="1900" dirty="0"/>
                  <a:t>​=150⇒MAPE=50%</a:t>
                </a:r>
                <a:endParaRPr lang="ru-RU" sz="19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сравнение ошибок для разных ВР (в %)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478" y="845016"/>
                <a:ext cx="4874578" cy="5511334"/>
              </a:xfrm>
              <a:blipFill>
                <a:blip r:embed="rId3"/>
                <a:stretch>
                  <a:fillRect l="-1500" r="-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091FF6-0930-F217-7283-79B287AC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2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ru-RU" sz="2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ru-RU" sz="2200" i="1" dirty="0">
                                          <a:latin typeface="Cambria Math" panose="02040503050406030204" pitchFamily="18" charset="0"/>
                                        </a:rPr>
                                        <m:t>​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b="0" i="1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𝑎𝑑𝑗</m:t>
                          </m:r>
                        </m:sub>
                        <m: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число параметров модели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𝐸𝑦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среднее значение</a:t>
                </a:r>
              </a:p>
              <a:p>
                <a:pPr marL="0" indent="0">
                  <a:buNone/>
                </a:pPr>
                <a:r>
                  <a:rPr lang="ru-RU" sz="2300" b="1" i="1" dirty="0"/>
                  <a:t>Плюсы:</a:t>
                </a:r>
              </a:p>
              <a:p>
                <a:r>
                  <a:rPr lang="ru-RU" sz="2300" i="1" dirty="0"/>
                  <a:t>объясняет дисперсию модели</a:t>
                </a:r>
              </a:p>
              <a:p>
                <a:r>
                  <a:rPr lang="ru-RU" sz="2300" i="1" dirty="0"/>
                  <a:t>Можно представить как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𝑀𝑆𝐸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𝑏𝑎𝑠𝑙𝑖𝑛𝑒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𝑀𝑆𝐸</m:t>
                        </m:r>
                      </m:den>
                    </m:f>
                  </m:oMath>
                </a14:m>
                <a:r>
                  <a:rPr lang="en-US" sz="2300" i="1" dirty="0"/>
                  <a:t> - </a:t>
                </a:r>
                <a:r>
                  <a:rPr lang="ru-RU" sz="2300" i="1" dirty="0"/>
                  <a:t>сравнивает модель со средним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300" b="1" i="1" dirty="0"/>
                  <a:t>Минусы:</a:t>
                </a:r>
              </a:p>
              <a:p>
                <a:r>
                  <a:rPr lang="ru-RU" sz="2300" i="1" dirty="0"/>
                  <a:t>Сравниваются модели на одном наборе </a:t>
                </a:r>
                <a:r>
                  <a:rPr lang="ru-RU" sz="2300" i="1" dirty="0" err="1"/>
                  <a:t>датасетов</a:t>
                </a:r>
                <a:endParaRPr lang="ru-RU" sz="2300" i="1" dirty="0"/>
              </a:p>
              <a:p>
                <a:r>
                  <a:rPr lang="ru-RU" sz="2300" i="1" dirty="0"/>
                  <a:t> чувствительна к выбросам</a:t>
                </a:r>
              </a:p>
              <a:p>
                <a:r>
                  <a:rPr lang="ru-RU" sz="2300" i="1" dirty="0"/>
                  <a:t>Не </a:t>
                </a:r>
                <a:r>
                  <a:rPr lang="ru-RU" sz="2300" i="1" dirty="0" err="1"/>
                  <a:t>чувствтиельна</a:t>
                </a:r>
                <a:r>
                  <a:rPr lang="ru-RU" sz="2300" i="1" dirty="0"/>
                  <a:t> к смещениям (может завышать прогноз)</a:t>
                </a:r>
              </a:p>
              <a:p>
                <a:r>
                  <a:rPr lang="ru-RU" sz="2300" i="1" dirty="0"/>
                  <a:t>Бессмысленно для цикличных данных (колебания около среднего)</a:t>
                </a:r>
              </a:p>
              <a:p>
                <a:pPr marL="0" indent="0">
                  <a:buNone/>
                </a:pPr>
                <a:r>
                  <a:rPr lang="ru-RU" sz="2300" b="1" dirty="0"/>
                  <a:t>Применение:</a:t>
                </a:r>
                <a:r>
                  <a:rPr lang="ru-RU" sz="2300" dirty="0"/>
                  <a:t>  оценка необходимости усложнения моделей, не подходит для оценок предсказаний</a:t>
                </a:r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2">
                <a:extLst>
                  <a:ext uri="{FF2B5EF4-FFF2-40B4-BE49-F238E27FC236}">
                    <a16:creationId xmlns:a16="http://schemas.microsoft.com/office/drawing/2014/main" id="{F36D5F59-98C7-DA5F-CF10-55D98AB8D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481" y="880358"/>
                <a:ext cx="6966966" cy="5544023"/>
              </a:xfrm>
              <a:prstGeom prst="rect">
                <a:avLst/>
              </a:prstGeom>
              <a:blipFill>
                <a:blip r:embed="rId4"/>
                <a:stretch>
                  <a:fillRect l="-10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279830" y="6293017"/>
            <a:ext cx="66743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https://medium.com/@sahin.samia/understanding-r-squared-in-regression-analysis-2d8246a63dbb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7224" y="6255434"/>
            <a:ext cx="31427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https://robjhyndman.com/papers/foresight.pdf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50137" y="6431516"/>
            <a:ext cx="30005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https://robjhyndman.com/hyndsight/smape/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368688" y="6451959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https://www.numberanalytics.com/blog/interpreting-r-squared-regression-model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085481" y="957431"/>
            <a:ext cx="0" cy="5335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56878" y="6609303"/>
            <a:ext cx="708877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50" dirty="0"/>
              <a:t>https://stats.stackexchange.com/questions/299712/what-are-the-shortcomings-of-the-mean-absolute-percentage-error-mape</a:t>
            </a:r>
          </a:p>
        </p:txBody>
      </p:sp>
    </p:spTree>
    <p:extLst>
      <p:ext uri="{BB962C8B-B14F-4D97-AF65-F5344CB8AC3E}">
        <p14:creationId xmlns:p14="http://schemas.microsoft.com/office/powerpoint/2010/main" val="747102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CBE6-C98F-34F8-85FA-4E3E156A2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E894CF-7B83-8D4C-DEF3-4EC9F893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222622"/>
            <a:ext cx="10973790" cy="64427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Альтернативные точечные ошибки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600" dirty="0"/>
                  <a:t>SMAPE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ru-RU" sz="26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6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ru-RU" sz="2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6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  <m:e>
                        <m:f>
                          <m:fPr>
                            <m:ctrlPr>
                              <a:rPr lang="ru-RU" sz="26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6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</m:e>
                            </m:d>
                            <m:r>
                              <a:rPr lang="ru-RU" sz="260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6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60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ru-RU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dirty="0"/>
                  <a:t>Значения ограничены от 0 до 200%</a:t>
                </a:r>
                <a:endParaRPr lang="en-US" sz="26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600" b="1" i="1" dirty="0"/>
                  <a:t>асимметрия </a:t>
                </a:r>
                <a:r>
                  <a:rPr lang="en-US" sz="1700" i="1" dirty="0"/>
                  <a:t>A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</a:t>
                </a:r>
                <a:r>
                  <a:rPr lang="ru-RU" sz="1700" dirty="0"/>
                  <a:t>00</a:t>
                </a:r>
                <a:r>
                  <a:rPr lang="en-US" sz="1700" dirty="0"/>
                  <a:t>  </a:t>
                </a:r>
                <a:r>
                  <a:rPr lang="en-US" sz="1700" i="1" dirty="0"/>
                  <a:t>F</a:t>
                </a:r>
                <a:r>
                  <a:rPr lang="en-US" sz="1700" i="1" baseline="-25000" dirty="0"/>
                  <a:t>t</a:t>
                </a:r>
                <a:r>
                  <a:rPr lang="en-US" sz="1700" dirty="0"/>
                  <a:t> = 11</a:t>
                </a:r>
                <a:r>
                  <a:rPr lang="ru-RU" sz="1700" dirty="0"/>
                  <a:t>0</a:t>
                </a:r>
                <a:r>
                  <a:rPr lang="en-US" sz="1700" dirty="0"/>
                  <a:t> </a:t>
                </a:r>
                <a:r>
                  <a:rPr lang="ru-RU" sz="1700" dirty="0"/>
                  <a:t> </a:t>
                </a:r>
                <a:r>
                  <a:rPr lang="en-US" sz="2100" dirty="0"/>
                  <a:t>SMAPE= 4.76%</a:t>
                </a:r>
                <a:r>
                  <a:rPr lang="ru-RU" sz="2100" dirty="0"/>
                  <a:t> </a:t>
                </a:r>
                <a:r>
                  <a:rPr lang="en-US" sz="2100" i="1" dirty="0"/>
                  <a:t>A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</a:t>
                </a:r>
                <a:r>
                  <a:rPr lang="ru-RU" sz="2100" dirty="0"/>
                  <a:t>100 </a:t>
                </a:r>
                <a:r>
                  <a:rPr lang="en-US" sz="2100" dirty="0"/>
                  <a:t> </a:t>
                </a:r>
                <a:r>
                  <a:rPr lang="en-US" sz="2100" i="1" dirty="0"/>
                  <a:t>F</a:t>
                </a:r>
                <a:r>
                  <a:rPr lang="en-US" sz="2100" i="1" baseline="-25000" dirty="0"/>
                  <a:t>t</a:t>
                </a:r>
                <a:r>
                  <a:rPr lang="en-US" sz="2100" dirty="0"/>
                  <a:t> = 9</a:t>
                </a:r>
                <a:r>
                  <a:rPr lang="ru-RU" sz="2100" dirty="0"/>
                  <a:t>0</a:t>
                </a:r>
                <a:r>
                  <a:rPr lang="en-US" sz="2100" dirty="0"/>
                  <a:t> SMAPE = 5.26%.</a:t>
                </a:r>
                <a:endParaRPr lang="ru-RU" sz="2100" b="1" i="1" dirty="0"/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600" i="1" dirty="0"/>
                  <a:t>Возможно деление на 0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58918" y="737046"/>
                <a:ext cx="5008969" cy="2600298"/>
              </a:xfrm>
              <a:blipFill>
                <a:blip r:embed="rId3"/>
                <a:stretch>
                  <a:fillRect l="-1946" r="-2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F98A8C-F7C2-2B93-2D9B-DA2ED901E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7AFC9B3-F745-F057-1292-20E1B701763D}"/>
              </a:ext>
            </a:extLst>
          </p:cNvPr>
          <p:cNvSpPr txBox="1">
            <a:spLocks/>
          </p:cNvSpPr>
          <p:nvPr/>
        </p:nvSpPr>
        <p:spPr>
          <a:xfrm>
            <a:off x="6096000" y="1009404"/>
            <a:ext cx="5308271" cy="5061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300" i="1" dirty="0"/>
          </a:p>
          <a:p>
            <a:endParaRPr lang="ru-RU" i="1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27130" y="6431096"/>
            <a:ext cx="4639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https://robjhyndman.com/papers/foresight.pdf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ru-RU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ru-RU" sz="2000" i="1" dirty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𝑁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𝑡𝑟𝑎𝑖𝑛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ru-RU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ru-RU" sz="2000" b="1" i="1" dirty="0"/>
                  <a:t>Сравнение дисперсий на тесте и </a:t>
                </a:r>
                <a:r>
                  <a:rPr lang="ru-RU" sz="2000" b="1" i="1" dirty="0" err="1"/>
                  <a:t>трейне</a:t>
                </a:r>
                <a:endParaRPr lang="ru-RU" sz="2000" i="1" dirty="0"/>
              </a:p>
              <a:p>
                <a:r>
                  <a:rPr lang="en" sz="2000" dirty="0"/>
                  <a:t>Q² &lt;&lt; R² →</a:t>
                </a:r>
                <a:r>
                  <a:rPr lang="en-US" sz="2000" dirty="0"/>
                  <a:t>overfitting</a:t>
                </a:r>
                <a:endParaRPr lang="ru-RU" sz="2000" dirty="0"/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615" y="4289095"/>
                <a:ext cx="4215049" cy="1449967"/>
              </a:xfrm>
              <a:prstGeom prst="rect">
                <a:avLst/>
              </a:prstGeom>
              <a:blipFill>
                <a:blip r:embed="rId4"/>
                <a:stretch>
                  <a:fillRect l="-1013" b="-54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∗=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эталонное предсказание (напр. </a:t>
                </a:r>
                <a:r>
                  <a:rPr lang="ru-RU" sz="2000" dirty="0" err="1"/>
                  <a:t>бейзлайн</a:t>
                </a:r>
                <a:r>
                  <a:rPr lang="ru-RU" sz="2000" dirty="0"/>
                  <a:t> или </a:t>
                </a:r>
                <a:r>
                  <a:rPr lang="ru-RU" sz="2000" dirty="0" err="1"/>
                  <a:t>тренйн</a:t>
                </a:r>
                <a:r>
                  <a:rPr lang="ru-RU" sz="2000" dirty="0"/>
                  <a:t>)</a:t>
                </a:r>
              </a:p>
            </p:txBody>
          </p:sp>
        </mc:Choice>
        <mc:Fallback xmlns="">
          <p:sp>
            <p:nvSpPr>
              <p:cNvPr id="8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1245" y="3314253"/>
                <a:ext cx="4711633" cy="632320"/>
              </a:xfrm>
              <a:prstGeom prst="rect">
                <a:avLst/>
              </a:prstGeom>
              <a:blipFill>
                <a:blip r:embed="rId5"/>
                <a:stretch>
                  <a:fillRect l="-1294" t="-14563" b="-106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Объект 2">
            <a:extLst>
              <a:ext uri="{FF2B5EF4-FFF2-40B4-BE49-F238E27FC236}">
                <a16:creationId xmlns:a16="http://schemas.microsoft.com/office/drawing/2014/main" id="{33A328BF-940E-C916-4DE1-EC9DF63BD93D}"/>
              </a:ext>
            </a:extLst>
          </p:cNvPr>
          <p:cNvSpPr txBox="1">
            <a:spLocks/>
          </p:cNvSpPr>
          <p:nvPr/>
        </p:nvSpPr>
        <p:spPr>
          <a:xfrm>
            <a:off x="156301" y="1810301"/>
            <a:ext cx="6830256" cy="43411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/>
              <a:t>Mean Absolute Scaled Error (MASE) </a:t>
            </a:r>
            <a:r>
              <a:rPr lang="ru-RU" sz="2000" b="1" dirty="0"/>
              <a:t>и сезонная </a:t>
            </a:r>
            <a:r>
              <a:rPr lang="en-US" sz="2000" b="1" dirty="0"/>
              <a:t>MASE</a:t>
            </a:r>
            <a:r>
              <a:rPr lang="ru-RU" sz="2000" b="1" dirty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Плюсы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Предсказуемое значение около 0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Сравнима на разных наборах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Применима для интервальных и вероятностных прогнозов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Лишена </a:t>
            </a:r>
            <a:r>
              <a:rPr lang="en-US" sz="2000" dirty="0"/>
              <a:t> </a:t>
            </a:r>
            <a:r>
              <a:rPr lang="ru-RU" sz="2000" dirty="0"/>
              <a:t>части недостатков </a:t>
            </a:r>
            <a:r>
              <a:rPr lang="en-US" sz="2000" dirty="0"/>
              <a:t>RMSE, MAPE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Минусы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Сложности предметной интерпретируемости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/>
              <a:t>Не работает если оценки уровня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/>
              <a:t>Применение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800" dirty="0"/>
              <a:t>Сравнение с наивным прогнозом, ранжирование моделей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MASE&lt;1 – </a:t>
            </a:r>
            <a:r>
              <a:rPr lang="ru-RU" sz="1800" dirty="0"/>
              <a:t>модель лучше наивной,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800" dirty="0"/>
              <a:t>MASE = 0.7 означает, что модель ошибается на 30% меньше, чем простейший прогноз 'завтра = сегодня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7374615" y="4289095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7560009" y="3314253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000" dirty="0"/>
                  <a:t>другие варианты, напр.</a:t>
                </a:r>
                <a:br>
                  <a:rPr lang="ru-RU" sz="2000" dirty="0"/>
                </a:b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𝑅𝑀𝑆𝑆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ru-RU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ru-RU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ru-RU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</m:d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19" name="Объект 2">
                <a:extLst>
                  <a:ext uri="{FF2B5EF4-FFF2-40B4-BE49-F238E27FC236}">
                    <a16:creationId xmlns:a16="http://schemas.microsoft.com/office/drawing/2014/main" id="{33A328BF-940E-C916-4DE1-EC9DF63BD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533" y="5750676"/>
                <a:ext cx="4273738" cy="899490"/>
              </a:xfrm>
              <a:prstGeom prst="rect">
                <a:avLst/>
              </a:prstGeom>
              <a:blipFill>
                <a:blip r:embed="rId6"/>
                <a:stretch>
                  <a:fillRect l="-1569" t="-94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MASE</m:t>
                      </m:r>
                      <m:r>
                        <a:rPr lang="en-US" sz="200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ru-RU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d>
                                <m:dPr>
                                  <m:ctrlPr>
                                    <a:rPr lang="ru-RU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01" y="862047"/>
                <a:ext cx="3916457" cy="9399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MASE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0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ru-RU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ru-RU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num>
                      <m:den>
                        <m:f>
                          <m:f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𝒉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den>
                        </m:f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ru-RU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d>
                              <m:dPr>
                                <m:ctrlPr>
                                  <a:rPr lang="ru-RU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den>
                    </m:f>
                  </m:oMath>
                </a14:m>
                <a:endParaRPr lang="ru-RU" sz="2000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159" y="1054599"/>
                <a:ext cx="2902398" cy="6809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>
            <a:off x="7429131" y="5736634"/>
            <a:ext cx="38442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381608" y="6501155"/>
            <a:ext cx="3837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https://otexts.com/fpp3/accuracy.html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По сути: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MASE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𝒎𝒐𝒅𝒆𝒍</m:t>
                            </m:r>
                          </m:sub>
                        </m:sSub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𝑴𝑨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𝒏𝒂𝒊𝒗𝒆</m:t>
                            </m:r>
                          </m:sub>
                        </m:sSub>
                      </m:den>
                    </m:f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559" y="3743639"/>
                <a:ext cx="2724400" cy="525785"/>
              </a:xfrm>
              <a:prstGeom prst="rect">
                <a:avLst/>
              </a:prstGeom>
              <a:blipFill>
                <a:blip r:embed="rId9"/>
                <a:stretch>
                  <a:fillRect l="-2013" b="-11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Прямая соединительная линия 10"/>
          <p:cNvCxnSpPr/>
          <p:nvPr/>
        </p:nvCxnSpPr>
        <p:spPr>
          <a:xfrm>
            <a:off x="6986557" y="1009404"/>
            <a:ext cx="0" cy="5346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55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27906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dirty="0"/>
              <a:t>Таблица некоторых точечных метрик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567727"/>
              </p:ext>
            </p:extLst>
          </p:nvPr>
        </p:nvGraphicFramePr>
        <p:xfrm>
          <a:off x="215153" y="805254"/>
          <a:ext cx="11596742" cy="59344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86747">
                  <a:extLst>
                    <a:ext uri="{9D8B030D-6E8A-4147-A177-3AD203B41FA5}">
                      <a16:colId xmlns:a16="http://schemas.microsoft.com/office/drawing/2014/main" val="1439355750"/>
                    </a:ext>
                  </a:extLst>
                </a:gridCol>
                <a:gridCol w="2396509">
                  <a:extLst>
                    <a:ext uri="{9D8B030D-6E8A-4147-A177-3AD203B41FA5}">
                      <a16:colId xmlns:a16="http://schemas.microsoft.com/office/drawing/2014/main" val="2310902935"/>
                    </a:ext>
                  </a:extLst>
                </a:gridCol>
                <a:gridCol w="3070850">
                  <a:extLst>
                    <a:ext uri="{9D8B030D-6E8A-4147-A177-3AD203B41FA5}">
                      <a16:colId xmlns:a16="http://schemas.microsoft.com/office/drawing/2014/main" val="2239289574"/>
                    </a:ext>
                  </a:extLst>
                </a:gridCol>
                <a:gridCol w="5142636">
                  <a:extLst>
                    <a:ext uri="{9D8B030D-6E8A-4147-A177-3AD203B41FA5}">
                      <a16:colId xmlns:a16="http://schemas.microsoft.com/office/drawing/2014/main" val="2324475927"/>
                    </a:ext>
                  </a:extLst>
                </a:gridCol>
              </a:tblGrid>
              <a:tr h="311971"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Метрика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Плюсы</a:t>
                      </a:r>
                      <a:endParaRPr lang="ru-RU" sz="1800" b="1" i="0" u="none" strike="noStrike" dirty="0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Минусы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Применимость в временных рядах</a:t>
                      </a:r>
                      <a:endParaRPr lang="ru-RU" sz="1800" b="1" i="0" u="none" strike="noStrike">
                        <a:solidFill>
                          <a:srgbClr val="40404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656263163"/>
                  </a:ext>
                </a:extLst>
              </a:tr>
              <a:tr h="47416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RMSE, MSE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Учитывает большие ошибки, дифференцируема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Чувствительна к выбросам, нестационарным или зашумленным данным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Полезна, если важны большие отклонения, но нежелательна при наличии аномалий </a:t>
                      </a: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163357294"/>
                  </a:ext>
                </a:extLst>
              </a:tr>
              <a:tr h="51977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Робастна к выбросам, простая интерпретация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дифференцируема в нуле, штраф ошибок </a:t>
                      </a:r>
                      <a:r>
                        <a:rPr lang="ru-RU" sz="1800" u="none" strike="noStrike" dirty="0" err="1">
                          <a:effectLst/>
                        </a:rPr>
                        <a:t>одинаов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Хороша для интерпретируемости, устойчива к аномалиям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353073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Интерпретируема в %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определена при нулевых значениях, асимметрична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Полезна для сравнения моделей, но не подходит для рядов с нулями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74164839"/>
                  </a:ext>
                </a:extLst>
              </a:tr>
              <a:tr h="6482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sMAPE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Симметрична, работает при нулях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давать завышенные оценки при малых значениях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Альтернатива MAPE, но тоже не идеальна для рядов с нулями или экстремальными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783489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>
                          <a:effectLst/>
                        </a:rPr>
                        <a:t>R²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доля объяснённой дисперсии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Может быть </a:t>
                      </a:r>
                      <a:r>
                        <a:rPr lang="en-US" sz="1800" u="none" strike="noStrike" dirty="0">
                          <a:effectLst/>
                        </a:rPr>
                        <a:t>&lt;0</a:t>
                      </a:r>
                      <a:r>
                        <a:rPr lang="ru-RU" sz="1800" u="none" strike="noStrike" dirty="0">
                          <a:effectLst/>
                        </a:rPr>
                        <a:t>, чувствительна к переобучению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для сравнения моделей, но требует осторожности в нелинейных и нестационарных рядах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79466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MedAE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Очень робастна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 сложнее оптимизировать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Подходит для данных с тяжёлыми хвостами и аномалиями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95221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MASE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сравнивает с базовой моделью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Требует выбора базовой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Одна из лучших для временных рядов, устойчива к масштабу и сезонности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172109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MSLE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Уменьшает влияние больших ошибок,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работает с отрицательными значениями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для прогнозирования с мультипликативными трендами и для данных с экспонентой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2302298193"/>
                  </a:ext>
                </a:extLst>
              </a:tr>
              <a:tr h="39129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</a:rPr>
                        <a:t>WAPE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>
                          <a:effectLst/>
                        </a:rPr>
                        <a:t>Учитывает масштаб данных, устойчива к выбросам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Не нормирована на количество наблюдений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800" u="none" strike="noStrike" dirty="0">
                          <a:effectLst/>
                        </a:rPr>
                        <a:t>Хороша для бизнес-аналитики, где важны относительные ошибки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0964" marR="4552" marT="4552" marB="0" anchor="ctr"/>
                </a:tc>
                <a:extLst>
                  <a:ext uri="{0D108BD9-81ED-4DB2-BD59-A6C34878D82A}">
                    <a16:rowId xmlns:a16="http://schemas.microsoft.com/office/drawing/2014/main" val="1926210227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4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153" y="129034"/>
            <a:ext cx="11138647" cy="430941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Экзотические метрики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MedAE</a:t>
                          </a:r>
                          <a:endParaRPr lang="ru-RU" sz="1800" u="none" strike="noStrike" dirty="0">
                            <a:effectLst/>
                          </a:endParaRPr>
                        </a:p>
                        <a:p>
                          <a:pPr marL="0" marR="0" lvl="1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𝑚𝑒𝑑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)…,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d>
                                  <m:dPr>
                                    <m:ctrlPr>
                                      <a:rPr lang="ru-RU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  <m:r>
                                  <a:rPr lang="ru-RU" dirty="0"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 </a:t>
                          </a:r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WAPE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</m:nary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sup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</m:e>
                                        </m:d>
                                      </m:e>
                                    </m:nary>
                                  </m:den>
                                </m:f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920106"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en-US" sz="1800" u="none" strike="noStrike" dirty="0">
                              <a:effectLst/>
                            </a:rPr>
                            <a:t>MSLE</a:t>
                          </a:r>
                        </a:p>
                        <a:p>
                          <a:pPr algn="l" fontAlgn="ctr"/>
                          <a:endParaRPr lang="en-US" sz="1800" u="none" strike="noStrike" dirty="0">
                            <a:effectLst/>
                          </a:endParaRPr>
                        </a:p>
                        <a:p>
                          <a:pPr algn="l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  <m:sup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ru-RU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ru-RU" dirty="0">
                                                <a:latin typeface="Cambria Math" panose="02040503050406030204" pitchFamily="18" charset="0"/>
                                              </a:rPr>
                                              <m:t>​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  <m:r>
                                              <a:rPr lang="en-US" dirty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⁡(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  <m:d>
                                              <m:dPr>
                                                <m:ctrlPr>
                                                  <a:rPr lang="en-US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dirty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dirty="0" smtClean="0">
                                                <a:latin typeface="Cambria Math" panose="02040503050406030204" pitchFamily="18" charset="0"/>
                                              </a:rPr>
                                              <m:t>+1)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920106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 хуже, чем при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Таблица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6063460"/>
                  </p:ext>
                </p:extLst>
              </p:nvPr>
            </p:nvGraphicFramePr>
            <p:xfrm>
              <a:off x="100853" y="559975"/>
              <a:ext cx="11605372" cy="6087205"/>
            </p:xfrm>
            <a:graphic>
              <a:graphicData uri="http://schemas.openxmlformats.org/drawingml/2006/table">
                <a:tbl>
                  <a:tblPr>
                    <a:tableStyleId>{5940675A-B579-460E-94D1-54222C63F5DA}</a:tableStyleId>
                  </a:tblPr>
                  <a:tblGrid>
                    <a:gridCol w="2308972">
                      <a:extLst>
                        <a:ext uri="{9D8B030D-6E8A-4147-A177-3AD203B41FA5}">
                          <a16:colId xmlns:a16="http://schemas.microsoft.com/office/drawing/2014/main" val="4037062250"/>
                        </a:ext>
                      </a:extLst>
                    </a:gridCol>
                    <a:gridCol w="4057650">
                      <a:extLst>
                        <a:ext uri="{9D8B030D-6E8A-4147-A177-3AD203B41FA5}">
                          <a16:colId xmlns:a16="http://schemas.microsoft.com/office/drawing/2014/main" val="1927459579"/>
                        </a:ext>
                      </a:extLst>
                    </a:gridCol>
                    <a:gridCol w="2924175">
                      <a:extLst>
                        <a:ext uri="{9D8B030D-6E8A-4147-A177-3AD203B41FA5}">
                          <a16:colId xmlns:a16="http://schemas.microsoft.com/office/drawing/2014/main" val="334762271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399441415"/>
                        </a:ext>
                      </a:extLst>
                    </a:gridCol>
                  </a:tblGrid>
                  <a:tr h="308881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Метрика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 smtClean="0">
                              <a:effectLst/>
                            </a:rPr>
                            <a:t>Пример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Когда использовать?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Ограничения</a:t>
                          </a:r>
                          <a:endParaRPr lang="ru-RU" sz="1800" b="1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664501438"/>
                      </a:ext>
                    </a:extLst>
                  </a:tr>
                  <a:tr h="82589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21771" r="-403166" b="-277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цен на нефть, где возможны резкие скачки из-за геополитических событий.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данных с тяжёлыми хвостами распределения или аномалиями.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Не подходит для задач, где большие ошибки критичны (например, риск-менеджмент).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1654695193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Устойчиво оценить типичную ошибку, игнорируя редкие экстремальные выбросы.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важна робастность, а не средняя ошибка.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2366194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04101" r="-403166" b="-137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выручки компании с резкими изменениями масштаба (например, 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стартап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 в период роста).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Для рядов с нестабильным масштабом (например, быстрорастущие продажи).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Может маскировать локальные ошибки, если ряд неравномерный.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2949914155"/>
                      </a:ext>
                    </a:extLst>
                  </a:tr>
                  <a:tr h="82589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Оценить ошибку относительно общего объёма данных, а не по точкам.</a:t>
                          </a:r>
                        </a:p>
                        <a:p>
                          <a:pPr algn="l" fontAlgn="ctr"/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В бизнес-аналитике, где ошибка должна быть в % от общего оборота.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9912873"/>
                      </a:ext>
                    </a:extLst>
                  </a:tr>
                  <a:tr h="1100214"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26407" marR="2934" marT="2934" marB="0" anchor="ctr">
                        <a:blipFill>
                          <a:blip r:embed="rId2"/>
                          <a:stretch>
                            <a:fillRect l="-264" t="-179224" r="-403166" b="-204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Пример: Прогнозирование количества пользователей мобильного приложения (экспоненциальный рост).</a:t>
                          </a:r>
                          <a:endParaRPr lang="ru-RU" sz="1800" b="1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>
                              <a:effectLst/>
                            </a:rPr>
                            <a:t>– Для мультипликативных трендов или данных с экспоненциальной динамикой.</a:t>
                          </a:r>
                          <a:endParaRPr lang="ru-RU" sz="1800" b="0" i="0" u="none" strike="noStrike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rowSpan="2"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Не работает с отрицательными значениями и нулями (нужна коррекция: </a:t>
                          </a:r>
                          <a:r>
                            <a:rPr lang="ru-RU" sz="1800" u="none" strike="noStrike" dirty="0" err="1">
                              <a:effectLst/>
                            </a:rPr>
                            <a:t>log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⁡(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+ϵ))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extLst>
                      <a:ext uri="{0D108BD9-81ED-4DB2-BD59-A6C34878D82A}">
                        <a16:rowId xmlns:a16="http://schemas.microsoft.com/office/drawing/2014/main" val="962892815"/>
                      </a:ext>
                    </a:extLst>
                  </a:tr>
                  <a:tr h="1100214"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u="none" strike="noStrike" dirty="0">
                              <a:effectLst/>
                            </a:rPr>
                            <a:t> 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Задача: Штрафовать ошибки на малых значениях сильнее, чем на больших (логарифмическая шкала).</a:t>
                          </a:r>
                          <a:endParaRPr lang="ru-RU" sz="1800" b="1" i="0" u="none" strike="noStrike" dirty="0" smtClean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ru-RU" sz="1800" u="none" strike="noStrike" dirty="0">
                              <a:effectLst/>
                            </a:rPr>
                            <a:t>– Когда переоценка на 100 пользователей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ru-RU" sz="1800" u="none" strike="noStrike" dirty="0">
                              <a:effectLst/>
                            </a:rPr>
                            <a:t> хуже, чем при </a:t>
                          </a:r>
                          <a:r>
                            <a:rPr lang="ru-RU" sz="1800" u="none" strike="noStrike" dirty="0" err="1" smtClean="0">
                              <a:effectLst/>
                            </a:rPr>
                            <a:t>yi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=10</a:t>
                          </a:r>
                          <a:r>
                            <a:rPr lang="en-US" sz="1800" u="none" strike="noStrike" dirty="0" smtClean="0">
                              <a:effectLst/>
                            </a:rPr>
                            <a:t>00</a:t>
                          </a:r>
                          <a:r>
                            <a:rPr lang="ru-RU" sz="1800" u="none" strike="noStrike" dirty="0" smtClean="0">
                              <a:effectLst/>
                            </a:rPr>
                            <a:t>.</a:t>
                          </a:r>
                          <a:endParaRPr lang="ru-RU" sz="1800" b="0" i="0" u="none" strike="noStrike" dirty="0">
                            <a:solidFill>
                              <a:srgbClr val="40404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26407" marR="2934" marT="2934" marB="0" anchor="ctr"/>
                    </a:tc>
                    <a:tc v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18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4200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4691" y="278297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dirty="0"/>
              <a:t>Оценка качества </a:t>
            </a:r>
            <a:r>
              <a:rPr lang="ru-RU" dirty="0" err="1"/>
              <a:t>пресдказания</a:t>
            </a:r>
            <a:r>
              <a:rPr lang="ru-RU" dirty="0"/>
              <a:t>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741" y="726533"/>
            <a:ext cx="11719859" cy="5325315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робастностью — насколько ошибка устойчива при небольшом изменении — насколько она подскакивает/падает и насколько, в целом, отражает состояние бизнеса;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обобщенностью — насколько сильно происходит усреднение ошибки — сможем ли мы составить по средней абсолютной ошибке представление о том, что происходит позиционно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100" dirty="0">
                <a:solidFill>
                  <a:srgbClr val="000000"/>
                </a:solidFill>
              </a:rPr>
              <a:t>симметричностью — насколько наша ошибка для разных знаков является</a:t>
            </a:r>
            <a:r>
              <a:rPr lang="en-US" altLang="ru-RU" sz="2100" dirty="0">
                <a:solidFill>
                  <a:srgbClr val="000000"/>
                </a:solidFill>
              </a:rPr>
              <a:t> </a:t>
            </a:r>
            <a:r>
              <a:rPr lang="ru-RU" altLang="ru-RU" sz="2100" dirty="0" err="1">
                <a:solidFill>
                  <a:srgbClr val="000000"/>
                </a:solidFill>
              </a:rPr>
              <a:t>значначимой</a:t>
            </a:r>
            <a:endParaRPr lang="ru-RU" altLang="ru-RU" sz="2100" dirty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1400" dirty="0"/>
              <a:t>                                         </a:t>
            </a:r>
            <a:r>
              <a:rPr lang="ru-RU" altLang="ru-RU" sz="2100" dirty="0"/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 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Свойства традиционных методов оценки качества прогнозирования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62"/>
          <a:stretch/>
        </p:blipFill>
        <p:spPr bwMode="auto">
          <a:xfrm>
            <a:off x="192741" y="2395534"/>
            <a:ext cx="8741709" cy="212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268941" y="6480731"/>
            <a:ext cx="98574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https://reshape.ru/articles/tpost/e9s086ofm1-kak-otsenit-kachestvo-prognozirovaniya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035800" y="4482187"/>
            <a:ext cx="52990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i="1" dirty="0"/>
              <a:t>Интерпретируемость</a:t>
            </a:r>
            <a:r>
              <a:rPr lang="ru-RU" dirty="0"/>
              <a:t> → MAE, MAPE, WAPE</a:t>
            </a:r>
          </a:p>
          <a:p>
            <a:pPr lvl="1"/>
            <a:r>
              <a:rPr lang="ru-RU" i="1" dirty="0"/>
              <a:t>Устойчивость</a:t>
            </a:r>
            <a:r>
              <a:rPr lang="ru-RU" dirty="0"/>
              <a:t> → </a:t>
            </a:r>
            <a:r>
              <a:rPr lang="ru-RU" dirty="0" err="1"/>
              <a:t>MedAE</a:t>
            </a:r>
            <a:r>
              <a:rPr lang="ru-RU" dirty="0"/>
              <a:t>, MASE</a:t>
            </a:r>
          </a:p>
          <a:p>
            <a:pPr lvl="1"/>
            <a:r>
              <a:rPr lang="ru-RU" i="1" dirty="0" err="1"/>
              <a:t>неопределнность</a:t>
            </a:r>
            <a:r>
              <a:rPr lang="ru-RU" i="1" dirty="0"/>
              <a:t> моделей</a:t>
            </a:r>
            <a:r>
              <a:rPr lang="ru-RU" dirty="0"/>
              <a:t> → RMSE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2741" y="5545165"/>
            <a:ext cx="11932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В реальных задачах рекомендуется использовать </a:t>
            </a:r>
            <a:r>
              <a:rPr lang="ru-RU" dirty="0">
                <a:solidFill>
                  <a:srgbClr val="111827"/>
                </a:solidFill>
                <a:latin typeface="system-ui"/>
              </a:rPr>
              <a:t>несколько метрик 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одновременно (например, MAE + R² + MASE), чтобы получить более полное представление о качестве прогноза.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700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5752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b="1" dirty="0"/>
              <a:t>Интервал предсказаний – это Диапазон значений, в котором с заданной вероятностью (уровнем доверия) ожидается будущее наблюдение.</a:t>
            </a:r>
          </a:p>
          <a:p>
            <a:pPr marL="457200" lvl="1" indent="0">
              <a:buNone/>
            </a:pPr>
            <a:r>
              <a:rPr lang="ru-RU" sz="1800" dirty="0"/>
              <a:t>Прогноз продаж на январь: </a:t>
            </a:r>
            <a:r>
              <a:rPr lang="ru-RU" sz="1800" b="1" dirty="0"/>
              <a:t>1000 ± 100 единиц (95% PI)</a:t>
            </a:r>
            <a:r>
              <a:rPr lang="ru-RU" sz="1800" dirty="0"/>
              <a:t>→ продажи с вероятностью 95% будут между </a:t>
            </a:r>
            <a:r>
              <a:rPr lang="ru-RU" sz="1800" b="1" dirty="0"/>
              <a:t>900</a:t>
            </a:r>
            <a:r>
              <a:rPr lang="ru-RU" sz="1800" dirty="0"/>
              <a:t> и </a:t>
            </a:r>
            <a:r>
              <a:rPr lang="ru-RU" sz="1800" b="1" dirty="0"/>
              <a:t>1100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r>
              <a:rPr lang="ru-RU" sz="2200" b="1" dirty="0"/>
              <a:t>1. </a:t>
            </a:r>
            <a:r>
              <a:rPr lang="ru-RU" sz="2200" dirty="0"/>
              <a:t>Интервальный прогноз спроса на электричество:</a:t>
            </a:r>
          </a:p>
          <a:p>
            <a:r>
              <a:rPr lang="ru-RU" sz="2200" dirty="0"/>
              <a:t>Ожидаемый 99% доверительный интервал модели: [100 МВт, 150 МВт] Реальное значение через день: 160 МВт → коллапс сети</a:t>
            </a:r>
          </a:p>
          <a:p>
            <a:pPr marL="0" indent="0">
              <a:buNone/>
            </a:pPr>
            <a:r>
              <a:rPr lang="ru-RU" sz="2200" dirty="0"/>
              <a:t> </a:t>
            </a:r>
            <a:r>
              <a:rPr lang="ru-RU" sz="2200" i="1" dirty="0"/>
              <a:t>Как предсказать экстремальный риск (</a:t>
            </a:r>
            <a:r>
              <a:rPr lang="ru-RU" sz="2200" i="1" dirty="0" err="1"/>
              <a:t>пин-болл</a:t>
            </a:r>
            <a:r>
              <a:rPr lang="ru-RU" sz="2200" i="1" dirty="0"/>
              <a:t> </a:t>
            </a:r>
            <a:r>
              <a:rPr lang="ru-RU" sz="2200" i="1" dirty="0" err="1"/>
              <a:t>лосс</a:t>
            </a:r>
            <a:r>
              <a:rPr lang="ru-RU" sz="2200" i="1" dirty="0"/>
              <a:t>), насколько надежны такие интервалы?</a:t>
            </a:r>
          </a:p>
          <a:p>
            <a:r>
              <a:rPr lang="ru-RU" sz="2200" b="0" i="0" dirty="0">
                <a:effectLst/>
              </a:rPr>
              <a:t>Оценка не только точечных прогнозов, но и интервалов позволяет выявить аномалии</a:t>
            </a:r>
          </a:p>
          <a:p>
            <a:pPr marL="0" indent="0">
              <a:buNone/>
            </a:pPr>
            <a:r>
              <a:rPr lang="ru-RU" sz="2200" b="1" dirty="0"/>
              <a:t>2. </a:t>
            </a:r>
            <a:r>
              <a:rPr lang="ru-RU" sz="2200" dirty="0"/>
              <a:t>Прогнозы температуры от 5 моделей, прогнозирующих распределение (ECMWF, GFS, ...).</a:t>
            </a:r>
          </a:p>
          <a:p>
            <a:r>
              <a:rPr lang="ru-RU" sz="2200" dirty="0"/>
              <a:t>Каждая Ансамбли моделей давали разные распределения. Как выбрать лучшую? (с наименьшим разбросом результатов) -</a:t>
            </a:r>
            <a:r>
              <a:rPr lang="en-US" sz="2200" dirty="0"/>
              <a:t>&gt; </a:t>
            </a:r>
            <a:r>
              <a:rPr lang="ru-RU" sz="2200" dirty="0"/>
              <a:t>Сравниваем распределения с эталонным</a:t>
            </a:r>
            <a:r>
              <a:rPr lang="en-US" sz="2200" dirty="0"/>
              <a:t> </a:t>
            </a:r>
            <a:r>
              <a:rPr lang="en-US" sz="2200" b="1" dirty="0"/>
              <a:t>(CRPS)</a:t>
            </a:r>
            <a:endParaRPr lang="ru-RU" sz="2200" b="1" dirty="0"/>
          </a:p>
          <a:p>
            <a:pPr marL="0" indent="0">
              <a:buNone/>
            </a:pPr>
            <a:r>
              <a:rPr lang="ru-RU" sz="2200" b="1" i="0" dirty="0">
                <a:effectLst/>
              </a:rPr>
              <a:t>3.</a:t>
            </a:r>
            <a:r>
              <a:rPr lang="ru-RU" sz="2200" b="1" dirty="0"/>
              <a:t> </a:t>
            </a:r>
            <a:r>
              <a:rPr lang="ru-RU" sz="2200" dirty="0"/>
              <a:t>Еженедельные продажи товара (сеть магазинов) планировались по среднему ± 20%, как оценить достаточность интервала</a:t>
            </a:r>
          </a:p>
          <a:p>
            <a:r>
              <a:rPr lang="ru-RU" sz="2200" b="0" i="0" dirty="0">
                <a:effectLst/>
              </a:rPr>
              <a:t>Метод оценки покрытия интервала дает 80% -</a:t>
            </a:r>
            <a:r>
              <a:rPr lang="en-US" sz="2200" b="0" i="0" dirty="0">
                <a:effectLst/>
              </a:rPr>
              <a:t>&gt; </a:t>
            </a:r>
            <a:r>
              <a:rPr lang="ru-RU" sz="2200" b="0" i="0" dirty="0">
                <a:effectLst/>
              </a:rPr>
              <a:t>если больше 75%, считаем достаточным. </a:t>
            </a:r>
            <a:r>
              <a:rPr lang="ru-RU" sz="2200" dirty="0"/>
              <a:t>Интервал можно снижать.</a:t>
            </a:r>
            <a:endParaRPr lang="ru-RU" sz="2200" b="0" i="0" dirty="0">
              <a:effectLst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404104" y="6538912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https://otexts.com/fpp3/prediction-intervals.html</a:t>
            </a:r>
          </a:p>
        </p:txBody>
      </p:sp>
    </p:spTree>
    <p:extLst>
      <p:ext uri="{BB962C8B-B14F-4D97-AF65-F5344CB8AC3E}">
        <p14:creationId xmlns:p14="http://schemas.microsoft.com/office/powerpoint/2010/main" val="330594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Вероятностные оценки  </a:t>
                </a:r>
                <a:r>
                  <a:rPr lang="ru-RU" sz="2200" dirty="0"/>
                  <a:t>показывают, какие значения может принимать будущее наблюдение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с заданными вероятностями. Это позволяет оценить неопределенность прогноза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Точечный прогноз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 dirty="0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  <m:sup>
                        <m:r>
                          <a:rPr lang="ru-RU" sz="22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</m:sSup>
                    <m:r>
                      <a:rPr lang="ru-RU" sz="2200" i="1" dirty="0">
                        <a:latin typeface="Cambria Math" panose="02040503050406030204" pitchFamily="18" charset="0"/>
                      </a:rPr>
                      <m:t>​ </m:t>
                    </m:r>
                  </m:oMath>
                </a14:m>
                <a:r>
                  <a:rPr lang="ru-RU" sz="2200" dirty="0"/>
                  <a:t>— это среднее значение прогнозного распределения. То есть, это наше "лучшее" предположение о том, каким будет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, но оно не учитывает степень неопределенности.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7290410" cy="2929007"/>
              </a:xfrm>
              <a:prstGeom prst="rect">
                <a:avLst/>
              </a:prstGeom>
              <a:blipFill>
                <a:blip r:embed="rId4"/>
                <a:stretch>
                  <a:fillRect l="-1088" t="-1458" r="-1255" b="-33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23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pic>
        <p:nvPicPr>
          <p:cNvPr id="5122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70" y="850392"/>
            <a:ext cx="4460874" cy="275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4"/>
              <p:cNvSpPr txBox="1">
                <a:spLocks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</p:spPr>
            <p:txBody>
              <a:bodyPr vert="horz" wrap="square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Например, 95%-й доверительный интервал означает, что с вероятностью 95% фактическое значение попадет внутрь этого интервала.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dirty="0"/>
                  <a:t>​,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стандартного </a:t>
                </a:r>
                <a:r>
                  <a:rPr lang="ru-RU" sz="2200" dirty="0" err="1"/>
                  <a:t>распределния</a:t>
                </a:r>
                <a:r>
                  <a:rPr lang="ru-RU" sz="2200" dirty="0"/>
                  <a:t>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</p:txBody>
          </p:sp>
        </mc:Choice>
        <mc:Fallback xmlns="">
          <p:sp>
            <p:nvSpPr>
              <p:cNvPr id="7" name="Объект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24" y="950976"/>
                <a:ext cx="6986016" cy="3848939"/>
              </a:xfrm>
              <a:prstGeom prst="rect">
                <a:avLst/>
              </a:prstGeom>
              <a:blipFill>
                <a:blip r:embed="rId4"/>
                <a:stretch>
                  <a:fillRect l="-1134" t="-1109" b="-22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221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200" b="1" dirty="0"/>
                  <a:t>Доверительный интервал </a:t>
                </a:r>
                <a:r>
                  <a:rPr lang="ru-RU" sz="2200" dirty="0"/>
                  <a:t>дает диапазон значений, внутри которого с заданной вероятностью окажется реальное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. </a:t>
                </a:r>
              </a:p>
              <a:p>
                <a:pPr lvl="1"/>
                <a:r>
                  <a:rPr lang="ru-RU" sz="2200" dirty="0"/>
                  <a:t>Например, 95%-й доверительный интервал означает, что с вероятностью 95% фактическое значение попадет внутрь этого интервала. </a:t>
                </a:r>
              </a:p>
              <a:p>
                <a:r>
                  <a:rPr lang="ru-RU" sz="2200" dirty="0"/>
                  <a:t>Для нормального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2200" dirty="0"/>
                  <a:t>​,</a:t>
                </a:r>
              </a:p>
              <a:p>
                <a:pPr lvl="1"/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2200" dirty="0"/>
                  <a:t> - оценка стандартного </a:t>
                </a:r>
                <a:r>
                  <a:rPr lang="ru-RU" sz="2200" dirty="0" err="1"/>
                  <a:t>распределния</a:t>
                </a:r>
                <a:r>
                  <a:rPr lang="ru-RU" sz="2200" dirty="0"/>
                  <a:t>, </a:t>
                </a:r>
                <a:r>
                  <a:rPr lang="ru-RU" sz="2200" i="1" dirty="0">
                    <a:latin typeface="Cambria Math" panose="02040503050406030204" pitchFamily="18" charset="0"/>
                  </a:rPr>
                  <a:t/>
                </a:r>
                <a:br>
                  <a:rPr lang="ru-RU" sz="22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ru-RU" sz="2200" i="1" dirty="0">
                        <a:latin typeface="Cambria Math" panose="02040503050406030204" pitchFamily="18" charset="0"/>
                      </a:rPr>
                      <m:t>с−</m:t>
                    </m:r>
                  </m:oMath>
                </a14:m>
                <a:r>
                  <a:rPr lang="ru-RU" sz="2200" dirty="0"/>
                  <a:t> коэффициент, зависящий от уровня доверия (например, 1.96 для 95%)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Одношаговый прогноз </a:t>
                </a:r>
                <a:r>
                  <a:rPr lang="en-US" sz="2200" dirty="0"/>
                  <a:t>(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)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  <m:r>
                      <a:rPr lang="ru-RU" sz="22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sz="2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i="1" dirty="0"/>
                  <a:t>T</a:t>
                </a:r>
                <a:r>
                  <a:rPr lang="ru-RU" sz="2200" dirty="0"/>
                  <a:t> — количество наблюдений, </a:t>
                </a:r>
                <a:r>
                  <a:rPr lang="ru-RU" sz="2200" i="1" dirty="0"/>
                  <a:t>K</a:t>
                </a:r>
                <a:r>
                  <a:rPr lang="ru-RU" sz="2200" dirty="0"/>
                  <a:t> — число оцененных параметров модели, </a:t>
                </a:r>
                <a:r>
                  <a:rPr lang="ru-RU" sz="2200" i="1" dirty="0"/>
                  <a:t>M</a:t>
                </a:r>
                <a:r>
                  <a:rPr lang="ru-RU" sz="2200" dirty="0"/>
                  <a:t> — число пропущенных значений в ошибках,</a:t>
                </a:r>
                <a14:m>
                  <m:oMath xmlns:m="http://schemas.openxmlformats.org/officeDocument/2006/math">
                    <m:r>
                      <a:rPr lang="ru-RU" sz="2200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ru-RU" sz="2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2200" dirty="0"/>
                  <a:t>​ — остатки модели.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771519"/>
                <a:ext cx="11759184" cy="4105291"/>
              </a:xfrm>
              <a:prstGeom prst="rect">
                <a:avLst/>
              </a:prstGeom>
              <a:blipFill>
                <a:blip r:embed="rId2"/>
                <a:stretch>
                  <a:fillRect l="-674" t="-10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347472" y="6356350"/>
            <a:ext cx="48703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https://otexts.com/fpp2/prediction-intervals.html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Предположим, последнее значение ряда равно 758.88, а стандартное отклонение остатков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=11.19</a:t>
                </a:r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 . Тогда 95%-й доверительный интервал для следующего значения будет: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758.88±1.96⋅11.19=[736.9,780.8].</a:t>
                </a:r>
                <a:endParaRPr lang="ru-RU" dirty="0">
                  <a:solidFill>
                    <a:srgbClr val="2C2C36"/>
                  </a:solidFill>
                  <a:latin typeface="system-ui"/>
                </a:endParaRPr>
              </a:p>
              <a:p>
                <a:r>
                  <a:rPr lang="ru-RU" dirty="0">
                    <a:solidFill>
                      <a:srgbClr val="2C2C36"/>
                    </a:solidFill>
                    <a:latin typeface="system-ui"/>
                  </a:rPr>
                  <a:t>Аналогично, 80%-й интервал:</a:t>
                </a:r>
              </a:p>
              <a:p>
                <a:r>
                  <a:rPr lang="ru-RU" dirty="0">
                    <a:solidFill>
                      <a:srgbClr val="2C2C36"/>
                    </a:solidFill>
                    <a:latin typeface="KaTeX_Main"/>
                  </a:rPr>
                  <a:t>758.88±1.28⋅11.19=[744.5,773.2].</a:t>
                </a:r>
                <a:endParaRPr lang="ru-RU" b="0" i="0" dirty="0">
                  <a:solidFill>
                    <a:srgbClr val="2C2C36"/>
                  </a:solidFill>
                  <a:effectLst/>
                  <a:latin typeface="system-ui"/>
                </a:endParaRP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40" y="4790778"/>
                <a:ext cx="10177272" cy="1531060"/>
              </a:xfrm>
              <a:prstGeom prst="rect">
                <a:avLst/>
              </a:prstGeom>
              <a:blipFill>
                <a:blip r:embed="rId3"/>
                <a:stretch>
                  <a:fillRect l="-539" t="-2390" b="-19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218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7472" y="192025"/>
            <a:ext cx="11006328" cy="603504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Наивная оценка СКО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81356"/>
            <a:ext cx="11759184" cy="2587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Многошаговые прогнозы</a:t>
            </a:r>
          </a:p>
          <a:p>
            <a:r>
              <a:rPr lang="ru-RU" sz="2200" dirty="0"/>
              <a:t>С увеличением горизонта прогнозирования </a:t>
            </a:r>
            <a:r>
              <a:rPr lang="ru-RU" sz="2200" i="1" dirty="0"/>
              <a:t>h</a:t>
            </a:r>
            <a:r>
              <a:rPr lang="ru-RU" sz="2200" dirty="0"/>
              <a:t> , неопределенность возрастает, и доверительные интервалы становятся шире.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Метод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оценки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с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тандартного отклонения на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шаге </a:t>
                          </a:r>
                          <a:r>
                            <a:rPr lang="ru-RU" sz="1800" i="1" dirty="0"/>
                            <a:t>h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ru-RU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0" i="1" u="none" strike="noStrike" dirty="0" smtClean="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ru-RU" sz="1800" b="0" i="0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Среднее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1 + 1/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Наивный</a:t>
                          </a:r>
                          <a14:m>
                            <m:oMath xmlns:m="http://schemas.openxmlformats.org/officeDocument/2006/math"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Сезонный наивный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rad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, </a:t>
                          </a:r>
                          <a:b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где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—  период сезона</a:t>
                          </a: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1905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Дрейф,</a:t>
                          </a:r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/(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−1)) </m:t>
                                  </m:r>
                                </m:e>
                              </m:rad>
                            </m:oMath>
                          </a14:m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1859318"/>
                  </p:ext>
                </p:extLst>
              </p:nvPr>
            </p:nvGraphicFramePr>
            <p:xfrm>
              <a:off x="758952" y="1967877"/>
              <a:ext cx="7934960" cy="1861377"/>
            </p:xfrm>
            <a:graphic>
              <a:graphicData uri="http://schemas.openxmlformats.org/drawingml/2006/table">
                <a:tbl>
                  <a:tblPr/>
                  <a:tblGrid>
                    <a:gridCol w="7934960">
                      <a:extLst>
                        <a:ext uri="{9D8B030D-6E8A-4147-A177-3AD203B41FA5}">
                          <a16:colId xmlns:a16="http://schemas.microsoft.com/office/drawing/2014/main" val="3179399683"/>
                        </a:ext>
                      </a:extLst>
                    </a:gridCol>
                  </a:tblGrid>
                  <a:tr h="28384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3404" b="-6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2241197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03571" b="-403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266796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219231" b="-3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4232478"/>
                      </a:ext>
                    </a:extLst>
                  </a:tr>
                  <a:tr h="58172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172917" b="-8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428549"/>
                      </a:ext>
                    </a:extLst>
                  </a:tr>
                  <a:tr h="34169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t="-467857" b="-39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1613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Прямоугольник 5"/>
          <p:cNvSpPr/>
          <p:nvPr/>
        </p:nvSpPr>
        <p:spPr>
          <a:xfrm>
            <a:off x="194056" y="4025296"/>
            <a:ext cx="8061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C2C36"/>
                </a:solidFill>
                <a:latin typeface="system-ui"/>
              </a:rPr>
              <a:t>Эти формулы работают при условии, </a:t>
            </a:r>
            <a:br>
              <a:rPr lang="ru-RU" dirty="0">
                <a:solidFill>
                  <a:srgbClr val="2C2C36"/>
                </a:solidFill>
                <a:latin typeface="system-ui"/>
              </a:rPr>
            </a:br>
            <a:r>
              <a:rPr lang="ru-RU" dirty="0">
                <a:solidFill>
                  <a:srgbClr val="2C2C36"/>
                </a:solidFill>
                <a:latin typeface="system-ui"/>
              </a:rPr>
              <a:t>что остатки </a:t>
            </a:r>
            <a:r>
              <a:rPr lang="ru-RU" dirty="0" err="1">
                <a:solidFill>
                  <a:srgbClr val="2C2C36"/>
                </a:solidFill>
                <a:latin typeface="system-ui"/>
              </a:rPr>
              <a:t>некоррелированы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47472" y="6381739"/>
            <a:ext cx="4817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https://otexts.com/fpp3/prediction-intervals.htm</a:t>
            </a:r>
          </a:p>
        </p:txBody>
      </p:sp>
      <p:pic>
        <p:nvPicPr>
          <p:cNvPr id="9218" name="Picture 2" descr="80% and 95% prediction intervals for the Google closing stock price based on a naïve metho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592" y="2380346"/>
            <a:ext cx="6381942" cy="350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25338" y="480070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фактические значения часто выходят за пределы доверительного интервала — модель недооценивает неопределенность.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  <a:latin typeface="system-ui"/>
              </a:rPr>
              <a:t>Если интервалы слишком широкие — возможно, модель слишком консервативна.</a:t>
            </a: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1203214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15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 </a:t>
            </a:r>
            <a:endParaRPr lang="ru-RU" sz="2200" b="0" i="0" dirty="0"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10896" y="1001038"/>
            <a:ext cx="7354709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C2C36"/>
                </a:solidFill>
              </a:rPr>
              <a:t>Иногда предположение о нормальности остатков неверно. В таких случаях можно использовать </a:t>
            </a:r>
            <a:r>
              <a:rPr lang="ru-RU" sz="2000" dirty="0">
                <a:solidFill>
                  <a:srgbClr val="111827"/>
                </a:solidFill>
              </a:rPr>
              <a:t>методы</a:t>
            </a:r>
          </a:p>
          <a:p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 err="1">
                <a:solidFill>
                  <a:srgbClr val="111827"/>
                </a:solidFill>
              </a:rPr>
              <a:t>бутстрепа</a:t>
            </a:r>
            <a:r>
              <a:rPr lang="ru-RU" sz="2000" dirty="0">
                <a:solidFill>
                  <a:srgbClr val="111827"/>
                </a:solidFill>
              </a:rPr>
              <a:t> </a:t>
            </a:r>
            <a:r>
              <a:rPr lang="ru-RU" sz="2000" dirty="0">
                <a:solidFill>
                  <a:srgbClr val="2C2C36"/>
                </a:solidFill>
              </a:rPr>
              <a:t>— имитационный метод, основанный на повторной выборке из исторических остатков</a:t>
            </a:r>
          </a:p>
          <a:p>
            <a:r>
              <a:rPr lang="ru-RU" sz="2000" dirty="0" err="1">
                <a:solidFill>
                  <a:srgbClr val="2C2C36"/>
                </a:solidFill>
              </a:rPr>
              <a:t>Комфорное</a:t>
            </a:r>
            <a:r>
              <a:rPr lang="ru-RU" sz="2000" dirty="0">
                <a:solidFill>
                  <a:srgbClr val="2C2C36"/>
                </a:solidFill>
              </a:rPr>
              <a:t> </a:t>
            </a:r>
            <a:r>
              <a:rPr lang="ru-RU" sz="2000" dirty="0" err="1">
                <a:solidFill>
                  <a:srgbClr val="2C2C36"/>
                </a:solidFill>
              </a:rPr>
              <a:t>преорбазование</a:t>
            </a:r>
            <a:r>
              <a:rPr lang="ru-RU" sz="2000" dirty="0">
                <a:solidFill>
                  <a:srgbClr val="2C2C36"/>
                </a:solidFill>
              </a:rPr>
              <a:t> – калибровка доверительных интервалов на отдельных от тренировочной </a:t>
            </a:r>
            <a:r>
              <a:rPr lang="ru-RU" sz="2000" dirty="0" err="1">
                <a:solidFill>
                  <a:srgbClr val="2C2C36"/>
                </a:solidFill>
              </a:rPr>
              <a:t>подвыборках</a:t>
            </a:r>
            <a:r>
              <a:rPr lang="ru-RU" sz="2000" dirty="0">
                <a:solidFill>
                  <a:srgbClr val="2C2C36"/>
                </a:solidFill>
              </a:rPr>
              <a:t>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Основные идеи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Используем модель, чтобы получить остатки </a:t>
            </a:r>
            <a:r>
              <a:rPr lang="ru-RU" sz="2000" i="1" dirty="0" err="1">
                <a:solidFill>
                  <a:srgbClr val="2C2C36"/>
                </a:solidFill>
              </a:rPr>
              <a:t>et</a:t>
            </a:r>
            <a:r>
              <a:rPr lang="ru-RU" sz="2000" dirty="0">
                <a:solidFill>
                  <a:srgbClr val="2C2C36"/>
                </a:solidFill>
              </a:rPr>
              <a:t>​=</a:t>
            </a:r>
            <a:r>
              <a:rPr lang="ru-RU" sz="2000" i="1" dirty="0" err="1">
                <a:solidFill>
                  <a:srgbClr val="2C2C36"/>
                </a:solidFill>
              </a:rPr>
              <a:t>yt</a:t>
            </a:r>
            <a:r>
              <a:rPr lang="ru-RU" sz="2000" dirty="0">
                <a:solidFill>
                  <a:srgbClr val="2C2C36"/>
                </a:solidFill>
              </a:rPr>
              <a:t>​−</a:t>
            </a:r>
            <a:r>
              <a:rPr lang="ru-RU" sz="2000" i="1" dirty="0">
                <a:solidFill>
                  <a:srgbClr val="2C2C36"/>
                </a:solidFill>
              </a:rPr>
              <a:t>y</a:t>
            </a:r>
            <a:r>
              <a:rPr lang="ru-RU" sz="2000" dirty="0">
                <a:solidFill>
                  <a:srgbClr val="2C2C36"/>
                </a:solidFill>
              </a:rPr>
              <a:t>^​</a:t>
            </a:r>
            <a:r>
              <a:rPr lang="ru-RU" sz="2000" i="1" dirty="0">
                <a:solidFill>
                  <a:srgbClr val="2C2C36"/>
                </a:solidFill>
              </a:rPr>
              <a:t>t</a:t>
            </a:r>
            <a:r>
              <a:rPr lang="ru-RU" sz="2000" dirty="0">
                <a:solidFill>
                  <a:srgbClr val="2C2C36"/>
                </a:solidFill>
              </a:rPr>
              <a:t>​ 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Затем случайным образом выбираем эти остатки и добавляем их к прогнозам, чтобы смоделировать возможные будущие значения.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Повторяем этот процесс множество раз, чтобы получить распределение возможных будущих значений.</a:t>
            </a:r>
          </a:p>
          <a:p>
            <a:pPr>
              <a:buFont typeface="+mj-lt"/>
              <a:buAutoNum type="arabicPeriod"/>
            </a:pPr>
            <a:r>
              <a:rPr lang="ru-RU" sz="2000" dirty="0">
                <a:solidFill>
                  <a:srgbClr val="2C2C36"/>
                </a:solidFill>
              </a:rPr>
              <a:t>На основе этого распределения строим доверительные интервалы (например, 80%, 95%).</a:t>
            </a:r>
          </a:p>
          <a:p>
            <a:r>
              <a:rPr lang="ru-RU" sz="2000" b="1" dirty="0">
                <a:solidFill>
                  <a:srgbClr val="2C2C36"/>
                </a:solidFill>
              </a:rPr>
              <a:t>Преимущества методов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Не требует предположений о нормальности остатков.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Работает даже при сложных структурах данных.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2C2C36"/>
                </a:solidFill>
              </a:rPr>
              <a:t>Может учитывать несимметричность распределения.</a:t>
            </a:r>
            <a:endParaRPr lang="ru-RU" sz="2000" b="0" i="0" dirty="0">
              <a:solidFill>
                <a:srgbClr val="2C2C36"/>
              </a:solidFill>
              <a:effectLst/>
            </a:endParaRPr>
          </a:p>
        </p:txBody>
      </p:sp>
      <p:pic>
        <p:nvPicPr>
          <p:cNvPr id="9" name="Picture 2" descr="Five simulated future sample path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34" y="850393"/>
            <a:ext cx="3867009" cy="238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Forecasts of the Google closing stock price based on a naïve method with bootstrapped residuals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434" y="3753865"/>
            <a:ext cx="4642510" cy="286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180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0896" y="365125"/>
            <a:ext cx="11042904" cy="585851"/>
          </a:xfrm>
        </p:spPr>
        <p:txBody>
          <a:bodyPr>
            <a:normAutofit fontScale="90000"/>
          </a:bodyPr>
          <a:lstStyle/>
          <a:p>
            <a:r>
              <a:rPr lang="ru-RU" dirty="0"/>
              <a:t>Необходимость вероятностных оценок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92024" y="950976"/>
            <a:ext cx="11814048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200" dirty="0"/>
              <a:t>После того как мы построили прогнозные интервалы или получили прогнозное распределение, важно количественно оценить их качество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035911"/>
                  </p:ext>
                </p:extLst>
              </p:nvPr>
            </p:nvGraphicFramePr>
            <p:xfrm>
              <a:off x="310896" y="1652707"/>
              <a:ext cx="11422095" cy="3200519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221172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897759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965533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3891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15807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диапазон с заданным покрытием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0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ru-RU" sz="1800" b="0" i="1" u="none" strike="noStrike" dirty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err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h𝑖𝑔h</m:t>
                                  </m:r>
                                </m:sub>
                              </m:sSub>
                              <m:r>
                                <a:rPr lang="en-US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871046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Предсказать конкретный квантиль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584020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полное распределение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ru-RU" sz="1800" b="0" i="1" u="none" strike="noStrik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1800" b="0" i="1" u="none" strike="noStrik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Таблица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6035911"/>
                  </p:ext>
                </p:extLst>
              </p:nvPr>
            </p:nvGraphicFramePr>
            <p:xfrm>
              <a:off x="310896" y="1652707"/>
              <a:ext cx="11422095" cy="3200519"/>
            </p:xfrm>
            <a:graphic>
              <a:graphicData uri="http://schemas.openxmlformats.org/drawingml/2006/table">
                <a:tbl>
                  <a:tblPr/>
                  <a:tblGrid>
                    <a:gridCol w="1543541">
                      <a:extLst>
                        <a:ext uri="{9D8B030D-6E8A-4147-A177-3AD203B41FA5}">
                          <a16:colId xmlns:a16="http://schemas.microsoft.com/office/drawing/2014/main" val="1648134774"/>
                        </a:ext>
                      </a:extLst>
                    </a:gridCol>
                    <a:gridCol w="2221172">
                      <a:extLst>
                        <a:ext uri="{9D8B030D-6E8A-4147-A177-3AD203B41FA5}">
                          <a16:colId xmlns:a16="http://schemas.microsoft.com/office/drawing/2014/main" val="1803540345"/>
                        </a:ext>
                      </a:extLst>
                    </a:gridCol>
                    <a:gridCol w="2897759">
                      <a:extLst>
                        <a:ext uri="{9D8B030D-6E8A-4147-A177-3AD203B41FA5}">
                          <a16:colId xmlns:a16="http://schemas.microsoft.com/office/drawing/2014/main" val="2317459356"/>
                        </a:ext>
                      </a:extLst>
                    </a:gridCol>
                    <a:gridCol w="1965533">
                      <a:extLst>
                        <a:ext uri="{9D8B030D-6E8A-4147-A177-3AD203B41FA5}">
                          <a16:colId xmlns:a16="http://schemas.microsoft.com/office/drawing/2014/main" val="3472257170"/>
                        </a:ext>
                      </a:extLst>
                    </a:gridCol>
                    <a:gridCol w="2794090">
                      <a:extLst>
                        <a:ext uri="{9D8B030D-6E8A-4147-A177-3AD203B41FA5}">
                          <a16:colId xmlns:a16="http://schemas.microsoft.com/office/drawing/2014/main" val="50803802"/>
                        </a:ext>
                      </a:extLst>
                    </a:gridCol>
                  </a:tblGrid>
                  <a:tr h="33891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Тип прогноза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Оценка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Цель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Метрики оценки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Особенности</a:t>
                          </a:r>
                          <a:endParaRPr lang="ru-RU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8971985"/>
                      </a:ext>
                    </a:extLst>
                  </a:tr>
                  <a:tr h="115807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Интервальный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33158" r="-344658" b="-15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Определить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ш</a:t>
                          </a:r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ирину </a:t>
                          </a:r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и покрытие интервалов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Coverage, Mean Width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Легко интерпретировать, но не покрывает выбросы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74609934"/>
                      </a:ext>
                    </a:extLst>
                  </a:tr>
                  <a:tr h="871046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Квантильный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176923" r="-344658" b="-1069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точность определения квантилей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Pinball Loss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Анализ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хвостов, не покрывает интервалы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865774"/>
                      </a:ext>
                    </a:extLst>
                  </a:tr>
                  <a:tr h="832485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Вероятностный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9863" t="-289051" r="-344658" b="-116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качество всего прогнозного распределения 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1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Log Score, CRPS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ru-RU" sz="18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Сложная</a:t>
                          </a:r>
                          <a:r>
                            <a:rPr lang="ru-RU" sz="18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реализация</a:t>
                          </a:r>
                          <a:endParaRPr lang="en-US" sz="1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70140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Прямоугольник 6"/>
          <p:cNvSpPr/>
          <p:nvPr/>
        </p:nvSpPr>
        <p:spPr>
          <a:xfrm>
            <a:off x="310896" y="5156021"/>
            <a:ext cx="10525171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>
                <a:solidFill>
                  <a:srgbClr val="2C2C36"/>
                </a:solidFill>
              </a:rPr>
              <a:t>Распределения могут быть представлены как: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Параметрические распределения (например, нормальное с </a:t>
            </a:r>
            <a:r>
              <a:rPr lang="ru-RU" i="1" dirty="0">
                <a:solidFill>
                  <a:srgbClr val="2C2C36"/>
                </a:solidFill>
              </a:rPr>
              <a:t>μ</a:t>
            </a:r>
            <a:r>
              <a:rPr lang="ru-RU" dirty="0">
                <a:solidFill>
                  <a:srgbClr val="2C2C36"/>
                </a:solidFill>
              </a:rPr>
              <a:t> и </a:t>
            </a:r>
            <a:r>
              <a:rPr lang="ru-RU" i="1" dirty="0">
                <a:solidFill>
                  <a:srgbClr val="2C2C36"/>
                </a:solidFill>
              </a:rPr>
              <a:t>σ</a:t>
            </a:r>
            <a:r>
              <a:rPr lang="ru-RU" dirty="0">
                <a:solidFill>
                  <a:srgbClr val="2C2C36"/>
                </a:solidFill>
              </a:rPr>
              <a:t> 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Непараметрические (например, выборки из </a:t>
            </a:r>
            <a:r>
              <a:rPr lang="ru-RU" dirty="0" err="1">
                <a:solidFill>
                  <a:srgbClr val="2C2C36"/>
                </a:solidFill>
              </a:rPr>
              <a:t>бутстрепа</a:t>
            </a:r>
            <a:r>
              <a:rPr lang="ru-RU" dirty="0">
                <a:solidFill>
                  <a:srgbClr val="2C2C36"/>
                </a:solidFill>
              </a:rPr>
              <a:t> или MCMC),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C2C36"/>
                </a:solidFill>
              </a:rPr>
              <a:t>Дискретные распределения (для категориальных данных).</a:t>
            </a:r>
            <a:endParaRPr lang="ru-RU" b="0" i="0" dirty="0">
              <a:solidFill>
                <a:srgbClr val="2C2C3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50331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8941" y="271812"/>
            <a:ext cx="10780059" cy="448236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Квантильная</a:t>
            </a:r>
            <a:r>
              <a:rPr lang="ru-RU" b="1" dirty="0"/>
              <a:t> оценка качества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0" y="-170549"/>
            <a:ext cx="65" cy="3410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/pinball-loss-fun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434" y="988150"/>
            <a:ext cx="3949700" cy="194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77935" y="6298982"/>
            <a:ext cx="679132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hlinkClick r:id="rId3"/>
              </a:rPr>
              <a:t>https://www.lokad.com/ru/вероятностное-прогнозирование-определение/</a:t>
            </a:r>
            <a:r>
              <a:rPr lang="ru-RU" sz="1200" dirty="0"/>
              <a:t> 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03130" y="6492803"/>
            <a:ext cx="3747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>
                <a:hlinkClick r:id="rId4"/>
              </a:rPr>
              <a:t>https://www.lokad.com/pinball-loss-function-definition/</a:t>
            </a:r>
            <a:r>
              <a:rPr lang="ru-RU" sz="12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200" b="0" i="1" dirty="0">
                    <a:latin typeface="Cambria Math" panose="02040503050406030204" pitchFamily="18" charset="0"/>
                  </a:rPr>
                  <a:t>Квантильный </a:t>
                </a:r>
                <a:r>
                  <a:rPr lang="ru-RU" sz="2200" b="0" i="1" dirty="0" err="1">
                    <a:latin typeface="Cambria Math" panose="02040503050406030204" pitchFamily="18" charset="0"/>
                  </a:rPr>
                  <a:t>лосс</a:t>
                </a:r>
                <a:endParaRPr lang="ru-RU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где τ – квантиль,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sz="2200" dirty="0"/>
                  <a:t> - прогноз нужного квантиля,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2200" dirty="0"/>
                  <a:t> – истинное значение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 err="1"/>
                  <a:t>Квантильный</a:t>
                </a:r>
                <a:r>
                  <a:rPr lang="ru-RU" sz="2200" dirty="0"/>
                  <a:t> прогноз смещенный: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τ=0.5 → медианный прогноз (устойчив к выбросам).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</a:t>
                </a:r>
                <a:r>
                  <a:rPr lang="en-US" sz="2200" dirty="0"/>
                  <a:t>&gt;</a:t>
                </a:r>
                <a:r>
                  <a:rPr lang="ru-RU" sz="2200" dirty="0"/>
                  <a:t>0.5</a:t>
                </a:r>
                <a:r>
                  <a:rPr lang="en-US" sz="2200" dirty="0"/>
                  <a:t>  - </a:t>
                </a:r>
                <a:r>
                  <a:rPr lang="ru-RU" sz="2200" dirty="0"/>
                  <a:t>завышенные предсказания штрафуются сильнее.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τ=0.9</a:t>
                </a:r>
                <a:r>
                  <a:rPr lang="en-US" sz="2200" dirty="0"/>
                  <a:t>5</a:t>
                </a:r>
                <a:r>
                  <a:rPr lang="ru-RU" sz="2200" dirty="0"/>
                  <a:t> → оценка 9</a:t>
                </a:r>
                <a:r>
                  <a:rPr lang="en-US" sz="2200" dirty="0"/>
                  <a:t>5</a:t>
                </a:r>
                <a:r>
                  <a:rPr lang="ru-RU" sz="2200" dirty="0"/>
                  <a:t>%-</a:t>
                </a:r>
                <a:r>
                  <a:rPr lang="ru-RU" sz="2200" dirty="0" err="1"/>
                  <a:t>го</a:t>
                </a:r>
                <a:r>
                  <a:rPr lang="ru-RU" sz="2200" dirty="0"/>
                  <a:t> квантиля </a:t>
                </a:r>
                <a:r>
                  <a:rPr lang="en-US" sz="2200" dirty="0"/>
                  <a:t>-</a:t>
                </a:r>
                <a:r>
                  <a:rPr lang="ru-RU" sz="2200" dirty="0"/>
                  <a:t>редкие</a:t>
                </a:r>
                <a:r>
                  <a:rPr lang="en-US" sz="2200" dirty="0"/>
                  <a:t> </a:t>
                </a:r>
                <a:r>
                  <a:rPr lang="ru-RU" sz="2200" dirty="0"/>
                  <a:t>выбросы штрафуются сильнее (хвосты, полезно в случае дорогих рисков)</a:t>
                </a:r>
              </a:p>
              <a:p>
                <a:pPr marL="0" indent="0">
                  <a:buNone/>
                </a:pPr>
                <a:r>
                  <a:rPr lang="ru-RU" sz="2400" b="1" dirty="0"/>
                  <a:t>Применение: контроль хвостов распределения</a:t>
                </a:r>
              </a:p>
              <a:p>
                <a:endParaRPr lang="ru-RU" i="1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1" name="Объект 2">
                <a:extLst>
                  <a:ext uri="{FF2B5EF4-FFF2-40B4-BE49-F238E27FC236}">
                    <a16:creationId xmlns:a16="http://schemas.microsoft.com/office/drawing/2014/main" id="{343C449D-D68B-64B7-B076-716F7EB3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72" y="766817"/>
                <a:ext cx="7708818" cy="5346944"/>
              </a:xfrm>
              <a:prstGeom prst="rect">
                <a:avLst/>
              </a:prstGeom>
              <a:blipFill>
                <a:blip r:embed="rId5"/>
                <a:stretch>
                  <a:fillRect l="-1186" t="-14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4292599" y="6517107"/>
            <a:ext cx="79152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hlinkClick r:id="rId6"/>
              </a:rPr>
              <a:t>https://towardsdatascience.com/an-introduction-to-quantile-loss-a-k-a-the-pinball-loss-33cccac378a9/</a:t>
            </a:r>
            <a:r>
              <a:rPr lang="ru-RU" sz="1400" dirty="0"/>
              <a:t> </a:t>
            </a:r>
          </a:p>
        </p:txBody>
      </p:sp>
      <p:pic>
        <p:nvPicPr>
          <p:cNvPr id="2053" name="Picture 5" descr="Image by author"/>
          <p:cNvPicPr>
            <a:picLocks noChangeAspect="1" noChangeArrowheads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398" y="3081884"/>
            <a:ext cx="4085402" cy="266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Пусть τ = 0.9 (оцениваем 90%-й квантиль).</a:t>
                </a:r>
              </a:p>
              <a:p>
                <a:r>
                  <a:rPr lang="ru-RU" dirty="0"/>
                  <a:t>Если истинное значение y = 100, а прогноз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= 95:</a:t>
                </a:r>
              </a:p>
              <a:p>
                <a:pPr lvl="1"/>
                <a:r>
                  <a:rPr lang="ru-RU" dirty="0"/>
                  <a:t>Ошибка: 100 – 95 = 5.</a:t>
                </a:r>
                <a:r>
                  <a:rPr lang="en-US" dirty="0"/>
                  <a:t> </a:t>
                </a:r>
                <a:r>
                  <a:rPr lang="ru-RU" dirty="0"/>
                  <a:t>Штраф: τ × 5 = 0.9 × 5 = 4.5.</a:t>
                </a:r>
              </a:p>
              <a:p>
                <a:r>
                  <a:rPr lang="ru-RU" dirty="0"/>
                  <a:t>Если y = 90,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ru-RU" dirty="0"/>
                  <a:t> = 95:</a:t>
                </a:r>
              </a:p>
              <a:p>
                <a:pPr lvl="1"/>
                <a:r>
                  <a:rPr lang="ru-RU" dirty="0"/>
                  <a:t>Ошибка: 95 – 90 = 5.</a:t>
                </a:r>
                <a:r>
                  <a:rPr lang="en-US" dirty="0"/>
                  <a:t> </a:t>
                </a:r>
                <a:r>
                  <a:rPr lang="ru-RU" dirty="0"/>
                  <a:t>Штраф: (1–τ) × 5 = 0.1 × 5 = 0.5.</a:t>
                </a: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0" y="4960154"/>
                <a:ext cx="6096000" cy="1477328"/>
              </a:xfrm>
              <a:prstGeom prst="rect">
                <a:avLst/>
              </a:prstGeom>
              <a:blipFill>
                <a:blip r:embed="rId8"/>
                <a:stretch>
                  <a:fillRect l="-800" t="-2479" b="-57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func>
                          <m:func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6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sz="1600" dirty="0"/>
                  <a:t> </a:t>
                </a:r>
                <a:endParaRPr lang="ru-RU" sz="1600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279" y="5939892"/>
                <a:ext cx="5556521" cy="441275"/>
              </a:xfrm>
              <a:prstGeom prst="rect">
                <a:avLst/>
              </a:prstGeom>
              <a:blipFill>
                <a:blip r:embed="rId9"/>
                <a:stretch>
                  <a:fillRect t="-71233" b="-1178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823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Идеальный интервал должен: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Покрывать</a:t>
                </a:r>
                <a:r>
                  <a:rPr lang="ru-RU" sz="2000" dirty="0"/>
                  <a:t> истинные значения с нужной вероятностью</a:t>
                </a:r>
                <a:br>
                  <a:rPr lang="ru-RU" sz="2000" dirty="0"/>
                </a:br>
                <a:r>
                  <a:rPr lang="ru-RU" sz="2000" dirty="0"/>
                  <a:t> (</a:t>
                </a:r>
                <a:r>
                  <a:rPr lang="ru-RU" sz="2000" dirty="0" err="1"/>
                  <a:t>напр</a:t>
                </a:r>
                <a:r>
                  <a:rPr lang="ru-RU" sz="2000" dirty="0"/>
                  <a:t>, 95% точек внутри интервала).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Быть </a:t>
                </a:r>
                <a:r>
                  <a:rPr lang="ru-RU" sz="2000" b="1" dirty="0"/>
                  <a:t>узким</a:t>
                </a:r>
                <a:r>
                  <a:rPr lang="ru-RU" sz="2000" dirty="0"/>
                  <a:t> (меньшая неопределенность лучше).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b="1" dirty="0"/>
                  <a:t>Симметрично</a:t>
                </a:r>
                <a:r>
                  <a:rPr lang="ru-RU" sz="2000" dirty="0"/>
                  <a:t> реагировать на ошибки вверх/вниз</a:t>
                </a:r>
              </a:p>
              <a:p>
                <a:pPr marL="0" indent="0">
                  <a:buNone/>
                </a:pPr>
                <a:r>
                  <a:rPr lang="ru-RU" sz="2000" b="1" dirty="0" err="1"/>
                  <a:t>Coverage</a:t>
                </a:r>
                <a:r>
                  <a:rPr lang="ru-RU" sz="2000" dirty="0"/>
                  <a:t> (Покрытие)</a:t>
                </a:r>
                <a:endParaRPr lang="ru-RU" sz="2000" b="1" dirty="0"/>
              </a:p>
              <a:p>
                <a:r>
                  <a:rPr lang="ru-RU" sz="2000" dirty="0"/>
                  <a:t>Доля случаев, когда фактическое значение попало в доверительный интервал.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𝐶𝑜𝑣𝑒𝑟𝑎𝑔𝑒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Число попаданий</m:t>
                        </m:r>
                      </m:num>
                      <m:den>
                        <m:r>
                          <a:rPr lang="ru-RU" sz="2000" i="1" dirty="0">
                            <a:latin typeface="Cambria Math" panose="02040503050406030204" pitchFamily="18" charset="0"/>
                          </a:rPr>
                          <m:t>Общее число прогнозов</m:t>
                        </m:r>
                      </m:den>
                    </m:f>
                  </m:oMath>
                </a14:m>
                <a:r>
                  <a:rPr lang="ru-RU" sz="2000" dirty="0"/>
                  <a:t>​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b="0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</m:s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ru-RU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 dirty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0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h𝑖𝑔h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ru-RU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</a:p>
              <a:p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ru-RU" sz="2000" dirty="0"/>
                  <a:t> — индикаторная функция (1, если условие выполняется, иначе 0)</a:t>
                </a:r>
                <a:endParaRPr lang="en-US" sz="20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ru-RU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оценки интервала,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  <m:r>
                          <a:rPr 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000" dirty="0"/>
                  <a:t> - число попаданий в оценки интервала</a:t>
                </a:r>
              </a:p>
              <a:p>
                <a:pPr lvl="1"/>
                <a:r>
                  <a:rPr lang="ru-RU" sz="2000" dirty="0"/>
                  <a:t>Например, для 95%-</a:t>
                </a:r>
                <a:r>
                  <a:rPr lang="ru-RU" sz="2000" dirty="0" err="1"/>
                  <a:t>го</a:t>
                </a:r>
                <a:r>
                  <a:rPr lang="ru-RU" sz="2000" dirty="0"/>
                  <a:t> интервала ожидается покрытие около 95%.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ru-RU" sz="2000" b="1" dirty="0" err="1"/>
                  <a:t>Mean</a:t>
                </a:r>
                <a:r>
                  <a:rPr lang="ru-RU" sz="2000" b="1" dirty="0"/>
                  <a:t> </a:t>
                </a:r>
                <a:r>
                  <a:rPr lang="ru-RU" sz="2000" b="1" dirty="0" err="1"/>
                  <a:t>Width</a:t>
                </a:r>
                <a:r>
                  <a:rPr lang="ru-RU" sz="2000" b="1" dirty="0"/>
                  <a:t> </a:t>
                </a:r>
                <a:r>
                  <a:rPr lang="ru-RU" sz="2000" dirty="0"/>
                  <a:t>(Средняя ширина интервала)</a:t>
                </a:r>
                <a:endParaRPr lang="ru-RU" sz="2000" b="1" dirty="0"/>
              </a:p>
              <a:p>
                <a:r>
                  <a:rPr lang="ru-RU" sz="2000" dirty="0"/>
                  <a:t>Мера неопределённости: чем уже интервал, тем точнее модель при той же уверенности.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dirty="0">
                        <a:solidFill>
                          <a:srgbClr val="000000"/>
                        </a:solidFill>
                        <a:latin typeface="Calibri" panose="020F0502020204030204" pitchFamily="34" charset="0"/>
                      </a:rPr>
                      <m:t>PINAW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den>
                    </m:f>
                    <m:r>
                      <a:rPr lang="en-US" sz="20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h𝑖𝑔h</m:t>
                            </m:r>
                          </m:sub>
                        </m:sSub>
                        <m: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ru-RU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нормированная ширина интервала</m:t>
                    </m:r>
                  </m:oMath>
                </a14:m>
                <a:endParaRPr lang="ru-RU" sz="2000" dirty="0"/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582" y="619868"/>
                <a:ext cx="9147060" cy="5958673"/>
              </a:xfrm>
              <a:blipFill>
                <a:blip r:embed="rId3"/>
                <a:stretch>
                  <a:fillRect l="-666" t="-614" b="-2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интервала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138057" y="6547118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https://nixtlaverse.nixtla.io/mlforecast/docs/tutorials/prediction_intervals_in_forecasting_models.html</a:t>
            </a:r>
          </a:p>
        </p:txBody>
      </p:sp>
      <p:pic>
        <p:nvPicPr>
          <p:cNvPr id="12290" name="Picture 2" descr="r - Confidence Intervals for Mean Difference between Actuals and Forecast -  Cross Validat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4804" y="776748"/>
            <a:ext cx="3060614" cy="218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9312173" y="5567085"/>
            <a:ext cx="2714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https://stats.stackexchange.com/questions/323071/confidence-intervals-for-mean-difference-between-actuals-and-forecast</a:t>
            </a:r>
          </a:p>
        </p:txBody>
      </p:sp>
      <p:pic>
        <p:nvPicPr>
          <p:cNvPr id="12292" name="Picture 4" descr="enter image description he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041" y="3049941"/>
            <a:ext cx="2890140" cy="233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741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i="1" dirty="0"/>
                  <a:t>Оценка покрытия всего распределения:</a:t>
                </a:r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𝐶𝑅𝐼𝑆𝑃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ru-RU" sz="2000" dirty="0"/>
                  <a:t>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ru-RU" sz="2000" dirty="0"/>
                  <a:t>—</a:t>
                </a:r>
                <a:r>
                  <a:rPr lang="en-US" sz="2000" dirty="0"/>
                  <a:t> </a:t>
                </a:r>
                <a:r>
                  <a:rPr lang="ru-RU" sz="2000" dirty="0"/>
                  <a:t>оценка кумулятивного распределение для х,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ru-RU" sz="2000" i="1" dirty="0" smtClean="0">
                        <a:latin typeface="Cambria Math" panose="02040503050406030204" pitchFamily="18" charset="0"/>
                      </a:rPr>
                      <m:t>(х</m:t>
                    </m:r>
                    <m:r>
                      <a:rPr lang="ru-RU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,0)/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2000" dirty="0"/>
                  <a:t> (ступенька) )— это функция </a:t>
                </a:r>
                <a:r>
                  <a:rPr lang="ru-RU" sz="2000" dirty="0" err="1"/>
                  <a:t>Хевисайда</a:t>
                </a:r>
                <a:r>
                  <a:rPr lang="en-US" sz="2000" dirty="0"/>
                  <a:t> </a:t>
                </a:r>
                <a:endParaRPr lang="ru-RU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>
                    <a:latin typeface="Roboto" panose="02000000000000000000" pitchFamily="2" charset="0"/>
                  </a:rPr>
                  <a:t>Функция сравнивает распределение с единичной ступенью</a:t>
                </a:r>
                <a:endParaRPr lang="ru-RU" sz="2000" i="1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i="1" dirty="0"/>
                  <a:t>Чем больше площадь между кривыми – тем хуже прогноз.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Плюсы</a:t>
                </a:r>
                <a:r>
                  <a:rPr lang="ru-RU" sz="2000" dirty="0"/>
                  <a:t>: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Учитывает все распределение прогноза.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Интерпретируемость результатов.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Минусы</a:t>
                </a:r>
                <a:r>
                  <a:rPr lang="ru-RU" sz="2000" dirty="0"/>
                  <a:t>: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сложность вычисления, 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требуется набор моделей (аппроксимация распределения)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или гипотеза о распределение остатков.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значимость отдельных квантилей теряется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b="1" dirty="0"/>
                  <a:t>Применение</a:t>
                </a:r>
                <a:r>
                  <a:rPr lang="ru-RU" sz="2000" dirty="0"/>
                  <a:t>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сравнение двух вероятностных моделей или гипотез об остатках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789" y="762801"/>
                <a:ext cx="7047650" cy="5958673"/>
              </a:xfrm>
              <a:blipFill>
                <a:blip r:embed="rId3"/>
                <a:stretch>
                  <a:fillRect l="-865" t="-4908" r="-7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233633" y="181378"/>
            <a:ext cx="11551584" cy="594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/>
              <a:t>Оценка распределения </a:t>
            </a:r>
            <a:r>
              <a:rPr lang="ru-RU" b="1" dirty="0" err="1"/>
              <a:t>пресдказания</a:t>
            </a:r>
            <a:r>
              <a:rPr lang="ru-RU" b="1" dirty="0"/>
              <a:t> ВР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4"/>
          <a:srcRect t="4284" r="10817" b="13293"/>
          <a:stretch/>
        </p:blipFill>
        <p:spPr>
          <a:xfrm>
            <a:off x="7228839" y="797688"/>
            <a:ext cx="4124961" cy="2514369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536155" y="3472863"/>
            <a:ext cx="44046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Roboto" panose="02000000000000000000" pitchFamily="2" charset="0"/>
              </a:rPr>
              <a:t>Функция сравнивает распределение с единичной ступенью - </a:t>
            </a:r>
            <a:r>
              <a:rPr lang="ru-RU" dirty="0"/>
              <a:t>Обобщение </a:t>
            </a:r>
            <a:r>
              <a:rPr lang="en-US" dirty="0"/>
              <a:t>MAE </a:t>
            </a:r>
            <a:r>
              <a:rPr lang="ru-RU" dirty="0"/>
              <a:t>на распределения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𝐶𝑅𝐼𝑆𝑃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, </a:t>
                </a:r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438" y="4247878"/>
                <a:ext cx="4618501" cy="484043"/>
              </a:xfrm>
              <a:prstGeom prst="rect">
                <a:avLst/>
              </a:prstGeom>
              <a:blipFill>
                <a:blip r:embed="rId5"/>
                <a:stretch>
                  <a:fillRect t="-79747" b="-1316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CRPS —"усредненный"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Pinball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:r>
                  <a:rPr lang="ru-RU" sz="1400" dirty="0" err="1">
                    <a:solidFill>
                      <a:srgbClr val="404040"/>
                    </a:solidFill>
                    <a:latin typeface="quote-cjk-patch"/>
                  </a:rPr>
                  <a:t>Loss</a:t>
                </a:r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 по всем квантилям</a:t>
                </a:r>
                <a:r>
                  <a:rPr lang="en-US" sz="1400" dirty="0">
                    <a:solidFill>
                      <a:srgbClr val="404040"/>
                    </a:solidFill>
                    <a:latin typeface="quote-cjk-patc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endParaRPr lang="ru-RU" sz="1400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859" y="4662697"/>
                <a:ext cx="4279285" cy="523220"/>
              </a:xfrm>
              <a:prstGeom prst="rect">
                <a:avLst/>
              </a:prstGeom>
              <a:blipFill>
                <a:blip r:embed="rId6"/>
                <a:stretch>
                  <a:fillRect l="-427" t="-13953" b="-906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/>
          <p:cNvSpPr/>
          <p:nvPr/>
        </p:nvSpPr>
        <p:spPr>
          <a:xfrm>
            <a:off x="6021554" y="6517156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https://sites.stat.washington.edu/raftery/Research/PDF/Gneiting2007jasa.pdf</a:t>
            </a: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7239008" y="3464253"/>
            <a:ext cx="0" cy="2920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1400" dirty="0">
                    <a:solidFill>
                      <a:srgbClr val="404040"/>
                    </a:solidFill>
                    <a:latin typeface="quote-cjk-patch"/>
                  </a:rPr>
                  <a:t>Альтернатива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𝐿𝑜𝑔𝑆𝑐𝑜𝑟𝑒</m:t>
                    </m:r>
                    <m:r>
                      <a:rPr lang="en-US" sz="1400" i="1" dirty="0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1400" b="0" i="1" dirty="0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sSup>
                          <m:sSup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</m:acc>
                          </m:e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US" sz="1400" b="0" dirty="0">
                  <a:solidFill>
                    <a:srgbClr val="404040"/>
                  </a:solidFill>
                  <a:latin typeface="quote-cjk-patch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US" sz="1400" dirty="0"/>
                  <a:t>-</a:t>
                </a:r>
                <a:r>
                  <a:rPr lang="ru-RU" sz="1400" dirty="0"/>
                  <a:t>плотность распределения</a:t>
                </a:r>
                <a:r>
                  <a:rPr lang="en-US" sz="1400" dirty="0"/>
                  <a:t> </a:t>
                </a:r>
                <a:r>
                  <a:rPr lang="ru-RU" sz="1400" dirty="0"/>
                  <a:t>оценки на шаге </a:t>
                </a:r>
                <a:r>
                  <a:rPr lang="en-US" sz="1400" dirty="0" err="1"/>
                  <a:t>i</a:t>
                </a:r>
                <a:endParaRPr lang="ru-RU" sz="1400" dirty="0"/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565" y="5279000"/>
                <a:ext cx="4279285" cy="618952"/>
              </a:xfrm>
              <a:prstGeom prst="rect">
                <a:avLst/>
              </a:prstGeom>
              <a:blipFill>
                <a:blip r:embed="rId7"/>
                <a:stretch>
                  <a:fillRect l="-427" t="-43137" b="-362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Прямая соединительная линия 20"/>
          <p:cNvCxnSpPr/>
          <p:nvPr/>
        </p:nvCxnSpPr>
        <p:spPr>
          <a:xfrm flipV="1">
            <a:off x="7665578" y="5227032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/>
              <p:cNvSpPr/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dirty="0"/>
                  <a:t>Можно ввести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𝑆𝐹𝐶𝑅𝐼𝑆𝑃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𝑚𝑜𝑑𝑒𝑙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𝐶𝑅𝐼𝑆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𝑛𝑎𝑖𝑣𝑒</m:t>
                            </m:r>
                          </m:sub>
                        </m:sSub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2" name="Прямоугольник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0825" y="5935062"/>
                <a:ext cx="5035353" cy="523477"/>
              </a:xfrm>
              <a:prstGeom prst="rect">
                <a:avLst/>
              </a:prstGeom>
              <a:blipFill>
                <a:blip r:embed="rId8"/>
                <a:stretch>
                  <a:fillRect l="-1090" b="-1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Прямая соединительная линия 22"/>
          <p:cNvCxnSpPr/>
          <p:nvPr/>
        </p:nvCxnSpPr>
        <p:spPr>
          <a:xfrm flipV="1">
            <a:off x="7610780" y="5905834"/>
            <a:ext cx="3688222" cy="21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3112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9037</TotalTime>
  <Words>2275</Words>
  <Application>Microsoft Office PowerPoint</Application>
  <PresentationFormat>Широкоэкранный</PresentationFormat>
  <Paragraphs>467</Paragraphs>
  <Slides>19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KaTeX_Main</vt:lpstr>
      <vt:lpstr>Merriweather</vt:lpstr>
      <vt:lpstr>MJXc-TeX-main-R</vt:lpstr>
      <vt:lpstr>MJXc-TeX-math-I</vt:lpstr>
      <vt:lpstr>quote-cjk-patch</vt:lpstr>
      <vt:lpstr>Roboto</vt:lpstr>
      <vt:lpstr>Segoe UI</vt:lpstr>
      <vt:lpstr>system-ui</vt:lpstr>
      <vt:lpstr>Times New Roman</vt:lpstr>
      <vt:lpstr>Тема Office 2013–2022</vt:lpstr>
      <vt:lpstr>Метрики анализа ВР</vt:lpstr>
      <vt:lpstr>Остатки и метрики модели</vt:lpstr>
      <vt:lpstr>Типы метрик во временных рядах</vt:lpstr>
      <vt:lpstr>Точечные абсолютные ошибки</vt:lpstr>
      <vt:lpstr>Точечные относительные ошибки</vt:lpstr>
      <vt:lpstr>Альтернативные точечные ошибки</vt:lpstr>
      <vt:lpstr>Таблица некоторых точечных метрик</vt:lpstr>
      <vt:lpstr>Экзотические метрики</vt:lpstr>
      <vt:lpstr>Оценка качества пресдказания ВР</vt:lpstr>
      <vt:lpstr>Необходимость вероятностных оценок</vt:lpstr>
      <vt:lpstr>Необходимость вероятностных оценок</vt:lpstr>
      <vt:lpstr>Необходимость вероятностных оценок</vt:lpstr>
      <vt:lpstr>Наивная оценка СКО</vt:lpstr>
      <vt:lpstr>Наивная оценка СКО</vt:lpstr>
      <vt:lpstr>Необходимость вероятностных оценок</vt:lpstr>
      <vt:lpstr>Необходимость вероятностных оценок</vt:lpstr>
      <vt:lpstr>Квантильная оценка качества пресдказания ВР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268</cp:revision>
  <dcterms:created xsi:type="dcterms:W3CDTF">2021-10-31T10:57:36Z</dcterms:created>
  <dcterms:modified xsi:type="dcterms:W3CDTF">2025-07-25T13:47:48Z</dcterms:modified>
</cp:coreProperties>
</file>