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36" r:id="rId14"/>
    <p:sldId id="448" r:id="rId15"/>
    <p:sldId id="445" r:id="rId16"/>
    <p:sldId id="454" r:id="rId17"/>
    <p:sldId id="462" r:id="rId18"/>
    <p:sldId id="463" r:id="rId19"/>
    <p:sldId id="455" r:id="rId20"/>
    <p:sldId id="464" r:id="rId21"/>
    <p:sldId id="446" r:id="rId22"/>
    <p:sldId id="451" r:id="rId23"/>
    <p:sldId id="450" r:id="rId24"/>
    <p:sldId id="452" r:id="rId25"/>
    <p:sldId id="47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3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18" autoAdjust="0"/>
    <p:restoredTop sz="96301"/>
  </p:normalViewPr>
  <p:slideViewPr>
    <p:cSldViewPr snapToGrid="0">
      <p:cViewPr varScale="1">
        <p:scale>
          <a:sx n="126" d="100"/>
          <a:sy n="126" d="100"/>
        </p:scale>
        <p:origin x="76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.me/youknowds/10517" TargetMode="External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s.hse.ru/mirror/pubs/share/1017921910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se.ru/data/2014/11/13/1311639964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356144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</a:t>
            </a:r>
            <a:r>
              <a:rPr lang="ru-RU" sz="8000" b="1" dirty="0" smtClean="0"/>
              <a:t>. Основные понятия, разложение ВР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534499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B382E1-FD66-F7B2-B0CD-BCDC07F5F9B2}"/>
              </a:ext>
            </a:extLst>
          </p:cNvPr>
          <p:cNvSpPr txBox="1"/>
          <p:nvPr/>
        </p:nvSpPr>
        <p:spPr>
          <a:xfrm>
            <a:off x="73799" y="6305976"/>
            <a:ext cx="88931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https://t.me/youknowds/10517</a:t>
            </a:r>
            <a:r>
              <a:rPr lang="ru-RU" sz="1200" dirty="0"/>
              <a:t> -</a:t>
            </a:r>
            <a:r>
              <a:rPr lang="en-US" sz="1200" dirty="0"/>
              <a:t>&gt; </a:t>
            </a:r>
            <a:r>
              <a:rPr lang="en-US" sz="1200" dirty="0">
                <a:hlinkClick r:id="rId4"/>
              </a:rPr>
              <a:t>https://cs.hse.ru/mirror/pubs/share/1017921910.pdf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304020" y="3048000"/>
            <a:ext cx="1082040" cy="2209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foundation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5767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96089" y="656467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https://readmedium.com/a-brief-history-of-time-series-models-38455c2cd78d</a:t>
            </a:r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8645650"/>
              </p:ext>
            </p:extLst>
          </p:nvPr>
        </p:nvGraphicFramePr>
        <p:xfrm>
          <a:off x="300443" y="587484"/>
          <a:ext cx="11521444" cy="58624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r>
                        <a:rPr lang="en-US" sz="1600" u="none" strike="noStrike" dirty="0">
                          <a:effectLst/>
                        </a:rPr>
                        <a:t/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r>
                        <a:rPr lang="ru-RU" sz="1800" u="none" strike="noStrike" dirty="0">
                          <a:effectLst/>
                        </a:rPr>
                        <a:t/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62" y="25399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 Экспоненциальное сглаживание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840761"/>
            <a:ext cx="11449049" cy="56201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Часто требуется предсказание будущих значений достаточно простых временных рядов, состоящий преимущественно из одной трендовой и сезонной составляющих понятного вида.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Данные кажутся достаточно шумными, возникает необходимость сглаживания</a:t>
            </a:r>
            <a:endParaRPr lang="en-US" sz="2400" dirty="0"/>
          </a:p>
        </p:txBody>
      </p:sp>
      <p:pic>
        <p:nvPicPr>
          <p:cNvPr id="2050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889" t="30766" r="279" b="36461"/>
          <a:stretch/>
        </p:blipFill>
        <p:spPr bwMode="auto">
          <a:xfrm>
            <a:off x="5164108" y="2531961"/>
            <a:ext cx="2028826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" r="22857"/>
          <a:stretch/>
        </p:blipFill>
        <p:spPr bwMode="auto">
          <a:xfrm>
            <a:off x="109842" y="3498799"/>
            <a:ext cx="4322284" cy="2933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3" t="39470" r="158" b="39260"/>
          <a:stretch/>
        </p:blipFill>
        <p:spPr bwMode="auto">
          <a:xfrm>
            <a:off x="523875" y="2860940"/>
            <a:ext cx="1676400" cy="78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" t="257" r="30252" b="864"/>
          <a:stretch/>
        </p:blipFill>
        <p:spPr bwMode="auto">
          <a:xfrm>
            <a:off x="4249131" y="3564797"/>
            <a:ext cx="4158410" cy="295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96001" y="3414394"/>
            <a:ext cx="44338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Fira Sans"/>
              </a:rPr>
              <a:t>Forecasts of daily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pageviews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on the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Hyndsight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blog.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23849" y="6501786"/>
            <a:ext cx="41781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https://otexts.com/fpp2/holt-winters.html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2753" y="6460924"/>
            <a:ext cx="78200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9" name="AutoShape 6" descr="es0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4"/>
          <a:srcRect r="36289"/>
          <a:stretch/>
        </p:blipFill>
        <p:spPr>
          <a:xfrm>
            <a:off x="8133048" y="3783857"/>
            <a:ext cx="3828620" cy="252139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8848621" y="3498799"/>
            <a:ext cx="3215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22222"/>
                </a:solidFill>
                <a:latin typeface="Fira Sans"/>
              </a:rPr>
              <a:t>Температурные показания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699159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r>
                  <a:rPr lang="en-US" altLang="ru-RU" sz="1800" dirty="0">
                    <a:cs typeface="Times New Roman" panose="02020603050405020304" pitchFamily="18" charset="0"/>
                  </a:rPr>
                  <a:t/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000" i="1" dirty="0">
                    <a:cs typeface="Times New Roman" panose="02020603050405020304" pitchFamily="18" charset="0"/>
                  </a:rPr>
                  <a:t/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08" y="127639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619041"/>
            <a:ext cx="11620982" cy="5677794"/>
          </a:xfrm>
        </p:spPr>
        <p:txBody>
          <a:bodyPr>
            <a:normAutofit lnSpcReduction="10000"/>
          </a:bodyPr>
          <a:lstStyle/>
          <a:p>
            <a:r>
              <a:rPr lang="ru-RU" sz="2300" dirty="0"/>
              <a:t>Сезонность не всегда очевидна, </a:t>
            </a:r>
          </a:p>
          <a:p>
            <a:pPr lvl="1"/>
            <a:r>
              <a:rPr lang="ru-RU" sz="23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300" dirty="0"/>
              <a:t>Сезонность важно не спутать с цикличностью особенно для коротких ВР</a:t>
            </a:r>
          </a:p>
          <a:p>
            <a:r>
              <a:rPr lang="ru-RU" sz="2300" dirty="0"/>
              <a:t>Сезонность можно определить </a:t>
            </a:r>
          </a:p>
          <a:p>
            <a:pPr lvl="1"/>
            <a:r>
              <a:rPr lang="ru-RU" sz="2300" dirty="0"/>
              <a:t>при сравнении сегментов размером с 1 или несколько сезонов (визуально</a:t>
            </a:r>
            <a:r>
              <a:rPr lang="en-US" sz="2300" dirty="0"/>
              <a:t> </a:t>
            </a:r>
            <a:r>
              <a:rPr lang="ru-RU" sz="2300" dirty="0"/>
              <a:t>разброс, </a:t>
            </a:r>
            <a:r>
              <a:rPr lang="ru-RU" sz="2300" dirty="0" err="1"/>
              <a:t>box</a:t>
            </a:r>
            <a:r>
              <a:rPr lang="en-US" sz="2300" dirty="0"/>
              <a:t>plot,</a:t>
            </a:r>
            <a:r>
              <a:rPr lang="ru-RU" sz="2300" dirty="0"/>
              <a:t> сравнение остатков вычитания сезонностей)</a:t>
            </a:r>
          </a:p>
          <a:p>
            <a:pPr lvl="1"/>
            <a:r>
              <a:rPr lang="ru-RU" sz="2300" dirty="0"/>
              <a:t>Анализом ВР после сезонного дифференцирования</a:t>
            </a:r>
          </a:p>
          <a:p>
            <a:pPr lvl="1"/>
            <a:r>
              <a:rPr lang="ru-RU" sz="2300" dirty="0"/>
              <a:t>Путем разложения ВР на сезонные компоненты</a:t>
            </a:r>
          </a:p>
          <a:p>
            <a:r>
              <a:rPr lang="ru-RU" sz="2300" dirty="0"/>
              <a:t>Сезонность видна по графикам ACF</a:t>
            </a:r>
            <a:r>
              <a:rPr lang="en-US" sz="2300" dirty="0"/>
              <a:t>/PACF </a:t>
            </a:r>
            <a:r>
              <a:rPr lang="ru-RU" sz="2300" dirty="0"/>
              <a:t>как всплески лагов на соответствующих периодах</a:t>
            </a:r>
          </a:p>
          <a:p>
            <a:pPr lvl="1"/>
            <a:r>
              <a:rPr lang="ru-RU" sz="2300" dirty="0"/>
              <a:t>Чтобы не спутать с цикличностью можно провести </a:t>
            </a:r>
            <a:r>
              <a:rPr lang="ru-RU" sz="2300" dirty="0" err="1"/>
              <a:t>модицфицированный</a:t>
            </a:r>
            <a:r>
              <a:rPr lang="ru-RU" sz="2300" dirty="0"/>
              <a:t> тест </a:t>
            </a:r>
            <a:r>
              <a:rPr lang="ru-RU" sz="2300" dirty="0" err="1"/>
              <a:t>Льюнга</a:t>
            </a:r>
            <a:r>
              <a:rPr lang="ru-RU" sz="2300" dirty="0"/>
              <a:t>-Бокса. Основная идея – нормировка для лагов сезонности (</a:t>
            </a:r>
            <a:r>
              <a:rPr lang="ru-RU" sz="2300" dirty="0" err="1"/>
              <a:t>напр</a:t>
            </a:r>
            <a:r>
              <a:rPr lang="ru-RU" sz="2300" dirty="0"/>
              <a:t> 12,24)</a:t>
            </a:r>
          </a:p>
          <a:p>
            <a:pPr lvl="1"/>
            <a:r>
              <a:rPr lang="ru-RU" sz="2300" b="1" dirty="0"/>
              <a:t>QS</a:t>
            </a:r>
            <a:r>
              <a:rPr lang="en-US" sz="2300" b="1" dirty="0"/>
              <a:t> </a:t>
            </a:r>
            <a:r>
              <a:rPr lang="en-US" sz="2300" b="1" dirty="0" err="1"/>
              <a:t>те</a:t>
            </a:r>
            <a:r>
              <a:rPr lang="ru-RU" sz="2300" b="1" dirty="0" err="1"/>
              <a:t>ст</a:t>
            </a:r>
            <a:r>
              <a:rPr lang="ru-RU" sz="2300" b="1" dirty="0"/>
              <a:t>: вариант </a:t>
            </a:r>
            <a:r>
              <a:rPr lang="ru-RU" sz="2300" dirty="0"/>
              <a:t>тест </a:t>
            </a:r>
            <a:r>
              <a:rPr lang="ru-RU" sz="2300" dirty="0" err="1"/>
              <a:t>Льюнга</a:t>
            </a:r>
            <a:r>
              <a:rPr lang="ru-RU" sz="2300" dirty="0"/>
              <a:t>-Бокса только на позитивных лага</a:t>
            </a:r>
            <a:endParaRPr lang="ru-RU" sz="2300" b="1" dirty="0"/>
          </a:p>
          <a:p>
            <a:r>
              <a:rPr lang="ru-RU" sz="2300" dirty="0"/>
              <a:t>Тест на стабильность сезонности Кановы-Хансена (</a:t>
            </a:r>
            <a:r>
              <a:rPr lang="en" sz="2300" dirty="0"/>
              <a:t>Canova-Hansen Test</a:t>
            </a:r>
            <a:r>
              <a:rPr lang="ru-RU" sz="2300" dirty="0"/>
              <a:t>, </a:t>
            </a:r>
            <a:r>
              <a:rPr lang="en" sz="2300" dirty="0" err="1"/>
              <a:t>CHTest</a:t>
            </a:r>
            <a:r>
              <a:rPr lang="en" sz="2300" dirty="0"/>
              <a:t>)</a:t>
            </a:r>
            <a:r>
              <a:rPr lang="ru-RU" sz="2300" dirty="0"/>
              <a:t>:</a:t>
            </a:r>
          </a:p>
          <a:p>
            <a:pPr lvl="2"/>
            <a:r>
              <a:rPr lang="ru-RU" sz="2300" dirty="0"/>
              <a:t>Стабильность сезонных компонент во времени – отбор нужных компонент и анализ их изменчивости</a:t>
            </a:r>
            <a:endParaRPr lang="en" sz="23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523024"/>
            <a:ext cx="61056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palatej.github.io</a:t>
            </a:r>
            <a:r>
              <a:rPr lang="ru-RU" sz="1200" dirty="0"/>
              <a:t>/</a:t>
            </a:r>
            <a:r>
              <a:rPr lang="ru-RU" sz="1200" dirty="0" err="1"/>
              <a:t>pages</a:t>
            </a:r>
            <a:r>
              <a:rPr lang="ru-RU" sz="1200" dirty="0"/>
              <a:t>/</a:t>
            </a:r>
            <a:r>
              <a:rPr lang="ru-RU" sz="1200" dirty="0" err="1"/>
              <a:t>stats</a:t>
            </a:r>
            <a:r>
              <a:rPr lang="ru-RU" sz="1200" dirty="0"/>
              <a:t>/</a:t>
            </a:r>
            <a:r>
              <a:rPr lang="ru-RU" sz="1200" dirty="0" err="1"/>
              <a:t>tests</a:t>
            </a:r>
            <a:r>
              <a:rPr lang="ru-RU" sz="1200" dirty="0"/>
              <a:t>/</a:t>
            </a:r>
            <a:r>
              <a:rPr lang="ru-RU" sz="1200" dirty="0" err="1"/>
              <a:t>seasonality</a:t>
            </a:r>
            <a:r>
              <a:rPr lang="ru-RU" sz="1200" dirty="0"/>
              <a:t>/</a:t>
            </a:r>
            <a:r>
              <a:rPr lang="ru-RU" sz="1200" dirty="0" err="1"/>
              <a:t>qs.html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96770" y="6238958"/>
            <a:ext cx="11901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>
                <a:hlinkClick r:id="rId2"/>
              </a:rPr>
              <a:t>https://www.hse.ru/data/2014/11/13/1311639964/</a:t>
            </a:r>
            <a:r>
              <a:rPr lang="ru-RU" sz="1050" dirty="0"/>
              <a:t>Методы%20социально-экономического%20прогнозирования%20в%202т.%20т.2%20-%20Светуньков%20-%20бт.</a:t>
            </a:r>
            <a:r>
              <a:rPr lang="en" sz="1050" dirty="0"/>
              <a:t>pdf</a:t>
            </a:r>
            <a:endParaRPr lang="ru-RU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360E9F-2A4D-CEC3-6B34-312655F7D6F3}"/>
              </a:ext>
            </a:extLst>
          </p:cNvPr>
          <p:cNvSpPr txBox="1"/>
          <p:nvPr/>
        </p:nvSpPr>
        <p:spPr>
          <a:xfrm>
            <a:off x="6302414" y="6523024"/>
            <a:ext cx="61068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alkaline-ml.com</a:t>
            </a:r>
            <a:r>
              <a:rPr lang="ru-RU" sz="1100" dirty="0"/>
              <a:t>/</a:t>
            </a:r>
            <a:r>
              <a:rPr lang="ru-RU" sz="1100" dirty="0" err="1"/>
              <a:t>pmdarima</a:t>
            </a:r>
            <a:r>
              <a:rPr lang="ru-RU" sz="1100" dirty="0"/>
              <a:t>/</a:t>
            </a:r>
            <a:r>
              <a:rPr lang="ru-RU" sz="1100" dirty="0" err="1"/>
              <a:t>modules</a:t>
            </a:r>
            <a:r>
              <a:rPr lang="ru-RU" sz="1100" dirty="0"/>
              <a:t>/</a:t>
            </a:r>
            <a:r>
              <a:rPr lang="ru-RU" sz="1100" dirty="0" err="1"/>
              <a:t>generated</a:t>
            </a:r>
            <a:r>
              <a:rPr lang="ru-RU" sz="1100" dirty="0"/>
              <a:t>/</a:t>
            </a:r>
            <a:r>
              <a:rPr lang="ru-RU" sz="1100" dirty="0" err="1"/>
              <a:t>pmdarima.arima.CHTest.html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575794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структура 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бизнес-процессов 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экономика)</a:t>
            </a:r>
            <a:endParaRPr lang="en-US" sz="2200" dirty="0"/>
          </a:p>
          <a:p>
            <a:r>
              <a:rPr lang="ru-RU" sz="2200" dirty="0"/>
              <a:t>Также некоторые методы предсказания предоставляют результаты внутренней декомпозиции ВР </a:t>
            </a:r>
            <a:r>
              <a:rPr lang="en-US" sz="2200" dirty="0"/>
              <a:t>(Prophet, TBATS, </a:t>
            </a:r>
            <a:r>
              <a:rPr lang="ru-RU" sz="2200" dirty="0"/>
              <a:t>и </a:t>
            </a:r>
            <a:r>
              <a:rPr lang="ru-RU" sz="2200" dirty="0" err="1"/>
              <a:t>др</a:t>
            </a:r>
            <a:r>
              <a:rPr lang="ru-RU" sz="2200" dirty="0"/>
              <a:t>).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/>
          <p:cNvSpPr/>
          <p:nvPr/>
        </p:nvSpPr>
        <p:spPr>
          <a:xfrm>
            <a:off x="5762625" y="638542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https://otexts.com/fpppy/nbs/12-advanced.html#example-half-hourly-electricity-demand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82881" y="6523919"/>
            <a:ext cx="357341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https://otexts.com/fpppy/nbs/03-decomposition.html</a:t>
            </a:r>
          </a:p>
        </p:txBody>
      </p: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303" y="365126"/>
            <a:ext cx="11078497" cy="657430"/>
          </a:xfrm>
        </p:spPr>
        <p:txBody>
          <a:bodyPr>
            <a:normAutofit fontScale="90000"/>
          </a:bodyPr>
          <a:lstStyle/>
          <a:p>
            <a:r>
              <a:rPr lang="ru-RU" dirty="0"/>
              <a:t>Вопросы для самоконтроля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6813" y="1111046"/>
            <a:ext cx="11700387" cy="5427406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Назовите какие подходы к предсказанию ВР имеют место сегодня. Приведите примеры использования подходов. Какие подходы (и методы) стоит рассматривать как </a:t>
            </a:r>
            <a:r>
              <a:rPr lang="ru-RU" dirty="0" err="1"/>
              <a:t>бейзлайн</a:t>
            </a:r>
            <a:r>
              <a:rPr lang="ru-RU" dirty="0"/>
              <a:t>, какие проверять в последнюю очередь.</a:t>
            </a:r>
          </a:p>
          <a:p>
            <a:r>
              <a:rPr lang="ru-RU" dirty="0"/>
              <a:t>Объясните логику развития соревнований </a:t>
            </a:r>
            <a:r>
              <a:rPr lang="ru-RU" dirty="0" err="1"/>
              <a:t>Макридакиса</a:t>
            </a:r>
            <a:r>
              <a:rPr lang="ru-RU" dirty="0"/>
              <a:t>. Какие выводы можно сделать из этих соревнований. Приведите примеры практического использования и соответствующих задач, которые следует из результатов соревнований.</a:t>
            </a:r>
          </a:p>
          <a:p>
            <a:r>
              <a:rPr lang="ru-RU" dirty="0"/>
              <a:t> Назовите основные особенности подходов для разложения ВР. Объясните цель использования разложения. Расскажите как работает </a:t>
            </a:r>
            <a:r>
              <a:rPr lang="en-US" dirty="0"/>
              <a:t>STL </a:t>
            </a:r>
            <a:r>
              <a:rPr lang="ru-RU" dirty="0"/>
              <a:t>разложение. В каких случаях </a:t>
            </a:r>
            <a:r>
              <a:rPr lang="en-US" dirty="0"/>
              <a:t>STL </a:t>
            </a:r>
            <a:r>
              <a:rPr lang="ru-RU" dirty="0"/>
              <a:t>недостаточно?</a:t>
            </a:r>
          </a:p>
          <a:p>
            <a:r>
              <a:rPr lang="ru-RU" dirty="0"/>
              <a:t>Объясните цели использования и подходы к </a:t>
            </a:r>
            <a:r>
              <a:rPr lang="en-US" dirty="0" err="1"/>
              <a:t>detrend</a:t>
            </a:r>
            <a:r>
              <a:rPr lang="en-US" dirty="0"/>
              <a:t>, </a:t>
            </a:r>
            <a:r>
              <a:rPr lang="en-US" dirty="0" err="1"/>
              <a:t>deseasonlizer</a:t>
            </a:r>
            <a:r>
              <a:rPr lang="en-US" dirty="0"/>
              <a:t>, </a:t>
            </a:r>
            <a:r>
              <a:rPr lang="ru-RU" dirty="0"/>
              <a:t>в каких случаях этих подходов недостаточно? Какие шаги можно предложить для решения проблемы.</a:t>
            </a:r>
          </a:p>
        </p:txBody>
      </p:sp>
    </p:spTree>
    <p:extLst>
      <p:ext uri="{BB962C8B-B14F-4D97-AF65-F5344CB8AC3E}">
        <p14:creationId xmlns:p14="http://schemas.microsoft.com/office/powerpoint/2010/main" val="139743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4463</TotalTime>
  <Words>2310</Words>
  <Application>Microsoft Office PowerPoint</Application>
  <PresentationFormat>Широкоэкранный</PresentationFormat>
  <Paragraphs>476</Paragraphs>
  <Slides>25</Slides>
  <Notes>6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Fira Sans</vt:lpstr>
      <vt:lpstr>Open Sans</vt:lpstr>
      <vt:lpstr>Times New Roman</vt:lpstr>
      <vt:lpstr>Тема Office</vt:lpstr>
      <vt:lpstr>Предсказания ВР . Основные понятия, разложение ВР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 Экспоненциальное сглаживание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240</cp:revision>
  <dcterms:created xsi:type="dcterms:W3CDTF">2021-10-31T10:57:36Z</dcterms:created>
  <dcterms:modified xsi:type="dcterms:W3CDTF">2026-03-05T13:56:58Z</dcterms:modified>
</cp:coreProperties>
</file>