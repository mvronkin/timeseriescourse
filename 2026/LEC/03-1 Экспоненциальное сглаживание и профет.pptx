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256" r:id="rId2"/>
    <p:sldId id="417" r:id="rId3"/>
    <p:sldId id="453" r:id="rId4"/>
    <p:sldId id="414" r:id="rId5"/>
    <p:sldId id="431" r:id="rId6"/>
    <p:sldId id="415" r:id="rId7"/>
    <p:sldId id="418" r:id="rId8"/>
    <p:sldId id="426" r:id="rId9"/>
    <p:sldId id="416" r:id="rId10"/>
    <p:sldId id="419" r:id="rId11"/>
    <p:sldId id="421" r:id="rId12"/>
    <p:sldId id="434" r:id="rId13"/>
    <p:sldId id="422" r:id="rId14"/>
    <p:sldId id="423" r:id="rId15"/>
    <p:sldId id="425" r:id="rId16"/>
    <p:sldId id="427" r:id="rId17"/>
    <p:sldId id="424" r:id="rId18"/>
    <p:sldId id="428" r:id="rId19"/>
    <p:sldId id="429" r:id="rId20"/>
    <p:sldId id="430" r:id="rId21"/>
    <p:sldId id="456" r:id="rId22"/>
    <p:sldId id="459" r:id="rId23"/>
    <p:sldId id="442" r:id="rId24"/>
    <p:sldId id="443" r:id="rId25"/>
    <p:sldId id="444" r:id="rId26"/>
    <p:sldId id="460" r:id="rId27"/>
    <p:sldId id="461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201EE05C-F9E4-4BBB-A5C1-9C9F75E33B4A}">
          <p14:sldIdLst>
            <p14:sldId id="256"/>
            <p14:sldId id="417"/>
            <p14:sldId id="453"/>
            <p14:sldId id="414"/>
            <p14:sldId id="431"/>
            <p14:sldId id="415"/>
            <p14:sldId id="418"/>
            <p14:sldId id="426"/>
            <p14:sldId id="416"/>
            <p14:sldId id="419"/>
            <p14:sldId id="421"/>
            <p14:sldId id="434"/>
            <p14:sldId id="422"/>
            <p14:sldId id="423"/>
            <p14:sldId id="425"/>
            <p14:sldId id="427"/>
            <p14:sldId id="424"/>
            <p14:sldId id="428"/>
            <p14:sldId id="429"/>
            <p14:sldId id="430"/>
            <p14:sldId id="456"/>
            <p14:sldId id="459"/>
            <p14:sldId id="442"/>
            <p14:sldId id="443"/>
            <p14:sldId id="444"/>
            <p14:sldId id="460"/>
            <p14:sldId id="46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266" autoAdjust="0"/>
    <p:restoredTop sz="96301"/>
  </p:normalViewPr>
  <p:slideViewPr>
    <p:cSldViewPr snapToGrid="0">
      <p:cViewPr varScale="1">
        <p:scale>
          <a:sx n="112" d="100"/>
          <a:sy n="112" d="100"/>
        </p:scale>
        <p:origin x="132" y="1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30246F-5962-E14A-AAF2-985CCFDAC345}" type="datetimeFigureOut">
              <a:rPr lang="ru-RU" smtClean="0"/>
              <a:t>20.08.2025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A4F326-5F8D-6A4F-9B75-A3402553DF5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07655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A4F326-5F8D-6A4F-9B75-A3402553DF5F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170530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A4F326-5F8D-6A4F-9B75-A3402553DF5F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228410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A4F326-5F8D-6A4F-9B75-A3402553DF5F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270365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A4F326-5F8D-6A4F-9B75-A3402553DF5F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850744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A4F326-5F8D-6A4F-9B75-A3402553DF5F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048312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A4F326-5F8D-6A4F-9B75-A3402553DF5F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51866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A4F326-5F8D-6A4F-9B75-A3402553DF5F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066833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A4F326-5F8D-6A4F-9B75-A3402553DF5F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957815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A4F326-5F8D-6A4F-9B75-A3402553DF5F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83685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CFB4BA-4847-4950-9046-35C5746961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C50F236-05DE-4EA6-B24B-C0FEBD7296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412F55E-4C2C-4815-9251-414FB0B40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43DC6-30E4-4569-999A-C703F926F2AF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07044F1-1BCB-437D-94B7-748CD73BD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8FE5FCA-3381-4AA7-97BE-E08360D07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374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2078B4-C8B8-4494-8D96-3C27E8336B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FB14A32-4487-4DEA-8E16-BCEFD68053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CAA63F3-81BF-4E33-9692-6778B8E19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43DC6-30E4-4569-999A-C703F926F2AF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DE3BEBD-8CC4-4081-9FDB-95EB8C3FA1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28FB63A-262B-4B36-853D-8FD6AE113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6147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C43E4F-3035-403A-BF75-75C94FBBF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03DCB50-56CC-4CB7-B0E9-C49EE413D0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48699E2-26D2-4F29-BECB-D95064481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43DC6-30E4-4569-999A-C703F926F2AF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8572401-E422-4507-AF7F-D7097CB4E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DC6EC42-24E3-47D8-9888-D943C9272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52724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ED8482-B2D7-40A8-802B-023F79090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7C7A474-D83F-4629-BFC3-2F4B70530F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BDD1A05-87B9-4B2D-8E14-4A30D386B2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BBC8B2B-8080-4609-A242-EA6E91AF79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43DC6-30E4-4569-999A-C703F926F2AF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7E48783-5AEF-42A6-9B25-9575CD4093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E1D6438-4412-440C-9295-08502F801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232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3A02B6-9656-414C-BE0E-10520656D6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20224BE-5E0C-4E18-BFEF-DD7D38630D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F82B3EE-40C5-4C9D-A53F-B840D95C58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CE08FC7-9C8F-40C5-A36C-57D977012B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CDA3F2C0-DF9F-4B0C-8FF7-87FA6D0C98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4670B12D-A9FE-4003-AD82-C945E4650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43DC6-30E4-4569-999A-C703F926F2AF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01D85015-23A3-46A2-835F-65D23A8CC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3ECA17E4-0196-4A48-A9E8-2CDD64816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506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33BF47-6BDB-4118-A251-A1E8A5BAC7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77ED7011-686E-45C2-8968-A0B2E5D91B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43DC6-30E4-4569-999A-C703F926F2AF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84ACE154-94EF-4E83-9D3F-7EE1930226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255E03A-D16A-4D69-90DC-E58F3F32E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7088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774E9CB4-2963-43D8-8D7F-D3C9C5A636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43DC6-30E4-4569-999A-C703F926F2AF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C54DA748-DD83-4645-AFEB-64F927049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D3C6B88-BC8D-458D-A522-282B466F8C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1700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876CF2-7597-4002-8ABA-F1D3B86D93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A3F4F31-CC84-417F-B967-C992A4599C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1EC5051-C614-4B70-A698-B21DE6B2C3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B9C3610-5D28-44EB-9587-C384AEC28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43DC6-30E4-4569-999A-C703F926F2AF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53EF8BB-8CBF-4362-9146-DEF1DEC21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11AA93E-098B-4DBE-A044-721E37D6D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45639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CC3971-FAC8-4F52-B15E-7F9CCA65EA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62583E30-D6F9-47C1-B0FD-3070A90D9CE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133E1C3-FED5-47C3-8D75-D0E1CE87A2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7B8DF28-82CD-4556-9610-6627C6C1E2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43DC6-30E4-4569-999A-C703F926F2AF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C754358-7942-4E40-AF93-18EF33D32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0356B49-2C0E-451A-8A9A-74FDF9A8C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86816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FE3F53-D493-48AC-971D-7454A8D783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4A05121-2968-48C3-BB49-AF0AC43AD1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8A79E25-1AB6-488D-AFD4-754FABB44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43DC6-30E4-4569-999A-C703F926F2AF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F133EB6-0DE0-4289-8048-2D6D72BA6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8889C22-9049-4BFC-8501-808125020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2138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BA0A8197-99AF-4047-BB35-1E28D8D181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2B8222B-3624-4C62-9AC8-0C9ACA8710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9B1FCEF-30E5-4242-9E96-510141165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43DC6-30E4-4569-999A-C703F926F2AF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83953CE-A629-44C1-8C47-D85C4C211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4200CE6-DA51-4537-A51E-3A38FB76B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4018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B55DBB2-2936-4C5B-A898-17ABF8192B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7DD482A-BA7D-4219-92B7-5B66F76D4E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6365484-7FD2-4223-ACAC-F0B65AFF5E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343DC6-30E4-4569-999A-C703F926F2AF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E91DAA7-F8E0-4BCD-8D26-540FF2A6E1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4E25FF6-6DD2-4839-9908-5D121329B4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11267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9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33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0.png"/><Relationship Id="rId4" Type="http://schemas.openxmlformats.org/officeDocument/2006/relationships/image" Target="../media/image35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E3A209-E86B-43CF-A4CE-1917FCF9C1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3483" y="934356"/>
            <a:ext cx="10932920" cy="2334624"/>
          </a:xfrm>
        </p:spPr>
        <p:txBody>
          <a:bodyPr>
            <a:normAutofit/>
          </a:bodyPr>
          <a:lstStyle/>
          <a:p>
            <a:r>
              <a:rPr lang="ru-RU" sz="8000" b="1" dirty="0"/>
              <a:t>Предсказания ВР с явной </a:t>
            </a:r>
            <a:r>
              <a:rPr lang="en-US" sz="8000" b="1" dirty="0"/>
              <a:t>TS </a:t>
            </a:r>
            <a:r>
              <a:rPr lang="ru-RU" sz="8000" b="1" dirty="0"/>
              <a:t>моделью</a:t>
            </a:r>
            <a:endParaRPr lang="en-US" sz="8000" b="1" dirty="0"/>
          </a:p>
        </p:txBody>
      </p:sp>
    </p:spTree>
    <p:extLst>
      <p:ext uri="{BB962C8B-B14F-4D97-AF65-F5344CB8AC3E}">
        <p14:creationId xmlns:p14="http://schemas.microsoft.com/office/powerpoint/2010/main" val="26431011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B6B433-AB20-4BD4-8E77-84B856A5D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825" y="454025"/>
            <a:ext cx="11277600" cy="806450"/>
          </a:xfrm>
        </p:spPr>
        <p:txBody>
          <a:bodyPr>
            <a:normAutofit fontScale="90000"/>
          </a:bodyPr>
          <a:lstStyle/>
          <a:p>
            <a:pPr algn="ctr"/>
            <a:r>
              <a:rPr lang="ru-RU" sz="4000" b="1" dirty="0"/>
              <a:t>Модель экспоненциального сглаживания </a:t>
            </a:r>
            <a:br>
              <a:rPr lang="ru-RU" sz="4000" b="1" dirty="0"/>
            </a:br>
            <a:r>
              <a:rPr lang="ru-RU" sz="4000" dirty="0"/>
              <a:t>SES (</a:t>
            </a:r>
            <a:r>
              <a:rPr lang="ru-RU" sz="4000" dirty="0" err="1"/>
              <a:t>Single</a:t>
            </a:r>
            <a:r>
              <a:rPr lang="ru-RU" sz="4000" dirty="0"/>
              <a:t> </a:t>
            </a:r>
            <a:r>
              <a:rPr lang="ru-RU" sz="4000" dirty="0" err="1"/>
              <a:t>Exponential</a:t>
            </a:r>
            <a:r>
              <a:rPr lang="ru-RU" sz="4000" dirty="0"/>
              <a:t> </a:t>
            </a:r>
            <a:r>
              <a:rPr lang="en-US" sz="4000" dirty="0"/>
              <a:t>Smoothing</a:t>
            </a:r>
            <a:r>
              <a:rPr lang="ru-RU" sz="4000" dirty="0"/>
              <a:t>)</a:t>
            </a:r>
            <a:r>
              <a:rPr lang="en-US" dirty="0"/>
              <a:t/>
            </a:r>
            <a:br>
              <a:rPr lang="en-US" dirty="0"/>
            </a:br>
            <a:endParaRPr lang="ru-RU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9CFDC76D-90F0-4FD7-8BA6-954D6D2E6FF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7650" y="1113910"/>
                <a:ext cx="11791949" cy="5502274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00000"/>
                  </a:lnSpc>
                  <a:spcBef>
                    <a:spcPts val="300"/>
                  </a:spcBef>
                  <a:buNone/>
                </a:pPr>
                <a:r>
                  <a:rPr lang="ru-RU" sz="2200" dirty="0"/>
                  <a:t>Если временной ряд преимущественно представляет собой тренд, то его можно представить как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3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ru-RU" sz="22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2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200" i="1">
                          <a:latin typeface="Cambria Math" panose="02040503050406030204" pitchFamily="18" charset="0"/>
                        </a:rPr>
                        <m:t>𝛼</m:t>
                      </m:r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200" i="1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</m:d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sz="2200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   </m:t>
                      </m:r>
                    </m:oMath>
                  </m:oMathPara>
                </a14:m>
                <a:endParaRPr lang="en-US" sz="2200" dirty="0"/>
              </a:p>
              <a:p>
                <a:pPr marL="0" indent="0">
                  <a:lnSpc>
                    <a:spcPct val="100000"/>
                  </a:lnSpc>
                  <a:spcBef>
                    <a:spcPts val="300"/>
                  </a:spcBef>
                  <a:buNone/>
                </a:pPr>
                <a:r>
                  <a:rPr lang="ru-RU" sz="2200" dirty="0"/>
                  <a:t>	где</a:t>
                </a:r>
                <a:r>
                  <a:rPr lang="en-US" sz="2200" dirty="0"/>
                  <a:t>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sz="2200" dirty="0"/>
                  <a:t> </a:t>
                </a:r>
                <a:r>
                  <a:rPr lang="ru-RU" sz="2200" dirty="0"/>
                  <a:t>– это параметр сглаживания</a:t>
                </a:r>
                <a:r>
                  <a:rPr lang="en-US" sz="2200" dirty="0"/>
                  <a:t>;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en-US" sz="2200" dirty="0"/>
                  <a:t> </a:t>
                </a:r>
                <a:r>
                  <a:rPr lang="ru-RU" sz="2200" dirty="0"/>
                  <a:t>– предсказанное значение</a:t>
                </a:r>
                <a:r>
                  <a:rPr lang="en-US" sz="22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2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ru-RU" sz="2200" dirty="0"/>
              </a:p>
              <a:p>
                <a:pPr marL="0" indent="0">
                  <a:lnSpc>
                    <a:spcPct val="100000"/>
                  </a:lnSpc>
                  <a:spcBef>
                    <a:spcPts val="300"/>
                  </a:spcBef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ru-RU" sz="2200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ru-RU" sz="2200" dirty="0"/>
                  <a:t> </a:t>
                </a:r>
                <a14:m>
                  <m:oMath xmlns:m="http://schemas.openxmlformats.org/officeDocument/2006/math">
                    <m:r>
                      <a:rPr lang="en-US" sz="2200" b="0" i="1" dirty="0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sz="2200" dirty="0"/>
                  <a:t> </a:t>
                </a:r>
                <a:r>
                  <a:rPr lang="ru-RU" sz="2200" dirty="0"/>
                  <a:t>частично истинное значение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ru-RU" sz="2200" dirty="0"/>
                  <a:t>, частично результат предсказания</a:t>
                </a:r>
                <a14:m>
                  <m:oMath xmlns:m="http://schemas.openxmlformats.org/officeDocument/2006/math">
                    <m:r>
                      <a:rPr lang="ru-RU" sz="2200" b="0" i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sz="22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ru-RU" sz="2200" dirty="0"/>
              </a:p>
              <a:p>
                <a:pPr marL="0" indent="0">
                  <a:lnSpc>
                    <a:spcPct val="100000"/>
                  </a:lnSpc>
                  <a:spcBef>
                    <a:spcPts val="300"/>
                  </a:spcBef>
                  <a:buNone/>
                </a:pPr>
                <a:r>
                  <a:rPr lang="ru-RU" sz="2200" dirty="0"/>
                  <a:t>	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ru-RU" sz="2200" dirty="0"/>
                  <a:t> зависит от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ru-RU" sz="22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ru-RU" sz="2200" dirty="0"/>
                  <a:t> 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−2 </m:t>
                        </m:r>
                      </m:sub>
                    </m:sSub>
                    <m:r>
                      <a:rPr lang="ru-RU" sz="2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−3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−4 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200" dirty="0"/>
                  <a:t> </a:t>
                </a:r>
                <a:r>
                  <a:rPr lang="ru-RU" sz="2200" dirty="0"/>
                  <a:t>и  т.д.)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300"/>
                  </a:spcBef>
                  <a:buNone/>
                </a:pPr>
                <a:r>
                  <a:rPr lang="ru-RU" sz="2400" dirty="0"/>
                  <a:t>Дополнительно можно предсказать разброс (СКО) модели </a:t>
                </a:r>
                <a:r>
                  <a:rPr lang="en-US" sz="2400" dirty="0"/>
                  <a:t>SES</a:t>
                </a:r>
                <a:endParaRPr lang="ru-RU" sz="2400" dirty="0"/>
              </a:p>
              <a:p>
                <a:pPr marL="0" indent="0">
                  <a:lnSpc>
                    <a:spcPct val="100000"/>
                  </a:lnSpc>
                  <a:spcBef>
                    <a:spcPts val="300"/>
                  </a:spcBef>
                  <a:buNone/>
                </a:pPr>
                <a:endParaRPr lang="en-US" sz="2200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9CFDC76D-90F0-4FD7-8BA6-954D6D2E6FF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7650" y="1113910"/>
                <a:ext cx="11791949" cy="5502274"/>
              </a:xfrm>
              <a:blipFill>
                <a:blip r:embed="rId3"/>
                <a:stretch>
                  <a:fillRect l="-827" t="-776" r="-56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8674" name="Picture 2" descr="image.png">
            <a:extLst>
              <a:ext uri="{FF2B5EF4-FFF2-40B4-BE49-F238E27FC236}">
                <a16:creationId xmlns:a16="http://schemas.microsoft.com/office/drawing/2014/main" id="{C9C3A7CA-ABAE-4A48-93DC-A97D24BFCF4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97" t="7773" r="7937" b="2213"/>
          <a:stretch/>
        </p:blipFill>
        <p:spPr bwMode="auto">
          <a:xfrm>
            <a:off x="5755840" y="3470739"/>
            <a:ext cx="5731311" cy="30487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Прямоугольник 4"/>
          <p:cNvSpPr/>
          <p:nvPr/>
        </p:nvSpPr>
        <p:spPr>
          <a:xfrm>
            <a:off x="4792067" y="6462266"/>
            <a:ext cx="669508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/>
              <a:t>https://education.yandex.ru/handbook/ml/article/analitika-vremennyh-ryadov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1330377" y="6519446"/>
            <a:ext cx="297472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/>
              <a:t>https://otexts.com/fpp2/ses.html</a:t>
            </a:r>
            <a:endParaRPr lang="ru-RU" sz="1600" dirty="0"/>
          </a:p>
        </p:txBody>
      </p:sp>
      <p:pic>
        <p:nvPicPr>
          <p:cNvPr id="12" name="Picture 2" descr="image.png">
            <a:extLst>
              <a:ext uri="{FF2B5EF4-FFF2-40B4-BE49-F238E27FC236}">
                <a16:creationId xmlns:a16="http://schemas.microsoft.com/office/drawing/2014/main" id="{C9C3A7CA-ABAE-4A48-93DC-A97D24BFCF4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213" t="11080" r="79045" b="70833"/>
          <a:stretch/>
        </p:blipFill>
        <p:spPr bwMode="auto">
          <a:xfrm>
            <a:off x="5581650" y="3433327"/>
            <a:ext cx="1581846" cy="16373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125482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B6B433-AB20-4BD4-8E77-84B856A5D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992" y="65644"/>
            <a:ext cx="11277600" cy="806450"/>
          </a:xfrm>
        </p:spPr>
        <p:txBody>
          <a:bodyPr>
            <a:normAutofit fontScale="90000"/>
          </a:bodyPr>
          <a:lstStyle/>
          <a:p>
            <a:pPr algn="ctr"/>
            <a:r>
              <a:rPr lang="ru-RU" sz="4000" b="1" dirty="0"/>
              <a:t>Модель экспоненциального сглаживания. Замечания</a:t>
            </a:r>
            <a:endParaRPr lang="ru-RU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9CFDC76D-90F0-4FD7-8BA6-954D6D2E6FF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8147" y="725484"/>
                <a:ext cx="11791949" cy="5502274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00000"/>
                  </a:lnSpc>
                  <a:spcBef>
                    <a:spcPts val="300"/>
                  </a:spcBef>
                  <a:buNone/>
                </a:pPr>
                <a:r>
                  <a:rPr lang="ru-RU" sz="2100" dirty="0"/>
                  <a:t>Влияние предыдущих значений на предсказание экспоненциально убывает с коэффициентом </a:t>
                </a:r>
                <a14:m>
                  <m:oMath xmlns:m="http://schemas.openxmlformats.org/officeDocument/2006/math">
                    <m:r>
                      <a:rPr lang="en-US" sz="2100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21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ru-RU" sz="2100" dirty="0"/>
              </a:p>
              <a:p>
                <a:pPr>
                  <a:lnSpc>
                    <a:spcPct val="100000"/>
                  </a:lnSpc>
                  <a:spcBef>
                    <a:spcPts val="300"/>
                  </a:spcBef>
                </a:pPr>
                <a14:m>
                  <m:oMath xmlns:m="http://schemas.openxmlformats.org/officeDocument/2006/math">
                    <m:r>
                      <a:rPr lang="en-US" sz="2100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2100" i="1">
                        <a:latin typeface="Cambria Math" panose="02040503050406030204" pitchFamily="18" charset="0"/>
                      </a:rPr>
                      <m:t>→1</m:t>
                    </m:r>
                  </m:oMath>
                </a14:m>
                <a:r>
                  <a:rPr lang="ru-RU" sz="2100" dirty="0"/>
                  <a:t> </a:t>
                </a:r>
                <a:r>
                  <a:rPr lang="en-US" sz="2100" dirty="0"/>
                  <a:t>- </a:t>
                </a:r>
                <a:r>
                  <a:rPr lang="ru-RU" sz="2100" dirty="0"/>
                  <a:t>значение определяется последними шагами (самыми свежими значениями ВР), </a:t>
                </a:r>
                <a:endParaRPr lang="en-US" sz="2100" dirty="0"/>
              </a:p>
              <a:p>
                <a:pPr>
                  <a:lnSpc>
                    <a:spcPct val="100000"/>
                  </a:lnSpc>
                  <a:spcBef>
                    <a:spcPts val="300"/>
                  </a:spcBef>
                </a:pPr>
                <a14:m>
                  <m:oMath xmlns:m="http://schemas.openxmlformats.org/officeDocument/2006/math">
                    <m:r>
                      <a:rPr lang="en-US" sz="2100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2100" i="1">
                        <a:latin typeface="Cambria Math" panose="02040503050406030204" pitchFamily="18" charset="0"/>
                      </a:rPr>
                      <m:t>→0 </m:t>
                    </m:r>
                  </m:oMath>
                </a14:m>
                <a:r>
                  <a:rPr lang="ru-RU" sz="2100" dirty="0"/>
                  <a:t>- значение определяется всеми предыдущим значениями ВР (сильное сглаживание)</a:t>
                </a:r>
              </a:p>
              <a:p>
                <a:pPr lvl="1">
                  <a:lnSpc>
                    <a:spcPct val="100000"/>
                  </a:lnSpc>
                  <a:spcBef>
                    <a:spcPts val="300"/>
                  </a:spcBef>
                </a:pPr>
                <a:r>
                  <a:rPr lang="ru-RU" sz="2100" dirty="0"/>
                  <a:t>Таким образом влияние «давних» шумов и выбросов сглаживается </a:t>
                </a:r>
                <a:endParaRPr lang="en-US" sz="2100" dirty="0"/>
              </a:p>
              <a:p>
                <a:pPr marL="0" indent="0" algn="just">
                  <a:lnSpc>
                    <a:spcPct val="100000"/>
                  </a:lnSpc>
                  <a:buNone/>
                </a:pPr>
                <a:r>
                  <a:rPr lang="ru-RU" sz="2100" dirty="0"/>
                  <a:t>Эмпирическое правило для оптимального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1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ru-RU" sz="2100" dirty="0"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US" sz="2100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ru-RU" sz="2100" dirty="0"/>
                  <a:t>:</a:t>
                </a:r>
              </a:p>
              <a:p>
                <a:pPr marL="285750" indent="-285750" algn="just">
                  <a:lnSpc>
                    <a:spcPct val="100000"/>
                  </a:lnSpc>
                  <a:spcBef>
                    <a:spcPts val="300"/>
                  </a:spcBef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1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ru-RU" sz="2100" dirty="0"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US" sz="2100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ru-RU" sz="2100" dirty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ctrlPr>
                          <a:rPr lang="ru-RU" sz="21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sz="2100" dirty="0">
                            <a:latin typeface="Cambria Math" panose="02040503050406030204" pitchFamily="18" charset="0"/>
                          </a:rPr>
                          <m:t>0,0.3</m:t>
                        </m:r>
                      </m:e>
                    </m:d>
                    <m:r>
                      <a:rPr lang="ru-RU" sz="2100" dirty="0">
                        <a:latin typeface="Cambria Math" panose="02040503050406030204" pitchFamily="18" charset="0"/>
                      </a:rPr>
                      <m:t> − </m:t>
                    </m:r>
                  </m:oMath>
                </a14:m>
                <a:r>
                  <a:rPr lang="ru-RU" sz="2100" dirty="0"/>
                  <a:t>ВР стационарен (чем больше учтем данных, тем точнее);</a:t>
                </a:r>
              </a:p>
              <a:p>
                <a:pPr marL="285750" indent="-285750" algn="just">
                  <a:lnSpc>
                    <a:spcPct val="100000"/>
                  </a:lnSpc>
                  <a:spcBef>
                    <a:spcPts val="300"/>
                  </a:spcBef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1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ru-RU" sz="2100" dirty="0"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US" sz="2100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ru-RU" sz="2100" dirty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ctrlPr>
                          <a:rPr lang="ru-RU" sz="21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sz="2100" dirty="0">
                            <a:latin typeface="Cambria Math" panose="02040503050406030204" pitchFamily="18" charset="0"/>
                          </a:rPr>
                          <m:t>0.3,1</m:t>
                        </m:r>
                      </m:e>
                    </m:d>
                    <m:r>
                      <a:rPr lang="ru-RU" sz="2100" dirty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ru-RU" sz="2100" dirty="0"/>
                  <a:t>ВР нестационарный, применение </a:t>
                </a:r>
                <a:r>
                  <a:rPr lang="en-US" sz="2100" dirty="0"/>
                  <a:t>SES </a:t>
                </a:r>
                <a:r>
                  <a:rPr lang="ru-RU" sz="2100" dirty="0"/>
                  <a:t>может привести к потере информации или смещению.</a:t>
                </a:r>
              </a:p>
              <a:p>
                <a:pPr lvl="1" algn="just">
                  <a:lnSpc>
                    <a:spcPct val="100000"/>
                  </a:lnSpc>
                  <a:spcBef>
                    <a:spcPts val="300"/>
                  </a:spcBef>
                </a:pPr>
                <a:r>
                  <a:rPr lang="ru-RU" sz="1700" dirty="0"/>
                  <a:t>Напр. мы не хотим чтобы праздники влияли на продажи товаров в магазине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700">
                        <a:latin typeface="Cambria Math" panose="02040503050406030204" pitchFamily="18" charset="0"/>
                      </a:rPr>
                      <m:t>α</m:t>
                    </m:r>
                    <m:r>
                      <a:rPr lang="en-US" sz="1700">
                        <a:latin typeface="Cambria Math" panose="02040503050406030204" pitchFamily="18" charset="0"/>
                      </a:rPr>
                      <m:t>→1</m:t>
                    </m:r>
                  </m:oMath>
                </a14:m>
                <a:endParaRPr lang="ru-RU" sz="1700" dirty="0"/>
              </a:p>
              <a:p>
                <a:pPr marL="0" indent="0" algn="just">
                  <a:lnSpc>
                    <a:spcPct val="100000"/>
                  </a:lnSpc>
                  <a:spcBef>
                    <a:spcPts val="300"/>
                  </a:spcBef>
                  <a:buNone/>
                </a:pPr>
                <a:r>
                  <a:rPr lang="ru-RU" sz="2100" dirty="0"/>
                  <a:t>Модель работает с данными с очень медленными изменениями относительно периода</a:t>
                </a:r>
              </a:p>
              <a:p>
                <a:pPr>
                  <a:lnSpc>
                    <a:spcPct val="110000"/>
                  </a:lnSpc>
                  <a:spcBef>
                    <a:spcPts val="300"/>
                  </a:spcBef>
                </a:pPr>
                <a:endParaRPr lang="ru-RU" sz="2600" dirty="0"/>
              </a:p>
              <a:p>
                <a:pPr marL="0" indent="0">
                  <a:lnSpc>
                    <a:spcPct val="100000"/>
                  </a:lnSpc>
                  <a:spcBef>
                    <a:spcPts val="300"/>
                  </a:spcBef>
                  <a:buNone/>
                </a:pPr>
                <a:endParaRPr lang="en-US" sz="2200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9CFDC76D-90F0-4FD7-8BA6-954D6D2E6FF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8147" y="725484"/>
                <a:ext cx="11791949" cy="5502274"/>
              </a:xfrm>
              <a:blipFill>
                <a:blip r:embed="rId3"/>
                <a:stretch>
                  <a:fillRect l="-620" t="-664" r="-62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8674" name="Picture 2" descr="image.png">
            <a:extLst>
              <a:ext uri="{FF2B5EF4-FFF2-40B4-BE49-F238E27FC236}">
                <a16:creationId xmlns:a16="http://schemas.microsoft.com/office/drawing/2014/main" id="{C9C3A7CA-ABAE-4A48-93DC-A97D24BFCF4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97" t="7773" r="7937" b="2213"/>
          <a:stretch/>
        </p:blipFill>
        <p:spPr bwMode="auto">
          <a:xfrm>
            <a:off x="6710633" y="4366260"/>
            <a:ext cx="4429807" cy="2356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Прямоугольник 4"/>
          <p:cNvSpPr/>
          <p:nvPr/>
        </p:nvSpPr>
        <p:spPr>
          <a:xfrm>
            <a:off x="98147" y="6227758"/>
            <a:ext cx="669508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/>
              <a:t>https://education.yandex.ru/handbook/ml/article/analitika-vremennyh-ryadov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1330377" y="6519446"/>
            <a:ext cx="297472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/>
              <a:t>https://otexts.com/fpp2/ses.html</a:t>
            </a:r>
            <a:endParaRPr lang="ru-RU" sz="1600" dirty="0"/>
          </a:p>
        </p:txBody>
      </p:sp>
      <p:sp>
        <p:nvSpPr>
          <p:cNvPr id="13" name="Объект 2">
            <a:extLst>
              <a:ext uri="{FF2B5EF4-FFF2-40B4-BE49-F238E27FC236}">
                <a16:creationId xmlns:a16="http://schemas.microsoft.com/office/drawing/2014/main" id="{9CFDC76D-90F0-4FD7-8BA6-954D6D2E6FFD}"/>
              </a:ext>
            </a:extLst>
          </p:cNvPr>
          <p:cNvSpPr txBox="1">
            <a:spLocks/>
          </p:cNvSpPr>
          <p:nvPr/>
        </p:nvSpPr>
        <p:spPr>
          <a:xfrm>
            <a:off x="247650" y="3098285"/>
            <a:ext cx="5874142" cy="33639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300"/>
              </a:spcBef>
              <a:buNone/>
            </a:pPr>
            <a:endParaRPr lang="ru-RU" sz="2200" dirty="0"/>
          </a:p>
        </p:txBody>
      </p:sp>
    </p:spTree>
    <p:extLst>
      <p:ext uri="{BB962C8B-B14F-4D97-AF65-F5344CB8AC3E}">
        <p14:creationId xmlns:p14="http://schemas.microsoft.com/office/powerpoint/2010/main" val="33636350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B6B433-AB20-4BD4-8E77-84B856A5D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252" y="103859"/>
            <a:ext cx="11277600" cy="806450"/>
          </a:xfrm>
        </p:spPr>
        <p:txBody>
          <a:bodyPr>
            <a:normAutofit fontScale="90000"/>
          </a:bodyPr>
          <a:lstStyle/>
          <a:p>
            <a:pPr algn="ctr"/>
            <a:r>
              <a:rPr lang="ru-RU" sz="4000" b="1" dirty="0"/>
              <a:t>Модель экспоненциального сглаживания. Замечания </a:t>
            </a:r>
            <a:endParaRPr lang="ru-RU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Прямоугольник 3"/>
              <p:cNvSpPr/>
              <p:nvPr/>
            </p:nvSpPr>
            <p:spPr>
              <a:xfrm>
                <a:off x="182285" y="681882"/>
                <a:ext cx="11608218" cy="320857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spcBef>
                    <a:spcPts val="300"/>
                  </a:spcBef>
                </a:pPr>
                <a:r>
                  <a:rPr lang="ru-RU" sz="2000" dirty="0"/>
                  <a:t>Иногда коэффициенты модель меняют в процессе работы модели – </a:t>
                </a:r>
                <a:r>
                  <a:rPr lang="ru-RU" sz="2000" b="1" dirty="0"/>
                  <a:t>адаптивное сглаживание</a:t>
                </a:r>
                <a:endParaRPr lang="en-US" sz="2000" b="1" dirty="0"/>
              </a:p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r>
                  <a:rPr lang="ru-RU" sz="2000" dirty="0"/>
                  <a:t>По сути </a:t>
                </a:r>
                <a:r>
                  <a:rPr lang="en-US" sz="2000" dirty="0"/>
                  <a:t>SES – </a:t>
                </a:r>
                <a:r>
                  <a:rPr lang="ru-RU" sz="2000" dirty="0"/>
                  <a:t>фильтрация тренда! Если во ВР есть сезонность ее можно убрать </a:t>
                </a:r>
                <a:r>
                  <a:rPr lang="en-US" sz="2000" dirty="0"/>
                  <a:t>STL </a:t>
                </a:r>
                <a:r>
                  <a:rPr lang="ru-RU" sz="2000" dirty="0"/>
                  <a:t>и работать только с трендом </a:t>
                </a:r>
                <a:r>
                  <a:rPr lang="en-US" sz="2000" dirty="0"/>
                  <a:t>(</a:t>
                </a:r>
                <a:r>
                  <a:rPr lang="en-US" sz="2000" dirty="0" err="1"/>
                  <a:t>Deseasonalizer</a:t>
                </a:r>
                <a:r>
                  <a:rPr lang="en-US" sz="2000" dirty="0"/>
                  <a:t>)</a:t>
                </a:r>
                <a:r>
                  <a:rPr lang="ru-RU" sz="2000" dirty="0"/>
                  <a:t>.</a:t>
                </a:r>
                <a:endParaRPr lang="en-US" sz="2000" dirty="0"/>
              </a:p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SES – </a:t>
                </a:r>
                <a:r>
                  <a:rPr lang="ru-RU" sz="2000" dirty="0"/>
                  <a:t>предсказанный по 1 отсчету, но фильтрованный </a:t>
                </a:r>
                <a:r>
                  <a:rPr lang="en-US" sz="2000" dirty="0"/>
                  <a:t>SES </a:t>
                </a:r>
                <a:r>
                  <a:rPr lang="ru-RU" sz="2000" dirty="0"/>
                  <a:t>тренд можно предсказывать другими методами, например регрессией</a:t>
                </a:r>
              </a:p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r>
                  <a:rPr lang="ru-RU" sz="2000" dirty="0"/>
                  <a:t>Если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ru-RU" sz="2000" dirty="0"/>
                  <a:t> не определен – можно взять комбинацию нескольких предсказаний (напр.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ru-RU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ru-RU" sz="2000" b="0" i="1" smtClean="0">
                        <a:latin typeface="Cambria Math" panose="02040503050406030204" pitchFamily="18" charset="0"/>
                      </a:rPr>
                      <m:t>=0.2, </m:t>
                    </m:r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ru-RU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ru-RU" sz="2000" i="1">
                        <a:latin typeface="Cambria Math" panose="02040503050406030204" pitchFamily="18" charset="0"/>
                      </a:rPr>
                      <m:t>=0.</m:t>
                    </m:r>
                    <m:r>
                      <a:rPr lang="ru-RU" sz="2000" b="0" i="1" smtClean="0">
                        <a:latin typeface="Cambria Math" panose="02040503050406030204" pitchFamily="18" charset="0"/>
                      </a:rPr>
                      <m:t>8)</m:t>
                    </m:r>
                  </m:oMath>
                </a14:m>
                <a:endParaRPr lang="en-US" sz="2000" b="0" dirty="0"/>
              </a:p>
              <a:p>
                <a:pPr algn="just">
                  <a:spcBef>
                    <a:spcPts val="300"/>
                  </a:spcBef>
                </a:pPr>
                <a:r>
                  <a:rPr lang="ru-RU" sz="2000" dirty="0"/>
                  <a:t>Комбинация </a:t>
                </a:r>
                <a:r>
                  <a:rPr lang="en-US" sz="2000" dirty="0" err="1"/>
                  <a:t>Deseasonalizer</a:t>
                </a:r>
                <a:r>
                  <a:rPr lang="ru-RU" sz="2000" dirty="0"/>
                  <a:t>+Короткий</a:t>
                </a:r>
                <a:r>
                  <a:rPr lang="en-US" sz="2000" dirty="0"/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ru-RU" sz="2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ru-RU" sz="2000" i="1">
                        <a:latin typeface="Cambria Math" panose="02040503050406030204" pitchFamily="18" charset="0"/>
                      </a:rPr>
                      <m:t>=0.8</m:t>
                    </m:r>
                  </m:oMath>
                </a14:m>
                <a:r>
                  <a:rPr lang="en-US" sz="2000" dirty="0"/>
                  <a:t>)</a:t>
                </a:r>
                <a:r>
                  <a:rPr lang="ru-RU" sz="2000" dirty="0"/>
                  <a:t> и быстрый </a:t>
                </a:r>
                <a:r>
                  <a:rPr lang="en-US" sz="2000" dirty="0"/>
                  <a:t>SES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ru-RU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ru-RU" sz="2000" i="1">
                        <a:latin typeface="Cambria Math" panose="02040503050406030204" pitchFamily="18" charset="0"/>
                      </a:rPr>
                      <m:t>=0.2</m:t>
                    </m:r>
                  </m:oMath>
                </a14:m>
                <a:r>
                  <a:rPr lang="en-US" sz="2000" b="0" dirty="0"/>
                  <a:t>) + </a:t>
                </a:r>
                <a:r>
                  <a:rPr lang="ru-RU" sz="2000" b="0" dirty="0"/>
                  <a:t>регрессии для предсказаний  - называется метод </a:t>
                </a:r>
                <a:r>
                  <a:rPr lang="en-US" sz="2000" b="1" dirty="0"/>
                  <a:t>Theta Forecaster</a:t>
                </a:r>
              </a:p>
              <a:p>
                <a:pPr marL="800100" lvl="1" indent="-342900" algn="just">
                  <a:buFont typeface="Arial" panose="020B0604020202020204" pitchFamily="34" charset="0"/>
                  <a:buChar char="•"/>
                </a:pPr>
                <a:r>
                  <a:rPr lang="ru-RU" sz="2000" dirty="0"/>
                  <a:t>Если комбинация – это скользящее среднее, </a:t>
                </a:r>
                <a:r>
                  <a:rPr lang="en-US" sz="2000" dirty="0" err="1"/>
                  <a:t>ThetaOptimized</a:t>
                </a:r>
                <a:r>
                  <a:rPr lang="en-US" sz="2000" dirty="0"/>
                  <a:t> Forecaster</a:t>
                </a:r>
              </a:p>
              <a:p>
                <a:pPr marL="800100" lvl="1" indent="-342900" algn="just">
                  <a:buFont typeface="Arial" panose="020B0604020202020204" pitchFamily="34" charset="0"/>
                  <a:buChar char="•"/>
                </a:pPr>
                <a:r>
                  <a:rPr lang="ru-RU" sz="2000" dirty="0"/>
                  <a:t>Линий </a:t>
                </a:r>
                <a:r>
                  <a:rPr lang="en-US" sz="2000" dirty="0"/>
                  <a:t>Theta</a:t>
                </a:r>
                <a:r>
                  <a:rPr lang="ru-RU" sz="2000" dirty="0"/>
                  <a:t> может быт больше чем 2</a:t>
                </a:r>
                <a:endParaRPr lang="ru-RU" sz="2000" b="0" dirty="0"/>
              </a:p>
            </p:txBody>
          </p:sp>
        </mc:Choice>
        <mc:Fallback xmlns="">
          <p:sp>
            <p:nvSpPr>
              <p:cNvPr id="4" name="Прямоугольник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285" y="681882"/>
                <a:ext cx="11608218" cy="3208571"/>
              </a:xfrm>
              <a:prstGeom prst="rect">
                <a:avLst/>
              </a:prstGeom>
              <a:blipFill>
                <a:blip r:embed="rId3"/>
                <a:stretch>
                  <a:fillRect l="-578" t="-1141" r="-525" b="-247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Прямоугольник 4"/>
          <p:cNvSpPr/>
          <p:nvPr/>
        </p:nvSpPr>
        <p:spPr>
          <a:xfrm>
            <a:off x="5927407" y="6276203"/>
            <a:ext cx="907732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/>
              <a:t>https://education.yandex.ru/handbook/ml/article/analitika-vremennyh-ryadov</a:t>
            </a:r>
          </a:p>
        </p:txBody>
      </p:sp>
      <p:sp>
        <p:nvSpPr>
          <p:cNvPr id="13" name="AutoShape 2" descr="adaptiv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16" name="Рисунок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5599" y="3826337"/>
            <a:ext cx="5104904" cy="2449478"/>
          </a:xfrm>
          <a:prstGeom prst="rect">
            <a:avLst/>
          </a:prstGeom>
        </p:spPr>
      </p:pic>
      <p:pic>
        <p:nvPicPr>
          <p:cNvPr id="1026" name="Picture 2" descr="https://fable.tidyverts.org/reference/THETA-1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375" y="3908512"/>
            <a:ext cx="4182157" cy="2586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Прямоугольник 2"/>
          <p:cNvSpPr/>
          <p:nvPr/>
        </p:nvSpPr>
        <p:spPr>
          <a:xfrm>
            <a:off x="307975" y="6376728"/>
            <a:ext cx="60960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400" dirty="0"/>
              <a:t>https://nixtlaverse.nixtla.io/statsforecast/docs/models/optimizedtheta.html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0" y="6565611"/>
            <a:ext cx="6096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200" dirty="0"/>
              <a:t>https://www.statsmodels.org/dev/examples/notebooks/generated/theta-model.html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1604726" y="3896473"/>
            <a:ext cx="175124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Theta Forecaster</a:t>
            </a:r>
            <a:endParaRPr lang="ru-RU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5914119" y="6515616"/>
            <a:ext cx="6096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200" dirty="0"/>
              <a:t>https://www.sciencedirect.com/science/article/pii/S0169207000000662</a:t>
            </a:r>
          </a:p>
        </p:txBody>
      </p:sp>
    </p:spTree>
    <p:extLst>
      <p:ext uri="{BB962C8B-B14F-4D97-AF65-F5344CB8AC3E}">
        <p14:creationId xmlns:p14="http://schemas.microsoft.com/office/powerpoint/2010/main" val="36479530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B6B433-AB20-4BD4-8E77-84B856A5D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161069"/>
            <a:ext cx="11277600" cy="806450"/>
          </a:xfrm>
        </p:spPr>
        <p:txBody>
          <a:bodyPr>
            <a:normAutofit fontScale="90000"/>
          </a:bodyPr>
          <a:lstStyle/>
          <a:p>
            <a:pPr algn="ctr"/>
            <a:r>
              <a:rPr lang="ru-RU" sz="4000" b="1" dirty="0"/>
              <a:t>Модель</a:t>
            </a:r>
            <a:r>
              <a:rPr lang="en-US" sz="4000" b="1" dirty="0"/>
              <a:t> </a:t>
            </a:r>
            <a:r>
              <a:rPr lang="ru-RU" sz="4000" b="1" dirty="0" err="1"/>
              <a:t>Холта</a:t>
            </a:r>
            <a:r>
              <a:rPr lang="ru-RU" sz="4000" b="1" dirty="0"/>
              <a:t> - двойное экспоненциальное сглаживание</a:t>
            </a:r>
            <a:endParaRPr lang="ru-RU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9CFDC76D-90F0-4FD7-8BA6-954D6D2E6FF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11739" y="785136"/>
                <a:ext cx="11791949" cy="550227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ru-RU" sz="2200" dirty="0"/>
                  <a:t>Пусть необходим прогноз на </a:t>
                </a:r>
                <a:r>
                  <a:rPr lang="en-US" sz="2200" dirty="0"/>
                  <a:t>h </a:t>
                </a:r>
                <a:r>
                  <a:rPr lang="ru-RU" sz="2200" dirty="0"/>
                  <a:t>(горизонт предсказания) шагов для несезонных данных. В прогнозе зададим текущий уровень (среднее значение прогноза) и тренд (изменение текущего уровня</a:t>
                </a:r>
                <a:r>
                  <a:rPr lang="en-US" sz="2200" dirty="0"/>
                  <a:t>, </a:t>
                </a:r>
                <a:r>
                  <a:rPr lang="ru-RU" sz="2200" dirty="0"/>
                  <a:t>чтобы был горизонт предсказания) как линейную систему (уровень меняется не сильно)</a:t>
                </a:r>
                <a:endParaRPr lang="en-US" sz="22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sz="2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20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sub>
                              </m:s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e>
                                <m: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sSub>
                                <m:sSub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r>
                                <m:rPr>
                                  <m:nor/>
                                </m:rPr>
                                <a:rPr lang="en-US" sz="2200" dirty="0"/>
                                <m:t> 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e>
                                <m: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  <m:sSub>
                                <m:sSub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d>
                                <m:d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</m:d>
                              <m:d>
                                <m:d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𝑙</m:t>
                                      </m:r>
                                    </m:e>
                                    <m:sub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sub>
                                  </m:s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  <m:sub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ru-RU" sz="2200" b="0" i="1" smtClean="0">
                                  <a:latin typeface="Cambria Math" panose="02040503050406030204" pitchFamily="18" charset="0"/>
                                </a:rPr>
                                <m:t>   (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𝑙𝑒𝑣𝑒𝑙</m:t>
                              </m:r>
                              <m:r>
                                <a:rPr lang="ru-RU" sz="22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  <m:d>
                                <m:d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𝑙</m:t>
                                      </m:r>
                                    </m:e>
                                    <m:sub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𝑙</m:t>
                                      </m:r>
                                    </m:e>
                                    <m:sub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d>
                                <m:d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d>
                              <m:sSub>
                                <m:sSub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  <m:r>
                                <a:rPr lang="ru-RU" sz="2200" b="0" i="1" smtClean="0">
                                  <a:latin typeface="Cambria Math" panose="02040503050406030204" pitchFamily="18" charset="0"/>
                                </a:rPr>
                                <m:t>  (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𝑡𝑟𝑒𝑛𝑑</m:t>
                              </m:r>
                              <m:r>
                                <a:rPr lang="ru-RU" sz="22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2200" dirty="0"/>
              </a:p>
              <a:p>
                <a:pPr marL="0" indent="0">
                  <a:buNone/>
                </a:pPr>
                <a:r>
                  <a:rPr lang="ru-RU" sz="2000" dirty="0"/>
                  <a:t>где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sz="2000" dirty="0"/>
                  <a:t> - </a:t>
                </a:r>
                <a:r>
                  <a:rPr lang="ru-RU" sz="2000" dirty="0"/>
                  <a:t>горизонт предсказания;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ru-RU" sz="2000" dirty="0"/>
                  <a:t> – параметр сглаживания тренда;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ru-RU" sz="2000" dirty="0"/>
                  <a:t> – параметр сглаживания уровня</a:t>
                </a:r>
                <a:endParaRPr lang="en-US" sz="2000" dirty="0"/>
              </a:p>
              <a:p>
                <a:pPr marL="0" indent="0">
                  <a:buNone/>
                </a:pPr>
                <a:endParaRPr lang="en-US" sz="22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ru-RU" sz="2200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9CFDC76D-90F0-4FD7-8BA6-954D6D2E6FF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11739" y="785136"/>
                <a:ext cx="11791949" cy="5502274"/>
              </a:xfrm>
              <a:blipFill>
                <a:blip r:embed="rId3"/>
                <a:stretch>
                  <a:fillRect l="-672" t="-144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Прямоугольник 4"/>
          <p:cNvSpPr/>
          <p:nvPr/>
        </p:nvSpPr>
        <p:spPr>
          <a:xfrm>
            <a:off x="504825" y="6488668"/>
            <a:ext cx="907732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/>
              <a:t>https://education.yandex.ru/handbook/ml/article/analitika-vremennyh-ryadov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7331127" y="6488668"/>
            <a:ext cx="304756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/>
              <a:t>https://otexts.com/fpp2/holt.html</a:t>
            </a:r>
            <a:endParaRPr lang="ru-RU" sz="1600" dirty="0"/>
          </a:p>
        </p:txBody>
      </p:sp>
      <p:pic>
        <p:nvPicPr>
          <p:cNvPr id="9" name="Picture 2" descr="image.png">
            <a:extLst>
              <a:ext uri="{FF2B5EF4-FFF2-40B4-BE49-F238E27FC236}">
                <a16:creationId xmlns:a16="http://schemas.microsoft.com/office/drawing/2014/main" id="{5E01BEA3-B247-4402-9AF5-2CE64C8576B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53" t="4901" r="7662"/>
          <a:stretch/>
        </p:blipFill>
        <p:spPr bwMode="auto">
          <a:xfrm>
            <a:off x="6085653" y="3380450"/>
            <a:ext cx="5772150" cy="32357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Прямоугольник 9"/>
              <p:cNvSpPr/>
              <p:nvPr/>
            </p:nvSpPr>
            <p:spPr>
              <a:xfrm>
                <a:off x="226957" y="3536273"/>
                <a:ext cx="5666554" cy="175432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ru-RU" dirty="0"/>
                  <a:t>В модели </a:t>
                </a: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ru-RU" dirty="0"/>
                  <a:t>уровень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0">
                            <a:latin typeface="Cambria Math" panose="02040503050406030204" pitchFamily="18" charset="0"/>
                          </a:rPr>
                          <m:t>l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i="0"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</m:oMath>
                </a14:m>
                <a:r>
                  <a:rPr lang="ru-RU" dirty="0"/>
                  <a:t> зависит от истинного значения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0"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i="0"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ru-RU" b="0" i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ru-RU" dirty="0"/>
                  <a:t>  </a:t>
                </a:r>
                <a:br>
                  <a:rPr lang="ru-RU" dirty="0"/>
                </a:br>
                <a:r>
                  <a:rPr lang="ru-RU" dirty="0"/>
                  <a:t>(см. парам.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>
                        <a:latin typeface="Cambria Math" panose="02040503050406030204" pitchFamily="18" charset="0"/>
                      </a:rPr>
                      <m:t>α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US" dirty="0"/>
                  <a:t> SES</a:t>
                </a:r>
                <a:r>
                  <a:rPr lang="ru-RU" dirty="0"/>
                  <a:t>)</a:t>
                </a:r>
                <a:endParaRPr lang="en-US" dirty="0"/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ru-RU" dirty="0"/>
                  <a:t>Изменение уровня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0"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i="0"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</m:oMath>
                </a14:m>
                <a:r>
                  <a:rPr lang="ru-RU" dirty="0"/>
                  <a:t> в каждый момент времени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∆</m:t>
                        </m:r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i="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</m:acc>
                      </m:e>
                      <m:sub>
                        <m:r>
                          <m:rPr>
                            <m:sty m:val="p"/>
                          </m:rPr>
                          <a:rPr lang="en-US" i="0"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</m:oMath>
                </a14:m>
                <a:r>
                  <a:rPr lang="en-US" dirty="0"/>
                  <a:t> -</a:t>
                </a:r>
                <a:r>
                  <a:rPr lang="ru-RU" dirty="0"/>
                  <a:t> считаем небольшим (условно линейным), </a:t>
                </a:r>
                <a:r>
                  <a:rPr lang="en-US" dirty="0"/>
                  <a:t/>
                </a:r>
                <a:br>
                  <a:rPr lang="en-US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0"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i="0"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</m:oMath>
                </a14:m>
                <a:r>
                  <a:rPr lang="ru-RU" b="0" dirty="0">
                    <a:solidFill>
                      <a:schemeClr val="tx1"/>
                    </a:solidFill>
                    <a:effectLst/>
                  </a:rPr>
                  <a:t> - Зависит от сглаженного изменения уровня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lang="ru-RU" b="0" dirty="0">
                    <a:solidFill>
                      <a:schemeClr val="tx1"/>
                    </a:solidFill>
                    <a:effectLst/>
                  </a:rPr>
                  <a:t>)  </a:t>
                </a:r>
              </a:p>
            </p:txBody>
          </p:sp>
        </mc:Choice>
        <mc:Fallback xmlns="">
          <p:sp>
            <p:nvSpPr>
              <p:cNvPr id="10" name="Прямоугольник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957" y="3536273"/>
                <a:ext cx="5666554" cy="1754326"/>
              </a:xfrm>
              <a:prstGeom prst="rect">
                <a:avLst/>
              </a:prstGeom>
              <a:blipFill>
                <a:blip r:embed="rId5"/>
                <a:stretch>
                  <a:fillRect l="-860" t="-1736" r="-860" b="-451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2" descr="image.png">
            <a:extLst>
              <a:ext uri="{FF2B5EF4-FFF2-40B4-BE49-F238E27FC236}">
                <a16:creationId xmlns:a16="http://schemas.microsoft.com/office/drawing/2014/main" id="{5E01BEA3-B247-4402-9AF5-2CE64C8576B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744" t="11658" r="9785" b="70883"/>
          <a:stretch/>
        </p:blipFill>
        <p:spPr bwMode="auto">
          <a:xfrm>
            <a:off x="10011595" y="3445869"/>
            <a:ext cx="2038350" cy="15906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895987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B6B433-AB20-4BD4-8E77-84B856A5D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161069"/>
            <a:ext cx="11277600" cy="806450"/>
          </a:xfrm>
        </p:spPr>
        <p:txBody>
          <a:bodyPr>
            <a:normAutofit fontScale="90000"/>
          </a:bodyPr>
          <a:lstStyle/>
          <a:p>
            <a:pPr algn="ctr"/>
            <a:r>
              <a:rPr lang="ru-RU" sz="4000" b="1" dirty="0"/>
              <a:t>Модель</a:t>
            </a:r>
            <a:r>
              <a:rPr lang="en-US" sz="4000" b="1" dirty="0"/>
              <a:t> </a:t>
            </a:r>
            <a:r>
              <a:rPr lang="ru-RU" sz="4000" b="1" dirty="0" err="1"/>
              <a:t>Холта</a:t>
            </a:r>
            <a:r>
              <a:rPr lang="ru-RU" sz="4000" b="1" dirty="0"/>
              <a:t> - двойное экспоненциальное сглаживание</a:t>
            </a:r>
            <a:endParaRPr lang="ru-RU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9CFDC76D-90F0-4FD7-8BA6-954D6D2E6FF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11739" y="785136"/>
                <a:ext cx="11791949" cy="5502274"/>
              </a:xfrm>
            </p:spPr>
            <p:txBody>
              <a:bodyPr>
                <a:normAutofit/>
              </a:bodyPr>
              <a:lstStyle/>
              <a:p>
                <a:pPr algn="just"/>
                <a:r>
                  <a:rPr lang="ru-RU" sz="2400" dirty="0">
                    <a:latin typeface="__YSText_8fb396"/>
                  </a:rPr>
                  <a:t>Могут быть также </a:t>
                </a:r>
                <a:endParaRPr lang="en-US" sz="2400" dirty="0">
                  <a:latin typeface="__YSText_8fb396"/>
                </a:endParaRPr>
              </a:p>
              <a:p>
                <a:pPr algn="just"/>
                <a:r>
                  <a:rPr lang="ru-RU" sz="2400" dirty="0">
                    <a:latin typeface="__YSText_8fb396"/>
                  </a:rPr>
                  <a:t>мультипликативная модель </a:t>
                </a:r>
                <a:r>
                  <a:rPr lang="ru-RU" sz="2400" dirty="0" err="1">
                    <a:latin typeface="__YSText_8fb396"/>
                  </a:rPr>
                  <a:t>Холат</a:t>
                </a:r>
                <a:r>
                  <a:rPr lang="ru-RU" sz="2400" dirty="0">
                    <a:latin typeface="__YSText_8fb396"/>
                  </a:rPr>
                  <a:t> и модель </a:t>
                </a:r>
                <a:r>
                  <a:rPr lang="ru-RU" sz="2400" dirty="0" err="1">
                    <a:latin typeface="__YSText_8fb396"/>
                  </a:rPr>
                  <a:t>Холта</a:t>
                </a:r>
                <a:r>
                  <a:rPr lang="ru-RU" sz="2400" dirty="0">
                    <a:latin typeface="__YSText_8fb396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sz="240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</m:acc>
                      </m:e>
                      <m:sub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a:rPr lang="en-US" sz="240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r>
                      <a:rPr lang="en-US" sz="240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l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en-US" sz="2400">
                        <a:latin typeface="Cambria Math" panose="02040503050406030204" pitchFamily="18" charset="0"/>
                      </a:rPr>
                      <m:t>⋅</m:t>
                    </m:r>
                    <m:sSubSup>
                      <m:sSub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h</m:t>
                        </m:r>
                      </m:sup>
                    </m:sSubSup>
                  </m:oMath>
                </a14:m>
                <a:endParaRPr lang="en-US" sz="2400" dirty="0">
                  <a:latin typeface="__YSText_8fb396"/>
                </a:endParaRPr>
              </a:p>
              <a:p>
                <a:pPr algn="just"/>
                <a:r>
                  <a:rPr lang="ru-RU" sz="2400" dirty="0">
                    <a:latin typeface="__YSText_8fb396"/>
                  </a:rPr>
                  <a:t> с затухающим трендом</a:t>
                </a:r>
                <a:endParaRPr lang="en-US" sz="2400" dirty="0">
                  <a:latin typeface="__YSText_8fb396"/>
                </a:endParaRPr>
              </a:p>
              <a:p>
                <a:pPr marL="0" indent="0" algn="just">
                  <a:buNone/>
                </a:pPr>
                <a:r>
                  <a:rPr lang="en-US" sz="2400" dirty="0">
                    <a:latin typeface="__YSText_8fb396"/>
                  </a:rPr>
                  <a:t> 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sz="240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</m:acc>
                      </m:e>
                      <m:sub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a:rPr lang="en-US" sz="240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𝜂</m:t>
                        </m:r>
                      </m:sup>
                    </m:sSub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𝜂</m:t>
                            </m:r>
                          </m:sup>
                        </m:sSubSup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𝜂</m:t>
                        </m:r>
                      </m:den>
                    </m:f>
                  </m:oMath>
                </a14:m>
                <a:r>
                  <a:rPr lang="en-US" sz="2400" dirty="0">
                    <a:latin typeface="__YSText_8fb396"/>
                  </a:rPr>
                  <a:t>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𝜂</m:t>
                        </m:r>
                      </m:sup>
                    </m:sSub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𝜂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/>
                    </m:sSubSup>
                  </m:oMath>
                </a14:m>
                <a:r>
                  <a:rPr lang="en-US" sz="2400" dirty="0">
                    <a:latin typeface="__YSText_8fb396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𝜂</m:t>
                    </m:r>
                  </m:oMath>
                </a14:m>
                <a:r>
                  <a:rPr lang="en-US" sz="2400" dirty="0">
                    <a:latin typeface="__YSText_8fb396"/>
                  </a:rPr>
                  <a:t> – </a:t>
                </a:r>
                <a:r>
                  <a:rPr lang="ru-RU" sz="2400" dirty="0">
                    <a:latin typeface="__YSText_8fb396"/>
                  </a:rPr>
                  <a:t>параметр затухания (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𝜂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∈(0.8,0.98)</m:t>
                    </m:r>
                  </m:oMath>
                </a14:m>
                <a:endParaRPr lang="ru-RU" sz="2400" dirty="0">
                  <a:latin typeface="__YSText_8fb396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9CFDC76D-90F0-4FD7-8BA6-954D6D2E6FF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11739" y="785136"/>
                <a:ext cx="11791949" cy="5502274"/>
              </a:xfrm>
              <a:blipFill>
                <a:blip r:embed="rId3"/>
                <a:stretch>
                  <a:fillRect l="-672" t="-144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Прямоугольник 4"/>
          <p:cNvSpPr/>
          <p:nvPr/>
        </p:nvSpPr>
        <p:spPr>
          <a:xfrm>
            <a:off x="504825" y="6488668"/>
            <a:ext cx="907732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/>
              <a:t>https://www.stat.berkeley.edu/~ryantibs/timeseries-f23/</a:t>
            </a:r>
            <a:endParaRPr lang="ru-RU" sz="1600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7331127" y="6488668"/>
            <a:ext cx="304756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/>
              <a:t>https://otexts.com/fpp2/holt.html</a:t>
            </a:r>
            <a:endParaRPr lang="ru-RU" sz="1600" dirty="0"/>
          </a:p>
        </p:txBody>
      </p:sp>
      <p:pic>
        <p:nvPicPr>
          <p:cNvPr id="9" name="Picture 2" descr="image.png">
            <a:extLst>
              <a:ext uri="{FF2B5EF4-FFF2-40B4-BE49-F238E27FC236}">
                <a16:creationId xmlns:a16="http://schemas.microsoft.com/office/drawing/2014/main" id="{5E01BEA3-B247-4402-9AF5-2CE64C8576B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53" t="4901" r="7662"/>
          <a:stretch/>
        </p:blipFill>
        <p:spPr bwMode="auto">
          <a:xfrm>
            <a:off x="6085653" y="3380450"/>
            <a:ext cx="5772150" cy="32357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image.png">
            <a:extLst>
              <a:ext uri="{FF2B5EF4-FFF2-40B4-BE49-F238E27FC236}">
                <a16:creationId xmlns:a16="http://schemas.microsoft.com/office/drawing/2014/main" id="{5E01BEA3-B247-4402-9AF5-2CE64C8576B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744" t="11658" r="9785" b="70883"/>
          <a:stretch/>
        </p:blipFill>
        <p:spPr bwMode="auto">
          <a:xfrm>
            <a:off x="10011595" y="3445869"/>
            <a:ext cx="2038350" cy="15906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Прямоугольник 12"/>
          <p:cNvSpPr/>
          <p:nvPr/>
        </p:nvSpPr>
        <p:spPr>
          <a:xfrm>
            <a:off x="549863" y="5066802"/>
            <a:ext cx="565785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>
                <a:latin typeface="__YSText_8fb396"/>
              </a:rPr>
              <a:t>Модели используют на коротком горизонте, напр. продажи в несколько месяцев, требует предсказать следующий месяц</a:t>
            </a:r>
            <a:endParaRPr lang="ru-RU" b="0" dirty="0">
              <a:solidFill>
                <a:schemeClr val="tx1"/>
              </a:solidFill>
              <a:effectLst/>
              <a:latin typeface="__YSText_8fb396"/>
            </a:endParaRPr>
          </a:p>
        </p:txBody>
      </p:sp>
    </p:spTree>
    <p:extLst>
      <p:ext uri="{BB962C8B-B14F-4D97-AF65-F5344CB8AC3E}">
        <p14:creationId xmlns:p14="http://schemas.microsoft.com/office/powerpoint/2010/main" val="14116145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B6B433-AB20-4BD4-8E77-84B856A5D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957" y="93605"/>
            <a:ext cx="11802295" cy="933115"/>
          </a:xfrm>
        </p:spPr>
        <p:txBody>
          <a:bodyPr>
            <a:normAutofit/>
          </a:bodyPr>
          <a:lstStyle/>
          <a:p>
            <a:pPr algn="ctr"/>
            <a:r>
              <a:rPr lang="ru-RU" sz="3200" b="1" dirty="0"/>
              <a:t>Модель </a:t>
            </a:r>
            <a:r>
              <a:rPr lang="en-US" sz="3200" b="1" dirty="0"/>
              <a:t>Holt</a:t>
            </a:r>
            <a:r>
              <a:rPr lang="ru-RU" sz="3200" b="1" dirty="0"/>
              <a:t>-</a:t>
            </a:r>
            <a:r>
              <a:rPr lang="en-US" sz="3200" b="1" dirty="0"/>
              <a:t>Winters </a:t>
            </a:r>
            <a:r>
              <a:rPr lang="ru-RU" sz="3200" b="1" dirty="0"/>
              <a:t> - тройное экспоненциальное сглаживание</a:t>
            </a:r>
            <a:endParaRPr lang="ru-RU" sz="3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9CFDC76D-90F0-4FD7-8BA6-954D6D2E6FF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26957" y="817117"/>
                <a:ext cx="11791949" cy="550227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ru-RU" sz="2200" dirty="0"/>
                  <a:t>Пусть существуют быстрые изменения с известным периодом </a:t>
                </a:r>
                <a14:m>
                  <m:oMath xmlns:m="http://schemas.openxmlformats.org/officeDocument/2006/math">
                    <m:r>
                      <a:rPr lang="en-US" sz="2200" b="0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2200" dirty="0"/>
                  <a:t> </a:t>
                </a:r>
                <a:r>
                  <a:rPr lang="ru-RU" sz="2200" dirty="0"/>
                  <a:t>(сезонность). Тогда для точек одной фазы (удаленных на </a:t>
                </a:r>
                <a14:m>
                  <m:oMath xmlns:m="http://schemas.openxmlformats.org/officeDocument/2006/math">
                    <m:r>
                      <a:rPr lang="en-US" sz="2200" b="0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2200" dirty="0"/>
                  <a:t>) </a:t>
                </a:r>
                <a:r>
                  <a:rPr lang="ru-RU" sz="2200" dirty="0"/>
                  <a:t>введем компоненты сглаживания.</a:t>
                </a:r>
                <a:endParaRPr lang="en-US" sz="22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sz="2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20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sub>
                              </m:s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e>
                                <m: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sSub>
                                <m:sSub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ru-RU" sz="22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∆</m:t>
                                  </m:r>
                                </m:sub>
                              </m:s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r>
                                <m:rPr>
                                  <m:nor/>
                                </m:rPr>
                                <a:rPr lang="en-US" sz="2200" dirty="0"/>
                                <m:t> 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e>
                                <m: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  <m:sSub>
                                <m:sSub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d>
                                <m:d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</m:d>
                              <m:d>
                                <m:d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𝑙</m:t>
                                      </m:r>
                                    </m:e>
                                    <m:sub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sub>
                                  </m:s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  <m:sub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ru-RU" sz="2200" b="0" i="1" smtClean="0">
                                  <a:latin typeface="Cambria Math" panose="02040503050406030204" pitchFamily="18" charset="0"/>
                                </a:rPr>
                                <m:t>   (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𝑙𝑒𝑣𝑒𝑙</m:t>
                              </m:r>
                              <m:r>
                                <a:rPr lang="ru-RU" sz="22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  <m:d>
                                <m:d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𝑙</m:t>
                                      </m:r>
                                    </m:e>
                                    <m:sub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𝑙</m:t>
                                      </m:r>
                                    </m:e>
                                    <m:sub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d>
                                <m:d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d>
                              <m:sSub>
                                <m:sSub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  <m:r>
                                <a:rPr lang="ru-RU" sz="2200" b="0" i="1" smtClean="0">
                                  <a:latin typeface="Cambria Math" panose="02040503050406030204" pitchFamily="18" charset="0"/>
                                </a:rPr>
                                <m:t>  (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𝑡𝑟𝑒𝑛𝑑</m:t>
                              </m:r>
                              <m:r>
                                <a:rPr lang="ru-RU" sz="22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  <m:d>
                                <m:dPr>
                                  <m:ctrlP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200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sz="2200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2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200" b="0" i="1" smtClean="0">
                                          <a:latin typeface="Cambria Math" panose="02040503050406030204" pitchFamily="18" charset="0"/>
                                        </a:rPr>
                                        <m:t>𝑙</m:t>
                                      </m:r>
                                    </m:e>
                                    <m:sub>
                                      <m:r>
                                        <a:rPr lang="en-US" sz="2200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d>
                                <m:dPr>
                                  <m:ctrlP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𝛾</m:t>
                                  </m:r>
                                </m:e>
                              </m:d>
                              <m:sSub>
                                <m:sSubPr>
                                  <m:ctrlP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  <a:endParaRPr lang="en-US" sz="2200" dirty="0"/>
              </a:p>
              <a:p>
                <a:pPr marL="0" indent="0">
                  <a:buNone/>
                </a:pPr>
                <a:r>
                  <a:rPr lang="ru-RU" sz="2000" dirty="0"/>
                  <a:t>где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ru-RU" sz="2000" dirty="0"/>
                  <a:t> – коэффициент сезонного сглаживания,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2000" dirty="0"/>
                  <a:t> – </a:t>
                </a:r>
                <a:r>
                  <a:rPr lang="ru-RU" sz="2000" dirty="0"/>
                  <a:t>период сезонность,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∆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ru-RU" sz="2000" dirty="0"/>
                  <a:t> – смещение относительного последнего полного сезона в данных</a:t>
                </a:r>
                <a:endParaRPr lang="en-US" sz="2000" dirty="0"/>
              </a:p>
              <a:p>
                <a:pPr marL="0" indent="0">
                  <a:buNone/>
                </a:pPr>
                <a:endParaRPr lang="en-US" sz="20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ru-RU" sz="2000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9CFDC76D-90F0-4FD7-8BA6-954D6D2E6FF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6957" y="817117"/>
                <a:ext cx="11791949" cy="5502274"/>
              </a:xfrm>
              <a:blipFill>
                <a:blip r:embed="rId3"/>
                <a:stretch>
                  <a:fillRect l="-672" t="-132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Прямоугольник 4"/>
          <p:cNvSpPr/>
          <p:nvPr/>
        </p:nvSpPr>
        <p:spPr>
          <a:xfrm>
            <a:off x="504825" y="6488668"/>
            <a:ext cx="907732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/>
              <a:t>https://education.yandex.ru/handbook/ml/article/analitika-vremennyh-ryadov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7331127" y="6488668"/>
            <a:ext cx="372762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600" dirty="0"/>
              <a:t>https://otexts.com/fpp2/holt-winters.html</a:t>
            </a:r>
          </a:p>
        </p:txBody>
      </p:sp>
      <p:sp>
        <p:nvSpPr>
          <p:cNvPr id="10" name="Прямоугольник 9"/>
          <p:cNvSpPr/>
          <p:nvPr/>
        </p:nvSpPr>
        <p:spPr>
          <a:xfrm>
            <a:off x="346840" y="3826401"/>
            <a:ext cx="5666554" cy="2800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dirty="0"/>
              <a:t>В модели Сезонная компонента – это текущее значение без уровня и предыдущая сезонная компонента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2000" dirty="0"/>
              <a:t>Сезон – сравнительно быстрые изменения с одинаковым периодом!</a:t>
            </a:r>
            <a:endParaRPr lang="en-US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sz="2000" dirty="0"/>
              <a:t>Могут быть также мультипликативная и затухающая модели тренда и сезонности.</a:t>
            </a:r>
          </a:p>
          <a:p>
            <a:pPr algn="just"/>
            <a:r>
              <a:rPr lang="ru-RU" sz="2000" dirty="0"/>
              <a:t>	напр. спрос на </a:t>
            </a:r>
            <a:r>
              <a:rPr lang="ru-RU" sz="2000" dirty="0" err="1"/>
              <a:t>электроэенерги</a:t>
            </a:r>
            <a:r>
              <a:rPr lang="ru-RU" sz="2000" dirty="0"/>
              <a:t>.</a:t>
            </a:r>
          </a:p>
          <a:p>
            <a:pPr algn="just"/>
            <a:endParaRPr lang="ru-RU" sz="1600" b="0" i="1" dirty="0">
              <a:solidFill>
                <a:schemeClr val="tx1"/>
              </a:solidFill>
              <a:effectLst/>
              <a:latin typeface="__YSText_8fb396"/>
            </a:endParaRPr>
          </a:p>
        </p:txBody>
      </p:sp>
      <p:pic>
        <p:nvPicPr>
          <p:cNvPr id="14" name="Picture 2" descr="image.png">
            <a:extLst>
              <a:ext uri="{FF2B5EF4-FFF2-40B4-BE49-F238E27FC236}">
                <a16:creationId xmlns:a16="http://schemas.microsoft.com/office/drawing/2014/main" id="{02A694C1-DCCF-4974-B57F-8BFBFBCC1DE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87" t="8532" r="8717" b="6336"/>
          <a:stretch/>
        </p:blipFill>
        <p:spPr bwMode="auto">
          <a:xfrm>
            <a:off x="6133277" y="3416074"/>
            <a:ext cx="5734050" cy="2962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image.png">
            <a:extLst>
              <a:ext uri="{FF2B5EF4-FFF2-40B4-BE49-F238E27FC236}">
                <a16:creationId xmlns:a16="http://schemas.microsoft.com/office/drawing/2014/main" id="{02A694C1-DCCF-4974-B57F-8BFBFBCC1DE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976" t="11915" r="10074" b="77683"/>
          <a:stretch/>
        </p:blipFill>
        <p:spPr bwMode="auto">
          <a:xfrm>
            <a:off x="9284584" y="3416073"/>
            <a:ext cx="2734322" cy="1298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013381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B6B433-AB20-4BD4-8E77-84B856A5D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957" y="93606"/>
            <a:ext cx="11802295" cy="757854"/>
          </a:xfrm>
        </p:spPr>
        <p:txBody>
          <a:bodyPr>
            <a:normAutofit/>
          </a:bodyPr>
          <a:lstStyle/>
          <a:p>
            <a:pPr algn="ctr"/>
            <a:r>
              <a:rPr lang="ru-RU" sz="3200" b="1" dirty="0"/>
              <a:t>Модель </a:t>
            </a:r>
            <a:r>
              <a:rPr lang="en-US" sz="3200" b="1" dirty="0"/>
              <a:t>Holt</a:t>
            </a:r>
            <a:r>
              <a:rPr lang="ru-RU" sz="3200" b="1" dirty="0"/>
              <a:t>-</a:t>
            </a:r>
            <a:r>
              <a:rPr lang="en-US" sz="3200" b="1" dirty="0"/>
              <a:t>Winters </a:t>
            </a:r>
            <a:r>
              <a:rPr lang="ru-RU" sz="3200" b="1" dirty="0"/>
              <a:t> - тройное экспоненциальное сглаживание</a:t>
            </a:r>
            <a:endParaRPr lang="ru-RU" sz="3600" b="1" dirty="0"/>
          </a:p>
        </p:txBody>
      </p:sp>
      <p:sp>
        <p:nvSpPr>
          <p:cNvPr id="4" name="Объект 3"/>
          <p:cNvSpPr>
            <a:spLocks noGrp="1"/>
          </p:cNvSpPr>
          <p:nvPr>
            <p:ph idx="1"/>
          </p:nvPr>
        </p:nvSpPr>
        <p:spPr>
          <a:xfrm>
            <a:off x="226956" y="739410"/>
            <a:ext cx="6775824" cy="5595061"/>
          </a:xfrm>
        </p:spPr>
        <p:txBody>
          <a:bodyPr>
            <a:noAutofit/>
          </a:bodyPr>
          <a:lstStyle/>
          <a:p>
            <a:r>
              <a:rPr lang="en-US" sz="2100" dirty="0"/>
              <a:t>SES - </a:t>
            </a:r>
            <a:r>
              <a:rPr lang="ru-RU" sz="2100" dirty="0"/>
              <a:t>Для небольшого периода и одношагового прогноза.</a:t>
            </a:r>
          </a:p>
          <a:p>
            <a:pPr lvl="1"/>
            <a:r>
              <a:rPr lang="ru-RU" sz="2100" dirty="0"/>
              <a:t>Желательно, чтобы  данные были стационарны или очень медленно меняющиеся</a:t>
            </a:r>
          </a:p>
          <a:p>
            <a:pPr lvl="1"/>
            <a:r>
              <a:rPr lang="ru-RU" sz="2100" dirty="0"/>
              <a:t>Напр. 2 месяца, горизонт 1-2 дня.</a:t>
            </a:r>
          </a:p>
          <a:p>
            <a:r>
              <a:rPr lang="en-US" sz="2100" dirty="0"/>
              <a:t>Holt (DES) – </a:t>
            </a:r>
            <a:r>
              <a:rPr lang="ru-RU" sz="2100" dirty="0"/>
              <a:t>если преимущественно в данных тренд (медленные монотонные изменения).</a:t>
            </a:r>
          </a:p>
          <a:p>
            <a:pPr lvl="1"/>
            <a:r>
              <a:rPr lang="ru-RU" sz="2100" dirty="0"/>
              <a:t>Возможен многошаговый прогноз если поведение ВР монотонно. </a:t>
            </a:r>
          </a:p>
          <a:p>
            <a:pPr lvl="1"/>
            <a:r>
              <a:rPr lang="ru-RU" sz="2100" dirty="0"/>
              <a:t>Напр. 1 год, горизонт 1-4 недели</a:t>
            </a:r>
          </a:p>
          <a:p>
            <a:r>
              <a:rPr lang="en-US" sz="2100" dirty="0"/>
              <a:t>HW (TES) – </a:t>
            </a:r>
            <a:r>
              <a:rPr lang="ru-RU" sz="2100" dirty="0"/>
              <a:t>если данные имеют одну сезонность регулярного вида.</a:t>
            </a:r>
          </a:p>
          <a:p>
            <a:pPr lvl="1"/>
            <a:r>
              <a:rPr lang="ru-RU" sz="1700" dirty="0"/>
              <a:t>Возможен сложный</a:t>
            </a:r>
            <a:r>
              <a:rPr lang="en-US" sz="1700" dirty="0"/>
              <a:t> </a:t>
            </a:r>
            <a:r>
              <a:rPr lang="ru-RU" sz="1700" dirty="0"/>
              <a:t>(не </a:t>
            </a:r>
            <a:r>
              <a:rPr lang="ru-RU" sz="1700" dirty="0" err="1"/>
              <a:t>гаронический</a:t>
            </a:r>
            <a:r>
              <a:rPr lang="ru-RU" sz="1700" dirty="0"/>
              <a:t>) паттерн но с одним известным периодом</a:t>
            </a:r>
            <a:r>
              <a:rPr lang="en-US" sz="1700" dirty="0"/>
              <a:t> </a:t>
            </a:r>
            <a:r>
              <a:rPr lang="ru-RU" sz="1700" dirty="0"/>
              <a:t>(регулярная сезонность)</a:t>
            </a:r>
          </a:p>
          <a:p>
            <a:pPr lvl="1"/>
            <a:r>
              <a:rPr lang="ru-RU" sz="2100" dirty="0"/>
              <a:t> напр. 10 лет, горизонт 1-2 месяца</a:t>
            </a:r>
          </a:p>
        </p:txBody>
      </p:sp>
      <p:pic>
        <p:nvPicPr>
          <p:cNvPr id="8194" name="Picture 2" descr="Visualize how the Exponential Smoothing (ETS) algorithm works, Image by Author"/>
          <p:cNvPicPr>
            <a:picLocks noChangeAspect="1" noChangeArrowheads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074"/>
          <a:stretch/>
        </p:blipFill>
        <p:spPr bwMode="auto">
          <a:xfrm>
            <a:off x="7002780" y="722190"/>
            <a:ext cx="4912297" cy="5425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Прямоугольник 6"/>
          <p:cNvSpPr/>
          <p:nvPr/>
        </p:nvSpPr>
        <p:spPr>
          <a:xfrm>
            <a:off x="838200" y="6351691"/>
            <a:ext cx="887538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https://towardsdatascience.com/forecast-multiple-time-series-like-a-master-1579a2b6f18d/</a:t>
            </a:r>
          </a:p>
        </p:txBody>
      </p:sp>
    </p:spTree>
    <p:extLst>
      <p:ext uri="{BB962C8B-B14F-4D97-AF65-F5344CB8AC3E}">
        <p14:creationId xmlns:p14="http://schemas.microsoft.com/office/powerpoint/2010/main" val="41716031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B6B433-AB20-4BD4-8E77-84B856A5D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957" y="93605"/>
            <a:ext cx="11802295" cy="933115"/>
          </a:xfrm>
        </p:spPr>
        <p:txBody>
          <a:bodyPr>
            <a:normAutofit fontScale="90000"/>
          </a:bodyPr>
          <a:lstStyle/>
          <a:p>
            <a:pPr algn="ctr"/>
            <a:r>
              <a:rPr lang="ru-RU" sz="3200" b="1" dirty="0"/>
              <a:t>Модели </a:t>
            </a:r>
            <a:r>
              <a:rPr lang="en-US" sz="3200" b="1" dirty="0"/>
              <a:t>Error-Trend-Seasonality</a:t>
            </a:r>
            <a:r>
              <a:rPr lang="ru-RU" sz="3200" b="1" dirty="0"/>
              <a:t> (</a:t>
            </a:r>
            <a:r>
              <a:rPr lang="ru-RU" sz="3600" b="1" dirty="0"/>
              <a:t>экспоненциальное сглаживание)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9CFDC76D-90F0-4FD7-8BA6-954D6D2E6FF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06264" y="769492"/>
                <a:ext cx="11985736" cy="5509656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10000"/>
                  </a:lnSpc>
                  <a:buNone/>
                </a:pPr>
                <a:r>
                  <a:rPr lang="en-US" sz="2200" dirty="0"/>
                  <a:t> </a:t>
                </a:r>
                <a:r>
                  <a:rPr lang="ru-RU" sz="2200" dirty="0"/>
                  <a:t>Рассмотрим </a:t>
                </a:r>
                <a:r>
                  <a:rPr lang="en-US" sz="2200" dirty="0"/>
                  <a:t>SES </a:t>
                </a:r>
                <a:r>
                  <a:rPr lang="ru-RU" sz="2200" dirty="0"/>
                  <a:t>в виде части модели </a:t>
                </a:r>
                <a:r>
                  <a:rPr lang="en-US" sz="2200" dirty="0"/>
                  <a:t>Holt-Winters</a:t>
                </a:r>
              </a:p>
              <a:p>
                <a:pPr marL="0" indent="0" algn="ctr">
                  <a:lnSpc>
                    <a:spcPct val="11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ru-RU" sz="2200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2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sz="2200" i="1" dirty="0">
                  <a:latin typeface="Cambria Math" panose="02040503050406030204" pitchFamily="18" charset="0"/>
                </a:endParaRPr>
              </a:p>
              <a:p>
                <a:pPr marL="0" indent="0" algn="ctr">
                  <a:lnSpc>
                    <a:spcPct val="110000"/>
                  </a:lnSpc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𝛼</m:t>
                    </m:r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200" i="1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</m:d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ru-RU" sz="2200" dirty="0"/>
                  <a:t> </a:t>
                </a:r>
                <a:endParaRPr lang="en-US" sz="2200" dirty="0"/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ru-RU" sz="2200" dirty="0"/>
                  <a:t>	тогда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𝛼</m:t>
                    </m:r>
                    <m:d>
                      <m:d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e>
                    </m:d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sz="22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𝛼</m:t>
                    </m:r>
                    <m:d>
                      <m:d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22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sz="22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𝛼</m:t>
                    </m:r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200" b="0" i="0" smtClean="0">
                        <a:latin typeface="Cambria Math" panose="02040503050406030204" pitchFamily="18" charset="0"/>
                      </a:rPr>
                      <m:t>,  </m:t>
                    </m:r>
                  </m:oMath>
                </a14:m>
                <a:endParaRPr lang="ru-RU" sz="2200" b="0" i="0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10000"/>
                  </a:lnSpc>
                  <a:buNone/>
                </a:pPr>
                <a14:m>
                  <m:oMath xmlns:m="http://schemas.openxmlformats.org/officeDocument/2006/math">
                    <m:r>
                      <a:rPr lang="ru-RU" sz="2200" b="0" i="0" smtClean="0">
                        <a:latin typeface="Cambria Math" panose="02040503050406030204" pitchFamily="18" charset="0"/>
                      </a:rPr>
                      <m:t>где </m:t>
                    </m:r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ru-RU" sz="2200" dirty="0"/>
                  <a:t> - остаток в модели (инновация) в модели. </a:t>
                </a:r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ru-RU" sz="2200" dirty="0"/>
                  <a:t>Тогда можно ввести модель </a:t>
                </a:r>
                <a:r>
                  <a:rPr lang="en-US" sz="2200" dirty="0"/>
                  <a:t>Error-Trend-Seasonality</a:t>
                </a:r>
                <a:r>
                  <a:rPr lang="ru-RU" sz="2200" b="1" dirty="0"/>
                  <a:t> </a:t>
                </a:r>
                <a:r>
                  <a:rPr lang="en-US" sz="2200" dirty="0"/>
                  <a:t>ETS(T, S, E)</a:t>
                </a:r>
                <a:r>
                  <a:rPr lang="ru-RU" sz="2200" dirty="0"/>
                  <a:t>:Тренд </a:t>
                </a:r>
                <a:r>
                  <a:rPr lang="en-US" sz="2200" dirty="0"/>
                  <a:t>(T)</a:t>
                </a:r>
                <a:r>
                  <a:rPr lang="ru-RU" sz="2200" dirty="0"/>
                  <a:t> , сезонность</a:t>
                </a:r>
                <a:r>
                  <a:rPr lang="en-US" sz="2200" dirty="0"/>
                  <a:t> (S)</a:t>
                </a:r>
                <a:r>
                  <a:rPr lang="ru-RU" sz="2200" dirty="0"/>
                  <a:t> , ошибка модели</a:t>
                </a:r>
                <a:r>
                  <a:rPr lang="en-US" sz="2200" dirty="0"/>
                  <a:t> (E)</a:t>
                </a:r>
                <a:r>
                  <a:rPr lang="ru-RU" sz="2200" dirty="0"/>
                  <a:t>.</a:t>
                </a:r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ru-RU" sz="2200" dirty="0"/>
                  <a:t>Модели могут быть в разных соотношениях </a:t>
                </a:r>
                <a:endParaRPr lang="en-US" sz="2200" dirty="0"/>
              </a:p>
              <a:p>
                <a:pPr>
                  <a:lnSpc>
                    <a:spcPct val="110000"/>
                  </a:lnSpc>
                  <a:spcBef>
                    <a:spcPts val="0"/>
                  </a:spcBef>
                </a:pPr>
                <a:r>
                  <a:rPr lang="en-US" sz="2000" dirty="0"/>
                  <a:t>A – </a:t>
                </a:r>
                <a:r>
                  <a:rPr lang="ru-RU" sz="2000" dirty="0"/>
                  <a:t>аддитивная модель, </a:t>
                </a:r>
                <a:endParaRPr lang="en-US" sz="2000" dirty="0"/>
              </a:p>
              <a:p>
                <a:pPr>
                  <a:lnSpc>
                    <a:spcPct val="110000"/>
                  </a:lnSpc>
                  <a:spcBef>
                    <a:spcPts val="0"/>
                  </a:spcBef>
                </a:pPr>
                <a:r>
                  <a:rPr lang="en-US" sz="2000" dirty="0"/>
                  <a:t>Ad – </a:t>
                </a:r>
                <a:r>
                  <a:rPr lang="ru-RU" sz="2000" dirty="0"/>
                  <a:t>затухающая аддитивная модель, </a:t>
                </a:r>
                <a:endParaRPr lang="en-US" sz="2000" dirty="0"/>
              </a:p>
              <a:p>
                <a:pPr>
                  <a:lnSpc>
                    <a:spcPct val="110000"/>
                  </a:lnSpc>
                  <a:spcBef>
                    <a:spcPts val="0"/>
                  </a:spcBef>
                </a:pPr>
                <a:r>
                  <a:rPr lang="en-US" sz="2000" dirty="0"/>
                  <a:t>M – </a:t>
                </a:r>
                <a:r>
                  <a:rPr lang="ru-RU" sz="2000" dirty="0"/>
                  <a:t>мультипликативная модель, </a:t>
                </a:r>
                <a:endParaRPr lang="en-US" sz="2000" dirty="0"/>
              </a:p>
              <a:p>
                <a:pPr>
                  <a:lnSpc>
                    <a:spcPct val="110000"/>
                  </a:lnSpc>
                  <a:spcBef>
                    <a:spcPts val="0"/>
                  </a:spcBef>
                </a:pPr>
                <a:r>
                  <a:rPr lang="en-US" sz="2000" dirty="0"/>
                  <a:t>N – </a:t>
                </a:r>
                <a:r>
                  <a:rPr lang="ru-RU" sz="2000" dirty="0"/>
                  <a:t>компонента не</a:t>
                </a:r>
                <a:r>
                  <a:rPr lang="en-US" sz="2000" dirty="0"/>
                  <a:t> </a:t>
                </a:r>
                <a:r>
                  <a:rPr lang="ru-RU" sz="2000" dirty="0"/>
                  <a:t>сглаживается</a:t>
                </a:r>
              </a:p>
              <a:p>
                <a:pPr marL="0" indent="0">
                  <a:lnSpc>
                    <a:spcPct val="110000"/>
                  </a:lnSpc>
                  <a:spcBef>
                    <a:spcPts val="0"/>
                  </a:spcBef>
                  <a:buNone/>
                </a:pPr>
                <a:r>
                  <a:rPr lang="ru-RU" sz="2000" dirty="0"/>
                  <a:t>Напр. </a:t>
                </a:r>
                <a:r>
                  <a:rPr lang="en-US" sz="2000" dirty="0"/>
                  <a:t>ETS (A, A, A) – </a:t>
                </a:r>
                <a:r>
                  <a:rPr lang="ru-RU" sz="2000" dirty="0"/>
                  <a:t>модель </a:t>
                </a:r>
                <a:r>
                  <a:rPr lang="ru-RU" sz="2000" dirty="0" err="1"/>
                  <a:t>Холта-Винтерса</a:t>
                </a:r>
                <a:r>
                  <a:rPr lang="ru-RU" sz="2000" dirty="0"/>
                  <a:t>.</a:t>
                </a: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9CFDC76D-90F0-4FD7-8BA6-954D6D2E6FF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06264" y="769492"/>
                <a:ext cx="11985736" cy="5509656"/>
              </a:xfrm>
              <a:blipFill>
                <a:blip r:embed="rId3"/>
                <a:stretch>
                  <a:fillRect l="-661" t="-55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Прямоугольник 4"/>
          <p:cNvSpPr/>
          <p:nvPr/>
        </p:nvSpPr>
        <p:spPr>
          <a:xfrm>
            <a:off x="504825" y="6488668"/>
            <a:ext cx="907732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/>
              <a:t>https://openforecast.org/adam/ETSTaxonomy.html</a:t>
            </a:r>
            <a:endParaRPr lang="ru-RU" sz="1600" dirty="0"/>
          </a:p>
        </p:txBody>
      </p:sp>
      <p:sp>
        <p:nvSpPr>
          <p:cNvPr id="15" name="Прямоугольник 14"/>
          <p:cNvSpPr/>
          <p:nvPr/>
        </p:nvSpPr>
        <p:spPr>
          <a:xfrm>
            <a:off x="4914900" y="6490811"/>
            <a:ext cx="532447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/>
              <a:t>https://otexts.com/fpp2/ets.html</a:t>
            </a:r>
            <a:endParaRPr lang="ru-RU" sz="1600" dirty="0"/>
          </a:p>
        </p:txBody>
      </p:sp>
      <p:sp>
        <p:nvSpPr>
          <p:cNvPr id="16" name="Объект 2">
            <a:extLst>
              <a:ext uri="{FF2B5EF4-FFF2-40B4-BE49-F238E27FC236}">
                <a16:creationId xmlns:a16="http://schemas.microsoft.com/office/drawing/2014/main" id="{9CFDC76D-90F0-4FD7-8BA6-954D6D2E6FFD}"/>
              </a:ext>
            </a:extLst>
          </p:cNvPr>
          <p:cNvSpPr txBox="1">
            <a:spLocks/>
          </p:cNvSpPr>
          <p:nvPr/>
        </p:nvSpPr>
        <p:spPr>
          <a:xfrm>
            <a:off x="504825" y="979012"/>
            <a:ext cx="9907643" cy="55022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200" dirty="0"/>
              <a:t> </a:t>
            </a:r>
            <a:endParaRPr lang="ru-RU" sz="2000" dirty="0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5954" y="3725671"/>
            <a:ext cx="6283298" cy="2654546"/>
          </a:xfrm>
          <a:prstGeom prst="rect">
            <a:avLst/>
          </a:prstGeom>
        </p:spPr>
      </p:pic>
      <p:sp>
        <p:nvSpPr>
          <p:cNvPr id="18" name="Прямоугольник 17"/>
          <p:cNvSpPr/>
          <p:nvPr/>
        </p:nvSpPr>
        <p:spPr>
          <a:xfrm>
            <a:off x="8201025" y="6359634"/>
            <a:ext cx="532447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/>
              <a:t>Аналогично мультипликативный тренд</a:t>
            </a:r>
          </a:p>
        </p:txBody>
      </p:sp>
    </p:spTree>
    <p:extLst>
      <p:ext uri="{BB962C8B-B14F-4D97-AF65-F5344CB8AC3E}">
        <p14:creationId xmlns:p14="http://schemas.microsoft.com/office/powerpoint/2010/main" val="24956764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B6B433-AB20-4BD4-8E77-84B856A5D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957" y="93605"/>
            <a:ext cx="11802295" cy="933115"/>
          </a:xfrm>
        </p:spPr>
        <p:txBody>
          <a:bodyPr>
            <a:normAutofit fontScale="90000"/>
          </a:bodyPr>
          <a:lstStyle/>
          <a:p>
            <a:pPr algn="ctr"/>
            <a:r>
              <a:rPr lang="ru-RU" sz="3200" b="1" dirty="0"/>
              <a:t>Модели </a:t>
            </a:r>
            <a:r>
              <a:rPr lang="en-US" sz="3200" b="1" dirty="0"/>
              <a:t>Error-Trend-Seasonality</a:t>
            </a:r>
            <a:r>
              <a:rPr lang="ru-RU" sz="3200" b="1" dirty="0"/>
              <a:t> (</a:t>
            </a:r>
            <a:r>
              <a:rPr lang="ru-RU" sz="3600" b="1" dirty="0"/>
              <a:t>экспоненциальное сглаживание)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7562027" y="6489052"/>
            <a:ext cx="446722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/>
              <a:t>https://openforecast.org/adam/ETSTaxonomy.html</a:t>
            </a:r>
            <a:endParaRPr lang="ru-RU" sz="16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382" y="935720"/>
            <a:ext cx="5517241" cy="4228583"/>
          </a:xfrm>
          <a:prstGeom prst="rect">
            <a:avLst/>
          </a:prstGeom>
        </p:spPr>
      </p:pic>
      <p:pic>
        <p:nvPicPr>
          <p:cNvPr id="5122" name="Picture 2" descr="Time series corresponding to the multiplicative error ETS models.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2473" y="891377"/>
            <a:ext cx="6171577" cy="44082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" name="Прямая соединительная линия 8"/>
          <p:cNvCxnSpPr/>
          <p:nvPr/>
        </p:nvCxnSpPr>
        <p:spPr>
          <a:xfrm>
            <a:off x="5829923" y="849675"/>
            <a:ext cx="0" cy="46055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Прямоугольник 11"/>
          <p:cNvSpPr/>
          <p:nvPr/>
        </p:nvSpPr>
        <p:spPr>
          <a:xfrm>
            <a:off x="175179" y="5297973"/>
            <a:ext cx="1199714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333333"/>
                </a:solidFill>
              </a:rPr>
              <a:t>Мультипликативный тренд – если рост тренда почти экспоненциальный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333333"/>
                </a:solidFill>
              </a:rPr>
              <a:t>Затухающий тренд – если данные уходят в насыщение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333333"/>
                </a:solidFill>
              </a:rPr>
              <a:t> Мультипликативная сезонность – интенсивность растет с ростом тренда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333333"/>
                </a:solidFill>
              </a:rPr>
              <a:t>Достоинство мультипликативных моделей </a:t>
            </a:r>
            <a:r>
              <a:rPr lang="en-US" dirty="0">
                <a:solidFill>
                  <a:srgbClr val="333333"/>
                </a:solidFill>
              </a:rPr>
              <a:t>ETS(M,A,N) and ETS(M,M,N) </a:t>
            </a:r>
            <a:r>
              <a:rPr lang="ru-RU" dirty="0">
                <a:solidFill>
                  <a:srgbClr val="333333"/>
                </a:solidFill>
              </a:rPr>
              <a:t> - учет </a:t>
            </a:r>
            <a:r>
              <a:rPr lang="ru-RU" dirty="0" err="1">
                <a:solidFill>
                  <a:srgbClr val="333333"/>
                </a:solidFill>
              </a:rPr>
              <a:t>гетеросекдостичности</a:t>
            </a:r>
            <a:endParaRPr lang="ru-RU" dirty="0">
              <a:solidFill>
                <a:srgbClr val="3333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36712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90525" y="245527"/>
            <a:ext cx="10915650" cy="682625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/>
              <a:t>Модели </a:t>
            </a:r>
            <a:r>
              <a:rPr lang="en-US" b="1" dirty="0"/>
              <a:t>Error-Trend-Seasonality</a:t>
            </a:r>
            <a:r>
              <a:rPr lang="ru-RU" b="1" dirty="0"/>
              <a:t>. Замечания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1" y="887403"/>
                <a:ext cx="11925299" cy="5389572"/>
              </a:xfrm>
            </p:spPr>
            <p:txBody>
              <a:bodyPr>
                <a:normAutofit/>
              </a:bodyPr>
              <a:lstStyle/>
              <a:p>
                <a:pPr marL="342900" lvl="1" indent="-342900">
                  <a:lnSpc>
                    <a:spcPct val="110000"/>
                  </a:lnSpc>
                  <a:spcBef>
                    <a:spcPts val="1000"/>
                  </a:spcBef>
                </a:pPr>
                <a:r>
                  <a:rPr lang="en-US" sz="2400" dirty="0"/>
                  <a:t>ETS </a:t>
                </a:r>
                <a:r>
                  <a:rPr lang="ru-RU" sz="2400" dirty="0"/>
                  <a:t>является обобщением </a:t>
                </a:r>
                <a:r>
                  <a:rPr lang="en-US" sz="2400" dirty="0"/>
                  <a:t>HW + </a:t>
                </a:r>
                <a:r>
                  <a:rPr lang="ru-RU" sz="2400" dirty="0"/>
                  <a:t>унификация процедуры оценки коэффициентов их инициализации (начальных значений при поиске).</a:t>
                </a:r>
              </a:p>
              <a:p>
                <a:pPr marL="800100" lvl="2" indent="-342900">
                  <a:lnSpc>
                    <a:spcPct val="110000"/>
                  </a:lnSpc>
                  <a:spcBef>
                    <a:spcPts val="1000"/>
                  </a:spcBef>
                </a:pPr>
                <a:r>
                  <a:rPr lang="ru-RU" dirty="0"/>
                  <a:t>Также можно оценить дисперсию предсказаний</a:t>
                </a:r>
              </a:p>
              <a:p>
                <a:pPr marL="800100" lvl="1" indent="-342900">
                  <a:lnSpc>
                    <a:spcPct val="110000"/>
                  </a:lnSpc>
                </a:pPr>
                <a:r>
                  <a:rPr lang="en-US" sz="2000" dirty="0"/>
                  <a:t>ETS </a:t>
                </a:r>
                <a:r>
                  <a:rPr lang="ru-RU" sz="2000" dirty="0"/>
                  <a:t>имеет до 30 вариантов + </a:t>
                </a:r>
                <a:r>
                  <a:rPr lang="ru-RU" sz="2000" dirty="0" err="1"/>
                  <a:t>многосезонный</a:t>
                </a:r>
                <a:r>
                  <a:rPr lang="ru-RU" sz="2000" dirty="0"/>
                  <a:t> </a:t>
                </a:r>
                <a:r>
                  <a:rPr lang="en-US" sz="2000" dirty="0"/>
                  <a:t>ETS </a:t>
                </a:r>
                <a:r>
                  <a:rPr lang="ru-RU" sz="2000" dirty="0"/>
                  <a:t>и </a:t>
                </a:r>
                <a:r>
                  <a:rPr lang="en-US" sz="2000" dirty="0"/>
                  <a:t>ETS c </a:t>
                </a:r>
                <a:r>
                  <a:rPr lang="ru-RU" sz="2000" dirty="0"/>
                  <a:t>экзогенными факторами</a:t>
                </a:r>
                <a:endParaRPr lang="en-US" sz="2000" dirty="0"/>
              </a:p>
              <a:p>
                <a:pPr marL="342900" indent="-342900">
                  <a:lnSpc>
                    <a:spcPct val="110000"/>
                  </a:lnSpc>
                </a:pPr>
                <a:r>
                  <a:rPr lang="ru-RU" sz="2400" dirty="0"/>
                  <a:t>Чем проще модель </a:t>
                </a:r>
                <a:r>
                  <a:rPr lang="en-US" sz="2400" dirty="0"/>
                  <a:t>ETS – </a:t>
                </a:r>
                <a:r>
                  <a:rPr lang="ru-RU" sz="2400" dirty="0"/>
                  <a:t>тем ниже вероятность переобучения модели</a:t>
                </a:r>
                <a:endParaRPr lang="en-US" sz="2400" dirty="0"/>
              </a:p>
              <a:p>
                <a:pPr marL="800100" lvl="1" indent="-342900">
                  <a:lnSpc>
                    <a:spcPct val="110000"/>
                  </a:lnSpc>
                </a:pPr>
                <a:r>
                  <a:rPr lang="ru-RU" sz="2000" dirty="0"/>
                  <a:t>Но более сложные модели могут лучше объяснить ВР. </a:t>
                </a:r>
              </a:p>
              <a:p>
                <a:pPr marL="342900" indent="-342900">
                  <a:lnSpc>
                    <a:spcPct val="110000"/>
                  </a:lnSpc>
                </a:pPr>
                <a:r>
                  <a:rPr lang="ru-RU" sz="2400" dirty="0"/>
                  <a:t>Формализации выбора моделей вводятся как мини-</a:t>
                </a:r>
                <a:r>
                  <a:rPr lang="ru-RU" sz="2400" dirty="0" err="1"/>
                  <a:t>максная</a:t>
                </a:r>
                <a:r>
                  <a:rPr lang="ru-RU" sz="2400" dirty="0"/>
                  <a:t> задача (минимум дисперсии остатков</a:t>
                </a:r>
                <a:r>
                  <a:rPr lang="en-US" sz="2400" dirty="0"/>
                  <a:t>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400" dirty="0"/>
                  <a:t>)</a:t>
                </a:r>
                <a:r>
                  <a:rPr lang="ru-RU" sz="2400" dirty="0"/>
                  <a:t> при заданном числе параметров) – оценка сложности модели. </a:t>
                </a:r>
              </a:p>
              <a:p>
                <a:pPr marL="800100" lvl="1" indent="-342900">
                  <a:lnSpc>
                    <a:spcPct val="110000"/>
                  </a:lnSpc>
                </a:pPr>
                <a:r>
                  <a:rPr lang="ru-RU" sz="2000" dirty="0"/>
                  <a:t>Число параметров включает</a:t>
                </a:r>
                <a:r>
                  <a:rPr lang="en-US" sz="2000" dirty="0"/>
                  <a:t>:</a:t>
                </a:r>
                <a:r>
                  <a:rPr lang="ru-RU" sz="2000" dirty="0"/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𝜂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ru-RU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sz="2000" b="0" i="1" smtClean="0">
                            <a:latin typeface="Cambria Math" panose="02040503050406030204" pitchFamily="18" charset="0"/>
                          </a:rPr>
                          <m:t>если затухание</m:t>
                        </m:r>
                      </m:e>
                    </m:d>
                    <m:r>
                      <a:rPr lang="ru-RU" sz="20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01,…,</m:t>
                        </m:r>
                      </m:sub>
                    </m:sSub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sz="2000" dirty="0"/>
                  <a:t> - </a:t>
                </a:r>
                <a:r>
                  <a:rPr lang="ru-RU" sz="2000" dirty="0"/>
                  <a:t>если модель не полная, то часть параметров можно убрать.</a:t>
                </a:r>
              </a:p>
              <a:p>
                <a:pPr marL="342900" indent="-342900"/>
                <a:endParaRPr lang="ru-RU" sz="2400" dirty="0"/>
              </a:p>
              <a:p>
                <a:pPr marL="457200" lvl="1" indent="0">
                  <a:buNone/>
                </a:pPr>
                <a:endParaRPr lang="en-US" sz="1800" dirty="0"/>
              </a:p>
              <a:p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" y="887403"/>
                <a:ext cx="11925299" cy="5389572"/>
              </a:xfrm>
              <a:blipFill>
                <a:blip r:embed="rId2"/>
                <a:stretch>
                  <a:fillRect l="-665" t="-566" r="-127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Прямоугольник 3"/>
          <p:cNvSpPr/>
          <p:nvPr/>
        </p:nvSpPr>
        <p:spPr>
          <a:xfrm>
            <a:off x="141184" y="6416159"/>
            <a:ext cx="60422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https://otexts.com/fpp2/estimation-and-model-selection.html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141184" y="6176963"/>
            <a:ext cx="530626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https://robjhyndman.com/hyndsight/hw-initialization/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5447445" y="6176963"/>
            <a:ext cx="53648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https://robjhyndman.com/nyc2018/1-5-StateSpace.pdf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6418106" y="6416159"/>
            <a:ext cx="488806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https://otexts.com/fpp3/selecting-predictors.html</a:t>
            </a:r>
          </a:p>
        </p:txBody>
      </p:sp>
    </p:spTree>
    <p:extLst>
      <p:ext uri="{BB962C8B-B14F-4D97-AF65-F5344CB8AC3E}">
        <p14:creationId xmlns:p14="http://schemas.microsoft.com/office/powerpoint/2010/main" val="38120866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90525" y="245527"/>
            <a:ext cx="10915650" cy="682625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/>
              <a:t>Модели </a:t>
            </a:r>
            <a:r>
              <a:rPr lang="en-US" b="1" dirty="0"/>
              <a:t>Error-Trend-Seasonality</a:t>
            </a:r>
            <a:r>
              <a:rPr lang="ru-RU" b="1" dirty="0"/>
              <a:t>. Замечания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" y="887403"/>
            <a:ext cx="12279416" cy="5389572"/>
          </a:xfrm>
        </p:spPr>
        <p:txBody>
          <a:bodyPr>
            <a:normAutofit lnSpcReduction="10000"/>
          </a:bodyPr>
          <a:lstStyle/>
          <a:p>
            <a:pPr marL="342900" indent="-342900">
              <a:lnSpc>
                <a:spcPct val="110000"/>
              </a:lnSpc>
            </a:pPr>
            <a:r>
              <a:rPr lang="ru-RU" sz="2400" dirty="0"/>
              <a:t>Формализации выбора моделей вводятся как мини-</a:t>
            </a:r>
            <a:r>
              <a:rPr lang="ru-RU" sz="2400" dirty="0" err="1"/>
              <a:t>максная</a:t>
            </a:r>
            <a:r>
              <a:rPr lang="ru-RU" sz="2400" dirty="0"/>
              <a:t> задача (минимум дисперсии остатков при заданном числе параметров) – оценка сложности модели. </a:t>
            </a:r>
          </a:p>
          <a:p>
            <a:r>
              <a:rPr lang="ru-RU" sz="2100" b="1" dirty="0"/>
              <a:t>Информационный критерий (ИК)</a:t>
            </a:r>
            <a:r>
              <a:rPr lang="ru-RU" sz="2100" dirty="0"/>
              <a:t> — это статистическая мера, используемая для сравнения сложности моделей, которая </a:t>
            </a:r>
            <a:r>
              <a:rPr lang="ru-RU" sz="2100" b="1" dirty="0"/>
              <a:t>одновременно оценивает:</a:t>
            </a:r>
            <a:endParaRPr lang="ru-RU" sz="2100" dirty="0"/>
          </a:p>
          <a:p>
            <a:pPr lvl="1"/>
            <a:r>
              <a:rPr lang="ru-RU" sz="2100" b="1" dirty="0"/>
              <a:t>Качество подгонки модели</a:t>
            </a:r>
            <a:r>
              <a:rPr lang="ru-RU" sz="2100" dirty="0"/>
              <a:t> (насколько хорошо модель описывает данные),</a:t>
            </a:r>
          </a:p>
          <a:p>
            <a:pPr lvl="1"/>
            <a:r>
              <a:rPr lang="ru-RU" sz="2100" b="1" dirty="0"/>
              <a:t>Сложность модели</a:t>
            </a:r>
            <a:r>
              <a:rPr lang="ru-RU" sz="2100" dirty="0"/>
              <a:t> (штраф за количество параметров, чтобы избежать переобучения).</a:t>
            </a:r>
          </a:p>
          <a:p>
            <a:pPr marL="342900" indent="-342900">
              <a:lnSpc>
                <a:spcPct val="110000"/>
              </a:lnSpc>
            </a:pPr>
            <a:r>
              <a:rPr lang="ru-RU" sz="2400" dirty="0"/>
              <a:t>На основе </a:t>
            </a:r>
            <a:r>
              <a:rPr lang="ru-RU" sz="2400" b="1" dirty="0"/>
              <a:t>ИК</a:t>
            </a:r>
            <a:r>
              <a:rPr lang="ru-RU" sz="2400" dirty="0"/>
              <a:t> делают процедуру </a:t>
            </a:r>
            <a:r>
              <a:rPr lang="en-US" sz="2400" dirty="0" err="1"/>
              <a:t>AutoETS</a:t>
            </a:r>
            <a:endParaRPr lang="en-US" sz="2400" dirty="0"/>
          </a:p>
          <a:p>
            <a:pPr marL="800100" lvl="1" indent="-342900">
              <a:lnSpc>
                <a:spcPct val="110000"/>
              </a:lnSpc>
            </a:pPr>
            <a:r>
              <a:rPr lang="ru-RU" sz="2000" dirty="0"/>
              <a:t>Сложность модели определяется на тренировочной выборке. </a:t>
            </a:r>
          </a:p>
          <a:p>
            <a:pPr marL="800100" lvl="1" indent="-342900">
              <a:lnSpc>
                <a:spcPct val="110000"/>
              </a:lnSpc>
            </a:pPr>
            <a:r>
              <a:rPr lang="ru-RU" sz="2000" dirty="0"/>
              <a:t>Процедура </a:t>
            </a:r>
            <a:r>
              <a:rPr lang="en-US" sz="2000" dirty="0" err="1"/>
              <a:t>AutoETS</a:t>
            </a:r>
            <a:r>
              <a:rPr lang="ru-RU" sz="2000" dirty="0"/>
              <a:t> гарантирует стабильность модели на тестовой выборке, </a:t>
            </a:r>
          </a:p>
          <a:p>
            <a:pPr marL="1257300" lvl="2" indent="-342900">
              <a:lnSpc>
                <a:spcPct val="110000"/>
              </a:lnSpc>
            </a:pPr>
            <a:r>
              <a:rPr lang="ru-RU" sz="1800" dirty="0"/>
              <a:t>Для стабильности модели дополнительно рекомендуется: </a:t>
            </a:r>
          </a:p>
          <a:p>
            <a:pPr marL="1714500" lvl="3" indent="-342900">
              <a:lnSpc>
                <a:spcPct val="110000"/>
              </a:lnSpc>
            </a:pPr>
            <a:r>
              <a:rPr lang="ru-RU" dirty="0"/>
              <a:t>Проверка на </a:t>
            </a:r>
            <a:r>
              <a:rPr lang="ru-RU" dirty="0" err="1"/>
              <a:t>валидационной</a:t>
            </a:r>
            <a:r>
              <a:rPr lang="ru-RU" dirty="0"/>
              <a:t> выборке</a:t>
            </a:r>
          </a:p>
          <a:p>
            <a:pPr marL="1714500" lvl="3" indent="-342900">
              <a:lnSpc>
                <a:spcPct val="110000"/>
              </a:lnSpc>
            </a:pPr>
            <a:r>
              <a:rPr lang="ru-RU" dirty="0"/>
              <a:t>Анализ остатков модели, </a:t>
            </a:r>
            <a:endParaRPr lang="en-US" dirty="0"/>
          </a:p>
          <a:p>
            <a:pPr marL="1714500" lvl="3" indent="-342900">
              <a:lnSpc>
                <a:spcPct val="110000"/>
              </a:lnSpc>
            </a:pPr>
            <a:r>
              <a:rPr lang="ru-RU" dirty="0"/>
              <a:t>также можно</a:t>
            </a:r>
            <a:r>
              <a:rPr lang="en-US" dirty="0"/>
              <a:t> </a:t>
            </a:r>
            <a:r>
              <a:rPr lang="ru-RU" dirty="0"/>
              <a:t>добавить оценку по </a:t>
            </a:r>
            <a:r>
              <a:rPr lang="en-US" dirty="0"/>
              <a:t>R2 adj.</a:t>
            </a:r>
            <a:endParaRPr lang="ru-RU" dirty="0"/>
          </a:p>
          <a:p>
            <a:pPr marL="1714500" lvl="3" indent="-342900">
              <a:lnSpc>
                <a:spcPct val="110000"/>
              </a:lnSpc>
            </a:pPr>
            <a:r>
              <a:rPr lang="ru-RU" dirty="0"/>
              <a:t>Формальная проверка соответствия модели данным</a:t>
            </a:r>
          </a:p>
          <a:p>
            <a:pPr marL="800100" lvl="1" indent="-342900"/>
            <a:endParaRPr lang="ru-RU" sz="2000" dirty="0"/>
          </a:p>
          <a:p>
            <a:pPr marL="342900" indent="-342900"/>
            <a:endParaRPr lang="ru-RU" sz="2400" dirty="0"/>
          </a:p>
          <a:p>
            <a:pPr marL="457200" lvl="1" indent="0">
              <a:buNone/>
            </a:pPr>
            <a:endParaRPr lang="en-US" sz="1800" dirty="0"/>
          </a:p>
          <a:p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141184" y="6416159"/>
            <a:ext cx="60422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https://otexts.com/fpp2/estimation-and-model-selection.html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141184" y="6176963"/>
            <a:ext cx="530626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https://robjhyndman.com/hyndsight/hw-initialization/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5447445" y="6176963"/>
            <a:ext cx="53648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https://robjhyndman.com/nyc2018/1-5-StateSpace.pdf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6418106" y="6416159"/>
            <a:ext cx="488806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https://otexts.com/fpp3/selecting-predictors.html</a:t>
            </a:r>
          </a:p>
        </p:txBody>
      </p:sp>
    </p:spTree>
    <p:extLst>
      <p:ext uri="{BB962C8B-B14F-4D97-AF65-F5344CB8AC3E}">
        <p14:creationId xmlns:p14="http://schemas.microsoft.com/office/powerpoint/2010/main" val="30109833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97003" y="204778"/>
            <a:ext cx="11334750" cy="682625"/>
          </a:xfrm>
        </p:spPr>
        <p:txBody>
          <a:bodyPr>
            <a:noAutofit/>
          </a:bodyPr>
          <a:lstStyle/>
          <a:p>
            <a:pPr algn="ctr"/>
            <a:r>
              <a:rPr lang="ru-RU" sz="3200" b="1" dirty="0"/>
              <a:t>Модели </a:t>
            </a:r>
            <a:r>
              <a:rPr lang="en-US" sz="3200" b="1" dirty="0"/>
              <a:t>Error-Trend-Seasonality</a:t>
            </a:r>
            <a:r>
              <a:rPr lang="ru-RU" sz="3200" b="1" dirty="0"/>
              <a:t>. Информационный критерий </a:t>
            </a:r>
            <a:endParaRPr lang="ru-RU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87414" y="731588"/>
                <a:ext cx="12192001" cy="5129213"/>
              </a:xfrm>
            </p:spPr>
            <p:txBody>
              <a:bodyPr>
                <a:normAutofit/>
              </a:bodyPr>
              <a:lstStyle/>
              <a:p>
                <a:pPr marL="457200" lvl="1" indent="0">
                  <a:lnSpc>
                    <a:spcPct val="100000"/>
                  </a:lnSpc>
                  <a:buNone/>
                </a:pPr>
                <a:r>
                  <a:rPr lang="ru-RU" sz="2300" i="1" dirty="0"/>
                  <a:t>Информационный Критерий </a:t>
                </a:r>
                <a:r>
                  <a:rPr lang="ru-RU" sz="2300" i="1" dirty="0" err="1"/>
                  <a:t>Акайке</a:t>
                </a:r>
                <a:r>
                  <a:rPr lang="ru-RU" sz="2300" i="1" dirty="0"/>
                  <a:t>.</a:t>
                </a:r>
              </a:p>
              <a:p>
                <a:pPr marL="457200" lvl="1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300" i="1" dirty="0" smtClean="0">
                          <a:latin typeface="Cambria Math" panose="02040503050406030204" pitchFamily="18" charset="0"/>
                        </a:rPr>
                        <m:t>𝐴𝐼𝐶</m:t>
                      </m:r>
                      <m:r>
                        <a:rPr lang="en-US" sz="2300" i="1" dirty="0" smtClean="0">
                          <a:latin typeface="Cambria Math" panose="02040503050406030204" pitchFamily="18" charset="0"/>
                        </a:rPr>
                        <m:t>=−2</m:t>
                      </m:r>
                      <m:func>
                        <m:funcPr>
                          <m:ctrlPr>
                            <a:rPr lang="en-US" sz="2300" i="1" dirty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300" i="0" dirty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ctrlPr>
                                <a:rPr lang="en-US" sz="23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300" i="1" dirty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</m:d>
                        </m:e>
                      </m:func>
                      <m:r>
                        <a:rPr lang="ru-RU" sz="2300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300" i="1" dirty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300" i="1" dirty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ru-RU" sz="2300" b="0" i="0" dirty="0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ru-RU" sz="2300" b="0" dirty="0"/>
              </a:p>
              <a:p>
                <a:pPr marL="457200" lvl="1" indent="0">
                  <a:lnSpc>
                    <a:spcPct val="100000"/>
                  </a:lnSpc>
                  <a:buNone/>
                </a:pPr>
                <a:r>
                  <a:rPr lang="ru-RU" sz="2000" dirty="0"/>
                  <a:t>где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sz="2000" dirty="0"/>
                  <a:t> – </a:t>
                </a:r>
                <a:r>
                  <a:rPr lang="ru-RU" sz="2000" dirty="0"/>
                  <a:t>максимальное правдоподобие модели, </a:t>
                </a:r>
                <a14:m>
                  <m:oMath xmlns:m="http://schemas.openxmlformats.org/officeDocument/2006/math">
                    <m:r>
                      <a:rPr lang="ru-RU" sz="2000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ru-RU" sz="2000" dirty="0"/>
                  <a:t> - общее количество параметров и начальных состояний, которые были оценены (включая остаточную дисперсию) – число степеней несвободы. </a:t>
                </a:r>
              </a:p>
              <a:p>
                <a:pPr marL="914400" lvl="2" indent="0">
                  <a:lnSpc>
                    <a:spcPct val="100000"/>
                  </a:lnSpc>
                  <a:buNone/>
                </a:pPr>
                <a:r>
                  <a:rPr lang="ru-RU" sz="2300" dirty="0"/>
                  <a:t>		</a:t>
                </a:r>
                <a:r>
                  <a:rPr lang="ru-RU" dirty="0"/>
                  <a:t>для сезонной составляющей задают все точки сезонности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,…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endParaRPr lang="en-US" sz="2300" dirty="0"/>
              </a:p>
              <a:p>
                <a:pPr marL="457200" lvl="1" indent="0">
                  <a:lnSpc>
                    <a:spcPct val="100000"/>
                  </a:lnSpc>
                  <a:buNone/>
                </a:pPr>
                <a:r>
                  <a:rPr lang="en-US" sz="2300" dirty="0"/>
                  <a:t>	</a:t>
                </a:r>
                <a:r>
                  <a:rPr lang="ru-RU" sz="2300" dirty="0"/>
                  <a:t>	Для остатков модели в виде </a:t>
                </a:r>
                <a:r>
                  <a:rPr lang="en-US" sz="2300" dirty="0" err="1"/>
                  <a:t>i.i.d</a:t>
                </a:r>
                <a:r>
                  <a:rPr lang="en-US" sz="2300" dirty="0"/>
                  <a:t>.</a:t>
                </a:r>
                <a:endParaRPr lang="ru-RU" sz="2300" dirty="0"/>
              </a:p>
              <a:p>
                <a:pPr marL="457200" lvl="1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300" i="1" dirty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sz="23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3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̂"/>
                              <m:ctrlPr>
                                <a:rPr lang="en-US" sz="23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3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</m:acc>
                        </m:e>
                        <m:sup>
                          <m:r>
                            <a:rPr lang="en-US" sz="23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300" b="0" i="1" smtClean="0">
                          <a:latin typeface="Cambria Math" panose="02040503050406030204" pitchFamily="18" charset="0"/>
                        </a:rPr>
                        <m:t>;</m:t>
                      </m:r>
                      <m:sSup>
                        <m:sSupPr>
                          <m:ctrlPr>
                            <a:rPr lang="en-US" sz="23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̂"/>
                              <m:ctrlPr>
                                <a:rPr lang="en-US" sz="23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3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</m:acc>
                        </m:e>
                        <m:sup>
                          <m:r>
                            <a:rPr lang="en-US" sz="23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3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3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3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300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sz="2300" i="1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sz="23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sSup>
                            <m:sSupPr>
                              <m:ctrlPr>
                                <a:rPr lang="en-US" sz="23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3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3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3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sz="23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  <m:r>
                                    <a:rPr lang="en-US" sz="23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23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sz="23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2300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sz="23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sz="23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300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  <m:r>
                        <a:rPr lang="en-US" sz="2300" b="0" i="1" smtClean="0">
                          <a:latin typeface="Cambria Math" panose="02040503050406030204" pitchFamily="18" charset="0"/>
                        </a:rPr>
                        <m:t>/(</m:t>
                      </m:r>
                      <m:r>
                        <a:rPr lang="en-US" sz="2300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sz="23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3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23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ru-RU" sz="2300" dirty="0"/>
              </a:p>
              <a:p>
                <a:pPr lvl="1">
                  <a:lnSpc>
                    <a:spcPct val="100000"/>
                  </a:lnSpc>
                </a:pPr>
                <a:r>
                  <a:rPr lang="ru-RU" sz="2300" dirty="0"/>
                  <a:t>Критерий дает мини-</a:t>
                </a:r>
                <a:r>
                  <a:rPr lang="ru-RU" sz="2300" dirty="0" err="1"/>
                  <a:t>максную</a:t>
                </a:r>
                <a:r>
                  <a:rPr lang="ru-RU" sz="2300" dirty="0"/>
                  <a:t> оценку между дисперсией и числом параметров модели -</a:t>
                </a:r>
                <a:r>
                  <a:rPr lang="en-US" sz="2300" dirty="0"/>
                  <a:t>&gt; </a:t>
                </a:r>
                <a:r>
                  <a:rPr lang="ru-RU" sz="2300" dirty="0"/>
                  <a:t>снижает сложность модели, чем меньше </a:t>
                </a:r>
                <a:r>
                  <a:rPr lang="en-US" sz="2300" dirty="0"/>
                  <a:t>AIC – </a:t>
                </a:r>
                <a:r>
                  <a:rPr lang="ru-RU" sz="2300" dirty="0"/>
                  <a:t>тем </a:t>
                </a:r>
                <a:r>
                  <a:rPr lang="ru-RU" sz="2300" dirty="0" err="1"/>
                  <a:t>луше</a:t>
                </a:r>
                <a:endParaRPr lang="ru-RU" sz="2300" dirty="0"/>
              </a:p>
              <a:p>
                <a:pPr lvl="2">
                  <a:lnSpc>
                    <a:spcPct val="100000"/>
                  </a:lnSpc>
                </a:pPr>
                <a:r>
                  <a:rPr lang="ru-RU" sz="2300" dirty="0"/>
                  <a:t>Работает для нормального распределения остатков,</a:t>
                </a: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7414" y="731588"/>
                <a:ext cx="12192001" cy="5129213"/>
              </a:xfrm>
              <a:blipFill>
                <a:blip r:embed="rId2"/>
                <a:stretch>
                  <a:fillRect t="-832" r="-4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Прямоугольник 3"/>
          <p:cNvSpPr/>
          <p:nvPr/>
        </p:nvSpPr>
        <p:spPr>
          <a:xfrm>
            <a:off x="141183" y="6473826"/>
            <a:ext cx="60422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https://otexts.com/fpp2/estimation-and-model-selection.html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6266886" y="6459550"/>
            <a:ext cx="53648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https://robjhyndman.com/nyc2018/1-5-StateSpace.pdf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Прямоугольник 6"/>
              <p:cNvSpPr/>
              <p:nvPr/>
            </p:nvSpPr>
            <p:spPr>
              <a:xfrm>
                <a:off x="4189429" y="5233493"/>
                <a:ext cx="7314118" cy="102431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</a:rPr>
                      <m:t>𝐴𝐼𝐶𝑐</m:t>
                    </m:r>
                    <m:r>
                      <a:rPr lang="en-US" sz="200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 smtClean="0">
                        <a:latin typeface="Cambria Math" panose="02040503050406030204" pitchFamily="18" charset="0"/>
                      </a:rPr>
                      <m:t>𝐴𝐼𝐶</m:t>
                    </m:r>
                    <m:r>
                      <a:rPr lang="en-US" sz="200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+1)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−(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+1)</m:t>
                        </m:r>
                      </m:den>
                    </m:f>
                    <m:r>
                      <a:rPr lang="ru-RU" sz="2000" b="0" i="1" smtClean="0">
                        <a:latin typeface="Cambria Math" panose="02040503050406030204" pitchFamily="18" charset="0"/>
                      </a:rPr>
                      <m:t> −модификация для малых выборок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ru-RU" sz="2000" dirty="0"/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𝐵𝐼𝐶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𝑙𝑛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</m:acc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r>
                      <a:rPr lang="en-US" sz="2000" i="1">
                        <a:latin typeface="Cambria Math" panose="02040503050406030204" pitchFamily="18" charset="0"/>
                      </a:rPr>
                      <m:t>𝑙𝑛𝑁</m:t>
                    </m:r>
                  </m:oMath>
                </a14:m>
                <a:r>
                  <a:rPr lang="ru-RU" sz="2000" dirty="0"/>
                  <a:t> – более точная оценка числа параметров</a:t>
                </a:r>
              </a:p>
            </p:txBody>
          </p:sp>
        </mc:Choice>
        <mc:Fallback xmlns="">
          <p:sp>
            <p:nvSpPr>
              <p:cNvPr id="7" name="Прямоугольник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9429" y="5233493"/>
                <a:ext cx="7314118" cy="1024319"/>
              </a:xfrm>
              <a:prstGeom prst="rect">
                <a:avLst/>
              </a:prstGeom>
              <a:blipFill>
                <a:blip r:embed="rId3"/>
                <a:stretch>
                  <a:fillRect b="-357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Прямоугольник 9"/>
              <p:cNvSpPr/>
              <p:nvPr/>
            </p:nvSpPr>
            <p:spPr>
              <a:xfrm>
                <a:off x="348634" y="5399136"/>
                <a:ext cx="3840795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400" dirty="0"/>
                  <a:t>AIC </a:t>
                </a:r>
                <a:r>
                  <a:rPr lang="ru-RU" sz="2400" dirty="0"/>
                  <a:t>работает если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≫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2400" dirty="0"/>
                  <a:t> </a:t>
                </a:r>
                <a:endParaRPr lang="ru-RU" sz="2400" dirty="0"/>
              </a:p>
            </p:txBody>
          </p:sp>
        </mc:Choice>
        <mc:Fallback xmlns="">
          <p:sp>
            <p:nvSpPr>
              <p:cNvPr id="10" name="Прямоугольник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634" y="5399136"/>
                <a:ext cx="3840795" cy="461665"/>
              </a:xfrm>
              <a:prstGeom prst="rect">
                <a:avLst/>
              </a:prstGeom>
              <a:blipFill>
                <a:blip r:embed="rId4"/>
                <a:stretch>
                  <a:fillRect l="-2381" t="-10667" b="-3066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513418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90536" y="165100"/>
            <a:ext cx="10944225" cy="892175"/>
          </a:xfrm>
        </p:spPr>
        <p:txBody>
          <a:bodyPr/>
          <a:lstStyle/>
          <a:p>
            <a:pPr algn="ctr"/>
            <a:r>
              <a:rPr lang="ru-RU" b="1" dirty="0"/>
              <a:t>Сложные сезонности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28584" y="901688"/>
            <a:ext cx="11725275" cy="54800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100" b="1" dirty="0"/>
              <a:t>Проблемы ETS:</a:t>
            </a:r>
          </a:p>
          <a:p>
            <a:pPr marL="285750" indent="-285750"/>
            <a:r>
              <a:rPr lang="ru-RU" sz="2200" dirty="0"/>
              <a:t>Одна сезонность (например, только месячная).</a:t>
            </a:r>
          </a:p>
          <a:p>
            <a:pPr marL="742950" lvl="1" indent="-285750"/>
            <a:r>
              <a:rPr lang="ru-RU" sz="2200" dirty="0"/>
              <a:t>Ряд должен включать полное число сезонов - плохо для годовых сезонов</a:t>
            </a:r>
          </a:p>
          <a:p>
            <a:pPr marL="1200150" lvl="2" indent="-285750"/>
            <a:r>
              <a:rPr lang="ru-RU" sz="1800" dirty="0"/>
              <a:t>Напр. Годовые продажи с несколькими сезонными периодами (неделя + месяц + год).</a:t>
            </a:r>
          </a:p>
          <a:p>
            <a:pPr marL="285750" indent="-285750"/>
            <a:r>
              <a:rPr lang="ru-RU" sz="2200" dirty="0"/>
              <a:t>Жёсткие параметры тренда (аддитивная/мультипликативная).</a:t>
            </a:r>
          </a:p>
          <a:p>
            <a:pPr marL="742950" lvl="1" indent="-285750"/>
            <a:r>
              <a:rPr lang="ru-RU" sz="2200" dirty="0"/>
              <a:t>Учет монотонной волатильности частично в мультипликативной модели</a:t>
            </a:r>
          </a:p>
          <a:p>
            <a:pPr marL="742950" lvl="1" indent="-285750"/>
            <a:r>
              <a:rPr lang="ru-RU" sz="2200" dirty="0"/>
              <a:t>Почти нет учета переменной волатильности – переменной дисперсии</a:t>
            </a:r>
          </a:p>
          <a:p>
            <a:pPr marL="0" indent="0">
              <a:buNone/>
            </a:pPr>
            <a:r>
              <a:rPr lang="ru-RU" sz="2100" dirty="0"/>
              <a:t/>
            </a:r>
            <a:br>
              <a:rPr lang="ru-RU" sz="2100" dirty="0"/>
            </a:br>
            <a:endParaRPr lang="ru-RU" sz="2100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 rotWithShape="1">
          <a:blip r:embed="rId2"/>
          <a:srcRect l="-1" r="-358"/>
          <a:stretch/>
        </p:blipFill>
        <p:spPr>
          <a:xfrm>
            <a:off x="2989657" y="3391043"/>
            <a:ext cx="6730604" cy="2990707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409574" y="6563861"/>
            <a:ext cx="1288256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/>
              <a:t>https://medium.com/intive-developers/forecasting-time-series-with-multiple-seasonalities-using-tbats-in-python-398a00ac0e8a</a:t>
            </a:r>
          </a:p>
        </p:txBody>
      </p:sp>
    </p:spTree>
    <p:extLst>
      <p:ext uri="{BB962C8B-B14F-4D97-AF65-F5344CB8AC3E}">
        <p14:creationId xmlns:p14="http://schemas.microsoft.com/office/powerpoint/2010/main" val="11155226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90536" y="165100"/>
            <a:ext cx="10944225" cy="892175"/>
          </a:xfrm>
        </p:spPr>
        <p:txBody>
          <a:bodyPr/>
          <a:lstStyle/>
          <a:p>
            <a:r>
              <a:rPr lang="ru-RU" b="1" dirty="0"/>
              <a:t>Сложно-сезонные временные ряды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128584" y="901689"/>
                <a:ext cx="11725275" cy="4351338"/>
              </a:xfrm>
            </p:spPr>
            <p:txBody>
              <a:bodyPr>
                <a:normAutofit/>
              </a:bodyPr>
              <a:lstStyle/>
              <a:p>
                <a:r>
                  <a:rPr lang="ru-RU" sz="2200" dirty="0"/>
                  <a:t>Запишем </a:t>
                </a:r>
                <a:r>
                  <a:rPr lang="en-US" sz="2200" dirty="0"/>
                  <a:t>HW </a:t>
                </a:r>
                <a:r>
                  <a:rPr lang="ru-RU" sz="2200" dirty="0"/>
                  <a:t>метод для двух компонент сезонности и 1 точки предсказания вперед</a:t>
                </a:r>
                <a:endParaRPr lang="en-US" sz="2200" dirty="0"/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eqArr>
                        <m:eqArr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sSub>
                            <m:sSub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⋅</m:t>
                          </m:r>
                          <m:sSub>
                            <m:sSub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ru-RU" sz="22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ru-RU" sz="22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m:rPr>
                              <m:nor/>
                            </m:rPr>
                            <a:rPr lang="en-US" sz="2200" dirty="0"/>
                            <m:t> </m:t>
                          </m:r>
                        </m:e>
                        <m:e>
                          <m:sSub>
                            <m:sSub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𝛼</m:t>
                          </m:r>
                          <m:sSub>
                            <m:sSub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</m:d>
                          <m:d>
                            <m:d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e>
                                <m: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</m:e>
                          </m:d>
                          <m:r>
                            <a:rPr lang="ru-RU" sz="2200" i="1">
                              <a:latin typeface="Cambria Math" panose="02040503050406030204" pitchFamily="18" charset="0"/>
                            </a:rPr>
                            <m:t>   (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𝑙𝑒𝑣𝑒𝑙</m:t>
                          </m:r>
                          <m:r>
                            <a:rPr lang="ru-RU" sz="22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e>
                          <m:sSub>
                            <m:sSub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𝛽</m:t>
                          </m:r>
                          <m:d>
                            <m:d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e>
                                <m: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e>
                                <m: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d>
                          <m:sSub>
                            <m:sSub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ru-RU" sz="2200" i="1">
                              <a:latin typeface="Cambria Math" panose="02040503050406030204" pitchFamily="18" charset="0"/>
                            </a:rPr>
                            <m:t>  (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𝑡𝑟𝑒𝑛𝑑</m:t>
                          </m:r>
                          <m:r>
                            <a:rPr lang="ru-RU" sz="22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e>
                          <m:sSub>
                            <m:sSub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e>
                            <m: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e>
                                <m: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𝛾</m:t>
                                  </m:r>
                                </m:e>
                                <m: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ru-RU" sz="2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e>
                            <m:sub>
                              <m:r>
                                <a:rPr lang="ru-RU" sz="2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e>
                                <m:sub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𝛾</m:t>
                                  </m:r>
                                </m:e>
                                <m:sub>
                                  <m:r>
                                    <a:rPr lang="ru-RU" sz="22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ru-RU" sz="22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sub>
                          </m:sSub>
                        </m:e>
                      </m:eqArr>
                    </m:oMath>
                  </m:oMathPara>
                </a14:m>
                <a:endParaRPr lang="en-US" sz="2200" dirty="0"/>
              </a:p>
              <a:p>
                <a:pPr marL="0" indent="0">
                  <a:buNone/>
                </a:pPr>
                <a:r>
                  <a:rPr lang="ru-RU" sz="2200" dirty="0"/>
                  <a:t>Где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200" dirty="0"/>
                  <a:t>- </a:t>
                </a:r>
                <a:r>
                  <a:rPr lang="ru-RU" sz="2200" dirty="0"/>
                  <a:t>для каждой компоненты сезонности</a:t>
                </a: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8584" y="901689"/>
                <a:ext cx="11725275" cy="4351338"/>
              </a:xfrm>
              <a:blipFill>
                <a:blip r:embed="rId2"/>
                <a:stretch>
                  <a:fillRect l="-676" t="-182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Рисунок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1260" y="3435753"/>
            <a:ext cx="4390072" cy="2928053"/>
          </a:xfrm>
          <a:prstGeom prst="rect">
            <a:avLst/>
          </a:prstGeom>
        </p:spPr>
      </p:pic>
      <p:sp>
        <p:nvSpPr>
          <p:cNvPr id="9" name="Прямоугольник 8"/>
          <p:cNvSpPr/>
          <p:nvPr/>
        </p:nvSpPr>
        <p:spPr>
          <a:xfrm>
            <a:off x="128584" y="6518416"/>
            <a:ext cx="723900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200" dirty="0"/>
              <a:t>https://link.springer.com/content/pdf/10.1057/palgrave.jors.2601589.pdf</a:t>
            </a:r>
          </a:p>
        </p:txBody>
      </p:sp>
      <p:sp>
        <p:nvSpPr>
          <p:cNvPr id="10" name="Прямоугольник 9"/>
          <p:cNvSpPr/>
          <p:nvPr/>
        </p:nvSpPr>
        <p:spPr>
          <a:xfrm>
            <a:off x="6271260" y="6486830"/>
            <a:ext cx="303275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400" dirty="0"/>
              <a:t>https://robjhyndman.com/expsmooth/</a:t>
            </a:r>
          </a:p>
        </p:txBody>
      </p:sp>
      <p:sp>
        <p:nvSpPr>
          <p:cNvPr id="11" name="Прямоугольник 10"/>
          <p:cNvSpPr/>
          <p:nvPr/>
        </p:nvSpPr>
        <p:spPr>
          <a:xfrm>
            <a:off x="355517" y="3458840"/>
            <a:ext cx="568881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Такая система решается!, </a:t>
            </a:r>
          </a:p>
          <a:p>
            <a:r>
              <a:rPr lang="ru-RU" dirty="0"/>
              <a:t>но </a:t>
            </a:r>
          </a:p>
          <a:p>
            <a:r>
              <a:rPr lang="ru-RU" dirty="0"/>
              <a:t>1 много параметров в модели (каждый сезон имеет </a:t>
            </a:r>
            <a:r>
              <a:rPr lang="en-US" dirty="0"/>
              <a:t>m </a:t>
            </a:r>
            <a:r>
              <a:rPr lang="ru-RU" dirty="0"/>
              <a:t>начальных паромеров)</a:t>
            </a:r>
          </a:p>
          <a:p>
            <a:r>
              <a:rPr lang="ru-RU" dirty="0"/>
              <a:t>2 Что делать с цикличностью (см. график) – нужно преобразовать ВР (Бокс-Кокс) </a:t>
            </a:r>
          </a:p>
          <a:p>
            <a:r>
              <a:rPr lang="ru-RU" dirty="0"/>
              <a:t>	как выбрать правильное преобразование?</a:t>
            </a:r>
          </a:p>
        </p:txBody>
      </p:sp>
      <p:pic>
        <p:nvPicPr>
          <p:cNvPr id="12" name="Рисунок 11"/>
          <p:cNvPicPr>
            <a:picLocks noChangeAspect="1"/>
          </p:cNvPicPr>
          <p:nvPr/>
        </p:nvPicPr>
        <p:blipFill rotWithShape="1">
          <a:blip r:embed="rId4"/>
          <a:srcRect b="36178"/>
          <a:stretch/>
        </p:blipFill>
        <p:spPr>
          <a:xfrm>
            <a:off x="2002719" y="5403692"/>
            <a:ext cx="3266514" cy="1061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55623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90536" y="165100"/>
            <a:ext cx="10944225" cy="892175"/>
          </a:xfrm>
        </p:spPr>
        <p:txBody>
          <a:bodyPr/>
          <a:lstStyle/>
          <a:p>
            <a:r>
              <a:rPr lang="ru-RU" b="1" dirty="0"/>
              <a:t>Сложно-сезонные временные ряды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128584" y="901689"/>
                <a:ext cx="11725275" cy="4351338"/>
              </a:xfrm>
            </p:spPr>
            <p:txBody>
              <a:bodyPr>
                <a:normAutofit/>
              </a:bodyPr>
              <a:lstStyle/>
              <a:p>
                <a:r>
                  <a:rPr lang="ru-RU" sz="2200" dirty="0"/>
                  <a:t>Запишем </a:t>
                </a:r>
                <a:r>
                  <a:rPr lang="en-US" sz="2200" dirty="0"/>
                  <a:t>HW </a:t>
                </a:r>
                <a:r>
                  <a:rPr lang="ru-RU" sz="2200" dirty="0"/>
                  <a:t>для </a:t>
                </a:r>
                <a:r>
                  <a:rPr lang="en-US" sz="2200" dirty="0"/>
                  <a:t>P </a:t>
                </a:r>
                <a:r>
                  <a:rPr lang="ru-RU" sz="2200" dirty="0"/>
                  <a:t>сезонных компонент сезонности</a:t>
                </a:r>
                <a:r>
                  <a:rPr lang="en-US" sz="2200" dirty="0"/>
                  <a:t> </a:t>
                </a:r>
                <a:r>
                  <a:rPr lang="ru-RU" sz="2200" dirty="0"/>
                  <a:t>с остатком модели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 dirty="0" err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2200" i="1" dirty="0" err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US" sz="22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2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2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200" i="1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sSub>
                            <m:sSub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ru-RU" sz="2200" i="1" dirty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200" i="1" dirty="0" err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 dirty="0" err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2200" i="1" dirty="0" err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200" i="1" dirty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ru-RU" sz="2200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2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200" i="1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200" i="1">
                          <a:latin typeface="Cambria Math" panose="02040503050406030204" pitchFamily="18" charset="0"/>
                        </a:rPr>
                        <m:t>)</m:t>
                      </m:r>
                      <m:r>
                        <m:rPr>
                          <m:nor/>
                        </m:rPr>
                        <a:rPr lang="en-US" sz="2200" dirty="0"/>
                        <m:t> = </m:t>
                      </m:r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sz="22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sz="2200" dirty="0"/>
              </a:p>
              <a:p>
                <a:r>
                  <a:rPr lang="en-US" sz="2200" dirty="0"/>
                  <a:t> </a:t>
                </a:r>
                <a:r>
                  <a:rPr lang="ru-RU" sz="2200" dirty="0"/>
                  <a:t>Как выбрать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ru-RU" sz="2200" b="0" i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u-RU" sz="2200" dirty="0"/>
                  <a:t> для всех компонент? Очень много начальных параметров?</a:t>
                </a:r>
              </a:p>
              <a:p>
                <a:r>
                  <a:rPr lang="ru-RU" sz="2200" dirty="0"/>
                  <a:t>Как понять, что нет ложных сезонностей?</a:t>
                </a:r>
              </a:p>
              <a:p>
                <a:r>
                  <a:rPr lang="ru-RU" sz="2200" dirty="0"/>
                  <a:t>Как понять что нет </a:t>
                </a:r>
                <a:r>
                  <a:rPr lang="ru-RU" sz="2200" dirty="0" err="1"/>
                  <a:t>гетероскдостичных</a:t>
                </a:r>
                <a:r>
                  <a:rPr lang="ru-RU" sz="2200" dirty="0"/>
                  <a:t> составляющих?</a:t>
                </a:r>
              </a:p>
              <a:p>
                <a:r>
                  <a:rPr lang="ru-RU" sz="2200" dirty="0"/>
                  <a:t>Весь ли временной ряд разложен, информативен ли остаток модели?</a:t>
                </a:r>
              </a:p>
              <a:p>
                <a:pPr marL="0" indent="0">
                  <a:buNone/>
                </a:pPr>
                <a:endParaRPr lang="ru-RU" sz="2200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8584" y="901689"/>
                <a:ext cx="11725275" cy="4351338"/>
              </a:xfrm>
              <a:blipFill>
                <a:blip r:embed="rId2"/>
                <a:stretch>
                  <a:fillRect l="-572" t="-168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2" descr="https://www.kaggleusercontent.com/kf/1414291/eyJhbGciOiJkaXIiLCJlbmMiOiJBMTI4Q0JDLUhTMjU2In0..3-pRb3q6gRv82xTpa0eWug.Mua06XFewvuzX313QT-2PWCikHDYplMJ3837xfw5WdDlrdwjdHH7ySG5w5o49bpVSHQ8eVbjmVhAVQBd7PhNkuu951yAYYaeqCgw_EhUpA2T3Ya7OISe40d9JnYPmhe5iNrrlwflmeNEOlyec1FXVaOzxbsu0npX2L67pGr1kcOs_4kjuvsi48YCZnEJU25TpKSMC0WVY9vuxlhxuG-Q1vEq5V3YIN7WcTERHgNNyQ6D9jiioM3c0Jz-8GqJZkAYbG4fhhWFBIcBLDZMGwJKzlv5VJLCzlp-0JKmq4sMVC0mHRJLPpNkhG1K2II8VAVRItxId01ZMMMI7uNxX0x8b8TYCoAMXyC5QPEhBawSD9_Ef4EnXWYMnzXivsSHCGvsMnbABzujzjrJi-kKy9eAY-VSMU1tS8uaA84wXvZOXyV_XmEKO8KHVTwzw_TteUwGWbz2P34zZbUhVtg8cp_wEtJ0w7Pjuup3-0Nnu0_HY2HGcYBPuozvzTnU4HnEKCqJW5odXWuKbQHUGNWhIfqYGuX__VqA8Xh38i2UKeu8ExxyBukuwlE7yAMyXP7-I_BxHR321I9JO_PfZZfAsc4muwja3NRJwR9sczXvbjUv1kFAioKjds2hLkRzTL5L-4qQvmFeDHRprqFzN79Y-l99RpEKTN_bwMcF4jIsqehUvwI.Gg4QjWYQ7rKCdbmWevmqlQ/__results___files/__results___18_0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9624" b="3817"/>
          <a:stretch/>
        </p:blipFill>
        <p:spPr bwMode="auto">
          <a:xfrm>
            <a:off x="3404667" y="5301303"/>
            <a:ext cx="8313420" cy="1376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https://www.kaggleusercontent.com/kf/1414291/eyJhbGciOiJkaXIiLCJlbmMiOiJBMTI4Q0JDLUhTMjU2In0..3-pRb3q6gRv82xTpa0eWug.Mua06XFewvuzX313QT-2PWCikHDYplMJ3837xfw5WdDlrdwjdHH7ySG5w5o49bpVSHQ8eVbjmVhAVQBd7PhNkuu951yAYYaeqCgw_EhUpA2T3Ya7OISe40d9JnYPmhe5iNrrlwflmeNEOlyec1FXVaOzxbsu0npX2L67pGr1kcOs_4kjuvsi48YCZnEJU25TpKSMC0WVY9vuxlhxuG-Q1vEq5V3YIN7WcTERHgNNyQ6D9jiioM3c0Jz-8GqJZkAYbG4fhhWFBIcBLDZMGwJKzlv5VJLCzlp-0JKmq4sMVC0mHRJLPpNkhG1K2II8VAVRItxId01ZMMMI7uNxX0x8b8TYCoAMXyC5QPEhBawSD9_Ef4EnXWYMnzXivsSHCGvsMnbABzujzjrJi-kKy9eAY-VSMU1tS8uaA84wXvZOXyV_XmEKO8KHVTwzw_TteUwGWbz2P34zZbUhVtg8cp_wEtJ0w7Pjuup3-0Nnu0_HY2HGcYBPuozvzTnU4HnEKCqJW5odXWuKbQHUGNWhIfqYGuX__VqA8Xh38i2UKeu8ExxyBukuwlE7yAMyXP7-I_BxHR321I9JO_PfZZfAsc4muwja3NRJwR9sczXvbjUv1kFAioKjds2hLkRzTL5L-4qQvmFeDHRprqFzN79Y-l99RpEKTN_bwMcF4jIsqehUvwI.Gg4QjWYQ7rKCdbmWevmqlQ/__results___files/__results___18_0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93" b="80387"/>
          <a:stretch/>
        </p:blipFill>
        <p:spPr bwMode="auto">
          <a:xfrm>
            <a:off x="3404667" y="4260906"/>
            <a:ext cx="8291221" cy="11458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Прямоугольник 7"/>
          <p:cNvSpPr/>
          <p:nvPr/>
        </p:nvSpPr>
        <p:spPr>
          <a:xfrm>
            <a:off x="3597328" y="6521484"/>
            <a:ext cx="478778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400" dirty="0"/>
              <a:t>https://www.kaggle.com/code/kailex/arima-with-fourier-terms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266701" y="4914149"/>
            <a:ext cx="361187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Нужен общий метод решения задачи</a:t>
            </a:r>
          </a:p>
        </p:txBody>
      </p:sp>
    </p:spTree>
    <p:extLst>
      <p:ext uri="{BB962C8B-B14F-4D97-AF65-F5344CB8AC3E}">
        <p14:creationId xmlns:p14="http://schemas.microsoft.com/office/powerpoint/2010/main" val="25695246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0076" y="149860"/>
            <a:ext cx="10944225" cy="892175"/>
          </a:xfrm>
        </p:spPr>
        <p:txBody>
          <a:bodyPr/>
          <a:lstStyle/>
          <a:p>
            <a:pPr algn="ctr"/>
            <a:r>
              <a:rPr lang="ru-RU" b="1" dirty="0"/>
              <a:t>Сложные сезонности  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49760" y="820023"/>
            <a:ext cx="11725275" cy="4351338"/>
          </a:xfrm>
        </p:spPr>
        <p:txBody>
          <a:bodyPr>
            <a:normAutofit/>
          </a:bodyPr>
          <a:lstStyle/>
          <a:p>
            <a:r>
              <a:rPr lang="ru-RU" sz="2100" b="1" dirty="0"/>
              <a:t>Проблемы Пусть необходим анализ ряда на достаточно продолжительном периоде</a:t>
            </a:r>
          </a:p>
          <a:p>
            <a:pPr lvl="1"/>
            <a:r>
              <a:rPr lang="ru-RU" sz="2100" b="1" dirty="0"/>
              <a:t>Напр. несколько лет с шагом в 1 день.</a:t>
            </a:r>
          </a:p>
          <a:p>
            <a:pPr lvl="1"/>
            <a:r>
              <a:rPr lang="ru-RU" sz="2100" i="1" dirty="0"/>
              <a:t>Что делать, если сезонность непостоянная или сложная?</a:t>
            </a:r>
            <a:endParaRPr lang="ru-RU" sz="2100" dirty="0"/>
          </a:p>
          <a:p>
            <a:pPr lvl="1"/>
            <a:r>
              <a:rPr lang="ru-RU" sz="2100" b="1" dirty="0"/>
              <a:t>Пример данных:</a:t>
            </a:r>
            <a:endParaRPr lang="ru-RU" sz="2100" dirty="0"/>
          </a:p>
          <a:p>
            <a:pPr lvl="2"/>
            <a:r>
              <a:rPr lang="ru-RU" sz="2100" dirty="0"/>
              <a:t>Годовые продажи с несколькими сезонными периодами (неделя + месяц + год).</a:t>
            </a:r>
          </a:p>
          <a:p>
            <a:r>
              <a:rPr lang="ru-RU" sz="2100" b="1" dirty="0"/>
              <a:t>Если данные </a:t>
            </a:r>
            <a:r>
              <a:rPr lang="ru-RU" sz="2100" b="1" dirty="0" err="1"/>
              <a:t>гетеросекдостичные</a:t>
            </a:r>
            <a:r>
              <a:rPr lang="ru-RU" sz="2100" b="1" dirty="0"/>
              <a:t>, тренд не имеет «хорошего паттерна» </a:t>
            </a:r>
          </a:p>
          <a:p>
            <a:pPr lvl="1"/>
            <a:r>
              <a:rPr lang="ru-RU" sz="2100" dirty="0"/>
              <a:t>Нужно </a:t>
            </a:r>
            <a:r>
              <a:rPr lang="ru-RU" sz="2100" dirty="0" err="1"/>
              <a:t>преорбазовать</a:t>
            </a:r>
            <a:r>
              <a:rPr lang="ru-RU" sz="2100" dirty="0"/>
              <a:t> ряд (напр. степенное преобразование, Бокс-Кокс) </a:t>
            </a:r>
          </a:p>
          <a:p>
            <a:pPr lvl="1"/>
            <a:r>
              <a:rPr lang="ru-RU" sz="2100" dirty="0"/>
              <a:t>Как выбрать одновременно лучшие параметры преобразования ряда (Бокс-Кокс и экспоненциального сглаживания)</a:t>
            </a:r>
            <a:r>
              <a:rPr lang="en-US" sz="2100" dirty="0"/>
              <a:t>?</a:t>
            </a:r>
            <a:r>
              <a:rPr lang="ru-RU" sz="2100" dirty="0"/>
              <a:t/>
            </a:r>
            <a:br>
              <a:rPr lang="ru-RU" sz="2100" dirty="0"/>
            </a:br>
            <a:endParaRPr lang="ru-RU" sz="2100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412" y="3612119"/>
            <a:ext cx="9781970" cy="287654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526793" y="6462236"/>
            <a:ext cx="46982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*Могут быть также комбинации этих методов</a:t>
            </a:r>
          </a:p>
        </p:txBody>
      </p:sp>
    </p:spTree>
    <p:extLst>
      <p:ext uri="{BB962C8B-B14F-4D97-AF65-F5344CB8AC3E}">
        <p14:creationId xmlns:p14="http://schemas.microsoft.com/office/powerpoint/2010/main" val="4035120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90536" y="165100"/>
            <a:ext cx="10944225" cy="892175"/>
          </a:xfrm>
        </p:spPr>
        <p:txBody>
          <a:bodyPr/>
          <a:lstStyle/>
          <a:p>
            <a:r>
              <a:rPr lang="ru-RU" b="1" dirty="0"/>
              <a:t>Сложно-сезонные временные ряды </a:t>
            </a:r>
            <a:r>
              <a:rPr lang="en-US" b="1" dirty="0"/>
              <a:t>BATS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138312" y="943900"/>
                <a:ext cx="11987216" cy="5312184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ru-RU" sz="2200" dirty="0"/>
                  <a:t>Запишем </a:t>
                </a:r>
                <a:r>
                  <a:rPr lang="en-US" sz="2200" dirty="0"/>
                  <a:t>HW </a:t>
                </a:r>
                <a:r>
                  <a:rPr lang="ru-RU" sz="2200" dirty="0"/>
                  <a:t>для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sz="2200" dirty="0"/>
                  <a:t> </a:t>
                </a:r>
                <a:r>
                  <a:rPr lang="ru-RU" sz="2200" dirty="0"/>
                  <a:t>сезонных компонент сезонности</a:t>
                </a:r>
                <a:endParaRPr lang="en-US" sz="22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sup>
                      </m:sSubSup>
                      <m:r>
                        <a:rPr lang="en-US" sz="22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2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200" i="1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𝑃</m:t>
                          </m:r>
                        </m:sup>
                        <m:e>
                          <m:sSub>
                            <m:sSub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ru-RU" sz="2200" i="1" dirty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200" i="1" dirty="0" err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 dirty="0" err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2200" i="1" dirty="0" err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200" i="1" dirty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ru-RU" sz="2200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2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200" i="1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200" i="1">
                          <a:latin typeface="Cambria Math" panose="02040503050406030204" pitchFamily="18" charset="0"/>
                        </a:rPr>
                        <m:t>)</m:t>
                      </m:r>
                      <m:r>
                        <m:rPr>
                          <m:nor/>
                        </m:rPr>
                        <a:rPr lang="en-US" sz="2200" dirty="0"/>
                        <m:t> = </m:t>
                      </m:r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sz="22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ru-RU" sz="2200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 dirty="0" err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2200" i="1" dirty="0" err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ru-RU" sz="2200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200" i="1" dirty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200" i="1" dirty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2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 dirty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200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200" i="1" dirty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200" dirty="0"/>
              </a:p>
              <a:p>
                <a:pPr marL="0" indent="0">
                  <a:buNone/>
                </a:pPr>
                <a:r>
                  <a:rPr lang="ru-RU" sz="2200" dirty="0"/>
                  <a:t>где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𝜆</m:t>
                        </m:r>
                      </m:sup>
                    </m:sSubSup>
                  </m:oMath>
                </a14:m>
                <a:r>
                  <a:rPr lang="ru-RU" sz="2200" dirty="0"/>
                  <a:t> - ВР после преобразования Бокса-Кокса с параметром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𝜆</m:t>
                    </m:r>
                    <m:r>
                      <a:rPr lang="ru-RU" sz="2200" b="0" i="1" smtClean="0">
                        <a:latin typeface="Cambria Math" panose="02040503050406030204" pitchFamily="18" charset="0"/>
                      </a:rPr>
                      <m:t>,  </m:t>
                    </m:r>
                    <m:sSub>
                      <m:sSubPr>
                        <m:ctrlPr>
                          <a:rPr lang="en-US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 dirty="0" err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2200" i="1" dirty="0" err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ru-RU" sz="22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200" b="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200" b="0" i="1" dirty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2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200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200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200" dirty="0"/>
                  <a:t> – </a:t>
                </a:r>
                <a:r>
                  <a:rPr lang="ru-RU" sz="2200" dirty="0"/>
                  <a:t>будем считать, что остаток информативен. </a:t>
                </a:r>
              </a:p>
              <a:p>
                <a:pPr marL="0" indent="0">
                  <a:buNone/>
                </a:pPr>
                <a:r>
                  <a:rPr lang="ru-RU" sz="2200" dirty="0"/>
                  <a:t>Промоделируем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 dirty="0" err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2200" i="1" dirty="0" err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ru-RU" sz="2200" dirty="0"/>
                  <a:t> отдельным методом </a:t>
                </a:r>
                <a:r>
                  <a:rPr lang="en-US" sz="2200" dirty="0"/>
                  <a:t>ARMA</a:t>
                </a:r>
                <a:r>
                  <a:rPr lang="ru-RU" sz="2200" dirty="0"/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 dirty="0" err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2200" i="1" dirty="0" err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ru-RU" sz="2200" i="1" dirty="0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ru-RU" sz="2200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2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sz="2200" b="0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  <m:e>
                        <m:sSub>
                          <m:sSubPr>
                            <m:ctrlPr>
                              <a:rPr lang="en-US" sz="22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0" i="1" dirty="0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2200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sz="22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0" i="1" dirty="0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sz="2200" b="0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2200" b="0" i="1" dirty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200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200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nary>
                          <m:naryPr>
                            <m:chr m:val="∑"/>
                            <m:ctrlPr>
                              <a:rPr lang="ru-RU" sz="2200" i="1" dirty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sz="2200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sz="2200" b="0" i="1" dirty="0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sz="22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200" b="0" i="1" dirty="0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US" sz="2200" b="0" i="1" dirty="0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sz="22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200" b="0" i="1" dirty="0" smtClean="0">
                                    <a:latin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en-US" sz="2200" b="0" i="1" dirty="0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200" b="0" i="1" dirty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200" b="0" i="1" dirty="0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nary>
                      </m:e>
                    </m:nary>
                  </m:oMath>
                </a14:m>
                <a:r>
                  <a:rPr lang="en-US" sz="2200" b="0" i="0" dirty="0">
                    <a:latin typeface="+mj-lt"/>
                  </a:rPr>
                  <a:t>+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sz="2200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ru-RU" sz="2200" dirty="0"/>
                  <a:t>)</a:t>
                </a:r>
                <a:r>
                  <a:rPr lang="en-US" sz="2200" dirty="0"/>
                  <a:t> </a:t>
                </a:r>
                <a:r>
                  <a:rPr lang="ru-RU" sz="2200" dirty="0"/>
                  <a:t>(Узенем о нем на следующем занятии)</a:t>
                </a:r>
                <a:endParaRPr lang="en-US" sz="2200" dirty="0"/>
              </a:p>
              <a:p>
                <a:pPr marL="0" indent="0">
                  <a:buNone/>
                </a:pPr>
                <a:r>
                  <a:rPr lang="ru-RU" sz="2200" dirty="0"/>
                  <a:t>Такая модель </a:t>
                </a:r>
                <a:r>
                  <a:rPr lang="en-US" sz="2200" dirty="0"/>
                  <a:t>BATS</a:t>
                </a:r>
                <a:endParaRPr lang="ru-RU" sz="2200" dirty="0"/>
              </a:p>
              <a:p>
                <a:pPr marL="0" indent="0">
                  <a:buNone/>
                </a:pPr>
                <a:r>
                  <a:rPr lang="en-US" sz="2200" dirty="0"/>
                  <a:t>BATS </a:t>
                </a:r>
                <a:r>
                  <a:rPr lang="ru-RU" sz="1900" dirty="0"/>
                  <a:t>(</a:t>
                </a:r>
                <a:r>
                  <a:rPr lang="en-US" sz="1900" b="1" dirty="0"/>
                  <a:t>B</a:t>
                </a:r>
                <a:r>
                  <a:rPr lang="en-US" sz="1900" dirty="0"/>
                  <a:t>ox-Cox transformation, </a:t>
                </a:r>
                <a:r>
                  <a:rPr lang="en-US" sz="1900" b="1" dirty="0"/>
                  <a:t>A</a:t>
                </a:r>
                <a:r>
                  <a:rPr lang="en-US" sz="1900" dirty="0"/>
                  <a:t>RMA errors, </a:t>
                </a:r>
                <a:r>
                  <a:rPr lang="en-US" sz="1900" b="1" dirty="0"/>
                  <a:t>T</a:t>
                </a:r>
                <a:r>
                  <a:rPr lang="en-US" sz="1900" dirty="0"/>
                  <a:t>rend, and </a:t>
                </a:r>
                <a:r>
                  <a:rPr lang="en-US" sz="1900" b="1" dirty="0"/>
                  <a:t>S</a:t>
                </a:r>
                <a:r>
                  <a:rPr lang="en-US" sz="1900" dirty="0"/>
                  <a:t>easonal components</a:t>
                </a:r>
                <a:r>
                  <a:rPr lang="ru-RU" sz="1900" dirty="0"/>
                  <a:t>)</a:t>
                </a:r>
                <a:endParaRPr lang="en-US" sz="1900" dirty="0"/>
              </a:p>
              <a:p>
                <a:pPr marL="0" indent="0">
                  <a:buNone/>
                </a:pPr>
                <a:r>
                  <a:rPr lang="ru-RU" sz="2200" dirty="0"/>
                  <a:t>Модель содержит все параметры</a:t>
                </a:r>
              </a:p>
              <a:p>
                <a:pPr marL="0" indent="0">
                  <a:buNone/>
                </a:pPr>
                <a:r>
                  <a:rPr lang="ru-RU" sz="2200" dirty="0"/>
                  <a:t>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ru-RU" sz="2200" b="0" i="0" smtClean="0">
                        <a:latin typeface="Cambria Math" panose="02040503050406030204" pitchFamily="18" charset="0"/>
                      </a:rPr>
                      <m:t>параметры </m:t>
                    </m:r>
                    <m:r>
                      <m:rPr>
                        <m:sty m:val="p"/>
                      </m:rPr>
                      <a:rPr lang="en-US" sz="2200" b="0" i="0" smtClean="0">
                        <a:latin typeface="Cambria Math" panose="02040503050406030204" pitchFamily="18" charset="0"/>
                      </a:rPr>
                      <m:t>ARMA</m:t>
                    </m:r>
                    <m:r>
                      <a:rPr lang="en-US" sz="2200" b="0" i="0" smtClean="0">
                        <a:latin typeface="Cambria Math" panose="02040503050406030204" pitchFamily="18" charset="0"/>
                      </a:rPr>
                      <m:t> (</m:t>
                    </m:r>
                    <m:r>
                      <m:rPr>
                        <m:sty m:val="p"/>
                      </m:rPr>
                      <a:rPr lang="en-US" sz="2200" b="0" i="0" smtClean="0">
                        <a:latin typeface="Cambria Math" panose="02040503050406030204" pitchFamily="18" charset="0"/>
                      </a:rPr>
                      <m:t>p</m:t>
                    </m:r>
                    <m:r>
                      <a:rPr lang="en-US" sz="2200" b="0" i="0" smtClean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sz="2200" b="0" i="0" smtClean="0">
                        <a:latin typeface="Cambria Math" panose="02040503050406030204" pitchFamily="18" charset="0"/>
                      </a:rPr>
                      <m:t>q</m:t>
                    </m:r>
                    <m:r>
                      <a:rPr lang="en-US" sz="2200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200" dirty="0"/>
              </a:p>
              <a:p>
                <a:pPr marL="0" indent="0">
                  <a:buNone/>
                </a:pPr>
                <a:r>
                  <a:rPr lang="ru-RU" sz="2200" dirty="0"/>
                  <a:t>Модель позволяет обрабатывать нелинейные тренды </a:t>
                </a:r>
                <a:r>
                  <a:rPr lang="en-US" sz="2200" dirty="0"/>
                  <a:t>(BOX-COX), </a:t>
                </a:r>
                <a:endParaRPr lang="ru-RU" sz="2200" dirty="0"/>
              </a:p>
              <a:p>
                <a:pPr marL="0" indent="0">
                  <a:buNone/>
                </a:pPr>
                <a:r>
                  <a:rPr lang="ru-RU" sz="2200" dirty="0"/>
                  <a:t> сложные зависимости в данных </a:t>
                </a:r>
                <a:r>
                  <a:rPr lang="en-US" sz="2200" dirty="0"/>
                  <a:t>(ARMA)</a:t>
                </a:r>
                <a:endParaRPr lang="ru-RU" sz="2200" dirty="0"/>
              </a:p>
              <a:p>
                <a:pPr marL="0" indent="0">
                  <a:buNone/>
                </a:pPr>
                <a:endParaRPr lang="ru-RU" sz="2100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8312" y="943900"/>
                <a:ext cx="11987216" cy="5312184"/>
              </a:xfrm>
              <a:blipFill>
                <a:blip r:embed="rId2"/>
                <a:stretch>
                  <a:fillRect l="-560" t="-172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Прямоугольник 6"/>
          <p:cNvSpPr/>
          <p:nvPr/>
        </p:nvSpPr>
        <p:spPr>
          <a:xfrm>
            <a:off x="409574" y="6563861"/>
            <a:ext cx="1288256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/>
              <a:t>https://readmedium.com/how-to-forecast-time-series-with-multiple-seasonalities-23c77152347e</a:t>
            </a:r>
            <a:endParaRPr lang="ru-RU" sz="1400" dirty="0"/>
          </a:p>
        </p:txBody>
      </p:sp>
      <p:pic>
        <p:nvPicPr>
          <p:cNvPr id="11266" name="Picture 2" descr="https://cdn-images-1.readmedium.com/v2/resize:fit:800/1*DXiuKJtjsWyCAURmRAegiQ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6756" y="4010808"/>
            <a:ext cx="4498772" cy="25530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856864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90536" y="165100"/>
            <a:ext cx="10944225" cy="892175"/>
          </a:xfrm>
        </p:spPr>
        <p:txBody>
          <a:bodyPr/>
          <a:lstStyle/>
          <a:p>
            <a:r>
              <a:rPr lang="ru-RU" b="1" dirty="0"/>
              <a:t>Сложно-сезонные временные ряды </a:t>
            </a:r>
            <a:r>
              <a:rPr lang="en-US" dirty="0"/>
              <a:t>TBATS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138312" y="943900"/>
                <a:ext cx="11987216" cy="237080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ru-RU" sz="2100" dirty="0"/>
                  <a:t>Модель </a:t>
                </a:r>
                <a:r>
                  <a:rPr lang="en-US" sz="2100" dirty="0"/>
                  <a:t>BATS </a:t>
                </a:r>
                <a:r>
                  <a:rPr lang="ru-RU" sz="2100" dirty="0"/>
                  <a:t>требует </a:t>
                </a:r>
              </a:p>
              <a:p>
                <a:r>
                  <a:rPr lang="ru-RU" sz="2100" dirty="0"/>
                  <a:t>чтобы все сезоны были целочисленными – для сложных ВР это не реально. </a:t>
                </a:r>
              </a:p>
              <a:p>
                <a:r>
                  <a:rPr lang="ru-RU" sz="2100" dirty="0"/>
                  <a:t>может иметь очень большое количество состояний (можно не соблюсти </a:t>
                </a:r>
                <a14:m>
                  <m:oMath xmlns:m="http://schemas.openxmlformats.org/officeDocument/2006/math">
                    <m:r>
                      <a:rPr lang="en-US" sz="2100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2100" b="0" i="1" smtClean="0">
                        <a:latin typeface="Cambria Math" panose="02040503050406030204" pitchFamily="18" charset="0"/>
                      </a:rPr>
                      <m:t>≫</m:t>
                    </m:r>
                    <m:r>
                      <a:rPr lang="en-US" sz="21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ru-RU" sz="21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ru-RU" sz="2100" dirty="0"/>
              </a:p>
              <a:p>
                <a:r>
                  <a:rPr lang="ru-RU" sz="2100" dirty="0"/>
                  <a:t>Не может работать с нестационарными сезонностями.</a:t>
                </a:r>
              </a:p>
              <a:p>
                <a:pPr marL="0" lvl="1" indent="0">
                  <a:spcBef>
                    <a:spcPts val="1000"/>
                  </a:spcBef>
                  <a:buNone/>
                </a:pPr>
                <a:r>
                  <a:rPr lang="ru-RU" dirty="0"/>
                  <a:t>Для решения проблем разложим сезонность в ряд Фурье</a:t>
                </a:r>
              </a:p>
              <a:p>
                <a:pPr marL="0" indent="0">
                  <a:buNone/>
                </a:pPr>
                <a:endParaRPr lang="ru-RU" sz="2100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8312" y="943900"/>
                <a:ext cx="11987216" cy="2370800"/>
              </a:xfrm>
              <a:blipFill>
                <a:blip r:embed="rId2"/>
                <a:stretch>
                  <a:fillRect l="-814" t="-282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Прямоугольник 6"/>
          <p:cNvSpPr/>
          <p:nvPr/>
        </p:nvSpPr>
        <p:spPr>
          <a:xfrm>
            <a:off x="409574" y="6563861"/>
            <a:ext cx="1288256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/>
              <a:t>https://readmedium.com/how-to-forecast-time-series-with-multiple-seasonalities-23c77152347e</a:t>
            </a:r>
            <a:endParaRPr lang="ru-RU" sz="1400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657" y="3022581"/>
            <a:ext cx="4020267" cy="169795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Объект 2"/>
              <p:cNvSpPr txBox="1">
                <a:spLocks/>
              </p:cNvSpPr>
              <p:nvPr/>
            </p:nvSpPr>
            <p:spPr>
              <a:xfrm>
                <a:off x="4466506" y="3262315"/>
                <a:ext cx="7525469" cy="139794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700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ru-RU" dirty="0"/>
                  <a:t>где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ru-RU" i="1" dirty="0" smtClean="0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ru-RU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ru-RU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bSup>
                    <m:r>
                      <a:rPr lang="ru-RU" i="1" dirty="0" smtClean="0">
                        <a:latin typeface="Cambria Math" panose="02040503050406030204" pitchFamily="18" charset="0"/>
                      </a:rPr>
                      <m:t> и</m:t>
                    </m:r>
                    <m:sSubSup>
                      <m:sSub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ru-RU" i="1" dirty="0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ru-RU" i="1" dirty="0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bSup>
                  </m:oMath>
                </a14:m>
                <a:r>
                  <a:rPr lang="ru-RU" dirty="0"/>
                  <a:t>— параметры сглаживания,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ru-RU" i="1" dirty="0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ru-RU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ru-RU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bSup>
                    <m:r>
                      <a:rPr lang="ru-RU" i="1" dirty="0" smtClean="0">
                        <a:latin typeface="Cambria Math" panose="02040503050406030204" pitchFamily="18" charset="0"/>
                      </a:rPr>
                      <m:t> = 2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𝜋</m:t>
                    </m:r>
                    <m:f>
                      <m:fPr>
                        <m:ctrlPr>
                          <a:rPr lang="ru-RU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u-RU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</m:num>
                      <m:den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i="1" dirty="0" err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ru-RU" i="1" dirty="0" err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ru-RU" b="0" i="0" dirty="0" smtClean="0">
                        <a:latin typeface="Cambria Math" panose="02040503050406030204" pitchFamily="18" charset="0"/>
                      </a:rPr>
                      <m:t>частота</m:t>
                    </m:r>
                  </m:oMath>
                </a14:m>
                <a:r>
                  <a:rPr lang="ru-RU" dirty="0"/>
                  <a:t>. </a:t>
                </a:r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bSup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bSup>
                  </m:oMath>
                </a14:m>
                <a:r>
                  <a:rPr lang="en-US" dirty="0"/>
                  <a:t> - </a:t>
                </a:r>
                <a:r>
                  <a:rPr lang="ru-RU" dirty="0"/>
                  <a:t>комплексные составляющие каждой частоты,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ru-RU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ru-RU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ru-RU" b="0" i="1" dirty="0" smtClean="0">
                        <a:latin typeface="Cambria Math" panose="02040503050406030204" pitchFamily="18" charset="0"/>
                      </a:rPr>
                      <m:t> − </m:t>
                    </m:r>
                    <m:r>
                      <a:rPr lang="ru-RU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dirty="0"/>
                  <a:t>число гармоник, необходимое для i-й сезонной составляющей,  </a:t>
                </a:r>
              </a:p>
            </p:txBody>
          </p:sp>
        </mc:Choice>
        <mc:Fallback xmlns="">
          <p:sp>
            <p:nvSpPr>
              <p:cNvPr id="8" name="Объект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6506" y="3262315"/>
                <a:ext cx="7525469" cy="1397944"/>
              </a:xfrm>
              <a:prstGeom prst="rect">
                <a:avLst/>
              </a:prstGeom>
              <a:blipFill>
                <a:blip r:embed="rId4"/>
                <a:stretch>
                  <a:fillRect l="-891" t="-4367" b="-698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Прямоугольник 3"/>
              <p:cNvSpPr/>
              <p:nvPr/>
            </p:nvSpPr>
            <p:spPr>
              <a:xfrm>
                <a:off x="219075" y="4686424"/>
                <a:ext cx="10820399" cy="120032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ru-RU" dirty="0"/>
                  <a:t>Ожидается, что для большинства сезонных составляющих потребуется меньшее количество гармоник, чем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,</a:t>
                </a:r>
                <a:r>
                  <a:rPr lang="ru-RU" dirty="0"/>
                  <a:t> что уменьшит количество оцениваемых параметров. 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ru-RU" dirty="0"/>
                  <a:t>Если сезонность не стохастическая, параметр сглаживания выставляем в 0</a:t>
                </a:r>
                <a:endParaRPr lang="en-US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ru-RU" dirty="0"/>
                  <a:t>Сложная сезонность раскладывается на набор простых сезонностей. Избегаем ложных корреляций</a:t>
                </a:r>
              </a:p>
            </p:txBody>
          </p:sp>
        </mc:Choice>
        <mc:Fallback xmlns="">
          <p:sp>
            <p:nvSpPr>
              <p:cNvPr id="4" name="Прямоугольник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075" y="4686424"/>
                <a:ext cx="10820399" cy="1200329"/>
              </a:xfrm>
              <a:prstGeom prst="rect">
                <a:avLst/>
              </a:prstGeom>
              <a:blipFill>
                <a:blip r:embed="rId5"/>
                <a:stretch>
                  <a:fillRect t="-3046" b="-710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Объект 2"/>
          <p:cNvSpPr txBox="1">
            <a:spLocks/>
          </p:cNvSpPr>
          <p:nvPr/>
        </p:nvSpPr>
        <p:spPr>
          <a:xfrm>
            <a:off x="138312" y="5905624"/>
            <a:ext cx="4610817" cy="4954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ru-RU" sz="2100" dirty="0"/>
              <a:t>Модель </a:t>
            </a:r>
            <a:r>
              <a:rPr lang="en-US" sz="2100" dirty="0"/>
              <a:t>Trigonometric BATS  (TBATS)</a:t>
            </a:r>
            <a:endParaRPr lang="ru-RU" sz="2100" dirty="0"/>
          </a:p>
        </p:txBody>
      </p:sp>
    </p:spTree>
    <p:extLst>
      <p:ext uri="{BB962C8B-B14F-4D97-AF65-F5344CB8AC3E}">
        <p14:creationId xmlns:p14="http://schemas.microsoft.com/office/powerpoint/2010/main" val="36880177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90536" y="165100"/>
            <a:ext cx="10944225" cy="892175"/>
          </a:xfrm>
        </p:spPr>
        <p:txBody>
          <a:bodyPr/>
          <a:lstStyle/>
          <a:p>
            <a:r>
              <a:rPr lang="ru-RU" b="1" dirty="0"/>
              <a:t>Сложно-сезонные временные ряды </a:t>
            </a:r>
            <a:r>
              <a:rPr lang="en-US" b="1" dirty="0"/>
              <a:t>TBATS</a:t>
            </a:r>
            <a:endParaRPr lang="ru-RU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409574" y="6563861"/>
            <a:ext cx="1288256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/>
              <a:t>https://readmedium.com/how-to-forecast-time-series-with-multiple-seasonalities-23c77152347e</a:t>
            </a:r>
            <a:endParaRPr lang="ru-RU" sz="1400" dirty="0"/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13314" name="Picture 2" descr="https://cdn-images-1.readmedium.com/v2/resize:fit:800/1*DXiuKJtjsWyCAURmRAegiQ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775" y="1825625"/>
            <a:ext cx="8543128" cy="4848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16" name="Picture 4" descr="https://cdn-images-1.readmedium.com/v2/resize:fit:800/1*DugWww4Gftz6Prs-Zvcb4Q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98581" y="1246639"/>
            <a:ext cx="6253737" cy="35802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4" descr="https://cdn-images-1.readmedium.com/v2/resize:fit:800/1*DugWww4Gftz6Prs-Zvcb4Q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472" b="82675"/>
          <a:stretch/>
        </p:blipFill>
        <p:spPr bwMode="auto">
          <a:xfrm>
            <a:off x="10029586" y="4535152"/>
            <a:ext cx="1922732" cy="2001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871533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28434" y="281565"/>
            <a:ext cx="10515600" cy="1325563"/>
          </a:xfrm>
        </p:spPr>
        <p:txBody>
          <a:bodyPr/>
          <a:lstStyle/>
          <a:p>
            <a:r>
              <a:rPr lang="ru-RU" dirty="0"/>
              <a:t>Использование разложений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95604" y="1237796"/>
            <a:ext cx="10515600" cy="4351338"/>
          </a:xfrm>
        </p:spPr>
        <p:txBody>
          <a:bodyPr/>
          <a:lstStyle/>
          <a:p>
            <a:r>
              <a:rPr lang="ru-RU" dirty="0"/>
              <a:t>Разложение может быть использовано вместе с предсказанием по составляющим.</a:t>
            </a:r>
          </a:p>
          <a:p>
            <a:r>
              <a:rPr lang="ru-RU" dirty="0"/>
              <a:t>Такой подход может быть меньше подвержен переобучению.</a:t>
            </a:r>
          </a:p>
          <a:p>
            <a:pPr lvl="1"/>
            <a:r>
              <a:rPr lang="ru-RU" dirty="0"/>
              <a:t>Чем меньше параметров модели, тем устойчивей ее работа.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159" y="3634954"/>
            <a:ext cx="10810875" cy="31432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693298" y="3413465"/>
            <a:ext cx="40325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Пример: </a:t>
            </a:r>
            <a:r>
              <a:rPr lang="en-US" dirty="0"/>
              <a:t>STL </a:t>
            </a:r>
            <a:r>
              <a:rPr lang="ru-RU" dirty="0"/>
              <a:t>разложение + </a:t>
            </a:r>
            <a:r>
              <a:rPr lang="en-US" dirty="0"/>
              <a:t>SES </a:t>
            </a:r>
            <a:r>
              <a:rPr lang="ru-RU" dirty="0"/>
              <a:t>прогноз</a:t>
            </a:r>
          </a:p>
        </p:txBody>
      </p:sp>
    </p:spTree>
    <p:extLst>
      <p:ext uri="{BB962C8B-B14F-4D97-AF65-F5344CB8AC3E}">
        <p14:creationId xmlns:p14="http://schemas.microsoft.com/office/powerpoint/2010/main" val="8627835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28600" y="182505"/>
            <a:ext cx="10799154" cy="678555"/>
          </a:xfrm>
        </p:spPr>
        <p:txBody>
          <a:bodyPr>
            <a:normAutofit fontScale="90000"/>
          </a:bodyPr>
          <a:lstStyle/>
          <a:p>
            <a:r>
              <a:rPr lang="ru-RU" dirty="0"/>
              <a:t>Использование Модели ВР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28600" y="784860"/>
            <a:ext cx="11963400" cy="5951220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b="1" dirty="0"/>
              <a:t>Если ВР имеет сложный тренд со структурными изменениями </a:t>
            </a:r>
            <a:r>
              <a:rPr lang="ru-RU" sz="1800" b="1" dirty="0"/>
              <a:t>(новизна, точки перегиба, выбросы и пропуски)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b="1" dirty="0"/>
              <a:t>ВР требует обучения долгосрочной выборке и необходим длинный горизонт предсказания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sz="1800" dirty="0"/>
              <a:t>STL – </a:t>
            </a:r>
            <a:r>
              <a:rPr lang="ru-RU" sz="1800" dirty="0"/>
              <a:t>сложность разложения зависит от объема выборки, работает преимущественно </a:t>
            </a:r>
            <a:r>
              <a:rPr lang="en-US" sz="1800" dirty="0"/>
              <a:t>offline</a:t>
            </a:r>
            <a:r>
              <a:rPr lang="ru-RU" sz="1800" dirty="0"/>
              <a:t>.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sz="1800" dirty="0"/>
              <a:t>ETS, TBATS</a:t>
            </a:r>
            <a:r>
              <a:rPr lang="ru-RU" sz="1800" dirty="0"/>
              <a:t>, </a:t>
            </a:r>
            <a:r>
              <a:rPr lang="en-US" sz="1800" dirty="0"/>
              <a:t>Theta – </a:t>
            </a:r>
            <a:r>
              <a:rPr lang="ru-RU" sz="1800" dirty="0"/>
              <a:t>работают для относительно простых трендов (коротких выборок)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b="1" dirty="0"/>
              <a:t>Сложная множественная сезонность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ru-RU" sz="1800" dirty="0"/>
              <a:t>Сезонность Может быть связна с внешними факторами (продаже зонтов от того насколько дождливый год)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sz="1800" dirty="0"/>
              <a:t>STL, ETS, Theta – </a:t>
            </a:r>
            <a:r>
              <a:rPr lang="ru-RU" sz="1800" dirty="0"/>
              <a:t>простая сезонность 1-2 компоненты. На длинном горизонте может не работать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sz="1800" dirty="0"/>
              <a:t>TBATS – </a:t>
            </a:r>
            <a:r>
              <a:rPr lang="ru-RU" sz="1800" dirty="0"/>
              <a:t>для простых трендов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b="1" dirty="0"/>
              <a:t>Можно напрямую формализовать модель со сложным поведением</a:t>
            </a:r>
            <a:r>
              <a:rPr lang="ru-RU" sz="2000" dirty="0"/>
              <a:t>. 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ru-RU" sz="1800" dirty="0"/>
              <a:t>Требует аналитики для правильно формализации модели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ru-RU" sz="1800" dirty="0"/>
              <a:t>Можно заложить нестандартные паттерны (напр. праздничные дни, мигрирующие от года к году)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ru-RU" sz="1800" dirty="0"/>
              <a:t>Можно заложить объясняющие переменные (демография – продажа памперсов)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ru-RU" sz="1800" dirty="0"/>
              <a:t>Подход устойчив к нарушениям структурны (выбросы, пропуски, аномалии)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ru-RU" sz="1800" dirty="0"/>
              <a:t>Модель работает онлайн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ru-RU" sz="1800" dirty="0"/>
              <a:t>Результаты зависит то того на сколько модель соответствует жизни </a:t>
            </a:r>
          </a:p>
          <a:p>
            <a:pPr lvl="2">
              <a:lnSpc>
                <a:spcPct val="100000"/>
              </a:lnSpc>
              <a:spcBef>
                <a:spcPts val="0"/>
              </a:spcBef>
            </a:pPr>
            <a:r>
              <a:rPr lang="ru-RU" sz="1800" dirty="0"/>
              <a:t>Нарушение модельных условий сильно влияет на </a:t>
            </a:r>
            <a:r>
              <a:rPr lang="ru-RU" sz="1800" dirty="0" err="1"/>
              <a:t>результа</a:t>
            </a:r>
            <a:endParaRPr lang="ru-RU" sz="18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b="1" dirty="0" err="1"/>
              <a:t>Generalized</a:t>
            </a:r>
            <a:r>
              <a:rPr lang="ru-RU" sz="2000" b="1" dirty="0"/>
              <a:t> </a:t>
            </a:r>
            <a:r>
              <a:rPr lang="ru-RU" sz="2000" b="1" dirty="0" err="1"/>
              <a:t>Adaptive</a:t>
            </a:r>
            <a:r>
              <a:rPr lang="ru-RU" sz="2000" b="1" dirty="0"/>
              <a:t> </a:t>
            </a:r>
            <a:r>
              <a:rPr lang="ru-RU" sz="2000" b="1" dirty="0" err="1"/>
              <a:t>Regression</a:t>
            </a:r>
            <a:r>
              <a:rPr lang="ru-RU" sz="2000" b="1" dirty="0"/>
              <a:t> (GAR) </a:t>
            </a:r>
            <a:r>
              <a:rPr lang="ru-RU" sz="2000" dirty="0"/>
              <a:t>— это класс моделей регрессии, которые адаптируются к изменяющимся условиям данных, особенно полезны при работе с нестационарными и сезонными временными рядами, GAR-методы позволяют гибко учитывать сложные зависимости, </a:t>
            </a:r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29285532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6374" y="365125"/>
            <a:ext cx="11097426" cy="566367"/>
          </a:xfrm>
        </p:spPr>
        <p:txBody>
          <a:bodyPr>
            <a:noAutofit/>
          </a:bodyPr>
          <a:lstStyle/>
          <a:p>
            <a:r>
              <a:rPr lang="ru-RU" sz="3600" b="1" dirty="0"/>
              <a:t>Обобщенная адаптивная модель</a:t>
            </a:r>
            <a:r>
              <a:rPr lang="en-US" sz="3600" b="1" dirty="0"/>
              <a:t> (</a:t>
            </a:r>
            <a:r>
              <a:rPr lang="ru-RU" sz="3600" b="1" dirty="0"/>
              <a:t>регрессия</a:t>
            </a:r>
            <a:r>
              <a:rPr lang="en-US" sz="3600" b="1" dirty="0"/>
              <a:t>). Prophet</a:t>
            </a:r>
            <a:endParaRPr lang="ru-RU" sz="3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256374" y="931492"/>
                <a:ext cx="11835925" cy="5031826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ru-RU" sz="2000" dirty="0"/>
                  <a:t>Обозначенные факторы могут быть заданы следующей моделью</a:t>
                </a:r>
                <a:r>
                  <a:rPr lang="en-US" sz="2000" dirty="0"/>
                  <a:t>: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𝑡𝑟𝑒𝑛𝑑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)+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𝑠𝑒𝑎𝑠𝑜𝑛𝑎𝑙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)+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h𝑜𝑙𝑦𝑑𝑎𝑦𝑠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)+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𝑛𝑜𝑖𝑠𝑒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),</m:t>
                      </m:r>
                    </m:oMath>
                  </m:oMathPara>
                </a14:m>
                <a:endParaRPr lang="ru-RU" sz="2000" dirty="0"/>
              </a:p>
              <a:p>
                <a:pPr>
                  <a:lnSpc>
                    <a:spcPct val="100000"/>
                  </a:lnSpc>
                </a:pPr>
                <a:r>
                  <a:rPr lang="ru-RU" sz="2000" dirty="0"/>
                  <a:t>где</a:t>
                </a:r>
                <a:r>
                  <a:rPr lang="en-US" sz="2000" dirty="0"/>
                  <a:t>  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𝑡𝑟𝑒𝑛𝑑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</a:t>
                </a:r>
                <a:r>
                  <a:rPr lang="ru-RU" sz="2000" dirty="0"/>
                  <a:t>или </a:t>
                </a:r>
              </a:p>
              <a:p>
                <a:pPr lvl="1">
                  <a:lnSpc>
                    <a:spcPct val="100000"/>
                  </a:lnSpc>
                </a:pPr>
                <a:r>
                  <a:rPr lang="ru-RU" sz="2000" dirty="0"/>
                  <a:t>непериодический кусочно-линейный тренд</a:t>
                </a:r>
              </a:p>
              <a:p>
                <a:pPr marL="457200" lvl="1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𝑡𝑟𝑒𝑛𝑑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)=(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+(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𝛾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),</m:t>
                      </m:r>
                    </m:oMath>
                  </m:oMathPara>
                </a14:m>
                <a:endParaRPr lang="ru-RU" sz="2000" dirty="0"/>
              </a:p>
              <a:p>
                <a:pPr lvl="1">
                  <a:lnSpc>
                    <a:spcPct val="100000"/>
                  </a:lnSpc>
                </a:pPr>
                <a:r>
                  <a:rPr lang="ru-RU" sz="2000" dirty="0"/>
                  <a:t>где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ru-RU" sz="20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ru-RU" sz="2000" i="1">
                        <a:latin typeface="Cambria Math" panose="02040503050406030204" pitchFamily="18" charset="0"/>
                      </a:rPr>
                      <m:t> − скорость роста; </m:t>
                    </m:r>
                    <m:r>
                      <a:rPr lang="ru-RU" sz="2000" i="1">
                        <a:latin typeface="Cambria Math" panose="02040503050406030204" pitchFamily="18" charset="0"/>
                      </a:rPr>
                      <m:t>𝛿</m:t>
                    </m:r>
                    <m:r>
                      <a:rPr lang="ru-RU" sz="2000" i="1">
                        <a:latin typeface="Cambria Math" panose="02040503050406030204" pitchFamily="18" charset="0"/>
                      </a:rPr>
                      <m:t> и </m:t>
                    </m:r>
                    <m:r>
                      <a:rPr lang="ru-RU" sz="2000" i="1">
                        <a:latin typeface="Cambria Math" panose="02040503050406030204" pitchFamily="18" charset="0"/>
                      </a:rPr>
                      <m:t>𝛾</m:t>
                    </m:r>
                    <m:r>
                      <a:rPr lang="ru-RU" sz="2000" i="1">
                        <a:latin typeface="Cambria Math" panose="02040503050406030204" pitchFamily="18" charset="0"/>
                      </a:rPr>
                      <m:t> настройки скорости, а </m:t>
                    </m:r>
                    <m:r>
                      <a:rPr lang="ru-RU" sz="2000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ru-RU" sz="2000" i="1">
                        <a:latin typeface="Cambria Math" panose="02040503050406030204" pitchFamily="18" charset="0"/>
                      </a:rPr>
                      <m:t> − параметр смещения.  </m:t>
                    </m:r>
                  </m:oMath>
                </a14:m>
                <a:endParaRPr lang="ru-RU" sz="2000" i="1" dirty="0">
                  <a:latin typeface="Cambria Math" panose="02040503050406030204" pitchFamily="18" charset="0"/>
                </a:endParaRPr>
              </a:p>
              <a:p>
                <a:pPr lvl="1"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a:rPr lang="ru-RU" sz="2000" i="1">
                        <a:latin typeface="Cambria Math" panose="02040503050406030204" pitchFamily="18" charset="0"/>
                      </a:rPr>
                      <m:t>логистически</m:t>
                    </m:r>
                    <m:r>
                      <a:rPr lang="ru-RU" sz="2000" b="0" i="1" smtClean="0">
                        <a:latin typeface="Cambria Math" panose="02040503050406030204" pitchFamily="18" charset="0"/>
                      </a:rPr>
                      <m:t>й тренд</m:t>
                    </m:r>
                    <m:r>
                      <a:rPr lang="ru-RU" sz="2000" i="1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sz="2000" i="1">
                            <a:latin typeface="Cambria Math" panose="02040503050406030204" pitchFamily="18" charset="0"/>
                          </a:rPr>
                          <m:t>уменьшение и увеличение</m:t>
                        </m:r>
                      </m:e>
                    </m:d>
                    <m:r>
                      <a:rPr lang="ru-RU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ru-RU" sz="2000" i="1">
                        <a:latin typeface="Cambria Math" panose="02040503050406030204" pitchFamily="18" charset="0"/>
                      </a:rPr>
                      <m:t>с насыщением</m:t>
                    </m:r>
                  </m:oMath>
                </a14:m>
                <a:endParaRPr lang="ru-RU" sz="2000" i="1" dirty="0">
                  <a:latin typeface="Cambria Math" panose="02040503050406030204" pitchFamily="18" charset="0"/>
                </a:endParaRPr>
              </a:p>
              <a:p>
                <a:pPr marL="457200" lvl="1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𝑡𝑟𝑒𝑛𝑑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ru-RU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𝐶</m:t>
                          </m:r>
                        </m:num>
                        <m:den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𝑒𝑥𝑝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(−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))</m:t>
                          </m:r>
                        </m:den>
                      </m:f>
                      <m:r>
                        <a:rPr lang="en-US" sz="2000" i="1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ru-RU" sz="2000" dirty="0"/>
              </a:p>
              <a:p>
                <a:pPr lvl="1">
                  <a:lnSpc>
                    <a:spcPct val="100000"/>
                  </a:lnSpc>
                </a:pPr>
                <a:r>
                  <a:rPr lang="ru-RU" sz="2000" dirty="0"/>
                  <a:t>где 𝐶, 𝑘, 𝑏 - обучаемые параметры: </a:t>
                </a:r>
                <a:br>
                  <a:rPr lang="ru-RU" sz="2000" dirty="0"/>
                </a:br>
                <a:r>
                  <a:rPr lang="ru-RU" sz="2000" dirty="0"/>
                  <a:t>𝐶 – коэффициент подъема;</a:t>
                </a:r>
                <a:br>
                  <a:rPr lang="ru-RU" sz="2000" dirty="0"/>
                </a:br>
                <a:r>
                  <a:rPr lang="ru-RU" sz="2000" dirty="0"/>
                  <a:t>𝑘 - скорость роста; </a:t>
                </a:r>
                <a:br>
                  <a:rPr lang="ru-RU" sz="2000" dirty="0"/>
                </a:br>
                <a:r>
                  <a:rPr lang="ru-RU" sz="2000" dirty="0"/>
                  <a:t>𝑏 - параметр смещения. </a:t>
                </a:r>
                <a:r>
                  <a:rPr lang="en-US" sz="1200" dirty="0"/>
                  <a:t/>
                </a:r>
                <a:br>
                  <a:rPr lang="en-US" sz="1200" dirty="0"/>
                </a:br>
                <a:r>
                  <a:rPr lang="en-US" sz="1200" dirty="0"/>
                  <a:t> </a:t>
                </a:r>
                <a:br>
                  <a:rPr lang="en-US" sz="1200" dirty="0"/>
                </a:br>
                <a:endParaRPr lang="en-US" sz="1200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6374" y="931492"/>
                <a:ext cx="11835925" cy="5031826"/>
              </a:xfrm>
              <a:blipFill>
                <a:blip r:embed="rId2"/>
                <a:stretch>
                  <a:fillRect l="-463" t="-72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074" name="Picture 2" descr="Time Series Forecasting with Prophet - David Ten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8357" y="4140200"/>
            <a:ext cx="4363917" cy="25987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2813687" y="6419245"/>
            <a:ext cx="36436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https://xang1234.github.io/prophet/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1073921" y="6212628"/>
            <a:ext cx="6096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200" dirty="0"/>
              <a:t>https://mlcourse.ai/book/topic09/topic9_part2_facebook_prophet.html#topic09-part2</a:t>
            </a:r>
          </a:p>
        </p:txBody>
      </p:sp>
    </p:spTree>
    <p:extLst>
      <p:ext uri="{BB962C8B-B14F-4D97-AF65-F5344CB8AC3E}">
        <p14:creationId xmlns:p14="http://schemas.microsoft.com/office/powerpoint/2010/main" val="40595468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6374" y="365125"/>
            <a:ext cx="11097426" cy="566367"/>
          </a:xfrm>
        </p:spPr>
        <p:txBody>
          <a:bodyPr>
            <a:noAutofit/>
          </a:bodyPr>
          <a:lstStyle/>
          <a:p>
            <a:r>
              <a:rPr lang="ru-RU" sz="3600" b="1" dirty="0"/>
              <a:t>Обобщенная адаптивная модель</a:t>
            </a:r>
            <a:r>
              <a:rPr lang="en-US" sz="3600" b="1" dirty="0"/>
              <a:t> (</a:t>
            </a:r>
            <a:r>
              <a:rPr lang="ru-RU" sz="3600" b="1" dirty="0"/>
              <a:t>регрессия</a:t>
            </a:r>
            <a:r>
              <a:rPr lang="en-US" sz="3600" b="1" dirty="0"/>
              <a:t>). Prophet</a:t>
            </a:r>
            <a:endParaRPr lang="ru-RU" sz="3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256373" y="846034"/>
                <a:ext cx="11835925" cy="5245471"/>
              </a:xfrm>
            </p:spPr>
            <p:txBody>
              <a:bodyPr>
                <a:noAutofit/>
              </a:bodyPr>
              <a:lstStyle/>
              <a:p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𝑠𝑒𝑎𝑠𝑜𝑛𝑎𝑙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</a:t>
                </a:r>
                <a:r>
                  <a:rPr lang="ru-RU" sz="2000" dirty="0"/>
                  <a:t>регулярное периодическое изменение. 6-х дневные сезонности (понедельник, вторник, среда, четверг, пятница, суббота) моделируются как 0 и 1, воскресенье моделируются как линейная комбинация дней предыдущих размеров. неделя, месяц и годы, несколько сезонностей, смоделированных в виде ряда Фурье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𝑠𝑒𝑎𝑠𝑜𝑛𝑎𝑙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ru-RU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(</m:t>
                          </m:r>
                        </m:e>
                      </m:nary>
                      <m:sSub>
                        <m:sSubPr>
                          <m:ctrlPr>
                            <a:rPr lang="ru-RU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m:rPr>
                          <m:nor/>
                        </m:rPr>
                        <a:rPr lang="en-US" sz="2000"/>
                        <m:t>cos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(2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𝑛𝑥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)+</m:t>
                      </m:r>
                      <m:sSub>
                        <m:sSubPr>
                          <m:ctrlPr>
                            <a:rPr lang="ru-RU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m:rPr>
                          <m:nor/>
                        </m:rPr>
                        <a:rPr lang="en-US" sz="2000"/>
                        <m:t>sin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(2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𝑛𝑥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)),</m:t>
                      </m:r>
                    </m:oMath>
                  </m:oMathPara>
                </a14:m>
                <a:endParaRPr lang="ru-RU" sz="2000" dirty="0"/>
              </a:p>
              <a:p>
                <a:r>
                  <a:rPr lang="ru-RU" sz="2000" dirty="0"/>
                  <a:t>где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sz="2000" dirty="0"/>
                  <a:t> </a:t>
                </a:r>
                <a:r>
                  <a:rPr lang="ru-RU" sz="2000" dirty="0"/>
                  <a:t>– период в днях </a:t>
                </a:r>
                <a:r>
                  <a:rPr lang="en-US" sz="2000" dirty="0"/>
                  <a:t>(365.25 </a:t>
                </a:r>
                <a:r>
                  <a:rPr lang="ru-RU" sz="2000" dirty="0"/>
                  <a:t>для года</a:t>
                </a:r>
                <a:r>
                  <a:rPr lang="en-US" sz="2000" dirty="0"/>
                  <a:t>, 7 </a:t>
                </a:r>
                <a:r>
                  <a:rPr lang="ru-RU" sz="2000" dirty="0"/>
                  <a:t>для недели</a:t>
                </a:r>
                <a:r>
                  <a:rPr lang="en-US" sz="2000" dirty="0"/>
                  <a:t>);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000" dirty="0"/>
                  <a:t> </a:t>
                </a:r>
                <a:r>
                  <a:rPr lang="ru-RU" sz="2000" dirty="0"/>
                  <a:t>и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000" dirty="0"/>
                  <a:t> </a:t>
                </a:r>
                <a:r>
                  <a:rPr lang="ru-RU" sz="2000" dirty="0"/>
                  <a:t>оцениваемые параметры</a:t>
                </a:r>
                <a:r>
                  <a:rPr lang="en-US" sz="2000" dirty="0"/>
                  <a:t>. </a:t>
                </a:r>
              </a:p>
              <a:p>
                <a:pPr lvl="1"/>
                <a:r>
                  <a:rPr lang="ru-RU" sz="1600" dirty="0"/>
                  <a:t>Отметим, что важно выбрать правильно число компонент иначе можно переобучить модель.</a:t>
                </a:r>
              </a:p>
              <a:p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h𝑜𝑙𝑦𝑑𝑎𝑦𝑠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</a:t>
                </a:r>
                <a:r>
                  <a:rPr lang="ru-RU" sz="2000" dirty="0"/>
                  <a:t>редкие, но регулярные события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h𝑜𝑙𝑦𝑑𝑎𝑦𝑠</m:t>
                      </m:r>
                      <m:d>
                        <m:d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𝑍</m:t>
                      </m:r>
                      <m:d>
                        <m:dPr>
                          <m:ctrlPr>
                            <a:rPr lang="en-US" sz="20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) = [1(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20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),1(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20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),…) 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]</m:t>
                      </m:r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ru-RU" sz="2000" dirty="0"/>
              </a:p>
              <a:p>
                <a:r>
                  <a:rPr lang="ru-RU" sz="2000" dirty="0"/>
                  <a:t>где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000" i="1" dirty="0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ru-RU" sz="200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ru-RU" sz="20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sz="2000" dirty="0"/>
                  <a:t>- продолжительность выходных; k - нормальное распределение с СКО как параметр и нулевым сдернем значением; 𝑛𝑜𝑖𝑠𝑒 (𝑥) - </a:t>
                </a:r>
                <a:r>
                  <a:rPr lang="ru-RU" sz="2000" dirty="0" err="1"/>
                  <a:t>i.i.d</a:t>
                </a:r>
                <a:r>
                  <a:rPr lang="ru-RU" sz="2000" dirty="0"/>
                  <a:t>. - </a:t>
                </a:r>
                <a:r>
                  <a:rPr lang="ru-RU" sz="2000" dirty="0" err="1"/>
                  <a:t>Гауссовсы</a:t>
                </a:r>
                <a:r>
                  <a:rPr lang="ru-RU" sz="2000" dirty="0"/>
                  <a:t> шумы.</a:t>
                </a:r>
              </a:p>
              <a:p>
                <a:r>
                  <a:rPr lang="ru-RU" sz="2000" dirty="0"/>
                  <a:t>Примечание. В некоторых источниках вы можете увидеть следующее обозначение</a:t>
                </a:r>
                <a:endParaRPr lang="ru-RU" sz="200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𝑡𝑟𝑒𝑛𝑑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)+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𝑠𝑒𝑎𝑠𝑜𝑛𝑎𝑙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)+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h𝑜𝑙𝑦𝑑𝑎𝑦𝑠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)+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𝑢𝑠𝑒𝑟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𝑟𝑒𝑔𝑟𝑒𝑠𝑠𝑜𝑟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)+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𝑛𝑜𝑖𝑠𝑒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),</m:t>
                    </m:r>
                  </m:oMath>
                </a14:m>
                <a:endParaRPr lang="ru-RU" sz="2000" dirty="0"/>
              </a:p>
              <a:p>
                <a:r>
                  <a:rPr lang="ru-RU" sz="2000" dirty="0"/>
                  <a:t>где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𝑢𝑠𝑒𝑟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𝑟𝑒𝑔𝑟𝑒𝑠𝑠𝑜𝑟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</a:t>
                </a:r>
                <a:r>
                  <a:rPr lang="ru-RU" sz="2000" dirty="0"/>
                  <a:t>являются регрессорами, которые не описываются другими моделями (в уравнении в большинстве источников компонент включает неявно).</a:t>
                </a:r>
                <a:r>
                  <a:rPr lang="en-US" sz="2000" dirty="0"/>
                  <a:t> </a:t>
                </a:r>
              </a:p>
              <a:p>
                <a:pPr lvl="1"/>
                <a:r>
                  <a:rPr lang="ru-RU" sz="1600" dirty="0"/>
                  <a:t>В</a:t>
                </a:r>
                <a14:m>
                  <m:oMath xmlns:m="http://schemas.openxmlformats.org/officeDocument/2006/math">
                    <m:r>
                      <a:rPr lang="ru-RU" sz="1600" b="0" i="0" smtClean="0">
                        <a:latin typeface="Cambria Math" panose="02040503050406030204" pitchFamily="18" charset="0"/>
                      </a:rPr>
                      <m:t> предыд</m:t>
                    </m:r>
                    <m:r>
                      <a:rPr lang="ru-RU" sz="1600" b="0" i="1" smtClean="0">
                        <a:latin typeface="Cambria Math" panose="02040503050406030204" pitchFamily="18" charset="0"/>
                      </a:rPr>
                      <m:t>ущей нотации 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𝑢𝑠𝑒𝑟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𝑟𝑒𝑔𝑟𝑒𝑠𝑠𝑜𝑟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600" dirty="0"/>
                  <a:t> </a:t>
                </a:r>
                <a:r>
                  <a:rPr lang="ru-RU" sz="1600" dirty="0"/>
                  <a:t>часть </a:t>
                </a:r>
                <a:r>
                  <a:rPr lang="en-US" sz="1600" dirty="0"/>
                  <a:t>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𝑠𝑒𝑎𝑠𝑜𝑛𝑎𝑙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600" dirty="0"/>
                  <a:t>.  </a:t>
                </a:r>
                <a:br>
                  <a:rPr lang="en-US" sz="1600" dirty="0"/>
                </a:br>
                <a:endParaRPr lang="en-US" sz="1600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6373" y="846034"/>
                <a:ext cx="11835925" cy="5245471"/>
              </a:xfrm>
              <a:blipFill>
                <a:blip r:embed="rId2"/>
                <a:stretch>
                  <a:fillRect l="-463" t="-1279" b="-1139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770793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6374" y="365125"/>
            <a:ext cx="11097426" cy="566367"/>
          </a:xfrm>
        </p:spPr>
        <p:txBody>
          <a:bodyPr>
            <a:noAutofit/>
          </a:bodyPr>
          <a:lstStyle/>
          <a:p>
            <a:r>
              <a:rPr lang="ru-RU" sz="3600" b="1" dirty="0"/>
              <a:t>Обобщенная адаптивная модель</a:t>
            </a:r>
            <a:r>
              <a:rPr lang="en-US" sz="3600" b="1" dirty="0"/>
              <a:t> (</a:t>
            </a:r>
            <a:r>
              <a:rPr lang="ru-RU" sz="3600" b="1" dirty="0"/>
              <a:t>регрессия</a:t>
            </a:r>
            <a:r>
              <a:rPr lang="en-US" sz="3600" b="1" dirty="0"/>
              <a:t>). Prophet</a:t>
            </a:r>
            <a:endParaRPr lang="ru-RU" sz="36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56373" y="931492"/>
            <a:ext cx="11835925" cy="5512037"/>
          </a:xfrm>
        </p:spPr>
        <p:txBody>
          <a:bodyPr>
            <a:noAutofit/>
          </a:bodyPr>
          <a:lstStyle/>
          <a:p>
            <a:r>
              <a:rPr lang="ru-RU" sz="2000" b="1" dirty="0"/>
              <a:t>Преимущества пророка</a:t>
            </a:r>
            <a:endParaRPr lang="ru-RU" sz="2000" dirty="0"/>
          </a:p>
          <a:p>
            <a:pPr lvl="1"/>
            <a:r>
              <a:rPr lang="en-US" sz="2000" b="1" dirty="0"/>
              <a:t>Prophet</a:t>
            </a:r>
            <a:r>
              <a:rPr lang="ru-RU" sz="2000" dirty="0"/>
              <a:t> может учесть несколько линейных и нелинейных признаков ряда в качестве компонент.</a:t>
            </a:r>
          </a:p>
          <a:p>
            <a:pPr lvl="1"/>
            <a:r>
              <a:rPr lang="ru-RU" sz="2000" dirty="0"/>
              <a:t>Возможность легко моделировать любое количество сезонностей.</a:t>
            </a:r>
          </a:p>
          <a:p>
            <a:pPr lvl="1"/>
            <a:r>
              <a:rPr lang="ru-RU" sz="2000" dirty="0"/>
              <a:t>Возможность работы с пропущенными датами во временных рядах.</a:t>
            </a:r>
          </a:p>
          <a:p>
            <a:pPr lvl="1"/>
            <a:r>
              <a:rPr lang="ru-RU" sz="2000" dirty="0"/>
              <a:t>Легко интегрирует праздники в модель.</a:t>
            </a:r>
          </a:p>
          <a:p>
            <a:pPr lvl="1"/>
            <a:r>
              <a:rPr lang="ru-RU" sz="2000" dirty="0"/>
              <a:t>Прозрачность модели.</a:t>
            </a:r>
          </a:p>
          <a:p>
            <a:pPr lvl="1"/>
            <a:r>
              <a:rPr lang="ru-RU" sz="2000" dirty="0"/>
              <a:t>Гибкость моделирования тренда.</a:t>
            </a:r>
          </a:p>
          <a:p>
            <a:r>
              <a:rPr lang="ru-RU" sz="2000" b="1" dirty="0"/>
              <a:t>Недостатки пророка</a:t>
            </a:r>
            <a:endParaRPr lang="ru-RU" sz="2000" dirty="0"/>
          </a:p>
          <a:p>
            <a:pPr lvl="1"/>
            <a:r>
              <a:rPr lang="ru-RU" sz="2000" dirty="0" err="1"/>
              <a:t>Prophet</a:t>
            </a:r>
            <a:r>
              <a:rPr lang="ru-RU" sz="2000" dirty="0"/>
              <a:t> не допускает </a:t>
            </a:r>
            <a:r>
              <a:rPr lang="ru-RU" sz="2000" dirty="0" err="1"/>
              <a:t>негауссовского</a:t>
            </a:r>
            <a:r>
              <a:rPr lang="ru-RU" sz="2000" dirty="0"/>
              <a:t> распределения шума</a:t>
            </a:r>
          </a:p>
          <a:p>
            <a:pPr lvl="1"/>
            <a:r>
              <a:rPr lang="ru-RU" sz="2000" dirty="0" err="1"/>
              <a:t>Prophet</a:t>
            </a:r>
            <a:r>
              <a:rPr lang="ru-RU" sz="2000" dirty="0"/>
              <a:t> не принимает во внимание автокорреляцию по невязке (поэтому требуется только распределение гауссова шума).</a:t>
            </a:r>
          </a:p>
          <a:p>
            <a:pPr lvl="1"/>
            <a:r>
              <a:rPr lang="ru-RU" sz="2000" dirty="0" err="1"/>
              <a:t>Prophet</a:t>
            </a:r>
            <a:r>
              <a:rPr lang="ru-RU" sz="2000" dirty="0"/>
              <a:t> не предполагает поведения стохастического тренда (случайного блуждания).</a:t>
            </a:r>
          </a:p>
          <a:p>
            <a:pPr lvl="1"/>
            <a:r>
              <a:rPr lang="ru-RU" sz="2000" dirty="0"/>
              <a:t>Долгосрочное прогнозирование может быть нестабильным с автоматическим выбором точки изменения тренда.</a:t>
            </a:r>
          </a:p>
        </p:txBody>
      </p:sp>
    </p:spTree>
    <p:extLst>
      <p:ext uri="{BB962C8B-B14F-4D97-AF65-F5344CB8AC3E}">
        <p14:creationId xmlns:p14="http://schemas.microsoft.com/office/powerpoint/2010/main" val="30724955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42193" y="365125"/>
            <a:ext cx="11111607" cy="828675"/>
          </a:xfrm>
        </p:spPr>
        <p:txBody>
          <a:bodyPr/>
          <a:lstStyle/>
          <a:p>
            <a:r>
              <a:rPr lang="en-US" dirty="0"/>
              <a:t>Prophet pros and cons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55575" y="1622809"/>
            <a:ext cx="6715125" cy="1530350"/>
          </a:xfrm>
        </p:spPr>
        <p:txBody>
          <a:bodyPr>
            <a:normAutofit/>
          </a:bodyPr>
          <a:lstStyle/>
          <a:p>
            <a:r>
              <a:rPr lang="ru-RU" sz="2400" dirty="0"/>
              <a:t>Быстрая работа на длинных горизонтах</a:t>
            </a:r>
          </a:p>
          <a:p>
            <a:r>
              <a:rPr lang="ru-RU" sz="2400" dirty="0"/>
              <a:t>Учет бизнес процессов с шагом до 1 дня</a:t>
            </a:r>
          </a:p>
          <a:p>
            <a:r>
              <a:rPr lang="ru-RU" sz="2400" dirty="0"/>
              <a:t>Устойчивость к шумам и выбросам</a:t>
            </a:r>
          </a:p>
        </p:txBody>
      </p:sp>
      <p:pic>
        <p:nvPicPr>
          <p:cNvPr id="4098" name="Picture 2" descr="DataTechNotes: Forecasting Time Series Data with FbProphet in Pyth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7611" y="2976114"/>
            <a:ext cx="5779291" cy="3441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5575300" y="6548635"/>
            <a:ext cx="60960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400" dirty="0"/>
              <a:t>https://www.datatechnotes.com/2022/06/forecasting-time-series-data-with.html</a:t>
            </a:r>
          </a:p>
        </p:txBody>
      </p:sp>
      <p:sp>
        <p:nvSpPr>
          <p:cNvPr id="5" name="AutoShape 4" descr="data:image/png;base64,iVBORw0KGgoAAAANSUhEUgAAAsgAAAGoCAYAAABbtxOxAAAABHNCSVQICAgIfAhkiAAAAAlwSFlzAAALEgAACxIB0t1+/AAAADh0RVh0U29mdHdhcmUAbWF0cGxvdGxpYiB2ZXJzaW9uMy4xLjAsIGh0dHA6Ly9tYXRwbG90bGliLm9yZy+17YcXAAAgAElEQVR4nOzdd5Sdd33v+/dTdi8zo+mjsXqxLBfZlgvEGIwxnJCEpsQ2cW4gmCiEk5V7MHAuiQ85HEIMKT4XcvG6RkkIDsm100yJQ+xQnBgMxmAsN9myZPUZlWl7dt9PvX/s0d4zlmTL0nR9XmuxrHl2++2fxFof/fR9vl8jDMMQEREREREBwJzrBYiIiIiIzCcKyCIiIiIikyggi4iIiIhMooAsIiIiIjKJArKIiIiIyCT2XC/gbHR0dLBixYop11zXJRKJzM2C5gntQZP2okl7Uad9aNJeNGkv6rQPTdqLpsW8F/v27WN4ePiE6ws6IK9YsYKf/vSnU64NDg7S19c3RyuaH7QHTdqLJu1FnfahSXvRpL2o0z40aS+aFvNebN68+aTXVWIhIiIiIjKJArKIiIiIyCQKyCIiIiIikyggi4iIiIhMooAsIiIiIjKJArKIiIiIyCQKyCIiIiIikyggi4iIiIhMooAsIiIiIjKJArKIiIiIyCQKyCIiIiIikyggi4iIiIhMooAsIiIiIjKJArKIiIiIyCQKyCIiIiIikyggi4iIiMic8PyAQtWb62WcQAFZRERERObEsWKN7+0eYqTkzPVSplBAFhEREZE5MV7xIIQjhepcL2UKBWQRERERmRNjFZd4xJrrZZxAAVlEREREZl0QhBRrHlHLmOulnEABWURERERmXc0PCAgxUEAWEREREaHq+jAPwzEoIIuIiIjIHKh6AQbhXC/jpBSQRURERGTWVRwfy9AJsoiIiIgIUD9BtkwFZBERERERXD+g6vrzNiDbc70AERERETl3HC3U2D1cxMDAMg2CYP7VIesEWURERERmzf6xMoWqT9Xzsc35GUXn56pEREREZNFxvIDRskNAiOOFzMMZIYBKLERERERklpQcD0IDx/MxDDCM6Fwv6aR0giwiIiIiM871A44WamCE1LwAP5jrFZ2aTpBFREREZMYNlxwGxqtETJPlbQnMedoDGXSCLCIiIiKzwDIMhksOiYhFxDLnbYs3UEAWERERkVnghyEtCZuYPf/j5/xfoYiIiIgseK4XYDB/T40nU0AWERERkRnnBMG8bev2cgrIIiIiIjLjXC/EnMd1x5MpIIuIiIjIjHP8AGsed66YTAFZRERERGbUaNkhV3XndWu3ydQHWURERERmRBiGHCnU2D4wjh+EtCUjc72k0zJjJ8gHDx7kuuuuY8OGDWzcuJEvfOELAHzqU59i6dKlbNq0iU2bNvGtb32r8ZrPfvazrFmzhvXr1/PQQw/N1NJEREREZBZUXJ8Xh4q4Qch41cM2F0bxwoydINu2zZ133slll11GoVDg8ssv54YbbgDgIx/5CB/72MemPH/Hjh3cd999PPfccwwODvKWt7yFF198EcuyZmqJIiIiIjKDKm7ASNmFEM7vSs/1ck7bjMX43t5eLrvsMgAymQwbNmxgYGDglM//xje+wc0330wsFmPlypWsWbOGxx9/fKaWJyIiIiIzrFTziFkmS1vic72U12RWapD37dvHk08+yVVXXcWjjz7KF7/4Rf7mb/6GzZs3c+edd9LW1sbAwABXX3114zX9/f0nDdTbtm1j27ZtABw5coTBwcEpjw8NDc3sl1kAtAdN2osm7UWd9qFJe9GkvajTPjRpL5rOdC+CMGT7oXGilkmxduqb88qOj12NMBgUz3SJ027GA3KxWGTLli18/vOfJ5vN8tu//dt88pOfxDAMPvnJT/LRj36UL3/5y4RheMJrjZPc6bh161a2bt0KwObNm+nr6zvhOSe7dq7RHjRpL5q0F3XahybtRZP2ok770KS9aDqTvSjVPKIFm85U7BWfZ1U92jJR+nqyZ7q8aTejldKu67JlyxZuueUW3vOe9wDQ3d2NZVmYpslv/uZvNsoo+vv7OXjwYOO1hw4d0h9MERERkQXKDUIIF0Zbt5ebsYAchiG33norGzZs4LbbbmtcP3z4cOPXX/va17jwwgsBeMc73sF9991HrVZj79697Nq1iyuvvHKmliciIiIiM8j1AzBOrBBYCGasxOLRRx/lq1/9KhdddBGbNm0C4I477uDee+9l+/btGIbBihUr+NKXvgTAxo0bufHGG7nggguwbZu77rpLHSxEREREFpgwDPGDEMcLMFiYJ8gzFpCvueaak9YVv/3tbz/la26//XZuv/32mVqSiIiIiMygqutztFBj72iZznQM21RAFhEREZFz2LFCjUPjVY4VHSzTWLABeWGMMxERERGReW+s4lKoekBIqeaTiCzMclkFZBERERE5KxXXByBXccnXPFJRm7Fq/RR5IVJAFhEREZEzEoYhuYrLD/eNkqu4VDyfzlSE7nSUNe2puV7eGVMNsoiIiIickX2jZQbzNXJll3zVhRCy8QjAAu1fUacTZBERERE5I4P5GhXXp+YHlGo+nGQK8kKkgCwiIiIiZ8TxA6quj4lBwanfnLcYKCCLiIiIyBlx/ICS42Oa4HgBC7uwokk1yCIiIiLymuQqLumoRRhAVzqKaRh4QYhOkEVERETknJOvuvzsUI6SU2/tlo1HiNsmYxWXhL0w+x6/nE6QRUREROS0PH+kwFDJYajkMFp2G/fk2ZZJbyZGxFocZ6+L41uIiIiIyIzZNVSk5vmUXZ+jhRodySjHilXCSRUViyUcg06QRUREROQUDoyV2TdcglSUznSMkJCeTAzThKLjL5aubidYPFFfRERERKZVzQ0YqzgUaj5V18fxQizTIGaZjJRckpHFUXP8cgrIIiIiIjLFk4fGOZyvYphQqNbDcdHxqPkBlgGGYdDfEicZXZwBWSUWIiIiIjJFruJgWwa2YRC3TRIRi1zFxfEDMhOhOGYv3nPWxfvNREREROQ1C4KQmheSr7pU/YC4bdKZjjJUdPCDEGOxFh5PohNkERERkXNcEISEgGUaHMlX8YKAimsQMQNM08A0DNwgPGdOVs+V7ykiIiIip7B7uMjTg+NUXJ+nj+TpTEXx/ICq52NNnBhnohYFx5vjlc4OnSCLiIiInOPyNY/xqkex5gEGtmViGAY1r1lSkY1HyMYjc7vQWaKALCIiInIOGys7jFc9SjWfkZLTKC8IJqaA2Iu/5PgEKrEQEREROcc8PZinWPPwg5CfHhxnqOgQsUyGS06jO0XNC6i6Piggi4iIiMhi5ngBh/NV9oyUqLg+fhiwtiNFwjYZLTvEJ4Z/VL2AiufP8WrnhkosRERERM4hPzs0TtXzGRivsiQZJQwnbsKL22TizWjY3xLHMKCaK83VUueMTpBFREREzhF+EJKruFTdAIBjRQfrFCUUiYhF3F6ck/JejQKyiIiIyDnC9QP8MOC81gSmAcWat6gn4p0plViIiIiILGKOF3AoVyFqGySjNpZpErNNKq5JoebSmYrN9RLnHQVkERERkUVsrOKy/XAezw9Y15GG4+3bTIN8zaMnE5/jFc4/CsgiIiIii9DgeJVC1cULQ1rjNhHTJFd1Od63LR2zWR1Jze0i5ykFZBEREZFF6EihSsX1MTCI2xZRy2C47NCaaE7Ds8xzsMnxaVBAFhEREVmESjWfIAxxg4CWuI1hGKo3Pk0KyCIiIiKLTBiGVLwAywDPDzENnRS/FgrIIiIiIotIEIQMlRz8ICA0jHNyVPTZUkAWERERWUT2j5V5ejBPxDKp+QEqM37tFJBFREREFpGy65ON22RiNsWaTyJ6bk7DOxsKyCIiIiKLSM0NsE0TwzDIxBX1zoR2TURERGQRKFQ9jhaqVL1A7dvOkgKyiIiIyCLw0kiJkZKDaRgkVVZxVsy5XoCIiIiInB0/CDlWqFHzA2oT7d3kzOkEWURERGSBy1Vc/DDEC0IsI8RQ3+OzooAsIiIisoBVXJ+nBvNkYjZVNyAknOslLXgzVmJx8OBBrrvuOjZs2MDGjRv5whe+AMDHP/5xzj//fC6++GLe/e53k8vlANi3bx+JRIJNmzaxadMmPvShD83U0kRERETmvWOFGp4fnPLxIKgH4dGSg+P7JCIWbckIS5LR2VriojVjAdm2be68806ef/55HnvsMe666y527NjBDTfcwLPPPsvTTz/NunXr+OxnP9t4zerVq9m+fTvbt2/n7rvvnqmliYiIiMxrR/NVHj8wxljFBeDAWJmxstN4PFdx+fGBMUZKDoWaR9TSbWXTacZKLHp7e+nt7QUgk8mwYcMGBgYGeOtb39p4ztVXX80//dM/zdQSRERERBYMzw94+nCe87vS7DhWxDIN9o2WSUUtnh7Mk4nb9GbidKSjPH+0wJGCQ9n1SUdtBeRpNis1yPv27ePJJ5/kqquumnL9y1/+MjfddFPj571793LppZeSzWb5zGc+wxve8IYT3mvbtm1s27YNgCNHjjA4ODjl8aGhoRn4BguL9qBJe9GkvajTPjRpL5q0F3Xah6a52IvxisszB3OExQyjoxVa4zYvDTuY5RTVXJkqMDgQsK4rze7DBZYkI4wWAsZNg0zUpjZDGbmYG52ZN55QdnzsaoTBoDijn/NazHhALhaLbNmyhc9//vNks9nG9T/6oz/Ctm1uueUWoH7ifODAAdrb23niiSd417vexXPPPTflNQBbt25l69atAGzevJm+vr4TPvNk18412oMm7UWT9qJO+9CkvWjSXtRpH5pmcy8qrs9LB3O0dkSxMklSYZXWdAwv6WBnYqRJ05mKMlSsEWtJ0EOajlSUwXwVA1iSjc/o+lo7umfsva2qR1smSl9P9tWfPEtm9DzedV22bNnCLbfcwnve857G9XvuuYcHHniAv/u7v2u0IYnFYrS3twNw+eWXs3r1al588cWZXJ6IiIjIvLBnuETV9elIRslVXJjIR3HbpOh4cLwzhWGQr3pEJhod17x632OZXjMWkMMw5NZbb2XDhg3cdtttjesPPvggf/zHf8w3v/lNkslk4/rQ0BC+7wOwZ88edu3axapVq2ZqeSIiIiJzbrziEgQhBccnGbGwLRPXb7Zpi9sm41WPsHEpxPWDRs1xEIIfqq3bdJuxEotHH32Ur371q1x00UVs2rQJgDvuuIPf/d3fpVarccMNNwD1G/XuvvtuHnnkEf7gD/4A27axLIu7776bJUuWzNTyREREROZUGIY8cSjHqvYUFdcnaZvYpkHZ8QhCIAW2ZZK0LaK2OfEayNc8ejMxAJa3zmxpxblqxgLyNddcQ3iSv9G8/e1vP+nzt2zZwpYtW2ZqOSIiIiLziuMHlByfw/kqjh+QiVoARGxzSobKxJtxLWqZ5KtOo0TVVveKGaFJeiIiIiKzLAhCtg/kgXpP4yBsjofuTsdO+brWRITWRGRW1nguU0AWERERmWUV1+dooYZlGFTdANOY6xXJZDqXFxEREZllJccnYhv0ZGNk4zZuoBvt5hOdIIuIiIjMsmLNw54oqVDZxPyjE2QRERGRWeR4ASXHI2Iqhs1XOkEWERERmSXDxRq7h8tg0Bj2IfOPArKIiIjILBkqOeRrHrYBqZhi2Hyls30RERGRWVDzfA6PV3H9gJofYKt1xbylv7qIiIiIzILH9o8xVnWxDQP1rJjfdIIsIiIiMkOOT8SreT4Vx2dZawLHD/HV1m1eU0AWERERmQFlx+Ox/WOEYUjJ8cEwMA2DrnSUnuypp+XJ3FNAFhEREZlmfhDy4lCJw4UaP96fo+YFMFFYkY7ZxG1rbhcor0g1yCIiIiLTpOx4VFyfiGVyOF+lIxnhWLFGJm41BoPI/KeALCIiInIWjhVqpKIWzx4pkI5ZjJRcLuhOYxgGqahN2fXJVVwilv7hfqFQQBYRERE5C88fLdDXEme4VONIIcQ2TcYqLsd7VRgYOF5A1FZAXij0OyUiIiJyBmqez+6hIrmKS80LsEyDpdk4lmEwVnaxJ0ZJZ2M2+ZpHVCfIC4Z+p0RERETOwKFchScH8limwXjVhdDAMAwMA6pecxBI1Dbpb0lgqgZ5wVCJhYiIiMgZGMzXWNoSB6Dq+WA0exsXah6dqehcLU3Okk6QRURERF6jMAwpOz5RyyBmm+SrHjU3AMCeOFG2NEr6tOw8ViQI59fgFAVkERERkdPkByGPvDTC4HiVMARjomyiLRGhY+LEuDURYV1Hai6XuWC8cKzI73z9Wf7isQNzvZQpVGIhIiIicprKjs9w2SEVtTg++APqwz8mM1RvfFq++IO9ZGI2N23qm+ulTKETZBEREZHT4PkBzx8rEAQhFdcHZeCz8uJQkccO5Hjnxm5aE5G5Xs4UCsgiIiIip2G86rF/tMKSZISKG2gy3ln64g/2sSQZ4V0X9sz1Uk6ggCwiIiJyGoZLDkuSEdJRm6LjEbOtuV7SglVyPB4/mOMXNnTREp9fp8eggCwiIiJyWko1j4hlYJkGZcfTZLyz8OyRAl4QcvXytrleyknpJj0RERGR01Af/lEPxed3ZeZ4NQvbUNEBYGk2PscrOTn91UdERETkFRRrHodyZaqur97G02S4VA/I7fN0mIoCsoiIiMgrGCs77Bkp4wTN8dFy5h7ePczjB3OkohaJyPys41aJhYiIiMgpuH7AofEqhZpPOM+mvS1Ezx0p8PEHngdgWVtijldzajpBFhERETmF/WNlhoo1whAcXwH5bP3tzw41ft2RnJ/lFaATZBEREZGTcryAvSMVutMxbMvUCfJZ2jda5uHdI42fV7cn53A1r0wnyCIiIiInMVSs4QchtlWPSxoffXa++sQhopbJHT9/PgA3Xzq/xktPphNkERERkZOoeD5qdTw9gjDkB3tH+bmVbbx1fSc3rOuY13/h0G+7iIiIyEnUvEBt3abJsUKNkbLL5v5WYP6fxisgi4iIiEyouD6FqsezhwvUXAXk6XK873F3JjbHKzk9KrEQERERAcIw5KcHc0RMk3zVJen6jcl5cnaGJgJyxzwdDPJyCsgiIiJyTgvDEC8Iqbg+QyWHhG0SUB8tnYkpKp0NPwj52AM7+P6eUWDhBGT9tUhEREQWLT8I+eHeUXIVF4Cj+Sp7RkqNnx0vYPvAON/fM0LJ8bEMcLwQEwPHD7BUYXFWHtx5rBGOTQPaEpE5XtHp0V+LREREZNEaLTsczFVoT0XJxmyeOpzH9QNilsWb1rTz1OA4o2WXEMhXXeK2RUcqyohjY1nmvL+ZbD7LVVy2PXag8bMBC6amWyfIIiIisuhUXJ9izWNgvEp7MsLBXIWK6xOEIT2ZOF4YMlRyGC67jX/2Hyt72BMBzjKhdYGcds5X//jUIIPjVT541XkArOlIzfGKTt+MBeSDBw9y3XXXsWHDBjZu3MgXvvAFAEZHR7nhhhtYu3YtN9xwA2NjY43XfPazn2XNmjWsX7+ehx56aKaWJiIiIovcM4N5nj1cYLziko7ZuH7A4UJtynPGKy5GYzpeiOMHjYAsZ+/bu4a5dGkL77/iPLZc1MOd79g410s6bTMWkG3b5s477+T555/nscce46677mLHjh187nOf4/rrr2fXrl1cf/31fO5znwNgx44d3HfffTz33HM8+OCDfPjDH8b3/ZlanoiIiCxiBccjCEOqXj302qbByEQnBaj/c/941eN4BUUqYjNadohY+sf16RCEIfvHKlzSlyVuW/ze9WvpWSAt3mAGA3Jvby+XXXYZAJlMhg0bNjAwMMA3vvEN3ve+9wHwvve9j69//esAfOMb3+Dmm28mFouxcuVK1qxZw+OPPz5TyxMREZFFyPMDXjhaoFD1qHg+IfWhFImIxVjZJTYRgGOWSbHmEZ34ORm16MnEiGl03lk7MFbhkZdG8IOQzvTC6FrxcrNyk96+fft48sknueqqqzh69Ci9vb1APUQfO3YMgIGBAa6++urGa/r7+xkYGDjhvbZt28a2bdsAOHLkCIODg1MeHxoamqmvsWBoD5q0F03aizrtQ5P2okl7UbcY9mEgV2HXcIlUzCKXh5CQSCVCGMJ42aEjGSVXhCCAkuORidnkiie+TzE3OvuLn6dey148fbTMbd8+1Pg56ZfJDR99xdeUHR+7GmEwOMlvxByZ8YBcLBbZsmULn//858lms6d8XtioAWo62Z2jW7duZevWrQBs3ryZvr6+E55zsmvnGu1Bk/aiSXtRp31o0l40aS/qFvo+DDPO0mgL6ZjNYL5KxDJoTdX/ab/tZc9d8irv1drRPSNrXIhOZy+ePVLg49/dNeXair5uWjsyr/g6q+rRlonS13PqnDjbZvTfEVzXZcuWLdxyyy285z3vAaC7u5vDhw8DcPjwYbq6uoD6ifHBgwcbrz106NCC/z+piIiIzLyfHBjD8QIAqpPGQ/dl43SmFk7d60L3d08cIhmx+KOfX9+41rVASyxmLCCHYcitt97Khg0buO222xrX3/GOd3DPPfcAcM899/DOd76zcf2+++6jVquxd+9edu3axZVXXjlTyxMREZFFwPMDxqseRws1Do9XqHq+OlHMkjAM+dozh/nIN57jE//6PDuHSlze38JVy5pn9e3JhRmQZ6zE4tFHH+WrX/0qF110EZs2bQLgjjvu4BOf+AQ33ngjf/VXf8WyZcv4x3/8RwA2btzIjTfeyAUXXIBt29x1111YljVTyxMREZFFoOoFFGoeO44WsC0DPwhJRJQfZsr+sTIHxip0pmMMjFf5o+/unvL461a00ZqI8KHXLefnVrQtmMEgLzdjAfmaa645aV0xwHe/+92TXr/99tu5/fbbZ2pJIiIisshUXJ9ExCIbsxmtuBgGmJp+N22GSw4/OVSktxanKx3j1+/dTsmpt+Fd1Z6kJW7zv9+xkVv/4SkAutP1kpYPXrVsztY8HTRqWkRERBasmudjAFHbxA/CUx7OSV2u4vKF7++lLxvjFzZ0k4iYfOuFITb3t7CuM8X+sQoP7RyiLxvnDauW8Jv/+BQHc1VgkPWdKUqOz7sv7OFrzx5hz0iZi3szrJ00IW+h1hy/nAKyiIiILDiOF3BgrEwQ0qg57s7EqHkaMvZyf/ezAb6/Z4RMzCZqmzy0s97O7/5njrC8LcFPD40DcOMlvTyyZ5QjExMHV7QlOJirct2KDA/vK7BzqETMNvm969fwrReOUfMCejJxktFmSct5rYnZ/4IzQAFZREREFpx9Y2X2jVboTkcbAdk2Dezowo02ZcfHMCARsThSqNGVjp51uciP9o3xfz+yZ8q1K5e1cnFvhr/88UGGSg6b+rLkax7/8FS9y9j7Nvfz8Esj7BurAPAbl7RztBKy42iR3kwM0zDozcTYN1ahN1svqfj4m1bj+gEXdKfPar3zxcL9UyQiIiLnpKP5KruHS4Qh5Gvegu9a4fkBH/rnZ9g+mKc1YXPzpqXc/aP93LC2g9+7fg3ZeOQ1v+exYo3tA3l+cjBHImLylZs3cdNXfwZAf0uci3ubPYffsq6DQtXjSyMHALhqWSu5isuBsQoG0JmMsDQbrwfkbByAznSUfWMVlrbUf75p0+JqzauALCIiIgtGEIQ8e6RAS9ymUPNwvIB0dGF3rfi3F4bYPpgnGbHIVTzu/tF+AL69a5jxmsdd777wpMPTTuWRPSN84l+fx/Hr9dir2pOc19IsfejNxOmbCLpQ7xddiHnNx7Nx+iaCbzZuE7GMRhDumzgx/t1rVvLUYJ6fP7/rDL/1/KaALCIiIgtG0fFw/JDWRD1MhmGAZS7MODNedfn+nlG2D46TiJh88wNX8JYvPQbAW9Z2sKo9ybbHDrBzqMRgvsobV7W/atu0sbLD73/rBaKWiePX67F7MjGidnP0RW82Rk+2OUClLxunUGsG5O50jKUTAbpl4vT6XRf1ELVNfumC+kS9Dd0ZNnS/8oS8hWxh/okSERGRc8bxzhSGYVB1Awyj/rM30bXitZyuzhcjJYet//Q0+yfqfFe0JWiJ28Rsk5oX0JeNs26iO8Sv/X9PAvAbV5zHh1+//BW/76P7xqh6AX/7q5fyiX99nkPj1UbrtXds7ObH+8e4sDdD3Lb4xQ1dHCnUWNaaoOz6JCMWy9sSRG2Ta1e18+HXL+fnViwBSvS3JNh69fKZ3ZR5RAFZRERE5rW9I2V2j5RZ25HEMAxM6gFxaTa2IMNxGIZ85JvPNcIx1DtwGIZB1JoIyC1xeiaVQQD89U8Oko3b/B+X90+5fjBX4Ss/Och/vDRCW6J+4rtySZKWeIRD49XGafEf3LBuyus+9bbmSOiobfLwb7+O4wfUyajFB66s9zLODZem54svIArIIiIiMq8dLlSJ2wbPHyvSmYoSterlAgsxHAM8d7TIjqNFPv6m1Tyw4yjPHyvSnamH2Js39fEvO46yqS9Le7J5c97/dd1qHt49wn3bB4lNtGr7pQu6+S/rO7ntm8+xd7QetserHq2J+kn029Z3UvF8fn796dUJL9SpdzNBAVlERETmLdcPyFc9utIxyk59rHRsUj3tQhOGIXtG6ieyP7eyjUf3jgL1zhIAv/W65fzW65Y3nnvcsrYEl/Rlefxgjj95+CUAnhrM87VnjrB3tMJH37iKh3eP8LOB8UZJxa9etpRfvWzprH23xUQBWUREROYtL2jWGDu+T82HlvjCG0YRhiF//9Qgf/79vcTseteNzlSMd1/UQyJq8SsXn9gmzTAMfv78Lv79xSFWt6c4nK81Hvu9N6/h/mcO89zRAgCXLW1h93CpHpAzsRPeS14bBWQRERGZd8IwxAtCXD9oXGtLRKm482tSXhCGGIAfwuMHxtjc3zqlY8Rxf/IfL/GPE4M4HN+jLREhZptct6aD69Z0nPL9//C/rOd/vGUtMdukZ1LwXdeZ4uLeLDuH6qfRPdlYY4rdJX3Zk76XnD4FZBEREZl3hksOO48Vp7QSS0atKWON51Kx5vFf73+W548V2NCVYX1XivufOUJL3Ob33ryG81oT/P1Tg5zXkuDnVrbxz08f5tpVS/D8kB/uH6MrHT3tzzpeUjI5IC9tafYqBsjGbG6+tI/zu9Jctax1+r7oOUoBWY9dB4kAACAASURBVEREROaVMAwZr7gcLdToysSA8FVfM9vufXKgUd7w3NFC49dRy+RzD+8mYVscLtRLIv7miUMEIWy5qJcf7R/jh/vH6EidfkA+rr8lTn9LHD8IaUtEGsM+opaBYRjEbYurl7dN0zc8ty3cKncRERFZlI4WauwcKmJbBmNld17l45GSw4MvHGPHsSKrliT5yk2XNB573+Z+3nvpUnIVj8OFGrdeeR7XrFzSGMLRk41xUW/9RPxdF/a85s+2LZP737+Zf37fZgzD4IrzWnj7hi7uePuG6fly0qATZBEREZlXBsarJCIWMdskV3HnTTu3QtXjXV/5CRW3Xhf9+uVt9E7qVdybjdMab0artZ0pTMPgBxOdKrrTMVYtSXLlea20JV/7CTKAaRhE7fp+ZOMRPj2pl7FMHwVkERERmVdGyg5tiQimYZCreLTE5z6uhGHIh+9/phGOoT7cY8mkXsVLs3Eyk9a6NBunOun56Vj9sTMNxzJ7VGIhIiIi88LgeIXhYo0gDDEnTo17MjESkbm/Me+pwTzPHyvysTetIj5x09zx6XfXrW6nPRlhXWeKvmzzRrrebJwVS5IArJr4rywMc/9XMhERETmnBUFIvubx7JH6pDyYHyUVk20fzAPwixu6ufuH+4HmcI8//aULGs8Lw5DfunoZFTegJW7TEk9z95aL2NCdnv1FyxlTQBYREZE5la95PDU4Tq7ikIyYzKu78qhP8ztarJGOWqRjNh954yp2Hivy5pP0LzYMg9+8evmUa5vPU9u1hUYBWUREROZUzQs4nK/RlY5SmzQYZD74zotDfOJbLwDNMol3buyBjXO5KplpqkEWERGROVWouXQkI2RjNlXXJxOdH+d3e0fLfPZ7uxs/d76G4R6ysM2PP4EiIiJyzjk4VsY2TfIVj6htYhgGPZn4q7/wNIVhyEM7h4jbJpvPa210kTjd197+by8QhpCMWJRdn6507NVfKIuCArKIiIjMKscLCMKQZ44U6EpFKTl+Y5zydKi4PuMVl6cPF/gfD+4EoC8b4463b+DeJwf4jSvOY01H6hXfY0/O4cWhEp948xr+fecxfjaQZ1W7OlGcKxSQRUREZNqFYUjNC3D9sNEbuOrWg/Czh/M4fogXhJRcn6rnk4pOTyu3v3hsP3/9k4M4fsjSljiWafDOjd3c/8wR/uv9z1ByfL67a5j/9bZ1vG1910nf42ihxr5cfUz0pr4sXekoyegRfuWS3mlZo8x/CsgiIiIy7Z45nOdQrko8YnJJXwtPDoxT83w297cShHBovEJvJka+5hHCtEzLe+FYkS89doCIVX+vgfEqF/dmuPGSPu5/5gglx2djdwYvCPjc916iLRHhgeeP8RtXnMfKJUm2D4zzvx/Zw46jxcZ7dqdjrOlIce2q9rNenywcCsgiIiIyrUo1j4HxKu2pKKNlh/GKS80LaIlH2D1cwgtC+lviRCyT0YrL2WbjXMXlR/vH2D9WBuBfPnAlW+75KSXHpycTpyfTrB1+/Yo2WuI2f/afe/iv9z9LCHzr+WP8t2tXcu/PBjhadBrPjdsm6djcDymR2aeALCIiItPK8QMMDGzTwDAgV3WJ2yaJiMXRYg2D5tjlvuzZ3ZT3yJ4RPvOdXYyWXQBitkl7MkJPJsZLI2V6s7EpN+ctbYmTnijnCIFf2NDFc0cKfOGRvYTA/7xhHT8bGOdfdhyla2JSnpx71OZNREREpkUYhgwVa7h+2DgVNjAo1vxG2UMqYjXGSJ+tkuPxqYdexPWbg0WOj3/unQjex2/GO36D3colSXomhfJrV7VzzcoljdEkS1vijXHR2dfQ9UIWF/3Oi4iIyFnLV132j1Y4OF5hXWea49PwQkLcICBp109t0zGbs+2W5ngBjx/MUax55GseX3jnRu59coDHDuTomXjz265dxS9e0MX1E9Pu7rl5E/vHKpzflSZXcRvvtbQlznCpWVbRl43h9GYB+LXLlp7dQmXBUkAWERGRs7ZvtMyLQyWilkGu4jROidNRm1zFo2WaTmOfPZznkw/t5GCu2rjW3xpvnAp3T9QbL2tLsKwt0XhOImJxflcagJa4TWcqymjFpb8lzlCx1nheRzpGTzbOv9y8ht6ezmlZsyw8CsgiIiJy1qpuQE8mRsnxqHkhllkPyImIRSIyPTe6hWHIp7+9a0o4hnqniTesXMJPDuS48TRasRmGwTc/cAXjVY90zGblRPlFRyqKfXzd09iXWRYeBWQRERE5K2EYMl51aU1EcHyTYs0jEZm+gOkHIf+5Z4SoZbJntMxHrl3FkUKVe58cpCVuE49YvHF1O29cffqt2CKWSUeqPjq6vyXB196/mdZ4ZNrWLAubArKIiIicFS8I8YMQ0zDIxmwKNW/aTo1HSg6ffHAnjx/MNa4tbYk3Tnoj1vQE8fNaE6/+JDlnKCCLiIjIWXH9gONtKwzDIDuNJ7HbHts/JRwD9GRi9GRiWAZ84Mrzpu2zRI5TQBYREZGzUm+zFr7q887E9/eO8tZ1nbx+RRuf+vcXAehOR2lLRnnsd69Rn2KZEQrIIiIiclZcPwCmL6h6fsAfP/wSwyWHoaLDsrY4/a3N3sWtifoJtcKxzBQFZBERETkjrh/wwrECcdvCmKYT5Krn87Fv7uCxA82yiu50jDXtKdZ0JHnruk4FY5lxCsgiIiJyRgbGqzxzuEB/SwLbnJ6b5R7YcYzHDuS4pC/LU4N5ALrS9XHR9/3a5dPyGSKv5lX/NH/xi19kbGxsNtYiIiIiC0QQhLw0XGJ5W4Ky65GNT8+Z2w/2jrKiLcEfvm1949rx4R8is+VVA/KRI0e44ooruPHGG3nwwQcJw5kpwhcREZGFI1d1cfyAuG3RmYo1JuedqZ8ezPGlH+1nYLzCsrbElFCsFmwy2141IH/mM59h165d3HrrrXzlK19h7dq1/P7v/z4vvfTSK77uAx/4AF1dXVx44YWNazfddBObNm1i06ZNrFixgk2bNgGwb98+EolE47EPfehDZ/m1REREZCblqx7WNNUC/81PD/Ghf36Gv/jxAfaOVuhOx7BMg7/8lYv5tw9eSUxT7WSWnda/hxiGQU9PDz09Pdi2zdjYGL/8y7/MDTfcwJ/8yZ+c9DXvf//7+Z3f+R1+/dd/vXHt7//+7xu//uhHP0pLS0vj59WrV7N9+/Yz/R4iIiIyi0ZKDvFpmJb31GCeP//BXrIxm3zNA+o1xwCblra80ktFZsyrBuQ///M/55577qGjo4MPfvCD/Omf/imRSIQgCFi7du0pA/K1117Lvn37TvpYGIb8wz/8A9/73vfOavEiIiIyN/I1j+QppuV9d9cwdz26j650lN99w0oGx6vsHCpx06Y+OlJRdg2VeHJwnKhlsnu4RNQy+OYHruBN/++PAOjKRGfzq4ic4FUD8vDwMPfffz/Lly+fct00TR544IEz+tDvf//7dHd3s3bt2sa1vXv3cumll5LNZvnMZz7DG97whpO+dtu2bWzbtg2o10cPDg5OeXxoaOiM1rSYaA+atBdN2os67UOT9qJJe1F3uvsQhiGjx3IEiRNjRBiGfPY7e8jVfA7kKvz+A89xqOAC8LdPHOIjV3fz/zx+lIrXvKdpaSaCVxhp/Nxr18gNHz3Lb3N2irnROf38+WSm96Ls+NjVCINBcUY/57V41YD86U9/+pSPbdiw4Yw+9N577+W9731v4+fe3l4OHDhAe3s7TzzxBO9617t47rnnyGazJ7x269atbN26FYDNmzfT19d3wnNOdu1coz1o0l40aS/qtA9N2osm7UXd6eyD4wWkCxFaU82T3qrr89nv7cYLQnI1n4+9aRVPDeb59ovDAPzW1cv4y8cPcuePjuCH8N/esJLPf38vAL0tSVo7uvnjX7Dwg5DL1nbOzJd7jVo7uud6CfPGTO6FVfVoy0Tp6zkx982VWa969zyP+++/n5tuuqlxLRaL0d7eDsDll1/O6tWrefHFF2d7aSIiInIaXD+YMhYkCEP+7D/38K/PH+OhnfVT6J5MnL5sc/rduy7sYX1nCj8Ey4CbL13K0onHj3esuH5tB29dPz/CsZzbZj0gf+c73+H888+nv7+/cW1oaAjf9wHYs2cPu3btYtWqVbO9NBERETkNbhDCpIj8Hy+N8PVnj0ypSe7JxOidFJDbU9HGz13pGLZpsCRZHxmtPscy38xYQH7ve9/L6173Onbu3El/fz9/9Vd/BcB99903pbwC4JFHHuHiiy/mkksu4Zd/+Ze5++67WbJkyUwtTURERM7QYK7CsWINaLZ4e/CFY7QnI/zJLzZLL3syMfpb6oE4ETExDYO+bD0I907894plrQBcu6p9llYvcnpmbNT0vffee9LrX/nKV064tmXLFrZs2TJTSxEREZFpUPN8nhzMk4nZWJNaIO8cKnF5fyur2pONay1xm8v7W/jItatYtaR+feXEf5e31f+79erl3HrlMvU5lnlnxgKyiIiILB5+ELLzWJEgCBktO3RO3KAXhiHDRYeu1VG60jHu/KULWN+ZwjAMIpbBLZctbbzHL17QzQXdGfpb6yfLtmlgm9MzbERkOikgi4iIyKsq1DwO5Cr0ZGOMll1itonjBTx9OE/ND+hI1wPzG1efulzCNAzWdKRma8kiZ0wBWURERF5VoeoSMeu1xB0Tp8cfvv9ptg/mARonyiKLgYp+RERE5FWNll3ik2qFjxZqjXAM0JlSJwpZPBSQRURE5FVVvGBKvfC/Pj910l1fS/zlLxFZsBSQRURE5FVVXL8RkKuuz98+McDrl7cB0J6M0KNexrKIqAZZRERETikMQ/wgxPECMtH6IJCfDYyTr3m899Kl/Pc3r6Y1HpnjVYpMLwVkEREROaWfHsxRn5sXYhj1E+SfHMwRtQwu7c8St61XfgORBUglFiIiInJSh8crHBqvUqx5TJ6cd2CsyrK2xLwOx14Q4vnBXC9DFigFZBERkXPUYK7CeMXFD8ITHvP8gGeOFOhJx6h5AcGk54yUHTqS87ut24GxCgfHq4RhSK7iKizLa6KALCIico7YP1rmR/tGOZqvUnF9nhgY56eHcuwaKgIQhPUpeX4Qkq95BAFEbZN81SMVbZ4WD5cc2udR3+Oy41P1fFw/YLzqcTBXIRExidomI2WHqG0yXvXmepmygKgGWURE5Byxb6xMruyRq7hc1JvFMg1KNY/hkkOh6vHkoXG8EZMLezNYhsHxrm7Hp9+5fsD3dg8zVHJon8MT5LLjU3A8qq7P0pYERccjYpnkqy7JiEVvNk7MNjlSqBGGcGFPhp8cHKdQ9UjHrEYttcip6ARZRETkHOD5ARUnoL+13q84V3ExDeoBs+YzXnUpOz592RgHcxXGax4xe2pM+LP/eInb/20nfhCe1glyGJ5YunE28lWXMAwpOh5XL28jFbPJV11Wtad4w6olJKMWGHBJX5YLujMw8fnZeIQLulNUfZ+XRspUXX/a1jNccnhppDQt7yfzhwKyiIjIIub5AftHy5RdH4x6YDQNg3zVI2LWY0Bo1EsroraJbZk4fsBoyZkSkD0/4OvPNYeDtCdPbO1WdX3yVReAkZLD/tzxG/xeu5oXNAL2eNVlMF/F8eulH6mozZJklJhlUvMCWhMRYraFZRiEIUQtk4hlAAamCZZpkIjYuH5IRypKvnZ2AfloscaxYo1CzSdqGbTEI/hByEjJoVBzz+q9ZX5QQBYREVnEhoo1fnwgx9FCjeOdKGKWyXDJIR6ZiAGhQaHmNQaBOF5I1fOJWM2Y8J97RqfczHdZf8sJnzVWcal5IcWaRzJqsaItznjVIwjr1073RNnzA4ZKNQ6NVyk5HlUv4KLeLGs7UwwVHXqz9aEkiYiFF4SNIB+xTCKWiWkaGIZBxDKwJsopopaJG4Rk4zZx2+BwvvraNpL6iXjF9ak4PiXHJ2obvGlNB53pKEXHwzAMKm5w0pseZWFRDbKIiMgiVax5PHukQCpiMlp2GyUH6ZhFPGI2ArBtQsVtjpJOx+wpYTYMQ+764T5WLklwzcol5CoeXenYCZ/lByHZuMV4xWV9V5q1nSnytRFGyy5x22S47NCZOvXEPT8IsUyDgUKN9Z1pgjDkwGiZ9nSMFUuS5Ksu6ZhNW6J+ep2ImBgGjYC8uj015f1SMYuaW+9eEbUNIqZBJm5zSV8Lj+0fo+r5p9Wq7kCuTF82Qa7iUvMCktF6MI+YJoZh0BqPcHi8SmsyQmc6wZ7hEp3p1zZZ0A9CCjWP1oSGrswHOkEWERFZpI4WqoRhvQa36vkcP0Gun642I0BrIsJo2cWeKLloidtTgtpLI2UOjFX41UuX8n++YRX/863rTvisouOxsj1JZzpK2fPJxG0MwyARsah6Pqs7UrTEI+QmSjDyVZeRkkMwEcSLNY9jxRojJYdM1GJjT4aOVJSi69MSq5/nZeMRLurNNNZmmSYxyyI28V3Oa0twXluisaZszMaeeCxmW7QlIsSseneL9lQExwsYyFcZLTun3MOK6xOzLaquTwi0JSO0xCOEIY0T+FTMpuaHJGyL5W0JXn5+XPNevcVcyfHwgvAV1yKzRwFZRERkkTpSqJGO2cQjJiMlZ6Iu90SmYbC6PYl5ilTw4wM5AH5u5ZKTPu75AcmozcV9LWRiFiZG41Q3YZu4fkjcNrmoN4vjBVQ9n7GqhzfRo3i86jJe9ejOxKhOnNBC/WTYxCAbb/6D97K2ZCP09maiXNKXwTRP/r1Wtqe4oDvd+Pl1K5awvC0JQCpqU/UCYhM116dScnzak9GJ54Ss70xzSV+WiNX8jjHbJAhDYhGTmG2RiFi4fv171ryAA7nKCeUlnh/w4nCRkbJDvlYvTVnfmcIwDJVozAMqsRAREVmkSo5PWyKCaRiNYHgmjhSqJCImnafoXOEFIclIPdTapkk2bjf6JieOX7dM4raJgUHZ8elIRrFMg0LNxfNCLuzNkIraHMhVSEyUPcQskyWpCOnYyePKklco1zj+2cc/H+o3601+rOz4LF+SZLTkUHV9YrZJCAyOV/EqLkkvoOz6rOlIMVZxIDRoT9XXXQ/F9feK2eaUwNySiJArOxQdn7Ljk45a+EHIcNmh6tW/e9UL6E7H8AKougEY0J6Kka95jJQcTMPAMOpBXmafTpBFREQWmXzVZbRcL18wz7LnbxiGDJccOlLRk/YPdv0A1w9JTpQbtCUjXNbfQmwi5CajJrZZr/+1LRPTrAfq81oTrO1IAQYG0N+SIBmxGmUZUC9duHZVOy0zUJd7POAuSUTIxG0G8zVGyi57Rsqk4zZhCLmqS182TkcqShiCbRmNkL26PUV2IrjHbZNU1MacKGHJxCzyVY+OZJTWRIRk1CJfq/dg3tCVpjxRrpGN22TjFhgGJpCMWnSkYjh+QNHxKJ5ltw05cwrIIiIii8z2gTwvHitxvOYY6kH3sf1jPLDjKEcKNaquzzOH86/4Pv++c4ir//wHfPvF4ZOeHgdhyEC+xlCpRqJRFmFNuUGtJR4lG7cbNc/18oOQ3myMznQUg/q0vvr/6kE6MWlq3+Ra6emUilq0JiIkohYr2hK0pyLUvIC+ljgX9WQxJoLw2s5U4wQ7Pqnt3fIlSc7vzgD1mu7zWuKkJp6XjtqUHJ/uTIw3rm6nJR6h7Pgsa01wfld9CEsInNeaZE17Ct8PyMYjWKZB1DJw/JC4bXGKyhGZBTq3FxERWUTGKy4jZYclyQiT7xb75o6j/OG3dwGwrC1BazzC04fzvH1DF//9TatPKGP4951DfPKhnfgT79FxknKG8arL0mycvWOlU5YCpGP1yXbH659t0yAesYjZ9Q4QS1tijVKFiGnSnozSlZ75KX0Ry2TT0iwt8QhR22So5DBaLrG2I0VXJkbMNPDDeqcKyzRoidu0JE69rvUTYRkgHrGIR62J+m+LmG3g+AHxiIVpGrQmIgyVaixJRrBNA3viex9fl+MF9LcmGCs5eEHY6C4is0cBWUREZJHwg5CnBvO0xm0qTjDlpruvP3OEVNTiymWtPLx7hANUAPjW88ewTYO3rO3gJy8Nc9MVLcQjFn/4nRdZ2hJntFSvpe142QmyH4S4fsiKJQnGq+6U09XJDMNgw6Tw2JOJ099Co1zjwt5mP2XTNLh6edspb7qbbpNPupNRiyBk0o13FpWg3h4O4MplbVNqmF9JNmbTnY4RnXivqGXhhzSCbl82Ttlt9pmO2UbjLygRy8A2DVpiNsmIxe7hIp2p2Gl/tkwPBWQREZFFYqzsUHLqPYp3DhVZtSTJl360n58NjLNvrML1azu4aiIgA3z6bet5ePcw//nSCN+cmJL31WdGuW5NOxU34H+9dR23/9sLFB2fC3syUz4rV3FZ15miOxPjquVtp92/d2X7K98sOFvh+OVSUZuoZRCdCK3xiIlnGY1pg/ZrKPU4HvSPh9q4bWJNaq23tDVO66RJhKlY86bGiGWSjNq0JSO0JaP4QcDgeH2KYH1ioKpjZ4N2WUREZJEYKjbHQ6/vTPOvzx/jL358gCcOjVOoeXSnY/Rl443n97XE6M3Wp90B/MqGNmK22QjQy9oS3PbG1fz8+Z28ZV3HlM/yw5DebLw+KGMRDLdoidusak82O1HEIyxtiZ9xYJ984huLWERto3GCbBjGlJKWK85rbdyIaJv1tnaZicc70zEKjk8yajFe1Rjr2aITZBERkUWi7HqNE8/B8Sp3fHcXmZhNoVYPwN2ZeiA+rr8lQU+mWWbwi+taOFgKeexAjkTEJBuzedPqdt60uv2EzzIMTmsK3UJxvI/zcR3pKH19J47TPhPZuE1rPHLKWuLJ3UEMw+CK81obwTwds7EMg/ZUhIFxdbWYLTpBFhERWSQmj4t+aOcQQQh/fdMljcd7MjHakxHefWEPb1vfSXsyQk+2GZC7khH6WuKN556srRvU648jpjln5RALTSJi0dcSb5RvvJrJ+5qIWLQlI2RiEdJR+7Sm8snZ0wmyiIjIIlH1Alomps7tHinR3xJnxZIkyYhF2fU5vyuNYRjc/pa1jdesnqgJjk8MuzhegpE5xXAOqAfk42OW5fSs7Uy/+pNO4fL+FiKWSanmsX0wz5qOlDpbzDAFZBERkQXuSL7KQL6K5weNwSBDxVqjXdrf/uqlJCf6/r7c8rYkX77xkoma2TKvX9HGI3tG+e3XLz/pZw3mq/hBSH9r/KSPy/RLTrTQS8dsOlJRXD/ANhdPect8pIAsIiKygHl+wHNHCxM/GeweLvHHD+/m6cMFrl9Tv7FuWVviFd/j4r4sALnhMus603x5UlnGyz8rapmMu94p27rJzFnWliBXcRkruxwqV2lPRqaM0p4sDOvNpQ3DwA9CKq5/ypHdc6lY8wgnN+yeJ/SnW0REZAF77mgBzw+peQFeEPDBf3iKJwfy+EFI5zQO3PD8gH1jFfpb4sTs+rAPmV2GYZCKWYzXXFri9Wl9pzJSdjk4XiUIQ8YqLlUvoPwKz58L3sRI7XzNIzXP/jwpIIuIiCxQNc9ncLxKRypKoerxk4M5ipNC0MnGQ5+psuuzfEmStZ1putIxejMqsZgLCdui4gQkItbEX4rqp8OTW8CFYUgQhixtiVOq+YSEnN+VZqziUqh6eMH8OLEtuz79rQnevKaTFe2puV7OFArIIiIiC1Rhon8xwPK2BF/60X7WdTSDxpqOE0NHEIY4Z9AJwfFD/n/27jtAivJ84Ph36u7t7vUCHO3oVdohcogKIvaCYhSjUWOiRmMSY4ktRk2iRE1+GktUoqgkCipWLFjQU9FV9KiKFOntuF52b3en/v6Yu+WOOxSkHeb9/AO3Mzs7O7d788w7z/s8BZkp6KpMUUEWwXZ4u/5/ga7KSBJkB3VCPoXKqMH2+gRVDSaRxnJ+VQ0m3TNTKMgMELcdQKJjmo++uUHils3mmhg1sYNfUzlhuXQI+Uj1t7/PUvvbI0EQBEEQdkuDYaM0TspbURZhe8Tg10f2YEttjG/KIhzRLaPF+mURA9txUGSJdL+GLHm34vNCenJy3664eO2YhYPLryqEfApZAY10fxpfbq4hRVNQZAnHdamJGY2jxyloioTrukiAKstkBnTWVjaQ5tdwXBfLdvaoQ+C+4rgusiTh4u4yh/pgEwGyIAiCIByiooaNqniB7dJt3kS9ou4ZZAbyWqwXSVioioSmSBzVM4e1lVHK6hMYtkt+mo/SSIK8oK/V9pt4E77c3a7jK+w/qX6VnKAPXZEJpigokoQtuWQFNHrnBPlsQzUSXv1kTZFQZRnHdVFkr5Of5ThkpGjkhXQWbKqhR2YA/QBOuKyLm1TFLPIb62y313KB7XOvBEEQBEHYJdf18k6bd86riCbwKXKLUm6O61IRNUjYLpVRk5BPJeRTG9sWW/TIDjAkPx1F8kYfm57T3La6OBtr4uCCJgLkdmFUtwxCPhVJksgKaDQYNv3yQmSkaMiShCzLjakYEqk+NVkzWZUlDNsloHuNS7plpBA1LDbWNBywfY9bDn1zglQ0GCgS7faiq33ulSAIgiAIu1RaF2fBxmoaGjvnxS2b8ohBTlBv0f2uLm6hKxI9slJIWA4h3TvtB3UV03HJCugoskSKplAXt9hc4wXDkYRF1LDYHkmQoisoMqiK3FgrWTjYmv+Oc4I+1MbRYUnyfpfZgR0JAqn+lgGyIksENIWArtIlI4X6hO2V7oubrKqItLpA2h/73js3mPzc7apb48EmUiwEQRAE4RCztrKhMfiVqYgmuODZxQAMbaxn3MSwHQ7vmoGqeBO7Qj5vdFmVJTL8Gqk+L/8zRZOpjBp0zfCTmxtkbUUUn6YwLD+dnKDOB99WkNJOb4X/r8sKaKT61eTo/ogu6fiapUyk+hQiCe/33JRmEWzMJferMg2mTX56kITlkBf0EU3YRA27RQvyfcVxXSTJe11dkdttegWIAFkQBEEQDinLt9dRHTdJWA6G7fLA/PXJZTk7IdwWlQAAIABJREFUlXWTkAj5VFwgza8RagyMQj6VPrmBZIe2FE3BtF06pPkZ2DGVrbVxXCDkU9BVmaCukL0PS8YJ+06qT6VDyJccJd65GUiX9BQ6pHrBrto4OTMz4F0oaYpMSFfokxskK6Dz5aZqttTECflUooZFUN+3YaJpu4R0b9TYr8rtdoIeiBQLQRAEQThkxEybDVUxOoR85AR01lZGWLCxJrm8Vd1jyZtYl6IpHNEtg5yQFyilaAq9ckLJ1fyqgixL6Ip3m96nylj2jkl5RQVZ9M9L3f9vUNhjkiQxqFPaLlMVZFnCp3qBqKrIDOgQSl4YqbJEdlAn3e8FzD5FxnAcsoM6NTGLFWURAMoiib1KvXBclxVlEQzLIdT42n5NJkX9HwyQL7nkEvLy8hg8eHDysdtvv53OnTszbNgwhg0bxptvvplcNnXqVHr37k2/fv14++2399duCYIgCMIhq8GwkQBZkkj1q0xfsJmCzBQGd/SC13G9sgGvakVNzCSlMfAFSG82eW9nKZpCiiajK17AEtC8vOOmAFnkHv945IZ2pE6k+lSG5Kclf78+VUGWZDqleU1gQj7Fq5ntwuryKHHrh3XiazBsr/OfaZPWWPM4oCmktOOygfstQL744ouZO3duq8d///vfs3jxYhYvXszJJ58MwPLly5k1axZff/01c+fO5corr8S221c7REEQBEE42MzGpg8AW2vjrCiLcMbgjtx+fF+uH9eLwi7pje17bSqiBkHf7gUg2UGNMQVZaI0l4xRZIqiryeBa+HGSZYk0/44LJ78q41dlsgMa2UGdFE2lLmGR1piWUdfYmCZm7jpGi1s2UcNq8VjMskn1q95E0cYUkKyAnsyFbo/2W4B89NFHk5WVtVvrvvrqq0yZMgWfz0ePHj3o3bs3CxYs2F+7JgiCIAiHnLhpY1gOTTHrmsooAMPz0yjICnDusHxcoKLBpCDLq20b1HYvh9SnKi3Kww3oEGJ098x9/RaEds4BgrqCqsgc0S2DFE0mYTn4NZmg7pWVi5k22+sTmLaD3UbL6vKIQU3MSra7Lo8kMCyXNJ8KkpfOA9Axzd8iOG9vDngO8kMPPcSQIUO45JJLqK6uBmDLli107do1uU6XLl3YsmXLgd41QRAEQWiXKqMG4fVV1CXM5O3wiqgBkMwrBu9WdsdUr6VwUFfJCf2wiXUBXT2gzSOE9sErEed9ZlRFxqfI2K5LbshHj6wAuF5zmrxUH+VRg4oGA8t2qImZWLbXvtyvynRO91GXsGgwvJHjwZ1SyUjRSFHlQ6YaygGtYnHFFVdw6623IkkSt956K9deey3Tp09v7NDT0q6SzadNm8a0adMAKC0tZevWrS2Wl5eX7/sdP8SIY7CDOBY7iGPhEcdhB3EsdmjPxyJm2qzYHqE6ZtIQ0HBsh2dW1bJgqzeCrMaqqUl458yamEladoDy7Q3I0XpiNQZb63Y/TaI9H4cD7X/1WGQDW7d6k/NiNRHMiIFt2yhBnURtNQnboWNuKmmay7flUda7kOZX2ZAwSfdpJCybVH8qq7bVYDguh3VMxZ9IsL0+gRY3KNt+aKTQHtAAuUOHDsn/X3rppZx66qmAN2K8adOm5LLNmzeTn5/f5jYuu+wyLrvsMgBGjhzZ5nq7eu7/EnEMdhDHYgdxLDziOOwgjsUO7fFYuK7L/HVVENTJSZPwKRKvf7OdJ5dUAl4N3Jy8jsn1zYhBQdcMMgM6P/TttMfjcLD8rx+LbXY1BG06BAzy8/PpZKZQHk0wsFceluOyzakAV2JC3xxWlkXYUB0jN0Wjb48s9PQcNlQ30K1DKjkhH50aB0Pba2OQnR3Qce5t27Yl///yyy8nK1ycfvrpzJo1i0Qiwbp161i9ejWjRo06kLsmCIIgCO1O3HKIJCyvaYPrsqIsytNfbE4ub1732HVdaMete4VDT6pPo0uGP/lzpzQfIZ/XlMSnyLguyLJXTzkzRSNu2snKFAVZAYq6ZyXrZ0uSdMgEx7AfR5DPO+88iouLqaiooEuXLtxxxx0UFxezePFiJEmioKCAxx57DIBBgwZxzjnnMHDgQFRV5eGHH0ZR2u/MRkEQBEE4EAzLoSmkyAnqPPzJehpMmzHdM/l0Q3UyQN4eSRA1bFJ1JdlRTRD2Vt88r1b21q11AHTJSEkGvF7dbK9DI4Cuyliui7/Z5+9QzmPfbwHyzJkzWz32i1/8Ypfr33LLLdxyyy37a3cEQRAE4ZCSsGyvrFtjBGI7Lh+sqeS4PrlM7JvDpxuqubCwC0BjUw9vhK6pVJsg7GuSJCWbjICXexwzvcl5qiwhI7Xr2sZ7QrSaFgRBEIR2JpqwKNlcS15IB7zcze0Rg6hhM7xzGkXdMym+ooiQT6UyapAV1KmPm+iqfEjdxhYObZ3TU5LVVDRFRleldt0+ek8cumPfgiAIgvAjZDsun2+sprQ+QW3cQpEkXNeltD4OQF7IhyRJhHwqtuNiuy79c4NoitfkQRAOlPx0P0Py0wBvBDkjRUt2yjvU/TjehSAIgiD8SFQ3GCQsh4zGzmNx0+G0mV9QWp8AWk7Mi5k2HUI+ckI+AppC14yUg7Xbwv84nyrTIyvwoxlBFgGyIAiCILQjqyqihHQV03Eojxo8t2hLMjgGyG3W/CNuOfTI8n4e2TVD5B8LB40kSXTLDBzs3dhnxL0YQRAEQWgnHMelLmYS0BVSfSrfbK/jhaXbWqyT5tsxtuVCclKUyD8WhH1HBMiCIAiC0E4YtgONhd1kSeKtFeV0COk8dObg5DqSJBEzbdZVNYDrirrHgrAfiBQLQRAEQTjIYqbN5xuq6Z0ThGaDwMu21XN83xwO65TKmO6ZXHlkAQC1cZPUxkl6h3KtWUFor0SALAiCIAgHke24rKtsYFtdgjS/lnw8btrUJyw6pvoJ6ioPNI4iV0QNumSkYFgOZRFDjCALwn4gAmRBEARBOIhqYibfVkTomKrTYFg4jsvNb67g0/VVQMtJeY7rIgGDO6axviqKaTsossg7FoR9TQTIgiAIgnAQVTUYBDSFgKawtT7BZ+ureWdVeXJ58wC5wbDJTfWhyBI9s4P0ygkdjF0WhB89cV9GEARBEA6iygaTFE1BVWQSps0/PlzTYnleyJf8v2k7pPq8qhWiYoUg7D8iQBYEQRCEgyiSsNAa84jfWlEOksR/zhuWXN4x1YfrupRHEliuS1AXN38FYX8T3zJBEARBOAiWl9YBEpbtJvOIl5XWcVjHVPrnhRiWn8ZxfXKQgKoGE9t1sR3QRM6xIOx3IkAWBEEQhAOswbBYW9lAeoqG2yzeLYsYHNYxFUmSePycoQCsrWxAVSRygzrb6xPJ0WZBEPYf8S0TBEEQhANsS20cicbGIC5MX7CRM578gi218RaT8gBSNJlOqX7yUn2osiTaSQvCASBGkAVBEAThAHIcl821cbKDOtsjCUrrEvzr0w3J5bnBlpPyQj6VI7pnsLkmTmZAJ0VTDsZuC8L/FBEgC4IgCMIBtLU2Tsy0SfOpuC7c9vaqFsvzmo0gm7ZLyKcgSRL56X7yUnVRvUIQDgCRYiEIgiAIB1B1zCCgeqPAayqibI8k+L/TByaXd88MAF4DkYRlE9S8sSxFlvCpYvRYEA4EMYIsCIIgCAdQzHRQG/OIv9hcS0BTGFOQxaTBHVEk6JMbJJKwiFs2MdOhb64IigXhQBMBsiAIgiAcADHTpi5mEjNtfKp3A7c8kqBDqo4qS/zxuD4A1MVNFFmmW2aAZdvq8IucY0E44ESAfAhYWxGla2YKiiQRMSwCjR2XBEEQhEPHsm11RBMWhuNi2g5PfrGZlWVROqf7W6yXsBxGdk3DBdZUKOiq+HsvCAeaCJDbubhps7I8AhJURA0qoga40CM7QN/cEKbtiNEFQRCEdu6Bhx/h6WefZ+zxp3DiOT/jmjnLWb49AsDQzmkt1nWBVL9KzHTIDflI84lTtSAcaOJb1465rsvq8giG7bCyLEJAU+gQ8lqOrq1soDZmYToOR/XMPti7KgiCIOzCtGnT+N1VVwKw8NNi1hgBlse7JpfnBXdUrXBcF7VxMp6uyBzeNQNZdM4ThANOBMjtUF3cpKbBJGbZbK6N0znN36KsjyQ1dlSKJHAcl+oGg8yATjgcpri4mEGDBnH66afv1T44jovtuqJjkyAIwl56/oXZLX5+tyaNnvkB1lY1ANAx1at7bNoOluMS0L27gpIkoasiOBaEg0EEyO3Q4i11NBgWiiyRmaK1WfNSkSXy0/zETJvFW+vQt69i4sTjMAwDTdN4//33KSoq+sH7sLG6gc21ccaK0WlBEIS9cuJpk5j33rveDx37YPjTuXBkFz5cW8kH31ZyfL9cr6Sb7RA3bXpkBw/uDguCIALk9qYubhI1LPJCvu9fGUjRFOojCd5/730Mw8C2bQCKi4t/UIC8vjJKVYNJvWFRVm/wydpKDstPI82v7fG2BEEQBMjq2puxE0+iuryMLqdfydsRGNUtgwl9cogf6/3Ntl3okRVgydY6gmJeiSAcdCJA3ktNaQ3jxo3bqxFb8NIalm2tI7CHfxwDmkLBkMPRdT05gjxu3Lg92obtuKyramBlWT2pPhXHcemZHSBqWHy6roqh+WnkhnyieoYgCMIe+OCjj/nVlNOwTBNV0+lxUUfkqE12QEeRJVI0hfKIwdDOaYR0lZVlEUI+ESALwsEmAuS9EA6HmTBhAoZhoOs68+bN2+MgOW7a2I5LzLRZXx2jLrH7o8dNQj6V/P7DeHHOW5R89glDDhu8x/vx6rvFvPLWuxx99DF0PPyI5ONBXUWTZb7cXEu3zBSG5qfv0Xa/z768wBAEQWhPwuEwv//9NZiGAYCZ2ZVFqzeSnd0DpdnEOxcI6gp+TSYv5CMnuGfnAEEQ9j0RIO+F4uLiZFqDYRg/KK3hi001NBg2pu0Q0tVdBseu6/LMoi0ENIXj++YS2qnsz5plJSz87FOOHT+OkYUD29zGrnz48Xx+OulkTMPk+cfu55GZrzCkcFRyua7K5Kf52VITp1tGCpkB/Tu2tvv2xQWGIAhCe9T09y0Wi3kPdD0MfnInW4ABwZZ/QyUJfKqMpsgc0T2zRfAsCMLBIe6X74Vx48ah6zqyLCNJEtnZ3z+hLWbabKmJsa02xpIttdTGTPyqTKc0P6n+1tcr66saeGbhFq58aRn3f7SOu+Z9y/nPLOLbimhynaUlC7juorN5+p9/45fnnMYXX3652+8hHA5z859uwzAMHMfGSMR5Y/asNtcNaAprKxt2e9vfp60LDEEQhB+Dp59+mng8vuOBop8m/5sT8gJk13VxXBdw0WTvdCyCY0FoH0SAvBeKioq4//77URQFx3G4+uqrCYfDu1zftB2+3lbHl5tqWby1jpqYSW7I12o0uMnUeas5e0YJ9320li21cX5V1J0/TexD1LS44NlF3PTGN6yvaqAkPB/T9AJc0zR56/2Pdmv/P/nkU46dMIHwh8W4jgN4f7Bfee6/LC1Z0Gr9kE9heyRBdYOxW9v/PuPGjUNVVSRJQlXVPc6bFgRBaI/C4TDTp0/HdV0A5J4jocug5PKmsm6bauNsrImhy7KodSwI7YxIsdhLlZWVOI6D4zhtplmYtkMkYdFg2Kwsj2LZDl0y/N+xRS9IfXFZKS8uK2VIp1T+ML43fXODyI3l3o7qkcX/fbSWt1aUs6mskoFbNqMoKhKgajoFg4ZjO+53jkSEw2Fu/OOtJBIJXNdpscy2TGY88gCDho2gsGhsMt1CkiTSfSolm2sZU5BJQN/7j0/TCaTpX0EQhEPdPffcg2mayZ/TJv6CYLqfUV0zePmrUs4Y1BHTdghoChHDFt1QBaEdEgHyXsrOzkaWZRzHSaZZxEyb2phJg+FNvIublhdc+jV8baRRNFfVYHD726v4dEM1R3TL4J5TBxDcKRDNDOj85cT+5FrVzPjWYuXaOCouRx13Itm5eTgurC6P0r9DqM3X2Dk3TpIkkKTkKDKhLIoDIyie+yXqA//HtJkvJYNkv6Zg2A4LN9dyeLcMfOoP/8NeXFyMbdu4rott2z+4NJ0gCEJ7EQ6HmTNnzo4HfEFqA504s28uFx/ehdMHdaB/XoiySIK+uSGWb68nRRcBsiC0NyJA3gvhcJirr74ay7KSQd7vfnc1kdTO9B82ElWWSPOppPu/e8S4yRebavjjWyuIJGz+ML4XZw/plBw1bkvq+jB8a+MOPw1ryZvMn/c2juvy+gsz2bptGyG7gTNOmtgq6CwuLm6RG+e6LrIk4+b1hP7j4LCJ4AtCz8Oxeo7kn3f/lSeefy25fppfoyZmsGRLHYd3y2izkcnuaMrhbpqkJ1IsBEE41BUXF7e4IyYNPg5Xkjm2dzZBXeWwTmlEEhYZKRo9sgKsrWwgTZR1E4R2RwTIe6FpklnzNIF4PMbd11zGL393PWedf/Fub6syanDHO6uIWw73TxrE4V0zvvc5hUVj0Z75LWaPkXD0z7HfeQDXcTBcl8f+ehOO4/LPe//G++/vqA7x8fxPWL12XattOf2OgolXgarDio/gi5eg50g48gKW6Clc+esrOW7MKGqrq5JpF9vrE5TWxemUnrLH5dqa1r///vuprKwUZd4EQfhR8OZWaBhGAknVyBh/IV07pDKgQ2pynQbTZmDHVGRZYmCHEHmpoqybILQ3IkD+AcLhMDNmzKC0tBRVVbEdB5qNGJSVbuWum37PWy+/wG9uuq1FyTTwqk6UhOdTWDSWvkMKmbN8O9MXbKIuYfHQmYMZ3rl1reHmz2na3pDCUTz20AM8PH8dJQOPRV23AGf1Z7guydQFwzR4/vW36T+0kPeKP+Znk0/FSBi0yPjt1A9OugbK16G+eQ9ubRm2ZUL5WqgtheN/xwKpPwseuhVp2zfouo9HZr7CgGEjWbS1jvBnn3HBmafsdrk2Ud5NEIQfK8t2cHGRJAm550iqHY3rh3VusY4kSfhUb45854yUg7GbgiB8DxEg76FwOMy4ceMwGgu/K4ri5SA3tnhubtGCT/nl2Sdz41//nhxNXlqygMvP9boqyX2KsE+9EYAu6X6enDSUvrmt84aXlizgivMmYZoGmqYn6xQvLVnAG7Nn0VWS2dp9EttPuQFp1h9wtq6Cxj/QiqLQ47DD+WxDNXPemecFx42T8mRZpv+QEVQdfwNxGX7SsYqix6cD8ODUO1i04FNvNLliI0y5GyZcjjvrRkwjTkl4PkMKR5Ed0Hlk7nskEo1l4najHvS+qB8tCILQ3kybNo2/3X0Plml6aXfDTieEwbG9W5YAlQBNdCUVhHZNBMh7aMaMGcngGLyR2u/KwXVsm3tuvZ7e/QcypHAUr8+ehZmWD92GYo8+B8W1uPPUwYzrlYO6U9WJplHj0q2bvTJuto2JQUl4PgCXn3taskOTmvE68sX/whpxBmy9B2iqDCGR6tcoXbmETd8shZZjx+QedyHLLR93ntSPE/odlXz837Pf4KVnnuLV5/7DimVLsOdMhcl/hsIzcMIzqa+rY+pN14AEDZEobuN2JUkimJbB5xuqObxrRrJ0keO4yf83lXdzHEeUdxME4Udh2rRpXH755Tse6F0EXQYxqZeK2hgMl0cT2A4oMmiirJsgtGsiQN4D4XCYxx9/vMVjiqIgKyqObSErCj1692PV8mUt1nEch5LwfNxO/Xmpw5lw4Znegk3LSF8ym7q8C1H7XNziOc1HjRVFQVFUXNcbFVaDaY21j3eUEbJry+jbsJaVfcdCt7mwcan32rbFG7Nn8doLzySDaQBJklE69eULuYCR+ekc3ze31fs96/yLOev8i5l68zW8+N8n4dswFE6Cb4qZ8eg/2zxGlmVx3TVXc8wHYS75+YUccUQRDaZNRdRgSH4aGX4NEOXdBEH4cXniiSda/Ow/4kwCPvjNKaOBpqYgNP4dl5NBsyAI7ZP4hu6BprJkzU2aciGPPfcav7r2Zh57bg7Pzv2I6S+/zbjjT0FWVDj8LNyTr+MNaRCXvbDEe1J4Jsy6AV64hapVi7jrpt/zwF23t9husvmHbWPbNqOOPhZZknBsm3/deQvbK6ta5D0rqso1JxxGuga5p1yJpvuQZRkXWLjg0xbBNEDhuImkX3QPQZ/OzRP6fOcoeL9BQ1AUBd7/NzgWnHwtyLuedW0aBu+9+B9+NukkHvzXI5RFEuDC5xuq+XBtJXPmvoe1U3k3QRCEQ1U4HGbhwoU7Hug6hHiH/kwp7J6sR18bt8gO6OiqIkaPBeEQIEaQ98C4cePQNC2ZYqHpPk45ewpDCkclJ85FEhZ614GcetM/qSz8nGWJVFxgfXUVfeQtrJ55N9SWtdr2f6c9SJfuBckqEYVFY9E0jYTj4DoOa75alAzOTcPgq0/eb1F/+YxzLqDw8CM4fuunvLAun6MuvY1PH70V27ZZt3pli9dSNY3o+KuorHH51+R+dMvc9SSRpSUL+McdN+O4LnKsmpyvXqZs5IVwwf3w7HVgJXb5XNuyeOgvNxHQ1eT76ju0kKicgiRJSLKMqun0GjqKl97+gBUlYcaPHy/ykQVBOKQUFxc3toz25E28iIRf5fwRXYDGCkeWw4guQb4qrSdtF91TBUFoP/bbt/SSSy7h9ddfJy8vj6+++gqA66+/njlz5qDrOr169eLJJ58kIyOD9evXM2DAAPr16wfA6NGjefTRR/fXrv1gRUVFFBcX84+H/43pOEw656ctKlRUNRj87NlFbI80TuAjCIvfgA+fQMGl84QTWd1GcAxeju49t16P47pomsZd02dzxgW/5PnHH8IFSktLW6y/YsU3yQmCqq5zytlTWFqygFf/cA5Muo2Ps3pAhz6wdUWr13I79OGbGpcrx3TfZTk513VpMG0++fgjTNPAdRxkRWGgP0bZB/+G8ZfC4WchffYcRxw1jgXzi3EcF0mWvLSJxpOF3ZiD7b0vnWtvu4tH7roF2/JSUq64+c+sqWzgT788G9s00TSNue++x/ijj2pzvwRBENqbo48+Bk3TsADFl0JDTh+OKshKVqqIWw65QZ3MgM6IzunJxwVBaL/2W4B88cUXc9VVV3HhhRcmH5s4cSJTp05FVVVuuOEGpk6dyt133w1Ar169WLx48f7anX2mqKiIm7sMIGJYBHWVLbVx3lpRxtel9XyxqYa45XDm4I6M7p5JoHIN1/1rBhYuqqaTnZeHJMtesCnLDB05miVfemXZZEXGbhwtTtg27z37GFZi16Oz4AWfqqpy7W1TKRg0nBcffxDLiMNb98HP/gnnTIVZf4DS1TuelJqDffL1BDGYPKRTq2025cnVxEwURaJ/4Wg0TcfC2PEe3nsat1NfKDqPo/vl848//zFZUeOV5/7rlYhrIklYlg24WBjMfOLRZC60Y9tsWrmcjSuXYzU+ZhgG9z78OF0GDKdPGxU9BEEQ2puCQcO5a/ps1i7+HKNXEf9eaXFCvx3zOqKGTZc8705dUIweC8IhYb99U48++mjWr1/f4rHjjz8++f/Ro0cze/bs/fXyB0TMtPnNK1+xsTqGX5WZ0CeHC0d2oVd20FuhTw7X3nYXrz73H3I7dKLfoCHoug/L9ILN39x0GwBvzJ5FZUUZH703N1lj4q3X5zBs2LAWrydJUqtJba7roptRYpbDiNFHomk6Zn0ZyvM3IP3071jn3EnHTx9j6+aNMOIM6DUKHJsbRgRJb5ww16TBsKlLmPhUBU2VKeqeSaZ/LFOnv8C3iz9nZNFYAK8Sx7xHcLoO4Zv8Y9hWF2dI4ShKwvNxbKvlPkOywoULrF+7mp1X2DkbL0WTWVUeIaQrdEzzUx4xyAnqySoYgiAI7YVlO6wsj1I0uoijjxzDBc8uokeWxpiCTGDHoENeSD/IeyoIwp44aJey06dP59xzz03+vG7dOoYPH05aWhp//etfOeqotm+xT5s2jWnTpgFe2sHWrVtbLC8vL99/O92osqyOjzbW89SSSjbXm/x6ZC6n983wJmO4EWoqIgAsX7KIe/90A6bpjY5+PO9tRo89hszsHI4/dRLdundn+ZJFvD57pjchz2kZ/C5evBhVVenRowe9evVi/Pjx3HrrrckcaFmW0TSNEUMPI2jUkt2pC/c+Mp0Fn3xIbodOPPTv63DOvJ2tR/8OHNubWLfla6b0VBkzcDg1FduTr2U5LtGETZ/cINlBHdd1qSrfTo7kMuqwvnTu1h2fKhHSVe59ZDqLSxaQMcDPtE0yp03/guN6pHJq/4GoqpZ8v7Ki4NhO8jV2rhUtKwrHTPAuml57/hks00TVNMYddwJqrIb5X1XgV2UihkXvnCD5af49bmt9ID4PhwpxLDziOOwgjsUOP+RYGJbD+uoo1VETN0VjcWkDK8uj/P6IPOoqvXS6BsMmoCvUVFjU7Oud3g/EZ2IHcSx2+F88FgclQL7zzjtRVZXzzz8fgE6dOrFx40ays7MpKSlh0qRJfP3116SlpbV67mWXXcZll10GwMiRI8nPz2+1TluP7StvLN/Oje+X8lVpPR1COo9OPoyRu8jjXfnNcqxm6Qa2ZfHph++j+/ycdcElZOR0oGTJMkzTxHGcNrfhui4///nPuemmmwA46qijKC4uJjs7u0WL5mjC4pN1VQwZexwDhw7n5VnPYFduhGevRep7JN1HTWB0KMLxUwpbdfZzXZeySIIxfTLomOZvtQ/dukBFJMEXm2rICPkYM+FExkw4EYDCsgi/feUr3ltXz9rsXO546lXee+cdFGwK+/Xg3j9dj40MVvMScxKyonDDX+5Nbuex5+ZQEp5PemYWK79ZTigjiyGFo0hYDlm4lMcssn0heuYE9+C35dmfn4dDjTgWHnEcdhDHYoc9ORb1cYtvttcT1TS6dtZxgRnzlpCZojH58N74Va/SjxFJMKxbJtnBQ2cEWXwmdhDHYof/tWNxwAPkp59+mtdff5158+YlRwN9Ph8+n9eLvrCwkF69erF0HB4TAAAgAElEQVRq1SpGjhx5oHfve31dWk9ZJMEvR3XlwpFdCei7LndWWDQWVdNa1B92XRfLNPgyPJ/OA4YxeuzRPPfYfSTi8RbpE7IsI0kSuq63aKRRVFTUZpWHoE9leJd0vtxUg9742pqmYzVUo379Dn/645WtAuMmFQ0GPbKDbQbHTbKDOlkBjfq4Rap/x8emX16IuZcewatfb+eeD77l5hIXsscDML9WpuM1z7IloUD1NvjiRVj5EcPHn8Svf30VQ0cekdxO075dfu7pmEYCWVFadCDUgjIryiNkBjQyA4fOiaZJOBymuLg4eUEjCMKhqy5u8sm6KlRZpmOqd+6au6KMpdvq+fMJ/ZLBcX3cItWnkpmifdfmBEFohw5ogDx37lzuvvtuPvzwQwKBQPLx8vJysrKyUBSFtWvXsnr1anr27Hkgd223XT++F8f1ySFiWN8ZHIMX9D323BxmPPIAG9Z9y6b1a3EdB1XT6DnsCPLT/Pjyglx80UWUlpby1ltvYVkWuq5z//33txgh3h3ZAZ0UTSFSZzOkcBSPzHyFkvB8CovG7jI4ro9bpPu1NltcNydJEgM6pPLJuiqCroLcLNVBkiQmDe7IqK4ZzF9fxeryKKk+lZhls2xbPZRFIL0DnPR7OOG3LJQV/luaSsf6BB0aTy4Ab7w4C9PwJiY6ts3Um68BvIYliiyR7lNZsLGGkE9lTEHmHqdbHCzhcJgJEyZgGAa6rjNv3jwRJAvCISqSsFi6tY6AphBqnHAXSVhM+2wj3TJTOLH/jsl5MdthbNcsMX9CEA5B+y1APu+88yguLqaiooIuXbpwxx13MHXqVBKJBBMnTgR2lHP76KOP+NOf/oSqqiiKwqOPPkpWVtb+2rW98kOCsvBH7yc74k2cfD6nnj2FKadMYOWSEk464fhk4PTAAw/scVDcnCxLDOuczntlXkm45vWZ21ITM0lYNkM7ZyWL2X+XNL9Gr5wgayqj5AV9rZbnp/s5Z2jbt2Be+O9TvLhgJaGBY1lHFh98W8k32yOcMiCPqu1byd28gMryliXwXNfl7j9el2zT7dcULMelPJKgJmYeMiPJxcXFGIaBbdvE43FmzJghAmRBOMRUNRisrWxge30CRYbcoI+lJQsoCc+npnsRG2ssHpl8WHLwIGpYpOlKiztugiAcOvbbN3fmzJmtHvvFL37R5rqTJ09m8uTJ+2tXDjjbcYmZ3sSMjz76ENMwcBxvglr/3j244uwTkSSpReBkGAaVlZXJXOMfKt2v4lfl5MSQXTFtB9N26ZYZIGMPbv/1zg5S3WBQEzN3+3lLSxZw/59vxjQNtLlP88jMV6DTIP7+4RqeWLDJWynSA2XFy16lDkn2JhXilbKbdt/fuOz3NzKkcFRyxGZFWYTR3dv3KHKD4VX0GDduHIqiYDd2D3zyySe58MILRZAsCO2YZTtsqI6RG9IpjyRYWRbFp8pkBzQ0RWZpyQIvJcw0kM77O5179m1RVz5q2IzunnkQ34EgCHtDVCvfx2rjJpvr4kQMi9L6BMdPGI/Pp6MoCj5d5yennpAM6saNG4eue8t2zjX+oSRJom9uiIhhYdptT/wDiJsOndN9DO6UtkdBpixLDMlPR1NkqmPG9z+Blm2zLdOgJDyfIflpzDhvOOcpy5DeewhwsSf/Fem3s+Hyp2Hgscnnfz7/Q644bxJLSxYAEPKp1DSY1MTMXbziwVPbOCq/eEsNxWsq+fdL7/DEk0+1mNxgGAa333474XD4IO6pIAg7S1g2juNSWhfn8w3VLN5Sy0drKvm2ooGcoE5GihccQ7OUsL5jcTv2oa74v7z0zFOAVxVIV+Q9GnwQBKF9Efd+9pG4ZVMbs0j3q/TPDRLQFNJTNDIHHUfBvHltTtAqKipi3i6W7Y2QT2V4djoLt9SS7lPxa61HkmOWTUZKoI1nf78UTWF090w+21D9vSPV0GzCYGOzkcLGesoAE8eM5KUH/4q5ZgHS4IkUnHgha+o1OPFq0oeNp/azV3GrtmDVl3mBdWPKSNCnsHRrHaMLMvGp3/36B8rm6hhfldYT9ClEDYvtK5dw/UVntpikCV7qyLvvvsvHH38s8pEFYR9zHDeZ8xtJWFRFDTICGmmNdd8dx8VxXdTGQNewHGpiJl9tq8esUUjzq9TFTdL9Gp3T/bgu6I2d75pSKgqLxnopYVoKHHMJbP+W+k9e4K75zwEw7syf0jUj0K7vcAmC8N1EgLwP1MRMYqbNyK4Z5IV8rSZk7KryxPct2xsd0/wMc+GTdVVkpKhkBbzaxnHLoT5hkZGikZfaOo94d+mqzIAOIb7cVLNbkxV3NWGwrWW24/LQJ+uYuRCYNBTiEeTXp7YIrIO6Sk3MYMmWOkZ2zTjok2AiCYsl2+oI6QqG5ZAb9PF6eD6W2fYot+u6GIZBcXGxCJAFYR+pjZl8XVqPYTv4GlPN6hMWKZpCr5wAdTGLiGGjKRIZfo2a+I47UY5tkxfSiZsOHUK+VsHtS888xT23Xo/d2AnVQYazbodQNsz5G7jeHbt5b77G2DPOo3tWygF+94Ig7EsiQN4LluMSN21sFwZ1TP3OMmkHQ05Qp1tmCmWRBOWRBJbjosoyfXODFGQFd2ti3nfJCuhkBXTKIonvvZ34XRMGd16myBK/O6onF4zowr/e/pI5GwNI59xJVu/DWjwvI8V77bJI4qAde9d12VAdY2WZ1/kv1KyNbFtl/prIsrzLtBpREk74sXNdF9N2sV2XlDbucP0QhuWwbFsdVQ0mAV1Gc6VkpYmEZbO+sgFdlXFdiJkOMdPGp8jkBnUkSaIm7lXnaeuCf2nJAu6+9Xpsy5tXYCPDqddCl8HwzoOwbWVy3SMmnEzP7OA+e1+CIBwcIkD+AWzXZXvEIDtFw68pDOoYJCf0w0dj9xddlRnVLYPSei+A9akytuOSvo/y4hRZYlS3DGrjFqvKImyujdEx5EveumzSdDJsuk25u7KDOreeNYZf1MY575mF/PaVr5l29hBymhXcT/OprK6I0iG19YjP7mowLGKmQzRhUR41qGow6ZUd+N6mJHHTZltdnK+3R8gN6qg7XXA0lflraiUOEMjIZswRI5Fi9YwfP75FABwOh5kxYwZPPvkkpmkiyzIPP/xwsjFO0zoieBYOZaV1cTZWx6hLWFi2y4AOIXKCOkHfDz8dra2MsqU2TsKy6Zze+mJZ1VX2tE/H0pIFye9u+fbSZHAMQP+joXcRLJgNX73LSZPOobqqnPEnnsYxZ55P90wxeiwIhzoRIP8AiiQxtFMafXKD7T7HTJIkOu3H0VVJkshI0RiSn0ZalcraqgZkycvzkySJFFXBsB2ipo2uSF4Kyh4es/x0P/+cNIjfvPwVFzy7iFuP68ORPbwygH5NoSySYNm2Oobkp+/Rdm3H5dP1VTQYFq7rvRe/KpPqU1hRFqE6ZqApCkPyW3d0dF2Xks211MXNNoNj2JGveMrZU5Ij5JbjUhk16Jjqo2f2jhzwplrJ8WYNYxzH4YorrmDNmjVkZGSQnZ3N1VdfLeopC4ck13VZXRFlVXmEFFXBp8ik+mRWlNVjO9Ax1Zs0vCcX0o7j8k1ZhBVlETL8Cpkp+6b0o1eh4rQ27/5QMAIm/Aq2r4H5M5AkiZ59+/Hzqx6jqsGgICvQ5rwPQRAOLSJA/gFG7KK19P8yv6bQv0MqBVkBFFmiPmGRsBxK6+KURQz65YaQJFhX1YBflQlqSquR5u8yLD+dBycN5rcvL+WmVxfxjzEhDh/ldeLLC/nYXBOnS0YKWXtQG7kublIbN8kJ6MmZ6U1yQzql9V7TEl2R6ZPrjSZXNRhoikxZJEFd3CSvjTsHTSNPr73wLLZtoWk6j8x8hSGFo1BliQ6pPiobDOoSFmN7ZKEqcrLkX/NuiuAFyffcc4/XnluWcV0Xx3FE/rLQ7jXd7cjOzmZbWTldBx9Ox35D2b5yCYs++yQ55yAn6MOyHcqjBiWbaxjZNaPV97EtruuyoizC+qoGuqS1vnO1N7wKFc2CY0WDEad51XWyu0HZGuTX/gqyjKb7kvMjLNdt0fxIEIRDlwiQhX2qaeSkKVDtlObHtJ3kCa9zut+7HVoTR5IlfN+Tu9x81rgMmM//CfPM2/n1E3N5XJGSI7PpfpXFW+oY2yNrt0ag6uImy7bVE9SUNk/GsiTRMdVP1LBYWxllQ3UUTZaJmjaaLGO7zi6D4yvOm0QivTOkdYKK9VgYLSpwNB2fygaDJVvrKOyawTHHHIOqqjiO49WCdt0WwbLruti2nWxB7rouNTU13/s+BeFAC4fD3HPPPcyZMwfHcZKfY1lRuODSq3juqWleTfTmF46KTE5Qp6rB5MM1lXRO99MvN7TLybfeyHE9G6tjdAjpP/hOXvO/L926d08+9trzz0Agw+sAmtEJDj8bcrpBQy0seIHTC/xMmvFsi8nFNTGDzBSN1L1IFREEof0Q32Rhv2segKb5NYZ1zqBXtoUkwaqyCKX1cWRZItWn4m9Wsq0p2Gw6mZ569hTsTctg4Ryc4afywacLkkGnX1NoMA2Wb6+nX15olxNk6uImy7fXUxU1CfmUZOmnXQnqKkFdxXVdrMb87ahhkaJprVJFLMdl7qcLMYadDmPO9x7cuARp7v+1qMDR9N5KwvMpGHoEKROOYk1FFKcxKN55FLk5x/Fmyruuyz333EOvXr1a5CgLwsEUDocZN24cRhupCY5tM+PRfyZ/bvvCUSNu2ayrakCWJPrlhVptZ1ttnI01DVTFzOQEu93VPCAGWvx9ueOh6eQPPZIZr76D2fkwOO5KSG1sGx2pRH71L0jrF6JqOpOufaXF5GLbcTEdl2H56e0+7U4QhN0jAmThoGhqvzqiawY1MZOoYbFkSx1yikRdwpsM06LBCAaVZWXIkoS7aA7ukBP5Jm94ixPekMJRlEUSVDeYHNE9g4CuUp+wqIwapGgy5REvgE5RFbavWsKb4fmkZ2ZRW12VfP7O22siSRKa4p34gnrrr81XpfX89b1VfGsPgjGDYPu3UL0V+h6Jdd4/eHOTRV7fBB1TfS3yG2VFYettd1NTXYVt2S22KcsyQ4ePYMmihcnAeGcvvviiCJCFdqMpVWh3yIra6sIRwK8qqAGZzTUxOqb6UGWJoE8lkrCImzYLt9QQ0JQ2290357guc5ZvJ166nvrlYTIzM7n3/gewytYhKwr9xp5EomAUWAaJ3AL++JWGtXwxZB0DZx4Dtom0dC4ju2fzsxOOJHTSX9v82wBQHTPplR0UuceC8CMiAmThoMtI0chI0ZBcWFEeJagruEDvYUegaTqmm8AF5n/wDrbjIEUrKahawpfaKH557S0460rQNI3HnpvDkMJR1Ma9Wqg9sgKs2F6P0qDjUxUM2yYn6GP5oi+8NIhEHFxvMqHu83PtbXfxjztubnX79/skLIdb3lrBlto4yhcvYH81D6m2FFwXd+FrcPxvmb3eZtWb3/DY2UN4Y/aO/EbHtnngjhs4/9KrkGUJ1/XSJyRZRtN1fnbt7fSc9xYvPvFwm689bNiwffibEIS907yt+vc5/Sc/3eX3S5UlLMclvL4KF0hP0aiNmciSRFBXSPW1vvPjui6PfbaBBRtrUWSoi1usqWzwFtZ3h9IoXPBPMBM40Sq+yejU4vnW2i9IrdtEfVU5VG+BLd9w1rk/5abbrkmu09b+xi0bXZEpyPphjZcEQWifRKtpod3Iz0jh6J5ZHN4tg8Iu6Rx/7FFcduOfkWQZx3GwTBPXcXBsm3Wz/gZVm3Em/hayu2MaBm/MngVAul+jImrw5eZaZEkiK6DjV2U6pvpRZYmS8HwMIwGNqQyu62Ik4rw39w0M02zREvv7xE2ba1/7mi21cU6VV+J++qw3ctwYeMtl36LPvpEzuyss3VbPX95bDTvdgbVtm2cff9hrQKAoXPir33HldbfwyMxXOXrskXTMzkKSva+qJEn07D8IqTEX+cEHHxQtq4V2o6ioiH/9618oigKShKbrXPir3yHLzU81ErKqg0SyfXxbcoI6uSGf1+TIcckJ6uQE9TaDY8d1efrLzTz++SaWbqujssGbQDtc2gbzZ0DlZrBN77tZugoSDfDxU/DaXfDWffDMNfDKX6h//ylY/AZsWIwqOZxy9pTvfL+O61ITMxnUMbRbEwsFQTh0iBFkoV1RFTn5oRzYIY1sJeHl5O6cl2tb8Po9cO5UGHMevDa1ReDZNIGuJqbg22nSXmHRWGRZxm5KWwhm4eb3Y+mIy6HX2UifPY+6Ntzm7d/mPt9YzZ3vrWZbXYJbJ/ahR9zHuw95I96O4+ACiqJw3a1/4awzx5D68TpmlGzm18f8BGXWf7Etr4OXJElYlg24IEmkpqXx86t2jFoVFo1FVVXMxioX61evALzAPh6P88T0p0Q1C2G/aKrN7bou551/AUcdeSSS5OXcWo7bKqXAdV1yuvfh+MnngwRn/OQ8Ro4azbgTTuaN2bMor6ygpOdZRP3ZvFhTyiv3PcvEMywuHj+U3ruoO67KEqq869SF4m8rmPb5RlaVRzmmZzZ3nzogWXbxgbtms2jBbK9e8R7qN+iw772DVB0z6ZkdJC+1fTWJEgRh74lLXqFdO37Csfh0HVmWkRWFYaOK0PTGpiAV62HJW9BzFEqXgZwy+btHe5oMKRzFDX+5F6nLYPjZA3D5U3DaTcQlH1JGPu6JV1Nw0/M8W5rK16X1bW5j9pKt/Pqlr7Acl3tPG8gZgzoCcOrkKQwYMtwb8W0M7GurqwC4bHQ3hnRKZdoqm6Numoase80EvEl5TTP9W+dlDikcxennnL9j8o/rJicIuq7LjBlP8W7xx3twVAXh+zVNuHv00Ud57LHHOHb8OAYNH8l1d91HyeZaPlxTyba6OLUxE9txefuDj5hy0S+YcvqJvD37Gd5/9QX0xlHVIYWjuOJPd2Oe9Aei/mwoXwdGA/aISczdYnPlS8tYuLl2j/fx7g++5brXv6GqweTWiX34+2k7guOlJQt45vG2U5PAuzAdNGwE4044hXEnnIKstAzCzzj3Z9/52pGEhabI9BCpFYLwoyRGkIV2raioiPvvv59fX3UVjm3zzdJFTL7oUmY/+SiWbSOVvIw69ATSJl33ndUfmjRNwus/8kj85/6FmKvAwlfRNi7m4XvvZPDww3l20Rae+WI9K1dX8N7qCq46soDJh3Xik/VVBHSFVeVRnv5yE71zAjx85mFkB/XGiXenY5kGsqKiqhqObaFqejLg9WsK958xiMtnL6O4IhuOuQTe3XEClyRpl3mZp0yewuuzZ2GZBqqmU3TMsXz4zpvJ8m8zX5vLqCNG77MuiYIwY8aMFhPuHNtmxdKFrFi6ENdxmXz+xSzZWgtIrFryJddfPBkzkUh+D5vSlIYUjuLtlWX8vXgt9XET5YNHsRe9CYCUksqUG++l2OnBTW9+w7SfDKF75u4FnF9squGFJds4siCTu07u32rybEl4fotcaEVROOq4E/nkg/eS381rb5ua/L59Om8uL838L+VlpZxx7gWcdf7Fu3xtw3JoMG3G9sgWE/ME4UdKBMhCu1dZWenlHjfmIa9e/hWO443OSoko9ifPUHnsr7js3qf49x+kXd4WXVqygF9ddB5mryLcml7IoSxuHaZRpeaTfsJgnn3sQTas+5aMrGzqFy9CCmbBhCt46BN46JP1LbY1piCTWyb0Ibuxf63XWMBrLGJbJkedcAqDho5oNeM9za/xn/OG8ZuZYb447ASI1cH8/yA3NhzYVc7jkMJRPDLzlRYlqsIfvp8MmEcWjaVkcw3je+eIMlPCXguHw0yfPn2Xy9956VmMSG3y8z1tzgsY8QRNd0IkSUpeHL6wZCv3Fq+hZ3aACcYSXlr6dnI7bqye5/78a0ac8lNW9P8JF81czMkD8ri8qDvp31GC8eO1ldz4xgp6ZKXwlxP7tVlZpr6urkVq1vmXXsVvb759l5VqBg4dzpgJJ+7yNV3XpT5hETVtFEmisEt6shqPIAg/PuLbLbR72dnZyS5yuq5z/pSfsKzkM2wTkCTspW9D/gDsop8ydf5WHh1ktnly/c8nKzB++k8IpEPFeianb+OMcb9iaarMpT85BduyWj4hsQVevI0xF11Pr+POQVMkCjID5Kf7kLet5M2nH95xkt1p8DorJ4/Tfv5rstvo7KcqMg+fP4bfzfyU8KifkDl6ErJjMjw/lYJBw3d5HJrXXQVaBMxDCkdRFjVoMGyColGBsJc++OADrO+oRLFi2VK+XrwQWVEYdeQxfPbR+y2WH3P8yVz4q9/Sc/AIfvPEAgbkpfLAmYPY8LXNnAd1DKdZS3Xb5svX/oP6aTEdf/Uvnl+yjbWVDfztlAGtmgitKIvwWHgDH6+rYkBeiAfPHNxmLfOd0yukxtx+aP092h0x06Y2bpEb0inICpDqU8lpo1GQIAg/HuJMKrRr4XCYq6++OtlF7je/+Q3x+lqu+dNdVFVWkZOT7ZVme+8h8IdYXVDIb2d9zuj6Eo4cU0SkpooVy5dT2mU0Hzg9kGIbkT6YhrqxhJOefRnwRn9bBcdNHJsvnrmPX54+PnlS3bmBySMzX+GUs6fw2gvPYJkmqqYx9pTJqIrM9voEeam+Vk1FZEni/84tYvbSbUxfsInKmMl7W23Wz15Kj6wA1Q0m54/oTG7Ix7urytlYHeOUgR0Y1ys7uY2dT/QKsLk23mZzBUHYE6PGHIWqadjgXYQ2+350LejJpvVrAS+43Tk4Bhg0dASDRxzOdXOWEzdtbjy2F+l+LXkn5I3Zs3h51gycZkG4XbmZ0xMLCI2fwj+K13DtnOX8YlRXyqMGw/LTqE/YyXKKFxZ24dLR3dpsCLS0ZAHT7vtbq/SK75t0uzPLdiiLGsgShHSVooLMPWplLwjCoU0EyEK71tR4oKlRxn333YfjOGi6zp1PvMAxY4+kd/+BjSOpY3h3i8XMbw2+LkvliUffhC6DwT8QNtgM9tXTx1pIdUEa2YefCzRrK7sTr50zgItjW8mSbyXh+ZRu3ZxsYGK6Cabd9zcu+/2NPPbcHMLzP6J/YRFHHTmGPrkhtvx/e/cdH1WZNXD8d++dmXRCGi10qYGEaugSBBRFQQQEy4JlxbWsa111XVfXhnV39bXvuqirgFKUpliAIEgohhJ6ByEJIb1Pvc/7x5DJhIQixYRwvp+Pfzi5c+feJzyTM8+c55zCcvbnldMo1FYtSLYaOjf2iGV8t2boGny/K5tp6w7x/a4cAH4+btPSsr25xDcJIzLYxqUtw5nYPZa01LUsmj2T3JyjREbH0P/qcTQZcwWhARaME7Tpra9SUlJITk4mKSlJqnqcBY+paBHXnZf+O5u9G9dwJOMwc6d/jDJNdF2nQcOGJ32+1RZA18QBvLhkDz/uy+ORpLZ0bhzm+3nFB7uOXRN4+a+P+AJZi9VG7/4DSejWjFCbhZeW7uH+r7ZWOXewBa4zdpAUHECQtU2116748FpRxlHTNHTD4M/PvXrKVWOlvBvvAJweE7ep6BATSqBFJzY8EIuUcRPioiIBsqjTkpKSsNlsOJ1ONE3D4/F4g2Wnk90bVtOzd58qK6mLZj8EP++FyyZDk/bek2TuhH3r2J76JVtND8o00XSdhbNnettX+600RURG0+3SPvRPGsbrf/+LL8c3PCLSt2psGAaGYfHlRa9ZkUzq6p8Yet1Exk28icsGDqBtVAiGrhEeZMVq6GzPKkbXNRqHVl9N3rZhnS9VYuYtiRTb3VgMjS1Hiil1uAkPstI+OoTZaZl8tzOb5ftyWb4vl/U7D7Diyet9TUcAFsyajq7NZVjSIOKbNjj/v6A6IiUlhSFDhuB0OrHZbCxbtkyC5DNQ5nSTeriQEqebAf37c9nAAaSlrq2yQbRX30Fs27Shxk2xPRL7c8tDf+O9A4FsyjjCjd2bMaFbsxpf6/qbb6Vdpzg+efdN38a4inl8dedGXNY2ksU7jmJ3m9jdJiVH0/ni8ZuZV1rIgn/q3Pz7ewlr0KBKN8zUlJXecojH5niPfpdx872P0Ll7bwrKXQRZDYodbgxNIyzAwNA1sktduDwmLruLVtHeP4nNgizEhgcSXENusxDi4iCzX9Rp/fr1Y8mSJSQnJxMVFcUDDzzgC4LGjbwCu9tDkEf3re7k5hyFnT96/wtvAqV54Hai6zomoI6tRCvTxO1yggKr1YYb7x//1z/8zPdHunJlemCVttcakNCrDxvWrvKeSylcTieLv/iEZfM+Z9myZbSPqQzO2kWHYDV0Sp1ufsm30yi08mvamtI1Kl7/0hZVV+puvbQFt17aArvbw8tL97JgWxb0Hg+rplORBO12udj2cwoJvRJxxpjYLBfHqtcrr7yCw+HdJOlwOPjkk08kQD4DW48U43SbVdo4+28QDY+I5PW//6VKyr1uGHSO787oCbdw3U2Tuf/LLWzKKODxIZcw7gTBsb+UH5fidDrYsWUT4A2ca9pIN+2t2bhKC1Gmicc0+eS9N3znqOiGed9fn8ewWFAuE6vFyhNPPkXSoAEYusbhQjuZRQ4ahwWga5Bb5sLpNgm26XRuFE55gYdWLU6+Oi6EuHhIgCzqvH79+vmCnfj4+Cpfox/OL+fzxUvZv3EN4RGR/LTs+8onFh4BQNN1rhw1jqWLF+B0eDcHaZqOxWpj5LiJjBw3kdSUlcQn9ieyXTylTjchNkuVlek9O7ahaxpK01DAxnU1d6+rKTjTNI3WkcGYpqLI7qbI7vJtLPIPvN1UlsU6mUCLwZPD2pOfm83KvhOgcxL88A4c3IBhsdB/0GV4lGLdoQL6toqod6kWFakUUVFR5ObmEhUVxYIFC2r7si54uaVOskscND6u6UWJw80L2wyO6H1pkF2AY/AUaNUd9q6lB4e54w/3csDWnBKPYsqsNDZmFPHAoDYnDI49piKv3EmI1eLralkR9L7y1KMcPnjA11nSZgvwfWis1g0cx78AACAASURBVODHT0U3zK1pG9F84bsitmGQbzNdRLCNLo0Vut98UEqhFOi6RkZx/ZonQoizIwGyuKD4B8sAv2zfwJO3j8fldKLpmi9XWdM02nfqyu6dW0Epli5ewIRbpzD9P2/j9njQDZ2Hn36RhF6JuD0mrbr0wO42iQ6xkV/mQsPD7rSf+TllJRGRUbz69OO4j21UUifZ3X8yuq6R0LQBqw7kU+7yEGT1bhzyX8E+3Y1EFl3jnxP78/vn32ZTeDcYNBl+2cToGyq/ps4udbAvt5T2MfVj015FV7dp06bhcrkwTdObY3qsFXkFwzCYNGlSLV7phcftMdmSWVStIkRWsYO/fLODvblltI4IokwPgw4DwBoI3a5iI3D/aiem8m7aC7EZ/HVYe0Z3aXzC1yq0uwi0GJS7TVp3S6wS9Lrd7iorwy6ng0WzZ3rbyGtwxTXXs3jerBrTO5RS7N24Drfb7asPnpycXOX9Qj/uw6KmaUhVRCFETSRAFhe05cuX43Y5MU0POjqGrqOObczZs2ubL6XC5XSwa1saZkXbaqXIz8tjX14ZITaD2AaBtI4MJjzISmG5i4/mfc+fbxuL2+kCjSq77Y9nGAa6ruN2u7FarScNzkICLCS2bMiqA3lYdK1afeNfU35K0zT+dHUiU55+Hfew+zAuHVOljnJkkI09OaU0Cg244BuIpKSkMHToUOx2e5XgqCIQqigDaBgG77zzzkWZXlHu8pBZZKdJWADBNgsrVv7E9M8+BWDSpEknHZOD+WWUuz3E+KVWzNiQznspB1EKXryqE1d0jAEqm+3ExPdnt9aI/HIXHWNC6d6sAa0iggg9QZlBu8tDkcNNaICF7s3CsVk0ElteSUjRW9z/x/u8ZeVqCHy/+ryyLfup7N7lbcOuaRo2m42kpKTTep4QQhxPAmRxQfPfxGdYrTzw1IuUFub7dt776xCXwIa1q32rte179KFNZBAdY8KqFPwPD7JSuGcDbpcL0zxxYNymXQeuGDqEyZMnA5x2BYXwICs9YsPZmFGIoelnVJe1QkKvRN5/5iGeWHKIon4TcJneAKMiiOnSuz+m6kH/1hFndP66oqKayYm6JVasJhvH2gVPnTq13lezUEqxL9f7Ac/QNT7/einrVq2kZ98BtIgI4oZrrvCVZ/v3v//NnXfeWS1QVkpR4nCzK7u0Ss3ul75axewDHjo00Jg6pmeV7nZnWke41Omhd4uGRAXbfCu5ARaDu/9wF927JfDoX/7KT8lVS8a1uqQ9B/bsqnY+Xdfp1f8yWnbswryP3/d9u+N/X3/84x/r9e9fCHF+SYAsLmgVm/iWLVtG1979CWoVR4BFZ+/m9SycPROHww5KoZTi848+4OGnXyTjaDZxvfoxcEB/ujZpUGOr2OFDL+eF557FWdPK8bHVqU8+msbAAf2rXMvpatIgkMFBVtb9ks/REgfBVuOEK2+nomka+d+8j+u6v3HPGzN57Krt3trQxzb+3fOX5/i2rIikxJ5cP2b0Gb1GbUtKSvJ+FX+SlXylFC6Xi/vuuw/TNLHZbCxZsqTeBkmFdjcbM4qwGRq7NqXyxG1jcTkdfPqWQVyPS6vULvZ4PLz33nv8+9//5p133mHKlCmAt/GGVmYj0KL7ctVXpqxh9l4HpG/lwOLXKOz2BZzhBzjwpm+UONz0btHwpM01unZsz5qfVuB2eVeLLVYrN97+B159+rEqlVo0Xcdis3HXQ48zengSwy9N4N5776n2b2Pjxo1nfM1CCCEBsrjg+ecl55U5WXMw35e68PbLz7J+bQrKNHG5nBzOOsqU+x+mQ0wo0SG2E7Zl7tevH7fffjvvvfce4A1Chw8fztixY8nNzT0nq5NBVoPElhHklTk5XGjnaIm3CoNF1wi2GpQ4PZgKGgZasFl0nO6aq1KkpqzEc3ADbF2Kp+doFiTPqFKn+c1nH0eZig+sVpYuXUL//v2rneNCYNawOasaTcPt8Zbys9vt9bKahetYvnBWsZOoICthgRY+/maOr9W56fGw5efVNT7X4/Fwzz330KlzFzp170XK2nXs37mdJo1i2LklDTRYH9oNglrD0vfxlJec1sbRk8m3u7zz7QTBcUX6jNPpLaE4evRojNBIkq4dR2iAhVHjbyY35yhRMY1oHxdPVnYuE0ddyRVJgwDIy8ut8bxjx44942sWQggJkEW90jDQSliglbwyFwm9Ehl/x91s2ZiK61iHuxtGXkH/1pEnDIz99ehR2fZZKcXYsWN9K2/nSqDVoFl4EM3CgyhxuHG4TXJKneSUOmgfHUKQVSctsxiPXeExFSE2o1ob7YqNfq4V0zBb92Brh3GY69eh5Rw81gXNAyhcLpi/+IcLMkBOTk6ukl6hGwaDhl7JyqXf+/JTdcPg5jvvZeZ/3/PWwlWKadOmnTL/9kKTV+Yis8hBo9DKD3i52UdP+/kej4fHn3mB6++4h+f+dCcul9OXq0/L7jBuDNr6eZCfjv4rNo7WpMThrQjTMiLohMdUpM9UrAD36dOH+x58lOkLf+APN47G7XRhsVl56b+z6dCtN20ig4hrUlnj+/ha6T179uSOO+4453NVCHFxkQBZ1Ctr1qwmeekyGnXuhSeuB53iuzP1v7PZ+nMK1189nKuHDj7tc+Xm5voqJOi6Tm5uzStV50pogIXQAIgKsdGRysoTDQKtlDo9uE3FpoxC8sqcmMpbMSDIalRp3zt33nOY41+Efjeh5r8Apk5FjWRN02jSuZevgsaFwmMquvTuh8Vmw+X01rR+7LlXffVyKyocjBw7kYReiZSVFDP3s4+8pb+cznqziqyUYnd2KYcL7YQGGL7gOC11bdXyhsdp064jv+zfUyUFIWXpN9isGm7/4DiyOYz4E+Qdhp8qukvWnPN9OhxukzKXyYA2ESftQucf4FZsrNuyYR1z//1P3Me6aLocJqu/mcONI4cSc9xKtH+t9Pqedy6E+O1IgCzqDf+vam02G998+x2dW7dhcMIVhE24+lfXA05KSiIgIKDKH+7aEBJgIeRYfnJ4oIX0QjuaBkdLHOSUOokOsZHQK5HUlJWoI3tgzSwY+DuIvwK1+TvfeZQyMQyNlfvy6Nc64oxzns8ldawdcAX/dtE5JQ5W/LicFvGJtIvvyf99+hVpa3+qUu2jpg1jI8dO5KuZ/8NzrNxXfVlFPpRfzq6cEiKDbAT4pdosmjPTl7frT9d1rLYAnnr1TQAev/s2jh7J8P18+6aNGBYLuN2YmgEjHgTdAgtfQbkceNuse351ioWpFPnlLnRNo3eL8Gql4453fIALMHToUBwOhy+tRinFvC+m88Ddd9Kkht/j8eUfhRDibNX+X0ghzhH/r2qdTierVq6g/SVtaXiGJc7q4spUSICFDo28q8tto0L4+VA++eVOX01lw2LBs3Y2tOwGl90G+3+GkjwATFOxfP5sNq5ZxaGBg5g0avhJV/bOJ7vLw46jxRTavW1/g6wG+zanMmnstThdTnRNwzy2udJmC+Dhp1/0tRM+nWDNPx3D5XJVq4d7oTBNRbnLw+FCO3tySokJCcCiV64cL5o9k68+/9R3v4bFynUTb6Fjl4Rq4/X7Pz3Ki0886Dt3RbDcI7E/eX1v46ClMXz9GkZBOrrNhulxV6nNXe7y4PYoQgMMXB6FyzQJOa4Vc5nTQ7HTTZvIYNpGBRNgOb1vKvwD3KlTp+I8tnLs70L+PQohLjwSIIt6o6avas9WXV6ZMnSN7rHhpBzIJ6fUSdeel/LvWYv45N03SU9PZl+LLniG3QNfPe893mIwf9Z0PB43n77zOtHzv2HU8KTzeo0lDjfZJU5shoaha2QW2Sl2uHGb4DFNAiw6Lo+J26P4+oelOI51VfMPjRz2cl556lFMpaq1465JasrKKgGypusMuuz0U2vqku1ZxRzML0fTNBqF2tD90iruvvE6X5UWAKJacPVVV/HEiy/XeK7rb74VgP+88WqVleQNuR6wNGZMK4NmowbTq9+TAL7a3G279iSrxEGIzaBhsJXMIjsepbAZBmUuJxreVWOn2yTAYtC/deQZfyiFynl8fM1rwzCkrrEQ4jcjAbKoN2pa8c3IyDj1Ey9gARaDQW2j2J5VTFaxnYReibz2H29ziP+lHuYNzaD9Xa8TX7oFZ3kZX381+1hba/j6uyWMHDr4vLWizitzknIgD00DHQ00CDB0dE3DZmgEBdqqHN+sUUxlPuxxKurcupSjxq/81x0qoFVEEI1CA+jVbyA2WwBOhx00jUEjRvP1dz9g6Fqd/bBTk4JyF4cKy4nxC4wrVLRoJiQCYtpCo0ug30QW6Aaub3Zw34DWBFoNwgMtVVJYrr/5VnZuTWPOp9O8D1iD4PIpBJXl8Nio0ViMyg2cCb0SKSh3YugaA1pHEhZgQdc1OjcOpcjuJthqUOby5jUbuka504PNop9VcAyV89i/a6Ku67z11lsX1O9PCHFhkwBZ1Ct1ecX3fDF0jbZRwRwuKMdjKl/Ae2OPWFIO5rP2l/bcPGYkkZkb+H7RfF+jlI49+7LlSBGtI4LPWac9h9vDwfxygiw6W44U0zDISuBpfs2+c2vaKY8xTZPwiEj25JTy475c8stcZBQ5WL7Pu4HytktbcE//S3n46Rd55alHcXs8JC+cw/Kvv+Rfr77EkiVLaNWq1Vnd4/lkd3lIL7SzP7cMp8ckxGZUCY4r0ir27dmJGvEgdKpcGbe6y+nRqinf7sxm8c5sAMZ0bcJDg9tW2ZQ5cuxEvpzxCaYlEEY8AGExjG94GIuh+xrM9Oo3kNjO3bHqGr1bNKxSKzzAYhAT6v3/EP889speImetYh5PmjSpTqU4CSEuHhIgC1EPBNsstI8JYU9OGdEh3pVZi67x9piuTJ65kVeW7eVfV8RVa2udXmgnvdDOZW2jznrTnt3lYe0vBRSUe3OIo4JtNdZtrsnczz7iqxmf1Pgz3TBQpolSCl3XOZxXwtuz0yi0e1eVY8MD6duyIS5TMW3dITKK7DTPK6xsKw4o08ThcJCcnOzrfHim8sucZJU4CLIYtIo8d1GhUoptR4o5VFhOdIiNCEvVDy1pqWu5a8K13qYZl471BseZO2H9fDi0mVFjxvDEI/8gvdDO19uz+Gx9Ol9uOcKhgnKeGt4Bl8ekVUQQCb0SeeQ/C/nnhiJcliAGBOdx/603+tI2KhrMvPrRbO4eN6LW8tTh4vzAK4SoGyRAFqKeaNEwmH25ZbhN5dvIpWkar10bx++mb+CFlZl89rveVdITGocGkF/uZEdWMT2aNzyjdAuXx8TlMdlwuBCXxyQ2/MQ1b2uSlrqWl5961FeGTNM0Bg+/mqiYRqBBxy4JvPbC33E1j4dWPfhcdcPj9PD8iI4M7xDju2ZTeQPk91MOYqqeWDoORG3/0ZfHapomYeENf/X9+atoRGMq7wcQQ4cjRQ4CrQZxjcN8LZR/DaUUeWUudmaXUFjuIrZBYI11ulNTVuJq3BEG/A6adYKdK+Gbf4DpxmqzMXLcRMD7geHOvq34fZ+WzN18hFeT9zJ62joA2kYF07lRKD8dUBiBITwzqAlXdhtUef6KBjM4ydz2Mxbj6rMYLSGEuHBJgCxEPWGz6LSNCmbLkRIig6wE27xfgzcKDeDvV3bkvi+38MaP+3ns8nZVnhcRZONoiYPcUieNwk7cCrgmdpeH9YcLKbK7sRrQMMh26icdJzVlZZWKBYZhMOnu+32BfG6pky+d7dheqFBA39ZRPDi4Dc2PC8R1TeOOxJYktmjIfV9uIeS6h2nZOIjU5G99q8/70rN+9fVVKCh3seZgPg0CLQRaDIrsLrYeKcFqaBwtcdIw0ErzkzTEOJFDBeVsziwiLMBCo5O0Yk5v1hfGXwr2Ylj2AWxY6K1acdNtvhrQ/jRNY2xCUwa2iWTWpgx+3J9HYbmLb3dm06t5OA9e1pZoSnzHVzSccSoHmqbROrbJr74XIYSoLyRAFqIeadEwmPRCB3llToJtlcFa31YRjOscway0TDZt3syfBzSje+8+vp+HBVj4+XABUcE22kQG0Sgs8JSvVZFSUe7yEH6sHfapVOS4hkdEUpifR3hEJEfSD2OxWPG4XWi6zp+fexVbizgeX7Sd/Xll7M0tA2Bk50Y8MvgSwgJP/rYV37QB/xrdhT/M2UzCyD9iS1mO2+XNu26VkIjH/HXNLzymosjuYnNmMWEBFl9OtX993wCLh315ZTRpEPCrUhLsLg87skqI9ivfVpOf9uex8JAH7cgu1JfPoTmKGXzlSCb94f5Tlr1rHBbAfQPbcN/ANt7mKR7lq6NckFMZICf0SuTeJ5/jjb8/jjJNHnjgAeLj4yXFQQhxUZIAWYh6xGbR6d86giV7cih1uqvUqe2nH2buvq3sapvIH557kw/+9idfcBVkNQi06JS7TNanF5J0ibXKxix/pqnILLKzLasYXdd8Oc+nsmbNGh6cPA6XvcybGtzjGnDZ4chu9Na9sVz+e6IbhLAyrBlvz91Mod1Np0ah3DegNX1bRdCpUegpX6NCj9hwrugQw/K9ubz08ZfsSfU2GInt1J1fCgpp0fy0T8XRYjurDhYQHmgh4gSbGQMtBrml3vSL7rHhVTevnUB+mZMN6UUYhnbC4PhIkZ33Ug7y9Y6jRKgy8hZMhfJCdMOgS7eev6qBB3hXlQMsNb+W21Tk5+WDUpimidPplLrDQoiLlgTIQtQzFkMnsUVD1v1SgM0wsR5b0dy6YS1q4Vtw/bO4L/s9S1atqxJgaZpGsM3A7jbZmV1C3p40Vvz4I8OHXu4LkgrLXWxIL6Tc5SEiyOo7d01ySp3szS3F0DQK7W6eTinF+YfpUJDpPaBhU9+xJuAEMgryKNfz6N0qmjv7tKRddMgZj8Pv+7Tgu13ZLC+N4a/3PQR48333HfKmk0SdRmBvmoq9uWU0CbWd8ANDhagQG8V2NykH8xnQJvKE7bw9piIto5DMYgfhARYCrTW/DX+/K5snvt4BeFfPr4ko4IF3ynAbRpUGHudKfrmTq4YPYeZ7/6j17pFCCFHbJEAWoh6KCLbRpUkYaZlFvrzW7r0SsVksuL55FfPW91gf1q3Khj7fc4MsLF2+kiduH4fL6WLqCy+w4JtvSRo0gG1ZxWhw0lxZgCPFDqbM2kRGkcPvUSvaoTSUpkN5MaR9C3mHITQSSvPh8BYMt52bHv4Lt4186KzHoFVEMBO6NWPGhnTGJTSlU6NQNE0jzGawPauYAW0ia9wM5y+r2E6Rw03jU9xvhbBAC7mlTvblltEhJqTaBwjTVBzIKyOjyFGl8cfxNmcW8cqyvUQFW3n7+njfB4Xjq5D4U0phd5snDMxPpsTh/bZh2BVDaF7HukcKIURtOG8B8u23387ChQtp1KgRW7ZsASAvL48JEyZw4MABWrduzRdffEFERATgbS/64YcfYhgGb775JldeeeX5ujQhLgrNwgPJLHZQUO6iYZCVuG49eHfGVyyaPZMD5VtJLejFo5+vIirtSwzN9G300jSNvRvX4HK5ME0PTpeT6fO/xdYijnKX54QpFcV2N/O2HmHF/jw2ZRThNhXjE5oS1ziM1pFBOA9vZ8b7KWQfPYLL6WTXts1Vnq9pGpaAwHO6Mnpnn5Z8vSOLhxds47ObetAwyIrNolPscJNV7KBJg5pzrYvtbuxuD9uySogI/HU1osMDLezMLibUVrUMnMtjsj+3jF3ZpcSEWGsMjjdnFvH5xgy+351Dk9AA/jk6jrZRlavoCb0SawyMtWOr9CUON6EBll/VrMPpNil3exjYJgqLoUtpNSGEAM5bgctbb72VxYsXV3nspZdeYujQoezevZuhQ4fy0ksvAbBt2zZmzpzJ1q1bWbx4Mffcc4+v5JMQ4sxomkZc41Bcponbb2Pawjkz2TDtefQN81mRZfKV2Yk5n37EXRNGkZa6FqisaKDrOpqmEREZiQYnDI5zS53c+vlG/rViP3tyShkT34QFt1/KY5e349oujVEZO7jvxlEkf7eIrRtT2b1ja5Xn67rO9Tffeso20v6UUuzLK8XtMSl3eTha4uBoiaPKMWGBFl69Jo6sYgeLth/1PR4eaGXdoQKyjzu+4rwb0wtYuS8XhTevOy11LdPe+gcbfl7D19uPMndzJkeK7DVel8XQaRoayNasYvbmlLAxvYDMIjvJe3PZn1dGo1BbjRv5kvfkcNvnm/huVzZXdozhfzd1Z+PiWdx3y/XM/eyjGl+r2O5mf145WcUOHG7TF5BnlTjILnWcckOiUpBX7qRHs/CzroMthBD1yXl7R7zssss4cOBAlcfmzZtHcnIyAJMnTyYpKYmXX36ZefPmMXHiRAICAmjTpg3t2rVj7dq1soohxFkKtlmIaxzG5sxibGbVWrck/xdcTkgcB/0m4l4909fGOaFXoq8bncc0efuFv9K1a9cag9eCchf3frmZrGIHz43oyPD20dUCwNSUlbhdLt//K9PEMAw8Hg+6YfD4869x/c23nvZ9mUqRUWSncWggeeUugqwGiS0j2JtT6lsxr9AjNpwujcP4fGM6YxO8pcsCLDphNgu/5HubcvinWhTZ3ZQ4PbSM8AabvgYdLhf60LsxE0YAYNGgc0MdV8FR/ti3GX36VFYFsVl0ooJt7MkpxelRpBfaT9pV8OdDBTz3w24igqz8e3wCrSODefPFZ/jkvTcAWP3jMg4fPMD9f3nG95ycUm9DlmbhATQNCyQi2EpEsI1yl4cSh5tCu5vtWcWE2Sw1Vv4ocbgpKHfRs2UYjU+wki6EEBer33TJICsri6ZNvRtzmjZtytGj3hWd9PR0+vbt6zuuefPmpKen13iODz74gA8++ACAI0eOkJGRUeXn2dnZ5+PSLygyBpVkLLyTPIZydh49SsfOcRi6tzOdruuolOmYYdHQdwL64TQ6do6jICeLbZs28O282Xg8JkqZuFxOVi5ZTEu/Ns0eUzF3Rz4fbsxBQ+P5Ic0ISl/PB/PX0r1XInHdeviO7dg5DovFisvlBMBqs3Hfo09SWFjgO7Yg5+Q1it2mwuU2sRg6RQ4XseFBNLW4sQXq6JoHR2EO0XjILihhX7aHAIvmq+IxqWsDHluSzpc/72VQ9LFvpxTsPerCXpCNw2Pi8kCzBgFkFNlxujwU2L3P/fCNV7zd63qM8gbH25Nhyw942vVlc+ckCIzm3umr+OOGtbRv356NqZX3b6HyTdbugOPXnEucHv6xOosVv5TQItzGc0nNyNjwIx8t/IpFc7+ocuz/Pvg/evfpS6f4HpS53QRaDNpGh6BrGgFOB+VOKC+oPD4Y6BTiZltWHrkeE4+CBgEWrIYGCvLLXTSzOQh0FpKRUXjqf0j1nLxXeMk4VJKxqHQxjkWd+E6totOVvxNtnpkyZQpTpkwBoHfv3jRr1qzaMTU9drGRMagkYwFNmyoKy90UFheDpqGUwlSmNw922QfQvCuMf4E1ZTaSX3+ZBbOm43a7UMobSFutNgYOHUHD6Ma+c7790wGmrc+hY0wIjw1pB5k7uPvu232tiv3TJfoPHcH7Xyxg0eyZoFFjY4uTcZuKI0V2LEEapqYxsF0DmjWsuSlHbKyH7VklHC4op0FYALqmcXmUouX6PL47UMaIS5r47iNcKXLLnNg1hW6BX1wQGh5K9LF0g7TUtaSsSIZe18Flt8LuVfDNPwGFOpTmHbueoyDp9/xf8kwsrz6HaZrV7r8m+/PKuGPeJoocbq6Pb8L9A9uwb8t6Hr37dhwOu69NdgVlKj784D1uvOdheiX2PWmlDH+tmpt4lKLY7iItsxiHx0QD2jUOoJFWJvPDj4yFl4xDJRmLShfbWPymAXLjxo3JzMykadOmZGZm0qhRI8C7Ynzo0CHfcYcPH77ofhFCnE+aptE2Opjpn/7kS3VQpokHwFMCnz1I+M3P89neVpBugNObm6vrOokDBzPlwcd9wZ5SijlpmXySepj+rSP4x6guWHSNaXMr0zfcOH3pGv6axDavsQJDTTymoqDchalA06BDTCjBNoNGYQEnDQwDLAbdY8MJshocyCvzpVAMjnTxv73lzF6ZzZ1jmvjGJTrkxBUq1q1aiTnyMWjXF/ashsXe4LiK9fOhcTvocwPu3EOwcwVO086i2TNPeJ8lDjcPL9iGrsM713clsaV3s3JFCszxwbGXIm3NCnZtXMvib78nqMOAk45fhYoGLkFWg8uCbHiUwmbo6BpkZpad1jmEEOJic9426dVk1KhRfPzxxwB8/PHHjB492vf4zJkzcTgc7N+/n927d5OY+OsK4AshTi7IanDtiGHoNdUuLisk/78PQNo33hXRgZPQNA2rLcAXHNvdHt5ZdYBrPlzLS8v20rdlQ168qpOvTFzFxj7juDq9aalrmfrEQ9w1YRTvvv4id994nW8zoMdU2N3elAeH27vZLrvU2wkwq8RBRLCVpHZRXNExhs5NwmgVGXzaZczaRgVjKoVSirTUtXz+6A2Qn8EH64+y8ec1p3UOT7t+3uA4bTHa168y6Y4/oBs1vP73b0H6dhj5KAy9G6Vg/qzpvvv0V+Jw85evd5BeaOeVkXG+4BiguKgI5dd2W9M0DIuFTgk90XQddayBx08rfzyt6z+ezaITZDUwdO2UJe6EEOJidt5WkG+88UaSk5PJycmhefPm/P3vf+fxxx/nhhtu4MMPP6Rly5bMmjULgC5dunDDDTcQFxeHxWLh7bffxqjpj5AQ4qxcf+UQ3njz//jT/X/0BmKahukxAYWmFPqKj/BYgyBxHOFx/Wgc25wlpdFk7jzKsj25/LA7h8ahNh4Z3Jbx3Zph+NVQrtjYt/Sb+Vx+1SgSeiWyYd0a7rt5TJWUATdO1q5aQYvO3XF6FG5TEREEhQ4XwVaDdlHevFoTRbvo0++edzyroRMdYqPA7vJuEnSUw8pPUNc+zr9+OsS0YyXtTuRgfhmf7XVDzgFY+j4Wi0HSlVeTunolWzemVj3Y0jubnAAAFA9JREFU7YR5z8O1T0C3q6AgE/f6edVWkdf8ks8z3+4iu9TJI0lt6dk83Pcz/0154F29v2bCJAZdM5aIQCv33DgKl8uFYRjSwEMIIc6z8xYgz5gxo8bHlyxZUuPjTz75JE8++eT5uhwhxDH33v0HunbtyowF3xIaHsFbz/8Vl9OBputccdW1fPf123jyMyjoPpKCQsXO9d4Ns4YGPbRMRgSWUfTTT2w1q6ZKpKWu5fW//wWXy0nq6p9YlfwDGRkZ1fJpdcOg66X9aRERTGx4IIcKyim2u+kWGU6LiJrzis9UfNMGbMks4pLufbBabbj2rYEdy9nSaTCbMoroHhte4/N2Z5fy50Xb8LhdaAteQpkeTI83BWL0hFuOC5A1dEOnVcvm7J/zNxj9JAy+HZW1h/mzptOxawKF+Xk07z6Ap9a70DT41+guDGwT6Ru3RbNnMnf6R1WuwTRNIho347bRV7ArLdUXzMvKrxBCnH91YpOeEOK3NXjQQHol9mXFvlwA3njmMTymyXcL52KaJqyeib7+K0beMImwpq1wh0Tz1T+fZGNxHhtME9Cw2mw8+veXKMzPo1e/gVVKyJkeD8nfLqr2upqmcfttt3Hv+Kt8j3VuHHbe7jPQatCzeUPWWHSuun4Chq7Rd0hvXthn4bkfdvPZTT2qtZBe+0s+jy3ytnge3/AoM4qPYuq6L22k4kPB0m/m0yEugbAGDXzpJHdNuBbXwpdh0ltw3VO4Ni5i6uc/oEKjoKQzASGhzLk1kSZh3rxnbwm5Ubic1esxWyxWrr1yKFEhNpKTk3G73SilcLvdJCcnSxlMIYQ4jyRAFuIiFRpgoWuTBnyRk4tpKpRpYh7ryqbpOgYmi7/4GI/HjaZpmKbplx+rcDkdvPzXR1CA1Wrj4adfxDAMb43lGui6TkBAAJMnT/7N7hFgzZrVPDJpLE6nE6vNxuChV3DHJRqvbynn+XlreG5sP9+qbF6Zk4cXbMNm6Py5i8azdzyE51hJvIefftEXHF930+Qa6zaPuuFm5nw6DT5/HK59DBLHVW7pO7yVwSUZNAkbRFrqWlJTVrIqeUn14FjT6Na7L88+/yKjrkgCICkpCZvNhtPpxGazSYqFEEKcZxIgi3ojJSWF5ORkkpKSZHXtNLWICOK6EcOZ/t4/cDuVNwgGDMNgwJDh/PjDYl/Aq+v68fUb8BzLX3bjZNPGDVzSqSs70tZXex1N0xg2bBjPPPPMb/67SU5O9q5smx7cLiffLfyK7xfNh6QpLGYoyW+tJKFZQy6JDmbpnlycHsWTCRrTX/krDrsd8JbRKMzPQynF0RIn3nhaIyzAqLJpcOTYiSycPRNnWT7qiyehbW/wuCDvMBQeJeyWW0lLXcvdN16H0+mosiEPoEN8D/7xj38wclhSlcf79evHkiVL5N+3EEL8RiRAFvVCSkoKQ4cO9a2wLVmyRIKI03TN8MH885Mv+ej/XuHnn5Z7gzaliIpuVGVF2Kyh9Jhh6L6g+tu5M3zHalrVKgkBAQG1EhxD5eqrw+nEYrWSn5uD02GHxW+g5R3GPnAyaw8VsPZQAW0jg+lZtpanbnm+Sn123bDQq99AcsqctGgYSKfGYeSVudidXUJ6oZ1Ai05UiI2EXom8O+MrFs2eyVeff4pnz2rfOSxWKyPHTmTRnJk4HfZq9d81Xef1GoLjCv369ZN/00II8RuRAFnUC8nJyTidTjweD06nU3I0fwVD17jhqiGUudykrVuN2+XEYrUxctxE0GDOpx8BqlptXl3X8RwLiNWxvOOKxytWizdv3sycOXMYO3Zsrf0+KlZf3/33f9nzSzqrk7/zBaf6+vm89/iddOrWm2KHm+VfzeDld56rdo5R42+ieefuhAdaiWvSAEPXaBwWQEyIjSKHm7SMQnJKHUSHBPhadaPB3M8+Qh1LWxl9wy3s2bGNr2Z8UmNzpCuvGsk1JwiOhRBC/LYkQBb1guRonp3o0ABGDh2M/t9Z7Nu4xrcZbc+Obfg3xjAMC6bpQdP1GnONNU3zrRYDPPDAAzidTlasWEF8fHytfmiZPfMzysuPpUwcY3rcrPjuGxbP+Rw02LElrdrzrLYA+o8cS3igle6x4VVK2+m6RsMgKwPaRLH2l3yK7W7CAr1vqxXpFhUfODp2TeDlpx71fajwPl9HKYXNZuNvTz5x/m5eCCHEryIBsqgXJEfz7HWICaVkQH/ievTGqnubiRTm5/kaVHjr8t5CUGQTXOXFzPnw7SrPNwyDO++8k0mTJtGvXz+mTp1aZ1b1K75hOL4LnlKqSu1hTa/aRKVHYn9+98BfuHZ4EpdEBZ+wxJqhayQ0bcCKfbnoTgi2Gr50i9SUlYRHRDJv5qd43O7K51gsPPDMy4SrcoYNvVz+zQohRB0iAbKoNyRH8+wYukZCswbszi7lSLEDh9skIXEANluAbxV04NVj6de/P4s+ehtN0ypTFXSdd955hylTpvjOV5dW9X15yA6Ht4zdCSjTpGlsSyJjYhg94RauuuF3uDyKVhFBp6w/HHKsKsi2oyW4PG4aBll9VS/umnAtLqezyvHjb7ubZx+9n2CbvA0LIURdI+/MQgifAItB16YNCA0oY9uRYuJ69Oal/85i47pVJFzan0ED+tOreUP0EcP416tTcTgc6LrO22+/XSU4hrq1qu9/LYZhMP+HZFKWfldjmkhm+iHycrNp26EzRQ43/VpFYK2pPXcNmkcEERpoYdX+PEyl0DXN28XP5ap2bMcWjSU4FkKIOkrenYUQ1bRsGERseCBWQ6df66spG3Mlho4voDvd4LcurepXXEtGRga33fMn/rfgB1YsnM38z/93XKCscLmcLFu+nGcGDSAi2ParXqdhkJX2MSHszimhcWgg3fsMwGK1VllBDggI4Mphl5+jOxNCCHGuSYAshKhG1zV0vCkFhq75Np75q0vB768VExrAuCuHENejN6PG38ii2TPJzTnKT8t+wONxY7Va6T9wELENz6z19SVRIZS5PBwusBPdPoEXp81l6bwvKMrLpmPrFvz+9lsv2LETQoiLgQTIQoiLUpMGgezNLaNNl5480SsRh9tkzeoUNq79iTEjhnPl5ZdVaQLya+i6RnyTBgRbDXRNY0CbYdw7fgSBFv2UucxCCCFqnwTIQoiLks2i06dVQ1IPF5JV4mD7hp/J2ZHKTaNGMHzwIHT97AJZXddoHxN6jq5WCCHEb+n0dp4IIUQ9FGyz0LdVBMaRnTz1+/G8+uKzjBk5gjVrVp/6yUIIIeotCZCFEBc1q6GzfvVP1Wo2CyGEuHhJgCyEuOhV1Ek2DKPWazYLIYSofZKDLIS46NWlms1CCCFqnwTIQgjBhV22TgghxLklKRZCCCGEEEL4kQBZCCGEEEIIPxIgCyGEEEII4UcCZCGEEEIIIfxIgCyEEEIIIYQfCZCFEEIIIYTwIwGyEEIIIYQQfiRAFkIIIYQQwo8EyEIIIYQQQviRAFkIIYQQQgg/EiALIYQQQgjhRwJkIYQQQggh/EiALIQQQgghhB9NKaVq+yLOVHR0NK1bt67yWHZ2NjExMbVzQXWEjEElGYtKMhZeMg6VZCwqyVh4yThUkrGoVJ/H4sCBA+Tk5FR7/IIOkGvSu3dvfv7559q+jFolY1BJxqKSjIWXjEMlGYtKMhZeMg6VZCwqXYxjISkWQgghhBBC+JEAWQghhBBCCD/GM88880xtX8S51qtXr9q+hFonY1BJxqKSjIWXjEMlGYtKMhZeMg6VZCwqXWxjUe9ykIUQQgghhDgbkmIhhBBCCCGEHwmQhRBCCCGE8FOrAfKhQ4cYMmQInTt3pkuXLrzxxhsA5OXlMXz4cNq3b8/w4cPJz88HIDc3lyFDhhAaGsp9991X5VxJSUl07NiR7t270717d44ePVrja6amphIfH0+7du24//77qcgw+fHHH+nZsycWi4XZs2efx7uuri6Nw0cffURMTIzv+f/5z3/O451XV5fG4uDBgwwdOpSEhASSkpI4fPjwebzz6s7lWDidTqZMmUKHDh3o1KkTc+bMqfE16/v8ONtxqE/z42zHor7Mj+LiYt/vs3v37kRHR/PAAw/U+Jp1bX7UpTGo7bkBdWs8anN+nMv3iRkzZhAfH09CQgIjRoyosV4w1L25cU6oWpSRkaFSU1OVUkoVFRWp9u3bq61bt6pHH31UTZ06VSml1NSpU9Wf//xnpZRSJSUlasWKFerdd99V9957b5VzDR48WK1bt+6Ur3nppZeqVatWKdM01YgRI9TXX3+tlFJq//79atOmTep3v/udmjVr1rm8zVOqS+Mwbdq0auf8LdWlsRg3bpz66KOPlFJKLVmyRN1yyy3n7D5Px7kci7/97W/qySefVEop5fF4VHZ2do2vWd/nx9mOQ32aH2c7FvVpfvjr2bOnWr58eY0/q2vzoy6NQW3PDaXq1njU5vw4V+PgcrlUTEyM773h0UcfVU8//XSNr1nX5sa5UKsB8vFGjRqlvvvuO9WhQweVkZGhlPL+ojt06FDluJom4ukEQxkZGapjx46+/58+fbqaMmVKlWMmT55c67/E2hyHuvAm5682xyIuLk4dOnRIKaWUaZoqLCzsrO/nbJzNWDRv3lyVlJSc9PwXw/w423GoT/PjbMeiPs2PCrt27VLNmzdXpmlW+9mFMD9qcwzq2txQqnbHoy7NjzMdB6fTqaKjo9WBAweUaZrqrrvuUu+//361818Ic+NM1Jkc5AMHDrBhwwb69OlDVlYWTZs2BaBp06Yn/Gr8eLfddhvdu3fnueee8y3v+0tPT6d58+a+/2/evDnp6enn5gbOkbowDnPmzCEhIYFx48Zx6NChs7yjM1fbY9GtWzff185ffvklxcXF5Obmnu1tnZGzGYuCggIAnnrqKXr27Mn48ePJysqqdlx9nx/nahzqw/w4F2NRX+aHvxkzZjBhwgQ0Tav2s7o+P+rCGNSVuQG1Px51ZX6czThYrVbeffdd4uPjadasGdu2beOOO+6odlxdnxtnqk4EyCUlJYwdO5Z//etfNGjQ4IzO8dlnn7F582ZWrFjBihUr+N///lftmJoCpJr+0deWujAO1157LQcOHCAtLY1hw4YxefLkM7qOs1UXxuK1115j+fLl9OjRg+XLlxMbG4vFYjmjazkbZzsWbrebw4cPM2DAANavX0+/fv145JFHqh1X3+fHuRiH+jI/zsVY1Jf54W/mzJnceOONNf6sLs+PujAGdWVuQN0Yj7owP852HFwuF++++y4bNmwgIyODhIQEpk6dWu24ujw3zkatB8gul4uxY8dy8803c/311wPQuHFjMjMzAcjMzKRRo0anPE9sbCwAYWFh3HTTTaxduxaPx+NLsv/b3/5G8+bNqyTKHz58mGbNmp2Hu/r16so4REVFERAQAMCdd95JamrqOb3P01FXxqJZs2bMnTuXDRs28MILLwAQHh5+Tu/1VM7FWERFRREcHMyYMWMAGD9+POvXr7/o5se5GIf6Mj/OxVjUl/lRYdOmTbjdbl8zhAtlftSVMagLcwPqznjU9vw4F+OwceNGAC655BI0TeOGG25g1apVF8zcOFu1GiArpbjjjjvo3LkzDz30kO/xUaNG8fHHHwPw8ccfM3r06JOex+12+3ZWulwuFi5cSNeuXTEMg40bN7Jx40aeffZZmjZtSlhYGKtXr0YpxSeffHLKc/8W6tI4VEwegPnz59O5c+dzfbsnVZfGIicnB9M0AZg6dSq33377+bjlEzpXY6FpGtdeey3JyckALFmyhLi4uItufpyLcagv8+NcjEV9mR8VZsyYUWWl8EKYH3VpDGp7bkDdGo/anB/nahxiY2PZtm0b2dnZAHz//fd07tz5gpgb58R5z3I+iRUrVihAxcfHq27duqlu3bqpRYsWqZycHHX55Zerdu3aqcsvv1zl5ub6ntOqVSsVERGhQkJCVGxsrNq6dasqKSlRPXv2VPHx8SouLk7df//9yu121/ia69atU126dFFt27ZV9957ry/xfu3atSo2NlYFBweryMhIFRcX95uMgVJ1axwef/xxFRcXpxISElRSUpLavn37bzIGFerSWMyaNUu1a9dOtW/fXt1xxx3Kbrf/JmNQ4VyNhVJKHThwQA0aNEjFx8eryy+/XB08eLDG16zP80Opsx+H+jI/lDr7sahP80Mppdq0aXPK32ddmx91aQxqe24oVbfGozbnx7kch3fffVd16tRJxcfHq2uuuUbl5OTU+Jp1bW6cC9JqWgghhBBCCD+1noMshBBCCCFEXSIBshBCCCGEEH4kQBZCCCGEEMKPBMhCCCGEEEL4kQBZCCGEEEIIPxIgCyFEPfTMM8/w2muv1fZlCCHEBUkCZCGEEEIIIfxIgCyEEPXECy+8QMeOHRk2bBg7d+4E4M033yQuLo6EhAQmTpxYy1cohBAXBkttX4AQQoizl5qaysyZM9mwYQNut5uePXvSq1cvXnrpJfbv309AQAAFBQW1fZlCCHFBkBVkIYSoB1asWMGYMWMIDg6mQYMGjBo1CoCEhARuvvlmPv30UywWWRMRQojTIQGyEELUE5qmVXts0aJF3HvvvaSmptKrVy/cbnctXJkQQlxYJEAWQoh64LLLLuPLL7+kvLyc4uJiFixYgGmaHDp0iCFDhvDKK69QUFBASUlJbV+qEELUefJ9mxBC1AM9e/ZkwoQJdO/enVatWjFo0CA0TeOWW26hsLAQpRQPPvggDRs2rO1LFUKIOk9TSqnavgghhBBCCCHqCkmxEEIIIYQQwo8EyEIIIYQQQviRAFkIIYQQQgg/EiALIYQQQgjhRwJkIYQQQggh/EiALIQQQgghhB8JkIUQQgghhPDz/3VzLG5Hrj2t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6" name="AutoShape 6" descr="data:image/png;base64,iVBORw0KGgoAAAANSUhEUgAAAsgAAAGoCAYAAABbtxOxAAAABHNCSVQICAgIfAhkiAAAAAlwSFlzAAALEgAACxIB0t1+/AAAADh0RVh0U29mdHdhcmUAbWF0cGxvdGxpYiB2ZXJzaW9uMy4xLjAsIGh0dHA6Ly9tYXRwbG90bGliLm9yZy+17YcXAAAgAElEQVR4nOzdd5Sdd33v+/dTdi8zo+mjsXqxLBfZlgvEGIwxnJCEpsQ2cW4gmCiEk5V7MHAuiQ85HEIMKT4XcvG6RkkIDsm100yJQ+xQnBgMxmAsN9myZPUZlWl7dt9PvX/s0d4zlmTL0nR9XmuxrHl2++2fxFof/fR9vl8jDMMQEREREREBwJzrBYiIiIiIzCcKyCIiIiIikyggi4iIiIhMooAsIiIiIjKJArKIiIiIyCT2XC/gbHR0dLBixYop11zXJRKJzM2C5gntQZP2okl7Uad9aNJeNGkv6rQPTdqLpsW8F/v27WN4ePiE6ws6IK9YsYKf/vSnU64NDg7S19c3RyuaH7QHTdqLJu1FnfahSXvRpL2o0z40aS+aFvNebN68+aTXVWIhIiIiIjKJArKIiIiIyCQKyCIiIiIikyggi4iIiIhMooAsIiIiIjKJArKIiIiIyCQKyCIiIiIikyggi4iIiIhMooAsIiIiIjKJArKIiIiIyCQKyCIiIiIikyggi4iIiIhMooAsIiIiIjKJArKIiIiIyCQKyCIiIiIikyggi4iIiMic8PyAQtWb62WcQAFZRERERObEsWKN7+0eYqTkzPVSplBAFhEREZE5MV7xIIQjhepcL2UKBWQRERERmRNjFZd4xJrrZZxAAVlEREREZl0QhBRrHlHLmOulnEABWURERERmXc0PCAgxUEAWEREREaHq+jAPwzEoIIuIiIjIHKh6AQbhXC/jpBSQRURERGTWVRwfy9AJsoiIiIgIUD9BtkwFZBERERERXD+g6vrzNiDbc70AERERETl3HC3U2D1cxMDAMg2CYP7VIesEWURERERmzf6xMoWqT9Xzsc35GUXn56pEREREZNFxvIDRskNAiOOFzMMZIYBKLERERERklpQcD0IDx/MxDDCM6Fwv6aR0giwiIiIiM871A44WamCE1LwAP5jrFZ2aTpBFREREZMYNlxwGxqtETJPlbQnMedoDGXSCLCIiIiKzwDIMhksOiYhFxDLnbYs3UEAWERERkVnghyEtCZuYPf/j5/xfoYiIiIgseK4XYDB/T40nU0AWERERkRnnBMG8bev2cgrIIiIiIjLjXC/EnMd1x5MpIIuIiIjIjHP8AGsed66YTAFZRERERGbUaNkhV3XndWu3ydQHWURERERmRBiGHCnU2D4wjh+EtCUjc72k0zJjJ8gHDx7kuuuuY8OGDWzcuJEvfOELAHzqU59i6dKlbNq0iU2bNvGtb32r8ZrPfvazrFmzhvXr1/PQQw/N1NJEREREZBZUXJ8Xh4q4Qch41cM2F0bxwoydINu2zZ133slll11GoVDg8ssv54YbbgDgIx/5CB/72MemPH/Hjh3cd999PPfccwwODvKWt7yFF198EcuyZmqJIiIiIjKDKm7ASNmFEM7vSs/1ck7bjMX43t5eLrvsMgAymQwbNmxgYGDglM//xje+wc0330wsFmPlypWsWbOGxx9/fKaWJyIiIiIzrFTziFkmS1vic72U12RWapD37dvHk08+yVVXXcWjjz7KF7/4Rf7mb/6GzZs3c+edd9LW1sbAwABXX3114zX9/f0nDdTbtm1j27ZtABw5coTBwcEpjw8NDc3sl1kAtAdN2osm7UWd9qFJe9GkvajTPjRpL5rOdC+CMGT7oXGilkmxduqb88qOj12NMBgUz3SJ027GA3KxWGTLli18/vOfJ5vN8tu//dt88pOfxDAMPvnJT/LRj36UL3/5y4RheMJrjZPc6bh161a2bt0KwObNm+nr6zvhOSe7dq7RHjRpL5q0F3XahybtRZP2ok770KS9aDqTvSjVPKIFm85U7BWfZ1U92jJR+nqyZ7q8aTejldKu67JlyxZuueUW3vOe9wDQ3d2NZVmYpslv/uZvNsoo+vv7OXjwYOO1hw4d0h9MERERkQXKDUIIF0Zbt5ebsYAchiG33norGzZs4LbbbmtcP3z4cOPXX/va17jwwgsBeMc73sF9991HrVZj79697Nq1iyuvvHKmliciIiIiM8j1AzBOrBBYCGasxOLRRx/lq1/9KhdddBGbNm0C4I477uDee+9l+/btGIbBihUr+NKXvgTAxo0bufHGG7nggguwbZu77rpLHSxEREREFpgwDPGDEMcLMFiYJ8gzFpCvueaak9YVv/3tbz/la26//XZuv/32mVqSiIiIiMygqutztFBj72iZznQM21RAFhEREZFz2LFCjUPjVY4VHSzTWLABeWGMMxERERGReW+s4lKoekBIqeaTiCzMclkFZBERERE5KxXXByBXccnXPFJRm7Fq/RR5IVJAFhEREZEzEoYhuYrLD/eNkqu4VDyfzlSE7nSUNe2puV7eGVMNsoiIiIickX2jZQbzNXJll3zVhRCy8QjAAu1fUacTZBERERE5I4P5GhXXp+YHlGo+nGQK8kKkgCwiIiIiZ8TxA6quj4lBwanfnLcYKCCLiIiIyBlx/ICS42Oa4HgBC7uwokk1yCIiIiLymuQqLumoRRhAVzqKaRh4QYhOkEVERETknJOvuvzsUI6SU2/tlo1HiNsmYxWXhL0w+x6/nE6QRUREROS0PH+kwFDJYajkMFp2G/fk2ZZJbyZGxFocZ6+L41uIiIiIyIzZNVSk5vmUXZ+jhRodySjHilXCSRUViyUcg06QRUREROQUDoyV2TdcglSUznSMkJCeTAzThKLjL5aubidYPFFfRERERKZVzQ0YqzgUaj5V18fxQizTIGaZjJRckpHFUXP8cgrIIiIiIjLFk4fGOZyvYphQqNbDcdHxqPkBlgGGYdDfEicZXZwBWSUWIiIiIjJFruJgWwa2YRC3TRIRi1zFxfEDMhOhOGYv3nPWxfvNREREROQ1C4KQmheSr7pU/YC4bdKZjjJUdPCDEGOxFh5PohNkERERkXNcEISEgGUaHMlX8YKAimsQMQNM08A0DNwgPGdOVs+V7ykiIiIip7B7uMjTg+NUXJ+nj+TpTEXx/ICq52NNnBhnohYFx5vjlc4OnSCLiIiInOPyNY/xqkex5gEGtmViGAY1r1lSkY1HyMYjc7vQWaKALCIiInIOGys7jFc9SjWfkZLTKC8IJqaA2Iu/5PgEKrEQEREROcc8PZinWPPwg5CfHhxnqOgQsUyGS06jO0XNC6i6Piggi4iIiMhi5ngBh/NV9oyUqLg+fhiwtiNFwjYZLTvEJ4Z/VL2AiufP8WrnhkosRERERM4hPzs0TtXzGRivsiQZJQwnbsKL22TizWjY3xLHMKCaK83VUueMTpBFREREzhF+EJKruFTdAIBjRQfrFCUUiYhF3F6ck/JejQKyiIiIyDnC9QP8MOC81gSmAcWat6gn4p0plViIiIiILGKOF3AoVyFqGySjNpZpErNNKq5JoebSmYrN9RLnHQVkERERkUVsrOKy/XAezw9Y15GG4+3bTIN8zaMnE5/jFc4/CsgiIiIii9DgeJVC1cULQ1rjNhHTJFd1Od63LR2zWR1Jze0i5ykFZBEREZFF6EihSsX1MTCI2xZRy2C47NCaaE7Ds8xzsMnxaVBAFhEREVmESjWfIAxxg4CWuI1hGKo3Pk0KyCIiIiKLTBiGVLwAywDPDzENnRS/FgrIIiIiIotIEIQMlRz8ICA0jHNyVPTZUkAWERERWUT2j5V5ejBPxDKp+QEqM37tFJBFREREFpGy65ON22RiNsWaTyJ6bk7DOxsKyCIiIiKLSM0NsE0TwzDIxBX1zoR2TURERGQRKFQ9jhaqVL1A7dvOkgKyiIiIyCLw0kiJkZKDaRgkVVZxVsy5XoCIiIiInB0/CDlWqFHzA2oT7d3kzOkEWURERGSBy1Vc/DDEC0IsI8RQ3+OzooAsIiIisoBVXJ+nBvNkYjZVNyAknOslLXgzVmJx8OBBrrvuOjZs2MDGjRv5whe+AMDHP/5xzj//fC6++GLe/e53k8vlANi3bx+JRIJNmzaxadMmPvShD83U0kRERETmvWOFGp4fnPLxIKgH4dGSg+P7JCIWbckIS5LR2VriojVjAdm2be68806ef/55HnvsMe666y527NjBDTfcwLPPPsvTTz/NunXr+OxnP9t4zerVq9m+fTvbt2/n7rvvnqmliYiIiMxrR/NVHj8wxljFBeDAWJmxstN4PFdx+fGBMUZKDoWaR9TSbWXTacZKLHp7e+nt7QUgk8mwYcMGBgYGeOtb39p4ztVXX80//dM/zdQSRERERBYMzw94+nCe87vS7DhWxDIN9o2WSUUtnh7Mk4nb9GbidKSjPH+0wJGCQ9n1SUdtBeRpNis1yPv27ePJJ5/kqquumnL9y1/+MjfddFPj571793LppZeSzWb5zGc+wxve8IYT3mvbtm1s27YNgCNHjjA4ODjl8aGhoRn4BguL9qBJe9GkvajTPjRpL5q0F3Xah6a52IvxisszB3OExQyjoxVa4zYvDTuY5RTVXJkqMDgQsK4rze7DBZYkI4wWAsZNg0zUpjZDGbmYG52ZN55QdnzsaoTBoDijn/NazHhALhaLbNmyhc9//vNks9nG9T/6oz/Ctm1uueUWoH7ifODAAdrb23niiSd417vexXPPPTflNQBbt25l69atAGzevJm+vr4TPvNk18412oMm7UWT9qJO+9CkvWjSXtRpH5pmcy8qrs9LB3O0dkSxMklSYZXWdAwv6WBnYqRJ05mKMlSsEWtJ0EOajlSUwXwVA1iSjc/o+lo7umfsva2qR1smSl9P9tWfPEtm9DzedV22bNnCLbfcwnve857G9XvuuYcHHniAv/u7v2u0IYnFYrS3twNw+eWXs3r1al588cWZXJ6IiIjIvLBnuETV9elIRslVXJjIR3HbpOh4cLwzhWGQr3pEJhod17x632OZXjMWkMMw5NZbb2XDhg3cdtttjesPPvggf/zHf8w3v/lNkslk4/rQ0BC+7wOwZ88edu3axapVq2ZqeSIiIiJzbrziEgQhBccnGbGwLRPXb7Zpi9sm41WPsHEpxPWDRs1xEIIfqq3bdJuxEotHH32Ur371q1x00UVs2rQJgDvuuIPf/d3fpVarccMNNwD1G/XuvvtuHnnkEf7gD/4A27axLIu7776bJUuWzNTyREREROZUGIY8cSjHqvYUFdcnaZvYpkHZ8QhCIAW2ZZK0LaK2OfEayNc8ejMxAJa3zmxpxblqxgLyNddcQ3iSv9G8/e1vP+nzt2zZwpYtW2ZqOSIiIiLziuMHlByfw/kqjh+QiVoARGxzSobKxJtxLWqZ5KtOo0TVVveKGaFJeiIiIiKzLAhCtg/kgXpP4yBsjofuTsdO+brWRITWRGRW1nguU0AWERERmWUV1+dooYZlGFTdANOY6xXJZDqXFxEREZllJccnYhv0ZGNk4zZuoBvt5hOdIIuIiIjMsmLNw54oqVDZxPyjE2QRERGRWeR4ASXHI2Iqhs1XOkEWERERmSXDxRq7h8tg0Bj2IfOPArKIiIjILBkqOeRrHrYBqZhi2Hyls30RERGRWVDzfA6PV3H9gJofYKt1xbylv7qIiIiIzILH9o8xVnWxDQP1rJjfdIIsIiIiMkOOT8SreT4Vx2dZawLHD/HV1m1eU0AWERERmQFlx+Ox/WOEYUjJ8cEwMA2DrnSUnuypp+XJ3FNAFhEREZlmfhDy4lCJw4UaP96fo+YFMFFYkY7ZxG1rbhcor0g1yCIiIiLTpOx4VFyfiGVyOF+lIxnhWLFGJm41BoPI/KeALCIiInIWjhVqpKIWzx4pkI5ZjJRcLuhOYxgGqahN2fXJVVwilv7hfqFQQBYRERE5C88fLdDXEme4VONIIcQ2TcYqLsd7VRgYOF5A1FZAXij0OyUiIiJyBmqez+6hIrmKS80LsEyDpdk4lmEwVnaxJ0ZJZ2M2+ZpHVCfIC4Z+p0RERETOwKFchScH8limwXjVhdDAMAwMA6pecxBI1Dbpb0lgqgZ5wVCJhYiIiMgZGMzXWNoSB6Dq+WA0exsXah6dqehcLU3Okk6QRURERF6jMAwpOz5RyyBmm+SrHjU3AMCeOFG2NEr6tOw8ViQI59fgFAVkERERkdPkByGPvDTC4HiVMARjomyiLRGhY+LEuDURYV1Hai6XuWC8cKzI73z9Wf7isQNzvZQpVGIhIiIicprKjs9w2SEVtTg++APqwz8mM1RvfFq++IO9ZGI2N23qm+ulTKETZBEREZHT4PkBzx8rEAQhFdcHZeCz8uJQkccO5Hjnxm5aE5G5Xs4UCsgiIiIip2G86rF/tMKSZISKG2gy3ln64g/2sSQZ4V0X9sz1Uk6ggCwiIiJyGoZLDkuSEdJRm6LjEbOtuV7SglVyPB4/mOMXNnTREp9fp8eggCwiIiJyWko1j4hlYJkGZcfTZLyz8OyRAl4QcvXytrleyknpJj0RERGR01Af/lEPxed3ZeZ4NQvbUNEBYGk2PscrOTn91UdERETkFRRrHodyZaqur97G02S4VA/I7fN0mIoCsoiIiMgrGCs77Bkp4wTN8dFy5h7ePczjB3OkohaJyPys41aJhYiIiMgpuH7AofEqhZpPOM+mvS1Ezx0p8PEHngdgWVtijldzajpBFhERETmF/WNlhoo1whAcXwH5bP3tzw41ft2RnJ/lFaATZBEREZGTcryAvSMVutMxbMvUCfJZ2jda5uHdI42fV7cn53A1r0wnyCIiIiInMVSs4QchtlWPSxoffXa++sQhopbJHT9/PgA3Xzq/xktPphNkERERkZOoeD5qdTw9gjDkB3tH+bmVbbx1fSc3rOuY13/h0G+7iIiIyEnUvEBt3abJsUKNkbLL5v5WYP6fxisgi4iIiEyouD6FqsezhwvUXAXk6XK873F3JjbHKzk9KrEQERERAcIw5KcHc0RMk3zVJen6jcl5cnaGJgJyxzwdDPJyCsgiIiJyTgvDEC8Iqbg+QyWHhG0SUB8tnYkpKp0NPwj52AM7+P6eUWDhBGT9tUhEREQWLT8I+eHeUXIVF4Cj+Sp7RkqNnx0vYPvAON/fM0LJ8bEMcLwQEwPHD7BUYXFWHtx5rBGOTQPaEpE5XtHp0V+LREREZNEaLTsczFVoT0XJxmyeOpzH9QNilsWb1rTz1OA4o2WXEMhXXeK2RUcqyohjY1nmvL+ZbD7LVVy2PXag8bMBC6amWyfIIiIisuhUXJ9izWNgvEp7MsLBXIWK6xOEIT2ZOF4YMlRyGC67jX/2Hyt72BMBzjKhdYGcds5X//jUIIPjVT541XkArOlIzfGKTt+MBeSDBw9y3XXXsWHDBjZu3MgXvvAFAEZHR7nhhhtYu3YtN9xwA2NjY43XfPazn2XNmjWsX7+ehx56aKaWJiIiIovcM4N5nj1cYLziko7ZuH7A4UJtynPGKy5GYzpeiOMHjYAsZ+/bu4a5dGkL77/iPLZc1MOd79g410s6bTMWkG3b5s477+T555/nscce46677mLHjh187nOf4/rrr2fXrl1cf/31fO5znwNgx44d3HfffTz33HM8+OCDfPjDH8b3/ZlanoiIiCxiBccjCEOqXj302qbByEQnBaj/c/941eN4BUUqYjNadohY+sf16RCEIfvHKlzSlyVuW/ze9WvpWSAt3mAGA3Jvby+XXXYZAJlMhg0bNjAwMMA3vvEN3ve+9wHwvve9j69//esAfOMb3+Dmm28mFouxcuVK1qxZw+OPPz5TyxMREZFFyPMDXjhaoFD1qHg+IfWhFImIxVjZJTYRgGOWSbHmEZ34ORm16MnEiGl03lk7MFbhkZdG8IOQzvTC6FrxcrNyk96+fft48sknueqqqzh69Ci9vb1APUQfO3YMgIGBAa6++urGa/r7+xkYGDjhvbZt28a2bdsAOHLkCIODg1MeHxoamqmvsWBoD5q0F03aizrtQ5P2okl7UbcY9mEgV2HXcIlUzCKXh5CQSCVCGMJ42aEjGSVXhCCAkuORidnkiie+TzE3OvuLn6dey148fbTMbd8+1Pg56ZfJDR99xdeUHR+7GmEwOMlvxByZ8YBcLBbZsmULn//858lms6d8XtioAWo62Z2jW7duZevWrQBs3ryZvr6+E55zsmvnGu1Bk/aiSXtRp31o0l40aS/qFvo+DDPO0mgL6ZjNYL5KxDJoTdX/ab/tZc9d8irv1drRPSNrXIhOZy+ePVLg49/dNeXair5uWjsyr/g6q+rRlonS13PqnDjbZvTfEVzXZcuWLdxyyy285z3vAaC7u5vDhw8DcPjwYbq6uoD6ifHBgwcbrz106NCC/z+piIiIzLyfHBjD8QIAqpPGQ/dl43SmFk7d60L3d08cIhmx+KOfX9+41rVASyxmLCCHYcitt97Khg0buO222xrX3/GOd3DPPfcAcM899/DOd76zcf2+++6jVquxd+9edu3axZVXXjlTyxMREZFFwPMDxqseRws1Do9XqHq+OlHMkjAM+dozh/nIN57jE//6PDuHSlze38JVy5pn9e3JhRmQZ6zE4tFHH+WrX/0qF110EZs2bQLgjjvu4BOf+AQ33ngjf/VXf8WyZcv4x3/8RwA2btzIjTfeyAUXXIBt29x1111YljVTyxMREZFFoOoFFGoeO44WsC0DPwhJRJQfZsr+sTIHxip0pmMMjFf5o+/unvL461a00ZqI8KHXLefnVrQtmMEgLzdjAfmaa645aV0xwHe/+92TXr/99tu5/fbbZ2pJIiIisshUXJ9ExCIbsxmtuBgGmJp+N22GSw4/OVSktxanKx3j1+/dTsmpt+Fd1Z6kJW7zv9+xkVv/4SkAutP1kpYPXrVsztY8HTRqWkRERBasmudjAFHbxA/CUx7OSV2u4vKF7++lLxvjFzZ0k4iYfOuFITb3t7CuM8X+sQoP7RyiLxvnDauW8Jv/+BQHc1VgkPWdKUqOz7sv7OFrzx5hz0iZi3szrJ00IW+h1hy/nAKyiIiILDiOF3BgrEwQ0qg57s7EqHkaMvZyf/ezAb6/Z4RMzCZqmzy0s97O7/5njrC8LcFPD40DcOMlvTyyZ5QjExMHV7QlOJirct2KDA/vK7BzqETMNvm969fwrReOUfMCejJxktFmSct5rYnZ/4IzQAFZREREFpx9Y2X2jVboTkcbAdk2Dezowo02ZcfHMCARsThSqNGVjp51uciP9o3xfz+yZ8q1K5e1cnFvhr/88UGGSg6b+rLkax7/8FS9y9j7Nvfz8Esj7BurAPAbl7RztBKy42iR3kwM0zDozcTYN1ahN1svqfj4m1bj+gEXdKfPar3zxcL9UyQiIiLnpKP5KruHS4Qh5Gvegu9a4fkBH/rnZ9g+mKc1YXPzpqXc/aP93LC2g9+7fg3ZeOQ1v+exYo3tA3l+cjBHImLylZs3cdNXfwZAf0uci3ubPYffsq6DQtXjSyMHALhqWSu5isuBsQoG0JmMsDQbrwfkbByAznSUfWMVlrbUf75p0+JqzauALCIiIgtGEIQ8e6RAS9ymUPNwvIB0dGF3rfi3F4bYPpgnGbHIVTzu/tF+AL69a5jxmsdd777wpMPTTuWRPSN84l+fx/Hr9dir2pOc19IsfejNxOmbCLpQ7xddiHnNx7Nx+iaCbzZuE7GMRhDumzgx/t1rVvLUYJ6fP7/rDL/1/KaALCIiIgtG0fFw/JDWRD1MhmGAZS7MODNedfn+nlG2D46TiJh88wNX8JYvPQbAW9Z2sKo9ybbHDrBzqMRgvsobV7W/atu0sbLD73/rBaKWiePX67F7MjGidnP0RW82Rk+2OUClLxunUGsG5O50jKUTAbpl4vT6XRf1ELVNfumC+kS9Dd0ZNnS/8oS8hWxh/okSERGRc8bxzhSGYVB1Awyj/rM30bXitZyuzhcjJYet//Q0+yfqfFe0JWiJ28Rsk5oX0JeNs26iO8Sv/X9PAvAbV5zHh1+//BW/76P7xqh6AX/7q5fyiX99nkPj1UbrtXds7ObH+8e4sDdD3Lb4xQ1dHCnUWNaaoOz6JCMWy9sSRG2Ta1e18+HXL+fnViwBSvS3JNh69fKZ3ZR5RAFZRERE5rW9I2V2j5RZ25HEMAxM6gFxaTa2IMNxGIZ85JvPNcIx1DtwGIZB1JoIyC1xeiaVQQD89U8Oko3b/B+X90+5fjBX4Ss/Och/vDRCW6J+4rtySZKWeIRD49XGafEf3LBuyus+9bbmSOiobfLwb7+O4wfUyajFB66s9zLODZem54svIArIIiIiMq8dLlSJ2wbPHyvSmYoSterlAgsxHAM8d7TIjqNFPv6m1Tyw4yjPHyvSnamH2Js39fEvO46yqS9Le7J5c97/dd1qHt49wn3bB4lNtGr7pQu6+S/rO7ntm8+xd7QetserHq2J+kn029Z3UvF8fn796dUJL9SpdzNBAVlERETmLdcPyFc9utIxyk59rHRsUj3tQhOGIXtG6ieyP7eyjUf3jgL1zhIAv/W65fzW65Y3nnvcsrYEl/Rlefxgjj95+CUAnhrM87VnjrB3tMJH37iKh3eP8LOB8UZJxa9etpRfvWzprH23xUQBWUREROYtL2jWGDu+T82HlvjCG0YRhiF//9Qgf/79vcTseteNzlSMd1/UQyJq8SsXn9gmzTAMfv78Lv79xSFWt6c4nK81Hvu9N6/h/mcO89zRAgCXLW1h93CpHpAzsRPeS14bBWQRERGZd8IwxAtCXD9oXGtLRKm482tSXhCGGIAfwuMHxtjc3zqlY8Rxf/IfL/GPE4M4HN+jLREhZptct6aD69Z0nPL9//C/rOd/vGUtMdukZ1LwXdeZ4uLeLDuH6qfRPdlYY4rdJX3Zk76XnD4FZBEREZl3hksOO48Vp7QSS0atKWON51Kx5vFf73+W548V2NCVYX1XivufOUJL3Ob33ryG81oT/P1Tg5zXkuDnVrbxz08f5tpVS/D8kB/uH6MrHT3tzzpeUjI5IC9tafYqBsjGbG6+tI/zu9Jctax1+r7oOUoBWY9dB4kAACAASURBVEREROaVMAwZr7gcLdToysSA8FVfM9vufXKgUd7w3NFC49dRy+RzD+8mYVscLtRLIv7miUMEIWy5qJcf7R/jh/vH6EidfkA+rr8lTn9LHD8IaUtEGsM+opaBYRjEbYurl7dN0zc8ty3cKncRERFZlI4WauwcKmJbBmNld17l45GSw4MvHGPHsSKrliT5yk2XNB573+Z+3nvpUnIVj8OFGrdeeR7XrFzSGMLRk41xUW/9RPxdF/a85s+2LZP737+Zf37fZgzD4IrzWnj7hi7uePuG6fly0qATZBEREZlXBsarJCIWMdskV3HnTTu3QtXjXV/5CRW3Xhf9+uVt9E7qVdybjdMab0artZ0pTMPgBxOdKrrTMVYtSXLlea20JV/7CTKAaRhE7fp+ZOMRPj2pl7FMHwVkERERmVdGyg5tiQimYZCreLTE5z6uhGHIh+9/phGOoT7cY8mkXsVLs3Eyk9a6NBunOun56Vj9sTMNxzJ7VGIhIiIi88LgeIXhYo0gDDEnTo17MjESkbm/Me+pwTzPHyvysTetIj5x09zx6XfXrW6nPRlhXWeKvmzzRrrebJwVS5IArJr4rywMc/9XMhERETmnBUFIvubx7JH6pDyYHyUVk20fzAPwixu6ufuH+4HmcI8//aULGs8Lw5DfunoZFTegJW7TEk9z95aL2NCdnv1FyxlTQBYREZE5la95PDU4Tq7ikIyYzKu78qhP8ztarJGOWqRjNh954yp2Hivy5pP0LzYMg9+8evmUa5vPU9u1hUYBWUREROZUzQs4nK/RlY5SmzQYZD74zotDfOJbLwDNMol3buyBjXO5KplpqkEWERGROVWouXQkI2RjNlXXJxOdH+d3e0fLfPZ7uxs/d76G4R6ysM2PP4EiIiJyzjk4VsY2TfIVj6htYhgGPZn4q7/wNIVhyEM7h4jbJpvPa210kTjd197+by8QhpCMWJRdn6507NVfKIuCArKIiIjMKscLCMKQZ44U6EpFKTl+Y5zydKi4PuMVl6cPF/gfD+4EoC8b4463b+DeJwf4jSvOY01H6hXfY0/O4cWhEp948xr+fecxfjaQZ1W7OlGcKxSQRUREZNqFYUjNC3D9sNEbuOrWg/Czh/M4fogXhJRcn6rnk4pOTyu3v3hsP3/9k4M4fsjSljiWafDOjd3c/8wR/uv9z1ByfL67a5j/9bZ1vG1910nf42ihxr5cfUz0pr4sXekoyegRfuWS3mlZo8x/CsgiIiIy7Z45nOdQrko8YnJJXwtPDoxT83w297cShHBovEJvJka+5hHCtEzLe+FYkS89doCIVX+vgfEqF/dmuPGSPu5/5gglx2djdwYvCPjc916iLRHhgeeP8RtXnMfKJUm2D4zzvx/Zw46jxcZ7dqdjrOlIce2q9rNenywcCsgiIiIyrUo1j4HxKu2pKKNlh/GKS80LaIlH2D1cwgtC+lviRCyT0YrL2WbjXMXlR/vH2D9WBuBfPnAlW+75KSXHpycTpyfTrB1+/Yo2WuI2f/afe/iv9z9LCHzr+WP8t2tXcu/PBjhadBrPjdsm6djcDymR2aeALCIiItPK8QMMDGzTwDAgV3WJ2yaJiMXRYg2D5tjlvuzZ3ZT3yJ4RPvOdXYyWXQBitkl7MkJPJsZLI2V6s7EpN+ctbYmTnijnCIFf2NDFc0cKfOGRvYTA/7xhHT8bGOdfdhyla2JSnpx71OZNREREpkUYhgwVa7h+2DgVNjAo1vxG2UMqYjXGSJ+tkuPxqYdexPWbg0WOj3/unQjex2/GO36D3colSXomhfJrV7VzzcoljdEkS1vijXHR2dfQ9UIWF/3Oi4iIyFnLV132j1Y4OF5hXWea49PwQkLcICBp109t0zGbs+2W5ngBjx/MUax55GseX3jnRu59coDHDuTomXjz265dxS9e0MX1E9Pu7rl5E/vHKpzflSZXcRvvtbQlznCpWVbRl43h9GYB+LXLlp7dQmXBUkAWERGRs7ZvtMyLQyWilkGu4jROidNRm1zFo2WaTmOfPZznkw/t5GCu2rjW3xpvnAp3T9QbL2tLsKwt0XhOImJxflcagJa4TWcqymjFpb8lzlCx1nheRzpGTzbOv9y8ht6ezmlZsyw8CsgiIiJy1qpuQE8mRsnxqHkhllkPyImIRSIyPTe6hWHIp7+9a0o4hnqniTesXMJPDuS48TRasRmGwTc/cAXjVY90zGblRPlFRyqKfXzd09iXWRYeBWQRERE5K2EYMl51aU1EcHyTYs0jEZm+gOkHIf+5Z4SoZbJntMxHrl3FkUKVe58cpCVuE49YvHF1O29cffqt2CKWSUeqPjq6vyXB196/mdZ4ZNrWLAubArKIiIicFS8I8YMQ0zDIxmwKNW/aTo1HSg6ffHAnjx/MNa4tbYk3Tnoj1vQE8fNaE6/+JDlnKCCLiIjIWXH9gONtKwzDIDuNJ7HbHts/JRwD9GRi9GRiWAZ84Mrzpu2zRI5TQBYREZGzUm+zFr7q887E9/eO8tZ1nbx+RRuf+vcXAehOR2lLRnnsd69Rn2KZEQrIIiIiclZcPwCmL6h6fsAfP/wSwyWHoaLDsrY4/a3N3sWtifoJtcKxzBQFZBERETkjrh/wwrECcdvCmKYT5Krn87Fv7uCxA82yiu50jDXtKdZ0JHnruk4FY5lxCsgiIiJyRgbGqzxzuEB/SwLbnJ6b5R7YcYzHDuS4pC/LU4N5ALrS9XHR9/3a5dPyGSKv5lX/NH/xi19kbGxsNtYiIiIiC0QQhLw0XGJ5W4Ky65GNT8+Z2w/2jrKiLcEfvm1949rx4R8is+VVA/KRI0e44ooruPHGG3nwwQcJw5kpwhcREZGFI1d1cfyAuG3RmYo1JuedqZ8ezPGlH+1nYLzCsrbElFCsFmwy2141IH/mM59h165d3HrrrXzlK19h7dq1/P7v/z4vvfTSK77uAx/4AF1dXVx44YWNazfddBObNm1i06ZNrFixgk2bNgGwb98+EolE47EPfehDZ/m1REREZCblqx7WNNUC/81PD/Ghf36Gv/jxAfaOVuhOx7BMg7/8lYv5tw9eSUxT7WSWnda/hxiGQU9PDz09Pdi2zdjYGL/8y7/MDTfcwJ/8yZ+c9DXvf//7+Z3f+R1+/dd/vXHt7//+7xu//uhHP0pLS0vj59WrV7N9+/Yz/R4iIiIyi0ZKDvFpmJb31GCeP//BXrIxm3zNA+o1xwCblra80ktFZsyrBuQ///M/55577qGjo4MPfvCD/Omf/imRSIQgCFi7du0pA/K1117Lvn37TvpYGIb8wz/8A9/73vfOavEiIiIyN/I1j+QppuV9d9cwdz26j650lN99w0oGx6vsHCpx06Y+OlJRdg2VeHJwnKhlsnu4RNQy+OYHruBN/++PAOjKRGfzq4ic4FUD8vDwMPfffz/Lly+fct00TR544IEz+tDvf//7dHd3s3bt2sa1vXv3cumll5LNZvnMZz7DG97whpO+dtu2bWzbtg2o10cPDg5OeXxoaOiM1rSYaA+atBdN2os67UOT9qJJe1F3uvsQhiGjx3IEiRNjRBiGfPY7e8jVfA7kKvz+A89xqOAC8LdPHOIjV3fz/zx+lIrXvKdpaSaCVxhp/Nxr18gNHz3Lb3N2irnROf38+WSm96Ls+NjVCINBcUY/57V41YD86U9/+pSPbdiw4Yw+9N577+W9731v4+fe3l4OHDhAe3s7TzzxBO9617t47rnnyGazJ7x269atbN26FYDNmzfT19d3wnNOdu1coz1o0l40aS/qtA9N2osm7UXd6eyD4wWkCxFaU82T3qrr89nv7cYLQnI1n4+9aRVPDeb59ovDAPzW1cv4y8cPcuePjuCH8N/esJLPf38vAL0tSVo7uvnjX7Dwg5DL1nbOzJd7jVo7uud6CfPGTO6FVfVoy0Tp6zkx982VWa969zyP+++/n5tuuqlxLRaL0d7eDsDll1/O6tWrefHFF2d7aSIiInIaXD+YMhYkCEP+7D/38K/PH+OhnfVT6J5MnL5sc/rduy7sYX1nCj8Ey4CbL13K0onHj3esuH5tB29dPz/CsZzbZj0gf+c73+H888+nv7+/cW1oaAjf9wHYs2cPu3btYtWqVbO9NBERETkNbhDCpIj8Hy+N8PVnj0ypSe7JxOidFJDbU9HGz13pGLZpsCRZHxmtPscy38xYQH7ve9/L6173Onbu3El/fz9/9Vd/BcB99903pbwC4JFHHuHiiy/mkksu4Zd/+Ze5++67WbJkyUwtTURERM7QYK7CsWINaLZ4e/CFY7QnI/zJLzZLL3syMfpb6oE4ETExDYO+bD0I907894plrQBcu6p9llYvcnpmbNT0vffee9LrX/nKV064tmXLFrZs2TJTSxEREZFpUPN8nhzMk4nZWJNaIO8cKnF5fyur2pONay1xm8v7W/jItatYtaR+feXEf5e31f+79erl3HrlMvU5lnlnxgKyiIiILB5+ELLzWJEgCBktO3RO3KAXhiHDRYeu1VG60jHu/KULWN+ZwjAMIpbBLZctbbzHL17QzQXdGfpb6yfLtmlgm9MzbERkOikgi4iIyKsq1DwO5Cr0ZGOMll1itonjBTx9OE/ND+hI1wPzG1efulzCNAzWdKRma8kiZ0wBWURERF5VoeoSMeu1xB0Tp8cfvv9ptg/mARonyiKLgYp+RERE5FWNll3ik2qFjxZqjXAM0JlSJwpZPBSQRURE5FVVvGBKvfC/Pj910l1fS/zlLxFZsBSQRURE5FVVXL8RkKuuz98+McDrl7cB0J6M0KNexrKIqAZZRERETikMQ/wgxPECMtH6IJCfDYyTr3m899Kl/Pc3r6Y1HpnjVYpMLwVkEREROaWfHsxRn5sXYhj1E+SfHMwRtQwu7c8St61XfgORBUglFiIiInJSh8crHBqvUqx5TJ6cd2CsyrK2xLwOx14Q4vnBXC9DFigFZBERkXPUYK7CeMXFD8ITHvP8gGeOFOhJx6h5AcGk54yUHTqS87ut24GxCgfHq4RhSK7iKizLa6KALCIico7YP1rmR/tGOZqvUnF9nhgY56eHcuwaKgIQhPUpeX4Qkq95BAFEbZN81SMVbZ4WD5cc2udR3+Oy41P1fFw/YLzqcTBXIRExidomI2WHqG0yXvXmepmygKgGWURE5Byxb6xMruyRq7hc1JvFMg1KNY/hkkOh6vHkoXG8EZMLezNYhsHxrm7Hp9+5fsD3dg8zVHJon8MT5LLjU3A8qq7P0pYERccjYpnkqy7JiEVvNk7MNjlSqBGGcGFPhp8cHKdQ9UjHrEYttcip6ARZRETkHOD5ARUnoL+13q84V3ExDeoBs+YzXnUpOz592RgHcxXGax4xe2pM+LP/eInb/20nfhCe1glyGJ5YunE28lWXMAwpOh5XL28jFbPJV11Wtad4w6olJKMWGHBJX5YLujMw8fnZeIQLulNUfZ+XRspUXX/a1jNccnhppDQt7yfzhwKyiIjIIub5AftHy5RdH4x6YDQNg3zVI2LWY0Bo1EsroraJbZk4fsBoyZkSkD0/4OvPNYeDtCdPbO1WdX3yVReAkZLD/tzxG/xeu5oXNAL2eNVlMF/F8eulH6mozZJklJhlUvMCWhMRYraFZRiEIUQtk4hlAAamCZZpkIjYuH5IRypKvnZ2AfloscaxYo1CzSdqGbTEI/hByEjJoVBzz+q9ZX5QQBYREVnEhoo1fnwgx9FCjeOdKGKWyXDJIR6ZiAGhQaHmNQaBOF5I1fOJWM2Y8J97RqfczHdZf8sJnzVWcal5IcWaRzJqsaItznjVIwjr1073RNnzA4ZKNQ6NVyk5HlUv4KLeLGs7UwwVHXqz9aEkiYiFF4SNIB+xTCKWiWkaGIZBxDKwJsopopaJG4Rk4zZx2+BwvvraNpL6iXjF9ak4PiXHJ2obvGlNB53pKEXHwzAMKm5w0pseZWFRDbKIiMgiVax5PHukQCpiMlp2GyUH6ZhFPGI2ArBtQsVtjpJOx+wpYTYMQ+764T5WLklwzcol5CoeXenYCZ/lByHZuMV4xWV9V5q1nSnytRFGyy5x22S47NCZOvXEPT8IsUyDgUKN9Z1pgjDkwGiZ9nSMFUuS5Ksu6ZhNW6J+ep2ImBgGjYC8uj015f1SMYuaW+9eEbUNIqZBJm5zSV8Lj+0fo+r5p9Wq7kCuTF82Qa7iUvMCktF6MI+YJoZh0BqPcHi8SmsyQmc6wZ7hEp3p1zZZ0A9CCjWP1oSGrswHOkEWERFZpI4WqoRhvQa36vkcP0Gun642I0BrIsJo2cWeKLloidtTgtpLI2UOjFX41UuX8n++YRX/863rTvisouOxsj1JZzpK2fPJxG0MwyARsah6Pqs7UrTEI+QmSjDyVZeRkkMwEcSLNY9jxRojJYdM1GJjT4aOVJSi69MSq5/nZeMRLurNNNZmmSYxyyI28V3Oa0twXluisaZszMaeeCxmW7QlIsSseneL9lQExwsYyFcZLTun3MOK6xOzLaquTwi0JSO0xCOEIY0T+FTMpuaHJGyL5W0JXn5+XPNevcVcyfHwgvAV1yKzRwFZRERkkTpSqJGO2cQjJiMlZ6Iu90SmYbC6PYl5ilTw4wM5AH5u5ZKTPu75AcmozcV9LWRiFiZG41Q3YZu4fkjcNrmoN4vjBVQ9n7GqhzfRo3i86jJe9ejOxKhOnNBC/WTYxCAbb/6D97K2ZCP09maiXNKXwTRP/r1Wtqe4oDvd+Pl1K5awvC0JQCpqU/UCYhM116dScnzak9GJ54Ss70xzSV+WiNX8jjHbJAhDYhGTmG2RiFi4fv171ryAA7nKCeUlnh/w4nCRkbJDvlYvTVnfmcIwDJVozAMqsRAREVmkSo5PWyKCaRiNYHgmjhSqJCImnafoXOEFIclIPdTapkk2bjf6JieOX7dM4raJgUHZ8elIRrFMg0LNxfNCLuzNkIraHMhVSEyUPcQskyWpCOnYyePKklco1zj+2cc/H+o3601+rOz4LF+SZLTkUHV9YrZJCAyOV/EqLkkvoOz6rOlIMVZxIDRoT9XXXQ/F9feK2eaUwNySiJArOxQdn7Ljk45a+EHIcNmh6tW/e9UL6E7H8AKougEY0J6Kka95jJQcTMPAMOpBXmafTpBFREQWmXzVZbRcL18wz7LnbxiGDJccOlLRk/YPdv0A1w9JTpQbtCUjXNbfQmwi5CajJrZZr/+1LRPTrAfq81oTrO1IAQYG0N+SIBmxGmUZUC9duHZVOy0zUJd7POAuSUTIxG0G8zVGyi57Rsqk4zZhCLmqS182TkcqShiCbRmNkL26PUV2IrjHbZNU1MacKGHJxCzyVY+OZJTWRIRk1CJfq/dg3tCVpjxRrpGN22TjFhgGJpCMWnSkYjh+QNHxKJ5ltw05cwrIIiIii8z2gTwvHitxvOYY6kH3sf1jPLDjKEcKNaquzzOH86/4Pv++c4ir//wHfPvF4ZOeHgdhyEC+xlCpRqJRFmFNuUGtJR4lG7cbNc/18oOQ3myMznQUg/q0vvr/6kE6MWlq3+Ra6emUilq0JiIkohYr2hK0pyLUvIC+ljgX9WQxJoLw2s5U4wQ7Pqnt3fIlSc7vzgD1mu7zWuKkJp6XjtqUHJ/uTIw3rm6nJR6h7Pgsa01wfld9CEsInNeaZE17Ct8PyMYjWKZB1DJw/JC4bXGKyhGZBTq3FxERWUTGKy4jZYclyQiT7xb75o6j/OG3dwGwrC1BazzC04fzvH1DF//9TatPKGP4951DfPKhnfgT79FxknKG8arL0mycvWOlU5YCpGP1yXbH659t0yAesYjZ9Q4QS1tijVKFiGnSnozSlZ75KX0Ry2TT0iwt8QhR22So5DBaLrG2I0VXJkbMNPDDeqcKyzRoidu0JE69rvUTYRkgHrGIR62J+m+LmG3g+AHxiIVpGrQmIgyVaixJRrBNA3viex9fl+MF9LcmGCs5eEHY6C4is0cBWUREZJHwg5CnBvO0xm0qTjDlpruvP3OEVNTiymWtPLx7hANUAPjW88ewTYO3rO3gJy8Nc9MVLcQjFn/4nRdZ2hJntFSvpe142QmyH4S4fsiKJQnGq+6U09XJDMNgw6Tw2JOJ099Co1zjwt5mP2XTNLh6edspb7qbbpNPupNRiyBk0o13FpWg3h4O4MplbVNqmF9JNmbTnY4RnXivqGXhhzSCbl82Ttlt9pmO2UbjLygRy8A2DVpiNsmIxe7hIp2p2Gl/tkwPBWQREZFFYqzsUHLqPYp3DhVZtSTJl360n58NjLNvrML1azu4aiIgA3z6bet5ePcw//nSCN+cmJL31WdGuW5NOxU34H+9dR23/9sLFB2fC3syUz4rV3FZ15miOxPjquVtp92/d2X7K98sOFvh+OVSUZuoZRCdCK3xiIlnGY1pg/ZrKPU4HvSPh9q4bWJNaq23tDVO66RJhKlY86bGiGWSjNq0JSO0JaP4QcDgeH2KYH1ioKpjZ4N2WUREZJEYKjbHQ6/vTPOvzx/jL358gCcOjVOoeXSnY/Rl443n97XE6M3Wp90B/MqGNmK22QjQy9oS3PbG1fz8+Z28ZV3HlM/yw5DebLw+KGMRDLdoidusak82O1HEIyxtiZ9xYJ984huLWERto3GCbBjGlJKWK85rbdyIaJv1tnaZicc70zEKjk8yajFe1Rjr2aITZBERkUWi7HqNE8/B8Sp3fHcXmZhNoVYPwN2ZeiA+rr8lQU+mWWbwi+taOFgKeexAjkTEJBuzedPqdt60uv2EzzIMTmsK3UJxvI/zcR3pKH19J47TPhPZuE1rPHLKWuLJ3UEMw+CK81obwTwds7EMg/ZUhIFxdbWYLTpBFhERWSQmj4t+aOcQQQh/fdMljcd7MjHakxHefWEPb1vfSXsyQk+2GZC7khH6WuKN556srRvU648jpjln5RALTSJi0dcSb5RvvJrJ+5qIWLQlI2RiEdJR+7Sm8snZ0wmyiIjIIlH1Alomps7tHinR3xJnxZIkyYhF2fU5vyuNYRjc/pa1jdesnqgJjk8MuzhegpE5xXAOqAfk42OW5fSs7Uy/+pNO4fL+FiKWSanmsX0wz5qOlDpbzDAFZBERkQXuSL7KQL6K5weNwSBDxVqjXdrf/uqlJCf6/r7c8rYkX77xkoma2TKvX9HGI3tG+e3XLz/pZw3mq/hBSH9r/KSPy/RLTrTQS8dsOlJRXD/ANhdPect8pIAsIiKygHl+wHNHCxM/GeweLvHHD+/m6cMFrl9Tv7FuWVviFd/j4r4sALnhMus603x5UlnGyz8rapmMu94p27rJzFnWliBXcRkruxwqV2lPRqaM0p4sDOvNpQ3DwA9CKq5/ypHdc6lY8wgnN+yeJ/SnW0REZAF77mgBzw+peQFeEPDBf3iKJwfy+EFI5zQO3PD8gH1jFfpb4sTs+rAPmV2GYZCKWYzXXFri9Wl9pzJSdjk4XiUIQ8YqLlUvoPwKz58L3sRI7XzNIzXP/jwpIIuIiCxQNc9ncLxKRypKoerxk4M5ipNC0MnGQ5+psuuzfEmStZ1putIxejMqsZgLCdui4gQkItbEX4rqp8OTW8CFYUgQhixtiVOq+YSEnN+VZqziUqh6eMH8OLEtuz79rQnevKaTFe2puV7OFArIIiIiC1Rhon8xwPK2BF/60X7WdTSDxpqOE0NHEIY4Z9AJwfFD/n/27jtAivJ84Ph36u7t7vUCHO3oVdohcogKIvaCYhSjUWOiRmMSY4ktRk2iRE1+GktUoqgkCipWLFjQU9FV9KiKFOntuF52b3en/v6Yu+WOOxSkHeb9/AO3Mzs7O7d788w7z/s8BZkp6KpMUUEWwXZ4u/5/ga7KSBJkB3VCPoXKqMH2+gRVDSaRxnJ+VQ0m3TNTKMgMELcdQKJjmo++uUHils3mmhg1sYNfUzlhuXQI+Uj1t7/PUvvbI0EQBEEQdkuDYaM0TspbURZhe8Tg10f2YEttjG/KIhzRLaPF+mURA9txUGSJdL+GLHm34vNCenJy3664eO2YhYPLryqEfApZAY10fxpfbq4hRVNQZAnHdamJGY2jxyloioTrukiAKstkBnTWVjaQ5tdwXBfLdvaoQ+C+4rgusiTh4u4yh/pgEwGyIAiCIByiooaNqniB7dJt3kS9ou4ZZAbyWqwXSVioioSmSBzVM4e1lVHK6hMYtkt+mo/SSIK8oK/V9pt4E77c3a7jK+w/qX6VnKAPXZEJpigokoQtuWQFNHrnBPlsQzUSXv1kTZFQZRnHdVFkr5Of5ThkpGjkhXQWbKqhR2YA/QBOuKyLm1TFLPIb62y313KB7XOvBEEQBEHYJdf18k6bd86riCbwKXKLUm6O61IRNUjYLpVRk5BPJeRTG9sWW/TIDjAkPx1F8kYfm57T3La6OBtr4uCCJgLkdmFUtwxCPhVJksgKaDQYNv3yQmSkaMiShCzLjakYEqk+NVkzWZUlDNsloHuNS7plpBA1LDbWNBywfY9bDn1zglQ0GCgS7faiq33ulSAIgiAIu1RaF2fBxmoaGjvnxS2b8ohBTlBv0f2uLm6hKxI9slJIWA4h3TvtB3UV03HJCugoskSKplAXt9hc4wXDkYRF1LDYHkmQoisoMqiK3FgrWTjYmv+Oc4I+1MbRYUnyfpfZgR0JAqn+lgGyIksENIWArtIlI4X6hO2V7oubrKqItLpA2h/73js3mPzc7apb48EmUiwEQRAE4RCztrKhMfiVqYgmuODZxQAMbaxn3MSwHQ7vmoGqeBO7Qj5vdFmVJTL8Gqk+L/8zRZOpjBp0zfCTmxtkbUUUn6YwLD+dnKDOB99WkNJOb4X/r8sKaKT61eTo/ogu6fiapUyk+hQiCe/33JRmEWzMJferMg2mTX56kITlkBf0EU3YRA27RQvyfcVxXSTJe11dkdttegWIAFkQBEEQDinLt9dRHTdJWA6G7fLA/PXJZTk7IdwWlQAAIABJREFUlXWTkAj5VFwgza8RagyMQj6VPrmBZIe2FE3BtF06pPkZ2DGVrbVxXCDkU9BVmaCukL0PS8YJ+06qT6VDyJccJd65GUiX9BQ6pHrBrto4OTMz4F0oaYpMSFfokxskK6Dz5aZqttTECflUooZFUN+3YaJpu4R0b9TYr8rtdoIeiBQLQRAEQThkxEybDVUxOoR85AR01lZGWLCxJrm8Vd1jyZtYl6IpHNEtg5yQFyilaAq9ckLJ1fyqgixL6Ip3m96nylj2jkl5RQVZ9M9L3f9vUNhjkiQxqFPaLlMVZFnCp3qBqKrIDOgQSl4YqbJEdlAn3e8FzD5FxnAcsoM6NTGLFWURAMoiib1KvXBclxVlEQzLIdT42n5NJkX9HwyQL7nkEvLy8hg8eHDysdtvv53OnTszbNgwhg0bxptvvplcNnXqVHr37k2/fv14++2399duCYIgCMIhq8GwkQBZkkj1q0xfsJmCzBQGd/SC13G9sgGvakVNzCSlMfAFSG82eW9nKZpCiiajK17AEtC8vOOmAFnkHv945IZ2pE6k+lSG5Kclf78+VUGWZDqleU1gQj7Fq5ntwuryKHHrh3XiazBsr/OfaZPWWPM4oCmktOOygfstQL744ouZO3duq8d///vfs3jxYhYvXszJJ58MwPLly5k1axZff/01c+fO5corr8S221c7REEQBEE42MzGpg8AW2vjrCiLcMbgjtx+fF+uH9eLwi7pje17bSqiBkHf7gUg2UGNMQVZaI0l4xRZIqiryeBa+HGSZYk0/44LJ78q41dlsgMa2UGdFE2lLmGR1piWUdfYmCZm7jpGi1s2UcNq8VjMskn1q95E0cYUkKyAnsyFbo/2W4B89NFHk5WVtVvrvvrqq0yZMgWfz0ePHj3o3bs3CxYs2F+7JgiCIAiHnLhpY1gOTTHrmsooAMPz0yjICnDusHxcoKLBpCDLq20b1HYvh9SnKi3Kww3oEGJ098x9/RaEds4BgrqCqsgc0S2DFE0mYTn4NZmg7pWVi5k22+sTmLaD3UbL6vKIQU3MSra7Lo8kMCyXNJ8KkpfOA9Axzd8iOG9vDngO8kMPPcSQIUO45JJLqK6uBmDLli107do1uU6XLl3YsmXLgd41QRAEQWiXKqMG4fVV1CXM5O3wiqgBkMwrBu9WdsdUr6VwUFfJCf2wiXUBXT2gzSOE9sErEed9ZlRFxqfI2K5LbshHj6wAuF5zmrxUH+VRg4oGA8t2qImZWLbXvtyvynRO91GXsGgwvJHjwZ1SyUjRSFHlQ6YaygGtYnHFFVdw6623IkkSt956K9deey3Tp09v7NDT0q6SzadNm8a0adMAKC0tZevWrS2Wl5eX7/sdP8SIY7CDOBY7iGPhEcdhB3EsdmjPxyJm2qzYHqE6ZtIQ0HBsh2dW1bJgqzeCrMaqqUl458yamEladoDy7Q3I0XpiNQZb63Y/TaI9H4cD7X/1WGQDW7d6k/NiNRHMiIFt2yhBnURtNQnboWNuKmmay7flUda7kOZX2ZAwSfdpJCybVH8qq7bVYDguh3VMxZ9IsL0+gRY3KNt+aKTQHtAAuUOHDsn/X3rppZx66qmAN2K8adOm5LLNmzeTn5/f5jYuu+wyLrvsMgBGjhzZ5nq7eu7/EnEMdhDHYgdxLDziOOwgjsUO7fFYuK7L/HVVENTJSZPwKRKvf7OdJ5dUAl4N3Jy8jsn1zYhBQdcMMgM6P/TttMfjcLD8rx+LbXY1BG06BAzy8/PpZKZQHk0wsFceluOyzakAV2JC3xxWlkXYUB0jN0Wjb48s9PQcNlQ30K1DKjkhH50aB0Pba2OQnR3Qce5t27Yl///yyy8nK1ycfvrpzJo1i0Qiwbp161i9ejWjRo06kLsmCIIgCO1O3HKIJCyvaYPrsqIsytNfbE4ub1732HVdaMete4VDT6pPo0uGP/lzpzQfIZ/XlMSnyLguyLJXTzkzRSNu2snKFAVZAYq6ZyXrZ0uSdMgEx7AfR5DPO+88iouLqaiooEuXLtxxxx0UFxezePFiJEmioKCAxx57DIBBgwZxzjnnMHDgQFRV5eGHH0ZR2u/MRkEQBEE4EAzLoSmkyAnqPPzJehpMmzHdM/l0Q3UyQN4eSRA1bFJ1JdlRTRD2Vt88r1b21q11AHTJSEkGvF7dbK9DI4Cuyliui7/Z5+9QzmPfbwHyzJkzWz32i1/8Ypfr33LLLdxyyy37a3cEQRAE4ZCSsGyvrFtjBGI7Lh+sqeS4PrlM7JvDpxuqubCwC0BjUw9vhK6pVJsg7GuSJCWbjICXexwzvcl5qiwhI7Xr2sZ7QrSaFgRBEIR2JpqwKNlcS15IB7zcze0Rg6hhM7xzGkXdMym+ooiQT6UyapAV1KmPm+iqfEjdxhYObZ3TU5LVVDRFRleldt0+ek8cumPfgiAIgvAjZDsun2+sprQ+QW3cQpEkXNeltD4OQF7IhyRJhHwqtuNiuy79c4NoitfkQRAOlPx0P0Py0wBvBDkjRUt2yjvU/TjehSAIgiD8SFQ3GCQsh4zGzmNx0+G0mV9QWp8AWk7Mi5k2HUI+ckI+AppC14yUg7Xbwv84nyrTIyvwoxlBFgGyIAiCILQjqyqihHQV03Eojxo8t2hLMjgGyG3W/CNuOfTI8n4e2TVD5B8LB40kSXTLDBzs3dhnxL0YQRAEQWgnHMelLmYS0BVSfSrfbK/jhaXbWqyT5tsxtuVCclKUyD8WhH1HBMiCIAiC0E4YtgONhd1kSeKtFeV0COk8dObg5DqSJBEzbdZVNYDrirrHgrAfiBQLQRAEQTjIYqbN5xuq6Z0ThGaDwMu21XN83xwO65TKmO6ZXHlkAQC1cZPUxkl6h3KtWUFor0SALAiCIAgHke24rKtsYFtdgjS/lnw8btrUJyw6pvoJ6ioPNI4iV0QNumSkYFgOZRFDjCALwn4gAmRBEARBOIhqYibfVkTomKrTYFg4jsvNb67g0/VVQMtJeY7rIgGDO6axviqKaTsossg7FoR9TQTIgiAIgnAQVTUYBDSFgKawtT7BZ+ureWdVeXJ58wC5wbDJTfWhyBI9s4P0ygkdjF0WhB89cV9GEARBEA6iygaTFE1BVWQSps0/PlzTYnleyJf8v2k7pPq8qhWiYoUg7D8iQBYEQRCEgyiSsNAa84jfWlEOksR/zhuWXN4x1YfrupRHEliuS1AXN38FYX8T3zJBEARBOAiWl9YBEpbtJvOIl5XWcVjHVPrnhRiWn8ZxfXKQgKoGE9t1sR3QRM6xIOx3IkAWBEEQhAOswbBYW9lAeoqG2yzeLYsYHNYxFUmSePycoQCsrWxAVSRygzrb6xPJ0WZBEPYf8S0TBEEQhANsS20cicbGIC5MX7CRM578gi218RaT8gBSNJlOqX7yUn2osiTaSQvCASBGkAVBEAThAHIcl821cbKDOtsjCUrrEvzr0w3J5bnBlpPyQj6VI7pnsLkmTmZAJ0VTDsZuC8L/FBEgC4IgCMIBtLU2Tsy0SfOpuC7c9vaqFsvzmo0gm7ZLyKcgSRL56X7yUnVRvUIQDgCRYiEIgiAIB1B1zCCgeqPAayqibI8k+L/TByaXd88MAF4DkYRlE9S8sSxFlvCpYvRYEA4EMYIsCIIgCAdQzHRQG/OIv9hcS0BTGFOQxaTBHVEk6JMbJJKwiFs2MdOhb64IigXhQBMBsiAIgiAcADHTpi5mEjNtfKp3A7c8kqBDqo4qS/zxuD4A1MVNFFmmW2aAZdvq8IucY0E44ESAfAhYWxGla2YKiiQRMSwCjR2XBEEQhEPHsm11RBMWhuNi2g5PfrGZlWVROqf7W6yXsBxGdk3DBdZUKOiq+HsvCAeaCJDbubhps7I8AhJURA0qoga40CM7QN/cEKbtiNEFQRCEdu6Bhx/h6WefZ+zxp3DiOT/jmjnLWb49AsDQzmkt1nWBVL9KzHTIDflI84lTtSAcaOJb1465rsvq8giG7bCyLEJAU+gQ8lqOrq1soDZmYToOR/XMPti7KgiCIOzCtGnT+N1VVwKw8NNi1hgBlse7JpfnBXdUrXBcF7VxMp6uyBzeNQNZdM4ThANOBMjtUF3cpKbBJGbZbK6N0znN36KsjyQ1dlSKJHAcl+oGg8yATjgcpri4mEGDBnH66afv1T44jovtuqJjkyAIwl56/oXZLX5+tyaNnvkB1lY1ANAx1at7bNoOluMS0L27gpIkoasiOBaEg0EEyO3Q4i11NBgWiiyRmaK1WfNSkSXy0/zETJvFW+vQt69i4sTjMAwDTdN4//33KSoq+sH7sLG6gc21ccaK0WlBEIS9cuJpk5j33rveDx37YPjTuXBkFz5cW8kH31ZyfL9cr6Sb7RA3bXpkBw/uDguCIALk9qYubhI1LPJCvu9fGUjRFOojCd5/730Mw8C2bQCKi4t/UIC8vjJKVYNJvWFRVm/wydpKDstPI82v7fG2BEEQBMjq2puxE0+iuryMLqdfydsRGNUtgwl9cogf6/3Ntl3okRVgydY6gmJeiSAcdCJA3ktNaQ3jxo3bqxFb8NIalm2tI7CHfxwDmkLBkMPRdT05gjxu3Lg92obtuKyramBlWT2pPhXHcemZHSBqWHy6roqh+WnkhnyieoYgCMIe+OCjj/nVlNOwTBNV0+lxUUfkqE12QEeRJVI0hfKIwdDOaYR0lZVlEUI+ESALwsEmAuS9EA6HmTBhAoZhoOs68+bN2+MgOW7a2I5LzLRZXx2jLrH7o8dNQj6V/P7DeHHOW5R89glDDhu8x/vx6rvFvPLWuxx99DF0PPyI5ONBXUWTZb7cXEu3zBSG5qfv0Xa/z768wBAEQWhPwuEwv//9NZiGAYCZ2ZVFqzeSnd0DpdnEOxcI6gp+TSYv5CMnuGfnAEEQ9j0RIO+F4uLiZFqDYRg/KK3hi001NBg2pu0Q0tVdBseu6/LMoi0ENIXj++YS2qnsz5plJSz87FOOHT+OkYUD29zGrnz48Xx+OulkTMPk+cfu55GZrzCkcFRyua7K5Kf52VITp1tGCpkB/Tu2tvv2xQWGIAhCe9T09y0Wi3kPdD0MfnInW4ABwZZ/QyUJfKqMpsgc0T2zRfAsCMLBIe6X74Vx48ah6zqyLCNJEtnZ3z+hLWbabKmJsa02xpIttdTGTPyqTKc0P6n+1tcr66saeGbhFq58aRn3f7SOu+Z9y/nPLOLbimhynaUlC7juorN5+p9/45fnnMYXX3652+8hHA5z859uwzAMHMfGSMR5Y/asNtcNaAprKxt2e9vfp60LDEEQhB+Dp59+mng8vuOBop8m/5sT8gJk13VxXBdw0WTvdCyCY0FoH0SAvBeKioq4//77URQFx3G4+uqrCYfDu1zftB2+3lbHl5tqWby1jpqYSW7I12o0uMnUeas5e0YJ9320li21cX5V1J0/TexD1LS44NlF3PTGN6yvaqAkPB/T9AJc0zR56/2Pdmv/P/nkU46dMIHwh8W4jgN4f7Bfee6/LC1Z0Gr9kE9heyRBdYOxW9v/PuPGjUNVVSRJQlXVPc6bFgRBaI/C4TDTp0/HdV0A5J4jocug5PKmsm6bauNsrImhy7KodSwI7YxIsdhLlZWVOI6D4zhtplmYtkMkYdFg2Kwsj2LZDl0y/N+xRS9IfXFZKS8uK2VIp1T+ML43fXODyI3l3o7qkcX/fbSWt1aUs6mskoFbNqMoKhKgajoFg4ZjO+53jkSEw2Fu/OOtJBIJXNdpscy2TGY88gCDho2gsGhsMt1CkiTSfSolm2sZU5BJQN/7j0/TCaTpX0EQhEPdPffcg2mayZ/TJv6CYLqfUV0zePmrUs4Y1BHTdghoChHDFt1QBaEdEgHyXsrOzkaWZRzHSaZZxEyb2phJg+FNvIublhdc+jV8baRRNFfVYHD726v4dEM1R3TL4J5TBxDcKRDNDOj85cT+5FrVzPjWYuXaOCouRx13Itm5eTgurC6P0r9DqM3X2Dk3TpIkkKTkKDKhLIoDIyie+yXqA//HtJkvJYNkv6Zg2A4LN9dyeLcMfOoP/8NeXFyMbdu4rott2z+4NJ0gCEJ7EQ6HmTNnzo4HfEFqA504s28uFx/ehdMHdaB/XoiySIK+uSGWb68nRRcBsiC0NyJA3gvhcJirr74ay7KSQd7vfnc1kdTO9B82ElWWSPOppPu/e8S4yRebavjjWyuIJGz+ML4XZw/plBw1bkvq+jB8a+MOPw1ryZvMn/c2juvy+gsz2bptGyG7gTNOmtgq6CwuLm6RG+e6LrIk4+b1hP7j4LCJ4AtCz8Oxeo7kn3f/lSeefy25fppfoyZmsGRLHYd3y2izkcnuaMrhbpqkJ1IsBEE41BUXF7e4IyYNPg5Xkjm2dzZBXeWwTmlEEhYZKRo9sgKsrWwgTZR1E4R2RwTIe6FpklnzNIF4PMbd11zGL393PWedf/Fub6syanDHO6uIWw73TxrE4V0zvvc5hUVj0Z75LWaPkXD0z7HfeQDXcTBcl8f+ehOO4/LPe//G++/vqA7x8fxPWL12XattOf2OgolXgarDio/gi5eg50g48gKW6Clc+esrOW7MKGqrq5JpF9vrE5TWxemUnrLH5dqa1r///vuprKwUZd4EQfhR8OZWaBhGAknVyBh/IV07pDKgQ2pynQbTZmDHVGRZYmCHEHmpoqybILQ3IkD+AcLhMDNmzKC0tBRVVbEdB5qNGJSVbuWum37PWy+/wG9uuq1FyTTwqk6UhOdTWDSWvkMKmbN8O9MXbKIuYfHQmYMZ3rl1reHmz2na3pDCUTz20AM8PH8dJQOPRV23AGf1Z7guydQFwzR4/vW36T+0kPeKP+Znk0/FSBi0yPjt1A9OugbK16G+eQ9ubRm2ZUL5WqgtheN/xwKpPwseuhVp2zfouo9HZr7CgGEjWbS1jvBnn3HBmafsdrk2Ud5NEIQfK8t2cHGRJAm550iqHY3rh3VusY4kSfhUb45854yUg7GbgiB8DxEg76FwOMy4ceMwGgu/K4ri5SA3tnhubtGCT/nl2Sdz41//nhxNXlqygMvP9boqyX2KsE+9EYAu6X6enDSUvrmt84aXlizgivMmYZoGmqYn6xQvLVnAG7Nn0VWS2dp9EttPuQFp1h9wtq6Cxj/QiqLQ47DD+WxDNXPemecFx42T8mRZpv+QEVQdfwNxGX7SsYqix6cD8ODUO1i04FNvNLliI0y5GyZcjjvrRkwjTkl4PkMKR5Ed0Hlk7nskEo1l4najHvS+qB8tCILQ3kybNo2/3X0Plml6aXfDTieEwbG9W5YAlQBNdCUVhHZNBMh7aMaMGcngGLyR2u/KwXVsm3tuvZ7e/QcypHAUr8+ehZmWD92GYo8+B8W1uPPUwYzrlYO6U9WJplHj0q2bvTJuto2JQUl4PgCXn3taskOTmvE68sX/whpxBmy9B2iqDCGR6tcoXbmETd8shZZjx+QedyHLLR93ntSPE/odlXz837Pf4KVnnuLV5/7DimVLsOdMhcl/hsIzcMIzqa+rY+pN14AEDZEobuN2JUkimJbB5xuqObxrRrJ0keO4yf83lXdzHEeUdxME4Udh2rRpXH755Tse6F0EXQYxqZeK2hgMl0cT2A4oMmiirJsgtGsiQN4D4XCYxx9/vMVjiqIgKyqObSErCj1692PV8mUt1nEch5LwfNxO/Xmpw5lw4Znegk3LSF8ym7q8C1H7XNziOc1HjRVFQVFUXNcbFVaDaY21j3eUEbJry+jbsJaVfcdCt7mwcan32rbFG7Nn8doLzySDaQBJklE69eULuYCR+ekc3ze31fs96/yLOev8i5l68zW8+N8n4dswFE6Cb4qZ8eg/2zxGlmVx3TVXc8wHYS75+YUccUQRDaZNRdRgSH4aGX4NEOXdBEH4cXniiSda/Ow/4kwCPvjNKaOBpqYgNP4dl5NBsyAI7ZP4hu6BprJkzU2aciGPPfcav7r2Zh57bg7Pzv2I6S+/zbjjT0FWVDj8LNyTr+MNaRCXvbDEe1J4Jsy6AV64hapVi7jrpt/zwF23t9husvmHbWPbNqOOPhZZknBsm3/deQvbK6ta5D0rqso1JxxGuga5p1yJpvuQZRkXWLjg0xbBNEDhuImkX3QPQZ/OzRP6fOcoeL9BQ1AUBd7/NzgWnHwtyLuedW0aBu+9+B9+NukkHvzXI5RFEuDC5xuq+XBtJXPmvoe1U3k3QRCEQ1U4HGbhwoU7Hug6hHiH/kwp7J6sR18bt8gO6OiqIkaPBeEQIEaQ98C4cePQNC2ZYqHpPk45ewpDCkclJ85FEhZ614GcetM/qSz8nGWJVFxgfXUVfeQtrJ55N9SWtdr2f6c9SJfuBckqEYVFY9E0jYTj4DoOa75alAzOTcPgq0/eb1F/+YxzLqDw8CM4fuunvLAun6MuvY1PH70V27ZZt3pli9dSNY3o+KuorHH51+R+dMvc9SSRpSUL+McdN+O4LnKsmpyvXqZs5IVwwf3w7HVgJXb5XNuyeOgvNxHQ1eT76ju0kKicgiRJSLKMqun0GjqKl97+gBUlYcaPHy/ykQVBOKQUFxc3toz25E28iIRf5fwRXYDGCkeWw4guQb4qrSdtF91TBUFoP/bbt/SSSy7h9ddfJy8vj6+++gqA66+/njlz5qDrOr169eLJJ58kIyOD9evXM2DAAPr16wfA6NGjefTRR/fXrv1gRUVFFBcX84+H/43pOEw656ctKlRUNRj87NlFbI80TuAjCIvfgA+fQMGl84QTWd1GcAxeju49t16P47pomsZd02dzxgW/5PnHH8IFSktLW6y/YsU3yQmCqq5zytlTWFqygFf/cA5Muo2Ps3pAhz6wdUWr13I79OGbGpcrx3TfZTk513VpMG0++fgjTNPAdRxkRWGgP0bZB/+G8ZfC4WchffYcRxw1jgXzi3EcF0mWvLSJxpOF3ZiD7b0vnWtvu4tH7roF2/JSUq64+c+sqWzgT788G9s00TSNue++x/ijj2pzvwRBENqbo48+Bk3TsADFl0JDTh+OKshKVqqIWw65QZ3MgM6IzunJxwVBaL/2W4B88cUXc9VVV3HhhRcmH5s4cSJTp05FVVVuuOEGpk6dyt133w1Ar169WLx48f7anX2mqKiIm7sMIGJYBHWVLbVx3lpRxtel9XyxqYa45XDm4I6M7p5JoHIN1/1rBhYuqqaTnZeHJMtesCnLDB05miVfemXZZEXGbhwtTtg27z37GFZi16Oz4AWfqqpy7W1TKRg0nBcffxDLiMNb98HP/gnnTIVZf4DS1TuelJqDffL1BDGYPKRTq2025cnVxEwURaJ/4Wg0TcfC2PEe3nsat1NfKDqPo/vl848//zFZUeOV5/7rlYhrIklYlg24WBjMfOLRZC60Y9tsWrmcjSuXYzU+ZhgG9z78OF0GDKdPGxU9BEEQ2puCQcO5a/ps1i7+HKNXEf9eaXFCvx3zOqKGTZc8705dUIweC8IhYb99U48++mjWr1/f4rHjjz8++f/Ro0cze/bs/fXyB0TMtPnNK1+xsTqGX5WZ0CeHC0d2oVd20FuhTw7X3nYXrz73H3I7dKLfoCHoug/L9ILN39x0GwBvzJ5FZUUZH703N1lj4q3X5zBs2LAWrydJUqtJba7roptRYpbDiNFHomk6Zn0ZyvM3IP3071jn3EnHTx9j6+aNMOIM6DUKHJsbRgRJb5ww16TBsKlLmPhUBU2VKeqeSaZ/LFOnv8C3iz9nZNFYAK8Sx7xHcLoO4Zv8Y9hWF2dI4ShKwvNxbKvlPkOywoULrF+7mp1X2DkbL0WTWVUeIaQrdEzzUx4xyAnqySoYgiAI7YVlO6wsj1I0uoijjxzDBc8uokeWxpiCTGDHoENeSD/IeyoIwp44aJey06dP59xzz03+vG7dOoYPH05aWhp//etfOeqotm+xT5s2jWnTpgFe2sHWrVtbLC8vL99/O92osqyOjzbW89SSSjbXm/x6ZC6n983wJmO4EWoqIgAsX7KIe/90A6bpjY5+PO9tRo89hszsHI4/dRLdundn+ZJFvD57pjchz2kZ/C5evBhVVenRowe9evVi/Pjx3HrrrckcaFmW0TSNEUMPI2jUkt2pC/c+Mp0Fn3xIbodOPPTv63DOvJ2tR/8OHNubWLfla6b0VBkzcDg1FduTr2U5LtGETZ/cINlBHdd1qSrfTo7kMuqwvnTu1h2fKhHSVe59ZDqLSxaQMcDPtE0yp03/guN6pHJq/4GoqpZ8v7Ki4NhO8jV2rhUtKwrHTPAuml57/hks00TVNMYddwJqrIb5X1XgV2UihkXvnCD5af49bmt9ID4PhwpxLDziOOwgjsUOP+RYGJbD+uoo1VETN0VjcWkDK8uj/P6IPOoqvXS6BsMmoCvUVFjU7Oud3g/EZ2IHcSx2+F88FgclQL7zzjtRVZXzzz8fgE6dOrFx40ays7MpKSlh0qRJfP3116SlpbV67mWXXcZll10GwMiRI8nPz2+1TluP7StvLN/Oje+X8lVpPR1COo9OPoyRu8jjXfnNcqxm6Qa2ZfHph++j+/ycdcElZOR0oGTJMkzTxHGcNrfhui4///nPuemmmwA46qijKC4uJjs7u0WL5mjC4pN1VQwZexwDhw7n5VnPYFduhGevRep7JN1HTWB0KMLxUwpbdfZzXZeySIIxfTLomOZvtQ/dukBFJMEXm2rICPkYM+FExkw4EYDCsgi/feUr3ltXz9rsXO546lXee+cdFGwK+/Xg3j9dj40MVvMScxKyonDDX+5Nbuex5+ZQEp5PemYWK79ZTigjiyGFo0hYDlm4lMcssn0heuYE9+C35dmfn4dDjTgWHnEcdhDHYoc9ORb1cYtvttcT1TS6dtZxgRnzlpCZojH58N74Va/SjxFJMKxbJtnBQ2cEWXwmdhDHYof/tWNxwAPkp59+mtdff5158+YlRwN9Ph8+n9eLvrCwkF69erF0HB4TAAAgAElEQVRq1SpGjhx5oHfve31dWk9ZJMEvR3XlwpFdCei7LndWWDQWVdNa1B92XRfLNPgyPJ/OA4YxeuzRPPfYfSTi8RbpE7IsI0kSuq63aKRRVFTUZpWHoE9leJd0vtxUg9742pqmYzVUo379Dn/645WtAuMmFQ0GPbKDbQbHTbKDOlkBjfq4Rap/x8emX16IuZcewatfb+eeD77l5hIXsscDML9WpuM1z7IloUD1NvjiRVj5EcPHn8Svf30VQ0cekdxO075dfu7pmEYCWVFadCDUgjIryiNkBjQyA4fOiaZJOBymuLg4eUEjCMKhqy5u8sm6KlRZpmOqd+6au6KMpdvq+fMJ/ZLBcX3cItWnkpmifdfmBEFohw5ogDx37lzuvvtuPvzwQwKBQPLx8vJysrKyUBSFtWvXsnr1anr27Hkgd223XT++F8f1ySFiWN8ZHIMX9D323BxmPPIAG9Z9y6b1a3EdB1XT6DnsCPLT/Pjyglx80UWUlpby1ltvYVkWuq5z//33txgh3h3ZAZ0UTSFSZzOkcBSPzHyFkvB8CovG7jI4ro9bpPu1NltcNydJEgM6pPLJuiqCroLcLNVBkiQmDe7IqK4ZzF9fxeryKKk+lZhls2xbPZRFIL0DnPR7OOG3LJQV/luaSsf6BB0aTy4Ab7w4C9PwJiY6ts3Um68BvIYliiyR7lNZsLGGkE9lTEHmHqdbHCzhcJgJEyZgGAa6rjNv3jwRJAvCISqSsFi6tY6AphBqnHAXSVhM+2wj3TJTOLH/jsl5MdthbNcsMX9CEA5B+y1APu+88yguLqaiooIuXbpwxx13MHXqVBKJBBMnTgR2lHP76KOP+NOf/oSqqiiKwqOPPkpWVtb+2rW98kOCsvBH7yc74k2cfD6nnj2FKadMYOWSEk464fhk4PTAAw/scVDcnCxLDOuczntlXkm45vWZ21ITM0lYNkM7ZyWL2X+XNL9Gr5wgayqj5AV9rZbnp/s5Z2jbt2Be+O9TvLhgJaGBY1lHFh98W8k32yOcMiCPqu1byd28gMryliXwXNfl7j9el2zT7dcULMelPJKgJmYeMiPJxcXFGIaBbdvE43FmzJghAmRBOMRUNRisrWxge30CRYbcoI+lJQsoCc+npnsRG2ssHpl8WHLwIGpYpOlKiztugiAcOvbbN3fmzJmtHvvFL37R5rqTJ09m8uTJ+2tXDjjbcYmZ3sSMjz76ENMwcBxvglr/3j244uwTkSSpReBkGAaVlZXJXOMfKt2v4lfl5MSQXTFtB9N26ZYZIGMPbv/1zg5S3WBQEzN3+3lLSxZw/59vxjQNtLlP88jMV6DTIP7+4RqeWLDJWynSA2XFy16lDkn2JhXilbKbdt/fuOz3NzKkcFRyxGZFWYTR3dv3KHKD4VX0GDduHIqiYDd2D3zyySe58MILRZAsCO2YZTtsqI6RG9IpjyRYWRbFp8pkBzQ0RWZpyQIvJcw0kM77O5179m1RVz5q2IzunnkQ34EgCHtDVCvfx2rjJpvr4kQMi9L6BMdPGI/Pp6MoCj5d5yennpAM6saNG4eue8t2zjX+oSRJom9uiIhhYdptT/wDiJsOndN9DO6UtkdBpixLDMlPR1NkqmPG9z+Blm2zLdOgJDyfIflpzDhvOOcpy5DeewhwsSf/Fem3s+Hyp2Hgscnnfz7/Q644bxJLSxYAEPKp1DSY1MTMXbziwVPbOCq/eEsNxWsq+fdL7/DEk0+1mNxgGAa333474XD4IO6pIAg7S1g2juNSWhfn8w3VLN5Sy0drKvm2ooGcoE5GihccQ7OUsL5jcTv2oa74v7z0zFOAVxVIV+Q9GnwQBKF9Efd+9pG4ZVMbs0j3q/TPDRLQFNJTNDIHHUfBvHltTtAqKipi3i6W7Y2QT2V4djoLt9SS7lPxa61HkmOWTUZKoI1nf78UTWF090w+21D9vSPV0GzCYGOzkcLGesoAE8eM5KUH/4q5ZgHS4IkUnHgha+o1OPFq0oeNp/azV3GrtmDVl3mBdWPKSNCnsHRrHaMLMvGp3/36B8rm6hhfldYT9ClEDYvtK5dw/UVntpikCV7qyLvvvsvHH38s8pEFYR9zHDeZ8xtJWFRFDTICGmmNdd8dx8VxXdTGQNewHGpiJl9tq8esUUjzq9TFTdL9Gp3T/bgu6I2d75pSKgqLxnopYVoKHHMJbP+W+k9e4K75zwEw7syf0jUj0K7vcAmC8N1EgLwP1MRMYqbNyK4Z5IV8rSZk7KryxPct2xsd0/wMc+GTdVVkpKhkBbzaxnHLoT5hkZGikZfaOo94d+mqzIAOIb7cVLNbkxV3NWGwrWW24/LQJ+uYuRCYNBTiEeTXp7YIrIO6Sk3MYMmWOkZ2zTjok2AiCYsl2+oI6QqG5ZAb9PF6eD6W2fYot+u6GIZBcXGxCJAFYR+pjZl8XVqPYTv4GlPN6hMWKZpCr5wAdTGLiGGjKRIZfo2a+I47UY5tkxfSiZsOHUK+VsHtS888xT23Xo/d2AnVQYazbodQNsz5G7jeHbt5b77G2DPOo3tWygF+94Ig7EsiQN4LluMSN21sFwZ1TP3OMmkHQ05Qp1tmCmWRBOWRBJbjosoyfXODFGQFd2ti3nfJCuhkBXTKIonvvZ34XRMGd16myBK/O6onF4zowr/e/pI5GwNI59xJVu/DWjwvI8V77bJI4qAde9d12VAdY2WZ1/kv1KyNbFtl/prIsrzLtBpREk74sXNdF9N2sV2XlDbucP0QhuWwbFsdVQ0mAV1Gc6VkpYmEZbO+sgFdlXFdiJkOMdPGp8jkBnUkSaIm7lXnaeuCf2nJAu6+9Xpsy5tXYCPDqddCl8HwzoOwbWVy3SMmnEzP7OA+e1+CIBwcIkD+AWzXZXvEIDtFw68pDOoYJCf0w0dj9xddlRnVLYPSei+A9akytuOSvo/y4hRZYlS3DGrjFqvKImyujdEx5EveumzSdDJsuk25u7KDOreeNYZf1MY575mF/PaVr5l29hBymhXcT/OprK6I0iG19YjP7mowLGKmQzRhUR41qGow6ZUd+N6mJHHTZltdnK+3R8gN6qg7XXA0lflraiUOEMjIZswRI5Fi9YwfP75FABwOh5kxYwZPPvkkpmkiyzIPP/xwsjFO0zoieBYOZaV1cTZWx6hLWFi2y4AOIXKCOkHfDz8dra2MsqU2TsKy6Zze+mJZ1VX2tE/H0pIFye9u+fbSZHAMQP+joXcRLJgNX73LSZPOobqqnPEnnsYxZ55P90wxeiwIhzoRIP8AiiQxtFMafXKD7T7HTJIkOu3H0VVJkshI0RiSn0ZalcraqgZkycvzkySJFFXBsB2ipo2uSF4Kyh4es/x0P/+cNIjfvPwVFzy7iFuP68ORPbwygH5NoSySYNm2Oobkp+/Rdm3H5dP1VTQYFq7rvRe/KpPqU1hRFqE6ZqApCkPyW3d0dF2Xks211MXNNoNj2JGveMrZU5Ij5JbjUhk16Jjqo2f2jhzwplrJ8WYNYxzH4YorrmDNmjVkZGSQnZ3N1VdfLeopC4ck13VZXRFlVXmEFFXBp8ik+mRWlNVjO9Ax1Zs0vCcX0o7j8k1ZhBVlETL8Cpkp+6b0o1eh4rQ27/5QMAIm/Aq2r4H5M5AkiZ59+/Hzqx6jqsGgICvQ5rwPQRAOLSJA/gFG7KK19P8yv6bQv0MqBVkBFFmiPmGRsBxK6+KURQz65YaQJFhX1YBflQlqSquR5u8yLD+dBycN5rcvL+WmVxfxjzEhDh/ldeLLC/nYXBOnS0YKWXtQG7kublIbN8kJ6MmZ6U1yQzql9V7TEl2R6ZPrjSZXNRhoikxZJEFd3CSvjTsHTSNPr73wLLZtoWk6j8x8hSGFo1BliQ6pPiobDOoSFmN7ZKEqcrLkX/NuiuAFyffcc4/XnluWcV0Xx3FE/rLQ7jXd7cjOzmZbWTldBx9Ox35D2b5yCYs++yQ55yAn6MOyHcqjBiWbaxjZNaPV97EtruuyoizC+qoGuqS1vnO1N7wKFc2CY0WDEad51XWyu0HZGuTX/gqyjKb7kvMjLNdt0fxIEIRDlwiQhX2qaeSkKVDtlObHtJ3kCa9zut+7HVoTR5IlfN+Tu9x81rgMmM//CfPM2/n1E3N5XJGSI7PpfpXFW+oY2yNrt0ag6uImy7bVE9SUNk/GsiTRMdVP1LBYWxllQ3UUTZaJmjaaLGO7zi6D4yvOm0QivTOkdYKK9VgYLSpwNB2fygaDJVvrKOyawTHHHIOqqjiO49WCdt0WwbLruti2nWxB7rouNTU13/s+BeFAC4fD3HPPPcyZMwfHcZKfY1lRuODSq3juqWleTfTmF46KTE5Qp6rB5MM1lXRO99MvN7TLybfeyHE9G6tjdAjpP/hOXvO/L926d08+9trzz0Agw+sAmtEJDj8bcrpBQy0seIHTC/xMmvFsi8nFNTGDzBSN1L1IFREEof0Q32Rhv2segKb5NYZ1zqBXtoUkwaqyCKX1cWRZItWn4m9Wsq0p2Gw6mZ569hTsTctg4Ryc4afywacLkkGnX1NoMA2Wb6+nX15olxNk6uImy7fXUxU1CfmUZOmnXQnqKkFdxXVdrMb87ahhkaJprVJFLMdl7qcLMYadDmPO9x7cuARp7v+1qMDR9N5KwvMpGHoEKROOYk1FFKcxKN55FLk5x/Fmyruuyz333EOvXr1a5CgLwsEUDocZN24cRhupCY5tM+PRfyZ/bvvCUSNu2ayrakCWJPrlhVptZ1ttnI01DVTFzOQEu93VPCAGWvx9ueOh6eQPPZIZr76D2fkwOO5KSG1sGx2pRH71L0jrF6JqOpOufaXF5GLbcTEdl2H56e0+7U4QhN0jAmThoGhqvzqiawY1MZOoYbFkSx1yikRdwpsM06LBCAaVZWXIkoS7aA7ukBP5Jm94ixPekMJRlEUSVDeYHNE9g4CuUp+wqIwapGgy5REvgE5RFbavWsKb4fmkZ2ZRW12VfP7O22siSRKa4p34gnrrr81XpfX89b1VfGsPgjGDYPu3UL0V+h6Jdd4/eHOTRV7fBB1TfS3yG2VFYettd1NTXYVt2S22KcsyQ4ePYMmihcnAeGcvvviiCJCFdqMpVWh3yIra6sIRwK8qqAGZzTUxOqb6UGWJoE8lkrCImzYLt9QQ0JQ2290357guc5ZvJ166nvrlYTIzM7n3/gewytYhKwr9xp5EomAUWAaJ3AL++JWGtXwxZB0DZx4Dtom0dC4ju2fzsxOOJHTSX9v82wBQHTPplR0UuceC8CMiAmThoMtI0chI0ZBcWFEeJagruEDvYUegaTqmm8AF5n/wDrbjIEUrKahawpfaKH557S0460rQNI3HnpvDkMJR1Ma9Wqg9sgKs2F6P0qDjUxUM2yYn6GP5oi+8NIhEHFxvMqHu83PtbXfxjztubnX79/skLIdb3lrBlto4yhcvYH81D6m2FFwXd+FrcPxvmb3eZtWb3/DY2UN4Y/aO/EbHtnngjhs4/9KrkGUJ1/XSJyRZRtN1fnbt7fSc9xYvPvFwm689bNiwffibEIS907yt+vc5/Sc/3eX3S5UlLMclvL4KF0hP0aiNmciSRFBXSPW1vvPjui6PfbaBBRtrUWSoi1usqWzwFtZ3h9IoXPBPMBM40Sq+yejU4vnW2i9IrdtEfVU5VG+BLd9w1rk/5abbrkmu09b+xi0bXZEpyPphjZcEQWifRKtpod3Iz0jh6J5ZHN4tg8Iu6Rx/7FFcduOfkWQZx3GwTBPXcXBsm3Wz/gZVm3Em/hayu2MaBm/MngVAul+jImrw5eZaZEkiK6DjV2U6pvpRZYmS8HwMIwGNqQyu62Ik4rw39w0M02zREvv7xE2ba1/7mi21cU6VV+J++qw3ctwYeMtl36LPvpEzuyss3VbPX95bDTvdgbVtm2cff9hrQKAoXPir33HldbfwyMxXOXrskXTMzkKSva+qJEn07D8IqTEX+cEHHxQtq4V2o6ioiH/9618oigKShKbrXPir3yHLzU81ErKqg0SyfXxbcoI6uSGf1+TIcckJ6uQE9TaDY8d1efrLzTz++SaWbqujssGbQDtc2gbzZ0DlZrBN77tZugoSDfDxU/DaXfDWffDMNfDKX6h//ylY/AZsWIwqOZxy9pTvfL+O61ITMxnUMbRbEwsFQTh0iBFkoV1RFTn5oRzYIY1sJeHl5O6cl2tb8Po9cO5UGHMevDa1ReDZNIGuJqbg22nSXmHRWGRZxm5KWwhm4eb3Y+mIy6HX2UifPY+6Ntzm7d/mPt9YzZ3vrWZbXYJbJ/ahR9zHuw95I96O4+ACiqJw3a1/4awzx5D68TpmlGzm18f8BGXWf7Etr4OXJElYlg24IEmkpqXx86t2jFoVFo1FVVXMxioX61evALzAPh6P88T0p0Q1C2G/aKrN7bou551/AUcdeSSS5OXcWo7bKqXAdV1yuvfh+MnngwRn/OQ8Ro4azbgTTuaN2bMor6ygpOdZRP3ZvFhTyiv3PcvEMywuHj+U3ruoO67KEqq869SF4m8rmPb5RlaVRzmmZzZ3nzogWXbxgbtms2jBbK9e8R7qN+iw772DVB0z6ZkdJC+1fTWJEgRh74lLXqFdO37Csfh0HVmWkRWFYaOK0PTGpiAV62HJW9BzFEqXgZwy+btHe5oMKRzFDX+5F6nLYPjZA3D5U3DaTcQlH1JGPu6JV1Nw0/M8W5rK16X1bW5j9pKt/Pqlr7Acl3tPG8gZgzoCcOrkKQwYMtwb8W0M7GurqwC4bHQ3hnRKZdoqm6Numoase80EvEl5TTP9W+dlDikcxennnL9j8o/rJicIuq7LjBlP8W7xx3twVAXh+zVNuHv00Ud57LHHOHb8OAYNH8l1d91HyeZaPlxTyba6OLUxE9txefuDj5hy0S+YcvqJvD37Gd5/9QX0xlHVIYWjuOJPd2Oe9Aei/mwoXwdGA/aISczdYnPlS8tYuLl2j/fx7g++5brXv6GqweTWiX34+2k7guOlJQt45vG2U5PAuzAdNGwE4044hXEnnIKstAzCzzj3Z9/52pGEhabI9BCpFYLwoyRGkIV2raioiPvvv59fX3UVjm3zzdJFTL7oUmY/+SiWbSOVvIw69ATSJl33ndUfmjRNwus/8kj85/6FmKvAwlfRNi7m4XvvZPDww3l20Rae+WI9K1dX8N7qCq46soDJh3Xik/VVBHSFVeVRnv5yE71zAjx85mFkB/XGiXenY5kGsqKiqhqObaFqejLg9WsK958xiMtnL6O4IhuOuQTe3XEClyRpl3mZp0yewuuzZ2GZBqqmU3TMsXz4zpvJ8m8zX5vLqCNG77MuiYIwY8aMFhPuHNtmxdKFrFi6ENdxmXz+xSzZWgtIrFryJddfPBkzkUh+D5vSlIYUjuLtlWX8vXgt9XET5YNHsRe9CYCUksqUG++l2OnBTW9+w7SfDKF75u4FnF9squGFJds4siCTu07u32rybEl4fotcaEVROOq4E/nkg/eS381rb5ua/L59Om8uL838L+VlpZxx7gWcdf7Fu3xtw3JoMG3G9sgWE/ME4UdKBMhCu1dZWenlHjfmIa9e/hWO443OSoko9ifPUHnsr7js3qf49x+kXd4WXVqygF9ddB5mryLcml7IoSxuHaZRpeaTfsJgnn3sQTas+5aMrGzqFy9CCmbBhCt46BN46JP1LbY1piCTWyb0Ibuxf63XWMBrLGJbJkedcAqDho5oNeM9za/xn/OG8ZuZYb447ASI1cH8/yA3NhzYVc7jkMJRPDLzlRYlqsIfvp8MmEcWjaVkcw3je+eIMlPCXguHw0yfPn2Xy9956VmMSG3y8z1tzgsY8QRNd0IkSUpeHL6wZCv3Fq+hZ3aACcYSXlr6dnI7bqye5/78a0ac8lNW9P8JF81czMkD8ri8qDvp31GC8eO1ldz4xgp6ZKXwlxP7tVlZpr6urkVq1vmXXsVvb759l5VqBg4dzpgJJ+7yNV3XpT5hETVtFEmisEt6shqPIAg/PuLbLbR72dnZyS5yuq5z/pSfsKzkM2wTkCTspW9D/gDsop8ydf5WHh1ktnly/c8nKzB++k8IpEPFeianb+OMcb9iaarMpT85BduyWj4hsQVevI0xF11Pr+POQVMkCjID5Kf7kLet5M2nH95xkt1p8DorJ4/Tfv5rstvo7KcqMg+fP4bfzfyU8KifkDl6ErJjMjw/lYJBw3d5HJrXXQVaBMxDCkdRFjVoMGyColGBsJc++OADrO+oRLFi2VK+XrwQWVEYdeQxfPbR+y2WH3P8yVz4q9/Sc/AIfvPEAgbkpfLAmYPY8LXNnAd1DKdZS3Xb5svX/oP6aTEdf/Uvnl+yjbWVDfztlAGtmgitKIvwWHgDH6+rYkBeiAfPHNxmLfOd0yukxtx+aP092h0x06Y2bpEb0inICpDqU8lpo1GQIAg/HuJMKrRr4XCYq6++OtlF7je/+Q3x+lqu+dNdVFVWkZOT7ZVme+8h8IdYXVDIb2d9zuj6Eo4cU0SkpooVy5dT2mU0Hzg9kGIbkT6YhrqxhJOefRnwRn9bBcdNHJsvnrmPX54+PnlS3bmBySMzX+GUs6fw2gvPYJkmqqYx9pTJqIrM9voEeam+Vk1FZEni/84tYvbSbUxfsInKmMl7W23Wz15Kj6wA1Q0m54/oTG7Ix7urytlYHeOUgR0Y1ys7uY2dT/QKsLk23mZzBUHYE6PGHIWqadjgXYQ2+350LejJpvVrAS+43Tk4Bhg0dASDRxzOdXOWEzdtbjy2F+l+LXkn5I3Zs3h51gycZkG4XbmZ0xMLCI2fwj+K13DtnOX8YlRXyqMGw/LTqE/YyXKKFxZ24dLR3dpsCLS0ZAHT7vtbq/SK75t0uzPLdiiLGsgShHSVooLMPWplLwjCoU0EyEK71tR4oKlRxn333YfjOGi6zp1PvMAxY4+kd/+BjSOpY3h3i8XMbw2+LkvliUffhC6DwT8QNtgM9tXTx1pIdUEa2YefCzRrK7sTr50zgItjW8mSbyXh+ZRu3ZxsYGK6Cabd9zcu+/2NPPbcHMLzP6J/YRFHHTmGPrkhtvx/e/cdH1WZNXD8d++dmXRCGi10qYGEaugSBBRFQQQEy4JlxbWsa111XVfXhnV39bXvuqirgFKUpliAIEgohhJ6ByEJIb1Pvc/7x5DJhIQixYRwvp+Pfzi5c+feJzyTM8+c55zCcvbnldMo1FYtSLYaOjf2iGV8t2boGny/K5tp6w7x/a4cAH4+btPSsr25xDcJIzLYxqUtw5nYPZa01LUsmj2T3JyjREbH0P/qcTQZcwWhARaME7Tpra9SUlJITk4mKSlJqnqcBY+paBHXnZf+O5u9G9dwJOMwc6d/jDJNdF2nQcOGJ32+1RZA18QBvLhkDz/uy+ORpLZ0bhzm+3nFB7uOXRN4+a+P+AJZi9VG7/4DSejWjFCbhZeW7uH+r7ZWOXewBa4zdpAUHECQtU2116748FpRxlHTNHTD4M/PvXrKVWOlvBvvAJweE7ep6BATSqBFJzY8EIuUcRPioiIBsqjTkpKSsNlsOJ1ONE3D4/F4g2Wnk90bVtOzd58qK6mLZj8EP++FyyZDk/bek2TuhH3r2J76JVtND8o00XSdhbNnettX+600RURG0+3SPvRPGsbrf/+LL8c3PCLSt2psGAaGYfHlRa9ZkUzq6p8Yet1Exk28icsGDqBtVAiGrhEeZMVq6GzPKkbXNRqHVl9N3rZhnS9VYuYtiRTb3VgMjS1Hiil1uAkPstI+OoTZaZl8tzOb5ftyWb4vl/U7D7Diyet9TUcAFsyajq7NZVjSIOKbNjj/v6A6IiUlhSFDhuB0OrHZbCxbtkyC5DNQ5nSTeriQEqebAf37c9nAAaSlrq2yQbRX30Fs27Shxk2xPRL7c8tDf+O9A4FsyjjCjd2bMaFbsxpf6/qbb6Vdpzg+efdN38a4inl8dedGXNY2ksU7jmJ3m9jdJiVH0/ni8ZuZV1rIgn/q3Pz7ewlr0KBKN8zUlJXecojH5niPfpdx872P0Ll7bwrKXQRZDYodbgxNIyzAwNA1sktduDwmLruLVtHeP4nNgizEhgcSXENusxDi4iCzX9Rp/fr1Y8mSJSQnJxMVFcUDDzzgC4LGjbwCu9tDkEf3re7k5hyFnT96/wtvAqV54Hai6zomoI6tRCvTxO1yggKr1YYb7x//1z/8zPdHunJlemCVttcakNCrDxvWrvKeSylcTieLv/iEZfM+Z9myZbSPqQzO2kWHYDV0Sp1ufsm30yi08mvamtI1Kl7/0hZVV+puvbQFt17aArvbw8tL97JgWxb0Hg+rplORBO12udj2cwoJvRJxxpjYLBfHqtcrr7yCw+HdJOlwOPjkk08kQD4DW48U43SbVdo4+28QDY+I5PW//6VKyr1uGHSO787oCbdw3U2Tuf/LLWzKKODxIZcw7gTBsb+UH5fidDrYsWUT4A2ca9pIN+2t2bhKC1Gmicc0+eS9N3znqOiGed9fn8ewWFAuE6vFyhNPPkXSoAEYusbhQjuZRQ4ahwWga5Bb5sLpNgm26XRuFE55gYdWLU6+Oi6EuHhIgCzqvH79+vmCnfj4+Cpfox/OL+fzxUvZv3EN4RGR/LTs+8onFh4BQNN1rhw1jqWLF+B0eDcHaZqOxWpj5LiJjBw3kdSUlcQn9ieyXTylTjchNkuVlek9O7ahaxpK01DAxnU1d6+rKTjTNI3WkcGYpqLI7qbI7vJtLPIPvN1UlsU6mUCLwZPD2pOfm83KvhOgcxL88A4c3IBhsdB/0GV4lGLdoQL6toqod6kWFakUUVFR5ObmEhUVxYIFC2r7si54uaVOskscND6u6UWJw80L2wyO6H1pkF2AY/AUaNUd9q6lB4e54w/3csDWnBKPYsqsNDZmFPHAoDYnDI49piKv3EmI1eLralkR9L7y1KMcPnjA11nSZgvwfWis1g0cx78AACAASURBVODHT0U3zK1pG9F84bsitmGQbzNdRLCNLo0Vut98UEqhFOi6RkZx/ZonQoizIwGyuKD4B8sAv2zfwJO3j8fldKLpmi9XWdM02nfqyu6dW0Epli5ewIRbpzD9P2/j9njQDZ2Hn36RhF6JuD0mrbr0wO42iQ6xkV/mQsPD7rSf+TllJRGRUbz69OO4j21UUifZ3X8yuq6R0LQBqw7kU+7yEGT1bhzyX8E+3Y1EFl3jnxP78/vn32ZTeDcYNBl+2cToGyq/ps4udbAvt5T2MfVj015FV7dp06bhcrkwTdObY3qsFXkFwzCYNGlSLV7phcftMdmSWVStIkRWsYO/fLODvblltI4IokwPgw4DwBoI3a5iI3D/aiem8m7aC7EZ/HVYe0Z3aXzC1yq0uwi0GJS7TVp3S6wS9Lrd7iorwy6ng0WzZ3rbyGtwxTXXs3jerBrTO5RS7N24Drfb7asPnpycXOX9Qj/uw6KmaUhVRCFETSRAFhe05cuX43Y5MU0POjqGrqOObczZs2ubL6XC5XSwa1saZkXbaqXIz8tjX14ZITaD2AaBtI4MJjzISmG5i4/mfc+fbxuL2+kCjSq77Y9nGAa6ruN2u7FarScNzkICLCS2bMiqA3lYdK1afeNfU35K0zT+dHUiU55+Hfew+zAuHVOljnJkkI09OaU0Cg244BuIpKSkMHToUOx2e5XgqCIQqigDaBgG77zzzkWZXlHu8pBZZKdJWADBNgsrVv7E9M8+BWDSpEknHZOD+WWUuz3E+KVWzNiQznspB1EKXryqE1d0jAEqm+3ExPdnt9aI/HIXHWNC6d6sAa0iggg9QZlBu8tDkcNNaICF7s3CsVk0ElteSUjRW9z/x/u8ZeVqCHy/+ryyLfup7N7lbcOuaRo2m42kpKTTep4QQhxPAmRxQfPfxGdYrTzw1IuUFub7dt776xCXwIa1q32rte179KFNZBAdY8KqFPwPD7JSuGcDbpcL0zxxYNymXQeuGDqEyZMnA5x2BYXwICs9YsPZmFGIoelnVJe1QkKvRN5/5iGeWHKIon4TcJneAKMiiOnSuz+m6kH/1hFndP66oqKayYm6JVasJhvH2gVPnTq13lezUEqxL9f7Ac/QNT7/einrVq2kZ98BtIgI4oZrrvCVZ/v3v//NnXfeWS1QVkpR4nCzK7u0Ss3ul75axewDHjo00Jg6pmeV7nZnWke41Omhd4uGRAXbfCu5ARaDu/9wF927JfDoX/7KT8lVS8a1uqQ9B/bsqnY+Xdfp1f8yWnbswryP3/d9u+N/X3/84x/r9e9fCHF+SYAsLmgVm/iWLVtG1979CWoVR4BFZ+/m9SycPROHww5KoZTi848+4OGnXyTjaDZxvfoxcEB/ujZpUGOr2OFDL+eF557FWdPK8bHVqU8+msbAAf2rXMvpatIgkMFBVtb9ks/REgfBVuOEK2+nomka+d+8j+u6v3HPGzN57Krt3trQxzb+3fOX5/i2rIikxJ5cP2b0Gb1GbUtKSvJ+FX+SlXylFC6Xi/vuuw/TNLHZbCxZsqTeBkmFdjcbM4qwGRq7NqXyxG1jcTkdfPqWQVyPS6vULvZ4PLz33nv8+9//5p133mHKlCmAt/GGVmYj0KL7ctVXpqxh9l4HpG/lwOLXKOz2BZzhBzjwpm+UONz0btHwpM01unZsz5qfVuB2eVeLLVYrN97+B159+rEqlVo0Xcdis3HXQ48zengSwy9N4N5776n2b2Pjxo1nfM1CCCEBsrjg+ecl55U5WXMw35e68PbLz7J+bQrKNHG5nBzOOsqU+x+mQ0wo0SG2E7Zl7tevH7fffjvvvfce4A1Chw8fztixY8nNzT0nq5NBVoPElhHklTk5XGjnaIm3CoNF1wi2GpQ4PZgKGgZasFl0nO6aq1KkpqzEc3ADbF2Kp+doFiTPqFKn+c1nH0eZig+sVpYuXUL//v2rneNCYNawOasaTcPt8Zbys9vt9bKahetYvnBWsZOoICthgRY+/maOr9W56fGw5efVNT7X4/Fwzz330KlzFzp170XK2nXs37mdJo1i2LklDTRYH9oNglrD0vfxlJec1sbRk8m3u7zz7QTBcUX6jNPpLaE4evRojNBIkq4dR2iAhVHjbyY35yhRMY1oHxdPVnYuE0ddyRVJgwDIy8ut8bxjx44942sWQggJkEW90jDQSliglbwyFwm9Ehl/x91s2ZiK61iHuxtGXkH/1pEnDIz99ehR2fZZKcXYsWN9K2/nSqDVoFl4EM3CgyhxuHG4TXJKneSUOmgfHUKQVSctsxiPXeExFSE2o1ob7YqNfq4V0zBb92Brh3GY69eh5Rw81gXNAyhcLpi/+IcLMkBOTk6ukl6hGwaDhl7JyqXf+/JTdcPg5jvvZeZ/3/PWwlWKadOmnTL/9kKTV+Yis8hBo9DKD3i52UdP+/kej4fHn3mB6++4h+f+dCcul9OXq0/L7jBuDNr6eZCfjv4rNo7WpMThrQjTMiLohMdUpM9UrAD36dOH+x58lOkLf+APN47G7XRhsVl56b+z6dCtN20ig4hrUlnj+/ha6T179uSOO+4453NVCHFxkQBZ1Ctr1qwmeekyGnXuhSeuB53iuzP1v7PZ+nMK1189nKuHDj7tc+Xm5voqJOi6Tm5uzStV50pogIXQAIgKsdGRysoTDQKtlDo9uE3FpoxC8sqcmMpbMSDIalRp3zt33nOY41+Efjeh5r8Apk5FjWRN02jSuZevgsaFwmMquvTuh8Vmw+X01rR+7LlXffVyKyocjBw7kYReiZSVFDP3s4+8pb+cznqziqyUYnd2KYcL7YQGGL7gOC11bdXyhsdp064jv+zfUyUFIWXpN9isGm7/4DiyOYz4E+Qdhp8qukvWnPN9OhxukzKXyYA2ESftQucf4FZsrNuyYR1z//1P3Me6aLocJqu/mcONI4cSc9xKtH+t9Pqedy6E+O1IgCzqDf+vam02G998+x2dW7dhcMIVhE24+lfXA05KSiIgIKDKH+7aEBJgIeRYfnJ4oIX0QjuaBkdLHOSUOokOsZHQK5HUlJWoI3tgzSwY+DuIvwK1+TvfeZQyMQyNlfvy6Nc64oxzns8ldawdcAX/dtE5JQ5W/LicFvGJtIvvyf99+hVpa3+qUu2jpg1jI8dO5KuZ/8NzrNxXfVlFPpRfzq6cEiKDbAT4pdosmjPTl7frT9d1rLYAnnr1TQAev/s2jh7J8P18+6aNGBYLuN2YmgEjHgTdAgtfQbkceNuse351ioWpFPnlLnRNo3eL8Gql4453fIALMHToUBwOhy+tRinFvC+m88Ddd9Kkht/j8eUfhRDibNX+X0ghzhH/r2qdTierVq6g/SVtaXiGJc7q4spUSICFDo28q8tto0L4+VA++eVOX01lw2LBs3Y2tOwGl90G+3+GkjwATFOxfP5sNq5ZxaGBg5g0avhJV/bOJ7vLw46jxRTavW1/g6wG+zanMmnstThdTnRNwzy2udJmC+Dhp1/0tRM+nWDNPx3D5XJVq4d7oTBNRbnLw+FCO3tySokJCcCiV64cL5o9k68+/9R3v4bFynUTb6Fjl4Rq4/X7Pz3Ki0886Dt3RbDcI7E/eX1v46ClMXz9GkZBOrrNhulxV6nNXe7y4PYoQgMMXB6FyzQJOa4Vc5nTQ7HTTZvIYNpGBRNgOb1vKvwD3KlTp+I8tnLs70L+PQohLjwSIIt6o6avas9WXV6ZMnSN7rHhpBzIJ6fUSdeel/LvWYv45N03SU9PZl+LLniG3QNfPe893mIwf9Z0PB43n77zOtHzv2HU8KTzeo0lDjfZJU5shoaha2QW2Sl2uHGb4DFNAiw6Lo+J26P4+oelOI51VfMPjRz2cl556lFMpaq1465JasrKKgGypusMuuz0U2vqku1ZxRzML0fTNBqF2tD90iruvvE6X5UWAKJacPVVV/HEiy/XeK7rb74VgP+88WqVleQNuR6wNGZMK4NmowbTq9+TAL7a3G279iSrxEGIzaBhsJXMIjsepbAZBmUuJxreVWOn2yTAYtC/deQZfyiFynl8fM1rwzCkrrEQ4jcjAbKoN2pa8c3IyDj1Ey9gARaDQW2j2J5VTFaxnYReibz2H29ziP+lHuYNzaD9Xa8TX7oFZ3kZX381+1hba/j6uyWMHDr4vLWizitzknIgD00DHQ00CDB0dE3DZmgEBdqqHN+sUUxlPuxxKurcupSjxq/81x0qoFVEEI1CA+jVbyA2WwBOhx00jUEjRvP1dz9g6Fqd/bBTk4JyF4cKy4nxC4wrVLRoJiQCYtpCo0ug30QW6Aaub3Zw34DWBFoNwgMtVVJYrr/5VnZuTWPOp9O8D1iD4PIpBJXl8Nio0ViMyg2cCb0SKSh3YugaA1pHEhZgQdc1OjcOpcjuJthqUOby5jUbuka504PNop9VcAyV89i/a6Ku67z11lsX1O9PCHFhkwBZ1Ct1ecX3fDF0jbZRwRwuKMdjKl/Ae2OPWFIO5rP2l/bcPGYkkZkb+H7RfF+jlI49+7LlSBGtI4LPWac9h9vDwfxygiw6W44U0zDISuBpfs2+c2vaKY8xTZPwiEj25JTy475c8stcZBQ5WL7Pu4HytktbcE//S3n46Rd55alHcXs8JC+cw/Kvv+Rfr77EkiVLaNWq1Vnd4/lkd3lIL7SzP7cMp8ckxGZUCY4r0ir27dmJGvEgdKpcGbe6y+nRqinf7sxm8c5sAMZ0bcJDg9tW2ZQ5cuxEvpzxCaYlEEY8AGExjG94GIuh+xrM9Oo3kNjO3bHqGr1bNKxSKzzAYhAT6v3/EP889speImetYh5PmjSpTqU4CSEuHhIgC1EPBNsstI8JYU9OGdEh3pVZi67x9piuTJ65kVeW7eVfV8RVa2udXmgnvdDOZW2jznrTnt3lYe0vBRSUe3OIo4JtNdZtrsnczz7iqxmf1Pgz3TBQpolSCl3XOZxXwtuz0yi0e1eVY8MD6duyIS5TMW3dITKK7DTPK6xsKw4o08ThcJCcnOzrfHim8sucZJU4CLIYtIo8d1GhUoptR4o5VFhOdIiNCEvVDy1pqWu5a8K13qYZl471BseZO2H9fDi0mVFjxvDEI/8gvdDO19uz+Gx9Ol9uOcKhgnKeGt4Bl8ekVUQQCb0SeeQ/C/nnhiJcliAGBOdx/603+tI2KhrMvPrRbO4eN6LW8tTh4vzAK4SoGyRAFqKeaNEwmH25ZbhN5dvIpWkar10bx++mb+CFlZl89rveVdITGocGkF/uZEdWMT2aNzyjdAuXx8TlMdlwuBCXxyQ2/MQ1b2uSlrqWl5961FeGTNM0Bg+/mqiYRqBBxy4JvPbC33E1j4dWPfhcdcPj9PD8iI4M7xDju2ZTeQPk91MOYqqeWDoORG3/0ZfHapomYeENf/X9+atoRGMq7wcQQ4cjRQ4CrQZxjcN8LZR/DaUUeWUudmaXUFjuIrZBYI11ulNTVuJq3BEG/A6adYKdK+Gbf4DpxmqzMXLcRMD7geHOvq34fZ+WzN18hFeT9zJ62joA2kYF07lRKD8dUBiBITwzqAlXdhtUef6KBjM4ydz2Mxbj6rMYLSGEuHBJgCxEPWGz6LSNCmbLkRIig6wE27xfgzcKDeDvV3bkvi+38MaP+3ns8nZVnhcRZONoiYPcUieNwk7cCrgmdpeH9YcLKbK7sRrQMMh26icdJzVlZZWKBYZhMOnu+32BfG6pky+d7dheqFBA39ZRPDi4Dc2PC8R1TeOOxJYktmjIfV9uIeS6h2nZOIjU5G99q8/70rN+9fVVKCh3seZgPg0CLQRaDIrsLrYeKcFqaBwtcdIw0ErzkzTEOJFDBeVsziwiLMBCo5O0Yk5v1hfGXwr2Ylj2AWxY6K1acdNtvhrQ/jRNY2xCUwa2iWTWpgx+3J9HYbmLb3dm06t5OA9e1pZoSnzHVzSccSoHmqbROrbJr74XIYSoLyRAFqIeadEwmPRCB3llToJtlcFa31YRjOscway0TDZt3syfBzSje+8+vp+HBVj4+XABUcE22kQG0Sgs8JSvVZFSUe7yEH6sHfapVOS4hkdEUpifR3hEJEfSD2OxWPG4XWi6zp+fexVbizgeX7Sd/Xll7M0tA2Bk50Y8MvgSwgJP/rYV37QB/xrdhT/M2UzCyD9iS1mO2+XNu26VkIjH/HXNLzymosjuYnNmMWEBFl9OtX993wCLh315ZTRpEPCrUhLsLg87skqI9ivfVpOf9uex8JAH7cgu1JfPoTmKGXzlSCb94f5Tlr1rHBbAfQPbcN/ANt7mKR7lq6NckFMZICf0SuTeJ5/jjb8/jjJNHnjgAeLj4yXFQQhxUZIAWYh6xGbR6d86giV7cih1uqvUqe2nH2buvq3sapvIH557kw/+9idfcBVkNQi06JS7TNanF5J0ibXKxix/pqnILLKzLasYXdd8Oc+nsmbNGh6cPA6XvcybGtzjGnDZ4chu9Na9sVz+e6IbhLAyrBlvz91Mod1Np0ah3DegNX1bRdCpUegpX6NCj9hwrugQw/K9ubz08ZfsSfU2GInt1J1fCgpp0fy0T8XRYjurDhYQHmgh4gSbGQMtBrml3vSL7rHhVTevnUB+mZMN6UUYhnbC4PhIkZ33Ug7y9Y6jRKgy8hZMhfJCdMOgS7eev6qBB3hXlQMsNb+W21Tk5+WDUpimidPplLrDQoiLlgTIQtQzFkMnsUVD1v1SgM0wsR5b0dy6YS1q4Vtw/bO4L/s9S1atqxJgaZpGsM3A7jbZmV1C3p40Vvz4I8OHXu4LkgrLXWxIL6Tc5SEiyOo7d01ySp3szS3F0DQK7W6eTinF+YfpUJDpPaBhU9+xJuAEMgryKNfz6N0qmjv7tKRddMgZj8Pv+7Tgu13ZLC+N4a/3PQR48333HfKmk0SdRmBvmoq9uWU0CbWd8ANDhagQG8V2NykH8xnQJvKE7bw9piIto5DMYgfhARYCrTW/DX+/K5snvt4BeFfPr4ko4IF3ynAbRpUGHudKfrmTq4YPYeZ7/6j17pFCCFHbJEAWoh6KCLbRpUkYaZlFvrzW7r0SsVksuL55FfPW91gf1q3Khj7fc4MsLF2+kiduH4fL6WLqCy+w4JtvSRo0gG1ZxWhw0lxZgCPFDqbM2kRGkcPvUSvaoTSUpkN5MaR9C3mHITQSSvPh8BYMt52bHv4Lt4186KzHoFVEMBO6NWPGhnTGJTSlU6NQNE0jzGawPauYAW0ia9wM5y+r2E6Rw03jU9xvhbBAC7mlTvblltEhJqTaBwjTVBzIKyOjyFGl8cfxNmcW8cqyvUQFW3n7+njfB4Xjq5D4U0phd5snDMxPpsTh/bZh2BVDaF7HukcKIURtOG8B8u23387ChQtp1KgRW7ZsASAvL48JEyZw4MABWrduzRdffEFERATgbS/64YcfYhgGb775JldeeeX5ujQhLgrNwgPJLHZQUO6iYZCVuG49eHfGVyyaPZMD5VtJLejFo5+vIirtSwzN9G300jSNvRvX4HK5ME0PTpeT6fO/xdYijnKX54QpFcV2N/O2HmHF/jw2ZRThNhXjE5oS1ziM1pFBOA9vZ8b7KWQfPYLL6WTXts1Vnq9pGpaAwHO6Mnpnn5Z8vSOLhxds47ObetAwyIrNolPscJNV7KBJg5pzrYvtbuxuD9uySogI/HU1osMDLezMLibUVrUMnMtjsj+3jF3ZpcSEWGsMjjdnFvH5xgy+351Dk9AA/jk6jrZRlavoCb0SawyMtWOr9CUON6EBll/VrMPpNil3exjYJgqLoUtpNSGEAM5bgctbb72VxYsXV3nspZdeYujQoezevZuhQ4fy0ksvAbBt2zZmzpzJ1q1bWbx4Mffcc4+v5JMQ4sxomkZc41Bcponbb2Pawjkz2TDtefQN81mRZfKV2Yk5n37EXRNGkZa6FqisaKDrOpqmEREZiQYnDI5zS53c+vlG/rViP3tyShkT34QFt1/KY5e349oujVEZO7jvxlEkf7eIrRtT2b1ja5Xn67rO9Tffeso20v6UUuzLK8XtMSl3eTha4uBoiaPKMWGBFl69Jo6sYgeLth/1PR4eaGXdoQKyjzu+4rwb0wtYuS8XhTevOy11LdPe+gcbfl7D19uPMndzJkeK7DVel8XQaRoayNasYvbmlLAxvYDMIjvJe3PZn1dGo1BbjRv5kvfkcNvnm/huVzZXdozhfzd1Z+PiWdx3y/XM/eyjGl+r2O5mf145WcUOHG7TF5BnlTjILnWcckOiUpBX7qRHs/CzroMthBD1yXl7R7zssss4cOBAlcfmzZtHcnIyAJMnTyYpKYmXX36ZefPmMXHiRAICAmjTpg3t2rVj7dq1soohxFkKtlmIaxzG5sxibGbVWrck/xdcTkgcB/0m4l4909fGOaFXoq8bncc0efuFv9K1a9cag9eCchf3frmZrGIHz43oyPD20dUCwNSUlbhdLt//K9PEMAw8Hg+6YfD4869x/c23nvZ9mUqRUWSncWggeeUugqwGiS0j2JtT6lsxr9AjNpwujcP4fGM6YxO8pcsCLDphNgu/5HubcvinWhTZ3ZQ4PbSM8AabvgYdLhf60LsxE0YAYNGgc0MdV8FR/ti3GX36VFYFsVl0ooJt7MkpxelRpBfaT9pV8OdDBTz3w24igqz8e3wCrSODefPFZ/jkvTcAWP3jMg4fPMD9f3nG95ycUm9DlmbhATQNCyQi2EpEsI1yl4cSh5tCu5vtWcWE2Sw1Vv4ocbgpKHfRs2UYjU+wki6EEBer33TJICsri6ZNvRtzmjZtytGj3hWd9PR0+vbt6zuuefPmpKen13iODz74gA8++ACAI0eOkJGRUeXn2dnZ5+PSLygyBpVkLLyTPIZydh49SsfOcRi6tzOdruuolOmYYdHQdwL64TQ6do6jICeLbZs28O282Xg8JkqZuFxOVi5ZTEu/Ns0eUzF3Rz4fbsxBQ+P5Ic0ISl/PB/PX0r1XInHdeviO7dg5DovFisvlBMBqs3Hfo09SWFjgO7Yg5+Q1it2mwuU2sRg6RQ4XseFBNLW4sQXq6JoHR2EO0XjILihhX7aHAIvmq+IxqWsDHluSzpc/72VQ9LFvpxTsPerCXpCNw2Pi8kCzBgFkFNlxujwU2L3P/fCNV7zd63qM8gbH25Nhyw942vVlc+ckCIzm3umr+OOGtbRv356NqZX3b6HyTdbugOPXnEucHv6xOosVv5TQItzGc0nNyNjwIx8t/IpFc7+ocuz/Pvg/evfpS6f4HpS53QRaDNpGh6BrGgFOB+VOKC+oPD4Y6BTiZltWHrkeE4+CBgEWrIYGCvLLXTSzOQh0FpKRUXjqf0j1nLxXeMk4VJKxqHQxjkWd+E6totOVvxNtnpkyZQpTpkwBoHfv3jRr1qzaMTU9drGRMagkYwFNmyoKy90UFheDpqGUwlSmNw922QfQvCuMf4E1ZTaSX3+ZBbOm43a7UMobSFutNgYOHUHD6Ma+c7790wGmrc+hY0wIjw1pB5k7uPvu232tiv3TJfoPHcH7Xyxg0eyZoFFjY4uTcZuKI0V2LEEapqYxsF0DmjWsuSlHbKyH7VklHC4op0FYALqmcXmUouX6PL47UMaIS5r47iNcKXLLnNg1hW6BX1wQGh5K9LF0g7TUtaSsSIZe18Flt8LuVfDNPwGFOpTmHbueoyDp9/xf8kwsrz6HaZrV7r8m+/PKuGPeJoocbq6Pb8L9A9uwb8t6Hr37dhwOu69NdgVlKj784D1uvOdheiX2PWmlDH+tmpt4lKLY7iItsxiHx0QD2jUOoJFWJvPDj4yFl4xDJRmLShfbWPymAXLjxo3JzMykadOmZGZm0qhRI8C7Ynzo0CHfcYcPH77ofhFCnE+aptE2Opjpn/7kS3VQpokHwFMCnz1I+M3P89neVpBugNObm6vrOokDBzPlwcd9wZ5SijlpmXySepj+rSP4x6guWHSNaXMr0zfcOH3pGv6axDavsQJDTTymoqDchalA06BDTCjBNoNGYQEnDQwDLAbdY8MJshocyCvzpVAMjnTxv73lzF6ZzZ1jmvjGJTrkxBUq1q1aiTnyMWjXF/ashsXe4LiK9fOhcTvocwPu3EOwcwVO086i2TNPeJ8lDjcPL9iGrsM713clsaV3s3JFCszxwbGXIm3NCnZtXMvib78nqMOAk45fhYoGLkFWg8uCbHiUwmbo6BpkZpad1jmEEOJic9426dVk1KhRfPzxxwB8/PHHjB492vf4zJkzcTgc7N+/n927d5OY+OsK4AshTi7IanDtiGHoNdUuLisk/78PQNo33hXRgZPQNA2rLcAXHNvdHt5ZdYBrPlzLS8v20rdlQ168qpOvTFzFxj7juDq9aalrmfrEQ9w1YRTvvv4id994nW8zoMdU2N3elAeH27vZLrvU2wkwq8RBRLCVpHZRXNExhs5NwmgVGXzaZczaRgVjKoVSirTUtXz+6A2Qn8EH64+y8ec1p3UOT7t+3uA4bTHa168y6Y4/oBs1vP73b0H6dhj5KAy9G6Vg/qzpvvv0V+Jw85evd5BeaOeVkXG+4BiguKgI5dd2W9M0DIuFTgk90XQddayBx08rfzyt6z+ezaITZDUwdO2UJe6EEOJidt5WkG+88UaSk5PJycmhefPm/P3vf+fxxx/nhhtu4MMPP6Rly5bMmjULgC5dunDDDTcQFxeHxWLh7bffxqjpj5AQ4qxcf+UQ3njz//jT/X/0BmKahukxAYWmFPqKj/BYgyBxHOFx/Wgc25wlpdFk7jzKsj25/LA7h8ahNh4Z3Jbx3Zph+NVQrtjYt/Sb+Vx+1SgSeiWyYd0a7rt5TJWUATdO1q5aQYvO3XF6FG5TEREEhQ4XwVaDdlHevFoTRbvo0++edzyroRMdYqPA7vJuEnSUw8pPUNc+zr9+OsS0YyXtTuRgfhmf7XVDzgFY+j4Wi0HSlVeTunolWzemVj3Y0jubnAAAFA9JREFU7YR5z8O1T0C3q6AgE/f6edVWkdf8ks8z3+4iu9TJI0lt6dk83Pcz/0154F29v2bCJAZdM5aIQCv33DgKl8uFYRjSwEMIIc6z8xYgz5gxo8bHlyxZUuPjTz75JE8++eT5uhwhxDH33v0HunbtyowF3xIaHsFbz/8Vl9OBputccdW1fPf123jyMyjoPpKCQsXO9d4Ns4YGPbRMRgSWUfTTT2w1q6ZKpKWu5fW//wWXy0nq6p9YlfwDGRkZ1fJpdcOg66X9aRERTGx4IIcKyim2u+kWGU6LiJrzis9UfNMGbMks4pLufbBabbj2rYEdy9nSaTCbMoroHhte4/N2Z5fy50Xb8LhdaAteQpkeTI83BWL0hFuOC5A1dEOnVcvm7J/zNxj9JAy+HZW1h/mzptOxawKF+Xk07z6Ap9a70DT41+guDGwT6Ru3RbNnMnf6R1WuwTRNIho347bRV7ArLdUXzMvKrxBCnH91YpOeEOK3NXjQQHol9mXFvlwA3njmMTymyXcL52KaJqyeib7+K0beMImwpq1wh0Tz1T+fZGNxHhtME9Cw2mw8+veXKMzPo1e/gVVKyJkeD8nfLqr2upqmcfttt3Hv+Kt8j3VuHHbe7jPQatCzeUPWWHSuun4Chq7Rd0hvXthn4bkfdvPZTT2qtZBe+0s+jy3ytnge3/AoM4qPYuq6L22k4kPB0m/m0yEugbAGDXzpJHdNuBbXwpdh0ltw3VO4Ni5i6uc/oEKjoKQzASGhzLk1kSZh3rxnbwm5Ubic1esxWyxWrr1yKFEhNpKTk3G73SilcLvdJCcnSxlMIYQ4jyRAFuIiFRpgoWuTBnyRk4tpKpRpYh7ryqbpOgYmi7/4GI/HjaZpmKbplx+rcDkdvPzXR1CA1Wrj4adfxDAMb43lGui6TkBAAJMnT/7N7hFgzZrVPDJpLE6nE6vNxuChV3DHJRqvbynn+XlreG5sP9+qbF6Zk4cXbMNm6Py5i8azdzyE51hJvIefftEXHF930+Qa6zaPuuFm5nw6DT5/HK59DBLHVW7pO7yVwSUZNAkbRFrqWlJTVrIqeUn14FjT6Na7L88+/yKjrkgCICkpCZvNhtPpxGazSYqFEEKcZxIgi3ojJSWF5ORkkpKSZHXtNLWICOK6EcOZ/t4/cDuVNwgGDMNgwJDh/PjDYl/Aq+v68fUb8BzLX3bjZNPGDVzSqSs70tZXex1N0xg2bBjPPPPMb/67SU5O9q5smx7cLiffLfyK7xfNh6QpLGYoyW+tJKFZQy6JDmbpnlycHsWTCRrTX/krDrsd8JbRKMzPQynF0RIn3nhaIyzAqLJpcOTYiSycPRNnWT7qiyehbW/wuCDvMBQeJeyWW0lLXcvdN16H0+mosiEPoEN8D/7xj38wclhSlcf79evHkiVL5N+3EEL8RiRAFvVCSkoKQ4cO9a2wLVmyRIKI03TN8MH885Mv+ej/XuHnn5Z7gzaliIpuVGVF2Kyh9Jhh6L6g+tu5M3zHalrVKgkBAQG1EhxD5eqrw+nEYrWSn5uD02GHxW+g5R3GPnAyaw8VsPZQAW0jg+lZtpanbnm+Sn123bDQq99AcsqctGgYSKfGYeSVudidXUJ6oZ1Ai05UiI2EXom8O+MrFs2eyVeff4pnz2rfOSxWKyPHTmTRnJk4HfZq9d81Xef1GoLjCv369ZN/00II8RuRAFnUC8nJyTidTjweD06nU3I0fwVD17jhqiGUudykrVuN2+XEYrUxctxE0GDOpx8BqlptXl3X8RwLiNWxvOOKxytWizdv3sycOXMYO3Zsrf0+KlZf3/33f9nzSzqrk7/zBaf6+vm89/iddOrWm2KHm+VfzeDld56rdo5R42+ieefuhAdaiWvSAEPXaBwWQEyIjSKHm7SMQnJKHUSHBPhadaPB3M8+Qh1LWxl9wy3s2bGNr2Z8UmNzpCuvGsk1JwiOhRBC/LYkQBb1guRonp3o0ABGDh2M/t9Z7Nu4xrcZbc+Obfg3xjAMC6bpQdP1GnONNU3zrRYDPPDAAzidTlasWEF8fHytfmiZPfMzysuPpUwcY3rcrPjuGxbP+Rw02LElrdrzrLYA+o8cS3igle6x4VVK2+m6RsMgKwPaRLH2l3yK7W7CAr1vqxXpFhUfODp2TeDlpx71fajwPl9HKYXNZuNvTz5x/m5eCCHEryIBsqgXJEfz7HWICaVkQH/ievTGqnubiRTm5/kaVHjr8t5CUGQTXOXFzPnw7SrPNwyDO++8k0mTJtGvXz+mTp1aZ1b1K75hOL4LnlKqSu1hTa/aRKVHYn9+98BfuHZ4EpdEBZ+wxJqhayQ0bcCKfbnoTgi2Gr50i9SUlYRHRDJv5qd43O7K51gsPPDMy4SrcoYNvVz+zQohRB0iAbKoNyRH8+wYukZCswbszi7lSLEDh9skIXEANluAbxV04NVj6de/P4s+ehtN0ypTFXSdd955hylTpvjOV5dW9X15yA6Ht4zdCSjTpGlsSyJjYhg94RauuuF3uDyKVhFBp6w/HHKsKsi2oyW4PG4aBll9VS/umnAtLqezyvHjb7ubZx+9n2CbvA0LIURdI+/MQgifAItB16YNCA0oY9uRYuJ69Oal/85i47pVJFzan0ED+tOreUP0EcP416tTcTgc6LrO22+/XSU4hrq1qu9/LYZhMP+HZFKWfldjmkhm+iHycrNp26EzRQ43/VpFYK2pPXcNmkcEERpoYdX+PEyl0DXN28XP5ap2bMcWjSU4FkKIOkrenYUQ1bRsGERseCBWQ6df66spG3Mlho4voDvd4LcurepXXEtGRga33fMn/rfgB1YsnM38z/93XKCscLmcLFu+nGcGDSAi2ParXqdhkJX2MSHszimhcWgg3fsMwGK1VllBDggI4Mphl5+jOxNCCHGuSYAshKhG1zV0vCkFhq75Np75q0vB768VExrAuCuHENejN6PG38ii2TPJzTnKT8t+wONxY7Va6T9wELENz6z19SVRIZS5PBwusBPdPoEXp81l6bwvKMrLpmPrFvz+9lsv2LETQoiLgQTIQoiLUpMGgezNLaNNl5480SsRh9tkzeoUNq79iTEjhnPl5ZdVaQLya+i6RnyTBgRbDXRNY0CbYdw7fgSBFv2UucxCCCFqnwTIQoiLks2i06dVQ1IPF5JV4mD7hp/J2ZHKTaNGMHzwIHT97AJZXddoHxN6jq5WCCHEb+n0dp4IIUQ9FGyz0LdVBMaRnTz1+/G8+uKzjBk5gjVrVp/6yUIIIeotCZCFEBc1q6GzfvVP1Wo2CyGEuHhJgCyEuOhV1Ek2DKPWazYLIYSofZKDLIS46NWlms1CCCFqnwTIQgjBhV22TgghxLklKRZCCCGEEEL4kQBZCCGEEEIIPxIgCyGEEEII4UcCZCGEEEIIIfxIgCyEEEIIIYQfCZCFEEIIIYTwIwGyEEIIIYQQfiRAFkIIIYQQwo8EyEIIIYQQQviRAFkIIYQQQgg/EiALIYQQQgjhRwJkIYQQQggh/EiALIQQQgghhB9NKaVq+yLOVHR0NK1bt67yWHZ2NjExMbVzQXWEjEElGYtKMhZeMg6VZCwqyVh4yThUkrGoVJ/H4sCBA+Tk5FR7/IIOkGvSu3dvfv7559q+jFolY1BJxqKSjIWXjEMlGYtKMhZeMg6VZCwqXYxjISkWQgghhBBC+JEAWQghhBBCCD/GM88880xtX8S51qtXr9q+hFonY1BJxqKSjIWXjEMlGYtKMhZeMg6VZCwqXWxjUe9ykIUQQgghhDgbkmIhhBBCCCGEHwmQhRBCCCGE8FOrAfKhQ4cYMmQInTt3pkuXLrzxxhsA5OXlMXz4cNq3b8/w4cPJz88HIDc3lyFDhhAaGsp9991X5VxJSUl07NiR7t270717d44ePVrja6amphIfH0+7du24//77qcgw+fHHH+nZsycWi4XZs2efx7uuri6Nw0cffURMTIzv+f/5z3/O451XV5fG4uDBgwwdOpSEhASSkpI4fPjwebzz6s7lWDidTqZMmUKHDh3o1KkTc+bMqfE16/v8ONtxqE/z42zHor7Mj+LiYt/vs3v37kRHR/PAAw/U+Jp1bX7UpTGo7bkBdWs8anN+nMv3iRkzZhAfH09CQgIjRoyosV4w1L25cU6oWpSRkaFSU1OVUkoVFRWp9u3bq61bt6pHH31UTZ06VSml1NSpU9Wf//xnpZRSJSUlasWKFerdd99V9957b5VzDR48WK1bt+6Ur3nppZeqVatWKdM01YgRI9TXX3+tlFJq//79atOmTep3v/udmjVr1rm8zVOqS+Mwbdq0auf8LdWlsRg3bpz66KOPlFJKLVmyRN1yyy3n7D5Px7kci7/97W/qySefVEop5fF4VHZ2do2vWd/nx9mOQ32aH2c7FvVpfvjr2bOnWr58eY0/q2vzoy6NQW3PDaXq1njU5vw4V+PgcrlUTEyM773h0UcfVU8//XSNr1nX5sa5UKsB8vFGjRqlvvvuO9WhQweVkZGhlPL+ojt06FDluJom4ukEQxkZGapjx46+/58+fbqaMmVKlWMmT55c67/E2hyHuvAm5682xyIuLk4dOnRIKaWUaZoqLCzsrO/nbJzNWDRv3lyVlJSc9PwXw/w423GoT/PjbMeiPs2PCrt27VLNmzdXpmlW+9mFMD9qcwzq2txQqnbHoy7NjzMdB6fTqaKjo9WBAweUaZrqrrvuUu+//361818Ic+NM1Jkc5AMHDrBhwwb69OlDVlYWTZs2BaBp06Yn/Gr8eLfddhvdu3fnueee8y3v+0tPT6d58+a+/2/evDnp6enn5gbOkbowDnPmzCEhIYFx48Zx6NChs7yjM1fbY9GtWzff185ffvklxcXF5Obmnu1tnZGzGYuCggIAnnrqKXr27Mn48ePJysqqdlx9nx/nahzqw/w4F2NRX+aHvxkzZjBhwgQ0Tav2s7o+P+rCGNSVuQG1Px51ZX6czThYrVbeffdd4uPjadasGdu2beOOO+6odlxdnxtnqk4EyCUlJYwdO5Z//etfNGjQ4IzO8dlnn7F582ZWrFjBihUr+N///lftmJoCpJr+0deWujAO1157LQcOHCAtLY1hw4YxefLkM7qOs1UXxuK1115j+fLl9OjRg+XLlxMbG4vFYjmjazkbZzsWbrebw4cPM2DAANavX0+/fv145JFHqh1X3+fHuRiH+jI/zsVY1Jf54W/mzJnceOONNf6sLs+PujAGdWVuQN0Yj7owP852HFwuF++++y4bNmwgIyODhIQEpk6dWu24ujw3zkatB8gul4uxY8dy8803c/311wPQuHFjMjMzAcjMzKRRo0anPE9sbCwAYWFh3HTTTaxduxaPx+NLsv/b3/5G8+bNqyTKHz58mGbNmp2Hu/r16so4REVFERAQAMCdd95JamrqOb3P01FXxqJZs2bMnTuXDRs28MILLwAQHh5+Tu/1VM7FWERFRREcHMyYMWMAGD9+POvXr7/o5se5GIf6Mj/OxVjUl/lRYdOmTbjdbl8zhAtlftSVMagLcwPqznjU9vw4F+OwceNGAC655BI0TeOGG25g1apVF8zcOFu1GiArpbjjjjvo3LkzDz30kO/xUaNG8fHHHwPw8ccfM3r06JOex+12+3ZWulwuFi5cSNeuXTEMg40bN7Jx40aeffZZmjZtSlhYGKtXr0YpxSeffHLKc/8W6tI4VEwegPnz59O5c+dzfbsnVZfGIicnB9M0AZg6dSq33377+bjlEzpXY6FpGtdeey3JyckALFmyhLi4uItufpyLcagv8+NcjEV9mR8VZsyYUWWl8EKYH3VpDGp7bkDdGo/anB/nahxiY2PZtm0b2dnZAHz//fd07tz5gpgb58R5z3I+iRUrVihAxcfHq27duqlu3bqpRYsWqZycHHX55Zerdu3aqcsvv1zl5ub6ntOqVSsVERGhQkJCVGxsrNq6dasqKSlRPXv2VPHx8SouLk7df//9yu121/ia69atU126dFFt27ZV9957ry/xfu3atSo2NlYFBweryMhIFRcX95uMgVJ1axwef/xxFRcXpxISElRSUpLavn37bzIGFerSWMyaNUu1a9dOtW/fXt1xxx3Kbrf/JmNQ4VyNhVJKHThwQA0aNEjFx8eryy+/XB08eLDG16zP80Opsx+H+jI/lDr7sahP80Mppdq0aXPK32ddmx91aQxqe24oVbfGozbnx7kch3fffVd16tRJxcfHq2uuuUbl5OTU+Jp1bW6cC9JqWgghhBBCCD+1noMshBBCCCFEXSIBshBCCCGEEH4kQBZCCCGEEMKPBMhCCCGEEEL4kQBZCCGEEEIIPxIgCyFEPfTMM8/w2muv1fZlCCHEBUkCZCGEEEIIIfxIgCyEEPXECy+8QMeOHRk2bBg7d+4E4M033yQuLo6EhAQmTpxYy1cohBAXBkttX4AQQoizl5qaysyZM9mwYQNut5uePXvSq1cvXnrpJfbv309AQAAFBQW1fZlCCHFBkBVkIYSoB1asWMGYMWMIDg6mQYMGjBo1CoCEhARuvvlmPv30UywWWRMRQojTIQGyEELUE5qmVXts0aJF3HvvvaSmptKrVy/cbnctXJkQQlxYJEAWQoh64LLLLuPLL7+kvLyc4uJiFixYgGmaHDp0iCFDhvDKK69QUFBASUlJbV+qEELUefJ9mxBC1AM9e/ZkwoQJdO/enVatWjFo0CA0TeOWW26hsLAQpRQPPvggDRs2rO1LFUKIOk9TSqnavgghhBBCCCHqCkmxEEIIIYQQwo8EyEIIIYQQQviRAFkIIYQQQgg/EiALIYQQQgjhRwJkIYQQQggh/EiALIQQQgghhB8JkIUQQgghhPDz/3VzLG5Hrj2tAAAAAElFTkSuQmCC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484" y="3085280"/>
            <a:ext cx="5354837" cy="3266976"/>
          </a:xfrm>
          <a:prstGeom prst="rect">
            <a:avLst/>
          </a:prstGeom>
        </p:spPr>
      </p:pic>
      <p:sp>
        <p:nvSpPr>
          <p:cNvPr id="8" name="Прямоугольник 7"/>
          <p:cNvSpPr/>
          <p:nvPr/>
        </p:nvSpPr>
        <p:spPr>
          <a:xfrm>
            <a:off x="242193" y="6286796"/>
            <a:ext cx="60960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400" dirty="0"/>
              <a:t>https://h1ros.github.io/posts/prophet-101-a-time-series-forecasting-module/</a:t>
            </a:r>
          </a:p>
        </p:txBody>
      </p:sp>
      <p:sp>
        <p:nvSpPr>
          <p:cNvPr id="10" name="Объект 2"/>
          <p:cNvSpPr txBox="1">
            <a:spLocks/>
          </p:cNvSpPr>
          <p:nvPr/>
        </p:nvSpPr>
        <p:spPr>
          <a:xfrm>
            <a:off x="5967611" y="1620773"/>
            <a:ext cx="5881489" cy="15303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400" dirty="0"/>
              <a:t>Работает для шума БГШ</a:t>
            </a:r>
          </a:p>
          <a:p>
            <a:r>
              <a:rPr lang="ru-RU" sz="2400" dirty="0"/>
              <a:t>Тренд только детерминированный</a:t>
            </a:r>
            <a:endParaRPr lang="en-US" sz="2400" dirty="0"/>
          </a:p>
          <a:p>
            <a:r>
              <a:rPr lang="ru-RU" sz="2400" dirty="0"/>
              <a:t>Модель только бизнес процессы</a:t>
            </a:r>
          </a:p>
          <a:p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31823473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99103" y="365125"/>
            <a:ext cx="11054697" cy="549275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Вопросы для самоконтроля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99103" y="1042586"/>
            <a:ext cx="11690647" cy="5614587"/>
          </a:xfrm>
        </p:spPr>
        <p:txBody>
          <a:bodyPr/>
          <a:lstStyle/>
          <a:p>
            <a:pPr lvl="0"/>
            <a:r>
              <a:rPr lang="ru-RU" dirty="0"/>
              <a:t>Объясните основные подходы к экспоненциальному сглаживанию. Какая интуиция сопутствует таким подходам. Где подходы применимы. В каких задачах подходов будет недостаточно и как решить эту проблему?  </a:t>
            </a:r>
          </a:p>
          <a:p>
            <a:r>
              <a:rPr lang="ru-RU" dirty="0" smtClean="0"/>
              <a:t>Объясните почему </a:t>
            </a:r>
            <a:r>
              <a:rPr lang="en-US" dirty="0" smtClean="0"/>
              <a:t>SES-based </a:t>
            </a:r>
            <a:r>
              <a:rPr lang="ru-RU" dirty="0" smtClean="0"/>
              <a:t>подходы имеют особое место среди других подходов на основе скользящего среднего. Почему </a:t>
            </a:r>
            <a:r>
              <a:rPr lang="en-US" dirty="0" smtClean="0"/>
              <a:t>SES – </a:t>
            </a:r>
            <a:r>
              <a:rPr lang="ru-RU" dirty="0" smtClean="0"/>
              <a:t>итерационный подход? Какая интуиция соответствует переходу от </a:t>
            </a:r>
            <a:r>
              <a:rPr lang="en-US" dirty="0" smtClean="0"/>
              <a:t>SES </a:t>
            </a:r>
            <a:r>
              <a:rPr lang="ru-RU" dirty="0" smtClean="0"/>
              <a:t>к </a:t>
            </a:r>
            <a:r>
              <a:rPr lang="en-US" dirty="0" smtClean="0"/>
              <a:t>DES </a:t>
            </a:r>
            <a:r>
              <a:rPr lang="ru-RU" dirty="0" smtClean="0"/>
              <a:t>и к </a:t>
            </a:r>
            <a:r>
              <a:rPr lang="en-US" dirty="0" smtClean="0"/>
              <a:t>TES. </a:t>
            </a:r>
            <a:endParaRPr lang="ru-RU" dirty="0" smtClean="0"/>
          </a:p>
          <a:p>
            <a:r>
              <a:rPr lang="ru-RU" dirty="0" smtClean="0"/>
              <a:t>Объясните подход </a:t>
            </a:r>
            <a:r>
              <a:rPr lang="en-US" dirty="0" smtClean="0"/>
              <a:t>TBATS, </a:t>
            </a:r>
            <a:r>
              <a:rPr lang="ru-RU" dirty="0" smtClean="0"/>
              <a:t>где он используется? Приведите примеры задач где недостаточно </a:t>
            </a:r>
            <a:r>
              <a:rPr lang="en-US" dirty="0" smtClean="0"/>
              <a:t>ETS </a:t>
            </a:r>
            <a:r>
              <a:rPr lang="ru-RU" dirty="0" smtClean="0"/>
              <a:t>и нужно использовать </a:t>
            </a:r>
            <a:r>
              <a:rPr lang="en-US" dirty="0" smtClean="0"/>
              <a:t>TBATS. </a:t>
            </a:r>
            <a:r>
              <a:rPr lang="ru-RU" dirty="0" smtClean="0"/>
              <a:t>Предложите пути решения таких задач без </a:t>
            </a:r>
            <a:r>
              <a:rPr lang="en-US" dirty="0" smtClean="0"/>
              <a:t>TBATS</a:t>
            </a:r>
            <a:r>
              <a:rPr lang="ru-RU" dirty="0" smtClean="0"/>
              <a:t>, в чем их особенность.</a:t>
            </a:r>
            <a:endParaRPr lang="en-US" dirty="0" smtClean="0"/>
          </a:p>
          <a:p>
            <a:r>
              <a:rPr lang="ru-RU" dirty="0" smtClean="0"/>
              <a:t>Объясните цель использования подходов на основе адаптивной обобщенной регрессии. Какие у подходов достоинства и недостатки. Приведите примеры задач, где такие подходы использовать нельзя (почему такие подходы – не </a:t>
            </a:r>
            <a:r>
              <a:rPr lang="ru-RU" dirty="0" err="1" smtClean="0"/>
              <a:t>бейзлайн</a:t>
            </a:r>
            <a:r>
              <a:rPr lang="ru-RU" smtClean="0"/>
              <a:t>?).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6836848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4010</TotalTime>
  <Words>1702</Words>
  <Application>Microsoft Office PowerPoint</Application>
  <PresentationFormat>Широкоэкранный</PresentationFormat>
  <Paragraphs>296</Paragraphs>
  <Slides>27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27</vt:i4>
      </vt:variant>
    </vt:vector>
  </HeadingPairs>
  <TitlesOfParts>
    <vt:vector size="33" baseType="lpstr">
      <vt:lpstr>__YSText_8fb396</vt:lpstr>
      <vt:lpstr>Arial</vt:lpstr>
      <vt:lpstr>Calibri</vt:lpstr>
      <vt:lpstr>Calibri Light</vt:lpstr>
      <vt:lpstr>Cambria Math</vt:lpstr>
      <vt:lpstr>Тема Office</vt:lpstr>
      <vt:lpstr>Предсказания ВР с явной TS моделью</vt:lpstr>
      <vt:lpstr>Модель экспоненциального сглаживания  SES (Single Exponential Smoothing) </vt:lpstr>
      <vt:lpstr>Модель экспоненциального сглаживания. Замечания</vt:lpstr>
      <vt:lpstr>Модель экспоненциального сглаживания. Замечания </vt:lpstr>
      <vt:lpstr>Модель Холта - двойное экспоненциальное сглаживание</vt:lpstr>
      <vt:lpstr>Модель Холта - двойное экспоненциальное сглаживание</vt:lpstr>
      <vt:lpstr>Модель Holt-Winters  - тройное экспоненциальное сглаживание</vt:lpstr>
      <vt:lpstr>Модель Holt-Winters  - тройное экспоненциальное сглаживание</vt:lpstr>
      <vt:lpstr>Модели Error-Trend-Seasonality (экспоненциальное сглаживание)</vt:lpstr>
      <vt:lpstr>Модели Error-Trend-Seasonality (экспоненциальное сглаживание)</vt:lpstr>
      <vt:lpstr>Модели Error-Trend-Seasonality. Замечания</vt:lpstr>
      <vt:lpstr>Модели Error-Trend-Seasonality. Замечания</vt:lpstr>
      <vt:lpstr>Модели Error-Trend-Seasonality. Информационный критерий </vt:lpstr>
      <vt:lpstr>Сложные сезонности</vt:lpstr>
      <vt:lpstr>Сложно-сезонные временные ряды</vt:lpstr>
      <vt:lpstr>Сложно-сезонные временные ряды</vt:lpstr>
      <vt:lpstr>Сложные сезонности  </vt:lpstr>
      <vt:lpstr>Сложно-сезонные временные ряды BATS</vt:lpstr>
      <vt:lpstr>Сложно-сезонные временные ряды TBATS</vt:lpstr>
      <vt:lpstr>Сложно-сезонные временные ряды TBATS</vt:lpstr>
      <vt:lpstr>Использование разложений</vt:lpstr>
      <vt:lpstr>Использование Модели ВР</vt:lpstr>
      <vt:lpstr>Обобщенная адаптивная модель (регрессия). Prophet</vt:lpstr>
      <vt:lpstr>Обобщенная адаптивная модель (регрессия). Prophet</vt:lpstr>
      <vt:lpstr>Обобщенная адаптивная модель (регрессия). Prophet</vt:lpstr>
      <vt:lpstr>Prophet pros and cons</vt:lpstr>
      <vt:lpstr>Вопросы для самоконтроля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Time Series Analysis</dc:title>
  <dc:creator>Ронкин Михаил Владимирович</dc:creator>
  <cp:lastModifiedBy>Ронкин Михаил Владимирович</cp:lastModifiedBy>
  <cp:revision>217</cp:revision>
  <dcterms:created xsi:type="dcterms:W3CDTF">2021-10-31T10:57:36Z</dcterms:created>
  <dcterms:modified xsi:type="dcterms:W3CDTF">2025-08-20T05:52:09Z</dcterms:modified>
</cp:coreProperties>
</file>