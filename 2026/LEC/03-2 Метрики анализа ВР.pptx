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38" r:id="rId2"/>
    <p:sldId id="412" r:id="rId3"/>
    <p:sldId id="438" r:id="rId4"/>
    <p:sldId id="411" r:id="rId5"/>
    <p:sldId id="413" r:id="rId6"/>
    <p:sldId id="419" r:id="rId7"/>
    <p:sldId id="440" r:id="rId8"/>
    <p:sldId id="439" r:id="rId9"/>
    <p:sldId id="414" r:id="rId10"/>
    <p:sldId id="427" r:id="rId11"/>
    <p:sldId id="433" r:id="rId12"/>
    <p:sldId id="430" r:id="rId13"/>
    <p:sldId id="431" r:id="rId14"/>
    <p:sldId id="432" r:id="rId15"/>
    <p:sldId id="428" r:id="rId16"/>
    <p:sldId id="434" r:id="rId17"/>
    <p:sldId id="424" r:id="rId18"/>
    <p:sldId id="435" r:id="rId19"/>
    <p:sldId id="426" r:id="rId20"/>
    <p:sldId id="44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6804" autoAdjust="0"/>
  </p:normalViewPr>
  <p:slideViewPr>
    <p:cSldViewPr snapToGrid="0">
      <p:cViewPr varScale="1">
        <p:scale>
          <a:sx n="109" d="100"/>
          <a:sy n="109" d="100"/>
        </p:scale>
        <p:origin x="13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19.03.2026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19.03.2026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19.03.2026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19.03.2026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19.03.2026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19.03.2026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19.03.2026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19.03.2026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19.03.2026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19.03.2026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19.03.2026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19.03.2026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1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/>
              <a:t>Метрики анализа ВР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Остатки и метрики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Можно спрогнозировать</a:t>
                </a:r>
                <a:r>
                  <a:rPr lang="en-US" sz="2100" dirty="0"/>
                  <a:t> </a:t>
                </a:r>
                <a:r>
                  <a:rPr lang="ru-RU" sz="2100" dirty="0"/>
                  <a:t>значения ВР, используя все предыдущие наблюдения.</a:t>
                </a:r>
                <a:r>
                  <a:rPr lang="en-US" sz="2100" dirty="0"/>
                  <a:t>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/>
                  <a:t>Е</a:t>
                </a:r>
                <a:r>
                  <a:rPr lang="ru-RU" sz="2100" dirty="0" err="1"/>
                  <a:t>сли</a:t>
                </a:r>
                <a:r>
                  <a:rPr lang="ru-RU" sz="2100" dirty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Остаток от предсказания модели на каждом шаге можно оценить как: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​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предсказаний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/>
                  <a:t>  можно оценить как функционал от остатков модели</a:t>
                </a:r>
                <a:r>
                  <a:rPr lang="en-US" sz="2100" dirty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Выбор метрики определяет, как модель оптимизирует прогноз. </a:t>
                </a:r>
                <a:endParaRPr lang="en-US" sz="18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Неправильная метрика = риск неверного решения.</a:t>
                </a:r>
                <a:endParaRPr lang="ru-RU" sz="20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Задача: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метрик во временных рядах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/>
                  <a:t>Значение в единицах измерения</a:t>
                </a:r>
              </a:p>
              <a:p>
                <a:r>
                  <a:rPr lang="ru-RU" sz="2300" dirty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ошибки, выбросы 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дисперсии предсказаний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/>
                  <a:t>Минусы:</a:t>
                </a:r>
              </a:p>
              <a:p>
                <a:r>
                  <a:rPr lang="ru-RU" sz="2100" dirty="0"/>
                  <a:t>Сложнее интерпретировать в предметной области</a:t>
                </a:r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относительные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масштаба</a:t>
                </a:r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сильнее)</a:t>
                </a:r>
                <a:endParaRPr lang="en-US" sz="2300" i="1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/>
                  <a:t> </a:t>
                </a:r>
                <a:endParaRPr lang="en-US" sz="2000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занижены</a:t>
                </a:r>
                <a:endParaRPr lang="en-US" sz="2000" dirty="0">
                  <a:latin typeface="+mj-lt"/>
                </a:endParaRPr>
              </a:p>
              <a:p>
                <a:pPr lvl="2"/>
                <a:r>
                  <a:rPr lang="fr-FR" sz="1900" i="1" dirty="0"/>
                  <a:t>y</a:t>
                </a:r>
                <a:r>
                  <a:rPr lang="fr-FR" sz="1900" dirty="0"/>
                  <a:t>​=150,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​​=100⇒MAPE=33%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​=150⇒MAPE=50%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модели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среднее значение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объясняет дисперсию модели</a:t>
                </a:r>
              </a:p>
              <a:p>
                <a:r>
                  <a:rPr lang="ru-RU" sz="2300" i="1" dirty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/>
                  <a:t> - </a:t>
                </a:r>
                <a:r>
                  <a:rPr lang="ru-RU" sz="2300" i="1" dirty="0"/>
                  <a:t>сравнивает модель со средним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/>
                  <a:t> 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/>
                  <a:t>Бессмысленно для цикличных данных (колебания около 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279830" y="6293017"/>
            <a:ext cx="66743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224" y="6255434"/>
            <a:ext cx="31427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0137" y="6431516"/>
            <a:ext cx="30005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368688" y="645195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6878" y="6609303"/>
            <a:ext cx="708877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https://stats.stackexchange.com/questions/299712/what-are-the-shortcomings-of-the-mean-absolute-percentage-error-mape</a:t>
            </a:r>
          </a:p>
        </p:txBody>
      </p: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Альтернативные точечные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Значения ограничены от 0 до 200%</a:t>
                </a: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</a:t>
                </a:r>
                <a:r>
                  <a:rPr lang="ru-RU" sz="1700" dirty="0"/>
                  <a:t>00</a:t>
                </a:r>
                <a:r>
                  <a:rPr lang="en-US" sz="1700" dirty="0"/>
                  <a:t> 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11</a:t>
                </a:r>
                <a:r>
                  <a:rPr lang="ru-RU" sz="1700" dirty="0"/>
                  <a:t>0</a:t>
                </a:r>
                <a:r>
                  <a:rPr lang="en-US" sz="1700" dirty="0"/>
                  <a:t> </a:t>
                </a:r>
                <a:r>
                  <a:rPr lang="ru-RU" sz="1700" dirty="0"/>
                  <a:t> </a:t>
                </a:r>
                <a:r>
                  <a:rPr lang="en-US" sz="2100" dirty="0"/>
                  <a:t>SMAPE= 4.76%</a:t>
                </a:r>
                <a:r>
                  <a:rPr lang="ru-RU" sz="2100" dirty="0"/>
                  <a:t> </a:t>
                </a:r>
                <a:r>
                  <a:rPr lang="en-US" sz="2100" i="1" dirty="0"/>
                  <a:t>A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ru-RU" sz="2100" dirty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9</a:t>
                </a:r>
                <a:r>
                  <a:rPr lang="ru-RU" sz="2100" dirty="0"/>
                  <a:t>0</a:t>
                </a:r>
                <a:r>
                  <a:rPr lang="en-US" sz="2100" dirty="0"/>
                  <a:t> SMAPE = 5.26%.</a:t>
                </a:r>
                <a:endParaRPr lang="ru-RU" sz="2100" b="1" i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/>
                  <a:t>Возможно деление на 0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413698"/>
            <a:ext cx="36490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https://robjhyndman.com/papers/foresight.pdf</a:t>
            </a:r>
            <a:endParaRPr lang="ru-RU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/>
                  <a:t>Сравнение дисперсий на тесте и </a:t>
                </a:r>
                <a:r>
                  <a:rPr lang="ru-RU" sz="2000" b="1" i="1" dirty="0" err="1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→</a:t>
                </a:r>
                <a:r>
                  <a:rPr lang="en-US" sz="2000" dirty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эталонное предсказание (напр. </a:t>
                </a:r>
                <a:r>
                  <a:rPr lang="ru-RU" sz="2000" dirty="0" err="1"/>
                  <a:t>бейзлайн</a:t>
                </a:r>
                <a:r>
                  <a:rPr lang="ru-RU" sz="2000" dirty="0"/>
                  <a:t> или </a:t>
                </a:r>
                <a:r>
                  <a:rPr lang="ru-RU" sz="2000" dirty="0" err="1"/>
                  <a:t>тренйн</a:t>
                </a:r>
                <a:r>
                  <a:rPr lang="ru-RU" sz="2000" dirty="0"/>
                  <a:t>)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(MASE) </a:t>
            </a:r>
            <a:r>
              <a:rPr lang="ru-RU" sz="2000" b="1" dirty="0"/>
              <a:t>и сезонная </a:t>
            </a:r>
            <a:r>
              <a:rPr lang="en-US" sz="2000" b="1" dirty="0"/>
              <a:t>MASE</a:t>
            </a:r>
            <a:r>
              <a:rPr lang="ru-RU" sz="20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Лишена </a:t>
            </a:r>
            <a:r>
              <a:rPr lang="en-US" sz="2000" dirty="0"/>
              <a:t> </a:t>
            </a:r>
            <a:r>
              <a:rPr lang="ru-RU" sz="2000" dirty="0"/>
              <a:t>части недостатков </a:t>
            </a:r>
            <a:r>
              <a:rPr lang="en-US" sz="2000" dirty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прогнозом, ранжирование моделей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/>
                  <a:t>другие варианты, напр.</a:t>
                </a:r>
                <a:br>
                  <a:rPr lang="ru-RU" sz="2000" dirty="0"/>
                </a:b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9385" y="6078292"/>
            <a:ext cx="3454790" cy="7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некоторых точечных метрик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штраф ошибок </a:t>
                      </a:r>
                      <a:r>
                        <a:rPr lang="ru-RU" sz="1800" u="none" strike="noStrike" dirty="0" err="1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доля 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>
                          <a:effectLst/>
                        </a:rPr>
                        <a:t>&lt;0</a:t>
                      </a:r>
                      <a:r>
                        <a:rPr lang="ru-RU" sz="1800" u="none" strike="noStrike" dirty="0">
                          <a:effectLst/>
                        </a:rPr>
                        <a:t>, 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для 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 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сравнивает 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для прогнозирования с мультипликативными 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MedAE</a:t>
                          </a:r>
                          <a:endParaRPr lang="ru-RU" sz="1800" u="none" strike="noStrike" dirty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 хуже, чем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позиционно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/>
              <a:t>неопределнность</a:t>
            </a:r>
            <a:r>
              <a:rPr lang="ru-RU" i="1" dirty="0"/>
              <a:t> моделей</a:t>
            </a:r>
            <a:r>
              <a:rPr lang="ru-RU" dirty="0"/>
              <a:t> → 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/>
              <a:t>Интервал предсказаний – это Диапазон значений, в котором с заданной вероятностью (уровнем доверия) ожидается будущее наблюдение.</a:t>
            </a:r>
          </a:p>
          <a:p>
            <a:pPr marL="457200" lvl="1" indent="0">
              <a:buNone/>
            </a:pPr>
            <a:r>
              <a:rPr lang="ru-RU" sz="1800" dirty="0"/>
              <a:t>Прогноз продаж на январь: </a:t>
            </a:r>
            <a:r>
              <a:rPr lang="ru-RU" sz="1800" b="1" dirty="0"/>
              <a:t>1000 ± 100 единиц (95% PI)</a:t>
            </a:r>
            <a:r>
              <a:rPr lang="ru-RU" sz="1800" dirty="0"/>
              <a:t>→ продажи 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Интервальный прогноз спроса на электричество:</a:t>
            </a:r>
          </a:p>
          <a:p>
            <a:r>
              <a:rPr lang="ru-RU" sz="2200" dirty="0"/>
              <a:t>Ожидаемый 99% доверительный интервал модели: [100 МВт, 150 МВт] Реальное 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предсказать экстремальный риск (</a:t>
            </a:r>
            <a:r>
              <a:rPr lang="ru-RU" sz="2200" i="1" dirty="0" err="1"/>
              <a:t>пин-болл</a:t>
            </a:r>
            <a:r>
              <a:rPr lang="ru-RU" sz="2200" i="1" dirty="0"/>
              <a:t> </a:t>
            </a:r>
            <a:r>
              <a:rPr lang="ru-RU" sz="2200" i="1" dirty="0" err="1"/>
              <a:t>лосс</a:t>
            </a:r>
            <a:r>
              <a:rPr lang="ru-RU" sz="2200" i="1" dirty="0"/>
              <a:t>), насколько надежны такие интервалы?</a:t>
            </a:r>
          </a:p>
          <a:p>
            <a:r>
              <a:rPr lang="ru-RU" sz="2200" b="0" i="0" dirty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Прогнозы температуры от 5 моделей, прогнозирующих распределение (ECMWF, GFS, ...).</a:t>
            </a:r>
          </a:p>
          <a:p>
            <a:r>
              <a:rPr lang="ru-RU" sz="2200" dirty="0"/>
              <a:t>Каждая Ансамбли моделей давали разные распределения. Как выбрать лучшую? (с наименьшим разбросом результатов) -</a:t>
            </a:r>
            <a:r>
              <a:rPr lang="en-US" sz="2200" dirty="0"/>
              <a:t>&gt; </a:t>
            </a:r>
            <a:r>
              <a:rPr lang="ru-RU" sz="2200" dirty="0"/>
              <a:t>Сравниваем распределения с эталонным</a:t>
            </a:r>
            <a:r>
              <a:rPr lang="en-US" sz="2200" dirty="0"/>
              <a:t> </a:t>
            </a:r>
            <a:r>
              <a:rPr lang="en-US" sz="2200" b="1" dirty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магазинов) планировались по среднему ± 20%, как оценить достаточность интервала</a:t>
            </a:r>
          </a:p>
          <a:p>
            <a:r>
              <a:rPr lang="ru-RU" sz="2200" b="0" i="0" dirty="0">
                <a:effectLst/>
              </a:rPr>
              <a:t>Метод оценки покрытия интервала дает 80% -</a:t>
            </a:r>
            <a:r>
              <a:rPr lang="en-US" sz="2200" b="0" i="0" dirty="0">
                <a:effectLst/>
              </a:rPr>
              <a:t>&gt; </a:t>
            </a:r>
            <a:r>
              <a:rPr lang="ru-RU" sz="2200" b="0" i="0" dirty="0">
                <a:effectLst/>
              </a:rPr>
              <a:t>если больше 75%, считаем достаточным. </a:t>
            </a:r>
            <a:r>
              <a:rPr lang="ru-RU" sz="2200" dirty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Вероятностные оценки  </a:t>
                </a:r>
                <a:r>
                  <a:rPr lang="ru-RU" sz="2200" dirty="0"/>
                  <a:t>показывают,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, но оно не учитывает степень неопределенности.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</a:p>
              <a:p>
                <a:pPr lvl="1"/>
                <a:r>
                  <a:rPr lang="ru-RU" sz="2200" dirty="0"/>
                  <a:t>Например, 95%-й доверительный интервал означает, что с вероятностью 95% фактическое значение попадет внутрь этого интервала. </a:t>
                </a:r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</a:t>
                </a:r>
                <a:r>
                  <a:rPr lang="ru-RU" sz="2200"/>
                  <a:t>стандартного </a:t>
                </a:r>
                <a:r>
                  <a:rPr lang="ru-RU" sz="2200" smtClean="0"/>
                  <a:t>распределения,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Многошаговые 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/>
                            <a:t>h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b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br>
              <a:rPr lang="ru-RU" dirty="0">
                <a:solidFill>
                  <a:srgbClr val="2C2C36"/>
                </a:solidFill>
                <a:latin typeface="system-ui"/>
              </a:rPr>
            </a:br>
            <a:r>
              <a:rPr lang="ru-RU" dirty="0">
                <a:solidFill>
                  <a:srgbClr val="2C2C36"/>
                </a:solidFill>
                <a:latin typeface="system-ui"/>
              </a:rPr>
              <a:t>что 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остатков</a:t>
            </a:r>
          </a:p>
          <a:p>
            <a:r>
              <a:rPr lang="ru-RU" sz="2000" dirty="0" err="1">
                <a:solidFill>
                  <a:srgbClr val="2C2C36"/>
                </a:solidFill>
              </a:rPr>
              <a:t>Комфорное</a:t>
            </a:r>
            <a:r>
              <a:rPr lang="ru-RU" sz="2000" dirty="0">
                <a:solidFill>
                  <a:srgbClr val="2C2C36"/>
                </a:solidFill>
              </a:rPr>
              <a:t> </a:t>
            </a:r>
            <a:r>
              <a:rPr lang="ru-RU" sz="2000" dirty="0" err="1">
                <a:solidFill>
                  <a:srgbClr val="2C2C36"/>
                </a:solidFill>
              </a:rPr>
              <a:t>преорбазование</a:t>
            </a:r>
            <a:r>
              <a:rPr lang="ru-RU" sz="2000" dirty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>
                <a:solidFill>
                  <a:srgbClr val="2C2C36"/>
                </a:solidFill>
              </a:rPr>
              <a:t>подвыборках</a:t>
            </a:r>
            <a:r>
              <a:rPr lang="ru-RU" sz="2000" dirty="0">
                <a:solidFill>
                  <a:srgbClr val="2C2C36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Основные идеи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Используем 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методов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/>
              <a:t>После того как мы построили прогнозные интервалы или получили прогнозное распределение, важно количественно оценить их 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19649"/>
                  </p:ext>
                </p:extLst>
              </p:nvPr>
            </p:nvGraphicFramePr>
            <p:xfrm>
              <a:off x="310896" y="1652705"/>
              <a:ext cx="11422095" cy="3166944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450863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790825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842776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6358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24237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93445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62653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19649"/>
                  </p:ext>
                </p:extLst>
              </p:nvPr>
            </p:nvGraphicFramePr>
            <p:xfrm>
              <a:off x="310896" y="1652705"/>
              <a:ext cx="11422095" cy="3166944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450863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790825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842776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6358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24237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433" t="-31863" r="-303731" b="-1343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93445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433" t="-175817" r="-303731" b="-79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62653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433" t="-409709" r="-303731" b="-17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rgbClr val="2C2C36"/>
                </a:solidFill>
              </a:rPr>
              <a:t>Распределения могут быть представлены 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Квантильная</a:t>
            </a:r>
            <a:r>
              <a:rPr lang="ru-RU" b="1" dirty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https://www.lokad.com/ru/вероятностное-прогнозирование-определение/</a:t>
            </a:r>
            <a:r>
              <a:rPr lang="ru-RU" sz="1200" dirty="0"/>
              <a:t>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https://www.lokad.com/pinball-loss-function-definition/</a:t>
            </a:r>
            <a:r>
              <a:rPr lang="ru-RU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>
                    <a:latin typeface="Cambria Math" panose="02040503050406030204" pitchFamily="18" charset="0"/>
                  </a:rPr>
                  <a:t>лосс</a:t>
                </a:r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/>
                  <a:t>Квантильный</a:t>
                </a:r>
                <a:r>
                  <a:rPr lang="ru-RU" sz="2200" dirty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τ=0.5 → 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</a:t>
                </a:r>
                <a:r>
                  <a:rPr lang="en-US" sz="2200" dirty="0"/>
                  <a:t>&gt;</a:t>
                </a:r>
                <a:r>
                  <a:rPr lang="ru-RU" sz="2200" dirty="0"/>
                  <a:t>0.5</a:t>
                </a:r>
                <a:r>
                  <a:rPr lang="en-US" sz="2200" dirty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τ=0.9</a:t>
                </a:r>
                <a:r>
                  <a:rPr lang="en-US" sz="2200" dirty="0"/>
                  <a:t>5</a:t>
                </a:r>
                <a:r>
                  <a:rPr lang="ru-RU" sz="2200" dirty="0"/>
                  <a:t> → оценка 9</a:t>
                </a:r>
                <a:r>
                  <a:rPr lang="en-US" sz="2200" dirty="0"/>
                  <a:t>5</a:t>
                </a:r>
                <a:r>
                  <a:rPr lang="ru-RU" sz="2200" dirty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квантиля </a:t>
                </a:r>
                <a:r>
                  <a:rPr lang="en-US" sz="2200" dirty="0"/>
                  <a:t>-</a:t>
                </a:r>
                <a:r>
                  <a:rPr lang="ru-RU" sz="2200" dirty="0"/>
                  <a:t>редкие</a:t>
                </a:r>
                <a:r>
                  <a:rPr lang="en-US" sz="2200" dirty="0"/>
                  <a:t> </a:t>
                </a:r>
                <a:r>
                  <a:rPr lang="ru-RU" sz="2200" dirty="0"/>
                  <a:t>выбросы штрафуются сильнее (хвосты, полезно в случае дорогих рисков)</a:t>
                </a:r>
              </a:p>
              <a:p>
                <a:pPr marL="0" indent="0">
                  <a:buNone/>
                </a:pPr>
                <a:r>
                  <a:rPr lang="ru-RU" sz="2400" b="1" dirty="0"/>
                  <a:t>Применение: контроль хвостов распределения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https://towardsdatascience.com/an-introduction-to-quantile-loss-a-k-a-the-pinball-loss-33cccac378a9/</a:t>
            </a:r>
            <a:r>
              <a:rPr lang="ru-RU" sz="1400" dirty="0"/>
              <a:t> </a:t>
            </a:r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5.</a:t>
                </a:r>
                <a:r>
                  <a:rPr lang="en-US" dirty="0"/>
                  <a:t> </a:t>
                </a:r>
                <a:r>
                  <a:rPr lang="ru-RU" dirty="0"/>
                  <a:t>Штраф: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5.</a:t>
                </a:r>
                <a:r>
                  <a:rPr lang="en-US" dirty="0"/>
                  <a:t> </a:t>
                </a:r>
                <a:r>
                  <a:rPr lang="ru-RU" dirty="0"/>
                  <a:t>Штраф: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/>
                  <a:t>Coverage</a:t>
                </a:r>
                <a:r>
                  <a:rPr lang="ru-RU" sz="2000" dirty="0"/>
                  <a:t> 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0)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- число попаданий в оценки интервала</a:t>
                </a:r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95%.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rPr>
                      <m:t>PINAW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интервала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/>
                  <a:t>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/>
                  <a:t>—</a:t>
                </a:r>
                <a:r>
                  <a:rPr lang="en-US" sz="2000" dirty="0"/>
                  <a:t> </a:t>
                </a:r>
                <a:r>
                  <a:rPr lang="ru-RU" sz="2000" dirty="0"/>
                  <a:t>оценка кумулятивного 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(ступенька)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/>
                  <a:t>Чем больше площадь между кривыми – тем хуже прогноз.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Минусы</a:t>
                </a:r>
                <a:r>
                  <a:rPr lang="ru-RU" sz="2000" dirty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значимость отдельных квантилей теряется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Применение</a:t>
                </a:r>
                <a:r>
                  <a:rPr lang="ru-RU" sz="2000" dirty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сравнение двух вероятностных моделей или гипотез об остатках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распределения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CRPS —"усредненный"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квантилям</a:t>
                </a:r>
                <a:r>
                  <a:rPr lang="en-US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/>
                  <a:t>-</a:t>
                </a:r>
                <a:r>
                  <a:rPr lang="ru-RU" sz="1400" dirty="0"/>
                  <a:t>плотность распределения</a:t>
                </a:r>
                <a:r>
                  <a:rPr lang="en-US" sz="1400" dirty="0"/>
                  <a:t> </a:t>
                </a:r>
                <a:r>
                  <a:rPr lang="ru-RU" sz="1400" dirty="0"/>
                  <a:t>оценки на шаге </a:t>
                </a:r>
                <a:r>
                  <a:rPr lang="en-US" sz="1400" dirty="0" err="1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162" y="119063"/>
            <a:ext cx="10934700" cy="806450"/>
          </a:xfrm>
        </p:spPr>
        <p:txBody>
          <a:bodyPr/>
          <a:lstStyle/>
          <a:p>
            <a:pPr algn="ctr"/>
            <a:r>
              <a:rPr lang="ru-RU" b="1" dirty="0" smtClean="0"/>
              <a:t>Вопросы для самоконтроля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8124" y="925513"/>
            <a:ext cx="11534775" cy="5072063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ru-RU" dirty="0"/>
              <a:t>Объясните цель использования </a:t>
            </a:r>
            <a:r>
              <a:rPr lang="ru-RU" dirty="0" smtClean="0"/>
              <a:t>различных типов </a:t>
            </a:r>
            <a:r>
              <a:rPr lang="ru-RU" dirty="0"/>
              <a:t>метрик для предсказания ВР. Приведите примеры </a:t>
            </a:r>
            <a:r>
              <a:rPr lang="ru-RU" dirty="0" smtClean="0"/>
              <a:t>задач</a:t>
            </a:r>
            <a:r>
              <a:rPr lang="en-US" dirty="0" smtClean="0"/>
              <a:t> </a:t>
            </a:r>
            <a:r>
              <a:rPr lang="ru-RU" dirty="0" smtClean="0"/>
              <a:t>анализа ВР </a:t>
            </a:r>
            <a:r>
              <a:rPr lang="ru-RU" dirty="0"/>
              <a:t>где те или иные метрики будут иметь преимущества. </a:t>
            </a:r>
            <a:endParaRPr lang="ru-RU" dirty="0" smtClean="0"/>
          </a:p>
          <a:p>
            <a:pPr lvl="0" algn="just"/>
            <a:r>
              <a:rPr lang="ru-RU" dirty="0" smtClean="0"/>
              <a:t>Приведите примеры задач сопоставляя метрики Анализа ВР и выражаемые ими предметные (бизнес) метрики. Объясните как в таком случае использовать набор метрик анализа ВР.</a:t>
            </a:r>
          </a:p>
          <a:p>
            <a:pPr lvl="0" algn="just"/>
            <a:r>
              <a:rPr lang="ru-RU" dirty="0" smtClean="0"/>
              <a:t>Объясните интерпретацию вероятностных метрик. Приведите </a:t>
            </a:r>
            <a:r>
              <a:rPr lang="ru-RU" dirty="0"/>
              <a:t>примеры задач где необходимы вероятностные </a:t>
            </a:r>
            <a:r>
              <a:rPr lang="ru-RU" dirty="0" smtClean="0"/>
              <a:t>метрики. Как вероятностная сущность метрик сопоставляется с бизнес-метриками.</a:t>
            </a:r>
          </a:p>
          <a:p>
            <a:pPr lvl="0"/>
            <a:r>
              <a:rPr lang="ru-RU" dirty="0" smtClean="0"/>
              <a:t>Приведите пример постановки задачи от бизнес-метрики (целевые и прокси-метрик) до необходимых метрик анализа ВР (дерево метрик). Оцените какие при этом допустимы значения </a:t>
            </a:r>
            <a:r>
              <a:rPr lang="ru-RU" smtClean="0"/>
              <a:t>метрик анализа </a:t>
            </a:r>
            <a:r>
              <a:rPr lang="ru-RU" dirty="0" smtClean="0"/>
              <a:t>ВР.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8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9395</TotalTime>
  <Words>2381</Words>
  <Application>Microsoft Office PowerPoint</Application>
  <PresentationFormat>Широкоэкранный</PresentationFormat>
  <Paragraphs>473</Paragraphs>
  <Slides>20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KaTeX_Main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Times New Roman</vt:lpstr>
      <vt:lpstr>Тема Office 2013–2022</vt:lpstr>
      <vt:lpstr>Метрики анализа ВР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276</cp:revision>
  <dcterms:created xsi:type="dcterms:W3CDTF">2021-10-31T10:57:36Z</dcterms:created>
  <dcterms:modified xsi:type="dcterms:W3CDTF">2026-03-19T12:54:40Z</dcterms:modified>
</cp:coreProperties>
</file>