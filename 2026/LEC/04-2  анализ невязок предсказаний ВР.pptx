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93" r:id="rId2"/>
    <p:sldId id="456" r:id="rId3"/>
    <p:sldId id="458" r:id="rId4"/>
    <p:sldId id="457" r:id="rId5"/>
    <p:sldId id="394" r:id="rId6"/>
    <p:sldId id="395" r:id="rId7"/>
    <p:sldId id="460" r:id="rId8"/>
    <p:sldId id="461" r:id="rId9"/>
    <p:sldId id="459" r:id="rId10"/>
    <p:sldId id="465" r:id="rId11"/>
    <p:sldId id="470" r:id="rId12"/>
    <p:sldId id="396" r:id="rId13"/>
    <p:sldId id="397" r:id="rId14"/>
    <p:sldId id="398" r:id="rId15"/>
    <p:sldId id="399" r:id="rId16"/>
    <p:sldId id="400" r:id="rId17"/>
    <p:sldId id="401" r:id="rId18"/>
    <p:sldId id="404" r:id="rId19"/>
    <p:sldId id="405" r:id="rId20"/>
    <p:sldId id="4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393"/>
            <p14:sldId id="456"/>
            <p14:sldId id="458"/>
            <p14:sldId id="457"/>
            <p14:sldId id="394"/>
            <p14:sldId id="395"/>
            <p14:sldId id="460"/>
            <p14:sldId id="461"/>
            <p14:sldId id="459"/>
            <p14:sldId id="465"/>
            <p14:sldId id="470"/>
            <p14:sldId id="396"/>
            <p14:sldId id="397"/>
            <p14:sldId id="398"/>
            <p14:sldId id="399"/>
            <p14:sldId id="400"/>
            <p14:sldId id="401"/>
            <p14:sldId id="404"/>
            <p14:sldId id="405"/>
            <p14:sldId id="4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33" autoAdjust="0"/>
    <p:restoredTop sz="96324"/>
  </p:normalViewPr>
  <p:slideViewPr>
    <p:cSldViewPr snapToGrid="0">
      <p:cViewPr varScale="1">
        <p:scale>
          <a:sx n="102" d="100"/>
          <a:sy n="102" d="100"/>
        </p:scale>
        <p:origin x="132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8DE3-421F-9369-B969-96AF417F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67D5C4E-9A2A-F4FE-B21D-4E0E16216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D539B72-AE1D-7E9E-35F7-8A7857415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D18F52-729B-19B9-BD3F-4007E1DD1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934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39C5-8272-A8D3-F8C0-D4F3FE1E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C548805-8939-69A3-7BEB-A142B5FBD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60DF7B-907E-C471-360A-09C4FE5C8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96C246-CF5A-0798-5874-2A636DA97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564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56DB-A6B7-BA43-BC09-B24B6F63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95D7DC2-80F6-1D50-182E-B30351336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B8B86DC-C35E-1F44-8BCC-3D6D90471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DD1165-FD1E-359F-5761-E30A6442B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147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038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549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D5575-DFF3-BD8D-CF65-DDF1E5FC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003D25-900F-FA3D-1F4B-56E22584A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6600" dirty="0"/>
              <a:t>Анализ остатков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576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7B0A-4178-A219-949C-C53496E9E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E9446-2598-50CE-8430-2769801C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0B8ECF-1F96-4C49-794E-05B51C0754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3913" y="881744"/>
                <a:ext cx="11636829" cy="5747656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После выполнения декомпозиции временного ряда или прогноза важно проверить поведение ошибки. </a:t>
                </a:r>
              </a:p>
              <a:p>
                <a:r>
                  <a:rPr lang="ru-RU" sz="2200" dirty="0"/>
                  <a:t>В наиболее простом случае ошибка это отличие истинных данных и результатов предсказания модели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ru-RU" sz="2200" dirty="0"/>
              </a:p>
              <a:p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/>
                  <a:t>- значение ошибки для выборки; 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ru-RU" sz="2200" dirty="0"/>
                  <a:t> - прогнозируемое значение</a:t>
                </a:r>
                <a:r>
                  <a:rPr lang="ru-RU" sz="2200" b="1" dirty="0"/>
                  <a:t>.</a:t>
                </a:r>
                <a:r>
                  <a:rPr lang="en-US" sz="2200" b="1" dirty="0"/>
                  <a:t> </a:t>
                </a:r>
                <a:r>
                  <a:rPr lang="en-US" sz="2200" b="1" dirty="0" err="1"/>
                  <a:t>Так</a:t>
                </a:r>
                <a:r>
                  <a:rPr lang="ru-RU" sz="2200" b="1" dirty="0"/>
                  <a:t>ую ошибку будем называть невязкой (остатком)</a:t>
                </a:r>
              </a:p>
              <a:p>
                <a:r>
                  <a:rPr lang="ru-RU" sz="2200" b="1" dirty="0"/>
                  <a:t>Зачем анализировать остатки (</a:t>
                </a:r>
                <a:r>
                  <a:rPr lang="ru-RU" sz="2200" b="1" dirty="0" err="1"/>
                  <a:t>re</a:t>
                </a:r>
                <a:r>
                  <a:rPr lang="en-US" sz="2200" b="1" dirty="0" err="1"/>
                  <a:t>sidual</a:t>
                </a:r>
                <a:r>
                  <a:rPr lang="en-US" sz="2200" b="1" dirty="0"/>
                  <a:t> analysis)</a:t>
                </a:r>
                <a:r>
                  <a:rPr lang="ru-RU" sz="2200" b="1" dirty="0"/>
                  <a:t>?</a:t>
                </a:r>
                <a:endParaRPr lang="ru-RU" sz="2200" dirty="0"/>
              </a:p>
              <a:p>
                <a:pPr lvl="1"/>
                <a:r>
                  <a:rPr lang="ru-RU" sz="2200" dirty="0"/>
                  <a:t>Проверить, не осталось ли в них закономерностей (если остатки не случайны – модель плохая).</a:t>
                </a:r>
              </a:p>
              <a:p>
                <a:pPr lvl="1"/>
                <a:r>
                  <a:rPr lang="ru-RU" sz="2200" dirty="0"/>
                  <a:t>Убедиться, что они соответствуют гипотезам модели (например, нормальность, гомоскедастичность, другие типы нестационарности).</a:t>
                </a:r>
              </a:p>
              <a:p>
                <a:pPr lvl="1"/>
                <a:r>
                  <a:rPr lang="ru-RU" sz="2200" dirty="0"/>
                  <a:t>В </a:t>
                </a:r>
                <a:r>
                  <a:rPr lang="en-US" sz="2200" dirty="0"/>
                  <a:t>online</a:t>
                </a:r>
                <a:r>
                  <a:rPr lang="ru-RU" sz="2200" dirty="0"/>
                  <a:t> </a:t>
                </a:r>
                <a:r>
                  <a:rPr lang="en-US" sz="2200" dirty="0"/>
                  <a:t>inference</a:t>
                </a:r>
                <a:r>
                  <a:rPr lang="ru-RU" sz="2200" dirty="0"/>
                  <a:t> (</a:t>
                </a:r>
                <a:r>
                  <a:rPr lang="en-US" sz="2200" dirty="0"/>
                  <a:t>forecasting) </a:t>
                </a:r>
                <a:r>
                  <a:rPr lang="en-US" sz="2200" dirty="0" err="1"/>
                  <a:t>о</a:t>
                </a:r>
                <a:r>
                  <a:rPr lang="ru-RU" sz="2200" dirty="0" err="1"/>
                  <a:t>статки</a:t>
                </a:r>
                <a:r>
                  <a:rPr lang="ru-RU" sz="2200" dirty="0"/>
                  <a:t> модели – это объясняющие факторы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0B8ECF-1F96-4C49-794E-05B51C0754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913" y="881744"/>
                <a:ext cx="11636829" cy="5747656"/>
              </a:xfrm>
              <a:blipFill>
                <a:blip r:embed="rId3"/>
                <a:stretch>
                  <a:fillRect l="-654" t="-13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6C34D58-72CA-AC54-75F8-ADC9F608EE94}"/>
              </a:ext>
            </a:extLst>
          </p:cNvPr>
          <p:cNvSpPr txBox="1"/>
          <p:nvPr/>
        </p:nvSpPr>
        <p:spPr>
          <a:xfrm>
            <a:off x="261258" y="6384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/fpp2/</a:t>
            </a:r>
            <a:r>
              <a:rPr lang="ru-RU" dirty="0" err="1"/>
              <a:t>residuals.html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244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D0B77-F503-47A5-3B6E-F801D8E3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06613-F3A4-430B-8F6F-EABD92D60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527" y="103870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31AF62-A9CD-C1BA-7D0F-1CD9834CE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303" y="6282497"/>
            <a:ext cx="11823394" cy="517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u="sng" dirty="0"/>
              <a:t>Остатки вычисляются на всей обучающей выборке и используются для проверки адекватности модели. </a:t>
            </a:r>
          </a:p>
          <a:p>
            <a:endParaRPr lang="ru-RU" sz="18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C00E3-8E3B-8844-B48C-1ED9D608A51E}"/>
              </a:ext>
            </a:extLst>
          </p:cNvPr>
          <p:cNvSpPr txBox="1"/>
          <p:nvPr/>
        </p:nvSpPr>
        <p:spPr>
          <a:xfrm>
            <a:off x="0" y="6541481"/>
            <a:ext cx="37131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47C509-0B01-68AA-B7F1-A7A969F1E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481" y="3026833"/>
            <a:ext cx="5345926" cy="330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2F4D72-DD13-A09D-4DFD-4EBF8CD4EBD1}"/>
              </a:ext>
            </a:extLst>
          </p:cNvPr>
          <p:cNvSpPr txBox="1"/>
          <p:nvPr/>
        </p:nvSpPr>
        <p:spPr>
          <a:xfrm>
            <a:off x="9014400" y="6543562"/>
            <a:ext cx="31119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otexts.com</a:t>
            </a:r>
            <a:r>
              <a:rPr lang="ru-RU" sz="1200" dirty="0"/>
              <a:t>/</a:t>
            </a:r>
            <a:r>
              <a:rPr lang="ru-RU" sz="1200" dirty="0" err="1"/>
              <a:t>fpppy</a:t>
            </a:r>
            <a:r>
              <a:rPr lang="ru-RU" sz="1200" dirty="0"/>
              <a:t>/</a:t>
            </a:r>
            <a:r>
              <a:rPr lang="ru-RU" sz="1200" dirty="0" err="1"/>
              <a:t>nbs</a:t>
            </a:r>
            <a:r>
              <a:rPr lang="ru-RU" sz="1200" dirty="0"/>
              <a:t>/05-toolbox.html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556864E-2BD5-B4CD-67C2-B138220A1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3" y="3131008"/>
            <a:ext cx="5163201" cy="3188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80% and 95% prediction intervals for the Google closing stock price based on a naïve method.">
            <a:extLst>
              <a:ext uri="{FF2B5EF4-FFF2-40B4-BE49-F238E27FC236}">
                <a16:creationId xmlns:a16="http://schemas.microsoft.com/office/drawing/2014/main" id="{75316353-9121-65CD-E730-949E738662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4"/>
          <a:stretch>
            <a:fillRect/>
          </a:stretch>
        </p:blipFill>
        <p:spPr bwMode="auto">
          <a:xfrm>
            <a:off x="370113" y="659805"/>
            <a:ext cx="4841132" cy="257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3D047BE-B8F9-836C-9330-E010AF64D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590" y="659805"/>
            <a:ext cx="4909457" cy="251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78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6648-C5C3-F36D-8CB7-C5CA3D81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3C2E03-4ACF-964A-1384-ABFA0987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63DFD0-6B78-BB74-1A97-F8EF2A89B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3" y="881744"/>
            <a:ext cx="11636829" cy="5747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err="1"/>
              <a:t>Оста</a:t>
            </a:r>
            <a:r>
              <a:rPr lang="ru-RU" sz="2200" b="1" dirty="0"/>
              <a:t>тки должны иметь </a:t>
            </a:r>
          </a:p>
          <a:p>
            <a:pPr lvl="1"/>
            <a:r>
              <a:rPr lang="ru-RU" sz="2200" dirty="0"/>
              <a:t>0 среднее, </a:t>
            </a:r>
          </a:p>
          <a:p>
            <a:pPr lvl="1"/>
            <a:r>
              <a:rPr lang="ru-RU" sz="2200" dirty="0"/>
              <a:t>постоянную дисперсию (</a:t>
            </a:r>
            <a:r>
              <a:rPr lang="ru-RU" sz="2200" dirty="0" err="1"/>
              <a:t>гомосекдостичность</a:t>
            </a:r>
            <a:r>
              <a:rPr lang="ru-RU" sz="2200" dirty="0"/>
              <a:t>),</a:t>
            </a:r>
          </a:p>
          <a:p>
            <a:pPr lvl="1"/>
            <a:r>
              <a:rPr lang="ru-RU" sz="2200" dirty="0"/>
              <a:t>Отсутствие паттернов (не иметь корреляций)</a:t>
            </a:r>
          </a:p>
          <a:p>
            <a:pPr lvl="1"/>
            <a:r>
              <a:rPr lang="ru-RU" sz="2200" dirty="0"/>
              <a:t>нормальное распределение</a:t>
            </a:r>
          </a:p>
          <a:p>
            <a:pPr marL="0" indent="0">
              <a:buNone/>
            </a:pPr>
            <a:r>
              <a:rPr lang="ru-RU" sz="2200" i="1" dirty="0"/>
              <a:t>Методы предсказания ВР, особенно нелинейные не гарантируют этих свойств даже для лучших метрик.</a:t>
            </a:r>
          </a:p>
          <a:p>
            <a:pPr marL="0" indent="0">
              <a:buNone/>
            </a:pPr>
            <a:r>
              <a:rPr lang="ru-RU" sz="2200" dirty="0"/>
              <a:t>Нарушение требований к остаткам модели означает что:</a:t>
            </a:r>
          </a:p>
          <a:p>
            <a:pPr lvl="1"/>
            <a:r>
              <a:rPr lang="ru-RU" sz="2200" dirty="0"/>
              <a:t>Модель не полностью объясняет ВР</a:t>
            </a:r>
          </a:p>
          <a:p>
            <a:pPr lvl="2"/>
            <a:r>
              <a:rPr lang="ru-RU" dirty="0"/>
              <a:t>Ошибка предсказаний на длинном горизонте будет расти</a:t>
            </a:r>
          </a:p>
          <a:p>
            <a:pPr lvl="3"/>
            <a:r>
              <a:rPr lang="ru-RU" sz="2000" dirty="0"/>
              <a:t>Напр. данные остаются нестационарными или не учтена сезонность 2 порядка</a:t>
            </a:r>
          </a:p>
          <a:p>
            <a:pPr lvl="1"/>
            <a:r>
              <a:rPr lang="ru-RU" sz="2200" dirty="0"/>
              <a:t>В остатках могут быть выбросы и другие локальные проблемы</a:t>
            </a:r>
          </a:p>
          <a:p>
            <a:pPr lvl="2"/>
            <a:r>
              <a:rPr lang="ru-RU" sz="1800" dirty="0"/>
              <a:t>Требуется предобработка данных</a:t>
            </a:r>
          </a:p>
          <a:p>
            <a:pPr lvl="1"/>
            <a:r>
              <a:rPr lang="ru-RU" sz="2200" dirty="0"/>
              <a:t>В модели появились новые факторы</a:t>
            </a:r>
          </a:p>
          <a:p>
            <a:pPr lvl="2"/>
            <a:r>
              <a:rPr lang="ru-RU" sz="1800" dirty="0"/>
              <a:t>Требуется обновление модели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68A46-4F83-75EF-9AC5-50C84FBEBAB3}"/>
              </a:ext>
            </a:extLst>
          </p:cNvPr>
          <p:cNvSpPr txBox="1"/>
          <p:nvPr/>
        </p:nvSpPr>
        <p:spPr>
          <a:xfrm>
            <a:off x="261258" y="6384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/fpp2/</a:t>
            </a:r>
            <a:r>
              <a:rPr lang="ru-RU" dirty="0" err="1"/>
              <a:t>residuals.html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05DE72-9611-356D-D4E5-91346D2DA8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9" b="56121"/>
          <a:stretch>
            <a:fillRect/>
          </a:stretch>
        </p:blipFill>
        <p:spPr bwMode="auto">
          <a:xfrm>
            <a:off x="5627360" y="4946052"/>
            <a:ext cx="6270727" cy="17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61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остатков. Замечания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43" y="731272"/>
            <a:ext cx="11781113" cy="5935746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b="1" dirty="0"/>
              <a:t>Состоятельное предсказание (</a:t>
            </a:r>
            <a:r>
              <a:rPr lang="en" sz="2200" b="1" dirty="0"/>
              <a:t>prediction consistency</a:t>
            </a:r>
            <a:r>
              <a:rPr lang="ru-RU" sz="2200" b="1" dirty="0"/>
              <a:t>) </a:t>
            </a:r>
            <a:r>
              <a:rPr lang="ru-RU" sz="2200" dirty="0"/>
              <a:t>– это предсказание сходящееся к истинным значениям </a:t>
            </a:r>
            <a:r>
              <a:rPr lang="en-US" sz="2200" dirty="0"/>
              <a:t>ВР</a:t>
            </a:r>
            <a:r>
              <a:rPr lang="ru-RU" sz="2200" dirty="0"/>
              <a:t> для случая бесконечной выборки.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ru-RU" sz="2200" dirty="0"/>
              <a:t>Качество прогноза улучшается по мере увеличения объема обучающих данных и стремится к оптимальному (или теоретически достижимому минимуму ошибки).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ru-RU" sz="2200" u="sng" dirty="0"/>
              <a:t>Остатки модели -  представляют собой Белый гауссов шум (БГШ).</a:t>
            </a:r>
          </a:p>
          <a:p>
            <a:pPr lvl="3">
              <a:lnSpc>
                <a:spcPct val="120000"/>
              </a:lnSpc>
              <a:spcBef>
                <a:spcPts val="200"/>
              </a:spcBef>
            </a:pPr>
            <a:r>
              <a:rPr lang="ru-RU" sz="2200" i="1" dirty="0"/>
              <a:t>БГШ - случайные флуктуации во временном ряду, которые не могут быть смоделированы (или объяснил).</a:t>
            </a:r>
          </a:p>
          <a:p>
            <a:pPr lvl="4">
              <a:lnSpc>
                <a:spcPct val="120000"/>
              </a:lnSpc>
              <a:spcBef>
                <a:spcPts val="200"/>
              </a:spcBef>
            </a:pPr>
            <a:r>
              <a:rPr lang="ru-RU" sz="2000" i="1" dirty="0"/>
              <a:t>Для некоторых линейных моделей можно оценить минимальную дисперсию БГШ (</a:t>
            </a:r>
            <a:r>
              <a:rPr lang="ru-RU" sz="2000" i="1" dirty="0" err="1"/>
              <a:t>напр</a:t>
            </a:r>
            <a:r>
              <a:rPr lang="ru-RU" sz="2000" i="1" dirty="0"/>
              <a:t>, граница Крамера-</a:t>
            </a:r>
            <a:r>
              <a:rPr lang="ru-RU" sz="2000" i="1" dirty="0" err="1"/>
              <a:t>Рао</a:t>
            </a:r>
            <a:r>
              <a:rPr lang="ru-RU" sz="2000" i="1" dirty="0"/>
              <a:t>)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ru-RU" sz="2200" dirty="0"/>
              <a:t>Если предсказания сходятся к истинным значениям "в среднем квадратичном» (RMSE</a:t>
            </a:r>
            <a:r>
              <a:rPr lang="en-US" sz="2200" dirty="0"/>
              <a:t>)</a:t>
            </a:r>
            <a:r>
              <a:rPr lang="ru-RU" sz="2200" dirty="0"/>
              <a:t> или если предсказания асимптотически несмещенные </a:t>
            </a:r>
            <a:r>
              <a:rPr lang="en-US" sz="2200" dirty="0"/>
              <a:t>(MAE) </a:t>
            </a:r>
            <a:r>
              <a:rPr lang="ru-RU" sz="2200" dirty="0"/>
              <a:t>и их дисперсия стремится к нулю, то такие предсказания будут состоятельными.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ru-RU" sz="2000" dirty="0"/>
              <a:t>Состоятельное предсказание означает, что с ростом обучающей выборки информативность будет расти, дисперсия падать, вероятность переобучения падать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ru-RU" sz="2000" dirty="0"/>
              <a:t>Состоятельность означает асимптотическую эффективность модели.  Лучше использовать состоятельные модели если есть выбор.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b="1" dirty="0"/>
              <a:t>Если предсказание состоятельно – вся инфа учтена, это не значит что инфы достаточно. Анализ остатков должны сопровождаться независимыми методами проверки модели (например кросс-валидация)!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i="1" dirty="0"/>
              <a:t>	чем значимей компонента в модели ВР, тем меньше выборка (информация) нужна для ее 	предсказания (проще предсказать годовой тренд, чем колебания в выходные)</a:t>
            </a:r>
          </a:p>
        </p:txBody>
      </p:sp>
    </p:spTree>
    <p:extLst>
      <p:ext uri="{BB962C8B-B14F-4D97-AF65-F5344CB8AC3E}">
        <p14:creationId xmlns:p14="http://schemas.microsoft.com/office/powerpoint/2010/main" val="294044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951517"/>
            <a:ext cx="11759879" cy="53743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Существует несколько </a:t>
            </a:r>
            <a:r>
              <a:rPr lang="ru-RU" sz="2200" b="1" dirty="0"/>
              <a:t>методов остаточного анализа</a:t>
            </a:r>
            <a:r>
              <a:rPr lang="ru-RU" sz="2200" dirty="0"/>
              <a:t> 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Визуальный анализ остатков </a:t>
            </a:r>
            <a:r>
              <a:rPr lang="ru-RU" sz="2200" dirty="0"/>
              <a:t>(во временной или частотной области) – глобальные тенденции ВР, </a:t>
            </a:r>
            <a:r>
              <a:rPr lang="ru-RU" sz="2200" i="1" dirty="0"/>
              <a:t>скользящее среднее и дисперсия </a:t>
            </a:r>
            <a:r>
              <a:rPr lang="ru-RU" sz="2200" dirty="0"/>
              <a:t>– проверка новизны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График гистограммы </a:t>
            </a:r>
            <a:r>
              <a:rPr lang="ru-RU" sz="2200" dirty="0"/>
              <a:t>– оценка нормальности распределения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График Q-Q </a:t>
            </a:r>
            <a:r>
              <a:rPr lang="ru-RU" sz="2200" dirty="0"/>
              <a:t>(графическое сравнение распределения вероятностей)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en-US" sz="2200" b="1" dirty="0"/>
              <a:t>ACF/PACF </a:t>
            </a:r>
            <a:r>
              <a:rPr lang="ru-RU" sz="2200" b="1" dirty="0"/>
              <a:t>графики </a:t>
            </a:r>
            <a:r>
              <a:rPr lang="ru-RU" sz="2200" dirty="0"/>
              <a:t>– анализ значимых корреляций (+ Тест Линга Бокса).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2449CEE-6B6C-F355-A9BB-E35D0406A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97" y="3106546"/>
            <a:ext cx="5212751" cy="321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7386FB2-EBDE-B4B7-CA58-004879DB8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441" y="3114939"/>
            <a:ext cx="3940142" cy="328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4CD57-BFCA-F91B-5F8D-D501D6254A3E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72BED-3762-75DE-071A-DA491D2E0DFA}"/>
              </a:ext>
            </a:extLst>
          </p:cNvPr>
          <p:cNvSpPr txBox="1"/>
          <p:nvPr/>
        </p:nvSpPr>
        <p:spPr>
          <a:xfrm>
            <a:off x="263538" y="6466818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85152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68D4-4AB3-E5C6-678C-21B428EC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67E9A1-9327-2969-057D-7A621C55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145D54-E197-E316-0736-653FEE0D5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1" y="951517"/>
            <a:ext cx="6659302" cy="54776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Метод дает прогнозы, по-видимому, учитывают всю доступную информацию. 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Среднее значение остатков близко к нулю 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нет существенной корреляции.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Временной график имеет выброс, в остальном дисперсия постоянная.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Гистограмма - остатки могут быть ненормальными — правый хвост кажется слишком длинным, даже если мы игнорируем выброс.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 Следовательно, прогнозы с помощью этого метода, вероятно, будут довольно хорошими, но интервалы прогнозирования, рассчитанные с учетом нормального распределения, могут быть неточными.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700DB4B-4E96-F6D6-331B-7E1F04C61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189" y="3428999"/>
            <a:ext cx="4993628" cy="308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BD83CE-9D31-8503-6841-D35EB6A8E066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9827E-617A-7EC0-7BCA-33C1A94E3117}"/>
              </a:ext>
            </a:extLst>
          </p:cNvPr>
          <p:cNvSpPr txBox="1"/>
          <p:nvPr/>
        </p:nvSpPr>
        <p:spPr>
          <a:xfrm>
            <a:off x="885463" y="6429200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5" name="Picture 6" descr="80% and 95% prediction intervals for the Google closing stock price based on a naïve method.">
            <a:extLst>
              <a:ext uri="{FF2B5EF4-FFF2-40B4-BE49-F238E27FC236}">
                <a16:creationId xmlns:a16="http://schemas.microsoft.com/office/drawing/2014/main" id="{F3B4D2EE-5CDF-B7CE-C848-9C03E30888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4"/>
          <a:stretch>
            <a:fillRect/>
          </a:stretch>
        </p:blipFill>
        <p:spPr bwMode="auto">
          <a:xfrm>
            <a:off x="6927847" y="849883"/>
            <a:ext cx="4776486" cy="254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44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C08E-D9C4-08D6-0DFE-24FF7A5C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D014D-6EB6-51A5-D4AE-A42BFAC42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6C7F30-7606-9AC7-851B-5FBACBF68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1" y="951517"/>
            <a:ext cx="6659302" cy="54776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Метод дает не качественный прогноз.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Визуально в остатках видна нестационарность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100" dirty="0"/>
              <a:t>ACF </a:t>
            </a:r>
            <a:r>
              <a:rPr lang="ru-RU" sz="2100" dirty="0"/>
              <a:t>показывает нестационарность до 13 лага – вероятно не учтена сезонность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Гистограмма имеет скос – нестационарность, тенденция к изменению во времени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Требуется усложнить модель. Вероятно учесть годовую сезонность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AFD8A-C6F4-2461-F510-7D4BCF84E9E0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DD977-7C27-5ECC-362E-DDC91B195E43}"/>
              </a:ext>
            </a:extLst>
          </p:cNvPr>
          <p:cNvSpPr txBox="1"/>
          <p:nvPr/>
        </p:nvSpPr>
        <p:spPr>
          <a:xfrm>
            <a:off x="885463" y="6429200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A314BF8-1C00-7125-7346-6F9CF9737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392" y="3189498"/>
            <a:ext cx="5376817" cy="332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1F232D-EC30-C70D-47D9-0836239B3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363" y="867732"/>
            <a:ext cx="4909457" cy="251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13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8041-8563-02ED-9643-8BB1B47D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20444-14CF-FBE0-65E3-FAA9E408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60" y="141847"/>
            <a:ext cx="113538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 </a:t>
            </a:r>
            <a:r>
              <a:rPr lang="en-US" b="1" dirty="0" err="1"/>
              <a:t>пр</a:t>
            </a:r>
            <a:r>
              <a:rPr lang="ru-RU" b="1" dirty="0"/>
              <a:t>и помощи тестов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62E242-928E-234E-22B9-FC8811A06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1025018"/>
            <a:ext cx="11759879" cy="5374341"/>
          </a:xfrm>
        </p:spPr>
        <p:txBody>
          <a:bodyPr>
            <a:normAutofit fontScale="92500" lnSpcReduction="10000"/>
          </a:bodyPr>
          <a:lstStyle/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300" b="1" dirty="0"/>
              <a:t>Непараметрическая проверка статистических гипотез </a:t>
            </a:r>
            <a:r>
              <a:rPr lang="ru-RU" sz="2300" dirty="0"/>
              <a:t>(ADF-критерий, критерий Линга – Бокса, тест Уайта и </a:t>
            </a:r>
            <a:r>
              <a:rPr lang="ru-RU" sz="2300" dirty="0" err="1"/>
              <a:t>тд</a:t>
            </a:r>
            <a:r>
              <a:rPr lang="ru-RU" sz="2300" dirty="0"/>
              <a:t>).</a:t>
            </a:r>
          </a:p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300" dirty="0" err="1"/>
              <a:t>Тест</a:t>
            </a:r>
            <a:r>
              <a:rPr lang="ru-RU" sz="2300" dirty="0"/>
              <a:t> Линга – Бокса</a:t>
            </a:r>
          </a:p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300" dirty="0"/>
              <a:t>Идея теста: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" sz="2300" b="1" i="1" dirty="0"/>
              <a:t>H</a:t>
            </a:r>
            <a:r>
              <a:rPr lang="en" sz="2300" b="1" dirty="0"/>
              <a:t>0​</a:t>
            </a:r>
            <a:r>
              <a:rPr lang="en" sz="2300" dirty="0"/>
              <a:t>: </a:t>
            </a:r>
            <a:r>
              <a:rPr lang="ru-RU" sz="2300" dirty="0"/>
              <a:t>Остатки независимы (нет автокорреляции)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" sz="2300" b="1" i="1" dirty="0"/>
              <a:t>H</a:t>
            </a:r>
            <a:r>
              <a:rPr lang="en" sz="2300" b="1" dirty="0"/>
              <a:t>1​</a:t>
            </a:r>
            <a:r>
              <a:rPr lang="en" sz="2300" dirty="0"/>
              <a:t>: </a:t>
            </a:r>
            <a:r>
              <a:rPr lang="ru-RU" sz="2300" dirty="0"/>
              <a:t>Присутствует автокорреляция (остатки не случайны)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тест зависит от выбора числа степеней свободы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Тест выявляет неучтенные паттерны или цикличность в остатках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Часто тест дает результаты на границе выбора гипотез – требуются дополнительные исследования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1900" dirty="0">
                <a:solidFill>
                  <a:srgbClr val="2C2C36"/>
                </a:solidFill>
                <a:latin typeface="system-ui"/>
              </a:rPr>
              <a:t>Порядок модели </a:t>
            </a:r>
            <a:r>
              <a:rPr lang="ru-RU" sz="1900" dirty="0">
                <a:solidFill>
                  <a:srgbClr val="2C2C36"/>
                </a:solidFill>
                <a:latin typeface="KaTeX_Main"/>
              </a:rPr>
              <a:t>ℓ=10 или </a:t>
            </a:r>
            <a:r>
              <a:rPr lang="ru-RU" sz="1900" dirty="0" err="1">
                <a:solidFill>
                  <a:srgbClr val="2C2C36"/>
                </a:solidFill>
                <a:latin typeface="KaTeX_Main"/>
              </a:rPr>
              <a:t>ln</a:t>
            </a:r>
            <a:r>
              <a:rPr lang="en-US" sz="1900" dirty="0">
                <a:solidFill>
                  <a:srgbClr val="2C2C36"/>
                </a:solidFill>
                <a:latin typeface="KaTeX_Main"/>
              </a:rPr>
              <a:t>(n)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 .</a:t>
            </a:r>
            <a:r>
              <a:rPr lang="ru-RU" sz="1900" dirty="0">
                <a:solidFill>
                  <a:srgbClr val="2C2C36"/>
                </a:solidFill>
                <a:latin typeface="KaTeX_Main"/>
              </a:rPr>
              <a:t>ℓ=2</a:t>
            </a:r>
            <a:r>
              <a:rPr lang="en" sz="1900" i="1" dirty="0">
                <a:solidFill>
                  <a:srgbClr val="2C2C36"/>
                </a:solidFill>
                <a:latin typeface="KaTeX_Math"/>
              </a:rPr>
              <a:t>m</a:t>
            </a:r>
            <a:r>
              <a:rPr lang="en" sz="1900" dirty="0">
                <a:solidFill>
                  <a:srgbClr val="2C2C36"/>
                </a:solidFill>
                <a:latin typeface="system-ui"/>
              </a:rPr>
              <a:t> , 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где </a:t>
            </a:r>
            <a:r>
              <a:rPr lang="en" sz="1900" i="1" dirty="0">
                <a:solidFill>
                  <a:srgbClr val="2C2C36"/>
                </a:solidFill>
                <a:latin typeface="KaTeX_Math"/>
              </a:rPr>
              <a:t>m</a:t>
            </a:r>
            <a:r>
              <a:rPr lang="en" sz="1900" dirty="0">
                <a:solidFill>
                  <a:srgbClr val="2C2C36"/>
                </a:solidFill>
                <a:latin typeface="system-ui"/>
              </a:rPr>
              <a:t> — 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сезонный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1900" dirty="0"/>
              <a:t>Не используйте </a:t>
            </a:r>
            <a:r>
              <a:rPr lang="ru-RU" sz="1900" dirty="0">
                <a:latin typeface="KaTeX_Main"/>
              </a:rPr>
              <a:t>ℓ</a:t>
            </a:r>
            <a:r>
              <a:rPr lang="ru-RU" sz="1900" dirty="0"/>
              <a:t> больше </a:t>
            </a:r>
            <a:r>
              <a:rPr lang="en" sz="1900" i="1" dirty="0">
                <a:latin typeface="KaTeX_Math"/>
              </a:rPr>
              <a:t>T</a:t>
            </a:r>
            <a:r>
              <a:rPr lang="en" sz="1900" dirty="0">
                <a:latin typeface="KaTeX_Main"/>
              </a:rPr>
              <a:t>/5</a:t>
            </a:r>
            <a:r>
              <a:rPr lang="en" sz="1900" dirty="0"/>
              <a:t> , </a:t>
            </a:r>
            <a:r>
              <a:rPr lang="ru-RU" sz="1900" dirty="0"/>
              <a:t>так как это может привести к завышенной статистике.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Если лагов выбрано мало – пропуск автокорреляций, если много- мощность теста падает. </a:t>
            </a:r>
            <a:endParaRPr lang="en-US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Если в данных структурный разрыв (новизна) может дать ложный результат, также тест может не показать тяжелые хвосты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Тест не реагирует не </a:t>
            </a:r>
            <a:r>
              <a:rPr lang="ru-RU" sz="2300" dirty="0" err="1"/>
              <a:t>гетероскдостичноть</a:t>
            </a:r>
            <a:endParaRPr lang="ru-RU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Аномалии создают ложные корреляции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DF016-F8D2-9577-027C-B1A5E6ECACED}"/>
              </a:ext>
            </a:extLst>
          </p:cNvPr>
          <p:cNvSpPr txBox="1"/>
          <p:nvPr/>
        </p:nvSpPr>
        <p:spPr>
          <a:xfrm>
            <a:off x="258502" y="6380256"/>
            <a:ext cx="9579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www.numberanalytics.com</a:t>
            </a:r>
            <a:r>
              <a:rPr lang="ru-RU" dirty="0"/>
              <a:t>/</a:t>
            </a:r>
            <a:r>
              <a:rPr lang="ru-RU" dirty="0" err="1"/>
              <a:t>blog</a:t>
            </a:r>
            <a:r>
              <a:rPr lang="ru-RU" dirty="0"/>
              <a:t>/</a:t>
            </a:r>
            <a:r>
              <a:rPr lang="ru-RU" dirty="0" err="1"/>
              <a:t>mastering-residual-analysis-in-time-series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BBFD0D-37A5-1291-9EAC-A9AA43533E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595" r="49011"/>
          <a:stretch/>
        </p:blipFill>
        <p:spPr>
          <a:xfrm>
            <a:off x="7106302" y="2251206"/>
            <a:ext cx="3327002" cy="1435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BBFD0D-37A5-1291-9EAC-A9AA43533E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14" r="12171" b="65800"/>
          <a:stretch/>
        </p:blipFill>
        <p:spPr>
          <a:xfrm>
            <a:off x="7974702" y="1532622"/>
            <a:ext cx="3757050" cy="106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9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B5B2-53D0-C087-5403-91186C371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E6D2B-517F-34D9-313F-456CA21FB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19" y="228601"/>
            <a:ext cx="113538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 </a:t>
            </a:r>
            <a:r>
              <a:rPr lang="en-US" b="1" dirty="0" err="1"/>
              <a:t>пр</a:t>
            </a:r>
            <a:r>
              <a:rPr lang="ru-RU" b="1" dirty="0"/>
              <a:t>и помощи тестов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A1F197-1A9F-E6C6-6FEB-3782311A6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1025018"/>
            <a:ext cx="11975940" cy="5458078"/>
          </a:xfrm>
        </p:spPr>
        <p:txBody>
          <a:bodyPr>
            <a:normAutofit/>
          </a:bodyPr>
          <a:lstStyle/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100" b="1" dirty="0"/>
              <a:t>Дополнительные тесты. Основные идеи</a:t>
            </a:r>
            <a:endParaRPr lang="ru-RU" sz="2100" dirty="0"/>
          </a:p>
          <a:p>
            <a:pPr lvl="1"/>
            <a:r>
              <a:rPr lang="ru-RU" sz="2100" dirty="0"/>
              <a:t>Тест сезонность и цикличность: </a:t>
            </a:r>
            <a:r>
              <a:rPr lang="en" sz="2100" dirty="0"/>
              <a:t>Portmanteau </a:t>
            </a:r>
            <a:r>
              <a:rPr lang="ru-RU" sz="2100" dirty="0"/>
              <a:t>Махди тест (Линг-Бокс на сезонных лагах)</a:t>
            </a:r>
          </a:p>
          <a:p>
            <a:pPr lvl="1"/>
            <a:r>
              <a:rPr lang="ru-RU" sz="2100" dirty="0"/>
              <a:t>Тест на </a:t>
            </a:r>
            <a:r>
              <a:rPr lang="ru-RU" sz="2100" dirty="0" err="1"/>
              <a:t>гетеросекдостичность</a:t>
            </a:r>
            <a:r>
              <a:rPr lang="ru-RU" sz="2100" dirty="0"/>
              <a:t>:  </a:t>
            </a:r>
            <a:r>
              <a:rPr lang="en" sz="2100" dirty="0"/>
              <a:t>Breusch-Pagan Test</a:t>
            </a:r>
            <a:r>
              <a:rPr lang="ru-RU" sz="2100" dirty="0"/>
              <a:t> (сравнение квадрата остатков и средней дисперсии)</a:t>
            </a:r>
          </a:p>
          <a:p>
            <a:pPr lvl="1"/>
            <a:r>
              <a:rPr lang="ru-RU" sz="2100" dirty="0"/>
              <a:t>Тест на новизну и точки перегиба в данных: </a:t>
            </a:r>
            <a:r>
              <a:rPr lang="en-US" sz="2100" dirty="0"/>
              <a:t>CUSUM – </a:t>
            </a:r>
            <a:r>
              <a:rPr lang="en-US" sz="2100" dirty="0" err="1"/>
              <a:t>на</a:t>
            </a:r>
            <a:r>
              <a:rPr lang="ru-RU" sz="2100" dirty="0" err="1"/>
              <a:t>копление</a:t>
            </a:r>
            <a:r>
              <a:rPr lang="ru-RU" sz="2100" dirty="0"/>
              <a:t> отклонений от среднего, Тест </a:t>
            </a:r>
            <a:r>
              <a:rPr lang="ru-RU" sz="2100" dirty="0" err="1"/>
              <a:t>Петтита</a:t>
            </a:r>
            <a:r>
              <a:rPr lang="ru-RU" sz="2100" dirty="0"/>
              <a:t> – изменение среднего значения ранговой корреляции, через анализ медианы и ширины распределения</a:t>
            </a:r>
          </a:p>
          <a:p>
            <a:pPr lvl="1"/>
            <a:r>
              <a:rPr lang="ru-RU" sz="2100" dirty="0"/>
              <a:t>Тест на нормальное распределение: Тест Шапиро- </a:t>
            </a:r>
            <a:r>
              <a:rPr lang="ru-RU" sz="2100" dirty="0" err="1"/>
              <a:t>Уилка</a:t>
            </a:r>
            <a:r>
              <a:rPr lang="ru-RU" sz="2100" dirty="0"/>
              <a:t> (для небольших выборок подобно </a:t>
            </a:r>
            <a:r>
              <a:rPr lang="ru-RU" sz="2100" dirty="0" err="1"/>
              <a:t>Q</a:t>
            </a:r>
            <a:r>
              <a:rPr lang="ru-RU" sz="2100" dirty="0"/>
              <a:t>-</a:t>
            </a:r>
            <a:r>
              <a:rPr lang="en-US" sz="2100" dirty="0"/>
              <a:t>Q</a:t>
            </a:r>
            <a:r>
              <a:rPr lang="ru-RU" sz="2100" dirty="0"/>
              <a:t>), тест </a:t>
            </a:r>
            <a:r>
              <a:rPr lang="ru-RU" sz="2100" dirty="0" err="1"/>
              <a:t>Калмогорова</a:t>
            </a:r>
            <a:r>
              <a:rPr lang="ru-RU" sz="2100" dirty="0"/>
              <a:t> Смирнова (сравнение эмпирической </a:t>
            </a:r>
            <a:r>
              <a:rPr lang="ru-RU" sz="2100" dirty="0" err="1"/>
              <a:t>cd</a:t>
            </a:r>
            <a:r>
              <a:rPr lang="en-US" sz="2100" dirty="0"/>
              <a:t>f </a:t>
            </a:r>
            <a:r>
              <a:rPr lang="ru-RU" sz="2100" dirty="0"/>
              <a:t>и </a:t>
            </a:r>
            <a:r>
              <a:rPr lang="en-US" sz="2100" dirty="0" err="1"/>
              <a:t>cdf</a:t>
            </a:r>
            <a:r>
              <a:rPr lang="ru-RU" sz="2100" dirty="0"/>
              <a:t> нормального распределения)</a:t>
            </a:r>
          </a:p>
          <a:p>
            <a:r>
              <a:rPr lang="ru-RU" sz="2100" b="1" dirty="0"/>
              <a:t>Помимо тестов рекомендуется </a:t>
            </a:r>
          </a:p>
          <a:p>
            <a:r>
              <a:rPr lang="ru-RU" sz="2100" dirty="0"/>
              <a:t>проводить визуальный анализ остатков, в том числе разделенных на сегменты,</a:t>
            </a:r>
          </a:p>
          <a:p>
            <a:r>
              <a:rPr lang="ru-RU" sz="2100" dirty="0"/>
              <a:t>Перекрестную проверку модели</a:t>
            </a:r>
          </a:p>
          <a:p>
            <a:r>
              <a:rPr lang="ru-RU" sz="2100" dirty="0"/>
              <a:t>Сравнивать несколько моделей между собой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A9143-0271-03F5-094F-9ADCBE266A95}"/>
              </a:ext>
            </a:extLst>
          </p:cNvPr>
          <p:cNvSpPr txBox="1"/>
          <p:nvPr/>
        </p:nvSpPr>
        <p:spPr>
          <a:xfrm>
            <a:off x="258502" y="6380256"/>
            <a:ext cx="9579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www.numberanalytics.com</a:t>
            </a:r>
            <a:r>
              <a:rPr lang="ru-RU" dirty="0"/>
              <a:t>/</a:t>
            </a:r>
            <a:r>
              <a:rPr lang="ru-RU" dirty="0" err="1"/>
              <a:t>blog</a:t>
            </a:r>
            <a:r>
              <a:rPr lang="ru-RU" dirty="0"/>
              <a:t>/</a:t>
            </a:r>
            <a:r>
              <a:rPr lang="ru-RU" dirty="0" err="1"/>
              <a:t>mastering-residual-analysis-in-time-series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285BC-9494-FE18-3BF8-43AC28D6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 тестов анализа невязок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53FB2A8-1743-28F9-9B55-9A676F8FA8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8981348"/>
              </p:ext>
            </p:extLst>
          </p:nvPr>
        </p:nvGraphicFramePr>
        <p:xfrm>
          <a:off x="356924" y="1589887"/>
          <a:ext cx="11230494" cy="3396800"/>
        </p:xfrm>
        <a:graphic>
          <a:graphicData uri="http://schemas.openxmlformats.org/drawingml/2006/table">
            <a:tbl>
              <a:tblPr/>
              <a:tblGrid>
                <a:gridCol w="3055876">
                  <a:extLst>
                    <a:ext uri="{9D8B030D-6E8A-4147-A177-3AD203B41FA5}">
                      <a16:colId xmlns:a16="http://schemas.microsoft.com/office/drawing/2014/main" val="2032119108"/>
                    </a:ext>
                  </a:extLst>
                </a:gridCol>
                <a:gridCol w="3189600">
                  <a:extLst>
                    <a:ext uri="{9D8B030D-6E8A-4147-A177-3AD203B41FA5}">
                      <a16:colId xmlns:a16="http://schemas.microsoft.com/office/drawing/2014/main" val="1693817792"/>
                    </a:ext>
                  </a:extLst>
                </a:gridCol>
                <a:gridCol w="4985018">
                  <a:extLst>
                    <a:ext uri="{9D8B030D-6E8A-4147-A177-3AD203B41FA5}">
                      <a16:colId xmlns:a16="http://schemas.microsoft.com/office/drawing/2014/main" val="2769332843"/>
                    </a:ext>
                  </a:extLst>
                </a:gridCol>
              </a:tblGrid>
              <a:tr h="104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Задача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Комментарий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140635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Автокорреляция остатков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Ljung–Box, Box–Pierce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Наиболее популярные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939497"/>
                  </a:ext>
                </a:extLst>
              </a:tr>
              <a:tr h="116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Гетероскедастичность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McLeod–Li, ArchTest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 квадратах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181400"/>
                  </a:ext>
                </a:extLst>
              </a:tr>
              <a:tr h="116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Выбросы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IQR, Grubbs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 остатках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14133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Стационарность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ADF, KPSS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проверки стационарности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68200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Нормальность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Shapiro–Wilk, Jarque–Bera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построения доверительных интервалов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403402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Наличие структурных сдвигов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CUSUM, Chow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анализа стабильности модели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64147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Смещение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t-</a:t>
                      </a: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 на среднее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проверки систематической ошибки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265252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Вероятностные прогнозы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CRPS, Winkler score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оценки качества интервалов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001306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Эмпирическая надёжность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Conformal Prediction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построения интервалов без предположений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46771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Сезонные остатки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Mahdi’s seasonal portmanteau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Альтернатива </a:t>
                      </a: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Ljung–Box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сезонных </a:t>
                      </a: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ARIMA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005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E4A131-C456-B79F-CE24-13C6CA33A17F}"/>
              </a:ext>
            </a:extLst>
          </p:cNvPr>
          <p:cNvSpPr txBox="1"/>
          <p:nvPr/>
        </p:nvSpPr>
        <p:spPr>
          <a:xfrm>
            <a:off x="356924" y="5138607"/>
            <a:ext cx="10893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Ljung–Box </a:t>
            </a:r>
            <a:r>
              <a:rPr lang="ru-RU" b="0" i="0" dirty="0">
                <a:solidFill>
                  <a:srgbClr val="111827"/>
                </a:solidFill>
                <a:effectLst/>
              </a:rPr>
              <a:t>и </a:t>
            </a:r>
            <a:r>
              <a:rPr lang="en" b="0" i="0" dirty="0">
                <a:solidFill>
                  <a:srgbClr val="111827"/>
                </a:solidFill>
                <a:effectLst/>
              </a:rPr>
              <a:t>Box–Pierce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хороши для проверки автокорреляции в остатках.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McLeod–Li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есть подозрения на </a:t>
            </a:r>
            <a:r>
              <a:rPr lang="ru-RU" b="0" i="0" dirty="0" err="1">
                <a:solidFill>
                  <a:srgbClr val="2C2C36"/>
                </a:solidFill>
                <a:effectLst/>
              </a:rPr>
              <a:t>гетероскедастичность</a:t>
            </a:r>
            <a:r>
              <a:rPr lang="ru-RU" b="0" i="0" dirty="0">
                <a:solidFill>
                  <a:srgbClr val="2C2C36"/>
                </a:solidFill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CUSUM/Chow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есть подозрения на структурные изменения.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Shapiro–Wilk/Jarque–Bera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планируете строить доверительные интервалы на основе нормальности.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CRPS/Winkler score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работаете с вероятностными прогнозами.</a:t>
            </a:r>
          </a:p>
        </p:txBody>
      </p:sp>
    </p:spTree>
    <p:extLst>
      <p:ext uri="{BB962C8B-B14F-4D97-AF65-F5344CB8AC3E}">
        <p14:creationId xmlns:p14="http://schemas.microsoft.com/office/powerpoint/2010/main" val="320254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АКФ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1151271"/>
            <a:ext cx="10789024" cy="74420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Пример остатков прогноза временных рядов.</a:t>
            </a:r>
          </a:p>
          <a:p>
            <a:r>
              <a:rPr lang="ru-RU" dirty="0"/>
              <a:t>Здесь можно проверить наличие тренда, циклической или сезонной составляющей.</a:t>
            </a:r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3876DC67-8C75-49EF-A171-20298B10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8497"/>
            <a:ext cx="6433193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16A3B-3DE8-4F4E-ACD2-5494D34F5BCE}"/>
              </a:ext>
            </a:extLst>
          </p:cNvPr>
          <p:cNvSpPr/>
          <p:nvPr/>
        </p:nvSpPr>
        <p:spPr>
          <a:xfrm>
            <a:off x="8693437" y="2026315"/>
            <a:ext cx="28508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Вот пример</a:t>
            </a:r>
          </a:p>
          <a:p>
            <a:r>
              <a:rPr lang="ru-RU" dirty="0"/>
              <a:t>сводная статистика</a:t>
            </a:r>
          </a:p>
          <a:p>
            <a:r>
              <a:rPr lang="ru-RU" dirty="0"/>
              <a:t>для показанного графика</a:t>
            </a:r>
          </a:p>
          <a:p>
            <a:pPr latinLnBrk="1"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count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125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mean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0.064000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std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9.187776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min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28.000000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6.000000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75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max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30.000000</a:t>
            </a:r>
            <a:endParaRPr lang="en-US" dirty="0"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7D975-9020-4020-BCE4-5D933094985B}"/>
              </a:ext>
            </a:extLst>
          </p:cNvPr>
          <p:cNvSpPr/>
          <p:nvPr/>
        </p:nvSpPr>
        <p:spPr>
          <a:xfrm>
            <a:off x="76913" y="4351888"/>
            <a:ext cx="81445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Возможны следующие выводы.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Среднее значение ошибки близко к нулю</a:t>
            </a:r>
            <a:r>
              <a:rPr lang="ru-RU" dirty="0"/>
              <a:t> , но, возможно, недостаточно близко (на самом деле мы не можем сказать, связано ли это с малым размером выборки, смещением ряда или наличием ценного компонента).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Несимметричные минимальные и максимальные значения</a:t>
            </a:r>
            <a:r>
              <a:rPr lang="ru-RU" dirty="0"/>
              <a:t>  также подтверждают некоторое ненормальное поведение.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Стандартное значение почти в 3 раза меньше минимального,</a:t>
            </a:r>
            <a:r>
              <a:rPr lang="ru-RU" dirty="0"/>
              <a:t>  это нормально.</a:t>
            </a:r>
          </a:p>
        </p:txBody>
      </p:sp>
    </p:spTree>
    <p:extLst>
      <p:ext uri="{BB962C8B-B14F-4D97-AF65-F5344CB8AC3E}">
        <p14:creationId xmlns:p14="http://schemas.microsoft.com/office/powerpoint/2010/main" val="2203627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13141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Гистограмма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Здесь показана гистограмма и ее нормализованное приближение. Мы можем видеть некоторую погрешность среднего значения и наличие асимметрии (статистический момент 3-го порядка, некоторая асимметрия распределения).</a:t>
            </a:r>
          </a:p>
          <a:p>
            <a:r>
              <a:rPr lang="ru-RU" sz="2000" i="1" dirty="0"/>
              <a:t>Небольшая асимметрия</a:t>
            </a:r>
            <a:r>
              <a:rPr lang="ru-RU" sz="2000" dirty="0"/>
              <a:t>  позволяет предположить, что требуется некоторое улучшение модели.</a:t>
            </a:r>
          </a:p>
          <a:p>
            <a:r>
              <a:rPr lang="ru-RU" sz="2000" i="1" dirty="0"/>
              <a:t>Большая асимметрия</a:t>
            </a:r>
            <a:r>
              <a:rPr lang="ru-RU" sz="2000" dirty="0"/>
              <a:t>  позволяет предположить, что необходимо проверить другую модель или что перед прогнозом (или разложением) необходима некоторая предварительная обработка (логарифм, квадратный корень из данных).</a:t>
            </a:r>
          </a:p>
        </p:txBody>
      </p:sp>
      <p:pic>
        <p:nvPicPr>
          <p:cNvPr id="16386" name="Picture 2" descr="image.png">
            <a:extLst>
              <a:ext uri="{FF2B5EF4-FFF2-40B4-BE49-F238E27FC236}">
                <a16:creationId xmlns:a16="http://schemas.microsoft.com/office/drawing/2014/main" id="{73E0B2CF-6E5B-4C0D-80B3-950B557EB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816" y="3856290"/>
            <a:ext cx="727710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66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46224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altLang="en-US" dirty="0"/>
              <a:t>Q-Q </a:t>
            </a:r>
            <a:r>
              <a:rPr lang="ru-RU" altLang="en-US" dirty="0"/>
              <a:t>график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График Q-Q или график квантилей - это метод графического сравнения двух распределений.</a:t>
            </a:r>
          </a:p>
          <a:p>
            <a:r>
              <a:rPr lang="ru-RU" sz="2000" dirty="0"/>
              <a:t>Этот метод можно использовать для визуальной оценки того, насколько похожим или отличным может быть распределение. </a:t>
            </a:r>
          </a:p>
          <a:p>
            <a:r>
              <a:rPr lang="ru-RU" sz="2000" u="sng" dirty="0"/>
              <a:t>В остаточном анализе полученные значения распределения упорядочиваются и сравниваются с идеализированным распределением Гаусса. </a:t>
            </a:r>
          </a:p>
          <a:p>
            <a:r>
              <a:rPr lang="ru-RU" sz="2000" dirty="0"/>
              <a:t>Сравнение отображается как диаграмма рассеяния (теоретическая по оси x и наблюдаемая по оси y), где соответствие между двумя распределениями показано диагональной линией от нижнего левого угла до верхнего правого угла графика (с угол 45 градусов 𝑦 = 𝑥).</a:t>
            </a:r>
          </a:p>
          <a:p>
            <a:r>
              <a:rPr lang="ru-RU" sz="2000" dirty="0"/>
              <a:t> График Q-Q может помочь быстро показать отклонения от этого ожидания.</a:t>
            </a:r>
          </a:p>
        </p:txBody>
      </p:sp>
      <p:pic>
        <p:nvPicPr>
          <p:cNvPr id="18434" name="Picture 2" descr="image.png">
            <a:extLst>
              <a:ext uri="{FF2B5EF4-FFF2-40B4-BE49-F238E27FC236}">
                <a16:creationId xmlns:a16="http://schemas.microsoft.com/office/drawing/2014/main" id="{03477BD5-BC06-4399-9AB6-491E59258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576" y="4186720"/>
            <a:ext cx="3238500" cy="242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49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65125"/>
            <a:ext cx="11536456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altLang="en-US" dirty="0"/>
              <a:t>Q-Q </a:t>
            </a:r>
            <a:r>
              <a:rPr lang="ru-RU" altLang="en-US" dirty="0"/>
              <a:t>график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19458" name="Picture 2" descr="image.png">
            <a:extLst>
              <a:ext uri="{FF2B5EF4-FFF2-40B4-BE49-F238E27FC236}">
                <a16:creationId xmlns:a16="http://schemas.microsoft.com/office/drawing/2014/main" id="{704DEF0B-6378-4183-AF25-947553EC6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377951"/>
            <a:ext cx="4191000" cy="48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image.png">
            <a:extLst>
              <a:ext uri="{FF2B5EF4-FFF2-40B4-BE49-F238E27FC236}">
                <a16:creationId xmlns:a16="http://schemas.microsoft.com/office/drawing/2014/main" id="{F379DE72-FD54-43DA-9E77-A032D7596B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1"/>
          <a:stretch/>
        </p:blipFill>
        <p:spPr bwMode="auto">
          <a:xfrm>
            <a:off x="8172450" y="1435169"/>
            <a:ext cx="3384046" cy="286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123D101A-0C41-4918-90D4-57904B409B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25"/>
          <a:stretch/>
        </p:blipFill>
        <p:spPr bwMode="auto">
          <a:xfrm>
            <a:off x="4638675" y="1253331"/>
            <a:ext cx="3533775" cy="323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58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93" y="365125"/>
            <a:ext cx="10832507" cy="91122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Методы на основе статистических тестов. </a:t>
            </a:r>
            <a:r>
              <a:rPr lang="ru-RU" altLang="en-US" dirty="0"/>
              <a:t>Непараметрические методы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59" y="1419784"/>
            <a:ext cx="11458574" cy="4739889"/>
          </a:xfrm>
        </p:spPr>
        <p:txBody>
          <a:bodyPr>
            <a:noAutofit/>
          </a:bodyPr>
          <a:lstStyle/>
          <a:p>
            <a:r>
              <a:rPr lang="ru-RU" sz="2000" dirty="0"/>
              <a:t>Линии на рисунке показывают уровни, ниже которых (или между + </a:t>
            </a:r>
            <a:r>
              <a:rPr lang="ru-RU" sz="2000" dirty="0" err="1"/>
              <a:t>level</a:t>
            </a:r>
            <a:r>
              <a:rPr lang="ru-RU" sz="2000" dirty="0"/>
              <a:t> и -</a:t>
            </a:r>
            <a:r>
              <a:rPr lang="ru-RU" sz="2000" dirty="0" err="1"/>
              <a:t>level</a:t>
            </a:r>
            <a:r>
              <a:rPr lang="ru-RU" sz="2000" dirty="0"/>
              <a:t>) с достоверностью 95% для непрерывных и 99% для штриховых линий образцы принадлежат белому шуму.</a:t>
            </a:r>
          </a:p>
          <a:p>
            <a:r>
              <a:rPr lang="ru-RU" sz="2000" dirty="0"/>
              <a:t>Значения этих линий получены с помощью теста </a:t>
            </a:r>
            <a:r>
              <a:rPr lang="ru-RU" sz="2000" dirty="0" err="1"/>
              <a:t>Льюнга</a:t>
            </a:r>
            <a:r>
              <a:rPr lang="ru-RU" sz="2000" dirty="0"/>
              <a:t> - Бокса - теста, проверяющего, принадлежат ли m лаг ряда АКФ белому </a:t>
            </a:r>
            <a:r>
              <a:rPr lang="ru-RU" sz="2000" dirty="0" err="1"/>
              <a:t>гауссовскому</a:t>
            </a:r>
            <a:r>
              <a:rPr lang="ru-RU" sz="2000" dirty="0"/>
              <a:t> шуму с заданным уровнем достоверности. </a:t>
            </a:r>
          </a:p>
          <a:p>
            <a:r>
              <a:rPr lang="ru-RU" sz="2000" dirty="0"/>
              <a:t>Расчетное значение, вычисленное с помощью теста </a:t>
            </a:r>
            <a:r>
              <a:rPr lang="ru-RU" sz="2000" dirty="0" err="1"/>
              <a:t>Льюнга</a:t>
            </a:r>
            <a:r>
              <a:rPr lang="ru-RU" sz="2000" dirty="0"/>
              <a:t>-Бокса, является так называемым p-значением (статистической значимостью) по тесту </a:t>
            </a:r>
            <a:r>
              <a:rPr lang="ru-RU" sz="2000" dirty="0" err="1"/>
              <a:t>Льюнга</a:t>
            </a:r>
            <a:r>
              <a:rPr lang="ru-RU" sz="2000" dirty="0"/>
              <a:t>-Бокса.</a:t>
            </a:r>
          </a:p>
        </p:txBody>
      </p:sp>
      <p:pic>
        <p:nvPicPr>
          <p:cNvPr id="21506" name="Picture 2" descr="image.png">
            <a:extLst>
              <a:ext uri="{FF2B5EF4-FFF2-40B4-BE49-F238E27FC236}">
                <a16:creationId xmlns:a16="http://schemas.microsoft.com/office/drawing/2014/main" id="{BD34C626-9B45-4906-9527-88B5670D3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825" y="3385155"/>
            <a:ext cx="4570665" cy="342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06452" y="3621827"/>
            <a:ext cx="60361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Обратите внимание, что может случиться, что доверительный интервал 95% соответствует нормальному распределению, а 99% не соответствует, тогда нужны дополнительные меры анализа, но иногда это значит, что точки с такой ситуацией – это выбросы.  </a:t>
            </a:r>
          </a:p>
        </p:txBody>
      </p:sp>
    </p:spTree>
    <p:extLst>
      <p:ext uri="{BB962C8B-B14F-4D97-AF65-F5344CB8AC3E}">
        <p14:creationId xmlns:p14="http://schemas.microsoft.com/office/powerpoint/2010/main" val="276425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r>
              <a:rPr lang="ru-RU" dirty="0"/>
              <a:t>Сводный </a:t>
            </a:r>
            <a:r>
              <a:rPr lang="ru-RU" dirty="0" err="1"/>
              <a:t>статичесический</a:t>
            </a:r>
            <a:r>
              <a:rPr lang="ru-RU" dirty="0"/>
              <a:t> анализ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1151271"/>
            <a:ext cx="10789024" cy="74420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Пример остатков прогноза временных рядов.</a:t>
            </a:r>
          </a:p>
          <a:p>
            <a:r>
              <a:rPr lang="ru-RU" dirty="0"/>
              <a:t>Здесь можно проверить наличие тренда, циклической или сезонной составляющей.</a:t>
            </a:r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3876DC67-8C75-49EF-A171-20298B10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8497"/>
            <a:ext cx="6433193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16A3B-3DE8-4F4E-ACD2-5494D34F5BCE}"/>
              </a:ext>
            </a:extLst>
          </p:cNvPr>
          <p:cNvSpPr/>
          <p:nvPr/>
        </p:nvSpPr>
        <p:spPr>
          <a:xfrm>
            <a:off x="8693437" y="2026315"/>
            <a:ext cx="28508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Вот пример</a:t>
            </a:r>
          </a:p>
          <a:p>
            <a:r>
              <a:rPr lang="ru-RU" dirty="0"/>
              <a:t>сводная статистика</a:t>
            </a:r>
          </a:p>
          <a:p>
            <a:r>
              <a:rPr lang="ru-RU" dirty="0"/>
              <a:t>для показанного графика</a:t>
            </a:r>
          </a:p>
          <a:p>
            <a:pPr latinLnBrk="1"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count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125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mean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0.064000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std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9.187776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min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28.000000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6.000000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75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max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30.000000</a:t>
            </a:r>
            <a:endParaRPr lang="en-US" dirty="0"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7D975-9020-4020-BCE4-5D933094985B}"/>
              </a:ext>
            </a:extLst>
          </p:cNvPr>
          <p:cNvSpPr/>
          <p:nvPr/>
        </p:nvSpPr>
        <p:spPr>
          <a:xfrm>
            <a:off x="76913" y="4351888"/>
            <a:ext cx="81445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Возможны следующие выводы.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Среднее значение ошибки близко к нулю</a:t>
            </a:r>
            <a:r>
              <a:rPr lang="ru-RU" dirty="0"/>
              <a:t> , но, возможно, недостаточно близко (на самом деле мы не можем сказать, связано ли это с малым размером выборки, смещением ряда или наличием ценного компонента).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Несимметричные минимальные и максимальные значения</a:t>
            </a:r>
            <a:r>
              <a:rPr lang="ru-RU" dirty="0"/>
              <a:t>  также подтверждают некоторое ненормальное поведение.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Стандартное значение почти в 3 раза меньше минимального,</a:t>
            </a:r>
            <a:r>
              <a:rPr lang="ru-RU" dirty="0"/>
              <a:t>  это нормально.</a:t>
            </a:r>
          </a:p>
        </p:txBody>
      </p:sp>
    </p:spTree>
    <p:extLst>
      <p:ext uri="{BB962C8B-B14F-4D97-AF65-F5344CB8AC3E}">
        <p14:creationId xmlns:p14="http://schemas.microsoft.com/office/powerpoint/2010/main" val="17224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Остаточный анализ. Стационарность остатков. Графический метод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3729" y="1360505"/>
            <a:ext cx="10934699" cy="9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PACF может использоваться с ACF для стационарного анализа, а также будет применяться в дальнейшем для других целей.</a:t>
            </a:r>
          </a:p>
          <a:p>
            <a:r>
              <a:rPr lang="ru-RU" sz="2000" dirty="0"/>
              <a:t>Пример нестационарного случая ACF и PACF</a:t>
            </a:r>
          </a:p>
        </p:txBody>
      </p:sp>
      <p:pic>
        <p:nvPicPr>
          <p:cNvPr id="25602" name="Picture 2" descr="image.png">
            <a:extLst>
              <a:ext uri="{FF2B5EF4-FFF2-40B4-BE49-F238E27FC236}">
                <a16:creationId xmlns:a16="http://schemas.microsoft.com/office/drawing/2014/main" id="{0BED12D2-FF26-425C-AE2D-D5ED29E57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479" y="2319742"/>
            <a:ext cx="7981950" cy="428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25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Остаточный анализ. Стационарность остатков. Графический метод</a:t>
            </a:r>
            <a:endParaRPr lang="en-US" b="1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004" y="1360506"/>
            <a:ext cx="10934699" cy="9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PACF может использоваться с ACF для стационарного анализа, а также будет применяться в дальнейшем для других целей.</a:t>
            </a:r>
          </a:p>
          <a:p>
            <a:r>
              <a:rPr lang="ru-RU" sz="2000" dirty="0"/>
              <a:t>Пример стационарного случая ACF и PACF</a:t>
            </a:r>
          </a:p>
        </p:txBody>
      </p:sp>
      <p:pic>
        <p:nvPicPr>
          <p:cNvPr id="26626" name="Picture 2" descr="image.png">
            <a:extLst>
              <a:ext uri="{FF2B5EF4-FFF2-40B4-BE49-F238E27FC236}">
                <a16:creationId xmlns:a16="http://schemas.microsoft.com/office/drawing/2014/main" id="{6E25DC88-C46A-4B6F-993D-F126A272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4" y="2225109"/>
            <a:ext cx="8582025" cy="460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79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4632" y="99949"/>
            <a:ext cx="11052048" cy="1024763"/>
          </a:xfrm>
        </p:spPr>
        <p:txBody>
          <a:bodyPr/>
          <a:lstStyle/>
          <a:p>
            <a:pPr algn="ctr"/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1752" y="950976"/>
            <a:ext cx="11768328" cy="5522976"/>
          </a:xfrm>
        </p:spPr>
        <p:txBody>
          <a:bodyPr/>
          <a:lstStyle/>
          <a:p>
            <a:pPr lvl="0" algn="just"/>
            <a:r>
              <a:rPr lang="ru-RU" dirty="0"/>
              <a:t>Объясните цели анализа невязок модели. Почему этот метод диагностики можно использовать на тренировочной выборке. Какие подходу к анализу невязок вы можете назвать и в каких случаях они будут полезны</a:t>
            </a:r>
            <a:r>
              <a:rPr lang="ru-RU" dirty="0" smtClean="0"/>
              <a:t>?</a:t>
            </a:r>
          </a:p>
          <a:p>
            <a:pPr lvl="0" algn="just"/>
            <a:r>
              <a:rPr lang="ru-RU" dirty="0" smtClean="0"/>
              <a:t>Приведите примеры ВР и  основные проблемы невязок при использовании наивных методов которые могут быть. Какие методы диагностики в указанных случаях вы бы продолжили использовать.</a:t>
            </a:r>
          </a:p>
          <a:p>
            <a:pPr lvl="0" algn="just"/>
            <a:r>
              <a:rPr lang="ru-RU" dirty="0" smtClean="0"/>
              <a:t>Попробуйте визуализировать примеры остатков и статистические тесты, подходящие для их диагностики.</a:t>
            </a:r>
          </a:p>
          <a:p>
            <a:pPr lvl="0" algn="just"/>
            <a:r>
              <a:rPr lang="ru-RU" dirty="0" smtClean="0"/>
              <a:t>Проведите небольшой анализ как те или иные проблемы </a:t>
            </a:r>
            <a:r>
              <a:rPr lang="ru-RU" dirty="0" err="1" smtClean="0"/>
              <a:t>остатов</a:t>
            </a:r>
            <a:r>
              <a:rPr lang="ru-RU" dirty="0" smtClean="0"/>
              <a:t> ВР скажутся на метриках оценки качества предсказаний ВР (как на точечных, так и на вероятностных). Как это скажется на других параметрах предсказания (напр. горизонт, надежность).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048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4352</TotalTime>
  <Words>1362</Words>
  <Application>Microsoft Office PowerPoint</Application>
  <PresentationFormat>Широкоэкранный</PresentationFormat>
  <Paragraphs>187</Paragraphs>
  <Slides>20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Cambria Math</vt:lpstr>
      <vt:lpstr>Consolas</vt:lpstr>
      <vt:lpstr>KaTeX_Main</vt:lpstr>
      <vt:lpstr>KaTeX_Math</vt:lpstr>
      <vt:lpstr>system-ui</vt:lpstr>
      <vt:lpstr>Times New Roman</vt:lpstr>
      <vt:lpstr>Тема Office</vt:lpstr>
      <vt:lpstr>Презентация PowerPoint</vt:lpstr>
      <vt:lpstr>Анализ невязок (остатков).</vt:lpstr>
      <vt:lpstr>Анализ невязок (остатков).</vt:lpstr>
      <vt:lpstr>Анализ невязок (остатков).</vt:lpstr>
      <vt:lpstr>Анализ остатков. Замечания</vt:lpstr>
      <vt:lpstr>Визуальный Анализ невязок (остатков).</vt:lpstr>
      <vt:lpstr>Визуальный Анализ невязок (остатков).</vt:lpstr>
      <vt:lpstr>Визуальный Анализ невязок (остатков).</vt:lpstr>
      <vt:lpstr>Анализ невязок (остатков) при помощи тестов.</vt:lpstr>
      <vt:lpstr>Анализ невязок (остатков) при помощи тестов.</vt:lpstr>
      <vt:lpstr>Примеры тестов анализа невязок</vt:lpstr>
      <vt:lpstr>Методы на основе визуальной оценки. АКФ</vt:lpstr>
      <vt:lpstr>Методы на основе визуальной оценки. Гистограмма</vt:lpstr>
      <vt:lpstr>Методы на основе визуальной оценки. Q-Q график</vt:lpstr>
      <vt:lpstr>Методы на основе визуальной оценки. Q-Q график</vt:lpstr>
      <vt:lpstr>Методы на основе статистических тестов. Непараметрические методы</vt:lpstr>
      <vt:lpstr>Сводный статичесический анализ</vt:lpstr>
      <vt:lpstr>Остаточный анализ. Стационарность остатков. Графический метод</vt:lpstr>
      <vt:lpstr>Остаточный анализ. Стационарность остатков. Графический метод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227</cp:revision>
  <dcterms:created xsi:type="dcterms:W3CDTF">2021-10-31T10:57:36Z</dcterms:created>
  <dcterms:modified xsi:type="dcterms:W3CDTF">2026-03-26T14:01:32Z</dcterms:modified>
</cp:coreProperties>
</file>