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477" r:id="rId2"/>
    <p:sldId id="478" r:id="rId3"/>
    <p:sldId id="476" r:id="rId4"/>
    <p:sldId id="462" r:id="rId5"/>
    <p:sldId id="465" r:id="rId6"/>
    <p:sldId id="463" r:id="rId7"/>
    <p:sldId id="486" r:id="rId8"/>
    <p:sldId id="464" r:id="rId9"/>
    <p:sldId id="469" r:id="rId10"/>
    <p:sldId id="466" r:id="rId11"/>
    <p:sldId id="467" r:id="rId12"/>
    <p:sldId id="487" r:id="rId13"/>
    <p:sldId id="471" r:id="rId14"/>
    <p:sldId id="475" r:id="rId15"/>
    <p:sldId id="489" r:id="rId16"/>
    <p:sldId id="490" r:id="rId17"/>
    <p:sldId id="474" r:id="rId18"/>
    <p:sldId id="473" r:id="rId19"/>
    <p:sldId id="483" r:id="rId20"/>
    <p:sldId id="481" r:id="rId21"/>
    <p:sldId id="480" r:id="rId22"/>
    <p:sldId id="484" r:id="rId23"/>
    <p:sldId id="488" r:id="rId24"/>
    <p:sldId id="485" r:id="rId25"/>
    <p:sldId id="472" r:id="rId26"/>
    <p:sldId id="479" r:id="rId27"/>
    <p:sldId id="468" r:id="rId28"/>
    <p:sldId id="46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varScale="1">
        <p:scale>
          <a:sx n="113" d="100"/>
          <a:sy n="113" d="100"/>
        </p:scale>
        <p:origin x="108"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09.04.2026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i="0" kern="1200" dirty="0">
                <a:solidFill>
                  <a:schemeClr val="tx1"/>
                </a:solidFill>
                <a:effectLst/>
                <a:latin typeface="+mn-lt"/>
                <a:ea typeface="+mn-ea"/>
                <a:cs typeface="+mn-cs"/>
              </a:rPr>
              <a:t>🔍 Что такое </a:t>
            </a:r>
            <a:r>
              <a:rPr lang="ru-RU" sz="900" b="1" i="0" kern="1200" dirty="0" err="1">
                <a:solidFill>
                  <a:schemeClr val="tx1"/>
                </a:solidFill>
                <a:effectLst/>
                <a:latin typeface="+mn-lt"/>
                <a:ea typeface="+mn-ea"/>
                <a:cs typeface="+mn-cs"/>
              </a:rPr>
              <a:t>Conformal</a:t>
            </a:r>
            <a:r>
              <a:rPr lang="ru-RU" sz="900" b="1" i="0" kern="1200" dirty="0">
                <a:solidFill>
                  <a:schemeClr val="tx1"/>
                </a:solidFill>
                <a:effectLst/>
                <a:latin typeface="+mn-lt"/>
                <a:ea typeface="+mn-ea"/>
                <a:cs typeface="+mn-cs"/>
              </a:rPr>
              <a:t> </a:t>
            </a:r>
            <a:r>
              <a:rPr lang="ru-RU" sz="900" b="1" i="0" kern="1200" dirty="0" err="1">
                <a:solidFill>
                  <a:schemeClr val="tx1"/>
                </a:solidFill>
                <a:effectLst/>
                <a:latin typeface="+mn-lt"/>
                <a:ea typeface="+mn-ea"/>
                <a:cs typeface="+mn-cs"/>
              </a:rPr>
              <a:t>Prediction</a:t>
            </a:r>
            <a:r>
              <a:rPr lang="ru-RU" sz="900" b="1" i="0" kern="1200" dirty="0">
                <a:solidFill>
                  <a:schemeClr val="tx1"/>
                </a:solidFill>
                <a:effectLst/>
                <a:latin typeface="+mn-lt"/>
                <a:ea typeface="+mn-ea"/>
                <a:cs typeface="+mn-cs"/>
              </a:rPr>
              <a:t>?</a:t>
            </a:r>
          </a:p>
          <a:p>
            <a:r>
              <a:rPr lang="ru-RU" sz="900" b="0" i="0" kern="1200" dirty="0" err="1">
                <a:solidFill>
                  <a:schemeClr val="tx1"/>
                </a:solidFill>
                <a:effectLst/>
                <a:latin typeface="+mn-lt"/>
                <a:ea typeface="+mn-ea"/>
                <a:cs typeface="+mn-cs"/>
              </a:rPr>
              <a:t>Conformal</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Prediction</a:t>
            </a:r>
            <a:r>
              <a:rPr lang="ru-RU" sz="900" b="0" i="0" kern="1200" dirty="0">
                <a:solidFill>
                  <a:schemeClr val="tx1"/>
                </a:solidFill>
                <a:effectLst/>
                <a:latin typeface="+mn-lt"/>
                <a:ea typeface="+mn-ea"/>
                <a:cs typeface="+mn-cs"/>
              </a:rPr>
              <a:t> (Конформное прогнозирование) — это метод непараметрической оценки неопределенности , который позволяет строить калиброванные доверительные интервалы для прогнозов, полученных с помощью любой модели машинного обучения.</a:t>
            </a:r>
          </a:p>
          <a:p>
            <a:r>
              <a:rPr lang="ru-RU" sz="900" b="0" i="0" kern="1200" dirty="0">
                <a:solidFill>
                  <a:schemeClr val="tx1"/>
                </a:solidFill>
                <a:effectLst/>
                <a:latin typeface="+mn-lt"/>
                <a:ea typeface="+mn-ea"/>
                <a:cs typeface="+mn-cs"/>
              </a:rPr>
              <a:t>Особенность этого подхода в том, что он:</a:t>
            </a:r>
          </a:p>
          <a:p>
            <a:r>
              <a:rPr lang="ru-RU" sz="900" b="0" i="0" kern="1200" dirty="0">
                <a:solidFill>
                  <a:schemeClr val="tx1"/>
                </a:solidFill>
                <a:effectLst/>
                <a:latin typeface="+mn-lt"/>
                <a:ea typeface="+mn-ea"/>
                <a:cs typeface="+mn-cs"/>
              </a:rPr>
              <a:t>Не предполагает нормальности распределения ошибок .</a:t>
            </a:r>
          </a:p>
          <a:p>
            <a:r>
              <a:rPr lang="ru-RU" sz="900" b="0" i="0" kern="1200" dirty="0">
                <a:solidFill>
                  <a:schemeClr val="tx1"/>
                </a:solidFill>
                <a:effectLst/>
                <a:latin typeface="+mn-lt"/>
                <a:ea typeface="+mn-ea"/>
                <a:cs typeface="+mn-cs"/>
              </a:rPr>
              <a:t>Не требует повторного обучения модели .</a:t>
            </a:r>
          </a:p>
          <a:p>
            <a:r>
              <a:rPr lang="ru-RU" sz="900" b="0" i="0" kern="1200" dirty="0">
                <a:solidFill>
                  <a:schemeClr val="tx1"/>
                </a:solidFill>
                <a:effectLst/>
                <a:latin typeface="+mn-lt"/>
                <a:ea typeface="+mn-ea"/>
                <a:cs typeface="+mn-cs"/>
              </a:rPr>
              <a:t>Работает с любыми моделями (линейными, деревьями решений, </a:t>
            </a:r>
            <a:r>
              <a:rPr lang="ru-RU" sz="900" b="0" i="0" kern="1200" dirty="0" err="1">
                <a:solidFill>
                  <a:schemeClr val="tx1"/>
                </a:solidFill>
                <a:effectLst/>
                <a:latin typeface="+mn-lt"/>
                <a:ea typeface="+mn-ea"/>
                <a:cs typeface="+mn-cs"/>
              </a:rPr>
              <a:t>нейросетями</a:t>
            </a:r>
            <a:r>
              <a:rPr lang="ru-RU" sz="900" b="0" i="0" kern="1200" dirty="0">
                <a:solidFill>
                  <a:schemeClr val="tx1"/>
                </a:solidFill>
                <a:effectLst/>
                <a:latin typeface="+mn-lt"/>
                <a:ea typeface="+mn-ea"/>
                <a:cs typeface="+mn-cs"/>
              </a:rPr>
              <a:t> и т.д.).</a:t>
            </a:r>
          </a:p>
          <a:p>
            <a:r>
              <a:rPr lang="ru-RU" sz="900" b="0" i="0" kern="1200" dirty="0">
                <a:solidFill>
                  <a:schemeClr val="tx1"/>
                </a:solidFill>
                <a:effectLst/>
                <a:latin typeface="+mn-lt"/>
                <a:ea typeface="+mn-ea"/>
                <a:cs typeface="+mn-cs"/>
              </a:rPr>
              <a:t>Гарантирует калибровку : например, 95% интервал действительно покроет 95% реальных значений при условии, что данные независимы и одинаково распределены (</a:t>
            </a:r>
            <a:r>
              <a:rPr lang="ru-RU" sz="900" b="0" i="0" kern="1200" dirty="0" err="1">
                <a:solidFill>
                  <a:schemeClr val="tx1"/>
                </a:solidFill>
                <a:effectLst/>
                <a:latin typeface="+mn-lt"/>
                <a:ea typeface="+mn-ea"/>
                <a:cs typeface="+mn-cs"/>
              </a:rPr>
              <a:t>i.i.d</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 Основная идея</a:t>
            </a:r>
          </a:p>
          <a:p>
            <a:r>
              <a:rPr lang="ru-RU" sz="900" b="0" i="0" kern="1200" dirty="0">
                <a:solidFill>
                  <a:schemeClr val="tx1"/>
                </a:solidFill>
                <a:effectLst/>
                <a:latin typeface="+mn-lt"/>
                <a:ea typeface="+mn-ea"/>
                <a:cs typeface="+mn-cs"/>
              </a:rPr>
              <a:t>Конформное прогнозирование использует перекрестную проверку или разделение на обучающую и калибровочную выборки , чтобы определить, насколько "конформны" новые наблюдения по сравнению с уже известными.</a:t>
            </a:r>
          </a:p>
          <a:p>
            <a:r>
              <a:rPr lang="ru-RU" sz="900" b="1" i="0" kern="1200" dirty="0">
                <a:solidFill>
                  <a:schemeClr val="tx1"/>
                </a:solidFill>
                <a:effectLst/>
                <a:latin typeface="+mn-lt"/>
                <a:ea typeface="+mn-ea"/>
                <a:cs typeface="+mn-cs"/>
              </a:rPr>
              <a:t>Шаги работы:</a:t>
            </a:r>
          </a:p>
          <a:p>
            <a:r>
              <a:rPr lang="ru-RU" sz="900" b="0" i="0" kern="1200" dirty="0">
                <a:solidFill>
                  <a:schemeClr val="tx1"/>
                </a:solidFill>
                <a:effectLst/>
                <a:latin typeface="+mn-lt"/>
                <a:ea typeface="+mn-ea"/>
                <a:cs typeface="+mn-cs"/>
              </a:rPr>
              <a:t>Обучите модель на обучающей выборке.</a:t>
            </a:r>
          </a:p>
          <a:p>
            <a:r>
              <a:rPr lang="ru-RU" sz="900" b="0" i="0" kern="1200" dirty="0">
                <a:solidFill>
                  <a:schemeClr val="tx1"/>
                </a:solidFill>
                <a:effectLst/>
                <a:latin typeface="+mn-lt"/>
                <a:ea typeface="+mn-ea"/>
                <a:cs typeface="+mn-cs"/>
              </a:rPr>
              <a:t>Используйте отдельную часть данных (калибровочную) для вычисления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nonconformity</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scores</a:t>
            </a:r>
            <a:r>
              <a:rPr lang="ru-RU" sz="900" b="0" i="0" kern="1200" dirty="0">
                <a:solidFill>
                  <a:schemeClr val="tx1"/>
                </a:solidFill>
                <a:effectLst/>
                <a:latin typeface="+mn-lt"/>
                <a:ea typeface="+mn-ea"/>
                <a:cs typeface="+mn-cs"/>
              </a:rPr>
              <a:t>) — меры того, насколько новое значение отличается от предсказанного.</a:t>
            </a:r>
          </a:p>
          <a:p>
            <a:r>
              <a:rPr lang="ru-RU" sz="900" b="0" i="0" kern="1200" dirty="0">
                <a:solidFill>
                  <a:schemeClr val="tx1"/>
                </a:solidFill>
                <a:effectLst/>
                <a:latin typeface="+mn-lt"/>
                <a:ea typeface="+mn-ea"/>
                <a:cs typeface="+mn-cs"/>
              </a:rPr>
              <a:t>На основе этих </a:t>
            </a:r>
            <a:r>
              <a:rPr lang="ru-RU" sz="900" b="0" i="0" kern="1200" dirty="0" err="1">
                <a:solidFill>
                  <a:schemeClr val="tx1"/>
                </a:solidFill>
                <a:effectLst/>
                <a:latin typeface="+mn-lt"/>
                <a:ea typeface="+mn-ea"/>
                <a:cs typeface="+mn-cs"/>
              </a:rPr>
              <a:t>неконформностей</a:t>
            </a:r>
            <a:r>
              <a:rPr lang="ru-RU" sz="900" b="0" i="0" kern="1200" dirty="0">
                <a:solidFill>
                  <a:schemeClr val="tx1"/>
                </a:solidFill>
                <a:effectLst/>
                <a:latin typeface="+mn-lt"/>
                <a:ea typeface="+mn-ea"/>
                <a:cs typeface="+mn-cs"/>
              </a:rPr>
              <a:t> постройте доверительный интервал , который будет содержать будущее значение с заданной вероятностью (например, 90%, 95%).</a:t>
            </a:r>
          </a:p>
          <a:p>
            <a:r>
              <a:rPr lang="ru-RU" sz="900" b="1" i="0" kern="1200" dirty="0">
                <a:solidFill>
                  <a:schemeClr val="tx1"/>
                </a:solidFill>
                <a:effectLst/>
                <a:latin typeface="+mn-lt"/>
                <a:ea typeface="+mn-ea"/>
                <a:cs typeface="+mn-cs"/>
              </a:rPr>
              <a:t>📊 Пример: регрессия</a:t>
            </a:r>
          </a:p>
          <a:p>
            <a:r>
              <a:rPr lang="ru-RU" sz="900" b="0" i="0" kern="1200" dirty="0">
                <a:solidFill>
                  <a:schemeClr val="tx1"/>
                </a:solidFill>
                <a:effectLst/>
                <a:latin typeface="+mn-lt"/>
                <a:ea typeface="+mn-ea"/>
                <a:cs typeface="+mn-cs"/>
              </a:rPr>
              <a:t>Предположим, у нас есть временной ряд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2​,...,</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 . Мы хотим построить прогноз на </a:t>
            </a:r>
            <a:r>
              <a:rPr lang="ru-RU" sz="900" b="0" i="1" kern="1200" dirty="0">
                <a:solidFill>
                  <a:schemeClr val="tx1"/>
                </a:solidFill>
                <a:effectLst/>
                <a:latin typeface="+mn-lt"/>
                <a:ea typeface="+mn-ea"/>
                <a:cs typeface="+mn-cs"/>
              </a:rPr>
              <a:t>h</a:t>
            </a:r>
            <a:r>
              <a:rPr lang="ru-RU" sz="900" b="0" i="0" kern="1200" dirty="0">
                <a:solidFill>
                  <a:schemeClr val="tx1"/>
                </a:solidFill>
                <a:effectLst/>
                <a:latin typeface="+mn-lt"/>
                <a:ea typeface="+mn-ea"/>
                <a:cs typeface="+mn-cs"/>
              </a:rPr>
              <a:t> шагов вперед с 95% доверительным интервалом.</a:t>
            </a:r>
          </a:p>
          <a:p>
            <a:r>
              <a:rPr lang="ru-RU" sz="900" b="1" i="0" kern="1200" dirty="0">
                <a:solidFill>
                  <a:schemeClr val="tx1"/>
                </a:solidFill>
                <a:effectLst/>
                <a:latin typeface="+mn-lt"/>
                <a:ea typeface="+mn-ea"/>
                <a:cs typeface="+mn-cs"/>
              </a:rPr>
              <a:t>Этапы конформного прогнозирования:</a:t>
            </a:r>
          </a:p>
          <a:p>
            <a:r>
              <a:rPr lang="ru-RU" sz="900" b="1" i="0" kern="1200" dirty="0">
                <a:solidFill>
                  <a:schemeClr val="tx1"/>
                </a:solidFill>
                <a:effectLst/>
                <a:latin typeface="+mn-lt"/>
                <a:ea typeface="+mn-ea"/>
                <a:cs typeface="+mn-cs"/>
              </a:rPr>
              <a:t>1. Разделение данных</a:t>
            </a:r>
          </a:p>
          <a:p>
            <a:r>
              <a:rPr lang="ru-RU" sz="900" b="0" i="0" kern="1200" dirty="0">
                <a:solidFill>
                  <a:schemeClr val="tx1"/>
                </a:solidFill>
                <a:effectLst/>
                <a:latin typeface="+mn-lt"/>
                <a:ea typeface="+mn-ea"/>
                <a:cs typeface="+mn-cs"/>
              </a:rPr>
              <a:t>Обучающая выборка :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Калибровочная выборка : </a:t>
            </a:r>
            <a:r>
              <a:rPr lang="ru-RU" sz="900" b="0" i="1" kern="1200" dirty="0">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2. Обучение модели</a:t>
            </a:r>
          </a:p>
          <a:p>
            <a:r>
              <a:rPr lang="ru-RU" sz="900" b="0" i="0" kern="1200" dirty="0">
                <a:solidFill>
                  <a:schemeClr val="tx1"/>
                </a:solidFill>
                <a:effectLst/>
                <a:latin typeface="+mn-lt"/>
                <a:ea typeface="+mn-ea"/>
                <a:cs typeface="+mn-cs"/>
              </a:rPr>
              <a:t>Обучаем любую модель (например, </a:t>
            </a:r>
            <a:r>
              <a:rPr lang="ru-RU" sz="900" b="0" i="0" kern="1200" dirty="0" err="1">
                <a:solidFill>
                  <a:schemeClr val="tx1"/>
                </a:solidFill>
                <a:effectLst/>
                <a:latin typeface="+mn-lt"/>
                <a:ea typeface="+mn-ea"/>
                <a:cs typeface="+mn-cs"/>
              </a:rPr>
              <a:t>XGBoost</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LightGBM</a:t>
            </a:r>
            <a:r>
              <a:rPr lang="ru-RU" sz="900" b="0" i="0" kern="1200" dirty="0">
                <a:solidFill>
                  <a:schemeClr val="tx1"/>
                </a:solidFill>
                <a:effectLst/>
                <a:latin typeface="+mn-lt"/>
                <a:ea typeface="+mn-ea"/>
                <a:cs typeface="+mn-cs"/>
              </a:rPr>
              <a:t>, ARIMA и др.) на обучающей выборке.</a:t>
            </a:r>
          </a:p>
          <a:p>
            <a:r>
              <a:rPr lang="ru-RU" sz="900" b="1" i="0" kern="1200" dirty="0">
                <a:solidFill>
                  <a:schemeClr val="tx1"/>
                </a:solidFill>
                <a:effectLst/>
                <a:latin typeface="+mn-lt"/>
                <a:ea typeface="+mn-ea"/>
                <a:cs typeface="+mn-cs"/>
              </a:rPr>
              <a:t>3. Вычисление </a:t>
            </a:r>
            <a:r>
              <a:rPr lang="ru-RU" sz="900" b="1" i="0" kern="1200" dirty="0" err="1">
                <a:solidFill>
                  <a:schemeClr val="tx1"/>
                </a:solidFill>
                <a:effectLst/>
                <a:latin typeface="+mn-lt"/>
                <a:ea typeface="+mn-ea"/>
                <a:cs typeface="+mn-cs"/>
              </a:rPr>
              <a:t>неконформности</a:t>
            </a:r>
            <a:endParaRPr lang="ru-RU" sz="900" b="1" i="0" kern="1200" dirty="0">
              <a:solidFill>
                <a:schemeClr val="tx1"/>
              </a:solidFill>
              <a:effectLst/>
              <a:latin typeface="+mn-lt"/>
              <a:ea typeface="+mn-ea"/>
              <a:cs typeface="+mn-cs"/>
            </a:endParaRPr>
          </a:p>
          <a:p>
            <a:r>
              <a:rPr lang="ru-RU" sz="900" b="0" i="0" kern="1200" dirty="0">
                <a:solidFill>
                  <a:schemeClr val="tx1"/>
                </a:solidFill>
                <a:effectLst/>
                <a:latin typeface="+mn-lt"/>
                <a:ea typeface="+mn-ea"/>
                <a:cs typeface="+mn-cs"/>
              </a:rPr>
              <a:t>Для каждого элемента из калибровочной выборки вычисляем ошибку прогноза (например, абсолютную):</a:t>
            </a:r>
          </a:p>
          <a:p>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r>
              <a:rPr lang="ru-RU" sz="900" b="0" i="1" kern="1200" dirty="0" err="1">
                <a:solidFill>
                  <a:schemeClr val="tx1"/>
                </a:solidFill>
                <a:effectLst/>
                <a:latin typeface="+mn-lt"/>
                <a:ea typeface="+mn-ea"/>
                <a:cs typeface="+mn-cs"/>
              </a:rPr>
              <a:t>yi</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Это и есть </a:t>
            </a:r>
            <a:r>
              <a:rPr lang="ru-RU" sz="900" b="0" i="0" kern="1200" dirty="0" err="1">
                <a:solidFill>
                  <a:schemeClr val="tx1"/>
                </a:solidFill>
                <a:effectLst/>
                <a:latin typeface="+mn-lt"/>
                <a:ea typeface="+mn-ea"/>
                <a:cs typeface="+mn-cs"/>
              </a:rPr>
              <a:t>score</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p>
          <a:p>
            <a:r>
              <a:rPr lang="ru-RU" sz="900" b="1" i="0" kern="1200" dirty="0">
                <a:solidFill>
                  <a:schemeClr val="tx1"/>
                </a:solidFill>
                <a:effectLst/>
                <a:latin typeface="+mn-lt"/>
                <a:ea typeface="+mn-ea"/>
                <a:cs typeface="+mn-cs"/>
              </a:rPr>
              <a:t>4. Нахождение квантили</a:t>
            </a:r>
          </a:p>
          <a:p>
            <a:r>
              <a:rPr lang="ru-RU" sz="900" b="0" i="0" kern="1200" dirty="0">
                <a:solidFill>
                  <a:schemeClr val="tx1"/>
                </a:solidFill>
                <a:effectLst/>
                <a:latin typeface="+mn-lt"/>
                <a:ea typeface="+mn-ea"/>
                <a:cs typeface="+mn-cs"/>
              </a:rPr>
              <a:t>Вычисляем </a:t>
            </a:r>
            <a:r>
              <a:rPr lang="ru-RU" sz="900" b="0" i="1" kern="1200" dirty="0">
                <a:solidFill>
                  <a:schemeClr val="tx1"/>
                </a:solidFill>
                <a:effectLst/>
                <a:latin typeface="+mn-lt"/>
                <a:ea typeface="+mn-ea"/>
                <a:cs typeface="+mn-cs"/>
              </a:rPr>
              <a:t>qα</a:t>
            </a:r>
            <a:r>
              <a:rPr lang="ru-RU" sz="900" b="0" i="0" kern="1200" dirty="0">
                <a:solidFill>
                  <a:schemeClr val="tx1"/>
                </a:solidFill>
                <a:effectLst/>
                <a:latin typeface="+mn-lt"/>
                <a:ea typeface="+mn-ea"/>
                <a:cs typeface="+mn-cs"/>
              </a:rPr>
              <a:t>​ — (1−</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-квантиль всех значений </a:t>
            </a:r>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 , где </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 уровень доверия.</a:t>
            </a:r>
          </a:p>
          <a:p>
            <a:r>
              <a:rPr lang="ru-RU" sz="900" b="0" i="0" kern="1200" dirty="0">
                <a:solidFill>
                  <a:schemeClr val="tx1"/>
                </a:solidFill>
                <a:effectLst/>
                <a:latin typeface="+mn-lt"/>
                <a:ea typeface="+mn-ea"/>
                <a:cs typeface="+mn-cs"/>
              </a:rPr>
              <a:t>Например:</a:t>
            </a:r>
          </a:p>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15</a:t>
            </a:fld>
            <a:endParaRPr lang="ru-RU"/>
          </a:p>
        </p:txBody>
      </p:sp>
    </p:spTree>
    <p:extLst>
      <p:ext uri="{BB962C8B-B14F-4D97-AF65-F5344CB8AC3E}">
        <p14:creationId xmlns:p14="http://schemas.microsoft.com/office/powerpoint/2010/main" val="199110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i="0" kern="1200" dirty="0">
                <a:solidFill>
                  <a:schemeClr val="tx1"/>
                </a:solidFill>
                <a:effectLst/>
                <a:latin typeface="+mn-lt"/>
                <a:ea typeface="+mn-ea"/>
                <a:cs typeface="+mn-cs"/>
              </a:rPr>
              <a:t>🔍 Что такое </a:t>
            </a:r>
            <a:r>
              <a:rPr lang="ru-RU" sz="900" b="1" i="0" kern="1200" dirty="0" err="1">
                <a:solidFill>
                  <a:schemeClr val="tx1"/>
                </a:solidFill>
                <a:effectLst/>
                <a:latin typeface="+mn-lt"/>
                <a:ea typeface="+mn-ea"/>
                <a:cs typeface="+mn-cs"/>
              </a:rPr>
              <a:t>Conformal</a:t>
            </a:r>
            <a:r>
              <a:rPr lang="ru-RU" sz="900" b="1" i="0" kern="1200" dirty="0">
                <a:solidFill>
                  <a:schemeClr val="tx1"/>
                </a:solidFill>
                <a:effectLst/>
                <a:latin typeface="+mn-lt"/>
                <a:ea typeface="+mn-ea"/>
                <a:cs typeface="+mn-cs"/>
              </a:rPr>
              <a:t> </a:t>
            </a:r>
            <a:r>
              <a:rPr lang="ru-RU" sz="900" b="1" i="0" kern="1200" dirty="0" err="1">
                <a:solidFill>
                  <a:schemeClr val="tx1"/>
                </a:solidFill>
                <a:effectLst/>
                <a:latin typeface="+mn-lt"/>
                <a:ea typeface="+mn-ea"/>
                <a:cs typeface="+mn-cs"/>
              </a:rPr>
              <a:t>Prediction</a:t>
            </a:r>
            <a:r>
              <a:rPr lang="ru-RU" sz="900" b="1" i="0" kern="1200" dirty="0">
                <a:solidFill>
                  <a:schemeClr val="tx1"/>
                </a:solidFill>
                <a:effectLst/>
                <a:latin typeface="+mn-lt"/>
                <a:ea typeface="+mn-ea"/>
                <a:cs typeface="+mn-cs"/>
              </a:rPr>
              <a:t>?</a:t>
            </a:r>
          </a:p>
          <a:p>
            <a:r>
              <a:rPr lang="ru-RU" sz="900" b="0" i="0" kern="1200" dirty="0" err="1">
                <a:solidFill>
                  <a:schemeClr val="tx1"/>
                </a:solidFill>
                <a:effectLst/>
                <a:latin typeface="+mn-lt"/>
                <a:ea typeface="+mn-ea"/>
                <a:cs typeface="+mn-cs"/>
              </a:rPr>
              <a:t>Conformal</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Prediction</a:t>
            </a:r>
            <a:r>
              <a:rPr lang="ru-RU" sz="900" b="0" i="0" kern="1200" dirty="0">
                <a:solidFill>
                  <a:schemeClr val="tx1"/>
                </a:solidFill>
                <a:effectLst/>
                <a:latin typeface="+mn-lt"/>
                <a:ea typeface="+mn-ea"/>
                <a:cs typeface="+mn-cs"/>
              </a:rPr>
              <a:t> (Конформное прогнозирование) — это метод непараметрической оценки неопределенности , который позволяет строить калиброванные доверительные интервалы для прогнозов, полученных с помощью любой модели машинного обучения.</a:t>
            </a:r>
          </a:p>
          <a:p>
            <a:r>
              <a:rPr lang="ru-RU" sz="900" b="0" i="0" kern="1200" dirty="0">
                <a:solidFill>
                  <a:schemeClr val="tx1"/>
                </a:solidFill>
                <a:effectLst/>
                <a:latin typeface="+mn-lt"/>
                <a:ea typeface="+mn-ea"/>
                <a:cs typeface="+mn-cs"/>
              </a:rPr>
              <a:t>Особенность этого подхода в том, что он:</a:t>
            </a:r>
          </a:p>
          <a:p>
            <a:r>
              <a:rPr lang="ru-RU" sz="900" b="0" i="0" kern="1200" dirty="0">
                <a:solidFill>
                  <a:schemeClr val="tx1"/>
                </a:solidFill>
                <a:effectLst/>
                <a:latin typeface="+mn-lt"/>
                <a:ea typeface="+mn-ea"/>
                <a:cs typeface="+mn-cs"/>
              </a:rPr>
              <a:t>Не предполагает нормальности распределения ошибок .</a:t>
            </a:r>
          </a:p>
          <a:p>
            <a:r>
              <a:rPr lang="ru-RU" sz="900" b="0" i="0" kern="1200" dirty="0">
                <a:solidFill>
                  <a:schemeClr val="tx1"/>
                </a:solidFill>
                <a:effectLst/>
                <a:latin typeface="+mn-lt"/>
                <a:ea typeface="+mn-ea"/>
                <a:cs typeface="+mn-cs"/>
              </a:rPr>
              <a:t>Не требует повторного обучения модели .</a:t>
            </a:r>
          </a:p>
          <a:p>
            <a:r>
              <a:rPr lang="ru-RU" sz="900" b="0" i="0" kern="1200" dirty="0">
                <a:solidFill>
                  <a:schemeClr val="tx1"/>
                </a:solidFill>
                <a:effectLst/>
                <a:latin typeface="+mn-lt"/>
                <a:ea typeface="+mn-ea"/>
                <a:cs typeface="+mn-cs"/>
              </a:rPr>
              <a:t>Работает с любыми моделями (линейными, деревьями решений, </a:t>
            </a:r>
            <a:r>
              <a:rPr lang="ru-RU" sz="900" b="0" i="0" kern="1200" dirty="0" err="1">
                <a:solidFill>
                  <a:schemeClr val="tx1"/>
                </a:solidFill>
                <a:effectLst/>
                <a:latin typeface="+mn-lt"/>
                <a:ea typeface="+mn-ea"/>
                <a:cs typeface="+mn-cs"/>
              </a:rPr>
              <a:t>нейросетями</a:t>
            </a:r>
            <a:r>
              <a:rPr lang="ru-RU" sz="900" b="0" i="0" kern="1200" dirty="0">
                <a:solidFill>
                  <a:schemeClr val="tx1"/>
                </a:solidFill>
                <a:effectLst/>
                <a:latin typeface="+mn-lt"/>
                <a:ea typeface="+mn-ea"/>
                <a:cs typeface="+mn-cs"/>
              </a:rPr>
              <a:t> и т.д.).</a:t>
            </a:r>
          </a:p>
          <a:p>
            <a:r>
              <a:rPr lang="ru-RU" sz="900" b="0" i="0" kern="1200" dirty="0">
                <a:solidFill>
                  <a:schemeClr val="tx1"/>
                </a:solidFill>
                <a:effectLst/>
                <a:latin typeface="+mn-lt"/>
                <a:ea typeface="+mn-ea"/>
                <a:cs typeface="+mn-cs"/>
              </a:rPr>
              <a:t>Гарантирует калибровку : например, 95% интервал действительно покроет 95% реальных значений при условии, что данные независимы и одинаково распределены (</a:t>
            </a:r>
            <a:r>
              <a:rPr lang="ru-RU" sz="900" b="0" i="0" kern="1200" dirty="0" err="1">
                <a:solidFill>
                  <a:schemeClr val="tx1"/>
                </a:solidFill>
                <a:effectLst/>
                <a:latin typeface="+mn-lt"/>
                <a:ea typeface="+mn-ea"/>
                <a:cs typeface="+mn-cs"/>
              </a:rPr>
              <a:t>i.i.d</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 Основная идея</a:t>
            </a:r>
          </a:p>
          <a:p>
            <a:r>
              <a:rPr lang="ru-RU" sz="900" b="0" i="0" kern="1200" dirty="0">
                <a:solidFill>
                  <a:schemeClr val="tx1"/>
                </a:solidFill>
                <a:effectLst/>
                <a:latin typeface="+mn-lt"/>
                <a:ea typeface="+mn-ea"/>
                <a:cs typeface="+mn-cs"/>
              </a:rPr>
              <a:t>Конформное прогнозирование использует перекрестную проверку или разделение на обучающую и калибровочную выборки , чтобы определить, насколько "конформны" новые наблюдения по сравнению с уже известными.</a:t>
            </a:r>
          </a:p>
          <a:p>
            <a:r>
              <a:rPr lang="ru-RU" sz="900" b="1" i="0" kern="1200" dirty="0">
                <a:solidFill>
                  <a:schemeClr val="tx1"/>
                </a:solidFill>
                <a:effectLst/>
                <a:latin typeface="+mn-lt"/>
                <a:ea typeface="+mn-ea"/>
                <a:cs typeface="+mn-cs"/>
              </a:rPr>
              <a:t>Шаги работы:</a:t>
            </a:r>
          </a:p>
          <a:p>
            <a:r>
              <a:rPr lang="ru-RU" sz="900" b="0" i="0" kern="1200" dirty="0">
                <a:solidFill>
                  <a:schemeClr val="tx1"/>
                </a:solidFill>
                <a:effectLst/>
                <a:latin typeface="+mn-lt"/>
                <a:ea typeface="+mn-ea"/>
                <a:cs typeface="+mn-cs"/>
              </a:rPr>
              <a:t>Обучите модель на обучающей выборке.</a:t>
            </a:r>
          </a:p>
          <a:p>
            <a:r>
              <a:rPr lang="ru-RU" sz="900" b="0" i="0" kern="1200" dirty="0">
                <a:solidFill>
                  <a:schemeClr val="tx1"/>
                </a:solidFill>
                <a:effectLst/>
                <a:latin typeface="+mn-lt"/>
                <a:ea typeface="+mn-ea"/>
                <a:cs typeface="+mn-cs"/>
              </a:rPr>
              <a:t>Используйте отдельную часть данных (калибровочную) для вычисления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nonconformity</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scores</a:t>
            </a:r>
            <a:r>
              <a:rPr lang="ru-RU" sz="900" b="0" i="0" kern="1200" dirty="0">
                <a:solidFill>
                  <a:schemeClr val="tx1"/>
                </a:solidFill>
                <a:effectLst/>
                <a:latin typeface="+mn-lt"/>
                <a:ea typeface="+mn-ea"/>
                <a:cs typeface="+mn-cs"/>
              </a:rPr>
              <a:t>) — меры того, насколько новое значение отличается от предсказанного.</a:t>
            </a:r>
          </a:p>
          <a:p>
            <a:r>
              <a:rPr lang="ru-RU" sz="900" b="0" i="0" kern="1200" dirty="0">
                <a:solidFill>
                  <a:schemeClr val="tx1"/>
                </a:solidFill>
                <a:effectLst/>
                <a:latin typeface="+mn-lt"/>
                <a:ea typeface="+mn-ea"/>
                <a:cs typeface="+mn-cs"/>
              </a:rPr>
              <a:t>На основе этих </a:t>
            </a:r>
            <a:r>
              <a:rPr lang="ru-RU" sz="900" b="0" i="0" kern="1200" dirty="0" err="1">
                <a:solidFill>
                  <a:schemeClr val="tx1"/>
                </a:solidFill>
                <a:effectLst/>
                <a:latin typeface="+mn-lt"/>
                <a:ea typeface="+mn-ea"/>
                <a:cs typeface="+mn-cs"/>
              </a:rPr>
              <a:t>неконформностей</a:t>
            </a:r>
            <a:r>
              <a:rPr lang="ru-RU" sz="900" b="0" i="0" kern="1200" dirty="0">
                <a:solidFill>
                  <a:schemeClr val="tx1"/>
                </a:solidFill>
                <a:effectLst/>
                <a:latin typeface="+mn-lt"/>
                <a:ea typeface="+mn-ea"/>
                <a:cs typeface="+mn-cs"/>
              </a:rPr>
              <a:t> постройте доверительный интервал , который будет содержать будущее значение с заданной вероятностью (например, 90%, 95%).</a:t>
            </a:r>
          </a:p>
          <a:p>
            <a:r>
              <a:rPr lang="ru-RU" sz="900" b="1" i="0" kern="1200" dirty="0">
                <a:solidFill>
                  <a:schemeClr val="tx1"/>
                </a:solidFill>
                <a:effectLst/>
                <a:latin typeface="+mn-lt"/>
                <a:ea typeface="+mn-ea"/>
                <a:cs typeface="+mn-cs"/>
              </a:rPr>
              <a:t>📊 Пример: регрессия</a:t>
            </a:r>
          </a:p>
          <a:p>
            <a:r>
              <a:rPr lang="ru-RU" sz="900" b="0" i="0" kern="1200" dirty="0">
                <a:solidFill>
                  <a:schemeClr val="tx1"/>
                </a:solidFill>
                <a:effectLst/>
                <a:latin typeface="+mn-lt"/>
                <a:ea typeface="+mn-ea"/>
                <a:cs typeface="+mn-cs"/>
              </a:rPr>
              <a:t>Предположим, у нас есть временной ряд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2​,...,</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 . Мы хотим построить прогноз на </a:t>
            </a:r>
            <a:r>
              <a:rPr lang="ru-RU" sz="900" b="0" i="1" kern="1200" dirty="0">
                <a:solidFill>
                  <a:schemeClr val="tx1"/>
                </a:solidFill>
                <a:effectLst/>
                <a:latin typeface="+mn-lt"/>
                <a:ea typeface="+mn-ea"/>
                <a:cs typeface="+mn-cs"/>
              </a:rPr>
              <a:t>h</a:t>
            </a:r>
            <a:r>
              <a:rPr lang="ru-RU" sz="900" b="0" i="0" kern="1200" dirty="0">
                <a:solidFill>
                  <a:schemeClr val="tx1"/>
                </a:solidFill>
                <a:effectLst/>
                <a:latin typeface="+mn-lt"/>
                <a:ea typeface="+mn-ea"/>
                <a:cs typeface="+mn-cs"/>
              </a:rPr>
              <a:t> шагов вперед с 95% доверительным интервалом.</a:t>
            </a:r>
          </a:p>
          <a:p>
            <a:r>
              <a:rPr lang="ru-RU" sz="900" b="1" i="0" kern="1200" dirty="0">
                <a:solidFill>
                  <a:schemeClr val="tx1"/>
                </a:solidFill>
                <a:effectLst/>
                <a:latin typeface="+mn-lt"/>
                <a:ea typeface="+mn-ea"/>
                <a:cs typeface="+mn-cs"/>
              </a:rPr>
              <a:t>Этапы конформного прогнозирования:</a:t>
            </a:r>
          </a:p>
          <a:p>
            <a:r>
              <a:rPr lang="ru-RU" sz="900" b="1" i="0" kern="1200" dirty="0">
                <a:solidFill>
                  <a:schemeClr val="tx1"/>
                </a:solidFill>
                <a:effectLst/>
                <a:latin typeface="+mn-lt"/>
                <a:ea typeface="+mn-ea"/>
                <a:cs typeface="+mn-cs"/>
              </a:rPr>
              <a:t>1. Разделение данных</a:t>
            </a:r>
          </a:p>
          <a:p>
            <a:r>
              <a:rPr lang="ru-RU" sz="900" b="0" i="0" kern="1200" dirty="0">
                <a:solidFill>
                  <a:schemeClr val="tx1"/>
                </a:solidFill>
                <a:effectLst/>
                <a:latin typeface="+mn-lt"/>
                <a:ea typeface="+mn-ea"/>
                <a:cs typeface="+mn-cs"/>
              </a:rPr>
              <a:t>Обучающая выборка :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Калибровочная выборка : </a:t>
            </a:r>
            <a:r>
              <a:rPr lang="ru-RU" sz="900" b="0" i="1" kern="1200" dirty="0">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2. Обучение модели</a:t>
            </a:r>
          </a:p>
          <a:p>
            <a:r>
              <a:rPr lang="ru-RU" sz="900" b="0" i="0" kern="1200" dirty="0">
                <a:solidFill>
                  <a:schemeClr val="tx1"/>
                </a:solidFill>
                <a:effectLst/>
                <a:latin typeface="+mn-lt"/>
                <a:ea typeface="+mn-ea"/>
                <a:cs typeface="+mn-cs"/>
              </a:rPr>
              <a:t>Обучаем любую модель (например, </a:t>
            </a:r>
            <a:r>
              <a:rPr lang="ru-RU" sz="900" b="0" i="0" kern="1200" dirty="0" err="1">
                <a:solidFill>
                  <a:schemeClr val="tx1"/>
                </a:solidFill>
                <a:effectLst/>
                <a:latin typeface="+mn-lt"/>
                <a:ea typeface="+mn-ea"/>
                <a:cs typeface="+mn-cs"/>
              </a:rPr>
              <a:t>XGBoost</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LightGBM</a:t>
            </a:r>
            <a:r>
              <a:rPr lang="ru-RU" sz="900" b="0" i="0" kern="1200" dirty="0">
                <a:solidFill>
                  <a:schemeClr val="tx1"/>
                </a:solidFill>
                <a:effectLst/>
                <a:latin typeface="+mn-lt"/>
                <a:ea typeface="+mn-ea"/>
                <a:cs typeface="+mn-cs"/>
              </a:rPr>
              <a:t>, ARIMA и др.) на обучающей выборке.</a:t>
            </a:r>
          </a:p>
          <a:p>
            <a:r>
              <a:rPr lang="ru-RU" sz="900" b="1" i="0" kern="1200" dirty="0">
                <a:solidFill>
                  <a:schemeClr val="tx1"/>
                </a:solidFill>
                <a:effectLst/>
                <a:latin typeface="+mn-lt"/>
                <a:ea typeface="+mn-ea"/>
                <a:cs typeface="+mn-cs"/>
              </a:rPr>
              <a:t>3. Вычисление </a:t>
            </a:r>
            <a:r>
              <a:rPr lang="ru-RU" sz="900" b="1" i="0" kern="1200" dirty="0" err="1">
                <a:solidFill>
                  <a:schemeClr val="tx1"/>
                </a:solidFill>
                <a:effectLst/>
                <a:latin typeface="+mn-lt"/>
                <a:ea typeface="+mn-ea"/>
                <a:cs typeface="+mn-cs"/>
              </a:rPr>
              <a:t>неконформности</a:t>
            </a:r>
            <a:endParaRPr lang="ru-RU" sz="900" b="1" i="0" kern="1200" dirty="0">
              <a:solidFill>
                <a:schemeClr val="tx1"/>
              </a:solidFill>
              <a:effectLst/>
              <a:latin typeface="+mn-lt"/>
              <a:ea typeface="+mn-ea"/>
              <a:cs typeface="+mn-cs"/>
            </a:endParaRPr>
          </a:p>
          <a:p>
            <a:r>
              <a:rPr lang="ru-RU" sz="900" b="0" i="0" kern="1200" dirty="0">
                <a:solidFill>
                  <a:schemeClr val="tx1"/>
                </a:solidFill>
                <a:effectLst/>
                <a:latin typeface="+mn-lt"/>
                <a:ea typeface="+mn-ea"/>
                <a:cs typeface="+mn-cs"/>
              </a:rPr>
              <a:t>Для каждого элемента из калибровочной выборки вычисляем ошибку прогноза (например, абсолютную):</a:t>
            </a:r>
          </a:p>
          <a:p>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r>
              <a:rPr lang="ru-RU" sz="900" b="0" i="1" kern="1200" dirty="0" err="1">
                <a:solidFill>
                  <a:schemeClr val="tx1"/>
                </a:solidFill>
                <a:effectLst/>
                <a:latin typeface="+mn-lt"/>
                <a:ea typeface="+mn-ea"/>
                <a:cs typeface="+mn-cs"/>
              </a:rPr>
              <a:t>yi</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Это и есть </a:t>
            </a:r>
            <a:r>
              <a:rPr lang="ru-RU" sz="900" b="0" i="0" kern="1200" dirty="0" err="1">
                <a:solidFill>
                  <a:schemeClr val="tx1"/>
                </a:solidFill>
                <a:effectLst/>
                <a:latin typeface="+mn-lt"/>
                <a:ea typeface="+mn-ea"/>
                <a:cs typeface="+mn-cs"/>
              </a:rPr>
              <a:t>score</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p>
          <a:p>
            <a:r>
              <a:rPr lang="ru-RU" sz="900" b="1" i="0" kern="1200" dirty="0">
                <a:solidFill>
                  <a:schemeClr val="tx1"/>
                </a:solidFill>
                <a:effectLst/>
                <a:latin typeface="+mn-lt"/>
                <a:ea typeface="+mn-ea"/>
                <a:cs typeface="+mn-cs"/>
              </a:rPr>
              <a:t>4. Нахождение квантили</a:t>
            </a:r>
          </a:p>
          <a:p>
            <a:r>
              <a:rPr lang="ru-RU" sz="900" b="0" i="0" kern="1200" dirty="0">
                <a:solidFill>
                  <a:schemeClr val="tx1"/>
                </a:solidFill>
                <a:effectLst/>
                <a:latin typeface="+mn-lt"/>
                <a:ea typeface="+mn-ea"/>
                <a:cs typeface="+mn-cs"/>
              </a:rPr>
              <a:t>Вычисляем </a:t>
            </a:r>
            <a:r>
              <a:rPr lang="ru-RU" sz="900" b="0" i="1" kern="1200" dirty="0">
                <a:solidFill>
                  <a:schemeClr val="tx1"/>
                </a:solidFill>
                <a:effectLst/>
                <a:latin typeface="+mn-lt"/>
                <a:ea typeface="+mn-ea"/>
                <a:cs typeface="+mn-cs"/>
              </a:rPr>
              <a:t>qα</a:t>
            </a:r>
            <a:r>
              <a:rPr lang="ru-RU" sz="900" b="0" i="0" kern="1200" dirty="0">
                <a:solidFill>
                  <a:schemeClr val="tx1"/>
                </a:solidFill>
                <a:effectLst/>
                <a:latin typeface="+mn-lt"/>
                <a:ea typeface="+mn-ea"/>
                <a:cs typeface="+mn-cs"/>
              </a:rPr>
              <a:t>​ — (1−</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-квантиль всех значений </a:t>
            </a:r>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 , где </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 уровень доверия.</a:t>
            </a:r>
          </a:p>
          <a:p>
            <a:r>
              <a:rPr lang="ru-RU" sz="900" b="0" i="0" kern="1200" dirty="0">
                <a:solidFill>
                  <a:schemeClr val="tx1"/>
                </a:solidFill>
                <a:effectLst/>
                <a:latin typeface="+mn-lt"/>
                <a:ea typeface="+mn-ea"/>
                <a:cs typeface="+mn-cs"/>
              </a:rPr>
              <a:t>Например:</a:t>
            </a:r>
          </a:p>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16</a:t>
            </a:fld>
            <a:endParaRPr lang="ru-RU"/>
          </a:p>
        </p:txBody>
      </p:sp>
    </p:spTree>
    <p:extLst>
      <p:ext uri="{BB962C8B-B14F-4D97-AF65-F5344CB8AC3E}">
        <p14:creationId xmlns:p14="http://schemas.microsoft.com/office/powerpoint/2010/main" val="103909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4/9/2026</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a:t>Оценка надежности предсказаний ВР</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достаточно близко к предсезонному значению.</a:t>
                </a:r>
              </a:p>
              <a:p>
                <a:pPr marL="0" indent="0">
                  <a:buNone/>
                </a:pPr>
                <a:r>
                  <a:rPr lang="ru-RU" sz="2400" dirty="0"/>
                  <a:t>	То есть в интервале </a:t>
                </a:r>
                <a:r>
                  <a:rPr lang="ru-RU" sz="2400" dirty="0" err="1"/>
                  <a:t>отн</a:t>
                </a:r>
                <a:r>
                  <a:rPr lang="ru-RU" sz="2400" dirty="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a:p>
              <a:p>
                <a:pPr marL="0" indent="0">
                  <a:buNone/>
                </a:pPr>
                <a:r>
                  <a:rPr lang="ru-RU" sz="2400" dirty="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a:t> - оценки нижней и верхней границ интервала.</a:t>
                </a:r>
              </a:p>
              <a:p>
                <a:pPr marL="0" indent="0">
                  <a:buNone/>
                </a:pPr>
                <a:r>
                  <a:rPr lang="ru-RU" sz="2400" b="1" dirty="0"/>
                  <a:t>Прогнозы всегда содержат неопределенность. </a:t>
                </a:r>
                <a:r>
                  <a:rPr lang="ru-RU" sz="2400" dirty="0"/>
                  <a:t>Надежный прогноз позволяет:</a:t>
                </a:r>
              </a:p>
              <a:p>
                <a:pPr lvl="1"/>
                <a:r>
                  <a:rPr lang="ru-RU" dirty="0"/>
                  <a:t>Управлять рисками</a:t>
                </a:r>
              </a:p>
              <a:p>
                <a:pPr lvl="2"/>
                <a:r>
                  <a:rPr lang="ru-RU" dirty="0"/>
                  <a:t>Пример: прогноз энергопотребления с учетом возможного пика</a:t>
                </a:r>
              </a:p>
              <a:p>
                <a:pPr lvl="1"/>
                <a:r>
                  <a:rPr lang="ru-RU" dirty="0"/>
                  <a:t>Планировать сценарии развития</a:t>
                </a:r>
              </a:p>
              <a:p>
                <a:pPr lvl="2"/>
                <a:r>
                  <a:rPr lang="ru-RU" dirty="0"/>
                  <a:t>Пример: управление запасами на складе</a:t>
                </a:r>
              </a:p>
              <a:p>
                <a:pPr lvl="1"/>
                <a:r>
                  <a:rPr lang="ru-RU" dirty="0"/>
                  <a:t>Повышать доверие к модели</a:t>
                </a:r>
              </a:p>
              <a:p>
                <a:pPr lvl="2"/>
                <a:r>
                  <a:rPr lang="ru-RU" dirty="0"/>
                  <a:t>Пример: выбор между моделью с высокой точностью (низкое </a:t>
                </a:r>
                <a:r>
                  <a:rPr lang="ru-RU" dirty="0" err="1"/>
                  <a:t>смещние</a:t>
                </a:r>
                <a:r>
                  <a:rPr lang="ru-RU" dirty="0"/>
                  <a:t>) и высоким разбросом и наоборот</a:t>
                </a:r>
              </a:p>
              <a:p>
                <a:pPr lvl="2"/>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предсказаний во ВР</a:t>
            </a:r>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a:t>Случайная ошибка </a:t>
            </a:r>
            <a:r>
              <a:rPr lang="ru-RU" sz="2000" dirty="0"/>
              <a:t>(флуктуации, шум)</a:t>
            </a:r>
          </a:p>
          <a:p>
            <a:pPr marL="447675" lvl="1" indent="-352425">
              <a:lnSpc>
                <a:spcPct val="100000"/>
              </a:lnSpc>
              <a:spcBef>
                <a:spcPts val="200"/>
              </a:spcBef>
            </a:pPr>
            <a:r>
              <a:rPr lang="ru-RU" sz="2000" b="1" dirty="0"/>
              <a:t>Смещенные оценки </a:t>
            </a:r>
            <a:r>
              <a:rPr lang="ru-RU" sz="2000" dirty="0"/>
              <a:t>параметров (инструментальная ошибка)</a:t>
            </a:r>
          </a:p>
          <a:p>
            <a:pPr marL="447675" lvl="1" indent="-352425">
              <a:lnSpc>
                <a:spcPct val="100000"/>
              </a:lnSpc>
              <a:spcBef>
                <a:spcPts val="200"/>
              </a:spcBef>
            </a:pPr>
            <a:r>
              <a:rPr lang="ru-RU" sz="2000" b="1" dirty="0"/>
              <a:t>Дрейф данных </a:t>
            </a:r>
            <a:r>
              <a:rPr lang="ru-RU" sz="2000" dirty="0"/>
              <a:t>– изменение в распределение значений ВР на тесте</a:t>
            </a:r>
          </a:p>
          <a:p>
            <a:pPr lvl="2">
              <a:lnSpc>
                <a:spcPct val="100000"/>
              </a:lnSpc>
              <a:spcBef>
                <a:spcPts val="0"/>
              </a:spcBef>
            </a:pPr>
            <a:r>
              <a:rPr lang="ru-RU" dirty="0"/>
              <a:t>из за ограниченности выборки не все паттерны учтены в </a:t>
            </a:r>
            <a:r>
              <a:rPr lang="ru-RU" dirty="0" err="1"/>
              <a:t>трейне</a:t>
            </a:r>
            <a:endParaRPr lang="ru-RU" dirty="0"/>
          </a:p>
          <a:p>
            <a:pPr lvl="3">
              <a:lnSpc>
                <a:spcPct val="100000"/>
              </a:lnSpc>
              <a:spcBef>
                <a:spcPts val="0"/>
              </a:spcBef>
            </a:pPr>
            <a:r>
              <a:rPr lang="ru-RU" sz="2000" dirty="0"/>
              <a:t>Напр., на выборке в 3 года не учтены факторы високосного года.</a:t>
            </a:r>
          </a:p>
          <a:p>
            <a:pPr lvl="4">
              <a:lnSpc>
                <a:spcPct val="100000"/>
              </a:lnSpc>
              <a:spcBef>
                <a:spcPts val="0"/>
              </a:spcBef>
            </a:pPr>
            <a:r>
              <a:rPr lang="ru-RU" sz="2000" dirty="0"/>
              <a:t> Нужно учесть в </a:t>
            </a:r>
            <a:r>
              <a:rPr lang="ru-RU" sz="2000" dirty="0" err="1"/>
              <a:t>трейне</a:t>
            </a:r>
            <a:r>
              <a:rPr lang="ru-RU" sz="2000" dirty="0"/>
              <a:t> и </a:t>
            </a:r>
            <a:r>
              <a:rPr lang="ru-RU" sz="2000" dirty="0" err="1"/>
              <a:t>дообуёчить</a:t>
            </a:r>
            <a:r>
              <a:rPr lang="ru-RU" sz="2000" dirty="0"/>
              <a:t> модель</a:t>
            </a:r>
            <a:endParaRPr lang="en-US" sz="2000" dirty="0"/>
          </a:p>
          <a:p>
            <a:pPr marL="447675" lvl="1" indent="-361950">
              <a:lnSpc>
                <a:spcPct val="100000"/>
              </a:lnSpc>
              <a:spcBef>
                <a:spcPts val="0"/>
              </a:spcBef>
            </a:pPr>
            <a:r>
              <a:rPr lang="ru-RU" sz="2000" b="1" dirty="0"/>
              <a:t>Дрейф концепции </a:t>
            </a:r>
            <a:r>
              <a:rPr lang="ru-RU" sz="2000" dirty="0"/>
              <a:t>– Появление истинно новых паттернов в тесте</a:t>
            </a:r>
          </a:p>
          <a:p>
            <a:pPr lvl="3">
              <a:lnSpc>
                <a:spcPct val="100000"/>
              </a:lnSpc>
              <a:spcBef>
                <a:spcPts val="0"/>
              </a:spcBef>
            </a:pPr>
            <a:r>
              <a:rPr lang="ru-RU" sz="2000" dirty="0"/>
              <a:t>Напр., объявлена 4 дневная рабочая неделя. – Нужно учесть пересмотреть модель</a:t>
            </a:r>
          </a:p>
          <a:p>
            <a:pPr marL="0" indent="0">
              <a:buNone/>
            </a:pPr>
            <a:r>
              <a:rPr lang="ru-RU" sz="2100" b="1" dirty="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a:t>Появилась новая форма продаж</a:t>
            </a:r>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a:t>Изменение доли онлайн продаж</a:t>
            </a:r>
          </a:p>
        </p:txBody>
      </p:sp>
    </p:spTree>
    <p:extLst>
      <p:ext uri="{BB962C8B-B14F-4D97-AF65-F5344CB8AC3E}">
        <p14:creationId xmlns:p14="http://schemas.microsoft.com/office/powerpoint/2010/main" val="964422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a:t>Пути оценки точности предсказаний модели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a:t>На тренировочной </a:t>
                </a:r>
                <a:r>
                  <a:rPr lang="en-US" sz="2200" b="1" dirty="0"/>
                  <a:t>vs</a:t>
                </a:r>
                <a:r>
                  <a:rPr lang="ru-RU" sz="2200" b="1" dirty="0"/>
                  <a:t> </a:t>
                </a:r>
                <a:r>
                  <a:rPr lang="ru-RU" sz="2200" b="1" dirty="0" err="1"/>
                  <a:t>валидационной</a:t>
                </a:r>
                <a:r>
                  <a:rPr lang="ru-RU" sz="2200" b="1" dirty="0"/>
                  <a:t> выборке</a:t>
                </a:r>
              </a:p>
              <a:p>
                <a:pPr lvl="1"/>
                <a:r>
                  <a:rPr lang="ru-RU" sz="2000" b="1" dirty="0"/>
                  <a:t>Оценка сложности модели </a:t>
                </a:r>
                <a14:m>
                  <m:oMath xmlns:m="http://schemas.openxmlformats.org/officeDocument/2006/math">
                    <m:r>
                      <a:rPr lang="ru-RU" sz="2000" i="1">
                        <a:latin typeface="Cambria Math" panose="02040503050406030204" pitchFamily="18" charset="0"/>
                      </a:rPr>
                      <m:t>→</m:t>
                    </m:r>
                  </m:oMath>
                </a14:m>
                <a:r>
                  <a:rPr lang="ru-RU" sz="2000" dirty="0"/>
                  <a:t> сравнение с </a:t>
                </a:r>
                <a:r>
                  <a:rPr lang="ru-RU" sz="2000" dirty="0" err="1"/>
                  <a:t>бейзлайн</a:t>
                </a:r>
                <a:r>
                  <a:rPr lang="ru-RU" sz="2000" dirty="0"/>
                  <a:t> и моделей </a:t>
                </a:r>
              </a:p>
              <a:p>
                <a:pPr lvl="2"/>
                <a:r>
                  <a:rPr lang="ru-RU" dirty="0"/>
                  <a:t>информационные критерии </a:t>
                </a:r>
                <a:r>
                  <a:rPr lang="ru-RU" dirty="0" err="1"/>
                  <a:t>Акайке</a:t>
                </a:r>
                <a:r>
                  <a:rPr lang="en-US" dirty="0"/>
                  <a:t> (AIC, </a:t>
                </a:r>
                <a:r>
                  <a:rPr lang="en-US" dirty="0" err="1"/>
                  <a:t>AICc</a:t>
                </a:r>
                <a:r>
                  <a:rPr lang="en-US" dirty="0"/>
                  <a:t>)</a:t>
                </a:r>
                <a:r>
                  <a:rPr lang="ru-RU" dirty="0"/>
                  <a:t>, Шварца </a:t>
                </a:r>
                <a:r>
                  <a:rPr lang="en-US" dirty="0"/>
                  <a:t>(BIC) </a:t>
                </a:r>
                <a:r>
                  <a:rPr lang="ru-RU" dirty="0"/>
                  <a:t>и </a:t>
                </a:r>
                <a:r>
                  <a:rPr lang="ru-RU" dirty="0" err="1"/>
                  <a:t>тд</a:t>
                </a:r>
                <a:r>
                  <a:rPr lang="ru-RU" dirty="0"/>
                  <a:t> </a:t>
                </a:r>
              </a:p>
              <a:p>
                <a:pPr lvl="2"/>
                <a:r>
                  <a:rPr lang="ru-RU" dirty="0"/>
                  <a:t>Чем ниже сложность </a:t>
                </a:r>
                <a14:m>
                  <m:oMath xmlns:m="http://schemas.openxmlformats.org/officeDocument/2006/math">
                    <m:r>
                      <a:rPr lang="ru-RU" i="1">
                        <a:latin typeface="Cambria Math" panose="02040503050406030204" pitchFamily="18" charset="0"/>
                      </a:rPr>
                      <m:t>→</m:t>
                    </m:r>
                  </m:oMath>
                </a14:m>
                <a:r>
                  <a:rPr lang="ru-RU" sz="2100" dirty="0"/>
                  <a:t> тем ниже вероятность переобучения (тем модель стабильней)</a:t>
                </a:r>
              </a:p>
              <a:p>
                <a:pPr lvl="1"/>
                <a:r>
                  <a:rPr lang="ru-RU" sz="2200" b="1" dirty="0"/>
                  <a:t>Интерпретируемость модели</a:t>
                </a:r>
              </a:p>
              <a:p>
                <a:pPr lvl="2"/>
                <a:r>
                  <a:rPr lang="ru-RU" sz="1800" dirty="0"/>
                  <a:t>Разложение модели </a:t>
                </a:r>
                <a:r>
                  <a:rPr lang="en-US" sz="1800" dirty="0"/>
                  <a:t>STL, </a:t>
                </a:r>
                <a:r>
                  <a:rPr lang="ru-RU" sz="1800" dirty="0"/>
                  <a:t>интерпретируемость </a:t>
                </a:r>
                <a:r>
                  <a:rPr lang="en-US" sz="1800" dirty="0"/>
                  <a:t>ML </a:t>
                </a:r>
                <a:r>
                  <a:rPr lang="ru-RU" sz="1800" dirty="0"/>
                  <a:t>моделей и </a:t>
                </a:r>
                <a:r>
                  <a:rPr lang="ru-RU" sz="1800" dirty="0" err="1"/>
                  <a:t>тд</a:t>
                </a:r>
                <a:endParaRPr lang="en-US" sz="1800" dirty="0"/>
              </a:p>
              <a:p>
                <a:pPr lvl="1"/>
                <a:r>
                  <a:rPr lang="ru-RU" sz="2200" b="1" dirty="0"/>
                  <a:t>Анализ невязок </a:t>
                </a:r>
                <a:r>
                  <a:rPr lang="ru-RU" sz="2200" dirty="0"/>
                  <a:t>(остатков, на тренировочной выборке!)</a:t>
                </a:r>
              </a:p>
              <a:p>
                <a:pPr lvl="2"/>
                <a:r>
                  <a:rPr lang="ru-RU" dirty="0"/>
                  <a:t>Наличие информации в остатках, выбросы</a:t>
                </a:r>
                <a:r>
                  <a:rPr lang="en-US" dirty="0"/>
                  <a:t>/</a:t>
                </a:r>
                <a:r>
                  <a:rPr lang="ru-RU" dirty="0" err="1"/>
                  <a:t>новиза</a:t>
                </a:r>
                <a:r>
                  <a:rPr lang="en-US" dirty="0"/>
                  <a:t>, </a:t>
                </a:r>
                <a:r>
                  <a:rPr lang="ru-RU" dirty="0"/>
                  <a:t>, распределение</a:t>
                </a:r>
                <a:r>
                  <a:rPr lang="en-US" dirty="0"/>
                  <a:t>,</a:t>
                </a:r>
                <a:r>
                  <a:rPr lang="ru-RU" dirty="0"/>
                  <a:t> </a:t>
                </a:r>
                <a:r>
                  <a:rPr lang="ru-RU" dirty="0" err="1"/>
                  <a:t>гомосекдостичность</a:t>
                </a:r>
                <a:r>
                  <a:rPr lang="ru-RU" dirty="0"/>
                  <a:t> и т.д.</a:t>
                </a:r>
              </a:p>
              <a:p>
                <a:pPr lvl="1"/>
                <a:r>
                  <a:rPr lang="ru-RU" sz="2000" b="1" dirty="0"/>
                  <a:t>Оценка средней точности </a:t>
                </a:r>
                <a:r>
                  <a:rPr lang="ru-RU" sz="2000" dirty="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a:t>сравнение с </a:t>
                </a:r>
                <a:r>
                  <a:rPr lang="ru-RU" sz="2000" dirty="0" err="1"/>
                  <a:t>бейзлайн</a:t>
                </a:r>
                <a:r>
                  <a:rPr lang="ru-RU" sz="2000" dirty="0"/>
                  <a:t>, </a:t>
                </a:r>
                <a:r>
                  <a:rPr lang="ru-RU" sz="2000" dirty="0" err="1"/>
                  <a:t>переобученность</a:t>
                </a:r>
                <a:r>
                  <a:rPr lang="ru-RU" sz="2000" dirty="0"/>
                  <a:t>)</a:t>
                </a:r>
              </a:p>
              <a:p>
                <a:pPr lvl="2"/>
                <a:r>
                  <a:rPr lang="en-US" dirty="0"/>
                  <a:t>RMSE, MAE, MASE</a:t>
                </a:r>
                <a:r>
                  <a:rPr lang="ru-RU" dirty="0"/>
                  <a:t>, </a:t>
                </a:r>
                <a:r>
                  <a:rPr lang="en-US" dirty="0" err="1"/>
                  <a:t>sMAPE</a:t>
                </a:r>
                <a:r>
                  <a:rPr lang="ru-RU" dirty="0"/>
                  <a:t> </a:t>
                </a:r>
                <a14:m>
                  <m:oMath xmlns:m="http://schemas.openxmlformats.org/officeDocument/2006/math">
                    <m:r>
                      <a:rPr lang="en-US" b="0" i="1" smtClean="0">
                        <a:latin typeface="Cambria Math" panose="02040503050406030204" pitchFamily="18" charset="0"/>
                      </a:rPr>
                      <m:t> </m:t>
                    </m:r>
                  </m:oMath>
                </a14:m>
                <a:endParaRPr lang="ru-RU" dirty="0"/>
              </a:p>
              <a:p>
                <a:pPr lvl="2"/>
                <a:r>
                  <a:rPr lang="ru-RU" sz="1600" dirty="0"/>
                  <a:t>Стабильность точности при изменении параметров модели</a:t>
                </a:r>
                <a:endParaRPr lang="en-US" sz="1600" dirty="0"/>
              </a:p>
              <a:p>
                <a:pPr lvl="1"/>
                <a:r>
                  <a:rPr lang="ru-RU" sz="2000" b="1" dirty="0"/>
                  <a:t>Оценка вероятностных метрик</a:t>
                </a:r>
              </a:p>
              <a:p>
                <a:pPr lvl="2"/>
                <a:r>
                  <a:rPr lang="ru-RU" dirty="0"/>
                  <a:t>интервалов/квантилей/дисперсии/распределений</a:t>
                </a:r>
              </a:p>
              <a:p>
                <a:pPr marL="0" indent="0">
                  <a:buNone/>
                </a:pPr>
                <a:r>
                  <a:rPr lang="ru-RU" sz="2200" b="1" dirty="0"/>
                  <a:t>На </a:t>
                </a:r>
                <a:r>
                  <a:rPr lang="ru-RU" sz="2200" b="1" dirty="0" err="1"/>
                  <a:t>тестовой+валидационной</a:t>
                </a:r>
                <a:r>
                  <a:rPr lang="ru-RU" sz="2200" b="1" dirty="0"/>
                  <a:t> выборке </a:t>
                </a:r>
              </a:p>
              <a:p>
                <a:pPr lvl="1"/>
                <a:r>
                  <a:rPr lang="en-US" dirty="0"/>
                  <a:t>walk forward  </a:t>
                </a:r>
                <a:r>
                  <a:rPr lang="ru-RU" dirty="0"/>
                  <a:t>кросс-</a:t>
                </a:r>
                <a:r>
                  <a:rPr lang="ru-RU" dirty="0" err="1"/>
                  <a:t>валидация</a:t>
                </a:r>
                <a:r>
                  <a:rPr lang="ru-RU" dirty="0"/>
                  <a:t> – оценка вариативности точности</a:t>
                </a:r>
                <a:r>
                  <a:rPr lang="en-US" dirty="0"/>
                  <a:t>  </a:t>
                </a:r>
                <a:endParaRPr lang="ru-RU" dirty="0"/>
              </a:p>
              <a:p>
                <a:pPr lvl="1"/>
                <a:r>
                  <a:rPr lang="en-US" dirty="0" err="1"/>
                  <a:t>backtesting</a:t>
                </a:r>
                <a:r>
                  <a:rPr lang="en-US" dirty="0"/>
                  <a:t> </a:t>
                </a:r>
                <a:r>
                  <a:rPr lang="ru-RU" dirty="0" err="1"/>
                  <a:t>валидация</a:t>
                </a:r>
                <a:r>
                  <a:rPr lang="ru-RU" dirty="0"/>
                  <a:t> – симуляция предсказаний модели</a:t>
                </a:r>
                <a:endParaRPr lang="en-US" dirty="0"/>
              </a:p>
              <a:p>
                <a:pPr lvl="1"/>
                <a:r>
                  <a:rPr lang="ru-RU" dirty="0"/>
                  <a:t>стресс-тесты (сценарный анализ) – оценка рисков предсказаний </a:t>
                </a:r>
              </a:p>
              <a:p>
                <a:pPr marL="0" indent="0">
                  <a:buNone/>
                </a:pPr>
                <a:r>
                  <a:rPr lang="ru-RU" sz="2200" b="1" i="1" dirty="0"/>
                  <a:t>Мониторинг</a:t>
                </a:r>
              </a:p>
              <a:p>
                <a:pPr lvl="1"/>
                <a:r>
                  <a:rPr lang="ru-RU" sz="1800" i="1" dirty="0"/>
                  <a:t>Анализ невязок, </a:t>
                </a:r>
              </a:p>
              <a:p>
                <a:pPr lvl="1"/>
                <a:r>
                  <a:rPr lang="ru-RU" sz="1800" i="1" dirty="0"/>
                  <a:t>Тесты на </a:t>
                </a:r>
                <a:r>
                  <a:rPr lang="ru-RU" sz="1800" i="1" dirty="0" err="1"/>
                  <a:t>дреф</a:t>
                </a:r>
                <a:r>
                  <a:rPr lang="ru-RU" sz="1800" i="1" dirty="0"/>
                  <a:t> данных</a:t>
                </a:r>
                <a:r>
                  <a:rPr lang="en-US" sz="1800" i="1" dirty="0"/>
                  <a:t>/</a:t>
                </a:r>
                <a:r>
                  <a:rPr lang="ru-RU" sz="1800" i="1" dirty="0"/>
                  <a:t>концепта (уход среднего, изменение распределения ошибок, декомпозиция ВР)</a:t>
                </a:r>
              </a:p>
              <a:p>
                <a:pPr lvl="1"/>
                <a:r>
                  <a:rPr lang="ru-RU" sz="1800" i="1" dirty="0"/>
                  <a:t>Контроль аномалий</a:t>
                </a:r>
                <a:endParaRPr lang="ru-RU" i="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cxnSp>
        <p:nvCxnSpPr>
          <p:cNvPr id="5" name="Прямая соединительная линия 4"/>
          <p:cNvCxnSpPr/>
          <p:nvPr/>
        </p:nvCxnSpPr>
        <p:spPr>
          <a:xfrm flipV="1">
            <a:off x="259080" y="5494020"/>
            <a:ext cx="88925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a:t>Очень важно понимать, что во временных рядах невозможна  классическая кросс-</a:t>
            </a:r>
            <a:r>
              <a:rPr lang="ru-RU" sz="2400" dirty="0" err="1"/>
              <a:t>валидация</a:t>
            </a:r>
            <a:r>
              <a:rPr lang="ru-RU" sz="2400" dirty="0"/>
              <a:t>. </a:t>
            </a:r>
            <a:endParaRPr lang="en-US" sz="2400" dirty="0"/>
          </a:p>
          <a:p>
            <a:pPr marL="0" indent="0">
              <a:buNone/>
            </a:pPr>
            <a:r>
              <a:rPr lang="en-US" sz="2400" dirty="0"/>
              <a:t>	</a:t>
            </a:r>
            <a:r>
              <a:rPr lang="ru-RU" sz="2000" dirty="0"/>
              <a:t>это приведет к потери паттернов и утечке данных</a:t>
            </a:r>
            <a:r>
              <a:rPr lang="en-US" sz="2000" dirty="0"/>
              <a:t> </a:t>
            </a:r>
            <a:r>
              <a:rPr lang="ru-RU" sz="2000" dirty="0"/>
              <a:t>их будущего (нарушение казуальности)</a:t>
            </a:r>
          </a:p>
          <a:p>
            <a:pPr marL="0" indent="0">
              <a:buNone/>
            </a:pPr>
            <a:r>
              <a:rPr lang="ru-RU" sz="2000" dirty="0"/>
              <a:t>	другими словами такая оценка метрик будет завышена (вероятность переобучения)</a:t>
            </a:r>
          </a:p>
          <a:p>
            <a:pPr marL="0" indent="0">
              <a:buNone/>
            </a:pPr>
            <a:r>
              <a:rPr lang="en-US" sz="2000" dirty="0"/>
              <a:t>Temporal Cross-Validation </a:t>
            </a:r>
            <a:r>
              <a:rPr lang="ru-RU" sz="2000" dirty="0"/>
              <a:t>предполагает:</a:t>
            </a:r>
          </a:p>
          <a:p>
            <a:r>
              <a:rPr lang="ru-RU" sz="2000" dirty="0" err="1"/>
              <a:t>Валидационная</a:t>
            </a:r>
            <a:r>
              <a:rPr lang="ru-RU" sz="2000" dirty="0"/>
              <a:t> выборка идет после тренировочной.</a:t>
            </a:r>
          </a:p>
          <a:p>
            <a:pPr lvl="1"/>
            <a:r>
              <a:rPr lang="ru-RU" sz="1800" dirty="0"/>
              <a:t>Тестовая выборка идет после </a:t>
            </a:r>
            <a:r>
              <a:rPr lang="ru-RU" sz="1800" dirty="0" err="1"/>
              <a:t>валидационной</a:t>
            </a:r>
            <a:r>
              <a:rPr lang="ru-RU" sz="1800" dirty="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a:t>https://otexts.com/fpp3/tscv.html</a:t>
            </a:r>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Особенность </a:t>
            </a:r>
            <a:r>
              <a:rPr lang="en-US" sz="2400" b="1" dirty="0"/>
              <a:t>Temporal</a:t>
            </a:r>
            <a:r>
              <a:rPr lang="ru-RU" sz="2400" b="1" dirty="0"/>
              <a:t> </a:t>
            </a:r>
            <a:r>
              <a:rPr lang="en-US" sz="2400" b="1" dirty="0"/>
              <a:t>split – </a:t>
            </a:r>
            <a:r>
              <a:rPr lang="ru-RU" sz="2400" b="1" dirty="0"/>
              <a:t>для нестационарных данных тест и </a:t>
            </a:r>
            <a:r>
              <a:rPr lang="ru-RU" sz="2400" b="1" dirty="0" err="1"/>
              <a:t>трейн</a:t>
            </a:r>
            <a:r>
              <a:rPr lang="ru-RU" sz="2400" b="1" dirty="0"/>
              <a:t> будут различаться.</a:t>
            </a:r>
          </a:p>
          <a:p>
            <a:pPr lvl="1"/>
            <a:r>
              <a:rPr lang="ru-RU" sz="2000" dirty="0"/>
              <a:t>Вопросы: все ли паттерны </a:t>
            </a:r>
            <a:r>
              <a:rPr lang="ru-RU" sz="2000" dirty="0" err="1"/>
              <a:t>трейн</a:t>
            </a:r>
            <a:r>
              <a:rPr lang="ru-RU" sz="2000" dirty="0"/>
              <a:t> есть в тесте? </a:t>
            </a:r>
          </a:p>
          <a:p>
            <a:pPr lvl="1"/>
            <a:r>
              <a:rPr lang="ru-RU" sz="2000" dirty="0"/>
              <a:t>Справедливы ли преобразования </a:t>
            </a:r>
            <a:r>
              <a:rPr lang="ru-RU" sz="2000" dirty="0" err="1"/>
              <a:t>трейн</a:t>
            </a:r>
            <a:r>
              <a:rPr lang="ru-RU" sz="2000" dirty="0"/>
              <a:t> к тесту.</a:t>
            </a:r>
          </a:p>
          <a:p>
            <a:pPr lvl="1"/>
            <a:r>
              <a:rPr lang="ru-RU" sz="2000" dirty="0"/>
              <a:t>Весь ли тест соответствует </a:t>
            </a:r>
            <a:r>
              <a:rPr lang="ru-RU" sz="2000" dirty="0" err="1"/>
              <a:t>трейну</a:t>
            </a:r>
            <a:r>
              <a:rPr lang="ru-RU" sz="2000" dirty="0"/>
              <a:t> и насколько допустимо отклонение?</a:t>
            </a:r>
          </a:p>
          <a:p>
            <a:r>
              <a:rPr lang="ru-RU" sz="2000" dirty="0"/>
              <a:t>Для повышения надежности возможны несколько типов кросс </a:t>
            </a:r>
            <a:r>
              <a:rPr lang="ru-RU" sz="2000" dirty="0" err="1"/>
              <a:t>валидации</a:t>
            </a:r>
            <a:r>
              <a:rPr lang="en-US" sz="2000" dirty="0"/>
              <a:t> c </a:t>
            </a:r>
            <a:r>
              <a:rPr lang="ru-RU" sz="2000" dirty="0"/>
              <a:t>симуляцией проявления различных эффектов в </a:t>
            </a:r>
            <a:r>
              <a:rPr lang="ru-RU" sz="2000" dirty="0" err="1"/>
              <a:t>валидационной</a:t>
            </a:r>
            <a:r>
              <a:rPr lang="ru-RU" sz="2000" dirty="0"/>
              <a:t> выборке </a:t>
            </a:r>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a:t>Кросс-</a:t>
            </a:r>
            <a:r>
              <a:rPr lang="ru-RU" dirty="0" err="1"/>
              <a:t>валидация</a:t>
            </a:r>
            <a:r>
              <a:rPr lang="ru-RU" dirty="0"/>
              <a:t> со смещающимся окном </a:t>
            </a:r>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a:t>Кросс-</a:t>
            </a:r>
            <a:r>
              <a:rPr lang="ru-RU" dirty="0" err="1"/>
              <a:t>валидация</a:t>
            </a:r>
            <a:r>
              <a:rPr lang="ru-RU" dirty="0"/>
              <a:t> с расширяющимся окном </a:t>
            </a:r>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9FF0-0758-840B-74C0-5820149D09E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E37009-9F52-2597-07E4-01B909063B5D}"/>
              </a:ext>
            </a:extLst>
          </p:cNvPr>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a:extLst>
              <a:ext uri="{FF2B5EF4-FFF2-40B4-BE49-F238E27FC236}">
                <a16:creationId xmlns:a16="http://schemas.microsoft.com/office/drawing/2014/main" id="{F74D3975-52FE-820F-08B0-CDFA0E635A43}"/>
              </a:ext>
            </a:extLst>
          </p:cNvPr>
          <p:cNvSpPr>
            <a:spLocks noGrp="1"/>
          </p:cNvSpPr>
          <p:nvPr>
            <p:ph idx="1"/>
          </p:nvPr>
        </p:nvSpPr>
        <p:spPr>
          <a:xfrm>
            <a:off x="307428" y="3363277"/>
            <a:ext cx="11351172" cy="3302443"/>
          </a:xfrm>
        </p:spPr>
        <p:txBody>
          <a:bodyPr>
            <a:normAutofit fontScale="55000" lnSpcReduction="20000"/>
          </a:bodyPr>
          <a:lstStyle/>
          <a:p>
            <a:pPr>
              <a:lnSpc>
                <a:spcPct val="120000"/>
              </a:lnSpc>
              <a:spcBef>
                <a:spcPts val="400"/>
              </a:spcBef>
            </a:pPr>
            <a:r>
              <a:rPr lang="ru-RU" sz="3300" dirty="0"/>
              <a:t>Эти две схемы отличаются только размером обучающего множества. В первом случае он постоянно растет, во втором – не меняется, а само обучающее множество при этом сдвигается. Ту или иную схему на практике стоит использовать в зависимости от того, какая решается задача. Например, если данных достаточно много и предполагается онлайн работа модели с периодическим дообучением, то обычно при каждом дообучении размер обучающего множества фиксируют. В таком случае имеет смысл воспользоваться второй схемой, чтобы оценить качество модели, обученной именно на таким количестве данных. Если же данных немного, то для обучения желательно использовать все доступные данные. В таком случае имеет смысл использовать первую схему.</a:t>
            </a:r>
          </a:p>
          <a:p>
            <a:pPr>
              <a:lnSpc>
                <a:spcPct val="120000"/>
              </a:lnSpc>
              <a:spcBef>
                <a:spcPts val="400"/>
              </a:spcBef>
            </a:pPr>
            <a:r>
              <a:rPr lang="ru-RU" sz="3300" dirty="0"/>
              <a:t>Обратите внимание, что во всех случаях размер тестового интервала времени фиксирован. Это необходимое условие, потому как распределение значений метрики на разных размерах данных может отличаться. Вспомните, например, про зависимость дисперсии выборочного от размера выборки.</a:t>
            </a:r>
          </a:p>
          <a:p>
            <a:pPr marL="0" indent="0">
              <a:buNone/>
            </a:pPr>
            <a:endParaRPr lang="ru-RU" sz="2000" dirty="0"/>
          </a:p>
        </p:txBody>
      </p:sp>
      <p:sp>
        <p:nvSpPr>
          <p:cNvPr id="4" name="Прямоугольник 3">
            <a:extLst>
              <a:ext uri="{FF2B5EF4-FFF2-40B4-BE49-F238E27FC236}">
                <a16:creationId xmlns:a16="http://schemas.microsoft.com/office/drawing/2014/main" id="{73FEA093-94DC-7270-5080-647003DBFEF2}"/>
              </a:ext>
            </a:extLst>
          </p:cNvPr>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a:extLst>
              <a:ext uri="{FF2B5EF4-FFF2-40B4-BE49-F238E27FC236}">
                <a16:creationId xmlns:a16="http://schemas.microsoft.com/office/drawing/2014/main" id="{0A8E7353-9012-7783-4EAE-1FBEB9230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28" y="1002841"/>
            <a:ext cx="3932768" cy="22326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a:extLst>
              <a:ext uri="{FF2B5EF4-FFF2-40B4-BE49-F238E27FC236}">
                <a16:creationId xmlns:a16="http://schemas.microsoft.com/office/drawing/2014/main" id="{054CB517-5047-577C-1DBE-3ABF95A01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86" y="875037"/>
            <a:ext cx="4561114" cy="2663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9793AD-6555-C255-EA20-FB7646D7CFC0}"/>
              </a:ext>
            </a:extLst>
          </p:cNvPr>
          <p:cNvSpPr txBox="1"/>
          <p:nvPr/>
        </p:nvSpPr>
        <p:spPr>
          <a:xfrm>
            <a:off x="401524" y="6523760"/>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vremennye-ryady</a:t>
            </a:r>
            <a:endParaRPr lang="ru-RU" sz="1400" dirty="0"/>
          </a:p>
        </p:txBody>
      </p:sp>
    </p:spTree>
    <p:extLst>
      <p:ext uri="{BB962C8B-B14F-4D97-AF65-F5344CB8AC3E}">
        <p14:creationId xmlns:p14="http://schemas.microsoft.com/office/powerpoint/2010/main" val="1816387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a:t>кросс-</a:t>
            </a:r>
            <a:r>
              <a:rPr lang="ru-RU" sz="2400" b="1" dirty="0" err="1"/>
              <a:t>валидация</a:t>
            </a:r>
            <a:r>
              <a:rPr lang="ru-RU" sz="2400" dirty="0"/>
              <a:t> — оценка обобщающей способности модели и настройка </a:t>
            </a:r>
            <a:r>
              <a:rPr lang="ru-RU" sz="2400" dirty="0" err="1"/>
              <a:t>гиперпараметров</a:t>
            </a:r>
            <a:endParaRPr lang="ru-RU" sz="2400" dirty="0"/>
          </a:p>
          <a:p>
            <a:pPr lvl="1">
              <a:lnSpc>
                <a:spcPct val="100000"/>
              </a:lnSpc>
              <a:spcBef>
                <a:spcPts val="0"/>
              </a:spcBef>
            </a:pPr>
            <a:r>
              <a:rPr lang="ru-RU" sz="2200" dirty="0"/>
              <a:t>многократная итерация на последовательных обучающих и </a:t>
            </a:r>
            <a:r>
              <a:rPr lang="ru-RU" sz="2200" dirty="0" err="1"/>
              <a:t>валидационных</a:t>
            </a:r>
            <a:r>
              <a:rPr lang="ru-RU" sz="2200" dirty="0"/>
              <a:t> </a:t>
            </a:r>
            <a:r>
              <a:rPr lang="ru-RU" sz="2200" dirty="0" err="1"/>
              <a:t>подвыборках</a:t>
            </a:r>
            <a:r>
              <a:rPr lang="ru-RU" sz="2200" dirty="0"/>
              <a:t>.</a:t>
            </a:r>
          </a:p>
          <a:p>
            <a:pPr lvl="1">
              <a:lnSpc>
                <a:spcPct val="100000"/>
              </a:lnSpc>
              <a:spcBef>
                <a:spcPts val="0"/>
              </a:spcBef>
            </a:pPr>
            <a:r>
              <a:rPr lang="ru-RU" sz="2200" dirty="0"/>
              <a:t>Цель – разработка модели (усредненная оценка, аналог </a:t>
            </a:r>
            <a:r>
              <a:rPr lang="en-US" sz="2200" dirty="0"/>
              <a:t>k-folds)</a:t>
            </a:r>
            <a:r>
              <a:rPr lang="ru-RU" sz="2200" dirty="0"/>
              <a:t>. </a:t>
            </a:r>
          </a:p>
          <a:p>
            <a:pPr lvl="2">
              <a:lnSpc>
                <a:spcPct val="100000"/>
              </a:lnSpc>
              <a:spcBef>
                <a:spcPts val="0"/>
              </a:spcBef>
            </a:pPr>
            <a:r>
              <a:rPr lang="ru-RU" sz="1800" dirty="0"/>
              <a:t>Модель переобучают.</a:t>
            </a:r>
          </a:p>
          <a:p>
            <a:pPr>
              <a:lnSpc>
                <a:spcPct val="100000"/>
              </a:lnSpc>
              <a:spcBef>
                <a:spcPts val="0"/>
              </a:spcBef>
            </a:pPr>
            <a:r>
              <a:rPr lang="ru-RU" sz="2400" b="1" dirty="0" err="1"/>
              <a:t>Backtesting</a:t>
            </a:r>
            <a:r>
              <a:rPr lang="ru-RU" sz="2400" dirty="0"/>
              <a:t> — проверка конкретной модели на исторических данных (как будто результаты прогона)</a:t>
            </a:r>
          </a:p>
          <a:p>
            <a:pPr lvl="1">
              <a:lnSpc>
                <a:spcPct val="100000"/>
              </a:lnSpc>
              <a:spcBef>
                <a:spcPts val="0"/>
              </a:spcBef>
            </a:pPr>
            <a:r>
              <a:rPr lang="ru-RU" sz="2200" dirty="0"/>
              <a:t>однократное обучение и проверка на всей доступной истории (разделенных на </a:t>
            </a:r>
            <a:r>
              <a:rPr lang="ru-RU" sz="2200" dirty="0" err="1"/>
              <a:t>подвыборки</a:t>
            </a:r>
            <a:r>
              <a:rPr lang="ru-RU" sz="2200" dirty="0"/>
              <a:t>)</a:t>
            </a:r>
          </a:p>
          <a:p>
            <a:pPr lvl="1">
              <a:lnSpc>
                <a:spcPct val="100000"/>
              </a:lnSpc>
              <a:spcBef>
                <a:spcPts val="0"/>
              </a:spcBef>
            </a:pPr>
            <a:r>
              <a:rPr lang="ru-RU" sz="2200" dirty="0"/>
              <a:t>Цель – проверка готовой модели на разных типах данных (в различных условиях).</a:t>
            </a:r>
          </a:p>
          <a:p>
            <a:pPr lvl="2">
              <a:lnSpc>
                <a:spcPct val="100000"/>
              </a:lnSpc>
              <a:spcBef>
                <a:spcPts val="0"/>
              </a:spcBef>
            </a:pPr>
            <a:r>
              <a:rPr lang="ru-RU" sz="1800" dirty="0"/>
              <a:t>Модель не переобучают</a:t>
            </a:r>
          </a:p>
          <a:p>
            <a:pPr marL="0" indent="0">
              <a:lnSpc>
                <a:spcPct val="100000"/>
              </a:lnSpc>
              <a:spcBef>
                <a:spcPts val="0"/>
              </a:spcBef>
              <a:buNone/>
            </a:pPr>
            <a:r>
              <a:rPr lang="ru-RU" sz="2400" u="sng" dirty="0"/>
              <a:t>Сегодня часто эти термины перемешивают </a:t>
            </a:r>
            <a:r>
              <a:rPr lang="en-US" sz="2400" u="sng" dirty="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a:t>Backtesting</a:t>
                      </a:r>
                      <a:endParaRPr lang="ru-RU" sz="2200" dirty="0"/>
                    </a:p>
                  </a:txBody>
                  <a:tcPr/>
                </a:tc>
                <a:tc>
                  <a:txBody>
                    <a:bodyPr/>
                    <a:lstStyle/>
                    <a:p>
                      <a:r>
                        <a:rPr lang="en-US" sz="2200" b="0" i="0" kern="1200" dirty="0">
                          <a:solidFill>
                            <a:schemeClr val="lt1"/>
                          </a:solidFill>
                          <a:effectLst/>
                          <a:latin typeface="+mn-lt"/>
                          <a:ea typeface="+mn-ea"/>
                          <a:cs typeface="+mn-cs"/>
                        </a:rPr>
                        <a:t>Walk-forward </a:t>
                      </a:r>
                      <a:r>
                        <a:rPr lang="en-US" sz="2200" dirty="0"/>
                        <a:t>Cross-validation</a:t>
                      </a:r>
                      <a:endParaRPr lang="ru-RU" sz="2200" dirty="0"/>
                    </a:p>
                  </a:txBody>
                  <a:tcPr/>
                </a:tc>
                <a:tc>
                  <a:txBody>
                    <a:bodyPr/>
                    <a:lstStyle/>
                    <a:p>
                      <a:r>
                        <a:rPr lang="ru-RU" sz="2200" dirty="0" err="1"/>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a:t>аналогия</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Аналог</a:t>
                      </a:r>
                      <a:r>
                        <a:rPr lang="ru-RU" sz="2200" baseline="0" dirty="0"/>
                        <a:t> </a:t>
                      </a:r>
                      <a:r>
                        <a:rPr lang="en-US" sz="2200" baseline="0" dirty="0"/>
                        <a:t>k-folds</a:t>
                      </a:r>
                      <a:endParaRPr lang="ru-RU" sz="2200" dirty="0"/>
                    </a:p>
                  </a:txBody>
                  <a:tcPr/>
                </a:tc>
                <a:tc>
                  <a:txBody>
                    <a:bodyPr/>
                    <a:lstStyle/>
                    <a:p>
                      <a:r>
                        <a:rPr lang="ru-RU" sz="2200" dirty="0"/>
                        <a:t>Аналог</a:t>
                      </a:r>
                      <a:r>
                        <a:rPr lang="ru-RU" sz="2200" baseline="0" dirty="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a:t>цели</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Оценка реальной точности,</a:t>
                      </a:r>
                      <a:r>
                        <a:rPr lang="ru-RU" sz="2200" baseline="0" dirty="0"/>
                        <a:t> выбор </a:t>
                      </a:r>
                      <a:r>
                        <a:rPr lang="ru-RU" sz="2200" baseline="0" dirty="0" err="1"/>
                        <a:t>гиперпараметров</a:t>
                      </a:r>
                      <a:endParaRPr lang="ru-RU" sz="2200" dirty="0"/>
                    </a:p>
                  </a:txBody>
                  <a:tcPr/>
                </a:tc>
                <a:tc>
                  <a:txBody>
                    <a:bodyPr/>
                    <a:lstStyle/>
                    <a:p>
                      <a:r>
                        <a:rPr lang="ru-RU" sz="2200" dirty="0"/>
                        <a:t>Выявление особенностей работы готовой модели на «будущих данных»</a:t>
                      </a:r>
                    </a:p>
                  </a:txBody>
                  <a:tcPr/>
                </a:tc>
                <a:extLst>
                  <a:ext uri="{0D108BD9-81ED-4DB2-BD59-A6C34878D82A}">
                    <a16:rowId xmlns:a16="http://schemas.microsoft.com/office/drawing/2014/main" val="3399391555"/>
                  </a:ext>
                </a:extLst>
              </a:tr>
              <a:tr h="370840">
                <a:tc>
                  <a:txBody>
                    <a:bodyPr/>
                    <a:lstStyle/>
                    <a:p>
                      <a:r>
                        <a:rPr lang="ru-RU" sz="2200" dirty="0"/>
                        <a:t>Обучение</a:t>
                      </a:r>
                      <a:r>
                        <a:rPr lang="ru-RU" sz="2200" baseline="0" dirty="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обучение</a:t>
                      </a:r>
                      <a:r>
                        <a:rPr lang="ru-RU" sz="2200" baseline="0" dirty="0"/>
                        <a:t> на </a:t>
                      </a:r>
                      <a:r>
                        <a:rPr lang="ru-RU" sz="2200" baseline="0" dirty="0" err="1"/>
                        <a:t>фолдах</a:t>
                      </a:r>
                      <a:endParaRPr lang="ru-RU" sz="2200" dirty="0"/>
                    </a:p>
                  </a:txBody>
                  <a:tcPr/>
                </a:tc>
                <a:tc>
                  <a:txBody>
                    <a:bodyPr/>
                    <a:lstStyle/>
                    <a:p>
                      <a:r>
                        <a:rPr lang="ru-RU" sz="2200" dirty="0"/>
                        <a:t>Не предполагает обучения на </a:t>
                      </a:r>
                      <a:r>
                        <a:rPr lang="ru-RU" sz="2200" dirty="0" err="1"/>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a:solidFill>
                            <a:schemeClr val="dk1"/>
                          </a:solidFill>
                          <a:effectLst/>
                          <a:latin typeface="+mn-lt"/>
                          <a:ea typeface="+mn-ea"/>
                          <a:cs typeface="+mn-cs"/>
                        </a:rPr>
                        <a:t>Примеры</a:t>
                      </a:r>
                      <a:r>
                        <a:rPr lang="ru-RU" sz="2200" b="0" i="0" kern="1200" baseline="0" dirty="0">
                          <a:solidFill>
                            <a:schemeClr val="dk1"/>
                          </a:solidFill>
                          <a:effectLst/>
                          <a:latin typeface="+mn-lt"/>
                          <a:ea typeface="+mn-ea"/>
                          <a:cs typeface="+mn-cs"/>
                        </a:rPr>
                        <a:t> </a:t>
                      </a:r>
                      <a:r>
                        <a:rPr lang="ru-RU" sz="2200" b="0" i="0" kern="1200" dirty="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sliding window validation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a:solidFill>
                            <a:schemeClr val="dk1"/>
                          </a:solidFill>
                          <a:effectLst/>
                          <a:latin typeface="+mn-lt"/>
                          <a:ea typeface="+mn-ea"/>
                          <a:cs typeface="+mn-cs"/>
                        </a:rPr>
                        <a:t>Multiple horizon evaluation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Примеры статистик</a:t>
                      </a:r>
                    </a:p>
                  </a:txBody>
                  <a:tcPr/>
                </a:tc>
                <a:tc>
                  <a:txBody>
                    <a:bodyPr/>
                    <a:lstStyle/>
                    <a:p>
                      <a:r>
                        <a:rPr lang="ru-RU" sz="2200" dirty="0"/>
                        <a:t>Разброс</a:t>
                      </a:r>
                      <a:r>
                        <a:rPr lang="ru-RU" sz="2200" baseline="0" dirty="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Cumulative error analysis</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a:t>Преимущества</a:t>
            </a:r>
            <a:r>
              <a:rPr lang="en-US" dirty="0"/>
              <a:t> Walk-forward</a:t>
            </a:r>
            <a:r>
              <a:rPr lang="ru-RU" dirty="0"/>
              <a:t> </a:t>
            </a:r>
            <a:r>
              <a:rPr lang="en-US" dirty="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 </a:t>
            </a:r>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a:t>Иногда модель дополнительно тестируют на перевернутом</a:t>
            </a:r>
          </a:p>
          <a:p>
            <a:r>
              <a:rPr lang="ru-RU" sz="2000" i="1" u="sng" dirty="0"/>
              <a:t> временном ряду для повышения надежности выводов  </a:t>
            </a:r>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Снижение смещения оценки метрик по сравнению с одноразовой разбивкой. </a:t>
            </a:r>
            <a:endParaRPr lang="en-US" sz="2400" dirty="0"/>
          </a:p>
          <a:p>
            <a:r>
              <a:rPr lang="ru-RU" sz="2400" dirty="0"/>
              <a:t>Оценка дисперсии метрик</a:t>
            </a:r>
          </a:p>
          <a:p>
            <a:r>
              <a:rPr lang="ru-RU" sz="2400" dirty="0"/>
              <a:t>Поиск "плавающих" ошибок в модели данных. </a:t>
            </a:r>
          </a:p>
          <a:p>
            <a:pPr lvl="1"/>
            <a:r>
              <a:rPr lang="ru-RU" sz="2000" dirty="0"/>
              <a:t>То 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a:t>Особенности кросс-</a:t>
            </a:r>
            <a:r>
              <a:rPr lang="ru-RU" dirty="0" err="1"/>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a:t>Стратегию кросс-</a:t>
            </a:r>
            <a:r>
              <a:rPr lang="ru-RU" sz="2400" dirty="0" err="1"/>
              <a:t>валидации</a:t>
            </a:r>
            <a:r>
              <a:rPr lang="ru-RU" sz="2400" dirty="0"/>
              <a:t> надо выбирать сообразно задаче</a:t>
            </a:r>
          </a:p>
          <a:p>
            <a:pPr lvl="1"/>
            <a:r>
              <a:rPr lang="ru-RU" sz="2000" dirty="0"/>
              <a:t>Если предполагается </a:t>
            </a:r>
            <a:r>
              <a:rPr lang="ru-RU" sz="2000" dirty="0" err="1"/>
              <a:t>дообучение</a:t>
            </a:r>
            <a:r>
              <a:rPr lang="ru-RU" sz="2000" dirty="0"/>
              <a:t> модели можно взять расширяющееся окно, </a:t>
            </a:r>
          </a:p>
          <a:p>
            <a:pPr lvl="1"/>
            <a:r>
              <a:rPr lang="ru-RU" sz="2000" dirty="0"/>
              <a:t>если данные устаревают, то скользящее окно. </a:t>
            </a:r>
          </a:p>
          <a:p>
            <a:pPr lvl="1"/>
            <a:r>
              <a:rPr lang="ru-RU" sz="2000" dirty="0"/>
              <a:t>Возможны также комбинации, напр. смещения окна 1 раз в год при горизонте в 1 месяц.</a:t>
            </a:r>
          </a:p>
          <a:p>
            <a:r>
              <a:rPr lang="ru-RU" sz="2400" dirty="0"/>
              <a:t>Важно выбирать окна </a:t>
            </a:r>
            <a:r>
              <a:rPr lang="ru-RU" sz="2400" dirty="0" err="1"/>
              <a:t>валидации</a:t>
            </a:r>
            <a:r>
              <a:rPr lang="ru-RU" sz="2400" dirty="0"/>
              <a:t> из требований к реальным данным</a:t>
            </a:r>
          </a:p>
          <a:p>
            <a:pPr lvl="1"/>
            <a:r>
              <a:rPr lang="ru-RU" sz="2000" dirty="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1832" y="365126"/>
            <a:ext cx="12040668" cy="523638"/>
          </a:xfrm>
        </p:spPr>
        <p:txBody>
          <a:bodyPr>
            <a:noAutofit/>
          </a:bodyPr>
          <a:lstStyle/>
          <a:p>
            <a:r>
              <a:rPr lang="ru-RU" sz="3600" dirty="0" smtClean="0"/>
              <a:t>Замечание. </a:t>
            </a:r>
            <a:r>
              <a:rPr lang="en-US" sz="3600" dirty="0" err="1" smtClean="0"/>
              <a:t>Backcast</a:t>
            </a:r>
            <a:r>
              <a:rPr lang="ru-RU" sz="3600" dirty="0" smtClean="0"/>
              <a:t>-дополнительная оценка надежности</a:t>
            </a:r>
            <a:endParaRPr lang="ru-RU" sz="3600" dirty="0"/>
          </a:p>
        </p:txBody>
      </p:sp>
      <p:sp>
        <p:nvSpPr>
          <p:cNvPr id="3" name="Объект 2"/>
          <p:cNvSpPr>
            <a:spLocks noGrp="1"/>
          </p:cNvSpPr>
          <p:nvPr>
            <p:ph idx="1"/>
          </p:nvPr>
        </p:nvSpPr>
        <p:spPr>
          <a:xfrm>
            <a:off x="219101" y="991312"/>
            <a:ext cx="11859578" cy="5100193"/>
          </a:xfrm>
        </p:spPr>
        <p:txBody>
          <a:bodyPr>
            <a:normAutofit/>
          </a:bodyPr>
          <a:lstStyle/>
          <a:p>
            <a:pPr marL="0" indent="0">
              <a:buNone/>
            </a:pPr>
            <a:r>
              <a:rPr lang="ru-RU" sz="2200" dirty="0" smtClean="0"/>
              <a:t>Если ВР стационарный или как минимум регулярный, то оценку точности предсказания вперед </a:t>
            </a:r>
            <a:r>
              <a:rPr lang="en-US" sz="2200" dirty="0" smtClean="0"/>
              <a:t>(forecast)</a:t>
            </a:r>
            <a:r>
              <a:rPr lang="ru-RU" sz="2200" dirty="0" smtClean="0"/>
              <a:t> можно скорректировать оценкой точности ретроспективного предсказания (предсказания назад </a:t>
            </a:r>
            <a:r>
              <a:rPr lang="en-US" sz="2200" dirty="0" err="1" smtClean="0"/>
              <a:t>Backcast</a:t>
            </a:r>
            <a:r>
              <a:rPr lang="ru-RU" sz="2200" dirty="0" smtClean="0"/>
              <a:t>).</a:t>
            </a:r>
            <a:endParaRPr lang="ru-RU" sz="2200" dirty="0"/>
          </a:p>
        </p:txBody>
      </p:sp>
      <p:pic>
        <p:nvPicPr>
          <p:cNvPr id="1026" name="Picture 2" descr="https://robjhyndman.com/hyndsight/backcasting/index_files/figure-html/unnamed-chunk-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2" y="2035099"/>
            <a:ext cx="4040505" cy="2886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casts for quarterly retail trade in the Euro area using an ARIMA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781" y="2255215"/>
            <a:ext cx="3960502" cy="2445845"/>
          </a:xfrm>
          <a:prstGeom prst="rect">
            <a:avLst/>
          </a:prstGeom>
          <a:noFill/>
          <a:extLst>
            <a:ext uri="{909E8E84-426E-40DD-AFC4-6F175D3DCCD1}">
              <a14:hiddenFill xmlns:a14="http://schemas.microsoft.com/office/drawing/2010/main">
                <a:solidFill>
                  <a:srgbClr val="FFFFFF"/>
                </a:solidFill>
              </a14:hiddenFill>
            </a:ext>
          </a:extLst>
        </p:spPr>
      </p:pic>
      <p:sp>
        <p:nvSpPr>
          <p:cNvPr id="4" name="Стрелка вправо 3"/>
          <p:cNvSpPr/>
          <p:nvPr/>
        </p:nvSpPr>
        <p:spPr>
          <a:xfrm>
            <a:off x="4554908" y="3478138"/>
            <a:ext cx="529840" cy="31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бъект 2"/>
          <p:cNvSpPr txBox="1">
            <a:spLocks/>
          </p:cNvSpPr>
          <p:nvPr/>
        </p:nvSpPr>
        <p:spPr>
          <a:xfrm>
            <a:off x="219101" y="5007835"/>
            <a:ext cx="11859578" cy="12747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200" dirty="0" smtClean="0"/>
              <a:t>Ретроспективный анализ будет работать если паттерны поведения остаются прежними!</a:t>
            </a:r>
          </a:p>
          <a:p>
            <a:pPr marL="0" indent="0">
              <a:buFont typeface="Arial" panose="020B0604020202020204" pitchFamily="34" charset="0"/>
              <a:buNone/>
            </a:pPr>
            <a:r>
              <a:rPr lang="ru-RU" sz="2200" dirty="0" smtClean="0"/>
              <a:t> </a:t>
            </a:r>
            <a:endParaRPr lang="ru-RU" sz="2200" dirty="0"/>
          </a:p>
        </p:txBody>
      </p:sp>
    </p:spTree>
    <p:extLst>
      <p:ext uri="{BB962C8B-B14F-4D97-AF65-F5344CB8AC3E}">
        <p14:creationId xmlns:p14="http://schemas.microsoft.com/office/powerpoint/2010/main" val="32453426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При кросс-</a:t>
            </a:r>
            <a:r>
              <a:rPr lang="ru-RU" sz="2100" b="1" dirty="0" err="1" smtClean="0"/>
              <a:t>валидации</a:t>
            </a:r>
            <a:r>
              <a:rPr lang="ru-RU" sz="2100" b="1" dirty="0" smtClean="0"/>
              <a:t> важно оценивать неопределенность предсказания!</a:t>
            </a:r>
          </a:p>
          <a:p>
            <a:pPr marL="0" indent="0">
              <a:buNone/>
            </a:pPr>
            <a:r>
              <a:rPr lang="ru-RU" sz="2100" b="1" dirty="0" smtClean="0"/>
              <a:t>Это диагностика того как модель описывает ряд и какие ошибки есть во ВР</a:t>
            </a:r>
            <a:endParaRPr lang="ru-RU" sz="2100" b="1" dirty="0" smtClean="0"/>
          </a:p>
          <a:p>
            <a:pPr marL="0" indent="0">
              <a:buNone/>
            </a:pPr>
            <a:r>
              <a:rPr lang="ru-RU" sz="2100" b="1" dirty="0" smtClean="0"/>
              <a:t>Источники </a:t>
            </a:r>
            <a:r>
              <a:rPr lang="ru-RU" sz="2100" b="1" dirty="0"/>
              <a:t>ошибки предсказаний</a:t>
            </a:r>
          </a:p>
          <a:p>
            <a:pPr lvl="1"/>
            <a:r>
              <a:rPr lang="ru-RU" sz="2000" dirty="0"/>
              <a:t>Случайная ошибка (флуктуации, шум)</a:t>
            </a:r>
          </a:p>
          <a:p>
            <a:pPr lvl="1"/>
            <a:r>
              <a:rPr lang="ru-RU" sz="2000" dirty="0"/>
              <a:t>Смещенные оценки параметров </a:t>
            </a:r>
          </a:p>
          <a:p>
            <a:pPr lvl="1"/>
            <a:r>
              <a:rPr lang="ru-RU" sz="2000" dirty="0"/>
              <a:t>Дрейф данных (из за ограниченности выборки не все паттерны теста учтены в </a:t>
            </a:r>
            <a:r>
              <a:rPr lang="ru-RU" sz="2000" dirty="0" err="1"/>
              <a:t>трейне</a:t>
            </a:r>
            <a:r>
              <a:rPr lang="ru-RU" sz="2000" dirty="0"/>
              <a:t>)</a:t>
            </a:r>
          </a:p>
          <a:p>
            <a:pPr lvl="1"/>
            <a:r>
              <a:rPr lang="ru-RU" sz="2000" dirty="0"/>
              <a:t>Дрейф концепции (появление истинно новых </a:t>
            </a:r>
            <a:r>
              <a:rPr lang="ru-RU" sz="2000" dirty="0" err="1"/>
              <a:t>патетрнов</a:t>
            </a:r>
            <a:r>
              <a:rPr lang="ru-RU" sz="2000" dirty="0"/>
              <a:t> в </a:t>
            </a:r>
            <a:r>
              <a:rPr lang="ru-RU" sz="2000" dirty="0" err="1"/>
              <a:t>трейне</a:t>
            </a:r>
            <a:r>
              <a:rPr lang="ru-RU" sz="2000" dirty="0"/>
              <a:t>)</a:t>
            </a:r>
          </a:p>
          <a:p>
            <a:pPr marL="0" indent="0">
              <a:buNone/>
            </a:pPr>
            <a:r>
              <a:rPr lang="ru-RU" sz="2100" b="1" dirty="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60034"/>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55575" y="654681"/>
                <a:ext cx="11706225" cy="5176838"/>
              </a:xfrm>
            </p:spPr>
            <p:txBody>
              <a:bodyPr>
                <a:normAutofit lnSpcReduction="10000"/>
              </a:bodyPr>
              <a:lstStyle/>
              <a:p>
                <a:pPr marL="0" indent="0">
                  <a:buNone/>
                </a:pPr>
                <a:r>
                  <a:rPr lang="ru-RU" sz="2100" b="1" dirty="0"/>
                  <a:t>Оценка неопределенности предсказание позволяет:</a:t>
                </a:r>
              </a:p>
              <a:p>
                <a:r>
                  <a:rPr lang="ru-RU" sz="2100" dirty="0"/>
                  <a:t>Оценить диапазон возможных значений</a:t>
                </a:r>
              </a:p>
              <a:p>
                <a:pPr lvl="1"/>
                <a:r>
                  <a:rPr lang="ru-RU" sz="1700" dirty="0"/>
                  <a:t>Выход за диапазон –показатель дрейфа\аномалий или других факторов ненадежности модели</a:t>
                </a:r>
              </a:p>
              <a:p>
                <a:r>
                  <a:rPr lang="ru-RU" sz="2100" dirty="0"/>
                  <a:t>Оценить точность модели</a:t>
                </a:r>
              </a:p>
              <a:p>
                <a:pPr lvl="1"/>
                <a:r>
                  <a:rPr lang="ru-RU" sz="1700" dirty="0"/>
                  <a:t>Напр. чем уже диапазон неопределённости на тесте – тем лучше.</a:t>
                </a:r>
              </a:p>
              <a:p>
                <a:pPr lvl="1"/>
                <a:r>
                  <a:rPr lang="ru-RU" sz="1700" dirty="0"/>
                  <a:t>Резкое сужение диапазона на </a:t>
                </a:r>
                <a:r>
                  <a:rPr lang="ru-RU" sz="1700" dirty="0" err="1"/>
                  <a:t>трейн</a:t>
                </a:r>
                <a:r>
                  <a:rPr lang="ru-RU" sz="1700" dirty="0"/>
                  <a:t> – индикатор переобучения</a:t>
                </a:r>
                <a:r>
                  <a:rPr lang="ru-RU" sz="1700" dirty="0" smtClean="0"/>
                  <a:t>.</a:t>
                </a:r>
              </a:p>
              <a:p>
                <a:pPr lvl="1"/>
                <a:r>
                  <a:rPr lang="ru-RU" sz="1700" dirty="0" smtClean="0"/>
                  <a:t>Но при условии корректного покрытия (т.е. модель, дающая 5% для </a:t>
                </a:r>
                <a:r>
                  <a:rPr lang="ru-RU" sz="1700" dirty="0" err="1" smtClean="0"/>
                  <a:t>сбытия</a:t>
                </a:r>
                <a:r>
                  <a:rPr lang="ru-RU" sz="1700" dirty="0" smtClean="0"/>
                  <a:t> с вер. 5%, лучше, чем модель, дающая для него 1 или 10%).</a:t>
                </a:r>
                <a:endParaRPr lang="ru-RU" sz="1700" dirty="0"/>
              </a:p>
              <a:p>
                <a:r>
                  <a:rPr lang="ru-RU" sz="2100" dirty="0"/>
                  <a:t>Оценить риски модели</a:t>
                </a:r>
              </a:p>
              <a:p>
                <a:pPr lvl="1"/>
                <a:r>
                  <a:rPr lang="ru-RU" sz="1700" dirty="0"/>
                  <a:t>Напр. разброс позволяет говорить что тренд может и поменяться</a:t>
                </a:r>
              </a:p>
              <a:p>
                <a:r>
                  <a:rPr lang="ru-RU" sz="2100" dirty="0"/>
                  <a:t>Повысить предметную интерпретируемость модели</a:t>
                </a:r>
              </a:p>
              <a:p>
                <a:pPr lvl="1"/>
                <a:r>
                  <a:rPr lang="ru-RU" sz="1700" dirty="0"/>
                  <a:t>позволяет более реалистично оценить результаты </a:t>
                </a:r>
                <a:br>
                  <a:rPr lang="ru-RU" sz="1700" dirty="0"/>
                </a:br>
                <a:r>
                  <a:rPr lang="ru-RU" sz="1700" dirty="0"/>
                  <a:t>работы модели в предметной логике</a:t>
                </a:r>
              </a:p>
              <a:p>
                <a:pPr lvl="1"/>
                <a:r>
                  <a:rPr lang="ru-RU" sz="1700" dirty="0"/>
                  <a:t>Напр. средняя оценка загрузки </a:t>
                </a:r>
                <a:r>
                  <a:rPr lang="ru-RU" sz="1700" dirty="0" err="1"/>
                  <a:t>колл</a:t>
                </a:r>
                <a:r>
                  <a:rPr lang="ru-RU" sz="1700" dirty="0"/>
                  <a:t>-центра соответствует </a:t>
                </a:r>
                <a:br>
                  <a:rPr lang="ru-RU" sz="1700" dirty="0"/>
                </a:br>
                <a:r>
                  <a:rPr lang="ru-RU" sz="1700" dirty="0"/>
                  <a:t>нагрузке 10 специалистов, но разброс </a:t>
                </a:r>
                <a:r>
                  <a:rPr lang="ru-RU" sz="1400" dirty="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a:t>2 </a:t>
                </a:r>
                <a:r>
                  <a:rPr lang="ru-RU" sz="1300" dirty="0" err="1"/>
                  <a:t>специлистам</a:t>
                </a:r>
                <a:r>
                  <a:rPr lang="ru-RU" sz="1300" dirty="0"/>
                  <a:t>.</a:t>
                </a:r>
                <a:endParaRPr lang="en-US" sz="1300" dirty="0"/>
              </a:p>
              <a:p>
                <a:pPr lvl="1"/>
                <a:endParaRPr lang="ru-RU" sz="1700" b="1" dirty="0"/>
              </a:p>
              <a:p>
                <a:pPr marL="0" indent="0">
                  <a:buNone/>
                </a:pPr>
                <a:r>
                  <a:rPr lang="ru-RU" sz="2100" b="1" dirty="0"/>
                  <a:t>	</a:t>
                </a:r>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765"/>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667" y="3488638"/>
            <a:ext cx="4946028"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a:t>Неучтенная информация?</a:t>
            </a:r>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10896" y="365125"/>
            <a:ext cx="11042904" cy="585851"/>
          </a:xfrm>
        </p:spPr>
        <p:txBody>
          <a:bodyPr>
            <a:normAutofit fontScale="90000"/>
          </a:bodyPr>
          <a:lstStyle/>
          <a:p>
            <a:r>
              <a:rPr lang="ru-RU" dirty="0"/>
              <a:t>Необходимость вероятностных оценок</a:t>
            </a:r>
          </a:p>
        </p:txBody>
      </p:sp>
      <p:sp>
        <p:nvSpPr>
          <p:cNvPr id="4" name="Номер слайда 3"/>
          <p:cNvSpPr>
            <a:spLocks noGrp="1"/>
          </p:cNvSpPr>
          <p:nvPr>
            <p:ph type="sldNum" sz="quarter" idx="12"/>
          </p:nvPr>
        </p:nvSpPr>
        <p:spPr/>
        <p:txBody>
          <a:bodyPr/>
          <a:lstStyle/>
          <a:p>
            <a:fld id="{45C3B737-A709-4ABC-AFE0-A6B067850C48}" type="slidenum">
              <a:rPr lang="en-US" smtClean="0"/>
              <a:t>15</a:t>
            </a:fld>
            <a:endParaRPr lang="en-US"/>
          </a:p>
        </p:txBody>
      </p:sp>
      <p:sp>
        <p:nvSpPr>
          <p:cNvPr id="5" name="Объект 4"/>
          <p:cNvSpPr>
            <a:spLocks noGrp="1"/>
          </p:cNvSpPr>
          <p:nvPr>
            <p:ph idx="1"/>
          </p:nvPr>
        </p:nvSpPr>
        <p:spPr>
          <a:xfrm>
            <a:off x="192024" y="950976"/>
            <a:ext cx="11814048" cy="397032"/>
          </a:xfrm>
          <a:prstGeom prst="rect">
            <a:avLst/>
          </a:prstGeom>
        </p:spPr>
        <p:txBody>
          <a:bodyPr wrap="square">
            <a:spAutoFit/>
          </a:bodyPr>
          <a:lstStyle/>
          <a:p>
            <a:pPr marL="0" indent="0">
              <a:buNone/>
            </a:pPr>
            <a:r>
              <a:rPr lang="en-US" sz="2200" b="1" dirty="0"/>
              <a:t> </a:t>
            </a:r>
            <a:endParaRPr lang="ru-RU" sz="2200" b="0" i="0" dirty="0">
              <a:effectLst/>
            </a:endParaRPr>
          </a:p>
        </p:txBody>
      </p:sp>
      <p:sp>
        <p:nvSpPr>
          <p:cNvPr id="3" name="Прямоугольник 2"/>
          <p:cNvSpPr/>
          <p:nvPr/>
        </p:nvSpPr>
        <p:spPr>
          <a:xfrm>
            <a:off x="310896" y="1001038"/>
            <a:ext cx="7354709" cy="5940088"/>
          </a:xfrm>
          <a:prstGeom prst="rect">
            <a:avLst/>
          </a:prstGeom>
        </p:spPr>
        <p:txBody>
          <a:bodyPr wrap="square">
            <a:spAutoFit/>
          </a:bodyPr>
          <a:lstStyle/>
          <a:p>
            <a:r>
              <a:rPr lang="ru-RU" sz="2000" dirty="0">
                <a:solidFill>
                  <a:srgbClr val="2C2C36"/>
                </a:solidFill>
              </a:rPr>
              <a:t>Иногда предположение о нормальности остатков неверно. В таких случаях можно использовать </a:t>
            </a:r>
            <a:r>
              <a:rPr lang="ru-RU" sz="2000" dirty="0">
                <a:solidFill>
                  <a:srgbClr val="111827"/>
                </a:solidFill>
              </a:rPr>
              <a:t>методы</a:t>
            </a:r>
          </a:p>
          <a:p>
            <a:r>
              <a:rPr lang="ru-RU" sz="2000" dirty="0">
                <a:solidFill>
                  <a:srgbClr val="111827"/>
                </a:solidFill>
              </a:rPr>
              <a:t> </a:t>
            </a:r>
            <a:r>
              <a:rPr lang="ru-RU" sz="2000" dirty="0" err="1">
                <a:solidFill>
                  <a:srgbClr val="111827"/>
                </a:solidFill>
              </a:rPr>
              <a:t>бутстрепа</a:t>
            </a:r>
            <a:r>
              <a:rPr lang="ru-RU" sz="2000" dirty="0">
                <a:solidFill>
                  <a:srgbClr val="111827"/>
                </a:solidFill>
              </a:rPr>
              <a:t> </a:t>
            </a:r>
            <a:r>
              <a:rPr lang="ru-RU" sz="2000" dirty="0">
                <a:solidFill>
                  <a:srgbClr val="2C2C36"/>
                </a:solidFill>
              </a:rPr>
              <a:t>— имитационный метод, основанный на повторной выборке из исторических остатков</a:t>
            </a:r>
          </a:p>
          <a:p>
            <a:r>
              <a:rPr lang="ru-RU" sz="2000" dirty="0" err="1">
                <a:solidFill>
                  <a:srgbClr val="2C2C36"/>
                </a:solidFill>
              </a:rPr>
              <a:t>Комфорное</a:t>
            </a:r>
            <a:r>
              <a:rPr lang="ru-RU" sz="2000" dirty="0">
                <a:solidFill>
                  <a:srgbClr val="2C2C36"/>
                </a:solidFill>
              </a:rPr>
              <a:t> </a:t>
            </a:r>
            <a:r>
              <a:rPr lang="ru-RU" sz="2000" dirty="0" err="1">
                <a:solidFill>
                  <a:srgbClr val="2C2C36"/>
                </a:solidFill>
              </a:rPr>
              <a:t>преорбазование</a:t>
            </a:r>
            <a:r>
              <a:rPr lang="ru-RU" sz="2000" dirty="0">
                <a:solidFill>
                  <a:srgbClr val="2C2C36"/>
                </a:solidFill>
              </a:rPr>
              <a:t> – калибровка доверительных интервалов на отдельных от тренировочной </a:t>
            </a:r>
            <a:r>
              <a:rPr lang="ru-RU" sz="2000" dirty="0" err="1">
                <a:solidFill>
                  <a:srgbClr val="2C2C36"/>
                </a:solidFill>
              </a:rPr>
              <a:t>подвыборках</a:t>
            </a:r>
            <a:r>
              <a:rPr lang="ru-RU" sz="2000" dirty="0">
                <a:solidFill>
                  <a:srgbClr val="2C2C36"/>
                </a:solidFill>
              </a:rPr>
              <a:t>.</a:t>
            </a:r>
          </a:p>
          <a:p>
            <a:r>
              <a:rPr lang="ru-RU" sz="2000" b="1" dirty="0">
                <a:solidFill>
                  <a:srgbClr val="2C2C36"/>
                </a:solidFill>
              </a:rPr>
              <a:t>Основные идеи</a:t>
            </a:r>
          </a:p>
          <a:p>
            <a:pPr>
              <a:buFont typeface="+mj-lt"/>
              <a:buAutoNum type="arabicPeriod"/>
            </a:pPr>
            <a:r>
              <a:rPr lang="ru-RU" sz="2000" dirty="0">
                <a:solidFill>
                  <a:srgbClr val="2C2C36"/>
                </a:solidFill>
              </a:rPr>
              <a:t>Используем модель, чтобы получить остатки </a:t>
            </a:r>
            <a:r>
              <a:rPr lang="ru-RU" sz="2000" i="1" dirty="0" err="1">
                <a:solidFill>
                  <a:srgbClr val="2C2C36"/>
                </a:solidFill>
              </a:rPr>
              <a:t>et</a:t>
            </a:r>
            <a:r>
              <a:rPr lang="ru-RU" sz="2000" dirty="0">
                <a:solidFill>
                  <a:srgbClr val="2C2C36"/>
                </a:solidFill>
              </a:rPr>
              <a:t>​=</a:t>
            </a:r>
            <a:r>
              <a:rPr lang="ru-RU" sz="2000" i="1" dirty="0" err="1">
                <a:solidFill>
                  <a:srgbClr val="2C2C36"/>
                </a:solidFill>
              </a:rPr>
              <a:t>yt</a:t>
            </a:r>
            <a:r>
              <a:rPr lang="ru-RU" sz="2000" dirty="0">
                <a:solidFill>
                  <a:srgbClr val="2C2C36"/>
                </a:solidFill>
              </a:rPr>
              <a:t>​−</a:t>
            </a:r>
            <a:r>
              <a:rPr lang="ru-RU" sz="2000" i="1" dirty="0">
                <a:solidFill>
                  <a:srgbClr val="2C2C36"/>
                </a:solidFill>
              </a:rPr>
              <a:t>y</a:t>
            </a:r>
            <a:r>
              <a:rPr lang="ru-RU" sz="2000" dirty="0">
                <a:solidFill>
                  <a:srgbClr val="2C2C36"/>
                </a:solidFill>
              </a:rPr>
              <a:t>^​</a:t>
            </a:r>
            <a:r>
              <a:rPr lang="ru-RU" sz="2000" i="1" dirty="0">
                <a:solidFill>
                  <a:srgbClr val="2C2C36"/>
                </a:solidFill>
              </a:rPr>
              <a:t>t</a:t>
            </a:r>
            <a:r>
              <a:rPr lang="ru-RU" sz="2000" dirty="0">
                <a:solidFill>
                  <a:srgbClr val="2C2C36"/>
                </a:solidFill>
              </a:rPr>
              <a:t>​ .</a:t>
            </a:r>
          </a:p>
          <a:p>
            <a:pPr>
              <a:buFont typeface="+mj-lt"/>
              <a:buAutoNum type="arabicPeriod"/>
            </a:pPr>
            <a:r>
              <a:rPr lang="ru-RU" sz="2000" dirty="0">
                <a:solidFill>
                  <a:srgbClr val="2C2C36"/>
                </a:solidFill>
              </a:rPr>
              <a:t>Затем случайным образом выбираем эти остатки и добавляем их к прогнозам, чтобы смоделировать возможные будущие значения.</a:t>
            </a:r>
          </a:p>
          <a:p>
            <a:pPr>
              <a:buFont typeface="+mj-lt"/>
              <a:buAutoNum type="arabicPeriod"/>
            </a:pPr>
            <a:r>
              <a:rPr lang="ru-RU" sz="2000" dirty="0">
                <a:solidFill>
                  <a:srgbClr val="2C2C36"/>
                </a:solidFill>
              </a:rPr>
              <a:t>Повторяем этот процесс множество раз, чтобы получить распределение возможных будущих значений.</a:t>
            </a:r>
          </a:p>
          <a:p>
            <a:pPr>
              <a:buFont typeface="+mj-lt"/>
              <a:buAutoNum type="arabicPeriod"/>
            </a:pPr>
            <a:r>
              <a:rPr lang="ru-RU" sz="2000" dirty="0">
                <a:solidFill>
                  <a:srgbClr val="2C2C36"/>
                </a:solidFill>
              </a:rPr>
              <a:t>На основе этого распределения строим доверительные интервалы (например, 80%, 95%).</a:t>
            </a:r>
          </a:p>
          <a:p>
            <a:r>
              <a:rPr lang="ru-RU" sz="2000" b="1" dirty="0">
                <a:solidFill>
                  <a:srgbClr val="2C2C36"/>
                </a:solidFill>
              </a:rPr>
              <a:t>Преимущества методов</a:t>
            </a:r>
          </a:p>
          <a:p>
            <a:pPr>
              <a:buFont typeface="Arial" panose="020B0604020202020204" pitchFamily="34" charset="0"/>
              <a:buChar char="•"/>
            </a:pPr>
            <a:r>
              <a:rPr lang="ru-RU" sz="2000" dirty="0">
                <a:solidFill>
                  <a:srgbClr val="2C2C36"/>
                </a:solidFill>
              </a:rPr>
              <a:t>Не требует предположений о нормальности остатков.</a:t>
            </a:r>
          </a:p>
          <a:p>
            <a:pPr>
              <a:buFont typeface="Arial" panose="020B0604020202020204" pitchFamily="34" charset="0"/>
              <a:buChar char="•"/>
            </a:pPr>
            <a:r>
              <a:rPr lang="ru-RU" sz="2000" dirty="0">
                <a:solidFill>
                  <a:srgbClr val="2C2C36"/>
                </a:solidFill>
              </a:rPr>
              <a:t>Работает даже при сложных структурах данных.</a:t>
            </a:r>
          </a:p>
          <a:p>
            <a:pPr>
              <a:buFont typeface="Arial" panose="020B0604020202020204" pitchFamily="34" charset="0"/>
              <a:buChar char="•"/>
            </a:pPr>
            <a:r>
              <a:rPr lang="ru-RU" sz="2000" dirty="0">
                <a:solidFill>
                  <a:srgbClr val="2C2C36"/>
                </a:solidFill>
              </a:rPr>
              <a:t>Может учитывать несимметричность распределения.</a:t>
            </a:r>
            <a:endParaRPr lang="ru-RU" sz="2000" b="0" i="0" dirty="0">
              <a:solidFill>
                <a:srgbClr val="2C2C36"/>
              </a:solidFill>
              <a:effectLst/>
            </a:endParaRPr>
          </a:p>
        </p:txBody>
      </p:sp>
      <p:pic>
        <p:nvPicPr>
          <p:cNvPr id="9" name="Picture 2" descr="Five simulated future sample paths of the Google closing stock price based on a naïve method with bootstrapped residua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2334" y="850393"/>
            <a:ext cx="3867009" cy="238810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orecasts of the Google closing stock price based on a naïve method with bootstrapped residua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2434" y="3753865"/>
            <a:ext cx="4642510" cy="286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9199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10896" y="365125"/>
            <a:ext cx="11042904" cy="585851"/>
          </a:xfrm>
        </p:spPr>
        <p:txBody>
          <a:bodyPr>
            <a:normAutofit fontScale="90000"/>
          </a:bodyPr>
          <a:lstStyle/>
          <a:p>
            <a:r>
              <a:rPr lang="ru-RU" dirty="0"/>
              <a:t>Необходимость вероятностных оценок</a:t>
            </a:r>
          </a:p>
        </p:txBody>
      </p:sp>
      <p:sp>
        <p:nvSpPr>
          <p:cNvPr id="4" name="Номер слайда 3"/>
          <p:cNvSpPr>
            <a:spLocks noGrp="1"/>
          </p:cNvSpPr>
          <p:nvPr>
            <p:ph type="sldNum" sz="quarter" idx="12"/>
          </p:nvPr>
        </p:nvSpPr>
        <p:spPr/>
        <p:txBody>
          <a:bodyPr/>
          <a:lstStyle/>
          <a:p>
            <a:fld id="{45C3B737-A709-4ABC-AFE0-A6B067850C48}" type="slidenum">
              <a:rPr lang="en-US" smtClean="0"/>
              <a:t>16</a:t>
            </a:fld>
            <a:endParaRPr lang="en-US"/>
          </a:p>
        </p:txBody>
      </p:sp>
      <p:sp>
        <p:nvSpPr>
          <p:cNvPr id="5" name="Объект 4"/>
          <p:cNvSpPr>
            <a:spLocks noGrp="1"/>
          </p:cNvSpPr>
          <p:nvPr>
            <p:ph idx="1"/>
          </p:nvPr>
        </p:nvSpPr>
        <p:spPr>
          <a:xfrm>
            <a:off x="192024" y="950976"/>
            <a:ext cx="11814048" cy="701731"/>
          </a:xfrm>
          <a:prstGeom prst="rect">
            <a:avLst/>
          </a:prstGeom>
        </p:spPr>
        <p:txBody>
          <a:bodyPr wrap="square">
            <a:spAutoFit/>
          </a:bodyPr>
          <a:lstStyle/>
          <a:p>
            <a:pPr marL="0" indent="0">
              <a:buNone/>
            </a:pPr>
            <a:r>
              <a:rPr lang="ru-RU" sz="2200" dirty="0"/>
              <a:t>После того как мы построили прогнозные интервалы или получили прогнозное распределение, важно количественно оценить их качество</a:t>
            </a:r>
          </a:p>
        </p:txBody>
      </p:sp>
      <mc:AlternateContent xmlns:mc="http://schemas.openxmlformats.org/markup-compatibility/2006" xmlns:a14="http://schemas.microsoft.com/office/drawing/2010/main">
        <mc:Choice Requires="a14">
          <p:graphicFrame>
            <p:nvGraphicFramePr>
              <p:cNvPr id="6" name="Таблица 5"/>
              <p:cNvGraphicFramePr>
                <a:graphicFrameLocks noGrp="1"/>
              </p:cNvGraphicFramePr>
              <p:nvPr>
                <p:extLst/>
              </p:nvPr>
            </p:nvGraphicFramePr>
            <p:xfrm>
              <a:off x="310896" y="1652705"/>
              <a:ext cx="11422095" cy="3166944"/>
            </p:xfrm>
            <a:graphic>
              <a:graphicData uri="http://schemas.openxmlformats.org/drawingml/2006/table">
                <a:tbl>
                  <a:tblPr/>
                  <a:tblGrid>
                    <a:gridCol w="1543541">
                      <a:extLst>
                        <a:ext uri="{9D8B030D-6E8A-4147-A177-3AD203B41FA5}">
                          <a16:colId xmlns:a16="http://schemas.microsoft.com/office/drawing/2014/main" val="1648134774"/>
                        </a:ext>
                      </a:extLst>
                    </a:gridCol>
                    <a:gridCol w="2450863">
                      <a:extLst>
                        <a:ext uri="{9D8B030D-6E8A-4147-A177-3AD203B41FA5}">
                          <a16:colId xmlns:a16="http://schemas.microsoft.com/office/drawing/2014/main" val="1803540345"/>
                        </a:ext>
                      </a:extLst>
                    </a:gridCol>
                    <a:gridCol w="2790825">
                      <a:extLst>
                        <a:ext uri="{9D8B030D-6E8A-4147-A177-3AD203B41FA5}">
                          <a16:colId xmlns:a16="http://schemas.microsoft.com/office/drawing/2014/main" val="2317459356"/>
                        </a:ext>
                      </a:extLst>
                    </a:gridCol>
                    <a:gridCol w="1842776">
                      <a:extLst>
                        <a:ext uri="{9D8B030D-6E8A-4147-A177-3AD203B41FA5}">
                          <a16:colId xmlns:a16="http://schemas.microsoft.com/office/drawing/2014/main" val="3472257170"/>
                        </a:ext>
                      </a:extLst>
                    </a:gridCol>
                    <a:gridCol w="2794090">
                      <a:extLst>
                        <a:ext uri="{9D8B030D-6E8A-4147-A177-3AD203B41FA5}">
                          <a16:colId xmlns:a16="http://schemas.microsoft.com/office/drawing/2014/main" val="50803802"/>
                        </a:ext>
                      </a:extLst>
                    </a:gridCol>
                  </a:tblGrid>
                  <a:tr h="363586">
                    <a:tc>
                      <a:txBody>
                        <a:bodyPr/>
                        <a:lstStyle/>
                        <a:p>
                          <a:pPr algn="ctr" fontAlgn="b"/>
                          <a:r>
                            <a:rPr lang="ru-RU" sz="1800" b="0" i="0" u="none" strike="noStrike" dirty="0">
                              <a:solidFill>
                                <a:srgbClr val="000000"/>
                              </a:solidFill>
                              <a:effectLst/>
                              <a:latin typeface="Calibri" panose="020F0502020204030204" pitchFamily="34" charset="0"/>
                            </a:rPr>
                            <a:t>Тип прогноза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Оценка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Цель</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Метрики оценки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Особенности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971985"/>
                      </a:ext>
                    </a:extLst>
                  </a:tr>
                  <a:tr h="1242373">
                    <a:tc>
                      <a:txBody>
                        <a:bodyPr/>
                        <a:lstStyle/>
                        <a:p>
                          <a:pPr algn="ctr" fontAlgn="b"/>
                          <a:r>
                            <a:rPr lang="ru-RU" sz="1800" b="0" i="0" u="none" strike="noStrike" dirty="0">
                              <a:solidFill>
                                <a:srgbClr val="000000"/>
                              </a:solidFill>
                              <a:effectLst/>
                              <a:latin typeface="Calibri" panose="020F0502020204030204" pitchFamily="34" charset="0"/>
                            </a:rPr>
                            <a:t>Интервальный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 диапазон с заданным покрытием </a:t>
                          </a:r>
                          <a14:m>
                            <m:oMath xmlns:m="http://schemas.openxmlformats.org/officeDocument/2006/math">
                              <m:r>
                                <a:rPr lang="en-US" sz="1800" b="0" i="0" u="none" strike="noStrike" dirty="0" smtClean="0">
                                  <a:solidFill>
                                    <a:srgbClr val="000000"/>
                                  </a:solidFill>
                                  <a:effectLst/>
                                  <a:latin typeface="Cambria Math" panose="02040503050406030204" pitchFamily="18" charset="0"/>
                                </a:rPr>
                                <m:t>[</m:t>
                              </m:r>
                              <m:sSub>
                                <m:sSubPr>
                                  <m:ctrlPr>
                                    <a:rPr lang="ru-RU" sz="1800" b="0" i="1" u="none" strike="noStrike" dirty="0" smtClean="0">
                                      <a:solidFill>
                                        <a:srgbClr val="000000"/>
                                      </a:solidFill>
                                      <a:effectLst/>
                                      <a:latin typeface="Cambria Math" panose="02040503050406030204" pitchFamily="18" charset="0"/>
                                    </a:rPr>
                                  </m:ctrlPr>
                                </m:sSubPr>
                                <m:e>
                                  <m:r>
                                    <a:rPr lang="ru-RU" sz="1800" b="0" i="1" u="none" strike="noStrike" dirty="0" smtClean="0">
                                      <a:solidFill>
                                        <a:srgbClr val="000000"/>
                                      </a:solidFill>
                                      <a:effectLst/>
                                      <a:latin typeface="Cambria Math" panose="02040503050406030204" pitchFamily="18" charset="0"/>
                                    </a:rPr>
                                    <m:t>𝑦</m:t>
                                  </m:r>
                                </m:e>
                                <m:sub>
                                  <m:r>
                                    <a:rPr lang="ru-RU" sz="1800" b="0" i="1" u="none" strike="noStrike" dirty="0" smtClean="0">
                                      <a:solidFill>
                                        <a:srgbClr val="000000"/>
                                      </a:solidFill>
                                      <a:effectLst/>
                                      <a:latin typeface="Cambria Math" panose="02040503050406030204" pitchFamily="18" charset="0"/>
                                    </a:rPr>
                                    <m:t>𝑙𝑜𝑤</m:t>
                                  </m:r>
                                </m:sub>
                              </m:sSub>
                              <m:r>
                                <a:rPr lang="ru-RU" sz="1800" b="0" i="1" u="none" strike="noStrike" dirty="0">
                                  <a:solidFill>
                                    <a:srgbClr val="000000"/>
                                  </a:solidFill>
                                  <a:effectLst/>
                                  <a:latin typeface="Cambria Math" panose="02040503050406030204" pitchFamily="18" charset="0"/>
                                </a:rPr>
                                <m:t>, </m:t>
                              </m:r>
                              <m:sSub>
                                <m:sSubPr>
                                  <m:ctrlPr>
                                    <a:rPr lang="ru-RU" sz="1800" b="0" i="1" u="none" strike="noStrike" dirty="0" err="1">
                                      <a:solidFill>
                                        <a:srgbClr val="000000"/>
                                      </a:solidFill>
                                      <a:effectLst/>
                                      <a:latin typeface="Cambria Math" panose="02040503050406030204" pitchFamily="18" charset="0"/>
                                    </a:rPr>
                                  </m:ctrlPr>
                                </m:sSubPr>
                                <m:e>
                                  <m:r>
                                    <a:rPr lang="ru-RU" sz="1800" b="0" i="1" u="none" strike="noStrike" dirty="0" err="1">
                                      <a:solidFill>
                                        <a:srgbClr val="000000"/>
                                      </a:solidFill>
                                      <a:effectLst/>
                                      <a:latin typeface="Cambria Math" panose="02040503050406030204" pitchFamily="18" charset="0"/>
                                    </a:rPr>
                                    <m:t>𝑦</m:t>
                                  </m:r>
                                </m:e>
                                <m:sub>
                                  <m:r>
                                    <a:rPr lang="ru-RU" sz="1800" b="0" i="1" u="none" strike="noStrike" dirty="0" err="1">
                                      <a:solidFill>
                                        <a:srgbClr val="000000"/>
                                      </a:solidFill>
                                      <a:effectLst/>
                                      <a:latin typeface="Cambria Math" panose="02040503050406030204" pitchFamily="18" charset="0"/>
                                    </a:rPr>
                                    <m:t>h𝑖𝑔h</m:t>
                                  </m:r>
                                </m:sub>
                              </m:sSub>
                              <m:r>
                                <a:rPr lang="en-US" sz="1800" b="0" i="1" u="none" strike="noStrike" dirty="0" smtClean="0">
                                  <a:solidFill>
                                    <a:srgbClr val="000000"/>
                                  </a:solidFill>
                                  <a:effectLst/>
                                  <a:latin typeface="Cambria Math" panose="02040503050406030204" pitchFamily="18" charset="0"/>
                                </a:rPr>
                                <m:t>]</m:t>
                              </m:r>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Определить</a:t>
                          </a:r>
                          <a:r>
                            <a:rPr lang="ru-RU" sz="1800" b="0" i="0" u="none" strike="noStrike" baseline="0" dirty="0">
                              <a:solidFill>
                                <a:srgbClr val="000000"/>
                              </a:solidFill>
                              <a:effectLst/>
                              <a:latin typeface="Calibri" panose="020F0502020204030204" pitchFamily="34" charset="0"/>
                            </a:rPr>
                            <a:t> ш</a:t>
                          </a:r>
                          <a:r>
                            <a:rPr lang="ru-RU" sz="1800" b="0" i="0" u="none" strike="noStrike" dirty="0">
                              <a:solidFill>
                                <a:srgbClr val="000000"/>
                              </a:solidFill>
                              <a:effectLst/>
                              <a:latin typeface="Calibri" panose="020F0502020204030204" pitchFamily="34" charset="0"/>
                            </a:rPr>
                            <a:t>ирину и покрытие интервалов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Coverage, Mean Width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Легко интерпретировать, но не покрывает выбросы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609934"/>
                      </a:ext>
                    </a:extLst>
                  </a:tr>
                  <a:tr h="934452">
                    <a:tc>
                      <a:txBody>
                        <a:bodyPr/>
                        <a:lstStyle/>
                        <a:p>
                          <a:pPr algn="ctr" fontAlgn="b"/>
                          <a:r>
                            <a:rPr lang="ru-RU" sz="1800" b="0" i="0" u="none" strike="noStrike">
                              <a:solidFill>
                                <a:srgbClr val="000000"/>
                              </a:solidFill>
                              <a:effectLst/>
                              <a:latin typeface="Calibri" panose="020F0502020204030204" pitchFamily="34" charset="0"/>
                            </a:rPr>
                            <a:t>Квантильный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Предсказать конкретный квантиль </a:t>
                          </a:r>
                          <a14:m>
                            <m:oMath xmlns:m="http://schemas.openxmlformats.org/officeDocument/2006/math">
                              <m:sSub>
                                <m:sSubPr>
                                  <m:ctrlPr>
                                    <a:rPr lang="ru-RU" sz="1800" b="0" i="1" u="none" strike="noStrike" dirty="0" smtClean="0">
                                      <a:solidFill>
                                        <a:srgbClr val="000000"/>
                                      </a:solidFill>
                                      <a:effectLst/>
                                      <a:latin typeface="Cambria Math" panose="02040503050406030204" pitchFamily="18" charset="0"/>
                                    </a:rPr>
                                  </m:ctrlPr>
                                </m:sSubPr>
                                <m:e>
                                  <m:r>
                                    <a:rPr lang="ru-RU" sz="1800" b="0" i="1" u="none" strike="noStrike" dirty="0" smtClean="0">
                                      <a:solidFill>
                                        <a:srgbClr val="000000"/>
                                      </a:solidFill>
                                      <a:effectLst/>
                                      <a:latin typeface="Cambria Math" panose="02040503050406030204" pitchFamily="18" charset="0"/>
                                    </a:rPr>
                                    <m:t>𝑦</m:t>
                                  </m:r>
                                </m:e>
                                <m:sub>
                                  <m:r>
                                    <a:rPr lang="ru-RU" sz="1800" b="0" i="1" u="none" strike="noStrike" dirty="0" smtClean="0">
                                      <a:solidFill>
                                        <a:srgbClr val="000000"/>
                                      </a:solidFill>
                                      <a:effectLst/>
                                      <a:latin typeface="Cambria Math" panose="02040503050406030204" pitchFamily="18" charset="0"/>
                                    </a:rPr>
                                    <m:t>𝜏</m:t>
                                  </m:r>
                                </m:sub>
                              </m:sSub>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точность определения квантилей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Pinball Loss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Анализ</a:t>
                          </a:r>
                          <a:r>
                            <a:rPr lang="ru-RU" sz="1800" b="0" i="0" u="none" strike="noStrike" baseline="0" dirty="0">
                              <a:solidFill>
                                <a:srgbClr val="000000"/>
                              </a:solidFill>
                              <a:effectLst/>
                              <a:latin typeface="Calibri" panose="020F0502020204030204" pitchFamily="34" charset="0"/>
                            </a:rPr>
                            <a:t> хвостов, не покрывает интервалы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865774"/>
                      </a:ext>
                    </a:extLst>
                  </a:tr>
                  <a:tr h="626533">
                    <a:tc>
                      <a:txBody>
                        <a:bodyPr/>
                        <a:lstStyle/>
                        <a:p>
                          <a:pPr algn="ctr" fontAlgn="b"/>
                          <a:r>
                            <a:rPr lang="ru-RU" sz="1800" b="0" i="0" u="none" strike="noStrike">
                              <a:solidFill>
                                <a:srgbClr val="000000"/>
                              </a:solidFill>
                              <a:effectLst/>
                              <a:latin typeface="Calibri" panose="020F0502020204030204" pitchFamily="34" charset="0"/>
                            </a:rPr>
                            <a:t>Вероятностный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полное распределение </a:t>
                          </a:r>
                          <a14:m>
                            <m:oMath xmlns:m="http://schemas.openxmlformats.org/officeDocument/2006/math">
                              <m:sSup>
                                <m:sSupPr>
                                  <m:ctrlPr>
                                    <a:rPr lang="ru-RU" sz="1800" b="0" i="1" u="none" strike="noStrike" dirty="0" smtClean="0">
                                      <a:solidFill>
                                        <a:srgbClr val="000000"/>
                                      </a:solidFill>
                                      <a:effectLst/>
                                      <a:latin typeface="Cambria Math" panose="02040503050406030204" pitchFamily="18" charset="0"/>
                                    </a:rPr>
                                  </m:ctrlPr>
                                </m:sSupPr>
                                <m:e>
                                  <m:r>
                                    <a:rPr lang="ru-RU" sz="1800" b="0" i="1" u="none" strike="noStrike" dirty="0" smtClean="0">
                                      <a:solidFill>
                                        <a:srgbClr val="000000"/>
                                      </a:solidFill>
                                      <a:effectLst/>
                                      <a:latin typeface="Cambria Math" panose="02040503050406030204" pitchFamily="18" charset="0"/>
                                    </a:rPr>
                                    <m:t>𝐹</m:t>
                                  </m:r>
                                </m:e>
                                <m:sup>
                                  <m:r>
                                    <a:rPr lang="ru-RU" sz="1800" b="0" i="1" u="none" strike="noStrike" dirty="0" smtClean="0">
                                      <a:solidFill>
                                        <a:srgbClr val="000000"/>
                                      </a:solidFill>
                                      <a:effectLst/>
                                      <a:latin typeface="Cambria Math" panose="02040503050406030204" pitchFamily="18" charset="0"/>
                                    </a:rPr>
                                    <m:t>−1</m:t>
                                  </m:r>
                                </m:sup>
                              </m:sSup>
                              <m:r>
                                <a:rPr lang="ru-RU" sz="1800" b="0" i="1" u="none" strike="noStrike" dirty="0" smtClean="0">
                                  <a:solidFill>
                                    <a:srgbClr val="000000"/>
                                  </a:solidFill>
                                  <a:effectLst/>
                                  <a:latin typeface="Cambria Math" panose="02040503050406030204" pitchFamily="18" charset="0"/>
                                </a:rPr>
                                <m:t>(</m:t>
                              </m:r>
                              <m:r>
                                <a:rPr lang="ru-RU" sz="1800" b="0" i="1" u="none" strike="noStrike" dirty="0" smtClean="0">
                                  <a:solidFill>
                                    <a:srgbClr val="000000"/>
                                  </a:solidFill>
                                  <a:effectLst/>
                                  <a:latin typeface="Cambria Math" panose="02040503050406030204" pitchFamily="18" charset="0"/>
                                </a:rPr>
                                <m:t>𝑦</m:t>
                              </m:r>
                              <m:r>
                                <a:rPr lang="ru-RU" sz="1800" b="0" i="1" u="none" strike="noStrike" dirty="0" smtClean="0">
                                  <a:solidFill>
                                    <a:srgbClr val="000000"/>
                                  </a:solidFill>
                                  <a:effectLst/>
                                  <a:latin typeface="Cambria Math" panose="02040503050406030204" pitchFamily="18" charset="0"/>
                                </a:rPr>
                                <m:t>)</m:t>
                              </m:r>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a:solidFill>
                                <a:srgbClr val="000000"/>
                              </a:solidFill>
                              <a:effectLst/>
                              <a:latin typeface="Calibri" panose="020F0502020204030204" pitchFamily="34" charset="0"/>
                            </a:rPr>
                            <a:t>качество всего прогнозного распределения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Log Score, CRPS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Сложная</a:t>
                          </a:r>
                          <a:r>
                            <a:rPr lang="ru-RU" sz="1800" b="0" i="0" u="none" strike="noStrike" baseline="0" dirty="0">
                              <a:solidFill>
                                <a:srgbClr val="000000"/>
                              </a:solidFill>
                              <a:effectLst/>
                              <a:latin typeface="Calibri" panose="020F0502020204030204" pitchFamily="34" charset="0"/>
                            </a:rPr>
                            <a:t> реализация</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014016"/>
                      </a:ext>
                    </a:extLst>
                  </a:tr>
                </a:tbl>
              </a:graphicData>
            </a:graphic>
          </p:graphicFrame>
        </mc:Choice>
        <mc:Fallback xmlns="">
          <p:graphicFrame>
            <p:nvGraphicFramePr>
              <p:cNvPr id="6" name="Таблица 5"/>
              <p:cNvGraphicFramePr>
                <a:graphicFrameLocks noGrp="1"/>
              </p:cNvGraphicFramePr>
              <p:nvPr>
                <p:extLst>
                  <p:ext uri="{D42A27DB-BD31-4B8C-83A1-F6EECF244321}">
                    <p14:modId xmlns:p14="http://schemas.microsoft.com/office/powerpoint/2010/main" val="426219649"/>
                  </p:ext>
                </p:extLst>
              </p:nvPr>
            </p:nvGraphicFramePr>
            <p:xfrm>
              <a:off x="310896" y="1652705"/>
              <a:ext cx="11422095" cy="3166944"/>
            </p:xfrm>
            <a:graphic>
              <a:graphicData uri="http://schemas.openxmlformats.org/drawingml/2006/table">
                <a:tbl>
                  <a:tblPr/>
                  <a:tblGrid>
                    <a:gridCol w="1543541">
                      <a:extLst>
                        <a:ext uri="{9D8B030D-6E8A-4147-A177-3AD203B41FA5}">
                          <a16:colId xmlns:a16="http://schemas.microsoft.com/office/drawing/2014/main" val="1648134774"/>
                        </a:ext>
                      </a:extLst>
                    </a:gridCol>
                    <a:gridCol w="2450863">
                      <a:extLst>
                        <a:ext uri="{9D8B030D-6E8A-4147-A177-3AD203B41FA5}">
                          <a16:colId xmlns:a16="http://schemas.microsoft.com/office/drawing/2014/main" val="1803540345"/>
                        </a:ext>
                      </a:extLst>
                    </a:gridCol>
                    <a:gridCol w="2790825">
                      <a:extLst>
                        <a:ext uri="{9D8B030D-6E8A-4147-A177-3AD203B41FA5}">
                          <a16:colId xmlns:a16="http://schemas.microsoft.com/office/drawing/2014/main" val="2317459356"/>
                        </a:ext>
                      </a:extLst>
                    </a:gridCol>
                    <a:gridCol w="1842776">
                      <a:extLst>
                        <a:ext uri="{9D8B030D-6E8A-4147-A177-3AD203B41FA5}">
                          <a16:colId xmlns:a16="http://schemas.microsoft.com/office/drawing/2014/main" val="3472257170"/>
                        </a:ext>
                      </a:extLst>
                    </a:gridCol>
                    <a:gridCol w="2794090">
                      <a:extLst>
                        <a:ext uri="{9D8B030D-6E8A-4147-A177-3AD203B41FA5}">
                          <a16:colId xmlns:a16="http://schemas.microsoft.com/office/drawing/2014/main" val="50803802"/>
                        </a:ext>
                      </a:extLst>
                    </a:gridCol>
                  </a:tblGrid>
                  <a:tr h="363586">
                    <a:tc>
                      <a:txBody>
                        <a:bodyPr/>
                        <a:lstStyle/>
                        <a:p>
                          <a:pPr algn="ctr" fontAlgn="b"/>
                          <a:r>
                            <a:rPr lang="ru-RU" sz="1800" b="0" i="0" u="none" strike="noStrike" dirty="0">
                              <a:solidFill>
                                <a:srgbClr val="000000"/>
                              </a:solidFill>
                              <a:effectLst/>
                              <a:latin typeface="Calibri" panose="020F0502020204030204" pitchFamily="34" charset="0"/>
                            </a:rPr>
                            <a:t>Тип прогноза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Оценка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Цель</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Метрики оценки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Особенности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971985"/>
                      </a:ext>
                    </a:extLst>
                  </a:tr>
                  <a:tr h="1242373">
                    <a:tc>
                      <a:txBody>
                        <a:bodyPr/>
                        <a:lstStyle/>
                        <a:p>
                          <a:pPr algn="ctr" fontAlgn="b"/>
                          <a:r>
                            <a:rPr lang="ru-RU" sz="1800" b="0" i="0" u="none" strike="noStrike" dirty="0">
                              <a:solidFill>
                                <a:srgbClr val="000000"/>
                              </a:solidFill>
                              <a:effectLst/>
                              <a:latin typeface="Calibri" panose="020F0502020204030204" pitchFamily="34" charset="0"/>
                            </a:rPr>
                            <a:t>Интервальный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31863" r="-303731" b="-134314"/>
                          </a:stretch>
                        </a:blipFill>
                      </a:tcPr>
                    </a:tc>
                    <a:tc>
                      <a:txBody>
                        <a:bodyPr/>
                        <a:lstStyle/>
                        <a:p>
                          <a:pPr algn="ctr" fontAlgn="b"/>
                          <a:r>
                            <a:rPr lang="ru-RU" sz="1800" b="0" i="0" u="none" strike="noStrike" dirty="0">
                              <a:solidFill>
                                <a:srgbClr val="000000"/>
                              </a:solidFill>
                              <a:effectLst/>
                              <a:latin typeface="Calibri" panose="020F0502020204030204" pitchFamily="34" charset="0"/>
                            </a:rPr>
                            <a:t>Определить</a:t>
                          </a:r>
                          <a:r>
                            <a:rPr lang="ru-RU" sz="1800" b="0" i="0" u="none" strike="noStrike" baseline="0" dirty="0">
                              <a:solidFill>
                                <a:srgbClr val="000000"/>
                              </a:solidFill>
                              <a:effectLst/>
                              <a:latin typeface="Calibri" panose="020F0502020204030204" pitchFamily="34" charset="0"/>
                            </a:rPr>
                            <a:t> ш</a:t>
                          </a:r>
                          <a:r>
                            <a:rPr lang="ru-RU" sz="1800" b="0" i="0" u="none" strike="noStrike" dirty="0">
                              <a:solidFill>
                                <a:srgbClr val="000000"/>
                              </a:solidFill>
                              <a:effectLst/>
                              <a:latin typeface="Calibri" panose="020F0502020204030204" pitchFamily="34" charset="0"/>
                            </a:rPr>
                            <a:t>ирину и покрытие интервалов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Coverage, Mean Width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Легко интерпретировать, но не покрывает выбросы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609934"/>
                      </a:ext>
                    </a:extLst>
                  </a:tr>
                  <a:tr h="934452">
                    <a:tc>
                      <a:txBody>
                        <a:bodyPr/>
                        <a:lstStyle/>
                        <a:p>
                          <a:pPr algn="ctr" fontAlgn="b"/>
                          <a:r>
                            <a:rPr lang="ru-RU" sz="1800" b="0" i="0" u="none" strike="noStrike">
                              <a:solidFill>
                                <a:srgbClr val="000000"/>
                              </a:solidFill>
                              <a:effectLst/>
                              <a:latin typeface="Calibri" panose="020F0502020204030204" pitchFamily="34" charset="0"/>
                            </a:rPr>
                            <a:t>Квантильный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175817" r="-303731" b="-79085"/>
                          </a:stretch>
                        </a:blipFill>
                      </a:tcPr>
                    </a:tc>
                    <a:tc>
                      <a:txBody>
                        <a:bodyPr/>
                        <a:lstStyle/>
                        <a:p>
                          <a:pPr algn="ctr" fontAlgn="b"/>
                          <a:r>
                            <a:rPr lang="ru-RU" sz="1800" b="0" i="0" u="none" strike="noStrike" dirty="0">
                              <a:solidFill>
                                <a:srgbClr val="000000"/>
                              </a:solidFill>
                              <a:effectLst/>
                              <a:latin typeface="Calibri" panose="020F0502020204030204" pitchFamily="34" charset="0"/>
                            </a:rPr>
                            <a:t>точность определения квантилей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Pinball Loss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Анализ</a:t>
                          </a:r>
                          <a:r>
                            <a:rPr lang="ru-RU" sz="1800" b="0" i="0" u="none" strike="noStrike" baseline="0" dirty="0">
                              <a:solidFill>
                                <a:srgbClr val="000000"/>
                              </a:solidFill>
                              <a:effectLst/>
                              <a:latin typeface="Calibri" panose="020F0502020204030204" pitchFamily="34" charset="0"/>
                            </a:rPr>
                            <a:t> хвостов, не покрывает интервалы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865774"/>
                      </a:ext>
                    </a:extLst>
                  </a:tr>
                  <a:tr h="626533">
                    <a:tc>
                      <a:txBody>
                        <a:bodyPr/>
                        <a:lstStyle/>
                        <a:p>
                          <a:pPr algn="ctr" fontAlgn="b"/>
                          <a:r>
                            <a:rPr lang="ru-RU" sz="1800" b="0" i="0" u="none" strike="noStrike">
                              <a:solidFill>
                                <a:srgbClr val="000000"/>
                              </a:solidFill>
                              <a:effectLst/>
                              <a:latin typeface="Calibri" panose="020F0502020204030204" pitchFamily="34" charset="0"/>
                            </a:rPr>
                            <a:t>Вероятностный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409709" r="-303731" b="-17476"/>
                          </a:stretch>
                        </a:blipFill>
                      </a:tcPr>
                    </a:tc>
                    <a:tc>
                      <a:txBody>
                        <a:bodyPr/>
                        <a:lstStyle/>
                        <a:p>
                          <a:pPr algn="ctr" fontAlgn="b"/>
                          <a:r>
                            <a:rPr lang="ru-RU" sz="1800" b="0" i="0" u="none" strike="noStrike">
                              <a:solidFill>
                                <a:srgbClr val="000000"/>
                              </a:solidFill>
                              <a:effectLst/>
                              <a:latin typeface="Calibri" panose="020F0502020204030204" pitchFamily="34" charset="0"/>
                            </a:rPr>
                            <a:t>качество всего прогнозного распределения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Log Score, CRPS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Сложная</a:t>
                          </a:r>
                          <a:r>
                            <a:rPr lang="ru-RU" sz="1800" b="0" i="0" u="none" strike="noStrike" baseline="0" dirty="0">
                              <a:solidFill>
                                <a:srgbClr val="000000"/>
                              </a:solidFill>
                              <a:effectLst/>
                              <a:latin typeface="Calibri" panose="020F0502020204030204" pitchFamily="34" charset="0"/>
                            </a:rPr>
                            <a:t> реализация</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014016"/>
                      </a:ext>
                    </a:extLst>
                  </a:tr>
                </a:tbl>
              </a:graphicData>
            </a:graphic>
          </p:graphicFrame>
        </mc:Fallback>
      </mc:AlternateContent>
      <p:sp>
        <p:nvSpPr>
          <p:cNvPr id="7" name="Прямоугольник 6"/>
          <p:cNvSpPr/>
          <p:nvPr/>
        </p:nvSpPr>
        <p:spPr>
          <a:xfrm>
            <a:off x="310896" y="5156021"/>
            <a:ext cx="10525171" cy="1431161"/>
          </a:xfrm>
          <a:prstGeom prst="rect">
            <a:avLst/>
          </a:prstGeom>
        </p:spPr>
        <p:txBody>
          <a:bodyPr wrap="square">
            <a:spAutoFit/>
          </a:bodyPr>
          <a:lstStyle/>
          <a:p>
            <a:pPr>
              <a:spcBef>
                <a:spcPts val="600"/>
              </a:spcBef>
            </a:pPr>
            <a:r>
              <a:rPr lang="ru-RU" dirty="0">
                <a:solidFill>
                  <a:srgbClr val="2C2C36"/>
                </a:solidFill>
              </a:rPr>
              <a:t>Распределения могут быть представлены как:</a:t>
            </a:r>
          </a:p>
          <a:p>
            <a:pPr>
              <a:spcBef>
                <a:spcPts val="600"/>
              </a:spcBef>
              <a:buFont typeface="Arial" panose="020B0604020202020204" pitchFamily="34" charset="0"/>
              <a:buChar char="•"/>
            </a:pPr>
            <a:r>
              <a:rPr lang="ru-RU" dirty="0">
                <a:solidFill>
                  <a:srgbClr val="2C2C36"/>
                </a:solidFill>
              </a:rPr>
              <a:t>Параметрические распределения (например, нормальное с </a:t>
            </a:r>
            <a:r>
              <a:rPr lang="ru-RU" i="1" dirty="0">
                <a:solidFill>
                  <a:srgbClr val="2C2C36"/>
                </a:solidFill>
              </a:rPr>
              <a:t>μ</a:t>
            </a:r>
            <a:r>
              <a:rPr lang="ru-RU" dirty="0">
                <a:solidFill>
                  <a:srgbClr val="2C2C36"/>
                </a:solidFill>
              </a:rPr>
              <a:t> и </a:t>
            </a:r>
            <a:r>
              <a:rPr lang="ru-RU" i="1" dirty="0">
                <a:solidFill>
                  <a:srgbClr val="2C2C36"/>
                </a:solidFill>
              </a:rPr>
              <a:t>σ</a:t>
            </a:r>
            <a:r>
              <a:rPr lang="ru-RU" dirty="0">
                <a:solidFill>
                  <a:srgbClr val="2C2C36"/>
                </a:solidFill>
              </a:rPr>
              <a:t> ),</a:t>
            </a:r>
          </a:p>
          <a:p>
            <a:pPr>
              <a:spcBef>
                <a:spcPts val="600"/>
              </a:spcBef>
              <a:buFont typeface="Arial" panose="020B0604020202020204" pitchFamily="34" charset="0"/>
              <a:buChar char="•"/>
            </a:pPr>
            <a:r>
              <a:rPr lang="ru-RU" dirty="0">
                <a:solidFill>
                  <a:srgbClr val="2C2C36"/>
                </a:solidFill>
              </a:rPr>
              <a:t>Непараметрические (например, выборки из </a:t>
            </a:r>
            <a:r>
              <a:rPr lang="ru-RU" dirty="0" err="1">
                <a:solidFill>
                  <a:srgbClr val="2C2C36"/>
                </a:solidFill>
              </a:rPr>
              <a:t>бутстрепа</a:t>
            </a:r>
            <a:r>
              <a:rPr lang="ru-RU" dirty="0">
                <a:solidFill>
                  <a:srgbClr val="2C2C36"/>
                </a:solidFill>
              </a:rPr>
              <a:t> или MCMC),</a:t>
            </a:r>
          </a:p>
          <a:p>
            <a:pPr>
              <a:spcBef>
                <a:spcPts val="600"/>
              </a:spcBef>
              <a:buFont typeface="Arial" panose="020B0604020202020204" pitchFamily="34" charset="0"/>
              <a:buChar char="•"/>
            </a:pPr>
            <a:r>
              <a:rPr lang="ru-RU" dirty="0">
                <a:solidFill>
                  <a:srgbClr val="2C2C36"/>
                </a:solidFill>
              </a:rPr>
              <a:t>Дискретные распределения (для категориальных данных).</a:t>
            </a:r>
            <a:endParaRPr lang="ru-RU" b="0" i="0" dirty="0">
              <a:solidFill>
                <a:srgbClr val="2C2C36"/>
              </a:solidFill>
              <a:effectLst/>
            </a:endParaRPr>
          </a:p>
        </p:txBody>
      </p:sp>
    </p:spTree>
    <p:extLst>
      <p:ext uri="{BB962C8B-B14F-4D97-AF65-F5344CB8AC3E}">
        <p14:creationId xmlns:p14="http://schemas.microsoft.com/office/powerpoint/2010/main" val="36128514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55575" y="737214"/>
                <a:ext cx="11706225" cy="4603119"/>
              </a:xfrm>
            </p:spPr>
            <p:txBody>
              <a:bodyPr>
                <a:normAutofit fontScale="92500"/>
              </a:bodyPr>
              <a:lstStyle/>
              <a:p>
                <a:pPr marL="0" indent="0">
                  <a:buNone/>
                </a:pPr>
                <a:r>
                  <a:rPr lang="ru-RU" sz="2100" b="1" dirty="0"/>
                  <a:t>Неопределённость может быть оценена, </a:t>
                </a:r>
              </a:p>
              <a:p>
                <a:pPr marL="0" indent="0">
                  <a:buNone/>
                </a:pPr>
                <a:r>
                  <a:rPr lang="ru-RU" sz="2100" b="1" dirty="0" err="1" smtClean="0"/>
                  <a:t>Нативно</a:t>
                </a:r>
                <a:r>
                  <a:rPr lang="ru-RU" sz="2100" b="1" dirty="0"/>
                  <a:t> </a:t>
                </a:r>
                <a:r>
                  <a:rPr lang="ru-RU" sz="2100" b="1" dirty="0" smtClean="0"/>
                  <a:t>(параметрические)</a:t>
                </a:r>
                <a:r>
                  <a:rPr lang="ru-RU" sz="2100" dirty="0" smtClean="0"/>
                  <a:t>: </a:t>
                </a:r>
                <a:r>
                  <a:rPr lang="ru-RU" sz="2100" dirty="0"/>
                  <a:t>Например </a:t>
                </a:r>
                <a:r>
                  <a:rPr lang="en-US" sz="2100" dirty="0"/>
                  <a:t>Naïve, ETS, Prophet </a:t>
                </a:r>
                <a:r>
                  <a:rPr lang="ru-RU" sz="2100" dirty="0"/>
                  <a:t>или </a:t>
                </a:r>
                <a:r>
                  <a:rPr lang="en-US" sz="2100" dirty="0"/>
                  <a:t>ARIMA</a:t>
                </a:r>
                <a:r>
                  <a:rPr lang="ru-RU" sz="2100" dirty="0"/>
                  <a:t> дают оценки СКО при предсказании</a:t>
                </a:r>
                <a:r>
                  <a:rPr lang="en-US" sz="2100" dirty="0"/>
                  <a:t>.</a:t>
                </a:r>
              </a:p>
              <a:p>
                <a:pPr lvl="1"/>
                <a:r>
                  <a:rPr lang="ru-RU" sz="2500" dirty="0"/>
                  <a:t>такие оценки предполагают, что остатки имеют заданное распределение, напр. </a:t>
                </a:r>
                <a:r>
                  <a:rPr lang="ru-RU" sz="2500" dirty="0" smtClean="0"/>
                  <a:t>нормальное (оно заложено в модели).</a:t>
                </a:r>
                <a:endParaRPr lang="ru-RU" sz="2500" dirty="0"/>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a:t>- точечный прогноз, </a:t>
                </a:r>
                <a14:m>
                  <m:oMath xmlns:m="http://schemas.openxmlformats.org/officeDocument/2006/math">
                    <m:r>
                      <a:rPr lang="en-US" sz="2000" i="1">
                        <a:latin typeface="Cambria Math" panose="02040503050406030204" pitchFamily="18" charset="0"/>
                      </a:rPr>
                      <m:t>𝑧</m:t>
                    </m:r>
                  </m:oMath>
                </a14:m>
                <a:r>
                  <a:rPr lang="ru-RU" sz="2000" dirty="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a:t> - дисперсия остатков.</a:t>
                </a:r>
                <a:endParaRPr lang="en-US" sz="2000" dirty="0"/>
              </a:p>
              <a:p>
                <a:pPr marL="0" indent="0">
                  <a:buNone/>
                </a:pPr>
                <a:r>
                  <a:rPr lang="ru-RU" sz="2500" b="1" dirty="0" smtClean="0"/>
                  <a:t>Из данных (не параметрические):</a:t>
                </a:r>
              </a:p>
              <a:p>
                <a:pPr lvl="1"/>
                <a:r>
                  <a:rPr lang="ru-RU" sz="2100" dirty="0" smtClean="0"/>
                  <a:t>Путем </a:t>
                </a:r>
                <a:r>
                  <a:rPr lang="ru-RU" sz="2100" dirty="0"/>
                  <a:t>ассиметричной регрессии (</a:t>
                </a:r>
                <a:r>
                  <a:rPr lang="ru-RU" sz="2100" b="1" dirty="0" err="1"/>
                  <a:t>квантильные</a:t>
                </a:r>
                <a:r>
                  <a:rPr lang="ru-RU" sz="2100" b="1" dirty="0"/>
                  <a:t> оценки</a:t>
                </a:r>
                <a:r>
                  <a:rPr lang="ru-RU" sz="2100" dirty="0"/>
                  <a:t>), байесовские оценки </a:t>
                </a:r>
              </a:p>
              <a:p>
                <a:pPr lvl="1"/>
                <a:r>
                  <a:rPr lang="ru-RU" sz="2100" dirty="0"/>
                  <a:t>При помощи эвристических – устойчивых техник:</a:t>
                </a:r>
              </a:p>
              <a:p>
                <a:pPr lvl="2"/>
                <a:r>
                  <a:rPr lang="ru-RU" sz="2100" b="1" dirty="0"/>
                  <a:t>Бут-</a:t>
                </a:r>
                <a:r>
                  <a:rPr lang="ru-RU" sz="2100" b="1" dirty="0" err="1"/>
                  <a:t>стреп</a:t>
                </a:r>
                <a:r>
                  <a:rPr lang="ru-RU" sz="2100" b="1" dirty="0"/>
                  <a:t> и </a:t>
                </a:r>
                <a:r>
                  <a:rPr lang="ru-RU" sz="2100" b="1" dirty="0" err="1"/>
                  <a:t>Комформные</a:t>
                </a:r>
                <a:r>
                  <a:rPr lang="ru-RU" sz="2100" b="1" dirty="0"/>
                  <a:t> предсказания</a:t>
                </a:r>
              </a:p>
              <a:p>
                <a:pPr lvl="2"/>
                <a:r>
                  <a:rPr lang="ru-RU" sz="2200" dirty="0"/>
                  <a:t>Когда данные не соответствуют предположениям о нормальности и независимости остатков</a:t>
                </a:r>
                <a:endParaRPr lang="ru-RU" sz="1900" b="1" dirty="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781" t="-1325" r="-469"/>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a:t>Часто все оценки интервалов на </a:t>
            </a:r>
            <a:r>
              <a:rPr lang="ru-RU" sz="2000" i="1" dirty="0" err="1"/>
              <a:t>валидации</a:t>
            </a:r>
            <a:r>
              <a:rPr lang="ru-RU" sz="2000" i="1" dirty="0"/>
              <a:t> занижены. </a:t>
            </a:r>
          </a:p>
          <a:p>
            <a:r>
              <a:rPr lang="ru-RU" sz="2000" i="1" dirty="0"/>
              <a:t>Например, номинальные интервалы в 95% могут обеспечить охват только от 71% до 87%. </a:t>
            </a:r>
          </a:p>
          <a:p>
            <a:r>
              <a:rPr lang="ru-RU" sz="2000" i="1" dirty="0"/>
              <a:t>В </a:t>
            </a:r>
            <a:r>
              <a:rPr lang="ru-RU" sz="2000" i="1" dirty="0" err="1"/>
              <a:t>валидационной</a:t>
            </a:r>
            <a:r>
              <a:rPr lang="ru-RU" sz="2000" i="1" dirty="0"/>
              <a:t> выборке не учитывают все источники неопределенности. </a:t>
            </a:r>
          </a:p>
          <a:p>
            <a:r>
              <a:rPr lang="ru-RU" sz="2000" i="1" dirty="0"/>
              <a:t>Правильно оценивать интервалы в мониторинге или на тесте </a:t>
            </a:r>
            <a:r>
              <a:rPr lang="en-US" sz="1200" i="1" dirty="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выборок остатков </a:t>
            </a:r>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a:t>
            </a:r>
            <a:r>
              <a:rPr lang="ru-RU" sz="2400" b="1" dirty="0" smtClean="0"/>
              <a:t>ВР </a:t>
            </a:r>
            <a:r>
              <a:rPr lang="ru-RU" sz="2400" dirty="0" smtClean="0"/>
              <a:t>– </a:t>
            </a:r>
            <a:r>
              <a:rPr lang="ru-RU" sz="2400" dirty="0"/>
              <a:t/>
            </a:r>
            <a:br>
              <a:rPr lang="ru-RU" sz="2400" dirty="0"/>
            </a:br>
            <a:r>
              <a:rPr lang="ru-RU" sz="2400" dirty="0"/>
              <a:t>Оценка неопределенности единожды на калибровочной (</a:t>
            </a:r>
            <a:r>
              <a:rPr lang="ru-RU" sz="2400" dirty="0" err="1"/>
              <a:t>валидационной</a:t>
            </a:r>
            <a:r>
              <a:rPr lang="ru-RU" sz="2400" dirty="0"/>
              <a:t>) </a:t>
            </a:r>
            <a:r>
              <a:rPr lang="ru-RU" sz="2400" dirty="0" err="1"/>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единительная линия 7"/>
          <p:cNvCxnSpPr/>
          <p:nvPr/>
        </p:nvCxnSpPr>
        <p:spPr>
          <a:xfrm>
            <a:off x="5164455" y="795072"/>
            <a:ext cx="0" cy="55549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5577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xmlns:a14="http://schemas.microsoft.com/office/drawing/2010/main">
        <mc:Choice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интерпретация</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a:solidFill>
                                <a:srgbClr val="000000"/>
                              </a:solidFill>
                              <a:effectLst/>
                              <a:latin typeface="Calibri" panose="020F0502020204030204" pitchFamily="34" charset="0"/>
                            </a:rPr>
                            <a:t>Покрытие интервала </a:t>
                          </a:r>
                          <a:r>
                            <a:rPr lang="en-US" sz="2000" b="0" i="0" u="none" strike="noStrike" dirty="0">
                              <a:solidFill>
                                <a:srgbClr val="000000"/>
                              </a:solidFill>
                              <a:effectLst/>
                              <a:latin typeface="Calibri" panose="020F0502020204030204" pitchFamily="34" charset="0"/>
                            </a:rPr>
                            <a:t>(coverage,</a:t>
                          </a:r>
                          <a:r>
                            <a:rPr lang="en-US" sz="2000" b="0" i="0" u="none" strike="noStrike" baseline="0" dirty="0">
                              <a:solidFill>
                                <a:srgbClr val="000000"/>
                              </a:solidFill>
                              <a:effectLst/>
                              <a:latin typeface="Calibri" panose="020F0502020204030204" pitchFamily="34" charset="0"/>
                            </a:rPr>
                            <a:t> </a:t>
                          </a:r>
                          <a:br>
                            <a:rPr lang="en-US" sz="2000" b="0" i="0" u="none" strike="noStrike" baseline="0" dirty="0">
                              <a:solidFill>
                                <a:srgbClr val="000000"/>
                              </a:solidFill>
                              <a:effectLst/>
                              <a:latin typeface="Calibri" panose="020F0502020204030204" pitchFamily="34" charset="0"/>
                            </a:rPr>
                          </a:br>
                          <a:r>
                            <a:rPr lang="en-US" sz="1800" b="0" i="0" kern="1200" dirty="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a:t>оценки границ интервала</a:t>
                          </a:r>
                          <a:endParaRPr lang="ru-RU" sz="2000" b="0" i="0" u="none" strike="noStrike" dirty="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a:p>
                        <a:p>
                          <a:pPr algn="ctr"/>
                          <a:r>
                            <a:rPr lang="ru-RU" sz="1800" dirty="0"/>
                            <a:t>(1, если условие выполняется, иначе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a:t>Чем</a:t>
                          </a:r>
                          <a:r>
                            <a:rPr lang="ru-RU" sz="2000" baseline="0" dirty="0"/>
                            <a:t> больше, тем лучше. </a:t>
                          </a:r>
                          <a:endParaRPr lang="en-US" sz="2000" baseline="0" dirty="0"/>
                        </a:p>
                        <a:p>
                          <a:pPr algn="ctr"/>
                          <a:r>
                            <a:rPr lang="ru-RU" sz="2000" baseline="0" dirty="0"/>
                            <a:t>В идеале 95% предсказаний попадает в оценку 95% интервала</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оценки интервала (</a:t>
                          </a:r>
                          <a:r>
                            <a:rPr lang="en-US" sz="1800" b="0" i="0" kern="1200" dirty="0">
                              <a:solidFill>
                                <a:schemeClr val="tx1"/>
                              </a:solidFill>
                              <a:effectLst/>
                              <a:latin typeface="+mn-lt"/>
                              <a:ea typeface="+mn-ea"/>
                              <a:cs typeface="+mn-cs"/>
                            </a:rPr>
                            <a:t>Prediction Interval Normalized Average Width</a:t>
                          </a:r>
                          <a:r>
                            <a:rPr lang="ru-RU" sz="1800" b="0" i="0" kern="1200" dirty="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a:p>
                        <a:p>
                          <a:pPr algn="ctr"/>
                          <a:r>
                            <a:rPr lang="en-US" sz="1900" dirty="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−нормирован</m:t>
                              </m:r>
                              <m:r>
                                <a:rPr lang="ru-RU" sz="1900" dirty="0">
                                  <a:solidFill>
                                    <a:srgbClr val="000000"/>
                                  </a:solidFill>
                                  <a:latin typeface="Cambria Math" panose="02040503050406030204" pitchFamily="18" charset="0"/>
                                </a:rPr>
                                <m:t>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a:t>Чем</a:t>
                          </a:r>
                          <a:r>
                            <a:rPr lang="ru-RU" sz="1900" baseline="0" dirty="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Минимаксная</a:t>
                          </a:r>
                          <a:r>
                            <a:rPr lang="ru-RU" sz="2000" b="0" i="0" u="none" strike="noStrike" baseline="0" dirty="0">
                              <a:solidFill>
                                <a:srgbClr val="000000"/>
                              </a:solidFill>
                              <a:effectLst/>
                              <a:latin typeface="Calibri" panose="020F0502020204030204" pitchFamily="34" charset="0"/>
                            </a:rPr>
                            <a:t> задача </a:t>
                          </a:r>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интервала и непопадание в интервал</a:t>
                          </a:r>
                          <a:endParaRPr lang="en-US" sz="2000" b="0" i="0" u="none" strike="noStrike" dirty="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mc:AlternateContent xmlns:mc="http://schemas.openxmlformats.org/markup-compatibility/2006" xmlns:a14="http://schemas.microsoft.com/office/drawing/2010/main">
        <mc:Choice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C</a:t>
                          </a:r>
                          <a:r>
                            <a:rPr lang="ru-RU" sz="2000" b="0" i="0" u="none" strike="noStrike" dirty="0">
                              <a:solidFill>
                                <a:srgbClr val="000000"/>
                              </a:solidFill>
                              <a:effectLst/>
                              <a:latin typeface="Calibri" panose="020F0502020204030204" pitchFamily="34" charset="0"/>
                            </a:rPr>
                            <a:t>специальные метрики</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a:solidFill>
                                <a:srgbClr val="000000"/>
                              </a:solidFill>
                              <a:effectLst/>
                              <a:latin typeface="Calibri" panose="020F0502020204030204" pitchFamily="34" charset="0"/>
                            </a:rPr>
                            <a:t>Конформное предсказание</a:t>
                          </a:r>
                          <a:endParaRPr lang="en-US" sz="2000" b="0" i="0" u="none" strike="noStrike" dirty="0">
                            <a:solidFill>
                              <a:srgbClr val="000000"/>
                            </a:solidFill>
                            <a:effectLst/>
                            <a:latin typeface="Calibri" panose="020F0502020204030204" pitchFamily="34" charset="0"/>
                          </a:endParaRPr>
                        </a:p>
                        <a:p>
                          <a:pPr algn="ctr" fontAlgn="b"/>
                          <a:r>
                            <a:rPr lang="en-US" sz="2000" b="0" i="0" u="none" strike="noStrike" dirty="0">
                              <a:solidFill>
                                <a:srgbClr val="000000"/>
                              </a:solidFill>
                              <a:effectLst/>
                              <a:latin typeface="+mj-lt"/>
                            </a:rPr>
                            <a:t>Calibration Error</a:t>
                          </a:r>
                          <a:r>
                            <a:rPr lang="ru-RU" sz="2000" b="0" i="0" u="none" strike="noStrike" dirty="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a:solidFill>
                                <a:srgbClr val="000000"/>
                              </a:solidFill>
                              <a:effectLst/>
                              <a:latin typeface="Calibri" panose="020F0502020204030204" pitchFamily="34" charset="0"/>
                            </a:rPr>
                            <a:t> </a:t>
                          </a:r>
                          <a:endParaRPr lang="ru-RU" sz="2000" b="1" i="1" dirty="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a:solidFill>
                                <a:srgbClr val="2C2C36"/>
                              </a:solidFill>
                              <a:latin typeface="system-ui"/>
                            </a:rPr>
                            <a:t> </a:t>
                          </a:r>
                          <a:r>
                            <a:rPr lang="ru-RU" sz="2000" dirty="0">
                              <a:solidFill>
                                <a:srgbClr val="2C2C36"/>
                              </a:solidFill>
                              <a:latin typeface="system-ui"/>
                            </a:rPr>
                            <a:t>— заявленный уровень доверия,</a:t>
                          </a:r>
                        </a:p>
                        <a:p>
                          <a:pPr algn="ctr" fontAlgn="b"/>
                          <a:r>
                            <a:rPr lang="ru-RU" sz="2000" baseline="0" dirty="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Чем меньше, тем лучше.  </a:t>
                          </a:r>
                        </a:p>
                        <a:p>
                          <a:pPr algn="ctr" fontAlgn="b"/>
                          <a:r>
                            <a:rPr lang="ru-RU" sz="2000" b="0" i="0" u="none" strike="noStrike" dirty="0">
                              <a:solidFill>
                                <a:srgbClr val="000000"/>
                              </a:solidFill>
                              <a:effectLst/>
                              <a:latin typeface="Calibri" panose="020F0502020204030204" pitchFamily="34" charset="0"/>
                            </a:rPr>
                            <a:t>Если</a:t>
                          </a:r>
                          <a:r>
                            <a:rPr lang="ru-RU" sz="2000" b="0" i="0" u="none" strike="noStrike" baseline="0" dirty="0">
                              <a:solidFill>
                                <a:srgbClr val="000000"/>
                              </a:solidFill>
                              <a:effectLst/>
                              <a:latin typeface="Calibri" panose="020F0502020204030204" pitchFamily="34" charset="0"/>
                            </a:rPr>
                            <a:t> в 95% интервал попало 95% </a:t>
                          </a:r>
                          <a:r>
                            <a:rPr lang="en-US" sz="2000" b="0" i="0" u="none" strike="noStrike" baseline="0" dirty="0">
                              <a:solidFill>
                                <a:srgbClr val="000000"/>
                              </a:solidFill>
                              <a:effectLst/>
                              <a:latin typeface="Calibri" panose="020F0502020204030204" pitchFamily="34" charset="0"/>
                            </a:rPr>
                            <a:t>CE=0</a:t>
                          </a:r>
                        </a:p>
                        <a:p>
                          <a:pPr algn="ctr" fontAlgn="b"/>
                          <a:r>
                            <a:rPr lang="ru-RU" sz="1800" b="0" i="0" u="none" strike="noStrike" dirty="0">
                              <a:solidFill>
                                <a:srgbClr val="000000"/>
                              </a:solidFill>
                              <a:effectLst/>
                              <a:latin typeface="Calibri" panose="020F0502020204030204" pitchFamily="34" charset="0"/>
                            </a:rPr>
                            <a:t>Если</a:t>
                          </a:r>
                          <a:r>
                            <a:rPr lang="ru-RU" sz="1800" b="0" i="0" u="none" strike="noStrike" baseline="0" dirty="0">
                              <a:solidFill>
                                <a:srgbClr val="000000"/>
                              </a:solidFill>
                              <a:effectLst/>
                              <a:latin typeface="Calibri" panose="020F0502020204030204" pitchFamily="34" charset="0"/>
                            </a:rPr>
                            <a:t> в 95% интервал попало 100% или 90% </a:t>
                          </a:r>
                          <a:r>
                            <a:rPr lang="en-US" sz="1800" b="0" i="0" u="none" strike="noStrike" baseline="0" dirty="0">
                              <a:solidFill>
                                <a:srgbClr val="000000"/>
                              </a:solidFill>
                              <a:effectLst/>
                              <a:latin typeface="Calibri" panose="020F0502020204030204" pitchFamily="34" charset="0"/>
                            </a:rPr>
                            <a:t>CE=</a:t>
                          </a:r>
                          <a:r>
                            <a:rPr lang="ru-RU" sz="1800" b="0" i="0" u="none" strike="noStrike" baseline="0" dirty="0">
                              <a:solidFill>
                                <a:srgbClr val="000000"/>
                              </a:solidFill>
                              <a:effectLst/>
                              <a:latin typeface="Calibri" panose="020F0502020204030204" pitchFamily="34" charset="0"/>
                            </a:rPr>
                            <a:t>5%</a:t>
                          </a:r>
                          <a:endParaRPr lang="en-US" sz="1800" b="0" i="0" u="none" strike="noStrike" baseline="0"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значение</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Чем меньше, тем</a:t>
                          </a:r>
                          <a:r>
                            <a:rPr lang="ru-RU" sz="2000" baseline="0" dirty="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Регрессия смещенного</a:t>
                          </a:r>
                          <a:r>
                            <a:rPr lang="ru-RU" sz="2000" baseline="0" dirty="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a:latin typeface="Calibri" panose="020F0502020204030204" pitchFamily="34" charset="0"/>
                            </a:rPr>
                            <a:t>Одна из приближенных формул</a:t>
                          </a:r>
                          <a:r>
                            <a:rPr lang="en-US" sz="2000" b="0" i="0" u="none" strike="noStrike" dirty="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a:latin typeface="Calibri" panose="020F0502020204030204" pitchFamily="34" charset="0"/>
                            </a:rPr>
                            <a:t>Оценка всего распределения. </a:t>
                          </a:r>
                        </a:p>
                        <a:p>
                          <a:pPr algn="ctr" fontAlgn="b"/>
                          <a:r>
                            <a:rPr lang="ru-RU" sz="2000" i="0" dirty="0">
                              <a:latin typeface="Calibri" panose="020F0502020204030204" pitchFamily="34" charset="0"/>
                            </a:rPr>
                            <a:t>Чем</a:t>
                          </a:r>
                          <a:r>
                            <a:rPr lang="ru-RU" sz="2000" i="0" baseline="0" dirty="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a:t>Методы оценки неопределенности</a:t>
            </a:r>
          </a:p>
        </p:txBody>
      </p:sp>
      <p:graphicFrame>
        <p:nvGraphicFramePr>
          <p:cNvPr id="4" name="Объект 3"/>
          <p:cNvGraphicFramePr>
            <a:graphicFrameLocks noGrp="1"/>
          </p:cNvGraphicFramePr>
          <p:nvPr>
            <p:ph idx="1"/>
            <p:extLst>
              <p:ext uri="{D42A27DB-BD31-4B8C-83A1-F6EECF244321}">
                <p14:modId xmlns:p14="http://schemas.microsoft.com/office/powerpoint/2010/main" val="2477142671"/>
              </p:ext>
            </p:extLst>
          </p:nvPr>
        </p:nvGraphicFramePr>
        <p:xfrm>
          <a:off x="214312" y="1034249"/>
          <a:ext cx="11715750" cy="43148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покрытие (надежность), </a:t>
                      </a:r>
                    </a:p>
                    <a:p>
                      <a:pPr marL="342900" indent="-161925" algn="l" fontAlgn="b">
                        <a:buFont typeface="Arial" panose="020B0604020202020204" pitchFamily="34" charset="0"/>
                        <a:buChar char="•"/>
                      </a:pPr>
                      <a:r>
                        <a:rPr lang="ru-RU" sz="2000" u="none" strike="noStrike" dirty="0">
                          <a:effectLst/>
                        </a:rPr>
                        <a:t>Калибрует</a:t>
                      </a:r>
                      <a:r>
                        <a:rPr lang="ru-RU" sz="2000" u="none" strike="noStrike" baseline="0" dirty="0">
                          <a:effectLst/>
                        </a:rPr>
                        <a:t> другие методы оценки</a:t>
                      </a:r>
                      <a:endParaRPr lang="ru-RU" sz="2000" u="none" strike="noStrike" dirty="0">
                        <a:effectLst/>
                      </a:endParaRPr>
                    </a:p>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скорость</a:t>
                      </a:r>
                      <a:r>
                        <a:rPr lang="ru-RU" sz="2000" u="none" strike="noStrike" baseline="0" dirty="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калибровочную выборку, </a:t>
                      </a:r>
                    </a:p>
                    <a:p>
                      <a:pPr marL="342900" indent="-161925" algn="l" fontAlgn="b">
                        <a:buFont typeface="Arial" panose="020B0604020202020204" pitchFamily="34" charset="0"/>
                        <a:buChar char="•"/>
                      </a:pPr>
                      <a:r>
                        <a:rPr lang="ru-RU" sz="2000" u="none" strike="noStrike" dirty="0">
                          <a:effectLst/>
                        </a:rPr>
                        <a:t>может давать широкие </a:t>
                      </a:r>
                      <a:r>
                        <a:rPr lang="ru-RU" sz="2000" u="none" strike="noStrike" dirty="0" smtClean="0">
                          <a:effectLst/>
                        </a:rPr>
                        <a:t>интервалы</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Работает если тест и </a:t>
                      </a:r>
                      <a:r>
                        <a:rPr lang="ru-RU" sz="2000" b="0" i="0" u="none" strike="noStrike" dirty="0" err="1" smtClean="0">
                          <a:solidFill>
                            <a:srgbClr val="000000"/>
                          </a:solidFill>
                          <a:effectLst/>
                          <a:latin typeface="Calibri" panose="020F0502020204030204" pitchFamily="34" charset="0"/>
                        </a:rPr>
                        <a:t>калиб</a:t>
                      </a:r>
                      <a:r>
                        <a:rPr lang="ru-RU" sz="2000" b="0" i="0" u="none" strike="noStrike" dirty="0" smtClean="0">
                          <a:solidFill>
                            <a:srgbClr val="000000"/>
                          </a:solidFill>
                          <a:effectLst/>
                          <a:latin typeface="Calibri" panose="020F0502020204030204" pitchFamily="34" charset="0"/>
                        </a:rPr>
                        <a:t> </a:t>
                      </a:r>
                      <a:r>
                        <a:rPr lang="ru-RU" sz="2000" b="0" i="0" u="none" strike="noStrike" dirty="0" err="1" smtClean="0">
                          <a:solidFill>
                            <a:srgbClr val="000000"/>
                          </a:solidFill>
                          <a:effectLst/>
                          <a:latin typeface="Calibri" panose="020F0502020204030204" pitchFamily="34" charset="0"/>
                        </a:rPr>
                        <a:t>обменны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p>
                    <a:p>
                      <a:pPr marL="342900" indent="-161925" algn="l" fontAlgn="b">
                        <a:buFont typeface="Arial" panose="020B0604020202020204" pitchFamily="34" charset="0"/>
                        <a:buChar char="•"/>
                      </a:pPr>
                      <a:r>
                        <a:rPr lang="ru-RU" sz="2000" u="none" strike="noStrike" dirty="0">
                          <a:effectLst/>
                        </a:rPr>
                        <a:t>нет гарантии покрытия, </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Низка интерпретируемость</a:t>
                      </a: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a:solidFill>
                            <a:schemeClr val="tx1"/>
                          </a:solidFill>
                          <a:effectLst/>
                          <a:latin typeface="+mn-lt"/>
                          <a:ea typeface="+mn-ea"/>
                          <a:cs typeface="+mn-cs"/>
                        </a:rPr>
                        <a:t>Квантильная</a:t>
                      </a:r>
                      <a:r>
                        <a:rPr lang="ru-RU" sz="1800" b="0" i="0" kern="1200" dirty="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Зависит от </a:t>
                      </a:r>
                      <a:r>
                        <a:rPr lang="ru-RU" sz="2000" b="0" i="0" u="none" strike="noStrike" dirty="0" smtClean="0">
                          <a:solidFill>
                            <a:srgbClr val="000000"/>
                          </a:solidFill>
                          <a:effectLst/>
                          <a:latin typeface="Calibri" panose="020F0502020204030204" pitchFamily="34" charset="0"/>
                        </a:rPr>
                        <a:t>метрики</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Только экстремальные</a:t>
                      </a:r>
                      <a:r>
                        <a:rPr lang="ru-RU" sz="2000" b="0" i="0" u="none" strike="noStrike" baseline="0" dirty="0" smtClean="0">
                          <a:solidFill>
                            <a:srgbClr val="000000"/>
                          </a:solidFill>
                          <a:effectLst/>
                          <a:latin typeface="Calibri" panose="020F0502020204030204" pitchFamily="34" charset="0"/>
                        </a:rPr>
                        <a:t> события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p>
                    <a:p>
                      <a:pPr marL="342900" indent="-161925" algn="l" fontAlgn="b">
                        <a:buFont typeface="Arial" panose="020B0604020202020204" pitchFamily="34" charset="0"/>
                        <a:buChar char="•"/>
                      </a:pPr>
                      <a:r>
                        <a:rPr lang="ru-RU" sz="2000" u="none" strike="noStrike" dirty="0">
                          <a:effectLst/>
                        </a:rPr>
                        <a:t>Интерпретируемый, </a:t>
                      </a:r>
                    </a:p>
                    <a:p>
                      <a:pPr marL="342900" indent="-161925" algn="l" fontAlgn="b">
                        <a:buFont typeface="Arial" panose="020B0604020202020204" pitchFamily="34" charset="0"/>
                        <a:buChar char="•"/>
                      </a:pPr>
                      <a:r>
                        <a:rPr lang="ru-RU" sz="2000" u="none" strike="noStrike" dirty="0" err="1">
                          <a:effectLst/>
                        </a:rPr>
                        <a:t>бенчмарк</a:t>
                      </a:r>
                      <a:r>
                        <a:rPr lang="ru-RU" sz="2000" u="none" strike="noStrike" baseline="0" dirty="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Работает</a:t>
                      </a:r>
                      <a:r>
                        <a:rPr lang="ru-RU" sz="2000" u="none" strike="noStrike" baseline="0" dirty="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Мониторинг </a:t>
            </a:r>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a:t>Дрейф данных </a:t>
            </a:r>
            <a:r>
              <a:rPr lang="en-US" b="1" dirty="0"/>
              <a:t>(P(x))</a:t>
            </a:r>
            <a:r>
              <a:rPr lang="ru-RU" dirty="0"/>
              <a:t>– изменение в распределение значений ВР на тесте</a:t>
            </a:r>
          </a:p>
          <a:p>
            <a:pPr lvl="2">
              <a:lnSpc>
                <a:spcPct val="110000"/>
              </a:lnSpc>
              <a:spcBef>
                <a:spcPts val="600"/>
              </a:spcBef>
            </a:pPr>
            <a:r>
              <a:rPr lang="ru-RU" sz="2400" dirty="0"/>
              <a:t>из за ограниченности выборки не все паттерны учтены в </a:t>
            </a:r>
            <a:r>
              <a:rPr lang="ru-RU" sz="2400" dirty="0" err="1"/>
              <a:t>трейне</a:t>
            </a:r>
            <a:endParaRPr lang="ru-RU" sz="2400" dirty="0"/>
          </a:p>
          <a:p>
            <a:pPr lvl="3">
              <a:lnSpc>
                <a:spcPct val="110000"/>
              </a:lnSpc>
              <a:spcBef>
                <a:spcPts val="600"/>
              </a:spcBef>
            </a:pPr>
            <a:r>
              <a:rPr lang="ru-RU" sz="2400" dirty="0"/>
              <a:t>Напр., на выборке в 3 года не учтены факторы високосного года.</a:t>
            </a:r>
          </a:p>
          <a:p>
            <a:pPr lvl="4">
              <a:lnSpc>
                <a:spcPct val="110000"/>
              </a:lnSpc>
              <a:spcBef>
                <a:spcPts val="600"/>
              </a:spcBef>
            </a:pPr>
            <a:r>
              <a:rPr lang="ru-RU" sz="2400" dirty="0"/>
              <a:t> Нужно учесть в </a:t>
            </a:r>
            <a:r>
              <a:rPr lang="ru-RU" sz="2400" dirty="0" err="1"/>
              <a:t>трейне</a:t>
            </a:r>
            <a:r>
              <a:rPr lang="ru-RU" sz="2400" dirty="0"/>
              <a:t> и </a:t>
            </a:r>
            <a:r>
              <a:rPr lang="ru-RU" sz="2400" dirty="0" err="1"/>
              <a:t>дообуёчить</a:t>
            </a:r>
            <a:r>
              <a:rPr lang="ru-RU" sz="2400" dirty="0"/>
              <a:t> модель</a:t>
            </a:r>
            <a:endParaRPr lang="en-US" sz="2400" dirty="0"/>
          </a:p>
          <a:p>
            <a:pPr marL="447675" lvl="1" indent="-361950">
              <a:lnSpc>
                <a:spcPct val="110000"/>
              </a:lnSpc>
              <a:spcBef>
                <a:spcPts val="600"/>
              </a:spcBef>
            </a:pPr>
            <a:r>
              <a:rPr lang="ru-RU" b="1" dirty="0"/>
              <a:t>Дрейф концепции</a:t>
            </a:r>
            <a:r>
              <a:rPr lang="en-US" b="1" dirty="0"/>
              <a:t> (P(y))</a:t>
            </a:r>
            <a:r>
              <a:rPr lang="ru-RU" b="1" dirty="0"/>
              <a:t> </a:t>
            </a:r>
            <a:r>
              <a:rPr lang="ru-RU" dirty="0"/>
              <a:t>– Появление истинно новых паттернов в тесте</a:t>
            </a:r>
          </a:p>
          <a:p>
            <a:pPr lvl="3">
              <a:lnSpc>
                <a:spcPct val="110000"/>
              </a:lnSpc>
              <a:spcBef>
                <a:spcPts val="600"/>
              </a:spcBef>
            </a:pPr>
            <a:r>
              <a:rPr lang="ru-RU" sz="2400" dirty="0"/>
              <a:t>Напр., объявлена 4 дневная рабочая неделя. – Нужно учесть пересмотреть модель</a:t>
            </a:r>
          </a:p>
          <a:p>
            <a:pPr marL="0" indent="0">
              <a:lnSpc>
                <a:spcPct val="110000"/>
              </a:lnSpc>
              <a:spcBef>
                <a:spcPts val="600"/>
              </a:spcBef>
              <a:buNone/>
            </a:pPr>
            <a:r>
              <a:rPr lang="ru-RU" sz="2400" b="1" dirty="0"/>
              <a:t>Ковариационный дрейф</a:t>
            </a:r>
            <a:r>
              <a:rPr lang="en-US" sz="2400" b="1" dirty="0"/>
              <a:t> (P(</a:t>
            </a:r>
            <a:r>
              <a:rPr lang="en-US" sz="2400" b="1" dirty="0" err="1"/>
              <a:t>y|x</a:t>
            </a:r>
            <a:r>
              <a:rPr lang="en-US" sz="2400" b="1" dirty="0"/>
              <a:t>))</a:t>
            </a:r>
            <a:r>
              <a:rPr lang="ru-RU" sz="2400" b="1" dirty="0"/>
              <a:t> </a:t>
            </a:r>
            <a:r>
              <a:rPr lang="ru-RU" sz="2400" dirty="0"/>
              <a:t>– поведение объясняющих переменных поменялось.</a:t>
            </a:r>
          </a:p>
          <a:p>
            <a:pPr marL="0" indent="0">
              <a:lnSpc>
                <a:spcPct val="110000"/>
              </a:lnSpc>
              <a:spcBef>
                <a:spcPts val="600"/>
              </a:spcBef>
              <a:buNone/>
            </a:pPr>
            <a:r>
              <a:rPr lang="ru-RU" sz="2400" dirty="0"/>
              <a:t>	напр. продажи мороженного основывались на том, что в </a:t>
            </a:r>
            <a:r>
              <a:rPr lang="ru-RU" sz="2400" dirty="0" err="1"/>
              <a:t>трейне</a:t>
            </a:r>
            <a:r>
              <a:rPr lang="ru-RU" sz="2400" dirty="0"/>
              <a:t> были солнечные дни.</a:t>
            </a:r>
          </a:p>
          <a:p>
            <a:pPr marL="0" indent="0">
              <a:lnSpc>
                <a:spcPct val="110000"/>
              </a:lnSpc>
              <a:spcBef>
                <a:spcPts val="600"/>
              </a:spcBef>
              <a:buNone/>
            </a:pPr>
            <a:r>
              <a:rPr lang="ru-RU" sz="2400" dirty="0"/>
              <a:t>		погода стала чаще пасмурной –продаже падают.</a:t>
            </a:r>
            <a:endParaRPr lang="en-US" sz="2400" dirty="0"/>
          </a:p>
          <a:p>
            <a:pPr marL="0" indent="0">
              <a:buNone/>
            </a:pPr>
            <a:endParaRPr lang="en-US" sz="2100" dirty="0"/>
          </a:p>
          <a:p>
            <a:pPr marL="0" indent="0">
              <a:buNone/>
            </a:pPr>
            <a:r>
              <a:rPr lang="ru-RU" sz="2100" dirty="0"/>
              <a:t>Дрейф можно охарактеризовать как </a:t>
            </a:r>
            <a:r>
              <a:rPr lang="en-US" sz="2100" dirty="0"/>
              <a:t>out-of-distribution</a:t>
            </a:r>
            <a:r>
              <a:rPr lang="ru-RU" sz="2100" dirty="0"/>
              <a:t> </a:t>
            </a:r>
            <a:r>
              <a:rPr lang="en-US" sz="2100" dirty="0"/>
              <a:t>forecasting</a:t>
            </a:r>
            <a:r>
              <a:rPr lang="ru-RU" sz="2100" dirty="0"/>
              <a:t> </a:t>
            </a:r>
            <a:r>
              <a:rPr lang="en-US" sz="2100" dirty="0"/>
              <a:t>(OOD).</a:t>
            </a:r>
          </a:p>
          <a:p>
            <a:pPr marL="0" indent="0">
              <a:buNone/>
            </a:pPr>
            <a:r>
              <a:rPr lang="ru-RU" sz="2100" dirty="0"/>
              <a:t>Часто</a:t>
            </a:r>
            <a:r>
              <a:rPr lang="ru-RU" sz="2100" b="1" dirty="0"/>
              <a:t> </a:t>
            </a:r>
            <a:r>
              <a:rPr lang="en-US" sz="2100" b="1" dirty="0"/>
              <a:t>OOD </a:t>
            </a:r>
            <a:r>
              <a:rPr lang="en-US" sz="2100" dirty="0"/>
              <a:t>– </a:t>
            </a:r>
            <a:r>
              <a:rPr lang="ru-RU" sz="2100" dirty="0"/>
              <a:t>новизна в </a:t>
            </a:r>
            <a:r>
              <a:rPr lang="ru-RU" sz="2100" dirty="0" smtClean="0"/>
              <a:t>данных (новое распределение – результат).</a:t>
            </a:r>
            <a:endParaRPr lang="en-US" sz="2100" dirty="0"/>
          </a:p>
          <a:p>
            <a:r>
              <a:rPr lang="ru-RU" sz="2300" dirty="0"/>
              <a:t>Стресс-тесты моделей (искусственные испытания моделей)</a:t>
            </a:r>
          </a:p>
          <a:p>
            <a:r>
              <a:rPr lang="ru-RU" sz="2300" dirty="0"/>
              <a:t>Использование более устойчивых моделей (ансамбли, </a:t>
            </a:r>
            <a:r>
              <a:rPr lang="ru-RU" sz="2300" dirty="0" err="1"/>
              <a:t>бустинг</a:t>
            </a:r>
            <a:r>
              <a:rPr lang="ru-RU" sz="2300" dirty="0"/>
              <a:t> моделей)</a:t>
            </a:r>
          </a:p>
          <a:p>
            <a:r>
              <a:rPr lang="ru-RU" sz="2300" dirty="0"/>
              <a:t>Мониторинг входных  данных и результатов </a:t>
            </a:r>
            <a:r>
              <a:rPr lang="ru-RU" sz="2300" dirty="0" smtClean="0"/>
              <a:t>предсказания (</a:t>
            </a:r>
            <a:r>
              <a:rPr lang="ru-RU" sz="2300" dirty="0" err="1" smtClean="0"/>
              <a:t>сат.тесты</a:t>
            </a:r>
            <a:r>
              <a:rPr lang="ru-RU" sz="2300" dirty="0" smtClean="0"/>
              <a:t>)</a:t>
            </a:r>
            <a:endParaRPr lang="ru-RU" sz="2300" dirty="0"/>
          </a:p>
          <a:p>
            <a:r>
              <a:rPr lang="ru-RU" sz="2300" dirty="0"/>
              <a:t>Обучение новых моделей по </a:t>
            </a:r>
            <a:r>
              <a:rPr lang="ru-RU" sz="2300" dirty="0" smtClean="0"/>
              <a:t>расписанию (мл </a:t>
            </a:r>
            <a:r>
              <a:rPr lang="ru-RU" sz="2300" dirty="0" err="1" smtClean="0"/>
              <a:t>опс</a:t>
            </a:r>
            <a:r>
              <a:rPr lang="ru-RU" sz="2300" dirty="0" smtClean="0"/>
              <a:t>)</a:t>
            </a:r>
            <a:endParaRPr lang="ru-RU" sz="2300" dirty="0"/>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35" y="271122"/>
            <a:ext cx="11417181" cy="737282"/>
          </a:xfrm>
        </p:spPr>
        <p:txBody>
          <a:bodyPr/>
          <a:lstStyle/>
          <a:p>
            <a:pPr algn="ctr"/>
            <a:r>
              <a:rPr lang="ru-RU" dirty="0" smtClean="0"/>
              <a:t>Вопросы для самоконтроля</a:t>
            </a:r>
            <a:endParaRPr lang="ru-RU" dirty="0"/>
          </a:p>
        </p:txBody>
      </p:sp>
      <p:sp>
        <p:nvSpPr>
          <p:cNvPr id="3" name="Объект 2"/>
          <p:cNvSpPr>
            <a:spLocks noGrp="1"/>
          </p:cNvSpPr>
          <p:nvPr>
            <p:ph idx="1"/>
          </p:nvPr>
        </p:nvSpPr>
        <p:spPr>
          <a:xfrm>
            <a:off x="350379" y="1008405"/>
            <a:ext cx="11502638" cy="5563312"/>
          </a:xfrm>
        </p:spPr>
        <p:txBody>
          <a:bodyPr/>
          <a:lstStyle/>
          <a:p>
            <a:pPr lvl="0"/>
            <a:r>
              <a:rPr lang="ru-RU" dirty="0"/>
              <a:t>Объясните термин надежность предсказаний. Какие методы оценки надежности можно предложить. Приведите примеры задач для названных методов.</a:t>
            </a:r>
          </a:p>
          <a:p>
            <a:r>
              <a:rPr lang="ru-RU" dirty="0" smtClean="0"/>
              <a:t>Приведите примеры ВР, соответствующие рискам надежности ВР. Какие при этом будут особенности остатков модели. Как можно выявить проблемы на метриках и как это скажется на бизнес-метриках.</a:t>
            </a:r>
          </a:p>
          <a:p>
            <a:r>
              <a:rPr lang="ru-RU" dirty="0" smtClean="0"/>
              <a:t>Проанализируйте ситуацию когда для одного ВР есть несколько допустимых методов предсказаний. Какие методы какую надежность дадут? Обоснуйте ответ.</a:t>
            </a:r>
          </a:p>
          <a:p>
            <a:r>
              <a:rPr lang="ru-RU" dirty="0" smtClean="0"/>
              <a:t>Предложите </a:t>
            </a:r>
            <a:r>
              <a:rPr lang="ru-RU" dirty="0" err="1" smtClean="0"/>
              <a:t>пайплайн</a:t>
            </a:r>
            <a:r>
              <a:rPr lang="ru-RU" dirty="0" smtClean="0"/>
              <a:t> мониторинга работы метода предсказаний ВР. Как при этом будет надежность провялятся, какие будут риски для бизнес-метрик.</a:t>
            </a:r>
            <a:endParaRPr lang="ru-RU" dirty="0"/>
          </a:p>
        </p:txBody>
      </p:sp>
    </p:spTree>
    <p:extLst>
      <p:ext uri="{BB962C8B-B14F-4D97-AF65-F5344CB8AC3E}">
        <p14:creationId xmlns:p14="http://schemas.microsoft.com/office/powerpoint/2010/main" val="11091201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a:t>Мониторинг </a:t>
            </a:r>
            <a:r>
              <a:rPr lang="en-US" dirty="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a:t>Мониторинг основывается на сравнении распределений и отдельных характеристик обучающей и рабочей выборок.</a:t>
            </a:r>
          </a:p>
          <a:p>
            <a:pPr lvl="1"/>
            <a:r>
              <a:rPr lang="ru-RU" dirty="0"/>
              <a:t>Напр. тест </a:t>
            </a:r>
            <a:r>
              <a:rPr lang="ru-RU" dirty="0" err="1"/>
              <a:t>Калмогорова</a:t>
            </a:r>
            <a:r>
              <a:rPr lang="ru-RU" dirty="0"/>
              <a:t>-Смирнова или </a:t>
            </a:r>
            <a:r>
              <a:rPr lang="en-US" dirty="0" err="1"/>
              <a:t>Kullback</a:t>
            </a:r>
            <a:r>
              <a:rPr lang="en-US" dirty="0"/>
              <a:t>–</a:t>
            </a:r>
            <a:r>
              <a:rPr lang="en-US" dirty="0" err="1"/>
              <a:t>Leibler</a:t>
            </a:r>
            <a:r>
              <a:rPr lang="en-US" dirty="0"/>
              <a:t> divergence</a:t>
            </a:r>
            <a:endParaRPr lang="ru-RU" dirty="0"/>
          </a:p>
          <a:p>
            <a:pPr lvl="1"/>
            <a:r>
              <a:rPr lang="ru-RU" dirty="0"/>
              <a:t>Мониторинг средних значений остатков предсказаний</a:t>
            </a:r>
          </a:p>
          <a:p>
            <a:pPr lvl="1"/>
            <a:r>
              <a:rPr lang="ru-RU" dirty="0"/>
              <a:t>Мониторинг суммарной накопленной ошибки предсказаний</a:t>
            </a:r>
          </a:p>
        </p:txBody>
      </p:sp>
    </p:spTree>
    <p:extLst>
      <p:ext uri="{BB962C8B-B14F-4D97-AF65-F5344CB8AC3E}">
        <p14:creationId xmlns:p14="http://schemas.microsoft.com/office/powerpoint/2010/main" val="17188813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p>
          <a:p>
            <a:r>
              <a:rPr lang="ru-RU" dirty="0"/>
              <a:t>Преимущества:</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данными</a:t>
            </a:r>
          </a:p>
          <a:p>
            <a:pPr lvl="1"/>
            <a:r>
              <a:rPr lang="ru-RU" dirty="0" err="1"/>
              <a:t>Хоршо</a:t>
            </a:r>
            <a:r>
              <a:rPr lang="ru-RU" dirty="0"/>
              <a:t> работает на коротких ВР</a:t>
            </a:r>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Конформное предсказание (</a:t>
            </a:r>
            <a:r>
              <a:rPr lang="ru-RU" dirty="0" err="1"/>
              <a:t>Conformal</a:t>
            </a:r>
            <a:r>
              <a:rPr lang="ru-RU" dirty="0"/>
              <a:t> </a:t>
            </a:r>
            <a:r>
              <a:rPr lang="ru-RU" dirty="0" err="1"/>
              <a:t>Prediction</a:t>
            </a:r>
            <a:r>
              <a:rPr lang="ru-RU" dirty="0"/>
              <a:t>)</a:t>
            </a:r>
            <a:endParaRPr lang="ru-RU" b="1" dirty="0"/>
          </a:p>
          <a:p>
            <a:r>
              <a:rPr lang="ru-RU" dirty="0"/>
              <a:t>Преимущества:</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распределении</a:t>
            </a:r>
          </a:p>
          <a:p>
            <a:pPr lvl="1"/>
            <a:r>
              <a:rPr lang="ru-RU" dirty="0"/>
              <a:t>Одноразовое оценивание</a:t>
            </a:r>
          </a:p>
          <a:p>
            <a:pPr lvl="1"/>
            <a:r>
              <a:rPr lang="ru-RU" dirty="0"/>
              <a:t>могут калибровать интервалы прогнозирования, сгенерированные с помощью других методов, </a:t>
            </a:r>
          </a:p>
          <a:p>
            <a:r>
              <a:rPr lang="ru-RU" dirty="0"/>
              <a:t>Недостатки:</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высока</a:t>
            </a:r>
          </a:p>
        </p:txBody>
      </p:sp>
    </p:spTree>
    <p:extLst>
      <p:ext uri="{BB962C8B-B14F-4D97-AF65-F5344CB8AC3E}">
        <p14:creationId xmlns:p14="http://schemas.microsoft.com/office/powerpoint/2010/main" val="2574023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r>
              <a:rPr lang="en-US" b="1" dirty="0">
                <a:latin typeface="Inter"/>
              </a:rPr>
              <a:t/>
            </a:r>
            <a:br>
              <a:rPr lang="en-US" b="1" dirty="0">
                <a:latin typeface="Inter"/>
              </a:rPr>
            </a:br>
            <a:r>
              <a:rPr lang="en-US" b="1" dirty="0">
                <a:latin typeface="Inter"/>
              </a:rPr>
              <a:t>Importance of Confidence Interval Prediction in Time Series:</a:t>
            </a:r>
          </a:p>
          <a:p>
            <a:pPr>
              <a:buFont typeface="+mj-lt"/>
              <a:buAutoNum type="arabicPeriod"/>
            </a:pPr>
            <a:r>
              <a:rPr lang="en-US" dirty="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5307</TotalTime>
  <Words>2749</Words>
  <Application>Microsoft Office PowerPoint</Application>
  <PresentationFormat>Широкоэкранный</PresentationFormat>
  <Paragraphs>424</Paragraphs>
  <Slides>28</Slides>
  <Notes>2</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28</vt:i4>
      </vt:variant>
    </vt:vector>
  </HeadingPairs>
  <TitlesOfParts>
    <vt:vector size="35"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Walk-forward кросс-валидация </vt:lpstr>
      <vt:lpstr>Backtesting</vt:lpstr>
      <vt:lpstr>Backtesting</vt:lpstr>
      <vt:lpstr>Преимущества Walk-forward cross validation</vt:lpstr>
      <vt:lpstr>Особенности кросс-валидации</vt:lpstr>
      <vt:lpstr>Замечание. Backcast-дополнительная оценка надежности</vt:lpstr>
      <vt:lpstr>Особенности оценки неопределенности </vt:lpstr>
      <vt:lpstr>Особенности оценки неопределенности </vt:lpstr>
      <vt:lpstr>Необходимость вероятностных оценок</vt:lpstr>
      <vt:lpstr>Необходимость вероятностных оценок</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Вопросы для самоконтроля</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296</cp:revision>
  <dcterms:created xsi:type="dcterms:W3CDTF">2021-10-31T10:57:36Z</dcterms:created>
  <dcterms:modified xsi:type="dcterms:W3CDTF">2026-04-09T14:02:14Z</dcterms:modified>
</cp:coreProperties>
</file>