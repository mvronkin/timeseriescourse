
<file path=[Content_Types].xml><?xml version="1.0" encoding="utf-8"?>
<Types xmlns="http://schemas.openxmlformats.org/package/2006/content-types">
  <Default Extension="png" ContentType="image/png"/>
  <Default Extension="jpeg" ContentType="image/jpeg"/>
  <Default Extension="emf" ContentType="image/x-emf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72" r:id="rId1"/>
  </p:sldMasterIdLst>
  <p:notesMasterIdLst>
    <p:notesMasterId r:id="rId22"/>
  </p:notesMasterIdLst>
  <p:sldIdLst>
    <p:sldId id="256" r:id="rId2"/>
    <p:sldId id="302" r:id="rId3"/>
    <p:sldId id="423" r:id="rId4"/>
    <p:sldId id="421" r:id="rId5"/>
    <p:sldId id="424" r:id="rId6"/>
    <p:sldId id="422" r:id="rId7"/>
    <p:sldId id="403" r:id="rId8"/>
    <p:sldId id="408" r:id="rId9"/>
    <p:sldId id="409" r:id="rId10"/>
    <p:sldId id="410" r:id="rId11"/>
    <p:sldId id="411" r:id="rId12"/>
    <p:sldId id="444" r:id="rId13"/>
    <p:sldId id="445" r:id="rId14"/>
    <p:sldId id="446" r:id="rId15"/>
    <p:sldId id="447" r:id="rId16"/>
    <p:sldId id="448" r:id="rId17"/>
    <p:sldId id="449" r:id="rId18"/>
    <p:sldId id="450" r:id="rId19"/>
    <p:sldId id="443" r:id="rId20"/>
    <p:sldId id="388" r:id="rId21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Средний стиль 2 — акцент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27955" autoAdjust="0"/>
    <p:restoredTop sz="94795"/>
  </p:normalViewPr>
  <p:slideViewPr>
    <p:cSldViewPr snapToGrid="0">
      <p:cViewPr varScale="1">
        <p:scale>
          <a:sx n="85" d="100"/>
          <a:sy n="85" d="100"/>
        </p:scale>
        <p:origin x="96" y="97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tableStyles" Target="tableStyles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viewProps" Target="view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presProps" Target="pres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notesMaster" Target="notesMasters/notes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хний колонтитул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3" name="Дата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CDA96C9A-3213-B245-BC64-7E419D14BD9D}" type="datetimeFigureOut">
              <a:rPr lang="ru-RU" smtClean="0"/>
              <a:t>04.05.2026</a:t>
            </a:fld>
            <a:endParaRPr lang="ru-RU"/>
          </a:p>
        </p:txBody>
      </p:sp>
      <p:sp>
        <p:nvSpPr>
          <p:cNvPr id="4" name="Образ слайда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ru-RU"/>
          </a:p>
        </p:txBody>
      </p:sp>
      <p:sp>
        <p:nvSpPr>
          <p:cNvPr id="5" name="Заметки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9DA1EE30-E435-D745-B23A-FF31C831763F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93119518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685800" rtl="0" eaLnBrk="1" latinLnBrk="0" hangingPunct="1">
      <a:defRPr sz="900" kern="1200">
        <a:solidFill>
          <a:schemeClr val="tx1"/>
        </a:solidFill>
        <a:latin typeface="+mn-lt"/>
        <a:ea typeface="+mn-ea"/>
        <a:cs typeface="+mn-cs"/>
      </a:defRPr>
    </a:lvl1pPr>
    <a:lvl2pPr marL="342900" algn="l" defTabSz="685800" rtl="0" eaLnBrk="1" latinLnBrk="0" hangingPunct="1">
      <a:defRPr sz="900" kern="1200">
        <a:solidFill>
          <a:schemeClr val="tx1"/>
        </a:solidFill>
        <a:latin typeface="+mn-lt"/>
        <a:ea typeface="+mn-ea"/>
        <a:cs typeface="+mn-cs"/>
      </a:defRPr>
    </a:lvl2pPr>
    <a:lvl3pPr marL="685800" algn="l" defTabSz="685800" rtl="0" eaLnBrk="1" latinLnBrk="0" hangingPunct="1">
      <a:defRPr sz="900" kern="1200">
        <a:solidFill>
          <a:schemeClr val="tx1"/>
        </a:solidFill>
        <a:latin typeface="+mn-lt"/>
        <a:ea typeface="+mn-ea"/>
        <a:cs typeface="+mn-cs"/>
      </a:defRPr>
    </a:lvl3pPr>
    <a:lvl4pPr marL="1028700" algn="l" defTabSz="685800" rtl="0" eaLnBrk="1" latinLnBrk="0" hangingPunct="1">
      <a:defRPr sz="900" kern="1200">
        <a:solidFill>
          <a:schemeClr val="tx1"/>
        </a:solidFill>
        <a:latin typeface="+mn-lt"/>
        <a:ea typeface="+mn-ea"/>
        <a:cs typeface="+mn-cs"/>
      </a:defRPr>
    </a:lvl4pPr>
    <a:lvl5pPr marL="1371600" algn="l" defTabSz="685800" rtl="0" eaLnBrk="1" latinLnBrk="0" hangingPunct="1">
      <a:defRPr sz="900" kern="1200">
        <a:solidFill>
          <a:schemeClr val="tx1"/>
        </a:solidFill>
        <a:latin typeface="+mn-lt"/>
        <a:ea typeface="+mn-ea"/>
        <a:cs typeface="+mn-cs"/>
      </a:defRPr>
    </a:lvl5pPr>
    <a:lvl6pPr marL="1714500" algn="l" defTabSz="685800" rtl="0" eaLnBrk="1" latinLnBrk="0" hangingPunct="1">
      <a:defRPr sz="900" kern="1200">
        <a:solidFill>
          <a:schemeClr val="tx1"/>
        </a:solidFill>
        <a:latin typeface="+mn-lt"/>
        <a:ea typeface="+mn-ea"/>
        <a:cs typeface="+mn-cs"/>
      </a:defRPr>
    </a:lvl6pPr>
    <a:lvl7pPr marL="2057400" algn="l" defTabSz="685800" rtl="0" eaLnBrk="1" latinLnBrk="0" hangingPunct="1">
      <a:defRPr sz="900" kern="1200">
        <a:solidFill>
          <a:schemeClr val="tx1"/>
        </a:solidFill>
        <a:latin typeface="+mn-lt"/>
        <a:ea typeface="+mn-ea"/>
        <a:cs typeface="+mn-cs"/>
      </a:defRPr>
    </a:lvl7pPr>
    <a:lvl8pPr marL="2400300" algn="l" defTabSz="685800" rtl="0" eaLnBrk="1" latinLnBrk="0" hangingPunct="1">
      <a:defRPr sz="900" kern="1200">
        <a:solidFill>
          <a:schemeClr val="tx1"/>
        </a:solidFill>
        <a:latin typeface="+mn-lt"/>
        <a:ea typeface="+mn-ea"/>
        <a:cs typeface="+mn-cs"/>
      </a:defRPr>
    </a:lvl8pPr>
    <a:lvl9pPr marL="2743200" algn="l" defTabSz="685800" rtl="0" eaLnBrk="1" latinLnBrk="0" hangingPunct="1">
      <a:defRPr sz="9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DA1EE30-E435-D745-B23A-FF31C831763F}" type="slidenum">
              <a:rPr lang="ru-RU" smtClean="0"/>
              <a:t>2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268776166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DA1EE30-E435-D745-B23A-FF31C831763F}" type="slidenum">
              <a:rPr lang="ru-RU" smtClean="0"/>
              <a:t>6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600334744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DA1EE30-E435-D745-B23A-FF31C831763F}" type="slidenum">
              <a:rPr lang="ru-RU" smtClean="0"/>
              <a:t>9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406873374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DA1EE30-E435-D745-B23A-FF31C831763F}" type="slidenum">
              <a:rPr lang="ru-RU" smtClean="0"/>
              <a:t>10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203707964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DA1EE30-E435-D745-B23A-FF31C831763F}" type="slidenum">
              <a:rPr lang="ru-RU" smtClean="0"/>
              <a:t>11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400433893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DA1EE30-E435-D745-B23A-FF31C831763F}" type="slidenum">
              <a:rPr lang="ru-RU" smtClean="0"/>
              <a:t>15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730858212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Титульны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ru-RU"/>
              <a:t>Образец подзаголовка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EE214BE-636D-8A45-BCA6-8B7ED77AA124}" type="datetime1">
              <a:rPr lang="ru-RU" smtClean="0"/>
              <a:t>04.05.2026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5C3B737-A709-4ABC-AFE0-A6B067850C4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4301297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Заголовок и объек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233A339-F8AE-5C45-BEAE-07EF9DC78B60}" type="datetime1">
              <a:rPr lang="ru-RU" smtClean="0"/>
              <a:t>04.05.2026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5C3B737-A709-4ABC-AFE0-A6B067850C4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8312652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Заголовок раздел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586FDE4-97E0-CE4A-988C-F30B221290A7}" type="datetime1">
              <a:rPr lang="ru-RU" smtClean="0"/>
              <a:t>04.05.2026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5C3B737-A709-4ABC-AFE0-A6B067850C4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9178312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Два объект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36ECE8B-8DEC-154E-9F03-047C8DDA20DC}" type="datetime1">
              <a:rPr lang="ru-RU" smtClean="0"/>
              <a:t>04.05.2026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5C3B737-A709-4ABC-AFE0-A6B067850C4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9029523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Сравнение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40816D5-BDB8-B34B-8ACA-ECBDD12E7321}" type="datetime1">
              <a:rPr lang="ru-RU" smtClean="0"/>
              <a:t>04.05.2026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5C3B737-A709-4ABC-AFE0-A6B067850C4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8199960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Только заголовок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A8C589A-5627-764C-AF96-C1E2F9A00A4D}" type="datetime1">
              <a:rPr lang="ru-RU" smtClean="0"/>
              <a:t>04.05.2026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5C3B737-A709-4ABC-AFE0-A6B067850C4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3297748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Пусто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03EE0D0-1696-6D4F-B917-4AFB24A74E8B}" type="datetime1">
              <a:rPr lang="ru-RU" smtClean="0"/>
              <a:t>04.05.2026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5C3B737-A709-4ABC-AFE0-A6B067850C4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6411123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Объект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3C8A91E-B09B-2240-9AA3-B1D4BCC6296E}" type="datetime1">
              <a:rPr lang="ru-RU" smtClean="0"/>
              <a:t>04.05.2026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5C3B737-A709-4ABC-AFE0-A6B067850C4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7792277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Рисунок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ru-RU"/>
              <a:t>Вставка рисунка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BE9760E-DA8D-6747-B31E-62858C8727B8}" type="datetime1">
              <a:rPr lang="ru-RU" smtClean="0"/>
              <a:t>04.05.2026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5C3B737-A709-4ABC-AFE0-A6B067850C4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9594008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Заголовок и вертикальный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855274A-4ED4-0146-A3E9-88EF200B5196}" type="datetime1">
              <a:rPr lang="ru-RU" smtClean="0"/>
              <a:t>04.05.2026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5C3B737-A709-4ABC-AFE0-A6B067850C4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651644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Вертикальный заголовок и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A78DFF1-9FDC-144B-973E-B4B4609709DF}" type="datetime1">
              <a:rPr lang="ru-RU" smtClean="0"/>
              <a:t>04.05.2026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5C3B737-A709-4ABC-AFE0-A6B067850C4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4932413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D31305DF-F750-CC43-967D-51A20925EE94}" type="datetime1">
              <a:rPr lang="ru-RU" smtClean="0"/>
              <a:t>04.05.2026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5C3B737-A709-4ABC-AFE0-A6B067850C4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1156381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3" r:id="rId1"/>
    <p:sldLayoutId id="2147483674" r:id="rId2"/>
    <p:sldLayoutId id="2147483675" r:id="rId3"/>
    <p:sldLayoutId id="2147483676" r:id="rId4"/>
    <p:sldLayoutId id="2147483677" r:id="rId5"/>
    <p:sldLayoutId id="2147483678" r:id="rId6"/>
    <p:sldLayoutId id="2147483679" r:id="rId7"/>
    <p:sldLayoutId id="2147483680" r:id="rId8"/>
    <p:sldLayoutId id="2147483681" r:id="rId9"/>
    <p:sldLayoutId id="2147483682" r:id="rId10"/>
    <p:sldLayoutId id="2147483683" r:id="rId11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e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6.png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0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3.png"/><Relationship Id="rId4" Type="http://schemas.openxmlformats.org/officeDocument/2006/relationships/image" Target="../media/image12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6.png"/><Relationship Id="rId4" Type="http://schemas.openxmlformats.org/officeDocument/2006/relationships/image" Target="../media/image15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8.png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21.png"/><Relationship Id="rId4" Type="http://schemas.openxmlformats.org/officeDocument/2006/relationships/image" Target="../media/image201.pn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0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220.png"/><Relationship Id="rId4" Type="http://schemas.openxmlformats.org/officeDocument/2006/relationships/image" Target="../media/image22.png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3.jpeg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5.jpeg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.png"/><Relationship Id="rId2" Type="http://schemas.openxmlformats.org/officeDocument/2006/relationships/image" Target="../media/image26.emf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0.png"/><Relationship Id="rId5" Type="http://schemas.openxmlformats.org/officeDocument/2006/relationships/image" Target="../media/image29.png"/><Relationship Id="rId4" Type="http://schemas.openxmlformats.org/officeDocument/2006/relationships/image" Target="../media/image28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9AE3A209-E86B-43CF-A4CE-1917FCF9C1B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743483" y="934359"/>
            <a:ext cx="10932920" cy="2761662"/>
          </a:xfrm>
        </p:spPr>
        <p:txBody>
          <a:bodyPr>
            <a:normAutofit/>
          </a:bodyPr>
          <a:lstStyle/>
          <a:p>
            <a:r>
              <a:rPr lang="ru-RU" sz="8000" dirty="0" smtClean="0"/>
              <a:t>Введение </a:t>
            </a:r>
            <a:r>
              <a:rPr lang="ru-RU" sz="8000" dirty="0"/>
              <a:t>в анализ </a:t>
            </a:r>
            <a:br>
              <a:rPr lang="ru-RU" sz="8000" dirty="0"/>
            </a:br>
            <a:r>
              <a:rPr lang="ru-RU" sz="8000" dirty="0"/>
              <a:t>временных рядов. </a:t>
            </a:r>
            <a:endParaRPr lang="en-US" sz="8000" dirty="0"/>
          </a:p>
        </p:txBody>
      </p:sp>
      <p:sp>
        <p:nvSpPr>
          <p:cNvPr id="3" name="Номер слайда 2">
            <a:extLst>
              <a:ext uri="{FF2B5EF4-FFF2-40B4-BE49-F238E27FC236}">
                <a16:creationId xmlns:a16="http://schemas.microsoft.com/office/drawing/2014/main" id="{B46F77CB-BE50-557D-1B14-E047A35B21B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5C3B737-A709-4ABC-AFE0-A6B067850C48}" type="slidenum">
              <a:rPr lang="en-US" smtClean="0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43101150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79B0BEDB-9774-4E17-9A6B-DBCF6A1F528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8651" y="74967"/>
            <a:ext cx="10515600" cy="993418"/>
          </a:xfrm>
        </p:spPr>
        <p:txBody>
          <a:bodyPr>
            <a:normAutofit/>
          </a:bodyPr>
          <a:lstStyle/>
          <a:p>
            <a:pPr algn="ctr"/>
            <a:r>
              <a:rPr lang="ru-RU" b="1" dirty="0">
                <a:latin typeface="+mn-lt"/>
                <a:ea typeface="Calibri" panose="020F0502020204030204" pitchFamily="34" charset="0"/>
                <a:cs typeface="Times New Roman" panose="02020603050405020304" pitchFamily="18" charset="0"/>
              </a:rPr>
              <a:t>Анализ временных рядов</a:t>
            </a:r>
            <a:endParaRPr lang="en-US" dirty="0">
              <a:latin typeface="+mn-lt"/>
            </a:endParaRP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4CDB8E57-5CA8-497C-990E-C304F4FBE71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06137" y="909419"/>
            <a:ext cx="11560628" cy="5470528"/>
          </a:xfrm>
        </p:spPr>
        <p:txBody>
          <a:bodyPr>
            <a:normAutofit/>
          </a:bodyPr>
          <a:lstStyle/>
          <a:p>
            <a:pPr marL="0" indent="0">
              <a:lnSpc>
                <a:spcPct val="107000"/>
              </a:lnSpc>
              <a:buNone/>
            </a:pPr>
            <a:r>
              <a:rPr lang="ru-RU" sz="2400" b="1" dirty="0">
                <a:ea typeface="Calibri" panose="020F0502020204030204" pitchFamily="34" charset="0"/>
                <a:cs typeface="Times New Roman" panose="02020603050405020304" pitchFamily="18" charset="0"/>
              </a:rPr>
              <a:t>Временные ряды (ВР) :</a:t>
            </a:r>
            <a:endParaRPr lang="ru-RU" sz="2400" dirty="0"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pPr>
              <a:lnSpc>
                <a:spcPct val="107000"/>
              </a:lnSpc>
            </a:pPr>
            <a:r>
              <a:rPr lang="ru-RU" sz="2200" dirty="0">
                <a:ea typeface="Calibri" panose="020F0502020204030204" pitchFamily="34" charset="0"/>
                <a:cs typeface="Times New Roman" panose="02020603050405020304" pitchFamily="18" charset="0"/>
              </a:rPr>
              <a:t>набор оцифрованных проиндексированных однотипных значений</a:t>
            </a:r>
          </a:p>
          <a:p>
            <a:pPr lvl="1">
              <a:lnSpc>
                <a:spcPct val="107000"/>
              </a:lnSpc>
            </a:pPr>
            <a:r>
              <a:rPr lang="ru-RU" sz="2200" dirty="0">
                <a:ea typeface="Calibri" panose="020F0502020204030204" pitchFamily="34" charset="0"/>
                <a:cs typeface="Times New Roman" panose="02020603050405020304" pitchFamily="18" charset="0"/>
              </a:rPr>
              <a:t>(часто полученных последовательно во времени с равномерным шагом)</a:t>
            </a:r>
          </a:p>
          <a:p>
            <a:pPr>
              <a:lnSpc>
                <a:spcPct val="107000"/>
              </a:lnSpc>
            </a:pPr>
            <a:r>
              <a:rPr lang="ru-RU" sz="2200" dirty="0">
                <a:ea typeface="Calibri" panose="020F0502020204030204" pitchFamily="34" charset="0"/>
                <a:cs typeface="Times New Roman" panose="02020603050405020304" pitchFamily="18" charset="0"/>
              </a:rPr>
              <a:t>каждый отсчет связан с предыдущими некоторой зависимостью (последовательностью). </a:t>
            </a:r>
          </a:p>
          <a:p>
            <a:pPr lvl="1"/>
            <a:r>
              <a:rPr lang="ru-RU" sz="2200" dirty="0"/>
              <a:t>Могут быть и другие варианты индексации или условно непрерывный ВР</a:t>
            </a:r>
          </a:p>
          <a:p>
            <a:r>
              <a:rPr lang="ru-RU" sz="2200" dirty="0"/>
              <a:t>например, показания датчиков, логи оборудования, цены на акции, отсчеты ЭКГ.</a:t>
            </a:r>
            <a:endParaRPr lang="en-US" sz="2200" dirty="0"/>
          </a:p>
        </p:txBody>
      </p:sp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DBA1FA70-A553-4CD1-E184-41BACC8EC5A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5C3B737-A709-4ABC-AFE0-A6B067850C48}" type="slidenum">
              <a:rPr lang="en-US" smtClean="0"/>
              <a:t>2</a:t>
            </a:fld>
            <a:endParaRPr lang="en-US"/>
          </a:p>
        </p:txBody>
      </p:sp>
      <p:sp>
        <p:nvSpPr>
          <p:cNvPr id="5" name="Rectangle 231">
            <a:extLst>
              <a:ext uri="{FF2B5EF4-FFF2-40B4-BE49-F238E27FC236}">
                <a16:creationId xmlns:a16="http://schemas.microsoft.com/office/drawing/2014/main" id="{57F50B8E-A23A-4154-9A0C-994DE115ACE6}"/>
              </a:ext>
            </a:extLst>
          </p:cNvPr>
          <p:cNvSpPr>
            <a:spLocks noChangeArrowheads="1"/>
          </p:cNvSpPr>
          <p:nvPr/>
        </p:nvSpPr>
        <p:spPr bwMode="auto">
          <a:xfrm>
            <a:off x="6167756" y="4477386"/>
            <a:ext cx="52071" cy="10795"/>
          </a:xfrm>
          <a:prstGeom prst="rect">
            <a:avLst/>
          </a:prstGeom>
          <a:solidFill>
            <a:srgbClr val="000000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rot="0" vert="horz" wrap="square" lIns="91440" tIns="45720" rIns="91440" bIns="45720" anchor="t" anchorCtr="0" upright="1">
            <a:noAutofit/>
          </a:bodyPr>
          <a:lstStyle/>
          <a:p>
            <a:endParaRPr lang="en-US" sz="1351"/>
          </a:p>
        </p:txBody>
      </p:sp>
      <p:sp>
        <p:nvSpPr>
          <p:cNvPr id="6" name="Rectangle 3">
            <a:extLst>
              <a:ext uri="{FF2B5EF4-FFF2-40B4-BE49-F238E27FC236}">
                <a16:creationId xmlns:a16="http://schemas.microsoft.com/office/drawing/2014/main" id="{66C52228-8C94-4CF2-AD63-BA9617333BA2}"/>
              </a:ext>
            </a:extLst>
          </p:cNvPr>
          <p:cNvSpPr>
            <a:spLocks noChangeArrowheads="1"/>
          </p:cNvSpPr>
          <p:nvPr/>
        </p:nvSpPr>
        <p:spPr bwMode="auto">
          <a:xfrm>
            <a:off x="-1523999" y="124999"/>
            <a:ext cx="184731" cy="677108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1400">
                <a:latin typeface="Arial" panose="020B0604020202020204" pitchFamily="34" charset="0"/>
                <a:ea typeface="Times New Roman" panose="02020603050405020304" pitchFamily="18" charset="0"/>
              </a:rPr>
              <a:t/>
            </a:r>
            <a:br>
              <a:rPr lang="en-US" altLang="en-US" sz="1400">
                <a:latin typeface="Arial" panose="020B0604020202020204" pitchFamily="34" charset="0"/>
                <a:ea typeface="Times New Roman" panose="02020603050405020304" pitchFamily="18" charset="0"/>
              </a:rPr>
            </a:br>
            <a:endParaRPr lang="en-US" altLang="en-US" sz="2400">
              <a:latin typeface="Arial" panose="020B0604020202020204" pitchFamily="34" charset="0"/>
            </a:endParaRPr>
          </a:p>
        </p:txBody>
      </p:sp>
      <p:pic>
        <p:nvPicPr>
          <p:cNvPr id="1026" name="Picture 2">
            <a:extLst>
              <a:ext uri="{FF2B5EF4-FFF2-40B4-BE49-F238E27FC236}">
                <a16:creationId xmlns:a16="http://schemas.microsoft.com/office/drawing/2014/main" id="{85287125-F823-0936-51D8-E03E1A92713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971692" y="3780052"/>
            <a:ext cx="4117992" cy="294142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10B1BD91-25FA-7E4C-22C5-89FFB831108B}"/>
              </a:ext>
            </a:extLst>
          </p:cNvPr>
          <p:cNvSpPr txBox="1"/>
          <p:nvPr/>
        </p:nvSpPr>
        <p:spPr>
          <a:xfrm>
            <a:off x="500251" y="3976770"/>
            <a:ext cx="6858000" cy="22082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 algn="l">
              <a:lnSpc>
                <a:spcPts val="2143"/>
              </a:lnSpc>
              <a:spcBef>
                <a:spcPts val="300"/>
              </a:spcBef>
              <a:buFont typeface="Arial" panose="020B0604020202020204" pitchFamily="34" charset="0"/>
              <a:buChar char="•"/>
            </a:pPr>
            <a:r>
              <a:rPr lang="ru-RU" b="0" i="0" dirty="0">
                <a:effectLst/>
              </a:rPr>
              <a:t>Эконометрические данные</a:t>
            </a:r>
          </a:p>
          <a:p>
            <a:pPr marL="285750" indent="-285750" algn="l">
              <a:lnSpc>
                <a:spcPts val="2143"/>
              </a:lnSpc>
              <a:spcBef>
                <a:spcPts val="300"/>
              </a:spcBef>
              <a:buFont typeface="Arial" panose="020B0604020202020204" pitchFamily="34" charset="0"/>
              <a:buChar char="•"/>
            </a:pPr>
            <a:r>
              <a:rPr lang="ru-RU" dirty="0" err="1"/>
              <a:t>Бизнесс</a:t>
            </a:r>
            <a:r>
              <a:rPr lang="ru-RU" dirty="0"/>
              <a:t>-данные</a:t>
            </a:r>
            <a:endParaRPr lang="ru-RU" b="0" i="0" dirty="0">
              <a:effectLst/>
            </a:endParaRPr>
          </a:p>
          <a:p>
            <a:pPr marL="285750" indent="-285750" algn="l">
              <a:lnSpc>
                <a:spcPts val="2143"/>
              </a:lnSpc>
              <a:spcBef>
                <a:spcPts val="300"/>
              </a:spcBef>
              <a:buFont typeface="Arial" panose="020B0604020202020204" pitchFamily="34" charset="0"/>
              <a:buChar char="•"/>
            </a:pPr>
            <a:r>
              <a:rPr lang="ru-RU" b="0" i="0" dirty="0">
                <a:effectLst/>
              </a:rPr>
              <a:t>Температура и давление в системах отопления.</a:t>
            </a:r>
          </a:p>
          <a:p>
            <a:pPr marL="285750" indent="-285750" algn="l">
              <a:lnSpc>
                <a:spcPts val="2143"/>
              </a:lnSpc>
              <a:spcBef>
                <a:spcPts val="300"/>
              </a:spcBef>
              <a:buFont typeface="Arial" panose="020B0604020202020204" pitchFamily="34" charset="0"/>
              <a:buChar char="•"/>
            </a:pPr>
            <a:r>
              <a:rPr lang="ru-RU" b="0" i="0" dirty="0">
                <a:effectLst/>
              </a:rPr>
              <a:t>Вибрация подшипников (</a:t>
            </a:r>
            <a:r>
              <a:rPr lang="en" b="0" i="0" dirty="0">
                <a:effectLst/>
              </a:rPr>
              <a:t>NASA Bearing Dataset).</a:t>
            </a:r>
          </a:p>
          <a:p>
            <a:pPr marL="285750" indent="-285750" algn="l">
              <a:lnSpc>
                <a:spcPts val="2143"/>
              </a:lnSpc>
              <a:spcBef>
                <a:spcPts val="300"/>
              </a:spcBef>
              <a:buFont typeface="Arial" panose="020B0604020202020204" pitchFamily="34" charset="0"/>
              <a:buChar char="•"/>
            </a:pPr>
            <a:r>
              <a:rPr lang="ru-RU" b="0" i="0" dirty="0">
                <a:effectLst/>
              </a:rPr>
              <a:t>Энергопотребление производственных линий.</a:t>
            </a:r>
          </a:p>
          <a:p>
            <a:pPr marL="285750" indent="-285750" algn="l">
              <a:lnSpc>
                <a:spcPts val="2143"/>
              </a:lnSpc>
              <a:spcBef>
                <a:spcPts val="300"/>
              </a:spcBef>
              <a:buFont typeface="Arial" panose="020B0604020202020204" pitchFamily="34" charset="0"/>
              <a:buChar char="•"/>
            </a:pPr>
            <a:r>
              <a:rPr lang="ru-RU" dirty="0"/>
              <a:t>Погодные данные</a:t>
            </a:r>
          </a:p>
          <a:p>
            <a:pPr marL="285750" indent="-285750" algn="l">
              <a:lnSpc>
                <a:spcPts val="2143"/>
              </a:lnSpc>
              <a:spcBef>
                <a:spcPts val="300"/>
              </a:spcBef>
              <a:buFont typeface="Arial" panose="020B0604020202020204" pitchFamily="34" charset="0"/>
              <a:buChar char="•"/>
            </a:pPr>
            <a:r>
              <a:rPr lang="ru-RU" b="0" i="0" dirty="0">
                <a:effectLst/>
              </a:rPr>
              <a:t>Поведение человека на </a:t>
            </a:r>
            <a:r>
              <a:rPr lang="ru-RU" dirty="0"/>
              <a:t>видеопоследовательности</a:t>
            </a:r>
            <a:endParaRPr lang="ru-RU" b="0" i="0" dirty="0">
              <a:effectLst/>
            </a:endParaRPr>
          </a:p>
        </p:txBody>
      </p:sp>
      <p:sp>
        <p:nvSpPr>
          <p:cNvPr id="7" name="Прямоугольник 6"/>
          <p:cNvSpPr/>
          <p:nvPr/>
        </p:nvSpPr>
        <p:spPr>
          <a:xfrm>
            <a:off x="53593" y="6430092"/>
            <a:ext cx="4322915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dirty="0"/>
              <a:t>https://otexts.com/fpppy/nbs/01-intro.html</a:t>
            </a:r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626076352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4D78DC2-D333-C7E2-D649-68C22A7D9BC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82BDDB2A-4FB0-3E02-DEB3-474E8FA4F46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64405" y="365126"/>
            <a:ext cx="11089395" cy="406056"/>
          </a:xfrm>
        </p:spPr>
        <p:txBody>
          <a:bodyPr>
            <a:normAutofit fontScale="90000"/>
          </a:bodyPr>
          <a:lstStyle/>
          <a:p>
            <a:r>
              <a:rPr lang="en-US" dirty="0" err="1"/>
              <a:t>Задач</a:t>
            </a:r>
            <a:r>
              <a:rPr lang="ru-RU" dirty="0"/>
              <a:t>и анализа временных рядов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4F695E7F-9513-7F32-B5E4-12AF62AE9CB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52401" y="870858"/>
            <a:ext cx="11089395" cy="3762558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ru-RU" sz="2200" b="1" dirty="0"/>
              <a:t>Прогнозирование</a:t>
            </a:r>
            <a:r>
              <a:rPr lang="ru-RU" sz="2200" dirty="0"/>
              <a:t> : </a:t>
            </a:r>
            <a:endParaRPr lang="en-US" sz="2200" dirty="0"/>
          </a:p>
          <a:p>
            <a:pPr lvl="1"/>
            <a:r>
              <a:rPr lang="ru-RU" sz="2200" dirty="0"/>
              <a:t>принятие решения о строительстве еще одной электростанции в течение следующих пяти лет требует прогнозов будущего спроса;</a:t>
            </a:r>
            <a:endParaRPr lang="en-US" sz="2200" dirty="0"/>
          </a:p>
          <a:p>
            <a:pPr lvl="1"/>
            <a:r>
              <a:rPr lang="ru-RU" sz="2200" dirty="0"/>
              <a:t> планирование персонала в </a:t>
            </a:r>
            <a:r>
              <a:rPr lang="ru-RU" sz="2200" dirty="0" err="1"/>
              <a:t>колл</a:t>
            </a:r>
            <a:r>
              <a:rPr lang="ru-RU" sz="2200" dirty="0"/>
              <a:t>-центре на следующую неделю требует прогнозов объемов звонков; </a:t>
            </a:r>
            <a:endParaRPr lang="en-US" sz="2200" dirty="0"/>
          </a:p>
          <a:p>
            <a:pPr lvl="1"/>
            <a:r>
              <a:rPr lang="ru-RU" sz="2200" dirty="0"/>
              <a:t>пополнение запасов требует прогнозов потребностей в запасах. </a:t>
            </a:r>
            <a:endParaRPr lang="en-US" sz="2200" dirty="0"/>
          </a:p>
          <a:p>
            <a:r>
              <a:rPr lang="ru-RU" sz="2200" dirty="0"/>
              <a:t>Прогнозы могут потребоваться на несколько лет вперед (в случае капиталовложений) или всего за несколько минут (для маршрутизации телекоммуникаций). </a:t>
            </a:r>
            <a:endParaRPr lang="en-US" sz="2200" dirty="0"/>
          </a:p>
          <a:p>
            <a:r>
              <a:rPr lang="ru-RU" sz="2200" dirty="0"/>
              <a:t>Независимо от обстоятельств или временных горизонтов прогнозирование является важным средством эффективного и действенного планирования.</a:t>
            </a:r>
          </a:p>
        </p:txBody>
      </p:sp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F963CD86-6C5A-B8D3-D0A5-67DF24A8CD7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5C3B737-A709-4ABC-AFE0-A6B067850C48}" type="slidenum">
              <a:rPr lang="en-US" smtClean="0"/>
              <a:t>3</a:t>
            </a:fld>
            <a:endParaRPr lang="en-US" dirty="0"/>
          </a:p>
        </p:txBody>
      </p:sp>
      <p:pic>
        <p:nvPicPr>
          <p:cNvPr id="1028" name="Picture 4">
            <a:extLst>
              <a:ext uri="{FF2B5EF4-FFF2-40B4-BE49-F238E27FC236}">
                <a16:creationId xmlns:a16="http://schemas.microsoft.com/office/drawing/2014/main" id="{9F203E61-EFA5-0D64-7DEC-DB928CAB24EE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52438"/>
          <a:stretch>
            <a:fillRect/>
          </a:stretch>
        </p:blipFill>
        <p:spPr bwMode="auto">
          <a:xfrm>
            <a:off x="264405" y="4733092"/>
            <a:ext cx="6205279" cy="173326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C70752DD-73A9-5A7B-B8CB-6A0B5EB62FB7}"/>
              </a:ext>
            </a:extLst>
          </p:cNvPr>
          <p:cNvSpPr txBox="1"/>
          <p:nvPr/>
        </p:nvSpPr>
        <p:spPr>
          <a:xfrm>
            <a:off x="534539" y="6381368"/>
            <a:ext cx="6093724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dirty="0" err="1"/>
              <a:t>https</a:t>
            </a:r>
            <a:r>
              <a:rPr lang="ru-RU" dirty="0"/>
              <a:t>://</a:t>
            </a:r>
            <a:r>
              <a:rPr lang="ru-RU" dirty="0" err="1"/>
              <a:t>juanitorduz.github.io</a:t>
            </a:r>
            <a:r>
              <a:rPr lang="ru-RU" dirty="0"/>
              <a:t>/</a:t>
            </a:r>
            <a:r>
              <a:rPr lang="ru-RU" dirty="0" err="1"/>
              <a:t>electricity_forecast</a:t>
            </a:r>
            <a:r>
              <a:rPr lang="ru-RU" dirty="0"/>
              <a:t>/</a:t>
            </a:r>
          </a:p>
        </p:txBody>
      </p:sp>
      <p:pic>
        <p:nvPicPr>
          <p:cNvPr id="1030" name="Picture 6" descr="Dataset image">
            <a:extLst>
              <a:ext uri="{FF2B5EF4-FFF2-40B4-BE49-F238E27FC236}">
                <a16:creationId xmlns:a16="http://schemas.microsoft.com/office/drawing/2014/main" id="{5647C96F-5494-1E1F-EA63-79D0D042F2F6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6597" b="23235"/>
          <a:stretch>
            <a:fillRect/>
          </a:stretch>
        </p:blipFill>
        <p:spPr bwMode="auto">
          <a:xfrm>
            <a:off x="6898397" y="4633666"/>
            <a:ext cx="3872932" cy="174770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D5F1E524-3A05-F082-03B6-204354A5DF09}"/>
              </a:ext>
            </a:extLst>
          </p:cNvPr>
          <p:cNvSpPr txBox="1"/>
          <p:nvPr/>
        </p:nvSpPr>
        <p:spPr>
          <a:xfrm>
            <a:off x="6469684" y="6467559"/>
            <a:ext cx="5819222" cy="25391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" sz="1050" dirty="0"/>
              <a:t>https://</a:t>
            </a:r>
            <a:r>
              <a:rPr lang="en" sz="1050" dirty="0" err="1"/>
              <a:t>ieee-dataport.org</a:t>
            </a:r>
            <a:r>
              <a:rPr lang="en" sz="1050" dirty="0"/>
              <a:t>/documents/iot-time-series-traffic-data-smart-city-ehealth-and-smart-factory</a:t>
            </a:r>
            <a:endParaRPr lang="ru-RU" sz="1050" dirty="0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1611DA53-2FA6-3AE6-270F-8AEB3A671266}"/>
              </a:ext>
            </a:extLst>
          </p:cNvPr>
          <p:cNvSpPr txBox="1"/>
          <p:nvPr/>
        </p:nvSpPr>
        <p:spPr>
          <a:xfrm>
            <a:off x="7342496" y="4393396"/>
            <a:ext cx="3857546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en" b="0" i="0" dirty="0">
                <a:solidFill>
                  <a:srgbClr val="E37222"/>
                </a:solidFill>
                <a:effectLst/>
                <a:latin typeface="Open Sans" panose="020B0606030504020204" pitchFamily="34" charset="0"/>
              </a:rPr>
              <a:t>Traffic Data: Smart City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F833267B-C094-BAAF-BDB1-141562DD1815}"/>
              </a:ext>
            </a:extLst>
          </p:cNvPr>
          <p:cNvSpPr txBox="1"/>
          <p:nvPr/>
        </p:nvSpPr>
        <p:spPr>
          <a:xfrm>
            <a:off x="2238454" y="4423975"/>
            <a:ext cx="3857546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en" b="0" i="0" dirty="0">
                <a:solidFill>
                  <a:srgbClr val="E37222"/>
                </a:solidFill>
                <a:effectLst/>
                <a:latin typeface="Open Sans" panose="020B0606030504020204" pitchFamily="34" charset="0"/>
              </a:rPr>
              <a:t>Australia Electricity demand</a:t>
            </a:r>
          </a:p>
        </p:txBody>
      </p:sp>
    </p:spTree>
    <p:extLst>
      <p:ext uri="{BB962C8B-B14F-4D97-AF65-F5344CB8AC3E}">
        <p14:creationId xmlns:p14="http://schemas.microsoft.com/office/powerpoint/2010/main" val="407681913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7872818F-8031-6E84-DC23-A3A3B1BB851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64405" y="365126"/>
            <a:ext cx="11089395" cy="406056"/>
          </a:xfrm>
        </p:spPr>
        <p:txBody>
          <a:bodyPr>
            <a:normAutofit fontScale="90000"/>
          </a:bodyPr>
          <a:lstStyle/>
          <a:p>
            <a:r>
              <a:rPr lang="ru-RU" dirty="0"/>
              <a:t>Особенности з</a:t>
            </a:r>
            <a:r>
              <a:rPr lang="en-US" dirty="0" err="1"/>
              <a:t>адач</a:t>
            </a:r>
            <a:r>
              <a:rPr lang="ru-RU" dirty="0"/>
              <a:t>и анализа временных рядов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DFF36E35-2AFB-9EA9-8E81-FF42509ECF3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65253" y="980502"/>
            <a:ext cx="11612765" cy="5618602"/>
          </a:xfrm>
        </p:spPr>
        <p:txBody>
          <a:bodyPr>
            <a:noAutofit/>
          </a:bodyPr>
          <a:lstStyle/>
          <a:p>
            <a:pPr marL="0" indent="0" fontAlgn="base">
              <a:buNone/>
            </a:pPr>
            <a:r>
              <a:rPr lang="ru-RU" sz="2200" b="1" dirty="0"/>
              <a:t>Особенности временных рядов:</a:t>
            </a:r>
            <a:endParaRPr lang="ru-RU" sz="2200" dirty="0"/>
          </a:p>
          <a:p>
            <a:pPr lvl="1" fontAlgn="base"/>
            <a:r>
              <a:rPr lang="ru-RU" sz="2200" dirty="0"/>
              <a:t>упорядоченность во времени (хронологический порядок);</a:t>
            </a:r>
          </a:p>
          <a:p>
            <a:pPr lvl="1" fontAlgn="base"/>
            <a:r>
              <a:rPr lang="ru-RU" sz="2200" dirty="0"/>
              <a:t>зависимость от прошлого (“память”, серийная или автокорреляция);</a:t>
            </a:r>
          </a:p>
          <a:p>
            <a:pPr lvl="1" fontAlgn="base"/>
            <a:r>
              <a:rPr lang="ru-RU" sz="2200" dirty="0"/>
              <a:t>различаются краткосрочные и долгосрочные зависимости и модели;</a:t>
            </a:r>
          </a:p>
          <a:p>
            <a:pPr lvl="1" fontAlgn="base"/>
            <a:r>
              <a:rPr lang="ru-RU" sz="2200" dirty="0"/>
              <a:t>часто встречается феномен “ложной регрессии”;</a:t>
            </a:r>
          </a:p>
          <a:p>
            <a:pPr lvl="1" fontAlgn="base"/>
            <a:r>
              <a:rPr lang="ru-RU" sz="2200" dirty="0"/>
              <a:t>бывает небольшое число </a:t>
            </a:r>
            <a:r>
              <a:rPr lang="ru-RU" sz="2200" dirty="0" smtClean="0"/>
              <a:t>эффективных наблюдений </a:t>
            </a:r>
            <a:r>
              <a:rPr lang="ru-RU" sz="2200" dirty="0"/>
              <a:t>(как правило при работе с </a:t>
            </a:r>
            <a:r>
              <a:rPr lang="ru-RU" sz="2200" dirty="0" err="1"/>
              <a:t>макроданными</a:t>
            </a:r>
            <a:r>
              <a:rPr lang="ru-RU" sz="2200" dirty="0"/>
              <a:t>), которое невозможно увеличить (т.к. изменяется вид или структура зависимости).</a:t>
            </a:r>
          </a:p>
          <a:p>
            <a:pPr marL="0" indent="0">
              <a:buNone/>
            </a:pPr>
            <a:r>
              <a:rPr lang="ru-RU" sz="2200" b="1" dirty="0"/>
              <a:t>Предсказуемость события или их количества зависит от нескольких факторов, включая</a:t>
            </a:r>
            <a:r>
              <a:rPr lang="ru-RU" sz="2200" dirty="0"/>
              <a:t>:</a:t>
            </a:r>
          </a:p>
          <a:p>
            <a:pPr lvl="1"/>
            <a:r>
              <a:rPr lang="ru-RU" sz="2200" dirty="0"/>
              <a:t>насколько хорошо мы понимаем факторы, способствующие этому;</a:t>
            </a:r>
          </a:p>
          <a:p>
            <a:pPr lvl="1"/>
            <a:r>
              <a:rPr lang="ru-RU" sz="2200" dirty="0"/>
              <a:t>какой объем данных доступен;</a:t>
            </a:r>
          </a:p>
          <a:p>
            <a:pPr lvl="1"/>
            <a:r>
              <a:rPr lang="ru-RU" sz="2200" dirty="0"/>
              <a:t>насколько будущее похоже на прошлое;</a:t>
            </a:r>
          </a:p>
          <a:p>
            <a:pPr lvl="1"/>
            <a:r>
              <a:rPr lang="ru-RU" sz="2200" dirty="0"/>
              <a:t>могут ли прогнозы повлиять на то, что мы пытаемся прогнозировать.</a:t>
            </a:r>
          </a:p>
        </p:txBody>
      </p:sp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E84D282F-C4E3-E1C3-30C2-35BB0919C43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5C3B737-A709-4ABC-AFE0-A6B067850C48}" type="slidenum">
              <a:rPr lang="en-US" smtClean="0"/>
              <a:t>4</a:t>
            </a:fld>
            <a:endParaRPr lang="en-US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658E892B-9047-E565-4C62-BC1837F832C2}"/>
              </a:ext>
            </a:extLst>
          </p:cNvPr>
          <p:cNvSpPr txBox="1"/>
          <p:nvPr/>
        </p:nvSpPr>
        <p:spPr>
          <a:xfrm>
            <a:off x="0" y="6308208"/>
            <a:ext cx="6093724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dirty="0" err="1"/>
              <a:t>https</a:t>
            </a:r>
            <a:r>
              <a:rPr lang="ru-RU" dirty="0"/>
              <a:t>://</a:t>
            </a:r>
            <a:r>
              <a:rPr lang="ru-RU" dirty="0" err="1"/>
              <a:t>otexts.com</a:t>
            </a:r>
            <a:r>
              <a:rPr lang="ru-RU" dirty="0"/>
              <a:t>/</a:t>
            </a:r>
            <a:r>
              <a:rPr lang="ru-RU" dirty="0" err="1"/>
              <a:t>fpppy</a:t>
            </a:r>
            <a:r>
              <a:rPr lang="ru-RU" dirty="0"/>
              <a:t>/</a:t>
            </a:r>
            <a:r>
              <a:rPr lang="ru-RU" dirty="0" err="1"/>
              <a:t>nbs</a:t>
            </a:r>
            <a:r>
              <a:rPr lang="ru-RU" dirty="0"/>
              <a:t>/01-intro.html</a:t>
            </a:r>
          </a:p>
        </p:txBody>
      </p:sp>
      <p:sp>
        <p:nvSpPr>
          <p:cNvPr id="5" name="Прямоугольник 4"/>
          <p:cNvSpPr/>
          <p:nvPr/>
        </p:nvSpPr>
        <p:spPr>
          <a:xfrm>
            <a:off x="4823012" y="6075144"/>
            <a:ext cx="6096000" cy="646331"/>
          </a:xfrm>
          <a:prstGeom prst="rect">
            <a:avLst/>
          </a:prstGeom>
        </p:spPr>
        <p:txBody>
          <a:bodyPr>
            <a:spAutoFit/>
          </a:bodyPr>
          <a:lstStyle/>
          <a:p>
            <a:r>
              <a:rPr lang="ru-RU" dirty="0"/>
              <a:t>https://</a:t>
            </a:r>
            <a:r>
              <a:rPr lang="ru-RU" dirty="0" smtClean="0"/>
              <a:t>ivan-shamaev.ru/time-series-analysis-forecasting-and-models-python-libraries</a:t>
            </a:r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3917883388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28929C9-3647-ECCA-37A5-642C4DE17C7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2E96F970-810F-6AA9-4929-311EC9A96B7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56613" y="288285"/>
            <a:ext cx="11089395" cy="1054241"/>
          </a:xfrm>
        </p:spPr>
        <p:txBody>
          <a:bodyPr>
            <a:normAutofit fontScale="90000"/>
          </a:bodyPr>
          <a:lstStyle/>
          <a:p>
            <a:pPr algn="ctr"/>
            <a:r>
              <a:rPr lang="ru-RU" dirty="0" smtClean="0"/>
              <a:t>Краткосрочные </a:t>
            </a:r>
            <a:r>
              <a:rPr lang="ru-RU" dirty="0"/>
              <a:t>прогнозы спроса на электроэнергию в жилых домах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078540B2-B500-9CBE-3471-185DD8ADA24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4927" y="1438211"/>
            <a:ext cx="11612765" cy="5618602"/>
          </a:xfrm>
        </p:spPr>
        <p:txBody>
          <a:bodyPr>
            <a:noAutofit/>
          </a:bodyPr>
          <a:lstStyle/>
          <a:p>
            <a:pPr marL="92075" lvl="1" indent="0">
              <a:lnSpc>
                <a:spcPct val="100000"/>
              </a:lnSpc>
              <a:spcBef>
                <a:spcPts val="200"/>
              </a:spcBef>
              <a:buNone/>
            </a:pPr>
            <a:r>
              <a:rPr lang="ru-RU" sz="2200" b="1" dirty="0"/>
              <a:t>Особенности</a:t>
            </a:r>
          </a:p>
          <a:p>
            <a:pPr marL="446088" lvl="1">
              <a:lnSpc>
                <a:spcPct val="100000"/>
              </a:lnSpc>
              <a:spcBef>
                <a:spcPts val="200"/>
              </a:spcBef>
            </a:pPr>
            <a:r>
              <a:rPr lang="ru-RU" sz="2200" dirty="0"/>
              <a:t>Имеются монолитнее данные на спроса на электроэнергию, </a:t>
            </a:r>
          </a:p>
          <a:p>
            <a:pPr marL="446088" lvl="1">
              <a:lnSpc>
                <a:spcPct val="100000"/>
              </a:lnSpc>
              <a:spcBef>
                <a:spcPts val="200"/>
              </a:spcBef>
            </a:pPr>
            <a:r>
              <a:rPr lang="ru-RU" sz="2200" dirty="0"/>
              <a:t>известно, что  спрос на электроэнергию в основном определяется температурой.</a:t>
            </a:r>
          </a:p>
          <a:p>
            <a:pPr marL="446088" lvl="1">
              <a:lnSpc>
                <a:spcPct val="100000"/>
              </a:lnSpc>
              <a:spcBef>
                <a:spcPts val="200"/>
              </a:spcBef>
            </a:pPr>
            <a:r>
              <a:rPr lang="ru-RU" sz="2200" dirty="0"/>
              <a:t>При краткосрочном прогнозировании (до нескольких недель) можно с уверенностью предположить, что динамика спроса будет аналогична той, что наблюдалась в прошлом.</a:t>
            </a:r>
          </a:p>
          <a:p>
            <a:pPr marL="446088" lvl="1">
              <a:lnSpc>
                <a:spcPct val="100000"/>
              </a:lnSpc>
              <a:spcBef>
                <a:spcPts val="200"/>
              </a:spcBef>
            </a:pPr>
            <a:r>
              <a:rPr lang="ru-RU" sz="2200" dirty="0"/>
              <a:t>Для большинства бытовых потребителей цена</a:t>
            </a:r>
            <a:br>
              <a:rPr lang="ru-RU" sz="2200" dirty="0"/>
            </a:br>
            <a:r>
              <a:rPr lang="ru-RU" sz="2200" dirty="0"/>
              <a:t> на электроэнергию не зависит от спроса, </a:t>
            </a:r>
            <a:br>
              <a:rPr lang="ru-RU" sz="2200" dirty="0"/>
            </a:br>
            <a:r>
              <a:rPr lang="ru-RU" sz="2200" dirty="0"/>
              <a:t>поэтому допустимы ошибки оценки и </a:t>
            </a:r>
            <a:br>
              <a:rPr lang="ru-RU" sz="2200" dirty="0"/>
            </a:br>
            <a:r>
              <a:rPr lang="ru-RU" sz="2200" dirty="0"/>
              <a:t>они будут не критичны.</a:t>
            </a:r>
          </a:p>
        </p:txBody>
      </p:sp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3BB4D098-5A41-1C13-12BA-50D0174A6D2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5C3B737-A709-4ABC-AFE0-A6B067850C48}" type="slidenum">
              <a:rPr lang="en-US" smtClean="0"/>
              <a:t>5</a:t>
            </a:fld>
            <a:endParaRPr lang="en-US"/>
          </a:p>
        </p:txBody>
      </p:sp>
      <p:pic>
        <p:nvPicPr>
          <p:cNvPr id="5" name="Рисунок 4">
            <a:extLst>
              <a:ext uri="{FF2B5EF4-FFF2-40B4-BE49-F238E27FC236}">
                <a16:creationId xmlns:a16="http://schemas.microsoft.com/office/drawing/2014/main" id="{565D7273-3DEB-F512-3362-9FA5647D37E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58977" y="3387530"/>
            <a:ext cx="5577003" cy="3333945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54586ED7-6D7D-151D-3200-3883E9CA5561}"/>
              </a:ext>
            </a:extLst>
          </p:cNvPr>
          <p:cNvSpPr txBox="1"/>
          <p:nvPr/>
        </p:nvSpPr>
        <p:spPr>
          <a:xfrm>
            <a:off x="165253" y="6354247"/>
            <a:ext cx="6093724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dirty="0" err="1"/>
              <a:t>https</a:t>
            </a:r>
            <a:r>
              <a:rPr lang="ru-RU" dirty="0"/>
              <a:t>://</a:t>
            </a:r>
            <a:r>
              <a:rPr lang="ru-RU" dirty="0" err="1"/>
              <a:t>otexts.com</a:t>
            </a:r>
            <a:r>
              <a:rPr lang="ru-RU" dirty="0"/>
              <a:t>/</a:t>
            </a:r>
            <a:r>
              <a:rPr lang="ru-RU" dirty="0" err="1"/>
              <a:t>fpppy</a:t>
            </a:r>
            <a:r>
              <a:rPr lang="ru-RU" dirty="0"/>
              <a:t>/</a:t>
            </a:r>
            <a:r>
              <a:rPr lang="ru-RU" dirty="0" err="1"/>
              <a:t>nbs</a:t>
            </a:r>
            <a:r>
              <a:rPr lang="ru-RU" dirty="0"/>
              <a:t>/01-intro.html</a:t>
            </a:r>
          </a:p>
        </p:txBody>
      </p:sp>
    </p:spTree>
    <p:extLst>
      <p:ext uri="{BB962C8B-B14F-4D97-AF65-F5344CB8AC3E}">
        <p14:creationId xmlns:p14="http://schemas.microsoft.com/office/powerpoint/2010/main" val="3140890401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285DD00-4162-72E8-6D4D-6DD1FE435D2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58572871-B133-4717-74BB-D0D92CEE91B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64405" y="365126"/>
            <a:ext cx="11089395" cy="406056"/>
          </a:xfrm>
        </p:spPr>
        <p:txBody>
          <a:bodyPr>
            <a:normAutofit fontScale="90000"/>
          </a:bodyPr>
          <a:lstStyle/>
          <a:p>
            <a:r>
              <a:rPr lang="ru-RU" dirty="0"/>
              <a:t>Прогнозирование курсов валют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ACAEA3E3-D6F7-908A-9B35-EF11148B10C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65253" y="980502"/>
            <a:ext cx="11188547" cy="5618602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ru-RU" sz="2200" dirty="0"/>
              <a:t>выполняется только одно из условий: имеется множество доступных данных. </a:t>
            </a:r>
          </a:p>
          <a:p>
            <a:pPr marL="0" indent="0">
              <a:buNone/>
            </a:pPr>
            <a:r>
              <a:rPr lang="ru-RU" sz="2200" dirty="0"/>
              <a:t>Однако </a:t>
            </a:r>
          </a:p>
          <a:p>
            <a:r>
              <a:rPr lang="ru-RU" sz="2200" dirty="0"/>
              <a:t>ограниченное понимание факторов, влияющих на курсы валют, </a:t>
            </a:r>
          </a:p>
          <a:p>
            <a:r>
              <a:rPr lang="ru-RU" sz="2200" dirty="0"/>
              <a:t>будущее может отличаться от прошлого (напр. Природная катастрофа) </a:t>
            </a:r>
          </a:p>
          <a:p>
            <a:r>
              <a:rPr lang="ru-RU" sz="2200" dirty="0"/>
              <a:t>прогнозы курса валют оказывают прямое влияние на сами курсы. Если известно, что курс валют вырастет, все будут покупать валюту и она стабилизируется. В некотором смысле курсы валют становятся их собственными прогнозами. Это пример «гипотезы эффективного рынка».  </a:t>
            </a:r>
          </a:p>
        </p:txBody>
      </p:sp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5A76733A-AE85-7115-ED56-57F98A97AED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5C3B737-A709-4ABC-AFE0-A6B067850C48}" type="slidenum">
              <a:rPr lang="en-US" smtClean="0"/>
              <a:t>6</a:t>
            </a:fld>
            <a:endParaRPr lang="en-US"/>
          </a:p>
        </p:txBody>
      </p:sp>
      <p:sp>
        <p:nvSpPr>
          <p:cNvPr id="5" name="AutoShape 2">
            <a:extLst>
              <a:ext uri="{FF2B5EF4-FFF2-40B4-BE49-F238E27FC236}">
                <a16:creationId xmlns:a16="http://schemas.microsoft.com/office/drawing/2014/main" id="{A3D96E57-DDB7-1CA5-182E-CFBCDD12A7F8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327660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ru-RU"/>
          </a:p>
        </p:txBody>
      </p:sp>
      <p:sp>
        <p:nvSpPr>
          <p:cNvPr id="6" name="AutoShape 4">
            <a:extLst>
              <a:ext uri="{FF2B5EF4-FFF2-40B4-BE49-F238E27FC236}">
                <a16:creationId xmlns:a16="http://schemas.microsoft.com/office/drawing/2014/main" id="{E99C0464-1479-106F-B240-07FBE61F9D9F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ru-RU"/>
          </a:p>
        </p:txBody>
      </p:sp>
      <p:sp>
        <p:nvSpPr>
          <p:cNvPr id="7" name="AutoShape 6">
            <a:extLst>
              <a:ext uri="{FF2B5EF4-FFF2-40B4-BE49-F238E27FC236}">
                <a16:creationId xmlns:a16="http://schemas.microsoft.com/office/drawing/2014/main" id="{690B2A94-FA6A-5A54-E359-1E4F2B921AE1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248400" y="358140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ru-RU"/>
          </a:p>
        </p:txBody>
      </p:sp>
      <p:pic>
        <p:nvPicPr>
          <p:cNvPr id="8" name="Рисунок 7">
            <a:extLst>
              <a:ext uri="{FF2B5EF4-FFF2-40B4-BE49-F238E27FC236}">
                <a16:creationId xmlns:a16="http://schemas.microsoft.com/office/drawing/2014/main" id="{8A80686E-36B9-9F99-7F63-A4453130BA1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92544" y="3977868"/>
            <a:ext cx="5021722" cy="2514432"/>
          </a:xfrm>
          <a:prstGeom prst="rect">
            <a:avLst/>
          </a:prstGeom>
        </p:spPr>
      </p:pic>
      <p:pic>
        <p:nvPicPr>
          <p:cNvPr id="10" name="Рисунок 9">
            <a:extLst>
              <a:ext uri="{FF2B5EF4-FFF2-40B4-BE49-F238E27FC236}">
                <a16:creationId xmlns:a16="http://schemas.microsoft.com/office/drawing/2014/main" id="{428FA815-37BB-E70B-E267-899F6B6DCDC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943600" y="4038600"/>
            <a:ext cx="4880866" cy="2462158"/>
          </a:xfrm>
          <a:prstGeom prst="rect">
            <a:avLst/>
          </a:prstGeom>
        </p:spPr>
      </p:pic>
      <p:sp>
        <p:nvSpPr>
          <p:cNvPr id="12" name="TextBox 11">
            <a:extLst>
              <a:ext uri="{FF2B5EF4-FFF2-40B4-BE49-F238E27FC236}">
                <a16:creationId xmlns:a16="http://schemas.microsoft.com/office/drawing/2014/main" id="{5D81EF11-DE95-FA84-6784-821F22F1F524}"/>
              </a:ext>
            </a:extLst>
          </p:cNvPr>
          <p:cNvSpPr txBox="1"/>
          <p:nvPr/>
        </p:nvSpPr>
        <p:spPr>
          <a:xfrm>
            <a:off x="459476" y="6492300"/>
            <a:ext cx="6093724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sz="1600" dirty="0" err="1"/>
              <a:t>https</a:t>
            </a:r>
            <a:r>
              <a:rPr lang="ru-RU" sz="1600" dirty="0"/>
              <a:t>://</a:t>
            </a:r>
            <a:r>
              <a:rPr lang="ru-RU" sz="1600" dirty="0" err="1"/>
              <a:t>otexts.com</a:t>
            </a:r>
            <a:r>
              <a:rPr lang="ru-RU" sz="1600" dirty="0"/>
              <a:t>/</a:t>
            </a:r>
            <a:r>
              <a:rPr lang="ru-RU" sz="1600" dirty="0" err="1"/>
              <a:t>fpppy</a:t>
            </a:r>
            <a:r>
              <a:rPr lang="ru-RU" sz="1600" dirty="0"/>
              <a:t>/</a:t>
            </a:r>
            <a:r>
              <a:rPr lang="ru-RU" sz="1600" dirty="0" err="1"/>
              <a:t>nbs</a:t>
            </a:r>
            <a:r>
              <a:rPr lang="ru-RU" sz="1600" dirty="0"/>
              <a:t>/01-intro.html</a:t>
            </a:r>
          </a:p>
        </p:txBody>
      </p:sp>
    </p:spTree>
    <p:extLst>
      <p:ext uri="{BB962C8B-B14F-4D97-AF65-F5344CB8AC3E}">
        <p14:creationId xmlns:p14="http://schemas.microsoft.com/office/powerpoint/2010/main" val="3021764338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ECE500F2-C550-ECDE-88F7-3A865A85EE2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19100" y="365126"/>
            <a:ext cx="10934700" cy="692150"/>
          </a:xfrm>
        </p:spPr>
        <p:txBody>
          <a:bodyPr>
            <a:normAutofit fontScale="90000"/>
          </a:bodyPr>
          <a:lstStyle/>
          <a:p>
            <a:r>
              <a:rPr lang="ru-RU" dirty="0"/>
              <a:t>Применения ВР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1A4BF18D-4A68-07A0-A9F7-B3CF1688256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14400" y="1197662"/>
            <a:ext cx="10515600" cy="4255686"/>
          </a:xfrm>
        </p:spPr>
        <p:txBody>
          <a:bodyPr>
            <a:normAutofit fontScale="70000" lnSpcReduction="20000"/>
          </a:bodyPr>
          <a:lstStyle/>
          <a:p>
            <a:pPr>
              <a:lnSpc>
                <a:spcPct val="120000"/>
              </a:lnSpc>
            </a:pPr>
            <a:r>
              <a:rPr lang="ru-RU" b="1" dirty="0"/>
              <a:t>Экономический и финансовый анализ</a:t>
            </a:r>
            <a:r>
              <a:rPr lang="ru-RU" dirty="0"/>
              <a:t>: понимание экономических показателей и финансовых рынков, что позволяет получить представление об управлении рисками и стратегическом планировании. </a:t>
            </a:r>
            <a:endParaRPr lang="en-US" dirty="0"/>
          </a:p>
          <a:p>
            <a:pPr>
              <a:lnSpc>
                <a:spcPct val="120000"/>
              </a:lnSpc>
            </a:pPr>
            <a:r>
              <a:rPr lang="ru-RU" b="1" dirty="0"/>
              <a:t>Исследовательский естественно-научный (физические эксперименты, метеонаблюдения, экология и </a:t>
            </a:r>
            <a:r>
              <a:rPr lang="ru-RU" b="1" dirty="0" err="1"/>
              <a:t>тд</a:t>
            </a:r>
            <a:r>
              <a:rPr lang="ru-RU" b="1" dirty="0"/>
              <a:t>)</a:t>
            </a:r>
            <a:r>
              <a:rPr lang="ru-RU" dirty="0"/>
              <a:t>: Проводите непрерывный мониторинг окружающей среды и оценивайте климатические риски, что помогает понять долгосрочные тенденции и риски.</a:t>
            </a:r>
            <a:endParaRPr lang="en-US" dirty="0"/>
          </a:p>
          <a:p>
            <a:pPr>
              <a:lnSpc>
                <a:spcPct val="120000"/>
              </a:lnSpc>
            </a:pPr>
            <a:r>
              <a:rPr lang="en-US" b="1" dirty="0" err="1"/>
              <a:t>Диаг</a:t>
            </a:r>
            <a:r>
              <a:rPr lang="ru-RU" b="1" dirty="0" err="1"/>
              <a:t>ностика</a:t>
            </a:r>
            <a:r>
              <a:rPr lang="ru-RU" b="1" dirty="0"/>
              <a:t> в производстве</a:t>
            </a:r>
            <a:r>
              <a:rPr lang="ru-RU" dirty="0"/>
              <a:t>: прогнозируйте сбои оборудования и оптимизируйте графики технического обслуживания, сокращая время простоя и эксплуатационные расходы. </a:t>
            </a:r>
          </a:p>
          <a:p>
            <a:pPr>
              <a:lnSpc>
                <a:spcPct val="120000"/>
              </a:lnSpc>
            </a:pPr>
            <a:r>
              <a:rPr lang="ru-RU" b="1" dirty="0"/>
              <a:t>Обработка сигналов (медицина, геология, локация)</a:t>
            </a:r>
            <a:r>
              <a:rPr lang="ru-RU" dirty="0"/>
              <a:t>: Интерпретируйте сигналы от устройств связи, Интернета вещей, датчиков и систем технического обслуживания для повышения производительности, обнаружения аномалий и повышения надежности.</a:t>
            </a:r>
          </a:p>
        </p:txBody>
      </p:sp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950C2AE1-D20B-8334-CD40-34225DB1C55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5C3B737-A709-4ABC-AFE0-A6B067850C48}" type="slidenum">
              <a:rPr lang="en-US" smtClean="0"/>
              <a:t>7</a:t>
            </a:fld>
            <a:endParaRPr lang="en-US"/>
          </a:p>
        </p:txBody>
      </p:sp>
      <p:pic>
        <p:nvPicPr>
          <p:cNvPr id="10" name="Рисунок 9">
            <a:extLst>
              <a:ext uri="{FF2B5EF4-FFF2-40B4-BE49-F238E27FC236}">
                <a16:creationId xmlns:a16="http://schemas.microsoft.com/office/drawing/2014/main" id="{D261180A-3B0C-D7C0-E9DC-BA4A6940867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-9525" y="1197662"/>
            <a:ext cx="912125" cy="3534483"/>
          </a:xfrm>
          <a:prstGeom prst="rect">
            <a:avLst/>
          </a:prstGeom>
        </p:spPr>
      </p:pic>
      <p:sp>
        <p:nvSpPr>
          <p:cNvPr id="12" name="TextBox 11">
            <a:extLst>
              <a:ext uri="{FF2B5EF4-FFF2-40B4-BE49-F238E27FC236}">
                <a16:creationId xmlns:a16="http://schemas.microsoft.com/office/drawing/2014/main" id="{9E4C9845-9193-FFFA-E436-2F5E41EFC2C1}"/>
              </a:ext>
            </a:extLst>
          </p:cNvPr>
          <p:cNvSpPr txBox="1"/>
          <p:nvPr/>
        </p:nvSpPr>
        <p:spPr>
          <a:xfrm>
            <a:off x="735376" y="6398309"/>
            <a:ext cx="7593376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dirty="0" err="1"/>
              <a:t>https</a:t>
            </a:r>
            <a:r>
              <a:rPr lang="ru-RU" dirty="0"/>
              <a:t>://</a:t>
            </a:r>
            <a:r>
              <a:rPr lang="ru-RU" dirty="0" err="1"/>
              <a:t>www.mathworks.com</a:t>
            </a:r>
            <a:r>
              <a:rPr lang="ru-RU" dirty="0"/>
              <a:t>/</a:t>
            </a:r>
            <a:r>
              <a:rPr lang="ru-RU" dirty="0" err="1"/>
              <a:t>discovery</a:t>
            </a:r>
            <a:r>
              <a:rPr lang="ru-RU" dirty="0"/>
              <a:t>/</a:t>
            </a:r>
            <a:r>
              <a:rPr lang="ru-RU" dirty="0" err="1"/>
              <a:t>time-series-analysis.html</a:t>
            </a:r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2318683108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C8BA1F3E-CEB0-CC7C-D712-4E57B92A1BA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70863" y="247927"/>
            <a:ext cx="10515600" cy="1325563"/>
          </a:xfrm>
        </p:spPr>
        <p:txBody>
          <a:bodyPr/>
          <a:lstStyle/>
          <a:p>
            <a:r>
              <a:rPr lang="ru-RU" b="1" dirty="0"/>
              <a:t>Примеры</a:t>
            </a:r>
            <a:endParaRPr lang="ru-RU" dirty="0"/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09F00124-A180-84AC-986F-7027F931180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ru-RU" dirty="0"/>
              <a:t>01 Введение во ВР.</a:t>
            </a:r>
            <a:r>
              <a:rPr lang="en" dirty="0"/>
              <a:t>pptx</a:t>
            </a:r>
            <a:endParaRPr lang="ru-RU" dirty="0"/>
          </a:p>
        </p:txBody>
      </p:sp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A222A1EF-CF12-1044-A445-B4D73994535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5C3B737-A709-4ABC-AFE0-A6B067850C48}" type="slidenum">
              <a:rPr lang="en-US" smtClean="0"/>
              <a:t>8</a:t>
            </a:fld>
            <a:endParaRPr lang="en-US"/>
          </a:p>
        </p:txBody>
      </p:sp>
      <p:pic>
        <p:nvPicPr>
          <p:cNvPr id="5122" name="Picture 2">
            <a:extLst>
              <a:ext uri="{FF2B5EF4-FFF2-40B4-BE49-F238E27FC236}">
                <a16:creationId xmlns:a16="http://schemas.microsoft.com/office/drawing/2014/main" id="{91E5E0C5-FD0A-5554-03F3-B02B5CF913F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419674" y="974892"/>
            <a:ext cx="6381852" cy="195942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D6396E60-A3E8-2964-2BA6-0EE308E55D30}"/>
              </a:ext>
            </a:extLst>
          </p:cNvPr>
          <p:cNvSpPr txBox="1"/>
          <p:nvPr/>
        </p:nvSpPr>
        <p:spPr>
          <a:xfrm>
            <a:off x="742950" y="6441526"/>
            <a:ext cx="107061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dirty="0" err="1"/>
              <a:t>https</a:t>
            </a:r>
            <a:r>
              <a:rPr lang="ru-RU" dirty="0"/>
              <a:t>://</a:t>
            </a:r>
            <a:r>
              <a:rPr lang="ru-RU" dirty="0" err="1"/>
              <a:t>www.kaggle.com</a:t>
            </a:r>
            <a:r>
              <a:rPr lang="ru-RU" dirty="0"/>
              <a:t>/</a:t>
            </a:r>
            <a:r>
              <a:rPr lang="ru-RU" dirty="0" err="1"/>
              <a:t>code</a:t>
            </a:r>
            <a:r>
              <a:rPr lang="ru-RU" dirty="0"/>
              <a:t>/prashant111/</a:t>
            </a:r>
            <a:r>
              <a:rPr lang="ru-RU" dirty="0" err="1"/>
              <a:t>complete-guide-on-time-series-analysis-in-python</a:t>
            </a:r>
            <a:endParaRPr lang="ru-RU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09A1AD9E-E6EB-CB37-9D3A-4358B55FE22D}"/>
              </a:ext>
            </a:extLst>
          </p:cNvPr>
          <p:cNvSpPr txBox="1"/>
          <p:nvPr/>
        </p:nvSpPr>
        <p:spPr>
          <a:xfrm>
            <a:off x="5562600" y="3080914"/>
            <a:ext cx="60960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" dirty="0"/>
              <a:t>https://</a:t>
            </a:r>
            <a:r>
              <a:rPr lang="en" dirty="0" err="1"/>
              <a:t>www.kaggle.com</a:t>
            </a:r>
            <a:r>
              <a:rPr lang="en" dirty="0"/>
              <a:t>/datasets/</a:t>
            </a:r>
            <a:r>
              <a:rPr lang="en" dirty="0" err="1"/>
              <a:t>ucsandiego</a:t>
            </a:r>
            <a:r>
              <a:rPr lang="en" dirty="0"/>
              <a:t>/carbon-dioxide</a:t>
            </a:r>
            <a:endParaRPr lang="ru-RU" dirty="0"/>
          </a:p>
        </p:txBody>
      </p:sp>
      <p:pic>
        <p:nvPicPr>
          <p:cNvPr id="8" name="Рисунок 7">
            <a:extLst>
              <a:ext uri="{FF2B5EF4-FFF2-40B4-BE49-F238E27FC236}">
                <a16:creationId xmlns:a16="http://schemas.microsoft.com/office/drawing/2014/main" id="{A537716A-DC21-6FBC-49C9-DE256460889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7240" y="1872960"/>
            <a:ext cx="5251627" cy="4186806"/>
          </a:xfrm>
          <a:prstGeom prst="rect">
            <a:avLst/>
          </a:prstGeom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5DBD4975-5C78-FD5A-5332-D30496F71523}"/>
              </a:ext>
            </a:extLst>
          </p:cNvPr>
          <p:cNvSpPr txBox="1"/>
          <p:nvPr/>
        </p:nvSpPr>
        <p:spPr>
          <a:xfrm>
            <a:off x="370863" y="6059766"/>
            <a:ext cx="8828315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dirty="0" err="1"/>
              <a:t>https</a:t>
            </a:r>
            <a:r>
              <a:rPr lang="ru-RU" dirty="0"/>
              <a:t>://</a:t>
            </a:r>
            <a:r>
              <a:rPr lang="ru-RU" dirty="0" err="1"/>
              <a:t>www.kaggle.com</a:t>
            </a:r>
            <a:r>
              <a:rPr lang="ru-RU" dirty="0"/>
              <a:t>/</a:t>
            </a:r>
            <a:r>
              <a:rPr lang="ru-RU" dirty="0" err="1"/>
              <a:t>code</a:t>
            </a:r>
            <a:r>
              <a:rPr lang="ru-RU" dirty="0"/>
              <a:t>/</a:t>
            </a:r>
            <a:r>
              <a:rPr lang="ru-RU" dirty="0" err="1"/>
              <a:t>akhiljethwa</a:t>
            </a:r>
            <a:r>
              <a:rPr lang="ru-RU" dirty="0"/>
              <a:t>/</a:t>
            </a:r>
            <a:r>
              <a:rPr lang="ru-RU" dirty="0" err="1"/>
              <a:t>eda-on-global-energy-data</a:t>
            </a:r>
            <a:r>
              <a:rPr lang="ru-RU" dirty="0"/>
              <a:t>/</a:t>
            </a:r>
            <a:r>
              <a:rPr lang="ru-RU" dirty="0" err="1"/>
              <a:t>notebook</a:t>
            </a:r>
            <a:endParaRPr lang="ru-RU" dirty="0"/>
          </a:p>
        </p:txBody>
      </p:sp>
      <p:pic>
        <p:nvPicPr>
          <p:cNvPr id="5124" name="Picture 4">
            <a:extLst>
              <a:ext uri="{FF2B5EF4-FFF2-40B4-BE49-F238E27FC236}">
                <a16:creationId xmlns:a16="http://schemas.microsoft.com/office/drawing/2014/main" id="{B0F90CE2-1D55-617F-2695-0C6812D3960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601569" y="3517150"/>
            <a:ext cx="5534362" cy="214312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2" name="TextBox 11">
            <a:extLst>
              <a:ext uri="{FF2B5EF4-FFF2-40B4-BE49-F238E27FC236}">
                <a16:creationId xmlns:a16="http://schemas.microsoft.com/office/drawing/2014/main" id="{9CDE78A4-2324-0944-D42B-539C26D3EB7D}"/>
              </a:ext>
            </a:extLst>
          </p:cNvPr>
          <p:cNvSpPr txBox="1"/>
          <p:nvPr/>
        </p:nvSpPr>
        <p:spPr>
          <a:xfrm>
            <a:off x="4155911" y="5702862"/>
            <a:ext cx="8036089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dirty="0" err="1"/>
              <a:t>https</a:t>
            </a:r>
            <a:r>
              <a:rPr lang="ru-RU" dirty="0"/>
              <a:t>://</a:t>
            </a:r>
            <a:r>
              <a:rPr lang="ru-RU" dirty="0" err="1"/>
              <a:t>www.kaggle.com</a:t>
            </a:r>
            <a:r>
              <a:rPr lang="ru-RU" dirty="0"/>
              <a:t>/</a:t>
            </a:r>
            <a:r>
              <a:rPr lang="ru-RU" dirty="0" err="1"/>
              <a:t>code</a:t>
            </a:r>
            <a:r>
              <a:rPr lang="ru-RU" dirty="0"/>
              <a:t>/</a:t>
            </a:r>
            <a:r>
              <a:rPr lang="ru-RU" dirty="0" err="1"/>
              <a:t>yasinsametkaraca</a:t>
            </a:r>
            <a:r>
              <a:rPr lang="ru-RU" dirty="0"/>
              <a:t>/</a:t>
            </a:r>
            <a:r>
              <a:rPr lang="ru-RU" dirty="0" err="1"/>
              <a:t>time-series-forecasting-xgboost</a:t>
            </a:r>
            <a:endParaRPr lang="ru-RU" dirty="0"/>
          </a:p>
        </p:txBody>
      </p:sp>
      <p:sp>
        <p:nvSpPr>
          <p:cNvPr id="13" name="Заголовок 1">
            <a:extLst>
              <a:ext uri="{FF2B5EF4-FFF2-40B4-BE49-F238E27FC236}">
                <a16:creationId xmlns:a16="http://schemas.microsoft.com/office/drawing/2014/main" id="{C8BA1F3E-CEB0-CC7C-D712-4E57B92A1BAD}"/>
              </a:ext>
            </a:extLst>
          </p:cNvPr>
          <p:cNvSpPr txBox="1">
            <a:spLocks/>
          </p:cNvSpPr>
          <p:nvPr/>
        </p:nvSpPr>
        <p:spPr>
          <a:xfrm>
            <a:off x="4871544" y="528635"/>
            <a:ext cx="5257801" cy="440043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70000" lnSpcReduction="200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ru-RU" b="1" dirty="0"/>
              <a:t>Эконометрические показатели</a:t>
            </a:r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1573176096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79B0BEDB-9774-4E17-9A6B-DBCF6A1F528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24000" y="81185"/>
            <a:ext cx="9144000" cy="1319344"/>
          </a:xfrm>
        </p:spPr>
        <p:txBody>
          <a:bodyPr>
            <a:normAutofit/>
          </a:bodyPr>
          <a:lstStyle/>
          <a:p>
            <a:r>
              <a:rPr lang="ru-RU" sz="3200" b="1" dirty="0"/>
              <a:t>Примеры приложений анализа временных рядов</a:t>
            </a:r>
            <a:endParaRPr lang="ru-RU" sz="3200" dirty="0"/>
          </a:p>
        </p:txBody>
      </p:sp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B71B9812-C3DD-F3D1-E3DB-C6DBDB2D736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5C3B737-A709-4ABC-AFE0-A6B067850C48}" type="slidenum">
              <a:rPr lang="en-US" smtClean="0"/>
              <a:t>9</a:t>
            </a:fld>
            <a:endParaRPr lang="en-US"/>
          </a:p>
        </p:txBody>
      </p:sp>
      <p:sp>
        <p:nvSpPr>
          <p:cNvPr id="5" name="Rectangle 231">
            <a:extLst>
              <a:ext uri="{FF2B5EF4-FFF2-40B4-BE49-F238E27FC236}">
                <a16:creationId xmlns:a16="http://schemas.microsoft.com/office/drawing/2014/main" id="{57F50B8E-A23A-4154-9A0C-994DE115ACE6}"/>
              </a:ext>
            </a:extLst>
          </p:cNvPr>
          <p:cNvSpPr>
            <a:spLocks noChangeArrowheads="1"/>
          </p:cNvSpPr>
          <p:nvPr/>
        </p:nvSpPr>
        <p:spPr bwMode="auto">
          <a:xfrm>
            <a:off x="6167756" y="4477386"/>
            <a:ext cx="52071" cy="10795"/>
          </a:xfrm>
          <a:prstGeom prst="rect">
            <a:avLst/>
          </a:prstGeom>
          <a:solidFill>
            <a:srgbClr val="000000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rot="0" vert="horz" wrap="square" lIns="91440" tIns="45720" rIns="91440" bIns="45720" anchor="t" anchorCtr="0" upright="1">
            <a:noAutofit/>
          </a:bodyPr>
          <a:lstStyle/>
          <a:p>
            <a:endParaRPr lang="en-US" sz="1351"/>
          </a:p>
        </p:txBody>
      </p:sp>
      <p:sp>
        <p:nvSpPr>
          <p:cNvPr id="6" name="Rectangle 3">
            <a:extLst>
              <a:ext uri="{FF2B5EF4-FFF2-40B4-BE49-F238E27FC236}">
                <a16:creationId xmlns:a16="http://schemas.microsoft.com/office/drawing/2014/main" id="{66C52228-8C94-4CF2-AD63-BA9617333BA2}"/>
              </a:ext>
            </a:extLst>
          </p:cNvPr>
          <p:cNvSpPr>
            <a:spLocks noChangeArrowheads="1"/>
          </p:cNvSpPr>
          <p:nvPr/>
        </p:nvSpPr>
        <p:spPr bwMode="auto">
          <a:xfrm>
            <a:off x="-1523999" y="124999"/>
            <a:ext cx="184731" cy="677108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1400">
                <a:latin typeface="Arial" panose="020B0604020202020204" pitchFamily="34" charset="0"/>
                <a:ea typeface="Times New Roman" panose="02020603050405020304" pitchFamily="18" charset="0"/>
              </a:rPr>
              <a:t/>
            </a:r>
            <a:br>
              <a:rPr lang="en-US" altLang="en-US" sz="1400">
                <a:latin typeface="Arial" panose="020B0604020202020204" pitchFamily="34" charset="0"/>
                <a:ea typeface="Times New Roman" panose="02020603050405020304" pitchFamily="18" charset="0"/>
              </a:rPr>
            </a:br>
            <a:endParaRPr lang="en-US" altLang="en-US" sz="2400">
              <a:latin typeface="Arial" panose="020B0604020202020204" pitchFamily="34" charset="0"/>
            </a:endParaRPr>
          </a:p>
        </p:txBody>
      </p:sp>
      <p:pic>
        <p:nvPicPr>
          <p:cNvPr id="2050" name="Picture 2">
            <a:extLst>
              <a:ext uri="{FF2B5EF4-FFF2-40B4-BE49-F238E27FC236}">
                <a16:creationId xmlns:a16="http://schemas.microsoft.com/office/drawing/2014/main" id="{F0FE80FE-BB9D-9DC1-C5CA-E7B33EE048D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27453" y="1063106"/>
            <a:ext cx="5271284" cy="512997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5B738D70-C732-8A4B-1DFB-40475542C687}"/>
              </a:ext>
            </a:extLst>
          </p:cNvPr>
          <p:cNvSpPr txBox="1"/>
          <p:nvPr/>
        </p:nvSpPr>
        <p:spPr>
          <a:xfrm>
            <a:off x="324350" y="6130484"/>
            <a:ext cx="5260021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sz="1200" dirty="0" err="1"/>
              <a:t>https</a:t>
            </a:r>
            <a:r>
              <a:rPr lang="ru-RU" sz="1200" dirty="0"/>
              <a:t>://</a:t>
            </a:r>
            <a:r>
              <a:rPr lang="ru-RU" sz="1200" dirty="0" err="1"/>
              <a:t>www.kaggle.com</a:t>
            </a:r>
            <a:r>
              <a:rPr lang="ru-RU" sz="1200" dirty="0"/>
              <a:t>/</a:t>
            </a:r>
            <a:r>
              <a:rPr lang="ru-RU" sz="1200" dirty="0" err="1"/>
              <a:t>code</a:t>
            </a:r>
            <a:r>
              <a:rPr lang="ru-RU" sz="1200" dirty="0"/>
              <a:t>/eslammohamed100/</a:t>
            </a:r>
            <a:r>
              <a:rPr lang="ru-RU" sz="1200" dirty="0" err="1"/>
              <a:t>microsoft-stock-time-series-analysis</a:t>
            </a:r>
            <a:endParaRPr lang="ru-RU" sz="1200" dirty="0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5468F3ED-FD40-E891-1E96-DCAA6441C0C4}"/>
              </a:ext>
            </a:extLst>
          </p:cNvPr>
          <p:cNvSpPr txBox="1"/>
          <p:nvPr/>
        </p:nvSpPr>
        <p:spPr>
          <a:xfrm>
            <a:off x="930729" y="1147044"/>
            <a:ext cx="3891642" cy="384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fontAlgn="base">
              <a:lnSpc>
                <a:spcPts val="2400"/>
              </a:lnSpc>
            </a:pPr>
            <a:r>
              <a:rPr lang="en" b="1" i="0" dirty="0">
                <a:solidFill>
                  <a:srgbClr val="202124"/>
                </a:solidFill>
                <a:effectLst/>
                <a:latin typeface="Inter"/>
              </a:rPr>
              <a:t>Microsoft Stock- Time Series Analysis</a:t>
            </a:r>
          </a:p>
        </p:txBody>
      </p:sp>
      <p:pic>
        <p:nvPicPr>
          <p:cNvPr id="2052" name="Picture 4">
            <a:extLst>
              <a:ext uri="{FF2B5EF4-FFF2-40B4-BE49-F238E27FC236}">
                <a16:creationId xmlns:a16="http://schemas.microsoft.com/office/drawing/2014/main" id="{678FF871-C076-5BAC-716B-9CE0163834A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992008" y="944193"/>
            <a:ext cx="5271285" cy="248711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3" name="TextBox 12">
            <a:extLst>
              <a:ext uri="{FF2B5EF4-FFF2-40B4-BE49-F238E27FC236}">
                <a16:creationId xmlns:a16="http://schemas.microsoft.com/office/drawing/2014/main" id="{435762B8-B744-1173-BAF3-A36591CC3312}"/>
              </a:ext>
            </a:extLst>
          </p:cNvPr>
          <p:cNvSpPr txBox="1"/>
          <p:nvPr/>
        </p:nvSpPr>
        <p:spPr>
          <a:xfrm>
            <a:off x="6426506" y="1215863"/>
            <a:ext cx="4241494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" dirty="0">
                <a:solidFill>
                  <a:srgbClr val="BB2323"/>
                </a:solidFill>
                <a:effectLst/>
                <a:latin typeface="inherit"/>
              </a:rPr>
              <a:t>In-game currency spent (daily data)</a:t>
            </a:r>
            <a:endParaRPr lang="ru-RU" dirty="0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66E4C8F2-85B6-2D7A-A59F-FD4A05E5A22B}"/>
              </a:ext>
            </a:extLst>
          </p:cNvPr>
          <p:cNvSpPr txBox="1"/>
          <p:nvPr/>
        </p:nvSpPr>
        <p:spPr>
          <a:xfrm>
            <a:off x="5398737" y="3395201"/>
            <a:ext cx="723900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sz="1400" dirty="0" err="1"/>
              <a:t>https</a:t>
            </a:r>
            <a:r>
              <a:rPr lang="ru-RU" sz="1400" dirty="0"/>
              <a:t>://</a:t>
            </a:r>
            <a:r>
              <a:rPr lang="ru-RU" sz="1400" dirty="0" err="1"/>
              <a:t>www.kaggle.com</a:t>
            </a:r>
            <a:r>
              <a:rPr lang="ru-RU" sz="1400" dirty="0"/>
              <a:t>/</a:t>
            </a:r>
            <a:r>
              <a:rPr lang="ru-RU" sz="1400" dirty="0" err="1"/>
              <a:t>code</a:t>
            </a:r>
            <a:r>
              <a:rPr lang="ru-RU" sz="1400" dirty="0"/>
              <a:t>/</a:t>
            </a:r>
            <a:r>
              <a:rPr lang="ru-RU" sz="1400" dirty="0" err="1"/>
              <a:t>kashnitsky</a:t>
            </a:r>
            <a:r>
              <a:rPr lang="ru-RU" sz="1400" dirty="0"/>
              <a:t>/topic-9-part-1-time-series-analysis-in-python</a:t>
            </a:r>
          </a:p>
        </p:txBody>
      </p:sp>
      <p:pic>
        <p:nvPicPr>
          <p:cNvPr id="20" name="Рисунок 19">
            <a:extLst>
              <a:ext uri="{FF2B5EF4-FFF2-40B4-BE49-F238E27FC236}">
                <a16:creationId xmlns:a16="http://schemas.microsoft.com/office/drawing/2014/main" id="{29C2FAFE-E52F-D4AF-ADC8-EB00476296BC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575828" y="3699390"/>
            <a:ext cx="3482572" cy="2901246"/>
          </a:xfrm>
          <a:prstGeom prst="rect">
            <a:avLst/>
          </a:prstGeom>
        </p:spPr>
      </p:pic>
      <p:sp>
        <p:nvSpPr>
          <p:cNvPr id="23" name="TextBox 22">
            <a:extLst>
              <a:ext uri="{FF2B5EF4-FFF2-40B4-BE49-F238E27FC236}">
                <a16:creationId xmlns:a16="http://schemas.microsoft.com/office/drawing/2014/main" id="{170919F9-6324-6F9C-8BC9-302F7FF0D7A8}"/>
              </a:ext>
            </a:extLst>
          </p:cNvPr>
          <p:cNvSpPr txBox="1"/>
          <p:nvPr/>
        </p:nvSpPr>
        <p:spPr>
          <a:xfrm>
            <a:off x="4279534" y="6413698"/>
            <a:ext cx="7428212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sz="1400" dirty="0" err="1"/>
              <a:t>https</a:t>
            </a:r>
            <a:r>
              <a:rPr lang="ru-RU" sz="1400" dirty="0"/>
              <a:t>://</a:t>
            </a:r>
            <a:r>
              <a:rPr lang="ru-RU" sz="1400" dirty="0" err="1"/>
              <a:t>www.kaggle.com</a:t>
            </a:r>
            <a:r>
              <a:rPr lang="ru-RU" sz="1400" dirty="0"/>
              <a:t>/</a:t>
            </a:r>
            <a:r>
              <a:rPr lang="ru-RU" sz="1400" dirty="0" err="1"/>
              <a:t>code</a:t>
            </a:r>
            <a:r>
              <a:rPr lang="ru-RU" sz="1400" dirty="0"/>
              <a:t>/</a:t>
            </a:r>
            <a:r>
              <a:rPr lang="ru-RU" sz="1400" dirty="0" err="1"/>
              <a:t>atulkgoyl</a:t>
            </a:r>
            <a:r>
              <a:rPr lang="ru-RU" sz="1400" dirty="0"/>
              <a:t>/</a:t>
            </a:r>
            <a:r>
              <a:rPr lang="ru-RU" sz="1400" dirty="0" err="1"/>
              <a:t>store-sales-time-series-forecasting-regression</a:t>
            </a:r>
            <a:endParaRPr lang="ru-RU" sz="1400" dirty="0"/>
          </a:p>
        </p:txBody>
      </p:sp>
    </p:spTree>
    <p:extLst>
      <p:ext uri="{BB962C8B-B14F-4D97-AF65-F5344CB8AC3E}">
        <p14:creationId xmlns:p14="http://schemas.microsoft.com/office/powerpoint/2010/main" val="482302925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D026327D-5961-A930-BB15-F0F13A71B10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6408" y="484862"/>
            <a:ext cx="5738101" cy="852948"/>
          </a:xfrm>
        </p:spPr>
        <p:txBody>
          <a:bodyPr>
            <a:normAutofit/>
          </a:bodyPr>
          <a:lstStyle/>
          <a:p>
            <a:r>
              <a:rPr lang="ru-RU" b="1" dirty="0"/>
              <a:t>Примеры</a:t>
            </a:r>
            <a:endParaRPr lang="ru-RU" dirty="0"/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20862C52-6499-4A2A-486C-9A5DCD8AF5F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818290" cy="4351338"/>
          </a:xfrm>
        </p:spPr>
        <p:txBody>
          <a:bodyPr/>
          <a:lstStyle/>
          <a:p>
            <a:endParaRPr lang="ru-RU" dirty="0"/>
          </a:p>
        </p:txBody>
      </p:sp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F74871B7-53EE-D2D3-8995-9DE6D5DAE47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5C3B737-A709-4ABC-AFE0-A6B067850C48}" type="slidenum">
              <a:rPr lang="en-US" smtClean="0"/>
              <a:t>10</a:t>
            </a:fld>
            <a:endParaRPr lang="en-US"/>
          </a:p>
        </p:txBody>
      </p:sp>
      <p:pic>
        <p:nvPicPr>
          <p:cNvPr id="4102" name="Picture 6">
            <a:extLst>
              <a:ext uri="{FF2B5EF4-FFF2-40B4-BE49-F238E27FC236}">
                <a16:creationId xmlns:a16="http://schemas.microsoft.com/office/drawing/2014/main" id="{021E3379-966F-EFF6-710F-880204762C1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601533" y="689267"/>
            <a:ext cx="3604175" cy="257573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4104" name="Picture 8">
            <a:extLst>
              <a:ext uri="{FF2B5EF4-FFF2-40B4-BE49-F238E27FC236}">
                <a16:creationId xmlns:a16="http://schemas.microsoft.com/office/drawing/2014/main" id="{CE58BD9D-01FD-408F-5D3E-8DA3166C19C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919501" y="809582"/>
            <a:ext cx="3767388" cy="253741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15B951A9-E548-2987-1FF2-FFC2E7BB02DF}"/>
              </a:ext>
            </a:extLst>
          </p:cNvPr>
          <p:cNvSpPr txBox="1"/>
          <p:nvPr/>
        </p:nvSpPr>
        <p:spPr>
          <a:xfrm>
            <a:off x="4196043" y="3333095"/>
            <a:ext cx="7701730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ru-RU" sz="1600" dirty="0" err="1"/>
              <a:t>https</a:t>
            </a:r>
            <a:r>
              <a:rPr lang="ru-RU" sz="1600" dirty="0"/>
              <a:t>://</a:t>
            </a:r>
            <a:r>
              <a:rPr lang="ru-RU" sz="1600" dirty="0" err="1"/>
              <a:t>www.kaggle.com</a:t>
            </a:r>
            <a:r>
              <a:rPr lang="ru-RU" sz="1600" dirty="0"/>
              <a:t>/</a:t>
            </a:r>
            <a:r>
              <a:rPr lang="ru-RU" sz="1600" dirty="0" err="1"/>
              <a:t>code</a:t>
            </a:r>
            <a:r>
              <a:rPr lang="ru-RU" sz="1600" dirty="0"/>
              <a:t>/jegun19/</a:t>
            </a:r>
            <a:r>
              <a:rPr lang="ru-RU" sz="1600" dirty="0" err="1"/>
              <a:t>predictive-maintenance-time-series-forecasting</a:t>
            </a:r>
            <a:endParaRPr lang="ru-RU" sz="1600" dirty="0"/>
          </a:p>
        </p:txBody>
      </p:sp>
      <p:pic>
        <p:nvPicPr>
          <p:cNvPr id="4106" name="Picture 10">
            <a:extLst>
              <a:ext uri="{FF2B5EF4-FFF2-40B4-BE49-F238E27FC236}">
                <a16:creationId xmlns:a16="http://schemas.microsoft.com/office/drawing/2014/main" id="{46A5D6CA-CABB-3F75-8643-E90D7535949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845875" y="3751889"/>
            <a:ext cx="5841014" cy="290149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CA9D21E6-5CA5-22F1-6A98-DA6FD3D50335}"/>
              </a:ext>
            </a:extLst>
          </p:cNvPr>
          <p:cNvSpPr txBox="1"/>
          <p:nvPr/>
        </p:nvSpPr>
        <p:spPr>
          <a:xfrm>
            <a:off x="3515710" y="6527032"/>
            <a:ext cx="8460828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" sz="1600" dirty="0"/>
              <a:t>https://</a:t>
            </a:r>
            <a:r>
              <a:rPr lang="en" sz="1600" dirty="0" err="1"/>
              <a:t>www.kaggle.com</a:t>
            </a:r>
            <a:r>
              <a:rPr lang="en" sz="1600" dirty="0"/>
              <a:t>/code/marianadeem755/forecasting-electricity-by-hour-</a:t>
            </a:r>
            <a:r>
              <a:rPr lang="en" sz="1600" dirty="0" err="1"/>
              <a:t>rnn</a:t>
            </a:r>
            <a:r>
              <a:rPr lang="en" sz="1600" dirty="0"/>
              <a:t>-vs-</a:t>
            </a:r>
            <a:r>
              <a:rPr lang="en" sz="1600" dirty="0" err="1"/>
              <a:t>lstm</a:t>
            </a:r>
            <a:endParaRPr lang="ru-RU" sz="1600" dirty="0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15B951A9-E548-2987-1FF2-FFC2E7BB02DF}"/>
              </a:ext>
            </a:extLst>
          </p:cNvPr>
          <p:cNvSpPr txBox="1"/>
          <p:nvPr/>
        </p:nvSpPr>
        <p:spPr>
          <a:xfrm>
            <a:off x="4196042" y="177235"/>
            <a:ext cx="770173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ru-RU" sz="2400" dirty="0"/>
              <a:t>Анализ состояния агрегатов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15B951A9-E548-2987-1FF2-FFC2E7BB02DF}"/>
              </a:ext>
            </a:extLst>
          </p:cNvPr>
          <p:cNvSpPr txBox="1"/>
          <p:nvPr/>
        </p:nvSpPr>
        <p:spPr>
          <a:xfrm>
            <a:off x="3264758" y="4519191"/>
            <a:ext cx="2291468" cy="8309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ru-RU" sz="2400" dirty="0"/>
              <a:t>Потребление электроэнергии</a:t>
            </a:r>
          </a:p>
        </p:txBody>
      </p:sp>
    </p:spTree>
    <p:extLst>
      <p:ext uri="{BB962C8B-B14F-4D97-AF65-F5344CB8AC3E}">
        <p14:creationId xmlns:p14="http://schemas.microsoft.com/office/powerpoint/2010/main" val="1658279959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D026327D-5961-A930-BB15-F0F13A71B10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6408" y="484862"/>
            <a:ext cx="5738101" cy="852948"/>
          </a:xfrm>
        </p:spPr>
        <p:txBody>
          <a:bodyPr>
            <a:normAutofit/>
          </a:bodyPr>
          <a:lstStyle/>
          <a:p>
            <a:r>
              <a:rPr lang="ru-RU" b="1" dirty="0"/>
              <a:t>Примеры</a:t>
            </a:r>
            <a:endParaRPr lang="ru-RU" dirty="0"/>
          </a:p>
        </p:txBody>
      </p:sp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F74871B7-53EE-D2D3-8995-9DE6D5DAE47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5C3B737-A709-4ABC-AFE0-A6B067850C48}" type="slidenum">
              <a:rPr lang="en-US" smtClean="0"/>
              <a:t>11</a:t>
            </a:fld>
            <a:endParaRPr lang="en-US"/>
          </a:p>
        </p:txBody>
      </p:sp>
      <p:pic>
        <p:nvPicPr>
          <p:cNvPr id="4098" name="Picture 2">
            <a:extLst>
              <a:ext uri="{FF2B5EF4-FFF2-40B4-BE49-F238E27FC236}">
                <a16:creationId xmlns:a16="http://schemas.microsoft.com/office/drawing/2014/main" id="{D5715FC2-9877-6BB3-A1A3-B73F7713EDF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576588" y="2004933"/>
            <a:ext cx="4979734" cy="280219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4100" name="Picture 4">
            <a:extLst>
              <a:ext uri="{FF2B5EF4-FFF2-40B4-BE49-F238E27FC236}">
                <a16:creationId xmlns:a16="http://schemas.microsoft.com/office/drawing/2014/main" id="{9E9EACB2-D25F-007F-194C-1A1637804B4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78959" y="2004933"/>
            <a:ext cx="5922345" cy="289871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4F647F85-34C2-9508-2668-1A2E2A0756A1}"/>
              </a:ext>
            </a:extLst>
          </p:cNvPr>
          <p:cNvSpPr txBox="1"/>
          <p:nvPr/>
        </p:nvSpPr>
        <p:spPr>
          <a:xfrm>
            <a:off x="2088932" y="5073908"/>
            <a:ext cx="8668902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sz="1600" dirty="0" err="1"/>
              <a:t>https</a:t>
            </a:r>
            <a:r>
              <a:rPr lang="ru-RU" sz="1600" dirty="0"/>
              <a:t>://</a:t>
            </a:r>
            <a:r>
              <a:rPr lang="ru-RU" sz="1600" dirty="0" err="1"/>
              <a:t>www.kaggle.com</a:t>
            </a:r>
            <a:r>
              <a:rPr lang="ru-RU" sz="1600" dirty="0"/>
              <a:t>/</a:t>
            </a:r>
            <a:r>
              <a:rPr lang="ru-RU" sz="1600" dirty="0" err="1"/>
              <a:t>datasets</a:t>
            </a:r>
            <a:r>
              <a:rPr lang="ru-RU" sz="1600" dirty="0"/>
              <a:t>/vinayak123tyagi/</a:t>
            </a:r>
            <a:r>
              <a:rPr lang="ru-RU" sz="1600" dirty="0" err="1"/>
              <a:t>bearing-dataset</a:t>
            </a:r>
            <a:r>
              <a:rPr lang="ru-RU" sz="1600" dirty="0"/>
              <a:t>/</a:t>
            </a:r>
            <a:r>
              <a:rPr lang="ru-RU" sz="1600" dirty="0" err="1"/>
              <a:t>code</a:t>
            </a:r>
            <a:endParaRPr lang="ru-RU" sz="1600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E78FE65A-3F4E-BBB6-C8ED-B386A57B1A89}"/>
              </a:ext>
            </a:extLst>
          </p:cNvPr>
          <p:cNvSpPr txBox="1"/>
          <p:nvPr/>
        </p:nvSpPr>
        <p:spPr>
          <a:xfrm>
            <a:off x="4556235" y="1719746"/>
            <a:ext cx="6320095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fontAlgn="base">
              <a:lnSpc>
                <a:spcPts val="2400"/>
              </a:lnSpc>
            </a:pPr>
            <a:r>
              <a:rPr lang="en" b="1" i="0" dirty="0">
                <a:solidFill>
                  <a:srgbClr val="202124"/>
                </a:solidFill>
                <a:effectLst/>
                <a:latin typeface="Inter"/>
              </a:rPr>
              <a:t>NASA Bearing Dataset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E78FE65A-3F4E-BBB6-C8ED-B386A57B1A89}"/>
              </a:ext>
            </a:extLst>
          </p:cNvPr>
          <p:cNvSpPr txBox="1"/>
          <p:nvPr/>
        </p:nvSpPr>
        <p:spPr>
          <a:xfrm>
            <a:off x="4909057" y="1386301"/>
            <a:ext cx="6927429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fontAlgn="base">
              <a:lnSpc>
                <a:spcPts val="2400"/>
              </a:lnSpc>
            </a:pPr>
            <a:r>
              <a:rPr lang="ru-RU" b="1" i="0" dirty="0">
                <a:solidFill>
                  <a:srgbClr val="202124"/>
                </a:solidFill>
                <a:effectLst/>
                <a:latin typeface="Inter"/>
              </a:rPr>
              <a:t>Анализ нештатных ситуаций</a:t>
            </a:r>
            <a:endParaRPr lang="en" b="1" i="0" dirty="0">
              <a:solidFill>
                <a:srgbClr val="202124"/>
              </a:solidFill>
              <a:effectLst/>
              <a:latin typeface="Inter"/>
            </a:endParaRPr>
          </a:p>
        </p:txBody>
      </p:sp>
    </p:spTree>
    <p:extLst>
      <p:ext uri="{BB962C8B-B14F-4D97-AF65-F5344CB8AC3E}">
        <p14:creationId xmlns:p14="http://schemas.microsoft.com/office/powerpoint/2010/main" val="2092595725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9AE3A209-E86B-43CF-A4CE-1917FCF9C1B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743483" y="934359"/>
            <a:ext cx="10932920" cy="2862942"/>
          </a:xfrm>
        </p:spPr>
        <p:txBody>
          <a:bodyPr>
            <a:normAutofit/>
          </a:bodyPr>
          <a:lstStyle/>
          <a:p>
            <a:r>
              <a:rPr lang="ru-RU" sz="8000" dirty="0" smtClean="0"/>
              <a:t>Постановка задач </a:t>
            </a:r>
            <a:r>
              <a:rPr lang="ru-RU" sz="8000" dirty="0"/>
              <a:t>предсказания ВР</a:t>
            </a:r>
            <a:endParaRPr lang="en-US" sz="8000" dirty="0"/>
          </a:p>
        </p:txBody>
      </p:sp>
      <p:sp>
        <p:nvSpPr>
          <p:cNvPr id="3" name="Номер слайда 2">
            <a:extLst>
              <a:ext uri="{FF2B5EF4-FFF2-40B4-BE49-F238E27FC236}">
                <a16:creationId xmlns:a16="http://schemas.microsoft.com/office/drawing/2014/main" id="{B46F77CB-BE50-557D-1B14-E047A35B21B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5C3B737-A709-4ABC-AFE0-A6B067850C48}" type="slidenum">
              <a:rPr lang="en-US" smtClean="0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16420692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02EE2B06-B173-C52C-7F74-302136EB452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66057" y="365125"/>
            <a:ext cx="10787743" cy="1047641"/>
          </a:xfrm>
        </p:spPr>
        <p:txBody>
          <a:bodyPr/>
          <a:lstStyle/>
          <a:p>
            <a:r>
              <a:rPr lang="ru-RU" b="1" dirty="0"/>
              <a:t>Задачи анализа временных рядов</a:t>
            </a:r>
            <a:endParaRPr lang="ru-RU" dirty="0"/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EE1CFB72-A2ED-B011-6D8A-BC8972130B6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93914" y="1412766"/>
            <a:ext cx="11417016" cy="4351338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ru-RU" sz="2400" b="1" dirty="0"/>
              <a:t>Последовательной ВР(</a:t>
            </a:r>
            <a:r>
              <a:rPr lang="ru-RU" sz="2400" b="1" dirty="0" err="1"/>
              <a:t>неприрывный</a:t>
            </a:r>
            <a:r>
              <a:rPr lang="ru-RU" sz="2400" b="1" dirty="0"/>
              <a:t>)</a:t>
            </a:r>
          </a:p>
          <a:p>
            <a:r>
              <a:rPr lang="ru-RU" sz="2400" dirty="0"/>
              <a:t>Предсказание будущих значений ВР (прогнозирование, T</a:t>
            </a:r>
            <a:r>
              <a:rPr lang="en-US" sz="2400" dirty="0" err="1"/>
              <a:t>ime</a:t>
            </a:r>
            <a:r>
              <a:rPr lang="en-US" sz="2400" dirty="0"/>
              <a:t> series forecasting)</a:t>
            </a:r>
            <a:endParaRPr lang="ru-RU" sz="2400" dirty="0"/>
          </a:p>
          <a:p>
            <a:r>
              <a:rPr lang="en-US" sz="2400" dirty="0" err="1"/>
              <a:t>По</a:t>
            </a:r>
            <a:r>
              <a:rPr lang="ru-RU" sz="2400" dirty="0"/>
              <a:t>иск аномалий/выбросов</a:t>
            </a:r>
            <a:r>
              <a:rPr lang="en-US" sz="2400" dirty="0"/>
              <a:t> (</a:t>
            </a:r>
            <a:r>
              <a:rPr lang="ru-RU" sz="2400" dirty="0" err="1"/>
              <a:t>T</a:t>
            </a:r>
            <a:r>
              <a:rPr lang="en-US" sz="2400" dirty="0" err="1"/>
              <a:t>ime</a:t>
            </a:r>
            <a:r>
              <a:rPr lang="en-US" sz="2400" dirty="0"/>
              <a:t> series  anomaly detection)</a:t>
            </a:r>
            <a:endParaRPr lang="ru-RU" sz="2400" dirty="0"/>
          </a:p>
          <a:p>
            <a:r>
              <a:rPr lang="en-US" sz="2400" dirty="0" err="1"/>
              <a:t>По</a:t>
            </a:r>
            <a:r>
              <a:rPr lang="ru-RU" sz="2400" dirty="0"/>
              <a:t>иск точек новизны (изменений), сегментов ВР – новых паттернов поведения</a:t>
            </a:r>
          </a:p>
          <a:p>
            <a:pPr marL="0" indent="0">
              <a:buNone/>
            </a:pPr>
            <a:r>
              <a:rPr lang="ru-RU" sz="2400" b="1" dirty="0"/>
              <a:t>Сегменты ВР (сигналы)</a:t>
            </a:r>
          </a:p>
          <a:p>
            <a:r>
              <a:rPr lang="ru-RU" sz="2400" dirty="0"/>
              <a:t>Классификация сегментов/шаблонов поведения</a:t>
            </a:r>
            <a:r>
              <a:rPr lang="en-US" sz="2400" dirty="0"/>
              <a:t>  </a:t>
            </a:r>
            <a:r>
              <a:rPr lang="ru-RU" sz="2400" dirty="0"/>
              <a:t>(T</a:t>
            </a:r>
            <a:r>
              <a:rPr lang="en-US" sz="2400" dirty="0" err="1"/>
              <a:t>ime</a:t>
            </a:r>
            <a:r>
              <a:rPr lang="en-US" sz="2400" dirty="0"/>
              <a:t> series classification)</a:t>
            </a:r>
            <a:endParaRPr lang="ru-RU" sz="2400" dirty="0"/>
          </a:p>
          <a:p>
            <a:r>
              <a:rPr lang="ru-RU" sz="2400" dirty="0"/>
              <a:t>Признаковое описание ВР/Регрессия ВР</a:t>
            </a:r>
            <a:r>
              <a:rPr lang="en-US" sz="2400" dirty="0"/>
              <a:t>/</a:t>
            </a:r>
            <a:r>
              <a:rPr lang="ru-RU" sz="2400" dirty="0"/>
              <a:t>Казуальный анализ (влияние внешних факторов на поведение ВР)</a:t>
            </a:r>
            <a:r>
              <a:rPr lang="en-US" sz="2400" dirty="0"/>
              <a:t> </a:t>
            </a:r>
            <a:r>
              <a:rPr lang="ru-RU" sz="2400" dirty="0"/>
              <a:t>(T</a:t>
            </a:r>
            <a:r>
              <a:rPr lang="en-US" sz="2400" dirty="0" err="1"/>
              <a:t>ime</a:t>
            </a:r>
            <a:r>
              <a:rPr lang="en-US" sz="2400" dirty="0"/>
              <a:t> series regression)</a:t>
            </a:r>
            <a:endParaRPr lang="ru-RU" sz="2400" dirty="0"/>
          </a:p>
          <a:p>
            <a:endParaRPr lang="en-US" sz="2400" dirty="0"/>
          </a:p>
          <a:p>
            <a:endParaRPr lang="ru-RU" sz="2400" dirty="0"/>
          </a:p>
          <a:p>
            <a:endParaRPr lang="ru-RU" sz="2400" dirty="0"/>
          </a:p>
          <a:p>
            <a:endParaRPr lang="ru-RU" sz="2400" dirty="0"/>
          </a:p>
        </p:txBody>
      </p:sp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10C4D2CE-024B-092F-F40E-1C67E2809A3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5C3B737-A709-4ABC-AFE0-A6B067850C48}" type="slidenum">
              <a:rPr lang="en-US" smtClean="0"/>
              <a:t>13</a:t>
            </a:fld>
            <a:endParaRPr lang="en-US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A2C06033-2C39-FC3F-9249-C4FF81811A81}"/>
              </a:ext>
            </a:extLst>
          </p:cNvPr>
          <p:cNvSpPr txBox="1"/>
          <p:nvPr/>
        </p:nvSpPr>
        <p:spPr>
          <a:xfrm>
            <a:off x="97971" y="5943491"/>
            <a:ext cx="6096000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dirty="0" err="1"/>
              <a:t>https</a:t>
            </a:r>
            <a:r>
              <a:rPr lang="ru-RU" dirty="0"/>
              <a:t>://</a:t>
            </a:r>
            <a:r>
              <a:rPr lang="ru-RU" dirty="0" err="1"/>
              <a:t>medium.com</a:t>
            </a:r>
            <a:r>
              <a:rPr lang="ru-RU" dirty="0"/>
              <a:t>/@</a:t>
            </a:r>
            <a:r>
              <a:rPr lang="ru-RU" dirty="0" err="1"/>
              <a:t>datasciencewizards</a:t>
            </a:r>
            <a:r>
              <a:rPr lang="ru-RU" dirty="0"/>
              <a:t>/introduction-to-time-series-analysis-ii-c312e85d51bc</a:t>
            </a:r>
          </a:p>
        </p:txBody>
      </p:sp>
      <p:sp>
        <p:nvSpPr>
          <p:cNvPr id="5" name="Прямоугольник 4"/>
          <p:cNvSpPr/>
          <p:nvPr/>
        </p:nvSpPr>
        <p:spPr>
          <a:xfrm>
            <a:off x="4731785" y="6266656"/>
            <a:ext cx="6043129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ru-RU" dirty="0"/>
              <a:t>https://shakhbanov.org/vvedenie-v-analiz-vremennyh-ryadov/</a:t>
            </a:r>
          </a:p>
        </p:txBody>
      </p:sp>
    </p:spTree>
    <p:extLst>
      <p:ext uri="{BB962C8B-B14F-4D97-AF65-F5344CB8AC3E}">
        <p14:creationId xmlns:p14="http://schemas.microsoft.com/office/powerpoint/2010/main" val="121070458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B12D15B-1A1A-60FB-41FC-8A61BF199C2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BC2D8DF6-C216-E34E-7D7B-11C6D520721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66057" y="365125"/>
            <a:ext cx="10787743" cy="1047641"/>
          </a:xfrm>
        </p:spPr>
        <p:txBody>
          <a:bodyPr/>
          <a:lstStyle/>
          <a:p>
            <a:r>
              <a:rPr lang="ru-RU" b="1" dirty="0"/>
              <a:t>Задачи предсказания временных рядов</a:t>
            </a:r>
            <a:r>
              <a:rPr lang="en-US" b="1" dirty="0" err="1"/>
              <a:t>aq</a:t>
            </a:r>
            <a:endParaRPr lang="ru-RU" dirty="0"/>
          </a:p>
        </p:txBody>
      </p:sp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BED6B87D-2FAF-84DA-E08B-87EB655C290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5C3B737-A709-4ABC-AFE0-A6B067850C48}" type="slidenum">
              <a:rPr lang="en-US" smtClean="0"/>
              <a:t>14</a:t>
            </a:fld>
            <a:endParaRPr lang="en-US"/>
          </a:p>
        </p:txBody>
      </p:sp>
      <p:sp>
        <p:nvSpPr>
          <p:cNvPr id="12" name="Объект 11">
            <a:extLst>
              <a:ext uri="{FF2B5EF4-FFF2-40B4-BE49-F238E27FC236}">
                <a16:creationId xmlns:a16="http://schemas.microsoft.com/office/drawing/2014/main" id="{1BB278FD-3BA0-E784-DDDA-9236766B2533}"/>
              </a:ext>
            </a:extLst>
          </p:cNvPr>
          <p:cNvSpPr txBox="1">
            <a:spLocks noGrp="1"/>
          </p:cNvSpPr>
          <p:nvPr>
            <p:ph idx="1"/>
          </p:nvPr>
        </p:nvSpPr>
        <p:spPr>
          <a:xfrm>
            <a:off x="354110" y="1404519"/>
            <a:ext cx="7271294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indent="0">
              <a:buNone/>
            </a:pPr>
            <a:r>
              <a:rPr lang="ru-RU" sz="2000" b="1" dirty="0"/>
              <a:t>Точечный прогноз </a:t>
            </a:r>
            <a:r>
              <a:rPr lang="ru-RU" sz="2000" dirty="0"/>
              <a:t>- Самый простой случай, когда требуется узнать конкретное значение показателя в зависимости от периода. </a:t>
            </a:r>
          </a:p>
        </p:txBody>
      </p:sp>
      <p:pic>
        <p:nvPicPr>
          <p:cNvPr id="11" name="Рисунок 10" descr="https://shakhbanov.org/wp-content/uploads/2024/10/%D1%82%D0%BE%D1%87%D0%B5%D1%87%D0%BD%D1%8B%D0%B9_%D0%BF%D1%80%D0%BE%D0%B3%D0%BD%D0%BE%D0%B7.png"/>
          <p:cNvPicPr/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250244" y="1082830"/>
            <a:ext cx="3276600" cy="1591419"/>
          </a:xfrm>
          <a:prstGeom prst="rect">
            <a:avLst/>
          </a:prstGeom>
          <a:noFill/>
          <a:ln>
            <a:noFill/>
          </a:ln>
        </p:spPr>
      </p:pic>
      <p:sp>
        <p:nvSpPr>
          <p:cNvPr id="5" name="Прямоугольник 4"/>
          <p:cNvSpPr/>
          <p:nvPr/>
        </p:nvSpPr>
        <p:spPr>
          <a:xfrm>
            <a:off x="354110" y="2489431"/>
            <a:ext cx="7589740" cy="1631216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ru-RU" sz="2000" b="1" dirty="0"/>
              <a:t>Прогноз изменчивости</a:t>
            </a:r>
            <a:r>
              <a:rPr lang="en-US" sz="2000" b="1" dirty="0"/>
              <a:t> - </a:t>
            </a:r>
            <a:r>
              <a:rPr lang="ru-RU" sz="2000" dirty="0"/>
              <a:t>обычно подразумевают прогноз дисперсии и производных от неё показателей. Примером может служить прогнозирование волатильности на фондовом рынке. Волатильность отражает степень колебаний цен на активы и является важным показателем риска для инвесторов.</a:t>
            </a:r>
          </a:p>
        </p:txBody>
      </p:sp>
      <p:pic>
        <p:nvPicPr>
          <p:cNvPr id="14" name="Рисунок 13" descr="https://shakhbanov.org/wp-content/uploads/2024/10/%D0%BF%D1%80%D0%BE%D0%B3%D0%BD%D0%BE%D0%B7_%D0%B8%D0%B7%D0%BC%D0%B5%D0%BD%D1%87%D0%B8%D0%B2%D0%BE%D1%81%D1%82%D0%B8.png"/>
          <p:cNvPicPr/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250244" y="2848662"/>
            <a:ext cx="3200400" cy="1485900"/>
          </a:xfrm>
          <a:prstGeom prst="rect">
            <a:avLst/>
          </a:prstGeom>
          <a:noFill/>
          <a:ln>
            <a:noFill/>
          </a:ln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6" name="Прямоугольник 5"/>
              <p:cNvSpPr/>
              <p:nvPr/>
            </p:nvSpPr>
            <p:spPr>
              <a:xfrm>
                <a:off x="354110" y="4331961"/>
                <a:ext cx="7934234" cy="1744645"/>
              </a:xfrm>
              <a:prstGeom prst="rect">
                <a:avLst/>
              </a:prstGeom>
            </p:spPr>
            <p:txBody>
              <a:bodyPr wrap="square">
                <a:spAutoFit/>
              </a:bodyPr>
              <a:lstStyle/>
              <a:p>
                <a:pPr>
                  <a:lnSpc>
                    <a:spcPct val="107000"/>
                  </a:lnSpc>
                  <a:spcAft>
                    <a:spcPts val="0"/>
                  </a:spcAft>
                </a:pPr>
                <a:r>
                  <a:rPr lang="ru-RU" sz="2000" b="1" dirty="0" smtClean="0"/>
                  <a:t>Вероятностный </a:t>
                </a:r>
                <a:r>
                  <a:rPr lang="ru-RU" sz="2000" b="1" dirty="0"/>
                  <a:t>прогноз</a:t>
                </a:r>
                <a:r>
                  <a:rPr lang="en-US" sz="2000" b="1" dirty="0"/>
                  <a:t> </a:t>
                </a:r>
                <a:r>
                  <a:rPr lang="ru-RU" sz="2000" dirty="0"/>
                  <a:t>- комбинация двух предыдущих. </a:t>
                </a:r>
                <a:r>
                  <a:rPr lang="ru-RU" sz="2000" dirty="0" smtClean="0"/>
                  <a:t>Есть разные варианты, например интервальный прогноз - Задача </a:t>
                </a:r>
                <a:r>
                  <a:rPr lang="ru-RU" sz="2000" dirty="0"/>
                  <a:t>заключается в предсказании интервала, в который попадёт 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fr-FR" sz="2000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000" i="1" dirty="0"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  <m:sub>
                        <m:r>
                          <a:rPr lang="fr-FR" sz="2000" i="1" dirty="0">
                            <a:latin typeface="Cambria Math" panose="02040503050406030204" pitchFamily="18" charset="0"/>
                          </a:rPr>
                          <m:t>𝑇</m:t>
                        </m:r>
                        <m:r>
                          <a:rPr lang="fr-FR" sz="2000" i="1" dirty="0">
                            <a:latin typeface="Cambria Math" panose="02040503050406030204" pitchFamily="18" charset="0"/>
                          </a:rPr>
                          <m:t>+</m:t>
                        </m:r>
                        <m:r>
                          <a:rPr lang="fr-FR" sz="2000" i="1" dirty="0">
                            <a:latin typeface="Cambria Math" panose="02040503050406030204" pitchFamily="18" charset="0"/>
                          </a:rPr>
                          <m:t>h</m:t>
                        </m:r>
                      </m:sub>
                    </m:sSub>
                  </m:oMath>
                </a14:m>
                <a:r>
                  <a:rPr lang="ru-RU" sz="2000" dirty="0"/>
                  <a:t> с заданной вероятностью (например, 95%). Для этого требуется либо знать закон распределения</a:t>
                </a:r>
                <a:r>
                  <a:rPr lang="en-US" sz="2000" dirty="0"/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fr-FR" sz="2000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000" i="1" dirty="0"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  <m:sub>
                        <m:r>
                          <a:rPr lang="fr-FR" sz="2000" i="1" dirty="0">
                            <a:latin typeface="Cambria Math" panose="02040503050406030204" pitchFamily="18" charset="0"/>
                          </a:rPr>
                          <m:t>𝑇</m:t>
                        </m:r>
                        <m:r>
                          <a:rPr lang="fr-FR" sz="2000" i="1" dirty="0">
                            <a:latin typeface="Cambria Math" panose="02040503050406030204" pitchFamily="18" charset="0"/>
                          </a:rPr>
                          <m:t>+</m:t>
                        </m:r>
                        <m:r>
                          <a:rPr lang="fr-FR" sz="2000" i="1" dirty="0">
                            <a:latin typeface="Cambria Math" panose="02040503050406030204" pitchFamily="18" charset="0"/>
                          </a:rPr>
                          <m:t>h</m:t>
                        </m:r>
                      </m:sub>
                    </m:sSub>
                    <m:r>
                      <a:rPr lang="fr-FR" sz="2000" i="1" dirty="0">
                        <a:latin typeface="Cambria Math" panose="02040503050406030204" pitchFamily="18" charset="0"/>
                      </a:rPr>
                      <m:t>∣</m:t>
                    </m:r>
                    <m:sSubSup>
                      <m:sSubSupPr>
                        <m:ctrlPr>
                          <a:rPr lang="fr-FR" sz="2000" i="1" dirty="0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d>
                          <m:dPr>
                            <m:ctrlPr>
                              <a:rPr lang="fr-FR" sz="20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fr-FR" sz="2000" i="1" dirty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fr-FR" sz="2000" i="1" dirty="0">
                                    <a:latin typeface="Cambria Math" panose="02040503050406030204" pitchFamily="18" charset="0"/>
                                  </a:rPr>
                                  <m:t>𝑦</m:t>
                                </m:r>
                              </m:e>
                              <m:sub>
                                <m:r>
                                  <a:rPr lang="fr-FR" sz="2000" i="1" dirty="0">
                                    <a:latin typeface="Cambria Math" panose="02040503050406030204" pitchFamily="18" charset="0"/>
                                  </a:rPr>
                                  <m:t>𝑡</m:t>
                                </m:r>
                              </m:sub>
                            </m:sSub>
                          </m:e>
                        </m:d>
                      </m:e>
                      <m:sub>
                        <m:r>
                          <a:rPr lang="fr-FR" sz="2000" i="1" dirty="0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fr-FR" sz="2000" i="1" dirty="0">
                            <a:latin typeface="Cambria Math" panose="02040503050406030204" pitchFamily="18" charset="0"/>
                          </a:rPr>
                          <m:t>=1</m:t>
                        </m:r>
                      </m:sub>
                      <m:sup>
                        <m:r>
                          <a:rPr lang="fr-FR" sz="2000" i="1" dirty="0">
                            <a:latin typeface="Cambria Math" panose="02040503050406030204" pitchFamily="18" charset="0"/>
                          </a:rPr>
                          <m:t>𝑇</m:t>
                        </m:r>
                      </m:sup>
                    </m:sSubSup>
                  </m:oMath>
                </a14:m>
                <a:r>
                  <a:rPr lang="ru-RU" sz="2000" dirty="0"/>
                  <a:t> , либо рассчитать квантиль.</a:t>
                </a:r>
              </a:p>
            </p:txBody>
          </p:sp>
        </mc:Choice>
        <mc:Fallback xmlns="">
          <p:sp>
            <p:nvSpPr>
              <p:cNvPr id="6" name="Прямоугольник 5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54110" y="4331961"/>
                <a:ext cx="7934234" cy="1744645"/>
              </a:xfrm>
              <a:prstGeom prst="rect">
                <a:avLst/>
              </a:prstGeom>
              <a:blipFill>
                <a:blip r:embed="rId4"/>
                <a:stretch>
                  <a:fillRect l="-768" t="-1748" b="-4545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15" name="Рисунок 14" descr="https://shakhbanov.org/wp-content/uploads/2024/10/%D0%B8%D0%BD%D1%82%D0%B5%D1%80%D0%B2%D0%B0%D0%BB%D1%8C%D0%BD%D1%8B%D0%B9_%D0%BF%D1%80%D0%BE%D0%B3%D0%BD%D0%BE%D0%B7.png"/>
          <p:cNvPicPr/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288344" y="4606792"/>
            <a:ext cx="3200400" cy="1477328"/>
          </a:xfrm>
          <a:prstGeom prst="rect">
            <a:avLst/>
          </a:prstGeom>
          <a:noFill/>
          <a:ln>
            <a:noFill/>
          </a:ln>
        </p:spPr>
      </p:pic>
      <p:sp>
        <p:nvSpPr>
          <p:cNvPr id="3" name="TextBox 2"/>
          <p:cNvSpPr txBox="1"/>
          <p:nvPr/>
        </p:nvSpPr>
        <p:spPr>
          <a:xfrm>
            <a:off x="354110" y="6084120"/>
            <a:ext cx="1074823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dirty="0"/>
              <a:t>В дополнение к этому также могут быть поставлены задачи поиска аномалий, заполнения пропусков, обнаружение изменений (новизны) и другие задачи</a:t>
            </a:r>
          </a:p>
        </p:txBody>
      </p:sp>
      <p:sp>
        <p:nvSpPr>
          <p:cNvPr id="7" name="Прямоугольник 6"/>
          <p:cNvSpPr/>
          <p:nvPr/>
        </p:nvSpPr>
        <p:spPr>
          <a:xfrm>
            <a:off x="5827160" y="6407285"/>
            <a:ext cx="6043129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ru-RU" dirty="0"/>
              <a:t>https://shakhbanov.org/vvedenie-v-analiz-vremennyh-ryadov/</a:t>
            </a:r>
          </a:p>
        </p:txBody>
      </p:sp>
    </p:spTree>
    <p:extLst>
      <p:ext uri="{BB962C8B-B14F-4D97-AF65-F5344CB8AC3E}">
        <p14:creationId xmlns:p14="http://schemas.microsoft.com/office/powerpoint/2010/main" val="2777875720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714375" y="293688"/>
            <a:ext cx="10639425" cy="473075"/>
          </a:xfrm>
        </p:spPr>
        <p:txBody>
          <a:bodyPr>
            <a:normAutofit fontScale="90000"/>
          </a:bodyPr>
          <a:lstStyle/>
          <a:p>
            <a:r>
              <a:rPr lang="ru-RU" b="1" dirty="0"/>
              <a:t>Задачи прогнозирования временных рядов</a:t>
            </a:r>
            <a:endParaRPr lang="ru-RU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Объект 2"/>
              <p:cNvSpPr>
                <a:spLocks noGrp="1"/>
              </p:cNvSpPr>
              <p:nvPr>
                <p:ph idx="1"/>
              </p:nvPr>
            </p:nvSpPr>
            <p:spPr>
              <a:xfrm>
                <a:off x="285149" y="3720759"/>
                <a:ext cx="6826743" cy="2085717"/>
              </a:xfrm>
            </p:spPr>
            <p:txBody>
              <a:bodyPr>
                <a:normAutofit fontScale="92500" lnSpcReduction="20000"/>
              </a:bodyPr>
              <a:lstStyle/>
              <a:p>
                <a:pPr>
                  <a:lnSpc>
                    <a:spcPct val="120000"/>
                  </a:lnSpc>
                  <a:spcBef>
                    <a:spcPts val="600"/>
                  </a:spcBef>
                </a:pPr>
                <a:r>
                  <a:rPr lang="ru-RU" sz="2000" dirty="0"/>
                  <a:t>Предсказание будет осуществляться по набору предыдущий значений. Такие значения будем обозначать как значения лагов.</a:t>
                </a:r>
              </a:p>
              <a:p>
                <a:pPr>
                  <a:lnSpc>
                    <a:spcPct val="120000"/>
                  </a:lnSpc>
                  <a:spcBef>
                    <a:spcPts val="600"/>
                  </a:spcBef>
                </a:pPr>
                <a:r>
                  <a:rPr lang="ru-RU" sz="2000" b="1" dirty="0"/>
                  <a:t>Лаг</a:t>
                </a:r>
                <a:r>
                  <a:rPr lang="ru-RU" sz="2000" dirty="0"/>
                  <a:t> — это задержка во времени. </a:t>
                </a:r>
                <a:r>
                  <a:rPr lang="ru-RU" sz="2000" b="1" dirty="0"/>
                  <a:t>Лаг показывает, как прошлые данные влияют на текущее или будущее</a:t>
                </a:r>
                <a:r>
                  <a:rPr lang="ru-RU" sz="2000" dirty="0"/>
                  <a:t>.</a:t>
                </a:r>
              </a:p>
              <a:p>
                <a:pPr>
                  <a:lnSpc>
                    <a:spcPct val="120000"/>
                  </a:lnSpc>
                  <a:spcBef>
                    <a:spcPts val="600"/>
                  </a:spcBef>
                </a:pPr>
                <a:r>
                  <a:rPr lang="ru-RU" sz="2000" dirty="0"/>
                  <a:t>Лаг обозначается как  </a:t>
                </a:r>
                <a14:m>
                  <m:oMath xmlns:m="http://schemas.openxmlformats.org/officeDocument/2006/math">
                    <m:r>
                      <a:rPr lang="ru-RU" sz="2000" i="1" dirty="0">
                        <a:latin typeface="Cambria Math" panose="02040503050406030204" pitchFamily="18" charset="0"/>
                      </a:rPr>
                      <m:t>𝑦</m:t>
                    </m:r>
                  </m:oMath>
                </a14:m>
                <a:r>
                  <a:rPr lang="ru-RU" sz="2000" baseline="-25000" dirty="0"/>
                  <a:t>t−</a:t>
                </a:r>
                <a:r>
                  <a:rPr lang="en-US" sz="2000" baseline="-25000" dirty="0"/>
                  <a:t>p</a:t>
                </a:r>
                <a:r>
                  <a:rPr lang="ru-RU" sz="2000" baseline="-25000" dirty="0"/>
                  <a:t> </a:t>
                </a:r>
                <a:r>
                  <a:rPr lang="en-US" sz="2000" baseline="-25000" dirty="0"/>
                  <a:t>,</a:t>
                </a:r>
                <a:r>
                  <a:rPr lang="en-US" sz="2000" dirty="0"/>
                  <a:t> </a:t>
                </a:r>
                <a:r>
                  <a:rPr lang="ru-RU" sz="2000" dirty="0"/>
                  <a:t>где </a:t>
                </a:r>
                <a:r>
                  <a:rPr lang="en-US" sz="2000" dirty="0"/>
                  <a:t>p</a:t>
                </a:r>
                <a:r>
                  <a:rPr lang="ru-RU" sz="2000" dirty="0"/>
                  <a:t> — это число шагов назад.</a:t>
                </a:r>
                <a:endParaRPr lang="ru-RU" sz="1800" dirty="0"/>
              </a:p>
            </p:txBody>
          </p:sp>
        </mc:Choice>
        <mc:Fallback xmlns="">
          <p:sp>
            <p:nvSpPr>
              <p:cNvPr id="3" name="Объект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285149" y="3720759"/>
                <a:ext cx="6826743" cy="2085717"/>
              </a:xfrm>
              <a:blipFill>
                <a:blip r:embed="rId3"/>
                <a:stretch>
                  <a:fillRect l="-714" t="-1458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Номер слайда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5C3B737-A709-4ABC-AFE0-A6B067850C48}" type="slidenum">
              <a:rPr lang="en-US" smtClean="0"/>
              <a:t>15</a:t>
            </a:fld>
            <a:endParaRPr lang="en-US" dirty="0"/>
          </a:p>
        </p:txBody>
      </p:sp>
      <p:sp>
        <p:nvSpPr>
          <p:cNvPr id="14" name="Прямоугольник 13"/>
          <p:cNvSpPr/>
          <p:nvPr/>
        </p:nvSpPr>
        <p:spPr>
          <a:xfrm>
            <a:off x="163002" y="6447950"/>
            <a:ext cx="4746620" cy="307777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ru-RU" sz="1400" dirty="0"/>
              <a:t>https://shakhbanov.org/vvedenie-v-analiz-vremennyh-ryadov/</a:t>
            </a:r>
          </a:p>
        </p:txBody>
      </p:sp>
      <p:grpSp>
        <p:nvGrpSpPr>
          <p:cNvPr id="30" name="Группа 29"/>
          <p:cNvGrpSpPr/>
          <p:nvPr/>
        </p:nvGrpSpPr>
        <p:grpSpPr>
          <a:xfrm>
            <a:off x="6889334" y="3623058"/>
            <a:ext cx="5074706" cy="2758117"/>
            <a:chOff x="7350376" y="3922463"/>
            <a:chExt cx="4072158" cy="2691644"/>
          </a:xfrm>
        </p:grpSpPr>
        <p:pic>
          <p:nvPicPr>
            <p:cNvPr id="19" name="Picture 2">
              <a:extLst>
                <a:ext uri="{FF2B5EF4-FFF2-40B4-BE49-F238E27FC236}">
                  <a16:creationId xmlns:a16="http://schemas.microsoft.com/office/drawing/2014/main" id="{01CFA530-140F-8B29-4421-F07E4B98F3FA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7350376" y="3922463"/>
              <a:ext cx="4072158" cy="2511464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cxnSp>
          <p:nvCxnSpPr>
            <p:cNvPr id="16" name="Прямая соединительная линия 15"/>
            <p:cNvCxnSpPr/>
            <p:nvPr/>
          </p:nvCxnSpPr>
          <p:spPr>
            <a:xfrm>
              <a:off x="7886701" y="5143567"/>
              <a:ext cx="0" cy="1076258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" name="Прямая со стрелкой 17"/>
            <p:cNvCxnSpPr/>
            <p:nvPr/>
          </p:nvCxnSpPr>
          <p:spPr>
            <a:xfrm>
              <a:off x="7886701" y="5995988"/>
              <a:ext cx="771524" cy="0"/>
            </a:xfrm>
            <a:prstGeom prst="straightConnector1">
              <a:avLst/>
            </a:prstGeom>
            <a:ln>
              <a:headEnd type="triangle" w="med" len="med"/>
              <a:tailEnd type="triangl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0" name="TextBox 19"/>
            <p:cNvSpPr txBox="1"/>
            <p:nvPr/>
          </p:nvSpPr>
          <p:spPr>
            <a:xfrm>
              <a:off x="7993123" y="5929313"/>
              <a:ext cx="617477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ru-RU" dirty="0"/>
                <a:t>лаги</a:t>
              </a:r>
            </a:p>
          </p:txBody>
        </p:sp>
        <p:sp>
          <p:nvSpPr>
            <p:cNvPr id="21" name="TextBox 20"/>
            <p:cNvSpPr txBox="1"/>
            <p:nvPr/>
          </p:nvSpPr>
          <p:spPr>
            <a:xfrm>
              <a:off x="8610600" y="6244775"/>
              <a:ext cx="341312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 err="1"/>
                <a:t>y</a:t>
              </a:r>
              <a:r>
                <a:rPr lang="en-US" baseline="-25000" dirty="0" err="1"/>
                <a:t>t</a:t>
              </a:r>
              <a:endParaRPr lang="ru-RU" baseline="-25000" dirty="0"/>
            </a:p>
          </p:txBody>
        </p:sp>
        <p:sp>
          <p:nvSpPr>
            <p:cNvPr id="26" name="TextBox 25"/>
            <p:cNvSpPr txBox="1"/>
            <p:nvPr/>
          </p:nvSpPr>
          <p:spPr>
            <a:xfrm>
              <a:off x="7745612" y="6238373"/>
              <a:ext cx="495022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 err="1"/>
                <a:t>y</a:t>
              </a:r>
              <a:r>
                <a:rPr lang="en-US" baseline="-25000" dirty="0" err="1"/>
                <a:t>t</a:t>
              </a:r>
              <a:r>
                <a:rPr lang="en-US" baseline="-25000" dirty="0"/>
                <a:t>-p</a:t>
              </a:r>
              <a:endParaRPr lang="ru-RU" baseline="-25000" dirty="0"/>
            </a:p>
          </p:txBody>
        </p:sp>
        <p:sp>
          <p:nvSpPr>
            <p:cNvPr id="27" name="TextBox 26"/>
            <p:cNvSpPr txBox="1"/>
            <p:nvPr/>
          </p:nvSpPr>
          <p:spPr>
            <a:xfrm>
              <a:off x="10862540" y="6220547"/>
              <a:ext cx="498406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 err="1"/>
                <a:t>y</a:t>
              </a:r>
              <a:r>
                <a:rPr lang="en-US" baseline="-25000" dirty="0" err="1"/>
                <a:t>t+h</a:t>
              </a:r>
              <a:endParaRPr lang="ru-RU" baseline="-25000" dirty="0"/>
            </a:p>
          </p:txBody>
        </p:sp>
        <p:sp>
          <p:nvSpPr>
            <p:cNvPr id="28" name="TextBox 27"/>
            <p:cNvSpPr txBox="1"/>
            <p:nvPr/>
          </p:nvSpPr>
          <p:spPr>
            <a:xfrm>
              <a:off x="8632478" y="5687378"/>
              <a:ext cx="2457468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r"/>
              <a:r>
                <a:rPr lang="ru-RU" dirty="0"/>
                <a:t>Горизонт прогнозирования</a:t>
              </a:r>
            </a:p>
          </p:txBody>
        </p:sp>
        <p:cxnSp>
          <p:nvCxnSpPr>
            <p:cNvPr id="29" name="Прямая со стрелкой 28"/>
            <p:cNvCxnSpPr>
              <a:endCxn id="28" idx="3"/>
            </p:cNvCxnSpPr>
            <p:nvPr/>
          </p:nvCxnSpPr>
          <p:spPr>
            <a:xfrm>
              <a:off x="8670926" y="5999163"/>
              <a:ext cx="2419020" cy="11381"/>
            </a:xfrm>
            <a:prstGeom prst="straightConnector1">
              <a:avLst/>
            </a:prstGeom>
            <a:ln>
              <a:headEnd type="triangle" w="med" len="med"/>
              <a:tailEnd type="triangl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1" name="Прямая соединительная линия 30"/>
            <p:cNvCxnSpPr/>
            <p:nvPr/>
          </p:nvCxnSpPr>
          <p:spPr>
            <a:xfrm>
              <a:off x="11089946" y="5092079"/>
              <a:ext cx="0" cy="1152696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0" name="Прямая соединительная линия 39"/>
            <p:cNvCxnSpPr/>
            <p:nvPr/>
          </p:nvCxnSpPr>
          <p:spPr>
            <a:xfrm>
              <a:off x="7764409" y="5143567"/>
              <a:ext cx="0" cy="1110669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49" name="TextBox 48"/>
            <p:cNvSpPr txBox="1"/>
            <p:nvPr/>
          </p:nvSpPr>
          <p:spPr>
            <a:xfrm>
              <a:off x="7594656" y="4798615"/>
              <a:ext cx="782798" cy="3604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ru-RU" dirty="0"/>
                <a:t>Шаг ВР</a:t>
              </a:r>
              <a:endParaRPr lang="ru-RU" baseline="-25000" dirty="0"/>
            </a:p>
          </p:txBody>
        </p:sp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25" name="Прямоугольник 24"/>
              <p:cNvSpPr/>
              <p:nvPr/>
            </p:nvSpPr>
            <p:spPr>
              <a:xfrm>
                <a:off x="285149" y="964689"/>
                <a:ext cx="11497875" cy="2329036"/>
              </a:xfrm>
              <a:prstGeom prst="rect">
                <a:avLst/>
              </a:prstGeom>
            </p:spPr>
            <p:txBody>
              <a:bodyPr wrap="square">
                <a:spAutoFit/>
              </a:bodyPr>
              <a:lstStyle/>
              <a:p>
                <a:pPr marL="285750" indent="-285750">
                  <a:spcBef>
                    <a:spcPts val="600"/>
                  </a:spcBef>
                  <a:buFont typeface="Arial" panose="020B0604020202020204" pitchFamily="34" charset="0"/>
                  <a:buChar char="•"/>
                </a:pPr>
                <a:r>
                  <a:rPr lang="ru-RU" sz="2000" dirty="0"/>
                  <a:t>Значение в момент времени </a:t>
                </a:r>
                <a14:m>
                  <m:oMath xmlns:m="http://schemas.openxmlformats.org/officeDocument/2006/math">
                    <m:r>
                      <a:rPr lang="ru-RU" sz="2000" b="1" i="1" dirty="0">
                        <a:latin typeface="Cambria Math" panose="02040503050406030204" pitchFamily="18" charset="0"/>
                      </a:rPr>
                      <m:t>𝒕</m:t>
                    </m:r>
                  </m:oMath>
                </a14:m>
                <a:r>
                  <a:rPr lang="ru-RU" sz="2000" dirty="0"/>
                  <a:t> — это </a:t>
                </a:r>
                <a14:m>
                  <m:oMath xmlns:m="http://schemas.openxmlformats.org/officeDocument/2006/math">
                    <m:r>
                      <a:rPr lang="ru-RU" sz="2000" b="1" i="1" dirty="0">
                        <a:latin typeface="Cambria Math" panose="02040503050406030204" pitchFamily="18" charset="0"/>
                      </a:rPr>
                      <m:t>𝒚</m:t>
                    </m:r>
                    <m:r>
                      <a:rPr lang="ru-RU" sz="2000" b="1" i="1" baseline="-25000" dirty="0" err="1">
                        <a:latin typeface="Cambria Math" panose="02040503050406030204" pitchFamily="18" charset="0"/>
                      </a:rPr>
                      <m:t>𝒕</m:t>
                    </m:r>
                  </m:oMath>
                </a14:m>
                <a:r>
                  <a:rPr lang="ru-RU" sz="2000" dirty="0"/>
                  <a:t>. </a:t>
                </a:r>
              </a:p>
              <a:p>
                <a:pPr marL="285750" indent="-285750">
                  <a:spcBef>
                    <a:spcPts val="600"/>
                  </a:spcBef>
                  <a:buFont typeface="Arial" panose="020B0604020202020204" pitchFamily="34" charset="0"/>
                  <a:buChar char="•"/>
                </a:pPr>
                <a:r>
                  <a:rPr lang="ru-RU" sz="2000" dirty="0"/>
                  <a:t>Прошлое — обозначается как </a:t>
                </a:r>
                <a14:m>
                  <m:oMath xmlns:m="http://schemas.openxmlformats.org/officeDocument/2006/math">
                    <m:r>
                      <a:rPr lang="ru-RU" sz="2000" b="1" i="1" dirty="0">
                        <a:latin typeface="Cambria Math" panose="02040503050406030204" pitchFamily="18" charset="0"/>
                      </a:rPr>
                      <m:t>𝒕</m:t>
                    </m:r>
                    <m:r>
                      <a:rPr lang="ru-RU" sz="2000" b="1" i="1" dirty="0">
                        <a:latin typeface="Cambria Math" panose="02040503050406030204" pitchFamily="18" charset="0"/>
                      </a:rPr>
                      <m:t>−</m:t>
                    </m:r>
                    <m:r>
                      <a:rPr lang="ru-RU" sz="2000" b="1" i="1" dirty="0">
                        <a:latin typeface="Cambria Math" panose="02040503050406030204" pitchFamily="18" charset="0"/>
                      </a:rPr>
                      <m:t>𝟏</m:t>
                    </m:r>
                    <m:r>
                      <a:rPr lang="ru-RU" sz="2000" b="1" i="1" dirty="0">
                        <a:latin typeface="Cambria Math" panose="02040503050406030204" pitchFamily="18" charset="0"/>
                      </a:rPr>
                      <m:t>, </m:t>
                    </m:r>
                    <m:r>
                      <a:rPr lang="ru-RU" sz="2000" b="1" i="1" dirty="0">
                        <a:latin typeface="Cambria Math" panose="02040503050406030204" pitchFamily="18" charset="0"/>
                      </a:rPr>
                      <m:t>𝒕</m:t>
                    </m:r>
                    <m:r>
                      <a:rPr lang="ru-RU" sz="2000" b="1" i="1" dirty="0">
                        <a:latin typeface="Cambria Math" panose="02040503050406030204" pitchFamily="18" charset="0"/>
                      </a:rPr>
                      <m:t>−</m:t>
                    </m:r>
                    <m:r>
                      <a:rPr lang="ru-RU" sz="2000" b="1" i="1" dirty="0">
                        <a:latin typeface="Cambria Math" panose="02040503050406030204" pitchFamily="18" charset="0"/>
                      </a:rPr>
                      <m:t>𝟐</m:t>
                    </m:r>
                    <m:r>
                      <a:rPr lang="ru-RU" sz="2000" b="1" i="1" dirty="0">
                        <a:latin typeface="Cambria Math" panose="02040503050406030204" pitchFamily="18" charset="0"/>
                      </a:rPr>
                      <m:t>, … </m:t>
                    </m:r>
                  </m:oMath>
                </a14:m>
                <a:r>
                  <a:rPr lang="ru-RU" sz="2000" dirty="0"/>
                  <a:t>напр. температура вчера — </a:t>
                </a:r>
                <a14:m>
                  <m:oMath xmlns:m="http://schemas.openxmlformats.org/officeDocument/2006/math">
                    <m:r>
                      <a:rPr lang="ru-RU" sz="2000" i="1" dirty="0">
                        <a:latin typeface="Cambria Math" panose="02040503050406030204" pitchFamily="18" charset="0"/>
                      </a:rPr>
                      <m:t>𝑦</m:t>
                    </m:r>
                  </m:oMath>
                </a14:m>
                <a:r>
                  <a:rPr lang="ru-RU" sz="2000" baseline="-25000" dirty="0"/>
                  <a:t>t−1</a:t>
                </a:r>
                <a:r>
                  <a:rPr lang="ru-RU" sz="2000" dirty="0"/>
                  <a:t>.</a:t>
                </a:r>
              </a:p>
              <a:p>
                <a:pPr marL="285750" indent="-285750">
                  <a:spcBef>
                    <a:spcPts val="600"/>
                  </a:spcBef>
                  <a:buFont typeface="Arial" panose="020B0604020202020204" pitchFamily="34" charset="0"/>
                  <a:buChar char="•"/>
                </a:pPr>
                <a:r>
                  <a:rPr lang="ru-RU" sz="2000" dirty="0"/>
                  <a:t>Будущее — обозначается как </a:t>
                </a:r>
                <a14:m>
                  <m:oMath xmlns:m="http://schemas.openxmlformats.org/officeDocument/2006/math">
                    <m:r>
                      <a:rPr lang="ru-RU" sz="2000" b="1" i="1" dirty="0">
                        <a:latin typeface="Cambria Math" panose="02040503050406030204" pitchFamily="18" charset="0"/>
                      </a:rPr>
                      <m:t>𝒕</m:t>
                    </m:r>
                    <m:r>
                      <a:rPr lang="ru-RU" sz="2000" b="1" i="1" dirty="0">
                        <a:latin typeface="Cambria Math" panose="02040503050406030204" pitchFamily="18" charset="0"/>
                      </a:rPr>
                      <m:t>+</m:t>
                    </m:r>
                    <m:r>
                      <a:rPr lang="ru-RU" sz="2000" b="1" i="1" dirty="0">
                        <a:latin typeface="Cambria Math" panose="02040503050406030204" pitchFamily="18" charset="0"/>
                      </a:rPr>
                      <m:t>𝟏</m:t>
                    </m:r>
                    <m:r>
                      <a:rPr lang="ru-RU" sz="2000" b="1" i="1" dirty="0">
                        <a:latin typeface="Cambria Math" panose="02040503050406030204" pitchFamily="18" charset="0"/>
                      </a:rPr>
                      <m:t>, </m:t>
                    </m:r>
                    <m:r>
                      <a:rPr lang="ru-RU" sz="2000" b="1" i="1" dirty="0">
                        <a:latin typeface="Cambria Math" panose="02040503050406030204" pitchFamily="18" charset="0"/>
                      </a:rPr>
                      <m:t>𝒕</m:t>
                    </m:r>
                    <m:r>
                      <a:rPr lang="ru-RU" sz="2000" b="1" i="1" dirty="0">
                        <a:latin typeface="Cambria Math" panose="02040503050406030204" pitchFamily="18" charset="0"/>
                      </a:rPr>
                      <m:t>+</m:t>
                    </m:r>
                    <m:r>
                      <a:rPr lang="ru-RU" sz="2000" b="1" i="1" dirty="0">
                        <a:latin typeface="Cambria Math" panose="02040503050406030204" pitchFamily="18" charset="0"/>
                      </a:rPr>
                      <m:t>𝟐</m:t>
                    </m:r>
                    <m:r>
                      <a:rPr lang="ru-RU" sz="2000" b="1" i="1" dirty="0">
                        <a:latin typeface="Cambria Math" panose="02040503050406030204" pitchFamily="18" charset="0"/>
                      </a:rPr>
                      <m:t>, … </m:t>
                    </m:r>
                  </m:oMath>
                </a14:m>
                <a:r>
                  <a:rPr lang="ru-RU" sz="2000" dirty="0"/>
                  <a:t>напр. прогноз температуры на завтра — </a:t>
                </a:r>
                <a14:m>
                  <m:oMath xmlns:m="http://schemas.openxmlformats.org/officeDocument/2006/math">
                    <m:r>
                      <a:rPr lang="ru-RU" sz="2000" i="1" dirty="0">
                        <a:latin typeface="Cambria Math" panose="02040503050406030204" pitchFamily="18" charset="0"/>
                      </a:rPr>
                      <m:t>𝑦</m:t>
                    </m:r>
                  </m:oMath>
                </a14:m>
                <a:r>
                  <a:rPr lang="ru-RU" sz="2000" baseline="-25000" dirty="0"/>
                  <a:t>t+1</a:t>
                </a:r>
                <a:r>
                  <a:rPr lang="ru-RU" sz="2000" dirty="0"/>
                  <a:t>.</a:t>
                </a:r>
              </a:p>
              <a:p>
                <a:pPr marL="285750" indent="-285750">
                  <a:spcBef>
                    <a:spcPts val="600"/>
                  </a:spcBef>
                  <a:buFont typeface="Arial" panose="020B0604020202020204" pitchFamily="34" charset="0"/>
                  <a:buChar char="•"/>
                </a:pPr>
                <a:r>
                  <a:rPr lang="ru-RU" sz="2000" dirty="0"/>
                  <a:t>Прогнозы на </a:t>
                </a:r>
                <a14:m>
                  <m:oMath xmlns:m="http://schemas.openxmlformats.org/officeDocument/2006/math">
                    <m:r>
                      <a:rPr lang="en-US" sz="2000" b="1" i="1" dirty="0">
                        <a:latin typeface="Cambria Math" panose="02040503050406030204" pitchFamily="18" charset="0"/>
                      </a:rPr>
                      <m:t>𝒉</m:t>
                    </m:r>
                  </m:oMath>
                </a14:m>
                <a:r>
                  <a:rPr lang="en-US" sz="2000" dirty="0"/>
                  <a:t> </a:t>
                </a:r>
                <a:r>
                  <a:rPr lang="ru-RU" sz="2000" dirty="0"/>
                  <a:t>шагов вперед – </a:t>
                </a:r>
                <a:r>
                  <a:rPr lang="ru-RU" sz="2000" b="1" dirty="0"/>
                  <a:t>горизонт прогнозирования </a:t>
                </a:r>
                <a:endParaRPr lang="en-US" sz="2000" b="1" dirty="0"/>
              </a:p>
              <a:p>
                <a:pPr marL="285750" indent="-285750">
                  <a:spcBef>
                    <a:spcPts val="600"/>
                  </a:spcBef>
                  <a:buFont typeface="Arial" panose="020B0604020202020204" pitchFamily="34" charset="0"/>
                  <a:buChar char="•"/>
                </a:pPr>
                <a:r>
                  <a:rPr lang="ru-RU" sz="2000" dirty="0"/>
                  <a:t>Предсказанное значение на шаге </a:t>
                </a:r>
                <a14:m>
                  <m:oMath xmlns:m="http://schemas.openxmlformats.org/officeDocument/2006/math">
                    <m:r>
                      <a:rPr lang="en-US" sz="2000" b="1" i="1" dirty="0">
                        <a:latin typeface="Cambria Math" panose="02040503050406030204" pitchFamily="18" charset="0"/>
                      </a:rPr>
                      <m:t>𝒉</m:t>
                    </m:r>
                  </m:oMath>
                </a14:m>
                <a:r>
                  <a:rPr lang="en-US" sz="2000" dirty="0"/>
                  <a:t> </a:t>
                </a:r>
                <a:r>
                  <a:rPr lang="ru-RU" sz="2000" dirty="0"/>
                  <a:t>обозначим как </a:t>
                </a:r>
                <a14:m>
                  <m:oMath xmlns:m="http://schemas.openxmlformats.org/officeDocument/2006/math">
                    <m:acc>
                      <m:accPr>
                        <m:chr m:val="̂"/>
                        <m:ctrlPr>
                          <a:rPr lang="en-US" sz="2000" b="1" i="1" dirty="0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sz="2000" b="1" i="1" dirty="0">
                            <a:latin typeface="Cambria Math" panose="02040503050406030204" pitchFamily="18" charset="0"/>
                          </a:rPr>
                          <m:t>𝒚</m:t>
                        </m:r>
                      </m:e>
                    </m:acc>
                    <m:r>
                      <m:rPr>
                        <m:nor/>
                      </m:rPr>
                      <a:rPr lang="ru-RU" sz="2000" b="1" baseline="-25000" dirty="0"/>
                      <m:t>t</m:t>
                    </m:r>
                    <m:r>
                      <m:rPr>
                        <m:nor/>
                      </m:rPr>
                      <a:rPr lang="ru-RU" sz="2000" b="1" baseline="-25000" dirty="0"/>
                      <m:t>+</m:t>
                    </m:r>
                    <m:r>
                      <m:rPr>
                        <m:nor/>
                      </m:rPr>
                      <a:rPr lang="en-US" sz="2000" b="1" baseline="-25000" dirty="0"/>
                      <m:t>h</m:t>
                    </m:r>
                  </m:oMath>
                </a14:m>
                <a:endParaRPr lang="ru-RU" sz="2000" b="1" dirty="0"/>
              </a:p>
              <a:p>
                <a:pPr marL="285750" indent="-285750">
                  <a:spcBef>
                    <a:spcPts val="600"/>
                  </a:spcBef>
                  <a:buFont typeface="Arial" panose="020B0604020202020204" pitchFamily="34" charset="0"/>
                  <a:buChar char="•"/>
                </a:pPr>
                <a:r>
                  <a:rPr lang="ru-RU" sz="2000" b="1" dirty="0"/>
                  <a:t>Задача прогнозирования</a:t>
                </a:r>
                <a14:m>
                  <m:oMath xmlns:m="http://schemas.openxmlformats.org/officeDocument/2006/math">
                    <m:r>
                      <a:rPr lang="en-US" sz="2000" b="1" i="0" dirty="0" smtClean="0">
                        <a:latin typeface="Cambria Math" panose="02040503050406030204" pitchFamily="18" charset="0"/>
                      </a:rPr>
                      <m:t> </m:t>
                    </m:r>
                    <m:r>
                      <a:rPr lang="fr-FR" sz="2000" i="1" dirty="0">
                        <a:latin typeface="Cambria Math" panose="02040503050406030204" pitchFamily="18" charset="0"/>
                      </a:rPr>
                      <m:t>𝐸</m:t>
                    </m:r>
                    <m:d>
                      <m:dPr>
                        <m:ctrlPr>
                          <a:rPr lang="fr-FR" sz="2000" i="1" dirty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fr-FR" sz="2000" i="1" dirty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acc>
                              <m:accPr>
                                <m:chr m:val="̂"/>
                                <m:ctrlPr>
                                  <a:rPr lang="en-US" sz="2000" i="1" dirty="0">
                                    <a:latin typeface="Cambria Math" panose="02040503050406030204" pitchFamily="18" charset="0"/>
                                  </a:rPr>
                                </m:ctrlPr>
                              </m:accPr>
                              <m:e>
                                <m:r>
                                  <a:rPr lang="en-US" sz="2000" i="1" dirty="0">
                                    <a:latin typeface="Cambria Math" panose="02040503050406030204" pitchFamily="18" charset="0"/>
                                  </a:rPr>
                                  <m:t>𝑦</m:t>
                                </m:r>
                              </m:e>
                            </m:acc>
                          </m:e>
                          <m:sub>
                            <m:r>
                              <a:rPr lang="fr-FR" sz="2000" i="1" dirty="0">
                                <a:latin typeface="Cambria Math" panose="02040503050406030204" pitchFamily="18" charset="0"/>
                              </a:rPr>
                              <m:t>𝑇</m:t>
                            </m:r>
                          </m:sub>
                        </m:sSub>
                        <m:r>
                          <a:rPr lang="fr-FR" sz="2000" i="1" dirty="0">
                            <a:latin typeface="Cambria Math" panose="02040503050406030204" pitchFamily="18" charset="0"/>
                          </a:rPr>
                          <m:t>+</m:t>
                        </m:r>
                        <m:r>
                          <a:rPr lang="fr-FR" sz="2000" i="1" dirty="0">
                            <a:latin typeface="Cambria Math" panose="02040503050406030204" pitchFamily="18" charset="0"/>
                          </a:rPr>
                          <m:t>h</m:t>
                        </m:r>
                        <m:r>
                          <a:rPr lang="fr-FR" sz="2000" i="1" dirty="0">
                            <a:latin typeface="Cambria Math" panose="02040503050406030204" pitchFamily="18" charset="0"/>
                          </a:rPr>
                          <m:t>∣</m:t>
                        </m:r>
                        <m:sSubSup>
                          <m:sSubSupPr>
                            <m:ctrlPr>
                              <a:rPr lang="fr-FR" sz="2000" i="1" dirty="0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d>
                              <m:dPr>
                                <m:ctrlPr>
                                  <a:rPr lang="fr-FR" sz="2000" i="1" dirty="0"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sSub>
                                  <m:sSubPr>
                                    <m:ctrlPr>
                                      <a:rPr lang="fr-FR" sz="2000" i="1" dirty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fr-FR" sz="2000" i="1" dirty="0">
                                        <a:latin typeface="Cambria Math" panose="02040503050406030204" pitchFamily="18" charset="0"/>
                                      </a:rPr>
                                      <m:t>𝑦</m:t>
                                    </m:r>
                                  </m:e>
                                  <m:sub>
                                    <m:r>
                                      <a:rPr lang="fr-FR" sz="2000" i="1" dirty="0">
                                        <a:latin typeface="Cambria Math" panose="02040503050406030204" pitchFamily="18" charset="0"/>
                                      </a:rPr>
                                      <m:t>𝑡</m:t>
                                    </m:r>
                                  </m:sub>
                                </m:sSub>
                              </m:e>
                            </m:d>
                          </m:e>
                          <m:sub>
                            <m:r>
                              <a:rPr lang="fr-FR" sz="2000" i="1" dirty="0">
                                <a:latin typeface="Cambria Math" panose="02040503050406030204" pitchFamily="18" charset="0"/>
                              </a:rPr>
                              <m:t>𝑡</m:t>
                            </m:r>
                            <m:r>
                              <a:rPr lang="fr-FR" sz="2000" i="1" dirty="0">
                                <a:latin typeface="Cambria Math" panose="02040503050406030204" pitchFamily="18" charset="0"/>
                              </a:rPr>
                              <m:t>=1</m:t>
                            </m:r>
                          </m:sub>
                          <m:sup>
                            <m:r>
                              <a:rPr lang="fr-FR" sz="2000" i="1" dirty="0">
                                <a:latin typeface="Cambria Math" panose="02040503050406030204" pitchFamily="18" charset="0"/>
                              </a:rPr>
                              <m:t>𝑇</m:t>
                            </m:r>
                          </m:sup>
                        </m:sSubSup>
                      </m:e>
                    </m:d>
                    <m:r>
                      <a:rPr lang="en-US" sz="2000" b="0" i="1" dirty="0" smtClean="0">
                        <a:latin typeface="Cambria Math" panose="02040503050406030204" pitchFamily="18" charset="0"/>
                      </a:rPr>
                      <m:t>→</m:t>
                    </m:r>
                    <m:sSub>
                      <m:sSubPr>
                        <m:ctrlPr>
                          <a:rPr lang="fr-FR" sz="2000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000" i="1" dirty="0"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  <m:sub>
                        <m:r>
                          <a:rPr lang="fr-FR" sz="2000" i="1" dirty="0">
                            <a:latin typeface="Cambria Math" panose="02040503050406030204" pitchFamily="18" charset="0"/>
                          </a:rPr>
                          <m:t>𝑇</m:t>
                        </m:r>
                      </m:sub>
                    </m:sSub>
                    <m:r>
                      <a:rPr lang="fr-FR" sz="2000" i="1" dirty="0">
                        <a:latin typeface="Cambria Math" panose="02040503050406030204" pitchFamily="18" charset="0"/>
                      </a:rPr>
                      <m:t>+</m:t>
                    </m:r>
                    <m:r>
                      <a:rPr lang="fr-FR" sz="2000" i="1" dirty="0">
                        <a:latin typeface="Cambria Math" panose="02040503050406030204" pitchFamily="18" charset="0"/>
                      </a:rPr>
                      <m:t>h</m:t>
                    </m:r>
                  </m:oMath>
                </a14:m>
                <a:endParaRPr lang="en-US" sz="2000" dirty="0"/>
              </a:p>
            </p:txBody>
          </p:sp>
        </mc:Choice>
        <mc:Fallback xmlns="">
          <p:sp>
            <p:nvSpPr>
              <p:cNvPr id="25" name="Прямоугольник 24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85149" y="964689"/>
                <a:ext cx="11497875" cy="2329036"/>
              </a:xfrm>
              <a:prstGeom prst="rect">
                <a:avLst/>
              </a:prstGeom>
              <a:blipFill>
                <a:blip r:embed="rId5"/>
                <a:stretch>
                  <a:fillRect l="-477" t="-1309" b="-3927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7" name="TextBox 36">
            <a:extLst>
              <a:ext uri="{FF2B5EF4-FFF2-40B4-BE49-F238E27FC236}">
                <a16:creationId xmlns:a16="http://schemas.microsoft.com/office/drawing/2014/main" id="{E58F1B07-EE24-C7CD-1951-723D0C1BF829}"/>
              </a:ext>
            </a:extLst>
          </p:cNvPr>
          <p:cNvSpPr txBox="1"/>
          <p:nvPr/>
        </p:nvSpPr>
        <p:spPr>
          <a:xfrm>
            <a:off x="4795818" y="6478728"/>
            <a:ext cx="6746913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sz="1200" dirty="0" err="1"/>
              <a:t>https</a:t>
            </a:r>
            <a:r>
              <a:rPr lang="ru-RU" sz="1200" dirty="0"/>
              <a:t>://</a:t>
            </a:r>
            <a:r>
              <a:rPr lang="ru-RU" sz="1200" dirty="0" err="1"/>
              <a:t>colab.research.google.com</a:t>
            </a:r>
            <a:r>
              <a:rPr lang="ru-RU" sz="1200" dirty="0"/>
              <a:t>/</a:t>
            </a:r>
            <a:r>
              <a:rPr lang="ru-RU" sz="1200" dirty="0" err="1"/>
              <a:t>drive</a:t>
            </a:r>
            <a:r>
              <a:rPr lang="ru-RU" sz="1200" dirty="0"/>
              <a:t>/1EnMNj9cTV1JhMQBvx2VvXaahxBPoCDML?usp=</a:t>
            </a:r>
            <a:r>
              <a:rPr lang="ru-RU" sz="1200" dirty="0" err="1"/>
              <a:t>sharing</a:t>
            </a:r>
            <a:endParaRPr lang="ru-RU" sz="1200" dirty="0"/>
          </a:p>
        </p:txBody>
      </p:sp>
      <p:cxnSp>
        <p:nvCxnSpPr>
          <p:cNvPr id="39" name="Прямая со стрелкой 38"/>
          <p:cNvCxnSpPr/>
          <p:nvPr/>
        </p:nvCxnSpPr>
        <p:spPr>
          <a:xfrm flipH="1">
            <a:off x="7557700" y="5007216"/>
            <a:ext cx="286138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2" name="Прямая соединительная линия 41"/>
          <p:cNvCxnSpPr/>
          <p:nvPr/>
        </p:nvCxnSpPr>
        <p:spPr>
          <a:xfrm flipH="1">
            <a:off x="7405300" y="5003006"/>
            <a:ext cx="152400" cy="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4" name="Прямая со стрелкой 43"/>
          <p:cNvCxnSpPr/>
          <p:nvPr/>
        </p:nvCxnSpPr>
        <p:spPr>
          <a:xfrm>
            <a:off x="7193756" y="5003006"/>
            <a:ext cx="211544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514311435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572877" y="365126"/>
            <a:ext cx="10780923" cy="637410"/>
          </a:xfrm>
        </p:spPr>
        <p:txBody>
          <a:bodyPr>
            <a:normAutofit fontScale="90000"/>
          </a:bodyPr>
          <a:lstStyle/>
          <a:p>
            <a:r>
              <a:rPr lang="ru-RU" b="1" dirty="0">
                <a:ea typeface="Calibri" panose="020F0502020204030204" pitchFamily="34" charset="0"/>
                <a:cs typeface="Times New Roman" panose="02020603050405020304" pitchFamily="18" charset="0"/>
              </a:rPr>
              <a:t>Анализ временных рядов</a:t>
            </a:r>
            <a:endParaRPr lang="ru-RU" dirty="0"/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>
          <a:xfrm>
            <a:off x="309389" y="1528170"/>
            <a:ext cx="3028721" cy="4351338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ru-RU" sz="2400" dirty="0"/>
              <a:t>Строгая последовательность данных – это всегда дополнительная информация и часто важная!</a:t>
            </a:r>
          </a:p>
          <a:p>
            <a:pPr marL="0" indent="0">
              <a:buNone/>
            </a:pPr>
            <a:endParaRPr lang="ru-RU" sz="2400" dirty="0"/>
          </a:p>
          <a:p>
            <a:pPr marL="0" indent="0">
              <a:buNone/>
            </a:pPr>
            <a:r>
              <a:rPr lang="ru-RU" sz="2400" dirty="0"/>
              <a:t>Последовательность данных нарушать нельзя!</a:t>
            </a: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5C3B737-A709-4ABC-AFE0-A6B067850C48}" type="slidenum">
              <a:rPr lang="en-US" smtClean="0"/>
              <a:t>16</a:t>
            </a:fld>
            <a:endParaRPr lang="en-US"/>
          </a:p>
        </p:txBody>
      </p:sp>
      <p:pic>
        <p:nvPicPr>
          <p:cNvPr id="1026" name="Picture 2" descr="Evaluation of statistical and machine learning models for time series  prediction: Identifying the state-of-the-art and the best conditions for  the use of each model - ScienceDirect">
            <a:extLst>
              <a:ext uri="{FF2B5EF4-FFF2-40B4-BE49-F238E27FC236}">
                <a16:creationId xmlns:a16="http://schemas.microsoft.com/office/drawing/2014/main" id="{CF0134DE-2972-2DC6-F324-4B473D1A8F1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496020" y="1460179"/>
            <a:ext cx="8386590" cy="455943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26B87D2F-F4DD-DA49-1AAC-60C600287B1E}"/>
              </a:ext>
            </a:extLst>
          </p:cNvPr>
          <p:cNvSpPr txBox="1"/>
          <p:nvPr/>
        </p:nvSpPr>
        <p:spPr>
          <a:xfrm>
            <a:off x="4527933" y="6270587"/>
            <a:ext cx="838659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dirty="0" err="1"/>
              <a:t>https</a:t>
            </a:r>
            <a:r>
              <a:rPr lang="ru-RU" dirty="0"/>
              <a:t>://</a:t>
            </a:r>
            <a:r>
              <a:rPr lang="ru-RU" dirty="0" err="1"/>
              <a:t>www.sciencedirect.com</a:t>
            </a:r>
            <a:r>
              <a:rPr lang="ru-RU" dirty="0"/>
              <a:t>/</a:t>
            </a:r>
            <a:r>
              <a:rPr lang="ru-RU" dirty="0" err="1"/>
              <a:t>science</a:t>
            </a:r>
            <a:r>
              <a:rPr lang="ru-RU" dirty="0"/>
              <a:t>/</a:t>
            </a:r>
            <a:r>
              <a:rPr lang="ru-RU" dirty="0" err="1"/>
              <a:t>article</a:t>
            </a:r>
            <a:r>
              <a:rPr lang="ru-RU" dirty="0"/>
              <a:t>/</a:t>
            </a:r>
            <a:r>
              <a:rPr lang="ru-RU" dirty="0" err="1"/>
              <a:t>abs</a:t>
            </a:r>
            <a:r>
              <a:rPr lang="ru-RU" dirty="0"/>
              <a:t>/</a:t>
            </a:r>
            <a:r>
              <a:rPr lang="ru-RU" dirty="0" err="1"/>
              <a:t>pii</a:t>
            </a:r>
            <a:r>
              <a:rPr lang="ru-RU" dirty="0"/>
              <a:t>/S0020025519300945</a:t>
            </a:r>
          </a:p>
        </p:txBody>
      </p:sp>
    </p:spTree>
    <p:extLst>
      <p:ext uri="{BB962C8B-B14F-4D97-AF65-F5344CB8AC3E}">
        <p14:creationId xmlns:p14="http://schemas.microsoft.com/office/powerpoint/2010/main" val="2930335002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Рисунок 8">
            <a:extLst>
              <a:ext uri="{FF2B5EF4-FFF2-40B4-BE49-F238E27FC236}">
                <a16:creationId xmlns:a16="http://schemas.microsoft.com/office/drawing/2014/main" id="{7C0DF5D5-7D67-E283-56B4-5F90AB037BF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5788" y="1036503"/>
            <a:ext cx="5002837" cy="4793379"/>
          </a:xfrm>
          <a:prstGeom prst="rect">
            <a:avLst/>
          </a:prstGeom>
        </p:spPr>
      </p:pic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902D1D9A-7D65-F70A-BCFB-4AAC3B1AC39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63557" y="365125"/>
            <a:ext cx="10990243" cy="747579"/>
          </a:xfrm>
        </p:spPr>
        <p:txBody>
          <a:bodyPr/>
          <a:lstStyle/>
          <a:p>
            <a:r>
              <a:rPr lang="en-US" dirty="0" err="1"/>
              <a:t>Пост</a:t>
            </a:r>
            <a:r>
              <a:rPr lang="ru-RU" dirty="0" err="1"/>
              <a:t>ановка</a:t>
            </a:r>
            <a:r>
              <a:rPr lang="ru-RU" dirty="0"/>
              <a:t> задачи анализа ВР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075001AD-C988-EFE6-BAB1-1D06788E8D1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02790" y="937510"/>
            <a:ext cx="7312789" cy="5783965"/>
          </a:xfrm>
        </p:spPr>
        <p:txBody>
          <a:bodyPr>
            <a:normAutofit fontScale="77500" lnSpcReduction="20000"/>
          </a:bodyPr>
          <a:lstStyle/>
          <a:p>
            <a:r>
              <a:rPr lang="ru-RU" sz="2400" b="1" dirty="0"/>
              <a:t>Как устроен ВР </a:t>
            </a:r>
          </a:p>
          <a:p>
            <a:pPr lvl="1"/>
            <a:r>
              <a:rPr lang="ru-RU" sz="2000" b="1" dirty="0"/>
              <a:t>От куда берутся значения ВР</a:t>
            </a:r>
            <a:r>
              <a:rPr lang="ru-RU" sz="2000" dirty="0"/>
              <a:t>, типы данных и однотипность, количество</a:t>
            </a:r>
          </a:p>
          <a:p>
            <a:pPr lvl="1"/>
            <a:r>
              <a:rPr lang="ru-RU" b="1" dirty="0"/>
              <a:t>структура</a:t>
            </a:r>
            <a:r>
              <a:rPr lang="en-US" b="1" dirty="0"/>
              <a:t> </a:t>
            </a:r>
            <a:r>
              <a:rPr lang="ru-RU" b="1" dirty="0"/>
              <a:t>ВР </a:t>
            </a:r>
            <a:r>
              <a:rPr lang="ru-RU" dirty="0"/>
              <a:t>(переменные, экзогенные факторы, регулярность паттернов, стат. характеристики)</a:t>
            </a:r>
          </a:p>
          <a:p>
            <a:pPr lvl="1"/>
            <a:r>
              <a:rPr lang="ru-RU" dirty="0"/>
              <a:t>шаг, равномерность, пропуск и </a:t>
            </a:r>
            <a:r>
              <a:rPr lang="ru-RU" dirty="0" err="1"/>
              <a:t>тд</a:t>
            </a:r>
            <a:r>
              <a:rPr lang="ru-RU" dirty="0"/>
              <a:t> , как заполнять?</a:t>
            </a:r>
          </a:p>
          <a:p>
            <a:r>
              <a:rPr lang="ru-RU" sz="2400" b="1" dirty="0"/>
              <a:t>Преобразование данных </a:t>
            </a:r>
          </a:p>
          <a:p>
            <a:pPr lvl="1"/>
            <a:r>
              <a:rPr lang="ru-RU" dirty="0"/>
              <a:t>численные данные? </a:t>
            </a:r>
          </a:p>
          <a:p>
            <a:pPr lvl="1"/>
            <a:r>
              <a:rPr lang="ru-RU" dirty="0"/>
              <a:t>Экзогенные факторы? </a:t>
            </a:r>
          </a:p>
          <a:p>
            <a:pPr lvl="1"/>
            <a:r>
              <a:rPr lang="ru-RU" dirty="0"/>
              <a:t>Разложение?</a:t>
            </a:r>
            <a:r>
              <a:rPr lang="en-US" dirty="0"/>
              <a:t> </a:t>
            </a:r>
            <a:endParaRPr lang="ru-RU" dirty="0"/>
          </a:p>
          <a:p>
            <a:r>
              <a:rPr lang="ru-RU" sz="2400" b="1" dirty="0" smtClean="0"/>
              <a:t>Переменная </a:t>
            </a:r>
            <a:r>
              <a:rPr lang="ru-RU" sz="2400" b="1" dirty="0"/>
              <a:t>для предсказания  (Диагностика </a:t>
            </a:r>
            <a:r>
              <a:rPr lang="ru-RU" sz="2400" b="1" dirty="0" smtClean="0"/>
              <a:t>ВР</a:t>
            </a:r>
            <a:r>
              <a:rPr lang="ru-RU" sz="2400" b="1" dirty="0"/>
              <a:t>)</a:t>
            </a:r>
          </a:p>
          <a:p>
            <a:pPr lvl="1"/>
            <a:r>
              <a:rPr lang="ru-RU" dirty="0"/>
              <a:t>горизонт, регулярность, </a:t>
            </a:r>
          </a:p>
          <a:p>
            <a:pPr lvl="1"/>
            <a:r>
              <a:rPr lang="ru-RU" dirty="0"/>
              <a:t>Время предсказания, </a:t>
            </a:r>
          </a:p>
          <a:p>
            <a:pPr lvl="1"/>
            <a:r>
              <a:rPr lang="ru-RU" dirty="0"/>
              <a:t>М</a:t>
            </a:r>
            <a:r>
              <a:rPr lang="en-US" dirty="0" err="1"/>
              <a:t>етр</a:t>
            </a:r>
            <a:r>
              <a:rPr lang="ru-RU" dirty="0" err="1"/>
              <a:t>ики</a:t>
            </a:r>
            <a:r>
              <a:rPr lang="ru-RU" dirty="0"/>
              <a:t> и их значение и разброс, </a:t>
            </a:r>
            <a:r>
              <a:rPr lang="ru-RU" dirty="0" err="1"/>
              <a:t>bas</a:t>
            </a:r>
            <a:r>
              <a:rPr lang="en-US" dirty="0" err="1"/>
              <a:t>eline</a:t>
            </a:r>
            <a:r>
              <a:rPr lang="ru-RU" dirty="0"/>
              <a:t> </a:t>
            </a:r>
            <a:endParaRPr lang="en-US" dirty="0"/>
          </a:p>
          <a:p>
            <a:pPr lvl="1"/>
            <a:r>
              <a:rPr lang="ru-RU" dirty="0"/>
              <a:t>Чувствительность к выбросам и пропускам</a:t>
            </a:r>
          </a:p>
          <a:p>
            <a:pPr lvl="1"/>
            <a:r>
              <a:rPr lang="ru-RU" dirty="0"/>
              <a:t>Интерпретация или модель данных</a:t>
            </a:r>
          </a:p>
          <a:p>
            <a:r>
              <a:rPr lang="ru-RU" sz="2400" b="1" dirty="0"/>
              <a:t>Мониторинг</a:t>
            </a:r>
          </a:p>
          <a:p>
            <a:pPr lvl="1"/>
            <a:r>
              <a:rPr lang="ru-RU" dirty="0"/>
              <a:t>Контроль дрейфа и новизны</a:t>
            </a:r>
          </a:p>
          <a:p>
            <a:pPr lvl="1"/>
            <a:r>
              <a:rPr lang="ru-RU" dirty="0"/>
              <a:t>Критерии дообучения</a:t>
            </a:r>
          </a:p>
          <a:p>
            <a:pPr lvl="1"/>
            <a:r>
              <a:rPr lang="ru-RU" dirty="0"/>
              <a:t>Критерии </a:t>
            </a:r>
            <a:r>
              <a:rPr lang="ru-RU" dirty="0" err="1"/>
              <a:t>досбора</a:t>
            </a:r>
            <a:r>
              <a:rPr lang="ru-RU" dirty="0"/>
              <a:t> данных</a:t>
            </a:r>
          </a:p>
          <a:p>
            <a:pPr lvl="1"/>
            <a:r>
              <a:rPr lang="ru-RU" dirty="0"/>
              <a:t>Время </a:t>
            </a:r>
            <a:r>
              <a:rPr lang="ru-RU" dirty="0" err="1"/>
              <a:t>дообучение</a:t>
            </a:r>
            <a:r>
              <a:rPr lang="ru-RU" dirty="0"/>
              <a:t> на новых данных</a:t>
            </a:r>
            <a:endParaRPr lang="en-US" dirty="0"/>
          </a:p>
          <a:p>
            <a:endParaRPr lang="ru-RU" sz="2400" dirty="0"/>
          </a:p>
          <a:p>
            <a:endParaRPr lang="ru-RU" dirty="0"/>
          </a:p>
        </p:txBody>
      </p:sp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A23ABF32-A19D-3F0F-1034-BFC9C1750C3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5C3B737-A709-4ABC-AFE0-A6B067850C48}" type="slidenum">
              <a:rPr lang="en-US" smtClean="0"/>
              <a:t>17</a:t>
            </a:fld>
            <a:endParaRPr lang="en-US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ACC32247-5361-DC33-A872-0AB9D0D7E697}"/>
              </a:ext>
            </a:extLst>
          </p:cNvPr>
          <p:cNvSpPr txBox="1"/>
          <p:nvPr/>
        </p:nvSpPr>
        <p:spPr>
          <a:xfrm>
            <a:off x="5536436" y="6512691"/>
            <a:ext cx="4998214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sz="1400" dirty="0" err="1"/>
              <a:t>https</a:t>
            </a:r>
            <a:r>
              <a:rPr lang="ru-RU" sz="1400" dirty="0"/>
              <a:t>://</a:t>
            </a:r>
            <a:r>
              <a:rPr lang="ru-RU" sz="1400" dirty="0" err="1"/>
              <a:t>rutube.ru</a:t>
            </a:r>
            <a:r>
              <a:rPr lang="ru-RU" sz="1400" dirty="0"/>
              <a:t>/</a:t>
            </a:r>
            <a:r>
              <a:rPr lang="ru-RU" sz="1400" dirty="0" err="1"/>
              <a:t>video</a:t>
            </a:r>
            <a:r>
              <a:rPr lang="ru-RU" sz="1400" dirty="0"/>
              <a:t>/c4116f5e24238a778e458a56a16015f3/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F1FEAAF5-6255-E2ED-6CC9-BD7DA86F4315}"/>
              </a:ext>
            </a:extLst>
          </p:cNvPr>
          <p:cNvSpPr txBox="1"/>
          <p:nvPr/>
        </p:nvSpPr>
        <p:spPr>
          <a:xfrm>
            <a:off x="5655441" y="6048703"/>
            <a:ext cx="4170750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sz="1400" dirty="0" err="1"/>
              <a:t>https</a:t>
            </a:r>
            <a:r>
              <a:rPr lang="ru-RU" sz="1400" dirty="0"/>
              <a:t>://</a:t>
            </a:r>
            <a:r>
              <a:rPr lang="ru-RU" sz="1400" dirty="0" err="1"/>
              <a:t>www.springboard.com</a:t>
            </a:r>
            <a:r>
              <a:rPr lang="ru-RU" sz="1400" dirty="0"/>
              <a:t>/</a:t>
            </a:r>
            <a:r>
              <a:rPr lang="ru-RU" sz="1400" dirty="0" err="1"/>
              <a:t>blog</a:t>
            </a:r>
            <a:r>
              <a:rPr lang="ru-RU" sz="1400" dirty="0"/>
              <a:t>/</a:t>
            </a:r>
            <a:r>
              <a:rPr lang="ru-RU" sz="1400" dirty="0" err="1"/>
              <a:t>data-science</a:t>
            </a:r>
            <a:r>
              <a:rPr lang="ru-RU" sz="1400" dirty="0"/>
              <a:t>/</a:t>
            </a:r>
            <a:r>
              <a:rPr lang="ru-RU" sz="1400" dirty="0" err="1"/>
              <a:t>time-series-forecasting</a:t>
            </a:r>
            <a:r>
              <a:rPr lang="ru-RU" sz="1400" dirty="0"/>
              <a:t>/</a:t>
            </a:r>
          </a:p>
        </p:txBody>
      </p:sp>
    </p:spTree>
    <p:extLst>
      <p:ext uri="{BB962C8B-B14F-4D97-AF65-F5344CB8AC3E}">
        <p14:creationId xmlns:p14="http://schemas.microsoft.com/office/powerpoint/2010/main" val="2543695133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6315E440-596D-530D-55C2-E81E915DDDB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97070" y="469109"/>
            <a:ext cx="10968210" cy="637410"/>
          </a:xfrm>
        </p:spPr>
        <p:txBody>
          <a:bodyPr>
            <a:normAutofit fontScale="90000"/>
          </a:bodyPr>
          <a:lstStyle/>
          <a:p>
            <a:r>
              <a:rPr lang="ru-RU" dirty="0"/>
              <a:t>Пример TS</a:t>
            </a:r>
            <a:r>
              <a:rPr lang="en-US" dirty="0"/>
              <a:t>F System Design</a:t>
            </a:r>
            <a:endParaRPr lang="ru-RU" dirty="0"/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461BD177-89A3-8B6F-DC87-8D67F7A128B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53388" y="1366595"/>
            <a:ext cx="4362679" cy="4715396"/>
          </a:xfrm>
        </p:spPr>
        <p:txBody>
          <a:bodyPr/>
          <a:lstStyle/>
          <a:p>
            <a:endParaRPr lang="ru-RU" dirty="0"/>
          </a:p>
        </p:txBody>
      </p:sp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6453CD57-6E37-BACE-D458-4149304B4BC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5C3B737-A709-4ABC-AFE0-A6B067850C48}" type="slidenum">
              <a:rPr lang="en-US" smtClean="0"/>
              <a:t>18</a:t>
            </a:fld>
            <a:endParaRPr lang="en-US"/>
          </a:p>
        </p:txBody>
      </p:sp>
      <p:pic>
        <p:nvPicPr>
          <p:cNvPr id="5122" name="Picture 2">
            <a:extLst>
              <a:ext uri="{FF2B5EF4-FFF2-40B4-BE49-F238E27FC236}">
                <a16:creationId xmlns:a16="http://schemas.microsoft.com/office/drawing/2014/main" id="{F40F0D74-1E7D-8A20-9B0A-70E358FC3D7E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8514" r="6732" b="9928"/>
          <a:stretch/>
        </p:blipFill>
        <p:spPr bwMode="auto">
          <a:xfrm>
            <a:off x="0" y="1135765"/>
            <a:ext cx="9677400" cy="510387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1C45FE49-3FA2-09A2-CA28-89E49D313113}"/>
              </a:ext>
            </a:extLst>
          </p:cNvPr>
          <p:cNvSpPr txBox="1"/>
          <p:nvPr/>
        </p:nvSpPr>
        <p:spPr>
          <a:xfrm>
            <a:off x="1567149" y="6111237"/>
            <a:ext cx="6097836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dirty="0" err="1"/>
              <a:t>https</a:t>
            </a:r>
            <a:r>
              <a:rPr lang="ru-RU" dirty="0"/>
              <a:t>://</a:t>
            </a:r>
            <a:r>
              <a:rPr lang="ru-RU" dirty="0" err="1"/>
              <a:t>www.ijcai.org</a:t>
            </a:r>
            <a:r>
              <a:rPr lang="ru-RU" dirty="0"/>
              <a:t>/</a:t>
            </a:r>
            <a:r>
              <a:rPr lang="ru-RU" dirty="0" err="1"/>
              <a:t>proceedings</a:t>
            </a:r>
            <a:r>
              <a:rPr lang="ru-RU" dirty="0"/>
              <a:t>/2019/441</a:t>
            </a:r>
          </a:p>
        </p:txBody>
      </p:sp>
    </p:spTree>
    <p:extLst>
      <p:ext uri="{BB962C8B-B14F-4D97-AF65-F5344CB8AC3E}">
        <p14:creationId xmlns:p14="http://schemas.microsoft.com/office/powerpoint/2010/main" val="622826776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331470" y="365125"/>
            <a:ext cx="11022330" cy="743585"/>
          </a:xfrm>
        </p:spPr>
        <p:txBody>
          <a:bodyPr/>
          <a:lstStyle/>
          <a:p>
            <a:r>
              <a:rPr lang="ru-RU" dirty="0" smtClean="0"/>
              <a:t>Вопросы для самоконтроля</a:t>
            </a:r>
            <a:endParaRPr lang="ru-RU" dirty="0"/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>
          <a:xfrm>
            <a:off x="331470" y="1211580"/>
            <a:ext cx="11022330" cy="4965383"/>
          </a:xfrm>
        </p:spPr>
        <p:txBody>
          <a:bodyPr>
            <a:normAutofit/>
          </a:bodyPr>
          <a:lstStyle/>
          <a:p>
            <a:r>
              <a:rPr lang="ru-RU" sz="2400" b="1" dirty="0"/>
              <a:t>Назовите основные особенности задач анализа временных рядов</a:t>
            </a:r>
            <a:r>
              <a:rPr lang="ru-RU" sz="2400" dirty="0"/>
              <a:t>, приведите примеры задач и переменных для анализа. Обоснуйте требования к результатам анализа в приведенных примерах</a:t>
            </a:r>
            <a:r>
              <a:rPr lang="ru-RU" sz="2400" dirty="0" smtClean="0"/>
              <a:t>.</a:t>
            </a:r>
          </a:p>
          <a:p>
            <a:r>
              <a:rPr lang="ru-RU" sz="2400" dirty="0" smtClean="0"/>
              <a:t>Подумайте и объясните особенности задач предсказания ВР, регрессии ВР и классификации ВР. В чем их отличия? Приведите примеры задач на каждый из этих типов для </a:t>
            </a:r>
            <a:r>
              <a:rPr lang="ru-RU" sz="2400" dirty="0" err="1" smtClean="0"/>
              <a:t>однопеременных</a:t>
            </a:r>
            <a:r>
              <a:rPr lang="ru-RU" sz="2400" dirty="0" smtClean="0"/>
              <a:t> и </a:t>
            </a:r>
            <a:r>
              <a:rPr lang="ru-RU" sz="2400" dirty="0" err="1" smtClean="0"/>
              <a:t>многопеременных</a:t>
            </a:r>
            <a:r>
              <a:rPr lang="ru-RU" sz="2400" dirty="0" smtClean="0"/>
              <a:t> ВР</a:t>
            </a:r>
            <a:r>
              <a:rPr lang="ru-RU" sz="2400" dirty="0" smtClean="0"/>
              <a:t>.</a:t>
            </a:r>
          </a:p>
          <a:p>
            <a:r>
              <a:rPr lang="ru-RU" sz="2400" dirty="0" smtClean="0"/>
              <a:t>Проведите работу по постановке </a:t>
            </a:r>
            <a:r>
              <a:rPr lang="ru-RU" sz="2400" smtClean="0"/>
              <a:t>задачи анализа ВР.</a:t>
            </a:r>
            <a:endParaRPr lang="ru-RU" sz="2400" dirty="0" smtClean="0"/>
          </a:p>
          <a:p>
            <a:r>
              <a:rPr lang="ru-RU" sz="2400" dirty="0" smtClean="0"/>
              <a:t>Объясните в каких задачах нужны и в каких не нужно использовать методы анализа ВР. Чем задачи с использованием анализа ВР отличаются от задач для табличных данных, текстовых задач или задач обработки изображений.</a:t>
            </a:r>
            <a:endParaRPr lang="ru-RU" sz="2400" dirty="0" smtClean="0"/>
          </a:p>
          <a:p>
            <a:endParaRPr lang="ru-RU" sz="2400" dirty="0"/>
          </a:p>
          <a:p>
            <a:endParaRPr lang="ru-RU" sz="2400" dirty="0" smtClean="0"/>
          </a:p>
          <a:p>
            <a:endParaRPr lang="ru-RU" sz="2400" dirty="0" smtClean="0"/>
          </a:p>
          <a:p>
            <a:endParaRPr lang="ru-RU" sz="2400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5C3B737-A709-4ABC-AFE0-A6B067850C48}" type="slidenum">
              <a:rPr lang="en-US" smtClean="0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8545075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80863240-7081-E76A-ACCD-B5BA5DC066E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80031" y="30521"/>
            <a:ext cx="11068050" cy="864631"/>
          </a:xfrm>
        </p:spPr>
        <p:txBody>
          <a:bodyPr/>
          <a:lstStyle/>
          <a:p>
            <a:r>
              <a:rPr lang="ru-RU" dirty="0" err="1" smtClean="0"/>
              <a:t>Многопеременные</a:t>
            </a:r>
            <a:r>
              <a:rPr lang="en-US" dirty="0" smtClean="0"/>
              <a:t> </a:t>
            </a:r>
            <a:r>
              <a:rPr lang="ru-RU" dirty="0" smtClean="0"/>
              <a:t>и другие </a:t>
            </a:r>
            <a:r>
              <a:rPr lang="ru-RU" dirty="0"/>
              <a:t>ВР</a:t>
            </a:r>
          </a:p>
        </p:txBody>
      </p:sp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6601DB23-2F3F-9FA2-A9CF-B17E2699F01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5C3B737-A709-4ABC-AFE0-A6B067850C48}" type="slidenum">
              <a:rPr lang="en-US" smtClean="0"/>
              <a:t>20</a:t>
            </a:fld>
            <a:endParaRPr lang="en-US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B4C891B2-62E7-871D-CF4F-05D6CA6E0463}"/>
              </a:ext>
            </a:extLst>
          </p:cNvPr>
          <p:cNvSpPr txBox="1"/>
          <p:nvPr/>
        </p:nvSpPr>
        <p:spPr>
          <a:xfrm>
            <a:off x="3420534" y="6502723"/>
            <a:ext cx="6096000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sz="1200" dirty="0" err="1"/>
              <a:t>https</a:t>
            </a:r>
            <a:r>
              <a:rPr lang="ru-RU" sz="1200" dirty="0"/>
              <a:t>://</a:t>
            </a:r>
            <a:r>
              <a:rPr lang="ru-RU" sz="1200" dirty="0" err="1"/>
              <a:t>goldinlocks.github.io</a:t>
            </a:r>
            <a:r>
              <a:rPr lang="ru-RU" sz="1200" dirty="0"/>
              <a:t>/</a:t>
            </a:r>
            <a:r>
              <a:rPr lang="ru-RU" sz="1200" dirty="0" err="1"/>
              <a:t>Multivariate-time-series-models</a:t>
            </a:r>
            <a:r>
              <a:rPr lang="ru-RU" sz="1200" dirty="0"/>
              <a:t>/</a:t>
            </a:r>
          </a:p>
        </p:txBody>
      </p:sp>
      <p:pic>
        <p:nvPicPr>
          <p:cNvPr id="5" name="Рисунок 4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1544" y="757080"/>
            <a:ext cx="6781518" cy="3753213"/>
          </a:xfrm>
          <a:prstGeom prst="rect">
            <a:avLst/>
          </a:prstGeom>
        </p:spPr>
      </p:pic>
      <p:pic>
        <p:nvPicPr>
          <p:cNvPr id="3" name="Рисунок 2"/>
          <p:cNvPicPr>
            <a:picLocks noChangeAspect="1"/>
          </p:cNvPicPr>
          <p:nvPr/>
        </p:nvPicPr>
        <p:blipFill rotWithShape="1">
          <a:blip r:embed="rId3"/>
          <a:srcRect t="49229"/>
          <a:stretch/>
        </p:blipFill>
        <p:spPr>
          <a:xfrm>
            <a:off x="7937704" y="946277"/>
            <a:ext cx="3991111" cy="1331651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7979833" y="651878"/>
            <a:ext cx="366824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Пространственно-временные ряды</a:t>
            </a:r>
            <a:endParaRPr lang="ru-RU" dirty="0"/>
          </a:p>
        </p:txBody>
      </p:sp>
      <p:sp>
        <p:nvSpPr>
          <p:cNvPr id="9" name="Прямоугольник 8"/>
          <p:cNvSpPr/>
          <p:nvPr/>
        </p:nvSpPr>
        <p:spPr>
          <a:xfrm>
            <a:off x="78858" y="6485756"/>
            <a:ext cx="3038652" cy="276999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ru-RU" sz="1200" dirty="0"/>
              <a:t>https://ltb.itc.utwente.nl/491/concept/79777</a:t>
            </a:r>
          </a:p>
        </p:txBody>
      </p:sp>
      <p:pic>
        <p:nvPicPr>
          <p:cNvPr id="1026" name="Picture 2" descr="Applsci 15 01241 g001"/>
          <p:cNvPicPr>
            <a:picLocks noChangeAspect="1" noChangeArrowheads="1"/>
          </p:cNvPicPr>
          <p:nvPr/>
        </p:nvPicPr>
        <p:blipFill rotWithShape="1">
          <a:blip r:embed="rId4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38963" b="7627"/>
          <a:stretch/>
        </p:blipFill>
        <p:spPr bwMode="auto">
          <a:xfrm>
            <a:off x="7663027" y="4876621"/>
            <a:ext cx="3985054" cy="148855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1" name="TextBox 10"/>
          <p:cNvSpPr txBox="1"/>
          <p:nvPr/>
        </p:nvSpPr>
        <p:spPr>
          <a:xfrm>
            <a:off x="6059096" y="4529631"/>
            <a:ext cx="233538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err="1" smtClean="0"/>
              <a:t>Мультимодальные</a:t>
            </a:r>
            <a:r>
              <a:rPr lang="ru-RU" dirty="0" smtClean="0"/>
              <a:t> ВР</a:t>
            </a:r>
            <a:endParaRPr lang="ru-RU" dirty="0"/>
          </a:p>
        </p:txBody>
      </p:sp>
      <p:pic>
        <p:nvPicPr>
          <p:cNvPr id="10" name="Рисунок 9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171659" y="4996519"/>
            <a:ext cx="5055128" cy="1416845"/>
          </a:xfrm>
          <a:prstGeom prst="rect">
            <a:avLst/>
          </a:prstGeom>
        </p:spPr>
      </p:pic>
      <p:pic>
        <p:nvPicPr>
          <p:cNvPr id="1028" name="Picture 4" descr="Spatial-temporal graph neural network for traffic forecasting: An overview  and open research issues | Applied Intelligence"/>
          <p:cNvPicPr>
            <a:picLocks noChangeAspect="1" noChangeArrowheads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335018" y="2366082"/>
            <a:ext cx="4641071" cy="218903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42173046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/>
    </mc:Choice>
    <mc:Fallback xmlns="">
      <p:transition spd="slow"/>
    </mc:Fallback>
  </mc:AlternateContent>
  <p:timing>
    <p:tnLst>
      <p:par>
        <p:cTn id="1" dur="indefinite" restart="never" nodeType="tmRoot"/>
      </p:par>
    </p:tnLst>
  </p:timing>
</p:sld>
</file>

<file path=ppt/theme/theme1.xml><?xml version="1.0" encoding="utf-8"?>
<a:theme xmlns:a="http://schemas.openxmlformats.org/drawingml/2006/main" name="Тема Office 2013–2022">
  <a:themeElements>
    <a:clrScheme name="Тема Office 2013–2022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Тема Office 2013–2022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Тема Office 2013–2022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2013 - 2022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Стандартная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2013 - 2022 Theme</Template>
  <TotalTime>9302</TotalTime>
  <Words>1159</Words>
  <Application>Microsoft Office PowerPoint</Application>
  <PresentationFormat>Широкоэкранный</PresentationFormat>
  <Paragraphs>189</Paragraphs>
  <Slides>20</Slides>
  <Notes>6</Notes>
  <HiddenSlides>1</HiddenSlides>
  <MMClips>0</MMClips>
  <ScaleCrop>false</ScaleCrop>
  <HeadingPairs>
    <vt:vector size="6" baseType="variant">
      <vt:variant>
        <vt:lpstr>Использованные шрифты</vt:lpstr>
      </vt:variant>
      <vt:variant>
        <vt:i4>8</vt:i4>
      </vt:variant>
      <vt:variant>
        <vt:lpstr>Тема</vt:lpstr>
      </vt:variant>
      <vt:variant>
        <vt:i4>1</vt:i4>
      </vt:variant>
      <vt:variant>
        <vt:lpstr>Заголовки слайдов</vt:lpstr>
      </vt:variant>
      <vt:variant>
        <vt:i4>20</vt:i4>
      </vt:variant>
    </vt:vector>
  </HeadingPairs>
  <TitlesOfParts>
    <vt:vector size="29" baseType="lpstr">
      <vt:lpstr>Arial</vt:lpstr>
      <vt:lpstr>Calibri</vt:lpstr>
      <vt:lpstr>Calibri Light</vt:lpstr>
      <vt:lpstr>Cambria Math</vt:lpstr>
      <vt:lpstr>inherit</vt:lpstr>
      <vt:lpstr>Inter</vt:lpstr>
      <vt:lpstr>Open Sans</vt:lpstr>
      <vt:lpstr>Times New Roman</vt:lpstr>
      <vt:lpstr>Тема Office 2013–2022</vt:lpstr>
      <vt:lpstr>Введение в анализ  временных рядов. </vt:lpstr>
      <vt:lpstr>Анализ временных рядов</vt:lpstr>
      <vt:lpstr>Задачи анализа временных рядов</vt:lpstr>
      <vt:lpstr>Особенности задачи анализа временных рядов</vt:lpstr>
      <vt:lpstr>Краткосрочные прогнозы спроса на электроэнергию в жилых домах</vt:lpstr>
      <vt:lpstr>Прогнозирование курсов валют</vt:lpstr>
      <vt:lpstr>Применения ВР</vt:lpstr>
      <vt:lpstr>Примеры</vt:lpstr>
      <vt:lpstr>Примеры приложений анализа временных рядов</vt:lpstr>
      <vt:lpstr>Примеры</vt:lpstr>
      <vt:lpstr>Примеры</vt:lpstr>
      <vt:lpstr>Постановка задач предсказания ВР</vt:lpstr>
      <vt:lpstr>Задачи анализа временных рядов</vt:lpstr>
      <vt:lpstr>Задачи предсказания временных рядовaq</vt:lpstr>
      <vt:lpstr>Задачи прогнозирования временных рядов</vt:lpstr>
      <vt:lpstr>Анализ временных рядов</vt:lpstr>
      <vt:lpstr>Постановка задачи анализа ВР</vt:lpstr>
      <vt:lpstr>Пример TSF System Design</vt:lpstr>
      <vt:lpstr>Вопросы для самоконтроля</vt:lpstr>
      <vt:lpstr>Многопеременные и другие ВР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Introduction to Time Series Analysis</dc:title>
  <dc:creator>Ронкин Михаил Владимирович</dc:creator>
  <cp:lastModifiedBy>Ронкин Михаил Владимирович</cp:lastModifiedBy>
  <cp:revision>198</cp:revision>
  <dcterms:created xsi:type="dcterms:W3CDTF">2021-10-31T10:57:36Z</dcterms:created>
  <dcterms:modified xsi:type="dcterms:W3CDTF">2026-05-04T09:15:00Z</dcterms:modified>
</cp:coreProperties>
</file>