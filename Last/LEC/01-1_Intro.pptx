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302" r:id="rId3"/>
    <p:sldId id="423" r:id="rId4"/>
    <p:sldId id="421" r:id="rId5"/>
    <p:sldId id="424" r:id="rId6"/>
    <p:sldId id="422" r:id="rId7"/>
    <p:sldId id="403" r:id="rId8"/>
    <p:sldId id="408" r:id="rId9"/>
    <p:sldId id="409" r:id="rId10"/>
    <p:sldId id="410" r:id="rId11"/>
    <p:sldId id="411" r:id="rId12"/>
    <p:sldId id="444" r:id="rId13"/>
    <p:sldId id="445" r:id="rId14"/>
    <p:sldId id="446" r:id="rId15"/>
    <p:sldId id="447" r:id="rId16"/>
    <p:sldId id="448" r:id="rId17"/>
    <p:sldId id="449" r:id="rId18"/>
    <p:sldId id="450" r:id="rId19"/>
    <p:sldId id="443" r:id="rId20"/>
    <p:sldId id="3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55" autoAdjust="0"/>
    <p:restoredTop sz="94795"/>
  </p:normalViewPr>
  <p:slideViewPr>
    <p:cSldViewPr snapToGrid="0">
      <p:cViewPr varScale="1">
        <p:scale>
          <a:sx n="85" d="100"/>
          <a:sy n="85" d="100"/>
        </p:scale>
        <p:origin x="12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776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34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873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707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433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858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07.09.2026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07.09.2026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07.09.2026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07.09.2026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07.09.2026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07.09.2026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07.09.2026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07.09.2026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07.09.2026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07.09.2026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07.09.2026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07.09.2026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2761662"/>
          </a:xfrm>
        </p:spPr>
        <p:txBody>
          <a:bodyPr>
            <a:normAutofit/>
          </a:bodyPr>
          <a:lstStyle/>
          <a:p>
            <a:r>
              <a:rPr lang="ru-RU" sz="8000" dirty="0" smtClean="0"/>
              <a:t>Введение </a:t>
            </a:r>
            <a:r>
              <a:rPr lang="ru-RU" sz="8000" dirty="0"/>
              <a:t>в анализ </a:t>
            </a:r>
            <a:br>
              <a:rPr lang="ru-RU" sz="8000" dirty="0"/>
            </a:br>
            <a:r>
              <a:rPr lang="ru-RU" sz="8000" dirty="0"/>
              <a:t>временных рядов. 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74967"/>
            <a:ext cx="10515600" cy="99341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Анализ временных рядов</a:t>
            </a:r>
            <a:endParaRPr lang="en-US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DB8E57-5CA8-497C-990E-C304F4FB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37" y="909419"/>
            <a:ext cx="11560628" cy="547052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ru-RU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Временные ряды (ВР) :</a:t>
            </a:r>
            <a:endParaRPr lang="ru-RU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набор оцифрованных проиндексированных однотипных значений</a:t>
            </a:r>
          </a:p>
          <a:p>
            <a:pPr lvl="1"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(часто полученных последовательно во времени с равномерным шагом)</a:t>
            </a:r>
          </a:p>
          <a:p>
            <a:pPr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каждый отсчет связан с предыдущими некоторой зависимостью (последовательностью). </a:t>
            </a:r>
          </a:p>
          <a:p>
            <a:pPr lvl="1"/>
            <a:r>
              <a:rPr lang="ru-RU" sz="2200" dirty="0"/>
              <a:t>Могут быть и другие варианты индексации или условно непрерывный ВР</a:t>
            </a:r>
          </a:p>
          <a:p>
            <a:r>
              <a:rPr lang="ru-RU" sz="2200" dirty="0"/>
              <a:t>например, показания датчиков, логи оборудования, цены на акции, отсчеты ЭКГ.</a:t>
            </a:r>
            <a:endParaRPr lang="en-US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A1FA70-A553-4CD1-E184-41BACC8E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287125-F823-0936-51D8-E03E1A927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298" y="3580107"/>
            <a:ext cx="4507044" cy="321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B1BD91-25FA-7E4C-22C5-89FFB831108B}"/>
              </a:ext>
            </a:extLst>
          </p:cNvPr>
          <p:cNvSpPr txBox="1"/>
          <p:nvPr/>
        </p:nvSpPr>
        <p:spPr>
          <a:xfrm>
            <a:off x="592981" y="4221795"/>
            <a:ext cx="685800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Эконометрические данные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 err="1"/>
              <a:t>Бизнесс</a:t>
            </a:r>
            <a:r>
              <a:rPr lang="ru-RU" dirty="0"/>
              <a:t>-данные</a:t>
            </a:r>
            <a:endParaRPr lang="ru-RU" b="0" i="0" dirty="0">
              <a:effectLst/>
            </a:endParaRP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Температура и давление в системах отопления.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Вибрация подшипников (</a:t>
            </a:r>
            <a:r>
              <a:rPr lang="en" b="0" i="0" dirty="0">
                <a:effectLst/>
              </a:rPr>
              <a:t>NASA Bearing Dataset).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Энергопотребление производственных линий.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/>
              <a:t>Погодные данные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Поведение человека на </a:t>
            </a:r>
            <a:r>
              <a:rPr lang="ru-RU" dirty="0"/>
              <a:t>видеопоследовательности</a:t>
            </a:r>
            <a:endParaRPr lang="ru-RU" b="0" i="0" dirty="0">
              <a:effectLst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3593" y="6430092"/>
            <a:ext cx="4322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https://otexts.com/fpppy/nbs/01-intro.html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452773" y="359280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Главное отличие ВР от других модальностей – ВР показывает динамику (развитие) процесса от времени.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07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78DC2-D333-C7E2-D649-68C22A7D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DDB2A-4FB0-3E02-DEB3-474E8FA4F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Задач</a:t>
            </a:r>
            <a:r>
              <a:rPr lang="ru-RU" dirty="0"/>
              <a:t>и анализа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95E7F-9513-7F32-B5E4-12AF62AE9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870858"/>
            <a:ext cx="11089395" cy="3762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Прогнозирование</a:t>
            </a:r>
            <a:r>
              <a:rPr lang="ru-RU" sz="2200" dirty="0"/>
              <a:t> : </a:t>
            </a:r>
            <a:endParaRPr lang="en-US" sz="2200" dirty="0"/>
          </a:p>
          <a:p>
            <a:pPr lvl="1"/>
            <a:r>
              <a:rPr lang="ru-RU" sz="2200" dirty="0"/>
              <a:t>принятие решения о строительстве еще одной электростанции в течение следующих пяти лет требует прогнозов будущего спроса;</a:t>
            </a:r>
            <a:endParaRPr lang="en-US" sz="2200" dirty="0"/>
          </a:p>
          <a:p>
            <a:pPr lvl="1"/>
            <a:r>
              <a:rPr lang="ru-RU" sz="2200" dirty="0"/>
              <a:t> планирование персонала в </a:t>
            </a:r>
            <a:r>
              <a:rPr lang="ru-RU" sz="2200" dirty="0" err="1"/>
              <a:t>колл</a:t>
            </a:r>
            <a:r>
              <a:rPr lang="ru-RU" sz="2200" dirty="0"/>
              <a:t>-центре на следующую неделю требует прогнозов объемов звонков; </a:t>
            </a:r>
            <a:endParaRPr lang="en-US" sz="2200" dirty="0"/>
          </a:p>
          <a:p>
            <a:pPr lvl="1"/>
            <a:r>
              <a:rPr lang="ru-RU" sz="2200" dirty="0"/>
              <a:t>пополнение запасов требует прогнозов потребностей в запасах. </a:t>
            </a:r>
            <a:endParaRPr lang="en-US" sz="2200" dirty="0"/>
          </a:p>
          <a:p>
            <a:r>
              <a:rPr lang="ru-RU" sz="2200" dirty="0"/>
              <a:t>Прогнозы могут потребоваться на несколько лет вперед (в случае капиталовложений) или всего за несколько минут (для маршрутизации телекоммуникаций). </a:t>
            </a:r>
            <a:endParaRPr lang="en-US" sz="2200" dirty="0"/>
          </a:p>
          <a:p>
            <a:r>
              <a:rPr lang="ru-RU" sz="2200" dirty="0"/>
              <a:t>Независимо от обстоятельств или временных горизонтов прогнозирование является важным средством эффективного и действенного планирования.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63CD86-6C5A-B8D3-D0A5-67DF24A8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F203E61-EFA5-0D64-7DEC-DB928CAB2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38"/>
          <a:stretch>
            <a:fillRect/>
          </a:stretch>
        </p:blipFill>
        <p:spPr bwMode="auto">
          <a:xfrm>
            <a:off x="264405" y="4733092"/>
            <a:ext cx="6205279" cy="173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0752DD-73A9-5A7B-B8CB-6A0B5EB62FB7}"/>
              </a:ext>
            </a:extLst>
          </p:cNvPr>
          <p:cNvSpPr txBox="1"/>
          <p:nvPr/>
        </p:nvSpPr>
        <p:spPr>
          <a:xfrm>
            <a:off x="534539" y="638136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juanitorduz.github.io</a:t>
            </a:r>
            <a:r>
              <a:rPr lang="ru-RU" dirty="0"/>
              <a:t>/</a:t>
            </a:r>
            <a:r>
              <a:rPr lang="ru-RU" dirty="0" err="1"/>
              <a:t>electricity_forecast</a:t>
            </a:r>
            <a:r>
              <a:rPr lang="ru-RU" dirty="0"/>
              <a:t>/</a:t>
            </a:r>
          </a:p>
        </p:txBody>
      </p:sp>
      <p:pic>
        <p:nvPicPr>
          <p:cNvPr id="1030" name="Picture 6" descr="Dataset image">
            <a:extLst>
              <a:ext uri="{FF2B5EF4-FFF2-40B4-BE49-F238E27FC236}">
                <a16:creationId xmlns:a16="http://schemas.microsoft.com/office/drawing/2014/main" id="{5647C96F-5494-1E1F-EA63-79D0D042F2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97" b="23235"/>
          <a:stretch>
            <a:fillRect/>
          </a:stretch>
        </p:blipFill>
        <p:spPr bwMode="auto">
          <a:xfrm>
            <a:off x="6898397" y="4633666"/>
            <a:ext cx="3872932" cy="174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F1E524-3A05-F082-03B6-204354A5DF09}"/>
              </a:ext>
            </a:extLst>
          </p:cNvPr>
          <p:cNvSpPr txBox="1"/>
          <p:nvPr/>
        </p:nvSpPr>
        <p:spPr>
          <a:xfrm>
            <a:off x="6469684" y="6467559"/>
            <a:ext cx="5819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050" dirty="0"/>
              <a:t>https://</a:t>
            </a:r>
            <a:r>
              <a:rPr lang="en" sz="1050" dirty="0" err="1"/>
              <a:t>ieee-dataport.org</a:t>
            </a:r>
            <a:r>
              <a:rPr lang="en" sz="1050" dirty="0"/>
              <a:t>/documents/iot-time-series-traffic-data-smart-city-ehealth-and-smart-factory</a:t>
            </a:r>
            <a:endParaRPr lang="ru-RU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1DA53-2FA6-3AE6-270F-8AEB3A671266}"/>
              </a:ext>
            </a:extLst>
          </p:cNvPr>
          <p:cNvSpPr txBox="1"/>
          <p:nvPr/>
        </p:nvSpPr>
        <p:spPr>
          <a:xfrm>
            <a:off x="7342496" y="4393396"/>
            <a:ext cx="3857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b="0" i="0" dirty="0">
                <a:solidFill>
                  <a:srgbClr val="E37222"/>
                </a:solidFill>
                <a:effectLst/>
                <a:latin typeface="Open Sans" panose="020B0606030504020204" pitchFamily="34" charset="0"/>
              </a:rPr>
              <a:t>Traffic Data: Smart City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3267B-C094-BAAF-BDB1-141562DD1815}"/>
              </a:ext>
            </a:extLst>
          </p:cNvPr>
          <p:cNvSpPr txBox="1"/>
          <p:nvPr/>
        </p:nvSpPr>
        <p:spPr>
          <a:xfrm>
            <a:off x="2238454" y="4423975"/>
            <a:ext cx="3857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b="0" i="0" dirty="0">
                <a:solidFill>
                  <a:srgbClr val="E37222"/>
                </a:solidFill>
                <a:effectLst/>
                <a:latin typeface="Open Sans" panose="020B0606030504020204" pitchFamily="34" charset="0"/>
              </a:rPr>
              <a:t>Australia Electricity demand</a:t>
            </a:r>
          </a:p>
        </p:txBody>
      </p:sp>
    </p:spTree>
    <p:extLst>
      <p:ext uri="{BB962C8B-B14F-4D97-AF65-F5344CB8AC3E}">
        <p14:creationId xmlns:p14="http://schemas.microsoft.com/office/powerpoint/2010/main" val="40768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2818F-8031-6E84-DC23-A3A3B1BB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Особенности з</a:t>
            </a:r>
            <a:r>
              <a:rPr lang="en-US" dirty="0" err="1"/>
              <a:t>адач</a:t>
            </a:r>
            <a:r>
              <a:rPr lang="ru-RU" dirty="0"/>
              <a:t>и анализа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F36E35-2AFB-9EA9-8E81-FF42509EC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980502"/>
            <a:ext cx="11612765" cy="5618602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ru-RU" sz="2200" b="1" dirty="0"/>
              <a:t>Особенности временных рядов:</a:t>
            </a:r>
            <a:endParaRPr lang="ru-RU" sz="2200" dirty="0"/>
          </a:p>
          <a:p>
            <a:pPr lvl="1" fontAlgn="base"/>
            <a:r>
              <a:rPr lang="ru-RU" sz="2200" dirty="0"/>
              <a:t>упорядоченность во времени (хронологический порядок);</a:t>
            </a:r>
          </a:p>
          <a:p>
            <a:pPr lvl="1" fontAlgn="base"/>
            <a:r>
              <a:rPr lang="ru-RU" sz="2200" dirty="0"/>
              <a:t>зависимость от прошлого (“память”, серийная или автокорреляция);</a:t>
            </a:r>
          </a:p>
          <a:p>
            <a:pPr lvl="1" fontAlgn="base"/>
            <a:r>
              <a:rPr lang="ru-RU" sz="2200" dirty="0"/>
              <a:t>различаются краткосрочные и долгосрочные зависимости и модели;</a:t>
            </a:r>
          </a:p>
          <a:p>
            <a:pPr lvl="1" fontAlgn="base"/>
            <a:r>
              <a:rPr lang="ru-RU" sz="2200" dirty="0"/>
              <a:t>часто встречается феномен “ложной регрессии”;</a:t>
            </a:r>
          </a:p>
          <a:p>
            <a:pPr lvl="1" fontAlgn="base"/>
            <a:r>
              <a:rPr lang="ru-RU" sz="2200" dirty="0"/>
              <a:t>бывает небольшое число </a:t>
            </a:r>
            <a:r>
              <a:rPr lang="ru-RU" sz="2200" dirty="0" smtClean="0"/>
              <a:t>эффективных наблюдений </a:t>
            </a:r>
            <a:r>
              <a:rPr lang="ru-RU" sz="2200" dirty="0"/>
              <a:t>(как правило при работе с </a:t>
            </a:r>
            <a:r>
              <a:rPr lang="ru-RU" sz="2200" dirty="0" err="1"/>
              <a:t>макроданными</a:t>
            </a:r>
            <a:r>
              <a:rPr lang="ru-RU" sz="2200" dirty="0"/>
              <a:t>), которое невозможно увеличить (т.к. изменяется вид или структура зависимости).</a:t>
            </a:r>
          </a:p>
          <a:p>
            <a:pPr marL="0" indent="0">
              <a:buNone/>
            </a:pPr>
            <a:r>
              <a:rPr lang="ru-RU" sz="2200" b="1" dirty="0"/>
              <a:t>Предсказуемость события или их количества зависит от нескольких факторов, включая</a:t>
            </a:r>
            <a:r>
              <a:rPr lang="ru-RU" sz="2200" dirty="0"/>
              <a:t>:</a:t>
            </a:r>
          </a:p>
          <a:p>
            <a:pPr lvl="1"/>
            <a:r>
              <a:rPr lang="ru-RU" sz="2200" dirty="0"/>
              <a:t>насколько хорошо мы понимаем факторы, способствующие этому;</a:t>
            </a:r>
          </a:p>
          <a:p>
            <a:pPr lvl="1"/>
            <a:r>
              <a:rPr lang="ru-RU" sz="2200" dirty="0"/>
              <a:t>какой объем данных доступен;</a:t>
            </a:r>
          </a:p>
          <a:p>
            <a:pPr lvl="1"/>
            <a:r>
              <a:rPr lang="ru-RU" sz="2200" dirty="0"/>
              <a:t>насколько будущее похоже на прошлое;</a:t>
            </a:r>
          </a:p>
          <a:p>
            <a:pPr lvl="1"/>
            <a:r>
              <a:rPr lang="ru-RU" sz="2200" dirty="0"/>
              <a:t>могут ли прогнозы повлиять на то, что мы пытаемся прогнозировать.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4D282F-C4E3-E1C3-30C2-35BB0919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E892B-9047-E565-4C62-BC1837F832C2}"/>
              </a:ext>
            </a:extLst>
          </p:cNvPr>
          <p:cNvSpPr txBox="1"/>
          <p:nvPr/>
        </p:nvSpPr>
        <p:spPr>
          <a:xfrm>
            <a:off x="0" y="630820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823012" y="60751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</a:t>
            </a:r>
            <a:r>
              <a:rPr lang="ru-RU" dirty="0" smtClean="0"/>
              <a:t>ivan-shamaev.ru/time-series-analysis-forecasting-and-models-python-libraries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788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29C9-3647-ECCA-37A5-642C4DE1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6F970-810F-6AA9-4929-311EC9A9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3" y="288285"/>
            <a:ext cx="11089395" cy="105424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Краткосрочные </a:t>
            </a:r>
            <a:r>
              <a:rPr lang="ru-RU" dirty="0"/>
              <a:t>прогнозы спроса на электроэнергию в жилых домах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540B2-B500-9CBE-3471-185DD8ADA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27" y="1438211"/>
            <a:ext cx="11612765" cy="5618602"/>
          </a:xfrm>
        </p:spPr>
        <p:txBody>
          <a:bodyPr>
            <a:noAutofit/>
          </a:bodyPr>
          <a:lstStyle/>
          <a:p>
            <a:pPr marL="92075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200" b="1" dirty="0"/>
              <a:t>Особенности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Имеются монолитнее данные на спроса на электроэнергию, 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известно, что  спрос на электроэнергию в основном определяется температурой.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При краткосрочном прогнозировании (до нескольких недель) можно с уверенностью предположить, что динамика спроса будет аналогична той, что наблюдалась в прошлом.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Для большинства бытовых потребителей цена</a:t>
            </a:r>
            <a:br>
              <a:rPr lang="ru-RU" sz="2200" dirty="0"/>
            </a:br>
            <a:r>
              <a:rPr lang="ru-RU" sz="2200" dirty="0"/>
              <a:t> на электроэнергию не зависит от спроса, </a:t>
            </a:r>
            <a:br>
              <a:rPr lang="ru-RU" sz="2200" dirty="0"/>
            </a:br>
            <a:r>
              <a:rPr lang="ru-RU" sz="2200" dirty="0"/>
              <a:t>поэтому допустимы ошибки оценки и </a:t>
            </a:r>
            <a:br>
              <a:rPr lang="ru-RU" sz="2200" dirty="0"/>
            </a:br>
            <a:r>
              <a:rPr lang="ru-RU" sz="2200" dirty="0"/>
              <a:t>они будут не критичны.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B4D098-5A41-1C13-12BA-50D0174A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5D7273-3DEB-F512-3362-9FA5647D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977" y="3387530"/>
            <a:ext cx="5577003" cy="3333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586ED7-6D7D-151D-3200-3883E9CA5561}"/>
              </a:ext>
            </a:extLst>
          </p:cNvPr>
          <p:cNvSpPr txBox="1"/>
          <p:nvPr/>
        </p:nvSpPr>
        <p:spPr>
          <a:xfrm>
            <a:off x="165253" y="6354247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</p:spTree>
    <p:extLst>
      <p:ext uri="{BB962C8B-B14F-4D97-AF65-F5344CB8AC3E}">
        <p14:creationId xmlns:p14="http://schemas.microsoft.com/office/powerpoint/2010/main" val="314089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5DD00-4162-72E8-6D4D-6DD1FE43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72871-B133-4717-74BB-D0D92CEE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Прогнозирование курсов валют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AEA3E3-D6F7-908A-9B35-EF11148B1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980502"/>
            <a:ext cx="11188547" cy="5618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выполняется только одно из условий: имеется множество доступных данных. </a:t>
            </a:r>
          </a:p>
          <a:p>
            <a:pPr marL="0" indent="0">
              <a:buNone/>
            </a:pPr>
            <a:r>
              <a:rPr lang="ru-RU" sz="2200" dirty="0"/>
              <a:t>Однако </a:t>
            </a:r>
          </a:p>
          <a:p>
            <a:r>
              <a:rPr lang="ru-RU" sz="2200" dirty="0"/>
              <a:t>ограниченное понимание факторов, влияющих на курсы валют, </a:t>
            </a:r>
          </a:p>
          <a:p>
            <a:r>
              <a:rPr lang="ru-RU" sz="2200" dirty="0"/>
              <a:t>будущее может отличаться от прошлого (напр. Природная катастрофа) </a:t>
            </a:r>
          </a:p>
          <a:p>
            <a:r>
              <a:rPr lang="ru-RU" sz="2200" dirty="0"/>
              <a:t>прогнозы курса валют оказывают прямое влияние на сами курсы. Если известно, что курс валют вырастет, все будут покупать валюту и она стабилизируется. В некотором смысле курсы валют становятся их собственными прогнозами. Это пример «гипотезы эффективного рынка». 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76733A-AE85-7115-ED56-57F98A97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3D96E57-DDB7-1CA5-182E-CFBCDD12A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E99C0464-1479-106F-B240-07FBE61F9D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90B2A94-FA6A-5A54-E359-1E4F2B921A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80686E-36B9-9F99-7F63-A4453130B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76" y="3977868"/>
            <a:ext cx="5021722" cy="251443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8FA815-37BB-E70B-E267-899F6B6DC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038600"/>
            <a:ext cx="4880866" cy="2462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81EF11-DE95-FA84-6784-821F22F1F524}"/>
              </a:ext>
            </a:extLst>
          </p:cNvPr>
          <p:cNvSpPr txBox="1"/>
          <p:nvPr/>
        </p:nvSpPr>
        <p:spPr>
          <a:xfrm>
            <a:off x="459476" y="6492300"/>
            <a:ext cx="6093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otexts.com</a:t>
            </a:r>
            <a:r>
              <a:rPr lang="ru-RU" sz="1600" dirty="0"/>
              <a:t>/</a:t>
            </a:r>
            <a:r>
              <a:rPr lang="ru-RU" sz="1600" dirty="0" err="1"/>
              <a:t>fpppy</a:t>
            </a:r>
            <a:r>
              <a:rPr lang="ru-RU" sz="1600" dirty="0"/>
              <a:t>/</a:t>
            </a:r>
            <a:r>
              <a:rPr lang="ru-RU" sz="1600" dirty="0" err="1"/>
              <a:t>nbs</a:t>
            </a:r>
            <a:r>
              <a:rPr lang="ru-RU" sz="1600" dirty="0"/>
              <a:t>/01-intro.html</a:t>
            </a:r>
          </a:p>
        </p:txBody>
      </p:sp>
    </p:spTree>
    <p:extLst>
      <p:ext uri="{BB962C8B-B14F-4D97-AF65-F5344CB8AC3E}">
        <p14:creationId xmlns:p14="http://schemas.microsoft.com/office/powerpoint/2010/main" val="302176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500F2-C550-ECDE-88F7-3A865A85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6"/>
            <a:ext cx="10934700" cy="69215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Применения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4BF18D-4A68-07A0-A9F7-B3CF16882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97662"/>
            <a:ext cx="10515600" cy="425568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b="1" dirty="0"/>
              <a:t>Экономический и финансовый анализ</a:t>
            </a:r>
            <a:r>
              <a:rPr lang="ru-RU" dirty="0"/>
              <a:t>: понимание экономических показателей и финансовых рынков, что позволяет получить представление об управлении рисками и стратегическом планировании. 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ru-RU" b="1" dirty="0"/>
              <a:t>Исследовательский естественно-научный (физические эксперименты, метеонаблюдения, экология и </a:t>
            </a:r>
            <a:r>
              <a:rPr lang="ru-RU" b="1" dirty="0" err="1"/>
              <a:t>тд</a:t>
            </a:r>
            <a:r>
              <a:rPr lang="ru-RU" b="1" dirty="0"/>
              <a:t>)</a:t>
            </a:r>
            <a:r>
              <a:rPr lang="ru-RU" dirty="0"/>
              <a:t>: Проводите непрерывный мониторинг окружающей среды и оценивайте климатические риски, что помогает понять долгосрочные тенденции и риски.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 err="1"/>
              <a:t>Диаг</a:t>
            </a:r>
            <a:r>
              <a:rPr lang="ru-RU" b="1" dirty="0" err="1"/>
              <a:t>ностика</a:t>
            </a:r>
            <a:r>
              <a:rPr lang="ru-RU" b="1" dirty="0"/>
              <a:t> в производстве</a:t>
            </a:r>
            <a:r>
              <a:rPr lang="ru-RU" dirty="0"/>
              <a:t>: прогнозируйте сбои оборудования и оптимизируйте графики технического обслуживания, сокращая время простоя и эксплуатационные расходы. </a:t>
            </a:r>
          </a:p>
          <a:p>
            <a:pPr>
              <a:lnSpc>
                <a:spcPct val="120000"/>
              </a:lnSpc>
            </a:pPr>
            <a:r>
              <a:rPr lang="ru-RU" b="1" dirty="0"/>
              <a:t>Обработка сигналов (медицина, геология, локация)</a:t>
            </a:r>
            <a:r>
              <a:rPr lang="ru-RU" dirty="0"/>
              <a:t>: Интерпретируйте сигналы от устройств связи, Интернета вещей, датчиков и систем технического обслуживания для повышения производительности, обнаружения аномалий и повышения надежности.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0C2AE1-D20B-8334-CD40-34225DB1C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61180A-3B0C-D7C0-E9DC-BA4A69408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1197662"/>
            <a:ext cx="912125" cy="35344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4C9845-9193-FFFA-E436-2F5E41EFC2C1}"/>
              </a:ext>
            </a:extLst>
          </p:cNvPr>
          <p:cNvSpPr txBox="1"/>
          <p:nvPr/>
        </p:nvSpPr>
        <p:spPr>
          <a:xfrm>
            <a:off x="735376" y="6398309"/>
            <a:ext cx="7593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www.mathworks.com</a:t>
            </a:r>
            <a:r>
              <a:rPr lang="ru-RU" dirty="0"/>
              <a:t>/</a:t>
            </a:r>
            <a:r>
              <a:rPr lang="ru-RU" dirty="0" err="1"/>
              <a:t>discovery</a:t>
            </a:r>
            <a:r>
              <a:rPr lang="ru-RU" dirty="0"/>
              <a:t>/</a:t>
            </a:r>
            <a:r>
              <a:rPr lang="ru-RU" dirty="0" err="1"/>
              <a:t>time-series-analysis.html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868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A1F3E-CEB0-CC7C-D712-4E57B92A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63" y="247927"/>
            <a:ext cx="10515600" cy="1325563"/>
          </a:xfrm>
        </p:spPr>
        <p:txBody>
          <a:bodyPr/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F00124-A180-84AC-986F-7027F9311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01 Введение во ВР.</a:t>
            </a:r>
            <a:r>
              <a:rPr lang="en" dirty="0"/>
              <a:t>pptx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22A1EF-CF12-1044-A445-B4D73994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1E5E0C5-FD0A-5554-03F3-B02B5CF91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674" y="974892"/>
            <a:ext cx="6381852" cy="195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96E60-A3E8-2964-2BA6-0EE308E55D30}"/>
              </a:ext>
            </a:extLst>
          </p:cNvPr>
          <p:cNvSpPr txBox="1"/>
          <p:nvPr/>
        </p:nvSpPr>
        <p:spPr>
          <a:xfrm>
            <a:off x="742950" y="6441526"/>
            <a:ext cx="1070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/prashant111/</a:t>
            </a:r>
            <a:r>
              <a:rPr lang="ru-RU" dirty="0" err="1"/>
              <a:t>complete-guide-on-time-series-analysis-in-python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1AD9E-E6EB-CB37-9D3A-4358B55FE22D}"/>
              </a:ext>
            </a:extLst>
          </p:cNvPr>
          <p:cNvSpPr txBox="1"/>
          <p:nvPr/>
        </p:nvSpPr>
        <p:spPr>
          <a:xfrm>
            <a:off x="5562600" y="30809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https://</a:t>
            </a:r>
            <a:r>
              <a:rPr lang="en" dirty="0" err="1"/>
              <a:t>www.kaggle.com</a:t>
            </a:r>
            <a:r>
              <a:rPr lang="en" dirty="0"/>
              <a:t>/datasets/</a:t>
            </a:r>
            <a:r>
              <a:rPr lang="en" dirty="0" err="1"/>
              <a:t>ucsandiego</a:t>
            </a:r>
            <a:r>
              <a:rPr lang="en" dirty="0"/>
              <a:t>/carbon-dioxide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37716A-DC21-6FBC-49C9-DE2564608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40" y="1872960"/>
            <a:ext cx="5251627" cy="41868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BD4975-5C78-FD5A-5332-D30496F71523}"/>
              </a:ext>
            </a:extLst>
          </p:cNvPr>
          <p:cNvSpPr txBox="1"/>
          <p:nvPr/>
        </p:nvSpPr>
        <p:spPr>
          <a:xfrm>
            <a:off x="370863" y="6059766"/>
            <a:ext cx="8828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</a:t>
            </a:r>
            <a:r>
              <a:rPr lang="ru-RU" dirty="0" err="1"/>
              <a:t>akhiljethwa</a:t>
            </a:r>
            <a:r>
              <a:rPr lang="ru-RU" dirty="0"/>
              <a:t>/</a:t>
            </a:r>
            <a:r>
              <a:rPr lang="ru-RU" dirty="0" err="1"/>
              <a:t>eda-on-global-energy-data</a:t>
            </a:r>
            <a:r>
              <a:rPr lang="ru-RU" dirty="0"/>
              <a:t>/</a:t>
            </a:r>
            <a:r>
              <a:rPr lang="ru-RU" dirty="0" err="1"/>
              <a:t>notebook</a:t>
            </a:r>
            <a:endParaRPr lang="ru-RU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0F90CE2-1D55-617F-2695-0C6812D39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569" y="3517150"/>
            <a:ext cx="5534362" cy="214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DE78A4-2324-0944-D42B-539C26D3EB7D}"/>
              </a:ext>
            </a:extLst>
          </p:cNvPr>
          <p:cNvSpPr txBox="1"/>
          <p:nvPr/>
        </p:nvSpPr>
        <p:spPr>
          <a:xfrm>
            <a:off x="4155911" y="5702862"/>
            <a:ext cx="8036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</a:t>
            </a:r>
            <a:r>
              <a:rPr lang="ru-RU" dirty="0" err="1"/>
              <a:t>yasinsametkaraca</a:t>
            </a:r>
            <a:r>
              <a:rPr lang="ru-RU" dirty="0"/>
              <a:t>/</a:t>
            </a:r>
            <a:r>
              <a:rPr lang="ru-RU" dirty="0" err="1"/>
              <a:t>time-series-forecasting-xgboost</a:t>
            </a:r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8BA1F3E-CEB0-CC7C-D712-4E57B92A1BAD}"/>
              </a:ext>
            </a:extLst>
          </p:cNvPr>
          <p:cNvSpPr txBox="1">
            <a:spLocks/>
          </p:cNvSpPr>
          <p:nvPr/>
        </p:nvSpPr>
        <p:spPr>
          <a:xfrm>
            <a:off x="4871544" y="528635"/>
            <a:ext cx="5257801" cy="440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Эконометрические показатели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317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1185"/>
            <a:ext cx="9144000" cy="1319344"/>
          </a:xfrm>
        </p:spPr>
        <p:txBody>
          <a:bodyPr>
            <a:normAutofit/>
          </a:bodyPr>
          <a:lstStyle/>
          <a:p>
            <a:r>
              <a:rPr lang="ru-RU" sz="3200" b="1" dirty="0"/>
              <a:t>Примеры приложений анализа временных рядов</a:t>
            </a:r>
            <a:endParaRPr lang="ru-RU" sz="3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1B9812-C3DD-F3D1-E3DB-C6DBDB2D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FE80FE-BB9D-9DC1-C5CA-E7B33EE04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53" y="1063106"/>
            <a:ext cx="5271284" cy="512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738D70-C732-8A4B-1DFB-40475542C687}"/>
              </a:ext>
            </a:extLst>
          </p:cNvPr>
          <p:cNvSpPr txBox="1"/>
          <p:nvPr/>
        </p:nvSpPr>
        <p:spPr>
          <a:xfrm>
            <a:off x="324350" y="6130484"/>
            <a:ext cx="5260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www.kaggle.com</a:t>
            </a:r>
            <a:r>
              <a:rPr lang="ru-RU" sz="1200" dirty="0"/>
              <a:t>/</a:t>
            </a:r>
            <a:r>
              <a:rPr lang="ru-RU" sz="1200" dirty="0" err="1"/>
              <a:t>code</a:t>
            </a:r>
            <a:r>
              <a:rPr lang="ru-RU" sz="1200" dirty="0"/>
              <a:t>/eslammohamed100/</a:t>
            </a:r>
            <a:r>
              <a:rPr lang="ru-RU" sz="1200" dirty="0" err="1"/>
              <a:t>microsoft-stock-time-series-analysis</a:t>
            </a:r>
            <a:endParaRPr lang="ru-RU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8F3ED-FD40-E891-1E96-DCAA6441C0C4}"/>
              </a:ext>
            </a:extLst>
          </p:cNvPr>
          <p:cNvSpPr txBox="1"/>
          <p:nvPr/>
        </p:nvSpPr>
        <p:spPr>
          <a:xfrm>
            <a:off x="930729" y="1147044"/>
            <a:ext cx="3891642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en" b="1" i="0" dirty="0">
                <a:solidFill>
                  <a:srgbClr val="202124"/>
                </a:solidFill>
                <a:effectLst/>
                <a:latin typeface="Inter"/>
              </a:rPr>
              <a:t>Microsoft Stock- Time Series Analysis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78FF871-C076-5BAC-716B-9CE016383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008" y="944193"/>
            <a:ext cx="5271285" cy="248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5762B8-B744-1173-BAF3-A36591CC3312}"/>
              </a:ext>
            </a:extLst>
          </p:cNvPr>
          <p:cNvSpPr txBox="1"/>
          <p:nvPr/>
        </p:nvSpPr>
        <p:spPr>
          <a:xfrm>
            <a:off x="6426506" y="1215863"/>
            <a:ext cx="4241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solidFill>
                  <a:srgbClr val="BB2323"/>
                </a:solidFill>
                <a:effectLst/>
                <a:latin typeface="inherit"/>
              </a:rPr>
              <a:t>In-game currency spent (daily data)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4C8F2-85B6-2D7A-A59F-FD4A05E5A22B}"/>
              </a:ext>
            </a:extLst>
          </p:cNvPr>
          <p:cNvSpPr txBox="1"/>
          <p:nvPr/>
        </p:nvSpPr>
        <p:spPr>
          <a:xfrm>
            <a:off x="5398737" y="3395201"/>
            <a:ext cx="723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www.kaggle.com</a:t>
            </a:r>
            <a:r>
              <a:rPr lang="ru-RU" sz="1400" dirty="0"/>
              <a:t>/</a:t>
            </a:r>
            <a:r>
              <a:rPr lang="ru-RU" sz="1400" dirty="0" err="1"/>
              <a:t>code</a:t>
            </a:r>
            <a:r>
              <a:rPr lang="ru-RU" sz="1400" dirty="0"/>
              <a:t>/</a:t>
            </a:r>
            <a:r>
              <a:rPr lang="ru-RU" sz="1400" dirty="0" err="1"/>
              <a:t>kashnitsky</a:t>
            </a:r>
            <a:r>
              <a:rPr lang="ru-RU" sz="1400" dirty="0"/>
              <a:t>/topic-9-part-1-time-series-analysis-in-python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9C2FAFE-E52F-D4AF-ADC8-EB0047629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828" y="3699390"/>
            <a:ext cx="3482572" cy="290124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70919F9-6324-6F9C-8BC9-302F7FF0D7A8}"/>
              </a:ext>
            </a:extLst>
          </p:cNvPr>
          <p:cNvSpPr txBox="1"/>
          <p:nvPr/>
        </p:nvSpPr>
        <p:spPr>
          <a:xfrm>
            <a:off x="4279534" y="6413698"/>
            <a:ext cx="7428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www.kaggle.com</a:t>
            </a:r>
            <a:r>
              <a:rPr lang="ru-RU" sz="1400" dirty="0"/>
              <a:t>/</a:t>
            </a:r>
            <a:r>
              <a:rPr lang="ru-RU" sz="1400" dirty="0" err="1"/>
              <a:t>code</a:t>
            </a:r>
            <a:r>
              <a:rPr lang="ru-RU" sz="1400" dirty="0"/>
              <a:t>/</a:t>
            </a:r>
            <a:r>
              <a:rPr lang="ru-RU" sz="1400" dirty="0" err="1"/>
              <a:t>atulkgoyl</a:t>
            </a:r>
            <a:r>
              <a:rPr lang="ru-RU" sz="1400" dirty="0"/>
              <a:t>/</a:t>
            </a:r>
            <a:r>
              <a:rPr lang="ru-RU" sz="1400" dirty="0" err="1"/>
              <a:t>store-sales-time-series-forecasting-regression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8230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6327D-5961-A930-BB15-F0F13A71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8" y="484862"/>
            <a:ext cx="5738101" cy="852948"/>
          </a:xfrm>
        </p:spPr>
        <p:txBody>
          <a:bodyPr>
            <a:normAutofit/>
          </a:bodyPr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862C52-6499-4A2A-486C-9A5DCD8AF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81829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4871B7-53EE-D2D3-8995-9DE6D5DA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021E3379-966F-EFF6-710F-880204762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533" y="689267"/>
            <a:ext cx="3604175" cy="257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CE58BD9D-01FD-408F-5D3E-8DA3166C1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501" y="809582"/>
            <a:ext cx="3767388" cy="253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4196043" y="3333095"/>
            <a:ext cx="7701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www.kaggle.com</a:t>
            </a:r>
            <a:r>
              <a:rPr lang="ru-RU" sz="1600" dirty="0"/>
              <a:t>/</a:t>
            </a:r>
            <a:r>
              <a:rPr lang="ru-RU" sz="1600" dirty="0" err="1"/>
              <a:t>code</a:t>
            </a:r>
            <a:r>
              <a:rPr lang="ru-RU" sz="1600" dirty="0"/>
              <a:t>/jegun19/</a:t>
            </a:r>
            <a:r>
              <a:rPr lang="ru-RU" sz="1600" dirty="0" err="1"/>
              <a:t>predictive-maintenance-time-series-forecasting</a:t>
            </a:r>
            <a:endParaRPr lang="ru-RU" sz="1600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46A5D6CA-CABB-3F75-8643-E90D75359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75" y="3751889"/>
            <a:ext cx="5841014" cy="290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9D21E6-5CA5-22F1-6A98-DA6FD3D50335}"/>
              </a:ext>
            </a:extLst>
          </p:cNvPr>
          <p:cNvSpPr txBox="1"/>
          <p:nvPr/>
        </p:nvSpPr>
        <p:spPr>
          <a:xfrm>
            <a:off x="3515710" y="6527032"/>
            <a:ext cx="8460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dirty="0"/>
              <a:t>https://</a:t>
            </a:r>
            <a:r>
              <a:rPr lang="en" sz="1600" dirty="0" err="1"/>
              <a:t>www.kaggle.com</a:t>
            </a:r>
            <a:r>
              <a:rPr lang="en" sz="1600" dirty="0"/>
              <a:t>/code/marianadeem755/forecasting-electricity-by-hour-</a:t>
            </a:r>
            <a:r>
              <a:rPr lang="en" sz="1600" dirty="0" err="1"/>
              <a:t>rnn</a:t>
            </a:r>
            <a:r>
              <a:rPr lang="en" sz="1600" dirty="0"/>
              <a:t>-vs-</a:t>
            </a:r>
            <a:r>
              <a:rPr lang="en" sz="1600" dirty="0" err="1"/>
              <a:t>lstm</a:t>
            </a:r>
            <a:endParaRPr lang="ru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4196042" y="177235"/>
            <a:ext cx="770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Анализ состояния агрегатов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3264758" y="4519191"/>
            <a:ext cx="2291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Потребление электроэнергии</a:t>
            </a:r>
          </a:p>
        </p:txBody>
      </p:sp>
    </p:spTree>
    <p:extLst>
      <p:ext uri="{BB962C8B-B14F-4D97-AF65-F5344CB8AC3E}">
        <p14:creationId xmlns:p14="http://schemas.microsoft.com/office/powerpoint/2010/main" val="165827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6327D-5961-A930-BB15-F0F13A71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8" y="484862"/>
            <a:ext cx="5738101" cy="852948"/>
          </a:xfrm>
        </p:spPr>
        <p:txBody>
          <a:bodyPr>
            <a:normAutofit/>
          </a:bodyPr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4871B7-53EE-D2D3-8995-9DE6D5DA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5715FC2-9877-6BB3-A1A3-B73F7713E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588" y="2004933"/>
            <a:ext cx="4979734" cy="280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E9EACB2-D25F-007F-194C-1A1637804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59" y="2004933"/>
            <a:ext cx="5922345" cy="289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647F85-34C2-9508-2668-1A2E2A0756A1}"/>
              </a:ext>
            </a:extLst>
          </p:cNvPr>
          <p:cNvSpPr txBox="1"/>
          <p:nvPr/>
        </p:nvSpPr>
        <p:spPr>
          <a:xfrm>
            <a:off x="2088932" y="5073908"/>
            <a:ext cx="8668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www.kaggle.com</a:t>
            </a:r>
            <a:r>
              <a:rPr lang="ru-RU" sz="1600" dirty="0"/>
              <a:t>/</a:t>
            </a:r>
            <a:r>
              <a:rPr lang="ru-RU" sz="1600" dirty="0" err="1"/>
              <a:t>datasets</a:t>
            </a:r>
            <a:r>
              <a:rPr lang="ru-RU" sz="1600" dirty="0"/>
              <a:t>/vinayak123tyagi/</a:t>
            </a:r>
            <a:r>
              <a:rPr lang="ru-RU" sz="1600" dirty="0" err="1"/>
              <a:t>bearing-dataset</a:t>
            </a:r>
            <a:r>
              <a:rPr lang="ru-RU" sz="1600" dirty="0"/>
              <a:t>/</a:t>
            </a:r>
            <a:r>
              <a:rPr lang="ru-RU" sz="1600" dirty="0" err="1"/>
              <a:t>code</a:t>
            </a: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FE65A-3F4E-BBB6-C8ED-B386A57B1A89}"/>
              </a:ext>
            </a:extLst>
          </p:cNvPr>
          <p:cNvSpPr txBox="1"/>
          <p:nvPr/>
        </p:nvSpPr>
        <p:spPr>
          <a:xfrm>
            <a:off x="4556235" y="1719746"/>
            <a:ext cx="6320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en" b="1" i="0" dirty="0">
                <a:solidFill>
                  <a:srgbClr val="202124"/>
                </a:solidFill>
                <a:effectLst/>
                <a:latin typeface="Inter"/>
              </a:rPr>
              <a:t>NASA Bearing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FE65A-3F4E-BBB6-C8ED-B386A57B1A89}"/>
              </a:ext>
            </a:extLst>
          </p:cNvPr>
          <p:cNvSpPr txBox="1"/>
          <p:nvPr/>
        </p:nvSpPr>
        <p:spPr>
          <a:xfrm>
            <a:off x="4909057" y="1386301"/>
            <a:ext cx="6927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ru-RU" b="1" i="0" dirty="0">
                <a:solidFill>
                  <a:srgbClr val="202124"/>
                </a:solidFill>
                <a:effectLst/>
                <a:latin typeface="Inter"/>
              </a:rPr>
              <a:t>Анализ нештатных ситуаций</a:t>
            </a:r>
            <a:endParaRPr lang="en" b="1" i="0" dirty="0">
              <a:solidFill>
                <a:srgbClr val="202124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9259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2862942"/>
          </a:xfrm>
        </p:spPr>
        <p:txBody>
          <a:bodyPr>
            <a:normAutofit/>
          </a:bodyPr>
          <a:lstStyle/>
          <a:p>
            <a:r>
              <a:rPr lang="ru-RU" sz="8000" dirty="0" smtClean="0"/>
              <a:t>Постановка задач </a:t>
            </a:r>
            <a:r>
              <a:rPr lang="ru-RU" sz="8000" dirty="0"/>
              <a:t>предсказания ВР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2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2B06-B173-C52C-7F74-302136EB4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365125"/>
            <a:ext cx="10787743" cy="1047641"/>
          </a:xfrm>
        </p:spPr>
        <p:txBody>
          <a:bodyPr/>
          <a:lstStyle/>
          <a:p>
            <a:r>
              <a:rPr lang="ru-RU" b="1" dirty="0"/>
              <a:t>Задачи анализа временных рядов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1CFB72-A2ED-B011-6D8A-BC8972130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1412766"/>
            <a:ext cx="1141701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Последовательной ВР(</a:t>
            </a:r>
            <a:r>
              <a:rPr lang="ru-RU" sz="2400" b="1" dirty="0" err="1"/>
              <a:t>неприрывный</a:t>
            </a:r>
            <a:r>
              <a:rPr lang="ru-RU" sz="2400" b="1" dirty="0"/>
              <a:t>)</a:t>
            </a:r>
          </a:p>
          <a:p>
            <a:r>
              <a:rPr lang="ru-RU" sz="2400" dirty="0"/>
              <a:t>Предсказание будущих значений ВР (прогнозирование, T</a:t>
            </a:r>
            <a:r>
              <a:rPr lang="en-US" sz="2400" dirty="0" err="1"/>
              <a:t>ime</a:t>
            </a:r>
            <a:r>
              <a:rPr lang="en-US" sz="2400" dirty="0"/>
              <a:t> series forecasting)</a:t>
            </a:r>
            <a:endParaRPr lang="ru-RU" sz="2400" dirty="0"/>
          </a:p>
          <a:p>
            <a:r>
              <a:rPr lang="en-US" sz="2400" dirty="0" err="1"/>
              <a:t>По</a:t>
            </a:r>
            <a:r>
              <a:rPr lang="ru-RU" sz="2400" dirty="0"/>
              <a:t>иск аномалий/выбросов</a:t>
            </a:r>
            <a:r>
              <a:rPr lang="en-US" sz="2400" dirty="0"/>
              <a:t> (</a:t>
            </a:r>
            <a:r>
              <a:rPr lang="ru-RU" sz="2400" dirty="0" err="1"/>
              <a:t>T</a:t>
            </a:r>
            <a:r>
              <a:rPr lang="en-US" sz="2400" dirty="0" err="1"/>
              <a:t>ime</a:t>
            </a:r>
            <a:r>
              <a:rPr lang="en-US" sz="2400" dirty="0"/>
              <a:t> series  anomaly detection)</a:t>
            </a:r>
            <a:endParaRPr lang="ru-RU" sz="2400" dirty="0"/>
          </a:p>
          <a:p>
            <a:r>
              <a:rPr lang="en-US" sz="2400" dirty="0" err="1"/>
              <a:t>По</a:t>
            </a:r>
            <a:r>
              <a:rPr lang="ru-RU" sz="2400" dirty="0"/>
              <a:t>иск точек новизны (изменений), сегментов ВР – новых паттернов поведения</a:t>
            </a:r>
          </a:p>
          <a:p>
            <a:pPr marL="0" indent="0">
              <a:buNone/>
            </a:pPr>
            <a:r>
              <a:rPr lang="ru-RU" sz="2400" b="1" dirty="0"/>
              <a:t>Сегменты ВР (сигналы)</a:t>
            </a:r>
          </a:p>
          <a:p>
            <a:r>
              <a:rPr lang="ru-RU" sz="2400" dirty="0"/>
              <a:t>Классификация сегментов/шаблонов поведения</a:t>
            </a:r>
            <a:r>
              <a:rPr lang="en-US" sz="2400" dirty="0"/>
              <a:t>  </a:t>
            </a:r>
            <a:r>
              <a:rPr lang="ru-RU" sz="2400" dirty="0"/>
              <a:t>(T</a:t>
            </a:r>
            <a:r>
              <a:rPr lang="en-US" sz="2400" dirty="0" err="1"/>
              <a:t>ime</a:t>
            </a:r>
            <a:r>
              <a:rPr lang="en-US" sz="2400" dirty="0"/>
              <a:t> series classification)</a:t>
            </a:r>
            <a:endParaRPr lang="ru-RU" sz="2400" dirty="0"/>
          </a:p>
          <a:p>
            <a:r>
              <a:rPr lang="ru-RU" sz="2400" dirty="0"/>
              <a:t>Признаковое описание ВР/Регрессия ВР</a:t>
            </a:r>
            <a:r>
              <a:rPr lang="en-US" sz="2400" dirty="0"/>
              <a:t>/</a:t>
            </a:r>
            <a:r>
              <a:rPr lang="ru-RU" sz="2400" dirty="0"/>
              <a:t>Казуальный анализ (влияние внешних факторов на поведение ВР)</a:t>
            </a:r>
            <a:r>
              <a:rPr lang="en-US" sz="2400" dirty="0"/>
              <a:t> </a:t>
            </a:r>
            <a:r>
              <a:rPr lang="ru-RU" sz="2400" dirty="0"/>
              <a:t>(T</a:t>
            </a:r>
            <a:r>
              <a:rPr lang="en-US" sz="2400" dirty="0" err="1"/>
              <a:t>ime</a:t>
            </a:r>
            <a:r>
              <a:rPr lang="en-US" sz="2400" dirty="0"/>
              <a:t> series regression)</a:t>
            </a:r>
            <a:endParaRPr lang="ru-RU" sz="2400" dirty="0"/>
          </a:p>
          <a:p>
            <a:endParaRPr lang="en-US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C4D2CE-024B-092F-F40E-1C67E2809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C06033-2C39-FC3F-9249-C4FF81811A81}"/>
              </a:ext>
            </a:extLst>
          </p:cNvPr>
          <p:cNvSpPr txBox="1"/>
          <p:nvPr/>
        </p:nvSpPr>
        <p:spPr>
          <a:xfrm>
            <a:off x="97971" y="59434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medium.com</a:t>
            </a:r>
            <a:r>
              <a:rPr lang="ru-RU" dirty="0"/>
              <a:t>/@</a:t>
            </a:r>
            <a:r>
              <a:rPr lang="ru-RU" dirty="0" err="1"/>
              <a:t>datasciencewizards</a:t>
            </a:r>
            <a:r>
              <a:rPr lang="ru-RU" dirty="0"/>
              <a:t>/introduction-to-time-series-analysis-ii-c312e85d51bc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731785" y="6266656"/>
            <a:ext cx="6043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https://shakhbanov.org/vvedenie-v-analiz-vremennyh-ryadov/</a:t>
            </a:r>
          </a:p>
        </p:txBody>
      </p:sp>
    </p:spTree>
    <p:extLst>
      <p:ext uri="{BB962C8B-B14F-4D97-AF65-F5344CB8AC3E}">
        <p14:creationId xmlns:p14="http://schemas.microsoft.com/office/powerpoint/2010/main" val="121070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2D15B-1A1A-60FB-41FC-8A61BF19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D8DF6-C216-E34E-7D7B-11C6D5207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365125"/>
            <a:ext cx="10787743" cy="1047641"/>
          </a:xfrm>
        </p:spPr>
        <p:txBody>
          <a:bodyPr/>
          <a:lstStyle/>
          <a:p>
            <a:r>
              <a:rPr lang="ru-RU" b="1" dirty="0"/>
              <a:t>Задачи предсказания временных рядов</a:t>
            </a:r>
            <a:r>
              <a:rPr lang="en-US" b="1" dirty="0" err="1"/>
              <a:t>aq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D6B87D-2FAF-84DA-E08B-87EB655C2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1BB278FD-3BA0-E784-DDDA-9236766B253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4110" y="1404519"/>
            <a:ext cx="7271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u-RU" sz="2000" b="1" dirty="0"/>
              <a:t>Точечный прогноз </a:t>
            </a:r>
            <a:r>
              <a:rPr lang="ru-RU" sz="2000" dirty="0"/>
              <a:t>- Самый простой случай, когда требуется узнать конкретное значение показателя в зависимости от периода. </a:t>
            </a:r>
          </a:p>
        </p:txBody>
      </p:sp>
      <p:pic>
        <p:nvPicPr>
          <p:cNvPr id="11" name="Рисунок 10" descr="https://shakhbanov.org/wp-content/uploads/2024/10/%D1%82%D0%BE%D1%87%D0%B5%D1%87%D0%BD%D1%8B%D0%B9_%D0%BF%D1%80%D0%BE%D0%B3%D0%BD%D0%BE%D0%B7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244" y="1082830"/>
            <a:ext cx="3276600" cy="15914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354110" y="2489431"/>
            <a:ext cx="758974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Прогноз изменчивости</a:t>
            </a:r>
            <a:r>
              <a:rPr lang="en-US" sz="2000" b="1" dirty="0"/>
              <a:t> - </a:t>
            </a:r>
            <a:r>
              <a:rPr lang="ru-RU" sz="2000" dirty="0"/>
              <a:t>обычно подразумевают прогноз дисперсии и производных от неё показателей. Примером может служить прогнозирование волатильности на фондовом рынке. Волатильность отражает степень колебаний цен на активы и является важным показателем риска для инвесторов.</a:t>
            </a:r>
          </a:p>
        </p:txBody>
      </p:sp>
      <p:pic>
        <p:nvPicPr>
          <p:cNvPr id="14" name="Рисунок 13" descr="https://shakhbanov.org/wp-content/uploads/2024/10/%D0%BF%D1%80%D0%BE%D0%B3%D0%BD%D0%BE%D0%B7_%D0%B8%D0%B7%D0%BC%D0%B5%D0%BD%D1%87%D0%B8%D0%B2%D0%BE%D1%81%D1%82%D0%B8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244" y="2848662"/>
            <a:ext cx="3200400" cy="14859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354110" y="4331961"/>
                <a:ext cx="7934234" cy="1744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2000" b="1" dirty="0" smtClean="0"/>
                  <a:t>Вероятностный </a:t>
                </a:r>
                <a:r>
                  <a:rPr lang="ru-RU" sz="2000" b="1" dirty="0"/>
                  <a:t>прогноз</a:t>
                </a:r>
                <a:r>
                  <a:rPr lang="en-US" sz="2000" b="1" dirty="0"/>
                  <a:t> </a:t>
                </a:r>
                <a:r>
                  <a:rPr lang="ru-RU" sz="2000" dirty="0"/>
                  <a:t>- комбинация двух предыдущих. </a:t>
                </a:r>
                <a:r>
                  <a:rPr lang="ru-RU" sz="2000" dirty="0" smtClean="0"/>
                  <a:t>Есть разные варианты, например интервальный прогноз - Задача </a:t>
                </a:r>
                <a:r>
                  <a:rPr lang="ru-RU" sz="2000" dirty="0"/>
                  <a:t>заключается в предсказании интервала, в который попадёт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000" dirty="0"/>
                  <a:t> с заданной вероятностью (например, 95%). Для этого требуется либо знать закон распределения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sz="2000" i="1" dirty="0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ctrlPr>
                              <a:rPr lang="fr-FR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20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ru-RU" sz="2000" dirty="0"/>
                  <a:t> , либо рассчитать квантиль.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10" y="4331961"/>
                <a:ext cx="7934234" cy="1744645"/>
              </a:xfrm>
              <a:prstGeom prst="rect">
                <a:avLst/>
              </a:prstGeom>
              <a:blipFill>
                <a:blip r:embed="rId4"/>
                <a:stretch>
                  <a:fillRect l="-768" t="-1748" b="-45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Рисунок 14" descr="https://shakhbanov.org/wp-content/uploads/2024/10/%D0%B8%D0%BD%D1%82%D0%B5%D1%80%D0%B2%D0%B0%D0%BB%D1%8C%D0%BD%D1%8B%D0%B9_%D0%BF%D1%80%D0%BE%D0%B3%D0%BD%D0%BE%D0%B7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44" y="4606792"/>
            <a:ext cx="3200400" cy="147732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54110" y="6084120"/>
            <a:ext cx="10748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дополнение к этому также могут быть поставлены задачи поиска аномалий, заполнения пропусков, обнаружение изменений (новизны) и другие задачи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827160" y="6407285"/>
            <a:ext cx="6043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https://shakhbanov.org/vvedenie-v-analiz-vremennyh-ryadov/</a:t>
            </a:r>
          </a:p>
        </p:txBody>
      </p:sp>
    </p:spTree>
    <p:extLst>
      <p:ext uri="{BB962C8B-B14F-4D97-AF65-F5344CB8AC3E}">
        <p14:creationId xmlns:p14="http://schemas.microsoft.com/office/powerpoint/2010/main" val="277787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4375" y="293688"/>
            <a:ext cx="10639425" cy="47307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Задачи прогнозирования временных рядов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85149" y="3720759"/>
                <a:ext cx="6826743" cy="2085717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sz="2000" dirty="0"/>
                  <a:t>Предсказание будет осуществляться по набору предыдущий значений. Такие значения будем обозначать как значения лагов.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sz="2000" b="1" dirty="0"/>
                  <a:t>Лаг</a:t>
                </a:r>
                <a:r>
                  <a:rPr lang="ru-RU" sz="2000" dirty="0"/>
                  <a:t> — это задержка во времени. </a:t>
                </a:r>
                <a:r>
                  <a:rPr lang="ru-RU" sz="2000" b="1" dirty="0"/>
                  <a:t>Лаг показывает, как прошлые данные влияют на текущее или будущее</a:t>
                </a:r>
                <a:r>
                  <a:rPr lang="ru-RU" sz="2000" dirty="0"/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sz="2000" dirty="0"/>
                  <a:t>Лаг обозначается как 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000" baseline="-25000" dirty="0"/>
                  <a:t>t−</a:t>
                </a:r>
                <a:r>
                  <a:rPr lang="en-US" sz="2000" baseline="-25000" dirty="0"/>
                  <a:t>p</a:t>
                </a:r>
                <a:r>
                  <a:rPr lang="ru-RU" sz="2000" baseline="-25000" dirty="0"/>
                  <a:t> </a:t>
                </a:r>
                <a:r>
                  <a:rPr lang="en-US" sz="2000" baseline="-25000" dirty="0"/>
                  <a:t>,</a:t>
                </a:r>
                <a:r>
                  <a:rPr lang="en-US" sz="2000" dirty="0"/>
                  <a:t> </a:t>
                </a:r>
                <a:r>
                  <a:rPr lang="ru-RU" sz="2000" dirty="0"/>
                  <a:t>где </a:t>
                </a:r>
                <a:r>
                  <a:rPr lang="en-US" sz="2000" dirty="0"/>
                  <a:t>p</a:t>
                </a:r>
                <a:r>
                  <a:rPr lang="ru-RU" sz="2000" dirty="0"/>
                  <a:t> — это число шагов назад.</a:t>
                </a:r>
                <a:endParaRPr 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149" y="3720759"/>
                <a:ext cx="6826743" cy="2085717"/>
              </a:xfrm>
              <a:blipFill>
                <a:blip r:embed="rId3"/>
                <a:stretch>
                  <a:fillRect l="-714" t="-14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15</a:t>
            </a:fld>
            <a:endParaRPr lang="en-US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63002" y="6447950"/>
            <a:ext cx="47466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https://shakhbanov.org/vvedenie-v-analiz-vremennyh-ryadov/</a:t>
            </a:r>
          </a:p>
        </p:txBody>
      </p:sp>
      <p:grpSp>
        <p:nvGrpSpPr>
          <p:cNvPr id="30" name="Группа 29"/>
          <p:cNvGrpSpPr/>
          <p:nvPr/>
        </p:nvGrpSpPr>
        <p:grpSpPr>
          <a:xfrm>
            <a:off x="6889334" y="3623058"/>
            <a:ext cx="5074706" cy="2758117"/>
            <a:chOff x="7350376" y="3922463"/>
            <a:chExt cx="4072158" cy="2691644"/>
          </a:xfrm>
        </p:grpSpPr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01CFA530-140F-8B29-4421-F07E4B98F3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0376" y="3922463"/>
              <a:ext cx="4072158" cy="2511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Прямая соединительная линия 15"/>
            <p:cNvCxnSpPr/>
            <p:nvPr/>
          </p:nvCxnSpPr>
          <p:spPr>
            <a:xfrm>
              <a:off x="7886701" y="5143567"/>
              <a:ext cx="0" cy="10762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/>
            <p:cNvCxnSpPr/>
            <p:nvPr/>
          </p:nvCxnSpPr>
          <p:spPr>
            <a:xfrm>
              <a:off x="7886701" y="5995988"/>
              <a:ext cx="771524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7993123" y="5929313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лаги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610600" y="6244775"/>
              <a:ext cx="341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y</a:t>
              </a:r>
              <a:r>
                <a:rPr lang="en-US" baseline="-25000" dirty="0" err="1"/>
                <a:t>t</a:t>
              </a:r>
              <a:endParaRPr lang="ru-RU" baseline="-250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745612" y="6238373"/>
              <a:ext cx="4950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y</a:t>
              </a:r>
              <a:r>
                <a:rPr lang="en-US" baseline="-25000" dirty="0" err="1"/>
                <a:t>t</a:t>
              </a:r>
              <a:r>
                <a:rPr lang="en-US" baseline="-25000" dirty="0"/>
                <a:t>-p</a:t>
              </a:r>
              <a:endParaRPr lang="ru-RU" baseline="-250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862540" y="6220547"/>
              <a:ext cx="498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y</a:t>
              </a:r>
              <a:r>
                <a:rPr lang="en-US" baseline="-25000" dirty="0" err="1"/>
                <a:t>t+h</a:t>
              </a:r>
              <a:endParaRPr lang="ru-RU" baseline="-250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632478" y="5687378"/>
              <a:ext cx="24574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dirty="0"/>
                <a:t>Горизонт прогнозирования</a:t>
              </a:r>
            </a:p>
          </p:txBody>
        </p:sp>
        <p:cxnSp>
          <p:nvCxnSpPr>
            <p:cNvPr id="29" name="Прямая со стрелкой 28"/>
            <p:cNvCxnSpPr>
              <a:endCxn id="28" idx="3"/>
            </p:cNvCxnSpPr>
            <p:nvPr/>
          </p:nvCxnSpPr>
          <p:spPr>
            <a:xfrm>
              <a:off x="8670926" y="5999163"/>
              <a:ext cx="2419020" cy="11381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/>
            <p:cNvCxnSpPr/>
            <p:nvPr/>
          </p:nvCxnSpPr>
          <p:spPr>
            <a:xfrm>
              <a:off x="11089946" y="5092079"/>
              <a:ext cx="0" cy="11526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/>
            <p:nvPr/>
          </p:nvCxnSpPr>
          <p:spPr>
            <a:xfrm>
              <a:off x="7764409" y="5143567"/>
              <a:ext cx="0" cy="11106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7594656" y="4798615"/>
              <a:ext cx="782798" cy="360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Шаг ВР</a:t>
              </a:r>
              <a:endParaRPr lang="ru-RU" baseline="-25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Прямоугольник 24"/>
              <p:cNvSpPr/>
              <p:nvPr/>
            </p:nvSpPr>
            <p:spPr>
              <a:xfrm>
                <a:off x="285149" y="964689"/>
                <a:ext cx="11497875" cy="23290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Значение в момент времени </a:t>
                </a:r>
                <a14:m>
                  <m:oMath xmlns:m="http://schemas.openxmlformats.org/officeDocument/2006/math"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ru-RU" sz="2000" dirty="0"/>
                  <a:t> — это </a:t>
                </a:r>
                <a14:m>
                  <m:oMath xmlns:m="http://schemas.openxmlformats.org/officeDocument/2006/math"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ru-RU" sz="2000" b="1" i="1" baseline="-25000" dirty="0" err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ru-RU" sz="2000" dirty="0"/>
                  <a:t>. 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Прошлое — обозначается как </a:t>
                </a:r>
                <a14:m>
                  <m:oMath xmlns:m="http://schemas.openxmlformats.org/officeDocument/2006/math"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, … </m:t>
                    </m:r>
                  </m:oMath>
                </a14:m>
                <a:r>
                  <a:rPr lang="ru-RU" sz="2000" dirty="0"/>
                  <a:t>напр. температура вчера — 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000" baseline="-25000" dirty="0"/>
                  <a:t>t−1</a:t>
                </a:r>
                <a:r>
                  <a:rPr lang="ru-RU" sz="2000" dirty="0"/>
                  <a:t>.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Будущее — обозначается как </a:t>
                </a:r>
                <a14:m>
                  <m:oMath xmlns:m="http://schemas.openxmlformats.org/officeDocument/2006/math"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ru-RU" sz="2000" b="1" i="1" dirty="0">
                        <a:latin typeface="Cambria Math" panose="02040503050406030204" pitchFamily="18" charset="0"/>
                      </a:rPr>
                      <m:t>, … </m:t>
                    </m:r>
                  </m:oMath>
                </a14:m>
                <a:r>
                  <a:rPr lang="ru-RU" sz="2000" dirty="0"/>
                  <a:t>напр. прогноз температуры на завтра — 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000" baseline="-25000" dirty="0"/>
                  <a:t>t+1</a:t>
                </a:r>
                <a:r>
                  <a:rPr lang="ru-RU" sz="2000" dirty="0"/>
                  <a:t>.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Прогнозы на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шагов вперед – </a:t>
                </a:r>
                <a:r>
                  <a:rPr lang="ru-RU" sz="2000" b="1" dirty="0"/>
                  <a:t>горизонт прогнозирования </a:t>
                </a:r>
                <a:endParaRPr lang="en-US" sz="2000" b="1" dirty="0"/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Предсказанное значение на шаге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обозначим как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m:rPr>
                        <m:nor/>
                      </m:rPr>
                      <a:rPr lang="ru-RU" sz="2000" b="1" baseline="-25000" dirty="0"/>
                      <m:t>t</m:t>
                    </m:r>
                    <m:r>
                      <m:rPr>
                        <m:nor/>
                      </m:rPr>
                      <a:rPr lang="ru-RU" sz="2000" b="1" baseline="-25000" dirty="0"/>
                      <m:t>+</m:t>
                    </m:r>
                    <m:r>
                      <m:rPr>
                        <m:nor/>
                      </m:rPr>
                      <a:rPr lang="en-US" sz="2000" b="1" baseline="-25000" dirty="0"/>
                      <m:t>h</m:t>
                    </m:r>
                  </m:oMath>
                </a14:m>
                <a:endParaRPr lang="ru-RU" sz="2000" b="1" dirty="0"/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ru-RU" sz="2000" b="1" dirty="0"/>
                  <a:t>Задача прогнозирования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fr-FR" sz="20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fr-FR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ctrlPr>
                                  <a:rPr lang="fr-FR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sz="200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fr-FR" sz="20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200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FR" sz="20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fr-FR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000" i="1" dirty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Прямоугольник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49" y="964689"/>
                <a:ext cx="11497875" cy="2329036"/>
              </a:xfrm>
              <a:prstGeom prst="rect">
                <a:avLst/>
              </a:prstGeom>
              <a:blipFill>
                <a:blip r:embed="rId5"/>
                <a:stretch>
                  <a:fillRect l="-477" t="-1309" b="-39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E58F1B07-EE24-C7CD-1951-723D0C1BF829}"/>
              </a:ext>
            </a:extLst>
          </p:cNvPr>
          <p:cNvSpPr txBox="1"/>
          <p:nvPr/>
        </p:nvSpPr>
        <p:spPr>
          <a:xfrm>
            <a:off x="4795818" y="6478728"/>
            <a:ext cx="67469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colab.research.google.com</a:t>
            </a:r>
            <a:r>
              <a:rPr lang="ru-RU" sz="1200" dirty="0"/>
              <a:t>/</a:t>
            </a:r>
            <a:r>
              <a:rPr lang="ru-RU" sz="1200" dirty="0" err="1"/>
              <a:t>drive</a:t>
            </a:r>
            <a:r>
              <a:rPr lang="ru-RU" sz="1200" dirty="0"/>
              <a:t>/1EnMNj9cTV1JhMQBvx2VvXaahxBPoCDML?usp=</a:t>
            </a:r>
            <a:r>
              <a:rPr lang="ru-RU" sz="1200" dirty="0" err="1"/>
              <a:t>sharing</a:t>
            </a:r>
            <a:endParaRPr lang="ru-RU" sz="1200" dirty="0"/>
          </a:p>
        </p:txBody>
      </p:sp>
      <p:cxnSp>
        <p:nvCxnSpPr>
          <p:cNvPr id="39" name="Прямая со стрелкой 38"/>
          <p:cNvCxnSpPr/>
          <p:nvPr/>
        </p:nvCxnSpPr>
        <p:spPr>
          <a:xfrm flipH="1">
            <a:off x="7557700" y="5007216"/>
            <a:ext cx="286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 flipH="1">
            <a:off x="7405300" y="5003006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/>
          <p:nvPr/>
        </p:nvCxnSpPr>
        <p:spPr>
          <a:xfrm>
            <a:off x="7193756" y="5003006"/>
            <a:ext cx="2115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31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2877" y="365126"/>
            <a:ext cx="10780923" cy="63741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a typeface="Calibri" panose="020F0502020204030204" pitchFamily="34" charset="0"/>
                <a:cs typeface="Times New Roman" panose="02020603050405020304" pitchFamily="18" charset="0"/>
              </a:rPr>
              <a:t>Анализ временных рядов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9389" y="1528170"/>
            <a:ext cx="302872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Строгая последовательность данных – это всегда дополнительная информация и часто важная!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Последовательность данных нарушать нельзя!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pic>
        <p:nvPicPr>
          <p:cNvPr id="1026" name="Picture 2" descr="Evaluation of statistical and machine learning models for time series  prediction: Identifying the state-of-the-art and the best conditions for  the use of each model - ScienceDirect">
            <a:extLst>
              <a:ext uri="{FF2B5EF4-FFF2-40B4-BE49-F238E27FC236}">
                <a16:creationId xmlns:a16="http://schemas.microsoft.com/office/drawing/2014/main" id="{CF0134DE-2972-2DC6-F324-4B473D1A8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020" y="1460179"/>
            <a:ext cx="8386590" cy="4559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B87D2F-F4DD-DA49-1AAC-60C600287B1E}"/>
              </a:ext>
            </a:extLst>
          </p:cNvPr>
          <p:cNvSpPr txBox="1"/>
          <p:nvPr/>
        </p:nvSpPr>
        <p:spPr>
          <a:xfrm>
            <a:off x="4527933" y="6270587"/>
            <a:ext cx="8386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www.sciencedirect.com</a:t>
            </a:r>
            <a:r>
              <a:rPr lang="ru-RU" dirty="0"/>
              <a:t>/</a:t>
            </a:r>
            <a:r>
              <a:rPr lang="ru-RU" dirty="0" err="1"/>
              <a:t>science</a:t>
            </a:r>
            <a:r>
              <a:rPr lang="ru-RU" dirty="0"/>
              <a:t>/</a:t>
            </a:r>
            <a:r>
              <a:rPr lang="ru-RU" dirty="0" err="1"/>
              <a:t>article</a:t>
            </a:r>
            <a:r>
              <a:rPr lang="ru-RU" dirty="0"/>
              <a:t>/</a:t>
            </a:r>
            <a:r>
              <a:rPr lang="ru-RU" dirty="0" err="1"/>
              <a:t>abs</a:t>
            </a:r>
            <a:r>
              <a:rPr lang="ru-RU" dirty="0"/>
              <a:t>/</a:t>
            </a:r>
            <a:r>
              <a:rPr lang="ru-RU" dirty="0" err="1"/>
              <a:t>pii</a:t>
            </a:r>
            <a:r>
              <a:rPr lang="ru-RU" dirty="0"/>
              <a:t>/S0020025519300945</a:t>
            </a:r>
          </a:p>
        </p:txBody>
      </p:sp>
    </p:spTree>
    <p:extLst>
      <p:ext uri="{BB962C8B-B14F-4D97-AF65-F5344CB8AC3E}">
        <p14:creationId xmlns:p14="http://schemas.microsoft.com/office/powerpoint/2010/main" val="293033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0DF5D5-7D67-E283-56B4-5F90AB037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788" y="1036503"/>
            <a:ext cx="5002837" cy="47933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D1D9A-7D65-F70A-BCFB-4AAC3B1A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57" y="365125"/>
            <a:ext cx="10990243" cy="747579"/>
          </a:xfrm>
        </p:spPr>
        <p:txBody>
          <a:bodyPr/>
          <a:lstStyle/>
          <a:p>
            <a:r>
              <a:rPr lang="en-US" dirty="0" err="1"/>
              <a:t>Пост</a:t>
            </a:r>
            <a:r>
              <a:rPr lang="ru-RU" dirty="0" err="1"/>
              <a:t>ановка</a:t>
            </a:r>
            <a:r>
              <a:rPr lang="ru-RU" dirty="0"/>
              <a:t> задачи анализа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5001AD-C988-EFE6-BAB1-1D06788E8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90" y="937510"/>
            <a:ext cx="7312789" cy="5783965"/>
          </a:xfrm>
        </p:spPr>
        <p:txBody>
          <a:bodyPr>
            <a:normAutofit fontScale="77500" lnSpcReduction="20000"/>
          </a:bodyPr>
          <a:lstStyle/>
          <a:p>
            <a:r>
              <a:rPr lang="ru-RU" sz="2400" b="1" dirty="0"/>
              <a:t>Как устроен ВР </a:t>
            </a:r>
          </a:p>
          <a:p>
            <a:pPr lvl="1"/>
            <a:r>
              <a:rPr lang="ru-RU" sz="2000" b="1" dirty="0"/>
              <a:t>От куда берутся значения ВР</a:t>
            </a:r>
            <a:r>
              <a:rPr lang="ru-RU" sz="2000" dirty="0"/>
              <a:t>, типы данных и однотипность, количество</a:t>
            </a:r>
          </a:p>
          <a:p>
            <a:pPr lvl="1"/>
            <a:r>
              <a:rPr lang="ru-RU" b="1" dirty="0"/>
              <a:t>структура</a:t>
            </a:r>
            <a:r>
              <a:rPr lang="en-US" b="1" dirty="0"/>
              <a:t> </a:t>
            </a:r>
            <a:r>
              <a:rPr lang="ru-RU" b="1" dirty="0"/>
              <a:t>ВР </a:t>
            </a:r>
            <a:r>
              <a:rPr lang="ru-RU" dirty="0"/>
              <a:t>(переменные, экзогенные факторы, регулярность паттернов, стат. характеристики)</a:t>
            </a:r>
          </a:p>
          <a:p>
            <a:pPr lvl="1"/>
            <a:r>
              <a:rPr lang="ru-RU" dirty="0"/>
              <a:t>шаг, равномерность, пропуск и </a:t>
            </a:r>
            <a:r>
              <a:rPr lang="ru-RU" dirty="0" err="1"/>
              <a:t>тд</a:t>
            </a:r>
            <a:r>
              <a:rPr lang="ru-RU" dirty="0"/>
              <a:t> , как заполнять?</a:t>
            </a:r>
          </a:p>
          <a:p>
            <a:r>
              <a:rPr lang="ru-RU" sz="2400" b="1" dirty="0"/>
              <a:t>Преобразование данных </a:t>
            </a:r>
          </a:p>
          <a:p>
            <a:pPr lvl="1"/>
            <a:r>
              <a:rPr lang="ru-RU" dirty="0"/>
              <a:t>численные данные? </a:t>
            </a:r>
          </a:p>
          <a:p>
            <a:pPr lvl="1"/>
            <a:r>
              <a:rPr lang="ru-RU" dirty="0"/>
              <a:t>Экзогенные факторы? </a:t>
            </a:r>
          </a:p>
          <a:p>
            <a:pPr lvl="1"/>
            <a:r>
              <a:rPr lang="ru-RU" dirty="0"/>
              <a:t>Разложение?</a:t>
            </a:r>
            <a:r>
              <a:rPr lang="en-US" dirty="0"/>
              <a:t> </a:t>
            </a:r>
            <a:endParaRPr lang="ru-RU" dirty="0"/>
          </a:p>
          <a:p>
            <a:r>
              <a:rPr lang="ru-RU" sz="2400" b="1" dirty="0" smtClean="0"/>
              <a:t>Переменная </a:t>
            </a:r>
            <a:r>
              <a:rPr lang="ru-RU" sz="2400" b="1" dirty="0"/>
              <a:t>для предсказания  (Диагностика </a:t>
            </a:r>
            <a:r>
              <a:rPr lang="ru-RU" sz="2400" b="1" dirty="0" smtClean="0"/>
              <a:t>ВР</a:t>
            </a:r>
            <a:r>
              <a:rPr lang="ru-RU" sz="2400" b="1" dirty="0"/>
              <a:t>)</a:t>
            </a:r>
          </a:p>
          <a:p>
            <a:pPr lvl="1"/>
            <a:r>
              <a:rPr lang="ru-RU" dirty="0"/>
              <a:t>горизонт, регулярность, </a:t>
            </a:r>
          </a:p>
          <a:p>
            <a:pPr lvl="1"/>
            <a:r>
              <a:rPr lang="ru-RU" dirty="0"/>
              <a:t>Время предсказания, </a:t>
            </a:r>
          </a:p>
          <a:p>
            <a:pPr lvl="1"/>
            <a:r>
              <a:rPr lang="ru-RU" dirty="0"/>
              <a:t>М</a:t>
            </a:r>
            <a:r>
              <a:rPr lang="en-US" dirty="0" err="1"/>
              <a:t>етр</a:t>
            </a:r>
            <a:r>
              <a:rPr lang="ru-RU" dirty="0" err="1"/>
              <a:t>ики</a:t>
            </a:r>
            <a:r>
              <a:rPr lang="ru-RU" dirty="0"/>
              <a:t> и их значение и разброс, </a:t>
            </a:r>
            <a:r>
              <a:rPr lang="ru-RU" dirty="0" err="1"/>
              <a:t>bas</a:t>
            </a:r>
            <a:r>
              <a:rPr lang="en-US" dirty="0" err="1"/>
              <a:t>eline</a:t>
            </a:r>
            <a:r>
              <a:rPr lang="ru-RU" dirty="0"/>
              <a:t> </a:t>
            </a:r>
            <a:endParaRPr lang="en-US" dirty="0"/>
          </a:p>
          <a:p>
            <a:pPr lvl="1"/>
            <a:r>
              <a:rPr lang="ru-RU" dirty="0"/>
              <a:t>Чувствительность к выбросам и пропускам</a:t>
            </a:r>
          </a:p>
          <a:p>
            <a:pPr lvl="1"/>
            <a:r>
              <a:rPr lang="ru-RU" dirty="0"/>
              <a:t>Интерпретация или модель данных</a:t>
            </a:r>
          </a:p>
          <a:p>
            <a:r>
              <a:rPr lang="ru-RU" sz="2400" b="1" dirty="0"/>
              <a:t>Мониторинг</a:t>
            </a:r>
          </a:p>
          <a:p>
            <a:pPr lvl="1"/>
            <a:r>
              <a:rPr lang="ru-RU" dirty="0"/>
              <a:t>Контроль дрейфа и новизны</a:t>
            </a:r>
          </a:p>
          <a:p>
            <a:pPr lvl="1"/>
            <a:r>
              <a:rPr lang="ru-RU" dirty="0"/>
              <a:t>Критерии дообучения</a:t>
            </a:r>
          </a:p>
          <a:p>
            <a:pPr lvl="1"/>
            <a:r>
              <a:rPr lang="ru-RU" dirty="0"/>
              <a:t>Критерии </a:t>
            </a:r>
            <a:r>
              <a:rPr lang="ru-RU" dirty="0" err="1"/>
              <a:t>досбора</a:t>
            </a:r>
            <a:r>
              <a:rPr lang="ru-RU" dirty="0"/>
              <a:t> данных</a:t>
            </a:r>
          </a:p>
          <a:p>
            <a:pPr lvl="1"/>
            <a:r>
              <a:rPr lang="ru-RU" dirty="0"/>
              <a:t>Время </a:t>
            </a:r>
            <a:r>
              <a:rPr lang="ru-RU" dirty="0" err="1"/>
              <a:t>дообучение</a:t>
            </a:r>
            <a:r>
              <a:rPr lang="ru-RU" dirty="0"/>
              <a:t> на новых данных</a:t>
            </a:r>
            <a:endParaRPr lang="en-US" dirty="0"/>
          </a:p>
          <a:p>
            <a:endParaRPr lang="ru-RU" sz="2400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3ABF32-A19D-3F0F-1034-BFC9C175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32247-5361-DC33-A872-0AB9D0D7E697}"/>
              </a:ext>
            </a:extLst>
          </p:cNvPr>
          <p:cNvSpPr txBox="1"/>
          <p:nvPr/>
        </p:nvSpPr>
        <p:spPr>
          <a:xfrm>
            <a:off x="5536436" y="6512691"/>
            <a:ext cx="4998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rutube.ru</a:t>
            </a:r>
            <a:r>
              <a:rPr lang="ru-RU" sz="1400" dirty="0"/>
              <a:t>/</a:t>
            </a:r>
            <a:r>
              <a:rPr lang="ru-RU" sz="1400" dirty="0" err="1"/>
              <a:t>video</a:t>
            </a:r>
            <a:r>
              <a:rPr lang="ru-RU" sz="1400" dirty="0"/>
              <a:t>/c4116f5e24238a778e458a56a16015f3/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FEAAF5-6255-E2ED-6CC9-BD7DA86F4315}"/>
              </a:ext>
            </a:extLst>
          </p:cNvPr>
          <p:cNvSpPr txBox="1"/>
          <p:nvPr/>
        </p:nvSpPr>
        <p:spPr>
          <a:xfrm>
            <a:off x="5655441" y="6048703"/>
            <a:ext cx="4170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www.springboard.com</a:t>
            </a:r>
            <a:r>
              <a:rPr lang="ru-RU" sz="1400" dirty="0"/>
              <a:t>/</a:t>
            </a:r>
            <a:r>
              <a:rPr lang="ru-RU" sz="1400" dirty="0" err="1"/>
              <a:t>blog</a:t>
            </a:r>
            <a:r>
              <a:rPr lang="ru-RU" sz="1400" dirty="0"/>
              <a:t>/</a:t>
            </a:r>
            <a:r>
              <a:rPr lang="ru-RU" sz="1400" dirty="0" err="1"/>
              <a:t>data-science</a:t>
            </a:r>
            <a:r>
              <a:rPr lang="ru-RU" sz="1400" dirty="0"/>
              <a:t>/</a:t>
            </a:r>
            <a:r>
              <a:rPr lang="ru-RU" sz="1400" dirty="0" err="1"/>
              <a:t>time-series-forecasting</a:t>
            </a:r>
            <a:r>
              <a:rPr lang="ru-RU" sz="14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54369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5E440-596D-530D-55C2-E81E915D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070" y="469109"/>
            <a:ext cx="10968210" cy="63741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TS</a:t>
            </a:r>
            <a:r>
              <a:rPr lang="en-US" dirty="0"/>
              <a:t>F System Design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1BD177-89A3-8B6F-DC87-8D67F7A12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388" y="1366595"/>
            <a:ext cx="4362679" cy="47153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53CD57-6E37-BACE-D458-4149304B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40F0D74-1E7D-8A20-9B0A-70E358FC3D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4" r="6732" b="9928"/>
          <a:stretch/>
        </p:blipFill>
        <p:spPr bwMode="auto">
          <a:xfrm>
            <a:off x="0" y="1135765"/>
            <a:ext cx="9677400" cy="510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45FE49-3FA2-09A2-CA28-89E49D313113}"/>
              </a:ext>
            </a:extLst>
          </p:cNvPr>
          <p:cNvSpPr txBox="1"/>
          <p:nvPr/>
        </p:nvSpPr>
        <p:spPr>
          <a:xfrm>
            <a:off x="1567149" y="6111237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www.ijcai.org</a:t>
            </a:r>
            <a:r>
              <a:rPr lang="ru-RU" dirty="0"/>
              <a:t>/</a:t>
            </a:r>
            <a:r>
              <a:rPr lang="ru-RU" dirty="0" err="1"/>
              <a:t>proceedings</a:t>
            </a:r>
            <a:r>
              <a:rPr lang="ru-RU" dirty="0"/>
              <a:t>/2019/441</a:t>
            </a:r>
          </a:p>
        </p:txBody>
      </p:sp>
    </p:spTree>
    <p:extLst>
      <p:ext uri="{BB962C8B-B14F-4D97-AF65-F5344CB8AC3E}">
        <p14:creationId xmlns:p14="http://schemas.microsoft.com/office/powerpoint/2010/main" val="62282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470" y="365125"/>
            <a:ext cx="11022330" cy="743585"/>
          </a:xfrm>
        </p:spPr>
        <p:txBody>
          <a:bodyPr/>
          <a:lstStyle/>
          <a:p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1470" y="1211580"/>
            <a:ext cx="11022330" cy="4965383"/>
          </a:xfrm>
        </p:spPr>
        <p:txBody>
          <a:bodyPr>
            <a:normAutofit/>
          </a:bodyPr>
          <a:lstStyle/>
          <a:p>
            <a:r>
              <a:rPr lang="ru-RU" sz="2400" b="1" dirty="0"/>
              <a:t>Назовите основные особенности задач анализа временных рядов</a:t>
            </a:r>
            <a:r>
              <a:rPr lang="ru-RU" sz="2400" dirty="0"/>
              <a:t>, приведите примеры задач и переменных для анализа. Обоснуйте требования к результатам анализа в приведенных примерах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Подумайте и объясните особенности задач предсказания ВР, регрессии ВР и классификации ВР. В чем их отличия? Приведите примеры задач на каждый из этих типов для </a:t>
            </a:r>
            <a:r>
              <a:rPr lang="ru-RU" sz="2400" dirty="0" err="1" smtClean="0"/>
              <a:t>однопеременных</a:t>
            </a:r>
            <a:r>
              <a:rPr lang="ru-RU" sz="2400" dirty="0" smtClean="0"/>
              <a:t> и </a:t>
            </a:r>
            <a:r>
              <a:rPr lang="ru-RU" sz="2400" dirty="0" err="1" smtClean="0"/>
              <a:t>многопеременных</a:t>
            </a:r>
            <a:r>
              <a:rPr lang="ru-RU" sz="2400" dirty="0" smtClean="0"/>
              <a:t> ВР.</a:t>
            </a:r>
          </a:p>
          <a:p>
            <a:r>
              <a:rPr lang="ru-RU" sz="2400" dirty="0" smtClean="0"/>
              <a:t>Проведите работу по постановке </a:t>
            </a:r>
            <a:r>
              <a:rPr lang="ru-RU" sz="2400" smtClean="0"/>
              <a:t>задачи анализа ВР.</a:t>
            </a:r>
            <a:endParaRPr lang="ru-RU" sz="2400" dirty="0" smtClean="0"/>
          </a:p>
          <a:p>
            <a:r>
              <a:rPr lang="ru-RU" sz="2400" dirty="0" smtClean="0"/>
              <a:t>Объясните в каких задачах нужны и в каких не нужно использовать методы анализа ВР. Чем задачи с использованием анализа ВР отличаются от задач для табличных данных, текстовых задач или задач обработки изображений.</a:t>
            </a:r>
          </a:p>
          <a:p>
            <a:endParaRPr lang="ru-RU" sz="2400" dirty="0"/>
          </a:p>
          <a:p>
            <a:endParaRPr lang="ru-RU" sz="2400" dirty="0" smtClean="0"/>
          </a:p>
          <a:p>
            <a:endParaRPr lang="ru-RU" sz="2400" dirty="0" smtClean="0"/>
          </a:p>
          <a:p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63240-7081-E76A-ACCD-B5BA5DC0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31" y="30521"/>
            <a:ext cx="11068050" cy="864631"/>
          </a:xfrm>
        </p:spPr>
        <p:txBody>
          <a:bodyPr/>
          <a:lstStyle/>
          <a:p>
            <a:r>
              <a:rPr lang="ru-RU" dirty="0" err="1" smtClean="0"/>
              <a:t>Многопеременные</a:t>
            </a:r>
            <a:r>
              <a:rPr lang="en-US" dirty="0" smtClean="0"/>
              <a:t> </a:t>
            </a:r>
            <a:r>
              <a:rPr lang="ru-RU" dirty="0" smtClean="0"/>
              <a:t>и другие </a:t>
            </a:r>
            <a:r>
              <a:rPr lang="ru-RU" dirty="0"/>
              <a:t>ВР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1DB23-2F3F-9FA2-A9CF-B17E2699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891B2-62E7-871D-CF4F-05D6CA6E0463}"/>
              </a:ext>
            </a:extLst>
          </p:cNvPr>
          <p:cNvSpPr txBox="1"/>
          <p:nvPr/>
        </p:nvSpPr>
        <p:spPr>
          <a:xfrm>
            <a:off x="3420534" y="650272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goldinlocks.github.io</a:t>
            </a:r>
            <a:r>
              <a:rPr lang="ru-RU" sz="1200" dirty="0"/>
              <a:t>/</a:t>
            </a:r>
            <a:r>
              <a:rPr lang="ru-RU" sz="1200" dirty="0" err="1"/>
              <a:t>Multivariate-time-series-models</a:t>
            </a:r>
            <a:r>
              <a:rPr lang="ru-RU" sz="1200" dirty="0"/>
              <a:t>/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44" y="757080"/>
            <a:ext cx="6781518" cy="375321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49229"/>
          <a:stretch/>
        </p:blipFill>
        <p:spPr>
          <a:xfrm>
            <a:off x="7937704" y="946277"/>
            <a:ext cx="3991111" cy="13316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9833" y="651878"/>
            <a:ext cx="366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Пространственно-временные ряды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8858" y="6485756"/>
            <a:ext cx="30386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https://ltb.itc.utwente.nl/491/concept/79777</a:t>
            </a:r>
          </a:p>
        </p:txBody>
      </p:sp>
      <p:pic>
        <p:nvPicPr>
          <p:cNvPr id="1026" name="Picture 2" descr="Applsci 15 01241 g001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63" b="7627"/>
          <a:stretch/>
        </p:blipFill>
        <p:spPr bwMode="auto">
          <a:xfrm>
            <a:off x="7663027" y="4876621"/>
            <a:ext cx="3985054" cy="148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059096" y="4529631"/>
            <a:ext cx="2335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/>
              <a:t>Мультимодальные</a:t>
            </a:r>
            <a:r>
              <a:rPr lang="ru-RU" dirty="0" smtClean="0"/>
              <a:t> ВР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659" y="4996519"/>
            <a:ext cx="5055128" cy="1416845"/>
          </a:xfrm>
          <a:prstGeom prst="rect">
            <a:avLst/>
          </a:prstGeom>
        </p:spPr>
      </p:pic>
      <p:pic>
        <p:nvPicPr>
          <p:cNvPr id="1028" name="Picture 4" descr="Spatial-temporal graph neural network for traffic forecasting: An overview  and open research issues | Applied Intelligenc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018" y="2366082"/>
            <a:ext cx="4641071" cy="218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73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9393</TotalTime>
  <Words>1176</Words>
  <Application>Microsoft Office PowerPoint</Application>
  <PresentationFormat>Широкоэкранный</PresentationFormat>
  <Paragraphs>190</Paragraphs>
  <Slides>20</Slides>
  <Notes>6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inherit</vt:lpstr>
      <vt:lpstr>Inter</vt:lpstr>
      <vt:lpstr>Open Sans</vt:lpstr>
      <vt:lpstr>Times New Roman</vt:lpstr>
      <vt:lpstr>Тема Office 2013–2022</vt:lpstr>
      <vt:lpstr>Введение в анализ  временных рядов. </vt:lpstr>
      <vt:lpstr>Анализ временных рядов</vt:lpstr>
      <vt:lpstr>Задачи анализа временных рядов</vt:lpstr>
      <vt:lpstr>Особенности задачи анализа временных рядов</vt:lpstr>
      <vt:lpstr>Краткосрочные прогнозы спроса на электроэнергию в жилых домах</vt:lpstr>
      <vt:lpstr>Прогнозирование курсов валют</vt:lpstr>
      <vt:lpstr>Применения ВР</vt:lpstr>
      <vt:lpstr>Примеры</vt:lpstr>
      <vt:lpstr>Примеры приложений анализа временных рядов</vt:lpstr>
      <vt:lpstr>Примеры</vt:lpstr>
      <vt:lpstr>Примеры</vt:lpstr>
      <vt:lpstr>Постановка задач предсказания ВР</vt:lpstr>
      <vt:lpstr>Задачи анализа временных рядов</vt:lpstr>
      <vt:lpstr>Задачи предсказания временных рядовaq</vt:lpstr>
      <vt:lpstr>Задачи прогнозирования временных рядов</vt:lpstr>
      <vt:lpstr>Анализ временных рядов</vt:lpstr>
      <vt:lpstr>Постановка задачи анализа ВР</vt:lpstr>
      <vt:lpstr>Пример TSF System Design</vt:lpstr>
      <vt:lpstr>Вопросы для самоконтроля</vt:lpstr>
      <vt:lpstr>Многопеременные и другие ВР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201</cp:revision>
  <dcterms:created xsi:type="dcterms:W3CDTF">2021-10-31T10:57:36Z</dcterms:created>
  <dcterms:modified xsi:type="dcterms:W3CDTF">2026-09-07T09:39:49Z</dcterms:modified>
</cp:coreProperties>
</file>