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425" r:id="rId3"/>
    <p:sldId id="467" r:id="rId4"/>
    <p:sldId id="412" r:id="rId5"/>
    <p:sldId id="444" r:id="rId6"/>
    <p:sldId id="468" r:id="rId7"/>
    <p:sldId id="469" r:id="rId8"/>
    <p:sldId id="470" r:id="rId9"/>
    <p:sldId id="471" r:id="rId10"/>
    <p:sldId id="432" r:id="rId11"/>
    <p:sldId id="433" r:id="rId12"/>
    <p:sldId id="47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201EE05C-F9E4-4BBB-A5C1-9C9F75E33B4A}">
          <p14:sldIdLst>
            <p14:sldId id="256"/>
            <p14:sldId id="425"/>
            <p14:sldId id="467"/>
            <p14:sldId id="412"/>
            <p14:sldId id="444"/>
            <p14:sldId id="468"/>
            <p14:sldId id="469"/>
            <p14:sldId id="470"/>
            <p14:sldId id="471"/>
            <p14:sldId id="432"/>
            <p14:sldId id="433"/>
            <p14:sldId id="4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618" autoAdjust="0"/>
    <p:restoredTop sz="96301"/>
  </p:normalViewPr>
  <p:slideViewPr>
    <p:cSldViewPr snapToGrid="0">
      <p:cViewPr varScale="1">
        <p:scale>
          <a:sx n="97" d="100"/>
          <a:sy n="97" d="100"/>
        </p:scale>
        <p:origin x="114" y="7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30246F-5962-E14A-AAF2-985CCFDAC345}" type="datetimeFigureOut">
              <a:rPr lang="ru-RU" smtClean="0"/>
              <a:t>25.09.2026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A4F326-5F8D-6A4F-9B75-A3402553DF5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07655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86500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https://huggingface.co/spaces/Salesforce/GIFT-Eval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65416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04876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18379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CFB4BA-4847-4950-9046-35C5746961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C50F236-05DE-4EA6-B24B-C0FEBD7296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412F55E-4C2C-4815-9251-414FB0B40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07044F1-1BCB-437D-94B7-748CD73BD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8FE5FCA-3381-4AA7-97BE-E08360D07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374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2078B4-C8B8-4494-8D96-3C27E8336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FB14A32-4487-4DEA-8E16-BCEFD6805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CAA63F3-81BF-4E33-9692-6778B8E19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DE3BEBD-8CC4-4081-9FDB-95EB8C3FA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28FB63A-262B-4B36-853D-8FD6AE113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6147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C43E4F-3035-403A-BF75-75C94FBBF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03DCB50-56CC-4CB7-B0E9-C49EE413D0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48699E2-26D2-4F29-BECB-D95064481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8572401-E422-4507-AF7F-D7097CB4E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DC6EC42-24E3-47D8-9888-D943C9272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2724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ED8482-B2D7-40A8-802B-023F79090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7C7A474-D83F-4629-BFC3-2F4B70530F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BDD1A05-87B9-4B2D-8E14-4A30D386B2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BBC8B2B-8080-4609-A242-EA6E91AF7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7E48783-5AEF-42A6-9B25-9575CD409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E1D6438-4412-440C-9295-08502F801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232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3A02B6-9656-414C-BE0E-10520656D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20224BE-5E0C-4E18-BFEF-DD7D38630D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F82B3EE-40C5-4C9D-A53F-B840D95C58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CE08FC7-9C8F-40C5-A36C-57D977012B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DA3F2C0-DF9F-4B0C-8FF7-87FA6D0C98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670B12D-A9FE-4003-AD82-C945E4650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1D85015-23A3-46A2-835F-65D23A8CC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ECA17E4-0196-4A48-A9E8-2CDD64816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506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33BF47-6BDB-4118-A251-A1E8A5BAC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7ED7011-686E-45C2-8968-A0B2E5D91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4ACE154-94EF-4E83-9D3F-7EE193022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255E03A-D16A-4D69-90DC-E58F3F32E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7088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74E9CB4-2963-43D8-8D7F-D3C9C5A63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54DA748-DD83-4645-AFEB-64F927049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D3C6B88-BC8D-458D-A522-282B466F8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1700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876CF2-7597-4002-8ABA-F1D3B86D9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A3F4F31-CC84-417F-B967-C992A4599C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1EC5051-C614-4B70-A698-B21DE6B2C3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B9C3610-5D28-44EB-9587-C384AEC28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53EF8BB-8CBF-4362-9146-DEF1DEC21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11AA93E-098B-4DBE-A044-721E37D6D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563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CC3971-FAC8-4F52-B15E-7F9CCA65E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2583E30-D6F9-47C1-B0FD-3070A90D9C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133E1C3-FED5-47C3-8D75-D0E1CE87A2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7B8DF28-82CD-4556-9610-6627C6C1E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C754358-7942-4E40-AF93-18EF33D32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0356B49-2C0E-451A-8A9A-74FDF9A8C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6816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FE3F53-D493-48AC-971D-7454A8D78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4A05121-2968-48C3-BB49-AF0AC43AD1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8A79E25-1AB6-488D-AFD4-754FABB44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F133EB6-0DE0-4289-8048-2D6D72BA6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8889C22-9049-4BFC-8501-808125020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2138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BA0A8197-99AF-4047-BB35-1E28D8D181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2B8222B-3624-4C62-9AC8-0C9ACA8710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9B1FCEF-30E5-4242-9E96-51014116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83953CE-A629-44C1-8C47-D85C4C211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4200CE6-DA51-4537-A51E-3A38FB76B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4018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55DBB2-2936-4C5B-A898-17ABF8192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7DD482A-BA7D-4219-92B7-5B66F76D4E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6365484-7FD2-4223-ACAC-F0B65AFF5E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343DC6-30E4-4569-999A-C703F926F2AF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E91DAA7-F8E0-4BCD-8D26-540FF2A6E1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4E25FF6-6DD2-4839-9908-5D121329B4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1267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cs.hse.ru/mirror/pubs/share/1017921910.pdf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iencedirect.com/science/article/pii/S0169207024001079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n.wikipedia.org/wiki/Makridakis_Competitions" TargetMode="External"/><Relationship Id="rId5" Type="http://schemas.openxmlformats.org/officeDocument/2006/relationships/hyperlink" Target="https://statmodeling.stat.columbia.edu/wp-content/uploads/2021/10/M5_accuracy_competition.pdf" TargetMode="External"/><Relationship Id="rId4" Type="http://schemas.openxmlformats.org/officeDocument/2006/relationships/hyperlink" Target="https://m-e-gorelli.medium.com/how-i-won-6-000-in-the-m6-forecasting-competition-888df68bf132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E3A209-E86B-43CF-A4CE-1917FCF9C1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3483" y="934356"/>
            <a:ext cx="10932920" cy="3561444"/>
          </a:xfrm>
        </p:spPr>
        <p:txBody>
          <a:bodyPr>
            <a:normAutofit fontScale="90000"/>
          </a:bodyPr>
          <a:lstStyle/>
          <a:p>
            <a:r>
              <a:rPr lang="ru-RU" sz="8000" b="1" dirty="0"/>
              <a:t>Предсказания ВР </a:t>
            </a:r>
            <a:r>
              <a:rPr lang="ru-RU" sz="8000" b="1" dirty="0" smtClean="0"/>
              <a:t>. Основные понятия, </a:t>
            </a:r>
            <a:r>
              <a:rPr lang="ru-RU" sz="8000" b="1" dirty="0" err="1" smtClean="0"/>
              <a:t>бенчмарки</a:t>
            </a:r>
            <a:r>
              <a:rPr lang="ru-RU" sz="8000" b="1" dirty="0" smtClean="0"/>
              <a:t> предсказания ВР, наивные методы</a:t>
            </a:r>
            <a:endParaRPr lang="en-US" sz="8000" b="1" dirty="0"/>
          </a:p>
        </p:txBody>
      </p:sp>
    </p:spTree>
    <p:extLst>
      <p:ext uri="{BB962C8B-B14F-4D97-AF65-F5344CB8AC3E}">
        <p14:creationId xmlns:p14="http://schemas.microsoft.com/office/powerpoint/2010/main" val="2643101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95300" y="0"/>
            <a:ext cx="10515600" cy="1325563"/>
          </a:xfrm>
        </p:spPr>
        <p:txBody>
          <a:bodyPr/>
          <a:lstStyle/>
          <a:p>
            <a:r>
              <a:rPr lang="ru-RU" dirty="0"/>
              <a:t>Методы предсказания в курсе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3799" y="4534499"/>
            <a:ext cx="11563350" cy="1924051"/>
          </a:xfrm>
        </p:spPr>
        <p:txBody>
          <a:bodyPr>
            <a:normAutofit/>
          </a:bodyPr>
          <a:lstStyle/>
          <a:p>
            <a:r>
              <a:rPr lang="ru-RU" sz="2200" dirty="0"/>
              <a:t>Методы всегда выбираются</a:t>
            </a:r>
            <a:r>
              <a:rPr lang="en-US" sz="2200" dirty="0"/>
              <a:t> </a:t>
            </a:r>
            <a:r>
              <a:rPr lang="ru-RU" sz="2200" dirty="0"/>
              <a:t>от простых (слева) к самым сложным.</a:t>
            </a:r>
          </a:p>
          <a:p>
            <a:r>
              <a:rPr lang="ru-RU" sz="2200" dirty="0"/>
              <a:t>Выбор метода зависит от сложности ВР (число и связи компонент, </a:t>
            </a:r>
            <a:r>
              <a:rPr lang="ru-RU" sz="2200" dirty="0" err="1"/>
              <a:t>формализуемость</a:t>
            </a:r>
            <a:r>
              <a:rPr lang="ru-RU" sz="2200" dirty="0"/>
              <a:t> ВР) и требований к предсказанию (горизонт, точность)</a:t>
            </a:r>
          </a:p>
          <a:p>
            <a:r>
              <a:rPr lang="ru-RU" sz="2200" dirty="0"/>
              <a:t>Чем сложнее метод, тем он шире применим, но менее точен/менее устойчив/более склонен к переобучению, а также тем больше данных для обучения необходимо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2</a:t>
            </a:fld>
            <a:endParaRPr lang="en-US"/>
          </a:p>
        </p:txBody>
      </p:sp>
      <p:sp>
        <p:nvSpPr>
          <p:cNvPr id="5" name="Прямоугольник 4"/>
          <p:cNvSpPr/>
          <p:nvPr/>
        </p:nvSpPr>
        <p:spPr>
          <a:xfrm>
            <a:off x="73799" y="6582975"/>
            <a:ext cx="8060551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dirty="0"/>
              <a:t>https://fastercapital.com/content/Time-series-analysis-using-nonparametric-techniques--A-Fresh-Perspective.html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B382E1-FD66-F7B2-B0CD-BCDC07F5F9B2}"/>
              </a:ext>
            </a:extLst>
          </p:cNvPr>
          <p:cNvSpPr txBox="1"/>
          <p:nvPr/>
        </p:nvSpPr>
        <p:spPr>
          <a:xfrm>
            <a:off x="73799" y="6305976"/>
            <a:ext cx="889317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 smtClean="0">
                <a:hlinkClick r:id="rId2"/>
              </a:rPr>
              <a:t>https</a:t>
            </a:r>
            <a:r>
              <a:rPr lang="en-US" sz="1200" dirty="0">
                <a:hlinkClick r:id="rId2"/>
              </a:rPr>
              <a:t>://cs.hse.ru/mirror/pubs/share/1017921910.pdf</a:t>
            </a:r>
            <a:r>
              <a:rPr lang="en-US" sz="1200" dirty="0"/>
              <a:t> </a:t>
            </a:r>
            <a:endParaRPr lang="ru-RU" sz="1200" dirty="0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2338" y="1071543"/>
            <a:ext cx="6666271" cy="3324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786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5988"/>
          </a:xfrm>
        </p:spPr>
        <p:txBody>
          <a:bodyPr>
            <a:normAutofit fontScale="90000"/>
          </a:bodyPr>
          <a:lstStyle/>
          <a:p>
            <a:r>
              <a:rPr lang="ru-RU" dirty="0"/>
              <a:t>Подходы к предсказанию временных рядов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3</a:t>
            </a:fld>
            <a:endParaRPr lang="en-US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590" y="1391261"/>
            <a:ext cx="11542743" cy="3404590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838200" y="4905999"/>
            <a:ext cx="1067752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Encoding (</a:t>
            </a:r>
            <a:r>
              <a:rPr lang="ru-RU" dirty="0">
                <a:solidFill>
                  <a:srgbClr val="000000"/>
                </a:solidFill>
                <a:latin typeface="Calibri" panose="020F0502020204030204" pitchFamily="34" charset="0"/>
              </a:rPr>
              <a:t>кодирование) — это процесс преобразования данных (в том числе категориальных или временных признаков) в числовую форму, удобную для обработки алгоритмами машинного обучения или статистическими методами.</a:t>
            </a:r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4285" y="5773400"/>
            <a:ext cx="5450702" cy="86552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14656" y="4009646"/>
            <a:ext cx="1219629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 smtClean="0"/>
              <a:t>foundation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0175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20040" y="258445"/>
            <a:ext cx="11033760" cy="587375"/>
          </a:xfrm>
        </p:spPr>
        <p:txBody>
          <a:bodyPr>
            <a:noAutofit/>
          </a:bodyPr>
          <a:lstStyle/>
          <a:p>
            <a:pPr algn="ctr"/>
            <a:r>
              <a:rPr lang="ru-RU" b="1" dirty="0"/>
              <a:t>Статистические методы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60020" y="4038601"/>
            <a:ext cx="5545455" cy="2560320"/>
          </a:xfrm>
        </p:spPr>
        <p:txBody>
          <a:bodyPr>
            <a:normAutofit/>
          </a:bodyPr>
          <a:lstStyle/>
          <a:p>
            <a:r>
              <a:rPr lang="ru-RU" sz="2000" dirty="0"/>
              <a:t>Точность на коротких горизонтах предсказания</a:t>
            </a:r>
          </a:p>
          <a:p>
            <a:r>
              <a:rPr lang="ru-RU" sz="2000" dirty="0"/>
              <a:t>Высокая скорость обучения и переобучения</a:t>
            </a:r>
          </a:p>
          <a:p>
            <a:r>
              <a:rPr lang="ru-RU" sz="2000" dirty="0"/>
              <a:t>Высокая интерпретируемость</a:t>
            </a:r>
            <a:endParaRPr lang="en-US" sz="2000" dirty="0"/>
          </a:p>
          <a:p>
            <a:r>
              <a:rPr lang="ru-RU" sz="2000" dirty="0"/>
              <a:t>Важно соответствие данных модели </a:t>
            </a:r>
          </a:p>
          <a:p>
            <a:endParaRPr lang="ru-RU" sz="2000" dirty="0"/>
          </a:p>
        </p:txBody>
      </p:sp>
      <p:sp>
        <p:nvSpPr>
          <p:cNvPr id="5" name="Объект 2"/>
          <p:cNvSpPr txBox="1">
            <a:spLocks/>
          </p:cNvSpPr>
          <p:nvPr/>
        </p:nvSpPr>
        <p:spPr>
          <a:xfrm>
            <a:off x="5836920" y="4076700"/>
            <a:ext cx="6174105" cy="25603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000" dirty="0"/>
              <a:t>Требуется значительная предобработка данных</a:t>
            </a:r>
          </a:p>
          <a:p>
            <a:r>
              <a:rPr lang="ru-RU" sz="2000" dirty="0"/>
              <a:t>Очень важна настройка модели</a:t>
            </a:r>
          </a:p>
          <a:p>
            <a:r>
              <a:rPr lang="ru-RU" sz="2000" dirty="0"/>
              <a:t>Чувствительность к новизне, выбросам, пропускам и другим нерегулярностям данных</a:t>
            </a:r>
          </a:p>
          <a:p>
            <a:r>
              <a:rPr lang="ru-RU" sz="2000" dirty="0"/>
              <a:t> Частое обновление модели в процессе работы</a:t>
            </a:r>
          </a:p>
          <a:p>
            <a:endParaRPr lang="ru-RU" sz="2000" dirty="0"/>
          </a:p>
          <a:p>
            <a:endParaRPr lang="ru-RU" sz="2000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4542" y="845820"/>
            <a:ext cx="5705475" cy="2845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745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00443" y="102210"/>
            <a:ext cx="10927080" cy="557984"/>
          </a:xfrm>
        </p:spPr>
        <p:txBody>
          <a:bodyPr>
            <a:normAutofit fontScale="90000"/>
          </a:bodyPr>
          <a:lstStyle/>
          <a:p>
            <a:r>
              <a:rPr lang="ru-RU" dirty="0" err="1"/>
              <a:t>Бенчмарки</a:t>
            </a:r>
            <a:r>
              <a:rPr lang="ru-RU" dirty="0"/>
              <a:t> предсказания временных рядов</a:t>
            </a: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40764017"/>
              </p:ext>
            </p:extLst>
          </p:nvPr>
        </p:nvGraphicFramePr>
        <p:xfrm>
          <a:off x="228598" y="1401333"/>
          <a:ext cx="11671666" cy="457673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45472">
                  <a:extLst>
                    <a:ext uri="{9D8B030D-6E8A-4147-A177-3AD203B41FA5}">
                      <a16:colId xmlns:a16="http://schemas.microsoft.com/office/drawing/2014/main" val="361956609"/>
                    </a:ext>
                  </a:extLst>
                </a:gridCol>
                <a:gridCol w="2770616">
                  <a:extLst>
                    <a:ext uri="{9D8B030D-6E8A-4147-A177-3AD203B41FA5}">
                      <a16:colId xmlns:a16="http://schemas.microsoft.com/office/drawing/2014/main" val="334373324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1153032671"/>
                    </a:ext>
                  </a:extLst>
                </a:gridCol>
                <a:gridCol w="1619794">
                  <a:extLst>
                    <a:ext uri="{9D8B030D-6E8A-4147-A177-3AD203B41FA5}">
                      <a16:colId xmlns:a16="http://schemas.microsoft.com/office/drawing/2014/main" val="2248710687"/>
                    </a:ext>
                  </a:extLst>
                </a:gridCol>
                <a:gridCol w="1245326">
                  <a:extLst>
                    <a:ext uri="{9D8B030D-6E8A-4147-A177-3AD203B41FA5}">
                      <a16:colId xmlns:a16="http://schemas.microsoft.com/office/drawing/2014/main" val="1572364774"/>
                    </a:ext>
                  </a:extLst>
                </a:gridCol>
                <a:gridCol w="1140823">
                  <a:extLst>
                    <a:ext uri="{9D8B030D-6E8A-4147-A177-3AD203B41FA5}">
                      <a16:colId xmlns:a16="http://schemas.microsoft.com/office/drawing/2014/main" val="428262337"/>
                    </a:ext>
                  </a:extLst>
                </a:gridCol>
                <a:gridCol w="2137955">
                  <a:extLst>
                    <a:ext uri="{9D8B030D-6E8A-4147-A177-3AD203B41FA5}">
                      <a16:colId xmlns:a16="http://schemas.microsoft.com/office/drawing/2014/main" val="584638817"/>
                    </a:ext>
                  </a:extLst>
                </a:gridCol>
              </a:tblGrid>
              <a:tr h="19909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n-lt"/>
                          <a:ea typeface="+mn-ea"/>
                          <a:cs typeface="+mn-cs"/>
                        </a:rPr>
                        <a:t>bench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+mn-lt"/>
                          <a:ea typeface="+mn-ea"/>
                          <a:cs typeface="+mn-cs"/>
                        </a:rPr>
                        <a:t>Данные/задачи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Цель бенчмарка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Модели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Метрики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Победители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Выводы </a:t>
                      </a:r>
                    </a:p>
                  </a:txBody>
                  <a:tcPr marL="4248" marR="4248" marT="4248" marB="4248" anchor="ctr"/>
                </a:tc>
                <a:extLst>
                  <a:ext uri="{0D108BD9-81ED-4DB2-BD59-A6C34878D82A}">
                    <a16:rowId xmlns:a16="http://schemas.microsoft.com/office/drawing/2014/main" val="1178824914"/>
                  </a:ext>
                </a:extLst>
              </a:tr>
              <a:tr h="39191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M1 (1982)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effectLst/>
                        </a:rPr>
                        <a:t>1001 </a:t>
                      </a:r>
                      <a:r>
                        <a:rPr lang="ru-RU" sz="1600" dirty="0" err="1">
                          <a:effectLst/>
                        </a:rPr>
                        <a:t>Univariate</a:t>
                      </a:r>
                      <a:r>
                        <a:rPr lang="ru-RU" sz="1600" dirty="0">
                          <a:effectLst/>
                        </a:rPr>
                        <a:t> финансы, демография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Сравнение классических моделей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700" dirty="0">
                          <a:effectLst/>
                        </a:rPr>
                        <a:t>ARIMA, ETS</a:t>
                      </a:r>
                      <a:endParaRPr lang="ru-RU" sz="1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MAPE, RMSE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ETS, ARIMA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Baseline</a:t>
                      </a:r>
                      <a:r>
                        <a:rPr lang="en-US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univariate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extLst>
                  <a:ext uri="{0D108BD9-81ED-4DB2-BD59-A6C34878D82A}">
                    <a16:rowId xmlns:a16="http://schemas.microsoft.com/office/drawing/2014/main" val="1348426979"/>
                  </a:ext>
                </a:extLst>
              </a:tr>
              <a:tr h="57614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M2 (1993)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effectLst/>
                        </a:rPr>
                        <a:t>29 </a:t>
                      </a:r>
                      <a:r>
                        <a:rPr lang="ru-RU" sz="1600" dirty="0" err="1">
                          <a:effectLst/>
                        </a:rPr>
                        <a:t>Univariate</a:t>
                      </a:r>
                      <a:r>
                        <a:rPr lang="en-US" sz="1600" dirty="0">
                          <a:effectLst/>
                        </a:rPr>
                        <a:t>, real-time forecasting</a:t>
                      </a:r>
                      <a:r>
                        <a:rPr lang="ru-RU" sz="1600" dirty="0">
                          <a:effectLst/>
                        </a:rPr>
                        <a:t>,</a:t>
                      </a:r>
                      <a:r>
                        <a:rPr lang="ru-RU" sz="1600" baseline="0" dirty="0">
                          <a:effectLst/>
                        </a:rPr>
                        <a:t> </a:t>
                      </a:r>
                      <a:r>
                        <a:rPr lang="ru-RU" sz="1600" dirty="0">
                          <a:effectLst/>
                        </a:rPr>
                        <a:t>Анализ экспертных суждений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Влияние экспертных прогнозов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700" dirty="0" err="1">
                          <a:effectLst/>
                        </a:rPr>
                        <a:t>Judgment</a:t>
                      </a:r>
                      <a:r>
                        <a:rPr lang="ru-RU" sz="1700" dirty="0">
                          <a:effectLst/>
                        </a:rPr>
                        <a:t> </a:t>
                      </a:r>
                      <a:r>
                        <a:rPr lang="ru-RU" sz="1700" dirty="0" err="1">
                          <a:effectLst/>
                        </a:rPr>
                        <a:t>vs</a:t>
                      </a:r>
                      <a:r>
                        <a:rPr lang="ru-RU" sz="1700" dirty="0">
                          <a:effectLst/>
                        </a:rPr>
                        <a:t> </a:t>
                      </a:r>
                      <a:r>
                        <a:rPr lang="ru-RU" sz="1700" dirty="0" err="1">
                          <a:effectLst/>
                        </a:rPr>
                        <a:t>models</a:t>
                      </a:r>
                      <a:endParaRPr lang="ru-RU" sz="1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RMSE, MAE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 err="1">
                          <a:effectLst/>
                        </a:rPr>
                        <a:t>Experts</a:t>
                      </a:r>
                      <a:r>
                        <a:rPr lang="ru-RU" sz="1600" dirty="0">
                          <a:effectLst/>
                        </a:rPr>
                        <a:t> ≈ </a:t>
                      </a:r>
                      <a:r>
                        <a:rPr lang="en-US" sz="1600" dirty="0">
                          <a:effectLst/>
                        </a:rPr>
                        <a:t>ETS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Модели</a:t>
                      </a:r>
                      <a:r>
                        <a:rPr lang="ru-RU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не хуже экспертов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extLst>
                  <a:ext uri="{0D108BD9-81ED-4DB2-BD59-A6C34878D82A}">
                    <a16:rowId xmlns:a16="http://schemas.microsoft.com/office/drawing/2014/main" val="1062539383"/>
                  </a:ext>
                </a:extLst>
              </a:tr>
              <a:tr h="41603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M3 (2000)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3003 </a:t>
                      </a:r>
                      <a:r>
                        <a:rPr lang="ru-RU" sz="1600" dirty="0" err="1">
                          <a:effectLst/>
                        </a:rPr>
                        <a:t>Univariate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универсальная модель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700" dirty="0">
                          <a:effectLst/>
                        </a:rPr>
                        <a:t>ARIMA,</a:t>
                      </a:r>
                      <a:r>
                        <a:rPr lang="en-US" sz="1700" dirty="0">
                          <a:effectLst/>
                        </a:rPr>
                        <a:t> ETS,</a:t>
                      </a:r>
                      <a:r>
                        <a:rPr lang="ru-RU" sz="1700" dirty="0">
                          <a:effectLst/>
                        </a:rPr>
                        <a:t> </a:t>
                      </a:r>
                      <a:r>
                        <a:rPr lang="ru-RU" sz="1700" dirty="0" err="1">
                          <a:effectLst/>
                        </a:rPr>
                        <a:t>Theta</a:t>
                      </a:r>
                      <a:endParaRPr lang="ru-RU" sz="1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SMAPE, MAPE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ARIMA,</a:t>
                      </a:r>
                      <a:r>
                        <a:rPr lang="en-US" sz="1600" dirty="0">
                          <a:effectLst/>
                        </a:rPr>
                        <a:t> ETS,</a:t>
                      </a:r>
                      <a:r>
                        <a:rPr lang="ru-RU" sz="1600" dirty="0">
                          <a:effectLst/>
                        </a:rPr>
                        <a:t> </a:t>
                      </a:r>
                      <a:r>
                        <a:rPr lang="ru-RU" sz="1600" dirty="0" err="1">
                          <a:effectLst/>
                        </a:rPr>
                        <a:t>Theta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Baseline</a:t>
                      </a:r>
                      <a:r>
                        <a:rPr lang="en-US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univariate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extLst>
                  <a:ext uri="{0D108BD9-81ED-4DB2-BD59-A6C34878D82A}">
                    <a16:rowId xmlns:a16="http://schemas.microsoft.com/office/drawing/2014/main" val="1972350284"/>
                  </a:ext>
                </a:extLst>
              </a:tr>
              <a:tr h="58472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M4 (2018)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10</a:t>
                      </a:r>
                      <a:r>
                        <a:rPr lang="ru-RU" sz="1600" baseline="0" dirty="0">
                          <a:effectLst/>
                        </a:rPr>
                        <a:t> 000 </a:t>
                      </a:r>
                      <a:r>
                        <a:rPr lang="ru-RU" sz="1600" dirty="0" err="1">
                          <a:effectLst/>
                        </a:rPr>
                        <a:t>Univariate</a:t>
                      </a:r>
                      <a:r>
                        <a:rPr lang="ru-RU" sz="1600" dirty="0">
                          <a:effectLst/>
                        </a:rPr>
                        <a:t> на разных масштабах</a:t>
                      </a:r>
                      <a:r>
                        <a:rPr lang="ru-RU" sz="1600" baseline="0" dirty="0">
                          <a:effectLst/>
                        </a:rPr>
                        <a:t> (год, месяц, и </a:t>
                      </a:r>
                      <a:r>
                        <a:rPr lang="ru-RU" sz="1600" baseline="0" dirty="0" err="1">
                          <a:effectLst/>
                        </a:rPr>
                        <a:t>тд</a:t>
                      </a:r>
                      <a:r>
                        <a:rPr lang="ru-RU" sz="1600" baseline="0" dirty="0">
                          <a:effectLst/>
                        </a:rPr>
                        <a:t>)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Масштабная проверка стратегий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700" dirty="0">
                          <a:effectLst/>
                        </a:rPr>
                        <a:t>ETS + RNN, </a:t>
                      </a:r>
                      <a:r>
                        <a:rPr lang="ru-RU" sz="1700" dirty="0" err="1">
                          <a:effectLst/>
                        </a:rPr>
                        <a:t>Theta</a:t>
                      </a:r>
                      <a:r>
                        <a:rPr lang="ru-RU" sz="1700" dirty="0">
                          <a:effectLst/>
                        </a:rPr>
                        <a:t>,</a:t>
                      </a:r>
                      <a:r>
                        <a:rPr lang="ru-RU" sz="1700" baseline="0" dirty="0">
                          <a:effectLst/>
                        </a:rPr>
                        <a:t> </a:t>
                      </a:r>
                      <a:r>
                        <a:rPr lang="en-US" sz="17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GAR</a:t>
                      </a:r>
                      <a:endParaRPr lang="ru-RU" sz="1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SMAPE, MASE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ETS + RNN,</a:t>
                      </a:r>
                      <a:r>
                        <a:rPr lang="ru-RU" sz="1600" baseline="0" dirty="0">
                          <a:effectLst/>
                        </a:rPr>
                        <a:t> </a:t>
                      </a:r>
                      <a:r>
                        <a:rPr lang="ru-RU" sz="1600" dirty="0" err="1">
                          <a:effectLst/>
                        </a:rPr>
                        <a:t>Theta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Гибрид </a:t>
                      </a: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6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DL+stat</a:t>
                      </a: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en-US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лучшие, </a:t>
                      </a:r>
                      <a:r>
                        <a:rPr lang="en-US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Theta – runner up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extLst>
                  <a:ext uri="{0D108BD9-81ED-4DB2-BD59-A6C34878D82A}">
                    <a16:rowId xmlns:a16="http://schemas.microsoft.com/office/drawing/2014/main" val="3166983177"/>
                  </a:ext>
                </a:extLst>
              </a:tr>
              <a:tr h="62090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M5 (2020)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dirty="0" err="1">
                          <a:effectLst/>
                        </a:rPr>
                        <a:t>Hierarchical</a:t>
                      </a:r>
                      <a:r>
                        <a:rPr lang="ru-RU" sz="1600" dirty="0">
                          <a:effectLst/>
                        </a:rPr>
                        <a:t>, </a:t>
                      </a:r>
                      <a:r>
                        <a:rPr lang="ru-RU" sz="1600" dirty="0" err="1">
                          <a:effectLst/>
                        </a:rPr>
                        <a:t>Multivariate</a:t>
                      </a:r>
                      <a:r>
                        <a:rPr lang="ru-RU" sz="1600" dirty="0">
                          <a:effectLst/>
                        </a:rPr>
                        <a:t> Продажи </a:t>
                      </a:r>
                      <a:r>
                        <a:rPr lang="ru-RU" sz="1600" dirty="0" err="1">
                          <a:effectLst/>
                        </a:rPr>
                        <a:t>Walmart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ru-RU" sz="1600" dirty="0">
                          <a:effectLst/>
                        </a:rPr>
                        <a:t>на</a:t>
                      </a:r>
                      <a:r>
                        <a:rPr lang="ru-RU" sz="1600" baseline="0" dirty="0">
                          <a:effectLst/>
                        </a:rPr>
                        <a:t> месяц</a:t>
                      </a:r>
                      <a:r>
                        <a:rPr lang="ru-RU" sz="1600" dirty="0">
                          <a:effectLst/>
                        </a:rPr>
                        <a:t>, с категориальными признаками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Сложные огромные</a:t>
                      </a:r>
                      <a:r>
                        <a:rPr lang="ru-RU" sz="1600" baseline="0" dirty="0">
                          <a:effectLst/>
                        </a:rPr>
                        <a:t> </a:t>
                      </a:r>
                      <a:r>
                        <a:rPr lang="en-US" sz="1600" baseline="0" dirty="0">
                          <a:effectLst/>
                        </a:rPr>
                        <a:t>industrial</a:t>
                      </a:r>
                      <a:r>
                        <a:rPr lang="ru-RU" sz="1600" baseline="0" dirty="0">
                          <a:effectLst/>
                        </a:rPr>
                        <a:t> ВР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7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LightGBM</a:t>
                      </a:r>
                      <a:r>
                        <a:rPr lang="ru-RU" sz="17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ru-RU" sz="17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XGBoost</a:t>
                      </a:r>
                      <a:r>
                        <a:rPr lang="ru-RU" sz="17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17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Transformer</a:t>
                      </a:r>
                      <a:endParaRPr lang="ru-RU" sz="17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WRMSSE,</a:t>
                      </a:r>
                      <a:r>
                        <a:rPr lang="ru-RU" sz="1600" baseline="0" dirty="0">
                          <a:effectLst/>
                        </a:rPr>
                        <a:t> </a:t>
                      </a:r>
                      <a:r>
                        <a:rPr lang="ru-RU" sz="1600" dirty="0" err="1">
                          <a:effectLst/>
                        </a:rPr>
                        <a:t>pinball</a:t>
                      </a:r>
                      <a:r>
                        <a:rPr lang="ru-RU" sz="1600" dirty="0">
                          <a:effectLst/>
                        </a:rPr>
                        <a:t> </a:t>
                      </a:r>
                      <a:r>
                        <a:rPr lang="ru-RU" sz="1600" dirty="0" err="1">
                          <a:effectLst/>
                        </a:rPr>
                        <a:t>loss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 err="1">
                          <a:effectLst/>
                        </a:rPr>
                        <a:t>LightGBM</a:t>
                      </a:r>
                      <a:r>
                        <a:rPr lang="en-US" sz="1600" dirty="0">
                          <a:effectLst/>
                        </a:rPr>
                        <a:t>+feature engineering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Продвинутый </a:t>
                      </a:r>
                      <a:r>
                        <a:rPr lang="ru-RU" sz="16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фичи</a:t>
                      </a:r>
                      <a:r>
                        <a:rPr lang="ru-RU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-</a:t>
                      </a:r>
                      <a:r>
                        <a:rPr lang="en-US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не хуже </a:t>
                      </a:r>
                      <a:r>
                        <a:rPr lang="en-US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DL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extLst>
                  <a:ext uri="{0D108BD9-81ED-4DB2-BD59-A6C34878D82A}">
                    <a16:rowId xmlns:a16="http://schemas.microsoft.com/office/drawing/2014/main" val="3531242361"/>
                  </a:ext>
                </a:extLst>
              </a:tr>
              <a:tr h="58472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M6 (2024)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 err="1">
                          <a:effectLst/>
                        </a:rPr>
                        <a:t>Multivariate</a:t>
                      </a:r>
                      <a:endParaRPr lang="ru-RU" sz="1600" dirty="0">
                        <a:effectLst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 err="1">
                          <a:effectLst/>
                        </a:rPr>
                        <a:t>Probabilistic</a:t>
                      </a:r>
                      <a:r>
                        <a:rPr lang="ru-RU" sz="1600" dirty="0">
                          <a:effectLst/>
                        </a:rPr>
                        <a:t>, Финансовые данные, 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Вероятностное</a:t>
                      </a:r>
                      <a:r>
                        <a:rPr lang="ru-RU" sz="1600" baseline="0" dirty="0">
                          <a:effectLst/>
                        </a:rPr>
                        <a:t> </a:t>
                      </a:r>
                      <a:r>
                        <a:rPr lang="ru-RU" sz="1600" dirty="0">
                          <a:effectLst/>
                        </a:rPr>
                        <a:t>Прогнозирование фин.</a:t>
                      </a:r>
                      <a:r>
                        <a:rPr lang="ru-RU" sz="1600" baseline="0" dirty="0">
                          <a:effectLst/>
                        </a:rPr>
                        <a:t> сектор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700" dirty="0" err="1">
                          <a:effectLst/>
                        </a:rPr>
                        <a:t>DeepAR</a:t>
                      </a:r>
                      <a:r>
                        <a:rPr lang="ru-RU" sz="1700" dirty="0">
                          <a:effectLst/>
                        </a:rPr>
                        <a:t>, </a:t>
                      </a:r>
                      <a:r>
                        <a:rPr lang="en-US" sz="17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AutoTS</a:t>
                      </a:r>
                      <a:r>
                        <a:rPr lang="ru-RU" sz="1700" dirty="0">
                          <a:effectLst/>
                        </a:rPr>
                        <a:t>, </a:t>
                      </a:r>
                      <a:r>
                        <a:rPr lang="en-US" sz="1700" dirty="0" err="1">
                          <a:effectLst/>
                        </a:rPr>
                        <a:t>TimeGPT</a:t>
                      </a:r>
                      <a:endParaRPr lang="ru-RU" sz="1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CRPS, </a:t>
                      </a:r>
                      <a:r>
                        <a:rPr lang="ru-RU" sz="1600" dirty="0" err="1">
                          <a:effectLst/>
                        </a:rPr>
                        <a:t>pinball</a:t>
                      </a:r>
                      <a:r>
                        <a:rPr lang="ru-RU" sz="1600" dirty="0">
                          <a:effectLst/>
                        </a:rPr>
                        <a:t> </a:t>
                      </a:r>
                      <a:r>
                        <a:rPr lang="ru-RU" sz="1600" dirty="0" err="1">
                          <a:effectLst/>
                        </a:rPr>
                        <a:t>loss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ru-RU" sz="1600" dirty="0">
                          <a:effectLst/>
                        </a:rPr>
                        <a:t>еще</a:t>
                      </a:r>
                      <a:r>
                        <a:rPr lang="ru-RU" sz="1600" baseline="0" dirty="0">
                          <a:effectLst/>
                        </a:rPr>
                        <a:t> идет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еще</a:t>
                      </a:r>
                      <a:r>
                        <a:rPr lang="ru-RU" sz="1600" baseline="0" dirty="0">
                          <a:effectLst/>
                        </a:rPr>
                        <a:t> идет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extLst>
                  <a:ext uri="{0D108BD9-81ED-4DB2-BD59-A6C34878D82A}">
                    <a16:rowId xmlns:a16="http://schemas.microsoft.com/office/drawing/2014/main" val="2449646058"/>
                  </a:ext>
                </a:extLst>
              </a:tr>
            </a:tbl>
          </a:graphicData>
        </a:graphic>
      </p:graphicFrame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5</a:t>
            </a:fld>
            <a:endParaRPr lang="en-US"/>
          </a:p>
        </p:txBody>
      </p:sp>
      <p:sp>
        <p:nvSpPr>
          <p:cNvPr id="6" name="Прямоугольник 5"/>
          <p:cNvSpPr/>
          <p:nvPr/>
        </p:nvSpPr>
        <p:spPr>
          <a:xfrm>
            <a:off x="0" y="7051740"/>
            <a:ext cx="1182188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M6: </a:t>
            </a:r>
            <a:r>
              <a:rPr lang="ru-RU" sz="1400" dirty="0">
                <a:hlinkClick r:id="rId3"/>
              </a:rPr>
              <a:t>https://www.sciencedirect.com/science/article/pii/S0169207024001079</a:t>
            </a:r>
            <a:r>
              <a:rPr lang="en-US" sz="1400" dirty="0"/>
              <a:t> </a:t>
            </a:r>
            <a:r>
              <a:rPr lang="en-US" sz="1400" dirty="0">
                <a:hlinkClick r:id="rId4"/>
              </a:rPr>
              <a:t>https://m-e-gorelli.medium.com/how-i-won-6-000-in-the-m6-forecasting-competition-888df68bf132</a:t>
            </a:r>
            <a:r>
              <a:rPr lang="en-US" sz="1400" dirty="0"/>
              <a:t> </a:t>
            </a:r>
            <a:endParaRPr lang="ru-RU" sz="1400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0" y="6940274"/>
            <a:ext cx="1361149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M5: </a:t>
            </a:r>
            <a:r>
              <a:rPr lang="ru-RU" sz="1200" dirty="0">
                <a:hlinkClick r:id="rId5"/>
              </a:rPr>
              <a:t>https://statmodeling.stat.columbia.edu/wp-content/uploads/2021/10/M5_accuracy_competition.pdf</a:t>
            </a:r>
            <a:r>
              <a:rPr lang="en-US" sz="1200" dirty="0"/>
              <a:t> , https://cienciadedatos.net/documentos/py61-m5-forecasting-competition</a:t>
            </a:r>
            <a:endParaRPr lang="ru-RU" sz="1200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300443" y="673479"/>
            <a:ext cx="1178705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/>
              <a:t>Соревнования </a:t>
            </a:r>
            <a:r>
              <a:rPr lang="ru-RU" sz="2000" dirty="0" err="1"/>
              <a:t>Макридакиса</a:t>
            </a:r>
            <a:r>
              <a:rPr lang="ru-RU" sz="2000" dirty="0"/>
              <a:t> (M-</a:t>
            </a:r>
            <a:r>
              <a:rPr lang="ru-RU" sz="2000" dirty="0" err="1"/>
              <a:t>Competitions</a:t>
            </a:r>
            <a:r>
              <a:rPr lang="ru-RU" sz="2000" dirty="0"/>
              <a:t>) - открытые соревнования по оценке и сравнению точности различных методов прогнозирования временных рядов.</a:t>
            </a:r>
            <a:r>
              <a:rPr lang="en-US" sz="2000" dirty="0"/>
              <a:t> </a:t>
            </a:r>
            <a:r>
              <a:rPr lang="en-US" sz="2000" dirty="0">
                <a:hlinkClick r:id="rId6"/>
              </a:rPr>
              <a:t>en.wikipedia.org/wiki/</a:t>
            </a:r>
            <a:r>
              <a:rPr lang="en-US" sz="2000" dirty="0" err="1">
                <a:hlinkClick r:id="rId6"/>
              </a:rPr>
              <a:t>Makridakis_Competitions</a:t>
            </a:r>
            <a:r>
              <a:rPr lang="en-US" sz="2000" dirty="0"/>
              <a:t> </a:t>
            </a:r>
            <a:endParaRPr lang="ru-RU" sz="2000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296089" y="6207821"/>
            <a:ext cx="1105771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https://www.sciencedirect.com/science/article/pii/S0169207024001079 https://statmodeling.stat.columbia.edu/wp-content/uploads/2021/10/M5_accuracy_competition.pdf  https://cienciadedatos.net/documentos/py61-m5-forecasting-competition https://forecasters.org/resources/time-series-data/</a:t>
            </a:r>
            <a:endParaRPr lang="ru-RU" sz="1200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296089" y="6564676"/>
            <a:ext cx="6096000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100" dirty="0"/>
              <a:t>https://readmedium.com/a-brief-history-of-time-series-models-38455c2cd78d</a:t>
            </a:r>
          </a:p>
        </p:txBody>
      </p:sp>
    </p:spTree>
    <p:extLst>
      <p:ext uri="{BB962C8B-B14F-4D97-AF65-F5344CB8AC3E}">
        <p14:creationId xmlns:p14="http://schemas.microsoft.com/office/powerpoint/2010/main" val="3569845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00443" y="102210"/>
            <a:ext cx="10927080" cy="557984"/>
          </a:xfrm>
        </p:spPr>
        <p:txBody>
          <a:bodyPr>
            <a:normAutofit fontScale="90000"/>
          </a:bodyPr>
          <a:lstStyle/>
          <a:p>
            <a:r>
              <a:rPr lang="ru-RU" dirty="0" err="1"/>
              <a:t>Бенчмарки</a:t>
            </a:r>
            <a:r>
              <a:rPr lang="ru-RU" dirty="0"/>
              <a:t> предсказания временных рядов</a:t>
            </a: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08645650"/>
              </p:ext>
            </p:extLst>
          </p:nvPr>
        </p:nvGraphicFramePr>
        <p:xfrm>
          <a:off x="300443" y="587484"/>
          <a:ext cx="11521444" cy="586243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72197">
                  <a:extLst>
                    <a:ext uri="{9D8B030D-6E8A-4147-A177-3AD203B41FA5}">
                      <a16:colId xmlns:a16="http://schemas.microsoft.com/office/drawing/2014/main" val="361956609"/>
                    </a:ext>
                  </a:extLst>
                </a:gridCol>
                <a:gridCol w="2090057">
                  <a:extLst>
                    <a:ext uri="{9D8B030D-6E8A-4147-A177-3AD203B41FA5}">
                      <a16:colId xmlns:a16="http://schemas.microsoft.com/office/drawing/2014/main" val="3343733240"/>
                    </a:ext>
                  </a:extLst>
                </a:gridCol>
                <a:gridCol w="1436914">
                  <a:extLst>
                    <a:ext uri="{9D8B030D-6E8A-4147-A177-3AD203B41FA5}">
                      <a16:colId xmlns:a16="http://schemas.microsoft.com/office/drawing/2014/main" val="1153032671"/>
                    </a:ext>
                  </a:extLst>
                </a:gridCol>
                <a:gridCol w="1619924">
                  <a:extLst>
                    <a:ext uri="{9D8B030D-6E8A-4147-A177-3AD203B41FA5}">
                      <a16:colId xmlns:a16="http://schemas.microsoft.com/office/drawing/2014/main" val="2248710687"/>
                    </a:ext>
                  </a:extLst>
                </a:gridCol>
                <a:gridCol w="1210362">
                  <a:extLst>
                    <a:ext uri="{9D8B030D-6E8A-4147-A177-3AD203B41FA5}">
                      <a16:colId xmlns:a16="http://schemas.microsoft.com/office/drawing/2014/main" val="1572364774"/>
                    </a:ext>
                  </a:extLst>
                </a:gridCol>
                <a:gridCol w="1532709">
                  <a:extLst>
                    <a:ext uri="{9D8B030D-6E8A-4147-A177-3AD203B41FA5}">
                      <a16:colId xmlns:a16="http://schemas.microsoft.com/office/drawing/2014/main" val="428262337"/>
                    </a:ext>
                  </a:extLst>
                </a:gridCol>
                <a:gridCol w="1859281">
                  <a:extLst>
                    <a:ext uri="{9D8B030D-6E8A-4147-A177-3AD203B41FA5}">
                      <a16:colId xmlns:a16="http://schemas.microsoft.com/office/drawing/2014/main" val="584638817"/>
                    </a:ext>
                  </a:extLst>
                </a:gridCol>
              </a:tblGrid>
              <a:tr h="25998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+mn-lt"/>
                          <a:ea typeface="+mn-ea"/>
                          <a:cs typeface="+mn-cs"/>
                        </a:rPr>
                        <a:t>bench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+mn-lt"/>
                          <a:ea typeface="+mn-ea"/>
                          <a:cs typeface="+mn-cs"/>
                        </a:rPr>
                        <a:t>Данные/задачи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Цель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Модели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Метрики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Победители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Выводы </a:t>
                      </a:r>
                    </a:p>
                  </a:txBody>
                  <a:tcPr marL="4248" marR="4248" marT="4248" marB="4248" anchor="ctr"/>
                </a:tc>
                <a:extLst>
                  <a:ext uri="{0D108BD9-81ED-4DB2-BD59-A6C34878D82A}">
                    <a16:rowId xmlns:a16="http://schemas.microsoft.com/office/drawing/2014/main" val="1178824914"/>
                  </a:ext>
                </a:extLst>
              </a:tr>
              <a:tr h="102708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b="1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Температура трансформатора</a:t>
                      </a:r>
                      <a:r>
                        <a:rPr lang="ru-RU" sz="1800" b="1" baseline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800" b="1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ETT (h/m) 2021</a:t>
                      </a:r>
                      <a:endParaRPr lang="ru-RU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err="1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Multivariate</a:t>
                      </a:r>
                      <a:r>
                        <a:rPr lang="ru-RU" sz="18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(час,</a:t>
                      </a:r>
                      <a:r>
                        <a:rPr lang="ru-RU" sz="1800" baseline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15 минут и </a:t>
                      </a:r>
                      <a:r>
                        <a:rPr lang="ru-RU" sz="1800" baseline="0" dirty="0" err="1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тд</a:t>
                      </a:r>
                      <a:r>
                        <a:rPr lang="ru-RU" sz="18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), 39 ВР+4 </a:t>
                      </a:r>
                      <a:r>
                        <a:rPr lang="ru-RU" sz="1800" dirty="0" err="1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экзоген</a:t>
                      </a:r>
                      <a:r>
                        <a:rPr lang="ru-RU" sz="1800" baseline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парам.  горизонты (</a:t>
                      </a:r>
                      <a:r>
                        <a:rPr lang="ru-RU" sz="1800" dirty="0"/>
                        <a:t>96-720)</a:t>
                      </a:r>
                      <a:endParaRPr lang="ru-RU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DL-прогноз сложных ВР</a:t>
                      </a:r>
                      <a:endParaRPr lang="ru-RU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800" dirty="0" err="1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Transformer</a:t>
                      </a:r>
                      <a:r>
                        <a:rPr lang="ru-RU" sz="18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8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LSTM,</a:t>
                      </a:r>
                      <a:r>
                        <a:rPr lang="ru-RU" sz="18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N-BEATS, </a:t>
                      </a:r>
                      <a:r>
                        <a:rPr lang="ru-RU" sz="1800" dirty="0" err="1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DLinear</a:t>
                      </a:r>
                      <a:endParaRPr lang="ru-RU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MAE, MSE</a:t>
                      </a:r>
                      <a:endParaRPr lang="ru-RU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ru-RU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latin typeface="+mn-lt"/>
                        </a:rPr>
                        <a:t>PatchTST</a:t>
                      </a:r>
                      <a:r>
                        <a:rPr lang="en-US" sz="1800" dirty="0">
                          <a:latin typeface="+mn-lt"/>
                        </a:rPr>
                        <a:t>, </a:t>
                      </a:r>
                      <a:r>
                        <a:rPr lang="en-US" sz="1800" dirty="0" err="1">
                          <a:latin typeface="+mn-lt"/>
                        </a:rPr>
                        <a:t>DLinear</a:t>
                      </a:r>
                      <a:endParaRPr lang="ru-RU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800" dirty="0" err="1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Трансформер</a:t>
                      </a:r>
                      <a:r>
                        <a:rPr lang="en-US" sz="18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8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работает на </a:t>
                      </a:r>
                      <a:r>
                        <a:rPr lang="en-US" sz="18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long</a:t>
                      </a:r>
                      <a:r>
                        <a:rPr lang="en-US" sz="1800" baseline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aseline="0" dirty="0" err="1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horzon</a:t>
                      </a:r>
                      <a:endParaRPr lang="ru-RU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182936149"/>
                  </a:ext>
                </a:extLst>
              </a:tr>
              <a:tr h="52174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/>
                        <a:t>Electricity</a:t>
                      </a:r>
                      <a:r>
                        <a:rPr lang="en-US" sz="1800" baseline="0" dirty="0"/>
                        <a:t> Load E</a:t>
                      </a:r>
                      <a:r>
                        <a:rPr lang="en-US" sz="1800" dirty="0"/>
                        <a:t>CL</a:t>
                      </a:r>
                      <a:r>
                        <a:rPr lang="ru-RU" sz="1800" dirty="0"/>
                        <a:t> 2012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/>
                        <a:t>Multivariate</a:t>
                      </a:r>
                      <a:r>
                        <a:rPr lang="ru-RU" sz="1800" dirty="0"/>
                        <a:t> 370 клиентов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DL-прогноз сложных ВР</a:t>
                      </a:r>
                      <a:endParaRPr lang="ru-RU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/>
                        <a:t>CNN, LSTM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MAE, MSE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/>
                        <a:t>CNN, LSTM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DL </a:t>
                      </a:r>
                      <a:r>
                        <a:rPr lang="ru-RU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набольших</a:t>
                      </a:r>
                      <a:r>
                        <a:rPr lang="ru-RU" sz="18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industrial </a:t>
                      </a:r>
                      <a:r>
                        <a:rPr lang="ru-RU" sz="18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наборах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464545700"/>
                  </a:ext>
                </a:extLst>
              </a:tr>
              <a:tr h="77441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err="1">
                          <a:effectLst/>
                        </a:rPr>
                        <a:t>TimeRecipe</a:t>
                      </a:r>
                      <a:r>
                        <a:rPr lang="ru-RU" sz="1800" dirty="0">
                          <a:effectLst/>
                        </a:rPr>
                        <a:t> (2025)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err="1">
                          <a:effectLst/>
                        </a:rPr>
                        <a:t>Univariate</a:t>
                      </a:r>
                      <a:r>
                        <a:rPr lang="ru-RU" sz="1800" dirty="0">
                          <a:effectLst/>
                        </a:rPr>
                        <a:t>, </a:t>
                      </a:r>
                      <a:r>
                        <a:rPr lang="ru-RU" sz="1800" dirty="0" err="1">
                          <a:effectLst/>
                        </a:rPr>
                        <a:t>Multivariate</a:t>
                      </a:r>
                      <a:r>
                        <a:rPr lang="ru-RU" sz="1800" dirty="0">
                          <a:effectLst/>
                        </a:rPr>
                        <a:t>, </a:t>
                      </a:r>
                      <a:r>
                        <a:rPr lang="ru-RU" sz="1800" dirty="0" err="1">
                          <a:effectLst/>
                        </a:rPr>
                        <a:t>Long-horizon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Эксперименты с </a:t>
                      </a:r>
                      <a:r>
                        <a:rPr lang="en-US" sz="1800" dirty="0">
                          <a:effectLst/>
                        </a:rPr>
                        <a:t>DL</a:t>
                      </a:r>
                      <a:r>
                        <a:rPr lang="en-US" sz="1800" baseline="0" dirty="0">
                          <a:effectLst/>
                        </a:rPr>
                        <a:t> </a:t>
                      </a:r>
                      <a:r>
                        <a:rPr lang="ru-RU" sz="1800" baseline="0" dirty="0">
                          <a:effectLst/>
                        </a:rPr>
                        <a:t>моделями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NHITS, </a:t>
                      </a:r>
                      <a:r>
                        <a:rPr lang="ru-RU" sz="1800" dirty="0" err="1">
                          <a:effectLst/>
                        </a:rPr>
                        <a:t>NBEATSx</a:t>
                      </a:r>
                      <a:r>
                        <a:rPr lang="ru-RU" sz="1800" dirty="0">
                          <a:effectLst/>
                        </a:rPr>
                        <a:t>, </a:t>
                      </a:r>
                      <a:r>
                        <a:rPr lang="ru-RU" sz="1800" dirty="0" err="1">
                          <a:effectLst/>
                        </a:rPr>
                        <a:t>PatchTST</a:t>
                      </a:r>
                      <a:r>
                        <a:rPr lang="ru-RU" sz="1800" dirty="0">
                          <a:effectLst/>
                        </a:rPr>
                        <a:t>, LSTM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MAE, MSE, </a:t>
                      </a:r>
                      <a:r>
                        <a:rPr lang="ru-RU" sz="1800" dirty="0" err="1">
                          <a:effectLst/>
                        </a:rPr>
                        <a:t>sMAPE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700" dirty="0">
                          <a:effectLst/>
                        </a:rPr>
                        <a:t>N-HITS, </a:t>
                      </a:r>
                      <a:r>
                        <a:rPr lang="ru-RU" sz="1700" dirty="0" err="1">
                          <a:effectLst/>
                        </a:rPr>
                        <a:t>PatchTST</a:t>
                      </a:r>
                      <a:r>
                        <a:rPr lang="ru-RU" sz="1700" dirty="0">
                          <a:effectLst/>
                        </a:rPr>
                        <a:t>, </a:t>
                      </a:r>
                      <a:r>
                        <a:rPr lang="ru-RU" sz="1700" dirty="0" err="1">
                          <a:effectLst/>
                        </a:rPr>
                        <a:t>DLinear</a:t>
                      </a:r>
                      <a:r>
                        <a:rPr lang="ru-RU" sz="1700" dirty="0">
                          <a:effectLst/>
                        </a:rPr>
                        <a:t> </a:t>
                      </a:r>
                      <a:endParaRPr lang="ru-RU" sz="1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Нет</a:t>
                      </a:r>
                      <a:r>
                        <a:rPr lang="ru-RU" sz="18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универсального победителя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348426979"/>
                  </a:ext>
                </a:extLst>
              </a:tr>
              <a:tr h="77441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err="1">
                          <a:effectLst/>
                        </a:rPr>
                        <a:t>ProbTS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Probabilistic</a:t>
                      </a: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ru-RU" sz="1800" dirty="0" err="1">
                          <a:effectLst/>
                        </a:rPr>
                        <a:t>Multivariate</a:t>
                      </a:r>
                      <a:r>
                        <a:rPr lang="en-US" sz="1800" dirty="0">
                          <a:effectLst/>
                        </a:rPr>
                        <a:t>, </a:t>
                      </a:r>
                      <a:r>
                        <a:rPr lang="ru-RU" sz="1800" dirty="0" err="1">
                          <a:effectLst/>
                        </a:rPr>
                        <a:t>Univariate</a:t>
                      </a:r>
                      <a:endParaRPr lang="ru-RU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err="1">
                          <a:effectLst/>
                        </a:rPr>
                        <a:t>Бенчмаркинг</a:t>
                      </a:r>
                      <a:r>
                        <a:rPr lang="ru-RU" sz="1800" dirty="0">
                          <a:effectLst/>
                        </a:rPr>
                        <a:t> вероятностных моделей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err="1">
                          <a:effectLst/>
                        </a:rPr>
                        <a:t>DeepAR</a:t>
                      </a:r>
                      <a:r>
                        <a:rPr lang="ru-RU" sz="1800" dirty="0">
                          <a:effectLst/>
                        </a:rPr>
                        <a:t>, TFT, </a:t>
                      </a:r>
                      <a:r>
                        <a:rPr lang="ru-RU" sz="1800" dirty="0" err="1">
                          <a:effectLst/>
                        </a:rPr>
                        <a:t>Prophet</a:t>
                      </a:r>
                      <a:r>
                        <a:rPr lang="ru-RU" sz="1800" dirty="0">
                          <a:effectLst/>
                        </a:rPr>
                        <a:t>, </a:t>
                      </a:r>
                      <a:r>
                        <a:rPr lang="ru-RU" sz="1800" dirty="0" err="1">
                          <a:effectLst/>
                        </a:rPr>
                        <a:t>Copula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CRPS, </a:t>
                      </a:r>
                      <a:r>
                        <a:rPr lang="ru-RU" sz="1800" dirty="0" err="1">
                          <a:effectLst/>
                        </a:rPr>
                        <a:t>Quantile</a:t>
                      </a:r>
                      <a:r>
                        <a:rPr lang="ru-RU" sz="1800" dirty="0">
                          <a:effectLst/>
                        </a:rPr>
                        <a:t> </a:t>
                      </a:r>
                      <a:r>
                        <a:rPr lang="ru-RU" sz="1800" dirty="0" err="1">
                          <a:effectLst/>
                        </a:rPr>
                        <a:t>loss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-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+mn-lt"/>
                          <a:ea typeface="+mn-ea"/>
                          <a:cs typeface="+mn-cs"/>
                        </a:rPr>
                        <a:t>DL</a:t>
                      </a:r>
                      <a:r>
                        <a:rPr lang="en-US" sz="1800" baseline="0" dirty="0"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800" baseline="0" dirty="0">
                          <a:effectLst/>
                          <a:latin typeface="+mn-lt"/>
                          <a:ea typeface="+mn-ea"/>
                          <a:cs typeface="+mn-cs"/>
                        </a:rPr>
                        <a:t>умеет делать вероятностное прогнозирование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62539383"/>
                  </a:ext>
                </a:extLst>
              </a:tr>
              <a:tr h="91490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err="1">
                          <a:effectLst/>
                        </a:rPr>
                        <a:t>Monash</a:t>
                      </a:r>
                      <a:r>
                        <a:rPr lang="ru-RU" sz="1800" dirty="0">
                          <a:effectLst/>
                        </a:rPr>
                        <a:t> TS </a:t>
                      </a:r>
                      <a:r>
                        <a:rPr lang="ru-RU" sz="1800" dirty="0" err="1">
                          <a:effectLst/>
                        </a:rPr>
                        <a:t>Forecasting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M1-M4, Tourism,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Trafic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Weather,</a:t>
                      </a: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Electricity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 </a:t>
                      </a:r>
                      <a:r>
                        <a:rPr lang="ru-RU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тд</a:t>
                      </a:r>
                      <a:endParaRPr lang="ru-RU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err="1">
                          <a:effectLst/>
                        </a:rPr>
                        <a:t>academic</a:t>
                      </a:r>
                      <a:r>
                        <a:rPr lang="ru-RU" sz="1800" dirty="0">
                          <a:effectLst/>
                        </a:rPr>
                        <a:t> </a:t>
                      </a:r>
                      <a:r>
                        <a:rPr lang="ru-RU" sz="1800" dirty="0" err="1">
                          <a:effectLst/>
                        </a:rPr>
                        <a:t>бенчмарк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n-lt"/>
                          <a:ea typeface="+mn-ea"/>
                          <a:cs typeface="+mn-cs"/>
                        </a:rPr>
                        <a:t>ARIMA,</a:t>
                      </a:r>
                      <a:r>
                        <a:rPr lang="en-US" sz="1600" baseline="0" dirty="0">
                          <a:effectLst/>
                          <a:latin typeface="+mn-lt"/>
                          <a:ea typeface="+mn-ea"/>
                          <a:cs typeface="+mn-cs"/>
                        </a:rPr>
                        <a:t> Prophet, N-BEATS, D-Linear, </a:t>
                      </a:r>
                      <a:r>
                        <a:rPr lang="en-US" sz="1600" baseline="0" dirty="0" err="1">
                          <a:effectLst/>
                          <a:latin typeface="+mn-lt"/>
                          <a:ea typeface="+mn-ea"/>
                          <a:cs typeface="+mn-cs"/>
                        </a:rPr>
                        <a:t>PatchTST</a:t>
                      </a:r>
                      <a:r>
                        <a:rPr lang="en-US" sz="1600" baseline="0" dirty="0"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1600" baseline="0" dirty="0" err="1">
                          <a:effectLst/>
                          <a:latin typeface="+mn-lt"/>
                          <a:ea typeface="+mn-ea"/>
                          <a:cs typeface="+mn-cs"/>
                        </a:rPr>
                        <a:t>TimesFM</a:t>
                      </a:r>
                      <a:r>
                        <a:rPr lang="en-US" sz="1600" baseline="0" dirty="0"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en-US" sz="1600" baseline="0" dirty="0" err="1">
                          <a:effectLst/>
                          <a:latin typeface="+mn-lt"/>
                          <a:ea typeface="+mn-ea"/>
                          <a:cs typeface="+mn-cs"/>
                        </a:rPr>
                        <a:t>zs</a:t>
                      </a:r>
                      <a:r>
                        <a:rPr lang="en-US" sz="1600" baseline="0" dirty="0">
                          <a:effectLst/>
                          <a:latin typeface="+mn-lt"/>
                          <a:ea typeface="+mn-ea"/>
                          <a:cs typeface="+mn-cs"/>
                        </a:rPr>
                        <a:t>), </a:t>
                      </a:r>
                      <a:r>
                        <a:rPr lang="en-US" sz="1600" baseline="0" dirty="0" err="1">
                          <a:effectLst/>
                          <a:latin typeface="+mn-lt"/>
                          <a:ea typeface="+mn-ea"/>
                          <a:cs typeface="+mn-cs"/>
                        </a:rPr>
                        <a:t>catboost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MASE,</a:t>
                      </a:r>
                      <a:r>
                        <a:rPr lang="en-US" sz="1800" baseline="0" dirty="0">
                          <a:effectLst/>
                        </a:rPr>
                        <a:t> MAE, SMAPE, 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RMSE</a:t>
                      </a:r>
                      <a:r>
                        <a:rPr lang="ru-RU" sz="1800" baseline="0" dirty="0">
                          <a:effectLst/>
                        </a:rPr>
                        <a:t> 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531242361"/>
                  </a:ext>
                </a:extLst>
              </a:tr>
              <a:tr h="77441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gift-</a:t>
                      </a:r>
                      <a:r>
                        <a:rPr lang="en-US" sz="1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eval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 err="1">
                          <a:effectLst/>
                        </a:rPr>
                        <a:t>Monash</a:t>
                      </a:r>
                      <a:r>
                        <a:rPr lang="en-US" sz="1800" dirty="0">
                          <a:effectLst/>
                        </a:rPr>
                        <a:t>+3 </a:t>
                      </a:r>
                      <a:r>
                        <a:rPr lang="ru-RU" sz="1800" dirty="0">
                          <a:effectLst/>
                        </a:rPr>
                        <a:t>бенча</a:t>
                      </a:r>
                      <a:br>
                        <a:rPr lang="ru-RU" sz="1800" dirty="0">
                          <a:effectLst/>
                        </a:rPr>
                      </a:br>
                      <a:r>
                        <a:rPr lang="ru-RU" sz="1800" dirty="0">
                          <a:effectLst/>
                        </a:rPr>
                        <a:t>Разные задачи</a:t>
                      </a:r>
                      <a:endParaRPr lang="ru-RU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Тест </a:t>
                      </a:r>
                      <a:r>
                        <a:rPr lang="ru-RU" sz="1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современ</a:t>
                      </a:r>
                      <a:r>
                        <a:rPr lang="ru-RU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 Моделей</a:t>
                      </a:r>
                      <a:r>
                        <a:rPr lang="ru-RU" sz="18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TS LLM</a:t>
                      </a:r>
                      <a:r>
                        <a:rPr lang="ru-RU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new RNN, Transformers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MASE,</a:t>
                      </a:r>
                      <a:r>
                        <a:rPr lang="en-US" sz="18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CRPS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xLSTM</a:t>
                      </a: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en-US" sz="18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aseline="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Moria</a:t>
                      </a:r>
                      <a:r>
                        <a:rPr lang="en-US" sz="18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en-US" sz="1800" baseline="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zs</a:t>
                      </a:r>
                      <a:r>
                        <a:rPr lang="en-US" sz="18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), </a:t>
                      </a:r>
                      <a:r>
                        <a:rPr lang="en-US" sz="1800" baseline="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Chronos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LLM </a:t>
                      </a:r>
                      <a:r>
                        <a:rPr lang="ru-RU" sz="18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на очень больших данных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79962123"/>
                  </a:ext>
                </a:extLst>
              </a:tr>
            </a:tbl>
          </a:graphicData>
        </a:graphic>
      </p:graphicFrame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6</a:t>
            </a:fld>
            <a:endParaRPr lang="en-US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94486" y="6502660"/>
            <a:ext cx="291425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dirty="0"/>
              <a:t>https://github.com/microsoft/ProbTS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3008745" y="6514123"/>
            <a:ext cx="223625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dirty="0"/>
              <a:t>https://forecastingdata.org/</a:t>
            </a:r>
          </a:p>
        </p:txBody>
      </p:sp>
      <p:sp>
        <p:nvSpPr>
          <p:cNvPr id="11" name="Прямоугольник 10"/>
          <p:cNvSpPr/>
          <p:nvPr/>
        </p:nvSpPr>
        <p:spPr>
          <a:xfrm>
            <a:off x="5185965" y="6548681"/>
            <a:ext cx="288732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dirty="0"/>
              <a:t>https://arxiv.org/html/2506.06482v1</a:t>
            </a:r>
          </a:p>
        </p:txBody>
      </p:sp>
      <p:sp>
        <p:nvSpPr>
          <p:cNvPr id="12" name="Прямоугольник 11"/>
          <p:cNvSpPr/>
          <p:nvPr/>
        </p:nvSpPr>
        <p:spPr>
          <a:xfrm>
            <a:off x="8190370" y="6550223"/>
            <a:ext cx="316343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dirty="0"/>
              <a:t>https://paperswithcode.com/dataset/ett</a:t>
            </a:r>
          </a:p>
        </p:txBody>
      </p:sp>
      <p:sp>
        <p:nvSpPr>
          <p:cNvPr id="13" name="Прямоугольник 12"/>
          <p:cNvSpPr/>
          <p:nvPr/>
        </p:nvSpPr>
        <p:spPr>
          <a:xfrm>
            <a:off x="94486" y="6337308"/>
            <a:ext cx="438632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dirty="0"/>
              <a:t>https://paperswithcode.com/task/time-series-forecasting</a:t>
            </a:r>
          </a:p>
        </p:txBody>
      </p:sp>
      <p:sp>
        <p:nvSpPr>
          <p:cNvPr id="14" name="Прямоугольник 13"/>
          <p:cNvSpPr/>
          <p:nvPr/>
        </p:nvSpPr>
        <p:spPr>
          <a:xfrm>
            <a:off x="4439524" y="6321918"/>
            <a:ext cx="391677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dirty="0"/>
              <a:t>https://github.com/SalesforceAIResearch/gift-eval/</a:t>
            </a:r>
          </a:p>
        </p:txBody>
      </p:sp>
      <p:sp>
        <p:nvSpPr>
          <p:cNvPr id="15" name="Прямоугольник 14"/>
          <p:cNvSpPr/>
          <p:nvPr/>
        </p:nvSpPr>
        <p:spPr>
          <a:xfrm>
            <a:off x="8522233" y="6352696"/>
            <a:ext cx="340625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200" dirty="0"/>
              <a:t>https://huggingface.co/spaces/Salesforce/GIFT-Eval</a:t>
            </a:r>
          </a:p>
        </p:txBody>
      </p:sp>
    </p:spTree>
    <p:extLst>
      <p:ext uri="{BB962C8B-B14F-4D97-AF65-F5344CB8AC3E}">
        <p14:creationId xmlns:p14="http://schemas.microsoft.com/office/powerpoint/2010/main" val="1736517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13509" y="365126"/>
            <a:ext cx="11040291" cy="601526"/>
          </a:xfrm>
        </p:spPr>
        <p:txBody>
          <a:bodyPr>
            <a:normAutofit fontScale="90000"/>
          </a:bodyPr>
          <a:lstStyle/>
          <a:p>
            <a:r>
              <a:rPr lang="ru-RU" dirty="0"/>
              <a:t>Основные выводы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7</a:t>
            </a:fld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13509" y="966652"/>
            <a:ext cx="11632685" cy="5210311"/>
          </a:xfrm>
        </p:spPr>
        <p:txBody>
          <a:bodyPr>
            <a:normAutofit/>
          </a:bodyPr>
          <a:lstStyle/>
          <a:p>
            <a:r>
              <a:rPr lang="en-US" sz="2400" dirty="0"/>
              <a:t>ARIMA, ETS, </a:t>
            </a:r>
            <a:r>
              <a:rPr lang="en-US" sz="2400" dirty="0" smtClean="0"/>
              <a:t>GAR  </a:t>
            </a:r>
            <a:r>
              <a:rPr lang="ru-RU" sz="2400" dirty="0" err="1"/>
              <a:t>бейзлайны</a:t>
            </a:r>
            <a:r>
              <a:rPr lang="ru-RU" sz="2400" dirty="0"/>
              <a:t> + </a:t>
            </a:r>
            <a:r>
              <a:rPr lang="en-US" sz="2400" dirty="0"/>
              <a:t>LSTM </a:t>
            </a:r>
            <a:r>
              <a:rPr lang="ru-RU" sz="2400" dirty="0"/>
              <a:t>(для многомерных ВР</a:t>
            </a:r>
            <a:r>
              <a:rPr lang="ru-RU" sz="2400" dirty="0" smtClean="0"/>
              <a:t>)</a:t>
            </a:r>
            <a:r>
              <a:rPr lang="en-US" sz="2400" dirty="0" smtClean="0"/>
              <a:t>+LGBM </a:t>
            </a:r>
            <a:r>
              <a:rPr lang="ru-RU" sz="2400" dirty="0" smtClean="0"/>
              <a:t>(для сложных ВР)</a:t>
            </a:r>
            <a:endParaRPr lang="ru-RU" sz="2400" dirty="0"/>
          </a:p>
          <a:p>
            <a:r>
              <a:rPr lang="ru-RU" sz="2400" dirty="0"/>
              <a:t>Часто необходимо вероятностное </a:t>
            </a:r>
            <a:r>
              <a:rPr lang="ru-RU" sz="2400" dirty="0" err="1"/>
              <a:t>прогназирование</a:t>
            </a:r>
            <a:endParaRPr lang="ru-RU" sz="2400" dirty="0"/>
          </a:p>
          <a:p>
            <a:r>
              <a:rPr lang="ru-RU" sz="2400" dirty="0"/>
              <a:t>Для коротких горизонтов и простых ВР стат. Методы работают отлично даже для </a:t>
            </a:r>
            <a:r>
              <a:rPr lang="ru-RU" sz="2400" dirty="0" err="1"/>
              <a:t>многопеременных</a:t>
            </a:r>
            <a:r>
              <a:rPr lang="ru-RU" sz="2400" dirty="0"/>
              <a:t> ВР</a:t>
            </a:r>
          </a:p>
          <a:p>
            <a:r>
              <a:rPr lang="ru-RU" sz="2400" dirty="0"/>
              <a:t>Для более сложных ВР гибридные методы: </a:t>
            </a:r>
            <a:r>
              <a:rPr lang="ru-RU" sz="2400" dirty="0" err="1"/>
              <a:t>стат.методы</a:t>
            </a:r>
            <a:r>
              <a:rPr lang="ru-RU" sz="2400" dirty="0"/>
              <a:t> + </a:t>
            </a:r>
            <a:r>
              <a:rPr lang="en-US" sz="2400" dirty="0"/>
              <a:t>DL </a:t>
            </a:r>
          </a:p>
          <a:p>
            <a:r>
              <a:rPr lang="ru-RU" sz="2400" dirty="0"/>
              <a:t>Для средних горизонтов </a:t>
            </a:r>
            <a:r>
              <a:rPr lang="en-US" sz="2400" dirty="0"/>
              <a:t>DL </a:t>
            </a:r>
            <a:r>
              <a:rPr lang="ru-RU" sz="2400" dirty="0"/>
              <a:t>можно заменить на </a:t>
            </a:r>
            <a:r>
              <a:rPr lang="en-US" sz="2400" dirty="0"/>
              <a:t>ML </a:t>
            </a:r>
            <a:r>
              <a:rPr lang="ru-RU" sz="2400" dirty="0"/>
              <a:t>с инженерией признаков</a:t>
            </a:r>
          </a:p>
          <a:p>
            <a:r>
              <a:rPr lang="ru-RU" sz="2400" dirty="0"/>
              <a:t>Для длинных горизонтов и сложных ВР – </a:t>
            </a:r>
            <a:r>
              <a:rPr lang="en-US" sz="2400" dirty="0"/>
              <a:t>DL </a:t>
            </a:r>
            <a:r>
              <a:rPr lang="ru-RU" sz="2400" dirty="0"/>
              <a:t>(</a:t>
            </a:r>
            <a:r>
              <a:rPr lang="ru-RU" sz="2400" dirty="0" err="1"/>
              <a:t>трансфомеры</a:t>
            </a:r>
            <a:r>
              <a:rPr lang="ru-RU" sz="2400" dirty="0"/>
              <a:t>, современные </a:t>
            </a:r>
            <a:r>
              <a:rPr lang="en-US" sz="2400" dirty="0"/>
              <a:t>RNN)</a:t>
            </a:r>
          </a:p>
          <a:p>
            <a:r>
              <a:rPr lang="ru-RU" sz="2400" dirty="0"/>
              <a:t>Для больших объемов ВР и длинных горизонтов </a:t>
            </a:r>
            <a:r>
              <a:rPr lang="en-US" sz="2400" dirty="0" smtClean="0"/>
              <a:t>DL/Foundation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193805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B6B433-AB20-4BD4-8E77-84B856A5D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49" y="161366"/>
            <a:ext cx="10515600" cy="806450"/>
          </a:xfrm>
        </p:spPr>
        <p:txBody>
          <a:bodyPr>
            <a:normAutofit/>
          </a:bodyPr>
          <a:lstStyle/>
          <a:p>
            <a:pPr algn="ctr"/>
            <a:r>
              <a:rPr lang="ru-RU" b="1" dirty="0"/>
              <a:t>Наивное предсказание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CFDC76D-90F0-4FD7-8BA6-954D6D2E6F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9849" y="771957"/>
                <a:ext cx="11685271" cy="5779450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ru-RU" sz="2400" dirty="0"/>
                  <a:t>Наивное предсказание – это некоторая база, точностью меньше которого любой другой алгоритм не должен обладать.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ru-RU" sz="2400" b="1" dirty="0"/>
                  <a:t>Цель наивного предсказания </a:t>
                </a:r>
                <a:r>
                  <a:rPr lang="ru-RU" sz="2400" dirty="0"/>
                  <a:t>- проверка адекватности более сложных моделей и оценка необходимости сложных моделей, а также поиск проблемных мест в процедуре предсказания</a:t>
                </a:r>
              </a:p>
              <a:p>
                <a:pPr marL="0" indent="0" defTabSz="268288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ru-RU" sz="2400" dirty="0"/>
                  <a:t>	Наивные методы работают даже если ряд нарушает теорему дискретизации </a:t>
                </a:r>
              </a:p>
              <a:p>
                <a:pPr marL="0" indent="0" defTabSz="268288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ru-RU" sz="2400" dirty="0"/>
                  <a:t>	 не требует 	гипотез о 	модели</a:t>
                </a:r>
              </a:p>
              <a:p>
                <a:pPr marL="0" indent="0" defTabSz="268288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ru-RU" sz="2400" dirty="0"/>
                  <a:t>		</a:t>
                </a:r>
                <a:r>
                  <a:rPr lang="ru-RU" sz="2400" b="1" dirty="0"/>
                  <a:t>Пример</a:t>
                </a:r>
                <a:r>
                  <a:rPr lang="ru-RU" sz="2400" dirty="0"/>
                  <a:t> прогноз продаж новогодних ёлок такой же как и год назад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ru-RU" sz="2400" b="1" dirty="0"/>
                  <a:t>Простое наивное предсказание</a:t>
                </a:r>
                <a14:m>
                  <m:oMath xmlns:m="http://schemas.openxmlformats.org/officeDocument/2006/math">
                    <m:r>
                      <a:rPr lang="ru-RU" sz="2400" b="1" i="0" dirty="0" smtClean="0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̂"/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ru-RU" sz="2400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).</m:t>
                    </m:r>
                  </m:oMath>
                </a14:m>
                <a:endParaRPr lang="en-US" sz="2400" dirty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ru-RU" sz="2400" dirty="0"/>
                  <a:t>	Где h -</a:t>
                </a:r>
                <a:r>
                  <a:rPr lang="en-US" sz="2400" dirty="0"/>
                  <a:t> </a:t>
                </a:r>
                <a:r>
                  <a:rPr lang="ru-RU" sz="2400" dirty="0"/>
                  <a:t>горизонт предсказания (число шагов)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ru-RU" sz="2400" b="1" dirty="0"/>
                  <a:t>Сезонное наивное предсказание</a:t>
                </a:r>
                <a14:m>
                  <m:oMath xmlns:m="http://schemas.openxmlformats.org/officeDocument/2006/math">
                    <m:r>
                      <a:rPr lang="ru-RU" sz="2400" b="1" i="0" dirty="0" smtClean="0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̂"/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ru-RU" sz="2400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ru-RU" sz="2400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+1)).</m:t>
                    </m:r>
                  </m:oMath>
                </a14:m>
                <a:endParaRPr lang="en-US" sz="2400" dirty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ru-RU" sz="2400" dirty="0"/>
                  <a:t>	Где </a:t>
                </a:r>
                <a:r>
                  <a:rPr lang="en-US" sz="2400" dirty="0"/>
                  <a:t>m</a:t>
                </a:r>
                <a:r>
                  <a:rPr lang="ru-RU" sz="2400" dirty="0"/>
                  <a:t> -</a:t>
                </a:r>
                <a:r>
                  <a:rPr lang="en-US" sz="2400" dirty="0"/>
                  <a:t> </a:t>
                </a:r>
                <a:r>
                  <a:rPr lang="ru-RU" sz="2400" dirty="0"/>
                  <a:t>период сезонности</a:t>
                </a:r>
                <a:r>
                  <a:rPr lang="en-US" sz="2400" dirty="0"/>
                  <a:t>,  </a:t>
                </a:r>
                <a14:m>
                  <m:oMath xmlns:m="http://schemas.openxmlformats.org/officeDocument/2006/math">
                    <m:r>
                      <a:rPr lang="en-US" sz="2400" dirty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ru-RU" sz="2400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dirty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⌊"/>
                        <m:endChr m:val="⌋"/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dirty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2400" dirty="0">
                            <a:latin typeface="Cambria Math" panose="02040503050406030204" pitchFamily="18" charset="0"/>
                          </a:rPr>
                          <m:t>−1)/</m:t>
                        </m:r>
                        <m:r>
                          <a:rPr lang="en-US" sz="2400" dirty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</m:oMath>
                </a14:m>
                <a:endParaRPr lang="ru-RU" sz="2400" dirty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ru-RU" sz="2400" b="1" dirty="0"/>
                  <a:t>Среднее наивное предсказание/скользящее среднее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ru-RU" sz="2400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en-US" sz="2400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en-US" sz="2400" i="1" dirty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400" dirty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ru-RU" sz="2400" dirty="0"/>
                  <a:t>	Также может быть, например среднее сезонное предсказание,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ru-RU" sz="2400" b="1" dirty="0"/>
                  <a:t>Предсказание с дрейфом</a:t>
                </a:r>
                <a14:m>
                  <m:oMath xmlns:m="http://schemas.openxmlformats.org/officeDocument/2006/math">
                    <m:r>
                      <a:rPr lang="en-US" sz="2400" b="1" i="0" dirty="0" smtClean="0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̂"/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ru-RU" sz="2400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en-US" sz="24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ru-RU" sz="2400" b="0" i="1" dirty="0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num>
                      <m:den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𝑦</m:t>
                        </m:r>
                        <m:d>
                          <m:d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ru-RU" sz="2400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h</m:t>
                    </m:r>
                    <m:f>
                      <m:f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𝑦</m:t>
                        </m:r>
                        <m:d>
                          <m:d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d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(1)</m:t>
                        </m:r>
                      </m:num>
                      <m:den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den>
                    </m:f>
                  </m:oMath>
                </a14:m>
                <a:r>
                  <a:rPr lang="en-US" sz="2400" dirty="0"/>
                  <a:t> </a:t>
                </a:r>
                <a:endParaRPr lang="ru-RU" sz="24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CFDC76D-90F0-4FD7-8BA6-954D6D2E6F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9849" y="771957"/>
                <a:ext cx="11685271" cy="5779450"/>
              </a:xfrm>
              <a:blipFill>
                <a:blip r:embed="rId3"/>
                <a:stretch>
                  <a:fillRect l="-678" t="-52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Прямоугольник 3"/>
          <p:cNvSpPr/>
          <p:nvPr/>
        </p:nvSpPr>
        <p:spPr>
          <a:xfrm>
            <a:off x="455611" y="6410088"/>
            <a:ext cx="11099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http://www.machinelearning.ru/wiki/images/archive/e/ec/20150415134755%21Psad_ts_ets.pdf</a:t>
            </a:r>
          </a:p>
        </p:txBody>
      </p:sp>
    </p:spTree>
    <p:extLst>
      <p:ext uri="{BB962C8B-B14F-4D97-AF65-F5344CB8AC3E}">
        <p14:creationId xmlns:p14="http://schemas.microsoft.com/office/powerpoint/2010/main" val="4050711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B6B433-AB20-4BD4-8E77-84B856A5D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49" y="161366"/>
            <a:ext cx="10515600" cy="806450"/>
          </a:xfrm>
        </p:spPr>
        <p:txBody>
          <a:bodyPr>
            <a:normAutofit/>
          </a:bodyPr>
          <a:lstStyle/>
          <a:p>
            <a:pPr algn="ctr"/>
            <a:r>
              <a:rPr lang="ru-RU" b="1" dirty="0"/>
              <a:t>Наивное предсказание </a:t>
            </a:r>
          </a:p>
        </p:txBody>
      </p:sp>
      <p:pic>
        <p:nvPicPr>
          <p:cNvPr id="1026" name="Picture 2" descr="Forecasts of Australian quarterly beer production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1625" y="967816"/>
            <a:ext cx="6661150" cy="3330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Forecasts based on Google's daily closing stock price in 2015.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137" y="3660085"/>
            <a:ext cx="5779022" cy="2889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Прямоугольник 5"/>
          <p:cNvSpPr/>
          <p:nvPr/>
        </p:nvSpPr>
        <p:spPr>
          <a:xfrm>
            <a:off x="4023072" y="6364930"/>
            <a:ext cx="45546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https://otexts.com/fpp3/simple-methods.html</a:t>
            </a:r>
          </a:p>
        </p:txBody>
      </p:sp>
    </p:spTree>
    <p:extLst>
      <p:ext uri="{BB962C8B-B14F-4D97-AF65-F5344CB8AC3E}">
        <p14:creationId xmlns:p14="http://schemas.microsoft.com/office/powerpoint/2010/main" val="2018149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20040" y="258445"/>
            <a:ext cx="11033760" cy="587375"/>
          </a:xfrm>
        </p:spPr>
        <p:txBody>
          <a:bodyPr>
            <a:noAutofit/>
          </a:bodyPr>
          <a:lstStyle/>
          <a:p>
            <a:pPr algn="ctr"/>
            <a:r>
              <a:rPr lang="ru-RU" b="1" dirty="0"/>
              <a:t>Статистические методы</a:t>
            </a:r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041937"/>
              </p:ext>
            </p:extLst>
          </p:nvPr>
        </p:nvGraphicFramePr>
        <p:xfrm>
          <a:off x="193245" y="1045845"/>
          <a:ext cx="11723176" cy="503494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778555">
                  <a:extLst>
                    <a:ext uri="{9D8B030D-6E8A-4147-A177-3AD203B41FA5}">
                      <a16:colId xmlns:a16="http://schemas.microsoft.com/office/drawing/2014/main" val="498965216"/>
                    </a:ext>
                  </a:extLst>
                </a:gridCol>
                <a:gridCol w="1947137">
                  <a:extLst>
                    <a:ext uri="{9D8B030D-6E8A-4147-A177-3AD203B41FA5}">
                      <a16:colId xmlns:a16="http://schemas.microsoft.com/office/drawing/2014/main" val="1588187195"/>
                    </a:ext>
                  </a:extLst>
                </a:gridCol>
                <a:gridCol w="2208508">
                  <a:extLst>
                    <a:ext uri="{9D8B030D-6E8A-4147-A177-3AD203B41FA5}">
                      <a16:colId xmlns:a16="http://schemas.microsoft.com/office/drawing/2014/main" val="1986663327"/>
                    </a:ext>
                  </a:extLst>
                </a:gridCol>
                <a:gridCol w="2688956">
                  <a:extLst>
                    <a:ext uri="{9D8B030D-6E8A-4147-A177-3AD203B41FA5}">
                      <a16:colId xmlns:a16="http://schemas.microsoft.com/office/drawing/2014/main" val="2758287352"/>
                    </a:ext>
                  </a:extLst>
                </a:gridCol>
                <a:gridCol w="2100020">
                  <a:extLst>
                    <a:ext uri="{9D8B030D-6E8A-4147-A177-3AD203B41FA5}">
                      <a16:colId xmlns:a16="http://schemas.microsoft.com/office/drawing/2014/main" val="3490581788"/>
                    </a:ext>
                  </a:extLst>
                </a:gridCol>
              </a:tblGrid>
              <a:tr h="227361"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Критерий</a:t>
                      </a:r>
                      <a:endParaRPr lang="ru-RU" sz="19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Стат</a:t>
                      </a:r>
                      <a:r>
                        <a:rPr lang="en-US" sz="1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.</a:t>
                      </a:r>
                      <a:r>
                        <a:rPr lang="ru-RU" sz="1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 модели </a:t>
                      </a:r>
                      <a:r>
                        <a:rPr lang="en-US" sz="16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(ARIMA,ETS,</a:t>
                      </a:r>
                      <a:r>
                        <a:rPr lang="en-US" sz="1600" b="1" u="none" strike="noStrike" baseline="0" dirty="0">
                          <a:solidFill>
                            <a:schemeClr val="bg1"/>
                          </a:solidFill>
                          <a:effectLst/>
                        </a:rPr>
                        <a:t> </a:t>
                      </a:r>
                      <a:r>
                        <a:rPr lang="en-US" sz="1600" b="1" u="none" strike="noStrike" baseline="0" dirty="0" smtClean="0">
                          <a:solidFill>
                            <a:schemeClr val="bg1"/>
                          </a:solidFill>
                          <a:effectLst/>
                        </a:rPr>
                        <a:t>GAR)</a:t>
                      </a:r>
                      <a:r>
                        <a:rPr lang="ru-RU" sz="1600" b="1" u="none" strike="noStrike" dirty="0" smtClean="0">
                          <a:solidFill>
                            <a:schemeClr val="bg1"/>
                          </a:solidFill>
                          <a:effectLst/>
                        </a:rPr>
                        <a:t> </a:t>
                      </a:r>
                      <a:endParaRPr lang="ru-RU" sz="16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ML</a:t>
                      </a:r>
                      <a:br>
                        <a:rPr lang="en-US" sz="1900" b="1" u="none" strike="noStrike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ru-RU" sz="1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 </a:t>
                      </a:r>
                      <a:r>
                        <a:rPr lang="ru-RU" sz="1900" b="1" u="none" strike="noStrike" dirty="0" smtClean="0">
                          <a:solidFill>
                            <a:schemeClr val="bg1"/>
                          </a:solidFill>
                          <a:effectLst/>
                        </a:rPr>
                        <a:t>(</a:t>
                      </a:r>
                      <a:r>
                        <a:rPr lang="en-US" sz="1900" b="1" u="none" strike="noStrike" dirty="0" err="1" smtClean="0">
                          <a:solidFill>
                            <a:schemeClr val="bg1"/>
                          </a:solidFill>
                          <a:effectLst/>
                        </a:rPr>
                        <a:t>CatBoost</a:t>
                      </a:r>
                      <a:r>
                        <a:rPr lang="ru-RU" sz="1900" b="1" u="none" strike="noStrike" dirty="0" smtClean="0">
                          <a:solidFill>
                            <a:schemeClr val="bg1"/>
                          </a:solidFill>
                          <a:effectLst/>
                        </a:rPr>
                        <a:t>, </a:t>
                      </a:r>
                      <a:r>
                        <a:rPr lang="en-US" sz="1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KNN</a:t>
                      </a:r>
                      <a:r>
                        <a:rPr lang="ru-RU" sz="1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, </a:t>
                      </a:r>
                      <a:r>
                        <a:rPr lang="ru-RU" sz="1900" b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etc</a:t>
                      </a:r>
                      <a:r>
                        <a:rPr lang="ru-RU" sz="1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.)</a:t>
                      </a:r>
                      <a:endParaRPr lang="ru-RU" sz="19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Глубокие </a:t>
                      </a:r>
                      <a:r>
                        <a:rPr lang="ru-RU" sz="1900" b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нейросети</a:t>
                      </a:r>
                      <a:r>
                        <a:rPr lang="ru-RU" sz="1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 (</a:t>
                      </a:r>
                      <a:r>
                        <a:rPr lang="en-US" sz="1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LSTM, Transformer)</a:t>
                      </a:r>
                      <a:endParaRPr lang="en-US" sz="19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Генеративные модели (LLM, </a:t>
                      </a:r>
                      <a:r>
                        <a:rPr lang="en-US" sz="1900" b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Dif</a:t>
                      </a:r>
                      <a:r>
                        <a:rPr lang="ru-RU" sz="1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)</a:t>
                      </a:r>
                      <a:endParaRPr lang="ru-RU" sz="19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012808"/>
                  </a:ext>
                </a:extLst>
              </a:tr>
              <a:tr h="115445"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Интерпретируемость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Очень высока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>
                          <a:effectLst/>
                        </a:rPr>
                        <a:t> Умеренная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>
                          <a:effectLst/>
                        </a:rPr>
                        <a:t>Низкая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>
                          <a:effectLst/>
                        </a:rPr>
                        <a:t> Очень низкая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9974802"/>
                  </a:ext>
                </a:extLst>
              </a:tr>
              <a:tr h="115445"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Объем данных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Минимум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Средний</a:t>
                      </a:r>
                    </a:p>
                  </a:txBody>
                  <a:tcPr marL="8648" marR="8648" marT="8648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>
                          <a:effectLst/>
                        </a:rPr>
                        <a:t>Большой 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>
                          <a:effectLst/>
                        </a:rPr>
                        <a:t>Огромные данные, 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2333269"/>
                  </a:ext>
                </a:extLst>
              </a:tr>
              <a:tr h="227361"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Точность</a:t>
                      </a:r>
                    </a:p>
                  </a:txBody>
                  <a:tcPr marL="8648" marR="8648" marT="8648" marB="0" anchor="b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900" b="1" u="none" strike="noStrike" baseline="0" dirty="0">
                          <a:effectLst/>
                        </a:rPr>
                        <a:t>При соответствии модели и данных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900" u="none" strike="noStrike" dirty="0">
                          <a:effectLst/>
                        </a:rPr>
                        <a:t>Зависит от выбора</a:t>
                      </a:r>
                      <a:r>
                        <a:rPr lang="ru-RU" sz="1900" u="none" strike="noStrike" baseline="0" dirty="0">
                          <a:effectLst/>
                        </a:rPr>
                        <a:t> признаков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Средняя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Низкая</a:t>
                      </a:r>
                    </a:p>
                  </a:txBody>
                  <a:tcPr marL="8648" marR="8648" marT="8648" marB="0" anchor="b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0434037"/>
                  </a:ext>
                </a:extLst>
              </a:tr>
              <a:tr h="115445"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Скорость обучения/прогноза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Очень быстро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>
                          <a:effectLst/>
                        </a:rPr>
                        <a:t>Быстро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>
                          <a:effectLst/>
                        </a:rPr>
                        <a:t>Медленно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>
                          <a:effectLst/>
                        </a:rPr>
                        <a:t>Очень медленно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967367"/>
                  </a:ext>
                </a:extLst>
              </a:tr>
              <a:tr h="115445"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Учет сезонности и тренда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800" u="none" strike="noStrike" dirty="0">
                          <a:effectLst/>
                        </a:rPr>
                        <a:t>Зависит от модели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В признаках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Хорошо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>
                          <a:effectLst/>
                        </a:rPr>
                        <a:t>Средне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8149069"/>
                  </a:ext>
                </a:extLst>
              </a:tr>
              <a:tr h="115445"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экзогенные факторы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>
                          <a:effectLst/>
                        </a:rPr>
                        <a:t>Ограничен</a:t>
                      </a:r>
                      <a:endParaRPr lang="en-US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Отлично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Отлично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>
                          <a:effectLst/>
                        </a:rPr>
                        <a:t>Через контекст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7277165"/>
                  </a:ext>
                </a:extLst>
              </a:tr>
              <a:tr h="172992"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Длина горизонта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Короткий</a:t>
                      </a:r>
                      <a:endParaRPr lang="en-US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>
                          <a:effectLst/>
                        </a:rPr>
                        <a:t>Средний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Средний-длинный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Очень длинный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218622"/>
                  </a:ext>
                </a:extLst>
              </a:tr>
              <a:tr h="227361"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Работа с шумом и выбросами, пропусками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>
                          <a:effectLst/>
                        </a:rPr>
                        <a:t>Плохо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Хорошо (особенно ансамбли)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>
                          <a:effectLst/>
                        </a:rPr>
                        <a:t>Средне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Хорошо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2439854"/>
                  </a:ext>
                </a:extLst>
              </a:tr>
              <a:tr h="115445"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 err="1">
                          <a:effectLst/>
                        </a:rPr>
                        <a:t>Нестационарность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Учет</a:t>
                      </a:r>
                      <a:r>
                        <a:rPr lang="ru-RU" sz="1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в модели </a:t>
                      </a:r>
                      <a:endParaRPr lang="en-US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Хорошо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Хорошо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>
                          <a:effectLst/>
                        </a:rPr>
                        <a:t>Возможна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775328"/>
                  </a:ext>
                </a:extLst>
              </a:tr>
              <a:tr h="290710"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 err="1">
                          <a:effectLst/>
                        </a:rPr>
                        <a:t>Многосезонность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>
                          <a:effectLst/>
                        </a:rPr>
                        <a:t>Ограничена </a:t>
                      </a:r>
                      <a:endParaRPr lang="en-US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900" u="none" strike="noStrike" dirty="0">
                          <a:effectLst/>
                        </a:rPr>
                        <a:t>Средне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Хорошо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Хорошо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5471243"/>
                  </a:ext>
                </a:extLst>
              </a:tr>
              <a:tr h="115445"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Многомерные данные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>
                          <a:effectLst/>
                        </a:rPr>
                        <a:t>Ограниченная</a:t>
                      </a:r>
                      <a:endParaRPr lang="en-US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>
                          <a:effectLst/>
                        </a:rPr>
                        <a:t> Хорошо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Отлично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Отлично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6631537"/>
                  </a:ext>
                </a:extLst>
              </a:tr>
              <a:tr h="172992">
                <a:tc>
                  <a:txBody>
                    <a:bodyPr/>
                    <a:lstStyle/>
                    <a:p>
                      <a:pPr algn="ctr" fontAlgn="b"/>
                      <a:r>
                        <a:rPr lang="ru-RU" sz="1800" b="1" u="none" strike="noStrike" dirty="0">
                          <a:effectLst/>
                        </a:rPr>
                        <a:t>Автоматизация</a:t>
                      </a:r>
                      <a:r>
                        <a:rPr lang="en-US" sz="1800" b="1" u="none" strike="noStrike" dirty="0">
                          <a:effectLst/>
                        </a:rPr>
                        <a:t> </a:t>
                      </a:r>
                      <a:r>
                        <a:rPr lang="ru-RU" sz="1800" b="1" u="none" strike="noStrike" dirty="0">
                          <a:effectLst/>
                        </a:rPr>
                        <a:t>настройки</a:t>
                      </a:r>
                      <a:endParaRPr lang="ru-RU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>
                          <a:effectLst/>
                        </a:rPr>
                        <a:t>Средняя </a:t>
                      </a:r>
                      <a:endParaRPr lang="en-US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Высокая </a:t>
                      </a:r>
                      <a:endParaRPr lang="en-US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Высокая </a:t>
                      </a:r>
                      <a:endParaRPr lang="en-US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 err="1">
                          <a:effectLst/>
                        </a:rPr>
                        <a:t>prompt</a:t>
                      </a:r>
                      <a:r>
                        <a:rPr lang="ru-RU" sz="1900" u="none" strike="noStrike" dirty="0">
                          <a:effectLst/>
                        </a:rPr>
                        <a:t> </a:t>
                      </a:r>
                      <a:r>
                        <a:rPr lang="ru-RU" sz="1900" u="none" strike="noStrike" dirty="0" err="1">
                          <a:effectLst/>
                        </a:rPr>
                        <a:t>engineering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63220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9358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66700" y="91649"/>
            <a:ext cx="11087100" cy="542925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Статистические методы</a:t>
            </a: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56483266"/>
              </p:ext>
            </p:extLst>
          </p:nvPr>
        </p:nvGraphicFramePr>
        <p:xfrm>
          <a:off x="266700" y="642193"/>
          <a:ext cx="11658600" cy="4864569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81050">
                  <a:extLst>
                    <a:ext uri="{9D8B030D-6E8A-4147-A177-3AD203B41FA5}">
                      <a16:colId xmlns:a16="http://schemas.microsoft.com/office/drawing/2014/main" val="1676522518"/>
                    </a:ext>
                  </a:extLst>
                </a:gridCol>
                <a:gridCol w="1152525">
                  <a:extLst>
                    <a:ext uri="{9D8B030D-6E8A-4147-A177-3AD203B41FA5}">
                      <a16:colId xmlns:a16="http://schemas.microsoft.com/office/drawing/2014/main" val="1330675205"/>
                    </a:ext>
                  </a:extLst>
                </a:gridCol>
                <a:gridCol w="1200150">
                  <a:extLst>
                    <a:ext uri="{9D8B030D-6E8A-4147-A177-3AD203B41FA5}">
                      <a16:colId xmlns:a16="http://schemas.microsoft.com/office/drawing/2014/main" val="1399852457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1190715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291642554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3182744035"/>
                    </a:ext>
                  </a:extLst>
                </a:gridCol>
                <a:gridCol w="885825">
                  <a:extLst>
                    <a:ext uri="{9D8B030D-6E8A-4147-A177-3AD203B41FA5}">
                      <a16:colId xmlns:a16="http://schemas.microsoft.com/office/drawing/2014/main" val="2899264462"/>
                    </a:ext>
                  </a:extLst>
                </a:gridCol>
                <a:gridCol w="725805">
                  <a:extLst>
                    <a:ext uri="{9D8B030D-6E8A-4147-A177-3AD203B41FA5}">
                      <a16:colId xmlns:a16="http://schemas.microsoft.com/office/drawing/2014/main" val="1265331857"/>
                    </a:ext>
                  </a:extLst>
                </a:gridCol>
                <a:gridCol w="1360170">
                  <a:extLst>
                    <a:ext uri="{9D8B030D-6E8A-4147-A177-3AD203B41FA5}">
                      <a16:colId xmlns:a16="http://schemas.microsoft.com/office/drawing/2014/main" val="1124316682"/>
                    </a:ext>
                  </a:extLst>
                </a:gridCol>
                <a:gridCol w="2647950">
                  <a:extLst>
                    <a:ext uri="{9D8B030D-6E8A-4147-A177-3AD203B41FA5}">
                      <a16:colId xmlns:a16="http://schemas.microsoft.com/office/drawing/2014/main" val="2870456483"/>
                    </a:ext>
                  </a:extLst>
                </a:gridCol>
              </a:tblGrid>
              <a:tr h="473229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Метод</a:t>
                      </a:r>
                      <a:endParaRPr lang="ru-RU" sz="18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Тренд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Сезонность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 err="1">
                          <a:effectLst/>
                        </a:rPr>
                        <a:t>Нестационарность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>
                          <a:effectLst/>
                        </a:rPr>
                        <a:t>Шумы</a:t>
                      </a:r>
                      <a:endParaRPr lang="ru-R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>
                          <a:effectLst/>
                        </a:rPr>
                        <a:t>Выбросы</a:t>
                      </a:r>
                      <a:endParaRPr lang="ru-R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Объем Данных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effectLst/>
                        </a:rPr>
                        <a:t>horizon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Настройка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kern="1200" dirty="0">
                          <a:effectLst/>
                        </a:rPr>
                        <a:t>Использование</a:t>
                      </a:r>
                      <a:endParaRPr lang="ru-RU" sz="1800" b="1" u="none" strike="noStrike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607" marR="2607" marT="2607" marB="0" anchor="ctr"/>
                </a:tc>
                <a:extLst>
                  <a:ext uri="{0D108BD9-81ED-4DB2-BD59-A6C34878D82A}">
                    <a16:rowId xmlns:a16="http://schemas.microsoft.com/office/drawing/2014/main" val="25113789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effectLst/>
                        </a:rPr>
                        <a:t> Naïve</a:t>
                      </a:r>
                      <a:endParaRPr lang="en-US" sz="18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u="none" strike="noStrike" dirty="0">
                          <a:effectLst/>
                        </a:rPr>
                        <a:t>Нет, </a:t>
                      </a:r>
                      <a:r>
                        <a:rPr lang="en-US" sz="1600" u="none" strike="noStrike" dirty="0">
                          <a:effectLst/>
                        </a:rPr>
                        <a:t>Random-walk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Одна и простая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effectLst/>
                        </a:rPr>
                        <a:t>TS-</a:t>
                      </a:r>
                      <a:r>
                        <a:rPr lang="ru-RU" sz="1800" u="none" strike="noStrike" dirty="0" err="1">
                          <a:effectLst/>
                        </a:rPr>
                        <a:t>стац</a:t>
                      </a:r>
                      <a:r>
                        <a:rPr lang="ru-RU" sz="1800" u="none" strike="noStrike" dirty="0">
                          <a:effectLst/>
                        </a:rPr>
                        <a:t>.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Почти нет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Почти нет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10-10</a:t>
                      </a:r>
                      <a:r>
                        <a:rPr lang="ru-RU" sz="1800" u="none" strike="noStrike" baseline="30000" dirty="0">
                          <a:effectLst/>
                        </a:rPr>
                        <a:t>2</a:t>
                      </a:r>
                      <a:endParaRPr lang="ru-RU" sz="1800" b="0" i="0" u="none" strike="noStrike" baseline="300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10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Очень быстро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Нет тренда, данных мало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extLst>
                  <a:ext uri="{0D108BD9-81ED-4DB2-BD59-A6C34878D82A}">
                    <a16:rowId xmlns:a16="http://schemas.microsoft.com/office/drawing/2014/main" val="1857451959"/>
                  </a:ext>
                </a:extLst>
              </a:tr>
              <a:tr h="47322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effectLst/>
                        </a:rPr>
                        <a:t>STL</a:t>
                      </a:r>
                      <a:r>
                        <a:rPr lang="ru-RU" sz="1800" u="none" strike="noStrike" dirty="0">
                          <a:effectLst/>
                        </a:rPr>
                        <a:t>+</a:t>
                      </a:r>
                      <a:br>
                        <a:rPr lang="ru-RU" sz="1800" u="none" strike="noStrike" dirty="0">
                          <a:effectLst/>
                        </a:rPr>
                      </a:br>
                      <a:r>
                        <a:rPr lang="ru-RU" sz="1800" u="none" strike="noStrike" dirty="0">
                          <a:effectLst/>
                        </a:rPr>
                        <a:t>любой</a:t>
                      </a:r>
                      <a:endParaRPr lang="en-US" sz="18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Цикличный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600" u="none" strike="noStrike" dirty="0">
                          <a:effectLst/>
                        </a:rPr>
                        <a:t>Одна или </a:t>
                      </a:r>
                      <a:r>
                        <a:rPr lang="en-US" sz="1600" u="none" strike="noStrike" dirty="0">
                          <a:effectLst/>
                        </a:rPr>
                        <a:t/>
                      </a:r>
                      <a:br>
                        <a:rPr lang="en-US" sz="1600" u="none" strike="noStrike" dirty="0">
                          <a:effectLst/>
                        </a:rPr>
                      </a:br>
                      <a:r>
                        <a:rPr lang="ru-RU" sz="1600" u="none" strike="noStrike" dirty="0">
                          <a:effectLst/>
                        </a:rPr>
                        <a:t>более (</a:t>
                      </a:r>
                      <a:r>
                        <a:rPr lang="en-US" sz="1600" u="none" strike="noStrike" dirty="0">
                          <a:effectLst/>
                        </a:rPr>
                        <a:t>MSTL)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effectLst/>
                        </a:rPr>
                        <a:t>TS-</a:t>
                      </a:r>
                      <a:r>
                        <a:rPr lang="ru-RU" sz="1800" u="none" strike="noStrike" dirty="0" err="1">
                          <a:effectLst/>
                        </a:rPr>
                        <a:t>стац</a:t>
                      </a:r>
                      <a:r>
                        <a:rPr lang="ru-RU" sz="1800" u="none" strike="noStrike" dirty="0">
                          <a:effectLst/>
                        </a:rPr>
                        <a:t>.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Почти нет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>
                          <a:effectLst/>
                        </a:rPr>
                        <a:t>Очень мало</a:t>
                      </a:r>
                      <a:endParaRPr lang="ru-R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10-10</a:t>
                      </a:r>
                      <a:r>
                        <a:rPr lang="ru-RU" sz="1800" u="none" strike="noStrike" baseline="30000" dirty="0">
                          <a:effectLst/>
                        </a:rPr>
                        <a:t>4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>
                          <a:effectLst/>
                        </a:rPr>
                        <a:t>20</a:t>
                      </a:r>
                      <a:endParaRPr lang="ru-R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Очень быстро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Когда проще</a:t>
                      </a:r>
                      <a:r>
                        <a:rPr lang="ru-RU" sz="1800" u="none" strike="noStrike" baseline="0" dirty="0">
                          <a:effectLst/>
                        </a:rPr>
                        <a:t> убрать компоненты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extLst>
                  <a:ext uri="{0D108BD9-81ED-4DB2-BD59-A6C34878D82A}">
                    <a16:rowId xmlns:a16="http://schemas.microsoft.com/office/drawing/2014/main" val="3020200849"/>
                  </a:ext>
                </a:extLst>
              </a:tr>
              <a:tr h="47322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effectLst/>
                        </a:rPr>
                        <a:t>ETS</a:t>
                      </a:r>
                      <a:r>
                        <a:rPr lang="ru-RU" sz="1800" u="none" strike="noStrike" dirty="0">
                          <a:effectLst/>
                        </a:rPr>
                        <a:t> </a:t>
                      </a:r>
                      <a:r>
                        <a:rPr lang="en-US" sz="1800" u="none" strike="noStrike" dirty="0">
                          <a:effectLst/>
                        </a:rPr>
                        <a:t>(HW)</a:t>
                      </a:r>
                      <a:endParaRPr lang="en-US" sz="18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600" u="none" strike="noStrike" dirty="0">
                          <a:effectLst/>
                        </a:rPr>
                        <a:t>Почти монотонный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Одна </a:t>
                      </a:r>
                      <a:br>
                        <a:rPr lang="ru-RU" sz="1800" u="none" strike="noStrike" dirty="0">
                          <a:effectLst/>
                        </a:rPr>
                      </a:br>
                      <a:r>
                        <a:rPr lang="ru-RU" sz="1800" u="none" strike="noStrike" dirty="0">
                          <a:effectLst/>
                        </a:rPr>
                        <a:t>или 1-2 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effectLst/>
                        </a:rPr>
                        <a:t>TS-</a:t>
                      </a:r>
                      <a:r>
                        <a:rPr lang="ru-RU" sz="1800" u="none" strike="noStrike" dirty="0" err="1">
                          <a:effectLst/>
                        </a:rPr>
                        <a:t>стац</a:t>
                      </a:r>
                      <a:r>
                        <a:rPr lang="ru-RU" sz="1800" u="none" strike="noStrike" dirty="0">
                          <a:effectLst/>
                        </a:rPr>
                        <a:t>.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l-GR" sz="1800" u="none" strike="noStrike" dirty="0">
                          <a:effectLst/>
                        </a:rPr>
                        <a:t>σ-</a:t>
                      </a:r>
                      <a:r>
                        <a:rPr lang="en-US" sz="1800" u="none" strike="noStrike" dirty="0" err="1">
                          <a:effectLst/>
                        </a:rPr>
                        <a:t>var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Очень мало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10</a:t>
                      </a:r>
                      <a:r>
                        <a:rPr lang="ru-RU" sz="1800" u="none" strike="noStrike" baseline="30000" dirty="0">
                          <a:effectLst/>
                        </a:rPr>
                        <a:t>2</a:t>
                      </a:r>
                      <a:r>
                        <a:rPr lang="ru-RU" sz="1800" u="none" strike="noStrike" dirty="0">
                          <a:effectLst/>
                        </a:rPr>
                        <a:t>-10</a:t>
                      </a:r>
                      <a:r>
                        <a:rPr lang="ru-RU" sz="1800" u="none" strike="noStrike" baseline="30000" dirty="0">
                          <a:effectLst/>
                        </a:rPr>
                        <a:t>3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30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 err="1">
                          <a:effectLst/>
                        </a:rPr>
                        <a:t>AutoETS</a:t>
                      </a:r>
                      <a:r>
                        <a:rPr lang="en-US" sz="1800" u="none" strike="noStrike" dirty="0">
                          <a:effectLst/>
                        </a:rPr>
                        <a:t> </a:t>
                      </a:r>
                      <a:r>
                        <a:rPr lang="ru-RU" sz="1800" u="none" strike="noStrike" dirty="0">
                          <a:effectLst/>
                        </a:rPr>
                        <a:t>быстр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Простая модель,</a:t>
                      </a:r>
                      <a:r>
                        <a:rPr lang="ru-RU" sz="1800" u="none" strike="noStrike" baseline="0" dirty="0">
                          <a:effectLst/>
                        </a:rPr>
                        <a:t> 1 сезон, шумы, данных мало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extLst>
                  <a:ext uri="{0D108BD9-81ED-4DB2-BD59-A6C34878D82A}">
                    <a16:rowId xmlns:a16="http://schemas.microsoft.com/office/drawing/2014/main" val="12399409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>
                          <a:effectLst/>
                        </a:rPr>
                        <a:t>TBATS</a:t>
                      </a:r>
                      <a:endParaRPr lang="en-US" sz="18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600" u="none" strike="noStrike" dirty="0">
                          <a:effectLst/>
                        </a:rPr>
                        <a:t>Почти монотонный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effectLst/>
                        </a:rPr>
                        <a:t>1-4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>
                          <a:effectLst/>
                        </a:rPr>
                        <a:t>TS-</a:t>
                      </a:r>
                      <a:r>
                        <a:rPr lang="ru-RU" sz="1800" u="none" strike="noStrike">
                          <a:effectLst/>
                        </a:rPr>
                        <a:t>стац.</a:t>
                      </a:r>
                      <a:endParaRPr lang="ru-R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600" u="none" strike="noStrike" dirty="0">
                          <a:effectLst/>
                        </a:rPr>
                        <a:t>Окрашенный шум, </a:t>
                      </a:r>
                      <a:r>
                        <a:rPr lang="el-GR" sz="1600" u="none" strike="noStrike" dirty="0">
                          <a:effectLst/>
                        </a:rPr>
                        <a:t>σ-</a:t>
                      </a:r>
                      <a:r>
                        <a:rPr lang="en-US" sz="1600" u="none" strike="noStrike" dirty="0" err="1">
                          <a:effectLst/>
                        </a:rPr>
                        <a:t>var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>
                          <a:effectLst/>
                        </a:rPr>
                        <a:t>Очень мало</a:t>
                      </a:r>
                      <a:endParaRPr lang="ru-R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u="none" strike="noStrike" dirty="0">
                          <a:effectLst/>
                        </a:rPr>
                        <a:t>10</a:t>
                      </a:r>
                      <a:r>
                        <a:rPr lang="ru-RU" sz="1800" u="none" strike="noStrike" baseline="30000" dirty="0">
                          <a:effectLst/>
                        </a:rPr>
                        <a:t>2</a:t>
                      </a:r>
                      <a:r>
                        <a:rPr lang="ru-RU" sz="1800" u="none" strike="noStrike" dirty="0">
                          <a:effectLst/>
                        </a:rPr>
                        <a:t>-10</a:t>
                      </a:r>
                      <a:r>
                        <a:rPr lang="ru-RU" sz="1800" u="none" strike="noStrike" baseline="30000" dirty="0">
                          <a:effectLst/>
                        </a:rPr>
                        <a:t>4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30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 err="1">
                          <a:effectLst/>
                        </a:rPr>
                        <a:t>Автонастройка</a:t>
                      </a:r>
                      <a:r>
                        <a:rPr lang="ru-RU" sz="1800" u="none" strike="noStrike" dirty="0">
                          <a:effectLst/>
                        </a:rPr>
                        <a:t> быстро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Простая модель, шумы, несколько сезонностей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extLst>
                  <a:ext uri="{0D108BD9-81ED-4DB2-BD59-A6C34878D82A}">
                    <a16:rowId xmlns:a16="http://schemas.microsoft.com/office/drawing/2014/main" val="2285523777"/>
                  </a:ext>
                </a:extLst>
              </a:tr>
              <a:tr h="7087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>
                          <a:effectLst/>
                        </a:rPr>
                        <a:t>ARIMA</a:t>
                      </a:r>
                      <a:endParaRPr lang="en-US" sz="18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600" u="none" strike="noStrike" dirty="0">
                          <a:effectLst/>
                        </a:rPr>
                        <a:t>Полином, </a:t>
                      </a:r>
                      <a:r>
                        <a:rPr lang="en-US" sz="1600" u="none" strike="noStrike" dirty="0">
                          <a:effectLst/>
                        </a:rPr>
                        <a:t>Random-walk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Любые, в т.ч. Не стационарные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effectLst/>
                        </a:rPr>
                        <a:t>DS-</a:t>
                      </a:r>
                      <a:r>
                        <a:rPr lang="ru-RU" sz="1800" u="none" strike="noStrike" dirty="0" err="1">
                          <a:effectLst/>
                        </a:rPr>
                        <a:t>стац</a:t>
                      </a:r>
                      <a:r>
                        <a:rPr lang="ru-RU" sz="1800" u="none" strike="noStrike" dirty="0">
                          <a:effectLst/>
                        </a:rPr>
                        <a:t>.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Окрашенный шум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Мало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u="none" strike="noStrike" dirty="0">
                          <a:effectLst/>
                        </a:rPr>
                        <a:t>10</a:t>
                      </a:r>
                      <a:r>
                        <a:rPr lang="ru-RU" sz="1800" u="none" strike="noStrike" baseline="30000" dirty="0">
                          <a:effectLst/>
                        </a:rPr>
                        <a:t>2</a:t>
                      </a:r>
                      <a:r>
                        <a:rPr lang="ru-RU" sz="1800" u="none" strike="noStrike" dirty="0">
                          <a:effectLst/>
                        </a:rPr>
                        <a:t>-10</a:t>
                      </a:r>
                      <a:r>
                        <a:rPr lang="ru-RU" sz="1800" u="none" strike="noStrike" baseline="30000" dirty="0">
                          <a:effectLst/>
                        </a:rPr>
                        <a:t>5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rtl="0" fontAlgn="ctr"/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100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 err="1">
                          <a:effectLst/>
                        </a:rPr>
                        <a:t>AutoARIMA</a:t>
                      </a:r>
                      <a:r>
                        <a:rPr lang="en-US" sz="1800" u="none" strike="noStrike" dirty="0">
                          <a:effectLst/>
                        </a:rPr>
                        <a:t>+</a:t>
                      </a:r>
                      <a:r>
                        <a:rPr lang="ru-RU" sz="1800" u="none" strike="noStrike" dirty="0">
                          <a:effectLst/>
                        </a:rPr>
                        <a:t/>
                      </a:r>
                      <a:br>
                        <a:rPr lang="ru-RU" sz="1800" u="none" strike="noStrike" dirty="0">
                          <a:effectLst/>
                        </a:rPr>
                      </a:br>
                      <a:r>
                        <a:rPr lang="ru-RU" sz="1800" u="none" strike="noStrike" dirty="0">
                          <a:effectLst/>
                        </a:rPr>
                        <a:t>руками - долго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u="none" strike="noStrike" dirty="0">
                          <a:effectLst/>
                        </a:rPr>
                        <a:t>Сложная </a:t>
                      </a:r>
                      <a:r>
                        <a:rPr lang="en-US" sz="1800" u="none" strike="noStrike" dirty="0">
                          <a:effectLst/>
                        </a:rPr>
                        <a:t>DS-</a:t>
                      </a:r>
                      <a:r>
                        <a:rPr lang="ru-RU" sz="1800" u="none" strike="noStrike" dirty="0" err="1">
                          <a:effectLst/>
                        </a:rPr>
                        <a:t>стац</a:t>
                      </a:r>
                      <a:r>
                        <a:rPr lang="ru-RU" sz="1800" u="none" strike="noStrike" dirty="0">
                          <a:effectLst/>
                        </a:rPr>
                        <a:t>.</a:t>
                      </a:r>
                    </a:p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модель, важно</a:t>
                      </a:r>
                      <a:r>
                        <a:rPr lang="ru-RU" sz="1800" u="none" strike="noStrike" baseline="0" dirty="0">
                          <a:effectLst/>
                        </a:rPr>
                        <a:t> корреляция – по факту </a:t>
                      </a:r>
                      <a:r>
                        <a:rPr lang="en-US" sz="1800" u="none" strike="noStrike" baseline="0" dirty="0">
                          <a:effectLst/>
                        </a:rPr>
                        <a:t>Baseline</a:t>
                      </a:r>
                      <a:endParaRPr lang="ru-RU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extLst>
                  <a:ext uri="{0D108BD9-81ED-4DB2-BD59-A6C34878D82A}">
                    <a16:rowId xmlns:a16="http://schemas.microsoft.com/office/drawing/2014/main" val="3760524402"/>
                  </a:ext>
                </a:extLst>
              </a:tr>
              <a:tr h="7087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 smtClean="0">
                          <a:effectLst/>
                        </a:rPr>
                        <a:t>GAR</a:t>
                      </a:r>
                      <a:endParaRPr lang="en-US" sz="18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Сложный перегибы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Любые, + </a:t>
                      </a:r>
                      <a:r>
                        <a:rPr lang="en-US" sz="1800" u="none" strike="noStrike" dirty="0">
                          <a:effectLst/>
                        </a:rPr>
                        <a:t>holidays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>
                          <a:effectLst/>
                        </a:rPr>
                        <a:t>TS-</a:t>
                      </a:r>
                      <a:r>
                        <a:rPr lang="ru-RU" sz="1800" u="none" strike="noStrike">
                          <a:effectLst/>
                        </a:rPr>
                        <a:t>стац.</a:t>
                      </a:r>
                      <a:endParaRPr lang="ru-R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Слабый БГШ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Могут быть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u="none" strike="noStrike" dirty="0">
                          <a:effectLst/>
                        </a:rPr>
                        <a:t>10</a:t>
                      </a:r>
                      <a:r>
                        <a:rPr lang="ru-RU" sz="1800" u="none" strike="noStrike" baseline="30000" dirty="0">
                          <a:effectLst/>
                        </a:rPr>
                        <a:t>2</a:t>
                      </a:r>
                      <a:r>
                        <a:rPr lang="ru-RU" sz="1800" u="none" strike="noStrike" dirty="0">
                          <a:effectLst/>
                        </a:rPr>
                        <a:t>-10</a:t>
                      </a:r>
                      <a:r>
                        <a:rPr lang="ru-RU" sz="1800" u="none" strike="noStrike" baseline="30000" dirty="0">
                          <a:effectLst/>
                        </a:rPr>
                        <a:t>6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>
                          <a:effectLst/>
                        </a:rPr>
                        <a:t>100+</a:t>
                      </a:r>
                      <a:endParaRPr lang="ru-R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выбор точек перегиба, </a:t>
                      </a:r>
                      <a:br>
                        <a:rPr lang="ru-RU" sz="1800" u="none" strike="noStrike" dirty="0">
                          <a:effectLst/>
                        </a:rPr>
                      </a:br>
                      <a:r>
                        <a:rPr lang="ru-RU" sz="1800" u="none" strike="noStrike" dirty="0">
                          <a:effectLst/>
                        </a:rPr>
                        <a:t>ост. быстро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Длинный ВР</a:t>
                      </a:r>
                      <a:r>
                        <a:rPr lang="ru-RU" sz="1800" u="none" strike="noStrike" baseline="0" dirty="0">
                          <a:effectLst/>
                        </a:rPr>
                        <a:t> и горизонт, </a:t>
                      </a:r>
                      <a:r>
                        <a:rPr lang="ru-RU" sz="1800" u="none" strike="noStrike" baseline="0" dirty="0" err="1">
                          <a:effectLst/>
                        </a:rPr>
                        <a:t>бизнесс</a:t>
                      </a:r>
                      <a:r>
                        <a:rPr lang="ru-RU" sz="1800" u="none" strike="noStrike" baseline="0" dirty="0">
                          <a:effectLst/>
                        </a:rPr>
                        <a:t>-процессы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extLst>
                  <a:ext uri="{0D108BD9-81ED-4DB2-BD59-A6C34878D82A}">
                    <a16:rowId xmlns:a16="http://schemas.microsoft.com/office/drawing/2014/main" val="346448844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Прямоугольник 5"/>
              <p:cNvSpPr/>
              <p:nvPr/>
            </p:nvSpPr>
            <p:spPr>
              <a:xfrm>
                <a:off x="201927" y="5670173"/>
                <a:ext cx="5608323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1600" dirty="0"/>
                  <a:t>STL</a:t>
                </a:r>
                <a:r>
                  <a:rPr lang="ru-RU" sz="1600" dirty="0"/>
                  <a:t> – разложение сезон-тренд методом локальной регрессии</a:t>
                </a:r>
              </a:p>
              <a:p>
                <a:r>
                  <a:rPr lang="ru-RU" sz="1600" dirty="0"/>
                  <a:t>БГШ – равномерно-распределенный белый гауссов шум</a:t>
                </a:r>
              </a:p>
              <a:p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𝑣𝑎𝑟</m:t>
                    </m:r>
                  </m:oMath>
                </a14:m>
                <a:r>
                  <a:rPr lang="ru-RU" sz="1600" dirty="0"/>
                  <a:t> – </a:t>
                </a:r>
                <a:r>
                  <a:rPr lang="ru-RU" sz="1600" dirty="0" err="1"/>
                  <a:t>гетеросекдостичный</a:t>
                </a:r>
                <a:r>
                  <a:rPr lang="ru-RU" sz="1600" dirty="0"/>
                  <a:t> шум</a:t>
                </a:r>
              </a:p>
            </p:txBody>
          </p:sp>
        </mc:Choice>
        <mc:Fallback xmlns="">
          <p:sp>
            <p:nvSpPr>
              <p:cNvPr id="6" name="Прямоугольник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927" y="5670173"/>
                <a:ext cx="5608323" cy="830997"/>
              </a:xfrm>
              <a:prstGeom prst="rect">
                <a:avLst/>
              </a:prstGeom>
              <a:blipFill>
                <a:blip r:embed="rId2"/>
                <a:stretch>
                  <a:fillRect l="-543" t="-2206" b="-882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Прямоугольник 6"/>
          <p:cNvSpPr/>
          <p:nvPr/>
        </p:nvSpPr>
        <p:spPr>
          <a:xfrm>
            <a:off x="5633085" y="5670173"/>
            <a:ext cx="636841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/>
              <a:t>Окрашенный шум – шум, имеющий корреляционную зависимость </a:t>
            </a:r>
          </a:p>
          <a:p>
            <a:r>
              <a:rPr lang="en-US" sz="1600" dirty="0"/>
              <a:t>TS-</a:t>
            </a:r>
            <a:r>
              <a:rPr lang="ru-RU" sz="1600" dirty="0" err="1"/>
              <a:t>стац</a:t>
            </a:r>
            <a:r>
              <a:rPr lang="ru-RU" sz="1600" dirty="0"/>
              <a:t>. – стационарность по отношению к тренду (и сезонности)</a:t>
            </a:r>
          </a:p>
          <a:p>
            <a:r>
              <a:rPr lang="en-US" sz="1600" dirty="0"/>
              <a:t>DS-</a:t>
            </a:r>
            <a:r>
              <a:rPr lang="ru-RU" sz="1600" dirty="0" err="1"/>
              <a:t>стац</a:t>
            </a:r>
            <a:r>
              <a:rPr lang="ru-RU" sz="1600" dirty="0"/>
              <a:t>. – стационарность к дифференцированию (</a:t>
            </a:r>
            <a:r>
              <a:rPr lang="en-US" sz="1600" dirty="0"/>
              <a:t>usual, seasonal </a:t>
            </a:r>
            <a:r>
              <a:rPr lang="en-US" sz="1600" dirty="0" err="1"/>
              <a:t>dif</a:t>
            </a:r>
            <a:r>
              <a:rPr lang="en-US" sz="1600" dirty="0"/>
              <a:t>)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3621219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75303" y="365126"/>
            <a:ext cx="11078497" cy="657430"/>
          </a:xfrm>
        </p:spPr>
        <p:txBody>
          <a:bodyPr>
            <a:normAutofit fontScale="90000"/>
          </a:bodyPr>
          <a:lstStyle/>
          <a:p>
            <a:r>
              <a:rPr lang="ru-RU" dirty="0"/>
              <a:t>Вопросы для самоконтроля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86813" y="1111046"/>
            <a:ext cx="11700387" cy="5427406"/>
          </a:xfrm>
        </p:spPr>
        <p:txBody>
          <a:bodyPr>
            <a:normAutofit/>
          </a:bodyPr>
          <a:lstStyle/>
          <a:p>
            <a:r>
              <a:rPr lang="ru-RU" dirty="0"/>
              <a:t>Назовите какие подходы к предсказанию ВР имеют место сегодня. Приведите примеры использования подходов. Какие подходы (и методы) стоит рассматривать как </a:t>
            </a:r>
            <a:r>
              <a:rPr lang="ru-RU" dirty="0" err="1"/>
              <a:t>бейзлайн</a:t>
            </a:r>
            <a:r>
              <a:rPr lang="ru-RU" dirty="0"/>
              <a:t>, какие проверять в последнюю очередь.</a:t>
            </a:r>
          </a:p>
          <a:p>
            <a:r>
              <a:rPr lang="ru-RU" dirty="0"/>
              <a:t>Объясните логику развития соревнований </a:t>
            </a:r>
            <a:r>
              <a:rPr lang="ru-RU" dirty="0" err="1"/>
              <a:t>Макридакиса</a:t>
            </a:r>
            <a:r>
              <a:rPr lang="ru-RU" dirty="0"/>
              <a:t>. Какие выводы можно сделать из этих соревнований. Приведите примеры практического использования и соответствующих задач, которые следует из результатов соревнований.</a:t>
            </a:r>
          </a:p>
          <a:p>
            <a:r>
              <a:rPr lang="ru-RU" dirty="0"/>
              <a:t> </a:t>
            </a:r>
            <a:r>
              <a:rPr lang="ru-RU" dirty="0" smtClean="0"/>
              <a:t>Объясните цели использования наивных предсказаний ВР, почему к </a:t>
            </a:r>
            <a:r>
              <a:rPr lang="ru-RU" smtClean="0"/>
              <a:t>ним отдельный </a:t>
            </a:r>
            <a:r>
              <a:rPr lang="ru-RU" dirty="0" smtClean="0"/>
              <a:t>интерес.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97438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4637</TotalTime>
  <Words>1226</Words>
  <Application>Microsoft Office PowerPoint</Application>
  <PresentationFormat>Широкоэкранный</PresentationFormat>
  <Paragraphs>314</Paragraphs>
  <Slides>12</Slides>
  <Notes>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Cambria Math</vt:lpstr>
      <vt:lpstr>Times New Roman</vt:lpstr>
      <vt:lpstr>Тема Office</vt:lpstr>
      <vt:lpstr>Предсказания ВР . Основные понятия, бенчмарки предсказания ВР, наивные методы</vt:lpstr>
      <vt:lpstr>Методы предсказания в курсе</vt:lpstr>
      <vt:lpstr>Подходы к предсказанию временных рядов</vt:lpstr>
      <vt:lpstr>Статистические методы</vt:lpstr>
      <vt:lpstr>Бенчмарки предсказания временных рядов</vt:lpstr>
      <vt:lpstr>Бенчмарки предсказания временных рядов</vt:lpstr>
      <vt:lpstr>Основные выводы</vt:lpstr>
      <vt:lpstr>Наивное предсказание </vt:lpstr>
      <vt:lpstr>Наивное предсказание </vt:lpstr>
      <vt:lpstr>Статистические методы</vt:lpstr>
      <vt:lpstr>Статистические методы</vt:lpstr>
      <vt:lpstr>Вопросы для самоконтроля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Time Series Analysis</dc:title>
  <dc:creator>Ронкин Михаил Владимирович</dc:creator>
  <cp:lastModifiedBy>Ронкин Михаил Владимирович</cp:lastModifiedBy>
  <cp:revision>247</cp:revision>
  <dcterms:created xsi:type="dcterms:W3CDTF">2021-10-31T10:57:36Z</dcterms:created>
  <dcterms:modified xsi:type="dcterms:W3CDTF">2026-09-25T08:02:56Z</dcterms:modified>
</cp:coreProperties>
</file>