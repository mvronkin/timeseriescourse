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466" r:id="rId3"/>
    <p:sldId id="425" r:id="rId4"/>
    <p:sldId id="467" r:id="rId5"/>
    <p:sldId id="412" r:id="rId6"/>
    <p:sldId id="444" r:id="rId7"/>
    <p:sldId id="468" r:id="rId8"/>
    <p:sldId id="469" r:id="rId9"/>
    <p:sldId id="470" r:id="rId10"/>
    <p:sldId id="471" r:id="rId11"/>
    <p:sldId id="432" r:id="rId12"/>
    <p:sldId id="433" r:id="rId13"/>
    <p:sldId id="4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6"/>
            <p14:sldId id="425"/>
            <p14:sldId id="467"/>
            <p14:sldId id="412"/>
            <p14:sldId id="444"/>
            <p14:sldId id="468"/>
            <p14:sldId id="469"/>
            <p14:sldId id="470"/>
            <p14:sldId id="471"/>
            <p14:sldId id="432"/>
            <p14:sldId id="433"/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6301"/>
  </p:normalViewPr>
  <p:slideViewPr>
    <p:cSldViewPr snapToGrid="0">
      <p:cViewPr varScale="1">
        <p:scale>
          <a:sx n="97" d="100"/>
          <a:sy n="97" d="100"/>
        </p:scale>
        <p:origin x="114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650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https://huggingface.co/spaces/Salesforce/GIFT-Eval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541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487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837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.me/youknowds/10517" TargetMode="External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s.hse.ru/mirror/pubs/share/1017921910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016920702400107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akridakis_Competitions" TargetMode="External"/><Relationship Id="rId5" Type="http://schemas.openxmlformats.org/officeDocument/2006/relationships/hyperlink" Target="https://statmodeling.stat.columbia.edu/wp-content/uploads/2021/10/M5_accuracy_competition.pdf" TargetMode="External"/><Relationship Id="rId4" Type="http://schemas.openxmlformats.org/officeDocument/2006/relationships/hyperlink" Target="https://m-e-gorelli.medium.com/how-i-won-6-000-in-the-m6-forecasting-competition-888df68bf13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356144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</a:t>
            </a:r>
            <a:r>
              <a:rPr lang="ru-RU" sz="8000" b="1" dirty="0" smtClean="0"/>
              <a:t>. Основные понятия, разложение ВР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endParaRPr lang="ru-RU" sz="2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2" descr="https://i0.wp.com/semiengineering.com/wp-content/uploads/Fraunhofer_data-augmentation-industrial-AI-fig1.jpg?resize=605%2C155&amp;ssl=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380" y="1098101"/>
            <a:ext cx="5762625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2007646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https://semiengineering.com/enhancing-datasets-for-artificial-intelligence-through-model-based-methods/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6517342" y="2389473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Бизнес процесс – </a:t>
            </a:r>
            <a:r>
              <a:rPr lang="en-US" sz="1400" dirty="0"/>
              <a:t>Prophet, </a:t>
            </a:r>
            <a:r>
              <a:rPr lang="ru-RU" sz="1400" dirty="0"/>
              <a:t> разложение и процесс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030516" y="2775989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Prophet</a:t>
            </a:r>
            <a:endParaRPr lang="ru-RU" sz="1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090621" y="3102525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Network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37223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 курсе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534499"/>
            <a:ext cx="11563350" cy="1924051"/>
          </a:xfrm>
        </p:spPr>
        <p:txBody>
          <a:bodyPr>
            <a:normAutofit/>
          </a:bodyPr>
          <a:lstStyle/>
          <a:p>
            <a:r>
              <a:rPr lang="ru-RU" sz="2200" dirty="0"/>
              <a:t>Методы всегда выбираются</a:t>
            </a:r>
            <a:r>
              <a:rPr lang="en-US" sz="2200" dirty="0"/>
              <a:t> </a:t>
            </a:r>
            <a:r>
              <a:rPr lang="ru-RU" sz="2200" dirty="0"/>
              <a:t>от простых (слева) к самым сложным.</a:t>
            </a:r>
          </a:p>
          <a:p>
            <a:r>
              <a:rPr lang="ru-RU" sz="2200" dirty="0"/>
              <a:t>Выбор метода зависит от сложности ВР (число и связи компонент, </a:t>
            </a:r>
            <a:r>
              <a:rPr lang="ru-RU" sz="2200" dirty="0" err="1"/>
              <a:t>формализуемость</a:t>
            </a:r>
            <a:r>
              <a:rPr lang="ru-RU" sz="2200" dirty="0"/>
              <a:t> ВР) и требований к предсказанию (горизонт, точность)</a:t>
            </a:r>
          </a:p>
          <a:p>
            <a:r>
              <a:rPr lang="ru-RU" sz="2200" dirty="0"/>
              <a:t>Чем сложнее метод, тем он шире применим, но менее точен/менее устойчив/более склонен к переобучению, а также тем больше данных для обучения необходимо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3799" y="6582975"/>
            <a:ext cx="806055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https://fastercapital.com/content/Time-series-analysis-using-nonparametric-techniques--A-Fresh-Perspective.html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49" y="1001486"/>
            <a:ext cx="8024157" cy="363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B382E1-FD66-F7B2-B0CD-BCDC07F5F9B2}"/>
              </a:ext>
            </a:extLst>
          </p:cNvPr>
          <p:cNvSpPr txBox="1"/>
          <p:nvPr/>
        </p:nvSpPr>
        <p:spPr>
          <a:xfrm>
            <a:off x="73799" y="6305976"/>
            <a:ext cx="88931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hlinkClick r:id="rId3"/>
              </a:rPr>
              <a:t>https://t.me/youknowds/10517</a:t>
            </a:r>
            <a:r>
              <a:rPr lang="ru-RU" sz="1200" dirty="0"/>
              <a:t> -</a:t>
            </a:r>
            <a:r>
              <a:rPr lang="en-US" sz="1200" dirty="0"/>
              <a:t>&gt; </a:t>
            </a:r>
            <a:r>
              <a:rPr lang="en-US" sz="1200" dirty="0">
                <a:hlinkClick r:id="rId4"/>
              </a:rPr>
              <a:t>https://cs.hse.ru/mirror/pubs/share/1017921910.pdf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304020" y="3048000"/>
            <a:ext cx="1082040" cy="2209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foundation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0978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Подходы к предсказанию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29" y="1366839"/>
            <a:ext cx="11542743" cy="340459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4905999"/>
            <a:ext cx="106775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Encoding (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</a:rPr>
              <a:t>кодирование) — это процесс преобразования данных (в том числе категориальных или временных признаков) в числовую форму, удобную для обработки алгоритмами машинного обучения или статистическими методами.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85" y="5773400"/>
            <a:ext cx="5450702" cy="8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75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4038601"/>
            <a:ext cx="5545455" cy="2560320"/>
          </a:xfrm>
        </p:spPr>
        <p:txBody>
          <a:bodyPr>
            <a:normAutofit/>
          </a:bodyPr>
          <a:lstStyle/>
          <a:p>
            <a:r>
              <a:rPr lang="ru-RU" sz="2000" dirty="0"/>
              <a:t>Точность на коротких горизонтах предсказания</a:t>
            </a:r>
          </a:p>
          <a:p>
            <a:r>
              <a:rPr lang="ru-RU" sz="2000" dirty="0"/>
              <a:t>Высокая скорость обучения и переобучения</a:t>
            </a:r>
          </a:p>
          <a:p>
            <a:r>
              <a:rPr lang="ru-RU" sz="2000" dirty="0"/>
              <a:t>Высокая интерпретируемость</a:t>
            </a:r>
            <a:endParaRPr lang="en-US" sz="2000" dirty="0"/>
          </a:p>
          <a:p>
            <a:r>
              <a:rPr lang="ru-RU" sz="2000" dirty="0"/>
              <a:t>Важно соответствие данных модели </a:t>
            </a:r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50" y="747822"/>
            <a:ext cx="7796825" cy="3426877"/>
          </a:xfrm>
          <a:prstGeom prst="rect">
            <a:avLst/>
          </a:prstGeom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5836920" y="4076700"/>
            <a:ext cx="6174105" cy="256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Требуется значительная предобработка данных</a:t>
            </a:r>
          </a:p>
          <a:p>
            <a:r>
              <a:rPr lang="ru-RU" sz="2000" dirty="0"/>
              <a:t>Очень важна настройка модели</a:t>
            </a:r>
          </a:p>
          <a:p>
            <a:r>
              <a:rPr lang="ru-RU" sz="2000" dirty="0"/>
              <a:t>Чувствительность к новизне, выбросам, пропускам и другим нерегулярностям данных</a:t>
            </a:r>
          </a:p>
          <a:p>
            <a:r>
              <a:rPr lang="ru-RU" sz="2000" dirty="0"/>
              <a:t> Частое обновление модели в процессе работы</a:t>
            </a:r>
          </a:p>
          <a:p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68745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228598" y="1401333"/>
          <a:ext cx="11671666" cy="449412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45472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770616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45326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140823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2137955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1990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Цель бенчмарка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Модели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Метрики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Победители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3919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M1 (1982)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1001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финансы, демография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Сравнение классических моделей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 ETS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MAPE, RMSE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ETS, ARIMA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57614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M2 (1993)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29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en-US" sz="1600" dirty="0">
                          <a:effectLst/>
                        </a:rPr>
                        <a:t>, real-time forecasting</a:t>
                      </a:r>
                      <a:r>
                        <a:rPr lang="ru-RU" sz="1600" dirty="0">
                          <a:effectLst/>
                        </a:rPr>
                        <a:t>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Анализ экспертных суждений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Влияние экспертных прогнозов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Judgment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vs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models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RMSE, MAE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Experts</a:t>
                      </a:r>
                      <a:r>
                        <a:rPr lang="ru-RU" sz="1600" dirty="0">
                          <a:effectLst/>
                        </a:rPr>
                        <a:t> ≈ </a:t>
                      </a:r>
                      <a:r>
                        <a:rPr lang="en-US" sz="1600" dirty="0">
                          <a:effectLst/>
                        </a:rPr>
                        <a:t>ETS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Модели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не хуже экспертов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41603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M3 (2000)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3003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универсальная модель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</a:t>
                      </a:r>
                      <a:r>
                        <a:rPr lang="en-US" sz="1700" dirty="0">
                          <a:effectLst/>
                        </a:rPr>
                        <a:t> ETS,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MAPE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ARIMA,</a:t>
                      </a:r>
                      <a:r>
                        <a:rPr lang="en-US" sz="1600" dirty="0">
                          <a:effectLst/>
                        </a:rPr>
                        <a:t> ETS,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972350284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M4 (2018)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10</a:t>
                      </a:r>
                      <a:r>
                        <a:rPr lang="ru-RU" sz="1600" baseline="0" dirty="0">
                          <a:effectLst/>
                        </a:rPr>
                        <a:t> 000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на разных масштабах</a:t>
                      </a:r>
                      <a:r>
                        <a:rPr lang="ru-RU" sz="1600" baseline="0" dirty="0">
                          <a:effectLst/>
                        </a:rPr>
                        <a:t> (год, месяц, и </a:t>
                      </a:r>
                      <a:r>
                        <a:rPr lang="ru-RU" sz="1600" baseline="0" dirty="0" err="1">
                          <a:effectLst/>
                        </a:rPr>
                        <a:t>тд</a:t>
                      </a:r>
                      <a:r>
                        <a:rPr lang="ru-RU" sz="1600" baseline="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Масштабная проверка стратегий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ETS + RNN,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r>
                        <a:rPr lang="ru-RU" sz="1700" dirty="0">
                          <a:effectLst/>
                        </a:rPr>
                        <a:t>,</a:t>
                      </a:r>
                      <a:r>
                        <a:rPr lang="ru-RU" sz="1700" baseline="0" dirty="0">
                          <a:effectLst/>
                        </a:rPr>
                        <a:t> </a:t>
                      </a:r>
                      <a:r>
                        <a:rPr lang="en-US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Prophet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MASE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 + RNN,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Гибрид 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DL+stat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лучшие,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Theta – runner up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166983177"/>
                  </a:ext>
                </a:extLst>
              </a:tr>
              <a:tr h="620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M5 (2020)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 err="1">
                          <a:effectLst/>
                        </a:rPr>
                        <a:t>Hierarchical</a:t>
                      </a:r>
                      <a:r>
                        <a:rPr lang="ru-RU" sz="1600" dirty="0">
                          <a:effectLst/>
                        </a:rPr>
                        <a:t>, </a:t>
                      </a: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r>
                        <a:rPr lang="ru-RU" sz="1600" dirty="0">
                          <a:effectLst/>
                        </a:rPr>
                        <a:t> Продажи </a:t>
                      </a:r>
                      <a:r>
                        <a:rPr lang="ru-RU" sz="1600" dirty="0" err="1">
                          <a:effectLst/>
                        </a:rPr>
                        <a:t>Walmart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на</a:t>
                      </a:r>
                      <a:r>
                        <a:rPr lang="ru-RU" sz="1600" baseline="0" dirty="0">
                          <a:effectLst/>
                        </a:rPr>
                        <a:t> месяц</a:t>
                      </a:r>
                      <a:r>
                        <a:rPr lang="ru-RU" sz="1600" dirty="0">
                          <a:effectLst/>
                        </a:rPr>
                        <a:t>, с категориальными признаками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Сложные огромные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en-US" sz="1600" baseline="0" dirty="0">
                          <a:effectLst/>
                        </a:rPr>
                        <a:t>industrial</a:t>
                      </a:r>
                      <a:r>
                        <a:rPr lang="ru-RU" sz="1600" baseline="0" dirty="0">
                          <a:effectLst/>
                        </a:rPr>
                        <a:t> ВР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lang="ru-RU" sz="17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WRMSSE,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LightGBM</a:t>
                      </a:r>
                      <a:r>
                        <a:rPr lang="en-US" sz="1600" dirty="0">
                          <a:effectLst/>
                        </a:rPr>
                        <a:t>+feature engineering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Продвинутый </a:t>
                      </a:r>
                      <a:r>
                        <a:rPr lang="ru-RU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фичи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-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хуже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M6 (2024)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endParaRPr lang="ru-RU" sz="1600" dirty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Probabilistic</a:t>
                      </a:r>
                      <a:r>
                        <a:rPr lang="ru-RU" sz="1600" dirty="0">
                          <a:effectLst/>
                        </a:rPr>
                        <a:t>, Финансовые данные, 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Вероятностное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Прогнозирование фин.</a:t>
                      </a:r>
                      <a:r>
                        <a:rPr lang="ru-RU" sz="1600" baseline="0" dirty="0">
                          <a:effectLst/>
                        </a:rPr>
                        <a:t> сектор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DeepAR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AutoTS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dirty="0" err="1">
                          <a:effectLst/>
                        </a:rPr>
                        <a:t>TimeGPT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CRPS,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2449646058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Прямоугольник 5"/>
          <p:cNvSpPr/>
          <p:nvPr/>
        </p:nvSpPr>
        <p:spPr>
          <a:xfrm>
            <a:off x="0" y="7051740"/>
            <a:ext cx="1182188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M6: </a:t>
            </a:r>
            <a:r>
              <a:rPr lang="ru-RU" sz="1400" dirty="0">
                <a:hlinkClick r:id="rId3"/>
              </a:rPr>
              <a:t>https://www.sciencedirect.com/science/article/pii/S0169207024001079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https://m-e-gorelli.medium.com/how-i-won-6-000-in-the-m6-forecasting-competition-888df68bf132</a:t>
            </a:r>
            <a:r>
              <a:rPr lang="en-US" sz="1400" dirty="0"/>
              <a:t> </a:t>
            </a:r>
            <a:endParaRPr lang="ru-RU" sz="1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6940274"/>
            <a:ext cx="136114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M5: </a:t>
            </a:r>
            <a:r>
              <a:rPr lang="ru-RU" sz="1200" dirty="0">
                <a:hlinkClick r:id="rId5"/>
              </a:rPr>
              <a:t>https://statmodeling.stat.columbia.edu/wp-content/uploads/2021/10/M5_accuracy_competition.pdf</a:t>
            </a:r>
            <a:r>
              <a:rPr lang="en-US" sz="1200" dirty="0"/>
              <a:t> , https://cienciadedatos.net/documentos/py61-m5-forecasting-competition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0443" y="673479"/>
            <a:ext cx="1178705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Соревнования </a:t>
            </a:r>
            <a:r>
              <a:rPr lang="ru-RU" sz="2000" dirty="0" err="1"/>
              <a:t>Макридакиса</a:t>
            </a:r>
            <a:r>
              <a:rPr lang="ru-RU" sz="2000" dirty="0"/>
              <a:t> (M-</a:t>
            </a:r>
            <a:r>
              <a:rPr lang="ru-RU" sz="2000" dirty="0" err="1"/>
              <a:t>Competitions</a:t>
            </a:r>
            <a:r>
              <a:rPr lang="ru-RU" sz="2000" dirty="0"/>
              <a:t>) - открытые соревнования по оценке и сравнению точности различных методов прогнозирования временных рядов.</a:t>
            </a:r>
            <a:r>
              <a:rPr lang="en-US" sz="2000" dirty="0"/>
              <a:t> </a:t>
            </a:r>
            <a:r>
              <a:rPr lang="en-US" sz="2000" dirty="0">
                <a:hlinkClick r:id="rId6"/>
              </a:rPr>
              <a:t>en.wikipedia.org/wiki/</a:t>
            </a:r>
            <a:r>
              <a:rPr lang="en-US" sz="2000" dirty="0" err="1">
                <a:hlinkClick r:id="rId6"/>
              </a:rPr>
              <a:t>Makridakis_Competitions</a:t>
            </a:r>
            <a:r>
              <a:rPr lang="en-US" sz="2000" dirty="0"/>
              <a:t> </a:t>
            </a:r>
            <a:endParaRPr lang="ru-RU" sz="20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6089" y="6207821"/>
            <a:ext cx="110577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https://www.sciencedirect.com/science/article/pii/S0169207024001079 https://statmodeling.stat.columbia.edu/wp-content/uploads/2021/10/M5_accuracy_competition.pdf  https://cienciadedatos.net/documentos/py61-m5-forecasting-competition https://forecasters.org/resources/time-series-data/</a:t>
            </a:r>
            <a:endParaRPr lang="ru-RU" sz="1200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96089" y="6564676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https://readmedium.com/a-brief-history-of-time-series-models-38455c2cd78d</a:t>
            </a:r>
          </a:p>
        </p:txBody>
      </p:sp>
    </p:spTree>
    <p:extLst>
      <p:ext uri="{BB962C8B-B14F-4D97-AF65-F5344CB8AC3E}">
        <p14:creationId xmlns:p14="http://schemas.microsoft.com/office/powerpoint/2010/main" val="3569845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8645650"/>
              </p:ext>
            </p:extLst>
          </p:nvPr>
        </p:nvGraphicFramePr>
        <p:xfrm>
          <a:off x="300443" y="587484"/>
          <a:ext cx="11521444" cy="58624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72197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92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10362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532709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1859281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2599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Цель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Модели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Метрики</a:t>
                      </a:r>
                      <a:endParaRPr lang="ru-RU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Победители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10270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 трансформатора</a:t>
                      </a:r>
                      <a:r>
                        <a:rPr lang="ru-RU" sz="1800" b="1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ETT (h/m) 2021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Multivariate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(час,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15 минут и </a:t>
                      </a:r>
                      <a:r>
                        <a:rPr lang="ru-RU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тд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), 39 ВР+4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экзоген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парам.  горизонты (</a:t>
                      </a:r>
                      <a:r>
                        <a:rPr lang="ru-RU" sz="1800" dirty="0"/>
                        <a:t>96-720)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Transformer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LSTM,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N-BEATS,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latin typeface="+mn-lt"/>
                        </a:rPr>
                        <a:t>PatchTST</a:t>
                      </a:r>
                      <a:r>
                        <a:rPr lang="en-US" sz="1800" dirty="0">
                          <a:latin typeface="+mn-lt"/>
                        </a:rPr>
                        <a:t>, </a:t>
                      </a:r>
                      <a:r>
                        <a:rPr lang="en-US" sz="1800" dirty="0" err="1">
                          <a:latin typeface="+mn-lt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Трансформер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работает на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long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horzon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82936149"/>
                  </a:ext>
                </a:extLst>
              </a:tr>
              <a:tr h="52174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Electricity</a:t>
                      </a:r>
                      <a:r>
                        <a:rPr lang="en-US" sz="1800" baseline="0" dirty="0"/>
                        <a:t> Load E</a:t>
                      </a:r>
                      <a:r>
                        <a:rPr lang="en-US" sz="1800" dirty="0"/>
                        <a:t>CL</a:t>
                      </a:r>
                      <a:r>
                        <a:rPr lang="ru-RU" sz="1800" dirty="0"/>
                        <a:t> 2012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Multivariate</a:t>
                      </a:r>
                      <a:r>
                        <a:rPr lang="ru-RU" sz="1800" dirty="0"/>
                        <a:t> 370 клиентов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 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набольших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industrial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наборах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4545700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TimeRecipe</a:t>
                      </a:r>
                      <a:r>
                        <a:rPr lang="ru-RU" sz="1800" dirty="0">
                          <a:effectLst/>
                        </a:rPr>
                        <a:t> (2025)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Univariate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Long-horizon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Эксперименты с </a:t>
                      </a:r>
                      <a:r>
                        <a:rPr lang="en-US" sz="1800" dirty="0">
                          <a:effectLst/>
                        </a:rPr>
                        <a:t>DL</a:t>
                      </a:r>
                      <a:r>
                        <a:rPr lang="en-US" sz="1800" baseline="0" dirty="0">
                          <a:effectLst/>
                        </a:rPr>
                        <a:t> </a:t>
                      </a:r>
                      <a:r>
                        <a:rPr lang="ru-RU" sz="1800" baseline="0" dirty="0">
                          <a:effectLst/>
                        </a:rPr>
                        <a:t>моделями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NHITS, </a:t>
                      </a:r>
                      <a:r>
                        <a:rPr lang="ru-RU" sz="1800" dirty="0" err="1">
                          <a:effectLst/>
                        </a:rPr>
                        <a:t>NBEATSx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PatchTST</a:t>
                      </a:r>
                      <a:r>
                        <a:rPr lang="ru-RU" sz="1800" dirty="0">
                          <a:effectLst/>
                        </a:rPr>
                        <a:t>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MAE, MSE, </a:t>
                      </a:r>
                      <a:r>
                        <a:rPr lang="ru-RU" sz="1800" dirty="0" err="1">
                          <a:effectLst/>
                        </a:rPr>
                        <a:t>sMAPE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N-HITS, </a:t>
                      </a:r>
                      <a:r>
                        <a:rPr lang="ru-RU" sz="1700" dirty="0" err="1">
                          <a:effectLst/>
                        </a:rPr>
                        <a:t>PatchTST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ru-RU" sz="1700" dirty="0" err="1">
                          <a:effectLst/>
                        </a:rPr>
                        <a:t>DLinear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Нет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универсального победителя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ProbTS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Probabilistic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en-US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Univariate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Бенчмаркинг</a:t>
                      </a:r>
                      <a:r>
                        <a:rPr lang="ru-RU" sz="1800" dirty="0">
                          <a:effectLst/>
                        </a:rPr>
                        <a:t> вероятностных моделей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DeepAR</a:t>
                      </a:r>
                      <a:r>
                        <a:rPr lang="ru-RU" sz="1800" dirty="0">
                          <a:effectLst/>
                        </a:rPr>
                        <a:t>, TFT, </a:t>
                      </a:r>
                      <a:r>
                        <a:rPr lang="ru-RU" sz="1800" dirty="0" err="1">
                          <a:effectLst/>
                        </a:rPr>
                        <a:t>Prophet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Copula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CRPS, </a:t>
                      </a:r>
                      <a:r>
                        <a:rPr lang="ru-RU" sz="1800" dirty="0" err="1">
                          <a:effectLst/>
                        </a:rPr>
                        <a:t>Quantile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loss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-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DL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умеет делать вероятностное прогнозирование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914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ru-RU" sz="1800" dirty="0">
                          <a:effectLst/>
                        </a:rPr>
                        <a:t> TS </a:t>
                      </a:r>
                      <a:r>
                        <a:rPr lang="ru-RU" sz="1800" dirty="0" err="1">
                          <a:effectLst/>
                        </a:rPr>
                        <a:t>Forecasting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M1-M4, Tourism,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Trafic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Weather,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Electricity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academic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бенчмарк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ARIMA,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Prophet, N-BEATS, D-Linear,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PatchTST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zs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MASE,</a:t>
                      </a:r>
                      <a:r>
                        <a:rPr lang="en-US" sz="1800" baseline="0" dirty="0">
                          <a:effectLst/>
                        </a:rPr>
                        <a:t> MAE, SMAPE,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r>
                        <a:rPr lang="ru-RU" sz="1800" baseline="0" dirty="0">
                          <a:effectLst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gift-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eval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en-US" sz="1800" dirty="0">
                          <a:effectLst/>
                        </a:rPr>
                        <a:t>+3 </a:t>
                      </a:r>
                      <a:r>
                        <a:rPr lang="ru-RU" sz="1800" dirty="0">
                          <a:effectLst/>
                        </a:rPr>
                        <a:t>бенча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Разные задачи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Тест </a:t>
                      </a:r>
                      <a:r>
                        <a:rPr lang="ru-RU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современ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Моделей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 LLM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new RNN, Transformers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MASE,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CRPS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xLSTM</a:t>
                      </a: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Moria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zs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),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Chronos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LLM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на очень больших данных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962123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94486" y="6502660"/>
            <a:ext cx="29142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https://github.com/microsoft/ProbTS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008745" y="6514123"/>
            <a:ext cx="2236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https://forecastingdata.org/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5185965" y="6548681"/>
            <a:ext cx="2887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https://arxiv.org/html/2506.06482v1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190370" y="6550223"/>
            <a:ext cx="31634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https://paperswithcode.com/dataset/ett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94486" y="6337308"/>
            <a:ext cx="4386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https://paperswithcode.com/task/time-series-forecasting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439524" y="6321918"/>
            <a:ext cx="39167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https://github.com/SalesforceAIResearch/gift-eval/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522233" y="6352696"/>
            <a:ext cx="3406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https://huggingface.co/spaces/Salesforce/GIFT-Eval</a:t>
            </a:r>
          </a:p>
        </p:txBody>
      </p:sp>
    </p:spTree>
    <p:extLst>
      <p:ext uri="{BB962C8B-B14F-4D97-AF65-F5344CB8AC3E}">
        <p14:creationId xmlns:p14="http://schemas.microsoft.com/office/powerpoint/2010/main" val="1736517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3509" y="365126"/>
            <a:ext cx="11040291" cy="60152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Основные выводы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3509" y="966652"/>
            <a:ext cx="11040291" cy="5210311"/>
          </a:xfrm>
        </p:spPr>
        <p:txBody>
          <a:bodyPr/>
          <a:lstStyle/>
          <a:p>
            <a:r>
              <a:rPr lang="en-US" dirty="0"/>
              <a:t>ARIMA, ETS</a:t>
            </a:r>
            <a:r>
              <a:rPr lang="en-US"/>
              <a:t>, Prophet  </a:t>
            </a:r>
            <a:r>
              <a:rPr lang="ru-RU" dirty="0" err="1"/>
              <a:t>бейзлайны</a:t>
            </a:r>
            <a:r>
              <a:rPr lang="ru-RU" dirty="0"/>
              <a:t> + </a:t>
            </a:r>
            <a:r>
              <a:rPr lang="en-US" dirty="0"/>
              <a:t>LSTM </a:t>
            </a:r>
            <a:r>
              <a:rPr lang="ru-RU" dirty="0"/>
              <a:t>(для многомерных ВР)</a:t>
            </a:r>
          </a:p>
          <a:p>
            <a:r>
              <a:rPr lang="ru-RU" dirty="0"/>
              <a:t>Часто необходимо вероятностное </a:t>
            </a:r>
            <a:r>
              <a:rPr lang="ru-RU" dirty="0" err="1"/>
              <a:t>прогназирование</a:t>
            </a:r>
            <a:endParaRPr lang="ru-RU" dirty="0"/>
          </a:p>
          <a:p>
            <a:r>
              <a:rPr lang="ru-RU" dirty="0"/>
              <a:t>Для коротких горизонтов и простых ВР стат. Методы работают отлично даже для </a:t>
            </a:r>
            <a:r>
              <a:rPr lang="ru-RU" dirty="0" err="1"/>
              <a:t>многопеременных</a:t>
            </a:r>
            <a:r>
              <a:rPr lang="ru-RU" dirty="0"/>
              <a:t> ВР</a:t>
            </a:r>
          </a:p>
          <a:p>
            <a:r>
              <a:rPr lang="ru-RU" dirty="0"/>
              <a:t>Для более сложных ВР гибридные методы: </a:t>
            </a:r>
            <a:r>
              <a:rPr lang="ru-RU" dirty="0" err="1"/>
              <a:t>стат.методы</a:t>
            </a:r>
            <a:r>
              <a:rPr lang="ru-RU" dirty="0"/>
              <a:t> + </a:t>
            </a:r>
            <a:r>
              <a:rPr lang="en-US" dirty="0"/>
              <a:t>DL </a:t>
            </a:r>
          </a:p>
          <a:p>
            <a:r>
              <a:rPr lang="ru-RU" dirty="0"/>
              <a:t>Для средних горизонтов </a:t>
            </a:r>
            <a:r>
              <a:rPr lang="en-US" dirty="0"/>
              <a:t>DL </a:t>
            </a:r>
            <a:r>
              <a:rPr lang="ru-RU" dirty="0"/>
              <a:t>можно заменить на </a:t>
            </a:r>
            <a:r>
              <a:rPr lang="en-US" dirty="0"/>
              <a:t>ML </a:t>
            </a:r>
            <a:r>
              <a:rPr lang="ru-RU" dirty="0"/>
              <a:t>с инженерией признаков</a:t>
            </a:r>
          </a:p>
          <a:p>
            <a:r>
              <a:rPr lang="ru-RU" dirty="0"/>
              <a:t>Для длинных горизонтов и сложных ВР – </a:t>
            </a:r>
            <a:r>
              <a:rPr lang="en-US" dirty="0"/>
              <a:t>DL </a:t>
            </a:r>
            <a:r>
              <a:rPr lang="ru-RU" dirty="0"/>
              <a:t>(</a:t>
            </a:r>
            <a:r>
              <a:rPr lang="ru-RU" dirty="0" err="1"/>
              <a:t>трансфомеры</a:t>
            </a:r>
            <a:r>
              <a:rPr lang="ru-RU" dirty="0"/>
              <a:t>, современные </a:t>
            </a:r>
            <a:r>
              <a:rPr lang="en-US" dirty="0"/>
              <a:t>RNN)</a:t>
            </a:r>
          </a:p>
          <a:p>
            <a:r>
              <a:rPr lang="ru-RU" dirty="0"/>
              <a:t>Для больших объемов ВР и длинных горизонтов </a:t>
            </a:r>
            <a:r>
              <a:rPr lang="en-US" dirty="0"/>
              <a:t>LLM</a:t>
            </a:r>
            <a:endParaRPr lang="ru-RU" dirty="0"/>
          </a:p>
          <a:p>
            <a:r>
              <a:rPr lang="en-US" dirty="0"/>
              <a:t>SOTA: </a:t>
            </a:r>
            <a:r>
              <a:rPr lang="ru-RU" dirty="0"/>
              <a:t>вероятностное прогнозирование при помощи </a:t>
            </a:r>
            <a:r>
              <a:rPr lang="en-US" dirty="0"/>
              <a:t>LLM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3805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Наивное предсказание – это некоторая база, точностью меньше которого любой другой алгоритм не должен обладать.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Цель наивного предсказания </a:t>
                </a:r>
                <a:r>
                  <a:rPr lang="ru-RU" sz="2400" dirty="0"/>
                  <a:t>- проверка адекватности более сложных моделей и оценка необходимости сложных моделей, а также поиск проблемных мест в процедуре предсказания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Наивные методы работают даже если ряд нарушает теорему дискретизации 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 не требует 	гипотез о 	модели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	</a:t>
                </a:r>
                <a:r>
                  <a:rPr lang="ru-RU" sz="2400" b="1" dirty="0"/>
                  <a:t>Пример</a:t>
                </a:r>
                <a:r>
                  <a:rPr lang="ru-RU" sz="2400" dirty="0"/>
                  <a:t> прогноз продаж новогодних ёлок такой же как и год назад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Простое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h -</a:t>
                </a:r>
                <a:r>
                  <a:rPr lang="en-US" sz="2400" dirty="0"/>
                  <a:t> </a:t>
                </a:r>
                <a:r>
                  <a:rPr lang="ru-RU" sz="2400" dirty="0"/>
                  <a:t>горизонт предсказания (число шагов)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Сезонное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+1)).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</a:t>
                </a:r>
                <a:r>
                  <a:rPr lang="en-US" sz="2400" dirty="0"/>
                  <a:t>m</a:t>
                </a:r>
                <a:r>
                  <a:rPr lang="ru-RU" sz="2400" dirty="0"/>
                  <a:t> -</a:t>
                </a:r>
                <a:r>
                  <a:rPr lang="en-US" sz="2400" dirty="0"/>
                  <a:t> </a:t>
                </a:r>
                <a:r>
                  <a:rPr lang="ru-RU" sz="2400" dirty="0"/>
                  <a:t>период сезонности</a:t>
                </a:r>
                <a:r>
                  <a:rPr lang="en-US" sz="2400" dirty="0"/>
                  <a:t>,  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⌊"/>
                        <m:endChr m:val="⌋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−1)/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ru-RU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Среднее наивное предсказание/скользящее среднее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Также может быть, например среднее сезонное предсказание,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Предсказание с дрейфом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  <a:blipFill>
                <a:blip r:embed="rId3"/>
                <a:stretch>
                  <a:fillRect l="-678" t="-5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55611" y="6410088"/>
            <a:ext cx="11099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http://www.machinelearning.ru/wiki/images/archive/e/ec/20150415134755%21Psad_ts_ets.pdf</a:t>
            </a:r>
          </a:p>
        </p:txBody>
      </p:sp>
    </p:spTree>
    <p:extLst>
      <p:ext uri="{BB962C8B-B14F-4D97-AF65-F5344CB8AC3E}">
        <p14:creationId xmlns:p14="http://schemas.microsoft.com/office/powerpoint/2010/main" val="4050711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p:pic>
        <p:nvPicPr>
          <p:cNvPr id="1026" name="Picture 2" descr="Forecasts of Australian quarterly beer producti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967816"/>
            <a:ext cx="6661150" cy="333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orecasts based on Google's daily closing stock price in 2015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37" y="3660085"/>
            <a:ext cx="5779022" cy="288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4023072" y="6364930"/>
            <a:ext cx="4554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https://otexts.com/fpp3/simple-methods.html</a:t>
            </a:r>
          </a:p>
        </p:txBody>
      </p:sp>
    </p:spTree>
    <p:extLst>
      <p:ext uri="{BB962C8B-B14F-4D97-AF65-F5344CB8AC3E}">
        <p14:creationId xmlns:p14="http://schemas.microsoft.com/office/powerpoint/2010/main" val="2018149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910319"/>
              </p:ext>
            </p:extLst>
          </p:nvPr>
        </p:nvGraphicFramePr>
        <p:xfrm>
          <a:off x="193245" y="1045845"/>
          <a:ext cx="11723176" cy="50349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78555">
                  <a:extLst>
                    <a:ext uri="{9D8B030D-6E8A-4147-A177-3AD203B41FA5}">
                      <a16:colId xmlns:a16="http://schemas.microsoft.com/office/drawing/2014/main" val="498965216"/>
                    </a:ext>
                  </a:extLst>
                </a:gridCol>
                <a:gridCol w="1947137">
                  <a:extLst>
                    <a:ext uri="{9D8B030D-6E8A-4147-A177-3AD203B41FA5}">
                      <a16:colId xmlns:a16="http://schemas.microsoft.com/office/drawing/2014/main" val="1588187195"/>
                    </a:ext>
                  </a:extLst>
                </a:gridCol>
                <a:gridCol w="2208508">
                  <a:extLst>
                    <a:ext uri="{9D8B030D-6E8A-4147-A177-3AD203B41FA5}">
                      <a16:colId xmlns:a16="http://schemas.microsoft.com/office/drawing/2014/main" val="1986663327"/>
                    </a:ext>
                  </a:extLst>
                </a:gridCol>
                <a:gridCol w="2688956">
                  <a:extLst>
                    <a:ext uri="{9D8B030D-6E8A-4147-A177-3AD203B41FA5}">
                      <a16:colId xmlns:a16="http://schemas.microsoft.com/office/drawing/2014/main" val="2758287352"/>
                    </a:ext>
                  </a:extLst>
                </a:gridCol>
                <a:gridCol w="2100020">
                  <a:extLst>
                    <a:ext uri="{9D8B030D-6E8A-4147-A177-3AD203B41FA5}">
                      <a16:colId xmlns:a16="http://schemas.microsoft.com/office/drawing/2014/main" val="3490581788"/>
                    </a:ext>
                  </a:extLst>
                </a:gridCol>
              </a:tblGrid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Критерий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Стат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модели </a:t>
                      </a: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(ARIMA,ETS,</a:t>
                      </a:r>
                      <a:r>
                        <a:rPr lang="en-US" sz="1600" b="1" u="none" strike="noStrike" baseline="0" dirty="0">
                          <a:solidFill>
                            <a:schemeClr val="bg1"/>
                          </a:solidFill>
                          <a:effectLst/>
                        </a:rPr>
                        <a:t> Prophet)</a:t>
                      </a:r>
                      <a:r>
                        <a:rPr lang="ru-RU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ru-RU" sz="16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ML</a:t>
                      </a:r>
                      <a:b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XGBoost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KNN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etc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Глубокие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нейросети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LSTM, Transformer)</a:t>
                      </a:r>
                      <a:endParaRPr lang="en-US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Генеративные модели (LLM, </a:t>
                      </a:r>
                      <a:r>
                        <a:rPr lang="en-US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Dif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2808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Интерпретируемость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высока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Умеренная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Очень 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974802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Объем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Минимум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Средний</a:t>
                      </a: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Большой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Огромные данные,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333269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Точность</a:t>
                      </a: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b="1" u="none" strike="noStrike" baseline="0" dirty="0">
                          <a:effectLst/>
                        </a:rPr>
                        <a:t>При соответствии модели и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Зависит от выбора</a:t>
                      </a:r>
                      <a:r>
                        <a:rPr lang="ru-RU" sz="1900" u="none" strike="noStrike" baseline="0" dirty="0">
                          <a:effectLst/>
                        </a:rPr>
                        <a:t> признаков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Средняя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43403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Скорость обучения/прогноза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быстро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Быстро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Очень 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736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Учет сезонности и тренда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u="none" strike="noStrike" dirty="0">
                          <a:effectLst/>
                        </a:rPr>
                        <a:t>Зависит от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 признаках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149069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экзогенные факторы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Через контекст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7165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Длина горизонта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Короткий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Средний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Средний-длинный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8622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Работа с шумом и выбросами, пропусками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Плохо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 (особенно ансамбли)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2439854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Нестационарность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Учет</a:t>
                      </a:r>
                      <a:r>
                        <a:rPr lang="ru-RU" sz="1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в модели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Возможна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75328"/>
                  </a:ext>
                </a:extLst>
              </a:tr>
              <a:tr h="29071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Многосезонность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Ограничена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471243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Многомерные данные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Ограниченная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631537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b="1" u="none" strike="noStrike" dirty="0">
                          <a:effectLst/>
                        </a:rPr>
                        <a:t>Автоматизация</a:t>
                      </a:r>
                      <a:r>
                        <a:rPr lang="en-US" sz="1800" b="1" u="none" strike="noStrike" dirty="0">
                          <a:effectLst/>
                        </a:rPr>
                        <a:t> </a:t>
                      </a:r>
                      <a:r>
                        <a:rPr lang="ru-RU" sz="1800" b="1" u="none" strike="noStrike" dirty="0">
                          <a:effectLst/>
                        </a:rPr>
                        <a:t>настройки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Средняя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 err="1">
                          <a:effectLst/>
                        </a:rPr>
                        <a:t>prompt</a:t>
                      </a:r>
                      <a:r>
                        <a:rPr lang="ru-RU" sz="1900" u="none" strike="noStrike" dirty="0">
                          <a:effectLst/>
                        </a:rPr>
                        <a:t> </a:t>
                      </a:r>
                      <a:r>
                        <a:rPr lang="ru-RU" sz="1900" u="none" strike="noStrike" dirty="0" err="1">
                          <a:effectLst/>
                        </a:rPr>
                        <a:t>engineering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322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358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91649"/>
            <a:ext cx="11087100" cy="5429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7709626"/>
              </p:ext>
            </p:extLst>
          </p:nvPr>
        </p:nvGraphicFramePr>
        <p:xfrm>
          <a:off x="266700" y="642193"/>
          <a:ext cx="11658600" cy="48645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167652251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330675205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1399852457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1190715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9164255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18274403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899264462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1265331857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1124316682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870456483"/>
                    </a:ext>
                  </a:extLst>
                </a:gridCol>
              </a:tblGrid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Метод</a:t>
                      </a:r>
                      <a:endParaRPr lang="ru-RU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Тренд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Сезонность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Нестационарность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Шумы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Выбросы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Объем Данных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horizon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Настройка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kern="1200" dirty="0">
                          <a:effectLst/>
                        </a:rPr>
                        <a:t>Использование</a:t>
                      </a:r>
                      <a:endParaRPr lang="ru-RU" sz="1800" b="1" u="none" strike="noStrike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511378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 Naïve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Нет,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и простая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endParaRPr lang="ru-RU" sz="18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Нет тренда,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85745195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STL</a:t>
                      </a:r>
                      <a:r>
                        <a:rPr lang="ru-RU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любой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Цикличный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Одна или </a:t>
                      </a:r>
                      <a:r>
                        <a:rPr lang="en-US" sz="1600" u="none" strike="noStrike" dirty="0">
                          <a:effectLst/>
                        </a:rPr>
                        <a:t/>
                      </a:r>
                      <a:br>
                        <a:rPr lang="en-US" sz="1600" u="none" strike="noStrike" dirty="0">
                          <a:effectLst/>
                        </a:rPr>
                      </a:br>
                      <a:r>
                        <a:rPr lang="ru-RU" sz="1600" u="none" strike="noStrike" dirty="0">
                          <a:effectLst/>
                        </a:rPr>
                        <a:t>более (</a:t>
                      </a:r>
                      <a:r>
                        <a:rPr lang="en-US" sz="1600" u="none" strike="noStrike" dirty="0">
                          <a:effectLst/>
                        </a:rPr>
                        <a:t>MSTL)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20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Когда проще</a:t>
                      </a:r>
                      <a:r>
                        <a:rPr lang="ru-RU" sz="1800" u="none" strike="noStrike" baseline="0" dirty="0">
                          <a:effectLst/>
                        </a:rPr>
                        <a:t> убрать компоненты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02020084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ETS</a:t>
                      </a:r>
                      <a:r>
                        <a:rPr lang="ru-RU" sz="1800" u="none" strike="noStrike" dirty="0">
                          <a:effectLst/>
                        </a:rPr>
                        <a:t> </a:t>
                      </a:r>
                      <a:r>
                        <a:rPr lang="en-US" sz="1800" u="none" strike="noStrike" dirty="0">
                          <a:effectLst/>
                        </a:rPr>
                        <a:t>(HW)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или 1-2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l-GR" sz="1800" u="none" strike="noStrike" dirty="0">
                          <a:effectLst/>
                        </a:rPr>
                        <a:t>σ-</a:t>
                      </a:r>
                      <a:r>
                        <a:rPr lang="en-US" sz="1800" u="none" strike="noStrike" dirty="0" err="1">
                          <a:effectLst/>
                        </a:rPr>
                        <a:t>var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3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AutoETS</a:t>
                      </a:r>
                      <a:r>
                        <a:rPr lang="en-US" sz="1800" u="none" strike="noStrike" dirty="0">
                          <a:effectLst/>
                        </a:rPr>
                        <a:t> </a:t>
                      </a:r>
                      <a:r>
                        <a:rPr lang="ru-RU" sz="1800" u="none" strike="noStrike" dirty="0">
                          <a:effectLst/>
                        </a:rPr>
                        <a:t>быстр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</a:t>
                      </a:r>
                      <a:r>
                        <a:rPr lang="ru-RU" sz="1800" u="none" strike="noStrike" baseline="0" dirty="0">
                          <a:effectLst/>
                        </a:rPr>
                        <a:t> 1 сезон, шумы,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23994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TBATS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1-4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Окрашенный шум, </a:t>
                      </a:r>
                      <a:r>
                        <a:rPr lang="el-GR" sz="1600" u="none" strike="noStrike" dirty="0">
                          <a:effectLst/>
                        </a:rPr>
                        <a:t>σ-</a:t>
                      </a:r>
                      <a:r>
                        <a:rPr lang="en-US" sz="1600" u="none" strike="noStrike" dirty="0" err="1">
                          <a:effectLst/>
                        </a:rPr>
                        <a:t>var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Автонастройка</a:t>
                      </a:r>
                      <a:r>
                        <a:rPr lang="ru-RU" sz="1800" u="none" strike="noStrike" dirty="0">
                          <a:effectLst/>
                        </a:rPr>
                        <a:t>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 шумы, несколько сезонностей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285523777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ARIMA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Полином,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в т.ч. Не стационарные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Окрашенный шум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5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AutoARIMA</a:t>
                      </a:r>
                      <a:r>
                        <a:rPr lang="en-US" sz="1800" u="none" strike="noStrike" dirty="0">
                          <a:effectLst/>
                        </a:rPr>
                        <a:t>+</a:t>
                      </a:r>
                      <a:r>
                        <a:rPr lang="ru-RU" sz="1800" u="none" strike="noStrike" dirty="0">
                          <a:effectLst/>
                        </a:rPr>
                        <a:t/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руками - долго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Сложная </a:t>
                      </a:r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</a:p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модель, важно</a:t>
                      </a:r>
                      <a:r>
                        <a:rPr lang="ru-RU" sz="1800" u="none" strike="noStrike" baseline="0" dirty="0">
                          <a:effectLst/>
                        </a:rPr>
                        <a:t> корреляция – по факту </a:t>
                      </a:r>
                      <a:r>
                        <a:rPr lang="en-US" sz="1800" u="none" strike="noStrike" baseline="0" dirty="0">
                          <a:effectLst/>
                        </a:rPr>
                        <a:t>Baseline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760524402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Prophet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Сложный перегибы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+ </a:t>
                      </a:r>
                      <a:r>
                        <a:rPr lang="en-US" sz="1800" u="none" strike="noStrike" dirty="0">
                          <a:effectLst/>
                        </a:rPr>
                        <a:t>holidays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Слабый БГШ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Могут быть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6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100+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выбор точек перегиба,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ост.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Длинный ВР</a:t>
                      </a:r>
                      <a:r>
                        <a:rPr lang="ru-RU" sz="1800" u="none" strike="noStrike" baseline="0" dirty="0">
                          <a:effectLst/>
                        </a:rPr>
                        <a:t> и горизонт, </a:t>
                      </a:r>
                      <a:r>
                        <a:rPr lang="ru-RU" sz="1800" u="none" strike="noStrike" baseline="0" dirty="0" err="1">
                          <a:effectLst/>
                        </a:rPr>
                        <a:t>бизнесс</a:t>
                      </a:r>
                      <a:r>
                        <a:rPr lang="ru-RU" sz="1800" u="none" strike="noStrike" baseline="0" dirty="0">
                          <a:effectLst/>
                        </a:rPr>
                        <a:t>-процессы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4644884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STL</a:t>
                </a:r>
                <a:r>
                  <a:rPr lang="ru-RU" sz="1600" dirty="0"/>
                  <a:t> – разложение сезон-тренд методом локальной регрессии</a:t>
                </a:r>
              </a:p>
              <a:p>
                <a:r>
                  <a:rPr lang="ru-RU" sz="1600" dirty="0"/>
                  <a:t>БГШ – равномерно-распределенный белый гауссов шум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𝑣𝑎𝑟</m:t>
                    </m:r>
                  </m:oMath>
                </a14:m>
                <a:r>
                  <a:rPr lang="ru-RU" sz="1600" dirty="0"/>
                  <a:t> – </a:t>
                </a:r>
                <a:r>
                  <a:rPr lang="ru-RU" sz="1600" dirty="0" err="1"/>
                  <a:t>гетеросекдостичный</a:t>
                </a:r>
                <a:r>
                  <a:rPr lang="ru-RU" sz="1600" dirty="0"/>
                  <a:t> шум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  <a:blipFill>
                <a:blip r:embed="rId2"/>
                <a:stretch>
                  <a:fillRect l="-543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633085" y="5670173"/>
            <a:ext cx="636841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Окрашенный шум – шум, имеющий корреляционную зависимость </a:t>
            </a:r>
          </a:p>
          <a:p>
            <a:r>
              <a:rPr lang="en-US" sz="1600" dirty="0"/>
              <a:t>TS-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по отношению к тренду (и сезонности)</a:t>
            </a:r>
          </a:p>
          <a:p>
            <a:r>
              <a:rPr lang="en-US" sz="1600" dirty="0"/>
              <a:t>DS-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к дифференцированию (</a:t>
            </a:r>
            <a:r>
              <a:rPr lang="en-US" sz="1600" dirty="0"/>
              <a:t>usual, seasonal </a:t>
            </a:r>
            <a:r>
              <a:rPr lang="en-US" sz="1600" dirty="0" err="1"/>
              <a:t>dif</a:t>
            </a:r>
            <a:r>
              <a:rPr lang="en-US" sz="1600" dirty="0"/>
              <a:t>)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621219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303" y="365126"/>
            <a:ext cx="11078497" cy="657430"/>
          </a:xfrm>
        </p:spPr>
        <p:txBody>
          <a:bodyPr>
            <a:normAutofit fontScale="90000"/>
          </a:bodyPr>
          <a:lstStyle/>
          <a:p>
            <a:r>
              <a:rPr lang="ru-RU" dirty="0"/>
              <a:t>Вопросы для самоконтроля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6813" y="1111046"/>
            <a:ext cx="11700387" cy="5427406"/>
          </a:xfrm>
        </p:spPr>
        <p:txBody>
          <a:bodyPr>
            <a:normAutofit/>
          </a:bodyPr>
          <a:lstStyle/>
          <a:p>
            <a:r>
              <a:rPr lang="ru-RU" dirty="0"/>
              <a:t>Назовите какие подходы к предсказанию ВР имеют место сегодня. Приведите примеры использования подходов. Какие подходы (и методы) стоит рассматривать как </a:t>
            </a:r>
            <a:r>
              <a:rPr lang="ru-RU" dirty="0" err="1"/>
              <a:t>бейзлайн</a:t>
            </a:r>
            <a:r>
              <a:rPr lang="ru-RU" dirty="0"/>
              <a:t>, какие проверять в последнюю очередь.</a:t>
            </a:r>
          </a:p>
          <a:p>
            <a:r>
              <a:rPr lang="ru-RU" dirty="0"/>
              <a:t>Объясните логику развития соревнований </a:t>
            </a:r>
            <a:r>
              <a:rPr lang="ru-RU" dirty="0" err="1"/>
              <a:t>Макридакиса</a:t>
            </a:r>
            <a:r>
              <a:rPr lang="ru-RU" dirty="0"/>
              <a:t>. Какие выводы можно сделать из этих соревнований. Приведите примеры практического использования и соответствующих задач, которые следует из результатов соревнований.</a:t>
            </a:r>
          </a:p>
          <a:p>
            <a:r>
              <a:rPr lang="ru-RU" dirty="0"/>
              <a:t> </a:t>
            </a:r>
            <a:r>
              <a:rPr lang="ru-RU" dirty="0" smtClean="0"/>
              <a:t>Объясните цели использования наивных предсказаний ВР, почему к </a:t>
            </a:r>
            <a:r>
              <a:rPr lang="ru-RU" smtClean="0"/>
              <a:t>ним отдельный </a:t>
            </a:r>
            <a:r>
              <a:rPr lang="ru-RU" dirty="0" smtClean="0"/>
              <a:t>интерес.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743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4582</TotalTime>
  <Words>1248</Words>
  <Application>Microsoft Office PowerPoint</Application>
  <PresentationFormat>Широкоэкранный</PresentationFormat>
  <Paragraphs>321</Paragraphs>
  <Slides>13</Slides>
  <Notes>4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Предсказания ВР . Основные понятия, разложение ВР</vt:lpstr>
      <vt:lpstr>Методы предсказания ВР</vt:lpstr>
      <vt:lpstr>Методы предсказания в курсе</vt:lpstr>
      <vt:lpstr>Подходы к предсказанию временных рядов</vt:lpstr>
      <vt:lpstr>Статистические методы</vt:lpstr>
      <vt:lpstr>Бенчмарки предсказания временных рядов</vt:lpstr>
      <vt:lpstr>Бенчмарки предсказания временных рядов</vt:lpstr>
      <vt:lpstr>Основные выводы</vt:lpstr>
      <vt:lpstr>Наивное предсказание </vt:lpstr>
      <vt:lpstr>Наивное предсказание </vt:lpstr>
      <vt:lpstr>Статистические методы</vt:lpstr>
      <vt:lpstr>Статистические методы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241</cp:revision>
  <dcterms:created xsi:type="dcterms:W3CDTF">2021-10-31T10:57:36Z</dcterms:created>
  <dcterms:modified xsi:type="dcterms:W3CDTF">2026-05-04T09:18:17Z</dcterms:modified>
</cp:coreProperties>
</file>