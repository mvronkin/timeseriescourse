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0"/>
  </p:notesMasterIdLst>
  <p:sldIdLst>
    <p:sldId id="256" r:id="rId2"/>
    <p:sldId id="322" r:id="rId3"/>
    <p:sldId id="375" r:id="rId4"/>
    <p:sldId id="382" r:id="rId5"/>
    <p:sldId id="385" r:id="rId6"/>
    <p:sldId id="387" r:id="rId7"/>
    <p:sldId id="366" r:id="rId8"/>
    <p:sldId id="386" r:id="rId9"/>
    <p:sldId id="392" r:id="rId10"/>
    <p:sldId id="389" r:id="rId11"/>
    <p:sldId id="383" r:id="rId12"/>
    <p:sldId id="377" r:id="rId13"/>
    <p:sldId id="391" r:id="rId14"/>
    <p:sldId id="431" r:id="rId15"/>
    <p:sldId id="454" r:id="rId16"/>
    <p:sldId id="455" r:id="rId17"/>
    <p:sldId id="457" r:id="rId18"/>
    <p:sldId id="458" r:id="rId19"/>
    <p:sldId id="459" r:id="rId20"/>
    <p:sldId id="460" r:id="rId21"/>
    <p:sldId id="461" r:id="rId22"/>
    <p:sldId id="453" r:id="rId23"/>
    <p:sldId id="462" r:id="rId24"/>
    <p:sldId id="440" r:id="rId25"/>
    <p:sldId id="451" r:id="rId26"/>
    <p:sldId id="437" r:id="rId27"/>
    <p:sldId id="438" r:id="rId28"/>
    <p:sldId id="439"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814" autoAdjust="0"/>
    <p:restoredTop sz="94795"/>
  </p:normalViewPr>
  <p:slideViewPr>
    <p:cSldViewPr snapToGrid="0">
      <p:cViewPr varScale="1">
        <p:scale>
          <a:sx n="82" d="100"/>
          <a:sy n="82" d="100"/>
        </p:scale>
        <p:origin x="126" y="10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A96C9A-3213-B245-BC64-7E419D14BD9D}" type="datetimeFigureOut">
              <a:rPr lang="ru-RU" smtClean="0"/>
              <a:t>04.05.2026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A1EE30-E435-D745-B23A-FF31C831763F}" type="slidenum">
              <a:rPr lang="ru-RU" smtClean="0"/>
              <a:t>‹#›</a:t>
            </a:fld>
            <a:endParaRPr lang="ru-RU"/>
          </a:p>
        </p:txBody>
      </p:sp>
    </p:spTree>
    <p:extLst>
      <p:ext uri="{BB962C8B-B14F-4D97-AF65-F5344CB8AC3E}">
        <p14:creationId xmlns:p14="http://schemas.microsoft.com/office/powerpoint/2010/main" val="3931195186"/>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5</a:t>
            </a:fld>
            <a:endParaRPr lang="ru-RU"/>
          </a:p>
        </p:txBody>
      </p:sp>
    </p:spTree>
    <p:extLst>
      <p:ext uri="{BB962C8B-B14F-4D97-AF65-F5344CB8AC3E}">
        <p14:creationId xmlns:p14="http://schemas.microsoft.com/office/powerpoint/2010/main" val="449041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17</a:t>
            </a:fld>
            <a:endParaRPr lang="ru-RU"/>
          </a:p>
        </p:txBody>
      </p:sp>
    </p:spTree>
    <p:extLst>
      <p:ext uri="{BB962C8B-B14F-4D97-AF65-F5344CB8AC3E}">
        <p14:creationId xmlns:p14="http://schemas.microsoft.com/office/powerpoint/2010/main" val="27695261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19</a:t>
            </a:fld>
            <a:endParaRPr lang="ru-RU"/>
          </a:p>
        </p:txBody>
      </p:sp>
    </p:spTree>
    <p:extLst>
      <p:ext uri="{BB962C8B-B14F-4D97-AF65-F5344CB8AC3E}">
        <p14:creationId xmlns:p14="http://schemas.microsoft.com/office/powerpoint/2010/main" val="9188070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9DA1EE30-E435-D745-B23A-FF31C831763F}" type="slidenum">
              <a:rPr lang="ru-RU" smtClean="0"/>
              <a:t>21</a:t>
            </a:fld>
            <a:endParaRPr lang="ru-RU"/>
          </a:p>
        </p:txBody>
      </p:sp>
    </p:spTree>
    <p:extLst>
      <p:ext uri="{BB962C8B-B14F-4D97-AF65-F5344CB8AC3E}">
        <p14:creationId xmlns:p14="http://schemas.microsoft.com/office/powerpoint/2010/main" val="285605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23</a:t>
            </a:fld>
            <a:endParaRPr lang="ru-RU"/>
          </a:p>
        </p:txBody>
      </p:sp>
    </p:spTree>
    <p:extLst>
      <p:ext uri="{BB962C8B-B14F-4D97-AF65-F5344CB8AC3E}">
        <p14:creationId xmlns:p14="http://schemas.microsoft.com/office/powerpoint/2010/main" val="795486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24</a:t>
            </a:fld>
            <a:endParaRPr lang="ru-RU"/>
          </a:p>
        </p:txBody>
      </p:sp>
    </p:spTree>
    <p:extLst>
      <p:ext uri="{BB962C8B-B14F-4D97-AF65-F5344CB8AC3E}">
        <p14:creationId xmlns:p14="http://schemas.microsoft.com/office/powerpoint/2010/main" val="16274879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9DA1EE30-E435-D745-B23A-FF31C831763F}" type="slidenum">
              <a:rPr lang="ru-RU" smtClean="0"/>
              <a:t>25</a:t>
            </a:fld>
            <a:endParaRPr lang="ru-RU"/>
          </a:p>
        </p:txBody>
      </p:sp>
    </p:spTree>
    <p:extLst>
      <p:ext uri="{BB962C8B-B14F-4D97-AF65-F5344CB8AC3E}">
        <p14:creationId xmlns:p14="http://schemas.microsoft.com/office/powerpoint/2010/main" val="12663573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BEE214BE-636D-8A45-BCA6-8B7ED77AA124}" type="datetime1">
              <a:rPr lang="ru-RU" smtClean="0"/>
              <a:t>04.05.2026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43012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233A339-F8AE-5C45-BEAE-07EF9DC78B60}" type="datetime1">
              <a:rPr lang="ru-RU" smtClean="0"/>
              <a:t>04.05.2026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083126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7586FDE4-97E0-CE4A-988C-F30B221290A7}" type="datetime1">
              <a:rPr lang="ru-RU" smtClean="0"/>
              <a:t>04.05.2026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991783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C36ECE8B-8DEC-154E-9F03-047C8DDA20DC}" type="datetime1">
              <a:rPr lang="ru-RU" smtClean="0"/>
              <a:t>04.05.2026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990295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440816D5-BDB8-B34B-8ACA-ECBDD12E7321}" type="datetime1">
              <a:rPr lang="ru-RU" smtClean="0"/>
              <a:t>04.05.2026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081999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8A8C589A-5627-764C-AF96-C1E2F9A00A4D}" type="datetime1">
              <a:rPr lang="ru-RU" smtClean="0"/>
              <a:t>04.05.2026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832977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3EE0D0-1696-6D4F-B917-4AFB24A74E8B}" type="datetime1">
              <a:rPr lang="ru-RU" smtClean="0"/>
              <a:t>04.05.2026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8641112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13C8A91E-B09B-2240-9AA3-B1D4BCC6296E}" type="datetime1">
              <a:rPr lang="ru-RU" smtClean="0"/>
              <a:t>04.05.2026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1277922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3BE9760E-DA8D-6747-B31E-62858C8727B8}" type="datetime1">
              <a:rPr lang="ru-RU" smtClean="0"/>
              <a:t>04.05.2026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295940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5855274A-4ED4-0146-A3E9-88EF200B5196}" type="datetime1">
              <a:rPr lang="ru-RU" smtClean="0"/>
              <a:t>04.05.2026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3166516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8A78DFF1-9FDC-144B-973E-B4B4609709DF}" type="datetime1">
              <a:rPr lang="ru-RU" smtClean="0"/>
              <a:t>04.05.2026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C3B737-A709-4ABC-AFE0-A6B067850C48}" type="slidenum">
              <a:rPr lang="en-US" smtClean="0"/>
              <a:t>‹#›</a:t>
            </a:fld>
            <a:endParaRPr lang="en-US"/>
          </a:p>
        </p:txBody>
      </p:sp>
    </p:spTree>
    <p:extLst>
      <p:ext uri="{BB962C8B-B14F-4D97-AF65-F5344CB8AC3E}">
        <p14:creationId xmlns:p14="http://schemas.microsoft.com/office/powerpoint/2010/main" val="949324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1305DF-F750-CC43-967D-51A20925EE94}" type="datetime1">
              <a:rPr lang="ru-RU" smtClean="0"/>
              <a:t>04.05.2026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C3B737-A709-4ABC-AFE0-A6B067850C48}" type="slidenum">
              <a:rPr lang="en-US" smtClean="0"/>
              <a:t>‹#›</a:t>
            </a:fld>
            <a:endParaRPr lang="en-US"/>
          </a:p>
        </p:txBody>
      </p:sp>
    </p:spTree>
    <p:extLst>
      <p:ext uri="{BB962C8B-B14F-4D97-AF65-F5344CB8AC3E}">
        <p14:creationId xmlns:p14="http://schemas.microsoft.com/office/powerpoint/2010/main" val="10115638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0.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8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8.gif"/></Relationships>
</file>

<file path=ppt/slides/_rels/slide8.xml.rels><?xml version="1.0" encoding="UTF-8" standalone="yes"?>
<Relationships xmlns="http://schemas.openxmlformats.org/package/2006/relationships"><Relationship Id="rId3" Type="http://schemas.openxmlformats.org/officeDocument/2006/relationships/hyperlink" Target="https://people.duke.edu/~rnau/411rand.htrandom" TargetMode="External"/><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280.png"/></Relationships>
</file>

<file path=ppt/slides/_rels/slide9.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3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emf"/><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31.png"/><Relationship Id="rId1" Type="http://schemas.openxmlformats.org/officeDocument/2006/relationships/slideLayout" Target="../slideLayouts/slideLayout2.xml"/><Relationship Id="rId4" Type="http://schemas.openxmlformats.org/officeDocument/2006/relationships/image" Target="../media/image341.png"/></Relationships>
</file>

<file path=ppt/slides/_rels/slide1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2.emf"/><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E3A209-E86B-43CF-A4CE-1917FCF9C1BD}"/>
              </a:ext>
            </a:extLst>
          </p:cNvPr>
          <p:cNvSpPr>
            <a:spLocks noGrp="1"/>
          </p:cNvSpPr>
          <p:nvPr>
            <p:ph type="ctrTitle"/>
          </p:nvPr>
        </p:nvSpPr>
        <p:spPr>
          <a:xfrm>
            <a:off x="743483" y="934358"/>
            <a:ext cx="10932920" cy="4871531"/>
          </a:xfrm>
        </p:spPr>
        <p:txBody>
          <a:bodyPr>
            <a:normAutofit/>
          </a:bodyPr>
          <a:lstStyle/>
          <a:p>
            <a:r>
              <a:rPr lang="ru-RU" sz="8000" dirty="0" smtClean="0"/>
              <a:t>Модели ВР </a:t>
            </a:r>
            <a:br>
              <a:rPr lang="ru-RU" sz="8000" dirty="0" smtClean="0"/>
            </a:br>
            <a:endParaRPr lang="en-US" sz="8000" dirty="0"/>
          </a:p>
        </p:txBody>
      </p:sp>
      <p:sp>
        <p:nvSpPr>
          <p:cNvPr id="3" name="Номер слайда 2">
            <a:extLst>
              <a:ext uri="{FF2B5EF4-FFF2-40B4-BE49-F238E27FC236}">
                <a16:creationId xmlns:a16="http://schemas.microsoft.com/office/drawing/2014/main" id="{B46F77CB-BE50-557D-1B14-E047A35B21B2}"/>
              </a:ext>
            </a:extLst>
          </p:cNvPr>
          <p:cNvSpPr>
            <a:spLocks noGrp="1"/>
          </p:cNvSpPr>
          <p:nvPr>
            <p:ph type="sldNum" sz="quarter" idx="12"/>
          </p:nvPr>
        </p:nvSpPr>
        <p:spPr/>
        <p:txBody>
          <a:bodyPr/>
          <a:lstStyle/>
          <a:p>
            <a:fld id="{45C3B737-A709-4ABC-AFE0-A6B067850C48}" type="slidenum">
              <a:rPr lang="en-US" smtClean="0"/>
              <a:t>1</a:t>
            </a:fld>
            <a:endParaRPr lang="en-US"/>
          </a:p>
        </p:txBody>
      </p:sp>
    </p:spTree>
    <p:extLst>
      <p:ext uri="{BB962C8B-B14F-4D97-AF65-F5344CB8AC3E}">
        <p14:creationId xmlns:p14="http://schemas.microsoft.com/office/powerpoint/2010/main" val="26431011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8969829" cy="880808"/>
          </a:xfrm>
        </p:spPr>
        <p:txBody>
          <a:bodyPr>
            <a:normAutofit/>
          </a:bodyPr>
          <a:lstStyle/>
          <a:p>
            <a:pPr algn="ctr"/>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97971" y="914401"/>
                <a:ext cx="11386458" cy="5807074"/>
              </a:xfrm>
            </p:spPr>
            <p:txBody>
              <a:bodyPr>
                <a:normAutofit/>
              </a:bodyPr>
              <a:lstStyle/>
              <a:p>
                <a:r>
                  <a:rPr lang="ru-RU" sz="2400" b="1" dirty="0"/>
                  <a:t>Модель временного ряда</a:t>
                </a:r>
                <a:r>
                  <a:rPr lang="ru-RU" sz="2400" dirty="0"/>
                  <a:t> </a:t>
                </a:r>
                <a14:m>
                  <m:oMath xmlns:m="http://schemas.openxmlformats.org/officeDocument/2006/math">
                    <m:r>
                      <a:rPr lang="en-US" sz="2400" i="1">
                        <a:latin typeface="Cambria Math" panose="02040503050406030204" pitchFamily="18" charset="0"/>
                      </a:rPr>
                      <m:t>𝑦</m:t>
                    </m:r>
                  </m:oMath>
                </a14:m>
                <a:r>
                  <a:rPr lang="en-US" sz="2400" dirty="0"/>
                  <a:t> </a:t>
                </a:r>
                <a:r>
                  <a:rPr lang="ru-RU" sz="2400" dirty="0"/>
                  <a:t>- это формализованная зависимость совместного распределения вероятностей значений модели </a:t>
                </a:r>
                <a14:m>
                  <m:oMath xmlns:m="http://schemas.openxmlformats.org/officeDocument/2006/math">
                    <m:r>
                      <a:rPr lang="en-US" sz="2400" i="1">
                        <a:latin typeface="Cambria Math" panose="02040503050406030204" pitchFamily="18" charset="0"/>
                      </a:rPr>
                      <m:t>𝑦</m:t>
                    </m:r>
                  </m:oMath>
                </a14:m>
                <a:r>
                  <a:rPr lang="ru-RU" sz="2400" dirty="0"/>
                  <a:t> по временным шагам </a:t>
                </a:r>
                <a14:m>
                  <m:oMath xmlns:m="http://schemas.openxmlformats.org/officeDocument/2006/math">
                    <m:r>
                      <a:rPr lang="en-US" sz="2400" i="1">
                        <a:latin typeface="Cambria Math" panose="02040503050406030204" pitchFamily="18" charset="0"/>
                      </a:rPr>
                      <m:t>𝑛</m:t>
                    </m:r>
                  </m:oMath>
                </a14:m>
                <a:r>
                  <a:rPr lang="ru-RU" sz="2400" dirty="0"/>
                  <a:t>. </a:t>
                </a:r>
              </a:p>
              <a:p>
                <a:endParaRPr lang="ru-RU"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97971" y="914401"/>
                <a:ext cx="11386458" cy="5807074"/>
              </a:xfrm>
              <a:blipFill>
                <a:blip r:embed="rId2"/>
                <a:stretch>
                  <a:fillRect l="-696" t="-1469"/>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48B3CEE1-A962-8910-6AEB-486FD3DA0285}"/>
              </a:ext>
            </a:extLst>
          </p:cNvPr>
          <p:cNvSpPr>
            <a:spLocks noGrp="1"/>
          </p:cNvSpPr>
          <p:nvPr>
            <p:ph type="sldNum" sz="quarter" idx="12"/>
          </p:nvPr>
        </p:nvSpPr>
        <p:spPr/>
        <p:txBody>
          <a:bodyPr/>
          <a:lstStyle/>
          <a:p>
            <a:fld id="{45C3B737-A709-4ABC-AFE0-A6B067850C48}" type="slidenum">
              <a:rPr lang="en-US" smtClean="0"/>
              <a:t>2</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pic>
        <p:nvPicPr>
          <p:cNvPr id="7170" name="Picture 2" descr="Seasonal decomposition of your time-series — pmdarima 2.0.4 documentation">
            <a:extLst>
              <a:ext uri="{FF2B5EF4-FFF2-40B4-BE49-F238E27FC236}">
                <a16:creationId xmlns:a16="http://schemas.microsoft.com/office/drawing/2014/main" id="{DE7A8E46-9656-E0B6-D253-50B8EF0313C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919"/>
          <a:stretch>
            <a:fillRect/>
          </a:stretch>
        </p:blipFill>
        <p:spPr bwMode="auto">
          <a:xfrm>
            <a:off x="166006" y="1741290"/>
            <a:ext cx="5007429" cy="4610853"/>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The electrical equipment orders (top) and its three additive components.">
            <a:extLst>
              <a:ext uri="{FF2B5EF4-FFF2-40B4-BE49-F238E27FC236}">
                <a16:creationId xmlns:a16="http://schemas.microsoft.com/office/drawing/2014/main" id="{9B2C5190-5F42-9F10-9257-E3E62F8754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1034" y="1819183"/>
            <a:ext cx="4802188" cy="432016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2DF9B92-7B2B-4FC3-AEBE-974BAE8F6907}"/>
              </a:ext>
            </a:extLst>
          </p:cNvPr>
          <p:cNvSpPr txBox="1"/>
          <p:nvPr/>
        </p:nvSpPr>
        <p:spPr>
          <a:xfrm>
            <a:off x="5475514" y="6151211"/>
            <a:ext cx="4955358" cy="369332"/>
          </a:xfrm>
          <a:prstGeom prst="rect">
            <a:avLst/>
          </a:prstGeom>
          <a:noFill/>
        </p:spPr>
        <p:txBody>
          <a:bodyPr wrap="square">
            <a:spAutoFit/>
          </a:bodyPr>
          <a:lstStyle/>
          <a:p>
            <a:r>
              <a:rPr lang="ru-RU" dirty="0" err="1"/>
              <a:t>https</a:t>
            </a:r>
            <a:r>
              <a:rPr lang="ru-RU" dirty="0"/>
              <a:t>://</a:t>
            </a:r>
            <a:r>
              <a:rPr lang="ru-RU" dirty="0" err="1"/>
              <a:t>otexts.com</a:t>
            </a:r>
            <a:r>
              <a:rPr lang="ru-RU" dirty="0"/>
              <a:t>/fpp2/</a:t>
            </a:r>
            <a:r>
              <a:rPr lang="ru-RU" dirty="0" err="1"/>
              <a:t>components.html</a:t>
            </a:r>
            <a:endParaRPr lang="ru-RU" dirty="0"/>
          </a:p>
        </p:txBody>
      </p:sp>
      <p:sp>
        <p:nvSpPr>
          <p:cNvPr id="12" name="TextBox 11">
            <a:extLst>
              <a:ext uri="{FF2B5EF4-FFF2-40B4-BE49-F238E27FC236}">
                <a16:creationId xmlns:a16="http://schemas.microsoft.com/office/drawing/2014/main" id="{5084A1D0-4555-97F9-61AA-E2380116A9C4}"/>
              </a:ext>
            </a:extLst>
          </p:cNvPr>
          <p:cNvSpPr txBox="1"/>
          <p:nvPr/>
        </p:nvSpPr>
        <p:spPr>
          <a:xfrm>
            <a:off x="5105400" y="6506179"/>
            <a:ext cx="6858000" cy="369332"/>
          </a:xfrm>
          <a:prstGeom prst="rect">
            <a:avLst/>
          </a:prstGeom>
          <a:noFill/>
        </p:spPr>
        <p:txBody>
          <a:bodyPr wrap="square">
            <a:spAutoFit/>
          </a:bodyPr>
          <a:lstStyle/>
          <a:p>
            <a:r>
              <a:rPr lang="ru-RU" dirty="0" err="1"/>
              <a:t>https</a:t>
            </a:r>
            <a:r>
              <a:rPr lang="ru-RU" dirty="0"/>
              <a:t>://</a:t>
            </a:r>
            <a:r>
              <a:rPr lang="ru-RU" dirty="0" err="1"/>
              <a:t>sthalles.github.io</a:t>
            </a:r>
            <a:r>
              <a:rPr lang="ru-RU" dirty="0"/>
              <a:t>/</a:t>
            </a:r>
            <a:r>
              <a:rPr lang="ru-RU" dirty="0" err="1"/>
              <a:t>a-visual-guide-to-time-series-decomposition</a:t>
            </a:r>
            <a:r>
              <a:rPr lang="ru-RU" dirty="0"/>
              <a:t>/</a:t>
            </a:r>
          </a:p>
        </p:txBody>
      </p:sp>
      <p:sp>
        <p:nvSpPr>
          <p:cNvPr id="14" name="TextBox 13">
            <a:extLst>
              <a:ext uri="{FF2B5EF4-FFF2-40B4-BE49-F238E27FC236}">
                <a16:creationId xmlns:a16="http://schemas.microsoft.com/office/drawing/2014/main" id="{4ABAA9D3-5D43-30C2-7329-C9933D59EDCE}"/>
              </a:ext>
            </a:extLst>
          </p:cNvPr>
          <p:cNvSpPr txBox="1"/>
          <p:nvPr/>
        </p:nvSpPr>
        <p:spPr>
          <a:xfrm>
            <a:off x="179613" y="6172251"/>
            <a:ext cx="4691743" cy="646331"/>
          </a:xfrm>
          <a:prstGeom prst="rect">
            <a:avLst/>
          </a:prstGeom>
          <a:noFill/>
        </p:spPr>
        <p:txBody>
          <a:bodyPr wrap="square">
            <a:spAutoFit/>
          </a:bodyPr>
          <a:lstStyle/>
          <a:p>
            <a:r>
              <a:rPr lang="ru-RU" sz="1200" dirty="0" err="1"/>
              <a:t>https</a:t>
            </a:r>
            <a:r>
              <a:rPr lang="ru-RU" sz="1200" dirty="0"/>
              <a:t>://</a:t>
            </a:r>
            <a:r>
              <a:rPr lang="ru-RU" sz="1200" dirty="0" err="1"/>
              <a:t>alkaline-ml.com</a:t>
            </a:r>
            <a:r>
              <a:rPr lang="ru-RU" sz="1200" dirty="0"/>
              <a:t>/</a:t>
            </a:r>
            <a:r>
              <a:rPr lang="ru-RU" sz="1200" dirty="0" err="1"/>
              <a:t>pmdarima</a:t>
            </a:r>
            <a:r>
              <a:rPr lang="ru-RU" sz="1200" dirty="0"/>
              <a:t>/</a:t>
            </a:r>
            <a:r>
              <a:rPr lang="ru-RU" sz="1200" dirty="0" err="1"/>
              <a:t>auto_examples</a:t>
            </a:r>
            <a:r>
              <a:rPr lang="ru-RU" sz="1200" dirty="0"/>
              <a:t>/</a:t>
            </a:r>
            <a:r>
              <a:rPr lang="ru-RU" sz="1200" dirty="0" err="1"/>
              <a:t>arima</a:t>
            </a:r>
            <a:r>
              <a:rPr lang="ru-RU" sz="1200" dirty="0"/>
              <a:t>/</a:t>
            </a:r>
            <a:r>
              <a:rPr lang="ru-RU" sz="1200" dirty="0" err="1"/>
              <a:t>example_seasonal_decomposition.html</a:t>
            </a:r>
            <a:endParaRPr lang="ru-RU" sz="1200" dirty="0"/>
          </a:p>
        </p:txBody>
      </p:sp>
    </p:spTree>
    <p:extLst>
      <p:ext uri="{BB962C8B-B14F-4D97-AF65-F5344CB8AC3E}">
        <p14:creationId xmlns:p14="http://schemas.microsoft.com/office/powerpoint/2010/main" val="396389524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795C2-7E07-1469-9870-10731979E89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F3757B-A658-84DA-AF87-09AF2C0BB7EE}"/>
              </a:ext>
            </a:extLst>
          </p:cNvPr>
          <p:cNvSpPr>
            <a:spLocks noGrp="1"/>
          </p:cNvSpPr>
          <p:nvPr>
            <p:ph type="title"/>
          </p:nvPr>
        </p:nvSpPr>
        <p:spPr>
          <a:xfrm>
            <a:off x="1576070" y="197786"/>
            <a:ext cx="8969829" cy="880808"/>
          </a:xfrm>
        </p:spPr>
        <p:txBody>
          <a:bodyPr>
            <a:normAutofit/>
          </a:bodyPr>
          <a:lstStyle/>
          <a:p>
            <a:pPr algn="ctr"/>
            <a:r>
              <a:rPr lang="ru-RU" b="1" dirty="0"/>
              <a:t>Модели временных рядов</a:t>
            </a:r>
            <a:endParaRPr lang="en-US" b="1" dirty="0"/>
          </a:p>
        </p:txBody>
      </p:sp>
      <p:sp>
        <p:nvSpPr>
          <p:cNvPr id="3" name="Объект 2">
            <a:extLst>
              <a:ext uri="{FF2B5EF4-FFF2-40B4-BE49-F238E27FC236}">
                <a16:creationId xmlns:a16="http://schemas.microsoft.com/office/drawing/2014/main" id="{58BAE69D-36D8-D04E-E425-5890F7443BA6}"/>
              </a:ext>
            </a:extLst>
          </p:cNvPr>
          <p:cNvSpPr>
            <a:spLocks noGrp="1"/>
          </p:cNvSpPr>
          <p:nvPr>
            <p:ph idx="1"/>
          </p:nvPr>
        </p:nvSpPr>
        <p:spPr>
          <a:xfrm>
            <a:off x="213988" y="2314354"/>
            <a:ext cx="4072008" cy="1146856"/>
          </a:xfrm>
        </p:spPr>
        <p:txBody>
          <a:bodyPr>
            <a:normAutofit/>
          </a:bodyPr>
          <a:lstStyle/>
          <a:p>
            <a:pPr marL="0" lvl="1" indent="0">
              <a:buNone/>
            </a:pPr>
            <a:r>
              <a:rPr lang="ru-RU" sz="2100" b="1" dirty="0"/>
              <a:t>Тренд</a:t>
            </a:r>
            <a:r>
              <a:rPr lang="ru-RU" sz="2100" dirty="0"/>
              <a:t> - медленно меняющаяся часть зависимости временного ряда.</a:t>
            </a:r>
          </a:p>
        </p:txBody>
      </p:sp>
      <p:sp>
        <p:nvSpPr>
          <p:cNvPr id="7" name="Номер слайда 6">
            <a:extLst>
              <a:ext uri="{FF2B5EF4-FFF2-40B4-BE49-F238E27FC236}">
                <a16:creationId xmlns:a16="http://schemas.microsoft.com/office/drawing/2014/main" id="{646DBD4B-2A5F-824E-0852-1F4588667EC4}"/>
              </a:ext>
            </a:extLst>
          </p:cNvPr>
          <p:cNvSpPr>
            <a:spLocks noGrp="1"/>
          </p:cNvSpPr>
          <p:nvPr>
            <p:ph type="sldNum" sz="quarter" idx="12"/>
          </p:nvPr>
        </p:nvSpPr>
        <p:spPr/>
        <p:txBody>
          <a:bodyPr/>
          <a:lstStyle/>
          <a:p>
            <a:fld id="{45C3B737-A709-4ABC-AFE0-A6B067850C48}" type="slidenum">
              <a:rPr lang="en-US" smtClean="0"/>
              <a:t>3</a:t>
            </a:fld>
            <a:endParaRPr lang="en-US"/>
          </a:p>
        </p:txBody>
      </p:sp>
      <p:sp>
        <p:nvSpPr>
          <p:cNvPr id="5" name="Rectangle 231">
            <a:extLst>
              <a:ext uri="{FF2B5EF4-FFF2-40B4-BE49-F238E27FC236}">
                <a16:creationId xmlns:a16="http://schemas.microsoft.com/office/drawing/2014/main" id="{F7CC2846-5CEF-F298-0972-0D87F72FD6C3}"/>
              </a:ext>
            </a:extLst>
          </p:cNvPr>
          <p:cNvSpPr>
            <a:spLocks noChangeArrowheads="1"/>
          </p:cNvSpPr>
          <p:nvPr/>
        </p:nvSpPr>
        <p:spPr bwMode="auto">
          <a:xfrm>
            <a:off x="6186806" y="4559595"/>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89E2F553-27F1-A9E4-3E80-186B4C2D8BE8}"/>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A0299A3-CABC-57D4-2339-DB1A2A6F093D}"/>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AutoShape 4">
            <a:extLst>
              <a:ext uri="{FF2B5EF4-FFF2-40B4-BE49-F238E27FC236}">
                <a16:creationId xmlns:a16="http://schemas.microsoft.com/office/drawing/2014/main" id="{FBF2AC38-DF2F-3DB7-8C04-C58B060D8E30}"/>
              </a:ext>
            </a:extLst>
          </p:cNvPr>
          <p:cNvSpPr>
            <a:spLocks noChangeAspect="1" noChangeArrowheads="1"/>
          </p:cNvSpPr>
          <p:nvPr/>
        </p:nvSpPr>
        <p:spPr bwMode="auto">
          <a:xfrm>
            <a:off x="5962650" y="33588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AutoShape 8">
            <a:extLst>
              <a:ext uri="{FF2B5EF4-FFF2-40B4-BE49-F238E27FC236}">
                <a16:creationId xmlns:a16="http://schemas.microsoft.com/office/drawing/2014/main" id="{4B08EDCE-CC97-1B6E-4FFB-709894110875}"/>
              </a:ext>
            </a:extLst>
          </p:cNvPr>
          <p:cNvSpPr>
            <a:spLocks noChangeAspect="1" noChangeArrowheads="1"/>
          </p:cNvSpPr>
          <p:nvPr/>
        </p:nvSpPr>
        <p:spPr bwMode="auto">
          <a:xfrm>
            <a:off x="6115050" y="351120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dirty="0"/>
          </a:p>
        </p:txBody>
      </p:sp>
      <p:pic>
        <p:nvPicPr>
          <p:cNvPr id="8202"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4836"/>
          <a:stretch/>
        </p:blipFill>
        <p:spPr bwMode="auto">
          <a:xfrm>
            <a:off x="1990725" y="899529"/>
            <a:ext cx="9001125" cy="128818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CF6951B-93B4-FB47-BBAE-A842EC94BB3C}"/>
              </a:ext>
            </a:extLst>
          </p:cNvPr>
          <p:cNvSpPr txBox="1"/>
          <p:nvPr/>
        </p:nvSpPr>
        <p:spPr>
          <a:xfrm>
            <a:off x="129148" y="5153917"/>
            <a:ext cx="4235857" cy="1384995"/>
          </a:xfrm>
          <a:prstGeom prst="rect">
            <a:avLst/>
          </a:prstGeom>
          <a:noFill/>
        </p:spPr>
        <p:txBody>
          <a:bodyPr wrap="square">
            <a:spAutoFit/>
          </a:bodyPr>
          <a:lstStyle/>
          <a:p>
            <a:pPr marL="87313" lvl="1"/>
            <a:r>
              <a:rPr lang="ru-RU" sz="2100" b="1" dirty="0"/>
              <a:t>Остаточная часть -  </a:t>
            </a:r>
            <a:r>
              <a:rPr lang="ru-RU" sz="2100" dirty="0"/>
              <a:t>неформализованная моделью часть ВР. В </a:t>
            </a:r>
            <a:r>
              <a:rPr lang="ru-RU" sz="2100" dirty="0" err="1"/>
              <a:t>иделае</a:t>
            </a:r>
            <a:r>
              <a:rPr lang="ru-RU" sz="2100" dirty="0"/>
              <a:t> случайная и неинформативная (шум). </a:t>
            </a:r>
          </a:p>
        </p:txBody>
      </p:sp>
      <p:sp>
        <p:nvSpPr>
          <p:cNvPr id="13" name="Объект 2">
            <a:extLst>
              <a:ext uri="{FF2B5EF4-FFF2-40B4-BE49-F238E27FC236}">
                <a16:creationId xmlns:a16="http://schemas.microsoft.com/office/drawing/2014/main" id="{58BAE69D-36D8-D04E-E425-5890F7443BA6}"/>
              </a:ext>
            </a:extLst>
          </p:cNvPr>
          <p:cNvSpPr txBox="1">
            <a:spLocks/>
          </p:cNvSpPr>
          <p:nvPr/>
        </p:nvSpPr>
        <p:spPr>
          <a:xfrm>
            <a:off x="170254" y="3188322"/>
            <a:ext cx="4074636" cy="21080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Font typeface="Arial" panose="020B0604020202020204" pitchFamily="34" charset="0"/>
              <a:buNone/>
            </a:pPr>
            <a:r>
              <a:rPr lang="ru-RU" sz="2100" b="1" dirty="0"/>
              <a:t>Сезонность</a:t>
            </a:r>
            <a:r>
              <a:rPr lang="ru-RU" sz="2100" dirty="0"/>
              <a:t> - некоторые «относительно быстро и регулярно меняющиеся» периодические составляющие, как правило тут речь идет о регулярном периоде.</a:t>
            </a:r>
          </a:p>
        </p:txBody>
      </p:sp>
      <p:pic>
        <p:nvPicPr>
          <p:cNvPr id="14"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05" t="24649" r="605" b="49953"/>
          <a:stretch/>
        </p:blipFill>
        <p:spPr bwMode="auto">
          <a:xfrm>
            <a:off x="3935976" y="2357321"/>
            <a:ext cx="7988222" cy="115388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03" t="50007" r="403" b="24595"/>
          <a:stretch/>
        </p:blipFill>
        <p:spPr bwMode="auto">
          <a:xfrm>
            <a:off x="4012980" y="3757371"/>
            <a:ext cx="7911217" cy="114276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07" t="74479" r="907" b="123"/>
          <a:stretch/>
        </p:blipFill>
        <p:spPr bwMode="auto">
          <a:xfrm>
            <a:off x="4012980" y="5296323"/>
            <a:ext cx="7815967" cy="11290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79862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795C2-7E07-1469-9870-10731979E89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F3757B-A658-84DA-AF87-09AF2C0BB7EE}"/>
              </a:ext>
            </a:extLst>
          </p:cNvPr>
          <p:cNvSpPr>
            <a:spLocks noGrp="1"/>
          </p:cNvSpPr>
          <p:nvPr>
            <p:ph type="title"/>
          </p:nvPr>
        </p:nvSpPr>
        <p:spPr>
          <a:xfrm>
            <a:off x="1068636" y="197786"/>
            <a:ext cx="9477263" cy="880808"/>
          </a:xfrm>
        </p:spPr>
        <p:txBody>
          <a:bodyPr>
            <a:normAutofit/>
          </a:bodyPr>
          <a:lstStyle/>
          <a:p>
            <a:pPr algn="ctr"/>
            <a:r>
              <a:rPr lang="ru-RU" b="1" dirty="0"/>
              <a:t>Особенности модели временных рядов</a:t>
            </a:r>
            <a:endParaRPr lang="en-US" b="1" dirty="0"/>
          </a:p>
        </p:txBody>
      </p:sp>
      <p:sp>
        <p:nvSpPr>
          <p:cNvPr id="3" name="Объект 2">
            <a:extLst>
              <a:ext uri="{FF2B5EF4-FFF2-40B4-BE49-F238E27FC236}">
                <a16:creationId xmlns:a16="http://schemas.microsoft.com/office/drawing/2014/main" id="{58BAE69D-36D8-D04E-E425-5890F7443BA6}"/>
              </a:ext>
            </a:extLst>
          </p:cNvPr>
          <p:cNvSpPr>
            <a:spLocks noGrp="1"/>
          </p:cNvSpPr>
          <p:nvPr>
            <p:ph idx="1"/>
          </p:nvPr>
        </p:nvSpPr>
        <p:spPr>
          <a:xfrm>
            <a:off x="120740" y="1078594"/>
            <a:ext cx="11386458" cy="5460318"/>
          </a:xfrm>
        </p:spPr>
        <p:txBody>
          <a:bodyPr>
            <a:normAutofit/>
          </a:bodyPr>
          <a:lstStyle/>
          <a:p>
            <a:pPr lvl="0"/>
            <a:r>
              <a:rPr lang="ru-RU" sz="2100" b="1" dirty="0"/>
              <a:t>Остаточная часть. В идеале необъяснимая часть – не содержащая информации, которую мы можем объяснить моделью ВР</a:t>
            </a:r>
          </a:p>
        </p:txBody>
      </p:sp>
      <p:sp>
        <p:nvSpPr>
          <p:cNvPr id="7" name="Номер слайда 6">
            <a:extLst>
              <a:ext uri="{FF2B5EF4-FFF2-40B4-BE49-F238E27FC236}">
                <a16:creationId xmlns:a16="http://schemas.microsoft.com/office/drawing/2014/main" id="{646DBD4B-2A5F-824E-0852-1F4588667EC4}"/>
              </a:ext>
            </a:extLst>
          </p:cNvPr>
          <p:cNvSpPr>
            <a:spLocks noGrp="1"/>
          </p:cNvSpPr>
          <p:nvPr>
            <p:ph type="sldNum" sz="quarter" idx="12"/>
          </p:nvPr>
        </p:nvSpPr>
        <p:spPr/>
        <p:txBody>
          <a:bodyPr/>
          <a:lstStyle/>
          <a:p>
            <a:fld id="{45C3B737-A709-4ABC-AFE0-A6B067850C48}" type="slidenum">
              <a:rPr lang="en-US" smtClean="0"/>
              <a:t>4</a:t>
            </a:fld>
            <a:endParaRPr lang="en-US"/>
          </a:p>
        </p:txBody>
      </p:sp>
      <p:sp>
        <p:nvSpPr>
          <p:cNvPr id="6" name="Rectangle 3">
            <a:extLst>
              <a:ext uri="{FF2B5EF4-FFF2-40B4-BE49-F238E27FC236}">
                <a16:creationId xmlns:a16="http://schemas.microsoft.com/office/drawing/2014/main" id="{89E2F553-27F1-A9E4-3E80-186B4C2D8BE8}"/>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A0299A3-CABC-57D4-2339-DB1A2A6F093D}"/>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AutoShape 4">
            <a:extLst>
              <a:ext uri="{FF2B5EF4-FFF2-40B4-BE49-F238E27FC236}">
                <a16:creationId xmlns:a16="http://schemas.microsoft.com/office/drawing/2014/main" id="{FBF2AC38-DF2F-3DB7-8C04-C58B060D8E3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10" name="AutoShape 8">
            <a:extLst>
              <a:ext uri="{FF2B5EF4-FFF2-40B4-BE49-F238E27FC236}">
                <a16:creationId xmlns:a16="http://schemas.microsoft.com/office/drawing/2014/main" id="{4B08EDCE-CC97-1B6E-4FFB-70989411087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dirty="0"/>
          </a:p>
        </p:txBody>
      </p:sp>
      <p:pic>
        <p:nvPicPr>
          <p:cNvPr id="8202" name="Picture 10" descr="fisher-ld generator network">
            <a:extLst>
              <a:ext uri="{FF2B5EF4-FFF2-40B4-BE49-F238E27FC236}">
                <a16:creationId xmlns:a16="http://schemas.microsoft.com/office/drawing/2014/main" id="{DED0A332-A979-B7AB-DB67-9331E5367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3238"/>
          <a:stretch>
            <a:fillRect/>
          </a:stretch>
        </p:blipFill>
        <p:spPr bwMode="auto">
          <a:xfrm>
            <a:off x="4184762" y="3261040"/>
            <a:ext cx="7322436" cy="111446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FCF6951B-93B4-FB47-BBAE-A842EC94BB3C}"/>
              </a:ext>
            </a:extLst>
          </p:cNvPr>
          <p:cNvSpPr txBox="1"/>
          <p:nvPr/>
        </p:nvSpPr>
        <p:spPr>
          <a:xfrm>
            <a:off x="0" y="1660493"/>
            <a:ext cx="11760427" cy="738664"/>
          </a:xfrm>
          <a:prstGeom prst="rect">
            <a:avLst/>
          </a:prstGeom>
          <a:noFill/>
        </p:spPr>
        <p:txBody>
          <a:bodyPr wrap="square">
            <a:spAutoFit/>
          </a:bodyPr>
          <a:lstStyle/>
          <a:p>
            <a:pPr marL="628650" lvl="2" indent="-342900">
              <a:buFont typeface="Arial" panose="020B0604020202020204" pitchFamily="34" charset="0"/>
              <a:buChar char="•"/>
            </a:pPr>
            <a:r>
              <a:rPr lang="ru-RU" sz="2100" b="1" dirty="0"/>
              <a:t>шум</a:t>
            </a:r>
            <a:r>
              <a:rPr lang="ru-RU" sz="2100" dirty="0"/>
              <a:t> - это некоторое случайное (стохастическое) искажение выходных значений - нерегулярные или случайные колебания (вариации).</a:t>
            </a:r>
          </a:p>
        </p:txBody>
      </p:sp>
      <p:pic>
        <p:nvPicPr>
          <p:cNvPr id="9" name="Picture 10" descr="fisher-ld generator network">
            <a:extLst>
              <a:ext uri="{FF2B5EF4-FFF2-40B4-BE49-F238E27FC236}">
                <a16:creationId xmlns:a16="http://schemas.microsoft.com/office/drawing/2014/main" id="{094FD0F3-3C45-1831-7A8D-5AD1DF95231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73238"/>
          <a:stretch>
            <a:fillRect/>
          </a:stretch>
        </p:blipFill>
        <p:spPr bwMode="auto">
          <a:xfrm>
            <a:off x="5186743" y="2473132"/>
            <a:ext cx="6320455" cy="96196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Forecasting 05 00037 g002">
            <a:extLst>
              <a:ext uri="{FF2B5EF4-FFF2-40B4-BE49-F238E27FC236}">
                <a16:creationId xmlns:a16="http://schemas.microsoft.com/office/drawing/2014/main" id="{8A8EFD81-5807-BED2-93C4-70EFE438316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5256" b="4331"/>
          <a:stretch>
            <a:fillRect/>
          </a:stretch>
        </p:blipFill>
        <p:spPr bwMode="auto">
          <a:xfrm>
            <a:off x="2407669" y="4416913"/>
            <a:ext cx="9099529" cy="915934"/>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CAD22B5-69D6-B86B-8A88-593EC56D043C}"/>
              </a:ext>
            </a:extLst>
          </p:cNvPr>
          <p:cNvSpPr txBox="1"/>
          <p:nvPr/>
        </p:nvSpPr>
        <p:spPr>
          <a:xfrm>
            <a:off x="6248400" y="6414666"/>
            <a:ext cx="4577561" cy="369332"/>
          </a:xfrm>
          <a:prstGeom prst="rect">
            <a:avLst/>
          </a:prstGeom>
          <a:noFill/>
        </p:spPr>
        <p:txBody>
          <a:bodyPr wrap="square">
            <a:spAutoFit/>
          </a:bodyPr>
          <a:lstStyle/>
          <a:p>
            <a:r>
              <a:rPr lang="ru-RU" dirty="0" err="1"/>
              <a:t>https</a:t>
            </a:r>
            <a:r>
              <a:rPr lang="ru-RU" dirty="0"/>
              <a:t>://</a:t>
            </a:r>
            <a:r>
              <a:rPr lang="ru-RU" dirty="0" err="1"/>
              <a:t>www.mdpi.com</a:t>
            </a:r>
            <a:r>
              <a:rPr lang="ru-RU" dirty="0"/>
              <a:t>/2571-9394/5/4/37</a:t>
            </a:r>
          </a:p>
        </p:txBody>
      </p:sp>
      <p:pic>
        <p:nvPicPr>
          <p:cNvPr id="2052" name="Picture 4" descr="Forecasting 05 00037 g004">
            <a:extLst>
              <a:ext uri="{FF2B5EF4-FFF2-40B4-BE49-F238E27FC236}">
                <a16:creationId xmlns:a16="http://schemas.microsoft.com/office/drawing/2014/main" id="{BA41271C-0AFA-C211-2BE4-34C7CC04774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58171" b="23521"/>
          <a:stretch>
            <a:fillRect/>
          </a:stretch>
        </p:blipFill>
        <p:spPr bwMode="auto">
          <a:xfrm>
            <a:off x="2413585" y="5391163"/>
            <a:ext cx="9093613" cy="825264"/>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A6869C0B-7131-A294-EB92-B57B16945595}"/>
              </a:ext>
            </a:extLst>
          </p:cNvPr>
          <p:cNvSpPr txBox="1"/>
          <p:nvPr/>
        </p:nvSpPr>
        <p:spPr>
          <a:xfrm>
            <a:off x="-15830" y="6084647"/>
            <a:ext cx="6400801" cy="738664"/>
          </a:xfrm>
          <a:prstGeom prst="rect">
            <a:avLst/>
          </a:prstGeom>
          <a:noFill/>
        </p:spPr>
        <p:txBody>
          <a:bodyPr wrap="square">
            <a:spAutoFit/>
          </a:bodyPr>
          <a:lstStyle/>
          <a:p>
            <a:pPr marL="285750" lvl="2"/>
            <a:r>
              <a:rPr lang="ru-RU" sz="2100" b="1" dirty="0"/>
              <a:t>Остаточная часть может содержать информацию, необъясненную моделью!</a:t>
            </a:r>
            <a:endParaRPr lang="ru-RU" sz="2100" dirty="0"/>
          </a:p>
        </p:txBody>
      </p:sp>
    </p:spTree>
    <p:extLst>
      <p:ext uri="{BB962C8B-B14F-4D97-AF65-F5344CB8AC3E}">
        <p14:creationId xmlns:p14="http://schemas.microsoft.com/office/powerpoint/2010/main" val="5378500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1209675" y="-34869"/>
            <a:ext cx="10515600" cy="1325563"/>
          </a:xfrm>
        </p:spPr>
        <p:txBody>
          <a:bodyPr/>
          <a:lstStyle/>
          <a:p>
            <a:r>
              <a:rPr lang="ru-RU" dirty="0"/>
              <a:t>Разница цикличности и сезонности</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mtClean="0"/>
              <a:t>5</a:t>
            </a:fld>
            <a:endParaRPr lang="en-US"/>
          </a:p>
        </p:txBody>
      </p:sp>
      <p:sp>
        <p:nvSpPr>
          <p:cNvPr id="3" name="Прямоугольник 2"/>
          <p:cNvSpPr/>
          <p:nvPr/>
        </p:nvSpPr>
        <p:spPr>
          <a:xfrm>
            <a:off x="290715" y="1014068"/>
            <a:ext cx="6505574" cy="2554545"/>
          </a:xfrm>
          <a:prstGeom prst="rect">
            <a:avLst/>
          </a:prstGeom>
        </p:spPr>
        <p:txBody>
          <a:bodyPr wrap="square">
            <a:spAutoFit/>
          </a:bodyPr>
          <a:lstStyle/>
          <a:p>
            <a:r>
              <a:rPr lang="ru-RU" sz="2000" b="1" dirty="0"/>
              <a:t>Цикличный тренд </a:t>
            </a:r>
            <a:r>
              <a:rPr lang="ru-RU" sz="2000" dirty="0"/>
              <a:t>(цикличность) возникает, когда данные демонстрируют подъемы и спады, которые не имеют фиксированной частоты. </a:t>
            </a:r>
          </a:p>
          <a:p>
            <a:pPr lvl="1"/>
            <a:r>
              <a:rPr lang="ru-RU" sz="2000" dirty="0"/>
              <a:t>Например колебания обусловленные экономическими факторами (часто связаны с “деловым циклом”). Продолжительность этих колебаний обычно составляет не менее 2 лет, но период цикличность обычно неопределенный</a:t>
            </a:r>
          </a:p>
        </p:txBody>
      </p:sp>
      <p:sp>
        <p:nvSpPr>
          <p:cNvPr id="5" name="Прямоугольник 4"/>
          <p:cNvSpPr/>
          <p:nvPr/>
        </p:nvSpPr>
        <p:spPr>
          <a:xfrm>
            <a:off x="6467475" y="6266799"/>
            <a:ext cx="4469942" cy="369332"/>
          </a:xfrm>
          <a:prstGeom prst="rect">
            <a:avLst/>
          </a:prstGeom>
        </p:spPr>
        <p:txBody>
          <a:bodyPr wrap="none">
            <a:spAutoFit/>
          </a:bodyPr>
          <a:lstStyle/>
          <a:p>
            <a:r>
              <a:rPr lang="ru-RU" dirty="0"/>
              <a:t>https://robjhyndman.com/hyndsight/cyclicts/</a:t>
            </a:r>
          </a:p>
        </p:txBody>
      </p:sp>
      <p:pic>
        <p:nvPicPr>
          <p:cNvPr id="2050" name="Picture 2" descr="Four examples of time series showing different patterns."/>
          <p:cNvPicPr>
            <a:picLocks noChangeAspect="1" noChangeArrowheads="1"/>
          </p:cNvPicPr>
          <p:nvPr/>
        </p:nvPicPr>
        <p:blipFill rotWithShape="1">
          <a:blip r:embed="rId3">
            <a:extLst>
              <a:ext uri="{28A0092B-C50C-407E-A947-70E740481C1C}">
                <a14:useLocalDpi xmlns:a14="http://schemas.microsoft.com/office/drawing/2010/main" val="0"/>
              </a:ext>
            </a:extLst>
          </a:blip>
          <a:srcRect l="1" r="49280" b="49960"/>
          <a:stretch/>
        </p:blipFill>
        <p:spPr bwMode="auto">
          <a:xfrm>
            <a:off x="6631191" y="864534"/>
            <a:ext cx="5259183" cy="3204373"/>
          </a:xfrm>
          <a:prstGeom prst="rect">
            <a:avLst/>
          </a:prstGeom>
          <a:noFill/>
          <a:extLst>
            <a:ext uri="{909E8E84-426E-40DD-AFC4-6F175D3DCCD1}">
              <a14:hiddenFill xmlns:a14="http://schemas.microsoft.com/office/drawing/2010/main">
                <a:solidFill>
                  <a:srgbClr val="FFFFFF"/>
                </a:solidFill>
              </a14:hiddenFill>
            </a:ext>
          </a:extLst>
        </p:spPr>
      </p:pic>
      <p:sp>
        <p:nvSpPr>
          <p:cNvPr id="6" name="Прямоугольник 5"/>
          <p:cNvSpPr/>
          <p:nvPr/>
        </p:nvSpPr>
        <p:spPr>
          <a:xfrm>
            <a:off x="1026722" y="6359134"/>
            <a:ext cx="3992953" cy="369332"/>
          </a:xfrm>
          <a:prstGeom prst="rect">
            <a:avLst/>
          </a:prstGeom>
        </p:spPr>
        <p:txBody>
          <a:bodyPr wrap="none">
            <a:spAutoFit/>
          </a:bodyPr>
          <a:lstStyle/>
          <a:p>
            <a:r>
              <a:rPr lang="ru-RU" dirty="0"/>
              <a:t>https://otexts.com/fpp2/tspatterns.html</a:t>
            </a:r>
          </a:p>
        </p:txBody>
      </p:sp>
      <p:graphicFrame>
        <p:nvGraphicFramePr>
          <p:cNvPr id="9" name="Таблица 8"/>
          <p:cNvGraphicFramePr>
            <a:graphicFrameLocks noGrp="1"/>
          </p:cNvGraphicFramePr>
          <p:nvPr/>
        </p:nvGraphicFramePr>
        <p:xfrm>
          <a:off x="293890" y="4006257"/>
          <a:ext cx="11596484" cy="2286000"/>
        </p:xfrm>
        <a:graphic>
          <a:graphicData uri="http://schemas.openxmlformats.org/drawingml/2006/table">
            <a:tbl>
              <a:tblPr firstRow="1" bandRow="1">
                <a:tableStyleId>{5C22544A-7EE6-4342-B048-85BDC9FD1C3A}</a:tableStyleId>
              </a:tblPr>
              <a:tblGrid>
                <a:gridCol w="5798242">
                  <a:extLst>
                    <a:ext uri="{9D8B030D-6E8A-4147-A177-3AD203B41FA5}">
                      <a16:colId xmlns:a16="http://schemas.microsoft.com/office/drawing/2014/main" val="2273419602"/>
                    </a:ext>
                  </a:extLst>
                </a:gridCol>
                <a:gridCol w="5798242">
                  <a:extLst>
                    <a:ext uri="{9D8B030D-6E8A-4147-A177-3AD203B41FA5}">
                      <a16:colId xmlns:a16="http://schemas.microsoft.com/office/drawing/2014/main" val="2334267867"/>
                    </a:ext>
                  </a:extLst>
                </a:gridCol>
              </a:tblGrid>
              <a:tr h="0">
                <a:tc>
                  <a:txBody>
                    <a:bodyPr/>
                    <a:lstStyle/>
                    <a:p>
                      <a:r>
                        <a:rPr lang="ru-RU" dirty="0"/>
                        <a:t>Цикличность</a:t>
                      </a:r>
                    </a:p>
                  </a:txBody>
                  <a:tcPr/>
                </a:tc>
                <a:tc>
                  <a:txBody>
                    <a:bodyPr/>
                    <a:lstStyle/>
                    <a:p>
                      <a:r>
                        <a:rPr lang="ru-RU" dirty="0"/>
                        <a:t>Сезонность</a:t>
                      </a:r>
                    </a:p>
                  </a:txBody>
                  <a:tcPr/>
                </a:tc>
                <a:extLst>
                  <a:ext uri="{0D108BD9-81ED-4DB2-BD59-A6C34878D82A}">
                    <a16:rowId xmlns:a16="http://schemas.microsoft.com/office/drawing/2014/main" val="4253523727"/>
                  </a:ext>
                </a:extLst>
              </a:tr>
              <a:tr h="0">
                <a:tc>
                  <a:txBody>
                    <a:bodyPr/>
                    <a:lstStyle/>
                    <a:p>
                      <a:pPr marL="285750" indent="-285750">
                        <a:buFont typeface="Arial" panose="020B0604020202020204" pitchFamily="34" charset="0"/>
                        <a:buChar char="•"/>
                      </a:pPr>
                      <a:r>
                        <a:rPr lang="ru-RU" dirty="0"/>
                        <a:t>Период колебаний случайный (нерегулярный)</a:t>
                      </a:r>
                    </a:p>
                    <a:p>
                      <a:pPr marL="285750" indent="-285750">
                        <a:buFont typeface="Arial" panose="020B0604020202020204" pitchFamily="34" charset="0"/>
                        <a:buChar char="•"/>
                      </a:pPr>
                      <a:r>
                        <a:rPr lang="ru-RU" dirty="0"/>
                        <a:t>Период колебаний продолжительный</a:t>
                      </a:r>
                    </a:p>
                    <a:p>
                      <a:pPr marL="285750" indent="-285750">
                        <a:buFont typeface="Arial" panose="020B0604020202020204" pitchFamily="34" charset="0"/>
                        <a:buChar char="•"/>
                      </a:pPr>
                      <a:r>
                        <a:rPr lang="ru-RU" dirty="0"/>
                        <a:t>Интенсивность</a:t>
                      </a:r>
                      <a:r>
                        <a:rPr lang="ru-RU" baseline="0" dirty="0"/>
                        <a:t> колебаний нерегулярная</a:t>
                      </a:r>
                    </a:p>
                    <a:p>
                      <a:pPr marL="285750" indent="-285750">
                        <a:buFont typeface="Arial" panose="020B0604020202020204" pitchFamily="34" charset="0"/>
                        <a:buChar char="•"/>
                      </a:pPr>
                      <a:r>
                        <a:rPr lang="ru-RU" baseline="0" dirty="0"/>
                        <a:t>Поведение позволяет выделить тренд</a:t>
                      </a:r>
                      <a:endParaRPr lang="ru-RU" dirty="0"/>
                    </a:p>
                  </a:txBody>
                  <a:tcPr/>
                </a:tc>
                <a:tc>
                  <a:txBody>
                    <a:bodyPr/>
                    <a:lstStyle/>
                    <a:p>
                      <a:pPr marL="285750" indent="-285750">
                        <a:buFont typeface="Arial" panose="020B0604020202020204" pitchFamily="34" charset="0"/>
                        <a:buChar char="•"/>
                      </a:pPr>
                      <a:r>
                        <a:rPr lang="ru-RU" dirty="0"/>
                        <a:t>Период колебаний</a:t>
                      </a:r>
                      <a:r>
                        <a:rPr lang="ru-RU" baseline="0" dirty="0"/>
                        <a:t> постоянный или закономерный</a:t>
                      </a:r>
                    </a:p>
                    <a:p>
                      <a:pPr marL="285750" indent="-285750">
                        <a:buFont typeface="Arial" panose="020B0604020202020204" pitchFamily="34" charset="0"/>
                        <a:buChar char="•"/>
                      </a:pPr>
                      <a:r>
                        <a:rPr lang="ru-RU" baseline="0" dirty="0"/>
                        <a:t>Колебания сравнительно часты</a:t>
                      </a:r>
                    </a:p>
                    <a:p>
                      <a:pPr marL="285750" indent="-285750">
                        <a:buFont typeface="Arial" panose="020B0604020202020204" pitchFamily="34" charset="0"/>
                        <a:buChar char="•"/>
                      </a:pPr>
                      <a:r>
                        <a:rPr lang="ru-RU" baseline="0" dirty="0"/>
                        <a:t>Интенсивность регулярная и предсказуемая</a:t>
                      </a:r>
                    </a:p>
                    <a:p>
                      <a:pPr marL="285750" indent="-285750">
                        <a:buFont typeface="Arial" panose="020B0604020202020204" pitchFamily="34" charset="0"/>
                        <a:buChar char="•"/>
                      </a:pPr>
                      <a:r>
                        <a:rPr lang="ru-RU" baseline="0" dirty="0"/>
                        <a:t>Сезонность независима от тренда</a:t>
                      </a:r>
                      <a:endParaRPr lang="ru-RU" dirty="0"/>
                    </a:p>
                  </a:txBody>
                  <a:tcPr/>
                </a:tc>
                <a:extLst>
                  <a:ext uri="{0D108BD9-81ED-4DB2-BD59-A6C34878D82A}">
                    <a16:rowId xmlns:a16="http://schemas.microsoft.com/office/drawing/2014/main" val="4144287985"/>
                  </a:ext>
                </a:extLst>
              </a:tr>
              <a:tr h="0">
                <a:tc>
                  <a:txBody>
                    <a:bodyPr/>
                    <a:lstStyle/>
                    <a:p>
                      <a:pPr marL="0" indent="0">
                        <a:buFont typeface="Arial" panose="020B0604020202020204" pitchFamily="34" charset="0"/>
                        <a:buNone/>
                      </a:pPr>
                      <a:r>
                        <a:rPr lang="ru-RU" dirty="0"/>
                        <a:t>Примеры</a:t>
                      </a:r>
                    </a:p>
                  </a:txBody>
                  <a:tcPr/>
                </a:tc>
                <a:tc>
                  <a:txBody>
                    <a:bodyPr/>
                    <a:lstStyle/>
                    <a:p>
                      <a:pPr marL="285750" indent="-285750">
                        <a:buFont typeface="Arial" panose="020B0604020202020204" pitchFamily="34" charset="0"/>
                        <a:buChar char="•"/>
                      </a:pPr>
                      <a:r>
                        <a:rPr lang="ru-RU" dirty="0"/>
                        <a:t>Примеры</a:t>
                      </a:r>
                    </a:p>
                  </a:txBody>
                  <a:tcPr/>
                </a:tc>
                <a:extLst>
                  <a:ext uri="{0D108BD9-81ED-4DB2-BD59-A6C34878D82A}">
                    <a16:rowId xmlns:a16="http://schemas.microsoft.com/office/drawing/2014/main" val="1483152105"/>
                  </a:ext>
                </a:extLst>
              </a:tr>
              <a:tr h="0">
                <a:tc>
                  <a:txBody>
                    <a:bodyPr/>
                    <a:lstStyle/>
                    <a:p>
                      <a:pPr marL="0" indent="0">
                        <a:buFont typeface="Arial" panose="020B0604020202020204" pitchFamily="34" charset="0"/>
                        <a:buNone/>
                      </a:pPr>
                      <a:r>
                        <a:rPr lang="ru-RU" dirty="0"/>
                        <a:t>Многолетний</a:t>
                      </a:r>
                      <a:r>
                        <a:rPr lang="ru-RU" baseline="0" dirty="0"/>
                        <a:t> период, </a:t>
                      </a:r>
                      <a:endParaRPr lang="ru-RU" dirty="0"/>
                    </a:p>
                  </a:txBody>
                  <a:tcPr/>
                </a:tc>
                <a:tc>
                  <a:txBody>
                    <a:bodyPr/>
                    <a:lstStyle/>
                    <a:p>
                      <a:pPr marL="285750" indent="-285750">
                        <a:buFont typeface="Arial" panose="020B0604020202020204" pitchFamily="34" charset="0"/>
                        <a:buChar char="•"/>
                      </a:pPr>
                      <a:r>
                        <a:rPr lang="ru-RU" dirty="0"/>
                        <a:t>День, месяц, квартал, год</a:t>
                      </a:r>
                    </a:p>
                  </a:txBody>
                  <a:tcPr/>
                </a:tc>
                <a:extLst>
                  <a:ext uri="{0D108BD9-81ED-4DB2-BD59-A6C34878D82A}">
                    <a16:rowId xmlns:a16="http://schemas.microsoft.com/office/drawing/2014/main" val="205172833"/>
                  </a:ext>
                </a:extLst>
              </a:tr>
            </a:tbl>
          </a:graphicData>
        </a:graphic>
      </p:graphicFrame>
      <p:sp>
        <p:nvSpPr>
          <p:cNvPr id="14" name="Прямоугольник 13"/>
          <p:cNvSpPr/>
          <p:nvPr/>
        </p:nvSpPr>
        <p:spPr>
          <a:xfrm>
            <a:off x="246168" y="3631605"/>
            <a:ext cx="7582888" cy="400110"/>
          </a:xfrm>
          <a:prstGeom prst="rect">
            <a:avLst/>
          </a:prstGeom>
        </p:spPr>
        <p:txBody>
          <a:bodyPr wrap="square">
            <a:spAutoFit/>
          </a:bodyPr>
          <a:lstStyle/>
          <a:p>
            <a:r>
              <a:rPr lang="ru-RU" sz="2000" b="1" dirty="0"/>
              <a:t>В ряде случаев цикличность рассматривают отдельно от тренда</a:t>
            </a:r>
            <a:endParaRPr lang="ru-RU" sz="2000" dirty="0"/>
          </a:p>
        </p:txBody>
      </p:sp>
    </p:spTree>
    <p:extLst>
      <p:ext uri="{BB962C8B-B14F-4D97-AF65-F5344CB8AC3E}">
        <p14:creationId xmlns:p14="http://schemas.microsoft.com/office/powerpoint/2010/main" val="15592393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marL="0" indent="0" eaLnBrk="0" fontAlgn="base" hangingPunct="0">
                  <a:lnSpc>
                    <a:spcPct val="100000"/>
                  </a:lnSpc>
                  <a:spcBef>
                    <a:spcPct val="0"/>
                  </a:spcBef>
                  <a:spcAft>
                    <a:spcPct val="0"/>
                  </a:spcAft>
                  <a:buNone/>
                </a:pPr>
                <a:r>
                  <a:rPr lang="ru-RU" altLang="en-US" sz="2400" dirty="0"/>
                  <a:t>Часто  вводится аддитивная модель ВР</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trend</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noise</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oMath>
                </a14:m>
                <a:r>
                  <a:rPr lang="en-US" altLang="en-US" sz="2400" dirty="0"/>
                  <a:t>). </a:t>
                </a:r>
              </a:p>
              <a:p>
                <a:pPr marL="457200" lvl="1" indent="0" eaLnBrk="0" fontAlgn="base" hangingPunct="0">
                  <a:lnSpc>
                    <a:spcPct val="100000"/>
                  </a:lnSpc>
                  <a:spcBef>
                    <a:spcPct val="0"/>
                  </a:spcBef>
                  <a:spcAft>
                    <a:spcPct val="0"/>
                  </a:spcAft>
                  <a:buNone/>
                </a:pPr>
                <a:r>
                  <a:rPr lang="ru-RU" altLang="en-US" sz="2000" dirty="0"/>
                  <a:t>где</a:t>
                </a:r>
                <a14:m>
                  <m:oMath xmlns:m="http://schemas.openxmlformats.org/officeDocument/2006/math">
                    <m:r>
                      <a:rPr lang="ru-RU" altLang="en-US" sz="2000" b="0" i="0" dirty="0" smtClean="0">
                        <a:latin typeface="Cambria Math" panose="02040503050406030204" pitchFamily="18" charset="0"/>
                      </a:rPr>
                      <m:t> </m:t>
                    </m:r>
                    <m:r>
                      <m:rPr>
                        <m:sty m:val="p"/>
                      </m:rPr>
                      <a:rPr lang="en-US" altLang="en-US" sz="2000" i="0" dirty="0" smtClean="0">
                        <a:latin typeface="Cambria Math" panose="02040503050406030204" pitchFamily="18" charset="0"/>
                      </a:rPr>
                      <m:t>trend</m:t>
                    </m:r>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oMath>
                </a14:m>
                <a:r>
                  <a:rPr lang="ru-RU" altLang="en-US" sz="2000" dirty="0">
                    <a:latin typeface="Cambria Math" panose="02040503050406030204" pitchFamily="18" charset="0"/>
                  </a:rPr>
                  <a:t> - тренд ВР, </a:t>
                </a:r>
                <a14:m>
                  <m:oMath xmlns:m="http://schemas.openxmlformats.org/officeDocument/2006/math">
                    <m:r>
                      <a:rPr lang="ru-RU" altLang="en-US" sz="2000" b="0" i="0" dirty="0" smtClean="0">
                        <a:latin typeface="Cambria Math" panose="02040503050406030204" pitchFamily="18" charset="0"/>
                      </a:rPr>
                      <m:t> </m:t>
                    </m:r>
                    <m:r>
                      <m:rPr>
                        <m:sty m:val="p"/>
                      </m:rPr>
                      <a:rPr lang="en-US" altLang="en-US" sz="2000" i="0" dirty="0" smtClean="0">
                        <a:latin typeface="Cambria Math" panose="02040503050406030204" pitchFamily="18" charset="0"/>
                      </a:rPr>
                      <m:t>seasonal</m:t>
                    </m:r>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r>
                      <a:rPr lang="ru-RU" altLang="en-US" sz="2000" b="0" i="0" dirty="0" smtClean="0">
                        <a:latin typeface="Cambria Math" panose="02040503050406030204" pitchFamily="18" charset="0"/>
                      </a:rPr>
                      <m:t> −сезонность ВР</m:t>
                    </m:r>
                  </m:oMath>
                </a14:m>
                <a:r>
                  <a:rPr lang="ru-RU" altLang="en-US" sz="2000" dirty="0">
                    <a:latin typeface="Cambria Math" panose="02040503050406030204" pitchFamily="18" charset="0"/>
                  </a:rPr>
                  <a:t>, </a:t>
                </a:r>
                <a14:m>
                  <m:oMath xmlns:m="http://schemas.openxmlformats.org/officeDocument/2006/math">
                    <m:r>
                      <m:rPr>
                        <m:sty m:val="p"/>
                      </m:rPr>
                      <a:rPr lang="en-US" altLang="en-US" sz="2000" i="0" dirty="0" smtClean="0">
                        <a:latin typeface="Cambria Math" panose="02040503050406030204" pitchFamily="18" charset="0"/>
                      </a:rPr>
                      <m:t>noise</m:t>
                    </m:r>
                    <m:r>
                      <a:rPr lang="en-US" altLang="en-US" sz="2000" i="0" dirty="0" smtClean="0">
                        <a:latin typeface="Cambria Math" panose="02040503050406030204" pitchFamily="18" charset="0"/>
                      </a:rPr>
                      <m:t>(</m:t>
                    </m:r>
                    <m:r>
                      <m:rPr>
                        <m:sty m:val="p"/>
                      </m:rPr>
                      <a:rPr lang="en-US" altLang="en-US" sz="2000" i="0" dirty="0" smtClean="0">
                        <a:latin typeface="Cambria Math" panose="02040503050406030204" pitchFamily="18" charset="0"/>
                      </a:rPr>
                      <m:t>t</m:t>
                    </m:r>
                  </m:oMath>
                </a14:m>
                <a:r>
                  <a:rPr lang="en-US" altLang="en-US" sz="2000" dirty="0"/>
                  <a:t>)</a:t>
                </a:r>
                <a:r>
                  <a:rPr lang="ru-RU" altLang="en-US" sz="2000" dirty="0"/>
                  <a:t> – остаточная часть ВР</a:t>
                </a:r>
              </a:p>
              <a:p>
                <a:pPr marL="0" indent="0" eaLnBrk="0" fontAlgn="base" hangingPunct="0">
                  <a:lnSpc>
                    <a:spcPct val="100000"/>
                  </a:lnSpc>
                  <a:spcBef>
                    <a:spcPct val="0"/>
                  </a:spcBef>
                  <a:spcAft>
                    <a:spcPct val="0"/>
                  </a:spcAft>
                  <a:buNone/>
                </a:pPr>
                <a:endParaRPr lang="en-US" altLang="en-US" sz="2400" dirty="0"/>
              </a:p>
              <a:p>
                <a:pPr marL="0" indent="0" eaLnBrk="0" fontAlgn="base" hangingPunct="0">
                  <a:lnSpc>
                    <a:spcPct val="100000"/>
                  </a:lnSpc>
                  <a:spcBef>
                    <a:spcPct val="0"/>
                  </a:spcBef>
                  <a:spcAft>
                    <a:spcPct val="0"/>
                  </a:spcAft>
                  <a:buNone/>
                </a:pPr>
                <a:r>
                  <a:rPr lang="ru-RU" altLang="en-US" sz="2400" dirty="0"/>
                  <a:t>Иногда также разделяют тренд на уровень, тренд и цикличность:</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i="0" dirty="0" smtClean="0">
                        <a:latin typeface="Cambria Math" panose="02040503050406030204" pitchFamily="18" charset="0"/>
                      </a:rPr>
                      <m:t>=</m:t>
                    </m:r>
                    <m:sSub>
                      <m:sSubPr>
                        <m:ctrlPr>
                          <a:rPr lang="en-US" altLang="en-US" sz="2400" b="0" i="1" dirty="0" smtClean="0">
                            <a:latin typeface="Cambria Math" panose="02040503050406030204" pitchFamily="18" charset="0"/>
                          </a:rPr>
                        </m:ctrlPr>
                      </m:sSubPr>
                      <m:e>
                        <m:r>
                          <m:rPr>
                            <m:sty m:val="p"/>
                          </m:rPr>
                          <a:rPr lang="en-US" altLang="en-US" sz="2400" b="0" i="0" dirty="0" smtClean="0">
                            <a:latin typeface="Cambria Math" panose="02040503050406030204" pitchFamily="18" charset="0"/>
                          </a:rPr>
                          <m:t>a</m:t>
                        </m:r>
                      </m:e>
                      <m:sub>
                        <m:r>
                          <a:rPr lang="en-US" altLang="en-US" sz="2400" b="0" i="0" dirty="0" smtClean="0">
                            <a:latin typeface="Cambria Math" panose="02040503050406030204" pitchFamily="18" charset="0"/>
                          </a:rPr>
                          <m:t>0</m:t>
                        </m:r>
                      </m:sub>
                    </m:sSub>
                    <m:r>
                      <a:rPr lang="en-US" altLang="en-US" sz="2400" b="0" i="0" dirty="0" smtClean="0">
                        <a:latin typeface="Cambria Math" panose="02040503050406030204" pitchFamily="18" charset="0"/>
                      </a:rPr>
                      <m:t>+</m:t>
                    </m:r>
                    <m:r>
                      <m:rPr>
                        <m:sty m:val="p"/>
                      </m:rPr>
                      <a:rPr lang="en-US" altLang="en-US" sz="2400" i="0" dirty="0" smtClean="0">
                        <a:latin typeface="Cambria Math" panose="02040503050406030204" pitchFamily="18" charset="0"/>
                      </a:rPr>
                      <m:t>tren</m:t>
                    </m:r>
                    <m:sSup>
                      <m:sSupPr>
                        <m:ctrlPr>
                          <a:rPr lang="en-US" altLang="en-US" sz="2400" b="0" i="1" dirty="0" smtClean="0">
                            <a:latin typeface="Cambria Math" panose="02040503050406030204" pitchFamily="18" charset="0"/>
                          </a:rPr>
                        </m:ctrlPr>
                      </m:sSupPr>
                      <m:e>
                        <m:r>
                          <m:rPr>
                            <m:sty m:val="p"/>
                          </m:rPr>
                          <a:rPr lang="en-US" altLang="en-US" sz="2400" i="0" dirty="0" smtClean="0">
                            <a:latin typeface="Cambria Math" panose="02040503050406030204" pitchFamily="18" charset="0"/>
                          </a:rPr>
                          <m:t>d</m:t>
                        </m:r>
                      </m:e>
                      <m:sup>
                        <m:r>
                          <a:rPr lang="en-US" altLang="en-US" sz="2400" b="0" i="0" dirty="0" smtClean="0">
                            <a:latin typeface="Cambria Math" panose="02040503050406030204" pitchFamily="18" charset="0"/>
                          </a:rPr>
                          <m:t>′</m:t>
                        </m:r>
                      </m:sup>
                    </m:sSup>
                    <m:d>
                      <m:dPr>
                        <m:ctrlPr>
                          <a:rPr lang="en-US" altLang="en-US" sz="2400" b="0" i="1" dirty="0" smtClean="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b="0" i="0" dirty="0" smtClean="0">
                        <a:latin typeface="Cambria Math" panose="02040503050406030204" pitchFamily="18" charset="0"/>
                      </a:rPr>
                      <m:t>+</m:t>
                    </m:r>
                    <m:r>
                      <m:rPr>
                        <m:sty m:val="p"/>
                      </m:rPr>
                      <a:rPr lang="en-US" altLang="en-US" sz="2400" b="0" i="0" dirty="0" smtClean="0">
                        <a:latin typeface="Cambria Math" panose="02040503050406030204" pitchFamily="18" charset="0"/>
                      </a:rPr>
                      <m:t>cyclic</m:t>
                    </m:r>
                    <m:r>
                      <a:rPr lang="en-US" altLang="en-US" sz="2400" b="0" i="0" dirty="0" smtClean="0">
                        <a:latin typeface="Cambria Math" panose="02040503050406030204" pitchFamily="18" charset="0"/>
                      </a:rPr>
                      <m:t>(</m:t>
                    </m:r>
                    <m:r>
                      <m:rPr>
                        <m:sty m:val="p"/>
                      </m:rPr>
                      <a:rPr lang="en-US" altLang="en-US" sz="2400" b="0" i="0" dirty="0" smtClean="0">
                        <a:latin typeface="Cambria Math" panose="02040503050406030204" pitchFamily="18" charset="0"/>
                      </a:rPr>
                      <m:t>t</m:t>
                    </m:r>
                    <m:r>
                      <a:rPr lang="en-US" altLang="en-US" sz="2400" b="0" i="0" dirty="0" smtClean="0">
                        <a:latin typeface="Cambria Math" panose="02040503050406030204" pitchFamily="18" charset="0"/>
                      </a:rPr>
                      <m:t>) +</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 + </m:t>
                    </m:r>
                    <m:r>
                      <m:rPr>
                        <m:sty m:val="p"/>
                      </m:rPr>
                      <a:rPr lang="en-US" altLang="en-US" sz="2400" i="0" dirty="0" smtClean="0">
                        <a:latin typeface="Cambria Math" panose="02040503050406030204" pitchFamily="18" charset="0"/>
                      </a:rPr>
                      <m:t>noise</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oMath>
                </a14:m>
                <a:r>
                  <a:rPr lang="en-US" altLang="en-US" sz="2400" dirty="0"/>
                  <a:t>). </a:t>
                </a:r>
              </a:p>
              <a:p>
                <a:pPr marL="457200" lvl="1" indent="0" eaLnBrk="0" fontAlgn="base" hangingPunct="0">
                  <a:lnSpc>
                    <a:spcPct val="100000"/>
                  </a:lnSpc>
                  <a:spcBef>
                    <a:spcPct val="0"/>
                  </a:spcBef>
                  <a:spcAft>
                    <a:spcPct val="0"/>
                  </a:spcAft>
                  <a:buNone/>
                </a:pPr>
                <a:r>
                  <a:rPr lang="ru-RU" altLang="en-US" sz="2000" dirty="0"/>
                  <a:t>где </a:t>
                </a:r>
                <a14:m>
                  <m:oMath xmlns:m="http://schemas.openxmlformats.org/officeDocument/2006/math">
                    <m:sSub>
                      <m:sSubPr>
                        <m:ctrlPr>
                          <a:rPr lang="en-US" altLang="en-US" sz="2000" i="1" dirty="0">
                            <a:latin typeface="Cambria Math" panose="02040503050406030204" pitchFamily="18" charset="0"/>
                          </a:rPr>
                        </m:ctrlPr>
                      </m:sSubPr>
                      <m:e>
                        <m:r>
                          <m:rPr>
                            <m:sty m:val="p"/>
                          </m:rPr>
                          <a:rPr lang="en-US" altLang="en-US" sz="2000" i="0" dirty="0" smtClean="0">
                            <a:latin typeface="Cambria Math" panose="02040503050406030204" pitchFamily="18" charset="0"/>
                          </a:rPr>
                          <m:t>a</m:t>
                        </m:r>
                      </m:e>
                      <m:sub>
                        <m:r>
                          <a:rPr lang="en-US" altLang="en-US" sz="2000" i="0" dirty="0" smtClean="0">
                            <a:latin typeface="Cambria Math" panose="02040503050406030204" pitchFamily="18" charset="0"/>
                          </a:rPr>
                          <m:t>0</m:t>
                        </m:r>
                      </m:sub>
                    </m:sSub>
                  </m:oMath>
                </a14:m>
                <a:r>
                  <a:rPr lang="ru-RU" altLang="en-US" sz="2000" dirty="0"/>
                  <a:t>- постоянная составляющая, </a:t>
                </a:r>
                <a14:m>
                  <m:oMath xmlns:m="http://schemas.openxmlformats.org/officeDocument/2006/math">
                    <m:r>
                      <m:rPr>
                        <m:sty m:val="p"/>
                      </m:rPr>
                      <a:rPr lang="en-US" altLang="en-US" sz="2000" i="0" dirty="0" smtClean="0">
                        <a:latin typeface="Cambria Math" panose="02040503050406030204" pitchFamily="18" charset="0"/>
                      </a:rPr>
                      <m:t>cyclic</m:t>
                    </m:r>
                    <m:r>
                      <a:rPr lang="en-US" altLang="en-US" sz="2000" i="0" dirty="0" smtClean="0">
                        <a:latin typeface="Cambria Math" panose="02040503050406030204" pitchFamily="18" charset="0"/>
                      </a:rPr>
                      <m:t>(</m:t>
                    </m:r>
                    <m:r>
                      <m:rPr>
                        <m:sty m:val="p"/>
                      </m:rPr>
                      <a:rPr lang="en-US" altLang="en-US" sz="2000" i="0" dirty="0" smtClean="0">
                        <a:latin typeface="Cambria Math" panose="02040503050406030204" pitchFamily="18" charset="0"/>
                      </a:rPr>
                      <m:t>t</m:t>
                    </m:r>
                    <m:r>
                      <a:rPr lang="en-US" altLang="en-US" sz="2000" i="0" dirty="0" smtClean="0">
                        <a:latin typeface="Cambria Math" panose="02040503050406030204" pitchFamily="18" charset="0"/>
                      </a:rPr>
                      <m:t>)</m:t>
                    </m:r>
                  </m:oMath>
                </a14:m>
                <a:r>
                  <a:rPr lang="ru-RU" altLang="en-US" sz="2000" dirty="0"/>
                  <a:t> – цикличность ВР, </a:t>
                </a:r>
                <a14:m>
                  <m:oMath xmlns:m="http://schemas.openxmlformats.org/officeDocument/2006/math">
                    <m:r>
                      <m:rPr>
                        <m:sty m:val="p"/>
                      </m:rPr>
                      <a:rPr lang="en-US" altLang="en-US" sz="2000" i="0" dirty="0" smtClean="0">
                        <a:latin typeface="Cambria Math" panose="02040503050406030204" pitchFamily="18" charset="0"/>
                      </a:rPr>
                      <m:t>tren</m:t>
                    </m:r>
                    <m:sSup>
                      <m:sSupPr>
                        <m:ctrlPr>
                          <a:rPr lang="en-US" altLang="en-US" sz="2000" i="1" dirty="0">
                            <a:latin typeface="Cambria Math" panose="02040503050406030204" pitchFamily="18" charset="0"/>
                          </a:rPr>
                        </m:ctrlPr>
                      </m:sSupPr>
                      <m:e>
                        <m:r>
                          <m:rPr>
                            <m:sty m:val="p"/>
                          </m:rPr>
                          <a:rPr lang="en-US" altLang="en-US" sz="2000" i="0" dirty="0" smtClean="0">
                            <a:latin typeface="Cambria Math" panose="02040503050406030204" pitchFamily="18" charset="0"/>
                          </a:rPr>
                          <m:t>d</m:t>
                        </m:r>
                      </m:e>
                      <m:sup>
                        <m:r>
                          <a:rPr lang="en-US" altLang="en-US" sz="2000" i="0" dirty="0" smtClean="0">
                            <a:latin typeface="Cambria Math" panose="02040503050406030204" pitchFamily="18" charset="0"/>
                          </a:rPr>
                          <m:t>′</m:t>
                        </m:r>
                      </m:sup>
                    </m:sSup>
                    <m:d>
                      <m:dPr>
                        <m:ctrlPr>
                          <a:rPr lang="en-US" altLang="en-US" sz="2000" i="1" dirty="0">
                            <a:latin typeface="Cambria Math" panose="02040503050406030204" pitchFamily="18" charset="0"/>
                          </a:rPr>
                        </m:ctrlPr>
                      </m:dPr>
                      <m:e>
                        <m:r>
                          <m:rPr>
                            <m:sty m:val="p"/>
                          </m:rPr>
                          <a:rPr lang="en-US" altLang="en-US" sz="2000" i="0" dirty="0" smtClean="0">
                            <a:latin typeface="Cambria Math" panose="02040503050406030204" pitchFamily="18" charset="0"/>
                          </a:rPr>
                          <m:t>t</m:t>
                        </m:r>
                      </m:e>
                    </m:d>
                  </m:oMath>
                </a14:m>
                <a:r>
                  <a:rPr lang="ru-RU" altLang="en-US" sz="2000" dirty="0"/>
                  <a:t>-остальной тренд</a:t>
                </a:r>
                <a:endParaRPr lang="ru-RU" altLang="en-US" sz="2400" dirty="0"/>
              </a:p>
              <a:p>
                <a:pPr marL="0" indent="0" eaLnBrk="0" fontAlgn="base" hangingPunct="0">
                  <a:lnSpc>
                    <a:spcPct val="100000"/>
                  </a:lnSpc>
                  <a:spcBef>
                    <a:spcPct val="0"/>
                  </a:spcBef>
                  <a:spcAft>
                    <a:spcPct val="0"/>
                  </a:spcAft>
                  <a:buNone/>
                </a:pPr>
                <a:r>
                  <a:rPr lang="ru-RU" altLang="en-US" sz="2400" dirty="0"/>
                  <a:t>	</a:t>
                </a:r>
                <a:r>
                  <a:rPr lang="ru-RU" altLang="en-US" sz="2000" dirty="0"/>
                  <a:t>напр. если выделяют уровень экономики </a:t>
                </a:r>
                <a14:m>
                  <m:oMath xmlns:m="http://schemas.openxmlformats.org/officeDocument/2006/math">
                    <m:sSub>
                      <m:sSubPr>
                        <m:ctrlPr>
                          <a:rPr lang="en-US" altLang="en-US" sz="2000" i="1" dirty="0">
                            <a:latin typeface="Cambria Math" panose="02040503050406030204" pitchFamily="18" charset="0"/>
                          </a:rPr>
                        </m:ctrlPr>
                      </m:sSubPr>
                      <m:e>
                        <m:r>
                          <m:rPr>
                            <m:sty m:val="p"/>
                          </m:rPr>
                          <a:rPr lang="en-US" altLang="en-US" sz="2000" i="0" dirty="0" smtClean="0">
                            <a:latin typeface="Cambria Math" panose="02040503050406030204" pitchFamily="18" charset="0"/>
                          </a:rPr>
                          <m:t>a</m:t>
                        </m:r>
                      </m:e>
                      <m:sub>
                        <m:r>
                          <a:rPr lang="en-US" altLang="en-US" sz="2000" i="0" dirty="0" smtClean="0">
                            <a:latin typeface="Cambria Math" panose="02040503050406030204" pitchFamily="18" charset="0"/>
                          </a:rPr>
                          <m:t>0</m:t>
                        </m:r>
                      </m:sub>
                    </m:sSub>
                  </m:oMath>
                </a14:m>
                <a:r>
                  <a:rPr lang="ru-RU" altLang="en-US" sz="2000" dirty="0"/>
                  <a:t>, цикличность кризисов, тренд 	экономики и 	сезонные факторы ( год, неделя и </a:t>
                </a:r>
                <a:r>
                  <a:rPr lang="ru-RU" altLang="en-US" sz="2000" dirty="0" err="1"/>
                  <a:t>тд</a:t>
                </a:r>
                <a:r>
                  <a:rPr lang="ru-RU" altLang="en-US" sz="2000" dirty="0"/>
                  <a:t>)</a:t>
                </a:r>
              </a:p>
              <a:p>
                <a:pPr marL="0" indent="0" eaLnBrk="0" fontAlgn="base" hangingPunct="0">
                  <a:lnSpc>
                    <a:spcPct val="100000"/>
                  </a:lnSpc>
                  <a:spcBef>
                    <a:spcPct val="0"/>
                  </a:spcBef>
                  <a:spcAft>
                    <a:spcPct val="0"/>
                  </a:spcAft>
                  <a:buNone/>
                </a:pPr>
                <a:endParaRPr lang="ru-RU" altLang="en-US" sz="2000" dirty="0"/>
              </a:p>
              <a:p>
                <a:pPr marL="0" indent="0" eaLnBrk="0" fontAlgn="base" hangingPunct="0">
                  <a:lnSpc>
                    <a:spcPct val="100000"/>
                  </a:lnSpc>
                  <a:spcBef>
                    <a:spcPct val="0"/>
                  </a:spcBef>
                  <a:spcAft>
                    <a:spcPct val="0"/>
                  </a:spcAft>
                  <a:buNone/>
                </a:pPr>
                <a:r>
                  <a:rPr lang="ru-RU" altLang="en-US" sz="2400" dirty="0"/>
                  <a:t>Иногда может быть рассмотрена мультипликативная модель</a:t>
                </a:r>
              </a:p>
              <a:p>
                <a:pPr marL="0" indent="0" algn="ctr" eaLnBrk="0" fontAlgn="base" hangingPunct="0">
                  <a:lnSpc>
                    <a:spcPct val="100000"/>
                  </a:lnSpc>
                  <a:spcBef>
                    <a:spcPct val="0"/>
                  </a:spcBef>
                  <a:spcAft>
                    <a:spcPct val="0"/>
                  </a:spcAft>
                  <a:buNone/>
                </a:pPr>
                <a14:m>
                  <m:oMath xmlns:m="http://schemas.openxmlformats.org/officeDocument/2006/math">
                    <m:r>
                      <m:rPr>
                        <m:sty m:val="p"/>
                      </m:rPr>
                      <a:rPr lang="en-US" altLang="en-US" sz="2400" i="0" dirty="0" smtClean="0">
                        <a:latin typeface="Cambria Math" panose="02040503050406030204" pitchFamily="18" charset="0"/>
                      </a:rPr>
                      <m:t>y</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i="0" dirty="0" smtClean="0">
                        <a:latin typeface="Cambria Math" panose="02040503050406030204" pitchFamily="18" charset="0"/>
                      </a:rPr>
                      <m:t>= </m:t>
                    </m:r>
                    <m:r>
                      <m:rPr>
                        <m:sty m:val="p"/>
                      </m:rPr>
                      <a:rPr lang="en-US" altLang="en-US" sz="2400" i="0" dirty="0" smtClean="0">
                        <a:latin typeface="Cambria Math" panose="02040503050406030204" pitchFamily="18" charset="0"/>
                      </a:rPr>
                      <m:t>trend</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r>
                      <a:rPr lang="en-US" altLang="en-US" sz="2400" b="0" i="0" dirty="0" smtClean="0">
                        <a:latin typeface="Cambria Math" panose="02040503050406030204" pitchFamily="18" charset="0"/>
                      </a:rPr>
                      <m:t>⋅</m:t>
                    </m:r>
                    <m:r>
                      <m:rPr>
                        <m:sty m:val="p"/>
                      </m:rPr>
                      <a:rPr lang="en-US" altLang="en-US" sz="2400" i="0" dirty="0" smtClean="0">
                        <a:latin typeface="Cambria Math" panose="02040503050406030204" pitchFamily="18" charset="0"/>
                      </a:rPr>
                      <m:t>seasonal</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t</m:t>
                    </m:r>
                    <m:r>
                      <a:rPr lang="en-US" altLang="en-US" sz="2400" i="0" dirty="0" smtClean="0">
                        <a:latin typeface="Cambria Math" panose="02040503050406030204" pitchFamily="18" charset="0"/>
                      </a:rPr>
                      <m:t>)⋅</m:t>
                    </m:r>
                    <m:r>
                      <m:rPr>
                        <m:sty m:val="p"/>
                      </m:rPr>
                      <a:rPr lang="en-US" altLang="en-US" sz="2400" i="0" dirty="0" smtClean="0">
                        <a:latin typeface="Cambria Math" panose="02040503050406030204" pitchFamily="18" charset="0"/>
                      </a:rPr>
                      <m:t>noise</m:t>
                    </m:r>
                    <m:d>
                      <m:dPr>
                        <m:ctrlPr>
                          <a:rPr lang="en-US" altLang="en-US" sz="2400" i="1" dirty="0">
                            <a:latin typeface="Cambria Math" panose="02040503050406030204" pitchFamily="18" charset="0"/>
                          </a:rPr>
                        </m:ctrlPr>
                      </m:dPr>
                      <m:e>
                        <m:r>
                          <m:rPr>
                            <m:sty m:val="p"/>
                          </m:rPr>
                          <a:rPr lang="en-US" altLang="en-US" sz="2400" i="0" dirty="0" smtClean="0">
                            <a:latin typeface="Cambria Math" panose="02040503050406030204" pitchFamily="18" charset="0"/>
                          </a:rPr>
                          <m:t>t</m:t>
                        </m:r>
                      </m:e>
                    </m:d>
                  </m:oMath>
                </a14:m>
                <a:r>
                  <a:rPr lang="en-US" altLang="en-US" sz="2400" dirty="0"/>
                  <a:t> </a:t>
                </a:r>
              </a:p>
              <a:p>
                <a:pPr marL="0" indent="0" eaLnBrk="0" fontAlgn="base" hangingPunct="0">
                  <a:lnSpc>
                    <a:spcPct val="100000"/>
                  </a:lnSpc>
                  <a:spcBef>
                    <a:spcPct val="0"/>
                  </a:spcBef>
                  <a:spcAft>
                    <a:spcPct val="0"/>
                  </a:spcAft>
                  <a:buNone/>
                </a:pPr>
                <a:endParaRPr lang="ru-RU" altLang="en-US" sz="22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770" t="-685"/>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6</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Прямоугольник 7"/>
          <p:cNvSpPr/>
          <p:nvPr/>
        </p:nvSpPr>
        <p:spPr>
          <a:xfrm>
            <a:off x="209550" y="6475550"/>
            <a:ext cx="4205831" cy="369332"/>
          </a:xfrm>
          <a:prstGeom prst="rect">
            <a:avLst/>
          </a:prstGeom>
        </p:spPr>
        <p:txBody>
          <a:bodyPr wrap="none">
            <a:spAutoFit/>
          </a:bodyPr>
          <a:lstStyle/>
          <a:p>
            <a:r>
              <a:rPr lang="ru-RU" dirty="0"/>
              <a:t>https://otexts.com/fpp2/components.html</a:t>
            </a:r>
          </a:p>
        </p:txBody>
      </p:sp>
    </p:spTree>
    <p:extLst>
      <p:ext uri="{BB962C8B-B14F-4D97-AF65-F5344CB8AC3E}">
        <p14:creationId xmlns:p14="http://schemas.microsoft.com/office/powerpoint/2010/main" val="25767120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C1AD7-BB33-7CC2-68FB-590F16FEF6B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F777E61-0FF9-5C6C-5474-1D8DF336861B}"/>
              </a:ext>
            </a:extLst>
          </p:cNvPr>
          <p:cNvSpPr>
            <a:spLocks noGrp="1"/>
          </p:cNvSpPr>
          <p:nvPr>
            <p:ph type="title"/>
          </p:nvPr>
        </p:nvSpPr>
        <p:spPr>
          <a:xfrm>
            <a:off x="1723209" y="204681"/>
            <a:ext cx="9829800" cy="911225"/>
          </a:xfrm>
        </p:spPr>
        <p:txBody>
          <a:bodyPr/>
          <a:lstStyle/>
          <a:p>
            <a:r>
              <a:rPr lang="ru-RU" dirty="0">
                <a:solidFill>
                  <a:srgbClr val="333333"/>
                </a:solidFill>
                <a:latin typeface="Open Sans"/>
              </a:rPr>
              <a:t>Популярные виды тренда</a:t>
            </a:r>
            <a:endParaRPr lang="en-US"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3E928F5E-9353-4EF2-99DF-539F6AAC8111}"/>
                  </a:ext>
                </a:extLst>
              </p:cNvPr>
              <p:cNvSpPr>
                <a:spLocks noGrp="1"/>
              </p:cNvSpPr>
              <p:nvPr>
                <p:ph idx="1"/>
              </p:nvPr>
            </p:nvSpPr>
            <p:spPr>
              <a:xfrm>
                <a:off x="341194" y="990601"/>
                <a:ext cx="10715426" cy="5732930"/>
              </a:xfrm>
            </p:spPr>
            <p:txBody>
              <a:bodyPr>
                <a:normAutofit/>
              </a:bodyPr>
              <a:lstStyle/>
              <a:p>
                <a:pPr>
                  <a:lnSpc>
                    <a:spcPct val="110000"/>
                  </a:lnSpc>
                </a:pPr>
                <a:r>
                  <a:rPr lang="ru-RU" sz="2000" dirty="0">
                    <a:latin typeface="Arial" panose="020B0604020202020204" pitchFamily="34" charset="0"/>
                    <a:cs typeface="Arial" panose="020B0604020202020204" pitchFamily="34" charset="0"/>
                  </a:rPr>
                  <a:t>Отсутствие тренда</a:t>
                </a:r>
                <a:r>
                  <a:rPr lang="en-US" sz="2000" dirty="0">
                    <a:latin typeface="Arial" panose="020B0604020202020204" pitchFamily="34" charset="0"/>
                    <a:cs typeface="Arial" panose="020B0604020202020204" pitchFamily="34" charset="0"/>
                  </a:rPr>
                  <a:t>.     </a:t>
                </a:r>
              </a:p>
              <a:p>
                <a:pPr>
                  <a:lnSpc>
                    <a:spcPct val="110000"/>
                  </a:lnSpc>
                </a:pPr>
                <a:r>
                  <a:rPr lang="ru-RU" sz="2000" dirty="0">
                    <a:latin typeface="Arial" panose="020B0604020202020204" pitchFamily="34" charset="0"/>
                    <a:cs typeface="Arial" panose="020B0604020202020204" pitchFamily="34" charset="0"/>
                  </a:rPr>
                  <a:t>Случайный тренд</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или</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стохастический тренд</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например случайное блуждание</a:t>
                </a:r>
                <a:r>
                  <a:rPr lang="en-US" sz="2000" dirty="0">
                    <a:latin typeface="Arial" panose="020B0604020202020204" pitchFamily="34" charset="0"/>
                    <a:cs typeface="Arial" panose="020B0604020202020204" pitchFamily="34" charset="0"/>
                  </a:rPr>
                  <a:t>).       </a:t>
                </a:r>
              </a:p>
              <a:p>
                <a:pPr>
                  <a:lnSpc>
                    <a:spcPct val="110000"/>
                  </a:lnSpc>
                </a:pPr>
                <a14:m>
                  <m:oMath xmlns:m="http://schemas.openxmlformats.org/officeDocument/2006/math">
                    <m:r>
                      <a:rPr lang="ru-RU" sz="2000" i="1" dirty="0">
                        <a:latin typeface="Cambria Math" panose="02040503050406030204" pitchFamily="18" charset="0"/>
                        <a:cs typeface="Arial" panose="020B0604020202020204" pitchFamily="34" charset="0"/>
                      </a:rPr>
                      <m:t>Л</m:t>
                    </m:r>
                    <m:r>
                      <a:rPr lang="ru-RU" sz="2000" dirty="0">
                        <a:latin typeface="Cambria Math" panose="02040503050406030204" pitchFamily="18" charset="0"/>
                        <a:cs typeface="Arial" panose="020B0604020202020204" pitchFamily="34" charset="0"/>
                      </a:rPr>
                      <m:t>инейный тренд </m:t>
                    </m:r>
                    <m:r>
                      <a:rPr lang="en-US" sz="2000" dirty="0">
                        <a:latin typeface="Cambria Math" panose="02040503050406030204" pitchFamily="18" charset="0"/>
                        <a:cs typeface="Arial" panose="020B0604020202020204" pitchFamily="34" charset="0"/>
                      </a:rPr>
                      <m:t>𝑦</m:t>
                    </m:r>
                    <m:d>
                      <m:dPr>
                        <m:ctrlPr>
                          <a:rPr lang="en-US" sz="2000" i="1" dirty="0">
                            <a:latin typeface="Cambria Math" panose="02040503050406030204" pitchFamily="18" charset="0"/>
                            <a:cs typeface="Arial" panose="020B0604020202020204" pitchFamily="34" charset="0"/>
                          </a:rPr>
                        </m:ctrlPr>
                      </m:dPr>
                      <m:e>
                        <m:r>
                          <a:rPr lang="en-US" sz="2000" dirty="0">
                            <a:latin typeface="Cambria Math" panose="02040503050406030204" pitchFamily="18" charset="0"/>
                            <a:cs typeface="Arial" panose="020B0604020202020204" pitchFamily="34" charset="0"/>
                          </a:rPr>
                          <m:t>𝑡</m:t>
                        </m:r>
                      </m:e>
                    </m:d>
                    <m:r>
                      <a:rPr lang="en-US" sz="2000" dirty="0">
                        <a:latin typeface="Cambria Math" panose="02040503050406030204" pitchFamily="18" charset="0"/>
                        <a:cs typeface="Arial" panose="020B0604020202020204" pitchFamily="34" charset="0"/>
                      </a:rPr>
                      <m:t>= </m:t>
                    </m:r>
                    <m:r>
                      <a:rPr lang="en-US" sz="2000" dirty="0">
                        <a:latin typeface="Cambria Math" panose="02040503050406030204" pitchFamily="18" charset="0"/>
                        <a:cs typeface="Arial" panose="020B0604020202020204" pitchFamily="34" charset="0"/>
                      </a:rPr>
                      <m:t>𝑎</m:t>
                    </m:r>
                    <m:r>
                      <a:rPr lang="en-US" sz="2000" dirty="0">
                        <a:latin typeface="Cambria Math" panose="02040503050406030204" pitchFamily="18" charset="0"/>
                        <a:cs typeface="Arial" panose="020B0604020202020204" pitchFamily="34" charset="0"/>
                      </a:rPr>
                      <m:t>⋅ </m:t>
                    </m:r>
                    <m:r>
                      <a:rPr lang="en-US" sz="2000" dirty="0">
                        <a:latin typeface="Cambria Math" panose="02040503050406030204" pitchFamily="18" charset="0"/>
                        <a:cs typeface="Arial" panose="020B0604020202020204" pitchFamily="34" charset="0"/>
                      </a:rPr>
                      <m:t>𝑡</m:t>
                    </m:r>
                    <m:r>
                      <a:rPr lang="en-US" sz="2000" dirty="0">
                        <a:latin typeface="Cambria Math" panose="02040503050406030204" pitchFamily="18" charset="0"/>
                        <a:cs typeface="Arial" panose="020B0604020202020204" pitchFamily="34" charset="0"/>
                      </a:rPr>
                      <m:t> + </m:t>
                    </m:r>
                    <m:r>
                      <a:rPr lang="en-US" sz="2000" dirty="0">
                        <a:latin typeface="Cambria Math" panose="02040503050406030204" pitchFamily="18" charset="0"/>
                        <a:cs typeface="Arial" panose="020B0604020202020204" pitchFamily="34" charset="0"/>
                      </a:rPr>
                      <m:t>𝑏</m:t>
                    </m:r>
                    <m:r>
                      <a:rPr lang="en-US" sz="2000" dirty="0">
                        <a:latin typeface="Cambria Math" panose="02040503050406030204" pitchFamily="18" charset="0"/>
                        <a:cs typeface="Arial" panose="020B0604020202020204" pitchFamily="34" charset="0"/>
                      </a:rPr>
                      <m:t>     </m:t>
                    </m:r>
                  </m:oMath>
                </a14:m>
                <a:endParaRPr lang="en-US" sz="2000" dirty="0">
                  <a:latin typeface="Arial" panose="020B0604020202020204" pitchFamily="34" charset="0"/>
                  <a:cs typeface="Arial" panose="020B0604020202020204" pitchFamily="34" charset="0"/>
                </a:endParaRPr>
              </a:p>
              <a:p>
                <a:pPr>
                  <a:lnSpc>
                    <a:spcPct val="110000"/>
                  </a:lnSpc>
                </a:pPr>
                <a:r>
                  <a:rPr lang="ru-RU" sz="2000" dirty="0">
                    <a:latin typeface="Arial" panose="020B0604020202020204" pitchFamily="34" charset="0"/>
                    <a:cs typeface="Arial" panose="020B0604020202020204" pitchFamily="34" charset="0"/>
                  </a:rPr>
                  <a:t>Экспоненциальный</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тренд</a:t>
                </a:r>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dirty="0">
                        <a:latin typeface="Cambria Math" panose="02040503050406030204" pitchFamily="18" charset="0"/>
                        <a:cs typeface="Arial" panose="020B0604020202020204" pitchFamily="34" charset="0"/>
                      </a:rPr>
                      <m:t>𝑦</m:t>
                    </m:r>
                    <m:d>
                      <m:dPr>
                        <m:ctrlPr>
                          <a:rPr lang="en-US" sz="2000" i="1" dirty="0">
                            <a:latin typeface="Cambria Math" panose="02040503050406030204" pitchFamily="18" charset="0"/>
                            <a:cs typeface="Arial" panose="020B0604020202020204" pitchFamily="34" charset="0"/>
                          </a:rPr>
                        </m:ctrlPr>
                      </m:dPr>
                      <m:e>
                        <m:r>
                          <a:rPr lang="en-US" sz="2000" i="1" dirty="0">
                            <a:latin typeface="Cambria Math" panose="02040503050406030204" pitchFamily="18" charset="0"/>
                            <a:cs typeface="Arial" panose="020B0604020202020204" pitchFamily="34" charset="0"/>
                          </a:rPr>
                          <m:t>𝑡</m:t>
                        </m:r>
                      </m:e>
                    </m:d>
                    <m:r>
                      <a:rPr lang="en-US" sz="2000" i="1" dirty="0">
                        <a:latin typeface="Cambria Math" panose="02040503050406030204" pitchFamily="18" charset="0"/>
                        <a:cs typeface="Arial" panose="020B0604020202020204" pitchFamily="34" charset="0"/>
                      </a:rPr>
                      <m:t>= </m:t>
                    </m:r>
                    <m:r>
                      <m:rPr>
                        <m:sty m:val="p"/>
                      </m:rPr>
                      <a:rPr lang="en-US" sz="2000" i="1" dirty="0">
                        <a:latin typeface="Cambria Math" panose="02040503050406030204" pitchFamily="18" charset="0"/>
                        <a:cs typeface="Arial" panose="020B0604020202020204" pitchFamily="34" charset="0"/>
                      </a:rPr>
                      <m:t>exp</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𝑎</m:t>
                    </m:r>
                    <m:r>
                      <a:rPr lang="en-US" sz="2000" i="1" dirty="0">
                        <a:latin typeface="Cambria Math" panose="02040503050406030204" pitchFamily="18" charset="0"/>
                        <a:cs typeface="Arial" panose="020B0604020202020204" pitchFamily="34" charset="0"/>
                      </a:rPr>
                      <m:t>⋅ </m:t>
                    </m:r>
                    <m:r>
                      <a:rPr lang="en-US" sz="2000" i="1" dirty="0" err="1">
                        <a:latin typeface="Cambria Math" panose="02040503050406030204" pitchFamily="18" charset="0"/>
                        <a:cs typeface="Arial" panose="020B0604020202020204" pitchFamily="34" charset="0"/>
                      </a:rPr>
                      <m:t>𝑡</m:t>
                    </m:r>
                    <m:r>
                      <a:rPr lang="en-US" sz="2000" i="1" dirty="0" err="1">
                        <a:latin typeface="Cambria Math" panose="02040503050406030204" pitchFamily="18" charset="0"/>
                        <a:cs typeface="Arial" panose="020B0604020202020204" pitchFamily="34" charset="0"/>
                      </a:rPr>
                      <m:t>+</m:t>
                    </m:r>
                    <m:r>
                      <a:rPr lang="en-US" sz="2000" i="1" dirty="0" err="1">
                        <a:latin typeface="Cambria Math" panose="02040503050406030204" pitchFamily="18" charset="0"/>
                        <a:cs typeface="Arial" panose="020B0604020202020204" pitchFamily="34" charset="0"/>
                      </a:rPr>
                      <m:t>𝑏</m:t>
                    </m:r>
                    <m:r>
                      <a:rPr lang="en-US" sz="2000" i="1" dirty="0">
                        <a:latin typeface="Cambria Math" panose="02040503050406030204" pitchFamily="18" charset="0"/>
                        <a:cs typeface="Arial" panose="020B0604020202020204" pitchFamily="34" charset="0"/>
                      </a:rPr>
                      <m:t>}     </m:t>
                    </m:r>
                  </m:oMath>
                </a14:m>
                <a:endParaRPr lang="en-US" sz="2000" dirty="0">
                  <a:latin typeface="Arial" panose="020B0604020202020204" pitchFamily="34" charset="0"/>
                  <a:cs typeface="Arial" panose="020B0604020202020204" pitchFamily="34" charset="0"/>
                </a:endParaRPr>
              </a:p>
              <a:p>
                <a:pPr>
                  <a:lnSpc>
                    <a:spcPct val="110000"/>
                  </a:lnSpc>
                </a:pPr>
                <a:r>
                  <a:rPr lang="ru-RU" sz="2000" dirty="0">
                    <a:latin typeface="Arial" panose="020B0604020202020204" pitchFamily="34" charset="0"/>
                    <a:cs typeface="Arial" panose="020B0604020202020204" pitchFamily="34" charset="0"/>
                  </a:rPr>
                  <a:t>Насыщение</a:t>
                </a:r>
                <a:r>
                  <a:rPr lang="en-US" sz="2000" dirty="0">
                    <a:latin typeface="Arial" panose="020B0604020202020204" pitchFamily="34" charset="0"/>
                    <a:cs typeface="Arial" panose="020B0604020202020204" pitchFamily="34" charset="0"/>
                  </a:rPr>
                  <a:t>(</a:t>
                </a:r>
                <a:r>
                  <a:rPr lang="ru-RU" sz="2000" dirty="0">
                    <a:latin typeface="Arial" panose="020B0604020202020204" pitchFamily="34" charset="0"/>
                    <a:cs typeface="Arial" panose="020B0604020202020204" pitchFamily="34" charset="0"/>
                  </a:rPr>
                  <a:t>логистический</a:t>
                </a:r>
                <a:r>
                  <a:rPr lang="en-US" sz="2000" dirty="0">
                    <a:latin typeface="Arial" panose="020B0604020202020204" pitchFamily="34" charset="0"/>
                    <a:cs typeface="Arial" panose="020B0604020202020204" pitchFamily="34" charset="0"/>
                  </a:rPr>
                  <a:t>) </a:t>
                </a:r>
                <a:r>
                  <a:rPr lang="ru-RU" sz="2000" dirty="0">
                    <a:latin typeface="Arial" panose="020B0604020202020204" pitchFamily="34" charset="0"/>
                    <a:cs typeface="Arial" panose="020B0604020202020204" pitchFamily="34" charset="0"/>
                  </a:rPr>
                  <a:t>тренд</a:t>
                </a:r>
                <a:r>
                  <a:rPr lang="en-US" sz="2000" dirty="0">
                    <a:latin typeface="Arial" panose="020B0604020202020204" pitchFamily="34" charset="0"/>
                    <a:cs typeface="Arial" panose="020B0604020202020204" pitchFamily="34" charset="0"/>
                  </a:rPr>
                  <a:t>   </a:t>
                </a:r>
                <a14:m>
                  <m:oMath xmlns:m="http://schemas.openxmlformats.org/officeDocument/2006/math">
                    <m:r>
                      <a:rPr lang="en-US" sz="2000" i="1" dirty="0">
                        <a:latin typeface="Cambria Math" panose="02040503050406030204" pitchFamily="18" charset="0"/>
                        <a:cs typeface="Arial" panose="020B0604020202020204" pitchFamily="34" charset="0"/>
                      </a:rPr>
                      <m:t>𝑦</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𝑡</m:t>
                    </m:r>
                    <m:r>
                      <a:rPr lang="en-US" sz="2000" i="1" dirty="0">
                        <a:latin typeface="Cambria Math" panose="02040503050406030204" pitchFamily="18" charset="0"/>
                        <a:cs typeface="Arial" panose="020B0604020202020204" pitchFamily="34" charset="0"/>
                      </a:rPr>
                      <m:t>) =</m:t>
                    </m:r>
                    <m:f>
                      <m:fPr>
                        <m:ctrlPr>
                          <a:rPr lang="en-US" sz="2000" i="1" dirty="0">
                            <a:latin typeface="Cambria Math" panose="02040503050406030204" pitchFamily="18" charset="0"/>
                            <a:cs typeface="Arial" panose="020B0604020202020204" pitchFamily="34" charset="0"/>
                          </a:rPr>
                        </m:ctrlPr>
                      </m:fPr>
                      <m:num>
                        <m:r>
                          <a:rPr lang="en-US" sz="2000" i="1" dirty="0">
                            <a:latin typeface="Cambria Math" panose="02040503050406030204" pitchFamily="18" charset="0"/>
                            <a:cs typeface="Arial" panose="020B0604020202020204" pitchFamily="34" charset="0"/>
                          </a:rPr>
                          <m:t>𝑐</m:t>
                        </m:r>
                      </m:num>
                      <m:den>
                        <m:r>
                          <a:rPr lang="en-US" sz="2000" i="1" dirty="0">
                            <a:latin typeface="Cambria Math" panose="02040503050406030204" pitchFamily="18" charset="0"/>
                            <a:cs typeface="Arial" panose="020B0604020202020204" pitchFamily="34" charset="0"/>
                          </a:rPr>
                          <m:t>1+</m:t>
                        </m:r>
                        <m:r>
                          <m:rPr>
                            <m:sty m:val="p"/>
                          </m:rPr>
                          <a:rPr lang="en-US" sz="2000" i="1" dirty="0">
                            <a:latin typeface="Cambria Math" panose="02040503050406030204" pitchFamily="18" charset="0"/>
                            <a:cs typeface="Arial" panose="020B0604020202020204" pitchFamily="34" charset="0"/>
                          </a:rPr>
                          <m:t>exp</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𝑘</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𝑡</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𝑚</m:t>
                        </m:r>
                        <m:r>
                          <a:rPr lang="en-US" sz="2000" i="1" dirty="0">
                            <a:latin typeface="Cambria Math" panose="02040503050406030204" pitchFamily="18" charset="0"/>
                            <a:cs typeface="Arial" panose="020B0604020202020204" pitchFamily="34" charset="0"/>
                          </a:rPr>
                          <m:t>))</m:t>
                        </m:r>
                      </m:den>
                    </m:f>
                  </m:oMath>
                </a14:m>
                <a:endParaRPr lang="en-US" sz="2000" dirty="0">
                  <a:latin typeface="Arial" panose="020B0604020202020204" pitchFamily="34" charset="0"/>
                  <a:cs typeface="Arial" panose="020B0604020202020204" pitchFamily="34" charset="0"/>
                </a:endParaRPr>
              </a:p>
              <a:p>
                <a:pPr>
                  <a:lnSpc>
                    <a:spcPct val="110000"/>
                  </a:lnSpc>
                </a:pPr>
                <a:r>
                  <a:rPr lang="ru-RU" sz="2000" dirty="0">
                    <a:latin typeface="Arial" panose="020B0604020202020204" pitchFamily="34" charset="0"/>
                    <a:cs typeface="Arial" panose="020B0604020202020204" pitchFamily="34" charset="0"/>
                  </a:rPr>
                  <a:t>Модель огибающей </a:t>
                </a:r>
                <a:r>
                  <a:rPr lang="en-US" sz="2000" dirty="0">
                    <a:latin typeface="Arial" panose="020B0604020202020204" pitchFamily="34" charset="0"/>
                    <a:cs typeface="Arial" panose="020B0604020202020204" pitchFamily="34" charset="0"/>
                  </a:rPr>
                  <a:t>(envelope) – </a:t>
                </a:r>
                <a:r>
                  <a:rPr lang="ru-RU" sz="2000" dirty="0">
                    <a:latin typeface="Arial" panose="020B0604020202020204" pitchFamily="34" charset="0"/>
                    <a:cs typeface="Arial" panose="020B0604020202020204" pitchFamily="34" charset="0"/>
                  </a:rPr>
                  <a:t>медленный циклический процесс</a:t>
                </a:r>
                <a:endParaRPr lang="en-US" sz="2000" dirty="0">
                  <a:latin typeface="Arial" panose="020B0604020202020204" pitchFamily="34" charset="0"/>
                  <a:cs typeface="Arial" panose="020B0604020202020204" pitchFamily="34" charset="0"/>
                </a:endParaRPr>
              </a:p>
            </p:txBody>
          </p:sp>
        </mc:Choice>
        <mc:Fallback xmlns="">
          <p:sp>
            <p:nvSpPr>
              <p:cNvPr id="3" name="Объект 2">
                <a:extLst>
                  <a:ext uri="{FF2B5EF4-FFF2-40B4-BE49-F238E27FC236}">
                    <a16:creationId xmlns:a16="http://schemas.microsoft.com/office/drawing/2014/main" id="{3E928F5E-9353-4EF2-99DF-539F6AAC8111}"/>
                  </a:ext>
                </a:extLst>
              </p:cNvPr>
              <p:cNvSpPr>
                <a:spLocks noGrp="1" noRot="1" noChangeAspect="1" noMove="1" noResize="1" noEditPoints="1" noAdjustHandles="1" noChangeArrowheads="1" noChangeShapeType="1" noTextEdit="1"/>
              </p:cNvSpPr>
              <p:nvPr>
                <p:ph idx="1"/>
              </p:nvPr>
            </p:nvSpPr>
            <p:spPr>
              <a:xfrm>
                <a:off x="341194" y="990601"/>
                <a:ext cx="10715426" cy="5732930"/>
              </a:xfrm>
              <a:blipFill>
                <a:blip r:embed="rId2"/>
                <a:stretch>
                  <a:fillRect l="-355" t="-442"/>
                </a:stretch>
              </a:blipFill>
            </p:spPr>
            <p:txBody>
              <a:bodyPr/>
              <a:lstStyle/>
              <a:p>
                <a:r>
                  <a:rPr lang="ru-RU">
                    <a:noFill/>
                  </a:rPr>
                  <a:t> </a:t>
                </a:r>
              </a:p>
            </p:txBody>
          </p:sp>
        </mc:Fallback>
      </mc:AlternateContent>
      <p:sp>
        <p:nvSpPr>
          <p:cNvPr id="4" name="Номер слайда 3">
            <a:extLst>
              <a:ext uri="{FF2B5EF4-FFF2-40B4-BE49-F238E27FC236}">
                <a16:creationId xmlns:a16="http://schemas.microsoft.com/office/drawing/2014/main" id="{6D2D414B-DC90-4E2C-F7A1-99473ECCCC65}"/>
              </a:ext>
            </a:extLst>
          </p:cNvPr>
          <p:cNvSpPr>
            <a:spLocks noGrp="1"/>
          </p:cNvSpPr>
          <p:nvPr>
            <p:ph type="sldNum" sz="quarter" idx="12"/>
          </p:nvPr>
        </p:nvSpPr>
        <p:spPr/>
        <p:txBody>
          <a:bodyPr/>
          <a:lstStyle/>
          <a:p>
            <a:fld id="{45C3B737-A709-4ABC-AFE0-A6B067850C48}" type="slidenum">
              <a:rPr lang="en-US" smtClean="0"/>
              <a:t>7</a:t>
            </a:fld>
            <a:endParaRPr lang="en-US"/>
          </a:p>
        </p:txBody>
      </p:sp>
      <p:pic>
        <p:nvPicPr>
          <p:cNvPr id="1026" name="Picture 2" descr="5.4.3. Логистическое уравнение тренда">
            <a:extLst>
              <a:ext uri="{FF2B5EF4-FFF2-40B4-BE49-F238E27FC236}">
                <a16:creationId xmlns:a16="http://schemas.microsoft.com/office/drawing/2014/main" id="{E9A1594A-EA25-AB98-CBA2-0E4FD630E763}"/>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124533" y="4076808"/>
            <a:ext cx="5971467" cy="227748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oving Average Envelopes: Learn How Clever Traders Use Them - Commodity.com">
            <a:extLst>
              <a:ext uri="{FF2B5EF4-FFF2-40B4-BE49-F238E27FC236}">
                <a16:creationId xmlns:a16="http://schemas.microsoft.com/office/drawing/2014/main" id="{95B8019D-07C7-24CA-E023-876053030A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2968" y="3918712"/>
            <a:ext cx="4164103" cy="2802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63944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381000" y="-34869"/>
            <a:ext cx="11344275" cy="1325563"/>
          </a:xfrm>
        </p:spPr>
        <p:txBody>
          <a:bodyPr/>
          <a:lstStyle/>
          <a:p>
            <a:r>
              <a:rPr lang="ru-RU" b="1" dirty="0"/>
              <a:t>Модели временных рядов. Случайный тренд</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mtClean="0"/>
              <a:t>8</a:t>
            </a:fld>
            <a:endParaRPr lang="en-US"/>
          </a:p>
        </p:txBody>
      </p:sp>
      <p:pic>
        <p:nvPicPr>
          <p:cNvPr id="9222" name="Picture 6" descr="Random Walk Model">
            <a:extLst>
              <a:ext uri="{FF2B5EF4-FFF2-40B4-BE49-F238E27FC236}">
                <a16:creationId xmlns:a16="http://schemas.microsoft.com/office/drawing/2014/main" id="{920890C2-9E02-A843-DB04-2D84A50E87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2284" y="2687052"/>
            <a:ext cx="7076631" cy="313004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15B885D-9506-4C0D-A25E-CFF9E20AF593}"/>
              </a:ext>
            </a:extLst>
          </p:cNvPr>
          <p:cNvSpPr txBox="1"/>
          <p:nvPr/>
        </p:nvSpPr>
        <p:spPr>
          <a:xfrm>
            <a:off x="6619875" y="6356350"/>
            <a:ext cx="5572125" cy="307777"/>
          </a:xfrm>
          <a:prstGeom prst="rect">
            <a:avLst/>
          </a:prstGeom>
          <a:noFill/>
        </p:spPr>
        <p:txBody>
          <a:bodyPr wrap="square">
            <a:spAutoFit/>
          </a:bodyPr>
          <a:lstStyle/>
          <a:p>
            <a:r>
              <a:rPr lang="ru-RU" sz="1400" dirty="0">
                <a:hlinkClick r:id="rId3"/>
              </a:rPr>
              <a:t>https://people.duke.edu/~rnau/411rand.ht</a:t>
            </a:r>
            <a:r>
              <a:rPr lang="en-US" sz="1400" dirty="0">
                <a:hlinkClick r:id="rId3"/>
              </a:rPr>
              <a:t>random</a:t>
            </a:r>
            <a:endParaRPr lang="ru-RU" sz="1400" dirty="0"/>
          </a:p>
        </p:txBody>
      </p:sp>
      <p:sp>
        <p:nvSpPr>
          <p:cNvPr id="3" name="Прямоугольник 2"/>
          <p:cNvSpPr/>
          <p:nvPr/>
        </p:nvSpPr>
        <p:spPr>
          <a:xfrm>
            <a:off x="381000" y="947474"/>
            <a:ext cx="11449050" cy="1938992"/>
          </a:xfrm>
          <a:prstGeom prst="rect">
            <a:avLst/>
          </a:prstGeom>
        </p:spPr>
        <p:txBody>
          <a:bodyPr wrap="square">
            <a:spAutoFit/>
          </a:bodyPr>
          <a:lstStyle/>
          <a:p>
            <a:r>
              <a:rPr lang="ru-RU" sz="2400" dirty="0"/>
              <a:t>Модели случайных блужданий широко используются для обработки нестационарных данных, в частности финансовых и экономических данных. </a:t>
            </a:r>
            <a:endParaRPr lang="en-US" sz="2400" dirty="0"/>
          </a:p>
          <a:p>
            <a:r>
              <a:rPr lang="ru-RU" sz="2400" dirty="0"/>
              <a:t>Случайные блуждания обычно имеют: </a:t>
            </a:r>
            <a:endParaRPr lang="en-US" sz="2400" dirty="0"/>
          </a:p>
          <a:p>
            <a:pPr marL="342900" indent="-342900">
              <a:buFont typeface="Arial" panose="020B0604020202020204" pitchFamily="34" charset="0"/>
              <a:buChar char="•"/>
            </a:pPr>
            <a:r>
              <a:rPr lang="ru-RU" sz="2400" dirty="0"/>
              <a:t>длительные периоды очевидных тенденций к повышению или снижению </a:t>
            </a:r>
            <a:endParaRPr lang="en-US" sz="2400" dirty="0"/>
          </a:p>
          <a:p>
            <a:pPr marL="342900" indent="-342900">
              <a:buFont typeface="Arial" panose="020B0604020202020204" pitchFamily="34" charset="0"/>
              <a:buChar char="•"/>
            </a:pPr>
            <a:r>
              <a:rPr lang="ru-RU" sz="2400" dirty="0"/>
              <a:t>внезапные и непредсказуемые изменения направления.</a:t>
            </a:r>
          </a:p>
        </p:txBody>
      </p:sp>
      <p:sp>
        <p:nvSpPr>
          <p:cNvPr id="5" name="Прямоугольник 4"/>
          <p:cNvSpPr/>
          <p:nvPr/>
        </p:nvSpPr>
        <p:spPr>
          <a:xfrm>
            <a:off x="5584958" y="5987018"/>
            <a:ext cx="4089133" cy="369332"/>
          </a:xfrm>
          <a:prstGeom prst="rect">
            <a:avLst/>
          </a:prstGeom>
        </p:spPr>
        <p:txBody>
          <a:bodyPr wrap="none">
            <a:spAutoFit/>
          </a:bodyPr>
          <a:lstStyle/>
          <a:p>
            <a:r>
              <a:rPr lang="ru-RU" dirty="0"/>
              <a:t>https://otexts.com/fpp2/stationarity.html</a:t>
            </a:r>
          </a:p>
        </p:txBody>
      </p:sp>
      <mc:AlternateContent xmlns:mc="http://schemas.openxmlformats.org/markup-compatibility/2006" xmlns:a14="http://schemas.microsoft.com/office/drawing/2010/main">
        <mc:Choice Requires="a14">
          <p:sp>
            <p:nvSpPr>
              <p:cNvPr id="6" name="Прямоугольник 5"/>
              <p:cNvSpPr/>
              <p:nvPr/>
            </p:nvSpPr>
            <p:spPr>
              <a:xfrm>
                <a:off x="381000" y="2974521"/>
                <a:ext cx="4933950" cy="2031325"/>
              </a:xfrm>
              <a:prstGeom prst="rect">
                <a:avLst/>
              </a:prstGeom>
            </p:spPr>
            <p:txBody>
              <a:bodyPr wrap="square">
                <a:spAutoFit/>
              </a:bodyPr>
              <a:lstStyle/>
              <a:p>
                <a:r>
                  <a:rPr lang="ru-RU" i="1" dirty="0">
                    <a:latin typeface="Cambria Math" panose="02040503050406030204" pitchFamily="18" charset="0"/>
                    <a:cs typeface="Arial" panose="020B0604020202020204" pitchFamily="34" charset="0"/>
                  </a:rPr>
                  <a:t>Модель ВР </a:t>
                </a:r>
                <a:r>
                  <a:rPr lang="en-US" i="1" dirty="0">
                    <a:latin typeface="Cambria Math" panose="02040503050406030204" pitchFamily="18" charset="0"/>
                    <a:cs typeface="Arial" panose="020B0604020202020204" pitchFamily="34" charset="0"/>
                  </a:rPr>
                  <a:t>random walk</a:t>
                </a:r>
                <a:endParaRPr lang="ru-RU" i="1" dirty="0">
                  <a:latin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 =</m:t>
                      </m:r>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r>
                            <a:rPr lang="en-US" i="1" dirty="0">
                              <a:latin typeface="Cambria Math" panose="02040503050406030204" pitchFamily="18" charset="0"/>
                              <a:cs typeface="Arial" panose="020B0604020202020204" pitchFamily="34" charset="0"/>
                            </a:rPr>
                            <m:t>−1</m:t>
                          </m:r>
                        </m:sub>
                      </m:sSub>
                      <m:r>
                        <a:rPr lang="en-US" i="1" dirty="0">
                          <a:latin typeface="Cambria Math" panose="02040503050406030204" pitchFamily="18" charset="0"/>
                          <a:cs typeface="Arial" panose="020B0604020202020204" pitchFamily="34" charset="0"/>
                        </a:rPr>
                        <m:t>+</m:t>
                      </m:r>
                      <m:sSub>
                        <m:sSubPr>
                          <m:ctrlPr>
                            <a:rPr lang="en-US" i="1" dirty="0" err="1">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𝜀</m:t>
                          </m:r>
                        </m:e>
                        <m:sub>
                          <m:r>
                            <a:rPr lang="en-US" i="1" dirty="0" err="1">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m:t>
                      </m:r>
                    </m:oMath>
                  </m:oMathPara>
                </a14:m>
                <a:endParaRPr lang="en-US" dirty="0">
                  <a:latin typeface="Arial" panose="020B0604020202020204" pitchFamily="34" charset="0"/>
                  <a:cs typeface="Arial" panose="020B0604020202020204" pitchFamily="34" charset="0"/>
                </a:endParaRPr>
              </a:p>
              <a:p>
                <a:r>
                  <a:rPr lang="ru-RU" dirty="0">
                    <a:latin typeface="Arial" panose="020B0604020202020204" pitchFamily="34" charset="0"/>
                    <a:cs typeface="Arial" panose="020B0604020202020204" pitchFamily="34" charset="0"/>
                  </a:rPr>
                  <a:t>Где </a:t>
                </a:r>
                <a14:m>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 </m:t>
                    </m:r>
                    <m:r>
                      <a:rPr lang="ru-RU" b="0" i="1" dirty="0" smtClean="0">
                        <a:latin typeface="Cambria Math" panose="02040503050406030204" pitchFamily="18" charset="0"/>
                        <a:cs typeface="Arial" panose="020B0604020202020204" pitchFamily="34" charset="0"/>
                      </a:rPr>
                      <m:t>,</m:t>
                    </m:r>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r>
                          <a:rPr lang="en-US" i="1" dirty="0">
                            <a:latin typeface="Cambria Math" panose="02040503050406030204" pitchFamily="18" charset="0"/>
                            <a:cs typeface="Arial" panose="020B0604020202020204" pitchFamily="34" charset="0"/>
                          </a:rPr>
                          <m:t>−1</m:t>
                        </m:r>
                      </m:sub>
                    </m:sSub>
                  </m:oMath>
                </a14:m>
                <a:r>
                  <a:rPr lang="ru-RU" dirty="0">
                    <a:latin typeface="Arial" panose="020B0604020202020204" pitchFamily="34" charset="0"/>
                    <a:cs typeface="Arial" panose="020B0604020202020204" pitchFamily="34" charset="0"/>
                  </a:rPr>
                  <a:t> - последовательные значения ВР.</a:t>
                </a:r>
              </a:p>
              <a:p>
                <a:r>
                  <a:rPr lang="ru-RU" dirty="0">
                    <a:latin typeface="Arial" panose="020B0604020202020204" pitchFamily="34" charset="0"/>
                    <a:cs typeface="Arial" panose="020B0604020202020204" pitchFamily="34" charset="0"/>
                  </a:rPr>
                  <a:t>Если</a:t>
                </a:r>
                <a:r>
                  <a:rPr lang="en-US" dirty="0">
                    <a:latin typeface="Arial" panose="020B0604020202020204" pitchFamily="34" charset="0"/>
                    <a:cs typeface="Arial" panose="020B0604020202020204" pitchFamily="34" charset="0"/>
                  </a:rPr>
                  <a:t> </a:t>
                </a:r>
                <a14:m>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oMath>
                </a14:m>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имеет постоянную составляющую</a:t>
                </a:r>
                <a:r>
                  <a:rPr lang="en-US" dirty="0">
                    <a:latin typeface="Arial" panose="020B0604020202020204" pitchFamily="34" charset="0"/>
                    <a:cs typeface="Arial" panose="020B0604020202020204" pitchFamily="34" charset="0"/>
                  </a:rPr>
                  <a:t> </a:t>
                </a:r>
                <a14:m>
                  <m:oMath xmlns:m="http://schemas.openxmlformats.org/officeDocument/2006/math">
                    <m:r>
                      <a:rPr lang="en-US" i="1" dirty="0">
                        <a:latin typeface="Cambria Math" panose="02040503050406030204" pitchFamily="18" charset="0"/>
                        <a:cs typeface="Arial" panose="020B0604020202020204" pitchFamily="34" charset="0"/>
                      </a:rPr>
                      <m:t>𝜇</m:t>
                    </m:r>
                  </m:oMath>
                </a14:m>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то эта часть называется дрифт</a:t>
                </a:r>
                <a:r>
                  <a:rPr lang="en-US" dirty="0">
                    <a:latin typeface="Arial" panose="020B0604020202020204" pitchFamily="34" charset="0"/>
                    <a:cs typeface="Arial" panose="020B0604020202020204" pitchFamily="34" charset="0"/>
                  </a:rPr>
                  <a:t>.</a:t>
                </a:r>
              </a:p>
              <a:p>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 =</m:t>
                      </m:r>
                      <m:sSub>
                        <m:sSubPr>
                          <m:ctrlPr>
                            <a:rPr lang="en-US" i="1" dirty="0">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𝑦</m:t>
                          </m:r>
                        </m:e>
                        <m:sub>
                          <m:r>
                            <a:rPr lang="en-US" i="1" dirty="0">
                              <a:latin typeface="Cambria Math" panose="02040503050406030204" pitchFamily="18" charset="0"/>
                              <a:cs typeface="Arial" panose="020B0604020202020204" pitchFamily="34" charset="0"/>
                            </a:rPr>
                            <m:t>𝑛</m:t>
                          </m:r>
                          <m:r>
                            <a:rPr lang="en-US" i="1" dirty="0">
                              <a:latin typeface="Cambria Math" panose="02040503050406030204" pitchFamily="18" charset="0"/>
                              <a:cs typeface="Arial" panose="020B0604020202020204" pitchFamily="34" charset="0"/>
                            </a:rPr>
                            <m:t>−1</m:t>
                          </m:r>
                        </m:sub>
                      </m:sSub>
                      <m:r>
                        <a:rPr lang="en-US" i="1" dirty="0">
                          <a:latin typeface="Cambria Math" panose="02040503050406030204" pitchFamily="18" charset="0"/>
                          <a:cs typeface="Arial" panose="020B0604020202020204" pitchFamily="34" charset="0"/>
                        </a:rPr>
                        <m:t>+</m:t>
                      </m:r>
                      <m:sSub>
                        <m:sSubPr>
                          <m:ctrlPr>
                            <a:rPr lang="en-US" i="1" dirty="0" err="1">
                              <a:latin typeface="Cambria Math" panose="02040503050406030204" pitchFamily="18" charset="0"/>
                              <a:cs typeface="Arial" panose="020B0604020202020204" pitchFamily="34" charset="0"/>
                            </a:rPr>
                          </m:ctrlPr>
                        </m:sSubPr>
                        <m:e>
                          <m:r>
                            <a:rPr lang="en-US" i="1" dirty="0">
                              <a:latin typeface="Cambria Math" panose="02040503050406030204" pitchFamily="18" charset="0"/>
                              <a:cs typeface="Arial" panose="020B0604020202020204" pitchFamily="34" charset="0"/>
                            </a:rPr>
                            <m:t>𝜀</m:t>
                          </m:r>
                        </m:e>
                        <m:sub>
                          <m:r>
                            <a:rPr lang="en-US" i="1" dirty="0" err="1">
                              <a:latin typeface="Cambria Math" panose="02040503050406030204" pitchFamily="18" charset="0"/>
                              <a:cs typeface="Arial" panose="020B0604020202020204" pitchFamily="34" charset="0"/>
                            </a:rPr>
                            <m:t>𝑛</m:t>
                          </m:r>
                        </m:sub>
                      </m:sSub>
                      <m:r>
                        <a:rPr lang="en-US" i="1" dirty="0">
                          <a:latin typeface="Cambria Math" panose="02040503050406030204" pitchFamily="18" charset="0"/>
                          <a:cs typeface="Arial" panose="020B0604020202020204" pitchFamily="34" charset="0"/>
                        </a:rPr>
                        <m:t>+</m:t>
                      </m:r>
                      <m:r>
                        <a:rPr lang="en-US" i="1" dirty="0">
                          <a:latin typeface="Cambria Math" panose="02040503050406030204" pitchFamily="18" charset="0"/>
                          <a:cs typeface="Arial" panose="020B0604020202020204" pitchFamily="34" charset="0"/>
                        </a:rPr>
                        <m:t>𝜇</m:t>
                      </m:r>
                      <m:r>
                        <a:rPr lang="en-US" i="1" dirty="0">
                          <a:latin typeface="Cambria Math" panose="02040503050406030204" pitchFamily="18" charset="0"/>
                          <a:cs typeface="Arial" panose="020B0604020202020204" pitchFamily="34" charset="0"/>
                        </a:rPr>
                        <m:t>.</m:t>
                      </m:r>
                    </m:oMath>
                  </m:oMathPara>
                </a14:m>
                <a:endParaRPr lang="en-US" dirty="0">
                  <a:latin typeface="Arial" panose="020B0604020202020204" pitchFamily="34" charset="0"/>
                  <a:cs typeface="Arial" panose="020B0604020202020204" pitchFamily="34" charset="0"/>
                </a:endParaRPr>
              </a:p>
            </p:txBody>
          </p:sp>
        </mc:Choice>
        <mc:Fallback xmlns="">
          <p:sp>
            <p:nvSpPr>
              <p:cNvPr id="6" name="Прямоугольник 5"/>
              <p:cNvSpPr>
                <a:spLocks noRot="1" noChangeAspect="1" noMove="1" noResize="1" noEditPoints="1" noAdjustHandles="1" noChangeArrowheads="1" noChangeShapeType="1" noTextEdit="1"/>
              </p:cNvSpPr>
              <p:nvPr/>
            </p:nvSpPr>
            <p:spPr>
              <a:xfrm>
                <a:off x="381000" y="2974521"/>
                <a:ext cx="4933950" cy="2031325"/>
              </a:xfrm>
              <a:prstGeom prst="rect">
                <a:avLst/>
              </a:prstGeom>
              <a:blipFill>
                <a:blip r:embed="rId4"/>
                <a:stretch>
                  <a:fillRect l="-1112" t="-2102" b="-601"/>
                </a:stretch>
              </a:blipFill>
            </p:spPr>
            <p:txBody>
              <a:bodyPr/>
              <a:lstStyle/>
              <a:p>
                <a:r>
                  <a:rPr lang="ru-RU">
                    <a:noFill/>
                  </a:rPr>
                  <a:t> </a:t>
                </a:r>
              </a:p>
            </p:txBody>
          </p:sp>
        </mc:Fallback>
      </mc:AlternateContent>
    </p:spTree>
    <p:extLst>
      <p:ext uri="{BB962C8B-B14F-4D97-AF65-F5344CB8AC3E}">
        <p14:creationId xmlns:p14="http://schemas.microsoft.com/office/powerpoint/2010/main" val="14333169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marL="0" indent="0" eaLnBrk="0" fontAlgn="base" hangingPunct="0">
                  <a:lnSpc>
                    <a:spcPct val="100000"/>
                  </a:lnSpc>
                  <a:spcBef>
                    <a:spcPct val="0"/>
                  </a:spcBef>
                  <a:spcAft>
                    <a:spcPct val="0"/>
                  </a:spcAft>
                  <a:buNone/>
                </a:pPr>
                <a:endParaRPr lang="ru-RU" altLang="en-US" sz="2200" i="1" dirty="0"/>
              </a:p>
              <a:p>
                <a:pPr marL="0" indent="0" eaLnBrk="0" fontAlgn="base" hangingPunct="0">
                  <a:lnSpc>
                    <a:spcPct val="100000"/>
                  </a:lnSpc>
                  <a:spcBef>
                    <a:spcPct val="0"/>
                  </a:spcBef>
                  <a:spcAft>
                    <a:spcPct val="0"/>
                  </a:spcAft>
                  <a:buNone/>
                </a:pPr>
                <a:r>
                  <a:rPr lang="ru-RU" altLang="en-US" sz="2200" i="1" dirty="0"/>
                  <a:t>Модель может описываться более чем одной линейно-независимой составляющей каждой компоненты</a:t>
                </a:r>
              </a:p>
              <a:p>
                <a:pPr marL="0" indent="0" algn="ctr" eaLnBrk="0" fontAlgn="base" hangingPunct="0">
                  <a:lnSpc>
                    <a:spcPct val="100000"/>
                  </a:lnSpc>
                  <a:spcBef>
                    <a:spcPct val="0"/>
                  </a:spcBef>
                  <a:spcAft>
                    <a:spcPct val="0"/>
                  </a:spcAft>
                  <a:buNone/>
                </a:pPr>
                <a14:m>
                  <m:oMathPara xmlns:m="http://schemas.openxmlformats.org/officeDocument/2006/math">
                    <m:oMathParaPr>
                      <m:jc m:val="centerGroup"/>
                    </m:oMathParaPr>
                    <m:oMath xmlns:m="http://schemas.openxmlformats.org/officeDocument/2006/math">
                      <m:r>
                        <m:rPr>
                          <m:sty m:val="p"/>
                        </m:rPr>
                        <a:rPr lang="en-US" altLang="en-US" sz="2400" i="1" dirty="0">
                          <a:latin typeface="Cambria Math" panose="02040503050406030204" pitchFamily="18" charset="0"/>
                        </a:rPr>
                        <m:t>y</m:t>
                      </m:r>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 = </m:t>
                      </m:r>
                      <m:r>
                        <a:rPr lang="en-US" altLang="en-US" sz="2400" i="1" dirty="0">
                          <a:latin typeface="Cambria Math" panose="02040503050406030204" pitchFamily="18" charset="0"/>
                        </a:rPr>
                        <m:t>𝑡𝑟𝑒𝑛</m:t>
                      </m:r>
                      <m:sSub>
                        <m:sSubPr>
                          <m:ctrlPr>
                            <a:rPr lang="en-US" altLang="en-US" sz="2400" b="0" i="1" dirty="0" smtClean="0">
                              <a:latin typeface="Cambria Math" panose="02040503050406030204" pitchFamily="18" charset="0"/>
                            </a:rPr>
                          </m:ctrlPr>
                        </m:sSubPr>
                        <m:e>
                          <m:r>
                            <a:rPr lang="en-US" altLang="en-US" sz="2400" i="1" dirty="0">
                              <a:latin typeface="Cambria Math" panose="02040503050406030204" pitchFamily="18" charset="0"/>
                            </a:rPr>
                            <m:t>𝑑</m:t>
                          </m:r>
                        </m:e>
                        <m:sub>
                          <m:r>
                            <a:rPr lang="en-US" altLang="en-US" sz="2400" b="0" i="1" dirty="0" smtClean="0">
                              <a:latin typeface="Cambria Math" panose="02040503050406030204" pitchFamily="18" charset="0"/>
                            </a:rPr>
                            <m:t>1</m:t>
                          </m:r>
                        </m:sub>
                      </m:sSub>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r>
                        <a:rPr lang="en-US" altLang="en-US" sz="2400" i="1" dirty="0">
                          <a:latin typeface="Cambria Math" panose="02040503050406030204" pitchFamily="18" charset="0"/>
                        </a:rPr>
                        <m:t>𝑡𝑟𝑒𝑛</m:t>
                      </m:r>
                      <m:sSub>
                        <m:sSubPr>
                          <m:ctrlPr>
                            <a:rPr lang="en-US" altLang="en-US" sz="2400" i="1" dirty="0">
                              <a:latin typeface="Cambria Math" panose="02040503050406030204" pitchFamily="18" charset="0"/>
                            </a:rPr>
                          </m:ctrlPr>
                        </m:sSubPr>
                        <m:e>
                          <m:r>
                            <a:rPr lang="en-US" altLang="en-US" sz="2400" i="1" dirty="0">
                              <a:latin typeface="Cambria Math" panose="02040503050406030204" pitchFamily="18" charset="0"/>
                            </a:rPr>
                            <m:t>𝑑</m:t>
                          </m:r>
                        </m:e>
                        <m:sub>
                          <m:r>
                            <a:rPr lang="en-US" altLang="en-US" sz="2400" b="0" i="1" dirty="0" smtClean="0">
                              <a:latin typeface="Cambria Math" panose="02040503050406030204" pitchFamily="18" charset="0"/>
                            </a:rPr>
                            <m:t>2</m:t>
                          </m:r>
                        </m:sub>
                      </m:sSub>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nary>
                        <m:naryPr>
                          <m:chr m:val="∑"/>
                          <m:ctrlPr>
                            <a:rPr lang="en-US" altLang="en-US" sz="2400" i="1" dirty="0">
                              <a:latin typeface="Cambria Math" panose="02040503050406030204" pitchFamily="18" charset="0"/>
                            </a:rPr>
                          </m:ctrlPr>
                        </m:naryPr>
                        <m:sub>
                          <m:r>
                            <a:rPr lang="en-US" altLang="en-US" sz="2400" i="1" dirty="0" err="1">
                              <a:latin typeface="Cambria Math" panose="02040503050406030204" pitchFamily="18" charset="0"/>
                            </a:rPr>
                            <m:t>𝑖</m:t>
                          </m:r>
                          <m:r>
                            <a:rPr lang="en-US" altLang="en-US" sz="2400" i="1" dirty="0">
                              <a:latin typeface="Cambria Math" panose="02040503050406030204" pitchFamily="18" charset="0"/>
                            </a:rPr>
                            <m:t>=0</m:t>
                          </m:r>
                        </m:sub>
                        <m:sup>
                          <m:r>
                            <a:rPr lang="en-US" altLang="en-US" sz="2400" i="1" dirty="0">
                              <a:latin typeface="Cambria Math" panose="02040503050406030204" pitchFamily="18" charset="0"/>
                            </a:rPr>
                            <m:t>𝑀</m:t>
                          </m:r>
                        </m:sup>
                        <m:e>
                          <m:r>
                            <a:rPr lang="en-US" altLang="en-US" sz="2400" i="1" dirty="0">
                              <a:latin typeface="Cambria Math" panose="02040503050406030204" pitchFamily="18" charset="0"/>
                            </a:rPr>
                            <m:t>𝑠𝑒𝑎𝑠𝑜𝑛𝑎𝑙</m:t>
                          </m:r>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e>
                      </m:nary>
                      <m:r>
                        <a:rPr lang="en-US" altLang="en-US" sz="2400" i="1" dirty="0">
                          <a:latin typeface="Cambria Math" panose="02040503050406030204" pitchFamily="18" charset="0"/>
                        </a:rPr>
                        <m:t> + </m:t>
                      </m:r>
                      <m:r>
                        <a:rPr lang="en-US" altLang="en-US" sz="2400" i="1" dirty="0">
                          <a:latin typeface="Cambria Math" panose="02040503050406030204" pitchFamily="18" charset="0"/>
                        </a:rPr>
                        <m:t>𝑛𝑜𝑖𝑠𝑒</m:t>
                      </m:r>
                      <m:r>
                        <a:rPr lang="en-US" altLang="en-US" sz="2400" i="1" dirty="0">
                          <a:latin typeface="Cambria Math" panose="02040503050406030204" pitchFamily="18" charset="0"/>
                        </a:rPr>
                        <m:t>(</m:t>
                      </m:r>
                      <m:r>
                        <a:rPr lang="en-US" altLang="en-US" sz="2400" i="1" dirty="0">
                          <a:latin typeface="Cambria Math" panose="02040503050406030204" pitchFamily="18" charset="0"/>
                        </a:rPr>
                        <m:t>𝑡</m:t>
                      </m:r>
                      <m:r>
                        <a:rPr lang="en-US" altLang="en-US" sz="2400" i="1" dirty="0">
                          <a:latin typeface="Cambria Math" panose="02040503050406030204" pitchFamily="18" charset="0"/>
                        </a:rPr>
                        <m:t>)</m:t>
                      </m:r>
                    </m:oMath>
                  </m:oMathPara>
                </a14:m>
                <a:endParaRPr lang="ru-RU" altLang="en-US" sz="2000" dirty="0">
                  <a:latin typeface="Open Sans"/>
                </a:endParaRPr>
              </a:p>
              <a:p>
                <a:pPr marL="0" indent="0" eaLnBrk="0" fontAlgn="base" hangingPunct="0">
                  <a:lnSpc>
                    <a:spcPct val="100000"/>
                  </a:lnSpc>
                  <a:spcBef>
                    <a:spcPct val="0"/>
                  </a:spcBef>
                  <a:spcAft>
                    <a:spcPct val="0"/>
                  </a:spcAft>
                  <a:buNone/>
                </a:pPr>
                <a:r>
                  <a:rPr lang="ru-RU" altLang="en-US" sz="2000" dirty="0">
                    <a:latin typeface="Open Sans"/>
                  </a:rPr>
                  <a:t>Или в более сложных отношения</a:t>
                </a:r>
              </a:p>
              <a:p>
                <a:pPr marL="0" indent="0" algn="ctr" eaLnBrk="0" fontAlgn="base" hangingPunct="0">
                  <a:lnSpc>
                    <a:spcPct val="100000"/>
                  </a:lnSpc>
                  <a:spcBef>
                    <a:spcPct val="0"/>
                  </a:spcBef>
                  <a:spcAft>
                    <a:spcPct val="0"/>
                  </a:spcAft>
                  <a:buNone/>
                </a:pPr>
                <a14:m>
                  <m:oMath xmlns:m="http://schemas.openxmlformats.org/officeDocument/2006/math">
                    <m:r>
                      <a:rPr lang="en-US" altLang="en-US" sz="2000" i="1" dirty="0">
                        <a:latin typeface="Cambria Math" panose="02040503050406030204" pitchFamily="18" charset="0"/>
                      </a:rPr>
                      <m:t>𝑦</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r>
                      <a:rPr lang="en-US" altLang="en-US" sz="2000" i="1" dirty="0">
                        <a:latin typeface="Cambria Math" panose="02040503050406030204" pitchFamily="18" charset="0"/>
                      </a:rPr>
                      <m:t>= </m:t>
                    </m:r>
                    <m:r>
                      <a:rPr lang="en-US" altLang="en-US" sz="2000" i="1" dirty="0">
                        <a:latin typeface="Cambria Math" panose="02040503050406030204" pitchFamily="18" charset="0"/>
                      </a:rPr>
                      <m:t>𝑡𝑟𝑒𝑛𝑑</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r>
                      <a:rPr lang="en-US" altLang="en-US" sz="2000" i="1" dirty="0">
                        <a:latin typeface="Cambria Math" panose="02040503050406030204" pitchFamily="18" charset="0"/>
                      </a:rPr>
                      <m:t>⋅</m:t>
                    </m:r>
                    <m:d>
                      <m:dPr>
                        <m:ctrlPr>
                          <a:rPr lang="ru-RU" altLang="en-US" sz="2000" b="0" i="1" dirty="0" smtClean="0">
                            <a:latin typeface="Cambria Math" panose="02040503050406030204" pitchFamily="18" charset="0"/>
                          </a:rPr>
                        </m:ctrlPr>
                      </m:dPr>
                      <m:e>
                        <m:r>
                          <a:rPr lang="en-US" altLang="en-US" sz="2000" i="1" dirty="0">
                            <a:latin typeface="Cambria Math" panose="02040503050406030204" pitchFamily="18" charset="0"/>
                          </a:rPr>
                          <m:t>𝑡𝑟𝑒𝑛</m:t>
                        </m:r>
                        <m:sSub>
                          <m:sSubPr>
                            <m:ctrlPr>
                              <a:rPr lang="en-US" altLang="en-US" sz="2000" i="1" dirty="0">
                                <a:latin typeface="Cambria Math" panose="02040503050406030204" pitchFamily="18" charset="0"/>
                              </a:rPr>
                            </m:ctrlPr>
                          </m:sSubPr>
                          <m:e>
                            <m:r>
                              <a:rPr lang="en-US" altLang="en-US" sz="2000" i="1" dirty="0">
                                <a:latin typeface="Cambria Math" panose="02040503050406030204" pitchFamily="18" charset="0"/>
                              </a:rPr>
                              <m:t>𝑑</m:t>
                            </m:r>
                          </m:e>
                          <m:sub>
                            <m:r>
                              <a:rPr lang="en-US" altLang="en-US" sz="2000" i="1" dirty="0">
                                <a:latin typeface="Cambria Math" panose="02040503050406030204" pitchFamily="18" charset="0"/>
                              </a:rPr>
                              <m:t>2</m:t>
                            </m:r>
                          </m:sub>
                        </m:sSub>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𝑀</m:t>
                            </m:r>
                          </m:sup>
                          <m:e>
                            <m:r>
                              <a:rPr lang="en-US" altLang="en-US" sz="2000" i="1" dirty="0">
                                <a:latin typeface="Cambria Math" panose="02040503050406030204" pitchFamily="18" charset="0"/>
                              </a:rPr>
                              <m:t>𝑠𝑒𝑎𝑠𝑜𝑛𝑎𝑙</m:t>
                            </m:r>
                            <m:d>
                              <m:dPr>
                                <m:ctrlPr>
                                  <a:rPr lang="en-US" altLang="en-US" sz="2000" i="1" dirty="0">
                                    <a:latin typeface="Cambria Math" panose="02040503050406030204" pitchFamily="18" charset="0"/>
                                  </a:rPr>
                                </m:ctrlPr>
                              </m:dPr>
                              <m:e>
                                <m:r>
                                  <a:rPr lang="en-US" altLang="en-US" sz="2000" i="1" dirty="0">
                                    <a:latin typeface="Cambria Math" panose="02040503050406030204" pitchFamily="18" charset="0"/>
                                  </a:rPr>
                                  <m:t>𝑡</m:t>
                                </m:r>
                              </m:e>
                            </m:d>
                          </m:e>
                        </m:nary>
                      </m:e>
                    </m:d>
                    <m:r>
                      <a:rPr lang="ru-RU" altLang="en-US" sz="2000" b="0" i="1" dirty="0" smtClean="0">
                        <a:latin typeface="Cambria Math" panose="02040503050406030204" pitchFamily="18" charset="0"/>
                      </a:rPr>
                      <m:t>+</m:t>
                    </m:r>
                    <m:r>
                      <a:rPr lang="en-US" altLang="en-US" sz="2000" i="1" dirty="0">
                        <a:latin typeface="Cambria Math" panose="02040503050406030204" pitchFamily="18" charset="0"/>
                      </a:rPr>
                      <m:t>𝑛𝑜𝑖𝑠𝑒</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oMath>
                </a14:m>
                <a:r>
                  <a:rPr lang="en-US" altLang="en-US" sz="2000" i="1" dirty="0"/>
                  <a:t>). </a:t>
                </a:r>
              </a:p>
              <a:p>
                <a:pPr eaLnBrk="0" fontAlgn="base" hangingPunct="0">
                  <a:lnSpc>
                    <a:spcPct val="100000"/>
                  </a:lnSpc>
                  <a:spcBef>
                    <a:spcPct val="0"/>
                  </a:spcBef>
                  <a:spcAft>
                    <a:spcPct val="0"/>
                  </a:spcAft>
                </a:pPr>
                <a:endParaRPr lang="en-US" altLang="en-US" sz="2000" dirty="0">
                  <a:latin typeface="Open Sans"/>
                </a:endParaRPr>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687" r="-159"/>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9</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8" name="Прямоугольник 7"/>
          <p:cNvSpPr/>
          <p:nvPr/>
        </p:nvSpPr>
        <p:spPr>
          <a:xfrm>
            <a:off x="326071" y="4477386"/>
            <a:ext cx="11099483" cy="1277273"/>
          </a:xfrm>
          <a:prstGeom prst="rect">
            <a:avLst/>
          </a:prstGeom>
        </p:spPr>
        <p:txBody>
          <a:bodyPr wrap="square">
            <a:spAutoFit/>
          </a:bodyPr>
          <a:lstStyle/>
          <a:p>
            <a:pPr marL="285750" indent="-285750" eaLnBrk="0" fontAlgn="base" hangingPunct="0">
              <a:lnSpc>
                <a:spcPct val="100000"/>
              </a:lnSpc>
              <a:spcBef>
                <a:spcPts val="600"/>
              </a:spcBef>
              <a:spcAft>
                <a:spcPct val="0"/>
              </a:spcAft>
              <a:buFont typeface="Arial" panose="020B0604020202020204" pitchFamily="34" charset="0"/>
              <a:buChar char="•"/>
            </a:pPr>
            <a:r>
              <a:rPr lang="ru-RU" altLang="en-US" sz="2400" dirty="0">
                <a:latin typeface="Open Sans"/>
              </a:rPr>
              <a:t>Чем более подробно описана модель, тем выше качество ее работы. </a:t>
            </a:r>
          </a:p>
          <a:p>
            <a:pPr marL="285750" indent="-285750" eaLnBrk="0" fontAlgn="base" hangingPunct="0">
              <a:lnSpc>
                <a:spcPct val="100000"/>
              </a:lnSpc>
              <a:spcBef>
                <a:spcPts val="600"/>
              </a:spcBef>
              <a:spcAft>
                <a:spcPct val="0"/>
              </a:spcAft>
              <a:buFont typeface="Arial" panose="020B0604020202020204" pitchFamily="34" charset="0"/>
              <a:buChar char="•"/>
            </a:pPr>
            <a:r>
              <a:rPr lang="ru-RU" altLang="en-US" sz="2400" dirty="0">
                <a:latin typeface="Open Sans"/>
              </a:rPr>
              <a:t>Однако, подробное описание модели может привести к переобучению!</a:t>
            </a:r>
            <a:endParaRPr lang="en-US" altLang="en-US" sz="2400" dirty="0">
              <a:latin typeface="Open Sans"/>
            </a:endParaRPr>
          </a:p>
        </p:txBody>
      </p:sp>
      <p:sp>
        <p:nvSpPr>
          <p:cNvPr id="9" name="Прямоугольник 8"/>
          <p:cNvSpPr/>
          <p:nvPr/>
        </p:nvSpPr>
        <p:spPr>
          <a:xfrm>
            <a:off x="209550" y="6290884"/>
            <a:ext cx="5065489" cy="369332"/>
          </a:xfrm>
          <a:prstGeom prst="rect">
            <a:avLst/>
          </a:prstGeom>
        </p:spPr>
        <p:txBody>
          <a:bodyPr wrap="none">
            <a:spAutoFit/>
          </a:bodyPr>
          <a:lstStyle/>
          <a:p>
            <a:r>
              <a:rPr lang="ru-RU" dirty="0"/>
              <a:t>https://openforecast.org/adam/tsComponents.html</a:t>
            </a:r>
          </a:p>
        </p:txBody>
      </p:sp>
    </p:spTree>
    <p:extLst>
      <p:ext uri="{BB962C8B-B14F-4D97-AF65-F5344CB8AC3E}">
        <p14:creationId xmlns:p14="http://schemas.microsoft.com/office/powerpoint/2010/main" val="56958029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eaLnBrk="0" fontAlgn="base" hangingPunct="0">
                  <a:lnSpc>
                    <a:spcPct val="100000"/>
                  </a:lnSpc>
                  <a:spcBef>
                    <a:spcPct val="0"/>
                  </a:spcBef>
                  <a:spcAft>
                    <a:spcPct val="0"/>
                  </a:spcAft>
                </a:pPr>
                <a:r>
                  <a:rPr lang="ru-RU" altLang="en-US" sz="2000" dirty="0">
                    <a:latin typeface="Open Sans"/>
                  </a:rPr>
                  <a:t>В модель могут включаться редкие, но регулярные события </a:t>
                </a:r>
                <a:r>
                  <a:rPr lang="ru-RU" altLang="en-US" sz="2000" dirty="0" err="1">
                    <a:latin typeface="Open Sans"/>
                  </a:rPr>
                  <a:t>напр</a:t>
                </a:r>
                <a:r>
                  <a:rPr lang="ru-RU" altLang="en-US" sz="2000" dirty="0">
                    <a:latin typeface="Open Sans"/>
                  </a:rPr>
                  <a:t> праздничные дни</a:t>
                </a:r>
              </a:p>
              <a:p>
                <a:pPr marL="0" indent="0" eaLnBrk="0" fontAlgn="base" hangingPunct="0">
                  <a:lnSpc>
                    <a:spcPct val="100000"/>
                  </a:lnSpc>
                  <a:spcBef>
                    <a:spcPct val="0"/>
                  </a:spcBef>
                  <a:spcAft>
                    <a:spcPct val="0"/>
                  </a:spcAft>
                  <a:buNone/>
                </a:pPr>
                <a14:m>
                  <m:oMathPara xmlns:m="http://schemas.openxmlformats.org/officeDocument/2006/math">
                    <m:oMathParaPr>
                      <m:jc m:val="centerGroup"/>
                    </m:oMathParaPr>
                    <m:oMath xmlns:m="http://schemas.openxmlformats.org/officeDocument/2006/math">
                      <m:r>
                        <a:rPr lang="en-US" altLang="en-US" sz="2000" i="1" dirty="0">
                          <a:latin typeface="Cambria Math" panose="02040503050406030204" pitchFamily="18" charset="0"/>
                        </a:rPr>
                        <m:t>𝑦</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 = </m:t>
                      </m:r>
                      <m:r>
                        <a:rPr lang="en-US" altLang="en-US" sz="2000" i="1" dirty="0">
                          <a:latin typeface="Cambria Math" panose="02040503050406030204" pitchFamily="18" charset="0"/>
                        </a:rPr>
                        <m:t>𝑡𝑟𝑒𝑛𝑑</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𝑀</m:t>
                          </m:r>
                        </m:sup>
                        <m:e>
                          <m:r>
                            <a:rPr lang="en-US" altLang="en-US" sz="2000" i="1" dirty="0">
                              <a:latin typeface="Cambria Math" panose="02040503050406030204" pitchFamily="18" charset="0"/>
                            </a:rPr>
                            <m:t>𝑠𝑒𝑎𝑠𝑜𝑛𝑎𝑙</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𝐻</m:t>
                          </m:r>
                        </m:sup>
                        <m:e>
                          <m:r>
                            <a:rPr lang="en-US" altLang="en-US" sz="2000" i="1" dirty="0">
                              <a:latin typeface="Cambria Math" panose="02040503050406030204" pitchFamily="18" charset="0"/>
                            </a:rPr>
                            <m:t>h𝑜𝑙𝑖𝑑𝑎𝑦𝑠</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 + </m:t>
                      </m:r>
                      <m:r>
                        <a:rPr lang="en-US" altLang="en-US" sz="2000" i="1" dirty="0">
                          <a:latin typeface="Cambria Math" panose="02040503050406030204" pitchFamily="18" charset="0"/>
                        </a:rPr>
                        <m:t>𝑛𝑜𝑖𝑠𝑒</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oMath>
                  </m:oMathPara>
                </a14:m>
                <a:endParaRPr lang="en-US" altLang="en-US" sz="2000" dirty="0">
                  <a:latin typeface="Open Sans"/>
                </a:endParaRPr>
              </a:p>
              <a:p>
                <a14:m>
                  <m:oMath xmlns:m="http://schemas.openxmlformats.org/officeDocument/2006/math">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𝐻</m:t>
                        </m:r>
                      </m:sup>
                      <m:e>
                        <m:r>
                          <a:rPr lang="en-US" altLang="en-US" sz="2000" i="1" dirty="0">
                            <a:latin typeface="Cambria Math" panose="02040503050406030204" pitchFamily="18" charset="0"/>
                          </a:rPr>
                          <m:t>h𝑜𝑙𝑖𝑑𝑎𝑦𝑠</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oMath>
                </a14:m>
                <a:r>
                  <a:rPr lang="ru-RU" sz="2000" dirty="0"/>
                  <a:t> - значения редких, но регулярных событий (напр. праздничные дни)</a:t>
                </a:r>
              </a:p>
              <a:p>
                <a14:m>
                  <m:oMath xmlns:m="http://schemas.openxmlformats.org/officeDocument/2006/math">
                    <m:r>
                      <a:rPr lang="en-US" altLang="en-US" sz="2000" i="1" dirty="0">
                        <a:latin typeface="Cambria Math" panose="02040503050406030204" pitchFamily="18" charset="0"/>
                      </a:rPr>
                      <m:t>𝐻</m:t>
                    </m:r>
                  </m:oMath>
                </a14:m>
                <a:r>
                  <a:rPr lang="ru-RU" sz="2000" dirty="0"/>
                  <a:t> – число событий</a:t>
                </a:r>
                <a:endParaRPr lang="en-US"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1210" t="-11644"/>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10</a:t>
            </a:fld>
            <a:endParaRPr lang="en-US"/>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sp>
        <p:nvSpPr>
          <p:cNvPr id="9" name="Прямоугольник 8"/>
          <p:cNvSpPr/>
          <p:nvPr/>
        </p:nvSpPr>
        <p:spPr>
          <a:xfrm>
            <a:off x="447674" y="6414898"/>
            <a:ext cx="10506075" cy="369332"/>
          </a:xfrm>
          <a:prstGeom prst="rect">
            <a:avLst/>
          </a:prstGeom>
        </p:spPr>
        <p:txBody>
          <a:bodyPr wrap="square">
            <a:spAutoFit/>
          </a:bodyPr>
          <a:lstStyle/>
          <a:p>
            <a:r>
              <a:rPr lang="ru-RU" dirty="0"/>
              <a:t>https://exploratory.io/note/exploratory/Time-Series-Forecasting-with-Effects-of-National-Holidays-lBP9Lpc5vT</a:t>
            </a:r>
          </a:p>
        </p:txBody>
      </p:sp>
      <p:pic>
        <p:nvPicPr>
          <p:cNvPr id="10" name="Рисунок 9"/>
          <p:cNvPicPr>
            <a:picLocks noChangeAspect="1"/>
          </p:cNvPicPr>
          <p:nvPr/>
        </p:nvPicPr>
        <p:blipFill rotWithShape="1">
          <a:blip r:embed="rId3"/>
          <a:srcRect l="6623" r="27020" b="52170"/>
          <a:stretch/>
        </p:blipFill>
        <p:spPr>
          <a:xfrm>
            <a:off x="290570" y="3130293"/>
            <a:ext cx="5500515" cy="2063415"/>
          </a:xfrm>
          <a:prstGeom prst="rect">
            <a:avLst/>
          </a:prstGeom>
        </p:spPr>
      </p:pic>
      <p:pic>
        <p:nvPicPr>
          <p:cNvPr id="11" name="Рисунок 10"/>
          <p:cNvPicPr>
            <a:picLocks noChangeAspect="1"/>
          </p:cNvPicPr>
          <p:nvPr/>
        </p:nvPicPr>
        <p:blipFill rotWithShape="1">
          <a:blip r:embed="rId3"/>
          <a:srcRect l="5893" t="45809" r="26490" b="6361"/>
          <a:stretch/>
        </p:blipFill>
        <p:spPr>
          <a:xfrm>
            <a:off x="6234284" y="3326291"/>
            <a:ext cx="5500515" cy="2025017"/>
          </a:xfrm>
          <a:prstGeom prst="rect">
            <a:avLst/>
          </a:prstGeom>
        </p:spPr>
      </p:pic>
      <p:pic>
        <p:nvPicPr>
          <p:cNvPr id="12" name="Рисунок 11"/>
          <p:cNvPicPr>
            <a:picLocks noChangeAspect="1"/>
          </p:cNvPicPr>
          <p:nvPr/>
        </p:nvPicPr>
        <p:blipFill rotWithShape="1">
          <a:blip r:embed="rId3"/>
          <a:srcRect l="72914" t="2577" r="5960" b="72276"/>
          <a:stretch>
            <a:fillRect/>
          </a:stretch>
        </p:blipFill>
        <p:spPr>
          <a:xfrm>
            <a:off x="10359930" y="2245804"/>
            <a:ext cx="1709736" cy="1059182"/>
          </a:xfrm>
          <a:prstGeom prst="rect">
            <a:avLst/>
          </a:prstGeom>
        </p:spPr>
      </p:pic>
      <p:sp>
        <p:nvSpPr>
          <p:cNvPr id="13" name="Прямоугольник 12"/>
          <p:cNvSpPr/>
          <p:nvPr/>
        </p:nvSpPr>
        <p:spPr>
          <a:xfrm>
            <a:off x="209550" y="5409856"/>
            <a:ext cx="11772900" cy="707886"/>
          </a:xfrm>
          <a:prstGeom prst="rect">
            <a:avLst/>
          </a:prstGeom>
        </p:spPr>
        <p:txBody>
          <a:bodyPr wrap="square">
            <a:spAutoFit/>
          </a:bodyPr>
          <a:lstStyle/>
          <a:p>
            <a:pPr eaLnBrk="0" fontAlgn="base" hangingPunct="0">
              <a:lnSpc>
                <a:spcPct val="100000"/>
              </a:lnSpc>
              <a:spcBef>
                <a:spcPct val="0"/>
              </a:spcBef>
              <a:spcAft>
                <a:spcPct val="0"/>
              </a:spcAft>
            </a:pPr>
            <a:r>
              <a:rPr lang="ru-RU" altLang="en-US" sz="2000" b="1" dirty="0">
                <a:latin typeface="Open Sans"/>
              </a:rPr>
              <a:t>Редкие события отличаются от аномалий тем, что их даты известны и ожидается их повторение!</a:t>
            </a:r>
          </a:p>
        </p:txBody>
      </p:sp>
    </p:spTree>
    <p:extLst>
      <p:ext uri="{BB962C8B-B14F-4D97-AF65-F5344CB8AC3E}">
        <p14:creationId xmlns:p14="http://schemas.microsoft.com/office/powerpoint/2010/main" val="1177602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1209675" y="-34869"/>
            <a:ext cx="10515600" cy="1325563"/>
          </a:xfrm>
        </p:spPr>
        <p:txBody>
          <a:bodyPr/>
          <a:lstStyle/>
          <a:p>
            <a:r>
              <a:rPr lang="ru-RU" dirty="0"/>
              <a:t>О</a:t>
            </a:r>
            <a:r>
              <a:rPr lang="en-US" dirty="0" err="1"/>
              <a:t>соб</a:t>
            </a:r>
            <a:r>
              <a:rPr lang="ru-RU" dirty="0" err="1"/>
              <a:t>енности</a:t>
            </a:r>
            <a:r>
              <a:rPr lang="en-US" dirty="0"/>
              <a:t> </a:t>
            </a:r>
            <a:r>
              <a:rPr lang="en-US" dirty="0" err="1"/>
              <a:t>и</a:t>
            </a:r>
            <a:r>
              <a:rPr lang="ru-RU" dirty="0"/>
              <a:t> варианты модели ВР</a:t>
            </a:r>
          </a:p>
        </p:txBody>
      </p:sp>
      <p:sp>
        <p:nvSpPr>
          <p:cNvPr id="3" name="Объект 2">
            <a:extLst>
              <a:ext uri="{FF2B5EF4-FFF2-40B4-BE49-F238E27FC236}">
                <a16:creationId xmlns:a16="http://schemas.microsoft.com/office/drawing/2014/main" id="{F71775E9-3CBC-DA68-FB1D-19750435AD5D}"/>
              </a:ext>
            </a:extLst>
          </p:cNvPr>
          <p:cNvSpPr>
            <a:spLocks noGrp="1"/>
          </p:cNvSpPr>
          <p:nvPr>
            <p:ph idx="1"/>
          </p:nvPr>
        </p:nvSpPr>
        <p:spPr>
          <a:xfrm>
            <a:off x="181830" y="824207"/>
            <a:ext cx="11820525" cy="4516498"/>
          </a:xfrm>
        </p:spPr>
        <p:txBody>
          <a:bodyPr>
            <a:normAutofit/>
          </a:bodyPr>
          <a:lstStyle/>
          <a:p>
            <a:r>
              <a:rPr lang="ru-RU" sz="2200" dirty="0" err="1"/>
              <a:t>Многосезонные</a:t>
            </a:r>
            <a:r>
              <a:rPr lang="ru-RU" sz="2200" dirty="0"/>
              <a:t> ВР - имеют значимое влияние нескольких компонент (напр. неделя и квартал).</a:t>
            </a:r>
          </a:p>
          <a:p>
            <a:r>
              <a:rPr lang="ru-RU" sz="2200" dirty="0"/>
              <a:t>Почасовые данные обычно имеют три типа сезонности: дневную, недельную и годовую.</a:t>
            </a:r>
          </a:p>
          <a:p>
            <a:r>
              <a:rPr lang="ru-RU" sz="2200" dirty="0"/>
              <a:t>Также сезонность может зависеть от </a:t>
            </a:r>
            <a:r>
              <a:rPr lang="en-US" sz="2200" dirty="0" err="1"/>
              <a:t>эк</a:t>
            </a:r>
            <a:r>
              <a:rPr lang="ru-RU" sz="2200" dirty="0" err="1"/>
              <a:t>зогенных</a:t>
            </a:r>
            <a:r>
              <a:rPr lang="ru-RU" sz="2200" dirty="0"/>
              <a:t> (внешних факторов)</a:t>
            </a:r>
          </a:p>
          <a:p>
            <a:pPr lvl="1"/>
            <a:r>
              <a:rPr lang="ru-RU" sz="2200" dirty="0"/>
              <a:t>Напр. потребление электричества от температуры </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z="900" smtClean="0"/>
              <a:t>11</a:t>
            </a:fld>
            <a:endParaRPr lang="en-US" sz="900"/>
          </a:p>
        </p:txBody>
      </p:sp>
      <p:pic>
        <p:nvPicPr>
          <p:cNvPr id="9218" name="Picture 2" descr="A time series and its basic parts including two seasonal components. Image by author.">
            <a:extLst>
              <a:ext uri="{FF2B5EF4-FFF2-40B4-BE49-F238E27FC236}">
                <a16:creationId xmlns:a16="http://schemas.microsoft.com/office/drawing/2014/main" id="{70918C6B-820F-8FD6-07E9-76787760A0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564"/>
          <a:stretch>
            <a:fillRect/>
          </a:stretch>
        </p:blipFill>
        <p:spPr bwMode="auto">
          <a:xfrm>
            <a:off x="7011411" y="2200406"/>
            <a:ext cx="5037301" cy="372214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47E07CD-1B72-9AF9-9BDC-E53B3B1971D3}"/>
              </a:ext>
            </a:extLst>
          </p:cNvPr>
          <p:cNvSpPr txBox="1"/>
          <p:nvPr/>
        </p:nvSpPr>
        <p:spPr>
          <a:xfrm>
            <a:off x="6114668" y="6324781"/>
            <a:ext cx="6096000" cy="261610"/>
          </a:xfrm>
          <a:prstGeom prst="rect">
            <a:avLst/>
          </a:prstGeom>
          <a:noFill/>
        </p:spPr>
        <p:txBody>
          <a:bodyPr wrap="square">
            <a:spAutoFit/>
          </a:bodyPr>
          <a:lstStyle/>
          <a:p>
            <a:r>
              <a:rPr lang="ru-RU" sz="1100" dirty="0" err="1"/>
              <a:t>https</a:t>
            </a:r>
            <a:r>
              <a:rPr lang="ru-RU" sz="1100" dirty="0"/>
              <a:t>://</a:t>
            </a:r>
            <a:r>
              <a:rPr lang="ru-RU" sz="1100" dirty="0" err="1"/>
              <a:t>towardsdatascience.com</a:t>
            </a:r>
            <a:r>
              <a:rPr lang="ru-RU" sz="1100" dirty="0"/>
              <a:t>/how-to-model-multiple-seasonality-in-time-series-2a3488f8e7f5/</a:t>
            </a:r>
          </a:p>
        </p:txBody>
      </p:sp>
      <p:sp>
        <p:nvSpPr>
          <p:cNvPr id="11" name="TextBox 10">
            <a:extLst>
              <a:ext uri="{FF2B5EF4-FFF2-40B4-BE49-F238E27FC236}">
                <a16:creationId xmlns:a16="http://schemas.microsoft.com/office/drawing/2014/main" id="{D69875C4-B190-3888-E24C-94FDD953A44C}"/>
              </a:ext>
            </a:extLst>
          </p:cNvPr>
          <p:cNvSpPr txBox="1"/>
          <p:nvPr/>
        </p:nvSpPr>
        <p:spPr>
          <a:xfrm>
            <a:off x="8610600" y="2041365"/>
            <a:ext cx="2081660" cy="369332"/>
          </a:xfrm>
          <a:prstGeom prst="rect">
            <a:avLst/>
          </a:prstGeom>
          <a:noFill/>
        </p:spPr>
        <p:txBody>
          <a:bodyPr wrap="none" rtlCol="0">
            <a:spAutoFit/>
          </a:bodyPr>
          <a:lstStyle/>
          <a:p>
            <a:r>
              <a:rPr lang="ru-RU" dirty="0" err="1"/>
              <a:t>Многосезонный</a:t>
            </a:r>
            <a:r>
              <a:rPr lang="ru-RU" dirty="0"/>
              <a:t> ВР</a:t>
            </a:r>
          </a:p>
        </p:txBody>
      </p:sp>
      <p:sp>
        <p:nvSpPr>
          <p:cNvPr id="5" name="Прямоугольник 4"/>
          <p:cNvSpPr/>
          <p:nvPr/>
        </p:nvSpPr>
        <p:spPr>
          <a:xfrm>
            <a:off x="6236745" y="6596914"/>
            <a:ext cx="6096000" cy="261610"/>
          </a:xfrm>
          <a:prstGeom prst="rect">
            <a:avLst/>
          </a:prstGeom>
        </p:spPr>
        <p:txBody>
          <a:bodyPr>
            <a:spAutoFit/>
          </a:bodyPr>
          <a:lstStyle/>
          <a:p>
            <a:r>
              <a:rPr lang="ru-RU" sz="1100" dirty="0"/>
              <a:t>https://towardsdatascience.com/8-techniques-to-model-seasonality-2f81d739710/</a:t>
            </a:r>
          </a:p>
        </p:txBody>
      </p:sp>
      <p:sp>
        <p:nvSpPr>
          <p:cNvPr id="7" name="Прямоугольник 6"/>
          <p:cNvSpPr/>
          <p:nvPr/>
        </p:nvSpPr>
        <p:spPr>
          <a:xfrm>
            <a:off x="3059272" y="6356350"/>
            <a:ext cx="3177473" cy="261610"/>
          </a:xfrm>
          <a:prstGeom prst="rect">
            <a:avLst/>
          </a:prstGeom>
        </p:spPr>
        <p:txBody>
          <a:bodyPr wrap="none">
            <a:spAutoFit/>
          </a:bodyPr>
          <a:lstStyle/>
          <a:p>
            <a:r>
              <a:rPr lang="ru-RU" sz="1100" dirty="0"/>
              <a:t>https://robjhyndman.com/seminars/compstat2022/</a:t>
            </a:r>
          </a:p>
        </p:txBody>
      </p:sp>
      <p:sp>
        <p:nvSpPr>
          <p:cNvPr id="9" name="Прямоугольник 8"/>
          <p:cNvSpPr/>
          <p:nvPr/>
        </p:nvSpPr>
        <p:spPr>
          <a:xfrm>
            <a:off x="197041" y="6575867"/>
            <a:ext cx="6096000" cy="261610"/>
          </a:xfrm>
          <a:prstGeom prst="rect">
            <a:avLst/>
          </a:prstGeom>
        </p:spPr>
        <p:txBody>
          <a:bodyPr>
            <a:spAutoFit/>
          </a:bodyPr>
          <a:lstStyle/>
          <a:p>
            <a:r>
              <a:rPr lang="ru-RU" sz="1100" dirty="0"/>
              <a:t>https://www.business-science.io/code-tools/2020/08/26/five-minute-time-series-seasonality.html#</a:t>
            </a:r>
          </a:p>
        </p:txBody>
      </p:sp>
      <p:sp>
        <p:nvSpPr>
          <p:cNvPr id="14" name="Прямоугольник 13"/>
          <p:cNvSpPr/>
          <p:nvPr/>
        </p:nvSpPr>
        <p:spPr>
          <a:xfrm>
            <a:off x="189645" y="6356350"/>
            <a:ext cx="3050835" cy="261610"/>
          </a:xfrm>
          <a:prstGeom prst="rect">
            <a:avLst/>
          </a:prstGeom>
        </p:spPr>
        <p:txBody>
          <a:bodyPr wrap="none">
            <a:spAutoFit/>
          </a:bodyPr>
          <a:lstStyle/>
          <a:p>
            <a:r>
              <a:rPr lang="ru-RU" sz="1100" dirty="0"/>
              <a:t>https://otexts.com/fpp2/complexseasonality.html</a:t>
            </a:r>
          </a:p>
        </p:txBody>
      </p:sp>
      <p:pic>
        <p:nvPicPr>
          <p:cNvPr id="3074" name="Picture 2" descr="Half-hourly electricity demand and corresponding temperatures in 2014, Victoria, Australia.">
            <a:extLst>
              <a:ext uri="{FF2B5EF4-FFF2-40B4-BE49-F238E27FC236}">
                <a16:creationId xmlns:a16="http://schemas.microsoft.com/office/drawing/2014/main" id="{29FD4B76-8903-9969-0975-D4974A2DCF7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590"/>
          <a:stretch>
            <a:fillRect/>
          </a:stretch>
        </p:blipFill>
        <p:spPr bwMode="auto">
          <a:xfrm>
            <a:off x="181830" y="2545638"/>
            <a:ext cx="5906355" cy="340729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B9B64489-2641-BCD7-A7E9-55851490B6EA}"/>
              </a:ext>
            </a:extLst>
          </p:cNvPr>
          <p:cNvSpPr txBox="1"/>
          <p:nvPr/>
        </p:nvSpPr>
        <p:spPr>
          <a:xfrm>
            <a:off x="197348" y="6081592"/>
            <a:ext cx="7166588" cy="307777"/>
          </a:xfrm>
          <a:prstGeom prst="rect">
            <a:avLst/>
          </a:prstGeom>
          <a:noFill/>
        </p:spPr>
        <p:txBody>
          <a:bodyPr wrap="square">
            <a:spAutoFit/>
          </a:bodyPr>
          <a:lstStyle/>
          <a:p>
            <a:r>
              <a:rPr lang="en" sz="1400" b="0" i="0" dirty="0">
                <a:solidFill>
                  <a:srgbClr val="222222"/>
                </a:solidFill>
                <a:effectLst/>
              </a:rPr>
              <a:t>Half-hourly electricity demand and corresponding temperatures in 2014, Victoria, Australia</a:t>
            </a:r>
            <a:endParaRPr lang="ru-RU" sz="1400" dirty="0"/>
          </a:p>
        </p:txBody>
      </p:sp>
    </p:spTree>
    <p:extLst>
      <p:ext uri="{BB962C8B-B14F-4D97-AF65-F5344CB8AC3E}">
        <p14:creationId xmlns:p14="http://schemas.microsoft.com/office/powerpoint/2010/main" val="32546497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2F9B15-71F2-2B4B-2607-F6AD64299BBA}"/>
              </a:ext>
            </a:extLst>
          </p:cNvPr>
          <p:cNvSpPr>
            <a:spLocks noGrp="1"/>
          </p:cNvSpPr>
          <p:nvPr>
            <p:ph type="title"/>
          </p:nvPr>
        </p:nvSpPr>
        <p:spPr>
          <a:xfrm>
            <a:off x="1209675" y="-34869"/>
            <a:ext cx="10515600" cy="1325563"/>
          </a:xfrm>
        </p:spPr>
        <p:txBody>
          <a:bodyPr/>
          <a:lstStyle/>
          <a:p>
            <a:r>
              <a:rPr lang="ru-RU" dirty="0"/>
              <a:t>Точки перегиба и новизна в тренде</a:t>
            </a:r>
          </a:p>
        </p:txBody>
      </p:sp>
      <p:sp>
        <p:nvSpPr>
          <p:cNvPr id="4" name="Номер слайда 3">
            <a:extLst>
              <a:ext uri="{FF2B5EF4-FFF2-40B4-BE49-F238E27FC236}">
                <a16:creationId xmlns:a16="http://schemas.microsoft.com/office/drawing/2014/main" id="{4FAD7F2E-80F5-34D4-199D-77143EE6E564}"/>
              </a:ext>
            </a:extLst>
          </p:cNvPr>
          <p:cNvSpPr>
            <a:spLocks noGrp="1"/>
          </p:cNvSpPr>
          <p:nvPr>
            <p:ph type="sldNum" sz="quarter" idx="12"/>
          </p:nvPr>
        </p:nvSpPr>
        <p:spPr/>
        <p:txBody>
          <a:bodyPr/>
          <a:lstStyle/>
          <a:p>
            <a:fld id="{45C3B737-A709-4ABC-AFE0-A6B067850C48}" type="slidenum">
              <a:rPr lang="en-US" smtClean="0"/>
              <a:t>12</a:t>
            </a:fld>
            <a:endParaRPr lang="en-US"/>
          </a:p>
        </p:txBody>
      </p:sp>
      <p:sp>
        <p:nvSpPr>
          <p:cNvPr id="8" name="TextBox 7">
            <a:extLst>
              <a:ext uri="{FF2B5EF4-FFF2-40B4-BE49-F238E27FC236}">
                <a16:creationId xmlns:a16="http://schemas.microsoft.com/office/drawing/2014/main" id="{F436175C-6A4B-E1A6-C9FD-91D471755FAD}"/>
              </a:ext>
            </a:extLst>
          </p:cNvPr>
          <p:cNvSpPr txBox="1"/>
          <p:nvPr/>
        </p:nvSpPr>
        <p:spPr>
          <a:xfrm>
            <a:off x="5562600" y="6459865"/>
            <a:ext cx="6096000" cy="261610"/>
          </a:xfrm>
          <a:prstGeom prst="rect">
            <a:avLst/>
          </a:prstGeom>
          <a:noFill/>
        </p:spPr>
        <p:txBody>
          <a:bodyPr wrap="square">
            <a:spAutoFit/>
          </a:bodyPr>
          <a:lstStyle/>
          <a:p>
            <a:r>
              <a:rPr lang="ru-RU" sz="1050" dirty="0" err="1"/>
              <a:t>https</a:t>
            </a:r>
            <a:r>
              <a:rPr lang="ru-RU" sz="1050" dirty="0"/>
              <a:t>://</a:t>
            </a:r>
            <a:r>
              <a:rPr lang="ru-RU" sz="1050" dirty="0" err="1"/>
              <a:t>stackoverflow.com</a:t>
            </a:r>
            <a:r>
              <a:rPr lang="ru-RU" sz="1050" dirty="0"/>
              <a:t>/</a:t>
            </a:r>
            <a:r>
              <a:rPr lang="ru-RU" sz="1050" dirty="0" err="1"/>
              <a:t>questions</a:t>
            </a:r>
            <a:r>
              <a:rPr lang="ru-RU" sz="1050" dirty="0"/>
              <a:t>/63699471/</a:t>
            </a:r>
            <a:r>
              <a:rPr lang="ru-RU" sz="1050" dirty="0" err="1"/>
              <a:t>time-series-data-change-point-detection</a:t>
            </a:r>
            <a:endParaRPr lang="ru-RU" sz="1050" dirty="0"/>
          </a:p>
        </p:txBody>
      </p:sp>
      <p:pic>
        <p:nvPicPr>
          <p:cNvPr id="9" name="Рисунок 8"/>
          <p:cNvPicPr>
            <a:picLocks noChangeAspect="1"/>
          </p:cNvPicPr>
          <p:nvPr/>
        </p:nvPicPr>
        <p:blipFill rotWithShape="1">
          <a:blip r:embed="rId2"/>
          <a:srcRect r="18712"/>
          <a:stretch/>
        </p:blipFill>
        <p:spPr>
          <a:xfrm>
            <a:off x="7816850" y="3831221"/>
            <a:ext cx="4220560" cy="2601921"/>
          </a:xfrm>
          <a:prstGeom prst="rect">
            <a:avLst/>
          </a:prstGeom>
        </p:spPr>
      </p:pic>
      <p:pic>
        <p:nvPicPr>
          <p:cNvPr id="3078" name="Picture 6" descr="Anomaly Detection in Time Seri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7" y="4205615"/>
            <a:ext cx="3832225" cy="2254250"/>
          </a:xfrm>
          <a:prstGeom prst="rect">
            <a:avLst/>
          </a:prstGeom>
          <a:noFill/>
          <a:extLst>
            <a:ext uri="{909E8E84-426E-40DD-AFC4-6F175D3DCCD1}">
              <a14:hiddenFill xmlns:a14="http://schemas.microsoft.com/office/drawing/2010/main">
                <a:solidFill>
                  <a:srgbClr val="FFFFFF"/>
                </a:solidFill>
              </a14:hiddenFill>
            </a:ext>
          </a:extLst>
        </p:spPr>
      </p:pic>
      <p:sp>
        <p:nvSpPr>
          <p:cNvPr id="14" name="Прямоугольник 13"/>
          <p:cNvSpPr/>
          <p:nvPr/>
        </p:nvSpPr>
        <p:spPr>
          <a:xfrm>
            <a:off x="4697411" y="6208122"/>
            <a:ext cx="7150099" cy="307777"/>
          </a:xfrm>
          <a:prstGeom prst="rect">
            <a:avLst/>
          </a:prstGeom>
        </p:spPr>
        <p:txBody>
          <a:bodyPr wrap="square">
            <a:spAutoFit/>
          </a:bodyPr>
          <a:lstStyle/>
          <a:p>
            <a:r>
              <a:rPr lang="ru-RU" sz="1400" dirty="0"/>
              <a:t>victoriametrics.com/</a:t>
            </a:r>
            <a:r>
              <a:rPr lang="ru-RU" sz="1400" dirty="0" err="1"/>
              <a:t>blog</a:t>
            </a:r>
            <a:r>
              <a:rPr lang="ru-RU" sz="1400" dirty="0"/>
              <a:t>/victoriametrics-anomaly-detection-handbook-chapter-2/</a:t>
            </a:r>
          </a:p>
        </p:txBody>
      </p:sp>
      <p:pic>
        <p:nvPicPr>
          <p:cNvPr id="3080" name="Picture 8" descr="A Brief Introduction to Change Point Detection using Python - Tech Rand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1962" y="4114557"/>
            <a:ext cx="3311525" cy="2048366"/>
          </a:xfrm>
          <a:prstGeom prst="rect">
            <a:avLst/>
          </a:prstGeom>
          <a:noFill/>
          <a:extLst>
            <a:ext uri="{909E8E84-426E-40DD-AFC4-6F175D3DCCD1}">
              <a14:hiddenFill xmlns:a14="http://schemas.microsoft.com/office/drawing/2010/main">
                <a:solidFill>
                  <a:srgbClr val="FFFFFF"/>
                </a:solidFill>
              </a14:hiddenFill>
            </a:ext>
          </a:extLst>
        </p:spPr>
      </p:pic>
      <p:sp>
        <p:nvSpPr>
          <p:cNvPr id="15" name="Прямоугольник 14"/>
          <p:cNvSpPr/>
          <p:nvPr/>
        </p:nvSpPr>
        <p:spPr>
          <a:xfrm>
            <a:off x="4529137" y="6606880"/>
            <a:ext cx="7324725" cy="276999"/>
          </a:xfrm>
          <a:prstGeom prst="rect">
            <a:avLst/>
          </a:prstGeom>
        </p:spPr>
        <p:txBody>
          <a:bodyPr wrap="square">
            <a:spAutoFit/>
          </a:bodyPr>
          <a:lstStyle/>
          <a:p>
            <a:r>
              <a:rPr lang="ru-RU" sz="1200" dirty="0"/>
              <a:t>https://techrando.com/2019/08/14/a-brief-introduction-to-change-point-detection-using-python/</a:t>
            </a:r>
          </a:p>
        </p:txBody>
      </p:sp>
      <p:sp>
        <p:nvSpPr>
          <p:cNvPr id="16" name="Прямоугольник 15"/>
          <p:cNvSpPr/>
          <p:nvPr/>
        </p:nvSpPr>
        <p:spPr>
          <a:xfrm>
            <a:off x="81756" y="924464"/>
            <a:ext cx="11815762" cy="2246769"/>
          </a:xfrm>
          <a:prstGeom prst="rect">
            <a:avLst/>
          </a:prstGeom>
        </p:spPr>
        <p:txBody>
          <a:bodyPr wrap="square">
            <a:spAutoFit/>
          </a:bodyPr>
          <a:lstStyle/>
          <a:p>
            <a:r>
              <a:rPr lang="ru-RU" sz="2000" b="1" dirty="0"/>
              <a:t>Точки перегиба  (</a:t>
            </a:r>
            <a:r>
              <a:rPr lang="en-US" sz="2000" b="1" dirty="0"/>
              <a:t>change points</a:t>
            </a:r>
            <a:r>
              <a:rPr lang="ru-RU" sz="2000" b="1" dirty="0"/>
              <a:t>) </a:t>
            </a:r>
            <a:r>
              <a:rPr lang="en-US" sz="2000" dirty="0"/>
              <a:t>- </a:t>
            </a:r>
            <a:r>
              <a:rPr lang="ru-RU" sz="2000" dirty="0"/>
              <a:t> резкие сдвиги в поведении временных рядов (напр. изменения в мгновенной скорости тренда временного ряда), которые могут быть легко идентифицированы человеческим глазом, но которые труднее определить с помощью традиционных статистических подходов.</a:t>
            </a:r>
          </a:p>
          <a:p>
            <a:pPr lvl="1"/>
            <a:r>
              <a:rPr lang="ru-RU" sz="2000" dirty="0"/>
              <a:t>Новизна ВР </a:t>
            </a:r>
            <a:r>
              <a:rPr lang="en-US" sz="2000" b="1" dirty="0"/>
              <a:t>(novelty)</a:t>
            </a:r>
            <a:r>
              <a:rPr lang="ru-RU" sz="2000" dirty="0"/>
              <a:t> – появление в поведении ВР нового паттерна. В отличии от выбросов вызванного новыми процессами в системе, порождающей ВР.</a:t>
            </a:r>
          </a:p>
          <a:p>
            <a:pPr lvl="1"/>
            <a:endParaRPr lang="ru-RU" sz="2000" dirty="0"/>
          </a:p>
        </p:txBody>
      </p:sp>
      <p:sp>
        <p:nvSpPr>
          <p:cNvPr id="17" name="Прямоугольник 16"/>
          <p:cNvSpPr/>
          <p:nvPr/>
        </p:nvSpPr>
        <p:spPr>
          <a:xfrm>
            <a:off x="1129698" y="2869030"/>
            <a:ext cx="10907712" cy="1200329"/>
          </a:xfrm>
          <a:prstGeom prst="rect">
            <a:avLst/>
          </a:prstGeom>
        </p:spPr>
        <p:txBody>
          <a:bodyPr wrap="square">
            <a:spAutoFit/>
          </a:bodyPr>
          <a:lstStyle/>
          <a:p>
            <a:r>
              <a:rPr lang="ru-RU" dirty="0"/>
              <a:t>Точки перегиба часто указывают на структурные нарушения, сдвиги в среднем значении, дисперсию или другие свойства ряда. Ключевым аспектом новизны является то, что она представляет собой ранее не наблюдавшееся состояние или поведение системы, даже если само это состояние или поведение находится в пределах нормы. </a:t>
            </a:r>
          </a:p>
        </p:txBody>
      </p:sp>
    </p:spTree>
    <p:extLst>
      <p:ext uri="{BB962C8B-B14F-4D97-AF65-F5344CB8AC3E}">
        <p14:creationId xmlns:p14="http://schemas.microsoft.com/office/powerpoint/2010/main" val="316007141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B0BEDB-9774-4E17-9A6B-DBCF6A1F528F}"/>
              </a:ext>
            </a:extLst>
          </p:cNvPr>
          <p:cNvSpPr>
            <a:spLocks noGrp="1"/>
          </p:cNvSpPr>
          <p:nvPr>
            <p:ph type="title"/>
          </p:nvPr>
        </p:nvSpPr>
        <p:spPr>
          <a:xfrm>
            <a:off x="1576070" y="197786"/>
            <a:ext cx="9849485" cy="1325563"/>
          </a:xfrm>
        </p:spPr>
        <p:txBody>
          <a:bodyPr>
            <a:normAutofit/>
          </a:bodyPr>
          <a:lstStyle/>
          <a:p>
            <a:r>
              <a:rPr lang="ru-RU" b="1" dirty="0"/>
              <a:t>Модели временных рядов. Аномалии</a:t>
            </a:r>
            <a:endParaRPr lang="en-US" b="1" dirty="0"/>
          </a:p>
        </p:txBody>
      </p:sp>
      <mc:AlternateContent xmlns:mc="http://schemas.openxmlformats.org/markup-compatibility/2006" xmlns:a14="http://schemas.microsoft.com/office/drawing/2010/main">
        <mc:Choice Requires="a14">
          <p:sp>
            <p:nvSpPr>
              <p:cNvPr id="3" name="Объект 2">
                <a:extLst>
                  <a:ext uri="{FF2B5EF4-FFF2-40B4-BE49-F238E27FC236}">
                    <a16:creationId xmlns:a16="http://schemas.microsoft.com/office/drawing/2014/main" id="{4CDB8E57-5CA8-497C-990E-C304F4FBE710}"/>
                  </a:ext>
                </a:extLst>
              </p:cNvPr>
              <p:cNvSpPr>
                <a:spLocks noGrp="1"/>
              </p:cNvSpPr>
              <p:nvPr>
                <p:ph idx="1"/>
              </p:nvPr>
            </p:nvSpPr>
            <p:spPr>
              <a:xfrm>
                <a:off x="209550" y="1114427"/>
                <a:ext cx="11525249" cy="5545789"/>
              </a:xfrm>
            </p:spPr>
            <p:txBody>
              <a:bodyPr>
                <a:normAutofit/>
              </a:bodyPr>
              <a:lstStyle/>
              <a:p>
                <a:pPr eaLnBrk="0" fontAlgn="base" hangingPunct="0">
                  <a:lnSpc>
                    <a:spcPct val="100000"/>
                  </a:lnSpc>
                  <a:spcBef>
                    <a:spcPct val="0"/>
                  </a:spcBef>
                  <a:spcAft>
                    <a:spcPct val="0"/>
                  </a:spcAft>
                </a:pPr>
                <a:r>
                  <a:rPr lang="ru-RU" altLang="en-US" sz="2000" dirty="0">
                    <a:latin typeface="Open Sans"/>
                  </a:rPr>
                  <a:t>Также иногда следует включать в модель аномалии</a:t>
                </a:r>
                <a:r>
                  <a:rPr lang="en-US" altLang="en-US" sz="2000" dirty="0">
                    <a:latin typeface="Open Sans"/>
                  </a:rPr>
                  <a:t>, </a:t>
                </a:r>
                <a:r>
                  <a:rPr lang="ru-RU" altLang="en-US" sz="2000" dirty="0">
                    <a:latin typeface="Open Sans"/>
                  </a:rPr>
                  <a:t>точки перегиба, новизну или другие факторы, описывающие модель</a:t>
                </a:r>
                <a:endParaRPr lang="en-US" altLang="en-US" sz="2000" dirty="0">
                  <a:latin typeface="Open Sans"/>
                </a:endParaRPr>
              </a:p>
              <a:p>
                <a:pPr marL="0" indent="0" eaLnBrk="0" fontAlgn="base" hangingPunct="0">
                  <a:lnSpc>
                    <a:spcPct val="100000"/>
                  </a:lnSpc>
                  <a:spcBef>
                    <a:spcPct val="0"/>
                  </a:spcBef>
                  <a:spcAft>
                    <a:spcPct val="0"/>
                  </a:spcAft>
                  <a:buNone/>
                </a:pPr>
                <a14:m>
                  <m:oMathPara xmlns:m="http://schemas.openxmlformats.org/officeDocument/2006/math">
                    <m:oMathParaPr>
                      <m:jc m:val="centerGroup"/>
                    </m:oMathParaPr>
                    <m:oMath xmlns:m="http://schemas.openxmlformats.org/officeDocument/2006/math">
                      <m:r>
                        <a:rPr lang="en-US" altLang="en-US" sz="2000" i="1" dirty="0">
                          <a:latin typeface="Cambria Math" panose="02040503050406030204" pitchFamily="18" charset="0"/>
                        </a:rPr>
                        <m:t>𝑦</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 = </m:t>
                      </m:r>
                      <m:r>
                        <a:rPr lang="en-US" altLang="en-US" sz="2000" i="1" dirty="0">
                          <a:latin typeface="Cambria Math" panose="02040503050406030204" pitchFamily="18" charset="0"/>
                        </a:rPr>
                        <m:t>𝑡𝑟𝑒𝑛</m:t>
                      </m:r>
                      <m:sSub>
                        <m:sSubPr>
                          <m:ctrlPr>
                            <a:rPr lang="ru-RU" altLang="en-US" sz="2000" b="0" i="1" dirty="0" smtClean="0">
                              <a:latin typeface="Cambria Math" panose="02040503050406030204" pitchFamily="18" charset="0"/>
                            </a:rPr>
                          </m:ctrlPr>
                        </m:sSubPr>
                        <m:e>
                          <m:r>
                            <a:rPr lang="en-US" altLang="en-US" sz="2000" i="1" dirty="0">
                              <a:latin typeface="Cambria Math" panose="02040503050406030204" pitchFamily="18" charset="0"/>
                            </a:rPr>
                            <m:t>𝑑</m:t>
                          </m:r>
                        </m:e>
                        <m:sub>
                          <m:r>
                            <a:rPr lang="ru-RU" altLang="en-US" sz="2000" b="0" i="1" dirty="0" smtClean="0">
                              <a:latin typeface="Cambria Math" panose="02040503050406030204" pitchFamily="18" charset="0"/>
                            </a:rPr>
                            <m:t>1</m:t>
                          </m:r>
                        </m:sub>
                      </m:sSub>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r>
                        <a:rPr lang="en-US" altLang="en-US" sz="2000" i="1" dirty="0">
                          <a:latin typeface="Cambria Math" panose="02040503050406030204" pitchFamily="18" charset="0"/>
                        </a:rPr>
                        <m:t>𝑡𝑟𝑒𝑛</m:t>
                      </m:r>
                      <m:sSub>
                        <m:sSubPr>
                          <m:ctrlPr>
                            <a:rPr lang="ru-RU" altLang="en-US" sz="2000" i="1" dirty="0">
                              <a:latin typeface="Cambria Math" panose="02040503050406030204" pitchFamily="18" charset="0"/>
                            </a:rPr>
                          </m:ctrlPr>
                        </m:sSubPr>
                        <m:e>
                          <m:r>
                            <a:rPr lang="en-US" altLang="en-US" sz="2000" i="1" dirty="0">
                              <a:latin typeface="Cambria Math" panose="02040503050406030204" pitchFamily="18" charset="0"/>
                            </a:rPr>
                            <m:t>𝑑</m:t>
                          </m:r>
                        </m:e>
                        <m:sub>
                          <m:r>
                            <a:rPr lang="ru-RU" altLang="en-US" sz="2000" b="0" i="1" dirty="0" smtClean="0">
                              <a:latin typeface="Cambria Math" panose="02040503050406030204" pitchFamily="18" charset="0"/>
                            </a:rPr>
                            <m:t>2</m:t>
                          </m:r>
                        </m:sub>
                      </m:sSub>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𝑀</m:t>
                          </m:r>
                        </m:sup>
                        <m:e>
                          <m:r>
                            <a:rPr lang="en-US" altLang="en-US" sz="2000" i="1" dirty="0">
                              <a:latin typeface="Cambria Math" panose="02040503050406030204" pitchFamily="18" charset="0"/>
                            </a:rPr>
                            <m:t>𝑠𝑒𝑎𝑠𝑜𝑛𝑎𝑙</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m:t>
                      </m:r>
                      <m:nary>
                        <m:naryPr>
                          <m:chr m:val="∑"/>
                          <m:ctrlPr>
                            <a:rPr lang="en-US" altLang="en-US" sz="2000" i="1" dirty="0">
                              <a:latin typeface="Cambria Math" panose="02040503050406030204" pitchFamily="18" charset="0"/>
                            </a:rPr>
                          </m:ctrlPr>
                        </m:naryPr>
                        <m:sub>
                          <m:r>
                            <a:rPr lang="en-US" altLang="en-US" sz="2000" i="1" dirty="0" err="1">
                              <a:latin typeface="Cambria Math" panose="02040503050406030204" pitchFamily="18" charset="0"/>
                            </a:rPr>
                            <m:t>𝑖</m:t>
                          </m:r>
                          <m:r>
                            <a:rPr lang="en-US" altLang="en-US" sz="2000" i="1" dirty="0">
                              <a:latin typeface="Cambria Math" panose="02040503050406030204" pitchFamily="18" charset="0"/>
                            </a:rPr>
                            <m:t>=0</m:t>
                          </m:r>
                        </m:sub>
                        <m:sup>
                          <m:r>
                            <a:rPr lang="en-US" altLang="en-US" sz="2000" i="1" dirty="0">
                              <a:latin typeface="Cambria Math" panose="02040503050406030204" pitchFamily="18" charset="0"/>
                            </a:rPr>
                            <m:t>𝐻</m:t>
                          </m:r>
                        </m:sup>
                        <m:e>
                          <m:r>
                            <a:rPr lang="en-US" altLang="en-US" sz="2000" i="1" dirty="0">
                              <a:latin typeface="Cambria Math" panose="02040503050406030204" pitchFamily="18" charset="0"/>
                            </a:rPr>
                            <m:t>h𝑜𝑙𝑖𝑑𝑎𝑦𝑠</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e>
                      </m:nary>
                      <m:r>
                        <a:rPr lang="en-US" altLang="en-US" sz="2000" i="1" dirty="0">
                          <a:latin typeface="Cambria Math" panose="02040503050406030204" pitchFamily="18" charset="0"/>
                        </a:rPr>
                        <m:t> + </m:t>
                      </m:r>
                      <m:r>
                        <a:rPr lang="en-US" altLang="en-US" sz="2000" i="1" dirty="0">
                          <a:latin typeface="Cambria Math" panose="02040503050406030204" pitchFamily="18" charset="0"/>
                        </a:rPr>
                        <m:t>𝑛𝑜𝑖𝑠𝑒</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r>
                        <a:rPr lang="en-US" altLang="en-US" sz="2000" i="1" dirty="0">
                          <a:latin typeface="Cambria Math" panose="02040503050406030204" pitchFamily="18" charset="0"/>
                        </a:rPr>
                        <m:t>𝑎𝑛𝑜𝑚𝑎𝑙𝑦</m:t>
                      </m:r>
                      <m:r>
                        <a:rPr lang="en-US" altLang="en-US" sz="2000" i="1" dirty="0">
                          <a:latin typeface="Cambria Math" panose="02040503050406030204" pitchFamily="18" charset="0"/>
                        </a:rPr>
                        <m:t>(</m:t>
                      </m:r>
                      <m:r>
                        <a:rPr lang="en-US" altLang="en-US" sz="2000" i="1" dirty="0">
                          <a:latin typeface="Cambria Math" panose="02040503050406030204" pitchFamily="18" charset="0"/>
                        </a:rPr>
                        <m:t>𝑡</m:t>
                      </m:r>
                      <m:r>
                        <a:rPr lang="en-US" altLang="en-US" sz="2000" i="1" dirty="0">
                          <a:latin typeface="Cambria Math" panose="02040503050406030204" pitchFamily="18" charset="0"/>
                        </a:rPr>
                        <m:t>).</m:t>
                      </m:r>
                    </m:oMath>
                  </m:oMathPara>
                </a14:m>
                <a:endParaRPr lang="en-US" altLang="en-US" sz="2000" dirty="0">
                  <a:latin typeface="Arial" panose="020B0604020202020204" pitchFamily="34" charset="0"/>
                </a:endParaRPr>
              </a:p>
              <a:p>
                <a:endParaRPr lang="en-US" sz="2000" dirty="0"/>
              </a:p>
            </p:txBody>
          </p:sp>
        </mc:Choice>
        <mc:Fallback xmlns="">
          <p:sp>
            <p:nvSpPr>
              <p:cNvPr id="3" name="Объект 2">
                <a:extLst>
                  <a:ext uri="{FF2B5EF4-FFF2-40B4-BE49-F238E27FC236}">
                    <a16:creationId xmlns:a16="http://schemas.microsoft.com/office/drawing/2014/main" id="{4CDB8E57-5CA8-497C-990E-C304F4FBE710}"/>
                  </a:ext>
                </a:extLst>
              </p:cNvPr>
              <p:cNvSpPr>
                <a:spLocks noGrp="1" noRot="1" noChangeAspect="1" noMove="1" noResize="1" noEditPoints="1" noAdjustHandles="1" noChangeArrowheads="1" noChangeShapeType="1" noTextEdit="1"/>
              </p:cNvSpPr>
              <p:nvPr>
                <p:ph idx="1"/>
              </p:nvPr>
            </p:nvSpPr>
            <p:spPr>
              <a:xfrm>
                <a:off x="209550" y="1114427"/>
                <a:ext cx="11525249" cy="5545789"/>
              </a:xfrm>
              <a:blipFill>
                <a:blip r:embed="rId2"/>
                <a:stretch>
                  <a:fillRect l="-476" t="-659"/>
                </a:stretch>
              </a:blipFill>
            </p:spPr>
            <p:txBody>
              <a:bodyPr/>
              <a:lstStyle/>
              <a:p>
                <a:r>
                  <a:rPr lang="ru-RU">
                    <a:noFill/>
                  </a:rPr>
                  <a:t> </a:t>
                </a:r>
              </a:p>
            </p:txBody>
          </p:sp>
        </mc:Fallback>
      </mc:AlternateContent>
      <p:sp>
        <p:nvSpPr>
          <p:cNvPr id="7" name="Номер слайда 6">
            <a:extLst>
              <a:ext uri="{FF2B5EF4-FFF2-40B4-BE49-F238E27FC236}">
                <a16:creationId xmlns:a16="http://schemas.microsoft.com/office/drawing/2014/main" id="{A07EF2B8-3D80-AB22-FA4B-F0655B9EAE6F}"/>
              </a:ext>
            </a:extLst>
          </p:cNvPr>
          <p:cNvSpPr>
            <a:spLocks noGrp="1"/>
          </p:cNvSpPr>
          <p:nvPr>
            <p:ph type="sldNum" sz="quarter" idx="12"/>
          </p:nvPr>
        </p:nvSpPr>
        <p:spPr/>
        <p:txBody>
          <a:bodyPr/>
          <a:lstStyle/>
          <a:p>
            <a:fld id="{45C3B737-A709-4ABC-AFE0-A6B067850C48}" type="slidenum">
              <a:rPr lang="en-US" smtClean="0"/>
              <a:t>13</a:t>
            </a:fld>
            <a:endParaRPr lang="en-US"/>
          </a:p>
        </p:txBody>
      </p:sp>
      <p:sp>
        <p:nvSpPr>
          <p:cNvPr id="5" name="Rectangle 231">
            <a:extLst>
              <a:ext uri="{FF2B5EF4-FFF2-40B4-BE49-F238E27FC236}">
                <a16:creationId xmlns:a16="http://schemas.microsoft.com/office/drawing/2014/main" id="{57F50B8E-A23A-4154-9A0C-994DE115ACE6}"/>
              </a:ext>
            </a:extLst>
          </p:cNvPr>
          <p:cNvSpPr>
            <a:spLocks noChangeArrowheads="1"/>
          </p:cNvSpPr>
          <p:nvPr/>
        </p:nvSpPr>
        <p:spPr bwMode="auto">
          <a:xfrm>
            <a:off x="6167756" y="4477386"/>
            <a:ext cx="52071" cy="1079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endParaRPr lang="en-US" sz="1351"/>
          </a:p>
        </p:txBody>
      </p:sp>
      <p:sp>
        <p:nvSpPr>
          <p:cNvPr id="6" name="Rectangle 3">
            <a:extLst>
              <a:ext uri="{FF2B5EF4-FFF2-40B4-BE49-F238E27FC236}">
                <a16:creationId xmlns:a16="http://schemas.microsoft.com/office/drawing/2014/main" id="{66C52228-8C94-4CF2-AD63-BA9617333BA2}"/>
              </a:ext>
            </a:extLst>
          </p:cNvPr>
          <p:cNvSpPr>
            <a:spLocks noChangeArrowheads="1"/>
          </p:cNvSpPr>
          <p:nvPr/>
        </p:nvSpPr>
        <p:spPr bwMode="auto">
          <a:xfrm>
            <a:off x="-1523999" y="124999"/>
            <a:ext cx="18473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a:latin typeface="Arial" panose="020B0604020202020204" pitchFamily="34" charset="0"/>
                <a:ea typeface="Times New Roman" panose="02020603050405020304" pitchFamily="18" charset="0"/>
              </a:rPr>
              <a:t/>
            </a:r>
            <a:br>
              <a:rPr lang="en-US" altLang="en-US" sz="1400">
                <a:latin typeface="Arial" panose="020B0604020202020204" pitchFamily="34" charset="0"/>
                <a:ea typeface="Times New Roman" panose="02020603050405020304" pitchFamily="18" charset="0"/>
              </a:rPr>
            </a:br>
            <a:endParaRPr lang="en-US" altLang="en-US" sz="2400">
              <a:latin typeface="Arial" panose="020B0604020202020204" pitchFamily="34" charset="0"/>
            </a:endParaRPr>
          </a:p>
        </p:txBody>
      </p:sp>
      <p:sp>
        <p:nvSpPr>
          <p:cNvPr id="4" name="Rectangle 1">
            <a:extLst>
              <a:ext uri="{FF2B5EF4-FFF2-40B4-BE49-F238E27FC236}">
                <a16:creationId xmlns:a16="http://schemas.microsoft.com/office/drawing/2014/main" id="{4ECA1DAD-475E-4D0B-A20A-17535DDD41A8}"/>
              </a:ext>
            </a:extLst>
          </p:cNvPr>
          <p:cNvSpPr>
            <a:spLocks noChangeArrowheads="1"/>
          </p:cNvSpPr>
          <p:nvPr/>
        </p:nvSpPr>
        <p:spPr bwMode="auto">
          <a:xfrm>
            <a:off x="-1523999" y="43935"/>
            <a:ext cx="65"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eaLnBrk="0" fontAlgn="base" hangingPunct="0">
              <a:spcBef>
                <a:spcPct val="0"/>
              </a:spcBef>
              <a:spcAft>
                <a:spcPct val="0"/>
              </a:spcAft>
            </a:pPr>
            <a:endParaRPr lang="en-US" altLang="en-US" sz="2400" dirty="0">
              <a:latin typeface="Arial" panose="020B0604020202020204" pitchFamily="34" charset="0"/>
            </a:endParaRPr>
          </a:p>
        </p:txBody>
      </p:sp>
      <p:pic>
        <p:nvPicPr>
          <p:cNvPr id="13" name="Picture 6" descr="Anomaly Detection in Time Seri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7850" y="2751269"/>
            <a:ext cx="6268083" cy="3687107"/>
          </a:xfrm>
          <a:prstGeom prst="rect">
            <a:avLst/>
          </a:prstGeom>
          <a:noFill/>
          <a:extLst>
            <a:ext uri="{909E8E84-426E-40DD-AFC4-6F175D3DCCD1}">
              <a14:hiddenFill xmlns:a14="http://schemas.microsoft.com/office/drawing/2010/main">
                <a:solidFill>
                  <a:srgbClr val="FFFFFF"/>
                </a:solidFill>
              </a14:hiddenFill>
            </a:ext>
          </a:extLst>
        </p:spPr>
      </p:pic>
      <p:sp>
        <p:nvSpPr>
          <p:cNvPr id="14" name="Овал 13"/>
          <p:cNvSpPr/>
          <p:nvPr/>
        </p:nvSpPr>
        <p:spPr>
          <a:xfrm>
            <a:off x="9458325" y="3819525"/>
            <a:ext cx="238125" cy="25717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15" name="Овал 14"/>
          <p:cNvSpPr/>
          <p:nvPr/>
        </p:nvSpPr>
        <p:spPr>
          <a:xfrm>
            <a:off x="10001449" y="3301470"/>
            <a:ext cx="238125" cy="257175"/>
          </a:xfrm>
          <a:prstGeom prst="ellipse">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rgbClr val="FF0000"/>
              </a:solidFill>
            </a:endParaRPr>
          </a:p>
        </p:txBody>
      </p:sp>
      <p:sp>
        <p:nvSpPr>
          <p:cNvPr id="16" name="TextBox 15"/>
          <p:cNvSpPr txBox="1"/>
          <p:nvPr/>
        </p:nvSpPr>
        <p:spPr>
          <a:xfrm>
            <a:off x="10239574" y="3244334"/>
            <a:ext cx="1686359" cy="369332"/>
          </a:xfrm>
          <a:prstGeom prst="rect">
            <a:avLst/>
          </a:prstGeom>
          <a:noFill/>
        </p:spPr>
        <p:txBody>
          <a:bodyPr wrap="none" rtlCol="0">
            <a:spAutoFit/>
          </a:bodyPr>
          <a:lstStyle/>
          <a:p>
            <a:r>
              <a:rPr lang="ru-RU" dirty="0"/>
              <a:t>Точка перегиба</a:t>
            </a:r>
          </a:p>
        </p:txBody>
      </p:sp>
      <mc:AlternateContent xmlns:mc="http://schemas.openxmlformats.org/markup-compatibility/2006" xmlns:a14="http://schemas.microsoft.com/office/drawing/2010/main">
        <mc:Choice Requires="a14">
          <p:sp>
            <p:nvSpPr>
              <p:cNvPr id="17" name="Прямоугольник 16"/>
              <p:cNvSpPr/>
              <p:nvPr/>
            </p:nvSpPr>
            <p:spPr>
              <a:xfrm>
                <a:off x="209550" y="2824629"/>
                <a:ext cx="5153025" cy="1024704"/>
              </a:xfrm>
              <a:prstGeom prst="rect">
                <a:avLst/>
              </a:prstGeom>
            </p:spPr>
            <p:txBody>
              <a:bodyPr wrap="square">
                <a:spAutoFit/>
              </a:bodyPr>
              <a:lstStyle/>
              <a:p>
                <a:pPr marL="285750" indent="-285750" eaLnBrk="0" fontAlgn="base" hangingPunct="0">
                  <a:lnSpc>
                    <a:spcPct val="100000"/>
                  </a:lnSpc>
                  <a:spcBef>
                    <a:spcPts val="600"/>
                  </a:spcBef>
                  <a:spcAft>
                    <a:spcPct val="0"/>
                  </a:spcAft>
                  <a:buFont typeface="Arial" panose="020B0604020202020204" pitchFamily="34" charset="0"/>
                  <a:buChar char="•"/>
                </a:pPr>
                <a14:m>
                  <m:oMath xmlns:m="http://schemas.openxmlformats.org/officeDocument/2006/math">
                    <m:r>
                      <a:rPr lang="en-US" altLang="en-US" i="1" dirty="0" smtClean="0">
                        <a:latin typeface="Cambria Math" panose="02040503050406030204" pitchFamily="18" charset="0"/>
                      </a:rPr>
                      <m:t>𝑡𝑟𝑒𝑛</m:t>
                    </m:r>
                    <m:sSub>
                      <m:sSubPr>
                        <m:ctrlPr>
                          <a:rPr lang="ru-RU" altLang="en-US" i="1" dirty="0">
                            <a:latin typeface="Cambria Math" panose="02040503050406030204" pitchFamily="18" charset="0"/>
                          </a:rPr>
                        </m:ctrlPr>
                      </m:sSubPr>
                      <m:e>
                        <m:r>
                          <a:rPr lang="en-US" altLang="en-US" i="1" dirty="0">
                            <a:latin typeface="Cambria Math" panose="02040503050406030204" pitchFamily="18" charset="0"/>
                          </a:rPr>
                          <m:t>𝑑</m:t>
                        </m:r>
                      </m:e>
                      <m:sub>
                        <m:r>
                          <a:rPr lang="ru-RU" altLang="en-US" i="1" dirty="0">
                            <a:latin typeface="Cambria Math" panose="02040503050406030204" pitchFamily="18" charset="0"/>
                          </a:rPr>
                          <m:t>1</m:t>
                        </m:r>
                      </m:sub>
                    </m:sSub>
                    <m:d>
                      <m:dPr>
                        <m:ctrlPr>
                          <a:rPr lang="en-US" altLang="en-US" i="1" dirty="0">
                            <a:latin typeface="Cambria Math" panose="02040503050406030204" pitchFamily="18" charset="0"/>
                          </a:rPr>
                        </m:ctrlPr>
                      </m:dPr>
                      <m:e>
                        <m:r>
                          <a:rPr lang="en-US" altLang="en-US" i="1" dirty="0">
                            <a:latin typeface="Cambria Math" panose="02040503050406030204" pitchFamily="18" charset="0"/>
                          </a:rPr>
                          <m:t>𝑡</m:t>
                        </m:r>
                      </m:e>
                    </m:d>
                    <m:r>
                      <a:rPr lang="en-US" altLang="en-US" i="1" dirty="0">
                        <a:latin typeface="Cambria Math" panose="02040503050406030204" pitchFamily="18" charset="0"/>
                      </a:rPr>
                      <m:t>+</m:t>
                    </m:r>
                    <m:r>
                      <a:rPr lang="en-US" altLang="en-US" i="1" dirty="0">
                        <a:latin typeface="Cambria Math" panose="02040503050406030204" pitchFamily="18" charset="0"/>
                      </a:rPr>
                      <m:t>𝑡𝑟𝑒𝑛</m:t>
                    </m:r>
                    <m:sSub>
                      <m:sSubPr>
                        <m:ctrlPr>
                          <a:rPr lang="ru-RU" altLang="en-US" i="1" dirty="0">
                            <a:latin typeface="Cambria Math" panose="02040503050406030204" pitchFamily="18" charset="0"/>
                          </a:rPr>
                        </m:ctrlPr>
                      </m:sSubPr>
                      <m:e>
                        <m:r>
                          <a:rPr lang="en-US" altLang="en-US" i="1" dirty="0">
                            <a:latin typeface="Cambria Math" panose="02040503050406030204" pitchFamily="18" charset="0"/>
                          </a:rPr>
                          <m:t>𝑑</m:t>
                        </m:r>
                      </m:e>
                      <m:sub>
                        <m:r>
                          <a:rPr lang="ru-RU" altLang="en-US" i="1" dirty="0">
                            <a:latin typeface="Cambria Math" panose="02040503050406030204" pitchFamily="18" charset="0"/>
                          </a:rPr>
                          <m:t>2</m:t>
                        </m:r>
                      </m:sub>
                    </m:sSub>
                    <m:d>
                      <m:dPr>
                        <m:ctrlPr>
                          <a:rPr lang="en-US" altLang="en-US" i="1" dirty="0">
                            <a:latin typeface="Cambria Math" panose="02040503050406030204" pitchFamily="18" charset="0"/>
                          </a:rPr>
                        </m:ctrlPr>
                      </m:dPr>
                      <m:e>
                        <m:r>
                          <a:rPr lang="en-US" altLang="en-US" i="1" dirty="0">
                            <a:latin typeface="Cambria Math" panose="02040503050406030204" pitchFamily="18" charset="0"/>
                          </a:rPr>
                          <m:t>𝑡</m:t>
                        </m:r>
                      </m:e>
                    </m:d>
                    <m:r>
                      <a:rPr lang="ru-RU" altLang="en-US" b="0" i="1" dirty="0" smtClean="0">
                        <a:latin typeface="Cambria Math" panose="02040503050406030204" pitchFamily="18" charset="0"/>
                      </a:rPr>
                      <m:t>−значения тренда до и после точки перегиба</m:t>
                    </m:r>
                  </m:oMath>
                </a14:m>
                <a:endParaRPr lang="ru-RU" altLang="en-US" b="0" dirty="0">
                  <a:latin typeface="Open Sans"/>
                </a:endParaRPr>
              </a:p>
              <a:p>
                <a:pPr marL="285750" indent="-285750" eaLnBrk="0" fontAlgn="base" hangingPunct="0">
                  <a:lnSpc>
                    <a:spcPct val="100000"/>
                  </a:lnSpc>
                  <a:spcBef>
                    <a:spcPts val="600"/>
                  </a:spcBef>
                  <a:spcAft>
                    <a:spcPct val="0"/>
                  </a:spcAft>
                  <a:buFont typeface="Arial" panose="020B0604020202020204" pitchFamily="34" charset="0"/>
                  <a:buChar char="•"/>
                </a:pPr>
                <a14:m>
                  <m:oMath xmlns:m="http://schemas.openxmlformats.org/officeDocument/2006/math">
                    <m:r>
                      <a:rPr lang="en-US" altLang="en-US" i="1" dirty="0">
                        <a:latin typeface="Cambria Math" panose="02040503050406030204" pitchFamily="18" charset="0"/>
                      </a:rPr>
                      <m:t>𝑎𝑛𝑜𝑚𝑎𝑙𝑦</m:t>
                    </m:r>
                    <m:r>
                      <a:rPr lang="en-US" altLang="en-US" i="1" dirty="0">
                        <a:latin typeface="Cambria Math" panose="02040503050406030204" pitchFamily="18" charset="0"/>
                      </a:rPr>
                      <m:t>(</m:t>
                    </m:r>
                    <m:r>
                      <a:rPr lang="en-US" altLang="en-US" i="1" dirty="0">
                        <a:latin typeface="Cambria Math" panose="02040503050406030204" pitchFamily="18" charset="0"/>
                      </a:rPr>
                      <m:t>𝑡</m:t>
                    </m:r>
                    <m:r>
                      <a:rPr lang="en-US" altLang="en-US" i="1" dirty="0">
                        <a:latin typeface="Cambria Math" panose="02040503050406030204" pitchFamily="18" charset="0"/>
                      </a:rPr>
                      <m:t>)</m:t>
                    </m:r>
                  </m:oMath>
                </a14:m>
                <a:r>
                  <a:rPr lang="ru-RU" altLang="en-US" dirty="0">
                    <a:latin typeface="Open Sans"/>
                  </a:rPr>
                  <a:t> – значения в точках аномалий</a:t>
                </a:r>
                <a:endParaRPr lang="en-US" altLang="en-US" dirty="0">
                  <a:latin typeface="Open Sans"/>
                </a:endParaRPr>
              </a:p>
            </p:txBody>
          </p:sp>
        </mc:Choice>
        <mc:Fallback xmlns="">
          <p:sp>
            <p:nvSpPr>
              <p:cNvPr id="17" name="Прямоугольник 16"/>
              <p:cNvSpPr>
                <a:spLocks noRot="1" noChangeAspect="1" noMove="1" noResize="1" noEditPoints="1" noAdjustHandles="1" noChangeArrowheads="1" noChangeShapeType="1" noTextEdit="1"/>
              </p:cNvSpPr>
              <p:nvPr/>
            </p:nvSpPr>
            <p:spPr>
              <a:xfrm>
                <a:off x="209550" y="2824629"/>
                <a:ext cx="5153025" cy="1024704"/>
              </a:xfrm>
              <a:prstGeom prst="rect">
                <a:avLst/>
              </a:prstGeom>
              <a:blipFill>
                <a:blip r:embed="rId4"/>
                <a:stretch>
                  <a:fillRect l="-709" t="-595" r="-827" b="-5952"/>
                </a:stretch>
              </a:blipFill>
            </p:spPr>
            <p:txBody>
              <a:bodyPr/>
              <a:lstStyle/>
              <a:p>
                <a:r>
                  <a:rPr lang="ru-RU">
                    <a:noFill/>
                  </a:rPr>
                  <a:t> </a:t>
                </a:r>
              </a:p>
            </p:txBody>
          </p:sp>
        </mc:Fallback>
      </mc:AlternateContent>
      <p:sp>
        <p:nvSpPr>
          <p:cNvPr id="18" name="Прямоугольник 17"/>
          <p:cNvSpPr/>
          <p:nvPr/>
        </p:nvSpPr>
        <p:spPr>
          <a:xfrm>
            <a:off x="404812" y="4488181"/>
            <a:ext cx="5420143" cy="923330"/>
          </a:xfrm>
          <a:prstGeom prst="rect">
            <a:avLst/>
          </a:prstGeom>
        </p:spPr>
        <p:txBody>
          <a:bodyPr wrap="square">
            <a:spAutoFit/>
          </a:bodyPr>
          <a:lstStyle/>
          <a:p>
            <a:pPr eaLnBrk="0" fontAlgn="base" hangingPunct="0">
              <a:lnSpc>
                <a:spcPct val="100000"/>
              </a:lnSpc>
              <a:spcBef>
                <a:spcPct val="0"/>
              </a:spcBef>
              <a:spcAft>
                <a:spcPct val="0"/>
              </a:spcAft>
            </a:pPr>
            <a:r>
              <a:rPr lang="ru-RU" altLang="en-US" b="1" dirty="0">
                <a:latin typeface="Open Sans"/>
              </a:rPr>
              <a:t>Аномалии представляют собой непрогнозируемые, кратковременные события.</a:t>
            </a:r>
          </a:p>
        </p:txBody>
      </p:sp>
    </p:spTree>
    <p:extLst>
      <p:ext uri="{BB962C8B-B14F-4D97-AF65-F5344CB8AC3E}">
        <p14:creationId xmlns:p14="http://schemas.microsoft.com/office/powerpoint/2010/main" val="18477068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14722" y="231629"/>
            <a:ext cx="10739077" cy="698140"/>
          </a:xfrm>
        </p:spPr>
        <p:txBody>
          <a:bodyPr>
            <a:normAutofit/>
          </a:bodyPr>
          <a:lstStyle/>
          <a:p>
            <a:pPr algn="ctr"/>
            <a:r>
              <a:rPr lang="ru-RU" dirty="0"/>
              <a:t>Примеры ВР</a:t>
            </a:r>
          </a:p>
        </p:txBody>
      </p:sp>
      <p:sp>
        <p:nvSpPr>
          <p:cNvPr id="3" name="Объект 2"/>
          <p:cNvSpPr>
            <a:spLocks noGrp="1"/>
          </p:cNvSpPr>
          <p:nvPr>
            <p:ph idx="1"/>
          </p:nvPr>
        </p:nvSpPr>
        <p:spPr>
          <a:xfrm>
            <a:off x="6096000" y="960197"/>
            <a:ext cx="5807854" cy="3882568"/>
          </a:xfrm>
        </p:spPr>
        <p:txBody>
          <a:bodyPr>
            <a:normAutofit/>
          </a:bodyPr>
          <a:lstStyle/>
          <a:p>
            <a:pPr marL="0" indent="0">
              <a:buNone/>
            </a:pPr>
            <a:r>
              <a:rPr lang="ru-RU" sz="2200" dirty="0"/>
              <a:t>Ежемесячные продажи антидиабетических лекарств в Австралии с июля 1991 по июнь 2008. </a:t>
            </a:r>
          </a:p>
          <a:p>
            <a:pPr lvl="1"/>
            <a:r>
              <a:rPr lang="ru-RU" sz="2200" dirty="0"/>
              <a:t>На этом графике мы можем видеть возрастающий тренд, возможно, даже нелинейный, и кроме этого есть периодичность (сезонность) значений по годам.</a:t>
            </a:r>
          </a:p>
        </p:txBody>
      </p:sp>
      <p:sp>
        <p:nvSpPr>
          <p:cNvPr id="4" name="Номер слайда 3"/>
          <p:cNvSpPr>
            <a:spLocks noGrp="1"/>
          </p:cNvSpPr>
          <p:nvPr>
            <p:ph type="sldNum" sz="quarter" idx="12"/>
          </p:nvPr>
        </p:nvSpPr>
        <p:spPr/>
        <p:txBody>
          <a:bodyPr/>
          <a:lstStyle/>
          <a:p>
            <a:fld id="{45C3B737-A709-4ABC-AFE0-A6B067850C48}" type="slidenum">
              <a:rPr lang="en-US" smtClean="0"/>
              <a:t>14</a:t>
            </a:fld>
            <a:endParaRPr lang="en-US"/>
          </a:p>
        </p:txBody>
      </p:sp>
      <p:sp>
        <p:nvSpPr>
          <p:cNvPr id="5" name="AutoShape 2" descr="ex"/>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7" name="Рисунок 6"/>
          <p:cNvPicPr>
            <a:picLocks noChangeAspect="1"/>
          </p:cNvPicPr>
          <p:nvPr/>
        </p:nvPicPr>
        <p:blipFill>
          <a:blip r:embed="rId2"/>
          <a:stretch>
            <a:fillRect/>
          </a:stretch>
        </p:blipFill>
        <p:spPr>
          <a:xfrm>
            <a:off x="6431162" y="3917343"/>
            <a:ext cx="5665777" cy="2452897"/>
          </a:xfrm>
          <a:prstGeom prst="rect">
            <a:avLst/>
          </a:prstGeom>
        </p:spPr>
      </p:pic>
      <p:pic>
        <p:nvPicPr>
          <p:cNvPr id="8" name="Рисунок 7"/>
          <p:cNvPicPr>
            <a:picLocks noChangeAspect="1"/>
          </p:cNvPicPr>
          <p:nvPr/>
        </p:nvPicPr>
        <p:blipFill>
          <a:blip r:embed="rId3"/>
          <a:stretch>
            <a:fillRect/>
          </a:stretch>
        </p:blipFill>
        <p:spPr>
          <a:xfrm>
            <a:off x="128184" y="4297715"/>
            <a:ext cx="5833065" cy="2423760"/>
          </a:xfrm>
          <a:prstGeom prst="rect">
            <a:avLst/>
          </a:prstGeom>
        </p:spPr>
      </p:pic>
      <p:sp>
        <p:nvSpPr>
          <p:cNvPr id="9" name="Прямоугольник 8"/>
          <p:cNvSpPr/>
          <p:nvPr/>
        </p:nvSpPr>
        <p:spPr>
          <a:xfrm>
            <a:off x="128183" y="870977"/>
            <a:ext cx="6302979" cy="4031873"/>
          </a:xfrm>
          <a:prstGeom prst="rect">
            <a:avLst/>
          </a:prstGeom>
        </p:spPr>
        <p:txBody>
          <a:bodyPr wrap="square">
            <a:spAutoFit/>
          </a:bodyPr>
          <a:lstStyle/>
          <a:p>
            <a:r>
              <a:rPr lang="ru-RU" sz="2000" dirty="0"/>
              <a:t>Максимальный спрос на электричество в штате Виктория (Австралия) за 30-минутные интервалы с 10 января 2000 в течении 115 дней.</a:t>
            </a:r>
          </a:p>
          <a:p>
            <a:r>
              <a:rPr lang="ru-RU" sz="2000" dirty="0"/>
              <a:t>2 сезонности </a:t>
            </a:r>
          </a:p>
          <a:p>
            <a:pPr marL="285750" indent="-285750">
              <a:buFont typeface="Arial" panose="020B0604020202020204" pitchFamily="34" charset="0"/>
              <a:buChar char="•"/>
            </a:pPr>
            <a:r>
              <a:rPr lang="ru-RU" sz="2000" dirty="0"/>
              <a:t>суточная (люди обычно больше потребляют электричество днем, чем ночью) </a:t>
            </a:r>
          </a:p>
          <a:p>
            <a:pPr marL="285750" indent="-285750">
              <a:buFont typeface="Arial" panose="020B0604020202020204" pitchFamily="34" charset="0"/>
              <a:buChar char="•"/>
            </a:pPr>
            <a:r>
              <a:rPr lang="ru-RU" sz="2000" dirty="0"/>
              <a:t>недельную (более высокое потребление электричества по будням). </a:t>
            </a:r>
          </a:p>
          <a:p>
            <a:pPr marL="285750" indent="-285750">
              <a:buFont typeface="Arial" panose="020B0604020202020204" pitchFamily="34" charset="0"/>
              <a:buChar char="•"/>
            </a:pPr>
            <a:r>
              <a:rPr lang="ru-RU" sz="2000" dirty="0"/>
              <a:t>Если посмотреть данные за несколько лет, еще годовая, (теплое время года работает больше кондиционеров).</a:t>
            </a:r>
          </a:p>
          <a:p>
            <a:r>
              <a:rPr lang="ru-RU" dirty="0"/>
              <a:t/>
            </a:r>
            <a:br>
              <a:rPr lang="ru-RU" dirty="0"/>
            </a:br>
            <a:endParaRPr lang="ru-RU" dirty="0"/>
          </a:p>
        </p:txBody>
      </p:sp>
      <p:sp>
        <p:nvSpPr>
          <p:cNvPr id="10" name="Прямоугольник 9"/>
          <p:cNvSpPr/>
          <p:nvPr/>
        </p:nvSpPr>
        <p:spPr>
          <a:xfrm>
            <a:off x="6214463" y="6382921"/>
            <a:ext cx="7086600" cy="338554"/>
          </a:xfrm>
          <a:prstGeom prst="rect">
            <a:avLst/>
          </a:prstGeom>
        </p:spPr>
        <p:txBody>
          <a:bodyPr wrap="square">
            <a:spAutoFit/>
          </a:bodyPr>
          <a:lstStyle/>
          <a:p>
            <a:r>
              <a:rPr lang="ru-RU" sz="1600" dirty="0"/>
              <a:t>https://education.yandex.ru/handbook/ml/article/vremennye-ryady</a:t>
            </a:r>
          </a:p>
        </p:txBody>
      </p:sp>
    </p:spTree>
    <p:extLst>
      <p:ext uri="{BB962C8B-B14F-4D97-AF65-F5344CB8AC3E}">
        <p14:creationId xmlns:p14="http://schemas.microsoft.com/office/powerpoint/2010/main" val="69574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E3A209-E86B-43CF-A4CE-1917FCF9C1BD}"/>
              </a:ext>
            </a:extLst>
          </p:cNvPr>
          <p:cNvSpPr>
            <a:spLocks noGrp="1"/>
          </p:cNvSpPr>
          <p:nvPr>
            <p:ph type="ctrTitle"/>
          </p:nvPr>
        </p:nvSpPr>
        <p:spPr>
          <a:xfrm>
            <a:off x="743483" y="934359"/>
            <a:ext cx="10932920" cy="3523342"/>
          </a:xfrm>
        </p:spPr>
        <p:txBody>
          <a:bodyPr>
            <a:normAutofit/>
          </a:bodyPr>
          <a:lstStyle/>
          <a:p>
            <a:r>
              <a:rPr lang="ru-RU" sz="8000" dirty="0" smtClean="0"/>
              <a:t>Типы временных рядов</a:t>
            </a:r>
            <a:endParaRPr lang="en-US" sz="8000" dirty="0"/>
          </a:p>
        </p:txBody>
      </p:sp>
      <p:sp>
        <p:nvSpPr>
          <p:cNvPr id="3" name="Номер слайда 2">
            <a:extLst>
              <a:ext uri="{FF2B5EF4-FFF2-40B4-BE49-F238E27FC236}">
                <a16:creationId xmlns:a16="http://schemas.microsoft.com/office/drawing/2014/main" id="{B46F77CB-BE50-557D-1B14-E047A35B21B2}"/>
              </a:ext>
            </a:extLst>
          </p:cNvPr>
          <p:cNvSpPr>
            <a:spLocks noGrp="1"/>
          </p:cNvSpPr>
          <p:nvPr>
            <p:ph type="sldNum" sz="quarter" idx="12"/>
          </p:nvPr>
        </p:nvSpPr>
        <p:spPr/>
        <p:txBody>
          <a:bodyPr/>
          <a:lstStyle/>
          <a:p>
            <a:fld id="{45C3B737-A709-4ABC-AFE0-A6B067850C48}" type="slidenum">
              <a:rPr lang="en-US" smtClean="0"/>
              <a:t>15</a:t>
            </a:fld>
            <a:endParaRPr lang="en-US"/>
          </a:p>
        </p:txBody>
      </p:sp>
    </p:spTree>
    <p:extLst>
      <p:ext uri="{BB962C8B-B14F-4D97-AF65-F5344CB8AC3E}">
        <p14:creationId xmlns:p14="http://schemas.microsoft.com/office/powerpoint/2010/main" val="129738416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228D024-4605-8CBD-DFD0-F3F657EDAA48}"/>
              </a:ext>
            </a:extLst>
          </p:cNvPr>
          <p:cNvSpPr>
            <a:spLocks noGrp="1"/>
          </p:cNvSpPr>
          <p:nvPr>
            <p:ph type="title"/>
          </p:nvPr>
        </p:nvSpPr>
        <p:spPr>
          <a:xfrm>
            <a:off x="191069" y="365126"/>
            <a:ext cx="11162731" cy="603866"/>
          </a:xfrm>
        </p:spPr>
        <p:txBody>
          <a:bodyPr>
            <a:normAutofit fontScale="90000"/>
          </a:bodyPr>
          <a:lstStyle/>
          <a:p>
            <a:r>
              <a:rPr lang="ru-RU" dirty="0"/>
              <a:t>Представление ВР</a:t>
            </a:r>
          </a:p>
        </p:txBody>
      </p:sp>
      <p:sp>
        <p:nvSpPr>
          <p:cNvPr id="3" name="Объект 2">
            <a:extLst>
              <a:ext uri="{FF2B5EF4-FFF2-40B4-BE49-F238E27FC236}">
                <a16:creationId xmlns:a16="http://schemas.microsoft.com/office/drawing/2014/main" id="{D1A626E8-756A-B6C0-CE0D-154ECACBDE64}"/>
              </a:ext>
            </a:extLst>
          </p:cNvPr>
          <p:cNvSpPr>
            <a:spLocks noGrp="1"/>
          </p:cNvSpPr>
          <p:nvPr>
            <p:ph idx="1"/>
          </p:nvPr>
        </p:nvSpPr>
        <p:spPr>
          <a:xfrm>
            <a:off x="514633" y="1115941"/>
            <a:ext cx="11162731" cy="4670709"/>
          </a:xfrm>
        </p:spPr>
        <p:txBody>
          <a:bodyPr>
            <a:normAutofit/>
          </a:bodyPr>
          <a:lstStyle/>
          <a:p>
            <a:pPr marL="0" indent="0">
              <a:buNone/>
            </a:pPr>
            <a:r>
              <a:rPr lang="ru-RU" sz="2400" dirty="0"/>
              <a:t>Временной ряд — это список чисел (наблюдений) с информацией о том, когда эти числа были записаны (индекс). Числа могут быть в одном столбце (</a:t>
            </a:r>
            <a:r>
              <a:rPr lang="ru-RU" sz="2400" dirty="0" err="1"/>
              <a:t>однопеременный</a:t>
            </a:r>
            <a:r>
              <a:rPr lang="ru-RU" sz="2400" dirty="0"/>
              <a:t> ВР) или в нескольких (</a:t>
            </a:r>
            <a:r>
              <a:rPr lang="ru-RU" sz="2400" dirty="0" err="1"/>
              <a:t>многопеременный</a:t>
            </a:r>
            <a:r>
              <a:rPr lang="ru-RU" sz="2400" dirty="0"/>
              <a:t> ВР). Иногда существуют дополнительные столбцы с более подробной информацией о наблюдениях, известные как </a:t>
            </a:r>
            <a:r>
              <a:rPr lang="ru-RU" sz="2400" dirty="0" err="1"/>
              <a:t>ковариаты</a:t>
            </a:r>
            <a:r>
              <a:rPr lang="ru-RU" sz="2400" dirty="0"/>
              <a:t> или экзогенные переменные. </a:t>
            </a:r>
          </a:p>
        </p:txBody>
      </p:sp>
      <p:sp>
        <p:nvSpPr>
          <p:cNvPr id="4" name="Номер слайда 3">
            <a:extLst>
              <a:ext uri="{FF2B5EF4-FFF2-40B4-BE49-F238E27FC236}">
                <a16:creationId xmlns:a16="http://schemas.microsoft.com/office/drawing/2014/main" id="{20E8FDC8-D1FC-8C9E-7294-0DEA211E186F}"/>
              </a:ext>
            </a:extLst>
          </p:cNvPr>
          <p:cNvSpPr>
            <a:spLocks noGrp="1"/>
          </p:cNvSpPr>
          <p:nvPr>
            <p:ph type="sldNum" sz="quarter" idx="12"/>
          </p:nvPr>
        </p:nvSpPr>
        <p:spPr/>
        <p:txBody>
          <a:bodyPr/>
          <a:lstStyle/>
          <a:p>
            <a:fld id="{45C3B737-A709-4ABC-AFE0-A6B067850C48}" type="slidenum">
              <a:rPr lang="en-US" smtClean="0"/>
              <a:t>16</a:t>
            </a:fld>
            <a:endParaRPr lang="en-US"/>
          </a:p>
        </p:txBody>
      </p:sp>
      <p:pic>
        <p:nvPicPr>
          <p:cNvPr id="25" name="Рисунок 24">
            <a:extLst>
              <a:ext uri="{FF2B5EF4-FFF2-40B4-BE49-F238E27FC236}">
                <a16:creationId xmlns:a16="http://schemas.microsoft.com/office/drawing/2014/main" id="{B76FF666-AB25-69EA-BF0F-FD8B4CE55525}"/>
              </a:ext>
            </a:extLst>
          </p:cNvPr>
          <p:cNvPicPr>
            <a:picLocks noChangeAspect="1"/>
          </p:cNvPicPr>
          <p:nvPr/>
        </p:nvPicPr>
        <p:blipFill>
          <a:blip r:embed="rId2"/>
          <a:stretch>
            <a:fillRect/>
          </a:stretch>
        </p:blipFill>
        <p:spPr>
          <a:xfrm>
            <a:off x="391688" y="3028213"/>
            <a:ext cx="5940115" cy="2542711"/>
          </a:xfrm>
          <a:prstGeom prst="rect">
            <a:avLst/>
          </a:prstGeom>
        </p:spPr>
      </p:pic>
      <p:pic>
        <p:nvPicPr>
          <p:cNvPr id="1026" name="Picture 2" descr="Univariate versus multivariate time series forecasting: an application to  international tourism demand - ScienceDirec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77582" y="3028213"/>
            <a:ext cx="4176218" cy="3497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522734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1CE5FD9-3051-629C-2F97-C85F3C7261F0}"/>
              </a:ext>
            </a:extLst>
          </p:cNvPr>
          <p:cNvSpPr>
            <a:spLocks noGrp="1"/>
          </p:cNvSpPr>
          <p:nvPr>
            <p:ph type="title"/>
          </p:nvPr>
        </p:nvSpPr>
        <p:spPr>
          <a:xfrm>
            <a:off x="838200" y="365125"/>
            <a:ext cx="10515600" cy="651751"/>
          </a:xfrm>
        </p:spPr>
        <p:txBody>
          <a:bodyPr>
            <a:normAutofit fontScale="90000"/>
          </a:bodyPr>
          <a:lstStyle/>
          <a:p>
            <a:r>
              <a:rPr lang="ru-RU" dirty="0"/>
              <a:t>Т</a:t>
            </a:r>
            <a:r>
              <a:rPr lang="en-US" dirty="0" err="1"/>
              <a:t>ип</a:t>
            </a:r>
            <a:r>
              <a:rPr lang="ru-RU" dirty="0"/>
              <a:t>ы ВР</a:t>
            </a:r>
            <a:br>
              <a:rPr lang="ru-RU" dirty="0"/>
            </a:br>
            <a:endParaRPr lang="ru-RU" dirty="0"/>
          </a:p>
        </p:txBody>
      </p:sp>
      <p:pic>
        <p:nvPicPr>
          <p:cNvPr id="10246" name="Picture 6">
            <a:extLst>
              <a:ext uri="{FF2B5EF4-FFF2-40B4-BE49-F238E27FC236}">
                <a16:creationId xmlns:a16="http://schemas.microsoft.com/office/drawing/2014/main" id="{C02F706D-4556-CD59-5DD6-64AD296BC17F}"/>
              </a:ext>
            </a:extLst>
          </p:cNvPr>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7478973" y="1132763"/>
            <a:ext cx="4212616" cy="3502406"/>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9DD180F2-529F-8133-D6ED-F9CAB89D8902}"/>
              </a:ext>
            </a:extLst>
          </p:cNvPr>
          <p:cNvSpPr txBox="1"/>
          <p:nvPr/>
        </p:nvSpPr>
        <p:spPr>
          <a:xfrm>
            <a:off x="7314092" y="632673"/>
            <a:ext cx="3558346" cy="584775"/>
          </a:xfrm>
          <a:prstGeom prst="rect">
            <a:avLst/>
          </a:prstGeom>
          <a:noFill/>
        </p:spPr>
        <p:txBody>
          <a:bodyPr wrap="none" rtlCol="0">
            <a:spAutoFit/>
          </a:bodyPr>
          <a:lstStyle/>
          <a:p>
            <a:r>
              <a:rPr lang="ru-RU" sz="3200" dirty="0" err="1"/>
              <a:t>Многопеременные</a:t>
            </a:r>
            <a:endParaRPr lang="ru-RU" sz="3200" dirty="0"/>
          </a:p>
        </p:txBody>
      </p:sp>
      <p:pic>
        <p:nvPicPr>
          <p:cNvPr id="17" name="Picture 2">
            <a:extLst>
              <a:ext uri="{FF2B5EF4-FFF2-40B4-BE49-F238E27FC236}">
                <a16:creationId xmlns:a16="http://schemas.microsoft.com/office/drawing/2014/main" id="{F0FE80FE-BB9D-9DC1-C5CA-E7B33EE048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217448"/>
            <a:ext cx="3194531" cy="31088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9DD180F2-529F-8133-D6ED-F9CAB89D8902}"/>
              </a:ext>
            </a:extLst>
          </p:cNvPr>
          <p:cNvSpPr txBox="1"/>
          <p:nvPr/>
        </p:nvSpPr>
        <p:spPr>
          <a:xfrm>
            <a:off x="344748" y="595148"/>
            <a:ext cx="3345147" cy="584775"/>
          </a:xfrm>
          <a:prstGeom prst="rect">
            <a:avLst/>
          </a:prstGeom>
          <a:noFill/>
        </p:spPr>
        <p:txBody>
          <a:bodyPr wrap="none" rtlCol="0">
            <a:spAutoFit/>
          </a:bodyPr>
          <a:lstStyle/>
          <a:p>
            <a:r>
              <a:rPr lang="ru-RU" sz="3200" dirty="0" err="1"/>
              <a:t>Однопеременные</a:t>
            </a:r>
            <a:endParaRPr lang="ru-RU" sz="3200" dirty="0"/>
          </a:p>
        </p:txBody>
      </p:sp>
      <p:pic>
        <p:nvPicPr>
          <p:cNvPr id="3" name="Рисунок 2">
            <a:extLst>
              <a:ext uri="{FF2B5EF4-FFF2-40B4-BE49-F238E27FC236}">
                <a16:creationId xmlns:a16="http://schemas.microsoft.com/office/drawing/2014/main" id="{5168CFFE-8428-D4A6-71E0-8396480A6443}"/>
              </a:ext>
            </a:extLst>
          </p:cNvPr>
          <p:cNvPicPr>
            <a:picLocks noChangeAspect="1"/>
          </p:cNvPicPr>
          <p:nvPr/>
        </p:nvPicPr>
        <p:blipFill>
          <a:blip r:embed="rId5"/>
          <a:srcRect b="56643"/>
          <a:stretch>
            <a:fillRect/>
          </a:stretch>
        </p:blipFill>
        <p:spPr>
          <a:xfrm>
            <a:off x="1630247" y="4711699"/>
            <a:ext cx="7741822" cy="1857706"/>
          </a:xfrm>
          <a:prstGeom prst="rect">
            <a:avLst/>
          </a:prstGeom>
        </p:spPr>
      </p:pic>
    </p:spTree>
    <p:extLst>
      <p:ext uri="{BB962C8B-B14F-4D97-AF65-F5344CB8AC3E}">
        <p14:creationId xmlns:p14="http://schemas.microsoft.com/office/powerpoint/2010/main" val="391173075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8BEFC-227C-F3A5-6BF7-0EDC5199E14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E73508C-9B06-9D83-FA2F-0D3110DF0AFA}"/>
              </a:ext>
            </a:extLst>
          </p:cNvPr>
          <p:cNvSpPr>
            <a:spLocks noGrp="1"/>
          </p:cNvSpPr>
          <p:nvPr>
            <p:ph type="title"/>
          </p:nvPr>
        </p:nvSpPr>
        <p:spPr>
          <a:xfrm>
            <a:off x="285750" y="365125"/>
            <a:ext cx="11068050" cy="864631"/>
          </a:xfrm>
        </p:spPr>
        <p:txBody>
          <a:bodyPr/>
          <a:lstStyle/>
          <a:p>
            <a:r>
              <a:rPr lang="ru-RU" dirty="0"/>
              <a:t>Экзогенные и </a:t>
            </a:r>
            <a:r>
              <a:rPr lang="ru-RU" dirty="0" err="1"/>
              <a:t>многопеременные</a:t>
            </a:r>
            <a:r>
              <a:rPr lang="ru-RU" dirty="0"/>
              <a:t> ВР</a:t>
            </a:r>
          </a:p>
        </p:txBody>
      </p:sp>
      <p:sp>
        <p:nvSpPr>
          <p:cNvPr id="3" name="Объект 2">
            <a:extLst>
              <a:ext uri="{FF2B5EF4-FFF2-40B4-BE49-F238E27FC236}">
                <a16:creationId xmlns:a16="http://schemas.microsoft.com/office/drawing/2014/main" id="{D7CEC062-D60A-AFC8-0F6D-C2BF7E437867}"/>
              </a:ext>
            </a:extLst>
          </p:cNvPr>
          <p:cNvSpPr>
            <a:spLocks noGrp="1"/>
          </p:cNvSpPr>
          <p:nvPr>
            <p:ph idx="1"/>
          </p:nvPr>
        </p:nvSpPr>
        <p:spPr>
          <a:xfrm>
            <a:off x="285749" y="1277897"/>
            <a:ext cx="11634501" cy="4351338"/>
          </a:xfrm>
        </p:spPr>
        <p:txBody>
          <a:bodyPr>
            <a:normAutofit/>
          </a:bodyPr>
          <a:lstStyle/>
          <a:p>
            <a:r>
              <a:rPr lang="ru-RU" sz="2200" b="1" dirty="0"/>
              <a:t>Экзогенные факторы </a:t>
            </a:r>
            <a:r>
              <a:rPr lang="ru-RU" sz="2200" dirty="0"/>
              <a:t>— это переменные, которые влияют на исследуемый ВР , но не зависят от него. Эти факторы могут быть использованы для объяснения изменений в зависимой переменной. Напр. Влияние природных катастроф на прогноз урожайности зерна</a:t>
            </a:r>
          </a:p>
          <a:p>
            <a:r>
              <a:rPr lang="ru-RU" sz="2200" b="1" dirty="0" err="1"/>
              <a:t>Многопеременные</a:t>
            </a:r>
            <a:r>
              <a:rPr lang="ru-RU" sz="2200" b="1" dirty="0"/>
              <a:t> временные ряды </a:t>
            </a:r>
            <a:r>
              <a:rPr lang="ru-RU" sz="2200" dirty="0"/>
              <a:t>представляют собой набор ВР, собранных в течение времени, где несколько переменных наблюдаются одновременно и все важны. ВР могут быть как эндогенными (зависимыми), так и экзогенными!</a:t>
            </a:r>
          </a:p>
        </p:txBody>
      </p:sp>
      <p:sp>
        <p:nvSpPr>
          <p:cNvPr id="4" name="Номер слайда 3">
            <a:extLst>
              <a:ext uri="{FF2B5EF4-FFF2-40B4-BE49-F238E27FC236}">
                <a16:creationId xmlns:a16="http://schemas.microsoft.com/office/drawing/2014/main" id="{13EE6F89-EBA7-EB60-3D8B-BA18FD66840D}"/>
              </a:ext>
            </a:extLst>
          </p:cNvPr>
          <p:cNvSpPr>
            <a:spLocks noGrp="1"/>
          </p:cNvSpPr>
          <p:nvPr>
            <p:ph type="sldNum" sz="quarter" idx="12"/>
          </p:nvPr>
        </p:nvSpPr>
        <p:spPr/>
        <p:txBody>
          <a:bodyPr/>
          <a:lstStyle/>
          <a:p>
            <a:fld id="{45C3B737-A709-4ABC-AFE0-A6B067850C48}" type="slidenum">
              <a:rPr lang="en-US" smtClean="0"/>
              <a:t>18</a:t>
            </a:fld>
            <a:endParaRPr lang="en-US"/>
          </a:p>
        </p:txBody>
      </p:sp>
      <p:sp>
        <p:nvSpPr>
          <p:cNvPr id="7" name="TextBox 6">
            <a:extLst>
              <a:ext uri="{FF2B5EF4-FFF2-40B4-BE49-F238E27FC236}">
                <a16:creationId xmlns:a16="http://schemas.microsoft.com/office/drawing/2014/main" id="{F675B6E4-D643-B929-7BB1-F8890A822031}"/>
              </a:ext>
            </a:extLst>
          </p:cNvPr>
          <p:cNvSpPr txBox="1"/>
          <p:nvPr/>
        </p:nvSpPr>
        <p:spPr>
          <a:xfrm>
            <a:off x="6096000" y="6377467"/>
            <a:ext cx="6096000" cy="369332"/>
          </a:xfrm>
          <a:prstGeom prst="rect">
            <a:avLst/>
          </a:prstGeom>
          <a:noFill/>
        </p:spPr>
        <p:txBody>
          <a:bodyPr wrap="square">
            <a:spAutoFit/>
          </a:bodyPr>
          <a:lstStyle/>
          <a:p>
            <a:r>
              <a:rPr lang="ru-RU" dirty="0" err="1"/>
              <a:t>https</a:t>
            </a:r>
            <a:r>
              <a:rPr lang="ru-RU" dirty="0"/>
              <a:t>://</a:t>
            </a:r>
            <a:r>
              <a:rPr lang="ru-RU" dirty="0" err="1"/>
              <a:t>goldinlocks.github.io</a:t>
            </a:r>
            <a:r>
              <a:rPr lang="ru-RU" dirty="0"/>
              <a:t>/</a:t>
            </a:r>
            <a:r>
              <a:rPr lang="ru-RU" dirty="0" err="1"/>
              <a:t>Multivariate-time-series-models</a:t>
            </a:r>
            <a:r>
              <a:rPr lang="ru-RU" dirty="0"/>
              <a:t>/</a:t>
            </a:r>
          </a:p>
        </p:txBody>
      </p:sp>
      <p:sp>
        <p:nvSpPr>
          <p:cNvPr id="6" name="TextBox 5">
            <a:extLst>
              <a:ext uri="{FF2B5EF4-FFF2-40B4-BE49-F238E27FC236}">
                <a16:creationId xmlns:a16="http://schemas.microsoft.com/office/drawing/2014/main" id="{7FF5DD3F-6A24-7192-B5D7-62856EC6C547}"/>
              </a:ext>
            </a:extLst>
          </p:cNvPr>
          <p:cNvSpPr txBox="1"/>
          <p:nvPr/>
        </p:nvSpPr>
        <p:spPr>
          <a:xfrm>
            <a:off x="285749" y="3303885"/>
            <a:ext cx="11118773" cy="923330"/>
          </a:xfrm>
          <a:prstGeom prst="rect">
            <a:avLst/>
          </a:prstGeom>
          <a:noFill/>
        </p:spPr>
        <p:txBody>
          <a:bodyPr wrap="square">
            <a:spAutoFit/>
          </a:bodyPr>
          <a:lstStyle/>
          <a:p>
            <a:pPr algn="l" fontAlgn="base">
              <a:buFont typeface="Arial" panose="020B0604020202020204" pitchFamily="34" charset="0"/>
              <a:buChar char="•"/>
            </a:pPr>
            <a:r>
              <a:rPr lang="ru-RU" b="0" i="0" u="none" strike="noStrike" dirty="0">
                <a:solidFill>
                  <a:srgbClr val="222222"/>
                </a:solidFill>
                <a:effectLst/>
                <a:latin typeface="var(--sds-font-family-01)"/>
              </a:rPr>
              <a:t>Экзогенные факторы используются для объяснения изменений в зависимой переменной.</a:t>
            </a:r>
          </a:p>
          <a:p>
            <a:pPr algn="l" fontAlgn="base">
              <a:buFont typeface="Arial" panose="020B0604020202020204" pitchFamily="34" charset="0"/>
              <a:buChar char="•"/>
            </a:pPr>
            <a:r>
              <a:rPr lang="ru-RU" b="0" i="0" u="none" strike="noStrike" dirty="0" err="1">
                <a:solidFill>
                  <a:srgbClr val="222222"/>
                </a:solidFill>
                <a:effectLst/>
                <a:latin typeface="var(--sds-font-family-01)"/>
              </a:rPr>
              <a:t>Многопеременные</a:t>
            </a:r>
            <a:r>
              <a:rPr lang="ru-RU" b="0" i="0" u="none" strike="noStrike" dirty="0">
                <a:solidFill>
                  <a:srgbClr val="222222"/>
                </a:solidFill>
                <a:effectLst/>
                <a:latin typeface="var(--sds-font-family-01)"/>
              </a:rPr>
              <a:t> временные ряды используются для анализа взаимосвязей между несколькими переменными во времени.</a:t>
            </a:r>
          </a:p>
        </p:txBody>
      </p:sp>
      <p:pic>
        <p:nvPicPr>
          <p:cNvPr id="5" name="Рисунок 4">
            <a:extLst>
              <a:ext uri="{FF2B5EF4-FFF2-40B4-BE49-F238E27FC236}">
                <a16:creationId xmlns:a16="http://schemas.microsoft.com/office/drawing/2014/main" id="{D93BA4B2-C05F-1DD9-686F-3807EB25E42F}"/>
              </a:ext>
            </a:extLst>
          </p:cNvPr>
          <p:cNvPicPr>
            <a:picLocks noChangeAspect="1"/>
          </p:cNvPicPr>
          <p:nvPr/>
        </p:nvPicPr>
        <p:blipFill>
          <a:blip r:embed="rId2"/>
          <a:srcRect r="57807" b="56643"/>
          <a:stretch>
            <a:fillRect/>
          </a:stretch>
        </p:blipFill>
        <p:spPr>
          <a:xfrm>
            <a:off x="776656" y="4227215"/>
            <a:ext cx="4481144" cy="2548496"/>
          </a:xfrm>
          <a:prstGeom prst="rect">
            <a:avLst/>
          </a:prstGeom>
        </p:spPr>
      </p:pic>
      <p:pic>
        <p:nvPicPr>
          <p:cNvPr id="8" name="Рисунок 7">
            <a:extLst>
              <a:ext uri="{FF2B5EF4-FFF2-40B4-BE49-F238E27FC236}">
                <a16:creationId xmlns:a16="http://schemas.microsoft.com/office/drawing/2014/main" id="{13BCEB44-5DE6-9EEE-6D21-7B224F0F9F63}"/>
              </a:ext>
            </a:extLst>
          </p:cNvPr>
          <p:cNvPicPr>
            <a:picLocks noChangeAspect="1"/>
          </p:cNvPicPr>
          <p:nvPr/>
        </p:nvPicPr>
        <p:blipFill>
          <a:blip r:embed="rId2"/>
          <a:srcRect l="40745" b="56643"/>
          <a:stretch>
            <a:fillRect/>
          </a:stretch>
        </p:blipFill>
        <p:spPr>
          <a:xfrm>
            <a:off x="6731914" y="3953357"/>
            <a:ext cx="5679243" cy="2299846"/>
          </a:xfrm>
          <a:prstGeom prst="rect">
            <a:avLst/>
          </a:prstGeom>
        </p:spPr>
      </p:pic>
    </p:spTree>
    <p:extLst>
      <p:ext uri="{BB962C8B-B14F-4D97-AF65-F5344CB8AC3E}">
        <p14:creationId xmlns:p14="http://schemas.microsoft.com/office/powerpoint/2010/main" val="134552761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1CE5FD9-3051-629C-2F97-C85F3C7261F0}"/>
              </a:ext>
            </a:extLst>
          </p:cNvPr>
          <p:cNvSpPr>
            <a:spLocks noGrp="1"/>
          </p:cNvSpPr>
          <p:nvPr>
            <p:ph type="title"/>
          </p:nvPr>
        </p:nvSpPr>
        <p:spPr>
          <a:xfrm>
            <a:off x="838200" y="365125"/>
            <a:ext cx="10515600" cy="635985"/>
          </a:xfrm>
        </p:spPr>
        <p:txBody>
          <a:bodyPr>
            <a:normAutofit fontScale="90000"/>
          </a:bodyPr>
          <a:lstStyle/>
          <a:p>
            <a:r>
              <a:rPr lang="ru-RU" dirty="0"/>
              <a:t>Т</a:t>
            </a:r>
            <a:r>
              <a:rPr lang="en-US" dirty="0" err="1"/>
              <a:t>ип</a:t>
            </a:r>
            <a:r>
              <a:rPr lang="ru-RU" dirty="0"/>
              <a:t>ы ВР</a:t>
            </a:r>
          </a:p>
        </p:txBody>
      </p:sp>
      <p:sp>
        <p:nvSpPr>
          <p:cNvPr id="4" name="Номер слайда 3">
            <a:extLst>
              <a:ext uri="{FF2B5EF4-FFF2-40B4-BE49-F238E27FC236}">
                <a16:creationId xmlns:a16="http://schemas.microsoft.com/office/drawing/2014/main" id="{A897C984-0204-5E9E-457A-DB6BF60E8DBB}"/>
              </a:ext>
            </a:extLst>
          </p:cNvPr>
          <p:cNvSpPr>
            <a:spLocks noGrp="1"/>
          </p:cNvSpPr>
          <p:nvPr>
            <p:ph type="sldNum" sz="quarter" idx="12"/>
          </p:nvPr>
        </p:nvSpPr>
        <p:spPr/>
        <p:txBody>
          <a:bodyPr/>
          <a:lstStyle/>
          <a:p>
            <a:fld id="{45C3B737-A709-4ABC-AFE0-A6B067850C48}" type="slidenum">
              <a:rPr lang="en-US" smtClean="0"/>
              <a:t>19</a:t>
            </a:fld>
            <a:endParaRPr lang="en-US"/>
          </a:p>
        </p:txBody>
      </p:sp>
      <p:pic>
        <p:nvPicPr>
          <p:cNvPr id="10242" name="Picture 2" descr="Total Australian quarterly adult prison population, disaggregated by state, by legal status, and by gender.">
            <a:extLst>
              <a:ext uri="{FF2B5EF4-FFF2-40B4-BE49-F238E27FC236}">
                <a16:creationId xmlns:a16="http://schemas.microsoft.com/office/drawing/2014/main" id="{45E23826-E9BC-3ACE-5161-1DD78936D5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2438"/>
          <a:stretch/>
        </p:blipFill>
        <p:spPr bwMode="auto">
          <a:xfrm>
            <a:off x="220957" y="4225111"/>
            <a:ext cx="5723919" cy="1904864"/>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Domestic overnight trips from 1998 Q1 to 2017 Q4 aggregated by state.">
            <a:extLst>
              <a:ext uri="{FF2B5EF4-FFF2-40B4-BE49-F238E27FC236}">
                <a16:creationId xmlns:a16="http://schemas.microsoft.com/office/drawing/2014/main" id="{8752192F-3E0C-4DA2-D03D-FBEC53D83EFC}"/>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auto">
          <a:xfrm>
            <a:off x="7407104" y="733478"/>
            <a:ext cx="4543425" cy="3179073"/>
          </a:xfrm>
          <a:prstGeom prst="rect">
            <a:avLst/>
          </a:prstGeom>
          <a:noFill/>
          <a:extLst>
            <a:ext uri="{909E8E84-426E-40DD-AFC4-6F175D3DCCD1}">
              <a14:hiddenFill xmlns:a14="http://schemas.microsoft.com/office/drawing/2010/main">
                <a:solidFill>
                  <a:srgbClr val="FFFFFF"/>
                </a:solidFill>
              </a14:hiddenFill>
            </a:ext>
          </a:extLst>
        </p:spPr>
      </p:pic>
      <p:pic>
        <p:nvPicPr>
          <p:cNvPr id="10248" name="Picture 8">
            <a:extLst>
              <a:ext uri="{FF2B5EF4-FFF2-40B4-BE49-F238E27FC236}">
                <a16:creationId xmlns:a16="http://schemas.microsoft.com/office/drawing/2014/main" id="{10511C68-A550-B13E-2B5E-F7BFF87619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4287" y="1196087"/>
            <a:ext cx="5337258" cy="242423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1E9B5CB3-C5D8-FC49-493B-E9A614063352}"/>
              </a:ext>
            </a:extLst>
          </p:cNvPr>
          <p:cNvSpPr txBox="1"/>
          <p:nvPr/>
        </p:nvSpPr>
        <p:spPr>
          <a:xfrm>
            <a:off x="314395" y="6416642"/>
            <a:ext cx="6096000" cy="369332"/>
          </a:xfrm>
          <a:prstGeom prst="rect">
            <a:avLst/>
          </a:prstGeom>
          <a:noFill/>
        </p:spPr>
        <p:txBody>
          <a:bodyPr wrap="square">
            <a:spAutoFit/>
          </a:bodyPr>
          <a:lstStyle/>
          <a:p>
            <a:r>
              <a:rPr lang="ru-RU" dirty="0" err="1"/>
              <a:t>https</a:t>
            </a:r>
            <a:r>
              <a:rPr lang="ru-RU" dirty="0"/>
              <a:t>://</a:t>
            </a:r>
            <a:r>
              <a:rPr lang="ru-RU" dirty="0" err="1"/>
              <a:t>skforecast.org</a:t>
            </a:r>
            <a:r>
              <a:rPr lang="ru-RU" dirty="0"/>
              <a:t>/0.9.1/</a:t>
            </a:r>
            <a:r>
              <a:rPr lang="ru-RU" dirty="0" err="1"/>
              <a:t>user_guides</a:t>
            </a:r>
            <a:r>
              <a:rPr lang="ru-RU" dirty="0"/>
              <a:t>/</a:t>
            </a:r>
            <a:r>
              <a:rPr lang="ru-RU" dirty="0" err="1"/>
              <a:t>exogenous-variables</a:t>
            </a:r>
            <a:endParaRPr lang="ru-RU" dirty="0"/>
          </a:p>
        </p:txBody>
      </p:sp>
      <p:sp>
        <p:nvSpPr>
          <p:cNvPr id="9" name="TextBox 8">
            <a:extLst>
              <a:ext uri="{FF2B5EF4-FFF2-40B4-BE49-F238E27FC236}">
                <a16:creationId xmlns:a16="http://schemas.microsoft.com/office/drawing/2014/main" id="{9DB15D93-B070-B175-224E-D9C630C8F652}"/>
              </a:ext>
            </a:extLst>
          </p:cNvPr>
          <p:cNvSpPr txBox="1"/>
          <p:nvPr/>
        </p:nvSpPr>
        <p:spPr>
          <a:xfrm>
            <a:off x="360278" y="3552040"/>
            <a:ext cx="4361957" cy="461665"/>
          </a:xfrm>
          <a:prstGeom prst="rect">
            <a:avLst/>
          </a:prstGeom>
          <a:noFill/>
        </p:spPr>
        <p:txBody>
          <a:bodyPr wrap="square">
            <a:spAutoFit/>
          </a:bodyPr>
          <a:lstStyle/>
          <a:p>
            <a:r>
              <a:rPr lang="ru-RU" sz="1200" dirty="0" err="1"/>
              <a:t>https</a:t>
            </a:r>
            <a:r>
              <a:rPr lang="ru-RU" sz="1200" dirty="0"/>
              <a:t>://</a:t>
            </a:r>
            <a:r>
              <a:rPr lang="ru-RU" sz="1200" dirty="0" err="1"/>
              <a:t>nixtlaverse.nixtla.io</a:t>
            </a:r>
            <a:r>
              <a:rPr lang="ru-RU" sz="1200" dirty="0"/>
              <a:t>/</a:t>
            </a:r>
            <a:r>
              <a:rPr lang="ru-RU" sz="1200" dirty="0" err="1"/>
              <a:t>statsforecast</a:t>
            </a:r>
            <a:r>
              <a:rPr lang="ru-RU" sz="1200" dirty="0"/>
              <a:t>/</a:t>
            </a:r>
            <a:r>
              <a:rPr lang="ru-RU" sz="1200" dirty="0" err="1"/>
              <a:t>docs</a:t>
            </a:r>
            <a:r>
              <a:rPr lang="ru-RU" sz="1200" dirty="0"/>
              <a:t>/</a:t>
            </a:r>
            <a:r>
              <a:rPr lang="ru-RU" sz="1200" dirty="0" err="1"/>
              <a:t>getting-started</a:t>
            </a:r>
            <a:r>
              <a:rPr lang="ru-RU" sz="1200" dirty="0"/>
              <a:t>/</a:t>
            </a:r>
            <a:r>
              <a:rPr lang="ru-RU" sz="1200" dirty="0" err="1"/>
              <a:t>getting_started_complete.html</a:t>
            </a:r>
            <a:endParaRPr lang="ru-RU" sz="1200" dirty="0"/>
          </a:p>
        </p:txBody>
      </p:sp>
      <p:sp>
        <p:nvSpPr>
          <p:cNvPr id="11" name="TextBox 10">
            <a:extLst>
              <a:ext uri="{FF2B5EF4-FFF2-40B4-BE49-F238E27FC236}">
                <a16:creationId xmlns:a16="http://schemas.microsoft.com/office/drawing/2014/main" id="{F47B8200-609C-D942-9532-F2B9131EA38B}"/>
              </a:ext>
            </a:extLst>
          </p:cNvPr>
          <p:cNvSpPr txBox="1"/>
          <p:nvPr/>
        </p:nvSpPr>
        <p:spPr>
          <a:xfrm>
            <a:off x="7729983" y="6471885"/>
            <a:ext cx="4504434" cy="369332"/>
          </a:xfrm>
          <a:prstGeom prst="rect">
            <a:avLst/>
          </a:prstGeom>
          <a:noFill/>
        </p:spPr>
        <p:txBody>
          <a:bodyPr wrap="square">
            <a:spAutoFit/>
          </a:bodyPr>
          <a:lstStyle/>
          <a:p>
            <a:r>
              <a:rPr lang="ru-RU" dirty="0" err="1"/>
              <a:t>https</a:t>
            </a:r>
            <a:r>
              <a:rPr lang="ru-RU" dirty="0"/>
              <a:t>://</a:t>
            </a:r>
            <a:r>
              <a:rPr lang="ru-RU" dirty="0" err="1"/>
              <a:t>otexts.com</a:t>
            </a:r>
            <a:r>
              <a:rPr lang="ru-RU" dirty="0"/>
              <a:t>/fpp3/</a:t>
            </a:r>
            <a:r>
              <a:rPr lang="ru-RU" dirty="0" err="1"/>
              <a:t>hierarchical.html</a:t>
            </a:r>
            <a:endParaRPr lang="ru-RU" dirty="0"/>
          </a:p>
        </p:txBody>
      </p:sp>
      <p:sp>
        <p:nvSpPr>
          <p:cNvPr id="15" name="TextBox 14">
            <a:extLst>
              <a:ext uri="{FF2B5EF4-FFF2-40B4-BE49-F238E27FC236}">
                <a16:creationId xmlns:a16="http://schemas.microsoft.com/office/drawing/2014/main" id="{E2C46EB7-BE7A-D002-B7F0-4807AD04A4E7}"/>
              </a:ext>
            </a:extLst>
          </p:cNvPr>
          <p:cNvSpPr txBox="1"/>
          <p:nvPr/>
        </p:nvSpPr>
        <p:spPr>
          <a:xfrm>
            <a:off x="1067674" y="939054"/>
            <a:ext cx="2802242" cy="369332"/>
          </a:xfrm>
          <a:prstGeom prst="rect">
            <a:avLst/>
          </a:prstGeom>
          <a:noFill/>
        </p:spPr>
        <p:txBody>
          <a:bodyPr wrap="none" rtlCol="0">
            <a:spAutoFit/>
          </a:bodyPr>
          <a:lstStyle/>
          <a:p>
            <a:r>
              <a:rPr lang="ru-RU" dirty="0"/>
              <a:t>С экзогенными факторами</a:t>
            </a:r>
          </a:p>
        </p:txBody>
      </p:sp>
      <p:sp>
        <p:nvSpPr>
          <p:cNvPr id="16" name="TextBox 15">
            <a:extLst>
              <a:ext uri="{FF2B5EF4-FFF2-40B4-BE49-F238E27FC236}">
                <a16:creationId xmlns:a16="http://schemas.microsoft.com/office/drawing/2014/main" id="{A5A3A064-722F-1173-7178-CC7ABCFEE11E}"/>
              </a:ext>
            </a:extLst>
          </p:cNvPr>
          <p:cNvSpPr txBox="1"/>
          <p:nvPr/>
        </p:nvSpPr>
        <p:spPr>
          <a:xfrm>
            <a:off x="8680581" y="401771"/>
            <a:ext cx="1694053" cy="369332"/>
          </a:xfrm>
          <a:prstGeom prst="rect">
            <a:avLst/>
          </a:prstGeom>
          <a:noFill/>
        </p:spPr>
        <p:txBody>
          <a:bodyPr wrap="none" rtlCol="0">
            <a:spAutoFit/>
          </a:bodyPr>
          <a:lstStyle/>
          <a:p>
            <a:r>
              <a:rPr lang="ru-RU" dirty="0"/>
              <a:t>Иерархические</a:t>
            </a:r>
          </a:p>
        </p:txBody>
      </p:sp>
      <p:pic>
        <p:nvPicPr>
          <p:cNvPr id="17" name="Picture 2" descr="Total Australian quarterly adult prison population, disaggregated by state, by legal status, and by gender.">
            <a:extLst>
              <a:ext uri="{FF2B5EF4-FFF2-40B4-BE49-F238E27FC236}">
                <a16:creationId xmlns:a16="http://schemas.microsoft.com/office/drawing/2014/main" id="{45E23826-E9BC-3ACE-5161-1DD78936D5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17" t="47981" r="-317" b="373"/>
          <a:stretch/>
        </p:blipFill>
        <p:spPr bwMode="auto">
          <a:xfrm>
            <a:off x="6132889" y="4171031"/>
            <a:ext cx="5817640" cy="2102278"/>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A5A3A064-722F-1173-7178-CC7ABCFEE11E}"/>
              </a:ext>
            </a:extLst>
          </p:cNvPr>
          <p:cNvSpPr txBox="1"/>
          <p:nvPr/>
        </p:nvSpPr>
        <p:spPr>
          <a:xfrm>
            <a:off x="3827655" y="3815303"/>
            <a:ext cx="1234505" cy="369332"/>
          </a:xfrm>
          <a:prstGeom prst="rect">
            <a:avLst/>
          </a:prstGeom>
          <a:noFill/>
        </p:spPr>
        <p:txBody>
          <a:bodyPr wrap="none" rtlCol="0">
            <a:spAutoFit/>
          </a:bodyPr>
          <a:lstStyle/>
          <a:p>
            <a:r>
              <a:rPr lang="ru-RU" dirty="0"/>
              <a:t>Групповые</a:t>
            </a:r>
          </a:p>
        </p:txBody>
      </p:sp>
      <p:cxnSp>
        <p:nvCxnSpPr>
          <p:cNvPr id="5" name="Прямая со стрелкой 4">
            <a:extLst>
              <a:ext uri="{FF2B5EF4-FFF2-40B4-BE49-F238E27FC236}">
                <a16:creationId xmlns:a16="http://schemas.microsoft.com/office/drawing/2014/main" id="{5B24DFDA-344A-4643-1C06-E6CA58470153}"/>
              </a:ext>
            </a:extLst>
          </p:cNvPr>
          <p:cNvCxnSpPr>
            <a:endCxn id="10242" idx="3"/>
          </p:cNvCxnSpPr>
          <p:nvPr/>
        </p:nvCxnSpPr>
        <p:spPr>
          <a:xfrm>
            <a:off x="5062160" y="5177543"/>
            <a:ext cx="8827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75411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0863240-7081-E76A-ACCD-B5BA5DC066E0}"/>
              </a:ext>
            </a:extLst>
          </p:cNvPr>
          <p:cNvSpPr>
            <a:spLocks noGrp="1"/>
          </p:cNvSpPr>
          <p:nvPr>
            <p:ph type="title"/>
          </p:nvPr>
        </p:nvSpPr>
        <p:spPr>
          <a:xfrm>
            <a:off x="580031" y="30521"/>
            <a:ext cx="11068050" cy="864631"/>
          </a:xfrm>
        </p:spPr>
        <p:txBody>
          <a:bodyPr/>
          <a:lstStyle/>
          <a:p>
            <a:r>
              <a:rPr lang="ru-RU" dirty="0" err="1" smtClean="0"/>
              <a:t>Многопеременные</a:t>
            </a:r>
            <a:r>
              <a:rPr lang="en-US" dirty="0" smtClean="0"/>
              <a:t> </a:t>
            </a:r>
            <a:r>
              <a:rPr lang="ru-RU" dirty="0" smtClean="0"/>
              <a:t>и другие </a:t>
            </a:r>
            <a:r>
              <a:rPr lang="ru-RU" dirty="0"/>
              <a:t>ВР</a:t>
            </a:r>
          </a:p>
        </p:txBody>
      </p:sp>
      <p:sp>
        <p:nvSpPr>
          <p:cNvPr id="4" name="Номер слайда 3">
            <a:extLst>
              <a:ext uri="{FF2B5EF4-FFF2-40B4-BE49-F238E27FC236}">
                <a16:creationId xmlns:a16="http://schemas.microsoft.com/office/drawing/2014/main" id="{6601DB23-2F3F-9FA2-A9CF-B17E2699F010}"/>
              </a:ext>
            </a:extLst>
          </p:cNvPr>
          <p:cNvSpPr>
            <a:spLocks noGrp="1"/>
          </p:cNvSpPr>
          <p:nvPr>
            <p:ph type="sldNum" sz="quarter" idx="12"/>
          </p:nvPr>
        </p:nvSpPr>
        <p:spPr/>
        <p:txBody>
          <a:bodyPr/>
          <a:lstStyle/>
          <a:p>
            <a:fld id="{45C3B737-A709-4ABC-AFE0-A6B067850C48}" type="slidenum">
              <a:rPr lang="en-US" smtClean="0"/>
              <a:t>20</a:t>
            </a:fld>
            <a:endParaRPr lang="en-US"/>
          </a:p>
        </p:txBody>
      </p:sp>
      <p:sp>
        <p:nvSpPr>
          <p:cNvPr id="7" name="TextBox 6">
            <a:extLst>
              <a:ext uri="{FF2B5EF4-FFF2-40B4-BE49-F238E27FC236}">
                <a16:creationId xmlns:a16="http://schemas.microsoft.com/office/drawing/2014/main" id="{B4C891B2-62E7-871D-CF4F-05D6CA6E0463}"/>
              </a:ext>
            </a:extLst>
          </p:cNvPr>
          <p:cNvSpPr txBox="1"/>
          <p:nvPr/>
        </p:nvSpPr>
        <p:spPr>
          <a:xfrm>
            <a:off x="3420534" y="6502723"/>
            <a:ext cx="6096000" cy="276999"/>
          </a:xfrm>
          <a:prstGeom prst="rect">
            <a:avLst/>
          </a:prstGeom>
          <a:noFill/>
        </p:spPr>
        <p:txBody>
          <a:bodyPr wrap="square">
            <a:spAutoFit/>
          </a:bodyPr>
          <a:lstStyle/>
          <a:p>
            <a:r>
              <a:rPr lang="ru-RU" sz="1200" dirty="0" err="1"/>
              <a:t>https</a:t>
            </a:r>
            <a:r>
              <a:rPr lang="ru-RU" sz="1200" dirty="0"/>
              <a:t>://</a:t>
            </a:r>
            <a:r>
              <a:rPr lang="ru-RU" sz="1200" dirty="0" err="1"/>
              <a:t>goldinlocks.github.io</a:t>
            </a:r>
            <a:r>
              <a:rPr lang="ru-RU" sz="1200" dirty="0"/>
              <a:t>/</a:t>
            </a:r>
            <a:r>
              <a:rPr lang="ru-RU" sz="1200" dirty="0" err="1"/>
              <a:t>Multivariate-time-series-models</a:t>
            </a:r>
            <a:r>
              <a:rPr lang="ru-RU" sz="1200" dirty="0"/>
              <a:t>/</a:t>
            </a:r>
          </a:p>
        </p:txBody>
      </p:sp>
      <p:pic>
        <p:nvPicPr>
          <p:cNvPr id="3" name="Рисунок 2"/>
          <p:cNvPicPr>
            <a:picLocks noChangeAspect="1"/>
          </p:cNvPicPr>
          <p:nvPr/>
        </p:nvPicPr>
        <p:blipFill rotWithShape="1">
          <a:blip r:embed="rId2"/>
          <a:srcRect t="-203" b="-1"/>
          <a:stretch/>
        </p:blipFill>
        <p:spPr>
          <a:xfrm>
            <a:off x="300631" y="1124162"/>
            <a:ext cx="3991111" cy="2628217"/>
          </a:xfrm>
          <a:prstGeom prst="rect">
            <a:avLst/>
          </a:prstGeom>
        </p:spPr>
      </p:pic>
      <p:sp>
        <p:nvSpPr>
          <p:cNvPr id="8" name="TextBox 7"/>
          <p:cNvSpPr txBox="1"/>
          <p:nvPr/>
        </p:nvSpPr>
        <p:spPr>
          <a:xfrm>
            <a:off x="3420534" y="778821"/>
            <a:ext cx="4825167" cy="461665"/>
          </a:xfrm>
          <a:prstGeom prst="rect">
            <a:avLst/>
          </a:prstGeom>
          <a:noFill/>
        </p:spPr>
        <p:txBody>
          <a:bodyPr wrap="none" rtlCol="0">
            <a:spAutoFit/>
          </a:bodyPr>
          <a:lstStyle/>
          <a:p>
            <a:r>
              <a:rPr lang="ru-RU" sz="2400" dirty="0" smtClean="0"/>
              <a:t>Пространственно-временные ряды</a:t>
            </a:r>
            <a:endParaRPr lang="ru-RU" sz="2400" dirty="0"/>
          </a:p>
        </p:txBody>
      </p:sp>
      <p:sp>
        <p:nvSpPr>
          <p:cNvPr id="9" name="Прямоугольник 8"/>
          <p:cNvSpPr/>
          <p:nvPr/>
        </p:nvSpPr>
        <p:spPr>
          <a:xfrm>
            <a:off x="78858" y="6485756"/>
            <a:ext cx="3038652" cy="276999"/>
          </a:xfrm>
          <a:prstGeom prst="rect">
            <a:avLst/>
          </a:prstGeom>
        </p:spPr>
        <p:txBody>
          <a:bodyPr wrap="none">
            <a:spAutoFit/>
          </a:bodyPr>
          <a:lstStyle/>
          <a:p>
            <a:r>
              <a:rPr lang="ru-RU" sz="1200" dirty="0"/>
              <a:t>https://ltb.itc.utwente.nl/491/concept/79777</a:t>
            </a:r>
          </a:p>
        </p:txBody>
      </p:sp>
      <p:pic>
        <p:nvPicPr>
          <p:cNvPr id="1026" name="Picture 2" descr="Applsci 15 01241 g001"/>
          <p:cNvPicPr>
            <a:picLocks noChangeAspect="1" noChangeArrowheads="1"/>
          </p:cNvPicPr>
          <p:nvPr/>
        </p:nvPicPr>
        <p:blipFill rotWithShape="1">
          <a:blip r:embed="rId3" cstate="hqprint">
            <a:extLst>
              <a:ext uri="{28A0092B-C50C-407E-A947-70E740481C1C}">
                <a14:useLocalDpi xmlns:a14="http://schemas.microsoft.com/office/drawing/2010/main" val="0"/>
              </a:ext>
            </a:extLst>
          </a:blip>
          <a:srcRect t="38963" b="7627"/>
          <a:stretch/>
        </p:blipFill>
        <p:spPr bwMode="auto">
          <a:xfrm>
            <a:off x="6468534" y="4186332"/>
            <a:ext cx="5296013" cy="1978246"/>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3778673" y="3633633"/>
            <a:ext cx="3052182" cy="461665"/>
          </a:xfrm>
          <a:prstGeom prst="rect">
            <a:avLst/>
          </a:prstGeom>
          <a:noFill/>
        </p:spPr>
        <p:txBody>
          <a:bodyPr wrap="none" rtlCol="0">
            <a:spAutoFit/>
          </a:bodyPr>
          <a:lstStyle/>
          <a:p>
            <a:r>
              <a:rPr lang="ru-RU" sz="2400" dirty="0" err="1" smtClean="0"/>
              <a:t>Мультимодальные</a:t>
            </a:r>
            <a:r>
              <a:rPr lang="ru-RU" sz="2400" dirty="0" smtClean="0"/>
              <a:t> ВР</a:t>
            </a:r>
            <a:endParaRPr lang="ru-RU" sz="2400" dirty="0"/>
          </a:p>
        </p:txBody>
      </p:sp>
      <p:pic>
        <p:nvPicPr>
          <p:cNvPr id="10" name="Рисунок 9"/>
          <p:cNvPicPr>
            <a:picLocks noChangeAspect="1"/>
          </p:cNvPicPr>
          <p:nvPr/>
        </p:nvPicPr>
        <p:blipFill>
          <a:blip r:embed="rId4"/>
          <a:stretch>
            <a:fillRect/>
          </a:stretch>
        </p:blipFill>
        <p:spPr>
          <a:xfrm>
            <a:off x="104324" y="4329141"/>
            <a:ext cx="6026372" cy="1689064"/>
          </a:xfrm>
          <a:prstGeom prst="rect">
            <a:avLst/>
          </a:prstGeom>
        </p:spPr>
      </p:pic>
      <p:pic>
        <p:nvPicPr>
          <p:cNvPr id="2050" name="Picture 2" descr="Integrated Spatio-Temporal Graph Neural Network for Traffic Forecasting"/>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8738303" y="778821"/>
            <a:ext cx="3453697" cy="247118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patial-temporal graph neural network for traffic forecasting: An overview  and open research issues | Applied Intelligenc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06042" y="1399107"/>
            <a:ext cx="4641071" cy="21890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199631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BAF81-22EA-22EF-A294-14B499CC3F0A}"/>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1B5D777-43A0-916E-A65E-D500F8D94404}"/>
              </a:ext>
            </a:extLst>
          </p:cNvPr>
          <p:cNvSpPr>
            <a:spLocks noGrp="1"/>
          </p:cNvSpPr>
          <p:nvPr>
            <p:ph type="title"/>
          </p:nvPr>
        </p:nvSpPr>
        <p:spPr>
          <a:xfrm>
            <a:off x="285750" y="181911"/>
            <a:ext cx="11068050" cy="864631"/>
          </a:xfrm>
        </p:spPr>
        <p:txBody>
          <a:bodyPr/>
          <a:lstStyle/>
          <a:p>
            <a:r>
              <a:rPr lang="ru-RU" dirty="0"/>
              <a:t>Некоторые типы ВР</a:t>
            </a:r>
          </a:p>
        </p:txBody>
      </p:sp>
      <p:sp>
        <p:nvSpPr>
          <p:cNvPr id="3" name="Объект 2">
            <a:extLst>
              <a:ext uri="{FF2B5EF4-FFF2-40B4-BE49-F238E27FC236}">
                <a16:creationId xmlns:a16="http://schemas.microsoft.com/office/drawing/2014/main" id="{1E05B2E4-704A-4B04-3172-D5182EE9D708}"/>
              </a:ext>
            </a:extLst>
          </p:cNvPr>
          <p:cNvSpPr>
            <a:spLocks noGrp="1"/>
          </p:cNvSpPr>
          <p:nvPr>
            <p:ph idx="1"/>
          </p:nvPr>
        </p:nvSpPr>
        <p:spPr>
          <a:xfrm>
            <a:off x="271749" y="870271"/>
            <a:ext cx="11634501" cy="5507195"/>
          </a:xfrm>
        </p:spPr>
        <p:txBody>
          <a:bodyPr>
            <a:noAutofit/>
          </a:bodyPr>
          <a:lstStyle/>
          <a:p>
            <a:r>
              <a:rPr lang="ru-RU" sz="2200" b="1" dirty="0" err="1"/>
              <a:t>Однопеременные</a:t>
            </a:r>
            <a:r>
              <a:rPr lang="ru-RU" sz="2200" b="1" dirty="0"/>
              <a:t> временные ряды (ВР) </a:t>
            </a:r>
            <a:r>
              <a:rPr lang="ru-RU" sz="2200" dirty="0"/>
              <a:t>— это последовательности значений одной переменной, зафиксированных в различные моменты времени. </a:t>
            </a:r>
            <a:r>
              <a:rPr lang="ru-RU" sz="2200" b="1" dirty="0"/>
              <a:t>Цель</a:t>
            </a:r>
            <a:r>
              <a:rPr lang="ru-RU" sz="2200" dirty="0"/>
              <a:t>, напр. Предсказать </a:t>
            </a:r>
            <a:r>
              <a:rPr lang="ru-RU" sz="2200" dirty="0" err="1"/>
              <a:t>следущее</a:t>
            </a:r>
            <a:r>
              <a:rPr lang="ru-RU" sz="2200" dirty="0"/>
              <a:t> значение </a:t>
            </a:r>
            <a:r>
              <a:rPr lang="ru-RU" sz="2200" dirty="0" smtClean="0"/>
              <a:t>переменной</a:t>
            </a:r>
            <a:endParaRPr lang="en-US" sz="2200" dirty="0" smtClean="0"/>
          </a:p>
          <a:p>
            <a:pPr lvl="1"/>
            <a:r>
              <a:rPr lang="ru-RU" sz="1800" b="1" dirty="0" smtClean="0"/>
              <a:t>ВР могут быть дискретными и </a:t>
            </a:r>
            <a:r>
              <a:rPr lang="ru-RU" sz="1800" b="1" dirty="0" err="1" smtClean="0"/>
              <a:t>неприрывными</a:t>
            </a:r>
            <a:r>
              <a:rPr lang="ru-RU" sz="1800" b="1" dirty="0" smtClean="0"/>
              <a:t>.</a:t>
            </a:r>
            <a:endParaRPr lang="ru-RU" sz="1800" b="1" dirty="0"/>
          </a:p>
          <a:p>
            <a:r>
              <a:rPr lang="ru-RU" sz="2200" b="1" dirty="0"/>
              <a:t>Экзогенные факторы </a:t>
            </a:r>
            <a:r>
              <a:rPr lang="ru-RU" sz="2200" dirty="0"/>
              <a:t>— это внешние переменные, влияющие на исследуемый ВР, но не зависящие от него. </a:t>
            </a:r>
            <a:r>
              <a:rPr lang="ru-RU" sz="2200" b="1" dirty="0"/>
              <a:t>Цель -</a:t>
            </a:r>
            <a:r>
              <a:rPr lang="ru-RU" sz="2200" dirty="0"/>
              <a:t> объяснение изменений в зависимой переменной (доп. внешняя информация).</a:t>
            </a:r>
          </a:p>
          <a:p>
            <a:r>
              <a:rPr lang="ru-RU" sz="2200" b="1" dirty="0" err="1"/>
              <a:t>Многопеременные</a:t>
            </a:r>
            <a:r>
              <a:rPr lang="ru-RU" sz="2200" b="1" dirty="0"/>
              <a:t> временные ряды </a:t>
            </a:r>
            <a:r>
              <a:rPr lang="ru-RU" sz="2200" dirty="0"/>
              <a:t>- совокупность нескольких переменных, наблюдаемых одновременно во времени. В их состав могут входить как эндогенные (зависимые), так и экзогенные (независимые) переменные. </a:t>
            </a:r>
            <a:r>
              <a:rPr lang="ru-RU" sz="2200" b="1" dirty="0"/>
              <a:t>Цель</a:t>
            </a:r>
            <a:r>
              <a:rPr lang="ru-RU" sz="2200" dirty="0"/>
              <a:t> – учет взаимного влияния ВР при анализе.</a:t>
            </a:r>
          </a:p>
          <a:p>
            <a:r>
              <a:rPr lang="ru-RU" sz="2200" b="1" dirty="0"/>
              <a:t>Иерархические временные ряды </a:t>
            </a:r>
            <a:r>
              <a:rPr lang="ru-RU" sz="2200" dirty="0"/>
              <a:t>— это структуры данных, в которых временные ряды организованы по уровням агрегации (например, по регионам, странам, континентам). Анализ может проводиться как на уровне отдельных элементов, так и на уровне всей иерархии. </a:t>
            </a:r>
            <a:r>
              <a:rPr lang="ru-RU" sz="2200" b="1" dirty="0"/>
              <a:t>Цель –</a:t>
            </a:r>
            <a:r>
              <a:rPr lang="ru-RU" sz="2200" dirty="0"/>
              <a:t> анализ на разных уровнях агрегации</a:t>
            </a:r>
          </a:p>
          <a:p>
            <a:r>
              <a:rPr lang="ru-RU" sz="2200" b="1" dirty="0"/>
              <a:t>Групповые временные ряды </a:t>
            </a:r>
            <a:r>
              <a:rPr lang="ru-RU" sz="2200" dirty="0"/>
              <a:t>— это наборы временных рядов, объединённых по определённому критерию (например, продажи товаров в одной категории), без строго иерархической зависимости. </a:t>
            </a:r>
            <a:r>
              <a:rPr lang="ru-RU" sz="2200" b="1" dirty="0"/>
              <a:t>Цель - </a:t>
            </a:r>
            <a:r>
              <a:rPr lang="ru-RU" sz="2200" dirty="0"/>
              <a:t>анализа общих тенденций в группе.</a:t>
            </a:r>
          </a:p>
        </p:txBody>
      </p:sp>
      <p:sp>
        <p:nvSpPr>
          <p:cNvPr id="4" name="Номер слайда 3">
            <a:extLst>
              <a:ext uri="{FF2B5EF4-FFF2-40B4-BE49-F238E27FC236}">
                <a16:creationId xmlns:a16="http://schemas.microsoft.com/office/drawing/2014/main" id="{52356ACC-386C-A7B5-DEC6-CF80F2F623FC}"/>
              </a:ext>
            </a:extLst>
          </p:cNvPr>
          <p:cNvSpPr>
            <a:spLocks noGrp="1"/>
          </p:cNvSpPr>
          <p:nvPr>
            <p:ph type="sldNum" sz="quarter" idx="12"/>
          </p:nvPr>
        </p:nvSpPr>
        <p:spPr/>
        <p:txBody>
          <a:bodyPr/>
          <a:lstStyle/>
          <a:p>
            <a:fld id="{45C3B737-A709-4ABC-AFE0-A6B067850C48}" type="slidenum">
              <a:rPr lang="en-US" smtClean="0"/>
              <a:t>21</a:t>
            </a:fld>
            <a:endParaRPr lang="en-US"/>
          </a:p>
        </p:txBody>
      </p:sp>
      <p:sp>
        <p:nvSpPr>
          <p:cNvPr id="7" name="TextBox 6">
            <a:extLst>
              <a:ext uri="{FF2B5EF4-FFF2-40B4-BE49-F238E27FC236}">
                <a16:creationId xmlns:a16="http://schemas.microsoft.com/office/drawing/2014/main" id="{2AAC224D-2950-867C-AE6C-3A69408E1DF7}"/>
              </a:ext>
            </a:extLst>
          </p:cNvPr>
          <p:cNvSpPr txBox="1"/>
          <p:nvPr/>
        </p:nvSpPr>
        <p:spPr>
          <a:xfrm>
            <a:off x="6096000" y="6377467"/>
            <a:ext cx="6096000" cy="369332"/>
          </a:xfrm>
          <a:prstGeom prst="rect">
            <a:avLst/>
          </a:prstGeom>
          <a:noFill/>
        </p:spPr>
        <p:txBody>
          <a:bodyPr wrap="square">
            <a:spAutoFit/>
          </a:bodyPr>
          <a:lstStyle/>
          <a:p>
            <a:r>
              <a:rPr lang="ru-RU" dirty="0" err="1"/>
              <a:t>https</a:t>
            </a:r>
            <a:r>
              <a:rPr lang="ru-RU" dirty="0"/>
              <a:t>://</a:t>
            </a:r>
            <a:r>
              <a:rPr lang="ru-RU" dirty="0" err="1"/>
              <a:t>goldinlocks.github.io</a:t>
            </a:r>
            <a:r>
              <a:rPr lang="ru-RU" dirty="0"/>
              <a:t>/</a:t>
            </a:r>
            <a:r>
              <a:rPr lang="ru-RU" dirty="0" err="1"/>
              <a:t>Multivariate-time-series-models</a:t>
            </a:r>
            <a:r>
              <a:rPr lang="ru-RU" dirty="0"/>
              <a:t>/</a:t>
            </a:r>
          </a:p>
        </p:txBody>
      </p:sp>
    </p:spTree>
    <p:extLst>
      <p:ext uri="{BB962C8B-B14F-4D97-AF65-F5344CB8AC3E}">
        <p14:creationId xmlns:p14="http://schemas.microsoft.com/office/powerpoint/2010/main" val="370662133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31470" y="365125"/>
            <a:ext cx="11022330" cy="743585"/>
          </a:xfrm>
        </p:spPr>
        <p:txBody>
          <a:bodyPr/>
          <a:lstStyle/>
          <a:p>
            <a:r>
              <a:rPr lang="ru-RU" dirty="0" smtClean="0"/>
              <a:t>Вопросы для самоконтроля</a:t>
            </a:r>
            <a:endParaRPr lang="ru-RU" dirty="0"/>
          </a:p>
        </p:txBody>
      </p:sp>
      <p:sp>
        <p:nvSpPr>
          <p:cNvPr id="3" name="Объект 2"/>
          <p:cNvSpPr>
            <a:spLocks noGrp="1"/>
          </p:cNvSpPr>
          <p:nvPr>
            <p:ph idx="1"/>
          </p:nvPr>
        </p:nvSpPr>
        <p:spPr>
          <a:xfrm>
            <a:off x="331470" y="1211580"/>
            <a:ext cx="11022330" cy="5509895"/>
          </a:xfrm>
        </p:spPr>
        <p:txBody>
          <a:bodyPr>
            <a:normAutofit/>
          </a:bodyPr>
          <a:lstStyle/>
          <a:p>
            <a:pPr lvl="0"/>
            <a:r>
              <a:rPr lang="ru-RU" sz="2400" b="1" dirty="0"/>
              <a:t>Назовите основные компоненты ВР</a:t>
            </a:r>
            <a:r>
              <a:rPr lang="ru-RU" sz="2400" dirty="0"/>
              <a:t>. Приведите примеры ВР с различным поведением каждой из компонент. Как компоненты повлияют на результаты прогноза ВР. Попробуйте визуализировать пример модели с разными соотношениями компонент.</a:t>
            </a:r>
          </a:p>
          <a:p>
            <a:r>
              <a:rPr lang="ru-RU" sz="2400" dirty="0" smtClean="0"/>
              <a:t>Опишите выражения моделей с </a:t>
            </a:r>
            <a:r>
              <a:rPr lang="ru-RU" sz="2400" b="1" dirty="0" smtClean="0"/>
              <a:t>регулярным трендом и сезонностью</a:t>
            </a:r>
            <a:r>
              <a:rPr lang="ru-RU" sz="2400" dirty="0" smtClean="0"/>
              <a:t>. Как можно добавить в эту модель редкие но регулярные факторы? Как в модели проявятся аномалии. </a:t>
            </a:r>
          </a:p>
          <a:p>
            <a:r>
              <a:rPr lang="ru-RU" sz="2400" dirty="0" smtClean="0"/>
              <a:t>Приведите </a:t>
            </a:r>
            <a:r>
              <a:rPr lang="ru-RU" sz="2400" dirty="0"/>
              <a:t>примеры использования </a:t>
            </a:r>
            <a:r>
              <a:rPr lang="ru-RU" sz="2400" b="1" dirty="0"/>
              <a:t>иерархических, групповых ВР</a:t>
            </a:r>
            <a:r>
              <a:rPr lang="ru-RU" sz="2400" dirty="0"/>
              <a:t>. В чем их отличие от </a:t>
            </a:r>
            <a:r>
              <a:rPr lang="ru-RU" sz="2400" dirty="0" err="1"/>
              <a:t>многопеременных</a:t>
            </a:r>
            <a:r>
              <a:rPr lang="ru-RU" sz="2400" dirty="0"/>
              <a:t> ВР. В каких случаях можно заменить такие походы на анализ набора отдельных </a:t>
            </a:r>
            <a:r>
              <a:rPr lang="ru-RU" sz="2400" dirty="0" err="1"/>
              <a:t>однопеременных</a:t>
            </a:r>
            <a:r>
              <a:rPr lang="ru-RU" sz="2400" dirty="0"/>
              <a:t> ВР.</a:t>
            </a:r>
          </a:p>
          <a:p>
            <a:r>
              <a:rPr lang="ru-RU" sz="2400" dirty="0"/>
              <a:t>Приведите примеры использования </a:t>
            </a:r>
            <a:r>
              <a:rPr lang="ru-RU" sz="2400" b="1" dirty="0"/>
              <a:t>пространственных ВР</a:t>
            </a:r>
            <a:r>
              <a:rPr lang="ru-RU" sz="2400" dirty="0"/>
              <a:t>. В чем их отличие от </a:t>
            </a:r>
            <a:r>
              <a:rPr lang="ru-RU" sz="2400" dirty="0" err="1"/>
              <a:t>многопеременных</a:t>
            </a:r>
            <a:r>
              <a:rPr lang="ru-RU" sz="2400" dirty="0"/>
              <a:t> ВР. В каких случаях можно заменить такие походы на анализ набора отдельных </a:t>
            </a:r>
            <a:r>
              <a:rPr lang="ru-RU" sz="2400" dirty="0" err="1"/>
              <a:t>однопеременных</a:t>
            </a:r>
            <a:r>
              <a:rPr lang="ru-RU" sz="2400" dirty="0"/>
              <a:t> ВР.</a:t>
            </a:r>
          </a:p>
          <a:p>
            <a:endParaRPr lang="ru-RU" sz="2400" dirty="0"/>
          </a:p>
          <a:p>
            <a:endParaRPr lang="ru-RU" sz="2400" dirty="0" smtClean="0"/>
          </a:p>
          <a:p>
            <a:endParaRPr lang="ru-RU" sz="2400" dirty="0" smtClean="0"/>
          </a:p>
          <a:p>
            <a:endParaRPr lang="ru-RU" sz="2400" dirty="0"/>
          </a:p>
        </p:txBody>
      </p:sp>
      <p:sp>
        <p:nvSpPr>
          <p:cNvPr id="4" name="Номер слайда 3"/>
          <p:cNvSpPr>
            <a:spLocks noGrp="1"/>
          </p:cNvSpPr>
          <p:nvPr>
            <p:ph type="sldNum" sz="quarter" idx="12"/>
          </p:nvPr>
        </p:nvSpPr>
        <p:spPr/>
        <p:txBody>
          <a:bodyPr/>
          <a:lstStyle/>
          <a:p>
            <a:fld id="{45C3B737-A709-4ABC-AFE0-A6B067850C48}" type="slidenum">
              <a:rPr lang="en-US" smtClean="0"/>
              <a:t>22</a:t>
            </a:fld>
            <a:endParaRPr lang="en-US"/>
          </a:p>
        </p:txBody>
      </p:sp>
    </p:spTree>
    <p:extLst>
      <p:ext uri="{BB962C8B-B14F-4D97-AF65-F5344CB8AC3E}">
        <p14:creationId xmlns:p14="http://schemas.microsoft.com/office/powerpoint/2010/main" val="173866982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3825" y="365126"/>
            <a:ext cx="11229975" cy="146800"/>
          </a:xfrm>
        </p:spPr>
        <p:txBody>
          <a:bodyPr>
            <a:normAutofit fontScale="90000"/>
          </a:bodyPr>
          <a:lstStyle/>
          <a:p>
            <a:r>
              <a:rPr lang="ru-RU" dirty="0"/>
              <a:t>Представление Временных рядов</a:t>
            </a:r>
          </a:p>
        </p:txBody>
      </p:sp>
      <p:sp>
        <p:nvSpPr>
          <p:cNvPr id="3" name="Объект 2"/>
          <p:cNvSpPr>
            <a:spLocks noGrp="1"/>
          </p:cNvSpPr>
          <p:nvPr>
            <p:ph idx="1"/>
          </p:nvPr>
        </p:nvSpPr>
        <p:spPr>
          <a:xfrm>
            <a:off x="91250" y="964242"/>
            <a:ext cx="10515600" cy="4351338"/>
          </a:xfrm>
        </p:spPr>
        <p:txBody>
          <a:bodyPr/>
          <a:lstStyle/>
          <a:p>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23</a:t>
            </a:fld>
            <a:endParaRPr lang="en-US"/>
          </a:p>
        </p:txBody>
      </p:sp>
      <p:pic>
        <p:nvPicPr>
          <p:cNvPr id="1026" name="Picture 2" descr="Enlarged Image"/>
          <p:cNvPicPr>
            <a:picLocks noChangeAspect="1" noChangeArrowheads="1"/>
          </p:cNvPicPr>
          <p:nvPr/>
        </p:nvPicPr>
        <p:blipFill rotWithShape="1">
          <a:blip r:embed="rId3">
            <a:extLst>
              <a:ext uri="{28A0092B-C50C-407E-A947-70E740481C1C}">
                <a14:useLocalDpi xmlns:a14="http://schemas.microsoft.com/office/drawing/2010/main" val="0"/>
              </a:ext>
            </a:extLst>
          </a:blip>
          <a:srcRect l="5114" t="41497" r="48992" b="17002"/>
          <a:stretch/>
        </p:blipFill>
        <p:spPr bwMode="auto">
          <a:xfrm>
            <a:off x="461042" y="4507212"/>
            <a:ext cx="4377658" cy="221426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Enlarged Image"/>
          <p:cNvPicPr>
            <a:picLocks noChangeAspect="1" noChangeArrowheads="1"/>
          </p:cNvPicPr>
          <p:nvPr/>
        </p:nvPicPr>
        <p:blipFill rotWithShape="1">
          <a:blip r:embed="rId3">
            <a:extLst>
              <a:ext uri="{28A0092B-C50C-407E-A947-70E740481C1C}">
                <a14:useLocalDpi xmlns:a14="http://schemas.microsoft.com/office/drawing/2010/main" val="0"/>
              </a:ext>
            </a:extLst>
          </a:blip>
          <a:srcRect l="4807" t="9446" r="60411" b="80213"/>
          <a:stretch/>
        </p:blipFill>
        <p:spPr bwMode="auto">
          <a:xfrm>
            <a:off x="1644385" y="3738013"/>
            <a:ext cx="3488550" cy="58014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7488" t="34512" r="43940" b="11661"/>
          <a:stretch/>
        </p:blipFill>
        <p:spPr bwMode="auto">
          <a:xfrm>
            <a:off x="8337177" y="4507212"/>
            <a:ext cx="3609896" cy="2237680"/>
          </a:xfrm>
          <a:prstGeom prst="rect">
            <a:avLst/>
          </a:prstGeom>
          <a:noFill/>
          <a:extLst>
            <a:ext uri="{909E8E84-426E-40DD-AFC4-6F175D3DCCD1}">
              <a14:hiddenFill xmlns:a14="http://schemas.microsoft.com/office/drawing/2010/main">
                <a:solidFill>
                  <a:srgbClr val="FFFFFF"/>
                </a:solidFill>
              </a14:hiddenFill>
            </a:ext>
          </a:extLst>
        </p:spPr>
      </p:pic>
      <p:grpSp>
        <p:nvGrpSpPr>
          <p:cNvPr id="7" name="Группа 6"/>
          <p:cNvGrpSpPr/>
          <p:nvPr/>
        </p:nvGrpSpPr>
        <p:grpSpPr>
          <a:xfrm>
            <a:off x="4811038" y="4216622"/>
            <a:ext cx="2225040" cy="2282132"/>
            <a:chOff x="4838700" y="4439343"/>
            <a:chExt cx="2225040" cy="2282132"/>
          </a:xfrm>
        </p:grpSpPr>
        <p:pic>
          <p:nvPicPr>
            <p:cNvPr id="10"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7450" t="34512" r="70762" b="10592"/>
            <a:stretch/>
          </p:blipFill>
          <p:spPr bwMode="auto">
            <a:xfrm>
              <a:off x="4838700" y="4439344"/>
              <a:ext cx="1619249" cy="228213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37019" t="34512" r="54162" b="10592"/>
            <a:stretch/>
          </p:blipFill>
          <p:spPr bwMode="auto">
            <a:xfrm>
              <a:off x="6408365" y="4439343"/>
              <a:ext cx="655375" cy="2282131"/>
            </a:xfrm>
            <a:prstGeom prst="rect">
              <a:avLst/>
            </a:prstGeom>
            <a:noFill/>
            <a:extLst>
              <a:ext uri="{909E8E84-426E-40DD-AFC4-6F175D3DCCD1}">
                <a14:hiddenFill xmlns:a14="http://schemas.microsoft.com/office/drawing/2010/main">
                  <a:solidFill>
                    <a:srgbClr val="FFFFFF"/>
                  </a:solidFill>
                </a14:hiddenFill>
              </a:ext>
            </a:extLst>
          </p:spPr>
        </p:pic>
      </p:grpSp>
      <p:pic>
        <p:nvPicPr>
          <p:cNvPr id="1034" name="Picture 10" descr="Enlarged Image"/>
          <p:cNvPicPr>
            <a:picLocks noChangeAspect="1" noChangeArrowheads="1"/>
          </p:cNvPicPr>
          <p:nvPr/>
        </p:nvPicPr>
        <p:blipFill rotWithShape="1">
          <a:blip r:embed="rId5">
            <a:extLst>
              <a:ext uri="{28A0092B-C50C-407E-A947-70E740481C1C}">
                <a14:useLocalDpi xmlns:a14="http://schemas.microsoft.com/office/drawing/2010/main" val="0"/>
              </a:ext>
            </a:extLst>
          </a:blip>
          <a:srcRect l="7490" t="29870" r="13574" b="6701"/>
          <a:stretch/>
        </p:blipFill>
        <p:spPr bwMode="auto">
          <a:xfrm>
            <a:off x="5349050" y="1215063"/>
            <a:ext cx="6598023" cy="296561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0" descr="Enlarged Image"/>
          <p:cNvPicPr>
            <a:picLocks noChangeAspect="1" noChangeArrowheads="1"/>
          </p:cNvPicPr>
          <p:nvPr/>
        </p:nvPicPr>
        <p:blipFill rotWithShape="1">
          <a:blip r:embed="rId5">
            <a:extLst>
              <a:ext uri="{28A0092B-C50C-407E-A947-70E740481C1C}">
                <a14:useLocalDpi xmlns:a14="http://schemas.microsoft.com/office/drawing/2010/main" val="0"/>
              </a:ext>
            </a:extLst>
          </a:blip>
          <a:srcRect l="4755" t="8683" r="57372" b="79750"/>
          <a:stretch/>
        </p:blipFill>
        <p:spPr bwMode="auto">
          <a:xfrm>
            <a:off x="5648324" y="988056"/>
            <a:ext cx="3165662" cy="540825"/>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1419225" y="6565660"/>
            <a:ext cx="6838950" cy="276999"/>
          </a:xfrm>
          <a:prstGeom prst="rect">
            <a:avLst/>
          </a:prstGeom>
        </p:spPr>
        <p:txBody>
          <a:bodyPr wrap="square">
            <a:spAutoFit/>
          </a:bodyPr>
          <a:lstStyle/>
          <a:p>
            <a:r>
              <a:rPr lang="ru-RU" sz="1200" dirty="0"/>
              <a:t>https://knowledge.dataiku.com/latest/ml-analytics/time-series/concept-data-types-formats.html</a:t>
            </a:r>
          </a:p>
        </p:txBody>
      </p:sp>
    </p:spTree>
    <p:extLst>
      <p:ext uri="{BB962C8B-B14F-4D97-AF65-F5344CB8AC3E}">
        <p14:creationId xmlns:p14="http://schemas.microsoft.com/office/powerpoint/2010/main" val="35764487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3825" y="365126"/>
            <a:ext cx="11229975" cy="146800"/>
          </a:xfrm>
        </p:spPr>
        <p:txBody>
          <a:bodyPr>
            <a:normAutofit fontScale="90000"/>
          </a:bodyPr>
          <a:lstStyle/>
          <a:p>
            <a:r>
              <a:rPr lang="ru-RU" dirty="0"/>
              <a:t>Представление Временных рядов</a:t>
            </a:r>
          </a:p>
        </p:txBody>
      </p:sp>
      <p:sp>
        <p:nvSpPr>
          <p:cNvPr id="3" name="Объект 2"/>
          <p:cNvSpPr>
            <a:spLocks noGrp="1"/>
          </p:cNvSpPr>
          <p:nvPr>
            <p:ph idx="1"/>
          </p:nvPr>
        </p:nvSpPr>
        <p:spPr>
          <a:xfrm>
            <a:off x="91250" y="964242"/>
            <a:ext cx="10515600" cy="4351338"/>
          </a:xfrm>
        </p:spPr>
        <p:txBody>
          <a:bodyPr/>
          <a:lstStyle/>
          <a:p>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24</a:t>
            </a:fld>
            <a:endParaRPr lang="en-US"/>
          </a:p>
        </p:txBody>
      </p:sp>
      <p:pic>
        <p:nvPicPr>
          <p:cNvPr id="1026" name="Picture 2" descr="Enlarged Image"/>
          <p:cNvPicPr>
            <a:picLocks noChangeAspect="1" noChangeArrowheads="1"/>
          </p:cNvPicPr>
          <p:nvPr/>
        </p:nvPicPr>
        <p:blipFill rotWithShape="1">
          <a:blip r:embed="rId3">
            <a:extLst>
              <a:ext uri="{28A0092B-C50C-407E-A947-70E740481C1C}">
                <a14:useLocalDpi xmlns:a14="http://schemas.microsoft.com/office/drawing/2010/main" val="0"/>
              </a:ext>
            </a:extLst>
          </a:blip>
          <a:srcRect l="5114" t="41497" r="48992" b="17002"/>
          <a:stretch/>
        </p:blipFill>
        <p:spPr bwMode="auto">
          <a:xfrm>
            <a:off x="461042" y="4507212"/>
            <a:ext cx="4377658" cy="221426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Enlarged Image"/>
          <p:cNvPicPr>
            <a:picLocks noChangeAspect="1" noChangeArrowheads="1"/>
          </p:cNvPicPr>
          <p:nvPr/>
        </p:nvPicPr>
        <p:blipFill rotWithShape="1">
          <a:blip r:embed="rId3">
            <a:extLst>
              <a:ext uri="{28A0092B-C50C-407E-A947-70E740481C1C}">
                <a14:useLocalDpi xmlns:a14="http://schemas.microsoft.com/office/drawing/2010/main" val="0"/>
              </a:ext>
            </a:extLst>
          </a:blip>
          <a:srcRect l="4807" t="9446" r="60411" b="80213"/>
          <a:stretch/>
        </p:blipFill>
        <p:spPr bwMode="auto">
          <a:xfrm>
            <a:off x="1644385" y="3738013"/>
            <a:ext cx="3488550" cy="58014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7488" t="34512" r="43940" b="11661"/>
          <a:stretch/>
        </p:blipFill>
        <p:spPr bwMode="auto">
          <a:xfrm>
            <a:off x="8337177" y="4507212"/>
            <a:ext cx="3609896" cy="2237680"/>
          </a:xfrm>
          <a:prstGeom prst="rect">
            <a:avLst/>
          </a:prstGeom>
          <a:noFill/>
          <a:extLst>
            <a:ext uri="{909E8E84-426E-40DD-AFC4-6F175D3DCCD1}">
              <a14:hiddenFill xmlns:a14="http://schemas.microsoft.com/office/drawing/2010/main">
                <a:solidFill>
                  <a:srgbClr val="FFFFFF"/>
                </a:solidFill>
              </a14:hiddenFill>
            </a:ext>
          </a:extLst>
        </p:spPr>
      </p:pic>
      <p:grpSp>
        <p:nvGrpSpPr>
          <p:cNvPr id="7" name="Группа 6"/>
          <p:cNvGrpSpPr/>
          <p:nvPr/>
        </p:nvGrpSpPr>
        <p:grpSpPr>
          <a:xfrm>
            <a:off x="4811038" y="4216622"/>
            <a:ext cx="2225040" cy="2282132"/>
            <a:chOff x="4838700" y="4439343"/>
            <a:chExt cx="2225040" cy="2282132"/>
          </a:xfrm>
        </p:grpSpPr>
        <p:pic>
          <p:nvPicPr>
            <p:cNvPr id="10"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7450" t="34512" r="70762" b="10592"/>
            <a:stretch/>
          </p:blipFill>
          <p:spPr bwMode="auto">
            <a:xfrm>
              <a:off x="4838700" y="4439344"/>
              <a:ext cx="1619249" cy="228213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Enlarged Image"/>
            <p:cNvPicPr>
              <a:picLocks noChangeAspect="1" noChangeArrowheads="1"/>
            </p:cNvPicPr>
            <p:nvPr/>
          </p:nvPicPr>
          <p:blipFill rotWithShape="1">
            <a:blip r:embed="rId4">
              <a:extLst>
                <a:ext uri="{28A0092B-C50C-407E-A947-70E740481C1C}">
                  <a14:useLocalDpi xmlns:a14="http://schemas.microsoft.com/office/drawing/2010/main" val="0"/>
                </a:ext>
              </a:extLst>
            </a:blip>
            <a:srcRect l="37019" t="34512" r="54162" b="10592"/>
            <a:stretch/>
          </p:blipFill>
          <p:spPr bwMode="auto">
            <a:xfrm>
              <a:off x="6408365" y="4439343"/>
              <a:ext cx="655375" cy="2282131"/>
            </a:xfrm>
            <a:prstGeom prst="rect">
              <a:avLst/>
            </a:prstGeom>
            <a:noFill/>
            <a:extLst>
              <a:ext uri="{909E8E84-426E-40DD-AFC4-6F175D3DCCD1}">
                <a14:hiddenFill xmlns:a14="http://schemas.microsoft.com/office/drawing/2010/main">
                  <a:solidFill>
                    <a:srgbClr val="FFFFFF"/>
                  </a:solidFill>
                </a14:hiddenFill>
              </a:ext>
            </a:extLst>
          </p:spPr>
        </p:pic>
      </p:grpSp>
      <p:pic>
        <p:nvPicPr>
          <p:cNvPr id="1034" name="Picture 10" descr="Enlarged Image"/>
          <p:cNvPicPr>
            <a:picLocks noChangeAspect="1" noChangeArrowheads="1"/>
          </p:cNvPicPr>
          <p:nvPr/>
        </p:nvPicPr>
        <p:blipFill rotWithShape="1">
          <a:blip r:embed="rId5">
            <a:extLst>
              <a:ext uri="{28A0092B-C50C-407E-A947-70E740481C1C}">
                <a14:useLocalDpi xmlns:a14="http://schemas.microsoft.com/office/drawing/2010/main" val="0"/>
              </a:ext>
            </a:extLst>
          </a:blip>
          <a:srcRect l="7490" t="29870" r="13574" b="6701"/>
          <a:stretch/>
        </p:blipFill>
        <p:spPr bwMode="auto">
          <a:xfrm>
            <a:off x="5349050" y="1215063"/>
            <a:ext cx="6598023" cy="296561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0" descr="Enlarged Image"/>
          <p:cNvPicPr>
            <a:picLocks noChangeAspect="1" noChangeArrowheads="1"/>
          </p:cNvPicPr>
          <p:nvPr/>
        </p:nvPicPr>
        <p:blipFill rotWithShape="1">
          <a:blip r:embed="rId5">
            <a:extLst>
              <a:ext uri="{28A0092B-C50C-407E-A947-70E740481C1C}">
                <a14:useLocalDpi xmlns:a14="http://schemas.microsoft.com/office/drawing/2010/main" val="0"/>
              </a:ext>
            </a:extLst>
          </a:blip>
          <a:srcRect l="4755" t="8683" r="57372" b="79750"/>
          <a:stretch/>
        </p:blipFill>
        <p:spPr bwMode="auto">
          <a:xfrm>
            <a:off x="5648324" y="988056"/>
            <a:ext cx="3165662" cy="540825"/>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1419225" y="6565660"/>
            <a:ext cx="6838950" cy="276999"/>
          </a:xfrm>
          <a:prstGeom prst="rect">
            <a:avLst/>
          </a:prstGeom>
        </p:spPr>
        <p:txBody>
          <a:bodyPr wrap="square">
            <a:spAutoFit/>
          </a:bodyPr>
          <a:lstStyle/>
          <a:p>
            <a:r>
              <a:rPr lang="ru-RU" sz="1200" dirty="0"/>
              <a:t>https://knowledge.dataiku.com/latest/ml-analytics/time-series/concept-data-types-formats.html</a:t>
            </a:r>
          </a:p>
        </p:txBody>
      </p:sp>
    </p:spTree>
    <p:extLst>
      <p:ext uri="{BB962C8B-B14F-4D97-AF65-F5344CB8AC3E}">
        <p14:creationId xmlns:p14="http://schemas.microsoft.com/office/powerpoint/2010/main" val="9387066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14375" y="293688"/>
            <a:ext cx="10639425" cy="473075"/>
          </a:xfrm>
        </p:spPr>
        <p:txBody>
          <a:bodyPr>
            <a:normAutofit fontScale="90000"/>
          </a:bodyPr>
          <a:lstStyle/>
          <a:p>
            <a:r>
              <a:rPr lang="ru-RU" b="1" dirty="0"/>
              <a:t>Задачи прогнозирования временных рядов</a:t>
            </a:r>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25</a:t>
            </a:fld>
            <a:endParaRPr lang="en-US" dirty="0"/>
          </a:p>
        </p:txBody>
      </p:sp>
      <p:pic>
        <p:nvPicPr>
          <p:cNvPr id="1026" name="Picture 2" descr="Data can be further categorized as Observed, Known, or Static.  Observed data is only known in the past, some examples are the target, stock price, or population.  Known data is available in the past and future, some examples are the day of the week, time until a certain holiday, or month.  Static data is also available in the past and future, but in contrast with Known data is constant in the time series the sliding window is drawn from, some examples are the User ID or Item I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8805" y="915524"/>
            <a:ext cx="7068820" cy="5440164"/>
          </a:xfrm>
          <a:prstGeom prst="rect">
            <a:avLst/>
          </a:prstGeom>
          <a:noFill/>
          <a:extLst>
            <a:ext uri="{909E8E84-426E-40DD-AFC4-6F175D3DCCD1}">
              <a14:hiddenFill xmlns:a14="http://schemas.microsoft.com/office/drawing/2010/main">
                <a:solidFill>
                  <a:srgbClr val="FFFFFF"/>
                </a:solidFill>
              </a14:hiddenFill>
            </a:ext>
          </a:extLst>
        </p:spPr>
      </p:pic>
      <p:sp>
        <p:nvSpPr>
          <p:cNvPr id="8" name="Прямоугольник 7"/>
          <p:cNvSpPr/>
          <p:nvPr/>
        </p:nvSpPr>
        <p:spPr>
          <a:xfrm>
            <a:off x="1447800" y="6468159"/>
            <a:ext cx="8961120" cy="276999"/>
          </a:xfrm>
          <a:prstGeom prst="rect">
            <a:avLst/>
          </a:prstGeom>
        </p:spPr>
        <p:txBody>
          <a:bodyPr wrap="square">
            <a:spAutoFit/>
          </a:bodyPr>
          <a:lstStyle/>
          <a:p>
            <a:r>
              <a:rPr lang="ru-RU" sz="1200" dirty="0"/>
              <a:t>https://developer.nvidia.com/blog/time-series-forecasting-with-the-nvidia-time-series-prediction-platform-and-triton-inference-server/</a:t>
            </a:r>
          </a:p>
        </p:txBody>
      </p:sp>
    </p:spTree>
    <p:extLst>
      <p:ext uri="{BB962C8B-B14F-4D97-AF65-F5344CB8AC3E}">
        <p14:creationId xmlns:p14="http://schemas.microsoft.com/office/powerpoint/2010/main" val="40893920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smtClean="0"/>
              <a:t>Фреймворк анализа ВР</a:t>
            </a:r>
            <a:endParaRPr lang="ru-RU" dirty="0"/>
          </a:p>
        </p:txBody>
      </p:sp>
      <p:sp>
        <p:nvSpPr>
          <p:cNvPr id="3" name="Объект 2"/>
          <p:cNvSpPr>
            <a:spLocks noGrp="1"/>
          </p:cNvSpPr>
          <p:nvPr>
            <p:ph idx="1"/>
          </p:nvPr>
        </p:nvSpPr>
        <p:spPr/>
        <p:txBody>
          <a:bodyPr/>
          <a:lstStyle/>
          <a:p>
            <a:endParaRPr lang="ru-RU"/>
          </a:p>
        </p:txBody>
      </p:sp>
      <p:sp>
        <p:nvSpPr>
          <p:cNvPr id="4" name="Номер слайда 3"/>
          <p:cNvSpPr>
            <a:spLocks noGrp="1"/>
          </p:cNvSpPr>
          <p:nvPr>
            <p:ph type="sldNum" sz="quarter" idx="12"/>
          </p:nvPr>
        </p:nvSpPr>
        <p:spPr/>
        <p:txBody>
          <a:bodyPr/>
          <a:lstStyle/>
          <a:p>
            <a:fld id="{45C3B737-A709-4ABC-AFE0-A6B067850C48}" type="slidenum">
              <a:rPr lang="en-US" smtClean="0"/>
              <a:t>26</a:t>
            </a:fld>
            <a:endParaRPr lang="en-US"/>
          </a:p>
        </p:txBody>
      </p:sp>
      <p:pic>
        <p:nvPicPr>
          <p:cNvPr id="1026" name="Picture 2" descr="https://unit8.com/wp-content/uploads/2021/07/1_yaHh5V0AgxEYxJYrv9VQm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114" y="1535970"/>
            <a:ext cx="10376354" cy="4930647"/>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275771" y="6466617"/>
            <a:ext cx="8708571" cy="369332"/>
          </a:xfrm>
          <a:prstGeom prst="rect">
            <a:avLst/>
          </a:prstGeom>
        </p:spPr>
        <p:txBody>
          <a:bodyPr wrap="square">
            <a:spAutoFit/>
          </a:bodyPr>
          <a:lstStyle/>
          <a:p>
            <a:r>
              <a:rPr lang="ru-RU" dirty="0"/>
              <a:t>https://unit8.com/wp-content/uploads/2021/07/1_yaHh5V0AgxEYxJYrv9VQmA.png</a:t>
            </a:r>
          </a:p>
        </p:txBody>
      </p:sp>
    </p:spTree>
    <p:extLst>
      <p:ext uri="{BB962C8B-B14F-4D97-AF65-F5344CB8AC3E}">
        <p14:creationId xmlns:p14="http://schemas.microsoft.com/office/powerpoint/2010/main" val="8010734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45674" y="261418"/>
            <a:ext cx="10692973" cy="726008"/>
          </a:xfrm>
        </p:spPr>
        <p:txBody>
          <a:bodyPr/>
          <a:lstStyle/>
          <a:p>
            <a:r>
              <a:rPr lang="ru-RU" dirty="0"/>
              <a:t>Фреймворк анализа ВР</a:t>
            </a:r>
          </a:p>
        </p:txBody>
      </p:sp>
      <p:sp>
        <p:nvSpPr>
          <p:cNvPr id="3" name="Объект 2"/>
          <p:cNvSpPr>
            <a:spLocks noGrp="1"/>
          </p:cNvSpPr>
          <p:nvPr>
            <p:ph idx="1"/>
          </p:nvPr>
        </p:nvSpPr>
        <p:spPr>
          <a:xfrm>
            <a:off x="388044" y="1241637"/>
            <a:ext cx="4122484" cy="4935325"/>
          </a:xfrm>
        </p:spPr>
        <p:txBody>
          <a:bodyPr/>
          <a:lstStyle/>
          <a:p>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27</a:t>
            </a:fld>
            <a:endParaRPr lang="en-US"/>
          </a:p>
        </p:txBody>
      </p:sp>
      <p:sp>
        <p:nvSpPr>
          <p:cNvPr id="5" name="Прямоугольник 4"/>
          <p:cNvSpPr/>
          <p:nvPr/>
        </p:nvSpPr>
        <p:spPr>
          <a:xfrm>
            <a:off x="4807644" y="6334780"/>
            <a:ext cx="6096000" cy="523220"/>
          </a:xfrm>
          <a:prstGeom prst="rect">
            <a:avLst/>
          </a:prstGeom>
        </p:spPr>
        <p:txBody>
          <a:bodyPr>
            <a:spAutoFit/>
          </a:bodyPr>
          <a:lstStyle/>
          <a:p>
            <a:r>
              <a:rPr lang="ru-RU" sz="1400" dirty="0"/>
              <a:t>https://developer.nvidia.com/blog/time-series-forecasting-with-the-nvidia-time-series-prediction-platform-and-triton-inference-server/</a:t>
            </a:r>
          </a:p>
        </p:txBody>
      </p:sp>
      <p:pic>
        <p:nvPicPr>
          <p:cNvPr id="1028" name="Picture 4" descr="Time-Series-Forecast_Pic2.png (936×526)"/>
          <p:cNvPicPr>
            <a:picLocks noChangeAspect="1" noChangeArrowheads="1"/>
          </p:cNvPicPr>
          <p:nvPr/>
        </p:nvPicPr>
        <p:blipFill rotWithShape="1">
          <a:blip r:embed="rId2">
            <a:extLst>
              <a:ext uri="{28A0092B-C50C-407E-A947-70E740481C1C}">
                <a14:useLocalDpi xmlns:a14="http://schemas.microsoft.com/office/drawing/2010/main" val="0"/>
              </a:ext>
            </a:extLst>
          </a:blip>
          <a:srcRect l="23250"/>
          <a:stretch/>
        </p:blipFill>
        <p:spPr bwMode="auto">
          <a:xfrm>
            <a:off x="4733365" y="1166813"/>
            <a:ext cx="6842604" cy="5010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03053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dirty="0"/>
              <a:t>Фреймворк анализа ВР</a:t>
            </a:r>
          </a:p>
        </p:txBody>
      </p:sp>
      <p:sp>
        <p:nvSpPr>
          <p:cNvPr id="3" name="Объект 2"/>
          <p:cNvSpPr>
            <a:spLocks noGrp="1"/>
          </p:cNvSpPr>
          <p:nvPr>
            <p:ph idx="1"/>
          </p:nvPr>
        </p:nvSpPr>
        <p:spPr/>
        <p:txBody>
          <a:bodyPr/>
          <a:lstStyle/>
          <a:p>
            <a:endParaRPr lang="ru-RU" dirty="0"/>
          </a:p>
        </p:txBody>
      </p:sp>
      <p:sp>
        <p:nvSpPr>
          <p:cNvPr id="4" name="Номер слайда 3"/>
          <p:cNvSpPr>
            <a:spLocks noGrp="1"/>
          </p:cNvSpPr>
          <p:nvPr>
            <p:ph type="sldNum" sz="quarter" idx="12"/>
          </p:nvPr>
        </p:nvSpPr>
        <p:spPr/>
        <p:txBody>
          <a:bodyPr/>
          <a:lstStyle/>
          <a:p>
            <a:fld id="{45C3B737-A709-4ABC-AFE0-A6B067850C48}" type="slidenum">
              <a:rPr lang="en-US" smtClean="0"/>
              <a:t>28</a:t>
            </a:fld>
            <a:endParaRPr lang="en-US"/>
          </a:p>
        </p:txBody>
      </p:sp>
      <p:pic>
        <p:nvPicPr>
          <p:cNvPr id="1026" name="Picture 2" descr="https://www.salesforce.com/blog/wp-content/uploads/sites/2/2024/11/imag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5085" y="1423680"/>
            <a:ext cx="8317139" cy="4273857"/>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4772025" y="5767973"/>
            <a:ext cx="6096000" cy="338554"/>
          </a:xfrm>
          <a:prstGeom prst="rect">
            <a:avLst/>
          </a:prstGeom>
        </p:spPr>
        <p:txBody>
          <a:bodyPr>
            <a:spAutoFit/>
          </a:bodyPr>
          <a:lstStyle/>
          <a:p>
            <a:r>
              <a:rPr lang="ru-RU" sz="1600" dirty="0"/>
              <a:t>https://www.salesforce.com/blog/gift-eval-time-series-benchmark/</a:t>
            </a:r>
          </a:p>
        </p:txBody>
      </p:sp>
      <p:sp>
        <p:nvSpPr>
          <p:cNvPr id="6" name="Прямоугольник 5"/>
          <p:cNvSpPr/>
          <p:nvPr/>
        </p:nvSpPr>
        <p:spPr>
          <a:xfrm>
            <a:off x="5501209" y="6062732"/>
            <a:ext cx="4980531" cy="369332"/>
          </a:xfrm>
          <a:prstGeom prst="rect">
            <a:avLst/>
          </a:prstGeom>
        </p:spPr>
        <p:txBody>
          <a:bodyPr wrap="none">
            <a:spAutoFit/>
          </a:bodyPr>
          <a:lstStyle/>
          <a:p>
            <a:r>
              <a:rPr lang="ru-RU" dirty="0"/>
              <a:t>https://github.com/SalesforceAIResearch/gift-eval/</a:t>
            </a:r>
          </a:p>
        </p:txBody>
      </p:sp>
    </p:spTree>
    <p:extLst>
      <p:ext uri="{BB962C8B-B14F-4D97-AF65-F5344CB8AC3E}">
        <p14:creationId xmlns:p14="http://schemas.microsoft.com/office/powerpoint/2010/main" val="8757737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Тема Office 2013–2022">
  <a:themeElements>
    <a:clrScheme name="Тема Office 2013–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Тема Office 2013–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2013–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9261</TotalTime>
  <Words>1377</Words>
  <Application>Microsoft Office PowerPoint</Application>
  <PresentationFormat>Широкоэкранный</PresentationFormat>
  <Paragraphs>212</Paragraphs>
  <Slides>28</Slides>
  <Notes>7</Notes>
  <HiddenSlides>6</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28</vt:i4>
      </vt:variant>
    </vt:vector>
  </HeadingPairs>
  <TitlesOfParts>
    <vt:vector size="36" baseType="lpstr">
      <vt:lpstr>Arial</vt:lpstr>
      <vt:lpstr>Calibri</vt:lpstr>
      <vt:lpstr>Calibri Light</vt:lpstr>
      <vt:lpstr>Cambria Math</vt:lpstr>
      <vt:lpstr>Open Sans</vt:lpstr>
      <vt:lpstr>Times New Roman</vt:lpstr>
      <vt:lpstr>var(--sds-font-family-01)</vt:lpstr>
      <vt:lpstr>Тема Office 2013–2022</vt:lpstr>
      <vt:lpstr>Модели ВР  </vt:lpstr>
      <vt:lpstr>Модели временных рядов</vt:lpstr>
      <vt:lpstr>Модели временных рядов</vt:lpstr>
      <vt:lpstr>Особенности модели временных рядов</vt:lpstr>
      <vt:lpstr>Разница цикличности и сезонности</vt:lpstr>
      <vt:lpstr>Модели временных рядов</vt:lpstr>
      <vt:lpstr>Популярные виды тренда</vt:lpstr>
      <vt:lpstr>Модели временных рядов. Случайный тренд</vt:lpstr>
      <vt:lpstr>Модели временных рядов</vt:lpstr>
      <vt:lpstr>Модели временных рядов</vt:lpstr>
      <vt:lpstr>Особенности и варианты модели ВР</vt:lpstr>
      <vt:lpstr>Точки перегиба и новизна в тренде</vt:lpstr>
      <vt:lpstr>Модели временных рядов. Аномалии</vt:lpstr>
      <vt:lpstr>Примеры ВР</vt:lpstr>
      <vt:lpstr>Типы временных рядов</vt:lpstr>
      <vt:lpstr>Представление ВР</vt:lpstr>
      <vt:lpstr>Типы ВР </vt:lpstr>
      <vt:lpstr>Экзогенные и многопеременные ВР</vt:lpstr>
      <vt:lpstr>Типы ВР</vt:lpstr>
      <vt:lpstr>Многопеременные и другие ВР</vt:lpstr>
      <vt:lpstr>Некоторые типы ВР</vt:lpstr>
      <vt:lpstr>Вопросы для самоконтроля</vt:lpstr>
      <vt:lpstr>Представление Временных рядов</vt:lpstr>
      <vt:lpstr>Представление Временных рядов</vt:lpstr>
      <vt:lpstr>Задачи прогнозирования временных рядов</vt:lpstr>
      <vt:lpstr>Фреймворк анализа ВР</vt:lpstr>
      <vt:lpstr>Фреймворк анализа ВР</vt:lpstr>
      <vt:lpstr>Фреймворк анализа ВР</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Time Series Analysis</dc:title>
  <dc:creator>Ронкин Михаил Владимирович</dc:creator>
  <cp:lastModifiedBy>Ронкин Михаил Владимирович</cp:lastModifiedBy>
  <cp:revision>189</cp:revision>
  <dcterms:created xsi:type="dcterms:W3CDTF">2021-10-31T10:57:36Z</dcterms:created>
  <dcterms:modified xsi:type="dcterms:W3CDTF">2026-05-04T09:18:45Z</dcterms:modified>
</cp:coreProperties>
</file>