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48" r:id="rId3"/>
    <p:sldId id="445" r:id="rId4"/>
    <p:sldId id="454" r:id="rId5"/>
    <p:sldId id="462" r:id="rId6"/>
    <p:sldId id="463" r:id="rId7"/>
    <p:sldId id="455" r:id="rId8"/>
    <p:sldId id="464" r:id="rId9"/>
    <p:sldId id="446" r:id="rId10"/>
    <p:sldId id="451" r:id="rId11"/>
    <p:sldId id="450" r:id="rId12"/>
    <p:sldId id="452" r:id="rId13"/>
    <p:sldId id="4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6301"/>
  </p:normalViewPr>
  <p:slideViewPr>
    <p:cSldViewPr snapToGrid="0">
      <p:cViewPr varScale="1">
        <p:scale>
          <a:sx n="97" d="100"/>
          <a:sy n="97" d="100"/>
        </p:scale>
        <p:origin x="1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se.ru/data/2014/11/13/1311639964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3561444"/>
          </a:xfrm>
        </p:spPr>
        <p:txBody>
          <a:bodyPr>
            <a:normAutofit/>
          </a:bodyPr>
          <a:lstStyle/>
          <a:p>
            <a:r>
              <a:rPr lang="ru-RU" sz="8000" b="1" dirty="0" smtClean="0"/>
              <a:t>Разложение ВР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r>
                  <a:rPr lang="en-US" altLang="ru-RU" sz="1800" dirty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08" y="127639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619041"/>
            <a:ext cx="11620982" cy="5677794"/>
          </a:xfrm>
        </p:spPr>
        <p:txBody>
          <a:bodyPr>
            <a:normAutofit lnSpcReduction="10000"/>
          </a:bodyPr>
          <a:lstStyle/>
          <a:p>
            <a:r>
              <a:rPr lang="ru-RU" sz="2300" dirty="0"/>
              <a:t>Сезонность не всегда очевидна, </a:t>
            </a:r>
          </a:p>
          <a:p>
            <a:pPr lvl="1"/>
            <a:r>
              <a:rPr lang="ru-RU" sz="23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300" dirty="0"/>
              <a:t>Сезонность важно не спутать с цикличностью особенно для коротких ВР</a:t>
            </a:r>
          </a:p>
          <a:p>
            <a:r>
              <a:rPr lang="ru-RU" sz="2300" dirty="0"/>
              <a:t>Сезонность можно определить </a:t>
            </a:r>
          </a:p>
          <a:p>
            <a:pPr lvl="1"/>
            <a:r>
              <a:rPr lang="ru-RU" sz="2300" dirty="0"/>
              <a:t>при сравнении сегментов размером с 1 или несколько сезонов (визуально</a:t>
            </a:r>
            <a:r>
              <a:rPr lang="en-US" sz="2300" dirty="0"/>
              <a:t> </a:t>
            </a:r>
            <a:r>
              <a:rPr lang="ru-RU" sz="2300" dirty="0"/>
              <a:t>разброс, </a:t>
            </a:r>
            <a:r>
              <a:rPr lang="ru-RU" sz="2300" dirty="0" err="1"/>
              <a:t>box</a:t>
            </a:r>
            <a:r>
              <a:rPr lang="en-US" sz="2300" dirty="0"/>
              <a:t>plot,</a:t>
            </a:r>
            <a:r>
              <a:rPr lang="ru-RU" sz="2300" dirty="0"/>
              <a:t> сравнение остатков вычитания сезонностей)</a:t>
            </a:r>
          </a:p>
          <a:p>
            <a:pPr lvl="1"/>
            <a:r>
              <a:rPr lang="ru-RU" sz="2300" dirty="0"/>
              <a:t>Анализом ВР после сезонного дифференцирования</a:t>
            </a:r>
          </a:p>
          <a:p>
            <a:pPr lvl="1"/>
            <a:r>
              <a:rPr lang="ru-RU" sz="2300" dirty="0"/>
              <a:t>Путем разложения ВР на сезонные компоненты</a:t>
            </a:r>
          </a:p>
          <a:p>
            <a:r>
              <a:rPr lang="ru-RU" sz="2300" dirty="0"/>
              <a:t>Сезонность видна по графикам ACF</a:t>
            </a:r>
            <a:r>
              <a:rPr lang="en-US" sz="2300" dirty="0"/>
              <a:t>/PACF </a:t>
            </a:r>
            <a:r>
              <a:rPr lang="ru-RU" sz="2300" dirty="0"/>
              <a:t>как всплески лагов на соответствующих периодах</a:t>
            </a:r>
          </a:p>
          <a:p>
            <a:pPr lvl="1"/>
            <a:r>
              <a:rPr lang="ru-RU" sz="2300" dirty="0"/>
              <a:t>Чтобы не спутать с цикличностью можно провести </a:t>
            </a:r>
            <a:r>
              <a:rPr lang="ru-RU" sz="2300" dirty="0" err="1"/>
              <a:t>модицфицированный</a:t>
            </a:r>
            <a:r>
              <a:rPr lang="ru-RU" sz="2300" dirty="0"/>
              <a:t> тест </a:t>
            </a:r>
            <a:r>
              <a:rPr lang="ru-RU" sz="2300" dirty="0" err="1"/>
              <a:t>Льюнга</a:t>
            </a:r>
            <a:r>
              <a:rPr lang="ru-RU" sz="2300" dirty="0"/>
              <a:t>-Бокса. Основная идея – нормировка для лагов сезонности (</a:t>
            </a:r>
            <a:r>
              <a:rPr lang="ru-RU" sz="2300" dirty="0" err="1"/>
              <a:t>напр</a:t>
            </a:r>
            <a:r>
              <a:rPr lang="ru-RU" sz="2300" dirty="0"/>
              <a:t> 12,24)</a:t>
            </a:r>
          </a:p>
          <a:p>
            <a:pPr lvl="1"/>
            <a:r>
              <a:rPr lang="ru-RU" sz="2300" b="1" dirty="0"/>
              <a:t>QS</a:t>
            </a:r>
            <a:r>
              <a:rPr lang="en-US" sz="2300" b="1" dirty="0"/>
              <a:t> </a:t>
            </a:r>
            <a:r>
              <a:rPr lang="en-US" sz="2300" b="1" dirty="0" err="1"/>
              <a:t>те</a:t>
            </a:r>
            <a:r>
              <a:rPr lang="ru-RU" sz="2300" b="1" dirty="0" err="1"/>
              <a:t>ст</a:t>
            </a:r>
            <a:r>
              <a:rPr lang="ru-RU" sz="2300" b="1" dirty="0"/>
              <a:t>: вариант </a:t>
            </a:r>
            <a:r>
              <a:rPr lang="ru-RU" sz="2300" dirty="0"/>
              <a:t>тест </a:t>
            </a:r>
            <a:r>
              <a:rPr lang="ru-RU" sz="2300" dirty="0" err="1"/>
              <a:t>Льюнга</a:t>
            </a:r>
            <a:r>
              <a:rPr lang="ru-RU" sz="2300" dirty="0"/>
              <a:t>-Бокса только на позитивных лага</a:t>
            </a:r>
            <a:endParaRPr lang="ru-RU" sz="2300" b="1" dirty="0"/>
          </a:p>
          <a:p>
            <a:r>
              <a:rPr lang="ru-RU" sz="2300" dirty="0"/>
              <a:t>Тест на стабильность сезонности Кановы-Хансена (</a:t>
            </a:r>
            <a:r>
              <a:rPr lang="en" sz="2300" dirty="0"/>
              <a:t>Canova-Hansen Test</a:t>
            </a:r>
            <a:r>
              <a:rPr lang="ru-RU" sz="2300" dirty="0"/>
              <a:t>, </a:t>
            </a:r>
            <a:r>
              <a:rPr lang="en" sz="2300" dirty="0" err="1"/>
              <a:t>CHTest</a:t>
            </a:r>
            <a:r>
              <a:rPr lang="en" sz="2300" dirty="0"/>
              <a:t>)</a:t>
            </a:r>
            <a:r>
              <a:rPr lang="ru-RU" sz="2300" dirty="0"/>
              <a:t>:</a:t>
            </a:r>
          </a:p>
          <a:p>
            <a:pPr lvl="2"/>
            <a:r>
              <a:rPr lang="ru-RU" sz="2300" dirty="0"/>
              <a:t>Стабильность сезонных компонент во времени – отбор нужных компонент и анализ их изменчивости</a:t>
            </a:r>
            <a:endParaRPr lang="en" sz="23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523024"/>
            <a:ext cx="6105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palatej.github.io</a:t>
            </a:r>
            <a:r>
              <a:rPr lang="ru-RU" sz="1200" dirty="0"/>
              <a:t>/</a:t>
            </a:r>
            <a:r>
              <a:rPr lang="ru-RU" sz="1200" dirty="0" err="1"/>
              <a:t>pages</a:t>
            </a:r>
            <a:r>
              <a:rPr lang="ru-RU" sz="1200" dirty="0"/>
              <a:t>/</a:t>
            </a:r>
            <a:r>
              <a:rPr lang="ru-RU" sz="1200" dirty="0" err="1"/>
              <a:t>stats</a:t>
            </a:r>
            <a:r>
              <a:rPr lang="ru-RU" sz="1200" dirty="0"/>
              <a:t>/</a:t>
            </a:r>
            <a:r>
              <a:rPr lang="ru-RU" sz="1200" dirty="0" err="1"/>
              <a:t>tests</a:t>
            </a:r>
            <a:r>
              <a:rPr lang="ru-RU" sz="1200" dirty="0"/>
              <a:t>/</a:t>
            </a:r>
            <a:r>
              <a:rPr lang="ru-RU" sz="1200" dirty="0" err="1"/>
              <a:t>seasonality</a:t>
            </a:r>
            <a:r>
              <a:rPr lang="ru-RU" sz="1200" dirty="0"/>
              <a:t>/</a:t>
            </a:r>
            <a:r>
              <a:rPr lang="ru-RU" sz="1200" dirty="0" err="1"/>
              <a:t>qs.html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96770" y="6238958"/>
            <a:ext cx="11901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>
                <a:hlinkClick r:id="rId2"/>
              </a:rPr>
              <a:t>https://www.hse.ru/data/2014/11/13/1311639964/</a:t>
            </a:r>
            <a:r>
              <a:rPr lang="ru-RU" sz="1050" dirty="0"/>
              <a:t>Методы%20социально-экономического%20прогнозирования%20в%202т.%20т.2%20-%20Светуньков%20-%20бт.</a:t>
            </a:r>
            <a:r>
              <a:rPr lang="en" sz="1050" dirty="0"/>
              <a:t>pdf</a:t>
            </a:r>
            <a:endParaRPr lang="ru-RU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60E9F-2A4D-CEC3-6B34-312655F7D6F3}"/>
              </a:ext>
            </a:extLst>
          </p:cNvPr>
          <p:cNvSpPr txBox="1"/>
          <p:nvPr/>
        </p:nvSpPr>
        <p:spPr>
          <a:xfrm>
            <a:off x="6302414" y="6523024"/>
            <a:ext cx="61068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alkaline-ml.com</a:t>
            </a:r>
            <a:r>
              <a:rPr lang="ru-RU" sz="1100" dirty="0"/>
              <a:t>/</a:t>
            </a:r>
            <a:r>
              <a:rPr lang="ru-RU" sz="1100" dirty="0" err="1"/>
              <a:t>pmdarima</a:t>
            </a:r>
            <a:r>
              <a:rPr lang="ru-RU" sz="1100" dirty="0"/>
              <a:t>/</a:t>
            </a:r>
            <a:r>
              <a:rPr lang="ru-RU" sz="1100" dirty="0" err="1"/>
              <a:t>modules</a:t>
            </a:r>
            <a:r>
              <a:rPr lang="ru-RU" sz="1100" dirty="0"/>
              <a:t>/</a:t>
            </a:r>
            <a:r>
              <a:rPr lang="ru-RU" sz="1100" dirty="0" err="1"/>
              <a:t>generated</a:t>
            </a:r>
            <a:r>
              <a:rPr lang="ru-RU" sz="1100" dirty="0"/>
              <a:t>/</a:t>
            </a:r>
            <a:r>
              <a:rPr lang="ru-RU" sz="1100" dirty="0" err="1"/>
              <a:t>pmdarima.arima.CHTest.html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575794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структура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бизнес-процессов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  <a:p>
            <a:r>
              <a:rPr lang="ru-RU" sz="2200" dirty="0"/>
              <a:t>Также некоторые методы предсказания предоставляют результаты внутренней декомпозиции ВР </a:t>
            </a:r>
            <a:r>
              <a:rPr lang="en-US" sz="2200" dirty="0" smtClean="0"/>
              <a:t>(GAR, TBATS</a:t>
            </a:r>
            <a:r>
              <a:rPr lang="en-US" sz="2200" dirty="0"/>
              <a:t>, </a:t>
            </a:r>
            <a:r>
              <a:rPr lang="ru-RU" sz="2200" dirty="0"/>
              <a:t>и </a:t>
            </a:r>
            <a:r>
              <a:rPr lang="ru-RU" sz="2200" dirty="0" err="1"/>
              <a:t>др</a:t>
            </a:r>
            <a:r>
              <a:rPr lang="ru-RU" sz="2200" dirty="0"/>
              <a:t>).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5762625" y="638542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https://otexts.com/fpppy/nbs/12-advanced.html#example-half-hourly-electricity-demand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2881" y="6523919"/>
            <a:ext cx="35734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https://otexts.com/fpppy/nbs/03-decomposition.html</a:t>
            </a:r>
          </a:p>
        </p:txBody>
      </p: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303" y="365126"/>
            <a:ext cx="11078497" cy="657430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 для самоконтроля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813" y="1111046"/>
            <a:ext cx="11700387" cy="5427406"/>
          </a:xfrm>
        </p:spPr>
        <p:txBody>
          <a:bodyPr>
            <a:normAutofit/>
          </a:bodyPr>
          <a:lstStyle/>
          <a:p>
            <a:r>
              <a:rPr lang="ru-RU" dirty="0" smtClean="0"/>
              <a:t>Назовите </a:t>
            </a:r>
            <a:r>
              <a:rPr lang="ru-RU" dirty="0"/>
              <a:t>основные особенности подходов для разложения ВР. Объясните цель использования разложения</a:t>
            </a:r>
            <a:r>
              <a:rPr lang="ru-RU"/>
              <a:t>. </a:t>
            </a:r>
            <a:endParaRPr lang="ru-RU" smtClean="0"/>
          </a:p>
          <a:p>
            <a:r>
              <a:rPr lang="ru-RU" smtClean="0"/>
              <a:t>Расскажите </a:t>
            </a:r>
            <a:r>
              <a:rPr lang="ru-RU" dirty="0"/>
              <a:t>как работает </a:t>
            </a:r>
            <a:r>
              <a:rPr lang="en-US" dirty="0"/>
              <a:t>STL </a:t>
            </a:r>
            <a:r>
              <a:rPr lang="ru-RU" dirty="0"/>
              <a:t>разложение. В каких случаях </a:t>
            </a:r>
            <a:r>
              <a:rPr lang="en-US" dirty="0"/>
              <a:t>STL </a:t>
            </a:r>
            <a:r>
              <a:rPr lang="ru-RU" dirty="0"/>
              <a:t>недостаточно?</a:t>
            </a:r>
          </a:p>
          <a:p>
            <a:r>
              <a:rPr lang="ru-RU" dirty="0"/>
              <a:t>Объясните цели использования и подходы к </a:t>
            </a:r>
            <a:r>
              <a:rPr lang="en-US" dirty="0" err="1"/>
              <a:t>detrend</a:t>
            </a:r>
            <a:r>
              <a:rPr lang="en-US" dirty="0"/>
              <a:t>, </a:t>
            </a:r>
            <a:r>
              <a:rPr lang="en-US" dirty="0" err="1"/>
              <a:t>deseasonlizer</a:t>
            </a:r>
            <a:r>
              <a:rPr lang="en-US" dirty="0"/>
              <a:t>, </a:t>
            </a:r>
            <a:r>
              <a:rPr lang="ru-RU" dirty="0"/>
              <a:t>в каких случаях этих подходов недостаточно? Какие шаги можно предложить для решения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13974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4603</TotalTime>
  <Words>1034</Words>
  <Application>Microsoft Office PowerPoint</Application>
  <PresentationFormat>Широкоэкранный</PresentationFormat>
  <Paragraphs>152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Open Sans</vt:lpstr>
      <vt:lpstr>Times New Roman</vt:lpstr>
      <vt:lpstr>Тема Office</vt:lpstr>
      <vt:lpstr>Разложение ВР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242</cp:revision>
  <dcterms:created xsi:type="dcterms:W3CDTF">2021-10-31T10:57:36Z</dcterms:created>
  <dcterms:modified xsi:type="dcterms:W3CDTF">2026-10-05T10:40:22Z</dcterms:modified>
</cp:coreProperties>
</file>