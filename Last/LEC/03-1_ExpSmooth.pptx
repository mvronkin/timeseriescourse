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463" r:id="rId3"/>
    <p:sldId id="464" r:id="rId4"/>
    <p:sldId id="417" r:id="rId5"/>
    <p:sldId id="453" r:id="rId6"/>
    <p:sldId id="414" r:id="rId7"/>
    <p:sldId id="431" r:id="rId8"/>
    <p:sldId id="415" r:id="rId9"/>
    <p:sldId id="418" r:id="rId10"/>
    <p:sldId id="426" r:id="rId11"/>
    <p:sldId id="416" r:id="rId12"/>
    <p:sldId id="419" r:id="rId13"/>
    <p:sldId id="421" r:id="rId14"/>
    <p:sldId id="434" r:id="rId15"/>
    <p:sldId id="422" r:id="rId16"/>
    <p:sldId id="423" r:id="rId17"/>
    <p:sldId id="425" r:id="rId18"/>
    <p:sldId id="427" r:id="rId19"/>
    <p:sldId id="424" r:id="rId20"/>
    <p:sldId id="428" r:id="rId21"/>
    <p:sldId id="429" r:id="rId22"/>
    <p:sldId id="430" r:id="rId23"/>
    <p:sldId id="456" r:id="rId24"/>
    <p:sldId id="459" r:id="rId25"/>
    <p:sldId id="46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3"/>
            <p14:sldId id="464"/>
            <p14:sldId id="417"/>
            <p14:sldId id="453"/>
            <p14:sldId id="414"/>
            <p14:sldId id="431"/>
            <p14:sldId id="415"/>
            <p14:sldId id="418"/>
            <p14:sldId id="426"/>
            <p14:sldId id="416"/>
            <p14:sldId id="419"/>
            <p14:sldId id="421"/>
            <p14:sldId id="434"/>
            <p14:sldId id="422"/>
            <p14:sldId id="423"/>
            <p14:sldId id="425"/>
            <p14:sldId id="427"/>
            <p14:sldId id="424"/>
            <p14:sldId id="428"/>
            <p14:sldId id="429"/>
            <p14:sldId id="430"/>
            <p14:sldId id="456"/>
            <p14:sldId id="459"/>
            <p14:sldId id="4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 autoAdjust="0"/>
    <p:restoredTop sz="96301"/>
  </p:normalViewPr>
  <p:slideViewPr>
    <p:cSldViewPr snapToGrid="0">
      <p:cViewPr varScale="1">
        <p:scale>
          <a:sx n="113" d="100"/>
          <a:sy n="113" d="100"/>
        </p:scale>
        <p:origin x="108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053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2841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703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074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4831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5186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6683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578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368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image" Target="../media/image35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070" y="197786"/>
            <a:ext cx="9849485" cy="1325563"/>
          </a:xfrm>
        </p:spPr>
        <p:txBody>
          <a:bodyPr>
            <a:normAutofit/>
          </a:bodyPr>
          <a:lstStyle/>
          <a:p>
            <a:r>
              <a:rPr lang="en-US" b="1" dirty="0" smtClean="0"/>
              <a:t>TS-</a:t>
            </a:r>
            <a:r>
              <a:rPr lang="ru-RU" b="1" dirty="0" smtClean="0"/>
              <a:t>Модели </a:t>
            </a:r>
            <a:r>
              <a:rPr lang="ru-RU" b="1" dirty="0"/>
              <a:t>временных рядов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CDB8E57-5CA8-497C-990E-C304F4FB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9550" y="1114427"/>
                <a:ext cx="11525249" cy="5545789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en-US" sz="2200" i="1" dirty="0" smtClean="0"/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200" i="1" dirty="0"/>
                  <a:t>Модель </a:t>
                </a:r>
                <a:r>
                  <a:rPr lang="ru-RU" altLang="en-US" sz="2200" i="1" dirty="0" smtClean="0"/>
                  <a:t>для которых явно можно выделить тренд, но также и другие составляющие</a:t>
                </a:r>
                <a:endParaRPr lang="ru-RU" altLang="en-US" sz="2200" i="1" dirty="0"/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alt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altLang="en-US" sz="2400" b="0" i="1" dirty="0" smtClean="0">
                              <a:latin typeface="Cambria Math" panose="02040503050406030204" pitchFamily="18" charset="0"/>
                            </a:rPr>
                            <m:t>𝑇𝑆</m:t>
                          </m:r>
                        </m:sub>
                      </m:sSub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𝑡𝑟𝑒𝑛𝑑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)+</m:t>
                      </m:r>
                      <m:nary>
                        <m:naryPr>
                          <m:chr m:val="∑"/>
                          <m:ctrlP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en-US" sz="2400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𝑠𝑒𝑎𝑠𝑜𝑛𝑎𝑙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altLang="en-US" sz="2400" b="0" i="1" dirty="0" smtClean="0">
                          <a:latin typeface="Cambria Math" panose="02040503050406030204" pitchFamily="18" charset="0"/>
                        </a:rPr>
                        <m:t>𝑟𝑒𝑠𝑖𝑑𝑢𝑎𝑙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altLang="en-US" sz="2000" dirty="0">
                  <a:latin typeface="Open Sans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000" dirty="0">
                    <a:latin typeface="Open Sans"/>
                  </a:rPr>
                  <a:t>Или </a:t>
                </a:r>
                <a:r>
                  <a:rPr lang="ru-RU" altLang="en-US" sz="2000" dirty="0" smtClean="0">
                    <a:latin typeface="Open Sans"/>
                  </a:rPr>
                  <a:t>мультипликативная модель</a:t>
                </a:r>
                <a:endParaRPr lang="ru-RU" altLang="en-US" sz="2000" dirty="0">
                  <a:latin typeface="Open Sans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𝑡𝑟𝑒𝑛𝑑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ru-RU" alt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 altLang="en-US" sz="2000" i="1" dirty="0">
                                <a:latin typeface="Cambria Math" panose="02040503050406030204" pitchFamily="18" charset="0"/>
                              </a:rPr>
                              <m:t>𝑠𝑒𝑎𝑠𝑜𝑛𝑎𝑙</m:t>
                            </m:r>
                            <m:d>
                              <m:dPr>
                                <m:ctrlPr>
                                  <a:rPr lang="en-US" alt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en-US" sz="20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nary>
                      </m:e>
                    </m:d>
                    <m:r>
                      <a:rPr lang="en-US" altLang="en-US" sz="2000" b="0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en-US" sz="2000" b="0" i="1" dirty="0" smtClean="0">
                        <a:latin typeface="Cambria Math" panose="02040503050406030204" pitchFamily="18" charset="0"/>
                      </a:rPr>
                      <m:t>𝑟𝑒𝑠𝑖𝑑𝑢𝑎𝑙</m:t>
                    </m:r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sz="20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en-US" sz="2000" i="1" dirty="0"/>
                  <a:t>). </a:t>
                </a:r>
                <a:endParaRPr lang="en-US" altLang="en-US" sz="2000" i="1" dirty="0" smtClean="0"/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000" i="1" dirty="0" smtClean="0"/>
                  <a:t>Могут быть и более сложные модели</a:t>
                </a:r>
                <a:endParaRPr lang="en-US" altLang="en-US" sz="2000" i="1" dirty="0"/>
              </a:p>
              <a:p>
                <a:pPr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2000" dirty="0">
                  <a:latin typeface="Open Sans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CDB8E57-5CA8-497C-990E-C304F4FB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9550" y="1114427"/>
                <a:ext cx="11525249" cy="5545789"/>
              </a:xfrm>
              <a:blipFill>
                <a:blip r:embed="rId2"/>
                <a:stretch>
                  <a:fillRect l="-6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7EF2B8-3D80-AB22-FA4B-F0655B9E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CA1DAD-475E-4D0B-A20A-17535DDD4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43935"/>
            <a:ext cx="65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209550" y="6290884"/>
            <a:ext cx="50654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https://openforecast.org/adam/tsComponents.html</a:t>
            </a:r>
          </a:p>
        </p:txBody>
      </p:sp>
    </p:spTree>
    <p:extLst>
      <p:ext uri="{BB962C8B-B14F-4D97-AF65-F5344CB8AC3E}">
        <p14:creationId xmlns:p14="http://schemas.microsoft.com/office/powerpoint/2010/main" val="2605955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070" y="197786"/>
            <a:ext cx="9849485" cy="1325563"/>
          </a:xfrm>
        </p:spPr>
        <p:txBody>
          <a:bodyPr>
            <a:normAutofit/>
          </a:bodyPr>
          <a:lstStyle/>
          <a:p>
            <a:r>
              <a:rPr lang="en-US" b="1" dirty="0" smtClean="0"/>
              <a:t>TS-</a:t>
            </a:r>
            <a:r>
              <a:rPr lang="ru-RU" b="1" dirty="0" smtClean="0"/>
              <a:t>Модели </a:t>
            </a:r>
            <a:r>
              <a:rPr lang="ru-RU" b="1" dirty="0"/>
              <a:t>временных </a:t>
            </a:r>
            <a:r>
              <a:rPr lang="ru-RU" b="1" dirty="0" smtClean="0"/>
              <a:t>рядов </a:t>
            </a:r>
            <a:r>
              <a:rPr lang="en-US" b="1" dirty="0" smtClean="0"/>
              <a:t>Mixing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DB8E57-5CA8-497C-990E-C304F4FB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114427"/>
            <a:ext cx="11525249" cy="554578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>ВР - </a:t>
            </a:r>
            <a:r>
              <a:rPr lang="ru-RU" sz="2400" dirty="0"/>
              <a:t>наблюдения не независимы (не </a:t>
            </a:r>
            <a:r>
              <a:rPr lang="ru-RU" sz="2400" dirty="0" err="1"/>
              <a:t>i.i.d</a:t>
            </a:r>
            <a:r>
              <a:rPr lang="ru-RU" sz="2400" dirty="0"/>
              <a:t>.). </a:t>
            </a:r>
            <a:endParaRPr lang="ru-RU" sz="2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/>
              <a:t>	</a:t>
            </a:r>
            <a:r>
              <a:rPr lang="ru-RU" sz="2400" dirty="0" smtClean="0"/>
              <a:t>Между </a:t>
            </a:r>
            <a:r>
              <a:rPr lang="ru-RU" sz="2400" dirty="0"/>
              <a:t>близкими по времени точками существует сильная зависимость. </a:t>
            </a:r>
            <a:endParaRPr lang="ru-RU" sz="2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>Классическая </a:t>
            </a:r>
            <a:r>
              <a:rPr lang="ru-RU" sz="2400" dirty="0"/>
              <a:t>статистическая теория обучения </a:t>
            </a:r>
            <a:r>
              <a:rPr lang="ru-RU" sz="2400" dirty="0" smtClean="0"/>
              <a:t>для </a:t>
            </a:r>
            <a:r>
              <a:rPr lang="en-US" sz="2400" dirty="0" smtClean="0"/>
              <a:t>TS </a:t>
            </a:r>
            <a:r>
              <a:rPr lang="ru-RU" sz="2400" dirty="0" smtClean="0"/>
              <a:t>моделей часто </a:t>
            </a:r>
            <a:r>
              <a:rPr lang="ru-RU" sz="2400" dirty="0"/>
              <a:t>требует независимости, поэтому для зависимых данных вводят условия перемешивания (</a:t>
            </a:r>
            <a:r>
              <a:rPr lang="ru-RU" sz="2400" dirty="0" err="1"/>
              <a:t>mixing</a:t>
            </a:r>
            <a:r>
              <a:rPr lang="ru-RU" sz="2400" dirty="0"/>
              <a:t> </a:t>
            </a:r>
            <a:r>
              <a:rPr lang="ru-RU" sz="2400" dirty="0" err="1"/>
              <a:t>conditions</a:t>
            </a:r>
            <a:r>
              <a:rPr lang="ru-RU" sz="2400" dirty="0"/>
              <a:t>). </a:t>
            </a:r>
            <a:endParaRPr lang="ru-RU" sz="2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>Они </a:t>
            </a:r>
            <a:r>
              <a:rPr lang="ru-RU" sz="2400" dirty="0"/>
              <a:t>измеряют, насколько быстро зависимость между прошлым и будущим ослабевает со временем.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l-GR" sz="2400" b="1" dirty="0"/>
              <a:t>α-</a:t>
            </a:r>
            <a:r>
              <a:rPr lang="en-US" sz="2400" b="1" dirty="0" smtClean="0"/>
              <a:t>mixing</a:t>
            </a:r>
            <a:r>
              <a:rPr lang="ru-RU" sz="2400" b="1" dirty="0" smtClean="0"/>
              <a:t> – быстрое затухание по экспоненциальном или полиномиальному закону (большинство наших процессов, полином на очень длинном горизонте)</a:t>
            </a:r>
            <a:r>
              <a:rPr lang="ru-RU" sz="2400" dirty="0" smtClean="0"/>
              <a:t/>
            </a:r>
            <a:br>
              <a:rPr lang="ru-RU" sz="2400" dirty="0" smtClean="0"/>
            </a:br>
            <a:r>
              <a:rPr lang="el-GR" sz="2400" dirty="0"/>
              <a:t>β-</a:t>
            </a:r>
            <a:r>
              <a:rPr lang="en-US" sz="2400" dirty="0" smtClean="0"/>
              <a:t>mixing</a:t>
            </a:r>
            <a:r>
              <a:rPr lang="ru-RU" sz="2400" dirty="0" smtClean="0"/>
              <a:t> – текстовые данные (Марковские цепи, линейное затухание)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l-GR" sz="2400" dirty="0"/>
              <a:t>φ-</a:t>
            </a:r>
            <a:r>
              <a:rPr lang="en-US" sz="2400" dirty="0" smtClean="0"/>
              <a:t>mixing</a:t>
            </a:r>
            <a:r>
              <a:rPr lang="ru-RU" sz="2400" dirty="0" smtClean="0"/>
              <a:t> – без </a:t>
            </a:r>
            <a:r>
              <a:rPr lang="en-US" sz="2400" dirty="0" smtClean="0"/>
              <a:t> </a:t>
            </a:r>
            <a:r>
              <a:rPr lang="ru-RU" sz="2400" dirty="0" smtClean="0"/>
              <a:t>затухания (таблицы, изображения)</a:t>
            </a:r>
            <a:endParaRPr lang="en-US" sz="2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sz="2400" dirty="0" smtClean="0"/>
              <a:t/>
            </a:r>
            <a:br>
              <a:rPr lang="ru-RU" sz="2400" dirty="0" smtClean="0"/>
            </a:br>
            <a:endParaRPr lang="ru-RU" altLang="en-US" sz="2200" i="1" dirty="0" smtClean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7EF2B8-3D80-AB22-FA4B-F0655B9E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CA1DAD-475E-4D0B-A20A-17535DDD4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43935"/>
            <a:ext cx="65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2496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825" y="454025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 </a:t>
            </a:r>
            <a:br>
              <a:rPr lang="ru-RU" sz="4000" b="1" dirty="0"/>
            </a:br>
            <a:r>
              <a:rPr lang="ru-RU" sz="4000" dirty="0"/>
              <a:t>SES (</a:t>
            </a:r>
            <a:r>
              <a:rPr lang="ru-RU" sz="4000" dirty="0" err="1"/>
              <a:t>Single</a:t>
            </a:r>
            <a:r>
              <a:rPr lang="ru-RU" sz="4000" dirty="0"/>
              <a:t> </a:t>
            </a:r>
            <a:r>
              <a:rPr lang="ru-RU" sz="4000" dirty="0" err="1"/>
              <a:t>Exponential</a:t>
            </a:r>
            <a:r>
              <a:rPr lang="ru-RU" sz="4000" dirty="0"/>
              <a:t> </a:t>
            </a:r>
            <a:r>
              <a:rPr lang="en-US" sz="4000" dirty="0"/>
              <a:t>Smoothing</a:t>
            </a:r>
            <a:r>
              <a:rPr lang="ru-RU" sz="4000" dirty="0"/>
              <a:t>)</a:t>
            </a:r>
            <a:r>
              <a:rPr lang="en-US" dirty="0"/>
              <a:t/>
            </a:r>
            <a:br>
              <a:rPr lang="en-US" dirty="0"/>
            </a:b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7650" y="1113910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Если временной ряд преимущественно представляет собой тренд, то его можно представить как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  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где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это параметр сглаживания</a:t>
                </a:r>
                <a:r>
                  <a:rPr lang="en-US" sz="2200" dirty="0"/>
                  <a:t>;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предсказанное значение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частично истинное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, частично результат предсказания</a:t>
                </a:r>
                <a14:m>
                  <m:oMath xmlns:m="http://schemas.openxmlformats.org/officeDocument/2006/math"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/>
                  <a:t>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зависит от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200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−2 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−4 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  т.д.)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/>
                  <a:t>Дополнительно можно предсказать разброс (СКО) модели </a:t>
                </a:r>
                <a:r>
                  <a:rPr lang="en-US" sz="2400" dirty="0"/>
                  <a:t>SES</a:t>
                </a:r>
                <a:endParaRPr lang="ru-RU" sz="24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7650" y="1113910"/>
                <a:ext cx="11791949" cy="5502274"/>
              </a:xfrm>
              <a:blipFill>
                <a:blip r:embed="rId3"/>
                <a:stretch>
                  <a:fillRect l="-827" t="-776" r="-5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674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7773" r="7937" b="2213"/>
          <a:stretch/>
        </p:blipFill>
        <p:spPr bwMode="auto">
          <a:xfrm>
            <a:off x="5755840" y="3470739"/>
            <a:ext cx="5731311" cy="3048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4792067" y="6462266"/>
            <a:ext cx="66950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330377" y="6519446"/>
            <a:ext cx="29747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https://otexts.com/fpp2/ses.html</a:t>
            </a:r>
            <a:endParaRPr lang="ru-RU" sz="1600" dirty="0"/>
          </a:p>
        </p:txBody>
      </p:sp>
      <p:pic>
        <p:nvPicPr>
          <p:cNvPr id="12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13" t="11080" r="79045" b="70833"/>
          <a:stretch/>
        </p:blipFill>
        <p:spPr bwMode="auto">
          <a:xfrm>
            <a:off x="5581650" y="3433327"/>
            <a:ext cx="1581846" cy="1637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48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92" y="65644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сглаживания. Замечания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8147" y="725484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100" dirty="0"/>
                  <a:t>Влияние предыдущих значений на предсказание экспоненциально убывает с коэффициентом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ru-RU" sz="2100" dirty="0"/>
                  <a:t> </a:t>
                </a:r>
                <a:r>
                  <a:rPr lang="en-US" sz="2100" dirty="0"/>
                  <a:t>- </a:t>
                </a:r>
                <a:r>
                  <a:rPr lang="ru-RU" sz="2100" dirty="0"/>
                  <a:t>значение определяется последними шагами (самыми свежими значениями ВР),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→0 </m:t>
                    </m:r>
                  </m:oMath>
                </a14:m>
                <a:r>
                  <a:rPr lang="ru-RU" sz="2100" dirty="0"/>
                  <a:t>- значение определяется всеми предыдущим значениями ВР (сильное сглаживание)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100" dirty="0"/>
                  <a:t>Таким образом влияние «давних» шумов и выбросов сглаживается </a:t>
                </a:r>
                <a:endParaRPr lang="en-US" sz="2100" dirty="0"/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ru-RU" sz="2100" dirty="0"/>
                  <a:t>Эмпирическое правило для оптимального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ru-RU" sz="2100" dirty="0"/>
                  <a:t>:</a:t>
                </a:r>
              </a:p>
              <a:p>
                <a:pPr marL="285750" indent="-285750" algn="just"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ru-RU" sz="210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ru-RU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100" dirty="0">
                            <a:latin typeface="Cambria Math" panose="02040503050406030204" pitchFamily="18" charset="0"/>
                          </a:rPr>
                          <m:t>0,0.3</m:t>
                        </m:r>
                      </m:e>
                    </m:d>
                    <m:r>
                      <a:rPr lang="ru-RU" sz="2100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100" dirty="0"/>
                  <a:t>ВР стационарен (чем больше учтем данных, тем точнее);</a:t>
                </a:r>
              </a:p>
              <a:p>
                <a:pPr marL="285750" indent="-285750" algn="just">
                  <a:lnSpc>
                    <a:spcPct val="100000"/>
                  </a:lnSpc>
                  <a:spcBef>
                    <a:spcPts val="3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100" dirty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p>
                        <m:r>
                          <a:rPr lang="en-US" sz="210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ru-RU" sz="210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ru-RU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100" dirty="0">
                            <a:latin typeface="Cambria Math" panose="02040503050406030204" pitchFamily="18" charset="0"/>
                          </a:rPr>
                          <m:t>0.3,1</m:t>
                        </m:r>
                      </m:e>
                    </m:d>
                    <m:r>
                      <a:rPr lang="ru-RU" sz="2100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100" dirty="0"/>
                  <a:t>ВР нестационарный, применение </a:t>
                </a:r>
                <a:r>
                  <a:rPr lang="en-US" sz="2100" dirty="0"/>
                  <a:t>SES </a:t>
                </a:r>
                <a:r>
                  <a:rPr lang="ru-RU" sz="2100" dirty="0"/>
                  <a:t>может привести к потере информации или смещению.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1700" dirty="0"/>
                  <a:t>Напр. мы не хотим чтобы праздники влияли на продажи товаров в магазине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endParaRPr lang="ru-RU" sz="1700" dirty="0"/>
              </a:p>
              <a:p>
                <a:pPr marL="0" indent="0" algn="just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100" dirty="0"/>
                  <a:t>Модель работает с данными с очень медленными изменениями относительно периода</a:t>
                </a:r>
              </a:p>
              <a:p>
                <a:pPr>
                  <a:lnSpc>
                    <a:spcPct val="110000"/>
                  </a:lnSpc>
                  <a:spcBef>
                    <a:spcPts val="300"/>
                  </a:spcBef>
                </a:pPr>
                <a:endParaRPr lang="ru-RU" sz="2600" dirty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8147" y="725484"/>
                <a:ext cx="11791949" cy="5502274"/>
              </a:xfrm>
              <a:blipFill>
                <a:blip r:embed="rId3"/>
                <a:stretch>
                  <a:fillRect l="-620" t="-664" r="-62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674" name="Picture 2" descr="image.png">
            <a:extLst>
              <a:ext uri="{FF2B5EF4-FFF2-40B4-BE49-F238E27FC236}">
                <a16:creationId xmlns:a16="http://schemas.microsoft.com/office/drawing/2014/main" id="{C9C3A7CA-ABAE-4A48-93DC-A97D24BFC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7" t="7773" r="7937" b="2213"/>
          <a:stretch/>
        </p:blipFill>
        <p:spPr bwMode="auto">
          <a:xfrm>
            <a:off x="6710633" y="4366260"/>
            <a:ext cx="4429807" cy="235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98147" y="6227758"/>
            <a:ext cx="66950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330377" y="6519446"/>
            <a:ext cx="29747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https://otexts.com/fpp2/ses.html</a:t>
            </a:r>
            <a:endParaRPr lang="ru-RU" sz="1600" dirty="0"/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 txBox="1">
            <a:spLocks/>
          </p:cNvSpPr>
          <p:nvPr/>
        </p:nvSpPr>
        <p:spPr>
          <a:xfrm>
            <a:off x="247650" y="3098285"/>
            <a:ext cx="5874142" cy="3363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300"/>
              </a:spcBef>
              <a:buNone/>
            </a:pP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363635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252" y="10385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 экспоненциального сглаживания. Замечания 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182285" y="681882"/>
                <a:ext cx="11608218" cy="32085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</a:pPr>
                <a:r>
                  <a:rPr lang="ru-RU" sz="2000" dirty="0"/>
                  <a:t>Иногда коэффициенты модель меняют в процессе работы модели – </a:t>
                </a:r>
                <a:r>
                  <a:rPr lang="ru-RU" sz="2000" b="1" dirty="0"/>
                  <a:t>адаптивное сглаживание</a:t>
                </a:r>
                <a:endParaRPr lang="en-US" sz="2000" b="1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По сути </a:t>
                </a:r>
                <a:r>
                  <a:rPr lang="en-US" sz="2000" dirty="0"/>
                  <a:t>SES – </a:t>
                </a:r>
                <a:r>
                  <a:rPr lang="ru-RU" sz="2000" dirty="0"/>
                  <a:t>фильтрация тренда! Если во ВР есть сезонность ее можно убрать </a:t>
                </a:r>
                <a:r>
                  <a:rPr lang="en-US" sz="2000" dirty="0"/>
                  <a:t>STL </a:t>
                </a:r>
                <a:r>
                  <a:rPr lang="ru-RU" sz="2000" dirty="0"/>
                  <a:t>и работать только с трендом </a:t>
                </a:r>
                <a:r>
                  <a:rPr lang="en-US" sz="2000" dirty="0"/>
                  <a:t>(</a:t>
                </a:r>
                <a:r>
                  <a:rPr lang="en-US" sz="2000" dirty="0" err="1"/>
                  <a:t>Deseasonalizer</a:t>
                </a:r>
                <a:r>
                  <a:rPr lang="en-US" sz="2000" dirty="0"/>
                  <a:t>)</a:t>
                </a:r>
                <a:r>
                  <a:rPr lang="ru-RU" sz="2000" dirty="0"/>
                  <a:t>.</a:t>
                </a:r>
                <a:endParaRPr lang="en-US" sz="2000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SES – </a:t>
                </a:r>
                <a:r>
                  <a:rPr lang="ru-RU" sz="2000" dirty="0"/>
                  <a:t>предсказанный по 1 отсчету, но фильтрованный </a:t>
                </a:r>
                <a:r>
                  <a:rPr lang="en-US" sz="2000" dirty="0"/>
                  <a:t>SES </a:t>
                </a:r>
                <a:r>
                  <a:rPr lang="ru-RU" sz="2000" dirty="0"/>
                  <a:t>тренд можно предсказывать другими методами, например регрессией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/>
                  <a:t> не определен – можно взять комбинацию нескольких предсказаний (напр.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=0.2,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8)</m:t>
                    </m:r>
                  </m:oMath>
                </a14:m>
                <a:endParaRPr lang="en-US" sz="2000" b="0" dirty="0"/>
              </a:p>
              <a:p>
                <a:pPr algn="just">
                  <a:spcBef>
                    <a:spcPts val="300"/>
                  </a:spcBef>
                </a:pPr>
                <a:r>
                  <a:rPr lang="ru-RU" sz="2000" dirty="0"/>
                  <a:t>Комбинация </a:t>
                </a:r>
                <a:r>
                  <a:rPr lang="en-US" sz="2000" dirty="0" err="1"/>
                  <a:t>Deseasonalizer</a:t>
                </a:r>
                <a:r>
                  <a:rPr lang="ru-RU" sz="2000" dirty="0"/>
                  <a:t>+Короткий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=0.8</m:t>
                    </m:r>
                  </m:oMath>
                </a14:m>
                <a:r>
                  <a:rPr lang="en-US" sz="2000" dirty="0"/>
                  <a:t>)</a:t>
                </a:r>
                <a:r>
                  <a:rPr lang="ru-RU" sz="2000" dirty="0"/>
                  <a:t> и быстрый </a:t>
                </a:r>
                <a:r>
                  <a:rPr lang="en-US" sz="2000" dirty="0"/>
                  <a:t>SES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sz="2000" b="0" dirty="0"/>
                  <a:t>) + </a:t>
                </a:r>
                <a:r>
                  <a:rPr lang="ru-RU" sz="2000" b="0" dirty="0"/>
                  <a:t>регрессии для предсказаний  - называется метод </a:t>
                </a:r>
                <a:r>
                  <a:rPr lang="en-US" sz="2000" b="1" dirty="0"/>
                  <a:t>Theta Forecaster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Если комбинация – это скользящее среднее, </a:t>
                </a:r>
                <a:r>
                  <a:rPr lang="en-US" sz="2000" dirty="0" err="1"/>
                  <a:t>ThetaOptimized</a:t>
                </a:r>
                <a:r>
                  <a:rPr lang="en-US" sz="2000" dirty="0"/>
                  <a:t> Forecaster</a:t>
                </a:r>
              </a:p>
              <a:p>
                <a:pPr marL="800100" lvl="1" indent="-342900" algn="just"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Линий </a:t>
                </a:r>
                <a:r>
                  <a:rPr lang="en-US" sz="2000" dirty="0"/>
                  <a:t>Theta</a:t>
                </a:r>
                <a:r>
                  <a:rPr lang="ru-RU" sz="2000" dirty="0"/>
                  <a:t> может быт больше чем 2</a:t>
                </a:r>
                <a:endParaRPr lang="ru-RU" sz="2000" b="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85" y="681882"/>
                <a:ext cx="11608218" cy="3208571"/>
              </a:xfrm>
              <a:prstGeom prst="rect">
                <a:avLst/>
              </a:prstGeom>
              <a:blipFill>
                <a:blip r:embed="rId3"/>
                <a:stretch>
                  <a:fillRect l="-578" t="-1141" r="-525" b="-24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927407" y="6276203"/>
            <a:ext cx="90773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https://education.yandex.ru/handbook/ml/article/analitika-vremennyh-ryadov</a:t>
            </a:r>
          </a:p>
        </p:txBody>
      </p:sp>
      <p:sp>
        <p:nvSpPr>
          <p:cNvPr id="13" name="AutoShape 2" descr="adaptiv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599" y="3826337"/>
            <a:ext cx="5104904" cy="2449478"/>
          </a:xfrm>
          <a:prstGeom prst="rect">
            <a:avLst/>
          </a:prstGeom>
        </p:spPr>
      </p:pic>
      <p:pic>
        <p:nvPicPr>
          <p:cNvPr id="1026" name="Picture 2" descr="https://fable.tidyverts.org/reference/THETA-1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908512"/>
            <a:ext cx="4182157" cy="2586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307975" y="6376728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https://nixtlaverse.nixtla.io/statsforecast/docs/models/optimizedtheta.html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0" y="656561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https://www.statsmodels.org/dev/examples/notebooks/generated/theta-model.html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604726" y="3896473"/>
            <a:ext cx="17512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Theta Forecaster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914119" y="651561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https://www.sciencedirect.com/science/article/pii/S0169207000000662</a:t>
            </a:r>
          </a:p>
        </p:txBody>
      </p:sp>
    </p:spTree>
    <p:extLst>
      <p:ext uri="{BB962C8B-B14F-4D97-AF65-F5344CB8AC3E}">
        <p14:creationId xmlns:p14="http://schemas.microsoft.com/office/powerpoint/2010/main" val="36479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6106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</a:t>
            </a:r>
            <a:r>
              <a:rPr lang="en-US" sz="4000" b="1" dirty="0"/>
              <a:t> </a:t>
            </a:r>
            <a:r>
              <a:rPr lang="ru-RU" sz="4000" b="1" dirty="0" err="1"/>
              <a:t>Холта</a:t>
            </a:r>
            <a:r>
              <a:rPr lang="ru-RU" sz="4000" b="1" dirty="0"/>
              <a:t> - двойное экспоненциальное сглаживание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Пусть необходим прогноз на </a:t>
                </a:r>
                <a:r>
                  <a:rPr lang="en-US" sz="2200" dirty="0"/>
                  <a:t>h </a:t>
                </a:r>
                <a:r>
                  <a:rPr lang="ru-RU" sz="2200" dirty="0"/>
                  <a:t>(горизонт предсказания) шагов для несезонных данных. В прогнозе зададим текущий уровень (среднее значение прогноза) и тренд (изменение текущего уровня</a:t>
                </a:r>
                <a:r>
                  <a:rPr lang="en-US" sz="2200" dirty="0"/>
                  <a:t>, </a:t>
                </a:r>
                <a:r>
                  <a:rPr lang="ru-RU" sz="2200" dirty="0"/>
                  <a:t>чтобы был горизонт предсказания) как линейную систему (уровень меняется не сильно)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nor/>
                                </m:rPr>
                                <a:rPr lang="en-US" sz="2200" dirty="0"/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𝑙𝑒𝑣𝑒𝑙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𝑡𝑟𝑒𝑛𝑑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горизонт предсказания;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/>
                  <a:t> – параметр сглаживания тренда;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2000" dirty="0"/>
                  <a:t> – параметр сглаживания уровня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  <a:blipFill>
                <a:blip r:embed="rId3"/>
                <a:stretch>
                  <a:fillRect l="-672" t="-14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0475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https://otexts.com/fpp2/holt.html</a:t>
            </a:r>
            <a:endParaRPr lang="ru-RU" sz="1600" dirty="0"/>
          </a:p>
        </p:txBody>
      </p:sp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" t="4901" r="7662"/>
          <a:stretch/>
        </p:blipFill>
        <p:spPr bwMode="auto">
          <a:xfrm>
            <a:off x="6085653" y="3380450"/>
            <a:ext cx="5772150" cy="32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26957" y="3536273"/>
                <a:ext cx="5666554" cy="175432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ru-RU" dirty="0"/>
                  <a:t>В модели 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ru-RU" dirty="0"/>
                  <a:t>уровень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dirty="0"/>
                  <a:t> зависит от истинного значения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 </a:t>
                </a:r>
                <a:br>
                  <a:rPr lang="ru-RU" dirty="0"/>
                </a:br>
                <a:r>
                  <a:rPr lang="ru-RU" dirty="0"/>
                  <a:t>(см. парам.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SES</a:t>
                </a:r>
                <a:r>
                  <a:rPr lang="ru-RU" dirty="0"/>
                  <a:t>)</a:t>
                </a:r>
                <a:endParaRPr lang="en-US" dirty="0"/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ru-RU" dirty="0"/>
                  <a:t>Изменение уровня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dirty="0"/>
                  <a:t> в каждый момент времени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∆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en-US" dirty="0"/>
                  <a:t> -</a:t>
                </a:r>
                <a:r>
                  <a:rPr lang="ru-RU" dirty="0"/>
                  <a:t> считаем небольшим (условно линейным), </a:t>
                </a:r>
                <a:r>
                  <a:rPr lang="en-US" dirty="0"/>
                  <a:t/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r>
                  <a:rPr lang="ru-RU" b="0" dirty="0">
                    <a:solidFill>
                      <a:schemeClr val="tx1"/>
                    </a:solidFill>
                    <a:effectLst/>
                  </a:rPr>
                  <a:t> - Зависит от сглаженного изменения уровня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β</m:t>
                    </m:r>
                  </m:oMath>
                </a14:m>
                <a:r>
                  <a:rPr lang="ru-RU" b="0" dirty="0">
                    <a:solidFill>
                      <a:schemeClr val="tx1"/>
                    </a:solidFill>
                    <a:effectLst/>
                  </a:rPr>
                  <a:t>)  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957" y="3536273"/>
                <a:ext cx="5666554" cy="1754326"/>
              </a:xfrm>
              <a:prstGeom prst="rect">
                <a:avLst/>
              </a:prstGeom>
              <a:blipFill>
                <a:blip r:embed="rId5"/>
                <a:stretch>
                  <a:fillRect l="-860" t="-1736" r="-860" b="-451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44" t="11658" r="9785" b="70883"/>
          <a:stretch/>
        </p:blipFill>
        <p:spPr bwMode="auto">
          <a:xfrm>
            <a:off x="10011595" y="3445869"/>
            <a:ext cx="2038350" cy="159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598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61069"/>
            <a:ext cx="11277600" cy="80645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/>
              <a:t>Модель</a:t>
            </a:r>
            <a:r>
              <a:rPr lang="en-US" sz="4000" b="1" dirty="0"/>
              <a:t> </a:t>
            </a:r>
            <a:r>
              <a:rPr lang="ru-RU" sz="4000" b="1" dirty="0" err="1"/>
              <a:t>Холта</a:t>
            </a:r>
            <a:r>
              <a:rPr lang="ru-RU" sz="4000" b="1" dirty="0"/>
              <a:t> - двойное экспоненциальное сглаживание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ru-RU" sz="2400" dirty="0">
                    <a:latin typeface="__YSText_8fb396"/>
                  </a:rPr>
                  <a:t>Могут быть также </a:t>
                </a:r>
                <a:endParaRPr lang="en-US" sz="2400" dirty="0">
                  <a:latin typeface="__YSText_8fb396"/>
                </a:endParaRPr>
              </a:p>
              <a:p>
                <a:pPr algn="just"/>
                <a:r>
                  <a:rPr lang="ru-RU" sz="2400" dirty="0">
                    <a:latin typeface="__YSText_8fb396"/>
                  </a:rPr>
                  <a:t>мультипликативная модель </a:t>
                </a:r>
                <a:r>
                  <a:rPr lang="ru-RU" sz="2400" dirty="0" err="1">
                    <a:latin typeface="__YSText_8fb396"/>
                  </a:rPr>
                  <a:t>Холат</a:t>
                </a:r>
                <a:r>
                  <a:rPr lang="ru-RU" sz="2400" dirty="0">
                    <a:latin typeface="__YSText_8fb396"/>
                  </a:rPr>
                  <a:t> и модель </a:t>
                </a:r>
                <a:r>
                  <a:rPr lang="ru-RU" sz="2400" dirty="0" err="1">
                    <a:latin typeface="__YSText_8fb396"/>
                  </a:rPr>
                  <a:t>Холта</a:t>
                </a:r>
                <a:r>
                  <a:rPr lang="ru-RU" sz="2400" dirty="0">
                    <a:latin typeface="__YSText_8fb396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endParaRPr lang="en-US" sz="2400" dirty="0">
                  <a:latin typeface="__YSText_8fb396"/>
                </a:endParaRPr>
              </a:p>
              <a:p>
                <a:pPr algn="just"/>
                <a:r>
                  <a:rPr lang="ru-RU" sz="2400" dirty="0">
                    <a:latin typeface="__YSText_8fb396"/>
                  </a:rPr>
                  <a:t> с затухающим трендом</a:t>
                </a:r>
                <a:endParaRPr lang="en-US" sz="2400" dirty="0">
                  <a:latin typeface="__YSText_8fb396"/>
                </a:endParaRPr>
              </a:p>
              <a:p>
                <a:pPr marL="0" indent="0" algn="just">
                  <a:buNone/>
                </a:pPr>
                <a:r>
                  <a:rPr lang="en-US" sz="2400" dirty="0">
                    <a:latin typeface="__YSText_8fb396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b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</m:den>
                    </m:f>
                  </m:oMath>
                </a14:m>
                <a:r>
                  <a:rPr lang="en-US" sz="2400" dirty="0">
                    <a:latin typeface="__YSText_8fb396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</m:sSubSup>
                  </m:oMath>
                </a14:m>
                <a:r>
                  <a:rPr lang="en-US" sz="2400" dirty="0">
                    <a:latin typeface="__YSText_8fb396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sz="2400" dirty="0">
                    <a:latin typeface="__YSText_8fb396"/>
                  </a:rPr>
                  <a:t> – </a:t>
                </a:r>
                <a:r>
                  <a:rPr lang="ru-RU" sz="2400" dirty="0">
                    <a:latin typeface="__YSText_8fb396"/>
                  </a:rPr>
                  <a:t>параметр затухания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∈(0.8,0.98)</m:t>
                    </m:r>
                  </m:oMath>
                </a14:m>
                <a:endParaRPr lang="ru-RU" sz="2400" dirty="0">
                  <a:latin typeface="__YSText_8fb396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739" y="785136"/>
                <a:ext cx="11791949" cy="5502274"/>
              </a:xfrm>
              <a:blipFill>
                <a:blip r:embed="rId3"/>
                <a:stretch>
                  <a:fillRect l="-672" t="-14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https://www.stat.berkeley.edu/~ryantibs/timeseries-f23/</a:t>
            </a:r>
            <a:endParaRPr lang="ru-RU" sz="16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0475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/>
              <a:t>https://otexts.com/fpp2/holt.html</a:t>
            </a:r>
            <a:endParaRPr lang="ru-RU" sz="1600" dirty="0"/>
          </a:p>
        </p:txBody>
      </p:sp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" t="4901" r="7662"/>
          <a:stretch/>
        </p:blipFill>
        <p:spPr bwMode="auto">
          <a:xfrm>
            <a:off x="6085653" y="3380450"/>
            <a:ext cx="5772150" cy="3235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5E01BEA3-B247-4402-9AF5-2CE64C8576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44" t="11658" r="9785" b="70883"/>
          <a:stretch/>
        </p:blipFill>
        <p:spPr bwMode="auto">
          <a:xfrm>
            <a:off x="10011595" y="3445869"/>
            <a:ext cx="2038350" cy="1590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Прямоугольник 12"/>
          <p:cNvSpPr/>
          <p:nvPr/>
        </p:nvSpPr>
        <p:spPr>
          <a:xfrm>
            <a:off x="549863" y="5066802"/>
            <a:ext cx="565785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__YSText_8fb396"/>
              </a:rPr>
              <a:t>Модели используют на коротком горизонте, напр. продажи в несколько месяцев, требует предсказать следующий месяц</a:t>
            </a:r>
            <a:endParaRPr lang="ru-RU" b="0" dirty="0">
              <a:solidFill>
                <a:schemeClr val="tx1"/>
              </a:solidFill>
              <a:effectLst/>
              <a:latin typeface="__YSText_8fb396"/>
            </a:endParaRPr>
          </a:p>
        </p:txBody>
      </p:sp>
    </p:spTree>
    <p:extLst>
      <p:ext uri="{BB962C8B-B14F-4D97-AF65-F5344CB8AC3E}">
        <p14:creationId xmlns:p14="http://schemas.microsoft.com/office/powerpoint/2010/main" val="1411614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Модель </a:t>
            </a:r>
            <a:r>
              <a:rPr lang="en-US" sz="3200" b="1" dirty="0"/>
              <a:t>Holt</a:t>
            </a:r>
            <a:r>
              <a:rPr lang="ru-RU" sz="3200" b="1" dirty="0"/>
              <a:t>-</a:t>
            </a:r>
            <a:r>
              <a:rPr lang="en-US" sz="3200" b="1" dirty="0"/>
              <a:t>Winters </a:t>
            </a:r>
            <a:r>
              <a:rPr lang="ru-RU" sz="3200" b="1" dirty="0"/>
              <a:t> - тройное экспоненциальное сглаживание</a:t>
            </a:r>
            <a:endParaRPr lang="ru-RU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6957" y="817117"/>
                <a:ext cx="11791949" cy="55022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Пусть существуют быстрые изменения с известным периодом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(сезонность). Тогда для точек одной фазы (удаленных на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) </a:t>
                </a:r>
                <a:r>
                  <a:rPr lang="ru-RU" sz="2200" dirty="0"/>
                  <a:t>введем компоненты сглаживания.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∆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nor/>
                                </m:rPr>
                                <a:rPr lang="en-US" sz="2200" dirty="0"/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𝑙𝑒𝑣𝑒𝑙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  (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𝑡𝑟𝑒𝑛𝑑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ru-RU" sz="2000" dirty="0"/>
                  <a:t> – коэффициент сезонного сглаживания,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ru-RU" sz="2000" dirty="0"/>
                  <a:t>период сезонность,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sz="2000" dirty="0"/>
                  <a:t> – смещение относительного последнего полного сезона в данных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6957" y="817117"/>
                <a:ext cx="11791949" cy="5502274"/>
              </a:xfrm>
              <a:blipFill>
                <a:blip r:embed="rId3"/>
                <a:stretch>
                  <a:fillRect l="-672" t="-13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31127" y="6488668"/>
            <a:ext cx="372762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https://otexts.com/fpp2/holt-winters.html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46840" y="3826401"/>
            <a:ext cx="5666554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dirty="0"/>
              <a:t>В модели Сезонная компонента – это текущее значение без уровня и предыдущая сезонная компонента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/>
              <a:t>Сезон – сравнительно быстрые изменения с одинаковым периодом!</a:t>
            </a:r>
            <a:endParaRPr lang="en-US" sz="20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/>
              <a:t>Могут быть также мультипликативная и затухающая модели тренда и сезонности.</a:t>
            </a:r>
          </a:p>
          <a:p>
            <a:pPr algn="just"/>
            <a:r>
              <a:rPr lang="ru-RU" sz="2000" dirty="0"/>
              <a:t>	напр. спрос на </a:t>
            </a:r>
            <a:r>
              <a:rPr lang="ru-RU" sz="2000" dirty="0" err="1"/>
              <a:t>электроэенерги</a:t>
            </a:r>
            <a:r>
              <a:rPr lang="ru-RU" sz="2000" dirty="0"/>
              <a:t>.</a:t>
            </a:r>
          </a:p>
          <a:p>
            <a:pPr algn="just"/>
            <a:endParaRPr lang="ru-RU" sz="1600" b="0" i="1" dirty="0">
              <a:solidFill>
                <a:schemeClr val="tx1"/>
              </a:solidFill>
              <a:effectLst/>
              <a:latin typeface="__YSText_8fb396"/>
            </a:endParaRPr>
          </a:p>
        </p:txBody>
      </p:sp>
      <p:pic>
        <p:nvPicPr>
          <p:cNvPr id="14" name="Picture 2" descr="image.png">
            <a:extLst>
              <a:ext uri="{FF2B5EF4-FFF2-40B4-BE49-F238E27FC236}">
                <a16:creationId xmlns:a16="http://schemas.microsoft.com/office/drawing/2014/main" id="{02A694C1-DCCF-4974-B57F-8BFBFBCC1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7" t="8532" r="8717" b="6336"/>
          <a:stretch/>
        </p:blipFill>
        <p:spPr bwMode="auto">
          <a:xfrm>
            <a:off x="6133277" y="3416074"/>
            <a:ext cx="5734050" cy="296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.png">
            <a:extLst>
              <a:ext uri="{FF2B5EF4-FFF2-40B4-BE49-F238E27FC236}">
                <a16:creationId xmlns:a16="http://schemas.microsoft.com/office/drawing/2014/main" id="{02A694C1-DCCF-4974-B57F-8BFBFBCC1D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6" t="11915" r="10074" b="77683"/>
          <a:stretch/>
        </p:blipFill>
        <p:spPr bwMode="auto">
          <a:xfrm>
            <a:off x="9284584" y="3416073"/>
            <a:ext cx="2734322" cy="1298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338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6"/>
            <a:ext cx="11802295" cy="757854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Модель </a:t>
            </a:r>
            <a:r>
              <a:rPr lang="en-US" sz="3200" b="1" dirty="0"/>
              <a:t>Holt</a:t>
            </a:r>
            <a:r>
              <a:rPr lang="ru-RU" sz="3200" b="1" dirty="0"/>
              <a:t>-</a:t>
            </a:r>
            <a:r>
              <a:rPr lang="en-US" sz="3200" b="1" dirty="0"/>
              <a:t>Winters </a:t>
            </a:r>
            <a:r>
              <a:rPr lang="ru-RU" sz="3200" b="1" dirty="0"/>
              <a:t> - тройное экспоненциальное сглаживание</a:t>
            </a:r>
            <a:endParaRPr lang="ru-RU" sz="3600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226956" y="739410"/>
            <a:ext cx="6775824" cy="5595061"/>
          </a:xfrm>
        </p:spPr>
        <p:txBody>
          <a:bodyPr>
            <a:noAutofit/>
          </a:bodyPr>
          <a:lstStyle/>
          <a:p>
            <a:r>
              <a:rPr lang="en-US" sz="2100" dirty="0"/>
              <a:t>SES - </a:t>
            </a:r>
            <a:r>
              <a:rPr lang="ru-RU" sz="2100" dirty="0"/>
              <a:t>Для небольшого периода и одношагового прогноза.</a:t>
            </a:r>
          </a:p>
          <a:p>
            <a:pPr lvl="1"/>
            <a:r>
              <a:rPr lang="ru-RU" sz="2100" dirty="0"/>
              <a:t>Желательно, чтобы  данные были стационарны или очень медленно меняющиеся</a:t>
            </a:r>
          </a:p>
          <a:p>
            <a:pPr lvl="1"/>
            <a:r>
              <a:rPr lang="ru-RU" sz="2100" dirty="0"/>
              <a:t>Напр. 2 месяца, горизонт 1-2 дня.</a:t>
            </a:r>
          </a:p>
          <a:p>
            <a:r>
              <a:rPr lang="en-US" sz="2100" dirty="0"/>
              <a:t>Holt (DES) – </a:t>
            </a:r>
            <a:r>
              <a:rPr lang="ru-RU" sz="2100" dirty="0"/>
              <a:t>если преимущественно в данных тренд (медленные монотонные изменения).</a:t>
            </a:r>
          </a:p>
          <a:p>
            <a:pPr lvl="1"/>
            <a:r>
              <a:rPr lang="ru-RU" sz="2100" dirty="0"/>
              <a:t>Возможен многошаговый прогноз если поведение ВР монотонно. </a:t>
            </a:r>
          </a:p>
          <a:p>
            <a:pPr lvl="1"/>
            <a:r>
              <a:rPr lang="ru-RU" sz="2100" dirty="0"/>
              <a:t>Напр. 1 год, горизонт 1-4 недели</a:t>
            </a:r>
          </a:p>
          <a:p>
            <a:r>
              <a:rPr lang="en-US" sz="2100" dirty="0"/>
              <a:t>HW (TES) – </a:t>
            </a:r>
            <a:r>
              <a:rPr lang="ru-RU" sz="2100" dirty="0"/>
              <a:t>если данные имеют одну сезонность регулярного вида.</a:t>
            </a:r>
          </a:p>
          <a:p>
            <a:pPr lvl="1"/>
            <a:r>
              <a:rPr lang="ru-RU" sz="1700" dirty="0"/>
              <a:t>Возможен сложный</a:t>
            </a:r>
            <a:r>
              <a:rPr lang="en-US" sz="1700" dirty="0"/>
              <a:t> </a:t>
            </a:r>
            <a:r>
              <a:rPr lang="ru-RU" sz="1700" dirty="0"/>
              <a:t>(не </a:t>
            </a:r>
            <a:r>
              <a:rPr lang="ru-RU" sz="1700" dirty="0" err="1"/>
              <a:t>гаронический</a:t>
            </a:r>
            <a:r>
              <a:rPr lang="ru-RU" sz="1700" dirty="0"/>
              <a:t>) паттерн но с одним известным периодом</a:t>
            </a:r>
            <a:r>
              <a:rPr lang="en-US" sz="1700" dirty="0"/>
              <a:t> </a:t>
            </a:r>
            <a:r>
              <a:rPr lang="ru-RU" sz="1700" dirty="0"/>
              <a:t>(регулярная сезонность)</a:t>
            </a:r>
          </a:p>
          <a:p>
            <a:pPr lvl="1"/>
            <a:r>
              <a:rPr lang="ru-RU" sz="2100" dirty="0"/>
              <a:t> напр. 10 лет, горизонт 1-2 месяца</a:t>
            </a:r>
          </a:p>
        </p:txBody>
      </p:sp>
      <p:pic>
        <p:nvPicPr>
          <p:cNvPr id="8194" name="Picture 2" descr="Visualize how the Exponential Smoothing (ETS) algorithm works, Image by Author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74"/>
          <a:stretch/>
        </p:blipFill>
        <p:spPr bwMode="auto">
          <a:xfrm>
            <a:off x="7002780" y="722190"/>
            <a:ext cx="4912297" cy="5425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838200" y="6351691"/>
            <a:ext cx="88753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https://towardsdatascience.com/forecast-multiple-time-series-like-a-master-1579a2b6f18d/</a:t>
            </a:r>
          </a:p>
        </p:txBody>
      </p:sp>
    </p:spTree>
    <p:extLst>
      <p:ext uri="{BB962C8B-B14F-4D97-AF65-F5344CB8AC3E}">
        <p14:creationId xmlns:p14="http://schemas.microsoft.com/office/powerpoint/2010/main" val="4171603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 (</a:t>
            </a:r>
            <a:r>
              <a:rPr lang="ru-RU" sz="3600" b="1" dirty="0"/>
              <a:t>экспоненциальное сглаживание)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6264" y="769492"/>
                <a:ext cx="11985736" cy="5509656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sz="2200" dirty="0"/>
                  <a:t> </a:t>
                </a:r>
                <a:r>
                  <a:rPr lang="ru-RU" sz="2200" dirty="0"/>
                  <a:t>Рассмотрим </a:t>
                </a:r>
                <a:r>
                  <a:rPr lang="en-US" sz="2200" dirty="0"/>
                  <a:t>SES </a:t>
                </a:r>
                <a:r>
                  <a:rPr lang="ru-RU" sz="2200" dirty="0"/>
                  <a:t>в виде части модели </a:t>
                </a:r>
                <a:r>
                  <a:rPr lang="en-US" sz="2200" dirty="0"/>
                  <a:t>Holt-Winters</a:t>
                </a:r>
              </a:p>
              <a:p>
                <a:pPr marL="0" indent="0" algn="ctr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endParaRPr lang="en-US" sz="2200" dirty="0"/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	тогда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2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где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- остаток в модели (инновация) в модели.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Тогда можно ввести модель </a:t>
                </a:r>
                <a:r>
                  <a:rPr lang="en-US" sz="2200" dirty="0"/>
                  <a:t>Error-Trend-Seasonality</a:t>
                </a:r>
                <a:r>
                  <a:rPr lang="ru-RU" sz="2200" b="1" dirty="0"/>
                  <a:t> </a:t>
                </a:r>
                <a:r>
                  <a:rPr lang="en-US" sz="2200" dirty="0"/>
                  <a:t>ETS(T, S, E)</a:t>
                </a:r>
                <a:r>
                  <a:rPr lang="ru-RU" sz="2200" dirty="0"/>
                  <a:t>:Тренд </a:t>
                </a:r>
                <a:r>
                  <a:rPr lang="en-US" sz="2200" dirty="0"/>
                  <a:t>(T)</a:t>
                </a:r>
                <a:r>
                  <a:rPr lang="ru-RU" sz="2200" dirty="0"/>
                  <a:t> , сезонность</a:t>
                </a:r>
                <a:r>
                  <a:rPr lang="en-US" sz="2200" dirty="0"/>
                  <a:t> (S)</a:t>
                </a:r>
                <a:r>
                  <a:rPr lang="ru-RU" sz="2200" dirty="0"/>
                  <a:t> , ошибка модели</a:t>
                </a:r>
                <a:r>
                  <a:rPr lang="en-US" sz="2200" dirty="0"/>
                  <a:t> (E)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dirty="0"/>
                  <a:t>Модели могут быть в разных соотношениях </a:t>
                </a:r>
                <a:endParaRPr lang="en-US" sz="22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A – </a:t>
                </a:r>
                <a:r>
                  <a:rPr lang="ru-RU" sz="2000" dirty="0"/>
                  <a:t>аддитивная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Ad – </a:t>
                </a:r>
                <a:r>
                  <a:rPr lang="ru-RU" sz="2000" dirty="0"/>
                  <a:t>затухающая аддитивная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M – </a:t>
                </a:r>
                <a:r>
                  <a:rPr lang="ru-RU" sz="2000" dirty="0"/>
                  <a:t>мультипликативная модель, </a:t>
                </a:r>
                <a:endParaRPr lang="en-US" sz="2000" dirty="0"/>
              </a:p>
              <a:p>
                <a:pPr>
                  <a:lnSpc>
                    <a:spcPct val="110000"/>
                  </a:lnSpc>
                  <a:spcBef>
                    <a:spcPts val="0"/>
                  </a:spcBef>
                </a:pPr>
                <a:r>
                  <a:rPr lang="en-US" sz="2000" dirty="0"/>
                  <a:t>N – </a:t>
                </a:r>
                <a:r>
                  <a:rPr lang="ru-RU" sz="2000" dirty="0"/>
                  <a:t>компонента не</a:t>
                </a:r>
                <a:r>
                  <a:rPr lang="en-US" sz="2000" dirty="0"/>
                  <a:t> </a:t>
                </a:r>
                <a:r>
                  <a:rPr lang="ru-RU" sz="2000" dirty="0"/>
                  <a:t>сглаживается</a:t>
                </a:r>
              </a:p>
              <a:p>
                <a:pPr marL="0" indent="0">
                  <a:lnSpc>
                    <a:spcPct val="11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Напр. </a:t>
                </a:r>
                <a:r>
                  <a:rPr lang="en-US" sz="2000" dirty="0"/>
                  <a:t>ETS (A, A, A) – </a:t>
                </a:r>
                <a:r>
                  <a:rPr lang="ru-RU" sz="2000" dirty="0"/>
                  <a:t>модель </a:t>
                </a:r>
                <a:r>
                  <a:rPr lang="ru-RU" sz="2000" dirty="0" err="1"/>
                  <a:t>Холта-Винтерса</a:t>
                </a:r>
                <a:r>
                  <a:rPr lang="ru-RU" sz="20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6264" y="769492"/>
                <a:ext cx="11985736" cy="5509656"/>
              </a:xfrm>
              <a:blipFill>
                <a:blip r:embed="rId3"/>
                <a:stretch>
                  <a:fillRect l="-661" t="-5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504825" y="6488668"/>
            <a:ext cx="90773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https://openforecast.org/adam/ETSTaxonomy.html</a:t>
            </a:r>
            <a:endParaRPr lang="ru-RU" sz="1600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4914900" y="6490811"/>
            <a:ext cx="53244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https://otexts.com/fpp2/ets.html</a:t>
            </a:r>
            <a:endParaRPr lang="ru-RU" sz="1600" dirty="0"/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 txBox="1">
            <a:spLocks/>
          </p:cNvSpPr>
          <p:nvPr/>
        </p:nvSpPr>
        <p:spPr>
          <a:xfrm>
            <a:off x="504825" y="979012"/>
            <a:ext cx="9907643" cy="5502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dirty="0"/>
              <a:t> </a:t>
            </a:r>
            <a:endParaRPr lang="ru-RU" sz="20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954" y="3725671"/>
            <a:ext cx="6283298" cy="2654546"/>
          </a:xfrm>
          <a:prstGeom prst="rect">
            <a:avLst/>
          </a:prstGeom>
        </p:spPr>
      </p:pic>
      <p:sp>
        <p:nvSpPr>
          <p:cNvPr id="18" name="Прямоугольник 17"/>
          <p:cNvSpPr/>
          <p:nvPr/>
        </p:nvSpPr>
        <p:spPr>
          <a:xfrm>
            <a:off x="8201025" y="6359634"/>
            <a:ext cx="532447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Аналогично мультипликативный тренд</a:t>
            </a:r>
          </a:p>
        </p:txBody>
      </p:sp>
    </p:spTree>
    <p:extLst>
      <p:ext uri="{BB962C8B-B14F-4D97-AF65-F5344CB8AC3E}">
        <p14:creationId xmlns:p14="http://schemas.microsoft.com/office/powerpoint/2010/main" val="2495676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957" y="93605"/>
            <a:ext cx="11802295" cy="93311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 (</a:t>
            </a:r>
            <a:r>
              <a:rPr lang="ru-RU" sz="3600" b="1" dirty="0"/>
              <a:t>экспоненциальное сглаживание)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7562027" y="6489052"/>
            <a:ext cx="44672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/>
              <a:t>https://openforecast.org/adam/ETSTaxonomy.html</a:t>
            </a:r>
            <a:endParaRPr lang="ru-RU" sz="16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82" y="935720"/>
            <a:ext cx="5517241" cy="4228583"/>
          </a:xfrm>
          <a:prstGeom prst="rect">
            <a:avLst/>
          </a:prstGeom>
        </p:spPr>
      </p:pic>
      <p:pic>
        <p:nvPicPr>
          <p:cNvPr id="5122" name="Picture 2" descr="Time series corresponding to the multiplicative error ETS mode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473" y="891377"/>
            <a:ext cx="6171577" cy="440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829923" y="849675"/>
            <a:ext cx="0" cy="46055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Прямоугольник 11"/>
          <p:cNvSpPr/>
          <p:nvPr/>
        </p:nvSpPr>
        <p:spPr>
          <a:xfrm>
            <a:off x="175179" y="5297973"/>
            <a:ext cx="1199714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Мультипликативный тренд – если рост тренда почти экспоненциальный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Затухающий тренд – если данные уходят в насыщение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 Мультипликативная сезонность – интенсивность растет с ростом тренда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333333"/>
                </a:solidFill>
              </a:rPr>
              <a:t>Достоинство мультипликативных моделей </a:t>
            </a:r>
            <a:r>
              <a:rPr lang="en-US" dirty="0">
                <a:solidFill>
                  <a:srgbClr val="333333"/>
                </a:solidFill>
              </a:rPr>
              <a:t>ETS(M,A,N) and ETS(M,M,N) </a:t>
            </a:r>
            <a:r>
              <a:rPr lang="ru-RU" dirty="0">
                <a:solidFill>
                  <a:srgbClr val="333333"/>
                </a:solidFill>
              </a:rPr>
              <a:t> - учет </a:t>
            </a:r>
            <a:r>
              <a:rPr lang="ru-RU" dirty="0" err="1">
                <a:solidFill>
                  <a:srgbClr val="333333"/>
                </a:solidFill>
              </a:rPr>
              <a:t>гетеросекдостичности</a:t>
            </a:r>
            <a:endParaRPr lang="ru-RU" dirty="0">
              <a:solidFill>
                <a:srgbClr val="3333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3671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0525" y="245527"/>
            <a:ext cx="10915650" cy="6826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Модели </a:t>
            </a:r>
            <a:r>
              <a:rPr lang="en-US" b="1" dirty="0"/>
              <a:t>Error-Trend-Seasonality</a:t>
            </a:r>
            <a:r>
              <a:rPr lang="ru-RU" b="1" dirty="0"/>
              <a:t>. Замечания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" y="887403"/>
                <a:ext cx="11925299" cy="5389572"/>
              </a:xfrm>
            </p:spPr>
            <p:txBody>
              <a:bodyPr>
                <a:normAutofit/>
              </a:bodyPr>
              <a:lstStyle/>
              <a:p>
                <a:pPr marL="342900" lvl="1" indent="-342900">
                  <a:lnSpc>
                    <a:spcPct val="110000"/>
                  </a:lnSpc>
                  <a:spcBef>
                    <a:spcPts val="1000"/>
                  </a:spcBef>
                </a:pPr>
                <a:r>
                  <a:rPr lang="en-US" sz="2400" dirty="0"/>
                  <a:t>ETS </a:t>
                </a:r>
                <a:r>
                  <a:rPr lang="ru-RU" sz="2400" dirty="0"/>
                  <a:t>является обобщением </a:t>
                </a:r>
                <a:r>
                  <a:rPr lang="en-US" sz="2400" dirty="0"/>
                  <a:t>HW + </a:t>
                </a:r>
                <a:r>
                  <a:rPr lang="ru-RU" sz="2400" dirty="0"/>
                  <a:t>унификация процедуры оценки коэффициентов их инициализации (начальных значений при поиске).</a:t>
                </a:r>
              </a:p>
              <a:p>
                <a:pPr marL="800100" lvl="2" indent="-342900">
                  <a:lnSpc>
                    <a:spcPct val="110000"/>
                  </a:lnSpc>
                  <a:spcBef>
                    <a:spcPts val="1000"/>
                  </a:spcBef>
                </a:pPr>
                <a:r>
                  <a:rPr lang="ru-RU" dirty="0"/>
                  <a:t>Также можно оценить дисперсию предсказаний</a:t>
                </a:r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en-US" sz="2000" dirty="0"/>
                  <a:t>ETS </a:t>
                </a:r>
                <a:r>
                  <a:rPr lang="ru-RU" sz="2000" dirty="0"/>
                  <a:t>имеет до 30 вариантов + </a:t>
                </a:r>
                <a:r>
                  <a:rPr lang="ru-RU" sz="2000" dirty="0" err="1"/>
                  <a:t>многосезонный</a:t>
                </a:r>
                <a:r>
                  <a:rPr lang="ru-RU" sz="2000" dirty="0"/>
                  <a:t> </a:t>
                </a:r>
                <a:r>
                  <a:rPr lang="en-US" sz="2000" dirty="0"/>
                  <a:t>ETS </a:t>
                </a:r>
                <a:r>
                  <a:rPr lang="ru-RU" sz="2000" dirty="0"/>
                  <a:t>и </a:t>
                </a:r>
                <a:r>
                  <a:rPr lang="en-US" sz="2000" dirty="0"/>
                  <a:t>ETS c </a:t>
                </a:r>
                <a:r>
                  <a:rPr lang="ru-RU" sz="2000" dirty="0"/>
                  <a:t>экзогенными факторами</a:t>
                </a:r>
                <a:endParaRPr lang="en-US" sz="2000" dirty="0"/>
              </a:p>
              <a:p>
                <a:pPr marL="342900" indent="-342900">
                  <a:lnSpc>
                    <a:spcPct val="110000"/>
                  </a:lnSpc>
                </a:pPr>
                <a:r>
                  <a:rPr lang="ru-RU" sz="2400" dirty="0"/>
                  <a:t>Чем проще модель </a:t>
                </a:r>
                <a:r>
                  <a:rPr lang="en-US" sz="2400" dirty="0"/>
                  <a:t>ETS – </a:t>
                </a:r>
                <a:r>
                  <a:rPr lang="ru-RU" sz="2400" dirty="0"/>
                  <a:t>тем ниже вероятность переобучения модели</a:t>
                </a:r>
                <a:endParaRPr lang="en-US" sz="2400" dirty="0"/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ru-RU" sz="2000" dirty="0"/>
                  <a:t>Но более сложные модели могут лучше объяснить ВР. </a:t>
                </a:r>
              </a:p>
              <a:p>
                <a:pPr marL="342900" indent="-342900">
                  <a:lnSpc>
                    <a:spcPct val="110000"/>
                  </a:lnSpc>
                </a:pPr>
                <a:r>
                  <a:rPr lang="ru-RU" sz="2400" dirty="0"/>
                  <a:t>Формализации выбора моделей вводятся как мини-</a:t>
                </a:r>
                <a:r>
                  <a:rPr lang="ru-RU" sz="2400" dirty="0" err="1"/>
                  <a:t>максная</a:t>
                </a:r>
                <a:r>
                  <a:rPr lang="ru-RU" sz="2400" dirty="0"/>
                  <a:t> задача (минимум дисперсии остатков</a:t>
                </a:r>
                <a:r>
                  <a:rPr lang="en-US" sz="2400" dirty="0"/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)</a:t>
                </a:r>
                <a:r>
                  <a:rPr lang="ru-RU" sz="2400" dirty="0"/>
                  <a:t> при заданном числе параметров) – оценка сложности модели. </a:t>
                </a:r>
              </a:p>
              <a:p>
                <a:pPr marL="800100" lvl="1" indent="-342900">
                  <a:lnSpc>
                    <a:spcPct val="110000"/>
                  </a:lnSpc>
                </a:pPr>
                <a:r>
                  <a:rPr lang="ru-RU" sz="2000" dirty="0"/>
                  <a:t>Число параметров включает</a:t>
                </a:r>
                <a:r>
                  <a:rPr lang="en-US" sz="2000" dirty="0"/>
                  <a:t>: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ru-RU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если затухание</m:t>
                        </m:r>
                      </m:e>
                    </m:d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01,…,</m:t>
                        </m:r>
                      </m:sub>
                    </m:sSub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если модель не полная, то часть параметров можно убрать.</a:t>
                </a:r>
              </a:p>
              <a:p>
                <a:pPr marL="342900" indent="-342900"/>
                <a:endParaRPr lang="ru-RU" sz="2400" dirty="0"/>
              </a:p>
              <a:p>
                <a:pPr marL="457200" lvl="1" indent="0">
                  <a:buNone/>
                </a:pPr>
                <a:endParaRPr lang="en-US" sz="1800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887403"/>
                <a:ext cx="11925299" cy="5389572"/>
              </a:xfrm>
              <a:blipFill>
                <a:blip r:embed="rId2"/>
                <a:stretch>
                  <a:fillRect l="-665" t="-566" r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41184" y="6416159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1184" y="6176963"/>
            <a:ext cx="53062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https://robjhyndman.com/hyndsight/hw-initialization/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447445" y="6176963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418106" y="6416159"/>
            <a:ext cx="4888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https://otexts.com/fpp3/selecting-predictors.html</a:t>
            </a:r>
          </a:p>
        </p:txBody>
      </p:sp>
    </p:spTree>
    <p:extLst>
      <p:ext uri="{BB962C8B-B14F-4D97-AF65-F5344CB8AC3E}">
        <p14:creationId xmlns:p14="http://schemas.microsoft.com/office/powerpoint/2010/main" val="3812086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0525" y="245527"/>
            <a:ext cx="10915650" cy="6826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Модели </a:t>
            </a:r>
            <a:r>
              <a:rPr lang="en-US" b="1" dirty="0"/>
              <a:t>Error-Trend-Seasonality</a:t>
            </a:r>
            <a:r>
              <a:rPr lang="ru-RU" b="1" dirty="0"/>
              <a:t>. Замечания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" y="887403"/>
            <a:ext cx="12279416" cy="5389572"/>
          </a:xfrm>
        </p:spPr>
        <p:txBody>
          <a:bodyPr>
            <a:normAutofit lnSpcReduction="10000"/>
          </a:bodyPr>
          <a:lstStyle/>
          <a:p>
            <a:pPr marL="342900" indent="-342900">
              <a:lnSpc>
                <a:spcPct val="110000"/>
              </a:lnSpc>
            </a:pPr>
            <a:r>
              <a:rPr lang="ru-RU" sz="2400" dirty="0"/>
              <a:t>Формализации выбора моделей вводятся как мини-</a:t>
            </a:r>
            <a:r>
              <a:rPr lang="ru-RU" sz="2400" dirty="0" err="1"/>
              <a:t>максная</a:t>
            </a:r>
            <a:r>
              <a:rPr lang="ru-RU" sz="2400" dirty="0"/>
              <a:t> задача (минимум дисперсии остатков при заданном числе параметров) – оценка сложности модели. </a:t>
            </a:r>
          </a:p>
          <a:p>
            <a:r>
              <a:rPr lang="ru-RU" sz="2100" b="1" dirty="0"/>
              <a:t>Информационный критерий (ИК)</a:t>
            </a:r>
            <a:r>
              <a:rPr lang="ru-RU" sz="2100" dirty="0"/>
              <a:t> — это статистическая мера, используемая для сравнения сложности моделей, которая </a:t>
            </a:r>
            <a:r>
              <a:rPr lang="ru-RU" sz="2100" b="1" dirty="0"/>
              <a:t>одновременно оценивает:</a:t>
            </a:r>
            <a:endParaRPr lang="ru-RU" sz="2100" dirty="0"/>
          </a:p>
          <a:p>
            <a:pPr lvl="1"/>
            <a:r>
              <a:rPr lang="ru-RU" sz="2100" b="1" dirty="0"/>
              <a:t>Качество подгонки модели</a:t>
            </a:r>
            <a:r>
              <a:rPr lang="ru-RU" sz="2100" dirty="0"/>
              <a:t> (насколько хорошо модель описывает данные),</a:t>
            </a:r>
          </a:p>
          <a:p>
            <a:pPr lvl="1"/>
            <a:r>
              <a:rPr lang="ru-RU" sz="2100" b="1" dirty="0"/>
              <a:t>Сложность модели</a:t>
            </a:r>
            <a:r>
              <a:rPr lang="ru-RU" sz="2100" dirty="0"/>
              <a:t> (штраф за количество параметров, чтобы избежать переобучения).</a:t>
            </a:r>
          </a:p>
          <a:p>
            <a:pPr marL="342900" indent="-342900">
              <a:lnSpc>
                <a:spcPct val="110000"/>
              </a:lnSpc>
            </a:pPr>
            <a:r>
              <a:rPr lang="ru-RU" sz="2400" dirty="0"/>
              <a:t>На основе </a:t>
            </a:r>
            <a:r>
              <a:rPr lang="ru-RU" sz="2400" b="1" dirty="0"/>
              <a:t>ИК</a:t>
            </a:r>
            <a:r>
              <a:rPr lang="ru-RU" sz="2400" dirty="0"/>
              <a:t> делают процедуру </a:t>
            </a:r>
            <a:r>
              <a:rPr lang="en-US" sz="2400" dirty="0" err="1"/>
              <a:t>AutoETS</a:t>
            </a:r>
            <a:endParaRPr lang="en-US" sz="2400" dirty="0"/>
          </a:p>
          <a:p>
            <a:pPr marL="800100" lvl="1" indent="-342900">
              <a:lnSpc>
                <a:spcPct val="110000"/>
              </a:lnSpc>
            </a:pPr>
            <a:r>
              <a:rPr lang="ru-RU" sz="2000" dirty="0"/>
              <a:t>Сложность модели определяется на тренировочной выборке. </a:t>
            </a:r>
          </a:p>
          <a:p>
            <a:pPr marL="800100" lvl="1" indent="-342900">
              <a:lnSpc>
                <a:spcPct val="110000"/>
              </a:lnSpc>
            </a:pPr>
            <a:r>
              <a:rPr lang="ru-RU" sz="2000" dirty="0"/>
              <a:t>Процедура </a:t>
            </a:r>
            <a:r>
              <a:rPr lang="en-US" sz="2000" dirty="0" err="1"/>
              <a:t>AutoETS</a:t>
            </a:r>
            <a:r>
              <a:rPr lang="ru-RU" sz="2000" dirty="0"/>
              <a:t> гарантирует стабильность модели на тестовой выборке, </a:t>
            </a:r>
          </a:p>
          <a:p>
            <a:pPr marL="1257300" lvl="2" indent="-342900">
              <a:lnSpc>
                <a:spcPct val="110000"/>
              </a:lnSpc>
            </a:pPr>
            <a:r>
              <a:rPr lang="ru-RU" sz="1800" dirty="0"/>
              <a:t>Для стабильности модели дополнительно рекомендуется: </a:t>
            </a:r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Проверка на </a:t>
            </a:r>
            <a:r>
              <a:rPr lang="ru-RU" dirty="0" err="1"/>
              <a:t>валидационной</a:t>
            </a:r>
            <a:r>
              <a:rPr lang="ru-RU" dirty="0"/>
              <a:t> выборке</a:t>
            </a:r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Анализ остатков модели, </a:t>
            </a:r>
            <a:endParaRPr lang="en-US" dirty="0"/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также можно</a:t>
            </a:r>
            <a:r>
              <a:rPr lang="en-US" dirty="0"/>
              <a:t> </a:t>
            </a:r>
            <a:r>
              <a:rPr lang="ru-RU" dirty="0"/>
              <a:t>добавить оценку по </a:t>
            </a:r>
            <a:r>
              <a:rPr lang="en-US" dirty="0"/>
              <a:t>R2 adj.</a:t>
            </a:r>
            <a:endParaRPr lang="ru-RU" dirty="0"/>
          </a:p>
          <a:p>
            <a:pPr marL="1714500" lvl="3" indent="-342900">
              <a:lnSpc>
                <a:spcPct val="110000"/>
              </a:lnSpc>
            </a:pPr>
            <a:r>
              <a:rPr lang="ru-RU" dirty="0"/>
              <a:t>Формальная проверка соответствия модели данным</a:t>
            </a:r>
          </a:p>
          <a:p>
            <a:pPr marL="800100" lvl="1" indent="-342900"/>
            <a:endParaRPr lang="ru-RU" sz="2000" dirty="0"/>
          </a:p>
          <a:p>
            <a:pPr marL="342900" indent="-342900"/>
            <a:endParaRPr lang="ru-RU" sz="2400" dirty="0"/>
          </a:p>
          <a:p>
            <a:pPr marL="457200" lvl="1" indent="0">
              <a:buNone/>
            </a:pPr>
            <a:endParaRPr lang="en-US" sz="1800" dirty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41184" y="6416159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1184" y="6176963"/>
            <a:ext cx="53062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https://robjhyndman.com/hyndsight/hw-initialization/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447445" y="6176963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418106" y="6416159"/>
            <a:ext cx="4888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https://otexts.com/fpp3/selecting-predictors.html</a:t>
            </a:r>
          </a:p>
        </p:txBody>
      </p:sp>
    </p:spTree>
    <p:extLst>
      <p:ext uri="{BB962C8B-B14F-4D97-AF65-F5344CB8AC3E}">
        <p14:creationId xmlns:p14="http://schemas.microsoft.com/office/powerpoint/2010/main" val="3010983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7003" y="204778"/>
            <a:ext cx="11334750" cy="682625"/>
          </a:xfrm>
        </p:spPr>
        <p:txBody>
          <a:bodyPr>
            <a:noAutofit/>
          </a:bodyPr>
          <a:lstStyle/>
          <a:p>
            <a:pPr algn="ctr"/>
            <a:r>
              <a:rPr lang="ru-RU" sz="3200" b="1" dirty="0"/>
              <a:t>Модели </a:t>
            </a:r>
            <a:r>
              <a:rPr lang="en-US" sz="3200" b="1" dirty="0"/>
              <a:t>Error-Trend-Seasonality</a:t>
            </a:r>
            <a:r>
              <a:rPr lang="ru-RU" sz="3200" b="1" dirty="0"/>
              <a:t>. Информационный критерий </a:t>
            </a:r>
            <a:endParaRPr lang="ru-RU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414" y="731588"/>
                <a:ext cx="12192001" cy="5129213"/>
              </a:xfrm>
            </p:spPr>
            <p:txBody>
              <a:bodyPr>
                <a:normAutofit/>
              </a:bodyPr>
              <a:lstStyle/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ru-RU" sz="2300" i="1" dirty="0"/>
                  <a:t>Информационный Критерий </a:t>
                </a:r>
                <a:r>
                  <a:rPr lang="ru-RU" sz="2300" i="1" dirty="0" err="1"/>
                  <a:t>Акайке</a:t>
                </a:r>
                <a:r>
                  <a:rPr lang="ru-RU" sz="2300" i="1" dirty="0"/>
                  <a:t>.</a:t>
                </a:r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</a:rPr>
                        <m:t>𝐴𝐼𝐶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</a:rPr>
                        <m:t>=−2</m:t>
                      </m:r>
                      <m:func>
                        <m:funcPr>
                          <m:ctrlPr>
                            <a:rPr lang="en-US" sz="23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e>
                      </m:func>
                      <m:r>
                        <a:rPr lang="ru-RU" sz="23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ru-RU" sz="2300" b="0" i="0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300" b="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– </a:t>
                </a:r>
                <a:r>
                  <a:rPr lang="ru-RU" sz="2000" dirty="0"/>
                  <a:t>максимальное правдоподобие модели,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000" dirty="0"/>
                  <a:t> - общее количество параметров и начальных состояний, которые были оценены (включая остаточную дисперсию) – число степеней несвободы. </a:t>
                </a:r>
              </a:p>
              <a:p>
                <a:pPr marL="914400" lvl="2" indent="0">
                  <a:lnSpc>
                    <a:spcPct val="100000"/>
                  </a:lnSpc>
                  <a:buNone/>
                </a:pPr>
                <a:r>
                  <a:rPr lang="ru-RU" sz="2300" dirty="0"/>
                  <a:t>		</a:t>
                </a:r>
                <a:r>
                  <a:rPr lang="ru-RU" dirty="0"/>
                  <a:t>для сезонной составляющей задают все точки сезонности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sz="230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:r>
                  <a:rPr lang="en-US" sz="2300" dirty="0"/>
                  <a:t>	</a:t>
                </a:r>
                <a:r>
                  <a:rPr lang="ru-RU" sz="2300" dirty="0"/>
                  <a:t>	Для остатков модели в виде </a:t>
                </a:r>
                <a:r>
                  <a:rPr lang="en-US" sz="2300" dirty="0" err="1"/>
                  <a:t>i.i.d</a:t>
                </a:r>
                <a:r>
                  <a:rPr lang="en-US" sz="2300" dirty="0"/>
                  <a:t>.</a:t>
                </a:r>
                <a:endParaRPr lang="ru-RU" sz="2300" dirty="0"/>
              </a:p>
              <a:p>
                <a:pPr marL="457200" lvl="1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23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;</m:t>
                      </m:r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3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sz="23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3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3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/(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3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300" dirty="0"/>
              </a:p>
              <a:p>
                <a:pPr lvl="1">
                  <a:lnSpc>
                    <a:spcPct val="100000"/>
                  </a:lnSpc>
                </a:pPr>
                <a:r>
                  <a:rPr lang="ru-RU" sz="2300" dirty="0"/>
                  <a:t>Критерий дает мини-</a:t>
                </a:r>
                <a:r>
                  <a:rPr lang="ru-RU" sz="2300" dirty="0" err="1"/>
                  <a:t>максную</a:t>
                </a:r>
                <a:r>
                  <a:rPr lang="ru-RU" sz="2300" dirty="0"/>
                  <a:t> оценку между дисперсией и числом параметров модели -</a:t>
                </a:r>
                <a:r>
                  <a:rPr lang="en-US" sz="2300" dirty="0"/>
                  <a:t>&gt; </a:t>
                </a:r>
                <a:r>
                  <a:rPr lang="ru-RU" sz="2300" dirty="0"/>
                  <a:t>снижает сложность модели, чем меньше </a:t>
                </a:r>
                <a:r>
                  <a:rPr lang="en-US" sz="2300" dirty="0"/>
                  <a:t>AIC – </a:t>
                </a:r>
                <a:r>
                  <a:rPr lang="ru-RU" sz="2300" dirty="0"/>
                  <a:t>тем </a:t>
                </a:r>
                <a:r>
                  <a:rPr lang="ru-RU" sz="2300" dirty="0" err="1"/>
                  <a:t>луше</a:t>
                </a:r>
                <a:endParaRPr lang="ru-RU" sz="2300" dirty="0"/>
              </a:p>
              <a:p>
                <a:pPr lvl="2">
                  <a:lnSpc>
                    <a:spcPct val="100000"/>
                  </a:lnSpc>
                </a:pPr>
                <a:r>
                  <a:rPr lang="ru-RU" sz="2300" dirty="0"/>
                  <a:t>Работает для нормального распределения остатков,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414" y="731588"/>
                <a:ext cx="12192001" cy="5129213"/>
              </a:xfrm>
              <a:blipFill>
                <a:blip r:embed="rId2"/>
                <a:stretch>
                  <a:fillRect t="-832" r="-4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41183" y="6473826"/>
            <a:ext cx="60422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https://otexts.com/fpp2/estimation-and-model-selection.html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266886" y="6459550"/>
            <a:ext cx="53648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https://robjhyndman.com/nyc2018/1-5-StateSpace.pdf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4189429" y="5233493"/>
                <a:ext cx="7314118" cy="1024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 −модификация для малых выборок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sz="20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𝑙𝑛𝑁</m:t>
                    </m:r>
                  </m:oMath>
                </a14:m>
                <a:r>
                  <a:rPr lang="ru-RU" sz="2000" dirty="0"/>
                  <a:t> – более точная оценка числа параметров</a:t>
                </a: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9429" y="5233493"/>
                <a:ext cx="7314118" cy="1024319"/>
              </a:xfrm>
              <a:prstGeom prst="rect">
                <a:avLst/>
              </a:prstGeom>
              <a:blipFill>
                <a:blip r:embed="rId3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348634" y="5399136"/>
                <a:ext cx="38407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dirty="0"/>
                  <a:t>AIC </a:t>
                </a:r>
                <a:r>
                  <a:rPr lang="ru-RU" sz="2400" dirty="0"/>
                  <a:t>работает если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634" y="5399136"/>
                <a:ext cx="3840795" cy="461665"/>
              </a:xfrm>
              <a:prstGeom prst="rect">
                <a:avLst/>
              </a:prstGeom>
              <a:blipFill>
                <a:blip r:embed="rId4"/>
                <a:stretch>
                  <a:fillRect l="-2381" t="-10667" b="-30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134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pPr algn="ctr"/>
            <a:r>
              <a:rPr lang="ru-RU" b="1" dirty="0"/>
              <a:t>Сложные сезонности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8584" y="901688"/>
            <a:ext cx="11725275" cy="54800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100" b="1" dirty="0"/>
              <a:t>Проблемы ETS:</a:t>
            </a:r>
          </a:p>
          <a:p>
            <a:pPr marL="285750" indent="-285750"/>
            <a:r>
              <a:rPr lang="ru-RU" sz="2200" dirty="0"/>
              <a:t>Одна сезонность (например, только месячная).</a:t>
            </a:r>
          </a:p>
          <a:p>
            <a:pPr marL="742950" lvl="1" indent="-285750"/>
            <a:r>
              <a:rPr lang="ru-RU" sz="2200" dirty="0"/>
              <a:t>Ряд должен включать полное число сезонов - плохо для годовых сезонов</a:t>
            </a:r>
          </a:p>
          <a:p>
            <a:pPr marL="1200150" lvl="2" indent="-285750"/>
            <a:r>
              <a:rPr lang="ru-RU" sz="1800" dirty="0"/>
              <a:t>Напр. Годовые продажи с несколькими сезонными периодами (неделя + месяц + год).</a:t>
            </a:r>
          </a:p>
          <a:p>
            <a:pPr marL="285750" indent="-285750"/>
            <a:r>
              <a:rPr lang="ru-RU" sz="2200" dirty="0"/>
              <a:t>Жёсткие параметры тренда (аддитивная/мультипликативная).</a:t>
            </a:r>
          </a:p>
          <a:p>
            <a:pPr marL="742950" lvl="1" indent="-285750"/>
            <a:r>
              <a:rPr lang="ru-RU" sz="2200" dirty="0"/>
              <a:t>Учет монотонной волатильности частично в мультипликативной модели</a:t>
            </a:r>
          </a:p>
          <a:p>
            <a:pPr marL="742950" lvl="1" indent="-285750"/>
            <a:r>
              <a:rPr lang="ru-RU" sz="2200" dirty="0"/>
              <a:t>Почти нет учета переменной волатильности – переменной дисперсии</a:t>
            </a:r>
          </a:p>
          <a:p>
            <a:pPr marL="0" indent="0">
              <a:buNone/>
            </a:pPr>
            <a:r>
              <a:rPr lang="ru-RU" sz="2100" dirty="0"/>
              <a:t/>
            </a:r>
            <a:br>
              <a:rPr lang="ru-RU" sz="2100" dirty="0"/>
            </a:br>
            <a:endParaRPr lang="ru-RU" sz="2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-1" r="-358"/>
          <a:stretch/>
        </p:blipFill>
        <p:spPr>
          <a:xfrm>
            <a:off x="2989657" y="3391043"/>
            <a:ext cx="6730604" cy="2990707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</a:t>
            </a:r>
            <a:r>
              <a:rPr lang="ru-RU" sz="1400" dirty="0" smtClean="0"/>
              <a:t>://</a:t>
            </a:r>
            <a:r>
              <a:rPr lang="en-US" sz="1400" dirty="0" smtClean="0"/>
              <a:t>read</a:t>
            </a:r>
            <a:r>
              <a:rPr lang="ru-RU" sz="1400" dirty="0" smtClean="0"/>
              <a:t>medium.com/</a:t>
            </a:r>
            <a:r>
              <a:rPr lang="ru-RU" sz="1400" dirty="0" err="1" smtClean="0"/>
              <a:t>intive-developers</a:t>
            </a:r>
            <a:r>
              <a:rPr lang="ru-RU" sz="1400" dirty="0" smtClean="0"/>
              <a:t>/forecasting-time-series-with-multiple-seasonalities-using-tbats-in-python-398a00ac0e8a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115522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метод для двух компонент сезонности и 1 точки предсказания вперед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m:rPr>
                              <m:nor/>
                            </m:rPr>
                            <a:rPr lang="en-US" sz="2200" dirty="0"/>
                            <m:t> 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   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𝑙𝑒𝑣𝑒𝑙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𝛽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  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𝑡𝑟𝑒𝑛𝑑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ru-RU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ru-RU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ru-RU" sz="2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e>
                      </m:eqAr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- </a:t>
                </a:r>
                <a:r>
                  <a:rPr lang="ru-RU" sz="2200" dirty="0"/>
                  <a:t>для каждой компоненты сезонности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  <a:blipFill>
                <a:blip r:embed="rId2"/>
                <a:stretch>
                  <a:fillRect l="-676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60" y="3435753"/>
            <a:ext cx="4390072" cy="2928053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28584" y="6518416"/>
            <a:ext cx="7239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https://link.springer.com/content/pdf/10.1057/palgrave.jors.2601589.pdf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6271260" y="6486830"/>
            <a:ext cx="30327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https://robjhyndman.com/expsmooth/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355517" y="3458840"/>
            <a:ext cx="568881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Такая система решается!, </a:t>
            </a:r>
          </a:p>
          <a:p>
            <a:r>
              <a:rPr lang="ru-RU" dirty="0"/>
              <a:t>но </a:t>
            </a:r>
          </a:p>
          <a:p>
            <a:r>
              <a:rPr lang="ru-RU" dirty="0"/>
              <a:t>1 много параметров в модели (каждый сезон имеет </a:t>
            </a:r>
            <a:r>
              <a:rPr lang="en-US" dirty="0"/>
              <a:t>m </a:t>
            </a:r>
            <a:r>
              <a:rPr lang="ru-RU" dirty="0"/>
              <a:t>начальных паромеров)</a:t>
            </a:r>
          </a:p>
          <a:p>
            <a:r>
              <a:rPr lang="ru-RU" dirty="0"/>
              <a:t>2 Что делать с цикличностью (см. график) – нужно преобразовать ВР (Бокс-Кокс) </a:t>
            </a:r>
          </a:p>
          <a:p>
            <a:r>
              <a:rPr lang="ru-RU" dirty="0"/>
              <a:t>	как выбрать правильное преобразование?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/>
          <a:srcRect b="36178"/>
          <a:stretch/>
        </p:blipFill>
        <p:spPr>
          <a:xfrm>
            <a:off x="2002719" y="5403692"/>
            <a:ext cx="3266514" cy="106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562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для </a:t>
                </a:r>
                <a:r>
                  <a:rPr lang="en-US" sz="2200" dirty="0"/>
                  <a:t>P </a:t>
                </a:r>
                <a:r>
                  <a:rPr lang="ru-RU" sz="2200" dirty="0"/>
                  <a:t>сезонных компонент сезонности</a:t>
                </a:r>
                <a:r>
                  <a:rPr lang="en-US" sz="2200" dirty="0"/>
                  <a:t> </a:t>
                </a:r>
                <a:r>
                  <a:rPr lang="ru-RU" sz="2200" dirty="0"/>
                  <a:t>с остатком модели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200" dirty="0"/>
                        <m:t> =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r>
                  <a:rPr lang="en-US" sz="2200" dirty="0"/>
                  <a:t> </a:t>
                </a:r>
                <a:r>
                  <a:rPr lang="ru-RU" sz="2200" dirty="0"/>
                  <a:t>Как выбрать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для всех компонент? Очень много начальных параметров?</a:t>
                </a:r>
              </a:p>
              <a:p>
                <a:r>
                  <a:rPr lang="ru-RU" sz="2200" dirty="0"/>
                  <a:t>Как понять, что нет ложных сезонностей?</a:t>
                </a:r>
              </a:p>
              <a:p>
                <a:r>
                  <a:rPr lang="ru-RU" sz="2200" dirty="0"/>
                  <a:t>Как понять что нет </a:t>
                </a:r>
                <a:r>
                  <a:rPr lang="ru-RU" sz="2200" dirty="0" err="1"/>
                  <a:t>гетероскдостичных</a:t>
                </a:r>
                <a:r>
                  <a:rPr lang="ru-RU" sz="2200" dirty="0"/>
                  <a:t> составляющих?</a:t>
                </a:r>
              </a:p>
              <a:p>
                <a:r>
                  <a:rPr lang="ru-RU" sz="2200" dirty="0"/>
                  <a:t>Весь ли временной ряд разложен, информативен ли остаток модели?</a:t>
                </a:r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584" y="901689"/>
                <a:ext cx="11725275" cy="4351338"/>
              </a:xfrm>
              <a:blipFill>
                <a:blip r:embed="rId2"/>
                <a:stretch>
                  <a:fillRect l="-572" t="-16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https://www.kaggleusercontent.com/kf/1414291/eyJhbGciOiJkaXIiLCJlbmMiOiJBMTI4Q0JDLUhTMjU2In0..3-pRb3q6gRv82xTpa0eWug.Mua06XFewvuzX313QT-2PWCikHDYplMJ3837xfw5WdDlrdwjdHH7ySG5w5o49bpVSHQ8eVbjmVhAVQBd7PhNkuu951yAYYaeqCgw_EhUpA2T3Ya7OISe40d9JnYPmhe5iNrrlwflmeNEOlyec1FXVaOzxbsu0npX2L67pGr1kcOs_4kjuvsi48YCZnEJU25TpKSMC0WVY9vuxlhxuG-Q1vEq5V3YIN7WcTERHgNNyQ6D9jiioM3c0Jz-8GqJZkAYbG4fhhWFBIcBLDZMGwJKzlv5VJLCzlp-0JKmq4sMVC0mHRJLPpNkhG1K2II8VAVRItxId01ZMMMI7uNxX0x8b8TYCoAMXyC5QPEhBawSD9_Ef4EnXWYMnzXivsSHCGvsMnbABzujzjrJi-kKy9eAY-VSMU1tS8uaA84wXvZOXyV_XmEKO8KHVTwzw_TteUwGWbz2P34zZbUhVtg8cp_wEtJ0w7Pjuup3-0Nnu0_HY2HGcYBPuozvzTnU4HnEKCqJW5odXWuKbQHUGNWhIfqYGuX__VqA8Xh38i2UKeu8ExxyBukuwlE7yAMyXP7-I_BxHR321I9JO_PfZZfAsc4muwja3NRJwR9sczXvbjUv1kFAioKjds2hLkRzTL5L-4qQvmFeDHRprqFzN79Y-l99RpEKTN_bwMcF4jIsqehUvwI.Gg4QjWYQ7rKCdbmWevmqlQ/__results___files/__results___18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624" b="3817"/>
          <a:stretch/>
        </p:blipFill>
        <p:spPr bwMode="auto">
          <a:xfrm>
            <a:off x="3404667" y="5301303"/>
            <a:ext cx="8313420" cy="137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www.kaggleusercontent.com/kf/1414291/eyJhbGciOiJkaXIiLCJlbmMiOiJBMTI4Q0JDLUhTMjU2In0..3-pRb3q6gRv82xTpa0eWug.Mua06XFewvuzX313QT-2PWCikHDYplMJ3837xfw5WdDlrdwjdHH7ySG5w5o49bpVSHQ8eVbjmVhAVQBd7PhNkuu951yAYYaeqCgw_EhUpA2T3Ya7OISe40d9JnYPmhe5iNrrlwflmeNEOlyec1FXVaOzxbsu0npX2L67pGr1kcOs_4kjuvsi48YCZnEJU25TpKSMC0WVY9vuxlhxuG-Q1vEq5V3YIN7WcTERHgNNyQ6D9jiioM3c0Jz-8GqJZkAYbG4fhhWFBIcBLDZMGwJKzlv5VJLCzlp-0JKmq4sMVC0mHRJLPpNkhG1K2II8VAVRItxId01ZMMMI7uNxX0x8b8TYCoAMXyC5QPEhBawSD9_Ef4EnXWYMnzXivsSHCGvsMnbABzujzjrJi-kKy9eAY-VSMU1tS8uaA84wXvZOXyV_XmEKO8KHVTwzw_TteUwGWbz2P34zZbUhVtg8cp_wEtJ0w7Pjuup3-0Nnu0_HY2HGcYBPuozvzTnU4HnEKCqJW5odXWuKbQHUGNWhIfqYGuX__VqA8Xh38i2UKeu8ExxyBukuwlE7yAMyXP7-I_BxHR321I9JO_PfZZfAsc4muwja3NRJwR9sczXvbjUv1kFAioKjds2hLkRzTL5L-4qQvmFeDHRprqFzN79Y-l99RpEKTN_bwMcF4jIsqehUvwI.Gg4QjWYQ7rKCdbmWevmqlQ/__results___files/__results___18_0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93" b="80387"/>
          <a:stretch/>
        </p:blipFill>
        <p:spPr bwMode="auto">
          <a:xfrm>
            <a:off x="3404667" y="4260906"/>
            <a:ext cx="8291221" cy="1145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3597328" y="6521484"/>
            <a:ext cx="478778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https://www.kaggle.com/code/kailex/arima-with-fourier-terms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66701" y="4914149"/>
            <a:ext cx="3611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Нужен общий метод решения задачи</a:t>
            </a:r>
          </a:p>
        </p:txBody>
      </p:sp>
    </p:spTree>
    <p:extLst>
      <p:ext uri="{BB962C8B-B14F-4D97-AF65-F5344CB8AC3E}">
        <p14:creationId xmlns:p14="http://schemas.microsoft.com/office/powerpoint/2010/main" val="2569524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0076" y="149860"/>
            <a:ext cx="10944225" cy="892175"/>
          </a:xfrm>
        </p:spPr>
        <p:txBody>
          <a:bodyPr/>
          <a:lstStyle/>
          <a:p>
            <a:pPr algn="ctr"/>
            <a:r>
              <a:rPr lang="ru-RU" b="1" dirty="0"/>
              <a:t>Сложные сезонности 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9760" y="820023"/>
            <a:ext cx="11725275" cy="4351338"/>
          </a:xfrm>
        </p:spPr>
        <p:txBody>
          <a:bodyPr>
            <a:normAutofit/>
          </a:bodyPr>
          <a:lstStyle/>
          <a:p>
            <a:r>
              <a:rPr lang="ru-RU" sz="2100" b="1" dirty="0"/>
              <a:t>Проблемы Пусть необходим анализ ряда на достаточно продолжительном периоде</a:t>
            </a:r>
          </a:p>
          <a:p>
            <a:pPr lvl="1"/>
            <a:r>
              <a:rPr lang="ru-RU" sz="2100" b="1" dirty="0"/>
              <a:t>Напр. несколько лет с шагом в 1 день.</a:t>
            </a:r>
          </a:p>
          <a:p>
            <a:pPr lvl="1"/>
            <a:r>
              <a:rPr lang="ru-RU" sz="2100" i="1" dirty="0"/>
              <a:t>Что делать, если сезонность непостоянная или сложная?</a:t>
            </a:r>
            <a:endParaRPr lang="ru-RU" sz="2100" dirty="0"/>
          </a:p>
          <a:p>
            <a:pPr lvl="1"/>
            <a:r>
              <a:rPr lang="ru-RU" sz="2100" b="1" dirty="0"/>
              <a:t>Пример данных:</a:t>
            </a:r>
            <a:endParaRPr lang="ru-RU" sz="2100" dirty="0"/>
          </a:p>
          <a:p>
            <a:pPr lvl="2"/>
            <a:r>
              <a:rPr lang="ru-RU" sz="2100" dirty="0"/>
              <a:t>Годовые продажи с несколькими сезонными периодами (неделя + месяц + год).</a:t>
            </a:r>
          </a:p>
          <a:p>
            <a:r>
              <a:rPr lang="ru-RU" sz="2100" b="1" dirty="0"/>
              <a:t>Если данные </a:t>
            </a:r>
            <a:r>
              <a:rPr lang="ru-RU" sz="2100" b="1" dirty="0" err="1"/>
              <a:t>гетеросекдостичные</a:t>
            </a:r>
            <a:r>
              <a:rPr lang="ru-RU" sz="2100" b="1" dirty="0"/>
              <a:t>, тренд не имеет «хорошего паттерна» </a:t>
            </a:r>
          </a:p>
          <a:p>
            <a:pPr lvl="1"/>
            <a:r>
              <a:rPr lang="ru-RU" sz="2100" dirty="0"/>
              <a:t>Нужно </a:t>
            </a:r>
            <a:r>
              <a:rPr lang="ru-RU" sz="2100" dirty="0" err="1"/>
              <a:t>преорбазовать</a:t>
            </a:r>
            <a:r>
              <a:rPr lang="ru-RU" sz="2100" dirty="0"/>
              <a:t> ряд (напр. степенное преобразование, Бокс-Кокс) </a:t>
            </a:r>
          </a:p>
          <a:p>
            <a:pPr lvl="1"/>
            <a:r>
              <a:rPr lang="ru-RU" sz="2100" dirty="0"/>
              <a:t>Как выбрать одновременно лучшие параметры преобразования ряда (Бокс-Кокс и экспоненциального сглаживания)</a:t>
            </a:r>
            <a:r>
              <a:rPr lang="en-US" sz="2100" dirty="0"/>
              <a:t>?</a:t>
            </a:r>
            <a:r>
              <a:rPr lang="ru-RU" sz="2100" dirty="0"/>
              <a:t/>
            </a:r>
            <a:br>
              <a:rPr lang="ru-RU" sz="2100" dirty="0"/>
            </a:br>
            <a:endParaRPr lang="ru-RU" sz="2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12" y="3612119"/>
            <a:ext cx="9781970" cy="2876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26793" y="6462236"/>
            <a:ext cx="4698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*Могут быть также комбинации этих методов</a:t>
            </a:r>
          </a:p>
        </p:txBody>
      </p:sp>
    </p:spTree>
    <p:extLst>
      <p:ext uri="{BB962C8B-B14F-4D97-AF65-F5344CB8AC3E}">
        <p14:creationId xmlns:p14="http://schemas.microsoft.com/office/powerpoint/2010/main" val="4035120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b="1" dirty="0"/>
              <a:t>BATS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8312" y="943900"/>
                <a:ext cx="11987216" cy="5312184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Запишем </a:t>
                </a:r>
                <a:r>
                  <a:rPr lang="en-US" sz="2200" dirty="0"/>
                  <a:t>HW </a:t>
                </a:r>
                <a:r>
                  <a:rPr lang="ru-RU" sz="2200" dirty="0"/>
                  <a:t>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сезонных компонент сезонности</a:t>
                </a:r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200" dirty="0"/>
                        <m:t> = 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2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ru-RU" sz="2200" dirty="0"/>
                  <a:t> - ВР после преобразования Бокса-Кокса с параметром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будем считать, что остаток информативен. </a:t>
                </a:r>
              </a:p>
              <a:p>
                <a:pPr marL="0" indent="0">
                  <a:buNone/>
                </a:pPr>
                <a:r>
                  <a:rPr lang="ru-RU" sz="2200" dirty="0"/>
                  <a:t>Промоделируем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/>
                  <a:t> отдельным методом </a:t>
                </a:r>
                <a:r>
                  <a:rPr lang="en-US" sz="2200" dirty="0"/>
                  <a:t>ARMA</a:t>
                </a:r>
                <a:r>
                  <a:rPr lang="ru-RU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ctrlPr>
                              <a:rPr lang="ru-RU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r>
                  <a:rPr lang="en-US" sz="2200" b="0" i="0" dirty="0">
                    <a:latin typeface="+mj-lt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/>
                  <a:t>)</a:t>
                </a:r>
                <a:r>
                  <a:rPr lang="en-US" sz="2200" dirty="0"/>
                  <a:t> </a:t>
                </a:r>
                <a:r>
                  <a:rPr lang="ru-RU" sz="2200" dirty="0"/>
                  <a:t>(Узенем о нем на следующем занятии)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Такая модель </a:t>
                </a:r>
                <a:r>
                  <a:rPr lang="en-US" sz="2200" dirty="0"/>
                  <a:t>BATS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en-US" sz="2200" dirty="0"/>
                  <a:t>BATS </a:t>
                </a:r>
                <a:r>
                  <a:rPr lang="ru-RU" sz="1900" dirty="0"/>
                  <a:t>(</a:t>
                </a:r>
                <a:r>
                  <a:rPr lang="en-US" sz="1900" b="1" dirty="0"/>
                  <a:t>B</a:t>
                </a:r>
                <a:r>
                  <a:rPr lang="en-US" sz="1900" dirty="0"/>
                  <a:t>ox-Cox transformation, </a:t>
                </a:r>
                <a:r>
                  <a:rPr lang="en-US" sz="1900" b="1" dirty="0"/>
                  <a:t>A</a:t>
                </a:r>
                <a:r>
                  <a:rPr lang="en-US" sz="1900" dirty="0"/>
                  <a:t>RMA errors, </a:t>
                </a:r>
                <a:r>
                  <a:rPr lang="en-US" sz="1900" b="1" dirty="0"/>
                  <a:t>T</a:t>
                </a:r>
                <a:r>
                  <a:rPr lang="en-US" sz="1900" dirty="0"/>
                  <a:t>rend, and </a:t>
                </a:r>
                <a:r>
                  <a:rPr lang="en-US" sz="1900" b="1" dirty="0"/>
                  <a:t>S</a:t>
                </a:r>
                <a:r>
                  <a:rPr lang="en-US" sz="1900" dirty="0"/>
                  <a:t>easonal components</a:t>
                </a:r>
                <a:r>
                  <a:rPr lang="ru-RU" sz="1900" dirty="0"/>
                  <a:t>)</a:t>
                </a:r>
                <a:endParaRPr lang="en-US" sz="1900" dirty="0"/>
              </a:p>
              <a:p>
                <a:pPr marL="0" indent="0">
                  <a:buNone/>
                </a:pPr>
                <a:r>
                  <a:rPr lang="ru-RU" sz="2200" dirty="0"/>
                  <a:t>Модель содержит все параметры</a:t>
                </a:r>
              </a:p>
              <a:p>
                <a:pPr marL="0" indent="0">
                  <a:buNone/>
                </a:pP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параметры 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ARMA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/>
                  <a:t>Модель позволяет обрабатывать нелинейные тренды </a:t>
                </a:r>
                <a:r>
                  <a:rPr lang="en-US" sz="2200" dirty="0"/>
                  <a:t>(BOX-COX), 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dirty="0"/>
                  <a:t> сложные зависимости в данных </a:t>
                </a:r>
                <a:r>
                  <a:rPr lang="en-US" sz="2200" dirty="0"/>
                  <a:t>(ARMA)</a:t>
                </a:r>
                <a:endParaRPr lang="ru-RU" sz="2200" dirty="0"/>
              </a:p>
              <a:p>
                <a:pPr marL="0" indent="0">
                  <a:buNone/>
                </a:pPr>
                <a:endParaRPr lang="ru-RU" sz="21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8312" y="943900"/>
                <a:ext cx="11987216" cy="5312184"/>
              </a:xfrm>
              <a:blipFill>
                <a:blip r:embed="rId2"/>
                <a:stretch>
                  <a:fillRect l="-560" t="-17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pic>
        <p:nvPicPr>
          <p:cNvPr id="11266" name="Picture 2" descr="https://cdn-images-1.readmedium.com/v2/resize:fit:800/1*DXiuKJtjsWyCAURmRAegiQ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6756" y="4010808"/>
            <a:ext cx="4498772" cy="2553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5686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dirty="0"/>
              <a:t>TBATS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8312" y="943900"/>
                <a:ext cx="11987216" cy="2370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100" dirty="0"/>
                  <a:t>Модель </a:t>
                </a:r>
                <a:r>
                  <a:rPr lang="en-US" sz="2100" dirty="0"/>
                  <a:t>BATS </a:t>
                </a:r>
                <a:r>
                  <a:rPr lang="ru-RU" sz="2100" dirty="0"/>
                  <a:t>требует </a:t>
                </a:r>
              </a:p>
              <a:p>
                <a:r>
                  <a:rPr lang="ru-RU" sz="2100" dirty="0"/>
                  <a:t>чтобы все сезоны были целочисленными – для сложных ВР это не реально. </a:t>
                </a:r>
              </a:p>
              <a:p>
                <a:r>
                  <a:rPr lang="ru-RU" sz="2100" dirty="0"/>
                  <a:t>может иметь очень большое количество состояний (можно не соблюсти </a:t>
                </a:r>
                <a14:m>
                  <m:oMath xmlns:m="http://schemas.openxmlformats.org/officeDocument/2006/math"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21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2100" dirty="0"/>
              </a:p>
              <a:p>
                <a:r>
                  <a:rPr lang="ru-RU" sz="2100" dirty="0"/>
                  <a:t>Не может работать с нестационарными сезонностями.</a:t>
                </a:r>
              </a:p>
              <a:p>
                <a:pPr marL="0" lvl="1" indent="0">
                  <a:spcBef>
                    <a:spcPts val="1000"/>
                  </a:spcBef>
                  <a:buNone/>
                </a:pPr>
                <a:r>
                  <a:rPr lang="ru-RU" dirty="0"/>
                  <a:t>Для решения проблем разложим сезонность в ряд Фурье</a:t>
                </a:r>
              </a:p>
              <a:p>
                <a:pPr marL="0" indent="0">
                  <a:buNone/>
                </a:pPr>
                <a:endParaRPr lang="ru-RU" sz="21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8312" y="943900"/>
                <a:ext cx="11987216" cy="2370800"/>
              </a:xfrm>
              <a:blipFill>
                <a:blip r:embed="rId2"/>
                <a:stretch>
                  <a:fillRect l="-814" t="-28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57" y="3022581"/>
            <a:ext cx="4020267" cy="1697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/>
              <p:cNvSpPr txBox="1">
                <a:spLocks/>
              </p:cNvSpPr>
              <p:nvPr/>
            </p:nvSpPr>
            <p:spPr>
              <a:xfrm>
                <a:off x="4466506" y="3262315"/>
                <a:ext cx="7525469" cy="1397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и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ru-RU" dirty="0"/>
                  <a:t>— параметры сглаживания,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ru-RU" i="1" dirty="0" smtClean="0">
                        <a:latin typeface="Cambria Math" panose="02040503050406030204" pitchFamily="18" charset="0"/>
                      </a:rPr>
                      <m:t> = 2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𝜋</m:t>
                    </m:r>
                    <m:f>
                      <m:f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num>
                      <m:den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err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ru-RU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0" i="0" dirty="0" smtClean="0">
                        <a:latin typeface="Cambria Math" panose="02040503050406030204" pitchFamily="18" charset="0"/>
                      </a:rPr>
                      <m:t>частота</m:t>
                    </m:r>
                  </m:oMath>
                </a14:m>
                <a:r>
                  <a:rPr lang="ru-RU" dirty="0"/>
                  <a:t>. 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комплексные составляющие каждой частоты,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число гармоник, необходимое для i-й сезонной составляющей,  </a:t>
                </a:r>
              </a:p>
            </p:txBody>
          </p:sp>
        </mc:Choice>
        <mc:Fallback xmlns="">
          <p:sp>
            <p:nvSpPr>
              <p:cNvPr id="8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506" y="3262315"/>
                <a:ext cx="7525469" cy="1397944"/>
              </a:xfrm>
              <a:prstGeom prst="rect">
                <a:avLst/>
              </a:prstGeom>
              <a:blipFill>
                <a:blip r:embed="rId4"/>
                <a:stretch>
                  <a:fillRect l="-891" t="-4367" b="-69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19075" y="4686424"/>
                <a:ext cx="1082039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Ожидается, что для большинства сезонных составляющих потребуется меньшее количество гармоник, чем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что уменьшит количество оцениваемых параметров.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Если сезонность не стохастическая, параметр сглаживания выставляем в 0</a:t>
                </a:r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ru-RU" dirty="0"/>
                  <a:t>Сложная сезонность раскладывается на набор простых сезонностей. Избегаем ложных корреляций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075" y="4686424"/>
                <a:ext cx="10820399" cy="1200329"/>
              </a:xfrm>
              <a:prstGeom prst="rect">
                <a:avLst/>
              </a:prstGeom>
              <a:blipFill>
                <a:blip r:embed="rId5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Объект 2"/>
          <p:cNvSpPr txBox="1">
            <a:spLocks/>
          </p:cNvSpPr>
          <p:nvPr/>
        </p:nvSpPr>
        <p:spPr>
          <a:xfrm>
            <a:off x="138312" y="5905624"/>
            <a:ext cx="4610817" cy="495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100" dirty="0"/>
              <a:t>Модель </a:t>
            </a:r>
            <a:r>
              <a:rPr lang="en-US" sz="2100" dirty="0"/>
              <a:t>Trigonometric BATS  (TBATS)</a:t>
            </a:r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3688017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6" y="165100"/>
            <a:ext cx="10944225" cy="892175"/>
          </a:xfrm>
        </p:spPr>
        <p:txBody>
          <a:bodyPr/>
          <a:lstStyle/>
          <a:p>
            <a:r>
              <a:rPr lang="ru-RU" b="1" dirty="0"/>
              <a:t>Сложно-сезонные временные ряды </a:t>
            </a:r>
            <a:r>
              <a:rPr lang="en-US" b="1" dirty="0"/>
              <a:t>TBATS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09574" y="6563861"/>
            <a:ext cx="1288256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https://readmedium.com/how-to-forecast-time-series-with-multiple-seasonalities-23c77152347e</a:t>
            </a:r>
            <a:endParaRPr lang="ru-RU" sz="1400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3314" name="Picture 2" descr="https://cdn-images-1.readmedium.com/v2/resize:fit:800/1*DXiuKJtjsWyCAURmRAegiQ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" y="1825625"/>
            <a:ext cx="8543128" cy="4848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https://cdn-images-1.readmedium.com/v2/resize:fit:800/1*DugWww4Gftz6Prs-Zvcb4Q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581" y="1246639"/>
            <a:ext cx="6253737" cy="3580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https://cdn-images-1.readmedium.com/v2/resize:fit:800/1*DugWww4Gftz6Prs-Zvcb4Q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472" b="82675"/>
          <a:stretch/>
        </p:blipFill>
        <p:spPr bwMode="auto">
          <a:xfrm>
            <a:off x="10029586" y="4535152"/>
            <a:ext cx="1922732" cy="2001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7153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28434" y="281565"/>
            <a:ext cx="10515600" cy="1325563"/>
          </a:xfrm>
        </p:spPr>
        <p:txBody>
          <a:bodyPr/>
          <a:lstStyle/>
          <a:p>
            <a:r>
              <a:rPr lang="ru-RU" dirty="0"/>
              <a:t>Использование разложений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95604" y="1237796"/>
            <a:ext cx="10515600" cy="4351338"/>
          </a:xfrm>
        </p:spPr>
        <p:txBody>
          <a:bodyPr/>
          <a:lstStyle/>
          <a:p>
            <a:r>
              <a:rPr lang="ru-RU" dirty="0"/>
              <a:t>Разложение может быть использовано вместе с предсказанием по составляющим.</a:t>
            </a:r>
          </a:p>
          <a:p>
            <a:r>
              <a:rPr lang="ru-RU" dirty="0"/>
              <a:t>Такой подход может быть меньше подвержен переобучению.</a:t>
            </a:r>
          </a:p>
          <a:p>
            <a:pPr lvl="1"/>
            <a:r>
              <a:rPr lang="ru-RU" dirty="0"/>
              <a:t>Чем меньше параметров модели, тем устойчивей ее работа.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59" y="3634954"/>
            <a:ext cx="10810875" cy="3143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93298" y="3413465"/>
            <a:ext cx="403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Пример: </a:t>
            </a:r>
            <a:r>
              <a:rPr lang="en-US" dirty="0"/>
              <a:t>STL </a:t>
            </a:r>
            <a:r>
              <a:rPr lang="ru-RU" dirty="0"/>
              <a:t>разложение + </a:t>
            </a:r>
            <a:r>
              <a:rPr lang="en-US" dirty="0"/>
              <a:t>SES </a:t>
            </a:r>
            <a:r>
              <a:rPr lang="ru-RU" dirty="0"/>
              <a:t>прогноз</a:t>
            </a:r>
          </a:p>
        </p:txBody>
      </p:sp>
    </p:spTree>
    <p:extLst>
      <p:ext uri="{BB962C8B-B14F-4D97-AF65-F5344CB8AC3E}">
        <p14:creationId xmlns:p14="http://schemas.microsoft.com/office/powerpoint/2010/main" val="862783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82505"/>
            <a:ext cx="10799154" cy="678555"/>
          </a:xfrm>
        </p:spPr>
        <p:txBody>
          <a:bodyPr>
            <a:normAutofit fontScale="90000"/>
          </a:bodyPr>
          <a:lstStyle/>
          <a:p>
            <a:r>
              <a:rPr lang="ru-RU" dirty="0"/>
              <a:t>Использование Модели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784860"/>
            <a:ext cx="11963400" cy="595122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Если ВР имеет сложный тренд со структурными изменениями </a:t>
            </a:r>
            <a:r>
              <a:rPr lang="ru-RU" sz="1800" b="1" dirty="0"/>
              <a:t>(новизна, точки перегиба, выбросы и пропуски)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ВР требует обучения долгосрочной выборке и необходим длинный горизонт предсказания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STL – </a:t>
            </a:r>
            <a:r>
              <a:rPr lang="ru-RU" sz="1800" dirty="0"/>
              <a:t>сложность разложения зависит от объема выборки, работает преимущественно </a:t>
            </a:r>
            <a:r>
              <a:rPr lang="en-US" sz="1800" dirty="0"/>
              <a:t>offline</a:t>
            </a:r>
            <a:r>
              <a:rPr lang="ru-RU" sz="1800" dirty="0"/>
              <a:t>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ETS, TBATS</a:t>
            </a:r>
            <a:r>
              <a:rPr lang="ru-RU" sz="1800" dirty="0"/>
              <a:t>, </a:t>
            </a:r>
            <a:r>
              <a:rPr lang="en-US" sz="1800" dirty="0"/>
              <a:t>Theta – </a:t>
            </a:r>
            <a:r>
              <a:rPr lang="ru-RU" sz="1800" dirty="0"/>
              <a:t>работают для относительно простых трендов (коротких выборок)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Сложная множественная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Сезонность Может быть связна с внешними факторами (продаже зонтов от того насколько дождливый год)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STL, ETS, Theta – </a:t>
            </a:r>
            <a:r>
              <a:rPr lang="ru-RU" sz="1800" dirty="0"/>
              <a:t>простая сезонность 1-2 компоненты. На длинном горизонте может не работать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TBATS – </a:t>
            </a:r>
            <a:r>
              <a:rPr lang="ru-RU" sz="1800" dirty="0"/>
              <a:t>для простых трендов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Можно напрямую формализовать модель со сложным поведением</a:t>
            </a:r>
            <a:r>
              <a:rPr lang="ru-RU" sz="2000" dirty="0"/>
              <a:t>.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Требует аналитики для правильно формализации модели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Можно заложить нестандартные паттерны (напр. праздничные дни, мигрирующие от года к году)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Можно заложить объясняющие переменные (демография – продажа памперсов)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Подход устойчив к нарушениям структурны (выбросы, пропуски, аномалии)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Модель работает онлайн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Результаты зависит то того на сколько модель соответствует жизни </a:t>
            </a:r>
          </a:p>
          <a:p>
            <a:pPr lvl="2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Нарушение модельных условий сильно влияет на </a:t>
            </a:r>
            <a:r>
              <a:rPr lang="ru-RU" sz="1800" dirty="0" err="1"/>
              <a:t>результа</a:t>
            </a:r>
            <a:endParaRPr lang="ru-RU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 err="1"/>
              <a:t>Generalized</a:t>
            </a:r>
            <a:r>
              <a:rPr lang="ru-RU" sz="2000" b="1" dirty="0"/>
              <a:t> </a:t>
            </a:r>
            <a:r>
              <a:rPr lang="ru-RU" sz="2000" b="1" dirty="0" err="1"/>
              <a:t>Adaptive</a:t>
            </a:r>
            <a:r>
              <a:rPr lang="ru-RU" sz="2000" b="1" dirty="0"/>
              <a:t> </a:t>
            </a:r>
            <a:r>
              <a:rPr lang="ru-RU" sz="2000" b="1" dirty="0" err="1"/>
              <a:t>Regression</a:t>
            </a:r>
            <a:r>
              <a:rPr lang="ru-RU" sz="2000" b="1" dirty="0"/>
              <a:t> (GAR) </a:t>
            </a:r>
            <a:r>
              <a:rPr lang="ru-RU" sz="2000" dirty="0"/>
              <a:t>— это класс моделей регрессии, которые адаптируются к изменяющимся условиям данных, особенно полезны при работе с нестационарными и сезонными временными рядами, GAR-методы позволяют гибко учитывать сложные зависимости, 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28553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99103" y="365125"/>
            <a:ext cx="11054697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Вопросы для самоконтроля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9103" y="1042586"/>
            <a:ext cx="11690647" cy="5614587"/>
          </a:xfrm>
        </p:spPr>
        <p:txBody>
          <a:bodyPr/>
          <a:lstStyle/>
          <a:p>
            <a:pPr lvl="0"/>
            <a:r>
              <a:rPr lang="ru-RU" dirty="0"/>
              <a:t>Объясните </a:t>
            </a:r>
            <a:r>
              <a:rPr lang="ru-RU" b="1" dirty="0"/>
              <a:t>основные подходы к экспоненциальному сглаживанию</a:t>
            </a:r>
            <a:r>
              <a:rPr lang="ru-RU" dirty="0"/>
              <a:t>. Какая интуиция сопутствует таким подходам. Где подходы применимы. В каких задачах подходов будет недостаточно и как решить эту проблему?  </a:t>
            </a:r>
          </a:p>
          <a:p>
            <a:r>
              <a:rPr lang="ru-RU" dirty="0" smtClean="0"/>
              <a:t>Объясните </a:t>
            </a:r>
            <a:r>
              <a:rPr lang="ru-RU" b="1" dirty="0" smtClean="0"/>
              <a:t>почему </a:t>
            </a:r>
            <a:r>
              <a:rPr lang="en-US" b="1" dirty="0" smtClean="0"/>
              <a:t>SES-based </a:t>
            </a:r>
            <a:r>
              <a:rPr lang="ru-RU" b="1" dirty="0" smtClean="0"/>
              <a:t>подходы имеют особое место </a:t>
            </a:r>
            <a:r>
              <a:rPr lang="ru-RU" dirty="0" smtClean="0"/>
              <a:t>среди других подходов на основе скользящего среднего. Почему </a:t>
            </a:r>
            <a:r>
              <a:rPr lang="en-US" dirty="0" smtClean="0"/>
              <a:t>SES – </a:t>
            </a:r>
            <a:r>
              <a:rPr lang="ru-RU" dirty="0" smtClean="0"/>
              <a:t>итерационный подход? Какая интуиция соответствует переходу от </a:t>
            </a:r>
            <a:r>
              <a:rPr lang="en-US" dirty="0" smtClean="0"/>
              <a:t>SES </a:t>
            </a:r>
            <a:r>
              <a:rPr lang="ru-RU" dirty="0" smtClean="0"/>
              <a:t>к </a:t>
            </a:r>
            <a:r>
              <a:rPr lang="en-US" dirty="0" smtClean="0"/>
              <a:t>DES </a:t>
            </a:r>
            <a:r>
              <a:rPr lang="ru-RU" dirty="0" smtClean="0"/>
              <a:t>и к </a:t>
            </a:r>
            <a:r>
              <a:rPr lang="en-US" dirty="0" smtClean="0"/>
              <a:t>TES. </a:t>
            </a:r>
            <a:endParaRPr lang="ru-RU" dirty="0" smtClean="0"/>
          </a:p>
          <a:p>
            <a:r>
              <a:rPr lang="ru-RU" b="1" dirty="0" smtClean="0"/>
              <a:t>Объясните подход </a:t>
            </a:r>
            <a:r>
              <a:rPr lang="en-US" b="1" dirty="0" smtClean="0"/>
              <a:t>TBATS</a:t>
            </a:r>
            <a:r>
              <a:rPr lang="en-US" dirty="0" smtClean="0"/>
              <a:t>, </a:t>
            </a:r>
            <a:r>
              <a:rPr lang="ru-RU" dirty="0" smtClean="0"/>
              <a:t>где он используется? Приведите примеры задач где недостаточно </a:t>
            </a:r>
            <a:r>
              <a:rPr lang="en-US" dirty="0" smtClean="0"/>
              <a:t>ETS </a:t>
            </a:r>
            <a:r>
              <a:rPr lang="ru-RU" dirty="0" smtClean="0"/>
              <a:t>и нужно использовать </a:t>
            </a:r>
            <a:r>
              <a:rPr lang="en-US" dirty="0" smtClean="0"/>
              <a:t>TBATS. </a:t>
            </a:r>
            <a:r>
              <a:rPr lang="ru-RU" dirty="0" smtClean="0"/>
              <a:t>Предложите пути решения таких задач без </a:t>
            </a:r>
            <a:r>
              <a:rPr lang="en-US" dirty="0" smtClean="0"/>
              <a:t>TBATS</a:t>
            </a:r>
            <a:r>
              <a:rPr lang="ru-RU" dirty="0" smtClean="0"/>
              <a:t>, в чем их особенность</a:t>
            </a:r>
            <a:r>
              <a:rPr lang="ru-RU" dirty="0" smtClean="0"/>
              <a:t>.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868368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4088</TotalTime>
  <Words>1427</Words>
  <Application>Microsoft Office PowerPoint</Application>
  <PresentationFormat>Широкоэкранный</PresentationFormat>
  <Paragraphs>269</Paragraphs>
  <Slides>25</Slides>
  <Notes>9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3" baseType="lpstr">
      <vt:lpstr>__YSText_8fb396</vt:lpstr>
      <vt:lpstr>Arial</vt:lpstr>
      <vt:lpstr>Calibri</vt:lpstr>
      <vt:lpstr>Calibri Light</vt:lpstr>
      <vt:lpstr>Cambria Math</vt:lpstr>
      <vt:lpstr>Open Sans</vt:lpstr>
      <vt:lpstr>Times New Roman</vt:lpstr>
      <vt:lpstr>Тема Office</vt:lpstr>
      <vt:lpstr>Предсказания ВР с явной TS моделью</vt:lpstr>
      <vt:lpstr>TS-Модели временных рядов</vt:lpstr>
      <vt:lpstr>TS-Модели временных рядов Mixing</vt:lpstr>
      <vt:lpstr>Модель экспоненциального сглаживания  SES (Single Exponential Smoothing) </vt:lpstr>
      <vt:lpstr>Модель экспоненциального сглаживания. Замечания</vt:lpstr>
      <vt:lpstr>Модель экспоненциального сглаживания. Замечания </vt:lpstr>
      <vt:lpstr>Модель Холта - двойное экспоненциальное сглаживание</vt:lpstr>
      <vt:lpstr>Модель Холта - двойное экспоненциальное сглаживание</vt:lpstr>
      <vt:lpstr>Модель Holt-Winters  - тройное экспоненциальное сглаживание</vt:lpstr>
      <vt:lpstr>Модель Holt-Winters  - тройное экспоненциальное сглаживание</vt:lpstr>
      <vt:lpstr>Модели Error-Trend-Seasonality (экспоненциальное сглаживание)</vt:lpstr>
      <vt:lpstr>Модели Error-Trend-Seasonality (экспоненциальное сглаживание)</vt:lpstr>
      <vt:lpstr>Модели Error-Trend-Seasonality. Замечания</vt:lpstr>
      <vt:lpstr>Модели Error-Trend-Seasonality. Замечания</vt:lpstr>
      <vt:lpstr>Модели Error-Trend-Seasonality. Информационный критерий </vt:lpstr>
      <vt:lpstr>Сложные сезонности</vt:lpstr>
      <vt:lpstr>Сложно-сезонные временные ряды</vt:lpstr>
      <vt:lpstr>Сложно-сезонные временные ряды</vt:lpstr>
      <vt:lpstr>Сложные сезонности  </vt:lpstr>
      <vt:lpstr>Сложно-сезонные временные ряды BATS</vt:lpstr>
      <vt:lpstr>Сложно-сезонные временные ряды TBATS</vt:lpstr>
      <vt:lpstr>Сложно-сезонные временные ряды TBATS</vt:lpstr>
      <vt:lpstr>Использование разложений</vt:lpstr>
      <vt:lpstr>Использование Модели ВР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224</cp:revision>
  <dcterms:created xsi:type="dcterms:W3CDTF">2021-10-31T10:57:36Z</dcterms:created>
  <dcterms:modified xsi:type="dcterms:W3CDTF">2026-05-04T09:25:01Z</dcterms:modified>
</cp:coreProperties>
</file>