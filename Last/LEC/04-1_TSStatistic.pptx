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338" r:id="rId2"/>
    <p:sldId id="387" r:id="rId3"/>
    <p:sldId id="382" r:id="rId4"/>
    <p:sldId id="390" r:id="rId5"/>
    <p:sldId id="393" r:id="rId6"/>
    <p:sldId id="388" r:id="rId7"/>
    <p:sldId id="391" r:id="rId8"/>
    <p:sldId id="454" r:id="rId9"/>
    <p:sldId id="392" r:id="rId10"/>
    <p:sldId id="395" r:id="rId11"/>
    <p:sldId id="401" r:id="rId12"/>
    <p:sldId id="447" r:id="rId13"/>
    <p:sldId id="450" r:id="rId14"/>
    <p:sldId id="451" r:id="rId15"/>
    <p:sldId id="348" r:id="rId16"/>
    <p:sldId id="394" r:id="rId17"/>
    <p:sldId id="351" r:id="rId18"/>
    <p:sldId id="396" r:id="rId19"/>
    <p:sldId id="350" r:id="rId20"/>
    <p:sldId id="352" r:id="rId21"/>
    <p:sldId id="455" r:id="rId22"/>
    <p:sldId id="353" r:id="rId23"/>
    <p:sldId id="409" r:id="rId24"/>
    <p:sldId id="397" r:id="rId25"/>
    <p:sldId id="399" r:id="rId26"/>
    <p:sldId id="452" r:id="rId27"/>
    <p:sldId id="456" r:id="rId28"/>
    <p:sldId id="457" r:id="rId29"/>
    <p:sldId id="458" r:id="rId30"/>
    <p:sldId id="459" r:id="rId31"/>
    <p:sldId id="453" r:id="rId32"/>
    <p:sldId id="40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3973" autoAdjust="0"/>
  </p:normalViewPr>
  <p:slideViewPr>
    <p:cSldViewPr snapToGrid="0">
      <p:cViewPr varScale="1">
        <p:scale>
          <a:sx n="110" d="100"/>
          <a:sy n="110" d="100"/>
        </p:scale>
        <p:origin x="22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04.05.2026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10466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246147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6</a:t>
            </a:fld>
            <a:endParaRPr lang="ru-RU"/>
          </a:p>
        </p:txBody>
      </p:sp>
    </p:spTree>
    <p:extLst>
      <p:ext uri="{BB962C8B-B14F-4D97-AF65-F5344CB8AC3E}">
        <p14:creationId xmlns:p14="http://schemas.microsoft.com/office/powerpoint/2010/main" val="428170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189617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1"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191668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18BA-D680-7B96-02F9-861C902A4A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6B88F9-A535-B316-A9F8-13B986774D6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7998119-CE33-144F-7234-9811AEC1CB6D}"/>
              </a:ext>
            </a:extLst>
          </p:cNvPr>
          <p:cNvSpPr>
            <a:spLocks noGrp="1"/>
          </p:cNvSpPr>
          <p:nvPr>
            <p:ph type="body" idx="1"/>
          </p:nvPr>
        </p:nvSpPr>
        <p:spPr/>
        <p:txBody>
          <a:bodyPr/>
          <a:lstStyle/>
          <a:p>
            <a:endParaRPr lang="ru-RU" b="1" dirty="0"/>
          </a:p>
        </p:txBody>
      </p:sp>
      <p:sp>
        <p:nvSpPr>
          <p:cNvPr id="4" name="Номер слайда 3">
            <a:extLst>
              <a:ext uri="{FF2B5EF4-FFF2-40B4-BE49-F238E27FC236}">
                <a16:creationId xmlns:a16="http://schemas.microsoft.com/office/drawing/2014/main" id="{B657A107-06D5-30F3-A29E-2711A90B0B2C}"/>
              </a:ext>
            </a:extLst>
          </p:cNvPr>
          <p:cNvSpPr>
            <a:spLocks noGrp="1"/>
          </p:cNvSpPr>
          <p:nvPr>
            <p:ph type="sldNum" sz="quarter" idx="5"/>
          </p:nvPr>
        </p:nvSpPr>
        <p:spPr/>
        <p:txBody>
          <a:bodyPr/>
          <a:lstStyle/>
          <a:p>
            <a:fld id="{9DA1EE30-E435-D745-B23A-FF31C831763F}" type="slidenum">
              <a:rPr lang="ru-RU" smtClean="0"/>
              <a:t>13</a:t>
            </a:fld>
            <a:endParaRPr lang="ru-RU"/>
          </a:p>
        </p:txBody>
      </p:sp>
    </p:spTree>
    <p:extLst>
      <p:ext uri="{BB962C8B-B14F-4D97-AF65-F5344CB8AC3E}">
        <p14:creationId xmlns:p14="http://schemas.microsoft.com/office/powerpoint/2010/main" val="403299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0156D06-6B42-419D-A61C-F7AD45031849}" type="slidenum">
              <a:rPr lang="ru-RU" smtClean="0"/>
              <a:t>15</a:t>
            </a:fld>
            <a:endParaRPr lang="ru-RU"/>
          </a:p>
        </p:txBody>
      </p:sp>
    </p:spTree>
    <p:extLst>
      <p:ext uri="{BB962C8B-B14F-4D97-AF65-F5344CB8AC3E}">
        <p14:creationId xmlns:p14="http://schemas.microsoft.com/office/powerpoint/2010/main" val="1543828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275013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596377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26</a:t>
            </a:fld>
            <a:endParaRPr lang="ru-RU"/>
          </a:p>
        </p:txBody>
      </p:sp>
    </p:spTree>
    <p:extLst>
      <p:ext uri="{BB962C8B-B14F-4D97-AF65-F5344CB8AC3E}">
        <p14:creationId xmlns:p14="http://schemas.microsoft.com/office/powerpoint/2010/main" val="389664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https://www.ritchievink.com/blog/2018/10/09/build-facebooks-prophet-in-pymc3-bayesian-time-series-analyis-with-generalized-additive-models/</a:t>
            </a:r>
            <a:endParaRPr lang="ru-RU" dirty="0"/>
          </a:p>
        </p:txBody>
      </p:sp>
      <p:sp>
        <p:nvSpPr>
          <p:cNvPr id="4" name="Номер слайда 3"/>
          <p:cNvSpPr>
            <a:spLocks noGrp="1"/>
          </p:cNvSpPr>
          <p:nvPr>
            <p:ph type="sldNum" sz="quarter" idx="10"/>
          </p:nvPr>
        </p:nvSpPr>
        <p:spPr/>
        <p:txBody>
          <a:bodyPr/>
          <a:lstStyle/>
          <a:p>
            <a:fld id="{1EA4F326-5F8D-6A4F-9B75-A3402553DF5F}" type="slidenum">
              <a:rPr lang="ru-RU" smtClean="0"/>
              <a:t>27</a:t>
            </a:fld>
            <a:endParaRPr lang="ru-RU"/>
          </a:p>
        </p:txBody>
      </p:sp>
    </p:spTree>
    <p:extLst>
      <p:ext uri="{BB962C8B-B14F-4D97-AF65-F5344CB8AC3E}">
        <p14:creationId xmlns:p14="http://schemas.microsoft.com/office/powerpoint/2010/main" val="193957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04.05.2026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04.05.2026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04.05.2026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04.05.2026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1417320" y="1224565"/>
            <a:ext cx="9144000" cy="2387600"/>
          </a:xfrm>
        </p:spPr>
        <p:txBody>
          <a:bodyPr>
            <a:noAutofit/>
          </a:bodyPr>
          <a:lstStyle/>
          <a:p>
            <a:r>
              <a:rPr lang="ru-RU" b="1" dirty="0"/>
              <a:t>Статистический подход к анализу </a:t>
            </a:r>
            <a:br>
              <a:rPr lang="ru-RU" b="1" dirty="0"/>
            </a:br>
            <a:r>
              <a:rPr lang="ru-RU" b="1" dirty="0"/>
              <a:t>временных рядов.</a:t>
            </a:r>
            <a:endParaRPr lang="en-US" dirty="0"/>
          </a:p>
        </p:txBody>
      </p:sp>
      <p:sp>
        <p:nvSpPr>
          <p:cNvPr id="3" name="Номер слайда 2">
            <a:extLst>
              <a:ext uri="{FF2B5EF4-FFF2-40B4-BE49-F238E27FC236}">
                <a16:creationId xmlns:a16="http://schemas.microsoft.com/office/drawing/2014/main" id="{E9A19EF5-ACCD-EF26-C88D-A3ED3DC99C54}"/>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398432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708799"/>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86104" y="810561"/>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ts val="60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algn="just" eaLnBrk="0" fontAlgn="base" hangingPunct="0">
                  <a:lnSpc>
                    <a:spcPct val="100000"/>
                  </a:lnSpc>
                  <a:spcBef>
                    <a:spcPts val="60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898525" indent="0" eaLnBrk="0" fontAlgn="base" hangingPunct="0">
                  <a:lnSpc>
                    <a:spcPct val="100000"/>
                  </a:lnSpc>
                  <a:spcBef>
                    <a:spcPct val="0"/>
                  </a:spcBef>
                  <a:spcAft>
                    <a:spcPct val="0"/>
                  </a:spcAft>
                  <a:buNone/>
                </a:pP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a:t>
                </a:r>
                <a:endParaRPr lang="en-US" altLang="en-US" sz="2000" dirty="0"/>
              </a:p>
              <a:p>
                <a:pPr marL="1241425" indent="-342900" eaLnBrk="0" fontAlgn="base" hangingPunct="0">
                  <a:lnSpc>
                    <a:spcPct val="100000"/>
                  </a:lnSpc>
                  <a:spcBef>
                    <a:spcPct val="0"/>
                  </a:spcBef>
                  <a:spcAft>
                    <a:spcPct val="0"/>
                  </a:spcAft>
                </a:pPr>
                <a:r>
                  <a:rPr lang="ru-RU" altLang="en-US" sz="2000" dirty="0"/>
                  <a:t>цикличность кризисов,</a:t>
                </a:r>
                <a:endParaRPr lang="en-US" altLang="en-US" sz="2000" dirty="0"/>
              </a:p>
              <a:p>
                <a:pPr marL="1241425" indent="-342900" eaLnBrk="0" fontAlgn="base" hangingPunct="0">
                  <a:lnSpc>
                    <a:spcPct val="100000"/>
                  </a:lnSpc>
                  <a:spcBef>
                    <a:spcPct val="0"/>
                  </a:spcBef>
                  <a:spcAft>
                    <a:spcPct val="0"/>
                  </a:spcAft>
                </a:pPr>
                <a:r>
                  <a:rPr lang="ru-RU" altLang="en-US" sz="2000" b="1" dirty="0"/>
                  <a:t>тренд</a:t>
                </a:r>
                <a:r>
                  <a:rPr lang="ru-RU" altLang="en-US" sz="2000" dirty="0"/>
                  <a:t> экономики</a:t>
                </a:r>
                <a:endParaRPr lang="en-US" altLang="en-US" sz="2000" dirty="0"/>
              </a:p>
              <a:p>
                <a:pPr marL="1241425" indent="-342900" eaLnBrk="0" fontAlgn="base" hangingPunct="0">
                  <a:lnSpc>
                    <a:spcPct val="100000"/>
                  </a:lnSpc>
                  <a:spcBef>
                    <a:spcPct val="0"/>
                  </a:spcBef>
                  <a:spcAft>
                    <a:spcPct val="0"/>
                  </a:spcAft>
                </a:pPr>
                <a:r>
                  <a:rPr lang="ru-RU" altLang="en-US" sz="2000" b="1" dirty="0"/>
                  <a:t>сезонные факторы ( год, неделя и </a:t>
                </a:r>
                <a:r>
                  <a:rPr lang="ru-RU" altLang="en-US" sz="2000" b="1" dirty="0" err="1"/>
                  <a:t>тд</a:t>
                </a:r>
                <a:r>
                  <a:rPr lang="ru-RU" altLang="en-US" sz="2000" b="1" dirty="0"/>
                  <a:t>)</a:t>
                </a:r>
              </a:p>
              <a:p>
                <a:pPr marL="0" indent="0" eaLnBrk="0" fontAlgn="base" hangingPunct="0">
                  <a:lnSpc>
                    <a:spcPct val="100000"/>
                  </a:lnSpc>
                  <a:spcBef>
                    <a:spcPct val="0"/>
                  </a:spcBef>
                  <a:spcAft>
                    <a:spcPct val="0"/>
                  </a:spcAft>
                  <a:buNone/>
                </a:pPr>
                <a:endParaRPr lang="ru-RU" alt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186104" y="810561"/>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Autofit/>
          </a:bodyPr>
          <a:lstStyle/>
          <a:p>
            <a:pPr algn="ctr"/>
            <a:r>
              <a:rPr lang="ru-RU" sz="4000" b="1" dirty="0"/>
              <a:t>Особенности модели временных рядов</a:t>
            </a:r>
            <a:endParaRPr lang="en-US" sz="4000"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14037" y="870413"/>
            <a:ext cx="11386458" cy="5460318"/>
          </a:xfrm>
        </p:spPr>
        <p:txBody>
          <a:bodyPr>
            <a:normAutofit/>
          </a:bodyPr>
          <a:lstStyle/>
          <a:p>
            <a:pPr lvl="0">
              <a:lnSpc>
                <a:spcPct val="100000"/>
              </a:lnSpc>
              <a:spcBef>
                <a:spcPts val="0"/>
              </a:spcBef>
            </a:pPr>
            <a:r>
              <a:rPr lang="ru-RU" sz="2100" dirty="0"/>
              <a:t>Как правило тренд и сезонность объяснить частично можно (это структура ВР)</a:t>
            </a:r>
          </a:p>
          <a:p>
            <a:pPr lvl="1">
              <a:lnSpc>
                <a:spcPct val="100000"/>
              </a:lnSpc>
              <a:spcBef>
                <a:spcPts val="0"/>
              </a:spcBef>
            </a:pPr>
            <a:r>
              <a:rPr lang="ru-RU" sz="1700" dirty="0"/>
              <a:t>можно разложить ВР на тренд и  сезонность известного типа. То что останется – мы считаем шумом (случайные колебания).</a:t>
            </a:r>
          </a:p>
          <a:p>
            <a:pPr lvl="0">
              <a:lnSpc>
                <a:spcPct val="100000"/>
              </a:lnSpc>
              <a:spcBef>
                <a:spcPts val="0"/>
              </a:spcBef>
            </a:pPr>
            <a:r>
              <a:rPr lang="ru-RU" sz="2100" dirty="0"/>
              <a:t>Шум создает неопределенность или смещение в результатах предсказаний</a:t>
            </a:r>
          </a:p>
          <a:p>
            <a:pPr lvl="0">
              <a:lnSpc>
                <a:spcPct val="100000"/>
              </a:lnSpc>
              <a:spcBef>
                <a:spcPts val="0"/>
              </a:spcBef>
            </a:pPr>
            <a:r>
              <a:rPr lang="ru-RU" sz="2100" dirty="0"/>
              <a:t>Данные с шумом можно описать статистически (ввести статистические гипотезы о данных)</a:t>
            </a:r>
          </a:p>
          <a:p>
            <a:pPr lvl="0">
              <a:lnSpc>
                <a:spcPct val="100000"/>
              </a:lnSpc>
              <a:spcBef>
                <a:spcPts val="0"/>
              </a:spcBef>
            </a:pPr>
            <a:r>
              <a:rPr lang="ru-RU" sz="2100" dirty="0"/>
              <a:t>При статистическом анализе ВР введем стат. Характеристики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268"/>
          <a:stretch>
            <a:fillRect/>
          </a:stretch>
        </p:blipFill>
        <p:spPr bwMode="auto">
          <a:xfrm>
            <a:off x="7010547" y="3340005"/>
            <a:ext cx="3690915" cy="20724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400800" y="6452732"/>
            <a:ext cx="4577561" cy="276999"/>
          </a:xfrm>
          <a:prstGeom prst="rect">
            <a:avLst/>
          </a:prstGeom>
          <a:noFill/>
        </p:spPr>
        <p:txBody>
          <a:bodyPr wrap="square">
            <a:spAutoFit/>
          </a:bodyPr>
          <a:lstStyle/>
          <a:p>
            <a:r>
              <a:rPr lang="ru-RU" sz="1200" dirty="0" err="1"/>
              <a:t>https</a:t>
            </a:r>
            <a:r>
              <a:rPr lang="ru-RU" sz="1200" dirty="0"/>
              <a:t>://</a:t>
            </a:r>
            <a:r>
              <a:rPr lang="ru-RU" sz="1200" dirty="0" err="1"/>
              <a:t>www.mdpi.com</a:t>
            </a:r>
            <a:r>
              <a:rPr lang="ru-RU" sz="1200"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6328" t="-1725" r="-6328" b="4206"/>
          <a:stretch>
            <a:fillRect/>
          </a:stretch>
        </p:blipFill>
        <p:spPr bwMode="auto">
          <a:xfrm>
            <a:off x="7403218" y="3443143"/>
            <a:ext cx="4486067" cy="21685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60579" y="5090821"/>
            <a:ext cx="6886352"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t="8002" r="37620" b="4330"/>
          <a:stretch>
            <a:fillRect/>
          </a:stretch>
        </p:blipFill>
        <p:spPr bwMode="auto">
          <a:xfrm>
            <a:off x="6793471" y="3146214"/>
            <a:ext cx="4834467" cy="3350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10E1-0017-BDF5-41D6-ECD9FB8B0037}"/>
              </a:ext>
            </a:extLst>
          </p:cNvPr>
          <p:cNvSpPr txBox="1"/>
          <p:nvPr/>
        </p:nvSpPr>
        <p:spPr>
          <a:xfrm>
            <a:off x="241270" y="2838406"/>
            <a:ext cx="6859122" cy="2585323"/>
          </a:xfrm>
          <a:prstGeom prst="rect">
            <a:avLst/>
          </a:prstGeom>
          <a:noFill/>
        </p:spPr>
        <p:txBody>
          <a:bodyPr wrap="none" rtlCol="0">
            <a:spAutoFit/>
          </a:bodyPr>
          <a:lstStyle/>
          <a:p>
            <a:r>
              <a:rPr lang="ru-RU" b="1" dirty="0"/>
              <a:t>Пример 1</a:t>
            </a:r>
            <a:br>
              <a:rPr lang="ru-RU" b="1" dirty="0"/>
            </a:br>
            <a:r>
              <a:rPr lang="ru-RU" b="1" dirty="0"/>
              <a:t>Прогнозирование спроса в баре:</a:t>
            </a:r>
            <a:endParaRPr lang="ru-RU" dirty="0"/>
          </a:p>
          <a:p>
            <a:r>
              <a:rPr lang="ru-RU" b="1" dirty="0"/>
              <a:t>Структура:</a:t>
            </a:r>
            <a:endParaRPr lang="ru-RU" dirty="0"/>
          </a:p>
          <a:p>
            <a:pPr lvl="1"/>
            <a:r>
              <a:rPr lang="ru-RU" dirty="0"/>
              <a:t>Повышенные продажи по пятницам (</a:t>
            </a:r>
            <a:r>
              <a:rPr lang="ru-RU" dirty="0" err="1"/>
              <a:t>holiday</a:t>
            </a:r>
            <a:r>
              <a:rPr lang="en-US" dirty="0"/>
              <a:t>s effect)</a:t>
            </a:r>
            <a:r>
              <a:rPr lang="ru-RU" dirty="0"/>
              <a:t>.</a:t>
            </a:r>
          </a:p>
          <a:p>
            <a:pPr lvl="1"/>
            <a:r>
              <a:rPr lang="ru-RU" dirty="0"/>
              <a:t>Рост выручки летом (сезонность).</a:t>
            </a:r>
          </a:p>
          <a:p>
            <a:pPr lvl="1"/>
            <a:r>
              <a:rPr lang="ru-RU" dirty="0"/>
              <a:t>Влияние футбольных матчей (календарные эффекты).</a:t>
            </a:r>
          </a:p>
          <a:p>
            <a:r>
              <a:rPr lang="ru-RU" b="1" dirty="0"/>
              <a:t>Шум:</a:t>
            </a:r>
            <a:endParaRPr lang="ru-RU" dirty="0"/>
          </a:p>
          <a:p>
            <a:pPr lvl="1"/>
            <a:r>
              <a:rPr lang="ru-RU" dirty="0"/>
              <a:t>Изменение числа посетителей по пятницам (или другим дням)</a:t>
            </a:r>
          </a:p>
          <a:p>
            <a:endParaRPr lang="ru-RU" dirty="0"/>
          </a:p>
        </p:txBody>
      </p:sp>
      <p:sp>
        <p:nvSpPr>
          <p:cNvPr id="13" name="TextBox 12">
            <a:extLst>
              <a:ext uri="{FF2B5EF4-FFF2-40B4-BE49-F238E27FC236}">
                <a16:creationId xmlns:a16="http://schemas.microsoft.com/office/drawing/2014/main" id="{394BD40F-2444-22EE-0F3C-A35F292D5B5A}"/>
              </a:ext>
            </a:extLst>
          </p:cNvPr>
          <p:cNvSpPr txBox="1"/>
          <p:nvPr/>
        </p:nvSpPr>
        <p:spPr>
          <a:xfrm>
            <a:off x="6793470" y="2725644"/>
            <a:ext cx="4707025" cy="369332"/>
          </a:xfrm>
          <a:prstGeom prst="rect">
            <a:avLst/>
          </a:prstGeom>
          <a:noFill/>
        </p:spPr>
        <p:txBody>
          <a:bodyPr wrap="square">
            <a:spAutoFit/>
          </a:bodyPr>
          <a:lstStyle/>
          <a:p>
            <a:r>
              <a:rPr lang="ru-RU" b="1" dirty="0"/>
              <a:t>Пример 2 </a:t>
            </a:r>
            <a:r>
              <a:rPr lang="en" dirty="0"/>
              <a:t>Electricity Transformer Temperature</a:t>
            </a:r>
            <a:endParaRPr lang="ru-RU" dirty="0"/>
          </a:p>
        </p:txBody>
      </p:sp>
      <p:sp>
        <p:nvSpPr>
          <p:cNvPr id="18" name="TextBox 17">
            <a:extLst>
              <a:ext uri="{FF2B5EF4-FFF2-40B4-BE49-F238E27FC236}">
                <a16:creationId xmlns:a16="http://schemas.microsoft.com/office/drawing/2014/main" id="{5DD35081-F0C8-5927-0982-2E8D3316FBF4}"/>
              </a:ext>
            </a:extLst>
          </p:cNvPr>
          <p:cNvSpPr txBox="1"/>
          <p:nvPr/>
        </p:nvSpPr>
        <p:spPr>
          <a:xfrm>
            <a:off x="142389" y="5787944"/>
            <a:ext cx="6858000" cy="900246"/>
          </a:xfrm>
          <a:prstGeom prst="rect">
            <a:avLst/>
          </a:prstGeom>
          <a:noFill/>
        </p:spPr>
        <p:txBody>
          <a:bodyPr wrap="square">
            <a:spAutoFit/>
          </a:bodyPr>
          <a:lstStyle/>
          <a:p>
            <a:pPr algn="l">
              <a:lnSpc>
                <a:spcPts val="2143"/>
              </a:lnSpc>
              <a:spcBef>
                <a:spcPts val="1029"/>
              </a:spcBef>
              <a:spcAft>
                <a:spcPts val="1029"/>
              </a:spcAft>
              <a:buNone/>
            </a:pPr>
            <a:r>
              <a:rPr lang="ru-RU" b="1" i="0" dirty="0">
                <a:solidFill>
                  <a:srgbClr val="404040"/>
                </a:solidFill>
                <a:effectLst/>
                <a:latin typeface="quote-cjk-patch"/>
              </a:rPr>
              <a:t>Вопрос аудитории:</a:t>
            </a:r>
            <a:r>
              <a:rPr lang="ru-RU" b="0" i="0" dirty="0">
                <a:solidFill>
                  <a:srgbClr val="404040"/>
                </a:solidFill>
                <a:effectLst/>
                <a:latin typeface="quote-cjk-patch"/>
              </a:rPr>
              <a:t/>
            </a:r>
            <a:br>
              <a:rPr lang="ru-RU" b="0" i="0" dirty="0">
                <a:solidFill>
                  <a:srgbClr val="404040"/>
                </a:solidFill>
                <a:effectLst/>
                <a:latin typeface="quote-cjk-patch"/>
              </a:rPr>
            </a:br>
            <a:r>
              <a:rPr lang="ru-RU" b="0" i="1" dirty="0">
                <a:solidFill>
                  <a:srgbClr val="404040"/>
                </a:solidFill>
                <a:effectLst/>
                <a:latin typeface="quote-cjk-patch"/>
              </a:rPr>
              <a:t>"Можно ли полностью устранить шум? Что произойдет, если игнорировать его при планировании запасов?"</a:t>
            </a:r>
            <a:endParaRPr lang="ru-RU" b="0" i="0" dirty="0">
              <a:solidFill>
                <a:srgbClr val="404040"/>
              </a:solidFill>
              <a:effectLst/>
              <a:latin typeface="quote-cjk-patch"/>
            </a:endParaRPr>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E599-491E-9D0B-A873-0682219DEC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CE594-68EE-E093-BE0F-46EF13444299}"/>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C90446D-96A9-C6F8-8B18-B82CB93585D3}"/>
                  </a:ext>
                </a:extLst>
              </p:cNvPr>
              <p:cNvSpPr>
                <a:spLocks noGrp="1"/>
              </p:cNvSpPr>
              <p:nvPr>
                <p:ph idx="1"/>
              </p:nvPr>
            </p:nvSpPr>
            <p:spPr>
              <a:xfrm>
                <a:off x="231353" y="853161"/>
                <a:ext cx="11644829" cy="2859523"/>
              </a:xfrm>
            </p:spPr>
            <p:txBody>
              <a:bodyPr>
                <a:noAutofit/>
              </a:bodyPr>
              <a:lstStyle/>
              <a:p>
                <a:pPr marL="0" indent="0">
                  <a:lnSpc>
                    <a:spcPct val="120000"/>
                  </a:lnSpc>
                  <a:spcBef>
                    <a:spcPts val="0"/>
                  </a:spcBef>
                  <a:buNone/>
                </a:pPr>
                <a:r>
                  <a:rPr lang="ru-RU" sz="2000" dirty="0"/>
                  <a:t>В идеале остаточная часть не содержит информации, равномерно распределена и все ее значения независимы друг от друга (</a:t>
                </a:r>
                <a:r>
                  <a:rPr lang="en-US" sz="2000" dirty="0"/>
                  <a:t>identical independent distribution - </a:t>
                </a:r>
                <a:r>
                  <a:rPr lang="ru-RU" sz="2000" dirty="0" err="1"/>
                  <a:t>i.i.d</a:t>
                </a:r>
                <a:r>
                  <a:rPr lang="ru-RU" sz="2000" dirty="0"/>
                  <a:t>) – такая остаточная часть называется Белый Гауссов Шум</a:t>
                </a:r>
                <a:r>
                  <a:rPr lang="en-US" sz="2000" dirty="0"/>
                  <a:t> (White Gaussian Noises)</a:t>
                </a:r>
                <a:r>
                  <a:rPr lang="ru-RU" sz="2000" dirty="0"/>
                  <a:t>. </a:t>
                </a:r>
              </a:p>
              <a:p>
                <a:pPr>
                  <a:lnSpc>
                    <a:spcPct val="120000"/>
                  </a:lnSpc>
                  <a:spcBef>
                    <a:spcPts val="0"/>
                  </a:spcBef>
                </a:pPr>
                <a:r>
                  <a:rPr lang="ru-RU" sz="2000" dirty="0"/>
                  <a:t>Обратите внимание, что WGN имеет так называемое нормальное распределение с нулевым средним.</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𝑤𝑔𝑛</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den>
                          </m:f>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sup>
                      </m:sSup>
                      <m:r>
                        <a:rPr lang="en-US" sz="2000" i="1">
                          <a:latin typeface="Cambria Math" panose="02040503050406030204" pitchFamily="18" charset="0"/>
                        </a:rPr>
                        <m:t>,</m:t>
                      </m:r>
                    </m:oMath>
                  </m:oMathPara>
                </a14:m>
                <a:endParaRPr lang="en-US" sz="2000" dirty="0"/>
              </a:p>
              <a:p>
                <a:pPr>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oMath>
                </a14:m>
                <a:r>
                  <a:rPr lang="en-US" sz="2000" dirty="0"/>
                  <a:t> </a:t>
                </a:r>
                <a:r>
                  <a:rPr lang="ru-RU" sz="2000" dirty="0"/>
                  <a:t>распределние</a:t>
                </a:r>
                <a:r>
                  <a:rPr lang="en-US" sz="2000" dirty="0"/>
                  <a:t>.</a:t>
                </a:r>
              </a:p>
              <a:p>
                <a:pPr>
                  <a:lnSpc>
                    <a:spcPct val="120000"/>
                  </a:lnSpc>
                  <a:spcBef>
                    <a:spcPts val="0"/>
                  </a:spcBef>
                </a:pPr>
                <a:endParaRPr lang="en-US" sz="2000" dirty="0"/>
              </a:p>
            </p:txBody>
          </p:sp>
        </mc:Choice>
        <mc:Fallback xmlns="">
          <p:sp>
            <p:nvSpPr>
              <p:cNvPr id="3" name="Объект 2">
                <a:extLst>
                  <a:ext uri="{FF2B5EF4-FFF2-40B4-BE49-F238E27FC236}">
                    <a16:creationId xmlns:a16="http://schemas.microsoft.com/office/drawing/2014/main" id="{BC90446D-96A9-C6F8-8B18-B82CB93585D3}"/>
                  </a:ext>
                </a:extLst>
              </p:cNvPr>
              <p:cNvSpPr>
                <a:spLocks noGrp="1" noRot="1" noChangeAspect="1" noMove="1" noResize="1" noEditPoints="1" noAdjustHandles="1" noChangeArrowheads="1" noChangeShapeType="1" noTextEdit="1"/>
              </p:cNvSpPr>
              <p:nvPr>
                <p:ph idx="1"/>
              </p:nvPr>
            </p:nvSpPr>
            <p:spPr>
              <a:xfrm>
                <a:off x="231353" y="853161"/>
                <a:ext cx="11644829" cy="2859523"/>
              </a:xfrm>
              <a:blipFill>
                <a:blip r:embed="rId2"/>
                <a:stretch>
                  <a:fillRect l="-654"/>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7069AA6E-94FF-7413-7F65-A38504D688D6}"/>
              </a:ext>
            </a:extLst>
          </p:cNvPr>
          <p:cNvSpPr>
            <a:spLocks noGrp="1"/>
          </p:cNvSpPr>
          <p:nvPr>
            <p:ph type="sldNum" sz="quarter" idx="12"/>
          </p:nvPr>
        </p:nvSpPr>
        <p:spPr/>
        <p:txBody>
          <a:bodyPr/>
          <a:lstStyle/>
          <a:p>
            <a:fld id="{45C3B737-A709-4ABC-AFE0-A6B067850C48}" type="slidenum">
              <a:rPr lang="en-US" smtClean="0"/>
              <a:t>4</a:t>
            </a:fld>
            <a:endParaRPr lang="en-US"/>
          </a:p>
        </p:txBody>
      </p:sp>
      <p:pic>
        <p:nvPicPr>
          <p:cNvPr id="11268" name="Picture 4" descr="image.png">
            <a:extLst>
              <a:ext uri="{FF2B5EF4-FFF2-40B4-BE49-F238E27FC236}">
                <a16:creationId xmlns:a16="http://schemas.microsoft.com/office/drawing/2014/main" id="{C419EEAC-D406-406E-6A2C-FC0E3129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987" y="4182627"/>
            <a:ext cx="2877379" cy="21038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FE3E8B28-40F1-2361-FCA5-36112D783949}"/>
              </a:ext>
            </a:extLst>
          </p:cNvPr>
          <p:cNvSpPr/>
          <p:nvPr/>
        </p:nvSpPr>
        <p:spPr>
          <a:xfrm>
            <a:off x="1035586" y="3712684"/>
            <a:ext cx="11060935" cy="400110"/>
          </a:xfrm>
          <a:prstGeom prst="rect">
            <a:avLst/>
          </a:prstGeom>
        </p:spPr>
        <p:txBody>
          <a:bodyPr wrap="square">
            <a:spAutoFit/>
          </a:bodyPr>
          <a:lstStyle/>
          <a:p>
            <a:r>
              <a:rPr lang="ru-RU" sz="2000" dirty="0"/>
              <a:t>Пример </a:t>
            </a:r>
            <a:r>
              <a:rPr lang="ru-RU" sz="2000" dirty="0" err="1"/>
              <a:t>wgn</a:t>
            </a:r>
            <a:r>
              <a:rPr lang="ru-RU" sz="20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FBD4E4E1-2D94-2347-F1CB-D2A319423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34" y="4147264"/>
            <a:ext cx="6047009" cy="24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7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7BA2-14D3-0EBD-7F01-4E0E161D06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3E797-F1C9-9C7F-FF67-4AB807548E89}"/>
              </a:ext>
            </a:extLst>
          </p:cNvPr>
          <p:cNvSpPr>
            <a:spLocks noGrp="1"/>
          </p:cNvSpPr>
          <p:nvPr>
            <p:ph type="title"/>
          </p:nvPr>
        </p:nvSpPr>
        <p:spPr>
          <a:xfrm>
            <a:off x="1705857" y="0"/>
            <a:ext cx="9081887" cy="701675"/>
          </a:xfrm>
        </p:spPr>
        <p:txBody>
          <a:bodyPr>
            <a:normAutofit/>
          </a:bodyPr>
          <a:lstStyle/>
          <a:p>
            <a:r>
              <a:rPr lang="ru-RU" dirty="0"/>
              <a:t>Статистические </a:t>
            </a:r>
            <a:r>
              <a:rPr lang="ru-RU" dirty="0" err="1"/>
              <a:t>сво</a:t>
            </a:r>
            <a:r>
              <a:rPr lang="ru-RU" dirty="0"/>
              <a:t>	</a:t>
            </a:r>
            <a:r>
              <a:rPr lang="ru-RU" dirty="0" err="1"/>
              <a:t>йства</a:t>
            </a:r>
            <a:r>
              <a:rPr lang="ru-RU" dirty="0"/>
              <a:t> ВР</a:t>
            </a:r>
            <a:endParaRPr lang="en-US" dirty="0"/>
          </a:p>
        </p:txBody>
      </p:sp>
      <p:sp>
        <p:nvSpPr>
          <p:cNvPr id="3" name="Объект 2">
            <a:extLst>
              <a:ext uri="{FF2B5EF4-FFF2-40B4-BE49-F238E27FC236}">
                <a16:creationId xmlns:a16="http://schemas.microsoft.com/office/drawing/2014/main" id="{70C2C294-7A96-5E70-2A21-B81587DAE331}"/>
              </a:ext>
            </a:extLst>
          </p:cNvPr>
          <p:cNvSpPr>
            <a:spLocks noGrp="1"/>
          </p:cNvSpPr>
          <p:nvPr>
            <p:ph idx="1"/>
          </p:nvPr>
        </p:nvSpPr>
        <p:spPr>
          <a:xfrm>
            <a:off x="247459" y="631438"/>
            <a:ext cx="11644829" cy="5982722"/>
          </a:xfrm>
        </p:spPr>
        <p:txBody>
          <a:bodyPr>
            <a:noAutofit/>
          </a:bodyPr>
          <a:lstStyle/>
          <a:p>
            <a:r>
              <a:rPr lang="en-US" sz="2200" dirty="0" err="1"/>
              <a:t>Е</a:t>
            </a:r>
            <a:r>
              <a:rPr lang="ru-RU" sz="2200" dirty="0" err="1"/>
              <a:t>сли</a:t>
            </a:r>
            <a:r>
              <a:rPr lang="ru-RU" sz="2200" dirty="0"/>
              <a:t> временной ряд не является белым гауссовым шумом и не нарушает принципов оцифровки ВР, то каждый его отсчет зависим от предыдущих</a:t>
            </a:r>
          </a:p>
          <a:p>
            <a:pPr>
              <a:lnSpc>
                <a:spcPct val="120000"/>
              </a:lnSpc>
              <a:spcBef>
                <a:spcPts val="0"/>
              </a:spcBef>
            </a:pPr>
            <a:r>
              <a:rPr lang="ru-RU" sz="2200" dirty="0"/>
              <a:t>Введем для такого ряда статистические свойства:</a:t>
            </a:r>
          </a:p>
          <a:p>
            <a:pPr lvl="1">
              <a:lnSpc>
                <a:spcPct val="120000"/>
              </a:lnSpc>
              <a:spcBef>
                <a:spcPts val="0"/>
              </a:spcBef>
            </a:pPr>
            <a:r>
              <a:rPr lang="ru-RU" sz="2200" b="1" dirty="0"/>
              <a:t>Автокорреляция (АКФ) </a:t>
            </a:r>
            <a:r>
              <a:rPr lang="ru-RU" sz="2200" dirty="0"/>
              <a:t>– зависимость каждого значения ВР от его предыдущих значений (бывает полная и частичная АКФ). </a:t>
            </a:r>
          </a:p>
          <a:p>
            <a:pPr lvl="1">
              <a:lnSpc>
                <a:spcPct val="120000"/>
              </a:lnSpc>
              <a:spcBef>
                <a:spcPts val="0"/>
              </a:spcBef>
            </a:pPr>
            <a:r>
              <a:rPr lang="ru-RU" sz="2200" b="1" dirty="0"/>
              <a:t>Стационарность</a:t>
            </a:r>
            <a:r>
              <a:rPr lang="ru-RU" sz="2200" dirty="0"/>
              <a:t> – свойства сохранности основных статистических значений независимо от момента взятия выборки ВР (сильная и слабая стационарность</a:t>
            </a:r>
            <a:r>
              <a:rPr lang="ru-RU" dirty="0"/>
              <a:t>)</a:t>
            </a:r>
            <a:endParaRPr lang="ru-RU" sz="1200" dirty="0"/>
          </a:p>
          <a:p>
            <a:pPr lvl="1">
              <a:lnSpc>
                <a:spcPct val="120000"/>
              </a:lnSpc>
              <a:spcBef>
                <a:spcPts val="0"/>
              </a:spcBef>
            </a:pPr>
            <a:r>
              <a:rPr lang="ru-RU" dirty="0"/>
              <a:t>Могут быть и другие статистические показатели, например:</a:t>
            </a:r>
          </a:p>
          <a:p>
            <a:pPr lvl="2">
              <a:lnSpc>
                <a:spcPct val="120000"/>
              </a:lnSpc>
              <a:spcBef>
                <a:spcPts val="0"/>
              </a:spcBef>
            </a:pPr>
            <a:r>
              <a:rPr lang="ru-RU" b="1" dirty="0"/>
              <a:t>Гомоскедастичность</a:t>
            </a:r>
            <a:r>
              <a:rPr lang="ru-RU" dirty="0"/>
              <a:t> – свойство ВР сохранять дисперсию во времени. </a:t>
            </a:r>
            <a:r>
              <a:rPr lang="ru-RU" b="1" dirty="0" err="1"/>
              <a:t>Гетероскедастичность</a:t>
            </a:r>
            <a:r>
              <a:rPr lang="ru-RU" dirty="0"/>
              <a:t> (</a:t>
            </a:r>
            <a:r>
              <a:rPr lang="en" dirty="0"/>
              <a:t>Heteroskedasticity)</a:t>
            </a:r>
            <a:r>
              <a:rPr lang="ru-RU" dirty="0"/>
              <a:t> – волатильность ВР </a:t>
            </a:r>
          </a:p>
          <a:p>
            <a:pPr lvl="2">
              <a:lnSpc>
                <a:spcPct val="120000"/>
              </a:lnSpc>
              <a:spcBef>
                <a:spcPts val="0"/>
              </a:spcBef>
            </a:pPr>
            <a:r>
              <a:rPr lang="ru-RU" b="1" dirty="0"/>
              <a:t>Окрашенность шума </a:t>
            </a:r>
            <a:r>
              <a:rPr lang="ru-RU" dirty="0"/>
              <a:t>– наличие в шуме автокорреляционных свойств</a:t>
            </a:r>
          </a:p>
          <a:p>
            <a:pPr lvl="2">
              <a:lnSpc>
                <a:spcPct val="120000"/>
              </a:lnSpc>
              <a:spcBef>
                <a:spcPts val="0"/>
              </a:spcBef>
            </a:pPr>
            <a:r>
              <a:rPr lang="ru-RU" b="1" dirty="0"/>
              <a:t>Долговременная связанность </a:t>
            </a:r>
            <a:r>
              <a:rPr lang="ru-RU" dirty="0"/>
              <a:t>(показатель Херста) – долговременная зависимость  ВР от своих лагов (напр. Тренд</a:t>
            </a:r>
            <a:r>
              <a:rPr lang="ru-RU" dirty="0" smtClean="0"/>
              <a:t>)</a:t>
            </a:r>
            <a:endParaRPr lang="en-US" dirty="0" smtClean="0"/>
          </a:p>
          <a:p>
            <a:pPr lvl="2">
              <a:lnSpc>
                <a:spcPct val="120000"/>
              </a:lnSpc>
              <a:spcBef>
                <a:spcPts val="0"/>
              </a:spcBef>
            </a:pPr>
            <a:r>
              <a:rPr lang="ru-RU" b="1" dirty="0" smtClean="0"/>
              <a:t>Казуальность</a:t>
            </a:r>
            <a:r>
              <a:rPr lang="ru-RU" dirty="0" smtClean="0"/>
              <a:t> – зависимость одной величины от предыдущих значений другой.</a:t>
            </a:r>
            <a:endParaRPr lang="ru-RU" dirty="0"/>
          </a:p>
          <a:p>
            <a:pPr lvl="2">
              <a:lnSpc>
                <a:spcPct val="120000"/>
              </a:lnSpc>
              <a:spcBef>
                <a:spcPts val="0"/>
              </a:spcBef>
            </a:pPr>
            <a:r>
              <a:rPr lang="ru-RU" b="1" dirty="0"/>
              <a:t>Нелинейность ВР</a:t>
            </a:r>
            <a:r>
              <a:rPr lang="ru-RU" dirty="0"/>
              <a:t> – компоненты связаны сложными зависимостями (напр. Модуляция)</a:t>
            </a:r>
          </a:p>
          <a:p>
            <a:pPr lvl="2">
              <a:lnSpc>
                <a:spcPct val="120000"/>
              </a:lnSpc>
              <a:spcBef>
                <a:spcPts val="0"/>
              </a:spcBef>
            </a:pPr>
            <a:r>
              <a:rPr lang="ru-RU" b="1" dirty="0"/>
              <a:t>Структурные разрывы </a:t>
            </a:r>
            <a:r>
              <a:rPr lang="ru-RU" dirty="0"/>
              <a:t>(ряд с новизной или точками перегиба)</a:t>
            </a:r>
          </a:p>
          <a:p>
            <a:pPr lvl="1">
              <a:lnSpc>
                <a:spcPct val="120000"/>
              </a:lnSpc>
              <a:spcBef>
                <a:spcPts val="0"/>
              </a:spcBef>
            </a:pPr>
            <a:endParaRPr lang="en-US" dirty="0"/>
          </a:p>
        </p:txBody>
      </p:sp>
    </p:spTree>
    <p:extLst>
      <p:ext uri="{BB962C8B-B14F-4D97-AF65-F5344CB8AC3E}">
        <p14:creationId xmlns:p14="http://schemas.microsoft.com/office/powerpoint/2010/main" val="2597313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8AA7BF-8316-D890-B7B7-600FCCA167C1}"/>
              </a:ext>
            </a:extLst>
          </p:cNvPr>
          <p:cNvSpPr>
            <a:spLocks noGrp="1"/>
          </p:cNvSpPr>
          <p:nvPr>
            <p:ph type="title"/>
          </p:nvPr>
        </p:nvSpPr>
        <p:spPr>
          <a:xfrm>
            <a:off x="611895" y="150379"/>
            <a:ext cx="10968210" cy="703511"/>
          </a:xfrm>
        </p:spPr>
        <p:txBody>
          <a:bodyPr/>
          <a:lstStyle/>
          <a:p>
            <a:pPr algn="ctr"/>
            <a:r>
              <a:rPr lang="en-US" dirty="0" err="1"/>
              <a:t>Авто</a:t>
            </a:r>
            <a:r>
              <a:rPr lang="ru-RU" dirty="0"/>
              <a:t>корреляция ВР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3D9483-0912-FC98-5071-FB3F2E181619}"/>
                  </a:ext>
                </a:extLst>
              </p:cNvPr>
              <p:cNvSpPr>
                <a:spLocks noGrp="1"/>
              </p:cNvSpPr>
              <p:nvPr>
                <p:ph idx="1"/>
              </p:nvPr>
            </p:nvSpPr>
            <p:spPr>
              <a:xfrm>
                <a:off x="281906" y="835163"/>
                <a:ext cx="9098068" cy="5108327"/>
              </a:xfrm>
            </p:spPr>
            <p:txBody>
              <a:bodyPr>
                <a:normAutofit/>
              </a:bodyPr>
              <a:lstStyle/>
              <a:p>
                <a:pPr>
                  <a:lnSpc>
                    <a:spcPct val="100000"/>
                  </a:lnSpc>
                  <a:spcBef>
                    <a:spcPts val="0"/>
                  </a:spcBef>
                </a:pPr>
                <a:r>
                  <a:rPr lang="ru-RU" sz="2200" dirty="0"/>
                  <a:t>Получим численную оценку степени влияния значения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 sz="2200" dirty="0"/>
                  <a:t>​ </a:t>
                </a:r>
                <a:r>
                  <a:rPr lang="ru-RU" sz="2200" dirty="0"/>
                  <a:t>на значение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r>
                          <a:rPr lang="ru-RU" sz="2200" i="1">
                            <a:latin typeface="Cambria Math" panose="02040503050406030204" pitchFamily="18" charset="0"/>
                          </a:rPr>
                          <m:t>+</m:t>
                        </m:r>
                        <m:r>
                          <a:rPr lang="ru-RU" sz="2200" i="1">
                            <a:latin typeface="Cambria Math" panose="02040503050406030204" pitchFamily="18" charset="0"/>
                          </a:rPr>
                          <m:t>𝜏</m:t>
                        </m:r>
                      </m:sub>
                    </m:sSub>
                    <m:r>
                      <a:rPr lang="ru-RU" sz="2200" i="1">
                        <a:latin typeface="Cambria Math" panose="02040503050406030204" pitchFamily="18" charset="0"/>
                      </a:rPr>
                      <m:t> </m:t>
                    </m:r>
                  </m:oMath>
                </a14:m>
                <a:r>
                  <a:rPr lang="el-GR" sz="2200" dirty="0"/>
                  <a:t>​</a:t>
                </a:r>
                <a:r>
                  <a:rPr lang="ru-RU" sz="2200" dirty="0"/>
                  <a:t> (оценки корреляции) в виде коэффициента корреляции Пирсона для ВР с самим собой со сдвигом на </a:t>
                </a:r>
                <a:r>
                  <a:rPr lang="el-GR" sz="2200" i="1" dirty="0"/>
                  <a:t>τ</a:t>
                </a:r>
                <a:r>
                  <a:rPr lang="ru-RU" sz="2200" i="1" dirty="0"/>
                  <a:t> – автокорреляцию ВР (АКФ)</a:t>
                </a:r>
                <a:r>
                  <a:rPr lang="el-GR" sz="2200" dirty="0"/>
                  <a:t>. </a:t>
                </a:r>
                <a:endParaRPr lang="ru-RU" sz="2200" dirty="0"/>
              </a:p>
            </p:txBody>
          </p:sp>
        </mc:Choice>
        <mc:Fallback xmlns="">
          <p:sp>
            <p:nvSpPr>
              <p:cNvPr id="3" name="Объект 2">
                <a:extLst>
                  <a:ext uri="{FF2B5EF4-FFF2-40B4-BE49-F238E27FC236}">
                    <a16:creationId xmlns:a16="http://schemas.microsoft.com/office/drawing/2014/main" id="{093D9483-0912-FC98-5071-FB3F2E181619}"/>
                  </a:ext>
                </a:extLst>
              </p:cNvPr>
              <p:cNvSpPr>
                <a:spLocks noGrp="1" noRot="1" noChangeAspect="1" noMove="1" noResize="1" noEditPoints="1" noAdjustHandles="1" noChangeArrowheads="1" noChangeShapeType="1" noTextEdit="1"/>
              </p:cNvSpPr>
              <p:nvPr>
                <p:ph idx="1"/>
              </p:nvPr>
            </p:nvSpPr>
            <p:spPr>
              <a:xfrm>
                <a:off x="281906" y="835163"/>
                <a:ext cx="9098068" cy="5108327"/>
              </a:xfrm>
              <a:blipFill>
                <a:blip r:embed="rId3"/>
                <a:stretch>
                  <a:fillRect l="-837" t="-74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E9BF6D1-54CF-35BD-E4B5-79CA80A498E3}"/>
              </a:ext>
            </a:extLst>
          </p:cNvPr>
          <p:cNvSpPr>
            <a:spLocks noGrp="1"/>
          </p:cNvSpPr>
          <p:nvPr>
            <p:ph type="sldNum" sz="quarter" idx="12"/>
          </p:nvPr>
        </p:nvSpPr>
        <p:spPr/>
        <p:txBody>
          <a:bodyPr/>
          <a:lstStyle/>
          <a:p>
            <a:fld id="{45C3B737-A709-4ABC-AFE0-A6B067850C48}" type="slidenum">
              <a:rPr lang="en-US" smtClean="0"/>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6A7C23-B4C9-1379-DEDE-66289A5EDAC3}"/>
                  </a:ext>
                </a:extLst>
              </p:cNvPr>
              <p:cNvSpPr txBox="1"/>
              <p:nvPr/>
            </p:nvSpPr>
            <p:spPr>
              <a:xfrm>
                <a:off x="1181026" y="2218404"/>
                <a:ext cx="6097836" cy="925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b="0" i="1" smtClean="0">
                          <a:latin typeface="Cambria Math" panose="02040503050406030204" pitchFamily="18" charset="0"/>
                        </a:rPr>
                        <m:t>𝜏</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f>
                        <m:fPr>
                          <m:ctrlPr>
                            <a:rPr lang="en-US" sz="2400" i="1">
                              <a:latin typeface="Cambria Math" panose="02040503050406030204" pitchFamily="18" charset="0"/>
                            </a:rPr>
                          </m:ctrlPr>
                        </m:fPr>
                        <m:num>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𝑁</m:t>
                              </m:r>
                              <m:r>
                                <a:rPr lang="en-US" sz="2400" i="1">
                                  <a:latin typeface="Cambria Math" panose="02040503050406030204" pitchFamily="18" charset="0"/>
                                </a:rPr>
                                <m:t>−1</m:t>
                              </m:r>
                            </m:sup>
                            <m:e>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r>
                                <a:rPr lang="ru-RU" sz="2400" b="0" i="1" smtClean="0">
                                  <a:latin typeface="Cambria Math" panose="02040503050406030204" pitchFamily="18" charset="0"/>
                                </a:rPr>
                                <m:t>+</m:t>
                              </m:r>
                              <m:r>
                                <a:rPr lang="ru-RU" sz="2400" b="0" i="1" smtClean="0">
                                  <a:latin typeface="Cambria Math" panose="02040503050406030204" pitchFamily="18" charset="0"/>
                                </a:rPr>
                                <m:t>𝜏</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num>
                        <m:den>
                          <m:r>
                            <a:rPr lang="en-US" sz="2400" i="1">
                              <a:latin typeface="Cambria Math" panose="02040503050406030204" pitchFamily="18" charset="0"/>
                            </a:rPr>
                            <m:t>𝑣𝑎𝑟</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en>
                      </m:f>
                    </m:oMath>
                  </m:oMathPara>
                </a14:m>
                <a:endParaRPr lang="ru-RU" sz="2400" dirty="0"/>
              </a:p>
            </p:txBody>
          </p:sp>
        </mc:Choice>
        <mc:Fallback xmlns="">
          <p:sp>
            <p:nvSpPr>
              <p:cNvPr id="6" name="TextBox 5">
                <a:extLst>
                  <a:ext uri="{FF2B5EF4-FFF2-40B4-BE49-F238E27FC236}">
                    <a16:creationId xmlns:a16="http://schemas.microsoft.com/office/drawing/2014/main" id="{0E6A7C23-B4C9-1379-DEDE-66289A5EDAC3}"/>
                  </a:ext>
                </a:extLst>
              </p:cNvPr>
              <p:cNvSpPr txBox="1">
                <a:spLocks noRot="1" noChangeAspect="1" noMove="1" noResize="1" noEditPoints="1" noAdjustHandles="1" noChangeArrowheads="1" noChangeShapeType="1" noTextEdit="1"/>
              </p:cNvSpPr>
              <p:nvPr/>
            </p:nvSpPr>
            <p:spPr>
              <a:xfrm>
                <a:off x="1181026" y="2218404"/>
                <a:ext cx="6097836" cy="925574"/>
              </a:xfrm>
              <a:prstGeom prst="rect">
                <a:avLst/>
              </a:prstGeom>
              <a:blipFill>
                <a:blip r:embed="rId4"/>
                <a:stretch>
                  <a:fillRect t="-59459" b="-5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63DC12-0338-EE14-31B0-8390E944A4C0}"/>
                  </a:ext>
                </a:extLst>
              </p:cNvPr>
              <p:cNvSpPr txBox="1"/>
              <p:nvPr/>
            </p:nvSpPr>
            <p:spPr>
              <a:xfrm>
                <a:off x="281906" y="3240547"/>
                <a:ext cx="8959469" cy="1720920"/>
              </a:xfrm>
              <a:prstGeom prst="rect">
                <a:avLst/>
              </a:prstGeom>
              <a:noFill/>
            </p:spPr>
            <p:txBody>
              <a:bodyPr wrap="square">
                <a:spAutoFit/>
              </a:bodyPr>
              <a:lstStyle/>
              <a:p>
                <a:r>
                  <a:rPr lang="ru-RU" sz="1800" dirty="0"/>
                  <a:t>Где среднее значений (или ожидаемое значение),</a:t>
                </a:r>
                <a:r>
                  <a:rPr lang="ru-RU" i="1" dirty="0">
                    <a:latin typeface="Cambria Math" panose="02040503050406030204" pitchFamily="18" charset="0"/>
                  </a:rPr>
                  <a:t> </a:t>
                </a:r>
                <a14:m>
                  <m:oMath xmlns:m="http://schemas.openxmlformats.org/officeDocument/2006/math">
                    <m:r>
                      <a:rPr lang="en-US" sz="1800" i="1" dirty="0">
                        <a:latin typeface="Cambria Math" panose="02040503050406030204" pitchFamily="18" charset="0"/>
                      </a:rPr>
                      <m:t>𝑒𝑣</m:t>
                    </m:r>
                    <m:r>
                      <a:rPr lang="en-US" sz="1800" i="1" dirty="0">
                        <a:latin typeface="Cambria Math" panose="02040503050406030204" pitchFamily="18" charset="0"/>
                      </a:rPr>
                      <m:t> =</m:t>
                    </m:r>
                    <m:f>
                      <m:fPr>
                        <m:ctrlPr>
                          <a:rPr lang="en-US" sz="1800" i="1" dirty="0">
                            <a:latin typeface="Cambria Math" panose="02040503050406030204" pitchFamily="18" charset="0"/>
                          </a:rPr>
                        </m:ctrlPr>
                      </m:fPr>
                      <m:num>
                        <m:r>
                          <a:rPr lang="en-US" sz="1800" i="1" dirty="0">
                            <a:latin typeface="Cambria Math" panose="02040503050406030204" pitchFamily="18" charset="0"/>
                          </a:rPr>
                          <m:t>1</m:t>
                        </m:r>
                      </m:num>
                      <m:den>
                        <m:r>
                          <a:rPr lang="en-US" sz="1800" i="1" dirty="0">
                            <a:latin typeface="Cambria Math" panose="02040503050406030204" pitchFamily="18" charset="0"/>
                          </a:rPr>
                          <m:t>𝑁</m:t>
                        </m:r>
                      </m:den>
                    </m:f>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r>
                      <a:rPr lang="en-US" sz="1800" i="1" dirty="0">
                        <a:latin typeface="Cambria Math" panose="02040503050406030204" pitchFamily="18" charset="0"/>
                      </a:rPr>
                      <m:t>,</m:t>
                    </m:r>
                    <m:r>
                      <a:rPr lang="ru-RU" sz="1800" i="1" dirty="0">
                        <a:latin typeface="Cambria Math" panose="02040503050406030204" pitchFamily="18" charset="0"/>
                      </a:rPr>
                      <m:t> теор. формула </m:t>
                    </m:r>
                    <m:r>
                      <a:rPr lang="en-US" sz="1800" i="1" dirty="0">
                        <a:latin typeface="Cambria Math" panose="02040503050406030204" pitchFamily="18" charset="0"/>
                      </a:rPr>
                      <m:t>𝑒𝑣</m:t>
                    </m:r>
                    <m:r>
                      <a:rPr lang="en-US" sz="1800" i="1" dirty="0">
                        <a:latin typeface="Cambria Math" panose="02040503050406030204" pitchFamily="18" charset="0"/>
                      </a:rPr>
                      <m:t> =</m:t>
                    </m:r>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r>
                          <a:rPr lang="en-US" sz="1800" i="1" dirty="0">
                            <a:latin typeface="Cambria Math" panose="02040503050406030204" pitchFamily="18" charset="0"/>
                          </a:rPr>
                          <m:t>𝑝</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oMath>
                </a14:m>
                <a:endParaRPr lang="en-US" sz="1800" dirty="0"/>
              </a:p>
              <a:p>
                <a:r>
                  <a:rPr lang="ru-RU" sz="1800" dirty="0"/>
                  <a:t>где y - выборки размера N, </a:t>
                </a:r>
                <a14:m>
                  <m:oMath xmlns:m="http://schemas.openxmlformats.org/officeDocument/2006/math">
                    <m:r>
                      <a:rPr lang="en-US" sz="1800" i="1" dirty="0">
                        <a:latin typeface="Cambria Math" panose="02040503050406030204" pitchFamily="18" charset="0"/>
                      </a:rPr>
                      <m:t>𝑝</m:t>
                    </m:r>
                    <m:d>
                      <m:dPr>
                        <m:ctrlPr>
                          <a:rPr lang="en-US" sz="1800" i="1" dirty="0">
                            <a:latin typeface="Cambria Math" panose="02040503050406030204" pitchFamily="18" charset="0"/>
                          </a:rPr>
                        </m:ctrlPr>
                      </m:dPr>
                      <m:e>
                        <m:r>
                          <a:rPr lang="en-US" sz="1800" i="1" dirty="0">
                            <a:latin typeface="Cambria Math" panose="02040503050406030204" pitchFamily="18" charset="0"/>
                          </a:rPr>
                          <m:t>𝑦</m:t>
                        </m:r>
                      </m:e>
                    </m:d>
                    <m:r>
                      <a:rPr lang="en-US" sz="1800" i="1" dirty="0">
                        <a:latin typeface="Cambria Math" panose="02040503050406030204" pitchFamily="18" charset="0"/>
                      </a:rPr>
                      <m:t>−</m:t>
                    </m:r>
                    <m:r>
                      <a:rPr lang="ru-RU" sz="1800" dirty="0">
                        <a:latin typeface="Cambria Math" panose="02040503050406030204" pitchFamily="18" charset="0"/>
                      </a:rPr>
                      <m:t>распределение значений величины</m:t>
                    </m:r>
                  </m:oMath>
                </a14:m>
                <a:r>
                  <a:rPr lang="ru-RU" sz="1800" dirty="0"/>
                  <a:t> </a:t>
                </a:r>
                <a:r>
                  <a:rPr lang="ru-RU" i="1" dirty="0">
                    <a:latin typeface="Cambria Math" panose="02040503050406030204" pitchFamily="18" charset="0"/>
                  </a:rPr>
                  <a:t/>
                </a:r>
                <a:br>
                  <a:rPr lang="ru-RU" i="1" dirty="0">
                    <a:latin typeface="Cambria Math" panose="02040503050406030204" pitchFamily="18" charset="0"/>
                  </a:rPr>
                </a:br>
                <a14:m>
                  <m:oMath xmlns:m="http://schemas.openxmlformats.org/officeDocument/2006/math">
                    <m:r>
                      <a:rPr lang="en-US" i="1" dirty="0">
                        <a:latin typeface="Cambria Math" panose="02040503050406030204" pitchFamily="18" charset="0"/>
                      </a:rPr>
                      <m:t>𝑣𝑎𝑟</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𝑁</m:t>
                        </m:r>
                      </m:den>
                    </m:f>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=0</m:t>
                        </m:r>
                      </m:sub>
                      <m:sup>
                        <m:r>
                          <a:rPr lang="en-US" i="1" dirty="0">
                            <a:latin typeface="Cambria Math" panose="02040503050406030204" pitchFamily="18" charset="0"/>
                          </a:rPr>
                          <m:t>𝑁</m:t>
                        </m:r>
                        <m:r>
                          <a:rPr lang="en-US" i="1" dirty="0">
                            <a:latin typeface="Cambria Math" panose="02040503050406030204" pitchFamily="18" charset="0"/>
                          </a:rPr>
                          <m:t>−1</m:t>
                        </m:r>
                      </m:sup>
                      <m:e>
                        <m:sSup>
                          <m:sSupPr>
                            <m:ctrlPr>
                              <a:rPr lang="en-US" i="1" dirty="0" err="1">
                                <a:latin typeface="Cambria Math" panose="02040503050406030204" pitchFamily="18" charset="0"/>
                              </a:rPr>
                            </m:ctrlPr>
                          </m:sSupPr>
                          <m:e>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err="1">
                                    <a:latin typeface="Cambria Math" panose="02040503050406030204" pitchFamily="18" charset="0"/>
                                  </a:rPr>
                                  <m:t>−</m:t>
                                </m:r>
                                <m:r>
                                  <a:rPr lang="en-US" i="1" dirty="0" err="1">
                                    <a:latin typeface="Cambria Math" panose="02040503050406030204" pitchFamily="18" charset="0"/>
                                  </a:rPr>
                                  <m:t>𝑒𝑣</m:t>
                                </m:r>
                              </m:e>
                            </m:d>
                          </m:e>
                          <m:sup>
                            <m:r>
                              <a:rPr lang="en-US" i="1" dirty="0">
                                <a:latin typeface="Cambria Math" panose="02040503050406030204" pitchFamily="18" charset="0"/>
                              </a:rPr>
                              <m:t>2</m:t>
                            </m:r>
                          </m:sup>
                        </m:sSup>
                      </m:e>
                    </m:nary>
                    <m:r>
                      <a:rPr lang="en-US" i="1" dirty="0">
                        <a:latin typeface="Cambria Math" panose="02040503050406030204" pitchFamily="18" charset="0"/>
                      </a:rPr>
                      <m:t>; </m:t>
                    </m:r>
                    <m:r>
                      <a:rPr lang="en-US" i="1" dirty="0">
                        <a:latin typeface="Cambria Math" panose="02040503050406030204" pitchFamily="18" charset="0"/>
                      </a:rPr>
                      <m:t>𝑠𝑡𝑑</m:t>
                    </m:r>
                    <m:r>
                      <a:rPr lang="en-US" i="1" dirty="0">
                        <a:latin typeface="Cambria Math" panose="02040503050406030204" pitchFamily="18" charset="0"/>
                      </a:rPr>
                      <m:t>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𝑣𝑎𝑟</m:t>
                        </m:r>
                      </m:e>
                    </m:rad>
                    <m:r>
                      <a:rPr lang="en-US" i="1" dirty="0">
                        <a:latin typeface="Cambria Math" panose="02040503050406030204" pitchFamily="18" charset="0"/>
                      </a:rPr>
                      <m:t>, </m:t>
                    </m:r>
                  </m:oMath>
                </a14:m>
                <a:r>
                  <a:rPr lang="ru-RU" dirty="0"/>
                  <a:t>где </a:t>
                </a:r>
                <a:r>
                  <a:rPr lang="ru-RU" dirty="0" err="1"/>
                  <a:t>var</a:t>
                </a:r>
                <a:r>
                  <a:rPr lang="ru-RU" dirty="0"/>
                  <a:t> - дисперсия; </a:t>
                </a:r>
                <a:r>
                  <a:rPr lang="ru-RU" dirty="0" err="1"/>
                  <a:t>std</a:t>
                </a:r>
                <a:r>
                  <a:rPr lang="ru-RU" dirty="0"/>
                  <a:t> - стандартное отклонение</a:t>
                </a:r>
                <a:endParaRPr lang="en-US" dirty="0"/>
              </a:p>
              <a:p>
                <a:endParaRPr lang="ru-RU" sz="1800" dirty="0"/>
              </a:p>
            </p:txBody>
          </p:sp>
        </mc:Choice>
        <mc:Fallback xmlns="">
          <p:sp>
            <p:nvSpPr>
              <p:cNvPr id="8" name="TextBox 7">
                <a:extLst>
                  <a:ext uri="{FF2B5EF4-FFF2-40B4-BE49-F238E27FC236}">
                    <a16:creationId xmlns:a16="http://schemas.microsoft.com/office/drawing/2014/main" id="{B363DC12-0338-EE14-31B0-8390E944A4C0}"/>
                  </a:ext>
                </a:extLst>
              </p:cNvPr>
              <p:cNvSpPr txBox="1">
                <a:spLocks noRot="1" noChangeAspect="1" noMove="1" noResize="1" noEditPoints="1" noAdjustHandles="1" noChangeArrowheads="1" noChangeShapeType="1" noTextEdit="1"/>
              </p:cNvSpPr>
              <p:nvPr/>
            </p:nvSpPr>
            <p:spPr>
              <a:xfrm>
                <a:off x="281906" y="3240547"/>
                <a:ext cx="8959469" cy="1720920"/>
              </a:xfrm>
              <a:prstGeom prst="rect">
                <a:avLst/>
              </a:prstGeom>
              <a:blipFill>
                <a:blip r:embed="rId5"/>
                <a:stretch>
                  <a:fillRect l="-3541" t="-22059" b="-16912"/>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EAE15FCB-CB7C-BA1A-51AD-54785DA7748B}"/>
              </a:ext>
            </a:extLst>
          </p:cNvPr>
          <p:cNvSpPr txBox="1"/>
          <p:nvPr/>
        </p:nvSpPr>
        <p:spPr>
          <a:xfrm>
            <a:off x="298402" y="4930470"/>
            <a:ext cx="5391198" cy="1200329"/>
          </a:xfrm>
          <a:prstGeom prst="rect">
            <a:avLst/>
          </a:prstGeom>
          <a:noFill/>
        </p:spPr>
        <p:txBody>
          <a:bodyPr wrap="square">
            <a:spAutoFit/>
          </a:bodyPr>
          <a:lstStyle/>
          <a:p>
            <a:r>
              <a:rPr lang="ru-RU" b="0" i="0" dirty="0">
                <a:solidFill>
                  <a:srgbClr val="323232"/>
                </a:solidFill>
                <a:effectLst/>
                <a:latin typeface="__YSText_10659f"/>
              </a:rPr>
              <a:t>Например, если мы хотим оценить степень влияния сегодняшней температуры на завтрашнюю, то посчитаем коэффициент корреляции исходного ряда и его</a:t>
            </a:r>
            <a:r>
              <a:rPr lang="en-US" b="0" i="0" dirty="0">
                <a:solidFill>
                  <a:srgbClr val="323232"/>
                </a:solidFill>
                <a:effectLst/>
                <a:latin typeface="__YSText_10659f"/>
              </a:rPr>
              <a:t> </a:t>
            </a:r>
            <a:r>
              <a:rPr lang="en-US" b="0" i="0" dirty="0" err="1">
                <a:solidFill>
                  <a:srgbClr val="323232"/>
                </a:solidFill>
                <a:effectLst/>
                <a:latin typeface="__YSText_10659f"/>
              </a:rPr>
              <a:t>же</a:t>
            </a:r>
            <a:r>
              <a:rPr lang="ru-RU" b="0" i="0" dirty="0">
                <a:solidFill>
                  <a:srgbClr val="323232"/>
                </a:solidFill>
                <a:effectLst/>
                <a:latin typeface="__YSText_10659f"/>
              </a:rPr>
              <a:t>, сдвинутым на 1 день.</a:t>
            </a:r>
            <a:endParaRPr lang="ru-RU" dirty="0"/>
          </a:p>
        </p:txBody>
      </p:sp>
      <p:pic>
        <p:nvPicPr>
          <p:cNvPr id="1026" name="Picture 2" descr="2.6.1 Взаимная и автокорреляционные функции сигнала">
            <a:extLst>
              <a:ext uri="{FF2B5EF4-FFF2-40B4-BE49-F238E27FC236}">
                <a16:creationId xmlns:a16="http://schemas.microsoft.com/office/drawing/2014/main" id="{54264BB7-C97E-AA39-943C-3D1F85AC6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9974" y="502134"/>
            <a:ext cx="2530059" cy="4027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F of monthly Australian antidiabetic drug sales.">
            <a:extLst>
              <a:ext uri="{FF2B5EF4-FFF2-40B4-BE49-F238E27FC236}">
                <a16:creationId xmlns:a16="http://schemas.microsoft.com/office/drawing/2014/main" id="{A05E2094-6729-56A7-F169-31F127E0F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600" y="4625950"/>
            <a:ext cx="6367450" cy="19094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B5F1B-9791-B173-52B5-AF455F6A693C}"/>
              </a:ext>
            </a:extLst>
          </p:cNvPr>
          <p:cNvSpPr txBox="1"/>
          <p:nvPr/>
        </p:nvSpPr>
        <p:spPr>
          <a:xfrm>
            <a:off x="298402" y="6351908"/>
            <a:ext cx="6115050"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acf.html</a:t>
            </a:r>
            <a:endParaRPr lang="ru-RU" dirty="0"/>
          </a:p>
        </p:txBody>
      </p:sp>
    </p:spTree>
    <p:extLst>
      <p:ext uri="{BB962C8B-B14F-4D97-AF65-F5344CB8AC3E}">
        <p14:creationId xmlns:p14="http://schemas.microsoft.com/office/powerpoint/2010/main" val="31217700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i="1" smtClean="0">
                        <a:latin typeface="Cambria Math" panose="02040503050406030204" pitchFamily="18" charset="0"/>
                      </a:rPr>
                      <m:t>𝜏</m:t>
                    </m:r>
                    <m:r>
                      <a:rPr lang="en-US" sz="2400" i="1" smtClean="0">
                        <a:latin typeface="Cambria Math" panose="02040503050406030204" pitchFamily="18" charset="0"/>
                      </a:rPr>
                      <m:t>)</m:t>
                    </m:r>
                  </m:oMath>
                </a14:m>
                <a:r>
                  <a:rPr lang="el-GR" sz="2400" dirty="0"/>
                  <a:t>&gt;0 – </a:t>
                </a:r>
                <a:r>
                  <a:rPr lang="ru-RU" sz="2400" dirty="0"/>
                  <a:t>положительная корреляция, то есть чем </a:t>
                </a:r>
                <a:r>
                  <a:rPr lang="ru-RU" sz="2400" i="1" dirty="0"/>
                  <a:t>больше</a:t>
                </a:r>
                <a:r>
                  <a:rPr lang="ru-RU" sz="2400" dirty="0"/>
                  <a:t> было значение вчера, тем оно будет </a:t>
                </a:r>
                <a:r>
                  <a:rPr lang="ru-RU" sz="2400" i="1" dirty="0"/>
                  <a:t>больше</a:t>
                </a:r>
                <a:r>
                  <a:rPr lang="ru-RU" sz="2400" dirty="0"/>
                  <a:t> сегодня;</a:t>
                </a:r>
              </a:p>
              <a:p>
                <a14:m>
                  <m:oMath xmlns:m="http://schemas.openxmlformats.org/officeDocument/2006/math">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​&lt;0 – </a:t>
                </a:r>
                <a:r>
                  <a:rPr lang="ru-RU" sz="2400" dirty="0"/>
                  <a:t>отрицательная корреляция, то есть чем </a:t>
                </a:r>
                <a:r>
                  <a:rPr lang="ru-RU" sz="2400" i="1" dirty="0"/>
                  <a:t>больше</a:t>
                </a:r>
                <a:r>
                  <a:rPr lang="ru-RU" sz="2400" dirty="0"/>
                  <a:t> было значение вчера, тем оно будет </a:t>
                </a:r>
                <a:r>
                  <a:rPr lang="ru-RU" sz="2400" i="1" dirty="0"/>
                  <a:t>меньше</a:t>
                </a:r>
                <a:r>
                  <a:rPr lang="ru-RU" sz="2400" dirty="0"/>
                  <a:t> сегодня;</a:t>
                </a:r>
              </a:p>
              <a:p>
                <a14:m>
                  <m:oMath xmlns:m="http://schemas.openxmlformats.org/officeDocument/2006/math">
                    <m:r>
                      <m:rPr>
                        <m:nor/>
                      </m:rPr>
                      <a:rPr lang="en" sz="2400" dirty="0"/>
                      <m:t>∣</m:t>
                    </m:r>
                    <m:r>
                      <a:rPr lang="en-US" sz="2400" i="1">
                        <a:latin typeface="Cambria Math" panose="02040503050406030204" pitchFamily="18" charset="0"/>
                      </a:rPr>
                      <m:t>𝑐𝑜𝑟</m:t>
                    </m:r>
                    <m:d>
                      <m:dPr>
                        <m:ctrlPr>
                          <a:rPr lang="en-US" sz="2400" i="1">
                            <a:latin typeface="Cambria Math" panose="02040503050406030204" pitchFamily="18" charset="0"/>
                          </a:rPr>
                        </m:ctrlPr>
                      </m:dPr>
                      <m:e>
                        <m:r>
                          <a:rPr lang="en-US" sz="2400" i="1">
                            <a:latin typeface="Cambria Math" panose="02040503050406030204" pitchFamily="18" charset="0"/>
                          </a:rPr>
                          <m:t>𝜏</m:t>
                        </m:r>
                      </m:e>
                    </m:d>
                    <m:r>
                      <m:rPr>
                        <m:nor/>
                      </m:rPr>
                      <a:rPr lang="el-GR" sz="2400" dirty="0"/>
                      <m:t>​∣⩽1;</m:t>
                    </m:r>
                    <m:r>
                      <a:rPr lang="ru-RU" sz="2400" b="0" i="1" dirty="0" smtClean="0">
                        <a:latin typeface="Cambria Math" panose="02040503050406030204" pitchFamily="18" charset="0"/>
                      </a:rPr>
                      <m:t> </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=1 </a:t>
                </a:r>
                <a:r>
                  <a:rPr lang="ru-RU" sz="2400" dirty="0"/>
                  <a:t>означает строгую линейную зависимость.</a:t>
                </a:r>
              </a:p>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653" t="-1244" r="-97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11" name="TextBox 10">
            <a:extLst>
              <a:ext uri="{FF2B5EF4-FFF2-40B4-BE49-F238E27FC236}">
                <a16:creationId xmlns:a16="http://schemas.microsoft.com/office/drawing/2014/main" id="{B12B4922-0E0E-77D6-DC87-7ED5B07D70E3}"/>
              </a:ext>
            </a:extLst>
          </p:cNvPr>
          <p:cNvSpPr txBox="1"/>
          <p:nvPr/>
        </p:nvSpPr>
        <p:spPr>
          <a:xfrm>
            <a:off x="478090" y="6247588"/>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spTree>
    <p:extLst>
      <p:ext uri="{BB962C8B-B14F-4D97-AF65-F5344CB8AC3E}">
        <p14:creationId xmlns:p14="http://schemas.microsoft.com/office/powerpoint/2010/main" val="407995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732" t="-131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7" name="Рисунок 6">
            <a:extLst>
              <a:ext uri="{FF2B5EF4-FFF2-40B4-BE49-F238E27FC236}">
                <a16:creationId xmlns:a16="http://schemas.microsoft.com/office/drawing/2014/main" id="{961474F1-1290-7EF6-E2E4-2A58FE82AD4A}"/>
              </a:ext>
            </a:extLst>
          </p:cNvPr>
          <p:cNvPicPr>
            <a:picLocks noChangeAspect="1"/>
          </p:cNvPicPr>
          <p:nvPr/>
        </p:nvPicPr>
        <p:blipFill>
          <a:blip r:embed="rId3"/>
          <a:stretch>
            <a:fillRect/>
          </a:stretch>
        </p:blipFill>
        <p:spPr>
          <a:xfrm>
            <a:off x="674561" y="1962173"/>
            <a:ext cx="4982760" cy="1454427"/>
          </a:xfrm>
          <a:prstGeom prst="rect">
            <a:avLst/>
          </a:prstGeom>
        </p:spPr>
      </p:pic>
      <p:pic>
        <p:nvPicPr>
          <p:cNvPr id="1029" name="Picture 5">
            <a:extLst>
              <a:ext uri="{FF2B5EF4-FFF2-40B4-BE49-F238E27FC236}">
                <a16:creationId xmlns:a16="http://schemas.microsoft.com/office/drawing/2014/main" id="{7E8AF36A-0838-C3AB-9A29-306D244F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561" y="3693512"/>
            <a:ext cx="4049841" cy="27663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999D0E-571B-F326-BDB2-26FF2D54EFBE}"/>
              </a:ext>
            </a:extLst>
          </p:cNvPr>
          <p:cNvSpPr txBox="1"/>
          <p:nvPr/>
        </p:nvSpPr>
        <p:spPr>
          <a:xfrm>
            <a:off x="511672" y="3012534"/>
            <a:ext cx="5740400" cy="646331"/>
          </a:xfrm>
          <a:prstGeom prst="rect">
            <a:avLst/>
          </a:prstGeom>
          <a:noFill/>
        </p:spPr>
        <p:txBody>
          <a:bodyPr wrap="square">
            <a:spAutoFit/>
          </a:bodyPr>
          <a:lstStyle/>
          <a:p>
            <a:r>
              <a:rPr lang="ru-RU" b="0" i="0" dirty="0">
                <a:solidFill>
                  <a:srgbClr val="000000"/>
                </a:solidFill>
                <a:effectLst/>
                <a:latin typeface="Arial" panose="020B0604020202020204" pitchFamily="34" charset="0"/>
              </a:rPr>
              <a:t>Четыре различных набора данных, коэффициент корреляции на которых равен 0.81</a:t>
            </a:r>
            <a:endParaRPr lang="ru-RU" dirty="0"/>
          </a:p>
        </p:txBody>
      </p:sp>
      <p:sp>
        <p:nvSpPr>
          <p:cNvPr id="11" name="TextBox 10">
            <a:extLst>
              <a:ext uri="{FF2B5EF4-FFF2-40B4-BE49-F238E27FC236}">
                <a16:creationId xmlns:a16="http://schemas.microsoft.com/office/drawing/2014/main" id="{B12B4922-0E0E-77D6-DC87-7ED5B07D70E3}"/>
              </a:ext>
            </a:extLst>
          </p:cNvPr>
          <p:cNvSpPr txBox="1"/>
          <p:nvPr/>
        </p:nvSpPr>
        <p:spPr>
          <a:xfrm>
            <a:off x="5930288" y="6182866"/>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pic>
        <p:nvPicPr>
          <p:cNvPr id="1028" name="Picture 4" descr="Парадокс Симпсона, пишущая машинка Киллиана и условные гуманитари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7150" y="3920672"/>
            <a:ext cx="5715000" cy="20859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771437" y="6488528"/>
            <a:ext cx="2678938" cy="261610"/>
          </a:xfrm>
          <a:prstGeom prst="rect">
            <a:avLst/>
          </a:prstGeom>
        </p:spPr>
        <p:txBody>
          <a:bodyPr wrap="none">
            <a:spAutoFit/>
          </a:bodyPr>
          <a:lstStyle/>
          <a:p>
            <a:r>
              <a:rPr lang="ru-RU" sz="1100" dirty="0"/>
              <a:t>https://sova-f.livejournal.com/593095.html</a:t>
            </a:r>
          </a:p>
        </p:txBody>
      </p:sp>
    </p:spTree>
    <p:extLst>
      <p:ext uri="{BB962C8B-B14F-4D97-AF65-F5344CB8AC3E}">
        <p14:creationId xmlns:p14="http://schemas.microsoft.com/office/powerpoint/2010/main" val="22561329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08D33-ED14-B6CA-1D53-1B9E7F3C73BD}"/>
              </a:ext>
            </a:extLst>
          </p:cNvPr>
          <p:cNvSpPr>
            <a:spLocks noGrp="1"/>
          </p:cNvSpPr>
          <p:nvPr>
            <p:ph type="title"/>
          </p:nvPr>
        </p:nvSpPr>
        <p:spPr>
          <a:xfrm>
            <a:off x="381154" y="251842"/>
            <a:ext cx="11023294" cy="1067067"/>
          </a:xfrm>
        </p:spPr>
        <p:txBody>
          <a:bodyPr>
            <a:normAutofit fontScale="90000"/>
          </a:bodyPr>
          <a:lstStyle/>
          <a:p>
            <a:r>
              <a:rPr lang="ru-RU" dirty="0"/>
              <a:t>Пример дорожно-транспортных происшествий за 14 лет с дискретностью 1 месяц,</a:t>
            </a:r>
          </a:p>
        </p:txBody>
      </p:sp>
      <p:sp>
        <p:nvSpPr>
          <p:cNvPr id="3" name="Объект 2">
            <a:extLst>
              <a:ext uri="{FF2B5EF4-FFF2-40B4-BE49-F238E27FC236}">
                <a16:creationId xmlns:a16="http://schemas.microsoft.com/office/drawing/2014/main" id="{E40EB80A-8708-FE17-1283-675B44B1F644}"/>
              </a:ext>
            </a:extLst>
          </p:cNvPr>
          <p:cNvSpPr>
            <a:spLocks noGrp="1"/>
          </p:cNvSpPr>
          <p:nvPr>
            <p:ph idx="1"/>
          </p:nvPr>
        </p:nvSpPr>
        <p:spPr>
          <a:xfrm>
            <a:off x="109860" y="1290544"/>
            <a:ext cx="6409987" cy="5567456"/>
          </a:xfrm>
        </p:spPr>
        <p:txBody>
          <a:bodyPr>
            <a:normAutofit/>
          </a:bodyPr>
          <a:lstStyle/>
          <a:p>
            <a:r>
              <a:rPr lang="ru-RU" sz="2000" dirty="0"/>
              <a:t>Видна годовая сезонность.</a:t>
            </a:r>
          </a:p>
          <a:p>
            <a:r>
              <a:rPr lang="ru-RU" sz="2000" dirty="0"/>
              <a:t>На графике АКФ видны максимуму на 12 лагах</a:t>
            </a:r>
          </a:p>
          <a:p>
            <a:r>
              <a:rPr lang="en" sz="2000" i="1" dirty="0"/>
              <a:t>r</a:t>
            </a:r>
            <a:r>
              <a:rPr lang="en" sz="2000" baseline="-25000" dirty="0"/>
              <a:t>12</a:t>
            </a:r>
            <a:r>
              <a:rPr lang="en" sz="2000" dirty="0"/>
              <a:t>​ </a:t>
            </a:r>
            <a:r>
              <a:rPr lang="ru-RU" sz="2000" dirty="0"/>
              <a:t>является локальным максимумом, что означает высокую положительную корреляцию значения ряда за текущий месяц с аналогичным значением год назад. </a:t>
            </a:r>
          </a:p>
          <a:p>
            <a:r>
              <a:rPr lang="ru-RU" sz="2200" dirty="0"/>
              <a:t>Закрашенная область визуализирует границу незначимой автокорреляции, то есть тех значений автокорреляции, для которых не выявлена статистически значимое отличие от 0 (иначе говоря, доверительный интервал пересекает 0).</a:t>
            </a:r>
          </a:p>
          <a:p>
            <a:r>
              <a:rPr lang="ru-RU" sz="2200" dirty="0"/>
              <a:t>Значимые лаги: 1, 2, 6, 12, 24 – именно эти лаги связаны и на них имеет смысл строить прогноз (0 лаг не считается!)</a:t>
            </a:r>
            <a:endParaRPr lang="ru-RU" sz="1300" dirty="0"/>
          </a:p>
        </p:txBody>
      </p:sp>
      <p:sp>
        <p:nvSpPr>
          <p:cNvPr id="4" name="Номер слайда 3">
            <a:extLst>
              <a:ext uri="{FF2B5EF4-FFF2-40B4-BE49-F238E27FC236}">
                <a16:creationId xmlns:a16="http://schemas.microsoft.com/office/drawing/2014/main" id="{D5077126-4ACD-5BB7-D444-3F25CEA34F52}"/>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2050" name="Picture 2" descr="ex">
            <a:extLst>
              <a:ext uri="{FF2B5EF4-FFF2-40B4-BE49-F238E27FC236}">
                <a16:creationId xmlns:a16="http://schemas.microsoft.com/office/drawing/2014/main" id="{E80B7204-5939-A61A-3D66-4CB8D9AE8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30123"/>
            <a:ext cx="5562294" cy="23749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x">
            <a:extLst>
              <a:ext uri="{FF2B5EF4-FFF2-40B4-BE49-F238E27FC236}">
                <a16:creationId xmlns:a16="http://schemas.microsoft.com/office/drawing/2014/main" id="{7F87FE3F-E8B0-649D-36C2-1720B1430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122" y="4049782"/>
            <a:ext cx="5420299" cy="240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FE1161-304E-9255-4C0B-8F9D8EADCD32}"/>
              </a:ext>
            </a:extLst>
          </p:cNvPr>
          <p:cNvSpPr txBox="1"/>
          <p:nvPr/>
        </p:nvSpPr>
        <p:spPr>
          <a:xfrm>
            <a:off x="3581401" y="6452782"/>
            <a:ext cx="8496759" cy="338554"/>
          </a:xfrm>
          <a:prstGeom prst="rect">
            <a:avLst/>
          </a:prstGeom>
          <a:noFill/>
        </p:spPr>
        <p:txBody>
          <a:bodyPr wrap="square">
            <a:spAutoFit/>
          </a:bodyPr>
          <a:lstStyle/>
          <a:p>
            <a:r>
              <a:rPr lang="ru-RU" sz="1600" dirty="0" err="1"/>
              <a:t>https</a:t>
            </a:r>
            <a:r>
              <a:rPr lang="ru-RU" sz="1600" dirty="0"/>
              <a:t>://</a:t>
            </a:r>
            <a:r>
              <a:rPr lang="ru-RU" sz="1600" dirty="0" err="1"/>
              <a:t>education.yandex.ru</a:t>
            </a:r>
            <a:r>
              <a:rPr lang="ru-RU" sz="1600" dirty="0"/>
              <a:t>/</a:t>
            </a:r>
            <a:r>
              <a:rPr lang="ru-RU" sz="1600" dirty="0" err="1"/>
              <a:t>handbook</a:t>
            </a:r>
            <a:r>
              <a:rPr lang="ru-RU" sz="1600" dirty="0"/>
              <a:t>/</a:t>
            </a:r>
            <a:r>
              <a:rPr lang="ru-RU" sz="1600" dirty="0" err="1"/>
              <a:t>ml</a:t>
            </a:r>
            <a:r>
              <a:rPr lang="ru-RU" sz="1600" dirty="0"/>
              <a:t>/</a:t>
            </a:r>
            <a:r>
              <a:rPr lang="ru-RU" sz="1600" dirty="0" err="1"/>
              <a:t>article</a:t>
            </a:r>
            <a:r>
              <a:rPr lang="ru-RU" sz="1600" dirty="0"/>
              <a:t>/</a:t>
            </a:r>
            <a:r>
              <a:rPr lang="ru-RU" sz="1600" dirty="0" err="1"/>
              <a:t>analitika-vremennyh-ryadov</a:t>
            </a:r>
            <a:endParaRPr lang="ru-RU" sz="1600" dirty="0"/>
          </a:p>
        </p:txBody>
      </p:sp>
    </p:spTree>
    <p:extLst>
      <p:ext uri="{BB962C8B-B14F-4D97-AF65-F5344CB8AC3E}">
        <p14:creationId xmlns:p14="http://schemas.microsoft.com/office/powerpoint/2010/main" val="23578852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b="1" dirty="0"/>
              <a:t>Корреляция</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10</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Tree>
    <p:extLst>
      <p:ext uri="{BB962C8B-B14F-4D97-AF65-F5344CB8AC3E}">
        <p14:creationId xmlns:p14="http://schemas.microsoft.com/office/powerpoint/2010/main" val="33095571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383EC4-8F67-20B6-5BB9-4FD4C80D225D}"/>
              </a:ext>
            </a:extLst>
          </p:cNvPr>
          <p:cNvSpPr>
            <a:spLocks noGrp="1"/>
          </p:cNvSpPr>
          <p:nvPr>
            <p:ph type="title"/>
          </p:nvPr>
        </p:nvSpPr>
        <p:spPr>
          <a:xfrm>
            <a:off x="318655" y="136525"/>
            <a:ext cx="11035145" cy="909493"/>
          </a:xfrm>
        </p:spPr>
        <p:txBody>
          <a:bodyPr/>
          <a:lstStyle/>
          <a:p>
            <a:pPr algn="ctr"/>
            <a:r>
              <a:rPr lang="ru-RU" dirty="0"/>
              <a:t>Замечания </a:t>
            </a:r>
          </a:p>
        </p:txBody>
      </p:sp>
      <p:sp>
        <p:nvSpPr>
          <p:cNvPr id="3" name="Объект 2">
            <a:extLst>
              <a:ext uri="{FF2B5EF4-FFF2-40B4-BE49-F238E27FC236}">
                <a16:creationId xmlns:a16="http://schemas.microsoft.com/office/drawing/2014/main" id="{CD8746E5-8498-3604-B42B-E7AF22FB2C3D}"/>
              </a:ext>
            </a:extLst>
          </p:cNvPr>
          <p:cNvSpPr>
            <a:spLocks noGrp="1"/>
          </p:cNvSpPr>
          <p:nvPr>
            <p:ph idx="1"/>
          </p:nvPr>
        </p:nvSpPr>
        <p:spPr>
          <a:xfrm>
            <a:off x="241878" y="861218"/>
            <a:ext cx="11631468" cy="4993482"/>
          </a:xfrm>
        </p:spPr>
        <p:txBody>
          <a:bodyPr>
            <a:normAutofit/>
          </a:bodyPr>
          <a:lstStyle/>
          <a:p>
            <a:r>
              <a:rPr lang="ru-RU" sz="2200" b="1" dirty="0"/>
              <a:t>ВР имеет тренд –&gt; </a:t>
            </a:r>
            <a:r>
              <a:rPr lang="ru-RU" sz="2200" dirty="0"/>
              <a:t>АКФ для небольших лагов, как правило, большие и положительные, поскольку наблюдения, близкие по времени, также близки по значению. </a:t>
            </a:r>
          </a:p>
          <a:p>
            <a:pPr lvl="1"/>
            <a:r>
              <a:rPr lang="ru-RU" sz="2200" dirty="0"/>
              <a:t>Таким образом, </a:t>
            </a:r>
            <a:r>
              <a:rPr lang="en" sz="2200" dirty="0"/>
              <a:t>ACF </a:t>
            </a:r>
            <a:r>
              <a:rPr lang="ru-RU" sz="2200" dirty="0"/>
              <a:t>трендового временного ряда, как правило, имеет положительные значения, которые медленно уменьшаются по мере увеличения лагов.</a:t>
            </a:r>
          </a:p>
          <a:p>
            <a:r>
              <a:rPr lang="ru-RU" sz="2200" b="1" dirty="0"/>
              <a:t>Если данные сезонные</a:t>
            </a:r>
            <a:r>
              <a:rPr lang="ru-RU" sz="2200" dirty="0"/>
              <a:t>, автокорреляции будут больше для сезонных лагов (кратных сезонному периоду), чем для других лагов.</a:t>
            </a:r>
          </a:p>
          <a:p>
            <a:r>
              <a:rPr lang="ru-RU" sz="2200" b="1" dirty="0"/>
              <a:t>Данные являются как трендовыми, так и сезонными</a:t>
            </a:r>
            <a:r>
              <a:rPr lang="ru-RU" sz="2200" dirty="0"/>
              <a:t>, будет иметь место комбинация этих эффектов</a:t>
            </a:r>
            <a:r>
              <a:rPr lang="en-US" sz="2200" dirty="0"/>
              <a:t> (</a:t>
            </a:r>
            <a:r>
              <a:rPr lang="en-US" sz="2200" dirty="0" err="1"/>
              <a:t>см</a:t>
            </a:r>
            <a:r>
              <a:rPr lang="ru-RU" sz="2200" dirty="0"/>
              <a:t>. ниже). </a:t>
            </a:r>
          </a:p>
        </p:txBody>
      </p:sp>
      <p:sp>
        <p:nvSpPr>
          <p:cNvPr id="4" name="Номер слайда 3">
            <a:extLst>
              <a:ext uri="{FF2B5EF4-FFF2-40B4-BE49-F238E27FC236}">
                <a16:creationId xmlns:a16="http://schemas.microsoft.com/office/drawing/2014/main" id="{210439D6-FBAC-9105-9726-C0D57B538136}"/>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5122" name="Picture 2">
            <a:extLst>
              <a:ext uri="{FF2B5EF4-FFF2-40B4-BE49-F238E27FC236}">
                <a16:creationId xmlns:a16="http://schemas.microsoft.com/office/drawing/2014/main" id="{FAE7FECC-00BF-3EB6-BCFE-927426B0844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6978" y="3946948"/>
            <a:ext cx="4112343" cy="25919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6AD531-2C9B-BB91-4CEE-1902E77A9AA7}"/>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206836" y="3960387"/>
            <a:ext cx="4304291" cy="2712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229B540-6FFC-6740-2DA4-DE2C2AF66693}"/>
              </a:ext>
            </a:extLst>
          </p:cNvPr>
          <p:cNvSpPr txBox="1"/>
          <p:nvPr/>
        </p:nvSpPr>
        <p:spPr>
          <a:xfrm>
            <a:off x="2597727" y="6488668"/>
            <a:ext cx="6137562"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/02-graphics.html</a:t>
            </a:r>
          </a:p>
        </p:txBody>
      </p:sp>
    </p:spTree>
    <p:extLst>
      <p:ext uri="{BB962C8B-B14F-4D97-AF65-F5344CB8AC3E}">
        <p14:creationId xmlns:p14="http://schemas.microsoft.com/office/powerpoint/2010/main" val="1917184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21867-E96A-0A79-4583-D975526376D7}"/>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9FC89-5133-BB8B-A9FF-1295B4C4D463}"/>
                  </a:ext>
                </a:extLst>
              </p:cNvPr>
              <p:cNvSpPr>
                <a:spLocks noGrp="1"/>
              </p:cNvSpPr>
              <p:nvPr>
                <p:ph idx="1"/>
              </p:nvPr>
            </p:nvSpPr>
            <p:spPr>
              <a:xfrm>
                <a:off x="342900" y="1041402"/>
                <a:ext cx="11480800" cy="5135562"/>
              </a:xfrm>
            </p:spPr>
            <p:txBody>
              <a:bodyPr>
                <a:normAutofit/>
              </a:bodyPr>
              <a:lstStyle/>
              <a:p>
                <a:r>
                  <a:rPr lang="ru-RU" sz="2100" dirty="0"/>
                  <a:t>Фактически АКФ </a:t>
                </a:r>
                <a14:m>
                  <m:oMath xmlns:m="http://schemas.openxmlformats.org/officeDocument/2006/math">
                    <m:r>
                      <a:rPr lang="en-US" sz="2100" i="1">
                        <a:latin typeface="Cambria Math" panose="02040503050406030204" pitchFamily="18" charset="0"/>
                      </a:rPr>
                      <m:t>𝑐𝑜𝑟</m:t>
                    </m:r>
                    <m:r>
                      <a:rPr lang="en-US" sz="2100" i="1">
                        <a:latin typeface="Cambria Math" panose="02040503050406030204" pitchFamily="18" charset="0"/>
                      </a:rPr>
                      <m:t>(</m:t>
                    </m:r>
                    <m:r>
                      <a:rPr lang="en-US" sz="2100" i="1">
                        <a:latin typeface="Cambria Math" panose="02040503050406030204" pitchFamily="18" charset="0"/>
                      </a:rPr>
                      <m:t>𝜏</m:t>
                    </m:r>
                    <m:r>
                      <a:rPr lang="en-US" sz="2100" i="1">
                        <a:latin typeface="Cambria Math" panose="02040503050406030204" pitchFamily="18" charset="0"/>
                      </a:rPr>
                      <m:t>)</m:t>
                    </m:r>
                  </m:oMath>
                </a14:m>
                <a:r>
                  <a:rPr lang="ru-RU" sz="2100" dirty="0"/>
                  <a:t> показывает связанность ВР  и всех сдвинутых его копий до значения </a:t>
                </a:r>
                <a14:m>
                  <m:oMath xmlns:m="http://schemas.openxmlformats.org/officeDocument/2006/math">
                    <m:r>
                      <a:rPr lang="en-US" sz="2100" i="1">
                        <a:latin typeface="Cambria Math" panose="02040503050406030204" pitchFamily="18" charset="0"/>
                      </a:rPr>
                      <m:t>𝜏</m:t>
                    </m:r>
                  </m:oMath>
                </a14:m>
                <a:r>
                  <a:rPr lang="ru-RU" sz="2100" dirty="0"/>
                  <a:t>. </a:t>
                </a:r>
              </a:p>
              <a:p>
                <a:pPr lvl="1"/>
                <a:r>
                  <a:rPr lang="ru-RU" sz="2100" dirty="0"/>
                  <a:t>Иногда это мешает понять связанность конкретно с лагом</a:t>
                </a:r>
                <a:r>
                  <a:rPr lang="en-US" sz="2100" dirty="0"/>
                  <a:t> </a:t>
                </a:r>
                <a14:m>
                  <m:oMath xmlns:m="http://schemas.openxmlformats.org/officeDocument/2006/math">
                    <m:r>
                      <a:rPr lang="en-US" sz="2100" i="1">
                        <a:latin typeface="Cambria Math" panose="02040503050406030204" pitchFamily="18" charset="0"/>
                      </a:rPr>
                      <m:t>𝜏</m:t>
                    </m:r>
                  </m:oMath>
                </a14:m>
                <a:r>
                  <a:rPr lang="ru-RU" sz="2100" dirty="0"/>
                  <a:t>. Для компенсации этого используют </a:t>
                </a:r>
                <a:r>
                  <a:rPr lang="ru-RU" sz="2100" b="1" dirty="0"/>
                  <a:t>Частичную АКФ (ЧАКФ, </a:t>
                </a:r>
                <a14:m>
                  <m:oMath xmlns:m="http://schemas.openxmlformats.org/officeDocument/2006/math">
                    <m:r>
                      <m:rPr>
                        <m:nor/>
                      </m:rPr>
                      <a:rPr lang="ru-RU" sz="2100" dirty="0"/>
                      <m:t>PACF</m:t>
                    </m:r>
                    <m:r>
                      <m:rPr>
                        <m:nor/>
                      </m:rPr>
                      <a:rPr lang="ru-RU" sz="2100" dirty="0"/>
                      <m:t>):</m:t>
                    </m:r>
                  </m:oMath>
                </a14:m>
                <a:endParaRPr lang="en-US" sz="2100" i="1"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𝑃𝐴𝐶𝐹</m:t>
                      </m:r>
                      <m:d>
                        <m:dPr>
                          <m:ctrlPr>
                            <a:rPr lang="en-US" sz="2100" i="1">
                              <a:latin typeface="Cambria Math" panose="02040503050406030204" pitchFamily="18" charset="0"/>
                            </a:rPr>
                          </m:ctrlPr>
                        </m:dPr>
                        <m:e>
                          <m:r>
                            <a:rPr lang="en-US" sz="2100" i="1">
                              <a:latin typeface="Cambria Math" panose="02040503050406030204" pitchFamily="18" charset="0"/>
                            </a:rPr>
                            <m:t>𝑘</m:t>
                          </m:r>
                        </m:e>
                      </m:d>
                      <m:r>
                        <a:rPr lang="en-US" sz="2100" i="1">
                          <a:latin typeface="Cambria Math" panose="02040503050406030204" pitchFamily="18" charset="0"/>
                        </a:rPr>
                        <m:t>=</m:t>
                      </m:r>
                      <m:r>
                        <a:rPr lang="en-US" sz="2100" i="1">
                          <a:latin typeface="Cambria Math" panose="02040503050406030204" pitchFamily="18" charset="0"/>
                        </a:rPr>
                        <m:t>𝑐𝑜𝑟</m:t>
                      </m:r>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up>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−1</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a:rPr lang="en-US" sz="2100" i="1">
                          <a:latin typeface="Cambria Math" panose="02040503050406030204" pitchFamily="18" charset="0"/>
                        </a:rPr>
                        <m:t>);</m:t>
                      </m:r>
                    </m:oMath>
                  </m:oMathPara>
                </a14:m>
                <a:endParaRPr lang="en-US" sz="2100" dirty="0"/>
              </a:p>
              <a:p>
                <a:pPr>
                  <a:lnSpc>
                    <a:spcPct val="100000"/>
                  </a:lnSpc>
                  <a:spcBef>
                    <a:spcPts val="600"/>
                  </a:spcBef>
                </a:pPr>
                <a14:m>
                  <m:oMath xmlns:m="http://schemas.openxmlformats.org/officeDocument/2006/math">
                    <m:r>
                      <m:rPr>
                        <m:nor/>
                      </m:rPr>
                      <a:rPr lang="ru-RU" sz="2100" dirty="0"/>
                      <m:t>где</m:t>
                    </m:r>
                    <m:r>
                      <m:rPr>
                        <m:nor/>
                      </m:rPr>
                      <a:rPr lang="en-US" sz="2100" dirty="0"/>
                      <m:t> </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m:rPr>
                        <m:nor/>
                      </m:rPr>
                      <a:rPr lang="en-US" sz="2100" dirty="0"/>
                      <m:t> −</m:t>
                    </m:r>
                    <m:r>
                      <m:rPr>
                        <m:nor/>
                      </m:rPr>
                      <a:rPr lang="ru-RU" sz="2100" dirty="0"/>
                      <m:t> значение, предсказанное как результат линейной регрессии </m:t>
                    </m:r>
                    <m:r>
                      <m:rPr>
                        <m:nor/>
                      </m:rPr>
                      <a:rPr lang="en-US" sz="2100" dirty="0"/>
                      <m:t> </m:t>
                    </m:r>
                    <m:r>
                      <m:rPr>
                        <m:nor/>
                      </m:rPr>
                      <a:rPr lang="ru-RU" sz="2100" dirty="0"/>
                      <m:t>по лагам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−1</m:t>
                        </m:r>
                      </m:sub>
                    </m:sSub>
                    <m:r>
                      <a:rPr lang="en-US" sz="2100" i="1">
                        <a:latin typeface="Cambria Math" panose="02040503050406030204" pitchFamily="18" charset="0"/>
                      </a:rPr>
                      <m:t>,</m:t>
                    </m:r>
                    <m:r>
                      <m:rPr>
                        <m:nor/>
                      </m:rPr>
                      <a:rPr lang="en-US" sz="2100" dirty="0"/>
                      <m:t>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−2</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oMath>
                </a14:m>
                <a:endParaRPr lang="en-US" sz="2100" dirty="0"/>
              </a:p>
              <a:p>
                <a:pPr>
                  <a:lnSpc>
                    <a:spcPct val="100000"/>
                  </a:lnSpc>
                  <a:spcBef>
                    <a:spcPts val="600"/>
                  </a:spcBef>
                </a:pPr>
                <a14:m>
                  <m:oMath xmlns:m="http://schemas.openxmlformats.org/officeDocument/2006/math">
                    <m:r>
                      <m:rPr>
                        <m:nor/>
                      </m:rPr>
                      <a:rPr lang="ru-RU" sz="2100" dirty="0"/>
                      <m:t>Частичная корреляция снимает (</m:t>
                    </m:r>
                    <m:r>
                      <m:rPr>
                        <m:nor/>
                      </m:rPr>
                      <a:rPr lang="ru-RU" sz="2100" dirty="0" err="1"/>
                      <m:t>устр</m:t>
                    </m:r>
                    <m:r>
                      <m:rPr>
                        <m:nor/>
                      </m:rPr>
                      <a:rPr lang="ru-RU" sz="2100" b="0" i="0" dirty="0" smtClean="0"/>
                      <m:t>о</m:t>
                    </m:r>
                    <m:r>
                      <m:rPr>
                        <m:nor/>
                      </m:rPr>
                      <a:rPr lang="ru-RU" sz="2100" dirty="0" err="1"/>
                      <m:t>няте</m:t>
                    </m:r>
                    <m:r>
                      <m:rPr>
                        <m:nor/>
                      </m:rPr>
                      <a:rPr lang="ru-RU" sz="2100" dirty="0"/>
                      <m:t>) линейную зависимость от промежуточных лагов</m:t>
                    </m:r>
                  </m:oMath>
                </a14:m>
                <a:endParaRPr lang="en-US" sz="2100" dirty="0"/>
              </a:p>
              <a:p>
                <a:pPr marL="457200" lvl="1" indent="0">
                  <a:buNone/>
                </a:pPr>
                <a:r>
                  <a:rPr lang="ru-RU" sz="2100" dirty="0"/>
                  <a:t>Например, если мы регрессируем переменную </a:t>
                </a:r>
                <a:r>
                  <a:rPr lang="ru-RU" sz="2100" dirty="0" err="1"/>
                  <a:t>Y</a:t>
                </a:r>
                <a:r>
                  <a:rPr lang="ru-RU" sz="2100" dirty="0"/>
                  <a:t> по переменным X1, X2 и X3, частичная корреляция между </a:t>
                </a:r>
                <a:r>
                  <a:rPr lang="ru-RU" sz="2100" dirty="0" err="1"/>
                  <a:t>Y</a:t>
                </a:r>
                <a:r>
                  <a:rPr lang="ru-RU" sz="2100" dirty="0"/>
                  <a:t> и X3 - это степень корреляции между </a:t>
                </a:r>
                <a:r>
                  <a:rPr lang="ru-RU" sz="2100" dirty="0" err="1"/>
                  <a:t>Y</a:t>
                </a:r>
                <a:r>
                  <a:rPr lang="ru-RU" sz="2100" dirty="0"/>
                  <a:t> и X3, которая не объясняется их общими корреляциями с X1 и X2. </a:t>
                </a:r>
                <a:endParaRPr lang="en-US" sz="2100" dirty="0"/>
              </a:p>
              <a:p>
                <a:pPr marL="457200" lvl="1" indent="0">
                  <a:buNone/>
                </a:pPr>
                <a:r>
                  <a:rPr lang="ru-RU" b="1" dirty="0"/>
                  <a:t>	</a:t>
                </a:r>
                <a:endParaRPr lang="ru-RU" dirty="0"/>
              </a:p>
            </p:txBody>
          </p:sp>
        </mc:Choice>
        <mc:Fallback xmlns="">
          <p:sp>
            <p:nvSpPr>
              <p:cNvPr id="3" name="Объект 2">
                <a:extLst>
                  <a:ext uri="{FF2B5EF4-FFF2-40B4-BE49-F238E27FC236}">
                    <a16:creationId xmlns:a16="http://schemas.microsoft.com/office/drawing/2014/main" id="{7619FC89-5133-BB8B-A9FF-1295B4C4D463}"/>
                  </a:ext>
                </a:extLst>
              </p:cNvPr>
              <p:cNvSpPr>
                <a:spLocks noGrp="1" noRot="1" noChangeAspect="1" noMove="1" noResize="1" noEditPoints="1" noAdjustHandles="1" noChangeArrowheads="1" noChangeShapeType="1" noTextEdit="1"/>
              </p:cNvSpPr>
              <p:nvPr>
                <p:ph idx="1"/>
              </p:nvPr>
            </p:nvSpPr>
            <p:spPr>
              <a:xfrm>
                <a:off x="342900" y="1041402"/>
                <a:ext cx="11480800" cy="5135562"/>
              </a:xfrm>
              <a:blipFill>
                <a:blip r:embed="rId3"/>
                <a:stretch>
                  <a:fillRect l="-442" t="-148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B60B919-B531-0487-B565-BBFBD78DE01C}"/>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5" name="AutoShape 2">
            <a:extLst>
              <a:ext uri="{FF2B5EF4-FFF2-40B4-BE49-F238E27FC236}">
                <a16:creationId xmlns:a16="http://schemas.microsoft.com/office/drawing/2014/main" id="{A70EA36A-6C6A-569D-0A4F-2A8F1F86D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endParaRPr lang="ru-RU" dirty="0"/>
          </a:p>
        </p:txBody>
      </p:sp>
      <p:sp>
        <p:nvSpPr>
          <p:cNvPr id="6" name="AutoShape 4">
            <a:extLst>
              <a:ext uri="{FF2B5EF4-FFF2-40B4-BE49-F238E27FC236}">
                <a16:creationId xmlns:a16="http://schemas.microsoft.com/office/drawing/2014/main" id="{5E3123F7-B5BC-000D-9F1B-D13A79BF0E0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a:extLst>
              <a:ext uri="{FF2B5EF4-FFF2-40B4-BE49-F238E27FC236}">
                <a16:creationId xmlns:a16="http://schemas.microsoft.com/office/drawing/2014/main" id="{EF34EC4F-1B05-05D3-3E1D-CF9CAB6A5F7E}"/>
              </a:ext>
            </a:extLst>
          </p:cNvPr>
          <p:cNvPicPr>
            <a:picLocks noChangeAspect="1"/>
          </p:cNvPicPr>
          <p:nvPr/>
        </p:nvPicPr>
        <p:blipFill>
          <a:blip r:embed="rId4"/>
          <a:srcRect b="50000"/>
          <a:stretch>
            <a:fillRect/>
          </a:stretch>
        </p:blipFill>
        <p:spPr>
          <a:xfrm>
            <a:off x="696423" y="4365012"/>
            <a:ext cx="4535358" cy="1757554"/>
          </a:xfrm>
          <a:prstGeom prst="rect">
            <a:avLst/>
          </a:prstGeom>
        </p:spPr>
      </p:pic>
      <p:pic>
        <p:nvPicPr>
          <p:cNvPr id="8" name="Рисунок 7">
            <a:extLst>
              <a:ext uri="{FF2B5EF4-FFF2-40B4-BE49-F238E27FC236}">
                <a16:creationId xmlns:a16="http://schemas.microsoft.com/office/drawing/2014/main" id="{E268194A-4251-58E0-17CF-7ED2E36299EB}"/>
              </a:ext>
            </a:extLst>
          </p:cNvPr>
          <p:cNvPicPr>
            <a:picLocks noChangeAspect="1"/>
          </p:cNvPicPr>
          <p:nvPr/>
        </p:nvPicPr>
        <p:blipFill>
          <a:blip r:embed="rId4"/>
          <a:srcRect l="3360" t="47448" r="-3360" b="2552"/>
          <a:stretch>
            <a:fillRect/>
          </a:stretch>
        </p:blipFill>
        <p:spPr>
          <a:xfrm>
            <a:off x="6342921" y="4285595"/>
            <a:ext cx="4535358" cy="1757554"/>
          </a:xfrm>
          <a:prstGeom prst="rect">
            <a:avLst/>
          </a:prstGeom>
        </p:spPr>
      </p:pic>
      <p:sp>
        <p:nvSpPr>
          <p:cNvPr id="9" name="TextBox 8">
            <a:extLst>
              <a:ext uri="{FF2B5EF4-FFF2-40B4-BE49-F238E27FC236}">
                <a16:creationId xmlns:a16="http://schemas.microsoft.com/office/drawing/2014/main" id="{BB843FAA-D681-989C-D7DB-7844E3AC3F6C}"/>
              </a:ext>
            </a:extLst>
          </p:cNvPr>
          <p:cNvSpPr txBox="1"/>
          <p:nvPr/>
        </p:nvSpPr>
        <p:spPr>
          <a:xfrm>
            <a:off x="5419493" y="6059206"/>
            <a:ext cx="3878113" cy="369332"/>
          </a:xfrm>
          <a:prstGeom prst="rect">
            <a:avLst/>
          </a:prstGeom>
          <a:noFill/>
        </p:spPr>
        <p:txBody>
          <a:bodyPr wrap="none" rtlCol="0">
            <a:spAutoFit/>
          </a:bodyPr>
          <a:lstStyle/>
          <a:p>
            <a:r>
              <a:rPr lang="ru-RU" dirty="0"/>
              <a:t>Н</a:t>
            </a:r>
            <a:r>
              <a:rPr lang="en-US" dirty="0" err="1"/>
              <a:t>а</a:t>
            </a:r>
            <a:r>
              <a:rPr lang="ru-RU" dirty="0"/>
              <a:t> ЧАКФ видны сезонные колебания </a:t>
            </a:r>
          </a:p>
        </p:txBody>
      </p:sp>
    </p:spTree>
    <p:extLst>
      <p:ext uri="{BB962C8B-B14F-4D97-AF65-F5344CB8AC3E}">
        <p14:creationId xmlns:p14="http://schemas.microsoft.com/office/powerpoint/2010/main" val="4076568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2AFBC2-18F6-B6F1-089D-7DA695D3CD0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78F64A-909A-8502-663F-7CEF3685020F}"/>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p:sp>
        <p:nvSpPr>
          <p:cNvPr id="3" name="Объект 2">
            <a:extLst>
              <a:ext uri="{FF2B5EF4-FFF2-40B4-BE49-F238E27FC236}">
                <a16:creationId xmlns:a16="http://schemas.microsoft.com/office/drawing/2014/main" id="{EE89A096-BA9C-B641-5BB5-6DD59D4EC8DE}"/>
              </a:ext>
            </a:extLst>
          </p:cNvPr>
          <p:cNvSpPr>
            <a:spLocks noGrp="1"/>
          </p:cNvSpPr>
          <p:nvPr>
            <p:ph idx="1"/>
          </p:nvPr>
        </p:nvSpPr>
        <p:spPr>
          <a:xfrm>
            <a:off x="342900" y="1041402"/>
            <a:ext cx="11480800" cy="5135562"/>
          </a:xfrm>
        </p:spPr>
        <p:txBody>
          <a:bodyPr>
            <a:normAutofit/>
          </a:bodyPr>
          <a:lstStyle/>
          <a:p>
            <a:pPr marL="457200" lvl="1" indent="0">
              <a:buNone/>
            </a:pPr>
            <a:r>
              <a:rPr lang="ru-RU" b="1" dirty="0"/>
              <a:t>	пример: В индустрии: </a:t>
            </a:r>
            <a:r>
              <a:rPr lang="ru-RU" dirty="0"/>
              <a:t>отделение сигнала поломки оборудования по вибрации от регулярных вибраций</a:t>
            </a:r>
          </a:p>
          <a:p>
            <a:pPr marL="457200" lvl="1" indent="0">
              <a:buNone/>
            </a:pPr>
            <a:r>
              <a:rPr lang="ru-RU" b="1" dirty="0"/>
              <a:t>в гидрологии </a:t>
            </a:r>
            <a:r>
              <a:rPr lang="en" dirty="0"/>
              <a:t>PACF </a:t>
            </a:r>
            <a:r>
              <a:rPr lang="ru-RU" dirty="0"/>
              <a:t>отделяет влияние непосредственных предшествующих наблюдений от сезонных эффектов</a:t>
            </a:r>
          </a:p>
          <a:p>
            <a:pPr marL="457200" lvl="1" indent="0">
              <a:buNone/>
            </a:pPr>
            <a:r>
              <a:rPr lang="ru-RU" b="1" dirty="0"/>
              <a:t>		в машинном обучении: </a:t>
            </a:r>
            <a:r>
              <a:rPr lang="ru-RU" dirty="0"/>
              <a:t>формирование признаков только из нужных лагов без избыточности</a:t>
            </a:r>
          </a:p>
        </p:txBody>
      </p:sp>
      <p:sp>
        <p:nvSpPr>
          <p:cNvPr id="4" name="Номер слайда 3">
            <a:extLst>
              <a:ext uri="{FF2B5EF4-FFF2-40B4-BE49-F238E27FC236}">
                <a16:creationId xmlns:a16="http://schemas.microsoft.com/office/drawing/2014/main" id="{A8DF9A2F-EC74-30BC-44D8-4BFE998E4847}"/>
              </a:ext>
            </a:extLst>
          </p:cNvPr>
          <p:cNvSpPr>
            <a:spLocks noGrp="1"/>
          </p:cNvSpPr>
          <p:nvPr>
            <p:ph type="sldNum" sz="quarter" idx="12"/>
          </p:nvPr>
        </p:nvSpPr>
        <p:spPr/>
        <p:txBody>
          <a:bodyPr/>
          <a:lstStyle/>
          <a:p>
            <a:fld id="{45C3B737-A709-4ABC-AFE0-A6B067850C48}" type="slidenum">
              <a:rPr lang="en-US" smtClean="0"/>
              <a:t>13</a:t>
            </a:fld>
            <a:endParaRPr lang="en-US"/>
          </a:p>
        </p:txBody>
      </p:sp>
      <p:pic>
        <p:nvPicPr>
          <p:cNvPr id="2050" name="Picture 2" descr="https://sherbold.github.io/intro-to-data-science/images/09_Time-Series-Analysis_13_0.png"/>
          <p:cNvPicPr>
            <a:picLocks noChangeAspect="1" noChangeArrowheads="1"/>
          </p:cNvPicPr>
          <p:nvPr/>
        </p:nvPicPr>
        <p:blipFill rotWithShape="1">
          <a:blip r:embed="rId3">
            <a:extLst>
              <a:ext uri="{28A0092B-C50C-407E-A947-70E740481C1C}">
                <a14:useLocalDpi xmlns:a14="http://schemas.microsoft.com/office/drawing/2010/main" val="0"/>
              </a:ext>
            </a:extLst>
          </a:blip>
          <a:srcRect r="33021" b="50286"/>
          <a:stretch/>
        </p:blipFill>
        <p:spPr bwMode="auto">
          <a:xfrm>
            <a:off x="5692775" y="3585080"/>
            <a:ext cx="6359525" cy="23225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571500" y="4671086"/>
            <a:ext cx="86600"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5698"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Прямоугольник 6"/>
          <p:cNvSpPr/>
          <p:nvPr/>
        </p:nvSpPr>
        <p:spPr>
          <a:xfrm>
            <a:off x="658100" y="3786416"/>
            <a:ext cx="6096000" cy="2569934"/>
          </a:xfrm>
          <a:prstGeom prst="rect">
            <a:avLst/>
          </a:prstGeom>
        </p:spPr>
        <p:txBody>
          <a:bodyPr>
            <a:spAutoFit/>
          </a:bodyPr>
          <a:lstStyle/>
          <a:p>
            <a:pPr lvl="0" defTabSz="914400" eaLnBrk="0" fontAlgn="base" hangingPunct="0">
              <a:spcBef>
                <a:spcPct val="0"/>
              </a:spcBef>
              <a:spcAft>
                <a:spcPct val="0"/>
              </a:spcAft>
            </a:pPr>
            <a:endParaRPr lang="ru-RU" altLang="ru-RU" sz="2800" dirty="0">
              <a:latin typeface="Arial" panose="020B0604020202020204" pitchFamily="34" charset="0"/>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dirty="0" err="1">
                <a:solidFill>
                  <a:srgbClr val="000000"/>
                </a:solidFill>
                <a:latin typeface="-apple-system"/>
              </a:rPr>
              <a:t>How</a:t>
            </a:r>
            <a:r>
              <a:rPr lang="ru-RU" altLang="ru-RU" dirty="0">
                <a:solidFill>
                  <a:srgbClr val="000000"/>
                </a:solidFill>
                <a:latin typeface="-apple-system"/>
              </a:rPr>
              <a:t> </a:t>
            </a:r>
            <a:r>
              <a:rPr lang="ru-RU" altLang="ru-RU" dirty="0" err="1">
                <a:solidFill>
                  <a:srgbClr val="000000"/>
                </a:solidFill>
                <a:latin typeface="-apple-system"/>
              </a:rPr>
              <a:t>much</a:t>
            </a:r>
            <a:r>
              <a:rPr lang="ru-RU" altLang="ru-RU" dirty="0">
                <a:solidFill>
                  <a:srgbClr val="000000"/>
                </a:solidFill>
                <a:latin typeface="-apple-system"/>
              </a:rPr>
              <a:t> </a:t>
            </a:r>
            <a:r>
              <a:rPr lang="ru-RU" altLang="ru-RU" dirty="0" err="1">
                <a:solidFill>
                  <a:srgbClr val="000000"/>
                </a:solidFill>
                <a:latin typeface="-apple-system"/>
              </a:rPr>
              <a:t>of</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sz="1100" dirty="0">
                <a:solidFill>
                  <a:srgbClr val="000000"/>
                </a:solidFill>
                <a:latin typeface="MathJax_Math-italic"/>
              </a:rPr>
              <a:t/>
            </a:r>
            <a:br>
              <a:rPr lang="ru-RU" altLang="ru-RU" sz="1100" dirty="0">
                <a:solidFill>
                  <a:srgbClr val="000000"/>
                </a:solidFill>
                <a:latin typeface="MathJax_Math-italic"/>
              </a:rPr>
            </a:b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already</a:t>
            </a:r>
            <a:r>
              <a:rPr lang="ru-RU" altLang="ru-RU" dirty="0">
                <a:solidFill>
                  <a:srgbClr val="000000"/>
                </a:solidFill>
                <a:latin typeface="-apple-system"/>
              </a:rPr>
              <a:t> </a:t>
            </a:r>
            <a:r>
              <a:rPr lang="ru-RU" altLang="ru-RU" dirty="0" err="1">
                <a:solidFill>
                  <a:srgbClr val="000000"/>
                </a:solidFill>
                <a:latin typeface="-apple-system"/>
              </a:rPr>
              <a:t>explained</a:t>
            </a:r>
            <a:r>
              <a:rPr lang="ru-RU" altLang="ru-RU" dirty="0">
                <a:solidFill>
                  <a:srgbClr val="000000"/>
                </a:solidFill>
                <a:latin typeface="-apple-system"/>
              </a:rPr>
              <a:t> </a:t>
            </a:r>
            <a:r>
              <a:rPr lang="ru-RU" altLang="ru-RU" dirty="0" err="1">
                <a:solidFill>
                  <a:srgbClr val="000000"/>
                </a:solidFill>
                <a:latin typeface="-apple-system"/>
              </a:rPr>
              <a:t>by</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indirect</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dirty="0">
                <a:solidFill>
                  <a:srgbClr val="000000"/>
                </a:solidFill>
                <a:latin typeface="-apple-system"/>
              </a:rPr>
              <a:t> </a:t>
            </a:r>
            <a:r>
              <a:rPr lang="ru-RU" altLang="ru-RU" dirty="0" err="1">
                <a:solidFill>
                  <a:srgbClr val="000000"/>
                </a:solidFill>
                <a:latin typeface="-apple-system"/>
              </a:rPr>
              <a:t>though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a:t>
            </a:r>
          </a:p>
          <a:p>
            <a:pPr lvl="0" defTabSz="914400" eaLnBrk="0" fontAlgn="base" hangingPunct="0">
              <a:spcBef>
                <a:spcPct val="0"/>
              </a:spcBef>
              <a:spcAft>
                <a:spcPct val="0"/>
              </a:spcAft>
            </a:pPr>
            <a:r>
              <a:rPr lang="ru-RU" altLang="ru-RU" sz="700" dirty="0"/>
              <a:t/>
            </a:r>
            <a:br>
              <a:rPr lang="ru-RU" altLang="ru-RU" sz="700" dirty="0"/>
            </a:br>
            <a:endParaRPr lang="ru-RU" altLang="ru-RU" sz="2800" dirty="0">
              <a:latin typeface="Arial" panose="020B0604020202020204" pitchFamily="34" charset="0"/>
            </a:endParaRPr>
          </a:p>
        </p:txBody>
      </p:sp>
      <p:sp>
        <p:nvSpPr>
          <p:cNvPr id="8" name="Прямоугольник 7"/>
          <p:cNvSpPr/>
          <p:nvPr/>
        </p:nvSpPr>
        <p:spPr>
          <a:xfrm>
            <a:off x="3035300" y="5944391"/>
            <a:ext cx="6096000" cy="4247317"/>
          </a:xfrm>
          <a:prstGeom prst="rect">
            <a:avLst/>
          </a:prstGeom>
        </p:spPr>
        <p:txBody>
          <a:bodyPr>
            <a:spAutoFit/>
          </a:bodyPr>
          <a:lstStyle/>
          <a:p>
            <a:r>
              <a:rPr lang="en-US">
                <a:solidFill>
                  <a:srgbClr val="000000"/>
                </a:solidFill>
                <a:latin typeface="-apple-system"/>
              </a:rPr>
              <a:t>he issue is that there is </a:t>
            </a:r>
            <a:r>
              <a:rPr lang="en-US" i="1">
                <a:solidFill>
                  <a:srgbClr val="000000"/>
                </a:solidFill>
                <a:latin typeface="-apple-system"/>
              </a:rPr>
              <a:t>carry over</a:t>
            </a:r>
            <a:r>
              <a:rPr lang="en-US">
                <a:solidFill>
                  <a:srgbClr val="000000"/>
                </a:solidFill>
                <a:latin typeface="-apple-system"/>
              </a:rPr>
              <a:t> between the different points in the time series. While this is hard to parse with the mathematical notation, the meaning of this gets clearer with an example. If the number of passengers in March are correlated with the value in February, and the value in February is correlated with the value in January, then the value of January has an indirect impact on March, because it has an impact on February. Thus, some of the correlation between January and February carries over to March.</a:t>
            </a:r>
          </a:p>
          <a:p>
            <a:r>
              <a:rPr lang="en-US">
                <a:solidFill>
                  <a:srgbClr val="000000"/>
                </a:solidFill>
                <a:latin typeface="-apple-system"/>
              </a:rPr>
              <a:t>However, there may also be </a:t>
            </a:r>
            <a:r>
              <a:rPr lang="en-US" i="1">
                <a:solidFill>
                  <a:srgbClr val="000000"/>
                </a:solidFill>
                <a:latin typeface="-apple-system"/>
              </a:rPr>
              <a:t>direct</a:t>
            </a:r>
            <a:r>
              <a:rPr lang="en-US">
                <a:solidFill>
                  <a:srgbClr val="000000"/>
                </a:solidFill>
                <a:latin typeface="-apple-system"/>
              </a:rPr>
              <a:t> correlation between January and March. This direct correlation is called </a:t>
            </a:r>
            <a:r>
              <a:rPr lang="en-US" i="1">
                <a:solidFill>
                  <a:srgbClr val="000000"/>
                </a:solidFill>
                <a:latin typeface="-apple-system"/>
              </a:rPr>
              <a:t>partial autocorrelation</a:t>
            </a:r>
            <a:r>
              <a:rPr lang="en-US">
                <a:solidFill>
                  <a:srgbClr val="000000"/>
                </a:solidFill>
                <a:latin typeface="-apple-system"/>
              </a:rPr>
              <a:t>. The partial autocorrelation is the autocorrelation without the carryover, i.e., only the direct correlation.</a:t>
            </a:r>
            <a:endParaRPr lang="en-US" b="0" i="0" dirty="0">
              <a:solidFill>
                <a:srgbClr val="000000"/>
              </a:solidFill>
              <a:effectLst/>
              <a:latin typeface="-apple-system"/>
            </a:endParaRPr>
          </a:p>
        </p:txBody>
      </p:sp>
      <p:sp>
        <p:nvSpPr>
          <p:cNvPr id="9" name="Прямоугольник 8"/>
          <p:cNvSpPr/>
          <p:nvPr/>
        </p:nvSpPr>
        <p:spPr>
          <a:xfrm>
            <a:off x="9090900" y="5923449"/>
            <a:ext cx="6096000" cy="646331"/>
          </a:xfrm>
          <a:prstGeom prst="rect">
            <a:avLst/>
          </a:prstGeom>
        </p:spPr>
        <p:txBody>
          <a:bodyPr>
            <a:spAutoFit/>
          </a:bodyPr>
          <a:lstStyle/>
          <a:p>
            <a:r>
              <a:rPr lang="ru-RU" dirty="0"/>
              <a:t>https://sherbold.github.io/intro-to-data-science/09_Time-Series-Analysis.html</a:t>
            </a:r>
          </a:p>
        </p:txBody>
      </p:sp>
    </p:spTree>
    <p:extLst>
      <p:ext uri="{BB962C8B-B14F-4D97-AF65-F5344CB8AC3E}">
        <p14:creationId xmlns:p14="http://schemas.microsoft.com/office/powerpoint/2010/main" val="2355403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pic>
        <p:nvPicPr>
          <p:cNvPr id="1026" name="Picture 2" descr="https://sherbold.github.io/intro-to-data-science/images/09_Time-Series-Analysis_1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440" y="2416738"/>
            <a:ext cx="8581499" cy="422238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77779" y="6356350"/>
            <a:ext cx="6096000" cy="307777"/>
          </a:xfrm>
          <a:prstGeom prst="rect">
            <a:avLst/>
          </a:prstGeom>
        </p:spPr>
        <p:txBody>
          <a:bodyPr>
            <a:spAutoFit/>
          </a:bodyPr>
          <a:lstStyle/>
          <a:p>
            <a:r>
              <a:rPr lang="ru-RU" sz="1400" dirty="0"/>
              <a:t>https://sherbold.github.io/intro-to-data-science/09_Time-Series-Analysis.html</a:t>
            </a:r>
          </a:p>
        </p:txBody>
      </p:sp>
      <p:pic>
        <p:nvPicPr>
          <p:cNvPr id="102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b="51489"/>
          <a:stretch/>
        </p:blipFill>
        <p:spPr bwMode="auto">
          <a:xfrm>
            <a:off x="923925" y="503403"/>
            <a:ext cx="5708413" cy="18486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t="-250" b="51739"/>
          <a:stretch/>
        </p:blipFill>
        <p:spPr bwMode="auto">
          <a:xfrm>
            <a:off x="6483587" y="535749"/>
            <a:ext cx="5708413" cy="184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59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47D957-91ED-4DFD-BF38-CD0297336D2C}"/>
              </a:ext>
            </a:extLst>
          </p:cNvPr>
          <p:cNvSpPr>
            <a:spLocks noGrp="1"/>
          </p:cNvSpPr>
          <p:nvPr>
            <p:ph type="title"/>
          </p:nvPr>
        </p:nvSpPr>
        <p:spPr>
          <a:xfrm>
            <a:off x="838200" y="224120"/>
            <a:ext cx="10515600" cy="782357"/>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E4718F5E-C23C-4099-A406-E529666DEA6A}"/>
              </a:ext>
            </a:extLst>
          </p:cNvPr>
          <p:cNvSpPr>
            <a:spLocks noGrp="1"/>
          </p:cNvSpPr>
          <p:nvPr>
            <p:ph idx="1"/>
          </p:nvPr>
        </p:nvSpPr>
        <p:spPr>
          <a:xfrm>
            <a:off x="131618" y="904020"/>
            <a:ext cx="11222182" cy="5817455"/>
          </a:xfrm>
        </p:spPr>
        <p:txBody>
          <a:bodyPr>
            <a:normAutofit/>
          </a:bodyPr>
          <a:lstStyle/>
          <a:p>
            <a:pPr marL="0" indent="0">
              <a:buNone/>
            </a:pPr>
            <a:r>
              <a:rPr lang="ru-RU" sz="2400" b="1" dirty="0"/>
              <a:t>Нестационарный ряд </a:t>
            </a:r>
            <a:r>
              <a:rPr lang="ru-RU" sz="2400" dirty="0"/>
              <a:t>- временной ряд считается нестационарным, если некоторые из его статистических свойств меняются с течением времени. </a:t>
            </a:r>
          </a:p>
          <a:p>
            <a:pPr marL="0" indent="0">
              <a:buNone/>
            </a:pPr>
            <a:r>
              <a:rPr lang="ru-RU" sz="2400" dirty="0"/>
              <a:t>Другими словами, ВР имеет переменную среднего времени, дисперсию или другие статистические характеристики.</a:t>
            </a:r>
            <a:endParaRPr lang="en-US" sz="3200" dirty="0"/>
          </a:p>
        </p:txBody>
      </p:sp>
      <p:sp>
        <p:nvSpPr>
          <p:cNvPr id="6" name="Номер слайда 5">
            <a:extLst>
              <a:ext uri="{FF2B5EF4-FFF2-40B4-BE49-F238E27FC236}">
                <a16:creationId xmlns:a16="http://schemas.microsoft.com/office/drawing/2014/main" id="{3AE4B016-46C5-1BFB-262D-5EBB825C0AD9}"/>
              </a:ext>
            </a:extLst>
          </p:cNvPr>
          <p:cNvSpPr>
            <a:spLocks noGrp="1"/>
          </p:cNvSpPr>
          <p:nvPr>
            <p:ph type="sldNum" sz="quarter" idx="12"/>
          </p:nvPr>
        </p:nvSpPr>
        <p:spPr/>
        <p:txBody>
          <a:bodyPr/>
          <a:lstStyle/>
          <a:p>
            <a:fld id="{45C3B737-A709-4ABC-AFE0-A6B067850C48}" type="slidenum">
              <a:rPr lang="en-US" smtClean="0"/>
              <a:t>15</a:t>
            </a:fld>
            <a:endParaRPr lang="en-US" dirty="0"/>
          </a:p>
        </p:txBody>
      </p:sp>
      <p:pic>
        <p:nvPicPr>
          <p:cNvPr id="7170" name="Picture 2" descr="image.png">
            <a:extLst>
              <a:ext uri="{FF2B5EF4-FFF2-40B4-BE49-F238E27FC236}">
                <a16:creationId xmlns:a16="http://schemas.microsoft.com/office/drawing/2014/main" id="{0FBAF8A5-46C7-4F6E-B148-B2008975F9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35"/>
          <a:stretch/>
        </p:blipFill>
        <p:spPr bwMode="auto">
          <a:xfrm>
            <a:off x="5346700" y="3951596"/>
            <a:ext cx="6183746" cy="276987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Stationarity in time series analysis | by Shay Palachy | Towards Data  Science"/>
          <p:cNvSpPr>
            <a:spLocks noChangeAspect="1" noChangeArrowheads="1"/>
          </p:cNvSpPr>
          <p:nvPr/>
        </p:nvSpPr>
        <p:spPr bwMode="auto">
          <a:xfrm>
            <a:off x="-136842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sz="1351"/>
          </a:p>
        </p:txBody>
      </p:sp>
      <p:sp>
        <p:nvSpPr>
          <p:cNvPr id="7" name="Объект 2">
            <a:extLst>
              <a:ext uri="{FF2B5EF4-FFF2-40B4-BE49-F238E27FC236}">
                <a16:creationId xmlns:a16="http://schemas.microsoft.com/office/drawing/2014/main" id="{E4718F5E-C23C-4099-A406-E529666DEA6A}"/>
              </a:ext>
            </a:extLst>
          </p:cNvPr>
          <p:cNvSpPr txBox="1">
            <a:spLocks/>
          </p:cNvSpPr>
          <p:nvPr/>
        </p:nvSpPr>
        <p:spPr>
          <a:xfrm>
            <a:off x="484909" y="2349177"/>
            <a:ext cx="11222182" cy="24768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Нестационарный ряд – значит по короткому участку нельзя построить надежную модель</a:t>
            </a:r>
          </a:p>
          <a:p>
            <a:r>
              <a:rPr lang="ru-RU" sz="2400" dirty="0" smtClean="0"/>
              <a:t>Чем сильнее </a:t>
            </a:r>
            <a:r>
              <a:rPr lang="ru-RU" sz="2400" dirty="0" err="1" smtClean="0"/>
              <a:t>нестационарность</a:t>
            </a:r>
            <a:r>
              <a:rPr lang="ru-RU" sz="2400" dirty="0" smtClean="0"/>
              <a:t> – тем меньше горизонт прогнозирования со стабильной ошибкой.</a:t>
            </a:r>
          </a:p>
          <a:p>
            <a:r>
              <a:rPr lang="ru-RU" sz="2400" dirty="0" smtClean="0"/>
              <a:t>Тем сложнее модель предсказания (больше данных, склонность к переобучению – ограниченный горизонт) </a:t>
            </a:r>
          </a:p>
          <a:p>
            <a:pPr marL="0" indent="0">
              <a:buFont typeface="Arial" panose="020B0604020202020204" pitchFamily="34" charset="0"/>
              <a:buNone/>
            </a:pPr>
            <a:r>
              <a:rPr lang="ru-RU" sz="2400" dirty="0" smtClean="0"/>
              <a:t> </a:t>
            </a:r>
            <a:endParaRPr lang="en-US" sz="3200" dirty="0"/>
          </a:p>
        </p:txBody>
      </p:sp>
    </p:spTree>
    <p:extLst>
      <p:ext uri="{BB962C8B-B14F-4D97-AF65-F5344CB8AC3E}">
        <p14:creationId xmlns:p14="http://schemas.microsoft.com/office/powerpoint/2010/main" val="164417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0CA84-E3AD-B7BB-82C3-9F98F663EC4C}"/>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a:t>
            </a:r>
          </a:p>
        </p:txBody>
      </p:sp>
      <p:sp>
        <p:nvSpPr>
          <p:cNvPr id="3" name="Объект 2">
            <a:extLst>
              <a:ext uri="{FF2B5EF4-FFF2-40B4-BE49-F238E27FC236}">
                <a16:creationId xmlns:a16="http://schemas.microsoft.com/office/drawing/2014/main" id="{6A8EA5FD-8A38-5591-1AF1-A2953088A252}"/>
              </a:ext>
            </a:extLst>
          </p:cNvPr>
          <p:cNvSpPr>
            <a:spLocks noGrp="1"/>
          </p:cNvSpPr>
          <p:nvPr>
            <p:ph idx="1"/>
          </p:nvPr>
        </p:nvSpPr>
        <p:spPr>
          <a:xfrm>
            <a:off x="204424" y="857546"/>
            <a:ext cx="11673540" cy="4965108"/>
          </a:xfrm>
        </p:spPr>
        <p:txBody>
          <a:bodyPr>
            <a:normAutofit/>
          </a:bodyPr>
          <a:lstStyle/>
          <a:p>
            <a:r>
              <a:rPr lang="ru-RU" sz="2200" b="1" dirty="0"/>
              <a:t>В узком смысле, </a:t>
            </a:r>
            <a:r>
              <a:rPr lang="ru-RU" sz="2200" dirty="0"/>
              <a:t>при сдвиге в любой момент времени ВР на одном и </a:t>
            </a:r>
            <a:r>
              <a:rPr lang="ru-RU" sz="2200" dirty="0" err="1"/>
              <a:t>томже</a:t>
            </a:r>
            <a:r>
              <a:rPr lang="ru-RU" sz="2200" dirty="0"/>
              <a:t> размер. Выборки имеет одно и тоже распределение </a:t>
            </a:r>
            <a:r>
              <a:rPr lang="ru-RU" sz="2200" b="1" dirty="0" smtClean="0"/>
              <a:t>(сильное определение)</a:t>
            </a:r>
            <a:endParaRPr lang="ru-RU" sz="2200" b="1" dirty="0"/>
          </a:p>
          <a:p>
            <a:pPr lvl="1"/>
            <a:r>
              <a:rPr lang="ru-RU" sz="2200" dirty="0"/>
              <a:t>если для любых  </a:t>
            </a:r>
            <a:r>
              <a:rPr lang="en" sz="2200" dirty="0"/>
              <a:t>t</a:t>
            </a:r>
            <a:r>
              <a:rPr lang="en" sz="2200" baseline="-25000" dirty="0"/>
              <a:t>1</a:t>
            </a:r>
            <a:r>
              <a:rPr lang="en" sz="2200" dirty="0"/>
              <a:t>,...,</a:t>
            </a:r>
            <a:r>
              <a:rPr lang="en" sz="2200" dirty="0" err="1"/>
              <a:t>t</a:t>
            </a:r>
            <a:r>
              <a:rPr lang="en" sz="2200" baseline="-25000" dirty="0" err="1"/>
              <a:t>n</a:t>
            </a:r>
            <a:r>
              <a:rPr lang="en" sz="2200" dirty="0"/>
              <a:t>,</a:t>
            </a:r>
            <a:r>
              <a:rPr lang="ru-RU" sz="2200" dirty="0"/>
              <a:t> и </a:t>
            </a:r>
            <a:r>
              <a:rPr lang="el-GR" sz="2200" dirty="0"/>
              <a:t>τ </a:t>
            </a:r>
            <a:r>
              <a:rPr lang="ru-RU" sz="2200" dirty="0"/>
              <a:t>вектор (</a:t>
            </a:r>
            <a:r>
              <a:rPr lang="en" sz="2200" dirty="0"/>
              <a:t>y</a:t>
            </a:r>
            <a:r>
              <a:rPr lang="en" sz="2200" baseline="-25000" dirty="0"/>
              <a:t>t1+</a:t>
            </a:r>
            <a:r>
              <a:rPr lang="el-GR" sz="2200" baseline="-25000" dirty="0"/>
              <a:t>τ</a:t>
            </a:r>
            <a:r>
              <a:rPr lang="el-GR" sz="2200" dirty="0"/>
              <a:t>,...,</a:t>
            </a:r>
            <a:r>
              <a:rPr lang="en" sz="2200" dirty="0" err="1"/>
              <a:t>y</a:t>
            </a:r>
            <a:r>
              <a:rPr lang="en" sz="2200" baseline="-25000" dirty="0" err="1"/>
              <a:t>tn</a:t>
            </a:r>
            <a:r>
              <a:rPr lang="en" sz="2200" baseline="-25000" dirty="0"/>
              <a:t>+</a:t>
            </a:r>
            <a:r>
              <a:rPr lang="el-GR" sz="2200" baseline="-25000" dirty="0"/>
              <a:t>τ</a:t>
            </a:r>
            <a:r>
              <a:rPr lang="el-GR" sz="2200" dirty="0"/>
              <a:t>)</a:t>
            </a:r>
            <a:r>
              <a:rPr lang="ru-RU" sz="2200" dirty="0"/>
              <a:t> совпадает по распределению с (</a:t>
            </a:r>
            <a:r>
              <a:rPr lang="en" sz="2200" dirty="0"/>
              <a:t>y</a:t>
            </a:r>
            <a:r>
              <a:rPr lang="en" sz="2200" baseline="-25000" dirty="0"/>
              <a:t>t1</a:t>
            </a:r>
            <a:r>
              <a:rPr lang="en" sz="2200" dirty="0"/>
              <a:t>,...,</a:t>
            </a:r>
            <a:r>
              <a:rPr lang="en" sz="2200" dirty="0" err="1"/>
              <a:t>y</a:t>
            </a:r>
            <a:r>
              <a:rPr lang="en" sz="2200" baseline="-25000" dirty="0" err="1"/>
              <a:t>tn</a:t>
            </a:r>
            <a:r>
              <a:rPr lang="ru-RU" sz="2200" dirty="0"/>
              <a:t>)</a:t>
            </a:r>
          </a:p>
          <a:p>
            <a:r>
              <a:rPr lang="ru-RU" sz="2200" b="1" dirty="0"/>
              <a:t>В широком смысле: </a:t>
            </a:r>
            <a:r>
              <a:rPr lang="ru-RU" sz="2200" dirty="0"/>
              <a:t>если статистические свойства ВР не меняются с течением времени. </a:t>
            </a:r>
            <a:r>
              <a:rPr lang="ru-RU" sz="2200" b="1" dirty="0" smtClean="0"/>
              <a:t>(слабое определение)</a:t>
            </a:r>
            <a:endParaRPr lang="en-US" sz="2200" b="1" dirty="0"/>
          </a:p>
          <a:p>
            <a:r>
              <a:rPr lang="ru-RU" sz="2200" dirty="0"/>
              <a:t>Другими словами, </a:t>
            </a:r>
            <a:r>
              <a:rPr lang="en-US" sz="2200" dirty="0" err="1"/>
              <a:t>ряд</a:t>
            </a:r>
            <a:r>
              <a:rPr lang="ru-RU" sz="2200" dirty="0"/>
              <a:t> имеет постоянное среднее значение и дисперсию, а ковариация зависит только от разницы индексов лагов. </a:t>
            </a:r>
          </a:p>
          <a:p>
            <a:pPr lvl="1"/>
            <a:r>
              <a:rPr lang="ru-RU" sz="2200" dirty="0"/>
              <a:t>указанные статистические характеристики не должны быть бесконечными.</a:t>
            </a:r>
          </a:p>
          <a:p>
            <a:pPr lvl="1"/>
            <a:r>
              <a:rPr lang="en" sz="1800" dirty="0"/>
              <a:t>E</a:t>
            </a:r>
            <a:r>
              <a:rPr lang="en" sz="1800" i="1" dirty="0"/>
              <a:t>y</a:t>
            </a:r>
            <a:r>
              <a:rPr lang="en" sz="1800" i="1" baseline="-25000" dirty="0"/>
              <a:t>t</a:t>
            </a:r>
            <a:r>
              <a:rPr lang="en" sz="1800" baseline="30000" dirty="0"/>
              <a:t>2</a:t>
            </a:r>
            <a:r>
              <a:rPr lang="en" sz="1800" dirty="0"/>
              <a:t>​&lt;+∞ </a:t>
            </a:r>
            <a:r>
              <a:rPr lang="ru-RU" sz="1800" dirty="0"/>
              <a:t>для любого </a:t>
            </a:r>
            <a:r>
              <a:rPr lang="en" sz="1800" i="1" dirty="0"/>
              <a:t>t</a:t>
            </a:r>
            <a:r>
              <a:rPr lang="en" sz="1800" dirty="0"/>
              <a:t>.</a:t>
            </a:r>
            <a:r>
              <a:rPr lang="ru-RU" sz="1800" dirty="0"/>
              <a:t> </a:t>
            </a:r>
            <a:r>
              <a:rPr lang="en" sz="1800" dirty="0" err="1"/>
              <a:t>E</a:t>
            </a:r>
            <a:r>
              <a:rPr lang="en" sz="1800" i="1" dirty="0" err="1"/>
              <a:t>y</a:t>
            </a:r>
            <a:r>
              <a:rPr lang="en" sz="1800" i="1" baseline="-25000" dirty="0" err="1"/>
              <a:t>t</a:t>
            </a:r>
            <a:r>
              <a:rPr lang="ru-RU" sz="1800" i="1" baseline="30000" dirty="0"/>
              <a:t> </a:t>
            </a:r>
            <a:r>
              <a:rPr lang="ru-RU" sz="1800" dirty="0"/>
              <a:t>не зависит от </a:t>
            </a:r>
            <a:r>
              <a:rPr lang="en" sz="1800" i="1" dirty="0"/>
              <a:t>t</a:t>
            </a:r>
            <a:r>
              <a:rPr lang="en" sz="1800" dirty="0"/>
              <a:t>, </a:t>
            </a:r>
            <a:r>
              <a:rPr lang="ru-RU" sz="1800" dirty="0"/>
              <a:t>то есть в среднем значение временного ряда постоянно. </a:t>
            </a:r>
            <a:r>
              <a:rPr lang="en" sz="1800" dirty="0"/>
              <a:t>C</a:t>
            </a:r>
            <a:r>
              <a:rPr lang="ru-RU" sz="1800" dirty="0" err="1"/>
              <a:t>ov</a:t>
            </a:r>
            <a:r>
              <a:rPr lang="en-US" sz="1800" dirty="0"/>
              <a:t>(t)=</a:t>
            </a:r>
            <a:r>
              <a:rPr lang="en-US" sz="1800" dirty="0" err="1"/>
              <a:t>Cov</a:t>
            </a:r>
            <a:r>
              <a:rPr lang="en-US" sz="1800" dirty="0"/>
              <a:t>(</a:t>
            </a:r>
            <a:r>
              <a:rPr lang="en-US" sz="1800" dirty="0" err="1"/>
              <a:t>t+tau</a:t>
            </a:r>
            <a:r>
              <a:rPr lang="en-US" sz="1800" dirty="0"/>
              <a:t>)</a:t>
            </a:r>
            <a:r>
              <a:rPr lang="ru-RU" sz="1800" dirty="0"/>
              <a:t> , то есть значение автокорреляции зависит только от длины отрезка времени между двумя значениями</a:t>
            </a:r>
            <a:endParaRPr lang="en-US" sz="1800" dirty="0"/>
          </a:p>
        </p:txBody>
      </p:sp>
      <p:sp>
        <p:nvSpPr>
          <p:cNvPr id="4" name="Номер слайда 3">
            <a:extLst>
              <a:ext uri="{FF2B5EF4-FFF2-40B4-BE49-F238E27FC236}">
                <a16:creationId xmlns:a16="http://schemas.microsoft.com/office/drawing/2014/main" id="{6829CDCF-CA89-B716-5BCC-F64969F31A35}"/>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5" name="Picture 2" descr="image.png">
            <a:extLst>
              <a:ext uri="{FF2B5EF4-FFF2-40B4-BE49-F238E27FC236}">
                <a16:creationId xmlns:a16="http://schemas.microsoft.com/office/drawing/2014/main" id="{348A59E2-301A-DD23-5BAD-1E073DDA6E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5" b="56037"/>
          <a:stretch>
            <a:fillRect/>
          </a:stretch>
        </p:blipFill>
        <p:spPr bwMode="auto">
          <a:xfrm>
            <a:off x="5194299" y="4325958"/>
            <a:ext cx="6436049" cy="2285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2008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a:t>
            </a:r>
            <a:r>
              <a:rPr lang="ru-RU" b="1" dirty="0" err="1"/>
              <a:t>нестационарности</a:t>
            </a:r>
            <a:endParaRPr lang="en-US" b="1"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66254" y="1060024"/>
            <a:ext cx="11952107" cy="460375"/>
          </a:xfrm>
        </p:spPr>
        <p:txBody>
          <a:bodyPr>
            <a:normAutofit fontScale="85000" lnSpcReduction="10000"/>
          </a:bodyPr>
          <a:lstStyle/>
          <a:p>
            <a:pPr marL="0" indent="0">
              <a:buNone/>
            </a:pPr>
            <a:r>
              <a:rPr lang="ru-RU" sz="2000" dirty="0"/>
              <a:t>Если ВР имеет тренд, выраженную сезонность или переменную дисперсию (</a:t>
            </a:r>
            <a:r>
              <a:rPr lang="ru-RU" sz="2000" dirty="0" err="1"/>
              <a:t>гетеросекдостичность</a:t>
            </a:r>
            <a:r>
              <a:rPr lang="ru-RU" sz="2000" dirty="0"/>
              <a:t>), то ВР </a:t>
            </a:r>
            <a:r>
              <a:rPr lang="ru-RU" sz="2000" dirty="0" err="1"/>
              <a:t>нестационарен</a:t>
            </a:r>
            <a:endParaRPr lang="en-US" sz="2000" dirty="0"/>
          </a:p>
        </p:txBody>
      </p:sp>
      <p:sp>
        <p:nvSpPr>
          <p:cNvPr id="4" name="Номер слайда 3">
            <a:extLst>
              <a:ext uri="{FF2B5EF4-FFF2-40B4-BE49-F238E27FC236}">
                <a16:creationId xmlns:a16="http://schemas.microsoft.com/office/drawing/2014/main" id="{05DF02A9-1A1F-AE07-E202-839063BE959D}"/>
              </a:ext>
            </a:extLst>
          </p:cNvPr>
          <p:cNvSpPr>
            <a:spLocks noGrp="1"/>
          </p:cNvSpPr>
          <p:nvPr>
            <p:ph type="sldNum" sz="quarter" idx="12"/>
          </p:nvPr>
        </p:nvSpPr>
        <p:spPr/>
        <p:txBody>
          <a:bodyPr/>
          <a:lstStyle/>
          <a:p>
            <a:fld id="{45C3B737-A709-4ABC-AFE0-A6B067850C48}" type="slidenum">
              <a:rPr lang="en-US" smtClean="0"/>
              <a:t>17</a:t>
            </a:fld>
            <a:endParaRPr lang="en-US"/>
          </a:p>
        </p:txBody>
      </p:sp>
      <p:pic>
        <p:nvPicPr>
          <p:cNvPr id="10242" name="Picture 2" descr="image.png">
            <a:extLst>
              <a:ext uri="{FF2B5EF4-FFF2-40B4-BE49-F238E27FC236}">
                <a16:creationId xmlns:a16="http://schemas.microsoft.com/office/drawing/2014/main" id="{DD8C898C-2BC4-4CDA-A79D-0C28B3CBB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930" y="1427559"/>
            <a:ext cx="7632415" cy="50216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20B24B-03C1-7306-AE22-AAC0C9E9B8D4}"/>
              </a:ext>
            </a:extLst>
          </p:cNvPr>
          <p:cNvSpPr txBox="1"/>
          <p:nvPr/>
        </p:nvSpPr>
        <p:spPr>
          <a:xfrm>
            <a:off x="1607127" y="6356350"/>
            <a:ext cx="8742218"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spTree>
    <p:extLst>
      <p:ext uri="{BB962C8B-B14F-4D97-AF65-F5344CB8AC3E}">
        <p14:creationId xmlns:p14="http://schemas.microsoft.com/office/powerpoint/2010/main" val="19109384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7A29-C3A0-7522-0DAC-32BF46F931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2E7AB-E7E7-215B-AFB5-C6656CE07A0D}"/>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 Замечания</a:t>
            </a:r>
          </a:p>
        </p:txBody>
      </p:sp>
      <p:sp>
        <p:nvSpPr>
          <p:cNvPr id="3" name="Объект 2">
            <a:extLst>
              <a:ext uri="{FF2B5EF4-FFF2-40B4-BE49-F238E27FC236}">
                <a16:creationId xmlns:a16="http://schemas.microsoft.com/office/drawing/2014/main" id="{4584A7FB-FF48-C141-958F-6FB372C030D0}"/>
              </a:ext>
            </a:extLst>
          </p:cNvPr>
          <p:cNvSpPr>
            <a:spLocks noGrp="1"/>
          </p:cNvSpPr>
          <p:nvPr>
            <p:ph idx="1"/>
          </p:nvPr>
        </p:nvSpPr>
        <p:spPr>
          <a:xfrm>
            <a:off x="263236" y="868764"/>
            <a:ext cx="11665527" cy="4965108"/>
          </a:xfrm>
        </p:spPr>
        <p:txBody>
          <a:bodyPr>
            <a:normAutofit/>
          </a:bodyPr>
          <a:lstStyle/>
          <a:p>
            <a:r>
              <a:rPr lang="en-US" sz="2200" dirty="0" err="1"/>
              <a:t>Если</a:t>
            </a:r>
            <a:r>
              <a:rPr lang="ru-RU" sz="2200" dirty="0"/>
              <a:t> ряд регулярный он может не быть </a:t>
            </a:r>
            <a:r>
              <a:rPr lang="ru-RU" sz="2200" dirty="0" err="1"/>
              <a:t>стационарым</a:t>
            </a:r>
            <a:r>
              <a:rPr lang="ru-RU" sz="2200" dirty="0"/>
              <a:t> (но не наоборот)</a:t>
            </a:r>
          </a:p>
          <a:p>
            <a:r>
              <a:rPr lang="ru-RU" sz="2200" dirty="0"/>
              <a:t>Временной ряд в ряде случаев сводится к стационарному простыми преобразованиями</a:t>
            </a:r>
          </a:p>
          <a:p>
            <a:r>
              <a:rPr lang="ru-RU" sz="2200" dirty="0"/>
              <a:t>Не все методы предсказания ВР требуют сведения ВР к стационарному, но основные требуют </a:t>
            </a:r>
          </a:p>
          <a:p>
            <a:endParaRPr lang="ru-RU" sz="2200" dirty="0"/>
          </a:p>
        </p:txBody>
      </p:sp>
      <p:sp>
        <p:nvSpPr>
          <p:cNvPr id="4" name="Номер слайда 3">
            <a:extLst>
              <a:ext uri="{FF2B5EF4-FFF2-40B4-BE49-F238E27FC236}">
                <a16:creationId xmlns:a16="http://schemas.microsoft.com/office/drawing/2014/main" id="{1F4CC8B1-1A3E-A562-1797-A6262E4AEB39}"/>
              </a:ext>
            </a:extLst>
          </p:cNvPr>
          <p:cNvSpPr>
            <a:spLocks noGrp="1"/>
          </p:cNvSpPr>
          <p:nvPr>
            <p:ph type="sldNum" sz="quarter" idx="12"/>
          </p:nvPr>
        </p:nvSpPr>
        <p:spPr/>
        <p:txBody>
          <a:bodyPr/>
          <a:lstStyle/>
          <a:p>
            <a:fld id="{45C3B737-A709-4ABC-AFE0-A6B067850C48}" type="slidenum">
              <a:rPr lang="en-US" smtClean="0"/>
              <a:t>18</a:t>
            </a:fld>
            <a:endParaRPr lang="en-US"/>
          </a:p>
        </p:txBody>
      </p:sp>
      <p:pic>
        <p:nvPicPr>
          <p:cNvPr id="3074" name="Picture 2" descr="stationary">
            <a:extLst>
              <a:ext uri="{FF2B5EF4-FFF2-40B4-BE49-F238E27FC236}">
                <a16:creationId xmlns:a16="http://schemas.microsoft.com/office/drawing/2014/main" id="{CC32CBF0-6BD1-B7CD-8361-92A51F4C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042" y="2105075"/>
            <a:ext cx="6227116" cy="44715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F1B7D9-7F27-C0BA-1A6B-FDC96CEC9608}"/>
              </a:ext>
            </a:extLst>
          </p:cNvPr>
          <p:cNvSpPr txBox="1"/>
          <p:nvPr/>
        </p:nvSpPr>
        <p:spPr>
          <a:xfrm>
            <a:off x="410813" y="3013364"/>
            <a:ext cx="5569526" cy="2655022"/>
          </a:xfrm>
          <a:prstGeom prst="rect">
            <a:avLst/>
          </a:prstGeom>
          <a:noFill/>
        </p:spPr>
        <p:txBody>
          <a:bodyPr wrap="square">
            <a:spAutoFit/>
          </a:bodyPr>
          <a:lstStyle/>
          <a:p>
            <a:pPr algn="l">
              <a:lnSpc>
                <a:spcPts val="1755"/>
              </a:lnSpc>
              <a:spcBef>
                <a:spcPts val="1800"/>
              </a:spcBef>
              <a:spcAft>
                <a:spcPts val="600"/>
              </a:spcAft>
            </a:pPr>
            <a:r>
              <a:rPr lang="ru-RU" sz="2400" b="0" i="0" dirty="0">
                <a:solidFill>
                  <a:srgbClr val="323232"/>
                </a:solidFill>
                <a:effectLst/>
              </a:rPr>
              <a:t>Примеры</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а, </a:t>
            </a:r>
            <a:r>
              <a:rPr lang="en" sz="2400" b="0" i="0" dirty="0">
                <a:solidFill>
                  <a:srgbClr val="323232"/>
                </a:solidFill>
                <a:effectLst/>
              </a:rPr>
              <a:t>c, d, e, f,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поскольку они имеют тренд;</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 </a:t>
            </a:r>
            <a:r>
              <a:rPr lang="en" sz="2400" b="0" i="0" dirty="0">
                <a:solidFill>
                  <a:srgbClr val="323232"/>
                </a:solidFill>
                <a:effectLst/>
              </a:rPr>
              <a:t>b </a:t>
            </a:r>
            <a:r>
              <a:rPr lang="ru-RU" sz="2400" b="0" i="0" dirty="0">
                <a:solidFill>
                  <a:srgbClr val="323232"/>
                </a:solidFill>
                <a:effectLst/>
              </a:rPr>
              <a:t>скорее всего стационарный, имеется выброс;</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a:t>
            </a:r>
            <a:r>
              <a:rPr lang="en" sz="2400" b="0" i="0" dirty="0">
                <a:solidFill>
                  <a:srgbClr val="323232"/>
                </a:solidFill>
                <a:effectLst/>
              </a:rPr>
              <a:t>d, g, h,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потому что имеют сезонность.</a:t>
            </a:r>
          </a:p>
        </p:txBody>
      </p:sp>
      <p:sp>
        <p:nvSpPr>
          <p:cNvPr id="8" name="TextBox 7">
            <a:extLst>
              <a:ext uri="{FF2B5EF4-FFF2-40B4-BE49-F238E27FC236}">
                <a16:creationId xmlns:a16="http://schemas.microsoft.com/office/drawing/2014/main" id="{C3BFB870-F0D3-4BE0-3CEC-865570E80239}"/>
              </a:ext>
            </a:extLst>
          </p:cNvPr>
          <p:cNvSpPr txBox="1"/>
          <p:nvPr/>
        </p:nvSpPr>
        <p:spPr>
          <a:xfrm>
            <a:off x="263236" y="6492875"/>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analitika-vremennyh-ryadov</a:t>
            </a:r>
            <a:endParaRPr lang="ru-RU" sz="1400" dirty="0"/>
          </a:p>
        </p:txBody>
      </p:sp>
    </p:spTree>
    <p:extLst>
      <p:ext uri="{BB962C8B-B14F-4D97-AF65-F5344CB8AC3E}">
        <p14:creationId xmlns:p14="http://schemas.microsoft.com/office/powerpoint/2010/main" val="1295918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999566" y="122502"/>
            <a:ext cx="10515600" cy="889935"/>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524000" y="1242922"/>
            <a:ext cx="9614647" cy="254187"/>
          </a:xfrm>
        </p:spPr>
        <p:txBody>
          <a:bodyPr>
            <a:normAutofit fontScale="85000" lnSpcReduction="20000"/>
          </a:bodyPr>
          <a:lstStyle/>
          <a:p>
            <a:r>
              <a:rPr lang="ru-RU" sz="1600" dirty="0"/>
              <a:t>Пример нестационарности линии тренда</a:t>
            </a:r>
            <a:endParaRPr lang="en-US" sz="1600" dirty="0"/>
          </a:p>
        </p:txBody>
      </p:sp>
      <p:sp>
        <p:nvSpPr>
          <p:cNvPr id="4" name="Номер слайда 3">
            <a:extLst>
              <a:ext uri="{FF2B5EF4-FFF2-40B4-BE49-F238E27FC236}">
                <a16:creationId xmlns:a16="http://schemas.microsoft.com/office/drawing/2014/main" id="{EEE1B8AB-F6A2-B209-F59C-484D26A94944}"/>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9218" name="Picture 2" descr="image.png">
            <a:extLst>
              <a:ext uri="{FF2B5EF4-FFF2-40B4-BE49-F238E27FC236}">
                <a16:creationId xmlns:a16="http://schemas.microsoft.com/office/drawing/2014/main" id="{052CE546-38C8-4545-9CE9-3131E7560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95" y="1414418"/>
            <a:ext cx="4705351" cy="2533651"/>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45038227-696C-41D4-9A08-38060580E5A9}"/>
              </a:ext>
            </a:extLst>
          </p:cNvPr>
          <p:cNvSpPr txBox="1">
            <a:spLocks/>
          </p:cNvSpPr>
          <p:nvPr/>
        </p:nvSpPr>
        <p:spPr>
          <a:xfrm>
            <a:off x="5086672" y="1242922"/>
            <a:ext cx="5790557" cy="2987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Пример сезонной нестационарности (в смысле дисперсии)</a:t>
            </a:r>
            <a:endParaRPr lang="en-US" sz="1600" dirty="0"/>
          </a:p>
        </p:txBody>
      </p:sp>
      <p:pic>
        <p:nvPicPr>
          <p:cNvPr id="9220" name="Picture 4" descr="image.png">
            <a:extLst>
              <a:ext uri="{FF2B5EF4-FFF2-40B4-BE49-F238E27FC236}">
                <a16:creationId xmlns:a16="http://schemas.microsoft.com/office/drawing/2014/main" id="{128D129D-DCD4-4354-8157-9D2680DA5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46" y="1605040"/>
            <a:ext cx="3876675" cy="2124075"/>
          </a:xfrm>
          <a:prstGeom prst="rect">
            <a:avLst/>
          </a:prstGeom>
          <a:noFill/>
          <a:extLst>
            <a:ext uri="{909E8E84-426E-40DD-AFC4-6F175D3DCCD1}">
              <a14:hiddenFill xmlns:a14="http://schemas.microsoft.com/office/drawing/2010/main">
                <a:solidFill>
                  <a:srgbClr val="FFFFFF"/>
                </a:solidFill>
              </a14:hiddenFill>
            </a:ext>
          </a:extLst>
        </p:spPr>
      </p:pic>
      <p:sp>
        <p:nvSpPr>
          <p:cNvPr id="7" name="Объект 2">
            <a:extLst>
              <a:ext uri="{FF2B5EF4-FFF2-40B4-BE49-F238E27FC236}">
                <a16:creationId xmlns:a16="http://schemas.microsoft.com/office/drawing/2014/main" id="{7226A53E-F261-4312-BAF5-E1890408B123}"/>
              </a:ext>
            </a:extLst>
          </p:cNvPr>
          <p:cNvSpPr txBox="1">
            <a:spLocks/>
          </p:cNvSpPr>
          <p:nvPr/>
        </p:nvSpPr>
        <p:spPr>
          <a:xfrm>
            <a:off x="1524000" y="3820835"/>
            <a:ext cx="9480176" cy="41583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параметров ВР </a:t>
            </a:r>
            <a:r>
              <a:rPr lang="ru-RU" dirty="0"/>
              <a:t>(в смысле периода сезонности)</a:t>
            </a:r>
            <a:endParaRPr lang="en-US" sz="2000" dirty="0"/>
          </a:p>
        </p:txBody>
      </p:sp>
      <p:pic>
        <p:nvPicPr>
          <p:cNvPr id="9222" name="Picture 6" descr="image.png">
            <a:extLst>
              <a:ext uri="{FF2B5EF4-FFF2-40B4-BE49-F238E27FC236}">
                <a16:creationId xmlns:a16="http://schemas.microsoft.com/office/drawing/2014/main" id="{C99BD1AB-58BB-4B8A-925E-27D84036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791" y="4281209"/>
            <a:ext cx="5391151" cy="2371725"/>
          </a:xfrm>
          <a:prstGeom prst="rect">
            <a:avLst/>
          </a:prstGeom>
          <a:noFill/>
          <a:extLst>
            <a:ext uri="{909E8E84-426E-40DD-AFC4-6F175D3DCCD1}">
              <a14:hiddenFill xmlns:a14="http://schemas.microsoft.com/office/drawing/2010/main">
                <a:solidFill>
                  <a:srgbClr val="FFFFFF"/>
                </a:solidFill>
              </a14:hiddenFill>
            </a:ext>
          </a:extLst>
        </p:spPr>
      </p:pic>
      <p:sp>
        <p:nvSpPr>
          <p:cNvPr id="10" name="Объект 2">
            <a:extLst>
              <a:ext uri="{FF2B5EF4-FFF2-40B4-BE49-F238E27FC236}">
                <a16:creationId xmlns:a16="http://schemas.microsoft.com/office/drawing/2014/main" id="{7226A53E-F261-4312-BAF5-E1890408B123}"/>
              </a:ext>
            </a:extLst>
          </p:cNvPr>
          <p:cNvSpPr txBox="1">
            <a:spLocks/>
          </p:cNvSpPr>
          <p:nvPr/>
        </p:nvSpPr>
        <p:spPr>
          <a:xfrm>
            <a:off x="1766048" y="923181"/>
            <a:ext cx="9480176" cy="41583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компонент</a:t>
            </a:r>
            <a:endParaRPr lang="en-US" sz="2000" dirty="0"/>
          </a:p>
        </p:txBody>
      </p:sp>
    </p:spTree>
    <p:extLst>
      <p:ext uri="{BB962C8B-B14F-4D97-AF65-F5344CB8AC3E}">
        <p14:creationId xmlns:p14="http://schemas.microsoft.com/office/powerpoint/2010/main" val="3359520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F537B0-7966-4E39-93FF-9C938D867BD2}"/>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p:sp>
        <p:nvSpPr>
          <p:cNvPr id="3" name="Объект 2">
            <a:extLst>
              <a:ext uri="{FF2B5EF4-FFF2-40B4-BE49-F238E27FC236}">
                <a16:creationId xmlns:a16="http://schemas.microsoft.com/office/drawing/2014/main" id="{A8D042F3-0F09-4E1C-8D08-588BCFBDDF13}"/>
              </a:ext>
            </a:extLst>
          </p:cNvPr>
          <p:cNvSpPr>
            <a:spLocks noGrp="1"/>
          </p:cNvSpPr>
          <p:nvPr>
            <p:ph idx="1"/>
          </p:nvPr>
        </p:nvSpPr>
        <p:spPr>
          <a:xfrm>
            <a:off x="138545" y="905855"/>
            <a:ext cx="11693237" cy="2348974"/>
          </a:xfrm>
        </p:spPr>
        <p:txBody>
          <a:bodyPr>
            <a:normAutofit fontScale="70000" lnSpcReduction="20000"/>
          </a:bodyPr>
          <a:lstStyle/>
          <a:p>
            <a:pPr>
              <a:lnSpc>
                <a:spcPct val="120000"/>
              </a:lnSpc>
              <a:spcBef>
                <a:spcPts val="0"/>
              </a:spcBef>
            </a:pPr>
            <a:r>
              <a:rPr lang="ru-RU" dirty="0"/>
              <a:t>Одним из наиболее важных случаев стационарного ВР является стационарность шума. </a:t>
            </a:r>
          </a:p>
          <a:p>
            <a:pPr>
              <a:lnSpc>
                <a:spcPct val="120000"/>
              </a:lnSpc>
              <a:spcBef>
                <a:spcPts val="0"/>
              </a:spcBef>
            </a:pPr>
            <a:r>
              <a:rPr lang="ru-RU" dirty="0"/>
              <a:t>Шум стационарности с независимыми выборками во времени (с автокорреляцией 0) называется шумом белого гаусса (WGN). </a:t>
            </a:r>
          </a:p>
          <a:p>
            <a:pPr>
              <a:lnSpc>
                <a:spcPct val="120000"/>
              </a:lnSpc>
              <a:spcBef>
                <a:spcPts val="0"/>
              </a:spcBef>
            </a:pPr>
            <a:r>
              <a:rPr lang="ru-RU" dirty="0"/>
              <a:t>Таким образом, WGN - это ряд с </a:t>
            </a:r>
            <a:br>
              <a:rPr lang="ru-RU" dirty="0"/>
            </a:br>
            <a:r>
              <a:rPr lang="ru-RU" dirty="0"/>
              <a:t>𝑒𝑣 = 0; 𝑣𝑎𝑟 &lt;∞; 𝑐𝑜𝑣 (𝑛) = 𝑠𝑡𝑑⋅𝛿 (𝑘 − 𝑛), </a:t>
            </a:r>
            <a:br>
              <a:rPr lang="ru-RU" dirty="0"/>
            </a:br>
            <a:r>
              <a:rPr lang="ru-RU" dirty="0"/>
              <a:t>где 𝛿 (𝑘 − 𝑛) = 1, если 𝑘 = 𝑛, и 0 в остальных случаях. </a:t>
            </a:r>
          </a:p>
          <a:p>
            <a:pPr>
              <a:lnSpc>
                <a:spcPct val="120000"/>
              </a:lnSpc>
              <a:spcBef>
                <a:spcPts val="0"/>
              </a:spcBef>
            </a:pPr>
            <a:r>
              <a:rPr lang="ru-RU" dirty="0"/>
              <a:t>АКФ БГШ будет иметь некоторые ненулевые случайные значения – это эффект ограниченной выборки</a:t>
            </a:r>
          </a:p>
          <a:p>
            <a:pPr>
              <a:lnSpc>
                <a:spcPct val="120000"/>
              </a:lnSpc>
              <a:spcBef>
                <a:spcPts val="0"/>
              </a:spcBef>
            </a:pPr>
            <a:endParaRPr lang="en-US" dirty="0"/>
          </a:p>
        </p:txBody>
      </p:sp>
      <p:sp>
        <p:nvSpPr>
          <p:cNvPr id="5" name="Номер слайда 4">
            <a:extLst>
              <a:ext uri="{FF2B5EF4-FFF2-40B4-BE49-F238E27FC236}">
                <a16:creationId xmlns:a16="http://schemas.microsoft.com/office/drawing/2014/main" id="{069C633B-7933-0002-AE7E-DFCCA196EC59}"/>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11268" name="Picture 4" descr="image.png">
            <a:extLst>
              <a:ext uri="{FF2B5EF4-FFF2-40B4-BE49-F238E27FC236}">
                <a16:creationId xmlns:a16="http://schemas.microsoft.com/office/drawing/2014/main" id="{421DC3E5-7CB6-4B47-B931-566FF314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7" y="4104844"/>
            <a:ext cx="2887437" cy="2111244"/>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A7E8075-377F-4827-AB95-E074F6D4F7F7}"/>
              </a:ext>
            </a:extLst>
          </p:cNvPr>
          <p:cNvSpPr/>
          <p:nvPr/>
        </p:nvSpPr>
        <p:spPr>
          <a:xfrm>
            <a:off x="1790701" y="3603172"/>
            <a:ext cx="8599714" cy="369332"/>
          </a:xfrm>
          <a:prstGeom prst="rect">
            <a:avLst/>
          </a:prstGeom>
        </p:spPr>
        <p:txBody>
          <a:bodyPr wrap="square">
            <a:spAutoFit/>
          </a:bodyPr>
          <a:lstStyle/>
          <a:p>
            <a:r>
              <a:rPr lang="ru-RU" dirty="0"/>
              <a:t>Пример</a:t>
            </a:r>
            <a:r>
              <a:rPr lang="ru-RU" sz="1600" dirty="0"/>
              <a:t> </a:t>
            </a:r>
            <a:r>
              <a:rPr lang="ru-RU" sz="1600" dirty="0" err="1"/>
              <a:t>wgn</a:t>
            </a:r>
            <a:r>
              <a:rPr lang="ru-RU" sz="16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8635D9C6-FAAA-48AF-B36E-41034DB9A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00" y="4170025"/>
            <a:ext cx="5264746" cy="2111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DA6652-22B8-97B5-C1CF-515D1A7E07A0}"/>
              </a:ext>
            </a:extLst>
          </p:cNvPr>
          <p:cNvSpPr txBox="1"/>
          <p:nvPr/>
        </p:nvSpPr>
        <p:spPr>
          <a:xfrm>
            <a:off x="1705857" y="3117262"/>
            <a:ext cx="9397573" cy="402546"/>
          </a:xfrm>
          <a:prstGeom prst="rect">
            <a:avLst/>
          </a:prstGeom>
          <a:noFill/>
        </p:spPr>
        <p:txBody>
          <a:bodyPr wrap="square">
            <a:spAutoFit/>
          </a:bodyPr>
          <a:lstStyle/>
          <a:p>
            <a:pPr lvl="1">
              <a:lnSpc>
                <a:spcPct val="120000"/>
              </a:lnSpc>
            </a:pPr>
            <a:r>
              <a:rPr lang="ru-RU" dirty="0"/>
              <a:t>Обратите внимание, что дисперсия также может быть названа мощностью шума.</a:t>
            </a:r>
          </a:p>
        </p:txBody>
      </p:sp>
      <p:pic>
        <p:nvPicPr>
          <p:cNvPr id="6146" name="Picture 2">
            <a:extLst>
              <a:ext uri="{FF2B5EF4-FFF2-40B4-BE49-F238E27FC236}">
                <a16:creationId xmlns:a16="http://schemas.microsoft.com/office/drawing/2014/main" id="{94955585-ABAB-C413-AECE-CABA2C5077F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225180" y="3972504"/>
            <a:ext cx="3726820" cy="234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070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dirty="0"/>
              <a:t>Стационарность ВР</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
        <p:nvSpPr>
          <p:cNvPr id="4" name="TextBox 3"/>
          <p:cNvSpPr txBox="1"/>
          <p:nvPr/>
        </p:nvSpPr>
        <p:spPr>
          <a:xfrm>
            <a:off x="1063637" y="5510723"/>
            <a:ext cx="5540363" cy="646331"/>
          </a:xfrm>
          <a:prstGeom prst="rect">
            <a:avLst/>
          </a:prstGeom>
          <a:noFill/>
        </p:spPr>
        <p:txBody>
          <a:bodyPr wrap="none" rtlCol="0">
            <a:spAutoFit/>
          </a:bodyPr>
          <a:lstStyle/>
          <a:p>
            <a:r>
              <a:rPr lang="ru-RU" dirty="0" smtClean="0"/>
              <a:t>Очень короткая </a:t>
            </a:r>
            <a:r>
              <a:rPr lang="ru-RU" dirty="0" err="1" smtClean="0"/>
              <a:t>нестационарность</a:t>
            </a:r>
            <a:r>
              <a:rPr lang="ru-RU" dirty="0" smtClean="0"/>
              <a:t>, в пределах 5 лагов</a:t>
            </a:r>
          </a:p>
          <a:p>
            <a:r>
              <a:rPr lang="ru-RU" dirty="0" smtClean="0"/>
              <a:t>А потом стационарен</a:t>
            </a:r>
            <a:endParaRPr lang="ru-RU" dirty="0"/>
          </a:p>
        </p:txBody>
      </p:sp>
    </p:spTree>
    <p:extLst>
      <p:ext uri="{BB962C8B-B14F-4D97-AF65-F5344CB8AC3E}">
        <p14:creationId xmlns:p14="http://schemas.microsoft.com/office/powerpoint/2010/main" val="1540159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152400" y="1381141"/>
            <a:ext cx="11671300" cy="5340334"/>
          </a:xfrm>
        </p:spPr>
        <p:txBody>
          <a:bodyPr>
            <a:normAutofit fontScale="92500" lnSpcReduction="20000"/>
          </a:bodyPr>
          <a:lstStyle/>
          <a:p>
            <a:pPr>
              <a:lnSpc>
                <a:spcPct val="110000"/>
              </a:lnSpc>
            </a:pPr>
            <a:r>
              <a:rPr lang="ru-RU" dirty="0"/>
              <a:t>На самом деле почти все временные ряды нестационарны (в той или иной степени). </a:t>
            </a:r>
          </a:p>
          <a:p>
            <a:pPr lvl="1">
              <a:lnSpc>
                <a:spcPct val="110000"/>
              </a:lnSpc>
            </a:pPr>
            <a:r>
              <a:rPr lang="ru-RU" dirty="0"/>
              <a:t>Однако, в зависимости от требований к точности в некоторых случаях мы можем сделать допущение, что ВР является стационарным для нашей задачи если он удовлетворяет каким либо нашим условиям.</a:t>
            </a:r>
          </a:p>
          <a:p>
            <a:pPr lvl="1">
              <a:lnSpc>
                <a:spcPct val="110000"/>
              </a:lnSpc>
            </a:pPr>
            <a:r>
              <a:rPr lang="ru-RU" dirty="0"/>
              <a:t>Нестационарные ВР могут содержать ложные корреляции (тренда, сезонность, аномалии)</a:t>
            </a:r>
          </a:p>
          <a:p>
            <a:pPr>
              <a:lnSpc>
                <a:spcPct val="110000"/>
              </a:lnSpc>
            </a:pPr>
            <a:endParaRPr lang="ru-RU" dirty="0"/>
          </a:p>
          <a:p>
            <a:pPr>
              <a:lnSpc>
                <a:spcPct val="110000"/>
              </a:lnSpc>
            </a:pPr>
            <a:r>
              <a:rPr lang="ru-RU" dirty="0"/>
              <a:t>Ряд можно проверить на стационарность визуально (напр. Резкий спад АКФ)</a:t>
            </a:r>
          </a:p>
          <a:p>
            <a:pPr>
              <a:lnSpc>
                <a:spcPct val="110000"/>
              </a:lnSpc>
            </a:pPr>
            <a:r>
              <a:rPr lang="ru-RU" dirty="0"/>
              <a:t>Ряд можно проверить строго на </a:t>
            </a:r>
            <a:r>
              <a:rPr lang="ru-RU" dirty="0" err="1"/>
              <a:t>станционарность</a:t>
            </a:r>
            <a:r>
              <a:rPr lang="ru-RU" dirty="0"/>
              <a:t> с помощью различных статистических критериев. Наиболее популярны следующие критерии:</a:t>
            </a:r>
          </a:p>
          <a:p>
            <a:pPr lvl="1">
              <a:lnSpc>
                <a:spcPct val="110000"/>
              </a:lnSpc>
            </a:pPr>
            <a:r>
              <a:rPr lang="ru-RU" dirty="0"/>
              <a:t>критерий </a:t>
            </a:r>
            <a:r>
              <a:rPr lang="en" dirty="0"/>
              <a:t>KPSS (Kwiatkowski–Phillips–Schmidt–Shin): </a:t>
            </a:r>
            <a:r>
              <a:rPr lang="ru-RU" dirty="0"/>
              <a:t>если </a:t>
            </a:r>
            <a:r>
              <a:rPr lang="en" dirty="0"/>
              <a:t>p-value ⩽0.05, </a:t>
            </a:r>
            <a:r>
              <a:rPr lang="ru-RU" dirty="0"/>
              <a:t>то отвергаем стационарность;</a:t>
            </a:r>
          </a:p>
          <a:p>
            <a:pPr lvl="1">
              <a:lnSpc>
                <a:spcPct val="110000"/>
              </a:lnSpc>
            </a:pPr>
            <a:r>
              <a:rPr lang="ru-RU" dirty="0"/>
              <a:t>критерий Дики-Фуллера: если </a:t>
            </a:r>
            <a:r>
              <a:rPr lang="en" dirty="0"/>
              <a:t>p-value ⩽0.05, </a:t>
            </a:r>
            <a:r>
              <a:rPr lang="ru-RU" dirty="0"/>
              <a:t>то отвергаем </a:t>
            </a:r>
            <a:r>
              <a:rPr lang="ru-RU" b="1" dirty="0" err="1"/>
              <a:t>НЕ</a:t>
            </a:r>
            <a:r>
              <a:rPr lang="ru-RU" dirty="0" err="1"/>
              <a:t>стационарность</a:t>
            </a:r>
            <a:r>
              <a:rPr lang="ru-RU" dirty="0"/>
              <a:t>.</a:t>
            </a:r>
          </a:p>
          <a:p>
            <a:pPr marL="0" indent="0">
              <a:buNone/>
            </a:pPr>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2466287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366740" y="1563703"/>
            <a:ext cx="11630819" cy="4975209"/>
          </a:xfrm>
        </p:spPr>
        <p:txBody>
          <a:bodyPr>
            <a:normAutofit lnSpcReduction="10000"/>
          </a:bodyPr>
          <a:lstStyle/>
          <a:p>
            <a:pPr marL="0" indent="0">
              <a:lnSpc>
                <a:spcPct val="100000"/>
              </a:lnSpc>
              <a:spcBef>
                <a:spcPts val="1200"/>
              </a:spcBef>
              <a:buNone/>
            </a:pPr>
            <a:r>
              <a:rPr lang="ru-RU" sz="2200" dirty="0"/>
              <a:t>Можно ввести несколько градаций </a:t>
            </a:r>
            <a:r>
              <a:rPr lang="ru-RU" sz="2200" dirty="0" err="1"/>
              <a:t>нестационарности</a:t>
            </a:r>
            <a:r>
              <a:rPr lang="ru-RU" sz="2200" dirty="0"/>
              <a:t> ВР:</a:t>
            </a:r>
          </a:p>
          <a:p>
            <a:pPr>
              <a:lnSpc>
                <a:spcPct val="100000"/>
              </a:lnSpc>
              <a:spcBef>
                <a:spcPts val="1200"/>
              </a:spcBef>
            </a:pPr>
            <a:r>
              <a:rPr lang="ru-RU" sz="2200" b="1" dirty="0"/>
              <a:t>Сильная стационарность</a:t>
            </a:r>
          </a:p>
          <a:p>
            <a:pPr>
              <a:lnSpc>
                <a:spcPct val="100000"/>
              </a:lnSpc>
              <a:spcBef>
                <a:spcPts val="1200"/>
              </a:spcBef>
            </a:pPr>
            <a:r>
              <a:rPr lang="ru-RU" sz="2200" b="1" dirty="0"/>
              <a:t>Слабая стационарность (2 порядка</a:t>
            </a:r>
            <a:r>
              <a:rPr lang="ru-RU" sz="2200" b="1" dirty="0" smtClean="0"/>
              <a:t>)</a:t>
            </a:r>
          </a:p>
          <a:p>
            <a:pPr>
              <a:lnSpc>
                <a:spcPct val="100000"/>
              </a:lnSpc>
              <a:spcBef>
                <a:spcPts val="1200"/>
              </a:spcBef>
            </a:pPr>
            <a:r>
              <a:rPr lang="ru-RU" sz="2200" dirty="0" smtClean="0"/>
              <a:t>Эргодический ВР ( средняя по </a:t>
            </a:r>
            <a:r>
              <a:rPr lang="ru-RU" sz="2200" dirty="0" err="1" smtClean="0"/>
              <a:t>подвыборке</a:t>
            </a:r>
            <a:r>
              <a:rPr lang="ru-RU" sz="2200" dirty="0" smtClean="0"/>
              <a:t> дает среднее по все выборке)</a:t>
            </a:r>
            <a:endParaRPr lang="ru-RU" sz="2200" dirty="0"/>
          </a:p>
          <a:p>
            <a:pPr>
              <a:lnSpc>
                <a:spcPct val="100000"/>
              </a:lnSpc>
              <a:spcBef>
                <a:spcPts val="1200"/>
              </a:spcBef>
            </a:pPr>
            <a:r>
              <a:rPr lang="en-US" sz="2200" b="1" dirty="0"/>
              <a:t>DS-</a:t>
            </a:r>
            <a:r>
              <a:rPr lang="ru-RU" sz="2200" b="1" dirty="0"/>
              <a:t>ряд разностно-стационарный ВР</a:t>
            </a:r>
          </a:p>
          <a:p>
            <a:pPr>
              <a:lnSpc>
                <a:spcPct val="100000"/>
              </a:lnSpc>
              <a:spcBef>
                <a:spcPts val="1200"/>
              </a:spcBef>
            </a:pPr>
            <a:r>
              <a:rPr lang="en-US" sz="2200" b="1" dirty="0"/>
              <a:t>TS-</a:t>
            </a:r>
            <a:r>
              <a:rPr lang="ru-RU" sz="2200" b="1" dirty="0"/>
              <a:t>ряд</a:t>
            </a:r>
            <a:r>
              <a:rPr lang="en-US" sz="2200" b="1" dirty="0"/>
              <a:t> – </a:t>
            </a:r>
            <a:r>
              <a:rPr lang="ru-RU" sz="2200" b="1" dirty="0"/>
              <a:t>сводится к стационарному путем удаления тренда и\или сезонности</a:t>
            </a:r>
          </a:p>
          <a:p>
            <a:pPr>
              <a:lnSpc>
                <a:spcPct val="100000"/>
              </a:lnSpc>
              <a:spcBef>
                <a:spcPts val="1200"/>
              </a:spcBef>
            </a:pPr>
            <a:r>
              <a:rPr lang="ru-RU" sz="2200" dirty="0" err="1"/>
              <a:t>Гетеросекдостичный</a:t>
            </a:r>
            <a:r>
              <a:rPr lang="ru-RU" sz="2200" dirty="0"/>
              <a:t> ВР – может сводится к стационарному путем логарифмирования</a:t>
            </a:r>
            <a:r>
              <a:rPr lang="en-US" sz="2200" dirty="0"/>
              <a:t> </a:t>
            </a:r>
            <a:r>
              <a:rPr lang="ru-RU" sz="2200" dirty="0"/>
              <a:t>(степенного преобразования)</a:t>
            </a:r>
          </a:p>
          <a:p>
            <a:pPr>
              <a:lnSpc>
                <a:spcPct val="100000"/>
              </a:lnSpc>
              <a:spcBef>
                <a:spcPts val="1200"/>
              </a:spcBef>
            </a:pPr>
            <a:r>
              <a:rPr lang="ru-RU" sz="2200" dirty="0" smtClean="0"/>
              <a:t>Ограниченный ВР (компактность в смысле стационарности).</a:t>
            </a:r>
          </a:p>
          <a:p>
            <a:pPr>
              <a:lnSpc>
                <a:spcPct val="100000"/>
              </a:lnSpc>
              <a:spcBef>
                <a:spcPts val="1200"/>
              </a:spcBef>
            </a:pPr>
            <a:r>
              <a:rPr lang="ru-RU" sz="2200" dirty="0" smtClean="0"/>
              <a:t>Регулярный </a:t>
            </a:r>
            <a:r>
              <a:rPr lang="ru-RU" sz="2200" dirty="0"/>
              <a:t>ВР – нестационарный ВР, имеющий явные паттерны поведения</a:t>
            </a:r>
          </a:p>
          <a:p>
            <a:pPr>
              <a:lnSpc>
                <a:spcPct val="100000"/>
              </a:lnSpc>
              <a:spcBef>
                <a:spcPts val="1200"/>
              </a:spcBef>
            </a:pPr>
            <a:r>
              <a:rPr lang="ru-RU" sz="2200" dirty="0" err="1"/>
              <a:t>Неформализуемый</a:t>
            </a:r>
            <a:r>
              <a:rPr lang="ru-RU" sz="2200" dirty="0"/>
              <a:t> ВР – паттерны поведения не явны</a:t>
            </a:r>
          </a:p>
          <a:p>
            <a:pPr marL="0" indent="0">
              <a:buNone/>
            </a:pPr>
            <a:endParaRPr lang="ru-RU" dirty="0"/>
          </a:p>
          <a:p>
            <a:pPr marL="0" indent="0">
              <a:buNone/>
            </a:pPr>
            <a:endParaRPr lang="ru-RU" dirty="0"/>
          </a:p>
          <a:p>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23</a:t>
            </a:fld>
            <a:endParaRPr lang="en-US"/>
          </a:p>
        </p:txBody>
      </p:sp>
      <p:cxnSp>
        <p:nvCxnSpPr>
          <p:cNvPr id="6" name="Прямая со стрелкой 5"/>
          <p:cNvCxnSpPr/>
          <p:nvPr/>
        </p:nvCxnSpPr>
        <p:spPr>
          <a:xfrm>
            <a:off x="268941" y="1552175"/>
            <a:ext cx="30736" cy="4741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2" descr="https://miro.medium.com/v2/resize:fit:875/1*aRHZEc1hxOXYLHDnBVaKdA.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4117071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9BAA-6E94-D4B8-B3C8-2821CABDC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BA1A-E0BD-E207-CE58-7190703383CF}"/>
              </a:ext>
            </a:extLst>
          </p:cNvPr>
          <p:cNvSpPr>
            <a:spLocks noGrp="1"/>
          </p:cNvSpPr>
          <p:nvPr>
            <p:ph type="title"/>
          </p:nvPr>
        </p:nvSpPr>
        <p:spPr>
          <a:xfrm>
            <a:off x="443346" y="131535"/>
            <a:ext cx="11346872" cy="662781"/>
          </a:xfrm>
        </p:spPr>
        <p:txBody>
          <a:bodyPr>
            <a:normAutofit/>
          </a:bodyPr>
          <a:lstStyle/>
          <a:p>
            <a:pPr algn="ctr"/>
            <a:r>
              <a:rPr lang="ru-RU" sz="3600" b="1" dirty="0"/>
              <a:t>Преобразования нестационарных ВР</a:t>
            </a:r>
            <a:endParaRPr lang="en-US" sz="3600"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F64205F-EC7C-FCE6-C3F5-3989C7225E20}"/>
                  </a:ext>
                </a:extLst>
              </p:cNvPr>
              <p:cNvSpPr>
                <a:spLocks noGrp="1"/>
              </p:cNvSpPr>
              <p:nvPr>
                <p:ph idx="1"/>
              </p:nvPr>
            </p:nvSpPr>
            <p:spPr>
              <a:xfrm>
                <a:off x="401782" y="794316"/>
                <a:ext cx="7640900" cy="5784284"/>
              </a:xfrm>
            </p:spPr>
            <p:txBody>
              <a:bodyPr>
                <a:normAutofit fontScale="92500" lnSpcReduction="20000"/>
              </a:bodyPr>
              <a:lstStyle/>
              <a:p>
                <a:pPr marL="0" indent="0">
                  <a:buNone/>
                </a:pPr>
                <a:r>
                  <a:rPr lang="ru-RU" sz="2200" dirty="0"/>
                  <a:t>Можно ввести модель ВР стационарную по отношению к тренду или сезонности </a:t>
                </a:r>
                <a:r>
                  <a:rPr lang="en-US" sz="2200" dirty="0"/>
                  <a:t>(TS </a:t>
                </a:r>
                <a:r>
                  <a:rPr lang="ru-RU" sz="2200" dirty="0"/>
                  <a:t>модель</a:t>
                </a:r>
                <a:r>
                  <a:rPr lang="en-US" sz="2200" dirty="0"/>
                  <a:t>)</a:t>
                </a:r>
                <a:r>
                  <a:rPr lang="ru-RU" sz="2200" dirty="0"/>
                  <a:t>. То есть:</a:t>
                </a:r>
              </a:p>
              <a:p>
                <a:pPr marL="0" indent="0" algn="ctr">
                  <a:buNone/>
                </a:pPr>
                <a14:m>
                  <m:oMath xmlns:m="http://schemas.openxmlformats.org/officeDocument/2006/math">
                    <m:r>
                      <m:rPr>
                        <m:sty m:val="p"/>
                      </m:rPr>
                      <a:rPr lang="en-US" altLang="en-US" sz="2000" dirty="0">
                        <a:latin typeface="Cambria Math" panose="02040503050406030204" pitchFamily="18" charset="0"/>
                      </a:rPr>
                      <m:t>y</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 </m:t>
                    </m:r>
                    <m:r>
                      <m:rPr>
                        <m:sty m:val="p"/>
                      </m:rPr>
                      <a:rPr lang="en-US" altLang="en-US" sz="2000" dirty="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b="0" i="0" dirty="0" smtClean="0">
                        <a:latin typeface="Cambria Math" panose="02040503050406030204" pitchFamily="18" charset="0"/>
                      </a:rPr>
                      <m:t>+</m:t>
                    </m:r>
                    <m:r>
                      <m:rPr>
                        <m:sty m:val="p"/>
                      </m:rPr>
                      <a:rPr lang="en-US" altLang="en-US" sz="2000" b="0" i="0" dirty="0" smtClean="0">
                        <a:latin typeface="Cambria Math" panose="02040503050406030204" pitchFamily="18" charset="0"/>
                      </a:rPr>
                      <m:t>V</m:t>
                    </m:r>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t</m:t>
                    </m:r>
                  </m:oMath>
                </a14:m>
                <a:r>
                  <a:rPr lang="en-US" altLang="en-US" sz="2000" dirty="0"/>
                  <a:t>)</a:t>
                </a:r>
                <a:endParaRPr lang="ru-RU" altLang="en-US" sz="2000" dirty="0"/>
              </a:p>
              <a:p>
                <a:pPr marL="319088" indent="0">
                  <a:buNone/>
                </a:pPr>
                <a:r>
                  <a:rPr lang="ru-RU" sz="2200" dirty="0"/>
                  <a:t>где</a:t>
                </a:r>
                <a:r>
                  <a:rPr lang="en-US" altLang="en-US" sz="2400" dirty="0"/>
                  <a:t> </a:t>
                </a:r>
                <a14:m>
                  <m:oMath xmlns:m="http://schemas.openxmlformats.org/officeDocument/2006/math">
                    <m:r>
                      <m:rPr>
                        <m:sty m:val="p"/>
                      </m:rPr>
                      <a:rPr lang="en-US" altLang="en-US" sz="2400" dirty="0">
                        <a:latin typeface="Cambria Math" panose="02040503050406030204" pitchFamily="18" charset="0"/>
                      </a:rPr>
                      <m:t>V</m:t>
                    </m:r>
                    <m:r>
                      <a:rPr lang="en-US" altLang="en-US" sz="2400" dirty="0">
                        <a:latin typeface="Cambria Math" panose="02040503050406030204" pitchFamily="18" charset="0"/>
                      </a:rPr>
                      <m:t>(</m:t>
                    </m:r>
                    <m:r>
                      <m:rPr>
                        <m:sty m:val="p"/>
                      </m:rPr>
                      <a:rPr lang="en-US" altLang="en-US" sz="2400" dirty="0">
                        <a:latin typeface="Cambria Math" panose="02040503050406030204" pitchFamily="18" charset="0"/>
                      </a:rPr>
                      <m:t>t</m:t>
                    </m:r>
                  </m:oMath>
                </a14:m>
                <a:r>
                  <a:rPr lang="en-US" altLang="en-US" sz="2400" dirty="0"/>
                  <a:t>) – </a:t>
                </a:r>
                <a:r>
                  <a:rPr lang="ru-RU" altLang="en-US" sz="2400" dirty="0"/>
                  <a:t>стационарная часть ВР. </a:t>
                </a:r>
              </a:p>
              <a:p>
                <a:pPr marL="319088" indent="0">
                  <a:buNone/>
                </a:pPr>
                <a:r>
                  <a:rPr lang="ru-RU" altLang="en-US" sz="2400" dirty="0"/>
                  <a:t>Тогда можно убрать тренд и стационарность их вычитанием. </a:t>
                </a:r>
              </a:p>
              <a:p>
                <a:pPr marL="0" indent="0">
                  <a:buNone/>
                </a:pPr>
                <a:r>
                  <a:rPr lang="ru-RU" altLang="en-US" sz="2400" dirty="0"/>
                  <a:t>Или преобразованиями типа </a:t>
                </a:r>
                <a:r>
                  <a:rPr lang="en-US" altLang="en-US" sz="2400" dirty="0"/>
                  <a:t>(DS </a:t>
                </a:r>
                <a:r>
                  <a:rPr lang="ru-RU" altLang="en-US" sz="2400" dirty="0"/>
                  <a:t>модель):</a:t>
                </a:r>
                <a:endParaRPr lang="ru-RU" sz="2200" dirty="0"/>
              </a:p>
              <a:p>
                <a:r>
                  <a:rPr lang="ru-RU" sz="2200" dirty="0"/>
                  <a:t>Дифференцирование ряда (для снятие тренда) </a:t>
                </a:r>
              </a:p>
              <a:p>
                <a:pPr marL="0" indent="0" algn="ctr">
                  <a:buNone/>
                </a:pPr>
                <a:r>
                  <a:rPr lang="ru-RU" sz="2200" dirty="0"/>
                  <a:t> </a:t>
                </a:r>
                <a:r>
                  <a:rPr lang="en" sz="2200" dirty="0" err="1"/>
                  <a:t>y</a:t>
                </a:r>
                <a:r>
                  <a:rPr lang="en" sz="2200" baseline="-25000" dirty="0" err="1"/>
                  <a:t>t</a:t>
                </a:r>
                <a:r>
                  <a:rPr lang="en" sz="2200" dirty="0"/>
                  <a:t>′=y</a:t>
                </a:r>
                <a:r>
                  <a:rPr lang="en" sz="2200" baseline="-25000" dirty="0"/>
                  <a:t>t</a:t>
                </a:r>
                <a:r>
                  <a:rPr lang="en" sz="2200" dirty="0"/>
                  <a:t>−y</a:t>
                </a:r>
                <a:r>
                  <a:rPr lang="en" sz="2200" baseline="-25000" dirty="0"/>
                  <a:t>t−1</a:t>
                </a:r>
                <a:r>
                  <a:rPr lang="en" sz="2200" dirty="0"/>
                  <a:t>. </a:t>
                </a:r>
                <a:endParaRPr lang="ru-RU" sz="2200" dirty="0"/>
              </a:p>
              <a:p>
                <a:pPr marL="0" indent="0">
                  <a:buNone/>
                </a:pPr>
                <a:endParaRPr lang="ru-RU" sz="2200" dirty="0"/>
              </a:p>
              <a:p>
                <a:r>
                  <a:rPr lang="ru-RU" sz="2200" dirty="0"/>
                  <a:t>Сезонное дифференцирование (снятие сезонности)</a:t>
                </a:r>
              </a:p>
              <a:p>
                <a:pPr marL="0" indent="0" algn="ctr">
                  <a:buNone/>
                </a:pPr>
                <a:r>
                  <a:rPr lang="ru-RU" sz="2200" dirty="0"/>
                  <a:t> </a:t>
                </a:r>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Δ</m:t>
                        </m:r>
                      </m:e>
                      <m:sub>
                        <m:r>
                          <m:rPr>
                            <m:sty m:val="p"/>
                          </m:rPr>
                          <a:rPr lang="en-US" sz="2400" dirty="0">
                            <a:latin typeface="Cambria Math" panose="02040503050406030204" pitchFamily="18" charset="0"/>
                          </a:rPr>
                          <m:t>s</m:t>
                        </m:r>
                      </m:sub>
                    </m:s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𝑦</m:t>
                        </m:r>
                      </m:e>
                      <m:sub>
                        <m:r>
                          <a:rPr lang="en-US" sz="2400" b="0" i="1" dirty="0" smtClean="0">
                            <a:latin typeface="Cambria Math" panose="02040503050406030204" pitchFamily="18" charset="0"/>
                          </a:rPr>
                          <m:t>𝑡</m:t>
                        </m:r>
                      </m:sub>
                    </m:sSub>
                  </m:oMath>
                </a14:m>
                <a:r>
                  <a:rPr lang="en" sz="2200" dirty="0"/>
                  <a:t>=</a:t>
                </a:r>
                <a:r>
                  <a:rPr lang="en" sz="2200" i="1" dirty="0" err="1"/>
                  <a:t>y</a:t>
                </a:r>
                <a:r>
                  <a:rPr lang="en" sz="2200" i="1" baseline="-25000" dirty="0" err="1"/>
                  <a:t>t</a:t>
                </a:r>
                <a:r>
                  <a:rPr lang="en" sz="2200" dirty="0"/>
                  <a:t>​−</a:t>
                </a:r>
                <a:r>
                  <a:rPr lang="en" sz="2200" i="1" dirty="0" err="1"/>
                  <a:t>y</a:t>
                </a:r>
                <a:r>
                  <a:rPr lang="en" sz="2200" i="1" baseline="-25000" dirty="0" err="1"/>
                  <a:t>t</a:t>
                </a:r>
                <a:r>
                  <a:rPr lang="en" sz="2200" baseline="-25000" dirty="0"/>
                  <a:t>−</a:t>
                </a:r>
                <a:r>
                  <a:rPr lang="en" sz="2200" i="1" baseline="-25000" dirty="0"/>
                  <a:t>s</a:t>
                </a:r>
                <a:r>
                  <a:rPr lang="en" sz="2200" baseline="-25000" dirty="0"/>
                  <a:t>​</a:t>
                </a:r>
                <a:r>
                  <a:rPr lang="en" sz="2200" dirty="0"/>
                  <a:t>, </a:t>
                </a:r>
                <a:r>
                  <a:rPr lang="ru-RU" sz="2200" dirty="0"/>
                  <a:t/>
                </a:r>
                <a:br>
                  <a:rPr lang="ru-RU" sz="2200" dirty="0"/>
                </a:br>
                <a:endParaRPr lang="ru-RU" sz="2200" dirty="0"/>
              </a:p>
              <a:p>
                <a:pPr marL="0" indent="0" algn="ctr">
                  <a:buNone/>
                </a:pPr>
                <a:r>
                  <a:rPr lang="en" sz="2200" i="1" dirty="0"/>
                  <a:t>s</a:t>
                </a:r>
                <a:r>
                  <a:rPr lang="en" sz="2200" dirty="0"/>
                  <a:t> – </a:t>
                </a:r>
                <a:r>
                  <a:rPr lang="ru-RU" sz="2200" dirty="0"/>
                  <a:t>длина сезона.</a:t>
                </a:r>
              </a:p>
              <a:p>
                <a:pPr marL="0" indent="0">
                  <a:buNone/>
                </a:pPr>
                <a:endParaRPr lang="ru-RU" sz="2200" dirty="0"/>
              </a:p>
              <a:p>
                <a:r>
                  <a:rPr lang="ru-RU" sz="2200" dirty="0"/>
                  <a:t>Преобразования можно применять несколько раз. </a:t>
                </a:r>
              </a:p>
              <a:p>
                <a:r>
                  <a:rPr lang="ru-RU" sz="2200" dirty="0"/>
                  <a:t>Обычно сначала применяют сезонное дифференцирование.</a:t>
                </a:r>
                <a:br>
                  <a:rPr lang="ru-RU" sz="2200" dirty="0"/>
                </a:br>
                <a:endParaRPr lang="en-US" sz="2200" dirty="0"/>
              </a:p>
            </p:txBody>
          </p:sp>
        </mc:Choice>
        <mc:Fallback xmlns="">
          <p:sp>
            <p:nvSpPr>
              <p:cNvPr id="3" name="Объект 2">
                <a:extLst>
                  <a:ext uri="{FF2B5EF4-FFF2-40B4-BE49-F238E27FC236}">
                    <a16:creationId xmlns:a16="http://schemas.microsoft.com/office/drawing/2014/main" id="{EF64205F-EC7C-FCE6-C3F5-3989C7225E20}"/>
                  </a:ext>
                </a:extLst>
              </p:cNvPr>
              <p:cNvSpPr>
                <a:spLocks noGrp="1" noRot="1" noChangeAspect="1" noMove="1" noResize="1" noEditPoints="1" noAdjustHandles="1" noChangeArrowheads="1" noChangeShapeType="1" noTextEdit="1"/>
              </p:cNvSpPr>
              <p:nvPr>
                <p:ph idx="1"/>
              </p:nvPr>
            </p:nvSpPr>
            <p:spPr>
              <a:xfrm>
                <a:off x="401782" y="794316"/>
                <a:ext cx="7640900" cy="5784284"/>
              </a:xfrm>
              <a:blipFill>
                <a:blip r:embed="rId2"/>
                <a:stretch>
                  <a:fillRect l="-995" t="-197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D23F6C-7410-4C33-A167-CD4C439412BE}"/>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9" name="TextBox 8">
            <a:extLst>
              <a:ext uri="{FF2B5EF4-FFF2-40B4-BE49-F238E27FC236}">
                <a16:creationId xmlns:a16="http://schemas.microsoft.com/office/drawing/2014/main" id="{323743E2-8C7A-261B-FAA7-DD4F1D0B815C}"/>
              </a:ext>
            </a:extLst>
          </p:cNvPr>
          <p:cNvSpPr txBox="1"/>
          <p:nvPr/>
        </p:nvSpPr>
        <p:spPr>
          <a:xfrm>
            <a:off x="2885208" y="6352143"/>
            <a:ext cx="8077200"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pic>
        <p:nvPicPr>
          <p:cNvPr id="5" name="Picture 4" descr="image.png">
            <a:extLst>
              <a:ext uri="{FF2B5EF4-FFF2-40B4-BE49-F238E27FC236}">
                <a16:creationId xmlns:a16="http://schemas.microsoft.com/office/drawing/2014/main" id="{287B935A-7DEC-7B26-64EF-E7C975725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 b="68104"/>
          <a:stretch>
            <a:fillRect/>
          </a:stretch>
        </p:blipFill>
        <p:spPr bwMode="auto">
          <a:xfrm>
            <a:off x="7925297" y="626007"/>
            <a:ext cx="3737753" cy="19553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png">
            <a:extLst>
              <a:ext uri="{FF2B5EF4-FFF2-40B4-BE49-F238E27FC236}">
                <a16:creationId xmlns:a16="http://schemas.microsoft.com/office/drawing/2014/main" id="{842AE8AE-5091-CA10-4BC3-9F9B9EA49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1" t="37973" r="3671" b="33202"/>
          <a:stretch>
            <a:fillRect/>
          </a:stretch>
        </p:blipFill>
        <p:spPr bwMode="auto">
          <a:xfrm>
            <a:off x="7808033" y="2581322"/>
            <a:ext cx="3855017" cy="19553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png">
            <a:extLst>
              <a:ext uri="{FF2B5EF4-FFF2-40B4-BE49-F238E27FC236}">
                <a16:creationId xmlns:a16="http://schemas.microsoft.com/office/drawing/2014/main" id="{3ADD4940-D8B5-C15B-5B54-B156C06B54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 t="71872" r="-9"/>
          <a:stretch>
            <a:fillRect/>
          </a:stretch>
        </p:blipFill>
        <p:spPr bwMode="auto">
          <a:xfrm>
            <a:off x="8007938" y="4536637"/>
            <a:ext cx="3855017" cy="19080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02EFE9-3A0B-19DC-D6A7-BF85FFBFA7F3}"/>
                  </a:ext>
                </a:extLst>
              </p:cNvPr>
              <p:cNvSpPr txBox="1"/>
              <p:nvPr/>
            </p:nvSpPr>
            <p:spPr>
              <a:xfrm>
                <a:off x="8242588" y="3890470"/>
                <a:ext cx="1140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𝑛</m:t>
                          </m:r>
                        </m:sub>
                      </m:sSub>
                    </m:oMath>
                  </m:oMathPara>
                </a14:m>
                <a:endParaRPr lang="ru-RU" dirty="0"/>
              </a:p>
            </p:txBody>
          </p:sp>
        </mc:Choice>
        <mc:Fallback xmlns="">
          <p:sp>
            <p:nvSpPr>
              <p:cNvPr id="10" name="TextBox 9">
                <a:extLst>
                  <a:ext uri="{FF2B5EF4-FFF2-40B4-BE49-F238E27FC236}">
                    <a16:creationId xmlns:a16="http://schemas.microsoft.com/office/drawing/2014/main" id="{3002EFE9-3A0B-19DC-D6A7-BF85FFBFA7F3}"/>
                  </a:ext>
                </a:extLst>
              </p:cNvPr>
              <p:cNvSpPr txBox="1">
                <a:spLocks noRot="1" noChangeAspect="1" noMove="1" noResize="1" noEditPoints="1" noAdjustHandles="1" noChangeArrowheads="1" noChangeShapeType="1" noTextEdit="1"/>
              </p:cNvSpPr>
              <p:nvPr/>
            </p:nvSpPr>
            <p:spPr>
              <a:xfrm>
                <a:off x="8242588" y="3890470"/>
                <a:ext cx="1140402" cy="369332"/>
              </a:xfrm>
              <a:prstGeom prst="rect">
                <a:avLst/>
              </a:prstGeom>
              <a:blipFill>
                <a:blip r:embed="rId4"/>
                <a:stretch>
                  <a:fillRect b="-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174579F-E142-AA3B-ECFA-68DF44DC0FFB}"/>
                  </a:ext>
                </a:extLst>
              </p:cNvPr>
              <p:cNvSpPr txBox="1"/>
              <p:nvPr/>
            </p:nvSpPr>
            <p:spPr>
              <a:xfrm>
                <a:off x="7925297" y="5796042"/>
                <a:ext cx="19834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r>
                        <m:rPr>
                          <m:sty m:val="p"/>
                        </m:rPr>
                        <a:rPr lang="en-US" sz="1800" dirty="0" smtClean="0">
                          <a:latin typeface="Cambria Math" panose="02040503050406030204" pitchFamily="18" charset="0"/>
                        </a:rPr>
                        <m:t>Δ</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𝑦</m:t>
                          </m:r>
                        </m:e>
                        <m:sub>
                          <m:r>
                            <a:rPr lang="en-US" sz="1800" i="1" dirty="0" err="1">
                              <a:latin typeface="Cambria Math" panose="02040503050406030204" pitchFamily="18" charset="0"/>
                            </a:rPr>
                            <m:t>𝑛</m:t>
                          </m:r>
                        </m:sub>
                      </m:sSub>
                    </m:oMath>
                  </m:oMathPara>
                </a14:m>
                <a:endParaRPr lang="ru-RU" dirty="0"/>
              </a:p>
            </p:txBody>
          </p:sp>
        </mc:Choice>
        <mc:Fallback xmlns="">
          <p:sp>
            <p:nvSpPr>
              <p:cNvPr id="12" name="TextBox 11">
                <a:extLst>
                  <a:ext uri="{FF2B5EF4-FFF2-40B4-BE49-F238E27FC236}">
                    <a16:creationId xmlns:a16="http://schemas.microsoft.com/office/drawing/2014/main" id="{7174579F-E142-AA3B-ECFA-68DF44DC0FFB}"/>
                  </a:ext>
                </a:extLst>
              </p:cNvPr>
              <p:cNvSpPr txBox="1">
                <a:spLocks noRot="1" noChangeAspect="1" noMove="1" noResize="1" noEditPoints="1" noAdjustHandles="1" noChangeArrowheads="1" noChangeShapeType="1" noTextEdit="1"/>
              </p:cNvSpPr>
              <p:nvPr/>
            </p:nvSpPr>
            <p:spPr>
              <a:xfrm>
                <a:off x="7925297" y="5796042"/>
                <a:ext cx="1983429" cy="369332"/>
              </a:xfrm>
              <a:prstGeom prst="rect">
                <a:avLst/>
              </a:prstGeom>
              <a:blipFill>
                <a:blip r:embed="rId5"/>
                <a:stretch>
                  <a:fillRect b="-6667"/>
                </a:stretch>
              </a:blipFill>
            </p:spPr>
            <p:txBody>
              <a:bodyPr/>
              <a:lstStyle/>
              <a:p>
                <a:r>
                  <a:rPr lang="ru-RU">
                    <a:noFill/>
                  </a:rPr>
                  <a:t> </a:t>
                </a:r>
              </a:p>
            </p:txBody>
          </p:sp>
        </mc:Fallback>
      </mc:AlternateContent>
    </p:spTree>
    <p:extLst>
      <p:ext uri="{BB962C8B-B14F-4D97-AF65-F5344CB8AC3E}">
        <p14:creationId xmlns:p14="http://schemas.microsoft.com/office/powerpoint/2010/main" val="24722433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65B6-B96E-1E76-3705-2650BC1F79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2E32E8-5EA8-F99F-F926-A6D3A2CE796F}"/>
              </a:ext>
            </a:extLst>
          </p:cNvPr>
          <p:cNvSpPr>
            <a:spLocks noGrp="1"/>
          </p:cNvSpPr>
          <p:nvPr>
            <p:ph type="title"/>
          </p:nvPr>
        </p:nvSpPr>
        <p:spPr>
          <a:xfrm>
            <a:off x="370609" y="0"/>
            <a:ext cx="10515600" cy="1325563"/>
          </a:xfrm>
        </p:spPr>
        <p:txBody>
          <a:bodyPr/>
          <a:lstStyle/>
          <a:p>
            <a:r>
              <a:rPr lang="ru-RU" b="1" dirty="0" err="1"/>
              <a:t>Гетероскедастичность</a:t>
            </a:r>
            <a:endParaRPr lang="ru-RU"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5A25868-226B-96F2-D5CF-B4C1B7318AA2}"/>
                  </a:ext>
                </a:extLst>
              </p:cNvPr>
              <p:cNvSpPr>
                <a:spLocks noGrp="1"/>
              </p:cNvSpPr>
              <p:nvPr>
                <p:ph idx="1"/>
              </p:nvPr>
            </p:nvSpPr>
            <p:spPr>
              <a:xfrm>
                <a:off x="337907" y="995709"/>
                <a:ext cx="11346872" cy="4351339"/>
              </a:xfrm>
            </p:spPr>
            <p:txBody>
              <a:bodyPr/>
              <a:lstStyle/>
              <a:p>
                <a:pPr marL="179384" lvl="1" indent="-179384"/>
                <a:r>
                  <a:rPr lang="ru-RU" dirty="0"/>
                  <a:t>Можно избавиться при помощи Бокса-Кокса или например как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endParaRPr lang="ru-RU" dirty="0"/>
              </a:p>
            </p:txBody>
          </p:sp>
        </mc:Choice>
        <mc:Fallback xmlns="">
          <p:sp>
            <p:nvSpPr>
              <p:cNvPr id="3" name="Объект 2">
                <a:extLst>
                  <a:ext uri="{FF2B5EF4-FFF2-40B4-BE49-F238E27FC236}">
                    <a16:creationId xmlns:a16="http://schemas.microsoft.com/office/drawing/2014/main" id="{35A25868-226B-96F2-D5CF-B4C1B7318AA2}"/>
                  </a:ext>
                </a:extLst>
              </p:cNvPr>
              <p:cNvSpPr>
                <a:spLocks noGrp="1" noRot="1" noChangeAspect="1" noMove="1" noResize="1" noEditPoints="1" noAdjustHandles="1" noChangeArrowheads="1" noChangeShapeType="1" noTextEdit="1"/>
              </p:cNvSpPr>
              <p:nvPr>
                <p:ph idx="1"/>
              </p:nvPr>
            </p:nvSpPr>
            <p:spPr>
              <a:xfrm>
                <a:off x="337907" y="995709"/>
                <a:ext cx="11346872" cy="4351339"/>
              </a:xfrm>
              <a:blipFill>
                <a:blip r:embed="rId2"/>
                <a:stretch>
                  <a:fillRect l="-67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714AA5B-B022-4081-70C1-DDB7650EE134}"/>
              </a:ext>
            </a:extLst>
          </p:cNvPr>
          <p:cNvSpPr>
            <a:spLocks noGrp="1"/>
          </p:cNvSpPr>
          <p:nvPr>
            <p:ph type="sldNum" sz="quarter" idx="12"/>
          </p:nvPr>
        </p:nvSpPr>
        <p:spPr/>
        <p:txBody>
          <a:bodyPr/>
          <a:lstStyle/>
          <a:p>
            <a:fld id="{45C3B737-A709-4ABC-AFE0-A6B067850C48}" type="slidenum">
              <a:rPr lang="en-US" smtClean="0"/>
              <a:t>25</a:t>
            </a:fld>
            <a:endParaRPr lang="en-US"/>
          </a:p>
        </p:txBody>
      </p:sp>
      <p:pic>
        <p:nvPicPr>
          <p:cNvPr id="1026" name="Picture 2" descr="Временные ряды - презентация онлайн">
            <a:extLst>
              <a:ext uri="{FF2B5EF4-FFF2-40B4-BE49-F238E27FC236}">
                <a16:creationId xmlns:a16="http://schemas.microsoft.com/office/drawing/2014/main" id="{81306493-953A-D497-DA2E-508EFC8F0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20"/>
          <a:stretch/>
        </p:blipFill>
        <p:spPr bwMode="auto">
          <a:xfrm>
            <a:off x="303375" y="2846121"/>
            <a:ext cx="6573280" cy="37851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x-Cox Transformation.. The real-world data is not always… | by Ronak  Chhatbar | Medium">
            <a:extLst>
              <a:ext uri="{FF2B5EF4-FFF2-40B4-BE49-F238E27FC236}">
                <a16:creationId xmlns:a16="http://schemas.microsoft.com/office/drawing/2014/main" id="{4946CB98-F55D-FFFC-BFD3-D30D3C07C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85" y="1565234"/>
            <a:ext cx="2744047" cy="13099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219D55-A210-A6C7-AE41-0EE7928EE31F}"/>
              </a:ext>
            </a:extLst>
          </p:cNvPr>
          <p:cNvSpPr txBox="1"/>
          <p:nvPr/>
        </p:nvSpPr>
        <p:spPr>
          <a:xfrm>
            <a:off x="121262" y="1645793"/>
            <a:ext cx="4201356" cy="1200329"/>
          </a:xfrm>
          <a:prstGeom prst="rect">
            <a:avLst/>
          </a:prstGeom>
          <a:noFill/>
        </p:spPr>
        <p:txBody>
          <a:bodyPr wrap="square">
            <a:spAutoFit/>
          </a:bodyPr>
          <a:lstStyle/>
          <a:p>
            <a:pPr marL="285750" indent="-285750">
              <a:buFont typeface="Arial" panose="020B0604020202020204" pitchFamily="34" charset="0"/>
              <a:buChar char="•"/>
            </a:pPr>
            <a:r>
              <a:rPr lang="ru-RU" dirty="0"/>
              <a:t>Логарифмические преобразования </a:t>
            </a:r>
          </a:p>
          <a:p>
            <a:pPr marL="285750" indent="-285750">
              <a:buFont typeface="Arial" panose="020B0604020202020204" pitchFamily="34" charset="0"/>
              <a:buChar char="•"/>
            </a:pPr>
            <a:r>
              <a:rPr lang="ru-RU" dirty="0"/>
              <a:t>Полиномиальные преобразования</a:t>
            </a:r>
          </a:p>
          <a:p>
            <a:pPr marL="285750" indent="-285750">
              <a:buFont typeface="Arial" panose="020B0604020202020204" pitchFamily="34" charset="0"/>
              <a:buChar char="•"/>
            </a:pPr>
            <a:r>
              <a:rPr lang="ru-RU" dirty="0"/>
              <a:t>Преобразования Бокса-Кокса</a:t>
            </a:r>
          </a:p>
          <a:p>
            <a:pPr marL="285750" indent="-285750">
              <a:buFont typeface="Arial" panose="020B0604020202020204" pitchFamily="34" charset="0"/>
              <a:buChar char="•"/>
            </a:pPr>
            <a:r>
              <a:rPr lang="ru-RU" dirty="0"/>
              <a:t>Комбинации с другими темами</a:t>
            </a:r>
            <a:endParaRPr lang="en-US" dirty="0"/>
          </a:p>
        </p:txBody>
      </p:sp>
      <p:pic>
        <p:nvPicPr>
          <p:cNvPr id="8" name="Picture 2" descr="ex">
            <a:extLst>
              <a:ext uri="{FF2B5EF4-FFF2-40B4-BE49-F238E27FC236}">
                <a16:creationId xmlns:a16="http://schemas.microsoft.com/office/drawing/2014/main" id="{E67ADA8F-567B-E771-9B76-21F75C70E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569" y="1672024"/>
            <a:ext cx="4636846" cy="50494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57BB38-5F7F-B029-5AE5-AB1AB1AF5BC9}"/>
              </a:ext>
            </a:extLst>
          </p:cNvPr>
          <p:cNvSpPr txBox="1"/>
          <p:nvPr/>
        </p:nvSpPr>
        <p:spPr>
          <a:xfrm>
            <a:off x="7288357" y="3531107"/>
            <a:ext cx="972416" cy="369332"/>
          </a:xfrm>
          <a:prstGeom prst="rect">
            <a:avLst/>
          </a:prstGeom>
          <a:noFill/>
        </p:spPr>
        <p:txBody>
          <a:bodyPr wrap="square">
            <a:spAutoFit/>
          </a:bodyPr>
          <a:lstStyle/>
          <a:p>
            <a:r>
              <a:rPr lang="en" dirty="0"/>
              <a:t>y’=ln(</a:t>
            </a:r>
            <a:r>
              <a:rPr lang="en-US" dirty="0"/>
              <a: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041D3B-127A-326E-7788-364AC2699EF5}"/>
                  </a:ext>
                </a:extLst>
              </p:cNvPr>
              <p:cNvSpPr txBox="1"/>
              <p:nvPr/>
            </p:nvSpPr>
            <p:spPr>
              <a:xfrm>
                <a:off x="7774565" y="5185976"/>
                <a:ext cx="2347480" cy="369332"/>
              </a:xfrm>
              <a:prstGeom prst="rect">
                <a:avLst/>
              </a:prstGeom>
              <a:noFill/>
            </p:spPr>
            <p:txBody>
              <a:bodyPr wrap="square">
                <a:spAutoFit/>
              </a:bodyPr>
              <a:lstStyle/>
              <a:p>
                <a:r>
                  <a:rPr lang="en" dirty="0"/>
                  <a:t>y’’=</a:t>
                </a:r>
                <a:r>
                  <a:rPr lang="en-US" dirty="0"/>
                  <a:t> </a:t>
                </a:r>
                <a14:m>
                  <m:oMath xmlns:m="http://schemas.openxmlformats.org/officeDocument/2006/math">
                    <m:r>
                      <m:rPr>
                        <m:sty m:val="p"/>
                      </m:rPr>
                      <a:rPr lang="en-US" dirty="0">
                        <a:latin typeface="Cambria Math" panose="02040503050406030204" pitchFamily="18" charset="0"/>
                      </a:rPr>
                      <m:t>Δ</m:t>
                    </m:r>
                    <m:r>
                      <a:rPr lang="en-US" b="0" i="1" dirty="0" smtClean="0">
                        <a:latin typeface="Cambria Math" panose="02040503050406030204" pitchFamily="18" charset="0"/>
                      </a:rPr>
                      <m:t>𝑠</m:t>
                    </m:r>
                    <m:r>
                      <a:rPr lang="en-US" i="1" dirty="0">
                        <a:latin typeface="Cambria Math" panose="02040503050406030204" pitchFamily="18" charset="0"/>
                      </a:rPr>
                      <m:t> </m:t>
                    </m:r>
                  </m:oMath>
                </a14:m>
                <a:r>
                  <a:rPr lang="en" dirty="0"/>
                  <a:t>ln(</a:t>
                </a:r>
                <a:r>
                  <a:rPr lang="en-US" dirty="0"/>
                  <a:t>y)</a:t>
                </a:r>
              </a:p>
            </p:txBody>
          </p:sp>
        </mc:Choice>
        <mc:Fallback xmlns="">
          <p:sp>
            <p:nvSpPr>
              <p:cNvPr id="10" name="TextBox 9">
                <a:extLst>
                  <a:ext uri="{FF2B5EF4-FFF2-40B4-BE49-F238E27FC236}">
                    <a16:creationId xmlns:a16="http://schemas.microsoft.com/office/drawing/2014/main" id="{C6041D3B-127A-326E-7788-364AC2699EF5}"/>
                  </a:ext>
                </a:extLst>
              </p:cNvPr>
              <p:cNvSpPr txBox="1">
                <a:spLocks noRot="1" noChangeAspect="1" noMove="1" noResize="1" noEditPoints="1" noAdjustHandles="1" noChangeArrowheads="1" noChangeShapeType="1" noTextEdit="1"/>
              </p:cNvSpPr>
              <p:nvPr/>
            </p:nvSpPr>
            <p:spPr>
              <a:xfrm>
                <a:off x="7774565" y="5185976"/>
                <a:ext cx="2347480" cy="369332"/>
              </a:xfrm>
              <a:prstGeom prst="rect">
                <a:avLst/>
              </a:prstGeom>
              <a:blipFill>
                <a:blip r:embed="rId6"/>
                <a:stretch>
                  <a:fillRect l="-2162" t="-6667" b="-23333"/>
                </a:stretch>
              </a:blipFill>
            </p:spPr>
            <p:txBody>
              <a:bodyPr/>
              <a:lstStyle/>
              <a:p>
                <a:r>
                  <a:rPr lang="ru-RU">
                    <a:noFill/>
                  </a:rPr>
                  <a:t> </a:t>
                </a:r>
              </a:p>
            </p:txBody>
          </p:sp>
        </mc:Fallback>
      </mc:AlternateContent>
    </p:spTree>
    <p:extLst>
      <p:ext uri="{BB962C8B-B14F-4D97-AF65-F5344CB8AC3E}">
        <p14:creationId xmlns:p14="http://schemas.microsoft.com/office/powerpoint/2010/main" val="42498042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F31B75-09DE-55A1-E6FB-34ACC892626F}"/>
              </a:ext>
            </a:extLst>
          </p:cNvPr>
          <p:cNvSpPr>
            <a:spLocks noGrp="1"/>
          </p:cNvSpPr>
          <p:nvPr>
            <p:ph type="title"/>
          </p:nvPr>
        </p:nvSpPr>
        <p:spPr>
          <a:xfrm>
            <a:off x="177800" y="365126"/>
            <a:ext cx="11176000" cy="641118"/>
          </a:xfrm>
        </p:spPr>
        <p:txBody>
          <a:bodyPr>
            <a:normAutofit fontScale="90000"/>
          </a:bodyPr>
          <a:lstStyle/>
          <a:p>
            <a:r>
              <a:rPr lang="ru-RU" dirty="0"/>
              <a:t>Некоторые статистические тесты </a:t>
            </a:r>
            <a:r>
              <a:rPr lang="ru-RU" dirty="0" err="1"/>
              <a:t>справочно</a:t>
            </a:r>
            <a:endParaRPr lang="ru-RU" dirty="0"/>
          </a:p>
        </p:txBody>
      </p:sp>
      <p:graphicFrame>
        <p:nvGraphicFramePr>
          <p:cNvPr id="5" name="Объект 4">
            <a:extLst>
              <a:ext uri="{FF2B5EF4-FFF2-40B4-BE49-F238E27FC236}">
                <a16:creationId xmlns:a16="http://schemas.microsoft.com/office/drawing/2014/main" id="{0D40EFFD-07A8-EACC-CB33-4EBAFD86508F}"/>
              </a:ext>
            </a:extLst>
          </p:cNvPr>
          <p:cNvGraphicFramePr>
            <a:graphicFrameLocks noGrp="1"/>
          </p:cNvGraphicFramePr>
          <p:nvPr>
            <p:ph idx="1"/>
            <p:extLst>
              <p:ext uri="{D42A27DB-BD31-4B8C-83A1-F6EECF244321}">
                <p14:modId xmlns:p14="http://schemas.microsoft.com/office/powerpoint/2010/main" val="207689472"/>
              </p:ext>
            </p:extLst>
          </p:nvPr>
        </p:nvGraphicFramePr>
        <p:xfrm>
          <a:off x="266700" y="1006245"/>
          <a:ext cx="11176000" cy="4916626"/>
        </p:xfrm>
        <a:graphic>
          <a:graphicData uri="http://schemas.openxmlformats.org/drawingml/2006/table">
            <a:tbl>
              <a:tblPr/>
              <a:tblGrid>
                <a:gridCol w="2997200">
                  <a:extLst>
                    <a:ext uri="{9D8B030D-6E8A-4147-A177-3AD203B41FA5}">
                      <a16:colId xmlns:a16="http://schemas.microsoft.com/office/drawing/2014/main" val="3072084588"/>
                    </a:ext>
                  </a:extLst>
                </a:gridCol>
                <a:gridCol w="3644170">
                  <a:extLst>
                    <a:ext uri="{9D8B030D-6E8A-4147-A177-3AD203B41FA5}">
                      <a16:colId xmlns:a16="http://schemas.microsoft.com/office/drawing/2014/main" val="2505993754"/>
                    </a:ext>
                  </a:extLst>
                </a:gridCol>
                <a:gridCol w="4534630">
                  <a:extLst>
                    <a:ext uri="{9D8B030D-6E8A-4147-A177-3AD203B41FA5}">
                      <a16:colId xmlns:a16="http://schemas.microsoft.com/office/drawing/2014/main" val="3897637771"/>
                    </a:ext>
                  </a:extLst>
                </a:gridCol>
              </a:tblGrid>
              <a:tr h="236073">
                <a:tc>
                  <a:txBody>
                    <a:bodyPr/>
                    <a:lstStyle/>
                    <a:p>
                      <a:pPr>
                        <a:buNone/>
                      </a:pPr>
                      <a:r>
                        <a:rPr lang="ru-RU" sz="2000" b="1" dirty="0">
                          <a:solidFill>
                            <a:srgbClr val="000000"/>
                          </a:solidFill>
                          <a:effectLst/>
                          <a:latin typeface="Helvetica Neue" panose="02000503000000020004" pitchFamily="2" charset="0"/>
                        </a:rPr>
                        <a:t>Тест</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a:solidFill>
                            <a:srgbClr val="000000"/>
                          </a:solidFill>
                          <a:effectLst/>
                          <a:latin typeface="Helvetica Neue" panose="02000503000000020004" pitchFamily="2" charset="0"/>
                        </a:rPr>
                        <a:t>Что проверяет</a:t>
                      </a:r>
                      <a:endParaRPr lang="ru-RU" sz="20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dirty="0">
                          <a:solidFill>
                            <a:srgbClr val="000000"/>
                          </a:solidFill>
                          <a:effectLst/>
                          <a:latin typeface="Helvetica Neue" panose="02000503000000020004" pitchFamily="2" charset="0"/>
                        </a:rPr>
                        <a:t>Применение </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1295620530"/>
                  </a:ext>
                </a:extLst>
              </a:tr>
              <a:tr h="217910">
                <a:tc>
                  <a:txBody>
                    <a:bodyPr/>
                    <a:lstStyle/>
                    <a:p>
                      <a:pPr>
                        <a:buNone/>
                      </a:pPr>
                      <a:r>
                        <a:rPr lang="en" sz="2000" b="1" dirty="0">
                          <a:solidFill>
                            <a:srgbClr val="000000"/>
                          </a:solidFill>
                          <a:effectLst/>
                          <a:latin typeface="Helvetica Neue" panose="02000503000000020004" pitchFamily="2" charset="0"/>
                        </a:rPr>
                        <a:t>Ljung-Box</a:t>
                      </a:r>
                      <a:r>
                        <a:rPr lang="ru-RU" sz="2000" b="1" dirty="0">
                          <a:solidFill>
                            <a:srgbClr val="000000"/>
                          </a:solidFill>
                          <a:effectLst/>
                          <a:latin typeface="Helvetica Neue" panose="02000503000000020004" pitchFamily="2" charset="0"/>
                        </a:rPr>
                        <a:t> </a:t>
                      </a:r>
                      <a:r>
                        <a:rPr lang="ru-RU" sz="2000" b="1" dirty="0" err="1">
                          <a:solidFill>
                            <a:srgbClr val="000000"/>
                          </a:solidFill>
                          <a:effectLst/>
                          <a:latin typeface="Helvetica Neue" panose="02000503000000020004" pitchFamily="2" charset="0"/>
                        </a:rPr>
                        <a:t>T</a:t>
                      </a:r>
                      <a:r>
                        <a:rPr lang="en-US" sz="2000" b="1" dirty="0" err="1">
                          <a:solidFill>
                            <a:srgbClr val="000000"/>
                          </a:solidFill>
                          <a:effectLst/>
                          <a:latin typeface="Helvetica Neue" panose="02000503000000020004" pitchFamily="2" charset="0"/>
                        </a:rPr>
                        <a: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solidFill>
                            <a:srgbClr val="000000"/>
                          </a:solidFill>
                          <a:effectLst/>
                          <a:latin typeface="Helvetica Neue" panose="02000503000000020004" pitchFamily="2" charset="0"/>
                        </a:rPr>
                        <a:t>Линейная автокорреляция</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значимости лагов АКФ</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4036745"/>
                  </a:ext>
                </a:extLst>
              </a:tr>
              <a:tr h="294857">
                <a:tc>
                  <a:txBody>
                    <a:bodyPr/>
                    <a:lstStyle/>
                    <a:p>
                      <a:pPr>
                        <a:buNone/>
                      </a:pPr>
                      <a:r>
                        <a:rPr lang="en" sz="2000" b="1" dirty="0">
                          <a:solidFill>
                            <a:srgbClr val="000000"/>
                          </a:solidFill>
                          <a:effectLst/>
                          <a:latin typeface="Helvetica Neue" panose="02000503000000020004" pitchFamily="2" charset="0"/>
                        </a:rPr>
                        <a:t>KPSS / ADF</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solidFill>
                            <a:srgbClr val="000000"/>
                          </a:solidFill>
                          <a:effectLst/>
                          <a:latin typeface="Helvetica Neue" panose="02000503000000020004" pitchFamily="2" charset="0"/>
                        </a:rPr>
                        <a:t>Стационарность, Не проверяет </a:t>
                      </a:r>
                      <a:r>
                        <a:rPr lang="en" sz="2000" dirty="0" err="1">
                          <a:solidFill>
                            <a:srgbClr val="000000"/>
                          </a:solidFill>
                          <a:effectLst/>
                          <a:latin typeface="Helvetica Neue" panose="02000503000000020004" pitchFamily="2" charset="0"/>
                        </a:rPr>
                        <a:t>i.i.d.</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1474115"/>
                  </a:ext>
                </a:extLst>
              </a:tr>
              <a:tr h="552863">
                <a:tc>
                  <a:txBody>
                    <a:bodyPr/>
                    <a:lstStyle/>
                    <a:p>
                      <a:pPr>
                        <a:buNone/>
                      </a:pPr>
                      <a:r>
                        <a:rPr lang="en" sz="2000" b="1" kern="1200" dirty="0">
                          <a:solidFill>
                            <a:srgbClr val="000000"/>
                          </a:solidFill>
                          <a:effectLst/>
                          <a:latin typeface="Helvetica Neue" panose="02000503000000020004" pitchFamily="2" charset="0"/>
                          <a:ea typeface="+mn-ea"/>
                          <a:cs typeface="+mn-cs"/>
                        </a:rPr>
                        <a:t>Phillips-Perron (PP) Test</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ru-RU" sz="2000" dirty="0" err="1">
                          <a:effectLst/>
                        </a:rPr>
                        <a:t>гетеросекдостичности</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0099584"/>
                  </a:ext>
                </a:extLst>
              </a:tr>
              <a:tr h="552863">
                <a:tc>
                  <a:txBody>
                    <a:bodyPr/>
                    <a:lstStyle/>
                    <a:p>
                      <a:pPr>
                        <a:buNone/>
                      </a:pPr>
                      <a:r>
                        <a:rPr lang="en" sz="2000" b="1" kern="1200" dirty="0" err="1">
                          <a:solidFill>
                            <a:srgbClr val="000000"/>
                          </a:solidFill>
                          <a:effectLst/>
                          <a:latin typeface="Helvetica Neue" panose="02000503000000020004" pitchFamily="2" charset="0"/>
                          <a:ea typeface="+mn-ea"/>
                          <a:cs typeface="+mn-cs"/>
                        </a:rPr>
                        <a:t>Zivot</a:t>
                      </a:r>
                      <a:r>
                        <a:rPr lang="en" sz="2000" b="1" kern="1200" dirty="0">
                          <a:solidFill>
                            <a:srgbClr val="000000"/>
                          </a:solidFill>
                          <a:effectLst/>
                          <a:latin typeface="Helvetica Neue" panose="02000503000000020004" pitchFamily="2" charset="0"/>
                          <a:ea typeface="+mn-ea"/>
                          <a:cs typeface="+mn-cs"/>
                        </a:rPr>
                        <a:t>-Andrews</a:t>
                      </a:r>
                      <a:r>
                        <a:rPr lang="ru-RU" sz="2000" b="1" kern="1200" dirty="0">
                          <a:solidFill>
                            <a:srgbClr val="000000"/>
                          </a:solidFill>
                          <a:effectLst/>
                          <a:latin typeface="Helvetica Neue" panose="02000503000000020004" pitchFamily="2" charset="0"/>
                          <a:ea typeface="+mn-ea"/>
                          <a:cs typeface="+mn-cs"/>
                        </a:rPr>
                        <a:t> </a:t>
                      </a:r>
                      <a:r>
                        <a:rPr lang="ru-RU" sz="2000" b="1" kern="1200" dirty="0" err="1">
                          <a:solidFill>
                            <a:srgbClr val="000000"/>
                          </a:solidFill>
                          <a:effectLst/>
                          <a:latin typeface="Helvetica Neue" panose="02000503000000020004" pitchFamily="2" charset="0"/>
                          <a:ea typeface="+mn-ea"/>
                          <a:cs typeface="+mn-cs"/>
                        </a:rPr>
                        <a:t>T</a:t>
                      </a:r>
                      <a:r>
                        <a:rPr lang="en-US" sz="2000" b="1" kern="1200" dirty="0" err="1">
                          <a:solidFill>
                            <a:srgbClr val="000000"/>
                          </a:solidFill>
                          <a:effectLst/>
                          <a:latin typeface="Helvetica Neue" panose="02000503000000020004" pitchFamily="2" charset="0"/>
                          <a:ea typeface="+mn-ea"/>
                          <a:cs typeface="+mn-cs"/>
                        </a:rPr>
                        <a:t>est</a:t>
                      </a:r>
                      <a:endParaRPr lang="en" sz="2000" b="1" kern="1200" dirty="0">
                        <a:solidFill>
                          <a:srgbClr val="000000"/>
                        </a:solidFill>
                        <a:effectLst/>
                        <a:latin typeface="Helvetica Neue" panose="02000503000000020004" pitchFamily="2" charset="0"/>
                        <a:ea typeface="+mn-ea"/>
                        <a:cs typeface="+mn-cs"/>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en-US" sz="2000" dirty="0">
                          <a:effectLst/>
                        </a:rPr>
                        <a:t>1 </a:t>
                      </a:r>
                      <a:r>
                        <a:rPr lang="en-US" sz="2000" dirty="0" err="1">
                          <a:effectLst/>
                        </a:rPr>
                        <a:t>стру</a:t>
                      </a:r>
                      <a:r>
                        <a:rPr lang="ru-RU" sz="2000" dirty="0" err="1">
                          <a:effectLst/>
                        </a:rPr>
                        <a:t>ктурного</a:t>
                      </a:r>
                      <a:r>
                        <a:rPr lang="ru-RU" sz="2000" dirty="0">
                          <a:effectLst/>
                        </a:rPr>
                        <a:t> разрыва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7861686"/>
                  </a:ext>
                </a:extLst>
              </a:tr>
              <a:tr h="552863">
                <a:tc>
                  <a:txBody>
                    <a:bodyPr/>
                    <a:lstStyle/>
                    <a:p>
                      <a:pPr>
                        <a:buNone/>
                      </a:pPr>
                      <a:r>
                        <a:rPr lang="en" sz="2000" b="1" dirty="0">
                          <a:solidFill>
                            <a:srgbClr val="000000"/>
                          </a:solidFill>
                          <a:effectLst/>
                          <a:latin typeface="Helvetica Neue" panose="02000503000000020004" pitchFamily="2" charset="0"/>
                        </a:rPr>
                        <a:t>Tsay 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Helvetica Neue" panose="02000503000000020004" pitchFamily="2" charset="0"/>
                        </a:rPr>
                        <a:t>Гете</a:t>
                      </a:r>
                      <a:r>
                        <a:rPr lang="ru-RU" sz="2000" dirty="0" err="1">
                          <a:solidFill>
                            <a:srgbClr val="000000"/>
                          </a:solidFill>
                          <a:effectLst/>
                          <a:latin typeface="Helvetica Neue" panose="02000503000000020004" pitchFamily="2" charset="0"/>
                        </a:rPr>
                        <a:t>росекдостичность</a:t>
                      </a:r>
                      <a:r>
                        <a:rPr lang="ru-RU" sz="2000" dirty="0">
                          <a:solidFill>
                            <a:srgbClr val="000000"/>
                          </a:solidFill>
                          <a:effectLst/>
                          <a:latin typeface="Helvetica Neue" panose="02000503000000020004" pitchFamily="2" charset="0"/>
                        </a:rPr>
                        <a:t> (</a:t>
                      </a:r>
                      <a:r>
                        <a:rPr lang="en" sz="2000" dirty="0">
                          <a:solidFill>
                            <a:srgbClr val="000000"/>
                          </a:solidFill>
                          <a:effectLst/>
                          <a:latin typeface="Helvetica Neue" panose="02000503000000020004" pitchFamily="2" charset="0"/>
                        </a:rPr>
                        <a:t>ARCH)</a:t>
                      </a:r>
                      <a:r>
                        <a:rPr lang="ru-RU" sz="2000" dirty="0">
                          <a:solidFill>
                            <a:srgbClr val="000000"/>
                          </a:solidFill>
                          <a:effectLst/>
                          <a:latin typeface="Helvetica Neue" panose="02000503000000020004" pitchFamily="2" charset="0"/>
                        </a:rPr>
                        <a:t> - Параметрический, для квадратичных эффектов</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необходимость использования моделей предсказания дисперсии (</a:t>
                      </a:r>
                      <a:r>
                        <a:rPr lang="ru-RU" sz="2000" dirty="0" err="1">
                          <a:effectLst/>
                        </a:rPr>
                        <a:t>G</a:t>
                      </a:r>
                      <a:r>
                        <a:rPr lang="en-US" sz="2000" dirty="0">
                          <a:effectLst/>
                        </a:rPr>
                        <a:t>ARCH)</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877772"/>
                  </a:ext>
                </a:extLst>
              </a:tr>
              <a:tr h="420826">
                <a:tc>
                  <a:txBody>
                    <a:bodyPr/>
                    <a:lstStyle/>
                    <a:p>
                      <a:pPr>
                        <a:buNone/>
                      </a:pPr>
                      <a:r>
                        <a:rPr lang="en" sz="2000" b="1" dirty="0">
                          <a:solidFill>
                            <a:srgbClr val="000000"/>
                          </a:solidFill>
                          <a:effectLst/>
                          <a:latin typeface="Helvetica Neue" panose="02000503000000020004" pitchFamily="2" charset="0"/>
                        </a:rPr>
                        <a:t>BDS</a:t>
                      </a:r>
                      <a:r>
                        <a:rPr lang="ru-RU" sz="2000" b="1" dirty="0">
                          <a:solidFill>
                            <a:srgbClr val="000000"/>
                          </a:solidFill>
                          <a:effectLst/>
                          <a:latin typeface="Helvetica Neue" panose="02000503000000020004" pitchFamily="2" charset="0"/>
                        </a:rPr>
                        <a:t> </a:t>
                      </a:r>
                      <a:r>
                        <a:rPr lang="en-US" sz="2000" b="1" dirty="0">
                          <a:solidFill>
                            <a:srgbClr val="000000"/>
                          </a:solidFill>
                          <a:effectLst/>
                          <a:latin typeface="Helvetica Neue" panose="02000503000000020004" pitchFamily="2" charset="0"/>
                        </a:rPr>
                        <a:t>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Тест не нелинейности высшего порядка в данных</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2000" b="0" i="0" kern="1200" dirty="0" err="1">
                          <a:solidFill>
                            <a:schemeClr val="tx1"/>
                          </a:solidFill>
                          <a:effectLst/>
                          <a:latin typeface="+mn-lt"/>
                          <a:ea typeface="+mn-ea"/>
                          <a:cs typeface="+mn-cs"/>
                        </a:rPr>
                        <a:t>Тест</a:t>
                      </a:r>
                      <a:r>
                        <a:rPr lang="ru-RU" sz="2000" b="0" i="0" kern="1200" dirty="0">
                          <a:solidFill>
                            <a:schemeClr val="tx1"/>
                          </a:solidFill>
                          <a:effectLst/>
                          <a:latin typeface="+mn-lt"/>
                          <a:ea typeface="+mn-ea"/>
                          <a:cs typeface="+mn-cs"/>
                        </a:rPr>
                        <a:t> на необходимость перехода к нелинейным моделям типа </a:t>
                      </a:r>
                      <a:r>
                        <a:rPr lang="en-US" sz="2000" b="0" i="0" kern="1200" dirty="0">
                          <a:solidFill>
                            <a:schemeClr val="tx1"/>
                          </a:solidFill>
                          <a:effectLst/>
                          <a:latin typeface="+mn-lt"/>
                          <a:ea typeface="+mn-ea"/>
                          <a:cs typeface="+mn-cs"/>
                        </a:rPr>
                        <a:t>ML, DL</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6540666"/>
                  </a:ext>
                </a:extLst>
              </a:tr>
              <a:tr h="420826">
                <a:tc>
                  <a:txBody>
                    <a:bodyPr/>
                    <a:lstStyle/>
                    <a:p>
                      <a:pPr>
                        <a:buNone/>
                      </a:pPr>
                      <a:r>
                        <a:rPr lang="en-US" sz="2000" b="1" dirty="0">
                          <a:effectLst/>
                        </a:rPr>
                        <a:t>Variance Ratio Test</a:t>
                      </a:r>
                      <a:endParaRPr lang="en" sz="2000" b="1"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Наличие случайных блужданий</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случайного тренда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700707"/>
                  </a:ext>
                </a:extLst>
              </a:tr>
            </a:tbl>
          </a:graphicData>
        </a:graphic>
      </p:graphicFrame>
      <p:sp>
        <p:nvSpPr>
          <p:cNvPr id="4" name="Номер слайда 3">
            <a:extLst>
              <a:ext uri="{FF2B5EF4-FFF2-40B4-BE49-F238E27FC236}">
                <a16:creationId xmlns:a16="http://schemas.microsoft.com/office/drawing/2014/main" id="{C03862BD-D1F2-C19C-6C16-EB2C82A8B003}"/>
              </a:ext>
            </a:extLst>
          </p:cNvPr>
          <p:cNvSpPr>
            <a:spLocks noGrp="1"/>
          </p:cNvSpPr>
          <p:nvPr>
            <p:ph type="sldNum" sz="quarter" idx="12"/>
          </p:nvPr>
        </p:nvSpPr>
        <p:spPr/>
        <p:txBody>
          <a:bodyPr/>
          <a:lstStyle/>
          <a:p>
            <a:fld id="{45C3B737-A709-4ABC-AFE0-A6B067850C48}" type="slidenum">
              <a:rPr lang="en-US" smtClean="0"/>
              <a:t>26</a:t>
            </a:fld>
            <a:endParaRPr lang="en-US"/>
          </a:p>
        </p:txBody>
      </p:sp>
      <p:sp>
        <p:nvSpPr>
          <p:cNvPr id="7" name="TextBox 6">
            <a:extLst>
              <a:ext uri="{FF2B5EF4-FFF2-40B4-BE49-F238E27FC236}">
                <a16:creationId xmlns:a16="http://schemas.microsoft.com/office/drawing/2014/main" id="{4F994CC5-54A0-F101-D876-AD087A8DA3AD}"/>
              </a:ext>
            </a:extLst>
          </p:cNvPr>
          <p:cNvSpPr txBox="1"/>
          <p:nvPr/>
        </p:nvSpPr>
        <p:spPr>
          <a:xfrm>
            <a:off x="5854700" y="6382921"/>
            <a:ext cx="6115050" cy="369332"/>
          </a:xfrm>
          <a:prstGeom prst="rect">
            <a:avLst/>
          </a:prstGeom>
          <a:noFill/>
        </p:spPr>
        <p:txBody>
          <a:bodyPr wrap="square">
            <a:spAutoFit/>
          </a:bodyPr>
          <a:lstStyle/>
          <a:p>
            <a:r>
              <a:rPr lang="ru-RU" dirty="0" err="1"/>
              <a:t>https</a:t>
            </a:r>
            <a:r>
              <a:rPr lang="ru-RU" dirty="0"/>
              <a:t>://</a:t>
            </a:r>
            <a:r>
              <a:rPr lang="ru-RU" dirty="0" err="1"/>
              <a:t>bashtage.github.io</a:t>
            </a:r>
            <a:r>
              <a:rPr lang="ru-RU" dirty="0"/>
              <a:t>/</a:t>
            </a:r>
            <a:r>
              <a:rPr lang="ru-RU" dirty="0" err="1"/>
              <a:t>arch</a:t>
            </a:r>
            <a:r>
              <a:rPr lang="ru-RU" dirty="0"/>
              <a:t>/</a:t>
            </a:r>
            <a:r>
              <a:rPr lang="ru-RU" dirty="0" err="1"/>
              <a:t>unitroot</a:t>
            </a:r>
            <a:r>
              <a:rPr lang="ru-RU" dirty="0"/>
              <a:t>/</a:t>
            </a:r>
            <a:r>
              <a:rPr lang="ru-RU" dirty="0" err="1"/>
              <a:t>tests.html</a:t>
            </a:r>
            <a:endParaRPr lang="ru-RU" dirty="0"/>
          </a:p>
        </p:txBody>
      </p:sp>
      <p:sp>
        <p:nvSpPr>
          <p:cNvPr id="9" name="TextBox 8">
            <a:extLst>
              <a:ext uri="{FF2B5EF4-FFF2-40B4-BE49-F238E27FC236}">
                <a16:creationId xmlns:a16="http://schemas.microsoft.com/office/drawing/2014/main" id="{3929C145-C139-0C12-6C03-004EF295AF7A}"/>
              </a:ext>
            </a:extLst>
          </p:cNvPr>
          <p:cNvSpPr txBox="1"/>
          <p:nvPr/>
        </p:nvSpPr>
        <p:spPr>
          <a:xfrm>
            <a:off x="266700" y="6444476"/>
            <a:ext cx="6115050" cy="307777"/>
          </a:xfrm>
          <a:prstGeom prst="rect">
            <a:avLst/>
          </a:prstGeom>
          <a:noFill/>
        </p:spPr>
        <p:txBody>
          <a:bodyPr wrap="square">
            <a:spAutoFit/>
          </a:bodyPr>
          <a:lstStyle/>
          <a:p>
            <a:r>
              <a:rPr lang="ru-RU" sz="1400" dirty="0" err="1"/>
              <a:t>https</a:t>
            </a:r>
            <a:r>
              <a:rPr lang="ru-RU" sz="1400" dirty="0"/>
              <a:t>://</a:t>
            </a:r>
            <a:r>
              <a:rPr lang="ru-RU" sz="1400" dirty="0" err="1"/>
              <a:t>www.statsmodels.org</a:t>
            </a:r>
            <a:r>
              <a:rPr lang="ru-RU" sz="1400" dirty="0"/>
              <a:t>/</a:t>
            </a:r>
            <a:r>
              <a:rPr lang="ru-RU" sz="1400" dirty="0" err="1"/>
              <a:t>dev</a:t>
            </a:r>
            <a:r>
              <a:rPr lang="ru-RU" sz="1400" dirty="0"/>
              <a:t>/</a:t>
            </a:r>
            <a:r>
              <a:rPr lang="ru-RU" sz="1400" dirty="0" err="1"/>
              <a:t>tsa.html#descriptive-statistics-and-tests</a:t>
            </a:r>
            <a:endParaRPr lang="ru-RU" sz="1400" dirty="0"/>
          </a:p>
        </p:txBody>
      </p:sp>
    </p:spTree>
    <p:extLst>
      <p:ext uri="{BB962C8B-B14F-4D97-AF65-F5344CB8AC3E}">
        <p14:creationId xmlns:p14="http://schemas.microsoft.com/office/powerpoint/2010/main" val="845324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600" b="1" dirty="0"/>
              <a:t>Обобщенная адаптивная модель</a:t>
            </a:r>
            <a:r>
              <a:rPr lang="en-US" sz="3600" b="1" dirty="0"/>
              <a:t> (</a:t>
            </a:r>
            <a:r>
              <a:rPr lang="ru-RU" sz="3600" b="1" dirty="0"/>
              <a:t>регрессия</a:t>
            </a:r>
            <a:r>
              <a:rPr lang="en-US" sz="3600" b="1" dirty="0"/>
              <a:t>). Prophet</a:t>
            </a:r>
            <a:endParaRPr lang="ru-RU" sz="3600" b="1"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56374" y="931492"/>
                <a:ext cx="11835925" cy="5031826"/>
              </a:xfrm>
            </p:spPr>
            <p:txBody>
              <a:bodyPr>
                <a:noAutofit/>
              </a:bodyPr>
              <a:lstStyle/>
              <a:p>
                <a:pPr>
                  <a:lnSpc>
                    <a:spcPct val="100000"/>
                  </a:lnSpc>
                </a:pPr>
                <a:r>
                  <a:rPr lang="ru-RU" sz="2000" dirty="0"/>
                  <a:t>Обозначенные факторы могут быть заданы следующей моделью</a:t>
                </a:r>
                <a:r>
                  <a:rPr lang="en-US" sz="2000" dirty="0"/>
                  <a:t>:</a:t>
                </a:r>
              </a:p>
              <a:p>
                <a:pPr marL="0" indent="0">
                  <a:lnSpc>
                    <a:spcPct val="10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𝑡𝑟𝑒𝑛𝑑</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𝑠𝑒𝑎𝑠𝑜𝑛𝑎𝑙</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h𝑜𝑙𝑦𝑑𝑎𝑦𝑠</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𝑛𝑜𝑖𝑠𝑒</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m:oMathPara>
                </a14:m>
                <a:endParaRPr lang="ru-RU" sz="2000" dirty="0"/>
              </a:p>
              <a:p>
                <a:pPr>
                  <a:lnSpc>
                    <a:spcPct val="100000"/>
                  </a:lnSpc>
                </a:pPr>
                <a:r>
                  <a:rPr lang="ru-RU" sz="2000" dirty="0"/>
                  <a:t>где</a:t>
                </a:r>
                <a:r>
                  <a:rPr lang="en-US" sz="2000" dirty="0"/>
                  <a:t>   </a:t>
                </a:r>
                <a14:m>
                  <m:oMath xmlns:m="http://schemas.openxmlformats.org/officeDocument/2006/math">
                    <m:r>
                      <a:rPr lang="en-US" sz="2000" i="1">
                        <a:latin typeface="Cambria Math" panose="02040503050406030204" pitchFamily="18" charset="0"/>
                      </a:rPr>
                      <m:t>𝑡𝑟𝑒𝑛𝑑</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t> </a:t>
                </a:r>
                <a:r>
                  <a:rPr lang="ru-RU" sz="2000" dirty="0"/>
                  <a:t>или </a:t>
                </a:r>
              </a:p>
              <a:p>
                <a:pPr lvl="1">
                  <a:lnSpc>
                    <a:spcPct val="100000"/>
                  </a:lnSpc>
                </a:pPr>
                <a:r>
                  <a:rPr lang="ru-RU" sz="2000" dirty="0"/>
                  <a:t>непериодический кусочно-линейный тренд</a:t>
                </a:r>
              </a:p>
              <a:p>
                <a:pPr marL="457200" lvl="1" indent="0">
                  <a:lnSpc>
                    <a:spcPct val="10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𝑡𝑟𝑒𝑛𝑑</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𝛿</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𝛾</m:t>
                      </m:r>
                      <m:r>
                        <a:rPr lang="en-US" sz="2000" i="1">
                          <a:latin typeface="Cambria Math" panose="02040503050406030204" pitchFamily="18" charset="0"/>
                        </a:rPr>
                        <m:t>),</m:t>
                      </m:r>
                    </m:oMath>
                  </m:oMathPara>
                </a14:m>
                <a:endParaRPr lang="ru-RU" sz="2000" dirty="0"/>
              </a:p>
              <a:p>
                <a:pPr lvl="1">
                  <a:lnSpc>
                    <a:spcPct val="100000"/>
                  </a:lnSpc>
                </a:pPr>
                <a:r>
                  <a:rPr lang="ru-RU" sz="2000" dirty="0"/>
                  <a:t>где</a:t>
                </a:r>
                <a:r>
                  <a:rPr lang="en-US" sz="2000" dirty="0"/>
                  <a:t> </a:t>
                </a:r>
                <a14:m>
                  <m:oMath xmlns:m="http://schemas.openxmlformats.org/officeDocument/2006/math">
                    <m:r>
                      <a:rPr lang="ru-RU" sz="2000" i="1">
                        <a:latin typeface="Cambria Math" panose="02040503050406030204" pitchFamily="18" charset="0"/>
                      </a:rPr>
                      <m:t>𝑘</m:t>
                    </m:r>
                    <m:r>
                      <a:rPr lang="ru-RU" sz="2000" i="1">
                        <a:latin typeface="Cambria Math" panose="02040503050406030204" pitchFamily="18" charset="0"/>
                      </a:rPr>
                      <m:t> − скорость роста; </m:t>
                    </m:r>
                    <m:r>
                      <a:rPr lang="ru-RU" sz="2000" i="1">
                        <a:latin typeface="Cambria Math" panose="02040503050406030204" pitchFamily="18" charset="0"/>
                      </a:rPr>
                      <m:t>𝛿</m:t>
                    </m:r>
                    <m:r>
                      <a:rPr lang="ru-RU" sz="2000" i="1">
                        <a:latin typeface="Cambria Math" panose="02040503050406030204" pitchFamily="18" charset="0"/>
                      </a:rPr>
                      <m:t> и </m:t>
                    </m:r>
                    <m:r>
                      <a:rPr lang="ru-RU" sz="2000" i="1">
                        <a:latin typeface="Cambria Math" panose="02040503050406030204" pitchFamily="18" charset="0"/>
                      </a:rPr>
                      <m:t>𝛾</m:t>
                    </m:r>
                    <m:r>
                      <a:rPr lang="ru-RU" sz="2000" i="1">
                        <a:latin typeface="Cambria Math" panose="02040503050406030204" pitchFamily="18" charset="0"/>
                      </a:rPr>
                      <m:t> настройки скорости, а </m:t>
                    </m:r>
                    <m:r>
                      <a:rPr lang="ru-RU" sz="2000" i="1">
                        <a:latin typeface="Cambria Math" panose="02040503050406030204" pitchFamily="18" charset="0"/>
                      </a:rPr>
                      <m:t>𝑚</m:t>
                    </m:r>
                    <m:r>
                      <a:rPr lang="ru-RU" sz="2000" i="1">
                        <a:latin typeface="Cambria Math" panose="02040503050406030204" pitchFamily="18" charset="0"/>
                      </a:rPr>
                      <m:t> − параметр смещения.  </m:t>
                    </m:r>
                  </m:oMath>
                </a14:m>
                <a:endParaRPr lang="ru-RU" sz="2000" i="1" dirty="0">
                  <a:latin typeface="Cambria Math" panose="02040503050406030204" pitchFamily="18" charset="0"/>
                </a:endParaRPr>
              </a:p>
              <a:p>
                <a:pPr lvl="1">
                  <a:lnSpc>
                    <a:spcPct val="100000"/>
                  </a:lnSpc>
                </a:pPr>
                <a14:m>
                  <m:oMath xmlns:m="http://schemas.openxmlformats.org/officeDocument/2006/math">
                    <m:r>
                      <a:rPr lang="ru-RU" sz="2000" i="1">
                        <a:latin typeface="Cambria Math" panose="02040503050406030204" pitchFamily="18" charset="0"/>
                      </a:rPr>
                      <m:t>логистически</m:t>
                    </m:r>
                    <m:r>
                      <a:rPr lang="ru-RU" sz="2000" b="0" i="1" smtClean="0">
                        <a:latin typeface="Cambria Math" panose="02040503050406030204" pitchFamily="18" charset="0"/>
                      </a:rPr>
                      <m:t>й тренд</m:t>
                    </m:r>
                    <m:r>
                      <a:rPr lang="ru-RU" sz="2000" i="1">
                        <a:latin typeface="Cambria Math" panose="02040503050406030204" pitchFamily="18" charset="0"/>
                      </a:rPr>
                      <m:t> </m:t>
                    </m:r>
                    <m:d>
                      <m:dPr>
                        <m:ctrlPr>
                          <a:rPr lang="ru-RU" sz="2000" i="1">
                            <a:latin typeface="Cambria Math" panose="02040503050406030204" pitchFamily="18" charset="0"/>
                          </a:rPr>
                        </m:ctrlPr>
                      </m:dPr>
                      <m:e>
                        <m:r>
                          <a:rPr lang="ru-RU" sz="2000" i="1">
                            <a:latin typeface="Cambria Math" panose="02040503050406030204" pitchFamily="18" charset="0"/>
                          </a:rPr>
                          <m:t>уменьшение и увеличение</m:t>
                        </m:r>
                      </m:e>
                    </m:d>
                    <m:r>
                      <a:rPr lang="ru-RU" sz="2000" b="0" i="1" smtClean="0">
                        <a:latin typeface="Cambria Math" panose="02040503050406030204" pitchFamily="18" charset="0"/>
                      </a:rPr>
                      <m:t> </m:t>
                    </m:r>
                    <m:r>
                      <a:rPr lang="ru-RU" sz="2000" i="1">
                        <a:latin typeface="Cambria Math" panose="02040503050406030204" pitchFamily="18" charset="0"/>
                      </a:rPr>
                      <m:t>с насыщением</m:t>
                    </m:r>
                  </m:oMath>
                </a14:m>
                <a:endParaRPr lang="ru-RU" sz="2000" i="1" dirty="0">
                  <a:latin typeface="Cambria Math" panose="02040503050406030204" pitchFamily="18" charset="0"/>
                </a:endParaRPr>
              </a:p>
              <a:p>
                <a:pPr marL="457200" lvl="1" indent="0">
                  <a:lnSpc>
                    <a:spcPct val="10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𝑡𝑟𝑒𝑛𝑑</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f>
                        <m:fPr>
                          <m:ctrlPr>
                            <a:rPr lang="ru-RU" sz="2000" i="1">
                              <a:latin typeface="Cambria Math" panose="02040503050406030204" pitchFamily="18" charset="0"/>
                            </a:rPr>
                          </m:ctrlPr>
                        </m:fPr>
                        <m:num>
                          <m:r>
                            <a:rPr lang="en-US" sz="2000" i="1">
                              <a:latin typeface="Cambria Math" panose="02040503050406030204" pitchFamily="18" charset="0"/>
                            </a:rPr>
                            <m:t>𝐶</m:t>
                          </m:r>
                        </m:num>
                        <m:den>
                          <m:r>
                            <a:rPr lang="en-US" sz="2000" i="1">
                              <a:latin typeface="Cambria Math" panose="02040503050406030204" pitchFamily="18" charset="0"/>
                            </a:rPr>
                            <m:t>1+</m:t>
                          </m:r>
                          <m:r>
                            <a:rPr lang="en-US" sz="2000" i="1">
                              <a:latin typeface="Cambria Math" panose="02040503050406030204" pitchFamily="18" charset="0"/>
                            </a:rPr>
                            <m:t>𝑒𝑥𝑝</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𝑏</m:t>
                          </m:r>
                          <m:r>
                            <a:rPr lang="en-US" sz="2000" i="1">
                              <a:latin typeface="Cambria Math" panose="02040503050406030204" pitchFamily="18" charset="0"/>
                            </a:rPr>
                            <m:t>))</m:t>
                          </m:r>
                        </m:den>
                      </m:f>
                      <m:r>
                        <a:rPr lang="en-US" sz="2000" i="1">
                          <a:latin typeface="Cambria Math" panose="02040503050406030204" pitchFamily="18" charset="0"/>
                        </a:rPr>
                        <m:t>,</m:t>
                      </m:r>
                    </m:oMath>
                  </m:oMathPara>
                </a14:m>
                <a:endParaRPr lang="ru-RU" sz="2000" dirty="0"/>
              </a:p>
              <a:p>
                <a:pPr lvl="1">
                  <a:lnSpc>
                    <a:spcPct val="100000"/>
                  </a:lnSpc>
                </a:pPr>
                <a:r>
                  <a:rPr lang="ru-RU" sz="2000" dirty="0"/>
                  <a:t>где 𝐶, 𝑘, 𝑏 - обучаемые параметры: </a:t>
                </a:r>
                <a:br>
                  <a:rPr lang="ru-RU" sz="2000" dirty="0"/>
                </a:br>
                <a:r>
                  <a:rPr lang="ru-RU" sz="2000" dirty="0"/>
                  <a:t>𝐶 – коэффициент подъема;</a:t>
                </a:r>
                <a:br>
                  <a:rPr lang="ru-RU" sz="2000" dirty="0"/>
                </a:br>
                <a:r>
                  <a:rPr lang="ru-RU" sz="2000" dirty="0"/>
                  <a:t>𝑘 - скорость роста; </a:t>
                </a:r>
                <a:br>
                  <a:rPr lang="ru-RU" sz="2000" dirty="0"/>
                </a:br>
                <a:r>
                  <a:rPr lang="ru-RU" sz="2000" dirty="0"/>
                  <a:t>𝑏 - параметр смещения. </a:t>
                </a:r>
                <a:r>
                  <a:rPr lang="en-US" sz="1200" dirty="0"/>
                  <a:t/>
                </a:r>
                <a:br>
                  <a:rPr lang="en-US" sz="1200" dirty="0"/>
                </a:br>
                <a:r>
                  <a:rPr lang="en-US" sz="1200" dirty="0"/>
                  <a:t> </a:t>
                </a:r>
                <a:br>
                  <a:rPr lang="en-US" sz="1200" dirty="0"/>
                </a:br>
                <a:endParaRPr lang="en-US" sz="12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56374" y="931492"/>
                <a:ext cx="11835925" cy="5031826"/>
              </a:xfrm>
              <a:blipFill>
                <a:blip r:embed="rId3"/>
                <a:stretch>
                  <a:fillRect l="-463" t="-727"/>
                </a:stretch>
              </a:blipFill>
            </p:spPr>
            <p:txBody>
              <a:bodyPr/>
              <a:lstStyle/>
              <a:p>
                <a:r>
                  <a:rPr lang="ru-RU">
                    <a:noFill/>
                  </a:rPr>
                  <a:t> </a:t>
                </a:r>
              </a:p>
            </p:txBody>
          </p:sp>
        </mc:Fallback>
      </mc:AlternateContent>
      <p:pic>
        <p:nvPicPr>
          <p:cNvPr id="3074" name="Picture 2" descr="Time Series Forecasting with Prophet - David T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8357" y="4140200"/>
            <a:ext cx="4363917" cy="2598738"/>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4310976" y="6375796"/>
            <a:ext cx="2878609" cy="307777"/>
          </a:xfrm>
          <a:prstGeom prst="rect">
            <a:avLst/>
          </a:prstGeom>
        </p:spPr>
        <p:txBody>
          <a:bodyPr wrap="none">
            <a:spAutoFit/>
          </a:bodyPr>
          <a:lstStyle/>
          <a:p>
            <a:r>
              <a:rPr lang="ru-RU" sz="1400" dirty="0"/>
              <a:t>https://xang1234.github.io/prophet/</a:t>
            </a:r>
          </a:p>
        </p:txBody>
      </p:sp>
      <p:sp>
        <p:nvSpPr>
          <p:cNvPr id="5" name="Прямоугольник 4"/>
          <p:cNvSpPr/>
          <p:nvPr/>
        </p:nvSpPr>
        <p:spPr>
          <a:xfrm>
            <a:off x="120080" y="6296932"/>
            <a:ext cx="6096000" cy="276999"/>
          </a:xfrm>
          <a:prstGeom prst="rect">
            <a:avLst/>
          </a:prstGeom>
        </p:spPr>
        <p:txBody>
          <a:bodyPr>
            <a:spAutoFit/>
          </a:bodyPr>
          <a:lstStyle/>
          <a:p>
            <a:r>
              <a:rPr lang="ru-RU" sz="1200" dirty="0"/>
              <a:t>https://</a:t>
            </a:r>
            <a:r>
              <a:rPr lang="ru-RU" sz="1200" dirty="0" smtClean="0"/>
              <a:t>mlcourse.ai/book/topic09/</a:t>
            </a:r>
            <a:endParaRPr lang="ru-RU" sz="1200" dirty="0"/>
          </a:p>
        </p:txBody>
      </p:sp>
      <p:sp>
        <p:nvSpPr>
          <p:cNvPr id="6" name="Прямоугольник 5"/>
          <p:cNvSpPr/>
          <p:nvPr/>
        </p:nvSpPr>
        <p:spPr>
          <a:xfrm>
            <a:off x="120080" y="6072141"/>
            <a:ext cx="2631041" cy="276999"/>
          </a:xfrm>
          <a:prstGeom prst="rect">
            <a:avLst/>
          </a:prstGeom>
        </p:spPr>
        <p:txBody>
          <a:bodyPr wrap="none">
            <a:spAutoFit/>
          </a:bodyPr>
          <a:lstStyle/>
          <a:p>
            <a:r>
              <a:rPr lang="ru-RU" sz="1200" dirty="0"/>
              <a:t>https://github.com/Anagatam/Chronos</a:t>
            </a:r>
          </a:p>
        </p:txBody>
      </p:sp>
      <p:sp>
        <p:nvSpPr>
          <p:cNvPr id="7" name="Прямоугольник 6"/>
          <p:cNvSpPr/>
          <p:nvPr/>
        </p:nvSpPr>
        <p:spPr>
          <a:xfrm>
            <a:off x="120080" y="5876952"/>
            <a:ext cx="3630738" cy="276999"/>
          </a:xfrm>
          <a:prstGeom prst="rect">
            <a:avLst/>
          </a:prstGeom>
        </p:spPr>
        <p:txBody>
          <a:bodyPr wrap="none">
            <a:spAutoFit/>
          </a:bodyPr>
          <a:lstStyle/>
          <a:p>
            <a:r>
              <a:rPr lang="ru-RU" sz="1200" dirty="0"/>
              <a:t>https://juanitorduz.github.io/short_time_series_pymc/</a:t>
            </a:r>
          </a:p>
        </p:txBody>
      </p:sp>
      <p:sp>
        <p:nvSpPr>
          <p:cNvPr id="8" name="Прямоугольник 7"/>
          <p:cNvSpPr/>
          <p:nvPr/>
        </p:nvSpPr>
        <p:spPr>
          <a:xfrm>
            <a:off x="120080" y="6529684"/>
            <a:ext cx="2904000" cy="276999"/>
          </a:xfrm>
          <a:prstGeom prst="rect">
            <a:avLst/>
          </a:prstGeom>
        </p:spPr>
        <p:txBody>
          <a:bodyPr wrap="none">
            <a:spAutoFit/>
          </a:bodyPr>
          <a:lstStyle/>
          <a:p>
            <a:r>
              <a:rPr lang="ru-RU" sz="1200" dirty="0"/>
              <a:t>https://github.com/luke14free/pm-prophet</a:t>
            </a:r>
          </a:p>
        </p:txBody>
      </p:sp>
      <p:sp>
        <p:nvSpPr>
          <p:cNvPr id="9" name="Прямоугольник 8"/>
          <p:cNvSpPr/>
          <p:nvPr/>
        </p:nvSpPr>
        <p:spPr>
          <a:xfrm>
            <a:off x="3049893" y="6081488"/>
            <a:ext cx="6096000" cy="430887"/>
          </a:xfrm>
          <a:prstGeom prst="rect">
            <a:avLst/>
          </a:prstGeom>
        </p:spPr>
        <p:txBody>
          <a:bodyPr>
            <a:spAutoFit/>
          </a:bodyPr>
          <a:lstStyle/>
          <a:p>
            <a:r>
              <a:rPr lang="ru-RU" sz="1050" dirty="0"/>
              <a:t>https://www.pymc.io/projects/examples/en/latest/time_series/Air_passengers-Prophet_with_Bayesian_workflow.html</a:t>
            </a:r>
          </a:p>
        </p:txBody>
      </p:sp>
      <p:sp>
        <p:nvSpPr>
          <p:cNvPr id="10" name="Прямоугольник 9"/>
          <p:cNvSpPr/>
          <p:nvPr/>
        </p:nvSpPr>
        <p:spPr>
          <a:xfrm>
            <a:off x="2969597" y="6573931"/>
            <a:ext cx="2383986" cy="261610"/>
          </a:xfrm>
          <a:prstGeom prst="rect">
            <a:avLst/>
          </a:prstGeom>
        </p:spPr>
        <p:txBody>
          <a:bodyPr wrap="none">
            <a:spAutoFit/>
          </a:bodyPr>
          <a:lstStyle/>
          <a:p>
            <a:r>
              <a:rPr lang="ru-RU" sz="1100" dirty="0"/>
              <a:t>https://github.com/wwrechard/pydlm</a:t>
            </a:r>
          </a:p>
        </p:txBody>
      </p:sp>
      <p:sp>
        <p:nvSpPr>
          <p:cNvPr id="11" name="Прямоугольник 10"/>
          <p:cNvSpPr/>
          <p:nvPr/>
        </p:nvSpPr>
        <p:spPr>
          <a:xfrm>
            <a:off x="3750818" y="5876951"/>
            <a:ext cx="2854756" cy="276999"/>
          </a:xfrm>
          <a:prstGeom prst="rect">
            <a:avLst/>
          </a:prstGeom>
        </p:spPr>
        <p:txBody>
          <a:bodyPr wrap="none">
            <a:spAutoFit/>
          </a:bodyPr>
          <a:lstStyle/>
          <a:p>
            <a:r>
              <a:rPr lang="ru-RU" sz="1200" dirty="0"/>
              <a:t>https://github.com/jmschrei/pomegranate</a:t>
            </a:r>
          </a:p>
        </p:txBody>
      </p:sp>
      <p:sp>
        <p:nvSpPr>
          <p:cNvPr id="12" name="Прямоугольник 11"/>
          <p:cNvSpPr/>
          <p:nvPr/>
        </p:nvSpPr>
        <p:spPr>
          <a:xfrm>
            <a:off x="2702280" y="5666220"/>
            <a:ext cx="6096000" cy="261610"/>
          </a:xfrm>
          <a:prstGeom prst="rect">
            <a:avLst/>
          </a:prstGeom>
        </p:spPr>
        <p:txBody>
          <a:bodyPr>
            <a:spAutoFit/>
          </a:bodyPr>
          <a:lstStyle/>
          <a:p>
            <a:r>
              <a:rPr lang="ru-RU" sz="1100" dirty="0"/>
              <a:t>https://neuralprophet.com/science-behind/model-overview.html</a:t>
            </a:r>
          </a:p>
        </p:txBody>
      </p:sp>
    </p:spTree>
    <p:extLst>
      <p:ext uri="{BB962C8B-B14F-4D97-AF65-F5344CB8AC3E}">
        <p14:creationId xmlns:p14="http://schemas.microsoft.com/office/powerpoint/2010/main" val="896247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600" b="1" dirty="0"/>
              <a:t>Обобщенная адаптивная модель</a:t>
            </a:r>
            <a:r>
              <a:rPr lang="en-US" sz="3600" b="1" dirty="0"/>
              <a:t> (</a:t>
            </a:r>
            <a:r>
              <a:rPr lang="ru-RU" sz="3600" b="1" dirty="0"/>
              <a:t>регрессия</a:t>
            </a:r>
            <a:r>
              <a:rPr lang="en-US" sz="3600" b="1" dirty="0"/>
              <a:t>). Prophet</a:t>
            </a:r>
            <a:endParaRPr lang="ru-RU" sz="3600" b="1"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56373" y="846034"/>
                <a:ext cx="11835925" cy="5245471"/>
              </a:xfrm>
            </p:spPr>
            <p:txBody>
              <a:bodyPr>
                <a:noAutofit/>
              </a:bodyPr>
              <a:lstStyle/>
              <a:p>
                <a:r>
                  <a:rPr lang="en-US" sz="2000" dirty="0"/>
                  <a:t> </a:t>
                </a:r>
                <a14:m>
                  <m:oMath xmlns:m="http://schemas.openxmlformats.org/officeDocument/2006/math">
                    <m:r>
                      <a:rPr lang="en-US" sz="2000" i="1">
                        <a:latin typeface="Cambria Math" panose="02040503050406030204" pitchFamily="18" charset="0"/>
                      </a:rPr>
                      <m:t>𝑠𝑒𝑎𝑠𝑜𝑛𝑎𝑙</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t> </a:t>
                </a:r>
                <a:r>
                  <a:rPr lang="ru-RU" sz="2000" dirty="0"/>
                  <a:t>регулярное периодическое изменение. 6-х дневные сезонности (понедельник, вторник, среда, четверг, пятница, суббота) моделируются как 0 и 1, воскресенье моделируются как линейная комбинация дней предыдущих размеров. неделя, месяц и годы, несколько сезонностей, смоделированных в виде ряда Фурье</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𝑠𝑒𝑎𝑠𝑜𝑛𝑎𝑙</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nary>
                        <m:naryPr>
                          <m:chr m:val="∑"/>
                          <m:limLoc m:val="undOvr"/>
                          <m:ctrlPr>
                            <a:rPr lang="ru-RU" sz="2000" i="1">
                              <a:latin typeface="Cambria Math" panose="02040503050406030204" pitchFamily="18" charset="0"/>
                            </a:rPr>
                          </m:ctrlPr>
                        </m:naryPr>
                        <m:sub>
                          <m:r>
                            <a:rPr lang="en-US" sz="2000" i="1">
                              <a:latin typeface="Cambria Math" panose="02040503050406030204" pitchFamily="18" charset="0"/>
                            </a:rPr>
                            <m:t>𝑛</m:t>
                          </m:r>
                          <m:r>
                            <a:rPr lang="en-US" sz="2000" i="1">
                              <a:latin typeface="Cambria Math" panose="02040503050406030204" pitchFamily="18" charset="0"/>
                            </a:rPr>
                            <m:t>=1</m:t>
                          </m:r>
                        </m:sub>
                        <m:sup>
                          <m:r>
                            <a:rPr lang="en-US" sz="2000" i="1">
                              <a:latin typeface="Cambria Math" panose="02040503050406030204" pitchFamily="18" charset="0"/>
                            </a:rPr>
                            <m:t>𝑁</m:t>
                          </m:r>
                        </m:sup>
                        <m:e>
                          <m:r>
                            <a:rPr lang="en-US" sz="2000" i="1">
                              <a:latin typeface="Cambria Math" panose="02040503050406030204" pitchFamily="18" charset="0"/>
                            </a:rPr>
                            <m:t>(</m:t>
                          </m:r>
                        </m:e>
                      </m:nary>
                      <m:sSub>
                        <m:sSubPr>
                          <m:ctrlPr>
                            <a:rPr lang="ru-RU"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𝑛</m:t>
                          </m:r>
                        </m:sub>
                      </m:sSub>
                      <m:r>
                        <m:rPr>
                          <m:nor/>
                        </m:rPr>
                        <a:rPr lang="en-US" sz="2000"/>
                        <m:t>cos</m:t>
                      </m:r>
                      <m:r>
                        <a:rPr lang="en-US" sz="2000" i="1">
                          <a:latin typeface="Cambria Math" panose="02040503050406030204" pitchFamily="18" charset="0"/>
                        </a:rPr>
                        <m:t>(2</m:t>
                      </m:r>
                      <m:r>
                        <a:rPr lang="en-US" sz="2000" i="1">
                          <a:latin typeface="Cambria Math" panose="02040503050406030204" pitchFamily="18" charset="0"/>
                        </a:rPr>
                        <m:t>𝜋</m:t>
                      </m:r>
                      <m:r>
                        <a:rPr lang="en-US" sz="2000" i="1">
                          <a:latin typeface="Cambria Math" panose="02040503050406030204" pitchFamily="18" charset="0"/>
                        </a:rPr>
                        <m:t>𝑛𝑥</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𝑛</m:t>
                          </m:r>
                        </m:sub>
                      </m:sSub>
                      <m:r>
                        <m:rPr>
                          <m:nor/>
                        </m:rPr>
                        <a:rPr lang="en-US" sz="2000"/>
                        <m:t>sin</m:t>
                      </m:r>
                      <m:r>
                        <a:rPr lang="en-US" sz="2000" i="1">
                          <a:latin typeface="Cambria Math" panose="02040503050406030204" pitchFamily="18" charset="0"/>
                        </a:rPr>
                        <m:t>(2</m:t>
                      </m:r>
                      <m:r>
                        <a:rPr lang="en-US" sz="2000" i="1">
                          <a:latin typeface="Cambria Math" panose="02040503050406030204" pitchFamily="18" charset="0"/>
                        </a:rPr>
                        <m:t>𝜋</m:t>
                      </m:r>
                      <m:r>
                        <a:rPr lang="en-US" sz="2000" i="1">
                          <a:latin typeface="Cambria Math" panose="02040503050406030204" pitchFamily="18" charset="0"/>
                        </a:rPr>
                        <m:t>𝑛𝑥</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oMath>
                  </m:oMathPara>
                </a14:m>
                <a:endParaRPr lang="ru-RU" sz="2000" dirty="0"/>
              </a:p>
              <a:p>
                <a:r>
                  <a:rPr lang="ru-RU" sz="2000" dirty="0"/>
                  <a:t>где</a:t>
                </a:r>
                <a:r>
                  <a:rPr lang="en-US" sz="2000" dirty="0"/>
                  <a:t> </a:t>
                </a:r>
                <a14:m>
                  <m:oMath xmlns:m="http://schemas.openxmlformats.org/officeDocument/2006/math">
                    <m:r>
                      <a:rPr lang="en-US" sz="2000" i="1">
                        <a:latin typeface="Cambria Math" panose="02040503050406030204" pitchFamily="18" charset="0"/>
                      </a:rPr>
                      <m:t>𝑃</m:t>
                    </m:r>
                  </m:oMath>
                </a14:m>
                <a:r>
                  <a:rPr lang="en-US" sz="2000" dirty="0"/>
                  <a:t> </a:t>
                </a:r>
                <a:r>
                  <a:rPr lang="ru-RU" sz="2000" dirty="0"/>
                  <a:t>– период в днях </a:t>
                </a:r>
                <a:r>
                  <a:rPr lang="en-US" sz="2000" dirty="0"/>
                  <a:t>(365.25 </a:t>
                </a:r>
                <a:r>
                  <a:rPr lang="ru-RU" sz="2000" dirty="0"/>
                  <a:t>для года</a:t>
                </a:r>
                <a:r>
                  <a:rPr lang="en-US" sz="2000" dirty="0"/>
                  <a:t>, 7 </a:t>
                </a:r>
                <a:r>
                  <a:rPr lang="ru-RU" sz="2000" dirty="0"/>
                  <a:t>для недели</a:t>
                </a:r>
                <a:r>
                  <a:rPr lang="en-US" sz="2000" dirty="0"/>
                  <a:t>);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𝑛</m:t>
                        </m:r>
                      </m:sub>
                    </m:sSub>
                  </m:oMath>
                </a14:m>
                <a:r>
                  <a:rPr lang="en-US" sz="2000" dirty="0"/>
                  <a:t> </a:t>
                </a:r>
                <a:r>
                  <a:rPr lang="ru-RU" sz="2000" dirty="0"/>
                  <a:t>и</a:t>
                </a:r>
                <a:r>
                  <a:rPr lang="en-US" sz="2000" dirty="0"/>
                  <a:t>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𝑛</m:t>
                        </m:r>
                      </m:sub>
                    </m:sSub>
                  </m:oMath>
                </a14:m>
                <a:r>
                  <a:rPr lang="en-US" sz="2000" dirty="0"/>
                  <a:t> </a:t>
                </a:r>
                <a:r>
                  <a:rPr lang="ru-RU" sz="2000" dirty="0"/>
                  <a:t>оцениваемые параметры</a:t>
                </a:r>
                <a:r>
                  <a:rPr lang="en-US" sz="2000" dirty="0"/>
                  <a:t>. </a:t>
                </a:r>
              </a:p>
              <a:p>
                <a:pPr lvl="1"/>
                <a:r>
                  <a:rPr lang="ru-RU" sz="1600" dirty="0"/>
                  <a:t>Отметим, что важно выбрать правильно число компонент иначе можно переобучить модель.</a:t>
                </a:r>
              </a:p>
              <a:p>
                <a:r>
                  <a:rPr lang="en-US" sz="2000" dirty="0"/>
                  <a:t> </a:t>
                </a:r>
                <a14:m>
                  <m:oMath xmlns:m="http://schemas.openxmlformats.org/officeDocument/2006/math">
                    <m:r>
                      <a:rPr lang="en-US" sz="2000" i="1">
                        <a:latin typeface="Cambria Math" panose="02040503050406030204" pitchFamily="18" charset="0"/>
                      </a:rPr>
                      <m:t>h𝑜𝑙𝑦𝑑𝑎𝑦𝑠</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t> </a:t>
                </a:r>
                <a:r>
                  <a:rPr lang="ru-RU" sz="2000" dirty="0"/>
                  <a:t>редкие, но регулярные события </a:t>
                </a:r>
              </a:p>
              <a:p>
                <a:pPr marL="0" indent="0">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h𝑜𝑙𝑦𝑑𝑎𝑦𝑠</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𝑥</m:t>
                          </m:r>
                        </m:e>
                      </m:d>
                      <m:r>
                        <a:rPr lang="en-US" sz="2000" i="1" dirty="0">
                          <a:latin typeface="Cambria Math" panose="02040503050406030204" pitchFamily="18" charset="0"/>
                        </a:rPr>
                        <m:t>= </m:t>
                      </m:r>
                      <m:r>
                        <a:rPr lang="en-US" sz="2000" i="1" dirty="0">
                          <a:latin typeface="Cambria Math" panose="02040503050406030204" pitchFamily="18" charset="0"/>
                        </a:rPr>
                        <m:t>𝑍</m:t>
                      </m:r>
                      <m:d>
                        <m:dPr>
                          <m:ctrlPr>
                            <a:rPr lang="en-US" sz="2000" i="1" dirty="0">
                              <a:latin typeface="Cambria Math" panose="02040503050406030204" pitchFamily="18" charset="0"/>
                            </a:rPr>
                          </m:ctrlPr>
                        </m:dPr>
                        <m:e>
                          <m:r>
                            <a:rPr lang="en-US" sz="2000" i="1" dirty="0">
                              <a:latin typeface="Cambria Math" panose="02040503050406030204" pitchFamily="18" charset="0"/>
                            </a:rPr>
                            <m:t>𝑥</m:t>
                          </m:r>
                        </m:e>
                      </m:d>
                      <m:r>
                        <a:rPr lang="en-US" sz="2000" i="1" dirty="0">
                          <a:latin typeface="Cambria Math" panose="02040503050406030204" pitchFamily="18" charset="0"/>
                        </a:rPr>
                        <m:t>𝑘</m:t>
                      </m:r>
                      <m:r>
                        <a:rPr lang="en-US" sz="2000" i="1" dirty="0">
                          <a:latin typeface="Cambria Math" panose="02040503050406030204" pitchFamily="18" charset="0"/>
                        </a:rPr>
                        <m:t>,  </m:t>
                      </m:r>
                      <m:r>
                        <a:rPr lang="en-US" sz="2000" i="1" dirty="0" smtClean="0">
                          <a:latin typeface="Cambria Math" panose="02040503050406030204" pitchFamily="18" charset="0"/>
                        </a:rPr>
                        <m:t>𝑍</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a:latin typeface="Cambria Math" panose="02040503050406030204" pitchFamily="18" charset="0"/>
                        </a:rPr>
                        <m:t>) = [1(</m:t>
                      </m:r>
                      <m:r>
                        <a:rPr lang="en-US" sz="2000" i="1" dirty="0">
                          <a:latin typeface="Cambria Math" panose="02040503050406030204" pitchFamily="18" charset="0"/>
                        </a:rPr>
                        <m:t>𝑡</m:t>
                      </m:r>
                      <m:r>
                        <a:rPr lang="en-US" sz="2000" i="1" dirty="0" smtClean="0">
                          <a:latin typeface="Cambria Math" panose="02040503050406030204" pitchFamily="18" charset="0"/>
                        </a:rPr>
                        <m:t>∈</m:t>
                      </m:r>
                      <m:r>
                        <a:rPr lang="en-US" sz="2000" i="1" dirty="0">
                          <a:latin typeface="Cambria Math" panose="02040503050406030204" pitchFamily="18"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1</m:t>
                          </m:r>
                        </m:sub>
                      </m:sSub>
                      <m:r>
                        <a:rPr lang="en-US" sz="2000" i="1" dirty="0">
                          <a:latin typeface="Cambria Math" panose="02040503050406030204" pitchFamily="18" charset="0"/>
                        </a:rPr>
                        <m:t>),1(</m:t>
                      </m:r>
                      <m:r>
                        <a:rPr lang="en-US" sz="2000" i="1" dirty="0">
                          <a:latin typeface="Cambria Math" panose="02040503050406030204" pitchFamily="18" charset="0"/>
                        </a:rPr>
                        <m:t>𝑡</m:t>
                      </m:r>
                      <m:r>
                        <a:rPr lang="en-US" sz="2000" i="1" dirty="0" smtClean="0">
                          <a:latin typeface="Cambria Math" panose="02040503050406030204" pitchFamily="18" charset="0"/>
                        </a:rPr>
                        <m:t>∈</m:t>
                      </m:r>
                      <m:r>
                        <a:rPr lang="en-US" sz="2000" i="1" dirty="0">
                          <a:latin typeface="Cambria Math" panose="02040503050406030204" pitchFamily="18"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𝐷</m:t>
                          </m:r>
                        </m:e>
                        <m:sub>
                          <m:r>
                            <a:rPr lang="en-US" sz="2000" i="1" dirty="0">
                              <a:latin typeface="Cambria Math" panose="02040503050406030204" pitchFamily="18" charset="0"/>
                            </a:rPr>
                            <m:t>2</m:t>
                          </m:r>
                        </m:sub>
                      </m:sSub>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b="0" i="1" dirty="0" smtClean="0">
                          <a:latin typeface="Cambria Math" panose="02040503050406030204" pitchFamily="18" charset="0"/>
                        </a:rPr>
                        <m:t> </m:t>
                      </m:r>
                      <m:r>
                        <a:rPr lang="en-US" sz="2000" i="1" dirty="0" smtClean="0">
                          <a:latin typeface="Cambria Math" panose="02040503050406030204" pitchFamily="18" charset="0"/>
                        </a:rPr>
                        <m:t>,</m:t>
                      </m:r>
                    </m:oMath>
                  </m:oMathPara>
                </a14:m>
                <a:endParaRPr lang="ru-RU" sz="2000" dirty="0"/>
              </a:p>
              <a:p>
                <a:r>
                  <a:rPr lang="ru-RU" sz="2000" dirty="0"/>
                  <a:t>где </a:t>
                </a:r>
                <a14:m>
                  <m:oMath xmlns:m="http://schemas.openxmlformats.org/officeDocument/2006/math">
                    <m:sSub>
                      <m:sSubPr>
                        <m:ctrlPr>
                          <a:rPr lang="ru-RU" sz="2000" i="1" dirty="0" smtClean="0">
                            <a:latin typeface="Cambria Math" panose="02040503050406030204" pitchFamily="18" charset="0"/>
                          </a:rPr>
                        </m:ctrlPr>
                      </m:sSubPr>
                      <m:e>
                        <m:r>
                          <a:rPr lang="ru-RU" sz="2000" i="1" dirty="0" smtClean="0">
                            <a:latin typeface="Cambria Math" panose="02040503050406030204" pitchFamily="18" charset="0"/>
                          </a:rPr>
                          <m:t>𝐷</m:t>
                        </m:r>
                      </m:e>
                      <m:sub>
                        <m:r>
                          <a:rPr lang="ru-RU" sz="2000" i="1" dirty="0" smtClean="0">
                            <a:latin typeface="Cambria Math" panose="02040503050406030204" pitchFamily="18" charset="0"/>
                          </a:rPr>
                          <m:t>𝑖</m:t>
                        </m:r>
                      </m:sub>
                    </m:sSub>
                    <m:r>
                      <a:rPr lang="ru-RU" sz="2000" i="1" dirty="0" smtClean="0">
                        <a:latin typeface="Cambria Math" panose="02040503050406030204" pitchFamily="18" charset="0"/>
                      </a:rPr>
                      <m:t> </m:t>
                    </m:r>
                  </m:oMath>
                </a14:m>
                <a:r>
                  <a:rPr lang="ru-RU" sz="2000" dirty="0"/>
                  <a:t>- продолжительность выходных; k - нормальное распределение с СКО как параметр и нулевым сдернем значением; 𝑛𝑜𝑖𝑠𝑒 (𝑥) - </a:t>
                </a:r>
                <a:r>
                  <a:rPr lang="ru-RU" sz="2000" dirty="0" err="1"/>
                  <a:t>i.i.d</a:t>
                </a:r>
                <a:r>
                  <a:rPr lang="ru-RU" sz="2000" dirty="0"/>
                  <a:t>. - </a:t>
                </a:r>
                <a:r>
                  <a:rPr lang="ru-RU" sz="2000" dirty="0" err="1"/>
                  <a:t>Гауссовсы</a:t>
                </a:r>
                <a:r>
                  <a:rPr lang="ru-RU" sz="2000" dirty="0"/>
                  <a:t> шумы.</a:t>
                </a:r>
              </a:p>
              <a:p>
                <a:r>
                  <a:rPr lang="ru-RU" sz="2000" dirty="0"/>
                  <a:t>Примечание. В некоторых источниках вы можете увидеть следующее обозначение</a:t>
                </a:r>
                <a:endParaRPr lang="ru-RU" sz="2000" i="1" dirty="0">
                  <a:latin typeface="Cambria Math" panose="02040503050406030204" pitchFamily="18" charset="0"/>
                </a:endParaRPr>
              </a:p>
              <a:p>
                <a14:m>
                  <m:oMath xmlns:m="http://schemas.openxmlformats.org/officeDocument/2006/math">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𝑡𝑟𝑒𝑛𝑑</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𝑠𝑒𝑎𝑠𝑜𝑛𝑎𝑙</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h𝑜𝑙𝑦𝑑𝑎𝑦𝑠</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𝑢𝑠𝑒𝑟</m:t>
                    </m:r>
                    <m:r>
                      <a:rPr lang="en-US" sz="2000" i="1">
                        <a:latin typeface="Cambria Math" panose="02040503050406030204" pitchFamily="18" charset="0"/>
                      </a:rPr>
                      <m:t>_</m:t>
                    </m:r>
                    <m:r>
                      <a:rPr lang="en-US" sz="2000" i="1">
                        <a:latin typeface="Cambria Math" panose="02040503050406030204" pitchFamily="18" charset="0"/>
                      </a:rPr>
                      <m:t>𝑟𝑒𝑔𝑟𝑒𝑠𝑠𝑜𝑟</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𝑛𝑜𝑖𝑠𝑒</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endParaRPr lang="ru-RU" sz="2000" dirty="0"/>
              </a:p>
              <a:p>
                <a:r>
                  <a:rPr lang="ru-RU" sz="2000" dirty="0"/>
                  <a:t>где</a:t>
                </a:r>
                <a:r>
                  <a:rPr lang="en-US" sz="2000" dirty="0"/>
                  <a:t> </a:t>
                </a:r>
                <a14:m>
                  <m:oMath xmlns:m="http://schemas.openxmlformats.org/officeDocument/2006/math">
                    <m:r>
                      <a:rPr lang="en-US" sz="2000" i="1">
                        <a:latin typeface="Cambria Math" panose="02040503050406030204" pitchFamily="18" charset="0"/>
                      </a:rPr>
                      <m:t>𝑢𝑠𝑒𝑟</m:t>
                    </m:r>
                    <m:r>
                      <a:rPr lang="en-US" sz="2000" i="1">
                        <a:latin typeface="Cambria Math" panose="02040503050406030204" pitchFamily="18" charset="0"/>
                      </a:rPr>
                      <m:t>_</m:t>
                    </m:r>
                    <m:r>
                      <a:rPr lang="en-US" sz="2000" i="1">
                        <a:latin typeface="Cambria Math" panose="02040503050406030204" pitchFamily="18" charset="0"/>
                      </a:rPr>
                      <m:t>𝑟𝑒𝑔𝑟𝑒𝑠𝑠𝑜𝑟</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t> </a:t>
                </a:r>
                <a:r>
                  <a:rPr lang="ru-RU" sz="2000" dirty="0"/>
                  <a:t>являются регрессорами, которые не описываются другими моделями (в уравнении в большинстве источников компонент включает неявно).</a:t>
                </a:r>
                <a:r>
                  <a:rPr lang="en-US" sz="2000" dirty="0"/>
                  <a:t> </a:t>
                </a:r>
              </a:p>
              <a:p>
                <a:pPr lvl="1"/>
                <a:r>
                  <a:rPr lang="ru-RU" sz="1600" dirty="0"/>
                  <a:t>В</a:t>
                </a:r>
                <a14:m>
                  <m:oMath xmlns:m="http://schemas.openxmlformats.org/officeDocument/2006/math">
                    <m:r>
                      <a:rPr lang="ru-RU" sz="1600" b="0" i="0" smtClean="0">
                        <a:latin typeface="Cambria Math" panose="02040503050406030204" pitchFamily="18" charset="0"/>
                      </a:rPr>
                      <m:t> предыд</m:t>
                    </m:r>
                    <m:r>
                      <a:rPr lang="ru-RU" sz="1600" b="0" i="1" smtClean="0">
                        <a:latin typeface="Cambria Math" panose="02040503050406030204" pitchFamily="18" charset="0"/>
                      </a:rPr>
                      <m:t>ущей нотации </m:t>
                    </m:r>
                    <m:r>
                      <a:rPr lang="en-US" sz="1600" i="1">
                        <a:latin typeface="Cambria Math" panose="02040503050406030204" pitchFamily="18" charset="0"/>
                      </a:rPr>
                      <m:t>𝑢𝑠𝑒𝑟</m:t>
                    </m:r>
                    <m:r>
                      <a:rPr lang="en-US" sz="1600" i="1">
                        <a:latin typeface="Cambria Math" panose="02040503050406030204" pitchFamily="18" charset="0"/>
                      </a:rPr>
                      <m:t>_</m:t>
                    </m:r>
                    <m:r>
                      <a:rPr lang="en-US" sz="1600" i="1">
                        <a:latin typeface="Cambria Math" panose="02040503050406030204" pitchFamily="18" charset="0"/>
                      </a:rPr>
                      <m:t>𝑟𝑒𝑔𝑟𝑒𝑠𝑠𝑜𝑟</m:t>
                    </m:r>
                    <m:r>
                      <a:rPr lang="en-US" sz="1600" i="1">
                        <a:latin typeface="Cambria Math" panose="02040503050406030204" pitchFamily="18" charset="0"/>
                      </a:rPr>
                      <m:t>(</m:t>
                    </m:r>
                    <m:r>
                      <a:rPr lang="en-US" sz="1600" i="1">
                        <a:latin typeface="Cambria Math" panose="02040503050406030204" pitchFamily="18" charset="0"/>
                      </a:rPr>
                      <m:t>𝑥</m:t>
                    </m:r>
                    <m:r>
                      <a:rPr lang="en-US" sz="1600" i="1">
                        <a:latin typeface="Cambria Math" panose="02040503050406030204" pitchFamily="18" charset="0"/>
                      </a:rPr>
                      <m:t>)</m:t>
                    </m:r>
                  </m:oMath>
                </a14:m>
                <a:r>
                  <a:rPr lang="en-US" sz="1600" dirty="0"/>
                  <a:t> </a:t>
                </a:r>
                <a:r>
                  <a:rPr lang="ru-RU" sz="1600" dirty="0"/>
                  <a:t>часть </a:t>
                </a:r>
                <a:r>
                  <a:rPr lang="en-US" sz="1600" dirty="0"/>
                  <a:t> </a:t>
                </a:r>
                <a14:m>
                  <m:oMath xmlns:m="http://schemas.openxmlformats.org/officeDocument/2006/math">
                    <m:r>
                      <a:rPr lang="en-US" sz="1600" i="1">
                        <a:latin typeface="Cambria Math" panose="02040503050406030204" pitchFamily="18" charset="0"/>
                      </a:rPr>
                      <m:t>𝑠𝑒𝑎𝑠𝑜𝑛𝑎𝑙</m:t>
                    </m:r>
                    <m:r>
                      <a:rPr lang="en-US" sz="1600" i="1">
                        <a:latin typeface="Cambria Math" panose="02040503050406030204" pitchFamily="18" charset="0"/>
                      </a:rPr>
                      <m:t>(</m:t>
                    </m:r>
                    <m:r>
                      <a:rPr lang="en-US" sz="1600" i="1">
                        <a:latin typeface="Cambria Math" panose="02040503050406030204" pitchFamily="18" charset="0"/>
                      </a:rPr>
                      <m:t>𝑥</m:t>
                    </m:r>
                    <m:r>
                      <a:rPr lang="en-US" sz="1600" i="1">
                        <a:latin typeface="Cambria Math" panose="02040503050406030204" pitchFamily="18" charset="0"/>
                      </a:rPr>
                      <m:t>)</m:t>
                    </m:r>
                  </m:oMath>
                </a14:m>
                <a:r>
                  <a:rPr lang="en-US" sz="1600" dirty="0"/>
                  <a:t>.  </a:t>
                </a:r>
                <a:br>
                  <a:rPr lang="en-US" sz="1600" dirty="0"/>
                </a:br>
                <a:endParaRPr lang="en-US" sz="16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56373" y="846034"/>
                <a:ext cx="11835925" cy="5245471"/>
              </a:xfrm>
              <a:blipFill>
                <a:blip r:embed="rId2"/>
                <a:stretch>
                  <a:fillRect l="-463" t="-1279" b="-11395"/>
                </a:stretch>
              </a:blipFill>
            </p:spPr>
            <p:txBody>
              <a:bodyPr/>
              <a:lstStyle/>
              <a:p>
                <a:r>
                  <a:rPr lang="ru-RU">
                    <a:noFill/>
                  </a:rPr>
                  <a:t> </a:t>
                </a:r>
              </a:p>
            </p:txBody>
          </p:sp>
        </mc:Fallback>
      </mc:AlternateContent>
    </p:spTree>
    <p:extLst>
      <p:ext uri="{BB962C8B-B14F-4D97-AF65-F5344CB8AC3E}">
        <p14:creationId xmlns:p14="http://schemas.microsoft.com/office/powerpoint/2010/main" val="16545440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600" b="1" dirty="0"/>
              <a:t>Обобщенная адаптивная модель</a:t>
            </a:r>
            <a:r>
              <a:rPr lang="en-US" sz="3600" b="1" dirty="0"/>
              <a:t> (</a:t>
            </a:r>
            <a:r>
              <a:rPr lang="ru-RU" sz="3600" b="1" dirty="0"/>
              <a:t>регрессия</a:t>
            </a:r>
            <a:r>
              <a:rPr lang="en-US" sz="3600" b="1" dirty="0"/>
              <a:t>). Prophet</a:t>
            </a:r>
            <a:endParaRPr lang="ru-RU" sz="3600" dirty="0"/>
          </a:p>
        </p:txBody>
      </p:sp>
      <p:sp>
        <p:nvSpPr>
          <p:cNvPr id="3" name="Объект 2"/>
          <p:cNvSpPr>
            <a:spLocks noGrp="1"/>
          </p:cNvSpPr>
          <p:nvPr>
            <p:ph idx="1"/>
          </p:nvPr>
        </p:nvSpPr>
        <p:spPr>
          <a:xfrm>
            <a:off x="256373" y="931492"/>
            <a:ext cx="11835925" cy="5512037"/>
          </a:xfrm>
        </p:spPr>
        <p:txBody>
          <a:bodyPr>
            <a:noAutofit/>
          </a:bodyPr>
          <a:lstStyle/>
          <a:p>
            <a:r>
              <a:rPr lang="ru-RU" sz="2000" b="1" dirty="0"/>
              <a:t>Преимущества пророка</a:t>
            </a:r>
            <a:endParaRPr lang="ru-RU" sz="2000" dirty="0"/>
          </a:p>
          <a:p>
            <a:pPr lvl="1"/>
            <a:r>
              <a:rPr lang="en-US" sz="2000" b="1" dirty="0"/>
              <a:t>Prophet</a:t>
            </a:r>
            <a:r>
              <a:rPr lang="ru-RU" sz="2000" dirty="0"/>
              <a:t> может учесть несколько линейных и нелинейных признаков ряда в качестве компонент.</a:t>
            </a:r>
          </a:p>
          <a:p>
            <a:pPr lvl="1"/>
            <a:r>
              <a:rPr lang="ru-RU" sz="2000" dirty="0"/>
              <a:t>Возможность легко моделировать любое количество сезонностей.</a:t>
            </a:r>
          </a:p>
          <a:p>
            <a:pPr lvl="1"/>
            <a:r>
              <a:rPr lang="ru-RU" sz="2000" dirty="0"/>
              <a:t>Возможность работы с пропущенными датами во временных рядах.</a:t>
            </a:r>
          </a:p>
          <a:p>
            <a:pPr lvl="1"/>
            <a:r>
              <a:rPr lang="ru-RU" sz="2000" dirty="0"/>
              <a:t>Легко интегрирует праздники в модель.</a:t>
            </a:r>
          </a:p>
          <a:p>
            <a:pPr lvl="1"/>
            <a:r>
              <a:rPr lang="ru-RU" sz="2000" dirty="0"/>
              <a:t>Прозрачность модели.</a:t>
            </a:r>
          </a:p>
          <a:p>
            <a:pPr lvl="1"/>
            <a:r>
              <a:rPr lang="ru-RU" sz="2000" dirty="0"/>
              <a:t>Гибкость моделирования тренда.</a:t>
            </a:r>
          </a:p>
          <a:p>
            <a:r>
              <a:rPr lang="ru-RU" sz="2000" b="1" dirty="0"/>
              <a:t>Недостатки пророка</a:t>
            </a:r>
            <a:endParaRPr lang="ru-RU" sz="2000" dirty="0"/>
          </a:p>
          <a:p>
            <a:pPr lvl="1"/>
            <a:r>
              <a:rPr lang="ru-RU" sz="2000" dirty="0" err="1"/>
              <a:t>Prophet</a:t>
            </a:r>
            <a:r>
              <a:rPr lang="ru-RU" sz="2000" dirty="0"/>
              <a:t> не допускает </a:t>
            </a:r>
            <a:r>
              <a:rPr lang="ru-RU" sz="2000" dirty="0" err="1"/>
              <a:t>негауссовского</a:t>
            </a:r>
            <a:r>
              <a:rPr lang="ru-RU" sz="2000" dirty="0"/>
              <a:t> распределения шума</a:t>
            </a:r>
          </a:p>
          <a:p>
            <a:pPr lvl="1"/>
            <a:r>
              <a:rPr lang="ru-RU" sz="2000" dirty="0" err="1"/>
              <a:t>Prophet</a:t>
            </a:r>
            <a:r>
              <a:rPr lang="ru-RU" sz="2000" dirty="0"/>
              <a:t> не принимает во внимание автокорреляцию по невязке (поэтому требуется только распределение гауссова шума).</a:t>
            </a:r>
          </a:p>
          <a:p>
            <a:pPr lvl="1"/>
            <a:r>
              <a:rPr lang="ru-RU" sz="2000" dirty="0" err="1"/>
              <a:t>Prophet</a:t>
            </a:r>
            <a:r>
              <a:rPr lang="ru-RU" sz="2000" dirty="0"/>
              <a:t> не предполагает поведения стохастического тренда (случайного блуждания).</a:t>
            </a:r>
          </a:p>
          <a:p>
            <a:pPr lvl="1"/>
            <a:r>
              <a:rPr lang="ru-RU" sz="2000" dirty="0"/>
              <a:t>Долгосрочное прогнозирование может быть нестабильным с автоматическим выбором точки изменения тренда.</a:t>
            </a:r>
          </a:p>
        </p:txBody>
      </p:sp>
    </p:spTree>
    <p:extLst>
      <p:ext uri="{BB962C8B-B14F-4D97-AF65-F5344CB8AC3E}">
        <p14:creationId xmlns:p14="http://schemas.microsoft.com/office/powerpoint/2010/main" val="15396915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2193" y="365125"/>
            <a:ext cx="11111607" cy="828675"/>
          </a:xfrm>
        </p:spPr>
        <p:txBody>
          <a:bodyPr/>
          <a:lstStyle/>
          <a:p>
            <a:r>
              <a:rPr lang="en-US" dirty="0"/>
              <a:t>Prophet pros and cons</a:t>
            </a:r>
            <a:endParaRPr lang="ru-RU" dirty="0"/>
          </a:p>
        </p:txBody>
      </p:sp>
      <p:sp>
        <p:nvSpPr>
          <p:cNvPr id="3" name="Объект 2"/>
          <p:cNvSpPr>
            <a:spLocks noGrp="1"/>
          </p:cNvSpPr>
          <p:nvPr>
            <p:ph idx="1"/>
          </p:nvPr>
        </p:nvSpPr>
        <p:spPr>
          <a:xfrm>
            <a:off x="155575" y="1622809"/>
            <a:ext cx="6715125" cy="1530350"/>
          </a:xfrm>
        </p:spPr>
        <p:txBody>
          <a:bodyPr>
            <a:normAutofit/>
          </a:bodyPr>
          <a:lstStyle/>
          <a:p>
            <a:r>
              <a:rPr lang="ru-RU" sz="2400" dirty="0"/>
              <a:t>Быстрая работа на длинных горизонтах</a:t>
            </a:r>
          </a:p>
          <a:p>
            <a:r>
              <a:rPr lang="ru-RU" sz="2400" dirty="0"/>
              <a:t>Учет бизнес процессов с шагом до 1 дня</a:t>
            </a:r>
          </a:p>
          <a:p>
            <a:r>
              <a:rPr lang="ru-RU" sz="2400" dirty="0"/>
              <a:t>Устойчивость к шумам и выбросам</a:t>
            </a:r>
          </a:p>
        </p:txBody>
      </p:sp>
      <p:pic>
        <p:nvPicPr>
          <p:cNvPr id="4098" name="Picture 2" descr="DataTechNotes: Forecasting Time Series Data with FbProphet in Pyth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7611" y="2976114"/>
            <a:ext cx="5779291" cy="3441601"/>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5575300" y="6548635"/>
            <a:ext cx="6096000" cy="307777"/>
          </a:xfrm>
          <a:prstGeom prst="rect">
            <a:avLst/>
          </a:prstGeom>
        </p:spPr>
        <p:txBody>
          <a:bodyPr>
            <a:spAutoFit/>
          </a:bodyPr>
          <a:lstStyle/>
          <a:p>
            <a:r>
              <a:rPr lang="ru-RU" sz="1400" dirty="0"/>
              <a:t>https://www.datatechnotes.com/2022/06/forecasting-time-series-data-with.html</a:t>
            </a:r>
          </a:p>
        </p:txBody>
      </p:sp>
      <p:sp>
        <p:nvSpPr>
          <p:cNvPr id="5" name="AutoShape 4" descr="data:image/png;base64,iVBORw0KGgoAAAANSUhEUgAAAsgAAAGoCAYAAABbtxOxAAAABHNCSVQICAgIfAhkiAAAAAlwSFlzAAALEgAACxIB0t1+/AAAADh0RVh0U29mdHdhcmUAbWF0cGxvdGxpYiB2ZXJzaW9uMy4xLjAsIGh0dHA6Ly9tYXRwbG90bGliLm9yZy+17YcXAAAgAElEQVR4nOzdd5Sdd33v+/dTdi8zo+mjsXqxLBfZlgvEGIwxnJCEpsQ2cW4gmCiEk5V7MHAuiQ85HEIMKT4XcvG6RkkIDsm100yJQ+xQnBgMxmAsN9myZPUZlWl7dt9PvX/s0d4zlmTL0nR9XmuxrHl2++2fxFof/fR9vl8jDMMQEREREREBwJzrBYiIiIiIzCcKyCIiIiIikyggi4iIiIhMooAsIiIiIjKJArKIiIiIyCT2XC/gbHR0dLBixYop11zXJRKJzM2C5gntQZP2okl7Uad9aNJeNGkv6rQPTdqLpsW8F/v27WN4ePiE6ws6IK9YsYKf/vSnU64NDg7S19c3RyuaH7QHTdqLJu1FnfahSXvRpL2o0z40aS+aFvNebN68+aTXVWIhIiIiIjKJArKIiIiIyCQKyCIiIiIikyggi4iIiIhMooAsIiIiIjKJArKIiIiIyCQKyCIiIiIikyggi4iIiIhMooAsIiIiIjKJArKIiIiIyCQKyCIiIiIikyggi4iIiIhMooAsIiIiIjKJArKIiIiIyCQKyCIiIiIikyggi4iIiMic8PyAQtWb62WcQAFZRERERObEsWKN7+0eYqTkzPVSplBAFhEREZE5MV7xIIQjhepcL2UKBWQRERERmRNjFZd4xJrrZZxAAVlEREREZl0QhBRrHlHLmOulnEABWURERERmXc0PCAgxUEAWEREREaHq+jAPwzEoIIuIiIjIHKh6AQbhXC/jpBSQRURERGTWVRwfy9AJsoiIiIgIUD9BtkwFZBERERERXD+g6vrzNiDbc70AERERETl3HC3U2D1cxMDAMg2CYP7VIesEWURERERmzf6xMoWqT9Xzsc35GUXn56pEREREZNFxvIDRskNAiOOFzMMZIYBKLERERERklpQcD0IDx/MxDDCM6Fwv6aR0giwiIiIiM871A44WamCE1LwAP5jrFZ2aTpBFREREZMYNlxwGxqtETJPlbQnMedoDGXSCLCIiIiKzwDIMhksOiYhFxDLnbYs3UEAWERERkVnghyEtCZuYPf/j5/xfoYiIiIgseK4XYDB/T40nU0AWERERkRnnBMG8bev2cgrIIiIiIjLjXC/EnMd1x5MpIIuIiIjIjHP8AGsed66YTAFZRERERGbUaNkhV3XndWu3ydQHWURERERmRBiGHCnU2D4wjh+EtCUjc72k0zJjJ8gHDx7kuuuuY8OGDWzcuJEvfOELAHzqU59i6dKlbNq0iU2bNvGtb32r8ZrPfvazrFmzhvXr1/PQQw/N1NJEREREZBZUXJ8Xh4q4Qch41cM2F0bxwoydINu2zZ133slll11GoVDg8ssv54YbbgDgIx/5CB/72MemPH/Hjh3cd999PPfccwwODvKWt7yFF198EcuyZmqJIiIiIjKDKm7ASNmFEM7vSs/1ck7bjMX43t5eLrvsMgAymQwbNmxgYGDglM//xje+wc0330wsFmPlypWsWbOGxx9/fKaWJyIiIiIzrFTziFkmS1vic72U12RWapD37dvHk08+yVVXXcWjjz7KF7/4Rf7mb/6GzZs3c+edd9LW1sbAwABXX3114zX9/f0nDdTbtm1j27ZtABw5coTBwcEpjw8NDc3sl1kAtAdN2osm7UWd9qFJe9GkvajTPjRpL5rOdC+CMGT7oXGilkmxduqb88qOj12NMBgUz3SJ027GA3KxWGTLli18/vOfJ5vN8tu//dt88pOfxDAMPvnJT/LRj36UL3/5y4RheMJrjZPc6bh161a2bt0KwObNm+nr6zvhOSe7dq7RHjRpL5q0F3XahybtRZP2ok770KS9aDqTvSjVPKIFm85U7BWfZ1U92jJR+nqyZ7q8aTejldKu67JlyxZuueUW3vOe9wDQ3d2NZVmYpslv/uZvNsoo+vv7OXjwYOO1hw4d0h9MERERkQXKDUIIF0Zbt5ebsYAchiG33norGzZs4LbbbmtcP3z4cOPXX/va17jwwgsBeMc73sF9991HrVZj79697Nq1iyuvvHKmliciIiIiM8j1AzBOrBBYCGasxOLRRx/lq1/9KhdddBGbNm0C4I477uDee+9l+/btGIbBihUr+NKXvgTAxo0bufHGG7nggguwbZu77rpLHSxEREREFpgwDPGDEMcLMFiYJ8gzFpCvueaak9YVv/3tbz/la26//XZuv/32mVqSiIiIiMygqutztFBj72iZznQM21RAFhEREZFz2LFCjUPjVY4VHSzTWLABeWGMMxERERGReW+s4lKoekBIqeaTiCzMclkFZBERERE5KxXXByBXccnXPFJRm7Fq/RR5IVJAFhEREZEzEoYhuYrLD/eNkqu4VDyfzlSE7nSUNe2puV7eGVMNsoiIiIickX2jZQbzNXJll3zVhRCy8QjAAu1fUacTZBERERE5I4P5GhXXp+YHlGo+nGQK8kKkgCwiIiIiZ8TxA6quj4lBwanfnLcYKCCLiIiIyBlx/ICS42Oa4HgBC7uwokk1yCIiIiLymuQqLumoRRhAVzqKaRh4QYhOkEVERETknJOvuvzsUI6SU2/tlo1HiNsmYxWXhL0w+x6/nE6QRUREROS0PH+kwFDJYajkMFp2G/fk2ZZJbyZGxFocZ6+L41uIiIiIyIzZNVSk5vmUXZ+jhRodySjHilXCSRUViyUcg06QRUREROQUDoyV2TdcglSUznSMkJCeTAzThKLjL5aubidYPFFfRERERKZVzQ0YqzgUaj5V18fxQizTIGaZjJRckpHFUXP8cgrIIiIiIjLFk4fGOZyvYphQqNbDcdHxqPkBlgGGYdDfEicZXZwBWSUWIiIiIjJFruJgWwa2YRC3TRIRi1zFxfEDMhOhOGYv3nPWxfvNREREROQ1C4KQmheSr7pU/YC4bdKZjjJUdPCDEGOxFh5PohNkERERkXNcEISEgGUaHMlX8YKAimsQMQNM08A0DNwgPGdOVs+V7ykiIiIip7B7uMjTg+NUXJ+nj+TpTEXx/ICq52NNnBhnohYFx5vjlc4OnSCLiIiInOPyNY/xqkex5gEGtmViGAY1r1lSkY1HyMYjc7vQWaKALCIiInIOGys7jFc9SjWfkZLTKC8IJqaA2Iu/5PgEKrEQEREROcc8PZinWPPwg5CfHhxnqOgQsUyGS06jO0XNC6i6Piggi4iIiMhi5ngBh/NV9oyUqLg+fhiwtiNFwjYZLTvEJ4Z/VL2AiufP8WrnhkosRERERM4hPzs0TtXzGRivsiQZJQwnbsKL22TizWjY3xLHMKCaK83VUueMTpBFREREzhF+EJKruFTdAIBjRQfrFCUUiYhF3F6ck/JejQKyiIiIyDnC9QP8MOC81gSmAcWat6gn4p0plViIiIiILGKOF3AoVyFqGySjNpZpErNNKq5JoebSmYrN9RLnHQVkERERkUVsrOKy/XAezw9Y15GG4+3bTIN8zaMnE5/jFc4/CsgiIiIii9DgeJVC1cULQ1rjNhHTJFd1Od63LR2zWR1Jze0i5ykFZBEREZFF6EihSsX1MTCI2xZRy2C47NCaaE7Ds8xzsMnxaVBAFhEREVmESjWfIAxxg4CWuI1hGKo3Pk0KyCIiIiKLTBiGVLwAywDPDzENnRS/FgrIIiIiIotIEIQMlRz8ICA0jHNyVPTZUkAWERERWUT2j5V5ejBPxDKp+QEqM37tFJBFREREFpGy65ON22RiNsWaTyJ6bk7DOxsKyCIiIiKLSM0NsE0TwzDIxBX1zoR2TURERGQRKFQ9jhaqVL1A7dvOkgKyiIiIyCLw0kiJkZKDaRgkVVZxVsy5XoCIiIiInB0/CDlWqFHzA2oT7d3kzOkEWURERGSBy1Vc/DDEC0IsI8RQ3+OzooAsIiIisoBVXJ+nBvNkYjZVNyAknOslLXgzVmJx8OBBrrvuOjZs2MDGjRv5whe+AMDHP/5xzj//fC6++GLe/e53k8vlANi3bx+JRIJNmzaxadMmPvShD83U0kRERETmvWOFGp4fnPLxIKgH4dGSg+P7JCIWbckIS5LR2VriojVjAdm2be68806ef/55HnvsMe666y527NjBDTfcwLPPPsvTTz/NunXr+OxnP9t4zerVq9m+fTvbt2/n7rvvnqmliYiIiMxrR/NVHj8wxljFBeDAWJmxstN4PFdx+fGBMUZKDoWaR9TSbWXTacZKLHp7e+nt7QUgk8mwYcMGBgYGeOtb39p4ztVXX80//dM/zdQSRERERBYMzw94+nCe87vS7DhWxDIN9o2WSUUtnh7Mk4nb9GbidKSjPH+0wJGCQ9n1SUdtBeRpNis1yPv27ePJJ5/kqquumnL9y1/+MjfddFPj571793LppZeSzWb5zGc+wxve8IYT3mvbtm1s27YNgCNHjjA4ODjl8aGhoRn4BguL9qBJe9GkvajTPjRpL5q0F3Xah6a52IvxisszB3OExQyjoxVa4zYvDTuY5RTVXJkqMDgQsK4rze7DBZYkI4wWAsZNg0zUpjZDGbmYG52ZN55QdnzsaoTBoDijn/NazHhALhaLbNmyhc9//vNks9nG9T/6oz/Ctm1uueUWoH7ifODAAdrb23niiSd417vexXPPPTflNQBbt25l69atAGzevJm+vr4TPvNk18412oMm7UWT9qJO+9CkvWjSXtRpH5pmcy8qrs9LB3O0dkSxMklSYZXWdAwv6WBnYqRJ05mKMlSsEWtJ0EOajlSUwXwVA1iSjc/o+lo7umfsva2qR1smSl9P9tWfPEtm9DzedV22bNnCLbfcwnve857G9XvuuYcHHniAv/u7v2u0IYnFYrS3twNw+eWXs3r1al588cWZXJ6IiIjIvLBnuETV9elIRslVXJjIR3HbpOh4cLwzhWGQr3pEJhod17x632OZXjMWkMMw5NZbb2XDhg3cdtttjesPPvggf/zHf8w3v/lNkslk4/rQ0BC+7wOwZ88edu3axapVq2ZqeSIiIiJzbrziEgQhBccnGbGwLRPXb7Zpi9sm41WPsHEpxPWDRs1xEIIfqq3bdJuxEotHH32Ur371q1x00UVs2rQJgDvuuIPf/d3fpVarccMNNwD1G/XuvvtuHnnkEf7gD/4A27axLIu7776bJUuWzNTyREREROZUGIY8cSjHqvYUFdcnaZvYpkHZ8QhCIAW2ZZK0LaK2OfEayNc8ejMxAJa3zmxpxblqxgLyNddcQ3iSv9G8/e1vP+nzt2zZwpYtW2ZqOSIiIiLziuMHlByfw/kqjh+QiVoARGxzSobKxJtxLWqZ5KtOo0TVVveKGaFJeiIiIiKzLAhCtg/kgXpP4yBsjofuTsdO+brWRITWRGRW1nguU0AWERERmWUV1+dooYZlGFTdANOY6xXJZDqXFxEREZllJccnYhv0ZGNk4zZuoBvt5hOdIIuIiIjMsmLNw54oqVDZxPyjE2QRERGRWeR4ASXHI2Iqhs1XOkEWERERmSXDxRq7h8tg0Bj2IfOPArKIiIjILBkqOeRrHrYBqZhi2Hyls30RERGRWVDzfA6PV3H9gJofYKt1xbylv7qIiIiIzILH9o8xVnWxDQP1rJjfdIIsIiIiMkOOT8SreT4Vx2dZawLHD/HV1m1eU0AWERERmQFlx+Ox/WOEYUjJ8cEwMA2DrnSUnuypp+XJ3FNAFhEREZlmfhDy4lCJw4UaP96fo+YFMFFYkY7ZxG1rbhcor0g1yCIiIiLTpOx4VFyfiGVyOF+lIxnhWLFGJm41BoPI/KeALCIiInIWjhVqpKIWzx4pkI5ZjJRcLuhOYxgGqahN2fXJVVwilv7hfqFQQBYRERE5C88fLdDXEme4VONIIcQ2TcYqLsd7VRgYOF5A1FZAXij0OyUiIiJyBmqez+6hIrmKS80LsEyDpdk4lmEwVnaxJ0ZJZ2M2+ZpHVCfIC4Z+p0RERETOwKFchScH8limwXjVhdDAMAwMA6pecxBI1Dbpb0lgqgZ5wVCJhYiIiMgZGMzXWNoSB6Dq+WA0exsXah6dqehcLU3Okk6QRURERF6jMAwpOz5RyyBmm+SrHjU3AMCeOFG2NEr6tOw8ViQI59fgFAVkERERkdPkByGPvDTC4HiVMARjomyiLRGhY+LEuDURYV1Hai6XuWC8cKzI73z9Wf7isQNzvZQpVGIhIiIicprKjs9w2SEVtTg++APqwz8mM1RvfFq++IO9ZGI2N23qm+ulTKETZBEREZHT4PkBzx8rEAQhFdcHZeCz8uJQkccO5Hjnxm5aE5G5Xs4UCsgiIiIip2G86rF/tMKSZISKG2gy3ln64g/2sSQZ4V0X9sz1Uk6ggCwiIiJyGoZLDkuSEdJRm6LjEbOtuV7SglVyPB4/mOMXNnTREp9fp8eggCwiIiJyWko1j4hlYJkGZcfTZLyz8OyRAl4QcvXytrleyknpJj0RERGR01Af/lEPxed3ZeZ4NQvbUNEBYGk2PscrOTn91UdERETkFRRrHodyZaqur97G02S4VA/I7fN0mIoCsoiIiMgrGCs77Bkp4wTN8dFy5h7ePczjB3OkohaJyPys41aJhYiIiMgpuH7AofEqhZpPOM+mvS1Ezx0p8PEHngdgWVtijldzajpBFhERETmF/WNlhoo1whAcXwH5bP3tzw41ft2RnJ/lFaATZBEREZGTcryAvSMVutMxbMvUCfJZ2jda5uHdI42fV7cn53A1r0wnyCIiIiInMVSs4QchtlWPSxoffXa++sQhopbJHT9/PgA3Xzq/xktPphNkERERkZOoeD5qdTw9gjDkB3tH+bmVbbx1fSc3rOuY13/h0G+7iIiIyEnUvEBt3abJsUKNkbLL5v5WYP6fxisgi4iIiEyouD6FqsezhwvUXAXk6XK873F3JjbHKzk9KrEQERERAcIw5KcHc0RMk3zVJen6jcl5cnaGJgJyxzwdDPJyCsgiIiJyTgvDEC8Iqbg+QyWHhG0SUB8tnYkpKp0NPwj52AM7+P6eUWDhBGT9tUhEREQWLT8I+eHeUXIVF4Cj+Sp7RkqNnx0vYPvAON/fM0LJ8bEMcLwQEwPHD7BUYXFWHtx5rBGOTQPaEpE5XtHp0V+LREREZNEaLTsczFVoT0XJxmyeOpzH9QNilsWb1rTz1OA4o2WXEMhXXeK2RUcqyohjY1nmvL+ZbD7LVVy2PXag8bMBC6amWyfIIiIisuhUXJ9izWNgvEp7MsLBXIWK6xOEIT2ZOF4YMlRyGC67jX/2Hyt72BMBzjKhdYGcds5X//jUIIPjVT541XkArOlIzfGKTt+MBeSDBw9y3XXXsWHDBjZu3MgXvvAFAEZHR7nhhhtYu3YtN9xwA2NjY43XfPazn2XNmjWsX7+ehx56aKaWJiIiIovcM4N5nj1cYLziko7ZuH7A4UJtynPGKy5GYzpeiOMHjYAsZ+/bu4a5dGkL77/iPLZc1MOd79g410s6bTMWkG3b5s477+T555/nscce46677mLHjh187nOf4/rrr2fXrl1cf/31fO5znwNgx44d3HfffTz33HM8+OCDfPjDH8b3/ZlanoiIiCxiBccjCEOqXj302qbByEQnBaj/c/941eN4BUUqYjNadohY+sf16RCEIfvHKlzSlyVuW/ze9WvpWSAt3mAGA3Jvby+XXXYZAJlMhg0bNjAwMMA3vvEN3ve+9wHwvve9j69//esAfOMb3+Dmm28mFouxcuVK1qxZw+OPPz5TyxMREZFFyPMDXjhaoFD1qHg+IfWhFImIxVjZJTYRgGOWSbHmEZ34ORm16MnEiGl03lk7MFbhkZdG8IOQzvTC6FrxcrNyk96+fft48sknueqqqzh69Ci9vb1APUQfO3YMgIGBAa6++urGa/r7+xkYGDjhvbZt28a2bdsAOHLkCIODg1MeHxoamqmvsWBoD5q0F03aizrtQ5P2okl7UbcY9mEgV2HXcIlUzCKXh5CQSCVCGMJ42aEjGSVXhCCAkuORidnkiie+TzE3OvuLn6dey148fbTMbd8+1Pg56ZfJDR99xdeUHR+7GmEwOMlvxByZ8YBcLBbZsmULn//858lms6d8XtioAWo62Z2jW7duZevWrQBs3ryZvr6+E55zsmvnGu1Bk/aiSXtRp31o0l40aS/qFvo+DDPO0mgL6ZjNYL5KxDJoTdX/ab/tZc9d8irv1drRPSNrXIhOZy+ePVLg49/dNeXair5uWjsyr/g6q+rRlonS13PqnDjbZvTfEVzXZcuWLdxyyy285z3vAaC7u5vDhw8DcPjwYbq6uoD6ifHBgwcbrz106NCC/z+piIiIzLyfHBjD8QIAqpPGQ/dl43SmFk7d60L3d08cIhmx+KOfX9+41rVASyxmLCCHYcitt97Khg0buO222xrX3/GOd3DPPfcAcM899/DOd76zcf2+++6jVquxd+9edu3axZVXXjlTyxMREZFFwPMDxqseRws1Do9XqHq+OlHMkjAM+dozh/nIN57jE//6PDuHSlze38JVy5pn9e3JhRmQZ6zE4tFHH+WrX/0qF110EZs2bQLgjjvu4BOf+AQ33ngjf/VXf8WyZcv4x3/8RwA2btzIjTfeyAUXXIBt29x1111YljVTyxMREZFFoOoFFGoeO44WsC0DPwhJRJQfZsr+sTIHxip0pmMMjFf5o+/unvL461a00ZqI8KHXLefnVrQtmMEgLzdjAfmaa645aV0xwHe/+92TXr/99tu5/fbbZ2pJIiIisshUXJ9ExCIbsxmtuBgGmJp+N22GSw4/OVSktxanKx3j1+/dTsmpt+Fd1Z6kJW7zv9+xkVv/4SkAutP1kpYPXrVsztY8HTRqWkRERBasmudjAFHbxA/CUx7OSV2u4vKF7++lLxvjFzZ0k4iYfOuFITb3t7CuM8X+sQoP7RyiLxvnDauW8Jv/+BQHc1VgkPWdKUqOz7sv7OFrzx5hz0iZi3szrJ00IW+h1hy/nAKyiIiILDiOF3BgrEwQ0qg57s7EqHkaMvZyf/ezAb6/Z4RMzCZqmzy0s97O7/5njrC8LcFPD40DcOMlvTyyZ5QjExMHV7QlOJirct2KDA/vK7BzqETMNvm969fwrReOUfMCejJxktFmSct5rYnZ/4IzQAFZREREFpx9Y2X2jVboTkcbAdk2Dezowo02ZcfHMCARsThSqNGVjp51uciP9o3xfz+yZ8q1K5e1cnFvhr/88UGGSg6b+rLkax7/8FS9y9j7Nvfz8Esj7BurAPAbl7RztBKy42iR3kwM0zDozcTYN1ahN1svqfj4m1bj+gEXdKfPar3zxcL9UyQiIiLnpKP5KruHS4Qh5Gvegu9a4fkBH/rnZ9g+mKc1YXPzpqXc/aP93LC2g9+7fg3ZeOQ1v+exYo3tA3l+cjBHImLylZs3cdNXfwZAf0uci3ubPYffsq6DQtXjSyMHALhqWSu5isuBsQoG0JmMsDQbrwfkbByAznSUfWMVlrbUf75p0+JqzauALCIiIgtGEIQ8e6RAS9ymUPNwvIB0dGF3rfi3F4bYPpgnGbHIVTzu/tF+AL69a5jxmsdd777wpMPTTuWRPSN84l+fx/Hr9dir2pOc19IsfejNxOmbCLpQ7xddiHnNx7Nx+iaCbzZuE7GMRhDumzgx/t1rVvLUYJ6fP7/rDL/1/KaALCIiIgtG0fFw/JDWRD1MhmGAZS7MODNedfn+nlG2D46TiJh88wNX8JYvPQbAW9Z2sKo9ybbHDrBzqMRgvsobV7W/atu0sbLD73/rBaKWiePX67F7MjGidnP0RW82Rk+2OUClLxunUGsG5O50jKUTAbpl4vT6XRf1ELVNfumC+kS9Dd0ZNnS/8oS8hWxh/okSERGRc8bxzhSGYVB1Awyj/rM30bXitZyuzhcjJYet//Q0+yfqfFe0JWiJ28Rsk5oX0JeNs26iO8Sv/X9PAvAbV5zHh1+//BW/76P7xqh6AX/7q5fyiX99nkPj1UbrtXds7ObH+8e4sDdD3Lb4xQ1dHCnUWNaaoOz6JCMWy9sSRG2Ta1e18+HXL+fnViwBSvS3JNh69fKZ3ZR5RAFZRERE5rW9I2V2j5RZ25HEMAxM6gFxaTa2IMNxGIZ85JvPNcIx1DtwGIZB1JoIyC1xeiaVQQD89U8Oko3b/B+X90+5fjBX4Ss/Och/vDRCW6J+4rtySZKWeIRD49XGafEf3LBuyus+9bbmSOiobfLwb7+O4wfUyajFB66s9zLODZem54svIArIIiIiMq8dLlSJ2wbPHyvSmYoSterlAgsxHAM8d7TIjqNFPv6m1Tyw4yjPHyvSnamH2Js39fEvO46yqS9Le7J5c97/dd1qHt49wn3bB4lNtGr7pQu6+S/rO7ntm8+xd7QetserHq2J+kn029Z3UvF8fn796dUJL9SpdzNBAVlERETmLdcPyFc9utIxyk59rHRsUj3tQhOGIXtG6ieyP7eyjUf3jgL1zhIAv/W65fzW65Y3nnvcsrYEl/Rlefxgjj95+CUAnhrM87VnjrB3tMJH37iKh3eP8LOB8UZJxa9etpRfvWzprH23xUQBWUREROYtL2jWGDu+T82HlvjCG0YRhiF//9Qgf/79vcTseteNzlSMd1/UQyJq8SsXn9gmzTAMfv78Lv79xSFWt6c4nK81Hvu9N6/h/mcO89zRAgCXLW1h93CpHpAzsRPeS14bBWQRERGZd8IwxAtCXD9oXGtLRKm482tSXhCGGIAfwuMHxtjc3zqlY8Rxf/IfL/GPE4M4HN+jLREhZptct6aD69Z0nPL9//C/rOd/vGUtMdukZ1LwXdeZ4uLeLDuH6qfRPdlYY4rdJX3Zk76XnD4FZBEREZl3hksOO48Vp7QSS0atKWON51Kx5vFf73+W548V2NCVYX1XivufOUJL3Ob33ryG81oT/P1Tg5zXkuDnVrbxz08f5tpVS/D8kB/uH6MrHT3tzzpeUjI5IC9tafYqBsjGbG6+tI/zu9Jctax1+r7oOUoBWY9dB4kAACAASURBVEREROaVMAwZr7gcLdToysSA8FVfM9vufXKgUd7w3NFC49dRy+RzD+8mYVscLtRLIv7miUMEIWy5qJcf7R/jh/vH6EidfkA+rr8lTn9LHD8IaUtEGsM+opaBYRjEbYurl7dN0zc8ty3cKncRERFZlI4WauwcKmJbBmNld17l45GSw4MvHGPHsSKrliT5yk2XNB573+Z+3nvpUnIVj8OFGrdeeR7XrFzSGMLRk41xUW/9RPxdF/a85s+2LZP737+Zf37fZgzD4IrzWnj7hi7uePuG6fly0qATZBEREZlXBsarJCIWMdskV3HnTTu3QtXjXV/5CRW3Xhf9+uVt9E7qVdybjdMab0artZ0pTMPgBxOdKrrTMVYtSXLlea20JV/7CTKAaRhE7fp+ZOMRPj2pl7FMHwVkERERmVdGyg5tiQimYZCreLTE5z6uhGHIh+9/phGOoT7cY8mkXsVLs3Eyk9a6NBunOun56Vj9sTMNxzJ7VGIhIiIi88LgeIXhYo0gDDEnTo17MjESkbm/Me+pwTzPHyvysTetIj5x09zx6XfXrW6nPRlhXWeKvmzzRrrebJwVS5IArJr4rywMc/9XMhERETmnBUFIvubx7JH6pDyYHyUVk20fzAPwixu6ufuH+4HmcI8//aULGs8Lw5DfunoZFTegJW7TEk9z95aL2NCdnv1FyxlTQBYREZE5la95PDU4Tq7ikIyYzKu78qhP8ztarJGOWqRjNh954yp2Hivy5pP0LzYMg9+8evmUa5vPU9u1hUYBWUREROZUzQs4nK/RlY5SmzQYZD74zotDfOJbLwDNMol3buyBjXO5KplpqkEWERGROVWouXQkI2RjNlXXJxOdH+d3e0fLfPZ7uxs/d76G4R6ysM2PP4EiIiJyzjk4VsY2TfIVj6htYhgGPZn4q7/wNIVhyEM7h4jbJpvPa210kTjd197+by8QhpCMWJRdn6507NVfKIuCArKIiIjMKscLCMKQZ44U6EpFKTl+Y5zydKi4PuMVl6cPF/gfD+4EoC8b4463b+DeJwf4jSvOY01H6hXfY0/O4cWhEp948xr+fecxfjaQZ1W7OlGcKxSQRUREZNqFYUjNC3D9sNEbuOrWg/Czh/M4fogXhJRcn6rnk4pOTyu3v3hsP3/9k4M4fsjSljiWafDOjd3c/8wR/uv9z1ByfL67a5j/9bZ1vG1910nf42ihxr5cfUz0pr4sXekoyegRfuWS3mlZo8x/CsgiIiIy7Z45nOdQrko8YnJJXwtPDoxT83w297cShHBovEJvJka+5hHCtEzLe+FYkS89doCIVX+vgfEqF/dmuPGSPu5/5gglx2djdwYvCPjc916iLRHhgeeP8RtXnMfKJUm2D4zzvx/Zw46jxcZ7dqdjrOlIce2q9rNenywcCsgiIiIyrUo1j4HxKu2pKKNlh/GKS80LaIlH2D1cwgtC+lviRCyT0YrL2WbjXMXlR/vH2D9WBuBfPnAlW+75KSXHpycTpyfTrB1+/Yo2WuI2f/afe/iv9z9LCHzr+WP8t2tXcu/PBjhadBrPjdsm6djcDymR2aeALCIiItPK8QMMDGzTwDAgV3WJ2yaJiMXRYg2D5tjlvuzZ3ZT3yJ4RPvOdXYyWXQBitkl7MkJPJsZLI2V6s7EpN+ctbYmTnijnCIFf2NDFc0cKfOGRvYTA/7xhHT8bGOdfdhyla2JSnpx71OZNREREpkUYhgwVa7h+2DgVNjAo1vxG2UMqYjXGSJ+tkuPxqYdexPWbg0WOj3/unQjex2/GO36D3colSXomhfJrV7VzzcoljdEkS1vijXHR2dfQ9UIWF/3Oi4iIyFnLV132j1Y4OF5hXWea49PwQkLcICBp109t0zGbs+2W5ngBjx/MUax55GseX3jnRu59coDHDuTomXjz265dxS9e0MX1E9Pu7rl5E/vHKpzflSZXcRvvtbQlznCpWVbRl43h9GYB+LXLlp7dQmXBUkAWERGRs7ZvtMyLQyWilkGu4jROidNRm1zFo2WaTmOfPZznkw/t5GCu2rjW3xpvnAp3T9QbL2tLsKwt0XhOImJxflcagJa4TWcqymjFpb8lzlCx1nheRzpGTzbOv9y8ht6ezmlZsyw8CsgiIiJy1qpuQE8mRsnxqHkhllkPyImIRSIyPTe6hWHIp7+9a0o4hnqniTesXMJPDuS48TRasRmGwTc/cAXjVY90zGblRPlFRyqKfXzd09iXWRYeBWQRERE5K2EYMl51aU1EcHyTYs0jEZm+gOkHIf+5Z4SoZbJntMxHrl3FkUKVe58cpCVuE49YvHF1O29cffqt2CKWSUeqPjq6vyXB196/mdZ4ZNrWLAubArKIiIicFS8I8YMQ0zDIxmwKNW/aTo1HSg6ffHAnjx/MNa4tbYk3Tnoj1vQE8fNaE6/+JDlnKCCLiIjIWXH9gONtKwzDIDuNJ7HbHts/JRwD9GRi9GRiWAZ84Mrzpu2zRI5TQBYREZGzUm+zFr7q887E9/eO8tZ1nbx+RRuf+vcXAehOR2lLRnnsd69Rn2KZEQrIIiIiclZcPwCmL6h6fsAfP/wSwyWHoaLDsrY4/a3N3sWtifoJtcKxzBQFZBERETkjrh/wwrECcdvCmKYT5Krn87Fv7uCxA82yiu50jDXtKdZ0JHnruk4FY5lxCsgiIiJyRgbGqzxzuEB/SwLbnJ6b5R7YcYzHDuS4pC/LU4N5ALrS9XHR9/3a5dPyGSKv5lX/NH/xi19kbGxsNtYiIiIiC0QQhLw0XGJ5W4Ky65GNT8+Z2w/2jrKiLcEfvm1949rx4R8is+VVA/KRI0e44ooruPHGG3nwwQcJw5kpwhcREZGFI1d1cfyAuG3RmYo1JuedqZ8ezPGlH+1nYLzCsrbElFCsFmwy2141IH/mM59h165d3HrrrXzlK19h7dq1/P7v/z4vvfTSK77uAx/4AF1dXVx44YWNazfddBObNm1i06ZNrFixgk2bNgGwb98+EolE47EPfehDZ/m1REREZCblqx7WNNUC/81PD/Ghf36Gv/jxAfaOVuhOx7BMg7/8lYv5tw9eSUxT7WSWnda/hxiGQU9PDz09Pdi2zdjYGL/8y7/MDTfcwJ/8yZ+c9DXvf//7+Z3f+R1+/dd/vXHt7//+7xu//uhHP0pLS0vj59WrV7N9+/Yz/R4iIiIyi0ZKDvFpmJb31GCeP//BXrIxm3zNA+o1xwCblra80ktFZsyrBuQ///M/55577qGjo4MPfvCD/Omf/imRSIQgCFi7du0pA/K1117Lvn37TvpYGIb8wz/8A9/73vfOavEiIiIyN/I1j+QppuV9d9cwdz26j650lN99w0oGx6vsHCpx06Y+OlJRdg2VeHJwnKhlsnu4RNQy+OYHruBN/++PAOjKRGfzq4ic4FUD8vDwMPfffz/Lly+fct00TR544IEz+tDvf//7dHd3s3bt2sa1vXv3cumll5LNZvnMZz7DG97whpO+dtu2bWzbtg2o10cPDg5OeXxoaOiM1rSYaA+atBdN2os67UOT9qJJe1F3uvsQhiGjx3IEiRNjRBiGfPY7e8jVfA7kKvz+A89xqOAC8LdPHOIjV3fz/zx+lIrXvKdpaSaCVxhp/Nxr18gNHz3Lb3N2irnROf38+WSm96Ls+NjVCINBcUY/57V41YD86U9/+pSPbdiw4Yw+9N577+W9731v4+fe3l4OHDhAe3s7TzzxBO9617t47rnnyGazJ7x269atbN26FYDNmzfT19d3wnNOdu1coz1o0l40aS/qtA9N2osm7UXd6eyD4wWkCxFaU82T3qrr89nv7cYLQnI1n4+9aRVPDeb59ovDAPzW1cv4y8cPcuePjuCH8N/esJLPf38vAL0tSVo7uvnjX7Dwg5DL1nbOzJd7jVo7uud6CfPGTO6FVfVoy0Tp6zkx982VWa969zyP+++/n5tuuqlxLRaL0d7eDsDll1/O6tWrefHFF2d7aSIiInIaXD+YMhYkCEP+7D/38K/PH+OhnfVT6J5MnL5sc/rduy7sYX1nCj8Ey4CbL13K0onHj3esuH5tB29dPz/CsZzbZj0gf+c73+H888+nv7+/cW1oaAjf9wHYs2cPu3btYtWqVbO9NBERETkNbhDCpIj8Hy+N8PVnj0ypSe7JxOidFJDbU9HGz13pGLZpsCRZHxmtPscy38xYQH7ve9/L6173Onbu3El/fz9/9Vd/BcB99903pbwC4JFHHuHiiy/mkksu4Zd/+Ze5++67WbJkyUwtTURERM7QYK7CsWINaLZ4e/CFY7QnI/zJLzZLL3syMfpb6oE4ETExDYO+bD0I907894plrQBcu6p9llYvcnpmbNT0vffee9LrX/nKV064tmXLFrZs2TJTSxEREZFpUPN8nhzMk4nZWJNaIO8cKnF5fyur2pONay1xm8v7W/jItatYtaR+feXEf5e31f+79erl3HrlMvU5lnlnxgKyiIiILB5+ELLzWJEgCBktO3RO3KAXhiHDRYeu1VG60jHu/KULWN+ZwjAMIpbBLZctbbzHL17QzQXdGfpb6yfLtmlgm9MzbERkOikgi4iIyKsq1DwO5Cr0ZGOMll1itonjBTx9OE/ND+hI1wPzG1efulzCNAzWdKRma8kiZ0wBWURERF5VoeoSMeu1xB0Tp8cfvv9ptg/mARonyiKLgYp+RERE5FWNll3ik2qFjxZqjXAM0JlSJwpZPBSQRURE5FVVvGBKvfC/Pj910l1fS/zlLxFZsBSQRURE5FVVXL8RkKuuz98+McDrl7cB0J6M0KNexrKIqAZZRERETikMQ/wgxPECMtH6IJCfDYyTr3m899Kl/Pc3r6Y1HpnjVYpMLwVkEREROaWfHsxRn5sXYhj1E+SfHMwRtQwu7c8St61XfgORBUglFiIiInJSh8crHBqvUqx5TJ6cd2CsyrK2xLwOx14Q4vnBXC9DFigFZBERkXPUYK7CeMXFD8ITHvP8gGeOFOhJx6h5AcGk54yUHTqS87ut24GxCgfHq4RhSK7iKizLa6KALCIico7YP1rmR/tGOZqvUnF9nhgY56eHcuwaKgIQhPUpeX4Qkq95BAFEbZN81SMVbZ4WD5cc2udR3+Oy41P1fFw/YLzqcTBXIRExidomI2WHqG0yXvXmepmygKgGWURE5Byxb6xMruyRq7hc1JvFMg1KNY/hkkOh6vHkoXG8EZMLezNYhsHxrm7Hp9+5fsD3dg8zVHJon8MT5LLjU3A8qq7P0pYERccjYpnkqy7JiEVvNk7MNjlSqBGGcGFPhp8cHKdQ9UjHrEYttcip6ARZRETkHOD5ARUnoL+13q84V3ExDeoBs+YzXnUpOz592RgHcxXGax4xe2pM+LP/eInb/20nfhCe1glyGJ5YunE28lWXMAwpOh5XL28jFbPJV11Wtad4w6olJKMWGHBJX5YLujMw8fnZeIQLulNUfZ+XRspUXX/a1jNccnhppDQt7yfzhwKyiIjIIub5AftHy5RdH4x6YDQNg3zVI2LWY0Bo1EsroraJbZk4fsBoyZkSkD0/4OvPNYeDtCdPbO1WdX3yVReAkZLD/tzxG/xeu5oXNAL2eNVlMF/F8eulH6mozZJklJhlUvMCWhMRYraFZRiEIUQtk4hlAAamCZZpkIjYuH5IRypKvnZ2AfloscaxYo1CzSdqGbTEI/hByEjJoVBzz+q9ZX5QQBYREVnEhoo1fnwgx9FCjeOdKGKWyXDJIR6ZiAGhQaHmNQaBOF5I1fOJWM2Y8J97RqfczHdZf8sJnzVWcal5IcWaRzJqsaItznjVIwjr1073RNnzA4ZKNQ6NVyk5HlUv4KLeLGs7UwwVHXqz9aEkiYiFF4SNIB+xTCKWiWkaGIZBxDKwJsopopaJG4Rk4zZx2+BwvvraNpL6iXjF9ak4PiXHJ2obvGlNB53pKEXHwzAMKm5w0pseZWFRDbKIiMgiVax5PHukQCpiMlp2GyUH6ZhFPGI2ArBtQsVtjpJOx+wpYTYMQ+764T5WLklwzcol5CoeXenYCZ/lByHZuMV4xWV9V5q1nSnytRFGyy5x22S47NCZOvXEPT8IsUyDgUKN9Z1pgjDkwGiZ9nSMFUuS5Ksu6ZhNW6J+ep2ImBgGjYC8uj015f1SMYuaW+9eEbUNIqZBJm5zSV8Lj+0fo+r5p9Wq7kCuTF82Qa7iUvMCktF6MI+YJoZh0BqPcHi8SmsyQmc6wZ7hEp3p1zZZ0A9CCjWP1oSGrswHOkEWERFZpI4WqoRhvQa36vkcP0Gun642I0BrIsJo2cWeKLloidtTgtpLI2UOjFX41UuX8n++YRX/863rTvisouOxsj1JZzpK2fPJxG0MwyARsah6Pqs7UrTEI+QmSjDyVZeRkkMwEcSLNY9jxRojJYdM1GJjT4aOVJSi69MSq5/nZeMRLurNNNZmmSYxyyI28V3Oa0twXluisaZszMaeeCxmW7QlIsSseneL9lQExwsYyFcZLTun3MOK6xOzLaquTwi0JSO0xCOEIY0T+FTMpuaHJGyL5W0JXn5+XPNevcVcyfHwgvAV1yKzRwFZRERkkTpSqJGO2cQjJiMlZ6Iu90SmYbC6PYl5ilTw4wM5AH5u5ZKTPu75AcmozcV9LWRiFiZG41Q3YZu4fkjcNrmoN4vjBVQ9n7GqhzfRo3i86jJe9ejOxKhOnNBC/WTYxCAbb/6D97K2ZCP09maiXNKXwTRP/r1Wtqe4oDvd+Pl1K5awvC0JQCpqU/UCYhM116dScnzak9GJ54Ss70xzSV+WiNX8jjHbJAhDYhGTmG2RiFi4fv171ryAA7nKCeUlnh/w4nCRkbJDvlYvTVnfmcIwDJVozAMqsRAREVmkSo5PWyKCaRiNYHgmjhSqJCImnafoXOEFIclIPdTapkk2bjf6JieOX7dM4raJgUHZ8elIRrFMg0LNxfNCLuzNkIraHMhVSEyUPcQskyWpCOnYyePKklco1zj+2cc/H+o3601+rOz4LF+SZLTkUHV9YrZJCAyOV/EqLkkvoOz6rOlIMVZxIDRoT9XXXQ/F9feK2eaUwNySiJArOxQdn7Ljk45a+EHIcNmh6tW/e9UL6E7H8AKougEY0J6Kka95jJQcTMPAMOpBXmafTpBFREQWmXzVZbRcL18wz7LnbxiGDJccOlLRk/YPdv0A1w9JTpQbtCUjXNbfQmwi5CajJrZZr/+1LRPTrAfq81oTrO1IAQYG0N+SIBmxGmUZUC9duHZVOy0zUJd7POAuSUTIxG0G8zVGyi57Rsqk4zZhCLmqS182TkcqShiCbRmNkL26PUV2IrjHbZNU1MacKGHJxCzyVY+OZJTWRIRk1CJfq/dg3tCVpjxRrpGN22TjFhgGJpCMWnSkYjh+QNHxKJ5ltw05cwrIIiIii8z2gTwvHitxvOYY6kH3sf1jPLDjKEcKNaquzzOH86/4Pv++c4ir//wHfPvF4ZOeHgdhyEC+xlCpRqJRFmFNuUGtJR4lG7cbNc/18oOQ3myMznQUg/q0vvr/6kE6MWlq3+Ra6emUilq0JiIkohYr2hK0pyLUvIC+ljgX9WQxJoLw2s5U4wQ7Pqnt3fIlSc7vzgD1mu7zWuKkJp6XjtqUHJ/uTIw3rm6nJR6h7Pgsa01wfld9CEsInNeaZE17Ct8PyMYjWKZB1DJw/JC4bXGKyhGZBTq3FxERWUTGKy4jZYclyQiT7xb75o6j/OG3dwGwrC1BazzC04fzvH1DF//9TatPKGP4951DfPKhnfgT79FxknKG8arL0mycvWOlU5YCpGP1yXbH659t0yAesYjZ9Q4QS1tijVKFiGnSnozSlZ75KX0Ry2TT0iwt8QhR22So5DBaLrG2I0VXJkbMNPDDeqcKyzRoidu0JE69rvUTYRkgHrGIR62J+m+LmG3g+AHxiIVpGrQmIgyVaixJRrBNA3viex9fl+MF9LcmGCs5eEHY6C4is0cBWUREZJHwg5CnBvO0xm0qTjDlpruvP3OEVNTiymWtPLx7hANUAPjW88ewTYO3rO3gJy8Nc9MVLcQjFn/4nRdZ2hJntFSvpe142QmyH4S4fsiKJQnGq+6U09XJDMNgw6Tw2JOJ099Co1zjwt5mP2XTNLh6edspb7qbbpNPupNRiyBk0o13FpWg3h4O4MplbVNqmF9JNmbTnY4RnXivqGXhhzSCbl82Ttlt9pmO2UbjLygRy8A2DVpiNsmIxe7hIp2p2Gl/tkwPBWQREZFFYqzsUHLqPYp3DhVZtSTJl360n58NjLNvrML1azu4aiIgA3z6bet5ePcw//nSCN+cmJL31WdGuW5NOxU34H+9dR23/9sLFB2fC3syUz4rV3FZ15miOxPjquVtp92/d2X7K98sOFvh+OVSUZuoZRCdCK3xiIlnGY1pg/ZrKPU4HvSPh9q4bWJNaq23tDVO66RJhKlY86bGiGWSjNq0JSO0JaP4QcDgeH2KYH1ioKpjZ4N2WUREZJEYKjbHQ6/vTPOvzx/jL358gCcOjVOoeXSnY/Rl443n97XE6M3Wp90B/MqGNmK22QjQy9oS3PbG1fz8+Z28ZV3HlM/yw5DebLw+KGMRDLdoidusak82O1HEIyxtiZ9xYJ984huLWERto3GCbBjGlJKWK85rbdyIaJv1tnaZicc70zEKjk8yajFe1Rjr2aITZBERkUWi7HqNE8/B8Sp3fHcXmZhNoVYPwN2ZeiA+rr8lQU+mWWbwi+taOFgKeexAjkTEJBuzedPqdt60uv2EzzIMTmsK3UJxvI/zcR3pKH19J47TPhPZuE1rPHLKWuLJ3UEMw+CK81obwTwds7EMg/ZUhIFxdbWYLTpBFhERWSQmj4t+aOcQQQh/fdMljcd7MjHakxHefWEPb1vfSXsyQk+2GZC7khH6WuKN556srRvU648jpjln5RALTSJi0dcSb5RvvJrJ+5qIWLQlI2RiEdJR+7Sm8snZ0wmyiIjIIlH1Alomps7tHinR3xJnxZIkyYhF2fU5vyuNYRjc/pa1jdesnqgJjk8MuzhegpE5xXAOqAfk42OW5fSs7Uy/+pNO4fL+FiKWSanmsX0wz5qOlDpbzDAFZBERkQXuSL7KQL6K5weNwSBDxVqjXdrf/uqlJCf6/r7c8rYkX77xkoma2TKvX9HGI3tG+e3XLz/pZw3mq/hBSH9r/KSPy/RLTrTQS8dsOlJRXD/ANhdPect8pIAsIiKygHl+wHNHCxM/GeweLvHHD+/m6cMFrl9Tv7FuWVviFd/j4r4sALnhMus603x5UlnGyz8rapmMu94p27rJzFnWliBXcRkruxwqV2lPRqaM0p4sDOvNpQ3DwA9CKq5/ypHdc6lY8wgnN+yeJ/SnW0REZAF77mgBzw+peQFeEPDBf3iKJwfy+EFI5zQO3PD8gH1jFfpb4sTs+rAPmV2GYZCKWYzXXFri9Wl9pzJSdjk4XiUIQ8YqLlUvoPwKz58L3sRI7XzNIzXP/jwpIIuIiCxQNc9ncLxKRypKoerxk4M5ipNC0MnGQ5+psuuzfEmStZ1putIxejMqsZgLCdui4gQkItbEX4rqp8OTW8CFYUgQhixtiVOq+YSEnN+VZqziUqh6eMH8OLEtuz79rQnevKaTFe2puV7OFArIIiIiC1Rhon8xwPK2BF/60X7WdTSDxpqOE0NHEIY4Z9AJwfFD/n/27jtAivJ84Ph36u7t7vUCHO3oVdohcogKIvaCYhSjUWOiRmMSY4ktRk2iRE1+GktUoqgkCipWLFjQU9FV9KiKFOntuF52b3en/v6Yu+WOOxSkHeb9/AO3Mzs7O7d788w7z/s8BZkp6KpMUUEWwXZ4u/5/ga7KSBJkB3VCPoXKqMH2+gRVDSaRxnJ+VQ0m3TNTKMgMELcdQKJjmo++uUHils3mmhg1sYNfUzlhuXQI+Uj1t7/PUvvbI0EQBEEQdkuDYaM0TspbURZhe8Tg10f2YEttjG/KIhzRLaPF+mURA9txUGSJdL+GLHm34vNCenJy3664eO2YhYPLryqEfApZAY10fxpfbq4hRVNQZAnHdamJGY2jxyloioTrukiAKstkBnTWVjaQ5tdwXBfLdvaoQ+C+4rgusiTh4u4yh/pgEwGyIAiCIByiooaNqniB7dJt3kS9ou4ZZAbyWqwXSVioioSmSBzVM4e1lVHK6hMYtkt+mo/SSIK8oK/V9pt4E77c3a7jK+w/qX6VnKAPXZEJpigokoQtuWQFNHrnBPlsQzUSXv1kTZFQZRnHdVFkr5Of5ThkpGjkhXQWbKqhR2YA/QBOuKyLm1TFLPIb62y313KB7XOvBEEQBEHYJdf18k6bd86riCbwKXKLUm6O61IRNUjYLpVRk5BPJeRTG9sWW/TIDjAkPx1F8kYfm57T3La6OBtr4uCCJgLkdmFUtwxCPhVJksgKaDQYNv3yQmSkaMiShCzLjakYEqk+NVkzWZUlDNsloHuNS7plpBA1LDbWNBywfY9bDn1zglQ0GCgS7faiq33ulSAIgiAIu1RaF2fBxmoaGjvnxS2b8ohBTlBv0f2uLm6hKxI9slJIWA4h3TvtB3UV03HJCugoskSKplAXt9hc4wXDkYRF1LDYHkmQoisoMqiK3FgrWTjYmv+Oc4I+1MbRYUnyfpfZgR0JAqn+lgGyIksENIWArtIlI4X6hO2V7oubrKqItLpA2h/73js3mPzc7apb48EmUiwEQRAE4RCztrKhMfiVqYgmuODZxQAMbaxn3MSwHQ7vmoGqeBO7Qj5vdFmVJTL8Gqk+L/8zRZOpjBp0zfCTmxtkbUUUn6YwLD+dnKDOB99WkNJOb4X/r8sKaKT61eTo/ogu6fiapUyk+hQiCe/33JRmEWzMJferMg2mTX56kITlkBf0EU3YRA27RQvyfcVxXSTJe11dkdttegWIAFkQBEEQDinLt9dRHTdJWA6G7fLA/PXJZTk7IdwWlQAAIABJREFUlXWTkAj5VFwgza8RagyMQj6VPrmBZIe2FE3BtF06pPkZ2DGVrbVxXCDkU9BVmaCukL0PS8YJ+06qT6VDyJccJd65GUiX9BQ6pHrBrto4OTMz4F0oaYpMSFfokxskK6Dz5aZqttTECflUooZFUN+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fv14++2399duCYIgCMIhq8GwkQBZkkj1q0xfsJmCzBQGd/SC13G9sgGvakVNzCSlMfAFSG82eW9nKZpCiiajK17AEtC8vOOmAFnkHv945IZ2pE6k+lSG5Kclf78+VUGWZDqleU1gQj7Fq5ntwuryKHHrh3XiazBsr/OfaZPWWPM4oCmktOOygfstQL744ouZO3duq8d///vfs3jxYhYvXszJJ58MwPLly5k1axZff/01c+fO5corr8S221c7REEQBEE42MzGpg8AW2vjrCiLcMbgjtx+fF+uH9eLwi7pje17bSqiBkHf7gUg2UGNMQVZaI0l4xRZIqiryeBa+HGSZYk0/44LJ78q41dlsgMa2UGdFE2lLmGR1piWUdfYmCZm7jpGi1s2UcNq8VjMskn1q95E0cYUkKyAnsyFbo/2W4B89NFHk5WVtVvrvvrqq0yZMgWfz0ePHj3o3bs3CxYs2F+7JgiCIAiHnLhpY1gOTTHrmsooAMPz0yjICnDusHxcoKLBpCDLq20b1HYvh9SnKi3Kww3oEGJ098x9/RaEds4BgrqCqsgc0S2DFE0mYTn4NZmg7pWVi5k22+sTmLaD3UbL6vKIQU3MSra7Lo8kMCyXNJ8KkpfOA9Axzd8iOG9vDngO8kMPPcSQIUO45JJLqK6uBmDLli107do1uU6XLl3YsmXLgd41QRAEQWiXKqMG4fVV1CXM5O3wiqgBkMwrBu9WdsdUr6VwUFfJCf2wiXUBXT2gzSOE9sErEed9ZlRFxqfI2K5LbshHj6wAuF5zmrxUH+VRg4oGA8t2qImZWLbXvtyvynRO91GXsGgwvJHjwZ1SyUjRSFHlQ6YaygGtYnHFFVdw6623IkkSt956K9deey3Tp09v7NDT0q6SzadNm8a0adMAKC0tZevWrS2Wl5eX7/sdP8SIY7CDOBY7iGPhEcdhB3EsdmjPxyJm2qzYHqE6ZtIQ0HBsh2dW1bJgqzeCrMaqqUl458yamEladoDy7Q3I0XpiNQZb63Y/TaI9H4cD7X/1WGQDW7d6k/NiNRHMiIFt2yhBnURtNQnboWNuKmmay7flUda7kOZX2ZAwSfdpJCybVH8qq7bVYDguh3VMxZ9IsL0+gRY3KNt+aKTQHtAAuUOHDsn/X3rppZx66qmAN2K8adOm5LLNmzeTn5/f5jYuu+wyLrvsMgBGjhzZ5nq7eu7/EnEMdhDHYgdxLDziOOwgjsUO7fFYuK7L/HVVENTJSZPwKRKvf7OdJ5dUAl4N3Jy8jsn1zYhBQdcMMgM6P/TttMfjcLD8rx+LbXY1BG06BAzy8/PpZKZQHk0wsFceluOyzakAV2JC3xxWlkXYUB0jN0Wjb48s9PQcNlQ30K1DKjkhH50aB0Pba2OQnR3Qce5t27Yl///yyy8nK1ycfvrpzJo1i0Qiwbp161i9ejWjRo06kLsmCIIgCO1O3HKIJCyvaYPrsqIsytNfbE4ub1732HVdaMete4VDT6pPo0uGP/lzpzQfIZ/XlMSnyLguyLJXTzkzRSNu2snKFAVZAYq6ZyXrZ0uSdMgEx7AfR5DPO+88iouLqaiooEuXLtxxxx0UFxezePFiJEmioKCAxx57DIBBgwZxzjnnMHDgQFRV5eGHH0ZR2u/MRkEQBEE4EAzLoSmkyAnqPPzJehpMmzHdM/l0Q3UyQN4eSRA1bFJ1JdlRTRD2Vt88r1b21q11AHTJSEkGvF7dbK9DI4Cuyliui7/Z5+9QzmPfbwHyzJkzWz32i1/8Ypfr33LLLdxyyy37a3cEQRAE4ZCSsGyvrFtjBGI7Lh+sqeS4PrlM7JvDpxuqubCwC0BjUw9vhK6pVJsg7GuSJCWbjICXexwzvcl5qiwhI7Xr2sZ7QrSaFgRBEIR2JpqwKNlcS15IB7zcze0Rg6hhM7xzGkXdMym+ooiQT6UyapAV1KmPm+iqfEjdxhYObZ3TU5LVVDRFRleldt0+ek8cumPfgiAIgvAjZDsun2+sprQ+QW3cQpEkXNeltD4OQF7IhyRJhHwqtuNiuy79c4NoitfkQRAOlPx0P0Py0wBvBDkjRUt2yjvU/TjehSAIgiD8SFQ3GCQsh4zGzmNx0+G0mV9QWp8AWk7Mi5k2HUI+ckI+AppC14yUg7Xbwv84nyrTIyvwoxlBFgGyIAiCILQjqyqihHQV03Eojxo8t2hLMjgGyG3W/CNuOfTI8n4e2TVD5B8LB40kSXTLDBzs3dhnxL0YQRAEQWgnHMelLmYS0BVSfSrfbK/jhaXbWqyT5tsxtuVCclKUyD8WhH1HBMiCIAiC0E4YtgONhd1kSeKtFeV0COk8dObg5DqSJBEzbdZVNYDrirrHgrAfiBQLQRAEQTjIYqbN5xuq6Z0ThGaDwMu21XN83xwO65TKmO6ZXHlkAQC1cZPUxkl6h3KtWUFor0SALAiCIAgHke24rKtsYFtdgjS/lnw8btrUJyw6pvoJ6ioPNI4iV0QNumSkYFgOZRFDjCALwn4gAmRBEARBOIhqYibfVkTomKrTYFg4jsvNb67g0/VVQMtJeY7rIgGDO6axviqKaTsossg7FoR9TQTIgiAIgnAQVTUYBDSFgKawtT7BZ+ureWdVeXJ58wC5wbDJTfWhyBI9s4P0ygkdjF0WhB89cV9GEARBEA6iygaTFE1BVWQSps0/PlzTYnleyJf8v2k7pPq8qhWiYoUg7D8iQBYEQRCEgyiSsNAa84jfWlEOksR/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FBEgC4IgCMIBtLU2Tsy0SfOpuC7c9vaqFsvzmo0gm7ZLyKcgSRL56X7yUnVRvUIQDgCRYiEIgiAIB1B1zCCgeqPAayqibI8k+L/TByaXd88MAF4DkYRlE9S8sSxFlvCpYvRYEA4EMYIsCIIgCAdQzHRQG/OIv9hcS0BTGFOQxaTBHVEk6JMbJJKwiFs2MdOhb64IigXhQBMBsiAIgiAcADHTpi5mEjNtfKp3A7c8kqBDqo4qS/zxuD4A1MVNFFmmW2aAZdvq8IucY0E44ESAfAhYWxGla2YKiiQRMSwCjR2XBEEQhEPHsm11RBMWhuNi2g5PfrGZlWVROqf7W6yXsBxGdk3DBdZUKOiq+HsvCAeaCJDbubhps7I8AhJURA0qoga40CM7QN/cEKbtiNEFQRCEdu6Bhx/h6WefZ+zxp3DiOT/jmjnLWb49AsDQzmkt1nWBVL9KzHTIDflI84lTtSAcaOJb1465rsvq8giG7bCyLEJAU+gQ8lqOrq1soDZmYToOR/XMPti7KgiCIOzCtGnT+N1VVwKw8NNi1hgBlse7JpfnBXdUrXBcF7VxMp6uyBzeNQNZdM4ThANOBMjtUF3cpKbBJGbZbK6N0znN36KsjyQ1dlSKJHAcl+oGg8yATjgcpri4mEGDBnH66afv1T44jovtuqJjkyAIwl56/oXZLX5+tyaNnvkB1lY1ANAx1at7bNoOluMS0L27gpIkoasiOBaEg0EEyO3Q4i11NBgWiiyRmaK1WfNSkSXy0/zETJvFW+vQt69i4sTjMAwDTdN4//33KSoq+sH7sLG6gc21ccaK0WlBEIS9cuJpk5j33rveDx37YPjTuXBkFz5cW8kH31ZyfL9cr6Sb7RA3bXpkBw/uDguCIALk9qYubhI1LPJCvu9fGUjRFOojCd5/730Mw8C2bQCKi4t/UIC8vjJKVYNJvWFRVm/wydpKDstPI82v7fG2BEEQBMjq2puxE0+iuryMLqdfydsRGNUtgwl9cogf6/3Ntl3okRVgydY6gmJeiSAcdCJA3ktNaQ3jxo3bqxFb8NIalm2tI7CHfxwDmkLBkMPRdT05gjxu3Lg92obtuKyramBlWT2pPhXHcemZHSBqWHy6roqh+WnkhnyieoYgCMIe+OCjj/nVlNOwTBNV0+lxUUfkqE12QEeRJVI0hfKIwdDOaYR0lZVlEUI+ESALwsEmAuS9EA6HmTBhAoZhoOs68+bN2+MgOW7a2I5LzLRZXx2jLrH7o8dNQj6V/P7DeHHOW5R89glDDhu8x/vx6rvFvPLWuxx99DF0PPyI5ONBXUWTZb7cXEu3zBSG5qfv0Xa/z768wBAEQWhPwuEwv//9NZiGAYCZ2ZVFqzeSnd0DpdnEOxcI6gp+TSYv5CMnuGfnAEEQ9j0RIO+F4uLiZFqDYRg/KK3hi001NBg2pu0Q0tVdBseu6/LMoi0ENIXj++YS2qnsz5plJSz87FOOHT+OkYUD29zGrnz48Xx+OulkTMPk+cfu55GZrzCkcFRyua7K5Kf52VITp1tGCpkB/Tu2tvv2xQWGIAhCe9T09y0Wi3kPdD0MfnInW4ABwZZ/QyUJfKqMpsgc0T2zRfAsCMLBIe6X74Vx48ah6zqyLCNJEtnZ3z+hLWbabKmJsa02xpIttdTGTPyqTKc0P6n+1tcr66saeGbhFq58aRn3f7SOu+Z9y/nPLOLbimhynaUlC7juorN5+p9/45fnnMYXX3652+8hHA5z859uwzAMHMfGSMR5Y/asNtcNaAprKxt2e9vfp60LDEEQhB+Dp59+mng8vuOBop8m/5sT8gJk13VxXBdw0WTvdCyCY0FoH0SAvBeKioq4//77URQFx3G4+uqrCYfDu1zftB2+3lbHl5tqWby1jpqYSW7I12o0uMnUeas5e0YJ9320li21cX5V1J0/TexD1LS44NlF3PTGN6yvaqAkPB/T9AJc0zR56/2Pdmv/P/nkU46dMIHwh8W4jgN4f7Bfee6/LC1Z0Gr9kE9heyRBdYOxW9v/PuPGjUNVVSRJQlXVPc6bFgRBaI/C4TDTp0/HdV0A5J4jocug5PKmsm6bauNsrImhy7KodSwI7YxIsdhLlZWVOI6D4zhtplmYtkMkYdFg2Kwsj2LZDl0y/N+xRS9IfXFZKS8uK2VIp1T+ML43fXODyI3l3o7qkcX/fbSWt1aUs6mskoFbNqMoKhKgajoFg4ZjO+53jkSEw2Fu/OOtJBIJXNdpscy2TGY88gCDho2gsGhsMt1CkiTSfSolm2sZU5BJQN/7j0/TCaTpX0EQhEPdPffcg2mayZ/TJv6CYLqfUV0zePmrUs4Y1BHTdghoChHDFt1QBaEdEgHyXsrOzkaWZRzHSaZZxEyb2phJg+FNvIublhdc+jV8baRRNFfVYHD726v4dEM1R3TL4J5TBxDcKRDNDOj85cT+5FrVzPjWYuXaOCouRx13Itm5eTgurC6P0r9DqM3X2Dk3TpIkkKTkKDKhLIoDIyie+yXqA//HtJkvJYNkv6Zg2A4LN9dyeLcMfOoP/8NeXFyMbdu4rott2z+4NJ0gCEJ7EQ6HmTNnzo4HfEFqA504s28uFx/ehdMHdaB/XoiySIK+uSGWb68nRRcBsiC0NyJA3gvhcJirr74ay7KSQd7vfnc1kdTO9B82ElWWSPOppPu/e8S4yRebavjjWyuIJGz+ML4XZw/plBw1bkvq+jB8a+MOPw1ryZvMn/c2juvy+gsz2bptGyG7gTNOmtgq6CwuLm6RG+e6LrIk4+b1hP7j4LCJ4AtCz8Oxeo7kn3f/lSeefy25fppfoyZmsGRLHYd3y2izkcnuaMrhbpqkJ1IsBEE41BUXF7e4IyYNPg5Xkjm2dzZBXeWwTmlEEhYZKRo9sgKsrWwgTZR1E4R2RwTIe6FpklnzNIF4PMbd11zGL393PWedf/Fub6syanDHO6uIWw73TxrE4V0zvvc5hUVj0Z75LWaPkXD0z7HfeQDXcTBcl8f+ehOO4/LPe//G++/vqA7x8fxPWL12XattOf2OgolXgarDio/gi5eg50g48gKW6Clc+esrOW7MKGqrq5JpF9vrE5TWxemUnrLH5dqa1r///vuprKwUZd4EQfhR8OZWaBhGAknVyBh/IV07pDKgQ2pynQbTZmDHVGRZYmCHEHmpoqybILQ3IkD+AcLhMDNmzKC0tBRVVbEdB5qNGJSVbuWum37PWy+/wG9uuq1FyTTwqk6UhOdTWDSWvkMKmbN8O9MXbKIuYfHQmYMZ3rl1reHmz2na3pDCUTz20AM8PH8dJQOPRV23AGf1Z7guydQFwzR4/vW36T+0kPeKP+Znk0/FSBi0yPjt1A9OugbK16G+eQ9ubRm2ZUL5WqgtheN/xwKpPwseuhVp2zfouo9HZr7CgGEjWbS1jvBnn3HBmafsdrk2Ud5NEIQfK8t2cHGRJAm550iqHY3rh3VusY4kSfhUb45854yUg7GbgiB8DxEg76FwOMy4ceMwGgu/K4ri5SA3tnhubtGCT/nl2Sdz41//nhxNXlqygMvP9boqyX2KsE+9EYAu6X6enDSUvrmt84aXlizgivMmYZoGmqYn6xQvLVnAG7Nn0VWS2dp9EttPuQFp1h9wtq6Cxj/QiqLQ47DD+WxDNXPemecFx42T8mRZpv+QEVQdfwNxGX7SsYqix6cD8ODUO1i04FNvNLliI0y5GyZcjjvrRkwjTkl4PkMKR5Ed0Hlk7nskEo1l4najHvS+qB8tCILQ3kybNo2/3X0Plml6aXfDTieEwbG9W5YAlQBNdCUVhHZNBMh7aMaMGcngGLyR2u/KwXVsm3tuvZ7e/QcypHAUr8+ehZmWD92GYo8+B8W1uPPUwYzrlYO6U9WJplHj0q2bvTJuto2JQUl4PgCXn3taskOTmvE68sX/whpxBmy9B2iqDCGR6tcoXbmETd8shZZjx+QedyHLLR93ntSPE/odlXz837Pf4KVnnuLV5/7DimVLsOdMhcl/hsIzcMIzqa+rY+pN14AEDZEobuN2JUkimJbB5xuqObxrRrJ0keO4yf83lXdzHEeUdxME4Udh2rRpXH755Tse6F0EXQYxqZeK2hgMl0cT2A4oMmiirJsgtGsiQN4D4XCYxx9/vMVjiqIgKyqObSErCj1692PV8mUt1nEch5LwfNxO/Xmpw5lw4Znegk3LSF8ym7q8C1H7XNziOc1HjRVFQVFUXNcbFVaDaY21j3eUEbJry+jbsJaVfcdCt7mwcan32rbFG7Nn8doLzySDaQBJklE69eULuYCR+ekc3ze31fs96/yLOev8i5l68zW8+N8n4dswFE6Cb4qZ8eg/2zxGlmVx3TVXc8wHYS75+YUccUQRDaZNRdRgSH4aGX4NEOXdBEH4cXniiSda/Ow/4kwCPvjNKaOBpqYgNP4dl5NBsyAI7ZP4hu6BprJkzU2aciGPPfcav7r2Zh57bg7Pzv2I6S+/zbjjT0FWVDj8LNyTr+MNaRCXvbDEe1J4Jsy6AV64hapVi7jrpt/zwF23t9husvmHbWPbNqOOPhZZknBsm3/deQvbK6ta5D0rqso1JxxGuga5p1yJpvuQZRkXWLjg0xbBNEDhuImkX3QPQZ/OzRP6fOcoeL9BQ1AUBd7/NzgWnHwtyLuedW0aBu+9+B9+NukkHvzXI5RFEuDC5xuq+XBtJXPmvoe1U3k3QRCEQ1U4HGbhwoU7Hug6hHiH/kwp7J6sR18bt8gO6OiqIkaPBeEQIEaQ98C4cePQNC2ZYqHpPk45ewpDCkclJ85FEhZ614GcetM/qSz8nGWJVFxgfXUVfeQtrJ55N9SWtdr2f6c9SJfuBckqEYVFY9E0jYTj4DoOa75alAzOTcPgq0/eb1F/+YxzLqDw8CM4fuunvLAun6MuvY1PH70V27ZZt3pli9dSNY3o+KuorHH51+R+dMvc9SSRpSUL+McdN+O4LnKsmpyvXqZs5IVwwf3w7HVgJXb5XNuyeOgvNxHQ1eT76ju0kKicgiRJSLKMqun0GjqKl97+gBUlYcaPHy/ykQVBOKQUFxc3toz25E28iIRf5fwRXYDGCkeWw4guQb4qrSdtF91TBUFoP/bbt/SSSy7h9ddfJy8vj6+++gqA66+/njlz5qDrOr169eLJJ58kIyOD9evXM2DAAPr16wfA6NGjefTRR/fXrv1gRUVFFBcX84+H/43pOEw656ctKlRUNRj87NlFbI80TuAjCIvfgA+fQMGl84QTWd1GcAxeju49t16P47pomsZd02dzxgW/5PnHH8IFSktLW6y/YsU3yQmCqq5zytlTWFqygFf/cA5Muo2Ps3pAhz6wdUWr13I79OGbGpcrx3TfZTk513VpMG0++fgjTNPAdRxkRWGgP0bZB/+G8ZfC4WchffYcRxw1jgXzi3EcF0mWvLSJxpOF3ZiD7b0vnWtvu4tH7roF2/JSUq64+c+sqWzgT788G9s00TSNue++x/ijj2pzvwRBENqbo48+Bk3TsADFl0JDTh+OKshKVqqIWw65QZ3MgM6IzunJxwVBaL/2W4B88cUXc9VVV3HhhRcmH5s4cSJTp05FVVVuuOEGpk6dyt133w1Ar169WLx48f7anX2mqKiIm7sMIGJYBHWVLbVx3lpRxtel9XyxqYa45XDm4I6M7p5JoHIN1/1rBhYuqqaTnZeHJMtesCnLDB05miVfemXZZEXGbhwtTtg27z37GFZi16Oz4AWfqqpy7W1TKRg0nBcffxDLiMNb98HP/gnnTIVZf4DS1TuelJqDffL1BDGYPKRTq2025cnVxEwURaJ/4Wg0TcfC2PEe3nsat1NfKDqPo/vl848//zFZUeOV5/7rlYhrIklYlg24WBjMfOLRZC60Y9tsWrmcjSuXYzU+ZhgG9z78OF0GDKdPGxU9BEEQ2puCQcO5a/ps1i7+HKNXEf9eaXFCvx3zOqKGTZc8705dUIweC8IhYb99U48++mjWr1/f4rHjjz8++f/Ro0cze/bs/fXyB0TMtPnNK1+xsTqGX5WZ0CeHC0d2oVd20FuhTw7X3nYXrz73H3I7dKLfoCHoug/L9ILN39x0GwBvzJ5FZUUZH703N1lj4q3X5zBs2LAWrydJUqtJba7roptRYpbDiNFHomk6Zn0ZyvM3IP3071jn3EnHTx9j6+aNMOIM6DUKHJsbRgRJb5ww16TBsKlLmPhUBU2VKeqeSaZ/LFOnv8C3iz9nZNFYAK8Sx7xHcLoO4Zv8Y9hWF2dI4ShKwvNxbKvlPkOywoULrF+7mp1X2DkbL0WTWVUeIaQrdEzzUx4xyAnqySoYgiAI7YVlO6wsj1I0uoijjxzDBc8uokeWxpiCTGDHoENeSD/IeyoIwp44aJey06dP59xzz03+vG7dOoYPH05aWhp//etfOeqotm+xT5s2jWnTpgFe2sHWrVtbLC8vL99/O92osqyOjzbW89SSSjbXm/x6ZC6n983wJmO4EWoqIgAsX7KIe/90A6bpjY5+PO9tRo89hszsHI4/dRLdundn+ZJFvD57pjchz2kZ/C5evBhVVenRowe9evVi/Pjx3HrrrckcaFmW0TSNEUMPI2jUkt2pC/c+Mp0Fn3xIbodOPPTv63DOvJ2tR/8OHNubWLfla6b0VBkzcDg1FduTr2U5LtGETZ/cINlBHdd1qSrfTo7kMuqwvnTu1h2fKhHSVe59ZDqLSxaQMcDPtE0yp03/guN6pHJq/4GoqpZ8v7Ki4NhO8jV2rhUtKwrHTPAuml57/hks00TVNMYddwJqrIb5X1XgV2UihkXvnCD5af49bmt9ID4PhwpxLDziOOwgjsUOP+RYGJbD+uoo1VETN0VjcWkDK8uj/P6IPOoqvXS6BsMmoCvUVFjU7Oud3g/EZ2IHcSx2+F88FgclQL7zzjtRVZXzzz8fgE6dOrFx40ays7MpKSlh0qRJfP3116SlpbV67mWXXcZll10GwMiRI8nPz2+1TluP7StvLN/Oje+X8lVpPR1COo9OPoyRu8jjXfnNcqxm6Qa2ZfHph++j+/ycdcElZOR0oGTJMkzTxHGcNrfhui4///nPuemmmwA46qijKC4uJjs7u0WL5mjC4pN1VQwZexwDhw7n5VnPYFduhGevRep7JN1HTWB0KMLxUwpbdfZzXZeySIIxfTLomOZvtQ/dukBFJMEXm2rICPkYM+FExkw4EYDCsgi/feUr3ltXz9rsXO546lXee+cdFGwK+/Xg3j9dj40MVvMScxKyonDDX+5Nbuex5+ZQEp5PemYWK79ZTigjiyGFo0hYDlm4lMcssn0heuYE9+C35dmfn4dDjTgWHnEcdhDHYoc9ORb1cYtvttcT1TS6dtZxgRnzlpCZojH58N74Va/SjxFJMKxbJtnBQ2cEWXwmdhDHYof/tWNxwAPkp59+mtdff5158+YlRwN9Ph8+n9eLvrCwkF69erF0HB4TAAAgAElEQVRq1SpGjhx5oHfve31dWk9ZJMEvR3XlwpFdCei7LndWWDQWVdNa1B92XRfLNPgyPJ/OA4YxeuzRPPfYfSTi8RbpE7IsI0kSuq63aKRRVFTUZpWHoE9leJd0vtxUg9742pqmYzVUo379Dn/645WtAuMmFQ0GPbKDbQbHTbKDOlkBjfq4Rap/x8emX16IuZcewatfb+eeD77l5hIXsscDML9WpuM1z7IloUD1NvjiRVj5EcPHn8Svf30VQ0cekdxO075dfu7pmEYCWVFadCDUgjIryiNkBjQyA4fOiaZJOBymuLg4eUEjCMKhqy5u8sm6KlRZpmOqd+6au6KMpdvq+fMJ/ZLBcX3cItWnkpmifdfmBEFohw5ogDx37lzuvvtuPvzwQwKBQPLx8vJysrKyUBSFtWvXsnr1anr27Hkgd223XT++F8f1ySFiWN8ZHIMX9D323BxmPPIAG9Z9y6b1a3EdB1XT6DnsCPLT/Pjyglx80UWUlpby1ltvYVkWuq5z//33txgh3h3ZAZ0UTSFSZzOkcBSPzHyFkvB8CovG7jI4ro9bpPu1NltcNydJEgM6pPLJuiqCroLcLNVBkiQmDe7IqK4ZzF9fxeryKKk+lZhls2xbPZRFIL0DnPR7OOG3LJQV/luaSsf6BB0aTy4Ab7w4C9PwJiY6ts3Um68BvIYliiyR7lNZsLGGkE9lTEHmHqdbHCzhcJgJEyZgGAa6rjNv3jwRJAvCISqSsFi6tY6AphBqnHAXSVhM+2wj3TJTOLH/jsl5MdthbNcsMX9CEA5B+y1APu+88yguLqaiooIuXbpwxx13MHXqVBKJBBMnTgR2lHP76KOP+NOf/oSqqiiKwqOPPkpWVtb+2rW98kOCsvBH7yc74k2cfD6nnj2FKadMYOWSEk464fhk4PTAAw/scVDcnCxLDOuczntlXkm45vWZ21ITM0lYNkM7ZyWL2X+XNL9Gr5wgayqj5AV9rZbnp/s5Z2jbt2Be+O9TvLhgJaGBY1lHFh98W8k32yOcMiCPqu1byd28gMryliXwXNfl7j9el2zT7dcULMelPJKgJmYeMiPJxcXFGIaBbdvE43FmzJghAmRBOMRUNRisrWxge30CRYbcoI+lJQsoCc+npnsRG2ssHpl8WHLwIGpYpOlKiztugiAcOvbbN3fmzJmtHvvFL37R5rqTJ09m8uTJ+2tXDjjbcYmZ3sSMjz76ENMwcBxvglr/3j244uwTkSSpReBkGAaVlZXJXOMfKt2v4lfl5MSQXTFtB9N26ZYZIGMPbv/1zg5S3WBQEzN3+3lLSxZw/59vxjQNtLlP88jMV6DTIP7+4RqeWLDJWynSA2XFy16lDkn2JhXilbKbdt/fuOz3NzKkcFRyxGZFWYTR3dv3KHKD4VX0GDduHIqiYDd2D3zyySe58MILRZAsCO2YZTtsqI6RG9IpjyRYWRbFp8pkBzQ0RWZpyQIvJcw0kM77O5179m1RVz5q2IzunnkQ34EgCHtDVCvfx2rjJpvr4kQMi9L6BMdPGI/Pp6MoCj5d5yennpAM6saNG4eue8t2zjX+oSRJom9uiIhhYdptT/wDiJsOndN9DO6UtkdBpixLDMlPR1NkqmPG9z+Blm2zLdOgJDyfIflpzDhvOOcpy5DeewhwsSf/Fem3s+Hyp2Hgscnnfz7/Q644bxJLSxYAEPKp1DSY1MTMXbziwVPbOCq/eEsNxWsq+fdL7/DEk0+1mNxgGAa333474XD4IO6pIAg7S1g2juNSWhfn8w3VLN5Sy0drKvm2ooGcoE5GihccQ7OUsL5jcTv2oa74v7z0zFOAVxVIV+Q9GnwQBKF9Efd+9pG4ZVMbs0j3q/TPDRLQFNJTNDIHHUfBvHltTtAqKipi3i6W7Y2QT2V4djoLt9SS7lPxa61HkmOWTUZKoI1nf78UTWF090w+21D9vSPV0GzCYGOzkcLGesoAE8eM5KUH/4q5ZgHS4IkUnHgha+o1OPFq0oeNp/azV3GrtmDVl3mBdWPKSNCnsHRrHaMLMvGp3/36B8rm6hhfldYT9ClEDYvtK5dw/UVntpikCV7qyLvvvsvHH38s8pEFYR9zHDeZ8xtJWFRFDTICGmmNdd8dx8VxXdTGQNewHGpiJl9tq8esUUjzq9TFTdL9Gp3T/bgu6I2d75pSKgqLxnopYVoKHHMJbP+W+k9e4K75zwEw7syf0jUj0K7vcAmC8N1EgLwP1MRMYqbNyK4Z5IV8rSZk7KryxPct2xsd0/wMc+GTdVVkpKhkBbzaxnHLoT5hkZGikZfaOo94d+mqzIAOIb7cVLNbkxV3NWGwrWW24/LQJ+uYuRCYNBTiEeTXp7YIrIO6Sk3MYMmWOkZ2zTjok2AiCYsl2+oI6QqG5ZAb9PF6eD6W2fYot+u6GIZBcXGxCJAFYR+pjZl8XVqPYTv4GlPN6hMWKZpCr5wAdTGLiGGjKRIZfo2a+I47UY5tkxfSiZsOHUK+VsHtS888xT23Xo/d2AnVQYazbodQNsz5G7jeHbt5b77G2DPOo3tWygF+94Ig7EsiQN4LluMSN21sFwZ1TP3OMmkHQ05Qp1tmCmWRBOWRBJbjosoyfXODFGQFd2ti3nfJCuhkBXTKIonvvZ34XRMGd16myBK/O6onF4zowr/e/pI5GwNI59xJVu/DWjwvI8V77bJI4qAde9d12VAdY2WZ1/kv1KyNbFtl/prIsrzLtBpREk74sXNdF9N2sV2XlDbucP0QhuWwbFsdVQ0mAV1Gc6VkpYmEZbO+sgFdlXFdiJkOMdPGp8jkBnUkSaIm7lXnaeuCf2nJAu6+9Xpsy5tXYCPDqddCl8HwzoOwbWVy3SMmnEzP7OA+e1+CIBwcIkD+AWzXZXvEIDtFw68pDOoYJCf0w0dj9xddlRnVLYPSei+A9akytuOSvo/y4hRZYlS3DGrjFqvKImyujdEx5EveumzSdDJsuk25u7KDOreeNYZf1MY575mF/PaVr5l29hBymhXcT/OprK6I0iG19YjP7mowLGKmQzRhUR41qGow6ZUd+N6mJHHTZltdnK+3R8gN6qg7XXA0lflraiUOEMjIZswRI5Fi9YwfP75FABwOh5kxYwZPPvkkpmkiyzIPP/xwsjFO0zoieBYOZaV1cTZWx6hLWFi2y4AOIXKCOkHfDz8dra2MsqU2TsKy6Zze+mJZ1VX2tE/H0pIFye9u+fbSZHAMQP+joXcRLJgNX73LSZPOobqqnPEnnsYxZ55P90wxeiwIhzoRIP8AiiQxtFMafXKD7T7HTJIkOu3H0VVJkshI0RiSn0ZalcraqgZkycvzkySJFFXBsB2ipo2uSF4Kyh4es/x0P/+cNIjfvPwVFzy7iFuP68ORPbwygH5NoSySYNm2Oobkp+/Rdm3H5dP1VTQYFq7rvRe/KpPqU1hRFqE6ZqApCkPyW3d0dF2Xks211MXNNoNj2JGveMrZU5Ij5JbjUhk16Jjqo2f2jhzwplrJ8WYNYxzH4YorrmDNmjVkZGSQnZ3N1VdfLeopC4ck13VZXRFlVXmEFFXBp8ik+mRWlNVjO9Ax1Zs0vCcX0o7j8k1ZhBVlETL8Cpkp+6b0o1eh4rQ27/5QMAIm/Aq2r4H5M5AkiZ59+/Hzqx6jqsGgICvQ5rwPQRAOLSJA/gFG7KK19P8yv6bQv0MqBVkBFFmiPmGRsBxK6+KURQz65YaQJFhX1YBflQlqSquR5u8yLD+dBycN5rcvL+WmVxfxjzEhDh/ldeLLC/nYXBOnS0YKWXtQG7kublIbN8kJ6MmZ6U1yQzql9V7TEl2R6ZPrjSZXNRhoikxZJEFd3CSvjTsHTSNPr73wLLZtoWk6j8x8hSGFo1BliQ6pPiobDOoSFmN7ZKEqcrLkX/NuiuAFyffcc4/XnluWcV0Xx3FE/rLQ7jXd7cjOzmZbWTldBx9Ox35D2b5yCYs++yQ55yAn6MOyHcqjBiWbaxjZNaPV97EtruuyoizC+qoGuqS1vnO1N7wKFc2CY0WDEad51XWyu0HZGuTX/gqyjKb7kvMjLNdt0fxIEIRDlwiQhX2qaeSkKVDtlObHtJ3kCa9zut+7HVoTR5IlfN+Tu9x81rgMmM//CfPM2/n1E3N5XJGSI7PpfpXFW+oY2yNrt0ag6uImy7bVE9SUNk/GsiTRMdVP1LBYWxllQ3UUTZaJmjaaLGO7zi6D4yvOm0QivTOkdYKK9VgYLSpwNB2fygaDJVvrKOyawTHHHIOqqjiO49WCdt0WwbLruti2nWxB7rouNTU13/s+BeFAC4fD3HPPPcyZMwfHcZKfY1lRuODSq3juqWleTfTmF46KTE5Qp6rB5MM1lXRO99MvN7TLybfeyHE9G6tjdAjpP/hOXvO/L926d08+9trzz0Agw+sAmtEJDj8bcrpBQy0seIHTC/xMmvFsi8nFNTGDzBSN1L1IFREEof0Q32Rhv2segKb5NYZ1zqBXtoUkwaqyCKX1cWRZItWn4m9Wsq0p2Gw6mZ569hTsTctg4Ryc4afywacLkkGnX1NoMA2Wb6+nX15olxNk6uImy7fXUxU1CfmUZOmnXQnqKkFdxXVdrMb87ahhkaJprVJFLMdl7qcLMYadDmPO9x7cuARp7v+1qMDR9N5KwvMpGHoEKROOYk1FFKcxKN55FLk5x/Fmyruuyz333EOvXr1a5CgLwsEUDocZN24cRhupCY5tM+PRfyZ/bvvCUSNu2ayrakCWJPrlhVptZ1ttnI01DVTFzOQEu93VPCAGWvx9ueOh6eQPPZIZr76D2fkwOO5KSG1sGx2pRH71L0jrF6JqOpOufaXF5GLbcTEdl2H56e0+7U4QhN0jAmThoGhqvzqiawY1MZOoYbFkSx1yikRdwpsM06LBCAaVZWXIkoS7aA7ukBP5Jm94ixPekMJRlEUSVDeYHNE9g4CuUp+wqIwapGgy5REvgE5RFbavWsKb4fmkZ2ZRW12VfP7O22siSRKa4p34gnrrr81XpfX89b1VfGsPgjGDYPu3UL0V+h6Jdd4/eHOTRV7fBB1TfS3yG2VFYettd1NTXYVt2S22KcsyQ4ePYMmihcnAeGcvvviiCJCFdqMpVWh3yIra6sIRwK8qqAGZzTUxOqb6UGWJoE8lkrCImzYLt9QQ0JQ2290357guc5ZvJ166nvrlYTIzM7n3/gewytYhKwr9xp5EomAUWAaJ3AL++JWGtXwxZB0DZx4Dtom0dC4ju2fzsxOOJHTSX9v82wBQHTPplR0UuceC8CMiAmThoMtI0chI0ZBcWFEeJagruEDvYUegaTqmm8AF5n/wDrbjIEUrKahawpfaKH557S0460rQNI3HnpvDkMJR1Ma9Wqg9sgKs2F6P0qDjUxUM2yYn6GP5oi+8NIhEHFxvMqHu83PtbXfxjztubnX79/skLIdb3lrBlto4yhcvYH81D6m2FFwXd+FrcPxvmb3eZtWb3/DY2UN4Y/aO/EbHtnngjhs4/9KrkGUJ1/XSJyRZRtN1fnbt7fSc9xYvPvFwm689bNiwffibEIS907yt+vc5/Sc/3eX3S5UlLMclvL4KF0hP0aiNmciSRFBXSPW1vvPjui6PfbaBBRtrUWSoi1usqWzwFtZ3h9IoXPBPMBM40Sq+yejU4vnW2i9IrdtEfVU5VG+BLd9w1rk/5abbrkmu09b+xi0bXZEpyPphjZcEQWifRKtpod3Iz0jh6J5ZHN4tg8Iu6Rx/7FFcduOfkWQZx3GwTBPXcXBsm3Wz/gZVm3Em/hayu2MaBm/MngVAul+jImrw5eZaZEkiK6DjV2U6pvpRZYmS8HwMIwGNqQyu62Ik4rw39w0M02zREvv7xE2ba1/7mi21cU6VV+J++qw3ctwYeMtl36LPvpEzuyss3VbPX95bDTvdgbVtm2cff9hrQKAoXPir33HldbfwyMxXOXrskXTMzkKSva+qJEn07D8IqTEX+cEHHxQtq4V2o6ioiH/9618oigKShKbrXPir3yHLzU81ErKqg0SyfXxbcoI6uSGf1+TIcckJ6uQE9TaDY8d1efrLzTz++SaWbqujssGbQDtc2gbzZ0DlZrBN77tZugoSDfDxU/DaXfDWffDMNfDKX6h//ylY/AZsWIwqOZxy9pTvfL+O61ITMxnUMbRbEwsFQTh0iBFkoV1RFTn5oRzYIY1sJeHl5O6cl2tb8Po9cO5UGHMevDa1ReDZNIGuJqbg22nSXmHRWGRZxm5KWwhm4eb3Y+mIy6HX2UifPY+6Ntzm7d/mPt9YzZ3vrWZbXYJbJ/ahR9zHuw95I96O4+ACiqJw3a1/4awzx5D68TpmlGzm18f8BGXWf7Etr4OXJElYlg24IEmkpqXx86t2jFoVFo1FVVXMxioX61evALzAPh6P88T0p0Q1C2G/aKrN7bou551/AUcdeSSS5OXcWo7bKqXAdV1yuvfh+MnngwRn/OQ8Ro4azbgTTuaN2bMor6ygpOdZRP3ZvFhTyiv3PcvEMywuHj+U3ruoO67KEqq869SF4m8rmPb5RlaVRzmmZzZ3nzogWXbxgbtms2jBbK9e8R7qN+iw772DVB0z6ZkdJC+1fTWJEgRh74lLXqFdO37Csfh0HVmWkRWFYaOK0PTGpiAV62HJW9BzFEqXgZwy+btHe5oMKRzFDX+5F6nLYPjZA3D5U3DaTcQlH1JGPu6JV1Nw0/M8W5rK16X1bW5j9pKt/Pqlr7Acl3tPG8gZgzoCcOrkKQwYMtwb8W0M7GurqwC4bHQ3hnRKZdoqm6Numoase80EvEl5TTP9W+dlDikcxennnL9j8o/rJicIuq7LjBlP8W7xx3twVAXh+zVNuHv00Ud57LHHOHb8OAYNH8l1d91HyeZaPlxTyba6OLUxE9txefuDj5hy0S+YcvqJvD37Gd5/9QX0xlHVIYWjuOJPd2Oe9Aei/mwoXwdGA/aISczdYnPlS8tYuLl2j/fx7g++5brXv6GqweTWiX34+2k7guOlJQt45vG2U5PAuzAdNGwE4044hXEnnIKstAzCzzj3Z9/52pGEhabI9BCpFYLwoyRGkIV2raioiPvvv59fX3UVjm3zzdJFTL7oUmY/+SiWbSOVvIw69ATSJl33ndUfmjRNwus/8kj85/6FmKvAwlfRNi7m4XvvZPDww3l20Rae+WI9K1dX8N7qCq46soDJh3Xik/VVBHSFVeVRnv5yE71zAjx85mFkB/XGiXenY5kGsqKiqhqObaFqejLg9WsK958xiMtnL6O4IhuOuQTe3XEClyRpl3mZp0yewuuzZ2GZBqqmU3TMsXz4zpvJ8m8zX5vLqCNG77MuiYIwY8aMFhPuHNtmxdKFrFi6ENdxmXz+xSzZWgtIrFryJddfPBkzkUh+D5vSlIYUjuLtlWX8vXgt9XET5YNHsRe9CYCUksqUG++l2OnBTW9+w7SfDKF75u4FnF9squGFJds4siCTu07u32rybEl4fotcaEVROOq4E/nkg/eS381rb5ua/L59Om8uL838L+VlpZxx7gWcdf7Fu3xtw3JoMG3G9sgWE/ME4UdKBMhCu1dZWenlHjfmIa9e/hWO443OSoko9ifPUHnsr7js3qf49x+kXd4WXVqygF9ddB5mryLcml7IoSxuHaZRpeaTfsJgnn3sQTas+5aMrGzqFy9CCmbBhCt46BN46JP1LbY1piCTWyb0Ibuxf63XWMBrLGJbJkedcAqDho5oNeM9za/xn/OG8ZuZYb447ASI1cH8/yA3NhzYVc7jkMJRPDLzlRYlqsIfvp8MmEcWjaVkcw3je+eIMlPCXguHw0yfPn2Xy9956VmMSG3y8z1tzgsY8QRNd0IkSUpeHL6wZCv3Fq+hZ3aACcYSXlr6dnI7bqye5/78a0ac8lNW9P8JF81czMkD8ri8qDvp31GC8eO1ldz4xgp6ZKXwlxP7tVlZpr6urkVq1vmXXsVvb759l5VqBg4dzpgJJ+7yNV3XpT5hETVtFEmisEt6shqPIAg/PuLbLbR72dnZyS5yuq5z/pSfsKzkM2wTkCTspW9D/gDsop8ydf5WHh1ktnly/c8nKzB++k8IpEPFeianb+OMcb9iaarMpT85BduyWj4hsQVevI0xF11Pr+POQVMkCjID5Kf7kLet5M2nH95xkt1p8DorJ4/Tfv5rstvo7KcqMg+fP4bfzfyU8KifkDl6ErJjMjw/lYJBw3d5HJrXXQVaBMxDCkdRFjVoMGyColGBsJc++OADrO+oRLFi2VK+XrwQWVEYdeQxfPbR+y2WH3P8yVz4q9/Sc/AIfvPEAgbkpfLAmYPY8LXNnAd1DKdZS3Xb5svX/oP6aTEdf/Uvnl+yjbWVDfztlAGtmgitKIvwWHgDH6+rYkBeiAfPHNxmLfOd0yukxtx+aP092h0x06Y2bpEb0inICpDqU8lpo1GQIAg/HuJMKrRr4XCYq6++OtlF7je/+Q3x+lqu+dNdVFVWkZOT7ZVme+8h8IdYXVDIb2d9zuj6Eo4cU0SkpooVy5dT2mU0Hzg9kGIbkT6YhrqxhJOefRnwRn9bBcdNHJsvnrmPX54+PnlS3bmBySMzX+GUs6fw2gvPYJkmqqYx9pTJqIrM9voEeam+Vk1FZEni/84tYvbSbUxfsInKmMl7W23Wz15Kj6wA1Q0m54/oTG7Ix7urytlYHeOUgR0Y1ys7uY2dT/QKsLk23mZzBUHYE6PGHIWqadjgXYQ2+350LejJpvVrAS+43Tk4Bhg0dASDRxzOdXOWEzdtbjy2F+l+LXkn5I3Zs3h51gycZkG4XbmZ0xMLCI2fwj+K13DtnOX8YlRXyqMGw/LTqE/YyXKKFxZ24dLR3dpsCLS0ZAHT7vtbq/SK75t0uzPLdiiLGsgShHSVooLMPWplLwjCoU0EyEK71tR4oKlRxn333YfjOGi6zp1PvMAxY4+kd/+BjSOpY3h3i8XMbw2+LkvliUffhC6DwT8QNtgM9tXTx1pIdUEa2YefCzRrK7sTr50zgItjW8mSbyXh+ZRu3ZxsYGK6Cabd9zcu+/2NPPbcHMLzP6J/YRFHHTmGPrkhtvx/e/cdH1WZNXD8d++dmXRCGi10qYGEaugSBBRFQQQEy4JlxbWsa111XVfXhnV39bXvuqirgFKUpliAIEgohhJ6ByEJIb1Pvc/7x5DJhIQixYRwvp+Pfzi5c+feJzyTM8+c55zCcvbnldMo1FYtSLYaOjf2iGV8t2boGny/K5tp6w7x/a4cAH4+btPSsr25xDcJIzLYxqUtw5nYPZa01LUsmj2T3JyjREbH0P/qcTQZcwWhARaME7Tpra9SUlJITk4mKSlJqnqcBY+paBHXnZf+O5u9G9dwJOMwc6d/jDJNdF2nQcOGJ32+1RZA18QBvLhkDz/uy+ORpLZ0bhzm+3nFB7uOXRN4+a+P+AJZi9VG7/4DSejWjFCbhZeW7uH+r7ZWOXewBa4zdpAUHECQtU2116748FpRxlHTNHTD4M/PvXrKVWOlvBvvAJweE7ep6BATSqBFJzY8EIuUcRPioiIBsqjTkpKSsNlsOJ1ONE3D4/F4g2Wnk90bVtOzd58qK6mLZj8EP++FyyZDk/bek2TuhH3r2J76JVtND8o00XSdhbNnettX+600RURG0+3SPvRPGsbrf/+LL8c3PCLSt2psGAaGYfHlRa9ZkUzq6p8Yet1Exk28icsGDqBtVAiGrhEeZMVq6GzPKkbXNRqHVl9N3rZhnS9VYuYtiRTb3VgMjS1Hiil1uAkPstI+OoTZaZl8tzOb5ftyWb4vl/U7D7Diyet9TUcAFsyajq7NZVjSIOKbNjj/v6A6IiUlhSFDhuB0OrHZbCxbtkyC5DNQ5nSTeriQEqebAf37c9nAAaSlrq2yQbRX30Fs27Shxk2xPRL7c8tDf+O9A4FsyjjCjd2bMaFbsxpf6/qbb6Vdpzg+efdN38a4inl8dedGXNY2ksU7jmJ3m9jdJiVH0/ni8ZuZV1rIgn/q3Pz7ewlr0KBKN8zUlJXecojH5niPfpdx872P0Ll7bwrKXQRZDYodbgxNIyzAwNA1sktduDwmLruLVtHeP4nNgizEhgcSXENusxDi4iCzX9Rp/fr1Y8mSJSQnJxMVFcUDDzzgC4LGjbwCu9tDkEf3re7k5hyFnT96/wtvAqV54Hai6zomoI6tRCvTxO1yggKr1YYb7x//1z/8zPdHunJlemCVttcakNCrDxvWrvKeSylcTieLv/iEZfM+Z9myZbSPqQzO2kWHYDV0Sp1ufsm30yi08mvamtI1Kl7/0hZVV+puvbQFt17aArvbw8tL97JgWxb0Hg+rplORBO12udj2cwoJvRJxxpjYLBfHqtcrr7yCw+HdJOlwOPjkk08kQD4DW48U43SbVdo4+28QDY+I5PW//6VKyr1uGHSO787oCbdw3U2Tuf/LLWzKKODxIZcw7gTBsb+UH5fidDrYsWUT4A2ca9pIN+2t2bhKC1Gmicc0+eS9N3znqOiGed9fn8ewWFAuE6vFyhNPPkXSoAEYusbhQjuZRQ4ahwWga5Bb5sLpNgm26XRuFE55gYdWLU6+Oi6EuHhIgCzqvH79+vmCnfj4+Cpfox/OL+fzxUvZv3EN4RGR/LTs+8onFh4BQNN1rhw1jqWLF+B0eDcHaZqOxWpj5LiJjBw3kdSUlcQn9ieyXTylTjchNkuVlek9O7ahaxpK01DAxnU1d6+rKTjTNI3WkcGYpqLI7qbI7vJtLPIPvN1UlsU6mUCLwZPD2pOfm83KvhOgcxL88A4c3IBhsdB/0GV4lGLdoQL6toqod6kWFakUUVFR5ObmEhUVxYIFC2r7si54uaVOskscND6u6UWJw80L2wyO6H1pkF2AY/AUaNUd9q6lB4e54w/3csDWnBKPYsqsNDZmFPHAoDYnDI49piKv3EmI1eLralkR9L7y1KMcPnjA11nSZgvwfWis1g0cx78AACAASURBVODHT0U3zK1pG9F84bsitmGQbzNdRLCNLo0Vut98UEqhFOi6RkZx/ZonQoizIwGyuKD4B8sAv2zfwJO3j8fldKLpmi9XWdM02nfqyu6dW0Epli5ewIRbpzD9P2/j9njQDZ2Hn36RhF6JuD0mrbr0wO42iQ6xkV/mQsPD7rSf+TllJRGRUbz69OO4j21UUifZ3X8yuq6R0LQBqw7kU+7yEGT1bhzyX8E+3Y1EFl3jnxP78/vn32ZTeDcYNBl+2cToGyq/ps4udbAvt5T2MfVj015FV7dp06bhcrkwTdObY3qsFXkFwzCYNGlSLV7phcftMdmSWVStIkRWsYO/fLODvblltI4IokwPgw4DwBoI3a5iI3D/aiem8m7aC7EZ/HVYe0Z3aXzC1yq0uwi0GJS7TVp3S6wS9Lrd7iorwy6ng0WzZ3rbyGtwxTXXs3jerBrTO5RS7N24Drfb7asPnpycXOX9Qj/uw6KmaUhVRCFETSRAFhe05cuX43Y5MU0POjqGrqOObczZs2ubL6XC5XSwa1saZkXbaqXIz8tjX14ZITaD2AaBtI4MJjzISmG5i4/mfc+fbxuL2+kCjSq77Y9nGAa6ruN2u7FarScNzkICLCS2bMiqA3lYdK1afeNfU35K0zT+dHUiU55+Hfew+zAuHVOljnJkkI09OaU0Cg244BuIpKSkMHToUOx2e5XgqCIQqigDaBgG77zzzkWZXlHu8pBZZKdJWADBNgsrVv7E9M8+BWDSpEknHZOD+WWUuz3E+KVWzNiQznspB1EKXryqE1d0jAEqm+3ExPdnt9aI/HIXHWNC6d6sAa0iggg9QZlBu8tDkcNNaICF7s3CsVk0ElteSUjRW9z/x/u8ZeVqCHy/+ryyLfup7N7lbcOuaRo2m42kpKTTep4QQhxPAmRxQfPfxGdYrTzw1IuUFub7dt776xCXwIa1q32rte179KFNZBAdY8KqFPwPD7JSuGcDbpcL0zxxYNymXQeuGDqEyZMnA5x2BYXwICs9YsPZmFGIoelnVJe1QkKvRN5/5iGeWHKIon4TcJneAKMiiOnSuz+m6kH/1hFndP66oqKayYm6JVasJhvH2gVPnTq13lezUEqxL9f7Ac/QNT7/einrVq2kZ98BtIgI4oZrrvCVZ/v3v//NnXfeWS1QVkpR4nCzK7u0Ss3ul75axewDHjo00Jg6pmeV7nZnWke41Omhd4uGRAXbfCu5ARaDu/9wF927JfDoX/7KT8lVS8a1uqQ9B/bsqnY+Xdfp1f8yWnbswryP3/d9u+N/X3/84x/r9e9fCHF+SYAsLmgVm/iWLVtG1979CWoVR4BFZ+/m9SycPROHww5KoZTi848+4OGnXyTjaDZxvfoxcEB/ujZpUGOr2OFDL+eF557FWdPK8bHVqU8+msbAAf2rXMvpatIgkMFBVtb9ks/REgfBVuOEK2+nomka+d+8j+u6v3HPGzN57Krt3trQxzb+3fOX5/i2rIikxJ5cP2b0Gb1GbUtKSvJ+FX+SlXylFC6Xi/vuuw/TNLHZbCxZsqTeBkmFdjcbM4qwGRq7NqXyxG1jcTkdfPqWQVyPS6vULvZ4PLz33nv8+9//5p133mHKlCmAt/GGVmYj0KL7ctVXpqxh9l4HpG/lwOLXKOz2BZzhBzjwpm+UONz0btHwpM01unZsz5qfVuB2eVeLLVYrN97+B159+rEqlVo0Xcdis3HXQ48zengSwy9N4N5776n2b2Pjxo1nfM1CCCEBsrjg+ecl55U5WXMw35e68PbLz7J+bQrKNHG5nBzOOsqU+x+mQ0wo0SG2E7Zl7tevH7fffjvvvfce4A1Chw8fztixY8nNzT0nq5NBVoPElhHklTk5XGjnaIm3CoNF1wi2GpQ4PZgKGgZasFl0nO6aq1KkpqzEc3ADbF2Kp+doFiTPqFKn+c1nH0eZig+sVpYuXUL//v2rneNCYNawOasaTcPt8Zbys9vt9bKahetYvnBWsZOoICthgRY+/maOr9W56fGw5efVNT7X4/Fwzz330KlzFzp170XK2nXs37mdJo1i2LklDTRYH9oNglrD0vfxlJec1sbRk8m3u7zz7QTBcUX6jNPpLaE4evRojNBIkq4dR2iAhVHjbyY35yhRMY1oHxdPVnYuE0ddyRVJgwDIy8ut8bxjx44942sWQggJkEW90jDQSliglbwyFwm9Ehl/x91s2ZiK61iHuxtGXkH/1pEnDIz99ehR2fZZKcXYsWN9K2/nSqDVoFl4EM3CgyhxuHG4TXJKneSUOmgfHUKQVSctsxiPXeExFSE2o1ob7YqNfq4V0zBb92Brh3GY69eh5Rw81gXNAyhcLpi/+IcLMkBOTk6ukl6hGwaDhl7JyqXf+/JTdcPg5jvvZeZ/3/PWwlWKadOmnTL/9kKTV+Yis8hBo9DKD3i52UdP+/kej4fHn3mB6++4h+f+dCcul9OXq0/L7jBuDNr6eZCfjv4rNo7WpMThrQjTMiLohMdUpM9UrAD36dOH+x58lOkLf+APN47G7XRhsVl56b+z6dCtN20ig4hrUlnj+/ha6T179uSOO+4453NVCHFxkQBZ1Ctr1qwmeekyGnXuhSeuB53iuzP1v7PZ+nMK1189nKuHDj7tc+Xm5voqJOi6Tm5uzStV50pogIXQAIgKsdGRysoTDQKtlDo9uE3FpoxC8sqcmMpbMSDIalRp3zt33nOY41+Efjeh5r8Apk5FjWRN02jSuZevgsaFwmMquvTuh8Vmw+X01rR+7LlXffVyKyocjBw7kYReiZSVFDP3s4+8pb+cznqziqyUYnd2KYcL7YQGGL7gOC11bdXyhsdp064jv+zfUyUFIWXpN9isGm7/4DiyOYz4E+Qdhp8qukvWnPN9OhxukzKXyYA2ESftQucf4FZsrNuyYR1z//1P3Me6aLocJqu/mcONI4cSc9xKtH+t9Pqedy6E+O1IgCzqDf+vam02G998+x2dW7dhcMIVhE24+lfXA05KSiIgIKDKH+7aEBJgIeRYfnJ4oIX0QjuaBkdLHOSUOokOsZHQK5HUlJWoI3tgzSwY+DuIvwK1+TvfeZQyMQyNlfvy6Nc64oxzns8ldawdcAX/dtE5JQ5W/LicFvGJtIvvyf99+hVpa3+qUu2jpg1jI8dO5KuZ/8NzrNxXfVlFPpRfzq6cEiKDbAT4pdosmjPTl7frT9d1rLYAnnr1TQAev/s2jh7J8P18+6aNGBYLuN2YmgEjHgTdAgtfQbkceNuse351ioWpFPnlLnRNo3eL8Gql4453fIALMHToUBwOhy+tRinFvC+m88Ddd9Kkht/j8eUfhRDibNX+X0ghzhH/r2qdTierVq6g/SVtaXiGJc7q4spUSICFDo28q8tto0L4+VA++eVOX01lw2LBs3Y2tOwGl90G+3+GkjwATFOxfP5sNq5ZxaGBg5g0avhJV/bOJ7vLw46jxRTavW1/g6wG+zanMmnstThdTnRNwzy2udJmC+Dhp1/0tRM+nWDNPx3D5XJVq4d7oTBNRbnLw+FCO3tySokJCcCiV64cL5o9k68+/9R3v4bFynUTb6Fjl4Rq4/X7Pz3Ki0886Dt3RbDcI7E/eX1v46ClMXz9GkZBOrrNhulxV6nNXe7y4PYoQgMMXB6FyzQJOa4Vc5nTQ7HTTZvIYNpGBRNgOb1vKvwD3KlTp+I8tnLs70L+PQohLjwSIIt6o6avas9WXV6ZMnSN7rHhpBzIJ6fUSdeel/LvWYv45N03SU9PZl+LLniG3QNfPe893mIwf9Z0PB43n77zOtHzv2HU8KTzeo0lDjfZJU5shoaha2QW2Sl2uHGb4DFNAiw6Lo+J26P4+oelOI51VfMPjRz2cl556lFMpaq1465JasrKKgGypusMuuz0U2vqku1ZxRzML0fTNBqF2tD90iruvvE6X5UWAKJacPVVV/HEiy/XeK7rb74VgP+88WqVleQNuR6wNGZMK4NmowbTq9+TAL7a3G279iSrxEGIzaBhsJXMIjsepbAZBmUuJxreVWOn2yTAYtC/deQZfyiFynl8fM1rwzCkrrEQ4jcjAbKoN2pa8c3IyDj1Ey9gARaDQW2j2J5VTFaxnYReibz2H29ziP+lHuYNzaD9Xa8TX7oFZ3kZX381+1hba/j6uyWMHDr4vLWizitzknIgD00DHQ00CDB0dE3DZmgEBdqqHN+sUUxlPuxxKurcupSjxq/81x0qoFVEEI1CA+jVbyA2WwBOhx00jUEjRvP1dz9g6Fqd/bBTk4JyF4cKy4nxC4wrVLRoJiQCYtpCo0ug30QW6Aaub3Zw34DWBFoNwgMtVVJYrr/5VnZuTWPOp9O8D1iD4PIpBJXl8Nio0ViMyg2cCb0SKSh3YugaA1pHEhZgQdc1OjcOpcjuJthqUOby5jUbuka504PNop9VcAyV89i/a6Ku67z11lsX1O9PCHFhkwBZ1Ct1ecX3fDF0jbZRwRwuKMdjKl/Ae2OPWFIO5rP2l/bcPGYkkZkb+H7RfF+jlI49+7LlSBGtI4LPWac9h9vDwfxygiw6W44U0zDISuBpfs2+c2vaKY8xTZPwiEj25JTy475c8stcZBQ5WL7Pu4HytktbcE//S3n46Rd55alHcXs8JC+cw/Kvv+Rfr77EkiVLaNWq1Vnd4/lkd3lIL7SzP7cMp8ckxGZUCY4r0ir27dmJGvEgdKpcGbe6y+nRqinf7sxm8c5sAMZ0bcJDg9tW2ZQ5cuxEvpzxCaYlEEY8AGExjG94GIuh+xrM9Oo3kNjO3bHqGr1bNKxSKzzAYhAT6v3/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8gvdDO19uz+Gx9Ol9uOcKhgnKeGt4Bl8ekVUQQCb0SeeQ/C/nnhiJcliAGBOdx/603+tI2KhrMvPrRbO4eN6LW8tTh4vzAK4SoGyRAFqKeaNEwmH25ZbhN5dvIpWkar10bx++mb+CFlZl89rveVdITGocGkF/uZEdWMT2aNzyjdAuXx8TlMdlwuBCXxyQ2/MQ1b2uSlrqWl5961FeGTNM0Bg+/mqiYRqBBxy4JvPbC33E1j4dWPfhcdcPj9PD8iI4M7xDju2ZTeQPk91MOYqqeWDoORG3/0ZfHapomYeENf/X9+atoRGMq7wcQQ4cjRQ4CrQZxjcN8LZR/DaUUeWUudmaXUFjuIrZBYI11ulNTVuJq3BEG/A6adYKdK+Gbf4DpxmqzMXLcRMD7geHOvq34fZ+WzN18hFeT9zJ62joA2kYF07lRKD8dUBiBITwzqAlXdhtUef6KBjM4ydz2Mxbj6rMYLSGEuHBJgCxEPWGz6LSNCmbLkRIig6wE27xfgzcKDeDvV3bkvi+38MaP+3ns8nZVnhcRZONoiYPcUieNwk7cCrgmdpeH9YcLKbK7sRrQMMh26icdJzVlZZWKBYZhMOnu+32BfG6pky+d7dheqFBA39ZRPDi4Dc2PC8R1TeOOxJYktmjIfV9uIeS6h2nZOIjU5G99q8/70rN+9fVVKCh3seZgPg0CLQRaDIrsLrYeKcFqaBwtcdIw0ErzkzTEOJFDBeVsziwiLMBCo5O0Yk5v1hfGXwr2Ylj2AWxY6K1acdNtvhrQ/jRNY2xCUwa2iWTWpgx+3J9HYbmLb3dm06t5OA9e1pZoSnzHVzSccSoHmqbROrbJr74XIYSoLyRAFqIeadEwmPRCB3llToJtlcFa31YRjOscway0TDZt3syfBzSje+8+vp+HBVj4+XABUcE22kQG0Sgs8JSvVZFSUe7yEH6sHfapVOS4hkdEUpifR3hEJEfSD2OxWPG4XWi6zp+fexVbizgeX7Sd/Xll7M0tA2Bk50Y8MvgSwgJP/rYV37QB/xrdhT/M2UzCyD9iS1mO2+XNu26VkIjH/HXNLzymosjuYnNmMWEBFl9OtX993wCLh315ZTRpEPCrUhLsLg87skqI9ivfVpOf9uex8JAH7cgu1JfPoTmKGXzlSCb94f5Tlr1rHBbAfQPbcN/ANt7mKR7lq6NckFMZICf0SuTeJ5/jjb8/jjJNHnjgAeLj4yXFQQhxUZIAWYh6xGbR6d86giV7cih1uqvUqe2nH2buvq3sapvIH557kw/+9idfcBVkNQi06JS7TNanF5J0ibXKxix/pqnILLKzLasYXdd8Oc+nsmbNGh6cPA6XvcybGtzjGnDZ4chu9Na9sVz+e6IbhLAyrBlvz91Mod1Np0ah3DegNX1bRdCpUegpX6NCj9hwrugQw/K9ubz08ZfsSfU2GInt1J1fCgpp0fy0T8XRYjurDhYQHmgh4gSbGQMtBrml3vSL7rHhVTevnUB+mZMN6UUYhnbC4PhIkZ33Ug7y9Y6jRKgy8hZMhfJCdMOgS7eev6qBB3hXlQMsNb+W21Tk5+WDUpimidPplLrDQoiLlgTIQtQzFkMnsUVD1v1SgM0wsR5b0dy6YS1q4Vtw/bO4L/s9S1atqxJgaZpGsM3A7jbZmV1C3p40Vvz4I8OHXu4LkgrLXWxIL6Tc5SEiyOo7d01ySp3szS3F0DQK7W6eTinF+YfpUJDpPaBhU9+xJuAEMgryKNfz6N0qmjv7tKRddMgZj8Pv+7Tgu13ZLC+N4a/3PQR48333HfKmk0SdRmBvmoq9uWU0CbWd8ANDhagQG8V2NykH8xnQJvKE7bw9piIto5DMYgfhARYCrTW/DX+/K5snvt4BeFfPr4ko4IF3ynAbRpUGHudKfrmTq4YPYeZ7/6j17pFCCFHbJEAWoh6KCLbRpUkYaZlFvrzW7r0SsVksuL55FfPW91gf1q3Khj7fc4MsLF2+kiduH4fL6WLqCy+w4JtvSRo0gG1ZxWhw0lxZgCPFDqbM2kRGkcPvUSvaoTSUpkN5MaR9C3mHITQSSvPh8BYMt52bHv4Lt4186KzHoFVEMBO6NWPGhnTGJTSlU6NQNE0jzGawPauYAW0ia9wM5y+r2E6Rw03jU9xvhbBAC7mlTvblltEhJqTaBwjTVBzIKyOjyFGl8cfxNmcW8cqyvUQFW3n7+njfB4Xjq5D4U0phd5snDMxPpsTh/bZh2BVDaF7HukcKIURtOG8B8u23387ChQtp1KgRW7ZsASAvL48JEyZw4MABWrduzRdffEFERATgbS/64YcfYhgGb775JldeeeX5ujQhLgrNwgPJLHZQUO6iYZCVuG49eHfGVyyaPZMD5VtJLejFo5+vIirtSwzN9G300jSNvRvX4HK5ME0PTpeT6fO/xdYijnKX54QpFcV2N/O2HmHF/jw2ZRThNhXjE5oS1ziM1pFBOA9vZ8b7KWQfPYLL6WTXts1Vnq9pGpaAwHO6Mnpnn5Z8vSOLhxds47ObetAwyIrNolPscJNV7KBJg5pzrYvtbuxuD9uySogI/HU1osMDLezMLibUVrUMnMtjsj+3jF3ZpcSEWGsMjjdnFvH5xgy+351Dk9AA/jk6jrZRlavoCb0SawyMtWOr9CUON6EBll/VrMPpNil3exjYJgqLoUtpNSGEAM5bgctbb72VxYsXV3nspZdeYujQoezevZuhQ4fy0ksvAbBt2zZmzpzJ1q1bWbx4Mffcc4+v5JMQ4sxomkZc41Bcponbb2Pawjkz2TDtefQN81mRZfKV2Yk5n37EXRNGkZa6FqisaKDrOpqmEREZiQYnDI5zS53c+vlG/rViP3tyShkT34QFt1/KY5e349oujVEZO7jvxlEkf7eIrRtT2b1ja5Xn67rO9Tffeso20v6UUuzLK8XtMSl3eTha4uBoiaPKMWGBFl69Jo6sYgeLth/1PR4eaGXdoQKyjzu+4rwb0wtYuS8XhTevOy11LdPe+gcbfl7D19uPMndzJkeK7DVel8XQaRoayNasYvbmlLAxvYDMIjvJe3PZn1dGo1BbjRv5kvfkcNvnm/huVzZXdozhfzd1Z+PiWdx3y/XM/eyjGl+r2O5mf145WcUOHG7TF5BnlTjILnWcckOiUpBX7qRHs/CzroMthBD1yXl7R7zssss4cOBAlcfmzZtHcnIyAJMnTyYpKYmXX36ZefPmMXHiRAICAmjTpg3t2rVj7dq1soohxFkKtlmIaxzG5sxibGbVWrck/xdcTkgcB/0m4l4909fGOaFXoq8bncc0efuFv9K1a9cag9eCchf3frmZrGIHz43oyPD20dUCwNSUlbhdLt//K9PEMAw8Hg+6YfD4869x/c23nvZ9mUqRUWSncWggeeUugqwGiS0j2JtT6lsxr9AjNpwujcP4fGM6YxO8pcsCLDphNgu/5HubcvinWhTZ3ZQ4PbSM8AabvgYdLhf60LsxE0YAYNGgc0MdV8FR/ti3GX36VFYFsVl0ooJt7MkpxelRpBfaT9pV8OdDBTz3w24igqz8e3wCrSODefPFZ/jkvTcAWP3jMg4fPMD9f3nG95ycUm9DlmbhATQNCyQi2EpEsI1yl4cSh5tCu5vtWcWE2Sw1Vv4ocbgpKHfRs2UYjU+wki6EEBer33TJICsri6ZNvRtzmjZtytGj3hWd9PR0+vbt6zuuefPmpKen13iODz74gA8++ACAI0eOkJGRUeXn2dnZ5+PSLygyBpVkLLyTPIZydh49SsfOcRi6tzOdruuolOmYYdHQdwL64TQ6do6jICeLbZs28O282Xg8JkqZuFxOVi5ZTEu/Ns0eUzF3Rz4fbsxBQ+P5Ic0ISl/PB/PX0r1XInHdeviO7dg5DovFisvlBMBqs3Hfo09SWFjgO7Yg5+Q1it2mwuU2sRg6RQ4XseFBNLW4sQXq6JoHR2EO0XjILihhX7aHAIvmq+IxqWsDHluSzpc/72VQ9LFvpxTsPerCXpCNw2Pi8kCzBgFkFNlxujwU2L3P/fCNV7zd63qM8gbH25Nhyw942vVlc+ckCIzm3umr+OOGtbRv356NqZX3b6HyTdbugOPXnEucHv6xOosVv5TQItzGc0nNyNjwIx8t/IpFc7+ocuz/Pvg/evfpS6f4HpS53QRaDNpGh6BrGgFOB+VOKC+oPD4Y6BTiZltWHrkeE4+CBgEWrIYGCvLLXTSzOQh0FpKRUXjqf0j1nLxXeMk4VJKxqHQxjkWd+E6totOVvxNtnpkyZQpTpkwBoHfv3jRr1qzaMTU9drGRMagkYwFNmyoKy90UFheDpqGUwlSmNw922QfQvCuMf4E1ZTaSX3+ZBbOm43a7UMobSFutNgYOHUHD6Ma+c7790wGmrc+hY0wIjw1pB5k7uPvu232tiv3TJfoPHcH7Xyxg0eyZoFFjY4uTcZuKI0V2LEEapqYxsF0DmjWsuSlHbKyH7VklHC4op0FYALqmcXmUouX6PL47UMaIS5r47iNcKXLLnNg1hW6BX1wQGh5K9LF0g7TUtaSsSIZe18Flt8LuVfDNPwGFOpTmHbueoyDp9/xf8kwsrz6HaZrV7r8m+/PKuGPeJoocbq6Pb8L9A9uwb8t6Hr37dhwOu69NdgVlKj784D1uvOdheiX2PWmlDH+tmpt4lKLY7iItsxiHx0QD2jUOoJFWJvPDj4yFl4xDJRmLShfbWPymAXLjxo3JzMykadOmZGZm0qhRI8C7Ynzo0CHfcYcPH77ofhFCnE+aptE2Opjpn/7kS3VQpokHwFMCnz1I+M3P89neVpBugNObm6vrOokDBzPlwcd9wZ5SijlpmXySepj+rSP4x6guWHSNaXMr0zfcOH3pGv6axDavsQJDTTymoqDchalA06BDTCjBNoNGYQEnDQwDLAbdY8MJshocyCvzpVAMjnTxv73lzF6ZzZ1jmvjGJTrkxBUq1q1aiTnyMWjXF/ashsXe4LiK9fOhcTvocwPu3EOwcwVO086i2TNPeJ8lDjcPL9iGrsM713clsaV3s3JFCszxwbGXIm3NCnZtXMvib78nqMOAk45fhYoGLkFWg8uCbHiUwmbo6BpkZpad1jmEEOJic9426dVk1KhRfPzxxwB8/PHHjB492vf4zJkzcTgc7N+/n927d5OY+OsK4AshTi7IanDtiGHoNdUuLisk/78PQNo33hXRgZPQNA2rLcAXHNvdHt5ZdYBrPlzLS8v20rdlQ168qpOvTFzFxj7juDq9aalrmfrEQ9w1YRTvvv4id994nW8zoMdU2N3elAeH27vZLrvU2wkwq8RBRLCVpHZRXNExhs5NwmgVGXzaZczaRgVjKoVSirTUtXz+6A2Qn8EH64+y8ec1p3UOT7t+3uA4bTHa168y6Y4/oBs1vP73b0H6dhj5KAy9G6Vg/qzpvvv0V+Jw85evd5BeaOeVkXG+4BiguKgI5dd2W9M0DIuFTgk90XQddayBx08rfzyt6z+ezaITZDUwdO2UJe6EEOJidt5WkG+88UaSk5PJycmhefPm/P3vf+fxxx/nhhtu4MMPP6Rly5bMmjULgC5dunDDDTcQFxeHxWLh7bffxqjpj5AQ4qxcf+UQ3njz//jT/X/0BmKahukxAYWmFPqKj/BYgyBxHOFx/Wgc25wlpdFk7jzKsj25/LA7h8ahNh4Z3Jbx3Zph+NVQrtjYt/Sb+Vx+1SgSeiWyYd0a7rt5TJWUATdO1q5aQYvO3XF6FG5TEREEhQ4XwVaDdlHevFoTRbvo0++edzyroRMdYqPA7vJuEnSUw8pPUNc+zr9+OsS0YyXtTuRgfhmf7XVDzgFY+j4Wi0HSlVeTunolWzemVj3Y0jubnAAAFA9JREFU7YR5z8O1T0C3q6AgE/f6edVWkdf8ks8z3+4iu9TJI0lt6dk83Pcz/0154F29v2bCJAZdM5aIQCv33DgKl8uFYRjSwEMIIc6z8xYgz5gxo8bHlyxZUuPjTz75JE8++eT5uhwhxDH33v0HunbtyowF3xIaHsFbz/8Vl9OBputccdW1fPf123jyMyjoPpKCQsXO9d4Ns4YGPbRMRgSWUfTTT2w1q6ZKpKWu5fW//wWXy0nq6p9YlfwDGRkZ1fJpdcOg66X9aRERTGx4IIcKyim2u+kWGU6LiJrzis9UfNMGbMks4pLufbBabbj2rYEdy9nSaTCbMoroHhte4/N2Z5fy50Xb8LhdaAteQpkeTI83BWL0hFuOC5A1dEOnVcvm7J/zNxj9JAy+HZW1h/mzptOxawKF+Xk07z6Ap9a70DT41+guDGwT6Ru3RbNnMnf6R1WuwTRNIho347bRV7ArLdUXzMvKrxBCnH91YpOeEOK3NXjQQHol9mXFvlwA3njmMTymyXcL52KaJqyeib7+K0beMImwpq1wh0Tz1T+fZGNxHhtME9Cw2mw8+veXKMzPo1e/gVVKyJkeD8nfLqr2upqmcfttt3Hv+Kt8j3VuHHbe7jPQatCzeUPWWHSuun4Chq7Rd0hvXthn4bkfdvPZTT2qtZBe+0s+jy3ytnge3/AoM4qPYuq6L22k4kPB0m/m0yEugbAGDXzpJHdNuBbXwpdh0ltw3VO4Ni5i6uc/oEKjoKQzASGhzLk1kSZh3rxnbwm5Ubic1esxWyxWrr1yKFEhNpKTk3G73SilcLvdJCcnSxlMIYQ4jyRAFuIiFRpgoWuTBnyRk4tpKpRpYh7ryqbpOgYmi7/4GI/HjaZpmKbplx+rcDkdvPzXR1CA1Wrj4adfxDAMb43lGui6TkBAAJMnT/7N7hFgzZrVPDJpLE6nE6vNxuChV3DHJRqvbynn+XlreG5sP9+qbF6Zk4cXbMNm6Py5i8azdzyE51hJvIefftEXHF930+Qa6zaPuuFm5nw6DT5/HK59DBLHVW7pO7yVwSUZNAkbRFrqWlJTVrIqeUn14FjT6Na7L88+/yKjrkgCICkpCZvNhtPpxGazSYqFEEKcZxIgi3ojJSWF5ORkkpKSZHXtNLWICOK6EcOZ/t4/cDuVNwgGDMNgwJDh/PjDYl/Aq+v68fUb8BzLX3bjZNPGDVzSqSs70tZXex1N0xg2bBjPPPPMb/67SU5O9q5smx7cLiffLfyK7xfNh6QpLGYoyW+tJKFZQy6JDmbpnlycHsWTCRrTX/krDrsd8JbRKMzPQynF0RIn3nhaIyzAqLJpcOTYiSycPRNnWT7qiyehbW/wuCDvMBQeJeyWW0lLXcvdN16H0+mosiEPoEN8D/7xj38wclhSlcf79evHkiVL5N+3EEL8RiRAFvVCSkoKQ4cO9a2wLVmyRIKI03TN8MH885Mv+ej/XuHnn5Z7gzaliIpuVGVF2Kyh9Jhh6L6g+tu5M3zHalrVKgkBAQG1EhxD5eqrw+nEYrWSn5uD02GHxW+g5R3GPnAyaw8VsPZQAW0jg+lZtpanbnm+Sn123bDQq99AcsqctGgYSKfGYeSVudidXUJ6oZ1Ai05UiI2EXom8O+MrFs2eyVeff4pnz2rfOSxWKyPHTmTRnJk4HfZq9d81Xef1GoLjCv369ZN/00II8RuRAFnUC8nJyTidTjweD06nU3I0fwVD17jhqiGUudykrVuN2+XEYrUxctxE0GDOpx8BqlptXl3X8RwLiNWxvOOKxytWizdv3sycOXMYO3Zsrf0+KlZf3/33f9nzSzqrk7/zBaf6+vm89/iddOrWm2KHm+VfzeDld56rdo5R42+ieefuhAdaiWvSAEPXaBwWQEyIjSKHm7SMQnJKHUSHBPhadaPB3M8+Qh1LWxl9wy3s2bGNr2Z8UmNzpCuvGsk1JwiOhRBC/LYkQBb1guRonp3o0ABGDh2M/t9Z7Nu4xrcZbc+Obfg3xjAMC6bpQdP1GnONNU3zrRYDPPDAAzidTlasWEF8fHytfmiZPfMzysuPpUwcY3rcrPjuGxbP+Rw02LElrdrzrLYA+o8cS3igle6x4VVK2+m6RsMgKwPaRLH2l3yK7W7CAr1vqxXpFhUfODp2TeDlpx71fajwPl9HKYXNZuNvTz5x/m5eCCHEryIBsqgXJEfz7HWICaVkQH/ievTGqnubiRTm5/kaVHjr8t5CUGQTXOXFzPnw7SrPNwyDO++8k0mTJtGvXz+mTp1aZ1b1K75hOL4LnlKqSu1hTa/aRKVHYn9+98BfuHZ4EpdEBZ+wxJqhayQ0bcCKfbnoTgi2Gr50i9SUlYRHRDJv5qd43O7K51gsPPDMy4SrcoYNvVz+zQohRB0iAbKoNyRH8+wYukZCswbszi7lSLEDh9skIXEANluAbxV04NVj6de/P4s+ehtN0ypTFXSdd955hylTpvjOV5dW9X15yA6Ht4zdCSjTpGlsSyJjYhg94RauuuF3uDyKVhFBp6w/HHKsKsi2oyW4PG4aBll9VS/umnAtLqezyvHjb7ubZx+9n2CbvA0LIURdI+/MQgifAItB16YNCA0oY9uRYuJ69Oal/85i47pVJFzan0ED+tOreUP0EcP416tTcTgc6LrO22+/XSU4hrq1qu9/LYZhMP+HZFKWfldjmkhm+iHycrNp26EzRQ43/VpFYK2pPXcNmkcEERpoYdX+PEyl0DXN28XP5ap2bMcWjSU4FkKIOkrenYUQ1bRsGERseCBWQ6df66spG3Mlho4voDvd4LcurepXXEtGRga33fMn/rfgB1YsnM38z/93XKCscLmcLFu+nGcGDSAi2ParXqdhkJX2MSHszimhcWgg3fsMwGK1VllBDggI4Mphl5+jOxNCCHGuSYAshKhG1zV0vCkFhq75Np75q0vB768VExrAuCuHENejN6PG38ii2TPJzTnKT8t+wONxY7Va6T9wELENz6z19SVRIZS5PBwusBPdPoEXp81l6bwvKMrLpmPrFvz+9lsv2LETQoiLgQTIQoiLUpMGgezNLaNNl5480SsRh9tkzeoUNq79iTEjhnPl5ZdVaQLya+i6RnyTBgRbDXRNY0CbYdw7fgSBFv2UucxCCCFqnwTIQoiLks2i06dVQ1IPF5JV4mD7hp/J2ZHKTaNGMHzwIHT97AJZXddoHxN6jq5WCCHEb+n0dp4IIUQ9FGyz0LdVBMaRnTz1+/G8+uKzjBk5gjVrVp/6yUIIIeotCZCFEBc1q6GzfvVP1Wo2CyGEuHhJgCyEuOhV1Ek2DKPWazYLIYSofZKDLIS46NWlms1CCCFqnwTIQgjBhV22TgghxLklKRZCCCGEEEL4kQBZCCGEEEIIPxIgCyGEEEII4UcCZCGEEEIIIfxIgCyEEEIIIYQfCZCFEEIIIYTwIwGyEEIIIYQQfiRAFkIIIYQQwo8EyEIIIYQQQviRAFkIIYQQQgg/EiALIYQQQgjhRwJkIYQQQggh/EiALIQQQgghhB9NKaVq+yLOVHR0NK1bt67yWHZ2NjExMbVzQXWEjEElGYtKMhZeMg6VZCwqyVh4yThUkrGoVJ/H4sCBA+Tk5FR7/IIOkGvSu3dvfv7559q+jFolY1BJxqKSjIWXjEMlGYtKMhZeMg6VZCwqXYxjISkWQgghhBBC+JEAWQghhBBCCD/GM88880xtX8S51qtXr9q+hFonY1BJxqKSjIWXjEMlGYtKMhZeMg6VZCwqXWxjUe9ykIUQQgghhDgbkmIhhBBCCCGEHwmQhRBCCCGE8FOrAfKhQ4cYMmQInTt3pkuXLrzxxhsA5OXlMXz4cNq3b8/w4cPJz88HIDc3lyFDhhAaGsp9991X5VxJSUl07NiR7t270717d44ePVrja6amphIfH0+7du24//77qcgw+fHHH+nZsycWi4XZs2efx7uuri6Nw0cffURMTIzv+f/5z3/O451XV5fG4uDBgwwdOpSEhASSkpI4fPjwebzz6s7lWDidTqZMmUKHDh3o1KkTc+bMqfE16/v8ONtxqE/z42zHor7Mj+LiYt/vs3v37kRHR/PAAw/U+Jp1bX7UpTGo7bkBdWs8anN+nMv3iRkzZhAfH09CQgIjRoyosV4w1L25cU6oWpSRkaFSU1OVUkoVFRWp9u3bq61bt6pHH31UTZ06VSml1NSpU9Wf//xnpZRSJSUlasWKFerdd99V9957b5VzDR48WK1bt+6Ur3nppZeqVatWKdM01YgRI9TXX3+tlFJq//79atOmTep3v/udmjVr1rm8zVOqS+Mwbdq0auf8LdWlsRg3bpz66KOPlFJKLVmyRN1yyy3n7D5Px7kci7/97W/qySefVEop5fF4VHZ2do2vWd/nx9mOQ32aH2c7FvVpfvjr2bOnWr58eY0/q2vzoy6NQW3PDaXq1njU5vw4V+PgcrlUTEyM773h0UcfVU8//XSNr1nX5sa5UKsB8vFGjRqlvvvuO9WhQweVkZGhlPL+ojt06FDluJom4ukEQxkZGapjx46+/58+fbqaMmVKlWMmT55c67/E2hyHuvAm5682xyIuLk4dOnRIKaWUaZoqLCzsrO/nbJzNWDRv3lyVlJSc9PwXw/w423GoT/PjbMeiPs2PCrt27VLNmzdXpmlW+9mFMD9qcwzq2txQqnbHoy7NjzMdB6fTqaKjo9WBAweUaZrqrrvuUu+//361818Ic+NM1Jkc5AMHDrBhwwb69OlDVlYWTZs2BaBp06Yn/Gr8eLfddhvdu3fnueee8y3v+0tPT6d58+a+/2/evDnp6enn5gbOkbowDnPmzCEhIYFx48Zx6NChs7yjM1fbY9GtWzff185ffvklxcXF5Obmnu1tnZGzGYuCggIAnnrqKXr27Mn48ePJysqqdlx9nx/nahzqw/w4F2NRX+aHvxkzZjBhwgQ0Tav2s7o+P+rCGNSVuQG1Px51ZX6czThYrVbeffdd4uPjadasGdu2beOOO+6odlxdnxtnqk4EyCUlJYwdO5Z//etfNGjQ4IzO8dlnn7F582ZWrFjBihUr+N///lftmJoCpJr+0deWujAO1157LQcOHCAtLY1hw4YxefLkM7qOs1UXxuK1115j+fLl9OjRg+XLlxMbG4vFYjmjazkbZzsWbrebw4cPM2DAANavX0+/fv145JFHqh1X3+fHuRiH+jI/zsVY1Jf54W/mzJnceOONNf6sLs+PujAGdWVuQN0Yj7owP852HFwuF++++y4bNmwgIyODhIQEpk6dWu24ujw3zkatB8gul4uxY8dy8803c/311wPQuHFjMjMzAcjMzKRRo0anPE9sbCwAYWFh3HTTTaxduxaPx+NLsv/b3/5G8+bNqyTKHz58mGbNmp2Hu/r16so4REVFERAQAMCdd95JamrqOb3P01FXxqJZs2bMnTuXDRs28MILLwAQHh5+Tu/1VM7FWERFRREcHMyYMWMAGD9+POvXr7/o5se5GIf6Mj/OxVjUl/lRYdOmTbjdbl8zhAtlftSVMagLcwPqznjU9vw4F+OwceNGAC655BI0TeOGG25g1apVF8zcOFu1GiArpbjjjjvo3LkzDz30kO/xUaNG8fHHHwPw8ccfM3r06JOex+12+3ZWulwuFi5cSNeuXTEMg40bN7Jx40aeffZZmjZtSlhYGKtXr0YpxSeffHLKc/8W6tI4VEwegPnz59O5c+dzfbsnVZfGIicnB9M0AZg6dSq33377+bjlEzpXY6FpGtdeey3JyckALFmyhLi4uItufpyLcagv8+NcjEV9mR8VZsyYUWWl8EKYH3VpDGp7bkDdGo/anB/nahxiY2PZtm0b2dnZAHz//fd07tz5gpgb58R5z3I+iRUrVihAxcfHq27duqlu3bqpRYsWqZycHHX55Zerdu3aqcsvv1zl5ub6ntOqVSsVERGhQkJCVGxsrNq6dasqKSlRPXv2VPHx8SouLk7df//9yu121/ia69atU126dFFt27ZV9957ry/xfu3atSo2NlYFBweryMhIFRcX95uMgVJ1axwef/xxFRcXpxISElRSUpLavn37bzIGFerSWMyaNUu1a9dOtW/fXt1xxx3Kbrf/JmNQ4VyNhVJKHThwQA0aNEjFx8eryy+/XB08eLDG16zP80Opsx+H+jI/lDr7sahP80Mppdq0aXPK32ddmx91aQxqe24oVbfGozbnx7kch3fffVd16tRJxcfHq2uuuUbl5OTU+Jp1bW6cC9JqWgghhBBCCD+1noMshBBCCCFEXSIBshBCCCGEEH4kQBZCCCGEEMKPBMhCCCGEEEL4kQBZCCGEEEIIPxIgCyFEPfTMM8/w2muv1fZlCCHEBUkCZCGEEEIIIfxIgCyEEPXECy+8QMeOHRk2bBg7d+4E4M033yQuLo6EhAQmTpxYy1cohBAXBkttX4AQQoizl5qaysyZM9mwYQNut5uePXvSq1cvXnrpJfbv309AQAAFBQW1fZlCCHFBkBVkIYSoB1asWMGYMWMIDg6mQYMGjBo1CoCEhARuvvlmPv30UywWWRMRQojTIQGyEELUE5qmVXts0aJF3HvvvaSmptKrVy/cbnctXJkQQlxYJEAWQoh64LLLLuPLL7+kvLyc4uJiFixYgGmaHDp0iCFDhvDKK69QUFBASUlJbV+qEELUefJ9mxBC1AM9e/ZkwoQJdO/enVatWjFo0CA0TeOWW26hsLAQpRQPPvggDRs2rO1LFUKIOk9TSqnavgghhBBCCCHqCkmxEEIIIYQQwo8EyEIIIYQQQviRAFkIIYQQQgg/EiALIYQQQgjhRwJkIYQQQggh/EiALIQQQgghhB8JkIUQQgghhPDz/3VzLG5Hrj2t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6" descr="data:image/png;base64,iVBORw0KGgoAAAANSUhEUgAAAsgAAAGoCAYAAABbtxOxAAAABHNCSVQICAgIfAhkiAAAAAlwSFlzAAALEgAACxIB0t1+/AAAADh0RVh0U29mdHdhcmUAbWF0cGxvdGxpYiB2ZXJzaW9uMy4xLjAsIGh0dHA6Ly9tYXRwbG90bGliLm9yZy+17YcXAAAgAElEQVR4nOzdd5Sdd33v+/dTdi8zo+mjsXqxLBfZlgvEGIwxnJCEpsQ2cW4gmCiEk5V7MHAuiQ85HEIMKT4XcvG6RkkIDsm100yJQ+xQnBgMxmAsN9myZPUZlWl7dt9PvX/s0d4zlmTL0nR9XmuxrHl2++2fxFof/fR9vl8jDMMQEREREREBwJzrBYiIiIiIzCcKyCIiIiIikyggi4iIiIhMooAsIiIiIjKJArKIiIiIyCT2XC/gbHR0dLBixYop11zXJRKJzM2C5gntQZP2okl7Uad9aNJeNGkv6rQPTdqLpsW8F/v27WN4ePiE6ws6IK9YsYKf/vSnU64NDg7S19c3RyuaH7QHTdqLJu1FnfahSXvRpL2o0z40aS+aFvNebN68+aTXVWIhIiIiIjKJArKIiIiIyCQKyCIiIiIikyggi4iIiIhMooAsIiIiIjKJArKIiIiIyCQKyCIiIiIikyggi4iIiIhMooAsIiIiIjKJArKIiIiIyCQKyCIiIiIikyggi4iIiIhMooAsIiIiIjKJArKIiIiIyCQKyCIiIiIikyggi4iIiMic8PyAQtWb62WcQAFZRERERObEsWKN7+0eYqTkzPVSplBAFhEREZE5MV7xIIQjhepcL2UKBWQRERERmRNjFZd4xJrrZZxAAVlEREREZl0QhBRrHlHLmOulnEABWURERERmXc0PCAgxUEAWEREREaHq+jAPwzEoIIuIiIjIHKh6AQbhXC/jpBSQRURERGTWVRwfy9AJsoiIiIgIUD9BtkwFZBERERERXD+g6vrzNiDbc70AERERETl3HC3U2D1cxMDAMg2CYP7VIesEWURERERmzf6xMoWqT9Xzsc35GUXn56pEREREZNFxvIDRskNAiOOFzMMZIYBKLERERERklpQcD0IDx/MxDDCM6Fwv6aR0giwiIiIiM871A44WamCE1LwAP5jrFZ2aTpBFREREZMYNlxwGxqtETJPlbQnMedoDGXSCLCIiIiKzwDIMhksOiYhFxDLnbYs3UEAWERERkVnghyEtCZuYPf/j5/xfoYiIiIgseK4XYDB/T40nU0AWERERkRnnBMG8bev2cgrIIiIiIjLjXC/EnMd1x5MpIIuIiIjIjHP8AGsed66YTAFZRERERGbUaNkhV3XndWu3ydQHWURERERmRBiGHCnU2D4wjh+EtCUjc72k0zJjJ8gHDx7kuuuuY8OGDWzcuJEvfOELAHzqU59i6dKlbNq0iU2bNvGtb32r8ZrPfvazrFmzhvXr1/PQQw/N1NJEREREZBZUXJ8Xh4q4Qch41cM2F0bxwoydINu2zZ133slll11GoVDg8ssv54YbbgDgIx/5CB/72MemPH/Hjh3cd999PPfccwwODvKWt7yFF198EcuyZmqJIiIiIjKDKm7ASNmFEM7vSs/1ck7bjMX43t5eLrvsMgAymQwbNmxgYGDglM//xje+wc0330wsFmPlypWsWbOGxx9/fKaWJyIiIiIzrFTziFkmS1vic72U12RWapD37dvHk08+yVVXXcWjjz7KF7/4Rf7mb/6GzZs3c+edd9LW1sbAwABXX3114zX9/f0nDdTbtm1j27ZtABw5coTBwcEpjw8NDc3sl1kAtAdN2osm7UWd9qFJe9GkvajTPjRpL5rOdC+CMGT7oXGilkmxduqb88qOj12NMBgUz3SJ027GA3KxWGTLli18/vOfJ5vN8tu//dt88pOfxDAMPvnJT/LRj36UL3/5y4RheMJrjZPc6bh161a2bt0KwObNm+nr6zvhOSe7dq7RHjRpL5q0F3XahybtRZP2ok770KS9aDqTvSjVPKIFm85U7BWfZ1U92jJR+nqyZ7q8aTejldKu67JlyxZuueUW3vOe9wDQ3d2NZVmYpslv/uZvNsoo+vv7OXjwYOO1hw4d0h9MERERkQXKDUIIF0Zbt5ebsYAchiG33norGzZs4LbbbmtcP3z4cOPXX/va17jwwgsBeMc73sF9991HrVZj79697Nq1iyuvvHKmliciIiIiM8j1AzBOrBBYCGasxOLRRx/lq1/9KhdddBGbNm0C4I477uDee+9l+/btGIbBihUr+NKXvgTAxo0bufHGG7nggguwbZu77rpLHSxEREREFpgwDPGDEMcLMFiYJ8gzFpCvueaak9YVv/3tbz/la26//XZuv/32mVqSiIiIiMygqutztFBj72iZznQM21RAFhEREZFz2LFCjUPjVY4VHSzTWLABeWGMMxERERGReW+s4lKoekBIqeaTiCzMclkFZBERERE5KxXXByBXccnXPFJRm7Fq/RR5IVJAFhEREZEzEoYhuYrLD/eNkqu4VDyfzlSE7nSUNe2puV7eGVMNsoiIiIickX2jZQbzNXJll3zVhRCy8QjAAu1fUacTZBERERE5I4P5GhXXp+YHlGo+nGQK8kKkgCwiIiIiZ8TxA6quj4lBwanfnLcYKCCLiIiIyBlx/ICS42Oa4HgBC7uwokk1yCIiIiLymuQqLumoRRhAVzqKaRh4QYhOkEVERETknJOvuvzsUI6SU2/tlo1HiNsmYxWXhL0w+x6/nE6QRUREROS0PH+kwFDJYajkMFp2G/fk2ZZJbyZGxFocZ6+L41uIiIiIyIzZNVSk5vmUXZ+jhRodySjHilXCSRUViyUcg06QRUREROQUDoyV2TdcglSUznSMkJCeTAzThKLjL5aubidYPFFfRERERKZVzQ0YqzgUaj5V18fxQizTIGaZjJRckpHFUXP8cgrIIiIiIjLFk4fGOZyvYphQqNbDcdHxqPkBlgGGYdDfEicZXZwBWSUWIiIiIjJFruJgWwa2YRC3TRIRi1zFxfEDMhOhOGYv3nPWxfvNREREROQ1C4KQmheSr7pU/YC4bdKZjjJUdPCDEGOxFh5PohNkERERkXNcEISEgGUaHMlX8YKAimsQMQNM08A0DNwgPGdOVs+V7ykiIiIip7B7uMjTg+NUXJ+nj+TpTEXx/ICq52NNnBhnohYFx5vjlc4OnSCLiIiInOPyNY/xqkex5gEGtmViGAY1r1lSkY1HyMYjc7vQWaKALCIiInIOGys7jFc9SjWfkZLTKC8IJqaA2Iu/5PgEKrEQEREROcc8PZinWPPwg5CfHhxnqOgQsUyGS06jO0XNC6i6Piggi4iIiMhi5ngBh/NV9oyUqLg+fhiwtiNFwjYZLTvEJ4Z/VL2AiufP8WrnhkosRERERM4hPzs0TtXzGRivsiQZJQwnbsKL22TizWjY3xLHMKCaK83VUueMTpBFREREzhF+EJKruFTdAIBjRQfrFCUUiYhF3F6ck/JejQKyiIiIyDnC9QP8MOC81gSmAcWat6gn4p0plViIiIiILGKOF3AoVyFqGySjNpZpErNNKq5JoebSmYrN9RLnHQVkERERkUVsrOKy/XAezw9Y15GG4+3bTIN8zaMnE5/jFc4/CsgiIiIii9DgeJVC1cULQ1rjNhHTJFd1Od63LR2zWR1Jze0i5ykFZBEREZFF6EihSsX1MTCI2xZRy2C47NCaaE7Ds8xzsMnxaVBAFhEREVmESjWfIAxxg4CWuI1hGKo3Pk0KyCIiIiKLTBiGVLwAywDPDzENnRS/FgrIIiIiIotIEIQMlRz8ICA0jHNyVPTZUkAWERERWUT2j5V5ejBPxDKp+QEqM37tFJBFREREFpGy65ON22RiNsWaTyJ6bk7DOxsKyCIiIiKLSM0NsE0TwzDIxBX1zoR2TURERGQRKFQ9jhaqVL1A7dvOkgKyiIiIyCLw0kiJkZKDaRgkVVZxVsy5XoCIiIiInB0/CDlWqFHzA2oT7d3kzOkEWURERGSBy1Vc/DDEC0IsI8RQ3+OzooAsIiIisoBVXJ+nBvNkYjZVNyAknOslLXgzVmJx8OBBrrvuOjZs2MDGjRv5whe+AMDHP/5xzj//fC6++GLe/e53k8vlANi3bx+JRIJNmzaxadMmPvShD83U0kRERETmvWOFGp4fnPLxIKgH4dGSg+P7JCIWbckIS5LR2VriojVjAdm2be68806ef/55HnvsMe666y527NjBDTfcwLPPPsvTTz/NunXr+OxnP9t4zerVq9m+fTvbt2/n7rvvnqmliYiIiMxrR/NVHj8wxljFBeDAWJmxstN4PFdx+fGBMUZKDoWaR9TSbWXTacZKLHp7e+nt7QUgk8mwYcMGBgYGeOtb39p4ztVXX80//dM/zdQSRERERBYMzw94+nCe87vS7DhWxDIN9o2WSUUtnh7Mk4nb9GbidKSjPH+0wJGCQ9n1SUdtBeRpNis1yPv27ePJJ5/kqquumnL9y1/+MjfddFPj571793LppZeSzWb5zGc+wxve8IYT3mvbtm1s27YNgCNHjjA4ODjl8aGhoRn4BguL9qBJe9GkvajTPjRpL5q0F3Xah6a52IvxisszB3OExQyjoxVa4zYvDTuY5RTVXJkqMDgQsK4rze7DBZYkI4wWAsZNg0zUpjZDGbmYG52ZN55QdnzsaoTBoDijn/NazHhALhaLbNmyhc9//vNks9nG9T/6oz/Ctm1uueUWoH7ifODAAdrb23niiSd417vexXPPPTflNQBbt25l69atAGzevJm+vr4TPvNk18412oMm7UWT9qJO+9CkvWjSXtRpH5pmcy8qrs9LB3O0dkSxMklSYZXWdAwv6WBnYqRJ05mKMlSsEWtJ0EOajlSUwXwVA1iSjc/o+lo7umfsva2qR1smSl9P9tWfPEtm9DzedV22bNnCLbfcwnve857G9XvuuYcHHniAv/u7v2u0IYnFYrS3twNw+eWXs3r1al588cWZXJ6IiIjIvLBnuETV9elIRslVXJjIR3HbpOh4cLwzhWGQr3pEJhod17x632OZXjMWkMMw5NZbb2XDhg3cdtttjesPPvggf/zHf8w3v/lNkslk4/rQ0BC+7wOwZ88edu3axapVq2ZqeSIiIiJzbrziEgQhBccnGbGwLRPXb7Zpi9sm41WPsHEpxPWDRs1xEIIfqq3bdJuxEotHH32Ur371q1x00UVs2rQJgDvuuIPf/d3fpVarccMNNwD1G/XuvvtuHnnkEf7gD/4A27axLIu7776bJUuWzNTyREREROZUGIY8cSjHqvYUFdcnaZvYpkHZ8QhCIAW2ZZK0LaK2OfEayNc8ejMxAJa3zmxpxblqxgLyNddcQ3iSv9G8/e1vP+nzt2zZwpYtW2ZqOSIiIiLziuMHlByfw/kqjh+QiVoARGxzSobKxJtxLWqZ5KtOo0TVVveKGaFJeiIiIiKzLAhCtg/kgXpP4yBsjofuTsdO+brWRITWRGRW1nguU0AWERERmWUV1+dooYZlGFTdANOY6xXJZDqXFxEREZllJccnYhv0ZGNk4zZuoBvt5hOdIIuIiIjMsmLNw54oqVDZxPyjE2QRERGRWeR4ASXHI2Iqhs1XOkEWERERmSXDxRq7h8tg0Bj2IfOPArKIiIjILBkqOeRrHrYBqZhi2Hyls30RERGRWVDzfA6PV3H9gJofYKt1xbylv7qIiIiIzILH9o8xVnWxDQP1rJjfdIIsIiIiMkOOT8SreT4Vx2dZawLHD/HV1m1eU0AWERERmQFlx+Ox/WOEYUjJ8cEwMA2DrnSUnuypp+XJ3FNAFhEREZlmfhDy4lCJw4UaP96fo+YFMFFYkY7ZxG1rbhcor0g1yCIiIiLTpOx4VFyfiGVyOF+lIxnhWLFGJm41BoPI/KeALCIiInIWjhVqpKIWzx4pkI5ZjJRcLuhOYxgGqahN2fXJVVwilv7hfqFQQBYRERE5C88fLdDXEme4VONIIcQ2TcYqLsd7VRgYOF5A1FZAXij0OyUiIiJyBmqez+6hIrmKS80LsEyDpdk4lmEwVnaxJ0ZJZ2M2+ZpHVCfIC4Z+p0RERETOwKFchScH8limwXjVhdDAMAwMA6pecxBI1Dbpb0lgqgZ5wVCJhYiIiMgZGMzXWNoSB6Dq+WA0exsXah6dqehcLU3Okk6QRURERF6jMAwpOz5RyyBmm+SrHjU3AMCeOFG2NEr6tOw8ViQI59fgFAVkERERkdPkByGPvDTC4HiVMARjomyiLRGhY+LEuDURYV1Hai6XuWC8cKzI73z9Wf7isQNzvZQpVGIhIiIicprKjs9w2SEVtTg++APqwz8mM1RvfFq++IO9ZGI2N23qm+ulTKETZBEREZHT4PkBzx8rEAQhFdcHZeCz8uJQkccO5Hjnxm5aE5G5Xs4UCsgiIiIip2G86rF/tMKSZISKG2gy3ln64g/2sSQZ4V0X9sz1Uk6ggCwiIiJyGoZLDkuSEdJRm6LjEbOtuV7SglVyPB4/mOMXNnTREp9fp8eggCwiIiJyWko1j4hlYJkGZcfTZLyz8OyRAl4QcvXytrleyknpJj0RERGR01Af/lEPxed3ZeZ4NQvbUNEBYGk2PscrOTn91UdERETkFRRrHodyZaqur97G02S4VA/I7fN0mIoCsoiIiMgrGCs77Bkp4wTN8dFy5h7ePczjB3OkohaJyPys41aJhYiIiMgpuH7AofEqhZpPOM+mvS1Ezx0p8PEHngdgWVtijldzajpBFhERETmF/WNlhoo1whAcXwH5bP3tzw41ft2RnJ/lFaATZBEREZGTcryAvSMVutMxbMvUCfJZ2jda5uHdI42fV7cn53A1r0wnyCIiIiInMVSs4QchtlWPSxoffXa++sQhopbJHT9/PgA3Xzq/xktPphNkERERkZOoeD5qdTw9gjDkB3tH+bmVbbx1fSc3rOuY13/h0G+7iIiIyEnUvEBt3abJsUKNkbLL5v5WYP6fxisgi4iIiEyouD6FqsezhwvUXAXk6XK873F3JjbHKzk9KrEQERERAcIw5KcHc0RMk3zVJen6jcl5cnaGJgJyxzwdDPJyCsgiIiJyTgvDEC8Iqbg+QyWHhG0SUB8tnYkpKp0NPwj52AM7+P6eUWDhBGT9tUhEREQWLT8I+eHeUXIVF4Cj+Sp7RkqNnx0vYPvAON/fM0LJ8bEMcLwQEwPHD7BUYXFWHtx5rBGOTQPaEpE5XtHp0V+LREREZNEaLTsczFVoT0XJxmyeOpzH9QNilsWb1rTz1OA4o2WXEMhXXeK2RUcqyohjY1nmvL+ZbD7LVVy2PXag8bMBC6amWyfIIiIisuhUXJ9izWNgvEp7MsLBXIWK6xOEIT2ZOF4YMlRyGC67jX/2Hyt72BMBzjKhdYGcds5X//jUIIPjVT541XkArOlIzfGKTt+MBeSDBw9y3XXXsWHDBjZu3MgXvvAFAEZHR7nhhhtYu3YtN9xwA2NjY43XfPazn2XNmjWsX7+ehx56aKaWJiIiIovcM4N5nj1cYLziko7ZuH7A4UJtynPGKy5GYzpeiOMHjYAsZ+/bu4a5dGkL77/iPLZc1MOd79g410s6bTMWkG3b5s477+T555/nscce46677mLHjh187nOf4/rrr2fXrl1cf/31fO5znwNgx44d3HfffTz33HM8+OCDfPjDH8b3/ZlanoiIiCxiBccjCEOqXj302qbByEQnBaj/c/941eN4BUUqYjNadohY+sf16RCEIfvHKlzSlyVuW/ze9WvpWSAt3mAGA3Jvby+XXXYZAJlMhg0bNjAwMMA3vvEN3ve+9wHwvve9j69//esAfOMb3+Dmm28mFouxcuVK1qxZw+OPPz5TyxMREZFFyPMDXjhaoFD1qHg+IfWhFImIxVjZJTYRgGOWSbHmEZ34ORm16MnEiGl03lk7MFbhkZdG8IOQzvTC6FrxcrNyk96+fft48sknueqqqzh69Ci9vb1APUQfO3YMgIGBAa6++urGa/r7+xkYGDjhvbZt28a2bdsAOHLkCIODg1MeHxoamqmvsWBoD5q0F03aizrtQ5P2okl7UbcY9mEgV2HXcIlUzCKXh5CQSCVCGMJ42aEjGSVXhCCAkuORidnkiie+TzE3OvuLn6dey148fbTMbd8+1Pg56ZfJDR99xdeUHR+7GmEwOMlvxByZ8YBcLBbZsmULn//858lms6d8XtioAWo62Z2jW7duZevWrQBs3ryZvr6+E55zsmvnGu1Bk/aiSXtRp31o0l40aS/qFvo+DDPO0mgL6ZjNYL5KxDJoTdX/ab/tZc9d8irv1drRPSNrXIhOZy+ePVLg49/dNeXair5uWjsyr/g6q+rRlonS13PqnDjbZvTfEVzXZcuWLdxyyy285z3vAaC7u5vDhw8DcPjwYbq6uoD6ifHBgwcbrz106NCC/z+piIiIzLyfHBjD8QIAqpPGQ/dl43SmFk7d60L3d08cIhmx+KOfX9+41rVASyxmLCCHYcitt97Khg0buO222xrX3/GOd3DPPfcAcM899/DOd76zcf2+++6jVquxd+9edu3axZVXXjlTyxMREZFFwPMDxqseRws1Do9XqHq+OlHMkjAM+dozh/nIN57jE//6PDuHSlze38JVy5pn9e3JhRmQZ6zE4tFHH+WrX/0qF110EZs2bQLgjjvu4BOf+AQ33ngjf/VXf8WyZcv4x3/8RwA2btzIjTfeyAUXXIBt29x1111YljVTyxMREZFFoOoFFGoeO44WsC0DPwhJRJQfZsr+sTIHxip0pmMMjFf5o+/unvL461a00ZqI8KHXLefnVrQtmMEgLzdjAfmaa645aV0xwHe/+92TXr/99tu5/fbbZ2pJIiIisshUXJ9ExCIbsxmtuBgGmJp+N22GSw4/OVSktxanKx3j1+/dTsmpt+Fd1Z6kJW7zv9+xkVv/4SkAutP1kpYPXrVsztY8HTRqWkRERBasmudjAFHbxA/CUx7OSV2u4vKF7++lLxvjFzZ0k4iYfOuFITb3t7CuM8X+sQoP7RyiLxvnDauW8Jv/+BQHc1VgkPWdKUqOz7sv7OFrzx5hz0iZi3szrJ00IW+h1hy/nAKyiIiILDiOF3BgrEwQ0qg57s7EqHkaMvZyf/ezAb6/Z4RMzCZqmzy0s97O7/5njrC8LcFPD40DcOMlvTyyZ5QjExMHV7QlOJirct2KDA/vK7BzqETMNvm969fwrReOUfMCejJxktFmSct5rYnZ/4IzQAFZREREFpx9Y2X2jVboTkcbAdk2Dezowo02ZcfHMCARsThSqNGVjp51uciP9o3xfz+yZ8q1K5e1cnFvhr/88UGGSg6b+rLkax7/8FS9y9j7Nvfz8Esj7BurAPAbl7RztBKy42iR3kwM0zDozcTYN1ahN1svqfj4m1bj+gEXdKfPar3zxcL9UyQiIiLnpKP5KruHS4Qh5Gvegu9a4fkBH/rnZ9g+mKc1YXPzpqXc/aP93LC2g9+7fg3ZeOQ1v+exYo3tA3l+cjBHImLylZs3cdNXfwZAf0uci3ubPYffsq6DQtXjSyMHALhqWSu5isuBsQoG0JmMsDQbrwfkbByAznSUfWMVlrbUf75p0+JqzauALCIiIgtGEIQ8e6RAS9ymUPNwvIB0dGF3rfi3F4bYPpgnGbHIVTzu/tF+AL69a5jxmsdd777wpMPTTuWRPSN84l+fx/Hr9dir2pOc19IsfejNxOmbCLpQ7xddiHnNx7Nx+iaCbzZuE7GMRhDumzgx/t1rVvLUYJ6fP7/rDL/1/KaALCIiIgtG0fFw/JDWRD1MhmGAZS7MODNedfn+nlG2D46TiJh88wNX8JYvPQbAW9Z2sKo9ybbHDrBzqMRgvsobV7W/atu0sbLD73/rBaKWiePX67F7MjGidnP0RW82Rk+2OUClLxunUGsG5O50jKUTAbpl4vT6XRf1ELVNfumC+kS9Dd0ZNnS/8oS8hWxh/okSERGRc8bxzhSGYVB1Awyj/rM30bXitZyuzhcjJYet//Q0+yfqfFe0JWiJ28Rsk5oX0JeNs26iO8Sv/X9PAvAbV5zHh1+//BW/76P7xqh6AX/7q5fyiX99nkPj1UbrtXds7ObH+8e4sDdD3Lb4xQ1dHCnUWNaaoOz6JCMWy9sSRG2Ta1e18+HXL+fnViwBSvS3JNh69fKZ3ZR5RAFZRERE5rW9I2V2j5RZ25HEMAxM6gFxaTa2IMNxGIZ85JvPNcIx1DtwGIZB1JoIyC1xeiaVQQD89U8Oko3b/B+X90+5fjBX4Ss/Och/vDRCW6J+4rtySZKWeIRD49XGafEf3LBuyus+9bbmSOiobfLwb7+O4wfUyajFB66s9zLODZem54svIArIIiIiMq8dLlSJ2wbPHyvSmYoSterlAgsxHAM8d7TIjqNFPv6m1Tyw4yjPHyvSnamH2Js39fEvO46yqS9Le7J5c97/dd1qHt49wn3bB4lNtGr7pQu6+S/rO7ntm8+xd7QetserHq2J+kn029Z3UvF8fn796dUJL9SpdzNBAVlERETmLdcPyFc9utIxyk59rHRsUj3tQhOGIXtG6ieyP7eyjUf3jgL1zhIAv/W65fzW65Y3nnvcsrYEl/Rlefxgjj95+CUAnhrM87VnjrB3tMJH37iKh3eP8LOB8UZJxa9etpRfvWzprH23xUQBWUREROYtL2jWGDu+T82HlvjCG0YRhiF//9Qgf/79vcTseteNzlSMd1/UQyJq8SsXn9gmzTAMfv78Lv79xSFWt6c4nK81Hvu9N6/h/mcO89zRAgCXLW1h93CpHpAzsRPeS14bBWQRERGZd8IwxAtCXD9oXGtLRKm482tSXhCGGIAfwuMHxtjc3zqlY8Rxf/IfL/GPE4M4HN+jLREhZptct6aD69Z0nPL9//C/rOd/vGUtMdukZ1LwXdeZ4uLeLDuH6qfRPdlYY4rdJX3Zk76XnD4FZBEREZl3hksOO48Vp7QSS0atKWON51Kx5vFf73+W548V2NCVYX1XivufOUJL3Ob33ryG81oT/P1Tg5zXkuDnVrbxz08f5tpVS/D8kB/uH6MrHT3tzzpeUjI5IC9tafYqBsjGbG6+tI/zu9Jctax1+r7oOUoBWY9dB4kAACAASURBVEREROaVMAwZr7gcLdToysSA8FVfM9vufXKgUd7w3NFC49dRy+RzD+8mYVscLtRLIv7miUMEIWy5qJcf7R/jh/vH6EidfkA+rr8lTn9LHD8IaUtEGsM+opaBYRjEbYurl7dN0zc8ty3cKncRERFZlI4WauwcKmJbBmNld17l45GSw4MvHGPHsSKrliT5yk2XNB573+Z+3nvpUnIVj8OFGrdeeR7XrFzSGMLRk41xUW/9RPxdF/a85s+2LZP737+Zf37fZgzD4IrzWnj7hi7uePuG6fly0qATZBEREZlXBsarJCIWMdskV3HnTTu3QtXjXV/5CRW3Xhf9+uVt9E7qVdybjdMab0artZ0pTMPgBxOdKrrTMVYtSXLlea20JV/7CTKAaRhE7fp+ZOMRPj2pl7FMHwVkERERmVdGyg5tiQimYZCreLTE5z6uhGHIh+9/phGOoT7cY8mkXsVLs3Eyk9a6NBunOun56Vj9sTMNxzJ7VGIhIiIi88LgeIXhYo0gDDEnTo17MjESkbm/Me+pwTzPHyvysTetIj5x09zx6XfXrW6nPRlhXWeKvmzzRrrebJwVS5IArJr4rywMc/9XMhERETmnBUFIvubx7JH6pDyYHyUVk20fzAPwixu6ufuH+4HmcI8//aULGs8Lw5DfunoZFTegJW7TEk9z95aL2NCdnv1FyxlTQBYREZE5la95PDU4Tq7ikIyYzKu78qhP8ztarJGOWqRjNh954yp2Hivy5pP0LzYMg9+8evmUa5vPU9u1hUYBWUREROZUzQs4nK/RlY5SmzQYZD74zotDfOJbLwDNMol3buyBjXO5KplpqkEWERGROVWouXQkI2RjNlXXJxOdH+d3e0fLfPZ7uxs/d76G4R6ysM2PP4EiIiJyzjk4VsY2TfIVj6htYhgGPZn4q7/wNIVhyEM7h4jbJpvPa210kTjd197+by8QhpCMWJRdn6507NVfKIuCArKIiIjMKscLCMKQZ44U6EpFKTl+Y5zydKi4PuMVl6cPF/gfD+4EoC8b4463b+DeJwf4jSvOY01H6hXfY0/O4cWhEp948xr+fecxfjaQZ1W7OlGcKxSQRUREZNqFYUjNC3D9sNEbuOrWg/Czh/M4fogXhJRcn6rnk4pOTyu3v3hsP3/9k4M4fsjSljiWafDOjd3c/8wR/uv9z1ByfL67a5j/9bZ1vG1910nf42ihxr5cfUz0pr4sXekoyegRfuWS3mlZo8x/CsgiIiIy7Z45nOdQrko8YnJJXwtPDoxT83w297cShHBovEJvJka+5hHCtEzLe+FYkS89doCIVX+vgfEqF/dmuPGSPu5/5gglx2djdwYvCPjc916iLRHhgeeP8RtXnMfKJUm2D4zzvx/Zw46jxcZ7dqdjrOlIce2q9rNenywcCsgiIiIyrUo1j4HxKu2pKKNlh/GKS80LaIlH2D1cwgtC+lviRCyT0YrL2WbjXMXlR/vH2D9WBuBfPnAlW+75KSXHpycTpyfTrB1+/Yo2WuI2f/afe/iv9z9LCHzr+WP8t2tXcu/PBjhadBrPjdsm6djcDymR2aeALCIiItPK8QMMDGzTwDAgV3WJ2yaJiMXRYg2D5tjlvuzZ3ZT3yJ4RPvOdXYyWXQBitkl7MkJPJsZLI2V6s7EpN+ctbYmTnijnCIFf2NDFc0cKfOGRvYTA/7xhHT8bGOdfdhyla2JSnpx71OZNREREpkUYhgwVa7h+2DgVNjAo1vxG2UMqYjXGSJ+tkuPxqYdexPWbg0WOj3/unQjex2/GO36D3colSXomhfJrV7VzzcoljdEkS1vijXHR2dfQ9UIWF/3Oi4iIyFnLV132j1Y4OF5hXWea49PwQkLcICBp109t0zGbs+2W5ngBjx/MUax55GseX3jnRu59coDHDuTomXjz265dxS9e0MX1E9Pu7rl5E/vHKpzflSZXcRvvtbQlznCpWVbRl43h9GYB+LXLlp7dQmXBUkAWERGRs7ZvtMyLQyWilkGu4jROidNRm1zFo2WaTmOfPZznkw/t5GCu2rjW3xpvnAp3T9QbL2tLsKwt0XhOImJxflcagJa4TWcqymjFpb8lzlCx1nheRzpGTzbOv9y8ht6ezmlZsyw8CsgiIiJy1qpuQE8mRsnxqHkhllkPyImIRSIyPTe6hWHIp7+9a0o4hnqniTesXMJPDuS48TRasRmGwTc/cAXjVY90zGblRPlFRyqKfXzd09iXWRYeBWQRERE5K2EYMl51aU1EcHyTYs0jEZm+gOkHIf+5Z4SoZbJntMxHrl3FkUKVe58cpCVuE49YvHF1O29cffqt2CKWSUeqPjq6vyXB196/mdZ4ZNrWLAubArKIiIicFS8I8YMQ0zDIxmwKNW/aTo1HSg6ffHAnjx/MNa4tbYk3Tnoj1vQE8fNaE6/+JDlnKCCLiIjIWXH9gONtKwzDIDuNJ7HbHts/JRwD9GRi9GRiWAZ84Mrzpu2zRI5TQBYREZGzUm+zFr7q887E9/eO8tZ1nbx+RRuf+vcXAehOR2lLRnnsd69Rn2KZEQrIIiIiclZcPwCmL6h6fsAfP/wSwyWHoaLDsrY4/a3N3sWtifoJtcKxzBQFZBERETkjrh/wwrECcdvCmKYT5Krn87Fv7uCxA82yiu50jDXtKdZ0JHnruk4FY5lxCsgiIiJyRgbGqzxzuEB/SwLbnJ6b5R7YcYzHDuS4pC/LU4N5ALrS9XHR9/3a5dPyGSKv5lX/NH/xi19kbGxsNtYiIiIiC0QQhLw0XGJ5W4Ky65GNT8+Z2w/2jrKiLcEfvm1949rx4R8is+VVA/KRI0e44ooruPHGG3nwwQcJw5kpwhcREZGFI1d1cfyAuG3RmYo1JuedqZ8ezPGlH+1nYLzCsrbElFCsFmwy2141IH/mM59h165d3HrrrXzlK19h7dq1/P7v/z4vvfTSK77uAx/4AF1dXVx44YWNazfddBObNm1i06ZNrFixgk2bNgGwb98+EolE47EPfehDZ/m1REREZCblqx7WNNUC/81PD/Ghf36Gv/jxAfaOVuhOx7BMg7/8lYv5tw9eSUxT7WSWnda/hxiGQU9PDz09Pdi2zdjYGL/8y7/MDTfcwJ/8yZ+c9DXvf//7+Z3f+R1+/dd/vXHt7//+7xu//uhHP0pLS0vj59WrV7N9+/Yz/R4iIiIyi0ZKDvFpmJb31GCeP//BXrIxm3zNA+o1xwCblra80ktFZsyrBuQ///M/55577qGjo4MPfvCD/Omf/imRSIQgCFi7du0pA/K1117Lvn37TvpYGIb8wz/8A9/73vfOavEiIiIyN/I1j+QppuV9d9cwdz26j650lN99w0oGx6vsHCpx06Y+OlJRdg2VeHJwnKhlsnu4RNQy+OYHruBN/++PAOjKRGfzq4ic4FUD8vDwMPfffz/Lly+fct00TR544IEz+tDvf//7dHd3s3bt2sa1vXv3cumll5LNZvnMZz7DG97whpO+dtu2bWzbtg2o10cPDg5OeXxoaOiM1rSYaA+atBdN2os67UOT9qJJe1F3uvsQhiGjx3IEiRNjRBiGfPY7e8jVfA7kKvz+A89xqOAC8LdPHOIjV3fz/zx+lIrXvKdpaSaCVxhp/Nxr18gNHz3Lb3N2irnROf38+WSm96Ls+NjVCINBcUY/57V41YD86U9/+pSPbdiw4Yw+9N577+W9731v4+fe3l4OHDhAe3s7TzzxBO9617t47rnnyGazJ7x269atbN26FYDNmzfT19d3wnNOdu1coz1o0l40aS/qtA9N2osm7UXd6eyD4wWkCxFaU82T3qrr89nv7cYLQnI1n4+9aRVPDeb59ovDAPzW1cv4y8cPcuePjuCH8N/esJLPf38vAL0tSVo7uvnjX7Dwg5DL1nbOzJd7jVo7uud6CfPGTO6FVfVoy0Tp6zkx982VWa969zyP+++/n5tuuqlxLRaL0d7eDsDll1/O6tWrefHFF2d7aSIiInIaXD+YMhYkCEP+7D/38K/PH+OhnfVT6J5MnL5sc/rduy7sYX1nCj8Ey4CbL13K0onHj3esuH5tB29dPz/CsZzbZj0gf+c73+H888+nv7+/cW1oaAjf9wHYs2cPu3btYtWqVbO9NBERETkNbhDCpIj8Hy+N8PVnj0ypSe7JxOidFJDbU9HGz13pGLZpsCRZHxmtPscy38xYQH7ve9/L6173Onbu3El/fz9/9Vd/BcB99903pbwC4JFHHuHiiy/mkksu4Zd/+Ze5++67WbJkyUwtTURERM7QYK7CsWINaLZ4e/CFY7QnI/zJLzZLL3syMfpb6oE4ETExDYO+bD0I907894plrQBcu6p9llYvcnpmbNT0vffee9LrX/nKV064tmXLFrZs2TJTSxEREZFpUPN8nhzMk4nZWJNaIO8cKnF5fyur2pONay1xm8v7W/jItatYtaR+feXEf5e31f+79erl3HrlMvU5lnlnxgKyiIiILB5+ELLzWJEgCBktO3RO3KAXhiHDRYeu1VG60jHu/KULWN+ZwjAMIpbBLZctbbzHL17QzQXdGfpb6yfLtmlgm9MzbERkOikgi4iIyKsq1DwO5Cr0ZGOMll1itonjBTx9OE/ND+hI1wPzG1efulzCNAzWdKRma8kiZ0wBWURERF5VoeoSMeu1xB0Tp8cfvv9ptg/mARonyiKLgYp+RERE5FWNll3ik2qFjxZqjXAM0JlSJwpZPBSQRURE5FVVvGBKvfC/Pj910l1fS/zlLxFZsBSQRURE5FVVXL8RkKuuz98+McDrl7cB0J6M0KNexrKIqAZZRERETikMQ/wgxPECMtH6IJCfDYyTr3m899Kl/Pc3r6Y1HpnjVYpMLwVkEREROaWfHsxRn5sXYhj1E+SfHMwRtQwu7c8St61XfgORBUglFiIiInJSh8crHBqvUqx5TJ6cd2CsyrK2xLwOx14Q4vnBXC9DFigFZBERkXPUYK7CeMXFD8ITHvP8gGeOFOhJx6h5AcGk54yUHTqS87ut24GxCgfHq4RhSK7iKizLa6KALCIico7YP1rmR/tGOZqvUnF9nhgY56eHcuwaKgIQhPUpeX4Qkq95BAFEbZN81SMVbZ4WD5cc2udR3+Oy41P1fFw/YLzqcTBXIRExidomI2WHqG0yXvXmepmygKgGWURE5Byxb6xMruyRq7hc1JvFMg1KNY/hkkOh6vHkoXG8EZMLezNYhsHxrm7Hp9+5fsD3dg8zVHJon8MT5LLjU3A8qq7P0pYERccjYpnkqy7JiEVvNk7MNjlSqBGGcGFPhp8cHKdQ9UjHrEYttcip6ARZRETkHOD5ARUnoL+13q84V3ExDeoBs+YzXnUpOz592RgHcxXGax4xe2pM+LP/eInb/20nfhCe1glyGJ5YunE28lWXMAwpOh5XL28jFbPJV11Wtad4w6olJKMWGHBJX5YLujMw8fnZeIQLulNUfZ+XRspUXX/a1jNccnhppDQt7yfzhwKyiIjIIub5AftHy5RdH4x6YDQNg3zVI2LWY0Bo1EsroraJbZk4fsBoyZkSkD0/4OvPNYeDtCdPbO1WdX3yVReAkZLD/tzxG/xeu5oXNAL2eNVlMF/F8eulH6mozZJklJhlUvMCWhMRYraFZRiEIUQtk4hlAAamCZZpkIjYuH5IRypKvnZ2AfloscaxYo1CzSdqGbTEI/hByEjJoVBzz+q9ZX5QQBYREVnEhoo1fnwgx9FCjeOdKGKWyXDJIR6ZiAGhQaHmNQaBOF5I1fOJWM2Y8J97RqfczHdZf8sJnzVWcal5IcWaRzJqsaItznjVIwjr1073RNnzA4ZKNQ6NVyk5HlUv4KLeLGs7UwwVHXqz9aEkiYiFF4SNIB+xTCKWiWkaGIZBxDKwJsopopaJG4Rk4zZx2+BwvvraNpL6iXjF9ak4PiXHJ2obvGlNB53pKEXHwzAMKm5w0pseZWFRDbKIiMgiVax5PHukQCpiMlp2GyUH6ZhFPGI2ArBtQsVtjpJOx+wpYTYMQ+764T5WLklwzcol5CoeXenYCZ/lByHZuMV4xWV9V5q1nSnytRFGyy5x22S47NCZOvXEPT8IsUyDgUKN9Z1pgjDkwGiZ9nSMFUuS5Ksu6ZhNW6J+ep2ImBgGjYC8uj015f1SMYuaW+9eEbUNIqZBJm5zSV8Lj+0fo+r5p9Wq7kCuTF82Qa7iUvMCktF6MI+YJoZh0BqPcHi8SmsyQmc6wZ7hEp3p1zZZ0A9CCjWP1oSGrswHOkEWERFZpI4WqoRhvQa36vkcP0Gun642I0BrIsJo2cWeKLloidtTgtpLI2UOjFX41UuX8n++YRX/863rTvisouOxsj1JZzpK2fPJxG0MwyARsah6Pqs7UrTEI+QmSjDyVZeRkkMwEcSLNY9jxRojJYdM1GJjT4aOVJSi69MSq5/nZeMRLurNNNZmmSYxyyI28V3Oa0twXluisaZszMaeeCxmW7QlIsSseneL9lQExwsYyFcZLTun3MOK6xOzLaquTwi0JSO0xCOEIY0T+FTMpuaHJGyL5W0JXn5+XPNevcVcyfHwgvAV1yKzRwFZRERkkTpSqJGO2cQjJiMlZ6Iu90SmYbC6PYl5ilTw4wM5AH5u5ZKTPu75AcmozcV9LWRiFiZG41Q3YZu4fkjcNrmoN4vjBVQ9n7GqhzfRo3i86jJe9ejOxKhOnNBC/WTYxCAbb/6D97K2ZCP09maiXNKXwTRP/r1Wtqe4oDvd+Pl1K5awvC0JQCpqU/UCYhM116dScnzak9GJ54Ss70xzSV+WiNX8jjHbJAhDYhGTmG2RiFi4fv171ryAA7nKCeUlnh/w4nCRkbJDvlYvTVnfmcIwDJVozAMqsRAREVmkSo5PWyKCaRiNYHgmjhSqJCImnafoXOEFIclIPdTapkk2bjf6JieOX7dM4raJgUHZ8elIRrFMg0LNxfNCLuzNkIraHMhVSEyUPcQskyWpCOnYyePKklco1zj+2cc/H+o3601+rOz4LF+SZLTkUHV9YrZJCAyOV/EqLkkvoOz6rOlIMVZxIDRoT9XXXQ/F9feK2eaUwNySiJArOxQdn7Ljk45a+EHIcNmh6tW/e9UL6E7H8AKougEY0J6Kka95jJQcTMPAMOpBXmafTpBFREQWmXzVZbRcL18wz7LnbxiGDJccOlLRk/YPdv0A1w9JTpQbtCUjXNbfQmwi5CajJrZZr/+1LRPTrAfq81oTrO1IAQYG0N+SIBmxGmUZUC9duHZVOy0zUJd7POAuSUTIxG0G8zVGyi57Rsqk4zZhCLmqS182TkcqShiCbRmNkL26PUV2IrjHbZNU1MacKGHJxCzyVY+OZJTWRIRk1CJfq/dg3tCVpjxRrpGN22TjFhgGJpCMWnSkYjh+QNHxKJ5ltw05cwrIIiIii8z2gTwvHitxvOYY6kH3sf1jPLDjKEcKNaquzzOH86/4Pv++c4ir//wHfPvF4ZOeHgdhyEC+xlCpRqJRFmFNuUGtJR4lG7cbNc/18oOQ3myMznQUg/q0vvr/6kE6MWlq3+Ra6emUilq0JiIkohYr2hK0pyLUvIC+ljgX9WQxJoLw2s5U4wQ7Pqnt3fIlSc7vzgD1mu7zWuKkJp6XjtqUHJ/uTIw3rm6nJR6h7Pgsa01wfld9CEsInNeaZE17Ct8PyMYjWKZB1DJw/JC4bXGKyhGZBTq3FxERWUTGKy4jZYclyQiT7xb75o6j/OG3dwGwrC1BazzC04fzvH1DF//9TatPKGP4951DfPKhnfgT79FxknKG8arL0mycvWOlU5YCpGP1yXbH659t0yAesYjZ9Q4QS1tijVKFiGnSnozSlZ75KX0Ry2TT0iwt8QhR22So5DBaLrG2I0VXJkbMNPDDeqcKyzRoidu0JE69rvUTYRkgHrGIR62J+m+LmG3g+AHxiIVpGrQmIgyVaixJRrBNA3viex9fl+MF9LcmGCs5eEHY6C4is0cBWUREZJHwg5CnBvO0xm0qTjDlpruvP3OEVNTiymWtPLx7hANUAPjW88ewTYO3rO3gJy8Nc9MVLcQjFn/4nRdZ2hJntFSvpe142QmyH4S4fsiKJQnGq+6U09XJDMNgw6Tw2JOJ099Co1zjwt5mP2XTNLh6edspb7qbbpNPupNRiyBk0o13FpWg3h4O4MplbVNqmF9JNmbTnY4RnXivqGXhhzSCbl82Ttlt9pmO2UbjLygRy8A2DVpiNsmIxe7hIp2p2Gl/tkwPBWQREZFFYqzsUHLqPYp3DhVZtSTJl360n58NjLNvrML1azu4aiIgA3z6bet5ePcw//nSCN+cmJL31WdGuW5NOxU34H+9dR23/9sLFB2fC3syUz4rV3FZ15miOxPjquVtp92/d2X7K98sOFvh+OVSUZuoZRCdCK3xiIlnGY1pg/ZrKPU4HvSPh9q4bWJNaq23tDVO66RJhKlY86bGiGWSjNq0JSO0JaP4QcDgeH2KYH1ioKpjZ4N2WUREZJEYKjbHQ6/vTPOvzx/jL358gCcOjVOoeXSnY/Rl443n97XE6M3Wp90B/MqGNmK22QjQy9oS3PbG1fz8+Z28ZV3HlM/yw5DebLw+KGMRDLdoidusak82O1HEIyxtiZ9xYJ984huLWERto3GCbBjGlJKWK85rbdyIaJv1tnaZicc70zEKjk8yajFe1Rjr2aITZBERkUWi7HqNE8/B8Sp3fHcXmZhNoVYPwN2ZeiA+rr8lQU+mWWbwi+taOFgKeexAjkTEJBuzedPqdt60uv2EzzIMTmsK3UJxvI/zcR3pKH19J47TPhPZuE1rPHLKWuLJ3UEMw+CK81obwTwds7EMg/ZUhIFxdbWYLTpBFhERWSQmj4t+aOcQQQh/fdMljcd7MjHakxHefWEPb1vfSXsyQk+2GZC7khH6WuKN556srRvU648jpjln5RALTSJi0dcSb5RvvJrJ+5qIWLQlI2RiEdJR+7Sm8snZ0wmyiIjIIlH1Alomps7tHinR3xJnxZIkyYhF2fU5vyuNYRjc/pa1jdesnqgJjk8MuzhegpE5xXAOqAfk42OW5fSs7Uy/+pNO4fL+FiKWSanmsX0wz5qOlDpbzDAFZBERkQXuSL7KQL6K5weNwSBDxVqjXdrf/uqlJCf6/r7c8rYkX77xkoma2TKvX9HGI3tG+e3XLz/pZw3mq/hBSH9r/KSPy/RLTrTQS8dsOlJRXD/ANhdPect8pIAsIiKygHl+wHNHCxM/GeweLvHHD+/m6cMFrl9Tv7FuWVviFd/j4r4sALnhMus603x5UlnGyz8rapmMu94p27rJzFnWliBXcRkruxwqV2lPRqaM0p4sDOvNpQ3DwA9CKq5/ypHdc6lY8wgnN+yeJ/SnW0REZAF77mgBzw+peQFeEPDBf3iKJwfy+EFI5zQO3PD8gH1jFfpb4sTs+rAPmV2GYZCKWYzXXFri9Wl9pzJSdjk4XiUIQ8YqLlUvoPwKz58L3sRI7XzNIzXP/jwpIIuIiCxQNc9ncLxKRypKoerxk4M5ipNC0MnGQ5+psuuzfEmStZ1putIxejMqsZgLCdui4gQkItbEX4rqp8OTW8CFYUgQhixtiVOq+YSEnN+VZqziUqh6eMH8OLEtuz79rQnevKaTFe2puV7OFArIIiIiC1Rhon8xwPK2BF/60X7WdTSDxpqOE0NHEIY4Z9AJwfFD/n/27jtAivJ84Ph36u7t7vUCHO3oVdohcogKIvaCYhSjUWOiRmMSY4ktRk2iRE1+GktUoqgkCipWLFjQU9FV9KiKFOntuF52b3en/v6Yu+WOOxSkHeb9/AO3Mzs7O7d788w7z/s8BZkp6KpMUUEWwXZ4u/5/ga7KSBJkB3VCPoXKqMH2+gRVDSaRxnJ+VQ0m3TNTKMgMELcdQKJjmo++uUHils3mmhg1sYNfUzlhuXQI+Uj1t7/PUvvbI0EQBEEQdkuDYaM0TspbURZhe8Tg10f2YEttjG/KIhzRLaPF+mURA9txUGSJdL+GLHm34vNCenJy3664eO2YhYPLryqEfApZAY10fxpfbq4hRVNQZAnHdamJGY2jxyloioTrukiAKstkBnTWVjaQ5tdwXBfLdvaoQ+C+4rgusiTh4u4yh/pgEwGyIAiCIByiooaNqniB7dJt3kS9ou4ZZAbyWqwXSVioioSmSBzVM4e1lVHK6hMYtkt+mo/SSIK8oK/V9pt4E77c3a7jK+w/qX6VnKAPXZEJpigokoQtuWQFNHrnBPlsQzUSXv1kTZFQZRnHdVFkr5Of5ThkpGjkhXQWbKqhR2YA/QBOuKyLm1TFLPIb62y313KB7XOvBEEQBEHYJdf18k6bd86riCbwKXKLUm6O61IRNUjYLpVRk5BPJeRTG9sWW/TIDjAkPx1F8kYfm57T3La6OBtr4uCCJgLkdmFUtwxCPhVJksgKaDQYNv3yQmSkaMiShCzLjakYEqk+NVkzWZUlDNsloHuNS7plpBA1LDbWNBywfY9bDn1zglQ0GCgS7faiq33ulSAIgiAIu1RaF2fBxmoaGjvnxS2b8ohBTlBv0f2uLm6hKxI9slJIWA4h3TvtB3UV03HJCugoskSKplAXt9hc4wXDkYRF1LDYHkmQoisoMqiK3FgrWTjYmv+Oc4I+1MbRYUnyfpfZgR0JAqn+lgGyIksENIWArtIlI4X6hO2V7oubrKqItLpA2h/73js3mPzc7apb48EmUiwEQRAE4RCztrKhMfiVqYgmuODZxQAMbaxn3MSwHQ7vmoGqeBO7Qj5vdFmVJTL8Gqk+L/8zRZOpjBp0zfCTmxtkbUUUn6YwLD+dnKDOB99WkNJOb4X/r8sKaKT61eTo/ogu6fiapUyk+hQiCe/33JRmEWzMJferMg2mTX56kITlkBf0EU3YRA27RQvyfcVxXSTJe11dkdttegWIAFkQBEEQDinLt9dRHTdJWA6G7fLA/PXJZTk7IdwWlQAAIABJREFUlXWTkAj5VFwgza8RagyMQj6VPrmBZIe2FE3BtF06pPkZ2DGVrbVxXCDkU9BVmaCukL0PS8YJ+06qT6VDyJccJd65GUiX9BQ6pHrBrto4OTMz4F0oaYpMSFfokxskK6Dz5aZqttTECflUooZFUN+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fv14++2399duCYIgCMIhq8GwkQBZkkj1q0xfsJmCzBQGd/SC13G9sgGvakVNzCSlMfAFSG82eW9nKZpCiiajK17AEtC8vOOmAFnkHv945IZ2pE6k+lSG5Kclf78+VUGWZDqleU1gQj7Fq5ntwuryKHHrh3XiazBsr/OfaZPWWPM4oCmktOOygfstQL744ouZO3duq8d///vfs3jxYhYvXszJJ58MwPLly5k1axZff/01c+fO5corr8S221c7REEQBEE42MzGpg8AW2vjrCiLcMbgjtx+fF+uH9eLwi7pje17bSqiBkHf7gUg2UGNMQVZaI0l4xRZIqiryeBa+HGSZYk0/44LJ78q41dlsgMa2UGdFE2lLmGR1piWUdfYmCZm7jpGi1s2UcNq8VjMskn1q95E0cYUkKyAnsyFbo/2W4B89NFHk5WVtVvrvvrqq0yZMgWfz0ePHj3o3bs3CxYs2F+7JgiCIAiHnLhpY1gOTTHrmsooAMPz0yjICnDusHxcoKLBpCDLq20b1HYvh9SnKi3Kww3oEGJ098x9/RaEds4BgrqCqsgc0S2DFE0mYTn4NZmg7pWVi5k22+sTmLaD3UbL6vKIQU3MSra7Lo8kMCyXNJ8KkpfOA9Axzd8iOG9vDngO8kMPPcSQIUO45JJLqK6uBmDLli107do1uU6XLl3YsmXLgd41QRAEQWiXKqMG4fVV1CXM5O3wiqgBkMwrBu9WdsdUr6VwUFfJCf2wiXUBXT2gzSOE9sErEed9ZlRFxqfI2K5LbshHj6wAuF5zmrxUH+VRg4oGA8t2qImZWLbXvtyvynRO91GXsGgwvJHjwZ1SyUjRSFHlQ6YaygGtYnHFFVdw6623IkkSt956K9deey3Tp09v7NDT0q6SzadNm8a0adMAKC0tZevWrS2Wl5eX7/sdP8SIY7CDOBY7iGPhEcdhB3EsdmjPxyJm2qzYHqE6ZtIQ0HBsh2dW1bJgqzeCrMaqqUl458yamEladoDy7Q3I0XpiNQZb63Y/TaI9H4cD7X/1WGQDW7d6k/NiNRHMiIFt2yhBnURtNQnboWNuKmmay7flUda7kOZX2ZAwSfdpJCybVH8qq7bVYDguh3VMxZ9IsL0+gRY3KNt+aKTQHtAAuUOHDsn/X3rppZx66qmAN2K8adOm5LLNmzeTn5/f5jYuu+wyLrvsMgBGjhzZ5nq7eu7/EnEMdhDHYgdxLDziOOwgjsUO7fFYuK7L/HVVENTJSZPwKRKvf7OdJ5dUAl4N3Jy8jsn1zYhBQdcMMgM6P/TttMfjcLD8rx+LbXY1BG06BAzy8/PpZKZQHk0wsFceluOyzakAV2JC3xxWlkXYUB0jN0Wjb48s9PQcNlQ30K1DKjkhH50aB0Pba2OQnR3Qce5t27Yl///yyy8nK1ycfvrpzJo1i0Qiwbp161i9ejWjRo06kLsmCIIgCO1O3HKIJCyvaYPrsqIsytNfbE4ub1732HVdaMete4VDT6pPo0uGP/lzpzQfIZ/XlMSnyLguyLJXTzkzRSNu2snKFAVZAYq6ZyXrZ0uSdMgEx7AfR5DPO+88iouLqaiooEuXLtxxxx0UFxezePFiJEmioKCAxx57DIBBgwZxzjnnMHDgQFRV5eGHH0ZR2u/MRkEQBEE4EAzLoSmkyAnqPPzJehpMmzHdM/l0Q3UyQN4eSRA1bFJ1JdlRTRD2Vt88r1b21q11AHTJSEkGvF7dbK9DI4Cuyliui7/Z5+9QzmPfbwHyzJkzWz32i1/8Ypfr33LLLdxyyy37a3cEQRAE4ZCSsGyvrFtjBGI7Lh+sqeS4PrlM7JvDpxuqubCwC0BjUw9vhK6pVJsg7GuSJCWbjICXexwzvcl5qiwhI7Xr2sZ7QrSaFgRBEIR2JpqwKNlcS15IB7zcze0Rg6hhM7xzGkXdMym+ooiQT6UyapAV1KmPm+iqfEjdxhYObZ3TU5LVVDRFRleldt0+ek8cumPfgiAIgvAjZDsun2+sprQ+QW3cQpEkXNeltD4OQF7IhyRJhHwqtuNiuy79c4NoitfkQRAOlPx0P0Py0wBvBDkjRUt2yjvU/TjehSAIgiD8SFQ3GCQsh4zGzmNx0+G0mV9QWp8AWk7Mi5k2HUI+ckI+AppC14yUg7Xbwv84nyrTIyvwoxlBFgGyIAiCILQjqyqihHQV03Eojxo8t2hLMjgGyG3W/CNuOfTI8n4e2TVD5B8LB40kSXTLDBzs3dhnxL0YQRAEQWgnHMelLmYS0BVSfSrfbK/jhaXbWqyT5tsxtuVCclKUyD8WhH1HBMiCIAiC0E4YtgONhd1kSeKtFeV0COk8dObg5DqSJBEzbdZVNYDrirrHgrAfiBQLQRAEQTjIYqbN5xuq6Z0ThGaDwMu21XN83xwO65TKmO6ZXHlkAQC1cZPUxkl6h3KtWUFor0SALAiCIAgHke24rKtsYFtdgjS/lnw8btrUJyw6pvoJ6ioPNI4iV0QNumSkYFgOZRFDjCALwn4gAmRBEARBOIhqYibfVkTomKrTYFg4jsvNb67g0/VVQMtJeY7rIgGDO6axviqKaTsossg7FoR9TQTIgiAIgnAQVTUYBDSFgKawtT7BZ+ureWdVeXJ58wC5wbDJTfWhyBI9s4P0ygkdjF0WhB89cV9GEARBEA6iygaTFE1BVWQSps0/PlzTYnleyJf8v2k7pPq8qhWiYoUg7D8iQBYEQRCEgyiSsNAa84jfWlEOksR/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FBEgC4IgCMIBtLU2Tsy0SfOpuC7c9vaqFsvzmo0gm7ZLyKcgSRL56X7yUnVRvUIQDgCRYiEIgiAIB1B1zCCgeqPAayqibI8k+L/TByaXd88MAF4DkYRlE9S8sSxFlvCpYvRYEA4EMYIsCIIgCAdQzHRQG/OIv9hcS0BTGFOQxaTBHVEk6JMbJJKwiFs2MdOhb64IigXhQBMBsiAIgiAcADHTpi5mEjNtfKp3A7c8kqBDqo4qS/zxuD4A1MVNFFmmW2aAZdvq8IucY0E44ESAfAhYWxGla2YKiiQRMSwCjR2XBEEQhEPHsm11RBMWhuNi2g5PfrGZlWVROqf7W6yXsBxGdk3DBdZUKOiq+HsvCAeaCJDbubhps7I8AhJURA0qoga40CM7QN/cEKbtiNEFQRCEdu6Bhx/h6WefZ+zxp3DiOT/jmjnLWb49AsDQzmkt1nWBVL9KzHTIDflI84lTtSAcaOJb1465rsvq8giG7bCyLEJAU+gQ8lqOrq1soDZmYToOR/XMPti7KgiCIOzCtGnT+N1VVwKw8NNi1hgBlse7JpfnBXdUrXBcF7VxMp6uyBzeNQNZdM4ThANOBMjtUF3cpKbBJGbZbK6N0znN36KsjyQ1dlSKJHAcl+oGg8yATjgcpri4mEGDBnH66afv1T44jovtuqJjkyAIwl56/oXZLX5+tyaNnvkB1lY1ANAx1at7bNoOluMS0L27gpIkoasiOBaEg0EEyO3Q4i11NBgWiiyRmaK1WfNSkSXy0/zETJvFW+vQt69i4sTjMAwDTdN4//33KSoq+sH7sLG6gc21ccaK0WlBEIS9cuJpk5j33rveDx37YPjTuXBkFz5cW8kH31ZyfL9cr6Sb7RA3bXpkBw/uDguCIALk9qYubhI1LPJCvu9fGUjRFOojCd5/730Mw8C2bQCKi4t/UIC8vjJKVYNJvWFRVm/wydpKDstPI82v7fG2BEEQBMjq2puxE0+iuryMLqdfydsRGNUtgwl9cogf6/3Ntl3okRVgydY6gmJeiSAcdCJA3ktNaQ3jxo3bqxFb8NIalm2tI7CHfxwDmkLBkMPRdT05gjxu3Lg92obtuKyramBlWT2pPhXHcemZHSBqWHy6roqh+WnkhnyieoYgCMIe+OCjj/nVlNOwTBNV0+lxUUfkqE12QEeRJVI0hfKIwdDOaYR0lZVlEUI+ESALwsEmAuS9EA6HmTBhAoZhoOs68+bN2+MgOW7a2I5LzLRZXx2jLrH7o8dNQj6V/P7DeHHOW5R89glDDhu8x/vx6rvFvPLWuxx99DF0PPyI5ONBXUWTZb7cXEu3zBSG5qfv0Xa/z768wBAEQWhPwuEwv//9NZiGAYCZ2ZVFqzeSnd0DpdnEOxcI6gp+TSYv5CMnuGfnAEEQ9j0RIO+F4uLiZFqDYRg/KK3hi001NBg2pu0Q0tVdBseu6/LMoi0ENIXj++YS2qnsz5plJSz87FOOHT+OkYUD29zGrnz48Xx+OulkTMPk+cfu55GZrzCkcFRyua7K5Kf52VITp1tGCpkB/Tu2tvv2xQWGIAhCe9T09y0Wi3kPdD0MfnInW4ABwZZ/QyUJfKqMpsgc0T2zRfAsCMLBIe6X74Vx48ah6zqyLCNJEtnZ3z+hLWbabKmJsa02xpIttdTGTPyqTKc0P6n+1tcr66saeGbhFq58aRn3f7SOu+Z9y/nPLOLbimhynaUlC7juorN5+p9/45fnnMYXX3652+8hHA5z859uwzAMHMfGSMR5Y/asNtcNaAprKxt2e9vfp60LDEEQhB+Dp59+mng8vuOBop8m/5sT8gJk13VxXBdw0WTvdCyCY0FoH0SAvBeKioq4//77URQFx3G4+uqrCYfDu1zftB2+3lbHl5tqWby1jpqYSW7I12o0uMnUeas5e0YJ9320li21cX5V1J0/TexD1LS44NlF3PTGN6yvaqAkPB/T9AJc0zR56/2Pdmv/P/nkU46dMIHwh8W4jgN4f7Bfee6/LC1Z0Gr9kE9heyRBdYOxW9v/PuPGjUNVVSRJQlXVPc6bFgRBaI/C4TDTp0/HdV0A5J4jocug5PKmsm6bauNsrImhy7KodSwI7YxIsdhLlZWVOI6D4zhtplmYtkMkYdFg2Kwsj2LZDl0y/N+xRS9IfXFZKS8uK2VIp1T+ML43fXODyI3l3o7qkcX/fbSWt1aUs6mskoFbNqMoKhKgajoFg4ZjO+53jkSEw2Fu/OOtJBIJXNdpscy2TGY88gCDho2gsGhsMt1CkiTSfSolm2sZU5BJQN/7j0/TCaTpX0EQhEPdPffcg2mayZ/TJv6CYLqfUV0zePmrUs4Y1BHTdghoChHDFt1QBaEdEgHyXsrOzkaWZRzHSaZZxEyb2phJg+FNvIublhdc+jV8baRRNFfVYHD726v4dEM1R3TL4J5TBxDcKRDNDOj85cT+5FrVzPjWYuXaOCouRx13Itm5eTgurC6P0r9DqM3X2Dk3TpIkkKTkKDKhLIoDIyie+yXqA//HtJkvJYNkv6Zg2A4LN9dyeLcMfOoP/8NeXFyMbdu4rott2z+4NJ0gCEJ7EQ6HmTNnzo4HfEFqA504s28uFx/ehdMHdaB/XoiySIK+uSGWb68nRRcBsiC0NyJA3gvhcJirr74ay7KSQd7vfnc1kdTO9B82ElWWSPOppPu/e8S4yRebavjjWyuIJGz+ML4XZw/plBw1bkvq+jB8a+MOPw1ryZvMn/c2juvy+gsz2bptGyG7gTNOmtgq6CwuLm6RG+e6LrIk4+b1hP7j4LCJ4AtCz8Oxeo7kn3f/lSeefy25fppfoyZmsGRLHYd3y2izkcnuaMrhbpqkJ1IsBEE41BUXF7e4IyYNPg5Xkjm2dzZBXeWwTmlEEhYZKRo9sgKsrWwgTZR1E4R2RwTIe6FpklnzNIF4PMbd11zGL393PWedf/Fub6syanDHO6uIWw73TxrE4V0zvvc5hUVj0Z75LWaPkXD0z7HfeQDXcTBcl8f+ehOO4/LPe//G++/vqA7x8fxPWL12XattOf2OgolXgarDio/gi5eg50g48gKW6Clc+esrOW7MKGqrq5JpF9vrE5TWxemUnrLH5dqa1r///vuprKwUZd4EQfhR8OZWaBhGAknVyBh/IV07pDKgQ2pynQbTZmDHVGRZYmCHEHmpoqybILQ3IkD+AcLhMDNmzKC0tBRVVbEdB5qNGJSVbuWum37PWy+/wG9uuq1FyTTwqk6UhOdTWDSWvkMKmbN8O9MXbKIuYfHQmYMZ3rl1reHmz2na3pDCUTz20AM8PH8dJQOPRV23AGf1Z7guydQFwzR4/vW36T+0kPeKP+Znk0/FSBi0yPjt1A9OugbK16G+eQ9ubRm2ZUL5WqgtheN/xwKpPwseuhVp2zfouo9HZr7CgGEjWbS1jvBnn3HBmafsdrk2Ud5NEIQfK8t2cHGRJAm550iqHY3rh3VusY4kSfhUb45854yUg7GbgiB8DxEg76FwOMy4ceMwGgu/K4ri5SA3tnhubtGCT/nl2Sdz41//nhxNXlqygMvP9boqyX2KsE+9EYAu6X6enDSUvrmt84aXlizgivMmYZoGmqYn6xQvLVnAG7Nn0VWS2dp9EttPuQFp1h9wtq6Cxj/QiqLQ47DD+WxDNXPemecFx42T8mRZpv+QEVQdfwNxGX7SsYqix6cD8ODUO1i04FNvNLliI0y5GyZcjjvrRkwjTkl4PkMKR5Ed0Hlk7nskEo1l4najHvS+qB8tCILQ3kybNo2/3X0Plml6aXfDTieEwbG9W5YAlQBNdCUVhHZNBMh7aMaMGcngGLyR2u/KwXVsm3tuvZ7e/QcypHAUr8+ehZmWD92GYo8+B8W1uPPUwYzrlYO6U9WJplHj0q2bvTJuto2JQUl4PgCXn3taskOTmvE68sX/whpxBmy9B2iqDCGR6tcoXbmETd8shZZjx+QedyHLLR93ntSPE/odlXz837Pf4KVnnuLV5/7DimVLsOdMhcl/hsIzcMIzqa+rY+pN14AEDZEobuN2JUkimJbB5xuqObxrRrJ0keO4yf83lXdzHEeUdxME4Udh2rRpXH755Tse6F0EXQYxqZeK2hgMl0cT2A4oMmiirJsgtGsiQN4D4XCYxx9/vMVjiqIgKyqObSErCj1692PV8mUt1nEch5LwfNxO/Xmpw5lw4Znegk3LSF8ym7q8C1H7XNziOc1HjRVFQVFUXNcbFVaDaY21j3eUEbJry+jbsJaVfcdCt7mwcan32rbFG7Nn8doLzySDaQBJklE69eULuYCR+ekc3ze31fs96/yLOev8i5l68zW8+N8n4dswFE6Cb4qZ8eg/2zxGlmVx3TVXc8wHYS75+YUccUQRDaZNRdRgSH4aGX4NEOXdBEH4cXniiSda/Ow/4kwCPvjNKaOBpqYgNP4dl5NBsyAI7ZP4hu6BprJkzU2aciGPPfcav7r2Zh57bg7Pzv2I6S+/zbjjT0FWVDj8LNyTr+MNaRCXvbDEe1J4Jsy6AV64hapVi7jrpt/zwF23t9husvmHbWPbNqOOPhZZknBsm3/deQvbK6ta5D0rqso1JxxGuga5p1yJpvuQZRkXWLjg0xbBNEDhuImkX3QPQZ/OzRP6fOcoeL9BQ1AUBd7/NzgWnHwtyLuedW0aBu+9+B9+NukkHvzXI5RFEuDC5xuq+XBtJXPmvoe1U3k3QRCEQ1U4HGbhwoU7Hug6hHiH/kwp7J6sR18bt8gO6OiqIkaPBeEQIEaQ98C4cePQNC2ZYqHpPk45ewpDCkclJ85FEhZ614GcetM/qSz8nGWJVFxgfXUVfeQtrJ55N9SWtdr2f6c9SJfuBckqEYVFY9E0jYTj4DoOa75alAzOTcPgq0/eb1F/+YxzLqDw8CM4fuunvLAun6MuvY1PH70V27ZZt3pli9dSNY3o+KuorHH51+R+dMvc9SSRpSUL+McdN+O4LnKsmpyvXqZs5IVwwf3w7HVgJXb5XNuyeOgvNxHQ1eT76ju0kKicgiRJSLKMqun0GjqKl97+gBUlYcaPHy/ykQVBOKQUFxc3toz25E28iIRf5fwRXYDGCkeWw4guQb4qrSdtF91TBUFoP/bbt/SSSy7h9ddfJy8vj6+++gqA66+/njlz5qDrOr169eLJJ58kIyOD9evXM2DAAPr16wfA6NGjefTRR/fXrv1gRUVFFBcX84+H/43pOEw656ctKlRUNRj87NlFbI80TuAjCIvfgA+fQMGl84QTWd1GcAxeju49t16P47pomsZd02dzxgW/5PnHH8IFSktLW6y/YsU3yQmCqq5zytlTWFqygFf/cA5Muo2Ps3pAhz6wdUWr13I79OGbGpcrx3TfZTk513VpMG0++fgjTNPAdRxkRWGgP0bZB/+G8ZfC4WchffYcRxw1jgXzi3EcF0mWvLSJxpOF3ZiD7b0vnWtvu4tH7roF2/JSUq64+c+sqWzgT788G9s00TSNue++x/ijj2pzvwRBENqbo48+Bk3TsADFl0JDTh+OKshKVqqIWw65QZ3MgM6IzunJxwVBaL/2W4B88cUXc9VVV3HhhRcmH5s4cSJTp05FVVVuuOEGpk6dyt133w1Ar169WLx48f7anX2mqKiIm7sMIGJYBHWVLbVx3lpRxtel9XyxqYa45XDm4I6M7p5JoHIN1/1rBhYuqqaTnZeHJMtesCnLDB05miVfemXZZEXGbhwtTtg27z37GFZi16Oz4AWfqqpy7W1TKRg0nBcffxDLiMNb98HP/gnnTIVZf4DS1TuelJqDffL1BDGYPKRTq2025cnVxEwURaJ/4Wg0TcfC2PEe3nsat1NfKDqPo/vl848//zFZUeOV5/7rlYhrIklYlg24WBjMfOLRZC60Y9tsWrmcjSuXYzU+ZhgG9z78OF0GDKdPGxU9BEEQ2puCQcO5a/ps1i7+HKNXEf9eaXFCvx3zOqKGTZc8705dUIweC8IhYb99U48++mjWr1/f4rHjjz8++f/Ro0cze/bs/fXyB0TMtPnNK1+xsTqGX5WZ0CeHC0d2oVd20FuhTw7X3nYXrz73H3I7dKLfoCHoug/L9ILN39x0GwBvzJ5FZUUZH703N1lj4q3X5zBs2LAWrydJUqtJba7roptRYpbDiNFHomk6Zn0ZyvM3IP3071jn3EnHTx9j6+aNMOIM6DUKHJsbRgRJb5ww16TBsKlLmPhUBU2VKeqeSaZ/LFOnv8C3iz9nZNFYAK8Sx7xHcLoO4Zv8Y9hWF2dI4ShKwvNxbKvlPkOywoULrF+7mp1X2DkbL0WTWVUeIaQrdEzzUx4xyAnqySoYgiAI7YVlO6wsj1I0uoijjxzDBc8uokeWxpiCTGDHoENeSD/IeyoIwp44aJey06dP59xzz03+vG7dOoYPH05aWhp//etfOeqotm+xT5s2jWnTpgFe2sHWrVtbLC8vL99/O92osqyOjzbW89SSSjbXm/x6ZC6n983wJmO4EWoqIgAsX7KIe/90A6bpjY5+PO9tRo89hszsHI4/dRLdundn+ZJFvD57pjchz2kZ/C5evBhVVenRowe9evVi/Pjx3HrrrckcaFmW0TSNEUMPI2jUkt2pC/c+Mp0Fn3xIbodOPPTv63DOvJ2tR/8OHNubWLfla6b0VBkzcDg1FduTr2U5LtGETZ/cINlBHdd1qSrfTo7kMuqwvnTu1h2fKhHSVe59ZDqLSxaQMcDPtE0yp03/guN6pHJq/4GoqpZ8v7Ki4NhO8jV2rhUtKwrHTPAuml57/hks00TVNMYddwJqrIb5X1XgV2UihkXvnCD5af49bmt9ID4PhwpxLDziOOwgjsUOP+RYGJbD+uoo1VETN0VjcWkDK8uj/P6IPOoqvXS6BsMmoCvUVFjU7Oud3g/EZ2IHcSx2+F88FgclQL7zzjtRVZXzzz8fgE6dOrFx40ays7MpKSlh0qRJfP3116SlpbV67mWXXcZll10GwMiRI8nPz2+1TluP7StvLN/Oje+X8lVpPR1COo9OPoyRu8jjXfnNcqxm6Qa2ZfHph++j+/ycdcElZOR0oGTJMkzTxHGcNrfhui4///nPuemmmwA46qijKC4uJjs7u0WL5mjC4pN1VQwZexwDhw7n5VnPYFduhGevRep7JN1HTWB0KMLxUwpbdfZzXZeySIIxfTLomOZvtQ/dukBFJMEXm2rICPkYM+FExkw4EYDCsgi/feUr3ltXz9rsXO546lXee+cdFGwK+/Xg3j9dj40MVvMScxKyonDDX+5Nbuex5+ZQEp5PemYWK79ZTigjiyGFo0hYDlm4lMcssn0heuYE9+C35dmfn4dDjTgWHnEcdhDHYoc9ORb1cYtvttcT1TS6dtZxgRnzlpCZojH58N74Va/SjxFJMKxbJtnBQ2cEWXwmdhDHYof/tWNxwAPkp59+mtdff5158+YlRwN9Ph8+n9eLvrCwkF69erF0HB4TAAAgAElEQVRq1SpGjhx5oHfve31dWk9ZJMEvR3XlwpFdCei7LndWWDQWVdNa1B92XRfLNPgyPJ/OA4YxeuzRPPfYfSTi8RbpE7IsI0kSuq63aKRRVFTUZpWHoE9leJd0vtxUg9742pqmYzVUo379Dn/645WtAuMmFQ0GPbKDbQbHTbKDOlkBjfq4Rap/x8emX16IuZcewatfb+eeD77l5hIXsscDML9WpuM1z7IloUD1NvjiRVj5EcPHn8Svf30VQ0cekdxO075dfu7pmEYCWVFadCDUgjIryiNkBjQyA4fOiaZJOBymuLg4eUEjCMKhqy5u8sm6KlRZpmOqd+6au6KMpdvq+fMJ/ZLBcX3cItWnkpmifdfmBEFohw5ogDx37lzuvvtuPvzwQwKBQPLx8vJysrKyUBSFtWvXsnr1anr27Hkgd223XT++F8f1ySFiWN8ZHIMX9D323BxmPPIAG9Z9y6b1a3EdB1XT6DnsCPLT/Pjyglx80UWUlpby1ltvYVkWuq5z//33txgh3h3ZAZ0UTSFSZzOkcBSPzHyFkvB8CovG7jI4ro9bpPu1NltcNydJEgM6pPLJuiqCroLcLNVBkiQmDe7IqK4ZzF9fxeryKKk+lZhls2xbPZRFIL0DnPR7OOG3LJQV/luaSsf6BB0aTy4Ab7w4C9PwJiY6ts3Um68BvIYliiyR7lNZsLGGkE9lTEHmHqdbHCzhcJgJEyZgGAa6rjNv3jwRJAvCISqSsFi6tY6AphBqnHAXSVhM+2wj3TJTOLH/jsl5MdthbNcsMX9CEA5B+y1APu+88yguLqaiooIuXbpwxx13MHXqVBKJBBMnTgR2lHP76KOP+NOf/oSqqiiKwqOPPkpWVtb+2rW98kOCsvBH7yc74k2cfD6nnj2FKadMYOWSEk464fhk4PTAAw/scVDcnCxLDOuczntlXkm45vWZ21ITM0lYNkM7ZyWL2X+XNL9Gr5wgayqj5AV9rZbnp/s5Z2jbt2Be+O9TvLhgJaGBY1lHFh98W8k32yOcMiCPqu1byd28gMryliXwXNfl7j9el2zT7dcULMelPJKgJmYeMiPJxcXFGIaBbdvE43FmzJghAmRBOMRUNRisrWxge30CRYbcoI+lJQsoCc+npnsRG2ssHpl8WHLwIGpYpOlKiztugiAcOvbbN3fmzJmtHvvFL37R5rqTJ09m8uTJ+2tXDjjbcYmZ3sSMjz76ENMwcBxvglr/3j244uwTkSSpReBkGAaVlZXJXOMfKt2v4lfl5MSQXTFtB9N26ZYZIGMPbv/1zg5S3WBQEzN3+3lLSxZw/59vxjQNtLlP88jMV6DTIP7+4RqeWLDJWynSA2XFy16lDkn2JhXilbKbdt/fuOz3NzKkcFRyxGZFWYTR3dv3KHKD4VX0GDduHIqiYDd2D3zyySe58MILRZAsCO2YZTtsqI6RG9IpjyRYWRbFp8pkBzQ0RWZpyQIvJcw0kM77O5179m1RVz5q2IzunnkQ34EgCHtDVCvfx2rjJpvr4kQMi9L6BMdPGI/Pp6MoCj5d5yennpAM6saNG4eue8t2zjX+oSRJom9uiIhhYdptT/wDiJsOndN9DO6UtkdBpixLDMlPR1NkqmPG9z+Blm2zLdOgJDyfIflpzDhvOOcpy5DeewhwsSf/Fem3s+Hyp2Hgscnnfz7/Q644bxJLSxYAEPKp1DSY1MTMXbziwVPbOCq/eEsNxWsq+fdL7/DEk0+1mNxgGAa333474XD4IO6pIAg7S1g2juNSWhfn8w3VLN5Sy0drKvm2ooGcoE5GihccQ7OUsL5jcTv2oa74v7z0zFOAVxVIV+Q9GnwQBKF9Efd+9pG4ZVMbs0j3q/TPDRLQFNJTNDIHHUfBvHltTtAqKipi3i6W7Y2QT2V4djoLt9SS7lPxa61HkmOWTUZKoI1nf78UTWF090w+21D9vSPV0GzCYGOzkcLGesoAE8eM5KUH/4q5ZgHS4IkUnHgha+o1OPFq0oeNp/azV3GrtmDVl3mBdWPKSNCnsHRrHaMLMvGp3/36B8rm6hhfldYT9ClEDYvtK5dw/UVntpikCV7qyLvvvsvHH38s8pEFYR9zHDeZ8xtJWFRFDTICGmmNdd8dx8VxXdTGQNewHGpiJl9tq8esUUjzq9TFTdL9Gp3T/bgu6I2d75pSKgqLxnopYVoKHHMJbP+W+k9e4K75zwEw7syf0jUj0K7vcAmC8N1EgLwP1MRMYqbNyK4Z5IV8rSZk7KryxPct2xsd0/wMc+GTdVVkpKhkBbzaxnHLoT5hkZGikZfaOo94d+mqzIAOIb7cVLNbkxV3NWGwrWW24/LQJ+uYuRCYNBTiEeTXp7YIrIO6Sk3MYMmWOkZ2zTjok2AiCYsl2+oI6QqG5ZAb9PF6eD6W2fYot+u6GIZBcXGxCJAFYR+pjZl8XVqPYTv4GlPN6hMWKZpCr5wAdTGLiGGjKRIZfo2a+I47UY5tkxfSiZsOHUK+VsHtS888xT23Xo/d2AnVQYazbodQNsz5G7jeHbt5b77G2DPOo3tWygF+94Ig7EsiQN4LluMSN21sFwZ1TP3OMmkHQ05Qp1tmCmWRBOWRBJbjosoyfXODFGQFd2ti3nfJCuhkBXTKIonvvZ34XRMGd16myBK/O6onF4zowr/e/pI5GwNI59xJVu/DWjwvI8V77bJI4qAde9d12VAdY2WZ1/kv1KyNbFtl/prIsrzLtBpREk74sXNdF9N2sV2XlDbucP0QhuWwbFsdVQ0mAV1Gc6VkpYmEZbO+sgFdlXFdiJkOMdPGp8jkBnUkSaIm7lXnaeuCf2nJAu6+9Xpsy5tXYCPDqddCl8HwzoOwbWVy3SMmnEzP7OA+e1+CIBwcIkD+AWzXZXvEIDtFw68pDOoYJCf0w0dj9xddlRnVLYPSei+A9akytuOSvo/y4hRZYlS3DGrjFqvKImyujdEx5EveumzSdDJsuk25u7KDOreeNYZf1MY575mF/PaVr5l29hBymhXcT/OprK6I0iG19YjP7mowLGKmQzRhUR41qGow6ZUd+N6mJHHTZltdnK+3R8gN6qg7XXA0lflraiUOEMjIZswRI5Fi9YwfP75FABwOh5kxYwZPPvkkpmkiyzIPP/xwsjFO0zoieBYOZaV1cTZWx6hLWFi2y4AOIXKCOkHfDz8dra2MsqU2TsKy6Zze+mJZ1VX2tE/H0pIFye9u+fbSZHAMQP+joXcRLJgNX73LSZPOobqqnPEnnsYxZ55P90wxeiwIhzoRIP8AiiQxtFMafXKD7T7HTJIkOu3H0VVJkshI0RiSn0ZalcraqgZkycvzkySJFFXBsB2ipo2uSF4Kyh4es/x0P/+cNIjfvPwVFzy7iFuP68ORPbwygH5NoSySYNm2Oobkp+/Rdm3H5dP1VTQYFq7rvRe/KpPqU1hRFqE6ZqApCkPyW3d0dF2Xks211MXNNoNj2JGveMrZU5Ij5JbjUhk16Jjqo2f2jhzwplrJ8WYNYxzH4YorrmDNmjVkZGSQnZ3N1VdfLeopC4ck13VZXRFlVXmEFFXBp8ik+mRWlNVjO9Ax1Zs0vCcX0o7j8k1ZhBVlETL8Cpkp+6b0o1eh4rQ27/5QMAIm/Aq2r4H5M5AkiZ59+/Hzqx6jqsGgICvQ5rwPQRAOLSJA/gFG7KK19P8yv6bQv0MqBVkBFFmiPmGRsBxK6+KURQz65YaQJFhX1YBflQlqSquR5u8yLD+dBycN5rcvL+WmVxfxjzEhDh/ldeLLC/nYXBOnS0YKWXtQG7kublIbN8kJ6MmZ6U1yQzql9V7TEl2R6ZPrjSZXNRhoikxZJEFd3CSvjTsHTSNPr73wLLZtoWk6j8x8hSGFo1BliQ6pPiobDOoSFmN7ZKEqcrLkX/NuiuAFyffcc4/XnluWcV0Xx3FE/rLQ7jXd7cjOzmZbWTldBx9Ox35D2b5yCYs++yQ55yAn6MOyHcqjBiWbaxjZNaPV97EtruuyoizC+qoGuqS1vnO1N7wKFc2CY0WDEad51XWyu0HZGuTX/gqyjKb7kvMjLNdt0fxIEIRDlwiQhX2qaeSkKVDtlObHtJ3kCa9zut+7HVoTR5IlfN+Tu9x81rgMmM//CfPM2/n1E3N5XJGSI7PpfpXFW+oY2yNrt0ag6uImy7bVE9SUNk/GsiTRMdVP1LBYWxllQ3UUTZaJmjaaLGO7zi6D4yvOm0QivTOkdYKK9VgYLSpwNB2fygaDJVvrKOyawTHHHIOqqjiO49WCdt0WwbLruti2nWxB7rouNTU13/s+BeFAC4fD3HPPPcyZMwfHcZKfY1lRuODSq3juqWleTfTmF46KTE5Qp6rB5MM1lXRO99MvN7TLybfeyHE9G6tjdAjpP/hOXvO/L926d08+9trzz0Agw+sAmtEJDj8bcrpBQy0seIHTC/xMmvFsi8nFNTGDzBSN1L1IFREEof0Q32Rhv2segKb5NYZ1zqBXtoUkwaqyCKX1cWRZItWn4m9Wsq0p2Gw6mZ569hTsTctg4Ryc4afywacLkkGnX1NoMA2Wb6+nX15olxNk6uImy7fXUxU1CfmUZOmnXQnqKkFdxXVdrMb87ahhkaJprVJFLMdl7qcLMYadDmPO9x7cuARp7v+1qMDR9N5KwvMpGHoEKROOYk1FFKcxKN55FLk5x/Fmyruuyz333EOvXr1a5CgLwsEUDocZN24cRhupCY5tM+PRfyZ/bvvCUSNu2ayrakCWJPrlhVptZ1ttnI01DVTFzOQEu93VPCAGWvx9ueOh6eQPPZIZr76D2fkwOO5KSG1sGx2pRH71L0jrF6JqOpOufaXF5GLbcTEdl2H56e0+7U4QhN0jAmThoGhqvzqiawY1MZOoYbFkSx1yikRdwpsM06LBCAaVZWXIkoS7aA7ukBP5Jm94ixPekMJRlEUSVDeYHNE9g4CuUp+wqIwapGgy5REvgE5RFbavWsKb4fmkZ2ZRW12VfP7O22siSRKa4p34gnrrr81XpfX89b1VfGsPgjGDYPu3UL0V+h6Jdd4/eHOTRV7fBB1TfS3yG2VFYettd1NTXYVt2S22KcsyQ4ePYMmihcnAeGcvvviiCJCFdqMpVWh3yIra6sIRwK8qqAGZzTUxOqb6UGWJoE8lkrCImzYLt9QQ0JQ2290357guc5ZvJ166nvrlYTIzM7n3/gewytYhKwr9xp5EomAUWAaJ3AL++JWGtXwxZB0DZx4Dtom0dC4ju2fzsxOOJHTSX9v82wBQHTPplR0UuceC8CMiAmThoMtI0chI0ZBcWFEeJagruEDvYUegaTqmm8AF5n/wDrbjIEUrKahawpfaKH557S0460rQNI3HnpvDkMJR1Ma9Wqg9sgKs2F6P0qDjUxUM2yYn6GP5oi+8NIhEHFxvMqHu83PtbXfxjztubnX79/skLIdb3lrBlto4yhcvYH81D6m2FFwXd+FrcPxvmb3eZtWb3/DY2UN4Y/aO/EbHtnngjhs4/9KrkGUJ1/XSJyRZRtN1fnbt7fSc9xYvPvFwm689bNiwffibEIS907yt+vc5/Sc/3eX3S5UlLMclvL4KF0hP0aiNmciSRFBXSPW1vvPjui6PfbaBBRtrUWSoi1usqWzwFtZ3h9IoXPBPMBM40Sq+yejU4vnW2i9IrdtEfVU5VG+BLd9w1rk/5abbrkmu09b+xi0bXZEpyPphjZcEQWifRKtpod3Iz0jh6J5ZHN4tg8Iu6Rx/7FFcduOfkWQZx3GwTBPXcXBsm3Wz/gZVm3Em/hayu2MaBm/MngVAul+jImrw5eZaZEkiK6DjV2U6pvpRZYmS8HwMIwGNqQyu62Ik4rw39w0M02zREvv7xE2ba1/7mi21cU6VV+J++qw3ctwYeMtl36LPvpEzuyss3VbPX95bDTvdgbVtm2cff9hrQKAoXPir33HldbfwyMxXOXrskXTMzkKSva+qJEn07D8IqTEX+cEHHxQtq4V2o6ioiH/9618oigKShKbrXPir3yHLzU81ErKqg0SyfXxbcoI6uSGf1+TIcckJ6uQE9TaDY8d1efrLzTz++SaWbqujssGbQDtc2gbzZ0DlZrBN77tZugoSDfDxU/DaXfDWffDMNfDKX6h//ylY/AZsWIwqOZxy9pTvfL+O61ITMxnUMbRbEwsFQTh0iBFkoV1RFTn5oRzYIY1sJeHl5O6cl2tb8Po9cO5UGHMevDa1ReDZNIGuJqbg22nSXmHRWGRZxm5KWwhm4eb3Y+mIy6HX2UifPY+6Ntzm7d/mPt9YzZ3vrWZbXYJbJ/ahR9zHuw95I96O4+ACiqJw3a1/4awzx5D68TpmlGzm18f8BGXWf7Etr4OXJElYlg24IEmkpqXx86t2jFoVFo1FVVXMxioX61evALzAPh6P88T0p0Q1C2G/aKrN7bou551/AUcdeSSS5OXcWo7bKqXAdV1yuvfh+MnngwRn/OQ8Ro4azbgTTuaN2bMor6ygpOdZRP3ZvFhTyiv3PcvEMywuHj+U3ruoO67KEqq869SF4m8rmPb5RlaVRzmmZzZ3nzogWXbxgbtms2jBbK9e8R7qN+iw772DVB0z6ZkdJC+1fTWJEgRh74lLXqFdO37Csfh0HVmWkRWFYaOK0PTGpiAV62HJW9BzFEqXgZwy+btHe5oMKRzFDX+5F6nLYPjZA3D5U3DaTcQlH1JGPu6JV1Nw0/M8W5rK16X1bW5j9pKt/Pqlr7Acl3tPG8gZgzoCcOrkKQwYMtwb8W0M7GurqwC4bHQ3hnRKZdoqm6Numoase80EvEl5TTP9W+dlDikcxennnL9j8o/rJicIuq7LjBlP8W7xx3twVAXh+zVNuHv00Ud57LHHOHb8OAYNH8l1d91HyeZaPlxTyba6OLUxE9txefuDj5hy0S+YcvqJvD37Gd5/9QX0xlHVIYWjuOJPd2Oe9Aei/mwoXwdGA/aISczdYnPlS8tYuLl2j/fx7g++5brXv6GqweTWiX34+2k7guOlJQt45vG2U5PAuzAdNGwE4044hXEnnIKstAzCzzj3Z9/52pGEhabI9BCpFYLwoyRGkIV2raioiPvvv59fX3UVjm3zzdJFTL7oUmY/+SiWbSOVvIw69ATSJl33ndUfmjRNwus/8kj85/6FmKvAwlfRNi7m4XvvZPDww3l20Rae+WI9K1dX8N7qCq46soDJh3Xik/VVBHSFVeVRnv5yE71zAjx85mFkB/XGiXenY5kGsqKiqhqObaFqejLg9WsK958xiMtnL6O4IhuOuQTe3XEClyRpl3mZp0yewuuzZ2GZBqqmU3TMsXz4zpvJ8m8zX5vLqCNG77MuiYIwY8aMFhPuHNtmxdKFrFi6ENdxmXz+xSzZWgtIrFryJddfPBkzkUh+D5vSlIYUjuLtlWX8vXgt9XET5YNHsRe9CYCUksqUG++l2OnBTW9+w7SfDKF75u4FnF9squGFJds4siCTu07u32rybEl4fotcaEVROOq4E/nkg/eS381rb5ua/L59Om8uL838L+VlpZxx7gWcdf7Fu3xtw3JoMG3G9sgWE/ME4UdKBMhCu1dZWenlHjfmIa9e/hWO443OSoko9ifPUHnsr7js3qf49x+kXd4WXVqygF9ddB5mryLcml7IoSxuHaZRpeaTfsJgnn3sQTas+5aMrGzqFy9CCmbBhCt46BN46JP1LbY1piCTWyb0Ibuxf63XWMBrLGJbJkedcAqDho5oNeM9za/xn/OG8ZuZYb447ASI1cH8/yA3NhzYVc7jkMJRPDLzlRYlqsIfvp8MmEcWjaVkcw3je+eIMlPCXguHw0yfPn2Xy9956VmMSG3y8z1tzgsY8QRNd0IkSUpeHL6wZCv3Fq+hZ3aACcYSXlr6dnI7bqye5/78a0ac8lNW9P8JF81czMkD8ri8qDvp31GC8eO1ldz4xgp6ZKXwlxP7tVlZpr6urkVq1vmXXsVvb759l5VqBg4dzpgJJ+7yNV3XpT5hETVtFEmisEt6shqPIAg/PuLbLbR72dnZyS5yuq5z/pSfsKzkM2wTkCTspW9D/gDsop8ydf5WHh1ktnly/c8nKzB++k8IpEPFeianb+OMcb9iaarMpT85BduyWj4hsQVevI0xF11Pr+POQVMkCjID5Kf7kLet5M2nH95xkt1p8DorJ4/Tfv5rstvo7KcqMg+fP4bfzfyU8KifkDl6ErJjMjw/lYJBw3d5HJrXXQVaBMxDCkdRFjVoMGyColGBsJc++OADrO+oRLFi2VK+XrwQWVEYdeQxfPbR+y2WH3P8yVz4q9/Sc/AIfvPEAgbkpfLAmYPY8LXNnAd1DKdZS3Xb5svX/oP6aTEdf/Uvnl+yjbWVDfztlAGtmgitKIvwWHgDH6+rYkBeiAfPHNxmLfOd0yukxtx+aP092h0x06Y2bpEb0inICpDqU8lpo1GQIAg/HuJMKrRr4XCYq6++OtlF7je/+Q3x+lqu+dNdVFVWkZOT7ZVme+8h8IdYXVDIb2d9zuj6Eo4cU0SkpooVy5dT2mU0Hzg9kGIbkT6YhrqxhJOefRnwRn9bBcdNHJsvnrmPX54+PnlS3bmBySMzX+GUs6fw2gvPYJkmqqYx9pTJqIrM9voEeam+Vk1FZEni/84tYvbSbUxfsInKmMl7W23Wz15Kj6wA1Q0m54/oTG7Ix7urytlYHeOUgR0Y1ys7uY2dT/QKsLk23mZzBUHYE6PGHIWqadjgXYQ2+350LejJpvVrAS+43Tk4Bhg0dASDRxzOdXOWEzdtbjy2F+l+LXkn5I3Zs3h51gycZkG4XbmZ0xMLCI2fwj+K13DtnOX8YlRXyqMGw/LTqE/YyXKKFxZ24dLR3dpsCLS0ZAHT7vtbq/SK75t0uzPLdiiLGsgShHSVooLMPWplLwjCoU0EyEK71tR4oKlRxn333YfjOGi6zp1PvMAxY4+kd/+BjSOpY3h3i8XMbw2+LkvliUffhC6DwT8QNtgM9tXTx1pIdUEa2YefCzRrK7sTr50zgItjW8mSbyXh+ZRu3ZxsYGK6Cabd9zcu+/2NPPbcHMLzP6J/YRFHHTmGPrkhtvx/e/cdH1WZNXD8d++dmXRCGi10qYGEaugSBBRFQQQEy4JlxbWsa111XVfXhnV39bXvuqirgFKUpliAIEgohhJ6ByEJIb1Pvc/7x5DJhIQixYRwvp+Pfzi5c+feJzyTM8+c55zCcvbnldMo1FYtSLYaOjf2iGV8t2boGny/K5tp6w7x/a4cAH4+btPSsr25xDcJIzLYxqUtw5nYPZa01LUsmj2T3JyjREbH0P/qcTQZcwWhARaME7Tpra9SUlJITk4mKSlJqnqcBY+paBHXnZf+O5u9G9dwJOMwc6d/jDJNdF2nQcOGJ32+1RZA18QBvLhkDz/uy+ORpLZ0bhzm+3nFB7uOXRN4+a+P+AJZi9VG7/4DSejWjFCbhZeW7uH+r7ZWOXewBa4zdpAUHECQtU2116748FpRxlHTNHTD4M/PvXrKVWOlvBvvAJweE7ep6BATSqBFJzY8EIuUcRPioiIBsqjTkpKSsNlsOJ1ONE3D4/F4g2Wnk90bVtOzd58qK6mLZj8EP++FyyZDk/bek2TuhH3r2J76JVtND8o00XSdhbNnettX+600RURG0+3SPvRPGsbrf/+LL8c3PCLSt2psGAaGYfHlRa9ZkUzq6p8Yet1Exk28icsGDqBtVAiGrhEeZMVq6GzPKkbXNRqHVl9N3rZhnS9VYuYtiRTb3VgMjS1Hiil1uAkPstI+OoTZaZl8tzOb5ftyWb4vl/U7D7Diyet9TUcAFsyajq7NZVjSIOKbNjj/v6A6IiUlhSFDhuB0OrHZbCxbtkyC5DNQ5nSTeriQEqebAf37c9nAAaSlrq2yQbRX30Fs27Shxk2xPRL7c8tDf+O9A4FsyjjCjd2bMaFbsxpf6/qbb6Vdpzg+efdN38a4inl8dedGXNY2ksU7jmJ3m9jdJiVH0/ni8ZuZV1rIgn/q3Pz7ewlr0KBKN8zUlJXecojH5niPfpdx872P0Ll7bwrKXQRZDYodbgxNIyzAwNA1sktduDwmLruLVtHeP4nNgizEhgcSXENusxDi4iCzX9Rp/fr1Y8mSJSQnJxMVFcUDDzzgC4LGjbwCu9tDkEf3re7k5hyFnT96/wtvAqV54Hai6zomoI6tRCvTxO1yggKr1YYb7x//1z/8zPdHunJlemCVttcakNCrDxvWrvKeSylcTieLv/iEZfM+Z9myZbSPqQzO2kWHYDV0Sp1ufsm30yi08mvamtI1Kl7/0hZVV+puvbQFt17aArvbw8tL97JgWxb0Hg+rplORBO12udj2cwoJvRJxxpjYLBfHqtcrr7yCw+HdJOlwOPjkk08kQD4DW48U43SbVdo4+28QDY+I5PW//6VKyr1uGHSO787oCbdw3U2Tuf/LLWzKKODxIZcw7gTBsb+UH5fidDrYsWUT4A2ca9pIN+2t2bhKC1Gmicc0+eS9N3znqOiGed9fn8ewWFAuE6vFyhNPPkXSoAEYusbhQjuZRQ4ahwWga5Bb5sLpNgm26XRuFE55gYdWLU6+Oi6EuHhIgCzqvH79+vmCnfj4+Cpfox/OL+fzxUvZv3EN4RGR/LTs+8onFh4BQNN1rhw1jqWLF+B0eDcHaZqOxWpj5LiJjBw3kdSUlcQn9ieyXTylTjchNkuVlek9O7ahaxpK01DAxnU1d6+rKTjTNI3WkcGYpqLI7qbI7vJtLPIPvN1UlsU6mUCLwZPD2pOfm83KvhOgcxL88A4c3IBhsdB/0GV4lGLdoQL6toqod6kWFakUUVFR5ObmEhUVxYIFC2r7si54uaVOskscND6u6UWJw80L2wyO6H1pkF2AY/AUaNUd9q6lB4e54w/3csDWnBKPYsqsNDZmFPHAoDYnDI49piKv3EmI1eLralkR9L7y1KMcPnjA11nSZgvwfWis1g0cx78AACAASURBVODHT0U3zK1pG9F84bsitmGQbzNdRLCNLo0Vut98UEqhFOi6RkZx/ZonQoizIwGyuKD4B8sAv2zfwJO3j8fldKLpmi9XWdM02nfqyu6dW0Epli5ewIRbpzD9P2/j9njQDZ2Hn36RhF6JuD0mrbr0wO42iQ6xkV/mQsPD7rSf+TllJRGRUbz69OO4j21UUifZ3X8yuq6R0LQBqw7kU+7yEGT1bhzyX8E+3Y1EFl3jnxP78/vn32ZTeDcYNBl+2cToGyq/ps4udbAvt5T2MfVj015FV7dp06bhcrkwTdObY3qsFXkFwzCYNGlSLV7phcftMdmSWVStIkRWsYO/fLODvblltI4IokwPgw4DwBoI3a5iI3D/aiem8m7aC7EZ/HVYe0Z3aXzC1yq0uwi0GJS7TVp3S6wS9Lrd7iorwy6ng0WzZ3rbyGtwxTXXs3jerBrTO5RS7N24Drfb7asPnpycXOX9Qj/uw6KmaUhVRCFETSRAFhe05cuX43Y5MU0POjqGrqOObczZs2ubL6XC5XSwa1saZkXbaqXIz8tjX14ZITaD2AaBtI4MJjzISmG5i4/mfc+fbxuL2+kCjSq77Y9nGAa6ruN2u7FarScNzkICLCS2bMiqA3lYdK1afeNfU35K0zT+dHUiU55+Hfew+zAuHVOljnJkkI09OaU0Cg244BuIpKSkMHToUOx2e5XgqCIQqigDaBgG77zzzkWZXlHu8pBZZKdJWADBNgsrVv7E9M8+BWDSpEknHZOD+WWUuz3E+KVWzNiQznspB1EKXryqE1d0jAEqm+3ExPdnt9aI/HIXHWNC6d6sAa0iggg9QZlBu8tDkcNNaICF7s3CsVk0ElteSUjRW9z/x/u8ZeVqCHy/+ryyLfup7N7lbcOuaRo2m42kpKTTep4QQhxPAmRxQfPfxGdYrTzw1IuUFub7dt776xCXwIa1q32rte179KFNZBAdY8KqFPwPD7JSuGcDbpcL0zxxYNymXQeuGDqEyZMnA5x2BYXwICs9YsPZmFGIoelnVJe1QkKvRN5/5iGeWHKIon4TcJneAKMiiOnSuz+m6kH/1hFndP66oqKayYm6JVasJhvH2gVPnTq13lezUEqxL9f7Ac/QNT7/einrVq2kZ98BtIgI4oZrrvCVZ/v3v//NnXfeWS1QVkpR4nCzK7u0Ss3ul75axewDHjo00Jg6pmeV7nZnWke41Omhd4uGRAXbfCu5ARaDu/9wF927JfDoX/7KT8lVS8a1uqQ9B/bsqnY+Xdfp1f8yWnbswryP3/d9u+N/X3/84x/r9e9fCHF+SYAsLmgVm/iWLVtG1979CWoVR4BFZ+/m9SycPROHww5KoZTi848+4OGnXyTjaDZxvfoxcEB/ujZpUGOr2OFDL+eF557FWdPK8bHVqU8+msbAAf2rXMvpatIgkMFBVtb9ks/REgfBVuOEK2+nomka+d+8j+u6v3HPGzN57Krt3trQxzb+3fOX5/i2rIikxJ5cP2b0Gb1GbUtKSvJ+FX+SlXylFC6Xi/vuuw/TNLHZbCxZsqTeBkmFdjcbM4qwGRq7NqXyxG1jcTkdfPqWQVyPS6vULvZ4PLz33nv8+9//5p133mHKlCmAt/GGVmYj0KL7ctVXpqxh9l4HpG/lwOLXKOz2BZzhBzjwpm+UONz0btHwpM01unZsz5qfVuB2eVeLLVYrN97+B159+rEqlVo0Xcdis3HXQ48zengSwy9N4N5776n2b2Pjxo1nfM1CCCEBsrjg+ecl55U5WXMw35e68PbLz7J+bQrKNHG5nBzOOsqU+x+mQ0wo0SG2E7Zl7tevH7fffjvvvfce4A1Chw8fztixY8nNzT0nq5NBVoPElhHklTk5XGjnaIm3CoNF1wi2GpQ4PZgKGgZasFl0nO6aq1KkpqzEc3ADbF2Kp+doFiTPqFKn+c1nH0eZig+sVpYuXUL//v2rneNCYNawOasaTcPt8Zbys9vt9bKahetYvnBWsZOoICthgRY+/maOr9W56fGw5efVNT7X4/Fwzz330KlzFzp170XK2nXs37mdJo1i2LklDTRYH9oNglrD0vfxlJec1sbRk8m3u7zz7QTBcUX6jNPpLaE4evRojNBIkq4dR2iAhVHjbyY35yhRMY1oHxdPVnYuE0ddyRVJgwDIy8ut8bxjx44942sWQggJkEW90jDQSliglbwyFwm9Ehl/x91s2ZiK61iHuxtGXkH/1pEnDIz99ehR2fZZKcXYsWN9K2/nSqDVoFl4EM3CgyhxuHG4TXJKneSUOmgfHUKQVSctsxiPXeExFSE2o1ob7YqNfq4V0zBb92Brh3GY69eh5Rw81gXNAyhcLpi/+IcLMkBOTk6ukl6hGwaDhl7JyqXf+/JTdcPg5jvvZeZ/3/PWwlWKadOmnTL/9kKTV+Yis8hBo9DKD3i52UdP+/kej4fHn3mB6++4h+f+dCcul9OXq0/L7jBuDNr6eZCfjv4rNo7WpMThrQjTMiLohMdUpM9UrAD36dOH+x58lOkLf+APN47G7XRhsVl56b+z6dCtN20ig4hrUlnj+/ha6T179uSOO+4453NVCHFxkQBZ1Ctr1qwmeekyGnXuhSeuB53iuzP1v7PZ+nMK1189nKuHDj7tc+Xm5voqJOi6Tm5uzStV50pogIXQAIgKsdGRysoTDQKtlDo9uE3FpoxC8sqcmMpbMSDIalRp3zt33nOY41+Efjeh5r8Apk5FjWRN02jSuZevgsaFwmMquvTuh8Vmw+X01rR+7LlXffVyKyocjBw7kYReiZSVFDP3s4+8pb+cznqziqyUYnd2KYcL7YQGGL7gOC11bdXyhsdp064jv+zfUyUFIWXpN9isGm7/4DiyOYz4E+Qdhp8qukvWnPN9OhxukzKXyYA2ESftQucf4FZsrNuyYR1z//1P3Me6aLocJqu/mcONI4cSc9xKtH+t9Pqedy6E+O1IgCzqDf+vam02G998+x2dW7dhcMIVhE24+lfXA05KSiIgIKDKH+7aEBJgIeRYfnJ4oIX0QjuaBkdLHOSUOokOsZHQK5HUlJWoI3tgzSwY+DuIvwK1+TvfeZQyMQyNlfvy6Nc64oxzns8ldawdcAX/dtE5JQ5W/LicFvGJtIvvyf99+hVpa3+qUu2jpg1jI8dO5KuZ/8NzrNxXfVlFPpRfzq6cEiKDbAT4pdosmjPTl7frT9d1rLYAnnr1TQAev/s2jh7J8P18+6aNGBYLuN2YmgEjHgTdAgtfQbkceNuse351ioWpFPnlLnRNo3eL8Gql4453fIALMHToUBwOhy+tRinFvC+m88Ddd9Kkht/j8eUfhRDibNX+X0ghzhH/r2qdTierVq6g/SVtaXiGJc7q4spUSICFDo28q8tto0L4+VA++eVOX01lw2LBs3Y2tOwGl90G+3+GkjwATFOxfP5sNq5ZxaGBg5g0avhJV/bOJ7vLw46jxRTavW1/g6wG+zanMmnstThdTnRNwzy2udJmC+Dhp1/0tRM+nWDNPx3D5XJVq4d7oTBNRbnLw+FCO3tySokJCcCiV64cL5o9k68+/9R3v4bFynUTb6Fjl4Rq4/X7Pz3Ki0886Dt3RbDcI7E/eX1v46ClMXz9GkZBOrrNhulxV6nNXe7y4PYoQgMMXB6FyzQJOa4Vc5nTQ7HTTZvIYNpGBRNgOb1vKvwD3KlTp+I8tnLs70L+PQohLjwSIIt6o6avas9WXV6ZMnSN7rHhpBzIJ6fUSdeel/LvWYv45N03SU9PZl+LLniG3QNfPe893mIwf9Z0PB43n77zOtHzv2HU8KTzeo0lDjfZJU5shoaha2QW2Sl2uHGb4DFNAiw6Lo+J26P4+oelOI51VfMPjRz2cl556lFMpaq1465JasrKKgGypusMuuz0U2vqku1ZxRzML0fTNBqF2tD90iruvvE6X5UWAKJacPVVV/HEiy/XeK7rb74VgP+88WqVleQNuR6wNGZMK4NmowbTq9+TAL7a3G279iSrxEGIzaBhsJXMIjsepbAZBmUuJxreVWOn2yTAYtC/deQZfyiFynl8fM1rwzCkrrEQ4jcjAbKoN2pa8c3IyDj1Ey9gARaDQW2j2J5VTFaxnYReibz2H29ziP+lHuYNzaD9Xa8TX7oFZ3kZX381+1hba/j6uyWMHDr4vLWizitzknIgD00DHQ00CDB0dE3DZmgEBdqqHN+sUUxlPuxxKurcupSjxq/81x0qoFVEEI1CA+jVbyA2WwBOhx00jUEjRvP1dz9g6Fqd/bBTk4JyF4cKy4nxC4wrVLRoJiQCYtpCo0ug30QW6Aaub3Zw34DWBFoNwgMtVVJYrr/5VnZuTWPOp9O8D1iD4PIpBJXl8Nio0ViMyg2cCb0SKSh3YugaA1pHEhZgQdc1OjcOpcjuJthqUOby5jUbuka504PNop9VcAyV89i/a6Ku67z11lsX1O9PCHFhkwBZ1Ct1ecX3fDF0jbZRwRwuKMdjKl/Ae2OPWFIO5rP2l/bcPGYkkZkb+H7RfF+jlI49+7LlSBGtI4LPWac9h9vDwfxygiw6W44U0zDISuBpfs2+c2vaKY8xTZPwiEj25JTy475c8stcZBQ5WL7Pu4HytktbcE//S3n46Rd55alHcXs8JC+cw/Kvv+Rfr77EkiVLaNWq1Vnd4/lkd3lIL7SzP7cMp8ckxGZUCY4r0ir27dmJGvEgdKpcGbe6y+nRqinf7sxm8c5sAMZ0bcJDg9tW2ZQ5cuxEvpzxCaYlEEY8AGExjG94GIuh+xrM9Oo3kNjO3bHqGr1bNKxSKzzAYhAT6v3/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8gvdDO19uz+Gx9Ol9uOcKhgnKeGt4Bl8ekVUQQCb0SeeQ/C/nnhiJcliAGBOdx/603+tI2KhrMvPrRbO4eN6LW8tTh4vzAK4SoGyRAFqKeaNEwmH25ZbhN5dvIpWkar10bx++mb+CFlZl89rveVdITGocGkF/uZEdWMT2aNzyjdAuXx8TlMdlwuBCXxyQ2/MQ1b2uSlrqWl5961FeGTNM0Bg+/mqiYRqBBxy4JvPbC33E1j4dWPfhcdcPj9PD8iI4M7xDju2ZTeQPk91MOYqqeWDoORG3/0ZfHapomYeENf/X9+atoRGMq7wcQQ4cjRQ4CrQZxjcN8LZR/DaUUeWUudmaXUFjuIrZBYI11ulNTVuJq3BEG/A6adYKdK+Gbf4DpxmqzMXLcRMD7geHOvq34fZ+WzN18hFeT9zJ62joA2kYF07lRKD8dUBiBITwzqAlXdhtUef6KBjM4ydz2Mxbj6rMYLSGEuHBJgCxEPWGz6LSNCmbLkRIig6wE27xfgzcKDeDvV3bkvi+38MaP+3ns8nZVnhcRZONoiYPcUieNwk7cCrgmdpeH9YcLKbK7sRrQMMh26icdJzVlZZWKBYZhMOnu+32BfG6pky+d7dheqFBA39ZRPDi4Dc2PC8R1TeOOxJYktmjIfV9uIeS6h2nZOIjU5G99q8/70rN+9fVVKCh3seZgPg0CLQRaDIrsLrYeKcFqaBwtcdIw0ErzkzTEOJFDBeVsziwiLMBCo5O0Yk5v1hfGXwr2Ylj2AWxY6K1acdNtvhrQ/jRNY2xCUwa2iWTWpgx+3J9HYbmLb3dm06t5OA9e1pZoSnzHVzSccSoHmqbROrbJr74XIYSoLyRAFqIeadEwmPRCB3llToJtlcFa31YRjOscway0TDZt3syfBzSje+8+vp+HBVj4+XABUcE22kQG0Sgs8JSvVZFSUe7yEH6sHfapVOS4hkdEUpifR3hEJEfSD2OxWPG4XWi6zp+fexVbizgeX7Sd/Xll7M0tA2Bk50Y8MvgSwgJP/rYV37QB/xrdhT/M2UzCyD9iS1mO2+XNu26VkIjH/HXNLzymosjuYnNmMWEBFl9OtX993wCLh315ZTRpEPCrUhLsLg87skqI9ivfVpOf9uex8JAH7cgu1JfPoTmKGXzlSCb94f5Tlr1rHBbAfQPbcN/ANt7mKR7lq6NckFMZICf0SuTeJ5/jjb8/jjJNHnjgAeLj4yXFQQhxUZIAWYh6xGbR6d86giV7cih1uqvUqe2nH2buvq3sapvIH557kw/+9idfcBVkNQi06JS7TNanF5J0ibXKxix/pqnILLKzLasYXdd8Oc+nsmbNGh6cPA6XvcybGtzjGnDZ4chu9Na9sVz+e6IbhLAyrBlvz91Mod1Np0ah3DegNX1bRdCpUegpX6NCj9hwrugQw/K9ubz08ZfsSfU2GInt1J1fCgpp0fy0T8XRYjurDhYQHmgh4gSbGQMtBrml3vSL7rHhVTevnUB+mZMN6UUYhnbC4PhIkZ33Ug7y9Y6jRKgy8hZMhfJCdMOgS7eev6qBB3hXlQMsNb+W21Tk5+WDUpimidPplLrDQoiLlgTIQtQzFkMnsUVD1v1SgM0wsR5b0dy6YS1q4Vtw/bO4L/s9S1atqxJgaZpGsM3A7jbZmV1C3p40Vvz4I8OHXu4LkgrLXWxIL6Tc5SEiyOo7d01ySp3szS3F0DQK7W6eTinF+YfpUJDpPaBhU9+xJuAEMgryKNfz6N0qmjv7tKRddMgZj8Pv+7Tgu13ZLC+N4a/3PQR48333HfKmk0SdRmBvmoq9uWU0CbWd8ANDhagQG8V2NykH8xnQJvKE7bw9piIto5DMYgfhARYCrTW/DX+/K5snvt4BeFfPr4ko4IF3ynAbRpUGHudKfrmTq4YPYeZ7/6j17pFCCFHbJEAWoh6KCLbRpUkYaZlFvrzW7r0SsVksuL55FfPW91gf1q3Khj7fc4MsLF2+kiduH4fL6WLqCy+w4JtvSRo0gG1ZxWhw0lxZgCPFDqbM2kRGkcPvUSvaoTSUpkN5MaR9C3mHITQSSvPh8BYMt52bHv4Lt4186KzHoFVEMBO6NWPGhnTGJTSlU6NQNE0jzGawPauYAW0ia9wM5y+r2E6Rw03jU9xvhbBAC7mlTvblltEhJqTaBwjTVBzIKyOjyFGl8cfxNmcW8cqyvUQFW3n7+njfB4Xjq5D4U0phd5snDMxPpsTh/bZh2BVDaF7HukcKIURtOG8B8u23387ChQtp1KgRW7ZsASAvL48JEyZw4MABWrduzRdffEFERATgbS/64YcfYhgGb775JldeeeX5ujQhLgrNwgPJLHZQUO6iYZCVuG49eHfGVyyaPZMD5VtJLejFo5+vIirtSwzN9G300jSNvRvX4HK5ME0PTpeT6fO/xdYijnKX54QpFcV2N/O2HmHF/jw2ZRThNhXjE5oS1ziM1pFBOA9vZ8b7KWQfPYLL6WTXts1Vnq9pGpaAwHO6Mnpnn5Z8vSOLhxds47ObetAwyIrNolPscJNV7KBJg5pzrYvtbuxuD9uySogI/HU1osMDLezMLibUVrUMnMtjsj+3jF3ZpcSEWGsMjjdnFvH5xgy+351Dk9AA/jk6jrZRlavoCb0SawyMtWOr9CUON6EBll/VrMPpNil3exjYJgqLoUtpNSGEAM5bgctbb72VxYsXV3nspZdeYujQoezevZuhQ4fy0ksvAbBt2zZmzpzJ1q1bWbx4Mffcc4+v5JMQ4sxomkZc41Bcponbb2Pawjkz2TDtefQN81mRZfKV2Yk5n37EXRNGkZa6FqisaKDrOpqmEREZiQYnDI5zS53c+vlG/rViP3tyShkT34QFt1/KY5e349oujVEZO7jvxlEkf7eIrRtT2b1ja5Xn67rO9Tffeso20v6UUuzLK8XtMSl3eTha4uBoiaPKMWGBFl69Jo6sYgeLth/1PR4eaGXdoQKyjzu+4rwb0wtYuS8XhTevOy11LdPe+gcbfl7D19uPMndzJkeK7DVel8XQaRoayNasYvbmlLAxvYDMIjvJe3PZn1dGo1BbjRv5kvfkcNvnm/huVzZXdozhfzd1Z+PiWdx3y/XM/eyjGl+r2O5mf145WcUOHG7TF5BnlTjILnWcckOiUpBX7qRHs/CzroMthBD1yXl7R7zssss4cOBAlcfmzZtHcnIyAJMnTyYpKYmXX36ZefPmMXHiRAICAmjTpg3t2rVj7dq1soohxFkKtlmIaxzG5sxibGbVWrck/xdcTkgcB/0m4l4909fGOaFXoq8bncc0efuFv9K1a9cag9eCchf3frmZrGIHz43oyPD20dUCwNSUlbhdLt//K9PEMAw8Hg+6YfD4869x/c23nvZ9mUqRUWSncWggeeUugqwGiS0j2JtT6lsxr9AjNpwujcP4fGM6YxO8pcsCLDphNgu/5HubcvinWhTZ3ZQ4PbSM8AabvgYdLhf60LsxE0YAYNGgc0MdV8FR/ti3GX36VFYFsVl0ooJt7MkpxelRpBfaT9pV8OdDBTz3w24igqz8e3wCrSODefPFZ/jkvTcAWP3jMg4fPMD9f3nG95ycUm9DlmbhATQNCyQi2EpEsI1yl4cSh5tCu5vtWcWE2Sw1Vv4ocbgpKHfRs2UYjU+wki6EEBer33TJICsri6ZNvRtzmjZtytGj3hWd9PR0+vbt6zuuefPmpKen13iODz74gA8++ACAI0eOkJGRUeXn2dnZ5+PSLygyBpVkLLyTPIZydh49SsfOcRi6tzOdruuolOmYYdHQdwL64TQ6do6jICeLbZs28O282Xg8JkqZuFxOVi5ZTEu/Ns0eUzF3Rz4fbsxBQ+P5Ic0ISl/PB/PX0r1XInHdeviO7dg5DovFisvlBMBqs3Hfo09SWFjgO7Yg5+Q1it2mwuU2sRg6RQ4XseFBNLW4sQXq6JoHR2EO0XjILihhX7aHAIvmq+IxqWsDHluSzpc/72VQ9LFvpxTsPerCXpCNw2Pi8kCzBgFkFNlxujwU2L3P/fCNV7zd63qM8gbH25Nhyw942vVlc+ckCIzm3umr+OOGtbRv356NqZX3b6HyTdbugOPXnEucHv6xOosVv5TQItzGc0nNyNjwIx8t/IpFc7+ocuz/Pvg/evfpS6f4HpS53QRaDNpGh6BrGgFOB+VOKC+oPD4Y6BTiZltWHrkeE4+CBgEWrIYGCvLLXTSzOQh0FpKRUXjqf0j1nLxXeMk4VJKxqHQxjkWd+E6totOVvxNtnpkyZQpTpkwBoHfv3jRr1qzaMTU9drGRMagkYwFNmyoKy90UFheDpqGUwlSmNw922QfQvCuMf4E1ZTaSX3+ZBbOm43a7UMobSFutNgYOHUHD6Ma+c7790wGmrc+hY0wIjw1pB5k7uPvu232tiv3TJfoPHcH7Xyxg0eyZoFFjY4uTcZuKI0V2LEEapqYxsF0DmjWsuSlHbKyH7VklHC4op0FYALqmcXmUouX6PL47UMaIS5r47iNcKXLLnNg1hW6BX1wQGh5K9LF0g7TUtaSsSIZe18Flt8LuVfDNPwGFOpTmHbueoyDp9/xf8kwsrz6HaZrV7r8m+/PKuGPeJoocbq6Pb8L9A9uwb8t6Hr37dhwOu69NdgVlKj784D1uvOdheiX2PWmlDH+tmpt4lKLY7iItsxiHx0QD2jUOoJFWJvPDj4yFl4xDJRmLShfbWPymAXLjxo3JzMykadOmZGZm0qhRI8C7Ynzo0CHfcYcPH77ofhFCnE+aptE2Opjpn/7kS3VQpokHwFMCnz1I+M3P89neVpBugNObm6vrOokDBzPlwcd9wZ5SijlpmXySepj+rSP4x6guWHSNaXMr0zfcOH3pGv6axDavsQJDTTymoqDchalA06BDTCjBNoNGYQEnDQwDLAbdY8MJshocyCvzpVAMjnTxv73lzF6ZzZ1jmvjGJTrkxBUq1q1aiTnyMWjXF/ashsXe4LiK9fOhcTvocwPu3EOwcwVO086i2TNPeJ8lDjcPL9iGrsM713clsaV3s3JFCszxwbGXIm3NCnZtXMvib78nqMOAk45fhYoGLkFWg8uCbHiUwmbo6BpkZpad1jmEEOJic9426dVk1KhRfPzxxwB8/PHHjB492vf4zJkzcTgc7N+/n927d5OY+OsK4AshTi7IanDtiGHoNdUuLisk/78PQNo33hXRgZPQNA2rLcAXHNvdHt5ZdYBrPlzLS8v20rdlQ168qpOvTFzFxj7juDq9aalrmfrEQ9w1YRTvvv4id994nW8zoMdU2N3elAeH27vZLrvU2wkwq8RBRLCVpHZRXNExhs5NwmgVGXzaZczaRgVjKoVSirTUtXz+6A2Qn8EH64+y8ec1p3UOT7t+3uA4bTHa168y6Y4/oBs1vP73b0H6dhj5KAy9G6Vg/qzpvvv0V+Jw85evd5BeaOeVkXG+4BiguKgI5dd2W9M0DIuFTgk90XQddayBx08rfzyt6z+ezaITZDUwdO2UJe6EEOJidt5WkG+88UaSk5PJycmhefPm/P3vf+fxxx/nhhtu4MMPP6Rly5bMmjULgC5dunDDDTcQFxeHxWLh7bffxqjpj5AQ4qxcf+UQ3njz//jT/X/0BmKahukxAYWmFPqKj/BYgyBxHOFx/Wgc25wlpdFk7jzKsj25/LA7h8ahNh4Z3Jbx3Zph+NVQrtjYt/Sb+Vx+1SgSeiWyYd0a7rt5TJWUATdO1q5aQYvO3XF6FG5TEREEhQ4XwVaDdlHevFoTRbvo0++edzyroRMdYqPA7vJuEnSUw8pPUNc+zr9+OsS0YyXtTuRgfhmf7XVDzgFY+j4Wi0HSlVeTunolWzemVj3Y0jubnAAAFA9JREFU7YR5z8O1T0C3q6AgE/f6edVWkdf8ks8z3+4iu9TJI0lt6dk83Pcz/0154F29v2bCJAZdM5aIQCv33DgKl8uFYRjSwEMIIc6z8xYgz5gxo8bHlyxZUuPjTz75JE8++eT5uhwhxDH33v0HunbtyowF3xIaHsFbz/8Vl9OBputccdW1fPf123jyMyjoPpKCQsXO9d4Ns4YGPbRMRgSWUfTTT2w1q6ZKpKWu5fW//wWXy0nq6p9YlfwDGRkZ1fJpdcOg66X9aRERTGx4IIcKyim2u+kWGU6LiJrzis9UfNMGbMks4pLufbBabbj2rYEdy9nSaTCbMoroHhte4/N2Z5fy50Xb8LhdaAteQpkeTI83BWL0hFuOC5A1dEOnVcvm7J/zNxj9JAy+HZW1h/mzptOxawKF+Xk07z6Ap9a70DT41+guDGwT6Ru3RbNnMnf6R1WuwTRNIho347bRV7ArLdUXzMvKrxBCnH91YpOeEOK3NXjQQHol9mXFvlwA3njmMTymyXcL52KaJqyeib7+K0beMImwpq1wh0Tz1T+fZGNxHhtME9Cw2mw8+veXKMzPo1e/gVVKyJkeD8nfLqr2upqmcfttt3Hv+Kt8j3VuHHbe7jPQatCzeUPWWHSuun4Chq7Rd0hvXthn4bkfdvPZTT2qtZBe+0s+jy3ytnge3/AoM4qPYuq6L22k4kPB0m/m0yEugbAGDXzpJHdNuBbXwpdh0ltw3VO4Ni5i6uc/oEKjoKQzASGhzLk1kSZh3rxnbwm5Ubic1esxWyxWrr1yKFEhNpKTk3G73SilcLvdJCcnSxlMIYQ4jyRAFuIiFRpgoWuTBnyRk4tpKpRpYh7ryqbpOgYmi7/4GI/HjaZpmKbplx+rcDkdvPzXR1CA1Wrj4adfxDAMb43lGui6TkBAAJMnT/7N7hFgzZrVPDJpLE6nE6vNxuChV3DHJRqvbynn+XlreG5sP9+qbF6Zk4cXbMNm6Py5i8azdzyE51hJvIefftEXHF930+Qa6zaPuuFm5nw6DT5/HK59DBLHVW7pO7yVwSUZNAkbRFrqWlJTVrIqeUn14FjT6Na7L88+/yKjrkgCICkpCZvNhtPpxGazSYqFEEKcZxIgi3ojJSWF5ORkkpKSZHXtNLWICOK6EcOZ/t4/cDuVNwgGDMNgwJDh/PjDYl/Aq+v68fUb8BzLX3bjZNPGDVzSqSs70tZXex1N0xg2bBjPPPPMb/67SU5O9q5smx7cLiffLfyK7xfNh6QpLGYoyW+tJKFZQy6JDmbpnlycHsWTCRrTX/krDrsd8JbRKMzPQynF0RIn3nhaIyzAqLJpcOTYiSycPRNnWT7qiyehbW/wuCDvMBQeJeyWW0lLXcvdN16H0+mosiEPoEN8D/7xj38wclhSlcf79evHkiVL5N+3EEL8RiRAFvVCSkoKQ4cO9a2wLVmyRIKI03TN8MH885Mv+ej/XuHnn5Z7gzaliIpuVGVF2Kyh9Jhh6L6g+tu5M3zHalrVKgkBAQG1EhxD5eqrw+nEYrWSn5uD02GHxW+g5R3GPnAyaw8VsPZQAW0jg+lZtpanbnm+Sn123bDQq99AcsqctGgYSKfGYeSVudidXUJ6oZ1Ai05UiI2EXom8O+MrFs2eyVeff4pnz2rfOSxWKyPHTmTRnJk4HfZq9d81Xef1GoLjCv369ZN/00II8RuRAFnUC8nJyTidTjweD06nU3I0fwVD17jhqiGUudykrVuN2+XEYrUxctxE0GDOpx8BqlptXl3X8RwLiNWxvOOKxytWizdv3sycOXMYO3Zsrf0+KlZf3/33f9nzSzqrk7/zBaf6+vm89/iddOrWm2KHm+VfzeDld56rdo5R42+ieefuhAdaiWvSAEPXaBwWQEyIjSKHm7SMQnJKHUSHBPhadaPB3M8+Qh1LWxl9wy3s2bGNr2Z8UmNzpCuvGsk1JwiOhRBC/LYkQBb1guRonp3o0ABGDh2M/t9Z7Nu4xrcZbc+Obfg3xjAMC6bpQdP1GnONNU3zrRYDPPDAAzidTlasWEF8fHytfmiZPfMzysuPpUwcY3rcrPjuGxbP+Rw02LElrdrzrLYA+o8cS3igle6x4VVK2+m6RsMgKwPaRLH2l3yK7W7CAr1vqxXpFhUfODp2TeDlpx71fajwPl9HKYXNZuNvTz5x/m5eCCHEryIBsqgXJEfz7HWICaVkQH/ievTGqnubiRTm5/kaVHjr8t5CUGQTXOXFzPnw7SrPNwyDO++8k0mTJtGvXz+mTp1aZ1b1K75hOL4LnlKqSu1hTa/aRKVHYn9+98BfuHZ4EpdEBZ+wxJqhayQ0bcCKfbnoTgi2Gr50i9SUlYRHRDJv5qd43O7K51gsPPDMy4SrcoYNvVz+zQohRB0iAbKoNyRH8+wYukZCswbszi7lSLEDh9skIXEANluAbxV04NVj6de/P4s+ehtN0ypTFXSdd955hylTpvjOV5dW9X15yA6Ht4zdCSjTpGlsSyJjYhg94RauuuF3uDyKVhFBp6w/HHKsKsi2oyW4PG4aBll9VS/umnAtLqezyvHjb7ubZx+9n2CbvA0LIURdI+/MQgifAItB16YNCA0oY9uRYuJ69Oal/85i47pVJFzan0ED+tOreUP0EcP416tTcTgc6LrO22+/XSU4hrq1qu9/LYZhMP+HZFKWfldjmkhm+iHycrNp26EzRQ43/VpFYK2pPXcNmkcEERpoYdX+PEyl0DXN28XP5ap2bMcWjSU4FkKIOkrenYUQ1bRsGERseCBWQ6df66spG3Mlho4voDvd4LcurepXXEtGRga33fMn/rfgB1YsnM38z/93XKCscLmcLFu+nGcGDSAi2ParXqdhkJX2MSHszimhcWgg3fsMwGK1VllBDggI4Mphl5+jOxNCCHGuSYAshKhG1zV0vCkFhq75Np75q0vB768VExrAuCuHENejN6PG38ii2TPJzTnKT8t+wONxY7Va6T9wELENz6z19SVRIZS5PBwusBPdPoEXp81l6bwvKMrLpmPrFvz+9lsv2LETQoiLgQTIQoiLUpMGgezNLaNNl5480SsRh9tkzeoUNq79iTEjhnPl5ZdVaQLya+i6RnyTBgRbDXRNY0CbYdw7fgSBFv2UucxCCCFqnwTIQoiLks2i06dVQ1IPF5JV4mD7hp/J2ZHKTaNGMHzwIHT97AJZXddoHxN6jq5WCCHEb+n0dp4IIUQ9FGyz0LdVBMaRnTz1+/G8+uKzjBk5gjVrVp/6yUIIIeotCZCFEBc1q6GzfvVP1Wo2CyGEuHhJgCyEuOhV1Ek2DKPWazYLIYSofZKDLIS46NWlms1CCCFqnwTIQgjBhV22TgghxLklKRZCCCGEEEL4kQBZCCGEEEIIPxIgCyGEEEII4UcCZCGEEEIIIfxIgCyEEEIIIYQfCZCFEEIIIYTwIwGyEEIIIYQQfiRAFkIIIYQQwo8EyEIIIYQQQviRAFkIIYQQQgg/EiALIYQQQgjhRwJkIYQQQggh/EiALIQQQgghhB9NKaVq+yLOVHR0NK1bt67yWHZ2NjExMbVzQXWEjEElGYtKMhZeMg6VZCwqyVh4yThUkrGoVJ/H4sCBA+Tk5FR7/IIOkGvSu3dvfv7559q+jFolY1BJxqKSjIWXjEMlGYtKMhZeMg6VZCwqXYxjISkWQgghhBBC+JEAWQghhBBCCD/GM88880xtX8S51qtXr9q+hFonY1BJxqKSjIWXjEMlGYtKMhZeMg6VZCwqXWxjUe9ykIUQQgghhDgbkmIhhBBCCCGEHwmQhRBCCCGE8FOrAfKhQ4cYMmQInTt3pkuXLrzxxhsA5OXlMXz4cNq3b8/w4cPJz88HIDc3lyFDhhAaGsp9991X5VxJSUl07NiR7t270717d44ePVrja6amphIfH0+7du24//77qcgw+fHHH+nZsycWi4XZs2efx7uuri6Nw0cffURMTIzv+f/5z3/O451XV5fG4uDBgwwdOpSEhASSkpI4fPjwebzz6s7lWDidTqZMmUKHDh3o1KkTc+bMqfE16/v8ONtxqE/z42zHor7Mj+LiYt/vs3v37kRHR/PAAw/U+Jp1bX7UpTGo7bkBdWs8anN+nMv3iRkzZhAfH09CQgIjRoyosV4w1L25cU6oWpSRkaFSU1OVUkoVFRWp9u3bq61bt6pHH31UTZ06VSml1NSpU9Wf//xnpZRSJSUlasWKFerdd99V9957b5VzDR48WK1bt+6Ur3nppZeqVatWKdM01YgRI9TXX3+tlFJq//79atOmTep3v/udmjVr1rm8zVOqS+Mwbdq0auf8LdWlsRg3bpz66KOPlFJKLVmyRN1yyy3n7D5Px7kci7/97W/qySefVEop5fF4VHZ2do2vWd/nx9mOQ32aH2c7FvVpfvjr2bOnWr58eY0/q2vzoy6NQW3PDaXq1njU5vw4V+PgcrlUTEyM773h0UcfVU8//XSNr1nX5sa5UKsB8vFGjRqlvvvuO9WhQweVkZGhlPL+ojt06FDluJom4ukEQxkZGapjx46+/58+fbqaMmVKlWMmT55c67/E2hyHuvAm5682xyIuLk4dOnRIKaWUaZoqLCzsrO/nbJzNWDRv3lyVlJSc9PwXw/w423GoT/PjbMeiPs2PCrt27VLNmzdXpmlW+9mFMD9qcwzq2txQqnbHoy7NjzMdB6fTqaKjo9WBAweUaZrqrrvuUu+//361818Ic+NM1Jkc5AMHDrBhwwb69OlDVlYWTZs2BaBp06Yn/Gr8eLfddhvdu3fnueee8y3v+0tPT6d58+a+/2/evDnp6enn5gbOkbowDnPmzCEhIYFx48Zx6NChs7yjM1fbY9GtWzff185ffvklxcXF5Obmnu1tnZGzGYuCggIAnnrqKXr27Mn48ePJysqqdlx9nx/nahzqw/w4F2NRX+aHvxkzZjBhwgQ0Tav2s7o+P+rCGNSVuQG1Px51ZX6czThYrVbeffdd4uPjadasGdu2beOOO+6odlxdnxtnqk4EyCUlJYwdO5Z//etfNGjQ4IzO8dlnn7F582ZWrFjBihUr+N///lftmJoCpJr+0deWujAO1157LQcOHCAtLY1hw4YxefLkM7qOs1UXxuK1115j+fLl9OjRg+XLlxMbG4vFYjmjazkbZzsWbrebw4cPM2DAANavX0+/fv145JFHqh1X3+fHuRiH+jI/zsVY1Jf54W/mzJnceOONNf6sLs+PujAGdWVuQN0Yj7owP852HFwuF++++y4bNmwgIyODhIQEpk6dWu24ujw3zkatB8gul4uxY8dy8803c/311wPQuHFjMjMzAcjMzKRRo0anPE9sbCwAYWFh3HTTTaxduxaPx+NLsv/b3/5G8+bNqyTKHz58mGbNmp2Hu/r16so4REVFERAQAMCdd95JamrqOb3P01FXxqJZs2bMnTuXDRs28MILLwAQHh5+Tu/1VM7FWERFRREcHMyYMWMAGD9+POvXr7/o5se5GIf6Mj/OxVjUl/lRYdOmTbjdbl8zhAtlftSVMagLcwPqznjU9vw4F+OwceNGAC655BI0TeOGG25g1apVF8zcOFu1GiArpbjjjjvo3LkzDz30kO/xUaNG8fHHHwPw8ccfM3r06JOex+12+3ZWulwuFi5cSNeuXTEMg40bN7Jx40aeffZZmjZtSlhYGKtXr0YpxSeffHLKc/8W6tI4VEwegPnz59O5c+dzfbsnVZfGIicnB9M0AZg6dSq33377+bjlEzpXY6FpGtdeey3JyckALFmyhLi4uItufpyLcagv8+NcjEV9mR8VZsyYUWWl8EKYH3VpDGp7bkDdGo/anB/nahxiY2PZtm0b2dnZAHz//fd07tz5gpgb58R5z3I+iRUrVihAxcfHq27duqlu3bqpRYsWqZycHHX55Zerdu3aqcsvv1zl5ub6ntOqVSsVERGhQkJCVGxsrNq6dasqKSlRPXv2VPHx8SouLk7df//9yu121/ia69atU126dFFt27ZV9957ry/xfu3atSo2NlYFBweryMhIFRcX95uMgVJ1axwef/xxFRcXpxISElRSUpLavn37bzIGFerSWMyaNUu1a9dOtW/fXt1xxx3Kbrf/JmNQ4VyNhVJKHThwQA0aNEjFx8eryy+/XB08eLDG16zP80Opsx+H+jI/lDr7sahP80Mppdq0aXPK32ddmx91aQxqe24oVbfGozbnx7kch3fffVd16tRJxcfHq2uuuUbl5OTU+Jp1bW6cC9JqWgghhBBCCD+1noMshBBCCCFEXSIBshBCCCGEEH4kQBZCCCGEEMKPBMhCCCGEEEL4kQBZCCGEEEIIPxIgCyFEPfTMM8/w2muv1fZlCCHEBUkCZCGEEEIIIfxIgCyEEPXECy+8QMeOHRk2bBg7d+4E4M033yQuLo6EhAQmTpxYy1cohBAXBkttX4AQQoizl5qaysyZM9mwYQNut5uePXvSq1cvXnrpJfbv309AQAAFBQW1fZlCCHFBkBVkIYSoB1asWMGYMWMIDg6mQYMGjBo1CoCEhARuvvlmPv30UywWWRMRQojTIQGyEELUE5qmVXts0aJF3HvvvaSmptKrVy/cbnctXJkQQlxYJEAWQoh64LLLLuPLL7+kvLyc4uJiFixYgGmaHDp0iCFDhvDKK69QUFBASUlJbV+qEELUefJ9mxBC1AM9e/ZkwoQJdO/enVatWjFo0CA0TeOWW26hsLAQpRQPPvggDRs2rO1LFUKIOk9TSqnavgghhBBCCCHqCkmxEEIIIYQQwo8EyEIIIYQQQviRAFkIIYQQQgg/EiALIYQQQgjhRwJkIYQQQggh/EiALIQQQgghhB8JkIUQQgghhPDz/3VzLG5Hrj2t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3"/>
          <a:stretch>
            <a:fillRect/>
          </a:stretch>
        </p:blipFill>
        <p:spPr>
          <a:xfrm>
            <a:off x="427484" y="3085280"/>
            <a:ext cx="5354837" cy="3266976"/>
          </a:xfrm>
          <a:prstGeom prst="rect">
            <a:avLst/>
          </a:prstGeom>
        </p:spPr>
      </p:pic>
      <p:sp>
        <p:nvSpPr>
          <p:cNvPr id="8" name="Прямоугольник 7"/>
          <p:cNvSpPr/>
          <p:nvPr/>
        </p:nvSpPr>
        <p:spPr>
          <a:xfrm>
            <a:off x="242193" y="6286796"/>
            <a:ext cx="6096000" cy="307777"/>
          </a:xfrm>
          <a:prstGeom prst="rect">
            <a:avLst/>
          </a:prstGeom>
        </p:spPr>
        <p:txBody>
          <a:bodyPr>
            <a:spAutoFit/>
          </a:bodyPr>
          <a:lstStyle/>
          <a:p>
            <a:r>
              <a:rPr lang="ru-RU" sz="1400" dirty="0"/>
              <a:t>https://h1ros.github.io/posts/prophet-101-a-time-series-forecasting-module/</a:t>
            </a:r>
          </a:p>
        </p:txBody>
      </p:sp>
      <p:sp>
        <p:nvSpPr>
          <p:cNvPr id="10" name="Объект 2"/>
          <p:cNvSpPr txBox="1">
            <a:spLocks/>
          </p:cNvSpPr>
          <p:nvPr/>
        </p:nvSpPr>
        <p:spPr>
          <a:xfrm>
            <a:off x="5967611" y="1620773"/>
            <a:ext cx="5881489" cy="1530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Работает для шума БГШ</a:t>
            </a:r>
          </a:p>
          <a:p>
            <a:r>
              <a:rPr lang="ru-RU" sz="2400" dirty="0"/>
              <a:t>Тренд только детерминированный</a:t>
            </a:r>
            <a:endParaRPr lang="en-US" sz="2400" dirty="0"/>
          </a:p>
          <a:p>
            <a:r>
              <a:rPr lang="ru-RU" sz="2400" dirty="0"/>
              <a:t>Модель только бизнес процессы</a:t>
            </a:r>
          </a:p>
          <a:p>
            <a:endParaRPr lang="ru-RU" sz="2400" dirty="0"/>
          </a:p>
        </p:txBody>
      </p:sp>
    </p:spTree>
    <p:extLst>
      <p:ext uri="{BB962C8B-B14F-4D97-AF65-F5344CB8AC3E}">
        <p14:creationId xmlns:p14="http://schemas.microsoft.com/office/powerpoint/2010/main" val="26118241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2900" y="365126"/>
            <a:ext cx="11010900" cy="444500"/>
          </a:xfrm>
        </p:spPr>
        <p:txBody>
          <a:bodyPr>
            <a:normAutofit fontScale="90000"/>
          </a:bodyPr>
          <a:lstStyle/>
          <a:p>
            <a:r>
              <a:rPr lang="ru-RU" dirty="0"/>
              <a:t>Вопросы для самоконтроля</a:t>
            </a:r>
          </a:p>
        </p:txBody>
      </p:sp>
      <p:sp>
        <p:nvSpPr>
          <p:cNvPr id="3" name="Объект 2"/>
          <p:cNvSpPr>
            <a:spLocks noGrp="1"/>
          </p:cNvSpPr>
          <p:nvPr>
            <p:ph idx="1"/>
          </p:nvPr>
        </p:nvSpPr>
        <p:spPr>
          <a:xfrm>
            <a:off x="428625" y="971550"/>
            <a:ext cx="10925175" cy="5205413"/>
          </a:xfrm>
        </p:spPr>
        <p:txBody>
          <a:bodyPr>
            <a:normAutofit fontScale="92500" lnSpcReduction="10000"/>
          </a:bodyPr>
          <a:lstStyle/>
          <a:p>
            <a:pPr lvl="0"/>
            <a:r>
              <a:rPr lang="ru-RU" sz="2400" dirty="0"/>
              <a:t>Объясните понятие стационарности ВР. Почему это важно. Какие типы ВР, сводящихся к стационарным вы можете назвать, приведите примеры. Как интервальный прогноз ВР будет вести себя для нестационарного ВР. </a:t>
            </a:r>
          </a:p>
          <a:p>
            <a:r>
              <a:rPr lang="ru-RU" sz="2400" dirty="0"/>
              <a:t>Объясните понятие автокорреляции ВР. Как АКФ связана со стационарностью. В чем различия ЧАКФ и АКФ. Приведите примеры ВР с различным поведением АКФ. Объясните как это сказывается не точности и интервале прогноза.</a:t>
            </a:r>
          </a:p>
          <a:p>
            <a:r>
              <a:rPr lang="ru-RU" sz="2400" dirty="0"/>
              <a:t>Объясните понятие остаточная часть ВР. Как это понятие связано с оценкой качества прогноза ВР. Как АКФ и стационарность связаны с оценкой поведения остаточной части ВР.</a:t>
            </a:r>
          </a:p>
          <a:p>
            <a:r>
              <a:rPr lang="ru-RU" sz="2400" dirty="0"/>
              <a:t>Объясните разницу понятий стационарность и регулярность ВР. Как можно проверить стационарность ВР. </a:t>
            </a:r>
          </a:p>
          <a:p>
            <a:endParaRPr lang="ru-RU" sz="2400" dirty="0"/>
          </a:p>
          <a:p>
            <a:r>
              <a:rPr lang="ru-RU" sz="2400" dirty="0"/>
              <a:t>Объясните цель использования подходов на основе адаптивной обобщенной регрессии. Какие у подходов достоинства и недостатки. Приведите примеры задач, где такие подходы использовать нельзя (почему такие подходы – не </a:t>
            </a:r>
            <a:r>
              <a:rPr lang="ru-RU" sz="2400" dirty="0" err="1"/>
              <a:t>бейзлайн</a:t>
            </a:r>
            <a:r>
              <a:rPr lang="ru-RU" sz="2400" dirty="0"/>
              <a:t>?). </a:t>
            </a:r>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31</a:t>
            </a:fld>
            <a:endParaRPr lang="en-US"/>
          </a:p>
        </p:txBody>
      </p:sp>
    </p:spTree>
    <p:extLst>
      <p:ext uri="{BB962C8B-B14F-4D97-AF65-F5344CB8AC3E}">
        <p14:creationId xmlns:p14="http://schemas.microsoft.com/office/powerpoint/2010/main" val="41306090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CF265-69E0-6399-718A-1D16E8BCA189}"/>
              </a:ext>
            </a:extLst>
          </p:cNvPr>
          <p:cNvSpPr>
            <a:spLocks noGrp="1"/>
          </p:cNvSpPr>
          <p:nvPr>
            <p:ph type="title"/>
          </p:nvPr>
        </p:nvSpPr>
        <p:spPr/>
        <p:txBody>
          <a:bodyPr/>
          <a:lstStyle/>
          <a:p>
            <a:endParaRPr lang="ru-RU"/>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8585B36-63FB-AB66-D543-F65C6C5EF502}"/>
                  </a:ext>
                </a:extLst>
              </p:cNvPr>
              <p:cNvSpPr>
                <a:spLocks noGrp="1"/>
              </p:cNvSpPr>
              <p:nvPr>
                <p:ph idx="1"/>
              </p:nvPr>
            </p:nvSpPr>
            <p:spPr>
              <a:xfrm>
                <a:off x="185057" y="1163773"/>
                <a:ext cx="10515600" cy="4351338"/>
              </a:xfrm>
            </p:spPr>
            <p:txBody>
              <a:bodyPr>
                <a:normAutofit fontScale="92500" lnSpcReduction="10000"/>
              </a:bodyPr>
              <a:lstStyle/>
              <a:p>
                <a:r>
                  <a:rPr lang="ru-RU" dirty="0"/>
                  <a:t>Методы приведения ряда к стационарному:</a:t>
                </a:r>
              </a:p>
              <a:p>
                <a:r>
                  <a:rPr lang="ru-RU" dirty="0"/>
                  <a:t>Численная обычная производная  – тренд.</a:t>
                </a:r>
              </a:p>
              <a:p>
                <a:r>
                  <a:rPr lang="ru-RU" dirty="0"/>
                  <a:t>Численная дробная производная – сложный, цикличный тренд.</a:t>
                </a:r>
              </a:p>
              <a:p>
                <a:r>
                  <a:rPr lang="ru-RU" dirty="0"/>
                  <a:t>Численная сезонная производная  – высокое влияние сезонности.</a:t>
                </a:r>
              </a:p>
              <a:p>
                <a:r>
                  <a:rPr lang="ru-RU" dirty="0"/>
                  <a:t>Преобразования Бокса-Кокса – устранения волатильности (</a:t>
                </a:r>
                <a:r>
                  <a:rPr lang="ru-RU" dirty="0" err="1"/>
                  <a:t>гетероскедастичности</a:t>
                </a:r>
                <a:r>
                  <a:rPr lang="ru-RU" dirty="0"/>
                  <a:t>, в частности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ru-RU" dirty="0"/>
                  <a:t>).</a:t>
                </a:r>
              </a:p>
              <a:p>
                <a:r>
                  <a:rPr lang="ru-RU" dirty="0"/>
                  <a:t>Приведение к виду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en>
                    </m:f>
                  </m:oMath>
                </a14:m>
                <a:r>
                  <a:rPr lang="en-US" dirty="0"/>
                  <a:t> - </a:t>
                </a:r>
                <a:r>
                  <a:rPr lang="ru-RU" dirty="0"/>
                  <a:t>устранения волатильности (</a:t>
                </a:r>
                <a:r>
                  <a:rPr lang="ru-RU" dirty="0" err="1"/>
                  <a:t>гетероскедастичности</a:t>
                </a:r>
                <a:r>
                  <a:rPr lang="ru-RU" dirty="0"/>
                  <a:t>).</a:t>
                </a:r>
              </a:p>
              <a:p>
                <a:r>
                  <a:rPr lang="ru-RU" dirty="0"/>
                  <a:t>Декомпозиция модели (напр. использование разных подходов для разных частей).</a:t>
                </a:r>
              </a:p>
              <a:p>
                <a:endParaRPr lang="ru-RU" dirty="0"/>
              </a:p>
            </p:txBody>
          </p:sp>
        </mc:Choice>
        <mc:Fallback xmlns="">
          <p:sp>
            <p:nvSpPr>
              <p:cNvPr id="3" name="Объект 2">
                <a:extLst>
                  <a:ext uri="{FF2B5EF4-FFF2-40B4-BE49-F238E27FC236}">
                    <a16:creationId xmlns:a16="http://schemas.microsoft.com/office/drawing/2014/main" id="{58585B36-63FB-AB66-D543-F65C6C5EF502}"/>
                  </a:ext>
                </a:extLst>
              </p:cNvPr>
              <p:cNvSpPr>
                <a:spLocks noGrp="1" noRot="1" noChangeAspect="1" noMove="1" noResize="1" noEditPoints="1" noAdjustHandles="1" noChangeArrowheads="1" noChangeShapeType="1" noTextEdit="1"/>
              </p:cNvSpPr>
              <p:nvPr>
                <p:ph idx="1"/>
              </p:nvPr>
            </p:nvSpPr>
            <p:spPr>
              <a:xfrm>
                <a:off x="185057" y="1163773"/>
                <a:ext cx="10515600" cy="4351338"/>
              </a:xfrm>
              <a:blipFill>
                <a:blip r:embed="rId2"/>
                <a:stretch>
                  <a:fillRect l="-870" t="-280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A79CF1A6-BD6F-867B-185F-2E2BC4BD75EA}"/>
              </a:ext>
            </a:extLst>
          </p:cNvPr>
          <p:cNvSpPr>
            <a:spLocks noGrp="1"/>
          </p:cNvSpPr>
          <p:nvPr>
            <p:ph type="sldNum" sz="quarter" idx="12"/>
          </p:nvPr>
        </p:nvSpPr>
        <p:spPr/>
        <p:txBody>
          <a:bodyPr/>
          <a:lstStyle/>
          <a:p>
            <a:fld id="{45C3B737-A709-4ABC-AFE0-A6B067850C48}" type="slidenum">
              <a:rPr lang="en-US" smtClean="0"/>
              <a:t>32</a:t>
            </a:fld>
            <a:endParaRPr lang="en-US"/>
          </a:p>
        </p:txBody>
      </p:sp>
      <p:pic>
        <p:nvPicPr>
          <p:cNvPr id="7170" name="Picture 2" descr="Different forms of dependence and their Pearson's r values">
            <a:extLst>
              <a:ext uri="{FF2B5EF4-FFF2-40B4-BE49-F238E27FC236}">
                <a16:creationId xmlns:a16="http://schemas.microsoft.com/office/drawing/2014/main" id="{9C640715-FCEC-9E02-C24B-446D96F52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042" y="3196046"/>
            <a:ext cx="5549304" cy="2531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615A-AB23-F639-C63B-32D2BB310067}"/>
              </a:ext>
            </a:extLst>
          </p:cNvPr>
          <p:cNvSpPr txBox="1"/>
          <p:nvPr/>
        </p:nvSpPr>
        <p:spPr>
          <a:xfrm>
            <a:off x="5562600" y="6256677"/>
            <a:ext cx="6096000" cy="369332"/>
          </a:xfrm>
          <a:prstGeom prst="rect">
            <a:avLst/>
          </a:prstGeom>
          <a:noFill/>
        </p:spPr>
        <p:txBody>
          <a:bodyPr wrap="square">
            <a:spAutoFit/>
          </a:bodyPr>
          <a:lstStyle/>
          <a:p>
            <a:r>
              <a:rPr lang="ru-RU" dirty="0" err="1"/>
              <a:t>https</a:t>
            </a:r>
            <a:r>
              <a:rPr lang="ru-RU" dirty="0"/>
              <a:t>://</a:t>
            </a:r>
            <a:r>
              <a:rPr lang="ru-RU" dirty="0" err="1"/>
              <a:t>smac-group.github.io</a:t>
            </a:r>
            <a:r>
              <a:rPr lang="ru-RU" dirty="0"/>
              <a:t>/</a:t>
            </a:r>
            <a:r>
              <a:rPr lang="ru-RU" dirty="0" err="1"/>
              <a:t>ts</a:t>
            </a:r>
            <a:r>
              <a:rPr lang="ru-RU" dirty="0"/>
              <a:t>/</a:t>
            </a:r>
            <a:r>
              <a:rPr lang="ru-RU" dirty="0" err="1"/>
              <a:t>fundtimeseries.html</a:t>
            </a:r>
            <a:endParaRPr lang="ru-RU" dirty="0"/>
          </a:p>
        </p:txBody>
      </p:sp>
      <p:sp>
        <p:nvSpPr>
          <p:cNvPr id="7" name="TextBox 6">
            <a:extLst>
              <a:ext uri="{FF2B5EF4-FFF2-40B4-BE49-F238E27FC236}">
                <a16:creationId xmlns:a16="http://schemas.microsoft.com/office/drawing/2014/main" id="{EFE620BB-993D-69EB-37A9-4653940405A5}"/>
              </a:ext>
            </a:extLst>
          </p:cNvPr>
          <p:cNvSpPr txBox="1"/>
          <p:nvPr/>
        </p:nvSpPr>
        <p:spPr>
          <a:xfrm>
            <a:off x="5517572" y="5767773"/>
            <a:ext cx="6355773" cy="369332"/>
          </a:xfrm>
          <a:prstGeom prst="rect">
            <a:avLst/>
          </a:prstGeom>
          <a:noFill/>
        </p:spPr>
        <p:txBody>
          <a:bodyPr wrap="square">
            <a:spAutoFit/>
          </a:bodyPr>
          <a:lstStyle/>
          <a:p>
            <a:r>
              <a:rPr lang="ru-RU" dirty="0"/>
              <a:t>П</a:t>
            </a:r>
            <a:r>
              <a:rPr lang="en-US" dirty="0" err="1"/>
              <a:t>ри</a:t>
            </a:r>
            <a:r>
              <a:rPr lang="ru-RU" dirty="0"/>
              <a:t>меры различных зависимостей с одинаковой корреляцией</a:t>
            </a:r>
          </a:p>
        </p:txBody>
      </p:sp>
      <p:sp>
        <p:nvSpPr>
          <p:cNvPr id="5" name="Прямоугольник 4"/>
          <p:cNvSpPr/>
          <p:nvPr/>
        </p:nvSpPr>
        <p:spPr>
          <a:xfrm>
            <a:off x="78377" y="2143884"/>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652755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8936</TotalTime>
  <Words>1915</Words>
  <Application>Microsoft Office PowerPoint</Application>
  <PresentationFormat>Широкоэкранный</PresentationFormat>
  <Paragraphs>338</Paragraphs>
  <Slides>32</Slides>
  <Notes>11</Notes>
  <HiddenSlides>3</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32</vt:i4>
      </vt:variant>
    </vt:vector>
  </HeadingPairs>
  <TitlesOfParts>
    <vt:vector size="44" baseType="lpstr">
      <vt:lpstr>__YSText_10659f</vt:lpstr>
      <vt:lpstr>-apple-system</vt:lpstr>
      <vt:lpstr>Arial</vt:lpstr>
      <vt:lpstr>Calibri</vt:lpstr>
      <vt:lpstr>Calibri Light</vt:lpstr>
      <vt:lpstr>Cambria Math</vt:lpstr>
      <vt:lpstr>Helvetica Neue</vt:lpstr>
      <vt:lpstr>MathJax_Main</vt:lpstr>
      <vt:lpstr>MathJax_Math-italic</vt:lpstr>
      <vt:lpstr>quote-cjk-patch</vt:lpstr>
      <vt:lpstr>Times New Roman</vt:lpstr>
      <vt:lpstr>Тема Office 2013–2022</vt:lpstr>
      <vt:lpstr>Статистический подход к анализу  временных рядов.</vt:lpstr>
      <vt:lpstr>Модели временных рядов</vt:lpstr>
      <vt:lpstr>Особенности модели временных рядов</vt:lpstr>
      <vt:lpstr>Белый Гауссов шум</vt:lpstr>
      <vt:lpstr>Статистические сво йства ВР</vt:lpstr>
      <vt:lpstr>Автокорреляция ВР</vt:lpstr>
      <vt:lpstr>Замечания к автокорреляции</vt:lpstr>
      <vt:lpstr>Замечания к автокорреляции</vt:lpstr>
      <vt:lpstr>Пример дорожно-транспортных происшествий за 14 лет с дискретностью 1 месяц,</vt:lpstr>
      <vt:lpstr>Корреляция</vt:lpstr>
      <vt:lpstr>Замечания </vt:lpstr>
      <vt:lpstr>Частичная автокорреляция</vt:lpstr>
      <vt:lpstr>Частичная автокорреляция</vt:lpstr>
      <vt:lpstr>Презентация PowerPoint</vt:lpstr>
      <vt:lpstr>Анализ стационарности</vt:lpstr>
      <vt:lpstr>Стационарность ВР</vt:lpstr>
      <vt:lpstr>Анализ нестационарности</vt:lpstr>
      <vt:lpstr>Стационарность ВР. Замечания</vt:lpstr>
      <vt:lpstr>Анализ стационарности</vt:lpstr>
      <vt:lpstr>Белый Гауссов шум</vt:lpstr>
      <vt:lpstr>Стационарность ВР</vt:lpstr>
      <vt:lpstr>Преобразования нестационарных  временных рядов</vt:lpstr>
      <vt:lpstr>Преобразования нестационарных  временных рядов</vt:lpstr>
      <vt:lpstr>Преобразования нестационарных ВР</vt:lpstr>
      <vt:lpstr>Гетероскедастичность</vt:lpstr>
      <vt:lpstr>Некоторые статистические тесты справочно</vt:lpstr>
      <vt:lpstr>Обобщенная адаптивная модель (регрессия). Prophet</vt:lpstr>
      <vt:lpstr>Обобщенная адаптивная модель (регрессия). Prophet</vt:lpstr>
      <vt:lpstr>Обобщенная адаптивная модель (регрессия). Prophet</vt:lpstr>
      <vt:lpstr>Prophet pros and cons</vt:lpstr>
      <vt:lpstr>Вопросы для самоконтроля</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284</cp:revision>
  <dcterms:created xsi:type="dcterms:W3CDTF">2021-10-31T10:57:36Z</dcterms:created>
  <dcterms:modified xsi:type="dcterms:W3CDTF">2026-05-04T09:21:41Z</dcterms:modified>
</cp:coreProperties>
</file>